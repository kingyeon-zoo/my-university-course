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309" r:id="rId2"/>
    <p:sldId id="323" r:id="rId3"/>
    <p:sldId id="325" r:id="rId4"/>
    <p:sldId id="327" r:id="rId5"/>
    <p:sldId id="344" r:id="rId6"/>
    <p:sldId id="330" r:id="rId7"/>
    <p:sldId id="332" r:id="rId8"/>
    <p:sldId id="333" r:id="rId9"/>
    <p:sldId id="334" r:id="rId10"/>
    <p:sldId id="335" r:id="rId11"/>
    <p:sldId id="336" r:id="rId12"/>
    <p:sldId id="341" r:id="rId13"/>
    <p:sldId id="342" r:id="rId14"/>
    <p:sldId id="347" r:id="rId15"/>
    <p:sldId id="343" r:id="rId16"/>
    <p:sldId id="346" r:id="rId17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2D8A"/>
    <a:srgbClr val="0000CC"/>
    <a:srgbClr val="3333C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48" autoAdjust="0"/>
    <p:restoredTop sz="95250" autoAdjust="0"/>
  </p:normalViewPr>
  <p:slideViewPr>
    <p:cSldViewPr>
      <p:cViewPr varScale="1">
        <p:scale>
          <a:sx n="129" d="100"/>
          <a:sy n="129" d="100"/>
        </p:scale>
        <p:origin x="-96" y="-25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68FF4-A610-4CCF-A92A-54B8EBE33021}" type="datetimeFigureOut">
              <a:rPr lang="zh-CN" altLang="en-US" smtClean="0"/>
              <a:pPr/>
              <a:t>2021/1/15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48513-AA6D-4F8A-B41C-3BE1F5014A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32961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E5F32BA-079D-492C-A71C-25B1AC211EF7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01730A-013B-4CB4-BA74-6B5A2DA383A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D708CB0-180E-480A-B5E9-304EDB71A67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F519ABF-577E-4AA5-A198-446EB778942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35A92FF-C25D-44F5-BA10-134AA412F22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C5F3488-9DEE-45BA-87B6-C85FA6C76AB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微软雅黑" panose="020B0503020204020204" pitchFamily="34" charset="-122"/>
              </a:defRPr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5ABF99-AFDD-4392-BE13-BE42827BA07F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7E1D088-313E-48D8-BECE-41A274E0B5D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4B0AB86-F7AE-4867-ADFF-354DE647AB0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3CEB1D2-F23D-4EFF-A6C7-152E930DD57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07513-19AE-47F0-ABD9-53914FA69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 userDrawn="1"/>
        </p:nvSpPr>
        <p:spPr bwMode="auto">
          <a:xfrm>
            <a:off x="76318" y="514404"/>
            <a:ext cx="8950418" cy="67865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0 w 1000"/>
              <a:gd name="T11" fmla="*/ 0 h 1000"/>
              <a:gd name="T12" fmla="*/ 1000 w 1000"/>
              <a:gd name="T13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6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76318" y="4933888"/>
            <a:ext cx="8950418" cy="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8" name="图片 7" descr="校标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215019" y="0"/>
            <a:ext cx="2545745" cy="4776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4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609704" y="1233568"/>
            <a:ext cx="792459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54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数 制 和 编 码</a:t>
            </a:r>
            <a:endParaRPr lang="zh-CN" altLang="zh-CN" sz="5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0" name="Rectangle 59"/>
          <p:cNvSpPr>
            <a:spLocks noChangeArrowheads="1"/>
          </p:cNvSpPr>
          <p:nvPr/>
        </p:nvSpPr>
        <p:spPr bwMode="auto">
          <a:xfrm>
            <a:off x="1524000" y="2571750"/>
            <a:ext cx="6477692" cy="152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刘 军</a:t>
            </a:r>
            <a:endParaRPr lang="en-US" altLang="zh-CN" sz="2800" b="1" dirty="0" smtClean="0">
              <a:latin typeface="+mn-ea"/>
              <a:ea typeface="+mn-ea"/>
            </a:endParaRPr>
          </a:p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合肥工业大学计算机与信息学院</a:t>
            </a:r>
            <a:endParaRPr lang="en-US" altLang="zh-CN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44735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：数 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0" y="5143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十进制转换成其它进制：</a:t>
            </a: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2895600" y="514350"/>
            <a:ext cx="13716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乘除法</a:t>
            </a:r>
            <a:endParaRPr lang="en-US" altLang="zh-CN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143000" y="1123950"/>
            <a:ext cx="6342062" cy="725487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黑体" pitchFamily="49" charset="-122"/>
                <a:cs typeface="+mn-cs"/>
              </a:rPr>
              <a:t>例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黑体" pitchFamily="49" charset="-122"/>
                <a:cs typeface="+mn-cs"/>
              </a:rPr>
              <a:t>7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 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(2803)</a:t>
            </a:r>
            <a:r>
              <a:rPr kumimoji="0" lang="en-US" altLang="zh-CN" sz="20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10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=(?)</a:t>
            </a:r>
            <a:r>
              <a:rPr kumimoji="0" lang="en-US" altLang="zh-CN" sz="20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16</a:t>
            </a:r>
          </a:p>
        </p:txBody>
      </p:sp>
      <p:grpSp>
        <p:nvGrpSpPr>
          <p:cNvPr id="8" name="Group 12"/>
          <p:cNvGrpSpPr>
            <a:grpSpLocks/>
          </p:cNvGrpSpPr>
          <p:nvPr/>
        </p:nvGrpSpPr>
        <p:grpSpPr bwMode="auto">
          <a:xfrm>
            <a:off x="2057400" y="1649409"/>
            <a:ext cx="1652588" cy="425450"/>
            <a:chOff x="1791" y="1920"/>
            <a:chExt cx="1041" cy="268"/>
          </a:xfrm>
        </p:grpSpPr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1791" y="1936"/>
              <a:ext cx="744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dirty="0"/>
                <a:t>16  2803</a:t>
              </a:r>
            </a:p>
          </p:txBody>
        </p:sp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2064" y="1920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2" name="Line 6"/>
            <p:cNvSpPr>
              <a:spLocks noChangeShapeType="1"/>
            </p:cNvSpPr>
            <p:nvPr/>
          </p:nvSpPr>
          <p:spPr bwMode="auto">
            <a:xfrm>
              <a:off x="2064" y="2160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 sz="2000"/>
            </a:p>
          </p:txBody>
        </p:sp>
      </p:grpSp>
      <p:grpSp>
        <p:nvGrpSpPr>
          <p:cNvPr id="13" name="Group 34"/>
          <p:cNvGrpSpPr>
            <a:grpSpLocks/>
          </p:cNvGrpSpPr>
          <p:nvPr/>
        </p:nvGrpSpPr>
        <p:grpSpPr bwMode="auto">
          <a:xfrm>
            <a:off x="2252662" y="2089150"/>
            <a:ext cx="1441450" cy="420688"/>
            <a:chOff x="1444" y="2336"/>
            <a:chExt cx="908" cy="265"/>
          </a:xfrm>
        </p:grpSpPr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1444" y="2336"/>
              <a:ext cx="29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dirty="0"/>
                <a:t>16</a:t>
              </a:r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1748" y="2361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 flipV="1">
              <a:off x="1748" y="2592"/>
              <a:ext cx="604" cy="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 sz="2000"/>
            </a:p>
          </p:txBody>
        </p:sp>
      </p:grpSp>
      <p:sp>
        <p:nvSpPr>
          <p:cNvPr id="17" name="Text Box 21"/>
          <p:cNvSpPr txBox="1">
            <a:spLocks noChangeArrowheads="1"/>
          </p:cNvSpPr>
          <p:nvPr/>
        </p:nvSpPr>
        <p:spPr bwMode="auto">
          <a:xfrm>
            <a:off x="3124200" y="3051174"/>
            <a:ext cx="32733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000" dirty="0"/>
              <a:t>0</a:t>
            </a:r>
          </a:p>
        </p:txBody>
      </p:sp>
      <p:grpSp>
        <p:nvGrpSpPr>
          <p:cNvPr id="18" name="Group 31"/>
          <p:cNvGrpSpPr>
            <a:grpSpLocks/>
          </p:cNvGrpSpPr>
          <p:nvPr/>
        </p:nvGrpSpPr>
        <p:grpSpPr bwMode="auto">
          <a:xfrm>
            <a:off x="4852991" y="1068388"/>
            <a:ext cx="696913" cy="866775"/>
            <a:chOff x="3082" y="1693"/>
            <a:chExt cx="439" cy="546"/>
          </a:xfrm>
        </p:grpSpPr>
        <p:sp>
          <p:nvSpPr>
            <p:cNvPr id="19" name="Text Box 22"/>
            <p:cNvSpPr txBox="1">
              <a:spLocks noChangeArrowheads="1"/>
            </p:cNvSpPr>
            <p:nvPr/>
          </p:nvSpPr>
          <p:spPr bwMode="auto">
            <a:xfrm>
              <a:off x="3082" y="1693"/>
              <a:ext cx="439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2000">
                  <a:ea typeface="黑体" pitchFamily="49" charset="-122"/>
                </a:rPr>
                <a:t>余数</a:t>
              </a:r>
            </a:p>
          </p:txBody>
        </p:sp>
        <p:sp>
          <p:nvSpPr>
            <p:cNvPr id="20" name="Text Box 23"/>
            <p:cNvSpPr txBox="1">
              <a:spLocks noChangeArrowheads="1"/>
            </p:cNvSpPr>
            <p:nvPr/>
          </p:nvSpPr>
          <p:spPr bwMode="auto">
            <a:xfrm>
              <a:off x="3210" y="1987"/>
              <a:ext cx="20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/>
                <a:t>3</a:t>
              </a:r>
            </a:p>
          </p:txBody>
        </p:sp>
      </p:grpSp>
      <p:sp>
        <p:nvSpPr>
          <p:cNvPr id="21" name="Text Box 24"/>
          <p:cNvSpPr txBox="1">
            <a:spLocks noChangeArrowheads="1"/>
          </p:cNvSpPr>
          <p:nvPr/>
        </p:nvSpPr>
        <p:spPr bwMode="auto">
          <a:xfrm>
            <a:off x="4929187" y="2038349"/>
            <a:ext cx="470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000"/>
              <a:t>15</a:t>
            </a:r>
          </a:p>
        </p:txBody>
      </p:sp>
      <p:sp>
        <p:nvSpPr>
          <p:cNvPr id="22" name="Text Box 25"/>
          <p:cNvSpPr txBox="1">
            <a:spLocks noChangeArrowheads="1"/>
          </p:cNvSpPr>
          <p:nvPr/>
        </p:nvSpPr>
        <p:spPr bwMode="auto">
          <a:xfrm>
            <a:off x="4970462" y="2525712"/>
            <a:ext cx="470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000"/>
              <a:t>10</a:t>
            </a:r>
          </a:p>
        </p:txBody>
      </p:sp>
      <p:grpSp>
        <p:nvGrpSpPr>
          <p:cNvPr id="23" name="Group 32"/>
          <p:cNvGrpSpPr>
            <a:grpSpLocks/>
          </p:cNvGrpSpPr>
          <p:nvPr/>
        </p:nvGrpSpPr>
        <p:grpSpPr bwMode="auto">
          <a:xfrm>
            <a:off x="5964237" y="1047750"/>
            <a:ext cx="1466850" cy="1878013"/>
            <a:chOff x="3782" y="1680"/>
            <a:chExt cx="924" cy="1183"/>
          </a:xfrm>
        </p:grpSpPr>
        <p:sp>
          <p:nvSpPr>
            <p:cNvPr id="24" name="Text Box 26"/>
            <p:cNvSpPr txBox="1">
              <a:spLocks noChangeArrowheads="1"/>
            </p:cNvSpPr>
            <p:nvPr/>
          </p:nvSpPr>
          <p:spPr bwMode="auto">
            <a:xfrm>
              <a:off x="3782" y="1680"/>
              <a:ext cx="924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2000">
                  <a:latin typeface="黑体" pitchFamily="49" charset="-122"/>
                  <a:ea typeface="黑体" pitchFamily="49" charset="-122"/>
                </a:rPr>
                <a:t>转成</a:t>
              </a:r>
              <a:r>
                <a:rPr lang="en-US" altLang="zh-CN" sz="2000">
                  <a:latin typeface="黑体" pitchFamily="49" charset="-122"/>
                  <a:ea typeface="黑体" pitchFamily="49" charset="-122"/>
                </a:rPr>
                <a:t>16</a:t>
              </a:r>
              <a:r>
                <a:rPr lang="zh-CN" altLang="en-US" sz="2000">
                  <a:latin typeface="黑体" pitchFamily="49" charset="-122"/>
                  <a:ea typeface="黑体" pitchFamily="49" charset="-122"/>
                </a:rPr>
                <a:t>进制</a:t>
              </a:r>
            </a:p>
          </p:txBody>
        </p:sp>
        <p:sp>
          <p:nvSpPr>
            <p:cNvPr id="25" name="Text Box 27"/>
            <p:cNvSpPr txBox="1">
              <a:spLocks noChangeArrowheads="1"/>
            </p:cNvSpPr>
            <p:nvPr/>
          </p:nvSpPr>
          <p:spPr bwMode="auto">
            <a:xfrm>
              <a:off x="4170" y="1987"/>
              <a:ext cx="20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/>
                <a:t>3</a:t>
              </a:r>
            </a:p>
          </p:txBody>
        </p:sp>
        <p:sp>
          <p:nvSpPr>
            <p:cNvPr id="26" name="Text Box 28"/>
            <p:cNvSpPr txBox="1">
              <a:spLocks noChangeArrowheads="1"/>
            </p:cNvSpPr>
            <p:nvPr/>
          </p:nvSpPr>
          <p:spPr bwMode="auto">
            <a:xfrm>
              <a:off x="4176" y="2323"/>
              <a:ext cx="215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/>
                <a:t>F</a:t>
              </a:r>
            </a:p>
          </p:txBody>
        </p:sp>
        <p:sp>
          <p:nvSpPr>
            <p:cNvPr id="27" name="Text Box 29"/>
            <p:cNvSpPr txBox="1">
              <a:spLocks noChangeArrowheads="1"/>
            </p:cNvSpPr>
            <p:nvPr/>
          </p:nvSpPr>
          <p:spPr bwMode="auto">
            <a:xfrm>
              <a:off x="4176" y="2611"/>
              <a:ext cx="224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/>
                <a:t>A</a:t>
              </a:r>
            </a:p>
          </p:txBody>
        </p:sp>
      </p:grpSp>
      <p:sp>
        <p:nvSpPr>
          <p:cNvPr id="28" name="Text Box 30"/>
          <p:cNvSpPr txBox="1">
            <a:spLocks noChangeArrowheads="1"/>
          </p:cNvSpPr>
          <p:nvPr/>
        </p:nvSpPr>
        <p:spPr bwMode="auto">
          <a:xfrm>
            <a:off x="2057400" y="3638550"/>
            <a:ext cx="54864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000" dirty="0">
                <a:ea typeface="黑体" pitchFamily="49" charset="-122"/>
              </a:rPr>
              <a:t>结果</a:t>
            </a:r>
            <a:r>
              <a:rPr lang="zh-CN" altLang="en-US" sz="2000" b="1" dirty="0"/>
              <a:t>：</a:t>
            </a:r>
            <a:r>
              <a:rPr lang="zh-CN" altLang="en-US" sz="2000" dirty="0"/>
              <a:t>    </a:t>
            </a:r>
            <a:r>
              <a:rPr lang="en-US" altLang="zh-CN" sz="2000" dirty="0"/>
              <a:t>(2803)</a:t>
            </a:r>
            <a:r>
              <a:rPr lang="en-US" altLang="zh-CN" sz="2000" baseline="-25000" dirty="0"/>
              <a:t>10</a:t>
            </a:r>
            <a:r>
              <a:rPr lang="en-US" altLang="zh-CN" sz="2000" dirty="0"/>
              <a:t>=(AF3)</a:t>
            </a:r>
            <a:r>
              <a:rPr lang="en-US" altLang="zh-CN" sz="2000" baseline="-25000" dirty="0"/>
              <a:t>16</a:t>
            </a:r>
          </a:p>
        </p:txBody>
      </p:sp>
      <p:sp>
        <p:nvSpPr>
          <p:cNvPr id="29" name="Text Box 33"/>
          <p:cNvSpPr txBox="1">
            <a:spLocks noChangeArrowheads="1"/>
          </p:cNvSpPr>
          <p:nvPr/>
        </p:nvSpPr>
        <p:spPr bwMode="auto">
          <a:xfrm>
            <a:off x="2779712" y="2082252"/>
            <a:ext cx="61266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000" dirty="0"/>
              <a:t>175</a:t>
            </a:r>
          </a:p>
        </p:txBody>
      </p:sp>
      <p:grpSp>
        <p:nvGrpSpPr>
          <p:cNvPr id="30" name="Group 37"/>
          <p:cNvGrpSpPr>
            <a:grpSpLocks/>
          </p:cNvGrpSpPr>
          <p:nvPr/>
        </p:nvGrpSpPr>
        <p:grpSpPr bwMode="auto">
          <a:xfrm>
            <a:off x="2487612" y="2608258"/>
            <a:ext cx="1206500" cy="434975"/>
            <a:chOff x="1592" y="2663"/>
            <a:chExt cx="760" cy="274"/>
          </a:xfrm>
        </p:grpSpPr>
        <p:sp>
          <p:nvSpPr>
            <p:cNvPr id="31" name="Line 20"/>
            <p:cNvSpPr>
              <a:spLocks noChangeShapeType="1"/>
            </p:cNvSpPr>
            <p:nvPr/>
          </p:nvSpPr>
          <p:spPr bwMode="auto">
            <a:xfrm flipV="1">
              <a:off x="1892" y="2928"/>
              <a:ext cx="460" cy="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32" name="Text Box 18"/>
            <p:cNvSpPr txBox="1">
              <a:spLocks noChangeArrowheads="1"/>
            </p:cNvSpPr>
            <p:nvPr/>
          </p:nvSpPr>
          <p:spPr bwMode="auto">
            <a:xfrm>
              <a:off x="1592" y="2663"/>
              <a:ext cx="29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dirty="0"/>
                <a:t>16</a:t>
              </a:r>
            </a:p>
          </p:txBody>
        </p:sp>
        <p:sp>
          <p:nvSpPr>
            <p:cNvPr id="33" name="Line 19"/>
            <p:cNvSpPr>
              <a:spLocks noChangeShapeType="1"/>
            </p:cNvSpPr>
            <p:nvPr/>
          </p:nvSpPr>
          <p:spPr bwMode="auto">
            <a:xfrm>
              <a:off x="1892" y="2697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 sz="2000"/>
            </a:p>
          </p:txBody>
        </p:sp>
      </p:grpSp>
      <p:sp>
        <p:nvSpPr>
          <p:cNvPr id="34" name="Text Box 35"/>
          <p:cNvSpPr txBox="1">
            <a:spLocks noChangeArrowheads="1"/>
          </p:cNvSpPr>
          <p:nvPr/>
        </p:nvSpPr>
        <p:spPr bwMode="auto">
          <a:xfrm>
            <a:off x="3008312" y="2615652"/>
            <a:ext cx="470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000" dirty="0"/>
              <a:t>10</a:t>
            </a: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utoUpdateAnimBg="0"/>
      <p:bldP spid="21" grpId="0" autoUpdateAnimBg="0"/>
      <p:bldP spid="22" grpId="0" autoUpdateAnimBg="0"/>
      <p:bldP spid="28" grpId="0" autoUpdateAnimBg="0"/>
      <p:bldP spid="29" grpId="0" autoUpdateAnimBg="0"/>
      <p:bldP spid="34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：数 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7429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十进制转换成其它进制：</a:t>
            </a: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3124200" y="742950"/>
            <a:ext cx="13716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乘除法</a:t>
            </a:r>
            <a:endParaRPr lang="en-US" altLang="zh-CN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914400" y="1352550"/>
            <a:ext cx="43592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b="1" dirty="0" smtClean="0">
                <a:solidFill>
                  <a:schemeClr val="accent2"/>
                </a:solidFill>
                <a:ea typeface="黑体" pitchFamily="49" charset="-122"/>
              </a:rPr>
              <a:t>例</a:t>
            </a:r>
            <a:r>
              <a:rPr lang="en-US" altLang="zh-CN" b="1" dirty="0" smtClean="0">
                <a:solidFill>
                  <a:schemeClr val="accent2"/>
                </a:solidFill>
                <a:ea typeface="黑体" pitchFamily="49" charset="-122"/>
              </a:rPr>
              <a:t>8  </a:t>
            </a:r>
            <a:r>
              <a:rPr lang="en-US" altLang="zh-CN" dirty="0" smtClean="0"/>
              <a:t>(0.4321)</a:t>
            </a:r>
            <a:r>
              <a:rPr lang="en-US" altLang="zh-CN" baseline="-25000" dirty="0" smtClean="0"/>
              <a:t>10</a:t>
            </a:r>
            <a:r>
              <a:rPr lang="en-US" altLang="zh-CN" dirty="0"/>
              <a:t>=(?)</a:t>
            </a:r>
            <a:r>
              <a:rPr lang="en-US" altLang="zh-CN" baseline="-25000" dirty="0"/>
              <a:t>16</a:t>
            </a:r>
            <a:r>
              <a:rPr lang="en-US" altLang="zh-CN" dirty="0"/>
              <a:t> </a:t>
            </a:r>
            <a:r>
              <a:rPr lang="en-US" altLang="zh-CN" sz="1800" dirty="0"/>
              <a:t>(</a:t>
            </a:r>
            <a:r>
              <a:rPr lang="zh-CN" altLang="en-US" sz="1800" dirty="0">
                <a:ea typeface="黑体" pitchFamily="49" charset="-122"/>
              </a:rPr>
              <a:t>取四位小数</a:t>
            </a:r>
            <a:r>
              <a:rPr lang="en-US" altLang="zh-CN" sz="1800" dirty="0"/>
              <a:t>)</a:t>
            </a: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1435100" y="1885950"/>
            <a:ext cx="29924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dirty="0"/>
              <a:t>16</a:t>
            </a:r>
            <a:r>
              <a:rPr lang="en-US" altLang="zh-CN" dirty="0">
                <a:sym typeface="Symbol" pitchFamily="18" charset="2"/>
              </a:rPr>
              <a:t>(</a:t>
            </a:r>
            <a:r>
              <a:rPr lang="en-US" altLang="zh-CN" dirty="0"/>
              <a:t>0.4321)=6.9136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5419725" y="1581150"/>
            <a:ext cx="697627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000" dirty="0">
                <a:ea typeface="黑体" pitchFamily="49" charset="-122"/>
              </a:rPr>
              <a:t>整数</a:t>
            </a:r>
          </a:p>
          <a:p>
            <a:r>
              <a:rPr lang="en-US" altLang="zh-CN" dirty="0" smtClean="0"/>
              <a:t>   6</a:t>
            </a:r>
            <a:endParaRPr lang="en-US" altLang="zh-CN" dirty="0"/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1435100" y="2343150"/>
            <a:ext cx="3159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dirty="0"/>
              <a:t>16</a:t>
            </a:r>
            <a:r>
              <a:rPr lang="en-US" altLang="zh-CN" dirty="0">
                <a:sym typeface="Symbol" pitchFamily="18" charset="2"/>
              </a:rPr>
              <a:t>(</a:t>
            </a:r>
            <a:r>
              <a:rPr lang="en-US" altLang="zh-CN" dirty="0"/>
              <a:t>0.9136)=14.6176</a:t>
            </a:r>
          </a:p>
        </p:txBody>
      </p:sp>
      <p:sp>
        <p:nvSpPr>
          <p:cNvPr id="12" name="Text Box 15"/>
          <p:cNvSpPr txBox="1">
            <a:spLocks noChangeArrowheads="1"/>
          </p:cNvSpPr>
          <p:nvPr/>
        </p:nvSpPr>
        <p:spPr bwMode="auto">
          <a:xfrm>
            <a:off x="5495925" y="2366963"/>
            <a:ext cx="5175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/>
              <a:t>14</a:t>
            </a:r>
          </a:p>
        </p:txBody>
      </p:sp>
      <p:sp>
        <p:nvSpPr>
          <p:cNvPr id="13" name="Text Box 16"/>
          <p:cNvSpPr txBox="1">
            <a:spLocks noChangeArrowheads="1"/>
          </p:cNvSpPr>
          <p:nvPr/>
        </p:nvSpPr>
        <p:spPr bwMode="auto">
          <a:xfrm>
            <a:off x="1435100" y="2800350"/>
            <a:ext cx="29924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dirty="0"/>
              <a:t>16</a:t>
            </a:r>
            <a:r>
              <a:rPr lang="en-US" altLang="zh-CN" dirty="0">
                <a:sym typeface="Symbol" pitchFamily="18" charset="2"/>
              </a:rPr>
              <a:t>(</a:t>
            </a:r>
            <a:r>
              <a:rPr lang="en-US" altLang="zh-CN" dirty="0"/>
              <a:t>0.6176)=9.8816</a:t>
            </a:r>
          </a:p>
        </p:txBody>
      </p:sp>
      <p:sp>
        <p:nvSpPr>
          <p:cNvPr id="14" name="Text Box 17"/>
          <p:cNvSpPr txBox="1">
            <a:spLocks noChangeArrowheads="1"/>
          </p:cNvSpPr>
          <p:nvPr/>
        </p:nvSpPr>
        <p:spPr bwMode="auto">
          <a:xfrm>
            <a:off x="5602288" y="2824163"/>
            <a:ext cx="3508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/>
              <a:t>9</a:t>
            </a:r>
          </a:p>
        </p:txBody>
      </p:sp>
      <p:sp>
        <p:nvSpPr>
          <p:cNvPr id="15" name="Text Box 18"/>
          <p:cNvSpPr txBox="1">
            <a:spLocks noChangeArrowheads="1"/>
          </p:cNvSpPr>
          <p:nvPr/>
        </p:nvSpPr>
        <p:spPr bwMode="auto">
          <a:xfrm>
            <a:off x="1435100" y="3257550"/>
            <a:ext cx="3159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/>
              <a:t>16</a:t>
            </a:r>
            <a:r>
              <a:rPr lang="en-US" altLang="zh-CN">
                <a:sym typeface="Symbol" pitchFamily="18" charset="2"/>
              </a:rPr>
              <a:t>(</a:t>
            </a:r>
            <a:r>
              <a:rPr lang="en-US" altLang="zh-CN"/>
              <a:t>0.8816)=14.1056</a:t>
            </a:r>
          </a:p>
        </p:txBody>
      </p:sp>
      <p:sp>
        <p:nvSpPr>
          <p:cNvPr id="16" name="Text Box 19"/>
          <p:cNvSpPr txBox="1">
            <a:spLocks noChangeArrowheads="1"/>
          </p:cNvSpPr>
          <p:nvPr/>
        </p:nvSpPr>
        <p:spPr bwMode="auto">
          <a:xfrm>
            <a:off x="5495925" y="3281363"/>
            <a:ext cx="5175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/>
              <a:t>14</a:t>
            </a:r>
          </a:p>
        </p:txBody>
      </p:sp>
      <p:grpSp>
        <p:nvGrpSpPr>
          <p:cNvPr id="17" name="Group 23"/>
          <p:cNvGrpSpPr>
            <a:grpSpLocks/>
          </p:cNvGrpSpPr>
          <p:nvPr/>
        </p:nvGrpSpPr>
        <p:grpSpPr bwMode="auto">
          <a:xfrm>
            <a:off x="6275388" y="1571625"/>
            <a:ext cx="1466850" cy="2143125"/>
            <a:chOff x="4135" y="2538"/>
            <a:chExt cx="924" cy="1350"/>
          </a:xfrm>
        </p:grpSpPr>
        <p:sp>
          <p:nvSpPr>
            <p:cNvPr id="18" name="Text Box 12"/>
            <p:cNvSpPr txBox="1">
              <a:spLocks noChangeArrowheads="1"/>
            </p:cNvSpPr>
            <p:nvPr/>
          </p:nvSpPr>
          <p:spPr bwMode="auto">
            <a:xfrm>
              <a:off x="4135" y="2538"/>
              <a:ext cx="924" cy="4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latin typeface="黑体" pitchFamily="49" charset="-122"/>
                  <a:ea typeface="黑体" pitchFamily="49" charset="-122"/>
                </a:rPr>
                <a:t>转成</a:t>
              </a:r>
              <a:r>
                <a:rPr lang="en-US" altLang="zh-CN" sz="2000" dirty="0">
                  <a:latin typeface="黑体" pitchFamily="49" charset="-122"/>
                  <a:ea typeface="黑体" pitchFamily="49" charset="-122"/>
                </a:rPr>
                <a:t>16</a:t>
              </a:r>
              <a:r>
                <a:rPr lang="zh-CN" altLang="en-US" sz="2000" dirty="0">
                  <a:latin typeface="黑体" pitchFamily="49" charset="-122"/>
                  <a:ea typeface="黑体" pitchFamily="49" charset="-122"/>
                </a:rPr>
                <a:t>进制</a:t>
              </a:r>
            </a:p>
            <a:p>
              <a:r>
                <a:rPr lang="en-US" altLang="zh-CN" dirty="0" smtClean="0"/>
                <a:t>         6</a:t>
              </a:r>
              <a:endParaRPr lang="en-US" altLang="zh-CN" dirty="0"/>
            </a:p>
          </p:txBody>
        </p:sp>
        <p:sp>
          <p:nvSpPr>
            <p:cNvPr id="19" name="Text Box 20"/>
            <p:cNvSpPr txBox="1">
              <a:spLocks noChangeArrowheads="1"/>
            </p:cNvSpPr>
            <p:nvPr/>
          </p:nvSpPr>
          <p:spPr bwMode="auto">
            <a:xfrm>
              <a:off x="4480" y="3024"/>
              <a:ext cx="22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/>
                <a:t>E</a:t>
              </a:r>
            </a:p>
          </p:txBody>
        </p:sp>
        <p:sp>
          <p:nvSpPr>
            <p:cNvPr id="20" name="Text Box 21"/>
            <p:cNvSpPr txBox="1">
              <a:spLocks noChangeArrowheads="1"/>
            </p:cNvSpPr>
            <p:nvPr/>
          </p:nvSpPr>
          <p:spPr bwMode="auto">
            <a:xfrm>
              <a:off x="4483" y="3312"/>
              <a:ext cx="22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/>
                <a:t>9</a:t>
              </a:r>
            </a:p>
          </p:txBody>
        </p:sp>
        <p:sp>
          <p:nvSpPr>
            <p:cNvPr id="21" name="Text Box 22"/>
            <p:cNvSpPr txBox="1">
              <a:spLocks noChangeArrowheads="1"/>
            </p:cNvSpPr>
            <p:nvPr/>
          </p:nvSpPr>
          <p:spPr bwMode="auto">
            <a:xfrm>
              <a:off x="4480" y="3600"/>
              <a:ext cx="22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/>
                <a:t>E</a:t>
              </a:r>
            </a:p>
          </p:txBody>
        </p:sp>
      </p:grpSp>
      <p:sp>
        <p:nvSpPr>
          <p:cNvPr id="22" name="Text Box 24"/>
          <p:cNvSpPr txBox="1">
            <a:spLocks noChangeArrowheads="1"/>
          </p:cNvSpPr>
          <p:nvPr/>
        </p:nvSpPr>
        <p:spPr bwMode="auto">
          <a:xfrm>
            <a:off x="1463675" y="3714750"/>
            <a:ext cx="39830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>
                <a:latin typeface="黑体" pitchFamily="49" charset="-122"/>
                <a:ea typeface="黑体" pitchFamily="49" charset="-122"/>
              </a:rPr>
              <a:t>结果</a:t>
            </a:r>
            <a:r>
              <a:rPr lang="en-US" altLang="zh-CN">
                <a:latin typeface="黑体" pitchFamily="49" charset="-122"/>
                <a:ea typeface="黑体" pitchFamily="49" charset="-122"/>
              </a:rPr>
              <a:t>:</a:t>
            </a:r>
            <a:r>
              <a:rPr lang="en-US" altLang="zh-CN"/>
              <a:t> (0.4321)</a:t>
            </a:r>
            <a:r>
              <a:rPr lang="en-US" altLang="zh-CN" baseline="-25000"/>
              <a:t>10</a:t>
            </a:r>
            <a:r>
              <a:rPr lang="en-US" altLang="zh-CN">
                <a:sym typeface="Symbol" pitchFamily="18" charset="2"/>
              </a:rPr>
              <a:t></a:t>
            </a:r>
            <a:r>
              <a:rPr lang="en-US" altLang="zh-CN"/>
              <a:t>(0.6E9E)</a:t>
            </a:r>
            <a:r>
              <a:rPr lang="en-US" altLang="zh-CN" baseline="-25000"/>
              <a:t>16</a:t>
            </a: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9" grpId="0" autoUpdateAnimBg="0"/>
      <p:bldP spid="10" grpId="0" autoUpdateAnimBg="0"/>
      <p:bldP spid="12" grpId="0" autoUpdateAnimBg="0"/>
      <p:bldP spid="13" grpId="0" autoUpdateAnimBg="0"/>
      <p:bldP spid="14" grpId="0" autoUpdateAnimBg="0"/>
      <p:bldP spid="15" grpId="0" autoUpdateAnimBg="0"/>
      <p:bldP spid="16" grpId="0" autoUpdateAnimBg="0"/>
      <p:bldP spid="22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：数 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7429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十进制转换成其它进制：</a:t>
            </a: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838200" y="1200150"/>
            <a:ext cx="5867400" cy="486965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</a:pPr>
            <a:r>
              <a:rPr kumimoji="0" lang="zh-CN" altLang="en-US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黑体" pitchFamily="49" charset="-122"/>
                <a:cs typeface="+mn-cs"/>
              </a:rPr>
              <a:t>例</a:t>
            </a:r>
            <a:r>
              <a:rPr kumimoji="0" lang="en-US" altLang="zh-CN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黑体" pitchFamily="49" charset="-122"/>
                <a:cs typeface="+mn-cs"/>
              </a:rPr>
              <a:t>10</a:t>
            </a:r>
            <a:r>
              <a:rPr kumimoji="0" lang="zh-CN" altLang="en-US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(1023.231)</a:t>
            </a:r>
            <a:r>
              <a:rPr kumimoji="0" lang="en-US" altLang="zh-CN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4</a:t>
            </a:r>
            <a:r>
              <a:rPr kumimoji="0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=(?)</a:t>
            </a:r>
            <a:r>
              <a:rPr kumimoji="0" lang="en-US" altLang="zh-CN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5   </a:t>
            </a:r>
            <a:r>
              <a:rPr lang="en-US" altLang="zh-CN" kern="0" dirty="0" smtClean="0">
                <a:ea typeface="微软雅黑" panose="020B0503020204020204" pitchFamily="34" charset="-122"/>
              </a:rPr>
              <a:t>( </a:t>
            </a:r>
            <a:r>
              <a:rPr lang="zh-CN" altLang="en-US" kern="0" dirty="0" smtClean="0">
                <a:ea typeface="黑体" pitchFamily="49" charset="-122"/>
              </a:rPr>
              <a:t>取四位小数</a:t>
            </a:r>
            <a:r>
              <a:rPr lang="en-US" altLang="zh-CN" kern="0" dirty="0" smtClean="0">
                <a:ea typeface="微软雅黑" panose="020B0503020204020204" pitchFamily="34" charset="-122"/>
              </a:rPr>
              <a:t>)</a:t>
            </a:r>
            <a:endParaRPr kumimoji="0" lang="en-US" altLang="zh-CN" b="0" i="0" u="none" strike="noStrike" kern="0" cap="none" spc="0" normalizeH="0" baseline="-2500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838200" y="1657350"/>
            <a:ext cx="4910319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i="1" dirty="0"/>
              <a:t>N </a:t>
            </a:r>
            <a:r>
              <a:rPr lang="en-US" altLang="zh-CN" dirty="0"/>
              <a:t>=1</a:t>
            </a:r>
            <a:r>
              <a:rPr lang="en-US" altLang="zh-CN" dirty="0">
                <a:sym typeface="Symbol" pitchFamily="18" charset="2"/>
              </a:rPr>
              <a:t>4</a:t>
            </a:r>
            <a:r>
              <a:rPr lang="en-US" altLang="zh-CN" baseline="30000" dirty="0">
                <a:sym typeface="Symbol" pitchFamily="18" charset="2"/>
              </a:rPr>
              <a:t>3</a:t>
            </a:r>
            <a:r>
              <a:rPr lang="en-US" altLang="zh-CN" dirty="0">
                <a:sym typeface="Symbol" pitchFamily="18" charset="2"/>
              </a:rPr>
              <a:t>+04</a:t>
            </a:r>
            <a:r>
              <a:rPr lang="en-US" altLang="zh-CN" baseline="30000" dirty="0">
                <a:sym typeface="Symbol" pitchFamily="18" charset="2"/>
              </a:rPr>
              <a:t>2</a:t>
            </a:r>
            <a:r>
              <a:rPr lang="en-US" altLang="zh-CN" dirty="0">
                <a:sym typeface="Symbol" pitchFamily="18" charset="2"/>
              </a:rPr>
              <a:t>+24</a:t>
            </a:r>
            <a:r>
              <a:rPr lang="en-US" altLang="zh-CN" baseline="30000" dirty="0">
                <a:sym typeface="Symbol" pitchFamily="18" charset="2"/>
              </a:rPr>
              <a:t>1</a:t>
            </a:r>
            <a:r>
              <a:rPr lang="en-US" altLang="zh-CN" dirty="0">
                <a:sym typeface="Symbol" pitchFamily="18" charset="2"/>
              </a:rPr>
              <a:t>+34</a:t>
            </a:r>
            <a:r>
              <a:rPr lang="en-US" altLang="zh-CN" baseline="30000" dirty="0">
                <a:sym typeface="Symbol" pitchFamily="18" charset="2"/>
              </a:rPr>
              <a:t>0</a:t>
            </a:r>
            <a:r>
              <a:rPr lang="en-US" altLang="zh-CN" dirty="0">
                <a:sym typeface="Symbol" pitchFamily="18" charset="2"/>
              </a:rPr>
              <a:t>+24</a:t>
            </a:r>
            <a:r>
              <a:rPr lang="en-US" altLang="zh-CN" baseline="30000" dirty="0">
                <a:sym typeface="Symbol" pitchFamily="18" charset="2"/>
              </a:rPr>
              <a:t>-1</a:t>
            </a:r>
            <a:r>
              <a:rPr lang="en-US" altLang="zh-CN" dirty="0">
                <a:sym typeface="Symbol" pitchFamily="18" charset="2"/>
              </a:rPr>
              <a:t>+34</a:t>
            </a:r>
            <a:r>
              <a:rPr lang="en-US" altLang="zh-CN" baseline="30000" dirty="0">
                <a:sym typeface="Symbol" pitchFamily="18" charset="2"/>
              </a:rPr>
              <a:t>-2</a:t>
            </a:r>
            <a:r>
              <a:rPr lang="en-US" altLang="zh-CN" dirty="0">
                <a:sym typeface="Symbol" pitchFamily="18" charset="2"/>
              </a:rPr>
              <a:t>+14</a:t>
            </a:r>
            <a:r>
              <a:rPr lang="en-US" altLang="zh-CN" baseline="30000" dirty="0">
                <a:sym typeface="Symbol" pitchFamily="18" charset="2"/>
              </a:rPr>
              <a:t>-3</a:t>
            </a:r>
          </a:p>
          <a:p>
            <a:pPr algn="l"/>
            <a:r>
              <a:rPr lang="en-US" altLang="zh-CN" dirty="0">
                <a:sym typeface="Symbol" pitchFamily="18" charset="2"/>
              </a:rPr>
              <a:t>   =64+8+3+0.5+0.1875+0.015625=75.703125</a:t>
            </a:r>
          </a:p>
        </p:txBody>
      </p:sp>
      <p:grpSp>
        <p:nvGrpSpPr>
          <p:cNvPr id="9" name="Group 23"/>
          <p:cNvGrpSpPr>
            <a:grpSpLocks/>
          </p:cNvGrpSpPr>
          <p:nvPr/>
        </p:nvGrpSpPr>
        <p:grpSpPr bwMode="auto">
          <a:xfrm>
            <a:off x="2209800" y="2488406"/>
            <a:ext cx="1585913" cy="1226344"/>
            <a:chOff x="1185" y="2592"/>
            <a:chExt cx="999" cy="1030"/>
          </a:xfrm>
        </p:grpSpPr>
        <p:sp>
          <p:nvSpPr>
            <p:cNvPr id="10" name="Text Box 6"/>
            <p:cNvSpPr txBox="1">
              <a:spLocks noChangeArrowheads="1"/>
            </p:cNvSpPr>
            <p:nvPr/>
          </p:nvSpPr>
          <p:spPr bwMode="auto">
            <a:xfrm>
              <a:off x="1185" y="2592"/>
              <a:ext cx="39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dirty="0"/>
                <a:t>5 75</a:t>
              </a:r>
            </a:p>
          </p:txBody>
        </p:sp>
        <p:grpSp>
          <p:nvGrpSpPr>
            <p:cNvPr id="12" name="Group 13"/>
            <p:cNvGrpSpPr>
              <a:grpSpLocks/>
            </p:cNvGrpSpPr>
            <p:nvPr/>
          </p:nvGrpSpPr>
          <p:grpSpPr bwMode="auto">
            <a:xfrm>
              <a:off x="1344" y="2640"/>
              <a:ext cx="288" cy="192"/>
              <a:chOff x="1344" y="2640"/>
              <a:chExt cx="288" cy="192"/>
            </a:xfrm>
          </p:grpSpPr>
          <p:sp>
            <p:nvSpPr>
              <p:cNvPr id="25" name="Line 7"/>
              <p:cNvSpPr>
                <a:spLocks noChangeShapeType="1"/>
              </p:cNvSpPr>
              <p:nvPr/>
            </p:nvSpPr>
            <p:spPr bwMode="auto">
              <a:xfrm>
                <a:off x="1344" y="2640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6" name="Line 8"/>
              <p:cNvSpPr>
                <a:spLocks noChangeShapeType="1"/>
              </p:cNvSpPr>
              <p:nvPr/>
            </p:nvSpPr>
            <p:spPr bwMode="auto">
              <a:xfrm>
                <a:off x="1344" y="283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1185" y="2832"/>
              <a:ext cx="39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dirty="0"/>
                <a:t>5 15</a:t>
              </a: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1225" y="3072"/>
              <a:ext cx="35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dirty="0"/>
                <a:t>5  3</a:t>
              </a: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1411" y="3312"/>
              <a:ext cx="197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/>
                <a:t>0</a:t>
              </a:r>
            </a:p>
          </p:txBody>
        </p:sp>
        <p:grpSp>
          <p:nvGrpSpPr>
            <p:cNvPr id="16" name="Group 14"/>
            <p:cNvGrpSpPr>
              <a:grpSpLocks/>
            </p:cNvGrpSpPr>
            <p:nvPr/>
          </p:nvGrpSpPr>
          <p:grpSpPr bwMode="auto">
            <a:xfrm>
              <a:off x="1344" y="2880"/>
              <a:ext cx="288" cy="192"/>
              <a:chOff x="1344" y="2640"/>
              <a:chExt cx="288" cy="192"/>
            </a:xfrm>
          </p:grpSpPr>
          <p:sp>
            <p:nvSpPr>
              <p:cNvPr id="23" name="Line 15"/>
              <p:cNvSpPr>
                <a:spLocks noChangeShapeType="1"/>
              </p:cNvSpPr>
              <p:nvPr/>
            </p:nvSpPr>
            <p:spPr bwMode="auto">
              <a:xfrm>
                <a:off x="1344" y="2640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4" name="Line 16"/>
              <p:cNvSpPr>
                <a:spLocks noChangeShapeType="1"/>
              </p:cNvSpPr>
              <p:nvPr/>
            </p:nvSpPr>
            <p:spPr bwMode="auto">
              <a:xfrm>
                <a:off x="1344" y="283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17" name="Group 17"/>
            <p:cNvGrpSpPr>
              <a:grpSpLocks/>
            </p:cNvGrpSpPr>
            <p:nvPr/>
          </p:nvGrpSpPr>
          <p:grpSpPr bwMode="auto">
            <a:xfrm>
              <a:off x="1392" y="3120"/>
              <a:ext cx="288" cy="192"/>
              <a:chOff x="1344" y="2640"/>
              <a:chExt cx="288" cy="192"/>
            </a:xfrm>
          </p:grpSpPr>
          <p:sp>
            <p:nvSpPr>
              <p:cNvPr id="21" name="Line 18"/>
              <p:cNvSpPr>
                <a:spLocks noChangeShapeType="1"/>
              </p:cNvSpPr>
              <p:nvPr/>
            </p:nvSpPr>
            <p:spPr bwMode="auto">
              <a:xfrm>
                <a:off x="1344" y="2640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2" name="Line 19"/>
              <p:cNvSpPr>
                <a:spLocks noChangeShapeType="1"/>
              </p:cNvSpPr>
              <p:nvPr/>
            </p:nvSpPr>
            <p:spPr bwMode="auto">
              <a:xfrm>
                <a:off x="1344" y="283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8" name="Text Box 20"/>
            <p:cNvSpPr txBox="1">
              <a:spLocks noChangeArrowheads="1"/>
            </p:cNvSpPr>
            <p:nvPr/>
          </p:nvSpPr>
          <p:spPr bwMode="auto">
            <a:xfrm>
              <a:off x="1987" y="2592"/>
              <a:ext cx="197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/>
                <a:t>0</a:t>
              </a:r>
            </a:p>
          </p:txBody>
        </p:sp>
        <p:sp>
          <p:nvSpPr>
            <p:cNvPr id="19" name="Text Box 21"/>
            <p:cNvSpPr txBox="1">
              <a:spLocks noChangeArrowheads="1"/>
            </p:cNvSpPr>
            <p:nvPr/>
          </p:nvSpPr>
          <p:spPr bwMode="auto">
            <a:xfrm>
              <a:off x="1987" y="2832"/>
              <a:ext cx="197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/>
                <a:t>0</a:t>
              </a:r>
            </a:p>
          </p:txBody>
        </p:sp>
        <p:sp>
          <p:nvSpPr>
            <p:cNvPr id="20" name="Text Box 22"/>
            <p:cNvSpPr txBox="1">
              <a:spLocks noChangeArrowheads="1"/>
            </p:cNvSpPr>
            <p:nvPr/>
          </p:nvSpPr>
          <p:spPr bwMode="auto">
            <a:xfrm>
              <a:off x="1987" y="3072"/>
              <a:ext cx="197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/>
                <a:t>3</a:t>
              </a:r>
            </a:p>
          </p:txBody>
        </p:sp>
      </p:grpSp>
      <p:grpSp>
        <p:nvGrpSpPr>
          <p:cNvPr id="27" name="Group 48"/>
          <p:cNvGrpSpPr>
            <a:grpSpLocks/>
          </p:cNvGrpSpPr>
          <p:nvPr/>
        </p:nvGrpSpPr>
        <p:grpSpPr bwMode="auto">
          <a:xfrm>
            <a:off x="685800" y="3933824"/>
            <a:ext cx="4654550" cy="771526"/>
            <a:chOff x="662" y="3365"/>
            <a:chExt cx="2932" cy="648"/>
          </a:xfrm>
        </p:grpSpPr>
        <p:sp>
          <p:nvSpPr>
            <p:cNvPr id="28" name="Text Box 46"/>
            <p:cNvSpPr txBox="1">
              <a:spLocks noChangeArrowheads="1"/>
            </p:cNvSpPr>
            <p:nvPr/>
          </p:nvSpPr>
          <p:spPr bwMode="auto">
            <a:xfrm>
              <a:off x="662" y="3365"/>
              <a:ext cx="2932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US" altLang="zh-CN" dirty="0"/>
                <a:t>(</a:t>
              </a:r>
              <a:r>
                <a:rPr lang="en-US" altLang="zh-CN" dirty="0" smtClean="0"/>
                <a:t>1023.23)</a:t>
              </a:r>
              <a:r>
                <a:rPr lang="en-US" altLang="zh-CN" baseline="-25000" dirty="0" smtClean="0"/>
                <a:t>4 </a:t>
              </a:r>
              <a:r>
                <a:rPr lang="en-US" altLang="zh-CN" dirty="0" smtClean="0"/>
                <a:t>= (</a:t>
              </a:r>
              <a:r>
                <a:rPr lang="en-US" altLang="zh-CN" dirty="0">
                  <a:sym typeface="Symbol" pitchFamily="18" charset="2"/>
                </a:rPr>
                <a:t>75.703125</a:t>
              </a:r>
              <a:r>
                <a:rPr lang="en-US" altLang="zh-CN" dirty="0"/>
                <a:t>)</a:t>
              </a:r>
              <a:r>
                <a:rPr lang="en-US" altLang="zh-CN" baseline="-25000" dirty="0"/>
                <a:t>10</a:t>
              </a:r>
            </a:p>
          </p:txBody>
        </p:sp>
        <p:sp>
          <p:nvSpPr>
            <p:cNvPr id="29" name="Text Box 47"/>
            <p:cNvSpPr txBox="1">
              <a:spLocks noChangeArrowheads="1"/>
            </p:cNvSpPr>
            <p:nvPr/>
          </p:nvSpPr>
          <p:spPr bwMode="auto">
            <a:xfrm>
              <a:off x="1440" y="3703"/>
              <a:ext cx="145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US" altLang="zh-CN" dirty="0" smtClean="0"/>
                <a:t>= (</a:t>
              </a:r>
              <a:r>
                <a:rPr lang="en-US" altLang="zh-CN" dirty="0"/>
                <a:t>300.3224)</a:t>
              </a:r>
              <a:r>
                <a:rPr lang="en-US" altLang="zh-CN" baseline="-25000" dirty="0"/>
                <a:t>5</a:t>
              </a:r>
            </a:p>
          </p:txBody>
        </p:sp>
      </p:grpSp>
      <p:grpSp>
        <p:nvGrpSpPr>
          <p:cNvPr id="30" name="Group 45"/>
          <p:cNvGrpSpPr>
            <a:grpSpLocks/>
          </p:cNvGrpSpPr>
          <p:nvPr/>
        </p:nvGrpSpPr>
        <p:grpSpPr bwMode="auto">
          <a:xfrm>
            <a:off x="4953000" y="2266950"/>
            <a:ext cx="1258570" cy="2286000"/>
            <a:chOff x="3360" y="2114"/>
            <a:chExt cx="991" cy="1800"/>
          </a:xfrm>
        </p:grpSpPr>
        <p:sp>
          <p:nvSpPr>
            <p:cNvPr id="31" name="Text Box 24"/>
            <p:cNvSpPr txBox="1">
              <a:spLocks noChangeArrowheads="1"/>
            </p:cNvSpPr>
            <p:nvPr/>
          </p:nvSpPr>
          <p:spPr bwMode="auto">
            <a:xfrm>
              <a:off x="3398" y="2114"/>
              <a:ext cx="953" cy="5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dirty="0"/>
                <a:t> 0.703125</a:t>
              </a:r>
            </a:p>
            <a:p>
              <a:pPr algn="l"/>
              <a:r>
                <a:rPr lang="en-US" altLang="zh-CN" b="1" dirty="0">
                  <a:sym typeface="Symbol" pitchFamily="18" charset="2"/>
                </a:rPr>
                <a:t></a:t>
              </a:r>
              <a:r>
                <a:rPr lang="en-US" altLang="zh-CN" dirty="0"/>
                <a:t>          5</a:t>
              </a:r>
            </a:p>
          </p:txBody>
        </p:sp>
        <p:sp>
          <p:nvSpPr>
            <p:cNvPr id="32" name="Line 25"/>
            <p:cNvSpPr>
              <a:spLocks noChangeShapeType="1"/>
            </p:cNvSpPr>
            <p:nvPr/>
          </p:nvSpPr>
          <p:spPr bwMode="auto">
            <a:xfrm>
              <a:off x="3360" y="2568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" name="Text Box 26"/>
            <p:cNvSpPr txBox="1">
              <a:spLocks noChangeArrowheads="1"/>
            </p:cNvSpPr>
            <p:nvPr/>
          </p:nvSpPr>
          <p:spPr bwMode="auto">
            <a:xfrm>
              <a:off x="3451" y="2544"/>
              <a:ext cx="72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dirty="0"/>
                <a:t>3.515625</a:t>
              </a:r>
            </a:p>
          </p:txBody>
        </p:sp>
        <p:grpSp>
          <p:nvGrpSpPr>
            <p:cNvPr id="34" name="Group 30"/>
            <p:cNvGrpSpPr>
              <a:grpSpLocks/>
            </p:cNvGrpSpPr>
            <p:nvPr/>
          </p:nvGrpSpPr>
          <p:grpSpPr bwMode="auto">
            <a:xfrm>
              <a:off x="3408" y="2693"/>
              <a:ext cx="912" cy="458"/>
              <a:chOff x="3360" y="2693"/>
              <a:chExt cx="912" cy="458"/>
            </a:xfrm>
          </p:grpSpPr>
          <p:sp>
            <p:nvSpPr>
              <p:cNvPr id="47" name="Text Box 27"/>
              <p:cNvSpPr txBox="1">
                <a:spLocks noChangeArrowheads="1"/>
              </p:cNvSpPr>
              <p:nvPr/>
            </p:nvSpPr>
            <p:spPr bwMode="auto">
              <a:xfrm>
                <a:off x="3398" y="2693"/>
                <a:ext cx="821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54000">
                <a:spAutoFit/>
              </a:bodyPr>
              <a:lstStyle/>
              <a:p>
                <a:pPr algn="l"/>
                <a:r>
                  <a:rPr lang="en-US" altLang="zh-CN" b="1" dirty="0">
                    <a:sym typeface="Symbol" pitchFamily="18" charset="2"/>
                  </a:rPr>
                  <a:t></a:t>
                </a:r>
                <a:r>
                  <a:rPr lang="en-US" altLang="zh-CN" dirty="0"/>
                  <a:t>          5</a:t>
                </a:r>
              </a:p>
            </p:txBody>
          </p:sp>
          <p:sp>
            <p:nvSpPr>
              <p:cNvPr id="48" name="Line 28"/>
              <p:cNvSpPr>
                <a:spLocks noChangeShapeType="1"/>
              </p:cNvSpPr>
              <p:nvPr/>
            </p:nvSpPr>
            <p:spPr bwMode="auto">
              <a:xfrm>
                <a:off x="3360" y="2928"/>
                <a:ext cx="9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54000"/>
              <a:lstStyle/>
              <a:p>
                <a:endParaRPr lang="zh-CN" altLang="en-US"/>
              </a:p>
            </p:txBody>
          </p:sp>
          <p:sp>
            <p:nvSpPr>
              <p:cNvPr id="49" name="Text Box 29"/>
              <p:cNvSpPr txBox="1">
                <a:spLocks noChangeArrowheads="1"/>
              </p:cNvSpPr>
              <p:nvPr/>
            </p:nvSpPr>
            <p:spPr bwMode="auto">
              <a:xfrm>
                <a:off x="3451" y="2918"/>
                <a:ext cx="698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54000">
                <a:spAutoFit/>
              </a:bodyPr>
              <a:lstStyle/>
              <a:p>
                <a:pPr algn="l"/>
                <a:r>
                  <a:rPr lang="en-US" altLang="zh-CN"/>
                  <a:t>2.578125</a:t>
                </a:r>
              </a:p>
            </p:txBody>
          </p:sp>
        </p:grpSp>
        <p:grpSp>
          <p:nvGrpSpPr>
            <p:cNvPr id="35" name="Group 31"/>
            <p:cNvGrpSpPr>
              <a:grpSpLocks/>
            </p:cNvGrpSpPr>
            <p:nvPr/>
          </p:nvGrpSpPr>
          <p:grpSpPr bwMode="auto">
            <a:xfrm>
              <a:off x="3360" y="3072"/>
              <a:ext cx="916" cy="458"/>
              <a:chOff x="3360" y="2693"/>
              <a:chExt cx="916" cy="458"/>
            </a:xfrm>
          </p:grpSpPr>
          <p:sp>
            <p:nvSpPr>
              <p:cNvPr id="44" name="Text Box 32"/>
              <p:cNvSpPr txBox="1">
                <a:spLocks noChangeArrowheads="1"/>
              </p:cNvSpPr>
              <p:nvPr/>
            </p:nvSpPr>
            <p:spPr bwMode="auto">
              <a:xfrm>
                <a:off x="3398" y="2693"/>
                <a:ext cx="878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126000">
                <a:spAutoFit/>
              </a:bodyPr>
              <a:lstStyle/>
              <a:p>
                <a:pPr algn="l"/>
                <a:r>
                  <a:rPr lang="en-US" altLang="zh-CN" b="1" dirty="0">
                    <a:sym typeface="Symbol" pitchFamily="18" charset="2"/>
                  </a:rPr>
                  <a:t></a:t>
                </a:r>
                <a:r>
                  <a:rPr lang="en-US" altLang="zh-CN" dirty="0"/>
                  <a:t>          5</a:t>
                </a:r>
              </a:p>
            </p:txBody>
          </p:sp>
          <p:sp>
            <p:nvSpPr>
              <p:cNvPr id="45" name="Line 33"/>
              <p:cNvSpPr>
                <a:spLocks noChangeShapeType="1"/>
              </p:cNvSpPr>
              <p:nvPr/>
            </p:nvSpPr>
            <p:spPr bwMode="auto">
              <a:xfrm>
                <a:off x="3360" y="2928"/>
                <a:ext cx="9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6000"/>
              <a:lstStyle/>
              <a:p>
                <a:endParaRPr lang="zh-CN" altLang="en-US"/>
              </a:p>
            </p:txBody>
          </p:sp>
          <p:sp>
            <p:nvSpPr>
              <p:cNvPr id="46" name="Text Box 34"/>
              <p:cNvSpPr txBox="1">
                <a:spLocks noChangeArrowheads="1"/>
              </p:cNvSpPr>
              <p:nvPr/>
            </p:nvSpPr>
            <p:spPr bwMode="auto">
              <a:xfrm>
                <a:off x="3451" y="2918"/>
                <a:ext cx="74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126000">
                <a:spAutoFit/>
              </a:bodyPr>
              <a:lstStyle/>
              <a:p>
                <a:pPr algn="l"/>
                <a:r>
                  <a:rPr lang="en-US" altLang="zh-CN"/>
                  <a:t>2.890625</a:t>
                </a:r>
              </a:p>
            </p:txBody>
          </p:sp>
        </p:grpSp>
        <p:grpSp>
          <p:nvGrpSpPr>
            <p:cNvPr id="36" name="Group 35"/>
            <p:cNvGrpSpPr>
              <a:grpSpLocks/>
            </p:cNvGrpSpPr>
            <p:nvPr/>
          </p:nvGrpSpPr>
          <p:grpSpPr bwMode="auto">
            <a:xfrm>
              <a:off x="3408" y="3456"/>
              <a:ext cx="912" cy="458"/>
              <a:chOff x="3360" y="2693"/>
              <a:chExt cx="912" cy="458"/>
            </a:xfrm>
          </p:grpSpPr>
          <p:sp>
            <p:nvSpPr>
              <p:cNvPr id="41" name="Text Box 36"/>
              <p:cNvSpPr txBox="1">
                <a:spLocks noChangeArrowheads="1"/>
              </p:cNvSpPr>
              <p:nvPr/>
            </p:nvSpPr>
            <p:spPr bwMode="auto">
              <a:xfrm>
                <a:off x="3398" y="2693"/>
                <a:ext cx="821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54000">
                <a:spAutoFit/>
              </a:bodyPr>
              <a:lstStyle/>
              <a:p>
                <a:pPr algn="l"/>
                <a:r>
                  <a:rPr lang="en-US" altLang="zh-CN" b="1" dirty="0">
                    <a:sym typeface="Symbol" pitchFamily="18" charset="2"/>
                  </a:rPr>
                  <a:t></a:t>
                </a:r>
                <a:r>
                  <a:rPr lang="en-US" altLang="zh-CN" dirty="0"/>
                  <a:t>          5</a:t>
                </a:r>
              </a:p>
            </p:txBody>
          </p:sp>
          <p:sp>
            <p:nvSpPr>
              <p:cNvPr id="42" name="Line 37"/>
              <p:cNvSpPr>
                <a:spLocks noChangeShapeType="1"/>
              </p:cNvSpPr>
              <p:nvPr/>
            </p:nvSpPr>
            <p:spPr bwMode="auto">
              <a:xfrm>
                <a:off x="3360" y="2928"/>
                <a:ext cx="9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54000"/>
              <a:lstStyle/>
              <a:p>
                <a:endParaRPr lang="zh-CN" altLang="en-US"/>
              </a:p>
            </p:txBody>
          </p:sp>
          <p:sp>
            <p:nvSpPr>
              <p:cNvPr id="43" name="Text Box 38"/>
              <p:cNvSpPr txBox="1">
                <a:spLocks noChangeArrowheads="1"/>
              </p:cNvSpPr>
              <p:nvPr/>
            </p:nvSpPr>
            <p:spPr bwMode="auto">
              <a:xfrm>
                <a:off x="3451" y="2918"/>
                <a:ext cx="698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54000">
                <a:spAutoFit/>
              </a:bodyPr>
              <a:lstStyle/>
              <a:p>
                <a:pPr algn="l"/>
                <a:r>
                  <a:rPr lang="en-US" altLang="zh-CN"/>
                  <a:t>4.453125</a:t>
                </a:r>
              </a:p>
            </p:txBody>
          </p:sp>
        </p:grpSp>
        <p:sp>
          <p:nvSpPr>
            <p:cNvPr id="37" name="Rectangle 40"/>
            <p:cNvSpPr>
              <a:spLocks noChangeArrowheads="1"/>
            </p:cNvSpPr>
            <p:nvPr/>
          </p:nvSpPr>
          <p:spPr bwMode="auto">
            <a:xfrm>
              <a:off x="3456" y="2594"/>
              <a:ext cx="192" cy="144"/>
            </a:xfrm>
            <a:prstGeom prst="rect">
              <a:avLst/>
            </a:prstGeom>
            <a:noFill/>
            <a:ln w="19050" cap="rnd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Rectangle 41"/>
            <p:cNvSpPr>
              <a:spLocks noChangeArrowheads="1"/>
            </p:cNvSpPr>
            <p:nvPr/>
          </p:nvSpPr>
          <p:spPr bwMode="auto">
            <a:xfrm>
              <a:off x="3456" y="2976"/>
              <a:ext cx="192" cy="144"/>
            </a:xfrm>
            <a:prstGeom prst="rect">
              <a:avLst/>
            </a:prstGeom>
            <a:noFill/>
            <a:ln w="19050" cap="rnd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Rectangle 42"/>
            <p:cNvSpPr>
              <a:spLocks noChangeArrowheads="1"/>
            </p:cNvSpPr>
            <p:nvPr/>
          </p:nvSpPr>
          <p:spPr bwMode="auto">
            <a:xfrm>
              <a:off x="3456" y="3337"/>
              <a:ext cx="192" cy="144"/>
            </a:xfrm>
            <a:prstGeom prst="rect">
              <a:avLst/>
            </a:prstGeom>
            <a:noFill/>
            <a:ln w="19050" cap="rnd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Rectangle 43"/>
            <p:cNvSpPr>
              <a:spLocks noChangeArrowheads="1"/>
            </p:cNvSpPr>
            <p:nvPr/>
          </p:nvSpPr>
          <p:spPr bwMode="auto">
            <a:xfrm>
              <a:off x="3456" y="3744"/>
              <a:ext cx="192" cy="144"/>
            </a:xfrm>
            <a:prstGeom prst="rect">
              <a:avLst/>
            </a:prstGeom>
            <a:noFill/>
            <a:ln w="19050" cap="rnd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：数 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7429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2.   2</a:t>
            </a:r>
            <a:r>
              <a:rPr lang="en-US" altLang="zh-CN" b="1" baseline="50000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进制之间的转换：</a:t>
            </a: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834148" y="1362390"/>
            <a:ext cx="5522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ea typeface="黑体" pitchFamily="49" charset="-122"/>
              </a:rPr>
              <a:t>011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3352800" y="1362390"/>
            <a:ext cx="6335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ea typeface="黑体" pitchFamily="49" charset="-122"/>
              </a:rPr>
              <a:t>100.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3962400" y="1362390"/>
            <a:ext cx="5693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ea typeface="黑体" pitchFamily="49" charset="-122"/>
              </a:rPr>
              <a:t>101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4419600" y="1362390"/>
            <a:ext cx="5522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ea typeface="黑体" pitchFamily="49" charset="-122"/>
              </a:rPr>
              <a:t>110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958644" y="1352550"/>
            <a:ext cx="4241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chemeClr val="accent2"/>
                </a:solidFill>
                <a:ea typeface="黑体" pitchFamily="49" charset="-122"/>
              </a:rPr>
              <a:t>例</a:t>
            </a:r>
            <a:r>
              <a:rPr lang="en-US" altLang="zh-CN" b="1" dirty="0" smtClean="0">
                <a:solidFill>
                  <a:schemeClr val="accent2"/>
                </a:solidFill>
                <a:ea typeface="黑体" pitchFamily="49" charset="-122"/>
              </a:rPr>
              <a:t>11</a:t>
            </a:r>
            <a:r>
              <a:rPr lang="zh-CN" altLang="en-US" b="1" dirty="0" smtClean="0">
                <a:solidFill>
                  <a:schemeClr val="accent2"/>
                </a:solidFill>
                <a:ea typeface="黑体" pitchFamily="49" charset="-122"/>
              </a:rPr>
              <a:t>：</a:t>
            </a:r>
            <a:r>
              <a:rPr lang="en-US" altLang="zh-CN" dirty="0" smtClean="0">
                <a:ea typeface="黑体" pitchFamily="49" charset="-122"/>
              </a:rPr>
              <a:t>(34.56)</a:t>
            </a:r>
            <a:r>
              <a:rPr lang="en-US" altLang="zh-CN" baseline="-25000" dirty="0" smtClean="0">
                <a:ea typeface="黑体" pitchFamily="49" charset="-122"/>
              </a:rPr>
              <a:t>8 </a:t>
            </a:r>
            <a:r>
              <a:rPr lang="en-US" altLang="zh-CN" dirty="0" smtClean="0">
                <a:ea typeface="黑体" pitchFamily="49" charset="-122"/>
              </a:rPr>
              <a:t>= (                                )</a:t>
            </a:r>
            <a:r>
              <a:rPr lang="en-US" altLang="zh-CN" baseline="-25000" dirty="0" smtClean="0">
                <a:ea typeface="黑体" pitchFamily="49" charset="-122"/>
              </a:rPr>
              <a:t>2</a:t>
            </a:r>
            <a:endParaRPr lang="en-US" altLang="zh-CN" baseline="-25000" dirty="0">
              <a:ea typeface="黑体" pitchFamily="49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：数 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7429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2.   2</a:t>
            </a:r>
            <a:r>
              <a:rPr lang="en-US" altLang="zh-CN" b="1" baseline="50000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进制之间的转换：</a:t>
            </a: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19200" y="1352550"/>
            <a:ext cx="40794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chemeClr val="accent2"/>
                </a:solidFill>
                <a:ea typeface="黑体" pitchFamily="49" charset="-122"/>
              </a:rPr>
              <a:t>例</a:t>
            </a:r>
            <a:r>
              <a:rPr lang="en-US" altLang="zh-CN" b="1" dirty="0" smtClean="0">
                <a:solidFill>
                  <a:schemeClr val="accent2"/>
                </a:solidFill>
                <a:ea typeface="黑体" pitchFamily="49" charset="-122"/>
              </a:rPr>
              <a:t>11</a:t>
            </a:r>
            <a:r>
              <a:rPr lang="zh-CN" altLang="en-US" b="1" dirty="0" smtClean="0">
                <a:solidFill>
                  <a:schemeClr val="accent2"/>
                </a:solidFill>
                <a:ea typeface="黑体" pitchFamily="49" charset="-122"/>
              </a:rPr>
              <a:t>：</a:t>
            </a:r>
            <a:r>
              <a:rPr lang="en-US" altLang="zh-CN" dirty="0" smtClean="0">
                <a:ea typeface="黑体" pitchFamily="49" charset="-122"/>
              </a:rPr>
              <a:t>(34.56)</a:t>
            </a:r>
            <a:r>
              <a:rPr lang="en-US" altLang="zh-CN" baseline="-25000" dirty="0" smtClean="0">
                <a:ea typeface="黑体" pitchFamily="49" charset="-122"/>
              </a:rPr>
              <a:t>8 </a:t>
            </a:r>
            <a:r>
              <a:rPr lang="en-US" altLang="zh-CN" dirty="0" smtClean="0">
                <a:ea typeface="黑体" pitchFamily="49" charset="-122"/>
              </a:rPr>
              <a:t>= ( </a:t>
            </a:r>
            <a:r>
              <a:rPr lang="en-US" altLang="zh-CN" dirty="0" smtClean="0">
                <a:solidFill>
                  <a:srgbClr val="FF0000"/>
                </a:solidFill>
                <a:ea typeface="黑体" pitchFamily="49" charset="-122"/>
              </a:rPr>
              <a:t>011 100. 101 110 </a:t>
            </a:r>
            <a:r>
              <a:rPr lang="en-US" altLang="zh-CN" dirty="0" smtClean="0">
                <a:ea typeface="黑体" pitchFamily="49" charset="-122"/>
              </a:rPr>
              <a:t>)</a:t>
            </a:r>
            <a:r>
              <a:rPr lang="en-US" altLang="zh-CN" baseline="-25000" dirty="0" smtClean="0">
                <a:ea typeface="黑体" pitchFamily="49" charset="-122"/>
              </a:rPr>
              <a:t>2</a:t>
            </a:r>
            <a:endParaRPr lang="en-US" altLang="zh-CN" baseline="-25000" dirty="0">
              <a:ea typeface="黑体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219200" y="2114550"/>
            <a:ext cx="39676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chemeClr val="accent2"/>
                </a:solidFill>
                <a:ea typeface="黑体" pitchFamily="49" charset="-122"/>
              </a:rPr>
              <a:t>例</a:t>
            </a:r>
            <a:r>
              <a:rPr lang="en-US" altLang="zh-CN" b="1" dirty="0" smtClean="0">
                <a:solidFill>
                  <a:schemeClr val="accent2"/>
                </a:solidFill>
                <a:ea typeface="黑体" pitchFamily="49" charset="-122"/>
              </a:rPr>
              <a:t>12</a:t>
            </a:r>
            <a:r>
              <a:rPr lang="zh-CN" altLang="en-US" b="1" dirty="0" smtClean="0">
                <a:solidFill>
                  <a:schemeClr val="accent2"/>
                </a:solidFill>
                <a:ea typeface="黑体" pitchFamily="49" charset="-122"/>
              </a:rPr>
              <a:t>：</a:t>
            </a:r>
            <a:r>
              <a:rPr lang="en-US" altLang="zh-CN" dirty="0" smtClean="0">
                <a:ea typeface="黑体" pitchFamily="49" charset="-122"/>
              </a:rPr>
              <a:t>(11010.00111)</a:t>
            </a:r>
            <a:r>
              <a:rPr lang="en-US" altLang="zh-CN" baseline="-25000" dirty="0" smtClean="0">
                <a:ea typeface="黑体" pitchFamily="49" charset="-122"/>
              </a:rPr>
              <a:t>2 </a:t>
            </a:r>
            <a:r>
              <a:rPr lang="en-US" altLang="zh-CN" dirty="0" smtClean="0">
                <a:ea typeface="黑体" pitchFamily="49" charset="-122"/>
              </a:rPr>
              <a:t>= (               )</a:t>
            </a:r>
            <a:r>
              <a:rPr lang="en-US" altLang="zh-CN" baseline="-25000" dirty="0" smtClean="0">
                <a:ea typeface="黑体" pitchFamily="49" charset="-122"/>
              </a:rPr>
              <a:t>8</a:t>
            </a:r>
            <a:endParaRPr lang="en-US" altLang="zh-CN" baseline="-25000" dirty="0">
              <a:ea typeface="黑体" pitchFamily="49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：数 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7429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2.   2</a:t>
            </a:r>
            <a:r>
              <a:rPr lang="en-US" altLang="zh-CN" b="1" baseline="50000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进制之间的转换：</a:t>
            </a: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19200" y="1352550"/>
            <a:ext cx="40794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chemeClr val="accent2"/>
                </a:solidFill>
                <a:ea typeface="黑体" pitchFamily="49" charset="-122"/>
              </a:rPr>
              <a:t>例</a:t>
            </a:r>
            <a:r>
              <a:rPr lang="en-US" altLang="zh-CN" b="1" dirty="0" smtClean="0">
                <a:solidFill>
                  <a:schemeClr val="accent2"/>
                </a:solidFill>
                <a:ea typeface="黑体" pitchFamily="49" charset="-122"/>
              </a:rPr>
              <a:t>11</a:t>
            </a:r>
            <a:r>
              <a:rPr lang="zh-CN" altLang="en-US" b="1" dirty="0" smtClean="0">
                <a:solidFill>
                  <a:schemeClr val="accent2"/>
                </a:solidFill>
                <a:ea typeface="黑体" pitchFamily="49" charset="-122"/>
              </a:rPr>
              <a:t>：</a:t>
            </a:r>
            <a:r>
              <a:rPr lang="en-US" altLang="zh-CN" dirty="0" smtClean="0">
                <a:ea typeface="黑体" pitchFamily="49" charset="-122"/>
              </a:rPr>
              <a:t>(34.56)</a:t>
            </a:r>
            <a:r>
              <a:rPr lang="en-US" altLang="zh-CN" baseline="-25000" dirty="0" smtClean="0">
                <a:ea typeface="黑体" pitchFamily="49" charset="-122"/>
              </a:rPr>
              <a:t>8 </a:t>
            </a:r>
            <a:r>
              <a:rPr lang="en-US" altLang="zh-CN" dirty="0" smtClean="0">
                <a:ea typeface="黑体" pitchFamily="49" charset="-122"/>
              </a:rPr>
              <a:t>= ( </a:t>
            </a:r>
            <a:r>
              <a:rPr lang="en-US" altLang="zh-CN" dirty="0" smtClean="0">
                <a:solidFill>
                  <a:srgbClr val="FF0000"/>
                </a:solidFill>
                <a:ea typeface="黑体" pitchFamily="49" charset="-122"/>
              </a:rPr>
              <a:t>011 100. 101 110 </a:t>
            </a:r>
            <a:r>
              <a:rPr lang="en-US" altLang="zh-CN" dirty="0" smtClean="0">
                <a:ea typeface="黑体" pitchFamily="49" charset="-122"/>
              </a:rPr>
              <a:t>)</a:t>
            </a:r>
            <a:r>
              <a:rPr lang="en-US" altLang="zh-CN" baseline="-25000" dirty="0" smtClean="0">
                <a:ea typeface="黑体" pitchFamily="49" charset="-122"/>
              </a:rPr>
              <a:t>2</a:t>
            </a:r>
            <a:endParaRPr lang="en-US" altLang="zh-CN" baseline="-25000" dirty="0">
              <a:ea typeface="黑体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219200" y="2114550"/>
            <a:ext cx="44977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chemeClr val="accent2"/>
                </a:solidFill>
                <a:ea typeface="黑体" pitchFamily="49" charset="-122"/>
              </a:rPr>
              <a:t>例</a:t>
            </a:r>
            <a:r>
              <a:rPr lang="en-US" altLang="zh-CN" b="1" dirty="0" smtClean="0">
                <a:solidFill>
                  <a:schemeClr val="accent2"/>
                </a:solidFill>
                <a:ea typeface="黑体" pitchFamily="49" charset="-122"/>
              </a:rPr>
              <a:t>12</a:t>
            </a:r>
            <a:r>
              <a:rPr lang="zh-CN" altLang="en-US" b="1" dirty="0" smtClean="0">
                <a:solidFill>
                  <a:schemeClr val="accent2"/>
                </a:solidFill>
                <a:ea typeface="黑体" pitchFamily="49" charset="-122"/>
              </a:rPr>
              <a:t>：</a:t>
            </a:r>
            <a:r>
              <a:rPr lang="en-US" altLang="zh-CN" dirty="0" smtClean="0">
                <a:ea typeface="黑体" pitchFamily="49" charset="-122"/>
              </a:rPr>
              <a:t>( </a:t>
            </a:r>
            <a:r>
              <a:rPr lang="en-US" altLang="zh-CN" dirty="0" smtClean="0">
                <a:solidFill>
                  <a:srgbClr val="FF0000"/>
                </a:solidFill>
                <a:ea typeface="黑体" pitchFamily="49" charset="-122"/>
              </a:rPr>
              <a:t>0</a:t>
            </a:r>
            <a:r>
              <a:rPr lang="en-US" altLang="zh-CN" dirty="0" smtClean="0">
                <a:ea typeface="黑体" pitchFamily="49" charset="-122"/>
              </a:rPr>
              <a:t>11 010.001 11</a:t>
            </a:r>
            <a:r>
              <a:rPr lang="en-US" altLang="zh-CN" dirty="0" smtClean="0">
                <a:solidFill>
                  <a:srgbClr val="FF0000"/>
                </a:solidFill>
                <a:ea typeface="黑体" pitchFamily="49" charset="-122"/>
              </a:rPr>
              <a:t>0</a:t>
            </a:r>
            <a:r>
              <a:rPr lang="en-US" altLang="zh-CN" dirty="0" smtClean="0">
                <a:ea typeface="黑体" pitchFamily="49" charset="-122"/>
              </a:rPr>
              <a:t>)</a:t>
            </a:r>
            <a:r>
              <a:rPr lang="en-US" altLang="zh-CN" baseline="-25000" dirty="0" smtClean="0">
                <a:ea typeface="黑体" pitchFamily="49" charset="-122"/>
              </a:rPr>
              <a:t>2 </a:t>
            </a:r>
            <a:r>
              <a:rPr lang="en-US" altLang="zh-CN" dirty="0" smtClean="0">
                <a:ea typeface="黑体" pitchFamily="49" charset="-122"/>
              </a:rPr>
              <a:t>= (                )</a:t>
            </a:r>
            <a:r>
              <a:rPr lang="en-US" altLang="zh-CN" baseline="-25000" dirty="0" smtClean="0">
                <a:ea typeface="黑体" pitchFamily="49" charset="-122"/>
              </a:rPr>
              <a:t>8</a:t>
            </a:r>
            <a:endParaRPr lang="en-US" altLang="zh-CN" baseline="-25000" dirty="0">
              <a:ea typeface="黑体" pitchFamily="49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2615382" y="2419350"/>
            <a:ext cx="304800" cy="0"/>
          </a:xfrm>
          <a:prstGeom prst="line">
            <a:avLst/>
          </a:prstGeom>
          <a:ln w="15875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2158182" y="2419350"/>
            <a:ext cx="304800" cy="0"/>
          </a:xfrm>
          <a:prstGeom prst="line">
            <a:avLst/>
          </a:prstGeom>
          <a:ln w="15875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3072582" y="2419350"/>
            <a:ext cx="304800" cy="0"/>
          </a:xfrm>
          <a:prstGeom prst="line">
            <a:avLst/>
          </a:prstGeom>
          <a:ln w="15875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3505200" y="2419350"/>
            <a:ext cx="304800" cy="0"/>
          </a:xfrm>
          <a:prstGeom prst="line">
            <a:avLst/>
          </a:prstGeom>
          <a:ln w="15875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4292812" y="2126171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ea typeface="黑体" pitchFamily="49" charset="-122"/>
              </a:rPr>
              <a:t>3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4533402" y="2121924"/>
            <a:ext cx="377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ea typeface="黑体" pitchFamily="49" charset="-122"/>
              </a:rPr>
              <a:t>2.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4800600" y="2121924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ea typeface="黑体" pitchFamily="49" charset="-122"/>
              </a:rPr>
              <a:t>1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5017644" y="2128678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ea typeface="黑体" pitchFamily="49" charset="-122"/>
              </a:rPr>
              <a:t>6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：数 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143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八进制与二进制之间的转换原理：</a:t>
            </a: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828800" y="1471609"/>
            <a:ext cx="4927600" cy="588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1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+mn-cs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990600" y="1090609"/>
            <a:ext cx="724376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1600" dirty="0">
                <a:ea typeface="黑体" pitchFamily="49" charset="-122"/>
              </a:rPr>
              <a:t>设</a:t>
            </a:r>
            <a:r>
              <a:rPr lang="zh-CN" altLang="en-US" sz="1600" dirty="0">
                <a:sym typeface="Wingdings" pitchFamily="2" charset="2"/>
              </a:rPr>
              <a:t>：　</a:t>
            </a:r>
            <a:r>
              <a:rPr lang="en-US" altLang="zh-CN" sz="1600" dirty="0">
                <a:sym typeface="Wingdings" pitchFamily="2" charset="2"/>
              </a:rPr>
              <a:t>(N)</a:t>
            </a:r>
            <a:r>
              <a:rPr lang="en-US" altLang="zh-CN" sz="1600" baseline="-25000" dirty="0">
                <a:sym typeface="Wingdings" pitchFamily="2" charset="2"/>
              </a:rPr>
              <a:t>10</a:t>
            </a:r>
            <a:r>
              <a:rPr lang="en-US" altLang="zh-CN" sz="1600" dirty="0">
                <a:sym typeface="Wingdings" pitchFamily="2" charset="2"/>
              </a:rPr>
              <a:t>=</a:t>
            </a:r>
            <a:r>
              <a:rPr lang="en-US" altLang="zh-CN" sz="1600" i="1" dirty="0">
                <a:latin typeface="Arial" pitchFamily="34" charset="0"/>
                <a:ea typeface=""/>
                <a:cs typeface=""/>
              </a:rPr>
              <a:t>a</a:t>
            </a:r>
            <a:r>
              <a:rPr lang="en-US" altLang="zh-CN" sz="1600" baseline="-25000" dirty="0">
                <a:latin typeface="Arial" pitchFamily="34" charset="0"/>
                <a:ea typeface=""/>
                <a:cs typeface=""/>
              </a:rPr>
              <a:t>n-1</a:t>
            </a:r>
            <a:r>
              <a:rPr lang="en-US" altLang="zh-CN" sz="1600" dirty="0">
                <a:latin typeface="Arial" pitchFamily="34" charset="0"/>
                <a:ea typeface=""/>
                <a:cs typeface=""/>
              </a:rPr>
              <a:t>2</a:t>
            </a:r>
            <a:r>
              <a:rPr lang="en-US" altLang="zh-CN" sz="1600" baseline="30000" dirty="0">
                <a:latin typeface="Arial" pitchFamily="34" charset="0"/>
                <a:ea typeface=""/>
                <a:cs typeface=""/>
              </a:rPr>
              <a:t>n-1</a:t>
            </a:r>
            <a:r>
              <a:rPr lang="en-US" altLang="zh-CN" sz="1600" dirty="0">
                <a:latin typeface="Arial" pitchFamily="34" charset="0"/>
                <a:ea typeface=""/>
                <a:cs typeface=""/>
              </a:rPr>
              <a:t>+…+</a:t>
            </a:r>
            <a:r>
              <a:rPr lang="en-US" altLang="zh-CN" sz="1600" i="1" dirty="0">
                <a:latin typeface="Arial" pitchFamily="34" charset="0"/>
                <a:ea typeface=""/>
                <a:cs typeface=""/>
              </a:rPr>
              <a:t>a</a:t>
            </a:r>
            <a:r>
              <a:rPr lang="en-US" altLang="zh-CN" sz="1600" baseline="-25000" dirty="0">
                <a:latin typeface="Arial" pitchFamily="34" charset="0"/>
                <a:ea typeface=""/>
                <a:cs typeface=""/>
              </a:rPr>
              <a:t>3</a:t>
            </a:r>
            <a:r>
              <a:rPr lang="en-US" altLang="zh-CN" sz="1600" dirty="0">
                <a:latin typeface="Arial" pitchFamily="34" charset="0"/>
              </a:rPr>
              <a:t>2</a:t>
            </a:r>
            <a:r>
              <a:rPr lang="en-US" altLang="zh-CN" sz="1600" baseline="30000" dirty="0">
                <a:latin typeface="Arial" pitchFamily="34" charset="0"/>
                <a:ea typeface=""/>
                <a:cs typeface=""/>
              </a:rPr>
              <a:t>3 </a:t>
            </a:r>
            <a:r>
              <a:rPr lang="en-US" altLang="zh-CN" sz="1600" dirty="0">
                <a:latin typeface="Arial" pitchFamily="34" charset="0"/>
                <a:ea typeface=""/>
                <a:cs typeface=""/>
              </a:rPr>
              <a:t>+</a:t>
            </a:r>
            <a:r>
              <a:rPr lang="en-US" altLang="zh-CN" sz="1600" i="1" dirty="0">
                <a:latin typeface="Arial" pitchFamily="34" charset="0"/>
                <a:ea typeface=""/>
                <a:cs typeface=""/>
              </a:rPr>
              <a:t>a</a:t>
            </a:r>
            <a:r>
              <a:rPr lang="en-US" altLang="zh-CN" sz="1600" baseline="-25000" dirty="0">
                <a:latin typeface="Arial" pitchFamily="34" charset="0"/>
                <a:ea typeface=""/>
                <a:cs typeface=""/>
              </a:rPr>
              <a:t>2</a:t>
            </a:r>
            <a:r>
              <a:rPr lang="en-US" altLang="zh-CN" sz="1600" dirty="0">
                <a:latin typeface="Arial" pitchFamily="34" charset="0"/>
              </a:rPr>
              <a:t>2</a:t>
            </a:r>
            <a:r>
              <a:rPr lang="en-US" altLang="zh-CN" sz="1600" baseline="30000" dirty="0">
                <a:latin typeface="Arial" pitchFamily="34" charset="0"/>
                <a:ea typeface=""/>
                <a:cs typeface=""/>
              </a:rPr>
              <a:t>2</a:t>
            </a:r>
            <a:r>
              <a:rPr lang="en-US" altLang="zh-CN" sz="1600" dirty="0">
                <a:latin typeface="Arial" pitchFamily="34" charset="0"/>
                <a:ea typeface=""/>
                <a:cs typeface=""/>
              </a:rPr>
              <a:t>+</a:t>
            </a:r>
            <a:r>
              <a:rPr lang="en-US" altLang="zh-CN" sz="1600" i="1" dirty="0">
                <a:latin typeface="Arial" pitchFamily="34" charset="0"/>
                <a:ea typeface=""/>
                <a:cs typeface=""/>
              </a:rPr>
              <a:t>a</a:t>
            </a:r>
            <a:r>
              <a:rPr lang="en-US" altLang="zh-CN" sz="1600" baseline="-25000" dirty="0">
                <a:latin typeface="Arial" pitchFamily="34" charset="0"/>
                <a:ea typeface=""/>
                <a:cs typeface=""/>
              </a:rPr>
              <a:t>1</a:t>
            </a:r>
            <a:r>
              <a:rPr lang="en-US" altLang="zh-CN" sz="1600" dirty="0">
                <a:latin typeface="Arial" pitchFamily="34" charset="0"/>
                <a:ea typeface=""/>
                <a:cs typeface=""/>
              </a:rPr>
              <a:t>2</a:t>
            </a:r>
            <a:r>
              <a:rPr lang="en-US" altLang="zh-CN" sz="1600" baseline="30000" dirty="0">
                <a:latin typeface="Arial" pitchFamily="34" charset="0"/>
                <a:ea typeface=""/>
                <a:cs typeface=""/>
              </a:rPr>
              <a:t>1</a:t>
            </a:r>
            <a:r>
              <a:rPr lang="en-US" altLang="zh-CN" sz="1600" dirty="0">
                <a:latin typeface="Arial" pitchFamily="34" charset="0"/>
                <a:ea typeface=""/>
                <a:cs typeface=""/>
              </a:rPr>
              <a:t>+</a:t>
            </a:r>
            <a:r>
              <a:rPr lang="en-US" altLang="zh-CN" sz="1600" i="1" dirty="0">
                <a:latin typeface="Arial" pitchFamily="34" charset="0"/>
                <a:ea typeface=""/>
                <a:cs typeface=""/>
              </a:rPr>
              <a:t>a</a:t>
            </a:r>
            <a:r>
              <a:rPr lang="en-US" altLang="zh-CN" sz="1600" baseline="-25000" dirty="0">
                <a:latin typeface="Arial" pitchFamily="34" charset="0"/>
                <a:ea typeface=""/>
                <a:cs typeface=""/>
              </a:rPr>
              <a:t>0</a:t>
            </a:r>
            <a:r>
              <a:rPr lang="en-US" altLang="zh-CN" sz="1600" dirty="0">
                <a:latin typeface="Arial" pitchFamily="34" charset="0"/>
                <a:ea typeface=""/>
                <a:cs typeface=""/>
              </a:rPr>
              <a:t>2</a:t>
            </a:r>
            <a:r>
              <a:rPr lang="en-US" altLang="zh-CN" sz="1600" baseline="30000" dirty="0">
                <a:latin typeface="Arial" pitchFamily="34" charset="0"/>
                <a:ea typeface=""/>
                <a:cs typeface=""/>
              </a:rPr>
              <a:t>0</a:t>
            </a:r>
            <a:endParaRPr lang="en-US" altLang="zh-CN" sz="1600" dirty="0"/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828800" y="1471609"/>
            <a:ext cx="455612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 sz="1600" dirty="0">
                <a:sym typeface="Wingdings" pitchFamily="2" charset="2"/>
              </a:rPr>
              <a:t>(N)</a:t>
            </a:r>
            <a:r>
              <a:rPr lang="en-US" altLang="zh-CN" sz="1600" baseline="-25000" dirty="0">
                <a:sym typeface="Wingdings" pitchFamily="2" charset="2"/>
              </a:rPr>
              <a:t>10</a:t>
            </a:r>
            <a:r>
              <a:rPr lang="en-US" altLang="zh-CN" sz="1600" dirty="0">
                <a:sym typeface="Wingdings" pitchFamily="2" charset="2"/>
              </a:rPr>
              <a:t>=</a:t>
            </a:r>
            <a:r>
              <a:rPr lang="en-US" altLang="zh-CN" sz="1600" i="1" dirty="0">
                <a:latin typeface="Arial" pitchFamily="34" charset="0"/>
                <a:ea typeface=""/>
                <a:cs typeface=""/>
              </a:rPr>
              <a:t>b</a:t>
            </a:r>
            <a:r>
              <a:rPr lang="en-US" altLang="zh-CN" sz="1600" baseline="-25000" dirty="0">
                <a:latin typeface="Arial" pitchFamily="34" charset="0"/>
                <a:ea typeface=""/>
                <a:cs typeface=""/>
              </a:rPr>
              <a:t>m-1</a:t>
            </a:r>
            <a:r>
              <a:rPr lang="en-US" altLang="zh-CN" sz="1600" dirty="0">
                <a:latin typeface="Arial" pitchFamily="34" charset="0"/>
                <a:ea typeface=""/>
                <a:cs typeface=""/>
              </a:rPr>
              <a:t>8</a:t>
            </a:r>
            <a:r>
              <a:rPr lang="en-US" altLang="zh-CN" sz="1600" baseline="30000" dirty="0">
                <a:latin typeface="Arial" pitchFamily="34" charset="0"/>
                <a:ea typeface=""/>
                <a:cs typeface=""/>
              </a:rPr>
              <a:t>m-1</a:t>
            </a:r>
            <a:r>
              <a:rPr lang="en-US" altLang="zh-CN" sz="1600" dirty="0">
                <a:latin typeface="Arial" pitchFamily="34" charset="0"/>
                <a:ea typeface=""/>
                <a:cs typeface=""/>
              </a:rPr>
              <a:t>+…+</a:t>
            </a:r>
            <a:r>
              <a:rPr lang="en-US" altLang="zh-CN" sz="1600" i="1" dirty="0">
                <a:latin typeface="Arial" pitchFamily="34" charset="0"/>
                <a:ea typeface=""/>
                <a:cs typeface=""/>
              </a:rPr>
              <a:t>b</a:t>
            </a:r>
            <a:r>
              <a:rPr lang="en-US" altLang="zh-CN" sz="1600" baseline="-25000" dirty="0">
                <a:latin typeface="Arial" pitchFamily="34" charset="0"/>
                <a:ea typeface=""/>
                <a:cs typeface=""/>
              </a:rPr>
              <a:t>1</a:t>
            </a:r>
            <a:r>
              <a:rPr lang="en-US" altLang="zh-CN" sz="1600" dirty="0">
                <a:latin typeface="Arial" pitchFamily="34" charset="0"/>
                <a:ea typeface=""/>
                <a:cs typeface=""/>
              </a:rPr>
              <a:t>8</a:t>
            </a:r>
            <a:r>
              <a:rPr lang="en-US" altLang="zh-CN" sz="1600" baseline="30000" dirty="0">
                <a:latin typeface="Arial" pitchFamily="34" charset="0"/>
                <a:ea typeface=""/>
                <a:cs typeface=""/>
              </a:rPr>
              <a:t>1</a:t>
            </a:r>
            <a:r>
              <a:rPr lang="en-US" altLang="zh-CN" sz="1600" dirty="0">
                <a:latin typeface="Arial" pitchFamily="34" charset="0"/>
                <a:ea typeface=""/>
                <a:cs typeface=""/>
              </a:rPr>
              <a:t>+</a:t>
            </a:r>
            <a:r>
              <a:rPr lang="en-US" altLang="zh-CN" sz="1600" i="1" dirty="0">
                <a:latin typeface="Arial" pitchFamily="34" charset="0"/>
                <a:ea typeface=""/>
                <a:cs typeface=""/>
              </a:rPr>
              <a:t>b</a:t>
            </a:r>
            <a:r>
              <a:rPr lang="en-US" altLang="zh-CN" sz="1600" baseline="-25000" dirty="0">
                <a:latin typeface="Arial" pitchFamily="34" charset="0"/>
                <a:ea typeface=""/>
                <a:cs typeface=""/>
              </a:rPr>
              <a:t>0</a:t>
            </a:r>
            <a:r>
              <a:rPr lang="en-US" altLang="zh-CN" sz="1600" dirty="0">
                <a:latin typeface="Arial" pitchFamily="34" charset="0"/>
                <a:ea typeface=""/>
                <a:cs typeface=""/>
              </a:rPr>
              <a:t>8</a:t>
            </a:r>
            <a:r>
              <a:rPr lang="en-US" altLang="zh-CN" sz="1600" baseline="30000" dirty="0">
                <a:latin typeface="Arial" pitchFamily="34" charset="0"/>
                <a:ea typeface=""/>
                <a:cs typeface=""/>
              </a:rPr>
              <a:t>0</a:t>
            </a:r>
            <a:endParaRPr lang="en-US" altLang="zh-CN" sz="1600" dirty="0"/>
          </a:p>
        </p:txBody>
      </p:sp>
      <p:grpSp>
        <p:nvGrpSpPr>
          <p:cNvPr id="11" name="Group 15"/>
          <p:cNvGrpSpPr>
            <a:grpSpLocks/>
          </p:cNvGrpSpPr>
          <p:nvPr/>
        </p:nvGrpSpPr>
        <p:grpSpPr bwMode="auto">
          <a:xfrm>
            <a:off x="1066800" y="1928809"/>
            <a:ext cx="5945188" cy="473075"/>
            <a:chOff x="672" y="2208"/>
            <a:chExt cx="3745" cy="298"/>
          </a:xfrm>
        </p:grpSpPr>
        <p:sp>
          <p:nvSpPr>
            <p:cNvPr id="12" name="Text Box 6"/>
            <p:cNvSpPr txBox="1">
              <a:spLocks noChangeArrowheads="1"/>
            </p:cNvSpPr>
            <p:nvPr/>
          </p:nvSpPr>
          <p:spPr bwMode="auto">
            <a:xfrm rot="10813568">
              <a:off x="672" y="2293"/>
              <a:ext cx="25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US" altLang="zh-CN" sz="1600">
                  <a:sym typeface="Symbol" pitchFamily="18" charset="2"/>
                </a:rPr>
                <a:t></a:t>
              </a:r>
              <a:endParaRPr lang="en-US" altLang="zh-CN" sz="1600"/>
            </a:p>
          </p:txBody>
        </p:sp>
        <p:sp>
          <p:nvSpPr>
            <p:cNvPr id="13" name="Text Box 8"/>
            <p:cNvSpPr txBox="1">
              <a:spLocks noChangeArrowheads="1"/>
            </p:cNvSpPr>
            <p:nvPr/>
          </p:nvSpPr>
          <p:spPr bwMode="auto">
            <a:xfrm>
              <a:off x="1162" y="2208"/>
              <a:ext cx="1264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US" altLang="zh-CN" sz="1600" dirty="0">
                  <a:sym typeface="Wingdings" pitchFamily="2" charset="2"/>
                </a:rPr>
                <a:t>(N)</a:t>
              </a:r>
              <a:r>
                <a:rPr lang="en-US" altLang="zh-CN" sz="1600" baseline="-25000" dirty="0">
                  <a:sym typeface="Wingdings" pitchFamily="2" charset="2"/>
                </a:rPr>
                <a:t>10</a:t>
              </a:r>
              <a:r>
                <a:rPr lang="en-US" altLang="zh-CN" sz="1600" dirty="0">
                  <a:sym typeface="Wingdings" pitchFamily="2" charset="2"/>
                </a:rPr>
                <a:t>= (N)</a:t>
              </a:r>
              <a:r>
                <a:rPr lang="en-US" altLang="zh-CN" sz="1600" baseline="-25000" dirty="0">
                  <a:sym typeface="Wingdings" pitchFamily="2" charset="2"/>
                </a:rPr>
                <a:t>10</a:t>
              </a:r>
            </a:p>
          </p:txBody>
        </p:sp>
        <p:sp>
          <p:nvSpPr>
            <p:cNvPr id="14" name="Text Box 9"/>
            <p:cNvSpPr txBox="1">
              <a:spLocks noChangeArrowheads="1"/>
            </p:cNvSpPr>
            <p:nvPr/>
          </p:nvSpPr>
          <p:spPr bwMode="auto">
            <a:xfrm>
              <a:off x="2554" y="2256"/>
              <a:ext cx="116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endParaRPr lang="zh-CN" altLang="zh-CN" sz="1600"/>
            </a:p>
          </p:txBody>
        </p:sp>
        <p:sp>
          <p:nvSpPr>
            <p:cNvPr id="15" name="Text Box 10"/>
            <p:cNvSpPr txBox="1">
              <a:spLocks noChangeArrowheads="1"/>
            </p:cNvSpPr>
            <p:nvPr/>
          </p:nvSpPr>
          <p:spPr bwMode="auto">
            <a:xfrm>
              <a:off x="2362" y="2208"/>
              <a:ext cx="2055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600">
                  <a:ea typeface="黑体" pitchFamily="49" charset="-122"/>
                </a:rPr>
                <a:t>两边同除以８，商和余数分别相等</a:t>
              </a:r>
            </a:p>
          </p:txBody>
        </p:sp>
      </p:grp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904875" y="2386009"/>
            <a:ext cx="49688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1600" dirty="0">
                <a:ea typeface="黑体" pitchFamily="49" charset="-122"/>
              </a:rPr>
              <a:t>余数相等</a:t>
            </a:r>
            <a:r>
              <a:rPr lang="zh-CN" altLang="en-US" sz="1600" dirty="0"/>
              <a:t>： </a:t>
            </a:r>
            <a:r>
              <a:rPr lang="en-US" altLang="zh-CN" sz="1600" i="1" dirty="0">
                <a:latin typeface="Arial" pitchFamily="34" charset="0"/>
                <a:ea typeface=""/>
                <a:cs typeface=""/>
              </a:rPr>
              <a:t>a</a:t>
            </a:r>
            <a:r>
              <a:rPr lang="en-US" altLang="zh-CN" sz="1600" baseline="-25000" dirty="0">
                <a:latin typeface="Arial" pitchFamily="34" charset="0"/>
                <a:ea typeface=""/>
                <a:cs typeface=""/>
              </a:rPr>
              <a:t>2</a:t>
            </a:r>
            <a:r>
              <a:rPr lang="en-US" altLang="zh-CN" sz="1600" dirty="0">
                <a:latin typeface="Arial" pitchFamily="34" charset="0"/>
              </a:rPr>
              <a:t>2</a:t>
            </a:r>
            <a:r>
              <a:rPr lang="en-US" altLang="zh-CN" sz="1600" baseline="30000" dirty="0">
                <a:latin typeface="Arial" pitchFamily="34" charset="0"/>
                <a:ea typeface=""/>
                <a:cs typeface=""/>
              </a:rPr>
              <a:t>2</a:t>
            </a:r>
            <a:r>
              <a:rPr lang="en-US" altLang="zh-CN" sz="1600" dirty="0">
                <a:latin typeface="Arial" pitchFamily="34" charset="0"/>
                <a:ea typeface=""/>
                <a:cs typeface=""/>
              </a:rPr>
              <a:t>+</a:t>
            </a:r>
            <a:r>
              <a:rPr lang="en-US" altLang="zh-CN" sz="1600" i="1" dirty="0">
                <a:latin typeface="Arial" pitchFamily="34" charset="0"/>
                <a:ea typeface=""/>
                <a:cs typeface=""/>
              </a:rPr>
              <a:t>a</a:t>
            </a:r>
            <a:r>
              <a:rPr lang="en-US" altLang="zh-CN" sz="1600" baseline="-25000" dirty="0">
                <a:latin typeface="Arial" pitchFamily="34" charset="0"/>
                <a:ea typeface=""/>
                <a:cs typeface=""/>
              </a:rPr>
              <a:t>1</a:t>
            </a:r>
            <a:r>
              <a:rPr lang="en-US" altLang="zh-CN" sz="1600" dirty="0">
                <a:latin typeface="Arial" pitchFamily="34" charset="0"/>
                <a:ea typeface=""/>
                <a:cs typeface=""/>
              </a:rPr>
              <a:t>2</a:t>
            </a:r>
            <a:r>
              <a:rPr lang="en-US" altLang="zh-CN" sz="1600" baseline="30000" dirty="0">
                <a:latin typeface="Arial" pitchFamily="34" charset="0"/>
                <a:ea typeface=""/>
                <a:cs typeface=""/>
              </a:rPr>
              <a:t>1</a:t>
            </a:r>
            <a:r>
              <a:rPr lang="en-US" altLang="zh-CN" sz="1600" dirty="0">
                <a:latin typeface="Arial" pitchFamily="34" charset="0"/>
                <a:ea typeface=""/>
                <a:cs typeface=""/>
              </a:rPr>
              <a:t>+</a:t>
            </a:r>
            <a:r>
              <a:rPr lang="en-US" altLang="zh-CN" sz="1600" i="1" dirty="0">
                <a:latin typeface="Arial" pitchFamily="34" charset="0"/>
                <a:ea typeface=""/>
                <a:cs typeface=""/>
              </a:rPr>
              <a:t>a</a:t>
            </a:r>
            <a:r>
              <a:rPr lang="en-US" altLang="zh-CN" sz="1600" baseline="-25000" dirty="0">
                <a:latin typeface="Arial" pitchFamily="34" charset="0"/>
                <a:ea typeface=""/>
                <a:cs typeface=""/>
              </a:rPr>
              <a:t>0</a:t>
            </a:r>
            <a:r>
              <a:rPr lang="en-US" altLang="zh-CN" sz="1600" dirty="0">
                <a:latin typeface="Arial" pitchFamily="34" charset="0"/>
                <a:ea typeface=""/>
                <a:cs typeface=""/>
              </a:rPr>
              <a:t>2</a:t>
            </a:r>
            <a:r>
              <a:rPr lang="en-US" altLang="zh-CN" sz="1600" baseline="30000" dirty="0">
                <a:latin typeface="Arial" pitchFamily="34" charset="0"/>
                <a:ea typeface=""/>
                <a:cs typeface=""/>
              </a:rPr>
              <a:t>0</a:t>
            </a:r>
            <a:r>
              <a:rPr lang="zh-CN" altLang="en-US" sz="1600" b="1" dirty="0">
                <a:latin typeface="Arial" pitchFamily="34" charset="0"/>
              </a:rPr>
              <a:t>＝</a:t>
            </a:r>
            <a:r>
              <a:rPr lang="en-US" altLang="zh-CN" sz="1600" i="1" dirty="0">
                <a:latin typeface="Arial" pitchFamily="34" charset="0"/>
                <a:ea typeface=""/>
                <a:cs typeface=""/>
              </a:rPr>
              <a:t>b</a:t>
            </a:r>
            <a:r>
              <a:rPr lang="en-US" altLang="zh-CN" sz="1600" baseline="-25000" dirty="0">
                <a:latin typeface="Arial" pitchFamily="34" charset="0"/>
                <a:ea typeface=""/>
                <a:cs typeface=""/>
              </a:rPr>
              <a:t>0</a:t>
            </a:r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1011238" y="2767009"/>
            <a:ext cx="449193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1600" dirty="0">
                <a:ea typeface="黑体" pitchFamily="49" charset="-122"/>
              </a:rPr>
              <a:t>商相等：</a:t>
            </a:r>
            <a:r>
              <a:rPr lang="zh-CN" altLang="en-US" sz="1600" dirty="0"/>
              <a:t>　</a:t>
            </a:r>
            <a:r>
              <a:rPr lang="en-US" altLang="zh-CN" sz="1600" i="1" dirty="0">
                <a:latin typeface="Arial" pitchFamily="34" charset="0"/>
                <a:ea typeface=""/>
                <a:cs typeface=""/>
              </a:rPr>
              <a:t>a</a:t>
            </a:r>
            <a:r>
              <a:rPr lang="en-US" altLang="zh-CN" sz="1600" baseline="-25000" dirty="0">
                <a:latin typeface="Arial" pitchFamily="34" charset="0"/>
                <a:ea typeface=""/>
                <a:cs typeface=""/>
              </a:rPr>
              <a:t>n-1</a:t>
            </a:r>
            <a:r>
              <a:rPr lang="en-US" altLang="zh-CN" sz="1600" dirty="0">
                <a:latin typeface="Arial" pitchFamily="34" charset="0"/>
                <a:ea typeface=""/>
                <a:cs typeface=""/>
              </a:rPr>
              <a:t>2</a:t>
            </a:r>
            <a:r>
              <a:rPr lang="en-US" altLang="zh-CN" sz="1600" baseline="30000" dirty="0">
                <a:latin typeface="Arial" pitchFamily="34" charset="0"/>
                <a:ea typeface=""/>
                <a:cs typeface=""/>
              </a:rPr>
              <a:t>n-</a:t>
            </a:r>
            <a:r>
              <a:rPr lang="zh-CN" altLang="en-US" sz="1600" baseline="30000" dirty="0">
                <a:latin typeface="Arial" pitchFamily="34" charset="0"/>
              </a:rPr>
              <a:t>４</a:t>
            </a:r>
            <a:r>
              <a:rPr lang="en-US" altLang="zh-CN" sz="1600" dirty="0">
                <a:latin typeface="Arial" pitchFamily="34" charset="0"/>
                <a:ea typeface=""/>
                <a:cs typeface=""/>
              </a:rPr>
              <a:t>+…+</a:t>
            </a:r>
            <a:r>
              <a:rPr lang="en-US" altLang="zh-CN" sz="1600" i="1" dirty="0">
                <a:latin typeface="Arial" pitchFamily="34" charset="0"/>
                <a:ea typeface=""/>
                <a:cs typeface=""/>
              </a:rPr>
              <a:t>a</a:t>
            </a:r>
            <a:r>
              <a:rPr lang="zh-CN" altLang="en-US" sz="1600" baseline="-25000" dirty="0">
                <a:latin typeface="Arial" pitchFamily="34" charset="0"/>
              </a:rPr>
              <a:t>６</a:t>
            </a:r>
            <a:r>
              <a:rPr lang="en-US" altLang="zh-CN" sz="1600" dirty="0">
                <a:latin typeface="Arial" pitchFamily="34" charset="0"/>
              </a:rPr>
              <a:t>2</a:t>
            </a:r>
            <a:r>
              <a:rPr lang="en-US" altLang="zh-CN" sz="1600" baseline="30000" dirty="0">
                <a:latin typeface="Arial" pitchFamily="34" charset="0"/>
                <a:ea typeface=""/>
                <a:cs typeface=""/>
              </a:rPr>
              <a:t>3 </a:t>
            </a:r>
            <a:r>
              <a:rPr lang="en-US" altLang="zh-CN" sz="1600" dirty="0">
                <a:latin typeface="Arial" pitchFamily="34" charset="0"/>
                <a:ea typeface=""/>
                <a:cs typeface=""/>
              </a:rPr>
              <a:t>+</a:t>
            </a:r>
            <a:r>
              <a:rPr lang="en-US" altLang="zh-CN" sz="1600" i="1" dirty="0">
                <a:latin typeface="Arial" pitchFamily="34" charset="0"/>
                <a:ea typeface=""/>
                <a:cs typeface=""/>
              </a:rPr>
              <a:t>a</a:t>
            </a:r>
            <a:r>
              <a:rPr lang="zh-CN" altLang="en-US" sz="1600" baseline="-25000" dirty="0">
                <a:latin typeface="Arial" pitchFamily="34" charset="0"/>
              </a:rPr>
              <a:t>５</a:t>
            </a:r>
            <a:r>
              <a:rPr lang="en-US" altLang="zh-CN" sz="1600" dirty="0">
                <a:latin typeface="Arial" pitchFamily="34" charset="0"/>
              </a:rPr>
              <a:t>2</a:t>
            </a:r>
            <a:r>
              <a:rPr lang="en-US" altLang="zh-CN" sz="1600" baseline="30000" dirty="0">
                <a:latin typeface="Arial" pitchFamily="34" charset="0"/>
                <a:ea typeface=""/>
                <a:cs typeface=""/>
              </a:rPr>
              <a:t>2</a:t>
            </a:r>
            <a:r>
              <a:rPr lang="en-US" altLang="zh-CN" sz="1600" dirty="0">
                <a:latin typeface="Arial" pitchFamily="34" charset="0"/>
                <a:ea typeface=""/>
                <a:cs typeface=""/>
              </a:rPr>
              <a:t>+</a:t>
            </a:r>
            <a:r>
              <a:rPr lang="en-US" altLang="zh-CN" sz="1600" i="1" dirty="0">
                <a:latin typeface="Arial" pitchFamily="34" charset="0"/>
                <a:ea typeface=""/>
                <a:cs typeface=""/>
              </a:rPr>
              <a:t>a</a:t>
            </a:r>
            <a:r>
              <a:rPr lang="zh-CN" altLang="en-US" sz="1600" baseline="-25000" dirty="0">
                <a:latin typeface="Arial" pitchFamily="34" charset="0"/>
              </a:rPr>
              <a:t>４</a:t>
            </a:r>
            <a:r>
              <a:rPr lang="en-US" altLang="zh-CN" sz="1600" dirty="0">
                <a:latin typeface="Arial" pitchFamily="34" charset="0"/>
                <a:ea typeface=""/>
                <a:cs typeface=""/>
              </a:rPr>
              <a:t>2</a:t>
            </a:r>
            <a:r>
              <a:rPr lang="en-US" altLang="zh-CN" sz="1600" baseline="30000" dirty="0">
                <a:latin typeface="Arial" pitchFamily="34" charset="0"/>
                <a:ea typeface=""/>
                <a:cs typeface=""/>
              </a:rPr>
              <a:t>1</a:t>
            </a:r>
            <a:r>
              <a:rPr lang="en-US" altLang="zh-CN" sz="1600" dirty="0">
                <a:latin typeface="Arial" pitchFamily="34" charset="0"/>
                <a:ea typeface=""/>
                <a:cs typeface=""/>
              </a:rPr>
              <a:t>+</a:t>
            </a:r>
            <a:r>
              <a:rPr lang="en-US" altLang="zh-CN" sz="1600" i="1" dirty="0">
                <a:latin typeface="Arial" pitchFamily="34" charset="0"/>
                <a:ea typeface=""/>
                <a:cs typeface=""/>
              </a:rPr>
              <a:t>a</a:t>
            </a:r>
            <a:r>
              <a:rPr lang="zh-CN" altLang="en-US" sz="1600" baseline="-25000" dirty="0">
                <a:latin typeface="Arial" pitchFamily="34" charset="0"/>
              </a:rPr>
              <a:t>３</a:t>
            </a:r>
            <a:r>
              <a:rPr lang="en-US" altLang="zh-CN" sz="1600" dirty="0">
                <a:latin typeface="Arial" pitchFamily="34" charset="0"/>
                <a:ea typeface=""/>
                <a:cs typeface=""/>
              </a:rPr>
              <a:t>2</a:t>
            </a:r>
            <a:r>
              <a:rPr lang="en-US" altLang="zh-CN" sz="1600" baseline="30000" dirty="0">
                <a:latin typeface="Arial" pitchFamily="34" charset="0"/>
                <a:ea typeface=""/>
                <a:cs typeface=""/>
              </a:rPr>
              <a:t>0</a:t>
            </a:r>
          </a:p>
          <a:p>
            <a:pPr algn="l"/>
            <a:r>
              <a:rPr lang="zh-CN" altLang="en-US" sz="1600" dirty="0">
                <a:latin typeface="Arial" pitchFamily="34" charset="0"/>
              </a:rPr>
              <a:t>　　　　　</a:t>
            </a:r>
            <a:r>
              <a:rPr lang="zh-CN" altLang="en-US" sz="1600" b="1" dirty="0">
                <a:latin typeface="Arial" pitchFamily="34" charset="0"/>
              </a:rPr>
              <a:t>＝</a:t>
            </a:r>
            <a:r>
              <a:rPr lang="zh-CN" altLang="en-US" sz="1600" dirty="0">
                <a:latin typeface="Arial" pitchFamily="34" charset="0"/>
              </a:rPr>
              <a:t> </a:t>
            </a:r>
            <a:r>
              <a:rPr lang="en-US" altLang="zh-CN" sz="1600" i="1" dirty="0">
                <a:latin typeface="Arial" pitchFamily="34" charset="0"/>
                <a:ea typeface=""/>
                <a:cs typeface=""/>
              </a:rPr>
              <a:t>b</a:t>
            </a:r>
            <a:r>
              <a:rPr lang="en-US" altLang="zh-CN" sz="1600" baseline="-25000" dirty="0">
                <a:latin typeface="Arial" pitchFamily="34" charset="0"/>
                <a:ea typeface=""/>
                <a:cs typeface=""/>
              </a:rPr>
              <a:t>m-1</a:t>
            </a:r>
            <a:r>
              <a:rPr lang="en-US" altLang="zh-CN" sz="1600" dirty="0">
                <a:latin typeface="Arial" pitchFamily="34" charset="0"/>
                <a:ea typeface=""/>
                <a:cs typeface=""/>
              </a:rPr>
              <a:t>8</a:t>
            </a:r>
            <a:r>
              <a:rPr lang="en-US" altLang="zh-CN" sz="1600" baseline="30000" dirty="0">
                <a:latin typeface="Arial" pitchFamily="34" charset="0"/>
                <a:ea typeface=""/>
                <a:cs typeface=""/>
              </a:rPr>
              <a:t>m-</a:t>
            </a:r>
            <a:r>
              <a:rPr lang="zh-CN" altLang="en-US" sz="1600" baseline="30000" dirty="0">
                <a:latin typeface="Arial" pitchFamily="34" charset="0"/>
              </a:rPr>
              <a:t>２</a:t>
            </a:r>
            <a:r>
              <a:rPr lang="en-US" altLang="zh-CN" sz="1600" dirty="0">
                <a:latin typeface="Arial" pitchFamily="34" charset="0"/>
                <a:ea typeface=""/>
                <a:cs typeface=""/>
              </a:rPr>
              <a:t>+…+</a:t>
            </a:r>
            <a:r>
              <a:rPr lang="en-US" altLang="zh-CN" sz="1600" i="1" dirty="0">
                <a:latin typeface="Arial" pitchFamily="34" charset="0"/>
                <a:ea typeface=""/>
                <a:cs typeface=""/>
              </a:rPr>
              <a:t>b</a:t>
            </a:r>
            <a:r>
              <a:rPr lang="zh-CN" altLang="en-US" sz="1600" baseline="-25000" dirty="0">
                <a:latin typeface="Arial" pitchFamily="34" charset="0"/>
              </a:rPr>
              <a:t>２</a:t>
            </a:r>
            <a:r>
              <a:rPr lang="en-US" altLang="zh-CN" sz="1600" dirty="0">
                <a:latin typeface="Arial" pitchFamily="34" charset="0"/>
                <a:ea typeface=""/>
                <a:cs typeface=""/>
              </a:rPr>
              <a:t>8</a:t>
            </a:r>
            <a:r>
              <a:rPr lang="en-US" altLang="zh-CN" sz="1600" baseline="30000" dirty="0">
                <a:latin typeface="Arial" pitchFamily="34" charset="0"/>
                <a:ea typeface=""/>
                <a:cs typeface=""/>
              </a:rPr>
              <a:t>1</a:t>
            </a:r>
            <a:r>
              <a:rPr lang="en-US" altLang="zh-CN" sz="1600" dirty="0">
                <a:latin typeface="Arial" pitchFamily="34" charset="0"/>
                <a:ea typeface=""/>
                <a:cs typeface=""/>
              </a:rPr>
              <a:t>+</a:t>
            </a:r>
            <a:r>
              <a:rPr lang="en-US" altLang="zh-CN" sz="1600" i="1" dirty="0">
                <a:latin typeface="Arial" pitchFamily="34" charset="0"/>
                <a:ea typeface=""/>
                <a:cs typeface=""/>
              </a:rPr>
              <a:t>b</a:t>
            </a:r>
            <a:r>
              <a:rPr lang="zh-CN" altLang="en-US" sz="1600" baseline="-25000" dirty="0">
                <a:latin typeface="Arial" pitchFamily="34" charset="0"/>
              </a:rPr>
              <a:t>１</a:t>
            </a:r>
            <a:r>
              <a:rPr lang="en-US" altLang="zh-CN" sz="1600" dirty="0">
                <a:latin typeface="Arial" pitchFamily="34" charset="0"/>
                <a:ea typeface=""/>
                <a:cs typeface=""/>
              </a:rPr>
              <a:t>8</a:t>
            </a:r>
            <a:r>
              <a:rPr lang="en-US" altLang="zh-CN" sz="1600" baseline="30000" dirty="0">
                <a:latin typeface="Arial" pitchFamily="34" charset="0"/>
                <a:ea typeface=""/>
                <a:cs typeface=""/>
              </a:rPr>
              <a:t>0</a:t>
            </a:r>
            <a:r>
              <a:rPr lang="en-US" altLang="zh-CN" sz="1600" dirty="0">
                <a:latin typeface="Arial" pitchFamily="34" charset="0"/>
              </a:rPr>
              <a:t> </a:t>
            </a:r>
            <a:r>
              <a:rPr lang="zh-CN" altLang="en-US" sz="1600" baseline="30000" dirty="0">
                <a:latin typeface="Arial" pitchFamily="34" charset="0"/>
              </a:rPr>
              <a:t>　</a:t>
            </a:r>
            <a:endParaRPr lang="zh-CN" altLang="en-US" sz="1600" dirty="0"/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2581275" y="3529009"/>
            <a:ext cx="219803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1600" i="1" dirty="0">
                <a:latin typeface="Arial" pitchFamily="34" charset="0"/>
                <a:ea typeface=""/>
                <a:cs typeface=""/>
              </a:rPr>
              <a:t>a</a:t>
            </a:r>
            <a:r>
              <a:rPr lang="zh-CN" altLang="en-US" sz="1600" baseline="-25000" dirty="0">
                <a:latin typeface="Arial" pitchFamily="34" charset="0"/>
              </a:rPr>
              <a:t>５</a:t>
            </a:r>
            <a:r>
              <a:rPr lang="en-US" altLang="zh-CN" sz="1600" dirty="0">
                <a:latin typeface="Arial" pitchFamily="34" charset="0"/>
              </a:rPr>
              <a:t>2</a:t>
            </a:r>
            <a:r>
              <a:rPr lang="en-US" altLang="zh-CN" sz="1600" baseline="30000" dirty="0">
                <a:latin typeface="Arial" pitchFamily="34" charset="0"/>
                <a:ea typeface=""/>
                <a:cs typeface=""/>
              </a:rPr>
              <a:t>2</a:t>
            </a:r>
            <a:r>
              <a:rPr lang="en-US" altLang="zh-CN" sz="1600" dirty="0">
                <a:latin typeface="Arial" pitchFamily="34" charset="0"/>
                <a:ea typeface=""/>
                <a:cs typeface=""/>
              </a:rPr>
              <a:t>+</a:t>
            </a:r>
            <a:r>
              <a:rPr lang="en-US" altLang="zh-CN" sz="1600" i="1" dirty="0">
                <a:latin typeface="Arial" pitchFamily="34" charset="0"/>
                <a:ea typeface=""/>
                <a:cs typeface=""/>
              </a:rPr>
              <a:t>a</a:t>
            </a:r>
            <a:r>
              <a:rPr lang="zh-CN" altLang="en-US" sz="1600" baseline="-25000" dirty="0">
                <a:latin typeface="Arial" pitchFamily="34" charset="0"/>
              </a:rPr>
              <a:t>４</a:t>
            </a:r>
            <a:r>
              <a:rPr lang="en-US" altLang="zh-CN" sz="1600" dirty="0">
                <a:latin typeface="Arial" pitchFamily="34" charset="0"/>
                <a:ea typeface=""/>
                <a:cs typeface=""/>
              </a:rPr>
              <a:t>2</a:t>
            </a:r>
            <a:r>
              <a:rPr lang="en-US" altLang="zh-CN" sz="1600" baseline="30000" dirty="0">
                <a:latin typeface="Arial" pitchFamily="34" charset="0"/>
                <a:ea typeface=""/>
                <a:cs typeface=""/>
              </a:rPr>
              <a:t>1</a:t>
            </a:r>
            <a:r>
              <a:rPr lang="en-US" altLang="zh-CN" sz="1600" dirty="0">
                <a:latin typeface="Arial" pitchFamily="34" charset="0"/>
                <a:ea typeface=""/>
                <a:cs typeface=""/>
              </a:rPr>
              <a:t>+</a:t>
            </a:r>
            <a:r>
              <a:rPr lang="en-US" altLang="zh-CN" sz="1600" i="1" dirty="0">
                <a:latin typeface="Arial" pitchFamily="34" charset="0"/>
                <a:ea typeface=""/>
                <a:cs typeface=""/>
              </a:rPr>
              <a:t>a</a:t>
            </a:r>
            <a:r>
              <a:rPr lang="zh-CN" altLang="en-US" sz="1600" baseline="-25000" dirty="0">
                <a:latin typeface="Arial" pitchFamily="34" charset="0"/>
              </a:rPr>
              <a:t>３</a:t>
            </a:r>
            <a:r>
              <a:rPr lang="en-US" altLang="zh-CN" sz="1600" dirty="0">
                <a:latin typeface="Arial" pitchFamily="34" charset="0"/>
                <a:ea typeface=""/>
                <a:cs typeface=""/>
              </a:rPr>
              <a:t>2</a:t>
            </a:r>
            <a:r>
              <a:rPr lang="en-US" altLang="zh-CN" sz="1600" baseline="30000" dirty="0">
                <a:latin typeface="Arial" pitchFamily="34" charset="0"/>
                <a:ea typeface=""/>
                <a:cs typeface=""/>
              </a:rPr>
              <a:t>0</a:t>
            </a:r>
            <a:r>
              <a:rPr lang="zh-CN" altLang="en-US" sz="1600" b="1" dirty="0">
                <a:latin typeface="Arial" pitchFamily="34" charset="0"/>
              </a:rPr>
              <a:t>＝</a:t>
            </a:r>
            <a:r>
              <a:rPr lang="en-US" altLang="zh-CN" sz="1600" i="1" dirty="0">
                <a:latin typeface="Arial" pitchFamily="34" charset="0"/>
                <a:ea typeface=""/>
                <a:cs typeface=""/>
              </a:rPr>
              <a:t>b</a:t>
            </a:r>
            <a:r>
              <a:rPr lang="zh-CN" altLang="en-US" sz="1600" baseline="-25000" dirty="0">
                <a:latin typeface="Arial" pitchFamily="34" charset="0"/>
              </a:rPr>
              <a:t>１</a:t>
            </a:r>
          </a:p>
        </p:txBody>
      </p:sp>
      <p:grpSp>
        <p:nvGrpSpPr>
          <p:cNvPr id="19" name="Group 22"/>
          <p:cNvGrpSpPr>
            <a:grpSpLocks/>
          </p:cNvGrpSpPr>
          <p:nvPr/>
        </p:nvGrpSpPr>
        <p:grpSpPr bwMode="auto">
          <a:xfrm>
            <a:off x="1819275" y="3681412"/>
            <a:ext cx="3787775" cy="1023938"/>
            <a:chOff x="1152" y="3360"/>
            <a:chExt cx="2386" cy="645"/>
          </a:xfrm>
        </p:grpSpPr>
        <p:grpSp>
          <p:nvGrpSpPr>
            <p:cNvPr id="20" name="Group 20"/>
            <p:cNvGrpSpPr>
              <a:grpSpLocks/>
            </p:cNvGrpSpPr>
            <p:nvPr/>
          </p:nvGrpSpPr>
          <p:grpSpPr bwMode="auto">
            <a:xfrm>
              <a:off x="2640" y="3360"/>
              <a:ext cx="153" cy="405"/>
              <a:chOff x="2880" y="3552"/>
              <a:chExt cx="153" cy="405"/>
            </a:xfrm>
          </p:grpSpPr>
          <p:sp>
            <p:nvSpPr>
              <p:cNvPr id="22" name="Text Box 17"/>
              <p:cNvSpPr txBox="1">
                <a:spLocks noChangeArrowheads="1"/>
              </p:cNvSpPr>
              <p:nvPr/>
            </p:nvSpPr>
            <p:spPr bwMode="auto">
              <a:xfrm>
                <a:off x="2880" y="3648"/>
                <a:ext cx="153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1600"/>
                  <a:t>.</a:t>
                </a:r>
              </a:p>
            </p:txBody>
          </p:sp>
          <p:sp>
            <p:nvSpPr>
              <p:cNvPr id="23" name="Text Box 18"/>
              <p:cNvSpPr txBox="1">
                <a:spLocks noChangeArrowheads="1"/>
              </p:cNvSpPr>
              <p:nvPr/>
            </p:nvSpPr>
            <p:spPr bwMode="auto">
              <a:xfrm>
                <a:off x="2880" y="3744"/>
                <a:ext cx="153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1600"/>
                  <a:t>.</a:t>
                </a:r>
              </a:p>
            </p:txBody>
          </p:sp>
          <p:sp>
            <p:nvSpPr>
              <p:cNvPr id="24" name="Text Box 19"/>
              <p:cNvSpPr txBox="1">
                <a:spLocks noChangeArrowheads="1"/>
              </p:cNvSpPr>
              <p:nvPr/>
            </p:nvSpPr>
            <p:spPr bwMode="auto">
              <a:xfrm>
                <a:off x="2880" y="3552"/>
                <a:ext cx="153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1600" dirty="0"/>
                  <a:t>.</a:t>
                </a:r>
              </a:p>
            </p:txBody>
          </p:sp>
        </p:grpSp>
        <p:sp>
          <p:nvSpPr>
            <p:cNvPr id="21" name="Text Box 21"/>
            <p:cNvSpPr txBox="1">
              <a:spLocks noChangeArrowheads="1"/>
            </p:cNvSpPr>
            <p:nvPr/>
          </p:nvSpPr>
          <p:spPr bwMode="auto">
            <a:xfrm>
              <a:off x="1152" y="3792"/>
              <a:ext cx="2386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600"/>
                <a:t>  </a:t>
              </a:r>
              <a:r>
                <a:rPr lang="zh-CN" altLang="en-US" sz="1600">
                  <a:ea typeface="黑体" pitchFamily="49" charset="-122"/>
                </a:rPr>
                <a:t>由此可得二进制的三位对应八进制一位</a:t>
              </a:r>
            </a:p>
          </p:txBody>
        </p:sp>
      </p:grp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  <p:bldP spid="17" grpId="0" autoUpdateAnimBg="0"/>
      <p:bldP spid="18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：数 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1538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  2</a:t>
            </a:r>
            <a:r>
              <a:rPr lang="en-US" altLang="zh-CN" sz="2000" b="1" baseline="50000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0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进制之间的转换：</a:t>
            </a:r>
            <a:endParaRPr lang="en-US" altLang="zh-CN" sz="2000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219200" y="1160463"/>
            <a:ext cx="6513512" cy="649287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２</a:t>
            </a:r>
            <a:r>
              <a:rPr kumimoji="0" lang="en-US" altLang="zh-CN" sz="2000" b="1" u="none" strike="noStrike" kern="0" cap="none" spc="0" normalizeH="0" baseline="30000" noProof="0" dirty="0" smtClean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k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进制一位对应二进制</a:t>
            </a:r>
            <a:r>
              <a:rPr kumimoji="0" lang="en-US" altLang="zh-CN" sz="2000" b="1" u="none" strike="noStrike" kern="0" cap="none" spc="0" normalizeH="0" baseline="0" noProof="0" dirty="0" smtClean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k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位</a:t>
            </a:r>
            <a:endParaRPr kumimoji="0" lang="zh-CN" altLang="en-US" sz="2000" b="1" i="1" u="none" strike="noStrike" kern="0" cap="none" spc="0" normalizeH="0" baseline="0" noProof="0" dirty="0" smtClean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981200" y="1657350"/>
            <a:ext cx="422116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000" dirty="0" smtClean="0">
                <a:solidFill>
                  <a:schemeClr val="accent6"/>
                </a:solidFill>
                <a:ea typeface="黑体" pitchFamily="49" charset="-122"/>
              </a:rPr>
              <a:t>例</a:t>
            </a:r>
            <a:r>
              <a:rPr lang="en-US" altLang="zh-CN" sz="2000" dirty="0" smtClean="0">
                <a:solidFill>
                  <a:schemeClr val="accent6"/>
                </a:solidFill>
                <a:ea typeface="黑体" pitchFamily="49" charset="-122"/>
              </a:rPr>
              <a:t>12</a:t>
            </a:r>
            <a:r>
              <a:rPr lang="zh-CN" altLang="en-US" sz="2000" dirty="0" smtClean="0">
                <a:ea typeface="黑体" pitchFamily="49" charset="-122"/>
              </a:rPr>
              <a:t>：</a:t>
            </a:r>
            <a:r>
              <a:rPr lang="en-US" altLang="zh-CN" sz="2000" dirty="0">
                <a:ea typeface="黑体" pitchFamily="49" charset="-122"/>
              </a:rPr>
              <a:t>(AF.16C)</a:t>
            </a:r>
            <a:r>
              <a:rPr lang="en-US" altLang="zh-CN" sz="2000" baseline="-25000" dirty="0">
                <a:ea typeface="黑体" pitchFamily="49" charset="-122"/>
              </a:rPr>
              <a:t>16</a:t>
            </a:r>
            <a:r>
              <a:rPr lang="en-US" altLang="zh-CN" sz="2000" dirty="0">
                <a:ea typeface="黑体" pitchFamily="49" charset="-122"/>
              </a:rPr>
              <a:t>=(?)</a:t>
            </a:r>
            <a:r>
              <a:rPr lang="en-US" altLang="zh-CN" sz="2000" baseline="-25000" dirty="0">
                <a:ea typeface="黑体" pitchFamily="49" charset="-122"/>
              </a:rPr>
              <a:t>8</a:t>
            </a:r>
          </a:p>
        </p:txBody>
      </p:sp>
      <p:sp>
        <p:nvSpPr>
          <p:cNvPr id="40" name="Text Box 37"/>
          <p:cNvSpPr txBox="1">
            <a:spLocks noChangeArrowheads="1"/>
          </p:cNvSpPr>
          <p:nvPr/>
        </p:nvSpPr>
        <p:spPr bwMode="auto">
          <a:xfrm>
            <a:off x="2133600" y="3562350"/>
            <a:ext cx="448945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 sz="2000" dirty="0">
                <a:ea typeface="黑体" pitchFamily="49" charset="-122"/>
              </a:rPr>
              <a:t>(AF.16C)</a:t>
            </a:r>
            <a:r>
              <a:rPr lang="en-US" altLang="zh-CN" sz="2000" baseline="-25000" dirty="0">
                <a:ea typeface="黑体" pitchFamily="49" charset="-122"/>
              </a:rPr>
              <a:t>16</a:t>
            </a:r>
            <a:r>
              <a:rPr lang="en-US" altLang="zh-CN" sz="2000" dirty="0">
                <a:ea typeface="黑体" pitchFamily="49" charset="-122"/>
              </a:rPr>
              <a:t>=(257.0554)</a:t>
            </a:r>
            <a:r>
              <a:rPr lang="en-US" altLang="zh-CN" sz="2000" baseline="-25000" dirty="0">
                <a:ea typeface="黑体" pitchFamily="49" charset="-122"/>
              </a:rPr>
              <a:t>8</a:t>
            </a:r>
            <a:endParaRPr lang="en-US" altLang="zh-CN" sz="2000" dirty="0"/>
          </a:p>
        </p:txBody>
      </p:sp>
      <p:grpSp>
        <p:nvGrpSpPr>
          <p:cNvPr id="108" name="组合 107"/>
          <p:cNvGrpSpPr/>
          <p:nvPr/>
        </p:nvGrpSpPr>
        <p:grpSpPr>
          <a:xfrm>
            <a:off x="1828801" y="2229858"/>
            <a:ext cx="3859815" cy="806067"/>
            <a:chOff x="1828801" y="2229858"/>
            <a:chExt cx="3859815" cy="806067"/>
          </a:xfrm>
        </p:grpSpPr>
        <p:sp>
          <p:nvSpPr>
            <p:cNvPr id="72" name="Text Box 5"/>
            <p:cNvSpPr txBox="1">
              <a:spLocks noChangeArrowheads="1"/>
            </p:cNvSpPr>
            <p:nvPr/>
          </p:nvSpPr>
          <p:spPr bwMode="auto">
            <a:xfrm>
              <a:off x="1828801" y="2636182"/>
              <a:ext cx="3859815" cy="3997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dirty="0" smtClean="0"/>
                <a:t>1010   1111.   0001   0110  1100</a:t>
              </a:r>
              <a:endParaRPr lang="en-US" altLang="zh-CN" sz="2000" dirty="0"/>
            </a:p>
          </p:txBody>
        </p:sp>
        <p:grpSp>
          <p:nvGrpSpPr>
            <p:cNvPr id="107" name="组合 106"/>
            <p:cNvGrpSpPr/>
            <p:nvPr/>
          </p:nvGrpSpPr>
          <p:grpSpPr>
            <a:xfrm>
              <a:off x="1954611" y="2611195"/>
              <a:ext cx="3551343" cy="62995"/>
              <a:chOff x="1954611" y="2611195"/>
              <a:chExt cx="3551343" cy="62995"/>
            </a:xfrm>
          </p:grpSpPr>
          <p:sp>
            <p:nvSpPr>
              <p:cNvPr id="73" name="AutoShape 6"/>
              <p:cNvSpPr>
                <a:spLocks/>
              </p:cNvSpPr>
              <p:nvPr/>
            </p:nvSpPr>
            <p:spPr bwMode="auto">
              <a:xfrm rot="5404240">
                <a:off x="2931472" y="2387970"/>
                <a:ext cx="45719" cy="492170"/>
              </a:xfrm>
              <a:prstGeom prst="leftBrace">
                <a:avLst>
                  <a:gd name="adj1" fmla="val 83333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75" name="AutoShape 9"/>
              <p:cNvSpPr>
                <a:spLocks/>
              </p:cNvSpPr>
              <p:nvPr/>
            </p:nvSpPr>
            <p:spPr bwMode="auto">
              <a:xfrm rot="5404240">
                <a:off x="2173643" y="2409349"/>
                <a:ext cx="45719" cy="483784"/>
              </a:xfrm>
              <a:prstGeom prst="leftBrace">
                <a:avLst>
                  <a:gd name="adj1" fmla="val 83333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78" name="AutoShape 12"/>
              <p:cNvSpPr>
                <a:spLocks/>
              </p:cNvSpPr>
              <p:nvPr/>
            </p:nvSpPr>
            <p:spPr bwMode="auto">
              <a:xfrm rot="5404240">
                <a:off x="3692554" y="2328183"/>
                <a:ext cx="62910" cy="629104"/>
              </a:xfrm>
              <a:prstGeom prst="leftBrace">
                <a:avLst>
                  <a:gd name="adj1" fmla="val 83333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80" name="AutoShape 14"/>
              <p:cNvSpPr>
                <a:spLocks/>
              </p:cNvSpPr>
              <p:nvPr/>
            </p:nvSpPr>
            <p:spPr bwMode="auto">
              <a:xfrm rot="5404240">
                <a:off x="4482726" y="2319572"/>
                <a:ext cx="45719" cy="629136"/>
              </a:xfrm>
              <a:prstGeom prst="leftBrace">
                <a:avLst>
                  <a:gd name="adj1" fmla="val 83333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81" name="AutoShape 15"/>
              <p:cNvSpPr>
                <a:spLocks/>
              </p:cNvSpPr>
              <p:nvPr/>
            </p:nvSpPr>
            <p:spPr bwMode="auto">
              <a:xfrm rot="5404240">
                <a:off x="5206626" y="2357719"/>
                <a:ext cx="45719" cy="552936"/>
              </a:xfrm>
              <a:prstGeom prst="leftBrace">
                <a:avLst>
                  <a:gd name="adj1" fmla="val 83333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</p:grpSp>
        <p:grpSp>
          <p:nvGrpSpPr>
            <p:cNvPr id="106" name="组合 105"/>
            <p:cNvGrpSpPr/>
            <p:nvPr/>
          </p:nvGrpSpPr>
          <p:grpSpPr>
            <a:xfrm>
              <a:off x="2080443" y="2229858"/>
              <a:ext cx="3390608" cy="418092"/>
              <a:chOff x="2080443" y="2229858"/>
              <a:chExt cx="3390608" cy="418092"/>
            </a:xfrm>
          </p:grpSpPr>
          <p:sp>
            <p:nvSpPr>
              <p:cNvPr id="74" name="Text Box 8"/>
              <p:cNvSpPr txBox="1">
                <a:spLocks noChangeArrowheads="1"/>
              </p:cNvSpPr>
              <p:nvPr/>
            </p:nvSpPr>
            <p:spPr bwMode="auto">
              <a:xfrm>
                <a:off x="2835367" y="2248207"/>
                <a:ext cx="342075" cy="3997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2000" dirty="0">
                    <a:ea typeface="黑体" pitchFamily="49" charset="-122"/>
                  </a:rPr>
                  <a:t>F</a:t>
                </a:r>
              </a:p>
            </p:txBody>
          </p:sp>
          <p:sp>
            <p:nvSpPr>
              <p:cNvPr id="76" name="Text Box 10"/>
              <p:cNvSpPr txBox="1">
                <a:spLocks noChangeArrowheads="1"/>
              </p:cNvSpPr>
              <p:nvPr/>
            </p:nvSpPr>
            <p:spPr bwMode="auto">
              <a:xfrm>
                <a:off x="2080443" y="2248207"/>
                <a:ext cx="356492" cy="3997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2000" dirty="0">
                    <a:ea typeface="黑体" pitchFamily="49" charset="-122"/>
                  </a:rPr>
                  <a:t>A</a:t>
                </a:r>
              </a:p>
            </p:txBody>
          </p:sp>
          <p:sp>
            <p:nvSpPr>
              <p:cNvPr id="77" name="Text Box 11"/>
              <p:cNvSpPr txBox="1">
                <a:spLocks noChangeArrowheads="1"/>
              </p:cNvSpPr>
              <p:nvPr/>
            </p:nvSpPr>
            <p:spPr bwMode="auto">
              <a:xfrm>
                <a:off x="3275740" y="2229858"/>
                <a:ext cx="255573" cy="3997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2000" dirty="0">
                    <a:ea typeface="黑体" pitchFamily="49" charset="-122"/>
                  </a:rPr>
                  <a:t>.</a:t>
                </a:r>
              </a:p>
            </p:txBody>
          </p:sp>
          <p:sp>
            <p:nvSpPr>
              <p:cNvPr id="79" name="Text Box 13"/>
              <p:cNvSpPr txBox="1">
                <a:spLocks noChangeArrowheads="1"/>
              </p:cNvSpPr>
              <p:nvPr/>
            </p:nvSpPr>
            <p:spPr bwMode="auto">
              <a:xfrm>
                <a:off x="3653203" y="2248207"/>
                <a:ext cx="327658" cy="3997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2000">
                    <a:ea typeface="黑体" pitchFamily="49" charset="-122"/>
                  </a:rPr>
                  <a:t>1</a:t>
                </a:r>
              </a:p>
            </p:txBody>
          </p:sp>
          <p:sp>
            <p:nvSpPr>
              <p:cNvPr id="82" name="Text Box 16"/>
              <p:cNvSpPr txBox="1">
                <a:spLocks noChangeArrowheads="1"/>
              </p:cNvSpPr>
              <p:nvPr/>
            </p:nvSpPr>
            <p:spPr bwMode="auto">
              <a:xfrm>
                <a:off x="4408127" y="2248207"/>
                <a:ext cx="327658" cy="3997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2000">
                    <a:ea typeface="黑体" pitchFamily="49" charset="-122"/>
                  </a:rPr>
                  <a:t>6</a:t>
                </a:r>
              </a:p>
            </p:txBody>
          </p:sp>
          <p:sp>
            <p:nvSpPr>
              <p:cNvPr id="83" name="Text Box 18"/>
              <p:cNvSpPr txBox="1">
                <a:spLocks noChangeArrowheads="1"/>
              </p:cNvSpPr>
              <p:nvPr/>
            </p:nvSpPr>
            <p:spPr bwMode="auto">
              <a:xfrm>
                <a:off x="5100142" y="2248207"/>
                <a:ext cx="370909" cy="3997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2000">
                    <a:ea typeface="黑体" pitchFamily="49" charset="-122"/>
                  </a:rPr>
                  <a:t>C</a:t>
                </a:r>
              </a:p>
            </p:txBody>
          </p:sp>
        </p:grpSp>
      </p:grpSp>
      <p:grpSp>
        <p:nvGrpSpPr>
          <p:cNvPr id="109" name="组合 108"/>
          <p:cNvGrpSpPr/>
          <p:nvPr/>
        </p:nvGrpSpPr>
        <p:grpSpPr>
          <a:xfrm>
            <a:off x="1676400" y="2647950"/>
            <a:ext cx="3766591" cy="729812"/>
            <a:chOff x="1676400" y="2647950"/>
            <a:chExt cx="3766591" cy="729812"/>
          </a:xfrm>
        </p:grpSpPr>
        <p:sp>
          <p:nvSpPr>
            <p:cNvPr id="86" name="AutoShape 21"/>
            <p:cNvSpPr>
              <a:spLocks/>
            </p:cNvSpPr>
            <p:nvPr/>
          </p:nvSpPr>
          <p:spPr bwMode="auto">
            <a:xfrm rot="16200000">
              <a:off x="2506187" y="2732563"/>
              <a:ext cx="62910" cy="503283"/>
            </a:xfrm>
            <a:prstGeom prst="leftBrace">
              <a:avLst>
                <a:gd name="adj1" fmla="val 66667"/>
                <a:gd name="adj2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7" name="AutoShape 22"/>
            <p:cNvSpPr>
              <a:spLocks/>
            </p:cNvSpPr>
            <p:nvPr/>
          </p:nvSpPr>
          <p:spPr bwMode="auto">
            <a:xfrm rot="16200000">
              <a:off x="1959498" y="2822054"/>
              <a:ext cx="76200" cy="337591"/>
            </a:xfrm>
            <a:prstGeom prst="leftBrace">
              <a:avLst>
                <a:gd name="adj1" fmla="val 66667"/>
                <a:gd name="adj2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92" name="Text Box 27"/>
            <p:cNvSpPr txBox="1">
              <a:spLocks noChangeArrowheads="1"/>
            </p:cNvSpPr>
            <p:nvPr/>
          </p:nvSpPr>
          <p:spPr bwMode="auto">
            <a:xfrm>
              <a:off x="2819400" y="2959303"/>
              <a:ext cx="32733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dirty="0"/>
                <a:t>7</a:t>
              </a:r>
            </a:p>
          </p:txBody>
        </p:sp>
        <p:sp>
          <p:nvSpPr>
            <p:cNvPr id="93" name="Text Box 28"/>
            <p:cNvSpPr txBox="1">
              <a:spLocks noChangeArrowheads="1"/>
            </p:cNvSpPr>
            <p:nvPr/>
          </p:nvSpPr>
          <p:spPr bwMode="auto">
            <a:xfrm>
              <a:off x="2297824" y="2952750"/>
              <a:ext cx="397866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dirty="0" smtClean="0"/>
                <a:t> 5</a:t>
              </a:r>
              <a:endParaRPr lang="en-US" altLang="zh-CN" sz="2000" dirty="0"/>
            </a:p>
          </p:txBody>
        </p:sp>
        <p:sp>
          <p:nvSpPr>
            <p:cNvPr id="94" name="Text Box 29"/>
            <p:cNvSpPr txBox="1">
              <a:spLocks noChangeArrowheads="1"/>
            </p:cNvSpPr>
            <p:nvPr/>
          </p:nvSpPr>
          <p:spPr bwMode="auto">
            <a:xfrm>
              <a:off x="1752600" y="2952750"/>
              <a:ext cx="397866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dirty="0" smtClean="0"/>
                <a:t> 2</a:t>
              </a:r>
              <a:endParaRPr lang="en-US" altLang="zh-CN" sz="2000" dirty="0"/>
            </a:p>
          </p:txBody>
        </p:sp>
        <p:sp>
          <p:nvSpPr>
            <p:cNvPr id="95" name="Text Box 30"/>
            <p:cNvSpPr txBox="1">
              <a:spLocks noChangeArrowheads="1"/>
            </p:cNvSpPr>
            <p:nvPr/>
          </p:nvSpPr>
          <p:spPr bwMode="auto">
            <a:xfrm>
              <a:off x="3514091" y="2952750"/>
              <a:ext cx="32733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dirty="0"/>
                <a:t>0</a:t>
              </a:r>
            </a:p>
          </p:txBody>
        </p:sp>
        <p:sp>
          <p:nvSpPr>
            <p:cNvPr id="96" name="Text Box 31"/>
            <p:cNvSpPr txBox="1">
              <a:spLocks noChangeArrowheads="1"/>
            </p:cNvSpPr>
            <p:nvPr/>
          </p:nvSpPr>
          <p:spPr bwMode="auto">
            <a:xfrm>
              <a:off x="4059314" y="2952750"/>
              <a:ext cx="32733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dirty="0"/>
                <a:t>5</a:t>
              </a:r>
            </a:p>
          </p:txBody>
        </p:sp>
        <p:sp>
          <p:nvSpPr>
            <p:cNvPr id="97" name="Text Box 32"/>
            <p:cNvSpPr txBox="1">
              <a:spLocks noChangeArrowheads="1"/>
            </p:cNvSpPr>
            <p:nvPr/>
          </p:nvSpPr>
          <p:spPr bwMode="auto">
            <a:xfrm>
              <a:off x="4625509" y="2952752"/>
              <a:ext cx="327658" cy="3997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dirty="0"/>
                <a:t>5</a:t>
              </a:r>
            </a:p>
          </p:txBody>
        </p:sp>
        <p:sp>
          <p:nvSpPr>
            <p:cNvPr id="98" name="Text Box 33"/>
            <p:cNvSpPr txBox="1">
              <a:spLocks noChangeArrowheads="1"/>
            </p:cNvSpPr>
            <p:nvPr/>
          </p:nvSpPr>
          <p:spPr bwMode="auto">
            <a:xfrm>
              <a:off x="5105400" y="2952750"/>
              <a:ext cx="32733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dirty="0"/>
                <a:t>4</a:t>
              </a:r>
            </a:p>
          </p:txBody>
        </p:sp>
        <p:sp>
          <p:nvSpPr>
            <p:cNvPr id="99" name="Text Box 34"/>
            <p:cNvSpPr txBox="1">
              <a:spLocks noChangeArrowheads="1"/>
            </p:cNvSpPr>
            <p:nvPr/>
          </p:nvSpPr>
          <p:spPr bwMode="auto">
            <a:xfrm>
              <a:off x="1676400" y="2647950"/>
              <a:ext cx="32733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dirty="0">
                  <a:solidFill>
                    <a:srgbClr val="C00000"/>
                  </a:solidFill>
                </a:rPr>
                <a:t>0</a:t>
              </a:r>
            </a:p>
          </p:txBody>
        </p:sp>
        <p:sp>
          <p:nvSpPr>
            <p:cNvPr id="100" name="Text Box 35"/>
            <p:cNvSpPr txBox="1">
              <a:spLocks noChangeArrowheads="1"/>
            </p:cNvSpPr>
            <p:nvPr/>
          </p:nvSpPr>
          <p:spPr bwMode="auto">
            <a:xfrm>
              <a:off x="3199539" y="2977652"/>
              <a:ext cx="25519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/>
                <a:t>.</a:t>
              </a:r>
            </a:p>
          </p:txBody>
        </p:sp>
        <p:sp>
          <p:nvSpPr>
            <p:cNvPr id="101" name="AutoShape 22"/>
            <p:cNvSpPr>
              <a:spLocks/>
            </p:cNvSpPr>
            <p:nvPr/>
          </p:nvSpPr>
          <p:spPr bwMode="auto">
            <a:xfrm rot="16200000">
              <a:off x="2950096" y="2822054"/>
              <a:ext cx="76200" cy="337591"/>
            </a:xfrm>
            <a:prstGeom prst="leftBrace">
              <a:avLst>
                <a:gd name="adj1" fmla="val 66667"/>
                <a:gd name="adj2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02" name="AutoShape 22"/>
            <p:cNvSpPr>
              <a:spLocks/>
            </p:cNvSpPr>
            <p:nvPr/>
          </p:nvSpPr>
          <p:spPr bwMode="auto">
            <a:xfrm rot="16200000">
              <a:off x="3635896" y="2822054"/>
              <a:ext cx="76200" cy="337591"/>
            </a:xfrm>
            <a:prstGeom prst="leftBrace">
              <a:avLst>
                <a:gd name="adj1" fmla="val 66667"/>
                <a:gd name="adj2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03" name="AutoShape 21"/>
            <p:cNvSpPr>
              <a:spLocks/>
            </p:cNvSpPr>
            <p:nvPr/>
          </p:nvSpPr>
          <p:spPr bwMode="auto">
            <a:xfrm rot="16200000">
              <a:off x="4182587" y="2732564"/>
              <a:ext cx="62910" cy="503283"/>
            </a:xfrm>
            <a:prstGeom prst="leftBrace">
              <a:avLst>
                <a:gd name="adj1" fmla="val 66667"/>
                <a:gd name="adj2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04" name="AutoShape 21"/>
            <p:cNvSpPr>
              <a:spLocks/>
            </p:cNvSpPr>
            <p:nvPr/>
          </p:nvSpPr>
          <p:spPr bwMode="auto">
            <a:xfrm rot="16200000">
              <a:off x="4792187" y="2732564"/>
              <a:ext cx="62910" cy="503283"/>
            </a:xfrm>
            <a:prstGeom prst="leftBrace">
              <a:avLst>
                <a:gd name="adj1" fmla="val 66667"/>
                <a:gd name="adj2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05" name="AutoShape 22"/>
            <p:cNvSpPr>
              <a:spLocks/>
            </p:cNvSpPr>
            <p:nvPr/>
          </p:nvSpPr>
          <p:spPr bwMode="auto">
            <a:xfrm rot="16200000">
              <a:off x="5236096" y="2822055"/>
              <a:ext cx="76200" cy="337591"/>
            </a:xfrm>
            <a:prstGeom prst="leftBrace">
              <a:avLst>
                <a:gd name="adj1" fmla="val 66667"/>
                <a:gd name="adj2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</p:grp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：编 码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7429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二进制编码：用固定长度的二进制位来表示数字或字符。</a:t>
            </a:r>
            <a:endParaRPr lang="en-US" altLang="zh-CN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如：</a:t>
            </a: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578100" y="1733550"/>
            <a:ext cx="1079500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b="1" dirty="0">
                <a:solidFill>
                  <a:schemeClr val="accent2"/>
                </a:solidFill>
              </a:rPr>
              <a:t>A</a:t>
            </a:r>
          </a:p>
          <a:p>
            <a:r>
              <a:rPr lang="en-US" altLang="zh-CN" sz="2000" b="1" dirty="0">
                <a:solidFill>
                  <a:schemeClr val="accent2"/>
                </a:solidFill>
              </a:rPr>
              <a:t>B</a:t>
            </a:r>
          </a:p>
          <a:p>
            <a:r>
              <a:rPr lang="en-US" altLang="zh-CN" sz="2000" b="1" dirty="0">
                <a:solidFill>
                  <a:schemeClr val="accent2"/>
                </a:solidFill>
              </a:rPr>
              <a:t>C</a:t>
            </a:r>
          </a:p>
          <a:p>
            <a:r>
              <a:rPr lang="en-US" altLang="zh-CN" sz="2000" b="1" dirty="0">
                <a:solidFill>
                  <a:schemeClr val="accent2"/>
                </a:solidFill>
              </a:rPr>
              <a:t>D</a:t>
            </a:r>
          </a:p>
          <a:p>
            <a:endParaRPr lang="zh-CN" altLang="en-US" sz="2000" b="1" dirty="0">
              <a:solidFill>
                <a:schemeClr val="accent2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416300" y="1733550"/>
            <a:ext cx="1079500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b="1" dirty="0">
                <a:solidFill>
                  <a:schemeClr val="accent2"/>
                </a:solidFill>
              </a:rPr>
              <a:t>00</a:t>
            </a:r>
          </a:p>
          <a:p>
            <a:r>
              <a:rPr lang="en-US" altLang="zh-CN" sz="2000" b="1" dirty="0">
                <a:solidFill>
                  <a:schemeClr val="accent2"/>
                </a:solidFill>
              </a:rPr>
              <a:t>01</a:t>
            </a:r>
          </a:p>
          <a:p>
            <a:r>
              <a:rPr lang="en-US" altLang="zh-CN" sz="2000" b="1" dirty="0">
                <a:solidFill>
                  <a:schemeClr val="accent2"/>
                </a:solidFill>
              </a:rPr>
              <a:t>10</a:t>
            </a:r>
          </a:p>
          <a:p>
            <a:r>
              <a:rPr lang="en-US" altLang="zh-CN" sz="2000" b="1" dirty="0">
                <a:solidFill>
                  <a:schemeClr val="accent2"/>
                </a:solidFill>
              </a:rPr>
              <a:t>11</a:t>
            </a:r>
          </a:p>
          <a:p>
            <a:endParaRPr lang="zh-CN" altLang="en-US" sz="2000" b="1" dirty="0">
              <a:solidFill>
                <a:schemeClr val="accent2"/>
              </a:solidFill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1981200" y="3409950"/>
            <a:ext cx="3124200" cy="588765"/>
            <a:chOff x="2133600" y="3409950"/>
            <a:chExt cx="3124200" cy="588765"/>
          </a:xfrm>
        </p:grpSpPr>
        <p:grpSp>
          <p:nvGrpSpPr>
            <p:cNvPr id="13" name="组合 12"/>
            <p:cNvGrpSpPr/>
            <p:nvPr/>
          </p:nvGrpSpPr>
          <p:grpSpPr>
            <a:xfrm>
              <a:off x="2590800" y="3409950"/>
              <a:ext cx="1237439" cy="588765"/>
              <a:chOff x="2133600" y="3562350"/>
              <a:chExt cx="1237439" cy="588765"/>
            </a:xfrm>
          </p:grpSpPr>
          <p:sp>
            <p:nvSpPr>
              <p:cNvPr id="9" name="Text Box 10"/>
              <p:cNvSpPr txBox="1">
                <a:spLocks noChangeArrowheads="1"/>
              </p:cNvSpPr>
              <p:nvPr/>
            </p:nvSpPr>
            <p:spPr bwMode="auto">
              <a:xfrm>
                <a:off x="2133600" y="3562350"/>
                <a:ext cx="503664" cy="5847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32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2400" dirty="0" smtClean="0">
                    <a:solidFill>
                      <a:srgbClr val="FF0000"/>
                    </a:solidFill>
                  </a:rPr>
                  <a:t>A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" name="Text Box 11"/>
              <p:cNvSpPr txBox="1">
                <a:spLocks noChangeArrowheads="1"/>
              </p:cNvSpPr>
              <p:nvPr/>
            </p:nvSpPr>
            <p:spPr bwMode="auto">
              <a:xfrm>
                <a:off x="2438400" y="3843338"/>
                <a:ext cx="284052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1400" dirty="0" smtClean="0">
                    <a:solidFill>
                      <a:srgbClr val="FF0000"/>
                    </a:solidFill>
                  </a:rPr>
                  <a:t>4</a:t>
                </a:r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1" name="Text Box 11"/>
              <p:cNvSpPr txBox="1">
                <a:spLocks noChangeArrowheads="1"/>
              </p:cNvSpPr>
              <p:nvPr/>
            </p:nvSpPr>
            <p:spPr bwMode="auto">
              <a:xfrm>
                <a:off x="2423652" y="3613968"/>
                <a:ext cx="284052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1400" dirty="0" smtClean="0">
                    <a:solidFill>
                      <a:srgbClr val="FF0000"/>
                    </a:solidFill>
                  </a:rPr>
                  <a:t>4</a:t>
                </a:r>
                <a:endParaRPr lang="en-US" altLang="zh-CN" sz="1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2" name="Text Box 13"/>
              <p:cNvSpPr txBox="1">
                <a:spLocks noChangeArrowheads="1"/>
              </p:cNvSpPr>
              <p:nvPr/>
            </p:nvSpPr>
            <p:spPr bwMode="auto">
              <a:xfrm>
                <a:off x="2667000" y="3714750"/>
                <a:ext cx="704039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dirty="0" smtClean="0">
                    <a:solidFill>
                      <a:srgbClr val="FF0000"/>
                    </a:solidFill>
                  </a:rPr>
                  <a:t>=  24</a:t>
                </a:r>
                <a:endParaRPr lang="en-US" altLang="zh-CN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4" name="TextBox 13"/>
            <p:cNvSpPr txBox="1"/>
            <p:nvPr/>
          </p:nvSpPr>
          <p:spPr>
            <a:xfrm>
              <a:off x="2133600" y="3562350"/>
              <a:ext cx="10668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rgbClr val="FF0000"/>
                  </a:solidFill>
                  <a:latin typeface="+mn-lt"/>
                </a:rPr>
                <a:t>共有</a:t>
              </a:r>
              <a:endParaRPr lang="zh-CN" altLang="en-US" b="1" dirty="0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684636" y="3562350"/>
              <a:ext cx="1573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rgbClr val="FF0000"/>
                  </a:solidFill>
                  <a:latin typeface="+mn-lt"/>
                </a:rPr>
                <a:t>种编码方式</a:t>
              </a:r>
              <a:endParaRPr lang="zh-CN" altLang="en-US" b="1" dirty="0">
                <a:solidFill>
                  <a:srgbClr val="FF0000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7429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编码分类</a:t>
            </a: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29"/>
          <p:cNvSpPr txBox="1">
            <a:spLocks noChangeArrowheads="1"/>
          </p:cNvSpPr>
          <p:nvPr/>
        </p:nvSpPr>
        <p:spPr bwMode="auto">
          <a:xfrm>
            <a:off x="1447800" y="2562222"/>
            <a:ext cx="6463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b="1" dirty="0" smtClean="0">
                <a:solidFill>
                  <a:schemeClr val="accent2"/>
                </a:solidFill>
                <a:ea typeface="黑体" pitchFamily="49" charset="-122"/>
              </a:rPr>
              <a:t>编码</a:t>
            </a:r>
            <a:endParaRPr lang="zh-CN" altLang="en-US" b="1" dirty="0">
              <a:solidFill>
                <a:schemeClr val="accent2"/>
              </a:solidFill>
              <a:ea typeface="黑体" pitchFamily="49" charset="-122"/>
            </a:endParaRPr>
          </a:p>
        </p:txBody>
      </p:sp>
      <p:sp>
        <p:nvSpPr>
          <p:cNvPr id="9" name="AutoShape 30"/>
          <p:cNvSpPr>
            <a:spLocks/>
          </p:cNvSpPr>
          <p:nvPr/>
        </p:nvSpPr>
        <p:spPr bwMode="auto">
          <a:xfrm>
            <a:off x="2057400" y="1876422"/>
            <a:ext cx="152400" cy="1828800"/>
          </a:xfrm>
          <a:prstGeom prst="leftBrace">
            <a:avLst>
              <a:gd name="adj1" fmla="val 100000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b="1">
              <a:solidFill>
                <a:schemeClr val="accent2"/>
              </a:solidFill>
            </a:endParaRPr>
          </a:p>
        </p:txBody>
      </p:sp>
      <p:sp>
        <p:nvSpPr>
          <p:cNvPr id="10" name="Text Box 31"/>
          <p:cNvSpPr txBox="1">
            <a:spLocks noChangeArrowheads="1"/>
          </p:cNvSpPr>
          <p:nvPr/>
        </p:nvSpPr>
        <p:spPr bwMode="auto">
          <a:xfrm>
            <a:off x="2286000" y="1800222"/>
            <a:ext cx="1447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b="1">
                <a:solidFill>
                  <a:schemeClr val="accent2"/>
                </a:solidFill>
                <a:ea typeface="黑体" pitchFamily="49" charset="-122"/>
              </a:rPr>
              <a:t>数字编码</a:t>
            </a:r>
          </a:p>
        </p:txBody>
      </p:sp>
      <p:sp>
        <p:nvSpPr>
          <p:cNvPr id="12" name="Text Box 32"/>
          <p:cNvSpPr txBox="1">
            <a:spLocks noChangeArrowheads="1"/>
          </p:cNvSpPr>
          <p:nvPr/>
        </p:nvSpPr>
        <p:spPr bwMode="auto">
          <a:xfrm>
            <a:off x="2362200" y="3324222"/>
            <a:ext cx="110799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b="1" dirty="0">
                <a:solidFill>
                  <a:schemeClr val="accent2"/>
                </a:solidFill>
                <a:ea typeface="黑体" pitchFamily="49" charset="-122"/>
              </a:rPr>
              <a:t>字符编码</a:t>
            </a:r>
          </a:p>
        </p:txBody>
      </p:sp>
      <p:grpSp>
        <p:nvGrpSpPr>
          <p:cNvPr id="13" name="Group 33"/>
          <p:cNvGrpSpPr>
            <a:grpSpLocks/>
          </p:cNvGrpSpPr>
          <p:nvPr/>
        </p:nvGrpSpPr>
        <p:grpSpPr bwMode="auto">
          <a:xfrm>
            <a:off x="3429000" y="1266822"/>
            <a:ext cx="1336675" cy="1295400"/>
            <a:chOff x="2544" y="2160"/>
            <a:chExt cx="842" cy="816"/>
          </a:xfrm>
        </p:grpSpPr>
        <p:sp>
          <p:nvSpPr>
            <p:cNvPr id="14" name="AutoShape 34"/>
            <p:cNvSpPr>
              <a:spLocks/>
            </p:cNvSpPr>
            <p:nvPr/>
          </p:nvSpPr>
          <p:spPr bwMode="auto">
            <a:xfrm>
              <a:off x="2544" y="2304"/>
              <a:ext cx="96" cy="672"/>
            </a:xfrm>
            <a:prstGeom prst="leftBrace">
              <a:avLst>
                <a:gd name="adj1" fmla="val 58333"/>
                <a:gd name="adj2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chemeClr val="accent2"/>
                </a:solidFill>
              </a:endParaRPr>
            </a:p>
          </p:txBody>
        </p:sp>
        <p:sp>
          <p:nvSpPr>
            <p:cNvPr id="15" name="Text Box 35"/>
            <p:cNvSpPr txBox="1">
              <a:spLocks noChangeArrowheads="1"/>
            </p:cNvSpPr>
            <p:nvPr/>
          </p:nvSpPr>
          <p:spPr bwMode="auto">
            <a:xfrm>
              <a:off x="2688" y="2160"/>
              <a:ext cx="69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 b="1" dirty="0">
                  <a:solidFill>
                    <a:schemeClr val="accent2"/>
                  </a:solidFill>
                  <a:ea typeface="黑体" pitchFamily="49" charset="-122"/>
                </a:rPr>
                <a:t>有符号数</a:t>
              </a:r>
            </a:p>
          </p:txBody>
        </p:sp>
        <p:sp>
          <p:nvSpPr>
            <p:cNvPr id="16" name="Text Box 36"/>
            <p:cNvSpPr txBox="1">
              <a:spLocks noChangeArrowheads="1"/>
            </p:cNvSpPr>
            <p:nvPr/>
          </p:nvSpPr>
          <p:spPr bwMode="auto">
            <a:xfrm>
              <a:off x="2688" y="2736"/>
              <a:ext cx="69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 b="1">
                  <a:solidFill>
                    <a:schemeClr val="accent2"/>
                  </a:solidFill>
                  <a:ea typeface="黑体" pitchFamily="49" charset="-122"/>
                </a:rPr>
                <a:t>无符号数</a:t>
              </a:r>
            </a:p>
          </p:txBody>
        </p:sp>
      </p:grpSp>
      <p:grpSp>
        <p:nvGrpSpPr>
          <p:cNvPr id="17" name="Group 37"/>
          <p:cNvGrpSpPr>
            <a:grpSpLocks/>
          </p:cNvGrpSpPr>
          <p:nvPr/>
        </p:nvGrpSpPr>
        <p:grpSpPr bwMode="auto">
          <a:xfrm>
            <a:off x="4800600" y="742950"/>
            <a:ext cx="944563" cy="1073150"/>
            <a:chOff x="3600" y="1920"/>
            <a:chExt cx="595" cy="676"/>
          </a:xfrm>
        </p:grpSpPr>
        <p:sp>
          <p:nvSpPr>
            <p:cNvPr id="18" name="Text Box 38"/>
            <p:cNvSpPr txBox="1">
              <a:spLocks noChangeArrowheads="1"/>
            </p:cNvSpPr>
            <p:nvPr/>
          </p:nvSpPr>
          <p:spPr bwMode="auto">
            <a:xfrm>
              <a:off x="3744" y="1920"/>
              <a:ext cx="44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2000" b="1" dirty="0">
                  <a:solidFill>
                    <a:schemeClr val="accent2"/>
                  </a:solidFill>
                  <a:ea typeface="黑体" pitchFamily="49" charset="-122"/>
                </a:rPr>
                <a:t>原码</a:t>
              </a:r>
            </a:p>
          </p:txBody>
        </p:sp>
        <p:grpSp>
          <p:nvGrpSpPr>
            <p:cNvPr id="19" name="Group 39"/>
            <p:cNvGrpSpPr>
              <a:grpSpLocks/>
            </p:cNvGrpSpPr>
            <p:nvPr/>
          </p:nvGrpSpPr>
          <p:grpSpPr bwMode="auto">
            <a:xfrm>
              <a:off x="3600" y="2016"/>
              <a:ext cx="595" cy="580"/>
              <a:chOff x="3600" y="2016"/>
              <a:chExt cx="595" cy="580"/>
            </a:xfrm>
          </p:grpSpPr>
          <p:sp>
            <p:nvSpPr>
              <p:cNvPr id="20" name="AutoShape 40"/>
              <p:cNvSpPr>
                <a:spLocks/>
              </p:cNvSpPr>
              <p:nvPr/>
            </p:nvSpPr>
            <p:spPr bwMode="auto">
              <a:xfrm>
                <a:off x="3600" y="2016"/>
                <a:ext cx="96" cy="576"/>
              </a:xfrm>
              <a:prstGeom prst="leftBrace">
                <a:avLst>
                  <a:gd name="adj1" fmla="val 50000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b="1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1" name="Text Box 41"/>
              <p:cNvSpPr txBox="1">
                <a:spLocks noChangeArrowheads="1"/>
              </p:cNvSpPr>
              <p:nvPr/>
            </p:nvSpPr>
            <p:spPr bwMode="auto">
              <a:xfrm>
                <a:off x="3754" y="2114"/>
                <a:ext cx="441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zh-CN" altLang="en-US" sz="2000" b="1" dirty="0">
                    <a:solidFill>
                      <a:schemeClr val="accent2"/>
                    </a:solidFill>
                    <a:ea typeface="黑体" pitchFamily="49" charset="-122"/>
                  </a:rPr>
                  <a:t>反码</a:t>
                </a:r>
              </a:p>
            </p:txBody>
          </p:sp>
          <p:sp>
            <p:nvSpPr>
              <p:cNvPr id="22" name="Text Box 42"/>
              <p:cNvSpPr txBox="1">
                <a:spLocks noChangeArrowheads="1"/>
              </p:cNvSpPr>
              <p:nvPr/>
            </p:nvSpPr>
            <p:spPr bwMode="auto">
              <a:xfrm>
                <a:off x="3754" y="2344"/>
                <a:ext cx="441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zh-CN" altLang="en-US" sz="2000" b="1" dirty="0">
                    <a:solidFill>
                      <a:schemeClr val="accent2"/>
                    </a:solidFill>
                    <a:ea typeface="黑体" pitchFamily="49" charset="-122"/>
                  </a:rPr>
                  <a:t>补码</a:t>
                </a:r>
              </a:p>
            </p:txBody>
          </p:sp>
        </p:grpSp>
      </p:grpSp>
      <p:grpSp>
        <p:nvGrpSpPr>
          <p:cNvPr id="23" name="Group 43"/>
          <p:cNvGrpSpPr>
            <a:grpSpLocks/>
          </p:cNvGrpSpPr>
          <p:nvPr/>
        </p:nvGrpSpPr>
        <p:grpSpPr bwMode="auto">
          <a:xfrm>
            <a:off x="4800600" y="1809750"/>
            <a:ext cx="1774825" cy="1006475"/>
            <a:chOff x="3600" y="2582"/>
            <a:chExt cx="1118" cy="634"/>
          </a:xfrm>
        </p:grpSpPr>
        <p:sp>
          <p:nvSpPr>
            <p:cNvPr id="24" name="AutoShape 44"/>
            <p:cNvSpPr>
              <a:spLocks/>
            </p:cNvSpPr>
            <p:nvPr/>
          </p:nvSpPr>
          <p:spPr bwMode="auto">
            <a:xfrm>
              <a:off x="3600" y="2640"/>
              <a:ext cx="96" cy="576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chemeClr val="accent2"/>
                </a:solidFill>
              </a:endParaRPr>
            </a:p>
          </p:txBody>
        </p:sp>
        <p:sp>
          <p:nvSpPr>
            <p:cNvPr id="25" name="Text Box 45"/>
            <p:cNvSpPr txBox="1">
              <a:spLocks noChangeArrowheads="1"/>
            </p:cNvSpPr>
            <p:nvPr/>
          </p:nvSpPr>
          <p:spPr bwMode="auto">
            <a:xfrm>
              <a:off x="3744" y="2582"/>
              <a:ext cx="767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2000" b="1" dirty="0">
                  <a:solidFill>
                    <a:schemeClr val="accent2"/>
                  </a:solidFill>
                  <a:ea typeface="黑体" pitchFamily="49" charset="-122"/>
                </a:rPr>
                <a:t>二进制码</a:t>
              </a:r>
            </a:p>
          </p:txBody>
        </p:sp>
        <p:sp>
          <p:nvSpPr>
            <p:cNvPr id="26" name="Text Box 46"/>
            <p:cNvSpPr txBox="1">
              <a:spLocks noChangeArrowheads="1"/>
            </p:cNvSpPr>
            <p:nvPr/>
          </p:nvSpPr>
          <p:spPr bwMode="auto">
            <a:xfrm>
              <a:off x="3744" y="2966"/>
              <a:ext cx="97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accent2"/>
                  </a:solidFill>
                  <a:ea typeface="黑体" pitchFamily="49" charset="-122"/>
                </a:rPr>
                <a:t>二</a:t>
              </a:r>
              <a:r>
                <a:rPr lang="en-US" altLang="zh-CN" sz="2000" b="1" dirty="0" smtClean="0">
                  <a:solidFill>
                    <a:schemeClr val="accent2"/>
                  </a:solidFill>
                  <a:ea typeface="黑体" pitchFamily="49" charset="-122"/>
                </a:rPr>
                <a:t>-</a:t>
              </a:r>
              <a:r>
                <a:rPr lang="zh-CN" altLang="en-US" sz="2000" b="1" dirty="0">
                  <a:solidFill>
                    <a:schemeClr val="accent2"/>
                  </a:solidFill>
                  <a:ea typeface="黑体" pitchFamily="49" charset="-122"/>
                </a:rPr>
                <a:t>十进制码</a:t>
              </a:r>
            </a:p>
          </p:txBody>
        </p:sp>
      </p:grpSp>
      <p:grpSp>
        <p:nvGrpSpPr>
          <p:cNvPr id="28" name="Group 48"/>
          <p:cNvGrpSpPr>
            <a:grpSpLocks/>
          </p:cNvGrpSpPr>
          <p:nvPr/>
        </p:nvGrpSpPr>
        <p:grpSpPr bwMode="auto">
          <a:xfrm>
            <a:off x="3429001" y="2811462"/>
            <a:ext cx="1452563" cy="1131888"/>
            <a:chOff x="2544" y="3133"/>
            <a:chExt cx="915" cy="713"/>
          </a:xfrm>
        </p:grpSpPr>
        <p:sp>
          <p:nvSpPr>
            <p:cNvPr id="29" name="AutoShape 49"/>
            <p:cNvSpPr>
              <a:spLocks/>
            </p:cNvSpPr>
            <p:nvPr/>
          </p:nvSpPr>
          <p:spPr bwMode="auto">
            <a:xfrm>
              <a:off x="2544" y="3312"/>
              <a:ext cx="96" cy="528"/>
            </a:xfrm>
            <a:prstGeom prst="leftBrace">
              <a:avLst>
                <a:gd name="adj1" fmla="val 45833"/>
                <a:gd name="adj2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chemeClr val="accent2"/>
                </a:solidFill>
              </a:endParaRPr>
            </a:p>
          </p:txBody>
        </p:sp>
        <p:sp>
          <p:nvSpPr>
            <p:cNvPr id="30" name="Text Box 50"/>
            <p:cNvSpPr txBox="1">
              <a:spLocks noChangeArrowheads="1"/>
            </p:cNvSpPr>
            <p:nvPr/>
          </p:nvSpPr>
          <p:spPr bwMode="auto">
            <a:xfrm>
              <a:off x="2822" y="3133"/>
              <a:ext cx="11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endParaRPr lang="zh-CN" altLang="zh-CN" b="1">
                <a:solidFill>
                  <a:schemeClr val="accent2"/>
                </a:solidFill>
              </a:endParaRPr>
            </a:p>
          </p:txBody>
        </p:sp>
        <p:sp>
          <p:nvSpPr>
            <p:cNvPr id="31" name="Text Box 51"/>
            <p:cNvSpPr txBox="1">
              <a:spLocks noChangeArrowheads="1"/>
            </p:cNvSpPr>
            <p:nvPr/>
          </p:nvSpPr>
          <p:spPr bwMode="auto">
            <a:xfrm>
              <a:off x="2688" y="3216"/>
              <a:ext cx="77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b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ASCII</a:t>
              </a:r>
              <a:r>
                <a:rPr lang="zh-CN" altLang="en-US" b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编码</a:t>
              </a:r>
            </a:p>
          </p:txBody>
        </p:sp>
        <p:sp>
          <p:nvSpPr>
            <p:cNvPr id="32" name="Text Box 52"/>
            <p:cNvSpPr txBox="1">
              <a:spLocks noChangeArrowheads="1"/>
            </p:cNvSpPr>
            <p:nvPr/>
          </p:nvSpPr>
          <p:spPr bwMode="auto">
            <a:xfrm>
              <a:off x="2688" y="3613"/>
              <a:ext cx="69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 b="1">
                  <a:solidFill>
                    <a:schemeClr val="accent2"/>
                  </a:solidFill>
                  <a:ea typeface="黑体" pitchFamily="49" charset="-122"/>
                </a:rPr>
                <a:t>汉字编码</a:t>
              </a:r>
            </a:p>
          </p:txBody>
        </p:sp>
      </p:grpSp>
      <p:sp>
        <p:nvSpPr>
          <p:cNvPr id="33" name="矩形 32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：编 码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：编 码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742950"/>
            <a:ext cx="8610600" cy="1338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十进制编码：</a:t>
            </a:r>
            <a:r>
              <a:rPr lang="zh-CN" altLang="en-US" b="1" dirty="0" smtClean="0">
                <a:solidFill>
                  <a:schemeClr val="accent6"/>
                </a:solidFill>
              </a:rPr>
              <a:t>用</a:t>
            </a:r>
            <a:r>
              <a:rPr lang="en-US" altLang="zh-CN" b="1" dirty="0" smtClean="0">
                <a:solidFill>
                  <a:schemeClr val="accent6"/>
                </a:solidFill>
              </a:rPr>
              <a:t>4</a:t>
            </a:r>
            <a:r>
              <a:rPr lang="zh-CN" altLang="en-US" b="1" dirty="0" smtClean="0">
                <a:solidFill>
                  <a:schemeClr val="accent6"/>
                </a:solidFill>
              </a:rPr>
              <a:t>位二进制代码表示十进制的</a:t>
            </a:r>
            <a:r>
              <a:rPr lang="en-US" altLang="zh-CN" b="1" dirty="0" smtClean="0">
                <a:solidFill>
                  <a:schemeClr val="accent6"/>
                </a:solidFill>
              </a:rPr>
              <a:t>0</a:t>
            </a:r>
            <a:r>
              <a:rPr lang="zh-CN" altLang="en-US" b="1" dirty="0" smtClean="0">
                <a:solidFill>
                  <a:schemeClr val="accent6"/>
                </a:solidFill>
              </a:rPr>
              <a:t>～</a:t>
            </a:r>
            <a:r>
              <a:rPr lang="en-US" altLang="zh-CN" b="1" dirty="0" smtClean="0">
                <a:solidFill>
                  <a:schemeClr val="accent6"/>
                </a:solidFill>
              </a:rPr>
              <a:t>9</a:t>
            </a:r>
            <a:r>
              <a:rPr lang="zh-CN" altLang="en-US" b="1" dirty="0" smtClean="0">
                <a:solidFill>
                  <a:schemeClr val="accent6"/>
                </a:solidFill>
              </a:rPr>
              <a:t>个数码，即二－十进制的编码。 </a:t>
            </a:r>
            <a:endParaRPr lang="en-US" altLang="zh-CN" b="1" dirty="0" smtClean="0">
              <a:solidFill>
                <a:schemeClr val="accent6"/>
              </a:solidFill>
            </a:endParaRPr>
          </a:p>
          <a:p>
            <a:pPr marL="0" lvl="1" indent="457200">
              <a:lnSpc>
                <a:spcPct val="150000"/>
              </a:lnSpc>
            </a:pP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14"/>
          <p:cNvSpPr>
            <a:spLocks noChangeArrowheads="1"/>
          </p:cNvSpPr>
          <p:nvPr/>
        </p:nvSpPr>
        <p:spPr bwMode="auto">
          <a:xfrm>
            <a:off x="381000" y="1657350"/>
            <a:ext cx="8610600" cy="1338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b="1" dirty="0" smtClean="0">
                <a:solidFill>
                  <a:schemeClr val="accent6"/>
                </a:solidFill>
              </a:rPr>
              <a:t>4</a:t>
            </a:r>
            <a:r>
              <a:rPr lang="zh-CN" altLang="en-US" b="1" dirty="0" smtClean="0">
                <a:solidFill>
                  <a:schemeClr val="accent6"/>
                </a:solidFill>
              </a:rPr>
              <a:t>位二进制代码可以有</a:t>
            </a:r>
            <a:r>
              <a:rPr lang="en-US" altLang="zh-CN" b="1" dirty="0" smtClean="0">
                <a:solidFill>
                  <a:schemeClr val="accent6"/>
                </a:solidFill>
              </a:rPr>
              <a:t>0000</a:t>
            </a:r>
            <a:r>
              <a:rPr lang="zh-CN" altLang="en-US" b="1" dirty="0" smtClean="0">
                <a:solidFill>
                  <a:schemeClr val="accent6"/>
                </a:solidFill>
              </a:rPr>
              <a:t>～</a:t>
            </a:r>
            <a:r>
              <a:rPr lang="en-US" altLang="zh-CN" b="1" dirty="0" smtClean="0">
                <a:solidFill>
                  <a:schemeClr val="accent6"/>
                </a:solidFill>
              </a:rPr>
              <a:t>1111</a:t>
            </a:r>
            <a:r>
              <a:rPr lang="zh-CN" altLang="en-US" b="1" dirty="0" smtClean="0">
                <a:solidFill>
                  <a:schemeClr val="accent6"/>
                </a:solidFill>
              </a:rPr>
              <a:t>十六个状态，则表示</a:t>
            </a:r>
            <a:r>
              <a:rPr lang="en-US" altLang="zh-CN" b="1" dirty="0" smtClean="0">
                <a:solidFill>
                  <a:schemeClr val="accent6"/>
                </a:solidFill>
              </a:rPr>
              <a:t>0</a:t>
            </a:r>
            <a:r>
              <a:rPr lang="zh-CN" altLang="en-US" b="1" dirty="0" smtClean="0">
                <a:solidFill>
                  <a:schemeClr val="accent6"/>
                </a:solidFill>
              </a:rPr>
              <a:t>～</a:t>
            </a:r>
            <a:r>
              <a:rPr lang="en-US" altLang="zh-CN" b="1" dirty="0" smtClean="0">
                <a:solidFill>
                  <a:schemeClr val="accent6"/>
                </a:solidFill>
              </a:rPr>
              <a:t>9</a:t>
            </a:r>
            <a:r>
              <a:rPr lang="zh-CN" altLang="en-US" b="1" dirty="0" smtClean="0">
                <a:solidFill>
                  <a:schemeClr val="accent6"/>
                </a:solidFill>
              </a:rPr>
              <a:t>十个状态可以有多少种编码形式？</a:t>
            </a:r>
            <a:endParaRPr lang="en-US" altLang="zh-CN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Group 19"/>
          <p:cNvGrpSpPr>
            <a:grpSpLocks/>
          </p:cNvGrpSpPr>
          <p:nvPr/>
        </p:nvGrpSpPr>
        <p:grpSpPr bwMode="auto">
          <a:xfrm>
            <a:off x="1905000" y="2443168"/>
            <a:ext cx="3013075" cy="603251"/>
            <a:chOff x="1008" y="2271"/>
            <a:chExt cx="1898" cy="380"/>
          </a:xfrm>
        </p:grpSpPr>
        <p:sp>
          <p:nvSpPr>
            <p:cNvPr id="11" name="Text Box 10"/>
            <p:cNvSpPr txBox="1">
              <a:spLocks noChangeArrowheads="1"/>
            </p:cNvSpPr>
            <p:nvPr/>
          </p:nvSpPr>
          <p:spPr bwMode="auto">
            <a:xfrm>
              <a:off x="1008" y="2271"/>
              <a:ext cx="317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3200" dirty="0">
                  <a:solidFill>
                    <a:srgbClr val="FF0000"/>
                  </a:solidFill>
                </a:rPr>
                <a:t> </a:t>
              </a:r>
              <a:r>
                <a:rPr lang="en-US" altLang="zh-CN" sz="2400" dirty="0">
                  <a:solidFill>
                    <a:srgbClr val="FF0000"/>
                  </a:solidFill>
                </a:rPr>
                <a:t>A</a:t>
              </a:r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1200" y="2448"/>
              <a:ext cx="242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dirty="0">
                  <a:solidFill>
                    <a:srgbClr val="FF0000"/>
                  </a:solidFill>
                </a:rPr>
                <a:t>16</a:t>
              </a:r>
            </a:p>
          </p:txBody>
        </p: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1198" y="2287"/>
              <a:ext cx="242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dirty="0">
                  <a:solidFill>
                    <a:srgbClr val="FF0000"/>
                  </a:solidFill>
                </a:rPr>
                <a:t>10</a:t>
              </a:r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1392" y="2352"/>
              <a:ext cx="20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dirty="0">
                  <a:solidFill>
                    <a:srgbClr val="FF0000"/>
                  </a:solidFill>
                </a:rPr>
                <a:t>=</a:t>
              </a:r>
            </a:p>
          </p:txBody>
        </p:sp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>
              <a:off x="1680" y="2302"/>
              <a:ext cx="273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dirty="0">
                  <a:solidFill>
                    <a:srgbClr val="FF0000"/>
                  </a:solidFill>
                </a:rPr>
                <a:t>16!</a:t>
              </a:r>
            </a:p>
          </p:txBody>
        </p:sp>
        <p:sp>
          <p:nvSpPr>
            <p:cNvPr id="16" name="Text Box 15"/>
            <p:cNvSpPr txBox="1">
              <a:spLocks noChangeArrowheads="1"/>
            </p:cNvSpPr>
            <p:nvPr/>
          </p:nvSpPr>
          <p:spPr bwMode="auto">
            <a:xfrm>
              <a:off x="1602" y="2457"/>
              <a:ext cx="510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dirty="0">
                  <a:solidFill>
                    <a:srgbClr val="FF0000"/>
                  </a:solidFill>
                </a:rPr>
                <a:t>(16-10)!</a:t>
              </a:r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1584" y="2472"/>
              <a:ext cx="57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8" name="Text Box 17"/>
            <p:cNvSpPr txBox="1">
              <a:spLocks noChangeArrowheads="1"/>
            </p:cNvSpPr>
            <p:nvPr/>
          </p:nvSpPr>
          <p:spPr bwMode="auto">
            <a:xfrm>
              <a:off x="2160" y="2352"/>
              <a:ext cx="19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b="1" dirty="0">
                  <a:solidFill>
                    <a:srgbClr val="FF0000"/>
                  </a:solidFill>
                  <a:sym typeface="Symbol" pitchFamily="18" charset="2"/>
                </a:rPr>
                <a:t></a:t>
              </a:r>
              <a:endParaRPr lang="en-US" altLang="zh-CN" b="1" dirty="0">
                <a:solidFill>
                  <a:srgbClr val="FF0000"/>
                </a:solidFill>
              </a:endParaRPr>
            </a:p>
          </p:txBody>
        </p:sp>
        <p:sp>
          <p:nvSpPr>
            <p:cNvPr id="19" name="Text Box 18"/>
            <p:cNvSpPr txBox="1">
              <a:spLocks noChangeArrowheads="1"/>
            </p:cNvSpPr>
            <p:nvPr/>
          </p:nvSpPr>
          <p:spPr bwMode="auto">
            <a:xfrm>
              <a:off x="2362" y="2378"/>
              <a:ext cx="54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>
                  <a:solidFill>
                    <a:srgbClr val="FF0000"/>
                  </a:solidFill>
                </a:rPr>
                <a:t>2.9</a:t>
              </a:r>
              <a:r>
                <a:rPr lang="en-US" altLang="zh-CN" sz="1400">
                  <a:solidFill>
                    <a:srgbClr val="FF0000"/>
                  </a:solidFill>
                  <a:sym typeface="Symbol" pitchFamily="18" charset="2"/>
                </a:rPr>
                <a:t>10</a:t>
              </a:r>
              <a:r>
                <a:rPr lang="en-US" altLang="zh-CN" sz="1400" baseline="30000">
                  <a:solidFill>
                    <a:srgbClr val="FF0000"/>
                  </a:solidFill>
                  <a:sym typeface="Symbol" pitchFamily="18" charset="2"/>
                </a:rPr>
                <a:t>10</a:t>
              </a:r>
              <a:endParaRPr lang="en-US" altLang="zh-CN" sz="1400" baseline="3000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：编 码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3794" name="Object 2"/>
          <p:cNvGraphicFramePr>
            <a:graphicFrameLocks noChangeAspect="1"/>
          </p:cNvGraphicFramePr>
          <p:nvPr/>
        </p:nvGraphicFramePr>
        <p:xfrm>
          <a:off x="1752600" y="971550"/>
          <a:ext cx="5029200" cy="3123094"/>
        </p:xfrm>
        <a:graphic>
          <a:graphicData uri="http://schemas.openxmlformats.org/presentationml/2006/ole">
            <p:oleObj spid="_x0000_s33794" name="Visio" r:id="rId3" imgW="4457623" imgH="3030919" progId="Visio.Drawing.11">
              <p:embed/>
            </p:oleObj>
          </a:graphicData>
        </a:graphic>
      </p:graphicFrame>
      <p:sp>
        <p:nvSpPr>
          <p:cNvPr id="20" name="矩形 19"/>
          <p:cNvSpPr/>
          <p:nvPr/>
        </p:nvSpPr>
        <p:spPr>
          <a:xfrm>
            <a:off x="2971800" y="590550"/>
            <a:ext cx="28745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常用的二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十进制编码</a:t>
            </a:r>
            <a:endParaRPr lang="zh-CN" altLang="en-US" dirty="0"/>
          </a:p>
        </p:txBody>
      </p:sp>
      <p:sp>
        <p:nvSpPr>
          <p:cNvPr id="8" name="椭圆 7"/>
          <p:cNvSpPr/>
          <p:nvPr/>
        </p:nvSpPr>
        <p:spPr>
          <a:xfrm>
            <a:off x="2971800" y="3105150"/>
            <a:ext cx="533400" cy="228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3795" name="Object 3"/>
          <p:cNvGraphicFramePr>
            <a:graphicFrameLocks noChangeAspect="1"/>
          </p:cNvGraphicFramePr>
          <p:nvPr/>
        </p:nvGraphicFramePr>
        <p:xfrm>
          <a:off x="2362200" y="3943350"/>
          <a:ext cx="3276600" cy="269838"/>
        </p:xfrm>
        <a:graphic>
          <a:graphicData uri="http://schemas.openxmlformats.org/presentationml/2006/ole">
            <p:oleObj spid="_x0000_s33795" name="Equation" r:id="rId4" imgW="4317840" imgH="355320" progId="Equation.DSMT4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：编 码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3794" name="Object 2"/>
          <p:cNvGraphicFramePr>
            <a:graphicFrameLocks noChangeAspect="1"/>
          </p:cNvGraphicFramePr>
          <p:nvPr/>
        </p:nvGraphicFramePr>
        <p:xfrm>
          <a:off x="1752600" y="971550"/>
          <a:ext cx="5029200" cy="3123094"/>
        </p:xfrm>
        <a:graphic>
          <a:graphicData uri="http://schemas.openxmlformats.org/presentationml/2006/ole">
            <p:oleObj spid="_x0000_s61442" name="Visio" r:id="rId3" imgW="4457623" imgH="3030919" progId="Visio.Drawing.11">
              <p:embed/>
            </p:oleObj>
          </a:graphicData>
        </a:graphic>
      </p:graphicFrame>
      <p:sp>
        <p:nvSpPr>
          <p:cNvPr id="20" name="矩形 19"/>
          <p:cNvSpPr/>
          <p:nvPr/>
        </p:nvSpPr>
        <p:spPr>
          <a:xfrm>
            <a:off x="2971800" y="590550"/>
            <a:ext cx="28745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常用的二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十进制编码</a:t>
            </a:r>
            <a:endParaRPr lang="zh-CN" altLang="en-US" dirty="0"/>
          </a:p>
        </p:txBody>
      </p:sp>
      <p:sp>
        <p:nvSpPr>
          <p:cNvPr id="8" name="椭圆 7"/>
          <p:cNvSpPr/>
          <p:nvPr/>
        </p:nvSpPr>
        <p:spPr>
          <a:xfrm>
            <a:off x="2971800" y="3584472"/>
            <a:ext cx="533400" cy="228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3795" name="Object 3"/>
          <p:cNvGraphicFramePr>
            <a:graphicFrameLocks noChangeAspect="1"/>
          </p:cNvGraphicFramePr>
          <p:nvPr/>
        </p:nvGraphicFramePr>
        <p:xfrm>
          <a:off x="2338388" y="3943350"/>
          <a:ext cx="3324225" cy="269875"/>
        </p:xfrm>
        <a:graphic>
          <a:graphicData uri="http://schemas.openxmlformats.org/presentationml/2006/ole">
            <p:oleObj spid="_x0000_s61443" name="Equation" r:id="rId4" imgW="4381200" imgH="355320" progId="Equation.DSMT4">
              <p:embed/>
            </p:oleObj>
          </a:graphicData>
        </a:graphic>
      </p:graphicFrame>
      <p:sp>
        <p:nvSpPr>
          <p:cNvPr id="7" name="矩形 6"/>
          <p:cNvSpPr/>
          <p:nvPr/>
        </p:nvSpPr>
        <p:spPr>
          <a:xfrm>
            <a:off x="2133600" y="4400550"/>
            <a:ext cx="43524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  <a:ea typeface="黑体" pitchFamily="49" charset="-122"/>
              </a:rPr>
              <a:t>1010-1111</a:t>
            </a:r>
            <a:r>
              <a:rPr lang="zh-CN" altLang="en-US" b="1" dirty="0" smtClean="0">
                <a:solidFill>
                  <a:srgbClr val="FF0000"/>
                </a:solidFill>
                <a:ea typeface="黑体" pitchFamily="49" charset="-122"/>
              </a:rPr>
              <a:t>这</a:t>
            </a:r>
            <a:r>
              <a:rPr lang="en-US" altLang="zh-CN" b="1" dirty="0" smtClean="0">
                <a:solidFill>
                  <a:srgbClr val="FF0000"/>
                </a:solidFill>
                <a:ea typeface="黑体" pitchFamily="49" charset="-122"/>
              </a:rPr>
              <a:t>6</a:t>
            </a:r>
            <a:r>
              <a:rPr lang="zh-CN" altLang="en-US" b="1" dirty="0" smtClean="0">
                <a:solidFill>
                  <a:srgbClr val="FF0000"/>
                </a:solidFill>
                <a:ea typeface="黑体" pitchFamily="49" charset="-122"/>
              </a:rPr>
              <a:t>项禁止</a:t>
            </a:r>
            <a:r>
              <a:rPr lang="zh-CN" altLang="en-US" b="1" dirty="0" smtClean="0">
                <a:solidFill>
                  <a:srgbClr val="FF0000"/>
                </a:solidFill>
                <a:ea typeface="黑体" pitchFamily="49" charset="-122"/>
              </a:rPr>
              <a:t>在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“</a:t>
            </a:r>
            <a:r>
              <a:rPr lang="en-US" altLang="zh-CN" b="1" dirty="0" smtClean="0">
                <a:solidFill>
                  <a:srgbClr val="FF0000"/>
                </a:solidFill>
                <a:ea typeface="黑体" pitchFamily="49" charset="-122"/>
              </a:rPr>
              <a:t>8421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”</a:t>
            </a:r>
            <a:r>
              <a:rPr lang="zh-CN" altLang="en-US" b="1" dirty="0" smtClean="0">
                <a:solidFill>
                  <a:srgbClr val="FF0000"/>
                </a:solidFill>
                <a:ea typeface="黑体" pitchFamily="49" charset="-122"/>
              </a:rPr>
              <a:t>码中出现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：编 码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7429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二进制数与编码的区别：</a:t>
            </a:r>
            <a:endParaRPr lang="en-US" altLang="zh-CN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828800" y="1504950"/>
            <a:ext cx="62595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Times New Roman" pitchFamily="18" charset="0"/>
              </a:rPr>
              <a:t>  </a:t>
            </a:r>
            <a:r>
              <a:rPr lang="en-US" altLang="zh-CN" b="1" dirty="0" smtClean="0">
                <a:latin typeface="Times New Roman" pitchFamily="18" charset="0"/>
              </a:rPr>
              <a:t>= (                    )</a:t>
            </a:r>
            <a:r>
              <a:rPr lang="en-US" altLang="zh-CN" b="1" baseline="-30000" dirty="0" smtClean="0">
                <a:latin typeface="Times New Roman" pitchFamily="18" charset="0"/>
              </a:rPr>
              <a:t>2</a:t>
            </a:r>
            <a:endParaRPr lang="en-US" altLang="zh-CN" b="1" baseline="-30000" dirty="0">
              <a:latin typeface="Times New Roman" pitchFamily="18" charset="0"/>
            </a:endParaRP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914400" y="2495550"/>
            <a:ext cx="7239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Times New Roman" pitchFamily="18" charset="0"/>
              </a:rPr>
              <a:t>     (150)</a:t>
            </a:r>
            <a:r>
              <a:rPr lang="en-US" altLang="zh-CN" b="1" baseline="-30000" dirty="0">
                <a:latin typeface="Times New Roman" pitchFamily="18" charset="0"/>
              </a:rPr>
              <a:t>10 </a:t>
            </a:r>
            <a:r>
              <a:rPr lang="en-US" altLang="zh-CN" b="1" dirty="0">
                <a:latin typeface="Times New Roman" pitchFamily="18" charset="0"/>
              </a:rPr>
              <a:t>= </a:t>
            </a:r>
            <a:r>
              <a:rPr lang="en-US" altLang="zh-CN" b="1" dirty="0" smtClean="0">
                <a:latin typeface="Times New Roman" pitchFamily="18" charset="0"/>
              </a:rPr>
              <a:t>(                               )</a:t>
            </a:r>
            <a:r>
              <a:rPr lang="en-US" altLang="zh-CN" b="1" baseline="-30000" dirty="0" smtClean="0">
                <a:latin typeface="Times New Roman" pitchFamily="18" charset="0"/>
              </a:rPr>
              <a:t>8421BCD</a:t>
            </a:r>
            <a:endParaRPr lang="en-US" altLang="zh-CN" b="1" baseline="-30000" dirty="0">
              <a:latin typeface="Times New Roman" pitchFamily="18" charset="0"/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975610" y="1512445"/>
            <a:ext cx="152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Times New Roman" pitchFamily="18" charset="0"/>
              </a:rPr>
              <a:t>     (</a:t>
            </a:r>
            <a:r>
              <a:rPr lang="en-US" altLang="zh-CN" b="1" dirty="0" smtClean="0">
                <a:latin typeface="Times New Roman" pitchFamily="18" charset="0"/>
              </a:rPr>
              <a:t>150)</a:t>
            </a:r>
            <a:r>
              <a:rPr lang="en-US" altLang="zh-CN" b="1" baseline="-30000" dirty="0" smtClean="0">
                <a:latin typeface="Times New Roman" pitchFamily="18" charset="0"/>
              </a:rPr>
              <a:t>10 </a:t>
            </a:r>
            <a:r>
              <a:rPr lang="en-US" altLang="zh-CN" b="1" dirty="0" smtClean="0">
                <a:latin typeface="Times New Roman" pitchFamily="18" charset="0"/>
              </a:rPr>
              <a:t> </a:t>
            </a:r>
            <a:endParaRPr lang="en-US" altLang="zh-CN" b="1" baseline="-30000" dirty="0">
              <a:latin typeface="Times New Roman" pitchFamily="18" charset="0"/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2209800" y="2524426"/>
            <a:ext cx="1828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 smtClean="0">
                <a:solidFill>
                  <a:srgbClr val="FF0000"/>
                </a:solidFill>
                <a:latin typeface="Times New Roman" pitchFamily="18" charset="0"/>
              </a:rPr>
              <a:t>0001 0101 0000</a:t>
            </a:r>
            <a:endParaRPr lang="en-US" altLang="zh-CN" b="1" baseline="-30000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2099190" y="1512324"/>
            <a:ext cx="1371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Times New Roman" pitchFamily="18" charset="0"/>
              </a:rPr>
              <a:t>  </a:t>
            </a:r>
            <a:r>
              <a:rPr lang="en-US" altLang="zh-CN" b="1" dirty="0" smtClean="0">
                <a:latin typeface="Times New Roman" pitchFamily="18" charset="0"/>
              </a:rPr>
              <a:t> 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itchFamily="18" charset="0"/>
              </a:rPr>
              <a:t>10010110</a:t>
            </a:r>
            <a:endParaRPr lang="en-US" altLang="zh-CN" b="1" baseline="-300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：数 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-76200" y="545634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练习：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1371600" y="514350"/>
            <a:ext cx="1371600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Rectangle 3"/>
          <p:cNvSpPr txBox="1">
            <a:spLocks noChangeArrowheads="1"/>
          </p:cNvSpPr>
          <p:nvPr/>
        </p:nvSpPr>
        <p:spPr>
          <a:xfrm>
            <a:off x="1447800" y="971550"/>
            <a:ext cx="6080125" cy="5207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　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(0.1285)</a:t>
            </a:r>
            <a:r>
              <a:rPr kumimoji="0" lang="en-US" altLang="zh-CN" sz="20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10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=(?)</a:t>
            </a:r>
            <a:r>
              <a:rPr kumimoji="0" lang="en-US" altLang="zh-CN" sz="20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4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  ( 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itchFamily="49" charset="-122"/>
                <a:cs typeface="+mn-cs"/>
              </a:rPr>
              <a:t>取五位小数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)</a:t>
            </a:r>
          </a:p>
        </p:txBody>
      </p:sp>
      <p:grpSp>
        <p:nvGrpSpPr>
          <p:cNvPr id="2" name="Group 36"/>
          <p:cNvGrpSpPr>
            <a:grpSpLocks/>
          </p:cNvGrpSpPr>
          <p:nvPr/>
        </p:nvGrpSpPr>
        <p:grpSpPr bwMode="auto">
          <a:xfrm>
            <a:off x="1371600" y="1562100"/>
            <a:ext cx="1600200" cy="781050"/>
            <a:chOff x="1077" y="1632"/>
            <a:chExt cx="1008" cy="492"/>
          </a:xfrm>
        </p:grpSpPr>
        <p:sp>
          <p:nvSpPr>
            <p:cNvPr id="46" name="Text Box 4"/>
            <p:cNvSpPr txBox="1">
              <a:spLocks noChangeArrowheads="1"/>
            </p:cNvSpPr>
            <p:nvPr/>
          </p:nvSpPr>
          <p:spPr bwMode="auto">
            <a:xfrm>
              <a:off x="1142" y="1632"/>
              <a:ext cx="555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dirty="0"/>
                <a:t>   0.1285</a:t>
              </a:r>
            </a:p>
            <a:p>
              <a:pPr algn="l"/>
              <a:r>
                <a:rPr lang="en-US" altLang="zh-CN" sz="1400" dirty="0">
                  <a:sym typeface="Symbol" pitchFamily="18" charset="2"/>
                </a:rPr>
                <a:t>         4 </a:t>
              </a:r>
              <a:endParaRPr lang="en-US" altLang="zh-CN" sz="1400" dirty="0"/>
            </a:p>
          </p:txBody>
        </p:sp>
        <p:sp>
          <p:nvSpPr>
            <p:cNvPr id="47" name="Line 5"/>
            <p:cNvSpPr>
              <a:spLocks noChangeShapeType="1"/>
            </p:cNvSpPr>
            <p:nvPr/>
          </p:nvSpPr>
          <p:spPr bwMode="auto">
            <a:xfrm>
              <a:off x="1077" y="1932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48" name="Text Box 6"/>
            <p:cNvSpPr txBox="1">
              <a:spLocks noChangeArrowheads="1"/>
            </p:cNvSpPr>
            <p:nvPr/>
          </p:nvSpPr>
          <p:spPr bwMode="auto">
            <a:xfrm>
              <a:off x="1221" y="1930"/>
              <a:ext cx="461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dirty="0"/>
                <a:t>0.5140</a:t>
              </a:r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1338262" y="2263775"/>
            <a:ext cx="1600200" cy="628650"/>
            <a:chOff x="1200" y="2469"/>
            <a:chExt cx="1008" cy="396"/>
          </a:xfrm>
        </p:grpSpPr>
        <p:sp>
          <p:nvSpPr>
            <p:cNvPr id="50" name="Text Box 7"/>
            <p:cNvSpPr txBox="1">
              <a:spLocks noChangeArrowheads="1"/>
            </p:cNvSpPr>
            <p:nvPr/>
          </p:nvSpPr>
          <p:spPr bwMode="auto">
            <a:xfrm>
              <a:off x="1274" y="2469"/>
              <a:ext cx="522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dirty="0">
                  <a:sym typeface="Symbol" pitchFamily="18" charset="2"/>
                </a:rPr>
                <a:t>        </a:t>
              </a:r>
              <a:r>
                <a:rPr lang="en-US" altLang="zh-CN" sz="1400" dirty="0" smtClean="0">
                  <a:sym typeface="Symbol" pitchFamily="18" charset="2"/>
                </a:rPr>
                <a:t> 4</a:t>
              </a:r>
              <a:endParaRPr lang="en-US" altLang="zh-CN" sz="1400" dirty="0">
                <a:sym typeface="Symbol" pitchFamily="18" charset="2"/>
              </a:endParaRPr>
            </a:p>
          </p:txBody>
        </p:sp>
        <p:sp>
          <p:nvSpPr>
            <p:cNvPr id="51" name="Line 8"/>
            <p:cNvSpPr>
              <a:spLocks noChangeShapeType="1"/>
            </p:cNvSpPr>
            <p:nvPr/>
          </p:nvSpPr>
          <p:spPr bwMode="auto">
            <a:xfrm>
              <a:off x="1200" y="2640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52" name="Text Box 10"/>
            <p:cNvSpPr txBox="1">
              <a:spLocks noChangeArrowheads="1"/>
            </p:cNvSpPr>
            <p:nvPr/>
          </p:nvSpPr>
          <p:spPr bwMode="auto">
            <a:xfrm>
              <a:off x="1365" y="2671"/>
              <a:ext cx="461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dirty="0"/>
                <a:t>2.0560</a:t>
              </a:r>
            </a:p>
          </p:txBody>
        </p: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1219200" y="2813050"/>
            <a:ext cx="1600200" cy="596900"/>
            <a:chOff x="1200" y="2431"/>
            <a:chExt cx="1008" cy="376"/>
          </a:xfrm>
        </p:grpSpPr>
        <p:sp>
          <p:nvSpPr>
            <p:cNvPr id="54" name="Text Box 13"/>
            <p:cNvSpPr txBox="1">
              <a:spLocks noChangeArrowheads="1"/>
            </p:cNvSpPr>
            <p:nvPr/>
          </p:nvSpPr>
          <p:spPr bwMode="auto">
            <a:xfrm>
              <a:off x="1286" y="2431"/>
              <a:ext cx="585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dirty="0" smtClean="0">
                  <a:sym typeface="Symbol" pitchFamily="18" charset="2"/>
                </a:rPr>
                <a:t>           4</a:t>
              </a:r>
              <a:endParaRPr lang="en-US" altLang="zh-CN" sz="1400" dirty="0">
                <a:sym typeface="Symbol" pitchFamily="18" charset="2"/>
              </a:endParaRPr>
            </a:p>
          </p:txBody>
        </p:sp>
        <p:sp>
          <p:nvSpPr>
            <p:cNvPr id="55" name="Line 14"/>
            <p:cNvSpPr>
              <a:spLocks noChangeShapeType="1"/>
            </p:cNvSpPr>
            <p:nvPr/>
          </p:nvSpPr>
          <p:spPr bwMode="auto">
            <a:xfrm>
              <a:off x="1200" y="2615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56" name="Text Box 15"/>
            <p:cNvSpPr txBox="1">
              <a:spLocks noChangeArrowheads="1"/>
            </p:cNvSpPr>
            <p:nvPr/>
          </p:nvSpPr>
          <p:spPr bwMode="auto">
            <a:xfrm>
              <a:off x="1440" y="2613"/>
              <a:ext cx="461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dirty="0"/>
                <a:t>0.2240</a:t>
              </a:r>
            </a:p>
          </p:txBody>
        </p:sp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1219200" y="3333750"/>
            <a:ext cx="1600200" cy="612775"/>
            <a:chOff x="1200" y="2337"/>
            <a:chExt cx="1008" cy="386"/>
          </a:xfrm>
        </p:grpSpPr>
        <p:sp>
          <p:nvSpPr>
            <p:cNvPr id="58" name="Text Box 17"/>
            <p:cNvSpPr txBox="1">
              <a:spLocks noChangeArrowheads="1"/>
            </p:cNvSpPr>
            <p:nvPr/>
          </p:nvSpPr>
          <p:spPr bwMode="auto">
            <a:xfrm>
              <a:off x="1286" y="2337"/>
              <a:ext cx="55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dirty="0" smtClean="0">
                  <a:sym typeface="Symbol" pitchFamily="18" charset="2"/>
                </a:rPr>
                <a:t>          4</a:t>
              </a:r>
              <a:endParaRPr lang="en-US" altLang="zh-CN" sz="1400" dirty="0">
                <a:sym typeface="Symbol" pitchFamily="18" charset="2"/>
              </a:endParaRPr>
            </a:p>
          </p:txBody>
        </p:sp>
        <p:sp>
          <p:nvSpPr>
            <p:cNvPr id="59" name="Line 18"/>
            <p:cNvSpPr>
              <a:spLocks noChangeShapeType="1"/>
            </p:cNvSpPr>
            <p:nvPr/>
          </p:nvSpPr>
          <p:spPr bwMode="auto">
            <a:xfrm>
              <a:off x="1200" y="2546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60" name="Text Box 19"/>
            <p:cNvSpPr txBox="1">
              <a:spLocks noChangeArrowheads="1"/>
            </p:cNvSpPr>
            <p:nvPr/>
          </p:nvSpPr>
          <p:spPr bwMode="auto">
            <a:xfrm>
              <a:off x="1440" y="2529"/>
              <a:ext cx="461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dirty="0"/>
                <a:t>0.8960</a:t>
              </a:r>
            </a:p>
          </p:txBody>
        </p:sp>
      </p:grpSp>
      <p:grpSp>
        <p:nvGrpSpPr>
          <p:cNvPr id="8" name="Group 20"/>
          <p:cNvGrpSpPr>
            <a:grpSpLocks/>
          </p:cNvGrpSpPr>
          <p:nvPr/>
        </p:nvGrpSpPr>
        <p:grpSpPr bwMode="auto">
          <a:xfrm>
            <a:off x="1338262" y="3867150"/>
            <a:ext cx="1600200" cy="688975"/>
            <a:chOff x="1200" y="2193"/>
            <a:chExt cx="1008" cy="434"/>
          </a:xfrm>
        </p:grpSpPr>
        <p:sp>
          <p:nvSpPr>
            <p:cNvPr id="62" name="Text Box 21"/>
            <p:cNvSpPr txBox="1">
              <a:spLocks noChangeArrowheads="1"/>
            </p:cNvSpPr>
            <p:nvPr/>
          </p:nvSpPr>
          <p:spPr bwMode="auto">
            <a:xfrm>
              <a:off x="1286" y="2193"/>
              <a:ext cx="491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dirty="0">
                  <a:sym typeface="Symbol" pitchFamily="18" charset="2"/>
                </a:rPr>
                <a:t>       </a:t>
              </a:r>
              <a:r>
                <a:rPr lang="en-US" altLang="zh-CN" sz="1400" dirty="0" smtClean="0">
                  <a:sym typeface="Symbol" pitchFamily="18" charset="2"/>
                </a:rPr>
                <a:t> </a:t>
              </a:r>
              <a:r>
                <a:rPr lang="en-US" altLang="zh-CN" sz="1400" dirty="0">
                  <a:sym typeface="Symbol" pitchFamily="18" charset="2"/>
                </a:rPr>
                <a:t>4</a:t>
              </a:r>
            </a:p>
          </p:txBody>
        </p:sp>
        <p:sp>
          <p:nvSpPr>
            <p:cNvPr id="63" name="Line 22"/>
            <p:cNvSpPr>
              <a:spLocks noChangeShapeType="1"/>
            </p:cNvSpPr>
            <p:nvPr/>
          </p:nvSpPr>
          <p:spPr bwMode="auto">
            <a:xfrm>
              <a:off x="1200" y="2402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64" name="Text Box 23"/>
            <p:cNvSpPr txBox="1">
              <a:spLocks noChangeArrowheads="1"/>
            </p:cNvSpPr>
            <p:nvPr/>
          </p:nvSpPr>
          <p:spPr bwMode="auto">
            <a:xfrm>
              <a:off x="1365" y="2433"/>
              <a:ext cx="461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dirty="0"/>
                <a:t>3.5840</a:t>
              </a:r>
            </a:p>
          </p:txBody>
        </p:sp>
      </p:grpSp>
      <p:grpSp>
        <p:nvGrpSpPr>
          <p:cNvPr id="9" name="Group 37"/>
          <p:cNvGrpSpPr>
            <a:grpSpLocks/>
          </p:cNvGrpSpPr>
          <p:nvPr/>
        </p:nvGrpSpPr>
        <p:grpSpPr bwMode="auto">
          <a:xfrm>
            <a:off x="3395665" y="1625600"/>
            <a:ext cx="544513" cy="644525"/>
            <a:chOff x="2352" y="1776"/>
            <a:chExt cx="343" cy="406"/>
          </a:xfrm>
        </p:grpSpPr>
        <p:sp>
          <p:nvSpPr>
            <p:cNvPr id="66" name="Text Box 24"/>
            <p:cNvSpPr txBox="1">
              <a:spLocks noChangeArrowheads="1"/>
            </p:cNvSpPr>
            <p:nvPr/>
          </p:nvSpPr>
          <p:spPr bwMode="auto">
            <a:xfrm>
              <a:off x="2352" y="1776"/>
              <a:ext cx="343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400" dirty="0">
                  <a:ea typeface="黑体" pitchFamily="49" charset="-122"/>
                </a:rPr>
                <a:t>整数</a:t>
              </a:r>
            </a:p>
          </p:txBody>
        </p:sp>
        <p:sp>
          <p:nvSpPr>
            <p:cNvPr id="67" name="Text Box 25"/>
            <p:cNvSpPr txBox="1">
              <a:spLocks noChangeArrowheads="1"/>
            </p:cNvSpPr>
            <p:nvPr/>
          </p:nvSpPr>
          <p:spPr bwMode="auto">
            <a:xfrm>
              <a:off x="2421" y="1988"/>
              <a:ext cx="179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dirty="0"/>
                <a:t>0</a:t>
              </a:r>
            </a:p>
          </p:txBody>
        </p:sp>
      </p:grpSp>
      <p:sp>
        <p:nvSpPr>
          <p:cNvPr id="68" name="Text Box 26"/>
          <p:cNvSpPr txBox="1">
            <a:spLocks noChangeArrowheads="1"/>
          </p:cNvSpPr>
          <p:nvPr/>
        </p:nvSpPr>
        <p:spPr bwMode="auto">
          <a:xfrm>
            <a:off x="3429000" y="2495550"/>
            <a:ext cx="4572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 sz="1400" dirty="0" smtClean="0"/>
              <a:t>  2</a:t>
            </a:r>
            <a:endParaRPr lang="en-US" altLang="zh-CN" sz="1400" dirty="0"/>
          </a:p>
        </p:txBody>
      </p:sp>
      <p:sp>
        <p:nvSpPr>
          <p:cNvPr id="69" name="Text Box 27"/>
          <p:cNvSpPr txBox="1">
            <a:spLocks noChangeArrowheads="1"/>
          </p:cNvSpPr>
          <p:nvPr/>
        </p:nvSpPr>
        <p:spPr bwMode="auto">
          <a:xfrm>
            <a:off x="3505200" y="3028950"/>
            <a:ext cx="28405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1400" dirty="0"/>
              <a:t>0</a:t>
            </a:r>
          </a:p>
        </p:txBody>
      </p:sp>
      <p:sp>
        <p:nvSpPr>
          <p:cNvPr id="70" name="Text Box 28"/>
          <p:cNvSpPr txBox="1">
            <a:spLocks noChangeArrowheads="1"/>
          </p:cNvSpPr>
          <p:nvPr/>
        </p:nvSpPr>
        <p:spPr bwMode="auto">
          <a:xfrm>
            <a:off x="3505200" y="3635573"/>
            <a:ext cx="28405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1400" dirty="0"/>
              <a:t>0</a:t>
            </a:r>
          </a:p>
        </p:txBody>
      </p:sp>
      <p:sp>
        <p:nvSpPr>
          <p:cNvPr id="71" name="Text Box 29"/>
          <p:cNvSpPr txBox="1">
            <a:spLocks noChangeArrowheads="1"/>
          </p:cNvSpPr>
          <p:nvPr/>
        </p:nvSpPr>
        <p:spPr bwMode="auto">
          <a:xfrm>
            <a:off x="3505200" y="4245173"/>
            <a:ext cx="28405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1400" dirty="0"/>
              <a:t>3</a:t>
            </a:r>
          </a:p>
        </p:txBody>
      </p:sp>
      <p:grpSp>
        <p:nvGrpSpPr>
          <p:cNvPr id="10" name="Group 38"/>
          <p:cNvGrpSpPr>
            <a:grpSpLocks/>
          </p:cNvGrpSpPr>
          <p:nvPr/>
        </p:nvGrpSpPr>
        <p:grpSpPr bwMode="auto">
          <a:xfrm>
            <a:off x="4310062" y="1625600"/>
            <a:ext cx="1082675" cy="2930525"/>
            <a:chOff x="2928" y="1776"/>
            <a:chExt cx="682" cy="1846"/>
          </a:xfrm>
        </p:grpSpPr>
        <p:sp>
          <p:nvSpPr>
            <p:cNvPr id="73" name="Text Box 30"/>
            <p:cNvSpPr txBox="1">
              <a:spLocks noChangeArrowheads="1"/>
            </p:cNvSpPr>
            <p:nvPr/>
          </p:nvSpPr>
          <p:spPr bwMode="auto">
            <a:xfrm>
              <a:off x="2928" y="1776"/>
              <a:ext cx="682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400">
                  <a:latin typeface="黑体" pitchFamily="49" charset="-122"/>
                  <a:ea typeface="黑体" pitchFamily="49" charset="-122"/>
                </a:rPr>
                <a:t>转成</a:t>
              </a:r>
              <a:r>
                <a:rPr lang="en-US" altLang="zh-CN" sz="1400">
                  <a:latin typeface="黑体" pitchFamily="49" charset="-122"/>
                  <a:ea typeface="黑体" pitchFamily="49" charset="-122"/>
                </a:rPr>
                <a:t>10</a:t>
              </a:r>
              <a:r>
                <a:rPr lang="zh-CN" altLang="en-US" sz="1400">
                  <a:latin typeface="黑体" pitchFamily="49" charset="-122"/>
                  <a:ea typeface="黑体" pitchFamily="49" charset="-122"/>
                </a:rPr>
                <a:t>整数</a:t>
              </a:r>
            </a:p>
          </p:txBody>
        </p:sp>
        <p:sp>
          <p:nvSpPr>
            <p:cNvPr id="74" name="Text Box 31"/>
            <p:cNvSpPr txBox="1">
              <a:spLocks noChangeArrowheads="1"/>
            </p:cNvSpPr>
            <p:nvPr/>
          </p:nvSpPr>
          <p:spPr bwMode="auto">
            <a:xfrm>
              <a:off x="3189" y="1988"/>
              <a:ext cx="179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dirty="0"/>
                <a:t>0</a:t>
              </a:r>
            </a:p>
          </p:txBody>
        </p:sp>
        <p:sp>
          <p:nvSpPr>
            <p:cNvPr id="75" name="Text Box 32"/>
            <p:cNvSpPr txBox="1">
              <a:spLocks noChangeArrowheads="1"/>
            </p:cNvSpPr>
            <p:nvPr/>
          </p:nvSpPr>
          <p:spPr bwMode="auto">
            <a:xfrm>
              <a:off x="3141" y="2324"/>
              <a:ext cx="288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US" altLang="zh-CN" sz="1400" dirty="0" smtClean="0"/>
                <a:t>  2</a:t>
              </a:r>
              <a:endParaRPr lang="en-US" altLang="zh-CN" sz="1400" dirty="0"/>
            </a:p>
          </p:txBody>
        </p:sp>
        <p:sp>
          <p:nvSpPr>
            <p:cNvPr id="76" name="Text Box 33"/>
            <p:cNvSpPr txBox="1">
              <a:spLocks noChangeArrowheads="1"/>
            </p:cNvSpPr>
            <p:nvPr/>
          </p:nvSpPr>
          <p:spPr bwMode="auto">
            <a:xfrm>
              <a:off x="3141" y="2658"/>
              <a:ext cx="242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dirty="0" smtClean="0"/>
                <a:t>  0</a:t>
              </a:r>
              <a:endParaRPr lang="en-US" altLang="zh-CN" sz="1400" dirty="0"/>
            </a:p>
          </p:txBody>
        </p:sp>
        <p:sp>
          <p:nvSpPr>
            <p:cNvPr id="77" name="Text Box 34"/>
            <p:cNvSpPr txBox="1">
              <a:spLocks noChangeArrowheads="1"/>
            </p:cNvSpPr>
            <p:nvPr/>
          </p:nvSpPr>
          <p:spPr bwMode="auto">
            <a:xfrm>
              <a:off x="3189" y="3034"/>
              <a:ext cx="179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dirty="0"/>
                <a:t>0</a:t>
              </a:r>
            </a:p>
          </p:txBody>
        </p:sp>
        <p:sp>
          <p:nvSpPr>
            <p:cNvPr id="78" name="Text Box 35"/>
            <p:cNvSpPr txBox="1">
              <a:spLocks noChangeArrowheads="1"/>
            </p:cNvSpPr>
            <p:nvPr/>
          </p:nvSpPr>
          <p:spPr bwMode="auto">
            <a:xfrm>
              <a:off x="3189" y="3428"/>
              <a:ext cx="179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dirty="0"/>
                <a:t>3</a:t>
              </a:r>
            </a:p>
          </p:txBody>
        </p:sp>
      </p:grpSp>
      <p:sp>
        <p:nvSpPr>
          <p:cNvPr id="79" name="Text Box 39"/>
          <p:cNvSpPr txBox="1">
            <a:spLocks noChangeArrowheads="1"/>
          </p:cNvSpPr>
          <p:nvPr/>
        </p:nvSpPr>
        <p:spPr bwMode="auto">
          <a:xfrm>
            <a:off x="5791200" y="1962150"/>
            <a:ext cx="3157538" cy="931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结果：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</a:p>
          <a:p>
            <a:pPr algn="l">
              <a:spcBef>
                <a:spcPct val="25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 smtClean="0">
                <a:solidFill>
                  <a:srgbClr val="FF0000"/>
                </a:solidFill>
              </a:rPr>
              <a:t>0.1285)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10</a:t>
            </a:r>
            <a:r>
              <a:rPr lang="en-US" altLang="zh-CN" dirty="0" smtClean="0">
                <a:solidFill>
                  <a:srgbClr val="FF0000"/>
                </a:solidFill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sym typeface="Symbol" pitchFamily="18" charset="2"/>
              </a:rPr>
              <a:t> (</a:t>
            </a:r>
            <a:r>
              <a:rPr lang="en-US" altLang="zh-CN" dirty="0">
                <a:solidFill>
                  <a:srgbClr val="FF0000"/>
                </a:solidFill>
                <a:sym typeface="Symbol" pitchFamily="18" charset="2"/>
              </a:rPr>
              <a:t>0.02003)</a:t>
            </a:r>
            <a:r>
              <a:rPr lang="en-US" altLang="zh-CN" baseline="-25000" dirty="0">
                <a:solidFill>
                  <a:srgbClr val="FF0000"/>
                </a:solidFill>
                <a:sym typeface="Symbol" pitchFamily="18" charset="2"/>
              </a:rPr>
              <a:t>4</a:t>
            </a:r>
            <a:endParaRPr lang="en-US" altLang="zh-CN" baseline="-25000" dirty="0">
              <a:solidFill>
                <a:srgbClr val="FF0000"/>
              </a:solidFill>
            </a:endParaRPr>
          </a:p>
          <a:p>
            <a:pPr algn="l"/>
            <a:endParaRPr lang="en-US" altLang="zh-CN" sz="1400" dirty="0"/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utoUpdateAnimBg="0"/>
    </p:bldLst>
  </p:timing>
</p:sld>
</file>

<file path=ppt/theme/theme1.xml><?xml version="1.0" encoding="utf-8"?>
<a:theme xmlns:a="http://schemas.openxmlformats.org/drawingml/2006/main" name="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2D2D8A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3198</TotalTime>
  <Words>722</Words>
  <Application>Microsoft Office PowerPoint</Application>
  <PresentationFormat>全屏显示(16:9)</PresentationFormat>
  <Paragraphs>232</Paragraphs>
  <Slides>16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19" baseType="lpstr">
      <vt:lpstr>默认设计模板</vt:lpstr>
      <vt:lpstr>Visio</vt:lpstr>
      <vt:lpstr>Equation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zhaole</dc:creator>
  <cp:lastModifiedBy>NTKO</cp:lastModifiedBy>
  <cp:revision>361</cp:revision>
  <cp:lastPrinted>2113-01-01T00:00:00Z</cp:lastPrinted>
  <dcterms:created xsi:type="dcterms:W3CDTF">2113-01-01T00:00:00Z</dcterms:created>
  <dcterms:modified xsi:type="dcterms:W3CDTF">2021-01-15T02:28:39Z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2052-11.1.0.8696</vt:lpwstr>
  </property>
</Properties>
</file>