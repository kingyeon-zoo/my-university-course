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309" r:id="rId2"/>
    <p:sldId id="314" r:id="rId3"/>
    <p:sldId id="402" r:id="rId4"/>
    <p:sldId id="389" r:id="rId5"/>
    <p:sldId id="391" r:id="rId6"/>
    <p:sldId id="403" r:id="rId7"/>
    <p:sldId id="393" r:id="rId8"/>
    <p:sldId id="392" r:id="rId9"/>
    <p:sldId id="394" r:id="rId10"/>
    <p:sldId id="395" r:id="rId11"/>
    <p:sldId id="396" r:id="rId12"/>
    <p:sldId id="397" r:id="rId13"/>
    <p:sldId id="398" r:id="rId14"/>
    <p:sldId id="399" r:id="rId15"/>
    <p:sldId id="401" r:id="rId16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1341"/>
    <a:srgbClr val="6600CC"/>
    <a:srgbClr val="00FFFF"/>
    <a:srgbClr val="3333CC"/>
    <a:srgbClr val="2D2D8A"/>
    <a:srgbClr val="0000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0" autoAdjust="0"/>
    <p:restoredTop sz="81242" autoAdjust="0"/>
  </p:normalViewPr>
  <p:slideViewPr>
    <p:cSldViewPr>
      <p:cViewPr varScale="1">
        <p:scale>
          <a:sx n="115" d="100"/>
          <a:sy n="115" d="100"/>
        </p:scale>
        <p:origin x="-420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选通输出端 </a:t>
            </a:r>
            <a:r>
              <a:rPr lang="en-US" altLang="zh-CN" dirty="0" smtClean="0"/>
              <a:t>YS</a:t>
            </a:r>
            <a:r>
              <a:rPr lang="zh-CN" altLang="en-US" dirty="0" smtClean="0"/>
              <a:t>和扩展端 </a:t>
            </a:r>
            <a:r>
              <a:rPr lang="en-US" altLang="zh-CN" dirty="0" smtClean="0"/>
              <a:t>YEX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48513-AA6D-4F8A-B41C-3BE1F5014A0C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选通输出端 </a:t>
            </a:r>
            <a:r>
              <a:rPr lang="en-US" altLang="zh-CN" dirty="0" smtClean="0"/>
              <a:t>YS</a:t>
            </a:r>
            <a:r>
              <a:rPr lang="zh-CN" altLang="en-US" dirty="0" smtClean="0"/>
              <a:t>和扩展端 </a:t>
            </a:r>
            <a:r>
              <a:rPr lang="en-US" altLang="zh-CN" dirty="0" smtClean="0"/>
              <a:t>YEX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48513-AA6D-4F8A-B41C-3BE1F5014A0C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选通输出端 </a:t>
            </a:r>
            <a:r>
              <a:rPr lang="en-US" altLang="zh-CN" dirty="0" smtClean="0"/>
              <a:t>YS</a:t>
            </a:r>
            <a:r>
              <a:rPr lang="zh-CN" altLang="en-US" dirty="0" smtClean="0"/>
              <a:t>和扩展端 </a:t>
            </a:r>
            <a:r>
              <a:rPr lang="en-US" altLang="zh-CN" dirty="0" smtClean="0"/>
              <a:t>YEX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48513-AA6D-4F8A-B41C-3BE1F5014A0C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oleObject" Target="../embeddings/oleObject4.bin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8.bin"/><Relationship Id="rId5" Type="http://schemas.openxmlformats.org/officeDocument/2006/relationships/oleObject" Target="../embeddings/oleObject17.bin"/><Relationship Id="rId4" Type="http://schemas.openxmlformats.org/officeDocument/2006/relationships/oleObject" Target="../embeddings/oleObject16.bin"/><Relationship Id="rId9" Type="http://schemas.openxmlformats.org/officeDocument/2006/relationships/oleObject" Target="../embeddings/oleObject2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中规模组合逻辑标准构件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显示译码器：七段显示译码器</a:t>
            </a: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Box 72"/>
          <p:cNvSpPr txBox="1">
            <a:spLocks noChangeArrowheads="1"/>
          </p:cNvSpPr>
          <p:nvPr/>
        </p:nvSpPr>
        <p:spPr bwMode="auto">
          <a:xfrm>
            <a:off x="1219200" y="24193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1</a:t>
            </a:r>
            <a:endParaRPr lang="en-US" altLang="zh-CN" sz="1400" b="1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276350"/>
            <a:ext cx="2016125" cy="973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4" name="组合 123"/>
          <p:cNvGrpSpPr/>
          <p:nvPr/>
        </p:nvGrpSpPr>
        <p:grpSpPr>
          <a:xfrm>
            <a:off x="3048000" y="1200150"/>
            <a:ext cx="1152525" cy="1828800"/>
            <a:chOff x="3124200" y="438150"/>
            <a:chExt cx="1152525" cy="1828800"/>
          </a:xfrm>
        </p:grpSpPr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3505200" y="1809750"/>
              <a:ext cx="3238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3300"/>
                  </a:solidFill>
                  <a:latin typeface="黑体" pitchFamily="49" charset="-122"/>
                  <a:ea typeface="黑体" pitchFamily="49" charset="-122"/>
                </a:rPr>
                <a:t>d</a:t>
              </a:r>
            </a:p>
          </p:txBody>
        </p:sp>
        <p:grpSp>
          <p:nvGrpSpPr>
            <p:cNvPr id="123" name="组合 122"/>
            <p:cNvGrpSpPr/>
            <p:nvPr/>
          </p:nvGrpSpPr>
          <p:grpSpPr>
            <a:xfrm>
              <a:off x="3124200" y="438150"/>
              <a:ext cx="1152525" cy="1456814"/>
              <a:chOff x="2724150" y="711711"/>
              <a:chExt cx="1152525" cy="1456814"/>
            </a:xfrm>
          </p:grpSpPr>
          <p:grpSp>
            <p:nvGrpSpPr>
              <p:cNvPr id="9" name="Group 4"/>
              <p:cNvGrpSpPr>
                <a:grpSpLocks/>
              </p:cNvGrpSpPr>
              <p:nvPr/>
            </p:nvGrpSpPr>
            <p:grpSpPr bwMode="auto">
              <a:xfrm>
                <a:off x="3048000" y="1123950"/>
                <a:ext cx="541337" cy="1044575"/>
                <a:chOff x="589" y="2167"/>
                <a:chExt cx="341" cy="658"/>
              </a:xfrm>
            </p:grpSpPr>
            <p:sp>
              <p:nvSpPr>
                <p:cNvPr id="10" name="Line 5"/>
                <p:cNvSpPr>
                  <a:spLocks noChangeShapeType="1"/>
                </p:cNvSpPr>
                <p:nvPr/>
              </p:nvSpPr>
              <p:spPr bwMode="auto">
                <a:xfrm>
                  <a:off x="612" y="2167"/>
                  <a:ext cx="2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" name="Line 6"/>
                <p:cNvSpPr>
                  <a:spLocks noChangeShapeType="1"/>
                </p:cNvSpPr>
                <p:nvPr/>
              </p:nvSpPr>
              <p:spPr bwMode="auto">
                <a:xfrm>
                  <a:off x="612" y="2825"/>
                  <a:ext cx="2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" name="Line 7"/>
                <p:cNvSpPr>
                  <a:spLocks noChangeShapeType="1"/>
                </p:cNvSpPr>
                <p:nvPr/>
              </p:nvSpPr>
              <p:spPr bwMode="auto">
                <a:xfrm>
                  <a:off x="612" y="2507"/>
                  <a:ext cx="2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Line 8"/>
                <p:cNvSpPr>
                  <a:spLocks noChangeShapeType="1"/>
                </p:cNvSpPr>
                <p:nvPr/>
              </p:nvSpPr>
              <p:spPr bwMode="auto">
                <a:xfrm>
                  <a:off x="589" y="2213"/>
                  <a:ext cx="0" cy="24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" name="Line 9"/>
                <p:cNvSpPr>
                  <a:spLocks noChangeShapeType="1"/>
                </p:cNvSpPr>
                <p:nvPr/>
              </p:nvSpPr>
              <p:spPr bwMode="auto">
                <a:xfrm>
                  <a:off x="930" y="2213"/>
                  <a:ext cx="0" cy="24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" name="Line 10"/>
                <p:cNvSpPr>
                  <a:spLocks noChangeShapeType="1"/>
                </p:cNvSpPr>
                <p:nvPr/>
              </p:nvSpPr>
              <p:spPr bwMode="auto">
                <a:xfrm>
                  <a:off x="589" y="2530"/>
                  <a:ext cx="0" cy="24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" name="Line 11"/>
                <p:cNvSpPr>
                  <a:spLocks noChangeShapeType="1"/>
                </p:cNvSpPr>
                <p:nvPr/>
              </p:nvSpPr>
              <p:spPr bwMode="auto">
                <a:xfrm>
                  <a:off x="930" y="2553"/>
                  <a:ext cx="0" cy="24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" name="Text Box 13"/>
              <p:cNvSpPr txBox="1">
                <a:spLocks noChangeArrowheads="1"/>
              </p:cNvSpPr>
              <p:nvPr/>
            </p:nvSpPr>
            <p:spPr bwMode="auto">
              <a:xfrm>
                <a:off x="3127375" y="1177925"/>
                <a:ext cx="32385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solidFill>
                      <a:srgbClr val="FF3300"/>
                    </a:solidFill>
                    <a:latin typeface="黑体" pitchFamily="49" charset="-122"/>
                    <a:ea typeface="黑体" pitchFamily="49" charset="-122"/>
                  </a:rPr>
                  <a:t>g</a:t>
                </a:r>
              </a:p>
            </p:txBody>
          </p:sp>
          <p:sp>
            <p:nvSpPr>
              <p:cNvPr id="18" name="Text Box 14"/>
              <p:cNvSpPr txBox="1">
                <a:spLocks noChangeArrowheads="1"/>
              </p:cNvSpPr>
              <p:nvPr/>
            </p:nvSpPr>
            <p:spPr bwMode="auto">
              <a:xfrm>
                <a:off x="2733675" y="1171575"/>
                <a:ext cx="32385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solidFill>
                      <a:srgbClr val="FF3300"/>
                    </a:solidFill>
                    <a:latin typeface="黑体" pitchFamily="49" charset="-122"/>
                    <a:ea typeface="黑体" pitchFamily="49" charset="-122"/>
                  </a:rPr>
                  <a:t>f</a:t>
                </a:r>
              </a:p>
            </p:txBody>
          </p:sp>
          <p:sp>
            <p:nvSpPr>
              <p:cNvPr id="19" name="Text Box 15"/>
              <p:cNvSpPr txBox="1">
                <a:spLocks noChangeArrowheads="1"/>
              </p:cNvSpPr>
              <p:nvPr/>
            </p:nvSpPr>
            <p:spPr bwMode="auto">
              <a:xfrm>
                <a:off x="2724150" y="1700212"/>
                <a:ext cx="32385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rgbClr val="FF3300"/>
                    </a:solidFill>
                    <a:latin typeface="黑体" pitchFamily="49" charset="-122"/>
                    <a:ea typeface="黑体" pitchFamily="49" charset="-122"/>
                  </a:rPr>
                  <a:t>e</a:t>
                </a:r>
              </a:p>
            </p:txBody>
          </p:sp>
          <p:sp>
            <p:nvSpPr>
              <p:cNvPr id="21" name="Text Box 17"/>
              <p:cNvSpPr txBox="1">
                <a:spLocks noChangeArrowheads="1"/>
              </p:cNvSpPr>
              <p:nvPr/>
            </p:nvSpPr>
            <p:spPr bwMode="auto">
              <a:xfrm>
                <a:off x="3552825" y="1700212"/>
                <a:ext cx="32385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solidFill>
                      <a:srgbClr val="FF3300"/>
                    </a:solidFill>
                    <a:latin typeface="黑体" pitchFamily="49" charset="-122"/>
                    <a:ea typeface="黑体" pitchFamily="49" charset="-122"/>
                  </a:rPr>
                  <a:t>c</a:t>
                </a:r>
              </a:p>
            </p:txBody>
          </p:sp>
          <p:sp>
            <p:nvSpPr>
              <p:cNvPr id="22" name="Text Box 18"/>
              <p:cNvSpPr txBox="1">
                <a:spLocks noChangeArrowheads="1"/>
              </p:cNvSpPr>
              <p:nvPr/>
            </p:nvSpPr>
            <p:spPr bwMode="auto">
              <a:xfrm>
                <a:off x="3552825" y="1160462"/>
                <a:ext cx="32385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solidFill>
                      <a:srgbClr val="FF3300"/>
                    </a:solidFill>
                    <a:latin typeface="黑体" pitchFamily="49" charset="-122"/>
                    <a:ea typeface="黑体" pitchFamily="49" charset="-122"/>
                  </a:rPr>
                  <a:t>b</a:t>
                </a:r>
              </a:p>
            </p:txBody>
          </p:sp>
          <p:sp>
            <p:nvSpPr>
              <p:cNvPr id="120" name="Text Box 12"/>
              <p:cNvSpPr txBox="1">
                <a:spLocks noChangeArrowheads="1"/>
              </p:cNvSpPr>
              <p:nvPr/>
            </p:nvSpPr>
            <p:spPr bwMode="auto">
              <a:xfrm>
                <a:off x="3128962" y="711711"/>
                <a:ext cx="32385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rgbClr val="FF3300"/>
                    </a:solidFill>
                    <a:latin typeface="黑体" pitchFamily="49" charset="-122"/>
                    <a:ea typeface="黑体" pitchFamily="49" charset="-122"/>
                  </a:rPr>
                  <a:t>a</a:t>
                </a:r>
              </a:p>
            </p:txBody>
          </p:sp>
        </p:grpSp>
      </p:grpSp>
      <p:grpSp>
        <p:nvGrpSpPr>
          <p:cNvPr id="125" name="组合 124"/>
          <p:cNvGrpSpPr/>
          <p:nvPr/>
        </p:nvGrpSpPr>
        <p:grpSpPr>
          <a:xfrm>
            <a:off x="4419600" y="1581150"/>
            <a:ext cx="4502150" cy="611188"/>
            <a:chOff x="4495800" y="819150"/>
            <a:chExt cx="4502150" cy="611188"/>
          </a:xfrm>
        </p:grpSpPr>
        <p:grpSp>
          <p:nvGrpSpPr>
            <p:cNvPr id="23" name="Group 19"/>
            <p:cNvGrpSpPr>
              <a:grpSpLocks/>
            </p:cNvGrpSpPr>
            <p:nvPr/>
          </p:nvGrpSpPr>
          <p:grpSpPr bwMode="auto">
            <a:xfrm>
              <a:off x="4495800" y="819150"/>
              <a:ext cx="4502150" cy="611188"/>
              <a:chOff x="1440" y="2590"/>
              <a:chExt cx="2836" cy="385"/>
            </a:xfrm>
          </p:grpSpPr>
          <p:grpSp>
            <p:nvGrpSpPr>
              <p:cNvPr id="24" name="Group 20"/>
              <p:cNvGrpSpPr>
                <a:grpSpLocks/>
              </p:cNvGrpSpPr>
              <p:nvPr/>
            </p:nvGrpSpPr>
            <p:grpSpPr bwMode="auto">
              <a:xfrm>
                <a:off x="1440" y="2613"/>
                <a:ext cx="205" cy="362"/>
                <a:chOff x="1360" y="2047"/>
                <a:chExt cx="205" cy="362"/>
              </a:xfrm>
            </p:grpSpPr>
            <p:sp>
              <p:nvSpPr>
                <p:cNvPr id="77" name="Line 21"/>
                <p:cNvSpPr>
                  <a:spLocks noChangeShapeType="1"/>
                </p:cNvSpPr>
                <p:nvPr/>
              </p:nvSpPr>
              <p:spPr bwMode="auto">
                <a:xfrm>
                  <a:off x="1360" y="2047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" name="Line 22"/>
                <p:cNvSpPr>
                  <a:spLocks noChangeShapeType="1"/>
                </p:cNvSpPr>
                <p:nvPr/>
              </p:nvSpPr>
              <p:spPr bwMode="auto">
                <a:xfrm>
                  <a:off x="1360" y="2069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" name="Line 23"/>
                <p:cNvSpPr>
                  <a:spLocks noChangeShapeType="1"/>
                </p:cNvSpPr>
                <p:nvPr/>
              </p:nvSpPr>
              <p:spPr bwMode="auto">
                <a:xfrm>
                  <a:off x="1565" y="2069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" name="Line 24"/>
                <p:cNvSpPr>
                  <a:spLocks noChangeShapeType="1"/>
                </p:cNvSpPr>
                <p:nvPr/>
              </p:nvSpPr>
              <p:spPr bwMode="auto">
                <a:xfrm>
                  <a:off x="1360" y="2251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" name="Line 25"/>
                <p:cNvSpPr>
                  <a:spLocks noChangeShapeType="1"/>
                </p:cNvSpPr>
                <p:nvPr/>
              </p:nvSpPr>
              <p:spPr bwMode="auto">
                <a:xfrm>
                  <a:off x="1565" y="2251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" name="Line 26"/>
                <p:cNvSpPr>
                  <a:spLocks noChangeShapeType="1"/>
                </p:cNvSpPr>
                <p:nvPr/>
              </p:nvSpPr>
              <p:spPr bwMode="auto">
                <a:xfrm>
                  <a:off x="1360" y="2409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" name="Group 27"/>
              <p:cNvGrpSpPr>
                <a:grpSpLocks/>
              </p:cNvGrpSpPr>
              <p:nvPr/>
            </p:nvGrpSpPr>
            <p:grpSpPr bwMode="auto">
              <a:xfrm>
                <a:off x="1803" y="2635"/>
                <a:ext cx="0" cy="318"/>
                <a:chOff x="1723" y="2069"/>
                <a:chExt cx="0" cy="318"/>
              </a:xfrm>
            </p:grpSpPr>
            <p:sp>
              <p:nvSpPr>
                <p:cNvPr id="75" name="Line 28"/>
                <p:cNvSpPr>
                  <a:spLocks noChangeShapeType="1"/>
                </p:cNvSpPr>
                <p:nvPr/>
              </p:nvSpPr>
              <p:spPr bwMode="auto">
                <a:xfrm>
                  <a:off x="1723" y="2069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" name="Line 29"/>
                <p:cNvSpPr>
                  <a:spLocks noChangeShapeType="1"/>
                </p:cNvSpPr>
                <p:nvPr/>
              </p:nvSpPr>
              <p:spPr bwMode="auto">
                <a:xfrm>
                  <a:off x="1723" y="2251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Group 30"/>
              <p:cNvGrpSpPr>
                <a:grpSpLocks/>
              </p:cNvGrpSpPr>
              <p:nvPr/>
            </p:nvGrpSpPr>
            <p:grpSpPr bwMode="auto">
              <a:xfrm>
                <a:off x="1917" y="2613"/>
                <a:ext cx="204" cy="362"/>
                <a:chOff x="1837" y="2047"/>
                <a:chExt cx="204" cy="362"/>
              </a:xfrm>
            </p:grpSpPr>
            <p:sp>
              <p:nvSpPr>
                <p:cNvPr id="70" name="Line 31"/>
                <p:cNvSpPr>
                  <a:spLocks noChangeShapeType="1"/>
                </p:cNvSpPr>
                <p:nvPr/>
              </p:nvSpPr>
              <p:spPr bwMode="auto">
                <a:xfrm>
                  <a:off x="1837" y="2047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" name="Line 32"/>
                <p:cNvSpPr>
                  <a:spLocks noChangeShapeType="1"/>
                </p:cNvSpPr>
                <p:nvPr/>
              </p:nvSpPr>
              <p:spPr bwMode="auto">
                <a:xfrm>
                  <a:off x="2041" y="2069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" name="Line 33"/>
                <p:cNvSpPr>
                  <a:spLocks noChangeShapeType="1"/>
                </p:cNvSpPr>
                <p:nvPr/>
              </p:nvSpPr>
              <p:spPr bwMode="auto">
                <a:xfrm>
                  <a:off x="1837" y="2251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" name="Line 34"/>
                <p:cNvSpPr>
                  <a:spLocks noChangeShapeType="1"/>
                </p:cNvSpPr>
                <p:nvPr/>
              </p:nvSpPr>
              <p:spPr bwMode="auto">
                <a:xfrm>
                  <a:off x="1837" y="2409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" name="Line 35"/>
                <p:cNvSpPr>
                  <a:spLocks noChangeShapeType="1"/>
                </p:cNvSpPr>
                <p:nvPr/>
              </p:nvSpPr>
              <p:spPr bwMode="auto">
                <a:xfrm>
                  <a:off x="1837" y="2228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" name="Group 36"/>
              <p:cNvGrpSpPr>
                <a:grpSpLocks/>
              </p:cNvGrpSpPr>
              <p:nvPr/>
            </p:nvGrpSpPr>
            <p:grpSpPr bwMode="auto">
              <a:xfrm>
                <a:off x="2212" y="2613"/>
                <a:ext cx="204" cy="362"/>
                <a:chOff x="2200" y="2047"/>
                <a:chExt cx="204" cy="362"/>
              </a:xfrm>
            </p:grpSpPr>
            <p:sp>
              <p:nvSpPr>
                <p:cNvPr id="65" name="Line 37"/>
                <p:cNvSpPr>
                  <a:spLocks noChangeShapeType="1"/>
                </p:cNvSpPr>
                <p:nvPr/>
              </p:nvSpPr>
              <p:spPr bwMode="auto">
                <a:xfrm>
                  <a:off x="2200" y="2047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" name="Line 38"/>
                <p:cNvSpPr>
                  <a:spLocks noChangeShapeType="1"/>
                </p:cNvSpPr>
                <p:nvPr/>
              </p:nvSpPr>
              <p:spPr bwMode="auto">
                <a:xfrm>
                  <a:off x="2404" y="2069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" name="Line 39"/>
                <p:cNvSpPr>
                  <a:spLocks noChangeShapeType="1"/>
                </p:cNvSpPr>
                <p:nvPr/>
              </p:nvSpPr>
              <p:spPr bwMode="auto">
                <a:xfrm>
                  <a:off x="2404" y="2251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" name="Line 40"/>
                <p:cNvSpPr>
                  <a:spLocks noChangeShapeType="1"/>
                </p:cNvSpPr>
                <p:nvPr/>
              </p:nvSpPr>
              <p:spPr bwMode="auto">
                <a:xfrm>
                  <a:off x="2200" y="2409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" name="Line 41"/>
                <p:cNvSpPr>
                  <a:spLocks noChangeShapeType="1"/>
                </p:cNvSpPr>
                <p:nvPr/>
              </p:nvSpPr>
              <p:spPr bwMode="auto">
                <a:xfrm>
                  <a:off x="2200" y="2228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Group 42"/>
              <p:cNvGrpSpPr>
                <a:grpSpLocks/>
              </p:cNvGrpSpPr>
              <p:nvPr/>
            </p:nvGrpSpPr>
            <p:grpSpPr bwMode="auto">
              <a:xfrm>
                <a:off x="2529" y="2635"/>
                <a:ext cx="204" cy="318"/>
                <a:chOff x="2449" y="2069"/>
                <a:chExt cx="204" cy="318"/>
              </a:xfrm>
            </p:grpSpPr>
            <p:sp>
              <p:nvSpPr>
                <p:cNvPr id="61" name="Line 43"/>
                <p:cNvSpPr>
                  <a:spLocks noChangeShapeType="1"/>
                </p:cNvSpPr>
                <p:nvPr/>
              </p:nvSpPr>
              <p:spPr bwMode="auto">
                <a:xfrm>
                  <a:off x="2449" y="2069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" name="Line 44"/>
                <p:cNvSpPr>
                  <a:spLocks noChangeShapeType="1"/>
                </p:cNvSpPr>
                <p:nvPr/>
              </p:nvSpPr>
              <p:spPr bwMode="auto">
                <a:xfrm>
                  <a:off x="2653" y="2251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" name="Line 45"/>
                <p:cNvSpPr>
                  <a:spLocks noChangeShapeType="1"/>
                </p:cNvSpPr>
                <p:nvPr/>
              </p:nvSpPr>
              <p:spPr bwMode="auto">
                <a:xfrm>
                  <a:off x="2449" y="2228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" name="Line 46"/>
                <p:cNvSpPr>
                  <a:spLocks noChangeShapeType="1"/>
                </p:cNvSpPr>
                <p:nvPr/>
              </p:nvSpPr>
              <p:spPr bwMode="auto">
                <a:xfrm>
                  <a:off x="2653" y="2069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Group 47"/>
              <p:cNvGrpSpPr>
                <a:grpSpLocks/>
              </p:cNvGrpSpPr>
              <p:nvPr/>
            </p:nvGrpSpPr>
            <p:grpSpPr bwMode="auto">
              <a:xfrm>
                <a:off x="2823" y="2613"/>
                <a:ext cx="204" cy="362"/>
                <a:chOff x="1360" y="2523"/>
                <a:chExt cx="204" cy="362"/>
              </a:xfrm>
            </p:grpSpPr>
            <p:sp>
              <p:nvSpPr>
                <p:cNvPr id="56" name="Line 48"/>
                <p:cNvSpPr>
                  <a:spLocks noChangeShapeType="1"/>
                </p:cNvSpPr>
                <p:nvPr/>
              </p:nvSpPr>
              <p:spPr bwMode="auto">
                <a:xfrm>
                  <a:off x="1360" y="2523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" name="Line 49"/>
                <p:cNvSpPr>
                  <a:spLocks noChangeShapeType="1"/>
                </p:cNvSpPr>
                <p:nvPr/>
              </p:nvSpPr>
              <p:spPr bwMode="auto">
                <a:xfrm>
                  <a:off x="1360" y="2545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" name="Line 50"/>
                <p:cNvSpPr>
                  <a:spLocks noChangeShapeType="1"/>
                </p:cNvSpPr>
                <p:nvPr/>
              </p:nvSpPr>
              <p:spPr bwMode="auto">
                <a:xfrm>
                  <a:off x="1564" y="2727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" name="Line 51"/>
                <p:cNvSpPr>
                  <a:spLocks noChangeShapeType="1"/>
                </p:cNvSpPr>
                <p:nvPr/>
              </p:nvSpPr>
              <p:spPr bwMode="auto">
                <a:xfrm>
                  <a:off x="1360" y="2885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" name="Line 52"/>
                <p:cNvSpPr>
                  <a:spLocks noChangeShapeType="1"/>
                </p:cNvSpPr>
                <p:nvPr/>
              </p:nvSpPr>
              <p:spPr bwMode="auto">
                <a:xfrm>
                  <a:off x="1360" y="2704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Group 53"/>
              <p:cNvGrpSpPr>
                <a:grpSpLocks/>
              </p:cNvGrpSpPr>
              <p:nvPr/>
            </p:nvGrpSpPr>
            <p:grpSpPr bwMode="auto">
              <a:xfrm>
                <a:off x="3118" y="2613"/>
                <a:ext cx="204" cy="362"/>
                <a:chOff x="1655" y="2523"/>
                <a:chExt cx="204" cy="362"/>
              </a:xfrm>
            </p:grpSpPr>
            <p:sp>
              <p:nvSpPr>
                <p:cNvPr id="50" name="Line 54"/>
                <p:cNvSpPr>
                  <a:spLocks noChangeShapeType="1"/>
                </p:cNvSpPr>
                <p:nvPr/>
              </p:nvSpPr>
              <p:spPr bwMode="auto">
                <a:xfrm>
                  <a:off x="1655" y="2523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Line 55"/>
                <p:cNvSpPr>
                  <a:spLocks noChangeShapeType="1"/>
                </p:cNvSpPr>
                <p:nvPr/>
              </p:nvSpPr>
              <p:spPr bwMode="auto">
                <a:xfrm>
                  <a:off x="1655" y="2545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Line 56"/>
                <p:cNvSpPr>
                  <a:spLocks noChangeShapeType="1"/>
                </p:cNvSpPr>
                <p:nvPr/>
              </p:nvSpPr>
              <p:spPr bwMode="auto">
                <a:xfrm>
                  <a:off x="1655" y="2727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" name="Line 57"/>
                <p:cNvSpPr>
                  <a:spLocks noChangeShapeType="1"/>
                </p:cNvSpPr>
                <p:nvPr/>
              </p:nvSpPr>
              <p:spPr bwMode="auto">
                <a:xfrm>
                  <a:off x="1655" y="2885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" name="Line 58"/>
                <p:cNvSpPr>
                  <a:spLocks noChangeShapeType="1"/>
                </p:cNvSpPr>
                <p:nvPr/>
              </p:nvSpPr>
              <p:spPr bwMode="auto">
                <a:xfrm>
                  <a:off x="1655" y="2704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" name="Line 59"/>
                <p:cNvSpPr>
                  <a:spLocks noChangeShapeType="1"/>
                </p:cNvSpPr>
                <p:nvPr/>
              </p:nvSpPr>
              <p:spPr bwMode="auto">
                <a:xfrm>
                  <a:off x="1859" y="2727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Group 60"/>
              <p:cNvGrpSpPr>
                <a:grpSpLocks/>
              </p:cNvGrpSpPr>
              <p:nvPr/>
            </p:nvGrpSpPr>
            <p:grpSpPr bwMode="auto">
              <a:xfrm>
                <a:off x="3413" y="2613"/>
                <a:ext cx="205" cy="340"/>
                <a:chOff x="1950" y="2523"/>
                <a:chExt cx="205" cy="340"/>
              </a:xfrm>
            </p:grpSpPr>
            <p:sp>
              <p:nvSpPr>
                <p:cNvPr id="47" name="Line 61"/>
                <p:cNvSpPr>
                  <a:spLocks noChangeShapeType="1"/>
                </p:cNvSpPr>
                <p:nvPr/>
              </p:nvSpPr>
              <p:spPr bwMode="auto">
                <a:xfrm>
                  <a:off x="1950" y="2523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Line 62"/>
                <p:cNvSpPr>
                  <a:spLocks noChangeShapeType="1"/>
                </p:cNvSpPr>
                <p:nvPr/>
              </p:nvSpPr>
              <p:spPr bwMode="auto">
                <a:xfrm>
                  <a:off x="2155" y="2545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" name="Line 63"/>
                <p:cNvSpPr>
                  <a:spLocks noChangeShapeType="1"/>
                </p:cNvSpPr>
                <p:nvPr/>
              </p:nvSpPr>
              <p:spPr bwMode="auto">
                <a:xfrm>
                  <a:off x="2155" y="2727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Group 64"/>
              <p:cNvGrpSpPr>
                <a:grpSpLocks/>
              </p:cNvGrpSpPr>
              <p:nvPr/>
            </p:nvGrpSpPr>
            <p:grpSpPr bwMode="auto">
              <a:xfrm>
                <a:off x="3776" y="2590"/>
                <a:ext cx="205" cy="362"/>
                <a:chOff x="2313" y="2500"/>
                <a:chExt cx="205" cy="362"/>
              </a:xfrm>
            </p:grpSpPr>
            <p:sp>
              <p:nvSpPr>
                <p:cNvPr id="40" name="Line 65"/>
                <p:cNvSpPr>
                  <a:spLocks noChangeShapeType="1"/>
                </p:cNvSpPr>
                <p:nvPr/>
              </p:nvSpPr>
              <p:spPr bwMode="auto">
                <a:xfrm>
                  <a:off x="2313" y="2500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" name="Line 66"/>
                <p:cNvSpPr>
                  <a:spLocks noChangeShapeType="1"/>
                </p:cNvSpPr>
                <p:nvPr/>
              </p:nvSpPr>
              <p:spPr bwMode="auto">
                <a:xfrm>
                  <a:off x="2313" y="2522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67"/>
                <p:cNvSpPr>
                  <a:spLocks noChangeShapeType="1"/>
                </p:cNvSpPr>
                <p:nvPr/>
              </p:nvSpPr>
              <p:spPr bwMode="auto">
                <a:xfrm>
                  <a:off x="2518" y="2522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Line 68"/>
                <p:cNvSpPr>
                  <a:spLocks noChangeShapeType="1"/>
                </p:cNvSpPr>
                <p:nvPr/>
              </p:nvSpPr>
              <p:spPr bwMode="auto">
                <a:xfrm>
                  <a:off x="2313" y="2704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Line 69"/>
                <p:cNvSpPr>
                  <a:spLocks noChangeShapeType="1"/>
                </p:cNvSpPr>
                <p:nvPr/>
              </p:nvSpPr>
              <p:spPr bwMode="auto">
                <a:xfrm>
                  <a:off x="2518" y="2704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" name="Line 70"/>
                <p:cNvSpPr>
                  <a:spLocks noChangeShapeType="1"/>
                </p:cNvSpPr>
                <p:nvPr/>
              </p:nvSpPr>
              <p:spPr bwMode="auto">
                <a:xfrm>
                  <a:off x="2313" y="2862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" name="Line 71"/>
                <p:cNvSpPr>
                  <a:spLocks noChangeShapeType="1"/>
                </p:cNvSpPr>
                <p:nvPr/>
              </p:nvSpPr>
              <p:spPr bwMode="auto">
                <a:xfrm>
                  <a:off x="2335" y="2682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" name="Group 72"/>
              <p:cNvGrpSpPr>
                <a:grpSpLocks/>
              </p:cNvGrpSpPr>
              <p:nvPr/>
            </p:nvGrpSpPr>
            <p:grpSpPr bwMode="auto">
              <a:xfrm>
                <a:off x="4071" y="2590"/>
                <a:ext cx="205" cy="340"/>
                <a:chOff x="3991" y="2438"/>
                <a:chExt cx="205" cy="340"/>
              </a:xfrm>
            </p:grpSpPr>
            <p:sp>
              <p:nvSpPr>
                <p:cNvPr id="35" name="Line 73"/>
                <p:cNvSpPr>
                  <a:spLocks noChangeShapeType="1"/>
                </p:cNvSpPr>
                <p:nvPr/>
              </p:nvSpPr>
              <p:spPr bwMode="auto">
                <a:xfrm>
                  <a:off x="3991" y="2438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" name="Line 74"/>
                <p:cNvSpPr>
                  <a:spLocks noChangeShapeType="1"/>
                </p:cNvSpPr>
                <p:nvPr/>
              </p:nvSpPr>
              <p:spPr bwMode="auto">
                <a:xfrm>
                  <a:off x="3991" y="2460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Line 75"/>
                <p:cNvSpPr>
                  <a:spLocks noChangeShapeType="1"/>
                </p:cNvSpPr>
                <p:nvPr/>
              </p:nvSpPr>
              <p:spPr bwMode="auto">
                <a:xfrm>
                  <a:off x="4196" y="2460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Line 76"/>
                <p:cNvSpPr>
                  <a:spLocks noChangeShapeType="1"/>
                </p:cNvSpPr>
                <p:nvPr/>
              </p:nvSpPr>
              <p:spPr bwMode="auto">
                <a:xfrm>
                  <a:off x="4196" y="2642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77"/>
                <p:cNvSpPr>
                  <a:spLocks noChangeShapeType="1"/>
                </p:cNvSpPr>
                <p:nvPr/>
              </p:nvSpPr>
              <p:spPr bwMode="auto">
                <a:xfrm>
                  <a:off x="4013" y="2620"/>
                  <a:ext cx="18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21" name="Line 70"/>
            <p:cNvSpPr>
              <a:spLocks noChangeShapeType="1"/>
            </p:cNvSpPr>
            <p:nvPr/>
          </p:nvSpPr>
          <p:spPr bwMode="auto">
            <a:xfrm>
              <a:off x="8679243" y="1360107"/>
              <a:ext cx="2889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2" name="Text Box 79"/>
          <p:cNvSpPr txBox="1">
            <a:spLocks noChangeArrowheads="1"/>
          </p:cNvSpPr>
          <p:nvPr/>
        </p:nvSpPr>
        <p:spPr bwMode="auto">
          <a:xfrm>
            <a:off x="0" y="2803327"/>
            <a:ext cx="54864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>
                <a:latin typeface="华文中宋" pitchFamily="2" charset="-122"/>
                <a:ea typeface="华文中宋" pitchFamily="2" charset="-122"/>
              </a:rPr>
              <a:t>半导体发光二极管</a:t>
            </a:r>
            <a:r>
              <a:rPr lang="en-US" altLang="zh-CN" sz="1400" b="1" dirty="0">
                <a:latin typeface="Century" pitchFamily="18" charset="0"/>
                <a:ea typeface="黑体" pitchFamily="49" charset="-122"/>
              </a:rPr>
              <a:t>(</a:t>
            </a:r>
            <a:r>
              <a:rPr lang="en-US" altLang="zh-CN" sz="1400" b="1" dirty="0">
                <a:ea typeface="黑体" pitchFamily="49" charset="-122"/>
              </a:rPr>
              <a:t>LED</a:t>
            </a:r>
            <a:r>
              <a:rPr lang="zh-CN" altLang="en-US" sz="1400" b="1" dirty="0">
                <a:latin typeface="华文中宋" pitchFamily="2" charset="-122"/>
                <a:ea typeface="华文中宋" pitchFamily="2" charset="-122"/>
              </a:rPr>
              <a:t>数码管</a:t>
            </a:r>
            <a:r>
              <a:rPr lang="en-US" altLang="zh-CN" sz="1400" b="1" dirty="0">
                <a:latin typeface="Century" pitchFamily="18" charset="0"/>
                <a:ea typeface="黑体" pitchFamily="49" charset="-122"/>
              </a:rPr>
              <a:t>)</a:t>
            </a:r>
          </a:p>
        </p:txBody>
      </p:sp>
      <p:sp>
        <p:nvSpPr>
          <p:cNvPr id="126" name="Text Box 72"/>
          <p:cNvSpPr txBox="1">
            <a:spLocks noChangeArrowheads="1"/>
          </p:cNvSpPr>
          <p:nvPr/>
        </p:nvSpPr>
        <p:spPr bwMode="auto">
          <a:xfrm>
            <a:off x="5410200" y="24955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2</a:t>
            </a:r>
            <a:endParaRPr lang="en-US" altLang="zh-CN" sz="1400" b="1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1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显示译码器：七段显示译码器</a:t>
            </a: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Text Box 72"/>
          <p:cNvSpPr txBox="1">
            <a:spLocks noChangeArrowheads="1"/>
          </p:cNvSpPr>
          <p:nvPr/>
        </p:nvSpPr>
        <p:spPr bwMode="auto">
          <a:xfrm>
            <a:off x="1969422" y="37147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 图 </a:t>
            </a:r>
            <a:r>
              <a:rPr lang="en-US" altLang="zh-CN" sz="1400" b="1" dirty="0" smtClean="0"/>
              <a:t>3</a:t>
            </a:r>
            <a:endParaRPr lang="en-US" altLang="zh-CN" sz="1400" b="1" dirty="0"/>
          </a:p>
        </p:txBody>
      </p:sp>
      <p:grpSp>
        <p:nvGrpSpPr>
          <p:cNvPr id="179" name="组合 178"/>
          <p:cNvGrpSpPr/>
          <p:nvPr/>
        </p:nvGrpSpPr>
        <p:grpSpPr>
          <a:xfrm>
            <a:off x="914400" y="895350"/>
            <a:ext cx="3545346" cy="2743199"/>
            <a:chOff x="1764378" y="1123950"/>
            <a:chExt cx="3545346" cy="2743199"/>
          </a:xfrm>
        </p:grpSpPr>
        <p:grpSp>
          <p:nvGrpSpPr>
            <p:cNvPr id="123" name="Group 3"/>
            <p:cNvGrpSpPr>
              <a:grpSpLocks/>
            </p:cNvGrpSpPr>
            <p:nvPr/>
          </p:nvGrpSpPr>
          <p:grpSpPr bwMode="auto">
            <a:xfrm>
              <a:off x="1764378" y="1307265"/>
              <a:ext cx="2057086" cy="2559884"/>
              <a:chOff x="588" y="550"/>
              <a:chExt cx="1232" cy="1043"/>
            </a:xfrm>
          </p:grpSpPr>
          <p:sp>
            <p:nvSpPr>
              <p:cNvPr id="124" name="Rectangle 4"/>
              <p:cNvSpPr>
                <a:spLocks noChangeArrowheads="1"/>
              </p:cNvSpPr>
              <p:nvPr/>
            </p:nvSpPr>
            <p:spPr bwMode="auto">
              <a:xfrm>
                <a:off x="1026" y="550"/>
                <a:ext cx="794" cy="104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125" name="Text Box 5"/>
              <p:cNvSpPr txBox="1">
                <a:spLocks noChangeArrowheads="1"/>
              </p:cNvSpPr>
              <p:nvPr/>
            </p:nvSpPr>
            <p:spPr bwMode="auto">
              <a:xfrm>
                <a:off x="1259" y="631"/>
                <a:ext cx="554" cy="91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400" b="1" dirty="0" smtClean="0">
                    <a:ea typeface="黑体" pitchFamily="49" charset="-122"/>
                  </a:rPr>
                  <a:t>七</a:t>
                </a:r>
                <a:endParaRPr lang="en-US" altLang="zh-CN" sz="1400" b="1" dirty="0" smtClean="0">
                  <a:ea typeface="黑体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400" b="1" dirty="0" smtClean="0">
                    <a:ea typeface="黑体" pitchFamily="49" charset="-122"/>
                  </a:rPr>
                  <a:t>段</a:t>
                </a:r>
                <a:endParaRPr lang="en-US" altLang="zh-CN" sz="1400" b="1" dirty="0" smtClean="0">
                  <a:ea typeface="黑体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400" b="1" dirty="0" smtClean="0">
                    <a:ea typeface="黑体" pitchFamily="49" charset="-122"/>
                  </a:rPr>
                  <a:t>显</a:t>
                </a:r>
                <a:endParaRPr lang="en-US" altLang="zh-CN" sz="1400" b="1" dirty="0" smtClean="0">
                  <a:ea typeface="黑体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400" b="1" dirty="0" smtClean="0">
                    <a:ea typeface="黑体" pitchFamily="49" charset="-122"/>
                  </a:rPr>
                  <a:t>示</a:t>
                </a:r>
                <a:endParaRPr lang="en-US" altLang="zh-CN" sz="1400" b="1" dirty="0" smtClean="0">
                  <a:ea typeface="黑体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400" b="1" dirty="0" smtClean="0">
                    <a:ea typeface="黑体" pitchFamily="49" charset="-122"/>
                  </a:rPr>
                  <a:t>译 </a:t>
                </a:r>
                <a:endParaRPr lang="en-US" altLang="zh-CN" sz="1400" b="1" dirty="0" smtClean="0">
                  <a:ea typeface="黑体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400" b="1" dirty="0" smtClean="0">
                    <a:ea typeface="黑体" pitchFamily="49" charset="-122"/>
                  </a:rPr>
                  <a:t>码</a:t>
                </a:r>
                <a:endParaRPr lang="en-US" altLang="zh-CN" sz="1400" b="1" dirty="0" smtClean="0">
                  <a:ea typeface="黑体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400" b="1" dirty="0" smtClean="0">
                    <a:ea typeface="黑体" pitchFamily="49" charset="-122"/>
                  </a:rPr>
                  <a:t>器</a:t>
                </a:r>
                <a:endParaRPr lang="zh-CN" altLang="en-US" sz="1400" b="1" dirty="0">
                  <a:ea typeface="黑体" pitchFamily="49" charset="-122"/>
                </a:endParaRPr>
              </a:p>
            </p:txBody>
          </p:sp>
          <p:sp>
            <p:nvSpPr>
              <p:cNvPr id="128" name="Line 6"/>
              <p:cNvSpPr>
                <a:spLocks noChangeShapeType="1"/>
              </p:cNvSpPr>
              <p:nvPr/>
            </p:nvSpPr>
            <p:spPr bwMode="auto">
              <a:xfrm>
                <a:off x="799" y="731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29" name="Line 7"/>
              <p:cNvSpPr>
                <a:spLocks noChangeShapeType="1"/>
              </p:cNvSpPr>
              <p:nvPr/>
            </p:nvSpPr>
            <p:spPr bwMode="auto">
              <a:xfrm>
                <a:off x="799" y="957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30" name="Line 8"/>
              <p:cNvSpPr>
                <a:spLocks noChangeShapeType="1"/>
              </p:cNvSpPr>
              <p:nvPr/>
            </p:nvSpPr>
            <p:spPr bwMode="auto">
              <a:xfrm>
                <a:off x="798" y="1162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31" name="Line 9"/>
              <p:cNvSpPr>
                <a:spLocks noChangeShapeType="1"/>
              </p:cNvSpPr>
              <p:nvPr/>
            </p:nvSpPr>
            <p:spPr bwMode="auto">
              <a:xfrm>
                <a:off x="799" y="1366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39" name="Text Box 17"/>
              <p:cNvSpPr txBox="1">
                <a:spLocks noChangeArrowheads="1"/>
              </p:cNvSpPr>
              <p:nvPr/>
            </p:nvSpPr>
            <p:spPr bwMode="auto">
              <a:xfrm>
                <a:off x="588" y="902"/>
                <a:ext cx="364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/>
                  <a:t>A</a:t>
                </a:r>
                <a:r>
                  <a:rPr lang="en-US" altLang="zh-CN" sz="1400" b="1" baseline="-10000" dirty="0"/>
                  <a:t>2</a:t>
                </a:r>
              </a:p>
            </p:txBody>
          </p:sp>
          <p:sp>
            <p:nvSpPr>
              <p:cNvPr id="140" name="Text Box 18"/>
              <p:cNvSpPr txBox="1">
                <a:spLocks noChangeArrowheads="1"/>
              </p:cNvSpPr>
              <p:nvPr/>
            </p:nvSpPr>
            <p:spPr bwMode="auto">
              <a:xfrm>
                <a:off x="589" y="652"/>
                <a:ext cx="364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/>
                  <a:t>A</a:t>
                </a:r>
                <a:r>
                  <a:rPr lang="en-US" altLang="zh-CN" sz="1400" b="1" baseline="-10000" dirty="0"/>
                  <a:t>3</a:t>
                </a:r>
              </a:p>
            </p:txBody>
          </p:sp>
          <p:sp>
            <p:nvSpPr>
              <p:cNvPr id="141" name="Text Box 19"/>
              <p:cNvSpPr txBox="1">
                <a:spLocks noChangeArrowheads="1"/>
              </p:cNvSpPr>
              <p:nvPr/>
            </p:nvSpPr>
            <p:spPr bwMode="auto">
              <a:xfrm>
                <a:off x="588" y="1099"/>
                <a:ext cx="364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/>
                  <a:t>A</a:t>
                </a:r>
                <a:r>
                  <a:rPr lang="en-US" altLang="zh-CN" sz="1400" b="1" baseline="-10000"/>
                  <a:t>1</a:t>
                </a:r>
              </a:p>
            </p:txBody>
          </p:sp>
          <p:sp>
            <p:nvSpPr>
              <p:cNvPr id="142" name="Text Box 20"/>
              <p:cNvSpPr txBox="1">
                <a:spLocks noChangeArrowheads="1"/>
              </p:cNvSpPr>
              <p:nvPr/>
            </p:nvSpPr>
            <p:spPr bwMode="auto">
              <a:xfrm>
                <a:off x="588" y="1307"/>
                <a:ext cx="364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/>
                  <a:t>A</a:t>
                </a:r>
                <a:r>
                  <a:rPr lang="en-US" altLang="zh-CN" sz="1400" b="1" baseline="-10000" dirty="0"/>
                  <a:t>0</a:t>
                </a:r>
              </a:p>
            </p:txBody>
          </p:sp>
        </p:grpSp>
        <p:grpSp>
          <p:nvGrpSpPr>
            <p:cNvPr id="178" name="组合 177"/>
            <p:cNvGrpSpPr/>
            <p:nvPr/>
          </p:nvGrpSpPr>
          <p:grpSpPr>
            <a:xfrm>
              <a:off x="3809999" y="1123950"/>
              <a:ext cx="1499725" cy="2699368"/>
              <a:chOff x="3943620" y="481982"/>
              <a:chExt cx="1923416" cy="3385168"/>
            </a:xfrm>
          </p:grpSpPr>
          <p:grpSp>
            <p:nvGrpSpPr>
              <p:cNvPr id="165" name="组合 164"/>
              <p:cNvGrpSpPr/>
              <p:nvPr/>
            </p:nvGrpSpPr>
            <p:grpSpPr>
              <a:xfrm>
                <a:off x="3943622" y="3527529"/>
                <a:ext cx="1429025" cy="339621"/>
                <a:chOff x="3943622" y="3603729"/>
                <a:chExt cx="1429025" cy="339621"/>
              </a:xfrm>
            </p:grpSpPr>
            <p:sp>
              <p:nvSpPr>
                <p:cNvPr id="87" name="Line 83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829494" y="3773540"/>
                  <a:ext cx="3396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88" name="AutoShape 84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4798960" y="3666623"/>
                  <a:ext cx="176100" cy="201255"/>
                </a:xfrm>
                <a:prstGeom prst="flowChartExtra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89" name="Line 85"/>
                <p:cNvSpPr>
                  <a:spLocks noChangeShapeType="1"/>
                </p:cNvSpPr>
                <p:nvPr/>
              </p:nvSpPr>
              <p:spPr bwMode="auto">
                <a:xfrm rot="16200000">
                  <a:off x="5185976" y="3580579"/>
                  <a:ext cx="0" cy="37334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90" name="Line 86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365003" y="3345870"/>
                  <a:ext cx="0" cy="84276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  <p:grpSp>
            <p:nvGrpSpPr>
              <p:cNvPr id="150" name="组合 149"/>
              <p:cNvGrpSpPr/>
              <p:nvPr/>
            </p:nvGrpSpPr>
            <p:grpSpPr>
              <a:xfrm>
                <a:off x="3943624" y="3086436"/>
                <a:ext cx="1429023" cy="339621"/>
                <a:chOff x="3943624" y="3086436"/>
                <a:chExt cx="1429023" cy="339621"/>
              </a:xfrm>
            </p:grpSpPr>
            <p:sp>
              <p:nvSpPr>
                <p:cNvPr id="92" name="Line 88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829494" y="3256247"/>
                  <a:ext cx="3396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93" name="AutoShape 89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4798960" y="3149330"/>
                  <a:ext cx="176100" cy="201255"/>
                </a:xfrm>
                <a:prstGeom prst="flowChartExtra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94" name="Line 90"/>
                <p:cNvSpPr>
                  <a:spLocks noChangeShapeType="1"/>
                </p:cNvSpPr>
                <p:nvPr/>
              </p:nvSpPr>
              <p:spPr bwMode="auto">
                <a:xfrm rot="16200000">
                  <a:off x="5185976" y="3063286"/>
                  <a:ext cx="0" cy="37334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95" name="Line 91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365003" y="2828580"/>
                  <a:ext cx="0" cy="84275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  <p:grpSp>
            <p:nvGrpSpPr>
              <p:cNvPr id="163" name="组合 162"/>
              <p:cNvGrpSpPr/>
              <p:nvPr/>
            </p:nvGrpSpPr>
            <p:grpSpPr>
              <a:xfrm>
                <a:off x="3943622" y="1698729"/>
                <a:ext cx="1443243" cy="339621"/>
                <a:chOff x="3929404" y="1550279"/>
                <a:chExt cx="1443243" cy="339621"/>
              </a:xfrm>
            </p:grpSpPr>
            <p:sp>
              <p:nvSpPr>
                <p:cNvPr id="97" name="Line 93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829494" y="1720090"/>
                  <a:ext cx="3396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98" name="AutoShape 94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4798960" y="1613173"/>
                  <a:ext cx="176100" cy="201255"/>
                </a:xfrm>
                <a:prstGeom prst="flowChartExtra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99" name="Line 95"/>
                <p:cNvSpPr>
                  <a:spLocks noChangeShapeType="1"/>
                </p:cNvSpPr>
                <p:nvPr/>
              </p:nvSpPr>
              <p:spPr bwMode="auto">
                <a:xfrm rot="16200000">
                  <a:off x="5185976" y="1527129"/>
                  <a:ext cx="0" cy="37334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100" name="Line 96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357893" y="1285311"/>
                  <a:ext cx="0" cy="85697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  <p:grpSp>
            <p:nvGrpSpPr>
              <p:cNvPr id="164" name="组合 163"/>
              <p:cNvGrpSpPr/>
              <p:nvPr/>
            </p:nvGrpSpPr>
            <p:grpSpPr>
              <a:xfrm>
                <a:off x="3943620" y="1241529"/>
                <a:ext cx="1413197" cy="339621"/>
                <a:chOff x="3946325" y="1058143"/>
                <a:chExt cx="1413197" cy="339621"/>
              </a:xfrm>
            </p:grpSpPr>
            <p:sp>
              <p:nvSpPr>
                <p:cNvPr id="102" name="Line 98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816369" y="1227954"/>
                  <a:ext cx="3396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103" name="AutoShape 99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4785835" y="1121037"/>
                  <a:ext cx="176100" cy="201255"/>
                </a:xfrm>
                <a:prstGeom prst="flowChartExtra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104" name="Line 100"/>
                <p:cNvSpPr>
                  <a:spLocks noChangeShapeType="1"/>
                </p:cNvSpPr>
                <p:nvPr/>
              </p:nvSpPr>
              <p:spPr bwMode="auto">
                <a:xfrm rot="16200000">
                  <a:off x="5172851" y="1034993"/>
                  <a:ext cx="0" cy="37334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105" name="Line 101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359791" y="808200"/>
                  <a:ext cx="0" cy="82693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  <p:sp>
            <p:nvSpPr>
              <p:cNvPr id="107" name="Line 103"/>
              <p:cNvSpPr>
                <a:spLocks noChangeShapeType="1"/>
              </p:cNvSpPr>
              <p:nvPr/>
            </p:nvSpPr>
            <p:spPr bwMode="auto">
              <a:xfrm rot="16200000">
                <a:off x="3962948" y="2305049"/>
                <a:ext cx="28194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108" name="Line 104"/>
              <p:cNvSpPr>
                <a:spLocks noChangeShapeType="1"/>
              </p:cNvSpPr>
              <p:nvPr/>
            </p:nvSpPr>
            <p:spPr bwMode="auto">
              <a:xfrm rot="16200000">
                <a:off x="5531611" y="2377412"/>
                <a:ext cx="0" cy="36459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109" name="Text Box 105"/>
              <p:cNvSpPr txBox="1">
                <a:spLocks noChangeArrowheads="1"/>
              </p:cNvSpPr>
              <p:nvPr/>
            </p:nvSpPr>
            <p:spPr bwMode="auto">
              <a:xfrm rot="16200000">
                <a:off x="4884034" y="2126416"/>
                <a:ext cx="907229" cy="434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>
                    <a:latin typeface="宋体" charset="-122"/>
                  </a:rPr>
                  <a:t>·</a:t>
                </a:r>
              </a:p>
            </p:txBody>
          </p:sp>
          <p:sp>
            <p:nvSpPr>
              <p:cNvPr id="114" name="Text Box 110"/>
              <p:cNvSpPr txBox="1">
                <a:spLocks noChangeArrowheads="1"/>
              </p:cNvSpPr>
              <p:nvPr/>
            </p:nvSpPr>
            <p:spPr bwMode="auto">
              <a:xfrm>
                <a:off x="4203138" y="481982"/>
                <a:ext cx="603771" cy="4245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 dirty="0" smtClean="0"/>
                  <a:t>g</a:t>
                </a:r>
                <a:endParaRPr lang="en-US" altLang="zh-CN" sz="1600" b="1" dirty="0"/>
              </a:p>
            </p:txBody>
          </p:sp>
          <p:grpSp>
            <p:nvGrpSpPr>
              <p:cNvPr id="3" name="Group 111"/>
              <p:cNvGrpSpPr>
                <a:grpSpLocks/>
              </p:cNvGrpSpPr>
              <p:nvPr/>
            </p:nvGrpSpPr>
            <p:grpSpPr bwMode="auto">
              <a:xfrm rot="16200000">
                <a:off x="5640087" y="2493136"/>
                <a:ext cx="306602" cy="147296"/>
                <a:chOff x="2841" y="3675"/>
                <a:chExt cx="195" cy="101"/>
              </a:xfrm>
            </p:grpSpPr>
            <p:sp>
              <p:nvSpPr>
                <p:cNvPr id="116" name="Line 112"/>
                <p:cNvSpPr>
                  <a:spLocks noChangeShapeType="1"/>
                </p:cNvSpPr>
                <p:nvPr/>
              </p:nvSpPr>
              <p:spPr bwMode="auto">
                <a:xfrm>
                  <a:off x="2841" y="3675"/>
                  <a:ext cx="1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117" name="Line 113"/>
                <p:cNvSpPr>
                  <a:spLocks noChangeShapeType="1"/>
                </p:cNvSpPr>
                <p:nvPr/>
              </p:nvSpPr>
              <p:spPr bwMode="auto">
                <a:xfrm>
                  <a:off x="2891" y="3723"/>
                  <a:ext cx="10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118" name="Line 114"/>
                <p:cNvSpPr>
                  <a:spLocks noChangeShapeType="1"/>
                </p:cNvSpPr>
                <p:nvPr/>
              </p:nvSpPr>
              <p:spPr bwMode="auto">
                <a:xfrm>
                  <a:off x="2913" y="3776"/>
                  <a:ext cx="5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  <p:grpSp>
            <p:nvGrpSpPr>
              <p:cNvPr id="151" name="组合 150"/>
              <p:cNvGrpSpPr/>
              <p:nvPr/>
            </p:nvGrpSpPr>
            <p:grpSpPr>
              <a:xfrm>
                <a:off x="3943623" y="2635138"/>
                <a:ext cx="1413993" cy="339621"/>
                <a:chOff x="3958654" y="3086436"/>
                <a:chExt cx="1413993" cy="339621"/>
              </a:xfrm>
            </p:grpSpPr>
            <p:sp>
              <p:nvSpPr>
                <p:cNvPr id="152" name="Line 88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829494" y="3256247"/>
                  <a:ext cx="3396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153" name="AutoShape 89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4798960" y="3149330"/>
                  <a:ext cx="176100" cy="201255"/>
                </a:xfrm>
                <a:prstGeom prst="flowChartExtra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154" name="Line 90"/>
                <p:cNvSpPr>
                  <a:spLocks noChangeShapeType="1"/>
                </p:cNvSpPr>
                <p:nvPr/>
              </p:nvSpPr>
              <p:spPr bwMode="auto">
                <a:xfrm rot="16200000">
                  <a:off x="5185976" y="3063286"/>
                  <a:ext cx="0" cy="37334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155" name="Line 91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372518" y="2836094"/>
                  <a:ext cx="0" cy="82772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  <p:grpSp>
            <p:nvGrpSpPr>
              <p:cNvPr id="157" name="组合 156"/>
              <p:cNvGrpSpPr/>
              <p:nvPr/>
            </p:nvGrpSpPr>
            <p:grpSpPr>
              <a:xfrm>
                <a:off x="3943623" y="2190750"/>
                <a:ext cx="1433549" cy="339621"/>
                <a:chOff x="3939098" y="3086436"/>
                <a:chExt cx="1433549" cy="339621"/>
              </a:xfrm>
            </p:grpSpPr>
            <p:sp>
              <p:nvSpPr>
                <p:cNvPr id="158" name="Line 88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829494" y="3256247"/>
                  <a:ext cx="3396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159" name="AutoShape 89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4798960" y="3149330"/>
                  <a:ext cx="176100" cy="201255"/>
                </a:xfrm>
                <a:prstGeom prst="flowChartExtra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160" name="Line 90"/>
                <p:cNvSpPr>
                  <a:spLocks noChangeShapeType="1"/>
                </p:cNvSpPr>
                <p:nvPr/>
              </p:nvSpPr>
              <p:spPr bwMode="auto">
                <a:xfrm rot="16200000">
                  <a:off x="5185976" y="3063286"/>
                  <a:ext cx="0" cy="37334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161" name="Line 91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362740" y="2826316"/>
                  <a:ext cx="0" cy="8472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  <p:grpSp>
            <p:nvGrpSpPr>
              <p:cNvPr id="166" name="组合 165"/>
              <p:cNvGrpSpPr/>
              <p:nvPr/>
            </p:nvGrpSpPr>
            <p:grpSpPr>
              <a:xfrm>
                <a:off x="3943620" y="759134"/>
                <a:ext cx="1440845" cy="339621"/>
                <a:chOff x="3918677" y="1058143"/>
                <a:chExt cx="1440845" cy="339621"/>
              </a:xfrm>
            </p:grpSpPr>
            <p:sp>
              <p:nvSpPr>
                <p:cNvPr id="167" name="Line 98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816369" y="1227954"/>
                  <a:ext cx="3396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168" name="AutoShape 99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4785835" y="1121037"/>
                  <a:ext cx="176100" cy="201255"/>
                </a:xfrm>
                <a:prstGeom prst="flowChartExtra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169" name="Line 100"/>
                <p:cNvSpPr>
                  <a:spLocks noChangeShapeType="1"/>
                </p:cNvSpPr>
                <p:nvPr/>
              </p:nvSpPr>
              <p:spPr bwMode="auto">
                <a:xfrm rot="16200000">
                  <a:off x="5172851" y="1034993"/>
                  <a:ext cx="0" cy="37334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170" name="Line 101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345967" y="794376"/>
                  <a:ext cx="0" cy="85457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  <p:sp>
            <p:nvSpPr>
              <p:cNvPr id="172" name="Text Box 110"/>
              <p:cNvSpPr txBox="1">
                <a:spLocks noChangeArrowheads="1"/>
              </p:cNvSpPr>
              <p:nvPr/>
            </p:nvSpPr>
            <p:spPr bwMode="auto">
              <a:xfrm>
                <a:off x="4203138" y="959779"/>
                <a:ext cx="603771" cy="4245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 dirty="0" smtClean="0"/>
                  <a:t>f</a:t>
                </a:r>
                <a:endParaRPr lang="en-US" altLang="zh-CN" sz="1600" b="1" dirty="0"/>
              </a:p>
            </p:txBody>
          </p:sp>
          <p:sp>
            <p:nvSpPr>
              <p:cNvPr id="173" name="Text Box 110"/>
              <p:cNvSpPr txBox="1">
                <a:spLocks noChangeArrowheads="1"/>
              </p:cNvSpPr>
              <p:nvPr/>
            </p:nvSpPr>
            <p:spPr bwMode="auto">
              <a:xfrm>
                <a:off x="4203138" y="3348762"/>
                <a:ext cx="603771" cy="4245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 dirty="0" smtClean="0"/>
                  <a:t>a</a:t>
                </a:r>
                <a:endParaRPr lang="en-US" altLang="zh-CN" sz="1600" b="1" dirty="0"/>
              </a:p>
            </p:txBody>
          </p:sp>
          <p:sp>
            <p:nvSpPr>
              <p:cNvPr id="174" name="Text Box 110"/>
              <p:cNvSpPr txBox="1">
                <a:spLocks noChangeArrowheads="1"/>
              </p:cNvSpPr>
              <p:nvPr/>
            </p:nvSpPr>
            <p:spPr bwMode="auto">
              <a:xfrm>
                <a:off x="4203138" y="2870965"/>
                <a:ext cx="603771" cy="4245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 dirty="0" smtClean="0"/>
                  <a:t>b</a:t>
                </a:r>
                <a:endParaRPr lang="en-US" altLang="zh-CN" sz="1600" b="1" dirty="0"/>
              </a:p>
            </p:txBody>
          </p:sp>
          <p:sp>
            <p:nvSpPr>
              <p:cNvPr id="175" name="Text Box 110"/>
              <p:cNvSpPr txBox="1">
                <a:spLocks noChangeArrowheads="1"/>
              </p:cNvSpPr>
              <p:nvPr/>
            </p:nvSpPr>
            <p:spPr bwMode="auto">
              <a:xfrm>
                <a:off x="4203138" y="2393169"/>
                <a:ext cx="603771" cy="4245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 dirty="0" smtClean="0"/>
                  <a:t>c</a:t>
                </a:r>
                <a:endParaRPr lang="en-US" altLang="zh-CN" sz="1600" b="1" dirty="0"/>
              </a:p>
            </p:txBody>
          </p:sp>
          <p:sp>
            <p:nvSpPr>
              <p:cNvPr id="176" name="Text Box 110"/>
              <p:cNvSpPr txBox="1">
                <a:spLocks noChangeArrowheads="1"/>
              </p:cNvSpPr>
              <p:nvPr/>
            </p:nvSpPr>
            <p:spPr bwMode="auto">
              <a:xfrm>
                <a:off x="4203138" y="1915372"/>
                <a:ext cx="603771" cy="4245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 dirty="0" smtClean="0"/>
                  <a:t>d</a:t>
                </a:r>
                <a:endParaRPr lang="en-US" altLang="zh-CN" sz="1600" b="1" dirty="0"/>
              </a:p>
            </p:txBody>
          </p:sp>
          <p:sp>
            <p:nvSpPr>
              <p:cNvPr id="177" name="Text Box 110"/>
              <p:cNvSpPr txBox="1">
                <a:spLocks noChangeArrowheads="1"/>
              </p:cNvSpPr>
              <p:nvPr/>
            </p:nvSpPr>
            <p:spPr bwMode="auto">
              <a:xfrm>
                <a:off x="4203138" y="1437575"/>
                <a:ext cx="603771" cy="4245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 dirty="0" smtClean="0"/>
                  <a:t>e</a:t>
                </a:r>
                <a:endParaRPr lang="en-US" altLang="zh-CN" sz="1600" b="1" dirty="0"/>
              </a:p>
            </p:txBody>
          </p:sp>
        </p:grpSp>
      </p:grpSp>
      <p:sp>
        <p:nvSpPr>
          <p:cNvPr id="180" name="Text Box 32"/>
          <p:cNvSpPr txBox="1">
            <a:spLocks noChangeArrowheads="1"/>
          </p:cNvSpPr>
          <p:nvPr/>
        </p:nvSpPr>
        <p:spPr bwMode="auto">
          <a:xfrm>
            <a:off x="5105400" y="2114550"/>
            <a:ext cx="426878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(4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线译码器，部分译码器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七段显示译码器：</a:t>
            </a: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171450" y="1047750"/>
            <a:ext cx="89725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例：显示数字</a:t>
            </a:r>
            <a:r>
              <a:rPr lang="zh-CN" altLang="en-US" sz="1400" b="1" dirty="0">
                <a:solidFill>
                  <a:srgbClr val="333399"/>
                </a:solidFill>
                <a:ea typeface="黑体" pitchFamily="49" charset="-122"/>
              </a:rPr>
              <a:t>“</a:t>
            </a:r>
            <a:r>
              <a:rPr lang="en-US" altLang="zh-CN" sz="1400" b="1" dirty="0">
                <a:solidFill>
                  <a:srgbClr val="333399"/>
                </a:solidFill>
                <a:ea typeface="黑体" pitchFamily="49" charset="-122"/>
              </a:rPr>
              <a:t>0”</a:t>
            </a:r>
            <a:r>
              <a:rPr lang="zh-CN" altLang="en-US" sz="1400" b="1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。</a:t>
            </a:r>
            <a:endParaRPr lang="en-US" altLang="zh-CN" sz="14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9" name="Text Box 3"/>
          <p:cNvSpPr txBox="1">
            <a:spLocks noChangeArrowheads="1"/>
          </p:cNvSpPr>
          <p:nvPr/>
        </p:nvSpPr>
        <p:spPr bwMode="auto">
          <a:xfrm>
            <a:off x="4343400" y="1123950"/>
            <a:ext cx="323056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b="1" dirty="0" smtClean="0"/>
              <a:t> A</a:t>
            </a:r>
            <a:r>
              <a:rPr lang="en-US" altLang="zh-CN" sz="1400" b="1" baseline="-5000" dirty="0" smtClean="0"/>
              <a:t>3</a:t>
            </a:r>
            <a:r>
              <a:rPr lang="en-US" altLang="zh-CN" sz="1400" b="1" dirty="0" smtClean="0"/>
              <a:t> </a:t>
            </a:r>
            <a:r>
              <a:rPr lang="en-US" altLang="zh-CN" sz="1400" b="1" dirty="0"/>
              <a:t>A</a:t>
            </a:r>
            <a:r>
              <a:rPr lang="en-US" altLang="zh-CN" sz="1400" b="1" baseline="-5000" dirty="0"/>
              <a:t>2</a:t>
            </a:r>
            <a:r>
              <a:rPr lang="en-US" altLang="zh-CN" sz="1400" b="1" dirty="0"/>
              <a:t> A</a:t>
            </a:r>
            <a:r>
              <a:rPr lang="en-US" altLang="zh-CN" sz="1400" b="1" baseline="-5000" dirty="0"/>
              <a:t>1</a:t>
            </a:r>
            <a:r>
              <a:rPr lang="en-US" altLang="zh-CN" sz="1400" b="1" dirty="0"/>
              <a:t> A</a:t>
            </a:r>
            <a:r>
              <a:rPr lang="en-US" altLang="zh-CN" sz="1400" b="1" baseline="-5000" dirty="0"/>
              <a:t>0</a:t>
            </a:r>
            <a:r>
              <a:rPr lang="en-US" altLang="zh-CN" sz="1400" b="1" dirty="0"/>
              <a:t>=0000</a:t>
            </a:r>
          </a:p>
        </p:txBody>
      </p:sp>
      <p:sp>
        <p:nvSpPr>
          <p:cNvPr id="40" name="Text Box 4"/>
          <p:cNvSpPr txBox="1">
            <a:spLocks noChangeArrowheads="1"/>
          </p:cNvSpPr>
          <p:nvPr/>
        </p:nvSpPr>
        <p:spPr bwMode="auto">
          <a:xfrm>
            <a:off x="4191000" y="1962150"/>
            <a:ext cx="28702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b="1" dirty="0" smtClean="0"/>
              <a:t>    a</a:t>
            </a:r>
            <a:r>
              <a:rPr lang="zh-CN" altLang="en-US" sz="1400" b="1" dirty="0" smtClean="0"/>
              <a:t>～</a:t>
            </a:r>
            <a:r>
              <a:rPr lang="en-US" altLang="zh-CN" sz="1400" b="1" dirty="0" smtClean="0"/>
              <a:t>f=1</a:t>
            </a:r>
            <a:r>
              <a:rPr lang="zh-CN" altLang="en-US" sz="1400" b="1" dirty="0"/>
              <a:t>，</a:t>
            </a:r>
            <a:r>
              <a:rPr lang="en-US" altLang="zh-CN" sz="1400" b="1" dirty="0" err="1"/>
              <a:t>Y</a:t>
            </a:r>
            <a:r>
              <a:rPr lang="en-US" altLang="zh-CN" sz="1400" b="1" baseline="-5000" dirty="0" err="1"/>
              <a:t>g</a:t>
            </a:r>
            <a:r>
              <a:rPr lang="en-US" altLang="zh-CN" sz="1400" b="1" dirty="0"/>
              <a:t>=0</a:t>
            </a:r>
            <a:endParaRPr lang="en-US" altLang="zh-CN" sz="1400" dirty="0"/>
          </a:p>
        </p:txBody>
      </p:sp>
      <p:grpSp>
        <p:nvGrpSpPr>
          <p:cNvPr id="42" name="Group 6"/>
          <p:cNvGrpSpPr>
            <a:grpSpLocks/>
          </p:cNvGrpSpPr>
          <p:nvPr/>
        </p:nvGrpSpPr>
        <p:grpSpPr bwMode="auto">
          <a:xfrm>
            <a:off x="3962400" y="2952750"/>
            <a:ext cx="4178300" cy="323850"/>
            <a:chOff x="768" y="2371"/>
            <a:chExt cx="2632" cy="204"/>
          </a:xfrm>
        </p:grpSpPr>
        <p:grpSp>
          <p:nvGrpSpPr>
            <p:cNvPr id="43" name="Group 7"/>
            <p:cNvGrpSpPr>
              <a:grpSpLocks/>
            </p:cNvGrpSpPr>
            <p:nvPr/>
          </p:nvGrpSpPr>
          <p:grpSpPr bwMode="auto">
            <a:xfrm>
              <a:off x="1104" y="2371"/>
              <a:ext cx="126" cy="204"/>
              <a:chOff x="535" y="1154"/>
              <a:chExt cx="205" cy="362"/>
            </a:xfrm>
          </p:grpSpPr>
          <p:sp>
            <p:nvSpPr>
              <p:cNvPr id="45" name="Line 8"/>
              <p:cNvSpPr>
                <a:spLocks noChangeShapeType="1"/>
              </p:cNvSpPr>
              <p:nvPr/>
            </p:nvSpPr>
            <p:spPr bwMode="auto">
              <a:xfrm>
                <a:off x="535" y="1154"/>
                <a:ext cx="182" cy="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" name="Line 9"/>
              <p:cNvSpPr>
                <a:spLocks noChangeShapeType="1"/>
              </p:cNvSpPr>
              <p:nvPr/>
            </p:nvSpPr>
            <p:spPr bwMode="auto">
              <a:xfrm>
                <a:off x="535" y="1176"/>
                <a:ext cx="0" cy="136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7" name="Line 10"/>
              <p:cNvSpPr>
                <a:spLocks noChangeShapeType="1"/>
              </p:cNvSpPr>
              <p:nvPr/>
            </p:nvSpPr>
            <p:spPr bwMode="auto">
              <a:xfrm>
                <a:off x="740" y="1176"/>
                <a:ext cx="0" cy="136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8" name="Line 11"/>
              <p:cNvSpPr>
                <a:spLocks noChangeShapeType="1"/>
              </p:cNvSpPr>
              <p:nvPr/>
            </p:nvSpPr>
            <p:spPr bwMode="auto">
              <a:xfrm>
                <a:off x="535" y="1358"/>
                <a:ext cx="0" cy="136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9" name="Line 12"/>
              <p:cNvSpPr>
                <a:spLocks noChangeShapeType="1"/>
              </p:cNvSpPr>
              <p:nvPr/>
            </p:nvSpPr>
            <p:spPr bwMode="auto">
              <a:xfrm>
                <a:off x="740" y="1358"/>
                <a:ext cx="0" cy="136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50" name="Line 13"/>
              <p:cNvSpPr>
                <a:spLocks noChangeShapeType="1"/>
              </p:cNvSpPr>
              <p:nvPr/>
            </p:nvSpPr>
            <p:spPr bwMode="auto">
              <a:xfrm>
                <a:off x="535" y="1516"/>
                <a:ext cx="182" cy="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</p:grpSp>
        <p:sp>
          <p:nvSpPr>
            <p:cNvPr id="44" name="Text Box 14"/>
            <p:cNvSpPr txBox="1">
              <a:spLocks noChangeArrowheads="1"/>
            </p:cNvSpPr>
            <p:nvPr/>
          </p:nvSpPr>
          <p:spPr bwMode="auto">
            <a:xfrm>
              <a:off x="768" y="2371"/>
              <a:ext cx="263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1400" b="1" dirty="0" smtClean="0">
                  <a:ea typeface="黑体" pitchFamily="49" charset="-122"/>
                </a:rPr>
                <a:t> 显示 </a:t>
              </a:r>
              <a:r>
                <a:rPr lang="zh-CN" altLang="en-US" sz="1400" b="1" dirty="0" smtClean="0"/>
                <a:t>      </a:t>
              </a:r>
              <a:r>
                <a:rPr lang="en-US" altLang="zh-CN" sz="1400" b="1" dirty="0" smtClean="0"/>
                <a:t>, </a:t>
              </a:r>
              <a:r>
                <a:rPr lang="zh-CN" altLang="en-US" sz="1400" b="1" dirty="0" smtClean="0">
                  <a:latin typeface="黑体" pitchFamily="49" charset="-122"/>
                  <a:ea typeface="黑体" pitchFamily="49" charset="-122"/>
                </a:rPr>
                <a:t>表示</a:t>
              </a:r>
              <a:r>
                <a:rPr lang="zh-CN" altLang="en-US" sz="1400" b="1" dirty="0">
                  <a:latin typeface="黑体" pitchFamily="49" charset="-122"/>
                  <a:ea typeface="黑体" pitchFamily="49" charset="-122"/>
                </a:rPr>
                <a:t>数字</a:t>
              </a:r>
              <a:r>
                <a:rPr lang="zh-CN" altLang="en-US" sz="1400" b="1" dirty="0">
                  <a:ea typeface="黑体" pitchFamily="49" charset="-122"/>
                </a:rPr>
                <a:t>“</a:t>
              </a:r>
              <a:r>
                <a:rPr lang="en-US" altLang="zh-CN" sz="1400" b="1" dirty="0">
                  <a:ea typeface="黑体" pitchFamily="49" charset="-122"/>
                </a:rPr>
                <a:t>0”</a:t>
              </a:r>
              <a:endParaRPr lang="en-US" altLang="zh-CN" sz="1400" dirty="0"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51" name="Line 15"/>
          <p:cNvSpPr>
            <a:spLocks noChangeShapeType="1"/>
          </p:cNvSpPr>
          <p:nvPr/>
        </p:nvSpPr>
        <p:spPr bwMode="auto">
          <a:xfrm>
            <a:off x="5029200" y="1428750"/>
            <a:ext cx="0" cy="48895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53" name="Line 17"/>
          <p:cNvSpPr>
            <a:spLocks noChangeShapeType="1"/>
          </p:cNvSpPr>
          <p:nvPr/>
        </p:nvSpPr>
        <p:spPr bwMode="auto">
          <a:xfrm>
            <a:off x="5029200" y="2343150"/>
            <a:ext cx="0" cy="48895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 sz="1400"/>
          </a:p>
        </p:txBody>
      </p:sp>
      <p:grpSp>
        <p:nvGrpSpPr>
          <p:cNvPr id="54" name="Group 18"/>
          <p:cNvGrpSpPr>
            <a:grpSpLocks/>
          </p:cNvGrpSpPr>
          <p:nvPr/>
        </p:nvGrpSpPr>
        <p:grpSpPr bwMode="auto">
          <a:xfrm>
            <a:off x="762000" y="1581150"/>
            <a:ext cx="1152525" cy="1649413"/>
            <a:chOff x="4064" y="1242"/>
            <a:chExt cx="726" cy="1039"/>
          </a:xfrm>
        </p:grpSpPr>
        <p:sp>
          <p:nvSpPr>
            <p:cNvPr id="55" name="Line 19"/>
            <p:cNvSpPr>
              <a:spLocks noChangeShapeType="1"/>
            </p:cNvSpPr>
            <p:nvPr/>
          </p:nvSpPr>
          <p:spPr bwMode="auto">
            <a:xfrm>
              <a:off x="4291" y="1492"/>
              <a:ext cx="295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6" name="Line 20"/>
            <p:cNvSpPr>
              <a:spLocks noChangeShapeType="1"/>
            </p:cNvSpPr>
            <p:nvPr/>
          </p:nvSpPr>
          <p:spPr bwMode="auto">
            <a:xfrm>
              <a:off x="4291" y="2150"/>
              <a:ext cx="295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7" name="Line 21"/>
            <p:cNvSpPr>
              <a:spLocks noChangeShapeType="1"/>
            </p:cNvSpPr>
            <p:nvPr/>
          </p:nvSpPr>
          <p:spPr bwMode="auto">
            <a:xfrm>
              <a:off x="4291" y="1832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8" name="Line 22"/>
            <p:cNvSpPr>
              <a:spLocks noChangeShapeType="1"/>
            </p:cNvSpPr>
            <p:nvPr/>
          </p:nvSpPr>
          <p:spPr bwMode="auto">
            <a:xfrm>
              <a:off x="4268" y="1538"/>
              <a:ext cx="0" cy="24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9" name="Line 23"/>
            <p:cNvSpPr>
              <a:spLocks noChangeShapeType="1"/>
            </p:cNvSpPr>
            <p:nvPr/>
          </p:nvSpPr>
          <p:spPr bwMode="auto">
            <a:xfrm>
              <a:off x="4609" y="1538"/>
              <a:ext cx="0" cy="24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0" name="Line 24"/>
            <p:cNvSpPr>
              <a:spLocks noChangeShapeType="1"/>
            </p:cNvSpPr>
            <p:nvPr/>
          </p:nvSpPr>
          <p:spPr bwMode="auto">
            <a:xfrm>
              <a:off x="4268" y="1855"/>
              <a:ext cx="0" cy="24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" name="Line 25"/>
            <p:cNvSpPr>
              <a:spLocks noChangeShapeType="1"/>
            </p:cNvSpPr>
            <p:nvPr/>
          </p:nvSpPr>
          <p:spPr bwMode="auto">
            <a:xfrm>
              <a:off x="4609" y="1878"/>
              <a:ext cx="0" cy="24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2" name="Text Box 26"/>
            <p:cNvSpPr txBox="1">
              <a:spLocks noChangeArrowheads="1"/>
            </p:cNvSpPr>
            <p:nvPr/>
          </p:nvSpPr>
          <p:spPr bwMode="auto">
            <a:xfrm>
              <a:off x="4314" y="1242"/>
              <a:ext cx="2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>
                  <a:latin typeface="黑体" pitchFamily="49" charset="-122"/>
                  <a:ea typeface="黑体" pitchFamily="49" charset="-122"/>
                </a:rPr>
                <a:t>a</a:t>
              </a:r>
            </a:p>
          </p:txBody>
        </p:sp>
        <p:sp>
          <p:nvSpPr>
            <p:cNvPr id="63" name="Text Box 27"/>
            <p:cNvSpPr txBox="1">
              <a:spLocks noChangeArrowheads="1"/>
            </p:cNvSpPr>
            <p:nvPr/>
          </p:nvSpPr>
          <p:spPr bwMode="auto">
            <a:xfrm>
              <a:off x="4318" y="1526"/>
              <a:ext cx="2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>
                  <a:latin typeface="黑体" pitchFamily="49" charset="-122"/>
                  <a:ea typeface="黑体" pitchFamily="49" charset="-122"/>
                </a:rPr>
                <a:t>g</a:t>
              </a:r>
            </a:p>
          </p:txBody>
        </p:sp>
        <p:sp>
          <p:nvSpPr>
            <p:cNvPr id="64" name="Text Box 28"/>
            <p:cNvSpPr txBox="1">
              <a:spLocks noChangeArrowheads="1"/>
            </p:cNvSpPr>
            <p:nvPr/>
          </p:nvSpPr>
          <p:spPr bwMode="auto">
            <a:xfrm>
              <a:off x="4070" y="1522"/>
              <a:ext cx="2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>
                  <a:latin typeface="黑体" pitchFamily="49" charset="-122"/>
                  <a:ea typeface="黑体" pitchFamily="49" charset="-122"/>
                </a:rPr>
                <a:t>f</a:t>
              </a:r>
            </a:p>
          </p:txBody>
        </p:sp>
        <p:sp>
          <p:nvSpPr>
            <p:cNvPr id="65" name="Text Box 29"/>
            <p:cNvSpPr txBox="1">
              <a:spLocks noChangeArrowheads="1"/>
            </p:cNvSpPr>
            <p:nvPr/>
          </p:nvSpPr>
          <p:spPr bwMode="auto">
            <a:xfrm>
              <a:off x="4064" y="1855"/>
              <a:ext cx="2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>
                  <a:latin typeface="黑体" pitchFamily="49" charset="-122"/>
                  <a:ea typeface="黑体" pitchFamily="49" charset="-122"/>
                </a:rPr>
                <a:t>e</a:t>
              </a:r>
            </a:p>
          </p:txBody>
        </p:sp>
        <p:sp>
          <p:nvSpPr>
            <p:cNvPr id="66" name="Text Box 30"/>
            <p:cNvSpPr txBox="1">
              <a:spLocks noChangeArrowheads="1"/>
            </p:cNvSpPr>
            <p:nvPr/>
          </p:nvSpPr>
          <p:spPr bwMode="auto">
            <a:xfrm>
              <a:off x="4314" y="2087"/>
              <a:ext cx="2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>
                  <a:latin typeface="黑体" pitchFamily="49" charset="-122"/>
                  <a:ea typeface="黑体" pitchFamily="49" charset="-122"/>
                </a:rPr>
                <a:t>d</a:t>
              </a:r>
            </a:p>
          </p:txBody>
        </p:sp>
        <p:sp>
          <p:nvSpPr>
            <p:cNvPr id="67" name="Text Box 31"/>
            <p:cNvSpPr txBox="1">
              <a:spLocks noChangeArrowheads="1"/>
            </p:cNvSpPr>
            <p:nvPr/>
          </p:nvSpPr>
          <p:spPr bwMode="auto">
            <a:xfrm>
              <a:off x="4586" y="1855"/>
              <a:ext cx="2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>
                  <a:latin typeface="黑体" pitchFamily="49" charset="-122"/>
                  <a:ea typeface="黑体" pitchFamily="49" charset="-122"/>
                </a:rPr>
                <a:t>c</a:t>
              </a:r>
            </a:p>
          </p:txBody>
        </p:sp>
        <p:sp>
          <p:nvSpPr>
            <p:cNvPr id="68" name="Text Box 32"/>
            <p:cNvSpPr txBox="1">
              <a:spLocks noChangeArrowheads="1"/>
            </p:cNvSpPr>
            <p:nvPr/>
          </p:nvSpPr>
          <p:spPr bwMode="auto">
            <a:xfrm>
              <a:off x="4586" y="1515"/>
              <a:ext cx="2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>
                  <a:latin typeface="黑体" pitchFamily="49" charset="-122"/>
                  <a:ea typeface="黑体" pitchFamily="49" charset="-122"/>
                </a:rPr>
                <a:t>b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51" grpId="0" animBg="1"/>
      <p:bldP spid="5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七段显示译码器：</a:t>
            </a: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Box 72"/>
          <p:cNvSpPr txBox="1">
            <a:spLocks noChangeArrowheads="1"/>
          </p:cNvSpPr>
          <p:nvPr/>
        </p:nvSpPr>
        <p:spPr bwMode="auto">
          <a:xfrm>
            <a:off x="2895600" y="38671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</a:t>
            </a:r>
            <a:r>
              <a:rPr lang="en-US" altLang="zh-CN" sz="1400" b="1" dirty="0" smtClean="0"/>
              <a:t>3</a:t>
            </a:r>
            <a:endParaRPr lang="en-US" altLang="zh-CN" sz="1400" b="1" dirty="0"/>
          </a:p>
        </p:txBody>
      </p:sp>
      <p:sp>
        <p:nvSpPr>
          <p:cNvPr id="90" name="TextBox 89"/>
          <p:cNvSpPr txBox="1"/>
          <p:nvPr/>
        </p:nvSpPr>
        <p:spPr>
          <a:xfrm>
            <a:off x="5638800" y="2114550"/>
            <a:ext cx="266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如何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设计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七段显示译码器</a:t>
            </a:r>
            <a:endParaRPr lang="en-US" altLang="zh-CN" sz="16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这个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电路？</a:t>
            </a:r>
            <a:endParaRPr lang="zh-CN" altLang="en-US" sz="16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676400" y="971550"/>
            <a:ext cx="3545346" cy="2743199"/>
            <a:chOff x="1764378" y="1123950"/>
            <a:chExt cx="3545346" cy="2743199"/>
          </a:xfrm>
        </p:grpSpPr>
        <p:grpSp>
          <p:nvGrpSpPr>
            <p:cNvPr id="33" name="Group 3"/>
            <p:cNvGrpSpPr>
              <a:grpSpLocks/>
            </p:cNvGrpSpPr>
            <p:nvPr/>
          </p:nvGrpSpPr>
          <p:grpSpPr bwMode="auto">
            <a:xfrm>
              <a:off x="1764378" y="1307265"/>
              <a:ext cx="2057086" cy="2559884"/>
              <a:chOff x="588" y="550"/>
              <a:chExt cx="1232" cy="1043"/>
            </a:xfrm>
          </p:grpSpPr>
          <p:sp>
            <p:nvSpPr>
              <p:cNvPr id="111" name="Rectangle 4"/>
              <p:cNvSpPr>
                <a:spLocks noChangeArrowheads="1"/>
              </p:cNvSpPr>
              <p:nvPr/>
            </p:nvSpPr>
            <p:spPr bwMode="auto">
              <a:xfrm>
                <a:off x="1026" y="550"/>
                <a:ext cx="794" cy="104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112" name="Text Box 5"/>
              <p:cNvSpPr txBox="1">
                <a:spLocks noChangeArrowheads="1"/>
              </p:cNvSpPr>
              <p:nvPr/>
            </p:nvSpPr>
            <p:spPr bwMode="auto">
              <a:xfrm>
                <a:off x="1259" y="631"/>
                <a:ext cx="554" cy="91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400" b="1" dirty="0" smtClean="0">
                    <a:ea typeface="黑体" pitchFamily="49" charset="-122"/>
                  </a:rPr>
                  <a:t>七</a:t>
                </a:r>
                <a:endParaRPr lang="en-US" altLang="zh-CN" sz="1400" b="1" dirty="0" smtClean="0">
                  <a:ea typeface="黑体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400" b="1" dirty="0" smtClean="0">
                    <a:ea typeface="黑体" pitchFamily="49" charset="-122"/>
                  </a:rPr>
                  <a:t>段</a:t>
                </a:r>
                <a:endParaRPr lang="en-US" altLang="zh-CN" sz="1400" b="1" dirty="0" smtClean="0">
                  <a:ea typeface="黑体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400" b="1" dirty="0" smtClean="0">
                    <a:ea typeface="黑体" pitchFamily="49" charset="-122"/>
                  </a:rPr>
                  <a:t>显</a:t>
                </a:r>
                <a:endParaRPr lang="en-US" altLang="zh-CN" sz="1400" b="1" dirty="0" smtClean="0">
                  <a:ea typeface="黑体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400" b="1" dirty="0" smtClean="0">
                    <a:ea typeface="黑体" pitchFamily="49" charset="-122"/>
                  </a:rPr>
                  <a:t>示</a:t>
                </a:r>
                <a:endParaRPr lang="en-US" altLang="zh-CN" sz="1400" b="1" dirty="0" smtClean="0">
                  <a:ea typeface="黑体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400" b="1" dirty="0" smtClean="0">
                    <a:ea typeface="黑体" pitchFamily="49" charset="-122"/>
                  </a:rPr>
                  <a:t>译 </a:t>
                </a:r>
                <a:endParaRPr lang="en-US" altLang="zh-CN" sz="1400" b="1" dirty="0" smtClean="0">
                  <a:ea typeface="黑体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400" b="1" dirty="0" smtClean="0">
                    <a:ea typeface="黑体" pitchFamily="49" charset="-122"/>
                  </a:rPr>
                  <a:t>码</a:t>
                </a:r>
                <a:endParaRPr lang="en-US" altLang="zh-CN" sz="1400" b="1" dirty="0" smtClean="0">
                  <a:ea typeface="黑体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400" b="1" dirty="0" smtClean="0">
                    <a:ea typeface="黑体" pitchFamily="49" charset="-122"/>
                  </a:rPr>
                  <a:t>器</a:t>
                </a:r>
                <a:endParaRPr lang="zh-CN" altLang="en-US" sz="1400" b="1" dirty="0">
                  <a:ea typeface="黑体" pitchFamily="49" charset="-122"/>
                </a:endParaRPr>
              </a:p>
            </p:txBody>
          </p:sp>
          <p:sp>
            <p:nvSpPr>
              <p:cNvPr id="113" name="Line 6"/>
              <p:cNvSpPr>
                <a:spLocks noChangeShapeType="1"/>
              </p:cNvSpPr>
              <p:nvPr/>
            </p:nvSpPr>
            <p:spPr bwMode="auto">
              <a:xfrm>
                <a:off x="799" y="731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14" name="Line 7"/>
              <p:cNvSpPr>
                <a:spLocks noChangeShapeType="1"/>
              </p:cNvSpPr>
              <p:nvPr/>
            </p:nvSpPr>
            <p:spPr bwMode="auto">
              <a:xfrm>
                <a:off x="799" y="957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15" name="Line 8"/>
              <p:cNvSpPr>
                <a:spLocks noChangeShapeType="1"/>
              </p:cNvSpPr>
              <p:nvPr/>
            </p:nvSpPr>
            <p:spPr bwMode="auto">
              <a:xfrm>
                <a:off x="798" y="1162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16" name="Line 9"/>
              <p:cNvSpPr>
                <a:spLocks noChangeShapeType="1"/>
              </p:cNvSpPr>
              <p:nvPr/>
            </p:nvSpPr>
            <p:spPr bwMode="auto">
              <a:xfrm>
                <a:off x="799" y="1366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17" name="Text Box 17"/>
              <p:cNvSpPr txBox="1">
                <a:spLocks noChangeArrowheads="1"/>
              </p:cNvSpPr>
              <p:nvPr/>
            </p:nvSpPr>
            <p:spPr bwMode="auto">
              <a:xfrm>
                <a:off x="588" y="902"/>
                <a:ext cx="364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/>
                  <a:t>A</a:t>
                </a:r>
                <a:r>
                  <a:rPr lang="en-US" altLang="zh-CN" sz="1400" b="1" baseline="-10000" dirty="0"/>
                  <a:t>2</a:t>
                </a:r>
              </a:p>
            </p:txBody>
          </p:sp>
          <p:sp>
            <p:nvSpPr>
              <p:cNvPr id="118" name="Text Box 18"/>
              <p:cNvSpPr txBox="1">
                <a:spLocks noChangeArrowheads="1"/>
              </p:cNvSpPr>
              <p:nvPr/>
            </p:nvSpPr>
            <p:spPr bwMode="auto">
              <a:xfrm>
                <a:off x="589" y="652"/>
                <a:ext cx="364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/>
                  <a:t>A</a:t>
                </a:r>
                <a:r>
                  <a:rPr lang="en-US" altLang="zh-CN" sz="1400" b="1" baseline="-10000" dirty="0"/>
                  <a:t>3</a:t>
                </a:r>
              </a:p>
            </p:txBody>
          </p:sp>
          <p:sp>
            <p:nvSpPr>
              <p:cNvPr id="120" name="Text Box 19"/>
              <p:cNvSpPr txBox="1">
                <a:spLocks noChangeArrowheads="1"/>
              </p:cNvSpPr>
              <p:nvPr/>
            </p:nvSpPr>
            <p:spPr bwMode="auto">
              <a:xfrm>
                <a:off x="588" y="1099"/>
                <a:ext cx="364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/>
                  <a:t>A</a:t>
                </a:r>
                <a:r>
                  <a:rPr lang="en-US" altLang="zh-CN" sz="1400" b="1" baseline="-10000"/>
                  <a:t>1</a:t>
                </a:r>
              </a:p>
            </p:txBody>
          </p:sp>
          <p:sp>
            <p:nvSpPr>
              <p:cNvPr id="121" name="Text Box 20"/>
              <p:cNvSpPr txBox="1">
                <a:spLocks noChangeArrowheads="1"/>
              </p:cNvSpPr>
              <p:nvPr/>
            </p:nvSpPr>
            <p:spPr bwMode="auto">
              <a:xfrm>
                <a:off x="588" y="1307"/>
                <a:ext cx="364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/>
                  <a:t>A</a:t>
                </a:r>
                <a:r>
                  <a:rPr lang="en-US" altLang="zh-CN" sz="1400" b="1" baseline="-10000" dirty="0"/>
                  <a:t>0</a:t>
                </a:r>
              </a:p>
            </p:txBody>
          </p:sp>
        </p:grpSp>
        <p:grpSp>
          <p:nvGrpSpPr>
            <p:cNvPr id="34" name="组合 177"/>
            <p:cNvGrpSpPr/>
            <p:nvPr/>
          </p:nvGrpSpPr>
          <p:grpSpPr>
            <a:xfrm>
              <a:off x="3809999" y="1123950"/>
              <a:ext cx="1499725" cy="2699368"/>
              <a:chOff x="3943620" y="481982"/>
              <a:chExt cx="1923416" cy="3385168"/>
            </a:xfrm>
          </p:grpSpPr>
          <p:grpSp>
            <p:nvGrpSpPr>
              <p:cNvPr id="35" name="组合 164"/>
              <p:cNvGrpSpPr/>
              <p:nvPr/>
            </p:nvGrpSpPr>
            <p:grpSpPr>
              <a:xfrm>
                <a:off x="3943622" y="3527529"/>
                <a:ext cx="1429025" cy="339621"/>
                <a:chOff x="3943622" y="3603729"/>
                <a:chExt cx="1429025" cy="339621"/>
              </a:xfrm>
            </p:grpSpPr>
            <p:sp>
              <p:nvSpPr>
                <p:cNvPr id="107" name="Line 83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829494" y="3773540"/>
                  <a:ext cx="3396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108" name="AutoShape 84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4798960" y="3666623"/>
                  <a:ext cx="176100" cy="201255"/>
                </a:xfrm>
                <a:prstGeom prst="flowChartExtra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109" name="Line 85"/>
                <p:cNvSpPr>
                  <a:spLocks noChangeShapeType="1"/>
                </p:cNvSpPr>
                <p:nvPr/>
              </p:nvSpPr>
              <p:spPr bwMode="auto">
                <a:xfrm rot="16200000">
                  <a:off x="5185976" y="3580579"/>
                  <a:ext cx="0" cy="37334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110" name="Line 86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365003" y="3345870"/>
                  <a:ext cx="0" cy="84276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  <p:grpSp>
            <p:nvGrpSpPr>
              <p:cNvPr id="38" name="组合 149"/>
              <p:cNvGrpSpPr/>
              <p:nvPr/>
            </p:nvGrpSpPr>
            <p:grpSpPr>
              <a:xfrm>
                <a:off x="3943624" y="3086436"/>
                <a:ext cx="1429023" cy="339621"/>
                <a:chOff x="3943624" y="3086436"/>
                <a:chExt cx="1429023" cy="339621"/>
              </a:xfrm>
            </p:grpSpPr>
            <p:sp>
              <p:nvSpPr>
                <p:cNvPr id="103" name="Line 88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829494" y="3256247"/>
                  <a:ext cx="3396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104" name="AutoShape 89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4798960" y="3149330"/>
                  <a:ext cx="176100" cy="201255"/>
                </a:xfrm>
                <a:prstGeom prst="flowChartExtra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105" name="Line 90"/>
                <p:cNvSpPr>
                  <a:spLocks noChangeShapeType="1"/>
                </p:cNvSpPr>
                <p:nvPr/>
              </p:nvSpPr>
              <p:spPr bwMode="auto">
                <a:xfrm rot="16200000">
                  <a:off x="5185976" y="3063286"/>
                  <a:ext cx="0" cy="37334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106" name="Line 91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365003" y="2828580"/>
                  <a:ext cx="0" cy="84275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  <p:grpSp>
            <p:nvGrpSpPr>
              <p:cNvPr id="39" name="组合 162"/>
              <p:cNvGrpSpPr/>
              <p:nvPr/>
            </p:nvGrpSpPr>
            <p:grpSpPr>
              <a:xfrm>
                <a:off x="3943622" y="1698729"/>
                <a:ext cx="1443243" cy="339621"/>
                <a:chOff x="3929404" y="1550279"/>
                <a:chExt cx="1443243" cy="339621"/>
              </a:xfrm>
            </p:grpSpPr>
            <p:sp>
              <p:nvSpPr>
                <p:cNvPr id="99" name="Line 93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829494" y="1720090"/>
                  <a:ext cx="3396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100" name="AutoShape 94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4798960" y="1613173"/>
                  <a:ext cx="176100" cy="201255"/>
                </a:xfrm>
                <a:prstGeom prst="flowChartExtra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101" name="Line 95"/>
                <p:cNvSpPr>
                  <a:spLocks noChangeShapeType="1"/>
                </p:cNvSpPr>
                <p:nvPr/>
              </p:nvSpPr>
              <p:spPr bwMode="auto">
                <a:xfrm rot="16200000">
                  <a:off x="5185976" y="1527129"/>
                  <a:ext cx="0" cy="37334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102" name="Line 96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357893" y="1285311"/>
                  <a:ext cx="0" cy="85697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  <p:grpSp>
            <p:nvGrpSpPr>
              <p:cNvPr id="40" name="组合 163"/>
              <p:cNvGrpSpPr/>
              <p:nvPr/>
            </p:nvGrpSpPr>
            <p:grpSpPr>
              <a:xfrm>
                <a:off x="3943620" y="1241529"/>
                <a:ext cx="1413197" cy="339621"/>
                <a:chOff x="3946325" y="1058143"/>
                <a:chExt cx="1413197" cy="339621"/>
              </a:xfrm>
            </p:grpSpPr>
            <p:sp>
              <p:nvSpPr>
                <p:cNvPr id="95" name="Line 98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816369" y="1227954"/>
                  <a:ext cx="3396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96" name="AutoShape 99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4785835" y="1121037"/>
                  <a:ext cx="176100" cy="201255"/>
                </a:xfrm>
                <a:prstGeom prst="flowChartExtra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97" name="Line 100"/>
                <p:cNvSpPr>
                  <a:spLocks noChangeShapeType="1"/>
                </p:cNvSpPr>
                <p:nvPr/>
              </p:nvSpPr>
              <p:spPr bwMode="auto">
                <a:xfrm rot="16200000">
                  <a:off x="5172851" y="1034993"/>
                  <a:ext cx="0" cy="37334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98" name="Line 101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359791" y="808200"/>
                  <a:ext cx="0" cy="82693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  <p:sp>
            <p:nvSpPr>
              <p:cNvPr id="41" name="Line 103"/>
              <p:cNvSpPr>
                <a:spLocks noChangeShapeType="1"/>
              </p:cNvSpPr>
              <p:nvPr/>
            </p:nvSpPr>
            <p:spPr bwMode="auto">
              <a:xfrm rot="16200000">
                <a:off x="3962948" y="2305049"/>
                <a:ext cx="28194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44" name="Line 104"/>
              <p:cNvSpPr>
                <a:spLocks noChangeShapeType="1"/>
              </p:cNvSpPr>
              <p:nvPr/>
            </p:nvSpPr>
            <p:spPr bwMode="auto">
              <a:xfrm rot="16200000">
                <a:off x="5531611" y="2377412"/>
                <a:ext cx="0" cy="36459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45" name="Text Box 105"/>
              <p:cNvSpPr txBox="1">
                <a:spLocks noChangeArrowheads="1"/>
              </p:cNvSpPr>
              <p:nvPr/>
            </p:nvSpPr>
            <p:spPr bwMode="auto">
              <a:xfrm rot="16200000">
                <a:off x="4884034" y="2126416"/>
                <a:ext cx="907229" cy="434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>
                    <a:latin typeface="宋体" charset="-122"/>
                  </a:rPr>
                  <a:t>·</a:t>
                </a:r>
              </a:p>
            </p:txBody>
          </p:sp>
          <p:sp>
            <p:nvSpPr>
              <p:cNvPr id="46" name="Text Box 110"/>
              <p:cNvSpPr txBox="1">
                <a:spLocks noChangeArrowheads="1"/>
              </p:cNvSpPr>
              <p:nvPr/>
            </p:nvSpPr>
            <p:spPr bwMode="auto">
              <a:xfrm>
                <a:off x="4203138" y="481982"/>
                <a:ext cx="603771" cy="4245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 dirty="0" smtClean="0"/>
                  <a:t>g</a:t>
                </a:r>
                <a:endParaRPr lang="en-US" altLang="zh-CN" sz="1600" b="1" dirty="0"/>
              </a:p>
            </p:txBody>
          </p:sp>
          <p:grpSp>
            <p:nvGrpSpPr>
              <p:cNvPr id="47" name="Group 111"/>
              <p:cNvGrpSpPr>
                <a:grpSpLocks/>
              </p:cNvGrpSpPr>
              <p:nvPr/>
            </p:nvGrpSpPr>
            <p:grpSpPr bwMode="auto">
              <a:xfrm rot="16200000">
                <a:off x="5640087" y="2493136"/>
                <a:ext cx="306602" cy="147296"/>
                <a:chOff x="2841" y="3675"/>
                <a:chExt cx="195" cy="101"/>
              </a:xfrm>
            </p:grpSpPr>
            <p:sp>
              <p:nvSpPr>
                <p:cNvPr id="92" name="Line 112"/>
                <p:cNvSpPr>
                  <a:spLocks noChangeShapeType="1"/>
                </p:cNvSpPr>
                <p:nvPr/>
              </p:nvSpPr>
              <p:spPr bwMode="auto">
                <a:xfrm>
                  <a:off x="2841" y="3675"/>
                  <a:ext cx="1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93" name="Line 113"/>
                <p:cNvSpPr>
                  <a:spLocks noChangeShapeType="1"/>
                </p:cNvSpPr>
                <p:nvPr/>
              </p:nvSpPr>
              <p:spPr bwMode="auto">
                <a:xfrm>
                  <a:off x="2891" y="3723"/>
                  <a:ext cx="10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94" name="Line 114"/>
                <p:cNvSpPr>
                  <a:spLocks noChangeShapeType="1"/>
                </p:cNvSpPr>
                <p:nvPr/>
              </p:nvSpPr>
              <p:spPr bwMode="auto">
                <a:xfrm>
                  <a:off x="2913" y="3776"/>
                  <a:ext cx="5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  <p:grpSp>
            <p:nvGrpSpPr>
              <p:cNvPr id="48" name="组合 150"/>
              <p:cNvGrpSpPr/>
              <p:nvPr/>
            </p:nvGrpSpPr>
            <p:grpSpPr>
              <a:xfrm>
                <a:off x="3943623" y="2635138"/>
                <a:ext cx="1413993" cy="339621"/>
                <a:chOff x="3958654" y="3086436"/>
                <a:chExt cx="1413993" cy="339621"/>
              </a:xfrm>
            </p:grpSpPr>
            <p:sp>
              <p:nvSpPr>
                <p:cNvPr id="66" name="Line 88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829494" y="3256247"/>
                  <a:ext cx="3396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67" name="AutoShape 89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4798960" y="3149330"/>
                  <a:ext cx="176100" cy="201255"/>
                </a:xfrm>
                <a:prstGeom prst="flowChartExtra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68" name="Line 90"/>
                <p:cNvSpPr>
                  <a:spLocks noChangeShapeType="1"/>
                </p:cNvSpPr>
                <p:nvPr/>
              </p:nvSpPr>
              <p:spPr bwMode="auto">
                <a:xfrm rot="16200000">
                  <a:off x="5185976" y="3063286"/>
                  <a:ext cx="0" cy="37334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91" name="Line 91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372518" y="2836094"/>
                  <a:ext cx="0" cy="82772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  <p:grpSp>
            <p:nvGrpSpPr>
              <p:cNvPr id="49" name="组合 156"/>
              <p:cNvGrpSpPr/>
              <p:nvPr/>
            </p:nvGrpSpPr>
            <p:grpSpPr>
              <a:xfrm>
                <a:off x="3943623" y="2190750"/>
                <a:ext cx="1433549" cy="339621"/>
                <a:chOff x="3939098" y="3086436"/>
                <a:chExt cx="1433549" cy="339621"/>
              </a:xfrm>
            </p:grpSpPr>
            <p:sp>
              <p:nvSpPr>
                <p:cNvPr id="62" name="Line 88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829494" y="3256247"/>
                  <a:ext cx="3396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63" name="AutoShape 89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4798960" y="3149330"/>
                  <a:ext cx="176100" cy="201255"/>
                </a:xfrm>
                <a:prstGeom prst="flowChartExtra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64" name="Line 90"/>
                <p:cNvSpPr>
                  <a:spLocks noChangeShapeType="1"/>
                </p:cNvSpPr>
                <p:nvPr/>
              </p:nvSpPr>
              <p:spPr bwMode="auto">
                <a:xfrm rot="16200000">
                  <a:off x="5185976" y="3063286"/>
                  <a:ext cx="0" cy="37334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65" name="Line 91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362740" y="2826316"/>
                  <a:ext cx="0" cy="8472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  <p:grpSp>
            <p:nvGrpSpPr>
              <p:cNvPr id="50" name="组合 165"/>
              <p:cNvGrpSpPr/>
              <p:nvPr/>
            </p:nvGrpSpPr>
            <p:grpSpPr>
              <a:xfrm>
                <a:off x="3943620" y="759134"/>
                <a:ext cx="1440845" cy="339621"/>
                <a:chOff x="3918677" y="1058143"/>
                <a:chExt cx="1440845" cy="339621"/>
              </a:xfrm>
            </p:grpSpPr>
            <p:sp>
              <p:nvSpPr>
                <p:cNvPr id="58" name="Line 98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816369" y="1227954"/>
                  <a:ext cx="3396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59" name="AutoShape 99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4785835" y="1121037"/>
                  <a:ext cx="176100" cy="201255"/>
                </a:xfrm>
                <a:prstGeom prst="flowChartExtra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60" name="Line 100"/>
                <p:cNvSpPr>
                  <a:spLocks noChangeShapeType="1"/>
                </p:cNvSpPr>
                <p:nvPr/>
              </p:nvSpPr>
              <p:spPr bwMode="auto">
                <a:xfrm rot="16200000">
                  <a:off x="5172851" y="1034993"/>
                  <a:ext cx="0" cy="37334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  <p:sp>
              <p:nvSpPr>
                <p:cNvPr id="61" name="Line 101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345967" y="794376"/>
                  <a:ext cx="0" cy="85457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  <p:sp>
            <p:nvSpPr>
              <p:cNvPr id="51" name="Text Box 110"/>
              <p:cNvSpPr txBox="1">
                <a:spLocks noChangeArrowheads="1"/>
              </p:cNvSpPr>
              <p:nvPr/>
            </p:nvSpPr>
            <p:spPr bwMode="auto">
              <a:xfrm>
                <a:off x="4203138" y="959779"/>
                <a:ext cx="603771" cy="4245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 dirty="0" smtClean="0"/>
                  <a:t>f</a:t>
                </a:r>
                <a:endParaRPr lang="en-US" altLang="zh-CN" sz="1600" b="1" dirty="0"/>
              </a:p>
            </p:txBody>
          </p:sp>
          <p:sp>
            <p:nvSpPr>
              <p:cNvPr id="52" name="Text Box 110"/>
              <p:cNvSpPr txBox="1">
                <a:spLocks noChangeArrowheads="1"/>
              </p:cNvSpPr>
              <p:nvPr/>
            </p:nvSpPr>
            <p:spPr bwMode="auto">
              <a:xfrm>
                <a:off x="4203138" y="3348762"/>
                <a:ext cx="603771" cy="4245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 dirty="0" smtClean="0"/>
                  <a:t>a</a:t>
                </a:r>
                <a:endParaRPr lang="en-US" altLang="zh-CN" sz="1600" b="1" dirty="0"/>
              </a:p>
            </p:txBody>
          </p:sp>
          <p:sp>
            <p:nvSpPr>
              <p:cNvPr id="53" name="Text Box 110"/>
              <p:cNvSpPr txBox="1">
                <a:spLocks noChangeArrowheads="1"/>
              </p:cNvSpPr>
              <p:nvPr/>
            </p:nvSpPr>
            <p:spPr bwMode="auto">
              <a:xfrm>
                <a:off x="4203138" y="2870965"/>
                <a:ext cx="603771" cy="4245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 dirty="0" smtClean="0"/>
                  <a:t>b</a:t>
                </a:r>
                <a:endParaRPr lang="en-US" altLang="zh-CN" sz="1600" b="1" dirty="0"/>
              </a:p>
            </p:txBody>
          </p:sp>
          <p:sp>
            <p:nvSpPr>
              <p:cNvPr id="55" name="Text Box 110"/>
              <p:cNvSpPr txBox="1">
                <a:spLocks noChangeArrowheads="1"/>
              </p:cNvSpPr>
              <p:nvPr/>
            </p:nvSpPr>
            <p:spPr bwMode="auto">
              <a:xfrm>
                <a:off x="4203138" y="2393169"/>
                <a:ext cx="603771" cy="4245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 dirty="0" smtClean="0"/>
                  <a:t>c</a:t>
                </a:r>
                <a:endParaRPr lang="en-US" altLang="zh-CN" sz="1600" b="1" dirty="0"/>
              </a:p>
            </p:txBody>
          </p:sp>
          <p:sp>
            <p:nvSpPr>
              <p:cNvPr id="56" name="Text Box 110"/>
              <p:cNvSpPr txBox="1">
                <a:spLocks noChangeArrowheads="1"/>
              </p:cNvSpPr>
              <p:nvPr/>
            </p:nvSpPr>
            <p:spPr bwMode="auto">
              <a:xfrm>
                <a:off x="4203138" y="1915372"/>
                <a:ext cx="603771" cy="4245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 dirty="0" smtClean="0"/>
                  <a:t>d</a:t>
                </a:r>
                <a:endParaRPr lang="en-US" altLang="zh-CN" sz="1600" b="1" dirty="0"/>
              </a:p>
            </p:txBody>
          </p:sp>
          <p:sp>
            <p:nvSpPr>
              <p:cNvPr id="57" name="Text Box 110"/>
              <p:cNvSpPr txBox="1">
                <a:spLocks noChangeArrowheads="1"/>
              </p:cNvSpPr>
              <p:nvPr/>
            </p:nvSpPr>
            <p:spPr bwMode="auto">
              <a:xfrm>
                <a:off x="4203138" y="1437575"/>
                <a:ext cx="603771" cy="4245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 dirty="0" smtClean="0"/>
                  <a:t>e</a:t>
                </a:r>
                <a:endParaRPr lang="en-US" altLang="zh-CN" sz="1600" b="1" dirty="0"/>
              </a:p>
            </p:txBody>
          </p:sp>
        </p:grpSp>
      </p:grp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七段显示译码器：</a:t>
            </a: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5" name="Text Box 72"/>
          <p:cNvSpPr txBox="1">
            <a:spLocks noChangeArrowheads="1"/>
          </p:cNvSpPr>
          <p:nvPr/>
        </p:nvSpPr>
        <p:spPr bwMode="auto">
          <a:xfrm>
            <a:off x="4419600" y="5905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表 </a:t>
            </a:r>
            <a:r>
              <a:rPr lang="en-US" altLang="zh-CN" sz="1400" b="1" dirty="0" smtClean="0"/>
              <a:t>1</a:t>
            </a:r>
            <a:endParaRPr lang="en-US" altLang="zh-CN" sz="1400" b="1" dirty="0"/>
          </a:p>
        </p:txBody>
      </p:sp>
      <p:pic>
        <p:nvPicPr>
          <p:cNvPr id="148481" name="Picture 1" descr="C:\Users\hfutliujun\AppData\Roaming\Tencent\Users\350654676\QQ\WinTemp\RichOle\VGZAJY]_~0$BTW2[F()C9[V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895350"/>
            <a:ext cx="4137810" cy="3657600"/>
          </a:xfrm>
          <a:prstGeom prst="rect">
            <a:avLst/>
          </a:prstGeom>
          <a:noFill/>
        </p:spPr>
      </p:pic>
      <p:sp>
        <p:nvSpPr>
          <p:cNvPr id="8" name="矩形 7"/>
          <p:cNvSpPr/>
          <p:nvPr/>
        </p:nvSpPr>
        <p:spPr>
          <a:xfrm>
            <a:off x="2863232" y="3205626"/>
            <a:ext cx="4191000" cy="1355416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七段显示译码器：</a:t>
            </a: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76200" y="11239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的逻辑表达式：</a:t>
            </a: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2883" name="Object 3"/>
          <p:cNvGraphicFramePr>
            <a:graphicFrameLocks noChangeAspect="1"/>
          </p:cNvGraphicFramePr>
          <p:nvPr/>
        </p:nvGraphicFramePr>
        <p:xfrm>
          <a:off x="1981200" y="1200150"/>
          <a:ext cx="4483100" cy="304800"/>
        </p:xfrm>
        <a:graphic>
          <a:graphicData uri="http://schemas.openxmlformats.org/presentationml/2006/ole">
            <p:oleObj spid="_x0000_s123906" name="Equation" r:id="rId3" imgW="4483080" imgH="304560" progId="Equation.DSMT4">
              <p:embed/>
            </p:oleObj>
          </a:graphicData>
        </a:graphic>
      </p:graphicFrame>
      <p:pic>
        <p:nvPicPr>
          <p:cNvPr id="11" name="Picture 4" descr="C:\Users\hfutliujun\AppData\Roaming\Tencent\Users\350654676\QQ\WinTemp\RichOle\@~`UE)QQ{E2T[ACN(VT@6]0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0" y="1809750"/>
            <a:ext cx="2784008" cy="1981200"/>
          </a:xfrm>
          <a:prstGeom prst="rect">
            <a:avLst/>
          </a:prstGeom>
          <a:noFill/>
        </p:spPr>
      </p:pic>
      <p:sp>
        <p:nvSpPr>
          <p:cNvPr id="12" name="Text Box 60"/>
          <p:cNvSpPr txBox="1">
            <a:spLocks noChangeArrowheads="1"/>
          </p:cNvSpPr>
          <p:nvPr/>
        </p:nvSpPr>
        <p:spPr bwMode="auto">
          <a:xfrm>
            <a:off x="2903787" y="2159892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13" name="Text Box 60"/>
          <p:cNvSpPr txBox="1">
            <a:spLocks noChangeArrowheads="1"/>
          </p:cNvSpPr>
          <p:nvPr/>
        </p:nvSpPr>
        <p:spPr bwMode="auto">
          <a:xfrm>
            <a:off x="4568825" y="2151063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14" name="Text Box 60"/>
          <p:cNvSpPr txBox="1">
            <a:spLocks noChangeArrowheads="1"/>
          </p:cNvSpPr>
          <p:nvPr/>
        </p:nvSpPr>
        <p:spPr bwMode="auto">
          <a:xfrm>
            <a:off x="4015929" y="2152335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15" name="Text Box 60"/>
          <p:cNvSpPr txBox="1">
            <a:spLocks noChangeArrowheads="1"/>
          </p:cNvSpPr>
          <p:nvPr/>
        </p:nvSpPr>
        <p:spPr bwMode="auto">
          <a:xfrm>
            <a:off x="4591496" y="2571750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16" name="Text Box 60"/>
          <p:cNvSpPr txBox="1">
            <a:spLocks noChangeArrowheads="1"/>
          </p:cNvSpPr>
          <p:nvPr/>
        </p:nvSpPr>
        <p:spPr bwMode="auto">
          <a:xfrm>
            <a:off x="4038600" y="2573022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17" name="Text Box 60"/>
          <p:cNvSpPr txBox="1">
            <a:spLocks noChangeArrowheads="1"/>
          </p:cNvSpPr>
          <p:nvPr/>
        </p:nvSpPr>
        <p:spPr bwMode="auto">
          <a:xfrm>
            <a:off x="3425825" y="3368991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18" name="Text Box 60"/>
          <p:cNvSpPr txBox="1">
            <a:spLocks noChangeArrowheads="1"/>
          </p:cNvSpPr>
          <p:nvPr/>
        </p:nvSpPr>
        <p:spPr bwMode="auto">
          <a:xfrm>
            <a:off x="2872929" y="3370263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19" name="Text Box 60"/>
          <p:cNvSpPr txBox="1">
            <a:spLocks noChangeArrowheads="1"/>
          </p:cNvSpPr>
          <p:nvPr/>
        </p:nvSpPr>
        <p:spPr bwMode="auto">
          <a:xfrm>
            <a:off x="3429000" y="2571750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20" name="Text Box 48"/>
          <p:cNvSpPr txBox="1">
            <a:spLocks noChangeArrowheads="1"/>
          </p:cNvSpPr>
          <p:nvPr/>
        </p:nvSpPr>
        <p:spPr bwMode="auto">
          <a:xfrm>
            <a:off x="3352800" y="3005649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00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21" name="Text Box 48"/>
          <p:cNvSpPr txBox="1">
            <a:spLocks noChangeArrowheads="1"/>
          </p:cNvSpPr>
          <p:nvPr/>
        </p:nvSpPr>
        <p:spPr bwMode="auto">
          <a:xfrm>
            <a:off x="2788506" y="3004611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 smtClean="0">
                <a:solidFill>
                  <a:srgbClr val="FF0000"/>
                </a:solidFill>
                <a:latin typeface="Arial" pitchFamily="34" charset="0"/>
              </a:rPr>
              <a:t> </a:t>
            </a:r>
            <a:r>
              <a:rPr lang="ru-RU" altLang="zh-CN" b="1" dirty="0" smtClean="0">
                <a:solidFill>
                  <a:srgbClr val="FF00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22" name="Text Box 48"/>
          <p:cNvSpPr txBox="1">
            <a:spLocks noChangeArrowheads="1"/>
          </p:cNvSpPr>
          <p:nvPr/>
        </p:nvSpPr>
        <p:spPr bwMode="auto">
          <a:xfrm>
            <a:off x="4450494" y="3029988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00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23" name="Text Box 48"/>
          <p:cNvSpPr txBox="1">
            <a:spLocks noChangeArrowheads="1"/>
          </p:cNvSpPr>
          <p:nvPr/>
        </p:nvSpPr>
        <p:spPr bwMode="auto">
          <a:xfrm>
            <a:off x="3886200" y="30289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 smtClean="0">
                <a:solidFill>
                  <a:srgbClr val="FF0000"/>
                </a:solidFill>
                <a:latin typeface="Arial" pitchFamily="34" charset="0"/>
              </a:rPr>
              <a:t> </a:t>
            </a:r>
            <a:r>
              <a:rPr lang="ru-RU" altLang="zh-CN" b="1" dirty="0" smtClean="0">
                <a:solidFill>
                  <a:srgbClr val="FF00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24" name="Text Box 48"/>
          <p:cNvSpPr txBox="1">
            <a:spLocks noChangeArrowheads="1"/>
          </p:cNvSpPr>
          <p:nvPr/>
        </p:nvSpPr>
        <p:spPr bwMode="auto">
          <a:xfrm>
            <a:off x="4450494" y="34099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00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25" name="Text Box 48"/>
          <p:cNvSpPr txBox="1">
            <a:spLocks noChangeArrowheads="1"/>
          </p:cNvSpPr>
          <p:nvPr/>
        </p:nvSpPr>
        <p:spPr bwMode="auto">
          <a:xfrm>
            <a:off x="3886200" y="3408912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 smtClean="0">
                <a:solidFill>
                  <a:srgbClr val="FF0000"/>
                </a:solidFill>
                <a:latin typeface="Arial" pitchFamily="34" charset="0"/>
              </a:rPr>
              <a:t> </a:t>
            </a:r>
            <a:r>
              <a:rPr lang="ru-RU" altLang="zh-CN" b="1" dirty="0" smtClean="0">
                <a:solidFill>
                  <a:srgbClr val="FF00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2286000" y="1962150"/>
            <a:ext cx="457200" cy="3048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Box 21"/>
          <p:cNvSpPr txBox="1">
            <a:spLocks noChangeArrowheads="1"/>
          </p:cNvSpPr>
          <p:nvPr/>
        </p:nvSpPr>
        <p:spPr bwMode="auto">
          <a:xfrm>
            <a:off x="2255772" y="1977264"/>
            <a:ext cx="985837" cy="273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068" tIns="39534" rIns="79068" bIns="39534">
            <a:spAutoFit/>
          </a:bodyPr>
          <a:lstStyle/>
          <a:p>
            <a:pPr defTabSz="790575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kumimoji="1" lang="en-US" altLang="zh-CN" sz="1400" b="1" dirty="0" smtClean="0">
                <a:ea typeface="楷体_GB2312" pitchFamily="49" charset="-122"/>
              </a:rPr>
              <a:t>A</a:t>
            </a:r>
            <a:r>
              <a:rPr kumimoji="1" lang="en-US" altLang="zh-CN" sz="1400" b="1" baseline="-2000" dirty="0" smtClean="0">
                <a:ea typeface="楷体_GB2312" pitchFamily="49" charset="-122"/>
              </a:rPr>
              <a:t>3</a:t>
            </a:r>
            <a:r>
              <a:rPr kumimoji="1" lang="en-US" altLang="zh-CN" sz="1400" b="1" dirty="0" smtClean="0">
                <a:ea typeface="楷体_GB2312" pitchFamily="49" charset="-122"/>
              </a:rPr>
              <a:t>A</a:t>
            </a:r>
            <a:r>
              <a:rPr kumimoji="1" lang="en-US" altLang="zh-CN" sz="1400" b="1" baseline="-2000" dirty="0" smtClean="0">
                <a:ea typeface="楷体_GB2312" pitchFamily="49" charset="-122"/>
              </a:rPr>
              <a:t>2</a:t>
            </a:r>
            <a:endParaRPr kumimoji="1" lang="en-US" altLang="zh-CN" sz="1400" b="1" baseline="-2000" dirty="0">
              <a:ea typeface="楷体_GB2312" pitchFamily="49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2590800" y="1733550"/>
            <a:ext cx="457200" cy="3048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Text Box 21"/>
          <p:cNvSpPr txBox="1">
            <a:spLocks noChangeArrowheads="1"/>
          </p:cNvSpPr>
          <p:nvPr/>
        </p:nvSpPr>
        <p:spPr bwMode="auto">
          <a:xfrm>
            <a:off x="2595563" y="1764611"/>
            <a:ext cx="985837" cy="273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068" tIns="39534" rIns="79068" bIns="39534">
            <a:spAutoFit/>
          </a:bodyPr>
          <a:lstStyle/>
          <a:p>
            <a:pPr defTabSz="790575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kumimoji="1" lang="en-US" altLang="zh-CN" sz="1400" b="1" dirty="0">
                <a:ea typeface="楷体_GB2312" pitchFamily="49" charset="-122"/>
              </a:rPr>
              <a:t>A</a:t>
            </a:r>
            <a:r>
              <a:rPr kumimoji="1" lang="en-US" altLang="zh-CN" sz="1400" b="1" baseline="-2000" dirty="0">
                <a:ea typeface="楷体_GB2312" pitchFamily="49" charset="-122"/>
              </a:rPr>
              <a:t>1</a:t>
            </a:r>
            <a:r>
              <a:rPr kumimoji="1" lang="en-US" altLang="zh-CN" sz="1400" b="1" dirty="0">
                <a:ea typeface="楷体_GB2312" pitchFamily="49" charset="-122"/>
              </a:rPr>
              <a:t>A</a:t>
            </a:r>
            <a:r>
              <a:rPr kumimoji="1" lang="en-US" altLang="zh-CN" sz="1400" b="1" baseline="-2000" dirty="0">
                <a:ea typeface="楷体_GB2312" pitchFamily="49" charset="-122"/>
              </a:rPr>
              <a:t>0</a:t>
            </a: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32" grpId="0" animBg="1"/>
      <p:bldP spid="33" grpId="0"/>
      <p:bldP spid="34" grpId="0" animBg="1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七段显示译码器：</a:t>
            </a: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76200" y="11239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的逻辑表达式：</a:t>
            </a: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2883" name="Object 3"/>
          <p:cNvGraphicFramePr>
            <a:graphicFrameLocks noChangeAspect="1"/>
          </p:cNvGraphicFramePr>
          <p:nvPr/>
        </p:nvGraphicFramePr>
        <p:xfrm>
          <a:off x="1981200" y="1200150"/>
          <a:ext cx="4483100" cy="304800"/>
        </p:xfrm>
        <a:graphic>
          <a:graphicData uri="http://schemas.openxmlformats.org/presentationml/2006/ole">
            <p:oleObj spid="_x0000_s122883" name="Equation" r:id="rId3" imgW="4483080" imgH="304560" progId="Equation.DSMT4">
              <p:embed/>
            </p:oleObj>
          </a:graphicData>
        </a:graphic>
      </p:graphicFrame>
      <p:pic>
        <p:nvPicPr>
          <p:cNvPr id="11" name="Picture 4" descr="C:\Users\hfutliujun\AppData\Roaming\Tencent\Users\350654676\QQ\WinTemp\RichOle\@~`UE)QQ{E2T[ACN(VT@6]0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0" y="1809750"/>
            <a:ext cx="2784008" cy="1981200"/>
          </a:xfrm>
          <a:prstGeom prst="rect">
            <a:avLst/>
          </a:prstGeom>
          <a:noFill/>
        </p:spPr>
      </p:pic>
      <p:sp>
        <p:nvSpPr>
          <p:cNvPr id="12" name="Text Box 60"/>
          <p:cNvSpPr txBox="1">
            <a:spLocks noChangeArrowheads="1"/>
          </p:cNvSpPr>
          <p:nvPr/>
        </p:nvSpPr>
        <p:spPr bwMode="auto">
          <a:xfrm>
            <a:off x="2903787" y="2159892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13" name="Text Box 60"/>
          <p:cNvSpPr txBox="1">
            <a:spLocks noChangeArrowheads="1"/>
          </p:cNvSpPr>
          <p:nvPr/>
        </p:nvSpPr>
        <p:spPr bwMode="auto">
          <a:xfrm>
            <a:off x="4568825" y="2151063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14" name="Text Box 60"/>
          <p:cNvSpPr txBox="1">
            <a:spLocks noChangeArrowheads="1"/>
          </p:cNvSpPr>
          <p:nvPr/>
        </p:nvSpPr>
        <p:spPr bwMode="auto">
          <a:xfrm>
            <a:off x="4015929" y="2190750"/>
            <a:ext cx="841375" cy="3416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15" name="Text Box 60"/>
          <p:cNvSpPr txBox="1">
            <a:spLocks noChangeArrowheads="1"/>
          </p:cNvSpPr>
          <p:nvPr/>
        </p:nvSpPr>
        <p:spPr bwMode="auto">
          <a:xfrm>
            <a:off x="4591496" y="2571750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16" name="Text Box 60"/>
          <p:cNvSpPr txBox="1">
            <a:spLocks noChangeArrowheads="1"/>
          </p:cNvSpPr>
          <p:nvPr/>
        </p:nvSpPr>
        <p:spPr bwMode="auto">
          <a:xfrm>
            <a:off x="4038600" y="2573022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17" name="Text Box 60"/>
          <p:cNvSpPr txBox="1">
            <a:spLocks noChangeArrowheads="1"/>
          </p:cNvSpPr>
          <p:nvPr/>
        </p:nvSpPr>
        <p:spPr bwMode="auto">
          <a:xfrm>
            <a:off x="3425825" y="3368991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18" name="Text Box 60"/>
          <p:cNvSpPr txBox="1">
            <a:spLocks noChangeArrowheads="1"/>
          </p:cNvSpPr>
          <p:nvPr/>
        </p:nvSpPr>
        <p:spPr bwMode="auto">
          <a:xfrm>
            <a:off x="2872929" y="3370263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19" name="Text Box 60"/>
          <p:cNvSpPr txBox="1">
            <a:spLocks noChangeArrowheads="1"/>
          </p:cNvSpPr>
          <p:nvPr/>
        </p:nvSpPr>
        <p:spPr bwMode="auto">
          <a:xfrm>
            <a:off x="3429000" y="2571750"/>
            <a:ext cx="841375" cy="420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20" name="Text Box 48"/>
          <p:cNvSpPr txBox="1">
            <a:spLocks noChangeArrowheads="1"/>
          </p:cNvSpPr>
          <p:nvPr/>
        </p:nvSpPr>
        <p:spPr bwMode="auto">
          <a:xfrm>
            <a:off x="3436938" y="3005649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00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21" name="Text Box 48"/>
          <p:cNvSpPr txBox="1">
            <a:spLocks noChangeArrowheads="1"/>
          </p:cNvSpPr>
          <p:nvPr/>
        </p:nvSpPr>
        <p:spPr bwMode="auto">
          <a:xfrm>
            <a:off x="2788506" y="3004611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 smtClean="0">
                <a:solidFill>
                  <a:srgbClr val="FF0000"/>
                </a:solidFill>
                <a:latin typeface="Arial" pitchFamily="34" charset="0"/>
              </a:rPr>
              <a:t> </a:t>
            </a:r>
            <a:r>
              <a:rPr lang="ru-RU" altLang="zh-CN" b="1" dirty="0" smtClean="0">
                <a:solidFill>
                  <a:srgbClr val="FF00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22" name="Text Box 48"/>
          <p:cNvSpPr txBox="1">
            <a:spLocks noChangeArrowheads="1"/>
          </p:cNvSpPr>
          <p:nvPr/>
        </p:nvSpPr>
        <p:spPr bwMode="auto">
          <a:xfrm>
            <a:off x="4579938" y="3029988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00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23" name="Text Box 48"/>
          <p:cNvSpPr txBox="1">
            <a:spLocks noChangeArrowheads="1"/>
          </p:cNvSpPr>
          <p:nvPr/>
        </p:nvSpPr>
        <p:spPr bwMode="auto">
          <a:xfrm>
            <a:off x="3962400" y="30289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 smtClean="0">
                <a:solidFill>
                  <a:srgbClr val="FF0000"/>
                </a:solidFill>
                <a:latin typeface="Arial" pitchFamily="34" charset="0"/>
              </a:rPr>
              <a:t> </a:t>
            </a:r>
            <a:r>
              <a:rPr lang="ru-RU" altLang="zh-CN" b="1" dirty="0" smtClean="0">
                <a:solidFill>
                  <a:srgbClr val="FF00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24" name="Text Box 48"/>
          <p:cNvSpPr txBox="1">
            <a:spLocks noChangeArrowheads="1"/>
          </p:cNvSpPr>
          <p:nvPr/>
        </p:nvSpPr>
        <p:spPr bwMode="auto">
          <a:xfrm>
            <a:off x="4579557" y="3333750"/>
            <a:ext cx="533400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ru-RU" altLang="zh-CN" b="1" dirty="0">
                <a:solidFill>
                  <a:srgbClr val="FF00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25" name="Text Box 48"/>
          <p:cNvSpPr txBox="1">
            <a:spLocks noChangeArrowheads="1"/>
          </p:cNvSpPr>
          <p:nvPr/>
        </p:nvSpPr>
        <p:spPr bwMode="auto">
          <a:xfrm>
            <a:off x="3962400" y="3333750"/>
            <a:ext cx="677862" cy="3291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79068" tIns="39534" rIns="79068" bIns="39534">
            <a:spAutoFit/>
          </a:bodyPr>
          <a:lstStyle/>
          <a:p>
            <a:pPr algn="l" defTabSz="79057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b="1" dirty="0" smtClean="0">
                <a:solidFill>
                  <a:srgbClr val="FF0000"/>
                </a:solidFill>
                <a:latin typeface="Arial" pitchFamily="34" charset="0"/>
              </a:rPr>
              <a:t> </a:t>
            </a:r>
            <a:r>
              <a:rPr lang="ru-RU" altLang="zh-CN" b="1" dirty="0" smtClean="0">
                <a:solidFill>
                  <a:srgbClr val="FF0000"/>
                </a:solidFill>
                <a:latin typeface="Arial" pitchFamily="34" charset="0"/>
              </a:rPr>
              <a:t>Ф</a:t>
            </a:r>
            <a:endParaRPr lang="en-US" altLang="zh-CN" b="1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26" name="Freeform 42"/>
          <p:cNvSpPr>
            <a:spLocks/>
          </p:cNvSpPr>
          <p:nvPr/>
        </p:nvSpPr>
        <p:spPr bwMode="auto">
          <a:xfrm>
            <a:off x="2857185" y="2122107"/>
            <a:ext cx="304800" cy="404813"/>
          </a:xfrm>
          <a:custGeom>
            <a:avLst/>
            <a:gdLst>
              <a:gd name="T0" fmla="*/ 2147483647 w 457"/>
              <a:gd name="T1" fmla="*/ 0 h 405"/>
              <a:gd name="T2" fmla="*/ 2147483647 w 457"/>
              <a:gd name="T3" fmla="*/ 2147483647 h 405"/>
              <a:gd name="T4" fmla="*/ 0 w 457"/>
              <a:gd name="T5" fmla="*/ 2147483647 h 405"/>
              <a:gd name="T6" fmla="*/ 0 60000 65536"/>
              <a:gd name="T7" fmla="*/ 0 60000 65536"/>
              <a:gd name="T8" fmla="*/ 0 60000 65536"/>
              <a:gd name="T9" fmla="*/ 0 w 457"/>
              <a:gd name="T10" fmla="*/ 0 h 405"/>
              <a:gd name="T11" fmla="*/ 457 w 457"/>
              <a:gd name="T12" fmla="*/ 405 h 4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7" h="405">
                <a:moveTo>
                  <a:pt x="392" y="0"/>
                </a:moveTo>
                <a:cubicBezTo>
                  <a:pt x="424" y="149"/>
                  <a:pt x="457" y="299"/>
                  <a:pt x="392" y="352"/>
                </a:cubicBezTo>
                <a:cubicBezTo>
                  <a:pt x="327" y="405"/>
                  <a:pt x="67" y="325"/>
                  <a:pt x="0" y="320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43"/>
          <p:cNvSpPr>
            <a:spLocks/>
          </p:cNvSpPr>
          <p:nvPr/>
        </p:nvSpPr>
        <p:spPr bwMode="auto">
          <a:xfrm rot="16200000">
            <a:off x="2819402" y="3409949"/>
            <a:ext cx="380999" cy="228601"/>
          </a:xfrm>
          <a:custGeom>
            <a:avLst/>
            <a:gdLst>
              <a:gd name="T0" fmla="*/ 2147483647 w 457"/>
              <a:gd name="T1" fmla="*/ 0 h 405"/>
              <a:gd name="T2" fmla="*/ 2147483647 w 457"/>
              <a:gd name="T3" fmla="*/ 2147483647 h 405"/>
              <a:gd name="T4" fmla="*/ 0 w 457"/>
              <a:gd name="T5" fmla="*/ 2147483647 h 405"/>
              <a:gd name="T6" fmla="*/ 0 60000 65536"/>
              <a:gd name="T7" fmla="*/ 0 60000 65536"/>
              <a:gd name="T8" fmla="*/ 0 60000 65536"/>
              <a:gd name="T9" fmla="*/ 0 w 457"/>
              <a:gd name="T10" fmla="*/ 0 h 405"/>
              <a:gd name="T11" fmla="*/ 457 w 457"/>
              <a:gd name="T12" fmla="*/ 405 h 4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7" h="405">
                <a:moveTo>
                  <a:pt x="392" y="0"/>
                </a:moveTo>
                <a:cubicBezTo>
                  <a:pt x="424" y="149"/>
                  <a:pt x="457" y="299"/>
                  <a:pt x="392" y="352"/>
                </a:cubicBezTo>
                <a:cubicBezTo>
                  <a:pt x="327" y="405"/>
                  <a:pt x="67" y="325"/>
                  <a:pt x="0" y="320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44"/>
          <p:cNvSpPr>
            <a:spLocks/>
          </p:cNvSpPr>
          <p:nvPr/>
        </p:nvSpPr>
        <p:spPr bwMode="auto">
          <a:xfrm rot="7476063">
            <a:off x="4613640" y="2139438"/>
            <a:ext cx="234366" cy="331224"/>
          </a:xfrm>
          <a:custGeom>
            <a:avLst/>
            <a:gdLst>
              <a:gd name="T0" fmla="*/ 2147483647 w 457"/>
              <a:gd name="T1" fmla="*/ 0 h 405"/>
              <a:gd name="T2" fmla="*/ 2147483647 w 457"/>
              <a:gd name="T3" fmla="*/ 2147483647 h 405"/>
              <a:gd name="T4" fmla="*/ 0 w 457"/>
              <a:gd name="T5" fmla="*/ 2147483647 h 405"/>
              <a:gd name="T6" fmla="*/ 0 60000 65536"/>
              <a:gd name="T7" fmla="*/ 0 60000 65536"/>
              <a:gd name="T8" fmla="*/ 0 60000 65536"/>
              <a:gd name="T9" fmla="*/ 0 w 457"/>
              <a:gd name="T10" fmla="*/ 0 h 405"/>
              <a:gd name="T11" fmla="*/ 457 w 457"/>
              <a:gd name="T12" fmla="*/ 405 h 4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7" h="405">
                <a:moveTo>
                  <a:pt x="392" y="0"/>
                </a:moveTo>
                <a:cubicBezTo>
                  <a:pt x="424" y="149"/>
                  <a:pt x="457" y="299"/>
                  <a:pt x="392" y="352"/>
                </a:cubicBezTo>
                <a:cubicBezTo>
                  <a:pt x="327" y="405"/>
                  <a:pt x="67" y="325"/>
                  <a:pt x="0" y="320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45"/>
          <p:cNvSpPr>
            <a:spLocks/>
          </p:cNvSpPr>
          <p:nvPr/>
        </p:nvSpPr>
        <p:spPr bwMode="auto">
          <a:xfrm rot="11548900">
            <a:off x="4609498" y="3360844"/>
            <a:ext cx="286457" cy="326813"/>
          </a:xfrm>
          <a:custGeom>
            <a:avLst/>
            <a:gdLst>
              <a:gd name="T0" fmla="*/ 2147483647 w 457"/>
              <a:gd name="T1" fmla="*/ 0 h 405"/>
              <a:gd name="T2" fmla="*/ 2147483647 w 457"/>
              <a:gd name="T3" fmla="*/ 2147483647 h 405"/>
              <a:gd name="T4" fmla="*/ 0 w 457"/>
              <a:gd name="T5" fmla="*/ 2147483647 h 405"/>
              <a:gd name="T6" fmla="*/ 0 60000 65536"/>
              <a:gd name="T7" fmla="*/ 0 60000 65536"/>
              <a:gd name="T8" fmla="*/ 0 60000 65536"/>
              <a:gd name="T9" fmla="*/ 0 w 457"/>
              <a:gd name="T10" fmla="*/ 0 h 405"/>
              <a:gd name="T11" fmla="*/ 457 w 457"/>
              <a:gd name="T12" fmla="*/ 405 h 4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7" h="405">
                <a:moveTo>
                  <a:pt x="392" y="0"/>
                </a:moveTo>
                <a:cubicBezTo>
                  <a:pt x="424" y="149"/>
                  <a:pt x="457" y="299"/>
                  <a:pt x="392" y="352"/>
                </a:cubicBezTo>
                <a:cubicBezTo>
                  <a:pt x="327" y="405"/>
                  <a:pt x="67" y="325"/>
                  <a:pt x="0" y="320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AutoShape 41"/>
          <p:cNvSpPr>
            <a:spLocks noChangeArrowheads="1"/>
          </p:cNvSpPr>
          <p:nvPr/>
        </p:nvSpPr>
        <p:spPr bwMode="auto">
          <a:xfrm>
            <a:off x="3962400" y="2190750"/>
            <a:ext cx="963612" cy="1447800"/>
          </a:xfrm>
          <a:prstGeom prst="flowChartTerminator">
            <a:avLst/>
          </a:prstGeom>
          <a:noFill/>
          <a:ln w="28575">
            <a:solidFill>
              <a:srgbClr val="6600CC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31" name="AutoShape 40"/>
          <p:cNvSpPr>
            <a:spLocks noChangeArrowheads="1"/>
          </p:cNvSpPr>
          <p:nvPr/>
        </p:nvSpPr>
        <p:spPr bwMode="auto">
          <a:xfrm>
            <a:off x="2880486" y="2967864"/>
            <a:ext cx="2057400" cy="685800"/>
          </a:xfrm>
          <a:prstGeom prst="flowChartTerminator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AutoShape 40"/>
          <p:cNvSpPr>
            <a:spLocks noChangeArrowheads="1"/>
          </p:cNvSpPr>
          <p:nvPr/>
        </p:nvSpPr>
        <p:spPr bwMode="auto">
          <a:xfrm>
            <a:off x="3429000" y="2571750"/>
            <a:ext cx="914400" cy="762000"/>
          </a:xfrm>
          <a:prstGeom prst="flowChartTerminator">
            <a:avLst/>
          </a:prstGeom>
          <a:noFill/>
          <a:ln w="28575">
            <a:solidFill>
              <a:srgbClr val="2D134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2885" name="Object 5"/>
          <p:cNvGraphicFramePr>
            <a:graphicFrameLocks noChangeAspect="1"/>
          </p:cNvGraphicFramePr>
          <p:nvPr/>
        </p:nvGraphicFramePr>
        <p:xfrm>
          <a:off x="5410200" y="3409950"/>
          <a:ext cx="2529840" cy="381000"/>
        </p:xfrm>
        <a:graphic>
          <a:graphicData uri="http://schemas.openxmlformats.org/presentationml/2006/ole">
            <p:oleObj spid="_x0000_s122885" name="Equation" r:id="rId5" imgW="2108160" imgH="317160" progId="Equation.DSMT4">
              <p:embed/>
            </p:oleObj>
          </a:graphicData>
        </a:graphic>
      </p:graphicFrame>
      <p:sp>
        <p:nvSpPr>
          <p:cNvPr id="42" name="椭圆 41"/>
          <p:cNvSpPr/>
          <p:nvPr/>
        </p:nvSpPr>
        <p:spPr>
          <a:xfrm>
            <a:off x="2514600" y="1733550"/>
            <a:ext cx="457200" cy="3048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 Box 21"/>
          <p:cNvSpPr txBox="1">
            <a:spLocks noChangeArrowheads="1"/>
          </p:cNvSpPr>
          <p:nvPr/>
        </p:nvSpPr>
        <p:spPr bwMode="auto">
          <a:xfrm>
            <a:off x="2514600" y="1733550"/>
            <a:ext cx="985837" cy="273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068" tIns="39534" rIns="79068" bIns="39534">
            <a:spAutoFit/>
          </a:bodyPr>
          <a:lstStyle/>
          <a:p>
            <a:pPr defTabSz="790575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kumimoji="1" lang="en-US" altLang="zh-CN" sz="1400" b="1" dirty="0">
                <a:ea typeface="楷体_GB2312" pitchFamily="49" charset="-122"/>
              </a:rPr>
              <a:t>A</a:t>
            </a:r>
            <a:r>
              <a:rPr kumimoji="1" lang="en-US" altLang="zh-CN" sz="1400" b="1" baseline="-2000" dirty="0">
                <a:ea typeface="楷体_GB2312" pitchFamily="49" charset="-122"/>
              </a:rPr>
              <a:t>1</a:t>
            </a:r>
            <a:r>
              <a:rPr kumimoji="1" lang="en-US" altLang="zh-CN" sz="1400" b="1" dirty="0">
                <a:ea typeface="楷体_GB2312" pitchFamily="49" charset="-122"/>
              </a:rPr>
              <a:t>A</a:t>
            </a:r>
            <a:r>
              <a:rPr kumimoji="1" lang="en-US" altLang="zh-CN" sz="1400" b="1" baseline="-2000" dirty="0">
                <a:ea typeface="楷体_GB2312" pitchFamily="49" charset="-122"/>
              </a:rPr>
              <a:t>0</a:t>
            </a:r>
          </a:p>
        </p:txBody>
      </p:sp>
      <p:sp>
        <p:nvSpPr>
          <p:cNvPr id="43" name="椭圆 42"/>
          <p:cNvSpPr/>
          <p:nvPr/>
        </p:nvSpPr>
        <p:spPr>
          <a:xfrm>
            <a:off x="2286000" y="1962150"/>
            <a:ext cx="457200" cy="3048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Text Box 21"/>
          <p:cNvSpPr txBox="1">
            <a:spLocks noChangeArrowheads="1"/>
          </p:cNvSpPr>
          <p:nvPr/>
        </p:nvSpPr>
        <p:spPr bwMode="auto">
          <a:xfrm>
            <a:off x="2275649" y="1993211"/>
            <a:ext cx="985837" cy="273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068" tIns="39534" rIns="79068" bIns="39534">
            <a:spAutoFit/>
          </a:bodyPr>
          <a:lstStyle/>
          <a:p>
            <a:pPr defTabSz="790575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kumimoji="1" lang="en-US" altLang="zh-CN" sz="1400" b="1" dirty="0" smtClean="0">
                <a:ea typeface="楷体_GB2312" pitchFamily="49" charset="-122"/>
              </a:rPr>
              <a:t>A</a:t>
            </a:r>
            <a:r>
              <a:rPr kumimoji="1" lang="en-US" altLang="zh-CN" sz="1400" b="1" baseline="-2000" dirty="0" smtClean="0">
                <a:ea typeface="楷体_GB2312" pitchFamily="49" charset="-122"/>
              </a:rPr>
              <a:t>3</a:t>
            </a:r>
            <a:r>
              <a:rPr kumimoji="1" lang="en-US" altLang="zh-CN" sz="1400" b="1" dirty="0" smtClean="0">
                <a:ea typeface="楷体_GB2312" pitchFamily="49" charset="-122"/>
              </a:rPr>
              <a:t>A</a:t>
            </a:r>
            <a:r>
              <a:rPr kumimoji="1" lang="en-US" altLang="zh-CN" sz="1400" b="1" baseline="-2000" dirty="0" smtClean="0">
                <a:ea typeface="楷体_GB2312" pitchFamily="49" charset="-122"/>
              </a:rPr>
              <a:t>2</a:t>
            </a:r>
            <a:endParaRPr kumimoji="1" lang="en-US" altLang="zh-CN" sz="1400" b="1" baseline="-2000" dirty="0">
              <a:ea typeface="楷体_GB2312" pitchFamily="49" charset="-122"/>
            </a:endParaRPr>
          </a:p>
        </p:txBody>
      </p:sp>
      <p:sp>
        <p:nvSpPr>
          <p:cNvPr id="34" name="AutoShape 7"/>
          <p:cNvSpPr>
            <a:spLocks noChangeArrowheads="1"/>
          </p:cNvSpPr>
          <p:nvPr/>
        </p:nvSpPr>
        <p:spPr bwMode="auto">
          <a:xfrm>
            <a:off x="5358276" y="2343150"/>
            <a:ext cx="762000" cy="576263"/>
          </a:xfrm>
          <a:prstGeom prst="wedgeRoundRectCallout">
            <a:avLst>
              <a:gd name="adj1" fmla="val -108912"/>
              <a:gd name="adj2" fmla="val 8954"/>
              <a:gd name="adj3" fmla="val 166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zh-CN" sz="2400" b="1" dirty="0" smtClean="0">
                <a:solidFill>
                  <a:srgbClr val="FF0000"/>
                </a:solidFill>
              </a:rPr>
              <a:t>A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1</a:t>
            </a:r>
            <a:endParaRPr lang="en-US" altLang="zh-CN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35" name="AutoShape 7"/>
          <p:cNvSpPr>
            <a:spLocks noChangeArrowheads="1"/>
          </p:cNvSpPr>
          <p:nvPr/>
        </p:nvSpPr>
        <p:spPr bwMode="auto">
          <a:xfrm>
            <a:off x="3429000" y="3943350"/>
            <a:ext cx="762000" cy="457200"/>
          </a:xfrm>
          <a:prstGeom prst="wedgeRoundRectCallout">
            <a:avLst>
              <a:gd name="adj1" fmla="val -29266"/>
              <a:gd name="adj2" fmla="val -112161"/>
              <a:gd name="adj3" fmla="val 166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zh-CN" sz="2400" b="1" dirty="0" smtClean="0">
                <a:solidFill>
                  <a:srgbClr val="FF0000"/>
                </a:solidFill>
              </a:rPr>
              <a:t>A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3</a:t>
            </a:r>
            <a:endParaRPr lang="en-US" altLang="zh-CN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37" name="AutoShape 7"/>
          <p:cNvSpPr>
            <a:spLocks noChangeArrowheads="1"/>
          </p:cNvSpPr>
          <p:nvPr/>
        </p:nvSpPr>
        <p:spPr bwMode="auto">
          <a:xfrm>
            <a:off x="4953000" y="1504950"/>
            <a:ext cx="1066800" cy="576263"/>
          </a:xfrm>
          <a:prstGeom prst="wedgeRoundRectCallout">
            <a:avLst>
              <a:gd name="adj1" fmla="val -120401"/>
              <a:gd name="adj2" fmla="val 129717"/>
              <a:gd name="adj3" fmla="val 166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zh-CN" sz="2400" b="1" dirty="0" smtClean="0">
                <a:solidFill>
                  <a:srgbClr val="FF0000"/>
                </a:solidFill>
              </a:rPr>
              <a:t>A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2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A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0</a:t>
            </a:r>
            <a:endParaRPr lang="en-US" altLang="zh-CN" sz="2400" b="1" baseline="-25000" dirty="0" smtClean="0">
              <a:solidFill>
                <a:srgbClr val="FF0000"/>
              </a:solidFill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2057400" y="3867150"/>
            <a:ext cx="1143000" cy="576263"/>
            <a:chOff x="2057400" y="3867150"/>
            <a:chExt cx="1143000" cy="576263"/>
          </a:xfrm>
        </p:grpSpPr>
        <p:sp>
          <p:nvSpPr>
            <p:cNvPr id="38" name="AutoShape 7"/>
            <p:cNvSpPr>
              <a:spLocks noChangeArrowheads="1"/>
            </p:cNvSpPr>
            <p:nvPr/>
          </p:nvSpPr>
          <p:spPr bwMode="auto">
            <a:xfrm>
              <a:off x="2057400" y="3867150"/>
              <a:ext cx="1143000" cy="576263"/>
            </a:xfrm>
            <a:prstGeom prst="wedgeRoundRectCallout">
              <a:avLst>
                <a:gd name="adj1" fmla="val 30203"/>
                <a:gd name="adj2" fmla="val -86533"/>
                <a:gd name="adj3" fmla="val 1666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altLang="zh-CN" sz="2400" b="1" dirty="0" smtClean="0">
                  <a:solidFill>
                    <a:srgbClr val="FF0000"/>
                  </a:solidFill>
                </a:rPr>
                <a:t>A</a:t>
              </a:r>
              <a:r>
                <a:rPr lang="en-US" altLang="zh-CN" sz="2400" b="1" baseline="-25000" dirty="0" smtClean="0">
                  <a:solidFill>
                    <a:srgbClr val="FF0000"/>
                  </a:solidFill>
                </a:rPr>
                <a:t>2 </a:t>
              </a:r>
              <a:r>
                <a:rPr lang="en-US" altLang="zh-CN" sz="2400" b="1" dirty="0" smtClean="0">
                  <a:solidFill>
                    <a:srgbClr val="FF0000"/>
                  </a:solidFill>
                </a:rPr>
                <a:t>A</a:t>
              </a:r>
              <a:r>
                <a:rPr lang="en-US" altLang="zh-CN" sz="2400" b="1" baseline="-25000" dirty="0" smtClean="0">
                  <a:solidFill>
                    <a:srgbClr val="FF0000"/>
                  </a:solidFill>
                </a:rPr>
                <a:t>0</a:t>
              </a:r>
              <a:endParaRPr lang="en-US" altLang="zh-CN" sz="2400" b="1" baseline="-25000" dirty="0" smtClean="0">
                <a:solidFill>
                  <a:srgbClr val="FF0000"/>
                </a:solidFill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>
            <a:xfrm>
              <a:off x="2269816" y="3967626"/>
              <a:ext cx="2286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2650816" y="3967626"/>
              <a:ext cx="2286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编码器：</a:t>
            </a: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3"/>
          <p:cNvSpPr txBox="1">
            <a:spLocks noChangeArrowheads="1"/>
          </p:cNvSpPr>
          <p:nvPr/>
        </p:nvSpPr>
        <p:spPr bwMode="auto">
          <a:xfrm>
            <a:off x="418785" y="1047750"/>
            <a:ext cx="86804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编码</a:t>
            </a:r>
            <a:r>
              <a:rPr lang="zh-CN" altLang="en-US" sz="1400" b="1" dirty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sz="1400" b="1" dirty="0">
                <a:latin typeface="黑体" pitchFamily="49" charset="-122"/>
                <a:ea typeface="黑体" pitchFamily="49" charset="-122"/>
              </a:rPr>
              <a:t>用一组符号按一定规则表示给定字母、数字、符号等信息的方法，编码的结果是代码。</a:t>
            </a:r>
            <a:r>
              <a:rPr lang="zh-CN" altLang="en-US" sz="1400" b="1" dirty="0"/>
              <a:t>      </a:t>
            </a:r>
            <a:endParaRPr lang="zh-CN" altLang="en-US" sz="1400" dirty="0"/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134937" y="1504950"/>
            <a:ext cx="839946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/>
              <a:t>     </a:t>
            </a:r>
            <a:r>
              <a:rPr lang="zh-CN" altLang="en-US" sz="1400" b="1" dirty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编码器：</a:t>
            </a:r>
            <a:r>
              <a:rPr lang="zh-CN" altLang="en-US" sz="1400" b="1" dirty="0">
                <a:latin typeface="黑体" pitchFamily="49" charset="-122"/>
                <a:ea typeface="黑体" pitchFamily="49" charset="-122"/>
              </a:rPr>
              <a:t>把输入</a:t>
            </a:r>
            <a:r>
              <a:rPr lang="zh-CN" altLang="en-US" sz="1400" b="1" dirty="0" smtClean="0">
                <a:latin typeface="黑体" pitchFamily="49" charset="-122"/>
                <a:ea typeface="黑体" pitchFamily="49" charset="-122"/>
              </a:rPr>
              <a:t>的电平</a:t>
            </a:r>
            <a:r>
              <a:rPr lang="zh-CN" altLang="en-US" sz="1400" b="1" dirty="0">
                <a:latin typeface="黑体" pitchFamily="49" charset="-122"/>
                <a:ea typeface="黑体" pitchFamily="49" charset="-122"/>
              </a:rPr>
              <a:t>信号编成一个对应的</a:t>
            </a:r>
            <a:r>
              <a:rPr lang="zh-CN" altLang="en-US" sz="1400" b="1" dirty="0" smtClean="0">
                <a:latin typeface="黑体" pitchFamily="49" charset="-122"/>
                <a:ea typeface="黑体" pitchFamily="49" charset="-122"/>
              </a:rPr>
              <a:t>二进制代码的电路。</a:t>
            </a:r>
            <a:endParaRPr lang="en-US" altLang="zh-CN" sz="1400" b="1" dirty="0">
              <a:latin typeface="Century" pitchFamily="18" charset="0"/>
              <a:ea typeface="黑体" pitchFamily="49" charset="-122"/>
            </a:endParaRPr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2971801" y="2114550"/>
            <a:ext cx="1066800" cy="1981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36" name="Text Box 5"/>
          <p:cNvSpPr txBox="1">
            <a:spLocks noChangeArrowheads="1"/>
          </p:cNvSpPr>
          <p:nvPr/>
        </p:nvSpPr>
        <p:spPr bwMode="auto">
          <a:xfrm>
            <a:off x="3200400" y="2342912"/>
            <a:ext cx="1255713" cy="1600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ea typeface="黑体" pitchFamily="49" charset="-122"/>
              </a:rPr>
              <a:t> 编</a:t>
            </a:r>
            <a:endParaRPr lang="en-US" altLang="zh-CN" sz="1400" b="1" dirty="0" smtClean="0">
              <a:ea typeface="黑体" pitchFamily="49" charset="-12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z="1400" b="1" dirty="0" smtClean="0">
              <a:ea typeface="黑体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ea typeface="黑体" pitchFamily="49" charset="-122"/>
              </a:rPr>
              <a:t> 码</a:t>
            </a:r>
            <a:endParaRPr lang="en-US" altLang="zh-CN" sz="1400" b="1" dirty="0" smtClean="0">
              <a:ea typeface="黑体" pitchFamily="49" charset="-12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z="1400" b="1" dirty="0" smtClean="0">
              <a:ea typeface="黑体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ea typeface="黑体" pitchFamily="49" charset="-122"/>
              </a:rPr>
              <a:t> 器</a:t>
            </a:r>
            <a:endParaRPr lang="en-US" altLang="zh-CN" sz="1400" b="1" dirty="0">
              <a:ea typeface="黑体" pitchFamily="49" charset="-122"/>
            </a:endParaRPr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>
            <a:off x="2611437" y="2605088"/>
            <a:ext cx="360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39" name="Line 7"/>
          <p:cNvSpPr>
            <a:spLocks noChangeShapeType="1"/>
          </p:cNvSpPr>
          <p:nvPr/>
        </p:nvSpPr>
        <p:spPr bwMode="auto">
          <a:xfrm>
            <a:off x="2611437" y="2963863"/>
            <a:ext cx="360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40" name="Line 8"/>
          <p:cNvSpPr>
            <a:spLocks noChangeShapeType="1"/>
          </p:cNvSpPr>
          <p:nvPr/>
        </p:nvSpPr>
        <p:spPr bwMode="auto">
          <a:xfrm>
            <a:off x="2609850" y="3289300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49" name="Text Box 17"/>
          <p:cNvSpPr txBox="1">
            <a:spLocks noChangeArrowheads="1"/>
          </p:cNvSpPr>
          <p:nvPr/>
        </p:nvSpPr>
        <p:spPr bwMode="auto">
          <a:xfrm>
            <a:off x="2241550" y="2791088"/>
            <a:ext cx="5778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 smtClean="0"/>
              <a:t>I</a:t>
            </a:r>
            <a:r>
              <a:rPr lang="en-US" altLang="zh-CN" sz="1400" b="1" baseline="-10000" dirty="0" smtClean="0"/>
              <a:t>2</a:t>
            </a:r>
            <a:endParaRPr lang="en-US" altLang="zh-CN" sz="1400" b="1" baseline="-10000" dirty="0"/>
          </a:p>
        </p:txBody>
      </p:sp>
      <p:sp>
        <p:nvSpPr>
          <p:cNvPr id="50" name="Text Box 18"/>
          <p:cNvSpPr txBox="1">
            <a:spLocks noChangeArrowheads="1"/>
          </p:cNvSpPr>
          <p:nvPr/>
        </p:nvSpPr>
        <p:spPr bwMode="auto">
          <a:xfrm>
            <a:off x="2249107" y="2426907"/>
            <a:ext cx="5778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 smtClean="0"/>
              <a:t>I</a:t>
            </a:r>
            <a:r>
              <a:rPr lang="en-US" altLang="zh-CN" sz="1400" b="1" baseline="-10000" dirty="0" smtClean="0"/>
              <a:t>3</a:t>
            </a:r>
            <a:endParaRPr lang="en-US" altLang="zh-CN" sz="1400" b="1" baseline="-10000" dirty="0"/>
          </a:p>
        </p:txBody>
      </p:sp>
      <p:sp>
        <p:nvSpPr>
          <p:cNvPr id="51" name="Text Box 19"/>
          <p:cNvSpPr txBox="1">
            <a:spLocks noChangeArrowheads="1"/>
          </p:cNvSpPr>
          <p:nvPr/>
        </p:nvSpPr>
        <p:spPr bwMode="auto">
          <a:xfrm>
            <a:off x="2241550" y="3109730"/>
            <a:ext cx="5778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 smtClean="0"/>
              <a:t>I</a:t>
            </a:r>
            <a:r>
              <a:rPr lang="en-US" altLang="zh-CN" sz="1400" b="1" baseline="-10000" dirty="0" smtClean="0"/>
              <a:t>1</a:t>
            </a:r>
            <a:endParaRPr lang="en-US" altLang="zh-CN" sz="1400" b="1" baseline="-10000" dirty="0"/>
          </a:p>
        </p:txBody>
      </p:sp>
      <p:sp>
        <p:nvSpPr>
          <p:cNvPr id="53" name="Text Box 72"/>
          <p:cNvSpPr txBox="1">
            <a:spLocks noChangeArrowheads="1"/>
          </p:cNvSpPr>
          <p:nvPr/>
        </p:nvSpPr>
        <p:spPr bwMode="auto">
          <a:xfrm>
            <a:off x="3200400" y="41719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</a:t>
            </a:r>
            <a:r>
              <a:rPr lang="en-US" altLang="zh-CN" sz="1400" b="1" dirty="0" smtClean="0"/>
              <a:t>4</a:t>
            </a:r>
            <a:endParaRPr lang="en-US" altLang="zh-CN" sz="1400" b="1" dirty="0"/>
          </a:p>
        </p:txBody>
      </p:sp>
      <p:cxnSp>
        <p:nvCxnSpPr>
          <p:cNvPr id="56" name="直接连接符 55"/>
          <p:cNvCxnSpPr/>
          <p:nvPr/>
        </p:nvCxnSpPr>
        <p:spPr>
          <a:xfrm>
            <a:off x="4038600" y="2419350"/>
            <a:ext cx="914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267200" y="2571750"/>
            <a:ext cx="553998" cy="8382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400" dirty="0" smtClean="0"/>
              <a:t>……</a:t>
            </a:r>
            <a:endParaRPr lang="zh-CN" altLang="en-US" sz="2400" dirty="0"/>
          </a:p>
        </p:txBody>
      </p:sp>
      <p:cxnSp>
        <p:nvCxnSpPr>
          <p:cNvPr id="58" name="直接连接符 57"/>
          <p:cNvCxnSpPr/>
          <p:nvPr/>
        </p:nvCxnSpPr>
        <p:spPr>
          <a:xfrm>
            <a:off x="4038600" y="3562350"/>
            <a:ext cx="914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724400" y="2724150"/>
            <a:ext cx="121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几个输出？</a:t>
            </a:r>
            <a:endParaRPr lang="zh-CN" altLang="en-US" sz="16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2" grpId="0" animBg="1"/>
      <p:bldP spid="36" grpId="0"/>
      <p:bldP spid="38" grpId="0" animBg="1"/>
      <p:bldP spid="39" grpId="0" animBg="1"/>
      <p:bldP spid="40" grpId="0" animBg="1"/>
      <p:bldP spid="49" grpId="0"/>
      <p:bldP spid="50" grpId="0"/>
      <p:bldP spid="51" grpId="0"/>
      <p:bldP spid="53" grpId="0"/>
      <p:bldP spid="57" grpId="0"/>
      <p:bldP spid="5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编码器：</a:t>
            </a: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Text Box 115"/>
          <p:cNvSpPr txBox="1">
            <a:spLocks noChangeArrowheads="1"/>
          </p:cNvSpPr>
          <p:nvPr/>
        </p:nvSpPr>
        <p:spPr bwMode="auto">
          <a:xfrm>
            <a:off x="9210675" y="4222750"/>
            <a:ext cx="2143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ea typeface="华文中宋" pitchFamily="2" charset="-122"/>
              </a:rPr>
              <a:t>配合</a:t>
            </a:r>
            <a:r>
              <a:rPr lang="en-US" altLang="zh-CN" sz="2400" b="1"/>
              <a:t>74LS48</a:t>
            </a:r>
          </a:p>
        </p:txBody>
      </p:sp>
      <p:sp>
        <p:nvSpPr>
          <p:cNvPr id="28" name="Text Box 3"/>
          <p:cNvSpPr txBox="1">
            <a:spLocks noChangeArrowheads="1"/>
          </p:cNvSpPr>
          <p:nvPr/>
        </p:nvSpPr>
        <p:spPr bwMode="auto">
          <a:xfrm>
            <a:off x="418785" y="1047750"/>
            <a:ext cx="86804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编码</a:t>
            </a:r>
            <a:r>
              <a:rPr lang="zh-CN" altLang="en-US" sz="1400" b="1" dirty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sz="1400" b="1" dirty="0">
                <a:latin typeface="黑体" pitchFamily="49" charset="-122"/>
                <a:ea typeface="黑体" pitchFamily="49" charset="-122"/>
              </a:rPr>
              <a:t>用一组符号按一定规则表示给定字母、数字、符号等信息的方法，编码的结果是代码。</a:t>
            </a:r>
            <a:r>
              <a:rPr lang="zh-CN" altLang="en-US" sz="1400" b="1" dirty="0"/>
              <a:t>      </a:t>
            </a:r>
            <a:endParaRPr lang="zh-CN" altLang="en-US" sz="1400" dirty="0"/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3505200" y="2266950"/>
            <a:ext cx="4411662" cy="846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 smtClean="0">
                <a:ea typeface="黑体" pitchFamily="49" charset="-122"/>
              </a:rPr>
              <a:t> </a:t>
            </a:r>
            <a:r>
              <a:rPr lang="zh-CN" altLang="en-US" sz="1400" b="1" dirty="0" smtClean="0">
                <a:solidFill>
                  <a:srgbClr val="FF0000"/>
                </a:solidFill>
                <a:ea typeface="黑体" pitchFamily="49" charset="-122"/>
              </a:rPr>
              <a:t>普通编码器：输入信号中只有一个信号是有效信号</a:t>
            </a:r>
            <a:endParaRPr lang="zh-CN" altLang="en-US" sz="1400" b="1" dirty="0">
              <a:solidFill>
                <a:srgbClr val="FF0000"/>
              </a:solidFill>
              <a:ea typeface="黑体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solidFill>
                  <a:srgbClr val="FF0000"/>
                </a:solidFill>
                <a:ea typeface="黑体" pitchFamily="49" charset="-122"/>
              </a:rPr>
              <a:t>  </a:t>
            </a:r>
            <a:endParaRPr lang="zh-CN" altLang="en-US" sz="1400" b="1" dirty="0">
              <a:solidFill>
                <a:srgbClr val="FF0000"/>
              </a:solidFill>
              <a:ea typeface="黑体" pitchFamily="49" charset="-122"/>
            </a:endParaRPr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134937" y="1504950"/>
            <a:ext cx="839946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/>
              <a:t>     </a:t>
            </a:r>
            <a:r>
              <a:rPr lang="zh-CN" altLang="en-US" sz="1400" b="1" dirty="0">
                <a:solidFill>
                  <a:srgbClr val="333399"/>
                </a:solidFill>
                <a:latin typeface="黑体" pitchFamily="49" charset="-122"/>
                <a:ea typeface="黑体" pitchFamily="49" charset="-122"/>
              </a:rPr>
              <a:t>编码器：</a:t>
            </a:r>
            <a:r>
              <a:rPr lang="zh-CN" altLang="en-US" sz="1400" b="1" dirty="0">
                <a:latin typeface="黑体" pitchFamily="49" charset="-122"/>
                <a:ea typeface="黑体" pitchFamily="49" charset="-122"/>
              </a:rPr>
              <a:t>把输入的每一个高低电平信号编成一个对应的二进制代码</a:t>
            </a:r>
            <a:r>
              <a:rPr lang="zh-CN" altLang="en-US" sz="1400" b="1" dirty="0" smtClean="0">
                <a:latin typeface="黑体" pitchFamily="49" charset="-122"/>
                <a:ea typeface="黑体" pitchFamily="49" charset="-122"/>
              </a:rPr>
              <a:t>。</a:t>
            </a:r>
            <a:endParaRPr lang="en-US" altLang="zh-CN" sz="1400" b="1" dirty="0">
              <a:latin typeface="Century" pitchFamily="18" charset="0"/>
              <a:ea typeface="黑体" pitchFamily="49" charset="-122"/>
            </a:endParaRPr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1143000" y="1962150"/>
            <a:ext cx="1066800" cy="1981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36" name="Text Box 5"/>
          <p:cNvSpPr txBox="1">
            <a:spLocks noChangeArrowheads="1"/>
          </p:cNvSpPr>
          <p:nvPr/>
        </p:nvSpPr>
        <p:spPr bwMode="auto">
          <a:xfrm>
            <a:off x="1371599" y="2190512"/>
            <a:ext cx="1255713" cy="1600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ea typeface="黑体" pitchFamily="49" charset="-122"/>
              </a:rPr>
              <a:t> 编</a:t>
            </a:r>
            <a:endParaRPr lang="en-US" altLang="zh-CN" sz="1400" b="1" dirty="0" smtClean="0">
              <a:ea typeface="黑体" pitchFamily="49" charset="-12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z="1400" b="1" dirty="0" smtClean="0">
              <a:ea typeface="黑体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ea typeface="黑体" pitchFamily="49" charset="-122"/>
              </a:rPr>
              <a:t> 码</a:t>
            </a:r>
            <a:endParaRPr lang="en-US" altLang="zh-CN" sz="1400" b="1" dirty="0" smtClean="0">
              <a:ea typeface="黑体" pitchFamily="49" charset="-12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z="1400" b="1" dirty="0" smtClean="0">
              <a:ea typeface="黑体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ea typeface="黑体" pitchFamily="49" charset="-122"/>
              </a:rPr>
              <a:t> 器</a:t>
            </a:r>
            <a:endParaRPr lang="en-US" altLang="zh-CN" sz="1400" b="1" dirty="0">
              <a:ea typeface="黑体" pitchFamily="49" charset="-122"/>
            </a:endParaRPr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>
            <a:off x="782636" y="2452688"/>
            <a:ext cx="360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39" name="Line 7"/>
          <p:cNvSpPr>
            <a:spLocks noChangeShapeType="1"/>
          </p:cNvSpPr>
          <p:nvPr/>
        </p:nvSpPr>
        <p:spPr bwMode="auto">
          <a:xfrm>
            <a:off x="782636" y="2811463"/>
            <a:ext cx="360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40" name="Line 8"/>
          <p:cNvSpPr>
            <a:spLocks noChangeShapeType="1"/>
          </p:cNvSpPr>
          <p:nvPr/>
        </p:nvSpPr>
        <p:spPr bwMode="auto">
          <a:xfrm>
            <a:off x="781049" y="3136900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44" name="Line 12"/>
          <p:cNvSpPr>
            <a:spLocks noChangeShapeType="1"/>
          </p:cNvSpPr>
          <p:nvPr/>
        </p:nvSpPr>
        <p:spPr bwMode="auto">
          <a:xfrm>
            <a:off x="2209799" y="3409950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47" name="Line 15"/>
          <p:cNvSpPr>
            <a:spLocks noChangeShapeType="1"/>
          </p:cNvSpPr>
          <p:nvPr/>
        </p:nvSpPr>
        <p:spPr bwMode="auto">
          <a:xfrm>
            <a:off x="2209799" y="2343150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49" name="Text Box 17"/>
          <p:cNvSpPr txBox="1">
            <a:spLocks noChangeArrowheads="1"/>
          </p:cNvSpPr>
          <p:nvPr/>
        </p:nvSpPr>
        <p:spPr bwMode="auto">
          <a:xfrm>
            <a:off x="412749" y="2638688"/>
            <a:ext cx="5778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 smtClean="0"/>
              <a:t>I</a:t>
            </a:r>
            <a:r>
              <a:rPr lang="en-US" altLang="zh-CN" sz="1400" b="1" baseline="-10000" dirty="0" smtClean="0"/>
              <a:t>2</a:t>
            </a:r>
            <a:endParaRPr lang="en-US" altLang="zh-CN" sz="1400" b="1" baseline="-10000" dirty="0"/>
          </a:p>
        </p:txBody>
      </p:sp>
      <p:sp>
        <p:nvSpPr>
          <p:cNvPr id="50" name="Text Box 18"/>
          <p:cNvSpPr txBox="1">
            <a:spLocks noChangeArrowheads="1"/>
          </p:cNvSpPr>
          <p:nvPr/>
        </p:nvSpPr>
        <p:spPr bwMode="auto">
          <a:xfrm>
            <a:off x="420306" y="2274507"/>
            <a:ext cx="5778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 smtClean="0"/>
              <a:t>I</a:t>
            </a:r>
            <a:r>
              <a:rPr lang="en-US" altLang="zh-CN" sz="1400" b="1" baseline="-10000" dirty="0" smtClean="0"/>
              <a:t>3</a:t>
            </a:r>
            <a:endParaRPr lang="en-US" altLang="zh-CN" sz="1400" b="1" baseline="-10000" dirty="0"/>
          </a:p>
        </p:txBody>
      </p:sp>
      <p:sp>
        <p:nvSpPr>
          <p:cNvPr id="51" name="Text Box 19"/>
          <p:cNvSpPr txBox="1">
            <a:spLocks noChangeArrowheads="1"/>
          </p:cNvSpPr>
          <p:nvPr/>
        </p:nvSpPr>
        <p:spPr bwMode="auto">
          <a:xfrm>
            <a:off x="412749" y="2957330"/>
            <a:ext cx="5778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 smtClean="0"/>
              <a:t>I</a:t>
            </a:r>
            <a:r>
              <a:rPr lang="en-US" altLang="zh-CN" sz="1400" b="1" baseline="-10000" dirty="0" smtClean="0"/>
              <a:t>1</a:t>
            </a:r>
            <a:endParaRPr lang="en-US" altLang="zh-CN" sz="1400" b="1" baseline="-10000" dirty="0"/>
          </a:p>
        </p:txBody>
      </p:sp>
      <p:sp>
        <p:nvSpPr>
          <p:cNvPr id="53" name="Text Box 72"/>
          <p:cNvSpPr txBox="1">
            <a:spLocks noChangeArrowheads="1"/>
          </p:cNvSpPr>
          <p:nvPr/>
        </p:nvSpPr>
        <p:spPr bwMode="auto">
          <a:xfrm>
            <a:off x="1371599" y="40195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</a:t>
            </a:r>
            <a:r>
              <a:rPr lang="en-US" altLang="zh-CN" sz="1400" b="1" dirty="0" smtClean="0"/>
              <a:t>5</a:t>
            </a:r>
            <a:endParaRPr lang="en-US" altLang="zh-CN" sz="1400" b="1" dirty="0"/>
          </a:p>
        </p:txBody>
      </p:sp>
      <p:sp>
        <p:nvSpPr>
          <p:cNvPr id="54" name="Text Box 17"/>
          <p:cNvSpPr txBox="1">
            <a:spLocks noChangeArrowheads="1"/>
          </p:cNvSpPr>
          <p:nvPr/>
        </p:nvSpPr>
        <p:spPr bwMode="auto">
          <a:xfrm>
            <a:off x="2590799" y="3257550"/>
            <a:ext cx="5778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 smtClean="0"/>
              <a:t>A</a:t>
            </a:r>
            <a:endParaRPr lang="en-US" altLang="zh-CN" sz="1400" b="1" baseline="-10000" dirty="0"/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2590799" y="2190750"/>
            <a:ext cx="5778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 smtClean="0"/>
              <a:t>B</a:t>
            </a:r>
            <a:endParaRPr lang="en-US" altLang="zh-CN" sz="1400" b="1" baseline="-10000" dirty="0"/>
          </a:p>
        </p:txBody>
      </p:sp>
      <p:sp>
        <p:nvSpPr>
          <p:cNvPr id="21" name="矩形 20"/>
          <p:cNvSpPr/>
          <p:nvPr/>
        </p:nvSpPr>
        <p:spPr>
          <a:xfrm>
            <a:off x="3616035" y="295275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  <a:ea typeface="黑体" pitchFamily="49" charset="-122"/>
              </a:rPr>
              <a:t>优先编码器：输入信号中可以有多个信号是有效信号</a:t>
            </a:r>
            <a:endParaRPr lang="zh-CN" altLang="en-US" sz="1400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普通编码器：</a:t>
            </a: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Box 72"/>
          <p:cNvSpPr txBox="1">
            <a:spLocks noChangeArrowheads="1"/>
          </p:cNvSpPr>
          <p:nvPr/>
        </p:nvSpPr>
        <p:spPr bwMode="auto">
          <a:xfrm>
            <a:off x="1371600" y="11239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表  </a:t>
            </a:r>
            <a:r>
              <a:rPr lang="en-US" altLang="zh-CN" sz="1400" b="1" dirty="0" smtClean="0"/>
              <a:t>2</a:t>
            </a:r>
            <a:endParaRPr lang="en-US" altLang="zh-CN" sz="1400" b="1" dirty="0"/>
          </a:p>
        </p:txBody>
      </p:sp>
      <p:graphicFrame>
        <p:nvGraphicFramePr>
          <p:cNvPr id="146435" name="Object 3"/>
          <p:cNvGraphicFramePr>
            <a:graphicFrameLocks noChangeAspect="1"/>
          </p:cNvGraphicFramePr>
          <p:nvPr/>
        </p:nvGraphicFramePr>
        <p:xfrm>
          <a:off x="4330700" y="895350"/>
          <a:ext cx="2159000" cy="309563"/>
        </p:xfrm>
        <a:graphic>
          <a:graphicData uri="http://schemas.openxmlformats.org/presentationml/2006/ole">
            <p:oleObj spid="_x0000_s124930" name="Equation" r:id="rId3" imgW="2209680" imgH="317160" progId="Equation.DSMT4">
              <p:embed/>
            </p:oleObj>
          </a:graphicData>
        </a:graphic>
      </p:graphicFrame>
      <p:graphicFrame>
        <p:nvGraphicFramePr>
          <p:cNvPr id="146436" name="Object 4"/>
          <p:cNvGraphicFramePr>
            <a:graphicFrameLocks noChangeAspect="1"/>
          </p:cNvGraphicFramePr>
          <p:nvPr/>
        </p:nvGraphicFramePr>
        <p:xfrm>
          <a:off x="7543800" y="895350"/>
          <a:ext cx="911729" cy="290511"/>
        </p:xfrm>
        <a:graphic>
          <a:graphicData uri="http://schemas.openxmlformats.org/presentationml/2006/ole">
            <p:oleObj spid="_x0000_s124931" name="Equation" r:id="rId4" imgW="876240" imgH="279360" progId="Equation.DSMT4">
              <p:embed/>
            </p:oleObj>
          </a:graphicData>
        </a:graphic>
      </p:graphicFrame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6858000" y="1047750"/>
            <a:ext cx="45720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33" name="TextBox 32"/>
          <p:cNvSpPr txBox="1"/>
          <p:nvPr/>
        </p:nvSpPr>
        <p:spPr>
          <a:xfrm>
            <a:off x="6781800" y="1123950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无 关 项</a:t>
            </a:r>
            <a:endParaRPr lang="zh-CN" altLang="en-US" sz="1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4419600" y="2190750"/>
          <a:ext cx="896938" cy="290513"/>
        </p:xfrm>
        <a:graphic>
          <a:graphicData uri="http://schemas.openxmlformats.org/presentationml/2006/ole">
            <p:oleObj spid="_x0000_s124932" name="Equation" r:id="rId5" imgW="863280" imgH="279360" progId="Equation.DSMT4">
              <p:embed/>
            </p:oleObj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5562600" y="2190750"/>
          <a:ext cx="3117672" cy="1981200"/>
        </p:xfrm>
        <a:graphic>
          <a:graphicData uri="http://schemas.openxmlformats.org/presentationml/2006/ole">
            <p:oleObj spid="_x0000_s124933" name="Visio" r:id="rId6" imgW="2602416" imgH="1800495" progId="Visio.Drawing.11">
              <p:embed/>
            </p:oleObj>
          </a:graphicData>
        </a:graphic>
      </p:graphicFrame>
      <p:pic>
        <p:nvPicPr>
          <p:cNvPr id="124934" name="Picture 6" descr="C:\Users\hfutliujun\AppData\Roaming\Tencent\Users\350654676\QQ\WinTemp\RichOle\)UI3[31V0%P6{KQ[WRO57S8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52400" y="1428750"/>
            <a:ext cx="3200401" cy="2514600"/>
          </a:xfrm>
          <a:prstGeom prst="rect">
            <a:avLst/>
          </a:prstGeom>
          <a:noFill/>
        </p:spPr>
      </p:pic>
      <p:sp>
        <p:nvSpPr>
          <p:cNvPr id="35" name="Text Box 72"/>
          <p:cNvSpPr txBox="1">
            <a:spLocks noChangeArrowheads="1"/>
          </p:cNvSpPr>
          <p:nvPr/>
        </p:nvSpPr>
        <p:spPr bwMode="auto">
          <a:xfrm>
            <a:off x="6096000" y="40195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6</a:t>
            </a:r>
            <a:endParaRPr lang="en-US" altLang="zh-CN" sz="1400" b="1" dirty="0"/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4343400" y="1581150"/>
          <a:ext cx="2603500" cy="304800"/>
        </p:xfrm>
        <a:graphic>
          <a:graphicData uri="http://schemas.openxmlformats.org/presentationml/2006/ole">
            <p:oleObj spid="_x0000_s124934" name="Equation" r:id="rId8" imgW="2603160" imgH="30456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subSp spid="_x0000_s124930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6435">
                                            <p:subSp spid="_x0000_s124930"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6435">
                                            <p:subSp spid="_x0000_s124930"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>
                                            <p:subSp spid="_x0000_s12493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6436">
                                            <p:subSp spid="_x0000_s124931"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6436">
                                            <p:subSp spid="_x0000_s124931"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subSp spid="_x0000_s12493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subSp spid="_x0000_s124932"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>
                                            <p:subSp spid="_x0000_s124932"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 animBg="1" autoUpdateAnimBg="0"/>
      <p:bldP spid="33" grpId="0" autoUpdateAnimBg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优先级编码器：</a:t>
            </a: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Box 72"/>
          <p:cNvSpPr txBox="1">
            <a:spLocks noChangeArrowheads="1"/>
          </p:cNvSpPr>
          <p:nvPr/>
        </p:nvSpPr>
        <p:spPr bwMode="auto">
          <a:xfrm>
            <a:off x="1447800" y="11239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表  </a:t>
            </a:r>
            <a:r>
              <a:rPr lang="en-US" altLang="zh-CN" sz="1400" b="1" dirty="0" smtClean="0"/>
              <a:t>3</a:t>
            </a:r>
            <a:endParaRPr lang="en-US" altLang="zh-CN" sz="1400" b="1" dirty="0"/>
          </a:p>
        </p:txBody>
      </p:sp>
      <p:pic>
        <p:nvPicPr>
          <p:cNvPr id="128006" name="Picture 6" descr="C:\Users\hfutliujun\AppData\Roaming\Tencent\Users\350654676\QQ\WinTemp\RichOle\1`%%VOC90YH99L3]DOLT3[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1" y="1504951"/>
            <a:ext cx="2853357" cy="1981199"/>
          </a:xfrm>
          <a:prstGeom prst="rect">
            <a:avLst/>
          </a:prstGeom>
          <a:noFill/>
        </p:spPr>
      </p:pic>
      <p:graphicFrame>
        <p:nvGraphicFramePr>
          <p:cNvPr id="149505" name="Object 1"/>
          <p:cNvGraphicFramePr>
            <a:graphicFrameLocks noChangeAspect="1"/>
          </p:cNvGraphicFramePr>
          <p:nvPr/>
        </p:nvGraphicFramePr>
        <p:xfrm>
          <a:off x="3810000" y="1276350"/>
          <a:ext cx="2768600" cy="304800"/>
        </p:xfrm>
        <a:graphic>
          <a:graphicData uri="http://schemas.openxmlformats.org/presentationml/2006/ole">
            <p:oleObj spid="_x0000_s149505" name="Equation" r:id="rId4" imgW="2768400" imgH="304560" progId="Equation.DSMT4">
              <p:embed/>
            </p:oleObj>
          </a:graphicData>
        </a:graphic>
      </p:graphicFrame>
      <p:graphicFrame>
        <p:nvGraphicFramePr>
          <p:cNvPr id="146436" name="Object 4"/>
          <p:cNvGraphicFramePr>
            <a:graphicFrameLocks noChangeAspect="1"/>
          </p:cNvGraphicFramePr>
          <p:nvPr/>
        </p:nvGraphicFramePr>
        <p:xfrm>
          <a:off x="7010400" y="1276350"/>
          <a:ext cx="1279525" cy="330200"/>
        </p:xfrm>
        <a:graphic>
          <a:graphicData uri="http://schemas.openxmlformats.org/presentationml/2006/ole">
            <p:oleObj spid="_x0000_s149506" name="Equation" r:id="rId5" imgW="1231560" imgH="317160" progId="Equation.DSMT4">
              <p:embed/>
            </p:oleObj>
          </a:graphicData>
        </a:graphic>
      </p:graphicFrame>
      <p:graphicFrame>
        <p:nvGraphicFramePr>
          <p:cNvPr id="149507" name="Object 3"/>
          <p:cNvGraphicFramePr>
            <a:graphicFrameLocks noChangeAspect="1"/>
          </p:cNvGraphicFramePr>
          <p:nvPr/>
        </p:nvGraphicFramePr>
        <p:xfrm>
          <a:off x="3835400" y="2190750"/>
          <a:ext cx="2565400" cy="304800"/>
        </p:xfrm>
        <a:graphic>
          <a:graphicData uri="http://schemas.openxmlformats.org/presentationml/2006/ole">
            <p:oleObj spid="_x0000_s149507" name="Equation" r:id="rId6" imgW="2565360" imgH="304560" progId="Equation.DSMT4">
              <p:embed/>
            </p:oleObj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7118350" y="2190750"/>
          <a:ext cx="909638" cy="330200"/>
        </p:xfrm>
        <a:graphic>
          <a:graphicData uri="http://schemas.openxmlformats.org/presentationml/2006/ole">
            <p:oleObj spid="_x0000_s149508" name="Equation" r:id="rId7" imgW="876240" imgH="31716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9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9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优先级编码器：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74LS148</a:t>
            </a: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3" name="Object 2"/>
          <p:cNvGraphicFramePr>
            <a:graphicFrameLocks noChangeAspect="1"/>
          </p:cNvGraphicFramePr>
          <p:nvPr/>
        </p:nvGraphicFramePr>
        <p:xfrm>
          <a:off x="3484563" y="1581150"/>
          <a:ext cx="4522787" cy="304800"/>
        </p:xfrm>
        <a:graphic>
          <a:graphicData uri="http://schemas.openxmlformats.org/presentationml/2006/ole">
            <p:oleObj spid="_x0000_s131074" name="Equation" r:id="rId4" imgW="4698720" imgH="317160" progId="Equation.DSMT4">
              <p:embed/>
            </p:oleObj>
          </a:graphicData>
        </a:graphic>
      </p:graphicFrame>
      <p:graphicFrame>
        <p:nvGraphicFramePr>
          <p:cNvPr id="131075" name="Object 3"/>
          <p:cNvGraphicFramePr>
            <a:graphicFrameLocks noChangeAspect="1"/>
          </p:cNvGraphicFramePr>
          <p:nvPr/>
        </p:nvGraphicFramePr>
        <p:xfrm>
          <a:off x="3505200" y="2190750"/>
          <a:ext cx="4914900" cy="304800"/>
        </p:xfrm>
        <a:graphic>
          <a:graphicData uri="http://schemas.openxmlformats.org/presentationml/2006/ole">
            <p:oleObj spid="_x0000_s131075" name="Equation" r:id="rId5" imgW="5105160" imgH="317160" progId="Equation.DSMT4">
              <p:embed/>
            </p:oleObj>
          </a:graphicData>
        </a:graphic>
      </p:graphicFrame>
      <p:graphicFrame>
        <p:nvGraphicFramePr>
          <p:cNvPr id="131076" name="Object 4"/>
          <p:cNvGraphicFramePr>
            <a:graphicFrameLocks noChangeAspect="1"/>
          </p:cNvGraphicFramePr>
          <p:nvPr/>
        </p:nvGraphicFramePr>
        <p:xfrm>
          <a:off x="3505200" y="2876550"/>
          <a:ext cx="3678238" cy="292100"/>
        </p:xfrm>
        <a:graphic>
          <a:graphicData uri="http://schemas.openxmlformats.org/presentationml/2006/ole">
            <p:oleObj spid="_x0000_s131076" name="Equation" r:id="rId6" imgW="3822480" imgH="304560" progId="Equation.DSMT4">
              <p:embed/>
            </p:oleObj>
          </a:graphicData>
        </a:graphic>
      </p:graphicFrame>
      <p:pic>
        <p:nvPicPr>
          <p:cNvPr id="131077" name="Picture 5" descr="C:\Users\hfutliujun\AppData\Roaming\Tencent\Users\350654676\QQ\WinTemp\RichOle\LT{85I2[}E0OHB}~_$@J`W9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1000" y="1123950"/>
            <a:ext cx="2667000" cy="2681574"/>
          </a:xfrm>
          <a:prstGeom prst="rect">
            <a:avLst/>
          </a:prstGeom>
          <a:noFill/>
        </p:spPr>
      </p:pic>
      <p:sp>
        <p:nvSpPr>
          <p:cNvPr id="8" name="Text Box 72"/>
          <p:cNvSpPr txBox="1">
            <a:spLocks noChangeArrowheads="1"/>
          </p:cNvSpPr>
          <p:nvPr/>
        </p:nvSpPr>
        <p:spPr bwMode="auto">
          <a:xfrm>
            <a:off x="1219200" y="40195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 </a:t>
            </a:r>
            <a:r>
              <a:rPr lang="en-US" altLang="zh-CN" sz="1400" b="1" dirty="0" smtClean="0"/>
              <a:t>7</a:t>
            </a:r>
            <a:endParaRPr lang="en-US" altLang="zh-CN" sz="1400" b="1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subSp spid="_x0000_s131074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">
                                            <p:subSp spid="_x0000_s131074"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">
                                            <p:subSp spid="_x0000_s131074"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subSp spid="_x0000_s131075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075">
                                            <p:subSp spid="_x0000_s131075"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1075">
                                            <p:subSp spid="_x0000_s131075"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>
                                            <p:subSp spid="_x0000_s131076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1076">
                                            <p:subSp spid="_x0000_s131076"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1076">
                                            <p:subSp spid="_x0000_s131076"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优先级编码器：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74LS148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功能表</a:t>
            </a: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1078" name="Picture 6" descr="C:\Users\hfutliujun\AppData\Roaming\Tencent\Users\350654676\QQ\WinTemp\RichOle\6]]33D4Z{`}GE]]~{R0QQ~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352550"/>
            <a:ext cx="4800600" cy="3529565"/>
          </a:xfrm>
          <a:prstGeom prst="rect">
            <a:avLst/>
          </a:prstGeom>
          <a:noFill/>
        </p:spPr>
      </p:pic>
      <p:sp>
        <p:nvSpPr>
          <p:cNvPr id="10" name="Text Box 72"/>
          <p:cNvSpPr txBox="1">
            <a:spLocks noChangeArrowheads="1"/>
          </p:cNvSpPr>
          <p:nvPr/>
        </p:nvSpPr>
        <p:spPr bwMode="auto">
          <a:xfrm>
            <a:off x="3505200" y="10477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表  </a:t>
            </a:r>
            <a:r>
              <a:rPr lang="en-US" altLang="zh-CN" sz="1400" b="1" dirty="0" smtClean="0"/>
              <a:t>4</a:t>
            </a:r>
            <a:endParaRPr lang="en-US" altLang="zh-CN" sz="1400" b="1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优先级编码器：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74LS148</a:t>
            </a: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1676400" y="1047750"/>
            <a:ext cx="8610600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4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1795" name="Object 3"/>
          <p:cNvGraphicFramePr>
            <a:graphicFrameLocks noChangeAspect="1"/>
          </p:cNvGraphicFramePr>
          <p:nvPr/>
        </p:nvGraphicFramePr>
        <p:xfrm>
          <a:off x="2667000" y="1123950"/>
          <a:ext cx="2581275" cy="304800"/>
        </p:xfrm>
        <a:graphic>
          <a:graphicData uri="http://schemas.openxmlformats.org/presentationml/2006/ole">
            <p:oleObj spid="_x0000_s161795" name="Equation" r:id="rId4" imgW="2679480" imgH="317160" progId="Equation.DSMT4">
              <p:embed/>
            </p:oleObj>
          </a:graphicData>
        </a:graphic>
      </p:graphicFrame>
      <p:graphicFrame>
        <p:nvGraphicFramePr>
          <p:cNvPr id="161796" name="Object 4"/>
          <p:cNvGraphicFramePr>
            <a:graphicFrameLocks noChangeAspect="1"/>
          </p:cNvGraphicFramePr>
          <p:nvPr/>
        </p:nvGraphicFramePr>
        <p:xfrm>
          <a:off x="2667000" y="1581150"/>
          <a:ext cx="2590800" cy="237907"/>
        </p:xfrm>
        <a:graphic>
          <a:graphicData uri="http://schemas.openxmlformats.org/presentationml/2006/ole">
            <p:oleObj spid="_x0000_s161796" name="Equation" r:id="rId5" imgW="1955520" imgH="266400" progId="Equation.DSMT4">
              <p:embed/>
            </p:oleObj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676400" y="1537713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输入：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76400" y="1994913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输出：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61798" name="Object 6"/>
          <p:cNvGraphicFramePr>
            <a:graphicFrameLocks noChangeAspect="1"/>
          </p:cNvGraphicFramePr>
          <p:nvPr/>
        </p:nvGraphicFramePr>
        <p:xfrm>
          <a:off x="2667000" y="1962150"/>
          <a:ext cx="1027113" cy="304800"/>
        </p:xfrm>
        <a:graphic>
          <a:graphicData uri="http://schemas.openxmlformats.org/presentationml/2006/ole">
            <p:oleObj spid="_x0000_s161798" name="Equation" r:id="rId6" imgW="1066680" imgH="317160" progId="Equation.DSMT4">
              <p:embed/>
            </p:oleObj>
          </a:graphicData>
        </a:graphic>
      </p:graphicFrame>
      <p:graphicFrame>
        <p:nvGraphicFramePr>
          <p:cNvPr id="15" name="Object 3"/>
          <p:cNvGraphicFramePr>
            <a:graphicFrameLocks noChangeAspect="1"/>
          </p:cNvGraphicFramePr>
          <p:nvPr/>
        </p:nvGraphicFramePr>
        <p:xfrm>
          <a:off x="2667000" y="2977336"/>
          <a:ext cx="2581275" cy="304800"/>
        </p:xfrm>
        <a:graphic>
          <a:graphicData uri="http://schemas.openxmlformats.org/presentationml/2006/ole">
            <p:oleObj spid="_x0000_s161799" name="Equation" r:id="rId7" imgW="2679480" imgH="317160" progId="Equation.DSMT4">
              <p:embed/>
            </p:oleObj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2667000" y="3434536"/>
          <a:ext cx="2590800" cy="238125"/>
        </p:xfrm>
        <a:graphic>
          <a:graphicData uri="http://schemas.openxmlformats.org/presentationml/2006/ole">
            <p:oleObj spid="_x0000_s161800" name="Equation" r:id="rId8" imgW="1993680" imgH="266400" progId="Equation.DSMT4">
              <p:embed/>
            </p:oleObj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676400" y="3391099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输入：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76400" y="3848299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输出：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9" name="Object 6"/>
          <p:cNvGraphicFramePr>
            <a:graphicFrameLocks noChangeAspect="1"/>
          </p:cNvGraphicFramePr>
          <p:nvPr/>
        </p:nvGraphicFramePr>
        <p:xfrm>
          <a:off x="2667000" y="3815536"/>
          <a:ext cx="1003300" cy="304800"/>
        </p:xfrm>
        <a:graphic>
          <a:graphicData uri="http://schemas.openxmlformats.org/presentationml/2006/ole">
            <p:oleObj spid="_x0000_s161801" name="Equation" r:id="rId9" imgW="1041120" imgH="317160" progId="Equation.DSMT4">
              <p:embed/>
            </p:oleObj>
          </a:graphicData>
        </a:graphic>
      </p:graphicFrame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1676400" y="2901136"/>
            <a:ext cx="8610600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4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7" grpId="0"/>
      <p:bldP spid="18" grpId="0"/>
      <p:bldP spid="20" grpId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5924</TotalTime>
  <Words>539</Words>
  <Application>Microsoft Office PowerPoint</Application>
  <PresentationFormat>全屏显示(16:9)</PresentationFormat>
  <Paragraphs>270</Paragraphs>
  <Slides>15</Slides>
  <Notes>3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默认设计模板</vt:lpstr>
      <vt:lpstr>Equation</vt:lpstr>
      <vt:lpstr>MathType 6.0 Equation</vt:lpstr>
      <vt:lpstr>Microsoft Visio 绘图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690</cp:revision>
  <cp:lastPrinted>2113-01-01T00:00:00Z</cp:lastPrinted>
  <dcterms:created xsi:type="dcterms:W3CDTF">2113-01-01T00:00:00Z</dcterms:created>
  <dcterms:modified xsi:type="dcterms:W3CDTF">2021-01-11T10:20:10Z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