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Default Extension="bin" ContentType="application/vnd.openxmlformats-officedocument.oleObject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309" r:id="rId2"/>
    <p:sldId id="311" r:id="rId3"/>
    <p:sldId id="313" r:id="rId4"/>
    <p:sldId id="315" r:id="rId5"/>
    <p:sldId id="314" r:id="rId6"/>
    <p:sldId id="335" r:id="rId7"/>
    <p:sldId id="336" r:id="rId8"/>
    <p:sldId id="321" r:id="rId9"/>
    <p:sldId id="322" r:id="rId10"/>
    <p:sldId id="323" r:id="rId11"/>
    <p:sldId id="324" r:id="rId12"/>
    <p:sldId id="325" r:id="rId13"/>
    <p:sldId id="326" r:id="rId14"/>
    <p:sldId id="338" r:id="rId15"/>
    <p:sldId id="327" r:id="rId16"/>
    <p:sldId id="328" r:id="rId17"/>
    <p:sldId id="329" r:id="rId18"/>
    <p:sldId id="339" r:id="rId19"/>
    <p:sldId id="330" r:id="rId20"/>
    <p:sldId id="331" r:id="rId21"/>
    <p:sldId id="332" r:id="rId22"/>
    <p:sldId id="333" r:id="rId23"/>
  </p:sldIdLst>
  <p:sldSz cx="9144000" cy="5143500" type="screen16x9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CC"/>
    <a:srgbClr val="2D2D8A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38" d="100"/>
          <a:sy n="138" d="100"/>
        </p:scale>
        <p:origin x="-228" y="-21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Relationship Id="rId4" Type="http://schemas.openxmlformats.org/officeDocument/2006/relationships/image" Target="../media/image18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E68FF4-A610-4CCF-A92A-54B8EBE33021}" type="datetimeFigureOut">
              <a:rPr lang="zh-CN" altLang="en-US" smtClean="0"/>
              <a:pPr/>
              <a:t>2020/12/19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D48513-AA6D-4F8A-B41C-3BE1F5014A0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1329616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4147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en-US" smtClean="0"/>
          </a:p>
        </p:txBody>
      </p:sp>
      <p:sp>
        <p:nvSpPr>
          <p:cNvPr id="134148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DF5C049-8CAC-4EC2-A32E-CA8BE7675A70}" type="slidenum">
              <a:rPr lang="en-US" altLang="zh-CN" smtClean="0"/>
              <a:pPr/>
              <a:t>10</a:t>
            </a:fld>
            <a:endParaRPr lang="en-US" altLang="zh-CN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ea typeface="微软雅黑" panose="020B0503020204020204" pitchFamily="34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dirty="0" smtClean="0"/>
              <a:t>单击此处编辑母版副标题样式</a:t>
            </a:r>
            <a:endParaRPr lang="zh-CN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9E5F32BA-079D-492C-A71C-25B1AC211EF7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101730A-013B-4CB4-BA74-6B5A2DA383AB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ea typeface="微软雅黑" panose="020B0503020204020204" pitchFamily="34" charset="-122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7D708CB0-180E-480A-B5E9-304EDB71A67E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>
                <a:ea typeface="微软雅黑" panose="020B0503020204020204" pitchFamily="34" charset="-122"/>
              </a:defRPr>
            </a:lvl1pPr>
            <a:lvl2pPr>
              <a:defRPr sz="2400">
                <a:ea typeface="微软雅黑" panose="020B0503020204020204" pitchFamily="34" charset="-122"/>
              </a:defRPr>
            </a:lvl2pPr>
            <a:lvl3pPr>
              <a:defRPr sz="2000">
                <a:ea typeface="微软雅黑" panose="020B0503020204020204" pitchFamily="34" charset="-122"/>
              </a:defRPr>
            </a:lvl3pPr>
            <a:lvl4pPr>
              <a:defRPr sz="1800">
                <a:ea typeface="微软雅黑" panose="020B0503020204020204" pitchFamily="34" charset="-122"/>
              </a:defRPr>
            </a:lvl4pPr>
            <a:lvl5pPr>
              <a:defRPr sz="1800">
                <a:ea typeface="微软雅黑" panose="020B0503020204020204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>
                <a:ea typeface="微软雅黑" panose="020B0503020204020204" pitchFamily="34" charset="-122"/>
              </a:defRPr>
            </a:lvl1pPr>
            <a:lvl2pPr>
              <a:defRPr sz="2400">
                <a:ea typeface="微软雅黑" panose="020B0503020204020204" pitchFamily="34" charset="-122"/>
              </a:defRPr>
            </a:lvl2pPr>
            <a:lvl3pPr>
              <a:defRPr sz="2000">
                <a:ea typeface="微软雅黑" panose="020B0503020204020204" pitchFamily="34" charset="-122"/>
              </a:defRPr>
            </a:lvl3pPr>
            <a:lvl4pPr>
              <a:defRPr sz="1800">
                <a:ea typeface="微软雅黑" panose="020B0503020204020204" pitchFamily="34" charset="-122"/>
              </a:defRPr>
            </a:lvl4pPr>
            <a:lvl5pPr>
              <a:defRPr sz="1800">
                <a:ea typeface="微软雅黑" panose="020B0503020204020204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BF519ABF-577E-4AA5-A198-446EB7789424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>
                <a:ea typeface="微软雅黑" panose="020B0503020204020204" pitchFamily="34" charset="-122"/>
              </a:defRPr>
            </a:lvl1pPr>
            <a:lvl2pPr>
              <a:defRPr sz="2000">
                <a:ea typeface="微软雅黑" panose="020B0503020204020204" pitchFamily="34" charset="-122"/>
              </a:defRPr>
            </a:lvl2pPr>
            <a:lvl3pPr>
              <a:defRPr sz="1800">
                <a:ea typeface="微软雅黑" panose="020B0503020204020204" pitchFamily="34" charset="-122"/>
              </a:defRPr>
            </a:lvl3pPr>
            <a:lvl4pPr>
              <a:defRPr sz="1600">
                <a:ea typeface="微软雅黑" panose="020B0503020204020204" pitchFamily="34" charset="-122"/>
              </a:defRPr>
            </a:lvl4pPr>
            <a:lvl5pPr>
              <a:defRPr sz="1600">
                <a:ea typeface="微软雅黑" panose="020B0503020204020204" pitchFamily="34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>
                <a:ea typeface="微软雅黑" panose="020B0503020204020204" pitchFamily="34" charset="-122"/>
              </a:defRPr>
            </a:lvl1pPr>
            <a:lvl2pPr>
              <a:defRPr sz="2000">
                <a:ea typeface="微软雅黑" panose="020B0503020204020204" pitchFamily="34" charset="-122"/>
              </a:defRPr>
            </a:lvl2pPr>
            <a:lvl3pPr>
              <a:defRPr sz="1800">
                <a:ea typeface="微软雅黑" panose="020B0503020204020204" pitchFamily="34" charset="-122"/>
              </a:defRPr>
            </a:lvl3pPr>
            <a:lvl4pPr>
              <a:defRPr sz="1600">
                <a:ea typeface="微软雅黑" panose="020B0503020204020204" pitchFamily="34" charset="-122"/>
              </a:defRPr>
            </a:lvl4pPr>
            <a:lvl5pPr>
              <a:defRPr sz="1600">
                <a:ea typeface="微软雅黑" panose="020B0503020204020204" pitchFamily="34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D35A92FF-C25D-44F5-BA10-134AA412F22C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CC5F3488-9DEE-45BA-87B6-C85FA6C76AB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>
                <a:ea typeface="微软雅黑" panose="020B0503020204020204" pitchFamily="34" charset="-122"/>
              </a:defRPr>
            </a:lvl1pPr>
            <a:lvl2pPr>
              <a:defRPr sz="2800">
                <a:ea typeface="微软雅黑" panose="020B0503020204020204" pitchFamily="34" charset="-122"/>
              </a:defRPr>
            </a:lvl2pPr>
            <a:lvl3pPr>
              <a:defRPr sz="2400">
                <a:ea typeface="微软雅黑" panose="020B0503020204020204" pitchFamily="34" charset="-122"/>
              </a:defRPr>
            </a:lvl3pPr>
            <a:lvl4pPr>
              <a:defRPr sz="2000">
                <a:ea typeface="微软雅黑" panose="020B0503020204020204" pitchFamily="34" charset="-122"/>
              </a:defRPr>
            </a:lvl4pPr>
            <a:lvl5pPr>
              <a:defRPr sz="2000">
                <a:ea typeface="微软雅黑" panose="020B0503020204020204" pitchFamily="34" charset="-122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ea typeface="微软雅黑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D75ABF99-AFDD-4392-BE13-BE42827BA07F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ea typeface="微软雅黑" panose="020B0503020204020204" pitchFamily="34" charset="-122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dirty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ea typeface="微软雅黑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7E1D088-313E-48D8-BECE-41A274E0B5DB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F4B0AB86-F7AE-4867-ADFF-354DE647AB0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3CEB1D2-F23D-4EFF-A6C7-152E930DD57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407513-19AE-47F0-ABD9-53914FA6981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4"/>
          <p:cNvSpPr>
            <a:spLocks noChangeArrowheads="1"/>
          </p:cNvSpPr>
          <p:nvPr userDrawn="1"/>
        </p:nvSpPr>
        <p:spPr bwMode="auto">
          <a:xfrm>
            <a:off x="76318" y="514404"/>
            <a:ext cx="8950418" cy="67865"/>
          </a:xfrm>
          <a:custGeom>
            <a:avLst/>
            <a:gdLst>
              <a:gd name="T0" fmla="*/ 0 w 1000"/>
              <a:gd name="T1" fmla="*/ 0 h 1000"/>
              <a:gd name="T2" fmla="*/ 585 w 1000"/>
              <a:gd name="T3" fmla="*/ 0 h 1000"/>
              <a:gd name="T4" fmla="*/ 585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0 w 1000"/>
              <a:gd name="T11" fmla="*/ 0 h 1000"/>
              <a:gd name="T12" fmla="*/ 1000 w 1000"/>
              <a:gd name="T13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6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6" name="Line 5"/>
          <p:cNvSpPr>
            <a:spLocks noChangeShapeType="1"/>
          </p:cNvSpPr>
          <p:nvPr userDrawn="1"/>
        </p:nvSpPr>
        <p:spPr bwMode="auto">
          <a:xfrm>
            <a:off x="76318" y="4933888"/>
            <a:ext cx="8950418" cy="0"/>
          </a:xfrm>
          <a:prstGeom prst="line">
            <a:avLst/>
          </a:prstGeom>
          <a:noFill/>
          <a:ln w="15875">
            <a:solidFill>
              <a:schemeClr val="accent2"/>
            </a:solidFill>
            <a:rou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pic>
        <p:nvPicPr>
          <p:cNvPr id="8" name="图片 7" descr="校标.png"/>
          <p:cNvPicPr>
            <a:picLocks noChangeAspect="1"/>
          </p:cNvPicPr>
          <p:nvPr userDrawn="1"/>
        </p:nvPicPr>
        <p:blipFill>
          <a:blip r:embed="rId14" cstate="print"/>
          <a:stretch>
            <a:fillRect/>
          </a:stretch>
        </p:blipFill>
        <p:spPr>
          <a:xfrm>
            <a:off x="6215019" y="0"/>
            <a:ext cx="2545745" cy="47760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jpeg"/><Relationship Id="rId5" Type="http://schemas.openxmlformats.org/officeDocument/2006/relationships/image" Target="../media/image7.png"/><Relationship Id="rId10" Type="http://schemas.openxmlformats.org/officeDocument/2006/relationships/image" Target="../media/image12.jpeg"/><Relationship Id="rId4" Type="http://schemas.openxmlformats.org/officeDocument/2006/relationships/image" Target="../media/image6.png"/><Relationship Id="rId9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4.bin"/><Relationship Id="rId5" Type="http://schemas.openxmlformats.org/officeDocument/2006/relationships/oleObject" Target="../embeddings/oleObject3.bin"/><Relationship Id="rId4" Type="http://schemas.openxmlformats.org/officeDocument/2006/relationships/oleObject" Target="../embeddings/oleObject2.bin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矩形 121"/>
          <p:cNvSpPr/>
          <p:nvPr/>
        </p:nvSpPr>
        <p:spPr>
          <a:xfrm>
            <a:off x="609704" y="1233568"/>
            <a:ext cx="792459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5400" b="1" dirty="0" smtClean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数字逻辑课程概述</a:t>
            </a:r>
            <a:endParaRPr lang="zh-CN" altLang="zh-CN" sz="54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650" name="Rectangle 59"/>
          <p:cNvSpPr>
            <a:spLocks noChangeArrowheads="1"/>
          </p:cNvSpPr>
          <p:nvPr/>
        </p:nvSpPr>
        <p:spPr bwMode="auto">
          <a:xfrm>
            <a:off x="1524000" y="2571750"/>
            <a:ext cx="6477692" cy="1523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567055" indent="-567055" algn="ctr" defTabSz="827405">
              <a:spcBef>
                <a:spcPct val="20000"/>
              </a:spcBef>
              <a:buClr>
                <a:srgbClr val="FFFF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800" b="1" dirty="0" smtClean="0">
                <a:latin typeface="+mn-ea"/>
                <a:ea typeface="+mn-ea"/>
              </a:rPr>
              <a:t>刘 军</a:t>
            </a:r>
            <a:endParaRPr lang="en-US" altLang="zh-CN" sz="2800" b="1" dirty="0" smtClean="0">
              <a:latin typeface="+mn-ea"/>
              <a:ea typeface="+mn-ea"/>
            </a:endParaRPr>
          </a:p>
          <a:p>
            <a:pPr marL="567055" indent="-567055" algn="ctr" defTabSz="827405">
              <a:spcBef>
                <a:spcPct val="20000"/>
              </a:spcBef>
              <a:buClr>
                <a:srgbClr val="FFFF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800" b="1" dirty="0" smtClean="0">
                <a:latin typeface="+mn-ea"/>
                <a:ea typeface="+mn-ea"/>
              </a:rPr>
              <a:t>合肥工业大学计算机与信息学院</a:t>
            </a:r>
            <a:endParaRPr lang="en-US" altLang="zh-CN" sz="28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344735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52400" y="0"/>
            <a:ext cx="25234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：课 程 概 述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76200" y="971550"/>
            <a:ext cx="8610600" cy="190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 indent="457200">
              <a:lnSpc>
                <a:spcPct val="150000"/>
              </a:lnSpc>
              <a:spcBef>
                <a:spcPts val="600"/>
              </a:spcBef>
            </a:pPr>
            <a:r>
              <a:rPr lang="zh-CN" altLang="en-US" b="1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模拟信号： </a:t>
            </a: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在时间上和数值上都是连续变化的信号。如电压、电流、温度等。</a:t>
            </a: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Picture 5" descr="010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114550"/>
            <a:ext cx="3124200" cy="2002294"/>
          </a:xfrm>
          <a:prstGeom prst="rect">
            <a:avLst/>
          </a:prstGeom>
          <a:noFill/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</p:pic>
      <p:sp>
        <p:nvSpPr>
          <p:cNvPr id="5" name="矩形 4"/>
          <p:cNvSpPr/>
          <p:nvPr/>
        </p:nvSpPr>
        <p:spPr>
          <a:xfrm>
            <a:off x="76200" y="1504950"/>
            <a:ext cx="8839200" cy="458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457200">
              <a:lnSpc>
                <a:spcPct val="150000"/>
              </a:lnSpc>
            </a:pPr>
            <a:r>
              <a:rPr lang="zh-CN" altLang="en-US" b="1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数字信号： </a:t>
            </a: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在时间上和数值上都是离散的信号。如十进制数值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0-9</a:t>
            </a: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0" y="2391987"/>
            <a:ext cx="5236395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矩形 10"/>
          <p:cNvSpPr/>
          <p:nvPr/>
        </p:nvSpPr>
        <p:spPr>
          <a:xfrm>
            <a:off x="381000" y="4248150"/>
            <a:ext cx="3276600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457200">
              <a:lnSpc>
                <a:spcPct val="150000"/>
              </a:lnSpc>
            </a:pPr>
            <a:r>
              <a:rPr lang="zh-CN" altLang="en-US" b="1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图</a:t>
            </a:r>
            <a:r>
              <a:rPr lang="en-US" altLang="zh-CN" b="1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b="1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模拟信号</a:t>
            </a: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Rectangle 14"/>
          <p:cNvSpPr>
            <a:spLocks noChangeArrowheads="1"/>
          </p:cNvSpPr>
          <p:nvPr/>
        </p:nvSpPr>
        <p:spPr bwMode="auto">
          <a:xfrm>
            <a:off x="76200" y="511135"/>
            <a:ext cx="8610600" cy="190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 indent="457200">
              <a:lnSpc>
                <a:spcPct val="150000"/>
              </a:lnSpc>
            </a:pP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数字逻辑：</a:t>
            </a: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也叫数字逻辑电路，用来处理</a:t>
            </a: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数字信号</a:t>
            </a: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的逻辑电路。</a:t>
            </a: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800600" y="4248150"/>
            <a:ext cx="3276600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457200">
              <a:lnSpc>
                <a:spcPct val="150000"/>
              </a:lnSpc>
            </a:pPr>
            <a:r>
              <a:rPr lang="zh-CN" altLang="en-US" b="1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图</a:t>
            </a:r>
            <a:r>
              <a:rPr lang="en-US" altLang="zh-CN" b="1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    </a:t>
            </a:r>
            <a:r>
              <a:rPr lang="zh-CN" altLang="en-US" b="1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数字信号</a:t>
            </a: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5" grpId="0"/>
      <p:bldP spid="11" grpId="0"/>
      <p:bldP spid="9" grpId="0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52400" y="0"/>
            <a:ext cx="25234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：课 程 概 述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0" y="666750"/>
            <a:ext cx="8610600" cy="20467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 indent="457200">
              <a:lnSpc>
                <a:spcPct val="150000"/>
              </a:lnSpc>
            </a:pPr>
            <a:r>
              <a:rPr lang="en-US" altLang="zh-CN" sz="2400" b="1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2400" b="1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模拟信号与数字信号相互转换：</a:t>
            </a:r>
            <a:endParaRPr lang="en-US" altLang="zh-CN" sz="2400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2117725" y="1581150"/>
            <a:ext cx="543739" cy="1815882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模</a:t>
            </a:r>
          </a:p>
          <a:p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拟</a:t>
            </a:r>
          </a:p>
          <a:p>
            <a:r>
              <a:rPr lang="zh-CN" altLang="en-US" sz="2800" dirty="0" smtClean="0">
                <a:latin typeface="黑体" pitchFamily="49" charset="-122"/>
                <a:ea typeface="黑体" pitchFamily="49" charset="-122"/>
              </a:rPr>
              <a:t>信</a:t>
            </a:r>
            <a:endParaRPr lang="en-US" altLang="zh-CN" sz="2800" dirty="0" smtClean="0">
              <a:latin typeface="黑体" pitchFamily="49" charset="-122"/>
              <a:ea typeface="黑体" pitchFamily="49" charset="-122"/>
            </a:endParaRPr>
          </a:p>
          <a:p>
            <a:r>
              <a:rPr lang="zh-CN" altLang="en-US" sz="2800" dirty="0" smtClean="0">
                <a:latin typeface="黑体" pitchFamily="49" charset="-122"/>
                <a:ea typeface="黑体" pitchFamily="49" charset="-122"/>
              </a:rPr>
              <a:t>号</a:t>
            </a:r>
            <a:endParaRPr lang="zh-CN" altLang="en-US" sz="280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8" name="Line 7"/>
          <p:cNvSpPr>
            <a:spLocks noChangeShapeType="1"/>
          </p:cNvSpPr>
          <p:nvPr/>
        </p:nvSpPr>
        <p:spPr bwMode="auto">
          <a:xfrm>
            <a:off x="2667000" y="1962150"/>
            <a:ext cx="958850" cy="1588"/>
          </a:xfrm>
          <a:prstGeom prst="line">
            <a:avLst/>
          </a:prstGeom>
          <a:noFill/>
          <a:ln w="57150">
            <a:solidFill>
              <a:srgbClr val="FF0000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3625850" y="1682750"/>
            <a:ext cx="717550" cy="519113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800" dirty="0">
                <a:latin typeface="黑体" pitchFamily="49" charset="-122"/>
                <a:ea typeface="黑体" pitchFamily="49" charset="-122"/>
              </a:rPr>
              <a:t>A/D</a:t>
            </a:r>
          </a:p>
        </p:txBody>
      </p:sp>
      <p:sp>
        <p:nvSpPr>
          <p:cNvPr id="10" name="Line 9"/>
          <p:cNvSpPr>
            <a:spLocks noChangeShapeType="1"/>
          </p:cNvSpPr>
          <p:nvPr/>
        </p:nvSpPr>
        <p:spPr bwMode="auto">
          <a:xfrm>
            <a:off x="4343400" y="1962150"/>
            <a:ext cx="958850" cy="1588"/>
          </a:xfrm>
          <a:prstGeom prst="line">
            <a:avLst/>
          </a:prstGeom>
          <a:noFill/>
          <a:ln w="57150">
            <a:solidFill>
              <a:srgbClr val="FF0000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" name="Text Box 11"/>
          <p:cNvSpPr txBox="1">
            <a:spLocks noChangeArrowheads="1"/>
          </p:cNvSpPr>
          <p:nvPr/>
        </p:nvSpPr>
        <p:spPr bwMode="auto">
          <a:xfrm>
            <a:off x="3625850" y="2649538"/>
            <a:ext cx="717550" cy="519112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800" dirty="0">
                <a:latin typeface="黑体" pitchFamily="49" charset="-122"/>
                <a:ea typeface="黑体" pitchFamily="49" charset="-122"/>
              </a:rPr>
              <a:t>D/A</a:t>
            </a:r>
          </a:p>
        </p:txBody>
      </p:sp>
      <p:sp>
        <p:nvSpPr>
          <p:cNvPr id="13" name="Line 12"/>
          <p:cNvSpPr>
            <a:spLocks noChangeShapeType="1"/>
          </p:cNvSpPr>
          <p:nvPr/>
        </p:nvSpPr>
        <p:spPr bwMode="auto">
          <a:xfrm flipH="1">
            <a:off x="4343400" y="2952750"/>
            <a:ext cx="958850" cy="1588"/>
          </a:xfrm>
          <a:prstGeom prst="line">
            <a:avLst/>
          </a:prstGeom>
          <a:noFill/>
          <a:ln w="57150">
            <a:solidFill>
              <a:srgbClr val="FF0000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4" name="Line 13"/>
          <p:cNvSpPr>
            <a:spLocks noChangeShapeType="1"/>
          </p:cNvSpPr>
          <p:nvPr/>
        </p:nvSpPr>
        <p:spPr bwMode="auto">
          <a:xfrm flipH="1">
            <a:off x="2667000" y="2952750"/>
            <a:ext cx="958850" cy="1588"/>
          </a:xfrm>
          <a:prstGeom prst="line">
            <a:avLst/>
          </a:prstGeom>
          <a:noFill/>
          <a:ln w="57150">
            <a:solidFill>
              <a:srgbClr val="FF0000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5" name="Text Box 4"/>
          <p:cNvSpPr txBox="1">
            <a:spLocks noChangeArrowheads="1"/>
          </p:cNvSpPr>
          <p:nvPr/>
        </p:nvSpPr>
        <p:spPr bwMode="auto">
          <a:xfrm>
            <a:off x="5318125" y="1581150"/>
            <a:ext cx="543739" cy="1815882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800" dirty="0" smtClean="0">
                <a:latin typeface="黑体" pitchFamily="49" charset="-122"/>
                <a:ea typeface="黑体" pitchFamily="49" charset="-122"/>
              </a:rPr>
              <a:t>数</a:t>
            </a:r>
            <a:endParaRPr lang="en-US" altLang="zh-CN" sz="2800" dirty="0" smtClean="0">
              <a:latin typeface="黑体" pitchFamily="49" charset="-122"/>
              <a:ea typeface="黑体" pitchFamily="49" charset="-122"/>
            </a:endParaRPr>
          </a:p>
          <a:p>
            <a:r>
              <a:rPr lang="zh-CN" altLang="en-US" sz="2800" dirty="0" smtClean="0">
                <a:latin typeface="黑体" pitchFamily="49" charset="-122"/>
                <a:ea typeface="黑体" pitchFamily="49" charset="-122"/>
              </a:rPr>
              <a:t>字</a:t>
            </a:r>
            <a:endParaRPr lang="zh-CN" altLang="en-US" sz="2800" dirty="0">
              <a:latin typeface="黑体" pitchFamily="49" charset="-122"/>
              <a:ea typeface="黑体" pitchFamily="49" charset="-122"/>
            </a:endParaRPr>
          </a:p>
          <a:p>
            <a:r>
              <a:rPr lang="zh-CN" altLang="en-US" sz="2800" dirty="0" smtClean="0">
                <a:latin typeface="黑体" pitchFamily="49" charset="-122"/>
                <a:ea typeface="黑体" pitchFamily="49" charset="-122"/>
              </a:rPr>
              <a:t>信</a:t>
            </a:r>
            <a:endParaRPr lang="en-US" altLang="zh-CN" sz="2800" dirty="0" smtClean="0">
              <a:latin typeface="黑体" pitchFamily="49" charset="-122"/>
              <a:ea typeface="黑体" pitchFamily="49" charset="-122"/>
            </a:endParaRPr>
          </a:p>
          <a:p>
            <a:r>
              <a:rPr lang="zh-CN" altLang="en-US" sz="2800" dirty="0" smtClean="0">
                <a:latin typeface="黑体" pitchFamily="49" charset="-122"/>
                <a:ea typeface="黑体" pitchFamily="49" charset="-122"/>
              </a:rPr>
              <a:t>号</a:t>
            </a:r>
            <a:endParaRPr lang="zh-CN" altLang="en-US" sz="280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438400" y="3562350"/>
            <a:ext cx="3276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zh-CN" altLang="en-US" b="1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en-US" altLang="zh-CN" b="1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b="1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数字与模拟信号相互转换</a:t>
            </a:r>
            <a:r>
              <a:rPr lang="en-US" altLang="zh-CN" b="1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52400" y="0"/>
            <a:ext cx="25234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：课 程 概 述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838200" y="1200150"/>
            <a:ext cx="6858000" cy="3352800"/>
            <a:chOff x="1014413" y="2041525"/>
            <a:chExt cx="7291387" cy="4270375"/>
          </a:xfrm>
        </p:grpSpPr>
        <p:pic>
          <p:nvPicPr>
            <p:cNvPr id="38" name="Picture 21" descr="13862_l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3409950" y="5089525"/>
              <a:ext cx="1924050" cy="12223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39" name="组合 22"/>
            <p:cNvGrpSpPr/>
            <p:nvPr/>
          </p:nvGrpSpPr>
          <p:grpSpPr>
            <a:xfrm>
              <a:off x="1014413" y="2041525"/>
              <a:ext cx="7291387" cy="4094058"/>
              <a:chOff x="1014413" y="2041525"/>
              <a:chExt cx="7291387" cy="4094058"/>
            </a:xfrm>
          </p:grpSpPr>
          <p:pic>
            <p:nvPicPr>
              <p:cNvPr id="40" name="Picture 3" descr="r380-45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5443538" y="2085975"/>
                <a:ext cx="2862262" cy="25161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41" name="Picture 4" descr="tv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1055688" y="5089525"/>
                <a:ext cx="841375" cy="7921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42" name="Text Box 5"/>
              <p:cNvSpPr txBox="1">
                <a:spLocks noChangeArrowheads="1"/>
              </p:cNvSpPr>
              <p:nvPr/>
            </p:nvSpPr>
            <p:spPr bwMode="auto">
              <a:xfrm>
                <a:off x="1100138" y="2085975"/>
                <a:ext cx="895350" cy="3048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accent2"/>
                    </a:solidFill>
                    <a:latin typeface="Helvetica" pitchFamily="34" charset="0"/>
                  </a:rPr>
                  <a:t>数码相机</a:t>
                </a:r>
              </a:p>
            </p:txBody>
          </p:sp>
          <p:sp>
            <p:nvSpPr>
              <p:cNvPr id="43" name="Text Box 6"/>
              <p:cNvSpPr txBox="1">
                <a:spLocks noChangeArrowheads="1"/>
              </p:cNvSpPr>
              <p:nvPr/>
            </p:nvSpPr>
            <p:spPr bwMode="auto">
              <a:xfrm>
                <a:off x="1185863" y="3940175"/>
                <a:ext cx="895350" cy="3048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accent2"/>
                    </a:solidFill>
                    <a:latin typeface="Helvetica" pitchFamily="34" charset="0"/>
                  </a:rPr>
                  <a:t>移动电话</a:t>
                </a:r>
              </a:p>
            </p:txBody>
          </p:sp>
          <p:sp>
            <p:nvSpPr>
              <p:cNvPr id="44" name="Text Box 7"/>
              <p:cNvSpPr txBox="1">
                <a:spLocks noChangeArrowheads="1"/>
              </p:cNvSpPr>
              <p:nvPr/>
            </p:nvSpPr>
            <p:spPr bwMode="auto">
              <a:xfrm>
                <a:off x="3309938" y="4829175"/>
                <a:ext cx="963725" cy="3077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1400" b="1">
                    <a:solidFill>
                      <a:schemeClr val="accent2"/>
                    </a:solidFill>
                    <a:latin typeface="Helvetica" pitchFamily="34" charset="0"/>
                  </a:rPr>
                  <a:t>WAP</a:t>
                </a:r>
                <a:r>
                  <a:rPr lang="zh-CN" altLang="en-US" sz="1400" b="1">
                    <a:solidFill>
                      <a:schemeClr val="accent2"/>
                    </a:solidFill>
                    <a:latin typeface="Helvetica" pitchFamily="34" charset="0"/>
                  </a:rPr>
                  <a:t>电话</a:t>
                </a:r>
              </a:p>
            </p:txBody>
          </p:sp>
          <p:pic>
            <p:nvPicPr>
              <p:cNvPr id="45" name="Picture 8" descr="Palm5"/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auto">
              <a:xfrm>
                <a:off x="6942138" y="4219575"/>
                <a:ext cx="939800" cy="1284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46" name="Text Box 9"/>
              <p:cNvSpPr txBox="1">
                <a:spLocks noChangeArrowheads="1"/>
              </p:cNvSpPr>
              <p:nvPr/>
            </p:nvSpPr>
            <p:spPr bwMode="auto">
              <a:xfrm>
                <a:off x="1976438" y="5438775"/>
                <a:ext cx="800100" cy="3048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1400" b="1" dirty="0">
                    <a:solidFill>
                      <a:schemeClr val="accent2"/>
                    </a:solidFill>
                    <a:latin typeface="Helvetica" pitchFamily="34" charset="0"/>
                  </a:rPr>
                  <a:t>电视机</a:t>
                </a:r>
              </a:p>
            </p:txBody>
          </p:sp>
          <p:sp>
            <p:nvSpPr>
              <p:cNvPr id="47" name="Text Box 10"/>
              <p:cNvSpPr txBox="1">
                <a:spLocks noChangeArrowheads="1"/>
              </p:cNvSpPr>
              <p:nvPr/>
            </p:nvSpPr>
            <p:spPr bwMode="auto">
              <a:xfrm>
                <a:off x="6586538" y="2289175"/>
                <a:ext cx="952500" cy="3048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1400" b="1" dirty="0">
                    <a:solidFill>
                      <a:schemeClr val="accent2"/>
                    </a:solidFill>
                    <a:latin typeface="Helvetica" pitchFamily="34" charset="0"/>
                  </a:rPr>
                  <a:t>智能电话</a:t>
                </a:r>
              </a:p>
            </p:txBody>
          </p:sp>
          <p:sp>
            <p:nvSpPr>
              <p:cNvPr id="48" name="Text Box 11"/>
              <p:cNvSpPr txBox="1">
                <a:spLocks noChangeArrowheads="1"/>
              </p:cNvSpPr>
              <p:nvPr/>
            </p:nvSpPr>
            <p:spPr bwMode="auto">
              <a:xfrm>
                <a:off x="5334000" y="4524375"/>
                <a:ext cx="1206500" cy="3048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1400" b="1">
                    <a:solidFill>
                      <a:schemeClr val="accent2"/>
                    </a:solidFill>
                    <a:latin typeface="Helvetica" pitchFamily="34" charset="0"/>
                  </a:rPr>
                  <a:t>双向寻呼机</a:t>
                </a:r>
              </a:p>
            </p:txBody>
          </p:sp>
          <p:pic>
            <p:nvPicPr>
              <p:cNvPr id="49" name="Picture 12" descr="r380closed"/>
              <p:cNvPicPr>
                <a:picLocks noChangeAspect="1" noChangeArrowheads="1"/>
              </p:cNvPicPr>
              <p:nvPr/>
            </p:nvPicPr>
            <p:blipFill>
              <a:blip r:embed="rId6" cstate="print"/>
              <a:srcRect/>
              <a:stretch>
                <a:fillRect/>
              </a:stretch>
            </p:blipFill>
            <p:spPr bwMode="auto">
              <a:xfrm>
                <a:off x="3911600" y="3343275"/>
                <a:ext cx="493713" cy="15287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50" name="Picture 13" descr="Pager two way Motorola"/>
              <p:cNvPicPr>
                <a:picLocks noChangeAspect="1" noChangeArrowheads="1"/>
              </p:cNvPicPr>
              <p:nvPr/>
            </p:nvPicPr>
            <p:blipFill>
              <a:blip r:embed="rId7" cstate="print"/>
              <a:srcRect/>
              <a:stretch>
                <a:fillRect/>
              </a:stretch>
            </p:blipFill>
            <p:spPr bwMode="auto">
              <a:xfrm>
                <a:off x="5549900" y="4829175"/>
                <a:ext cx="774700" cy="9604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51" name="Picture 14" descr="Ericsson T28 frontal"/>
              <p:cNvPicPr>
                <a:picLocks noChangeAspect="1" noChangeArrowheads="1"/>
              </p:cNvPicPr>
              <p:nvPr/>
            </p:nvPicPr>
            <p:blipFill>
              <a:blip r:embed="rId8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/>
              <a:stretch>
                <a:fillRect/>
              </a:stretch>
            </p:blipFill>
            <p:spPr bwMode="auto">
              <a:xfrm>
                <a:off x="2081213" y="3535363"/>
                <a:ext cx="874712" cy="13684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52" name="Picture 15" descr="Legend STB"/>
              <p:cNvPicPr>
                <a:picLocks noChangeAspect="1" noChangeArrowheads="1"/>
              </p:cNvPicPr>
              <p:nvPr/>
            </p:nvPicPr>
            <p:blipFill>
              <a:blip r:embed="rId9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/>
              <a:stretch>
                <a:fillRect/>
              </a:stretch>
            </p:blipFill>
            <p:spPr bwMode="auto">
              <a:xfrm>
                <a:off x="4833938" y="2238375"/>
                <a:ext cx="1103312" cy="17018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53" name="Text Box 16"/>
              <p:cNvSpPr txBox="1">
                <a:spLocks noChangeArrowheads="1"/>
              </p:cNvSpPr>
              <p:nvPr/>
            </p:nvSpPr>
            <p:spPr bwMode="auto">
              <a:xfrm>
                <a:off x="4452938" y="2162175"/>
                <a:ext cx="774700" cy="3048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1400" b="1" dirty="0">
                    <a:solidFill>
                      <a:schemeClr val="accent2"/>
                    </a:solidFill>
                    <a:latin typeface="Helvetica" pitchFamily="34" charset="0"/>
                  </a:rPr>
                  <a:t>机顶盒</a:t>
                </a:r>
                <a:endParaRPr lang="zh-CN" altLang="en-US" sz="1400" b="1" dirty="0">
                  <a:solidFill>
                    <a:schemeClr val="accent2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54" name="Text Box 17"/>
              <p:cNvSpPr txBox="1">
                <a:spLocks noChangeArrowheads="1"/>
              </p:cNvSpPr>
              <p:nvPr/>
            </p:nvSpPr>
            <p:spPr bwMode="auto">
              <a:xfrm>
                <a:off x="2798763" y="2041525"/>
                <a:ext cx="549275" cy="3048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1400" b="1" dirty="0">
                    <a:solidFill>
                      <a:schemeClr val="accent2"/>
                    </a:solidFill>
                    <a:latin typeface="Helvetica" pitchFamily="34" charset="0"/>
                  </a:rPr>
                  <a:t>MP3</a:t>
                </a:r>
              </a:p>
            </p:txBody>
          </p:sp>
          <p:sp>
            <p:nvSpPr>
              <p:cNvPr id="55" name="Text Box 18"/>
              <p:cNvSpPr txBox="1">
                <a:spLocks noChangeArrowheads="1"/>
              </p:cNvSpPr>
              <p:nvPr/>
            </p:nvSpPr>
            <p:spPr bwMode="auto">
              <a:xfrm>
                <a:off x="7062788" y="5575300"/>
                <a:ext cx="660400" cy="3048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400" b="1" dirty="0">
                    <a:solidFill>
                      <a:schemeClr val="accent2"/>
                    </a:solidFill>
                    <a:latin typeface="Helvetica" pitchFamily="34" charset="0"/>
                  </a:rPr>
                  <a:t>PDA</a:t>
                </a:r>
              </a:p>
            </p:txBody>
          </p:sp>
          <p:pic>
            <p:nvPicPr>
              <p:cNvPr id="56" name="Picture 19" descr="5728_l"/>
              <p:cNvPicPr>
                <a:picLocks noChangeAspect="1" noChangeArrowheads="1"/>
              </p:cNvPicPr>
              <p:nvPr/>
            </p:nvPicPr>
            <p:blipFill>
              <a:blip r:embed="rId10" cstate="print"/>
              <a:srcRect/>
              <a:stretch>
                <a:fillRect/>
              </a:stretch>
            </p:blipFill>
            <p:spPr bwMode="auto">
              <a:xfrm>
                <a:off x="1014413" y="2593975"/>
                <a:ext cx="981075" cy="749300"/>
              </a:xfrm>
              <a:prstGeom prst="rect">
                <a:avLst/>
              </a:prstGeom>
              <a:solidFill>
                <a:schemeClr val="hlink"/>
              </a:solidFill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57" name="Picture 20" descr="12252_l"/>
              <p:cNvPicPr>
                <a:picLocks noChangeAspect="1" noChangeArrowheads="1"/>
              </p:cNvPicPr>
              <p:nvPr/>
            </p:nvPicPr>
            <p:blipFill>
              <a:blip r:embed="rId11" cstate="print"/>
              <a:srcRect/>
              <a:stretch>
                <a:fillRect/>
              </a:stretch>
            </p:blipFill>
            <p:spPr bwMode="auto">
              <a:xfrm>
                <a:off x="2519363" y="2466975"/>
                <a:ext cx="1355725" cy="8763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58" name="Text Box 22"/>
              <p:cNvSpPr txBox="1">
                <a:spLocks noChangeArrowheads="1"/>
              </p:cNvSpPr>
              <p:nvPr/>
            </p:nvSpPr>
            <p:spPr bwMode="auto">
              <a:xfrm>
                <a:off x="2665414" y="5743575"/>
                <a:ext cx="1184539" cy="39200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1400" b="1" dirty="0">
                    <a:solidFill>
                      <a:schemeClr val="accent2"/>
                    </a:solidFill>
                    <a:latin typeface="Helvetica" pitchFamily="34" charset="0"/>
                  </a:rPr>
                  <a:t>数码摄像机</a:t>
                </a:r>
              </a:p>
            </p:txBody>
          </p:sp>
        </p:grpSp>
      </p:grpSp>
      <p:sp>
        <p:nvSpPr>
          <p:cNvPr id="59" name="Rectangle 14"/>
          <p:cNvSpPr>
            <a:spLocks noChangeArrowheads="1"/>
          </p:cNvSpPr>
          <p:nvPr/>
        </p:nvSpPr>
        <p:spPr bwMode="auto">
          <a:xfrm>
            <a:off x="0" y="590550"/>
            <a:ext cx="8610600" cy="20467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 indent="457200">
              <a:lnSpc>
                <a:spcPct val="150000"/>
              </a:lnSpc>
            </a:pPr>
            <a:r>
              <a:rPr lang="en-US" altLang="zh-CN" sz="2400" b="1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1.2 </a:t>
            </a:r>
            <a:r>
              <a:rPr lang="zh-CN" altLang="en-US" sz="2400" b="1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处理数字信号的系统设备：</a:t>
            </a:r>
            <a:endParaRPr lang="en-US" altLang="zh-CN" sz="2400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200400" y="4552950"/>
            <a:ext cx="3276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zh-CN" altLang="en-US" b="1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en-US" altLang="zh-CN" b="1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r>
              <a:rPr lang="zh-CN" altLang="en-US" b="1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数字系统</a:t>
            </a: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52400" y="0"/>
            <a:ext cx="25234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：课 程 概 述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0" y="666750"/>
            <a:ext cx="8610600" cy="20467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 indent="457200">
              <a:lnSpc>
                <a:spcPct val="150000"/>
              </a:lnSpc>
            </a:pPr>
            <a:r>
              <a:rPr lang="en-US" altLang="zh-CN" sz="2400" b="1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1.2 </a:t>
            </a:r>
            <a:r>
              <a:rPr lang="zh-CN" altLang="en-US" sz="2400" b="1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数字电路的优势：</a:t>
            </a:r>
            <a:endParaRPr lang="en-US" altLang="zh-CN" sz="2400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Rectangle 3"/>
          <p:cNvSpPr txBox="1">
            <a:spLocks noChangeArrowheads="1"/>
          </p:cNvSpPr>
          <p:nvPr/>
        </p:nvSpPr>
        <p:spPr>
          <a:xfrm>
            <a:off x="838200" y="1352550"/>
            <a:ext cx="7772400" cy="3048000"/>
          </a:xfrm>
          <a:prstGeom prst="rect">
            <a:avLst/>
          </a:prstGeom>
        </p:spPr>
        <p:txBody>
          <a:bodyPr/>
          <a:lstStyle/>
          <a:p>
            <a:pPr marL="609600" marR="0" lvl="0" indent="-609600" algn="l" defTabSz="914400" rtl="0" eaLnBrk="1" fontAlgn="base" latinLnBrk="0" hangingPunct="1">
              <a:lnSpc>
                <a:spcPct val="100000"/>
              </a:lnSpc>
              <a:spcBef>
                <a:spcPct val="60000"/>
              </a:spcBef>
              <a:spcAft>
                <a:spcPct val="0"/>
              </a:spcAft>
              <a:buClr>
                <a:schemeClr val="tx1"/>
              </a:buClr>
              <a:buSzPct val="80000"/>
              <a:tabLst/>
              <a:defRPr/>
            </a:pPr>
            <a:r>
              <a:rPr kumimoji="0" lang="en-US" altLang="zh-CN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1. </a:t>
            </a:r>
            <a:r>
              <a:rPr kumimoji="0" lang="zh-CN" altLang="en-US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便于高度集成化。 </a:t>
            </a:r>
          </a:p>
        </p:txBody>
      </p:sp>
      <p:sp>
        <p:nvSpPr>
          <p:cNvPr id="5" name="矩形 4"/>
          <p:cNvSpPr/>
          <p:nvPr/>
        </p:nvSpPr>
        <p:spPr>
          <a:xfrm>
            <a:off x="838200" y="1962150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marL="609600" lvl="0" indent="-609600">
              <a:spcBef>
                <a:spcPct val="60000"/>
              </a:spcBef>
              <a:buClr>
                <a:schemeClr val="tx1"/>
              </a:buClr>
              <a:buSzPct val="80000"/>
              <a:defRPr/>
            </a:pPr>
            <a:r>
              <a:rPr lang="en-US" altLang="zh-CN" kern="0" dirty="0" smtClean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2. </a:t>
            </a:r>
            <a:r>
              <a:rPr lang="zh-CN" altLang="en-US" kern="0" dirty="0" smtClean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工作可靠性高、抗干扰能力强。 </a:t>
            </a:r>
          </a:p>
        </p:txBody>
      </p:sp>
      <p:sp>
        <p:nvSpPr>
          <p:cNvPr id="8" name="矩形 7"/>
          <p:cNvSpPr/>
          <p:nvPr/>
        </p:nvSpPr>
        <p:spPr>
          <a:xfrm>
            <a:off x="838200" y="2647950"/>
            <a:ext cx="5562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09600" lvl="0" indent="-609600">
              <a:spcBef>
                <a:spcPct val="60000"/>
              </a:spcBef>
              <a:buClr>
                <a:schemeClr val="tx1"/>
              </a:buClr>
              <a:buSzPct val="80000"/>
              <a:defRPr/>
            </a:pPr>
            <a:r>
              <a:rPr lang="en-US" altLang="zh-CN" kern="0" dirty="0" smtClean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3. </a:t>
            </a:r>
            <a:r>
              <a:rPr lang="zh-CN" altLang="en-US" kern="0" dirty="0" smtClean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数字集成电路的产品系列多、通用性强、成本低。</a:t>
            </a:r>
          </a:p>
        </p:txBody>
      </p:sp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5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52400" y="0"/>
            <a:ext cx="25234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：课 程 概 述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0" y="666750"/>
            <a:ext cx="8610600" cy="20467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 indent="457200">
              <a:lnSpc>
                <a:spcPct val="150000"/>
              </a:lnSpc>
            </a:pPr>
            <a:r>
              <a:rPr lang="en-US" altLang="zh-CN" sz="2400" b="1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1.5 </a:t>
            </a:r>
            <a:r>
              <a:rPr lang="zh-CN" altLang="en-US" sz="2400" b="1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数字逻辑课程的主要内容：</a:t>
            </a:r>
            <a:endParaRPr lang="en-US" altLang="zh-CN" sz="2400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2362200" y="1581150"/>
            <a:ext cx="3886200" cy="649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125000"/>
              </a:lnSpc>
              <a:spcBef>
                <a:spcPct val="20000"/>
              </a:spcBef>
              <a:buClr>
                <a:srgbClr val="FF0000"/>
              </a:buClr>
              <a:buSzPct val="60000"/>
              <a:buFont typeface="Wingdings" pitchFamily="2" charset="2"/>
              <a:buChar char="l"/>
            </a:pPr>
            <a:r>
              <a:rPr lang="zh-CN" altLang="en-US" sz="2400" b="1" dirty="0" smtClean="0">
                <a:solidFill>
                  <a:srgbClr val="FF0000"/>
                </a:solidFill>
                <a:ea typeface="黑体" pitchFamily="49" charset="-122"/>
              </a:rPr>
              <a:t>基础知识</a:t>
            </a:r>
            <a:endParaRPr lang="en-US" altLang="zh-CN" sz="2400" b="1" dirty="0" smtClean="0">
              <a:solidFill>
                <a:srgbClr val="FF0000"/>
              </a:solidFill>
              <a:ea typeface="黑体" pitchFamily="49" charset="-122"/>
            </a:endParaRPr>
          </a:p>
          <a:p>
            <a:pPr marL="342900" indent="-342900">
              <a:lnSpc>
                <a:spcPct val="125000"/>
              </a:lnSpc>
              <a:spcBef>
                <a:spcPct val="20000"/>
              </a:spcBef>
              <a:buClr>
                <a:srgbClr val="FF0000"/>
              </a:buClr>
              <a:buSzPct val="60000"/>
              <a:buFont typeface="Wingdings" pitchFamily="2" charset="2"/>
              <a:buChar char="l"/>
            </a:pPr>
            <a:r>
              <a:rPr lang="zh-CN" altLang="en-US" sz="2400" b="1" dirty="0" smtClean="0">
                <a:solidFill>
                  <a:srgbClr val="FF0000"/>
                </a:solidFill>
                <a:ea typeface="黑体" pitchFamily="49" charset="-122"/>
              </a:rPr>
              <a:t>组合逻辑电路</a:t>
            </a:r>
            <a:endParaRPr lang="en-US" altLang="zh-CN" sz="2400" b="1" dirty="0" smtClean="0">
              <a:solidFill>
                <a:srgbClr val="FF0000"/>
              </a:solidFill>
              <a:ea typeface="黑体" pitchFamily="49" charset="-122"/>
            </a:endParaRPr>
          </a:p>
          <a:p>
            <a:pPr marL="342900" indent="-342900">
              <a:lnSpc>
                <a:spcPct val="125000"/>
              </a:lnSpc>
              <a:spcBef>
                <a:spcPct val="20000"/>
              </a:spcBef>
              <a:buClr>
                <a:srgbClr val="FF0000"/>
              </a:buClr>
              <a:buSzPct val="60000"/>
              <a:buFont typeface="Wingdings" pitchFamily="2" charset="2"/>
              <a:buChar char="l"/>
            </a:pPr>
            <a:r>
              <a:rPr lang="zh-CN" altLang="en-US" sz="2400" b="1" dirty="0" smtClean="0">
                <a:solidFill>
                  <a:srgbClr val="FF0000"/>
                </a:solidFill>
                <a:ea typeface="黑体" pitchFamily="49" charset="-122"/>
              </a:rPr>
              <a:t>时序逻辑电路</a:t>
            </a:r>
            <a:endParaRPr lang="en-US" altLang="zh-CN" sz="2400" b="1" dirty="0" smtClean="0">
              <a:solidFill>
                <a:srgbClr val="FF0000"/>
              </a:solidFill>
              <a:ea typeface="黑体" pitchFamily="49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52400" y="0"/>
            <a:ext cx="25234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：课 程 概 述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0" y="666750"/>
            <a:ext cx="8610600" cy="20467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 indent="457200">
              <a:lnSpc>
                <a:spcPct val="150000"/>
              </a:lnSpc>
            </a:pPr>
            <a:r>
              <a:rPr lang="en-US" altLang="zh-CN" sz="2400" b="1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1.5 </a:t>
            </a:r>
            <a:r>
              <a:rPr lang="zh-CN" altLang="en-US" sz="2400" b="1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数字逻辑课程的主要内容：</a:t>
            </a:r>
            <a:endParaRPr lang="en-US" altLang="zh-CN" sz="2400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1676400" y="2038350"/>
            <a:ext cx="2057400" cy="649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125000"/>
              </a:lnSpc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l"/>
            </a:pPr>
            <a:r>
              <a:rPr lang="zh-CN" altLang="en-US" sz="2000" b="1" dirty="0" smtClean="0">
                <a:solidFill>
                  <a:schemeClr val="accent2"/>
                </a:solidFill>
                <a:ea typeface="黑体" pitchFamily="49" charset="-122"/>
              </a:rPr>
              <a:t>数制与编码</a:t>
            </a:r>
            <a:endParaRPr lang="en-US" altLang="zh-CN" sz="2000" b="1" dirty="0" smtClean="0">
              <a:solidFill>
                <a:schemeClr val="accent2"/>
              </a:solidFill>
              <a:ea typeface="黑体" pitchFamily="49" charset="-122"/>
            </a:endParaRPr>
          </a:p>
          <a:p>
            <a:pPr marL="342900" indent="-342900">
              <a:lnSpc>
                <a:spcPct val="125000"/>
              </a:lnSpc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l"/>
            </a:pPr>
            <a:r>
              <a:rPr lang="zh-CN" altLang="en-US" sz="2000" b="1" dirty="0" smtClean="0">
                <a:solidFill>
                  <a:schemeClr val="accent2"/>
                </a:solidFill>
                <a:ea typeface="黑体" pitchFamily="49" charset="-122"/>
              </a:rPr>
              <a:t>布尔代数</a:t>
            </a:r>
            <a:endParaRPr lang="en-US" altLang="zh-CN" sz="2000" b="1" dirty="0" smtClean="0">
              <a:solidFill>
                <a:schemeClr val="accent2"/>
              </a:solidFill>
              <a:ea typeface="黑体" pitchFamily="49" charset="-122"/>
            </a:endParaRPr>
          </a:p>
          <a:p>
            <a:pPr marL="342900" indent="-342900">
              <a:lnSpc>
                <a:spcPct val="125000"/>
              </a:lnSpc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l"/>
            </a:pPr>
            <a:r>
              <a:rPr lang="zh-CN" altLang="en-US" sz="2000" b="1" dirty="0" smtClean="0">
                <a:solidFill>
                  <a:schemeClr val="accent2"/>
                </a:solidFill>
                <a:ea typeface="黑体" pitchFamily="49" charset="-122"/>
              </a:rPr>
              <a:t>卡诺图</a:t>
            </a:r>
            <a:endParaRPr lang="en-US" altLang="zh-CN" sz="2000" b="1" dirty="0" smtClean="0">
              <a:solidFill>
                <a:schemeClr val="accent2"/>
              </a:solidFill>
              <a:ea typeface="黑体" pitchFamily="49" charset="-122"/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1371600" y="1352550"/>
            <a:ext cx="2057400" cy="649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125000"/>
              </a:lnSpc>
              <a:spcBef>
                <a:spcPct val="20000"/>
              </a:spcBef>
              <a:buClr>
                <a:srgbClr val="FF0000"/>
              </a:buClr>
              <a:buSzPct val="60000"/>
            </a:pPr>
            <a:r>
              <a:rPr lang="zh-CN" altLang="en-US" sz="2400" b="1" dirty="0" smtClean="0">
                <a:solidFill>
                  <a:srgbClr val="FF0000"/>
                </a:solidFill>
                <a:ea typeface="黑体" pitchFamily="49" charset="-122"/>
              </a:rPr>
              <a:t>基础知识：</a:t>
            </a:r>
            <a:endParaRPr lang="en-US" altLang="zh-CN" sz="2400" b="1" dirty="0" smtClean="0">
              <a:solidFill>
                <a:srgbClr val="FF0000"/>
              </a:solidFill>
              <a:ea typeface="黑体" pitchFamily="49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52400" y="0"/>
            <a:ext cx="25234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：课 程 概 述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0" y="666750"/>
            <a:ext cx="8610600" cy="20467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 indent="457200">
              <a:lnSpc>
                <a:spcPct val="150000"/>
              </a:lnSpc>
            </a:pPr>
            <a:r>
              <a:rPr lang="en-US" altLang="zh-CN" sz="2400" b="1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1.5 </a:t>
            </a:r>
            <a:r>
              <a:rPr lang="zh-CN" altLang="en-US" sz="2400" b="1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数字逻辑课程的主要内容：</a:t>
            </a:r>
            <a:endParaRPr lang="en-US" altLang="zh-CN" sz="2400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1143000" y="1276350"/>
            <a:ext cx="7808913" cy="649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l"/>
            </a:pPr>
            <a:r>
              <a:rPr lang="zh-CN" altLang="en-US" sz="2400" b="1" dirty="0" smtClean="0">
                <a:solidFill>
                  <a:schemeClr val="accent2"/>
                </a:solidFill>
                <a:ea typeface="黑体" pitchFamily="49" charset="-122"/>
              </a:rPr>
              <a:t>数制</a:t>
            </a:r>
            <a:endParaRPr lang="en-US" altLang="zh-CN" sz="2400" b="1" dirty="0" smtClean="0">
              <a:solidFill>
                <a:schemeClr val="accent2"/>
              </a:solidFill>
              <a:ea typeface="黑体" pitchFamily="49" charset="-122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60000"/>
            </a:pPr>
            <a:r>
              <a:rPr lang="en-US" altLang="zh-CN" sz="2400" b="1" dirty="0" smtClean="0">
                <a:solidFill>
                  <a:schemeClr val="accent2"/>
                </a:solidFill>
                <a:ea typeface="黑体" pitchFamily="49" charset="-122"/>
              </a:rPr>
              <a:t>     </a:t>
            </a:r>
            <a:r>
              <a:rPr lang="zh-CN" altLang="en-US" sz="2000" b="1" dirty="0" smtClean="0">
                <a:solidFill>
                  <a:schemeClr val="accent2"/>
                </a:solidFill>
                <a:ea typeface="黑体" pitchFamily="49" charset="-122"/>
              </a:rPr>
              <a:t>各种进制数之间的相互转化方法，如</a:t>
            </a:r>
            <a:endParaRPr lang="en-US" altLang="zh-CN" sz="2000" b="1" dirty="0" smtClean="0">
              <a:solidFill>
                <a:schemeClr val="accent2"/>
              </a:solidFill>
              <a:ea typeface="黑体" pitchFamily="49" charset="-122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60000"/>
            </a:pPr>
            <a:endParaRPr lang="en-US" altLang="zh-CN" sz="2000" b="1" dirty="0" smtClean="0">
              <a:solidFill>
                <a:schemeClr val="accent2"/>
              </a:solidFill>
              <a:ea typeface="黑体" pitchFamily="49" charset="-122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60000"/>
            </a:pPr>
            <a:r>
              <a:rPr lang="en-US" altLang="zh-CN" sz="2000" b="1" dirty="0" smtClean="0">
                <a:solidFill>
                  <a:schemeClr val="accent2"/>
                </a:solidFill>
                <a:ea typeface="黑体" pitchFamily="49" charset="-122"/>
              </a:rPr>
              <a:t>            </a:t>
            </a:r>
            <a:r>
              <a:rPr lang="zh-CN" altLang="en-US" sz="2000" b="1" dirty="0" smtClean="0">
                <a:solidFill>
                  <a:schemeClr val="accent2"/>
                </a:solidFill>
                <a:ea typeface="黑体" pitchFamily="49" charset="-122"/>
              </a:rPr>
              <a:t>（</a:t>
            </a:r>
            <a:r>
              <a:rPr lang="en-US" altLang="zh-CN" sz="2000" b="1" dirty="0" smtClean="0">
                <a:solidFill>
                  <a:schemeClr val="accent2"/>
                </a:solidFill>
                <a:ea typeface="黑体" pitchFamily="49" charset="-122"/>
              </a:rPr>
              <a:t>1101</a:t>
            </a:r>
            <a:r>
              <a:rPr lang="zh-CN" altLang="en-US" sz="2000" b="1" dirty="0" smtClean="0">
                <a:solidFill>
                  <a:schemeClr val="accent2"/>
                </a:solidFill>
                <a:ea typeface="黑体" pitchFamily="49" charset="-122"/>
              </a:rPr>
              <a:t>）</a:t>
            </a:r>
            <a:r>
              <a:rPr lang="en-US" altLang="zh-CN" sz="2000" b="1" baseline="-25000" dirty="0" smtClean="0">
                <a:solidFill>
                  <a:schemeClr val="accent2"/>
                </a:solidFill>
                <a:ea typeface="黑体" pitchFamily="49" charset="-122"/>
              </a:rPr>
              <a:t>2  </a:t>
            </a:r>
            <a:r>
              <a:rPr lang="en-US" altLang="zh-CN" sz="2000" b="1" dirty="0" smtClean="0">
                <a:solidFill>
                  <a:schemeClr val="accent2"/>
                </a:solidFill>
                <a:ea typeface="黑体" pitchFamily="49" charset="-122"/>
              </a:rPr>
              <a:t>=</a:t>
            </a:r>
            <a:r>
              <a:rPr lang="zh-CN" altLang="en-US" sz="2000" b="1" dirty="0" smtClean="0">
                <a:solidFill>
                  <a:schemeClr val="accent2"/>
                </a:solidFill>
                <a:ea typeface="黑体" pitchFamily="49" charset="-122"/>
              </a:rPr>
              <a:t>（</a:t>
            </a:r>
            <a:r>
              <a:rPr lang="en-US" altLang="zh-CN" sz="2000" b="1" dirty="0" smtClean="0">
                <a:solidFill>
                  <a:schemeClr val="accent2"/>
                </a:solidFill>
                <a:ea typeface="黑体" pitchFamily="49" charset="-122"/>
              </a:rPr>
              <a:t>15</a:t>
            </a:r>
            <a:r>
              <a:rPr lang="zh-CN" altLang="en-US" sz="2000" b="1" dirty="0" smtClean="0">
                <a:solidFill>
                  <a:schemeClr val="accent2"/>
                </a:solidFill>
                <a:ea typeface="黑体" pitchFamily="49" charset="-122"/>
              </a:rPr>
              <a:t>）</a:t>
            </a:r>
            <a:r>
              <a:rPr lang="en-US" altLang="zh-CN" sz="2000" b="1" baseline="-25000" dirty="0" smtClean="0">
                <a:solidFill>
                  <a:schemeClr val="accent2"/>
                </a:solidFill>
                <a:ea typeface="黑体" pitchFamily="49" charset="-122"/>
              </a:rPr>
              <a:t>8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60000"/>
            </a:pPr>
            <a:endParaRPr lang="en-US" altLang="zh-CN" sz="2000" b="1" baseline="-25000" dirty="0" smtClean="0">
              <a:solidFill>
                <a:schemeClr val="accent2"/>
              </a:solidFill>
              <a:ea typeface="黑体" pitchFamily="49" charset="-122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60000"/>
            </a:pPr>
            <a:r>
              <a:rPr lang="zh-CN" altLang="en-US" sz="2000" b="1" dirty="0" smtClean="0">
                <a:solidFill>
                  <a:schemeClr val="accent2"/>
                </a:solidFill>
                <a:ea typeface="黑体" pitchFamily="49" charset="-122"/>
              </a:rPr>
              <a:t>             （</a:t>
            </a:r>
            <a:r>
              <a:rPr lang="en-US" altLang="zh-CN" sz="2000" b="1" dirty="0" smtClean="0">
                <a:solidFill>
                  <a:schemeClr val="accent2"/>
                </a:solidFill>
                <a:ea typeface="黑体" pitchFamily="49" charset="-122"/>
              </a:rPr>
              <a:t>1F</a:t>
            </a:r>
            <a:r>
              <a:rPr lang="zh-CN" altLang="en-US" sz="2000" b="1" dirty="0" smtClean="0">
                <a:solidFill>
                  <a:schemeClr val="accent2"/>
                </a:solidFill>
                <a:ea typeface="黑体" pitchFamily="49" charset="-122"/>
              </a:rPr>
              <a:t>）</a:t>
            </a:r>
            <a:r>
              <a:rPr lang="en-US" altLang="zh-CN" sz="2000" b="1" baseline="-25000" dirty="0" smtClean="0">
                <a:solidFill>
                  <a:schemeClr val="accent2"/>
                </a:solidFill>
                <a:ea typeface="黑体" pitchFamily="49" charset="-122"/>
              </a:rPr>
              <a:t>16   </a:t>
            </a:r>
            <a:r>
              <a:rPr lang="en-US" altLang="zh-CN" sz="2000" b="1" dirty="0" smtClean="0">
                <a:solidFill>
                  <a:schemeClr val="accent2"/>
                </a:solidFill>
                <a:ea typeface="黑体" pitchFamily="49" charset="-122"/>
              </a:rPr>
              <a:t>= </a:t>
            </a:r>
            <a:r>
              <a:rPr lang="zh-CN" altLang="en-US" sz="2000" b="1" dirty="0" smtClean="0">
                <a:solidFill>
                  <a:schemeClr val="accent2"/>
                </a:solidFill>
                <a:ea typeface="黑体" pitchFamily="49" charset="-122"/>
              </a:rPr>
              <a:t>（</a:t>
            </a:r>
            <a:r>
              <a:rPr lang="en-US" altLang="zh-CN" sz="2000" b="1" dirty="0" smtClean="0">
                <a:solidFill>
                  <a:schemeClr val="accent2"/>
                </a:solidFill>
                <a:ea typeface="黑体" pitchFamily="49" charset="-122"/>
              </a:rPr>
              <a:t>31</a:t>
            </a:r>
            <a:r>
              <a:rPr lang="zh-CN" altLang="en-US" sz="2000" b="1" dirty="0" smtClean="0">
                <a:solidFill>
                  <a:schemeClr val="accent2"/>
                </a:solidFill>
                <a:ea typeface="黑体" pitchFamily="49" charset="-122"/>
              </a:rPr>
              <a:t>）</a:t>
            </a:r>
            <a:r>
              <a:rPr lang="en-US" altLang="zh-CN" sz="2000" b="1" baseline="-25000" dirty="0" smtClean="0">
                <a:solidFill>
                  <a:schemeClr val="accent2"/>
                </a:solidFill>
                <a:ea typeface="黑体" pitchFamily="49" charset="-122"/>
              </a:rPr>
              <a:t>10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60000"/>
            </a:pPr>
            <a:r>
              <a:rPr lang="en-US" altLang="zh-CN" sz="2000" b="1" baseline="-25000" dirty="0" smtClean="0">
                <a:solidFill>
                  <a:schemeClr val="accent2"/>
                </a:solidFill>
                <a:ea typeface="黑体" pitchFamily="49" charset="-122"/>
              </a:rPr>
              <a:t>                         </a:t>
            </a:r>
          </a:p>
        </p:txBody>
      </p:sp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52400" y="0"/>
            <a:ext cx="25234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：课 程 概 述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0" y="666750"/>
            <a:ext cx="8610600" cy="20467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 indent="457200">
              <a:lnSpc>
                <a:spcPct val="150000"/>
              </a:lnSpc>
            </a:pPr>
            <a:r>
              <a:rPr lang="en-US" altLang="zh-CN" sz="2400" b="1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1.5 </a:t>
            </a:r>
            <a:r>
              <a:rPr lang="zh-CN" altLang="en-US" sz="2400" b="1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数字逻辑课程的主要内容：</a:t>
            </a:r>
            <a:endParaRPr lang="en-US" altLang="zh-CN" sz="2400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1143000" y="1276350"/>
            <a:ext cx="7808913" cy="649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l"/>
            </a:pPr>
            <a:r>
              <a:rPr lang="zh-CN" altLang="en-US" sz="2400" b="1" dirty="0" smtClean="0">
                <a:solidFill>
                  <a:schemeClr val="accent2"/>
                </a:solidFill>
                <a:ea typeface="黑体" pitchFamily="49" charset="-122"/>
              </a:rPr>
              <a:t>编码</a:t>
            </a:r>
            <a:endParaRPr lang="en-US" altLang="zh-CN" sz="2400" b="1" dirty="0" smtClean="0">
              <a:solidFill>
                <a:schemeClr val="accent2"/>
              </a:solidFill>
              <a:ea typeface="黑体" pitchFamily="49" charset="-122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60000"/>
            </a:pPr>
            <a:r>
              <a:rPr lang="en-US" altLang="zh-CN" sz="2400" b="1" dirty="0" smtClean="0">
                <a:solidFill>
                  <a:schemeClr val="accent2"/>
                </a:solidFill>
                <a:ea typeface="黑体" pitchFamily="49" charset="-122"/>
              </a:rPr>
              <a:t>     </a:t>
            </a:r>
            <a:r>
              <a:rPr lang="en-US" altLang="zh-CN" sz="2000" b="1" baseline="-25000" dirty="0" smtClean="0">
                <a:solidFill>
                  <a:schemeClr val="accent2"/>
                </a:solidFill>
                <a:ea typeface="黑体" pitchFamily="49" charset="-122"/>
              </a:rPr>
              <a:t>                         </a:t>
            </a:r>
          </a:p>
        </p:txBody>
      </p:sp>
      <p:sp>
        <p:nvSpPr>
          <p:cNvPr id="5" name="矩形 4"/>
          <p:cNvSpPr/>
          <p:nvPr/>
        </p:nvSpPr>
        <p:spPr>
          <a:xfrm>
            <a:off x="1600200" y="1657350"/>
            <a:ext cx="5943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 smtClean="0">
                <a:solidFill>
                  <a:schemeClr val="accent2"/>
                </a:solidFill>
                <a:ea typeface="黑体" pitchFamily="49" charset="-122"/>
              </a:rPr>
              <a:t>数字、字符的编码方法，</a:t>
            </a:r>
            <a:r>
              <a:rPr lang="zh-CN" altLang="en-US" b="1" dirty="0" smtClean="0">
                <a:solidFill>
                  <a:schemeClr val="accent2"/>
                </a:solidFill>
                <a:ea typeface="黑体" pitchFamily="49" charset="-122"/>
              </a:rPr>
              <a:t>如二</a:t>
            </a:r>
            <a:r>
              <a:rPr lang="en-US" altLang="zh-CN" b="1" dirty="0" smtClean="0">
                <a:solidFill>
                  <a:schemeClr val="accent2"/>
                </a:solidFill>
                <a:ea typeface="黑体" pitchFamily="49" charset="-122"/>
              </a:rPr>
              <a:t>-</a:t>
            </a:r>
            <a:r>
              <a:rPr lang="zh-CN" altLang="en-US" b="1" dirty="0" smtClean="0">
                <a:solidFill>
                  <a:schemeClr val="accent2"/>
                </a:solidFill>
                <a:ea typeface="黑体" pitchFamily="49" charset="-122"/>
              </a:rPr>
              <a:t>十进制编码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1600200" y="2343150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b="1" dirty="0" smtClean="0">
                <a:solidFill>
                  <a:schemeClr val="accent6"/>
                </a:solidFill>
                <a:ea typeface="黑体" pitchFamily="49" charset="-122"/>
              </a:rPr>
              <a:t>ASCII</a:t>
            </a:r>
            <a:r>
              <a:rPr lang="zh-CN" altLang="en-US" b="1" dirty="0" smtClean="0">
                <a:solidFill>
                  <a:schemeClr val="accent6"/>
                </a:solidFill>
                <a:ea typeface="黑体" pitchFamily="49" charset="-122"/>
              </a:rPr>
              <a:t>码 </a:t>
            </a:r>
            <a:r>
              <a:rPr lang="en-US" altLang="zh-CN" b="1" dirty="0" smtClean="0">
                <a:solidFill>
                  <a:srgbClr val="FF0000"/>
                </a:solidFill>
                <a:ea typeface="黑体" pitchFamily="49" charset="-122"/>
              </a:rPr>
              <a:t>(</a:t>
            </a:r>
            <a:r>
              <a:rPr lang="en-US" altLang="zh-CN" dirty="0" smtClean="0">
                <a:solidFill>
                  <a:srgbClr val="FF0000"/>
                </a:solidFill>
              </a:rPr>
              <a:t>American Standard Code for Information </a:t>
            </a:r>
            <a:r>
              <a:rPr lang="en-US" altLang="zh-CN" dirty="0" err="1" smtClean="0">
                <a:solidFill>
                  <a:srgbClr val="FF0000"/>
                </a:solidFill>
              </a:rPr>
              <a:t>Interchang</a:t>
            </a:r>
            <a:r>
              <a:rPr lang="en-US" altLang="zh-CN" dirty="0" smtClean="0">
                <a:solidFill>
                  <a:srgbClr val="FF0000"/>
                </a:solidFill>
              </a:rPr>
              <a:t>, </a:t>
            </a:r>
            <a:r>
              <a:rPr lang="zh-CN" altLang="en-US" dirty="0" smtClean="0">
                <a:solidFill>
                  <a:srgbClr val="FF0000"/>
                </a:solidFill>
              </a:rPr>
              <a:t>美国信息交换标准代码</a:t>
            </a:r>
            <a:r>
              <a:rPr lang="en-US" altLang="zh-CN" dirty="0" smtClean="0">
                <a:solidFill>
                  <a:srgbClr val="FF0000"/>
                </a:solidFill>
              </a:rPr>
              <a:t>)</a:t>
            </a:r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组合 45"/>
          <p:cNvGrpSpPr/>
          <p:nvPr/>
        </p:nvGrpSpPr>
        <p:grpSpPr>
          <a:xfrm>
            <a:off x="304800" y="438150"/>
            <a:ext cx="8229600" cy="4541838"/>
            <a:chOff x="304800" y="1308100"/>
            <a:chExt cx="8229600" cy="4541838"/>
          </a:xfrm>
        </p:grpSpPr>
        <p:grpSp>
          <p:nvGrpSpPr>
            <p:cNvPr id="47" name="Group 162"/>
            <p:cNvGrpSpPr>
              <a:grpSpLocks/>
            </p:cNvGrpSpPr>
            <p:nvPr/>
          </p:nvGrpSpPr>
          <p:grpSpPr bwMode="auto">
            <a:xfrm>
              <a:off x="2852738" y="2073275"/>
              <a:ext cx="4462463" cy="3776663"/>
              <a:chOff x="1845" y="1266"/>
              <a:chExt cx="2811" cy="2526"/>
            </a:xfrm>
          </p:grpSpPr>
          <p:sp>
            <p:nvSpPr>
              <p:cNvPr id="111" name="Rectangle 163"/>
              <p:cNvSpPr>
                <a:spLocks noChangeArrowheads="1"/>
              </p:cNvSpPr>
              <p:nvPr/>
            </p:nvSpPr>
            <p:spPr bwMode="auto">
              <a:xfrm>
                <a:off x="3664" y="3528"/>
                <a:ext cx="992" cy="264"/>
              </a:xfrm>
              <a:prstGeom prst="rect">
                <a:avLst/>
              </a:prstGeom>
              <a:solidFill>
                <a:srgbClr val="CCFFCC">
                  <a:alpha val="50000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/>
                <a:r>
                  <a:rPr kumimoji="1" lang="en-US" altLang="zh-CN" sz="2400" b="1">
                    <a:solidFill>
                      <a:srgbClr val="2D2D8A"/>
                    </a:solidFill>
                    <a:latin typeface="Times New Roman" pitchFamily="18" charset="0"/>
                  </a:rPr>
                  <a:t>1111</a:t>
                </a:r>
              </a:p>
            </p:txBody>
          </p:sp>
          <p:sp>
            <p:nvSpPr>
              <p:cNvPr id="112" name="Rectangle 164"/>
              <p:cNvSpPr>
                <a:spLocks noChangeArrowheads="1"/>
              </p:cNvSpPr>
              <p:nvPr/>
            </p:nvSpPr>
            <p:spPr bwMode="auto">
              <a:xfrm>
                <a:off x="2688" y="3528"/>
                <a:ext cx="976" cy="264"/>
              </a:xfrm>
              <a:prstGeom prst="rect">
                <a:avLst/>
              </a:prstGeom>
              <a:solidFill>
                <a:srgbClr val="CCFFCC">
                  <a:alpha val="50000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/>
                <a:r>
                  <a:rPr kumimoji="1" lang="en-US" altLang="zh-CN" sz="2400" b="1">
                    <a:solidFill>
                      <a:srgbClr val="2D2D8A"/>
                    </a:solidFill>
                    <a:latin typeface="Times New Roman" pitchFamily="18" charset="0"/>
                  </a:rPr>
                  <a:t>1111</a:t>
                </a:r>
              </a:p>
            </p:txBody>
          </p:sp>
          <p:sp>
            <p:nvSpPr>
              <p:cNvPr id="113" name="Rectangle 165"/>
              <p:cNvSpPr>
                <a:spLocks noChangeArrowheads="1"/>
              </p:cNvSpPr>
              <p:nvPr/>
            </p:nvSpPr>
            <p:spPr bwMode="auto">
              <a:xfrm>
                <a:off x="1872" y="3528"/>
                <a:ext cx="816" cy="264"/>
              </a:xfrm>
              <a:prstGeom prst="rect">
                <a:avLst/>
              </a:prstGeom>
              <a:solidFill>
                <a:srgbClr val="CCFFCC">
                  <a:alpha val="50000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/>
                <a:r>
                  <a:rPr kumimoji="1" lang="en-US" altLang="zh-CN" sz="2400" b="1">
                    <a:solidFill>
                      <a:srgbClr val="2D2D8A"/>
                    </a:solidFill>
                    <a:latin typeface="Times New Roman" pitchFamily="18" charset="0"/>
                  </a:rPr>
                  <a:t>1100</a:t>
                </a:r>
              </a:p>
            </p:txBody>
          </p:sp>
          <p:sp>
            <p:nvSpPr>
              <p:cNvPr id="114" name="Rectangle 166"/>
              <p:cNvSpPr>
                <a:spLocks noChangeArrowheads="1"/>
              </p:cNvSpPr>
              <p:nvPr/>
            </p:nvSpPr>
            <p:spPr bwMode="auto">
              <a:xfrm>
                <a:off x="3664" y="3279"/>
                <a:ext cx="992" cy="249"/>
              </a:xfrm>
              <a:prstGeom prst="rect">
                <a:avLst/>
              </a:prstGeom>
              <a:solidFill>
                <a:srgbClr val="CCFFCC">
                  <a:alpha val="50000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/>
                <a:r>
                  <a:rPr kumimoji="1" lang="en-US" altLang="zh-CN" sz="2400" b="1">
                    <a:solidFill>
                      <a:srgbClr val="2D2D8A"/>
                    </a:solidFill>
                    <a:latin typeface="Times New Roman" pitchFamily="18" charset="0"/>
                  </a:rPr>
                  <a:t>1110</a:t>
                </a:r>
              </a:p>
            </p:txBody>
          </p:sp>
          <p:sp>
            <p:nvSpPr>
              <p:cNvPr id="115" name="Rectangle 167"/>
              <p:cNvSpPr>
                <a:spLocks noChangeArrowheads="1"/>
              </p:cNvSpPr>
              <p:nvPr/>
            </p:nvSpPr>
            <p:spPr bwMode="auto">
              <a:xfrm>
                <a:off x="2688" y="3279"/>
                <a:ext cx="976" cy="249"/>
              </a:xfrm>
              <a:prstGeom prst="rect">
                <a:avLst/>
              </a:prstGeom>
              <a:solidFill>
                <a:srgbClr val="CCFFCC">
                  <a:alpha val="50000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/>
                <a:r>
                  <a:rPr kumimoji="1" lang="en-US" altLang="zh-CN" sz="2400" b="1">
                    <a:solidFill>
                      <a:srgbClr val="2D2D8A"/>
                    </a:solidFill>
                    <a:latin typeface="Times New Roman" pitchFamily="18" charset="0"/>
                  </a:rPr>
                  <a:t>1110</a:t>
                </a:r>
              </a:p>
            </p:txBody>
          </p:sp>
          <p:sp>
            <p:nvSpPr>
              <p:cNvPr id="116" name="Rectangle 168"/>
              <p:cNvSpPr>
                <a:spLocks noChangeArrowheads="1"/>
              </p:cNvSpPr>
              <p:nvPr/>
            </p:nvSpPr>
            <p:spPr bwMode="auto">
              <a:xfrm>
                <a:off x="1872" y="3279"/>
                <a:ext cx="816" cy="249"/>
              </a:xfrm>
              <a:prstGeom prst="rect">
                <a:avLst/>
              </a:prstGeom>
              <a:solidFill>
                <a:srgbClr val="CCFFCC">
                  <a:alpha val="50000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/>
                <a:r>
                  <a:rPr kumimoji="1" lang="en-US" altLang="zh-CN" sz="2400" b="1">
                    <a:solidFill>
                      <a:srgbClr val="2D2D8A"/>
                    </a:solidFill>
                    <a:latin typeface="Times New Roman" pitchFamily="18" charset="0"/>
                  </a:rPr>
                  <a:t>1011</a:t>
                </a:r>
              </a:p>
            </p:txBody>
          </p:sp>
          <p:sp>
            <p:nvSpPr>
              <p:cNvPr id="117" name="Rectangle 169"/>
              <p:cNvSpPr>
                <a:spLocks noChangeArrowheads="1"/>
              </p:cNvSpPr>
              <p:nvPr/>
            </p:nvSpPr>
            <p:spPr bwMode="auto">
              <a:xfrm>
                <a:off x="3664" y="3030"/>
                <a:ext cx="992" cy="249"/>
              </a:xfrm>
              <a:prstGeom prst="rect">
                <a:avLst/>
              </a:prstGeom>
              <a:solidFill>
                <a:srgbClr val="CCFFCC">
                  <a:alpha val="50000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/>
                <a:r>
                  <a:rPr kumimoji="1" lang="en-US" altLang="zh-CN" sz="2400" b="1">
                    <a:solidFill>
                      <a:srgbClr val="2D2D8A"/>
                    </a:solidFill>
                    <a:latin typeface="Times New Roman" pitchFamily="18" charset="0"/>
                  </a:rPr>
                  <a:t>1101</a:t>
                </a:r>
              </a:p>
            </p:txBody>
          </p:sp>
          <p:sp>
            <p:nvSpPr>
              <p:cNvPr id="118" name="Rectangle 170"/>
              <p:cNvSpPr>
                <a:spLocks noChangeArrowheads="1"/>
              </p:cNvSpPr>
              <p:nvPr/>
            </p:nvSpPr>
            <p:spPr bwMode="auto">
              <a:xfrm>
                <a:off x="2688" y="3030"/>
                <a:ext cx="976" cy="249"/>
              </a:xfrm>
              <a:prstGeom prst="rect">
                <a:avLst/>
              </a:prstGeom>
              <a:solidFill>
                <a:srgbClr val="CCFFCC">
                  <a:alpha val="50000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/>
                <a:r>
                  <a:rPr kumimoji="1" lang="en-US" altLang="zh-CN" sz="2400" b="1">
                    <a:solidFill>
                      <a:srgbClr val="2D2D8A"/>
                    </a:solidFill>
                    <a:latin typeface="Times New Roman" pitchFamily="18" charset="0"/>
                  </a:rPr>
                  <a:t>0111</a:t>
                </a:r>
              </a:p>
            </p:txBody>
          </p:sp>
          <p:sp>
            <p:nvSpPr>
              <p:cNvPr id="119" name="Rectangle 171"/>
              <p:cNvSpPr>
                <a:spLocks noChangeArrowheads="1"/>
              </p:cNvSpPr>
              <p:nvPr/>
            </p:nvSpPr>
            <p:spPr bwMode="auto">
              <a:xfrm>
                <a:off x="1872" y="3030"/>
                <a:ext cx="816" cy="249"/>
              </a:xfrm>
              <a:prstGeom prst="rect">
                <a:avLst/>
              </a:prstGeom>
              <a:solidFill>
                <a:srgbClr val="CCFFCC">
                  <a:alpha val="50000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/>
                <a:r>
                  <a:rPr kumimoji="1" lang="en-US" altLang="zh-CN" sz="2400" b="1">
                    <a:solidFill>
                      <a:srgbClr val="2D2D8A"/>
                    </a:solidFill>
                    <a:latin typeface="Times New Roman" pitchFamily="18" charset="0"/>
                  </a:rPr>
                  <a:t>1010</a:t>
                </a:r>
              </a:p>
            </p:txBody>
          </p:sp>
          <p:sp>
            <p:nvSpPr>
              <p:cNvPr id="120" name="Rectangle 172"/>
              <p:cNvSpPr>
                <a:spLocks noChangeArrowheads="1"/>
              </p:cNvSpPr>
              <p:nvPr/>
            </p:nvSpPr>
            <p:spPr bwMode="auto">
              <a:xfrm>
                <a:off x="3664" y="2781"/>
                <a:ext cx="992" cy="249"/>
              </a:xfrm>
              <a:prstGeom prst="rect">
                <a:avLst/>
              </a:prstGeom>
              <a:solidFill>
                <a:srgbClr val="CCFFCC">
                  <a:alpha val="50000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/>
                <a:r>
                  <a:rPr kumimoji="1" lang="en-US" altLang="zh-CN" sz="2400" b="1">
                    <a:solidFill>
                      <a:srgbClr val="2D2D8A"/>
                    </a:solidFill>
                    <a:latin typeface="Times New Roman" pitchFamily="18" charset="0"/>
                  </a:rPr>
                  <a:t>1100</a:t>
                </a:r>
              </a:p>
            </p:txBody>
          </p:sp>
          <p:sp>
            <p:nvSpPr>
              <p:cNvPr id="121" name="Rectangle 173"/>
              <p:cNvSpPr>
                <a:spLocks noChangeArrowheads="1"/>
              </p:cNvSpPr>
              <p:nvPr/>
            </p:nvSpPr>
            <p:spPr bwMode="auto">
              <a:xfrm>
                <a:off x="2688" y="2781"/>
                <a:ext cx="976" cy="249"/>
              </a:xfrm>
              <a:prstGeom prst="rect">
                <a:avLst/>
              </a:prstGeom>
              <a:solidFill>
                <a:srgbClr val="CCFFCC">
                  <a:alpha val="50000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/>
                <a:r>
                  <a:rPr kumimoji="1" lang="en-US" altLang="zh-CN" sz="2400" b="1" dirty="0">
                    <a:solidFill>
                      <a:srgbClr val="2D2D8A"/>
                    </a:solidFill>
                    <a:latin typeface="Times New Roman" pitchFamily="18" charset="0"/>
                  </a:rPr>
                  <a:t>0110</a:t>
                </a:r>
              </a:p>
            </p:txBody>
          </p:sp>
          <p:sp>
            <p:nvSpPr>
              <p:cNvPr id="122" name="Rectangle 174"/>
              <p:cNvSpPr>
                <a:spLocks noChangeArrowheads="1"/>
              </p:cNvSpPr>
              <p:nvPr/>
            </p:nvSpPr>
            <p:spPr bwMode="auto">
              <a:xfrm>
                <a:off x="1845" y="2781"/>
                <a:ext cx="816" cy="249"/>
              </a:xfrm>
              <a:prstGeom prst="rect">
                <a:avLst/>
              </a:prstGeom>
              <a:solidFill>
                <a:srgbClr val="CCFFCC">
                  <a:alpha val="50000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/>
                <a:r>
                  <a:rPr kumimoji="1" lang="en-US" altLang="zh-CN" sz="2400" b="1">
                    <a:solidFill>
                      <a:srgbClr val="2D2D8A"/>
                    </a:solidFill>
                    <a:latin typeface="Times New Roman" pitchFamily="18" charset="0"/>
                  </a:rPr>
                  <a:t>1001</a:t>
                </a:r>
              </a:p>
            </p:txBody>
          </p:sp>
          <p:sp>
            <p:nvSpPr>
              <p:cNvPr id="123" name="Rectangle 175"/>
              <p:cNvSpPr>
                <a:spLocks noChangeArrowheads="1"/>
              </p:cNvSpPr>
              <p:nvPr/>
            </p:nvSpPr>
            <p:spPr bwMode="auto">
              <a:xfrm>
                <a:off x="3664" y="2532"/>
                <a:ext cx="992" cy="249"/>
              </a:xfrm>
              <a:prstGeom prst="rect">
                <a:avLst/>
              </a:prstGeom>
              <a:solidFill>
                <a:srgbClr val="CCFFCC">
                  <a:alpha val="50000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/>
                <a:r>
                  <a:rPr kumimoji="1" lang="en-US" altLang="zh-CN" sz="2400" b="1">
                    <a:solidFill>
                      <a:srgbClr val="2D2D8A"/>
                    </a:solidFill>
                    <a:latin typeface="Times New Roman" pitchFamily="18" charset="0"/>
                  </a:rPr>
                  <a:t>1011</a:t>
                </a:r>
              </a:p>
            </p:txBody>
          </p:sp>
          <p:sp>
            <p:nvSpPr>
              <p:cNvPr id="124" name="Rectangle 176"/>
              <p:cNvSpPr>
                <a:spLocks noChangeArrowheads="1"/>
              </p:cNvSpPr>
              <p:nvPr/>
            </p:nvSpPr>
            <p:spPr bwMode="auto">
              <a:xfrm>
                <a:off x="2688" y="2532"/>
                <a:ext cx="976" cy="249"/>
              </a:xfrm>
              <a:prstGeom prst="rect">
                <a:avLst/>
              </a:prstGeom>
              <a:solidFill>
                <a:srgbClr val="CCFFCC">
                  <a:alpha val="50000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/>
                <a:r>
                  <a:rPr kumimoji="1" lang="en-US" altLang="zh-CN" sz="2400" b="1">
                    <a:solidFill>
                      <a:srgbClr val="2D2D8A"/>
                    </a:solidFill>
                    <a:latin typeface="Times New Roman" pitchFamily="18" charset="0"/>
                  </a:rPr>
                  <a:t>0101</a:t>
                </a:r>
              </a:p>
            </p:txBody>
          </p:sp>
          <p:sp>
            <p:nvSpPr>
              <p:cNvPr id="125" name="Rectangle 177"/>
              <p:cNvSpPr>
                <a:spLocks noChangeArrowheads="1"/>
              </p:cNvSpPr>
              <p:nvPr/>
            </p:nvSpPr>
            <p:spPr bwMode="auto">
              <a:xfrm>
                <a:off x="1845" y="2532"/>
                <a:ext cx="816" cy="249"/>
              </a:xfrm>
              <a:prstGeom prst="rect">
                <a:avLst/>
              </a:prstGeom>
              <a:solidFill>
                <a:srgbClr val="CCFFCC">
                  <a:alpha val="50000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/>
                <a:r>
                  <a:rPr kumimoji="1" lang="en-US" altLang="zh-CN" sz="2400" b="1">
                    <a:solidFill>
                      <a:srgbClr val="2D2D8A"/>
                    </a:solidFill>
                    <a:latin typeface="Times New Roman" pitchFamily="18" charset="0"/>
                  </a:rPr>
                  <a:t>1000</a:t>
                </a:r>
              </a:p>
            </p:txBody>
          </p:sp>
          <p:sp>
            <p:nvSpPr>
              <p:cNvPr id="126" name="Rectangle 178"/>
              <p:cNvSpPr>
                <a:spLocks noChangeArrowheads="1"/>
              </p:cNvSpPr>
              <p:nvPr/>
            </p:nvSpPr>
            <p:spPr bwMode="auto">
              <a:xfrm>
                <a:off x="3664" y="2283"/>
                <a:ext cx="992" cy="249"/>
              </a:xfrm>
              <a:prstGeom prst="rect">
                <a:avLst/>
              </a:prstGeom>
              <a:solidFill>
                <a:srgbClr val="CCFFCC">
                  <a:alpha val="50000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/>
                <a:r>
                  <a:rPr kumimoji="1" lang="en-US" altLang="zh-CN" sz="2400" b="1">
                    <a:solidFill>
                      <a:srgbClr val="2D2D8A"/>
                    </a:solidFill>
                    <a:latin typeface="Times New Roman" pitchFamily="18" charset="0"/>
                  </a:rPr>
                  <a:t>0100</a:t>
                </a:r>
              </a:p>
            </p:txBody>
          </p:sp>
          <p:sp>
            <p:nvSpPr>
              <p:cNvPr id="127" name="Rectangle 179"/>
              <p:cNvSpPr>
                <a:spLocks noChangeArrowheads="1"/>
              </p:cNvSpPr>
              <p:nvPr/>
            </p:nvSpPr>
            <p:spPr bwMode="auto">
              <a:xfrm>
                <a:off x="2688" y="2283"/>
                <a:ext cx="976" cy="249"/>
              </a:xfrm>
              <a:prstGeom prst="rect">
                <a:avLst/>
              </a:prstGeom>
              <a:solidFill>
                <a:srgbClr val="CCFFCC">
                  <a:alpha val="50000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/>
                <a:r>
                  <a:rPr kumimoji="1" lang="en-US" altLang="zh-CN" sz="2400" b="1" dirty="0">
                    <a:solidFill>
                      <a:srgbClr val="2D2D8A"/>
                    </a:solidFill>
                    <a:latin typeface="Times New Roman" pitchFamily="18" charset="0"/>
                  </a:rPr>
                  <a:t>0100</a:t>
                </a:r>
              </a:p>
            </p:txBody>
          </p:sp>
          <p:sp>
            <p:nvSpPr>
              <p:cNvPr id="128" name="Rectangle 180"/>
              <p:cNvSpPr>
                <a:spLocks noChangeArrowheads="1"/>
              </p:cNvSpPr>
              <p:nvPr/>
            </p:nvSpPr>
            <p:spPr bwMode="auto">
              <a:xfrm>
                <a:off x="1845" y="2283"/>
                <a:ext cx="816" cy="249"/>
              </a:xfrm>
              <a:prstGeom prst="rect">
                <a:avLst/>
              </a:prstGeom>
              <a:solidFill>
                <a:srgbClr val="CCFFCC">
                  <a:alpha val="50000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/>
                <a:r>
                  <a:rPr kumimoji="1" lang="en-US" altLang="zh-CN" sz="2400" b="1">
                    <a:solidFill>
                      <a:srgbClr val="2D2D8A"/>
                    </a:solidFill>
                    <a:latin typeface="Times New Roman" pitchFamily="18" charset="0"/>
                  </a:rPr>
                  <a:t>0100</a:t>
                </a:r>
              </a:p>
            </p:txBody>
          </p:sp>
          <p:sp>
            <p:nvSpPr>
              <p:cNvPr id="129" name="Rectangle 181"/>
              <p:cNvSpPr>
                <a:spLocks noChangeArrowheads="1"/>
              </p:cNvSpPr>
              <p:nvPr/>
            </p:nvSpPr>
            <p:spPr bwMode="auto">
              <a:xfrm>
                <a:off x="3664" y="2034"/>
                <a:ext cx="992" cy="249"/>
              </a:xfrm>
              <a:prstGeom prst="rect">
                <a:avLst/>
              </a:prstGeom>
              <a:solidFill>
                <a:srgbClr val="CCFFCC">
                  <a:alpha val="50000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/>
                <a:r>
                  <a:rPr kumimoji="1" lang="en-US" altLang="zh-CN" sz="2400" b="1">
                    <a:solidFill>
                      <a:srgbClr val="2D2D8A"/>
                    </a:solidFill>
                    <a:latin typeface="Times New Roman" pitchFamily="18" charset="0"/>
                  </a:rPr>
                  <a:t>0011</a:t>
                </a:r>
              </a:p>
            </p:txBody>
          </p:sp>
          <p:sp>
            <p:nvSpPr>
              <p:cNvPr id="130" name="Rectangle 182"/>
              <p:cNvSpPr>
                <a:spLocks noChangeArrowheads="1"/>
              </p:cNvSpPr>
              <p:nvPr/>
            </p:nvSpPr>
            <p:spPr bwMode="auto">
              <a:xfrm>
                <a:off x="2688" y="2034"/>
                <a:ext cx="976" cy="249"/>
              </a:xfrm>
              <a:prstGeom prst="rect">
                <a:avLst/>
              </a:prstGeom>
              <a:solidFill>
                <a:srgbClr val="CCFFCC">
                  <a:alpha val="50000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/>
                <a:r>
                  <a:rPr kumimoji="1" lang="en-US" altLang="zh-CN" sz="2400" b="1" dirty="0">
                    <a:solidFill>
                      <a:srgbClr val="2D2D8A"/>
                    </a:solidFill>
                    <a:latin typeface="Times New Roman" pitchFamily="18" charset="0"/>
                  </a:rPr>
                  <a:t>0011</a:t>
                </a:r>
              </a:p>
            </p:txBody>
          </p:sp>
          <p:sp>
            <p:nvSpPr>
              <p:cNvPr id="131" name="Rectangle 183"/>
              <p:cNvSpPr>
                <a:spLocks noChangeArrowheads="1"/>
              </p:cNvSpPr>
              <p:nvPr/>
            </p:nvSpPr>
            <p:spPr bwMode="auto">
              <a:xfrm>
                <a:off x="1845" y="2034"/>
                <a:ext cx="816" cy="249"/>
              </a:xfrm>
              <a:prstGeom prst="rect">
                <a:avLst/>
              </a:prstGeom>
              <a:solidFill>
                <a:srgbClr val="CCFFCC">
                  <a:alpha val="50000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/>
                <a:r>
                  <a:rPr kumimoji="1" lang="en-US" altLang="zh-CN" sz="2400" b="1">
                    <a:solidFill>
                      <a:srgbClr val="2D2D8A"/>
                    </a:solidFill>
                    <a:latin typeface="Times New Roman" pitchFamily="18" charset="0"/>
                  </a:rPr>
                  <a:t>0011</a:t>
                </a:r>
              </a:p>
            </p:txBody>
          </p:sp>
          <p:sp>
            <p:nvSpPr>
              <p:cNvPr id="132" name="Rectangle 184"/>
              <p:cNvSpPr>
                <a:spLocks noChangeArrowheads="1"/>
              </p:cNvSpPr>
              <p:nvPr/>
            </p:nvSpPr>
            <p:spPr bwMode="auto">
              <a:xfrm>
                <a:off x="3664" y="1785"/>
                <a:ext cx="992" cy="249"/>
              </a:xfrm>
              <a:prstGeom prst="rect">
                <a:avLst/>
              </a:prstGeom>
              <a:solidFill>
                <a:srgbClr val="CCFFCC">
                  <a:alpha val="50000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/>
                <a:r>
                  <a:rPr kumimoji="1" lang="en-US" altLang="zh-CN" sz="2400" b="1">
                    <a:solidFill>
                      <a:srgbClr val="2D2D8A"/>
                    </a:solidFill>
                    <a:latin typeface="Times New Roman" pitchFamily="18" charset="0"/>
                  </a:rPr>
                  <a:t>0010</a:t>
                </a:r>
              </a:p>
            </p:txBody>
          </p:sp>
          <p:sp>
            <p:nvSpPr>
              <p:cNvPr id="133" name="Rectangle 185"/>
              <p:cNvSpPr>
                <a:spLocks noChangeArrowheads="1"/>
              </p:cNvSpPr>
              <p:nvPr/>
            </p:nvSpPr>
            <p:spPr bwMode="auto">
              <a:xfrm>
                <a:off x="2688" y="1785"/>
                <a:ext cx="976" cy="249"/>
              </a:xfrm>
              <a:prstGeom prst="rect">
                <a:avLst/>
              </a:prstGeom>
              <a:solidFill>
                <a:srgbClr val="CCFFCC">
                  <a:alpha val="50000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/>
                <a:r>
                  <a:rPr kumimoji="1" lang="en-US" altLang="zh-CN" sz="2400" b="1" dirty="0">
                    <a:solidFill>
                      <a:srgbClr val="2D2D8A"/>
                    </a:solidFill>
                    <a:latin typeface="Times New Roman" pitchFamily="18" charset="0"/>
                  </a:rPr>
                  <a:t>0010</a:t>
                </a:r>
              </a:p>
            </p:txBody>
          </p:sp>
          <p:sp>
            <p:nvSpPr>
              <p:cNvPr id="134" name="Rectangle 186"/>
              <p:cNvSpPr>
                <a:spLocks noChangeArrowheads="1"/>
              </p:cNvSpPr>
              <p:nvPr/>
            </p:nvSpPr>
            <p:spPr bwMode="auto">
              <a:xfrm>
                <a:off x="1845" y="1785"/>
                <a:ext cx="816" cy="249"/>
              </a:xfrm>
              <a:prstGeom prst="rect">
                <a:avLst/>
              </a:prstGeom>
              <a:solidFill>
                <a:srgbClr val="CCFFCC">
                  <a:alpha val="50000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/>
                <a:r>
                  <a:rPr kumimoji="1" lang="en-US" altLang="zh-CN" sz="2400" b="1" dirty="0">
                    <a:solidFill>
                      <a:srgbClr val="2D2D8A"/>
                    </a:solidFill>
                    <a:latin typeface="Times New Roman" pitchFamily="18" charset="0"/>
                  </a:rPr>
                  <a:t>0010</a:t>
                </a:r>
              </a:p>
            </p:txBody>
          </p:sp>
          <p:sp>
            <p:nvSpPr>
              <p:cNvPr id="135" name="Rectangle 187"/>
              <p:cNvSpPr>
                <a:spLocks noChangeArrowheads="1"/>
              </p:cNvSpPr>
              <p:nvPr/>
            </p:nvSpPr>
            <p:spPr bwMode="auto">
              <a:xfrm>
                <a:off x="3664" y="1536"/>
                <a:ext cx="992" cy="249"/>
              </a:xfrm>
              <a:prstGeom prst="rect">
                <a:avLst/>
              </a:prstGeom>
              <a:solidFill>
                <a:srgbClr val="CCFFCC">
                  <a:alpha val="50000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/>
                <a:r>
                  <a:rPr kumimoji="1" lang="en-US" altLang="zh-CN" sz="2400" b="1" dirty="0">
                    <a:solidFill>
                      <a:srgbClr val="2D2D8A"/>
                    </a:solidFill>
                    <a:latin typeface="Times New Roman" pitchFamily="18" charset="0"/>
                  </a:rPr>
                  <a:t>0001</a:t>
                </a:r>
              </a:p>
            </p:txBody>
          </p:sp>
          <p:sp>
            <p:nvSpPr>
              <p:cNvPr id="136" name="Rectangle 188"/>
              <p:cNvSpPr>
                <a:spLocks noChangeArrowheads="1"/>
              </p:cNvSpPr>
              <p:nvPr/>
            </p:nvSpPr>
            <p:spPr bwMode="auto">
              <a:xfrm>
                <a:off x="2688" y="1536"/>
                <a:ext cx="976" cy="249"/>
              </a:xfrm>
              <a:prstGeom prst="rect">
                <a:avLst/>
              </a:prstGeom>
              <a:solidFill>
                <a:srgbClr val="CCFFCC">
                  <a:alpha val="50000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/>
                <a:r>
                  <a:rPr kumimoji="1" lang="en-US" altLang="zh-CN" sz="2400" b="1">
                    <a:solidFill>
                      <a:srgbClr val="2D2D8A"/>
                    </a:solidFill>
                    <a:latin typeface="Times New Roman" pitchFamily="18" charset="0"/>
                  </a:rPr>
                  <a:t>0001</a:t>
                </a:r>
              </a:p>
            </p:txBody>
          </p:sp>
          <p:sp>
            <p:nvSpPr>
              <p:cNvPr id="137" name="Rectangle 189"/>
              <p:cNvSpPr>
                <a:spLocks noChangeArrowheads="1"/>
              </p:cNvSpPr>
              <p:nvPr/>
            </p:nvSpPr>
            <p:spPr bwMode="auto">
              <a:xfrm>
                <a:off x="1845" y="1536"/>
                <a:ext cx="816" cy="249"/>
              </a:xfrm>
              <a:prstGeom prst="rect">
                <a:avLst/>
              </a:prstGeom>
              <a:solidFill>
                <a:srgbClr val="CCFFCC">
                  <a:alpha val="50000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/>
                <a:r>
                  <a:rPr kumimoji="1" lang="en-US" altLang="zh-CN" sz="2400" b="1">
                    <a:solidFill>
                      <a:srgbClr val="2D2D8A"/>
                    </a:solidFill>
                    <a:latin typeface="Times New Roman" pitchFamily="18" charset="0"/>
                  </a:rPr>
                  <a:t>0001</a:t>
                </a:r>
              </a:p>
            </p:txBody>
          </p:sp>
          <p:sp>
            <p:nvSpPr>
              <p:cNvPr id="138" name="Rectangle 190"/>
              <p:cNvSpPr>
                <a:spLocks noChangeArrowheads="1"/>
              </p:cNvSpPr>
              <p:nvPr/>
            </p:nvSpPr>
            <p:spPr bwMode="auto">
              <a:xfrm>
                <a:off x="3664" y="1266"/>
                <a:ext cx="992" cy="270"/>
              </a:xfrm>
              <a:prstGeom prst="rect">
                <a:avLst/>
              </a:prstGeom>
              <a:solidFill>
                <a:srgbClr val="CCFFCC">
                  <a:alpha val="50000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/>
                <a:r>
                  <a:rPr kumimoji="1" lang="en-US" altLang="zh-CN" sz="2400" b="1" dirty="0">
                    <a:solidFill>
                      <a:srgbClr val="2D2D8A"/>
                    </a:solidFill>
                    <a:latin typeface="Times New Roman" pitchFamily="18" charset="0"/>
                  </a:rPr>
                  <a:t>0000</a:t>
                </a:r>
              </a:p>
            </p:txBody>
          </p:sp>
          <p:sp>
            <p:nvSpPr>
              <p:cNvPr id="139" name="Rectangle 191"/>
              <p:cNvSpPr>
                <a:spLocks noChangeArrowheads="1"/>
              </p:cNvSpPr>
              <p:nvPr/>
            </p:nvSpPr>
            <p:spPr bwMode="auto">
              <a:xfrm>
                <a:off x="2688" y="1266"/>
                <a:ext cx="976" cy="270"/>
              </a:xfrm>
              <a:prstGeom prst="rect">
                <a:avLst/>
              </a:prstGeom>
              <a:solidFill>
                <a:srgbClr val="CCFFCC">
                  <a:alpha val="50000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/>
                <a:r>
                  <a:rPr kumimoji="1" lang="en-US" altLang="zh-CN" sz="2400" b="1" dirty="0">
                    <a:solidFill>
                      <a:srgbClr val="2D2D8A"/>
                    </a:solidFill>
                    <a:latin typeface="Times New Roman" pitchFamily="18" charset="0"/>
                  </a:rPr>
                  <a:t>0000</a:t>
                </a:r>
              </a:p>
            </p:txBody>
          </p:sp>
          <p:sp>
            <p:nvSpPr>
              <p:cNvPr id="140" name="Rectangle 192"/>
              <p:cNvSpPr>
                <a:spLocks noChangeArrowheads="1"/>
              </p:cNvSpPr>
              <p:nvPr/>
            </p:nvSpPr>
            <p:spPr bwMode="auto">
              <a:xfrm>
                <a:off x="1845" y="1266"/>
                <a:ext cx="816" cy="270"/>
              </a:xfrm>
              <a:prstGeom prst="rect">
                <a:avLst/>
              </a:prstGeom>
              <a:solidFill>
                <a:srgbClr val="CCFFCC">
                  <a:alpha val="50000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/>
                <a:r>
                  <a:rPr kumimoji="1" lang="en-US" altLang="zh-CN" sz="2400" b="1" dirty="0">
                    <a:solidFill>
                      <a:srgbClr val="2D2D8A"/>
                    </a:solidFill>
                    <a:latin typeface="Times New Roman" pitchFamily="18" charset="0"/>
                  </a:rPr>
                  <a:t>0000</a:t>
                </a:r>
              </a:p>
            </p:txBody>
          </p:sp>
        </p:grpSp>
        <p:grpSp>
          <p:nvGrpSpPr>
            <p:cNvPr id="48" name="Group 216"/>
            <p:cNvGrpSpPr>
              <a:grpSpLocks/>
            </p:cNvGrpSpPr>
            <p:nvPr/>
          </p:nvGrpSpPr>
          <p:grpSpPr bwMode="auto">
            <a:xfrm>
              <a:off x="304800" y="1308100"/>
              <a:ext cx="1358900" cy="4521200"/>
              <a:chOff x="192" y="824"/>
              <a:chExt cx="856" cy="2848"/>
            </a:xfrm>
          </p:grpSpPr>
          <p:sp>
            <p:nvSpPr>
              <p:cNvPr id="100" name="Rectangle 138"/>
              <p:cNvSpPr>
                <a:spLocks noChangeArrowheads="1"/>
              </p:cNvSpPr>
              <p:nvPr/>
            </p:nvSpPr>
            <p:spPr bwMode="auto">
              <a:xfrm>
                <a:off x="192" y="3423"/>
                <a:ext cx="856" cy="249"/>
              </a:xfrm>
              <a:prstGeom prst="rect">
                <a:avLst/>
              </a:prstGeom>
              <a:solidFill>
                <a:srgbClr val="CCFFCC">
                  <a:alpha val="50000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/>
                <a:r>
                  <a:rPr kumimoji="1" lang="en-US" altLang="zh-CN" sz="2400" b="1">
                    <a:solidFill>
                      <a:srgbClr val="2D2D8A"/>
                    </a:solidFill>
                    <a:latin typeface="Times New Roman" pitchFamily="18" charset="0"/>
                  </a:rPr>
                  <a:t>9</a:t>
                </a:r>
              </a:p>
            </p:txBody>
          </p:sp>
          <p:sp>
            <p:nvSpPr>
              <p:cNvPr id="101" name="Rectangle 139"/>
              <p:cNvSpPr>
                <a:spLocks noChangeArrowheads="1"/>
              </p:cNvSpPr>
              <p:nvPr/>
            </p:nvSpPr>
            <p:spPr bwMode="auto">
              <a:xfrm>
                <a:off x="192" y="3189"/>
                <a:ext cx="856" cy="234"/>
              </a:xfrm>
              <a:prstGeom prst="rect">
                <a:avLst/>
              </a:prstGeom>
              <a:solidFill>
                <a:srgbClr val="CCFFCC">
                  <a:alpha val="50000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/>
                <a:r>
                  <a:rPr kumimoji="1" lang="en-US" altLang="zh-CN" sz="2400" b="1">
                    <a:solidFill>
                      <a:srgbClr val="2D2D8A"/>
                    </a:solidFill>
                    <a:latin typeface="Times New Roman" pitchFamily="18" charset="0"/>
                  </a:rPr>
                  <a:t>8</a:t>
                </a:r>
              </a:p>
            </p:txBody>
          </p:sp>
          <p:sp>
            <p:nvSpPr>
              <p:cNvPr id="102" name="Rectangle 140"/>
              <p:cNvSpPr>
                <a:spLocks noChangeArrowheads="1"/>
              </p:cNvSpPr>
              <p:nvPr/>
            </p:nvSpPr>
            <p:spPr bwMode="auto">
              <a:xfrm>
                <a:off x="192" y="2954"/>
                <a:ext cx="856" cy="235"/>
              </a:xfrm>
              <a:prstGeom prst="rect">
                <a:avLst/>
              </a:prstGeom>
              <a:solidFill>
                <a:srgbClr val="CCFFCC">
                  <a:alpha val="50000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/>
                <a:r>
                  <a:rPr kumimoji="1" lang="en-US" altLang="zh-CN" sz="2400" b="1">
                    <a:solidFill>
                      <a:srgbClr val="2D2D8A"/>
                    </a:solidFill>
                    <a:latin typeface="Times New Roman" pitchFamily="18" charset="0"/>
                  </a:rPr>
                  <a:t>7</a:t>
                </a:r>
              </a:p>
            </p:txBody>
          </p:sp>
          <p:sp>
            <p:nvSpPr>
              <p:cNvPr id="103" name="Rectangle 141"/>
              <p:cNvSpPr>
                <a:spLocks noChangeArrowheads="1"/>
              </p:cNvSpPr>
              <p:nvPr/>
            </p:nvSpPr>
            <p:spPr bwMode="auto">
              <a:xfrm>
                <a:off x="192" y="2720"/>
                <a:ext cx="856" cy="234"/>
              </a:xfrm>
              <a:prstGeom prst="rect">
                <a:avLst/>
              </a:prstGeom>
              <a:solidFill>
                <a:srgbClr val="CCFFCC">
                  <a:alpha val="50000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/>
                <a:r>
                  <a:rPr kumimoji="1" lang="en-US" altLang="zh-CN" sz="2400" b="1">
                    <a:solidFill>
                      <a:srgbClr val="2D2D8A"/>
                    </a:solidFill>
                    <a:latin typeface="Times New Roman" pitchFamily="18" charset="0"/>
                  </a:rPr>
                  <a:t>6</a:t>
                </a:r>
              </a:p>
            </p:txBody>
          </p:sp>
          <p:sp>
            <p:nvSpPr>
              <p:cNvPr id="104" name="Rectangle 142"/>
              <p:cNvSpPr>
                <a:spLocks noChangeArrowheads="1"/>
              </p:cNvSpPr>
              <p:nvPr/>
            </p:nvSpPr>
            <p:spPr bwMode="auto">
              <a:xfrm>
                <a:off x="192" y="2485"/>
                <a:ext cx="856" cy="235"/>
              </a:xfrm>
              <a:prstGeom prst="rect">
                <a:avLst/>
              </a:prstGeom>
              <a:solidFill>
                <a:srgbClr val="CCFFCC">
                  <a:alpha val="50000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/>
                <a:r>
                  <a:rPr kumimoji="1" lang="en-US" altLang="zh-CN" sz="2400" b="1">
                    <a:solidFill>
                      <a:srgbClr val="2D2D8A"/>
                    </a:solidFill>
                    <a:latin typeface="Times New Roman" pitchFamily="18" charset="0"/>
                  </a:rPr>
                  <a:t>5</a:t>
                </a:r>
              </a:p>
            </p:txBody>
          </p:sp>
          <p:sp>
            <p:nvSpPr>
              <p:cNvPr id="105" name="Rectangle 143"/>
              <p:cNvSpPr>
                <a:spLocks noChangeArrowheads="1"/>
              </p:cNvSpPr>
              <p:nvPr/>
            </p:nvSpPr>
            <p:spPr bwMode="auto">
              <a:xfrm>
                <a:off x="192" y="2251"/>
                <a:ext cx="856" cy="234"/>
              </a:xfrm>
              <a:prstGeom prst="rect">
                <a:avLst/>
              </a:prstGeom>
              <a:solidFill>
                <a:srgbClr val="CCFFCC">
                  <a:alpha val="50000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/>
                <a:r>
                  <a:rPr kumimoji="1" lang="en-US" altLang="zh-CN" sz="2400" b="1">
                    <a:solidFill>
                      <a:srgbClr val="2D2D8A"/>
                    </a:solidFill>
                    <a:latin typeface="Times New Roman" pitchFamily="18" charset="0"/>
                  </a:rPr>
                  <a:t>4</a:t>
                </a:r>
              </a:p>
            </p:txBody>
          </p:sp>
          <p:sp>
            <p:nvSpPr>
              <p:cNvPr id="106" name="Rectangle 144"/>
              <p:cNvSpPr>
                <a:spLocks noChangeArrowheads="1"/>
              </p:cNvSpPr>
              <p:nvPr/>
            </p:nvSpPr>
            <p:spPr bwMode="auto">
              <a:xfrm>
                <a:off x="192" y="2016"/>
                <a:ext cx="856" cy="235"/>
              </a:xfrm>
              <a:prstGeom prst="rect">
                <a:avLst/>
              </a:prstGeom>
              <a:solidFill>
                <a:srgbClr val="CCFFCC">
                  <a:alpha val="50000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/>
                <a:r>
                  <a:rPr kumimoji="1" lang="en-US" altLang="zh-CN" sz="2400" b="1">
                    <a:solidFill>
                      <a:srgbClr val="2D2D8A"/>
                    </a:solidFill>
                    <a:latin typeface="Times New Roman" pitchFamily="18" charset="0"/>
                  </a:rPr>
                  <a:t>3</a:t>
                </a:r>
              </a:p>
            </p:txBody>
          </p:sp>
          <p:sp>
            <p:nvSpPr>
              <p:cNvPr id="107" name="Rectangle 145"/>
              <p:cNvSpPr>
                <a:spLocks noChangeArrowheads="1"/>
              </p:cNvSpPr>
              <p:nvPr/>
            </p:nvSpPr>
            <p:spPr bwMode="auto">
              <a:xfrm>
                <a:off x="192" y="1782"/>
                <a:ext cx="856" cy="234"/>
              </a:xfrm>
              <a:prstGeom prst="rect">
                <a:avLst/>
              </a:prstGeom>
              <a:solidFill>
                <a:srgbClr val="CCFFCC">
                  <a:alpha val="50000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/>
                <a:r>
                  <a:rPr kumimoji="1" lang="en-US" altLang="zh-CN" sz="2400" b="1">
                    <a:solidFill>
                      <a:srgbClr val="2D2D8A"/>
                    </a:solidFill>
                    <a:latin typeface="Times New Roman" pitchFamily="18" charset="0"/>
                  </a:rPr>
                  <a:t>2</a:t>
                </a:r>
              </a:p>
            </p:txBody>
          </p:sp>
          <p:sp>
            <p:nvSpPr>
              <p:cNvPr id="108" name="Rectangle 146"/>
              <p:cNvSpPr>
                <a:spLocks noChangeArrowheads="1"/>
              </p:cNvSpPr>
              <p:nvPr/>
            </p:nvSpPr>
            <p:spPr bwMode="auto">
              <a:xfrm>
                <a:off x="192" y="1547"/>
                <a:ext cx="856" cy="235"/>
              </a:xfrm>
              <a:prstGeom prst="rect">
                <a:avLst/>
              </a:prstGeom>
              <a:solidFill>
                <a:srgbClr val="CCFFCC">
                  <a:alpha val="50000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/>
                <a:r>
                  <a:rPr kumimoji="1" lang="en-US" altLang="zh-CN" sz="2400" b="1" dirty="0">
                    <a:solidFill>
                      <a:srgbClr val="2D2D8A"/>
                    </a:solidFill>
                    <a:latin typeface="Times New Roman" pitchFamily="18" charset="0"/>
                  </a:rPr>
                  <a:t>1</a:t>
                </a:r>
              </a:p>
            </p:txBody>
          </p:sp>
          <p:sp>
            <p:nvSpPr>
              <p:cNvPr id="109" name="Rectangle 147"/>
              <p:cNvSpPr>
                <a:spLocks noChangeArrowheads="1"/>
              </p:cNvSpPr>
              <p:nvPr/>
            </p:nvSpPr>
            <p:spPr bwMode="auto">
              <a:xfrm>
                <a:off x="192" y="1293"/>
                <a:ext cx="856" cy="254"/>
              </a:xfrm>
              <a:prstGeom prst="rect">
                <a:avLst/>
              </a:prstGeom>
              <a:solidFill>
                <a:srgbClr val="CCFFCC">
                  <a:alpha val="50000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/>
                <a:r>
                  <a:rPr kumimoji="1" lang="en-US" altLang="zh-CN" sz="2400" b="1">
                    <a:solidFill>
                      <a:srgbClr val="2D2D8A"/>
                    </a:solidFill>
                    <a:latin typeface="Times New Roman" pitchFamily="18" charset="0"/>
                  </a:rPr>
                  <a:t>0</a:t>
                </a:r>
              </a:p>
            </p:txBody>
          </p:sp>
          <p:sp>
            <p:nvSpPr>
              <p:cNvPr id="110" name="Rectangle 148"/>
              <p:cNvSpPr>
                <a:spLocks noChangeArrowheads="1"/>
              </p:cNvSpPr>
              <p:nvPr/>
            </p:nvSpPr>
            <p:spPr bwMode="auto">
              <a:xfrm>
                <a:off x="192" y="824"/>
                <a:ext cx="856" cy="469"/>
              </a:xfrm>
              <a:prstGeom prst="rect">
                <a:avLst/>
              </a:prstGeom>
              <a:solidFill>
                <a:srgbClr val="CCFFCC">
                  <a:alpha val="50000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/>
                <a:r>
                  <a:rPr kumimoji="1" lang="en-US" altLang="zh-CN" sz="2400" b="1" dirty="0">
                    <a:solidFill>
                      <a:srgbClr val="2D2D8A"/>
                    </a:solidFill>
                    <a:latin typeface="Times New Roman" pitchFamily="18" charset="0"/>
                  </a:rPr>
                  <a:t> </a:t>
                </a:r>
                <a:r>
                  <a:rPr kumimoji="1" lang="zh-CN" altLang="en-US" sz="2400" b="1" dirty="0">
                    <a:solidFill>
                      <a:srgbClr val="2D2D8A"/>
                    </a:solidFill>
                    <a:latin typeface="Times New Roman" pitchFamily="18" charset="0"/>
                  </a:rPr>
                  <a:t>十  进</a:t>
                </a:r>
              </a:p>
              <a:p>
                <a:pPr algn="ctr">
                  <a:spcBef>
                    <a:spcPct val="5000"/>
                  </a:spcBef>
                </a:pPr>
                <a:r>
                  <a:rPr kumimoji="1" lang="zh-CN" altLang="en-US" sz="2400" b="1" dirty="0">
                    <a:solidFill>
                      <a:srgbClr val="2D2D8A"/>
                    </a:solidFill>
                    <a:latin typeface="Times New Roman" pitchFamily="18" charset="0"/>
                  </a:rPr>
                  <a:t> 制  数</a:t>
                </a:r>
              </a:p>
            </p:txBody>
          </p:sp>
        </p:grpSp>
        <p:grpSp>
          <p:nvGrpSpPr>
            <p:cNvPr id="49" name="Group 193"/>
            <p:cNvGrpSpPr>
              <a:grpSpLocks/>
            </p:cNvGrpSpPr>
            <p:nvPr/>
          </p:nvGrpSpPr>
          <p:grpSpPr bwMode="auto">
            <a:xfrm>
              <a:off x="7315200" y="2073275"/>
              <a:ext cx="1219200" cy="3776663"/>
              <a:chOff x="4656" y="1266"/>
              <a:chExt cx="768" cy="2526"/>
            </a:xfrm>
          </p:grpSpPr>
          <p:sp>
            <p:nvSpPr>
              <p:cNvPr id="90" name="Rectangle 194"/>
              <p:cNvSpPr>
                <a:spLocks noChangeArrowheads="1"/>
              </p:cNvSpPr>
              <p:nvPr/>
            </p:nvSpPr>
            <p:spPr bwMode="auto">
              <a:xfrm>
                <a:off x="4656" y="3528"/>
                <a:ext cx="768" cy="264"/>
              </a:xfrm>
              <a:prstGeom prst="rect">
                <a:avLst/>
              </a:prstGeom>
              <a:solidFill>
                <a:srgbClr val="CCFFCC">
                  <a:alpha val="50000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/>
                <a:r>
                  <a:rPr kumimoji="1" lang="en-US" altLang="zh-CN" sz="2400" b="1">
                    <a:solidFill>
                      <a:srgbClr val="2D2D8A"/>
                    </a:solidFill>
                    <a:latin typeface="Times New Roman" pitchFamily="18" charset="0"/>
                  </a:rPr>
                  <a:t>1100</a:t>
                </a:r>
              </a:p>
            </p:txBody>
          </p:sp>
          <p:sp>
            <p:nvSpPr>
              <p:cNvPr id="91" name="Rectangle 195"/>
              <p:cNvSpPr>
                <a:spLocks noChangeArrowheads="1"/>
              </p:cNvSpPr>
              <p:nvPr/>
            </p:nvSpPr>
            <p:spPr bwMode="auto">
              <a:xfrm>
                <a:off x="4656" y="3279"/>
                <a:ext cx="768" cy="249"/>
              </a:xfrm>
              <a:prstGeom prst="rect">
                <a:avLst/>
              </a:prstGeom>
              <a:solidFill>
                <a:srgbClr val="CCFFCC">
                  <a:alpha val="50000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/>
                <a:r>
                  <a:rPr kumimoji="1" lang="en-US" altLang="zh-CN" sz="2400" b="1">
                    <a:solidFill>
                      <a:srgbClr val="2D2D8A"/>
                    </a:solidFill>
                    <a:latin typeface="Times New Roman" pitchFamily="18" charset="0"/>
                  </a:rPr>
                  <a:t>1011</a:t>
                </a:r>
              </a:p>
            </p:txBody>
          </p:sp>
          <p:sp>
            <p:nvSpPr>
              <p:cNvPr id="92" name="Rectangle 196"/>
              <p:cNvSpPr>
                <a:spLocks noChangeArrowheads="1"/>
              </p:cNvSpPr>
              <p:nvPr/>
            </p:nvSpPr>
            <p:spPr bwMode="auto">
              <a:xfrm>
                <a:off x="4656" y="3030"/>
                <a:ext cx="768" cy="249"/>
              </a:xfrm>
              <a:prstGeom prst="rect">
                <a:avLst/>
              </a:prstGeom>
              <a:solidFill>
                <a:srgbClr val="CCFFCC">
                  <a:alpha val="50000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/>
                <a:r>
                  <a:rPr kumimoji="1" lang="en-US" altLang="zh-CN" sz="2400" b="1">
                    <a:solidFill>
                      <a:srgbClr val="2D2D8A"/>
                    </a:solidFill>
                    <a:latin typeface="Times New Roman" pitchFamily="18" charset="0"/>
                  </a:rPr>
                  <a:t>1010</a:t>
                </a:r>
              </a:p>
            </p:txBody>
          </p:sp>
          <p:sp>
            <p:nvSpPr>
              <p:cNvPr id="93" name="Rectangle 197"/>
              <p:cNvSpPr>
                <a:spLocks noChangeArrowheads="1"/>
              </p:cNvSpPr>
              <p:nvPr/>
            </p:nvSpPr>
            <p:spPr bwMode="auto">
              <a:xfrm>
                <a:off x="4656" y="2781"/>
                <a:ext cx="768" cy="249"/>
              </a:xfrm>
              <a:prstGeom prst="rect">
                <a:avLst/>
              </a:prstGeom>
              <a:solidFill>
                <a:srgbClr val="CCFFCC">
                  <a:alpha val="50000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/>
                <a:r>
                  <a:rPr kumimoji="1" lang="en-US" altLang="zh-CN" sz="2400" b="1">
                    <a:solidFill>
                      <a:srgbClr val="2D2D8A"/>
                    </a:solidFill>
                    <a:latin typeface="Times New Roman" pitchFamily="18" charset="0"/>
                  </a:rPr>
                  <a:t>1001</a:t>
                </a:r>
              </a:p>
            </p:txBody>
          </p:sp>
          <p:sp>
            <p:nvSpPr>
              <p:cNvPr id="94" name="Rectangle 198"/>
              <p:cNvSpPr>
                <a:spLocks noChangeArrowheads="1"/>
              </p:cNvSpPr>
              <p:nvPr/>
            </p:nvSpPr>
            <p:spPr bwMode="auto">
              <a:xfrm>
                <a:off x="4656" y="2532"/>
                <a:ext cx="768" cy="249"/>
              </a:xfrm>
              <a:prstGeom prst="rect">
                <a:avLst/>
              </a:prstGeom>
              <a:solidFill>
                <a:srgbClr val="CCFFCC">
                  <a:alpha val="50000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/>
                <a:r>
                  <a:rPr kumimoji="1" lang="en-US" altLang="zh-CN" sz="2400" b="1">
                    <a:solidFill>
                      <a:srgbClr val="2D2D8A"/>
                    </a:solidFill>
                    <a:latin typeface="Times New Roman" pitchFamily="18" charset="0"/>
                  </a:rPr>
                  <a:t>1000</a:t>
                </a:r>
              </a:p>
            </p:txBody>
          </p:sp>
          <p:sp>
            <p:nvSpPr>
              <p:cNvPr id="95" name="Rectangle 199"/>
              <p:cNvSpPr>
                <a:spLocks noChangeArrowheads="1"/>
              </p:cNvSpPr>
              <p:nvPr/>
            </p:nvSpPr>
            <p:spPr bwMode="auto">
              <a:xfrm>
                <a:off x="4656" y="2283"/>
                <a:ext cx="768" cy="249"/>
              </a:xfrm>
              <a:prstGeom prst="rect">
                <a:avLst/>
              </a:prstGeom>
              <a:solidFill>
                <a:srgbClr val="CCFFCC">
                  <a:alpha val="50000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/>
                <a:r>
                  <a:rPr kumimoji="1" lang="en-US" altLang="zh-CN" sz="2400" b="1">
                    <a:solidFill>
                      <a:srgbClr val="2D2D8A"/>
                    </a:solidFill>
                    <a:latin typeface="Times New Roman" pitchFamily="18" charset="0"/>
                  </a:rPr>
                  <a:t>0111</a:t>
                </a:r>
              </a:p>
            </p:txBody>
          </p:sp>
          <p:sp>
            <p:nvSpPr>
              <p:cNvPr id="96" name="Rectangle 200"/>
              <p:cNvSpPr>
                <a:spLocks noChangeArrowheads="1"/>
              </p:cNvSpPr>
              <p:nvPr/>
            </p:nvSpPr>
            <p:spPr bwMode="auto">
              <a:xfrm>
                <a:off x="4656" y="2034"/>
                <a:ext cx="768" cy="249"/>
              </a:xfrm>
              <a:prstGeom prst="rect">
                <a:avLst/>
              </a:prstGeom>
              <a:solidFill>
                <a:srgbClr val="CCFFCC">
                  <a:alpha val="50000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/>
                <a:r>
                  <a:rPr kumimoji="1" lang="en-US" altLang="zh-CN" sz="2400" b="1">
                    <a:solidFill>
                      <a:srgbClr val="2D2D8A"/>
                    </a:solidFill>
                    <a:latin typeface="Times New Roman" pitchFamily="18" charset="0"/>
                  </a:rPr>
                  <a:t>0110</a:t>
                </a:r>
              </a:p>
            </p:txBody>
          </p:sp>
          <p:sp>
            <p:nvSpPr>
              <p:cNvPr id="97" name="Rectangle 201"/>
              <p:cNvSpPr>
                <a:spLocks noChangeArrowheads="1"/>
              </p:cNvSpPr>
              <p:nvPr/>
            </p:nvSpPr>
            <p:spPr bwMode="auto">
              <a:xfrm>
                <a:off x="4656" y="1785"/>
                <a:ext cx="768" cy="249"/>
              </a:xfrm>
              <a:prstGeom prst="rect">
                <a:avLst/>
              </a:prstGeom>
              <a:solidFill>
                <a:srgbClr val="CCFFCC">
                  <a:alpha val="50000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/>
                <a:r>
                  <a:rPr kumimoji="1" lang="en-US" altLang="zh-CN" sz="2400" b="1">
                    <a:solidFill>
                      <a:srgbClr val="2D2D8A"/>
                    </a:solidFill>
                    <a:latin typeface="Times New Roman" pitchFamily="18" charset="0"/>
                  </a:rPr>
                  <a:t>0101</a:t>
                </a:r>
              </a:p>
            </p:txBody>
          </p:sp>
          <p:sp>
            <p:nvSpPr>
              <p:cNvPr id="98" name="Rectangle 202"/>
              <p:cNvSpPr>
                <a:spLocks noChangeArrowheads="1"/>
              </p:cNvSpPr>
              <p:nvPr/>
            </p:nvSpPr>
            <p:spPr bwMode="auto">
              <a:xfrm>
                <a:off x="4656" y="1536"/>
                <a:ext cx="768" cy="249"/>
              </a:xfrm>
              <a:prstGeom prst="rect">
                <a:avLst/>
              </a:prstGeom>
              <a:solidFill>
                <a:srgbClr val="CCFFCC">
                  <a:alpha val="50000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/>
                <a:r>
                  <a:rPr kumimoji="1" lang="en-US" altLang="zh-CN" sz="2400" b="1">
                    <a:solidFill>
                      <a:srgbClr val="2D2D8A"/>
                    </a:solidFill>
                    <a:latin typeface="Times New Roman" pitchFamily="18" charset="0"/>
                  </a:rPr>
                  <a:t>0100</a:t>
                </a:r>
              </a:p>
            </p:txBody>
          </p:sp>
          <p:sp>
            <p:nvSpPr>
              <p:cNvPr id="99" name="Rectangle 203"/>
              <p:cNvSpPr>
                <a:spLocks noChangeArrowheads="1"/>
              </p:cNvSpPr>
              <p:nvPr/>
            </p:nvSpPr>
            <p:spPr bwMode="auto">
              <a:xfrm>
                <a:off x="4656" y="1266"/>
                <a:ext cx="768" cy="270"/>
              </a:xfrm>
              <a:prstGeom prst="rect">
                <a:avLst/>
              </a:prstGeom>
              <a:solidFill>
                <a:srgbClr val="CCFFCC">
                  <a:alpha val="50000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/>
                <a:r>
                  <a:rPr kumimoji="1" lang="en-US" altLang="zh-CN" sz="2400" b="1">
                    <a:solidFill>
                      <a:srgbClr val="2D2D8A"/>
                    </a:solidFill>
                    <a:latin typeface="Times New Roman" pitchFamily="18" charset="0"/>
                  </a:rPr>
                  <a:t>0011</a:t>
                </a:r>
              </a:p>
            </p:txBody>
          </p:sp>
        </p:grpSp>
        <p:grpSp>
          <p:nvGrpSpPr>
            <p:cNvPr id="50" name="Group 217"/>
            <p:cNvGrpSpPr>
              <a:grpSpLocks/>
            </p:cNvGrpSpPr>
            <p:nvPr/>
          </p:nvGrpSpPr>
          <p:grpSpPr bwMode="auto">
            <a:xfrm>
              <a:off x="1663700" y="1308100"/>
              <a:ext cx="6870700" cy="744538"/>
              <a:chOff x="1048" y="824"/>
              <a:chExt cx="4328" cy="469"/>
            </a:xfrm>
          </p:grpSpPr>
          <p:sp>
            <p:nvSpPr>
              <p:cNvPr id="83" name="Rectangle 205"/>
              <p:cNvSpPr>
                <a:spLocks noChangeArrowheads="1"/>
              </p:cNvSpPr>
              <p:nvPr/>
            </p:nvSpPr>
            <p:spPr bwMode="auto">
              <a:xfrm>
                <a:off x="4608" y="1059"/>
                <a:ext cx="768" cy="234"/>
              </a:xfrm>
              <a:prstGeom prst="rect">
                <a:avLst/>
              </a:prstGeom>
              <a:solidFill>
                <a:srgbClr val="CCFFCC">
                  <a:alpha val="50000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/>
                <a:r>
                  <a:rPr kumimoji="1" lang="zh-CN" altLang="en-US" sz="2400" b="1" dirty="0">
                    <a:solidFill>
                      <a:srgbClr val="2D2D8A"/>
                    </a:solidFill>
                    <a:latin typeface="Times New Roman" pitchFamily="18" charset="0"/>
                  </a:rPr>
                  <a:t>余 </a:t>
                </a:r>
                <a:r>
                  <a:rPr kumimoji="1" lang="en-US" altLang="zh-CN" sz="2400" b="1" dirty="0">
                    <a:solidFill>
                      <a:srgbClr val="2D2D8A"/>
                    </a:solidFill>
                    <a:latin typeface="Times New Roman" pitchFamily="18" charset="0"/>
                  </a:rPr>
                  <a:t>3 </a:t>
                </a:r>
                <a:r>
                  <a:rPr kumimoji="1" lang="zh-CN" altLang="en-US" sz="2400" b="1" dirty="0">
                    <a:solidFill>
                      <a:srgbClr val="2D2D8A"/>
                    </a:solidFill>
                    <a:latin typeface="Times New Roman" pitchFamily="18" charset="0"/>
                  </a:rPr>
                  <a:t>码</a:t>
                </a:r>
              </a:p>
            </p:txBody>
          </p:sp>
          <p:sp>
            <p:nvSpPr>
              <p:cNvPr id="84" name="Rectangle 206"/>
              <p:cNvSpPr>
                <a:spLocks noChangeArrowheads="1"/>
              </p:cNvSpPr>
              <p:nvPr/>
            </p:nvSpPr>
            <p:spPr bwMode="auto">
              <a:xfrm>
                <a:off x="3616" y="1059"/>
                <a:ext cx="992" cy="234"/>
              </a:xfrm>
              <a:prstGeom prst="rect">
                <a:avLst/>
              </a:prstGeom>
              <a:solidFill>
                <a:srgbClr val="CCFFCC">
                  <a:alpha val="50000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/>
                <a:r>
                  <a:rPr kumimoji="1" lang="en-US" altLang="zh-CN" sz="2400" b="1" dirty="0">
                    <a:solidFill>
                      <a:srgbClr val="2D2D8A"/>
                    </a:solidFill>
                    <a:latin typeface="Times New Roman" pitchFamily="18" charset="0"/>
                  </a:rPr>
                  <a:t>2421</a:t>
                </a:r>
                <a:r>
                  <a:rPr kumimoji="1" lang="en-US" altLang="zh-CN" sz="2400" b="1" dirty="0">
                    <a:solidFill>
                      <a:srgbClr val="2D2D8A"/>
                    </a:solidFill>
                    <a:latin typeface="宋体" pitchFamily="2" charset="-122"/>
                  </a:rPr>
                  <a:t>(</a:t>
                </a:r>
                <a:r>
                  <a:rPr kumimoji="1" lang="en-US" altLang="zh-CN" sz="2400" b="1" dirty="0">
                    <a:solidFill>
                      <a:srgbClr val="2D2D8A"/>
                    </a:solidFill>
                    <a:latin typeface="Times New Roman" pitchFamily="18" charset="0"/>
                  </a:rPr>
                  <a:t>B</a:t>
                </a:r>
                <a:r>
                  <a:rPr kumimoji="1" lang="en-US" altLang="zh-CN" sz="2400" b="1" dirty="0">
                    <a:solidFill>
                      <a:srgbClr val="2D2D8A"/>
                    </a:solidFill>
                    <a:latin typeface="宋体" pitchFamily="2" charset="-122"/>
                  </a:rPr>
                  <a:t>)</a:t>
                </a:r>
              </a:p>
            </p:txBody>
          </p:sp>
          <p:sp>
            <p:nvSpPr>
              <p:cNvPr id="85" name="Rectangle 207"/>
              <p:cNvSpPr>
                <a:spLocks noChangeArrowheads="1"/>
              </p:cNvSpPr>
              <p:nvPr/>
            </p:nvSpPr>
            <p:spPr bwMode="auto">
              <a:xfrm>
                <a:off x="2640" y="1059"/>
                <a:ext cx="976" cy="234"/>
              </a:xfrm>
              <a:prstGeom prst="rect">
                <a:avLst/>
              </a:prstGeom>
              <a:solidFill>
                <a:srgbClr val="CCFFCC">
                  <a:alpha val="50000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/>
                <a:r>
                  <a:rPr kumimoji="1" lang="en-US" altLang="zh-CN" sz="2400" b="1" dirty="0" smtClean="0">
                    <a:solidFill>
                      <a:srgbClr val="2D2D8A"/>
                    </a:solidFill>
                    <a:latin typeface="Times New Roman" pitchFamily="18" charset="0"/>
                  </a:rPr>
                  <a:t>2421</a:t>
                </a:r>
                <a:r>
                  <a:rPr kumimoji="1" lang="en-US" altLang="zh-CN" sz="2400" b="1" dirty="0" smtClean="0">
                    <a:solidFill>
                      <a:srgbClr val="2D2D8A"/>
                    </a:solidFill>
                    <a:latin typeface="宋体" pitchFamily="2" charset="-122"/>
                  </a:rPr>
                  <a:t>(</a:t>
                </a:r>
                <a:r>
                  <a:rPr kumimoji="1" lang="en-US" altLang="zh-CN" sz="2400" b="1" dirty="0" smtClean="0">
                    <a:solidFill>
                      <a:srgbClr val="2D2D8A"/>
                    </a:solidFill>
                    <a:latin typeface="Times New Roman" pitchFamily="18" charset="0"/>
                  </a:rPr>
                  <a:t>A</a:t>
                </a:r>
                <a:r>
                  <a:rPr kumimoji="1" lang="en-US" altLang="zh-CN" sz="2400" b="1" dirty="0" smtClean="0">
                    <a:solidFill>
                      <a:srgbClr val="2D2D8A"/>
                    </a:solidFill>
                    <a:latin typeface="宋体" pitchFamily="2" charset="-122"/>
                  </a:rPr>
                  <a:t>)</a:t>
                </a:r>
                <a:endParaRPr kumimoji="1" lang="en-US" altLang="zh-CN" sz="2000" b="1" dirty="0">
                  <a:solidFill>
                    <a:srgbClr val="2D2D8A"/>
                  </a:solidFill>
                  <a:latin typeface="宋体" pitchFamily="2" charset="-122"/>
                </a:endParaRPr>
              </a:p>
            </p:txBody>
          </p:sp>
          <p:sp>
            <p:nvSpPr>
              <p:cNvPr id="86" name="Rectangle 208"/>
              <p:cNvSpPr>
                <a:spLocks noChangeArrowheads="1"/>
              </p:cNvSpPr>
              <p:nvPr/>
            </p:nvSpPr>
            <p:spPr bwMode="auto">
              <a:xfrm>
                <a:off x="1824" y="1059"/>
                <a:ext cx="816" cy="234"/>
              </a:xfrm>
              <a:prstGeom prst="rect">
                <a:avLst/>
              </a:prstGeom>
              <a:solidFill>
                <a:srgbClr val="CCFFCC">
                  <a:alpha val="50000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/>
                <a:r>
                  <a:rPr kumimoji="1" lang="en-US" altLang="zh-CN" sz="2400" b="1" dirty="0">
                    <a:solidFill>
                      <a:srgbClr val="2D2D8A"/>
                    </a:solidFill>
                    <a:latin typeface="Times New Roman" pitchFamily="18" charset="0"/>
                  </a:rPr>
                  <a:t> 5421 </a:t>
                </a:r>
                <a:r>
                  <a:rPr kumimoji="1" lang="zh-CN" altLang="en-US" sz="2400" b="1" dirty="0">
                    <a:solidFill>
                      <a:srgbClr val="2D2D8A"/>
                    </a:solidFill>
                    <a:latin typeface="Times New Roman" pitchFamily="18" charset="0"/>
                  </a:rPr>
                  <a:t>码</a:t>
                </a:r>
              </a:p>
            </p:txBody>
          </p:sp>
          <p:sp>
            <p:nvSpPr>
              <p:cNvPr id="87" name="Rectangle 209"/>
              <p:cNvSpPr>
                <a:spLocks noChangeArrowheads="1"/>
              </p:cNvSpPr>
              <p:nvPr/>
            </p:nvSpPr>
            <p:spPr bwMode="auto">
              <a:xfrm>
                <a:off x="1048" y="1059"/>
                <a:ext cx="776" cy="234"/>
              </a:xfrm>
              <a:prstGeom prst="rect">
                <a:avLst/>
              </a:prstGeom>
              <a:solidFill>
                <a:srgbClr val="CCFFCC">
                  <a:alpha val="50000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/>
                <a:r>
                  <a:rPr kumimoji="1" lang="en-US" altLang="zh-CN" sz="2400" b="1" dirty="0">
                    <a:solidFill>
                      <a:srgbClr val="2D2D8A"/>
                    </a:solidFill>
                    <a:latin typeface="Times New Roman" pitchFamily="18" charset="0"/>
                  </a:rPr>
                  <a:t> 8421</a:t>
                </a:r>
                <a:r>
                  <a:rPr kumimoji="1" lang="en-US" altLang="zh-CN" sz="2400" b="1" baseline="-25000" dirty="0">
                    <a:solidFill>
                      <a:srgbClr val="2D2D8A"/>
                    </a:solidFill>
                    <a:latin typeface="Times New Roman" pitchFamily="18" charset="0"/>
                  </a:rPr>
                  <a:t> </a:t>
                </a:r>
                <a:r>
                  <a:rPr kumimoji="1" lang="zh-CN" altLang="en-US" sz="2400" b="1" dirty="0">
                    <a:solidFill>
                      <a:srgbClr val="2D2D8A"/>
                    </a:solidFill>
                    <a:latin typeface="Times New Roman" pitchFamily="18" charset="0"/>
                  </a:rPr>
                  <a:t>码</a:t>
                </a:r>
              </a:p>
            </p:txBody>
          </p:sp>
          <p:sp>
            <p:nvSpPr>
              <p:cNvPr id="88" name="Rectangle 210"/>
              <p:cNvSpPr>
                <a:spLocks noChangeArrowheads="1"/>
              </p:cNvSpPr>
              <p:nvPr/>
            </p:nvSpPr>
            <p:spPr bwMode="auto">
              <a:xfrm>
                <a:off x="4608" y="824"/>
                <a:ext cx="768" cy="235"/>
              </a:xfrm>
              <a:prstGeom prst="rect">
                <a:avLst/>
              </a:prstGeom>
              <a:solidFill>
                <a:srgbClr val="CCFFCC">
                  <a:alpha val="50000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/>
                <a:r>
                  <a:rPr kumimoji="1" lang="zh-CN" altLang="en-US" sz="2400" b="1" dirty="0">
                    <a:solidFill>
                      <a:srgbClr val="2D2D8A"/>
                    </a:solidFill>
                    <a:latin typeface="Times New Roman" pitchFamily="18" charset="0"/>
                  </a:rPr>
                  <a:t>无权码</a:t>
                </a:r>
              </a:p>
            </p:txBody>
          </p:sp>
          <p:sp>
            <p:nvSpPr>
              <p:cNvPr id="89" name="Rectangle 211"/>
              <p:cNvSpPr>
                <a:spLocks noChangeArrowheads="1"/>
              </p:cNvSpPr>
              <p:nvPr/>
            </p:nvSpPr>
            <p:spPr bwMode="auto">
              <a:xfrm>
                <a:off x="1048" y="824"/>
                <a:ext cx="3560" cy="235"/>
              </a:xfrm>
              <a:prstGeom prst="rect">
                <a:avLst/>
              </a:prstGeom>
              <a:solidFill>
                <a:srgbClr val="CCFFCC">
                  <a:alpha val="50000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/>
                <a:r>
                  <a:rPr kumimoji="1" lang="en-US" altLang="zh-CN" sz="2400" b="1" dirty="0">
                    <a:solidFill>
                      <a:srgbClr val="2D2D8A"/>
                    </a:solidFill>
                    <a:latin typeface="Times New Roman" pitchFamily="18" charset="0"/>
                  </a:rPr>
                  <a:t>  </a:t>
                </a:r>
                <a:r>
                  <a:rPr kumimoji="1" lang="zh-CN" altLang="en-US" sz="2400" b="1" dirty="0">
                    <a:solidFill>
                      <a:srgbClr val="2D2D8A"/>
                    </a:solidFill>
                    <a:latin typeface="Times New Roman" pitchFamily="18" charset="0"/>
                  </a:rPr>
                  <a:t>有           权           码</a:t>
                </a:r>
              </a:p>
            </p:txBody>
          </p:sp>
        </p:grpSp>
        <p:grpSp>
          <p:nvGrpSpPr>
            <p:cNvPr id="51" name="Group 151"/>
            <p:cNvGrpSpPr>
              <a:grpSpLocks/>
            </p:cNvGrpSpPr>
            <p:nvPr/>
          </p:nvGrpSpPr>
          <p:grpSpPr bwMode="auto">
            <a:xfrm>
              <a:off x="1663700" y="2073275"/>
              <a:ext cx="1231900" cy="3776663"/>
              <a:chOff x="1096" y="1266"/>
              <a:chExt cx="776" cy="2526"/>
            </a:xfrm>
          </p:grpSpPr>
          <p:sp>
            <p:nvSpPr>
              <p:cNvPr id="73" name="Rectangle 152"/>
              <p:cNvSpPr>
                <a:spLocks noChangeArrowheads="1"/>
              </p:cNvSpPr>
              <p:nvPr/>
            </p:nvSpPr>
            <p:spPr bwMode="auto">
              <a:xfrm>
                <a:off x="1096" y="3528"/>
                <a:ext cx="776" cy="264"/>
              </a:xfrm>
              <a:prstGeom prst="rect">
                <a:avLst/>
              </a:prstGeom>
              <a:solidFill>
                <a:srgbClr val="CCFFCC">
                  <a:alpha val="50000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/>
                <a:r>
                  <a:rPr kumimoji="1" lang="en-US" altLang="zh-CN" sz="2400" b="1">
                    <a:solidFill>
                      <a:srgbClr val="2D2D8A"/>
                    </a:solidFill>
                    <a:latin typeface="Times New Roman" pitchFamily="18" charset="0"/>
                  </a:rPr>
                  <a:t>1001</a:t>
                </a:r>
              </a:p>
            </p:txBody>
          </p:sp>
          <p:sp>
            <p:nvSpPr>
              <p:cNvPr id="74" name="Rectangle 153"/>
              <p:cNvSpPr>
                <a:spLocks noChangeArrowheads="1"/>
              </p:cNvSpPr>
              <p:nvPr/>
            </p:nvSpPr>
            <p:spPr bwMode="auto">
              <a:xfrm>
                <a:off x="1096" y="3279"/>
                <a:ext cx="776" cy="249"/>
              </a:xfrm>
              <a:prstGeom prst="rect">
                <a:avLst/>
              </a:prstGeom>
              <a:solidFill>
                <a:srgbClr val="CCFFCC">
                  <a:alpha val="50000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/>
                <a:r>
                  <a:rPr kumimoji="1" lang="en-US" altLang="zh-CN" sz="2400" b="1">
                    <a:solidFill>
                      <a:srgbClr val="2D2D8A"/>
                    </a:solidFill>
                    <a:latin typeface="Times New Roman" pitchFamily="18" charset="0"/>
                  </a:rPr>
                  <a:t>1000</a:t>
                </a:r>
              </a:p>
            </p:txBody>
          </p:sp>
          <p:sp>
            <p:nvSpPr>
              <p:cNvPr id="75" name="Rectangle 154"/>
              <p:cNvSpPr>
                <a:spLocks noChangeArrowheads="1"/>
              </p:cNvSpPr>
              <p:nvPr/>
            </p:nvSpPr>
            <p:spPr bwMode="auto">
              <a:xfrm>
                <a:off x="1096" y="3030"/>
                <a:ext cx="776" cy="249"/>
              </a:xfrm>
              <a:prstGeom prst="rect">
                <a:avLst/>
              </a:prstGeom>
              <a:solidFill>
                <a:srgbClr val="CCFFCC">
                  <a:alpha val="50000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/>
                <a:r>
                  <a:rPr kumimoji="1" lang="en-US" altLang="zh-CN" sz="2400" b="1">
                    <a:solidFill>
                      <a:srgbClr val="2D2D8A"/>
                    </a:solidFill>
                    <a:latin typeface="Times New Roman" pitchFamily="18" charset="0"/>
                  </a:rPr>
                  <a:t>0111</a:t>
                </a:r>
              </a:p>
            </p:txBody>
          </p:sp>
          <p:sp>
            <p:nvSpPr>
              <p:cNvPr id="76" name="Rectangle 155"/>
              <p:cNvSpPr>
                <a:spLocks noChangeArrowheads="1"/>
              </p:cNvSpPr>
              <p:nvPr/>
            </p:nvSpPr>
            <p:spPr bwMode="auto">
              <a:xfrm>
                <a:off x="1096" y="2781"/>
                <a:ext cx="776" cy="249"/>
              </a:xfrm>
              <a:prstGeom prst="rect">
                <a:avLst/>
              </a:prstGeom>
              <a:solidFill>
                <a:srgbClr val="CCFFCC">
                  <a:alpha val="50000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/>
                <a:r>
                  <a:rPr kumimoji="1" lang="en-US" altLang="zh-CN" sz="2400" b="1" dirty="0">
                    <a:solidFill>
                      <a:srgbClr val="2D2D8A"/>
                    </a:solidFill>
                    <a:latin typeface="Times New Roman" pitchFamily="18" charset="0"/>
                  </a:rPr>
                  <a:t>0110</a:t>
                </a:r>
              </a:p>
            </p:txBody>
          </p:sp>
          <p:sp>
            <p:nvSpPr>
              <p:cNvPr id="77" name="Rectangle 156"/>
              <p:cNvSpPr>
                <a:spLocks noChangeArrowheads="1"/>
              </p:cNvSpPr>
              <p:nvPr/>
            </p:nvSpPr>
            <p:spPr bwMode="auto">
              <a:xfrm>
                <a:off x="1096" y="2532"/>
                <a:ext cx="776" cy="249"/>
              </a:xfrm>
              <a:prstGeom prst="rect">
                <a:avLst/>
              </a:prstGeom>
              <a:solidFill>
                <a:srgbClr val="CCFFCC">
                  <a:alpha val="50000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/>
                <a:r>
                  <a:rPr kumimoji="1" lang="en-US" altLang="zh-CN" sz="2400" b="1">
                    <a:solidFill>
                      <a:srgbClr val="2D2D8A"/>
                    </a:solidFill>
                    <a:latin typeface="Times New Roman" pitchFamily="18" charset="0"/>
                  </a:rPr>
                  <a:t>0101</a:t>
                </a:r>
              </a:p>
            </p:txBody>
          </p:sp>
          <p:sp>
            <p:nvSpPr>
              <p:cNvPr id="78" name="Rectangle 157"/>
              <p:cNvSpPr>
                <a:spLocks noChangeArrowheads="1"/>
              </p:cNvSpPr>
              <p:nvPr/>
            </p:nvSpPr>
            <p:spPr bwMode="auto">
              <a:xfrm>
                <a:off x="1096" y="2283"/>
                <a:ext cx="776" cy="249"/>
              </a:xfrm>
              <a:prstGeom prst="rect">
                <a:avLst/>
              </a:prstGeom>
              <a:solidFill>
                <a:srgbClr val="CCFFCC">
                  <a:alpha val="50000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/>
                <a:r>
                  <a:rPr kumimoji="1" lang="en-US" altLang="zh-CN" sz="2400" b="1">
                    <a:solidFill>
                      <a:srgbClr val="2D2D8A"/>
                    </a:solidFill>
                    <a:latin typeface="Times New Roman" pitchFamily="18" charset="0"/>
                  </a:rPr>
                  <a:t>0100</a:t>
                </a:r>
              </a:p>
            </p:txBody>
          </p:sp>
          <p:sp>
            <p:nvSpPr>
              <p:cNvPr id="79" name="Rectangle 158"/>
              <p:cNvSpPr>
                <a:spLocks noChangeArrowheads="1"/>
              </p:cNvSpPr>
              <p:nvPr/>
            </p:nvSpPr>
            <p:spPr bwMode="auto">
              <a:xfrm>
                <a:off x="1096" y="2034"/>
                <a:ext cx="776" cy="249"/>
              </a:xfrm>
              <a:prstGeom prst="rect">
                <a:avLst/>
              </a:prstGeom>
              <a:solidFill>
                <a:srgbClr val="CCFFCC">
                  <a:alpha val="50000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/>
                <a:r>
                  <a:rPr kumimoji="1" lang="en-US" altLang="zh-CN" sz="2400" b="1" dirty="0">
                    <a:solidFill>
                      <a:srgbClr val="2D2D8A"/>
                    </a:solidFill>
                    <a:latin typeface="Times New Roman" pitchFamily="18" charset="0"/>
                  </a:rPr>
                  <a:t>0011</a:t>
                </a:r>
              </a:p>
            </p:txBody>
          </p:sp>
          <p:sp>
            <p:nvSpPr>
              <p:cNvPr id="80" name="Rectangle 159"/>
              <p:cNvSpPr>
                <a:spLocks noChangeArrowheads="1"/>
              </p:cNvSpPr>
              <p:nvPr/>
            </p:nvSpPr>
            <p:spPr bwMode="auto">
              <a:xfrm>
                <a:off x="1096" y="1785"/>
                <a:ext cx="776" cy="249"/>
              </a:xfrm>
              <a:prstGeom prst="rect">
                <a:avLst/>
              </a:prstGeom>
              <a:solidFill>
                <a:srgbClr val="CCFFCC">
                  <a:alpha val="50000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/>
                <a:r>
                  <a:rPr kumimoji="1" lang="en-US" altLang="zh-CN" sz="2400" b="1">
                    <a:solidFill>
                      <a:srgbClr val="2D2D8A"/>
                    </a:solidFill>
                    <a:latin typeface="Times New Roman" pitchFamily="18" charset="0"/>
                  </a:rPr>
                  <a:t>0010</a:t>
                </a:r>
              </a:p>
            </p:txBody>
          </p:sp>
          <p:sp>
            <p:nvSpPr>
              <p:cNvPr id="81" name="Rectangle 160"/>
              <p:cNvSpPr>
                <a:spLocks noChangeArrowheads="1"/>
              </p:cNvSpPr>
              <p:nvPr/>
            </p:nvSpPr>
            <p:spPr bwMode="auto">
              <a:xfrm>
                <a:off x="1096" y="1536"/>
                <a:ext cx="776" cy="249"/>
              </a:xfrm>
              <a:prstGeom prst="rect">
                <a:avLst/>
              </a:prstGeom>
              <a:solidFill>
                <a:srgbClr val="CCFFCC">
                  <a:alpha val="50000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/>
                <a:r>
                  <a:rPr kumimoji="1" lang="en-US" altLang="zh-CN" sz="2400" b="1">
                    <a:solidFill>
                      <a:srgbClr val="2D2D8A"/>
                    </a:solidFill>
                    <a:latin typeface="Times New Roman" pitchFamily="18" charset="0"/>
                  </a:rPr>
                  <a:t>0001</a:t>
                </a:r>
              </a:p>
            </p:txBody>
          </p:sp>
          <p:sp>
            <p:nvSpPr>
              <p:cNvPr id="82" name="Rectangle 161"/>
              <p:cNvSpPr>
                <a:spLocks noChangeArrowheads="1"/>
              </p:cNvSpPr>
              <p:nvPr/>
            </p:nvSpPr>
            <p:spPr bwMode="auto">
              <a:xfrm>
                <a:off x="1096" y="1266"/>
                <a:ext cx="776" cy="270"/>
              </a:xfrm>
              <a:prstGeom prst="rect">
                <a:avLst/>
              </a:prstGeom>
              <a:solidFill>
                <a:srgbClr val="CCFFCC">
                  <a:alpha val="50000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/>
                <a:r>
                  <a:rPr kumimoji="1" lang="en-US" altLang="zh-CN" sz="2400" b="1" dirty="0">
                    <a:solidFill>
                      <a:srgbClr val="2D2D8A"/>
                    </a:solidFill>
                    <a:latin typeface="Times New Roman" pitchFamily="18" charset="0"/>
                  </a:rPr>
                  <a:t>0000</a:t>
                </a:r>
              </a:p>
            </p:txBody>
          </p:sp>
        </p:grpSp>
        <p:grpSp>
          <p:nvGrpSpPr>
            <p:cNvPr id="52" name="Group 218"/>
            <p:cNvGrpSpPr>
              <a:grpSpLocks/>
            </p:cNvGrpSpPr>
            <p:nvPr/>
          </p:nvGrpSpPr>
          <p:grpSpPr bwMode="auto">
            <a:xfrm>
              <a:off x="304800" y="1320800"/>
              <a:ext cx="8229600" cy="4521200"/>
              <a:chOff x="240" y="768"/>
              <a:chExt cx="5184" cy="3024"/>
            </a:xfrm>
          </p:grpSpPr>
          <p:sp>
            <p:nvSpPr>
              <p:cNvPr id="53" name="Line 219"/>
              <p:cNvSpPr>
                <a:spLocks noChangeShapeType="1"/>
              </p:cNvSpPr>
              <p:nvPr/>
            </p:nvSpPr>
            <p:spPr bwMode="auto">
              <a:xfrm>
                <a:off x="1096" y="1017"/>
                <a:ext cx="432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 b="1">
                  <a:solidFill>
                    <a:srgbClr val="2D2D8A"/>
                  </a:solidFill>
                </a:endParaRPr>
              </a:p>
            </p:txBody>
          </p:sp>
          <p:sp>
            <p:nvSpPr>
              <p:cNvPr id="54" name="Line 220"/>
              <p:cNvSpPr>
                <a:spLocks noChangeShapeType="1"/>
              </p:cNvSpPr>
              <p:nvPr/>
            </p:nvSpPr>
            <p:spPr bwMode="auto">
              <a:xfrm>
                <a:off x="240" y="768"/>
                <a:ext cx="0" cy="3024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 b="1">
                  <a:solidFill>
                    <a:srgbClr val="2D2D8A"/>
                  </a:solidFill>
                </a:endParaRPr>
              </a:p>
            </p:txBody>
          </p:sp>
          <p:sp>
            <p:nvSpPr>
              <p:cNvPr id="55" name="Line 221"/>
              <p:cNvSpPr>
                <a:spLocks noChangeShapeType="1"/>
              </p:cNvSpPr>
              <p:nvPr/>
            </p:nvSpPr>
            <p:spPr bwMode="auto">
              <a:xfrm>
                <a:off x="1096" y="768"/>
                <a:ext cx="0" cy="30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 b="1">
                  <a:solidFill>
                    <a:srgbClr val="2D2D8A"/>
                  </a:solidFill>
                </a:endParaRPr>
              </a:p>
            </p:txBody>
          </p:sp>
          <p:sp>
            <p:nvSpPr>
              <p:cNvPr id="56" name="Line 222"/>
              <p:cNvSpPr>
                <a:spLocks noChangeShapeType="1"/>
              </p:cNvSpPr>
              <p:nvPr/>
            </p:nvSpPr>
            <p:spPr bwMode="auto">
              <a:xfrm>
                <a:off x="240" y="768"/>
                <a:ext cx="5184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 b="1">
                  <a:solidFill>
                    <a:srgbClr val="2D2D8A"/>
                  </a:solidFill>
                </a:endParaRPr>
              </a:p>
            </p:txBody>
          </p:sp>
          <p:sp>
            <p:nvSpPr>
              <p:cNvPr id="57" name="Line 223"/>
              <p:cNvSpPr>
                <a:spLocks noChangeShapeType="1"/>
              </p:cNvSpPr>
              <p:nvPr/>
            </p:nvSpPr>
            <p:spPr bwMode="auto">
              <a:xfrm>
                <a:off x="240" y="1266"/>
                <a:ext cx="518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 b="1">
                  <a:solidFill>
                    <a:srgbClr val="2D2D8A"/>
                  </a:solidFill>
                </a:endParaRPr>
              </a:p>
            </p:txBody>
          </p:sp>
          <p:sp>
            <p:nvSpPr>
              <p:cNvPr id="58" name="Line 224"/>
              <p:cNvSpPr>
                <a:spLocks noChangeShapeType="1"/>
              </p:cNvSpPr>
              <p:nvPr/>
            </p:nvSpPr>
            <p:spPr bwMode="auto">
              <a:xfrm>
                <a:off x="240" y="1536"/>
                <a:ext cx="518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 b="1">
                  <a:solidFill>
                    <a:srgbClr val="2D2D8A"/>
                  </a:solidFill>
                </a:endParaRPr>
              </a:p>
            </p:txBody>
          </p:sp>
          <p:sp>
            <p:nvSpPr>
              <p:cNvPr id="59" name="Line 225"/>
              <p:cNvSpPr>
                <a:spLocks noChangeShapeType="1"/>
              </p:cNvSpPr>
              <p:nvPr/>
            </p:nvSpPr>
            <p:spPr bwMode="auto">
              <a:xfrm>
                <a:off x="240" y="1785"/>
                <a:ext cx="518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 b="1">
                  <a:solidFill>
                    <a:srgbClr val="2D2D8A"/>
                  </a:solidFill>
                </a:endParaRPr>
              </a:p>
            </p:txBody>
          </p:sp>
          <p:sp>
            <p:nvSpPr>
              <p:cNvPr id="60" name="Line 226"/>
              <p:cNvSpPr>
                <a:spLocks noChangeShapeType="1"/>
              </p:cNvSpPr>
              <p:nvPr/>
            </p:nvSpPr>
            <p:spPr bwMode="auto">
              <a:xfrm>
                <a:off x="240" y="2034"/>
                <a:ext cx="518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 b="1">
                  <a:solidFill>
                    <a:srgbClr val="2D2D8A"/>
                  </a:solidFill>
                </a:endParaRPr>
              </a:p>
            </p:txBody>
          </p:sp>
          <p:sp>
            <p:nvSpPr>
              <p:cNvPr id="61" name="Line 227"/>
              <p:cNvSpPr>
                <a:spLocks noChangeShapeType="1"/>
              </p:cNvSpPr>
              <p:nvPr/>
            </p:nvSpPr>
            <p:spPr bwMode="auto">
              <a:xfrm>
                <a:off x="240" y="2283"/>
                <a:ext cx="518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 b="1">
                  <a:solidFill>
                    <a:srgbClr val="2D2D8A"/>
                  </a:solidFill>
                </a:endParaRPr>
              </a:p>
            </p:txBody>
          </p:sp>
          <p:sp>
            <p:nvSpPr>
              <p:cNvPr id="62" name="Line 228"/>
              <p:cNvSpPr>
                <a:spLocks noChangeShapeType="1"/>
              </p:cNvSpPr>
              <p:nvPr/>
            </p:nvSpPr>
            <p:spPr bwMode="auto">
              <a:xfrm>
                <a:off x="240" y="2532"/>
                <a:ext cx="518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 b="1">
                  <a:solidFill>
                    <a:srgbClr val="2D2D8A"/>
                  </a:solidFill>
                </a:endParaRPr>
              </a:p>
            </p:txBody>
          </p:sp>
          <p:sp>
            <p:nvSpPr>
              <p:cNvPr id="63" name="Line 229"/>
              <p:cNvSpPr>
                <a:spLocks noChangeShapeType="1"/>
              </p:cNvSpPr>
              <p:nvPr/>
            </p:nvSpPr>
            <p:spPr bwMode="auto">
              <a:xfrm>
                <a:off x="240" y="2781"/>
                <a:ext cx="518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 b="1">
                  <a:solidFill>
                    <a:srgbClr val="2D2D8A"/>
                  </a:solidFill>
                </a:endParaRPr>
              </a:p>
            </p:txBody>
          </p:sp>
          <p:sp>
            <p:nvSpPr>
              <p:cNvPr id="64" name="Line 230"/>
              <p:cNvSpPr>
                <a:spLocks noChangeShapeType="1"/>
              </p:cNvSpPr>
              <p:nvPr/>
            </p:nvSpPr>
            <p:spPr bwMode="auto">
              <a:xfrm>
                <a:off x="240" y="3030"/>
                <a:ext cx="518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 b="1">
                  <a:solidFill>
                    <a:srgbClr val="2D2D8A"/>
                  </a:solidFill>
                </a:endParaRPr>
              </a:p>
            </p:txBody>
          </p:sp>
          <p:sp>
            <p:nvSpPr>
              <p:cNvPr id="65" name="Line 231"/>
              <p:cNvSpPr>
                <a:spLocks noChangeShapeType="1"/>
              </p:cNvSpPr>
              <p:nvPr/>
            </p:nvSpPr>
            <p:spPr bwMode="auto">
              <a:xfrm>
                <a:off x="240" y="3279"/>
                <a:ext cx="518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 b="1">
                  <a:solidFill>
                    <a:srgbClr val="2D2D8A"/>
                  </a:solidFill>
                </a:endParaRPr>
              </a:p>
            </p:txBody>
          </p:sp>
          <p:sp>
            <p:nvSpPr>
              <p:cNvPr id="66" name="Line 232"/>
              <p:cNvSpPr>
                <a:spLocks noChangeShapeType="1"/>
              </p:cNvSpPr>
              <p:nvPr/>
            </p:nvSpPr>
            <p:spPr bwMode="auto">
              <a:xfrm>
                <a:off x="240" y="3528"/>
                <a:ext cx="518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 b="1">
                  <a:solidFill>
                    <a:srgbClr val="2D2D8A"/>
                  </a:solidFill>
                </a:endParaRPr>
              </a:p>
            </p:txBody>
          </p:sp>
          <p:sp>
            <p:nvSpPr>
              <p:cNvPr id="67" name="Line 233"/>
              <p:cNvSpPr>
                <a:spLocks noChangeShapeType="1"/>
              </p:cNvSpPr>
              <p:nvPr/>
            </p:nvSpPr>
            <p:spPr bwMode="auto">
              <a:xfrm>
                <a:off x="240" y="3792"/>
                <a:ext cx="5184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 b="1">
                  <a:solidFill>
                    <a:srgbClr val="2D2D8A"/>
                  </a:solidFill>
                </a:endParaRPr>
              </a:p>
            </p:txBody>
          </p:sp>
          <p:sp>
            <p:nvSpPr>
              <p:cNvPr id="68" name="Line 234"/>
              <p:cNvSpPr>
                <a:spLocks noChangeShapeType="1"/>
              </p:cNvSpPr>
              <p:nvPr/>
            </p:nvSpPr>
            <p:spPr bwMode="auto">
              <a:xfrm>
                <a:off x="4656" y="768"/>
                <a:ext cx="0" cy="30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 b="1">
                  <a:solidFill>
                    <a:srgbClr val="2D2D8A"/>
                  </a:solidFill>
                </a:endParaRPr>
              </a:p>
            </p:txBody>
          </p:sp>
          <p:sp>
            <p:nvSpPr>
              <p:cNvPr id="69" name="Line 235"/>
              <p:cNvSpPr>
                <a:spLocks noChangeShapeType="1"/>
              </p:cNvSpPr>
              <p:nvPr/>
            </p:nvSpPr>
            <p:spPr bwMode="auto">
              <a:xfrm>
                <a:off x="5424" y="768"/>
                <a:ext cx="0" cy="3024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 b="1">
                  <a:solidFill>
                    <a:srgbClr val="2D2D8A"/>
                  </a:solidFill>
                </a:endParaRPr>
              </a:p>
            </p:txBody>
          </p:sp>
          <p:sp>
            <p:nvSpPr>
              <p:cNvPr id="70" name="Line 236"/>
              <p:cNvSpPr>
                <a:spLocks noChangeShapeType="1"/>
              </p:cNvSpPr>
              <p:nvPr/>
            </p:nvSpPr>
            <p:spPr bwMode="auto">
              <a:xfrm>
                <a:off x="1872" y="1017"/>
                <a:ext cx="0" cy="277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 b="1">
                  <a:solidFill>
                    <a:srgbClr val="2D2D8A"/>
                  </a:solidFill>
                </a:endParaRPr>
              </a:p>
            </p:txBody>
          </p:sp>
          <p:sp>
            <p:nvSpPr>
              <p:cNvPr id="71" name="Line 237"/>
              <p:cNvSpPr>
                <a:spLocks noChangeShapeType="1"/>
              </p:cNvSpPr>
              <p:nvPr/>
            </p:nvSpPr>
            <p:spPr bwMode="auto">
              <a:xfrm>
                <a:off x="2688" y="1017"/>
                <a:ext cx="0" cy="277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 b="1">
                  <a:solidFill>
                    <a:srgbClr val="2D2D8A"/>
                  </a:solidFill>
                </a:endParaRPr>
              </a:p>
            </p:txBody>
          </p:sp>
          <p:sp>
            <p:nvSpPr>
              <p:cNvPr id="72" name="Line 238"/>
              <p:cNvSpPr>
                <a:spLocks noChangeShapeType="1"/>
              </p:cNvSpPr>
              <p:nvPr/>
            </p:nvSpPr>
            <p:spPr bwMode="auto">
              <a:xfrm>
                <a:off x="3664" y="1017"/>
                <a:ext cx="0" cy="277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 b="1">
                  <a:solidFill>
                    <a:srgbClr val="2D2D8A"/>
                  </a:solidFill>
                </a:endParaRPr>
              </a:p>
            </p:txBody>
          </p:sp>
        </p:grpSp>
      </p:grpSp>
      <p:sp>
        <p:nvSpPr>
          <p:cNvPr id="141" name="矩形 140"/>
          <p:cNvSpPr/>
          <p:nvPr/>
        </p:nvSpPr>
        <p:spPr>
          <a:xfrm>
            <a:off x="2972889" y="-61992"/>
            <a:ext cx="238719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800" b="1" dirty="0" smtClean="0">
                <a:solidFill>
                  <a:srgbClr val="2D2D8A"/>
                </a:solidFill>
                <a:ea typeface="黑体" pitchFamily="49" charset="-122"/>
              </a:rPr>
              <a:t>表</a:t>
            </a:r>
            <a:r>
              <a:rPr lang="en-US" altLang="zh-CN" sz="2800" b="1" dirty="0" smtClean="0">
                <a:solidFill>
                  <a:srgbClr val="2D2D8A"/>
                </a:solidFill>
                <a:ea typeface="黑体" pitchFamily="49" charset="-122"/>
              </a:rPr>
              <a:t>2  </a:t>
            </a:r>
            <a:r>
              <a:rPr lang="zh-CN" altLang="en-US" sz="2800" b="1" dirty="0" smtClean="0">
                <a:solidFill>
                  <a:srgbClr val="2D2D8A"/>
                </a:solidFill>
                <a:ea typeface="黑体" pitchFamily="49" charset="-122"/>
              </a:rPr>
              <a:t>数字编码</a:t>
            </a:r>
            <a:endParaRPr lang="zh-CN" altLang="en-US" sz="2800" dirty="0">
              <a:solidFill>
                <a:srgbClr val="2D2D8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0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b="1" dirty="0" smtClean="0">
                <a:solidFill>
                  <a:schemeClr val="accent2"/>
                </a:solidFill>
              </a:rPr>
              <a:t>表</a:t>
            </a:r>
            <a:r>
              <a:rPr lang="en-US" altLang="zh-CN" b="1" dirty="0" smtClean="0">
                <a:solidFill>
                  <a:schemeClr val="accent2"/>
                </a:solidFill>
              </a:rPr>
              <a:t>3 ASCII </a:t>
            </a:r>
            <a:r>
              <a:rPr lang="zh-CN" altLang="en-US" b="1" dirty="0" smtClean="0">
                <a:solidFill>
                  <a:schemeClr val="accent2"/>
                </a:solidFill>
              </a:rPr>
              <a:t>码</a:t>
            </a:r>
            <a:endParaRPr lang="en-US" altLang="zh-CN" b="1" dirty="0" smtClean="0">
              <a:solidFill>
                <a:schemeClr val="accent2"/>
              </a:solidFill>
            </a:endParaRPr>
          </a:p>
        </p:txBody>
      </p:sp>
      <p:pic>
        <p:nvPicPr>
          <p:cNvPr id="351241" name="Picture 9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43789" y="742950"/>
            <a:ext cx="7656422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52400" y="0"/>
            <a:ext cx="25234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：课 程 概 述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0" y="666750"/>
            <a:ext cx="8610600" cy="20467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 indent="457200">
              <a:lnSpc>
                <a:spcPct val="150000"/>
              </a:lnSpc>
            </a:pPr>
            <a:r>
              <a:rPr lang="en-US" altLang="zh-CN" sz="2400" b="1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1.5 </a:t>
            </a:r>
            <a:r>
              <a:rPr lang="zh-CN" altLang="en-US" sz="2400" b="1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数字逻辑课程的主要内容：</a:t>
            </a:r>
            <a:endParaRPr lang="en-US" altLang="zh-CN" sz="2400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1143000" y="1276350"/>
            <a:ext cx="7808913" cy="649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l"/>
            </a:pPr>
            <a:r>
              <a:rPr lang="zh-CN" altLang="en-US" sz="2400" b="1" dirty="0" smtClean="0">
                <a:solidFill>
                  <a:schemeClr val="accent2"/>
                </a:solidFill>
                <a:ea typeface="黑体" pitchFamily="49" charset="-122"/>
              </a:rPr>
              <a:t>布尔代数</a:t>
            </a:r>
            <a:endParaRPr lang="en-US" altLang="zh-CN" sz="2400" b="1" dirty="0" smtClean="0">
              <a:solidFill>
                <a:schemeClr val="accent2"/>
              </a:solidFill>
              <a:ea typeface="黑体" pitchFamily="49" charset="-122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60000"/>
            </a:pPr>
            <a:r>
              <a:rPr lang="en-US" altLang="zh-CN" sz="2400" b="1" dirty="0" smtClean="0">
                <a:solidFill>
                  <a:schemeClr val="accent2"/>
                </a:solidFill>
                <a:ea typeface="黑体" pitchFamily="49" charset="-122"/>
              </a:rPr>
              <a:t>     </a:t>
            </a:r>
            <a:r>
              <a:rPr lang="en-US" altLang="zh-CN" sz="2000" b="1" baseline="-25000" dirty="0" smtClean="0">
                <a:solidFill>
                  <a:schemeClr val="accent2"/>
                </a:solidFill>
                <a:ea typeface="黑体" pitchFamily="49" charset="-122"/>
              </a:rPr>
              <a:t>                         </a:t>
            </a:r>
          </a:p>
        </p:txBody>
      </p:sp>
      <p:sp>
        <p:nvSpPr>
          <p:cNvPr id="5" name="矩形 4"/>
          <p:cNvSpPr/>
          <p:nvPr/>
        </p:nvSpPr>
        <p:spPr>
          <a:xfrm>
            <a:off x="1600200" y="1657350"/>
            <a:ext cx="715772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>
                <a:solidFill>
                  <a:schemeClr val="accent2"/>
                </a:solidFill>
                <a:ea typeface="黑体" pitchFamily="49" charset="-122"/>
              </a:rPr>
              <a:t>布尔代数中的一些基本定理，并应用这些定理证明和化简逻辑函数。</a:t>
            </a:r>
            <a:endParaRPr lang="en-US" altLang="zh-CN" b="1" dirty="0" smtClean="0">
              <a:solidFill>
                <a:schemeClr val="accent2"/>
              </a:solidFill>
              <a:ea typeface="黑体" pitchFamily="49" charset="-122"/>
            </a:endParaRPr>
          </a:p>
          <a:p>
            <a:endParaRPr lang="en-US" altLang="zh-CN" b="1" dirty="0" smtClean="0">
              <a:solidFill>
                <a:schemeClr val="accent2"/>
              </a:solidFill>
              <a:ea typeface="黑体" pitchFamily="49" charset="-122"/>
            </a:endParaRPr>
          </a:p>
        </p:txBody>
      </p:sp>
      <p:graphicFrame>
        <p:nvGraphicFramePr>
          <p:cNvPr id="23554" name="Object 2"/>
          <p:cNvGraphicFramePr>
            <a:graphicFrameLocks noChangeAspect="1"/>
          </p:cNvGraphicFramePr>
          <p:nvPr/>
        </p:nvGraphicFramePr>
        <p:xfrm>
          <a:off x="2895600" y="2235954"/>
          <a:ext cx="792480" cy="304800"/>
        </p:xfrm>
        <a:graphic>
          <a:graphicData uri="http://schemas.openxmlformats.org/presentationml/2006/ole">
            <p:oleObj spid="_x0000_s23554" name="Equation" r:id="rId3" imgW="660240" imgH="253800" progId="Equation.DSMT4">
              <p:embed/>
            </p:oleObj>
          </a:graphicData>
        </a:graphic>
      </p:graphicFrame>
      <p:graphicFrame>
        <p:nvGraphicFramePr>
          <p:cNvPr id="23555" name="Object 3"/>
          <p:cNvGraphicFramePr>
            <a:graphicFrameLocks noChangeAspect="1"/>
          </p:cNvGraphicFramePr>
          <p:nvPr/>
        </p:nvGraphicFramePr>
        <p:xfrm>
          <a:off x="4267200" y="2235954"/>
          <a:ext cx="2087563" cy="304800"/>
        </p:xfrm>
        <a:graphic>
          <a:graphicData uri="http://schemas.openxmlformats.org/presentationml/2006/ole">
            <p:oleObj spid="_x0000_s23555" name="Equation" r:id="rId4" imgW="1739880" imgH="253800" progId="Equation.DSMT4">
              <p:embed/>
            </p:oleObj>
          </a:graphicData>
        </a:graphic>
      </p:graphicFrame>
      <p:sp>
        <p:nvSpPr>
          <p:cNvPr id="8" name="矩形 7"/>
          <p:cNvSpPr/>
          <p:nvPr/>
        </p:nvSpPr>
        <p:spPr>
          <a:xfrm>
            <a:off x="1600200" y="2724150"/>
            <a:ext cx="14109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>
                <a:solidFill>
                  <a:schemeClr val="accent2"/>
                </a:solidFill>
                <a:ea typeface="黑体" pitchFamily="49" charset="-122"/>
              </a:rPr>
              <a:t>函数化简： </a:t>
            </a:r>
            <a:endParaRPr lang="zh-CN" altLang="en-US" dirty="0"/>
          </a:p>
        </p:txBody>
      </p:sp>
      <p:graphicFrame>
        <p:nvGraphicFramePr>
          <p:cNvPr id="23556" name="Object 3"/>
          <p:cNvGraphicFramePr>
            <a:graphicFrameLocks noChangeAspect="1"/>
          </p:cNvGraphicFramePr>
          <p:nvPr/>
        </p:nvGraphicFramePr>
        <p:xfrm>
          <a:off x="2895600" y="2724150"/>
          <a:ext cx="1905000" cy="328480"/>
        </p:xfrm>
        <a:graphic>
          <a:graphicData uri="http://schemas.openxmlformats.org/presentationml/2006/ole">
            <p:oleObj spid="_x0000_s23556" name="公式" r:id="rId5" imgW="1396800" imgH="241200" progId="">
              <p:embed/>
            </p:oleObj>
          </a:graphicData>
        </a:graphic>
      </p:graphicFrame>
      <p:sp>
        <p:nvSpPr>
          <p:cNvPr id="11" name="矩形 10"/>
          <p:cNvSpPr/>
          <p:nvPr/>
        </p:nvSpPr>
        <p:spPr>
          <a:xfrm>
            <a:off x="4953000" y="2724150"/>
            <a:ext cx="13901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（</a:t>
            </a:r>
            <a:r>
              <a:rPr lang="en-US" altLang="zh-CN" dirty="0" smtClean="0">
                <a:solidFill>
                  <a:srgbClr val="FF0000"/>
                </a:solidFill>
              </a:rPr>
              <a:t>A+B+C</a:t>
            </a:r>
            <a:r>
              <a:rPr lang="zh-CN" altLang="en-US" dirty="0" smtClean="0">
                <a:solidFill>
                  <a:srgbClr val="FF0000"/>
                </a:solidFill>
              </a:rPr>
              <a:t>）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600200" y="3333750"/>
            <a:ext cx="14109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>
                <a:solidFill>
                  <a:schemeClr val="accent2"/>
                </a:solidFill>
                <a:ea typeface="黑体" pitchFamily="49" charset="-122"/>
              </a:rPr>
              <a:t>函数证明： </a:t>
            </a:r>
            <a:endParaRPr lang="zh-CN" altLang="en-US" dirty="0"/>
          </a:p>
        </p:txBody>
      </p:sp>
      <p:graphicFrame>
        <p:nvGraphicFramePr>
          <p:cNvPr id="23558" name="Object 6"/>
          <p:cNvGraphicFramePr>
            <a:graphicFrameLocks noChangeAspect="1"/>
          </p:cNvGraphicFramePr>
          <p:nvPr/>
        </p:nvGraphicFramePr>
        <p:xfrm>
          <a:off x="2811463" y="3363913"/>
          <a:ext cx="2255837" cy="320675"/>
        </p:xfrm>
        <a:graphic>
          <a:graphicData uri="http://schemas.openxmlformats.org/presentationml/2006/ole">
            <p:oleObj spid="_x0000_s23558" name="Equation" r:id="rId6" imgW="1879560" imgH="266400" progId="Equation.DSMT4">
              <p:embed/>
            </p:oleObj>
          </a:graphicData>
        </a:graphic>
      </p:graphicFrame>
      <p:sp>
        <p:nvSpPr>
          <p:cNvPr id="13" name="矩形 12"/>
          <p:cNvSpPr/>
          <p:nvPr/>
        </p:nvSpPr>
        <p:spPr>
          <a:xfrm>
            <a:off x="1600200" y="2230834"/>
            <a:ext cx="14109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>
                <a:solidFill>
                  <a:schemeClr val="accent2"/>
                </a:solidFill>
                <a:ea typeface="黑体" pitchFamily="49" charset="-122"/>
              </a:rPr>
              <a:t>基本定理： </a:t>
            </a:r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35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5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5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5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5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5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35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35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2" grpId="0"/>
      <p:bldP spid="1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52400" y="0"/>
            <a:ext cx="25234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：课 程 概 述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0" y="666750"/>
            <a:ext cx="8610600" cy="20467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 indent="457200">
              <a:lnSpc>
                <a:spcPct val="150000"/>
              </a:lnSpc>
            </a:pPr>
            <a:r>
              <a:rPr lang="en-US" altLang="zh-CN" sz="2400" b="1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1.5 </a:t>
            </a:r>
            <a:r>
              <a:rPr lang="zh-CN" altLang="en-US" sz="2400" b="1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数字逻辑课程的主要内容：</a:t>
            </a:r>
            <a:endParaRPr lang="en-US" altLang="zh-CN" sz="2400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1143000" y="1276350"/>
            <a:ext cx="7808913" cy="649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l"/>
            </a:pPr>
            <a:r>
              <a:rPr lang="zh-CN" altLang="en-US" sz="2400" b="1" dirty="0" smtClean="0">
                <a:solidFill>
                  <a:schemeClr val="accent2"/>
                </a:solidFill>
                <a:ea typeface="黑体" pitchFamily="49" charset="-122"/>
              </a:rPr>
              <a:t>卡诺图</a:t>
            </a:r>
            <a:endParaRPr lang="en-US" altLang="zh-CN" sz="2400" b="1" dirty="0" smtClean="0">
              <a:solidFill>
                <a:schemeClr val="accent2"/>
              </a:solidFill>
              <a:ea typeface="黑体" pitchFamily="49" charset="-122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60000"/>
            </a:pPr>
            <a:r>
              <a:rPr lang="en-US" altLang="zh-CN" sz="2400" b="1" dirty="0" smtClean="0">
                <a:solidFill>
                  <a:schemeClr val="accent2"/>
                </a:solidFill>
                <a:ea typeface="黑体" pitchFamily="49" charset="-122"/>
              </a:rPr>
              <a:t>     </a:t>
            </a:r>
            <a:r>
              <a:rPr lang="en-US" altLang="zh-CN" sz="2000" b="1" baseline="-25000" dirty="0" smtClean="0">
                <a:solidFill>
                  <a:schemeClr val="accent2"/>
                </a:solidFill>
                <a:ea typeface="黑体" pitchFamily="49" charset="-122"/>
              </a:rPr>
              <a:t>                         </a:t>
            </a:r>
          </a:p>
        </p:txBody>
      </p:sp>
      <p:grpSp>
        <p:nvGrpSpPr>
          <p:cNvPr id="13" name="Group 7"/>
          <p:cNvGrpSpPr>
            <a:grpSpLocks/>
          </p:cNvGrpSpPr>
          <p:nvPr/>
        </p:nvGrpSpPr>
        <p:grpSpPr bwMode="auto">
          <a:xfrm>
            <a:off x="1752600" y="1657350"/>
            <a:ext cx="3838575" cy="2746375"/>
            <a:chOff x="1190" y="2284"/>
            <a:chExt cx="2418" cy="1730"/>
          </a:xfrm>
        </p:grpSpPr>
        <p:sp>
          <p:nvSpPr>
            <p:cNvPr id="14" name="Text Box 8"/>
            <p:cNvSpPr txBox="1">
              <a:spLocks noChangeArrowheads="1"/>
            </p:cNvSpPr>
            <p:nvPr/>
          </p:nvSpPr>
          <p:spPr bwMode="auto">
            <a:xfrm>
              <a:off x="1544" y="2372"/>
              <a:ext cx="2064" cy="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79068" tIns="39534" rIns="79068" bIns="39534">
              <a:spAutoFit/>
            </a:bodyPr>
            <a:lstStyle/>
            <a:p>
              <a:pPr algn="l" defTabSz="790575">
                <a:lnSpc>
                  <a:spcPct val="90000"/>
                </a:lnSpc>
                <a:spcBef>
                  <a:spcPct val="50000"/>
                </a:spcBef>
                <a:buClr>
                  <a:schemeClr val="folHlink"/>
                </a:buClr>
                <a:buSzPct val="60000"/>
              </a:pPr>
              <a:r>
                <a:rPr lang="en-US" altLang="zh-CN" b="1" dirty="0">
                  <a:solidFill>
                    <a:srgbClr val="3333CC"/>
                  </a:solidFill>
                  <a:latin typeface="Arial" pitchFamily="34" charset="0"/>
                  <a:ea typeface="楷体_GB2312" pitchFamily="49" charset="-122"/>
                </a:rPr>
                <a:t>    </a:t>
              </a:r>
              <a:r>
                <a:rPr lang="en-US" altLang="zh-CN" sz="2000" b="1" dirty="0">
                  <a:solidFill>
                    <a:srgbClr val="3333CC"/>
                  </a:solidFill>
                  <a:latin typeface="Arial" pitchFamily="34" charset="0"/>
                  <a:ea typeface="楷体_GB2312" pitchFamily="49" charset="-122"/>
                </a:rPr>
                <a:t>00      01       11      10</a:t>
              </a:r>
              <a:r>
                <a:rPr lang="en-US" altLang="zh-CN" b="1" dirty="0">
                  <a:solidFill>
                    <a:srgbClr val="3333CC"/>
                  </a:solidFill>
                  <a:latin typeface="Arial" pitchFamily="34" charset="0"/>
                  <a:ea typeface="楷体_GB2312" pitchFamily="49" charset="-122"/>
                </a:rPr>
                <a:t> </a:t>
              </a:r>
            </a:p>
          </p:txBody>
        </p:sp>
        <p:sp>
          <p:nvSpPr>
            <p:cNvPr id="15" name="Rectangle 9"/>
            <p:cNvSpPr>
              <a:spLocks noChangeArrowheads="1"/>
            </p:cNvSpPr>
            <p:nvPr/>
          </p:nvSpPr>
          <p:spPr bwMode="auto">
            <a:xfrm>
              <a:off x="1649" y="2597"/>
              <a:ext cx="1923" cy="1389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b="1">
                <a:solidFill>
                  <a:srgbClr val="3333CC"/>
                </a:solidFill>
              </a:endParaRPr>
            </a:p>
          </p:txBody>
        </p:sp>
        <p:sp>
          <p:nvSpPr>
            <p:cNvPr id="17" name="Line 10"/>
            <p:cNvSpPr>
              <a:spLocks noChangeShapeType="1"/>
            </p:cNvSpPr>
            <p:nvPr/>
          </p:nvSpPr>
          <p:spPr bwMode="auto">
            <a:xfrm>
              <a:off x="1649" y="2933"/>
              <a:ext cx="1923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b="1">
                <a:solidFill>
                  <a:srgbClr val="3333CC"/>
                </a:solidFill>
              </a:endParaRPr>
            </a:p>
          </p:txBody>
        </p:sp>
        <p:sp>
          <p:nvSpPr>
            <p:cNvPr id="18" name="Line 11"/>
            <p:cNvSpPr>
              <a:spLocks noChangeShapeType="1"/>
            </p:cNvSpPr>
            <p:nvPr/>
          </p:nvSpPr>
          <p:spPr bwMode="auto">
            <a:xfrm>
              <a:off x="1649" y="3304"/>
              <a:ext cx="1923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b="1">
                <a:solidFill>
                  <a:srgbClr val="3333CC"/>
                </a:solidFill>
              </a:endParaRPr>
            </a:p>
          </p:txBody>
        </p:sp>
        <p:sp>
          <p:nvSpPr>
            <p:cNvPr id="19" name="Line 12"/>
            <p:cNvSpPr>
              <a:spLocks noChangeShapeType="1"/>
            </p:cNvSpPr>
            <p:nvPr/>
          </p:nvSpPr>
          <p:spPr bwMode="auto">
            <a:xfrm>
              <a:off x="1649" y="3657"/>
              <a:ext cx="1923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b="1">
                <a:solidFill>
                  <a:srgbClr val="3333CC"/>
                </a:solidFill>
              </a:endParaRPr>
            </a:p>
          </p:txBody>
        </p:sp>
        <p:sp>
          <p:nvSpPr>
            <p:cNvPr id="20" name="Line 13"/>
            <p:cNvSpPr>
              <a:spLocks noChangeShapeType="1"/>
            </p:cNvSpPr>
            <p:nvPr/>
          </p:nvSpPr>
          <p:spPr bwMode="auto">
            <a:xfrm>
              <a:off x="2090" y="2597"/>
              <a:ext cx="0" cy="1389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b="1">
                <a:solidFill>
                  <a:srgbClr val="3333CC"/>
                </a:solidFill>
              </a:endParaRPr>
            </a:p>
          </p:txBody>
        </p:sp>
        <p:sp>
          <p:nvSpPr>
            <p:cNvPr id="21" name="Line 14"/>
            <p:cNvSpPr>
              <a:spLocks noChangeShapeType="1"/>
            </p:cNvSpPr>
            <p:nvPr/>
          </p:nvSpPr>
          <p:spPr bwMode="auto">
            <a:xfrm>
              <a:off x="2585" y="2597"/>
              <a:ext cx="0" cy="1389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b="1">
                <a:solidFill>
                  <a:srgbClr val="3333CC"/>
                </a:solidFill>
              </a:endParaRPr>
            </a:p>
          </p:txBody>
        </p:sp>
        <p:sp>
          <p:nvSpPr>
            <p:cNvPr id="22" name="Line 15"/>
            <p:cNvSpPr>
              <a:spLocks noChangeShapeType="1"/>
            </p:cNvSpPr>
            <p:nvPr/>
          </p:nvSpPr>
          <p:spPr bwMode="auto">
            <a:xfrm>
              <a:off x="3098" y="2597"/>
              <a:ext cx="0" cy="1389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b="1">
                <a:solidFill>
                  <a:srgbClr val="3333CC"/>
                </a:solidFill>
              </a:endParaRPr>
            </a:p>
          </p:txBody>
        </p:sp>
        <p:sp>
          <p:nvSpPr>
            <p:cNvPr id="23" name="Line 16"/>
            <p:cNvSpPr>
              <a:spLocks noChangeShapeType="1"/>
            </p:cNvSpPr>
            <p:nvPr/>
          </p:nvSpPr>
          <p:spPr bwMode="auto">
            <a:xfrm flipH="1" flipV="1">
              <a:off x="1211" y="2383"/>
              <a:ext cx="438" cy="21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b="1">
                <a:solidFill>
                  <a:srgbClr val="3333CC"/>
                </a:solidFill>
              </a:endParaRPr>
            </a:p>
          </p:txBody>
        </p:sp>
        <p:sp>
          <p:nvSpPr>
            <p:cNvPr id="24" name="Text Box 17"/>
            <p:cNvSpPr txBox="1">
              <a:spLocks noChangeArrowheads="1"/>
            </p:cNvSpPr>
            <p:nvPr/>
          </p:nvSpPr>
          <p:spPr bwMode="auto">
            <a:xfrm>
              <a:off x="1382" y="3791"/>
              <a:ext cx="336" cy="2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79068" tIns="39534" rIns="79068" bIns="39534">
              <a:spAutoFit/>
            </a:bodyPr>
            <a:lstStyle/>
            <a:p>
              <a:pPr algn="l" defTabSz="790575">
                <a:lnSpc>
                  <a:spcPct val="90000"/>
                </a:lnSpc>
                <a:spcBef>
                  <a:spcPct val="50000"/>
                </a:spcBef>
                <a:buClr>
                  <a:schemeClr val="folHlink"/>
                </a:buClr>
                <a:buSzPct val="60000"/>
              </a:pPr>
              <a:r>
                <a:rPr lang="en-US" altLang="zh-CN" sz="2000" b="1">
                  <a:solidFill>
                    <a:srgbClr val="3333CC"/>
                  </a:solidFill>
                  <a:latin typeface="Arial" pitchFamily="34" charset="0"/>
                  <a:ea typeface="楷体_GB2312" pitchFamily="49" charset="-122"/>
                </a:rPr>
                <a:t>10</a:t>
              </a:r>
            </a:p>
          </p:txBody>
        </p:sp>
        <p:sp>
          <p:nvSpPr>
            <p:cNvPr id="25" name="Text Box 18"/>
            <p:cNvSpPr txBox="1">
              <a:spLocks noChangeArrowheads="1"/>
            </p:cNvSpPr>
            <p:nvPr/>
          </p:nvSpPr>
          <p:spPr bwMode="auto">
            <a:xfrm>
              <a:off x="1382" y="3392"/>
              <a:ext cx="336" cy="2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79068" tIns="39534" rIns="79068" bIns="39534">
              <a:spAutoFit/>
            </a:bodyPr>
            <a:lstStyle/>
            <a:p>
              <a:pPr algn="l" defTabSz="790575">
                <a:lnSpc>
                  <a:spcPct val="90000"/>
                </a:lnSpc>
                <a:spcBef>
                  <a:spcPct val="50000"/>
                </a:spcBef>
                <a:buClr>
                  <a:schemeClr val="folHlink"/>
                </a:buClr>
                <a:buSzPct val="60000"/>
              </a:pPr>
              <a:r>
                <a:rPr lang="en-US" altLang="zh-CN" sz="2000" b="1">
                  <a:solidFill>
                    <a:srgbClr val="3333CC"/>
                  </a:solidFill>
                  <a:latin typeface="Arial" pitchFamily="34" charset="0"/>
                  <a:ea typeface="楷体_GB2312" pitchFamily="49" charset="-122"/>
                </a:rPr>
                <a:t>11</a:t>
              </a:r>
            </a:p>
          </p:txBody>
        </p:sp>
        <p:sp>
          <p:nvSpPr>
            <p:cNvPr id="26" name="Text Box 19"/>
            <p:cNvSpPr txBox="1">
              <a:spLocks noChangeArrowheads="1"/>
            </p:cNvSpPr>
            <p:nvPr/>
          </p:nvSpPr>
          <p:spPr bwMode="auto">
            <a:xfrm>
              <a:off x="1382" y="3031"/>
              <a:ext cx="336" cy="2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79068" tIns="39534" rIns="79068" bIns="39534">
              <a:spAutoFit/>
            </a:bodyPr>
            <a:lstStyle/>
            <a:p>
              <a:pPr algn="l" defTabSz="790575">
                <a:lnSpc>
                  <a:spcPct val="90000"/>
                </a:lnSpc>
                <a:spcBef>
                  <a:spcPct val="50000"/>
                </a:spcBef>
                <a:buClr>
                  <a:schemeClr val="folHlink"/>
                </a:buClr>
                <a:buSzPct val="60000"/>
              </a:pPr>
              <a:r>
                <a:rPr lang="en-US" altLang="zh-CN" sz="2000" b="1">
                  <a:solidFill>
                    <a:srgbClr val="3333CC"/>
                  </a:solidFill>
                  <a:latin typeface="Arial" pitchFamily="34" charset="0"/>
                  <a:ea typeface="楷体_GB2312" pitchFamily="49" charset="-122"/>
                </a:rPr>
                <a:t>01</a:t>
              </a:r>
            </a:p>
          </p:txBody>
        </p:sp>
        <p:sp>
          <p:nvSpPr>
            <p:cNvPr id="27" name="Text Box 20"/>
            <p:cNvSpPr txBox="1">
              <a:spLocks noChangeArrowheads="1"/>
            </p:cNvSpPr>
            <p:nvPr/>
          </p:nvSpPr>
          <p:spPr bwMode="auto">
            <a:xfrm>
              <a:off x="1382" y="2694"/>
              <a:ext cx="336" cy="2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79068" tIns="39534" rIns="79068" bIns="39534">
              <a:spAutoFit/>
            </a:bodyPr>
            <a:lstStyle/>
            <a:p>
              <a:pPr algn="l" defTabSz="790575">
                <a:lnSpc>
                  <a:spcPct val="90000"/>
                </a:lnSpc>
                <a:spcBef>
                  <a:spcPct val="50000"/>
                </a:spcBef>
                <a:buClr>
                  <a:schemeClr val="folHlink"/>
                </a:buClr>
                <a:buSzPct val="60000"/>
              </a:pPr>
              <a:r>
                <a:rPr lang="en-US" altLang="zh-CN" sz="2000" b="1">
                  <a:solidFill>
                    <a:srgbClr val="3333CC"/>
                  </a:solidFill>
                  <a:latin typeface="Arial" pitchFamily="34" charset="0"/>
                  <a:ea typeface="楷体_GB2312" pitchFamily="49" charset="-122"/>
                </a:rPr>
                <a:t>00</a:t>
              </a:r>
            </a:p>
          </p:txBody>
        </p:sp>
        <p:sp>
          <p:nvSpPr>
            <p:cNvPr id="28" name="Text Box 21"/>
            <p:cNvSpPr txBox="1">
              <a:spLocks noChangeArrowheads="1"/>
            </p:cNvSpPr>
            <p:nvPr/>
          </p:nvSpPr>
          <p:spPr bwMode="auto">
            <a:xfrm>
              <a:off x="1415" y="2284"/>
              <a:ext cx="432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79068" tIns="39534" rIns="79068" bIns="39534">
              <a:spAutoFit/>
            </a:bodyPr>
            <a:lstStyle/>
            <a:p>
              <a:pPr algn="l" defTabSz="790575">
                <a:lnSpc>
                  <a:spcPct val="90000"/>
                </a:lnSpc>
                <a:spcBef>
                  <a:spcPct val="50000"/>
                </a:spcBef>
                <a:buClr>
                  <a:schemeClr val="folHlink"/>
                </a:buClr>
                <a:buSzPct val="60000"/>
              </a:pPr>
              <a:r>
                <a:rPr lang="en-US" altLang="zh-CN" b="1">
                  <a:solidFill>
                    <a:srgbClr val="3333CC"/>
                  </a:solidFill>
                  <a:latin typeface="Arial" pitchFamily="34" charset="0"/>
                  <a:ea typeface="楷体_GB2312" pitchFamily="49" charset="-122"/>
                </a:rPr>
                <a:t>CD</a:t>
              </a:r>
            </a:p>
          </p:txBody>
        </p:sp>
        <p:sp>
          <p:nvSpPr>
            <p:cNvPr id="29" name="Text Box 22"/>
            <p:cNvSpPr txBox="1">
              <a:spLocks noChangeArrowheads="1"/>
            </p:cNvSpPr>
            <p:nvPr/>
          </p:nvSpPr>
          <p:spPr bwMode="auto">
            <a:xfrm>
              <a:off x="1190" y="2484"/>
              <a:ext cx="432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79068" tIns="39534" rIns="79068" bIns="39534">
              <a:spAutoFit/>
            </a:bodyPr>
            <a:lstStyle/>
            <a:p>
              <a:pPr algn="l" defTabSz="790575">
                <a:lnSpc>
                  <a:spcPct val="90000"/>
                </a:lnSpc>
                <a:spcBef>
                  <a:spcPct val="50000"/>
                </a:spcBef>
                <a:buClr>
                  <a:schemeClr val="folHlink"/>
                </a:buClr>
                <a:buSzPct val="60000"/>
              </a:pPr>
              <a:r>
                <a:rPr lang="en-US" altLang="zh-CN" b="1">
                  <a:solidFill>
                    <a:srgbClr val="3333CC"/>
                  </a:solidFill>
                  <a:latin typeface="Arial" pitchFamily="34" charset="0"/>
                  <a:ea typeface="楷体_GB2312" pitchFamily="49" charset="-122"/>
                </a:rPr>
                <a:t>AB</a:t>
              </a:r>
            </a:p>
          </p:txBody>
        </p:sp>
      </p:grpSp>
      <p:sp>
        <p:nvSpPr>
          <p:cNvPr id="30" name="矩形 29"/>
          <p:cNvSpPr/>
          <p:nvPr/>
        </p:nvSpPr>
        <p:spPr>
          <a:xfrm>
            <a:off x="2286000" y="4400550"/>
            <a:ext cx="3276600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457200">
              <a:lnSpc>
                <a:spcPct val="150000"/>
              </a:lnSpc>
            </a:pPr>
            <a:r>
              <a:rPr lang="zh-CN" altLang="en-US" b="1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图</a:t>
            </a:r>
            <a:r>
              <a:rPr lang="en-US" altLang="zh-CN" b="1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   </a:t>
            </a:r>
            <a:r>
              <a:rPr lang="zh-CN" altLang="en-US" b="1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四变量卡诺图</a:t>
            </a: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52400" y="0"/>
            <a:ext cx="25234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：课 程 概 述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0" y="666750"/>
            <a:ext cx="8610600" cy="20467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 indent="457200">
              <a:lnSpc>
                <a:spcPct val="150000"/>
              </a:lnSpc>
            </a:pPr>
            <a:r>
              <a:rPr lang="en-US" altLang="zh-CN" sz="2400" b="1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1.5 </a:t>
            </a:r>
            <a:r>
              <a:rPr lang="zh-CN" altLang="en-US" sz="2400" b="1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数字逻辑课程的主要内容：</a:t>
            </a:r>
            <a:endParaRPr lang="en-US" altLang="zh-CN" sz="2400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438400" y="1962150"/>
            <a:ext cx="2743200" cy="12418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25000"/>
              </a:lnSpc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l"/>
            </a:pPr>
            <a:r>
              <a:rPr lang="zh-CN" altLang="en-US" b="1" dirty="0" smtClean="0">
                <a:solidFill>
                  <a:schemeClr val="accent2"/>
                </a:solidFill>
                <a:ea typeface="黑体" pitchFamily="49" charset="-122"/>
              </a:rPr>
              <a:t>组合逻辑电路的分析</a:t>
            </a:r>
            <a:endParaRPr lang="en-US" altLang="zh-CN" b="1" dirty="0" smtClean="0">
              <a:solidFill>
                <a:schemeClr val="accent2"/>
              </a:solidFill>
              <a:ea typeface="黑体" pitchFamily="49" charset="-122"/>
            </a:endParaRPr>
          </a:p>
          <a:p>
            <a:pPr marL="342900" indent="-342900">
              <a:lnSpc>
                <a:spcPct val="125000"/>
              </a:lnSpc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l"/>
            </a:pPr>
            <a:r>
              <a:rPr lang="zh-CN" altLang="en-US" b="1" dirty="0" smtClean="0">
                <a:solidFill>
                  <a:schemeClr val="accent2"/>
                </a:solidFill>
                <a:ea typeface="黑体" pitchFamily="49" charset="-122"/>
              </a:rPr>
              <a:t>组合逻辑电路的设计</a:t>
            </a:r>
            <a:endParaRPr lang="en-US" altLang="zh-CN" b="1" dirty="0" smtClean="0">
              <a:solidFill>
                <a:schemeClr val="accent2"/>
              </a:solidFill>
              <a:ea typeface="黑体" pitchFamily="49" charset="-122"/>
            </a:endParaRPr>
          </a:p>
          <a:p>
            <a:pPr marL="342900" indent="-342900">
              <a:lnSpc>
                <a:spcPct val="125000"/>
              </a:lnSpc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l"/>
            </a:pPr>
            <a:r>
              <a:rPr lang="zh-CN" altLang="en-US" b="1" dirty="0" smtClean="0">
                <a:solidFill>
                  <a:schemeClr val="accent2"/>
                </a:solidFill>
                <a:ea typeface="黑体" pitchFamily="49" charset="-122"/>
              </a:rPr>
              <a:t>中规模组合逻辑器件</a:t>
            </a:r>
            <a:endParaRPr lang="en-US" altLang="zh-CN" b="1" dirty="0" smtClean="0">
              <a:solidFill>
                <a:schemeClr val="accent2"/>
              </a:solidFill>
              <a:ea typeface="黑体" pitchFamily="49" charset="-122"/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2362200" y="1428750"/>
            <a:ext cx="2057400" cy="649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125000"/>
              </a:lnSpc>
              <a:spcBef>
                <a:spcPct val="20000"/>
              </a:spcBef>
              <a:buClr>
                <a:srgbClr val="FF0000"/>
              </a:buClr>
              <a:buSzPct val="60000"/>
            </a:pPr>
            <a:r>
              <a:rPr lang="zh-CN" altLang="en-US" sz="2400" b="1" dirty="0" smtClean="0">
                <a:solidFill>
                  <a:srgbClr val="FF0000"/>
                </a:solidFill>
                <a:ea typeface="黑体" pitchFamily="49" charset="-122"/>
              </a:rPr>
              <a:t>组合逻辑电路</a:t>
            </a:r>
            <a:endParaRPr lang="en-US" altLang="zh-CN" sz="2400" b="1" dirty="0" smtClean="0">
              <a:solidFill>
                <a:srgbClr val="FF0000"/>
              </a:solidFill>
              <a:ea typeface="黑体" pitchFamily="49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52400" y="0"/>
            <a:ext cx="25234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：课 程 概 述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0" y="666750"/>
            <a:ext cx="8610600" cy="20467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 indent="457200">
              <a:lnSpc>
                <a:spcPct val="150000"/>
              </a:lnSpc>
            </a:pPr>
            <a:r>
              <a:rPr lang="en-US" altLang="zh-CN" sz="2400" b="1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1.5 </a:t>
            </a:r>
            <a:r>
              <a:rPr lang="zh-CN" altLang="en-US" sz="2400" b="1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数字逻辑课程的主要内容：</a:t>
            </a:r>
            <a:endParaRPr lang="en-US" altLang="zh-CN" sz="2400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1143000" y="1276350"/>
            <a:ext cx="7808913" cy="649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l"/>
            </a:pPr>
            <a:r>
              <a:rPr lang="zh-CN" altLang="en-US" sz="2400" b="1" dirty="0" smtClean="0">
                <a:solidFill>
                  <a:schemeClr val="accent2"/>
                </a:solidFill>
                <a:ea typeface="黑体" pitchFamily="49" charset="-122"/>
              </a:rPr>
              <a:t>组合逻辑电路的分析</a:t>
            </a:r>
            <a:endParaRPr lang="en-US" altLang="zh-CN" sz="2400" b="1" dirty="0" smtClean="0">
              <a:solidFill>
                <a:schemeClr val="accent2"/>
              </a:solidFill>
              <a:ea typeface="黑体" pitchFamily="49" charset="-122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60000"/>
            </a:pPr>
            <a:r>
              <a:rPr lang="en-US" altLang="zh-CN" sz="2400" b="1" dirty="0" smtClean="0">
                <a:solidFill>
                  <a:schemeClr val="accent2"/>
                </a:solidFill>
                <a:ea typeface="黑体" pitchFamily="49" charset="-122"/>
              </a:rPr>
              <a:t>     </a:t>
            </a:r>
            <a:r>
              <a:rPr lang="en-US" altLang="zh-CN" sz="2000" b="1" baseline="-25000" dirty="0" smtClean="0">
                <a:solidFill>
                  <a:schemeClr val="accent2"/>
                </a:solidFill>
                <a:ea typeface="黑体" pitchFamily="49" charset="-122"/>
              </a:rPr>
              <a:t>                         </a:t>
            </a:r>
          </a:p>
        </p:txBody>
      </p:sp>
      <p:grpSp>
        <p:nvGrpSpPr>
          <p:cNvPr id="8" name="Group 16"/>
          <p:cNvGrpSpPr>
            <a:grpSpLocks/>
          </p:cNvGrpSpPr>
          <p:nvPr/>
        </p:nvGrpSpPr>
        <p:grpSpPr bwMode="auto">
          <a:xfrm>
            <a:off x="2514600" y="1885950"/>
            <a:ext cx="2836543" cy="2438400"/>
            <a:chOff x="973" y="1776"/>
            <a:chExt cx="1537" cy="1440"/>
          </a:xfrm>
        </p:grpSpPr>
        <p:pic>
          <p:nvPicPr>
            <p:cNvPr id="9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056" y="1776"/>
              <a:ext cx="1368" cy="14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" name="Text Box 5"/>
            <p:cNvSpPr txBox="1">
              <a:spLocks noChangeArrowheads="1"/>
            </p:cNvSpPr>
            <p:nvPr/>
          </p:nvSpPr>
          <p:spPr bwMode="auto">
            <a:xfrm>
              <a:off x="973" y="1776"/>
              <a:ext cx="167" cy="34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1" hangingPunct="1"/>
              <a:r>
                <a:rPr kumimoji="1" lang="en-US" altLang="zh-CN" sz="1600">
                  <a:latin typeface="Tahoma" pitchFamily="34" charset="0"/>
                </a:rPr>
                <a:t>A</a:t>
              </a:r>
            </a:p>
            <a:p>
              <a:pPr algn="ctr" eaLnBrk="1" hangingPunct="1"/>
              <a:r>
                <a:rPr kumimoji="1" lang="en-US" altLang="zh-CN" sz="1600">
                  <a:latin typeface="Tahoma" pitchFamily="34" charset="0"/>
                </a:rPr>
                <a:t>B</a:t>
              </a:r>
            </a:p>
          </p:txBody>
        </p:sp>
        <p:sp>
          <p:nvSpPr>
            <p:cNvPr id="11" name="Text Box 6"/>
            <p:cNvSpPr txBox="1">
              <a:spLocks noChangeArrowheads="1"/>
            </p:cNvSpPr>
            <p:nvPr/>
          </p:nvSpPr>
          <p:spPr bwMode="auto">
            <a:xfrm>
              <a:off x="2275" y="1824"/>
              <a:ext cx="235" cy="20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1" hangingPunct="1"/>
              <a:r>
                <a:rPr kumimoji="1" lang="en-US" altLang="zh-CN" sz="1600" dirty="0" smtClean="0">
                  <a:latin typeface="Tahoma" pitchFamily="34" charset="0"/>
                </a:rPr>
                <a:t>m</a:t>
              </a:r>
              <a:r>
                <a:rPr kumimoji="1" lang="en-US" altLang="zh-CN" sz="1600" baseline="-25000" dirty="0" smtClean="0">
                  <a:latin typeface="Tahoma" pitchFamily="34" charset="0"/>
                </a:rPr>
                <a:t>0</a:t>
              </a:r>
              <a:endParaRPr kumimoji="1" lang="en-US" altLang="zh-CN" sz="1600" dirty="0">
                <a:latin typeface="Tahoma" pitchFamily="34" charset="0"/>
              </a:endParaRPr>
            </a:p>
          </p:txBody>
        </p:sp>
        <p:sp>
          <p:nvSpPr>
            <p:cNvPr id="14" name="Text Box 9"/>
            <p:cNvSpPr txBox="1">
              <a:spLocks noChangeArrowheads="1"/>
            </p:cNvSpPr>
            <p:nvPr/>
          </p:nvSpPr>
          <p:spPr bwMode="auto">
            <a:xfrm>
              <a:off x="2275" y="2188"/>
              <a:ext cx="235" cy="20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1" hangingPunct="1"/>
              <a:r>
                <a:rPr kumimoji="1" lang="en-US" altLang="zh-CN" sz="1600" dirty="0" smtClean="0">
                  <a:latin typeface="Tahoma" pitchFamily="34" charset="0"/>
                </a:rPr>
                <a:t>m</a:t>
              </a:r>
              <a:r>
                <a:rPr kumimoji="1" lang="en-US" altLang="zh-CN" sz="1600" baseline="-25000" dirty="0" smtClean="0">
                  <a:latin typeface="Tahoma" pitchFamily="34" charset="0"/>
                </a:rPr>
                <a:t>1</a:t>
              </a:r>
              <a:endParaRPr kumimoji="1" lang="en-US" altLang="zh-CN" sz="1600" dirty="0">
                <a:latin typeface="Tahoma" pitchFamily="34" charset="0"/>
              </a:endParaRPr>
            </a:p>
          </p:txBody>
        </p:sp>
        <p:sp>
          <p:nvSpPr>
            <p:cNvPr id="17" name="Text Box 11"/>
            <p:cNvSpPr txBox="1">
              <a:spLocks noChangeArrowheads="1"/>
            </p:cNvSpPr>
            <p:nvPr/>
          </p:nvSpPr>
          <p:spPr bwMode="auto">
            <a:xfrm>
              <a:off x="2275" y="2572"/>
              <a:ext cx="235" cy="20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1" hangingPunct="1"/>
              <a:r>
                <a:rPr kumimoji="1" lang="en-US" altLang="zh-CN" sz="1600" dirty="0" smtClean="0">
                  <a:latin typeface="Tahoma" pitchFamily="34" charset="0"/>
                </a:rPr>
                <a:t>m</a:t>
              </a:r>
              <a:r>
                <a:rPr kumimoji="1" lang="en-US" altLang="zh-CN" sz="1600" baseline="-25000" dirty="0" smtClean="0">
                  <a:latin typeface="Tahoma" pitchFamily="34" charset="0"/>
                </a:rPr>
                <a:t>2</a:t>
              </a:r>
              <a:endParaRPr kumimoji="1" lang="en-US" altLang="zh-CN" sz="1600" dirty="0">
                <a:latin typeface="Tahoma" pitchFamily="34" charset="0"/>
              </a:endParaRPr>
            </a:p>
          </p:txBody>
        </p:sp>
        <p:sp>
          <p:nvSpPr>
            <p:cNvPr id="19" name="Text Box 14"/>
            <p:cNvSpPr txBox="1">
              <a:spLocks noChangeArrowheads="1"/>
            </p:cNvSpPr>
            <p:nvPr/>
          </p:nvSpPr>
          <p:spPr bwMode="auto">
            <a:xfrm>
              <a:off x="2275" y="2908"/>
              <a:ext cx="235" cy="20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1" hangingPunct="1"/>
              <a:r>
                <a:rPr kumimoji="1" lang="en-US" altLang="zh-CN" sz="1600" dirty="0" smtClean="0">
                  <a:latin typeface="Tahoma" pitchFamily="34" charset="0"/>
                </a:rPr>
                <a:t>m</a:t>
              </a:r>
              <a:r>
                <a:rPr kumimoji="1" lang="en-US" altLang="zh-CN" sz="1600" baseline="-25000" dirty="0" smtClean="0">
                  <a:latin typeface="Tahoma" pitchFamily="34" charset="0"/>
                </a:rPr>
                <a:t>3</a:t>
              </a:r>
              <a:endParaRPr kumimoji="1" lang="en-US" altLang="zh-CN" sz="1600" dirty="0">
                <a:latin typeface="Tahoma" pitchFamily="34" charset="0"/>
              </a:endParaRPr>
            </a:p>
          </p:txBody>
        </p:sp>
      </p:grpSp>
      <p:sp>
        <p:nvSpPr>
          <p:cNvPr id="12" name="矩形 11"/>
          <p:cNvSpPr/>
          <p:nvPr/>
        </p:nvSpPr>
        <p:spPr>
          <a:xfrm>
            <a:off x="2133600" y="4324350"/>
            <a:ext cx="3276600" cy="458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457200">
              <a:lnSpc>
                <a:spcPct val="150000"/>
              </a:lnSpc>
            </a:pPr>
            <a:r>
              <a:rPr lang="zh-CN" altLang="en-US" b="1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图</a:t>
            </a:r>
            <a:r>
              <a:rPr lang="en-US" altLang="zh-CN" b="1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  </a:t>
            </a:r>
            <a:r>
              <a:rPr lang="zh-CN" altLang="en-US" b="1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组合电路分析</a:t>
            </a: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52400" y="0"/>
            <a:ext cx="25234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：课 程 概 述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0" y="666750"/>
            <a:ext cx="8610600" cy="20467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 indent="457200">
              <a:lnSpc>
                <a:spcPct val="150000"/>
              </a:lnSpc>
            </a:pPr>
            <a:r>
              <a:rPr lang="en-US" altLang="zh-CN" sz="2400" b="1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1.5 </a:t>
            </a:r>
            <a:r>
              <a:rPr lang="zh-CN" altLang="en-US" sz="2400" b="1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数字逻辑课程的主要内容：</a:t>
            </a:r>
            <a:endParaRPr lang="en-US" altLang="zh-CN" sz="2400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1143000" y="1276350"/>
            <a:ext cx="7808913" cy="649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l"/>
            </a:pPr>
            <a:r>
              <a:rPr lang="zh-CN" altLang="en-US" sz="2000" b="1" dirty="0" smtClean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组合逻辑电路的设计</a:t>
            </a:r>
            <a:endParaRPr lang="en-US" altLang="zh-CN" sz="2000" b="1" dirty="0" smtClean="0">
              <a:solidFill>
                <a:schemeClr val="accent2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60000"/>
            </a:pPr>
            <a:r>
              <a:rPr lang="en-US" altLang="zh-CN" sz="2400" b="1" dirty="0" smtClean="0">
                <a:solidFill>
                  <a:schemeClr val="accent2"/>
                </a:solidFill>
                <a:ea typeface="黑体" pitchFamily="49" charset="-122"/>
              </a:rPr>
              <a:t>     </a:t>
            </a:r>
            <a:r>
              <a:rPr lang="en-US" altLang="zh-CN" sz="2000" b="1" baseline="-25000" dirty="0" smtClean="0">
                <a:solidFill>
                  <a:schemeClr val="accent2"/>
                </a:solidFill>
                <a:ea typeface="黑体" pitchFamily="49" charset="-122"/>
              </a:rPr>
              <a:t>                         </a:t>
            </a:r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>
          <a:xfrm>
            <a:off x="1143000" y="1733550"/>
            <a:ext cx="7772400" cy="1106487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i="0" u="none" strike="noStrike" kern="0" cap="none" spc="0" normalizeH="0" baseline="0" noProof="0" dirty="0" smtClean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+mn-lt"/>
                <a:ea typeface="黑体" pitchFamily="49" charset="-122"/>
                <a:cs typeface="+mn-cs"/>
              </a:rPr>
              <a:t>例：设计一位全减器，它有三个输入端：被减数</a:t>
            </a:r>
            <a:r>
              <a:rPr kumimoji="0" lang="en-US" altLang="zh-CN" i="0" u="none" strike="noStrike" kern="0" cap="none" spc="0" normalizeH="0" baseline="0" noProof="0" dirty="0" smtClean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+mn-lt"/>
                <a:ea typeface="黑体" pitchFamily="49" charset="-122"/>
                <a:cs typeface="+mn-cs"/>
              </a:rPr>
              <a:t>A</a:t>
            </a:r>
            <a:r>
              <a:rPr kumimoji="0" lang="zh-CN" altLang="en-US" i="0" u="none" strike="noStrike" kern="0" cap="none" spc="0" normalizeH="0" baseline="0" noProof="0" dirty="0" smtClean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+mn-lt"/>
                <a:ea typeface="黑体" pitchFamily="49" charset="-122"/>
                <a:cs typeface="+mn-cs"/>
              </a:rPr>
              <a:t>，减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i="0" u="none" strike="noStrike" kern="0" cap="none" spc="0" normalizeH="0" baseline="0" noProof="0" dirty="0" smtClean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+mn-lt"/>
                <a:ea typeface="黑体" pitchFamily="49" charset="-122"/>
                <a:cs typeface="+mn-cs"/>
              </a:rPr>
              <a:t>        数</a:t>
            </a:r>
            <a:r>
              <a:rPr kumimoji="0" lang="en-US" altLang="zh-CN" i="0" u="none" strike="noStrike" kern="0" cap="none" spc="0" normalizeH="0" baseline="0" noProof="0" dirty="0" smtClean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+mn-lt"/>
                <a:ea typeface="黑体" pitchFamily="49" charset="-122"/>
                <a:cs typeface="+mn-cs"/>
              </a:rPr>
              <a:t>B</a:t>
            </a:r>
            <a:r>
              <a:rPr kumimoji="0" lang="zh-CN" altLang="en-US" i="0" u="none" strike="noStrike" kern="0" cap="none" spc="0" normalizeH="0" baseline="0" noProof="0" dirty="0" smtClean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+mn-lt"/>
                <a:ea typeface="黑体" pitchFamily="49" charset="-122"/>
                <a:cs typeface="+mn-cs"/>
              </a:rPr>
              <a:t>，低位借位</a:t>
            </a:r>
            <a:r>
              <a:rPr kumimoji="0" lang="en-US" altLang="zh-CN" i="0" u="none" strike="noStrike" kern="0" cap="none" spc="0" normalizeH="0" baseline="0" noProof="0" dirty="0" smtClean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+mn-lt"/>
                <a:ea typeface="黑体" pitchFamily="49" charset="-122"/>
                <a:cs typeface="+mn-cs"/>
              </a:rPr>
              <a:t>C</a:t>
            </a:r>
            <a:r>
              <a:rPr kumimoji="0" lang="zh-CN" altLang="en-US" i="0" u="none" strike="noStrike" kern="0" cap="none" spc="0" normalizeH="0" baseline="0" noProof="0" dirty="0" smtClean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+mn-lt"/>
                <a:ea typeface="黑体" pitchFamily="49" charset="-122"/>
                <a:cs typeface="+mn-cs"/>
              </a:rPr>
              <a:t>；输出：差</a:t>
            </a:r>
            <a:r>
              <a:rPr kumimoji="0" lang="en-US" altLang="zh-CN" i="0" u="none" strike="noStrike" kern="0" cap="none" spc="0" normalizeH="0" baseline="0" noProof="0" dirty="0" smtClean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+mn-lt"/>
                <a:ea typeface="黑体" pitchFamily="49" charset="-122"/>
                <a:cs typeface="+mn-cs"/>
              </a:rPr>
              <a:t>F</a:t>
            </a:r>
            <a:r>
              <a:rPr kumimoji="0" lang="zh-CN" altLang="en-US" i="0" u="none" strike="noStrike" kern="0" cap="none" spc="0" normalizeH="0" baseline="0" noProof="0" dirty="0" smtClean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+mn-lt"/>
                <a:ea typeface="黑体" pitchFamily="49" charset="-122"/>
                <a:cs typeface="+mn-cs"/>
              </a:rPr>
              <a:t>，向高位的借位</a:t>
            </a:r>
            <a:r>
              <a:rPr kumimoji="0" lang="en-US" altLang="zh-CN" i="0" u="none" strike="noStrike" kern="0" cap="none" spc="0" normalizeH="0" baseline="0" noProof="0" dirty="0" smtClean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+mn-lt"/>
                <a:ea typeface="黑体" pitchFamily="49" charset="-122"/>
                <a:cs typeface="+mn-cs"/>
              </a:rPr>
              <a:t>C</a:t>
            </a:r>
            <a:r>
              <a:rPr kumimoji="0" lang="en-US" altLang="zh-CN" i="0" u="none" strike="noStrike" kern="0" cap="none" spc="0" normalizeH="0" baseline="0" noProof="0" dirty="0" smtClean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Times New Roman" pitchFamily="18" charset="0"/>
                <a:ea typeface="黑体" pitchFamily="49" charset="-122"/>
                <a:cs typeface="+mn-cs"/>
              </a:rPr>
              <a:t>’</a:t>
            </a:r>
            <a:r>
              <a:rPr kumimoji="0" lang="en-US" altLang="zh-CN" i="0" u="none" strike="noStrike" kern="0" cap="none" spc="0" normalizeH="0" baseline="0" noProof="0" dirty="0" smtClean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+mn-lt"/>
                <a:ea typeface="黑体" pitchFamily="49" charset="-122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52400" y="0"/>
            <a:ext cx="25234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：课 程 概 述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0" y="438150"/>
            <a:ext cx="8610600" cy="20467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 indent="457200">
              <a:lnSpc>
                <a:spcPct val="150000"/>
              </a:lnSpc>
            </a:pPr>
            <a:r>
              <a:rPr lang="en-US" altLang="zh-CN" sz="2400" b="1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1.5 </a:t>
            </a:r>
            <a:r>
              <a:rPr lang="zh-CN" altLang="en-US" sz="2400" b="1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数字逻辑课程的主要内容：</a:t>
            </a:r>
            <a:endParaRPr lang="en-US" altLang="zh-CN" sz="2400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1143000" y="1047750"/>
            <a:ext cx="7808913" cy="649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l"/>
            </a:pPr>
            <a:r>
              <a:rPr lang="zh-CN" altLang="en-US" sz="2400" b="1" dirty="0" smtClean="0">
                <a:solidFill>
                  <a:schemeClr val="accent2"/>
                </a:solidFill>
                <a:ea typeface="黑体" pitchFamily="49" charset="-122"/>
              </a:rPr>
              <a:t>常用的中规模组合逻辑器件</a:t>
            </a:r>
            <a:endParaRPr lang="en-US" altLang="zh-CN" sz="2400" b="1" dirty="0" smtClean="0">
              <a:solidFill>
                <a:schemeClr val="accent2"/>
              </a:solidFill>
              <a:ea typeface="黑体" pitchFamily="49" charset="-122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60000"/>
            </a:pPr>
            <a:r>
              <a:rPr lang="en-US" altLang="zh-CN" sz="2400" b="1" dirty="0" smtClean="0">
                <a:solidFill>
                  <a:schemeClr val="accent2"/>
                </a:solidFill>
                <a:ea typeface="黑体" pitchFamily="49" charset="-122"/>
              </a:rPr>
              <a:t>     </a:t>
            </a:r>
            <a:r>
              <a:rPr lang="en-US" altLang="zh-CN" sz="2000" b="1" baseline="-25000" dirty="0" smtClean="0">
                <a:solidFill>
                  <a:schemeClr val="accent2"/>
                </a:solidFill>
                <a:ea typeface="黑体" pitchFamily="49" charset="-122"/>
              </a:rPr>
              <a:t>                         </a:t>
            </a:r>
          </a:p>
        </p:txBody>
      </p:sp>
      <p:grpSp>
        <p:nvGrpSpPr>
          <p:cNvPr id="8" name="Group 8"/>
          <p:cNvGrpSpPr>
            <a:grpSpLocks/>
          </p:cNvGrpSpPr>
          <p:nvPr/>
        </p:nvGrpSpPr>
        <p:grpSpPr bwMode="auto">
          <a:xfrm>
            <a:off x="2133600" y="1504950"/>
            <a:ext cx="4013200" cy="2992437"/>
            <a:chOff x="904" y="667"/>
            <a:chExt cx="2528" cy="1885"/>
          </a:xfrm>
        </p:grpSpPr>
        <p:grpSp>
          <p:nvGrpSpPr>
            <p:cNvPr id="9" name="Group 9"/>
            <p:cNvGrpSpPr>
              <a:grpSpLocks/>
            </p:cNvGrpSpPr>
            <p:nvPr/>
          </p:nvGrpSpPr>
          <p:grpSpPr bwMode="auto">
            <a:xfrm>
              <a:off x="904" y="667"/>
              <a:ext cx="2528" cy="1885"/>
              <a:chOff x="904" y="867"/>
              <a:chExt cx="2528" cy="1885"/>
            </a:xfrm>
          </p:grpSpPr>
          <p:sp>
            <p:nvSpPr>
              <p:cNvPr id="13" name="Rectangle 10"/>
              <p:cNvSpPr>
                <a:spLocks noChangeArrowheads="1"/>
              </p:cNvSpPr>
              <p:nvPr/>
            </p:nvSpPr>
            <p:spPr bwMode="auto">
              <a:xfrm>
                <a:off x="904" y="1248"/>
                <a:ext cx="2528" cy="115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14" name="Group 11"/>
              <p:cNvGrpSpPr>
                <a:grpSpLocks/>
              </p:cNvGrpSpPr>
              <p:nvPr/>
            </p:nvGrpSpPr>
            <p:grpSpPr bwMode="auto">
              <a:xfrm>
                <a:off x="1016" y="1344"/>
                <a:ext cx="408" cy="288"/>
                <a:chOff x="1016" y="1384"/>
                <a:chExt cx="408" cy="288"/>
              </a:xfrm>
            </p:grpSpPr>
            <p:sp>
              <p:nvSpPr>
                <p:cNvPr id="52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1016" y="1384"/>
                  <a:ext cx="408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400" b="1"/>
                    <a:t>Y</a:t>
                  </a:r>
                  <a:r>
                    <a:rPr lang="en-US" altLang="zh-CN" sz="2400" b="1" baseline="-2000"/>
                    <a:t>7</a:t>
                  </a:r>
                </a:p>
              </p:txBody>
            </p:sp>
            <p:sp>
              <p:nvSpPr>
                <p:cNvPr id="53" name="Line 13"/>
                <p:cNvSpPr>
                  <a:spLocks noChangeShapeType="1"/>
                </p:cNvSpPr>
                <p:nvPr/>
              </p:nvSpPr>
              <p:spPr bwMode="auto">
                <a:xfrm>
                  <a:off x="1064" y="1384"/>
                  <a:ext cx="216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" name="Group 14"/>
              <p:cNvGrpSpPr>
                <a:grpSpLocks/>
              </p:cNvGrpSpPr>
              <p:nvPr/>
            </p:nvGrpSpPr>
            <p:grpSpPr bwMode="auto">
              <a:xfrm>
                <a:off x="2986" y="1320"/>
                <a:ext cx="408" cy="288"/>
                <a:chOff x="1016" y="1384"/>
                <a:chExt cx="408" cy="288"/>
              </a:xfrm>
            </p:grpSpPr>
            <p:sp>
              <p:nvSpPr>
                <p:cNvPr id="50" name="Text Box 15"/>
                <p:cNvSpPr txBox="1">
                  <a:spLocks noChangeArrowheads="1"/>
                </p:cNvSpPr>
                <p:nvPr/>
              </p:nvSpPr>
              <p:spPr bwMode="auto">
                <a:xfrm>
                  <a:off x="1016" y="1384"/>
                  <a:ext cx="408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400" b="1"/>
                    <a:t>Y</a:t>
                  </a:r>
                  <a:r>
                    <a:rPr lang="en-US" altLang="zh-CN" sz="2400" b="1" baseline="-2000"/>
                    <a:t>0</a:t>
                  </a:r>
                </a:p>
              </p:txBody>
            </p:sp>
            <p:sp>
              <p:nvSpPr>
                <p:cNvPr id="51" name="Line 16"/>
                <p:cNvSpPr>
                  <a:spLocks noChangeShapeType="1"/>
                </p:cNvSpPr>
                <p:nvPr/>
              </p:nvSpPr>
              <p:spPr bwMode="auto">
                <a:xfrm>
                  <a:off x="1064" y="1384"/>
                  <a:ext cx="216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7" name="Oval 17"/>
              <p:cNvSpPr>
                <a:spLocks noChangeArrowheads="1"/>
              </p:cNvSpPr>
              <p:nvPr/>
            </p:nvSpPr>
            <p:spPr bwMode="auto">
              <a:xfrm>
                <a:off x="1144" y="1184"/>
                <a:ext cx="56" cy="56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" name="Oval 18"/>
              <p:cNvSpPr>
                <a:spLocks noChangeArrowheads="1"/>
              </p:cNvSpPr>
              <p:nvPr/>
            </p:nvSpPr>
            <p:spPr bwMode="auto">
              <a:xfrm>
                <a:off x="1427" y="1184"/>
                <a:ext cx="56" cy="56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" name="Oval 19"/>
              <p:cNvSpPr>
                <a:spLocks noChangeArrowheads="1"/>
              </p:cNvSpPr>
              <p:nvPr/>
            </p:nvSpPr>
            <p:spPr bwMode="auto">
              <a:xfrm>
                <a:off x="1681" y="1180"/>
                <a:ext cx="56" cy="56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" name="Oval 20"/>
              <p:cNvSpPr>
                <a:spLocks noChangeArrowheads="1"/>
              </p:cNvSpPr>
              <p:nvPr/>
            </p:nvSpPr>
            <p:spPr bwMode="auto">
              <a:xfrm>
                <a:off x="1956" y="1180"/>
                <a:ext cx="56" cy="56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" name="Oval 21"/>
              <p:cNvSpPr>
                <a:spLocks noChangeArrowheads="1"/>
              </p:cNvSpPr>
              <p:nvPr/>
            </p:nvSpPr>
            <p:spPr bwMode="auto">
              <a:xfrm>
                <a:off x="2204" y="1180"/>
                <a:ext cx="56" cy="56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" name="Oval 22"/>
              <p:cNvSpPr>
                <a:spLocks noChangeArrowheads="1"/>
              </p:cNvSpPr>
              <p:nvPr/>
            </p:nvSpPr>
            <p:spPr bwMode="auto">
              <a:xfrm>
                <a:off x="2512" y="1184"/>
                <a:ext cx="56" cy="56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" name="Oval 23"/>
              <p:cNvSpPr>
                <a:spLocks noChangeArrowheads="1"/>
              </p:cNvSpPr>
              <p:nvPr/>
            </p:nvSpPr>
            <p:spPr bwMode="auto">
              <a:xfrm>
                <a:off x="2822" y="1180"/>
                <a:ext cx="56" cy="56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" name="Line 24"/>
              <p:cNvSpPr>
                <a:spLocks noChangeShapeType="1"/>
              </p:cNvSpPr>
              <p:nvPr/>
            </p:nvSpPr>
            <p:spPr bwMode="auto">
              <a:xfrm flipV="1">
                <a:off x="1176" y="880"/>
                <a:ext cx="0" cy="3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" name="Line 25"/>
              <p:cNvSpPr>
                <a:spLocks noChangeShapeType="1"/>
              </p:cNvSpPr>
              <p:nvPr/>
            </p:nvSpPr>
            <p:spPr bwMode="auto">
              <a:xfrm flipV="1">
                <a:off x="1459" y="880"/>
                <a:ext cx="0" cy="3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" name="Line 26"/>
              <p:cNvSpPr>
                <a:spLocks noChangeShapeType="1"/>
              </p:cNvSpPr>
              <p:nvPr/>
            </p:nvSpPr>
            <p:spPr bwMode="auto">
              <a:xfrm flipV="1">
                <a:off x="1706" y="890"/>
                <a:ext cx="0" cy="3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" name="Line 27"/>
              <p:cNvSpPr>
                <a:spLocks noChangeShapeType="1"/>
              </p:cNvSpPr>
              <p:nvPr/>
            </p:nvSpPr>
            <p:spPr bwMode="auto">
              <a:xfrm flipV="1">
                <a:off x="1980" y="882"/>
                <a:ext cx="0" cy="3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" name="Line 28"/>
              <p:cNvSpPr>
                <a:spLocks noChangeShapeType="1"/>
              </p:cNvSpPr>
              <p:nvPr/>
            </p:nvSpPr>
            <p:spPr bwMode="auto">
              <a:xfrm flipV="1">
                <a:off x="2237" y="890"/>
                <a:ext cx="0" cy="3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" name="Line 29"/>
              <p:cNvSpPr>
                <a:spLocks noChangeShapeType="1"/>
              </p:cNvSpPr>
              <p:nvPr/>
            </p:nvSpPr>
            <p:spPr bwMode="auto">
              <a:xfrm flipV="1">
                <a:off x="2536" y="875"/>
                <a:ext cx="0" cy="3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" name="Line 30"/>
              <p:cNvSpPr>
                <a:spLocks noChangeShapeType="1"/>
              </p:cNvSpPr>
              <p:nvPr/>
            </p:nvSpPr>
            <p:spPr bwMode="auto">
              <a:xfrm flipV="1">
                <a:off x="2847" y="867"/>
                <a:ext cx="0" cy="3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" name="Line 31"/>
              <p:cNvSpPr>
                <a:spLocks noChangeShapeType="1"/>
              </p:cNvSpPr>
              <p:nvPr/>
            </p:nvSpPr>
            <p:spPr bwMode="auto">
              <a:xfrm flipV="1">
                <a:off x="3114" y="882"/>
                <a:ext cx="0" cy="3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" name="Oval 32"/>
              <p:cNvSpPr>
                <a:spLocks noChangeArrowheads="1"/>
              </p:cNvSpPr>
              <p:nvPr/>
            </p:nvSpPr>
            <p:spPr bwMode="auto">
              <a:xfrm>
                <a:off x="3086" y="1184"/>
                <a:ext cx="56" cy="56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33" name="Group 33"/>
              <p:cNvGrpSpPr>
                <a:grpSpLocks/>
              </p:cNvGrpSpPr>
              <p:nvPr/>
            </p:nvGrpSpPr>
            <p:grpSpPr bwMode="auto">
              <a:xfrm>
                <a:off x="1314" y="2112"/>
                <a:ext cx="498" cy="288"/>
                <a:chOff x="1016" y="1384"/>
                <a:chExt cx="408" cy="288"/>
              </a:xfrm>
            </p:grpSpPr>
            <p:sp>
              <p:nvSpPr>
                <p:cNvPr id="48" name="Text Box 34"/>
                <p:cNvSpPr txBox="1">
                  <a:spLocks noChangeArrowheads="1"/>
                </p:cNvSpPr>
                <p:nvPr/>
              </p:nvSpPr>
              <p:spPr bwMode="auto">
                <a:xfrm>
                  <a:off x="1016" y="1384"/>
                  <a:ext cx="408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400" b="1"/>
                    <a:t>G</a:t>
                  </a:r>
                  <a:r>
                    <a:rPr lang="en-US" altLang="zh-CN" sz="2400" b="1" baseline="-2000"/>
                    <a:t>2A</a:t>
                  </a:r>
                </a:p>
              </p:txBody>
            </p:sp>
            <p:sp>
              <p:nvSpPr>
                <p:cNvPr id="49" name="Line 35"/>
                <p:cNvSpPr>
                  <a:spLocks noChangeShapeType="1"/>
                </p:cNvSpPr>
                <p:nvPr/>
              </p:nvSpPr>
              <p:spPr bwMode="auto">
                <a:xfrm>
                  <a:off x="1064" y="1384"/>
                  <a:ext cx="216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4" name="Group 36"/>
              <p:cNvGrpSpPr>
                <a:grpSpLocks/>
              </p:cNvGrpSpPr>
              <p:nvPr/>
            </p:nvGrpSpPr>
            <p:grpSpPr bwMode="auto">
              <a:xfrm>
                <a:off x="1749" y="2112"/>
                <a:ext cx="498" cy="288"/>
                <a:chOff x="1016" y="1384"/>
                <a:chExt cx="408" cy="288"/>
              </a:xfrm>
            </p:grpSpPr>
            <p:sp>
              <p:nvSpPr>
                <p:cNvPr id="46" name="Text Box 37"/>
                <p:cNvSpPr txBox="1">
                  <a:spLocks noChangeArrowheads="1"/>
                </p:cNvSpPr>
                <p:nvPr/>
              </p:nvSpPr>
              <p:spPr bwMode="auto">
                <a:xfrm>
                  <a:off x="1016" y="1384"/>
                  <a:ext cx="408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400" b="1"/>
                    <a:t>G</a:t>
                  </a:r>
                  <a:r>
                    <a:rPr lang="en-US" altLang="zh-CN" sz="2400" b="1" baseline="-2000"/>
                    <a:t>2B</a:t>
                  </a:r>
                </a:p>
              </p:txBody>
            </p:sp>
            <p:sp>
              <p:nvSpPr>
                <p:cNvPr id="47" name="Line 38"/>
                <p:cNvSpPr>
                  <a:spLocks noChangeShapeType="1"/>
                </p:cNvSpPr>
                <p:nvPr/>
              </p:nvSpPr>
              <p:spPr bwMode="auto">
                <a:xfrm>
                  <a:off x="1064" y="1384"/>
                  <a:ext cx="216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5" name="Text Box 39"/>
              <p:cNvSpPr txBox="1">
                <a:spLocks noChangeArrowheads="1"/>
              </p:cNvSpPr>
              <p:nvPr/>
            </p:nvSpPr>
            <p:spPr bwMode="auto">
              <a:xfrm>
                <a:off x="1030" y="2112"/>
                <a:ext cx="397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/>
                  <a:t>G</a:t>
                </a:r>
                <a:r>
                  <a:rPr lang="en-US" altLang="zh-CN" sz="2400" b="1" baseline="-2000"/>
                  <a:t>1</a:t>
                </a:r>
              </a:p>
            </p:txBody>
          </p:sp>
          <p:sp>
            <p:nvSpPr>
              <p:cNvPr id="36" name="Text Box 40"/>
              <p:cNvSpPr txBox="1">
                <a:spLocks noChangeArrowheads="1"/>
              </p:cNvSpPr>
              <p:nvPr/>
            </p:nvSpPr>
            <p:spPr bwMode="auto">
              <a:xfrm>
                <a:off x="2447" y="2097"/>
                <a:ext cx="809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/>
                  <a:t>C  B  A</a:t>
                </a:r>
                <a:endParaRPr lang="en-US" altLang="zh-CN" sz="2400" b="1" baseline="-2000"/>
              </a:p>
            </p:txBody>
          </p:sp>
          <p:sp>
            <p:nvSpPr>
              <p:cNvPr id="37" name="Oval 41"/>
              <p:cNvSpPr>
                <a:spLocks noChangeArrowheads="1"/>
              </p:cNvSpPr>
              <p:nvPr/>
            </p:nvSpPr>
            <p:spPr bwMode="auto">
              <a:xfrm rot="10313623" flipV="1">
                <a:off x="1900" y="2400"/>
                <a:ext cx="56" cy="56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" name="Line 42"/>
              <p:cNvSpPr>
                <a:spLocks noChangeShapeType="1"/>
              </p:cNvSpPr>
              <p:nvPr/>
            </p:nvSpPr>
            <p:spPr bwMode="auto">
              <a:xfrm>
                <a:off x="1924" y="2456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" name="Oval 43"/>
              <p:cNvSpPr>
                <a:spLocks noChangeArrowheads="1"/>
              </p:cNvSpPr>
              <p:nvPr/>
            </p:nvSpPr>
            <p:spPr bwMode="auto">
              <a:xfrm rot="10313623" flipV="1">
                <a:off x="1483" y="2408"/>
                <a:ext cx="56" cy="56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" name="Line 44"/>
              <p:cNvSpPr>
                <a:spLocks noChangeShapeType="1"/>
              </p:cNvSpPr>
              <p:nvPr/>
            </p:nvSpPr>
            <p:spPr bwMode="auto">
              <a:xfrm>
                <a:off x="1507" y="2464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" name="Line 45"/>
              <p:cNvSpPr>
                <a:spLocks noChangeShapeType="1"/>
              </p:cNvSpPr>
              <p:nvPr/>
            </p:nvSpPr>
            <p:spPr bwMode="auto">
              <a:xfrm>
                <a:off x="1200" y="2385"/>
                <a:ext cx="0" cy="36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" name="Line 46"/>
              <p:cNvSpPr>
                <a:spLocks noChangeShapeType="1"/>
              </p:cNvSpPr>
              <p:nvPr/>
            </p:nvSpPr>
            <p:spPr bwMode="auto">
              <a:xfrm>
                <a:off x="2568" y="2408"/>
                <a:ext cx="0" cy="3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" name="Line 47"/>
              <p:cNvSpPr>
                <a:spLocks noChangeShapeType="1"/>
              </p:cNvSpPr>
              <p:nvPr/>
            </p:nvSpPr>
            <p:spPr bwMode="auto">
              <a:xfrm>
                <a:off x="2822" y="2408"/>
                <a:ext cx="0" cy="3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" name="Line 48"/>
              <p:cNvSpPr>
                <a:spLocks noChangeShapeType="1"/>
              </p:cNvSpPr>
              <p:nvPr/>
            </p:nvSpPr>
            <p:spPr bwMode="auto">
              <a:xfrm>
                <a:off x="3086" y="2408"/>
                <a:ext cx="0" cy="3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" name="Text Box 49"/>
              <p:cNvSpPr txBox="1">
                <a:spLocks noChangeArrowheads="1"/>
              </p:cNvSpPr>
              <p:nvPr/>
            </p:nvSpPr>
            <p:spPr bwMode="auto">
              <a:xfrm>
                <a:off x="1706" y="1608"/>
                <a:ext cx="1315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/>
                  <a:t>74LS138</a:t>
                </a:r>
              </a:p>
            </p:txBody>
          </p:sp>
        </p:grpSp>
        <p:sp>
          <p:nvSpPr>
            <p:cNvPr id="10" name="Text Box 50"/>
            <p:cNvSpPr txBox="1">
              <a:spLocks noChangeArrowheads="1"/>
            </p:cNvSpPr>
            <p:nvPr/>
          </p:nvSpPr>
          <p:spPr bwMode="auto">
            <a:xfrm>
              <a:off x="1427" y="1144"/>
              <a:ext cx="1451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endParaRPr lang="zh-CN" altLang="zh-CN" sz="2000"/>
            </a:p>
          </p:txBody>
        </p:sp>
        <p:sp>
          <p:nvSpPr>
            <p:cNvPr id="11" name="Line 51"/>
            <p:cNvSpPr>
              <a:spLocks noChangeShapeType="1"/>
            </p:cNvSpPr>
            <p:nvPr/>
          </p:nvSpPr>
          <p:spPr bwMode="auto">
            <a:xfrm>
              <a:off x="1636" y="1240"/>
              <a:ext cx="95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4" name="矩形 53"/>
          <p:cNvSpPr/>
          <p:nvPr/>
        </p:nvSpPr>
        <p:spPr>
          <a:xfrm>
            <a:off x="1905000" y="4476750"/>
            <a:ext cx="3789333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457200">
              <a:lnSpc>
                <a:spcPct val="150000"/>
              </a:lnSpc>
            </a:pPr>
            <a:r>
              <a:rPr lang="zh-CN" altLang="en-US" b="1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图</a:t>
            </a:r>
            <a:r>
              <a:rPr lang="en-US" altLang="zh-CN" b="1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   </a:t>
            </a:r>
            <a:r>
              <a:rPr lang="zh-CN" altLang="en-US" b="1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中规模组合逻辑器件</a:t>
            </a: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52400" y="0"/>
            <a:ext cx="25234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：课 程 概 述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0" y="666750"/>
            <a:ext cx="8610600" cy="20467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 indent="457200">
              <a:lnSpc>
                <a:spcPct val="150000"/>
              </a:lnSpc>
            </a:pPr>
            <a:r>
              <a:rPr lang="en-US" altLang="zh-CN" sz="2400" b="1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1.5 </a:t>
            </a:r>
            <a:r>
              <a:rPr lang="zh-CN" altLang="en-US" sz="2400" b="1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数字逻辑课程的主要内容：</a:t>
            </a:r>
            <a:endParaRPr lang="en-US" altLang="zh-CN" sz="2400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209800" y="1885950"/>
            <a:ext cx="2743200" cy="16435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25000"/>
              </a:lnSpc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l"/>
            </a:pPr>
            <a:r>
              <a:rPr lang="zh-CN" altLang="en-US" b="1" dirty="0" smtClean="0">
                <a:solidFill>
                  <a:schemeClr val="accent2"/>
                </a:solidFill>
                <a:ea typeface="黑体" pitchFamily="49" charset="-122"/>
              </a:rPr>
              <a:t>触发器</a:t>
            </a:r>
            <a:endParaRPr lang="en-US" altLang="zh-CN" b="1" dirty="0" smtClean="0">
              <a:solidFill>
                <a:schemeClr val="accent2"/>
              </a:solidFill>
              <a:ea typeface="黑体" pitchFamily="49" charset="-122"/>
            </a:endParaRPr>
          </a:p>
          <a:p>
            <a:pPr marL="342900" indent="-342900">
              <a:lnSpc>
                <a:spcPct val="125000"/>
              </a:lnSpc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l"/>
            </a:pPr>
            <a:r>
              <a:rPr lang="zh-CN" altLang="en-US" b="1" dirty="0" smtClean="0">
                <a:solidFill>
                  <a:schemeClr val="accent2"/>
                </a:solidFill>
                <a:ea typeface="黑体" pitchFamily="49" charset="-122"/>
              </a:rPr>
              <a:t>计数器</a:t>
            </a:r>
            <a:endParaRPr lang="en-US" altLang="zh-CN" b="1" dirty="0" smtClean="0">
              <a:solidFill>
                <a:schemeClr val="accent2"/>
              </a:solidFill>
              <a:ea typeface="黑体" pitchFamily="49" charset="-122"/>
            </a:endParaRPr>
          </a:p>
          <a:p>
            <a:pPr marL="342900" indent="-342900">
              <a:lnSpc>
                <a:spcPct val="125000"/>
              </a:lnSpc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l"/>
            </a:pPr>
            <a:r>
              <a:rPr lang="zh-CN" altLang="en-US" b="1" dirty="0" smtClean="0">
                <a:solidFill>
                  <a:schemeClr val="accent2"/>
                </a:solidFill>
                <a:ea typeface="黑体" pitchFamily="49" charset="-122"/>
              </a:rPr>
              <a:t>时序电路的分析</a:t>
            </a:r>
            <a:endParaRPr lang="en-US" altLang="zh-CN" b="1" dirty="0" smtClean="0">
              <a:solidFill>
                <a:schemeClr val="accent2"/>
              </a:solidFill>
              <a:ea typeface="黑体" pitchFamily="49" charset="-122"/>
            </a:endParaRPr>
          </a:p>
          <a:p>
            <a:pPr marL="342900" indent="-342900">
              <a:lnSpc>
                <a:spcPct val="125000"/>
              </a:lnSpc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l"/>
            </a:pPr>
            <a:r>
              <a:rPr lang="zh-CN" altLang="en-US" b="1" dirty="0" smtClean="0">
                <a:solidFill>
                  <a:schemeClr val="accent2"/>
                </a:solidFill>
                <a:ea typeface="黑体" pitchFamily="49" charset="-122"/>
              </a:rPr>
              <a:t>时序电路的设计</a:t>
            </a:r>
            <a:endParaRPr lang="zh-CN" altLang="en-US" b="1" dirty="0">
              <a:solidFill>
                <a:schemeClr val="accent2"/>
              </a:solidFill>
              <a:ea typeface="黑体" pitchFamily="49" charset="-122"/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2133600" y="1352550"/>
            <a:ext cx="2057400" cy="649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125000"/>
              </a:lnSpc>
              <a:spcBef>
                <a:spcPct val="20000"/>
              </a:spcBef>
              <a:buClr>
                <a:srgbClr val="FF0000"/>
              </a:buClr>
              <a:buSzPct val="60000"/>
            </a:pPr>
            <a:r>
              <a:rPr lang="zh-CN" altLang="en-US" sz="2400" b="1" dirty="0" smtClean="0">
                <a:solidFill>
                  <a:srgbClr val="FF0000"/>
                </a:solidFill>
                <a:ea typeface="黑体" pitchFamily="49" charset="-122"/>
              </a:rPr>
              <a:t>时序逻辑电路</a:t>
            </a:r>
            <a:endParaRPr lang="en-US" altLang="zh-CN" sz="2400" b="1" dirty="0" smtClean="0">
              <a:solidFill>
                <a:srgbClr val="FF0000"/>
              </a:solidFill>
              <a:ea typeface="黑体" pitchFamily="49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52400" y="0"/>
            <a:ext cx="25234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：课 程 概 述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0" y="666750"/>
            <a:ext cx="8610600" cy="20467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 indent="457200">
              <a:lnSpc>
                <a:spcPct val="150000"/>
              </a:lnSpc>
            </a:pPr>
            <a:r>
              <a:rPr lang="en-US" altLang="zh-CN" sz="2400" b="1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1.5 </a:t>
            </a:r>
            <a:r>
              <a:rPr lang="zh-CN" altLang="en-US" sz="2400" b="1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数字逻辑课程的主要内容：</a:t>
            </a:r>
            <a:endParaRPr lang="en-US" altLang="zh-CN" sz="2400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5604" name="Picture 4" descr="C:\Users\hfutliujun\AppData\Roaming\Tencent\Users\350654676\QQ\WinTemp\RichOle\P2F(TRHMZ51@VU[[WZ`_I5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19400" y="1276350"/>
            <a:ext cx="1905000" cy="3143642"/>
          </a:xfrm>
          <a:prstGeom prst="rect">
            <a:avLst/>
          </a:prstGeom>
          <a:noFill/>
        </p:spPr>
      </p:pic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1143000" y="1276350"/>
            <a:ext cx="7808913" cy="649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l"/>
            </a:pPr>
            <a:r>
              <a:rPr lang="zh-CN" altLang="en-US" sz="2000" b="1" dirty="0" smtClean="0">
                <a:solidFill>
                  <a:schemeClr val="accent2"/>
                </a:solidFill>
                <a:ea typeface="黑体" pitchFamily="49" charset="-122"/>
              </a:rPr>
              <a:t>触发器</a:t>
            </a:r>
            <a:endParaRPr lang="en-US" altLang="zh-CN" sz="2000" b="1" dirty="0" smtClean="0">
              <a:solidFill>
                <a:schemeClr val="accent2"/>
              </a:solidFill>
              <a:ea typeface="黑体" pitchFamily="49" charset="-122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60000"/>
            </a:pPr>
            <a:r>
              <a:rPr lang="en-US" altLang="zh-CN" sz="2400" b="1" dirty="0" smtClean="0">
                <a:solidFill>
                  <a:schemeClr val="accent2"/>
                </a:solidFill>
                <a:ea typeface="黑体" pitchFamily="49" charset="-122"/>
              </a:rPr>
              <a:t>     </a:t>
            </a:r>
            <a:r>
              <a:rPr lang="en-US" altLang="zh-CN" sz="2000" b="1" baseline="-25000" dirty="0" smtClean="0">
                <a:solidFill>
                  <a:schemeClr val="accent2"/>
                </a:solidFill>
                <a:ea typeface="黑体" pitchFamily="49" charset="-122"/>
              </a:rPr>
              <a:t>                         </a:t>
            </a:r>
          </a:p>
        </p:txBody>
      </p:sp>
      <p:sp>
        <p:nvSpPr>
          <p:cNvPr id="8" name="矩形 7"/>
          <p:cNvSpPr/>
          <p:nvPr/>
        </p:nvSpPr>
        <p:spPr>
          <a:xfrm>
            <a:off x="1981200" y="4400550"/>
            <a:ext cx="3789333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457200">
              <a:lnSpc>
                <a:spcPct val="150000"/>
              </a:lnSpc>
            </a:pPr>
            <a:r>
              <a:rPr lang="zh-CN" altLang="en-US" b="1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图</a:t>
            </a:r>
            <a:r>
              <a:rPr lang="en-US" altLang="zh-CN" b="1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   </a:t>
            </a:r>
            <a:r>
              <a:rPr lang="zh-CN" altLang="en-US" b="1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触发器的例子</a:t>
            </a: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52400" y="0"/>
            <a:ext cx="25234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：课 程 概 述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-228600" y="514350"/>
            <a:ext cx="8610600" cy="20467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 indent="457200">
              <a:lnSpc>
                <a:spcPct val="150000"/>
              </a:lnSpc>
            </a:pPr>
            <a:r>
              <a:rPr lang="en-US" altLang="zh-CN" sz="2400" b="1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1.5 </a:t>
            </a:r>
            <a:r>
              <a:rPr lang="zh-CN" altLang="en-US" sz="2400" b="1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数字逻辑课程的主要内容：</a:t>
            </a:r>
            <a:endParaRPr lang="en-US" altLang="zh-CN" sz="2400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762000" y="1123950"/>
            <a:ext cx="7808913" cy="649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l"/>
            </a:pPr>
            <a:r>
              <a:rPr lang="zh-CN" altLang="en-US" sz="2400" b="1" dirty="0" smtClean="0">
                <a:solidFill>
                  <a:schemeClr val="accent2"/>
                </a:solidFill>
                <a:ea typeface="黑体" pitchFamily="49" charset="-122"/>
              </a:rPr>
              <a:t>计数器</a:t>
            </a:r>
            <a:endParaRPr lang="en-US" altLang="zh-CN" sz="2400" b="1" dirty="0" smtClean="0">
              <a:solidFill>
                <a:schemeClr val="accent2"/>
              </a:solidFill>
              <a:ea typeface="黑体" pitchFamily="49" charset="-122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60000"/>
            </a:pPr>
            <a:r>
              <a:rPr lang="en-US" altLang="zh-CN" sz="2400" b="1" dirty="0" smtClean="0">
                <a:solidFill>
                  <a:schemeClr val="accent2"/>
                </a:solidFill>
                <a:ea typeface="黑体" pitchFamily="49" charset="-122"/>
              </a:rPr>
              <a:t>     </a:t>
            </a:r>
            <a:r>
              <a:rPr lang="en-US" altLang="zh-CN" sz="2000" b="1" baseline="-25000" dirty="0" smtClean="0">
                <a:solidFill>
                  <a:schemeClr val="accent2"/>
                </a:solidFill>
                <a:ea typeface="黑体" pitchFamily="49" charset="-122"/>
              </a:rPr>
              <a:t>                         </a:t>
            </a:r>
          </a:p>
        </p:txBody>
      </p:sp>
      <p:pic>
        <p:nvPicPr>
          <p:cNvPr id="9" name="Picture 57" descr="C:\Users\hfutliujun\AppData\Roaming\Tencent\Users\350654676\QQ\WinTemp\RichOle\N$3Q{)6$_AQ04~1LHP6OK`Q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00400" y="2266950"/>
            <a:ext cx="3352800" cy="2172079"/>
          </a:xfrm>
          <a:prstGeom prst="rect">
            <a:avLst/>
          </a:prstGeom>
          <a:noFill/>
        </p:spPr>
      </p:pic>
      <p:pic>
        <p:nvPicPr>
          <p:cNvPr id="10" name="Picture 58" descr="C:\Users\hfutliujun\AppData\Roaming\Tencent\Users\350654676\QQ\WinTemp\RichOle\%_TNGSXWHKH86Z`XL[)JJRC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19400" y="1123950"/>
            <a:ext cx="4090416" cy="1107577"/>
          </a:xfrm>
          <a:prstGeom prst="rect">
            <a:avLst/>
          </a:prstGeom>
          <a:noFill/>
        </p:spPr>
      </p:pic>
      <p:sp>
        <p:nvSpPr>
          <p:cNvPr id="11" name="矩形 10"/>
          <p:cNvSpPr/>
          <p:nvPr/>
        </p:nvSpPr>
        <p:spPr>
          <a:xfrm>
            <a:off x="3048000" y="4400550"/>
            <a:ext cx="3789333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457200">
              <a:lnSpc>
                <a:spcPct val="150000"/>
              </a:lnSpc>
            </a:pPr>
            <a:r>
              <a:rPr lang="zh-CN" altLang="en-US" b="1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图</a:t>
            </a:r>
            <a:r>
              <a:rPr lang="en-US" altLang="zh-CN" b="1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   </a:t>
            </a:r>
            <a:r>
              <a:rPr lang="zh-CN" altLang="en-US" b="1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计数器的例子</a:t>
            </a: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52400" y="0"/>
            <a:ext cx="25234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：课 程 概 述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0" y="666750"/>
            <a:ext cx="8610600" cy="20467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 indent="457200">
              <a:lnSpc>
                <a:spcPct val="150000"/>
              </a:lnSpc>
            </a:pPr>
            <a:r>
              <a:rPr lang="en-US" altLang="zh-CN" sz="2400" b="1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1.5 </a:t>
            </a:r>
            <a:r>
              <a:rPr lang="zh-CN" altLang="en-US" sz="2400" b="1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数字逻辑课程的主要内容：</a:t>
            </a:r>
            <a:endParaRPr lang="en-US" altLang="zh-CN" sz="2400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1143000" y="1276350"/>
            <a:ext cx="7808913" cy="649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l"/>
            </a:pPr>
            <a:r>
              <a:rPr lang="zh-CN" altLang="en-US" sz="2400" b="1" dirty="0" smtClean="0">
                <a:solidFill>
                  <a:schemeClr val="accent2"/>
                </a:solidFill>
                <a:ea typeface="黑体" pitchFamily="49" charset="-122"/>
              </a:rPr>
              <a:t>时序逻辑电路的分析</a:t>
            </a:r>
            <a:endParaRPr lang="en-US" altLang="zh-CN" sz="2400" b="1" dirty="0" smtClean="0">
              <a:solidFill>
                <a:schemeClr val="accent2"/>
              </a:solidFill>
              <a:ea typeface="黑体" pitchFamily="49" charset="-122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60000"/>
            </a:pPr>
            <a:r>
              <a:rPr lang="en-US" altLang="zh-CN" sz="2400" b="1" dirty="0" smtClean="0">
                <a:solidFill>
                  <a:schemeClr val="accent2"/>
                </a:solidFill>
                <a:ea typeface="黑体" pitchFamily="49" charset="-122"/>
              </a:rPr>
              <a:t>     </a:t>
            </a:r>
            <a:r>
              <a:rPr lang="en-US" altLang="zh-CN" sz="2000" b="1" baseline="-25000" dirty="0" smtClean="0">
                <a:solidFill>
                  <a:schemeClr val="accent2"/>
                </a:solidFill>
                <a:ea typeface="黑体" pitchFamily="49" charset="-122"/>
              </a:rPr>
              <a:t>                         </a:t>
            </a:r>
          </a:p>
        </p:txBody>
      </p:sp>
      <p:graphicFrame>
        <p:nvGraphicFramePr>
          <p:cNvPr id="62466" name="Object 2"/>
          <p:cNvGraphicFramePr>
            <a:graphicFrameLocks noChangeAspect="1"/>
          </p:cNvGraphicFramePr>
          <p:nvPr/>
        </p:nvGraphicFramePr>
        <p:xfrm>
          <a:off x="1828800" y="1504950"/>
          <a:ext cx="5029200" cy="3462471"/>
        </p:xfrm>
        <a:graphic>
          <a:graphicData uri="http://schemas.openxmlformats.org/presentationml/2006/ole">
            <p:oleObj spid="_x0000_s62466" name="Visio" r:id="rId3" imgW="3610569" imgH="2622490" progId="Visio.Drawing.11">
              <p:embed/>
            </p:oleObj>
          </a:graphicData>
        </a:graphic>
      </p:graphicFrame>
      <p:sp>
        <p:nvSpPr>
          <p:cNvPr id="8" name="矩形 7"/>
          <p:cNvSpPr/>
          <p:nvPr/>
        </p:nvSpPr>
        <p:spPr>
          <a:xfrm>
            <a:off x="2362200" y="4095750"/>
            <a:ext cx="3789333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457200">
              <a:lnSpc>
                <a:spcPct val="150000"/>
              </a:lnSpc>
            </a:pPr>
            <a:r>
              <a:rPr lang="zh-CN" altLang="en-US" b="1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图</a:t>
            </a:r>
            <a:r>
              <a:rPr lang="en-US" altLang="zh-CN" b="1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   </a:t>
            </a:r>
            <a:r>
              <a:rPr lang="zh-CN" altLang="en-US" b="1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时序电路分析的例子</a:t>
            </a: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52400" y="0"/>
            <a:ext cx="25234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：课 程 概 述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0" y="666750"/>
            <a:ext cx="8610600" cy="20467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 indent="457200">
              <a:lnSpc>
                <a:spcPct val="150000"/>
              </a:lnSpc>
            </a:pPr>
            <a:r>
              <a:rPr lang="en-US" altLang="zh-CN" sz="2400" b="1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1.5 </a:t>
            </a:r>
            <a:r>
              <a:rPr lang="zh-CN" altLang="en-US" sz="2400" b="1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数字逻辑课程的主要内容：</a:t>
            </a:r>
            <a:endParaRPr lang="en-US" altLang="zh-CN" sz="2400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1143000" y="1276350"/>
            <a:ext cx="7808913" cy="649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l"/>
            </a:pPr>
            <a:r>
              <a:rPr lang="zh-CN" altLang="en-US" sz="2400" b="1" dirty="0" smtClean="0">
                <a:solidFill>
                  <a:schemeClr val="accent2"/>
                </a:solidFill>
                <a:ea typeface="黑体" pitchFamily="49" charset="-122"/>
              </a:rPr>
              <a:t>时序逻辑电路的设计</a:t>
            </a:r>
            <a:endParaRPr lang="en-US" altLang="zh-CN" sz="2400" b="1" dirty="0" smtClean="0">
              <a:solidFill>
                <a:schemeClr val="accent2"/>
              </a:solidFill>
              <a:ea typeface="黑体" pitchFamily="49" charset="-122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60000"/>
            </a:pPr>
            <a:r>
              <a:rPr lang="en-US" altLang="zh-CN" sz="2400" b="1" dirty="0" smtClean="0">
                <a:solidFill>
                  <a:schemeClr val="accent2"/>
                </a:solidFill>
                <a:ea typeface="黑体" pitchFamily="49" charset="-122"/>
              </a:rPr>
              <a:t>     </a:t>
            </a:r>
            <a:r>
              <a:rPr lang="en-US" altLang="zh-CN" sz="2000" b="1" baseline="-25000" dirty="0" smtClean="0">
                <a:solidFill>
                  <a:schemeClr val="accent2"/>
                </a:solidFill>
                <a:ea typeface="黑体" pitchFamily="49" charset="-122"/>
              </a:rPr>
              <a:t>                         </a:t>
            </a:r>
          </a:p>
        </p:txBody>
      </p:sp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1600200" y="1733550"/>
            <a:ext cx="65532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zh-CN" altLang="en-US" sz="2000" b="1" i="0" dirty="0">
                <a:solidFill>
                  <a:srgbClr val="3333CC"/>
                </a:solidFill>
                <a:latin typeface="黑体" pitchFamily="49" charset="-122"/>
                <a:ea typeface="黑体" pitchFamily="49" charset="-122"/>
              </a:rPr>
              <a:t>例：用与非门和</a:t>
            </a:r>
            <a:r>
              <a:rPr kumimoji="0" lang="en-US" altLang="zh-CN" sz="2000" b="1" i="0" dirty="0">
                <a:solidFill>
                  <a:srgbClr val="3333CC"/>
                </a:solidFill>
                <a:latin typeface="Arial" pitchFamily="34" charset="0"/>
                <a:ea typeface="黑体" pitchFamily="49" charset="-122"/>
              </a:rPr>
              <a:t>D</a:t>
            </a:r>
            <a:r>
              <a:rPr kumimoji="0" lang="zh-CN" altLang="en-US" sz="2000" b="1" i="0" dirty="0">
                <a:solidFill>
                  <a:srgbClr val="3333CC"/>
                </a:solidFill>
                <a:latin typeface="黑体" pitchFamily="49" charset="-122"/>
                <a:ea typeface="黑体" pitchFamily="49" charset="-122"/>
              </a:rPr>
              <a:t>触发器设计一个同步时序逻辑电路，以检测输入的信号序列是否为连续的</a:t>
            </a:r>
            <a:r>
              <a:rPr kumimoji="0" lang="zh-CN" altLang="en-US" sz="2000" b="1" i="0" dirty="0">
                <a:solidFill>
                  <a:srgbClr val="3333CC"/>
                </a:solidFill>
                <a:latin typeface="Arial" pitchFamily="34" charset="0"/>
              </a:rPr>
              <a:t>“</a:t>
            </a:r>
            <a:r>
              <a:rPr kumimoji="0" lang="en-US" altLang="zh-CN" sz="2000" b="1" i="0" dirty="0">
                <a:solidFill>
                  <a:srgbClr val="3333CC"/>
                </a:solidFill>
                <a:latin typeface="Arial" pitchFamily="34" charset="0"/>
              </a:rPr>
              <a:t>110”</a:t>
            </a:r>
            <a:r>
              <a:rPr kumimoji="0" lang="zh-CN" altLang="en-US" sz="2000" b="1" i="0" dirty="0">
                <a:solidFill>
                  <a:srgbClr val="3333CC"/>
                </a:solidFill>
                <a:latin typeface="Arial" pitchFamily="34" charset="0"/>
              </a:rPr>
              <a:t>。</a:t>
            </a:r>
          </a:p>
        </p:txBody>
      </p:sp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默认设计模板">
  <a:themeElements>
    <a:clrScheme name="自定义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2D2D8A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2057</TotalTime>
  <Words>793</Words>
  <Application>Microsoft Office PowerPoint</Application>
  <PresentationFormat>全屏显示(16:9)</PresentationFormat>
  <Paragraphs>281</Paragraphs>
  <Slides>22</Slides>
  <Notes>1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22</vt:i4>
      </vt:variant>
    </vt:vector>
  </HeadingPairs>
  <TitlesOfParts>
    <vt:vector size="26" baseType="lpstr">
      <vt:lpstr>默认设计模板</vt:lpstr>
      <vt:lpstr>Equation</vt:lpstr>
      <vt:lpstr>公式</vt:lpstr>
      <vt:lpstr>Visio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表3 ASCII 码</vt:lpstr>
      <vt:lpstr>幻灯片 12</vt:lpstr>
      <vt:lpstr>幻灯片 13</vt:lpstr>
      <vt:lpstr>幻灯片 14</vt:lpstr>
      <vt:lpstr>幻灯片 15</vt:lpstr>
      <vt:lpstr>幻灯片 16</vt:lpstr>
      <vt:lpstr>幻灯片 17</vt:lpstr>
      <vt:lpstr>幻灯片 18</vt:lpstr>
      <vt:lpstr>幻灯片 19</vt:lpstr>
      <vt:lpstr>幻灯片 20</vt:lpstr>
      <vt:lpstr>幻灯片 21</vt:lpstr>
      <vt:lpstr>幻灯片 22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zhaole</dc:creator>
  <cp:lastModifiedBy>NTKO</cp:lastModifiedBy>
  <cp:revision>258</cp:revision>
  <cp:lastPrinted>2113-01-01T00:00:00Z</cp:lastPrinted>
  <dcterms:created xsi:type="dcterms:W3CDTF">2113-01-01T00:00:00Z</dcterms:created>
  <dcterms:modified xsi:type="dcterms:W3CDTF">2020-12-19T01:29:28Z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KSOProductBuildVer">
    <vt:lpwstr>2052-11.1.0.8696</vt:lpwstr>
  </property>
</Properties>
</file>