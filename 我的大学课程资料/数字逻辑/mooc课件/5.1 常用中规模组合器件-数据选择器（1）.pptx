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09" r:id="rId2"/>
    <p:sldId id="374" r:id="rId3"/>
    <p:sldId id="375" r:id="rId4"/>
    <p:sldId id="376" r:id="rId5"/>
    <p:sldId id="314" r:id="rId6"/>
    <p:sldId id="353" r:id="rId7"/>
    <p:sldId id="377" r:id="rId8"/>
    <p:sldId id="362" r:id="rId9"/>
    <p:sldId id="378" r:id="rId10"/>
    <p:sldId id="363" r:id="rId11"/>
    <p:sldId id="364" r:id="rId12"/>
    <p:sldId id="358" r:id="rId13"/>
    <p:sldId id="359" r:id="rId14"/>
    <p:sldId id="367" r:id="rId15"/>
    <p:sldId id="371" r:id="rId16"/>
    <p:sldId id="372" r:id="rId17"/>
    <p:sldId id="373" r:id="rId18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CC"/>
    <a:srgbClr val="00FFFF"/>
    <a:srgbClr val="2D1341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20" autoAdjust="0"/>
    <p:restoredTop sz="98916" autoAdjust="0"/>
  </p:normalViewPr>
  <p:slideViewPr>
    <p:cSldViewPr>
      <p:cViewPr varScale="1">
        <p:scale>
          <a:sx n="126" d="100"/>
          <a:sy n="126" d="100"/>
        </p:scale>
        <p:origin x="-90" y="-22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image" Target="../media/image22.wmf"/><Relationship Id="rId7" Type="http://schemas.openxmlformats.org/officeDocument/2006/relationships/image" Target="../media/image26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11" Type="http://schemas.openxmlformats.org/officeDocument/2006/relationships/image" Target="../media/image30.wmf"/><Relationship Id="rId5" Type="http://schemas.openxmlformats.org/officeDocument/2006/relationships/image" Target="../media/image24.wmf"/><Relationship Id="rId10" Type="http://schemas.openxmlformats.org/officeDocument/2006/relationships/image" Target="../media/image29.wmf"/><Relationship Id="rId4" Type="http://schemas.openxmlformats.org/officeDocument/2006/relationships/image" Target="../media/image23.wmf"/><Relationship Id="rId9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39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35.wmf"/><Relationship Id="rId11" Type="http://schemas.openxmlformats.org/officeDocument/2006/relationships/image" Target="../media/image38.wmf"/><Relationship Id="rId5" Type="http://schemas.openxmlformats.org/officeDocument/2006/relationships/image" Target="../media/image34.wmf"/><Relationship Id="rId10" Type="http://schemas.openxmlformats.org/officeDocument/2006/relationships/image" Target="../media/image30.wmf"/><Relationship Id="rId4" Type="http://schemas.openxmlformats.org/officeDocument/2006/relationships/image" Target="../media/image33.wmf"/><Relationship Id="rId9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21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image" Target="http://www.eicbs.com/bsdata/ljzy/030dzb/dz/t3-12.gi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4.bin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8.bin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2.bin"/><Relationship Id="rId20" Type="http://schemas.openxmlformats.org/officeDocument/2006/relationships/oleObject" Target="../embeddings/oleObject2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21.bin"/><Relationship Id="rId10" Type="http://schemas.openxmlformats.org/officeDocument/2006/relationships/oleObject" Target="../embeddings/oleObject16.bin"/><Relationship Id="rId19" Type="http://schemas.openxmlformats.org/officeDocument/2006/relationships/oleObject" Target="../embeddings/oleObject25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oleObject" Target="../embeddings/oleObject36.bin"/><Relationship Id="rId18" Type="http://schemas.openxmlformats.org/officeDocument/2006/relationships/oleObject" Target="../embeddings/oleObject40.bin"/><Relationship Id="rId3" Type="http://schemas.openxmlformats.org/officeDocument/2006/relationships/oleObject" Target="../embeddings/oleObject27.bin"/><Relationship Id="rId21" Type="http://schemas.openxmlformats.org/officeDocument/2006/relationships/oleObject" Target="../embeddings/oleObject43.bin"/><Relationship Id="rId7" Type="http://schemas.openxmlformats.org/officeDocument/2006/relationships/image" Target="../media/image31.png"/><Relationship Id="rId12" Type="http://schemas.openxmlformats.org/officeDocument/2006/relationships/oleObject" Target="../embeddings/oleObject35.bin"/><Relationship Id="rId1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0.png"/><Relationship Id="rId20" Type="http://schemas.openxmlformats.org/officeDocument/2006/relationships/oleObject" Target="../embeddings/oleObject42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3.bin"/><Relationship Id="rId19" Type="http://schemas.openxmlformats.org/officeDocument/2006/relationships/oleObject" Target="../embeddings/oleObject41.bin"/><Relationship Id="rId4" Type="http://schemas.openxmlformats.org/officeDocument/2006/relationships/oleObject" Target="../embeddings/oleObject28.bin"/><Relationship Id="rId9" Type="http://schemas.openxmlformats.org/officeDocument/2006/relationships/oleObject" Target="../embeddings/oleObject32.bin"/><Relationship Id="rId14" Type="http://schemas.openxmlformats.org/officeDocument/2006/relationships/oleObject" Target="../embeddings/oleObject37.bin"/><Relationship Id="rId22" Type="http://schemas.openxmlformats.org/officeDocument/2006/relationships/oleObject" Target="../embeddings/oleObject4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7.bin"/><Relationship Id="rId11" Type="http://schemas.openxmlformats.org/officeDocument/2006/relationships/oleObject" Target="../embeddings/oleObject52.bin"/><Relationship Id="rId5" Type="http://schemas.openxmlformats.org/officeDocument/2006/relationships/image" Target="../media/image31.png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6.bin"/><Relationship Id="rId9" Type="http://schemas.openxmlformats.org/officeDocument/2006/relationships/oleObject" Target="../embeddings/oleObject5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0" y="6667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数字电路的发展过程：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28600" y="1200150"/>
            <a:ext cx="7696200" cy="4800600"/>
          </a:xfrm>
          <a:prstGeom prst="rect">
            <a:avLst/>
          </a:prstGeom>
        </p:spPr>
        <p:txBody>
          <a:bodyPr/>
          <a:lstStyle/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第一代：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约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1946-1957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     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电子管</a:t>
            </a:r>
            <a:endParaRPr kumimoji="0" lang="zh-CN" altLang="en-US" sz="2000" b="0" i="0" u="none" strike="noStrike" kern="0" cap="none" spc="0" normalizeH="0" baseline="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9" name="Picture 6" descr="http://www.eicbs.com/bsdata/ljzy/030dzb/dz/t3-12.gif"/>
          <p:cNvPicPr>
            <a:picLocks noChangeAspect="1" noChangeArrowheads="1"/>
          </p:cNvPicPr>
          <p:nvPr/>
        </p:nvPicPr>
        <p:blipFill>
          <a:blip r:embed="rId3" r:link="rId4" cstate="print"/>
          <a:srcRect/>
          <a:stretch>
            <a:fillRect/>
          </a:stretch>
        </p:blipFill>
        <p:spPr bwMode="auto">
          <a:xfrm>
            <a:off x="4114800" y="819150"/>
            <a:ext cx="479102" cy="11430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0" y="2114550"/>
            <a:ext cx="533400" cy="77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8"/>
          <p:cNvGraphicFramePr>
            <a:graphicFrameLocks noChangeAspect="1"/>
          </p:cNvGraphicFramePr>
          <p:nvPr/>
        </p:nvGraphicFramePr>
        <p:xfrm>
          <a:off x="5486400" y="3105150"/>
          <a:ext cx="1143000" cy="609600"/>
        </p:xfrm>
        <a:graphic>
          <a:graphicData uri="http://schemas.openxmlformats.org/presentationml/2006/ole">
            <p:oleObj spid="_x0000_s84994" name="剪辑" r:id="rId6" imgW="4311360" imgH="3596760" progId="">
              <p:embed/>
            </p:oleObj>
          </a:graphicData>
        </a:graphic>
      </p:graphicFrame>
      <p:pic>
        <p:nvPicPr>
          <p:cNvPr id="13" name="图片 12" descr="CPU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553201" y="3562350"/>
            <a:ext cx="1600840" cy="1143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228600" y="1962150"/>
            <a:ext cx="7696200" cy="990600"/>
          </a:xfrm>
          <a:prstGeom prst="rect">
            <a:avLst/>
          </a:prstGeom>
        </p:spPr>
        <p:txBody>
          <a:bodyPr/>
          <a:lstStyle/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第二代：约</a:t>
            </a: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1957-1964 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          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黑体" pitchFamily="49" charset="-122"/>
                <a:ea typeface="黑体" pitchFamily="49" charset="-122"/>
              </a:rPr>
              <a:t>晶体管</a:t>
            </a:r>
          </a:p>
          <a:p>
            <a:pPr marL="1600200" marR="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zh-CN" altLang="en-US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endParaRPr kumimoji="0" lang="en-US" altLang="zh-CN" sz="2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52400" y="2800350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143000" lvl="2" indent="-228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第三代：约</a:t>
            </a:r>
            <a:r>
              <a:rPr lang="en-US" altLang="zh-CN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1965-1972 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en-US" altLang="zh-CN" sz="2000" b="1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          </a:t>
            </a:r>
            <a:r>
              <a:rPr lang="zh-CN" altLang="en-US" sz="2000" b="1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中小规模集成电路</a:t>
            </a:r>
            <a:endParaRPr lang="zh-CN" altLang="en-US" sz="2000" kern="0" dirty="0" smtClean="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52400" y="3714750"/>
            <a:ext cx="54864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0" lvl="2" indent="-2286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第四代：约</a:t>
            </a:r>
            <a:r>
              <a:rPr lang="en-US" altLang="zh-CN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1972-</a:t>
            </a:r>
            <a:r>
              <a:rPr lang="zh-CN" altLang="en-US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现在</a:t>
            </a:r>
          </a:p>
          <a:p>
            <a:pPr marL="1143000" lvl="2" indent="-228600">
              <a:spcBef>
                <a:spcPct val="20000"/>
              </a:spcBef>
              <a:defRPr/>
            </a:pPr>
            <a:r>
              <a:rPr lang="zh-CN" altLang="en-US" sz="2000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        </a:t>
            </a:r>
            <a:r>
              <a:rPr lang="zh-CN" altLang="en-US" sz="2000" b="1" kern="0" dirty="0" smtClean="0">
                <a:solidFill>
                  <a:schemeClr val="accent2"/>
                </a:solidFill>
                <a:latin typeface="黑体" pitchFamily="49" charset="-122"/>
                <a:ea typeface="黑体" pitchFamily="49" charset="-122"/>
              </a:rPr>
              <a:t>大规模、超大规模集成电路</a:t>
            </a: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6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828800" y="514350"/>
            <a:ext cx="8610600" cy="204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 indent="457200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 </a:t>
            </a:r>
            <a:r>
              <a:rPr lang="zh-CN" altLang="en-US" sz="2400" b="1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集成电路的分类</a:t>
            </a:r>
            <a:endParaRPr lang="en-US" altLang="zh-CN" sz="2400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Group 3"/>
          <p:cNvGraphicFramePr>
            <a:graphicFrameLocks noGrp="1"/>
          </p:cNvGraphicFramePr>
          <p:nvPr>
            <p:ph idx="1"/>
          </p:nvPr>
        </p:nvGraphicFramePr>
        <p:xfrm>
          <a:off x="76200" y="1047750"/>
          <a:ext cx="8686800" cy="3964284"/>
        </p:xfrm>
        <a:graphic>
          <a:graphicData uri="http://schemas.openxmlformats.org/drawingml/2006/table">
            <a:tbl>
              <a:tblPr/>
              <a:tblGrid>
                <a:gridCol w="2060099"/>
                <a:gridCol w="2464276"/>
                <a:gridCol w="4162425"/>
              </a:tblGrid>
              <a:tr h="34592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集成电路的分类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集成度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电路规模与范围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8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小规模集成电路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SSI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门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片，或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个元件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逻辑单元电路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它包括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: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逻辑门电路、集成触发器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1442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中规模集成电路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MSI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en-US" altLang="zh-CN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门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片，或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个元件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逻辑部件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它包括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: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计数器、译码器、编码器、数据选择器、寄存器、算术运算器、比较器、转换电路等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7811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大规模集成电路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LSI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门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片，或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～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100000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个元件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数字逻辑系统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它包括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: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中央控制器、存储器、各种接口电路等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470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超大规模集成电路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VLSI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大于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门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.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片，或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大于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万个元件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/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高集成度的数字逻辑系统</a:t>
                      </a:r>
                      <a:endParaRPr kumimoji="1" lang="zh-CN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60000"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它包括</a:t>
                      </a: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:</a:t>
                      </a:r>
                      <a:r>
                        <a:rPr kumimoji="1" lang="zh-CN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各种型号的单片机和控制器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在数字信息的传输过程中，有时需要从多路并行传送的数据中选通一路送到唯一的输出线上，这时就要用到数据选择器，亦称为多路转换器、多路调制器、多路开关（简称</a:t>
            </a:r>
            <a:r>
              <a:rPr lang="en-US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MUX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 </a:t>
            </a:r>
            <a:r>
              <a:rPr lang="en-US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Multiplexer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）。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72"/>
          <p:cNvSpPr txBox="1">
            <a:spLocks noChangeArrowheads="1"/>
          </p:cNvSpPr>
          <p:nvPr/>
        </p:nvSpPr>
        <p:spPr bwMode="auto">
          <a:xfrm>
            <a:off x="4572000" y="17335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1</a:t>
            </a:r>
            <a:endParaRPr lang="en-US" altLang="zh-CN" sz="1400" b="1" dirty="0"/>
          </a:p>
        </p:txBody>
      </p:sp>
      <p:grpSp>
        <p:nvGrpSpPr>
          <p:cNvPr id="8" name="组合 7"/>
          <p:cNvGrpSpPr/>
          <p:nvPr/>
        </p:nvGrpSpPr>
        <p:grpSpPr>
          <a:xfrm>
            <a:off x="1371600" y="1581151"/>
            <a:ext cx="2335854" cy="3124200"/>
            <a:chOff x="91800" y="1108206"/>
            <a:chExt cx="2906484" cy="3987005"/>
          </a:xfrm>
        </p:grpSpPr>
        <p:grpSp>
          <p:nvGrpSpPr>
            <p:cNvPr id="9" name="Group 1056"/>
            <p:cNvGrpSpPr>
              <a:grpSpLocks/>
            </p:cNvGrpSpPr>
            <p:nvPr/>
          </p:nvGrpSpPr>
          <p:grpSpPr bwMode="auto">
            <a:xfrm>
              <a:off x="381000" y="1200150"/>
              <a:ext cx="2514600" cy="3048000"/>
              <a:chOff x="703" y="1706"/>
              <a:chExt cx="1920" cy="1968"/>
            </a:xfrm>
          </p:grpSpPr>
          <p:pic>
            <p:nvPicPr>
              <p:cNvPr id="17" name="Picture 1029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703" y="1706"/>
                <a:ext cx="1920" cy="19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Rectangle 1055"/>
              <p:cNvSpPr>
                <a:spLocks noChangeArrowheads="1"/>
              </p:cNvSpPr>
              <p:nvPr/>
            </p:nvSpPr>
            <p:spPr bwMode="auto">
              <a:xfrm>
                <a:off x="1632" y="3456"/>
                <a:ext cx="240" cy="144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Text Box 1057"/>
            <p:cNvSpPr txBox="1">
              <a:spLocks noChangeArrowheads="1"/>
            </p:cNvSpPr>
            <p:nvPr/>
          </p:nvSpPr>
          <p:spPr bwMode="auto">
            <a:xfrm>
              <a:off x="91800" y="1108206"/>
              <a:ext cx="597114" cy="1166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>
                  <a:latin typeface="+mj-lt"/>
                </a:rPr>
                <a:t>D</a:t>
              </a:r>
              <a:r>
                <a:rPr kumimoji="1" lang="en-US" altLang="zh-CN" sz="1600" baseline="-25000" dirty="0">
                  <a:latin typeface="+mj-lt"/>
                </a:rPr>
                <a:t>0</a:t>
              </a: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1" name="Text Box 1057"/>
            <p:cNvSpPr txBox="1">
              <a:spLocks noChangeArrowheads="1"/>
            </p:cNvSpPr>
            <p:nvPr/>
          </p:nvSpPr>
          <p:spPr bwMode="auto">
            <a:xfrm>
              <a:off x="91800" y="1580520"/>
              <a:ext cx="597114" cy="1166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2" name="Text Box 1057"/>
            <p:cNvSpPr txBox="1">
              <a:spLocks noChangeArrowheads="1"/>
            </p:cNvSpPr>
            <p:nvPr/>
          </p:nvSpPr>
          <p:spPr bwMode="auto">
            <a:xfrm>
              <a:off x="91800" y="2022606"/>
              <a:ext cx="597114" cy="1166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2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3" name="Text Box 1057"/>
            <p:cNvSpPr txBox="1">
              <a:spLocks noChangeArrowheads="1"/>
            </p:cNvSpPr>
            <p:nvPr/>
          </p:nvSpPr>
          <p:spPr bwMode="auto">
            <a:xfrm>
              <a:off x="91800" y="2472249"/>
              <a:ext cx="597114" cy="1166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D</a:t>
              </a:r>
              <a:r>
                <a:rPr kumimoji="1" lang="en-US" altLang="zh-CN" sz="1600" baseline="-25000" dirty="0" smtClean="0">
                  <a:latin typeface="+mj-lt"/>
                </a:rPr>
                <a:t>3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4" name="Text Box 1057"/>
            <p:cNvSpPr txBox="1">
              <a:spLocks noChangeArrowheads="1"/>
            </p:cNvSpPr>
            <p:nvPr/>
          </p:nvSpPr>
          <p:spPr bwMode="auto">
            <a:xfrm>
              <a:off x="1119630" y="3920049"/>
              <a:ext cx="584026" cy="116656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A</a:t>
              </a:r>
              <a:r>
                <a:rPr kumimoji="1" lang="en-US" altLang="zh-CN" sz="1600" baseline="-25000" dirty="0" smtClean="0">
                  <a:latin typeface="+mj-lt"/>
                </a:rPr>
                <a:t>0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5" name="Text Box 1057"/>
            <p:cNvSpPr txBox="1">
              <a:spLocks noChangeArrowheads="1"/>
            </p:cNvSpPr>
            <p:nvPr/>
          </p:nvSpPr>
          <p:spPr bwMode="auto">
            <a:xfrm>
              <a:off x="660690" y="3928648"/>
              <a:ext cx="557250" cy="1166563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A</a:t>
              </a:r>
              <a:r>
                <a:rPr kumimoji="1" lang="en-US" altLang="zh-CN" sz="1600" baseline="-25000" dirty="0" smtClean="0">
                  <a:latin typeface="+mj-lt"/>
                </a:rPr>
                <a:t>1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  <p:sp>
          <p:nvSpPr>
            <p:cNvPr id="16" name="Text Box 1057"/>
            <p:cNvSpPr txBox="1">
              <a:spLocks noChangeArrowheads="1"/>
            </p:cNvSpPr>
            <p:nvPr/>
          </p:nvSpPr>
          <p:spPr bwMode="auto">
            <a:xfrm>
              <a:off x="2590800" y="1962150"/>
              <a:ext cx="407484" cy="102797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kumimoji="1" lang="en-US" altLang="zh-CN" sz="1600" dirty="0" smtClean="0">
                  <a:latin typeface="+mj-lt"/>
                </a:rPr>
                <a:t>Y</a:t>
              </a:r>
              <a:endParaRPr kumimoji="1" lang="en-US" altLang="zh-CN" sz="1600" baseline="-25000" dirty="0">
                <a:latin typeface="+mj-lt"/>
              </a:endParaRPr>
            </a:p>
            <a:p>
              <a:pPr eaLnBrk="1" hangingPunct="1">
                <a:lnSpc>
                  <a:spcPct val="130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kumimoji="1" lang="en-US" altLang="zh-CN" sz="1600" baseline="-25000" dirty="0">
                <a:latin typeface="+mj-lt"/>
              </a:endParaRPr>
            </a:p>
            <a:p>
              <a:pPr eaLnBrk="1" hangingPunct="1"/>
              <a:endParaRPr kumimoji="1" lang="en-US" altLang="zh-CN" sz="2400" dirty="0">
                <a:latin typeface="Tahoma" pitchFamily="34" charset="0"/>
              </a:endParaRPr>
            </a:p>
          </p:txBody>
        </p:sp>
      </p:grpSp>
      <p:sp>
        <p:nvSpPr>
          <p:cNvPr id="32" name="Text Box 72"/>
          <p:cNvSpPr txBox="1">
            <a:spLocks noChangeArrowheads="1"/>
          </p:cNvSpPr>
          <p:nvPr/>
        </p:nvSpPr>
        <p:spPr bwMode="auto">
          <a:xfrm>
            <a:off x="1905000" y="41719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3886200" y="2114550"/>
          <a:ext cx="2590800" cy="2447925"/>
        </p:xfrm>
        <a:graphic>
          <a:graphicData uri="http://schemas.openxmlformats.org/presentationml/2006/ole">
            <p:oleObj spid="_x0000_s107523" name="Visio" r:id="rId4" imgW="1990401" imgH="1494511" progId="Visio.Drawing.11">
              <p:embed/>
            </p:oleObj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6324600" y="1733550"/>
          <a:ext cx="2443163" cy="2274888"/>
        </p:xfrm>
        <a:graphic>
          <a:graphicData uri="http://schemas.openxmlformats.org/presentationml/2006/ole">
            <p:oleObj spid="_x0000_s107524" name="Visio" r:id="rId5" imgW="2295329" imgH="2195410" progId="Visio.Drawing.11">
              <p:embed/>
            </p:oleObj>
          </a:graphicData>
        </a:graphic>
      </p:graphicFrame>
      <p:sp>
        <p:nvSpPr>
          <p:cNvPr id="21" name="Text Box 90"/>
          <p:cNvSpPr txBox="1">
            <a:spLocks noChangeArrowheads="1"/>
          </p:cNvSpPr>
          <p:nvPr/>
        </p:nvSpPr>
        <p:spPr bwMode="auto">
          <a:xfrm>
            <a:off x="7467600" y="4171950"/>
            <a:ext cx="516488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6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kumimoji="1" lang="en-US" altLang="zh-CN" sz="1600" dirty="0" smtClean="0">
                <a:latin typeface="微软雅黑" pitchFamily="34" charset="-122"/>
                <a:ea typeface="微软雅黑" pitchFamily="34" charset="-122"/>
              </a:rPr>
              <a:t>2</a:t>
            </a:r>
            <a:endParaRPr kumimoji="1"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2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8439" name="Picture 7" descr="C:\Users\hfutliujun\AppData\Roaming\Tencent\Users\350654676\QQ\WinTemp\RichOle\@_YM6][47BKAGR4S0_ZX~O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352550"/>
            <a:ext cx="3182300" cy="2876550"/>
          </a:xfrm>
          <a:prstGeom prst="rect">
            <a:avLst/>
          </a:prstGeom>
          <a:noFill/>
        </p:spPr>
      </p:pic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877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数据选择器（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MUX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在数字信息的传输过程中，有时需要从多路并行传送的数据中选通一路送到唯一的输出线上，这时就要用到数据选择器，亦称为多路转换器、多路调制器、多路开关（简称</a:t>
            </a:r>
            <a:r>
              <a:rPr lang="en-US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MUX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： </a:t>
            </a:r>
            <a:r>
              <a:rPr lang="en-US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Multiplexer</a:t>
            </a:r>
            <a:r>
              <a:rPr lang="zh-CN" altLang="zh-CN" sz="14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）。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800600" y="1885950"/>
          <a:ext cx="3368043" cy="2287587"/>
        </p:xfrm>
        <a:graphic>
          <a:graphicData uri="http://schemas.openxmlformats.org/presentationml/2006/ole">
            <p:oleObj spid="_x0000_s18441" name="Visio" r:id="rId4" imgW="2251883" imgH="1932674" progId="Visio.Drawing.11">
              <p:embed/>
            </p:oleObj>
          </a:graphicData>
        </a:graphic>
      </p:graphicFrame>
      <p:sp>
        <p:nvSpPr>
          <p:cNvPr id="32" name="Text Box 72"/>
          <p:cNvSpPr txBox="1">
            <a:spLocks noChangeArrowheads="1"/>
          </p:cNvSpPr>
          <p:nvPr/>
        </p:nvSpPr>
        <p:spPr bwMode="auto">
          <a:xfrm>
            <a:off x="2362200" y="43243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  <p:sp>
        <p:nvSpPr>
          <p:cNvPr id="34" name="Text Box 72"/>
          <p:cNvSpPr txBox="1">
            <a:spLocks noChangeArrowheads="1"/>
          </p:cNvSpPr>
          <p:nvPr/>
        </p:nvSpPr>
        <p:spPr bwMode="auto">
          <a:xfrm>
            <a:off x="5715000" y="19621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2</a:t>
            </a:r>
            <a:endParaRPr lang="en-US" altLang="zh-CN" sz="1400" b="1" dirty="0"/>
          </a:p>
        </p:txBody>
      </p:sp>
      <p:sp>
        <p:nvSpPr>
          <p:cNvPr id="8" name="椭圆 7"/>
          <p:cNvSpPr/>
          <p:nvPr/>
        </p:nvSpPr>
        <p:spPr>
          <a:xfrm>
            <a:off x="799785" y="3661221"/>
            <a:ext cx="304800" cy="304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数据选择器的逻辑原理图：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6" descr="未命名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D8EBDA"/>
              </a:clrFrom>
              <a:clrTo>
                <a:srgbClr val="D8EBDA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09800" y="1352550"/>
            <a:ext cx="3852058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72"/>
          <p:cNvSpPr txBox="1">
            <a:spLocks noChangeArrowheads="1"/>
          </p:cNvSpPr>
          <p:nvPr/>
        </p:nvSpPr>
        <p:spPr bwMode="auto">
          <a:xfrm>
            <a:off x="3657600" y="39433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4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3581400" y="32575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  <p:pic>
        <p:nvPicPr>
          <p:cNvPr id="103425" name="Picture 1" descr="C:\Users\hfutliujun\AppData\Roaming\Tencent\Users\350654676\QQ\WinTemp\RichOle\OM@%V3CUFCEH268NS1AHT8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276350"/>
            <a:ext cx="3943350" cy="1905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的逻辑符号和结构：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4419600" y="1352550"/>
            <a:ext cx="7899400" cy="1600200"/>
            <a:chOff x="4419600" y="1352550"/>
            <a:chExt cx="7899400" cy="1600200"/>
          </a:xfrm>
        </p:grpSpPr>
        <p:sp>
          <p:nvSpPr>
            <p:cNvPr id="40" name="Text Box 4"/>
            <p:cNvSpPr txBox="1">
              <a:spLocks noChangeArrowheads="1"/>
            </p:cNvSpPr>
            <p:nvPr/>
          </p:nvSpPr>
          <p:spPr bwMode="auto">
            <a:xfrm>
              <a:off x="4419600" y="1352550"/>
              <a:ext cx="7899400" cy="1600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en-US" sz="1400" b="1" dirty="0" smtClean="0">
                <a:latin typeface="黑体" pitchFamily="49" charset="-122"/>
                <a:ea typeface="黑体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1400" b="1" dirty="0" smtClean="0">
                  <a:latin typeface="黑体" pitchFamily="49" charset="-122"/>
                  <a:ea typeface="黑体" pitchFamily="49" charset="-122"/>
                </a:rPr>
                <a:t>   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数据输入端：</a:t>
              </a:r>
              <a:r>
                <a:rPr lang="en-US" altLang="zh-CN" sz="1400" b="1" dirty="0">
                  <a:ea typeface="黑体" pitchFamily="49" charset="-122"/>
                </a:rPr>
                <a:t>D</a:t>
              </a:r>
              <a:r>
                <a:rPr lang="en-US" altLang="zh-CN" sz="1400" b="1" baseline="-2000" dirty="0">
                  <a:ea typeface="黑体" pitchFamily="49" charset="-122"/>
                </a:rPr>
                <a:t>0</a:t>
              </a:r>
              <a:r>
                <a:rPr lang="zh-CN" altLang="en-US" sz="1400" b="1" dirty="0">
                  <a:ea typeface="黑体" pitchFamily="49" charset="-122"/>
                </a:rPr>
                <a:t>，</a:t>
              </a:r>
              <a:r>
                <a:rPr lang="en-US" altLang="zh-CN" sz="1400" b="1" dirty="0">
                  <a:ea typeface="黑体" pitchFamily="49" charset="-122"/>
                </a:rPr>
                <a:t>D</a:t>
              </a:r>
              <a:r>
                <a:rPr lang="en-US" altLang="zh-CN" sz="1400" b="1" baseline="-2000" dirty="0">
                  <a:ea typeface="黑体" pitchFamily="49" charset="-122"/>
                </a:rPr>
                <a:t>1</a:t>
              </a:r>
              <a:r>
                <a:rPr lang="zh-CN" altLang="en-US" sz="1400" b="1" dirty="0">
                  <a:ea typeface="黑体" pitchFamily="49" charset="-122"/>
                </a:rPr>
                <a:t>，</a:t>
              </a:r>
              <a:r>
                <a:rPr lang="en-US" altLang="zh-CN" sz="1400" b="1" dirty="0">
                  <a:ea typeface="黑体" pitchFamily="49" charset="-122"/>
                </a:rPr>
                <a:t>D</a:t>
              </a:r>
              <a:r>
                <a:rPr lang="en-US" altLang="zh-CN" sz="1400" b="1" baseline="-2000" dirty="0">
                  <a:ea typeface="黑体" pitchFamily="49" charset="-122"/>
                </a:rPr>
                <a:t>2</a:t>
              </a:r>
              <a:r>
                <a:rPr lang="zh-CN" altLang="en-US" sz="1400" b="1" dirty="0">
                  <a:ea typeface="黑体" pitchFamily="49" charset="-122"/>
                </a:rPr>
                <a:t>，</a:t>
              </a:r>
              <a:r>
                <a:rPr lang="en-US" altLang="zh-CN" sz="1400" b="1" dirty="0">
                  <a:ea typeface="黑体" pitchFamily="49" charset="-122"/>
                </a:rPr>
                <a:t>D</a:t>
              </a:r>
              <a:r>
                <a:rPr lang="en-US" altLang="zh-CN" sz="1400" b="1" baseline="-2000" dirty="0">
                  <a:ea typeface="黑体" pitchFamily="49" charset="-122"/>
                </a:rPr>
                <a:t>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黑体" pitchFamily="49" charset="-122"/>
                  <a:ea typeface="黑体" pitchFamily="49" charset="-122"/>
                </a:rPr>
                <a:t>   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数据输出端：</a:t>
              </a:r>
              <a:r>
                <a:rPr lang="en-US" altLang="zh-CN" sz="1400" b="1" dirty="0">
                  <a:ea typeface="黑体" pitchFamily="49" charset="-122"/>
                </a:rPr>
                <a:t>Y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黑体" pitchFamily="49" charset="-122"/>
                  <a:ea typeface="黑体" pitchFamily="49" charset="-122"/>
                </a:rPr>
                <a:t>   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通道选择端：</a:t>
              </a:r>
              <a:r>
                <a:rPr lang="en-US" altLang="zh-CN" sz="1400" b="1" dirty="0">
                  <a:ea typeface="黑体" pitchFamily="49" charset="-122"/>
                </a:rPr>
                <a:t>A</a:t>
              </a:r>
              <a:r>
                <a:rPr lang="en-US" altLang="zh-CN" sz="1400" b="1" baseline="-2000" dirty="0"/>
                <a:t>0</a:t>
              </a:r>
              <a:r>
                <a:rPr lang="zh-CN" altLang="en-US" sz="1400" b="1" dirty="0">
                  <a:ea typeface="黑体" pitchFamily="49" charset="-122"/>
                </a:rPr>
                <a:t>，</a:t>
              </a:r>
              <a:r>
                <a:rPr lang="en-US" altLang="zh-CN" sz="1400" b="1" dirty="0">
                  <a:ea typeface="黑体" pitchFamily="49" charset="-122"/>
                </a:rPr>
                <a:t>A</a:t>
              </a:r>
              <a:r>
                <a:rPr lang="en-US" altLang="zh-CN" sz="1400" b="1" baseline="-2000" dirty="0"/>
                <a:t>1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latin typeface="黑体" pitchFamily="49" charset="-122"/>
                  <a:ea typeface="黑体" pitchFamily="49" charset="-122"/>
                </a:rPr>
                <a:t>   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使能输入端：</a:t>
              </a:r>
              <a:r>
                <a:rPr lang="en-US" altLang="zh-CN" sz="1400" b="1" dirty="0">
                  <a:ea typeface="黑体" pitchFamily="49" charset="-122"/>
                </a:rPr>
                <a:t>ST </a:t>
              </a:r>
              <a:r>
                <a:rPr lang="en-US" altLang="zh-CN" sz="1400" b="1" dirty="0">
                  <a:latin typeface="Century" pitchFamily="18" charset="0"/>
                </a:rPr>
                <a:t>(</a:t>
              </a:r>
              <a:r>
                <a:rPr lang="zh-CN" altLang="en-US" sz="1400" b="1" dirty="0">
                  <a:latin typeface="黑体" pitchFamily="49" charset="-122"/>
                  <a:ea typeface="黑体" pitchFamily="49" charset="-122"/>
                </a:rPr>
                <a:t>使能控制端，低电平有效</a:t>
              </a:r>
              <a:r>
                <a:rPr lang="en-US" altLang="zh-CN" sz="1400" b="1" dirty="0">
                  <a:latin typeface="Century" pitchFamily="18" charset="0"/>
                  <a:ea typeface="黑体" pitchFamily="49" charset="-122"/>
                </a:rPr>
                <a:t>)</a:t>
              </a:r>
            </a:p>
          </p:txBody>
        </p:sp>
        <p:sp>
          <p:nvSpPr>
            <p:cNvPr id="41" name="Line 5"/>
            <p:cNvSpPr>
              <a:spLocks noChangeShapeType="1"/>
            </p:cNvSpPr>
            <p:nvPr/>
          </p:nvSpPr>
          <p:spPr bwMode="auto">
            <a:xfrm>
              <a:off x="5867400" y="2685735"/>
              <a:ext cx="228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2133600" y="31813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6</a:t>
            </a:r>
            <a:endParaRPr lang="en-US" altLang="zh-CN" sz="1400" b="1" dirty="0"/>
          </a:p>
        </p:txBody>
      </p:sp>
      <p:pic>
        <p:nvPicPr>
          <p:cNvPr id="103426" name="Picture 2" descr="C:\Users\hfutliujun\AppData\Roaming\Tencent\Users\350654676\QQ\WinTemp\RichOle\SMKJ(5JDQP_34WTT@CWII[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76350"/>
            <a:ext cx="3648075" cy="1913419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1447800" y="20383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1#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203835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</a:rPr>
              <a:t>#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管脚图：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72"/>
          <p:cNvSpPr txBox="1">
            <a:spLocks noChangeArrowheads="1"/>
          </p:cNvSpPr>
          <p:nvPr/>
        </p:nvSpPr>
        <p:spPr bwMode="auto">
          <a:xfrm>
            <a:off x="1371600" y="33337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5</a:t>
            </a:r>
            <a:endParaRPr lang="en-US" altLang="zh-CN" sz="1400" b="1" dirty="0"/>
          </a:p>
        </p:txBody>
      </p:sp>
      <p:pic>
        <p:nvPicPr>
          <p:cNvPr id="103425" name="Picture 1" descr="C:\Users\hfutliujun\AppData\Roaming\Tencent\Users\350654676\QQ\WinTemp\RichOle\OM@%V3CUFCEH268NS1AHT8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809750"/>
            <a:ext cx="2996946" cy="1447800"/>
          </a:xfrm>
          <a:prstGeom prst="rect">
            <a:avLst/>
          </a:prstGeom>
          <a:noFill/>
        </p:spPr>
      </p:pic>
      <p:pic>
        <p:nvPicPr>
          <p:cNvPr id="109570" name="Picture 2" descr="74LS15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-120000">
            <a:off x="4976367" y="1782325"/>
            <a:ext cx="2819400" cy="138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72"/>
          <p:cNvSpPr txBox="1">
            <a:spLocks noChangeArrowheads="1"/>
          </p:cNvSpPr>
          <p:nvPr/>
        </p:nvSpPr>
        <p:spPr bwMode="auto">
          <a:xfrm>
            <a:off x="6096000" y="32575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图 </a:t>
            </a:r>
            <a:r>
              <a:rPr lang="en-US" altLang="zh-CN" sz="1400" b="1" dirty="0" smtClean="0"/>
              <a:t>7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的逻辑功能表：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Group 98"/>
          <p:cNvGraphicFramePr>
            <a:graphicFrameLocks noGrp="1"/>
          </p:cNvGraphicFramePr>
          <p:nvPr/>
        </p:nvGraphicFramePr>
        <p:xfrm>
          <a:off x="609600" y="1504950"/>
          <a:ext cx="7745412" cy="2507457"/>
        </p:xfrm>
        <a:graphic>
          <a:graphicData uri="http://schemas.openxmlformats.org/drawingml/2006/table">
            <a:tbl>
              <a:tblPr/>
              <a:tblGrid>
                <a:gridCol w="1743075"/>
                <a:gridCol w="3233737"/>
                <a:gridCol w="1550988"/>
                <a:gridCol w="1217612"/>
              </a:tblGrid>
              <a:tr h="35480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 pitchFamily="2" charset="-122"/>
                        </a:rPr>
                        <a:t>通道选择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 pitchFamily="2" charset="-122"/>
                        </a:rPr>
                        <a:t>数据输入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 pitchFamily="2" charset="-122"/>
                        </a:rPr>
                        <a:t>使能输入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华文中宋" pitchFamily="2" charset="-122"/>
                        </a:rPr>
                        <a:t>输出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A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A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1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Y 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    ×  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   ×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   ×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0       0 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     ×     ×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0       1    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 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95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1       0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 ×      ×  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   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×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1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1       1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  <a:cs typeface="Times New Roman" pitchFamily="18" charset="0"/>
                        </a:rPr>
                        <a:t> ×      ×       ×    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D</a:t>
                      </a:r>
                      <a:r>
                        <a:rPr kumimoji="1" lang="en-US" altLang="zh-CN" sz="18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10" name="Group 93"/>
          <p:cNvGrpSpPr>
            <a:grpSpLocks/>
          </p:cNvGrpSpPr>
          <p:nvPr/>
        </p:nvGrpSpPr>
        <p:grpSpPr bwMode="auto">
          <a:xfrm>
            <a:off x="6096000" y="1885954"/>
            <a:ext cx="609600" cy="369217"/>
            <a:chOff x="1474" y="2484"/>
            <a:chExt cx="484" cy="470"/>
          </a:xfrm>
        </p:grpSpPr>
        <p:sp>
          <p:nvSpPr>
            <p:cNvPr id="11" name="Text Box 94"/>
            <p:cNvSpPr txBox="1">
              <a:spLocks noChangeArrowheads="1"/>
            </p:cNvSpPr>
            <p:nvPr/>
          </p:nvSpPr>
          <p:spPr bwMode="auto">
            <a:xfrm>
              <a:off x="1474" y="2484"/>
              <a:ext cx="484" cy="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b="1" dirty="0"/>
                <a:t>ST</a:t>
              </a:r>
            </a:p>
          </p:txBody>
        </p:sp>
        <p:sp>
          <p:nvSpPr>
            <p:cNvPr id="12" name="Line 95"/>
            <p:cNvSpPr>
              <a:spLocks noChangeShapeType="1"/>
            </p:cNvSpPr>
            <p:nvPr/>
          </p:nvSpPr>
          <p:spPr bwMode="auto">
            <a:xfrm>
              <a:off x="1552" y="2542"/>
              <a:ext cx="2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Text Box 72"/>
          <p:cNvSpPr txBox="1">
            <a:spLocks noChangeArrowheads="1"/>
          </p:cNvSpPr>
          <p:nvPr/>
        </p:nvSpPr>
        <p:spPr bwMode="auto">
          <a:xfrm>
            <a:off x="3962400" y="1123950"/>
            <a:ext cx="658469" cy="30704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</a:t>
            </a:r>
            <a:r>
              <a:rPr lang="en-US" altLang="zh-CN" sz="1400" b="1" dirty="0" smtClean="0"/>
              <a:t>3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的表达式：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1828800" y="1733550"/>
          <a:ext cx="1598612" cy="877490"/>
        </p:xfrm>
        <a:graphic>
          <a:graphicData uri="http://schemas.openxmlformats.org/presentationml/2006/ole">
            <p:oleObj spid="_x0000_s67586" name="Equation" r:id="rId3" imgW="761760" imgH="558720" progId="Equation.DSMT4">
              <p:embed/>
            </p:oleObj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371600" y="3028950"/>
            <a:ext cx="738028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/>
              <a:t>m</a:t>
            </a:r>
            <a:r>
              <a:rPr lang="en-US" altLang="zh-CN" sz="1600" b="1" baseline="-5000" dirty="0"/>
              <a:t>i </a:t>
            </a:r>
            <a:r>
              <a:rPr lang="en-US" altLang="zh-CN" sz="1600" b="1" dirty="0">
                <a:latin typeface="Century" pitchFamily="18" charset="0"/>
              </a:rPr>
              <a:t>(</a:t>
            </a:r>
            <a:r>
              <a:rPr lang="en-US" altLang="zh-CN" sz="1600" b="1" dirty="0" err="1"/>
              <a:t>i</a:t>
            </a:r>
            <a:r>
              <a:rPr lang="en-US" altLang="zh-CN" sz="1600" b="1" dirty="0"/>
              <a:t>=0,1,2,3</a:t>
            </a:r>
            <a:r>
              <a:rPr lang="en-US" altLang="zh-CN" sz="1600" b="1" dirty="0">
                <a:latin typeface="Century" pitchFamily="18" charset="0"/>
              </a:rPr>
              <a:t>)</a:t>
            </a:r>
            <a:r>
              <a:rPr lang="zh-CN" altLang="en-US" sz="1600" b="1" dirty="0">
                <a:ea typeface="华文中宋" pitchFamily="2" charset="-122"/>
              </a:rPr>
              <a:t>是两个通道选择</a:t>
            </a:r>
            <a:r>
              <a:rPr lang="en-US" altLang="zh-CN" sz="1600" b="1" dirty="0">
                <a:latin typeface="Century" pitchFamily="18" charset="0"/>
              </a:rPr>
              <a:t>(</a:t>
            </a:r>
            <a:r>
              <a:rPr lang="en-US" altLang="zh-CN" sz="1600" b="1" dirty="0"/>
              <a:t>A</a:t>
            </a:r>
            <a:r>
              <a:rPr lang="en-US" altLang="zh-CN" sz="1600" b="1" baseline="-5000" dirty="0"/>
              <a:t>1 </a:t>
            </a:r>
            <a:r>
              <a:rPr lang="en-US" altLang="zh-CN" sz="1600" b="1" dirty="0"/>
              <a:t>,</a:t>
            </a:r>
            <a:r>
              <a:rPr lang="en-US" altLang="zh-CN" sz="1600" dirty="0"/>
              <a:t> </a:t>
            </a:r>
            <a:r>
              <a:rPr lang="en-US" altLang="zh-CN" sz="1600" b="1" dirty="0"/>
              <a:t>A</a:t>
            </a:r>
            <a:r>
              <a:rPr lang="en-US" altLang="zh-CN" sz="1600" b="1" baseline="-5000" dirty="0"/>
              <a:t>0</a:t>
            </a:r>
            <a:r>
              <a:rPr lang="en-US" altLang="zh-CN" sz="1600" b="1" dirty="0">
                <a:latin typeface="Century" pitchFamily="18" charset="0"/>
              </a:rPr>
              <a:t>)</a:t>
            </a:r>
            <a:r>
              <a:rPr lang="zh-CN" altLang="en-US" sz="1600" b="1" dirty="0">
                <a:latin typeface="华文中宋" pitchFamily="2" charset="-122"/>
                <a:ea typeface="华文中宋" pitchFamily="2" charset="-122"/>
              </a:rPr>
              <a:t>的</a:t>
            </a:r>
            <a:r>
              <a:rPr lang="en-US" altLang="zh-CN" sz="1600" b="1" dirty="0">
                <a:ea typeface="华文中宋" pitchFamily="2" charset="-122"/>
              </a:rPr>
              <a:t>4</a:t>
            </a:r>
            <a:r>
              <a:rPr lang="zh-CN" altLang="en-US" sz="1600" b="1" dirty="0">
                <a:latin typeface="华文中宋" pitchFamily="2" charset="-122"/>
                <a:ea typeface="华文中宋" pitchFamily="2" charset="-122"/>
              </a:rPr>
              <a:t>个最小项</a:t>
            </a:r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/>
        </p:nvGraphicFramePr>
        <p:xfrm>
          <a:off x="1524000" y="1352550"/>
          <a:ext cx="5197475" cy="398860"/>
        </p:xfrm>
        <a:graphic>
          <a:graphicData uri="http://schemas.openxmlformats.org/presentationml/2006/ole">
            <p:oleObj spid="_x0000_s67587" name="Equation" r:id="rId4" imgW="247644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09600" y="1276350"/>
            <a:ext cx="7061200" cy="2650331"/>
            <a:chOff x="624" y="1048"/>
            <a:chExt cx="4448" cy="2226"/>
          </a:xfrm>
        </p:grpSpPr>
        <p:sp>
          <p:nvSpPr>
            <p:cNvPr id="60422" name="Rectangle 4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23" name="Line 5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4" name="Text Box 6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1Y</a:t>
              </a:r>
            </a:p>
          </p:txBody>
        </p:sp>
        <p:sp>
          <p:nvSpPr>
            <p:cNvPr id="60425" name="Text Box 7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2000"/>
                <a:t>1</a:t>
              </a:r>
            </a:p>
          </p:txBody>
        </p:sp>
        <p:sp>
          <p:nvSpPr>
            <p:cNvPr id="60426" name="Text Box 8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2000"/>
                <a:t>0</a:t>
              </a:r>
            </a:p>
          </p:txBody>
        </p:sp>
        <p:sp>
          <p:nvSpPr>
            <p:cNvPr id="60427" name="Text Box 9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ST  1D</a:t>
              </a:r>
              <a:r>
                <a:rPr lang="en-US" altLang="zh-CN" sz="2000" b="1" baseline="-2000"/>
                <a:t>0</a:t>
              </a:r>
              <a:r>
                <a:rPr lang="en-US" altLang="zh-CN" sz="2000" b="1"/>
                <a:t>  1D</a:t>
              </a:r>
              <a:r>
                <a:rPr lang="en-US" altLang="zh-CN" sz="2000" b="1" baseline="-2000"/>
                <a:t>1</a:t>
              </a:r>
              <a:r>
                <a:rPr lang="en-US" altLang="zh-CN" sz="2000" b="1"/>
                <a:t>  1D</a:t>
              </a:r>
              <a:r>
                <a:rPr lang="en-US" altLang="zh-CN" sz="2000" b="1" baseline="-2000"/>
                <a:t>2</a:t>
              </a:r>
              <a:r>
                <a:rPr lang="en-US" altLang="zh-CN" sz="2000" b="1"/>
                <a:t>  1D</a:t>
              </a:r>
              <a:r>
                <a:rPr lang="en-US" altLang="zh-CN" sz="2000" b="1" baseline="-2000"/>
                <a:t>3</a:t>
              </a:r>
            </a:p>
          </p:txBody>
        </p:sp>
        <p:sp>
          <p:nvSpPr>
            <p:cNvPr id="60428" name="Line 10"/>
            <p:cNvSpPr>
              <a:spLocks noChangeShapeType="1"/>
            </p:cNvSpPr>
            <p:nvPr/>
          </p:nvSpPr>
          <p:spPr bwMode="auto">
            <a:xfrm>
              <a:off x="1216" y="2568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Text Box 11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2Y</a:t>
              </a:r>
            </a:p>
          </p:txBody>
        </p:sp>
        <p:sp>
          <p:nvSpPr>
            <p:cNvPr id="60430" name="Text Box 12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3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ST  2D</a:t>
              </a:r>
              <a:r>
                <a:rPr lang="en-US" altLang="zh-CN" sz="2000" b="1" baseline="-2000"/>
                <a:t>0</a:t>
              </a:r>
              <a:r>
                <a:rPr lang="en-US" altLang="zh-CN" sz="2000" b="1"/>
                <a:t>  2D</a:t>
              </a:r>
              <a:r>
                <a:rPr lang="en-US" altLang="zh-CN" sz="2000" b="1" baseline="-2000"/>
                <a:t>1</a:t>
              </a:r>
              <a:r>
                <a:rPr lang="en-US" altLang="zh-CN" sz="2000" b="1"/>
                <a:t>  2D</a:t>
              </a:r>
              <a:r>
                <a:rPr lang="en-US" altLang="zh-CN" sz="2000" b="1" baseline="-2000"/>
                <a:t>2</a:t>
              </a:r>
              <a:r>
                <a:rPr lang="en-US" altLang="zh-CN" sz="2000" b="1"/>
                <a:t>  2D</a:t>
              </a:r>
              <a:r>
                <a:rPr lang="en-US" altLang="zh-CN" sz="2000" b="1" baseline="-2000"/>
                <a:t>3</a:t>
              </a:r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3208" y="2584"/>
              <a:ext cx="2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4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15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16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17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18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Line 19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8" name="Line 20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9" name="Line 21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0" name="Line 22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1" name="Line 23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2" name="Line 24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3" name="Line 25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4" name="Oval 26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5" name="Oval 27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446" name="Line 28"/>
            <p:cNvSpPr>
              <a:spLocks noChangeShapeType="1"/>
            </p:cNvSpPr>
            <p:nvPr/>
          </p:nvSpPr>
          <p:spPr bwMode="auto">
            <a:xfrm>
              <a:off x="2012" y="10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47" name="Line 29"/>
            <p:cNvSpPr>
              <a:spLocks noChangeShapeType="1"/>
            </p:cNvSpPr>
            <p:nvPr/>
          </p:nvSpPr>
          <p:spPr bwMode="auto">
            <a:xfrm>
              <a:off x="4010" y="10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419" name="Text Box 30"/>
          <p:cNvSpPr txBox="1">
            <a:spLocks noChangeArrowheads="1"/>
          </p:cNvSpPr>
          <p:nvPr/>
        </p:nvSpPr>
        <p:spPr bwMode="auto">
          <a:xfrm>
            <a:off x="3563938" y="2496740"/>
            <a:ext cx="7461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/>
              <a:t>1#</a:t>
            </a:r>
          </a:p>
        </p:txBody>
      </p:sp>
      <p:sp>
        <p:nvSpPr>
          <p:cNvPr id="60420" name="Text Box 31"/>
          <p:cNvSpPr txBox="1">
            <a:spLocks noChangeArrowheads="1"/>
          </p:cNvSpPr>
          <p:nvPr/>
        </p:nvSpPr>
        <p:spPr bwMode="auto">
          <a:xfrm>
            <a:off x="6718301" y="2515790"/>
            <a:ext cx="7461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/>
              <a:t>2#</a:t>
            </a:r>
          </a:p>
        </p:txBody>
      </p:sp>
      <p:sp>
        <p:nvSpPr>
          <p:cNvPr id="32" name="矩形 31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的功能扩展（八选一）：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1577575"/>
            <a:ext cx="7061200" cy="2471737"/>
            <a:chOff x="624" y="1198"/>
            <a:chExt cx="4448" cy="2076"/>
          </a:xfrm>
        </p:grpSpPr>
        <p:sp>
          <p:nvSpPr>
            <p:cNvPr id="61473" name="Rectangle 3"/>
            <p:cNvSpPr>
              <a:spLocks noChangeArrowheads="1"/>
            </p:cNvSpPr>
            <p:nvPr/>
          </p:nvSpPr>
          <p:spPr bwMode="auto">
            <a:xfrm>
              <a:off x="1064" y="1432"/>
              <a:ext cx="3896" cy="140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74" name="Line 4"/>
            <p:cNvSpPr>
              <a:spLocks noChangeShapeType="1"/>
            </p:cNvSpPr>
            <p:nvPr/>
          </p:nvSpPr>
          <p:spPr bwMode="auto">
            <a:xfrm>
              <a:off x="3016" y="1432"/>
              <a:ext cx="0" cy="1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75" name="Text Box 5"/>
            <p:cNvSpPr txBox="1">
              <a:spLocks noChangeArrowheads="1"/>
            </p:cNvSpPr>
            <p:nvPr/>
          </p:nvSpPr>
          <p:spPr bwMode="auto">
            <a:xfrm>
              <a:off x="1872" y="145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1Y</a:t>
              </a:r>
            </a:p>
          </p:txBody>
        </p:sp>
        <p:sp>
          <p:nvSpPr>
            <p:cNvPr id="61476" name="Text Box 6"/>
            <p:cNvSpPr txBox="1">
              <a:spLocks noChangeArrowheads="1"/>
            </p:cNvSpPr>
            <p:nvPr/>
          </p:nvSpPr>
          <p:spPr bwMode="auto">
            <a:xfrm>
              <a:off x="640" y="1653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61477" name="Text Box 7"/>
            <p:cNvSpPr txBox="1">
              <a:spLocks noChangeArrowheads="1"/>
            </p:cNvSpPr>
            <p:nvPr/>
          </p:nvSpPr>
          <p:spPr bwMode="auto">
            <a:xfrm>
              <a:off x="624" y="2206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>
                  <a:solidFill>
                    <a:srgbClr val="0000FF"/>
                  </a:solidFill>
                </a:rPr>
                <a:t>0</a:t>
              </a:r>
            </a:p>
          </p:txBody>
        </p:sp>
        <p:sp>
          <p:nvSpPr>
            <p:cNvPr id="61478" name="Text Box 8"/>
            <p:cNvSpPr txBox="1">
              <a:spLocks noChangeArrowheads="1"/>
            </p:cNvSpPr>
            <p:nvPr/>
          </p:nvSpPr>
          <p:spPr bwMode="auto">
            <a:xfrm>
              <a:off x="1176" y="2552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ST  1D</a:t>
              </a:r>
              <a:r>
                <a:rPr lang="en-US" altLang="zh-CN" sz="1400" b="1" baseline="-2000" dirty="0"/>
                <a:t>0</a:t>
              </a:r>
              <a:r>
                <a:rPr lang="en-US" altLang="zh-CN" sz="1400" b="1" dirty="0"/>
                <a:t>  1D</a:t>
              </a:r>
              <a:r>
                <a:rPr lang="en-US" altLang="zh-CN" sz="1400" b="1" baseline="-2000" dirty="0"/>
                <a:t>1</a:t>
              </a:r>
              <a:r>
                <a:rPr lang="en-US" altLang="zh-CN" sz="1400" b="1" dirty="0"/>
                <a:t>  1D</a:t>
              </a:r>
              <a:r>
                <a:rPr lang="en-US" altLang="zh-CN" sz="1400" b="1" baseline="-2000" dirty="0"/>
                <a:t>2</a:t>
              </a:r>
              <a:r>
                <a:rPr lang="en-US" altLang="zh-CN" sz="1400" b="1" dirty="0"/>
                <a:t>  1D</a:t>
              </a:r>
              <a:r>
                <a:rPr lang="en-US" altLang="zh-CN" sz="1400" b="1" baseline="-2000" dirty="0"/>
                <a:t>3</a:t>
              </a:r>
            </a:p>
          </p:txBody>
        </p:sp>
        <p:sp>
          <p:nvSpPr>
            <p:cNvPr id="61479" name="Line 9"/>
            <p:cNvSpPr>
              <a:spLocks noChangeShapeType="1"/>
            </p:cNvSpPr>
            <p:nvPr/>
          </p:nvSpPr>
          <p:spPr bwMode="auto">
            <a:xfrm>
              <a:off x="1231" y="2568"/>
              <a:ext cx="1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0" name="Text Box 10"/>
            <p:cNvSpPr txBox="1">
              <a:spLocks noChangeArrowheads="1"/>
            </p:cNvSpPr>
            <p:nvPr/>
          </p:nvSpPr>
          <p:spPr bwMode="auto">
            <a:xfrm>
              <a:off x="3856" y="1472"/>
              <a:ext cx="49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2Y</a:t>
              </a:r>
            </a:p>
          </p:txBody>
        </p:sp>
        <p:sp>
          <p:nvSpPr>
            <p:cNvPr id="61481" name="Text Box 11"/>
            <p:cNvSpPr txBox="1">
              <a:spLocks noChangeArrowheads="1"/>
            </p:cNvSpPr>
            <p:nvPr/>
          </p:nvSpPr>
          <p:spPr bwMode="auto">
            <a:xfrm>
              <a:off x="3160" y="2568"/>
              <a:ext cx="191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/>
                <a:t>ST  2D</a:t>
              </a:r>
              <a:r>
                <a:rPr lang="en-US" altLang="zh-CN" sz="1400" b="1" baseline="-2000"/>
                <a:t>0</a:t>
              </a:r>
              <a:r>
                <a:rPr lang="en-US" altLang="zh-CN" sz="1400" b="1"/>
                <a:t>  2D</a:t>
              </a:r>
              <a:r>
                <a:rPr lang="en-US" altLang="zh-CN" sz="1400" b="1" baseline="-2000"/>
                <a:t>1</a:t>
              </a:r>
              <a:r>
                <a:rPr lang="en-US" altLang="zh-CN" sz="1400" b="1"/>
                <a:t>  2D</a:t>
              </a:r>
              <a:r>
                <a:rPr lang="en-US" altLang="zh-CN" sz="1400" b="1" baseline="-2000"/>
                <a:t>2</a:t>
              </a:r>
              <a:r>
                <a:rPr lang="en-US" altLang="zh-CN" sz="1400" b="1"/>
                <a:t>  2D</a:t>
              </a:r>
              <a:r>
                <a:rPr lang="en-US" altLang="zh-CN" sz="1400" b="1" baseline="-2000"/>
                <a:t>3</a:t>
              </a:r>
            </a:p>
          </p:txBody>
        </p:sp>
        <p:sp>
          <p:nvSpPr>
            <p:cNvPr id="61482" name="Line 12"/>
            <p:cNvSpPr>
              <a:spLocks noChangeShapeType="1"/>
            </p:cNvSpPr>
            <p:nvPr/>
          </p:nvSpPr>
          <p:spPr bwMode="auto">
            <a:xfrm>
              <a:off x="3218" y="2584"/>
              <a:ext cx="1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3" name="Line 13"/>
            <p:cNvSpPr>
              <a:spLocks noChangeShapeType="1"/>
            </p:cNvSpPr>
            <p:nvPr/>
          </p:nvSpPr>
          <p:spPr bwMode="auto">
            <a:xfrm flipH="1">
              <a:off x="888" y="1762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4" name="Line 14"/>
            <p:cNvSpPr>
              <a:spLocks noChangeShapeType="1"/>
            </p:cNvSpPr>
            <p:nvPr/>
          </p:nvSpPr>
          <p:spPr bwMode="auto">
            <a:xfrm flipH="1">
              <a:off x="882" y="2323"/>
              <a:ext cx="17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5" name="Line 15"/>
            <p:cNvSpPr>
              <a:spLocks noChangeShapeType="1"/>
            </p:cNvSpPr>
            <p:nvPr/>
          </p:nvSpPr>
          <p:spPr bwMode="auto">
            <a:xfrm>
              <a:off x="1664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6" name="Line 16"/>
            <p:cNvSpPr>
              <a:spLocks noChangeShapeType="1"/>
            </p:cNvSpPr>
            <p:nvPr/>
          </p:nvSpPr>
          <p:spPr bwMode="auto">
            <a:xfrm>
              <a:off x="2011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7" name="Line 17"/>
            <p:cNvSpPr>
              <a:spLocks noChangeShapeType="1"/>
            </p:cNvSpPr>
            <p:nvPr/>
          </p:nvSpPr>
          <p:spPr bwMode="auto">
            <a:xfrm>
              <a:off x="236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8" name="Line 18"/>
            <p:cNvSpPr>
              <a:spLocks noChangeShapeType="1"/>
            </p:cNvSpPr>
            <p:nvPr/>
          </p:nvSpPr>
          <p:spPr bwMode="auto">
            <a:xfrm>
              <a:off x="2723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89" name="Line 19"/>
            <p:cNvSpPr>
              <a:spLocks noChangeShapeType="1"/>
            </p:cNvSpPr>
            <p:nvPr/>
          </p:nvSpPr>
          <p:spPr bwMode="auto">
            <a:xfrm>
              <a:off x="3641" y="285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0" name="Line 20"/>
            <p:cNvSpPr>
              <a:spLocks noChangeShapeType="1"/>
            </p:cNvSpPr>
            <p:nvPr/>
          </p:nvSpPr>
          <p:spPr bwMode="auto">
            <a:xfrm>
              <a:off x="4010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1" name="Line 21"/>
            <p:cNvSpPr>
              <a:spLocks noChangeShapeType="1"/>
            </p:cNvSpPr>
            <p:nvPr/>
          </p:nvSpPr>
          <p:spPr bwMode="auto">
            <a:xfrm>
              <a:off x="4352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2" name="Line 22"/>
            <p:cNvSpPr>
              <a:spLocks noChangeShapeType="1"/>
            </p:cNvSpPr>
            <p:nvPr/>
          </p:nvSpPr>
          <p:spPr bwMode="auto">
            <a:xfrm>
              <a:off x="4708" y="284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3" name="Line 23"/>
            <p:cNvSpPr>
              <a:spLocks noChangeShapeType="1"/>
            </p:cNvSpPr>
            <p:nvPr/>
          </p:nvSpPr>
          <p:spPr bwMode="auto">
            <a:xfrm>
              <a:off x="1321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4" name="Line 24"/>
            <p:cNvSpPr>
              <a:spLocks noChangeShapeType="1"/>
            </p:cNvSpPr>
            <p:nvPr/>
          </p:nvSpPr>
          <p:spPr bwMode="auto">
            <a:xfrm>
              <a:off x="3314" y="2890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5" name="Oval 25"/>
            <p:cNvSpPr>
              <a:spLocks noChangeArrowheads="1"/>
            </p:cNvSpPr>
            <p:nvPr/>
          </p:nvSpPr>
          <p:spPr bwMode="auto">
            <a:xfrm>
              <a:off x="1289" y="2848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6" name="Oval 26"/>
            <p:cNvSpPr>
              <a:spLocks noChangeArrowheads="1"/>
            </p:cNvSpPr>
            <p:nvPr/>
          </p:nvSpPr>
          <p:spPr bwMode="auto">
            <a:xfrm>
              <a:off x="3282" y="2844"/>
              <a:ext cx="64" cy="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  <p:sp>
          <p:nvSpPr>
            <p:cNvPr id="61497" name="Line 27"/>
            <p:cNvSpPr>
              <a:spLocks noChangeShapeType="1"/>
            </p:cNvSpPr>
            <p:nvPr/>
          </p:nvSpPr>
          <p:spPr bwMode="auto">
            <a:xfrm>
              <a:off x="201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1498" name="Line 28"/>
            <p:cNvSpPr>
              <a:spLocks noChangeShapeType="1"/>
            </p:cNvSpPr>
            <p:nvPr/>
          </p:nvSpPr>
          <p:spPr bwMode="auto">
            <a:xfrm>
              <a:off x="4032" y="1198"/>
              <a:ext cx="0" cy="2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 sz="1400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1714500" y="3963591"/>
            <a:ext cx="6831014" cy="973932"/>
            <a:chOff x="1003" y="3304"/>
            <a:chExt cx="4303" cy="818"/>
          </a:xfrm>
        </p:grpSpPr>
        <p:sp>
          <p:nvSpPr>
            <p:cNvPr id="61457" name="Text Box 30"/>
            <p:cNvSpPr txBox="1">
              <a:spLocks noChangeArrowheads="1"/>
            </p:cNvSpPr>
            <p:nvPr/>
          </p:nvSpPr>
          <p:spPr bwMode="auto">
            <a:xfrm>
              <a:off x="1085" y="3863"/>
              <a:ext cx="4221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>
                  <a:solidFill>
                    <a:srgbClr val="0000FF"/>
                  </a:solidFill>
                </a:rPr>
                <a:t>A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2   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0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1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2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3                           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4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D</a:t>
              </a:r>
              <a:r>
                <a:rPr lang="en-US" altLang="zh-CN" sz="1400" b="1" baseline="-2000" dirty="0" smtClean="0">
                  <a:solidFill>
                    <a:srgbClr val="0000FF"/>
                  </a:solidFill>
                </a:rPr>
                <a:t>5      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6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  </a:t>
              </a:r>
              <a:r>
                <a:rPr lang="en-US" altLang="zh-CN" sz="1400" b="1" dirty="0" smtClean="0">
                  <a:solidFill>
                    <a:srgbClr val="0000FF"/>
                  </a:solidFill>
                </a:rPr>
                <a:t>     </a:t>
              </a:r>
              <a:r>
                <a:rPr lang="en-US" altLang="zh-CN" sz="1400" b="1" dirty="0">
                  <a:solidFill>
                    <a:srgbClr val="0000FF"/>
                  </a:solidFill>
                </a:rPr>
                <a:t>D</a:t>
              </a:r>
              <a:r>
                <a:rPr lang="en-US" altLang="zh-CN" sz="1400" b="1" baseline="-2000" dirty="0">
                  <a:solidFill>
                    <a:srgbClr val="0000FF"/>
                  </a:solidFill>
                </a:rPr>
                <a:t>7</a:t>
              </a:r>
            </a:p>
          </p:txBody>
        </p:sp>
        <p:sp>
          <p:nvSpPr>
            <p:cNvPr id="61458" name="Line 31"/>
            <p:cNvSpPr>
              <a:spLocks noChangeShapeType="1"/>
            </p:cNvSpPr>
            <p:nvPr/>
          </p:nvSpPr>
          <p:spPr bwMode="auto">
            <a:xfrm>
              <a:off x="1196" y="3342"/>
              <a:ext cx="0" cy="54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32"/>
            <p:cNvSpPr>
              <a:spLocks noChangeShapeType="1"/>
            </p:cNvSpPr>
            <p:nvPr/>
          </p:nvSpPr>
          <p:spPr bwMode="auto">
            <a:xfrm>
              <a:off x="1196" y="3680"/>
              <a:ext cx="163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AutoShape 33"/>
            <p:cNvSpPr>
              <a:spLocks noChangeArrowheads="1"/>
            </p:cNvSpPr>
            <p:nvPr/>
          </p:nvSpPr>
          <p:spPr bwMode="auto">
            <a:xfrm rot="5400000">
              <a:off x="2812" y="3584"/>
              <a:ext cx="238" cy="192"/>
            </a:xfrm>
            <a:prstGeom prst="triangle">
              <a:avLst>
                <a:gd name="adj" fmla="val 50000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1" name="Oval 34"/>
            <p:cNvSpPr>
              <a:spLocks noChangeArrowheads="1"/>
            </p:cNvSpPr>
            <p:nvPr/>
          </p:nvSpPr>
          <p:spPr bwMode="auto">
            <a:xfrm>
              <a:off x="3023" y="3648"/>
              <a:ext cx="56" cy="5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62" name="Line 35"/>
            <p:cNvSpPr>
              <a:spLocks noChangeShapeType="1"/>
            </p:cNvSpPr>
            <p:nvPr/>
          </p:nvSpPr>
          <p:spPr bwMode="auto">
            <a:xfrm>
              <a:off x="3189" y="3376"/>
              <a:ext cx="0" cy="30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3" name="Line 36"/>
            <p:cNvSpPr>
              <a:spLocks noChangeShapeType="1"/>
            </p:cNvSpPr>
            <p:nvPr/>
          </p:nvSpPr>
          <p:spPr bwMode="auto">
            <a:xfrm flipH="1">
              <a:off x="3079" y="3680"/>
              <a:ext cx="110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4" name="Text Box 37"/>
            <p:cNvSpPr txBox="1">
              <a:spLocks noChangeArrowheads="1"/>
            </p:cNvSpPr>
            <p:nvPr/>
          </p:nvSpPr>
          <p:spPr bwMode="auto">
            <a:xfrm>
              <a:off x="1003" y="3425"/>
              <a:ext cx="357" cy="491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200" dirty="0">
                  <a:solidFill>
                    <a:srgbClr val="0000FF"/>
                  </a:solidFill>
                  <a:latin typeface="宋体" pitchFamily="2" charset="-122"/>
                </a:rPr>
                <a:t>·</a:t>
              </a:r>
              <a:endParaRPr lang="en-US" altLang="zh-CN" sz="3200" dirty="0">
                <a:solidFill>
                  <a:srgbClr val="0000FF"/>
                </a:solidFill>
              </a:endParaRPr>
            </a:p>
          </p:txBody>
        </p:sp>
        <p:sp>
          <p:nvSpPr>
            <p:cNvPr id="61465" name="Line 38"/>
            <p:cNvSpPr>
              <a:spLocks noChangeShapeType="1"/>
            </p:cNvSpPr>
            <p:nvPr/>
          </p:nvSpPr>
          <p:spPr bwMode="auto">
            <a:xfrm>
              <a:off x="1539" y="333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6" name="Line 39"/>
            <p:cNvSpPr>
              <a:spLocks noChangeShapeType="1"/>
            </p:cNvSpPr>
            <p:nvPr/>
          </p:nvSpPr>
          <p:spPr bwMode="auto">
            <a:xfrm>
              <a:off x="1886" y="3343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7" name="Line 40"/>
            <p:cNvSpPr>
              <a:spLocks noChangeShapeType="1"/>
            </p:cNvSpPr>
            <p:nvPr/>
          </p:nvSpPr>
          <p:spPr bwMode="auto">
            <a:xfrm>
              <a:off x="2243" y="3339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8" name="Line 41"/>
            <p:cNvSpPr>
              <a:spLocks noChangeShapeType="1"/>
            </p:cNvSpPr>
            <p:nvPr/>
          </p:nvSpPr>
          <p:spPr bwMode="auto">
            <a:xfrm>
              <a:off x="2598" y="3342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9" name="Line 42"/>
            <p:cNvSpPr>
              <a:spLocks noChangeShapeType="1"/>
            </p:cNvSpPr>
            <p:nvPr/>
          </p:nvSpPr>
          <p:spPr bwMode="auto">
            <a:xfrm>
              <a:off x="3516" y="332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0" name="Line 43"/>
            <p:cNvSpPr>
              <a:spLocks noChangeShapeType="1"/>
            </p:cNvSpPr>
            <p:nvPr/>
          </p:nvSpPr>
          <p:spPr bwMode="auto">
            <a:xfrm>
              <a:off x="3885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1" name="Line 44"/>
            <p:cNvSpPr>
              <a:spLocks noChangeShapeType="1"/>
            </p:cNvSpPr>
            <p:nvPr/>
          </p:nvSpPr>
          <p:spPr bwMode="auto">
            <a:xfrm>
              <a:off x="4224" y="3304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72" name="Line 45"/>
            <p:cNvSpPr>
              <a:spLocks noChangeShapeType="1"/>
            </p:cNvSpPr>
            <p:nvPr/>
          </p:nvSpPr>
          <p:spPr bwMode="auto">
            <a:xfrm>
              <a:off x="4583" y="3310"/>
              <a:ext cx="0" cy="55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3124200" y="503220"/>
            <a:ext cx="3200400" cy="1219200"/>
            <a:chOff x="1886" y="144"/>
            <a:chExt cx="1999" cy="1006"/>
          </a:xfrm>
        </p:grpSpPr>
        <p:sp>
          <p:nvSpPr>
            <p:cNvPr id="61448" name="Line 48"/>
            <p:cNvSpPr>
              <a:spLocks noChangeShapeType="1"/>
            </p:cNvSpPr>
            <p:nvPr/>
          </p:nvSpPr>
          <p:spPr bwMode="auto">
            <a:xfrm>
              <a:off x="188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49" name="Line 49"/>
            <p:cNvSpPr>
              <a:spLocks noChangeShapeType="1"/>
            </p:cNvSpPr>
            <p:nvPr/>
          </p:nvSpPr>
          <p:spPr bwMode="auto">
            <a:xfrm>
              <a:off x="2936" y="1030"/>
              <a:ext cx="949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0" name="Line 50"/>
            <p:cNvSpPr>
              <a:spLocks noChangeShapeType="1"/>
            </p:cNvSpPr>
            <p:nvPr/>
          </p:nvSpPr>
          <p:spPr bwMode="auto">
            <a:xfrm flipV="1">
              <a:off x="2835" y="880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1" name="Line 51"/>
            <p:cNvSpPr>
              <a:spLocks noChangeShapeType="1"/>
            </p:cNvSpPr>
            <p:nvPr/>
          </p:nvSpPr>
          <p:spPr bwMode="auto">
            <a:xfrm flipV="1">
              <a:off x="2940" y="881"/>
              <a:ext cx="0" cy="15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2" name="AutoShape 52"/>
            <p:cNvSpPr>
              <a:spLocks noChangeArrowheads="1"/>
            </p:cNvSpPr>
            <p:nvPr/>
          </p:nvSpPr>
          <p:spPr bwMode="auto">
            <a:xfrm rot="5400000">
              <a:off x="2709" y="572"/>
              <a:ext cx="364" cy="424"/>
            </a:xfrm>
            <a:prstGeom prst="moon">
              <a:avLst>
                <a:gd name="adj" fmla="val 74176"/>
              </a:avLst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453" name="Line 53"/>
            <p:cNvSpPr>
              <a:spLocks noChangeShapeType="1"/>
            </p:cNvSpPr>
            <p:nvPr/>
          </p:nvSpPr>
          <p:spPr bwMode="auto">
            <a:xfrm flipV="1">
              <a:off x="2891" y="384"/>
              <a:ext cx="0" cy="21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54"/>
            <p:cNvSpPr>
              <a:spLocks noChangeShapeType="1"/>
            </p:cNvSpPr>
            <p:nvPr/>
          </p:nvSpPr>
          <p:spPr bwMode="auto">
            <a:xfrm>
              <a:off x="1886" y="1031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55"/>
            <p:cNvSpPr>
              <a:spLocks noChangeShapeType="1"/>
            </p:cNvSpPr>
            <p:nvPr/>
          </p:nvSpPr>
          <p:spPr bwMode="auto">
            <a:xfrm>
              <a:off x="3885" y="1025"/>
              <a:ext cx="0" cy="119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Text Box 56"/>
            <p:cNvSpPr txBox="1">
              <a:spLocks noChangeArrowheads="1"/>
            </p:cNvSpPr>
            <p:nvPr/>
          </p:nvSpPr>
          <p:spPr bwMode="auto">
            <a:xfrm>
              <a:off x="2838" y="144"/>
              <a:ext cx="818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Y</a:t>
              </a:r>
            </a:p>
          </p:txBody>
        </p:sp>
      </p:grpSp>
      <p:sp>
        <p:nvSpPr>
          <p:cNvPr id="61446" name="Text Box 57"/>
          <p:cNvSpPr txBox="1">
            <a:spLocks noChangeArrowheads="1"/>
          </p:cNvSpPr>
          <p:nvPr/>
        </p:nvSpPr>
        <p:spPr bwMode="auto">
          <a:xfrm>
            <a:off x="4343400" y="2619372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/>
              <a:t>1#</a:t>
            </a:r>
          </a:p>
        </p:txBody>
      </p:sp>
      <p:sp>
        <p:nvSpPr>
          <p:cNvPr id="61447" name="Text Box 58"/>
          <p:cNvSpPr txBox="1">
            <a:spLocks noChangeArrowheads="1"/>
          </p:cNvSpPr>
          <p:nvPr/>
        </p:nvSpPr>
        <p:spPr bwMode="auto">
          <a:xfrm>
            <a:off x="7331075" y="2638422"/>
            <a:ext cx="74612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dirty="0"/>
              <a:t>2#</a:t>
            </a:r>
          </a:p>
        </p:txBody>
      </p:sp>
      <p:sp>
        <p:nvSpPr>
          <p:cNvPr id="59" name="矩形 58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60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数据选择器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74LS153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sz="16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功能扩展（八选一）：</a:t>
            </a: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r>
              <a:rPr kumimoji="1" lang="en-US" altLang="zh-CN" sz="1400" i="1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F(X,Y,Z</a:t>
            </a:r>
            <a:r>
              <a:rPr kumimoji="1" lang="en-US" altLang="zh-CN" sz="1400" i="1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) 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=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  <a:sym typeface="Symbol" pitchFamily="18" charset="2"/>
              </a:rPr>
              <a:t>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 m(1,2,3,4,5,6)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28600" y="15811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四选一数据选择器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905000" y="1581150"/>
          <a:ext cx="4321840" cy="304800"/>
        </p:xfrm>
        <a:graphic>
          <a:graphicData uri="http://schemas.openxmlformats.org/presentationml/2006/ole">
            <p:oleObj spid="_x0000_s70658" name="Equation" r:id="rId3" imgW="2692080" imgH="25380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990600" y="2114550"/>
          <a:ext cx="5767388" cy="930275"/>
        </p:xfrm>
        <a:graphic>
          <a:graphicData uri="http://schemas.openxmlformats.org/presentationml/2006/ole">
            <p:oleObj spid="_x0000_s70659" name="Equation" r:id="rId4" imgW="3593880" imgH="77436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944563" y="3333750"/>
          <a:ext cx="4829175" cy="304800"/>
        </p:xfrm>
        <a:graphic>
          <a:graphicData uri="http://schemas.openxmlformats.org/presentationml/2006/ole">
            <p:oleObj spid="_x0000_s70660" name="Equation" r:id="rId5" imgW="3009600" imgH="253800" progId="Equation.DSMT4">
              <p:embed/>
            </p:oleObj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858000" y="895350"/>
            <a:ext cx="1893888" cy="1371600"/>
            <a:chOff x="1968" y="3264"/>
            <a:chExt cx="1193" cy="864"/>
          </a:xfrm>
        </p:grpSpPr>
        <p:sp>
          <p:nvSpPr>
            <p:cNvPr id="24" name="Text Box 17"/>
            <p:cNvSpPr txBox="1">
              <a:spLocks noChangeArrowheads="1"/>
            </p:cNvSpPr>
            <p:nvPr/>
          </p:nvSpPr>
          <p:spPr bwMode="auto">
            <a:xfrm>
              <a:off x="2348" y="3600"/>
              <a:ext cx="676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25" name="Text Box 18"/>
            <p:cNvSpPr txBox="1">
              <a:spLocks noChangeArrowheads="1"/>
            </p:cNvSpPr>
            <p:nvPr/>
          </p:nvSpPr>
          <p:spPr bwMode="auto">
            <a:xfrm>
              <a:off x="2239" y="3792"/>
              <a:ext cx="922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2160" y="3552"/>
              <a:ext cx="960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>
              <a:off x="2352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8" name="Line 21"/>
            <p:cNvSpPr>
              <a:spLocks noChangeShapeType="1"/>
            </p:cNvSpPr>
            <p:nvPr/>
          </p:nvSpPr>
          <p:spPr bwMode="auto">
            <a:xfrm>
              <a:off x="2544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9" name="Line 22"/>
            <p:cNvSpPr>
              <a:spLocks noChangeShapeType="1"/>
            </p:cNvSpPr>
            <p:nvPr/>
          </p:nvSpPr>
          <p:spPr bwMode="auto">
            <a:xfrm>
              <a:off x="2736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0" name="Line 23"/>
            <p:cNvSpPr>
              <a:spLocks noChangeShapeType="1"/>
            </p:cNvSpPr>
            <p:nvPr/>
          </p:nvSpPr>
          <p:spPr bwMode="auto">
            <a:xfrm>
              <a:off x="2928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1" name="Line 24"/>
            <p:cNvSpPr>
              <a:spLocks noChangeShapeType="1"/>
            </p:cNvSpPr>
            <p:nvPr/>
          </p:nvSpPr>
          <p:spPr bwMode="auto">
            <a:xfrm>
              <a:off x="2640" y="33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2" name="Text Box 25"/>
            <p:cNvSpPr txBox="1">
              <a:spLocks noChangeArrowheads="1"/>
            </p:cNvSpPr>
            <p:nvPr/>
          </p:nvSpPr>
          <p:spPr bwMode="auto">
            <a:xfrm>
              <a:off x="2688" y="3264"/>
              <a:ext cx="17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  <a:ea typeface="黑体" pitchFamily="49" charset="-122"/>
                </a:rPr>
                <a:t>F</a:t>
              </a:r>
            </a:p>
          </p:txBody>
        </p:sp>
        <p:sp>
          <p:nvSpPr>
            <p:cNvPr id="33" name="Line 26"/>
            <p:cNvSpPr>
              <a:spLocks noChangeShapeType="1"/>
            </p:cNvSpPr>
            <p:nvPr/>
          </p:nvSpPr>
          <p:spPr bwMode="auto">
            <a:xfrm>
              <a:off x="1968" y="36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4" name="Line 27"/>
            <p:cNvSpPr>
              <a:spLocks noChangeShapeType="1"/>
            </p:cNvSpPr>
            <p:nvPr/>
          </p:nvSpPr>
          <p:spPr bwMode="auto">
            <a:xfrm>
              <a:off x="1968" y="38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5" name="Text Box 28"/>
            <p:cNvSpPr txBox="1">
              <a:spLocks noChangeArrowheads="1"/>
            </p:cNvSpPr>
            <p:nvPr/>
          </p:nvSpPr>
          <p:spPr bwMode="auto">
            <a:xfrm>
              <a:off x="2112" y="3792"/>
              <a:ext cx="2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6" name="Text Box 29"/>
            <p:cNvSpPr txBox="1">
              <a:spLocks noChangeArrowheads="1"/>
            </p:cNvSpPr>
            <p:nvPr/>
          </p:nvSpPr>
          <p:spPr bwMode="auto">
            <a:xfrm>
              <a:off x="2112" y="3552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</p:grpSp>
      <p:grpSp>
        <p:nvGrpSpPr>
          <p:cNvPr id="43" name="Group 16"/>
          <p:cNvGrpSpPr>
            <a:grpSpLocks/>
          </p:cNvGrpSpPr>
          <p:nvPr/>
        </p:nvGrpSpPr>
        <p:grpSpPr bwMode="auto">
          <a:xfrm>
            <a:off x="6613525" y="2419350"/>
            <a:ext cx="2225675" cy="1676400"/>
            <a:chOff x="1759" y="3264"/>
            <a:chExt cx="1402" cy="1056"/>
          </a:xfrm>
        </p:grpSpPr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2348" y="3600"/>
              <a:ext cx="676" cy="19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>
                  <a:latin typeface="Tahoma" pitchFamily="34" charset="0"/>
                  <a:ea typeface="黑体" pitchFamily="49" charset="-122"/>
                </a:rPr>
                <a:t>多路选择器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2239" y="3792"/>
              <a:ext cx="922" cy="19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  </a:t>
              </a:r>
              <a:r>
                <a:rPr kumimoji="1" lang="en-US" altLang="zh-CN" sz="1400" i="1" dirty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  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2   </a:t>
              </a:r>
              <a:r>
                <a:rPr kumimoji="1" lang="en-US" altLang="zh-CN" sz="1400" i="1" dirty="0" smtClean="0">
                  <a:latin typeface="Tahoma" pitchFamily="34" charset="0"/>
                </a:rPr>
                <a:t>D</a:t>
              </a:r>
              <a:r>
                <a:rPr kumimoji="1" lang="en-US" altLang="zh-CN" sz="1400" i="1" baseline="-25000" dirty="0" smtClean="0">
                  <a:latin typeface="Tahoma" pitchFamily="34" charset="0"/>
                </a:rPr>
                <a:t>3 </a:t>
              </a:r>
              <a:endParaRPr kumimoji="1" lang="en-US" altLang="zh-CN" sz="1400" i="1" baseline="-25000" dirty="0">
                <a:latin typeface="Tahoma" pitchFamily="34" charset="0"/>
              </a:endParaRPr>
            </a:p>
          </p:txBody>
        </p:sp>
        <p:sp>
          <p:nvSpPr>
            <p:cNvPr id="46" name="Rectangle 19"/>
            <p:cNvSpPr>
              <a:spLocks noChangeArrowheads="1"/>
            </p:cNvSpPr>
            <p:nvPr/>
          </p:nvSpPr>
          <p:spPr bwMode="auto">
            <a:xfrm>
              <a:off x="2160" y="3552"/>
              <a:ext cx="960" cy="43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Line 20"/>
            <p:cNvSpPr>
              <a:spLocks noChangeShapeType="1"/>
            </p:cNvSpPr>
            <p:nvPr/>
          </p:nvSpPr>
          <p:spPr bwMode="auto">
            <a:xfrm>
              <a:off x="2352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Line 21"/>
            <p:cNvSpPr>
              <a:spLocks noChangeShapeType="1"/>
            </p:cNvSpPr>
            <p:nvPr/>
          </p:nvSpPr>
          <p:spPr bwMode="auto">
            <a:xfrm>
              <a:off x="2544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" name="Line 22"/>
            <p:cNvSpPr>
              <a:spLocks noChangeShapeType="1"/>
            </p:cNvSpPr>
            <p:nvPr/>
          </p:nvSpPr>
          <p:spPr bwMode="auto">
            <a:xfrm>
              <a:off x="2736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" name="Line 23"/>
            <p:cNvSpPr>
              <a:spLocks noChangeShapeType="1"/>
            </p:cNvSpPr>
            <p:nvPr/>
          </p:nvSpPr>
          <p:spPr bwMode="auto">
            <a:xfrm>
              <a:off x="2928" y="398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1" name="Line 24"/>
            <p:cNvSpPr>
              <a:spLocks noChangeShapeType="1"/>
            </p:cNvSpPr>
            <p:nvPr/>
          </p:nvSpPr>
          <p:spPr bwMode="auto">
            <a:xfrm>
              <a:off x="2640" y="3360"/>
              <a:ext cx="0" cy="19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2688" y="3264"/>
              <a:ext cx="17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  <a:ea typeface="黑体" pitchFamily="49" charset="-122"/>
                </a:rPr>
                <a:t>F</a:t>
              </a:r>
            </a:p>
          </p:txBody>
        </p:sp>
        <p:sp>
          <p:nvSpPr>
            <p:cNvPr id="53" name="Line 26"/>
            <p:cNvSpPr>
              <a:spLocks noChangeShapeType="1"/>
            </p:cNvSpPr>
            <p:nvPr/>
          </p:nvSpPr>
          <p:spPr bwMode="auto">
            <a:xfrm>
              <a:off x="1968" y="364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4" name="Line 27"/>
            <p:cNvSpPr>
              <a:spLocks noChangeShapeType="1"/>
            </p:cNvSpPr>
            <p:nvPr/>
          </p:nvSpPr>
          <p:spPr bwMode="auto">
            <a:xfrm>
              <a:off x="1968" y="3888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2112" y="3792"/>
              <a:ext cx="222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56" name="Text Box 29"/>
            <p:cNvSpPr txBox="1">
              <a:spLocks noChangeArrowheads="1"/>
            </p:cNvSpPr>
            <p:nvPr/>
          </p:nvSpPr>
          <p:spPr bwMode="auto">
            <a:xfrm>
              <a:off x="2112" y="3552"/>
              <a:ext cx="22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i="1" dirty="0">
                  <a:latin typeface="Tahoma" pitchFamily="34" charset="0"/>
                </a:rPr>
                <a:t>A</a:t>
              </a:r>
              <a:r>
                <a:rPr kumimoji="1" lang="en-US" altLang="zh-CN" sz="1400" i="1" baseline="-25000" dirty="0">
                  <a:latin typeface="Tahoma" pitchFamily="34" charset="0"/>
                </a:rPr>
                <a:t>0</a:t>
              </a:r>
            </a:p>
          </p:txBody>
        </p:sp>
        <p:sp>
          <p:nvSpPr>
            <p:cNvPr id="57" name="Text Box 30"/>
            <p:cNvSpPr txBox="1">
              <a:spLocks noChangeArrowheads="1"/>
            </p:cNvSpPr>
            <p:nvPr/>
          </p:nvSpPr>
          <p:spPr bwMode="auto">
            <a:xfrm>
              <a:off x="1759" y="3542"/>
              <a:ext cx="182" cy="4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dirty="0" smtClean="0">
                  <a:latin typeface="Tahoma" pitchFamily="34" charset="0"/>
                </a:rPr>
                <a:t>Y</a:t>
              </a:r>
            </a:p>
            <a:p>
              <a:pPr eaLnBrk="1" hangingPunct="1"/>
              <a:endParaRPr kumimoji="1" lang="en-US" altLang="zh-CN" sz="1400" dirty="0">
                <a:latin typeface="Tahoma" pitchFamily="34" charset="0"/>
              </a:endParaRPr>
            </a:p>
            <a:p>
              <a:pPr eaLnBrk="1" hangingPunct="1"/>
              <a:r>
                <a:rPr kumimoji="1" lang="en-US" altLang="zh-CN" sz="1400" dirty="0">
                  <a:latin typeface="Tahoma" pitchFamily="34" charset="0"/>
                </a:rPr>
                <a:t>X</a:t>
              </a:r>
            </a:p>
          </p:txBody>
        </p:sp>
        <p:sp>
          <p:nvSpPr>
            <p:cNvPr id="58" name="Text Box 31"/>
            <p:cNvSpPr txBox="1">
              <a:spLocks noChangeArrowheads="1"/>
            </p:cNvSpPr>
            <p:nvPr/>
          </p:nvSpPr>
          <p:spPr bwMode="auto">
            <a:xfrm>
              <a:off x="2270" y="4126"/>
              <a:ext cx="180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dirty="0">
                  <a:latin typeface="Tahoma" pitchFamily="34" charset="0"/>
                </a:rPr>
                <a:t>Z</a:t>
              </a:r>
            </a:p>
          </p:txBody>
        </p:sp>
        <p:sp>
          <p:nvSpPr>
            <p:cNvPr id="59" name="Text Box 32"/>
            <p:cNvSpPr txBox="1">
              <a:spLocks noChangeArrowheads="1"/>
            </p:cNvSpPr>
            <p:nvPr/>
          </p:nvSpPr>
          <p:spPr bwMode="auto">
            <a:xfrm>
              <a:off x="2819" y="4118"/>
              <a:ext cx="21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dirty="0" smtClean="0">
                  <a:latin typeface="Tahoma" pitchFamily="34" charset="0"/>
                </a:rPr>
                <a:t> Z</a:t>
              </a:r>
              <a:endParaRPr kumimoji="1" lang="en-US" altLang="zh-CN" sz="1400" dirty="0">
                <a:latin typeface="Tahoma" pitchFamily="34" charset="0"/>
              </a:endParaRPr>
            </a:p>
          </p:txBody>
        </p:sp>
        <p:sp>
          <p:nvSpPr>
            <p:cNvPr id="60" name="Line 33"/>
            <p:cNvSpPr>
              <a:spLocks noChangeShapeType="1"/>
            </p:cNvSpPr>
            <p:nvPr/>
          </p:nvSpPr>
          <p:spPr bwMode="auto">
            <a:xfrm>
              <a:off x="2882" y="4150"/>
              <a:ext cx="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" name="Text Box 34"/>
            <p:cNvSpPr txBox="1">
              <a:spLocks noChangeArrowheads="1"/>
            </p:cNvSpPr>
            <p:nvPr/>
          </p:nvSpPr>
          <p:spPr bwMode="auto">
            <a:xfrm>
              <a:off x="2448" y="4118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62" name="Text Box 35"/>
            <p:cNvSpPr txBox="1">
              <a:spLocks noChangeArrowheads="1"/>
            </p:cNvSpPr>
            <p:nvPr/>
          </p:nvSpPr>
          <p:spPr bwMode="auto">
            <a:xfrm>
              <a:off x="2640" y="4118"/>
              <a:ext cx="178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en-US" altLang="zh-CN" sz="1400" dirty="0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371600" y="4019550"/>
            <a:ext cx="41148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数据选择器的地址端数量少于逻辑函数中的变量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2400" y="18097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828800" y="1733550"/>
          <a:ext cx="5462587" cy="609600"/>
        </p:xfrm>
        <a:graphic>
          <a:graphicData uri="http://schemas.openxmlformats.org/presentationml/2006/ole">
            <p:oleObj spid="_x0000_s72706" name="Equation" r:id="rId3" imgW="3403440" imgH="50796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325813" y="4071938"/>
          <a:ext cx="182562" cy="214312"/>
        </p:xfrm>
        <a:graphic>
          <a:graphicData uri="http://schemas.openxmlformats.org/presentationml/2006/ole">
            <p:oleObj spid="_x0000_s72707" name="Equation" r:id="rId4" imgW="114120" imgH="17748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381000" y="3333750"/>
          <a:ext cx="2425700" cy="274637"/>
        </p:xfrm>
        <a:graphic>
          <a:graphicData uri="http://schemas.openxmlformats.org/presentationml/2006/ole">
            <p:oleObj spid="_x0000_s72708" name="Equation" r:id="rId5" imgW="1511280" imgH="228600" progId="Equation.DSMT4">
              <p:embed/>
            </p:oleObj>
          </a:graphicData>
        </a:graphic>
      </p:graphicFrame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5486400" y="971550"/>
            <a:ext cx="2590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数据选择器的地址端数量等于逻辑函数中的变量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81400" y="1047750"/>
          <a:ext cx="1600200" cy="266700"/>
        </p:xfrm>
        <a:graphic>
          <a:graphicData uri="http://schemas.openxmlformats.org/presentationml/2006/ole">
            <p:oleObj spid="_x0000_s72711" name="Equation" r:id="rId6" imgW="1600200" imgH="266400" progId="Equation.DSMT4">
              <p:embed/>
            </p:oleObj>
          </a:graphicData>
        </a:graphic>
      </p:graphicFrame>
      <p:graphicFrame>
        <p:nvGraphicFramePr>
          <p:cNvPr id="72712" name="Object 8"/>
          <p:cNvGraphicFramePr>
            <a:graphicFrameLocks noChangeAspect="1"/>
          </p:cNvGraphicFramePr>
          <p:nvPr/>
        </p:nvGraphicFramePr>
        <p:xfrm>
          <a:off x="304800" y="2724150"/>
          <a:ext cx="5194300" cy="266700"/>
        </p:xfrm>
        <a:graphic>
          <a:graphicData uri="http://schemas.openxmlformats.org/presentationml/2006/ole">
            <p:oleObj spid="_x0000_s72712" name="Equation" r:id="rId7" imgW="5194080" imgH="26640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629400" y="241935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6307137" y="3257550"/>
          <a:ext cx="246063" cy="198438"/>
        </p:xfrm>
        <a:graphic>
          <a:graphicData uri="http://schemas.openxmlformats.org/presentationml/2006/ole">
            <p:oleObj spid="_x0000_s72714" name="Equation" r:id="rId9" imgW="152280" imgH="1648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6324600" y="3059112"/>
          <a:ext cx="246063" cy="198438"/>
        </p:xfrm>
        <a:graphic>
          <a:graphicData uri="http://schemas.openxmlformats.org/presentationml/2006/ole">
            <p:oleObj spid="_x0000_s72715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6324600" y="2868167"/>
          <a:ext cx="246063" cy="214312"/>
        </p:xfrm>
        <a:graphic>
          <a:graphicData uri="http://schemas.openxmlformats.org/presentationml/2006/ole">
            <p:oleObj spid="_x0000_s72716" name="Equation" r:id="rId11" imgW="152280" imgH="177480" progId="Equation.DSMT4">
              <p:embed/>
            </p:oleObj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223838" y="3867150"/>
          <a:ext cx="5013325" cy="274638"/>
        </p:xfrm>
        <a:graphic>
          <a:graphicData uri="http://schemas.openxmlformats.org/presentationml/2006/ole">
            <p:oleObj spid="_x0000_s72717" name="Equation" r:id="rId12" imgW="3124080" imgH="228600" progId="Equation.DSMT4">
              <p:embed/>
            </p:oleObj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7373937" y="3714750"/>
          <a:ext cx="142875" cy="198438"/>
        </p:xfrm>
        <a:graphic>
          <a:graphicData uri="http://schemas.openxmlformats.org/presentationml/2006/ole">
            <p:oleObj spid="_x0000_s72718" name="Equation" r:id="rId13" imgW="88560" imgH="164880" progId="Equation.DSMT4">
              <p:embed/>
            </p:oleObj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7556565" y="3714750"/>
          <a:ext cx="142875" cy="198438"/>
        </p:xfrm>
        <a:graphic>
          <a:graphicData uri="http://schemas.openxmlformats.org/presentationml/2006/ole">
            <p:oleObj spid="_x0000_s72719" name="Equation" r:id="rId14" imgW="88560" imgH="164880" progId="Equation.DSMT4">
              <p:embed/>
            </p:oleObj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7754937" y="3714750"/>
          <a:ext cx="142875" cy="198438"/>
        </p:xfrm>
        <a:graphic>
          <a:graphicData uri="http://schemas.openxmlformats.org/presentationml/2006/ole">
            <p:oleObj spid="_x0000_s72720" name="Equation" r:id="rId15" imgW="88560" imgH="164880" progId="Equation.DSMT4">
              <p:embed/>
            </p:oleObj>
          </a:graphicData>
        </a:graphic>
      </p:graphicFrame>
      <p:graphicFrame>
        <p:nvGraphicFramePr>
          <p:cNvPr id="72721" name="Object 17"/>
          <p:cNvGraphicFramePr>
            <a:graphicFrameLocks noChangeAspect="1"/>
          </p:cNvGraphicFramePr>
          <p:nvPr/>
        </p:nvGraphicFramePr>
        <p:xfrm>
          <a:off x="7970391" y="3714750"/>
          <a:ext cx="142875" cy="198438"/>
        </p:xfrm>
        <a:graphic>
          <a:graphicData uri="http://schemas.openxmlformats.org/presentationml/2006/ole">
            <p:oleObj spid="_x0000_s72721" name="Equation" r:id="rId16" imgW="88560" imgH="164880" progId="Equation.DSMT4">
              <p:embed/>
            </p:oleObj>
          </a:graphicData>
        </a:graphic>
      </p:graphicFrame>
      <p:graphicFrame>
        <p:nvGraphicFramePr>
          <p:cNvPr id="72722" name="Object 18"/>
          <p:cNvGraphicFramePr>
            <a:graphicFrameLocks noChangeAspect="1"/>
          </p:cNvGraphicFramePr>
          <p:nvPr/>
        </p:nvGraphicFramePr>
        <p:xfrm>
          <a:off x="8152954" y="3714750"/>
          <a:ext cx="142875" cy="198438"/>
        </p:xfrm>
        <a:graphic>
          <a:graphicData uri="http://schemas.openxmlformats.org/presentationml/2006/ole">
            <p:oleObj spid="_x0000_s72722" name="Equation" r:id="rId17" imgW="88560" imgH="164880" progId="Equation.DSMT4">
              <p:embed/>
            </p:oleObj>
          </a:graphicData>
        </a:graphic>
      </p:graphicFrame>
      <p:graphicFrame>
        <p:nvGraphicFramePr>
          <p:cNvPr id="72723" name="Object 19"/>
          <p:cNvGraphicFramePr>
            <a:graphicFrameLocks noChangeAspect="1"/>
          </p:cNvGraphicFramePr>
          <p:nvPr/>
        </p:nvGraphicFramePr>
        <p:xfrm>
          <a:off x="8351391" y="3714750"/>
          <a:ext cx="142875" cy="198438"/>
        </p:xfrm>
        <a:graphic>
          <a:graphicData uri="http://schemas.openxmlformats.org/presentationml/2006/ole">
            <p:oleObj spid="_x0000_s72723" name="Equation" r:id="rId18" imgW="88560" imgH="164880" progId="Equation.DSMT4">
              <p:embed/>
            </p:oleObj>
          </a:graphicData>
        </a:graphic>
      </p:graphicFrame>
      <p:graphicFrame>
        <p:nvGraphicFramePr>
          <p:cNvPr id="72724" name="Object 20"/>
          <p:cNvGraphicFramePr>
            <a:graphicFrameLocks noChangeAspect="1"/>
          </p:cNvGraphicFramePr>
          <p:nvPr/>
        </p:nvGraphicFramePr>
        <p:xfrm>
          <a:off x="7145337" y="3714750"/>
          <a:ext cx="204787" cy="212725"/>
        </p:xfrm>
        <a:graphic>
          <a:graphicData uri="http://schemas.openxmlformats.org/presentationml/2006/ole">
            <p:oleObj spid="_x0000_s72724" name="Equation" r:id="rId19" imgW="126720" imgH="177480" progId="Equation.DSMT4">
              <p:embed/>
            </p:oleObj>
          </a:graphicData>
        </a:graphic>
      </p:graphicFrame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8516937" y="3714750"/>
          <a:ext cx="204788" cy="212725"/>
        </p:xfrm>
        <a:graphic>
          <a:graphicData uri="http://schemas.openxmlformats.org/presentationml/2006/ole">
            <p:oleObj spid="_x0000_s72726" name="Equation" r:id="rId20" imgW="12672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7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2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2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72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2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2400" y="1962150"/>
            <a:ext cx="1685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</a:t>
            </a:r>
            <a:r>
              <a:rPr kumimoji="1" lang="en-US" altLang="zh-CN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:</a:t>
            </a:r>
          </a:p>
        </p:txBody>
      </p:sp>
      <p:graphicFrame>
        <p:nvGraphicFramePr>
          <p:cNvPr id="68612" name="Object 9"/>
          <p:cNvGraphicFramePr>
            <a:graphicFrameLocks noChangeAspect="1"/>
          </p:cNvGraphicFramePr>
          <p:nvPr/>
        </p:nvGraphicFramePr>
        <p:xfrm>
          <a:off x="1828800" y="1885950"/>
          <a:ext cx="5462587" cy="609600"/>
        </p:xfrm>
        <a:graphic>
          <a:graphicData uri="http://schemas.openxmlformats.org/presentationml/2006/ole">
            <p:oleObj spid="_x0000_s82946" name="Equation" r:id="rId3" imgW="3403440" imgH="507960" progId="Equation.DSMT4">
              <p:embed/>
            </p:oleObj>
          </a:graphicData>
        </a:graphic>
      </p:graphicFrame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325813" y="4071938"/>
          <a:ext cx="182562" cy="214312"/>
        </p:xfrm>
        <a:graphic>
          <a:graphicData uri="http://schemas.openxmlformats.org/presentationml/2006/ole">
            <p:oleObj spid="_x0000_s82947" name="Equation" r:id="rId4" imgW="114120" imgH="177480" progId="Equation.DSMT4">
              <p:embed/>
            </p:oleObj>
          </a:graphicData>
        </a:graphic>
      </p:graphicFrame>
      <p:graphicFrame>
        <p:nvGraphicFramePr>
          <p:cNvPr id="68614" name="Object 9"/>
          <p:cNvGraphicFramePr>
            <a:graphicFrameLocks noChangeAspect="1"/>
          </p:cNvGraphicFramePr>
          <p:nvPr/>
        </p:nvGraphicFramePr>
        <p:xfrm>
          <a:off x="197742" y="2860675"/>
          <a:ext cx="957263" cy="274638"/>
        </p:xfrm>
        <a:graphic>
          <a:graphicData uri="http://schemas.openxmlformats.org/presentationml/2006/ole">
            <p:oleObj spid="_x0000_s82948" name="Equation" r:id="rId5" imgW="596880" imgH="228600" progId="Equation.DSMT4">
              <p:embed/>
            </p:oleObj>
          </a:graphicData>
        </a:graphic>
      </p:graphicFrame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5486400" y="971550"/>
            <a:ext cx="25146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数据选择器的地址端数量小于逻辑函数中的变量</a:t>
            </a:r>
            <a:endParaRPr kumimoji="1"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94100" y="1054100"/>
          <a:ext cx="1574800" cy="254000"/>
        </p:xfrm>
        <a:graphic>
          <a:graphicData uri="http://schemas.openxmlformats.org/presentationml/2006/ole">
            <p:oleObj spid="_x0000_s82949" name="Equation" r:id="rId6" imgW="1574640" imgH="25380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629400" y="241935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6327775" y="3251200"/>
          <a:ext cx="204788" cy="212725"/>
        </p:xfrm>
        <a:graphic>
          <a:graphicData uri="http://schemas.openxmlformats.org/presentationml/2006/ole">
            <p:oleObj spid="_x0000_s82951" name="Equation" r:id="rId8" imgW="126720" imgH="1774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6324600" y="3059112"/>
          <a:ext cx="246063" cy="198438"/>
        </p:xfrm>
        <a:graphic>
          <a:graphicData uri="http://schemas.openxmlformats.org/presentationml/2006/ole">
            <p:oleObj spid="_x0000_s82952" name="Equation" r:id="rId9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6324600" y="2876550"/>
          <a:ext cx="246063" cy="198438"/>
        </p:xfrm>
        <a:graphic>
          <a:graphicData uri="http://schemas.openxmlformats.org/presentationml/2006/ole">
            <p:oleObj spid="_x0000_s82953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72717" name="Object 13"/>
          <p:cNvGraphicFramePr>
            <a:graphicFrameLocks noChangeAspect="1"/>
          </p:cNvGraphicFramePr>
          <p:nvPr/>
        </p:nvGraphicFramePr>
        <p:xfrm>
          <a:off x="1905000" y="3592446"/>
          <a:ext cx="2608263" cy="274638"/>
        </p:xfrm>
        <a:graphic>
          <a:graphicData uri="http://schemas.openxmlformats.org/presentationml/2006/ole">
            <p:oleObj spid="_x0000_s82954" name="Equation" r:id="rId11" imgW="1625400" imgH="228600" progId="Equation.DSMT4">
              <p:embed/>
            </p:oleObj>
          </a:graphicData>
        </a:graphic>
      </p:graphicFrame>
      <p:graphicFrame>
        <p:nvGraphicFramePr>
          <p:cNvPr id="72718" name="Object 14"/>
          <p:cNvGraphicFramePr>
            <a:graphicFrameLocks noChangeAspect="1"/>
          </p:cNvGraphicFramePr>
          <p:nvPr/>
        </p:nvGraphicFramePr>
        <p:xfrm>
          <a:off x="7373937" y="3714750"/>
          <a:ext cx="142875" cy="198438"/>
        </p:xfrm>
        <a:graphic>
          <a:graphicData uri="http://schemas.openxmlformats.org/presentationml/2006/ole">
            <p:oleObj spid="_x0000_s82955" name="Equation" r:id="rId12" imgW="88560" imgH="164880" progId="Equation.DSMT4">
              <p:embed/>
            </p:oleObj>
          </a:graphicData>
        </a:graphic>
      </p:graphicFrame>
      <p:graphicFrame>
        <p:nvGraphicFramePr>
          <p:cNvPr id="72719" name="Object 15"/>
          <p:cNvGraphicFramePr>
            <a:graphicFrameLocks noChangeAspect="1"/>
          </p:cNvGraphicFramePr>
          <p:nvPr/>
        </p:nvGraphicFramePr>
        <p:xfrm>
          <a:off x="7556565" y="3714750"/>
          <a:ext cx="142875" cy="198438"/>
        </p:xfrm>
        <a:graphic>
          <a:graphicData uri="http://schemas.openxmlformats.org/presentationml/2006/ole">
            <p:oleObj spid="_x0000_s82956" name="Equation" r:id="rId13" imgW="88560" imgH="164880" progId="Equation.DSMT4">
              <p:embed/>
            </p:oleObj>
          </a:graphicData>
        </a:graphic>
      </p:graphicFrame>
      <p:graphicFrame>
        <p:nvGraphicFramePr>
          <p:cNvPr id="72720" name="Object 16"/>
          <p:cNvGraphicFramePr>
            <a:graphicFrameLocks noChangeAspect="1"/>
          </p:cNvGraphicFramePr>
          <p:nvPr/>
        </p:nvGraphicFramePr>
        <p:xfrm>
          <a:off x="7754937" y="3714750"/>
          <a:ext cx="142875" cy="198438"/>
        </p:xfrm>
        <a:graphic>
          <a:graphicData uri="http://schemas.openxmlformats.org/presentationml/2006/ole">
            <p:oleObj spid="_x0000_s82957" name="Equation" r:id="rId14" imgW="88560" imgH="164880" progId="Equation.DSMT4">
              <p:embed/>
            </p:oleObj>
          </a:graphicData>
        </a:graphic>
      </p:graphicFrame>
      <p:graphicFrame>
        <p:nvGraphicFramePr>
          <p:cNvPr id="72726" name="Object 22"/>
          <p:cNvGraphicFramePr>
            <a:graphicFrameLocks noChangeAspect="1"/>
          </p:cNvGraphicFramePr>
          <p:nvPr/>
        </p:nvGraphicFramePr>
        <p:xfrm>
          <a:off x="8516937" y="3714750"/>
          <a:ext cx="204788" cy="212725"/>
        </p:xfrm>
        <a:graphic>
          <a:graphicData uri="http://schemas.openxmlformats.org/presentationml/2006/ole">
            <p:oleObj spid="_x0000_s82962" name="Equation" r:id="rId15" imgW="126720" imgH="177480" progId="Equation.DSMT4">
              <p:embed/>
            </p:oleObj>
          </a:graphicData>
        </a:graphic>
      </p:graphicFrame>
      <p:pic>
        <p:nvPicPr>
          <p:cNvPr id="82963" name="Picture 19" descr="C:\Users\hfutliujun\AppData\Roaming\Tencent\Users\350654676\QQ\WinTemp\RichOle\HPU24UMZ`M726NA{X_A9HAK.png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3810000" y="0"/>
            <a:ext cx="2647950" cy="619125"/>
          </a:xfrm>
          <a:prstGeom prst="rect">
            <a:avLst/>
          </a:prstGeom>
          <a:noFill/>
        </p:spPr>
      </p:pic>
      <p:graphicFrame>
        <p:nvGraphicFramePr>
          <p:cNvPr id="82964" name="Object 9"/>
          <p:cNvGraphicFramePr>
            <a:graphicFrameLocks noChangeAspect="1"/>
          </p:cNvGraphicFramePr>
          <p:nvPr/>
        </p:nvGraphicFramePr>
        <p:xfrm>
          <a:off x="1219200" y="2830513"/>
          <a:ext cx="4402138" cy="579437"/>
        </p:xfrm>
        <a:graphic>
          <a:graphicData uri="http://schemas.openxmlformats.org/presentationml/2006/ole">
            <p:oleObj spid="_x0000_s82964" name="Equation" r:id="rId17" imgW="2743200" imgH="482400" progId="Equation.DSMT4">
              <p:embed/>
            </p:oleObj>
          </a:graphicData>
        </a:graphic>
      </p:graphicFrame>
      <p:graphicFrame>
        <p:nvGraphicFramePr>
          <p:cNvPr id="82966" name="Object 22"/>
          <p:cNvGraphicFramePr>
            <a:graphicFrameLocks noChangeAspect="1"/>
          </p:cNvGraphicFramePr>
          <p:nvPr/>
        </p:nvGraphicFramePr>
        <p:xfrm>
          <a:off x="159327" y="3592512"/>
          <a:ext cx="1671637" cy="274638"/>
        </p:xfrm>
        <a:graphic>
          <a:graphicData uri="http://schemas.openxmlformats.org/presentationml/2006/ole">
            <p:oleObj spid="_x0000_s82966" name="Equation" r:id="rId18" imgW="1041120" imgH="228600" progId="Equation.DSMT4">
              <p:embed/>
            </p:oleObj>
          </a:graphicData>
        </a:graphic>
      </p:graphicFrame>
      <p:graphicFrame>
        <p:nvGraphicFramePr>
          <p:cNvPr id="82967" name="Object 23"/>
          <p:cNvGraphicFramePr>
            <a:graphicFrameLocks noChangeAspect="1"/>
          </p:cNvGraphicFramePr>
          <p:nvPr/>
        </p:nvGraphicFramePr>
        <p:xfrm>
          <a:off x="8352914" y="3714750"/>
          <a:ext cx="204787" cy="212725"/>
        </p:xfrm>
        <a:graphic>
          <a:graphicData uri="http://schemas.openxmlformats.org/presentationml/2006/ole">
            <p:oleObj spid="_x0000_s82967" name="Equation" r:id="rId19" imgW="126720" imgH="177480" progId="Equation.DSMT4">
              <p:embed/>
            </p:oleObj>
          </a:graphicData>
        </a:graphic>
      </p:graphicFrame>
      <p:graphicFrame>
        <p:nvGraphicFramePr>
          <p:cNvPr id="82968" name="Object 24"/>
          <p:cNvGraphicFramePr>
            <a:graphicFrameLocks noChangeAspect="1"/>
          </p:cNvGraphicFramePr>
          <p:nvPr/>
        </p:nvGraphicFramePr>
        <p:xfrm>
          <a:off x="8117387" y="3714750"/>
          <a:ext cx="204787" cy="212725"/>
        </p:xfrm>
        <a:graphic>
          <a:graphicData uri="http://schemas.openxmlformats.org/presentationml/2006/ole">
            <p:oleObj spid="_x0000_s82968" name="Equation" r:id="rId20" imgW="126720" imgH="177480" progId="Equation.DSMT4">
              <p:embed/>
            </p:oleObj>
          </a:graphicData>
        </a:graphic>
      </p:graphicFrame>
      <p:graphicFrame>
        <p:nvGraphicFramePr>
          <p:cNvPr id="82969" name="Object 25"/>
          <p:cNvGraphicFramePr>
            <a:graphicFrameLocks noChangeAspect="1"/>
          </p:cNvGraphicFramePr>
          <p:nvPr/>
        </p:nvGraphicFramePr>
        <p:xfrm>
          <a:off x="7953874" y="3714750"/>
          <a:ext cx="204788" cy="212725"/>
        </p:xfrm>
        <a:graphic>
          <a:graphicData uri="http://schemas.openxmlformats.org/presentationml/2006/ole">
            <p:oleObj spid="_x0000_s82969" name="Equation" r:id="rId21" imgW="126720" imgH="177480" progId="Equation.DSMT4">
              <p:embed/>
            </p:oleObj>
          </a:graphicData>
        </a:graphic>
      </p:graphicFrame>
      <p:graphicFrame>
        <p:nvGraphicFramePr>
          <p:cNvPr id="82971" name="Object 27"/>
          <p:cNvGraphicFramePr>
            <a:graphicFrameLocks noChangeAspect="1"/>
          </p:cNvGraphicFramePr>
          <p:nvPr/>
        </p:nvGraphicFramePr>
        <p:xfrm>
          <a:off x="7162800" y="3714750"/>
          <a:ext cx="204788" cy="212725"/>
        </p:xfrm>
        <a:graphic>
          <a:graphicData uri="http://schemas.openxmlformats.org/presentationml/2006/ole">
            <p:oleObj spid="_x0000_s82971" name="Equation" r:id="rId22" imgW="126720" imgH="177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2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29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2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2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2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2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2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72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2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2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2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2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2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6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231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数据选择器构成组合逻辑电路：练习题</a:t>
            </a:r>
            <a:endParaRPr lang="en-US" altLang="zh-CN" sz="1600" b="1" dirty="0" smtClean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304800" y="1047750"/>
            <a:ext cx="63246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用八选</a:t>
            </a:r>
            <a:r>
              <a:rPr kumimoji="1" lang="zh-CN" altLang="en-US" sz="1400" dirty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一数据选择器实现以下逻辑函数</a:t>
            </a:r>
            <a:r>
              <a:rPr kumimoji="1" lang="zh-CN" altLang="en-US" sz="1400" dirty="0" smtClean="0">
                <a:solidFill>
                  <a:schemeClr val="accent6"/>
                </a:solidFill>
                <a:latin typeface="Tahoma" pitchFamily="34" charset="0"/>
                <a:ea typeface="黑体" pitchFamily="49" charset="-122"/>
              </a:rPr>
              <a:t>：</a:t>
            </a:r>
            <a:endParaRPr kumimoji="1" lang="en-US" altLang="zh-CN" sz="1400" dirty="0">
              <a:solidFill>
                <a:schemeClr val="accent6"/>
              </a:solidFill>
              <a:latin typeface="Tahoma" pitchFamily="34" charset="0"/>
              <a:ea typeface="黑体" pitchFamily="49" charset="-122"/>
            </a:endParaRPr>
          </a:p>
        </p:txBody>
      </p:sp>
      <p:graphicFrame>
        <p:nvGraphicFramePr>
          <p:cNvPr id="68613" name="Object 9"/>
          <p:cNvGraphicFramePr>
            <a:graphicFrameLocks noChangeAspect="1"/>
          </p:cNvGraphicFramePr>
          <p:nvPr/>
        </p:nvGraphicFramePr>
        <p:xfrm>
          <a:off x="3325813" y="4071938"/>
          <a:ext cx="182562" cy="214312"/>
        </p:xfrm>
        <a:graphic>
          <a:graphicData uri="http://schemas.openxmlformats.org/presentationml/2006/ole">
            <p:oleObj spid="_x0000_s83971" name="Equation" r:id="rId3" imgW="114120" imgH="177480" progId="Equation.DSMT4">
              <p:embed/>
            </p:oleObj>
          </a:graphicData>
        </a:graphic>
      </p:graphicFrame>
      <p:graphicFrame>
        <p:nvGraphicFramePr>
          <p:cNvPr id="72711" name="Object 7"/>
          <p:cNvGraphicFramePr>
            <a:graphicFrameLocks noChangeAspect="1"/>
          </p:cNvGraphicFramePr>
          <p:nvPr/>
        </p:nvGraphicFramePr>
        <p:xfrm>
          <a:off x="3594100" y="1054100"/>
          <a:ext cx="1574800" cy="254000"/>
        </p:xfrm>
        <a:graphic>
          <a:graphicData uri="http://schemas.openxmlformats.org/presentationml/2006/ole">
            <p:oleObj spid="_x0000_s83973" name="Equation" r:id="rId4" imgW="1574640" imgH="253800" progId="Equation.DSMT4">
              <p:embed/>
            </p:oleObj>
          </a:graphicData>
        </a:graphic>
      </p:graphicFrame>
      <p:pic>
        <p:nvPicPr>
          <p:cNvPr id="72713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14060" y="182880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72714" name="Object 10"/>
          <p:cNvGraphicFramePr>
            <a:graphicFrameLocks noChangeAspect="1"/>
          </p:cNvGraphicFramePr>
          <p:nvPr/>
        </p:nvGraphicFramePr>
        <p:xfrm>
          <a:off x="851754" y="2446718"/>
          <a:ext cx="204788" cy="212725"/>
        </p:xfrm>
        <a:graphic>
          <a:graphicData uri="http://schemas.openxmlformats.org/presentationml/2006/ole">
            <p:oleObj spid="_x0000_s83974" name="Equation" r:id="rId6" imgW="126720" imgH="177480" progId="Equation.DSMT4">
              <p:embed/>
            </p:oleObj>
          </a:graphicData>
        </a:graphic>
      </p:graphicFrame>
      <p:graphicFrame>
        <p:nvGraphicFramePr>
          <p:cNvPr id="72715" name="Object 11"/>
          <p:cNvGraphicFramePr>
            <a:graphicFrameLocks noChangeAspect="1"/>
          </p:cNvGraphicFramePr>
          <p:nvPr/>
        </p:nvGraphicFramePr>
        <p:xfrm>
          <a:off x="791298" y="2636772"/>
          <a:ext cx="246063" cy="198438"/>
        </p:xfrm>
        <a:graphic>
          <a:graphicData uri="http://schemas.openxmlformats.org/presentationml/2006/ole">
            <p:oleObj spid="_x0000_s83975" name="Equation" r:id="rId7" imgW="152280" imgH="164880" progId="Equation.DSMT4">
              <p:embed/>
            </p:oleObj>
          </a:graphicData>
        </a:graphic>
      </p:graphicFrame>
      <p:graphicFrame>
        <p:nvGraphicFramePr>
          <p:cNvPr id="72716" name="Object 12"/>
          <p:cNvGraphicFramePr>
            <a:graphicFrameLocks noChangeAspect="1"/>
          </p:cNvGraphicFramePr>
          <p:nvPr/>
        </p:nvGraphicFramePr>
        <p:xfrm>
          <a:off x="844197" y="2255772"/>
          <a:ext cx="246063" cy="198438"/>
        </p:xfrm>
        <a:graphic>
          <a:graphicData uri="http://schemas.openxmlformats.org/presentationml/2006/ole">
            <p:oleObj spid="_x0000_s83976" name="Equation" r:id="rId8" imgW="152280" imgH="164880" progId="Equation.DSMT4">
              <p:embed/>
            </p:oleObj>
          </a:graphicData>
        </a:graphic>
      </p:graphicFrame>
      <p:pic>
        <p:nvPicPr>
          <p:cNvPr id="27" name="Picture 9" descr="C:\Users\hfutliujun\AppData\Roaming\Tencent\Users\350654676\QQ\WinTemp\RichOle\AI)_U3X_JE`%`UIZZ[NH[%E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47860" y="1905000"/>
            <a:ext cx="2186340" cy="1276350"/>
          </a:xfrm>
          <a:prstGeom prst="rect">
            <a:avLst/>
          </a:prstGeom>
          <a:noFill/>
        </p:spPr>
      </p:pic>
      <p:graphicFrame>
        <p:nvGraphicFramePr>
          <p:cNvPr id="28" name="Object 10"/>
          <p:cNvGraphicFramePr>
            <a:graphicFrameLocks noChangeAspect="1"/>
          </p:cNvGraphicFramePr>
          <p:nvPr/>
        </p:nvGraphicFramePr>
        <p:xfrm>
          <a:off x="4549488" y="2331342"/>
          <a:ext cx="204788" cy="212725"/>
        </p:xfrm>
        <a:graphic>
          <a:graphicData uri="http://schemas.openxmlformats.org/presentationml/2006/ole">
            <p:oleObj spid="_x0000_s83988" name="Equation" r:id="rId9" imgW="126720" imgH="177480" progId="Equation.DSMT4">
              <p:embed/>
            </p:oleObj>
          </a:graphicData>
        </a:graphic>
      </p:graphicFrame>
      <p:graphicFrame>
        <p:nvGraphicFramePr>
          <p:cNvPr id="29" name="Object 11"/>
          <p:cNvGraphicFramePr>
            <a:graphicFrameLocks noChangeAspect="1"/>
          </p:cNvGraphicFramePr>
          <p:nvPr/>
        </p:nvGraphicFramePr>
        <p:xfrm>
          <a:off x="4525098" y="2728020"/>
          <a:ext cx="246063" cy="198438"/>
        </p:xfrm>
        <a:graphic>
          <a:graphicData uri="http://schemas.openxmlformats.org/presentationml/2006/ole">
            <p:oleObj spid="_x0000_s83989" name="Equation" r:id="rId10" imgW="152280" imgH="164880" progId="Equation.DSMT4">
              <p:embed/>
            </p:oleObj>
          </a:graphicData>
        </a:graphic>
      </p:graphicFrame>
      <p:graphicFrame>
        <p:nvGraphicFramePr>
          <p:cNvPr id="30" name="Object 12"/>
          <p:cNvGraphicFramePr>
            <a:graphicFrameLocks noChangeAspect="1"/>
          </p:cNvGraphicFramePr>
          <p:nvPr/>
        </p:nvGraphicFramePr>
        <p:xfrm>
          <a:off x="4519260" y="2529648"/>
          <a:ext cx="246063" cy="198438"/>
        </p:xfrm>
        <a:graphic>
          <a:graphicData uri="http://schemas.openxmlformats.org/presentationml/2006/ole">
            <p:oleObj spid="_x0000_s83990" name="Equation" r:id="rId11" imgW="152280" imgH="1648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5352</TotalTime>
  <Words>869</Words>
  <Application>Microsoft Office PowerPoint</Application>
  <PresentationFormat>全屏显示(16:9)</PresentationFormat>
  <Paragraphs>230</Paragraphs>
  <Slides>17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默认设计模板</vt:lpstr>
      <vt:lpstr>剪辑</vt:lpstr>
      <vt:lpstr>Microsoft Visio 绘图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629</cp:revision>
  <cp:lastPrinted>2113-01-01T00:00:00Z</cp:lastPrinted>
  <dcterms:created xsi:type="dcterms:W3CDTF">2113-01-01T00:00:00Z</dcterms:created>
  <dcterms:modified xsi:type="dcterms:W3CDTF">2021-01-01T09:45:16Z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