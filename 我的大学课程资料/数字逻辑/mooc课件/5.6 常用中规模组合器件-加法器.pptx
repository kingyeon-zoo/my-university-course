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09" r:id="rId2"/>
    <p:sldId id="408" r:id="rId3"/>
    <p:sldId id="409" r:id="rId4"/>
    <p:sldId id="410" r:id="rId5"/>
    <p:sldId id="412" r:id="rId6"/>
    <p:sldId id="413" r:id="rId7"/>
    <p:sldId id="427" r:id="rId8"/>
    <p:sldId id="428" r:id="rId9"/>
    <p:sldId id="429" r:id="rId10"/>
    <p:sldId id="430" r:id="rId11"/>
    <p:sldId id="431" r:id="rId12"/>
    <p:sldId id="432" r:id="rId13"/>
    <p:sldId id="433" r:id="rId1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1341"/>
    <a:srgbClr val="6600CC"/>
    <a:srgbClr val="00FFFF"/>
    <a:srgbClr val="3333CC"/>
    <a:srgbClr val="2D2D8A"/>
    <a:srgbClr val="0000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0" autoAdjust="0"/>
    <p:restoredTop sz="81242" autoAdjust="0"/>
  </p:normalViewPr>
  <p:slideViewPr>
    <p:cSldViewPr>
      <p:cViewPr varScale="1">
        <p:scale>
          <a:sx n="118" d="100"/>
          <a:sy n="118" d="100"/>
        </p:scale>
        <p:origin x="-330" y="-12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68FF4-A610-4CCF-A92A-54B8EBE33021}" type="datetimeFigureOut">
              <a:rPr lang="zh-CN" altLang="en-US" smtClean="0"/>
              <a:pPr/>
              <a:t>2021/1/15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48513-AA6D-4F8A-B41C-3BE1F5014A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32961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D48513-AA6D-4F8A-B41C-3BE1F5014A0C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9E5F32BA-079D-492C-A71C-25B1AC211EF7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101730A-013B-4CB4-BA74-6B5A2DA383A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7D708CB0-180E-480A-B5E9-304EDB71A67E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>
                <a:ea typeface="微软雅黑" panose="020B0503020204020204" pitchFamily="34" charset="-122"/>
              </a:defRPr>
            </a:lvl1pPr>
            <a:lvl2pPr>
              <a:defRPr sz="2400">
                <a:ea typeface="微软雅黑" panose="020B0503020204020204" pitchFamily="34" charset="-122"/>
              </a:defRPr>
            </a:lvl2pPr>
            <a:lvl3pPr>
              <a:defRPr sz="2000">
                <a:ea typeface="微软雅黑" panose="020B0503020204020204" pitchFamily="34" charset="-122"/>
              </a:defRPr>
            </a:lvl3pPr>
            <a:lvl4pPr>
              <a:defRPr sz="1800">
                <a:ea typeface="微软雅黑" panose="020B0503020204020204" pitchFamily="34" charset="-122"/>
              </a:defRPr>
            </a:lvl4pPr>
            <a:lvl5pPr>
              <a:defRPr sz="1800"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BF519ABF-577E-4AA5-A198-446EB778942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0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600">
                <a:ea typeface="微软雅黑" panose="020B0503020204020204" pitchFamily="34" charset="-122"/>
              </a:defRPr>
            </a:lvl4pPr>
            <a:lvl5pPr>
              <a:defRPr sz="1600">
                <a:ea typeface="微软雅黑" panose="020B0503020204020204" pitchFamily="34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35A92FF-C25D-44F5-BA10-134AA412F22C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CC5F3488-9DEE-45BA-87B6-C85FA6C76AB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>
                <a:ea typeface="微软雅黑" panose="020B0503020204020204" pitchFamily="34" charset="-122"/>
              </a:defRPr>
            </a:lvl1pPr>
            <a:lvl2pPr>
              <a:defRPr sz="2800">
                <a:ea typeface="微软雅黑" panose="020B0503020204020204" pitchFamily="34" charset="-122"/>
              </a:defRPr>
            </a:lvl2pPr>
            <a:lvl3pPr>
              <a:defRPr sz="2400">
                <a:ea typeface="微软雅黑" panose="020B0503020204020204" pitchFamily="34" charset="-122"/>
              </a:defRPr>
            </a:lvl3pPr>
            <a:lvl4pPr>
              <a:defRPr sz="2000">
                <a:ea typeface="微软雅黑" panose="020B0503020204020204" pitchFamily="34" charset="-122"/>
              </a:defRPr>
            </a:lvl4pPr>
            <a:lvl5pPr>
              <a:defRPr sz="2000">
                <a:ea typeface="微软雅黑" panose="020B0503020204020204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D75ABF99-AFDD-4392-BE13-BE42827BA07F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ea typeface="微软雅黑" panose="020B0503020204020204" pitchFamily="34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dirty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ea typeface="微软雅黑" panose="020B0503020204020204" pitchFamily="3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7E1D088-313E-48D8-BECE-41A274E0B5D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4B0AB86-F7AE-4867-ADFF-354DE647AB0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43CEB1D2-F23D-4EFF-A6C7-152E930DD571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4683919"/>
            <a:ext cx="2895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3919"/>
            <a:ext cx="2133600" cy="357188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407513-19AE-47F0-ABD9-53914FA698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"/>
          <p:cNvSpPr>
            <a:spLocks noChangeArrowheads="1"/>
          </p:cNvSpPr>
          <p:nvPr userDrawn="1"/>
        </p:nvSpPr>
        <p:spPr bwMode="auto">
          <a:xfrm>
            <a:off x="76318" y="514404"/>
            <a:ext cx="8950418" cy="67865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0 w 1000"/>
              <a:gd name="T11" fmla="*/ 0 h 1000"/>
              <a:gd name="T12" fmla="*/ 1000 w 1000"/>
              <a:gd name="T13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6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6" name="Line 5"/>
          <p:cNvSpPr>
            <a:spLocks noChangeShapeType="1"/>
          </p:cNvSpPr>
          <p:nvPr userDrawn="1"/>
        </p:nvSpPr>
        <p:spPr bwMode="auto">
          <a:xfrm>
            <a:off x="76318" y="4933888"/>
            <a:ext cx="8950418" cy="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8" name="图片 7" descr="校标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215019" y="0"/>
            <a:ext cx="2545745" cy="4776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jpeg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6.bin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5" Type="http://schemas.openxmlformats.org/officeDocument/2006/relationships/oleObject" Target="../embeddings/oleObject15.bin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9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矩形 121"/>
          <p:cNvSpPr/>
          <p:nvPr/>
        </p:nvSpPr>
        <p:spPr>
          <a:xfrm>
            <a:off x="609704" y="1233568"/>
            <a:ext cx="822949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4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中规模组合逻辑标准构件</a:t>
            </a:r>
            <a:endParaRPr lang="zh-CN" altLang="zh-CN" sz="54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0" name="Rectangle 59"/>
          <p:cNvSpPr>
            <a:spLocks noChangeArrowheads="1"/>
          </p:cNvSpPr>
          <p:nvPr/>
        </p:nvSpPr>
        <p:spPr bwMode="auto">
          <a:xfrm>
            <a:off x="1524000" y="2571750"/>
            <a:ext cx="6477692" cy="1523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刘 军</a:t>
            </a:r>
            <a:endParaRPr lang="en-US" altLang="zh-CN" sz="2800" b="1" dirty="0" smtClean="0">
              <a:latin typeface="+mn-ea"/>
              <a:ea typeface="+mn-ea"/>
            </a:endParaRPr>
          </a:p>
          <a:p>
            <a:pPr marL="567055" indent="-567055" algn="ctr" defTabSz="827405">
              <a:spcBef>
                <a:spcPct val="20000"/>
              </a:spcBef>
              <a:buClr>
                <a:srgbClr val="FFFF00"/>
              </a:buClr>
              <a:buSzPct val="85000"/>
              <a:buFont typeface="Wingdings" panose="05000000000000000000" pitchFamily="2" charset="2"/>
              <a:buNone/>
            </a:pPr>
            <a:r>
              <a:rPr lang="zh-CN" altLang="en-US" sz="2800" b="1" dirty="0" smtClean="0">
                <a:latin typeface="+mn-ea"/>
                <a:ea typeface="+mn-ea"/>
              </a:rPr>
              <a:t>合肥工业大学计算机与信息学院</a:t>
            </a:r>
            <a:endParaRPr lang="en-US" altLang="zh-CN" sz="28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44735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52400" y="5905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全加器：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Text Box 72"/>
          <p:cNvSpPr txBox="1">
            <a:spLocks noChangeArrowheads="1"/>
          </p:cNvSpPr>
          <p:nvPr/>
        </p:nvSpPr>
        <p:spPr bwMode="auto">
          <a:xfrm>
            <a:off x="4191000" y="3790950"/>
            <a:ext cx="658469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图  </a:t>
            </a:r>
            <a:r>
              <a:rPr lang="en-US" altLang="zh-CN" sz="1400" dirty="0" smtClean="0">
                <a:latin typeface="微软雅黑" pitchFamily="34" charset="-122"/>
                <a:ea typeface="微软雅黑" pitchFamily="34" charset="-122"/>
              </a:rPr>
              <a:t>1</a:t>
            </a:r>
            <a:endParaRPr lang="en-US" altLang="zh-CN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Text Box 72"/>
          <p:cNvSpPr txBox="1">
            <a:spLocks noChangeArrowheads="1"/>
          </p:cNvSpPr>
          <p:nvPr/>
        </p:nvSpPr>
        <p:spPr bwMode="auto">
          <a:xfrm>
            <a:off x="762000" y="1123950"/>
            <a:ext cx="17526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/>
              <a:t>表  </a:t>
            </a:r>
            <a:r>
              <a:rPr lang="en-US" altLang="zh-CN" sz="1400" b="1" dirty="0" smtClean="0"/>
              <a:t>1 </a:t>
            </a:r>
            <a:r>
              <a:rPr lang="zh-CN" altLang="en-US" sz="1400" b="1" dirty="0" smtClean="0"/>
              <a:t>全加器真值表</a:t>
            </a:r>
            <a:endParaRPr lang="en-US" altLang="zh-CN" sz="1400" b="1" dirty="0"/>
          </a:p>
        </p:txBody>
      </p:sp>
      <p:pic>
        <p:nvPicPr>
          <p:cNvPr id="173058" name="Picture 2" descr="C:\Users\hfutliujun\AppData\Roaming\Tencent\Users\350654676\QQ\WinTemp\RichOle\[W9BQ4UC6{QWPB[X1AC`U}A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428750"/>
            <a:ext cx="2087905" cy="2971800"/>
          </a:xfrm>
          <a:prstGeom prst="rect">
            <a:avLst/>
          </a:prstGeom>
          <a:noFill/>
        </p:spPr>
      </p:pic>
      <p:graphicFrame>
        <p:nvGraphicFramePr>
          <p:cNvPr id="338974" name="Object 30"/>
          <p:cNvGraphicFramePr>
            <a:graphicFrameLocks noChangeAspect="1"/>
          </p:cNvGraphicFramePr>
          <p:nvPr/>
        </p:nvGraphicFramePr>
        <p:xfrm>
          <a:off x="3810000" y="1428750"/>
          <a:ext cx="1524000" cy="229397"/>
        </p:xfrm>
        <a:graphic>
          <a:graphicData uri="http://schemas.openxmlformats.org/presentationml/2006/ole">
            <p:oleObj spid="_x0000_s173059" name="公式" r:id="rId4" imgW="1180800" imgH="177480" progId="">
              <p:embed/>
            </p:oleObj>
          </a:graphicData>
        </a:graphic>
      </p:graphicFrame>
      <p:graphicFrame>
        <p:nvGraphicFramePr>
          <p:cNvPr id="338975" name="Object 31"/>
          <p:cNvGraphicFramePr>
            <a:graphicFrameLocks noChangeAspect="1"/>
          </p:cNvGraphicFramePr>
          <p:nvPr/>
        </p:nvGraphicFramePr>
        <p:xfrm>
          <a:off x="5638800" y="1453504"/>
          <a:ext cx="1752600" cy="231494"/>
        </p:xfrm>
        <a:graphic>
          <a:graphicData uri="http://schemas.openxmlformats.org/presentationml/2006/ole">
            <p:oleObj spid="_x0000_s173060" name="公式" r:id="rId5" imgW="1536480" imgH="203040" progId="">
              <p:embed/>
            </p:oleObj>
          </a:graphicData>
        </a:graphic>
      </p:graphicFrame>
      <p:sp>
        <p:nvSpPr>
          <p:cNvPr id="57" name="Text Box 72"/>
          <p:cNvSpPr txBox="1">
            <a:spLocks noChangeArrowheads="1"/>
          </p:cNvSpPr>
          <p:nvPr/>
        </p:nvSpPr>
        <p:spPr bwMode="auto">
          <a:xfrm>
            <a:off x="3733800" y="1047750"/>
            <a:ext cx="17526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逻辑表达式：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9" name="Text Box 72"/>
          <p:cNvSpPr txBox="1">
            <a:spLocks noChangeArrowheads="1"/>
          </p:cNvSpPr>
          <p:nvPr/>
        </p:nvSpPr>
        <p:spPr bwMode="auto">
          <a:xfrm>
            <a:off x="3581400" y="1885950"/>
            <a:ext cx="17526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逻辑电路：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2" name="Picture 48" descr="KEYFW(_7@5EBW2@7)S5W4KW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81400" y="2266950"/>
            <a:ext cx="2212447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Text Box 72"/>
          <p:cNvSpPr txBox="1">
            <a:spLocks noChangeArrowheads="1"/>
          </p:cNvSpPr>
          <p:nvPr/>
        </p:nvSpPr>
        <p:spPr bwMode="auto">
          <a:xfrm>
            <a:off x="6553200" y="1885950"/>
            <a:ext cx="1752600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b="1" dirty="0" smtClean="0">
                <a:latin typeface="微软雅黑" pitchFamily="34" charset="-122"/>
                <a:ea typeface="微软雅黑" pitchFamily="34" charset="-122"/>
              </a:rPr>
              <a:t>逻辑框图：</a:t>
            </a:r>
            <a:endParaRPr lang="en-US" altLang="zh-CN" sz="1400" b="1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64" name="Group 32"/>
          <p:cNvGrpSpPr>
            <a:grpSpLocks/>
          </p:cNvGrpSpPr>
          <p:nvPr/>
        </p:nvGrpSpPr>
        <p:grpSpPr bwMode="auto">
          <a:xfrm>
            <a:off x="6629400" y="2266950"/>
            <a:ext cx="1371601" cy="1831514"/>
            <a:chOff x="3868" y="2736"/>
            <a:chExt cx="1298" cy="1639"/>
          </a:xfrm>
        </p:grpSpPr>
        <p:grpSp>
          <p:nvGrpSpPr>
            <p:cNvPr id="65" name="Group 33"/>
            <p:cNvGrpSpPr>
              <a:grpSpLocks/>
            </p:cNvGrpSpPr>
            <p:nvPr/>
          </p:nvGrpSpPr>
          <p:grpSpPr bwMode="auto">
            <a:xfrm>
              <a:off x="3868" y="2736"/>
              <a:ext cx="1298" cy="1164"/>
              <a:chOff x="3868" y="2832"/>
              <a:chExt cx="1298" cy="1164"/>
            </a:xfrm>
          </p:grpSpPr>
          <p:sp>
            <p:nvSpPr>
              <p:cNvPr id="67" name="Text Box 34"/>
              <p:cNvSpPr txBox="1">
                <a:spLocks noChangeArrowheads="1"/>
              </p:cNvSpPr>
              <p:nvPr/>
            </p:nvSpPr>
            <p:spPr bwMode="auto">
              <a:xfrm>
                <a:off x="4351" y="3360"/>
                <a:ext cx="382" cy="275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/>
                <a:r>
                  <a:rPr kumimoji="1" lang="en-US" altLang="zh-CN" sz="1400" dirty="0">
                    <a:latin typeface="Tahoma" pitchFamily="34" charset="0"/>
                  </a:rPr>
                  <a:t>FA</a:t>
                </a:r>
              </a:p>
            </p:txBody>
          </p:sp>
          <p:sp>
            <p:nvSpPr>
              <p:cNvPr id="68" name="Rectangle 35"/>
              <p:cNvSpPr>
                <a:spLocks noChangeArrowheads="1"/>
              </p:cNvSpPr>
              <p:nvPr/>
            </p:nvSpPr>
            <p:spPr bwMode="auto">
              <a:xfrm>
                <a:off x="4224" y="3312"/>
                <a:ext cx="576" cy="33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1400"/>
              </a:p>
            </p:txBody>
          </p:sp>
          <p:sp>
            <p:nvSpPr>
              <p:cNvPr id="69" name="Line 36"/>
              <p:cNvSpPr>
                <a:spLocks noChangeShapeType="1"/>
              </p:cNvSpPr>
              <p:nvPr/>
            </p:nvSpPr>
            <p:spPr bwMode="auto">
              <a:xfrm>
                <a:off x="4320" y="3648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0" name="Line 37"/>
              <p:cNvSpPr>
                <a:spLocks noChangeShapeType="1"/>
              </p:cNvSpPr>
              <p:nvPr/>
            </p:nvSpPr>
            <p:spPr bwMode="auto">
              <a:xfrm>
                <a:off x="4704" y="3648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1" name="Line 38"/>
              <p:cNvSpPr>
                <a:spLocks noChangeShapeType="1"/>
              </p:cNvSpPr>
              <p:nvPr/>
            </p:nvSpPr>
            <p:spPr bwMode="auto">
              <a:xfrm>
                <a:off x="4512" y="3120"/>
                <a:ext cx="0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2" name="Line 39"/>
              <p:cNvSpPr>
                <a:spLocks noChangeShapeType="1"/>
              </p:cNvSpPr>
              <p:nvPr/>
            </p:nvSpPr>
            <p:spPr bwMode="auto">
              <a:xfrm flipH="1">
                <a:off x="4800" y="3456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3" name="Line 40"/>
              <p:cNvSpPr>
                <a:spLocks noChangeShapeType="1"/>
              </p:cNvSpPr>
              <p:nvPr/>
            </p:nvSpPr>
            <p:spPr bwMode="auto">
              <a:xfrm flipH="1">
                <a:off x="4080" y="3456"/>
                <a:ext cx="1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/>
              <a:lstStyle/>
              <a:p>
                <a:endParaRPr lang="zh-CN" altLang="en-US" sz="1400"/>
              </a:p>
            </p:txBody>
          </p:sp>
          <p:sp>
            <p:nvSpPr>
              <p:cNvPr id="74" name="Text Box 41"/>
              <p:cNvSpPr txBox="1">
                <a:spLocks noChangeArrowheads="1"/>
              </p:cNvSpPr>
              <p:nvPr/>
            </p:nvSpPr>
            <p:spPr bwMode="auto">
              <a:xfrm>
                <a:off x="4896" y="3285"/>
                <a:ext cx="270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>
                    <a:latin typeface="Tahoma" pitchFamily="34" charset="0"/>
                  </a:rPr>
                  <a:t>C</a:t>
                </a:r>
                <a:r>
                  <a:rPr kumimoji="1" lang="en-US" altLang="zh-CN" sz="1400" baseline="-25000">
                    <a:latin typeface="Tahoma" pitchFamily="34" charset="0"/>
                  </a:rPr>
                  <a:t>i-1</a:t>
                </a:r>
                <a:endParaRPr kumimoji="1" lang="en-US" altLang="zh-CN" sz="1400">
                  <a:latin typeface="Tahoma" pitchFamily="34" charset="0"/>
                </a:endParaRPr>
              </a:p>
            </p:txBody>
          </p:sp>
          <p:sp>
            <p:nvSpPr>
              <p:cNvPr id="75" name="Text Box 42"/>
              <p:cNvSpPr txBox="1">
                <a:spLocks noChangeArrowheads="1"/>
              </p:cNvSpPr>
              <p:nvPr/>
            </p:nvSpPr>
            <p:spPr bwMode="auto">
              <a:xfrm>
                <a:off x="3868" y="3285"/>
                <a:ext cx="201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>
                    <a:latin typeface="Tahoma" pitchFamily="34" charset="0"/>
                  </a:rPr>
                  <a:t>C</a:t>
                </a:r>
                <a:r>
                  <a:rPr kumimoji="1" lang="en-US" altLang="zh-CN" sz="1400" baseline="-25000">
                    <a:latin typeface="Tahoma" pitchFamily="34" charset="0"/>
                  </a:rPr>
                  <a:t>i</a:t>
                </a:r>
                <a:endParaRPr kumimoji="1" lang="en-US" altLang="zh-CN" sz="1400">
                  <a:latin typeface="Tahoma" pitchFamily="34" charset="0"/>
                </a:endParaRPr>
              </a:p>
            </p:txBody>
          </p:sp>
          <p:sp>
            <p:nvSpPr>
              <p:cNvPr id="76" name="Text Box 43"/>
              <p:cNvSpPr txBox="1">
                <a:spLocks noChangeArrowheads="1"/>
              </p:cNvSpPr>
              <p:nvPr/>
            </p:nvSpPr>
            <p:spPr bwMode="auto">
              <a:xfrm>
                <a:off x="4404" y="2832"/>
                <a:ext cx="196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 dirty="0">
                    <a:latin typeface="Tahoma" pitchFamily="34" charset="0"/>
                  </a:rPr>
                  <a:t>S</a:t>
                </a:r>
                <a:r>
                  <a:rPr kumimoji="1" lang="en-US" altLang="zh-CN" sz="1400" baseline="-25000" dirty="0">
                    <a:latin typeface="Tahoma" pitchFamily="34" charset="0"/>
                  </a:rPr>
                  <a:t>i</a:t>
                </a:r>
              </a:p>
            </p:txBody>
          </p:sp>
          <p:sp>
            <p:nvSpPr>
              <p:cNvPr id="77" name="Text Box 44"/>
              <p:cNvSpPr txBox="1">
                <a:spLocks noChangeArrowheads="1"/>
              </p:cNvSpPr>
              <p:nvPr/>
            </p:nvSpPr>
            <p:spPr bwMode="auto">
              <a:xfrm>
                <a:off x="4201" y="3802"/>
                <a:ext cx="201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>
                    <a:latin typeface="Tahoma" pitchFamily="34" charset="0"/>
                  </a:rPr>
                  <a:t>A</a:t>
                </a:r>
                <a:r>
                  <a:rPr kumimoji="1" lang="en-US" altLang="zh-CN" sz="1400" baseline="-25000">
                    <a:latin typeface="Tahoma" pitchFamily="34" charset="0"/>
                  </a:rPr>
                  <a:t>i</a:t>
                </a:r>
              </a:p>
            </p:txBody>
          </p:sp>
          <p:sp>
            <p:nvSpPr>
              <p:cNvPr id="78" name="Text Box 45"/>
              <p:cNvSpPr txBox="1">
                <a:spLocks noChangeArrowheads="1"/>
              </p:cNvSpPr>
              <p:nvPr/>
            </p:nvSpPr>
            <p:spPr bwMode="auto">
              <a:xfrm>
                <a:off x="4595" y="3792"/>
                <a:ext cx="201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kumimoji="1" lang="en-US" altLang="zh-CN" sz="1400">
                    <a:latin typeface="Tahoma" pitchFamily="34" charset="0"/>
                  </a:rPr>
                  <a:t>B</a:t>
                </a:r>
                <a:r>
                  <a:rPr kumimoji="1" lang="en-US" altLang="zh-CN" sz="1400" baseline="-25000">
                    <a:latin typeface="Tahoma" pitchFamily="34" charset="0"/>
                  </a:rPr>
                  <a:t>i</a:t>
                </a:r>
              </a:p>
            </p:txBody>
          </p:sp>
        </p:grpSp>
        <p:sp>
          <p:nvSpPr>
            <p:cNvPr id="66" name="Text Box 46"/>
            <p:cNvSpPr txBox="1">
              <a:spLocks noChangeArrowheads="1"/>
            </p:cNvSpPr>
            <p:nvPr/>
          </p:nvSpPr>
          <p:spPr bwMode="auto">
            <a:xfrm>
              <a:off x="4229" y="4100"/>
              <a:ext cx="596" cy="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1400" dirty="0" smtClean="0">
                  <a:latin typeface="微软雅黑" pitchFamily="34" charset="-122"/>
                  <a:ea typeface="微软雅黑" pitchFamily="34" charset="-122"/>
                </a:rPr>
                <a:t> 图  </a:t>
              </a:r>
              <a:r>
                <a:rPr kumimoji="1" lang="en-US" altLang="zh-CN" sz="1400" dirty="0" smtClean="0">
                  <a:latin typeface="微软雅黑" pitchFamily="34" charset="-122"/>
                  <a:ea typeface="微软雅黑" pitchFamily="34" charset="-122"/>
                </a:rPr>
                <a:t>2</a:t>
              </a:r>
              <a:endParaRPr kumimoji="1" lang="zh-CN" altLang="en-US" sz="14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548963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38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38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7" grpId="0"/>
      <p:bldP spid="59" grpId="0"/>
      <p:bldP spid="6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5"/>
          <p:cNvGrpSpPr>
            <a:grpSpLocks/>
          </p:cNvGrpSpPr>
          <p:nvPr/>
        </p:nvGrpSpPr>
        <p:grpSpPr bwMode="auto">
          <a:xfrm>
            <a:off x="685800" y="1200150"/>
            <a:ext cx="7580313" cy="2305050"/>
            <a:chOff x="192" y="1843"/>
            <a:chExt cx="4775" cy="1452"/>
          </a:xfrm>
        </p:grpSpPr>
        <p:grpSp>
          <p:nvGrpSpPr>
            <p:cNvPr id="5" name="Group 6"/>
            <p:cNvGrpSpPr>
              <a:grpSpLocks/>
            </p:cNvGrpSpPr>
            <p:nvPr/>
          </p:nvGrpSpPr>
          <p:grpSpPr bwMode="auto">
            <a:xfrm>
              <a:off x="453" y="2047"/>
              <a:ext cx="1021" cy="998"/>
              <a:chOff x="453" y="2047"/>
              <a:chExt cx="1021" cy="998"/>
            </a:xfrm>
          </p:grpSpPr>
          <p:grpSp>
            <p:nvGrpSpPr>
              <p:cNvPr id="32" name="Group 7"/>
              <p:cNvGrpSpPr>
                <a:grpSpLocks/>
              </p:cNvGrpSpPr>
              <p:nvPr/>
            </p:nvGrpSpPr>
            <p:grpSpPr bwMode="auto">
              <a:xfrm>
                <a:off x="453" y="2047"/>
                <a:ext cx="885" cy="998"/>
                <a:chOff x="453" y="2047"/>
                <a:chExt cx="885" cy="998"/>
              </a:xfrm>
            </p:grpSpPr>
            <p:sp>
              <p:nvSpPr>
                <p:cNvPr id="34" name="Rectangle 8"/>
                <p:cNvSpPr>
                  <a:spLocks noChangeArrowheads="1"/>
                </p:cNvSpPr>
                <p:nvPr/>
              </p:nvSpPr>
              <p:spPr bwMode="auto">
                <a:xfrm>
                  <a:off x="657" y="2273"/>
                  <a:ext cx="681" cy="45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816" y="2727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1179" y="2727"/>
                  <a:ext cx="0" cy="31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453" y="2478"/>
                  <a:ext cx="2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975" y="2047"/>
                  <a:ext cx="0" cy="2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3" name="Text Box 13"/>
              <p:cNvSpPr txBox="1">
                <a:spLocks noChangeArrowheads="1"/>
              </p:cNvSpPr>
              <p:nvPr/>
            </p:nvSpPr>
            <p:spPr bwMode="auto">
              <a:xfrm>
                <a:off x="793" y="2341"/>
                <a:ext cx="681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/>
                  <a:t>FA</a:t>
                </a:r>
                <a:r>
                  <a:rPr lang="en-US" altLang="zh-CN" sz="2000" b="1" baseline="-5000"/>
                  <a:t>4</a:t>
                </a:r>
              </a:p>
            </p:txBody>
          </p:sp>
        </p:grpSp>
        <p:sp>
          <p:nvSpPr>
            <p:cNvPr id="6" name="Rectangle 14"/>
            <p:cNvSpPr>
              <a:spLocks noChangeArrowheads="1"/>
            </p:cNvSpPr>
            <p:nvPr/>
          </p:nvSpPr>
          <p:spPr bwMode="auto">
            <a:xfrm>
              <a:off x="1609" y="2273"/>
              <a:ext cx="681" cy="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15"/>
            <p:cNvSpPr>
              <a:spLocks noChangeShapeType="1"/>
            </p:cNvSpPr>
            <p:nvPr/>
          </p:nvSpPr>
          <p:spPr bwMode="auto">
            <a:xfrm flipV="1">
              <a:off x="1768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Line 16"/>
            <p:cNvSpPr>
              <a:spLocks noChangeShapeType="1"/>
            </p:cNvSpPr>
            <p:nvPr/>
          </p:nvSpPr>
          <p:spPr bwMode="auto">
            <a:xfrm flipV="1">
              <a:off x="2131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17"/>
            <p:cNvSpPr>
              <a:spLocks noChangeShapeType="1"/>
            </p:cNvSpPr>
            <p:nvPr/>
          </p:nvSpPr>
          <p:spPr bwMode="auto">
            <a:xfrm flipH="1">
              <a:off x="1338" y="2478"/>
              <a:ext cx="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V="1">
              <a:off x="1927" y="2047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Box 19"/>
            <p:cNvSpPr txBox="1">
              <a:spLocks noChangeArrowheads="1"/>
            </p:cNvSpPr>
            <p:nvPr/>
          </p:nvSpPr>
          <p:spPr bwMode="auto">
            <a:xfrm>
              <a:off x="1745" y="2341"/>
              <a:ext cx="6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FA</a:t>
              </a:r>
              <a:r>
                <a:rPr lang="en-US" altLang="zh-CN" sz="2000" b="1" baseline="-5000"/>
                <a:t>3</a:t>
              </a:r>
            </a:p>
          </p:txBody>
        </p:sp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2539" y="2273"/>
              <a:ext cx="681" cy="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Line 21"/>
            <p:cNvSpPr>
              <a:spLocks noChangeShapeType="1"/>
            </p:cNvSpPr>
            <p:nvPr/>
          </p:nvSpPr>
          <p:spPr bwMode="auto">
            <a:xfrm flipV="1">
              <a:off x="2698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22"/>
            <p:cNvSpPr>
              <a:spLocks noChangeShapeType="1"/>
            </p:cNvSpPr>
            <p:nvPr/>
          </p:nvSpPr>
          <p:spPr bwMode="auto">
            <a:xfrm flipV="1">
              <a:off x="3061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23"/>
            <p:cNvSpPr>
              <a:spLocks noChangeShapeType="1"/>
            </p:cNvSpPr>
            <p:nvPr/>
          </p:nvSpPr>
          <p:spPr bwMode="auto">
            <a:xfrm flipH="1">
              <a:off x="2290" y="2478"/>
              <a:ext cx="24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24"/>
            <p:cNvSpPr>
              <a:spLocks noChangeShapeType="1"/>
            </p:cNvSpPr>
            <p:nvPr/>
          </p:nvSpPr>
          <p:spPr bwMode="auto">
            <a:xfrm flipV="1">
              <a:off x="2857" y="2047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 Box 25"/>
            <p:cNvSpPr txBox="1">
              <a:spLocks noChangeArrowheads="1"/>
            </p:cNvSpPr>
            <p:nvPr/>
          </p:nvSpPr>
          <p:spPr bwMode="auto">
            <a:xfrm>
              <a:off x="2675" y="2341"/>
              <a:ext cx="6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FA</a:t>
              </a:r>
              <a:r>
                <a:rPr lang="en-US" altLang="zh-CN" sz="2000" b="1" baseline="-5000"/>
                <a:t>2</a:t>
              </a:r>
            </a:p>
          </p:txBody>
        </p:sp>
        <p:sp>
          <p:nvSpPr>
            <p:cNvPr id="18" name="Rectangle 26"/>
            <p:cNvSpPr>
              <a:spLocks noChangeArrowheads="1"/>
            </p:cNvSpPr>
            <p:nvPr/>
          </p:nvSpPr>
          <p:spPr bwMode="auto">
            <a:xfrm>
              <a:off x="3515" y="2273"/>
              <a:ext cx="681" cy="4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27"/>
            <p:cNvSpPr>
              <a:spLocks noChangeShapeType="1"/>
            </p:cNvSpPr>
            <p:nvPr/>
          </p:nvSpPr>
          <p:spPr bwMode="auto">
            <a:xfrm flipV="1">
              <a:off x="3674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8"/>
            <p:cNvSpPr>
              <a:spLocks noChangeShapeType="1"/>
            </p:cNvSpPr>
            <p:nvPr/>
          </p:nvSpPr>
          <p:spPr bwMode="auto">
            <a:xfrm flipV="1">
              <a:off x="4037" y="2727"/>
              <a:ext cx="0" cy="3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9"/>
            <p:cNvSpPr>
              <a:spLocks noChangeShapeType="1"/>
            </p:cNvSpPr>
            <p:nvPr/>
          </p:nvSpPr>
          <p:spPr bwMode="auto">
            <a:xfrm flipV="1">
              <a:off x="3833" y="2047"/>
              <a:ext cx="0" cy="2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30"/>
            <p:cNvSpPr txBox="1">
              <a:spLocks noChangeArrowheads="1"/>
            </p:cNvSpPr>
            <p:nvPr/>
          </p:nvSpPr>
          <p:spPr bwMode="auto">
            <a:xfrm>
              <a:off x="3651" y="2341"/>
              <a:ext cx="6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FA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 flipH="1">
              <a:off x="4197" y="2478"/>
              <a:ext cx="27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32"/>
            <p:cNvSpPr txBox="1">
              <a:spLocks noChangeArrowheads="1"/>
            </p:cNvSpPr>
            <p:nvPr/>
          </p:nvSpPr>
          <p:spPr bwMode="auto">
            <a:xfrm>
              <a:off x="657" y="3045"/>
              <a:ext cx="381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/>
                <a:t>A</a:t>
              </a:r>
              <a:r>
                <a:rPr lang="en-US" altLang="zh-CN" sz="2000" b="1" baseline="-5000" dirty="0"/>
                <a:t>4</a:t>
              </a:r>
              <a:r>
                <a:rPr lang="en-US" altLang="zh-CN" sz="2000" b="1" dirty="0"/>
                <a:t>     B</a:t>
              </a:r>
              <a:r>
                <a:rPr lang="en-US" altLang="zh-CN" sz="2000" b="1" baseline="-5000" dirty="0"/>
                <a:t>4 </a:t>
              </a:r>
              <a:r>
                <a:rPr lang="en-US" altLang="zh-CN" sz="2000" b="1" dirty="0"/>
                <a:t>         A</a:t>
              </a:r>
              <a:r>
                <a:rPr lang="en-US" altLang="zh-CN" sz="2000" b="1" baseline="-5000" dirty="0"/>
                <a:t>3</a:t>
              </a:r>
              <a:r>
                <a:rPr lang="en-US" altLang="zh-CN" sz="2000" b="1" dirty="0"/>
                <a:t>     B</a:t>
              </a:r>
              <a:r>
                <a:rPr lang="en-US" altLang="zh-CN" sz="2000" b="1" baseline="-5000" dirty="0"/>
                <a:t>3</a:t>
              </a:r>
              <a:r>
                <a:rPr lang="en-US" altLang="zh-CN" sz="2000" b="1" dirty="0"/>
                <a:t>        A</a:t>
              </a:r>
              <a:r>
                <a:rPr lang="en-US" altLang="zh-CN" sz="2000" b="1" baseline="-5000" dirty="0"/>
                <a:t>2</a:t>
              </a:r>
              <a:r>
                <a:rPr lang="en-US" altLang="zh-CN" sz="2000" b="1" dirty="0"/>
                <a:t>     B</a:t>
              </a:r>
              <a:r>
                <a:rPr lang="en-US" altLang="zh-CN" sz="2000" b="1" baseline="-5000" dirty="0"/>
                <a:t>2</a:t>
              </a:r>
              <a:r>
                <a:rPr lang="en-US" altLang="zh-CN" sz="2000" b="1" dirty="0"/>
                <a:t>         A</a:t>
              </a:r>
              <a:r>
                <a:rPr lang="en-US" altLang="zh-CN" sz="2000" b="1" baseline="-5000" dirty="0"/>
                <a:t>1</a:t>
              </a:r>
              <a:r>
                <a:rPr lang="en-US" altLang="zh-CN" sz="2000" b="1" dirty="0"/>
                <a:t>     B</a:t>
              </a:r>
              <a:r>
                <a:rPr lang="en-US" altLang="zh-CN" sz="2000" b="1" baseline="-5000" dirty="0"/>
                <a:t>1</a:t>
              </a:r>
            </a:p>
          </p:txBody>
        </p: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>
              <a:off x="657" y="1843"/>
              <a:ext cx="347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     S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                 S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                S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                 S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26" name="Text Box 34"/>
            <p:cNvSpPr txBox="1">
              <a:spLocks noChangeArrowheads="1"/>
            </p:cNvSpPr>
            <p:nvPr/>
          </p:nvSpPr>
          <p:spPr bwMode="auto">
            <a:xfrm>
              <a:off x="4468" y="2341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/>
                <a:t>C</a:t>
              </a:r>
              <a:r>
                <a:rPr lang="en-US" altLang="zh-CN" sz="2000" b="1" baseline="-5000" dirty="0"/>
                <a:t>0</a:t>
              </a:r>
            </a:p>
          </p:txBody>
        </p:sp>
        <p:sp>
          <p:nvSpPr>
            <p:cNvPr id="27" name="Text Box 35"/>
            <p:cNvSpPr txBox="1">
              <a:spLocks noChangeArrowheads="1"/>
            </p:cNvSpPr>
            <p:nvPr/>
          </p:nvSpPr>
          <p:spPr bwMode="auto">
            <a:xfrm>
              <a:off x="3197" y="2250"/>
              <a:ext cx="499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28" name="Text Box 36"/>
            <p:cNvSpPr txBox="1">
              <a:spLocks noChangeArrowheads="1"/>
            </p:cNvSpPr>
            <p:nvPr/>
          </p:nvSpPr>
          <p:spPr bwMode="auto">
            <a:xfrm>
              <a:off x="2246" y="2250"/>
              <a:ext cx="45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5000"/>
                <a:t>2</a:t>
              </a:r>
            </a:p>
          </p:txBody>
        </p:sp>
        <p:sp>
          <p:nvSpPr>
            <p:cNvPr id="29" name="Text Box 37"/>
            <p:cNvSpPr txBox="1">
              <a:spLocks noChangeArrowheads="1"/>
            </p:cNvSpPr>
            <p:nvPr/>
          </p:nvSpPr>
          <p:spPr bwMode="auto">
            <a:xfrm>
              <a:off x="1315" y="2250"/>
              <a:ext cx="680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C</a:t>
              </a:r>
              <a:r>
                <a:rPr lang="en-US" altLang="zh-CN" sz="2000" b="1" baseline="-5000"/>
                <a:t>3</a:t>
              </a:r>
            </a:p>
          </p:txBody>
        </p:sp>
        <p:sp>
          <p:nvSpPr>
            <p:cNvPr id="30" name="Text Box 38"/>
            <p:cNvSpPr txBox="1">
              <a:spLocks noChangeArrowheads="1"/>
            </p:cNvSpPr>
            <p:nvPr/>
          </p:nvSpPr>
          <p:spPr bwMode="auto">
            <a:xfrm>
              <a:off x="192" y="2341"/>
              <a:ext cx="52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/>
                <a:t>C</a:t>
              </a:r>
              <a:r>
                <a:rPr lang="en-US" altLang="zh-CN" sz="2000" b="1" baseline="-5000" dirty="0"/>
                <a:t>4</a:t>
              </a:r>
            </a:p>
          </p:txBody>
        </p:sp>
        <p:sp>
          <p:nvSpPr>
            <p:cNvPr id="31" name="Line 39"/>
            <p:cNvSpPr>
              <a:spLocks noChangeShapeType="1"/>
            </p:cNvSpPr>
            <p:nvPr/>
          </p:nvSpPr>
          <p:spPr bwMode="auto">
            <a:xfrm flipH="1">
              <a:off x="3220" y="2478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Text Box 40"/>
          <p:cNvSpPr txBox="1">
            <a:spLocks noChangeArrowheads="1"/>
          </p:cNvSpPr>
          <p:nvPr/>
        </p:nvSpPr>
        <p:spPr bwMode="auto">
          <a:xfrm>
            <a:off x="1676400" y="4171950"/>
            <a:ext cx="684053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简单，运算速度不高</a:t>
            </a:r>
            <a:r>
              <a:rPr lang="en-US" altLang="zh-CN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1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低位的进位影响高位的</a:t>
            </a:r>
            <a:r>
              <a:rPr lang="zh-CN" altLang="en-US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运算</a:t>
            </a:r>
            <a:r>
              <a:rPr lang="en-US" altLang="zh-CN" sz="1400" b="1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endParaRPr lang="en-US" altLang="zh-CN" sz="1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 Box 41"/>
          <p:cNvSpPr txBox="1">
            <a:spLocks noChangeArrowheads="1"/>
          </p:cNvSpPr>
          <p:nvPr/>
        </p:nvSpPr>
        <p:spPr bwMode="auto">
          <a:xfrm>
            <a:off x="1447800" y="615221"/>
            <a:ext cx="74533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串行加法器  例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：两个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位二进制数相加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(A=A</a:t>
            </a:r>
            <a:r>
              <a:rPr lang="en-US" altLang="zh-CN" sz="1400" b="1" baseline="-50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="1" baseline="-50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="1" baseline="-50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1400" b="1" baseline="-50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B=B</a:t>
            </a:r>
            <a:r>
              <a:rPr lang="en-US" altLang="zh-CN" sz="1400" b="1" baseline="-50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="1" baseline="-50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="1" baseline="-50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B</a:t>
            </a:r>
            <a:r>
              <a:rPr lang="en-US" altLang="zh-CN" sz="1400" b="1" baseline="-5000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</p:txBody>
      </p:sp>
      <p:sp>
        <p:nvSpPr>
          <p:cNvPr id="41" name="矩形 4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 Box 46"/>
          <p:cNvSpPr txBox="1">
            <a:spLocks noChangeArrowheads="1"/>
          </p:cNvSpPr>
          <p:nvPr/>
        </p:nvSpPr>
        <p:spPr bwMode="auto">
          <a:xfrm>
            <a:off x="3505200" y="3714750"/>
            <a:ext cx="629795" cy="30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3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543800" y="234315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0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53200" y="219075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1#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0" y="219075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solidFill>
                  <a:srgbClr val="FF0000"/>
                </a:solidFill>
              </a:rPr>
              <a:t>2#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81400" y="2190750"/>
            <a:ext cx="533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smtClean="0">
                <a:solidFill>
                  <a:srgbClr val="FF0000"/>
                </a:solidFill>
              </a:rPr>
              <a:t>3#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3" grpId="0"/>
      <p:bldP spid="44" grpId="0"/>
      <p:bldP spid="45" grpId="0"/>
      <p:bldP spid="46" grpId="0"/>
      <p:bldP spid="4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41"/>
          <p:cNvSpPr txBox="1">
            <a:spLocks noChangeArrowheads="1"/>
          </p:cNvSpPr>
          <p:nvPr/>
        </p:nvSpPr>
        <p:spPr bwMode="auto">
          <a:xfrm>
            <a:off x="1447800" y="615221"/>
            <a:ext cx="74533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 smtClean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串行加法器的延迟时间</a:t>
            </a: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 Box 46"/>
          <p:cNvSpPr txBox="1">
            <a:spLocks noChangeArrowheads="1"/>
          </p:cNvSpPr>
          <p:nvPr/>
        </p:nvSpPr>
        <p:spPr bwMode="auto">
          <a:xfrm>
            <a:off x="3276600" y="4552950"/>
            <a:ext cx="629795" cy="30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 smtClean="0">
                <a:latin typeface="微软雅黑" pitchFamily="34" charset="-122"/>
                <a:ea typeface="微软雅黑" pitchFamily="34" charset="-122"/>
              </a:rPr>
              <a:t> 图  </a:t>
            </a:r>
            <a:r>
              <a:rPr kumimoji="1" lang="en-US" altLang="zh-CN" sz="1400" dirty="0" smtClean="0">
                <a:latin typeface="微软雅黑" pitchFamily="34" charset="-122"/>
                <a:ea typeface="微软雅黑" pitchFamily="34" charset="-122"/>
              </a:rPr>
              <a:t>4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09600" y="895350"/>
            <a:ext cx="5943600" cy="3452791"/>
            <a:chOff x="609600" y="895350"/>
            <a:chExt cx="7239000" cy="3452791"/>
          </a:xfrm>
        </p:grpSpPr>
        <p:pic>
          <p:nvPicPr>
            <p:cNvPr id="43" name="Picture 2" descr="D:\《数字逻辑与FPGA》\PPT\加法器和超前进位加法器延迟\加法器和超前进位加法器延迟\串行加法器进位加法器关键路径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9600" y="895350"/>
              <a:ext cx="7140575" cy="34527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矩形 6"/>
            <p:cNvSpPr/>
            <p:nvPr/>
          </p:nvSpPr>
          <p:spPr>
            <a:xfrm>
              <a:off x="6553200" y="1276350"/>
              <a:ext cx="1295400" cy="1600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6477000" y="1276350"/>
              <a:ext cx="228600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477000" y="2876550"/>
              <a:ext cx="1371600" cy="1066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267265" name="Object 1"/>
          <p:cNvGraphicFramePr>
            <a:graphicFrameLocks noChangeAspect="1"/>
          </p:cNvGraphicFramePr>
          <p:nvPr/>
        </p:nvGraphicFramePr>
        <p:xfrm>
          <a:off x="6096000" y="1733550"/>
          <a:ext cx="1676400" cy="613186"/>
        </p:xfrm>
        <a:graphic>
          <a:graphicData uri="http://schemas.openxmlformats.org/presentationml/2006/ole">
            <p:oleObj spid="_x0000_s267265" name="Equation" r:id="rId4" imgW="1942920" imgH="711000" progId="Equation.DSMT4">
              <p:embed/>
            </p:oleObj>
          </a:graphicData>
        </a:graphic>
      </p:graphicFrame>
      <p:graphicFrame>
        <p:nvGraphicFramePr>
          <p:cNvPr id="267266" name="Object 2"/>
          <p:cNvGraphicFramePr>
            <a:graphicFrameLocks noChangeAspect="1"/>
          </p:cNvGraphicFramePr>
          <p:nvPr/>
        </p:nvGraphicFramePr>
        <p:xfrm>
          <a:off x="5867400" y="2647950"/>
          <a:ext cx="2732117" cy="609600"/>
        </p:xfrm>
        <a:graphic>
          <a:graphicData uri="http://schemas.openxmlformats.org/presentationml/2006/ole">
            <p:oleObj spid="_x0000_s267266" name="Equation" r:id="rId5" imgW="3073320" imgH="6858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20" name="Text Box 4"/>
          <p:cNvSpPr txBox="1">
            <a:spLocks noChangeArrowheads="1"/>
          </p:cNvSpPr>
          <p:nvPr/>
        </p:nvSpPr>
        <p:spPr bwMode="auto">
          <a:xfrm>
            <a:off x="381000" y="971550"/>
            <a:ext cx="72390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solidFill>
                  <a:schemeClr val="accent6"/>
                </a:solidFill>
                <a:ea typeface="华文中宋" pitchFamily="2" charset="-122"/>
              </a:rPr>
              <a:t>实现：</a:t>
            </a:r>
            <a:r>
              <a:rPr lang="zh-CN" altLang="en-US" sz="1400" b="1" dirty="0">
                <a:ea typeface="华文中宋" pitchFamily="2" charset="-122"/>
              </a:rPr>
              <a:t>各位的进位信号同时产生</a:t>
            </a:r>
            <a:r>
              <a:rPr lang="zh-CN" altLang="en-US" sz="1400" b="1" dirty="0" smtClean="0">
                <a:ea typeface="华文中宋" pitchFamily="2" charset="-122"/>
              </a:rPr>
              <a:t>。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每位的进位信号</a:t>
            </a:r>
            <a:r>
              <a:rPr lang="en-US" altLang="zh-CN" sz="1400" b="1" dirty="0" err="1" smtClean="0">
                <a:ea typeface="黑体" pitchFamily="49" charset="-122"/>
              </a:rPr>
              <a:t>C</a:t>
            </a:r>
            <a:r>
              <a:rPr lang="en-US" altLang="zh-CN" sz="1400" b="1" baseline="-2000" dirty="0" err="1" smtClean="0">
                <a:ea typeface="黑体" pitchFamily="49" charset="-122"/>
              </a:rPr>
              <a:t>i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只与加数   </a:t>
            </a:r>
            <a:r>
              <a:rPr lang="en-US" altLang="zh-CN" sz="1400" b="1" dirty="0" smtClean="0">
                <a:ea typeface="黑体" pitchFamily="49" charset="-122"/>
              </a:rPr>
              <a:t>A</a:t>
            </a:r>
            <a:r>
              <a:rPr lang="en-US" altLang="zh-CN" sz="1400" b="1" baseline="-2000" dirty="0" smtClean="0">
                <a:ea typeface="黑体" pitchFamily="49" charset="-122"/>
              </a:rPr>
              <a:t>i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、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被加数</a:t>
            </a:r>
            <a:r>
              <a:rPr lang="en-US" altLang="zh-CN" sz="1400" b="1" dirty="0" smtClean="0">
                <a:ea typeface="黑体" pitchFamily="49" charset="-122"/>
              </a:rPr>
              <a:t>B</a:t>
            </a:r>
            <a:r>
              <a:rPr lang="en-US" altLang="zh-CN" sz="1400" b="1" baseline="-2000" dirty="0" smtClean="0">
                <a:ea typeface="黑体" pitchFamily="49" charset="-122"/>
              </a:rPr>
              <a:t>i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以及最低位     </a:t>
            </a:r>
            <a:endParaRPr lang="en-US" altLang="zh-CN" sz="1400" b="1" dirty="0" smtClean="0">
              <a:latin typeface="华文中宋" pitchFamily="2" charset="-122"/>
              <a:ea typeface="华文中宋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>
                <a:latin typeface="华文中宋" pitchFamily="2" charset="-122"/>
                <a:ea typeface="华文中宋" pitchFamily="2" charset="-122"/>
              </a:rPr>
              <a:t>          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进位</a:t>
            </a:r>
            <a:r>
              <a:rPr lang="en-US" altLang="zh-CN" sz="1400" b="1" dirty="0" smtClean="0">
                <a:ea typeface="黑体" pitchFamily="49" charset="-122"/>
              </a:rPr>
              <a:t>C</a:t>
            </a:r>
            <a:r>
              <a:rPr lang="en-US" altLang="zh-CN" sz="1400" b="1" baseline="-2000" dirty="0" smtClean="0">
                <a:ea typeface="黑体" pitchFamily="49" charset="-122"/>
              </a:rPr>
              <a:t>0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有关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，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而与相邻低位的进位</a:t>
            </a:r>
            <a:r>
              <a:rPr lang="en-US" altLang="zh-CN" sz="1400" b="1" dirty="0" smtClean="0">
                <a:ea typeface="黑体" pitchFamily="49" charset="-122"/>
              </a:rPr>
              <a:t>C</a:t>
            </a:r>
            <a:r>
              <a:rPr lang="en-US" altLang="zh-CN" sz="1400" b="1" baseline="-2000" dirty="0" smtClean="0">
                <a:ea typeface="黑体" pitchFamily="49" charset="-122"/>
              </a:rPr>
              <a:t>i-1</a:t>
            </a:r>
            <a:r>
              <a:rPr lang="zh-CN" altLang="en-US" sz="1400" b="1" dirty="0" smtClean="0">
                <a:latin typeface="华文中宋" pitchFamily="2" charset="-122"/>
                <a:ea typeface="华文中宋" pitchFamily="2" charset="-122"/>
              </a:rPr>
              <a:t>无关</a:t>
            </a:r>
            <a:r>
              <a:rPr lang="zh-CN" altLang="en-US" sz="1400" b="1" dirty="0" smtClean="0">
                <a:latin typeface="黑体" pitchFamily="49" charset="-122"/>
                <a:ea typeface="黑体" pitchFamily="49" charset="-122"/>
              </a:rPr>
              <a:t>。</a:t>
            </a:r>
            <a:endParaRPr lang="en-US" altLang="zh-CN" sz="1400" b="1" dirty="0" smtClean="0">
              <a:latin typeface="黑体" pitchFamily="49" charset="-122"/>
              <a:ea typeface="黑体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1400" b="1" dirty="0" smtClean="0">
                <a:latin typeface="黑体" pitchFamily="49" charset="-122"/>
                <a:ea typeface="黑体" pitchFamily="49" charset="-122"/>
              </a:rPr>
              <a:t>     </a:t>
            </a:r>
            <a:endParaRPr lang="zh-CN" altLang="en-US" sz="1400" b="1" dirty="0" smtClean="0">
              <a:latin typeface="黑体" pitchFamily="49" charset="-122"/>
              <a:ea typeface="黑体" pitchFamily="49" charset="-122"/>
            </a:endParaRPr>
          </a:p>
          <a:p>
            <a:pPr eaLnBrk="1" hangingPunct="1"/>
            <a:endParaRPr lang="zh-CN" altLang="en-US" sz="1400" b="1" dirty="0">
              <a:ea typeface="华文中宋" pitchFamily="2" charset="-122"/>
            </a:endParaRPr>
          </a:p>
        </p:txBody>
      </p:sp>
      <p:sp>
        <p:nvSpPr>
          <p:cNvPr id="342021" name="Text Box 5"/>
          <p:cNvSpPr txBox="1">
            <a:spLocks noChangeArrowheads="1"/>
          </p:cNvSpPr>
          <p:nvPr/>
        </p:nvSpPr>
        <p:spPr bwMode="auto">
          <a:xfrm>
            <a:off x="381000" y="1809750"/>
            <a:ext cx="74533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例：两个</a:t>
            </a:r>
            <a:r>
              <a:rPr lang="en-US" altLang="zh-CN" sz="1400" b="1" dirty="0">
                <a:ea typeface="黑体" pitchFamily="49" charset="-122"/>
              </a:rPr>
              <a:t>4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位二进制数相加</a:t>
            </a:r>
            <a:r>
              <a:rPr lang="en-US" altLang="zh-CN" sz="1400" b="1" dirty="0">
                <a:latin typeface="Century" pitchFamily="18" charset="0"/>
                <a:ea typeface="黑体" pitchFamily="49" charset="-122"/>
              </a:rPr>
              <a:t>(</a:t>
            </a:r>
            <a:r>
              <a:rPr lang="en-US" altLang="zh-CN" sz="1400" b="1" dirty="0">
                <a:ea typeface="黑体" pitchFamily="49" charset="-122"/>
              </a:rPr>
              <a:t>A</a:t>
            </a:r>
            <a:r>
              <a:rPr lang="en-US" altLang="zh-CN" sz="1400" b="1" baseline="-5000" dirty="0">
                <a:ea typeface="黑体" pitchFamily="49" charset="-122"/>
              </a:rPr>
              <a:t>4</a:t>
            </a:r>
            <a:r>
              <a:rPr lang="en-US" altLang="zh-CN" sz="1400" b="1" dirty="0">
                <a:ea typeface="黑体" pitchFamily="49" charset="-122"/>
              </a:rPr>
              <a:t>A</a:t>
            </a:r>
            <a:r>
              <a:rPr lang="en-US" altLang="zh-CN" sz="1400" b="1" baseline="-5000" dirty="0">
                <a:ea typeface="黑体" pitchFamily="49" charset="-122"/>
              </a:rPr>
              <a:t>3</a:t>
            </a:r>
            <a:r>
              <a:rPr lang="en-US" altLang="zh-CN" sz="1400" b="1" dirty="0">
                <a:ea typeface="黑体" pitchFamily="49" charset="-122"/>
              </a:rPr>
              <a:t>A</a:t>
            </a:r>
            <a:r>
              <a:rPr lang="en-US" altLang="zh-CN" sz="1400" b="1" baseline="-5000" dirty="0">
                <a:ea typeface="黑体" pitchFamily="49" charset="-122"/>
              </a:rPr>
              <a:t>2</a:t>
            </a:r>
            <a:r>
              <a:rPr lang="en-US" altLang="zh-CN" sz="1400" b="1" dirty="0">
                <a:ea typeface="黑体" pitchFamily="49" charset="-122"/>
              </a:rPr>
              <a:t>A</a:t>
            </a:r>
            <a:r>
              <a:rPr lang="en-US" altLang="zh-CN" sz="1400" b="1" baseline="-5000" dirty="0">
                <a:ea typeface="黑体" pitchFamily="49" charset="-122"/>
              </a:rPr>
              <a:t>1 </a:t>
            </a:r>
            <a:r>
              <a:rPr lang="zh-CN" altLang="en-US" sz="1400" b="1" dirty="0">
                <a:ea typeface="黑体" pitchFamily="49" charset="-122"/>
              </a:rPr>
              <a:t>，</a:t>
            </a:r>
            <a:r>
              <a:rPr lang="en-US" altLang="zh-CN" sz="1400" b="1" dirty="0">
                <a:ea typeface="黑体" pitchFamily="49" charset="-122"/>
              </a:rPr>
              <a:t>B</a:t>
            </a:r>
            <a:r>
              <a:rPr lang="en-US" altLang="zh-CN" sz="1400" b="1" baseline="-5000" dirty="0">
                <a:ea typeface="黑体" pitchFamily="49" charset="-122"/>
              </a:rPr>
              <a:t>4</a:t>
            </a:r>
            <a:r>
              <a:rPr lang="en-US" altLang="zh-CN" sz="1400" b="1" dirty="0">
                <a:ea typeface="黑体" pitchFamily="49" charset="-122"/>
              </a:rPr>
              <a:t>B</a:t>
            </a:r>
            <a:r>
              <a:rPr lang="en-US" altLang="zh-CN" sz="1400" b="1" baseline="-5000" dirty="0">
                <a:ea typeface="黑体" pitchFamily="49" charset="-122"/>
              </a:rPr>
              <a:t>3</a:t>
            </a:r>
            <a:r>
              <a:rPr lang="en-US" altLang="zh-CN" sz="1400" b="1" dirty="0">
                <a:ea typeface="黑体" pitchFamily="49" charset="-122"/>
              </a:rPr>
              <a:t>B</a:t>
            </a:r>
            <a:r>
              <a:rPr lang="en-US" altLang="zh-CN" sz="1400" b="1" baseline="-5000" dirty="0">
                <a:ea typeface="黑体" pitchFamily="49" charset="-122"/>
              </a:rPr>
              <a:t>2</a:t>
            </a:r>
            <a:r>
              <a:rPr lang="en-US" altLang="zh-CN" sz="1400" b="1" dirty="0">
                <a:ea typeface="黑体" pitchFamily="49" charset="-122"/>
              </a:rPr>
              <a:t>B</a:t>
            </a:r>
            <a:r>
              <a:rPr lang="en-US" altLang="zh-CN" sz="1400" b="1" baseline="-5000" dirty="0">
                <a:ea typeface="黑体" pitchFamily="49" charset="-122"/>
              </a:rPr>
              <a:t>1</a:t>
            </a:r>
            <a:r>
              <a:rPr lang="en-US" altLang="zh-CN" sz="1400" b="1" dirty="0">
                <a:latin typeface="Century" pitchFamily="18" charset="0"/>
                <a:ea typeface="黑体" pitchFamily="49" charset="-122"/>
              </a:rPr>
              <a:t>)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33400" y="2266950"/>
            <a:ext cx="5486400" cy="1295400"/>
            <a:chOff x="461" y="2096"/>
            <a:chExt cx="4084" cy="1105"/>
          </a:xfrm>
        </p:grpSpPr>
        <p:graphicFrame>
          <p:nvGraphicFramePr>
            <p:cNvPr id="14338" name="Object 7"/>
            <p:cNvGraphicFramePr>
              <a:graphicFrameLocks noChangeAspect="1"/>
            </p:cNvGraphicFramePr>
            <p:nvPr/>
          </p:nvGraphicFramePr>
          <p:xfrm>
            <a:off x="478" y="2104"/>
            <a:ext cx="1597" cy="226"/>
          </p:xfrm>
          <a:graphic>
            <a:graphicData uri="http://schemas.openxmlformats.org/presentationml/2006/ole">
              <p:oleObj spid="_x0000_s205826" name="公式" r:id="rId4" imgW="1257120" imgH="177480" progId="">
                <p:embed/>
              </p:oleObj>
            </a:graphicData>
          </a:graphic>
        </p:graphicFrame>
        <p:graphicFrame>
          <p:nvGraphicFramePr>
            <p:cNvPr id="14339" name="Object 8"/>
            <p:cNvGraphicFramePr>
              <a:graphicFrameLocks noChangeAspect="1"/>
            </p:cNvGraphicFramePr>
            <p:nvPr/>
          </p:nvGraphicFramePr>
          <p:xfrm>
            <a:off x="461" y="2393"/>
            <a:ext cx="1616" cy="226"/>
          </p:xfrm>
          <a:graphic>
            <a:graphicData uri="http://schemas.openxmlformats.org/presentationml/2006/ole">
              <p:oleObj spid="_x0000_s205827" name="公式" r:id="rId5" imgW="1269720" imgH="177480" progId="">
                <p:embed/>
              </p:oleObj>
            </a:graphicData>
          </a:graphic>
        </p:graphicFrame>
        <p:graphicFrame>
          <p:nvGraphicFramePr>
            <p:cNvPr id="14340" name="Object 9"/>
            <p:cNvGraphicFramePr>
              <a:graphicFrameLocks noChangeAspect="1"/>
            </p:cNvGraphicFramePr>
            <p:nvPr/>
          </p:nvGraphicFramePr>
          <p:xfrm>
            <a:off x="469" y="2682"/>
            <a:ext cx="1613" cy="226"/>
          </p:xfrm>
          <a:graphic>
            <a:graphicData uri="http://schemas.openxmlformats.org/presentationml/2006/ole">
              <p:oleObj spid="_x0000_s205828" name="公式" r:id="rId6" imgW="1269720" imgH="177480" progId="">
                <p:embed/>
              </p:oleObj>
            </a:graphicData>
          </a:graphic>
        </p:graphicFrame>
        <p:graphicFrame>
          <p:nvGraphicFramePr>
            <p:cNvPr id="14341" name="Object 10"/>
            <p:cNvGraphicFramePr>
              <a:graphicFrameLocks noChangeAspect="1"/>
            </p:cNvGraphicFramePr>
            <p:nvPr/>
          </p:nvGraphicFramePr>
          <p:xfrm>
            <a:off x="469" y="2962"/>
            <a:ext cx="1631" cy="226"/>
          </p:xfrm>
          <a:graphic>
            <a:graphicData uri="http://schemas.openxmlformats.org/presentationml/2006/ole">
              <p:oleObj spid="_x0000_s205829" name="公式" r:id="rId7" imgW="1282680" imgH="177480" progId="">
                <p:embed/>
              </p:oleObj>
            </a:graphicData>
          </a:graphic>
        </p:graphicFrame>
        <p:graphicFrame>
          <p:nvGraphicFramePr>
            <p:cNvPr id="14342" name="Object 11"/>
            <p:cNvGraphicFramePr>
              <a:graphicFrameLocks noChangeAspect="1"/>
            </p:cNvGraphicFramePr>
            <p:nvPr/>
          </p:nvGraphicFramePr>
          <p:xfrm>
            <a:off x="2336" y="2096"/>
            <a:ext cx="2149" cy="251"/>
          </p:xfrm>
          <a:graphic>
            <a:graphicData uri="http://schemas.openxmlformats.org/presentationml/2006/ole">
              <p:oleObj spid="_x0000_s205830" name="公式" r:id="rId8" imgW="1739880" imgH="203040" progId="">
                <p:embed/>
              </p:oleObj>
            </a:graphicData>
          </a:graphic>
        </p:graphicFrame>
        <p:graphicFrame>
          <p:nvGraphicFramePr>
            <p:cNvPr id="14343" name="Object 12"/>
            <p:cNvGraphicFramePr>
              <a:graphicFrameLocks noChangeAspect="1"/>
            </p:cNvGraphicFramePr>
            <p:nvPr/>
          </p:nvGraphicFramePr>
          <p:xfrm>
            <a:off x="2339" y="2355"/>
            <a:ext cx="2195" cy="251"/>
          </p:xfrm>
          <a:graphic>
            <a:graphicData uri="http://schemas.openxmlformats.org/presentationml/2006/ole">
              <p:oleObj spid="_x0000_s205831" name="公式" r:id="rId9" imgW="1777680" imgH="203040" progId="">
                <p:embed/>
              </p:oleObj>
            </a:graphicData>
          </a:graphic>
        </p:graphicFrame>
        <p:graphicFrame>
          <p:nvGraphicFramePr>
            <p:cNvPr id="14344" name="Object 13"/>
            <p:cNvGraphicFramePr>
              <a:graphicFrameLocks noChangeAspect="1"/>
            </p:cNvGraphicFramePr>
            <p:nvPr/>
          </p:nvGraphicFramePr>
          <p:xfrm>
            <a:off x="2349" y="2656"/>
            <a:ext cx="2196" cy="251"/>
          </p:xfrm>
          <a:graphic>
            <a:graphicData uri="http://schemas.openxmlformats.org/presentationml/2006/ole">
              <p:oleObj spid="_x0000_s205832" name="公式" r:id="rId10" imgW="1777680" imgH="203040" progId="">
                <p:embed/>
              </p:oleObj>
            </a:graphicData>
          </a:graphic>
        </p:graphicFrame>
        <p:graphicFrame>
          <p:nvGraphicFramePr>
            <p:cNvPr id="14345" name="Object 14"/>
            <p:cNvGraphicFramePr>
              <a:graphicFrameLocks noChangeAspect="1"/>
            </p:cNvGraphicFramePr>
            <p:nvPr/>
          </p:nvGraphicFramePr>
          <p:xfrm>
            <a:off x="2347" y="2950"/>
            <a:ext cx="2197" cy="251"/>
          </p:xfrm>
          <a:graphic>
            <a:graphicData uri="http://schemas.openxmlformats.org/presentationml/2006/ole">
              <p:oleObj spid="_x0000_s205833" name="公式" r:id="rId11" imgW="1777680" imgH="203040" progId="">
                <p:embed/>
              </p:oleObj>
            </a:graphicData>
          </a:graphic>
        </p:graphicFrame>
      </p:grpSp>
      <p:sp>
        <p:nvSpPr>
          <p:cNvPr id="342031" name="Text Box 15"/>
          <p:cNvSpPr txBox="1">
            <a:spLocks noChangeArrowheads="1"/>
          </p:cNvSpPr>
          <p:nvPr/>
        </p:nvSpPr>
        <p:spPr bwMode="auto">
          <a:xfrm>
            <a:off x="847725" y="3788569"/>
            <a:ext cx="540067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err="1"/>
              <a:t>G</a:t>
            </a:r>
            <a:r>
              <a:rPr lang="en-US" altLang="zh-CN" sz="1400" b="1" baseline="-2000" dirty="0" err="1"/>
              <a:t>i</a:t>
            </a:r>
            <a:r>
              <a:rPr lang="zh-CN" altLang="en-US" sz="1400" b="1" dirty="0"/>
              <a:t>：</a:t>
            </a:r>
            <a:r>
              <a:rPr lang="zh-CN" altLang="en-US" sz="1400" b="1" dirty="0">
                <a:ea typeface="华文中宋" pitchFamily="2" charset="-122"/>
              </a:rPr>
              <a:t>进位产生变量</a:t>
            </a:r>
            <a:r>
              <a:rPr lang="zh-CN" altLang="en-US" sz="1400" b="1" dirty="0"/>
              <a:t> </a:t>
            </a:r>
            <a:r>
              <a:rPr lang="en-US" altLang="zh-CN" sz="1400" b="1" dirty="0" err="1"/>
              <a:t>G</a:t>
            </a:r>
            <a:r>
              <a:rPr lang="en-US" altLang="zh-CN" sz="1400" b="1" baseline="-2000" dirty="0" err="1"/>
              <a:t>i</a:t>
            </a:r>
            <a:r>
              <a:rPr lang="en-US" altLang="zh-CN" sz="1400" b="1" dirty="0"/>
              <a:t> =</a:t>
            </a:r>
            <a:r>
              <a:rPr lang="en-US" altLang="zh-CN" sz="1400" b="1" dirty="0" err="1"/>
              <a:t>A</a:t>
            </a:r>
            <a:r>
              <a:rPr lang="en-US" altLang="zh-CN" sz="1400" b="1" baseline="-2000" dirty="0" err="1"/>
              <a:t>i</a:t>
            </a:r>
            <a:r>
              <a:rPr lang="en-US" altLang="zh-CN" sz="1400" b="1" dirty="0" err="1"/>
              <a:t>B</a:t>
            </a:r>
            <a:r>
              <a:rPr lang="en-US" altLang="zh-CN" sz="1400" b="1" baseline="-2000" dirty="0" err="1"/>
              <a:t>i</a:t>
            </a:r>
            <a:r>
              <a:rPr lang="en-US" altLang="zh-CN" sz="1400" b="1" dirty="0"/>
              <a:t> </a:t>
            </a:r>
          </a:p>
        </p:txBody>
      </p: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847725" y="4220768"/>
            <a:ext cx="5400675" cy="308372"/>
            <a:chOff x="499" y="3748"/>
            <a:chExt cx="3402" cy="259"/>
          </a:xfrm>
        </p:grpSpPr>
        <p:sp>
          <p:nvSpPr>
            <p:cNvPr id="14358" name="Text Box 17"/>
            <p:cNvSpPr txBox="1">
              <a:spLocks noChangeArrowheads="1"/>
            </p:cNvSpPr>
            <p:nvPr/>
          </p:nvSpPr>
          <p:spPr bwMode="auto">
            <a:xfrm>
              <a:off x="499" y="3748"/>
              <a:ext cx="3402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400" b="1" dirty="0"/>
                <a:t>P</a:t>
              </a:r>
              <a:r>
                <a:rPr lang="en-US" altLang="zh-CN" sz="1400" b="1" baseline="-2000" dirty="0"/>
                <a:t>i</a:t>
              </a:r>
              <a:r>
                <a:rPr lang="zh-CN" altLang="en-US" sz="1400" b="1" dirty="0"/>
                <a:t>：</a:t>
              </a:r>
              <a:r>
                <a:rPr lang="zh-CN" altLang="en-US" sz="1400" b="1" dirty="0">
                  <a:ea typeface="华文中宋" pitchFamily="2" charset="-122"/>
                </a:rPr>
                <a:t>进位传递变量</a:t>
              </a:r>
              <a:r>
                <a:rPr lang="zh-CN" altLang="en-US" sz="1400" b="1" dirty="0"/>
                <a:t>  </a:t>
              </a:r>
              <a:r>
                <a:rPr lang="en-US" altLang="zh-CN" sz="1400" b="1" dirty="0"/>
                <a:t>P</a:t>
              </a:r>
              <a:r>
                <a:rPr lang="en-US" altLang="zh-CN" sz="1400" b="1" baseline="-2000" dirty="0"/>
                <a:t>i</a:t>
              </a:r>
              <a:r>
                <a:rPr lang="en-US" altLang="zh-CN" sz="1400" b="1" dirty="0"/>
                <a:t>=A</a:t>
              </a:r>
              <a:r>
                <a:rPr lang="en-US" altLang="zh-CN" sz="1400" b="1" baseline="-2000" dirty="0"/>
                <a:t>i</a:t>
              </a:r>
              <a:r>
                <a:rPr lang="en-US" altLang="zh-CN" sz="1400" b="1" dirty="0"/>
                <a:t>    B</a:t>
              </a:r>
              <a:r>
                <a:rPr lang="en-US" altLang="zh-CN" sz="1400" b="1" baseline="-2000" dirty="0"/>
                <a:t>i</a:t>
              </a:r>
              <a:r>
                <a:rPr lang="en-US" altLang="zh-CN" sz="1400" b="1" dirty="0"/>
                <a:t> </a:t>
              </a:r>
            </a:p>
          </p:txBody>
        </p:sp>
        <p:sp>
          <p:nvSpPr>
            <p:cNvPr id="14359" name="AutoShape 18"/>
            <p:cNvSpPr>
              <a:spLocks noChangeArrowheads="1"/>
            </p:cNvSpPr>
            <p:nvPr/>
          </p:nvSpPr>
          <p:spPr bwMode="auto">
            <a:xfrm>
              <a:off x="1781" y="3815"/>
              <a:ext cx="75" cy="137"/>
            </a:xfrm>
            <a:prstGeom prst="flowChartOr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/>
            </a:p>
          </p:txBody>
        </p:sp>
      </p:grpSp>
      <p:sp>
        <p:nvSpPr>
          <p:cNvPr id="342035" name="AutoShape 19"/>
          <p:cNvSpPr>
            <a:spLocks/>
          </p:cNvSpPr>
          <p:nvPr/>
        </p:nvSpPr>
        <p:spPr bwMode="auto">
          <a:xfrm>
            <a:off x="3352800" y="3777853"/>
            <a:ext cx="71437" cy="775097"/>
          </a:xfrm>
          <a:prstGeom prst="rightBrace">
            <a:avLst>
              <a:gd name="adj1" fmla="val 120556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342036" name="Text Box 20"/>
          <p:cNvSpPr txBox="1">
            <a:spLocks noChangeArrowheads="1"/>
          </p:cNvSpPr>
          <p:nvPr/>
        </p:nvSpPr>
        <p:spPr bwMode="auto">
          <a:xfrm>
            <a:off x="3449639" y="4030729"/>
            <a:ext cx="359568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 err="1"/>
              <a:t>G</a:t>
            </a:r>
            <a:r>
              <a:rPr lang="en-US" altLang="zh-CN" sz="1400" b="1" baseline="-2000" dirty="0" err="1"/>
              <a:t>i</a:t>
            </a:r>
            <a:r>
              <a:rPr lang="zh-CN" altLang="en-US" sz="1400" b="1" dirty="0">
                <a:ea typeface="华文中宋" pitchFamily="2" charset="-122"/>
              </a:rPr>
              <a:t>和</a:t>
            </a:r>
            <a:r>
              <a:rPr lang="en-US" altLang="zh-CN" sz="1400" b="1" dirty="0"/>
              <a:t>P</a:t>
            </a:r>
            <a:r>
              <a:rPr lang="en-US" altLang="zh-CN" sz="1400" b="1" baseline="-2000" dirty="0"/>
              <a:t>i</a:t>
            </a:r>
            <a:r>
              <a:rPr lang="zh-CN" altLang="en-US" sz="1400" b="1" dirty="0">
                <a:ea typeface="华文中宋" pitchFamily="2" charset="-122"/>
              </a:rPr>
              <a:t>仅与</a:t>
            </a:r>
            <a:r>
              <a:rPr lang="en-US" altLang="zh-CN" sz="1400" b="1" dirty="0"/>
              <a:t>A</a:t>
            </a:r>
            <a:r>
              <a:rPr lang="en-US" altLang="zh-CN" sz="1400" b="1" baseline="-2000" dirty="0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B</a:t>
            </a:r>
            <a:r>
              <a:rPr lang="en-US" altLang="zh-CN" sz="1400" b="1" baseline="-2000" dirty="0"/>
              <a:t>i</a:t>
            </a:r>
            <a:r>
              <a:rPr lang="zh-CN" altLang="en-US" sz="1400" b="1" dirty="0">
                <a:latin typeface="华文中宋" pitchFamily="2" charset="-122"/>
                <a:ea typeface="华文中宋" pitchFamily="2" charset="-122"/>
              </a:rPr>
              <a:t>相关 </a:t>
            </a:r>
          </a:p>
        </p:txBody>
      </p:sp>
      <p:sp>
        <p:nvSpPr>
          <p:cNvPr id="342037" name="Oval 21"/>
          <p:cNvSpPr>
            <a:spLocks noChangeArrowheads="1"/>
          </p:cNvSpPr>
          <p:nvPr/>
        </p:nvSpPr>
        <p:spPr bwMode="auto">
          <a:xfrm>
            <a:off x="2971800" y="2190750"/>
            <a:ext cx="533400" cy="1391841"/>
          </a:xfrm>
          <a:prstGeom prst="ellips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1400"/>
          </a:p>
        </p:txBody>
      </p:sp>
      <p:sp>
        <p:nvSpPr>
          <p:cNvPr id="342038" name="Line 22"/>
          <p:cNvSpPr>
            <a:spLocks noChangeShapeType="1"/>
          </p:cNvSpPr>
          <p:nvPr/>
        </p:nvSpPr>
        <p:spPr bwMode="auto">
          <a:xfrm>
            <a:off x="3581400" y="2571750"/>
            <a:ext cx="77628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342039" name="Line 23"/>
          <p:cNvSpPr>
            <a:spLocks noChangeShapeType="1"/>
          </p:cNvSpPr>
          <p:nvPr/>
        </p:nvSpPr>
        <p:spPr bwMode="auto">
          <a:xfrm>
            <a:off x="4495800" y="2571750"/>
            <a:ext cx="996950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 sz="1400"/>
          </a:p>
        </p:txBody>
      </p:sp>
      <p:sp>
        <p:nvSpPr>
          <p:cNvPr id="24" name="矩形 23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多位加法器：超前进位加法器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3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3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34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0" grpId="0"/>
      <p:bldP spid="342021" grpId="0"/>
      <p:bldP spid="342031" grpId="0"/>
      <p:bldP spid="342035" grpId="0" animBg="1"/>
      <p:bldP spid="342036" grpId="0"/>
      <p:bldP spid="342037" grpId="0" animBg="1"/>
      <p:bldP spid="342038" grpId="0" animBg="1"/>
      <p:bldP spid="3420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042" name="Object 2"/>
          <p:cNvGraphicFramePr>
            <a:graphicFrameLocks noChangeAspect="1"/>
          </p:cNvGraphicFramePr>
          <p:nvPr/>
        </p:nvGraphicFramePr>
        <p:xfrm flipV="1">
          <a:off x="271462" y="2570560"/>
          <a:ext cx="1786955" cy="218384"/>
        </p:xfrm>
        <a:graphic>
          <a:graphicData uri="http://schemas.openxmlformats.org/presentationml/2006/ole">
            <p:oleObj spid="_x0000_s206850" name="公式" r:id="rId3" imgW="1091880" imgH="177480" progId="">
              <p:embed/>
            </p:oleObj>
          </a:graphicData>
        </a:graphic>
      </p:graphicFrame>
      <p:graphicFrame>
        <p:nvGraphicFramePr>
          <p:cNvPr id="343043" name="Object 3"/>
          <p:cNvGraphicFramePr>
            <a:graphicFrameLocks noChangeAspect="1"/>
          </p:cNvGraphicFramePr>
          <p:nvPr/>
        </p:nvGraphicFramePr>
        <p:xfrm flipV="1">
          <a:off x="228600" y="3028950"/>
          <a:ext cx="4418193" cy="218384"/>
        </p:xfrm>
        <a:graphic>
          <a:graphicData uri="http://schemas.openxmlformats.org/presentationml/2006/ole">
            <p:oleObj spid="_x0000_s206851" name="公式" r:id="rId4" imgW="2705040" imgH="177480" progId="">
              <p:embed/>
            </p:oleObj>
          </a:graphicData>
        </a:graphic>
      </p:graphicFrame>
      <p:graphicFrame>
        <p:nvGraphicFramePr>
          <p:cNvPr id="343044" name="Object 4"/>
          <p:cNvGraphicFramePr>
            <a:graphicFrameLocks noChangeAspect="1"/>
          </p:cNvGraphicFramePr>
          <p:nvPr/>
        </p:nvGraphicFramePr>
        <p:xfrm flipV="1">
          <a:off x="184150" y="3488531"/>
          <a:ext cx="5976460" cy="218384"/>
        </p:xfrm>
        <a:graphic>
          <a:graphicData uri="http://schemas.openxmlformats.org/presentationml/2006/ole">
            <p:oleObj spid="_x0000_s206852" name="公式" r:id="rId5" imgW="3657600" imgH="177480" progId="">
              <p:embed/>
            </p:oleObj>
          </a:graphicData>
        </a:graphic>
      </p:graphicFrame>
      <p:graphicFrame>
        <p:nvGraphicFramePr>
          <p:cNvPr id="343045" name="Object 5"/>
          <p:cNvGraphicFramePr>
            <a:graphicFrameLocks noChangeAspect="1"/>
          </p:cNvGraphicFramePr>
          <p:nvPr/>
        </p:nvGraphicFramePr>
        <p:xfrm flipV="1">
          <a:off x="139699" y="3914002"/>
          <a:ext cx="7708901" cy="214394"/>
        </p:xfrm>
        <a:graphic>
          <a:graphicData uri="http://schemas.openxmlformats.org/presentationml/2006/ole">
            <p:oleObj spid="_x0000_s206853" name="公式" r:id="rId6" imgW="4813200" imgH="177480" progId="">
              <p:embed/>
            </p:oleObj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 flipV="1">
          <a:off x="457201" y="1045057"/>
          <a:ext cx="2832004" cy="241318"/>
        </p:xfrm>
        <a:graphic>
          <a:graphicData uri="http://schemas.openxmlformats.org/presentationml/2006/ole">
            <p:oleObj spid="_x0000_s206854" name="公式" r:id="rId7" imgW="1777680" imgH="203040" progId="">
              <p:embed/>
            </p:oleObj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/>
        </p:nvGraphicFramePr>
        <p:xfrm flipV="1">
          <a:off x="4164014" y="1046053"/>
          <a:ext cx="2832004" cy="240322"/>
        </p:xfrm>
        <a:graphic>
          <a:graphicData uri="http://schemas.openxmlformats.org/presentationml/2006/ole">
            <p:oleObj spid="_x0000_s206855" name="公式" r:id="rId8" imgW="1777680" imgH="203040" progId="">
              <p:embed/>
            </p:oleObj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 flipV="1">
          <a:off x="423862" y="1466344"/>
          <a:ext cx="2891835" cy="240321"/>
        </p:xfrm>
        <a:graphic>
          <a:graphicData uri="http://schemas.openxmlformats.org/presentationml/2006/ole">
            <p:oleObj spid="_x0000_s206856" name="公式" r:id="rId9" imgW="1815840" imgH="203040" progId="">
              <p:embed/>
            </p:oleObj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 flipV="1">
          <a:off x="4202112" y="1465348"/>
          <a:ext cx="2833333" cy="241318"/>
        </p:xfrm>
        <a:graphic>
          <a:graphicData uri="http://schemas.openxmlformats.org/presentationml/2006/ole">
            <p:oleObj spid="_x0000_s206857" name="公式" r:id="rId10" imgW="1777680" imgH="203040" progId="">
              <p:embed/>
            </p:oleObj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429000" y="1885950"/>
            <a:ext cx="2816225" cy="427435"/>
            <a:chOff x="576" y="1195"/>
            <a:chExt cx="1774" cy="359"/>
          </a:xfrm>
        </p:grpSpPr>
        <p:sp>
          <p:nvSpPr>
            <p:cNvPr id="15373" name="Text Box 11"/>
            <p:cNvSpPr txBox="1">
              <a:spLocks noChangeArrowheads="1"/>
            </p:cNvSpPr>
            <p:nvPr/>
          </p:nvSpPr>
          <p:spPr bwMode="auto">
            <a:xfrm>
              <a:off x="737" y="1195"/>
              <a:ext cx="1613" cy="2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/>
                <a:t> </a:t>
              </a:r>
              <a:r>
                <a:rPr lang="zh-CN" altLang="en-US" sz="1600" b="1" dirty="0">
                  <a:ea typeface="黑体" pitchFamily="49" charset="-122"/>
                </a:rPr>
                <a:t>由</a:t>
              </a:r>
              <a:r>
                <a:rPr lang="en-US" altLang="zh-CN" sz="1600" b="1" dirty="0" err="1"/>
                <a:t>G</a:t>
              </a:r>
              <a:r>
                <a:rPr lang="en-US" altLang="zh-CN" sz="1600" b="1" baseline="-2000" dirty="0" err="1"/>
                <a:t>i</a:t>
              </a:r>
              <a:r>
                <a:rPr lang="zh-CN" altLang="en-US" sz="1600" b="1" dirty="0">
                  <a:ea typeface="黑体" pitchFamily="49" charset="-122"/>
                </a:rPr>
                <a:t>和</a:t>
              </a:r>
              <a:r>
                <a:rPr lang="en-US" altLang="zh-CN" sz="1600" b="1" dirty="0"/>
                <a:t>P</a:t>
              </a:r>
              <a:r>
                <a:rPr lang="en-US" altLang="zh-CN" sz="1600" b="1" baseline="-2000" dirty="0"/>
                <a:t>i</a:t>
              </a:r>
              <a:r>
                <a:rPr lang="en-US" altLang="zh-CN" sz="1600" b="1" dirty="0"/>
                <a:t> </a:t>
              </a:r>
            </a:p>
          </p:txBody>
        </p:sp>
        <p:sp>
          <p:nvSpPr>
            <p:cNvPr id="15374" name="AutoShape 12"/>
            <p:cNvSpPr>
              <a:spLocks noChangeArrowheads="1"/>
            </p:cNvSpPr>
            <p:nvPr/>
          </p:nvSpPr>
          <p:spPr bwMode="auto">
            <a:xfrm>
              <a:off x="576" y="1227"/>
              <a:ext cx="144" cy="327"/>
            </a:xfrm>
            <a:prstGeom prst="downArrow">
              <a:avLst>
                <a:gd name="adj1" fmla="val 50000"/>
                <a:gd name="adj2" fmla="val 37673"/>
              </a:avLst>
            </a:prstGeom>
            <a:solidFill>
              <a:schemeClr val="accent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zh-CN" altLang="en-US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多位加法器：超前进位加法器</a:t>
            </a:r>
            <a:endParaRPr kumimoji="1" lang="zh-CN" altLang="en-US" sz="1400" b="1" dirty="0" smtClean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 smtClean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 smtClean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3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3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41"/>
          <p:cNvSpPr txBox="1">
            <a:spLocks noChangeArrowheads="1"/>
          </p:cNvSpPr>
          <p:nvPr/>
        </p:nvSpPr>
        <p:spPr bwMode="auto">
          <a:xfrm>
            <a:off x="1447800" y="615221"/>
            <a:ext cx="745331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solidFill>
                  <a:schemeClr val="accent6"/>
                </a:solidFill>
                <a:latin typeface="微软雅黑" pitchFamily="34" charset="-122"/>
                <a:ea typeface="微软雅黑" pitchFamily="34" charset="-122"/>
              </a:rPr>
              <a:t>超前进位加法器的延迟时间</a:t>
            </a:r>
            <a:endParaRPr lang="en-US" altLang="zh-CN" sz="1400" b="1" dirty="0">
              <a:solidFill>
                <a:schemeClr val="accent6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</a:t>
            </a:r>
            <a:endParaRPr kumimoji="1" lang="zh-CN" altLang="en-US" sz="1400" b="1" dirty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44" name="Text Box 46"/>
          <p:cNvSpPr txBox="1">
            <a:spLocks noChangeArrowheads="1"/>
          </p:cNvSpPr>
          <p:nvPr/>
        </p:nvSpPr>
        <p:spPr bwMode="auto">
          <a:xfrm>
            <a:off x="3276600" y="4552950"/>
            <a:ext cx="629795" cy="3073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 图  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5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123950"/>
            <a:ext cx="6980666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87F99349-0257-4502-AE6E-3214DC6014DE}"/>
              </a:ext>
            </a:extLst>
          </p:cNvPr>
          <p:cNvGrpSpPr/>
          <p:nvPr/>
        </p:nvGrpSpPr>
        <p:grpSpPr>
          <a:xfrm>
            <a:off x="5890633" y="1068067"/>
            <a:ext cx="2362200" cy="762000"/>
            <a:chOff x="5139287" y="722999"/>
            <a:chExt cx="2362200" cy="76200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xmlns="" id="{144FAC88-440B-4598-8316-30DB554322AE}"/>
                </a:ext>
              </a:extLst>
            </p:cNvPr>
            <p:cNvSpPr/>
            <p:nvPr/>
          </p:nvSpPr>
          <p:spPr>
            <a:xfrm>
              <a:off x="5139287" y="722999"/>
              <a:ext cx="2362200" cy="7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xmlns="" id="{E3C45319-E9A0-4981-ACE2-5AB9B0E17786}"/>
                </a:ext>
              </a:extLst>
            </p:cNvPr>
            <p:cNvSpPr txBox="1"/>
            <p:nvPr/>
          </p:nvSpPr>
          <p:spPr>
            <a:xfrm>
              <a:off x="5174456" y="816649"/>
              <a:ext cx="2293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0000"/>
                  </a:solidFill>
                </a:rPr>
                <a:t>优点：</a:t>
              </a:r>
              <a:r>
                <a:rPr lang="en-US" altLang="zh-CN" sz="1200" b="1" dirty="0"/>
                <a:t>CI</a:t>
              </a:r>
              <a:r>
                <a:rPr lang="zh-CN" altLang="en-US" sz="1200" b="1" dirty="0"/>
                <a:t>的延迟固定为三级门的延迟，与加法器的位数无关</a:t>
              </a:r>
            </a:p>
          </p:txBody>
        </p:sp>
      </p:grpSp>
      <p:grpSp>
        <p:nvGrpSpPr>
          <p:cNvPr id="5" name="组合 10">
            <a:extLst>
              <a:ext uri="{FF2B5EF4-FFF2-40B4-BE49-F238E27FC236}">
                <a16:creationId xmlns:a16="http://schemas.microsoft.com/office/drawing/2014/main" xmlns="" id="{377A86AE-510E-47C9-B7C1-59C3C6B1CD79}"/>
              </a:ext>
            </a:extLst>
          </p:cNvPr>
          <p:cNvGrpSpPr/>
          <p:nvPr/>
        </p:nvGrpSpPr>
        <p:grpSpPr>
          <a:xfrm>
            <a:off x="5972297" y="2343150"/>
            <a:ext cx="2362200" cy="1209221"/>
            <a:chOff x="5139287" y="713462"/>
            <a:chExt cx="2362200" cy="771537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xmlns="" id="{C3950ECC-12E1-48A2-9782-088B3465077A}"/>
                </a:ext>
              </a:extLst>
            </p:cNvPr>
            <p:cNvSpPr/>
            <p:nvPr/>
          </p:nvSpPr>
          <p:spPr>
            <a:xfrm>
              <a:off x="5139287" y="722999"/>
              <a:ext cx="2362200" cy="7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3AA3FD2D-67CE-44E8-BD84-FDCDF26E6EB6}"/>
                </a:ext>
              </a:extLst>
            </p:cNvPr>
            <p:cNvSpPr txBox="1"/>
            <p:nvPr/>
          </p:nvSpPr>
          <p:spPr>
            <a:xfrm>
              <a:off x="5186790" y="713462"/>
              <a:ext cx="2293144" cy="176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FF0000"/>
                  </a:solidFill>
                </a:rPr>
                <a:t>缺点：</a:t>
              </a:r>
              <a:r>
                <a:rPr lang="zh-CN" altLang="en-US" sz="1200" b="1" dirty="0"/>
                <a:t>电路复杂高，开销大</a:t>
              </a:r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CAE37414-EB22-448E-93BC-644B0EFB43E6}"/>
              </a:ext>
            </a:extLst>
          </p:cNvPr>
          <p:cNvSpPr/>
          <p:nvPr/>
        </p:nvSpPr>
        <p:spPr>
          <a:xfrm>
            <a:off x="5357812" y="1619752"/>
            <a:ext cx="2362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C16D3B8D-A9AE-4D66-9C39-71452C561D26}"/>
              </a:ext>
            </a:extLst>
          </p:cNvPr>
          <p:cNvSpPr/>
          <p:nvPr/>
        </p:nvSpPr>
        <p:spPr>
          <a:xfrm>
            <a:off x="5791200" y="2710854"/>
            <a:ext cx="2362200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多位加法器：超前进位加法器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74LS283</a:t>
            </a:r>
            <a:endParaRPr kumimoji="1" lang="zh-CN" altLang="en-US" sz="1400" b="1" dirty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752600" y="1749623"/>
            <a:ext cx="3760787" cy="1644253"/>
            <a:chOff x="952" y="3158"/>
            <a:chExt cx="2155" cy="1020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952" y="3294"/>
              <a:ext cx="2155" cy="74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952" y="3305"/>
              <a:ext cx="2155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  S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 S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S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 S</a:t>
              </a:r>
              <a:r>
                <a:rPr lang="en-US" altLang="zh-CN" sz="2000" b="1" baseline="-5000"/>
                <a:t>1</a:t>
              </a:r>
              <a:r>
                <a:rPr lang="en-US" altLang="zh-CN" sz="2000" b="1"/>
                <a:t>                  CO</a:t>
              </a: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952" y="3816"/>
              <a:ext cx="2155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A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 A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A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A</a:t>
              </a:r>
              <a:r>
                <a:rPr lang="en-US" altLang="zh-CN" sz="2000" b="1" baseline="-5000"/>
                <a:t>1</a:t>
              </a:r>
              <a:r>
                <a:rPr lang="en-US" altLang="zh-CN" sz="2000" b="1"/>
                <a:t>    CI   B</a:t>
              </a:r>
              <a:r>
                <a:rPr lang="en-US" altLang="zh-CN" sz="2000" b="1" baseline="-5000"/>
                <a:t>4</a:t>
              </a:r>
              <a:r>
                <a:rPr lang="en-US" altLang="zh-CN" sz="2000" b="1"/>
                <a:t> B</a:t>
              </a:r>
              <a:r>
                <a:rPr lang="en-US" altLang="zh-CN" sz="2000" b="1" baseline="-5000"/>
                <a:t>3</a:t>
              </a:r>
              <a:r>
                <a:rPr lang="en-US" altLang="zh-CN" sz="2000" b="1"/>
                <a:t> B</a:t>
              </a:r>
              <a:r>
                <a:rPr lang="en-US" altLang="zh-CN" sz="2000" b="1" baseline="-5000"/>
                <a:t>2</a:t>
              </a:r>
              <a:r>
                <a:rPr lang="en-US" altLang="zh-CN" sz="2000" b="1"/>
                <a:t> B</a:t>
              </a:r>
              <a:r>
                <a:rPr lang="en-US" altLang="zh-CN" sz="2000" b="1" baseline="-5000"/>
                <a:t>1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1565" y="3566"/>
              <a:ext cx="1156" cy="2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/>
                <a:t>74LS283</a:t>
              </a:r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 flipV="1">
              <a:off x="1179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 flipV="1">
              <a:off x="1088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V="1">
              <a:off x="1405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1570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 flipV="1">
              <a:off x="2721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 flipV="1">
              <a:off x="1791" y="315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 flipV="1">
              <a:off x="1723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14"/>
            <p:cNvSpPr>
              <a:spLocks noChangeShapeType="1"/>
            </p:cNvSpPr>
            <p:nvPr/>
          </p:nvSpPr>
          <p:spPr bwMode="auto">
            <a:xfrm flipV="1">
              <a:off x="1292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 flipV="1">
              <a:off x="1497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 flipV="1">
              <a:off x="2494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 flipV="1">
              <a:off x="2730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18"/>
            <p:cNvSpPr>
              <a:spLocks noChangeShapeType="1"/>
            </p:cNvSpPr>
            <p:nvPr/>
          </p:nvSpPr>
          <p:spPr bwMode="auto">
            <a:xfrm flipV="1">
              <a:off x="2948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9"/>
            <p:cNvSpPr>
              <a:spLocks noChangeShapeType="1"/>
            </p:cNvSpPr>
            <p:nvPr/>
          </p:nvSpPr>
          <p:spPr bwMode="auto">
            <a:xfrm flipV="1">
              <a:off x="2268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0"/>
            <p:cNvSpPr>
              <a:spLocks noChangeShapeType="1"/>
            </p:cNvSpPr>
            <p:nvPr/>
          </p:nvSpPr>
          <p:spPr bwMode="auto">
            <a:xfrm flipV="1">
              <a:off x="2018" y="4042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Text Box 46"/>
          <p:cNvSpPr txBox="1">
            <a:spLocks noChangeArrowheads="1"/>
          </p:cNvSpPr>
          <p:nvPr/>
        </p:nvSpPr>
        <p:spPr bwMode="auto">
          <a:xfrm>
            <a:off x="3325024" y="3867150"/>
            <a:ext cx="57579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6</a:t>
            </a:r>
            <a:endParaRPr kumimoji="1"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多位加法器的应用举例：例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sz="1400" b="1" dirty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152399" y="907257"/>
            <a:ext cx="3600450" cy="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1400" b="1" dirty="0">
                <a:latin typeface="Times New Roman" pitchFamily="18" charset="0"/>
              </a:rPr>
              <a:t>例：设计一个能将</a:t>
            </a:r>
            <a:r>
              <a:rPr kumimoji="1" lang="en-US" altLang="zh-CN" sz="1400" b="1" dirty="0">
                <a:latin typeface="Times New Roman" pitchFamily="18" charset="0"/>
              </a:rPr>
              <a:t>BCD</a:t>
            </a:r>
            <a:r>
              <a:rPr kumimoji="1" lang="zh-CN" altLang="en-US" sz="1400" b="1" dirty="0">
                <a:latin typeface="Times New Roman" pitchFamily="18" charset="0"/>
              </a:rPr>
              <a:t>码转换为余</a:t>
            </a:r>
            <a:r>
              <a:rPr kumimoji="1" lang="en-US" altLang="zh-CN" sz="1400" b="1" dirty="0">
                <a:latin typeface="Times New Roman" pitchFamily="18" charset="0"/>
              </a:rPr>
              <a:t>3</a:t>
            </a:r>
            <a:r>
              <a:rPr kumimoji="1" lang="zh-CN" altLang="en-US" sz="1400" b="1" dirty="0">
                <a:latin typeface="Times New Roman" pitchFamily="18" charset="0"/>
              </a:rPr>
              <a:t>码的代 码转换器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 rot="5400000">
            <a:off x="3588345" y="864196"/>
            <a:ext cx="3651647" cy="3382963"/>
            <a:chOff x="1923" y="29"/>
            <a:chExt cx="3067" cy="2131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 rot="-5400000">
              <a:off x="2338" y="447"/>
              <a:ext cx="2131" cy="12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400" b="1"/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 rot="-5400000">
              <a:off x="3045" y="1071"/>
              <a:ext cx="889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zh-CN" altLang="en-US" sz="1400" b="1" dirty="0">
                  <a:latin typeface="Times New Roman" pitchFamily="18" charset="0"/>
                </a:rPr>
                <a:t>      </a:t>
              </a:r>
              <a:r>
                <a:rPr kumimoji="1" lang="en-US" altLang="zh-CN" sz="1400" b="1" dirty="0">
                  <a:latin typeface="Times New Roman" pitchFamily="18" charset="0"/>
                </a:rPr>
                <a:t>74LS283</a:t>
              </a:r>
              <a:endParaRPr kumimoji="1" lang="zh-CN" altLang="en-US" sz="1400" b="1" dirty="0">
                <a:latin typeface="Times New Roman" pitchFamily="18" charset="0"/>
              </a:endParaRPr>
            </a:p>
          </p:txBody>
        </p:sp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 rot="-5400000">
              <a:off x="3838" y="23"/>
              <a:ext cx="18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 rot="-5400000">
              <a:off x="4739" y="1624"/>
              <a:ext cx="22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 rot="-5400000">
              <a:off x="4711" y="1364"/>
              <a:ext cx="281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 rot="-5400000">
              <a:off x="4709" y="1174"/>
              <a:ext cx="236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7" name="Text Box 9"/>
            <p:cNvSpPr txBox="1">
              <a:spLocks noChangeArrowheads="1"/>
            </p:cNvSpPr>
            <p:nvPr/>
          </p:nvSpPr>
          <p:spPr bwMode="auto">
            <a:xfrm rot="16200000">
              <a:off x="4803" y="420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1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8" name="Oval 10"/>
            <p:cNvSpPr>
              <a:spLocks noChangeArrowheads="1"/>
            </p:cNvSpPr>
            <p:nvPr/>
          </p:nvSpPr>
          <p:spPr bwMode="auto">
            <a:xfrm rot="-5400000">
              <a:off x="4340" y="550"/>
              <a:ext cx="48" cy="5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19" name="Oval 11"/>
            <p:cNvSpPr>
              <a:spLocks noChangeArrowheads="1"/>
            </p:cNvSpPr>
            <p:nvPr/>
          </p:nvSpPr>
          <p:spPr bwMode="auto">
            <a:xfrm rot="-5400000">
              <a:off x="4340" y="1030"/>
              <a:ext cx="48" cy="5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0" name="Text Box 12"/>
            <p:cNvSpPr txBox="1">
              <a:spLocks noChangeArrowheads="1"/>
            </p:cNvSpPr>
            <p:nvPr/>
          </p:nvSpPr>
          <p:spPr bwMode="auto">
            <a:xfrm rot="-5400000">
              <a:off x="3829" y="1214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1" name="Text Box 13"/>
            <p:cNvSpPr txBox="1">
              <a:spLocks noChangeArrowheads="1"/>
            </p:cNvSpPr>
            <p:nvPr/>
          </p:nvSpPr>
          <p:spPr bwMode="auto">
            <a:xfrm rot="-5400000">
              <a:off x="3821" y="1462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 rot="-5400000">
              <a:off x="3803" y="1672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 rot="-5400000">
              <a:off x="4379" y="1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rot="-5400000">
              <a:off x="4379" y="175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 rot="-5400000">
              <a:off x="4379" y="15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 rot="-5400000">
              <a:off x="4379" y="127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 rot="-5400000">
              <a:off x="3803" y="1912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 rot="-5400000">
              <a:off x="3829" y="205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3" name="Text Box 21"/>
            <p:cNvSpPr txBox="1">
              <a:spLocks noChangeArrowheads="1"/>
            </p:cNvSpPr>
            <p:nvPr/>
          </p:nvSpPr>
          <p:spPr bwMode="auto">
            <a:xfrm rot="-5400000">
              <a:off x="3821" y="459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 rot="-5400000">
              <a:off x="3803" y="711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 rot="-5400000">
              <a:off x="4216" y="181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6" name="Line 24"/>
            <p:cNvSpPr>
              <a:spLocks noChangeShapeType="1"/>
            </p:cNvSpPr>
            <p:nvPr/>
          </p:nvSpPr>
          <p:spPr bwMode="auto">
            <a:xfrm rot="-5400000">
              <a:off x="4379" y="743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7" name="Line 25"/>
            <p:cNvSpPr>
              <a:spLocks noChangeShapeType="1"/>
            </p:cNvSpPr>
            <p:nvPr/>
          </p:nvSpPr>
          <p:spPr bwMode="auto">
            <a:xfrm rot="-5400000">
              <a:off x="4219" y="663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8" name="Line 26"/>
            <p:cNvSpPr>
              <a:spLocks noChangeShapeType="1"/>
            </p:cNvSpPr>
            <p:nvPr/>
          </p:nvSpPr>
          <p:spPr bwMode="auto">
            <a:xfrm rot="-5400000">
              <a:off x="4379" y="263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9" name="Text Box 27"/>
            <p:cNvSpPr txBox="1">
              <a:spLocks noChangeArrowheads="1"/>
            </p:cNvSpPr>
            <p:nvPr/>
          </p:nvSpPr>
          <p:spPr bwMode="auto">
            <a:xfrm rot="-5400000">
              <a:off x="3803" y="951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0" name="Text Box 28"/>
            <p:cNvSpPr txBox="1">
              <a:spLocks noChangeArrowheads="1"/>
            </p:cNvSpPr>
            <p:nvPr/>
          </p:nvSpPr>
          <p:spPr bwMode="auto">
            <a:xfrm rot="16200000">
              <a:off x="4803" y="899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0</a:t>
              </a:r>
              <a:endParaRPr kumimoji="1" lang="en-US" altLang="zh-CN" sz="1400" b="1" baseline="-25000" dirty="0">
                <a:latin typeface="Times New Roman" pitchFamily="18" charset="0"/>
              </a:endParaRPr>
            </a:p>
          </p:txBody>
        </p:sp>
        <p:sp>
          <p:nvSpPr>
            <p:cNvPr id="41" name="Text Box 29"/>
            <p:cNvSpPr txBox="1">
              <a:spLocks noChangeArrowheads="1"/>
            </p:cNvSpPr>
            <p:nvPr/>
          </p:nvSpPr>
          <p:spPr bwMode="auto">
            <a:xfrm rot="16200000">
              <a:off x="4803" y="8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0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42" name="Line 30"/>
            <p:cNvSpPr>
              <a:spLocks noChangeShapeType="1"/>
            </p:cNvSpPr>
            <p:nvPr/>
          </p:nvSpPr>
          <p:spPr bwMode="auto">
            <a:xfrm rot="-5400000">
              <a:off x="4351" y="-15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3" name="Line 31"/>
            <p:cNvSpPr>
              <a:spLocks noChangeShapeType="1"/>
            </p:cNvSpPr>
            <p:nvPr/>
          </p:nvSpPr>
          <p:spPr bwMode="auto">
            <a:xfrm rot="16200000" flipH="1">
              <a:off x="4248" y="456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4" name="Line 32"/>
            <p:cNvSpPr>
              <a:spLocks noChangeShapeType="1"/>
            </p:cNvSpPr>
            <p:nvPr/>
          </p:nvSpPr>
          <p:spPr bwMode="auto">
            <a:xfrm rot="16200000" flipH="1">
              <a:off x="4248" y="936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5" name="Text Box 33"/>
            <p:cNvSpPr txBox="1">
              <a:spLocks noChangeArrowheads="1"/>
            </p:cNvSpPr>
            <p:nvPr/>
          </p:nvSpPr>
          <p:spPr bwMode="auto">
            <a:xfrm rot="-5400000">
              <a:off x="2888" y="1795"/>
              <a:ext cx="18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r>
                <a:rPr kumimoji="1" lang="en-US" altLang="zh-CN" sz="1400" b="1" baseline="-25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6" name="Line 34"/>
            <p:cNvSpPr>
              <a:spLocks noChangeShapeType="1"/>
            </p:cNvSpPr>
            <p:nvPr/>
          </p:nvSpPr>
          <p:spPr bwMode="auto">
            <a:xfrm rot="-5400000">
              <a:off x="2462" y="1625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7" name="Line 35"/>
            <p:cNvSpPr>
              <a:spLocks noChangeShapeType="1"/>
            </p:cNvSpPr>
            <p:nvPr/>
          </p:nvSpPr>
          <p:spPr bwMode="auto">
            <a:xfrm rot="-5400000">
              <a:off x="2462" y="1095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8" name="Line 36"/>
            <p:cNvSpPr>
              <a:spLocks noChangeShapeType="1"/>
            </p:cNvSpPr>
            <p:nvPr/>
          </p:nvSpPr>
          <p:spPr bwMode="auto">
            <a:xfrm rot="-5400000">
              <a:off x="2462" y="727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9" name="Line 37"/>
            <p:cNvSpPr>
              <a:spLocks noChangeShapeType="1"/>
            </p:cNvSpPr>
            <p:nvPr/>
          </p:nvSpPr>
          <p:spPr bwMode="auto">
            <a:xfrm rot="-5400000">
              <a:off x="2462" y="35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50" name="Line 38"/>
            <p:cNvSpPr>
              <a:spLocks noChangeShapeType="1"/>
            </p:cNvSpPr>
            <p:nvPr/>
          </p:nvSpPr>
          <p:spPr bwMode="auto">
            <a:xfrm rot="-5400000">
              <a:off x="2462" y="-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 rot="-5400000">
              <a:off x="2893" y="157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2" name="Text Box 40"/>
            <p:cNvSpPr txBox="1">
              <a:spLocks noChangeArrowheads="1"/>
            </p:cNvSpPr>
            <p:nvPr/>
          </p:nvSpPr>
          <p:spPr bwMode="auto">
            <a:xfrm rot="-5400000">
              <a:off x="2885" y="519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3" name="Text Box 41"/>
            <p:cNvSpPr txBox="1">
              <a:spLocks noChangeArrowheads="1"/>
            </p:cNvSpPr>
            <p:nvPr/>
          </p:nvSpPr>
          <p:spPr bwMode="auto">
            <a:xfrm rot="-5400000">
              <a:off x="2867" y="885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4" name="Text Box 42"/>
            <p:cNvSpPr txBox="1">
              <a:spLocks noChangeArrowheads="1"/>
            </p:cNvSpPr>
            <p:nvPr/>
          </p:nvSpPr>
          <p:spPr bwMode="auto">
            <a:xfrm rot="-5400000">
              <a:off x="2867" y="1239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5" name="Text Box 43"/>
            <p:cNvSpPr txBox="1">
              <a:spLocks noChangeArrowheads="1"/>
            </p:cNvSpPr>
            <p:nvPr/>
          </p:nvSpPr>
          <p:spPr bwMode="auto">
            <a:xfrm rot="16200000">
              <a:off x="1958" y="103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6" name="Text Box 44"/>
            <p:cNvSpPr txBox="1">
              <a:spLocks noChangeArrowheads="1"/>
            </p:cNvSpPr>
            <p:nvPr/>
          </p:nvSpPr>
          <p:spPr bwMode="auto">
            <a:xfrm rot="16200000">
              <a:off x="1949" y="482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7" name="Text Box 45"/>
            <p:cNvSpPr txBox="1">
              <a:spLocks noChangeArrowheads="1"/>
            </p:cNvSpPr>
            <p:nvPr/>
          </p:nvSpPr>
          <p:spPr bwMode="auto">
            <a:xfrm rot="16200000">
              <a:off x="1932" y="863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8" name="Text Box 46"/>
            <p:cNvSpPr txBox="1">
              <a:spLocks noChangeArrowheads="1"/>
            </p:cNvSpPr>
            <p:nvPr/>
          </p:nvSpPr>
          <p:spPr bwMode="auto">
            <a:xfrm rot="16200000">
              <a:off x="1932" y="1233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9" name="Text Box 47"/>
            <p:cNvSpPr txBox="1">
              <a:spLocks noChangeArrowheads="1"/>
            </p:cNvSpPr>
            <p:nvPr/>
          </p:nvSpPr>
          <p:spPr bwMode="auto">
            <a:xfrm rot="-5400000">
              <a:off x="4739" y="1864"/>
              <a:ext cx="22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D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</p:grpSp>
      <p:sp>
        <p:nvSpPr>
          <p:cNvPr id="60" name="Oval 49"/>
          <p:cNvSpPr>
            <a:spLocks noChangeArrowheads="1"/>
          </p:cNvSpPr>
          <p:nvPr/>
        </p:nvSpPr>
        <p:spPr bwMode="auto">
          <a:xfrm>
            <a:off x="4648200" y="590550"/>
            <a:ext cx="2438400" cy="4572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1" name="Oval 50"/>
          <p:cNvSpPr>
            <a:spLocks noChangeArrowheads="1"/>
          </p:cNvSpPr>
          <p:nvPr/>
        </p:nvSpPr>
        <p:spPr bwMode="auto">
          <a:xfrm>
            <a:off x="3578225" y="3943350"/>
            <a:ext cx="1728787" cy="3810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5257800" y="3409950"/>
            <a:ext cx="1633537" cy="3810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3" name="Text Box 52"/>
          <p:cNvSpPr txBox="1">
            <a:spLocks noChangeArrowheads="1"/>
          </p:cNvSpPr>
          <p:nvPr/>
        </p:nvSpPr>
        <p:spPr bwMode="auto">
          <a:xfrm>
            <a:off x="7250111" y="947737"/>
            <a:ext cx="1296988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>
                <a:solidFill>
                  <a:srgbClr val="FF0000"/>
                </a:solidFill>
              </a:rPr>
              <a:t>余</a:t>
            </a:r>
            <a:r>
              <a:rPr lang="en-US" altLang="zh-CN" sz="1400" b="1">
                <a:solidFill>
                  <a:srgbClr val="FF0000"/>
                </a:solidFill>
              </a:rPr>
              <a:t>3</a:t>
            </a:r>
            <a:r>
              <a:rPr lang="zh-CN" altLang="en-US" sz="1400" b="1">
                <a:solidFill>
                  <a:srgbClr val="FF0000"/>
                </a:solidFill>
              </a:rPr>
              <a:t>码</a:t>
            </a:r>
          </a:p>
        </p:txBody>
      </p:sp>
      <p:sp>
        <p:nvSpPr>
          <p:cNvPr id="65" name="Text Box 54"/>
          <p:cNvSpPr txBox="1">
            <a:spLocks noChangeArrowheads="1"/>
          </p:cNvSpPr>
          <p:nvPr/>
        </p:nvSpPr>
        <p:spPr bwMode="auto">
          <a:xfrm>
            <a:off x="2819400" y="3900488"/>
            <a:ext cx="1296987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>
                <a:solidFill>
                  <a:srgbClr val="FF0000"/>
                </a:solidFill>
              </a:rPr>
              <a:t>BCD</a:t>
            </a:r>
            <a:r>
              <a:rPr lang="zh-CN" altLang="en-US" sz="1400" b="1" dirty="0">
                <a:solidFill>
                  <a:srgbClr val="FF0000"/>
                </a:solidFill>
              </a:rPr>
              <a:t>码</a:t>
            </a:r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4114800" y="4552950"/>
            <a:ext cx="28985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7 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用加法器实现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BCD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码转余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多位加法器的应用举例：例</a:t>
            </a:r>
            <a:r>
              <a:rPr lang="en-US" altLang="zh-CN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1" lang="zh-CN" altLang="en-US" sz="1400" b="1" dirty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9" name="Text Box 3"/>
          <p:cNvSpPr txBox="1">
            <a:spLocks noChangeArrowheads="1"/>
          </p:cNvSpPr>
          <p:nvPr/>
        </p:nvSpPr>
        <p:spPr bwMode="auto">
          <a:xfrm>
            <a:off x="152399" y="907257"/>
            <a:ext cx="3600450" cy="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1" lang="zh-CN" altLang="en-US" sz="1400" b="1" dirty="0">
                <a:latin typeface="Times New Roman" pitchFamily="18" charset="0"/>
              </a:rPr>
              <a:t>例：设计一个能将余</a:t>
            </a:r>
            <a:r>
              <a:rPr kumimoji="1" lang="en-US" altLang="zh-CN" sz="1400" b="1" dirty="0">
                <a:latin typeface="Times New Roman" pitchFamily="18" charset="0"/>
              </a:rPr>
              <a:t>3</a:t>
            </a:r>
            <a:r>
              <a:rPr kumimoji="1" lang="zh-CN" altLang="en-US" sz="1400" b="1" dirty="0">
                <a:latin typeface="Times New Roman" pitchFamily="18" charset="0"/>
              </a:rPr>
              <a:t>码转换为</a:t>
            </a:r>
            <a:r>
              <a:rPr kumimoji="1" lang="en-US" altLang="zh-CN" sz="1400" b="1" dirty="0">
                <a:latin typeface="Times New Roman" pitchFamily="18" charset="0"/>
              </a:rPr>
              <a:t>BCD</a:t>
            </a:r>
            <a:r>
              <a:rPr kumimoji="1" lang="zh-CN" altLang="en-US" sz="1400" b="1" dirty="0">
                <a:latin typeface="Times New Roman" pitchFamily="18" charset="0"/>
              </a:rPr>
              <a:t>码的代 码转换器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 rot="5400000">
            <a:off x="3588345" y="864196"/>
            <a:ext cx="3651647" cy="3382963"/>
            <a:chOff x="1923" y="29"/>
            <a:chExt cx="3067" cy="2131"/>
          </a:xfrm>
        </p:grpSpPr>
        <p:sp>
          <p:nvSpPr>
            <p:cNvPr id="9" name="Rectangle 3"/>
            <p:cNvSpPr>
              <a:spLocks noChangeArrowheads="1"/>
            </p:cNvSpPr>
            <p:nvPr/>
          </p:nvSpPr>
          <p:spPr bwMode="auto">
            <a:xfrm rot="-5400000">
              <a:off x="2338" y="447"/>
              <a:ext cx="2131" cy="129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 sz="1400" b="1"/>
            </a:p>
          </p:txBody>
        </p:sp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 rot="-5400000">
              <a:off x="3045" y="1071"/>
              <a:ext cx="889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zh-CN" altLang="en-US" sz="1400" b="1" dirty="0">
                  <a:latin typeface="Times New Roman" pitchFamily="18" charset="0"/>
                </a:rPr>
                <a:t>      </a:t>
              </a:r>
              <a:r>
                <a:rPr kumimoji="1" lang="en-US" altLang="zh-CN" sz="1400" b="1" dirty="0" smtClean="0">
                  <a:latin typeface="Times New Roman" pitchFamily="18" charset="0"/>
                </a:rPr>
                <a:t>74LS283</a:t>
              </a:r>
              <a:endParaRPr kumimoji="1" lang="zh-CN" altLang="en-US" sz="1400" b="1" dirty="0">
                <a:latin typeface="Times New Roman" pitchFamily="18" charset="0"/>
              </a:endParaRPr>
            </a:p>
          </p:txBody>
        </p:sp>
        <p:sp>
          <p:nvSpPr>
            <p:cNvPr id="11" name="Text Box 5"/>
            <p:cNvSpPr txBox="1">
              <a:spLocks noChangeArrowheads="1"/>
            </p:cNvSpPr>
            <p:nvPr/>
          </p:nvSpPr>
          <p:spPr bwMode="auto">
            <a:xfrm rot="-5400000">
              <a:off x="3838" y="23"/>
              <a:ext cx="18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12" name="Text Box 6"/>
            <p:cNvSpPr txBox="1">
              <a:spLocks noChangeArrowheads="1"/>
            </p:cNvSpPr>
            <p:nvPr/>
          </p:nvSpPr>
          <p:spPr bwMode="auto">
            <a:xfrm rot="-5400000">
              <a:off x="4739" y="1624"/>
              <a:ext cx="22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 rot="-5400000">
              <a:off x="4711" y="1364"/>
              <a:ext cx="281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 rot="-5400000">
              <a:off x="4709" y="1174"/>
              <a:ext cx="236" cy="1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17" name="Text Box 9"/>
            <p:cNvSpPr txBox="1">
              <a:spLocks noChangeArrowheads="1"/>
            </p:cNvSpPr>
            <p:nvPr/>
          </p:nvSpPr>
          <p:spPr bwMode="auto">
            <a:xfrm rot="16200000">
              <a:off x="4803" y="427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0</a:t>
              </a:r>
              <a:endParaRPr kumimoji="1" lang="en-US" altLang="zh-CN" sz="1400" b="1" baseline="-25000" dirty="0">
                <a:latin typeface="Times New Roman" pitchFamily="18" charset="0"/>
              </a:endParaRPr>
            </a:p>
          </p:txBody>
        </p:sp>
        <p:sp>
          <p:nvSpPr>
            <p:cNvPr id="19" name="Oval 11"/>
            <p:cNvSpPr>
              <a:spLocks noChangeArrowheads="1"/>
            </p:cNvSpPr>
            <p:nvPr/>
          </p:nvSpPr>
          <p:spPr bwMode="auto">
            <a:xfrm rot="-5400000">
              <a:off x="4340" y="1030"/>
              <a:ext cx="48" cy="52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0" name="Text Box 12"/>
            <p:cNvSpPr txBox="1">
              <a:spLocks noChangeArrowheads="1"/>
            </p:cNvSpPr>
            <p:nvPr/>
          </p:nvSpPr>
          <p:spPr bwMode="auto">
            <a:xfrm rot="-5400000">
              <a:off x="3829" y="1214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21" name="Text Box 13"/>
            <p:cNvSpPr txBox="1">
              <a:spLocks noChangeArrowheads="1"/>
            </p:cNvSpPr>
            <p:nvPr/>
          </p:nvSpPr>
          <p:spPr bwMode="auto">
            <a:xfrm rot="-5400000">
              <a:off x="3821" y="1462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 dirty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 rot="-5400000">
              <a:off x="3803" y="1672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23" name="Line 15"/>
            <p:cNvSpPr>
              <a:spLocks noChangeShapeType="1"/>
            </p:cNvSpPr>
            <p:nvPr/>
          </p:nvSpPr>
          <p:spPr bwMode="auto">
            <a:xfrm rot="-5400000">
              <a:off x="4379" y="103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4" name="Line 16"/>
            <p:cNvSpPr>
              <a:spLocks noChangeShapeType="1"/>
            </p:cNvSpPr>
            <p:nvPr/>
          </p:nvSpPr>
          <p:spPr bwMode="auto">
            <a:xfrm rot="-5400000">
              <a:off x="4379" y="175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5" name="Line 17"/>
            <p:cNvSpPr>
              <a:spLocks noChangeShapeType="1"/>
            </p:cNvSpPr>
            <p:nvPr/>
          </p:nvSpPr>
          <p:spPr bwMode="auto">
            <a:xfrm rot="-5400000">
              <a:off x="4379" y="151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6" name="Line 18"/>
            <p:cNvSpPr>
              <a:spLocks noChangeShapeType="1"/>
            </p:cNvSpPr>
            <p:nvPr/>
          </p:nvSpPr>
          <p:spPr bwMode="auto">
            <a:xfrm rot="-5400000">
              <a:off x="4379" y="1272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27" name="Text Box 19"/>
            <p:cNvSpPr txBox="1">
              <a:spLocks noChangeArrowheads="1"/>
            </p:cNvSpPr>
            <p:nvPr/>
          </p:nvSpPr>
          <p:spPr bwMode="auto">
            <a:xfrm rot="-5400000">
              <a:off x="3803" y="1912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A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8" name="Text Box 20"/>
            <p:cNvSpPr txBox="1">
              <a:spLocks noChangeArrowheads="1"/>
            </p:cNvSpPr>
            <p:nvPr/>
          </p:nvSpPr>
          <p:spPr bwMode="auto">
            <a:xfrm rot="-5400000">
              <a:off x="3829" y="205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33" name="Text Box 21"/>
            <p:cNvSpPr txBox="1">
              <a:spLocks noChangeArrowheads="1"/>
            </p:cNvSpPr>
            <p:nvPr/>
          </p:nvSpPr>
          <p:spPr bwMode="auto">
            <a:xfrm rot="-5400000">
              <a:off x="3821" y="459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 rot="-5400000">
              <a:off x="3803" y="711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 rot="16200000">
              <a:off x="4375" y="22"/>
              <a:ext cx="0" cy="6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6" name="Line 24"/>
            <p:cNvSpPr>
              <a:spLocks noChangeShapeType="1"/>
            </p:cNvSpPr>
            <p:nvPr/>
          </p:nvSpPr>
          <p:spPr bwMode="auto">
            <a:xfrm rot="-5400000">
              <a:off x="4379" y="743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7" name="Line 25"/>
            <p:cNvSpPr>
              <a:spLocks noChangeShapeType="1"/>
            </p:cNvSpPr>
            <p:nvPr/>
          </p:nvSpPr>
          <p:spPr bwMode="auto">
            <a:xfrm rot="-5400000">
              <a:off x="4219" y="663"/>
              <a:ext cx="0" cy="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8" name="Line 26"/>
            <p:cNvSpPr>
              <a:spLocks noChangeShapeType="1"/>
            </p:cNvSpPr>
            <p:nvPr/>
          </p:nvSpPr>
          <p:spPr bwMode="auto">
            <a:xfrm rot="16200000">
              <a:off x="4388" y="280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39" name="Text Box 27"/>
            <p:cNvSpPr txBox="1">
              <a:spLocks noChangeArrowheads="1"/>
            </p:cNvSpPr>
            <p:nvPr/>
          </p:nvSpPr>
          <p:spPr bwMode="auto">
            <a:xfrm rot="-5400000">
              <a:off x="3803" y="951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B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0" name="Text Box 28"/>
            <p:cNvSpPr txBox="1">
              <a:spLocks noChangeArrowheads="1"/>
            </p:cNvSpPr>
            <p:nvPr/>
          </p:nvSpPr>
          <p:spPr bwMode="auto">
            <a:xfrm rot="16200000">
              <a:off x="4803" y="899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1</a:t>
              </a:r>
              <a:endParaRPr kumimoji="1" lang="en-US" altLang="zh-CN" sz="1400" b="1" baseline="-25000" dirty="0">
                <a:latin typeface="Times New Roman" pitchFamily="18" charset="0"/>
              </a:endParaRPr>
            </a:p>
          </p:txBody>
        </p:sp>
        <p:sp>
          <p:nvSpPr>
            <p:cNvPr id="41" name="Text Box 29"/>
            <p:cNvSpPr txBox="1">
              <a:spLocks noChangeArrowheads="1"/>
            </p:cNvSpPr>
            <p:nvPr/>
          </p:nvSpPr>
          <p:spPr bwMode="auto">
            <a:xfrm rot="16200000">
              <a:off x="4803" y="8"/>
              <a:ext cx="116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0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  <p:sp>
          <p:nvSpPr>
            <p:cNvPr id="42" name="Line 30"/>
            <p:cNvSpPr>
              <a:spLocks noChangeShapeType="1"/>
            </p:cNvSpPr>
            <p:nvPr/>
          </p:nvSpPr>
          <p:spPr bwMode="auto">
            <a:xfrm rot="-5400000">
              <a:off x="4351" y="-153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4" name="Line 32"/>
            <p:cNvSpPr>
              <a:spLocks noChangeShapeType="1"/>
            </p:cNvSpPr>
            <p:nvPr/>
          </p:nvSpPr>
          <p:spPr bwMode="auto">
            <a:xfrm rot="16200000" flipH="1">
              <a:off x="4248" y="936"/>
              <a:ext cx="2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5" name="Text Box 33"/>
            <p:cNvSpPr txBox="1">
              <a:spLocks noChangeArrowheads="1"/>
            </p:cNvSpPr>
            <p:nvPr/>
          </p:nvSpPr>
          <p:spPr bwMode="auto">
            <a:xfrm rot="-5400000">
              <a:off x="2888" y="1795"/>
              <a:ext cx="188" cy="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C</a:t>
              </a:r>
              <a:r>
                <a:rPr kumimoji="1" lang="en-US" altLang="zh-CN" sz="1400" b="1" baseline="-25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46" name="Line 34"/>
            <p:cNvSpPr>
              <a:spLocks noChangeShapeType="1"/>
            </p:cNvSpPr>
            <p:nvPr/>
          </p:nvSpPr>
          <p:spPr bwMode="auto">
            <a:xfrm rot="-5400000">
              <a:off x="2462" y="1625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7" name="Line 35"/>
            <p:cNvSpPr>
              <a:spLocks noChangeShapeType="1"/>
            </p:cNvSpPr>
            <p:nvPr/>
          </p:nvSpPr>
          <p:spPr bwMode="auto">
            <a:xfrm rot="-5400000">
              <a:off x="2462" y="1095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8" name="Line 36"/>
            <p:cNvSpPr>
              <a:spLocks noChangeShapeType="1"/>
            </p:cNvSpPr>
            <p:nvPr/>
          </p:nvSpPr>
          <p:spPr bwMode="auto">
            <a:xfrm rot="-5400000">
              <a:off x="2462" y="727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49" name="Line 37"/>
            <p:cNvSpPr>
              <a:spLocks noChangeShapeType="1"/>
            </p:cNvSpPr>
            <p:nvPr/>
          </p:nvSpPr>
          <p:spPr bwMode="auto">
            <a:xfrm rot="-5400000">
              <a:off x="2462" y="35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50" name="Line 38"/>
            <p:cNvSpPr>
              <a:spLocks noChangeShapeType="1"/>
            </p:cNvSpPr>
            <p:nvPr/>
          </p:nvSpPr>
          <p:spPr bwMode="auto">
            <a:xfrm rot="-5400000">
              <a:off x="2462" y="-9"/>
              <a:ext cx="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400" b="1"/>
            </a:p>
          </p:txBody>
        </p:sp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 rot="-5400000">
              <a:off x="2893" y="157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2" name="Text Box 40"/>
            <p:cNvSpPr txBox="1">
              <a:spLocks noChangeArrowheads="1"/>
            </p:cNvSpPr>
            <p:nvPr/>
          </p:nvSpPr>
          <p:spPr bwMode="auto">
            <a:xfrm rot="-5400000">
              <a:off x="2885" y="519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3" name="Text Box 41"/>
            <p:cNvSpPr txBox="1">
              <a:spLocks noChangeArrowheads="1"/>
            </p:cNvSpPr>
            <p:nvPr/>
          </p:nvSpPr>
          <p:spPr bwMode="auto">
            <a:xfrm rot="-5400000">
              <a:off x="2867" y="885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4" name="Text Box 42"/>
            <p:cNvSpPr txBox="1">
              <a:spLocks noChangeArrowheads="1"/>
            </p:cNvSpPr>
            <p:nvPr/>
          </p:nvSpPr>
          <p:spPr bwMode="auto">
            <a:xfrm rot="-5400000">
              <a:off x="2867" y="1239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S</a:t>
              </a:r>
              <a:r>
                <a:rPr kumimoji="1" lang="en-US" altLang="zh-CN" sz="1400" b="1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5" name="Text Box 43"/>
            <p:cNvSpPr txBox="1">
              <a:spLocks noChangeArrowheads="1"/>
            </p:cNvSpPr>
            <p:nvPr/>
          </p:nvSpPr>
          <p:spPr bwMode="auto">
            <a:xfrm rot="16200000">
              <a:off x="1958" y="103"/>
              <a:ext cx="19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0</a:t>
              </a:r>
            </a:p>
          </p:txBody>
        </p:sp>
        <p:sp>
          <p:nvSpPr>
            <p:cNvPr id="56" name="Text Box 44"/>
            <p:cNvSpPr txBox="1">
              <a:spLocks noChangeArrowheads="1"/>
            </p:cNvSpPr>
            <p:nvPr/>
          </p:nvSpPr>
          <p:spPr bwMode="auto">
            <a:xfrm rot="16200000">
              <a:off x="1949" y="482"/>
              <a:ext cx="185" cy="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57" name="Text Box 45"/>
            <p:cNvSpPr txBox="1">
              <a:spLocks noChangeArrowheads="1"/>
            </p:cNvSpPr>
            <p:nvPr/>
          </p:nvSpPr>
          <p:spPr bwMode="auto">
            <a:xfrm rot="16200000">
              <a:off x="1932" y="863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8" name="Text Box 46"/>
            <p:cNvSpPr txBox="1">
              <a:spLocks noChangeArrowheads="1"/>
            </p:cNvSpPr>
            <p:nvPr/>
          </p:nvSpPr>
          <p:spPr bwMode="auto">
            <a:xfrm rot="16200000">
              <a:off x="1932" y="1233"/>
              <a:ext cx="192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 dirty="0">
                  <a:latin typeface="Times New Roman" pitchFamily="18" charset="0"/>
                </a:rPr>
                <a:t>Y</a:t>
              </a:r>
              <a:r>
                <a:rPr kumimoji="1" lang="en-US" altLang="zh-CN" sz="1400" b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9" name="Text Box 47"/>
            <p:cNvSpPr txBox="1">
              <a:spLocks noChangeArrowheads="1"/>
            </p:cNvSpPr>
            <p:nvPr/>
          </p:nvSpPr>
          <p:spPr bwMode="auto">
            <a:xfrm rot="-5400000">
              <a:off x="4739" y="1864"/>
              <a:ext cx="225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 eaLnBrk="1" hangingPunct="1"/>
              <a:r>
                <a:rPr kumimoji="1" lang="en-US" altLang="zh-CN" sz="1400" b="1">
                  <a:latin typeface="Times New Roman" pitchFamily="18" charset="0"/>
                </a:rPr>
                <a:t>D</a:t>
              </a:r>
              <a:endParaRPr kumimoji="1" lang="en-US" altLang="zh-CN" sz="1400" b="1" baseline="-25000">
                <a:latin typeface="Times New Roman" pitchFamily="18" charset="0"/>
              </a:endParaRPr>
            </a:p>
          </p:txBody>
        </p:sp>
      </p:grpSp>
      <p:sp>
        <p:nvSpPr>
          <p:cNvPr id="60" name="Oval 49"/>
          <p:cNvSpPr>
            <a:spLocks noChangeArrowheads="1"/>
          </p:cNvSpPr>
          <p:nvPr/>
        </p:nvSpPr>
        <p:spPr bwMode="auto">
          <a:xfrm>
            <a:off x="4648200" y="590550"/>
            <a:ext cx="2438400" cy="4572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1" name="Oval 50"/>
          <p:cNvSpPr>
            <a:spLocks noChangeArrowheads="1"/>
          </p:cNvSpPr>
          <p:nvPr/>
        </p:nvSpPr>
        <p:spPr bwMode="auto">
          <a:xfrm>
            <a:off x="3578225" y="3943350"/>
            <a:ext cx="1728787" cy="3810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5257800" y="3409950"/>
            <a:ext cx="1633537" cy="381000"/>
          </a:xfrm>
          <a:prstGeom prst="ellipse">
            <a:avLst/>
          </a:prstGeom>
          <a:noFill/>
          <a:ln w="12700" cap="sq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zh-CN" altLang="en-US" sz="1400" b="1"/>
          </a:p>
        </p:txBody>
      </p:sp>
      <p:sp>
        <p:nvSpPr>
          <p:cNvPr id="63" name="Text Box 52"/>
          <p:cNvSpPr txBox="1">
            <a:spLocks noChangeArrowheads="1"/>
          </p:cNvSpPr>
          <p:nvPr/>
        </p:nvSpPr>
        <p:spPr bwMode="auto">
          <a:xfrm>
            <a:off x="2895600" y="3790950"/>
            <a:ext cx="1296988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1400" b="1" dirty="0">
                <a:solidFill>
                  <a:srgbClr val="FF0000"/>
                </a:solidFill>
              </a:rPr>
              <a:t>余</a:t>
            </a:r>
            <a:r>
              <a:rPr lang="en-US" altLang="zh-CN" sz="1400" b="1" dirty="0">
                <a:solidFill>
                  <a:srgbClr val="FF0000"/>
                </a:solidFill>
              </a:rPr>
              <a:t>3</a:t>
            </a:r>
            <a:r>
              <a:rPr lang="zh-CN" altLang="en-US" sz="1400" b="1" dirty="0">
                <a:solidFill>
                  <a:srgbClr val="FF0000"/>
                </a:solidFill>
              </a:rPr>
              <a:t>码</a:t>
            </a:r>
          </a:p>
        </p:txBody>
      </p:sp>
      <p:sp>
        <p:nvSpPr>
          <p:cNvPr id="65" name="Text Box 54"/>
          <p:cNvSpPr txBox="1">
            <a:spLocks noChangeArrowheads="1"/>
          </p:cNvSpPr>
          <p:nvPr/>
        </p:nvSpPr>
        <p:spPr bwMode="auto">
          <a:xfrm>
            <a:off x="7162800" y="742950"/>
            <a:ext cx="1296987" cy="30777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400" b="1" dirty="0">
                <a:solidFill>
                  <a:srgbClr val="FF0000"/>
                </a:solidFill>
              </a:rPr>
              <a:t>BCD</a:t>
            </a:r>
            <a:r>
              <a:rPr lang="zh-CN" altLang="en-US" sz="1400" b="1" dirty="0">
                <a:solidFill>
                  <a:srgbClr val="FF0000"/>
                </a:solidFill>
              </a:rPr>
              <a:t>码</a:t>
            </a:r>
          </a:p>
        </p:txBody>
      </p:sp>
      <p:sp>
        <p:nvSpPr>
          <p:cNvPr id="66" name="Text Box 46"/>
          <p:cNvSpPr txBox="1">
            <a:spLocks noChangeArrowheads="1"/>
          </p:cNvSpPr>
          <p:nvPr/>
        </p:nvSpPr>
        <p:spPr bwMode="auto">
          <a:xfrm>
            <a:off x="4114800" y="4552950"/>
            <a:ext cx="289855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8 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用加法器实现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BCD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码转余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码</a:t>
            </a:r>
          </a:p>
        </p:txBody>
      </p:sp>
      <p:sp>
        <p:nvSpPr>
          <p:cNvPr id="67" name="Text Box 28"/>
          <p:cNvSpPr txBox="1">
            <a:spLocks noChangeArrowheads="1"/>
          </p:cNvSpPr>
          <p:nvPr/>
        </p:nvSpPr>
        <p:spPr bwMode="auto">
          <a:xfrm>
            <a:off x="6589558" y="4095750"/>
            <a:ext cx="184150" cy="308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 eaLnBrk="1" hangingPunct="1"/>
            <a:r>
              <a:rPr kumimoji="1" lang="en-US" altLang="zh-CN" sz="1400" b="1" dirty="0">
                <a:latin typeface="Times New Roman" pitchFamily="18" charset="0"/>
              </a:rPr>
              <a:t>1</a:t>
            </a:r>
            <a:endParaRPr kumimoji="1" lang="en-US" altLang="zh-CN" sz="1400" b="1" baseline="-25000" dirty="0">
              <a:latin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04800" y="203835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十进制 </a:t>
            </a:r>
            <a:r>
              <a:rPr lang="en-US" altLang="zh-CN" b="1" dirty="0" smtClean="0"/>
              <a:t>6         </a:t>
            </a:r>
            <a:r>
              <a:rPr lang="zh-CN" altLang="en-US" b="1" dirty="0" smtClean="0"/>
              <a:t>余</a:t>
            </a:r>
            <a:r>
              <a:rPr lang="en-US" altLang="zh-CN" b="1" dirty="0" smtClean="0"/>
              <a:t>3</a:t>
            </a:r>
            <a:r>
              <a:rPr lang="zh-CN" altLang="en-US" b="1" dirty="0" smtClean="0"/>
              <a:t>码</a:t>
            </a:r>
            <a:r>
              <a:rPr lang="en-US" altLang="zh-CN" b="1" dirty="0" smtClean="0"/>
              <a:t>1001</a:t>
            </a:r>
            <a:endParaRPr lang="zh-CN" altLang="en-US" b="1" dirty="0"/>
          </a:p>
        </p:txBody>
      </p:sp>
      <p:sp>
        <p:nvSpPr>
          <p:cNvPr id="69" name="TextBox 68"/>
          <p:cNvSpPr txBox="1"/>
          <p:nvPr/>
        </p:nvSpPr>
        <p:spPr>
          <a:xfrm>
            <a:off x="317500" y="255905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1001+1101=1  0110 </a:t>
            </a:r>
            <a:endParaRPr lang="zh-CN" altLang="en-US" b="1" dirty="0"/>
          </a:p>
        </p:txBody>
      </p:sp>
      <p:sp>
        <p:nvSpPr>
          <p:cNvPr id="70" name="TextBox 69"/>
          <p:cNvSpPr txBox="1"/>
          <p:nvPr/>
        </p:nvSpPr>
        <p:spPr>
          <a:xfrm>
            <a:off x="304800" y="3181350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/>
              <a:t>0110</a:t>
            </a:r>
            <a:r>
              <a:rPr lang="zh-CN" altLang="en-US" b="1" dirty="0" smtClean="0"/>
              <a:t>为</a:t>
            </a:r>
            <a:r>
              <a:rPr lang="en-US" altLang="zh-CN" b="1" dirty="0" smtClean="0"/>
              <a:t>6</a:t>
            </a:r>
            <a:r>
              <a:rPr lang="zh-CN" altLang="en-US" b="1" dirty="0" smtClean="0"/>
              <a:t>的</a:t>
            </a:r>
            <a:r>
              <a:rPr lang="en-US" altLang="zh-CN" b="1" dirty="0" smtClean="0"/>
              <a:t>8421BCD</a:t>
            </a:r>
            <a:r>
              <a:rPr lang="zh-CN" altLang="en-US" b="1" dirty="0" smtClean="0"/>
              <a:t>码</a:t>
            </a:r>
            <a:r>
              <a:rPr lang="en-US" altLang="zh-CN" b="1" dirty="0" smtClean="0"/>
              <a:t> 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1" grpId="0" animBg="1"/>
      <p:bldP spid="62" grpId="0" animBg="1"/>
      <p:bldP spid="63" grpId="0"/>
      <p:bldP spid="65" grpId="0"/>
      <p:bldP spid="66" grpId="0"/>
      <p:bldP spid="67" grpId="0"/>
      <p:bldP spid="68" grpId="0"/>
      <p:bldP spid="69" grpId="0"/>
      <p:bldP spid="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多位加法器的应用举例：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1400" b="1" dirty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222209" name="Picture 1" descr="C:\Users\hfutliujun\AppData\Roaming\Tencent\Users\350654676\QQ\WinTemp\RichOle\%_$1$@K9]CMI[DTYC@WZIA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895349"/>
            <a:ext cx="4876800" cy="3690365"/>
          </a:xfrm>
          <a:prstGeom prst="rect">
            <a:avLst/>
          </a:prstGeom>
          <a:noFill/>
        </p:spPr>
      </p:pic>
      <p:sp>
        <p:nvSpPr>
          <p:cNvPr id="67" name="Text Box 46"/>
          <p:cNvSpPr txBox="1">
            <a:spLocks noChangeArrowheads="1"/>
          </p:cNvSpPr>
          <p:nvPr/>
        </p:nvSpPr>
        <p:spPr bwMode="auto">
          <a:xfrm>
            <a:off x="3352800" y="4629150"/>
            <a:ext cx="13468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9 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投票系统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多位加法器的应用举例：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1400" b="1" dirty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222209" name="Picture 1" descr="C:\Users\hfutliujun\AppData\Roaming\Tencent\Users\350654676\QQ\WinTemp\RichOle\%_$1$@K9]CMI[DTYC@WZIA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895350"/>
            <a:ext cx="4876800" cy="3690365"/>
          </a:xfrm>
          <a:prstGeom prst="rect">
            <a:avLst/>
          </a:prstGeom>
          <a:noFill/>
        </p:spPr>
      </p:pic>
      <p:sp>
        <p:nvSpPr>
          <p:cNvPr id="67" name="Text Box 46"/>
          <p:cNvSpPr txBox="1">
            <a:spLocks noChangeArrowheads="1"/>
          </p:cNvSpPr>
          <p:nvPr/>
        </p:nvSpPr>
        <p:spPr bwMode="auto">
          <a:xfrm>
            <a:off x="3352800" y="4629150"/>
            <a:ext cx="13468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9 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投票系统</a:t>
            </a:r>
          </a:p>
        </p:txBody>
      </p:sp>
      <p:sp>
        <p:nvSpPr>
          <p:cNvPr id="9" name="椭圆 8"/>
          <p:cNvSpPr/>
          <p:nvPr/>
        </p:nvSpPr>
        <p:spPr>
          <a:xfrm>
            <a:off x="2743200" y="10477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768600" y="15176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781300" y="20383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768600" y="25336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743200" y="30289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743200" y="35623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505200" y="895350"/>
            <a:ext cx="2133600" cy="167640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0"/>
            <a:ext cx="3499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：中规模标准构件</a:t>
            </a:r>
            <a:endParaRPr lang="zh-CN" altLang="zh-CN" sz="2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52400" y="514350"/>
            <a:ext cx="86106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sz="1600" b="1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多位加法器的应用举例：</a:t>
            </a:r>
            <a:r>
              <a:rPr lang="zh-CN" altLang="en-US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1" lang="zh-CN" altLang="en-US" sz="1400" b="1" dirty="0">
              <a:solidFill>
                <a:schemeClr val="accent6"/>
              </a:solidFill>
              <a:latin typeface="黑体" pitchFamily="49" charset="-122"/>
              <a:ea typeface="黑体" pitchFamily="49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400" b="1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endParaRPr lang="en-US" altLang="zh-CN" sz="1600" dirty="0">
              <a:solidFill>
                <a:srgbClr val="3333CC"/>
              </a:solidFill>
              <a:latin typeface="微软雅黑" pitchFamily="34" charset="-122"/>
              <a:ea typeface="微软雅黑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457200">
              <a:lnSpc>
                <a:spcPct val="150000"/>
              </a:lnSpc>
            </a:pPr>
            <a:endParaRPr lang="en-US" altLang="zh-CN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222209" name="Picture 1" descr="C:\Users\hfutliujun\AppData\Roaming\Tencent\Users\350654676\QQ\WinTemp\RichOle\%_$1$@K9]CMI[DTYC@WZIAP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895350"/>
            <a:ext cx="4876800" cy="3690365"/>
          </a:xfrm>
          <a:prstGeom prst="rect">
            <a:avLst/>
          </a:prstGeom>
          <a:noFill/>
        </p:spPr>
      </p:pic>
      <p:sp>
        <p:nvSpPr>
          <p:cNvPr id="67" name="Text Box 46"/>
          <p:cNvSpPr txBox="1">
            <a:spLocks noChangeArrowheads="1"/>
          </p:cNvSpPr>
          <p:nvPr/>
        </p:nvSpPr>
        <p:spPr bwMode="auto">
          <a:xfrm>
            <a:off x="3352800" y="4629150"/>
            <a:ext cx="134684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 图 </a:t>
            </a:r>
            <a:r>
              <a:rPr kumimoji="1" lang="en-US" altLang="zh-CN" sz="1400" dirty="0">
                <a:latin typeface="微软雅黑" pitchFamily="34" charset="-122"/>
                <a:ea typeface="微软雅黑" pitchFamily="34" charset="-122"/>
              </a:rPr>
              <a:t>9 </a:t>
            </a:r>
            <a:r>
              <a:rPr kumimoji="1" lang="zh-CN" altLang="en-US" sz="1400" dirty="0">
                <a:latin typeface="微软雅黑" pitchFamily="34" charset="-122"/>
                <a:ea typeface="微软雅黑" pitchFamily="34" charset="-122"/>
              </a:rPr>
              <a:t>投票系统</a:t>
            </a:r>
          </a:p>
        </p:txBody>
      </p:sp>
      <p:sp>
        <p:nvSpPr>
          <p:cNvPr id="9" name="椭圆 8"/>
          <p:cNvSpPr/>
          <p:nvPr/>
        </p:nvSpPr>
        <p:spPr>
          <a:xfrm>
            <a:off x="2743200" y="13525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768600" y="18224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781300" y="23431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2768600" y="28384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743200" y="3366118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2743200" y="3867150"/>
            <a:ext cx="152400" cy="1524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429000" y="2419350"/>
            <a:ext cx="2133600" cy="1676400"/>
          </a:xfrm>
          <a:prstGeom prst="rect">
            <a:avLst/>
          </a:prstGeom>
          <a:noFill/>
          <a:ln w="3810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2D2D8A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6260</TotalTime>
  <Words>555</Words>
  <Application>Microsoft Office PowerPoint</Application>
  <PresentationFormat>全屏显示(16:9)</PresentationFormat>
  <Paragraphs>203</Paragraphs>
  <Slides>13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默认设计模板</vt:lpstr>
      <vt:lpstr>公式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zhaole</dc:creator>
  <cp:lastModifiedBy>NTKO</cp:lastModifiedBy>
  <cp:revision>725</cp:revision>
  <cp:lastPrinted>2113-01-01T00:00:00Z</cp:lastPrinted>
  <dcterms:created xsi:type="dcterms:W3CDTF">2113-01-01T00:00:00Z</dcterms:created>
  <dcterms:modified xsi:type="dcterms:W3CDTF">2021-01-15T00:25:01Z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2052-11.1.0.8696</vt:lpwstr>
  </property>
</Properties>
</file>