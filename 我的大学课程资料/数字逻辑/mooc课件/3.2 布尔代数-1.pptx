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09" r:id="rId2"/>
    <p:sldId id="338" r:id="rId3"/>
    <p:sldId id="314" r:id="rId4"/>
    <p:sldId id="315" r:id="rId5"/>
    <p:sldId id="316" r:id="rId6"/>
    <p:sldId id="332" r:id="rId7"/>
    <p:sldId id="333" r:id="rId8"/>
    <p:sldId id="317" r:id="rId9"/>
    <p:sldId id="319" r:id="rId10"/>
    <p:sldId id="334" r:id="rId11"/>
    <p:sldId id="321" r:id="rId12"/>
    <p:sldId id="322" r:id="rId13"/>
    <p:sldId id="335" r:id="rId14"/>
    <p:sldId id="323" r:id="rId1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C2E"/>
    <a:srgbClr val="001007"/>
    <a:srgbClr val="3333CC"/>
    <a:srgbClr val="2D2D8A"/>
    <a:srgbClr val="0000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99" autoAdjust="0"/>
    <p:restoredTop sz="95250" autoAdjust="0"/>
  </p:normalViewPr>
  <p:slideViewPr>
    <p:cSldViewPr>
      <p:cViewPr varScale="1">
        <p:scale>
          <a:sx n="139" d="100"/>
          <a:sy n="139" d="100"/>
        </p:scale>
        <p:origin x="-330" y="-12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2020/12/21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Relationship Id="rId9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1.bin"/><Relationship Id="rId5" Type="http://schemas.openxmlformats.org/officeDocument/2006/relationships/oleObject" Target="../embeddings/oleObject30.bin"/><Relationship Id="rId4" Type="http://schemas.openxmlformats.org/officeDocument/2006/relationships/oleObject" Target="../embeddings/oleObject2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6.bin"/><Relationship Id="rId5" Type="http://schemas.openxmlformats.org/officeDocument/2006/relationships/oleObject" Target="../embeddings/oleObject35.bin"/><Relationship Id="rId4" Type="http://schemas.openxmlformats.org/officeDocument/2006/relationships/oleObject" Target="../embeddings/oleObject34.bin"/><Relationship Id="rId9" Type="http://schemas.openxmlformats.org/officeDocument/2006/relationships/oleObject" Target="../embeddings/oleObject3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3.bin"/><Relationship Id="rId5" Type="http://schemas.openxmlformats.org/officeDocument/2006/relationships/oleObject" Target="../embeddings/oleObject42.bin"/><Relationship Id="rId4" Type="http://schemas.openxmlformats.org/officeDocument/2006/relationships/oleObject" Target="../embeddings/oleObject41.bin"/><Relationship Id="rId9" Type="http://schemas.openxmlformats.org/officeDocument/2006/relationships/oleObject" Target="../embeddings/oleObject4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0.bin"/><Relationship Id="rId5" Type="http://schemas.openxmlformats.org/officeDocument/2006/relationships/oleObject" Target="../embeddings/oleObject49.bin"/><Relationship Id="rId4" Type="http://schemas.openxmlformats.org/officeDocument/2006/relationships/oleObject" Target="../embeddings/oleObject48.bin"/><Relationship Id="rId9" Type="http://schemas.openxmlformats.org/officeDocument/2006/relationships/oleObject" Target="../embeddings/oleObject53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79245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如何判断两个布尔函数相等：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14"/>
          <p:cNvSpPr>
            <a:spLocks noGrp="1" noChangeArrowheads="1"/>
          </p:cNvSpPr>
          <p:nvPr>
            <p:ph type="title"/>
          </p:nvPr>
        </p:nvSpPr>
        <p:spPr>
          <a:xfrm>
            <a:off x="990600" y="1123950"/>
            <a:ext cx="2209800" cy="381000"/>
          </a:xfrm>
          <a:noFill/>
          <a:ln/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1600" dirty="0" smtClean="0">
                <a:solidFill>
                  <a:schemeClr val="accent4"/>
                </a:solidFill>
                <a:latin typeface="微软雅黑" pitchFamily="34" charset="-122"/>
              </a:rPr>
              <a:t>设有两个布尔函数，</a:t>
            </a:r>
            <a:endParaRPr lang="zh-CN" altLang="en-US" sz="1600" dirty="0">
              <a:solidFill>
                <a:schemeClr val="accent4"/>
              </a:solidFill>
              <a:latin typeface="微软雅黑" pitchFamily="34" charset="-122"/>
            </a:endParaRPr>
          </a:p>
        </p:txBody>
      </p:sp>
      <p:graphicFrame>
        <p:nvGraphicFramePr>
          <p:cNvPr id="90114" name="Object 2"/>
          <p:cNvGraphicFramePr>
            <a:graphicFrameLocks noChangeAspect="1"/>
          </p:cNvGraphicFramePr>
          <p:nvPr/>
        </p:nvGraphicFramePr>
        <p:xfrm>
          <a:off x="2971800" y="1176415"/>
          <a:ext cx="3614737" cy="263525"/>
        </p:xfrm>
        <a:graphic>
          <a:graphicData uri="http://schemas.openxmlformats.org/presentationml/2006/ole">
            <p:oleObj spid="_x0000_s90114" name="Equation" r:id="rId3" imgW="4533840" imgH="330120" progId="Equation.DSMT4">
              <p:embed/>
            </p:oleObj>
          </a:graphicData>
        </a:graphic>
      </p:graphicFrame>
      <p:sp>
        <p:nvSpPr>
          <p:cNvPr id="16" name="矩形 15"/>
          <p:cNvSpPr/>
          <p:nvPr/>
        </p:nvSpPr>
        <p:spPr>
          <a:xfrm>
            <a:off x="1143000" y="1581150"/>
            <a:ext cx="647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如果对应于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600" b="1" baseline="-25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 A</a:t>
            </a:r>
            <a:r>
              <a:rPr lang="en-US" altLang="zh-CN" sz="1600" b="1" baseline="-25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 …A</a:t>
            </a:r>
            <a:r>
              <a:rPr lang="en-US" altLang="zh-CN" sz="1600" b="1" baseline="-25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的任何一组取值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(2</a:t>
            </a:r>
            <a:r>
              <a:rPr lang="en-US" altLang="zh-CN" sz="1600" b="1" baseline="30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</a:t>
            </a:r>
            <a:r>
              <a:rPr lang="en-US" altLang="zh-CN" sz="1600" b="1" baseline="-25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</a:t>
            </a:r>
            <a:r>
              <a:rPr lang="en-US" altLang="zh-CN" sz="1600" b="1" baseline="-25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的值都相等，则称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</a:t>
            </a:r>
            <a:r>
              <a:rPr lang="en-US" altLang="zh-CN" sz="1600" b="1" baseline="-25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 F</a:t>
            </a:r>
            <a:r>
              <a:rPr lang="en-US" altLang="zh-CN" sz="1600" b="1" baseline="-25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b="1" baseline="-25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90117" name="Object 5"/>
          <p:cNvGraphicFramePr>
            <a:graphicFrameLocks noChangeAspect="1"/>
          </p:cNvGraphicFramePr>
          <p:nvPr/>
        </p:nvGraphicFramePr>
        <p:xfrm>
          <a:off x="2201055" y="2529304"/>
          <a:ext cx="2997200" cy="293687"/>
        </p:xfrm>
        <a:graphic>
          <a:graphicData uri="http://schemas.openxmlformats.org/presentationml/2006/ole">
            <p:oleObj spid="_x0000_s90117" name="Equation" r:id="rId4" imgW="3759120" imgH="368280" progId="Equation.DSMT4">
              <p:embed/>
            </p:oleObj>
          </a:graphicData>
        </a:graphic>
      </p:graphicFrame>
      <p:sp>
        <p:nvSpPr>
          <p:cNvPr id="19" name="矩形 18"/>
          <p:cNvSpPr/>
          <p:nvPr/>
        </p:nvSpPr>
        <p:spPr>
          <a:xfrm>
            <a:off x="1219200" y="2495550"/>
            <a:ext cx="1066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例：证明</a:t>
            </a:r>
            <a:endParaRPr lang="zh-CN" altLang="en-US" sz="1600" dirty="0">
              <a:solidFill>
                <a:schemeClr val="tx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0" name="Group 4"/>
          <p:cNvGrpSpPr>
            <a:grpSpLocks/>
          </p:cNvGrpSpPr>
          <p:nvPr/>
        </p:nvGrpSpPr>
        <p:grpSpPr bwMode="auto">
          <a:xfrm>
            <a:off x="2743200" y="3333750"/>
            <a:ext cx="2854020" cy="694135"/>
            <a:chOff x="1056" y="1651"/>
            <a:chExt cx="1833" cy="583"/>
          </a:xfrm>
        </p:grpSpPr>
        <p:sp>
          <p:nvSpPr>
            <p:cNvPr id="21" name="Text Box 5"/>
            <p:cNvSpPr txBox="1">
              <a:spLocks noChangeArrowheads="1"/>
            </p:cNvSpPr>
            <p:nvPr/>
          </p:nvSpPr>
          <p:spPr bwMode="auto">
            <a:xfrm>
              <a:off x="1056" y="1651"/>
              <a:ext cx="1833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zh-CN" altLang="en-US" sz="1600" dirty="0">
                  <a:solidFill>
                    <a:srgbClr val="FF0000"/>
                  </a:solidFill>
                  <a:ea typeface="黑体" pitchFamily="49" charset="-122"/>
                </a:rPr>
                <a:t>非</a:t>
              </a:r>
              <a:r>
                <a:rPr lang="zh-CN" altLang="en-US" sz="1600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”“</a:t>
              </a:r>
              <a:r>
                <a:rPr lang="zh-CN" altLang="en-US" sz="1600" dirty="0">
                  <a:solidFill>
                    <a:srgbClr val="FF0000"/>
                  </a:solidFill>
                  <a:ea typeface="黑体" pitchFamily="49" charset="-122"/>
                </a:rPr>
                <a:t>括号</a:t>
              </a:r>
              <a:r>
                <a:rPr lang="zh-CN" altLang="en-US" sz="1600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”“</a:t>
              </a:r>
              <a:r>
                <a:rPr lang="zh-CN" altLang="en-US" sz="1600" dirty="0">
                  <a:solidFill>
                    <a:srgbClr val="FF0000"/>
                  </a:solidFill>
                  <a:ea typeface="黑体" pitchFamily="49" charset="-122"/>
                </a:rPr>
                <a:t>与</a:t>
              </a:r>
              <a:r>
                <a:rPr lang="zh-CN" altLang="en-US" sz="1600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”</a:t>
              </a:r>
              <a:r>
                <a:rPr lang="zh-CN" altLang="en-US" sz="1600" dirty="0">
                  <a:solidFill>
                    <a:srgbClr val="FF0000"/>
                  </a:solidFill>
                  <a:ea typeface="黑体" pitchFamily="49" charset="-122"/>
                </a:rPr>
                <a:t>  </a:t>
              </a:r>
              <a:r>
                <a:rPr lang="zh-CN" altLang="en-US" sz="1600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zh-CN" altLang="en-US" sz="1600" dirty="0">
                  <a:solidFill>
                    <a:srgbClr val="FF0000"/>
                  </a:solidFill>
                  <a:ea typeface="黑体" pitchFamily="49" charset="-122"/>
                </a:rPr>
                <a:t>或</a:t>
              </a:r>
              <a:r>
                <a:rPr lang="zh-CN" altLang="en-US" sz="1600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”</a:t>
              </a:r>
              <a:endParaRPr lang="zh-CN" altLang="en-US" sz="1600" dirty="0">
                <a:solidFill>
                  <a:srgbClr val="FF0000"/>
                </a:solidFill>
                <a:ea typeface="黑体" pitchFamily="49" charset="-122"/>
              </a:endParaRPr>
            </a:p>
          </p:txBody>
        </p:sp>
        <p:sp>
          <p:nvSpPr>
            <p:cNvPr id="31" name="Line 6"/>
            <p:cNvSpPr>
              <a:spLocks noChangeShapeType="1"/>
            </p:cNvSpPr>
            <p:nvPr/>
          </p:nvSpPr>
          <p:spPr bwMode="auto">
            <a:xfrm flipV="1">
              <a:off x="1152" y="1943"/>
              <a:ext cx="1605" cy="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600">
                <a:solidFill>
                  <a:srgbClr val="FF0000"/>
                </a:solidFill>
              </a:endParaRPr>
            </a:p>
          </p:txBody>
        </p:sp>
        <p:sp>
          <p:nvSpPr>
            <p:cNvPr id="32" name="Text Box 7"/>
            <p:cNvSpPr txBox="1">
              <a:spLocks noChangeArrowheads="1"/>
            </p:cNvSpPr>
            <p:nvPr/>
          </p:nvSpPr>
          <p:spPr bwMode="auto">
            <a:xfrm>
              <a:off x="1142" y="1950"/>
              <a:ext cx="250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600">
                  <a:solidFill>
                    <a:srgbClr val="FF0000"/>
                  </a:solidFill>
                  <a:ea typeface="黑体" pitchFamily="49" charset="-122"/>
                </a:rPr>
                <a:t>高</a:t>
              </a:r>
            </a:p>
          </p:txBody>
        </p:sp>
        <p:sp>
          <p:nvSpPr>
            <p:cNvPr id="33" name="Text Box 8"/>
            <p:cNvSpPr txBox="1">
              <a:spLocks noChangeArrowheads="1"/>
            </p:cNvSpPr>
            <p:nvPr/>
          </p:nvSpPr>
          <p:spPr bwMode="auto">
            <a:xfrm>
              <a:off x="2414" y="1931"/>
              <a:ext cx="250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600" dirty="0">
                  <a:solidFill>
                    <a:srgbClr val="FF0000"/>
                  </a:solidFill>
                  <a:ea typeface="黑体" pitchFamily="49" charset="-122"/>
                </a:rPr>
                <a:t>低</a:t>
              </a:r>
            </a:p>
          </p:txBody>
        </p:sp>
      </p:grpSp>
      <p:sp>
        <p:nvSpPr>
          <p:cNvPr id="34" name="Text Box 3"/>
          <p:cNvSpPr txBox="1">
            <a:spLocks noChangeArrowheads="1"/>
          </p:cNvSpPr>
          <p:nvPr/>
        </p:nvSpPr>
        <p:spPr bwMode="auto">
          <a:xfrm>
            <a:off x="1295400" y="3333750"/>
            <a:ext cx="141577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1600" dirty="0" smtClean="0">
                <a:ea typeface="黑体" pitchFamily="49" charset="-122"/>
              </a:rPr>
              <a:t>逻辑运算的</a:t>
            </a:r>
            <a:endParaRPr lang="en-US" altLang="zh-CN" sz="1600" dirty="0" smtClean="0">
              <a:ea typeface="黑体" pitchFamily="49" charset="-122"/>
            </a:endParaRPr>
          </a:p>
          <a:p>
            <a:pPr algn="l"/>
            <a:r>
              <a:rPr lang="zh-CN" altLang="en-US" sz="1600" dirty="0" smtClean="0">
                <a:ea typeface="黑体" pitchFamily="49" charset="-122"/>
              </a:rPr>
              <a:t>优先级</a:t>
            </a:r>
            <a:r>
              <a:rPr lang="zh-CN" altLang="en-US" sz="1600" dirty="0">
                <a:ea typeface="黑体" pitchFamily="49" charset="-122"/>
              </a:rPr>
              <a:t>规定：</a:t>
            </a:r>
          </a:p>
        </p:txBody>
      </p:sp>
      <p:grpSp>
        <p:nvGrpSpPr>
          <p:cNvPr id="35" name="Group 15"/>
          <p:cNvGrpSpPr>
            <a:grpSpLocks/>
          </p:cNvGrpSpPr>
          <p:nvPr/>
        </p:nvGrpSpPr>
        <p:grpSpPr bwMode="auto">
          <a:xfrm>
            <a:off x="6553200" y="2114550"/>
            <a:ext cx="1611313" cy="2584847"/>
            <a:chOff x="4176" y="1968"/>
            <a:chExt cx="1015" cy="2171"/>
          </a:xfrm>
        </p:grpSpPr>
        <p:sp>
          <p:nvSpPr>
            <p:cNvPr id="36" name="Text Box 16"/>
            <p:cNvSpPr txBox="1">
              <a:spLocks noChangeArrowheads="1"/>
            </p:cNvSpPr>
            <p:nvPr/>
          </p:nvSpPr>
          <p:spPr bwMode="auto">
            <a:xfrm>
              <a:off x="4176" y="1968"/>
              <a:ext cx="1015" cy="2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/>
                <a:t>A B C   </a:t>
              </a:r>
              <a:r>
                <a:rPr lang="en-US" altLang="zh-CN" dirty="0" smtClean="0"/>
                <a:t>F</a:t>
              </a:r>
              <a:r>
                <a:rPr lang="en-US" altLang="zh-CN" baseline="-25000" dirty="0" smtClean="0"/>
                <a:t>1</a:t>
              </a:r>
              <a:r>
                <a:rPr lang="en-US" altLang="zh-CN" dirty="0" smtClean="0"/>
                <a:t>   </a:t>
              </a:r>
              <a:r>
                <a:rPr lang="en-US" altLang="zh-CN" dirty="0"/>
                <a:t>F</a:t>
              </a:r>
              <a:r>
                <a:rPr lang="en-US" altLang="zh-CN" baseline="-25000" dirty="0"/>
                <a:t>2</a:t>
              </a:r>
            </a:p>
            <a:p>
              <a:pPr algn="l"/>
              <a:r>
                <a:rPr lang="en-US" altLang="zh-CN" dirty="0"/>
                <a:t>0 0 0    </a:t>
              </a:r>
              <a:r>
                <a:rPr lang="en-US" altLang="zh-CN" dirty="0" smtClean="0"/>
                <a:t>0    </a:t>
              </a:r>
              <a:r>
                <a:rPr lang="en-US" altLang="zh-CN" dirty="0"/>
                <a:t>0</a:t>
              </a:r>
            </a:p>
            <a:p>
              <a:pPr algn="l"/>
              <a:r>
                <a:rPr lang="en-US" altLang="zh-CN" dirty="0"/>
                <a:t>0 0 1    </a:t>
              </a:r>
              <a:r>
                <a:rPr lang="en-US" altLang="zh-CN" dirty="0" smtClean="0"/>
                <a:t>1    </a:t>
              </a:r>
              <a:r>
                <a:rPr lang="en-US" altLang="zh-CN" dirty="0"/>
                <a:t>1</a:t>
              </a:r>
            </a:p>
            <a:p>
              <a:pPr algn="l"/>
              <a:r>
                <a:rPr lang="en-US" altLang="zh-CN" dirty="0"/>
                <a:t>0 1 0   </a:t>
              </a:r>
              <a:r>
                <a:rPr lang="en-US" altLang="zh-CN" dirty="0" smtClean="0"/>
                <a:t> </a:t>
              </a:r>
              <a:r>
                <a:rPr lang="en-US" altLang="zh-CN" dirty="0"/>
                <a:t>0    0</a:t>
              </a:r>
            </a:p>
            <a:p>
              <a:pPr algn="l"/>
              <a:r>
                <a:rPr lang="en-US" altLang="zh-CN" dirty="0"/>
                <a:t>0 1 1    1    1</a:t>
              </a:r>
            </a:p>
            <a:p>
              <a:pPr algn="l"/>
              <a:r>
                <a:rPr lang="en-US" altLang="zh-CN" dirty="0"/>
                <a:t>1 0 0    0    0 </a:t>
              </a:r>
            </a:p>
            <a:p>
              <a:pPr algn="l"/>
              <a:r>
                <a:rPr lang="en-US" altLang="zh-CN" dirty="0"/>
                <a:t>1 0 1    0    0</a:t>
              </a:r>
            </a:p>
            <a:p>
              <a:pPr algn="l"/>
              <a:r>
                <a:rPr lang="en-US" altLang="zh-CN" dirty="0"/>
                <a:t>1 1 0    0    0</a:t>
              </a:r>
            </a:p>
            <a:p>
              <a:pPr algn="l"/>
              <a:r>
                <a:rPr lang="en-US" altLang="zh-CN" dirty="0"/>
                <a:t>1 1 1    1    1</a:t>
              </a:r>
            </a:p>
          </p:txBody>
        </p:sp>
        <p:sp>
          <p:nvSpPr>
            <p:cNvPr id="37" name="Line 17"/>
            <p:cNvSpPr>
              <a:spLocks noChangeShapeType="1"/>
            </p:cNvSpPr>
            <p:nvPr/>
          </p:nvSpPr>
          <p:spPr bwMode="auto">
            <a:xfrm>
              <a:off x="4176" y="2253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" name="Line 18"/>
            <p:cNvSpPr>
              <a:spLocks noChangeShapeType="1"/>
            </p:cNvSpPr>
            <p:nvPr/>
          </p:nvSpPr>
          <p:spPr bwMode="auto">
            <a:xfrm>
              <a:off x="4646" y="2016"/>
              <a:ext cx="0" cy="20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基本定理：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71600" y="1504950"/>
            <a:ext cx="3429000" cy="614658"/>
            <a:chOff x="336" y="480"/>
            <a:chExt cx="3168" cy="576"/>
          </a:xfrm>
        </p:grpSpPr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576" y="480"/>
              <a:ext cx="1200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ea typeface="宋体" charset="-122"/>
                </a:rPr>
                <a:t>A · 0 = 0</a:t>
              </a:r>
              <a:endParaRPr lang="en-US" altLang="zh-C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Text Box 7"/>
            <p:cNvSpPr txBox="1">
              <a:spLocks noChangeArrowheads="1"/>
            </p:cNvSpPr>
            <p:nvPr/>
          </p:nvSpPr>
          <p:spPr bwMode="auto">
            <a:xfrm>
              <a:off x="2112" y="480"/>
              <a:ext cx="13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tx1"/>
                  </a:solidFill>
                </a:rPr>
                <a:t>A + 0 = A</a:t>
              </a:r>
            </a:p>
          </p:txBody>
        </p:sp>
        <p:sp>
          <p:nvSpPr>
            <p:cNvPr id="24" name="Text Box 8"/>
            <p:cNvSpPr txBox="1">
              <a:spLocks noChangeArrowheads="1"/>
            </p:cNvSpPr>
            <p:nvPr/>
          </p:nvSpPr>
          <p:spPr bwMode="auto">
            <a:xfrm>
              <a:off x="336" y="768"/>
              <a:ext cx="1680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tx1"/>
                  </a:solidFill>
                </a:rPr>
                <a:t>A · 1 = A</a:t>
              </a:r>
            </a:p>
          </p:txBody>
        </p:sp>
        <p:sp>
          <p:nvSpPr>
            <p:cNvPr id="25" name="Text Box 9"/>
            <p:cNvSpPr txBox="1">
              <a:spLocks noChangeArrowheads="1"/>
            </p:cNvSpPr>
            <p:nvPr/>
          </p:nvSpPr>
          <p:spPr bwMode="auto">
            <a:xfrm>
              <a:off x="2160" y="768"/>
              <a:ext cx="129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tx1"/>
                  </a:solidFill>
                </a:rPr>
                <a:t>A + 1 = 1</a:t>
              </a:r>
            </a:p>
          </p:txBody>
        </p:sp>
      </p:grp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838200" y="2266950"/>
            <a:ext cx="47244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交换律、结合律、分配律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1371600" y="2571750"/>
            <a:ext cx="66294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a.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交换律：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1400" b="1" dirty="0">
                <a:solidFill>
                  <a:schemeClr val="tx1"/>
                </a:solidFill>
              </a:rPr>
              <a:t>AB= BA          A + B=B + A</a:t>
            </a: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1371600" y="3105150"/>
            <a:ext cx="7239000" cy="6309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b.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结合律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</a:t>
            </a:r>
            <a:r>
              <a:rPr lang="en-US" altLang="zh-CN" sz="1400" b="1" dirty="0" smtClean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BC</a:t>
            </a:r>
            <a:r>
              <a:rPr lang="zh-CN" altLang="en-US" sz="1400" b="1" dirty="0">
                <a:solidFill>
                  <a:schemeClr val="tx1"/>
                </a:solidFill>
              </a:rPr>
              <a:t>） </a:t>
            </a:r>
            <a:r>
              <a:rPr lang="en-US" altLang="zh-CN" sz="1400" b="1" dirty="0">
                <a:solidFill>
                  <a:schemeClr val="tx1"/>
                </a:solidFill>
              </a:rPr>
              <a:t>=</a:t>
            </a:r>
            <a:r>
              <a:rPr lang="zh-CN" altLang="en-US" sz="1400" b="1" dirty="0">
                <a:solidFill>
                  <a:schemeClr val="tx1"/>
                </a:solidFill>
              </a:rPr>
              <a:t>（ </a:t>
            </a:r>
            <a:r>
              <a:rPr lang="en-US" altLang="zh-CN" sz="1400" b="1" dirty="0">
                <a:solidFill>
                  <a:schemeClr val="tx1"/>
                </a:solidFill>
              </a:rPr>
              <a:t>AB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  <a:r>
              <a:rPr lang="en-US" altLang="zh-CN" sz="1400" b="1" dirty="0">
                <a:solidFill>
                  <a:schemeClr val="tx1"/>
                </a:solidFill>
              </a:rPr>
              <a:t>C    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tx1"/>
                </a:solidFill>
              </a:rPr>
              <a:t>                     A +</a:t>
            </a:r>
            <a:r>
              <a:rPr lang="zh-CN" altLang="en-US" sz="1400" b="1" dirty="0">
                <a:solidFill>
                  <a:schemeClr val="tx1"/>
                </a:solidFill>
              </a:rPr>
              <a:t>（ </a:t>
            </a:r>
            <a:r>
              <a:rPr lang="en-US" altLang="zh-CN" sz="1400" b="1" dirty="0">
                <a:solidFill>
                  <a:schemeClr val="tx1"/>
                </a:solidFill>
              </a:rPr>
              <a:t>B </a:t>
            </a:r>
            <a:r>
              <a:rPr lang="zh-CN" altLang="en-US" sz="1400" b="1" dirty="0">
                <a:solidFill>
                  <a:schemeClr val="tx1"/>
                </a:solidFill>
              </a:rPr>
              <a:t>＋</a:t>
            </a:r>
            <a:r>
              <a:rPr lang="en-US" altLang="zh-CN" sz="1400" b="1" dirty="0">
                <a:solidFill>
                  <a:schemeClr val="tx1"/>
                </a:solidFill>
              </a:rPr>
              <a:t>C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  <a:r>
              <a:rPr lang="en-US" altLang="zh-CN" sz="1400" b="1" dirty="0">
                <a:solidFill>
                  <a:schemeClr val="tx1"/>
                </a:solidFill>
              </a:rPr>
              <a:t>= </a:t>
            </a: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＋</a:t>
            </a:r>
            <a:r>
              <a:rPr lang="en-US" altLang="zh-CN" sz="1400" b="1" dirty="0">
                <a:solidFill>
                  <a:schemeClr val="tx1"/>
                </a:solidFill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</a:rPr>
              <a:t>） </a:t>
            </a:r>
            <a:r>
              <a:rPr lang="en-US" altLang="zh-CN" sz="1400" b="1" dirty="0">
                <a:solidFill>
                  <a:schemeClr val="tx1"/>
                </a:solidFill>
              </a:rPr>
              <a:t>+ C</a:t>
            </a: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1371600" y="3998208"/>
            <a:ext cx="6324600" cy="6309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c.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分配律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</a:t>
            </a:r>
            <a:r>
              <a:rPr lang="en-US" altLang="zh-CN" sz="1400" b="1" dirty="0" smtClean="0">
                <a:solidFill>
                  <a:schemeClr val="tx1"/>
                </a:solidFill>
              </a:rPr>
              <a:t>A</a:t>
            </a:r>
            <a:r>
              <a:rPr lang="en-US" altLang="zh-CN" sz="1400" b="1" dirty="0">
                <a:solidFill>
                  <a:schemeClr val="tx1"/>
                </a:solidFill>
              </a:rPr>
              <a:t>( B + C) = AB + AC  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FF0000"/>
                </a:solidFill>
              </a:rPr>
              <a:t>                     A + BC = (A + B)(A + C)</a:t>
            </a:r>
          </a:p>
        </p:txBody>
      </p:sp>
      <p:sp>
        <p:nvSpPr>
          <p:cNvPr id="30" name="Rectangle 14"/>
          <p:cNvSpPr>
            <a:spLocks noGrp="1" noChangeArrowheads="1"/>
          </p:cNvSpPr>
          <p:nvPr>
            <p:ph type="title"/>
          </p:nvPr>
        </p:nvSpPr>
        <p:spPr>
          <a:xfrm>
            <a:off x="838200" y="1123950"/>
            <a:ext cx="2514600" cy="381000"/>
          </a:xfrm>
          <a:noFill/>
          <a:ln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</a:rPr>
              <a:t>1.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</a:rPr>
              <a:t>关于变量与常数关系的定理</a:t>
            </a: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utoUpdateAnimBg="0"/>
      <p:bldP spid="27" grpId="0" autoUpdateAnimBg="0"/>
      <p:bldP spid="28" grpId="0" autoUpdateAnimBg="0"/>
      <p:bldP spid="29" grpId="0" autoUpdateAnimBg="0"/>
      <p:bldP spid="30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基本定理：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71600" y="1504950"/>
            <a:ext cx="3429000" cy="614658"/>
            <a:chOff x="336" y="480"/>
            <a:chExt cx="3168" cy="576"/>
          </a:xfrm>
        </p:grpSpPr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576" y="480"/>
              <a:ext cx="1200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ea typeface="宋体" charset="-122"/>
                </a:rPr>
                <a:t>A · 0 = 0</a:t>
              </a:r>
              <a:endParaRPr lang="en-US" altLang="zh-CN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Text Box 7"/>
            <p:cNvSpPr txBox="1">
              <a:spLocks noChangeArrowheads="1"/>
            </p:cNvSpPr>
            <p:nvPr/>
          </p:nvSpPr>
          <p:spPr bwMode="auto">
            <a:xfrm>
              <a:off x="2112" y="480"/>
              <a:ext cx="13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tx1"/>
                  </a:solidFill>
                </a:rPr>
                <a:t>A + 0 = A</a:t>
              </a:r>
            </a:p>
          </p:txBody>
        </p:sp>
        <p:sp>
          <p:nvSpPr>
            <p:cNvPr id="24" name="Text Box 8"/>
            <p:cNvSpPr txBox="1">
              <a:spLocks noChangeArrowheads="1"/>
            </p:cNvSpPr>
            <p:nvPr/>
          </p:nvSpPr>
          <p:spPr bwMode="auto">
            <a:xfrm>
              <a:off x="336" y="768"/>
              <a:ext cx="1680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tx1"/>
                  </a:solidFill>
                </a:rPr>
                <a:t>A · 1 = A</a:t>
              </a:r>
            </a:p>
          </p:txBody>
        </p:sp>
        <p:sp>
          <p:nvSpPr>
            <p:cNvPr id="25" name="Text Box 9"/>
            <p:cNvSpPr txBox="1">
              <a:spLocks noChangeArrowheads="1"/>
            </p:cNvSpPr>
            <p:nvPr/>
          </p:nvSpPr>
          <p:spPr bwMode="auto">
            <a:xfrm>
              <a:off x="2160" y="768"/>
              <a:ext cx="129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tx1"/>
                  </a:solidFill>
                </a:rPr>
                <a:t>A + 1 = 1</a:t>
              </a:r>
            </a:p>
          </p:txBody>
        </p:sp>
      </p:grp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838200" y="2266950"/>
            <a:ext cx="47244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交换律、结合律、分配律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1371600" y="2571750"/>
            <a:ext cx="66294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a.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交换律：</a:t>
            </a:r>
            <a:r>
              <a:rPr lang="zh-CN" altLang="en-US" sz="1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1400" b="1" dirty="0">
                <a:solidFill>
                  <a:schemeClr val="tx1"/>
                </a:solidFill>
              </a:rPr>
              <a:t>AB= BA          A + B=B + A</a:t>
            </a: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1371600" y="3105150"/>
            <a:ext cx="7239000" cy="6309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b.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结合律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</a:t>
            </a:r>
            <a:r>
              <a:rPr lang="en-US" altLang="zh-CN" sz="1400" b="1" dirty="0" smtClean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BC</a:t>
            </a:r>
            <a:r>
              <a:rPr lang="zh-CN" altLang="en-US" sz="1400" b="1" dirty="0">
                <a:solidFill>
                  <a:schemeClr val="tx1"/>
                </a:solidFill>
              </a:rPr>
              <a:t>） </a:t>
            </a:r>
            <a:r>
              <a:rPr lang="en-US" altLang="zh-CN" sz="1400" b="1" dirty="0">
                <a:solidFill>
                  <a:schemeClr val="tx1"/>
                </a:solidFill>
              </a:rPr>
              <a:t>=</a:t>
            </a:r>
            <a:r>
              <a:rPr lang="zh-CN" altLang="en-US" sz="1400" b="1" dirty="0">
                <a:solidFill>
                  <a:schemeClr val="tx1"/>
                </a:solidFill>
              </a:rPr>
              <a:t>（ </a:t>
            </a:r>
            <a:r>
              <a:rPr lang="en-US" altLang="zh-CN" sz="1400" b="1" dirty="0">
                <a:solidFill>
                  <a:schemeClr val="tx1"/>
                </a:solidFill>
              </a:rPr>
              <a:t>AB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  <a:r>
              <a:rPr lang="en-US" altLang="zh-CN" sz="1400" b="1" dirty="0">
                <a:solidFill>
                  <a:schemeClr val="tx1"/>
                </a:solidFill>
              </a:rPr>
              <a:t>C    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tx1"/>
                </a:solidFill>
              </a:rPr>
              <a:t>                     A +</a:t>
            </a:r>
            <a:r>
              <a:rPr lang="zh-CN" altLang="en-US" sz="1400" b="1" dirty="0">
                <a:solidFill>
                  <a:schemeClr val="tx1"/>
                </a:solidFill>
              </a:rPr>
              <a:t>（ </a:t>
            </a:r>
            <a:r>
              <a:rPr lang="en-US" altLang="zh-CN" sz="1400" b="1" dirty="0">
                <a:solidFill>
                  <a:schemeClr val="tx1"/>
                </a:solidFill>
              </a:rPr>
              <a:t>B </a:t>
            </a:r>
            <a:r>
              <a:rPr lang="zh-CN" altLang="en-US" sz="1400" b="1" dirty="0">
                <a:solidFill>
                  <a:schemeClr val="tx1"/>
                </a:solidFill>
              </a:rPr>
              <a:t>＋</a:t>
            </a:r>
            <a:r>
              <a:rPr lang="en-US" altLang="zh-CN" sz="1400" b="1" dirty="0">
                <a:solidFill>
                  <a:schemeClr val="tx1"/>
                </a:solidFill>
              </a:rPr>
              <a:t>C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  <a:r>
              <a:rPr lang="en-US" altLang="zh-CN" sz="1400" b="1" dirty="0">
                <a:solidFill>
                  <a:schemeClr val="tx1"/>
                </a:solidFill>
              </a:rPr>
              <a:t>= </a:t>
            </a: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＋</a:t>
            </a:r>
            <a:r>
              <a:rPr lang="en-US" altLang="zh-CN" sz="1400" b="1" dirty="0">
                <a:solidFill>
                  <a:schemeClr val="tx1"/>
                </a:solidFill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</a:rPr>
              <a:t>） </a:t>
            </a:r>
            <a:r>
              <a:rPr lang="en-US" altLang="zh-CN" sz="1400" b="1" dirty="0">
                <a:solidFill>
                  <a:schemeClr val="tx1"/>
                </a:solidFill>
              </a:rPr>
              <a:t>+ C</a:t>
            </a: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1371600" y="3998208"/>
            <a:ext cx="6324600" cy="6309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c.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分配律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</a:t>
            </a:r>
            <a:r>
              <a:rPr lang="en-US" altLang="zh-CN" sz="1400" b="1" dirty="0" smtClean="0">
                <a:solidFill>
                  <a:schemeClr val="tx1"/>
                </a:solidFill>
              </a:rPr>
              <a:t>A</a:t>
            </a:r>
            <a:r>
              <a:rPr lang="en-US" altLang="zh-CN" sz="1400" b="1" dirty="0">
                <a:solidFill>
                  <a:schemeClr val="tx1"/>
                </a:solidFill>
              </a:rPr>
              <a:t>( B + C) = AB + AC  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FF0000"/>
                </a:solidFill>
              </a:rPr>
              <a:t>                     A + BC = (A + B)(A + C)</a:t>
            </a:r>
          </a:p>
        </p:txBody>
      </p:sp>
      <p:sp>
        <p:nvSpPr>
          <p:cNvPr id="30" name="Rectangle 14"/>
          <p:cNvSpPr>
            <a:spLocks noGrp="1" noChangeArrowheads="1"/>
          </p:cNvSpPr>
          <p:nvPr>
            <p:ph type="title"/>
          </p:nvPr>
        </p:nvSpPr>
        <p:spPr>
          <a:xfrm>
            <a:off x="838200" y="1123950"/>
            <a:ext cx="2514600" cy="381000"/>
          </a:xfrm>
          <a:noFill/>
          <a:ln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</a:rPr>
              <a:t>1.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</a:rPr>
              <a:t>关于变量与常数关系的定理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57350"/>
            <a:ext cx="25146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</a:rPr>
              <a:t>证明</a:t>
            </a:r>
            <a:r>
              <a:rPr lang="en-US" altLang="zh-CN" sz="1400" dirty="0" smtClean="0">
                <a:solidFill>
                  <a:srgbClr val="FF0000"/>
                </a:solidFill>
              </a:rPr>
              <a:t>:</a:t>
            </a:r>
            <a:r>
              <a:rPr lang="en-US" altLang="zh-CN" sz="14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  (A+B)(A+C)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= A+AC+AB+BC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=A(1+C+B)+BC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= A+BC</a:t>
            </a:r>
          </a:p>
          <a:p>
            <a:r>
              <a:rPr lang="en-US" altLang="zh-CN" b="1" dirty="0" smtClean="0"/>
              <a:t>    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基本定理：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81000" y="1181100"/>
            <a:ext cx="21034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互补律：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381000" y="1657350"/>
            <a:ext cx="56388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重叠律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 </a:t>
            </a:r>
            <a:r>
              <a:rPr lang="en-US" altLang="zh-CN" sz="1400" dirty="0" smtClean="0">
                <a:solidFill>
                  <a:schemeClr val="tx1"/>
                </a:solidFill>
              </a:rPr>
              <a:t>A </a:t>
            </a:r>
            <a:r>
              <a:rPr lang="en-US" altLang="zh-CN" sz="1400" dirty="0">
                <a:solidFill>
                  <a:schemeClr val="tx1"/>
                </a:solidFill>
              </a:rPr>
              <a:t>· A = A     </a:t>
            </a:r>
            <a:r>
              <a:rPr lang="en-US" altLang="zh-CN" sz="1400" dirty="0" err="1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+ A = A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381000" y="2190750"/>
            <a:ext cx="21034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5.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非非律：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381000" y="2800350"/>
            <a:ext cx="64770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6.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吸收律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 </a:t>
            </a:r>
            <a:r>
              <a:rPr lang="en-US" altLang="zh-CN" sz="1400" dirty="0" smtClean="0">
                <a:solidFill>
                  <a:schemeClr val="tx1"/>
                </a:solidFill>
              </a:rPr>
              <a:t>A </a:t>
            </a:r>
            <a:r>
              <a:rPr lang="en-US" altLang="zh-CN" sz="1400" dirty="0">
                <a:solidFill>
                  <a:schemeClr val="tx1"/>
                </a:solidFill>
              </a:rPr>
              <a:t>+ A B = A  </a:t>
            </a:r>
            <a:r>
              <a:rPr lang="en-US" altLang="zh-CN" sz="1400" dirty="0" smtClean="0">
                <a:solidFill>
                  <a:schemeClr val="tx1"/>
                </a:solidFill>
              </a:rPr>
              <a:t>       </a:t>
            </a:r>
            <a:r>
              <a:rPr lang="en-US" altLang="zh-CN" sz="1400" dirty="0" err="1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(A+B) = A                 </a:t>
            </a:r>
          </a:p>
        </p:txBody>
      </p:sp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1524000" y="1200150"/>
          <a:ext cx="664029" cy="228600"/>
        </p:xfrm>
        <a:graphic>
          <a:graphicData uri="http://schemas.openxmlformats.org/presentationml/2006/ole">
            <p:oleObj spid="_x0000_s51207" name="Equation" r:id="rId3" imgW="774360" imgH="266400" progId="Equation.DSMT4">
              <p:embed/>
            </p:oleObj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/>
        </p:nvGraphicFramePr>
        <p:xfrm>
          <a:off x="2438400" y="1204913"/>
          <a:ext cx="663575" cy="217487"/>
        </p:xfrm>
        <a:graphic>
          <a:graphicData uri="http://schemas.openxmlformats.org/presentationml/2006/ole">
            <p:oleObj spid="_x0000_s51208" name="Equation" r:id="rId4" imgW="774360" imgH="253800" progId="Equation.DSMT4">
              <p:embed/>
            </p:oleObj>
          </a:graphicData>
        </a:graphic>
      </p:graphicFrame>
      <p:graphicFrame>
        <p:nvGraphicFramePr>
          <p:cNvPr id="51209" name="Object 9"/>
          <p:cNvGraphicFramePr>
            <a:graphicFrameLocks noChangeAspect="1"/>
          </p:cNvGraphicFramePr>
          <p:nvPr/>
        </p:nvGraphicFramePr>
        <p:xfrm>
          <a:off x="1524000" y="2144530"/>
          <a:ext cx="563843" cy="315912"/>
        </p:xfrm>
        <a:graphic>
          <a:graphicData uri="http://schemas.openxmlformats.org/presentationml/2006/ole">
            <p:oleObj spid="_x0000_s51209" name="Equation" r:id="rId5" imgW="520560" imgH="291960" progId="Equation.DSMT4">
              <p:embed/>
            </p:oleObj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1600200" y="3181350"/>
          <a:ext cx="1109630" cy="228600"/>
        </p:xfrm>
        <a:graphic>
          <a:graphicData uri="http://schemas.openxmlformats.org/presentationml/2006/ole">
            <p:oleObj spid="_x0000_s51210" name="Equation" r:id="rId6" imgW="1231560" imgH="2538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7" grpId="0" autoUpdateAnimBg="0"/>
      <p:bldP spid="18" grpId="0" autoUpdateAnimBg="0"/>
      <p:bldP spid="2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基本定理：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81000" y="1181100"/>
            <a:ext cx="21034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互补律：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381000" y="1657350"/>
            <a:ext cx="56388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重叠律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 </a:t>
            </a:r>
            <a:r>
              <a:rPr lang="en-US" altLang="zh-CN" sz="1400" dirty="0" smtClean="0">
                <a:solidFill>
                  <a:schemeClr val="tx1"/>
                </a:solidFill>
              </a:rPr>
              <a:t>A </a:t>
            </a:r>
            <a:r>
              <a:rPr lang="en-US" altLang="zh-CN" sz="1400" dirty="0">
                <a:solidFill>
                  <a:schemeClr val="tx1"/>
                </a:solidFill>
              </a:rPr>
              <a:t>· A = A     </a:t>
            </a:r>
            <a:r>
              <a:rPr lang="en-US" altLang="zh-CN" sz="1400" dirty="0" err="1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+ A = A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381000" y="2190750"/>
            <a:ext cx="21034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5.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非非律：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381000" y="2800350"/>
            <a:ext cx="64770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6.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吸收律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 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A </a:t>
            </a:r>
            <a:r>
              <a:rPr lang="en-US" altLang="zh-CN" sz="1400" b="1" dirty="0">
                <a:solidFill>
                  <a:srgbClr val="FF0000"/>
                </a:solidFill>
              </a:rPr>
              <a:t>+ A B = A  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       </a:t>
            </a:r>
            <a:r>
              <a:rPr lang="en-US" altLang="zh-CN" sz="1400" dirty="0" err="1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(A+B) = A                 </a:t>
            </a:r>
          </a:p>
        </p:txBody>
      </p:sp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1524000" y="1200150"/>
          <a:ext cx="664029" cy="228600"/>
        </p:xfrm>
        <a:graphic>
          <a:graphicData uri="http://schemas.openxmlformats.org/presentationml/2006/ole">
            <p:oleObj spid="_x0000_s83970" name="Equation" r:id="rId3" imgW="774360" imgH="266400" progId="Equation.DSMT4">
              <p:embed/>
            </p:oleObj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/>
        </p:nvGraphicFramePr>
        <p:xfrm>
          <a:off x="2438400" y="1204913"/>
          <a:ext cx="663575" cy="217487"/>
        </p:xfrm>
        <a:graphic>
          <a:graphicData uri="http://schemas.openxmlformats.org/presentationml/2006/ole">
            <p:oleObj spid="_x0000_s83971" name="Equation" r:id="rId4" imgW="774360" imgH="253800" progId="Equation.DSMT4">
              <p:embed/>
            </p:oleObj>
          </a:graphicData>
        </a:graphic>
      </p:graphicFrame>
      <p:graphicFrame>
        <p:nvGraphicFramePr>
          <p:cNvPr id="51209" name="Object 9"/>
          <p:cNvGraphicFramePr>
            <a:graphicFrameLocks noChangeAspect="1"/>
          </p:cNvGraphicFramePr>
          <p:nvPr/>
        </p:nvGraphicFramePr>
        <p:xfrm>
          <a:off x="1524000" y="2144530"/>
          <a:ext cx="563843" cy="315912"/>
        </p:xfrm>
        <a:graphic>
          <a:graphicData uri="http://schemas.openxmlformats.org/presentationml/2006/ole">
            <p:oleObj spid="_x0000_s83972" name="Equation" r:id="rId5" imgW="520560" imgH="291960" progId="Equation.DSMT4">
              <p:embed/>
            </p:oleObj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1600200" y="3181350"/>
          <a:ext cx="1109630" cy="228600"/>
        </p:xfrm>
        <a:graphic>
          <a:graphicData uri="http://schemas.openxmlformats.org/presentationml/2006/ole">
            <p:oleObj spid="_x0000_s83973" name="Equation" r:id="rId6" imgW="1231560" imgH="253800" progId="Equation.DSMT4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10200" y="1352550"/>
            <a:ext cx="251460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证明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:</a:t>
            </a:r>
            <a:r>
              <a:rPr lang="en-US" altLang="zh-CN" sz="1400" b="1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  A+AB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=A(1+B)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= A</a:t>
            </a:r>
          </a:p>
          <a:p>
            <a:r>
              <a:rPr lang="en-US" altLang="zh-CN" b="1" dirty="0" smtClean="0"/>
              <a:t>    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基本定理：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81000" y="1181100"/>
            <a:ext cx="21034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互补律：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381000" y="1657350"/>
            <a:ext cx="56388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重叠律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 </a:t>
            </a:r>
            <a:r>
              <a:rPr lang="en-US" altLang="zh-CN" sz="1400" dirty="0" smtClean="0">
                <a:solidFill>
                  <a:schemeClr val="tx1"/>
                </a:solidFill>
              </a:rPr>
              <a:t>A </a:t>
            </a:r>
            <a:r>
              <a:rPr lang="en-US" altLang="zh-CN" sz="1400" dirty="0">
                <a:solidFill>
                  <a:schemeClr val="tx1"/>
                </a:solidFill>
              </a:rPr>
              <a:t>· A = A     </a:t>
            </a:r>
            <a:r>
              <a:rPr lang="en-US" altLang="zh-CN" sz="1400" dirty="0" err="1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+ A = A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381000" y="2190750"/>
            <a:ext cx="21034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5.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非非律：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381000" y="2800350"/>
            <a:ext cx="64770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6.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吸收律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 </a:t>
            </a:r>
            <a:r>
              <a:rPr lang="en-US" altLang="zh-CN" sz="1400" dirty="0" smtClean="0"/>
              <a:t>A </a:t>
            </a:r>
            <a:r>
              <a:rPr lang="en-US" altLang="zh-CN" sz="1400" dirty="0"/>
              <a:t>+ A B = A  </a:t>
            </a:r>
            <a:r>
              <a:rPr lang="en-US" altLang="zh-CN" sz="1400" dirty="0" smtClean="0"/>
              <a:t>       </a:t>
            </a:r>
            <a:r>
              <a:rPr lang="en-US" altLang="zh-CN" sz="1400" b="1" dirty="0" err="1">
                <a:solidFill>
                  <a:srgbClr val="FF0000"/>
                </a:solidFill>
              </a:rPr>
              <a:t>A</a:t>
            </a:r>
            <a:r>
              <a:rPr lang="en-US" altLang="zh-CN" sz="1400" b="1" dirty="0">
                <a:solidFill>
                  <a:srgbClr val="FF0000"/>
                </a:solidFill>
              </a:rPr>
              <a:t> (A+B) = A                 </a:t>
            </a:r>
          </a:p>
        </p:txBody>
      </p:sp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1524000" y="1200150"/>
          <a:ext cx="664029" cy="228600"/>
        </p:xfrm>
        <a:graphic>
          <a:graphicData uri="http://schemas.openxmlformats.org/presentationml/2006/ole">
            <p:oleObj spid="_x0000_s84994" name="Equation" r:id="rId3" imgW="774360" imgH="266400" progId="Equation.DSMT4">
              <p:embed/>
            </p:oleObj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/>
        </p:nvGraphicFramePr>
        <p:xfrm>
          <a:off x="2438400" y="1204913"/>
          <a:ext cx="663575" cy="217487"/>
        </p:xfrm>
        <a:graphic>
          <a:graphicData uri="http://schemas.openxmlformats.org/presentationml/2006/ole">
            <p:oleObj spid="_x0000_s84995" name="Equation" r:id="rId4" imgW="774360" imgH="253800" progId="Equation.DSMT4">
              <p:embed/>
            </p:oleObj>
          </a:graphicData>
        </a:graphic>
      </p:graphicFrame>
      <p:graphicFrame>
        <p:nvGraphicFramePr>
          <p:cNvPr id="51209" name="Object 9"/>
          <p:cNvGraphicFramePr>
            <a:graphicFrameLocks noChangeAspect="1"/>
          </p:cNvGraphicFramePr>
          <p:nvPr/>
        </p:nvGraphicFramePr>
        <p:xfrm>
          <a:off x="1524000" y="2144530"/>
          <a:ext cx="563843" cy="315912"/>
        </p:xfrm>
        <a:graphic>
          <a:graphicData uri="http://schemas.openxmlformats.org/presentationml/2006/ole">
            <p:oleObj spid="_x0000_s84996" name="Equation" r:id="rId5" imgW="520560" imgH="291960" progId="Equation.DSMT4">
              <p:embed/>
            </p:oleObj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1600200" y="3181350"/>
          <a:ext cx="1109630" cy="228600"/>
        </p:xfrm>
        <a:graphic>
          <a:graphicData uri="http://schemas.openxmlformats.org/presentationml/2006/ole">
            <p:oleObj spid="_x0000_s84997" name="Equation" r:id="rId6" imgW="1231560" imgH="253800" progId="Equation.DSMT4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10200" y="1352550"/>
            <a:ext cx="25146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证明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:</a:t>
            </a:r>
            <a:r>
              <a:rPr lang="en-US" altLang="zh-CN" sz="1400" b="1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 A (A+B)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= A+AB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=A(1+B)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= A</a:t>
            </a:r>
          </a:p>
          <a:p>
            <a:r>
              <a:rPr lang="en-US" altLang="zh-CN" b="1" dirty="0" smtClean="0"/>
              <a:t>    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基本定理：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81000" y="1181100"/>
            <a:ext cx="21034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互补律：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381000" y="1657350"/>
            <a:ext cx="56388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重叠律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 </a:t>
            </a:r>
            <a:r>
              <a:rPr lang="en-US" altLang="zh-CN" sz="1400" dirty="0" smtClean="0">
                <a:solidFill>
                  <a:schemeClr val="tx1"/>
                </a:solidFill>
              </a:rPr>
              <a:t>A </a:t>
            </a:r>
            <a:r>
              <a:rPr lang="en-US" altLang="zh-CN" sz="1400" dirty="0">
                <a:solidFill>
                  <a:schemeClr val="tx1"/>
                </a:solidFill>
              </a:rPr>
              <a:t>· A = A     </a:t>
            </a:r>
            <a:r>
              <a:rPr lang="en-US" altLang="zh-CN" sz="1400" dirty="0" err="1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+ A = A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381000" y="2190750"/>
            <a:ext cx="21034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5.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非非律：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381000" y="2800350"/>
            <a:ext cx="64770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6.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吸收律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</a:t>
            </a:r>
            <a:r>
              <a:rPr lang="en-US" altLang="zh-CN" sz="1400" dirty="0" smtClean="0">
                <a:solidFill>
                  <a:schemeClr val="tx1"/>
                </a:solidFill>
              </a:rPr>
              <a:t>A </a:t>
            </a:r>
            <a:r>
              <a:rPr lang="en-US" altLang="zh-CN" sz="1400" dirty="0">
                <a:solidFill>
                  <a:schemeClr val="tx1"/>
                </a:solidFill>
              </a:rPr>
              <a:t>+ A B = A     </a:t>
            </a:r>
            <a:r>
              <a:rPr lang="en-US" altLang="zh-CN" sz="1400" dirty="0" err="1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(A+B) = A                 </a:t>
            </a:r>
          </a:p>
        </p:txBody>
      </p:sp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1524000" y="1200150"/>
          <a:ext cx="664029" cy="228600"/>
        </p:xfrm>
        <a:graphic>
          <a:graphicData uri="http://schemas.openxmlformats.org/presentationml/2006/ole">
            <p:oleObj spid="_x0000_s52226" name="Equation" r:id="rId3" imgW="774360" imgH="266400" progId="Equation.DSMT4">
              <p:embed/>
            </p:oleObj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/>
        </p:nvGraphicFramePr>
        <p:xfrm>
          <a:off x="2438400" y="1204913"/>
          <a:ext cx="663575" cy="217487"/>
        </p:xfrm>
        <a:graphic>
          <a:graphicData uri="http://schemas.openxmlformats.org/presentationml/2006/ole">
            <p:oleObj spid="_x0000_s52227" name="Equation" r:id="rId4" imgW="774360" imgH="253800" progId="Equation.DSMT4">
              <p:embed/>
            </p:oleObj>
          </a:graphicData>
        </a:graphic>
      </p:graphicFrame>
      <p:graphicFrame>
        <p:nvGraphicFramePr>
          <p:cNvPr id="51209" name="Object 9"/>
          <p:cNvGraphicFramePr>
            <a:graphicFrameLocks noChangeAspect="1"/>
          </p:cNvGraphicFramePr>
          <p:nvPr/>
        </p:nvGraphicFramePr>
        <p:xfrm>
          <a:off x="1524000" y="2144530"/>
          <a:ext cx="563843" cy="315912"/>
        </p:xfrm>
        <a:graphic>
          <a:graphicData uri="http://schemas.openxmlformats.org/presentationml/2006/ole">
            <p:oleObj spid="_x0000_s52228" name="Equation" r:id="rId5" imgW="520560" imgH="291960" progId="Equation.DSMT4">
              <p:embed/>
            </p:oleObj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1447800" y="3181350"/>
          <a:ext cx="1479507" cy="304800"/>
        </p:xfrm>
        <a:graphic>
          <a:graphicData uri="http://schemas.openxmlformats.org/presentationml/2006/ole">
            <p:oleObj spid="_x0000_s52229" name="Equation" r:id="rId6" imgW="1231560" imgH="253800" progId="Equation.DSMT4">
              <p:embed/>
            </p:oleObj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953000" y="1200150"/>
            <a:ext cx="2514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证明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:</a:t>
            </a:r>
            <a:r>
              <a:rPr lang="en-US" altLang="zh-CN" sz="1400" b="1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  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</a:t>
            </a:r>
            <a:endParaRPr lang="zh-CN" altLang="en-US" b="1" dirty="0"/>
          </a:p>
        </p:txBody>
      </p:sp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5486400" y="1504950"/>
          <a:ext cx="503237" cy="228600"/>
        </p:xfrm>
        <a:graphic>
          <a:graphicData uri="http://schemas.openxmlformats.org/presentationml/2006/ole">
            <p:oleObj spid="_x0000_s52232" name="Equation" r:id="rId7" imgW="558720" imgH="253800" progId="Equation.DSMT4">
              <p:embed/>
            </p:oleObj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5334000" y="1786015"/>
          <a:ext cx="1236663" cy="274638"/>
        </p:xfrm>
        <a:graphic>
          <a:graphicData uri="http://schemas.openxmlformats.org/presentationml/2006/ole">
            <p:oleObj spid="_x0000_s52233" name="Equation" r:id="rId8" imgW="1371600" imgH="304560" progId="Equation.DSMT4">
              <p:embed/>
            </p:oleObj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/>
        </p:nvGraphicFramePr>
        <p:xfrm>
          <a:off x="5334000" y="2154525"/>
          <a:ext cx="595313" cy="217487"/>
        </p:xfrm>
        <a:graphic>
          <a:graphicData uri="http://schemas.openxmlformats.org/presentationml/2006/ole">
            <p:oleObj spid="_x0000_s52234" name="Equation" r:id="rId9" imgW="660240" imgH="2412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基本定理：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81000" y="1181100"/>
            <a:ext cx="21034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互补律：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381000" y="1657350"/>
            <a:ext cx="56388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重叠律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  </a:t>
            </a:r>
            <a:r>
              <a:rPr lang="en-US" altLang="zh-CN" sz="1400" dirty="0" smtClean="0">
                <a:solidFill>
                  <a:schemeClr val="tx1"/>
                </a:solidFill>
              </a:rPr>
              <a:t>A </a:t>
            </a:r>
            <a:r>
              <a:rPr lang="en-US" altLang="zh-CN" sz="1400" dirty="0">
                <a:solidFill>
                  <a:schemeClr val="tx1"/>
                </a:solidFill>
              </a:rPr>
              <a:t>· A = A     </a:t>
            </a:r>
            <a:r>
              <a:rPr lang="en-US" altLang="zh-CN" sz="1400" dirty="0" err="1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+ A = A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381000" y="2190750"/>
            <a:ext cx="21034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5.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非非律：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381000" y="2800350"/>
            <a:ext cx="64770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6.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吸收律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 </a:t>
            </a:r>
            <a:r>
              <a:rPr lang="en-US" altLang="zh-CN" sz="1400" dirty="0" smtClean="0">
                <a:solidFill>
                  <a:schemeClr val="tx1"/>
                </a:solidFill>
              </a:rPr>
              <a:t>A </a:t>
            </a:r>
            <a:r>
              <a:rPr lang="en-US" altLang="zh-CN" sz="1400" dirty="0">
                <a:solidFill>
                  <a:schemeClr val="tx1"/>
                </a:solidFill>
              </a:rPr>
              <a:t>+ A B = A     </a:t>
            </a:r>
            <a:r>
              <a:rPr lang="en-US" altLang="zh-CN" sz="1400" dirty="0" err="1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(A+B) = A                 </a:t>
            </a:r>
          </a:p>
        </p:txBody>
      </p:sp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1524000" y="1200150"/>
          <a:ext cx="664029" cy="228600"/>
        </p:xfrm>
        <a:graphic>
          <a:graphicData uri="http://schemas.openxmlformats.org/presentationml/2006/ole">
            <p:oleObj spid="_x0000_s54274" name="Equation" r:id="rId3" imgW="774360" imgH="266400" progId="Equation.DSMT4">
              <p:embed/>
            </p:oleObj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/>
        </p:nvGraphicFramePr>
        <p:xfrm>
          <a:off x="2438400" y="1204913"/>
          <a:ext cx="663575" cy="217487"/>
        </p:xfrm>
        <a:graphic>
          <a:graphicData uri="http://schemas.openxmlformats.org/presentationml/2006/ole">
            <p:oleObj spid="_x0000_s54275" name="Equation" r:id="rId4" imgW="774360" imgH="253800" progId="Equation.DSMT4">
              <p:embed/>
            </p:oleObj>
          </a:graphicData>
        </a:graphic>
      </p:graphicFrame>
      <p:graphicFrame>
        <p:nvGraphicFramePr>
          <p:cNvPr id="51209" name="Object 9"/>
          <p:cNvGraphicFramePr>
            <a:graphicFrameLocks noChangeAspect="1"/>
          </p:cNvGraphicFramePr>
          <p:nvPr/>
        </p:nvGraphicFramePr>
        <p:xfrm>
          <a:off x="1524000" y="2144530"/>
          <a:ext cx="563843" cy="315912"/>
        </p:xfrm>
        <a:graphic>
          <a:graphicData uri="http://schemas.openxmlformats.org/presentationml/2006/ole">
            <p:oleObj spid="_x0000_s54276" name="Equation" r:id="rId5" imgW="520560" imgH="291960" progId="Equation.DSMT4">
              <p:embed/>
            </p:oleObj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1600200" y="3181350"/>
          <a:ext cx="1109630" cy="228600"/>
        </p:xfrm>
        <a:graphic>
          <a:graphicData uri="http://schemas.openxmlformats.org/presentationml/2006/ole">
            <p:oleObj spid="_x0000_s54277" name="Equation" r:id="rId6" imgW="1231560" imgH="253800" progId="Equation.DSMT4">
              <p:embed/>
            </p:oleObj>
          </a:graphicData>
        </a:graphic>
      </p:graphicFrame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416367" y="4057025"/>
            <a:ext cx="23955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7. 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摩根定律：</a:t>
            </a:r>
          </a:p>
        </p:txBody>
      </p:sp>
      <p:graphicFrame>
        <p:nvGraphicFramePr>
          <p:cNvPr id="22" name="Object 11"/>
          <p:cNvGraphicFramePr>
            <a:graphicFrameLocks noChangeAspect="1"/>
          </p:cNvGraphicFramePr>
          <p:nvPr/>
        </p:nvGraphicFramePr>
        <p:xfrm>
          <a:off x="1731962" y="4095750"/>
          <a:ext cx="1392238" cy="227012"/>
        </p:xfrm>
        <a:graphic>
          <a:graphicData uri="http://schemas.openxmlformats.org/presentationml/2006/ole">
            <p:oleObj spid="_x0000_s54281" name="Equation" r:id="rId7" imgW="1625400" imgH="266400" progId="Equation.DSMT4">
              <p:embed/>
            </p:oleObj>
          </a:graphicData>
        </a:graphic>
      </p:graphicFrame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3406775" y="4095750"/>
          <a:ext cx="1131888" cy="227013"/>
        </p:xfrm>
        <a:graphic>
          <a:graphicData uri="http://schemas.openxmlformats.org/presentationml/2006/ole">
            <p:oleObj spid="_x0000_s54282" name="Equation" r:id="rId8" imgW="1320480" imgH="2664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基本定理：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81000" y="1181100"/>
            <a:ext cx="210343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8. 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冗余律：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6024" name="Object 8"/>
          <p:cNvGraphicFramePr>
            <a:graphicFrameLocks noChangeAspect="1"/>
          </p:cNvGraphicFramePr>
          <p:nvPr/>
        </p:nvGraphicFramePr>
        <p:xfrm>
          <a:off x="1447800" y="1147685"/>
          <a:ext cx="2552700" cy="304800"/>
        </p:xfrm>
        <a:graphic>
          <a:graphicData uri="http://schemas.openxmlformats.org/presentationml/2006/ole">
            <p:oleObj spid="_x0000_s86024" name="Equation" r:id="rId3" imgW="2552400" imgH="304560" progId="Equation.DSMT4">
              <p:embed/>
            </p:oleObj>
          </a:graphicData>
        </a:graphic>
      </p:graphicFrame>
      <p:sp>
        <p:nvSpPr>
          <p:cNvPr id="55" name="Text Box 6"/>
          <p:cNvSpPr txBox="1">
            <a:spLocks noChangeArrowheads="1"/>
          </p:cNvSpPr>
          <p:nvPr/>
        </p:nvSpPr>
        <p:spPr bwMode="auto">
          <a:xfrm>
            <a:off x="739515" y="1657350"/>
            <a:ext cx="7620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证明：</a:t>
            </a:r>
            <a:endParaRPr lang="zh-CN" altLang="en-US" sz="1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6025" name="Object 9"/>
          <p:cNvGraphicFramePr>
            <a:graphicFrameLocks noChangeAspect="1"/>
          </p:cNvGraphicFramePr>
          <p:nvPr/>
        </p:nvGraphicFramePr>
        <p:xfrm>
          <a:off x="1676400" y="1581150"/>
          <a:ext cx="2273300" cy="355600"/>
        </p:xfrm>
        <a:graphic>
          <a:graphicData uri="http://schemas.openxmlformats.org/presentationml/2006/ole">
            <p:oleObj spid="_x0000_s86025" name="Equation" r:id="rId4" imgW="2273040" imgH="355320" progId="Equation.DSMT4">
              <p:embed/>
            </p:oleObj>
          </a:graphicData>
        </a:graphic>
      </p:graphicFrame>
      <p:graphicFrame>
        <p:nvGraphicFramePr>
          <p:cNvPr id="86026" name="Object 10"/>
          <p:cNvGraphicFramePr>
            <a:graphicFrameLocks noChangeAspect="1"/>
          </p:cNvGraphicFramePr>
          <p:nvPr/>
        </p:nvGraphicFramePr>
        <p:xfrm>
          <a:off x="1428750" y="1987550"/>
          <a:ext cx="2616200" cy="304800"/>
        </p:xfrm>
        <a:graphic>
          <a:graphicData uri="http://schemas.openxmlformats.org/presentationml/2006/ole">
            <p:oleObj spid="_x0000_s86026" name="Equation" r:id="rId5" imgW="2616120" imgH="304560" progId="Equation.DSMT4">
              <p:embed/>
            </p:oleObj>
          </a:graphicData>
        </a:graphic>
      </p:graphicFrame>
      <p:sp>
        <p:nvSpPr>
          <p:cNvPr id="56" name="Line 12"/>
          <p:cNvSpPr>
            <a:spLocks noChangeShapeType="1"/>
          </p:cNvSpPr>
          <p:nvPr/>
        </p:nvSpPr>
        <p:spPr bwMode="auto">
          <a:xfrm>
            <a:off x="1661410" y="234315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7" name="Line 12"/>
          <p:cNvSpPr>
            <a:spLocks noChangeShapeType="1"/>
          </p:cNvSpPr>
          <p:nvPr/>
        </p:nvSpPr>
        <p:spPr bwMode="auto">
          <a:xfrm>
            <a:off x="2819400" y="2343150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8" name="Line 12"/>
          <p:cNvSpPr>
            <a:spLocks noChangeShapeType="1"/>
          </p:cNvSpPr>
          <p:nvPr/>
        </p:nvSpPr>
        <p:spPr bwMode="auto">
          <a:xfrm>
            <a:off x="2209800" y="2343150"/>
            <a:ext cx="304800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9" name="Line 12"/>
          <p:cNvSpPr>
            <a:spLocks noChangeShapeType="1"/>
          </p:cNvSpPr>
          <p:nvPr/>
        </p:nvSpPr>
        <p:spPr bwMode="auto">
          <a:xfrm>
            <a:off x="3505200" y="2343150"/>
            <a:ext cx="533400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graphicFrame>
        <p:nvGraphicFramePr>
          <p:cNvPr id="86027" name="Object 11"/>
          <p:cNvGraphicFramePr>
            <a:graphicFrameLocks noChangeAspect="1"/>
          </p:cNvGraphicFramePr>
          <p:nvPr/>
        </p:nvGraphicFramePr>
        <p:xfrm>
          <a:off x="1371600" y="2647950"/>
          <a:ext cx="1143000" cy="304800"/>
        </p:xfrm>
        <a:graphic>
          <a:graphicData uri="http://schemas.openxmlformats.org/presentationml/2006/ole">
            <p:oleObj spid="_x0000_s86027" name="Equation" r:id="rId6" imgW="1143000" imgH="304560" progId="Equation.DSMT4">
              <p:embed/>
            </p:oleObj>
          </a:graphicData>
        </a:graphic>
      </p:graphicFrame>
      <p:sp>
        <p:nvSpPr>
          <p:cNvPr id="60" name="Text Box 6"/>
          <p:cNvSpPr txBox="1">
            <a:spLocks noChangeArrowheads="1"/>
          </p:cNvSpPr>
          <p:nvPr/>
        </p:nvSpPr>
        <p:spPr bwMode="auto">
          <a:xfrm>
            <a:off x="609600" y="3257550"/>
            <a:ext cx="7620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推广：</a:t>
            </a:r>
            <a:endParaRPr lang="zh-CN" altLang="en-US" sz="1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6028" name="Object 12"/>
          <p:cNvGraphicFramePr>
            <a:graphicFrameLocks noChangeAspect="1"/>
          </p:cNvGraphicFramePr>
          <p:nvPr/>
        </p:nvGraphicFramePr>
        <p:xfrm>
          <a:off x="1143000" y="3562350"/>
          <a:ext cx="3492500" cy="304800"/>
        </p:xfrm>
        <a:graphic>
          <a:graphicData uri="http://schemas.openxmlformats.org/presentationml/2006/ole">
            <p:oleObj spid="_x0000_s86028" name="Equation" r:id="rId7" imgW="3492360" imgH="30456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6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6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6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6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 animBg="1"/>
      <p:bldP spid="57" grpId="0" animBg="1"/>
      <p:bldP spid="58" grpId="0" animBg="1"/>
      <p:bldP spid="59" grpId="0" animBg="1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布尔代数化简函数：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1281113" y="1733550"/>
          <a:ext cx="1752600" cy="315277"/>
        </p:xfrm>
        <a:graphic>
          <a:graphicData uri="http://schemas.openxmlformats.org/presentationml/2006/ole">
            <p:oleObj spid="_x0000_s55298" name="Equation" r:id="rId3" imgW="1269720" imgH="228600" progId="Equation.DSMT4">
              <p:embed/>
            </p:oleObj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76313" y="12763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：化简函数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1489701" y="2093980"/>
          <a:ext cx="1506537" cy="385762"/>
        </p:xfrm>
        <a:graphic>
          <a:graphicData uri="http://schemas.openxmlformats.org/presentationml/2006/ole">
            <p:oleObj spid="_x0000_s55299" name="Equation" r:id="rId4" imgW="1091880" imgH="279360" progId="Equation.DSMT4">
              <p:embed/>
            </p:oleObj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/>
        </p:nvGraphicFramePr>
        <p:xfrm>
          <a:off x="1469063" y="2551180"/>
          <a:ext cx="911225" cy="315912"/>
        </p:xfrm>
        <a:graphic>
          <a:graphicData uri="http://schemas.openxmlformats.org/presentationml/2006/ole">
            <p:oleObj spid="_x0000_s55300" name="Equation" r:id="rId5" imgW="660240" imgH="228600" progId="Equation.DSMT4">
              <p:embed/>
            </p:oleObj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1472238" y="2992505"/>
          <a:ext cx="384175" cy="263525"/>
        </p:xfrm>
        <a:graphic>
          <a:graphicData uri="http://schemas.openxmlformats.org/presentationml/2006/ole">
            <p:oleObj spid="_x0000_s55301" name="Equation" r:id="rId6" imgW="279360" imgH="190440" progId="Equation.DSMT4">
              <p:embed/>
            </p:oleObj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5319713" y="1657350"/>
          <a:ext cx="1524000" cy="251382"/>
        </p:xfrm>
        <a:graphic>
          <a:graphicData uri="http://schemas.openxmlformats.org/presentationml/2006/ole">
            <p:oleObj spid="_x0000_s55303" name="Equation" r:id="rId7" imgW="1231560" imgH="203040" progId="Equation.DSMT4">
              <p:embed/>
            </p:oleObj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786313" y="12763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：化简函数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5304" name="Object 8"/>
          <p:cNvGraphicFramePr>
            <a:graphicFrameLocks noChangeAspect="1"/>
          </p:cNvGraphicFramePr>
          <p:nvPr/>
        </p:nvGraphicFramePr>
        <p:xfrm>
          <a:off x="5472113" y="2114550"/>
          <a:ext cx="1538287" cy="250825"/>
        </p:xfrm>
        <a:graphic>
          <a:graphicData uri="http://schemas.openxmlformats.org/presentationml/2006/ole">
            <p:oleObj spid="_x0000_s55304" name="Equation" r:id="rId8" imgW="1244520" imgH="203040" progId="Equation.DSMT4">
              <p:embed/>
            </p:oleObj>
          </a:graphicData>
        </a:graphic>
      </p:graphicFrame>
      <p:graphicFrame>
        <p:nvGraphicFramePr>
          <p:cNvPr id="55305" name="Object 9"/>
          <p:cNvGraphicFramePr>
            <a:graphicFrameLocks noChangeAspect="1"/>
          </p:cNvGraphicFramePr>
          <p:nvPr/>
        </p:nvGraphicFramePr>
        <p:xfrm>
          <a:off x="5472113" y="2543175"/>
          <a:ext cx="565150" cy="485775"/>
        </p:xfrm>
        <a:graphic>
          <a:graphicData uri="http://schemas.openxmlformats.org/presentationml/2006/ole">
            <p:oleObj spid="_x0000_s55305" name="Equation" r:id="rId9" imgW="457200" imgH="393480" progId="Equation.DSMT4">
              <p:embed/>
            </p:oleObj>
          </a:graphicData>
        </a:graphic>
      </p:graphicFrame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5608820" y="2411855"/>
            <a:ext cx="1587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6164705" y="2418100"/>
            <a:ext cx="32728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8" name="Line 12"/>
          <p:cNvSpPr>
            <a:spLocks noChangeShapeType="1"/>
          </p:cNvSpPr>
          <p:nvPr/>
        </p:nvSpPr>
        <p:spPr bwMode="auto">
          <a:xfrm>
            <a:off x="5867400" y="2419350"/>
            <a:ext cx="158750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6629400" y="2419350"/>
            <a:ext cx="327285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1" grpId="0"/>
      <p:bldP spid="15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布尔代数化简函数：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12001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：化简函数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2057400" y="1504950"/>
          <a:ext cx="1536993" cy="304800"/>
        </p:xfrm>
        <a:graphic>
          <a:graphicData uri="http://schemas.openxmlformats.org/presentationml/2006/ole">
            <p:oleObj spid="_x0000_s56329" name="公式" r:id="rId3" imgW="1396800" imgH="241200" progId="">
              <p:embed/>
            </p:oleObj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2133600" y="2266950"/>
          <a:ext cx="1523999" cy="261084"/>
        </p:xfrm>
        <a:graphic>
          <a:graphicData uri="http://schemas.openxmlformats.org/presentationml/2006/ole">
            <p:oleObj spid="_x0000_s56330" name="公式" r:id="rId4" imgW="1409400" imgH="241200" progId="">
              <p:embed/>
            </p:oleObj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2133599" y="2647950"/>
          <a:ext cx="1598611" cy="251521"/>
        </p:xfrm>
        <a:graphic>
          <a:graphicData uri="http://schemas.openxmlformats.org/presentationml/2006/ole">
            <p:oleObj spid="_x0000_s56331" name="公式" r:id="rId5" imgW="1371600" imgH="215640" progId="">
              <p:embed/>
            </p:oleObj>
          </a:graphicData>
        </a:graphic>
      </p:graphicFrame>
      <p:graphicFrame>
        <p:nvGraphicFramePr>
          <p:cNvPr id="19" name="Object 7"/>
          <p:cNvGraphicFramePr>
            <a:graphicFrameLocks noChangeAspect="1"/>
          </p:cNvGraphicFramePr>
          <p:nvPr/>
        </p:nvGraphicFramePr>
        <p:xfrm>
          <a:off x="2133599" y="3181350"/>
          <a:ext cx="1363425" cy="241299"/>
        </p:xfrm>
        <a:graphic>
          <a:graphicData uri="http://schemas.openxmlformats.org/presentationml/2006/ole">
            <p:oleObj spid="_x0000_s56332" name="公式" r:id="rId6" imgW="1218960" imgH="215640" progId="">
              <p:embed/>
            </p:oleObj>
          </a:graphicData>
        </a:graphic>
      </p:graphicFrame>
      <p:graphicFrame>
        <p:nvGraphicFramePr>
          <p:cNvPr id="20" name="Object 8"/>
          <p:cNvGraphicFramePr>
            <a:graphicFrameLocks noChangeAspect="1"/>
          </p:cNvGraphicFramePr>
          <p:nvPr/>
        </p:nvGraphicFramePr>
        <p:xfrm>
          <a:off x="2057399" y="3714750"/>
          <a:ext cx="1128712" cy="283138"/>
        </p:xfrm>
        <a:graphic>
          <a:graphicData uri="http://schemas.openxmlformats.org/presentationml/2006/ole">
            <p:oleObj spid="_x0000_s56333" name="公式" r:id="rId7" imgW="863280" imgH="215640" progId="">
              <p:embed/>
            </p:oleObj>
          </a:graphicData>
        </a:graphic>
      </p:graphicFrame>
      <p:graphicFrame>
        <p:nvGraphicFramePr>
          <p:cNvPr id="21" name="Object 9"/>
          <p:cNvGraphicFramePr>
            <a:graphicFrameLocks noChangeAspect="1"/>
          </p:cNvGraphicFramePr>
          <p:nvPr/>
        </p:nvGraphicFramePr>
        <p:xfrm>
          <a:off x="2057399" y="4320004"/>
          <a:ext cx="965199" cy="232946"/>
        </p:xfrm>
        <a:graphic>
          <a:graphicData uri="http://schemas.openxmlformats.org/presentationml/2006/ole">
            <p:oleObj spid="_x0000_s56334" name="公式" r:id="rId8" imgW="736560" imgH="177480" progId="">
              <p:embed/>
            </p:oleObj>
          </a:graphicData>
        </a:graphic>
      </p:graphicFrame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2666999" y="295275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>
            <a:off x="3505199" y="2952750"/>
            <a:ext cx="1587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2362200" y="1809750"/>
            <a:ext cx="4984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7" name="Line 15"/>
          <p:cNvSpPr>
            <a:spLocks noChangeShapeType="1"/>
          </p:cNvSpPr>
          <p:nvPr/>
        </p:nvSpPr>
        <p:spPr bwMode="auto">
          <a:xfrm>
            <a:off x="2819399" y="3486150"/>
            <a:ext cx="247649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8" name="Line 16"/>
          <p:cNvSpPr>
            <a:spLocks noChangeShapeType="1"/>
          </p:cNvSpPr>
          <p:nvPr/>
        </p:nvSpPr>
        <p:spPr bwMode="auto">
          <a:xfrm>
            <a:off x="2514599" y="3486150"/>
            <a:ext cx="152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>
            <a:off x="2514599" y="4019550"/>
            <a:ext cx="152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2" name="Line 19"/>
          <p:cNvSpPr>
            <a:spLocks noChangeShapeType="1"/>
          </p:cNvSpPr>
          <p:nvPr/>
        </p:nvSpPr>
        <p:spPr bwMode="auto">
          <a:xfrm>
            <a:off x="2819399" y="401955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graphicFrame>
        <p:nvGraphicFramePr>
          <p:cNvPr id="56336" name="Object 16"/>
          <p:cNvGraphicFramePr>
            <a:graphicFrameLocks noChangeAspect="1"/>
          </p:cNvGraphicFramePr>
          <p:nvPr/>
        </p:nvGraphicFramePr>
        <p:xfrm>
          <a:off x="2209800" y="1962150"/>
          <a:ext cx="1179512" cy="227013"/>
        </p:xfrm>
        <a:graphic>
          <a:graphicData uri="http://schemas.openxmlformats.org/presentationml/2006/ole">
            <p:oleObj spid="_x0000_s56336" name="Equation" r:id="rId9" imgW="1587240" imgH="30456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布尔代数化简函数：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120015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：化简函数</a:t>
            </a:r>
            <a:endParaRPr lang="zh-CN" altLang="en-US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7049" name="Object 9"/>
          <p:cNvGraphicFramePr>
            <a:graphicFrameLocks noChangeAspect="1"/>
          </p:cNvGraphicFramePr>
          <p:nvPr/>
        </p:nvGraphicFramePr>
        <p:xfrm>
          <a:off x="2209800" y="1200150"/>
          <a:ext cx="3925887" cy="315912"/>
        </p:xfrm>
        <a:graphic>
          <a:graphicData uri="http://schemas.openxmlformats.org/presentationml/2006/ole">
            <p:oleObj spid="_x0000_s87049" name="Equation" r:id="rId3" imgW="2844720" imgH="228600" progId="Equation.DSMT4">
              <p:embed/>
            </p:oleObj>
          </a:graphicData>
        </a:graphic>
      </p:graphicFrame>
      <p:graphicFrame>
        <p:nvGraphicFramePr>
          <p:cNvPr id="87051" name="Object 11"/>
          <p:cNvGraphicFramePr>
            <a:graphicFrameLocks noChangeAspect="1"/>
          </p:cNvGraphicFramePr>
          <p:nvPr/>
        </p:nvGraphicFramePr>
        <p:xfrm>
          <a:off x="2383435" y="1563688"/>
          <a:ext cx="3398838" cy="350837"/>
        </p:xfrm>
        <a:graphic>
          <a:graphicData uri="http://schemas.openxmlformats.org/presentationml/2006/ole">
            <p:oleObj spid="_x0000_s87051" name="Equation" r:id="rId4" imgW="2463480" imgH="253800" progId="Equation.DSMT4">
              <p:embed/>
            </p:oleObj>
          </a:graphicData>
        </a:graphic>
      </p:graphicFrame>
      <p:graphicFrame>
        <p:nvGraphicFramePr>
          <p:cNvPr id="87052" name="Object 12"/>
          <p:cNvGraphicFramePr>
            <a:graphicFrameLocks noChangeAspect="1"/>
          </p:cNvGraphicFramePr>
          <p:nvPr/>
        </p:nvGraphicFramePr>
        <p:xfrm>
          <a:off x="2383435" y="1962150"/>
          <a:ext cx="3152775" cy="315913"/>
        </p:xfrm>
        <a:graphic>
          <a:graphicData uri="http://schemas.openxmlformats.org/presentationml/2006/ole">
            <p:oleObj spid="_x0000_s87052" name="Equation" r:id="rId5" imgW="2286000" imgH="228600" progId="Equation.DSMT4">
              <p:embed/>
            </p:oleObj>
          </a:graphicData>
        </a:graphic>
      </p:graphicFrame>
      <p:graphicFrame>
        <p:nvGraphicFramePr>
          <p:cNvPr id="87053" name="Object 13"/>
          <p:cNvGraphicFramePr>
            <a:graphicFrameLocks noChangeAspect="1"/>
          </p:cNvGraphicFramePr>
          <p:nvPr/>
        </p:nvGraphicFramePr>
        <p:xfrm>
          <a:off x="2383435" y="2419350"/>
          <a:ext cx="2032000" cy="280987"/>
        </p:xfrm>
        <a:graphic>
          <a:graphicData uri="http://schemas.openxmlformats.org/presentationml/2006/ole">
            <p:oleObj spid="_x0000_s87053" name="Equation" r:id="rId6" imgW="1473120" imgH="203040" progId="Equation.DSMT4">
              <p:embed/>
            </p:oleObj>
          </a:graphicData>
        </a:graphic>
      </p:graphicFrame>
      <p:graphicFrame>
        <p:nvGraphicFramePr>
          <p:cNvPr id="87054" name="Object 14"/>
          <p:cNvGraphicFramePr>
            <a:graphicFrameLocks noChangeAspect="1"/>
          </p:cNvGraphicFramePr>
          <p:nvPr/>
        </p:nvGraphicFramePr>
        <p:xfrm>
          <a:off x="2383435" y="2809095"/>
          <a:ext cx="3187700" cy="315912"/>
        </p:xfrm>
        <a:graphic>
          <a:graphicData uri="http://schemas.openxmlformats.org/presentationml/2006/ole">
            <p:oleObj spid="_x0000_s87054" name="Equation" r:id="rId7" imgW="2311200" imgH="228600" progId="Equation.DSMT4">
              <p:embed/>
            </p:oleObj>
          </a:graphicData>
        </a:graphic>
      </p:graphicFrame>
      <p:graphicFrame>
        <p:nvGraphicFramePr>
          <p:cNvPr id="87055" name="Object 15"/>
          <p:cNvGraphicFramePr>
            <a:graphicFrameLocks noChangeAspect="1"/>
          </p:cNvGraphicFramePr>
          <p:nvPr/>
        </p:nvGraphicFramePr>
        <p:xfrm>
          <a:off x="2383435" y="3190095"/>
          <a:ext cx="3416300" cy="280987"/>
        </p:xfrm>
        <a:graphic>
          <a:graphicData uri="http://schemas.openxmlformats.org/presentationml/2006/ole">
            <p:oleObj spid="_x0000_s87055" name="Equation" r:id="rId8" imgW="2476440" imgH="203040" progId="Equation.DSMT4">
              <p:embed/>
            </p:oleObj>
          </a:graphicData>
        </a:graphic>
      </p:graphicFrame>
      <p:graphicFrame>
        <p:nvGraphicFramePr>
          <p:cNvPr id="87056" name="Object 16"/>
          <p:cNvGraphicFramePr>
            <a:graphicFrameLocks noChangeAspect="1"/>
          </p:cNvGraphicFramePr>
          <p:nvPr/>
        </p:nvGraphicFramePr>
        <p:xfrm>
          <a:off x="2383435" y="3608570"/>
          <a:ext cx="1628775" cy="280988"/>
        </p:xfrm>
        <a:graphic>
          <a:graphicData uri="http://schemas.openxmlformats.org/presentationml/2006/ole">
            <p:oleObj spid="_x0000_s87056" name="Equation" r:id="rId9" imgW="1180800" imgH="203040" progId="Equation.DSMT4">
              <p:embed/>
            </p:oleObj>
          </a:graphicData>
        </a:graphic>
      </p:graphicFrame>
      <p:sp>
        <p:nvSpPr>
          <p:cNvPr id="29" name="Line 13"/>
          <p:cNvSpPr>
            <a:spLocks noChangeShapeType="1"/>
          </p:cNvSpPr>
          <p:nvPr/>
        </p:nvSpPr>
        <p:spPr bwMode="auto">
          <a:xfrm>
            <a:off x="2590800" y="1489960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1" name="Line 13"/>
          <p:cNvSpPr>
            <a:spLocks noChangeShapeType="1"/>
          </p:cNvSpPr>
          <p:nvPr/>
        </p:nvSpPr>
        <p:spPr bwMode="auto">
          <a:xfrm>
            <a:off x="3009275" y="1489960"/>
            <a:ext cx="228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3" name="Line 13"/>
          <p:cNvSpPr>
            <a:spLocks noChangeShapeType="1"/>
          </p:cNvSpPr>
          <p:nvPr/>
        </p:nvSpPr>
        <p:spPr bwMode="auto">
          <a:xfrm>
            <a:off x="2568315" y="1885950"/>
            <a:ext cx="32728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4" name="Line 13"/>
          <p:cNvSpPr>
            <a:spLocks noChangeShapeType="1"/>
          </p:cNvSpPr>
          <p:nvPr/>
        </p:nvSpPr>
        <p:spPr bwMode="auto">
          <a:xfrm>
            <a:off x="3048000" y="188595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5" name="Line 13"/>
          <p:cNvSpPr>
            <a:spLocks noChangeShapeType="1"/>
          </p:cNvSpPr>
          <p:nvPr/>
        </p:nvSpPr>
        <p:spPr bwMode="auto">
          <a:xfrm>
            <a:off x="2514601" y="2266950"/>
            <a:ext cx="152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6" name="Line 13"/>
          <p:cNvSpPr>
            <a:spLocks noChangeShapeType="1"/>
          </p:cNvSpPr>
          <p:nvPr/>
        </p:nvSpPr>
        <p:spPr bwMode="auto">
          <a:xfrm>
            <a:off x="4572000" y="2266950"/>
            <a:ext cx="91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9" name="Line 13"/>
          <p:cNvSpPr>
            <a:spLocks noChangeShapeType="1"/>
          </p:cNvSpPr>
          <p:nvPr/>
        </p:nvSpPr>
        <p:spPr bwMode="auto">
          <a:xfrm>
            <a:off x="2856875" y="3486150"/>
            <a:ext cx="32728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0" name="Line 13"/>
          <p:cNvSpPr>
            <a:spLocks noChangeShapeType="1"/>
          </p:cNvSpPr>
          <p:nvPr/>
        </p:nvSpPr>
        <p:spPr bwMode="auto">
          <a:xfrm>
            <a:off x="4350895" y="348615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Line 13"/>
          <p:cNvSpPr>
            <a:spLocks noChangeShapeType="1"/>
          </p:cNvSpPr>
          <p:nvPr/>
        </p:nvSpPr>
        <p:spPr bwMode="auto">
          <a:xfrm>
            <a:off x="3429000" y="3486150"/>
            <a:ext cx="327285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2" name="Line 13"/>
          <p:cNvSpPr>
            <a:spLocks noChangeShapeType="1"/>
          </p:cNvSpPr>
          <p:nvPr/>
        </p:nvSpPr>
        <p:spPr bwMode="auto">
          <a:xfrm>
            <a:off x="4800600" y="3486150"/>
            <a:ext cx="381000" cy="0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3" name="Line 13"/>
          <p:cNvSpPr>
            <a:spLocks noChangeShapeType="1"/>
          </p:cNvSpPr>
          <p:nvPr/>
        </p:nvSpPr>
        <p:spPr bwMode="auto">
          <a:xfrm>
            <a:off x="3886200" y="3486150"/>
            <a:ext cx="327285" cy="0"/>
          </a:xfrm>
          <a:prstGeom prst="line">
            <a:avLst/>
          </a:prstGeom>
          <a:noFill/>
          <a:ln w="28575">
            <a:solidFill>
              <a:srgbClr val="006C2E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4" name="Line 13"/>
          <p:cNvSpPr>
            <a:spLocks noChangeShapeType="1"/>
          </p:cNvSpPr>
          <p:nvPr/>
        </p:nvSpPr>
        <p:spPr bwMode="auto">
          <a:xfrm>
            <a:off x="5371475" y="3486150"/>
            <a:ext cx="381000" cy="0"/>
          </a:xfrm>
          <a:prstGeom prst="line">
            <a:avLst/>
          </a:prstGeom>
          <a:noFill/>
          <a:ln w="28575">
            <a:solidFill>
              <a:srgbClr val="006C2E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>
                                            <p:subSp spid="_x0000_s8705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7051">
                                            <p:subSp spid="_x0000_s87051"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7051">
                                            <p:subSp spid="_x0000_s87051"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>
                                            <p:subSp spid="_x0000_s8705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052">
                                            <p:subSp spid="_x0000_s87052"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052">
                                            <p:subSp spid="_x0000_s87052"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>
                                            <p:subSp spid="_x0000_s8705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7053">
                                            <p:subSp spid="_x0000_s87053"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7053">
                                            <p:subSp spid="_x0000_s87053"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7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7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7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7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7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 autoUpdateAnimBg="0"/>
      <p:bldP spid="31" grpId="0" animBg="1" autoUpdateAnimBg="0"/>
      <p:bldP spid="33" grpId="0" animBg="1" autoUpdateAnimBg="0"/>
      <p:bldP spid="34" grpId="0" animBg="1" autoUpdateAnimBg="0"/>
      <p:bldP spid="35" grpId="0" animBg="1" autoUpdateAnimBg="0"/>
      <p:bldP spid="36" grpId="0" animBg="1" autoUpdateAnimBg="0"/>
      <p:bldP spid="39" grpId="0" animBg="1" autoUpdateAnimBg="0"/>
      <p:bldP spid="40" grpId="0" animBg="1" autoUpdateAnimBg="0"/>
      <p:bldP spid="41" grpId="0" animBg="1" autoUpdateAnimBg="0"/>
      <p:bldP spid="42" grpId="0" animBg="1" autoUpdateAnimBg="0"/>
      <p:bldP spid="43" grpId="0" animBg="1" autoUpdateAnimBg="0"/>
      <p:bldP spid="44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2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 尔 代 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布尔代数化简函数的局限性：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1828800" y="12763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SzPct val="60000"/>
            </a:pPr>
            <a:r>
              <a:rPr lang="zh-CN" altLang="en-US" sz="1400" b="1" dirty="0">
                <a:solidFill>
                  <a:srgbClr val="C00000"/>
                </a:solidFill>
                <a:ea typeface="黑体" pitchFamily="49" charset="-122"/>
              </a:rPr>
              <a:t>化简方法技巧性太强</a:t>
            </a:r>
          </a:p>
          <a:p>
            <a:pPr marL="342900" indent="-342900"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zh-CN" sz="1400" b="1" dirty="0">
              <a:solidFill>
                <a:schemeClr val="accent6"/>
              </a:solidFill>
              <a:ea typeface="黑体" pitchFamily="49" charset="-122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1828800" y="1809750"/>
            <a:ext cx="251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SzPct val="60000"/>
            </a:pPr>
            <a:r>
              <a:rPr lang="zh-CN" altLang="en-US" sz="1400" b="1" dirty="0">
                <a:solidFill>
                  <a:srgbClr val="C00000"/>
                </a:solidFill>
                <a:ea typeface="黑体" pitchFamily="49" charset="-122"/>
              </a:rPr>
              <a:t>难以判断最后结果是否最简</a:t>
            </a:r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1447800" y="2419350"/>
            <a:ext cx="435996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400" b="1" dirty="0">
                <a:solidFill>
                  <a:srgbClr val="C00000"/>
                </a:solidFill>
                <a:ea typeface="黑体" pitchFamily="49" charset="-122"/>
              </a:rPr>
              <a:t>卡诺图法可以较简便地得到最简结果</a:t>
            </a:r>
          </a:p>
          <a:p>
            <a:pPr marL="342900" indent="-342900"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zh-CN" sz="1400" b="1" dirty="0">
              <a:solidFill>
                <a:schemeClr val="accent6"/>
              </a:solidFill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3039</TotalTime>
  <Words>785</Words>
  <Application>Microsoft Office PowerPoint</Application>
  <PresentationFormat>全屏显示(16:9)</PresentationFormat>
  <Paragraphs>158</Paragraphs>
  <Slides>14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默认设计模板</vt:lpstr>
      <vt:lpstr>Equation</vt:lpstr>
      <vt:lpstr>公式</vt:lpstr>
      <vt:lpstr>幻灯片 1</vt:lpstr>
      <vt:lpstr>设有两个布尔函数，</vt:lpstr>
      <vt:lpstr>1.关于变量与常数关系的定理</vt:lpstr>
      <vt:lpstr>1.关于变量与常数关系的定理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363</cp:revision>
  <cp:lastPrinted>2113-01-01T00:00:00Z</cp:lastPrinted>
  <dcterms:created xsi:type="dcterms:W3CDTF">2113-01-01T00:00:00Z</dcterms:created>
  <dcterms:modified xsi:type="dcterms:W3CDTF">2020-12-21T09:09:24Z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