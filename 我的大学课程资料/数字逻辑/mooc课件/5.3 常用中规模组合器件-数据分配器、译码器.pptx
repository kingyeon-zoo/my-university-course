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309" r:id="rId2"/>
    <p:sldId id="378" r:id="rId3"/>
    <p:sldId id="389" r:id="rId4"/>
    <p:sldId id="390" r:id="rId5"/>
    <p:sldId id="379" r:id="rId6"/>
    <p:sldId id="380" r:id="rId7"/>
    <p:sldId id="381" r:id="rId8"/>
    <p:sldId id="382" r:id="rId9"/>
    <p:sldId id="391" r:id="rId10"/>
    <p:sldId id="392" r:id="rId11"/>
    <p:sldId id="393" r:id="rId12"/>
    <p:sldId id="395" r:id="rId13"/>
    <p:sldId id="396" r:id="rId14"/>
    <p:sldId id="397" r:id="rId15"/>
    <p:sldId id="383" r:id="rId16"/>
    <p:sldId id="385" r:id="rId17"/>
    <p:sldId id="398" r:id="rId18"/>
    <p:sldId id="402" r:id="rId19"/>
    <p:sldId id="399" r:id="rId20"/>
    <p:sldId id="400" r:id="rId21"/>
    <p:sldId id="401" r:id="rId22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26" d="100"/>
          <a:sy n="126" d="100"/>
        </p:scale>
        <p:origin x="-90" y="-3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e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9.bin"/><Relationship Id="rId3" Type="http://schemas.openxmlformats.org/officeDocument/2006/relationships/image" Target="../media/image11.png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png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2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中规模组合逻辑标准构件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译码器：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将具有特定含义的一组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(</a:t>
            </a:r>
            <a:r>
              <a:rPr kumimoji="1" lang="en-US" altLang="zh-CN" sz="1400" b="1" dirty="0" smtClean="0">
                <a:ea typeface="黑体" pitchFamily="49" charset="-122"/>
              </a:rPr>
              <a:t>n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位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)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二进制码辨认出来，并转换为一组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(</a:t>
            </a:r>
            <a:r>
              <a:rPr kumimoji="1" lang="en-US" altLang="zh-CN" sz="1400" b="1" dirty="0" smtClean="0">
                <a:ea typeface="黑体" pitchFamily="49" charset="-122"/>
              </a:rPr>
              <a:t>m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位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)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高低电平信号。主要有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二进制译码器、显示译码器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。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04800" y="1200150"/>
            <a:ext cx="2324100" cy="2286000"/>
            <a:chOff x="960" y="1776"/>
            <a:chExt cx="1464" cy="1440"/>
          </a:xfrm>
        </p:grpSpPr>
        <p:pic>
          <p:nvPicPr>
            <p:cNvPr id="10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56" y="1776"/>
              <a:ext cx="1368" cy="1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9" name="Text Box 5"/>
            <p:cNvSpPr txBox="1">
              <a:spLocks noChangeArrowheads="1"/>
            </p:cNvSpPr>
            <p:nvPr/>
          </p:nvSpPr>
          <p:spPr bwMode="auto">
            <a:xfrm>
              <a:off x="960" y="1776"/>
              <a:ext cx="193" cy="3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600" dirty="0" smtClean="0">
                  <a:latin typeface="Tahoma" pitchFamily="34" charset="0"/>
                </a:rPr>
                <a:t>B</a:t>
              </a:r>
              <a:endParaRPr kumimoji="1" lang="en-US" altLang="zh-CN" sz="1600" dirty="0">
                <a:latin typeface="Tahoma" pitchFamily="34" charset="0"/>
              </a:endParaRPr>
            </a:p>
            <a:p>
              <a:pPr eaLnBrk="1" hangingPunct="1"/>
              <a:r>
                <a:rPr kumimoji="1" lang="en-US" altLang="zh-CN" sz="1600" dirty="0" smtClean="0">
                  <a:latin typeface="Tahoma" pitchFamily="34" charset="0"/>
                </a:rPr>
                <a:t>A</a:t>
              </a:r>
              <a:endParaRPr kumimoji="1" lang="en-US" altLang="zh-CN" sz="1600" dirty="0">
                <a:latin typeface="Tahoma" pitchFamily="34" charset="0"/>
              </a:endParaRPr>
            </a:p>
          </p:txBody>
        </p:sp>
      </p:grpSp>
      <p:graphicFrame>
        <p:nvGraphicFramePr>
          <p:cNvPr id="120" name="对象 119"/>
          <p:cNvGraphicFramePr>
            <a:graphicFrameLocks noChangeAspect="1"/>
          </p:cNvGraphicFramePr>
          <p:nvPr/>
        </p:nvGraphicFramePr>
        <p:xfrm>
          <a:off x="3505200" y="1200150"/>
          <a:ext cx="2590800" cy="2447607"/>
        </p:xfrm>
        <a:graphic>
          <a:graphicData uri="http://schemas.openxmlformats.org/presentationml/2006/ole">
            <p:oleObj spid="_x0000_s140290" name="Visio" r:id="rId4" imgW="1990401" imgH="1494511" progId="Visio.Drawing.11">
              <p:embed/>
            </p:oleObj>
          </a:graphicData>
        </a:graphic>
      </p:graphicFrame>
      <p:sp>
        <p:nvSpPr>
          <p:cNvPr id="121" name="TextBox 120"/>
          <p:cNvSpPr txBox="1"/>
          <p:nvPr/>
        </p:nvSpPr>
        <p:spPr>
          <a:xfrm>
            <a:off x="4572000" y="89535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Text Box 5"/>
          <p:cNvSpPr txBox="1">
            <a:spLocks noChangeArrowheads="1"/>
          </p:cNvSpPr>
          <p:nvPr/>
        </p:nvSpPr>
        <p:spPr bwMode="auto">
          <a:xfrm>
            <a:off x="2587023" y="3562350"/>
            <a:ext cx="914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  <a:buFont typeface="Wingdings" pitchFamily="2" charset="2"/>
              <a:buChar char="l"/>
            </a:pPr>
            <a:endParaRPr kumimoji="1"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译码器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Text Box 5"/>
          <p:cNvSpPr txBox="1">
            <a:spLocks noChangeArrowheads="1"/>
          </p:cNvSpPr>
          <p:nvPr/>
        </p:nvSpPr>
        <p:spPr bwMode="auto">
          <a:xfrm>
            <a:off x="3501423" y="3714750"/>
            <a:ext cx="33528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 smtClean="0">
                <a:latin typeface="微软雅黑" pitchFamily="34" charset="-122"/>
                <a:ea typeface="微软雅黑" pitchFamily="34" charset="-122"/>
              </a:rPr>
              <a:t>最小项生成器，输出信号中只有一个有效信号，其余的输出信号为无效信号。</a:t>
            </a:r>
            <a:endParaRPr kumimoji="1" lang="en-US" altLang="zh-CN" b="1" dirty="0" smtClean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2590800" y="1276350"/>
          <a:ext cx="898525" cy="381000"/>
        </p:xfrm>
        <a:graphic>
          <a:graphicData uri="http://schemas.openxmlformats.org/presentationml/2006/ole">
            <p:oleObj spid="_x0000_s140291" name="Equation" r:id="rId5" imgW="749160" imgH="317160" progId="Equation.DSMT4">
              <p:embed/>
            </p:oleObj>
          </a:graphicData>
        </a:graphic>
      </p:graphicFrame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2415729" y="1276350"/>
            <a:ext cx="184731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en-US" altLang="zh-CN" sz="1600" dirty="0">
              <a:latin typeface="Tahoma" pitchFamily="34" charset="0"/>
            </a:endParaRP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2430843" y="1885950"/>
            <a:ext cx="184731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en-US" altLang="zh-CN" sz="1600" dirty="0">
              <a:latin typeface="Tahoma" pitchFamily="34" charset="0"/>
            </a:endParaRP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2423286" y="2495550"/>
            <a:ext cx="184731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en-US" altLang="zh-CN" sz="1600" dirty="0">
              <a:latin typeface="Tahoma" pitchFamily="34" charset="0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438400" y="3105150"/>
            <a:ext cx="184731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kumimoji="1" lang="en-US" altLang="zh-CN" sz="1600" dirty="0">
              <a:latin typeface="Tahoma" pitchFamily="34" charset="0"/>
            </a:endParaRPr>
          </a:p>
        </p:txBody>
      </p:sp>
      <p:graphicFrame>
        <p:nvGraphicFramePr>
          <p:cNvPr id="21508" name="Object 3"/>
          <p:cNvGraphicFramePr>
            <a:graphicFrameLocks noChangeAspect="1"/>
          </p:cNvGraphicFramePr>
          <p:nvPr/>
        </p:nvGraphicFramePr>
        <p:xfrm>
          <a:off x="2613025" y="1885950"/>
          <a:ext cx="852488" cy="381000"/>
        </p:xfrm>
        <a:graphic>
          <a:graphicData uri="http://schemas.openxmlformats.org/presentationml/2006/ole">
            <p:oleObj spid="_x0000_s140292" name="Equation" r:id="rId6" imgW="711000" imgH="317160" progId="Equation.DSMT4">
              <p:embed/>
            </p:oleObj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2568575" y="2419350"/>
          <a:ext cx="898525" cy="381000"/>
        </p:xfrm>
        <a:graphic>
          <a:graphicData uri="http://schemas.openxmlformats.org/presentationml/2006/ole">
            <p:oleObj spid="_x0000_s140293" name="Equation" r:id="rId7" imgW="749160" imgH="317160" progId="Equation.DSMT4">
              <p:embed/>
            </p:oleObj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2598738" y="2974975"/>
          <a:ext cx="884237" cy="334963"/>
        </p:xfrm>
        <a:graphic>
          <a:graphicData uri="http://schemas.openxmlformats.org/presentationml/2006/ole">
            <p:oleObj spid="_x0000_s140294" name="Equation" r:id="rId8" imgW="736560" imgH="279360" progId="Equation.DSMT4">
              <p:embed/>
            </p:oleObj>
          </a:graphicData>
        </a:graphic>
      </p:graphicFrame>
      <p:sp>
        <p:nvSpPr>
          <p:cNvPr id="19" name="Text Box 72"/>
          <p:cNvSpPr txBox="1">
            <a:spLocks noChangeArrowheads="1"/>
          </p:cNvSpPr>
          <p:nvPr/>
        </p:nvSpPr>
        <p:spPr bwMode="auto">
          <a:xfrm>
            <a:off x="1066800" y="36385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1</a:t>
            </a:r>
            <a:endParaRPr lang="en-US" altLang="zh-CN" sz="1400" b="1" dirty="0"/>
          </a:p>
        </p:txBody>
      </p:sp>
      <p:sp>
        <p:nvSpPr>
          <p:cNvPr id="21" name="Text Box 72"/>
          <p:cNvSpPr txBox="1">
            <a:spLocks noChangeArrowheads="1"/>
          </p:cNvSpPr>
          <p:nvPr/>
        </p:nvSpPr>
        <p:spPr bwMode="auto">
          <a:xfrm>
            <a:off x="7620000" y="35623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2</a:t>
            </a:r>
            <a:endParaRPr lang="en-US" altLang="zh-CN" sz="1400" b="1" dirty="0"/>
          </a:p>
        </p:txBody>
      </p:sp>
      <p:grpSp>
        <p:nvGrpSpPr>
          <p:cNvPr id="22" name="组合 21"/>
          <p:cNvGrpSpPr/>
          <p:nvPr/>
        </p:nvGrpSpPr>
        <p:grpSpPr>
          <a:xfrm>
            <a:off x="6324600" y="1123950"/>
            <a:ext cx="2454275" cy="2295525"/>
            <a:chOff x="6324600" y="1123950"/>
            <a:chExt cx="2454275" cy="2295525"/>
          </a:xfrm>
        </p:grpSpPr>
        <p:pic>
          <p:nvPicPr>
            <p:cNvPr id="27" name="Picture 17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477000" y="1123950"/>
              <a:ext cx="2171700" cy="2295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" name="Text Box 5"/>
            <p:cNvSpPr txBox="1">
              <a:spLocks noChangeArrowheads="1"/>
            </p:cNvSpPr>
            <p:nvPr/>
          </p:nvSpPr>
          <p:spPr bwMode="auto">
            <a:xfrm>
              <a:off x="6324600" y="1123950"/>
              <a:ext cx="306388" cy="58102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600" dirty="0" smtClean="0">
                  <a:latin typeface="Tahoma" pitchFamily="34" charset="0"/>
                </a:rPr>
                <a:t>B</a:t>
              </a:r>
              <a:endParaRPr kumimoji="1" lang="en-US" altLang="zh-CN" sz="1600" dirty="0">
                <a:latin typeface="Tahoma" pitchFamily="34" charset="0"/>
              </a:endParaRPr>
            </a:p>
            <a:p>
              <a:pPr eaLnBrk="1" hangingPunct="1"/>
              <a:r>
                <a:rPr kumimoji="1" lang="en-US" altLang="zh-CN" sz="1600" dirty="0" smtClean="0">
                  <a:latin typeface="Tahoma" pitchFamily="34" charset="0"/>
                </a:rPr>
                <a:t>A</a:t>
              </a:r>
              <a:endParaRPr kumimoji="1" lang="en-US" altLang="zh-CN" sz="1600" dirty="0">
                <a:latin typeface="Tahoma" pitchFamily="34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382000" y="1276350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8435529" y="1863279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8435529" y="2419350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8450643" y="2945193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3" name="Object 3"/>
            <p:cNvGraphicFramePr>
              <a:graphicFrameLocks noChangeAspect="1"/>
            </p:cNvGraphicFramePr>
            <p:nvPr/>
          </p:nvGraphicFramePr>
          <p:xfrm>
            <a:off x="8459788" y="1200150"/>
            <a:ext cx="319087" cy="381000"/>
          </p:xfrm>
          <a:graphic>
            <a:graphicData uri="http://schemas.openxmlformats.org/presentationml/2006/ole">
              <p:oleObj spid="_x0000_s140295" name="Equation" r:id="rId10" imgW="266400" imgH="317160" progId="Equation.DSMT4">
                <p:embed/>
              </p:oleObj>
            </a:graphicData>
          </a:graphic>
        </p:graphicFrame>
        <p:graphicFrame>
          <p:nvGraphicFramePr>
            <p:cNvPr id="34" name="Object 12"/>
            <p:cNvGraphicFramePr>
              <a:graphicFrameLocks noChangeAspect="1"/>
            </p:cNvGraphicFramePr>
            <p:nvPr/>
          </p:nvGraphicFramePr>
          <p:xfrm>
            <a:off x="8474075" y="1758950"/>
            <a:ext cx="288925" cy="381000"/>
          </p:xfrm>
          <a:graphic>
            <a:graphicData uri="http://schemas.openxmlformats.org/presentationml/2006/ole">
              <p:oleObj spid="_x0000_s140296" name="Equation" r:id="rId11" imgW="241200" imgH="317160" progId="Equation.DSMT4">
                <p:embed/>
              </p:oleObj>
            </a:graphicData>
          </a:graphic>
        </p:graphicFrame>
        <p:graphicFrame>
          <p:nvGraphicFramePr>
            <p:cNvPr id="35" name="Object 13"/>
            <p:cNvGraphicFramePr>
              <a:graphicFrameLocks noChangeAspect="1"/>
            </p:cNvGraphicFramePr>
            <p:nvPr/>
          </p:nvGraphicFramePr>
          <p:xfrm>
            <a:off x="8458200" y="2317750"/>
            <a:ext cx="320675" cy="381000"/>
          </p:xfrm>
          <a:graphic>
            <a:graphicData uri="http://schemas.openxmlformats.org/presentationml/2006/ole">
              <p:oleObj spid="_x0000_s140297" name="Equation" r:id="rId12" imgW="266400" imgH="317160" progId="Equation.DSMT4">
                <p:embed/>
              </p:oleObj>
            </a:graphicData>
          </a:graphic>
        </p:graphicFrame>
        <p:graphicFrame>
          <p:nvGraphicFramePr>
            <p:cNvPr id="36" name="Object 14"/>
            <p:cNvGraphicFramePr>
              <a:graphicFrameLocks noChangeAspect="1"/>
            </p:cNvGraphicFramePr>
            <p:nvPr/>
          </p:nvGraphicFramePr>
          <p:xfrm>
            <a:off x="8458200" y="2876550"/>
            <a:ext cx="320675" cy="381000"/>
          </p:xfrm>
          <a:graphic>
            <a:graphicData uri="http://schemas.openxmlformats.org/presentationml/2006/ole">
              <p:oleObj spid="_x0000_s140298" name="Equation" r:id="rId13" imgW="266400" imgH="317160" progId="Equation.DSMT4">
                <p:embed/>
              </p:oleObj>
            </a:graphicData>
          </a:graphic>
        </p:graphicFrame>
      </p:grpSp>
      <p:sp>
        <p:nvSpPr>
          <p:cNvPr id="37" name="矩形 36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  <p:bldP spid="123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译码器：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将具有特定含义的一组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(</a:t>
            </a:r>
            <a:r>
              <a:rPr kumimoji="1" lang="en-US" altLang="zh-CN" sz="1400" b="1" dirty="0" smtClean="0">
                <a:ea typeface="黑体" pitchFamily="49" charset="-122"/>
              </a:rPr>
              <a:t>n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位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)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二进制码辨认出来，并转换为一组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(</a:t>
            </a:r>
            <a:r>
              <a:rPr kumimoji="1" lang="en-US" altLang="zh-CN" sz="1400" b="1" dirty="0" smtClean="0">
                <a:ea typeface="黑体" pitchFamily="49" charset="-122"/>
              </a:rPr>
              <a:t>m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位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)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高低电平信号。主要有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二进制译码器、显示译码器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。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" y="1657350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二进制译码器：</a:t>
            </a:r>
            <a:r>
              <a:rPr kumimoji="1" lang="zh-CN" altLang="en-US" sz="1400" b="1" dirty="0" smtClean="0">
                <a:ea typeface="黑体" pitchFamily="49" charset="-122"/>
              </a:rPr>
              <a:t> </a:t>
            </a:r>
            <a:r>
              <a:rPr kumimoji="1" lang="en-US" altLang="zh-CN" sz="1400" b="1" dirty="0" smtClean="0">
                <a:ea typeface="黑体" pitchFamily="49" charset="-122"/>
              </a:rPr>
              <a:t>m = 2</a:t>
            </a:r>
            <a:r>
              <a:rPr kumimoji="1" lang="en-US" altLang="zh-CN" sz="1400" b="1" baseline="30000" dirty="0" smtClean="0">
                <a:ea typeface="黑体" pitchFamily="49" charset="-122"/>
              </a:rPr>
              <a:t>n</a:t>
            </a:r>
            <a:r>
              <a:rPr kumimoji="1" lang="en-US" altLang="zh-CN" sz="1400" b="1" dirty="0" smtClean="0"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(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全译码器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) 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，输入</a:t>
            </a:r>
            <a:r>
              <a:rPr kumimoji="1" lang="en-US" altLang="zh-CN" sz="1400" b="1" dirty="0" smtClean="0">
                <a:ea typeface="黑体" pitchFamily="49" charset="-122"/>
              </a:rPr>
              <a:t>n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位不同的代码，在</a:t>
            </a:r>
            <a:r>
              <a:rPr kumimoji="1" lang="en-US" altLang="zh-CN" sz="1400" b="1" dirty="0" smtClean="0">
                <a:ea typeface="黑体" pitchFamily="49" charset="-122"/>
              </a:rPr>
              <a:t>m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位输出中只有</a:t>
            </a:r>
            <a:r>
              <a:rPr kumimoji="1" lang="zh-CN" altLang="en-US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一个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输出端呈现有效信号。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endParaRPr lang="zh-CN" altLang="en-US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90600" y="1657350"/>
            <a:ext cx="8424862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latin typeface="Times New Roman" pitchFamily="18" charset="0"/>
              </a:rPr>
              <a:t>     </a:t>
            </a:r>
            <a:endParaRPr kumimoji="1" lang="zh-CN" altLang="en-US" sz="2800" b="1" dirty="0">
              <a:solidFill>
                <a:srgbClr val="333399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sz="1400" b="1" dirty="0" smtClean="0">
                <a:latin typeface="华文中宋" pitchFamily="2" charset="-122"/>
                <a:ea typeface="华文中宋" pitchFamily="2" charset="-122"/>
              </a:rPr>
              <a:t>双</a:t>
            </a:r>
            <a:r>
              <a:rPr kumimoji="1" lang="en-US" altLang="zh-CN" sz="1400" b="1" dirty="0">
                <a:ea typeface="黑体" pitchFamily="49" charset="-122"/>
              </a:rPr>
              <a:t>2</a:t>
            </a:r>
            <a:r>
              <a:rPr kumimoji="1" lang="zh-CN" altLang="en-US" sz="1400" b="1" dirty="0">
                <a:ea typeface="黑体" pitchFamily="49" charset="-122"/>
              </a:rPr>
              <a:t>：</a:t>
            </a:r>
            <a:r>
              <a:rPr kumimoji="1" lang="en-US" altLang="zh-CN" sz="1400" b="1" dirty="0">
                <a:ea typeface="华文中宋" pitchFamily="2" charset="-122"/>
              </a:rPr>
              <a:t>4 </a:t>
            </a:r>
            <a:r>
              <a:rPr kumimoji="1" lang="zh-CN" altLang="en-US" sz="1400" b="1" dirty="0">
                <a:latin typeface="华文中宋" pitchFamily="2" charset="-122"/>
                <a:ea typeface="华文中宋" pitchFamily="2" charset="-122"/>
              </a:rPr>
              <a:t>线译码器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；  </a:t>
            </a:r>
            <a:r>
              <a:rPr kumimoji="1" lang="en-US" altLang="zh-CN" sz="1400" b="1" dirty="0" smtClean="0">
                <a:ea typeface="黑体" pitchFamily="49" charset="-122"/>
              </a:rPr>
              <a:t>3</a:t>
            </a:r>
            <a:r>
              <a:rPr kumimoji="1" lang="zh-CN" altLang="en-US" sz="1400" b="1" dirty="0">
                <a:ea typeface="黑体" pitchFamily="49" charset="-122"/>
              </a:rPr>
              <a:t>：</a:t>
            </a:r>
            <a:r>
              <a:rPr kumimoji="1" lang="en-US" altLang="zh-CN" sz="1400" b="1" dirty="0">
                <a:ea typeface="黑体" pitchFamily="49" charset="-122"/>
              </a:rPr>
              <a:t>8 </a:t>
            </a:r>
            <a:r>
              <a:rPr kumimoji="1" lang="zh-CN" altLang="en-US" sz="1400" b="1" dirty="0">
                <a:latin typeface="华文中宋" pitchFamily="2" charset="-122"/>
                <a:ea typeface="华文中宋" pitchFamily="2" charset="-122"/>
              </a:rPr>
              <a:t>线译码器</a:t>
            </a:r>
            <a:r>
              <a:rPr kumimoji="1" lang="zh-CN" altLang="en-US" sz="1400" b="1" dirty="0">
                <a:latin typeface="黑体" pitchFamily="49" charset="-122"/>
                <a:ea typeface="黑体" pitchFamily="49" charset="-122"/>
              </a:rPr>
              <a:t>； 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en-US" altLang="zh-CN" sz="1400" b="1" dirty="0" smtClean="0">
                <a:ea typeface="黑体" pitchFamily="49" charset="-122"/>
              </a:rPr>
              <a:t>4</a:t>
            </a:r>
            <a:r>
              <a:rPr kumimoji="1" lang="zh-CN" altLang="en-US" sz="1400" b="1" dirty="0">
                <a:ea typeface="黑体" pitchFamily="49" charset="-122"/>
              </a:rPr>
              <a:t>：</a:t>
            </a:r>
            <a:r>
              <a:rPr kumimoji="1" lang="en-US" altLang="zh-CN" sz="1400" b="1" dirty="0">
                <a:ea typeface="黑体" pitchFamily="49" charset="-122"/>
              </a:rPr>
              <a:t>16 </a:t>
            </a:r>
            <a:r>
              <a:rPr kumimoji="1" lang="zh-CN" altLang="en-US" sz="1400" b="1" dirty="0">
                <a:latin typeface="华文中宋" pitchFamily="2" charset="-122"/>
                <a:ea typeface="华文中宋" pitchFamily="2" charset="-122"/>
              </a:rPr>
              <a:t>线译码器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1400" b="1" dirty="0">
                <a:latin typeface="黑体" pitchFamily="49" charset="-122"/>
                <a:ea typeface="黑体" pitchFamily="49" charset="-122"/>
              </a:rPr>
              <a:t>    </a:t>
            </a:r>
            <a:r>
              <a:rPr kumimoji="1" lang="en-US" altLang="zh-CN" sz="1400" b="1" dirty="0">
                <a:latin typeface="Century" pitchFamily="18" charset="0"/>
                <a:ea typeface="黑体" pitchFamily="49" charset="-122"/>
              </a:rPr>
              <a:t>(</a:t>
            </a:r>
            <a:r>
              <a:rPr kumimoji="1" lang="en-US" altLang="zh-CN" sz="1400" b="1" dirty="0">
                <a:ea typeface="黑体" pitchFamily="49" charset="-122"/>
              </a:rPr>
              <a:t>74LS139</a:t>
            </a:r>
            <a:r>
              <a:rPr kumimoji="1" lang="en-US" altLang="zh-CN" sz="1400" b="1" dirty="0">
                <a:latin typeface="Century" pitchFamily="18" charset="0"/>
                <a:ea typeface="黑体" pitchFamily="49" charset="-122"/>
              </a:rPr>
              <a:t>)</a:t>
            </a:r>
            <a:r>
              <a:rPr kumimoji="1" lang="en-US" altLang="zh-CN" sz="1400" b="1" dirty="0">
                <a:latin typeface="黑体" pitchFamily="49" charset="-122"/>
                <a:ea typeface="黑体" pitchFamily="49" charset="-122"/>
              </a:rPr>
              <a:t>        </a:t>
            </a:r>
            <a:r>
              <a:rPr kumimoji="1" lang="en-US" altLang="zh-CN" sz="1400" b="1" dirty="0" smtClean="0"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en-US" altLang="zh-CN" sz="1400" b="1" dirty="0" smtClean="0">
                <a:latin typeface="Century" pitchFamily="18" charset="0"/>
                <a:ea typeface="黑体" pitchFamily="49" charset="-122"/>
              </a:rPr>
              <a:t>(</a:t>
            </a:r>
            <a:r>
              <a:rPr kumimoji="1" lang="en-US" altLang="zh-CN" sz="1400" b="1" dirty="0">
                <a:ea typeface="黑体" pitchFamily="49" charset="-122"/>
              </a:rPr>
              <a:t>74LS138</a:t>
            </a:r>
            <a:r>
              <a:rPr kumimoji="1" lang="en-US" altLang="zh-CN" sz="1400" b="1" dirty="0">
                <a:latin typeface="Century" pitchFamily="18" charset="0"/>
                <a:ea typeface="黑体" pitchFamily="49" charset="-122"/>
              </a:rPr>
              <a:t>)</a:t>
            </a:r>
            <a:r>
              <a:rPr kumimoji="1" lang="en-US" altLang="zh-CN" sz="1400" b="1" dirty="0">
                <a:latin typeface="黑体" pitchFamily="49" charset="-122"/>
                <a:ea typeface="黑体" pitchFamily="49" charset="-122"/>
              </a:rPr>
              <a:t>      </a:t>
            </a:r>
            <a:r>
              <a:rPr kumimoji="1" lang="en-US" altLang="zh-CN" sz="1400" b="1" dirty="0" smtClean="0">
                <a:latin typeface="黑体" pitchFamily="49" charset="-122"/>
                <a:ea typeface="黑体" pitchFamily="49" charset="-122"/>
              </a:rPr>
              <a:t>   </a:t>
            </a:r>
            <a:r>
              <a:rPr kumimoji="1" lang="en-US" altLang="zh-CN" sz="1400" b="1" dirty="0">
                <a:latin typeface="Century" pitchFamily="18" charset="0"/>
                <a:ea typeface="黑体" pitchFamily="49" charset="-122"/>
              </a:rPr>
              <a:t>(</a:t>
            </a:r>
            <a:r>
              <a:rPr kumimoji="1" lang="en-US" altLang="zh-CN" sz="1400" b="1" dirty="0">
                <a:ea typeface="黑体" pitchFamily="49" charset="-122"/>
              </a:rPr>
              <a:t>74LS154</a:t>
            </a:r>
            <a:r>
              <a:rPr kumimoji="1" lang="en-US" altLang="zh-CN" sz="1400" b="1" dirty="0">
                <a:latin typeface="Century" pitchFamily="18" charset="0"/>
              </a:rPr>
              <a:t>)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(74LS138)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：逻辑结构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6497" name="Picture 1" descr="C:\Users\hfutliujun\AppData\Roaming\Tencent\Users\350654676\QQ\WinTemp\RichOle\F8{14S_@V4YAXLX68DSNBEK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276350"/>
            <a:ext cx="2971800" cy="2231136"/>
          </a:xfrm>
          <a:prstGeom prst="rect">
            <a:avLst/>
          </a:prstGeom>
          <a:noFill/>
        </p:spPr>
      </p:pic>
      <p:sp>
        <p:nvSpPr>
          <p:cNvPr id="10" name="Text Box 72"/>
          <p:cNvSpPr txBox="1">
            <a:spLocks noChangeArrowheads="1"/>
          </p:cNvSpPr>
          <p:nvPr/>
        </p:nvSpPr>
        <p:spPr bwMode="auto">
          <a:xfrm>
            <a:off x="3657600" y="37147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3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(74LS138)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：逻辑功能表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8545" name="Picture 1" descr="C:\Users\hfutliujun\AppData\Roaming\Tencent\Users\350654676\QQ\WinTemp\RichOle\U@{FX4P)[9%M3PO@S~35C@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352550"/>
            <a:ext cx="4648200" cy="3362048"/>
          </a:xfrm>
          <a:prstGeom prst="rect">
            <a:avLst/>
          </a:prstGeom>
          <a:noFill/>
        </p:spPr>
      </p:pic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2286000" y="10477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</a:t>
            </a:r>
            <a:r>
              <a:rPr lang="en-US" altLang="zh-CN" sz="1400" b="1" dirty="0" smtClean="0"/>
              <a:t>2</a:t>
            </a:r>
            <a:r>
              <a:rPr lang="zh-CN" altLang="en-US" sz="1400" b="1" dirty="0" smtClean="0"/>
              <a:t> </a:t>
            </a:r>
            <a:endParaRPr lang="en-US" altLang="zh-CN" sz="1400" b="1" dirty="0"/>
          </a:p>
        </p:txBody>
      </p:sp>
      <p:graphicFrame>
        <p:nvGraphicFramePr>
          <p:cNvPr id="108546" name="Object 9"/>
          <p:cNvGraphicFramePr>
            <a:graphicFrameLocks noChangeAspect="1"/>
          </p:cNvGraphicFramePr>
          <p:nvPr/>
        </p:nvGraphicFramePr>
        <p:xfrm>
          <a:off x="5715000" y="1581150"/>
          <a:ext cx="1468438" cy="304800"/>
        </p:xfrm>
        <a:graphic>
          <a:graphicData uri="http://schemas.openxmlformats.org/presentationml/2006/ole">
            <p:oleObj spid="_x0000_s108546" name="Equation" r:id="rId4" imgW="914400" imgH="253800" progId="Equation.DSMT4">
              <p:embed/>
            </p:oleObj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5715000" y="2190750"/>
            <a:ext cx="2540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输出逻辑表达式：</a:t>
            </a:r>
            <a:endParaRPr lang="zh-CN" altLang="en-US" sz="1400" b="1" dirty="0">
              <a:solidFill>
                <a:srgbClr val="333399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08547" name="Object 9"/>
          <p:cNvGraphicFramePr>
            <a:graphicFrameLocks noChangeAspect="1"/>
          </p:cNvGraphicFramePr>
          <p:nvPr/>
        </p:nvGraphicFramePr>
        <p:xfrm>
          <a:off x="6234113" y="2647950"/>
          <a:ext cx="733425" cy="304800"/>
        </p:xfrm>
        <a:graphic>
          <a:graphicData uri="http://schemas.openxmlformats.org/presentationml/2006/ole">
            <p:oleObj spid="_x0000_s108547" name="Equation" r:id="rId5" imgW="457200" imgH="2538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(74LS138)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9569" name="Picture 1" descr="C:\Users\hfutliujun\AppData\Roaming\Tencent\Users\350654676\QQ\WinTemp\RichOle\$RD}ZYN[Z(FTL7`T{)W5MV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885950"/>
            <a:ext cx="4661370" cy="1143000"/>
          </a:xfrm>
          <a:prstGeom prst="rect">
            <a:avLst/>
          </a:prstGeom>
          <a:noFill/>
        </p:spPr>
      </p:pic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3657600" y="34099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4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(74LS138)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3761131" y="4473773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5</a:t>
            </a:r>
            <a:endParaRPr lang="en-US" altLang="zh-CN" sz="1400" b="1" dirty="0"/>
          </a:p>
        </p:txBody>
      </p:sp>
      <p:pic>
        <p:nvPicPr>
          <p:cNvPr id="111618" name="Picture 2" descr="C:\Users\hfutliujun\AppData\Roaming\Tencent\Users\350654676\QQ\WinTemp\RichOle\)_LEBCB15Q{XPN%P3QO3MZ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152901"/>
            <a:ext cx="4343400" cy="32476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(74LS138)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3761131" y="4473773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6</a:t>
            </a:r>
            <a:endParaRPr lang="en-US" altLang="zh-CN" sz="1400" b="1" dirty="0"/>
          </a:p>
        </p:txBody>
      </p:sp>
      <p:pic>
        <p:nvPicPr>
          <p:cNvPr id="111618" name="Picture 2" descr="C:\Users\hfutliujun\AppData\Roaming\Tencent\Users\350654676\QQ\WinTemp\RichOle\)_LEBCB15Q{XPN%P3QO3MZ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152901"/>
            <a:ext cx="4343400" cy="324764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4196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12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1529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1271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816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(74LS138)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3761131" y="4473773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7</a:t>
            </a:r>
            <a:endParaRPr lang="en-US" altLang="zh-CN" sz="1400" b="1" dirty="0"/>
          </a:p>
        </p:txBody>
      </p:sp>
      <p:pic>
        <p:nvPicPr>
          <p:cNvPr id="111618" name="Picture 2" descr="C:\Users\hfutliujun\AppData\Roaming\Tencent\Users\350654676\QQ\WinTemp\RichOle\)_LEBCB15Q{XPN%P3QO3MZ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152901"/>
            <a:ext cx="4343400" cy="324764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4196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12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1529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1271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816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8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8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626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12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(74LS138)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3761131" y="4473773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8</a:t>
            </a:r>
            <a:endParaRPr lang="en-US" altLang="zh-CN" sz="1400" b="1" dirty="0"/>
          </a:p>
        </p:txBody>
      </p:sp>
      <p:pic>
        <p:nvPicPr>
          <p:cNvPr id="111618" name="Picture 2" descr="C:\Users\hfutliujun\AppData\Roaming\Tencent\Users\350654676\QQ\WinTemp\RichOle\)_LEBCB15Q{XPN%P3QO3MZ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152901"/>
            <a:ext cx="4343400" cy="324764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4196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12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1529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1271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816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8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8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626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12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(74LS138)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3761131" y="4473773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9</a:t>
            </a:r>
            <a:endParaRPr lang="en-US" altLang="zh-CN" sz="1400" b="1" dirty="0"/>
          </a:p>
        </p:txBody>
      </p:sp>
      <p:pic>
        <p:nvPicPr>
          <p:cNvPr id="111618" name="Picture 2" descr="C:\Users\hfutliujun\AppData\Roaming\Tencent\Users\350654676\QQ\WinTemp\RichOle\)_LEBCB15Q{XPN%P3QO3MZ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152901"/>
            <a:ext cx="4343400" cy="324764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4196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12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1529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1271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816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8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8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626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12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(74LS138)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3761131" y="4473773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10</a:t>
            </a:r>
            <a:endParaRPr lang="en-US" altLang="zh-CN" sz="1400" b="1" dirty="0"/>
          </a:p>
        </p:txBody>
      </p:sp>
      <p:pic>
        <p:nvPicPr>
          <p:cNvPr id="111618" name="Picture 2" descr="C:\Users\hfutliujun\AppData\Roaming\Tencent\Users\350654676\QQ\WinTemp\RichOle\)_LEBCB15Q{XPN%P3QO3MZ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152901"/>
            <a:ext cx="4343400" cy="324764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4196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12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1529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1271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816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8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8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626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1200" y="4400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译码器构建逻辑函数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2642" name="Object 2"/>
          <p:cNvGraphicFramePr>
            <a:graphicFrameLocks noChangeAspect="1"/>
          </p:cNvGraphicFramePr>
          <p:nvPr/>
        </p:nvGraphicFramePr>
        <p:xfrm>
          <a:off x="2209800" y="666750"/>
          <a:ext cx="1225550" cy="304800"/>
        </p:xfrm>
        <a:graphic>
          <a:graphicData uri="http://schemas.openxmlformats.org/presentationml/2006/ole">
            <p:oleObj spid="_x0000_s141314" name="Equation" r:id="rId3" imgW="761760" imgH="253800" progId="Equation.DSMT4">
              <p:embed/>
            </p:oleObj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152400" y="1428750"/>
          <a:ext cx="3663435" cy="304800"/>
        </p:xfrm>
        <a:graphic>
          <a:graphicData uri="http://schemas.openxmlformats.org/presentationml/2006/ole">
            <p:oleObj spid="_x0000_s141315" name="公式" r:id="rId4" imgW="2171520" imgH="241200" progId="">
              <p:embed/>
            </p:oleObj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457200" y="1885950"/>
          <a:ext cx="2362200" cy="318582"/>
        </p:xfrm>
        <a:graphic>
          <a:graphicData uri="http://schemas.openxmlformats.org/presentationml/2006/ole">
            <p:oleObj spid="_x0000_s141316" name="公式" r:id="rId5" imgW="1269720" imgH="228600" progId="">
              <p:embed/>
            </p:oleObj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457200" y="2419350"/>
          <a:ext cx="1905000" cy="345830"/>
        </p:xfrm>
        <a:graphic>
          <a:graphicData uri="http://schemas.openxmlformats.org/presentationml/2006/ole">
            <p:oleObj spid="_x0000_s141317" name="公式" r:id="rId6" imgW="1155600" imgH="279360" progId="">
              <p:embed/>
            </p:oleObj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44843" y="1105859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6"/>
                </a:solidFill>
              </a:rPr>
              <a:t>例</a:t>
            </a:r>
            <a:r>
              <a:rPr lang="en-US" altLang="zh-CN" sz="1400" b="1" dirty="0" smtClean="0">
                <a:solidFill>
                  <a:schemeClr val="accent6"/>
                </a:solidFill>
              </a:rPr>
              <a:t>1</a:t>
            </a:r>
            <a:r>
              <a:rPr lang="zh-CN" altLang="en-US" sz="1400" b="1" dirty="0" smtClean="0">
                <a:solidFill>
                  <a:schemeClr val="accent6"/>
                </a:solidFill>
              </a:rPr>
              <a:t>：</a:t>
            </a:r>
            <a:endParaRPr lang="zh-CN" altLang="en-US" sz="1400" b="1" dirty="0">
              <a:solidFill>
                <a:schemeClr val="accent6"/>
              </a:solidFill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/>
        </p:nvSpPr>
        <p:spPr bwMode="auto">
          <a:xfrm>
            <a:off x="5334000" y="31813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11</a:t>
            </a:r>
            <a:endParaRPr lang="en-US" altLang="zh-CN" sz="1400" b="1" dirty="0"/>
          </a:p>
        </p:txBody>
      </p:sp>
      <p:pic>
        <p:nvPicPr>
          <p:cNvPr id="141318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43400" y="1047750"/>
            <a:ext cx="283939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subSp spid="_x0000_s141316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>
                                            <p:subSp spid="_x0000_s141316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subSp spid="_x0000_s141317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>
                                            <p:subSp spid="_x0000_s141317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译码器构建逻辑函数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2642" name="Object 2"/>
          <p:cNvGraphicFramePr>
            <a:graphicFrameLocks noChangeAspect="1"/>
          </p:cNvGraphicFramePr>
          <p:nvPr/>
        </p:nvGraphicFramePr>
        <p:xfrm>
          <a:off x="2209800" y="666750"/>
          <a:ext cx="1225550" cy="304800"/>
        </p:xfrm>
        <a:graphic>
          <a:graphicData uri="http://schemas.openxmlformats.org/presentationml/2006/ole">
            <p:oleObj spid="_x0000_s112642" name="Equation" r:id="rId3" imgW="761760" imgH="253800" progId="Equation.DSMT4">
              <p:embed/>
            </p:oleObj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152400" y="1428750"/>
          <a:ext cx="3663435" cy="304800"/>
        </p:xfrm>
        <a:graphic>
          <a:graphicData uri="http://schemas.openxmlformats.org/presentationml/2006/ole">
            <p:oleObj spid="_x0000_s112643" name="公式" r:id="rId4" imgW="2171520" imgH="241200" progId="">
              <p:embed/>
            </p:oleObj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457200" y="1885950"/>
          <a:ext cx="2362200" cy="318582"/>
        </p:xfrm>
        <a:graphic>
          <a:graphicData uri="http://schemas.openxmlformats.org/presentationml/2006/ole">
            <p:oleObj spid="_x0000_s112644" name="公式" r:id="rId5" imgW="1269720" imgH="228600" progId="">
              <p:embed/>
            </p:oleObj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457200" y="2419350"/>
          <a:ext cx="1905000" cy="345830"/>
        </p:xfrm>
        <a:graphic>
          <a:graphicData uri="http://schemas.openxmlformats.org/presentationml/2006/ole">
            <p:oleObj spid="_x0000_s112645" name="公式" r:id="rId6" imgW="1155600" imgH="279360" progId="">
              <p:embed/>
            </p:oleObj>
          </a:graphicData>
        </a:graphic>
      </p:graphicFrame>
      <p:pic>
        <p:nvPicPr>
          <p:cNvPr id="112648" name="Picture 8" descr="C:\Users\hfutliujun\AppData\Roaming\Tencent\Users\350654676\QQ\WinTemp\RichOle\QMDKL93(Y}I)H~~R`RKS]AA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62400" y="971550"/>
            <a:ext cx="4210683" cy="3124200"/>
          </a:xfrm>
          <a:prstGeom prst="rect">
            <a:avLst/>
          </a:prstGeom>
          <a:noFill/>
        </p:spPr>
      </p:pic>
      <p:sp>
        <p:nvSpPr>
          <p:cNvPr id="25" name="TextBox 24"/>
          <p:cNvSpPr txBox="1"/>
          <p:nvPr/>
        </p:nvSpPr>
        <p:spPr>
          <a:xfrm>
            <a:off x="144843" y="1105859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6"/>
                </a:solidFill>
              </a:rPr>
              <a:t>例</a:t>
            </a:r>
            <a:r>
              <a:rPr lang="en-US" altLang="zh-CN" sz="1400" b="1" dirty="0" smtClean="0">
                <a:solidFill>
                  <a:schemeClr val="accent6"/>
                </a:solidFill>
              </a:rPr>
              <a:t>1</a:t>
            </a:r>
            <a:r>
              <a:rPr lang="zh-CN" altLang="en-US" sz="1400" b="1" dirty="0" smtClean="0">
                <a:solidFill>
                  <a:schemeClr val="accent6"/>
                </a:solidFill>
              </a:rPr>
              <a:t>：</a:t>
            </a:r>
            <a:endParaRPr lang="zh-CN" altLang="en-US" sz="1400" b="1" dirty="0">
              <a:solidFill>
                <a:schemeClr val="accent6"/>
              </a:solidFill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/>
        </p:nvSpPr>
        <p:spPr bwMode="auto">
          <a:xfrm>
            <a:off x="5257800" y="4248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12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1"/>
            <a:ext cx="8610600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译码器构建逻辑函数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2642" name="Object 2"/>
          <p:cNvGraphicFramePr>
            <a:graphicFrameLocks noChangeAspect="1"/>
          </p:cNvGraphicFramePr>
          <p:nvPr/>
        </p:nvGraphicFramePr>
        <p:xfrm>
          <a:off x="2209800" y="690051"/>
          <a:ext cx="1225550" cy="304800"/>
        </p:xfrm>
        <a:graphic>
          <a:graphicData uri="http://schemas.openxmlformats.org/presentationml/2006/ole">
            <p:oleObj spid="_x0000_s114690" name="Equation" r:id="rId3" imgW="761760" imgH="253800" progId="Equation.DSMT4">
              <p:embed/>
            </p:oleObj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44843" y="1105859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6"/>
                </a:solidFill>
              </a:rPr>
              <a:t>例</a:t>
            </a:r>
            <a:r>
              <a:rPr lang="en-US" altLang="zh-CN" sz="1400" b="1" dirty="0" smtClean="0">
                <a:solidFill>
                  <a:schemeClr val="accent6"/>
                </a:solidFill>
              </a:rPr>
              <a:t>2</a:t>
            </a:r>
            <a:r>
              <a:rPr lang="zh-CN" altLang="en-US" sz="1400" b="1" dirty="0" smtClean="0">
                <a:solidFill>
                  <a:schemeClr val="accent6"/>
                </a:solidFill>
              </a:rPr>
              <a:t>：</a:t>
            </a:r>
            <a:endParaRPr lang="zh-CN" altLang="en-US" sz="1400" b="1" dirty="0">
              <a:solidFill>
                <a:schemeClr val="accent6"/>
              </a:solidFill>
            </a:endParaRPr>
          </a:p>
        </p:txBody>
      </p:sp>
      <p:graphicFrame>
        <p:nvGraphicFramePr>
          <p:cNvPr id="114694" name="Object 8"/>
          <p:cNvGraphicFramePr>
            <a:graphicFrameLocks noChangeAspect="1"/>
          </p:cNvGraphicFramePr>
          <p:nvPr/>
        </p:nvGraphicFramePr>
        <p:xfrm flipH="1">
          <a:off x="381000" y="1504950"/>
          <a:ext cx="2624700" cy="304262"/>
        </p:xfrm>
        <a:graphic>
          <a:graphicData uri="http://schemas.openxmlformats.org/presentationml/2006/ole">
            <p:oleObj spid="_x0000_s114694" name="公式" r:id="rId4" imgW="1473120" imgH="228600" progId="">
              <p:embed/>
            </p:oleObj>
          </a:graphicData>
        </a:graphic>
      </p:graphicFrame>
      <p:graphicFrame>
        <p:nvGraphicFramePr>
          <p:cNvPr id="114695" name="Object 9"/>
          <p:cNvGraphicFramePr>
            <a:graphicFrameLocks noChangeAspect="1"/>
          </p:cNvGraphicFramePr>
          <p:nvPr/>
        </p:nvGraphicFramePr>
        <p:xfrm flipH="1">
          <a:off x="762000" y="1993900"/>
          <a:ext cx="1951062" cy="349250"/>
        </p:xfrm>
        <a:graphic>
          <a:graphicData uri="http://schemas.openxmlformats.org/presentationml/2006/ole">
            <p:oleObj spid="_x0000_s114695" name="公式" r:id="rId5" imgW="1168200" imgH="279360" progId="">
              <p:embed/>
            </p:oleObj>
          </a:graphicData>
        </a:graphic>
      </p:graphicFrame>
      <p:pic>
        <p:nvPicPr>
          <p:cNvPr id="114696" name="Picture 8" descr="C:\Users\hfutliujun\AppData\Roaming\Tencent\Users\350654676\QQ\WinTemp\RichOle\_036NNQ)]BXH}SH8G$(JR[S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89634" y="1044773"/>
            <a:ext cx="4211366" cy="3133725"/>
          </a:xfrm>
          <a:prstGeom prst="rect">
            <a:avLst/>
          </a:prstGeom>
          <a:noFill/>
        </p:spPr>
      </p:pic>
      <p:sp>
        <p:nvSpPr>
          <p:cNvPr id="13" name="Text Box 72"/>
          <p:cNvSpPr txBox="1">
            <a:spLocks noChangeArrowheads="1"/>
          </p:cNvSpPr>
          <p:nvPr/>
        </p:nvSpPr>
        <p:spPr bwMode="auto">
          <a:xfrm>
            <a:off x="6324600" y="43243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13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数据分配器（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DMUX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kumimoji="1" lang="en-US" altLang="zh-CN" sz="1400" b="1" dirty="0" smtClean="0">
                <a:ea typeface="黑体" pitchFamily="49" charset="-122"/>
              </a:rPr>
              <a:t>DMUX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的功能与</a:t>
            </a:r>
            <a:r>
              <a:rPr kumimoji="1" lang="en-US" altLang="zh-CN" sz="1400" b="1" dirty="0" smtClean="0">
                <a:ea typeface="黑体" pitchFamily="49" charset="-122"/>
              </a:rPr>
              <a:t>MUX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相反，它是单路输入、多路输出的组合逻辑构件。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24"/>
          <p:cNvGrpSpPr/>
          <p:nvPr/>
        </p:nvGrpSpPr>
        <p:grpSpPr>
          <a:xfrm>
            <a:off x="636496" y="1240494"/>
            <a:ext cx="2922496" cy="3467833"/>
            <a:chOff x="636496" y="1240494"/>
            <a:chExt cx="2922496" cy="3467833"/>
          </a:xfrm>
        </p:grpSpPr>
        <p:sp>
          <p:nvSpPr>
            <p:cNvPr id="32" name="Text Box 72"/>
            <p:cNvSpPr txBox="1">
              <a:spLocks noChangeArrowheads="1"/>
            </p:cNvSpPr>
            <p:nvPr/>
          </p:nvSpPr>
          <p:spPr bwMode="auto">
            <a:xfrm>
              <a:off x="1676400" y="4400550"/>
              <a:ext cx="658469" cy="30777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</a:t>
              </a:r>
              <a:r>
                <a:rPr lang="en-US" altLang="zh-CN" sz="1400" b="1" dirty="0" smtClean="0"/>
                <a:t>14</a:t>
              </a:r>
              <a:endParaRPr lang="en-US" altLang="zh-CN" sz="1400" b="1" dirty="0"/>
            </a:p>
          </p:txBody>
        </p:sp>
        <p:pic>
          <p:nvPicPr>
            <p:cNvPr id="9" name="Picture 103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5800" y="1276350"/>
              <a:ext cx="2683726" cy="2895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矩形 16"/>
            <p:cNvSpPr/>
            <p:nvPr/>
          </p:nvSpPr>
          <p:spPr>
            <a:xfrm>
              <a:off x="735104" y="1276350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49944" y="1504950"/>
              <a:ext cx="3048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85800" y="1733550"/>
              <a:ext cx="4572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6144" y="1240494"/>
              <a:ext cx="30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D</a:t>
              </a:r>
              <a:endParaRPr lang="zh-CN" altLang="en-US" sz="12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6496" y="1471330"/>
              <a:ext cx="457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EN</a:t>
              </a:r>
              <a:endParaRPr lang="zh-CN" altLang="en-US" sz="1200" dirty="0"/>
            </a:p>
          </p:txBody>
        </p:sp>
        <p:sp>
          <p:nvSpPr>
            <p:cNvPr id="23" name="圆角矩形 22"/>
            <p:cNvSpPr/>
            <p:nvPr/>
          </p:nvSpPr>
          <p:spPr>
            <a:xfrm rot="5400000">
              <a:off x="2476500" y="2152650"/>
              <a:ext cx="1524000" cy="228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779496" y="3943350"/>
              <a:ext cx="457200" cy="228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 Box 1057"/>
            <p:cNvSpPr txBox="1">
              <a:spLocks noChangeArrowheads="1"/>
            </p:cNvSpPr>
            <p:nvPr/>
          </p:nvSpPr>
          <p:spPr bwMode="auto">
            <a:xfrm>
              <a:off x="3124200" y="13525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0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2" name="Text Box 1057"/>
            <p:cNvSpPr txBox="1">
              <a:spLocks noChangeArrowheads="1"/>
            </p:cNvSpPr>
            <p:nvPr/>
          </p:nvSpPr>
          <p:spPr bwMode="auto">
            <a:xfrm>
              <a:off x="3101792" y="1794006"/>
              <a:ext cx="457200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1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3" name="Text Box 1057"/>
            <p:cNvSpPr txBox="1">
              <a:spLocks noChangeArrowheads="1"/>
            </p:cNvSpPr>
            <p:nvPr/>
          </p:nvSpPr>
          <p:spPr bwMode="auto">
            <a:xfrm>
              <a:off x="3126848" y="2251206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2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4" name="Text Box 1057"/>
            <p:cNvSpPr txBox="1">
              <a:spLocks noChangeArrowheads="1"/>
            </p:cNvSpPr>
            <p:nvPr/>
          </p:nvSpPr>
          <p:spPr bwMode="auto">
            <a:xfrm>
              <a:off x="3124200" y="26479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3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685800" y="1733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76400" y="12001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05200" y="1390335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05200" y="1809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05200" y="22669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05200" y="26479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066800" y="1200150"/>
            <a:ext cx="6096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765785" y="3920049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A</a:t>
            </a:r>
            <a:endParaRPr lang="zh-CN" altLang="en-US" sz="1200" baseline="-25000" dirty="0"/>
          </a:p>
        </p:txBody>
      </p:sp>
      <p:sp>
        <p:nvSpPr>
          <p:cNvPr id="36" name="TextBox 35"/>
          <p:cNvSpPr txBox="1"/>
          <p:nvPr/>
        </p:nvSpPr>
        <p:spPr>
          <a:xfrm>
            <a:off x="2034729" y="3920049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B</a:t>
            </a:r>
            <a:endParaRPr lang="zh-CN" altLang="en-US" sz="1200" baseline="-25000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3" grpId="0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数据分配器（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DMUX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kumimoji="1" lang="en-US" altLang="zh-CN" sz="1400" b="1" dirty="0" smtClean="0">
                <a:ea typeface="黑体" pitchFamily="49" charset="-122"/>
              </a:rPr>
              <a:t>DMUX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的功能与</a:t>
            </a:r>
            <a:r>
              <a:rPr kumimoji="1" lang="en-US" altLang="zh-CN" sz="1400" b="1" dirty="0" smtClean="0">
                <a:ea typeface="黑体" pitchFamily="49" charset="-122"/>
              </a:rPr>
              <a:t>MUX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相反，它是单路输入、多路输出的组合逻辑构件。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24"/>
          <p:cNvGrpSpPr/>
          <p:nvPr/>
        </p:nvGrpSpPr>
        <p:grpSpPr>
          <a:xfrm>
            <a:off x="636496" y="1240494"/>
            <a:ext cx="2922496" cy="3617256"/>
            <a:chOff x="636496" y="1240494"/>
            <a:chExt cx="2922496" cy="3617256"/>
          </a:xfrm>
        </p:grpSpPr>
        <p:sp>
          <p:nvSpPr>
            <p:cNvPr id="32" name="Text Box 72"/>
            <p:cNvSpPr txBox="1">
              <a:spLocks noChangeArrowheads="1"/>
            </p:cNvSpPr>
            <p:nvPr/>
          </p:nvSpPr>
          <p:spPr bwMode="auto">
            <a:xfrm>
              <a:off x="1676400" y="4549973"/>
              <a:ext cx="658469" cy="30777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</a:t>
              </a:r>
              <a:r>
                <a:rPr lang="en-US" altLang="zh-CN" sz="1400" b="1" dirty="0" smtClean="0"/>
                <a:t>14</a:t>
              </a:r>
              <a:endParaRPr lang="en-US" altLang="zh-CN" sz="1400" b="1" dirty="0"/>
            </a:p>
          </p:txBody>
        </p:sp>
        <p:pic>
          <p:nvPicPr>
            <p:cNvPr id="9" name="Picture 103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5800" y="1276350"/>
              <a:ext cx="2683726" cy="2895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矩形 16"/>
            <p:cNvSpPr/>
            <p:nvPr/>
          </p:nvSpPr>
          <p:spPr>
            <a:xfrm>
              <a:off x="735104" y="1276350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49944" y="1504950"/>
              <a:ext cx="3048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85800" y="1733550"/>
              <a:ext cx="4572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6144" y="1240494"/>
              <a:ext cx="30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D</a:t>
              </a:r>
              <a:endParaRPr lang="zh-CN" altLang="en-US" sz="12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6496" y="1471330"/>
              <a:ext cx="457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EN</a:t>
              </a:r>
              <a:endParaRPr lang="zh-CN" altLang="en-US" sz="1200" dirty="0"/>
            </a:p>
          </p:txBody>
        </p:sp>
        <p:sp>
          <p:nvSpPr>
            <p:cNvPr id="23" name="圆角矩形 22"/>
            <p:cNvSpPr/>
            <p:nvPr/>
          </p:nvSpPr>
          <p:spPr>
            <a:xfrm rot="5400000">
              <a:off x="2476500" y="2152650"/>
              <a:ext cx="1524000" cy="228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779496" y="3943350"/>
              <a:ext cx="457200" cy="228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752600" y="3943350"/>
              <a:ext cx="381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A</a:t>
              </a:r>
              <a:endParaRPr lang="zh-CN" altLang="en-US" sz="1200" baseline="-250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021544" y="3943350"/>
              <a:ext cx="381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B</a:t>
              </a:r>
              <a:endParaRPr lang="zh-CN" altLang="en-US" sz="1200" baseline="-25000" dirty="0"/>
            </a:p>
          </p:txBody>
        </p:sp>
        <p:sp>
          <p:nvSpPr>
            <p:cNvPr id="11" name="Text Box 1057"/>
            <p:cNvSpPr txBox="1">
              <a:spLocks noChangeArrowheads="1"/>
            </p:cNvSpPr>
            <p:nvPr/>
          </p:nvSpPr>
          <p:spPr bwMode="auto">
            <a:xfrm>
              <a:off x="3124200" y="13525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0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2" name="Text Box 1057"/>
            <p:cNvSpPr txBox="1">
              <a:spLocks noChangeArrowheads="1"/>
            </p:cNvSpPr>
            <p:nvPr/>
          </p:nvSpPr>
          <p:spPr bwMode="auto">
            <a:xfrm>
              <a:off x="3101792" y="1794006"/>
              <a:ext cx="457200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1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3" name="Text Box 1057"/>
            <p:cNvSpPr txBox="1">
              <a:spLocks noChangeArrowheads="1"/>
            </p:cNvSpPr>
            <p:nvPr/>
          </p:nvSpPr>
          <p:spPr bwMode="auto">
            <a:xfrm>
              <a:off x="3126848" y="2251206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2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4" name="Text Box 1057"/>
            <p:cNvSpPr txBox="1">
              <a:spLocks noChangeArrowheads="1"/>
            </p:cNvSpPr>
            <p:nvPr/>
          </p:nvSpPr>
          <p:spPr bwMode="auto">
            <a:xfrm>
              <a:off x="3124200" y="26479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3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752600" y="41719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4800" y="1428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0200" y="2849803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05200" y="1352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D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1200" y="41719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52101" y="2876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57400" y="28765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38400" y="30289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505200" y="1809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05200" y="22669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05200" y="26479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76400" y="12763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D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1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数据分配器（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DMUX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kumimoji="1" lang="en-US" altLang="zh-CN" sz="1400" b="1" dirty="0" smtClean="0">
                <a:ea typeface="黑体" pitchFamily="49" charset="-122"/>
              </a:rPr>
              <a:t>DMUX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的功能与</a:t>
            </a:r>
            <a:r>
              <a:rPr kumimoji="1" lang="en-US" altLang="zh-CN" sz="1400" b="1" dirty="0" smtClean="0">
                <a:ea typeface="黑体" pitchFamily="49" charset="-122"/>
              </a:rPr>
              <a:t>MUX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相反，它是单路输入、多路输出的组合逻辑构件。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24"/>
          <p:cNvGrpSpPr/>
          <p:nvPr/>
        </p:nvGrpSpPr>
        <p:grpSpPr>
          <a:xfrm>
            <a:off x="636496" y="1240494"/>
            <a:ext cx="2922496" cy="3467833"/>
            <a:chOff x="636496" y="1240494"/>
            <a:chExt cx="2922496" cy="3467833"/>
          </a:xfrm>
        </p:grpSpPr>
        <p:sp>
          <p:nvSpPr>
            <p:cNvPr id="32" name="Text Box 72"/>
            <p:cNvSpPr txBox="1">
              <a:spLocks noChangeArrowheads="1"/>
            </p:cNvSpPr>
            <p:nvPr/>
          </p:nvSpPr>
          <p:spPr bwMode="auto">
            <a:xfrm>
              <a:off x="1676400" y="4400550"/>
              <a:ext cx="658469" cy="30777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</a:t>
              </a:r>
              <a:r>
                <a:rPr lang="en-US" altLang="zh-CN" sz="1400" b="1" dirty="0" smtClean="0"/>
                <a:t>14</a:t>
              </a:r>
              <a:endParaRPr lang="en-US" altLang="zh-CN" sz="1400" b="1" dirty="0"/>
            </a:p>
          </p:txBody>
        </p:sp>
        <p:pic>
          <p:nvPicPr>
            <p:cNvPr id="9" name="Picture 103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5800" y="1276350"/>
              <a:ext cx="2683726" cy="2895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矩形 16"/>
            <p:cNvSpPr/>
            <p:nvPr/>
          </p:nvSpPr>
          <p:spPr>
            <a:xfrm>
              <a:off x="735104" y="1276350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49944" y="1504950"/>
              <a:ext cx="3048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85800" y="1733550"/>
              <a:ext cx="4572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6144" y="1240494"/>
              <a:ext cx="30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D</a:t>
              </a:r>
              <a:endParaRPr lang="zh-CN" altLang="en-US" sz="12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6496" y="1471330"/>
              <a:ext cx="457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EN</a:t>
              </a:r>
              <a:endParaRPr lang="zh-CN" altLang="en-US" sz="1200" dirty="0"/>
            </a:p>
          </p:txBody>
        </p:sp>
        <p:sp>
          <p:nvSpPr>
            <p:cNvPr id="23" name="圆角矩形 22"/>
            <p:cNvSpPr/>
            <p:nvPr/>
          </p:nvSpPr>
          <p:spPr>
            <a:xfrm rot="5400000">
              <a:off x="2476500" y="2152650"/>
              <a:ext cx="1524000" cy="228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779496" y="3943350"/>
              <a:ext cx="457200" cy="228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752600" y="3943350"/>
              <a:ext cx="381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A</a:t>
              </a:r>
              <a:endParaRPr lang="zh-CN" altLang="en-US" sz="1200" baseline="-250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021544" y="3943350"/>
              <a:ext cx="381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B</a:t>
              </a:r>
              <a:endParaRPr lang="zh-CN" altLang="en-US" sz="1200" baseline="-25000" dirty="0"/>
            </a:p>
          </p:txBody>
        </p:sp>
        <p:sp>
          <p:nvSpPr>
            <p:cNvPr id="11" name="Text Box 1057"/>
            <p:cNvSpPr txBox="1">
              <a:spLocks noChangeArrowheads="1"/>
            </p:cNvSpPr>
            <p:nvPr/>
          </p:nvSpPr>
          <p:spPr bwMode="auto">
            <a:xfrm>
              <a:off x="3124200" y="13525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0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2" name="Text Box 1057"/>
            <p:cNvSpPr txBox="1">
              <a:spLocks noChangeArrowheads="1"/>
            </p:cNvSpPr>
            <p:nvPr/>
          </p:nvSpPr>
          <p:spPr bwMode="auto">
            <a:xfrm>
              <a:off x="3101792" y="1794006"/>
              <a:ext cx="457200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1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3" name="Text Box 1057"/>
            <p:cNvSpPr txBox="1">
              <a:spLocks noChangeArrowheads="1"/>
            </p:cNvSpPr>
            <p:nvPr/>
          </p:nvSpPr>
          <p:spPr bwMode="auto">
            <a:xfrm>
              <a:off x="3126848" y="2251206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2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4" name="Text Box 1057"/>
            <p:cNvSpPr txBox="1">
              <a:spLocks noChangeArrowheads="1"/>
            </p:cNvSpPr>
            <p:nvPr/>
          </p:nvSpPr>
          <p:spPr bwMode="auto">
            <a:xfrm>
              <a:off x="3124200" y="26479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3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</p:grpSp>
      <p:graphicFrame>
        <p:nvGraphicFramePr>
          <p:cNvPr id="25" name="Object 15"/>
          <p:cNvGraphicFramePr>
            <a:graphicFrameLocks noChangeAspect="1"/>
          </p:cNvGraphicFramePr>
          <p:nvPr/>
        </p:nvGraphicFramePr>
        <p:xfrm>
          <a:off x="4495800" y="1276350"/>
          <a:ext cx="3503612" cy="3022404"/>
        </p:xfrm>
        <a:graphic>
          <a:graphicData uri="http://schemas.openxmlformats.org/presentationml/2006/ole">
            <p:oleObj spid="_x0000_s142338" name="Visio" r:id="rId4" imgW="2680402" imgH="1854556" progId="Visio.Drawing.11">
              <p:embed/>
            </p:oleObj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562600" y="135255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表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数据分配器（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DMUX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kumimoji="1" lang="en-US" altLang="zh-CN" sz="1400" b="1" dirty="0" smtClean="0">
                <a:ea typeface="黑体" pitchFamily="49" charset="-122"/>
              </a:rPr>
              <a:t>DMUX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的功能与</a:t>
            </a:r>
            <a:r>
              <a:rPr kumimoji="1" lang="en-US" altLang="zh-CN" sz="1400" b="1" dirty="0" smtClean="0">
                <a:ea typeface="黑体" pitchFamily="49" charset="-122"/>
              </a:rPr>
              <a:t>MUX</a:t>
            </a:r>
            <a:r>
              <a:rPr kumimoji="1" lang="zh-CN" altLang="en-US" sz="1400" b="1" dirty="0" smtClean="0">
                <a:latin typeface="黑体" pitchFamily="49" charset="-122"/>
                <a:ea typeface="黑体" pitchFamily="49" charset="-122"/>
              </a:rPr>
              <a:t>相反，它是单路输入、多路输出的组合逻辑构件。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42" name="Picture 10" descr="C:\Users\hfutliujun\AppData\Roaming\Tencent\Users\350654676\QQ\WinTemp\RichOle\EYAQ)F2[0WC})$6FH~7NIO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581150"/>
            <a:ext cx="3571262" cy="1828800"/>
          </a:xfrm>
          <a:prstGeom prst="rect">
            <a:avLst/>
          </a:prstGeom>
          <a:noFill/>
        </p:spPr>
      </p:pic>
      <p:sp>
        <p:nvSpPr>
          <p:cNvPr id="10" name="Text Box 72"/>
          <p:cNvSpPr txBox="1">
            <a:spLocks noChangeArrowheads="1"/>
          </p:cNvSpPr>
          <p:nvPr/>
        </p:nvSpPr>
        <p:spPr bwMode="auto">
          <a:xfrm>
            <a:off x="6019800" y="3486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15</a:t>
            </a:r>
            <a:endParaRPr lang="en-US" altLang="zh-CN" sz="1400" b="1" dirty="0"/>
          </a:p>
        </p:txBody>
      </p:sp>
      <p:grpSp>
        <p:nvGrpSpPr>
          <p:cNvPr id="2" name="组合 24"/>
          <p:cNvGrpSpPr/>
          <p:nvPr/>
        </p:nvGrpSpPr>
        <p:grpSpPr>
          <a:xfrm>
            <a:off x="636496" y="1240494"/>
            <a:ext cx="2922496" cy="3467833"/>
            <a:chOff x="636496" y="1240494"/>
            <a:chExt cx="2922496" cy="3467833"/>
          </a:xfrm>
        </p:grpSpPr>
        <p:sp>
          <p:nvSpPr>
            <p:cNvPr id="32" name="Text Box 72"/>
            <p:cNvSpPr txBox="1">
              <a:spLocks noChangeArrowheads="1"/>
            </p:cNvSpPr>
            <p:nvPr/>
          </p:nvSpPr>
          <p:spPr bwMode="auto">
            <a:xfrm>
              <a:off x="1676400" y="4400550"/>
              <a:ext cx="658469" cy="30777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 smtClean="0"/>
                <a:t>图 </a:t>
              </a:r>
              <a:r>
                <a:rPr lang="en-US" altLang="zh-CN" sz="1400" b="1" dirty="0" smtClean="0"/>
                <a:t>14</a:t>
              </a:r>
              <a:endParaRPr lang="en-US" altLang="zh-CN" sz="1400" b="1" dirty="0"/>
            </a:p>
          </p:txBody>
        </p:sp>
        <p:pic>
          <p:nvPicPr>
            <p:cNvPr id="9" name="Picture 103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5800" y="1276350"/>
              <a:ext cx="2683726" cy="2895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矩形 16"/>
            <p:cNvSpPr/>
            <p:nvPr/>
          </p:nvSpPr>
          <p:spPr>
            <a:xfrm>
              <a:off x="735104" y="1276350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49944" y="1504950"/>
              <a:ext cx="3048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85800" y="1733550"/>
              <a:ext cx="4572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6144" y="1240494"/>
              <a:ext cx="30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D</a:t>
              </a:r>
              <a:endParaRPr lang="zh-CN" altLang="en-US" sz="12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6496" y="1471330"/>
              <a:ext cx="457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EN</a:t>
              </a:r>
              <a:endParaRPr lang="zh-CN" altLang="en-US" sz="1200" dirty="0"/>
            </a:p>
          </p:txBody>
        </p:sp>
        <p:sp>
          <p:nvSpPr>
            <p:cNvPr id="23" name="圆角矩形 22"/>
            <p:cNvSpPr/>
            <p:nvPr/>
          </p:nvSpPr>
          <p:spPr>
            <a:xfrm rot="5400000">
              <a:off x="2476500" y="2152650"/>
              <a:ext cx="1524000" cy="228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779496" y="3943350"/>
              <a:ext cx="457200" cy="228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 Box 1057"/>
            <p:cNvSpPr txBox="1">
              <a:spLocks noChangeArrowheads="1"/>
            </p:cNvSpPr>
            <p:nvPr/>
          </p:nvSpPr>
          <p:spPr bwMode="auto">
            <a:xfrm>
              <a:off x="3124200" y="13525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0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2" name="Text Box 1057"/>
            <p:cNvSpPr txBox="1">
              <a:spLocks noChangeArrowheads="1"/>
            </p:cNvSpPr>
            <p:nvPr/>
          </p:nvSpPr>
          <p:spPr bwMode="auto">
            <a:xfrm>
              <a:off x="3101792" y="1794006"/>
              <a:ext cx="457200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1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3" name="Text Box 1057"/>
            <p:cNvSpPr txBox="1">
              <a:spLocks noChangeArrowheads="1"/>
            </p:cNvSpPr>
            <p:nvPr/>
          </p:nvSpPr>
          <p:spPr bwMode="auto">
            <a:xfrm>
              <a:off x="3126848" y="2251206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2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4" name="Text Box 1057"/>
            <p:cNvSpPr txBox="1">
              <a:spLocks noChangeArrowheads="1"/>
            </p:cNvSpPr>
            <p:nvPr/>
          </p:nvSpPr>
          <p:spPr bwMode="auto">
            <a:xfrm>
              <a:off x="3124200" y="26479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r>
                <a:rPr kumimoji="1" lang="en-US" altLang="zh-CN" sz="1600" baseline="-25000" dirty="0" smtClean="0">
                  <a:latin typeface="+mj-lt"/>
                </a:rPr>
                <a:t>3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752600" y="394335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A</a:t>
            </a:r>
            <a:endParaRPr lang="zh-CN" altLang="en-US" sz="1200" baseline="-25000" dirty="0"/>
          </a:p>
        </p:txBody>
      </p:sp>
      <p:sp>
        <p:nvSpPr>
          <p:cNvPr id="27" name="TextBox 26"/>
          <p:cNvSpPr txBox="1"/>
          <p:nvPr/>
        </p:nvSpPr>
        <p:spPr>
          <a:xfrm>
            <a:off x="2021544" y="394335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B</a:t>
            </a:r>
            <a:endParaRPr lang="zh-CN" altLang="en-US" sz="1200" baseline="-25000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数据分配器（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DMUX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利用数据选择器和数据分配器设计实现</a:t>
            </a:r>
            <a:r>
              <a:rPr kumimoji="1" lang="en-US" altLang="zh-CN" sz="1600" dirty="0" smtClean="0">
                <a:latin typeface="Tahoma" pitchFamily="34" charset="0"/>
                <a:ea typeface="黑体" pitchFamily="49" charset="-122"/>
              </a:rPr>
              <a:t>8</a:t>
            </a:r>
            <a:r>
              <a:rPr kumimoji="1" lang="zh-CN" altLang="en-US" sz="1600" dirty="0" smtClean="0">
                <a:latin typeface="Tahoma" pitchFamily="34" charset="0"/>
                <a:ea typeface="黑体" pitchFamily="49" charset="-122"/>
              </a:rPr>
              <a:t>路数据传输的逻辑电路。</a:t>
            </a:r>
          </a:p>
          <a:p>
            <a:pPr marL="0" lvl="1">
              <a:lnSpc>
                <a:spcPct val="150000"/>
              </a:lnSpc>
            </a:pP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" descr="C:\Users\hfutliujun\AppData\Roaming\Tencent\Users\350654676\QQ\WinTemp\RichOle\DG@YR9SBBKUL1WKEYCVQ}I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123950"/>
            <a:ext cx="3942133" cy="2724150"/>
          </a:xfrm>
          <a:prstGeom prst="rect">
            <a:avLst/>
          </a:prstGeom>
          <a:noFill/>
        </p:spPr>
      </p:pic>
      <p:sp>
        <p:nvSpPr>
          <p:cNvPr id="9" name="Text Box 72"/>
          <p:cNvSpPr txBox="1">
            <a:spLocks noChangeArrowheads="1"/>
          </p:cNvSpPr>
          <p:nvPr/>
        </p:nvSpPr>
        <p:spPr bwMode="auto">
          <a:xfrm>
            <a:off x="1905000" y="39433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16</a:t>
            </a:r>
            <a:endParaRPr lang="en-US" altLang="zh-CN" sz="1400" b="1" dirty="0"/>
          </a:p>
        </p:txBody>
      </p:sp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5334000" y="1276350"/>
          <a:ext cx="2743200" cy="3103563"/>
        </p:xfrm>
        <a:graphic>
          <a:graphicData uri="http://schemas.openxmlformats.org/presentationml/2006/ole">
            <p:oleObj spid="_x0000_s143362" name="Visio" r:id="rId4" imgW="2034925" imgH="2551941" progId="Visio.Drawing.11">
              <p:embed/>
            </p:oleObj>
          </a:graphicData>
        </a:graphic>
      </p:graphicFrame>
      <p:sp>
        <p:nvSpPr>
          <p:cNvPr id="10" name="Text Box 72"/>
          <p:cNvSpPr txBox="1">
            <a:spLocks noChangeArrowheads="1"/>
          </p:cNvSpPr>
          <p:nvPr/>
        </p:nvSpPr>
        <p:spPr bwMode="auto">
          <a:xfrm>
            <a:off x="6400800" y="11239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</a:t>
            </a:r>
            <a:r>
              <a:rPr lang="en-US" altLang="zh-CN" sz="1400" b="1" dirty="0" smtClean="0"/>
              <a:t>4</a:t>
            </a:r>
            <a:r>
              <a:rPr lang="zh-CN" altLang="en-US" sz="1400" b="1" dirty="0" smtClean="0"/>
              <a:t> 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5800</TotalTime>
  <Words>683</Words>
  <Application>Microsoft Office PowerPoint</Application>
  <PresentationFormat>全屏显示(16:9)</PresentationFormat>
  <Paragraphs>312</Paragraphs>
  <Slides>21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默认设计模板</vt:lpstr>
      <vt:lpstr>Equation</vt:lpstr>
      <vt:lpstr>公式</vt:lpstr>
      <vt:lpstr>Visio</vt:lpstr>
      <vt:lpstr>Microsoft Visio 绘图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678</cp:revision>
  <cp:lastPrinted>2113-01-01T00:00:00Z</cp:lastPrinted>
  <dcterms:created xsi:type="dcterms:W3CDTF">2113-01-01T00:00:00Z</dcterms:created>
  <dcterms:modified xsi:type="dcterms:W3CDTF">2021-01-10T09:53:13Z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