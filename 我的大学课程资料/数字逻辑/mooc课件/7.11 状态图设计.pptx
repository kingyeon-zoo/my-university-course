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9" r:id="rId2"/>
    <p:sldId id="526" r:id="rId3"/>
    <p:sldId id="527" r:id="rId4"/>
    <p:sldId id="514" r:id="rId5"/>
    <p:sldId id="528" r:id="rId6"/>
    <p:sldId id="529" r:id="rId7"/>
    <p:sldId id="521" r:id="rId8"/>
    <p:sldId id="523" r:id="rId9"/>
    <p:sldId id="525" r:id="rId10"/>
    <p:sldId id="522" r:id="rId11"/>
    <p:sldId id="517" r:id="rId1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8A"/>
    <a:srgbClr val="3333CC"/>
    <a:srgbClr val="DBE4BA"/>
    <a:srgbClr val="6600CC"/>
    <a:srgbClr val="00FFFF"/>
    <a:srgbClr val="2D1341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417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状态图设计和化简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时序逻辑设计的步骤：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762"/>
          <p:cNvSpPr txBox="1">
            <a:spLocks noChangeArrowheads="1"/>
          </p:cNvSpPr>
          <p:nvPr/>
        </p:nvSpPr>
        <p:spPr bwMode="auto">
          <a:xfrm>
            <a:off x="6858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逻辑抽象，得出电路的状态转换图和状态转换表。</a:t>
            </a:r>
          </a:p>
        </p:txBody>
      </p:sp>
      <p:sp>
        <p:nvSpPr>
          <p:cNvPr id="14" name="Text Box 763"/>
          <p:cNvSpPr txBox="1">
            <a:spLocks noChangeArrowheads="1"/>
          </p:cNvSpPr>
          <p:nvPr/>
        </p:nvSpPr>
        <p:spPr bwMode="auto">
          <a:xfrm>
            <a:off x="685800" y="1504950"/>
            <a:ext cx="3298825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状态化简。</a:t>
            </a:r>
          </a:p>
        </p:txBody>
      </p:sp>
      <p:sp>
        <p:nvSpPr>
          <p:cNvPr id="15" name="Text Box 764"/>
          <p:cNvSpPr txBox="1">
            <a:spLocks noChangeArrowheads="1"/>
          </p:cNvSpPr>
          <p:nvPr/>
        </p:nvSpPr>
        <p:spPr bwMode="auto">
          <a:xfrm>
            <a:off x="685800" y="1962150"/>
            <a:ext cx="5741988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16" name="Text Box 765"/>
          <p:cNvSpPr txBox="1">
            <a:spLocks noChangeArrowheads="1"/>
          </p:cNvSpPr>
          <p:nvPr/>
        </p:nvSpPr>
        <p:spPr bwMode="auto">
          <a:xfrm>
            <a:off x="685800" y="2419350"/>
            <a:ext cx="8208962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选定触发器类型，求出电路的驱动方程和输出方程。</a:t>
            </a:r>
          </a:p>
        </p:txBody>
      </p:sp>
      <p:sp>
        <p:nvSpPr>
          <p:cNvPr id="17" name="Text Box 766"/>
          <p:cNvSpPr txBox="1">
            <a:spLocks noChangeArrowheads="1"/>
          </p:cNvSpPr>
          <p:nvPr/>
        </p:nvSpPr>
        <p:spPr bwMode="auto">
          <a:xfrm>
            <a:off x="685800" y="2885242"/>
            <a:ext cx="63563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5.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sp>
        <p:nvSpPr>
          <p:cNvPr id="18" name="Text Box 767"/>
          <p:cNvSpPr txBox="1">
            <a:spLocks noChangeArrowheads="1"/>
          </p:cNvSpPr>
          <p:nvPr/>
        </p:nvSpPr>
        <p:spPr bwMode="auto">
          <a:xfrm>
            <a:off x="685800" y="3452396"/>
            <a:ext cx="6053137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6.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检查设计的电路能否自启动。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时序逻辑设计的步骤：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762"/>
          <p:cNvSpPr txBox="1">
            <a:spLocks noChangeArrowheads="1"/>
          </p:cNvSpPr>
          <p:nvPr/>
        </p:nvSpPr>
        <p:spPr bwMode="auto">
          <a:xfrm>
            <a:off x="6858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逻辑抽象，得出电路的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状态转换图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和状态转换表。</a:t>
            </a:r>
          </a:p>
        </p:txBody>
      </p:sp>
      <p:sp>
        <p:nvSpPr>
          <p:cNvPr id="14" name="Text Box 763"/>
          <p:cNvSpPr txBox="1">
            <a:spLocks noChangeArrowheads="1"/>
          </p:cNvSpPr>
          <p:nvPr/>
        </p:nvSpPr>
        <p:spPr bwMode="auto">
          <a:xfrm>
            <a:off x="685800" y="1504950"/>
            <a:ext cx="3298825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状态化简。</a:t>
            </a:r>
          </a:p>
        </p:txBody>
      </p:sp>
      <p:sp>
        <p:nvSpPr>
          <p:cNvPr id="15" name="Text Box 764"/>
          <p:cNvSpPr txBox="1">
            <a:spLocks noChangeArrowheads="1"/>
          </p:cNvSpPr>
          <p:nvPr/>
        </p:nvSpPr>
        <p:spPr bwMode="auto">
          <a:xfrm>
            <a:off x="685800" y="1962150"/>
            <a:ext cx="5741988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16" name="Text Box 765"/>
          <p:cNvSpPr txBox="1">
            <a:spLocks noChangeArrowheads="1"/>
          </p:cNvSpPr>
          <p:nvPr/>
        </p:nvSpPr>
        <p:spPr bwMode="auto">
          <a:xfrm>
            <a:off x="685800" y="2419350"/>
            <a:ext cx="8208962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选定触发器类型，求出电路的驱动方程和输出方程。</a:t>
            </a:r>
          </a:p>
        </p:txBody>
      </p:sp>
      <p:sp>
        <p:nvSpPr>
          <p:cNvPr id="17" name="Text Box 766"/>
          <p:cNvSpPr txBox="1">
            <a:spLocks noChangeArrowheads="1"/>
          </p:cNvSpPr>
          <p:nvPr/>
        </p:nvSpPr>
        <p:spPr bwMode="auto">
          <a:xfrm>
            <a:off x="685800" y="2885242"/>
            <a:ext cx="63563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5.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sp>
        <p:nvSpPr>
          <p:cNvPr id="18" name="Text Box 767"/>
          <p:cNvSpPr txBox="1">
            <a:spLocks noChangeArrowheads="1"/>
          </p:cNvSpPr>
          <p:nvPr/>
        </p:nvSpPr>
        <p:spPr bwMode="auto">
          <a:xfrm>
            <a:off x="685800" y="3452396"/>
            <a:ext cx="6053137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6.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检查设计的电路能否自启动。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8600" y="666750"/>
            <a:ext cx="8569325" cy="4114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输入序列已知</a:t>
            </a:r>
            <a:r>
              <a:rPr kumimoji="0" lang="zh-CN" altLang="en-US" b="1" i="0" u="none" strike="noStrike" kern="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US" altLang="zh-CN" b="1" kern="0" dirty="0">
              <a:solidFill>
                <a:srgbClr val="2D2D8A"/>
              </a:solidFill>
              <a:latin typeface="+mn-lt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输入序列未知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2001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如检测</a:t>
            </a:r>
            <a:r>
              <a:rPr lang="en-US" altLang="zh-CN" sz="1600" b="1" dirty="0">
                <a:solidFill>
                  <a:srgbClr val="2D2D8A"/>
                </a:solidFill>
              </a:rPr>
              <a:t>110</a:t>
            </a:r>
            <a:r>
              <a:rPr lang="zh-CN" altLang="en-US" sz="1600" b="1" dirty="0">
                <a:solidFill>
                  <a:srgbClr val="2D2D8A"/>
                </a:solidFill>
              </a:rPr>
              <a:t>、</a:t>
            </a:r>
            <a:r>
              <a:rPr lang="en-US" altLang="zh-CN" sz="1600" b="1" dirty="0">
                <a:solidFill>
                  <a:srgbClr val="2D2D8A"/>
                </a:solidFill>
              </a:rPr>
              <a:t>1111</a:t>
            </a:r>
            <a:r>
              <a:rPr lang="zh-CN" altLang="en-US" sz="1600" b="1" dirty="0">
                <a:solidFill>
                  <a:srgbClr val="2D2D8A"/>
                </a:solidFill>
              </a:rPr>
              <a:t>等这样具体的数字序列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52750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如输入奇数个</a:t>
            </a:r>
            <a:r>
              <a:rPr lang="en-US" altLang="zh-CN" sz="1600" b="1" dirty="0">
                <a:solidFill>
                  <a:srgbClr val="2D2D8A"/>
                </a:solidFill>
              </a:rPr>
              <a:t>1</a:t>
            </a:r>
            <a:r>
              <a:rPr lang="zh-CN" altLang="en-US" sz="1600" b="1" dirty="0">
                <a:solidFill>
                  <a:srgbClr val="2D2D8A"/>
                </a:solidFill>
              </a:rPr>
              <a:t>时，输出为</a:t>
            </a:r>
            <a:r>
              <a:rPr lang="en-US" altLang="zh-CN" sz="1600" b="1" dirty="0">
                <a:solidFill>
                  <a:srgbClr val="2D2D8A"/>
                </a:solidFill>
              </a:rPr>
              <a:t>1</a:t>
            </a:r>
            <a:r>
              <a:rPr lang="zh-CN" altLang="en-US" sz="1600" b="1" dirty="0">
                <a:solidFill>
                  <a:srgbClr val="2D2D8A"/>
                </a:solidFill>
              </a:rPr>
              <a:t>；输入偶数个</a:t>
            </a:r>
            <a:r>
              <a:rPr lang="en-US" altLang="zh-CN" sz="1600" b="1" dirty="0">
                <a:solidFill>
                  <a:srgbClr val="2D2D8A"/>
                </a:solidFill>
              </a:rPr>
              <a:t>1</a:t>
            </a:r>
            <a:r>
              <a:rPr lang="zh-CN" altLang="en-US" sz="1600" b="1" dirty="0">
                <a:solidFill>
                  <a:srgbClr val="2D2D8A"/>
                </a:solidFill>
              </a:rPr>
              <a:t>时，输出为</a:t>
            </a:r>
            <a:r>
              <a:rPr lang="en-US" altLang="zh-CN" sz="1600" b="1" dirty="0">
                <a:solidFill>
                  <a:srgbClr val="2D2D8A"/>
                </a:solidFill>
              </a:rPr>
              <a:t>0</a:t>
            </a:r>
            <a:endParaRPr lang="zh-CN" altLang="en-US" sz="1600" b="1" dirty="0">
              <a:solidFill>
                <a:srgbClr val="2D2D8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输入序列已知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54392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画状态图时，根据输入序列来区分状态</a:t>
            </a:r>
          </a:p>
        </p:txBody>
      </p:sp>
      <p:sp>
        <p:nvSpPr>
          <p:cNvPr id="215" name="Text Box 8"/>
          <p:cNvSpPr txBox="1">
            <a:spLocks noChangeArrowheads="1"/>
          </p:cNvSpPr>
          <p:nvPr/>
        </p:nvSpPr>
        <p:spPr bwMode="auto">
          <a:xfrm>
            <a:off x="254392" y="1352550"/>
            <a:ext cx="2363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000" i="0" dirty="0">
                <a:ea typeface="黑体" pitchFamily="49" charset="-122"/>
              </a:rPr>
              <a:t> 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例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1:</a:t>
            </a:r>
            <a:r>
              <a:rPr lang="zh-CN" altLang="en-US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1111</a:t>
            </a:r>
            <a:r>
              <a:rPr lang="en-US" altLang="zh-CN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序列检测器</a:t>
            </a:r>
          </a:p>
        </p:txBody>
      </p:sp>
      <p:sp>
        <p:nvSpPr>
          <p:cNvPr id="216" name="Text Box 54"/>
          <p:cNvSpPr txBox="1">
            <a:spLocks noChangeArrowheads="1"/>
          </p:cNvSpPr>
          <p:nvPr/>
        </p:nvSpPr>
        <p:spPr bwMode="auto">
          <a:xfrm>
            <a:off x="254392" y="1733550"/>
            <a:ext cx="22365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设：输入为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，输出为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</a:p>
        </p:txBody>
      </p:sp>
      <p:sp>
        <p:nvSpPr>
          <p:cNvPr id="217" name="Text Box 55"/>
          <p:cNvSpPr txBox="1">
            <a:spLocks noChangeArrowheads="1"/>
          </p:cNvSpPr>
          <p:nvPr/>
        </p:nvSpPr>
        <p:spPr bwMode="auto">
          <a:xfrm>
            <a:off x="254392" y="2160983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出现下列序列时：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1  1  0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b="1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1  1  1  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1  1   0  0  1  0</a:t>
            </a:r>
          </a:p>
        </p:txBody>
      </p:sp>
      <p:sp>
        <p:nvSpPr>
          <p:cNvPr id="218" name="Text Box 56"/>
          <p:cNvSpPr txBox="1">
            <a:spLocks noChangeArrowheads="1"/>
          </p:cNvSpPr>
          <p:nvPr/>
        </p:nvSpPr>
        <p:spPr bwMode="auto">
          <a:xfrm>
            <a:off x="254392" y="2480070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将形成相应序列：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0  0  0  0  0  0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1  1   0  0  0  0</a:t>
            </a:r>
          </a:p>
        </p:txBody>
      </p:sp>
      <p:sp>
        <p:nvSpPr>
          <p:cNvPr id="219" name="矩形 218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 autoUpdateAnimBg="0"/>
      <p:bldP spid="216" grpId="0" autoUpdateAnimBg="0"/>
      <p:bldP spid="217" grpId="0" autoUpdateAnimBg="0"/>
      <p:bldP spid="21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输入序列已知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54392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画状态图时，根据输入序列来区分状态</a:t>
            </a:r>
          </a:p>
        </p:txBody>
      </p:sp>
      <p:sp>
        <p:nvSpPr>
          <p:cNvPr id="215" name="Text Box 8"/>
          <p:cNvSpPr txBox="1">
            <a:spLocks noChangeArrowheads="1"/>
          </p:cNvSpPr>
          <p:nvPr/>
        </p:nvSpPr>
        <p:spPr bwMode="auto">
          <a:xfrm>
            <a:off x="254392" y="1352550"/>
            <a:ext cx="2363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000" i="0" dirty="0">
                <a:ea typeface="黑体" pitchFamily="49" charset="-122"/>
              </a:rPr>
              <a:t> 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例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1:</a:t>
            </a:r>
            <a:r>
              <a:rPr lang="zh-CN" altLang="en-US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1111</a:t>
            </a:r>
            <a:r>
              <a:rPr lang="en-US" altLang="zh-CN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序列检测器</a:t>
            </a:r>
          </a:p>
        </p:txBody>
      </p:sp>
      <p:sp>
        <p:nvSpPr>
          <p:cNvPr id="216" name="Text Box 54"/>
          <p:cNvSpPr txBox="1">
            <a:spLocks noChangeArrowheads="1"/>
          </p:cNvSpPr>
          <p:nvPr/>
        </p:nvSpPr>
        <p:spPr bwMode="auto">
          <a:xfrm>
            <a:off x="254392" y="1733550"/>
            <a:ext cx="22365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设：输入为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，输出为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</a:p>
        </p:txBody>
      </p:sp>
      <p:sp>
        <p:nvSpPr>
          <p:cNvPr id="217" name="Text Box 55"/>
          <p:cNvSpPr txBox="1">
            <a:spLocks noChangeArrowheads="1"/>
          </p:cNvSpPr>
          <p:nvPr/>
        </p:nvSpPr>
        <p:spPr bwMode="auto">
          <a:xfrm>
            <a:off x="254392" y="2160983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出现下列序列时：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1  1  0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b="1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1  1  1  1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 0  0  1  0</a:t>
            </a:r>
          </a:p>
        </p:txBody>
      </p:sp>
      <p:sp>
        <p:nvSpPr>
          <p:cNvPr id="218" name="Text Box 56"/>
          <p:cNvSpPr txBox="1">
            <a:spLocks noChangeArrowheads="1"/>
          </p:cNvSpPr>
          <p:nvPr/>
        </p:nvSpPr>
        <p:spPr bwMode="auto">
          <a:xfrm>
            <a:off x="254392" y="2480070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将形成相应序列：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0  0  0  0  0  0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 0  0  0  0</a:t>
            </a:r>
          </a:p>
        </p:txBody>
      </p:sp>
      <p:sp>
        <p:nvSpPr>
          <p:cNvPr id="219" name="矩形 218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5"/>
          <p:cNvSpPr txBox="1">
            <a:spLocks noChangeArrowheads="1"/>
          </p:cNvSpPr>
          <p:nvPr/>
        </p:nvSpPr>
        <p:spPr bwMode="auto">
          <a:xfrm>
            <a:off x="304800" y="3090863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出现下列序列时：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1  1  0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b="1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1  1  1  1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 0  0  1  0</a:t>
            </a:r>
          </a:p>
        </p:txBody>
      </p:sp>
      <p:sp>
        <p:nvSpPr>
          <p:cNvPr id="10" name="Text Box 56"/>
          <p:cNvSpPr txBox="1">
            <a:spLocks noChangeArrowheads="1"/>
          </p:cNvSpPr>
          <p:nvPr/>
        </p:nvSpPr>
        <p:spPr bwMode="auto">
          <a:xfrm>
            <a:off x="304800" y="3409950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将形成相应序列：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0  0  0  0  0  0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0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0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 0  0  0  0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61"/>
          <p:cNvGrpSpPr>
            <a:grpSpLocks/>
          </p:cNvGrpSpPr>
          <p:nvPr/>
        </p:nvGrpSpPr>
        <p:grpSpPr bwMode="auto">
          <a:xfrm>
            <a:off x="5988040" y="1123950"/>
            <a:ext cx="1066800" cy="609600"/>
            <a:chOff x="6161088" y="2057400"/>
            <a:chExt cx="1066800" cy="609600"/>
          </a:xfrm>
        </p:grpSpPr>
        <p:grpSp>
          <p:nvGrpSpPr>
            <p:cNvPr id="164" name="Group 9"/>
            <p:cNvGrpSpPr>
              <a:grpSpLocks/>
            </p:cNvGrpSpPr>
            <p:nvPr/>
          </p:nvGrpSpPr>
          <p:grpSpPr bwMode="auto">
            <a:xfrm>
              <a:off x="6846888" y="2057400"/>
              <a:ext cx="381000" cy="396875"/>
              <a:chOff x="4176" y="2640"/>
              <a:chExt cx="240" cy="250"/>
            </a:xfrm>
          </p:grpSpPr>
          <p:sp>
            <p:nvSpPr>
              <p:cNvPr id="168" name="Oval 10"/>
              <p:cNvSpPr>
                <a:spLocks noChangeArrowheads="1"/>
              </p:cNvSpPr>
              <p:nvPr/>
            </p:nvSpPr>
            <p:spPr bwMode="auto">
              <a:xfrm>
                <a:off x="4176" y="2640"/>
                <a:ext cx="240" cy="2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69" name="Text Box 11"/>
              <p:cNvSpPr txBox="1">
                <a:spLocks noChangeArrowheads="1"/>
              </p:cNvSpPr>
              <p:nvPr/>
            </p:nvSpPr>
            <p:spPr bwMode="auto">
              <a:xfrm>
                <a:off x="4189" y="2640"/>
                <a:ext cx="2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0" dirty="0"/>
                  <a:t>C</a:t>
                </a:r>
              </a:p>
            </p:txBody>
          </p:sp>
        </p:grpSp>
        <p:grpSp>
          <p:nvGrpSpPr>
            <p:cNvPr id="165" name="Group 18"/>
            <p:cNvGrpSpPr>
              <a:grpSpLocks/>
            </p:cNvGrpSpPr>
            <p:nvPr/>
          </p:nvGrpSpPr>
          <p:grpSpPr bwMode="auto">
            <a:xfrm>
              <a:off x="6161088" y="2133600"/>
              <a:ext cx="685800" cy="533400"/>
              <a:chOff x="3744" y="2688"/>
              <a:chExt cx="432" cy="336"/>
            </a:xfrm>
          </p:grpSpPr>
          <p:sp>
            <p:nvSpPr>
              <p:cNvPr id="166" name="Line 19"/>
              <p:cNvSpPr>
                <a:spLocks noChangeShapeType="1"/>
              </p:cNvSpPr>
              <p:nvPr/>
            </p:nvSpPr>
            <p:spPr bwMode="auto">
              <a:xfrm flipV="1">
                <a:off x="3792" y="2784"/>
                <a:ext cx="384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67" name="Text Box 20"/>
              <p:cNvSpPr txBox="1">
                <a:spLocks noChangeArrowheads="1"/>
              </p:cNvSpPr>
              <p:nvPr/>
            </p:nvSpPr>
            <p:spPr bwMode="auto">
              <a:xfrm>
                <a:off x="3744" y="2688"/>
                <a:ext cx="3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1/0</a:t>
                </a:r>
              </a:p>
            </p:txBody>
          </p:sp>
        </p:grpSp>
      </p:grpSp>
      <p:grpSp>
        <p:nvGrpSpPr>
          <p:cNvPr id="170" name="Group 24"/>
          <p:cNvGrpSpPr>
            <a:grpSpLocks/>
          </p:cNvGrpSpPr>
          <p:nvPr/>
        </p:nvGrpSpPr>
        <p:grpSpPr bwMode="auto">
          <a:xfrm>
            <a:off x="6064240" y="2724150"/>
            <a:ext cx="381000" cy="396875"/>
            <a:chOff x="3792" y="3648"/>
            <a:chExt cx="240" cy="250"/>
          </a:xfrm>
        </p:grpSpPr>
        <p:sp>
          <p:nvSpPr>
            <p:cNvPr id="171" name="Text Box 25"/>
            <p:cNvSpPr txBox="1">
              <a:spLocks noChangeArrowheads="1"/>
            </p:cNvSpPr>
            <p:nvPr/>
          </p:nvSpPr>
          <p:spPr bwMode="auto">
            <a:xfrm>
              <a:off x="3805" y="364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i="0"/>
                <a:t>A</a:t>
              </a:r>
            </a:p>
          </p:txBody>
        </p:sp>
        <p:sp>
          <p:nvSpPr>
            <p:cNvPr id="172" name="Oval 26"/>
            <p:cNvSpPr>
              <a:spLocks noChangeArrowheads="1"/>
            </p:cNvSpPr>
            <p:nvPr/>
          </p:nvSpPr>
          <p:spPr bwMode="auto">
            <a:xfrm>
              <a:off x="3792" y="364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pSp>
        <p:nvGrpSpPr>
          <p:cNvPr id="173" name="组合 60"/>
          <p:cNvGrpSpPr>
            <a:grpSpLocks/>
          </p:cNvGrpSpPr>
          <p:nvPr/>
        </p:nvGrpSpPr>
        <p:grpSpPr bwMode="auto">
          <a:xfrm>
            <a:off x="5541952" y="1717675"/>
            <a:ext cx="598488" cy="1082675"/>
            <a:chOff x="5715000" y="2651125"/>
            <a:chExt cx="598488" cy="1082675"/>
          </a:xfrm>
        </p:grpSpPr>
        <p:grpSp>
          <p:nvGrpSpPr>
            <p:cNvPr id="174" name="Group 15"/>
            <p:cNvGrpSpPr>
              <a:grpSpLocks/>
            </p:cNvGrpSpPr>
            <p:nvPr/>
          </p:nvGrpSpPr>
          <p:grpSpPr bwMode="auto">
            <a:xfrm>
              <a:off x="5715000" y="3048000"/>
              <a:ext cx="598488" cy="685800"/>
              <a:chOff x="3463" y="3264"/>
              <a:chExt cx="377" cy="432"/>
            </a:xfrm>
          </p:grpSpPr>
          <p:sp>
            <p:nvSpPr>
              <p:cNvPr id="178" name="Line 16"/>
              <p:cNvSpPr>
                <a:spLocks noChangeShapeType="1"/>
              </p:cNvSpPr>
              <p:nvPr/>
            </p:nvSpPr>
            <p:spPr bwMode="auto">
              <a:xfrm flipH="1" flipV="1">
                <a:off x="3744" y="3264"/>
                <a:ext cx="96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9" name="Text Box 17"/>
              <p:cNvSpPr txBox="1">
                <a:spLocks noChangeArrowheads="1"/>
              </p:cNvSpPr>
              <p:nvPr/>
            </p:nvSpPr>
            <p:spPr bwMode="auto">
              <a:xfrm>
                <a:off x="3463" y="3408"/>
                <a:ext cx="3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1/0</a:t>
                </a:r>
              </a:p>
            </p:txBody>
          </p:sp>
        </p:grpSp>
        <p:grpSp>
          <p:nvGrpSpPr>
            <p:cNvPr id="175" name="Group 27"/>
            <p:cNvGrpSpPr>
              <a:grpSpLocks/>
            </p:cNvGrpSpPr>
            <p:nvPr/>
          </p:nvGrpSpPr>
          <p:grpSpPr bwMode="auto">
            <a:xfrm>
              <a:off x="5932488" y="2651125"/>
              <a:ext cx="381000" cy="396875"/>
              <a:chOff x="3600" y="3014"/>
              <a:chExt cx="240" cy="250"/>
            </a:xfrm>
          </p:grpSpPr>
          <p:sp>
            <p:nvSpPr>
              <p:cNvPr id="176" name="Text Box 28"/>
              <p:cNvSpPr txBox="1">
                <a:spLocks noChangeArrowheads="1"/>
              </p:cNvSpPr>
              <p:nvPr/>
            </p:nvSpPr>
            <p:spPr bwMode="auto">
              <a:xfrm>
                <a:off x="3613" y="3014"/>
                <a:ext cx="21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0" dirty="0"/>
                  <a:t>B</a:t>
                </a:r>
              </a:p>
            </p:txBody>
          </p:sp>
          <p:sp>
            <p:nvSpPr>
              <p:cNvPr id="177" name="Oval 29"/>
              <p:cNvSpPr>
                <a:spLocks noChangeArrowheads="1"/>
              </p:cNvSpPr>
              <p:nvPr/>
            </p:nvSpPr>
            <p:spPr bwMode="auto">
              <a:xfrm>
                <a:off x="3600" y="3024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180" name="Group 30"/>
          <p:cNvGrpSpPr>
            <a:grpSpLocks/>
          </p:cNvGrpSpPr>
          <p:nvPr/>
        </p:nvGrpSpPr>
        <p:grpSpPr bwMode="auto">
          <a:xfrm>
            <a:off x="6151564" y="1928247"/>
            <a:ext cx="676850" cy="855507"/>
            <a:chOff x="4338" y="3240"/>
            <a:chExt cx="416" cy="552"/>
          </a:xfrm>
        </p:grpSpPr>
        <p:sp>
          <p:nvSpPr>
            <p:cNvPr id="181" name="Text Box 31"/>
            <p:cNvSpPr txBox="1">
              <a:spLocks noChangeArrowheads="1"/>
            </p:cNvSpPr>
            <p:nvPr/>
          </p:nvSpPr>
          <p:spPr bwMode="auto">
            <a:xfrm>
              <a:off x="4404" y="3323"/>
              <a:ext cx="350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 dirty="0"/>
                <a:t> 0/0</a:t>
              </a:r>
            </a:p>
          </p:txBody>
        </p:sp>
        <p:cxnSp>
          <p:nvCxnSpPr>
            <p:cNvPr id="182" name="AutoShape 32"/>
            <p:cNvCxnSpPr>
              <a:cxnSpLocks noChangeShapeType="1"/>
            </p:cNvCxnSpPr>
            <p:nvPr/>
          </p:nvCxnSpPr>
          <p:spPr bwMode="auto">
            <a:xfrm>
              <a:off x="4338" y="3240"/>
              <a:ext cx="153" cy="552"/>
            </a:xfrm>
            <a:prstGeom prst="curvedConnector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183" name="Group 33"/>
          <p:cNvGrpSpPr>
            <a:grpSpLocks/>
          </p:cNvGrpSpPr>
          <p:nvPr/>
        </p:nvGrpSpPr>
        <p:grpSpPr bwMode="auto">
          <a:xfrm>
            <a:off x="5173413" y="2899920"/>
            <a:ext cx="1079501" cy="419101"/>
            <a:chOff x="3799" y="3914"/>
            <a:chExt cx="680" cy="264"/>
          </a:xfrm>
        </p:grpSpPr>
        <p:sp>
          <p:nvSpPr>
            <p:cNvPr id="184" name="Text Box 34"/>
            <p:cNvSpPr txBox="1">
              <a:spLocks noChangeArrowheads="1"/>
            </p:cNvSpPr>
            <p:nvPr/>
          </p:nvSpPr>
          <p:spPr bwMode="auto">
            <a:xfrm>
              <a:off x="3799" y="3945"/>
              <a:ext cx="4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 dirty="0"/>
                <a:t>   0/0</a:t>
              </a:r>
            </a:p>
          </p:txBody>
        </p:sp>
        <p:cxnSp>
          <p:nvCxnSpPr>
            <p:cNvPr id="185" name="AutoShape 35"/>
            <p:cNvCxnSpPr>
              <a:cxnSpLocks noChangeShapeType="1"/>
              <a:stCxn id="172" idx="2"/>
              <a:endCxn id="171" idx="2"/>
            </p:cNvCxnSpPr>
            <p:nvPr/>
          </p:nvCxnSpPr>
          <p:spPr bwMode="auto">
            <a:xfrm rot="10800000" flipH="1" flipV="1">
              <a:off x="4360" y="3914"/>
              <a:ext cx="119" cy="130"/>
            </a:xfrm>
            <a:prstGeom prst="curvedConnector4">
              <a:avLst>
                <a:gd name="adj1" fmla="val -121008"/>
                <a:gd name="adj2" fmla="val 210769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186" name="组合 62"/>
          <p:cNvGrpSpPr>
            <a:grpSpLocks/>
          </p:cNvGrpSpPr>
          <p:nvPr/>
        </p:nvGrpSpPr>
        <p:grpSpPr bwMode="auto">
          <a:xfrm>
            <a:off x="7054840" y="1200150"/>
            <a:ext cx="914400" cy="914400"/>
            <a:chOff x="7227888" y="2133600"/>
            <a:chExt cx="914400" cy="914400"/>
          </a:xfrm>
        </p:grpSpPr>
        <p:grpSp>
          <p:nvGrpSpPr>
            <p:cNvPr id="187" name="Group 12"/>
            <p:cNvGrpSpPr>
              <a:grpSpLocks/>
            </p:cNvGrpSpPr>
            <p:nvPr/>
          </p:nvGrpSpPr>
          <p:grpSpPr bwMode="auto">
            <a:xfrm>
              <a:off x="7761288" y="2651125"/>
              <a:ext cx="381000" cy="396875"/>
              <a:chOff x="4176" y="2640"/>
              <a:chExt cx="240" cy="250"/>
            </a:xfrm>
          </p:grpSpPr>
          <p:sp>
            <p:nvSpPr>
              <p:cNvPr id="191" name="Oval 13"/>
              <p:cNvSpPr>
                <a:spLocks noChangeArrowheads="1"/>
              </p:cNvSpPr>
              <p:nvPr/>
            </p:nvSpPr>
            <p:spPr bwMode="auto">
              <a:xfrm>
                <a:off x="4176" y="2640"/>
                <a:ext cx="240" cy="2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92" name="Text Box 14"/>
              <p:cNvSpPr txBox="1">
                <a:spLocks noChangeArrowheads="1"/>
              </p:cNvSpPr>
              <p:nvPr/>
            </p:nvSpPr>
            <p:spPr bwMode="auto">
              <a:xfrm>
                <a:off x="4189" y="2640"/>
                <a:ext cx="22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0"/>
                  <a:t>D</a:t>
                </a:r>
              </a:p>
            </p:txBody>
          </p:sp>
        </p:grpSp>
        <p:grpSp>
          <p:nvGrpSpPr>
            <p:cNvPr id="188" name="Group 21"/>
            <p:cNvGrpSpPr>
              <a:grpSpLocks/>
            </p:cNvGrpSpPr>
            <p:nvPr/>
          </p:nvGrpSpPr>
          <p:grpSpPr bwMode="auto">
            <a:xfrm>
              <a:off x="7227888" y="2133600"/>
              <a:ext cx="674687" cy="609600"/>
              <a:chOff x="4416" y="2688"/>
              <a:chExt cx="425" cy="384"/>
            </a:xfrm>
          </p:grpSpPr>
          <p:sp>
            <p:nvSpPr>
              <p:cNvPr id="189" name="Line 22"/>
              <p:cNvSpPr>
                <a:spLocks noChangeShapeType="1"/>
              </p:cNvSpPr>
              <p:nvPr/>
            </p:nvSpPr>
            <p:spPr bwMode="auto">
              <a:xfrm>
                <a:off x="4416" y="2832"/>
                <a:ext cx="336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0" name="Text Box 23"/>
              <p:cNvSpPr txBox="1">
                <a:spLocks noChangeArrowheads="1"/>
              </p:cNvSpPr>
              <p:nvPr/>
            </p:nvSpPr>
            <p:spPr bwMode="auto">
              <a:xfrm>
                <a:off x="4512" y="2688"/>
                <a:ext cx="3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1/0</a:t>
                </a:r>
              </a:p>
            </p:txBody>
          </p:sp>
        </p:grpSp>
      </p:grpSp>
      <p:grpSp>
        <p:nvGrpSpPr>
          <p:cNvPr id="193" name="组合 64"/>
          <p:cNvGrpSpPr>
            <a:grpSpLocks/>
          </p:cNvGrpSpPr>
          <p:nvPr/>
        </p:nvGrpSpPr>
        <p:grpSpPr bwMode="auto">
          <a:xfrm>
            <a:off x="7207240" y="2114550"/>
            <a:ext cx="903281" cy="1006475"/>
            <a:chOff x="7380288" y="3048000"/>
            <a:chExt cx="903281" cy="1006475"/>
          </a:xfrm>
        </p:grpSpPr>
        <p:grpSp>
          <p:nvGrpSpPr>
            <p:cNvPr id="194" name="Group 36"/>
            <p:cNvGrpSpPr>
              <a:grpSpLocks/>
            </p:cNvGrpSpPr>
            <p:nvPr/>
          </p:nvGrpSpPr>
          <p:grpSpPr bwMode="auto">
            <a:xfrm>
              <a:off x="7380288" y="3657600"/>
              <a:ext cx="381000" cy="396875"/>
              <a:chOff x="4512" y="3648"/>
              <a:chExt cx="240" cy="250"/>
            </a:xfrm>
          </p:grpSpPr>
          <p:sp>
            <p:nvSpPr>
              <p:cNvPr id="198" name="Text Box 37"/>
              <p:cNvSpPr txBox="1">
                <a:spLocks noChangeArrowheads="1"/>
              </p:cNvSpPr>
              <p:nvPr/>
            </p:nvSpPr>
            <p:spPr bwMode="auto">
              <a:xfrm>
                <a:off x="4525" y="3648"/>
                <a:ext cx="20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0"/>
                  <a:t>E</a:t>
                </a:r>
              </a:p>
            </p:txBody>
          </p:sp>
          <p:sp>
            <p:nvSpPr>
              <p:cNvPr id="199" name="Oval 38"/>
              <p:cNvSpPr>
                <a:spLocks noChangeArrowheads="1"/>
              </p:cNvSpPr>
              <p:nvPr/>
            </p:nvSpPr>
            <p:spPr bwMode="auto">
              <a:xfrm>
                <a:off x="4512" y="3648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95" name="Group 39"/>
            <p:cNvGrpSpPr>
              <a:grpSpLocks/>
            </p:cNvGrpSpPr>
            <p:nvPr/>
          </p:nvGrpSpPr>
          <p:grpSpPr bwMode="auto">
            <a:xfrm>
              <a:off x="7651745" y="3048000"/>
              <a:ext cx="631824" cy="628650"/>
              <a:chOff x="4683" y="3264"/>
              <a:chExt cx="398" cy="396"/>
            </a:xfrm>
          </p:grpSpPr>
          <p:sp>
            <p:nvSpPr>
              <p:cNvPr id="196" name="Line 40"/>
              <p:cNvSpPr>
                <a:spLocks noChangeShapeType="1"/>
              </p:cNvSpPr>
              <p:nvPr/>
            </p:nvSpPr>
            <p:spPr bwMode="auto">
              <a:xfrm flipH="1">
                <a:off x="4683" y="3264"/>
                <a:ext cx="165" cy="3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7" name="Text Box 41"/>
              <p:cNvSpPr txBox="1">
                <a:spLocks noChangeArrowheads="1"/>
              </p:cNvSpPr>
              <p:nvPr/>
            </p:nvSpPr>
            <p:spPr bwMode="auto">
              <a:xfrm>
                <a:off x="4752" y="3312"/>
                <a:ext cx="329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1/1</a:t>
                </a:r>
              </a:p>
            </p:txBody>
          </p:sp>
        </p:grpSp>
      </p:grpSp>
      <p:grpSp>
        <p:nvGrpSpPr>
          <p:cNvPr id="200" name="Group 42"/>
          <p:cNvGrpSpPr>
            <a:grpSpLocks/>
          </p:cNvGrpSpPr>
          <p:nvPr/>
        </p:nvGrpSpPr>
        <p:grpSpPr bwMode="auto">
          <a:xfrm>
            <a:off x="6445240" y="1976438"/>
            <a:ext cx="1219200" cy="976312"/>
            <a:chOff x="4032" y="3177"/>
            <a:chExt cx="768" cy="615"/>
          </a:xfrm>
        </p:grpSpPr>
        <p:sp>
          <p:nvSpPr>
            <p:cNvPr id="201" name="Line 43"/>
            <p:cNvSpPr>
              <a:spLocks noChangeShapeType="1"/>
            </p:cNvSpPr>
            <p:nvPr/>
          </p:nvSpPr>
          <p:spPr bwMode="auto">
            <a:xfrm flipH="1">
              <a:off x="4032" y="3216"/>
              <a:ext cx="768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2" name="Text Box 44"/>
            <p:cNvSpPr txBox="1">
              <a:spLocks noChangeArrowheads="1"/>
            </p:cNvSpPr>
            <p:nvPr/>
          </p:nvSpPr>
          <p:spPr bwMode="auto">
            <a:xfrm>
              <a:off x="4320" y="3177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/>
                <a:t>0/0</a:t>
              </a:r>
            </a:p>
          </p:txBody>
        </p:sp>
      </p:grpSp>
      <p:grpSp>
        <p:nvGrpSpPr>
          <p:cNvPr id="203" name="Group 45"/>
          <p:cNvGrpSpPr>
            <a:grpSpLocks/>
          </p:cNvGrpSpPr>
          <p:nvPr/>
        </p:nvGrpSpPr>
        <p:grpSpPr bwMode="auto">
          <a:xfrm>
            <a:off x="7391400" y="2881314"/>
            <a:ext cx="990600" cy="381001"/>
            <a:chOff x="5081" y="3879"/>
            <a:chExt cx="624" cy="240"/>
          </a:xfrm>
        </p:grpSpPr>
        <p:sp>
          <p:nvSpPr>
            <p:cNvPr id="204" name="Text Box 46"/>
            <p:cNvSpPr txBox="1">
              <a:spLocks noChangeArrowheads="1"/>
            </p:cNvSpPr>
            <p:nvPr/>
          </p:nvSpPr>
          <p:spPr bwMode="auto">
            <a:xfrm>
              <a:off x="5376" y="3888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 dirty="0"/>
                <a:t>1/1</a:t>
              </a:r>
            </a:p>
          </p:txBody>
        </p:sp>
        <p:cxnSp>
          <p:nvCxnSpPr>
            <p:cNvPr id="205" name="AutoShape 47"/>
            <p:cNvCxnSpPr>
              <a:cxnSpLocks noChangeShapeType="1"/>
            </p:cNvCxnSpPr>
            <p:nvPr/>
          </p:nvCxnSpPr>
          <p:spPr bwMode="auto">
            <a:xfrm flipH="1">
              <a:off x="5081" y="3879"/>
              <a:ext cx="124" cy="130"/>
            </a:xfrm>
            <a:prstGeom prst="curvedConnector4">
              <a:avLst>
                <a:gd name="adj1" fmla="val -116130"/>
                <a:gd name="adj2" fmla="val 210769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</p:grpSp>
      <p:grpSp>
        <p:nvGrpSpPr>
          <p:cNvPr id="206" name="Group 48"/>
          <p:cNvGrpSpPr>
            <a:grpSpLocks/>
          </p:cNvGrpSpPr>
          <p:nvPr/>
        </p:nvGrpSpPr>
        <p:grpSpPr bwMode="auto">
          <a:xfrm>
            <a:off x="6380152" y="1504950"/>
            <a:ext cx="522288" cy="1409700"/>
            <a:chOff x="3991" y="2880"/>
            <a:chExt cx="329" cy="888"/>
          </a:xfrm>
        </p:grpSpPr>
        <p:cxnSp>
          <p:nvCxnSpPr>
            <p:cNvPr id="207" name="AutoShape 49"/>
            <p:cNvCxnSpPr>
              <a:cxnSpLocks noChangeShapeType="1"/>
            </p:cNvCxnSpPr>
            <p:nvPr/>
          </p:nvCxnSpPr>
          <p:spPr bwMode="auto">
            <a:xfrm rot="5400000">
              <a:off x="3727" y="3185"/>
              <a:ext cx="888" cy="278"/>
            </a:xfrm>
            <a:prstGeom prst="curvedConnector2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208" name="Text Box 50"/>
            <p:cNvSpPr txBox="1">
              <a:spLocks noChangeArrowheads="1"/>
            </p:cNvSpPr>
            <p:nvPr/>
          </p:nvSpPr>
          <p:spPr bwMode="auto">
            <a:xfrm>
              <a:off x="3991" y="2937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/>
                <a:t>0/0</a:t>
              </a:r>
            </a:p>
          </p:txBody>
        </p:sp>
      </p:grpSp>
      <p:grpSp>
        <p:nvGrpSpPr>
          <p:cNvPr id="209" name="Group 51"/>
          <p:cNvGrpSpPr>
            <a:grpSpLocks/>
          </p:cNvGrpSpPr>
          <p:nvPr/>
        </p:nvGrpSpPr>
        <p:grpSpPr bwMode="auto">
          <a:xfrm>
            <a:off x="6445240" y="2908300"/>
            <a:ext cx="762000" cy="366713"/>
            <a:chOff x="4032" y="3764"/>
            <a:chExt cx="480" cy="231"/>
          </a:xfrm>
        </p:grpSpPr>
        <p:sp>
          <p:nvSpPr>
            <p:cNvPr id="210" name="Line 52"/>
            <p:cNvSpPr>
              <a:spLocks noChangeShapeType="1"/>
            </p:cNvSpPr>
            <p:nvPr/>
          </p:nvSpPr>
          <p:spPr bwMode="auto">
            <a:xfrm flipH="1">
              <a:off x="4032" y="379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1" name="Text Box 53"/>
            <p:cNvSpPr txBox="1">
              <a:spLocks noChangeArrowheads="1"/>
            </p:cNvSpPr>
            <p:nvPr/>
          </p:nvSpPr>
          <p:spPr bwMode="auto">
            <a:xfrm>
              <a:off x="4135" y="3764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i="0"/>
                <a:t>0/0</a:t>
              </a:r>
            </a:p>
          </p:txBody>
        </p:sp>
      </p:grpSp>
      <p:sp>
        <p:nvSpPr>
          <p:cNvPr id="213" name="矩形 21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输入序列已知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54392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画状态图时，根据输入序列来区分状态</a:t>
            </a:r>
          </a:p>
        </p:txBody>
      </p:sp>
      <p:sp>
        <p:nvSpPr>
          <p:cNvPr id="215" name="Text Box 8"/>
          <p:cNvSpPr txBox="1">
            <a:spLocks noChangeArrowheads="1"/>
          </p:cNvSpPr>
          <p:nvPr/>
        </p:nvSpPr>
        <p:spPr bwMode="auto">
          <a:xfrm>
            <a:off x="254392" y="1352550"/>
            <a:ext cx="23638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000" i="0" dirty="0">
                <a:ea typeface="黑体" pitchFamily="49" charset="-122"/>
              </a:rPr>
              <a:t> 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例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1:</a:t>
            </a:r>
            <a:r>
              <a:rPr lang="zh-CN" altLang="en-US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1111</a:t>
            </a:r>
            <a:r>
              <a:rPr lang="en-US" altLang="zh-CN" sz="1600" i="0" dirty="0">
                <a:solidFill>
                  <a:srgbClr val="2D2D8A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序列检测器</a:t>
            </a:r>
          </a:p>
        </p:txBody>
      </p:sp>
      <p:sp>
        <p:nvSpPr>
          <p:cNvPr id="216" name="Text Box 54"/>
          <p:cNvSpPr txBox="1">
            <a:spLocks noChangeArrowheads="1"/>
          </p:cNvSpPr>
          <p:nvPr/>
        </p:nvSpPr>
        <p:spPr bwMode="auto">
          <a:xfrm>
            <a:off x="254392" y="1733550"/>
            <a:ext cx="22365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设：输入为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，输出为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</a:p>
        </p:txBody>
      </p:sp>
      <p:sp>
        <p:nvSpPr>
          <p:cNvPr id="217" name="Text Box 55"/>
          <p:cNvSpPr txBox="1">
            <a:spLocks noChangeArrowheads="1"/>
          </p:cNvSpPr>
          <p:nvPr/>
        </p:nvSpPr>
        <p:spPr bwMode="auto">
          <a:xfrm>
            <a:off x="254392" y="2160983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出现下列序列时：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1  1  0  1  1  1  1  1  1   0  0  1  0</a:t>
            </a:r>
          </a:p>
        </p:txBody>
      </p:sp>
      <p:sp>
        <p:nvSpPr>
          <p:cNvPr id="218" name="Text Box 56"/>
          <p:cNvSpPr txBox="1">
            <a:spLocks noChangeArrowheads="1"/>
          </p:cNvSpPr>
          <p:nvPr/>
        </p:nvSpPr>
        <p:spPr bwMode="auto">
          <a:xfrm>
            <a:off x="254392" y="2480070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将形成相应序列：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0  0  0  0  0  0  1  1  1   0  0  0  0</a:t>
            </a:r>
          </a:p>
        </p:txBody>
      </p:sp>
      <p:sp>
        <p:nvSpPr>
          <p:cNvPr id="219" name="矩形 218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0" name="Group 57"/>
          <p:cNvGraphicFramePr>
            <a:graphicFrameLocks noGrp="1"/>
          </p:cNvGraphicFramePr>
          <p:nvPr/>
        </p:nvGraphicFramePr>
        <p:xfrm>
          <a:off x="914400" y="3257550"/>
          <a:ext cx="2057400" cy="1364239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2" name="Text Box 91"/>
          <p:cNvSpPr txBox="1">
            <a:spLocks noChangeArrowheads="1"/>
          </p:cNvSpPr>
          <p:nvPr/>
        </p:nvSpPr>
        <p:spPr bwMode="auto">
          <a:xfrm>
            <a:off x="1676400" y="4588668"/>
            <a:ext cx="14160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次态</a:t>
            </a:r>
            <a:r>
              <a:rPr lang="en-US" altLang="zh-CN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输出</a:t>
            </a:r>
            <a:r>
              <a:rPr lang="en-US" altLang="zh-CN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(z)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096000" y="34861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图</a:t>
            </a:r>
            <a:r>
              <a:rPr lang="en-US" altLang="zh-CN" sz="1400" b="1" dirty="0">
                <a:solidFill>
                  <a:srgbClr val="2D2D8A"/>
                </a:solidFill>
              </a:rPr>
              <a:t>1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1</a:t>
            </a:r>
            <a:r>
              <a:rPr lang="zh-CN" altLang="en-US" sz="1400" b="1" dirty="0">
                <a:solidFill>
                  <a:srgbClr val="2D2D8A"/>
                </a:solidFill>
              </a:rPr>
              <a:t>的状态图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143000" y="29527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表</a:t>
            </a:r>
            <a:r>
              <a:rPr lang="en-US" altLang="zh-CN" sz="1400" b="1" dirty="0">
                <a:solidFill>
                  <a:srgbClr val="2D2D8A"/>
                </a:solidFill>
              </a:rPr>
              <a:t>1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1</a:t>
            </a:r>
            <a:r>
              <a:rPr lang="zh-CN" altLang="en-US" sz="1400" b="1" dirty="0">
                <a:solidFill>
                  <a:srgbClr val="2D2D8A"/>
                </a:solidFill>
              </a:rPr>
              <a:t>的状态表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224" grpId="0"/>
      <p:bldP spid="2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输入序列已知 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04800" y="1428750"/>
            <a:ext cx="838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kumimoji="0" lang="en-US" altLang="zh-CN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1600" dirty="0">
                <a:solidFill>
                  <a:srgbClr val="2D2D8A"/>
                </a:solidFill>
              </a:rPr>
              <a:t>画出 </a:t>
            </a:r>
            <a:r>
              <a:rPr lang="zh-CN" altLang="en-US" sz="1600" dirty="0">
                <a:solidFill>
                  <a:srgbClr val="2D2D8A"/>
                </a:solidFill>
                <a:latin typeface="Times New Roman" pitchFamily="18" charset="0"/>
              </a:rPr>
              <a:t>“</a:t>
            </a:r>
            <a:r>
              <a:rPr lang="en-US" altLang="zh-CN" sz="1600" dirty="0">
                <a:solidFill>
                  <a:srgbClr val="2D2D8A"/>
                </a:solidFill>
              </a:rPr>
              <a:t>101</a:t>
            </a:r>
            <a:r>
              <a:rPr lang="en-US" altLang="zh-CN" sz="1600" dirty="0">
                <a:solidFill>
                  <a:srgbClr val="2D2D8A"/>
                </a:solidFill>
                <a:latin typeface="Times New Roman" pitchFamily="18" charset="0"/>
              </a:rPr>
              <a:t>”</a:t>
            </a:r>
            <a:r>
              <a:rPr lang="zh-CN" altLang="en-US" sz="1600" dirty="0">
                <a:solidFill>
                  <a:srgbClr val="2D2D8A"/>
                </a:solidFill>
              </a:rPr>
              <a:t>和</a:t>
            </a:r>
            <a:r>
              <a:rPr lang="zh-CN" altLang="en-US" sz="1600" dirty="0">
                <a:solidFill>
                  <a:srgbClr val="2D2D8A"/>
                </a:solidFill>
                <a:latin typeface="Times New Roman" pitchFamily="18" charset="0"/>
              </a:rPr>
              <a:t>“</a:t>
            </a:r>
            <a:r>
              <a:rPr lang="en-US" altLang="zh-CN" sz="1600" dirty="0">
                <a:solidFill>
                  <a:srgbClr val="2D2D8A"/>
                </a:solidFill>
              </a:rPr>
              <a:t>010</a:t>
            </a:r>
            <a:r>
              <a:rPr lang="en-US" altLang="zh-CN" sz="1600" dirty="0">
                <a:solidFill>
                  <a:srgbClr val="2D2D8A"/>
                </a:solidFill>
                <a:latin typeface="Times New Roman" pitchFamily="18" charset="0"/>
              </a:rPr>
              <a:t>”</a:t>
            </a:r>
            <a:r>
              <a:rPr lang="zh-CN" altLang="en-US" sz="1600" dirty="0">
                <a:solidFill>
                  <a:srgbClr val="2D2D8A"/>
                </a:solidFill>
              </a:rPr>
              <a:t>双序列检测器的状态图。</a:t>
            </a:r>
            <a:endParaRPr kumimoji="0" lang="zh-CN" altLang="en-US" sz="1600" i="0" dirty="0">
              <a:solidFill>
                <a:srgbClr val="2D2D8A"/>
              </a:solidFill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画状态图时，根据输入序列来区分状态</a:t>
            </a: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304800" y="1809750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x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出现下列序列时：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1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1  0  1  0  1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  1  1  1   0  1  1  0</a:t>
            </a: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304800" y="2128837"/>
            <a:ext cx="48510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z</a:t>
            </a:r>
            <a:r>
              <a:rPr lang="zh-CN" altLang="en-US" sz="1600" i="0" dirty="0">
                <a:solidFill>
                  <a:srgbClr val="2D2D8A"/>
                </a:solidFill>
                <a:ea typeface="黑体" pitchFamily="49" charset="-122"/>
              </a:rPr>
              <a:t>将形成相应序列：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</a:t>
            </a:r>
            <a:r>
              <a:rPr lang="en-US" altLang="zh-CN" sz="1600" b="1" i="0" dirty="0">
                <a:solidFill>
                  <a:srgbClr val="FF0000"/>
                </a:solidFill>
                <a:ea typeface="黑体" pitchFamily="49" charset="-122"/>
              </a:rPr>
              <a:t>1  1  1  </a:t>
            </a:r>
            <a:r>
              <a:rPr lang="en-US" altLang="zh-CN" sz="1600" i="0" dirty="0">
                <a:solidFill>
                  <a:srgbClr val="2D2D8A"/>
                </a:solidFill>
                <a:ea typeface="黑体" pitchFamily="49" charset="-122"/>
              </a:rPr>
              <a:t>0  0  0   0  1  0  0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7" grpId="0" autoUpdateAnimBg="0"/>
      <p:bldP spid="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输入序列已知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画状态图时，根据输入序列来区分状态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2057400" y="1504950"/>
            <a:ext cx="611396" cy="380999"/>
            <a:chOff x="3698" y="1538"/>
            <a:chExt cx="544" cy="339"/>
          </a:xfrm>
        </p:grpSpPr>
        <p:sp>
          <p:nvSpPr>
            <p:cNvPr id="10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1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A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grpSp>
        <p:nvGrpSpPr>
          <p:cNvPr id="12" name="Group 30"/>
          <p:cNvGrpSpPr>
            <a:grpSpLocks/>
          </p:cNvGrpSpPr>
          <p:nvPr/>
        </p:nvGrpSpPr>
        <p:grpSpPr bwMode="auto">
          <a:xfrm>
            <a:off x="1562415" y="2198307"/>
            <a:ext cx="611396" cy="380999"/>
            <a:chOff x="3698" y="1538"/>
            <a:chExt cx="544" cy="339"/>
          </a:xfrm>
        </p:grpSpPr>
        <p:sp>
          <p:nvSpPr>
            <p:cNvPr id="14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B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sp>
        <p:nvSpPr>
          <p:cNvPr id="16" name="Line 46"/>
          <p:cNvSpPr>
            <a:spLocks noChangeShapeType="1"/>
          </p:cNvSpPr>
          <p:nvPr/>
        </p:nvSpPr>
        <p:spPr bwMode="auto">
          <a:xfrm flipH="1">
            <a:off x="1878466" y="1862649"/>
            <a:ext cx="255134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47"/>
          <p:cNvSpPr txBox="1">
            <a:spLocks noChangeArrowheads="1"/>
          </p:cNvSpPr>
          <p:nvPr/>
        </p:nvSpPr>
        <p:spPr bwMode="auto">
          <a:xfrm>
            <a:off x="1600200" y="1733550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grpSp>
        <p:nvGrpSpPr>
          <p:cNvPr id="18" name="Group 30"/>
          <p:cNvGrpSpPr>
            <a:grpSpLocks/>
          </p:cNvGrpSpPr>
          <p:nvPr/>
        </p:nvGrpSpPr>
        <p:grpSpPr bwMode="auto">
          <a:xfrm>
            <a:off x="1066800" y="2876550"/>
            <a:ext cx="611396" cy="380999"/>
            <a:chOff x="3698" y="1538"/>
            <a:chExt cx="544" cy="339"/>
          </a:xfrm>
        </p:grpSpPr>
        <p:sp>
          <p:nvSpPr>
            <p:cNvPr id="19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0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C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sp>
        <p:nvSpPr>
          <p:cNvPr id="21" name="Line 46"/>
          <p:cNvSpPr>
            <a:spLocks noChangeShapeType="1"/>
          </p:cNvSpPr>
          <p:nvPr/>
        </p:nvSpPr>
        <p:spPr bwMode="auto">
          <a:xfrm flipH="1">
            <a:off x="1382851" y="2540892"/>
            <a:ext cx="255134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2" name="Group 30"/>
          <p:cNvGrpSpPr>
            <a:grpSpLocks/>
          </p:cNvGrpSpPr>
          <p:nvPr/>
        </p:nvGrpSpPr>
        <p:grpSpPr bwMode="auto">
          <a:xfrm>
            <a:off x="609600" y="3562350"/>
            <a:ext cx="611396" cy="380999"/>
            <a:chOff x="3698" y="1538"/>
            <a:chExt cx="544" cy="339"/>
          </a:xfrm>
        </p:grpSpPr>
        <p:sp>
          <p:nvSpPr>
            <p:cNvPr id="23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400" b="1" i="0" baseline="-2000" dirty="0">
                  <a:latin typeface="Arial" pitchFamily="34" charset="0"/>
                </a:rPr>
                <a:t>D</a:t>
              </a:r>
            </a:p>
          </p:txBody>
        </p:sp>
      </p:grpSp>
      <p:sp>
        <p:nvSpPr>
          <p:cNvPr id="25" name="Line 46"/>
          <p:cNvSpPr>
            <a:spLocks noChangeShapeType="1"/>
          </p:cNvSpPr>
          <p:nvPr/>
        </p:nvSpPr>
        <p:spPr bwMode="auto">
          <a:xfrm flipH="1">
            <a:off x="925651" y="3226692"/>
            <a:ext cx="255134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47"/>
          <p:cNvSpPr txBox="1">
            <a:spLocks noChangeArrowheads="1"/>
          </p:cNvSpPr>
          <p:nvPr/>
        </p:nvSpPr>
        <p:spPr bwMode="auto">
          <a:xfrm>
            <a:off x="1066800" y="24955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0/0</a:t>
            </a:r>
          </a:p>
        </p:txBody>
      </p:sp>
      <p:sp>
        <p:nvSpPr>
          <p:cNvPr id="27" name="Text Box 47"/>
          <p:cNvSpPr txBox="1">
            <a:spLocks noChangeArrowheads="1"/>
          </p:cNvSpPr>
          <p:nvPr/>
        </p:nvSpPr>
        <p:spPr bwMode="auto">
          <a:xfrm>
            <a:off x="609600" y="31813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1/1</a:t>
            </a:r>
          </a:p>
        </p:txBody>
      </p:sp>
      <p:grpSp>
        <p:nvGrpSpPr>
          <p:cNvPr id="28" name="Group 30"/>
          <p:cNvGrpSpPr>
            <a:grpSpLocks/>
          </p:cNvGrpSpPr>
          <p:nvPr/>
        </p:nvGrpSpPr>
        <p:grpSpPr bwMode="auto">
          <a:xfrm>
            <a:off x="2482576" y="2175637"/>
            <a:ext cx="611396" cy="380999"/>
            <a:chOff x="3698" y="1538"/>
            <a:chExt cx="544" cy="339"/>
          </a:xfrm>
        </p:grpSpPr>
        <p:sp>
          <p:nvSpPr>
            <p:cNvPr id="29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E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sp>
        <p:nvSpPr>
          <p:cNvPr id="32" name="Text Box 47"/>
          <p:cNvSpPr txBox="1">
            <a:spLocks noChangeArrowheads="1"/>
          </p:cNvSpPr>
          <p:nvPr/>
        </p:nvSpPr>
        <p:spPr bwMode="auto">
          <a:xfrm>
            <a:off x="2743200" y="2419350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grpSp>
        <p:nvGrpSpPr>
          <p:cNvPr id="33" name="Group 30"/>
          <p:cNvGrpSpPr>
            <a:grpSpLocks/>
          </p:cNvGrpSpPr>
          <p:nvPr/>
        </p:nvGrpSpPr>
        <p:grpSpPr bwMode="auto">
          <a:xfrm>
            <a:off x="2849628" y="2838135"/>
            <a:ext cx="611396" cy="380999"/>
            <a:chOff x="3698" y="1538"/>
            <a:chExt cx="544" cy="339"/>
          </a:xfrm>
        </p:grpSpPr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F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362200" y="17335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0/0</a:t>
            </a:r>
          </a:p>
        </p:txBody>
      </p:sp>
      <p:sp>
        <p:nvSpPr>
          <p:cNvPr id="42" name="Text Box 47"/>
          <p:cNvSpPr txBox="1">
            <a:spLocks noChangeArrowheads="1"/>
          </p:cNvSpPr>
          <p:nvPr/>
        </p:nvSpPr>
        <p:spPr bwMode="auto">
          <a:xfrm>
            <a:off x="3200400" y="31051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0/1</a:t>
            </a:r>
          </a:p>
        </p:txBody>
      </p:sp>
      <p:grpSp>
        <p:nvGrpSpPr>
          <p:cNvPr id="49" name="Group 30"/>
          <p:cNvGrpSpPr>
            <a:grpSpLocks/>
          </p:cNvGrpSpPr>
          <p:nvPr/>
        </p:nvGrpSpPr>
        <p:grpSpPr bwMode="auto">
          <a:xfrm>
            <a:off x="3154428" y="3486150"/>
            <a:ext cx="611396" cy="380999"/>
            <a:chOff x="3698" y="1538"/>
            <a:chExt cx="544" cy="339"/>
          </a:xfrm>
        </p:grpSpPr>
        <p:sp>
          <p:nvSpPr>
            <p:cNvPr id="50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51" name="Text Box 32"/>
            <p:cNvSpPr txBox="1">
              <a:spLocks noChangeArrowheads="1"/>
            </p:cNvSpPr>
            <p:nvPr/>
          </p:nvSpPr>
          <p:spPr bwMode="auto">
            <a:xfrm>
              <a:off x="3721" y="1538"/>
              <a:ext cx="521" cy="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G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>
          <a:xfrm>
            <a:off x="2389552" y="1860381"/>
            <a:ext cx="186134" cy="360597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2765871" y="2549079"/>
            <a:ext cx="169035" cy="327471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3131757" y="3219135"/>
            <a:ext cx="152400" cy="295244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533400" y="1504950"/>
            <a:ext cx="713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X</a:t>
            </a:r>
            <a:r>
              <a:rPr lang="en-US" altLang="zh-CN" baseline="30000" dirty="0" err="1"/>
              <a:t>n</a:t>
            </a:r>
            <a:r>
              <a:rPr lang="en-US" altLang="zh-CN" dirty="0"/>
              <a:t>/Z</a:t>
            </a:r>
            <a:r>
              <a:rPr lang="en-US" altLang="zh-CN" baseline="30000" dirty="0"/>
              <a:t>n</a:t>
            </a:r>
            <a:endParaRPr lang="zh-CN" altLang="en-US" dirty="0"/>
          </a:p>
        </p:txBody>
      </p:sp>
      <p:sp>
        <p:nvSpPr>
          <p:cNvPr id="64" name="Arc 43"/>
          <p:cNvSpPr>
            <a:spLocks/>
          </p:cNvSpPr>
          <p:nvPr/>
        </p:nvSpPr>
        <p:spPr bwMode="auto">
          <a:xfrm rot="2967361">
            <a:off x="1383071" y="1985474"/>
            <a:ext cx="342350" cy="429749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47"/>
          <p:cNvSpPr txBox="1">
            <a:spLocks noChangeArrowheads="1"/>
          </p:cNvSpPr>
          <p:nvPr/>
        </p:nvSpPr>
        <p:spPr bwMode="auto">
          <a:xfrm>
            <a:off x="914400" y="1885950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cxnSp>
        <p:nvCxnSpPr>
          <p:cNvPr id="67" name="直接箭头连接符 66"/>
          <p:cNvCxnSpPr>
            <a:stCxn id="19" idx="6"/>
          </p:cNvCxnSpPr>
          <p:nvPr/>
        </p:nvCxnSpPr>
        <p:spPr>
          <a:xfrm flipV="1">
            <a:off x="1473648" y="2495550"/>
            <a:ext cx="1040952" cy="5715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Box 47"/>
          <p:cNvSpPr txBox="1">
            <a:spLocks noChangeArrowheads="1"/>
          </p:cNvSpPr>
          <p:nvPr/>
        </p:nvSpPr>
        <p:spPr bwMode="auto">
          <a:xfrm>
            <a:off x="1447800" y="29527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0/0</a:t>
            </a:r>
          </a:p>
        </p:txBody>
      </p:sp>
      <p:cxnSp>
        <p:nvCxnSpPr>
          <p:cNvPr id="75" name="直接箭头连接符 74"/>
          <p:cNvCxnSpPr>
            <a:endCxn id="50" idx="2"/>
          </p:cNvCxnSpPr>
          <p:nvPr/>
        </p:nvCxnSpPr>
        <p:spPr>
          <a:xfrm flipV="1">
            <a:off x="1021458" y="3676650"/>
            <a:ext cx="2132970" cy="14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1752600" y="33337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0/1</a:t>
            </a:r>
          </a:p>
        </p:txBody>
      </p:sp>
      <p:cxnSp>
        <p:nvCxnSpPr>
          <p:cNvPr id="83" name="直接箭头连接符 82"/>
          <p:cNvCxnSpPr/>
          <p:nvPr/>
        </p:nvCxnSpPr>
        <p:spPr>
          <a:xfrm flipH="1">
            <a:off x="990600" y="3790950"/>
            <a:ext cx="2132970" cy="14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Box 47"/>
          <p:cNvSpPr txBox="1">
            <a:spLocks noChangeArrowheads="1"/>
          </p:cNvSpPr>
          <p:nvPr/>
        </p:nvSpPr>
        <p:spPr bwMode="auto">
          <a:xfrm>
            <a:off x="1706628" y="3760092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1/1</a:t>
            </a:r>
          </a:p>
        </p:txBody>
      </p:sp>
      <p:cxnSp>
        <p:nvCxnSpPr>
          <p:cNvPr id="61" name="形状 60"/>
          <p:cNvCxnSpPr>
            <a:stCxn id="23" idx="2"/>
            <a:endCxn id="26" idx="0"/>
          </p:cNvCxnSpPr>
          <p:nvPr/>
        </p:nvCxnSpPr>
        <p:spPr>
          <a:xfrm rot="10800000" flipH="1">
            <a:off x="609599" y="2495550"/>
            <a:ext cx="923925" cy="1257300"/>
          </a:xfrm>
          <a:prstGeom prst="curvedConnector4">
            <a:avLst>
              <a:gd name="adj1" fmla="val 3067"/>
              <a:gd name="adj2" fmla="val 10015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 Box 47"/>
          <p:cNvSpPr txBox="1">
            <a:spLocks noChangeArrowheads="1"/>
          </p:cNvSpPr>
          <p:nvPr/>
        </p:nvSpPr>
        <p:spPr bwMode="auto">
          <a:xfrm>
            <a:off x="152400" y="25717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sp>
        <p:nvSpPr>
          <p:cNvPr id="94" name="Arc 43"/>
          <p:cNvSpPr>
            <a:spLocks/>
          </p:cNvSpPr>
          <p:nvPr/>
        </p:nvSpPr>
        <p:spPr bwMode="auto">
          <a:xfrm rot="8823341">
            <a:off x="2794687" y="2019271"/>
            <a:ext cx="291550" cy="275558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Text Box 47"/>
          <p:cNvSpPr txBox="1">
            <a:spLocks noChangeArrowheads="1"/>
          </p:cNvSpPr>
          <p:nvPr/>
        </p:nvSpPr>
        <p:spPr bwMode="auto">
          <a:xfrm>
            <a:off x="2971800" y="18097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0/0</a:t>
            </a:r>
          </a:p>
        </p:txBody>
      </p:sp>
      <p:cxnSp>
        <p:nvCxnSpPr>
          <p:cNvPr id="96" name="直接箭头连接符 95"/>
          <p:cNvCxnSpPr>
            <a:stCxn id="34" idx="2"/>
            <a:endCxn id="14" idx="5"/>
          </p:cNvCxnSpPr>
          <p:nvPr/>
        </p:nvCxnSpPr>
        <p:spPr>
          <a:xfrm flipH="1" flipV="1">
            <a:off x="1909681" y="2523510"/>
            <a:ext cx="939947" cy="5051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Box 47"/>
          <p:cNvSpPr txBox="1">
            <a:spLocks noChangeArrowheads="1"/>
          </p:cNvSpPr>
          <p:nvPr/>
        </p:nvSpPr>
        <p:spPr bwMode="auto">
          <a:xfrm>
            <a:off x="2209800" y="28765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sp>
        <p:nvSpPr>
          <p:cNvPr id="110" name="弧形 109"/>
          <p:cNvSpPr/>
          <p:nvPr/>
        </p:nvSpPr>
        <p:spPr>
          <a:xfrm>
            <a:off x="6172200" y="2952750"/>
            <a:ext cx="685800" cy="1295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形状 115"/>
          <p:cNvCxnSpPr/>
          <p:nvPr/>
        </p:nvCxnSpPr>
        <p:spPr>
          <a:xfrm flipH="1" flipV="1">
            <a:off x="2895600" y="2419351"/>
            <a:ext cx="665018" cy="1245806"/>
          </a:xfrm>
          <a:prstGeom prst="curvedConnector4">
            <a:avLst>
              <a:gd name="adj1" fmla="val -10511"/>
              <a:gd name="adj2" fmla="val 9761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 Box 47"/>
          <p:cNvSpPr txBox="1">
            <a:spLocks noChangeArrowheads="1"/>
          </p:cNvSpPr>
          <p:nvPr/>
        </p:nvSpPr>
        <p:spPr bwMode="auto">
          <a:xfrm>
            <a:off x="3581400" y="29527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95400" y="40957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图</a:t>
            </a:r>
            <a:r>
              <a:rPr lang="en-US" altLang="zh-CN" sz="1400" b="1" dirty="0">
                <a:solidFill>
                  <a:srgbClr val="2D2D8A"/>
                </a:solidFill>
              </a:rPr>
              <a:t>2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2</a:t>
            </a:r>
            <a:r>
              <a:rPr lang="zh-CN" altLang="en-US" sz="1400" b="1" dirty="0">
                <a:solidFill>
                  <a:srgbClr val="2D2D8A"/>
                </a:solidFill>
              </a:rPr>
              <a:t>的状态图</a:t>
            </a:r>
          </a:p>
        </p:txBody>
      </p:sp>
      <p:pic>
        <p:nvPicPr>
          <p:cNvPr id="122" name="Picture 4" descr="OUS[9O5$Q5}G~)D{9EAO{O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657350"/>
            <a:ext cx="2971800" cy="2591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" name="TextBox 122"/>
          <p:cNvSpPr txBox="1"/>
          <p:nvPr/>
        </p:nvSpPr>
        <p:spPr>
          <a:xfrm>
            <a:off x="5105400" y="13525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表</a:t>
            </a:r>
            <a:r>
              <a:rPr lang="en-US" altLang="zh-CN" sz="1400" b="1" dirty="0">
                <a:solidFill>
                  <a:srgbClr val="2D2D8A"/>
                </a:solidFill>
              </a:rPr>
              <a:t>2   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2</a:t>
            </a:r>
            <a:r>
              <a:rPr lang="zh-CN" altLang="en-US" sz="1400" b="1" dirty="0">
                <a:solidFill>
                  <a:srgbClr val="2D2D8A"/>
                </a:solidFill>
              </a:rPr>
              <a:t>的状态表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1" grpId="0" animBg="1"/>
      <p:bldP spid="25" grpId="0" animBg="1"/>
      <p:bldP spid="26" grpId="0"/>
      <p:bldP spid="27" grpId="0"/>
      <p:bldP spid="32" grpId="0"/>
      <p:bldP spid="41" grpId="0"/>
      <p:bldP spid="42" grpId="0"/>
      <p:bldP spid="63" grpId="0"/>
      <p:bldP spid="64" grpId="0" animBg="1"/>
      <p:bldP spid="65" grpId="0"/>
      <p:bldP spid="70" grpId="0"/>
      <p:bldP spid="81" grpId="0"/>
      <p:bldP spid="86" grpId="0"/>
      <p:bldP spid="93" grpId="0"/>
      <p:bldP spid="94" grpId="0" animBg="1"/>
      <p:bldP spid="95" grpId="0"/>
      <p:bldP spid="97" grpId="0"/>
      <p:bldP spid="120" grpId="0"/>
      <p:bldP spid="121" grpId="0"/>
      <p:bldP spid="1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输入序列未知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画状态图时，根据输入序列产生的结果来区分状态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57200" y="1504950"/>
            <a:ext cx="838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kumimoji="0" lang="en-US" altLang="zh-CN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：同步时序电路有一个输入端和一个输出端，输入为二进制序列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0</a:t>
            </a: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，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，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kumimoji="0" lang="en-US" altLang="zh-CN" sz="1600" i="0" dirty="0">
                <a:solidFill>
                  <a:srgbClr val="2D2D8A"/>
                </a:solidFill>
                <a:latin typeface="宋体" pitchFamily="2" charset="-122"/>
                <a:ea typeface="黑体" pitchFamily="49" charset="-122"/>
              </a:rPr>
              <a:t>…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当输入序列中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的数目为奇数时，输出为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。作出这个时序奇偶校验的状态表和状态图</a:t>
            </a:r>
            <a:r>
              <a:rPr kumimoji="0" lang="zh-CN" altLang="en-US" sz="1600" i="0" dirty="0">
                <a:solidFill>
                  <a:srgbClr val="2D2D8A"/>
                </a:solidFill>
                <a:latin typeface="宋体" pitchFamily="2" charset="-122"/>
              </a:rPr>
              <a:t>。</a:t>
            </a:r>
            <a:endParaRPr kumimoji="0" lang="zh-CN" altLang="en-US" sz="1600" i="0" dirty="0">
              <a:solidFill>
                <a:srgbClr val="2D2D8A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912551" y="1825626"/>
            <a:ext cx="761238" cy="761238"/>
            <a:chOff x="567" y="3113"/>
            <a:chExt cx="567" cy="567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567" y="3113"/>
              <a:ext cx="567" cy="56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35" y="3255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B/0</a:t>
              </a: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259649" y="1886712"/>
            <a:ext cx="721551" cy="721551"/>
            <a:chOff x="567" y="3113"/>
            <a:chExt cx="567" cy="567"/>
          </a:xfrm>
        </p:grpSpPr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567" y="3113"/>
              <a:ext cx="567" cy="56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635" y="3255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A/1</a:t>
              </a:r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1981200" y="1809750"/>
            <a:ext cx="1152525" cy="457200"/>
            <a:chOff x="1247" y="3290"/>
            <a:chExt cx="726" cy="288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247" y="3482"/>
              <a:ext cx="5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315" y="3290"/>
              <a:ext cx="6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X=1</a:t>
              </a:r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981200" y="2320925"/>
            <a:ext cx="1152525" cy="457200"/>
            <a:chOff x="1247" y="3612"/>
            <a:chExt cx="726" cy="288"/>
          </a:xfrm>
        </p:grpSpPr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1247" y="3633"/>
              <a:ext cx="5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315" y="3612"/>
              <a:ext cx="6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X=1</a:t>
              </a:r>
            </a:p>
          </p:txBody>
        </p: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3637277" y="1912177"/>
            <a:ext cx="1476375" cy="519112"/>
            <a:chOff x="2381" y="3345"/>
            <a:chExt cx="930" cy="327"/>
          </a:xfrm>
        </p:grpSpPr>
        <p:sp>
          <p:nvSpPr>
            <p:cNvPr id="17" name="Arc 15"/>
            <p:cNvSpPr>
              <a:spLocks/>
            </p:cNvSpPr>
            <p:nvPr/>
          </p:nvSpPr>
          <p:spPr bwMode="auto">
            <a:xfrm flipH="1">
              <a:off x="2381" y="3345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653" y="3368"/>
              <a:ext cx="6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X=0</a:t>
              </a:r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198437" y="2039112"/>
            <a:ext cx="1117600" cy="519113"/>
            <a:chOff x="-1" y="3368"/>
            <a:chExt cx="704" cy="327"/>
          </a:xfrm>
        </p:grpSpPr>
        <p:sp>
          <p:nvSpPr>
            <p:cNvPr id="20" name="Arc 18"/>
            <p:cNvSpPr>
              <a:spLocks/>
            </p:cNvSpPr>
            <p:nvPr/>
          </p:nvSpPr>
          <p:spPr bwMode="auto">
            <a:xfrm>
              <a:off x="412" y="3368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-1" y="3384"/>
              <a:ext cx="6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 X=0</a:t>
              </a:r>
            </a:p>
          </p:txBody>
        </p:sp>
      </p:grp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228600" y="590550"/>
            <a:ext cx="85264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kumimoji="0" lang="zh-CN" altLang="en-US" sz="16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根据接收到的数据是</a:t>
            </a:r>
            <a:r>
              <a:rPr kumimoji="0" lang="en-US" altLang="zh-CN" sz="1600" b="1" i="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6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还是</a:t>
            </a:r>
            <a:r>
              <a:rPr kumimoji="0" lang="en-US" altLang="zh-CN" sz="1600" b="1" i="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0</a:t>
            </a:r>
            <a:r>
              <a:rPr kumimoji="0" lang="zh-CN" altLang="en-US" sz="1600" b="1" i="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，</a:t>
            </a:r>
            <a:r>
              <a:rPr kumimoji="0" lang="en-US" altLang="zh-CN" sz="1600" b="1" i="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A/B</a:t>
            </a:r>
            <a:r>
              <a:rPr kumimoji="0" lang="zh-CN" altLang="en-US" sz="16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两个状态相互转换。</a:t>
            </a:r>
            <a:endParaRPr kumimoji="0" lang="en-US" altLang="zh-CN" sz="1600" b="1" i="0" dirty="0">
              <a:solidFill>
                <a:srgbClr val="3333CC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kumimoji="0" lang="zh-CN" altLang="en-US" sz="1600" b="1" i="0" dirty="0">
                <a:solidFill>
                  <a:srgbClr val="3333CC"/>
                </a:solidFill>
                <a:latin typeface="黑体" pitchFamily="49" charset="-122"/>
                <a:ea typeface="黑体" pitchFamily="49" charset="-122"/>
              </a:rPr>
              <a:t>由此作出状态图和状态表如下：</a:t>
            </a:r>
            <a:endParaRPr kumimoji="0" lang="zh-CN" altLang="en-US" sz="1600" i="0" dirty="0">
              <a:solidFill>
                <a:srgbClr val="3333CC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23" name="Group 21"/>
          <p:cNvGraphicFramePr>
            <a:graphicFrameLocks noGrp="1"/>
          </p:cNvGraphicFramePr>
          <p:nvPr/>
        </p:nvGraphicFramePr>
        <p:xfrm>
          <a:off x="5181600" y="1885950"/>
          <a:ext cx="3473450" cy="1572975"/>
        </p:xfrm>
        <a:graphic>
          <a:graphicData uri="http://schemas.openxmlformats.org/drawingml/2006/table">
            <a:tbl>
              <a:tblPr/>
              <a:tblGrid>
                <a:gridCol w="69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3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X=0       X=1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0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           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          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ine 35"/>
          <p:cNvSpPr>
            <a:spLocks noChangeShapeType="1"/>
          </p:cNvSpPr>
          <p:nvPr/>
        </p:nvSpPr>
        <p:spPr bwMode="auto">
          <a:xfrm>
            <a:off x="5880991" y="2246313"/>
            <a:ext cx="201205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36"/>
          <p:cNvSpPr txBox="1">
            <a:spLocks noChangeArrowheads="1"/>
          </p:cNvSpPr>
          <p:nvPr/>
        </p:nvSpPr>
        <p:spPr bwMode="auto">
          <a:xfrm>
            <a:off x="5241924" y="2038350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 dirty="0">
                <a:latin typeface="Arial" pitchFamily="34" charset="0"/>
              </a:rPr>
              <a:t>PS</a:t>
            </a:r>
          </a:p>
        </p:txBody>
      </p:sp>
      <p:sp>
        <p:nvSpPr>
          <p:cNvPr id="26" name="Text Box 37"/>
          <p:cNvSpPr txBox="1">
            <a:spLocks noChangeArrowheads="1"/>
          </p:cNvSpPr>
          <p:nvPr/>
        </p:nvSpPr>
        <p:spPr bwMode="auto">
          <a:xfrm>
            <a:off x="8077200" y="21145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 dirty="0">
                <a:latin typeface="Arial" pitchFamily="34" charset="0"/>
              </a:rPr>
              <a:t>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8765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图</a:t>
            </a:r>
            <a:r>
              <a:rPr lang="en-US" altLang="zh-CN" sz="1400" b="1" dirty="0">
                <a:solidFill>
                  <a:srgbClr val="2D2D8A"/>
                </a:solidFill>
              </a:rPr>
              <a:t>3   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3</a:t>
            </a:r>
            <a:r>
              <a:rPr lang="zh-CN" altLang="en-US" sz="1400" b="1" dirty="0">
                <a:solidFill>
                  <a:srgbClr val="2D2D8A"/>
                </a:solidFill>
              </a:rPr>
              <a:t>的状态图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8800" y="15811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表</a:t>
            </a:r>
            <a:r>
              <a:rPr lang="en-US" altLang="zh-CN" sz="1400" b="1" dirty="0">
                <a:solidFill>
                  <a:srgbClr val="2D2D8A"/>
                </a:solidFill>
              </a:rPr>
              <a:t>3   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3</a:t>
            </a:r>
            <a:r>
              <a:rPr lang="zh-CN" altLang="en-US" sz="1400" b="1" dirty="0">
                <a:solidFill>
                  <a:srgbClr val="2D2D8A"/>
                </a:solidFill>
              </a:rPr>
              <a:t>的状态表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28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7950</TotalTime>
  <Words>838</Words>
  <Application>Microsoft Office PowerPoint</Application>
  <PresentationFormat>全屏显示(16:9)</PresentationFormat>
  <Paragraphs>152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黑体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927</cp:revision>
  <cp:lastPrinted>2113-01-01T00:00:00Z</cp:lastPrinted>
  <dcterms:created xsi:type="dcterms:W3CDTF">2113-01-01T00:00:00Z</dcterms:created>
  <dcterms:modified xsi:type="dcterms:W3CDTF">2021-07-20T02:37:13Z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