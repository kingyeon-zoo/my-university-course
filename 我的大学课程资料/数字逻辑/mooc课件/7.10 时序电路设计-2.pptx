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505" r:id="rId3"/>
    <p:sldId id="494" r:id="rId4"/>
    <p:sldId id="495" r:id="rId5"/>
    <p:sldId id="497" r:id="rId6"/>
    <p:sldId id="499" r:id="rId7"/>
    <p:sldId id="486" r:id="rId8"/>
    <p:sldId id="501" r:id="rId9"/>
    <p:sldId id="502" r:id="rId10"/>
    <p:sldId id="490" r:id="rId11"/>
    <p:sldId id="503" r:id="rId12"/>
    <p:sldId id="492" r:id="rId13"/>
    <p:sldId id="493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98916" autoAdjust="0"/>
  </p:normalViewPr>
  <p:slideViewPr>
    <p:cSldViewPr>
      <p:cViewPr varScale="1">
        <p:scale>
          <a:sx n="100" d="100"/>
          <a:sy n="100" d="100"/>
        </p:scale>
        <p:origin x="78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时序电路设计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时序逻辑设计的步骤：</a:t>
            </a: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762"/>
          <p:cNvSpPr txBox="1">
            <a:spLocks noChangeArrowheads="1"/>
          </p:cNvSpPr>
          <p:nvPr/>
        </p:nvSpPr>
        <p:spPr bwMode="auto">
          <a:xfrm>
            <a:off x="685800" y="10477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1.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逻辑抽象，得出电路的状态转换图和状态转换表。</a:t>
            </a:r>
          </a:p>
        </p:txBody>
      </p:sp>
      <p:sp>
        <p:nvSpPr>
          <p:cNvPr id="14" name="Text Box 763"/>
          <p:cNvSpPr txBox="1">
            <a:spLocks noChangeArrowheads="1"/>
          </p:cNvSpPr>
          <p:nvPr/>
        </p:nvSpPr>
        <p:spPr bwMode="auto">
          <a:xfrm>
            <a:off x="685800" y="1504950"/>
            <a:ext cx="3298825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2.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状态化简。</a:t>
            </a:r>
          </a:p>
        </p:txBody>
      </p:sp>
      <p:sp>
        <p:nvSpPr>
          <p:cNvPr id="15" name="Text Box 764"/>
          <p:cNvSpPr txBox="1">
            <a:spLocks noChangeArrowheads="1"/>
          </p:cNvSpPr>
          <p:nvPr/>
        </p:nvSpPr>
        <p:spPr bwMode="auto">
          <a:xfrm>
            <a:off x="685800" y="1962150"/>
            <a:ext cx="5741988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3.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16" name="Text Box 765"/>
          <p:cNvSpPr txBox="1">
            <a:spLocks noChangeArrowheads="1"/>
          </p:cNvSpPr>
          <p:nvPr/>
        </p:nvSpPr>
        <p:spPr bwMode="auto">
          <a:xfrm>
            <a:off x="685800" y="2419350"/>
            <a:ext cx="8208962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4.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选定触发器类型，求出电路的驱动方程和输出方程。</a:t>
            </a:r>
          </a:p>
        </p:txBody>
      </p:sp>
      <p:sp>
        <p:nvSpPr>
          <p:cNvPr id="17" name="Text Box 766"/>
          <p:cNvSpPr txBox="1">
            <a:spLocks noChangeArrowheads="1"/>
          </p:cNvSpPr>
          <p:nvPr/>
        </p:nvSpPr>
        <p:spPr bwMode="auto">
          <a:xfrm>
            <a:off x="685800" y="2885242"/>
            <a:ext cx="63563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5.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sp>
        <p:nvSpPr>
          <p:cNvPr id="18" name="Text Box 767"/>
          <p:cNvSpPr txBox="1">
            <a:spLocks noChangeArrowheads="1"/>
          </p:cNvSpPr>
          <p:nvPr/>
        </p:nvSpPr>
        <p:spPr bwMode="auto">
          <a:xfrm>
            <a:off x="685800" y="3452396"/>
            <a:ext cx="6053137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6. 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检查设计的电路能否自启动。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utoUpdateAnimBg="0"/>
      <p:bldP spid="14" grpId="0" build="p" autoUpdateAnimBg="0"/>
      <p:bldP spid="15" grpId="0" build="p" autoUpdateAnimBg="0"/>
      <p:bldP spid="16" grpId="0" build="p" autoUpdateAnimBg="0"/>
      <p:bldP spid="17" grpId="0" build="p" autoUpdateAnimBg="0"/>
      <p:bldP spid="1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Text Box 5"/>
          <p:cNvSpPr txBox="1">
            <a:spLocks noChangeArrowheads="1"/>
          </p:cNvSpPr>
          <p:nvPr/>
        </p:nvSpPr>
        <p:spPr bwMode="auto">
          <a:xfrm>
            <a:off x="1371600" y="1504950"/>
            <a:ext cx="48958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b="1" i="0" dirty="0">
                <a:latin typeface="Arial" pitchFamily="34" charset="0"/>
                <a:ea typeface="黑体" pitchFamily="49" charset="-122"/>
              </a:rPr>
              <a:t>序号</a:t>
            </a:r>
            <a:r>
              <a:rPr kumimoji="0" lang="zh-CN" altLang="en-US" b="1" i="0" dirty="0">
                <a:latin typeface="Arial" pitchFamily="34" charset="0"/>
              </a:rPr>
              <a:t>       </a:t>
            </a:r>
            <a:r>
              <a:rPr kumimoji="0" lang="en-US" altLang="zh-CN" b="1" i="0" dirty="0">
                <a:latin typeface="Arial" pitchFamily="34" charset="0"/>
              </a:rPr>
              <a:t>1        2       3       4       5       6</a:t>
            </a:r>
          </a:p>
        </p:txBody>
      </p:sp>
      <p:sp>
        <p:nvSpPr>
          <p:cNvPr id="33" name="Text Box 7"/>
          <p:cNvSpPr txBox="1">
            <a:spLocks noChangeArrowheads="1"/>
          </p:cNvSpPr>
          <p:nvPr/>
        </p:nvSpPr>
        <p:spPr bwMode="auto">
          <a:xfrm>
            <a:off x="2917825" y="2076450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1</a:t>
            </a:r>
          </a:p>
        </p:txBody>
      </p:sp>
      <p:sp>
        <p:nvSpPr>
          <p:cNvPr id="34" name="Text Box 8"/>
          <p:cNvSpPr txBox="1">
            <a:spLocks noChangeArrowheads="1"/>
          </p:cNvSpPr>
          <p:nvPr/>
        </p:nvSpPr>
        <p:spPr bwMode="auto">
          <a:xfrm>
            <a:off x="3492500" y="2076450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1</a:t>
            </a:r>
          </a:p>
        </p:txBody>
      </p:sp>
      <p:sp>
        <p:nvSpPr>
          <p:cNvPr id="35" name="Text Box 9"/>
          <p:cNvSpPr txBox="1">
            <a:spLocks noChangeArrowheads="1"/>
          </p:cNvSpPr>
          <p:nvPr/>
        </p:nvSpPr>
        <p:spPr bwMode="auto">
          <a:xfrm>
            <a:off x="4067175" y="2076450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1</a:t>
            </a:r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4656138" y="2084387"/>
            <a:ext cx="576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37" name="Text Box 11"/>
          <p:cNvSpPr txBox="1">
            <a:spLocks noChangeArrowheads="1"/>
          </p:cNvSpPr>
          <p:nvPr/>
        </p:nvSpPr>
        <p:spPr bwMode="auto">
          <a:xfrm>
            <a:off x="5232400" y="2084387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38" name="Text Box 12"/>
          <p:cNvSpPr txBox="1">
            <a:spLocks noChangeArrowheads="1"/>
          </p:cNvSpPr>
          <p:nvPr/>
        </p:nvSpPr>
        <p:spPr bwMode="auto">
          <a:xfrm>
            <a:off x="990600" y="2647950"/>
            <a:ext cx="1308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b="1" i="0" dirty="0">
                <a:latin typeface="Arial" pitchFamily="34" charset="0"/>
                <a:ea typeface="黑体" pitchFamily="49" charset="-122"/>
              </a:rPr>
              <a:t>   输出</a:t>
            </a:r>
            <a:r>
              <a:rPr kumimoji="0" lang="en-US" altLang="zh-CN" b="1" i="0" dirty="0">
                <a:latin typeface="Arial" pitchFamily="34" charset="0"/>
              </a:rPr>
              <a:t>Z</a:t>
            </a:r>
          </a:p>
        </p:txBody>
      </p:sp>
      <p:sp>
        <p:nvSpPr>
          <p:cNvPr id="39" name="Text Box 13"/>
          <p:cNvSpPr txBox="1">
            <a:spLocks noChangeArrowheads="1"/>
          </p:cNvSpPr>
          <p:nvPr/>
        </p:nvSpPr>
        <p:spPr bwMode="auto">
          <a:xfrm>
            <a:off x="2306638" y="2084387"/>
            <a:ext cx="576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 dirty="0">
                <a:latin typeface="Arial" pitchFamily="34" charset="0"/>
              </a:rPr>
              <a:t>0</a:t>
            </a:r>
          </a:p>
        </p:txBody>
      </p:sp>
      <p:sp>
        <p:nvSpPr>
          <p:cNvPr id="40" name="Text Box 14"/>
          <p:cNvSpPr txBox="1">
            <a:spLocks noChangeArrowheads="1"/>
          </p:cNvSpPr>
          <p:nvPr/>
        </p:nvSpPr>
        <p:spPr bwMode="auto">
          <a:xfrm>
            <a:off x="2306638" y="2701925"/>
            <a:ext cx="576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2932113" y="2701925"/>
            <a:ext cx="576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42" name="Text Box 16"/>
          <p:cNvSpPr txBox="1">
            <a:spLocks noChangeArrowheads="1"/>
          </p:cNvSpPr>
          <p:nvPr/>
        </p:nvSpPr>
        <p:spPr bwMode="auto">
          <a:xfrm>
            <a:off x="3519488" y="2701925"/>
            <a:ext cx="5762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43" name="Text Box 17"/>
          <p:cNvSpPr txBox="1">
            <a:spLocks noChangeArrowheads="1"/>
          </p:cNvSpPr>
          <p:nvPr/>
        </p:nvSpPr>
        <p:spPr bwMode="auto">
          <a:xfrm>
            <a:off x="4095750" y="2701925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4670425" y="2701925"/>
            <a:ext cx="5762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 dirty="0">
                <a:solidFill>
                  <a:srgbClr val="FF0000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5232400" y="2701925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b="1" i="0">
                <a:latin typeface="Arial" pitchFamily="34" charset="0"/>
              </a:rPr>
              <a:t>0</a:t>
            </a:r>
          </a:p>
        </p:txBody>
      </p:sp>
      <p:sp>
        <p:nvSpPr>
          <p:cNvPr id="46" name="Text Box 6"/>
          <p:cNvSpPr txBox="1">
            <a:spLocks noChangeArrowheads="1"/>
          </p:cNvSpPr>
          <p:nvPr/>
        </p:nvSpPr>
        <p:spPr bwMode="auto">
          <a:xfrm>
            <a:off x="990600" y="2038350"/>
            <a:ext cx="13223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zh-CN" altLang="en-US" b="1" i="0" dirty="0">
                <a:latin typeface="Arial" pitchFamily="34" charset="0"/>
                <a:ea typeface="黑体" pitchFamily="49" charset="-122"/>
              </a:rPr>
              <a:t>    输入</a:t>
            </a:r>
            <a:r>
              <a:rPr kumimoji="0" lang="en-US" altLang="zh-CN" b="1" i="0" dirty="0">
                <a:latin typeface="Arial" pitchFamily="34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4191471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Box 762"/>
          <p:cNvSpPr txBox="1">
            <a:spLocks noChangeArrowheads="1"/>
          </p:cNvSpPr>
          <p:nvPr/>
        </p:nvSpPr>
        <p:spPr bwMode="auto">
          <a:xfrm>
            <a:off x="304800" y="13525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第一步：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得出电路的状态转换图和状态转换表。</a:t>
            </a:r>
          </a:p>
        </p:txBody>
      </p: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1908175" y="2475159"/>
            <a:ext cx="863600" cy="538163"/>
            <a:chOff x="3698" y="1538"/>
            <a:chExt cx="544" cy="339"/>
          </a:xfrm>
        </p:grpSpPr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11" name="组合 6"/>
          <p:cNvGrpSpPr>
            <a:grpSpLocks/>
          </p:cNvGrpSpPr>
          <p:nvPr/>
        </p:nvGrpSpPr>
        <p:grpSpPr bwMode="auto">
          <a:xfrm>
            <a:off x="3341688" y="2475159"/>
            <a:ext cx="869950" cy="538163"/>
            <a:chOff x="7307263" y="2627313"/>
            <a:chExt cx="869951" cy="538162"/>
          </a:xfrm>
        </p:grpSpPr>
        <p:sp>
          <p:nvSpPr>
            <p:cNvPr id="12" name="Text Box 32"/>
            <p:cNvSpPr txBox="1">
              <a:spLocks noChangeArrowheads="1"/>
            </p:cNvSpPr>
            <p:nvPr/>
          </p:nvSpPr>
          <p:spPr bwMode="auto">
            <a:xfrm>
              <a:off x="7350126" y="2665413"/>
              <a:ext cx="8270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1</a:t>
              </a:r>
            </a:p>
          </p:txBody>
        </p:sp>
        <p:grpSp>
          <p:nvGrpSpPr>
            <p:cNvPr id="13" name="Group 30"/>
            <p:cNvGrpSpPr>
              <a:grpSpLocks/>
            </p:cNvGrpSpPr>
            <p:nvPr/>
          </p:nvGrpSpPr>
          <p:grpSpPr bwMode="auto">
            <a:xfrm>
              <a:off x="7307263" y="2627313"/>
              <a:ext cx="869950" cy="538162"/>
              <a:chOff x="3698" y="1538"/>
              <a:chExt cx="548" cy="339"/>
            </a:xfrm>
          </p:grpSpPr>
          <p:sp>
            <p:nvSpPr>
              <p:cNvPr id="15" name="Oval 31"/>
              <p:cNvSpPr>
                <a:spLocks noChangeArrowheads="1"/>
              </p:cNvSpPr>
              <p:nvPr/>
            </p:nvSpPr>
            <p:spPr bwMode="auto">
              <a:xfrm>
                <a:off x="3698" y="1538"/>
                <a:ext cx="362" cy="33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6" name="Text Box 32"/>
              <p:cNvSpPr txBox="1">
                <a:spLocks noChangeArrowheads="1"/>
              </p:cNvSpPr>
              <p:nvPr/>
            </p:nvSpPr>
            <p:spPr bwMode="auto">
              <a:xfrm>
                <a:off x="3725" y="1562"/>
                <a:ext cx="52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>
                    <a:latin typeface="Arial" pitchFamily="34" charset="0"/>
                  </a:rPr>
                  <a:t>S</a:t>
                </a:r>
                <a:r>
                  <a:rPr kumimoji="0" lang="en-US" altLang="zh-CN" b="1" i="0" baseline="-2000">
                    <a:latin typeface="Arial" pitchFamily="34" charset="0"/>
                  </a:rPr>
                  <a:t>1</a:t>
                </a:r>
              </a:p>
            </p:txBody>
          </p:sp>
        </p:grpSp>
      </p:grpSp>
      <p:grpSp>
        <p:nvGrpSpPr>
          <p:cNvPr id="17" name="Group 45"/>
          <p:cNvGrpSpPr>
            <a:grpSpLocks/>
          </p:cNvGrpSpPr>
          <p:nvPr/>
        </p:nvGrpSpPr>
        <p:grpSpPr bwMode="auto">
          <a:xfrm>
            <a:off x="2484438" y="2403722"/>
            <a:ext cx="1047750" cy="457200"/>
            <a:chOff x="4051" y="1394"/>
            <a:chExt cx="660" cy="288"/>
          </a:xfrm>
        </p:grpSpPr>
        <p:sp>
          <p:nvSpPr>
            <p:cNvPr id="18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20" name="Group 30"/>
          <p:cNvGrpSpPr>
            <a:grpSpLocks/>
          </p:cNvGrpSpPr>
          <p:nvPr/>
        </p:nvGrpSpPr>
        <p:grpSpPr bwMode="auto">
          <a:xfrm>
            <a:off x="4787900" y="2475159"/>
            <a:ext cx="863600" cy="538163"/>
            <a:chOff x="3698" y="1538"/>
            <a:chExt cx="544" cy="339"/>
          </a:xfrm>
        </p:grpSpPr>
        <p:sp>
          <p:nvSpPr>
            <p:cNvPr id="21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2</a:t>
              </a:r>
            </a:p>
          </p:txBody>
        </p:sp>
      </p:grpSp>
      <p:grpSp>
        <p:nvGrpSpPr>
          <p:cNvPr id="23" name="Group 45"/>
          <p:cNvGrpSpPr>
            <a:grpSpLocks/>
          </p:cNvGrpSpPr>
          <p:nvPr/>
        </p:nvGrpSpPr>
        <p:grpSpPr bwMode="auto">
          <a:xfrm>
            <a:off x="3929063" y="2403722"/>
            <a:ext cx="1047750" cy="457200"/>
            <a:chOff x="4051" y="1394"/>
            <a:chExt cx="660" cy="288"/>
          </a:xfrm>
        </p:grpSpPr>
        <p:sp>
          <p:nvSpPr>
            <p:cNvPr id="24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26" name="Group 30"/>
          <p:cNvGrpSpPr>
            <a:grpSpLocks/>
          </p:cNvGrpSpPr>
          <p:nvPr/>
        </p:nvGrpSpPr>
        <p:grpSpPr bwMode="auto">
          <a:xfrm>
            <a:off x="6227763" y="2475159"/>
            <a:ext cx="846137" cy="538163"/>
            <a:chOff x="3698" y="1538"/>
            <a:chExt cx="533" cy="339"/>
          </a:xfrm>
        </p:grpSpPr>
        <p:sp>
          <p:nvSpPr>
            <p:cNvPr id="27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8" name="Text Box 32"/>
            <p:cNvSpPr txBox="1">
              <a:spLocks noChangeArrowheads="1"/>
            </p:cNvSpPr>
            <p:nvPr/>
          </p:nvSpPr>
          <p:spPr bwMode="auto">
            <a:xfrm>
              <a:off x="3710" y="1573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3</a:t>
              </a:r>
            </a:p>
          </p:txBody>
        </p:sp>
      </p:grpSp>
      <p:grpSp>
        <p:nvGrpSpPr>
          <p:cNvPr id="29" name="Group 45"/>
          <p:cNvGrpSpPr>
            <a:grpSpLocks/>
          </p:cNvGrpSpPr>
          <p:nvPr/>
        </p:nvGrpSpPr>
        <p:grpSpPr bwMode="auto">
          <a:xfrm>
            <a:off x="5370513" y="2403722"/>
            <a:ext cx="1047750" cy="457200"/>
            <a:chOff x="4051" y="1394"/>
            <a:chExt cx="660" cy="288"/>
          </a:xfrm>
        </p:grpSpPr>
        <p:sp>
          <p:nvSpPr>
            <p:cNvPr id="30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0/1</a:t>
              </a:r>
            </a:p>
          </p:txBody>
        </p:sp>
      </p:grpSp>
      <p:grpSp>
        <p:nvGrpSpPr>
          <p:cNvPr id="33" name="组合 33"/>
          <p:cNvGrpSpPr>
            <a:grpSpLocks/>
          </p:cNvGrpSpPr>
          <p:nvPr/>
        </p:nvGrpSpPr>
        <p:grpSpPr bwMode="auto">
          <a:xfrm>
            <a:off x="1219200" y="2043359"/>
            <a:ext cx="922338" cy="581025"/>
            <a:chOff x="1219612" y="1196752"/>
            <a:chExt cx="921249" cy="581169"/>
          </a:xfrm>
        </p:grpSpPr>
        <p:sp>
          <p:nvSpPr>
            <p:cNvPr id="34" name="Arc 43"/>
            <p:cNvSpPr>
              <a:spLocks/>
            </p:cNvSpPr>
            <p:nvPr/>
          </p:nvSpPr>
          <p:spPr bwMode="auto">
            <a:xfrm rot="2967361">
              <a:off x="1650323" y="1287383"/>
              <a:ext cx="461963" cy="519113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44"/>
            <p:cNvSpPr txBox="1">
              <a:spLocks noChangeArrowheads="1"/>
            </p:cNvSpPr>
            <p:nvPr/>
          </p:nvSpPr>
          <p:spPr bwMode="auto">
            <a:xfrm>
              <a:off x="1219612" y="1196752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36" name="组合 77"/>
          <p:cNvGrpSpPr>
            <a:grpSpLocks/>
          </p:cNvGrpSpPr>
          <p:nvPr/>
        </p:nvGrpSpPr>
        <p:grpSpPr bwMode="auto">
          <a:xfrm>
            <a:off x="2358232" y="2896071"/>
            <a:ext cx="1270793" cy="457200"/>
            <a:chOff x="2357463" y="2049389"/>
            <a:chExt cx="1271885" cy="457200"/>
          </a:xfrm>
        </p:grpSpPr>
        <p:cxnSp>
          <p:nvCxnSpPr>
            <p:cNvPr id="37" name="肘形连接符 43"/>
            <p:cNvCxnSpPr>
              <a:cxnSpLocks noChangeShapeType="1"/>
              <a:stCxn id="15" idx="4"/>
              <a:endCxn id="10" idx="2"/>
            </p:cNvCxnSpPr>
            <p:nvPr/>
          </p:nvCxnSpPr>
          <p:spPr bwMode="auto">
            <a:xfrm rot="5400000" flipH="1">
              <a:off x="2976737" y="1506472"/>
              <a:ext cx="33338" cy="1271885"/>
            </a:xfrm>
            <a:prstGeom prst="bentConnector3">
              <a:avLst>
                <a:gd name="adj1" fmla="val -685704"/>
              </a:avLst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  <p:sp>
          <p:nvSpPr>
            <p:cNvPr id="38" name="Text Box 44"/>
            <p:cNvSpPr txBox="1">
              <a:spLocks noChangeArrowheads="1"/>
            </p:cNvSpPr>
            <p:nvPr/>
          </p:nvSpPr>
          <p:spPr bwMode="auto">
            <a:xfrm>
              <a:off x="2555776" y="2049389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39" name="组合 75"/>
          <p:cNvGrpSpPr>
            <a:grpSpLocks/>
          </p:cNvGrpSpPr>
          <p:nvPr/>
        </p:nvGrpSpPr>
        <p:grpSpPr bwMode="auto">
          <a:xfrm>
            <a:off x="3563938" y="2114812"/>
            <a:ext cx="2952750" cy="372071"/>
            <a:chOff x="3563888" y="1268760"/>
            <a:chExt cx="2952328" cy="371732"/>
          </a:xfrm>
        </p:grpSpPr>
        <p:cxnSp>
          <p:nvCxnSpPr>
            <p:cNvPr id="40" name="直接连接符 70"/>
            <p:cNvCxnSpPr>
              <a:cxnSpLocks noChangeShapeType="1"/>
            </p:cNvCxnSpPr>
            <p:nvPr/>
          </p:nvCxnSpPr>
          <p:spPr bwMode="auto">
            <a:xfrm flipV="1">
              <a:off x="6506757" y="1280451"/>
              <a:ext cx="694" cy="360041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1" name="直接连接符 72"/>
            <p:cNvCxnSpPr>
              <a:cxnSpLocks noChangeShapeType="1"/>
            </p:cNvCxnSpPr>
            <p:nvPr/>
          </p:nvCxnSpPr>
          <p:spPr bwMode="auto">
            <a:xfrm flipH="1">
              <a:off x="3563888" y="1268760"/>
              <a:ext cx="2952328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2" name="直接箭头连接符 74"/>
            <p:cNvCxnSpPr>
              <a:cxnSpLocks noChangeShapeType="1"/>
            </p:cNvCxnSpPr>
            <p:nvPr/>
          </p:nvCxnSpPr>
          <p:spPr bwMode="auto">
            <a:xfrm>
              <a:off x="3563888" y="1268760"/>
              <a:ext cx="0" cy="36004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4419600" y="1742997"/>
            <a:ext cx="9334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1/0</a:t>
            </a:r>
          </a:p>
        </p:txBody>
      </p:sp>
      <p:sp>
        <p:nvSpPr>
          <p:cNvPr id="44" name="Arc 43"/>
          <p:cNvSpPr>
            <a:spLocks/>
          </p:cNvSpPr>
          <p:nvPr/>
        </p:nvSpPr>
        <p:spPr bwMode="auto">
          <a:xfrm rot="17935624">
            <a:off x="4679157" y="2899815"/>
            <a:ext cx="476250" cy="557213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4494213" y="3364159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>
                <a:latin typeface="Arial" pitchFamily="34" charset="0"/>
              </a:rPr>
              <a:t>1/0</a:t>
            </a:r>
          </a:p>
        </p:txBody>
      </p:sp>
      <p:grpSp>
        <p:nvGrpSpPr>
          <p:cNvPr id="46" name="组合 99"/>
          <p:cNvGrpSpPr>
            <a:grpSpLocks/>
          </p:cNvGrpSpPr>
          <p:nvPr/>
        </p:nvGrpSpPr>
        <p:grpSpPr bwMode="auto">
          <a:xfrm>
            <a:off x="2124075" y="2980018"/>
            <a:ext cx="4392613" cy="1008077"/>
            <a:chOff x="2123728" y="2132856"/>
            <a:chExt cx="4392488" cy="1008112"/>
          </a:xfrm>
        </p:grpSpPr>
        <p:cxnSp>
          <p:nvCxnSpPr>
            <p:cNvPr id="47" name="直接连接符 85"/>
            <p:cNvCxnSpPr>
              <a:cxnSpLocks noChangeShapeType="1"/>
            </p:cNvCxnSpPr>
            <p:nvPr/>
          </p:nvCxnSpPr>
          <p:spPr bwMode="auto">
            <a:xfrm>
              <a:off x="6506756" y="2155338"/>
              <a:ext cx="694" cy="974008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8" name="直接连接符 89"/>
            <p:cNvCxnSpPr>
              <a:cxnSpLocks noChangeShapeType="1"/>
            </p:cNvCxnSpPr>
            <p:nvPr/>
          </p:nvCxnSpPr>
          <p:spPr bwMode="auto">
            <a:xfrm flipH="1">
              <a:off x="2123728" y="3140968"/>
              <a:ext cx="4392488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9" name="直接箭头连接符 97"/>
            <p:cNvCxnSpPr>
              <a:cxnSpLocks noChangeShapeType="1"/>
            </p:cNvCxnSpPr>
            <p:nvPr/>
          </p:nvCxnSpPr>
          <p:spPr bwMode="auto">
            <a:xfrm flipV="1">
              <a:off x="2123728" y="2132856"/>
              <a:ext cx="0" cy="100811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</p:grpSp>
      <p:sp>
        <p:nvSpPr>
          <p:cNvPr id="50" name="Text Box 44"/>
          <p:cNvSpPr txBox="1">
            <a:spLocks noChangeArrowheads="1"/>
          </p:cNvSpPr>
          <p:nvPr/>
        </p:nvSpPr>
        <p:spPr bwMode="auto">
          <a:xfrm>
            <a:off x="2916238" y="3554659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>
                <a:latin typeface="Arial" pitchFamily="34" charset="0"/>
              </a:rPr>
              <a:t>0/0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3" grpId="0"/>
      <p:bldP spid="44" grpId="0" animBg="1"/>
      <p:bldP spid="45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Text Box 762"/>
          <p:cNvSpPr txBox="1">
            <a:spLocks noChangeArrowheads="1"/>
          </p:cNvSpPr>
          <p:nvPr/>
        </p:nvSpPr>
        <p:spPr bwMode="auto">
          <a:xfrm>
            <a:off x="304800" y="13525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第一步：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得出电路的状态转换图和状态转换表。</a:t>
            </a:r>
          </a:p>
        </p:txBody>
      </p:sp>
      <p:graphicFrame>
        <p:nvGraphicFramePr>
          <p:cNvPr id="51" name="Group 2"/>
          <p:cNvGraphicFramePr>
            <a:graphicFrameLocks noGrp="1"/>
          </p:cNvGraphicFramePr>
          <p:nvPr/>
        </p:nvGraphicFramePr>
        <p:xfrm>
          <a:off x="4567584" y="2197677"/>
          <a:ext cx="3668713" cy="225298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4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Text Box 16"/>
          <p:cNvSpPr txBox="1">
            <a:spLocks noChangeArrowheads="1"/>
          </p:cNvSpPr>
          <p:nvPr/>
        </p:nvSpPr>
        <p:spPr bwMode="auto">
          <a:xfrm>
            <a:off x="4534246" y="2510415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 err="1">
                <a:latin typeface="Arial" pitchFamily="34" charset="0"/>
              </a:rPr>
              <a:t>S</a:t>
            </a:r>
            <a:r>
              <a:rPr kumimoji="0" lang="en-US" altLang="zh-CN" sz="2000" b="1" i="0" baseline="30000" dirty="0" err="1">
                <a:latin typeface="Arial" pitchFamily="34" charset="0"/>
              </a:rPr>
              <a:t>n</a:t>
            </a:r>
            <a:endParaRPr kumimoji="0" lang="en-US" altLang="zh-CN" sz="2000" b="1" i="0" baseline="30000" dirty="0">
              <a:latin typeface="Arial" pitchFamily="34" charset="0"/>
            </a:endParaRPr>
          </a:p>
        </p:txBody>
      </p:sp>
      <p:sp>
        <p:nvSpPr>
          <p:cNvPr id="53" name="Text Box 17"/>
          <p:cNvSpPr txBox="1">
            <a:spLocks noChangeArrowheads="1"/>
          </p:cNvSpPr>
          <p:nvPr/>
        </p:nvSpPr>
        <p:spPr bwMode="auto">
          <a:xfrm>
            <a:off x="4719984" y="2197677"/>
            <a:ext cx="99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latin typeface="Arial" pitchFamily="34" charset="0"/>
              </a:rPr>
              <a:t>S</a:t>
            </a:r>
            <a:r>
              <a:rPr kumimoji="0" lang="en-US" altLang="zh-CN" sz="2000" b="1" i="0" baseline="30000" dirty="0">
                <a:latin typeface="Arial" pitchFamily="34" charset="0"/>
              </a:rPr>
              <a:t>n+1</a:t>
            </a:r>
            <a:r>
              <a:rPr kumimoji="0" lang="en-US" altLang="zh-CN" sz="2000" b="1" i="0" dirty="0">
                <a:latin typeface="Arial" pitchFamily="34" charset="0"/>
              </a:rPr>
              <a:t>/Z</a:t>
            </a:r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5585171" y="2210377"/>
            <a:ext cx="547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>
                <a:latin typeface="Arial" pitchFamily="34" charset="0"/>
              </a:rPr>
              <a:t>X </a:t>
            </a:r>
          </a:p>
        </p:txBody>
      </p:sp>
      <p:sp>
        <p:nvSpPr>
          <p:cNvPr id="55" name="Line 19"/>
          <p:cNvSpPr>
            <a:spLocks noChangeShapeType="1"/>
          </p:cNvSpPr>
          <p:nvPr/>
        </p:nvSpPr>
        <p:spPr bwMode="auto">
          <a:xfrm flipH="1" flipV="1">
            <a:off x="4567584" y="2426277"/>
            <a:ext cx="1368425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Line 20"/>
          <p:cNvSpPr>
            <a:spLocks noChangeShapeType="1"/>
          </p:cNvSpPr>
          <p:nvPr/>
        </p:nvSpPr>
        <p:spPr bwMode="auto">
          <a:xfrm flipH="1" flipV="1">
            <a:off x="5478809" y="2213552"/>
            <a:ext cx="457200" cy="698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5334000" y="18859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的状态表</a:t>
            </a:r>
          </a:p>
        </p:txBody>
      </p:sp>
      <p:pic>
        <p:nvPicPr>
          <p:cNvPr id="58" name="Picture 1" descr="C:\Users\hfutliujun\AppData\Roaming\Tencent\Users\350654676\QQ\WinTemp\RichOle\9{3R5OE2~)F9U9E)9$YP~16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114550"/>
            <a:ext cx="4110789" cy="1981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0195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的最简状态图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917575" y="2475159"/>
            <a:ext cx="863600" cy="538163"/>
            <a:chOff x="3698" y="1538"/>
            <a:chExt cx="544" cy="339"/>
          </a:xfrm>
        </p:grpSpPr>
        <p:sp>
          <p:nvSpPr>
            <p:cNvPr id="9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0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0</a:t>
              </a:r>
            </a:p>
          </p:txBody>
        </p:sp>
      </p:grpSp>
      <p:grpSp>
        <p:nvGrpSpPr>
          <p:cNvPr id="3" name="组合 6"/>
          <p:cNvGrpSpPr>
            <a:grpSpLocks/>
          </p:cNvGrpSpPr>
          <p:nvPr/>
        </p:nvGrpSpPr>
        <p:grpSpPr bwMode="auto">
          <a:xfrm>
            <a:off x="2351088" y="2475159"/>
            <a:ext cx="869950" cy="538163"/>
            <a:chOff x="7307263" y="2627313"/>
            <a:chExt cx="869951" cy="538162"/>
          </a:xfrm>
        </p:grpSpPr>
        <p:sp>
          <p:nvSpPr>
            <p:cNvPr id="12" name="Text Box 32"/>
            <p:cNvSpPr txBox="1">
              <a:spLocks noChangeArrowheads="1"/>
            </p:cNvSpPr>
            <p:nvPr/>
          </p:nvSpPr>
          <p:spPr bwMode="auto">
            <a:xfrm>
              <a:off x="7350126" y="2665413"/>
              <a:ext cx="8270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1</a:t>
              </a:r>
            </a:p>
          </p:txBody>
        </p:sp>
        <p:grpSp>
          <p:nvGrpSpPr>
            <p:cNvPr id="4" name="Group 30"/>
            <p:cNvGrpSpPr>
              <a:grpSpLocks/>
            </p:cNvGrpSpPr>
            <p:nvPr/>
          </p:nvGrpSpPr>
          <p:grpSpPr bwMode="auto">
            <a:xfrm>
              <a:off x="7307263" y="2627313"/>
              <a:ext cx="869950" cy="538162"/>
              <a:chOff x="3698" y="1538"/>
              <a:chExt cx="548" cy="339"/>
            </a:xfrm>
          </p:grpSpPr>
          <p:sp>
            <p:nvSpPr>
              <p:cNvPr id="15" name="Oval 31"/>
              <p:cNvSpPr>
                <a:spLocks noChangeArrowheads="1"/>
              </p:cNvSpPr>
              <p:nvPr/>
            </p:nvSpPr>
            <p:spPr bwMode="auto">
              <a:xfrm>
                <a:off x="3698" y="1538"/>
                <a:ext cx="362" cy="33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16" name="Text Box 32"/>
              <p:cNvSpPr txBox="1">
                <a:spLocks noChangeArrowheads="1"/>
              </p:cNvSpPr>
              <p:nvPr/>
            </p:nvSpPr>
            <p:spPr bwMode="auto">
              <a:xfrm>
                <a:off x="3725" y="1562"/>
                <a:ext cx="52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b="1" i="0">
                    <a:latin typeface="Arial" pitchFamily="34" charset="0"/>
                  </a:rPr>
                  <a:t>S</a:t>
                </a:r>
                <a:r>
                  <a:rPr kumimoji="0" lang="en-US" altLang="zh-CN" b="1" i="0" baseline="-2000">
                    <a:latin typeface="Arial" pitchFamily="34" charset="0"/>
                  </a:rPr>
                  <a:t>1</a:t>
                </a:r>
              </a:p>
            </p:txBody>
          </p:sp>
        </p:grp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1493838" y="2403722"/>
            <a:ext cx="1047750" cy="457200"/>
            <a:chOff x="4051" y="1394"/>
            <a:chExt cx="660" cy="288"/>
          </a:xfrm>
        </p:grpSpPr>
        <p:sp>
          <p:nvSpPr>
            <p:cNvPr id="18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3797300" y="2475159"/>
            <a:ext cx="863600" cy="538163"/>
            <a:chOff x="3698" y="1538"/>
            <a:chExt cx="544" cy="339"/>
          </a:xfrm>
        </p:grpSpPr>
        <p:sp>
          <p:nvSpPr>
            <p:cNvPr id="21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>
                  <a:latin typeface="Arial" pitchFamily="34" charset="0"/>
                </a:rPr>
                <a:t>S</a:t>
              </a:r>
              <a:r>
                <a:rPr kumimoji="0" lang="en-US" altLang="zh-CN" b="1" i="0" baseline="-2000">
                  <a:latin typeface="Arial" pitchFamily="34" charset="0"/>
                </a:rPr>
                <a:t>2</a:t>
              </a:r>
            </a:p>
          </p:txBody>
        </p:sp>
      </p:grpSp>
      <p:grpSp>
        <p:nvGrpSpPr>
          <p:cNvPr id="8" name="Group 45"/>
          <p:cNvGrpSpPr>
            <a:grpSpLocks/>
          </p:cNvGrpSpPr>
          <p:nvPr/>
        </p:nvGrpSpPr>
        <p:grpSpPr bwMode="auto">
          <a:xfrm>
            <a:off x="2938463" y="2403722"/>
            <a:ext cx="1047750" cy="457200"/>
            <a:chOff x="4051" y="1394"/>
            <a:chExt cx="660" cy="288"/>
          </a:xfrm>
        </p:grpSpPr>
        <p:sp>
          <p:nvSpPr>
            <p:cNvPr id="24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17" name="组合 33"/>
          <p:cNvGrpSpPr>
            <a:grpSpLocks/>
          </p:cNvGrpSpPr>
          <p:nvPr/>
        </p:nvGrpSpPr>
        <p:grpSpPr bwMode="auto">
          <a:xfrm>
            <a:off x="228600" y="2043359"/>
            <a:ext cx="922338" cy="581025"/>
            <a:chOff x="1219612" y="1196752"/>
            <a:chExt cx="921249" cy="581169"/>
          </a:xfrm>
        </p:grpSpPr>
        <p:sp>
          <p:nvSpPr>
            <p:cNvPr id="34" name="Arc 43"/>
            <p:cNvSpPr>
              <a:spLocks/>
            </p:cNvSpPr>
            <p:nvPr/>
          </p:nvSpPr>
          <p:spPr bwMode="auto">
            <a:xfrm rot="2967361">
              <a:off x="1650323" y="1287383"/>
              <a:ext cx="461963" cy="519113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Text Box 44"/>
            <p:cNvSpPr txBox="1">
              <a:spLocks noChangeArrowheads="1"/>
            </p:cNvSpPr>
            <p:nvPr/>
          </p:nvSpPr>
          <p:spPr bwMode="auto">
            <a:xfrm>
              <a:off x="1219612" y="1196752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20" name="组合 77"/>
          <p:cNvGrpSpPr>
            <a:grpSpLocks/>
          </p:cNvGrpSpPr>
          <p:nvPr/>
        </p:nvGrpSpPr>
        <p:grpSpPr bwMode="auto">
          <a:xfrm>
            <a:off x="1291431" y="2896071"/>
            <a:ext cx="1270793" cy="457200"/>
            <a:chOff x="2281197" y="2049389"/>
            <a:chExt cx="1271885" cy="457200"/>
          </a:xfrm>
        </p:grpSpPr>
        <p:cxnSp>
          <p:nvCxnSpPr>
            <p:cNvPr id="37" name="肘形连接符 43"/>
            <p:cNvCxnSpPr>
              <a:cxnSpLocks noChangeShapeType="1"/>
              <a:stCxn id="15" idx="4"/>
              <a:endCxn id="10" idx="2"/>
            </p:cNvCxnSpPr>
            <p:nvPr/>
          </p:nvCxnSpPr>
          <p:spPr bwMode="auto">
            <a:xfrm rot="5400000" flipH="1">
              <a:off x="2900471" y="1514029"/>
              <a:ext cx="33338" cy="1271885"/>
            </a:xfrm>
            <a:prstGeom prst="bentConnector3">
              <a:avLst>
                <a:gd name="adj1" fmla="val -685704"/>
              </a:avLst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  <p:sp>
          <p:nvSpPr>
            <p:cNvPr id="38" name="Text Box 44"/>
            <p:cNvSpPr txBox="1">
              <a:spLocks noChangeArrowheads="1"/>
            </p:cNvSpPr>
            <p:nvPr/>
          </p:nvSpPr>
          <p:spPr bwMode="auto">
            <a:xfrm>
              <a:off x="2555776" y="2049389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23" name="组合 75"/>
          <p:cNvGrpSpPr>
            <a:grpSpLocks/>
          </p:cNvGrpSpPr>
          <p:nvPr/>
        </p:nvGrpSpPr>
        <p:grpSpPr bwMode="auto">
          <a:xfrm>
            <a:off x="1295400" y="2114812"/>
            <a:ext cx="2819400" cy="372071"/>
            <a:chOff x="3563888" y="1268760"/>
            <a:chExt cx="2952328" cy="371732"/>
          </a:xfrm>
        </p:grpSpPr>
        <p:cxnSp>
          <p:nvCxnSpPr>
            <p:cNvPr id="40" name="直接连接符 70"/>
            <p:cNvCxnSpPr>
              <a:cxnSpLocks noChangeShapeType="1"/>
            </p:cNvCxnSpPr>
            <p:nvPr/>
          </p:nvCxnSpPr>
          <p:spPr bwMode="auto">
            <a:xfrm flipV="1">
              <a:off x="6506757" y="1280451"/>
              <a:ext cx="694" cy="360041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1" name="直接连接符 72"/>
            <p:cNvCxnSpPr>
              <a:cxnSpLocks noChangeShapeType="1"/>
            </p:cNvCxnSpPr>
            <p:nvPr/>
          </p:nvCxnSpPr>
          <p:spPr bwMode="auto">
            <a:xfrm flipH="1">
              <a:off x="3563888" y="1268760"/>
              <a:ext cx="2952328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42" name="直接箭头连接符 74"/>
            <p:cNvCxnSpPr>
              <a:cxnSpLocks noChangeShapeType="1"/>
            </p:cNvCxnSpPr>
            <p:nvPr/>
          </p:nvCxnSpPr>
          <p:spPr bwMode="auto">
            <a:xfrm>
              <a:off x="3563888" y="1268760"/>
              <a:ext cx="0" cy="36004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2286000" y="1733550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0/1</a:t>
            </a:r>
          </a:p>
        </p:txBody>
      </p:sp>
      <p:sp>
        <p:nvSpPr>
          <p:cNvPr id="44" name="Arc 43"/>
          <p:cNvSpPr>
            <a:spLocks/>
          </p:cNvSpPr>
          <p:nvPr/>
        </p:nvSpPr>
        <p:spPr bwMode="auto">
          <a:xfrm rot="17935624">
            <a:off x="3688557" y="2899815"/>
            <a:ext cx="476250" cy="557213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3503613" y="3364159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>
                <a:latin typeface="Arial" pitchFamily="34" charset="0"/>
              </a:rPr>
              <a:t>1/0</a:t>
            </a:r>
          </a:p>
        </p:txBody>
      </p:sp>
      <p:sp>
        <p:nvSpPr>
          <p:cNvPr id="51" name="Text Box 762"/>
          <p:cNvSpPr txBox="1">
            <a:spLocks noChangeArrowheads="1"/>
          </p:cNvSpPr>
          <p:nvPr/>
        </p:nvSpPr>
        <p:spPr bwMode="auto">
          <a:xfrm>
            <a:off x="228600" y="13525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第二步：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状态化简</a:t>
            </a:r>
          </a:p>
        </p:txBody>
      </p:sp>
      <p:graphicFrame>
        <p:nvGraphicFramePr>
          <p:cNvPr id="52" name="Group 2"/>
          <p:cNvGraphicFramePr>
            <a:graphicFrameLocks noGrp="1"/>
          </p:cNvGraphicFramePr>
          <p:nvPr/>
        </p:nvGraphicFramePr>
        <p:xfrm>
          <a:off x="4953000" y="2114550"/>
          <a:ext cx="3668713" cy="251460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9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-2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1" lang="en-US" altLang="zh-CN" sz="2400" b="1" i="0" u="none" strike="noStrike" cap="none" normalizeH="0" baseline="-2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4919662" y="2427288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 err="1">
                <a:latin typeface="Arial" pitchFamily="34" charset="0"/>
              </a:rPr>
              <a:t>S</a:t>
            </a:r>
            <a:r>
              <a:rPr kumimoji="0" lang="en-US" altLang="zh-CN" sz="2000" b="1" i="0" baseline="30000" dirty="0" err="1">
                <a:latin typeface="Arial" pitchFamily="34" charset="0"/>
              </a:rPr>
              <a:t>n</a:t>
            </a:r>
            <a:endParaRPr kumimoji="0" lang="en-US" altLang="zh-CN" sz="2000" b="1" i="0" baseline="30000" dirty="0">
              <a:latin typeface="Arial" pitchFamily="34" charset="0"/>
            </a:endParaRPr>
          </a:p>
        </p:txBody>
      </p:sp>
      <p:sp>
        <p:nvSpPr>
          <p:cNvPr id="54" name="Text Box 17"/>
          <p:cNvSpPr txBox="1">
            <a:spLocks noChangeArrowheads="1"/>
          </p:cNvSpPr>
          <p:nvPr/>
        </p:nvSpPr>
        <p:spPr bwMode="auto">
          <a:xfrm>
            <a:off x="5105400" y="2114550"/>
            <a:ext cx="99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latin typeface="Arial" pitchFamily="34" charset="0"/>
              </a:rPr>
              <a:t>S</a:t>
            </a:r>
            <a:r>
              <a:rPr kumimoji="0" lang="en-US" altLang="zh-CN" sz="2000" b="1" i="0" baseline="30000" dirty="0">
                <a:latin typeface="Arial" pitchFamily="34" charset="0"/>
              </a:rPr>
              <a:t>n+1</a:t>
            </a:r>
            <a:r>
              <a:rPr kumimoji="0" lang="en-US" altLang="zh-CN" sz="2000" b="1" i="0" dirty="0">
                <a:latin typeface="Arial" pitchFamily="34" charset="0"/>
              </a:rPr>
              <a:t>/Z</a:t>
            </a: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5970587" y="2127250"/>
            <a:ext cx="547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>
                <a:latin typeface="Arial" pitchFamily="34" charset="0"/>
              </a:rPr>
              <a:t>X </a:t>
            </a:r>
          </a:p>
        </p:txBody>
      </p:sp>
      <p:sp>
        <p:nvSpPr>
          <p:cNvPr id="56" name="Line 19"/>
          <p:cNvSpPr>
            <a:spLocks noChangeShapeType="1"/>
          </p:cNvSpPr>
          <p:nvPr/>
        </p:nvSpPr>
        <p:spPr bwMode="auto">
          <a:xfrm flipH="1" flipV="1">
            <a:off x="4953000" y="2343150"/>
            <a:ext cx="1368425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ine 20"/>
          <p:cNvSpPr>
            <a:spLocks noChangeShapeType="1"/>
          </p:cNvSpPr>
          <p:nvPr/>
        </p:nvSpPr>
        <p:spPr bwMode="auto">
          <a:xfrm flipH="1" flipV="1">
            <a:off x="5864225" y="2130425"/>
            <a:ext cx="457200" cy="698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719416" y="1802823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的最简状态表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318796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第三步：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276600" y="17335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7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的编码表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/>
        </p:nvGraphicFramePr>
        <p:xfrm>
          <a:off x="3352800" y="2114550"/>
          <a:ext cx="1788795" cy="1599055"/>
        </p:xfrm>
        <a:graphic>
          <a:graphicData uri="http://schemas.openxmlformats.org/drawingml/2006/table">
            <a:tbl>
              <a:tblPr/>
              <a:tblGrid>
                <a:gridCol w="59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337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状态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编码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Q</a:t>
                      </a:r>
                      <a:r>
                        <a:rPr lang="en-US" sz="1600" b="1" kern="100" baseline="-250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Q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3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latin typeface="微软雅黑"/>
                          <a:ea typeface="宋体"/>
                          <a:cs typeface="Times New Roman"/>
                        </a:rPr>
                        <a:t>S</a:t>
                      </a:r>
                      <a:r>
                        <a:rPr lang="en-US" sz="1600" b="1" kern="100" baseline="-25000">
                          <a:latin typeface="微软雅黑"/>
                          <a:ea typeface="宋体"/>
                          <a:cs typeface="Times New Roman"/>
                        </a:rPr>
                        <a:t>2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17335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6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的最简状态表</a:t>
            </a:r>
          </a:p>
        </p:txBody>
      </p:sp>
      <p:sp>
        <p:nvSpPr>
          <p:cNvPr id="22" name="矩形 21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13346" name="Picture 2" descr="C:\Users\hfutliujun\AppData\Roaming\Tencent\Users\350654676\QQ\WinTemp\RichOle\AW@HB95`Y{3YGS~HK@KTT~J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114550"/>
            <a:ext cx="2600325" cy="1790700"/>
          </a:xfrm>
          <a:prstGeom prst="rect">
            <a:avLst/>
          </a:prstGeom>
          <a:noFill/>
        </p:spPr>
      </p:pic>
      <p:pic>
        <p:nvPicPr>
          <p:cNvPr id="313347" name="Picture 3" descr="C:\Users\hfutliujun\AppData\Roaming\Tencent\Users\350654676\QQ\WinTemp\RichOle\H@0LRHZNGFJZ%6}1327R~@U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2114550"/>
            <a:ext cx="2600325" cy="1800225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5943600" y="1733550"/>
            <a:ext cx="258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编码后的最简状态表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3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3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  <p:bldP spid="21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318796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第三步：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状态分配（状态编码）。</a:t>
            </a:r>
          </a:p>
        </p:txBody>
      </p:sp>
      <p:graphicFrame>
        <p:nvGraphicFramePr>
          <p:cNvPr id="15" name="Group 2"/>
          <p:cNvGraphicFramePr>
            <a:graphicFrameLocks noGrp="1"/>
          </p:cNvGraphicFramePr>
          <p:nvPr/>
        </p:nvGraphicFramePr>
        <p:xfrm>
          <a:off x="381000" y="2089150"/>
          <a:ext cx="3668713" cy="2514600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9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9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</a:t>
                      </a:r>
                      <a:endParaRPr kumimoji="1" lang="en-US" altLang="zh-CN" sz="2400" b="1" i="0" u="none" strike="noStrike" cap="none" normalizeH="0" baseline="-2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endParaRPr kumimoji="1" lang="en-US" altLang="zh-CN" sz="2400" b="1" i="0" u="none" strike="noStrike" cap="none" normalizeH="0" baseline="-2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  <a:endParaRPr kumimoji="1" lang="en-US" altLang="zh-CN" sz="2400" b="1" i="0" u="none" strike="noStrike" cap="none" normalizeH="0" baseline="-2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-2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00/1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11/0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47662" y="2401888"/>
            <a:ext cx="457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 err="1">
                <a:latin typeface="Arial" pitchFamily="34" charset="0"/>
              </a:rPr>
              <a:t>S</a:t>
            </a:r>
            <a:r>
              <a:rPr kumimoji="0" lang="en-US" altLang="zh-CN" sz="2000" b="1" i="0" baseline="30000" dirty="0" err="1">
                <a:latin typeface="Arial" pitchFamily="34" charset="0"/>
              </a:rPr>
              <a:t>n</a:t>
            </a:r>
            <a:endParaRPr kumimoji="0" lang="en-US" altLang="zh-CN" sz="2000" b="1" i="0" baseline="30000" dirty="0">
              <a:latin typeface="Arial" pitchFamily="34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533400" y="2089150"/>
            <a:ext cx="99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 dirty="0">
                <a:latin typeface="Arial" pitchFamily="34" charset="0"/>
              </a:rPr>
              <a:t>S</a:t>
            </a:r>
            <a:r>
              <a:rPr kumimoji="0" lang="en-US" altLang="zh-CN" sz="2000" b="1" i="0" baseline="30000" dirty="0">
                <a:latin typeface="Arial" pitchFamily="34" charset="0"/>
              </a:rPr>
              <a:t>n+1</a:t>
            </a:r>
            <a:r>
              <a:rPr kumimoji="0" lang="en-US" altLang="zh-CN" sz="2000" b="1" i="0" dirty="0">
                <a:latin typeface="Arial" pitchFamily="34" charset="0"/>
              </a:rPr>
              <a:t>/Z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1398587" y="2101850"/>
            <a:ext cx="547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0" lang="en-US" altLang="zh-CN" sz="2000" b="1" i="0">
                <a:latin typeface="Arial" pitchFamily="34" charset="0"/>
              </a:rPr>
              <a:t>X </a:t>
            </a:r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 flipV="1">
            <a:off x="381000" y="2317750"/>
            <a:ext cx="1368425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 flipH="1" flipV="1">
            <a:off x="1292225" y="2105025"/>
            <a:ext cx="457200" cy="698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147416" y="1777423"/>
            <a:ext cx="258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编码后的最简状态表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267200" y="2089150"/>
          <a:ext cx="4682836" cy="2616200"/>
        </p:xfrm>
        <a:graphic>
          <a:graphicData uri="http://schemas.openxmlformats.org/drawingml/2006/table">
            <a:tbl>
              <a:tblPr/>
              <a:tblGrid>
                <a:gridCol w="767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6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64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输 入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90550" algn="l"/>
                        </a:tabLst>
                      </a:pPr>
                      <a:r>
                        <a:rPr lang="zh-CN" sz="1600" b="1" kern="100" dirty="0">
                          <a:latin typeface="Calibri"/>
                          <a:ea typeface="微软雅黑"/>
                          <a:cs typeface="Times New Roman"/>
                        </a:rPr>
                        <a:t>现 态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Calibri"/>
                          <a:ea typeface="微软雅黑"/>
                          <a:cs typeface="Times New Roman"/>
                        </a:rPr>
                        <a:t>次 态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"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latin typeface="Calibri"/>
                          <a:ea typeface="微软雅黑"/>
                          <a:cs typeface="Times New Roman"/>
                        </a:rPr>
                        <a:t>输 出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endParaRPr lang="en-US" sz="1600" kern="100">
                        <a:latin typeface="微软雅黑"/>
                        <a:ea typeface="宋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7200" algn="just">
                        <a:spcAft>
                          <a:spcPts val="0"/>
                        </a:spcAft>
                      </a:pPr>
                      <a:r>
                        <a:rPr lang="en-US" sz="1800" kern="100">
                          <a:latin typeface="微软雅黑"/>
                          <a:ea typeface="宋体"/>
                          <a:cs typeface="Times New Roman"/>
                        </a:rPr>
                        <a:t>Z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>
                          <a:latin typeface="微软雅黑"/>
                          <a:ea typeface="宋体"/>
                          <a:cs typeface="Times New Roman"/>
                        </a:rPr>
                        <a:t>1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微软雅黑"/>
                          <a:ea typeface="宋体"/>
                          <a:cs typeface="Times New Roman"/>
                        </a:rPr>
                        <a:t>0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11307" name="Object 11"/>
          <p:cNvGraphicFramePr>
            <a:graphicFrameLocks noChangeAspect="1"/>
          </p:cNvGraphicFramePr>
          <p:nvPr/>
        </p:nvGraphicFramePr>
        <p:xfrm>
          <a:off x="5257800" y="2371725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3" imgW="304536" imgH="355292" progId="Equation.DSMT4">
                  <p:embed/>
                </p:oleObj>
              </mc:Choice>
              <mc:Fallback>
                <p:oleObj name="Equation" r:id="rId3" imgW="304536" imgH="355292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371725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6" name="Object 10"/>
          <p:cNvGraphicFramePr>
            <a:graphicFrameLocks noChangeAspect="1"/>
          </p:cNvGraphicFramePr>
          <p:nvPr/>
        </p:nvGraphicFramePr>
        <p:xfrm>
          <a:off x="5943600" y="2371725"/>
          <a:ext cx="3048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5" imgW="304536" imgH="355292" progId="Equation.DSMT4">
                  <p:embed/>
                </p:oleObj>
              </mc:Choice>
              <mc:Fallback>
                <p:oleObj name="Equation" r:id="rId5" imgW="304536" imgH="355292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371725"/>
                        <a:ext cx="3048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/>
          <p:cNvGraphicFramePr>
            <a:graphicFrameLocks noChangeAspect="1"/>
          </p:cNvGraphicFramePr>
          <p:nvPr/>
        </p:nvGraphicFramePr>
        <p:xfrm>
          <a:off x="6553200" y="2371725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7" imgW="457002" imgH="355446" progId="Equation.DSMT4">
                  <p:embed/>
                </p:oleObj>
              </mc:Choice>
              <mc:Fallback>
                <p:oleObj name="Equation" r:id="rId7" imgW="457002" imgH="355446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371725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4" name="Object 8"/>
          <p:cNvGraphicFramePr>
            <a:graphicFrameLocks noChangeAspect="1"/>
          </p:cNvGraphicFramePr>
          <p:nvPr/>
        </p:nvGraphicFramePr>
        <p:xfrm>
          <a:off x="7239000" y="2371725"/>
          <a:ext cx="4572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9" imgW="457002" imgH="355446" progId="Equation.DSMT4">
                  <p:embed/>
                </p:oleObj>
              </mc:Choice>
              <mc:Fallback>
                <p:oleObj name="Equation" r:id="rId9" imgW="457002" imgH="355446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371725"/>
                        <a:ext cx="457200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257800" y="1777423"/>
            <a:ext cx="3276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9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编码后的最简状态表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(2)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131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11309" name="Object 13"/>
          <p:cNvGraphicFramePr>
            <a:graphicFrameLocks noChangeAspect="1"/>
          </p:cNvGraphicFramePr>
          <p:nvPr/>
        </p:nvGraphicFramePr>
        <p:xfrm>
          <a:off x="4495800" y="2447925"/>
          <a:ext cx="2571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Equation" r:id="rId11" imgW="253890" imgH="228501" progId="Equation.DSMT4">
                  <p:embed/>
                </p:oleObj>
              </mc:Choice>
              <mc:Fallback>
                <p:oleObj name="Equation" r:id="rId11" imgW="253890" imgH="228501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447925"/>
                        <a:ext cx="2571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1310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13357" name="Picture 13" descr="C:\Users\hfutliujun\AppData\Roaming\Tencent\Users\350654676\QQ\WinTemp\RichOle\0WJP13}M}8K37X@7ROX(%O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40526"/>
            <a:ext cx="2819400" cy="2839539"/>
          </a:xfrm>
          <a:prstGeom prst="rect">
            <a:avLst/>
          </a:prstGeom>
          <a:noFill/>
        </p:spPr>
      </p:pic>
      <p:sp>
        <p:nvSpPr>
          <p:cNvPr id="29" name="TextBox 28"/>
          <p:cNvSpPr txBox="1"/>
          <p:nvPr/>
        </p:nvSpPr>
        <p:spPr>
          <a:xfrm>
            <a:off x="381000" y="1733550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编码后的最简状态表（无关项）</a:t>
            </a:r>
          </a:p>
        </p:txBody>
      </p:sp>
      <p:pic>
        <p:nvPicPr>
          <p:cNvPr id="313358" name="Picture 14" descr="C:\Users\hfutliujun\AppData\Roaming\Tencent\Users\350654676\QQ\WinTemp\RichOle\KQ[3~(09C5@62QNJHVR`TK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31112" y="2038798"/>
            <a:ext cx="3850888" cy="2823543"/>
          </a:xfrm>
          <a:prstGeom prst="rect">
            <a:avLst/>
          </a:prstGeom>
          <a:noFill/>
        </p:spPr>
      </p:pic>
      <p:sp>
        <p:nvSpPr>
          <p:cNvPr id="31" name="TextBox 30"/>
          <p:cNvSpPr txBox="1"/>
          <p:nvPr/>
        </p:nvSpPr>
        <p:spPr>
          <a:xfrm>
            <a:off x="4648200" y="1733550"/>
            <a:ext cx="3657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表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编码后的最简状态表（激励项）</a:t>
            </a:r>
          </a:p>
        </p:txBody>
      </p:sp>
      <p:sp>
        <p:nvSpPr>
          <p:cNvPr id="32" name="Text Box 762"/>
          <p:cNvSpPr txBox="1">
            <a:spLocks noChangeArrowheads="1"/>
          </p:cNvSpPr>
          <p:nvPr/>
        </p:nvSpPr>
        <p:spPr bwMode="auto">
          <a:xfrm>
            <a:off x="762000" y="1318796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求出激励方程和输出方程。</a:t>
            </a:r>
          </a:p>
        </p:txBody>
      </p:sp>
      <p:sp>
        <p:nvSpPr>
          <p:cNvPr id="33" name="矩形 32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685800" y="12763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求出</a:t>
            </a: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激励方程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和输出方程。</a:t>
            </a:r>
          </a:p>
        </p:txBody>
      </p:sp>
      <p:graphicFrame>
        <p:nvGraphicFramePr>
          <p:cNvPr id="27" name="Group 4"/>
          <p:cNvGraphicFramePr>
            <a:graphicFrameLocks noGrp="1"/>
          </p:cNvGraphicFramePr>
          <p:nvPr/>
        </p:nvGraphicFramePr>
        <p:xfrm>
          <a:off x="1600200" y="219075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62000" y="1778002"/>
            <a:ext cx="2065338" cy="1101726"/>
            <a:chOff x="528" y="1564"/>
            <a:chExt cx="1301" cy="694"/>
          </a:xfrm>
        </p:grpSpPr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816" y="1680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852" y="1564"/>
              <a:ext cx="50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1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0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720" y="1728"/>
              <a:ext cx="20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ea typeface="黑体" pitchFamily="49" charset="-122"/>
                </a:rPr>
                <a:t>X</a:t>
              </a:r>
              <a:endParaRPr lang="en-US" altLang="zh-CN" i="0" dirty="0"/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528" y="1920"/>
              <a:ext cx="2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ea typeface="黑体" pitchFamily="49" charset="-122"/>
                </a:rPr>
                <a:t>D</a:t>
              </a:r>
              <a:r>
                <a:rPr lang="en-US" altLang="zh-CN" sz="2000" i="0" baseline="-25000" dirty="0">
                  <a:ea typeface="黑体" pitchFamily="49" charset="-122"/>
                </a:rPr>
                <a:t>1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1104" y="2011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dirty="0">
                  <a:sym typeface="Symbol" pitchFamily="18" charset="2"/>
                </a:rPr>
                <a:t>1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1632" y="2025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dirty="0">
                  <a:sym typeface="Symbol" pitchFamily="18" charset="2"/>
                </a:rPr>
                <a:t>1</a:t>
              </a:r>
            </a:p>
          </p:txBody>
        </p:sp>
      </p:grpSp>
      <p:graphicFrame>
        <p:nvGraphicFramePr>
          <p:cNvPr id="274440" name="Object 8"/>
          <p:cNvGraphicFramePr>
            <a:graphicFrameLocks noChangeAspect="1"/>
          </p:cNvGraphicFramePr>
          <p:nvPr/>
        </p:nvGraphicFramePr>
        <p:xfrm>
          <a:off x="4648200" y="2387600"/>
          <a:ext cx="774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3" imgW="774360" imgH="330120" progId="Equation.DSMT4">
                  <p:embed/>
                </p:oleObj>
              </mc:Choice>
              <mc:Fallback>
                <p:oleObj name="Equation" r:id="rId3" imgW="77436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387600"/>
                        <a:ext cx="774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Rectangle 30"/>
          <p:cNvSpPr>
            <a:spLocks noChangeArrowheads="1"/>
          </p:cNvSpPr>
          <p:nvPr/>
        </p:nvSpPr>
        <p:spPr bwMode="auto">
          <a:xfrm>
            <a:off x="2971800" y="2494028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1</a:t>
            </a:r>
          </a:p>
        </p:txBody>
      </p:sp>
      <p:sp>
        <p:nvSpPr>
          <p:cNvPr id="84" name="Rectangle 86"/>
          <p:cNvSpPr>
            <a:spLocks noChangeArrowheads="1"/>
          </p:cNvSpPr>
          <p:nvPr/>
        </p:nvSpPr>
        <p:spPr bwMode="auto">
          <a:xfrm>
            <a:off x="2133600" y="2159000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2133600" y="2463800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105" name="AutoShape 91"/>
          <p:cNvSpPr>
            <a:spLocks noChangeArrowheads="1"/>
          </p:cNvSpPr>
          <p:nvPr/>
        </p:nvSpPr>
        <p:spPr bwMode="auto">
          <a:xfrm>
            <a:off x="1676400" y="2585972"/>
            <a:ext cx="1600200" cy="228600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graphicFrame>
        <p:nvGraphicFramePr>
          <p:cNvPr id="106" name="Group 4"/>
          <p:cNvGraphicFramePr>
            <a:graphicFrameLocks noGrp="1"/>
          </p:cNvGraphicFramePr>
          <p:nvPr/>
        </p:nvGraphicFramePr>
        <p:xfrm>
          <a:off x="1600200" y="3562348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7" name="Group 21"/>
          <p:cNvGrpSpPr>
            <a:grpSpLocks/>
          </p:cNvGrpSpPr>
          <p:nvPr/>
        </p:nvGrpSpPr>
        <p:grpSpPr bwMode="auto">
          <a:xfrm>
            <a:off x="762000" y="3149600"/>
            <a:ext cx="2065338" cy="1101726"/>
            <a:chOff x="528" y="1564"/>
            <a:chExt cx="1301" cy="694"/>
          </a:xfrm>
        </p:grpSpPr>
        <p:sp>
          <p:nvSpPr>
            <p:cNvPr id="108" name="Line 22"/>
            <p:cNvSpPr>
              <a:spLocks noChangeShapeType="1"/>
            </p:cNvSpPr>
            <p:nvPr/>
          </p:nvSpPr>
          <p:spPr bwMode="auto">
            <a:xfrm>
              <a:off x="816" y="1680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9" name="Text Box 23"/>
            <p:cNvSpPr txBox="1">
              <a:spLocks noChangeArrowheads="1"/>
            </p:cNvSpPr>
            <p:nvPr/>
          </p:nvSpPr>
          <p:spPr bwMode="auto">
            <a:xfrm>
              <a:off x="852" y="1564"/>
              <a:ext cx="50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1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0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</a:p>
          </p:txBody>
        </p:sp>
        <p:sp>
          <p:nvSpPr>
            <p:cNvPr id="110" name="Text Box 24"/>
            <p:cNvSpPr txBox="1">
              <a:spLocks noChangeArrowheads="1"/>
            </p:cNvSpPr>
            <p:nvPr/>
          </p:nvSpPr>
          <p:spPr bwMode="auto">
            <a:xfrm>
              <a:off x="720" y="1728"/>
              <a:ext cx="20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ea typeface="黑体" pitchFamily="49" charset="-122"/>
                </a:rPr>
                <a:t>X</a:t>
              </a:r>
              <a:endParaRPr lang="en-US" altLang="zh-CN" i="0" dirty="0"/>
            </a:p>
          </p:txBody>
        </p:sp>
        <p:sp>
          <p:nvSpPr>
            <p:cNvPr id="111" name="Text Box 28"/>
            <p:cNvSpPr txBox="1">
              <a:spLocks noChangeArrowheads="1"/>
            </p:cNvSpPr>
            <p:nvPr/>
          </p:nvSpPr>
          <p:spPr bwMode="auto">
            <a:xfrm>
              <a:off x="528" y="1920"/>
              <a:ext cx="29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 dirty="0">
                  <a:ea typeface="黑体" pitchFamily="49" charset="-122"/>
                </a:rPr>
                <a:t>D</a:t>
              </a:r>
              <a:r>
                <a:rPr lang="en-US" altLang="zh-CN" sz="2000" i="0" baseline="-25000" dirty="0">
                  <a:ea typeface="黑体" pitchFamily="49" charset="-122"/>
                </a:rPr>
                <a:t>0</a:t>
              </a:r>
            </a:p>
          </p:txBody>
        </p:sp>
        <p:sp>
          <p:nvSpPr>
            <p:cNvPr id="113" name="Rectangle 33"/>
            <p:cNvSpPr>
              <a:spLocks noChangeArrowheads="1"/>
            </p:cNvSpPr>
            <p:nvPr/>
          </p:nvSpPr>
          <p:spPr bwMode="auto">
            <a:xfrm>
              <a:off x="1632" y="2025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dirty="0"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114" name="Rectangle 30"/>
          <p:cNvSpPr>
            <a:spLocks noChangeArrowheads="1"/>
          </p:cNvSpPr>
          <p:nvPr/>
        </p:nvSpPr>
        <p:spPr bwMode="auto">
          <a:xfrm>
            <a:off x="2971800" y="3865626"/>
            <a:ext cx="3129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1</a:t>
            </a:r>
          </a:p>
        </p:txBody>
      </p:sp>
      <p:sp>
        <p:nvSpPr>
          <p:cNvPr id="115" name="Rectangle 86"/>
          <p:cNvSpPr>
            <a:spLocks noChangeArrowheads="1"/>
          </p:cNvSpPr>
          <p:nvPr/>
        </p:nvSpPr>
        <p:spPr bwMode="auto">
          <a:xfrm>
            <a:off x="2133600" y="3530598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116" name="Rectangle 86"/>
          <p:cNvSpPr>
            <a:spLocks noChangeArrowheads="1"/>
          </p:cNvSpPr>
          <p:nvPr/>
        </p:nvSpPr>
        <p:spPr bwMode="auto">
          <a:xfrm>
            <a:off x="2133600" y="3835398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117" name="AutoShape 91"/>
          <p:cNvSpPr>
            <a:spLocks noChangeArrowheads="1"/>
          </p:cNvSpPr>
          <p:nvPr/>
        </p:nvSpPr>
        <p:spPr bwMode="auto">
          <a:xfrm>
            <a:off x="2514600" y="3949385"/>
            <a:ext cx="762000" cy="228600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graphicFrame>
        <p:nvGraphicFramePr>
          <p:cNvPr id="301061" name="Object 5"/>
          <p:cNvGraphicFramePr>
            <a:graphicFrameLocks noChangeAspect="1"/>
          </p:cNvGraphicFramePr>
          <p:nvPr/>
        </p:nvGraphicFramePr>
        <p:xfrm>
          <a:off x="4597400" y="3746500"/>
          <a:ext cx="10287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5" imgW="1028520" imgH="355320" progId="Equation.DSMT4">
                  <p:embed/>
                </p:oleObj>
              </mc:Choice>
              <mc:Fallback>
                <p:oleObj name="Equation" r:id="rId5" imgW="1028520" imgH="3553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400" y="3746500"/>
                        <a:ext cx="10287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/>
          <p:cNvSpPr/>
          <p:nvPr/>
        </p:nvSpPr>
        <p:spPr>
          <a:xfrm>
            <a:off x="304800" y="5905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3525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第四步：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求出激励方程和</a:t>
            </a: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输出方程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graphicFrame>
        <p:nvGraphicFramePr>
          <p:cNvPr id="27" name="Group 4"/>
          <p:cNvGraphicFramePr>
            <a:graphicFrameLocks noGrp="1"/>
          </p:cNvGraphicFramePr>
          <p:nvPr/>
        </p:nvGraphicFramePr>
        <p:xfrm>
          <a:off x="1905000" y="2495550"/>
          <a:ext cx="1752600" cy="68580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38100" marT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38100" marT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066800" y="2082801"/>
            <a:ext cx="2065338" cy="903288"/>
            <a:chOff x="528" y="1564"/>
            <a:chExt cx="1301" cy="569"/>
          </a:xfrm>
        </p:grpSpPr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816" y="1680"/>
              <a:ext cx="24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852" y="1564"/>
              <a:ext cx="508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1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  <a:r>
                <a:rPr lang="en-US" altLang="zh-CN" sz="1600" dirty="0">
                  <a:ea typeface="黑体" pitchFamily="49" charset="-122"/>
                </a:rPr>
                <a:t>Q</a:t>
              </a:r>
              <a:r>
                <a:rPr lang="en-US" altLang="zh-CN" sz="1600" i="0" baseline="-25000" dirty="0">
                  <a:ea typeface="黑体" pitchFamily="49" charset="-122"/>
                </a:rPr>
                <a:t>0</a:t>
              </a:r>
              <a:r>
                <a:rPr lang="en-US" altLang="zh-CN" sz="1600" baseline="30000" dirty="0">
                  <a:ea typeface="黑体" pitchFamily="49" charset="-122"/>
                </a:rPr>
                <a:t>n</a:t>
              </a:r>
            </a:p>
          </p:txBody>
        </p:sp>
        <p:sp>
          <p:nvSpPr>
            <p:cNvPr id="31" name="Text Box 24"/>
            <p:cNvSpPr txBox="1">
              <a:spLocks noChangeArrowheads="1"/>
            </p:cNvSpPr>
            <p:nvPr/>
          </p:nvSpPr>
          <p:spPr bwMode="auto">
            <a:xfrm>
              <a:off x="720" y="1728"/>
              <a:ext cx="20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ea typeface="黑体" pitchFamily="49" charset="-122"/>
                </a:rPr>
                <a:t>X</a:t>
              </a:r>
              <a:endParaRPr lang="en-US" altLang="zh-CN" i="0" dirty="0"/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528" y="1920"/>
              <a:ext cx="19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i="0" baseline="-25000" dirty="0">
                  <a:ea typeface="黑体" pitchFamily="49" charset="-122"/>
                </a:rPr>
                <a:t>Z</a:t>
              </a:r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1632" y="1804"/>
              <a:ext cx="1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800" dirty="0">
                  <a:sym typeface="Symbol" pitchFamily="18" charset="2"/>
                </a:rPr>
                <a:t>1</a:t>
              </a:r>
            </a:p>
          </p:txBody>
        </p:sp>
      </p:grpSp>
      <p:sp>
        <p:nvSpPr>
          <p:cNvPr id="84" name="Rectangle 86"/>
          <p:cNvSpPr>
            <a:spLocks noChangeArrowheads="1"/>
          </p:cNvSpPr>
          <p:nvPr/>
        </p:nvSpPr>
        <p:spPr bwMode="auto">
          <a:xfrm>
            <a:off x="2438400" y="2455613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2438400" y="2768600"/>
            <a:ext cx="3032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1800" dirty="0">
                <a:sym typeface="Symbol" pitchFamily="18" charset="2"/>
              </a:rPr>
              <a:t></a:t>
            </a:r>
          </a:p>
        </p:txBody>
      </p:sp>
      <p:sp>
        <p:nvSpPr>
          <p:cNvPr id="105" name="AutoShape 91"/>
          <p:cNvSpPr>
            <a:spLocks noChangeArrowheads="1"/>
          </p:cNvSpPr>
          <p:nvPr/>
        </p:nvSpPr>
        <p:spPr bwMode="auto">
          <a:xfrm>
            <a:off x="2362200" y="2540000"/>
            <a:ext cx="762000" cy="228600"/>
          </a:xfrm>
          <a:prstGeom prst="roundRect">
            <a:avLst>
              <a:gd name="adj" fmla="val 16667"/>
            </a:avLst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228601" y="6667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315396" name="Object 4"/>
          <p:cNvGraphicFramePr>
            <a:graphicFrameLocks noChangeAspect="1"/>
          </p:cNvGraphicFramePr>
          <p:nvPr/>
        </p:nvGraphicFramePr>
        <p:xfrm>
          <a:off x="4724400" y="2616202"/>
          <a:ext cx="93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" imgW="939600" imgH="368280" progId="Equation.DSMT4">
                  <p:embed/>
                </p:oleObj>
              </mc:Choice>
              <mc:Fallback>
                <p:oleObj name="Equation" r:id="rId3" imgW="939600" imgH="3682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16202"/>
                        <a:ext cx="9398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762000" y="12763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第五步：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根据得到的方程式画出逻辑图。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52800" y="39433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的电路图</a:t>
            </a:r>
          </a:p>
        </p:txBody>
      </p:sp>
      <p:sp>
        <p:nvSpPr>
          <p:cNvPr id="109" name="矩形 108"/>
          <p:cNvSpPr/>
          <p:nvPr/>
        </p:nvSpPr>
        <p:spPr>
          <a:xfrm>
            <a:off x="228600" y="5905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4" name="对象 113"/>
          <p:cNvGraphicFramePr>
            <a:graphicFrameLocks noChangeAspect="1"/>
          </p:cNvGraphicFramePr>
          <p:nvPr/>
        </p:nvGraphicFramePr>
        <p:xfrm>
          <a:off x="2590800" y="1504950"/>
          <a:ext cx="4384675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Visio" r:id="rId3" imgW="4390431" imgH="2416248" progId="Visio.Drawing.11">
                  <p:embed/>
                </p:oleObj>
              </mc:Choice>
              <mc:Fallback>
                <p:oleObj name="Visio" r:id="rId3" imgW="4390431" imgH="2416248" progId="Visio.Drawing.11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504950"/>
                        <a:ext cx="4384675" cy="248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04800" y="5905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19" name="矩形 118"/>
          <p:cNvSpPr/>
          <p:nvPr/>
        </p:nvSpPr>
        <p:spPr>
          <a:xfrm>
            <a:off x="76200" y="0"/>
            <a:ext cx="31406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：时序电路设计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Text Box 762"/>
          <p:cNvSpPr txBox="1">
            <a:spLocks noChangeArrowheads="1"/>
          </p:cNvSpPr>
          <p:nvPr/>
        </p:nvSpPr>
        <p:spPr bwMode="auto">
          <a:xfrm>
            <a:off x="685800" y="1200150"/>
            <a:ext cx="9124950" cy="33855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第六步：</a:t>
            </a:r>
            <a:r>
              <a:rPr lang="zh-CN" altLang="en-US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检查设计的电路能否自启动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67000" y="4400550"/>
            <a:ext cx="228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  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的状态图</a:t>
            </a:r>
          </a:p>
        </p:txBody>
      </p:sp>
      <p:sp>
        <p:nvSpPr>
          <p:cNvPr id="155" name="Text Box 762"/>
          <p:cNvSpPr txBox="1">
            <a:spLocks noChangeArrowheads="1"/>
          </p:cNvSpPr>
          <p:nvPr/>
        </p:nvSpPr>
        <p:spPr bwMode="auto">
          <a:xfrm>
            <a:off x="6324600" y="1123950"/>
            <a:ext cx="1905000" cy="36933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电路可以自启动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28600" y="59055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用与非门和</a:t>
            </a:r>
            <a:r>
              <a:rPr lang="en-US" altLang="zh-CN" b="1" dirty="0">
                <a:ea typeface="黑体" pitchFamily="49" charset="-122"/>
              </a:rPr>
              <a:t>D</a:t>
            </a:r>
            <a:r>
              <a:rPr lang="zh-CN" altLang="en-US" b="1" dirty="0">
                <a:latin typeface="黑体" pitchFamily="49" charset="-122"/>
                <a:ea typeface="黑体" pitchFamily="49" charset="-122"/>
              </a:rPr>
              <a:t>触发器设计一个同步时序逻辑电路，以检测输入的信号序列是否为连续的</a:t>
            </a:r>
            <a:r>
              <a:rPr lang="zh-CN" altLang="en-US" b="1" dirty="0"/>
              <a:t>“</a:t>
            </a:r>
            <a:r>
              <a:rPr lang="en-US" altLang="zh-CN" b="1" dirty="0"/>
              <a:t>110”</a:t>
            </a:r>
            <a:r>
              <a:rPr lang="zh-CN" altLang="en-US" b="1" dirty="0"/>
              <a:t>。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8" name="Group 30"/>
          <p:cNvGrpSpPr>
            <a:grpSpLocks/>
          </p:cNvGrpSpPr>
          <p:nvPr/>
        </p:nvGrpSpPr>
        <p:grpSpPr bwMode="auto">
          <a:xfrm>
            <a:off x="2224087" y="2495550"/>
            <a:ext cx="863600" cy="538163"/>
            <a:chOff x="3698" y="1538"/>
            <a:chExt cx="544" cy="339"/>
          </a:xfrm>
        </p:grpSpPr>
        <p:sp>
          <p:nvSpPr>
            <p:cNvPr id="69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70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00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grpSp>
        <p:nvGrpSpPr>
          <p:cNvPr id="71" name="组合 6"/>
          <p:cNvGrpSpPr>
            <a:grpSpLocks/>
          </p:cNvGrpSpPr>
          <p:nvPr/>
        </p:nvGrpSpPr>
        <p:grpSpPr bwMode="auto">
          <a:xfrm>
            <a:off x="3657600" y="2495550"/>
            <a:ext cx="869950" cy="538163"/>
            <a:chOff x="7307263" y="2627313"/>
            <a:chExt cx="869951" cy="538162"/>
          </a:xfrm>
        </p:grpSpPr>
        <p:sp>
          <p:nvSpPr>
            <p:cNvPr id="72" name="Text Box 32"/>
            <p:cNvSpPr txBox="1">
              <a:spLocks noChangeArrowheads="1"/>
            </p:cNvSpPr>
            <p:nvPr/>
          </p:nvSpPr>
          <p:spPr bwMode="auto">
            <a:xfrm>
              <a:off x="7350126" y="2665413"/>
              <a:ext cx="827088" cy="369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10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  <p:grpSp>
          <p:nvGrpSpPr>
            <p:cNvPr id="73" name="Group 30"/>
            <p:cNvGrpSpPr>
              <a:grpSpLocks/>
            </p:cNvGrpSpPr>
            <p:nvPr/>
          </p:nvGrpSpPr>
          <p:grpSpPr bwMode="auto">
            <a:xfrm>
              <a:off x="7307263" y="2627313"/>
              <a:ext cx="869950" cy="538162"/>
              <a:chOff x="3698" y="1538"/>
              <a:chExt cx="548" cy="339"/>
            </a:xfrm>
          </p:grpSpPr>
          <p:sp>
            <p:nvSpPr>
              <p:cNvPr id="74" name="Oval 31"/>
              <p:cNvSpPr>
                <a:spLocks noChangeArrowheads="1"/>
              </p:cNvSpPr>
              <p:nvPr/>
            </p:nvSpPr>
            <p:spPr bwMode="auto">
              <a:xfrm>
                <a:off x="3698" y="1538"/>
                <a:ext cx="362" cy="339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75" name="Text Box 32"/>
              <p:cNvSpPr txBox="1">
                <a:spLocks noChangeArrowheads="1"/>
              </p:cNvSpPr>
              <p:nvPr/>
            </p:nvSpPr>
            <p:spPr bwMode="auto">
              <a:xfrm>
                <a:off x="3725" y="1562"/>
                <a:ext cx="521" cy="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endParaRPr kumimoji="0" lang="en-US" altLang="zh-CN" b="1" i="0" baseline="-2000" dirty="0">
                  <a:latin typeface="Arial" pitchFamily="34" charset="0"/>
                </a:endParaRPr>
              </a:p>
            </p:txBody>
          </p:sp>
        </p:grpSp>
      </p:grpSp>
      <p:grpSp>
        <p:nvGrpSpPr>
          <p:cNvPr id="76" name="Group 45"/>
          <p:cNvGrpSpPr>
            <a:grpSpLocks/>
          </p:cNvGrpSpPr>
          <p:nvPr/>
        </p:nvGrpSpPr>
        <p:grpSpPr bwMode="auto">
          <a:xfrm>
            <a:off x="2800350" y="2424113"/>
            <a:ext cx="1047750" cy="457200"/>
            <a:chOff x="4051" y="1394"/>
            <a:chExt cx="660" cy="288"/>
          </a:xfrm>
        </p:grpSpPr>
        <p:sp>
          <p:nvSpPr>
            <p:cNvPr id="77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79" name="Group 30"/>
          <p:cNvGrpSpPr>
            <a:grpSpLocks/>
          </p:cNvGrpSpPr>
          <p:nvPr/>
        </p:nvGrpSpPr>
        <p:grpSpPr bwMode="auto">
          <a:xfrm>
            <a:off x="5103812" y="2495550"/>
            <a:ext cx="863600" cy="538163"/>
            <a:chOff x="3698" y="1538"/>
            <a:chExt cx="544" cy="339"/>
          </a:xfrm>
        </p:grpSpPr>
        <p:sp>
          <p:nvSpPr>
            <p:cNvPr id="80" name="Oval 31"/>
            <p:cNvSpPr>
              <a:spLocks noChangeArrowheads="1"/>
            </p:cNvSpPr>
            <p:nvPr/>
          </p:nvSpPr>
          <p:spPr bwMode="auto">
            <a:xfrm>
              <a:off x="3698" y="1538"/>
              <a:ext cx="362" cy="3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81" name="Text Box 32"/>
            <p:cNvSpPr txBox="1">
              <a:spLocks noChangeArrowheads="1"/>
            </p:cNvSpPr>
            <p:nvPr/>
          </p:nvSpPr>
          <p:spPr bwMode="auto">
            <a:xfrm>
              <a:off x="3721" y="1568"/>
              <a:ext cx="52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latin typeface="Arial" pitchFamily="34" charset="0"/>
                </a:rPr>
                <a:t>11</a:t>
              </a:r>
              <a:endParaRPr kumimoji="0" lang="en-US" altLang="zh-CN" b="1" i="0" baseline="-2000" dirty="0">
                <a:latin typeface="Arial" pitchFamily="34" charset="0"/>
              </a:endParaRPr>
            </a:p>
          </p:txBody>
        </p:sp>
      </p:grpSp>
      <p:grpSp>
        <p:nvGrpSpPr>
          <p:cNvPr id="82" name="Group 45"/>
          <p:cNvGrpSpPr>
            <a:grpSpLocks/>
          </p:cNvGrpSpPr>
          <p:nvPr/>
        </p:nvGrpSpPr>
        <p:grpSpPr bwMode="auto">
          <a:xfrm>
            <a:off x="4244975" y="2424113"/>
            <a:ext cx="1047750" cy="457200"/>
            <a:chOff x="4051" y="1394"/>
            <a:chExt cx="660" cy="288"/>
          </a:xfrm>
        </p:grpSpPr>
        <p:sp>
          <p:nvSpPr>
            <p:cNvPr id="83" name="Line 46"/>
            <p:cNvSpPr>
              <a:spLocks noChangeShapeType="1"/>
            </p:cNvSpPr>
            <p:nvPr/>
          </p:nvSpPr>
          <p:spPr bwMode="auto">
            <a:xfrm>
              <a:off x="4051" y="1623"/>
              <a:ext cx="54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47"/>
            <p:cNvSpPr txBox="1">
              <a:spLocks noChangeArrowheads="1"/>
            </p:cNvSpPr>
            <p:nvPr/>
          </p:nvSpPr>
          <p:spPr bwMode="auto">
            <a:xfrm>
              <a:off x="4123" y="1394"/>
              <a:ext cx="5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>
                  <a:latin typeface="Arial" pitchFamily="34" charset="0"/>
                </a:rPr>
                <a:t>1/0</a:t>
              </a:r>
            </a:p>
          </p:txBody>
        </p:sp>
      </p:grpSp>
      <p:grpSp>
        <p:nvGrpSpPr>
          <p:cNvPr id="85" name="组合 33"/>
          <p:cNvGrpSpPr>
            <a:grpSpLocks/>
          </p:cNvGrpSpPr>
          <p:nvPr/>
        </p:nvGrpSpPr>
        <p:grpSpPr bwMode="auto">
          <a:xfrm>
            <a:off x="1535112" y="2063750"/>
            <a:ext cx="922338" cy="581025"/>
            <a:chOff x="1219612" y="1196752"/>
            <a:chExt cx="921249" cy="581169"/>
          </a:xfrm>
        </p:grpSpPr>
        <p:sp>
          <p:nvSpPr>
            <p:cNvPr id="86" name="Arc 43"/>
            <p:cNvSpPr>
              <a:spLocks/>
            </p:cNvSpPr>
            <p:nvPr/>
          </p:nvSpPr>
          <p:spPr bwMode="auto">
            <a:xfrm rot="2967361">
              <a:off x="1650323" y="1287383"/>
              <a:ext cx="461963" cy="519113"/>
            </a:xfrm>
            <a:custGeom>
              <a:avLst/>
              <a:gdLst>
                <a:gd name="T0" fmla="*/ 0 w 37363"/>
                <a:gd name="T1" fmla="*/ 0 h 43200"/>
                <a:gd name="T2" fmla="*/ 0 w 37363"/>
                <a:gd name="T3" fmla="*/ 0 h 43200"/>
                <a:gd name="T4" fmla="*/ 0 w 37363"/>
                <a:gd name="T5" fmla="*/ 0 h 43200"/>
                <a:gd name="T6" fmla="*/ 0 60000 65536"/>
                <a:gd name="T7" fmla="*/ 0 60000 65536"/>
                <a:gd name="T8" fmla="*/ 0 60000 65536"/>
                <a:gd name="T9" fmla="*/ 0 w 37363"/>
                <a:gd name="T10" fmla="*/ 0 h 43200"/>
                <a:gd name="T11" fmla="*/ 37363 w 37363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63" h="43200" fill="none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</a:path>
                <a:path w="37363" h="43200" stroke="0" extrusionOk="0">
                  <a:moveTo>
                    <a:pt x="37362" y="36367"/>
                  </a:moveTo>
                  <a:cubicBezTo>
                    <a:pt x="33279" y="40726"/>
                    <a:pt x="27572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6608" y="-1"/>
                    <a:pt x="31461" y="1740"/>
                    <a:pt x="35328" y="4924"/>
                  </a:cubicBezTo>
                  <a:lnTo>
                    <a:pt x="21600" y="21600"/>
                  </a:lnTo>
                  <a:lnTo>
                    <a:pt x="37362" y="3636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Text Box 44"/>
            <p:cNvSpPr txBox="1">
              <a:spLocks noChangeArrowheads="1"/>
            </p:cNvSpPr>
            <p:nvPr/>
          </p:nvSpPr>
          <p:spPr bwMode="auto">
            <a:xfrm>
              <a:off x="1219612" y="1196752"/>
              <a:ext cx="914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88" name="组合 77"/>
          <p:cNvGrpSpPr>
            <a:grpSpLocks/>
          </p:cNvGrpSpPr>
          <p:nvPr/>
        </p:nvGrpSpPr>
        <p:grpSpPr bwMode="auto">
          <a:xfrm>
            <a:off x="2590800" y="3028948"/>
            <a:ext cx="1354137" cy="581617"/>
            <a:chOff x="2486740" y="2045438"/>
            <a:chExt cx="1148669" cy="457201"/>
          </a:xfrm>
        </p:grpSpPr>
        <p:cxnSp>
          <p:nvCxnSpPr>
            <p:cNvPr id="89" name="肘形连接符 43"/>
            <p:cNvCxnSpPr>
              <a:cxnSpLocks noChangeShapeType="1"/>
              <a:stCxn id="74" idx="4"/>
            </p:cNvCxnSpPr>
            <p:nvPr/>
          </p:nvCxnSpPr>
          <p:spPr bwMode="auto">
            <a:xfrm rot="5400000">
              <a:off x="2943147" y="1592775"/>
              <a:ext cx="235855" cy="1148669"/>
            </a:xfrm>
            <a:prstGeom prst="bentConnector2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none" w="med" len="med"/>
            </a:ln>
          </p:spPr>
        </p:cxnSp>
        <p:sp>
          <p:nvSpPr>
            <p:cNvPr id="90" name="Text Box 44"/>
            <p:cNvSpPr txBox="1">
              <a:spLocks noChangeArrowheads="1"/>
            </p:cNvSpPr>
            <p:nvPr/>
          </p:nvSpPr>
          <p:spPr bwMode="auto">
            <a:xfrm>
              <a:off x="2680654" y="2045438"/>
              <a:ext cx="914400" cy="4572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0" dirty="0">
                  <a:latin typeface="Arial" pitchFamily="34" charset="0"/>
                </a:rPr>
                <a:t>0/0</a:t>
              </a:r>
            </a:p>
          </p:txBody>
        </p:sp>
      </p:grpSp>
      <p:grpSp>
        <p:nvGrpSpPr>
          <p:cNvPr id="91" name="组合 75"/>
          <p:cNvGrpSpPr>
            <a:grpSpLocks/>
          </p:cNvGrpSpPr>
          <p:nvPr/>
        </p:nvGrpSpPr>
        <p:grpSpPr bwMode="auto">
          <a:xfrm>
            <a:off x="2601912" y="2135203"/>
            <a:ext cx="2819400" cy="372071"/>
            <a:chOff x="3563888" y="1268760"/>
            <a:chExt cx="2952328" cy="371732"/>
          </a:xfrm>
        </p:grpSpPr>
        <p:cxnSp>
          <p:nvCxnSpPr>
            <p:cNvPr id="92" name="直接连接符 70"/>
            <p:cNvCxnSpPr>
              <a:cxnSpLocks noChangeShapeType="1"/>
            </p:cNvCxnSpPr>
            <p:nvPr/>
          </p:nvCxnSpPr>
          <p:spPr bwMode="auto">
            <a:xfrm flipV="1">
              <a:off x="6506757" y="1280451"/>
              <a:ext cx="694" cy="360041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93" name="直接连接符 72"/>
            <p:cNvCxnSpPr>
              <a:cxnSpLocks noChangeShapeType="1"/>
            </p:cNvCxnSpPr>
            <p:nvPr/>
          </p:nvCxnSpPr>
          <p:spPr bwMode="auto">
            <a:xfrm flipH="1">
              <a:off x="3563888" y="1268760"/>
              <a:ext cx="2952328" cy="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</p:cxnSp>
        <p:cxnSp>
          <p:nvCxnSpPr>
            <p:cNvPr id="94" name="直接箭头连接符 74"/>
            <p:cNvCxnSpPr>
              <a:cxnSpLocks noChangeShapeType="1"/>
            </p:cNvCxnSpPr>
            <p:nvPr/>
          </p:nvCxnSpPr>
          <p:spPr bwMode="auto">
            <a:xfrm>
              <a:off x="3563888" y="1268760"/>
              <a:ext cx="0" cy="360040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 type="arrow" w="med" len="med"/>
            </a:ln>
          </p:spPr>
        </p:cxnSp>
      </p:grpSp>
      <p:sp>
        <p:nvSpPr>
          <p:cNvPr id="95" name="Text Box 47"/>
          <p:cNvSpPr txBox="1">
            <a:spLocks noChangeArrowheads="1"/>
          </p:cNvSpPr>
          <p:nvPr/>
        </p:nvSpPr>
        <p:spPr bwMode="auto">
          <a:xfrm>
            <a:off x="3592512" y="1753941"/>
            <a:ext cx="9334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latin typeface="Arial" pitchFamily="34" charset="0"/>
              </a:rPr>
              <a:t>0/1</a:t>
            </a:r>
          </a:p>
        </p:txBody>
      </p:sp>
      <p:sp>
        <p:nvSpPr>
          <p:cNvPr id="96" name="Arc 43"/>
          <p:cNvSpPr>
            <a:spLocks/>
          </p:cNvSpPr>
          <p:nvPr/>
        </p:nvSpPr>
        <p:spPr bwMode="auto">
          <a:xfrm rot="17935624">
            <a:off x="4995069" y="2920206"/>
            <a:ext cx="476250" cy="557213"/>
          </a:xfrm>
          <a:custGeom>
            <a:avLst/>
            <a:gdLst>
              <a:gd name="T0" fmla="*/ 0 w 37363"/>
              <a:gd name="T1" fmla="*/ 0 h 43200"/>
              <a:gd name="T2" fmla="*/ 0 w 37363"/>
              <a:gd name="T3" fmla="*/ 0 h 43200"/>
              <a:gd name="T4" fmla="*/ 0 w 37363"/>
              <a:gd name="T5" fmla="*/ 0 h 43200"/>
              <a:gd name="T6" fmla="*/ 0 60000 65536"/>
              <a:gd name="T7" fmla="*/ 0 60000 65536"/>
              <a:gd name="T8" fmla="*/ 0 60000 65536"/>
              <a:gd name="T9" fmla="*/ 0 w 37363"/>
              <a:gd name="T10" fmla="*/ 0 h 43200"/>
              <a:gd name="T11" fmla="*/ 37363 w 37363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363" h="43200" fill="none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</a:path>
              <a:path w="37363" h="43200" stroke="0" extrusionOk="0">
                <a:moveTo>
                  <a:pt x="37362" y="36367"/>
                </a:moveTo>
                <a:cubicBezTo>
                  <a:pt x="33279" y="40726"/>
                  <a:pt x="2757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6608" y="-1"/>
                  <a:pt x="31461" y="1740"/>
                  <a:pt x="35328" y="4924"/>
                </a:cubicBezTo>
                <a:lnTo>
                  <a:pt x="21600" y="21600"/>
                </a:lnTo>
                <a:lnTo>
                  <a:pt x="37362" y="3636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Text Box 44"/>
          <p:cNvSpPr txBox="1">
            <a:spLocks noChangeArrowheads="1"/>
          </p:cNvSpPr>
          <p:nvPr/>
        </p:nvSpPr>
        <p:spPr bwMode="auto">
          <a:xfrm>
            <a:off x="4810125" y="338455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>
                <a:latin typeface="Arial" pitchFamily="34" charset="0"/>
              </a:rPr>
              <a:t>1/0</a:t>
            </a:r>
          </a:p>
        </p:txBody>
      </p:sp>
      <p:grpSp>
        <p:nvGrpSpPr>
          <p:cNvPr id="101" name="组合 100"/>
          <p:cNvGrpSpPr/>
          <p:nvPr/>
        </p:nvGrpSpPr>
        <p:grpSpPr>
          <a:xfrm>
            <a:off x="3860799" y="3638550"/>
            <a:ext cx="863601" cy="538163"/>
            <a:chOff x="5221287" y="3667125"/>
            <a:chExt cx="863601" cy="538163"/>
          </a:xfrm>
        </p:grpSpPr>
        <p:sp>
          <p:nvSpPr>
            <p:cNvPr id="99" name="Oval 31"/>
            <p:cNvSpPr>
              <a:spLocks noChangeArrowheads="1"/>
            </p:cNvSpPr>
            <p:nvPr/>
          </p:nvSpPr>
          <p:spPr bwMode="auto">
            <a:xfrm>
              <a:off x="5221287" y="3667125"/>
              <a:ext cx="574675" cy="53816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100" name="Text Box 32"/>
            <p:cNvSpPr txBox="1">
              <a:spLocks noChangeArrowheads="1"/>
            </p:cNvSpPr>
            <p:nvPr/>
          </p:nvSpPr>
          <p:spPr bwMode="auto">
            <a:xfrm>
              <a:off x="5257800" y="3769835"/>
              <a:ext cx="82708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0" lang="en-US" altLang="zh-CN" b="1" i="0" dirty="0">
                  <a:solidFill>
                    <a:srgbClr val="FF0000"/>
                  </a:solidFill>
                  <a:latin typeface="Arial" pitchFamily="34" charset="0"/>
                </a:rPr>
                <a:t>01</a:t>
              </a:r>
              <a:endParaRPr kumimoji="0" lang="en-US" altLang="zh-CN" b="1" i="0" baseline="-2000" dirty="0">
                <a:solidFill>
                  <a:srgbClr val="FF0000"/>
                </a:solidFill>
                <a:latin typeface="Arial" pitchFamily="34" charset="0"/>
              </a:endParaRPr>
            </a:p>
          </p:txBody>
        </p:sp>
      </p:grpSp>
      <p:cxnSp>
        <p:nvCxnSpPr>
          <p:cNvPr id="118" name="直接连接符 117"/>
          <p:cNvCxnSpPr/>
          <p:nvPr/>
        </p:nvCxnSpPr>
        <p:spPr>
          <a:xfrm>
            <a:off x="2590800" y="3028950"/>
            <a:ext cx="0" cy="304800"/>
          </a:xfrm>
          <a:prstGeom prst="line">
            <a:avLst/>
          </a:prstGeom>
          <a:ln w="15875">
            <a:solidFill>
              <a:schemeClr val="tx1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4114800" y="2991165"/>
            <a:ext cx="0" cy="648000"/>
          </a:xfrm>
          <a:prstGeom prst="line">
            <a:avLst/>
          </a:prstGeom>
          <a:ln w="15875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 Box 47"/>
          <p:cNvSpPr txBox="1">
            <a:spLocks noChangeArrowheads="1"/>
          </p:cNvSpPr>
          <p:nvPr/>
        </p:nvSpPr>
        <p:spPr bwMode="auto">
          <a:xfrm>
            <a:off x="4038600" y="3181350"/>
            <a:ext cx="6096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  <a:latin typeface="Arial" pitchFamily="34" charset="0"/>
              </a:rPr>
              <a:t>1/0</a:t>
            </a:r>
          </a:p>
        </p:txBody>
      </p:sp>
      <p:cxnSp>
        <p:nvCxnSpPr>
          <p:cNvPr id="166" name="直接连接符 165"/>
          <p:cNvCxnSpPr/>
          <p:nvPr/>
        </p:nvCxnSpPr>
        <p:spPr>
          <a:xfrm>
            <a:off x="2286000" y="3943350"/>
            <a:ext cx="1569972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 flipV="1">
            <a:off x="2286000" y="2935350"/>
            <a:ext cx="0" cy="1008000"/>
          </a:xfrm>
          <a:prstGeom prst="line">
            <a:avLst/>
          </a:prstGeom>
          <a:ln w="1587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 Box 44"/>
          <p:cNvSpPr txBox="1">
            <a:spLocks noChangeArrowheads="1"/>
          </p:cNvSpPr>
          <p:nvPr/>
        </p:nvSpPr>
        <p:spPr bwMode="auto">
          <a:xfrm>
            <a:off x="2667000" y="3562350"/>
            <a:ext cx="10779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i="0" dirty="0">
                <a:solidFill>
                  <a:srgbClr val="FF0000"/>
                </a:solidFill>
                <a:latin typeface="Arial" pitchFamily="34" charset="0"/>
              </a:rPr>
              <a:t>0/1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8217</TotalTime>
  <Words>876</Words>
  <Application>Microsoft Office PowerPoint</Application>
  <PresentationFormat>全屏显示(16:9)</PresentationFormat>
  <Paragraphs>281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Calibri</vt:lpstr>
      <vt:lpstr>Tahoma</vt:lpstr>
      <vt:lpstr>Times New Roman</vt:lpstr>
      <vt:lpstr>Wingdings</vt:lpstr>
      <vt:lpstr>默认设计模板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897</cp:revision>
  <cp:lastPrinted>2113-01-01T00:00:00Z</cp:lastPrinted>
  <dcterms:created xsi:type="dcterms:W3CDTF">2113-01-01T00:00:00Z</dcterms:created>
  <dcterms:modified xsi:type="dcterms:W3CDTF">2021-11-08T03:01:55Z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