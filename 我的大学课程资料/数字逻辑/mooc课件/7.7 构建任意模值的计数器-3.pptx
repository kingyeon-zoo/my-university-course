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9" r:id="rId2"/>
    <p:sldId id="541" r:id="rId3"/>
    <p:sldId id="540" r:id="rId4"/>
    <p:sldId id="557" r:id="rId5"/>
    <p:sldId id="568" r:id="rId6"/>
    <p:sldId id="553" r:id="rId7"/>
    <p:sldId id="555" r:id="rId8"/>
    <p:sldId id="556" r:id="rId9"/>
    <p:sldId id="569" r:id="rId10"/>
    <p:sldId id="558" r:id="rId11"/>
    <p:sldId id="559" r:id="rId12"/>
    <p:sldId id="571" r:id="rId13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DBE4BA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8916" autoAdjust="0"/>
  </p:normalViewPr>
  <p:slideViewPr>
    <p:cSldViewPr>
      <p:cViewPr varScale="1">
        <p:scale>
          <a:sx n="100" d="100"/>
          <a:sy n="100" d="100"/>
        </p:scale>
        <p:origin x="78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2.wmf"/><Relationship Id="rId21" Type="http://schemas.openxmlformats.org/officeDocument/2006/relationships/image" Target="../media/image11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wmf"/><Relationship Id="rId25" Type="http://schemas.openxmlformats.org/officeDocument/2006/relationships/image" Target="../media/image13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image" Target="../media/image12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wmf"/><Relationship Id="rId31" Type="http://schemas.openxmlformats.org/officeDocument/2006/relationships/image" Target="../media/image16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4.wmf"/><Relationship Id="rId30" Type="http://schemas.openxmlformats.org/officeDocument/2006/relationships/oleObject" Target="../embeddings/oleObject15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24.bin"/><Relationship Id="rId26" Type="http://schemas.openxmlformats.org/officeDocument/2006/relationships/oleObject" Target="../embeddings/oleObject28.bin"/><Relationship Id="rId3" Type="http://schemas.openxmlformats.org/officeDocument/2006/relationships/image" Target="../media/image3.wmf"/><Relationship Id="rId21" Type="http://schemas.openxmlformats.org/officeDocument/2006/relationships/image" Target="../media/image12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10.wmf"/><Relationship Id="rId25" Type="http://schemas.openxmlformats.org/officeDocument/2006/relationships/image" Target="../media/image14.wmf"/><Relationship Id="rId2" Type="http://schemas.openxmlformats.org/officeDocument/2006/relationships/oleObject" Target="../embeddings/oleObject16.bin"/><Relationship Id="rId16" Type="http://schemas.openxmlformats.org/officeDocument/2006/relationships/oleObject" Target="../embeddings/oleObject23.bin"/><Relationship Id="rId20" Type="http://schemas.openxmlformats.org/officeDocument/2006/relationships/oleObject" Target="../embeddings/oleObject25.bin"/><Relationship Id="rId29" Type="http://schemas.openxmlformats.org/officeDocument/2006/relationships/image" Target="../media/image1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27.bin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image" Target="../media/image13.wmf"/><Relationship Id="rId28" Type="http://schemas.openxmlformats.org/officeDocument/2006/relationships/oleObject" Target="../embeddings/oleObject29.bin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11.wmf"/><Relationship Id="rId31" Type="http://schemas.openxmlformats.org/officeDocument/2006/relationships/image" Target="../media/image2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22.bin"/><Relationship Id="rId22" Type="http://schemas.openxmlformats.org/officeDocument/2006/relationships/oleObject" Target="../embeddings/oleObject26.bin"/><Relationship Id="rId27" Type="http://schemas.openxmlformats.org/officeDocument/2006/relationships/image" Target="../media/image15.wmf"/><Relationship Id="rId30" Type="http://schemas.openxmlformats.org/officeDocument/2006/relationships/oleObject" Target="../embeddings/oleObject30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41.bin"/><Relationship Id="rId26" Type="http://schemas.openxmlformats.org/officeDocument/2006/relationships/oleObject" Target="../embeddings/oleObject45.bin"/><Relationship Id="rId3" Type="http://schemas.openxmlformats.org/officeDocument/2006/relationships/image" Target="../media/image3.wmf"/><Relationship Id="rId21" Type="http://schemas.openxmlformats.org/officeDocument/2006/relationships/image" Target="../media/image12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38.bin"/><Relationship Id="rId17" Type="http://schemas.openxmlformats.org/officeDocument/2006/relationships/image" Target="../media/image10.wmf"/><Relationship Id="rId25" Type="http://schemas.openxmlformats.org/officeDocument/2006/relationships/image" Target="../media/image14.wmf"/><Relationship Id="rId2" Type="http://schemas.openxmlformats.org/officeDocument/2006/relationships/oleObject" Target="../embeddings/oleObject33.bin"/><Relationship Id="rId16" Type="http://schemas.openxmlformats.org/officeDocument/2006/relationships/oleObject" Target="../embeddings/oleObject40.bin"/><Relationship Id="rId20" Type="http://schemas.openxmlformats.org/officeDocument/2006/relationships/oleObject" Target="../embeddings/oleObject42.bin"/><Relationship Id="rId29" Type="http://schemas.openxmlformats.org/officeDocument/2006/relationships/image" Target="../media/image1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44.bin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image" Target="../media/image13.wmf"/><Relationship Id="rId28" Type="http://schemas.openxmlformats.org/officeDocument/2006/relationships/oleObject" Target="../embeddings/oleObject46.bin"/><Relationship Id="rId10" Type="http://schemas.openxmlformats.org/officeDocument/2006/relationships/oleObject" Target="../embeddings/oleObject37.bin"/><Relationship Id="rId19" Type="http://schemas.openxmlformats.org/officeDocument/2006/relationships/image" Target="../media/image11.wmf"/><Relationship Id="rId31" Type="http://schemas.openxmlformats.org/officeDocument/2006/relationships/image" Target="../media/image2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39.bin"/><Relationship Id="rId22" Type="http://schemas.openxmlformats.org/officeDocument/2006/relationships/oleObject" Target="../embeddings/oleObject43.bin"/><Relationship Id="rId27" Type="http://schemas.openxmlformats.org/officeDocument/2006/relationships/image" Target="../media/image15.wmf"/><Relationship Id="rId30" Type="http://schemas.openxmlformats.org/officeDocument/2006/relationships/oleObject" Target="../embeddings/oleObject4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56.bin"/><Relationship Id="rId26" Type="http://schemas.openxmlformats.org/officeDocument/2006/relationships/oleObject" Target="../embeddings/oleObject60.bin"/><Relationship Id="rId3" Type="http://schemas.openxmlformats.org/officeDocument/2006/relationships/image" Target="../media/image3.wmf"/><Relationship Id="rId21" Type="http://schemas.openxmlformats.org/officeDocument/2006/relationships/image" Target="../media/image12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10.wmf"/><Relationship Id="rId25" Type="http://schemas.openxmlformats.org/officeDocument/2006/relationships/image" Target="../media/image14.wmf"/><Relationship Id="rId2" Type="http://schemas.openxmlformats.org/officeDocument/2006/relationships/oleObject" Target="../embeddings/oleObject48.bin"/><Relationship Id="rId16" Type="http://schemas.openxmlformats.org/officeDocument/2006/relationships/oleObject" Target="../embeddings/oleObject55.bin"/><Relationship Id="rId20" Type="http://schemas.openxmlformats.org/officeDocument/2006/relationships/oleObject" Target="../embeddings/oleObject57.bin"/><Relationship Id="rId29" Type="http://schemas.openxmlformats.org/officeDocument/2006/relationships/image" Target="../media/image1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59.bin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image" Target="../media/image13.wmf"/><Relationship Id="rId28" Type="http://schemas.openxmlformats.org/officeDocument/2006/relationships/oleObject" Target="../embeddings/oleObject61.bin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11.wmf"/><Relationship Id="rId31" Type="http://schemas.openxmlformats.org/officeDocument/2006/relationships/image" Target="../media/image2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54.bin"/><Relationship Id="rId22" Type="http://schemas.openxmlformats.org/officeDocument/2006/relationships/oleObject" Target="../embeddings/oleObject58.bin"/><Relationship Id="rId27" Type="http://schemas.openxmlformats.org/officeDocument/2006/relationships/image" Target="../media/image15.wmf"/><Relationship Id="rId30" Type="http://schemas.openxmlformats.org/officeDocument/2006/relationships/oleObject" Target="../embeddings/oleObject6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wmf"/><Relationship Id="rId18" Type="http://schemas.openxmlformats.org/officeDocument/2006/relationships/oleObject" Target="../embeddings/oleObject73.bin"/><Relationship Id="rId26" Type="http://schemas.openxmlformats.org/officeDocument/2006/relationships/oleObject" Target="../embeddings/oleObject77.bin"/><Relationship Id="rId39" Type="http://schemas.openxmlformats.org/officeDocument/2006/relationships/oleObject" Target="../embeddings/oleObject88.bin"/><Relationship Id="rId21" Type="http://schemas.openxmlformats.org/officeDocument/2006/relationships/image" Target="../media/image12.wmf"/><Relationship Id="rId34" Type="http://schemas.openxmlformats.org/officeDocument/2006/relationships/oleObject" Target="../embeddings/oleObject83.bin"/><Relationship Id="rId42" Type="http://schemas.openxmlformats.org/officeDocument/2006/relationships/oleObject" Target="../embeddings/oleObject91.bin"/><Relationship Id="rId7" Type="http://schemas.openxmlformats.org/officeDocument/2006/relationships/image" Target="../media/image5.wmf"/><Relationship Id="rId2" Type="http://schemas.openxmlformats.org/officeDocument/2006/relationships/oleObject" Target="../embeddings/oleObject65.bin"/><Relationship Id="rId16" Type="http://schemas.openxmlformats.org/officeDocument/2006/relationships/oleObject" Target="../embeddings/oleObject72.bin"/><Relationship Id="rId20" Type="http://schemas.openxmlformats.org/officeDocument/2006/relationships/oleObject" Target="../embeddings/oleObject74.bin"/><Relationship Id="rId29" Type="http://schemas.openxmlformats.org/officeDocument/2006/relationships/image" Target="../media/image16.wmf"/><Relationship Id="rId41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76.bin"/><Relationship Id="rId32" Type="http://schemas.openxmlformats.org/officeDocument/2006/relationships/oleObject" Target="../embeddings/oleObject81.bin"/><Relationship Id="rId37" Type="http://schemas.openxmlformats.org/officeDocument/2006/relationships/oleObject" Target="../embeddings/oleObject86.bin"/><Relationship Id="rId40" Type="http://schemas.openxmlformats.org/officeDocument/2006/relationships/oleObject" Target="../embeddings/oleObject89.bin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image" Target="../media/image13.wmf"/><Relationship Id="rId28" Type="http://schemas.openxmlformats.org/officeDocument/2006/relationships/oleObject" Target="../embeddings/oleObject78.bin"/><Relationship Id="rId36" Type="http://schemas.openxmlformats.org/officeDocument/2006/relationships/oleObject" Target="../embeddings/oleObject85.bin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11.wmf"/><Relationship Id="rId31" Type="http://schemas.openxmlformats.org/officeDocument/2006/relationships/oleObject" Target="../embeddings/oleObject80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71.bin"/><Relationship Id="rId22" Type="http://schemas.openxmlformats.org/officeDocument/2006/relationships/oleObject" Target="../embeddings/oleObject75.bin"/><Relationship Id="rId27" Type="http://schemas.openxmlformats.org/officeDocument/2006/relationships/image" Target="../media/image15.wmf"/><Relationship Id="rId30" Type="http://schemas.openxmlformats.org/officeDocument/2006/relationships/oleObject" Target="../embeddings/oleObject79.bin"/><Relationship Id="rId35" Type="http://schemas.openxmlformats.org/officeDocument/2006/relationships/oleObject" Target="../embeddings/oleObject84.bin"/><Relationship Id="rId43" Type="http://schemas.openxmlformats.org/officeDocument/2006/relationships/oleObject" Target="../embeddings/oleObject92.bin"/><Relationship Id="rId8" Type="http://schemas.openxmlformats.org/officeDocument/2006/relationships/oleObject" Target="../embeddings/oleObject68.bin"/><Relationship Id="rId3" Type="http://schemas.openxmlformats.org/officeDocument/2006/relationships/image" Target="../media/image3.wmf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10.wmf"/><Relationship Id="rId25" Type="http://schemas.openxmlformats.org/officeDocument/2006/relationships/image" Target="../media/image14.wmf"/><Relationship Id="rId33" Type="http://schemas.openxmlformats.org/officeDocument/2006/relationships/oleObject" Target="../embeddings/oleObject82.bin"/><Relationship Id="rId38" Type="http://schemas.openxmlformats.org/officeDocument/2006/relationships/oleObject" Target="../embeddings/oleObject87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wmf"/><Relationship Id="rId18" Type="http://schemas.openxmlformats.org/officeDocument/2006/relationships/oleObject" Target="../embeddings/oleObject101.bin"/><Relationship Id="rId26" Type="http://schemas.openxmlformats.org/officeDocument/2006/relationships/oleObject" Target="../embeddings/oleObject105.bin"/><Relationship Id="rId39" Type="http://schemas.openxmlformats.org/officeDocument/2006/relationships/oleObject" Target="../embeddings/oleObject116.bin"/><Relationship Id="rId21" Type="http://schemas.openxmlformats.org/officeDocument/2006/relationships/image" Target="../media/image12.wmf"/><Relationship Id="rId34" Type="http://schemas.openxmlformats.org/officeDocument/2006/relationships/oleObject" Target="../embeddings/oleObject111.bin"/><Relationship Id="rId42" Type="http://schemas.openxmlformats.org/officeDocument/2006/relationships/oleObject" Target="../embeddings/oleObject119.bin"/><Relationship Id="rId7" Type="http://schemas.openxmlformats.org/officeDocument/2006/relationships/image" Target="../media/image5.wmf"/><Relationship Id="rId2" Type="http://schemas.openxmlformats.org/officeDocument/2006/relationships/oleObject" Target="../embeddings/oleObject93.bin"/><Relationship Id="rId16" Type="http://schemas.openxmlformats.org/officeDocument/2006/relationships/oleObject" Target="../embeddings/oleObject100.bin"/><Relationship Id="rId20" Type="http://schemas.openxmlformats.org/officeDocument/2006/relationships/oleObject" Target="../embeddings/oleObject102.bin"/><Relationship Id="rId29" Type="http://schemas.openxmlformats.org/officeDocument/2006/relationships/image" Target="../media/image16.wmf"/><Relationship Id="rId41" Type="http://schemas.openxmlformats.org/officeDocument/2006/relationships/oleObject" Target="../embeddings/oleObject1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104.bin"/><Relationship Id="rId32" Type="http://schemas.openxmlformats.org/officeDocument/2006/relationships/oleObject" Target="../embeddings/oleObject109.bin"/><Relationship Id="rId37" Type="http://schemas.openxmlformats.org/officeDocument/2006/relationships/oleObject" Target="../embeddings/oleObject114.bin"/><Relationship Id="rId40" Type="http://schemas.openxmlformats.org/officeDocument/2006/relationships/oleObject" Target="../embeddings/oleObject117.bin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image" Target="../media/image13.wmf"/><Relationship Id="rId28" Type="http://schemas.openxmlformats.org/officeDocument/2006/relationships/oleObject" Target="../embeddings/oleObject106.bin"/><Relationship Id="rId36" Type="http://schemas.openxmlformats.org/officeDocument/2006/relationships/oleObject" Target="../embeddings/oleObject113.bin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11.wmf"/><Relationship Id="rId31" Type="http://schemas.openxmlformats.org/officeDocument/2006/relationships/oleObject" Target="../embeddings/oleObject108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99.bin"/><Relationship Id="rId22" Type="http://schemas.openxmlformats.org/officeDocument/2006/relationships/oleObject" Target="../embeddings/oleObject103.bin"/><Relationship Id="rId27" Type="http://schemas.openxmlformats.org/officeDocument/2006/relationships/image" Target="../media/image15.wmf"/><Relationship Id="rId30" Type="http://schemas.openxmlformats.org/officeDocument/2006/relationships/oleObject" Target="../embeddings/oleObject107.bin"/><Relationship Id="rId35" Type="http://schemas.openxmlformats.org/officeDocument/2006/relationships/oleObject" Target="../embeddings/oleObject112.bin"/><Relationship Id="rId43" Type="http://schemas.openxmlformats.org/officeDocument/2006/relationships/oleObject" Target="../embeddings/oleObject120.bin"/><Relationship Id="rId8" Type="http://schemas.openxmlformats.org/officeDocument/2006/relationships/oleObject" Target="../embeddings/oleObject96.bin"/><Relationship Id="rId3" Type="http://schemas.openxmlformats.org/officeDocument/2006/relationships/image" Target="../media/image3.wmf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10.wmf"/><Relationship Id="rId25" Type="http://schemas.openxmlformats.org/officeDocument/2006/relationships/image" Target="../media/image14.wmf"/><Relationship Id="rId33" Type="http://schemas.openxmlformats.org/officeDocument/2006/relationships/oleObject" Target="../embeddings/oleObject110.bin"/><Relationship Id="rId38" Type="http://schemas.openxmlformats.org/officeDocument/2006/relationships/oleObject" Target="../embeddings/oleObject11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2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构建任意模值计数器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同步清零法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971550"/>
            <a:ext cx="7696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清零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功能为同步清零。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62000" y="44005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24 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  <p:grpSp>
        <p:nvGrpSpPr>
          <p:cNvPr id="6" name="组合 144"/>
          <p:cNvGrpSpPr/>
          <p:nvPr/>
        </p:nvGrpSpPr>
        <p:grpSpPr>
          <a:xfrm>
            <a:off x="3957057" y="1428750"/>
            <a:ext cx="4671702" cy="2758569"/>
            <a:chOff x="3957057" y="1428750"/>
            <a:chExt cx="4671702" cy="2758569"/>
          </a:xfrm>
        </p:grpSpPr>
        <p:grpSp>
          <p:nvGrpSpPr>
            <p:cNvPr id="7" name="Group 83"/>
            <p:cNvGrpSpPr>
              <a:grpSpLocks/>
            </p:cNvGrpSpPr>
            <p:nvPr/>
          </p:nvGrpSpPr>
          <p:grpSpPr bwMode="auto">
            <a:xfrm>
              <a:off x="3957057" y="1962150"/>
              <a:ext cx="651088" cy="419207"/>
              <a:chOff x="1746" y="3385"/>
              <a:chExt cx="454" cy="317"/>
            </a:xfrm>
          </p:grpSpPr>
          <p:sp>
            <p:nvSpPr>
              <p:cNvPr id="119" name="AutoShape 84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0" name="Text Box 85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0000</a:t>
                </a:r>
              </a:p>
            </p:txBody>
          </p:sp>
        </p:grpSp>
        <p:grpSp>
          <p:nvGrpSpPr>
            <p:cNvPr id="8" name="Group 86"/>
            <p:cNvGrpSpPr>
              <a:grpSpLocks/>
            </p:cNvGrpSpPr>
            <p:nvPr/>
          </p:nvGrpSpPr>
          <p:grpSpPr bwMode="auto">
            <a:xfrm>
              <a:off x="5257800" y="1962150"/>
              <a:ext cx="651088" cy="419207"/>
              <a:chOff x="1746" y="3385"/>
              <a:chExt cx="454" cy="317"/>
            </a:xfrm>
          </p:grpSpPr>
          <p:sp>
            <p:nvSpPr>
              <p:cNvPr id="117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8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0010</a:t>
                </a:r>
              </a:p>
            </p:txBody>
          </p:sp>
        </p:grpSp>
        <p:grpSp>
          <p:nvGrpSpPr>
            <p:cNvPr id="9" name="Group 89"/>
            <p:cNvGrpSpPr>
              <a:grpSpLocks/>
            </p:cNvGrpSpPr>
            <p:nvPr/>
          </p:nvGrpSpPr>
          <p:grpSpPr bwMode="auto">
            <a:xfrm>
              <a:off x="4606711" y="1962150"/>
              <a:ext cx="651088" cy="419207"/>
              <a:chOff x="1746" y="3385"/>
              <a:chExt cx="454" cy="317"/>
            </a:xfrm>
          </p:grpSpPr>
          <p:sp>
            <p:nvSpPr>
              <p:cNvPr id="115" name="AutoShape 9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6" name="Text Box 9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0001</a:t>
                </a:r>
              </a:p>
            </p:txBody>
          </p:sp>
        </p:grpSp>
        <p:grpSp>
          <p:nvGrpSpPr>
            <p:cNvPr id="10" name="Group 92"/>
            <p:cNvGrpSpPr>
              <a:grpSpLocks/>
            </p:cNvGrpSpPr>
            <p:nvPr/>
          </p:nvGrpSpPr>
          <p:grpSpPr bwMode="auto">
            <a:xfrm>
              <a:off x="7273712" y="3172129"/>
              <a:ext cx="651088" cy="419207"/>
              <a:chOff x="1746" y="3385"/>
              <a:chExt cx="454" cy="317"/>
            </a:xfrm>
          </p:grpSpPr>
          <p:sp>
            <p:nvSpPr>
              <p:cNvPr id="113" name="AutoShape 9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4" name="Text Box 9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0111</a:t>
                </a:r>
              </a:p>
            </p:txBody>
          </p:sp>
        </p:grpSp>
        <p:grpSp>
          <p:nvGrpSpPr>
            <p:cNvPr id="12" name="Group 95"/>
            <p:cNvGrpSpPr>
              <a:grpSpLocks/>
            </p:cNvGrpSpPr>
            <p:nvPr/>
          </p:nvGrpSpPr>
          <p:grpSpPr bwMode="auto">
            <a:xfrm>
              <a:off x="7273712" y="2571750"/>
              <a:ext cx="651088" cy="419207"/>
              <a:chOff x="1746" y="3385"/>
              <a:chExt cx="454" cy="317"/>
            </a:xfrm>
          </p:grpSpPr>
          <p:sp>
            <p:nvSpPr>
              <p:cNvPr id="111" name="AutoShape 9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Text Box 9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0110</a:t>
                </a:r>
              </a:p>
            </p:txBody>
          </p:sp>
        </p:grpSp>
        <p:grpSp>
          <p:nvGrpSpPr>
            <p:cNvPr id="13" name="Group 98"/>
            <p:cNvGrpSpPr>
              <a:grpSpLocks/>
            </p:cNvGrpSpPr>
            <p:nvPr/>
          </p:nvGrpSpPr>
          <p:grpSpPr bwMode="auto">
            <a:xfrm>
              <a:off x="5907454" y="1962150"/>
              <a:ext cx="651088" cy="419207"/>
              <a:chOff x="1746" y="3385"/>
              <a:chExt cx="454" cy="317"/>
            </a:xfrm>
          </p:grpSpPr>
          <p:sp>
            <p:nvSpPr>
              <p:cNvPr id="109" name="AutoShape 9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0" name="Text Box 10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0011</a:t>
                </a:r>
              </a:p>
            </p:txBody>
          </p:sp>
        </p:grpSp>
        <p:grpSp>
          <p:nvGrpSpPr>
            <p:cNvPr id="14" name="Group 119"/>
            <p:cNvGrpSpPr>
              <a:grpSpLocks/>
            </p:cNvGrpSpPr>
            <p:nvPr/>
          </p:nvGrpSpPr>
          <p:grpSpPr bwMode="auto">
            <a:xfrm>
              <a:off x="5301096" y="3766789"/>
              <a:ext cx="651088" cy="419207"/>
              <a:chOff x="1746" y="3385"/>
              <a:chExt cx="454" cy="317"/>
            </a:xfrm>
          </p:grpSpPr>
          <p:sp>
            <p:nvSpPr>
              <p:cNvPr id="107" name="AutoShape 12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08" name="Text Box 12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1011</a:t>
                </a:r>
              </a:p>
            </p:txBody>
          </p:sp>
        </p:grpSp>
        <p:grpSp>
          <p:nvGrpSpPr>
            <p:cNvPr id="15" name="Group 122"/>
            <p:cNvGrpSpPr>
              <a:grpSpLocks/>
            </p:cNvGrpSpPr>
            <p:nvPr/>
          </p:nvGrpSpPr>
          <p:grpSpPr bwMode="auto">
            <a:xfrm>
              <a:off x="3957057" y="2562529"/>
              <a:ext cx="651088" cy="419207"/>
              <a:chOff x="1746" y="3385"/>
              <a:chExt cx="454" cy="317"/>
            </a:xfrm>
          </p:grpSpPr>
          <p:sp>
            <p:nvSpPr>
              <p:cNvPr id="105" name="AutoShape 12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06" name="Text Box 12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1111</a:t>
                </a:r>
              </a:p>
            </p:txBody>
          </p:sp>
        </p:grpSp>
        <p:grpSp>
          <p:nvGrpSpPr>
            <p:cNvPr id="16" name="Group 125"/>
            <p:cNvGrpSpPr>
              <a:grpSpLocks/>
            </p:cNvGrpSpPr>
            <p:nvPr/>
          </p:nvGrpSpPr>
          <p:grpSpPr bwMode="auto">
            <a:xfrm>
              <a:off x="5952184" y="3766789"/>
              <a:ext cx="651088" cy="419207"/>
              <a:chOff x="1746" y="3385"/>
              <a:chExt cx="454" cy="317"/>
            </a:xfrm>
          </p:grpSpPr>
          <p:sp>
            <p:nvSpPr>
              <p:cNvPr id="103" name="AutoShape 12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04" name="Text Box 12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1010</a:t>
                </a:r>
              </a:p>
            </p:txBody>
          </p:sp>
        </p:grpSp>
        <p:grpSp>
          <p:nvGrpSpPr>
            <p:cNvPr id="17" name="Group 128"/>
            <p:cNvGrpSpPr>
              <a:grpSpLocks/>
            </p:cNvGrpSpPr>
            <p:nvPr/>
          </p:nvGrpSpPr>
          <p:grpSpPr bwMode="auto">
            <a:xfrm>
              <a:off x="6603273" y="3768112"/>
              <a:ext cx="651088" cy="419207"/>
              <a:chOff x="1746" y="3385"/>
              <a:chExt cx="454" cy="317"/>
            </a:xfrm>
          </p:grpSpPr>
          <p:sp>
            <p:nvSpPr>
              <p:cNvPr id="101" name="AutoShape 12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02" name="Text Box 13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1001</a:t>
                </a:r>
              </a:p>
            </p:txBody>
          </p:sp>
        </p:grpSp>
        <p:sp>
          <p:nvSpPr>
            <p:cNvPr id="90" name="Line 131"/>
            <p:cNvSpPr>
              <a:spLocks noChangeShapeType="1"/>
            </p:cNvSpPr>
            <p:nvPr/>
          </p:nvSpPr>
          <p:spPr bwMode="auto">
            <a:xfrm>
              <a:off x="4477641" y="214200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1" name="Line 132"/>
            <p:cNvSpPr>
              <a:spLocks noChangeShapeType="1"/>
            </p:cNvSpPr>
            <p:nvPr/>
          </p:nvSpPr>
          <p:spPr bwMode="auto">
            <a:xfrm>
              <a:off x="5128729" y="214200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2" name="Line 134"/>
            <p:cNvSpPr>
              <a:spLocks noChangeShapeType="1"/>
            </p:cNvSpPr>
            <p:nvPr/>
          </p:nvSpPr>
          <p:spPr bwMode="auto">
            <a:xfrm rot="16200000" flipH="1">
              <a:off x="7444797" y="3082204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3" name="Line 135"/>
            <p:cNvSpPr>
              <a:spLocks noChangeShapeType="1"/>
            </p:cNvSpPr>
            <p:nvPr/>
          </p:nvSpPr>
          <p:spPr bwMode="auto">
            <a:xfrm rot="16200000">
              <a:off x="4159692" y="2472605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4" name="Line 136"/>
            <p:cNvSpPr>
              <a:spLocks noChangeShapeType="1"/>
            </p:cNvSpPr>
            <p:nvPr/>
          </p:nvSpPr>
          <p:spPr bwMode="auto">
            <a:xfrm rot="16200000">
              <a:off x="4159692" y="3072983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5" name="Line 139"/>
            <p:cNvSpPr>
              <a:spLocks noChangeShapeType="1"/>
            </p:cNvSpPr>
            <p:nvPr/>
          </p:nvSpPr>
          <p:spPr bwMode="auto">
            <a:xfrm flipH="1">
              <a:off x="5821680" y="400747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6" name="Line 140"/>
            <p:cNvSpPr>
              <a:spLocks noChangeShapeType="1"/>
            </p:cNvSpPr>
            <p:nvPr/>
          </p:nvSpPr>
          <p:spPr bwMode="auto">
            <a:xfrm flipH="1">
              <a:off x="6472768" y="400747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7" name="Line 141"/>
            <p:cNvSpPr>
              <a:spLocks noChangeShapeType="1"/>
            </p:cNvSpPr>
            <p:nvPr/>
          </p:nvSpPr>
          <p:spPr bwMode="auto">
            <a:xfrm flipH="1">
              <a:off x="7122423" y="400747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8" name="Line 142"/>
            <p:cNvSpPr>
              <a:spLocks noChangeShapeType="1"/>
            </p:cNvSpPr>
            <p:nvPr/>
          </p:nvSpPr>
          <p:spPr bwMode="auto">
            <a:xfrm>
              <a:off x="5778384" y="214200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9" name="Line 144"/>
            <p:cNvSpPr>
              <a:spLocks noChangeShapeType="1"/>
            </p:cNvSpPr>
            <p:nvPr/>
          </p:nvSpPr>
          <p:spPr bwMode="auto">
            <a:xfrm rot="5400000" flipV="1">
              <a:off x="7444797" y="2481826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grpSp>
          <p:nvGrpSpPr>
            <p:cNvPr id="18" name="组合 123"/>
            <p:cNvGrpSpPr/>
            <p:nvPr/>
          </p:nvGrpSpPr>
          <p:grpSpPr>
            <a:xfrm>
              <a:off x="7848600" y="1428750"/>
              <a:ext cx="780159" cy="685800"/>
              <a:chOff x="7180464" y="1581150"/>
              <a:chExt cx="780159" cy="719396"/>
            </a:xfrm>
          </p:grpSpPr>
          <p:sp>
            <p:nvSpPr>
              <p:cNvPr id="100" name="AutoShape 146"/>
              <p:cNvSpPr>
                <a:spLocks noChangeArrowheads="1"/>
              </p:cNvSpPr>
              <p:nvPr/>
            </p:nvSpPr>
            <p:spPr bwMode="auto">
              <a:xfrm>
                <a:off x="7180464" y="1581150"/>
                <a:ext cx="780159" cy="719396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graphicFrame>
            <p:nvGraphicFramePr>
              <p:cNvPr id="364560" name="Object 16"/>
              <p:cNvGraphicFramePr>
                <a:graphicFrameLocks noChangeAspect="1"/>
              </p:cNvGraphicFramePr>
              <p:nvPr/>
            </p:nvGraphicFramePr>
            <p:xfrm>
              <a:off x="7186101" y="1830637"/>
              <a:ext cx="762000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84" name="Equation" r:id="rId2" imgW="1168200" imgH="330120" progId="Equation.DSMT4">
                      <p:embed/>
                    </p:oleObj>
                  </mc:Choice>
                  <mc:Fallback>
                    <p:oleObj name="Equation" r:id="rId2" imgW="1168200" imgH="330120" progId="Equation.DSMT4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86101" y="1830637"/>
                            <a:ext cx="762000" cy="215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1" name="Line 134"/>
            <p:cNvSpPr>
              <a:spLocks noChangeShapeType="1"/>
            </p:cNvSpPr>
            <p:nvPr/>
          </p:nvSpPr>
          <p:spPr bwMode="auto">
            <a:xfrm rot="16200000" flipH="1">
              <a:off x="7495286" y="3699744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122" name="AutoShape 129"/>
            <p:cNvSpPr>
              <a:spLocks noChangeArrowheads="1"/>
            </p:cNvSpPr>
            <p:nvPr/>
          </p:nvSpPr>
          <p:spPr bwMode="auto">
            <a:xfrm>
              <a:off x="7314087" y="3768112"/>
              <a:ext cx="456048" cy="41920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123" name="Text Box 130"/>
            <p:cNvSpPr txBox="1">
              <a:spLocks noChangeArrowheads="1"/>
            </p:cNvSpPr>
            <p:nvPr/>
          </p:nvSpPr>
          <p:spPr bwMode="auto">
            <a:xfrm>
              <a:off x="7261671" y="3806064"/>
              <a:ext cx="651088" cy="308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0" lang="en-US" altLang="zh-CN" sz="1400" dirty="0">
                  <a:solidFill>
                    <a:srgbClr val="FF0000"/>
                  </a:solidFill>
                  <a:effectLst/>
                  <a:latin typeface="Arial" charset="0"/>
                </a:rPr>
                <a:t>1000</a:t>
              </a:r>
            </a:p>
          </p:txBody>
        </p:sp>
        <p:grpSp>
          <p:nvGrpSpPr>
            <p:cNvPr id="19" name="Group 86"/>
            <p:cNvGrpSpPr>
              <a:grpSpLocks/>
            </p:cNvGrpSpPr>
            <p:nvPr/>
          </p:nvGrpSpPr>
          <p:grpSpPr bwMode="auto">
            <a:xfrm>
              <a:off x="6547857" y="1985284"/>
              <a:ext cx="651088" cy="419207"/>
              <a:chOff x="1746" y="3385"/>
              <a:chExt cx="454" cy="317"/>
            </a:xfrm>
          </p:grpSpPr>
          <p:sp>
            <p:nvSpPr>
              <p:cNvPr id="126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7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0100</a:t>
                </a:r>
              </a:p>
            </p:txBody>
          </p:sp>
        </p:grpSp>
        <p:sp>
          <p:nvSpPr>
            <p:cNvPr id="128" name="Line 132"/>
            <p:cNvSpPr>
              <a:spLocks noChangeShapeType="1"/>
            </p:cNvSpPr>
            <p:nvPr/>
          </p:nvSpPr>
          <p:spPr bwMode="auto">
            <a:xfrm>
              <a:off x="6418786" y="2165134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grpSp>
          <p:nvGrpSpPr>
            <p:cNvPr id="20" name="Group 125"/>
            <p:cNvGrpSpPr>
              <a:grpSpLocks/>
            </p:cNvGrpSpPr>
            <p:nvPr/>
          </p:nvGrpSpPr>
          <p:grpSpPr bwMode="auto">
            <a:xfrm>
              <a:off x="4629000" y="3768112"/>
              <a:ext cx="651088" cy="419207"/>
              <a:chOff x="1746" y="3385"/>
              <a:chExt cx="454" cy="317"/>
            </a:xfrm>
          </p:grpSpPr>
          <p:sp>
            <p:nvSpPr>
              <p:cNvPr id="130" name="AutoShape 12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31" name="Text Box 12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1100</a:t>
                </a:r>
              </a:p>
            </p:txBody>
          </p:sp>
        </p:grpSp>
        <p:sp>
          <p:nvSpPr>
            <p:cNvPr id="132" name="Line 139"/>
            <p:cNvSpPr>
              <a:spLocks noChangeShapeType="1"/>
            </p:cNvSpPr>
            <p:nvPr/>
          </p:nvSpPr>
          <p:spPr bwMode="auto">
            <a:xfrm flipH="1">
              <a:off x="5155473" y="3996712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grpSp>
          <p:nvGrpSpPr>
            <p:cNvPr id="21" name="Group 122"/>
            <p:cNvGrpSpPr>
              <a:grpSpLocks/>
            </p:cNvGrpSpPr>
            <p:nvPr/>
          </p:nvGrpSpPr>
          <p:grpSpPr bwMode="auto">
            <a:xfrm>
              <a:off x="3957057" y="3158512"/>
              <a:ext cx="651088" cy="419207"/>
              <a:chOff x="1746" y="3385"/>
              <a:chExt cx="454" cy="317"/>
            </a:xfrm>
          </p:grpSpPr>
          <p:sp>
            <p:nvSpPr>
              <p:cNvPr id="134" name="AutoShape 12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35" name="Text Box 12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1110</a:t>
                </a:r>
              </a:p>
            </p:txBody>
          </p:sp>
        </p:grpSp>
        <p:sp>
          <p:nvSpPr>
            <p:cNvPr id="136" name="Line 136"/>
            <p:cNvSpPr>
              <a:spLocks noChangeShapeType="1"/>
            </p:cNvSpPr>
            <p:nvPr/>
          </p:nvSpPr>
          <p:spPr bwMode="auto">
            <a:xfrm rot="16200000">
              <a:off x="4159692" y="3668966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137" name="Line 132"/>
            <p:cNvSpPr>
              <a:spLocks noChangeShapeType="1"/>
            </p:cNvSpPr>
            <p:nvPr/>
          </p:nvSpPr>
          <p:spPr bwMode="auto">
            <a:xfrm>
              <a:off x="7086600" y="219075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grpSp>
          <p:nvGrpSpPr>
            <p:cNvPr id="22" name="Group 86"/>
            <p:cNvGrpSpPr>
              <a:grpSpLocks/>
            </p:cNvGrpSpPr>
            <p:nvPr/>
          </p:nvGrpSpPr>
          <p:grpSpPr bwMode="auto">
            <a:xfrm>
              <a:off x="7250035" y="1971371"/>
              <a:ext cx="651088" cy="419207"/>
              <a:chOff x="1746" y="3385"/>
              <a:chExt cx="454" cy="317"/>
            </a:xfrm>
          </p:grpSpPr>
          <p:sp>
            <p:nvSpPr>
              <p:cNvPr id="139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40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0101</a:t>
                </a:r>
              </a:p>
            </p:txBody>
          </p:sp>
        </p:grpSp>
        <p:grpSp>
          <p:nvGrpSpPr>
            <p:cNvPr id="23" name="Group 119"/>
            <p:cNvGrpSpPr>
              <a:grpSpLocks/>
            </p:cNvGrpSpPr>
            <p:nvPr/>
          </p:nvGrpSpPr>
          <p:grpSpPr bwMode="auto">
            <a:xfrm>
              <a:off x="3977514" y="3753165"/>
              <a:ext cx="651088" cy="419207"/>
              <a:chOff x="1746" y="3385"/>
              <a:chExt cx="454" cy="317"/>
            </a:xfrm>
          </p:grpSpPr>
          <p:sp>
            <p:nvSpPr>
              <p:cNvPr id="142" name="AutoShape 12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43" name="Text Box 12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1101</a:t>
                </a:r>
              </a:p>
            </p:txBody>
          </p:sp>
        </p:grpSp>
        <p:sp>
          <p:nvSpPr>
            <p:cNvPr id="144" name="Line 139"/>
            <p:cNvSpPr>
              <a:spLocks noChangeShapeType="1"/>
            </p:cNvSpPr>
            <p:nvPr/>
          </p:nvSpPr>
          <p:spPr bwMode="auto">
            <a:xfrm flipH="1">
              <a:off x="4498098" y="3993846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</p:grpSp>
      <p:sp>
        <p:nvSpPr>
          <p:cNvPr id="146" name="TextBox 145"/>
          <p:cNvSpPr txBox="1"/>
          <p:nvPr/>
        </p:nvSpPr>
        <p:spPr>
          <a:xfrm>
            <a:off x="4724400" y="44005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25 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cxnSp>
        <p:nvCxnSpPr>
          <p:cNvPr id="147" name="直接箭头连接符 146"/>
          <p:cNvCxnSpPr>
            <a:stCxn id="114" idx="1"/>
          </p:cNvCxnSpPr>
          <p:nvPr/>
        </p:nvCxnSpPr>
        <p:spPr>
          <a:xfrm flipH="1" flipV="1">
            <a:off x="4419600" y="2343150"/>
            <a:ext cx="2854112" cy="1042550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组合 128"/>
          <p:cNvGrpSpPr/>
          <p:nvPr/>
        </p:nvGrpSpPr>
        <p:grpSpPr>
          <a:xfrm>
            <a:off x="533400" y="1733550"/>
            <a:ext cx="2971800" cy="1752600"/>
            <a:chOff x="1977326" y="926909"/>
            <a:chExt cx="3474212" cy="2155424"/>
          </a:xfrm>
        </p:grpSpPr>
        <p:grpSp>
          <p:nvGrpSpPr>
            <p:cNvPr id="133" name="Group 136"/>
            <p:cNvGrpSpPr>
              <a:grpSpLocks/>
            </p:cNvGrpSpPr>
            <p:nvPr/>
          </p:nvGrpSpPr>
          <p:grpSpPr bwMode="auto">
            <a:xfrm>
              <a:off x="1977326" y="926909"/>
              <a:ext cx="3474212" cy="2149328"/>
              <a:chOff x="2031" y="2338"/>
              <a:chExt cx="1587" cy="932"/>
            </a:xfrm>
          </p:grpSpPr>
          <p:sp>
            <p:nvSpPr>
              <p:cNvPr id="145" name="Rectangle 137"/>
              <p:cNvSpPr>
                <a:spLocks noChangeArrowheads="1"/>
              </p:cNvSpPr>
              <p:nvPr/>
            </p:nvSpPr>
            <p:spPr bwMode="auto">
              <a:xfrm>
                <a:off x="2303" y="2474"/>
                <a:ext cx="1089" cy="59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" name="Line 140"/>
              <p:cNvSpPr>
                <a:spLocks noChangeShapeType="1"/>
              </p:cNvSpPr>
              <p:nvPr/>
            </p:nvSpPr>
            <p:spPr bwMode="auto">
              <a:xfrm>
                <a:off x="2938" y="3064"/>
                <a:ext cx="0" cy="1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Line 141"/>
              <p:cNvSpPr>
                <a:spLocks noChangeShapeType="1"/>
              </p:cNvSpPr>
              <p:nvPr/>
            </p:nvSpPr>
            <p:spPr bwMode="auto">
              <a:xfrm>
                <a:off x="3119" y="3064"/>
                <a:ext cx="1" cy="20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Line 142"/>
              <p:cNvSpPr>
                <a:spLocks noChangeShapeType="1"/>
              </p:cNvSpPr>
              <p:nvPr/>
            </p:nvSpPr>
            <p:spPr bwMode="auto">
              <a:xfrm>
                <a:off x="2575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Line 143"/>
              <p:cNvSpPr>
                <a:spLocks noChangeShapeType="1"/>
              </p:cNvSpPr>
              <p:nvPr/>
            </p:nvSpPr>
            <p:spPr bwMode="auto">
              <a:xfrm>
                <a:off x="2756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Line 144"/>
              <p:cNvSpPr>
                <a:spLocks noChangeShapeType="1"/>
              </p:cNvSpPr>
              <p:nvPr/>
            </p:nvSpPr>
            <p:spPr bwMode="auto">
              <a:xfrm>
                <a:off x="2938" y="2338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Line 145"/>
              <p:cNvSpPr>
                <a:spLocks noChangeShapeType="1"/>
              </p:cNvSpPr>
              <p:nvPr/>
            </p:nvSpPr>
            <p:spPr bwMode="auto">
              <a:xfrm>
                <a:off x="3119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60" name="Object 146"/>
              <p:cNvGraphicFramePr>
                <a:graphicFrameLocks noChangeAspect="1"/>
              </p:cNvGraphicFramePr>
              <p:nvPr/>
            </p:nvGraphicFramePr>
            <p:xfrm>
              <a:off x="2332" y="2554"/>
              <a:ext cx="143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86" name="Equation" r:id="rId4" imgW="228600" imgH="164880" progId="Equation.DSMT4">
                      <p:embed/>
                    </p:oleObj>
                  </mc:Choice>
                  <mc:Fallback>
                    <p:oleObj name="Equation" r:id="rId4" imgW="228600" imgH="164880" progId="Equation.DSMT4">
                      <p:embed/>
                      <p:pic>
                        <p:nvPicPr>
                          <p:cNvPr id="0" name="Picture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2" y="2554"/>
                            <a:ext cx="143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1" name="Object 147"/>
              <p:cNvGraphicFramePr>
                <a:graphicFrameLocks noChangeAspect="1"/>
              </p:cNvGraphicFramePr>
              <p:nvPr/>
            </p:nvGraphicFramePr>
            <p:xfrm>
              <a:off x="3223" y="2863"/>
              <a:ext cx="16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87" name="Equation" r:id="rId6" imgW="241200" imgH="253800" progId="Equation.DSMT4">
                      <p:embed/>
                    </p:oleObj>
                  </mc:Choice>
                  <mc:Fallback>
                    <p:oleObj name="Equation" r:id="rId6" imgW="241200" imgH="253800" progId="Equation.DSMT4">
                      <p:embed/>
                      <p:pic>
                        <p:nvPicPr>
                          <p:cNvPr id="0" name="Picture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3" y="2863"/>
                            <a:ext cx="160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" name="Object 148"/>
              <p:cNvGraphicFramePr>
                <a:graphicFrameLocks noChangeAspect="1"/>
              </p:cNvGraphicFramePr>
              <p:nvPr/>
            </p:nvGraphicFramePr>
            <p:xfrm>
              <a:off x="3234" y="2559"/>
              <a:ext cx="161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88" name="Equation" r:id="rId8" imgW="253800" imgH="177480" progId="Equation.DSMT4">
                      <p:embed/>
                    </p:oleObj>
                  </mc:Choice>
                  <mc:Fallback>
                    <p:oleObj name="Equation" r:id="rId8" imgW="253800" imgH="177480" progId="Equation.DSMT4">
                      <p:embed/>
                      <p:pic>
                        <p:nvPicPr>
                          <p:cNvPr id="0" name="Picture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4" y="2559"/>
                            <a:ext cx="161" cy="1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" name="Object 149"/>
              <p:cNvGraphicFramePr>
                <a:graphicFrameLocks noChangeAspect="1"/>
              </p:cNvGraphicFramePr>
              <p:nvPr/>
            </p:nvGraphicFramePr>
            <p:xfrm>
              <a:off x="2506" y="2905"/>
              <a:ext cx="152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89" name="Equation" r:id="rId10" imgW="228600" imgH="228600" progId="Equation.DSMT4">
                      <p:embed/>
                    </p:oleObj>
                  </mc:Choice>
                  <mc:Fallback>
                    <p:oleObj name="Equation" r:id="rId10" imgW="228600" imgH="228600" progId="Equation.DSMT4">
                      <p:embed/>
                      <p:pic>
                        <p:nvPicPr>
                          <p:cNvPr id="0" name="Picture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6" y="2905"/>
                            <a:ext cx="152" cy="1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5" name="Object 150"/>
              <p:cNvGraphicFramePr>
                <a:graphicFrameLocks noChangeAspect="1"/>
              </p:cNvGraphicFramePr>
              <p:nvPr/>
            </p:nvGraphicFramePr>
            <p:xfrm>
              <a:off x="2702" y="2918"/>
              <a:ext cx="134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90" name="Equation" r:id="rId12" imgW="215640" imgH="228600" progId="Equation.DSMT4">
                      <p:embed/>
                    </p:oleObj>
                  </mc:Choice>
                  <mc:Fallback>
                    <p:oleObj name="Equation" r:id="rId12" imgW="215640" imgH="228600" progId="Equation.DSMT4">
                      <p:embed/>
                      <p:pic>
                        <p:nvPicPr>
                          <p:cNvPr id="0" name="Picture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2" y="2918"/>
                            <a:ext cx="134" cy="14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7" name="Object 151"/>
              <p:cNvGraphicFramePr>
                <a:graphicFrameLocks noChangeAspect="1"/>
              </p:cNvGraphicFramePr>
              <p:nvPr/>
            </p:nvGraphicFramePr>
            <p:xfrm>
              <a:off x="2891" y="2918"/>
              <a:ext cx="138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91" name="Equation" r:id="rId14" imgW="215640" imgH="228600" progId="Equation.DSMT4">
                      <p:embed/>
                    </p:oleObj>
                  </mc:Choice>
                  <mc:Fallback>
                    <p:oleObj name="Equation" r:id="rId14" imgW="215640" imgH="228600" progId="Equation.DSMT4">
                      <p:embed/>
                      <p:pic>
                        <p:nvPicPr>
                          <p:cNvPr id="0" name="Picture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1" y="2918"/>
                            <a:ext cx="138" cy="1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8" name="Object 152"/>
              <p:cNvGraphicFramePr>
                <a:graphicFrameLocks noChangeAspect="1"/>
              </p:cNvGraphicFramePr>
              <p:nvPr/>
            </p:nvGraphicFramePr>
            <p:xfrm>
              <a:off x="3058" y="2914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92" name="Equation" r:id="rId16" imgW="228600" imgH="228600" progId="Equation.DSMT4">
                      <p:embed/>
                    </p:oleObj>
                  </mc:Choice>
                  <mc:Fallback>
                    <p:oleObj name="Equation" r:id="rId16" imgW="228600" imgH="228600" progId="Equation.DSMT4">
                      <p:embed/>
                      <p:pic>
                        <p:nvPicPr>
                          <p:cNvPr id="0" name="Picture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8" y="2914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9" name="Object 153"/>
              <p:cNvGraphicFramePr>
                <a:graphicFrameLocks noChangeAspect="1"/>
              </p:cNvGraphicFramePr>
              <p:nvPr/>
            </p:nvGraphicFramePr>
            <p:xfrm>
              <a:off x="3086" y="2475"/>
              <a:ext cx="102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93" name="Equation" r:id="rId18" imgW="164880" imgH="164880" progId="Equation.DSMT4">
                      <p:embed/>
                    </p:oleObj>
                  </mc:Choice>
                  <mc:Fallback>
                    <p:oleObj name="Equation" r:id="rId18" imgW="164880" imgH="164880" progId="Equation.DSMT4">
                      <p:embed/>
                      <p:pic>
                        <p:nvPicPr>
                          <p:cNvPr id="0" name="Picture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6" y="2475"/>
                            <a:ext cx="102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0" name="Object 154"/>
              <p:cNvGraphicFramePr>
                <a:graphicFrameLocks noChangeAspect="1"/>
              </p:cNvGraphicFramePr>
              <p:nvPr/>
            </p:nvGraphicFramePr>
            <p:xfrm>
              <a:off x="2885" y="2470"/>
              <a:ext cx="93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94" name="Equation" r:id="rId20" imgW="152280" imgH="177480" progId="Equation.DSMT4">
                      <p:embed/>
                    </p:oleObj>
                  </mc:Choice>
                  <mc:Fallback>
                    <p:oleObj name="Equation" r:id="rId20" imgW="152280" imgH="177480" progId="Equation.DSMT4">
                      <p:embed/>
                      <p:pic>
                        <p:nvPicPr>
                          <p:cNvPr id="0" name="Picture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5" y="2470"/>
                            <a:ext cx="93" cy="1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" name="Object 155"/>
              <p:cNvGraphicFramePr>
                <a:graphicFrameLocks noChangeAspect="1"/>
              </p:cNvGraphicFramePr>
              <p:nvPr/>
            </p:nvGraphicFramePr>
            <p:xfrm>
              <a:off x="2708" y="2478"/>
              <a:ext cx="93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95" name="Equation" r:id="rId22" imgW="152280" imgH="164880" progId="Equation.DSMT4">
                      <p:embed/>
                    </p:oleObj>
                  </mc:Choice>
                  <mc:Fallback>
                    <p:oleObj name="Equation" r:id="rId22" imgW="152280" imgH="164880" progId="Equation.DSMT4">
                      <p:embed/>
                      <p:pic>
                        <p:nvPicPr>
                          <p:cNvPr id="0" name="Picture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8" y="2478"/>
                            <a:ext cx="93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" name="Object 156"/>
              <p:cNvGraphicFramePr>
                <a:graphicFrameLocks noChangeAspect="1"/>
              </p:cNvGraphicFramePr>
              <p:nvPr/>
            </p:nvGraphicFramePr>
            <p:xfrm>
              <a:off x="2509" y="2476"/>
              <a:ext cx="96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96" name="Equation" r:id="rId24" imgW="152280" imgH="164880" progId="Equation.DSMT4">
                      <p:embed/>
                    </p:oleObj>
                  </mc:Choice>
                  <mc:Fallback>
                    <p:oleObj name="Equation" r:id="rId24" imgW="152280" imgH="164880" progId="Equation.DSMT4">
                      <p:embed/>
                      <p:pic>
                        <p:nvPicPr>
                          <p:cNvPr id="0" name="Picture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9" y="2476"/>
                            <a:ext cx="96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3" name="Object 157"/>
              <p:cNvGraphicFramePr>
                <a:graphicFrameLocks noChangeAspect="1"/>
              </p:cNvGraphicFramePr>
              <p:nvPr/>
            </p:nvGraphicFramePr>
            <p:xfrm>
              <a:off x="2302" y="2914"/>
              <a:ext cx="203" cy="1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97" name="Equation" r:id="rId26" imgW="355320" imgH="177480" progId="Equation.DSMT4">
                      <p:embed/>
                    </p:oleObj>
                  </mc:Choice>
                  <mc:Fallback>
                    <p:oleObj name="Equation" r:id="rId26" imgW="355320" imgH="177480" progId="Equation.DSMT4">
                      <p:embed/>
                      <p:pic>
                        <p:nvPicPr>
                          <p:cNvPr id="0" name="Picture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2" y="2914"/>
                            <a:ext cx="203" cy="1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6" name="Line 158"/>
              <p:cNvSpPr>
                <a:spLocks noChangeShapeType="1"/>
              </p:cNvSpPr>
              <p:nvPr/>
            </p:nvSpPr>
            <p:spPr bwMode="auto">
              <a:xfrm>
                <a:off x="2031" y="2610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Line 159"/>
              <p:cNvSpPr>
                <a:spLocks noChangeShapeType="1"/>
              </p:cNvSpPr>
              <p:nvPr/>
            </p:nvSpPr>
            <p:spPr bwMode="auto">
              <a:xfrm>
                <a:off x="2031" y="2973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Line 160"/>
              <p:cNvSpPr>
                <a:spLocks noChangeShapeType="1"/>
              </p:cNvSpPr>
              <p:nvPr/>
            </p:nvSpPr>
            <p:spPr bwMode="auto">
              <a:xfrm>
                <a:off x="2045" y="2782"/>
                <a:ext cx="258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80" name="Object 161"/>
              <p:cNvGraphicFramePr>
                <a:graphicFrameLocks noChangeAspect="1"/>
              </p:cNvGraphicFramePr>
              <p:nvPr/>
            </p:nvGraphicFramePr>
            <p:xfrm>
              <a:off x="2333" y="2731"/>
              <a:ext cx="153" cy="1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98" name="Equation" r:id="rId28" imgW="241200" imgH="164880" progId="Equation.DSMT4">
                      <p:embed/>
                    </p:oleObj>
                  </mc:Choice>
                  <mc:Fallback>
                    <p:oleObj name="Equation" r:id="rId28" imgW="241200" imgH="164880" progId="Equation.DSMT4">
                      <p:embed/>
                      <p:pic>
                        <p:nvPicPr>
                          <p:cNvPr id="0" name="Picture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3" y="2731"/>
                            <a:ext cx="153" cy="10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81" name="Group 162"/>
              <p:cNvGrpSpPr>
                <a:grpSpLocks/>
              </p:cNvGrpSpPr>
              <p:nvPr/>
            </p:nvGrpSpPr>
            <p:grpSpPr bwMode="auto">
              <a:xfrm>
                <a:off x="3391" y="2745"/>
                <a:ext cx="226" cy="46"/>
                <a:chOff x="250" y="2568"/>
                <a:chExt cx="680" cy="182"/>
              </a:xfrm>
            </p:grpSpPr>
            <p:sp>
              <p:nvSpPr>
                <p:cNvPr id="191" name="Oval 163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2" name="Line 164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3" name="Group 165"/>
              <p:cNvGrpSpPr>
                <a:grpSpLocks/>
              </p:cNvGrpSpPr>
              <p:nvPr/>
            </p:nvGrpSpPr>
            <p:grpSpPr bwMode="auto">
              <a:xfrm>
                <a:off x="3391" y="2927"/>
                <a:ext cx="227" cy="46"/>
                <a:chOff x="250" y="2568"/>
                <a:chExt cx="680" cy="182"/>
              </a:xfrm>
            </p:grpSpPr>
            <p:sp>
              <p:nvSpPr>
                <p:cNvPr id="188" name="Oval 166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0" name="Line 167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4" name="Line 168"/>
              <p:cNvSpPr>
                <a:spLocks noChangeShapeType="1"/>
              </p:cNvSpPr>
              <p:nvPr/>
            </p:nvSpPr>
            <p:spPr bwMode="auto">
              <a:xfrm>
                <a:off x="3391" y="2609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85" name="Object 169"/>
              <p:cNvGraphicFramePr>
                <a:graphicFrameLocks noChangeAspect="1"/>
              </p:cNvGraphicFramePr>
              <p:nvPr/>
            </p:nvGraphicFramePr>
            <p:xfrm>
              <a:off x="3235" y="2708"/>
              <a:ext cx="141" cy="1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5599" name="Equation" r:id="rId30" imgW="253800" imgH="203040" progId="Equation.DSMT4">
                      <p:embed/>
                    </p:oleObj>
                  </mc:Choice>
                  <mc:Fallback>
                    <p:oleObj name="Equation" r:id="rId30" imgW="253800" imgH="203040" progId="Equation.DSMT4">
                      <p:embed/>
                      <p:pic>
                        <p:nvPicPr>
                          <p:cNvPr id="0" name="Picture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5" y="2708"/>
                            <a:ext cx="141" cy="11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7" name="Text Box 170"/>
              <p:cNvSpPr txBox="1">
                <a:spLocks noChangeArrowheads="1"/>
              </p:cNvSpPr>
              <p:nvPr/>
            </p:nvSpPr>
            <p:spPr bwMode="auto">
              <a:xfrm>
                <a:off x="2620" y="2655"/>
                <a:ext cx="499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200" dirty="0">
                    <a:solidFill>
                      <a:srgbClr val="800000"/>
                    </a:solidFill>
                    <a:effectLst/>
                    <a:latin typeface="Arial" pitchFamily="34" charset="0"/>
                  </a:rPr>
                  <a:t>74LS163</a:t>
                </a:r>
              </a:p>
            </p:txBody>
          </p:sp>
        </p:grpSp>
        <p:sp>
          <p:nvSpPr>
            <p:cNvPr id="138" name="Line 140"/>
            <p:cNvSpPr>
              <a:spLocks noChangeShapeType="1"/>
            </p:cNvSpPr>
            <p:nvPr/>
          </p:nvSpPr>
          <p:spPr bwMode="auto">
            <a:xfrm>
              <a:off x="3200903" y="2607267"/>
              <a:ext cx="0" cy="4566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41"/>
            <p:cNvSpPr>
              <a:spLocks noChangeShapeType="1"/>
            </p:cNvSpPr>
            <p:nvPr/>
          </p:nvSpPr>
          <p:spPr bwMode="auto">
            <a:xfrm>
              <a:off x="3597142" y="2607267"/>
              <a:ext cx="2189" cy="4750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5" name="矩形 124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同步清零法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971550"/>
            <a:ext cx="7924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的加法计数器。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清零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功能为同步清零。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48"/>
          <p:cNvGrpSpPr/>
          <p:nvPr/>
        </p:nvGrpSpPr>
        <p:grpSpPr>
          <a:xfrm>
            <a:off x="228600" y="1581149"/>
            <a:ext cx="3123480" cy="2590802"/>
            <a:chOff x="1977326" y="926908"/>
            <a:chExt cx="3651535" cy="3186281"/>
          </a:xfrm>
        </p:grpSpPr>
        <p:grpSp>
          <p:nvGrpSpPr>
            <p:cNvPr id="3" name="Group 136"/>
            <p:cNvGrpSpPr>
              <a:grpSpLocks/>
            </p:cNvGrpSpPr>
            <p:nvPr/>
          </p:nvGrpSpPr>
          <p:grpSpPr bwMode="auto">
            <a:xfrm>
              <a:off x="1977326" y="926908"/>
              <a:ext cx="3651535" cy="2624394"/>
              <a:chOff x="2031" y="2338"/>
              <a:chExt cx="1668" cy="1138"/>
            </a:xfrm>
          </p:grpSpPr>
          <p:sp>
            <p:nvSpPr>
              <p:cNvPr id="53" name="Rectangle 137"/>
              <p:cNvSpPr>
                <a:spLocks noChangeArrowheads="1"/>
              </p:cNvSpPr>
              <p:nvPr/>
            </p:nvSpPr>
            <p:spPr bwMode="auto">
              <a:xfrm>
                <a:off x="2303" y="2474"/>
                <a:ext cx="1089" cy="59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Line 140"/>
              <p:cNvSpPr>
                <a:spLocks noChangeShapeType="1"/>
              </p:cNvSpPr>
              <p:nvPr/>
            </p:nvSpPr>
            <p:spPr bwMode="auto">
              <a:xfrm>
                <a:off x="2938" y="3064"/>
                <a:ext cx="0" cy="4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141"/>
              <p:cNvSpPr>
                <a:spLocks noChangeShapeType="1"/>
              </p:cNvSpPr>
              <p:nvPr/>
            </p:nvSpPr>
            <p:spPr bwMode="auto">
              <a:xfrm>
                <a:off x="3119" y="3064"/>
                <a:ext cx="0" cy="8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Line 142"/>
              <p:cNvSpPr>
                <a:spLocks noChangeShapeType="1"/>
              </p:cNvSpPr>
              <p:nvPr/>
            </p:nvSpPr>
            <p:spPr bwMode="auto">
              <a:xfrm>
                <a:off x="2575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143"/>
              <p:cNvSpPr>
                <a:spLocks noChangeShapeType="1"/>
              </p:cNvSpPr>
              <p:nvPr/>
            </p:nvSpPr>
            <p:spPr bwMode="auto">
              <a:xfrm>
                <a:off x="2756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144"/>
              <p:cNvSpPr>
                <a:spLocks noChangeShapeType="1"/>
              </p:cNvSpPr>
              <p:nvPr/>
            </p:nvSpPr>
            <p:spPr bwMode="auto">
              <a:xfrm>
                <a:off x="2938" y="2338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145"/>
              <p:cNvSpPr>
                <a:spLocks noChangeShapeType="1"/>
              </p:cNvSpPr>
              <p:nvPr/>
            </p:nvSpPr>
            <p:spPr bwMode="auto">
              <a:xfrm>
                <a:off x="3119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0" name="Object 146"/>
              <p:cNvGraphicFramePr>
                <a:graphicFrameLocks noChangeAspect="1"/>
              </p:cNvGraphicFramePr>
              <p:nvPr/>
            </p:nvGraphicFramePr>
            <p:xfrm>
              <a:off x="2332" y="2554"/>
              <a:ext cx="143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46" name="Equation" r:id="rId2" imgW="228600" imgH="164880" progId="Equation.DSMT4">
                      <p:embed/>
                    </p:oleObj>
                  </mc:Choice>
                  <mc:Fallback>
                    <p:oleObj name="Equation" r:id="rId2" imgW="228600" imgH="164880" progId="Equation.DSMT4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2" y="2554"/>
                            <a:ext cx="143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Object 147"/>
              <p:cNvGraphicFramePr>
                <a:graphicFrameLocks noChangeAspect="1"/>
              </p:cNvGraphicFramePr>
              <p:nvPr/>
            </p:nvGraphicFramePr>
            <p:xfrm>
              <a:off x="3223" y="2863"/>
              <a:ext cx="16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47" name="Equation" r:id="rId4" imgW="241200" imgH="253800" progId="Equation.DSMT4">
                      <p:embed/>
                    </p:oleObj>
                  </mc:Choice>
                  <mc:Fallback>
                    <p:oleObj name="Equation" r:id="rId4" imgW="241200" imgH="253800" progId="Equation.DSMT4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3" y="2863"/>
                            <a:ext cx="160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" name="Object 148"/>
              <p:cNvGraphicFramePr>
                <a:graphicFrameLocks noChangeAspect="1"/>
              </p:cNvGraphicFramePr>
              <p:nvPr/>
            </p:nvGraphicFramePr>
            <p:xfrm>
              <a:off x="3234" y="2559"/>
              <a:ext cx="161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48" name="Equation" r:id="rId6" imgW="253800" imgH="177480" progId="Equation.DSMT4">
                      <p:embed/>
                    </p:oleObj>
                  </mc:Choice>
                  <mc:Fallback>
                    <p:oleObj name="Equation" r:id="rId6" imgW="253800" imgH="177480" progId="Equation.DSMT4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4" y="2559"/>
                            <a:ext cx="161" cy="1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4" name="Object 149"/>
              <p:cNvGraphicFramePr>
                <a:graphicFrameLocks noChangeAspect="1"/>
              </p:cNvGraphicFramePr>
              <p:nvPr/>
            </p:nvGraphicFramePr>
            <p:xfrm>
              <a:off x="2506" y="2905"/>
              <a:ext cx="152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49" name="Equation" r:id="rId8" imgW="228600" imgH="228600" progId="Equation.DSMT4">
                      <p:embed/>
                    </p:oleObj>
                  </mc:Choice>
                  <mc:Fallback>
                    <p:oleObj name="Equation" r:id="rId8" imgW="228600" imgH="228600" progId="Equation.DSMT4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6" y="2905"/>
                            <a:ext cx="152" cy="1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" name="Object 150"/>
              <p:cNvGraphicFramePr>
                <a:graphicFrameLocks noChangeAspect="1"/>
              </p:cNvGraphicFramePr>
              <p:nvPr/>
            </p:nvGraphicFramePr>
            <p:xfrm>
              <a:off x="2702" y="2918"/>
              <a:ext cx="134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50" name="Equation" r:id="rId10" imgW="215640" imgH="228600" progId="Equation.DSMT4">
                      <p:embed/>
                    </p:oleObj>
                  </mc:Choice>
                  <mc:Fallback>
                    <p:oleObj name="Equation" r:id="rId10" imgW="215640" imgH="228600" progId="Equation.DSMT4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2" y="2918"/>
                            <a:ext cx="134" cy="14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" name="Object 151"/>
              <p:cNvGraphicFramePr>
                <a:graphicFrameLocks noChangeAspect="1"/>
              </p:cNvGraphicFramePr>
              <p:nvPr/>
            </p:nvGraphicFramePr>
            <p:xfrm>
              <a:off x="2891" y="2918"/>
              <a:ext cx="138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51" name="Equation" r:id="rId12" imgW="215640" imgH="228600" progId="Equation.DSMT4">
                      <p:embed/>
                    </p:oleObj>
                  </mc:Choice>
                  <mc:Fallback>
                    <p:oleObj name="Equation" r:id="rId12" imgW="215640" imgH="228600" progId="Equation.DSMT4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1" y="2918"/>
                            <a:ext cx="138" cy="1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Object 152"/>
              <p:cNvGraphicFramePr>
                <a:graphicFrameLocks noChangeAspect="1"/>
              </p:cNvGraphicFramePr>
              <p:nvPr/>
            </p:nvGraphicFramePr>
            <p:xfrm>
              <a:off x="3058" y="2914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52" name="Equation" r:id="rId14" imgW="228600" imgH="228600" progId="Equation.DSMT4">
                      <p:embed/>
                    </p:oleObj>
                  </mc:Choice>
                  <mc:Fallback>
                    <p:oleObj name="Equation" r:id="rId14" imgW="228600" imgH="228600" progId="Equation.DSMT4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8" y="2914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8" name="Object 153"/>
              <p:cNvGraphicFramePr>
                <a:graphicFrameLocks noChangeAspect="1"/>
              </p:cNvGraphicFramePr>
              <p:nvPr/>
            </p:nvGraphicFramePr>
            <p:xfrm>
              <a:off x="3086" y="2475"/>
              <a:ext cx="102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53" name="Equation" r:id="rId16" imgW="164880" imgH="164880" progId="Equation.DSMT4">
                      <p:embed/>
                    </p:oleObj>
                  </mc:Choice>
                  <mc:Fallback>
                    <p:oleObj name="Equation" r:id="rId16" imgW="164880" imgH="164880" progId="Equation.DSMT4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6" y="2475"/>
                            <a:ext cx="102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Object 154"/>
              <p:cNvGraphicFramePr>
                <a:graphicFrameLocks noChangeAspect="1"/>
              </p:cNvGraphicFramePr>
              <p:nvPr/>
            </p:nvGraphicFramePr>
            <p:xfrm>
              <a:off x="2885" y="2470"/>
              <a:ext cx="93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54" name="Equation" r:id="rId18" imgW="152280" imgH="177480" progId="Equation.DSMT4">
                      <p:embed/>
                    </p:oleObj>
                  </mc:Choice>
                  <mc:Fallback>
                    <p:oleObj name="Equation" r:id="rId18" imgW="152280" imgH="177480" progId="Equation.DSMT4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5" y="2470"/>
                            <a:ext cx="93" cy="1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0" name="Object 155"/>
              <p:cNvGraphicFramePr>
                <a:graphicFrameLocks noChangeAspect="1"/>
              </p:cNvGraphicFramePr>
              <p:nvPr/>
            </p:nvGraphicFramePr>
            <p:xfrm>
              <a:off x="2708" y="2478"/>
              <a:ext cx="93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55" name="Equation" r:id="rId20" imgW="152280" imgH="164880" progId="Equation.DSMT4">
                      <p:embed/>
                    </p:oleObj>
                  </mc:Choice>
                  <mc:Fallback>
                    <p:oleObj name="Equation" r:id="rId20" imgW="152280" imgH="164880" progId="Equation.DSMT4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8" y="2478"/>
                            <a:ext cx="93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Object 156"/>
              <p:cNvGraphicFramePr>
                <a:graphicFrameLocks noChangeAspect="1"/>
              </p:cNvGraphicFramePr>
              <p:nvPr/>
            </p:nvGraphicFramePr>
            <p:xfrm>
              <a:off x="2509" y="2476"/>
              <a:ext cx="96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56" name="Equation" r:id="rId22" imgW="152280" imgH="164880" progId="Equation.DSMT4">
                      <p:embed/>
                    </p:oleObj>
                  </mc:Choice>
                  <mc:Fallback>
                    <p:oleObj name="Equation" r:id="rId22" imgW="152280" imgH="164880" progId="Equation.DSMT4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9" y="2476"/>
                            <a:ext cx="96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" name="Object 157"/>
              <p:cNvGraphicFramePr>
                <a:graphicFrameLocks noChangeAspect="1"/>
              </p:cNvGraphicFramePr>
              <p:nvPr/>
            </p:nvGraphicFramePr>
            <p:xfrm>
              <a:off x="2302" y="2914"/>
              <a:ext cx="203" cy="1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57" name="Equation" r:id="rId24" imgW="355320" imgH="177480" progId="Equation.DSMT4">
                      <p:embed/>
                    </p:oleObj>
                  </mc:Choice>
                  <mc:Fallback>
                    <p:oleObj name="Equation" r:id="rId24" imgW="355320" imgH="177480" progId="Equation.DSMT4">
                      <p:embed/>
                      <p:pic>
                        <p:nvPicPr>
                          <p:cNvPr id="0" name="Picture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2" y="2914"/>
                            <a:ext cx="203" cy="1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3" name="Line 158"/>
              <p:cNvSpPr>
                <a:spLocks noChangeShapeType="1"/>
              </p:cNvSpPr>
              <p:nvPr/>
            </p:nvSpPr>
            <p:spPr bwMode="auto">
              <a:xfrm>
                <a:off x="2031" y="2610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Line 159"/>
              <p:cNvSpPr>
                <a:spLocks noChangeShapeType="1"/>
              </p:cNvSpPr>
              <p:nvPr/>
            </p:nvSpPr>
            <p:spPr bwMode="auto">
              <a:xfrm>
                <a:off x="2031" y="2973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76" name="Object 161"/>
              <p:cNvGraphicFramePr>
                <a:graphicFrameLocks noChangeAspect="1"/>
              </p:cNvGraphicFramePr>
              <p:nvPr/>
            </p:nvGraphicFramePr>
            <p:xfrm>
              <a:off x="2333" y="2731"/>
              <a:ext cx="153" cy="1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58" name="Equation" r:id="rId26" imgW="241200" imgH="164880" progId="Equation.DSMT4">
                      <p:embed/>
                    </p:oleObj>
                  </mc:Choice>
                  <mc:Fallback>
                    <p:oleObj name="Equation" r:id="rId26" imgW="241200" imgH="164880" progId="Equation.DSMT4">
                      <p:embed/>
                      <p:pic>
                        <p:nvPicPr>
                          <p:cNvPr id="0" name="Picture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3" y="2731"/>
                            <a:ext cx="153" cy="10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" name="Group 162"/>
              <p:cNvGrpSpPr>
                <a:grpSpLocks/>
              </p:cNvGrpSpPr>
              <p:nvPr/>
            </p:nvGrpSpPr>
            <p:grpSpPr bwMode="auto">
              <a:xfrm>
                <a:off x="3391" y="2745"/>
                <a:ext cx="226" cy="46"/>
                <a:chOff x="250" y="2568"/>
                <a:chExt cx="680" cy="182"/>
              </a:xfrm>
            </p:grpSpPr>
            <p:sp>
              <p:nvSpPr>
                <p:cNvPr id="84" name="Oval 163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Line 164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165"/>
              <p:cNvGrpSpPr>
                <a:grpSpLocks/>
              </p:cNvGrpSpPr>
              <p:nvPr/>
            </p:nvGrpSpPr>
            <p:grpSpPr bwMode="auto">
              <a:xfrm>
                <a:off x="3391" y="2927"/>
                <a:ext cx="308" cy="46"/>
                <a:chOff x="250" y="2568"/>
                <a:chExt cx="924" cy="182"/>
              </a:xfrm>
            </p:grpSpPr>
            <p:sp>
              <p:nvSpPr>
                <p:cNvPr id="82" name="Oval 166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Line 167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78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9" name="Line 168"/>
              <p:cNvSpPr>
                <a:spLocks noChangeShapeType="1"/>
              </p:cNvSpPr>
              <p:nvPr/>
            </p:nvSpPr>
            <p:spPr bwMode="auto">
              <a:xfrm>
                <a:off x="3391" y="2609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80" name="Object 169"/>
              <p:cNvGraphicFramePr>
                <a:graphicFrameLocks noChangeAspect="1"/>
              </p:cNvGraphicFramePr>
              <p:nvPr/>
            </p:nvGraphicFramePr>
            <p:xfrm>
              <a:off x="3235" y="2708"/>
              <a:ext cx="141" cy="1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59" name="Equation" r:id="rId28" imgW="253800" imgH="203040" progId="Equation.DSMT4">
                      <p:embed/>
                    </p:oleObj>
                  </mc:Choice>
                  <mc:Fallback>
                    <p:oleObj name="Equation" r:id="rId28" imgW="253800" imgH="203040" progId="Equation.DSMT4">
                      <p:embed/>
                      <p:pic>
                        <p:nvPicPr>
                          <p:cNvPr id="0" name="Picture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5" y="2708"/>
                            <a:ext cx="141" cy="11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1" name="Text Box 170"/>
              <p:cNvSpPr txBox="1">
                <a:spLocks noChangeArrowheads="1"/>
              </p:cNvSpPr>
              <p:nvPr/>
            </p:nvSpPr>
            <p:spPr bwMode="auto">
              <a:xfrm>
                <a:off x="2620" y="2655"/>
                <a:ext cx="499" cy="1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200" dirty="0">
                    <a:solidFill>
                      <a:srgbClr val="800000"/>
                    </a:solidFill>
                    <a:effectLst/>
                    <a:latin typeface="Arial" pitchFamily="34" charset="0"/>
                  </a:rPr>
                  <a:t>74LS163</a:t>
                </a:r>
              </a:p>
            </p:txBody>
          </p:sp>
        </p:grpSp>
        <p:sp>
          <p:nvSpPr>
            <p:cNvPr id="51" name="Line 140"/>
            <p:cNvSpPr>
              <a:spLocks noChangeShapeType="1"/>
            </p:cNvSpPr>
            <p:nvPr/>
          </p:nvSpPr>
          <p:spPr bwMode="auto">
            <a:xfrm>
              <a:off x="3200903" y="2607267"/>
              <a:ext cx="0" cy="15059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141"/>
            <p:cNvSpPr>
              <a:spLocks noChangeShapeType="1"/>
            </p:cNvSpPr>
            <p:nvPr/>
          </p:nvSpPr>
          <p:spPr bwMode="auto">
            <a:xfrm>
              <a:off x="3597143" y="2607267"/>
              <a:ext cx="0" cy="13184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838200" y="46291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26 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  <p:grpSp>
        <p:nvGrpSpPr>
          <p:cNvPr id="145" name="组合 144"/>
          <p:cNvGrpSpPr/>
          <p:nvPr/>
        </p:nvGrpSpPr>
        <p:grpSpPr>
          <a:xfrm>
            <a:off x="3957057" y="1428750"/>
            <a:ext cx="4671702" cy="2758569"/>
            <a:chOff x="3957057" y="1428750"/>
            <a:chExt cx="4671702" cy="2758569"/>
          </a:xfrm>
        </p:grpSpPr>
        <p:grpSp>
          <p:nvGrpSpPr>
            <p:cNvPr id="46" name="Group 83"/>
            <p:cNvGrpSpPr>
              <a:grpSpLocks/>
            </p:cNvGrpSpPr>
            <p:nvPr/>
          </p:nvGrpSpPr>
          <p:grpSpPr bwMode="auto">
            <a:xfrm>
              <a:off x="3957057" y="1962150"/>
              <a:ext cx="651088" cy="419207"/>
              <a:chOff x="1746" y="3385"/>
              <a:chExt cx="454" cy="317"/>
            </a:xfrm>
          </p:grpSpPr>
          <p:sp>
            <p:nvSpPr>
              <p:cNvPr id="119" name="AutoShape 84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0" name="Text Box 85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0000</a:t>
                </a:r>
              </a:p>
            </p:txBody>
          </p:sp>
        </p:grpSp>
        <p:grpSp>
          <p:nvGrpSpPr>
            <p:cNvPr id="47" name="Group 86"/>
            <p:cNvGrpSpPr>
              <a:grpSpLocks/>
            </p:cNvGrpSpPr>
            <p:nvPr/>
          </p:nvGrpSpPr>
          <p:grpSpPr bwMode="auto">
            <a:xfrm>
              <a:off x="5257800" y="1962150"/>
              <a:ext cx="651088" cy="419207"/>
              <a:chOff x="1746" y="3385"/>
              <a:chExt cx="454" cy="317"/>
            </a:xfrm>
          </p:grpSpPr>
          <p:sp>
            <p:nvSpPr>
              <p:cNvPr id="117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8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0010</a:t>
                </a:r>
              </a:p>
            </p:txBody>
          </p:sp>
        </p:grpSp>
        <p:grpSp>
          <p:nvGrpSpPr>
            <p:cNvPr id="48" name="Group 89"/>
            <p:cNvGrpSpPr>
              <a:grpSpLocks/>
            </p:cNvGrpSpPr>
            <p:nvPr/>
          </p:nvGrpSpPr>
          <p:grpSpPr bwMode="auto">
            <a:xfrm>
              <a:off x="4606711" y="1962150"/>
              <a:ext cx="651088" cy="419207"/>
              <a:chOff x="1746" y="3385"/>
              <a:chExt cx="454" cy="317"/>
            </a:xfrm>
          </p:grpSpPr>
          <p:sp>
            <p:nvSpPr>
              <p:cNvPr id="115" name="AutoShape 9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6" name="Text Box 9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0001</a:t>
                </a:r>
              </a:p>
            </p:txBody>
          </p:sp>
        </p:grpSp>
        <p:grpSp>
          <p:nvGrpSpPr>
            <p:cNvPr id="49" name="Group 92"/>
            <p:cNvGrpSpPr>
              <a:grpSpLocks/>
            </p:cNvGrpSpPr>
            <p:nvPr/>
          </p:nvGrpSpPr>
          <p:grpSpPr bwMode="auto">
            <a:xfrm>
              <a:off x="7273712" y="3172129"/>
              <a:ext cx="651088" cy="419207"/>
              <a:chOff x="1746" y="3385"/>
              <a:chExt cx="454" cy="317"/>
            </a:xfrm>
          </p:grpSpPr>
          <p:sp>
            <p:nvSpPr>
              <p:cNvPr id="113" name="AutoShape 9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4" name="Text Box 9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0111</a:t>
                </a:r>
              </a:p>
            </p:txBody>
          </p:sp>
        </p:grpSp>
        <p:grpSp>
          <p:nvGrpSpPr>
            <p:cNvPr id="50" name="Group 95"/>
            <p:cNvGrpSpPr>
              <a:grpSpLocks/>
            </p:cNvGrpSpPr>
            <p:nvPr/>
          </p:nvGrpSpPr>
          <p:grpSpPr bwMode="auto">
            <a:xfrm>
              <a:off x="7273712" y="2571750"/>
              <a:ext cx="651088" cy="419207"/>
              <a:chOff x="1746" y="3385"/>
              <a:chExt cx="454" cy="317"/>
            </a:xfrm>
          </p:grpSpPr>
          <p:sp>
            <p:nvSpPr>
              <p:cNvPr id="111" name="AutoShape 9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Text Box 9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0110</a:t>
                </a:r>
              </a:p>
            </p:txBody>
          </p:sp>
        </p:grpSp>
        <p:grpSp>
          <p:nvGrpSpPr>
            <p:cNvPr id="77" name="Group 98"/>
            <p:cNvGrpSpPr>
              <a:grpSpLocks/>
            </p:cNvGrpSpPr>
            <p:nvPr/>
          </p:nvGrpSpPr>
          <p:grpSpPr bwMode="auto">
            <a:xfrm>
              <a:off x="5907454" y="1962150"/>
              <a:ext cx="651088" cy="419207"/>
              <a:chOff x="1746" y="3385"/>
              <a:chExt cx="454" cy="317"/>
            </a:xfrm>
          </p:grpSpPr>
          <p:sp>
            <p:nvSpPr>
              <p:cNvPr id="109" name="AutoShape 9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0" name="Text Box 10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>
                    <a:solidFill>
                      <a:srgbClr val="FF0000"/>
                    </a:solidFill>
                    <a:effectLst/>
                    <a:latin typeface="Arial" charset="0"/>
                  </a:rPr>
                  <a:t>0011</a:t>
                </a:r>
              </a:p>
            </p:txBody>
          </p:sp>
        </p:grpSp>
        <p:grpSp>
          <p:nvGrpSpPr>
            <p:cNvPr id="78" name="Group 119"/>
            <p:cNvGrpSpPr>
              <a:grpSpLocks/>
            </p:cNvGrpSpPr>
            <p:nvPr/>
          </p:nvGrpSpPr>
          <p:grpSpPr bwMode="auto">
            <a:xfrm>
              <a:off x="5301096" y="3766789"/>
              <a:ext cx="651088" cy="419207"/>
              <a:chOff x="1746" y="3385"/>
              <a:chExt cx="454" cy="317"/>
            </a:xfrm>
          </p:grpSpPr>
          <p:sp>
            <p:nvSpPr>
              <p:cNvPr id="107" name="AutoShape 12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08" name="Text Box 12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1011</a:t>
                </a:r>
              </a:p>
            </p:txBody>
          </p:sp>
        </p:grpSp>
        <p:grpSp>
          <p:nvGrpSpPr>
            <p:cNvPr id="87" name="Group 122"/>
            <p:cNvGrpSpPr>
              <a:grpSpLocks/>
            </p:cNvGrpSpPr>
            <p:nvPr/>
          </p:nvGrpSpPr>
          <p:grpSpPr bwMode="auto">
            <a:xfrm>
              <a:off x="3957057" y="2562529"/>
              <a:ext cx="651088" cy="419207"/>
              <a:chOff x="1746" y="3385"/>
              <a:chExt cx="454" cy="317"/>
            </a:xfrm>
          </p:grpSpPr>
          <p:sp>
            <p:nvSpPr>
              <p:cNvPr id="105" name="AutoShape 12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06" name="Text Box 12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1111</a:t>
                </a:r>
              </a:p>
            </p:txBody>
          </p:sp>
        </p:grpSp>
        <p:grpSp>
          <p:nvGrpSpPr>
            <p:cNvPr id="88" name="Group 125"/>
            <p:cNvGrpSpPr>
              <a:grpSpLocks/>
            </p:cNvGrpSpPr>
            <p:nvPr/>
          </p:nvGrpSpPr>
          <p:grpSpPr bwMode="auto">
            <a:xfrm>
              <a:off x="5952184" y="3766789"/>
              <a:ext cx="651088" cy="419207"/>
              <a:chOff x="1746" y="3385"/>
              <a:chExt cx="454" cy="317"/>
            </a:xfrm>
          </p:grpSpPr>
          <p:sp>
            <p:nvSpPr>
              <p:cNvPr id="103" name="AutoShape 12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04" name="Text Box 12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1010</a:t>
                </a:r>
              </a:p>
            </p:txBody>
          </p:sp>
        </p:grpSp>
        <p:grpSp>
          <p:nvGrpSpPr>
            <p:cNvPr id="89" name="Group 128"/>
            <p:cNvGrpSpPr>
              <a:grpSpLocks/>
            </p:cNvGrpSpPr>
            <p:nvPr/>
          </p:nvGrpSpPr>
          <p:grpSpPr bwMode="auto">
            <a:xfrm>
              <a:off x="6603273" y="3768112"/>
              <a:ext cx="651088" cy="419207"/>
              <a:chOff x="1746" y="3385"/>
              <a:chExt cx="454" cy="317"/>
            </a:xfrm>
          </p:grpSpPr>
          <p:sp>
            <p:nvSpPr>
              <p:cNvPr id="101" name="AutoShape 12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02" name="Text Box 13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1001</a:t>
                </a:r>
              </a:p>
            </p:txBody>
          </p:sp>
        </p:grpSp>
        <p:sp>
          <p:nvSpPr>
            <p:cNvPr id="90" name="Line 131"/>
            <p:cNvSpPr>
              <a:spLocks noChangeShapeType="1"/>
            </p:cNvSpPr>
            <p:nvPr/>
          </p:nvSpPr>
          <p:spPr bwMode="auto">
            <a:xfrm>
              <a:off x="4477641" y="214200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1" name="Line 132"/>
            <p:cNvSpPr>
              <a:spLocks noChangeShapeType="1"/>
            </p:cNvSpPr>
            <p:nvPr/>
          </p:nvSpPr>
          <p:spPr bwMode="auto">
            <a:xfrm>
              <a:off x="5128729" y="214200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2" name="Line 134"/>
            <p:cNvSpPr>
              <a:spLocks noChangeShapeType="1"/>
            </p:cNvSpPr>
            <p:nvPr/>
          </p:nvSpPr>
          <p:spPr bwMode="auto">
            <a:xfrm rot="16200000" flipH="1">
              <a:off x="7444797" y="3082204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3" name="Line 135"/>
            <p:cNvSpPr>
              <a:spLocks noChangeShapeType="1"/>
            </p:cNvSpPr>
            <p:nvPr/>
          </p:nvSpPr>
          <p:spPr bwMode="auto">
            <a:xfrm rot="16200000">
              <a:off x="4159692" y="2472605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4" name="Line 136"/>
            <p:cNvSpPr>
              <a:spLocks noChangeShapeType="1"/>
            </p:cNvSpPr>
            <p:nvPr/>
          </p:nvSpPr>
          <p:spPr bwMode="auto">
            <a:xfrm rot="16200000">
              <a:off x="4159692" y="3072983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5" name="Line 139"/>
            <p:cNvSpPr>
              <a:spLocks noChangeShapeType="1"/>
            </p:cNvSpPr>
            <p:nvPr/>
          </p:nvSpPr>
          <p:spPr bwMode="auto">
            <a:xfrm flipH="1">
              <a:off x="5821680" y="400747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6" name="Line 140"/>
            <p:cNvSpPr>
              <a:spLocks noChangeShapeType="1"/>
            </p:cNvSpPr>
            <p:nvPr/>
          </p:nvSpPr>
          <p:spPr bwMode="auto">
            <a:xfrm flipH="1">
              <a:off x="6472768" y="400747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7" name="Line 141"/>
            <p:cNvSpPr>
              <a:spLocks noChangeShapeType="1"/>
            </p:cNvSpPr>
            <p:nvPr/>
          </p:nvSpPr>
          <p:spPr bwMode="auto">
            <a:xfrm flipH="1">
              <a:off x="7122423" y="400747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8" name="Line 142"/>
            <p:cNvSpPr>
              <a:spLocks noChangeShapeType="1"/>
            </p:cNvSpPr>
            <p:nvPr/>
          </p:nvSpPr>
          <p:spPr bwMode="auto">
            <a:xfrm>
              <a:off x="5778384" y="2142000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99" name="Line 144"/>
            <p:cNvSpPr>
              <a:spLocks noChangeShapeType="1"/>
            </p:cNvSpPr>
            <p:nvPr/>
          </p:nvSpPr>
          <p:spPr bwMode="auto">
            <a:xfrm rot="5400000" flipV="1">
              <a:off x="7444797" y="2481826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grpSp>
          <p:nvGrpSpPr>
            <p:cNvPr id="124" name="组合 123"/>
            <p:cNvGrpSpPr/>
            <p:nvPr/>
          </p:nvGrpSpPr>
          <p:grpSpPr>
            <a:xfrm>
              <a:off x="7848600" y="1428750"/>
              <a:ext cx="780159" cy="685800"/>
              <a:chOff x="7180464" y="1581150"/>
              <a:chExt cx="780159" cy="719396"/>
            </a:xfrm>
          </p:grpSpPr>
          <p:sp>
            <p:nvSpPr>
              <p:cNvPr id="100" name="AutoShape 146"/>
              <p:cNvSpPr>
                <a:spLocks noChangeArrowheads="1"/>
              </p:cNvSpPr>
              <p:nvPr/>
            </p:nvSpPr>
            <p:spPr bwMode="auto">
              <a:xfrm>
                <a:off x="7180464" y="1581150"/>
                <a:ext cx="780159" cy="719396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graphicFrame>
            <p:nvGraphicFramePr>
              <p:cNvPr id="364560" name="Object 16"/>
              <p:cNvGraphicFramePr>
                <a:graphicFrameLocks noChangeAspect="1"/>
              </p:cNvGraphicFramePr>
              <p:nvPr/>
            </p:nvGraphicFramePr>
            <p:xfrm>
              <a:off x="7186101" y="1830637"/>
              <a:ext cx="762000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560" name="Equation" r:id="rId30" imgW="1168200" imgH="330120" progId="Equation.DSMT4">
                      <p:embed/>
                    </p:oleObj>
                  </mc:Choice>
                  <mc:Fallback>
                    <p:oleObj name="Equation" r:id="rId30" imgW="1168200" imgH="330120" progId="Equation.DSMT4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86101" y="1830637"/>
                            <a:ext cx="762000" cy="215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1" name="Line 134"/>
            <p:cNvSpPr>
              <a:spLocks noChangeShapeType="1"/>
            </p:cNvSpPr>
            <p:nvPr/>
          </p:nvSpPr>
          <p:spPr bwMode="auto">
            <a:xfrm rot="16200000" flipH="1">
              <a:off x="7495286" y="3699744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122" name="AutoShape 129"/>
            <p:cNvSpPr>
              <a:spLocks noChangeArrowheads="1"/>
            </p:cNvSpPr>
            <p:nvPr/>
          </p:nvSpPr>
          <p:spPr bwMode="auto">
            <a:xfrm>
              <a:off x="7314087" y="3768112"/>
              <a:ext cx="456048" cy="41920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123" name="Text Box 130"/>
            <p:cNvSpPr txBox="1">
              <a:spLocks noChangeArrowheads="1"/>
            </p:cNvSpPr>
            <p:nvPr/>
          </p:nvSpPr>
          <p:spPr bwMode="auto">
            <a:xfrm>
              <a:off x="7261671" y="3806064"/>
              <a:ext cx="651088" cy="308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0" lang="en-US" altLang="zh-CN" sz="1400" dirty="0">
                  <a:solidFill>
                    <a:srgbClr val="FF0000"/>
                  </a:solidFill>
                  <a:effectLst/>
                  <a:latin typeface="Arial" charset="0"/>
                </a:rPr>
                <a:t>1000</a:t>
              </a:r>
            </a:p>
          </p:txBody>
        </p:sp>
        <p:grpSp>
          <p:nvGrpSpPr>
            <p:cNvPr id="125" name="Group 86"/>
            <p:cNvGrpSpPr>
              <a:grpSpLocks/>
            </p:cNvGrpSpPr>
            <p:nvPr/>
          </p:nvGrpSpPr>
          <p:grpSpPr bwMode="auto">
            <a:xfrm>
              <a:off x="6547857" y="1985284"/>
              <a:ext cx="651088" cy="419207"/>
              <a:chOff x="1746" y="3385"/>
              <a:chExt cx="454" cy="317"/>
            </a:xfrm>
          </p:grpSpPr>
          <p:sp>
            <p:nvSpPr>
              <p:cNvPr id="126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7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0100</a:t>
                </a:r>
              </a:p>
            </p:txBody>
          </p:sp>
        </p:grpSp>
        <p:sp>
          <p:nvSpPr>
            <p:cNvPr id="128" name="Line 132"/>
            <p:cNvSpPr>
              <a:spLocks noChangeShapeType="1"/>
            </p:cNvSpPr>
            <p:nvPr/>
          </p:nvSpPr>
          <p:spPr bwMode="auto">
            <a:xfrm>
              <a:off x="6418786" y="2165134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grpSp>
          <p:nvGrpSpPr>
            <p:cNvPr id="129" name="Group 125"/>
            <p:cNvGrpSpPr>
              <a:grpSpLocks/>
            </p:cNvGrpSpPr>
            <p:nvPr/>
          </p:nvGrpSpPr>
          <p:grpSpPr bwMode="auto">
            <a:xfrm>
              <a:off x="4629000" y="3768112"/>
              <a:ext cx="651088" cy="419207"/>
              <a:chOff x="1746" y="3385"/>
              <a:chExt cx="454" cy="317"/>
            </a:xfrm>
          </p:grpSpPr>
          <p:sp>
            <p:nvSpPr>
              <p:cNvPr id="130" name="AutoShape 12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31" name="Text Box 12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1100</a:t>
                </a:r>
              </a:p>
            </p:txBody>
          </p:sp>
        </p:grpSp>
        <p:sp>
          <p:nvSpPr>
            <p:cNvPr id="132" name="Line 139"/>
            <p:cNvSpPr>
              <a:spLocks noChangeShapeType="1"/>
            </p:cNvSpPr>
            <p:nvPr/>
          </p:nvSpPr>
          <p:spPr bwMode="auto">
            <a:xfrm flipH="1">
              <a:off x="5155473" y="3996712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grpSp>
          <p:nvGrpSpPr>
            <p:cNvPr id="133" name="Group 122"/>
            <p:cNvGrpSpPr>
              <a:grpSpLocks/>
            </p:cNvGrpSpPr>
            <p:nvPr/>
          </p:nvGrpSpPr>
          <p:grpSpPr bwMode="auto">
            <a:xfrm>
              <a:off x="3957057" y="3158512"/>
              <a:ext cx="651088" cy="419207"/>
              <a:chOff x="1746" y="3385"/>
              <a:chExt cx="454" cy="317"/>
            </a:xfrm>
          </p:grpSpPr>
          <p:sp>
            <p:nvSpPr>
              <p:cNvPr id="134" name="AutoShape 12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35" name="Text Box 12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1110</a:t>
                </a:r>
              </a:p>
            </p:txBody>
          </p:sp>
        </p:grpSp>
        <p:sp>
          <p:nvSpPr>
            <p:cNvPr id="136" name="Line 136"/>
            <p:cNvSpPr>
              <a:spLocks noChangeShapeType="1"/>
            </p:cNvSpPr>
            <p:nvPr/>
          </p:nvSpPr>
          <p:spPr bwMode="auto">
            <a:xfrm rot="16200000">
              <a:off x="4159692" y="3668966"/>
              <a:ext cx="1798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137" name="Line 132"/>
            <p:cNvSpPr>
              <a:spLocks noChangeShapeType="1"/>
            </p:cNvSpPr>
            <p:nvPr/>
          </p:nvSpPr>
          <p:spPr bwMode="auto">
            <a:xfrm>
              <a:off x="7086600" y="2190750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grpSp>
          <p:nvGrpSpPr>
            <p:cNvPr id="138" name="Group 86"/>
            <p:cNvGrpSpPr>
              <a:grpSpLocks/>
            </p:cNvGrpSpPr>
            <p:nvPr/>
          </p:nvGrpSpPr>
          <p:grpSpPr bwMode="auto">
            <a:xfrm>
              <a:off x="7250035" y="1971371"/>
              <a:ext cx="651088" cy="419207"/>
              <a:chOff x="1746" y="3385"/>
              <a:chExt cx="454" cy="317"/>
            </a:xfrm>
          </p:grpSpPr>
          <p:sp>
            <p:nvSpPr>
              <p:cNvPr id="139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40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0101</a:t>
                </a:r>
              </a:p>
            </p:txBody>
          </p:sp>
        </p:grpSp>
        <p:grpSp>
          <p:nvGrpSpPr>
            <p:cNvPr id="141" name="Group 119"/>
            <p:cNvGrpSpPr>
              <a:grpSpLocks/>
            </p:cNvGrpSpPr>
            <p:nvPr/>
          </p:nvGrpSpPr>
          <p:grpSpPr bwMode="auto">
            <a:xfrm>
              <a:off x="3977514" y="3753165"/>
              <a:ext cx="651088" cy="419207"/>
              <a:chOff x="1746" y="3385"/>
              <a:chExt cx="454" cy="317"/>
            </a:xfrm>
          </p:grpSpPr>
          <p:sp>
            <p:nvSpPr>
              <p:cNvPr id="142" name="AutoShape 12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43" name="Text Box 12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1101</a:t>
                </a:r>
              </a:p>
            </p:txBody>
          </p:sp>
        </p:grpSp>
        <p:sp>
          <p:nvSpPr>
            <p:cNvPr id="144" name="Line 139"/>
            <p:cNvSpPr>
              <a:spLocks noChangeShapeType="1"/>
            </p:cNvSpPr>
            <p:nvPr/>
          </p:nvSpPr>
          <p:spPr bwMode="auto">
            <a:xfrm flipH="1">
              <a:off x="4498098" y="3993846"/>
              <a:ext cx="195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</p:grpSp>
      <p:sp>
        <p:nvSpPr>
          <p:cNvPr id="146" name="TextBox 145"/>
          <p:cNvSpPr txBox="1"/>
          <p:nvPr/>
        </p:nvSpPr>
        <p:spPr>
          <a:xfrm>
            <a:off x="4800600" y="45529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25 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cxnSp>
        <p:nvCxnSpPr>
          <p:cNvPr id="147" name="直接箭头连接符 146"/>
          <p:cNvCxnSpPr>
            <a:stCxn id="114" idx="1"/>
          </p:cNvCxnSpPr>
          <p:nvPr/>
        </p:nvCxnSpPr>
        <p:spPr>
          <a:xfrm flipH="1" flipV="1">
            <a:off x="4419600" y="2343150"/>
            <a:ext cx="2854112" cy="1042550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Line 158"/>
          <p:cNvSpPr>
            <a:spLocks noChangeShapeType="1"/>
          </p:cNvSpPr>
          <p:nvPr/>
        </p:nvSpPr>
        <p:spPr bwMode="auto">
          <a:xfrm>
            <a:off x="228600" y="2419350"/>
            <a:ext cx="509344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53" name="组合 152"/>
          <p:cNvGrpSpPr/>
          <p:nvPr/>
        </p:nvGrpSpPr>
        <p:grpSpPr>
          <a:xfrm rot="5400000">
            <a:off x="1960020" y="3318906"/>
            <a:ext cx="721267" cy="293756"/>
            <a:chOff x="5693172" y="4651257"/>
            <a:chExt cx="721267" cy="293756"/>
          </a:xfrm>
        </p:grpSpPr>
        <p:sp>
          <p:nvSpPr>
            <p:cNvPr id="154" name="AutoShape 100"/>
            <p:cNvSpPr>
              <a:spLocks noChangeArrowheads="1"/>
            </p:cNvSpPr>
            <p:nvPr/>
          </p:nvSpPr>
          <p:spPr bwMode="auto">
            <a:xfrm rot="16200000" flipV="1">
              <a:off x="5724128" y="4725144"/>
              <a:ext cx="188913" cy="250825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55" name="Text Box 101"/>
            <p:cNvSpPr txBox="1">
              <a:spLocks noChangeArrowheads="1"/>
            </p:cNvSpPr>
            <p:nvPr/>
          </p:nvSpPr>
          <p:spPr bwMode="auto">
            <a:xfrm rot="16200000" flipV="1">
              <a:off x="5978036" y="4502885"/>
              <a:ext cx="28803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 sz="3200" b="1" i="0" dirty="0">
                  <a:latin typeface="Arial" pitchFamily="34" charset="0"/>
                </a:rPr>
                <a:t>。</a:t>
              </a:r>
            </a:p>
          </p:txBody>
        </p:sp>
      </p:grpSp>
      <p:grpSp>
        <p:nvGrpSpPr>
          <p:cNvPr id="171" name="组合 170"/>
          <p:cNvGrpSpPr/>
          <p:nvPr/>
        </p:nvGrpSpPr>
        <p:grpSpPr>
          <a:xfrm>
            <a:off x="2621028" y="3645477"/>
            <a:ext cx="675959" cy="705687"/>
            <a:chOff x="2667000" y="3562350"/>
            <a:chExt cx="675959" cy="705687"/>
          </a:xfrm>
        </p:grpSpPr>
        <p:sp>
          <p:nvSpPr>
            <p:cNvPr id="156" name="AutoShape 87"/>
            <p:cNvSpPr>
              <a:spLocks noChangeArrowheads="1"/>
            </p:cNvSpPr>
            <p:nvPr/>
          </p:nvSpPr>
          <p:spPr bwMode="auto">
            <a:xfrm>
              <a:off x="2667000" y="3562350"/>
              <a:ext cx="431800" cy="59372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58" name="Text Box 101"/>
            <p:cNvSpPr txBox="1">
              <a:spLocks noChangeArrowheads="1"/>
            </p:cNvSpPr>
            <p:nvPr/>
          </p:nvSpPr>
          <p:spPr bwMode="auto">
            <a:xfrm flipV="1">
              <a:off x="3054927" y="3683262"/>
              <a:ext cx="28803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 sz="3200" b="1" i="0" dirty="0">
                  <a:latin typeface="Arial" pitchFamily="34" charset="0"/>
                </a:rPr>
                <a:t>。</a:t>
              </a:r>
            </a:p>
          </p:txBody>
        </p:sp>
      </p:grpSp>
      <p:cxnSp>
        <p:nvCxnSpPr>
          <p:cNvPr id="164" name="直接连接符 163"/>
          <p:cNvCxnSpPr/>
          <p:nvPr/>
        </p:nvCxnSpPr>
        <p:spPr>
          <a:xfrm>
            <a:off x="1912557" y="3867150"/>
            <a:ext cx="72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/>
          <p:cNvCxnSpPr/>
          <p:nvPr/>
        </p:nvCxnSpPr>
        <p:spPr>
          <a:xfrm>
            <a:off x="1928301" y="3699636"/>
            <a:ext cx="0" cy="1675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/>
          <p:nvPr/>
        </p:nvCxnSpPr>
        <p:spPr>
          <a:xfrm>
            <a:off x="2263328" y="3714750"/>
            <a:ext cx="360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>
            <a:off x="2272552" y="3465978"/>
            <a:ext cx="0" cy="2487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/>
          <p:nvPr/>
        </p:nvCxnSpPr>
        <p:spPr>
          <a:xfrm>
            <a:off x="1600200" y="4019550"/>
            <a:ext cx="102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>
          <a:xfrm>
            <a:off x="1267676" y="4171950"/>
            <a:ext cx="13497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/>
          <p:cNvCxnSpPr/>
          <p:nvPr/>
        </p:nvCxnSpPr>
        <p:spPr>
          <a:xfrm>
            <a:off x="3132387" y="3951537"/>
            <a:ext cx="228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Line 140"/>
          <p:cNvSpPr>
            <a:spLocks noChangeShapeType="1"/>
          </p:cNvSpPr>
          <p:nvPr/>
        </p:nvSpPr>
        <p:spPr bwMode="auto">
          <a:xfrm>
            <a:off x="3352800" y="2716593"/>
            <a:ext cx="0" cy="122675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0" name="矩形 149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43010" name="Object 96"/>
          <p:cNvGraphicFramePr>
            <a:graphicFrameLocks noChangeAspect="1"/>
          </p:cNvGraphicFramePr>
          <p:nvPr/>
        </p:nvGraphicFramePr>
        <p:xfrm>
          <a:off x="304800" y="2495550"/>
          <a:ext cx="8983663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978" name="Visio" r:id="rId2" imgW="4698058" imgH="1221774" progId="Visio.Drawing.11">
                  <p:embed/>
                </p:oleObj>
              </mc:Choice>
              <mc:Fallback>
                <p:oleObj name="Visio" r:id="rId2" imgW="4698058" imgH="1221774" progId="Visio.Drawing.11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495550"/>
                        <a:ext cx="8983663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同步清零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45529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27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时序图</a:t>
            </a:r>
          </a:p>
        </p:txBody>
      </p:sp>
      <p:pic>
        <p:nvPicPr>
          <p:cNvPr id="382979" name="Picture 3" descr="C:\Users\hfutliujun\AppData\Roaming\Tencent\Users\350654676\QQ\WinTemp\RichOle\GX9_]2]G[(YY7DR8O45M%V8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1123950"/>
            <a:ext cx="4997793" cy="1676400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5000" y="1123950"/>
            <a:ext cx="327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加法计数器同步清零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M-1</a:t>
            </a:r>
            <a:endPara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同步清零 减法计数器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1003058" y="1200150"/>
            <a:ext cx="4026142" cy="2590800"/>
            <a:chOff x="2925" y="1162"/>
            <a:chExt cx="2503" cy="1588"/>
          </a:xfrm>
        </p:grpSpPr>
        <p:grpSp>
          <p:nvGrpSpPr>
            <p:cNvPr id="3" name="Group 83"/>
            <p:cNvGrpSpPr>
              <a:grpSpLocks/>
            </p:cNvGrpSpPr>
            <p:nvPr/>
          </p:nvGrpSpPr>
          <p:grpSpPr bwMode="auto">
            <a:xfrm>
              <a:off x="2925" y="1525"/>
              <a:ext cx="454" cy="317"/>
              <a:chOff x="1746" y="3385"/>
              <a:chExt cx="454" cy="317"/>
            </a:xfrm>
          </p:grpSpPr>
          <p:sp>
            <p:nvSpPr>
              <p:cNvPr id="121" name="AutoShape 84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2" name="Text Box 85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1001</a:t>
                </a:r>
              </a:p>
            </p:txBody>
          </p:sp>
        </p:grpSp>
        <p:grpSp>
          <p:nvGrpSpPr>
            <p:cNvPr id="4" name="Group 86"/>
            <p:cNvGrpSpPr>
              <a:grpSpLocks/>
            </p:cNvGrpSpPr>
            <p:nvPr/>
          </p:nvGrpSpPr>
          <p:grpSpPr bwMode="auto">
            <a:xfrm>
              <a:off x="3832" y="1525"/>
              <a:ext cx="454" cy="317"/>
              <a:chOff x="1746" y="3385"/>
              <a:chExt cx="454" cy="317"/>
            </a:xfrm>
          </p:grpSpPr>
          <p:sp>
            <p:nvSpPr>
              <p:cNvPr id="119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0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0111</a:t>
                </a:r>
              </a:p>
            </p:txBody>
          </p:sp>
        </p:grpSp>
        <p:grpSp>
          <p:nvGrpSpPr>
            <p:cNvPr id="5" name="Group 89"/>
            <p:cNvGrpSpPr>
              <a:grpSpLocks/>
            </p:cNvGrpSpPr>
            <p:nvPr/>
          </p:nvGrpSpPr>
          <p:grpSpPr bwMode="auto">
            <a:xfrm>
              <a:off x="3378" y="1525"/>
              <a:ext cx="454" cy="317"/>
              <a:chOff x="1746" y="3385"/>
              <a:chExt cx="454" cy="317"/>
            </a:xfrm>
          </p:grpSpPr>
          <p:sp>
            <p:nvSpPr>
              <p:cNvPr id="117" name="AutoShape 9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8" name="Text Box 9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1000</a:t>
                </a:r>
              </a:p>
            </p:txBody>
          </p:sp>
        </p:grpSp>
        <p:grpSp>
          <p:nvGrpSpPr>
            <p:cNvPr id="6" name="Group 92"/>
            <p:cNvGrpSpPr>
              <a:grpSpLocks/>
            </p:cNvGrpSpPr>
            <p:nvPr/>
          </p:nvGrpSpPr>
          <p:grpSpPr bwMode="auto">
            <a:xfrm>
              <a:off x="4286" y="2433"/>
              <a:ext cx="454" cy="317"/>
              <a:chOff x="1746" y="3385"/>
              <a:chExt cx="454" cy="317"/>
            </a:xfrm>
          </p:grpSpPr>
          <p:sp>
            <p:nvSpPr>
              <p:cNvPr id="115" name="AutoShape 9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6" name="Text Box 9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0100</a:t>
                </a:r>
              </a:p>
            </p:txBody>
          </p:sp>
        </p:grpSp>
        <p:grpSp>
          <p:nvGrpSpPr>
            <p:cNvPr id="7" name="Group 95"/>
            <p:cNvGrpSpPr>
              <a:grpSpLocks/>
            </p:cNvGrpSpPr>
            <p:nvPr/>
          </p:nvGrpSpPr>
          <p:grpSpPr bwMode="auto">
            <a:xfrm>
              <a:off x="4286" y="1979"/>
              <a:ext cx="454" cy="317"/>
              <a:chOff x="1746" y="3385"/>
              <a:chExt cx="454" cy="317"/>
            </a:xfrm>
          </p:grpSpPr>
          <p:sp>
            <p:nvSpPr>
              <p:cNvPr id="113" name="AutoShape 9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4" name="Text Box 9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0101</a:t>
                </a:r>
              </a:p>
            </p:txBody>
          </p:sp>
        </p:grpSp>
        <p:grpSp>
          <p:nvGrpSpPr>
            <p:cNvPr id="8" name="Group 98"/>
            <p:cNvGrpSpPr>
              <a:grpSpLocks/>
            </p:cNvGrpSpPr>
            <p:nvPr/>
          </p:nvGrpSpPr>
          <p:grpSpPr bwMode="auto">
            <a:xfrm>
              <a:off x="4285" y="1525"/>
              <a:ext cx="454" cy="317"/>
              <a:chOff x="1746" y="3385"/>
              <a:chExt cx="454" cy="317"/>
            </a:xfrm>
          </p:grpSpPr>
          <p:sp>
            <p:nvSpPr>
              <p:cNvPr id="111" name="AutoShape 9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Text Box 10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0110</a:t>
                </a:r>
              </a:p>
            </p:txBody>
          </p:sp>
        </p:grpSp>
        <p:grpSp>
          <p:nvGrpSpPr>
            <p:cNvPr id="9" name="Group 119"/>
            <p:cNvGrpSpPr>
              <a:grpSpLocks/>
            </p:cNvGrpSpPr>
            <p:nvPr/>
          </p:nvGrpSpPr>
          <p:grpSpPr bwMode="auto">
            <a:xfrm>
              <a:off x="2925" y="2432"/>
              <a:ext cx="454" cy="317"/>
              <a:chOff x="1746" y="3385"/>
              <a:chExt cx="454" cy="317"/>
            </a:xfrm>
          </p:grpSpPr>
          <p:sp>
            <p:nvSpPr>
              <p:cNvPr id="97" name="AutoShape 12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 Box 12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0001</a:t>
                </a:r>
              </a:p>
            </p:txBody>
          </p:sp>
        </p:grpSp>
        <p:grpSp>
          <p:nvGrpSpPr>
            <p:cNvPr id="10" name="Group 122"/>
            <p:cNvGrpSpPr>
              <a:grpSpLocks/>
            </p:cNvGrpSpPr>
            <p:nvPr/>
          </p:nvGrpSpPr>
          <p:grpSpPr bwMode="auto">
            <a:xfrm>
              <a:off x="2925" y="1979"/>
              <a:ext cx="454" cy="317"/>
              <a:chOff x="1746" y="3385"/>
              <a:chExt cx="454" cy="317"/>
            </a:xfrm>
          </p:grpSpPr>
          <p:sp>
            <p:nvSpPr>
              <p:cNvPr id="95" name="AutoShape 12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Text Box 12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0000</a:t>
                </a:r>
              </a:p>
            </p:txBody>
          </p:sp>
        </p:grpSp>
        <p:grpSp>
          <p:nvGrpSpPr>
            <p:cNvPr id="12" name="Group 125"/>
            <p:cNvGrpSpPr>
              <a:grpSpLocks/>
            </p:cNvGrpSpPr>
            <p:nvPr/>
          </p:nvGrpSpPr>
          <p:grpSpPr bwMode="auto">
            <a:xfrm>
              <a:off x="3379" y="2432"/>
              <a:ext cx="454" cy="317"/>
              <a:chOff x="1746" y="3385"/>
              <a:chExt cx="454" cy="317"/>
            </a:xfrm>
          </p:grpSpPr>
          <p:sp>
            <p:nvSpPr>
              <p:cNvPr id="93" name="AutoShape 12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4" name="Text Box 12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0010</a:t>
                </a:r>
              </a:p>
            </p:txBody>
          </p:sp>
        </p:grpSp>
        <p:grpSp>
          <p:nvGrpSpPr>
            <p:cNvPr id="13" name="Group 128"/>
            <p:cNvGrpSpPr>
              <a:grpSpLocks/>
            </p:cNvGrpSpPr>
            <p:nvPr/>
          </p:nvGrpSpPr>
          <p:grpSpPr bwMode="auto">
            <a:xfrm>
              <a:off x="3833" y="2433"/>
              <a:ext cx="454" cy="317"/>
              <a:chOff x="1746" y="3385"/>
              <a:chExt cx="454" cy="317"/>
            </a:xfrm>
          </p:grpSpPr>
          <p:sp>
            <p:nvSpPr>
              <p:cNvPr id="91" name="AutoShape 12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2" name="Text Box 13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0011</a:t>
                </a:r>
              </a:p>
            </p:txBody>
          </p:sp>
        </p:grpSp>
        <p:sp>
          <p:nvSpPr>
            <p:cNvPr id="71" name="Line 131"/>
            <p:cNvSpPr>
              <a:spLocks noChangeShapeType="1"/>
            </p:cNvSpPr>
            <p:nvPr/>
          </p:nvSpPr>
          <p:spPr bwMode="auto">
            <a:xfrm>
              <a:off x="3288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2" name="Line 132"/>
            <p:cNvSpPr>
              <a:spLocks noChangeShapeType="1"/>
            </p:cNvSpPr>
            <p:nvPr/>
          </p:nvSpPr>
          <p:spPr bwMode="auto">
            <a:xfrm>
              <a:off x="3742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4" name="Line 134"/>
            <p:cNvSpPr>
              <a:spLocks noChangeShapeType="1"/>
            </p:cNvSpPr>
            <p:nvPr/>
          </p:nvSpPr>
          <p:spPr bwMode="auto">
            <a:xfrm rot="16200000" flipH="1">
              <a:off x="4400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5" name="Line 135"/>
            <p:cNvSpPr>
              <a:spLocks noChangeShapeType="1"/>
            </p:cNvSpPr>
            <p:nvPr/>
          </p:nvSpPr>
          <p:spPr bwMode="auto">
            <a:xfrm rot="-5400000">
              <a:off x="3061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6" name="Line 136"/>
            <p:cNvSpPr>
              <a:spLocks noChangeShapeType="1"/>
            </p:cNvSpPr>
            <p:nvPr/>
          </p:nvSpPr>
          <p:spPr bwMode="auto">
            <a:xfrm rot="-5400000">
              <a:off x="3061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9" name="Line 139"/>
            <p:cNvSpPr>
              <a:spLocks noChangeShapeType="1"/>
            </p:cNvSpPr>
            <p:nvPr/>
          </p:nvSpPr>
          <p:spPr bwMode="auto">
            <a:xfrm flipH="1">
              <a:off x="3288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0" name="Line 140"/>
            <p:cNvSpPr>
              <a:spLocks noChangeShapeType="1"/>
            </p:cNvSpPr>
            <p:nvPr/>
          </p:nvSpPr>
          <p:spPr bwMode="auto">
            <a:xfrm flipH="1">
              <a:off x="3742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1" name="Line 141"/>
            <p:cNvSpPr>
              <a:spLocks noChangeShapeType="1"/>
            </p:cNvSpPr>
            <p:nvPr/>
          </p:nvSpPr>
          <p:spPr bwMode="auto">
            <a:xfrm flipH="1">
              <a:off x="4195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2" name="Line 142"/>
            <p:cNvSpPr>
              <a:spLocks noChangeShapeType="1"/>
            </p:cNvSpPr>
            <p:nvPr/>
          </p:nvSpPr>
          <p:spPr bwMode="auto">
            <a:xfrm>
              <a:off x="4195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4" name="Line 144"/>
            <p:cNvSpPr>
              <a:spLocks noChangeShapeType="1"/>
            </p:cNvSpPr>
            <p:nvPr/>
          </p:nvSpPr>
          <p:spPr bwMode="auto">
            <a:xfrm rot="5400000" flipV="1">
              <a:off x="4400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9" name="AutoShape 146"/>
            <p:cNvSpPr>
              <a:spLocks noChangeArrowheads="1"/>
            </p:cNvSpPr>
            <p:nvPr/>
          </p:nvSpPr>
          <p:spPr bwMode="auto">
            <a:xfrm>
              <a:off x="4797" y="1162"/>
              <a:ext cx="631" cy="55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349187" name="Object 3"/>
          <p:cNvGraphicFramePr>
            <a:graphicFrameLocks noChangeAspect="1"/>
          </p:cNvGraphicFramePr>
          <p:nvPr/>
        </p:nvGraphicFramePr>
        <p:xfrm>
          <a:off x="4038241" y="1499572"/>
          <a:ext cx="940091" cy="265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194" name="Equation" r:id="rId2" imgW="1168200" imgH="330120" progId="Equation.DSMT4">
                  <p:embed/>
                </p:oleObj>
              </mc:Choice>
              <mc:Fallback>
                <p:oleObj name="Equation" r:id="rId2" imgW="116820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241" y="1499572"/>
                        <a:ext cx="940091" cy="265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1142640" y="4090372"/>
            <a:ext cx="2679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28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减法计数器状态图</a:t>
            </a:r>
          </a:p>
        </p:txBody>
      </p:sp>
      <p:cxnSp>
        <p:nvCxnSpPr>
          <p:cNvPr id="78" name="直接箭头连接符 77"/>
          <p:cNvCxnSpPr>
            <a:endCxn id="95" idx="6"/>
          </p:cNvCxnSpPr>
          <p:nvPr/>
        </p:nvCxnSpPr>
        <p:spPr>
          <a:xfrm flipH="1">
            <a:off x="1586953" y="2266950"/>
            <a:ext cx="1702105" cy="524715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5715000" y="2114550"/>
            <a:ext cx="327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加法计数器同步清零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N-(M-1)=N-M+1</a:t>
            </a:r>
            <a:endPara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异步清零法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2000" y="44005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29 74LS160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724400" y="44005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30 74LS160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cxnSp>
        <p:nvCxnSpPr>
          <p:cNvPr id="147" name="直接箭头连接符 146"/>
          <p:cNvCxnSpPr>
            <a:endCxn id="215" idx="5"/>
          </p:cNvCxnSpPr>
          <p:nvPr/>
        </p:nvCxnSpPr>
        <p:spPr>
          <a:xfrm flipH="1" flipV="1">
            <a:off x="5101996" y="2495204"/>
            <a:ext cx="994004" cy="914746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28"/>
          <p:cNvGrpSpPr/>
          <p:nvPr/>
        </p:nvGrpSpPr>
        <p:grpSpPr>
          <a:xfrm>
            <a:off x="533400" y="1733550"/>
            <a:ext cx="2971800" cy="1752600"/>
            <a:chOff x="1977326" y="926909"/>
            <a:chExt cx="3474212" cy="2155424"/>
          </a:xfrm>
        </p:grpSpPr>
        <p:grpSp>
          <p:nvGrpSpPr>
            <p:cNvPr id="21" name="Group 136"/>
            <p:cNvGrpSpPr>
              <a:grpSpLocks/>
            </p:cNvGrpSpPr>
            <p:nvPr/>
          </p:nvGrpSpPr>
          <p:grpSpPr bwMode="auto">
            <a:xfrm>
              <a:off x="1977326" y="926909"/>
              <a:ext cx="3474212" cy="2149328"/>
              <a:chOff x="2031" y="2338"/>
              <a:chExt cx="1587" cy="932"/>
            </a:xfrm>
          </p:grpSpPr>
          <p:sp>
            <p:nvSpPr>
              <p:cNvPr id="145" name="Rectangle 137"/>
              <p:cNvSpPr>
                <a:spLocks noChangeArrowheads="1"/>
              </p:cNvSpPr>
              <p:nvPr/>
            </p:nvSpPr>
            <p:spPr bwMode="auto">
              <a:xfrm>
                <a:off x="2303" y="2474"/>
                <a:ext cx="1089" cy="59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" name="Line 140"/>
              <p:cNvSpPr>
                <a:spLocks noChangeShapeType="1"/>
              </p:cNvSpPr>
              <p:nvPr/>
            </p:nvSpPr>
            <p:spPr bwMode="auto">
              <a:xfrm>
                <a:off x="2938" y="3064"/>
                <a:ext cx="0" cy="1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Line 141"/>
              <p:cNvSpPr>
                <a:spLocks noChangeShapeType="1"/>
              </p:cNvSpPr>
              <p:nvPr/>
            </p:nvSpPr>
            <p:spPr bwMode="auto">
              <a:xfrm>
                <a:off x="3119" y="3064"/>
                <a:ext cx="1" cy="20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Line 142"/>
              <p:cNvSpPr>
                <a:spLocks noChangeShapeType="1"/>
              </p:cNvSpPr>
              <p:nvPr/>
            </p:nvSpPr>
            <p:spPr bwMode="auto">
              <a:xfrm>
                <a:off x="2575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Line 143"/>
              <p:cNvSpPr>
                <a:spLocks noChangeShapeType="1"/>
              </p:cNvSpPr>
              <p:nvPr/>
            </p:nvSpPr>
            <p:spPr bwMode="auto">
              <a:xfrm>
                <a:off x="2756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Line 144"/>
              <p:cNvSpPr>
                <a:spLocks noChangeShapeType="1"/>
              </p:cNvSpPr>
              <p:nvPr/>
            </p:nvSpPr>
            <p:spPr bwMode="auto">
              <a:xfrm>
                <a:off x="2938" y="2338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Line 145"/>
              <p:cNvSpPr>
                <a:spLocks noChangeShapeType="1"/>
              </p:cNvSpPr>
              <p:nvPr/>
            </p:nvSpPr>
            <p:spPr bwMode="auto">
              <a:xfrm>
                <a:off x="3119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60" name="Object 146"/>
              <p:cNvGraphicFramePr>
                <a:graphicFrameLocks noChangeAspect="1"/>
              </p:cNvGraphicFramePr>
              <p:nvPr/>
            </p:nvGraphicFramePr>
            <p:xfrm>
              <a:off x="2332" y="2554"/>
              <a:ext cx="143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59" name="Equation" r:id="rId2" imgW="228600" imgH="164880" progId="Equation.DSMT4">
                      <p:embed/>
                    </p:oleObj>
                  </mc:Choice>
                  <mc:Fallback>
                    <p:oleObj name="Equation" r:id="rId2" imgW="228600" imgH="164880" progId="Equation.DSMT4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2" y="2554"/>
                            <a:ext cx="143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1" name="Object 147"/>
              <p:cNvGraphicFramePr>
                <a:graphicFrameLocks noChangeAspect="1"/>
              </p:cNvGraphicFramePr>
              <p:nvPr/>
            </p:nvGraphicFramePr>
            <p:xfrm>
              <a:off x="3223" y="2863"/>
              <a:ext cx="16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60" name="Equation" r:id="rId4" imgW="241200" imgH="253800" progId="Equation.DSMT4">
                      <p:embed/>
                    </p:oleObj>
                  </mc:Choice>
                  <mc:Fallback>
                    <p:oleObj name="Equation" r:id="rId4" imgW="241200" imgH="253800" progId="Equation.DSMT4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3" y="2863"/>
                            <a:ext cx="160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" name="Object 148"/>
              <p:cNvGraphicFramePr>
                <a:graphicFrameLocks noChangeAspect="1"/>
              </p:cNvGraphicFramePr>
              <p:nvPr/>
            </p:nvGraphicFramePr>
            <p:xfrm>
              <a:off x="3234" y="2559"/>
              <a:ext cx="161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61" name="Equation" r:id="rId6" imgW="253800" imgH="177480" progId="Equation.DSMT4">
                      <p:embed/>
                    </p:oleObj>
                  </mc:Choice>
                  <mc:Fallback>
                    <p:oleObj name="Equation" r:id="rId6" imgW="253800" imgH="177480" progId="Equation.DSMT4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4" y="2559"/>
                            <a:ext cx="161" cy="1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" name="Object 149"/>
              <p:cNvGraphicFramePr>
                <a:graphicFrameLocks noChangeAspect="1"/>
              </p:cNvGraphicFramePr>
              <p:nvPr/>
            </p:nvGraphicFramePr>
            <p:xfrm>
              <a:off x="2506" y="2905"/>
              <a:ext cx="152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62" name="Equation" r:id="rId8" imgW="228600" imgH="228600" progId="Equation.DSMT4">
                      <p:embed/>
                    </p:oleObj>
                  </mc:Choice>
                  <mc:Fallback>
                    <p:oleObj name="Equation" r:id="rId8" imgW="228600" imgH="228600" progId="Equation.DSMT4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6" y="2905"/>
                            <a:ext cx="152" cy="1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5" name="Object 150"/>
              <p:cNvGraphicFramePr>
                <a:graphicFrameLocks noChangeAspect="1"/>
              </p:cNvGraphicFramePr>
              <p:nvPr/>
            </p:nvGraphicFramePr>
            <p:xfrm>
              <a:off x="2702" y="2918"/>
              <a:ext cx="134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63" name="Equation" r:id="rId10" imgW="215640" imgH="228600" progId="Equation.DSMT4">
                      <p:embed/>
                    </p:oleObj>
                  </mc:Choice>
                  <mc:Fallback>
                    <p:oleObj name="Equation" r:id="rId10" imgW="215640" imgH="228600" progId="Equation.DSMT4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2" y="2918"/>
                            <a:ext cx="134" cy="14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7" name="Object 151"/>
              <p:cNvGraphicFramePr>
                <a:graphicFrameLocks noChangeAspect="1"/>
              </p:cNvGraphicFramePr>
              <p:nvPr/>
            </p:nvGraphicFramePr>
            <p:xfrm>
              <a:off x="2891" y="2918"/>
              <a:ext cx="138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64" name="Equation" r:id="rId12" imgW="215640" imgH="228600" progId="Equation.DSMT4">
                      <p:embed/>
                    </p:oleObj>
                  </mc:Choice>
                  <mc:Fallback>
                    <p:oleObj name="Equation" r:id="rId12" imgW="215640" imgH="228600" progId="Equation.DSMT4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1" y="2918"/>
                            <a:ext cx="138" cy="1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8" name="Object 152"/>
              <p:cNvGraphicFramePr>
                <a:graphicFrameLocks noChangeAspect="1"/>
              </p:cNvGraphicFramePr>
              <p:nvPr/>
            </p:nvGraphicFramePr>
            <p:xfrm>
              <a:off x="3058" y="2914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65" name="Equation" r:id="rId14" imgW="228600" imgH="228600" progId="Equation.DSMT4">
                      <p:embed/>
                    </p:oleObj>
                  </mc:Choice>
                  <mc:Fallback>
                    <p:oleObj name="Equation" r:id="rId14" imgW="228600" imgH="228600" progId="Equation.DSMT4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8" y="2914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9" name="Object 153"/>
              <p:cNvGraphicFramePr>
                <a:graphicFrameLocks noChangeAspect="1"/>
              </p:cNvGraphicFramePr>
              <p:nvPr/>
            </p:nvGraphicFramePr>
            <p:xfrm>
              <a:off x="3086" y="2475"/>
              <a:ext cx="102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66" name="Equation" r:id="rId16" imgW="164880" imgH="164880" progId="Equation.DSMT4">
                      <p:embed/>
                    </p:oleObj>
                  </mc:Choice>
                  <mc:Fallback>
                    <p:oleObj name="Equation" r:id="rId16" imgW="164880" imgH="164880" progId="Equation.DSMT4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6" y="2475"/>
                            <a:ext cx="102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0" name="Object 154"/>
              <p:cNvGraphicFramePr>
                <a:graphicFrameLocks noChangeAspect="1"/>
              </p:cNvGraphicFramePr>
              <p:nvPr/>
            </p:nvGraphicFramePr>
            <p:xfrm>
              <a:off x="2885" y="2470"/>
              <a:ext cx="93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67" name="Equation" r:id="rId18" imgW="152280" imgH="177480" progId="Equation.DSMT4">
                      <p:embed/>
                    </p:oleObj>
                  </mc:Choice>
                  <mc:Fallback>
                    <p:oleObj name="Equation" r:id="rId18" imgW="152280" imgH="177480" progId="Equation.DSMT4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5" y="2470"/>
                            <a:ext cx="93" cy="1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" name="Object 155"/>
              <p:cNvGraphicFramePr>
                <a:graphicFrameLocks noChangeAspect="1"/>
              </p:cNvGraphicFramePr>
              <p:nvPr/>
            </p:nvGraphicFramePr>
            <p:xfrm>
              <a:off x="2708" y="2478"/>
              <a:ext cx="93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68" name="Equation" r:id="rId20" imgW="152280" imgH="164880" progId="Equation.DSMT4">
                      <p:embed/>
                    </p:oleObj>
                  </mc:Choice>
                  <mc:Fallback>
                    <p:oleObj name="Equation" r:id="rId20" imgW="152280" imgH="164880" progId="Equation.DSMT4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8" y="2478"/>
                            <a:ext cx="93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" name="Object 156"/>
              <p:cNvGraphicFramePr>
                <a:graphicFrameLocks noChangeAspect="1"/>
              </p:cNvGraphicFramePr>
              <p:nvPr/>
            </p:nvGraphicFramePr>
            <p:xfrm>
              <a:off x="2509" y="2476"/>
              <a:ext cx="96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69" name="Equation" r:id="rId22" imgW="152280" imgH="164880" progId="Equation.DSMT4">
                      <p:embed/>
                    </p:oleObj>
                  </mc:Choice>
                  <mc:Fallback>
                    <p:oleObj name="Equation" r:id="rId22" imgW="152280" imgH="164880" progId="Equation.DSMT4">
                      <p:embed/>
                      <p:pic>
                        <p:nvPicPr>
                          <p:cNvPr id="0" name="Picture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9" y="2476"/>
                            <a:ext cx="96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3" name="Object 157"/>
              <p:cNvGraphicFramePr>
                <a:graphicFrameLocks noChangeAspect="1"/>
              </p:cNvGraphicFramePr>
              <p:nvPr/>
            </p:nvGraphicFramePr>
            <p:xfrm>
              <a:off x="2302" y="2914"/>
              <a:ext cx="203" cy="1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70" name="Equation" r:id="rId24" imgW="355320" imgH="177480" progId="Equation.DSMT4">
                      <p:embed/>
                    </p:oleObj>
                  </mc:Choice>
                  <mc:Fallback>
                    <p:oleObj name="Equation" r:id="rId24" imgW="355320" imgH="177480" progId="Equation.DSMT4">
                      <p:embed/>
                      <p:pic>
                        <p:nvPicPr>
                          <p:cNvPr id="0" name="Picture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2" y="2914"/>
                            <a:ext cx="203" cy="1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6" name="Line 158"/>
              <p:cNvSpPr>
                <a:spLocks noChangeShapeType="1"/>
              </p:cNvSpPr>
              <p:nvPr/>
            </p:nvSpPr>
            <p:spPr bwMode="auto">
              <a:xfrm>
                <a:off x="2031" y="2610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Line 159"/>
              <p:cNvSpPr>
                <a:spLocks noChangeShapeType="1"/>
              </p:cNvSpPr>
              <p:nvPr/>
            </p:nvSpPr>
            <p:spPr bwMode="auto">
              <a:xfrm>
                <a:off x="2031" y="2973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Line 160"/>
              <p:cNvSpPr>
                <a:spLocks noChangeShapeType="1"/>
              </p:cNvSpPr>
              <p:nvPr/>
            </p:nvSpPr>
            <p:spPr bwMode="auto">
              <a:xfrm>
                <a:off x="2045" y="2782"/>
                <a:ext cx="258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80" name="Object 161"/>
              <p:cNvGraphicFramePr>
                <a:graphicFrameLocks noChangeAspect="1"/>
              </p:cNvGraphicFramePr>
              <p:nvPr/>
            </p:nvGraphicFramePr>
            <p:xfrm>
              <a:off x="2333" y="2731"/>
              <a:ext cx="153" cy="1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71" name="Equation" r:id="rId26" imgW="241200" imgH="164880" progId="Equation.DSMT4">
                      <p:embed/>
                    </p:oleObj>
                  </mc:Choice>
                  <mc:Fallback>
                    <p:oleObj name="Equation" r:id="rId26" imgW="241200" imgH="164880" progId="Equation.DSMT4">
                      <p:embed/>
                      <p:pic>
                        <p:nvPicPr>
                          <p:cNvPr id="0" name="Picture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3" y="2731"/>
                            <a:ext cx="153" cy="10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2" name="Group 162"/>
              <p:cNvGrpSpPr>
                <a:grpSpLocks/>
              </p:cNvGrpSpPr>
              <p:nvPr/>
            </p:nvGrpSpPr>
            <p:grpSpPr bwMode="auto">
              <a:xfrm>
                <a:off x="3391" y="2745"/>
                <a:ext cx="226" cy="46"/>
                <a:chOff x="250" y="2568"/>
                <a:chExt cx="680" cy="182"/>
              </a:xfrm>
            </p:grpSpPr>
            <p:sp>
              <p:nvSpPr>
                <p:cNvPr id="191" name="Oval 163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2" name="Line 164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165"/>
              <p:cNvGrpSpPr>
                <a:grpSpLocks/>
              </p:cNvGrpSpPr>
              <p:nvPr/>
            </p:nvGrpSpPr>
            <p:grpSpPr bwMode="auto">
              <a:xfrm>
                <a:off x="3391" y="2927"/>
                <a:ext cx="227" cy="46"/>
                <a:chOff x="250" y="2568"/>
                <a:chExt cx="680" cy="182"/>
              </a:xfrm>
            </p:grpSpPr>
            <p:sp>
              <p:nvSpPr>
                <p:cNvPr id="188" name="Oval 166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0" name="Line 167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4" name="Line 168"/>
              <p:cNvSpPr>
                <a:spLocks noChangeShapeType="1"/>
              </p:cNvSpPr>
              <p:nvPr/>
            </p:nvSpPr>
            <p:spPr bwMode="auto">
              <a:xfrm>
                <a:off x="3391" y="2609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85" name="Object 169"/>
              <p:cNvGraphicFramePr>
                <a:graphicFrameLocks noChangeAspect="1"/>
              </p:cNvGraphicFramePr>
              <p:nvPr/>
            </p:nvGraphicFramePr>
            <p:xfrm>
              <a:off x="3235" y="2708"/>
              <a:ext cx="141" cy="1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7872" name="Equation" r:id="rId28" imgW="253800" imgH="203040" progId="Equation.DSMT4">
                      <p:embed/>
                    </p:oleObj>
                  </mc:Choice>
                  <mc:Fallback>
                    <p:oleObj name="Equation" r:id="rId28" imgW="253800" imgH="203040" progId="Equation.DSMT4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5" y="2708"/>
                            <a:ext cx="141" cy="11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7" name="Text Box 170"/>
              <p:cNvSpPr txBox="1">
                <a:spLocks noChangeArrowheads="1"/>
              </p:cNvSpPr>
              <p:nvPr/>
            </p:nvSpPr>
            <p:spPr bwMode="auto">
              <a:xfrm>
                <a:off x="2620" y="2655"/>
                <a:ext cx="499" cy="1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200" dirty="0">
                    <a:solidFill>
                      <a:srgbClr val="800000"/>
                    </a:solidFill>
                    <a:effectLst/>
                    <a:latin typeface="Arial" pitchFamily="34" charset="0"/>
                  </a:rPr>
                  <a:t>74LS160</a:t>
                </a:r>
              </a:p>
            </p:txBody>
          </p:sp>
        </p:grpSp>
        <p:sp>
          <p:nvSpPr>
            <p:cNvPr id="138" name="Line 140"/>
            <p:cNvSpPr>
              <a:spLocks noChangeShapeType="1"/>
            </p:cNvSpPr>
            <p:nvPr/>
          </p:nvSpPr>
          <p:spPr bwMode="auto">
            <a:xfrm>
              <a:off x="3200903" y="2607267"/>
              <a:ext cx="0" cy="4566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41"/>
            <p:cNvSpPr>
              <a:spLocks noChangeShapeType="1"/>
            </p:cNvSpPr>
            <p:nvPr/>
          </p:nvSpPr>
          <p:spPr bwMode="auto">
            <a:xfrm>
              <a:off x="3597142" y="2607267"/>
              <a:ext cx="2189" cy="4750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4" name="组合 102"/>
          <p:cNvGrpSpPr/>
          <p:nvPr/>
        </p:nvGrpSpPr>
        <p:grpSpPr>
          <a:xfrm>
            <a:off x="4648200" y="1657350"/>
            <a:ext cx="3464823" cy="2100003"/>
            <a:chOff x="4402138" y="1701490"/>
            <a:chExt cx="3464823" cy="2100003"/>
          </a:xfrm>
        </p:grpSpPr>
        <p:grpSp>
          <p:nvGrpSpPr>
            <p:cNvPr id="125" name="Group 82"/>
            <p:cNvGrpSpPr>
              <a:grpSpLocks/>
            </p:cNvGrpSpPr>
            <p:nvPr/>
          </p:nvGrpSpPr>
          <p:grpSpPr bwMode="auto">
            <a:xfrm>
              <a:off x="4402138" y="1701490"/>
              <a:ext cx="3464823" cy="2100003"/>
              <a:chOff x="2925" y="1162"/>
              <a:chExt cx="2416" cy="1588"/>
            </a:xfrm>
          </p:grpSpPr>
          <p:grpSp>
            <p:nvGrpSpPr>
              <p:cNvPr id="133" name="Group 83"/>
              <p:cNvGrpSpPr>
                <a:grpSpLocks/>
              </p:cNvGrpSpPr>
              <p:nvPr/>
            </p:nvGrpSpPr>
            <p:grpSpPr bwMode="auto">
              <a:xfrm>
                <a:off x="2925" y="1525"/>
                <a:ext cx="454" cy="317"/>
                <a:chOff x="1746" y="3385"/>
                <a:chExt cx="454" cy="317"/>
              </a:xfrm>
            </p:grpSpPr>
            <p:sp>
              <p:nvSpPr>
                <p:cNvPr id="215" name="AutoShape 84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16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0000</a:t>
                  </a:r>
                </a:p>
              </p:txBody>
            </p:sp>
          </p:grpSp>
          <p:grpSp>
            <p:nvGrpSpPr>
              <p:cNvPr id="151" name="Group 86"/>
              <p:cNvGrpSpPr>
                <a:grpSpLocks/>
              </p:cNvGrpSpPr>
              <p:nvPr/>
            </p:nvGrpSpPr>
            <p:grpSpPr bwMode="auto">
              <a:xfrm>
                <a:off x="3832" y="1525"/>
                <a:ext cx="454" cy="317"/>
                <a:chOff x="1746" y="3385"/>
                <a:chExt cx="454" cy="317"/>
              </a:xfrm>
            </p:grpSpPr>
            <p:sp>
              <p:nvSpPr>
                <p:cNvPr id="213" name="AutoShape 87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14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0010</a:t>
                  </a:r>
                </a:p>
              </p:txBody>
            </p:sp>
          </p:grpSp>
          <p:grpSp>
            <p:nvGrpSpPr>
              <p:cNvPr id="152" name="Group 89"/>
              <p:cNvGrpSpPr>
                <a:grpSpLocks/>
              </p:cNvGrpSpPr>
              <p:nvPr/>
            </p:nvGrpSpPr>
            <p:grpSpPr bwMode="auto">
              <a:xfrm>
                <a:off x="3378" y="1525"/>
                <a:ext cx="454" cy="317"/>
                <a:chOff x="1746" y="3385"/>
                <a:chExt cx="454" cy="317"/>
              </a:xfrm>
            </p:grpSpPr>
            <p:sp>
              <p:nvSpPr>
                <p:cNvPr id="211" name="AutoShape 90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12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0001</a:t>
                  </a:r>
                </a:p>
              </p:txBody>
            </p:sp>
          </p:grpSp>
          <p:grpSp>
            <p:nvGrpSpPr>
              <p:cNvPr id="154" name="Group 92"/>
              <p:cNvGrpSpPr>
                <a:grpSpLocks/>
              </p:cNvGrpSpPr>
              <p:nvPr/>
            </p:nvGrpSpPr>
            <p:grpSpPr bwMode="auto">
              <a:xfrm>
                <a:off x="4286" y="2433"/>
                <a:ext cx="454" cy="317"/>
                <a:chOff x="1746" y="3385"/>
                <a:chExt cx="454" cy="317"/>
              </a:xfrm>
            </p:grpSpPr>
            <p:sp>
              <p:nvSpPr>
                <p:cNvPr id="209" name="AutoShape 93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10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0101</a:t>
                  </a:r>
                </a:p>
              </p:txBody>
            </p:sp>
          </p:grpSp>
          <p:grpSp>
            <p:nvGrpSpPr>
              <p:cNvPr id="155" name="Group 95"/>
              <p:cNvGrpSpPr>
                <a:grpSpLocks/>
              </p:cNvGrpSpPr>
              <p:nvPr/>
            </p:nvGrpSpPr>
            <p:grpSpPr bwMode="auto">
              <a:xfrm>
                <a:off x="4286" y="1979"/>
                <a:ext cx="454" cy="317"/>
                <a:chOff x="1746" y="3385"/>
                <a:chExt cx="454" cy="317"/>
              </a:xfrm>
            </p:grpSpPr>
            <p:sp>
              <p:nvSpPr>
                <p:cNvPr id="207" name="AutoShape 96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8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0100</a:t>
                  </a:r>
                </a:p>
              </p:txBody>
            </p:sp>
          </p:grpSp>
          <p:grpSp>
            <p:nvGrpSpPr>
              <p:cNvPr id="156" name="Group 98"/>
              <p:cNvGrpSpPr>
                <a:grpSpLocks/>
              </p:cNvGrpSpPr>
              <p:nvPr/>
            </p:nvGrpSpPr>
            <p:grpSpPr bwMode="auto">
              <a:xfrm>
                <a:off x="4285" y="1525"/>
                <a:ext cx="454" cy="317"/>
                <a:chOff x="1746" y="3385"/>
                <a:chExt cx="454" cy="317"/>
              </a:xfrm>
            </p:grpSpPr>
            <p:sp>
              <p:nvSpPr>
                <p:cNvPr id="205" name="AutoShape 99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6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0011</a:t>
                  </a:r>
                </a:p>
              </p:txBody>
            </p:sp>
          </p:grpSp>
          <p:grpSp>
            <p:nvGrpSpPr>
              <p:cNvPr id="158" name="Group 119"/>
              <p:cNvGrpSpPr>
                <a:grpSpLocks/>
              </p:cNvGrpSpPr>
              <p:nvPr/>
            </p:nvGrpSpPr>
            <p:grpSpPr bwMode="auto">
              <a:xfrm>
                <a:off x="2925" y="2432"/>
                <a:ext cx="454" cy="317"/>
                <a:chOff x="1746" y="3385"/>
                <a:chExt cx="454" cy="317"/>
              </a:xfrm>
            </p:grpSpPr>
            <p:sp>
              <p:nvSpPr>
                <p:cNvPr id="203" name="AutoShape 120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4" name="Text Box 121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1000</a:t>
                  </a:r>
                </a:p>
              </p:txBody>
            </p:sp>
          </p:grpSp>
          <p:grpSp>
            <p:nvGrpSpPr>
              <p:cNvPr id="164" name="Group 122"/>
              <p:cNvGrpSpPr>
                <a:grpSpLocks/>
              </p:cNvGrpSpPr>
              <p:nvPr/>
            </p:nvGrpSpPr>
            <p:grpSpPr bwMode="auto">
              <a:xfrm>
                <a:off x="2925" y="1979"/>
                <a:ext cx="454" cy="317"/>
                <a:chOff x="1746" y="3385"/>
                <a:chExt cx="454" cy="317"/>
              </a:xfrm>
            </p:grpSpPr>
            <p:sp>
              <p:nvSpPr>
                <p:cNvPr id="201" name="AutoShape 123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2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1001</a:t>
                  </a:r>
                </a:p>
              </p:txBody>
            </p:sp>
          </p:grpSp>
          <p:grpSp>
            <p:nvGrpSpPr>
              <p:cNvPr id="166" name="Group 125"/>
              <p:cNvGrpSpPr>
                <a:grpSpLocks/>
              </p:cNvGrpSpPr>
              <p:nvPr/>
            </p:nvGrpSpPr>
            <p:grpSpPr bwMode="auto">
              <a:xfrm>
                <a:off x="3379" y="2432"/>
                <a:ext cx="454" cy="317"/>
                <a:chOff x="1746" y="3385"/>
                <a:chExt cx="454" cy="317"/>
              </a:xfrm>
            </p:grpSpPr>
            <p:sp>
              <p:nvSpPr>
                <p:cNvPr id="199" name="AutoShape 126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0" name="Text Box 127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0111</a:t>
                  </a:r>
                </a:p>
              </p:txBody>
            </p:sp>
          </p:grpSp>
          <p:grpSp>
            <p:nvGrpSpPr>
              <p:cNvPr id="174" name="Group 128"/>
              <p:cNvGrpSpPr>
                <a:grpSpLocks/>
              </p:cNvGrpSpPr>
              <p:nvPr/>
            </p:nvGrpSpPr>
            <p:grpSpPr bwMode="auto">
              <a:xfrm>
                <a:off x="3833" y="2433"/>
                <a:ext cx="454" cy="317"/>
                <a:chOff x="1746" y="3385"/>
                <a:chExt cx="454" cy="317"/>
              </a:xfrm>
            </p:grpSpPr>
            <p:sp>
              <p:nvSpPr>
                <p:cNvPr id="197" name="AutoShape 129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8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0110</a:t>
                  </a:r>
                </a:p>
              </p:txBody>
            </p:sp>
          </p:grpSp>
          <p:sp>
            <p:nvSpPr>
              <p:cNvPr id="175" name="Line 131"/>
              <p:cNvSpPr>
                <a:spLocks noChangeShapeType="1"/>
              </p:cNvSpPr>
              <p:nvPr/>
            </p:nvSpPr>
            <p:spPr bwMode="auto">
              <a:xfrm>
                <a:off x="3288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9" name="Line 132"/>
              <p:cNvSpPr>
                <a:spLocks noChangeShapeType="1"/>
              </p:cNvSpPr>
              <p:nvPr/>
            </p:nvSpPr>
            <p:spPr bwMode="auto">
              <a:xfrm>
                <a:off x="3742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1" name="Line 134"/>
              <p:cNvSpPr>
                <a:spLocks noChangeShapeType="1"/>
              </p:cNvSpPr>
              <p:nvPr/>
            </p:nvSpPr>
            <p:spPr bwMode="auto">
              <a:xfrm rot="16200000" flipH="1">
                <a:off x="4400" y="2365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2" name="Line 135"/>
              <p:cNvSpPr>
                <a:spLocks noChangeShapeType="1"/>
              </p:cNvSpPr>
              <p:nvPr/>
            </p:nvSpPr>
            <p:spPr bwMode="auto">
              <a:xfrm rot="-5400000">
                <a:off x="3061" y="191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3" name="Line 136"/>
              <p:cNvSpPr>
                <a:spLocks noChangeShapeType="1"/>
              </p:cNvSpPr>
              <p:nvPr/>
            </p:nvSpPr>
            <p:spPr bwMode="auto">
              <a:xfrm rot="-5400000">
                <a:off x="3061" y="2365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6" name="Line 139"/>
              <p:cNvSpPr>
                <a:spLocks noChangeShapeType="1"/>
              </p:cNvSpPr>
              <p:nvPr/>
            </p:nvSpPr>
            <p:spPr bwMode="auto">
              <a:xfrm flipH="1">
                <a:off x="3288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9" name="Line 140"/>
              <p:cNvSpPr>
                <a:spLocks noChangeShapeType="1"/>
              </p:cNvSpPr>
              <p:nvPr/>
            </p:nvSpPr>
            <p:spPr bwMode="auto">
              <a:xfrm flipH="1">
                <a:off x="3742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93" name="Line 141"/>
              <p:cNvSpPr>
                <a:spLocks noChangeShapeType="1"/>
              </p:cNvSpPr>
              <p:nvPr/>
            </p:nvSpPr>
            <p:spPr bwMode="auto">
              <a:xfrm flipH="1">
                <a:off x="4195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94" name="Line 142"/>
              <p:cNvSpPr>
                <a:spLocks noChangeShapeType="1"/>
              </p:cNvSpPr>
              <p:nvPr/>
            </p:nvSpPr>
            <p:spPr bwMode="auto">
              <a:xfrm>
                <a:off x="4195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95" name="Line 144"/>
              <p:cNvSpPr>
                <a:spLocks noChangeShapeType="1"/>
              </p:cNvSpPr>
              <p:nvPr/>
            </p:nvSpPr>
            <p:spPr bwMode="auto">
              <a:xfrm rot="5400000" flipV="1">
                <a:off x="4400" y="191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96" name="AutoShape 146"/>
              <p:cNvSpPr>
                <a:spLocks noChangeArrowheads="1"/>
              </p:cNvSpPr>
              <p:nvPr/>
            </p:nvSpPr>
            <p:spPr bwMode="auto">
              <a:xfrm>
                <a:off x="4797" y="1162"/>
                <a:ext cx="544" cy="544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</p:grpSp>
        <p:graphicFrame>
          <p:nvGraphicFramePr>
            <p:cNvPr id="129" name="Object 2"/>
            <p:cNvGraphicFramePr>
              <a:graphicFrameLocks noChangeAspect="1"/>
            </p:cNvGraphicFramePr>
            <p:nvPr/>
          </p:nvGraphicFramePr>
          <p:xfrm>
            <a:off x="7086600" y="1962150"/>
            <a:ext cx="762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873" name="Equation" r:id="rId30" imgW="1168200" imgH="330120" progId="Equation.DSMT4">
                    <p:embed/>
                  </p:oleObj>
                </mc:Choice>
                <mc:Fallback>
                  <p:oleObj name="Equation" r:id="rId30" imgW="1168200" imgH="330120" progId="Equation.DSMT4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6600" y="1962150"/>
                          <a:ext cx="7620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7" name="Text Box 2"/>
          <p:cNvSpPr txBox="1">
            <a:spLocks noChangeArrowheads="1"/>
          </p:cNvSpPr>
          <p:nvPr/>
        </p:nvSpPr>
        <p:spPr bwMode="auto">
          <a:xfrm>
            <a:off x="381000" y="1047750"/>
            <a:ext cx="7696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的加法计数器。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清零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功能为异步清零。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异步清零法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2000" y="46291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31 74LS160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框图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724400" y="44005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30 74LS163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状态图</a:t>
            </a:r>
          </a:p>
        </p:txBody>
      </p:sp>
      <p:cxnSp>
        <p:nvCxnSpPr>
          <p:cNvPr id="147" name="直接箭头连接符 146"/>
          <p:cNvCxnSpPr>
            <a:endCxn id="215" idx="5"/>
          </p:cNvCxnSpPr>
          <p:nvPr/>
        </p:nvCxnSpPr>
        <p:spPr>
          <a:xfrm flipH="1" flipV="1">
            <a:off x="5101996" y="2495204"/>
            <a:ext cx="994004" cy="914746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28"/>
          <p:cNvGrpSpPr/>
          <p:nvPr/>
        </p:nvGrpSpPr>
        <p:grpSpPr>
          <a:xfrm>
            <a:off x="533400" y="1526992"/>
            <a:ext cx="3123480" cy="2590798"/>
            <a:chOff x="1977326" y="926910"/>
            <a:chExt cx="3651535" cy="3186277"/>
          </a:xfrm>
        </p:grpSpPr>
        <p:grpSp>
          <p:nvGrpSpPr>
            <p:cNvPr id="3" name="Group 136"/>
            <p:cNvGrpSpPr>
              <a:grpSpLocks/>
            </p:cNvGrpSpPr>
            <p:nvPr/>
          </p:nvGrpSpPr>
          <p:grpSpPr bwMode="auto">
            <a:xfrm>
              <a:off x="1977326" y="926910"/>
              <a:ext cx="3651535" cy="2997990"/>
              <a:chOff x="2031" y="2338"/>
              <a:chExt cx="1668" cy="1300"/>
            </a:xfrm>
          </p:grpSpPr>
          <p:sp>
            <p:nvSpPr>
              <p:cNvPr id="145" name="Rectangle 137"/>
              <p:cNvSpPr>
                <a:spLocks noChangeArrowheads="1"/>
              </p:cNvSpPr>
              <p:nvPr/>
            </p:nvSpPr>
            <p:spPr bwMode="auto">
              <a:xfrm>
                <a:off x="2303" y="2474"/>
                <a:ext cx="1089" cy="59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" name="Line 140"/>
              <p:cNvSpPr>
                <a:spLocks noChangeShapeType="1"/>
              </p:cNvSpPr>
              <p:nvPr/>
            </p:nvSpPr>
            <p:spPr bwMode="auto">
              <a:xfrm>
                <a:off x="2938" y="3064"/>
                <a:ext cx="0" cy="57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Line 141"/>
              <p:cNvSpPr>
                <a:spLocks noChangeShapeType="1"/>
              </p:cNvSpPr>
              <p:nvPr/>
            </p:nvSpPr>
            <p:spPr bwMode="auto">
              <a:xfrm>
                <a:off x="3119" y="3064"/>
                <a:ext cx="1" cy="20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Line 142"/>
              <p:cNvSpPr>
                <a:spLocks noChangeShapeType="1"/>
              </p:cNvSpPr>
              <p:nvPr/>
            </p:nvSpPr>
            <p:spPr bwMode="auto">
              <a:xfrm>
                <a:off x="2575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Line 143"/>
              <p:cNvSpPr>
                <a:spLocks noChangeShapeType="1"/>
              </p:cNvSpPr>
              <p:nvPr/>
            </p:nvSpPr>
            <p:spPr bwMode="auto">
              <a:xfrm>
                <a:off x="2756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Line 144"/>
              <p:cNvSpPr>
                <a:spLocks noChangeShapeType="1"/>
              </p:cNvSpPr>
              <p:nvPr/>
            </p:nvSpPr>
            <p:spPr bwMode="auto">
              <a:xfrm>
                <a:off x="2938" y="2338"/>
                <a:ext cx="0" cy="1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Line 145"/>
              <p:cNvSpPr>
                <a:spLocks noChangeShapeType="1"/>
              </p:cNvSpPr>
              <p:nvPr/>
            </p:nvSpPr>
            <p:spPr bwMode="auto">
              <a:xfrm>
                <a:off x="3119" y="2338"/>
                <a:ext cx="0" cy="13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60" name="Object 146"/>
              <p:cNvGraphicFramePr>
                <a:graphicFrameLocks noChangeAspect="1"/>
              </p:cNvGraphicFramePr>
              <p:nvPr/>
            </p:nvGraphicFramePr>
            <p:xfrm>
              <a:off x="2332" y="2554"/>
              <a:ext cx="143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30" name="Equation" r:id="rId2" imgW="228600" imgH="164880" progId="Equation.DSMT4">
                      <p:embed/>
                    </p:oleObj>
                  </mc:Choice>
                  <mc:Fallback>
                    <p:oleObj name="Equation" r:id="rId2" imgW="228600" imgH="164880" progId="Equation.DSMT4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2" y="2554"/>
                            <a:ext cx="143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1" name="Object 147"/>
              <p:cNvGraphicFramePr>
                <a:graphicFrameLocks noChangeAspect="1"/>
              </p:cNvGraphicFramePr>
              <p:nvPr/>
            </p:nvGraphicFramePr>
            <p:xfrm>
              <a:off x="3223" y="2863"/>
              <a:ext cx="160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31" name="Equation" r:id="rId4" imgW="241200" imgH="253800" progId="Equation.DSMT4">
                      <p:embed/>
                    </p:oleObj>
                  </mc:Choice>
                  <mc:Fallback>
                    <p:oleObj name="Equation" r:id="rId4" imgW="241200" imgH="253800" progId="Equation.DSMT4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3" y="2863"/>
                            <a:ext cx="160" cy="1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" name="Object 148"/>
              <p:cNvGraphicFramePr>
                <a:graphicFrameLocks noChangeAspect="1"/>
              </p:cNvGraphicFramePr>
              <p:nvPr/>
            </p:nvGraphicFramePr>
            <p:xfrm>
              <a:off x="3234" y="2559"/>
              <a:ext cx="161" cy="1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32" name="Equation" r:id="rId6" imgW="253800" imgH="177480" progId="Equation.DSMT4">
                      <p:embed/>
                    </p:oleObj>
                  </mc:Choice>
                  <mc:Fallback>
                    <p:oleObj name="Equation" r:id="rId6" imgW="253800" imgH="177480" progId="Equation.DSMT4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4" y="2559"/>
                            <a:ext cx="161" cy="1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3" name="Object 149"/>
              <p:cNvGraphicFramePr>
                <a:graphicFrameLocks noChangeAspect="1"/>
              </p:cNvGraphicFramePr>
              <p:nvPr/>
            </p:nvGraphicFramePr>
            <p:xfrm>
              <a:off x="2506" y="2905"/>
              <a:ext cx="152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33" name="Equation" r:id="rId8" imgW="228600" imgH="228600" progId="Equation.DSMT4">
                      <p:embed/>
                    </p:oleObj>
                  </mc:Choice>
                  <mc:Fallback>
                    <p:oleObj name="Equation" r:id="rId8" imgW="228600" imgH="228600" progId="Equation.DSMT4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6" y="2905"/>
                            <a:ext cx="152" cy="1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5" name="Object 150"/>
              <p:cNvGraphicFramePr>
                <a:graphicFrameLocks noChangeAspect="1"/>
              </p:cNvGraphicFramePr>
              <p:nvPr/>
            </p:nvGraphicFramePr>
            <p:xfrm>
              <a:off x="2702" y="2918"/>
              <a:ext cx="134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34" name="Equation" r:id="rId10" imgW="215640" imgH="228600" progId="Equation.DSMT4">
                      <p:embed/>
                    </p:oleObj>
                  </mc:Choice>
                  <mc:Fallback>
                    <p:oleObj name="Equation" r:id="rId10" imgW="215640" imgH="228600" progId="Equation.DSMT4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2" y="2918"/>
                            <a:ext cx="134" cy="14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7" name="Object 151"/>
              <p:cNvGraphicFramePr>
                <a:graphicFrameLocks noChangeAspect="1"/>
              </p:cNvGraphicFramePr>
              <p:nvPr/>
            </p:nvGraphicFramePr>
            <p:xfrm>
              <a:off x="2891" y="2918"/>
              <a:ext cx="138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35" name="Equation" r:id="rId12" imgW="215640" imgH="228600" progId="Equation.DSMT4">
                      <p:embed/>
                    </p:oleObj>
                  </mc:Choice>
                  <mc:Fallback>
                    <p:oleObj name="Equation" r:id="rId12" imgW="215640" imgH="228600" progId="Equation.DSMT4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1" y="2918"/>
                            <a:ext cx="138" cy="14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8" name="Object 152"/>
              <p:cNvGraphicFramePr>
                <a:graphicFrameLocks noChangeAspect="1"/>
              </p:cNvGraphicFramePr>
              <p:nvPr/>
            </p:nvGraphicFramePr>
            <p:xfrm>
              <a:off x="3058" y="2914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36" name="Equation" r:id="rId14" imgW="228600" imgH="228600" progId="Equation.DSMT4">
                      <p:embed/>
                    </p:oleObj>
                  </mc:Choice>
                  <mc:Fallback>
                    <p:oleObj name="Equation" r:id="rId14" imgW="228600" imgH="228600" progId="Equation.DSMT4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58" y="2914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9" name="Object 153"/>
              <p:cNvGraphicFramePr>
                <a:graphicFrameLocks noChangeAspect="1"/>
              </p:cNvGraphicFramePr>
              <p:nvPr/>
            </p:nvGraphicFramePr>
            <p:xfrm>
              <a:off x="3086" y="2475"/>
              <a:ext cx="102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37" name="Equation" r:id="rId16" imgW="164880" imgH="164880" progId="Equation.DSMT4">
                      <p:embed/>
                    </p:oleObj>
                  </mc:Choice>
                  <mc:Fallback>
                    <p:oleObj name="Equation" r:id="rId16" imgW="164880" imgH="164880" progId="Equation.DSMT4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86" y="2475"/>
                            <a:ext cx="102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0" name="Object 154"/>
              <p:cNvGraphicFramePr>
                <a:graphicFrameLocks noChangeAspect="1"/>
              </p:cNvGraphicFramePr>
              <p:nvPr/>
            </p:nvGraphicFramePr>
            <p:xfrm>
              <a:off x="2885" y="2470"/>
              <a:ext cx="93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38" name="Equation" r:id="rId18" imgW="152280" imgH="177480" progId="Equation.DSMT4">
                      <p:embed/>
                    </p:oleObj>
                  </mc:Choice>
                  <mc:Fallback>
                    <p:oleObj name="Equation" r:id="rId18" imgW="152280" imgH="177480" progId="Equation.DSMT4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5" y="2470"/>
                            <a:ext cx="93" cy="10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1" name="Object 155"/>
              <p:cNvGraphicFramePr>
                <a:graphicFrameLocks noChangeAspect="1"/>
              </p:cNvGraphicFramePr>
              <p:nvPr/>
            </p:nvGraphicFramePr>
            <p:xfrm>
              <a:off x="2708" y="2478"/>
              <a:ext cx="93" cy="10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39" name="Equation" r:id="rId20" imgW="152280" imgH="164880" progId="Equation.DSMT4">
                      <p:embed/>
                    </p:oleObj>
                  </mc:Choice>
                  <mc:Fallback>
                    <p:oleObj name="Equation" r:id="rId20" imgW="152280" imgH="164880" progId="Equation.DSMT4">
                      <p:embed/>
                      <p:pic>
                        <p:nvPicPr>
                          <p:cNvPr id="0" name="Picture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8" y="2478"/>
                            <a:ext cx="93" cy="10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" name="Object 156"/>
              <p:cNvGraphicFramePr>
                <a:graphicFrameLocks noChangeAspect="1"/>
              </p:cNvGraphicFramePr>
              <p:nvPr/>
            </p:nvGraphicFramePr>
            <p:xfrm>
              <a:off x="2509" y="2476"/>
              <a:ext cx="96" cy="1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40" name="Equation" r:id="rId22" imgW="152280" imgH="164880" progId="Equation.DSMT4">
                      <p:embed/>
                    </p:oleObj>
                  </mc:Choice>
                  <mc:Fallback>
                    <p:oleObj name="Equation" r:id="rId22" imgW="152280" imgH="164880" progId="Equation.DSMT4">
                      <p:embed/>
                      <p:pic>
                        <p:nvPicPr>
                          <p:cNvPr id="0" name="Picture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9" y="2476"/>
                            <a:ext cx="96" cy="1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3" name="Object 157"/>
              <p:cNvGraphicFramePr>
                <a:graphicFrameLocks noChangeAspect="1"/>
              </p:cNvGraphicFramePr>
              <p:nvPr/>
            </p:nvGraphicFramePr>
            <p:xfrm>
              <a:off x="2302" y="2914"/>
              <a:ext cx="203" cy="1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41" name="Equation" r:id="rId24" imgW="355320" imgH="177480" progId="Equation.DSMT4">
                      <p:embed/>
                    </p:oleObj>
                  </mc:Choice>
                  <mc:Fallback>
                    <p:oleObj name="Equation" r:id="rId24" imgW="355320" imgH="177480" progId="Equation.DSMT4">
                      <p:embed/>
                      <p:pic>
                        <p:nvPicPr>
                          <p:cNvPr id="0" name="Picture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02" y="2914"/>
                            <a:ext cx="203" cy="10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6" name="Line 158"/>
              <p:cNvSpPr>
                <a:spLocks noChangeShapeType="1"/>
              </p:cNvSpPr>
              <p:nvPr/>
            </p:nvSpPr>
            <p:spPr bwMode="auto">
              <a:xfrm>
                <a:off x="2031" y="2610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Line 159"/>
              <p:cNvSpPr>
                <a:spLocks noChangeShapeType="1"/>
              </p:cNvSpPr>
              <p:nvPr/>
            </p:nvSpPr>
            <p:spPr bwMode="auto">
              <a:xfrm>
                <a:off x="2031" y="2973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Line 160"/>
              <p:cNvSpPr>
                <a:spLocks noChangeShapeType="1"/>
              </p:cNvSpPr>
              <p:nvPr/>
            </p:nvSpPr>
            <p:spPr bwMode="auto">
              <a:xfrm>
                <a:off x="2045" y="2782"/>
                <a:ext cx="258" cy="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80" name="Object 161"/>
              <p:cNvGraphicFramePr>
                <a:graphicFrameLocks noChangeAspect="1"/>
              </p:cNvGraphicFramePr>
              <p:nvPr/>
            </p:nvGraphicFramePr>
            <p:xfrm>
              <a:off x="2333" y="2731"/>
              <a:ext cx="153" cy="1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42" name="Equation" r:id="rId26" imgW="241200" imgH="164880" progId="Equation.DSMT4">
                      <p:embed/>
                    </p:oleObj>
                  </mc:Choice>
                  <mc:Fallback>
                    <p:oleObj name="Equation" r:id="rId26" imgW="241200" imgH="164880" progId="Equation.DSMT4">
                      <p:embed/>
                      <p:pic>
                        <p:nvPicPr>
                          <p:cNvPr id="0" name="Picture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3" y="2731"/>
                            <a:ext cx="153" cy="10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" name="Group 162"/>
              <p:cNvGrpSpPr>
                <a:grpSpLocks/>
              </p:cNvGrpSpPr>
              <p:nvPr/>
            </p:nvGrpSpPr>
            <p:grpSpPr bwMode="auto">
              <a:xfrm>
                <a:off x="3391" y="2745"/>
                <a:ext cx="226" cy="46"/>
                <a:chOff x="250" y="2568"/>
                <a:chExt cx="680" cy="182"/>
              </a:xfrm>
            </p:grpSpPr>
            <p:sp>
              <p:nvSpPr>
                <p:cNvPr id="191" name="Oval 163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2" name="Line 164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5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165"/>
              <p:cNvGrpSpPr>
                <a:grpSpLocks/>
              </p:cNvGrpSpPr>
              <p:nvPr/>
            </p:nvGrpSpPr>
            <p:grpSpPr bwMode="auto">
              <a:xfrm>
                <a:off x="3391" y="2927"/>
                <a:ext cx="308" cy="46"/>
                <a:chOff x="250" y="2568"/>
                <a:chExt cx="924" cy="182"/>
              </a:xfrm>
            </p:grpSpPr>
            <p:sp>
              <p:nvSpPr>
                <p:cNvPr id="188" name="Oval 166"/>
                <p:cNvSpPr>
                  <a:spLocks noChangeArrowheads="1"/>
                </p:cNvSpPr>
                <p:nvPr/>
              </p:nvSpPr>
              <p:spPr bwMode="auto">
                <a:xfrm>
                  <a:off x="250" y="2568"/>
                  <a:ext cx="135" cy="182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0" name="Line 167"/>
                <p:cNvSpPr>
                  <a:spLocks noChangeShapeType="1"/>
                </p:cNvSpPr>
                <p:nvPr/>
              </p:nvSpPr>
              <p:spPr bwMode="auto">
                <a:xfrm>
                  <a:off x="385" y="2659"/>
                  <a:ext cx="78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4" name="Line 168"/>
              <p:cNvSpPr>
                <a:spLocks noChangeShapeType="1"/>
              </p:cNvSpPr>
              <p:nvPr/>
            </p:nvSpPr>
            <p:spPr bwMode="auto">
              <a:xfrm>
                <a:off x="3391" y="2609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85" name="Object 169"/>
              <p:cNvGraphicFramePr>
                <a:graphicFrameLocks noChangeAspect="1"/>
              </p:cNvGraphicFramePr>
              <p:nvPr/>
            </p:nvGraphicFramePr>
            <p:xfrm>
              <a:off x="3235" y="2708"/>
              <a:ext cx="141" cy="1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0943" name="Equation" r:id="rId28" imgW="253800" imgH="203040" progId="Equation.DSMT4">
                      <p:embed/>
                    </p:oleObj>
                  </mc:Choice>
                  <mc:Fallback>
                    <p:oleObj name="Equation" r:id="rId28" imgW="253800" imgH="203040" progId="Equation.DSMT4">
                      <p:embed/>
                      <p:pic>
                        <p:nvPicPr>
                          <p:cNvPr id="0" name="Picture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5" y="2708"/>
                            <a:ext cx="141" cy="11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7" name="Text Box 170"/>
              <p:cNvSpPr txBox="1">
                <a:spLocks noChangeArrowheads="1"/>
              </p:cNvSpPr>
              <p:nvPr/>
            </p:nvSpPr>
            <p:spPr bwMode="auto">
              <a:xfrm>
                <a:off x="2620" y="2655"/>
                <a:ext cx="499" cy="1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200" dirty="0">
                    <a:solidFill>
                      <a:srgbClr val="800000"/>
                    </a:solidFill>
                    <a:effectLst/>
                    <a:latin typeface="Arial" pitchFamily="34" charset="0"/>
                  </a:rPr>
                  <a:t>74LS160</a:t>
                </a:r>
              </a:p>
            </p:txBody>
          </p:sp>
        </p:grpSp>
        <p:sp>
          <p:nvSpPr>
            <p:cNvPr id="138" name="Line 140"/>
            <p:cNvSpPr>
              <a:spLocks noChangeShapeType="1"/>
            </p:cNvSpPr>
            <p:nvPr/>
          </p:nvSpPr>
          <p:spPr bwMode="auto">
            <a:xfrm>
              <a:off x="3200903" y="2607267"/>
              <a:ext cx="0" cy="4566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41"/>
            <p:cNvSpPr>
              <a:spLocks noChangeShapeType="1"/>
            </p:cNvSpPr>
            <p:nvPr/>
          </p:nvSpPr>
          <p:spPr bwMode="auto">
            <a:xfrm>
              <a:off x="3597143" y="2607266"/>
              <a:ext cx="0" cy="15059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组合 102"/>
          <p:cNvGrpSpPr/>
          <p:nvPr/>
        </p:nvGrpSpPr>
        <p:grpSpPr>
          <a:xfrm>
            <a:off x="4648200" y="1657350"/>
            <a:ext cx="3464823" cy="2100003"/>
            <a:chOff x="4402138" y="1701490"/>
            <a:chExt cx="3464823" cy="2100003"/>
          </a:xfrm>
        </p:grpSpPr>
        <p:grpSp>
          <p:nvGrpSpPr>
            <p:cNvPr id="7" name="Group 82"/>
            <p:cNvGrpSpPr>
              <a:grpSpLocks/>
            </p:cNvGrpSpPr>
            <p:nvPr/>
          </p:nvGrpSpPr>
          <p:grpSpPr bwMode="auto">
            <a:xfrm>
              <a:off x="4402138" y="1701490"/>
              <a:ext cx="3464823" cy="2100003"/>
              <a:chOff x="2925" y="1162"/>
              <a:chExt cx="2416" cy="1588"/>
            </a:xfrm>
          </p:grpSpPr>
          <p:grpSp>
            <p:nvGrpSpPr>
              <p:cNvPr id="8" name="Group 83"/>
              <p:cNvGrpSpPr>
                <a:grpSpLocks/>
              </p:cNvGrpSpPr>
              <p:nvPr/>
            </p:nvGrpSpPr>
            <p:grpSpPr bwMode="auto">
              <a:xfrm>
                <a:off x="2925" y="1525"/>
                <a:ext cx="454" cy="317"/>
                <a:chOff x="1746" y="3385"/>
                <a:chExt cx="454" cy="317"/>
              </a:xfrm>
            </p:grpSpPr>
            <p:sp>
              <p:nvSpPr>
                <p:cNvPr id="215" name="AutoShape 84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16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0000</a:t>
                  </a:r>
                </a:p>
              </p:txBody>
            </p:sp>
          </p:grpSp>
          <p:grpSp>
            <p:nvGrpSpPr>
              <p:cNvPr id="9" name="Group 86"/>
              <p:cNvGrpSpPr>
                <a:grpSpLocks/>
              </p:cNvGrpSpPr>
              <p:nvPr/>
            </p:nvGrpSpPr>
            <p:grpSpPr bwMode="auto">
              <a:xfrm>
                <a:off x="3832" y="1525"/>
                <a:ext cx="454" cy="317"/>
                <a:chOff x="1746" y="3385"/>
                <a:chExt cx="454" cy="317"/>
              </a:xfrm>
            </p:grpSpPr>
            <p:sp>
              <p:nvSpPr>
                <p:cNvPr id="213" name="AutoShape 87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14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0010</a:t>
                  </a:r>
                </a:p>
              </p:txBody>
            </p:sp>
          </p:grpSp>
          <p:grpSp>
            <p:nvGrpSpPr>
              <p:cNvPr id="10" name="Group 89"/>
              <p:cNvGrpSpPr>
                <a:grpSpLocks/>
              </p:cNvGrpSpPr>
              <p:nvPr/>
            </p:nvGrpSpPr>
            <p:grpSpPr bwMode="auto">
              <a:xfrm>
                <a:off x="3378" y="1525"/>
                <a:ext cx="454" cy="317"/>
                <a:chOff x="1746" y="3385"/>
                <a:chExt cx="454" cy="317"/>
              </a:xfrm>
            </p:grpSpPr>
            <p:sp>
              <p:nvSpPr>
                <p:cNvPr id="211" name="AutoShape 90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12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0001</a:t>
                  </a:r>
                </a:p>
              </p:txBody>
            </p:sp>
          </p:grpSp>
          <p:grpSp>
            <p:nvGrpSpPr>
              <p:cNvPr id="11" name="Group 92"/>
              <p:cNvGrpSpPr>
                <a:grpSpLocks/>
              </p:cNvGrpSpPr>
              <p:nvPr/>
            </p:nvGrpSpPr>
            <p:grpSpPr bwMode="auto">
              <a:xfrm>
                <a:off x="4286" y="2433"/>
                <a:ext cx="454" cy="317"/>
                <a:chOff x="1746" y="3385"/>
                <a:chExt cx="454" cy="317"/>
              </a:xfrm>
            </p:grpSpPr>
            <p:sp>
              <p:nvSpPr>
                <p:cNvPr id="209" name="AutoShape 93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10" name="Text Box 94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0101</a:t>
                  </a:r>
                </a:p>
              </p:txBody>
            </p:sp>
          </p:grpSp>
          <p:grpSp>
            <p:nvGrpSpPr>
              <p:cNvPr id="12" name="Group 95"/>
              <p:cNvGrpSpPr>
                <a:grpSpLocks/>
              </p:cNvGrpSpPr>
              <p:nvPr/>
            </p:nvGrpSpPr>
            <p:grpSpPr bwMode="auto">
              <a:xfrm>
                <a:off x="4286" y="1979"/>
                <a:ext cx="454" cy="317"/>
                <a:chOff x="1746" y="3385"/>
                <a:chExt cx="454" cy="317"/>
              </a:xfrm>
            </p:grpSpPr>
            <p:sp>
              <p:nvSpPr>
                <p:cNvPr id="207" name="AutoShape 96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8" name="Text Box 97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0100</a:t>
                  </a:r>
                </a:p>
              </p:txBody>
            </p:sp>
          </p:grpSp>
          <p:grpSp>
            <p:nvGrpSpPr>
              <p:cNvPr id="13" name="Group 98"/>
              <p:cNvGrpSpPr>
                <a:grpSpLocks/>
              </p:cNvGrpSpPr>
              <p:nvPr/>
            </p:nvGrpSpPr>
            <p:grpSpPr bwMode="auto">
              <a:xfrm>
                <a:off x="4285" y="1525"/>
                <a:ext cx="454" cy="317"/>
                <a:chOff x="1746" y="3385"/>
                <a:chExt cx="454" cy="317"/>
              </a:xfrm>
            </p:grpSpPr>
            <p:sp>
              <p:nvSpPr>
                <p:cNvPr id="205" name="AutoShape 99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6" name="Text Box 100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0011</a:t>
                  </a:r>
                </a:p>
              </p:txBody>
            </p:sp>
          </p:grpSp>
          <p:grpSp>
            <p:nvGrpSpPr>
              <p:cNvPr id="14" name="Group 119"/>
              <p:cNvGrpSpPr>
                <a:grpSpLocks/>
              </p:cNvGrpSpPr>
              <p:nvPr/>
            </p:nvGrpSpPr>
            <p:grpSpPr bwMode="auto">
              <a:xfrm>
                <a:off x="2925" y="2432"/>
                <a:ext cx="454" cy="317"/>
                <a:chOff x="1746" y="3385"/>
                <a:chExt cx="454" cy="317"/>
              </a:xfrm>
            </p:grpSpPr>
            <p:sp>
              <p:nvSpPr>
                <p:cNvPr id="203" name="AutoShape 120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4" name="Text Box 121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 dirty="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1000</a:t>
                  </a:r>
                </a:p>
              </p:txBody>
            </p:sp>
          </p:grpSp>
          <p:grpSp>
            <p:nvGrpSpPr>
              <p:cNvPr id="15" name="Group 122"/>
              <p:cNvGrpSpPr>
                <a:grpSpLocks/>
              </p:cNvGrpSpPr>
              <p:nvPr/>
            </p:nvGrpSpPr>
            <p:grpSpPr bwMode="auto">
              <a:xfrm>
                <a:off x="2925" y="1979"/>
                <a:ext cx="454" cy="317"/>
                <a:chOff x="1746" y="3385"/>
                <a:chExt cx="454" cy="317"/>
              </a:xfrm>
            </p:grpSpPr>
            <p:sp>
              <p:nvSpPr>
                <p:cNvPr id="201" name="AutoShape 123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2" name="Text Box 124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1001</a:t>
                  </a:r>
                </a:p>
              </p:txBody>
            </p:sp>
          </p:grpSp>
          <p:grpSp>
            <p:nvGrpSpPr>
              <p:cNvPr id="16" name="Group 125"/>
              <p:cNvGrpSpPr>
                <a:grpSpLocks/>
              </p:cNvGrpSpPr>
              <p:nvPr/>
            </p:nvGrpSpPr>
            <p:grpSpPr bwMode="auto">
              <a:xfrm>
                <a:off x="3379" y="2432"/>
                <a:ext cx="454" cy="317"/>
                <a:chOff x="1746" y="3385"/>
                <a:chExt cx="454" cy="317"/>
              </a:xfrm>
            </p:grpSpPr>
            <p:sp>
              <p:nvSpPr>
                <p:cNvPr id="199" name="AutoShape 126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200" name="Text Box 127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0111</a:t>
                  </a:r>
                </a:p>
              </p:txBody>
            </p:sp>
          </p:grpSp>
          <p:grpSp>
            <p:nvGrpSpPr>
              <p:cNvPr id="17" name="Group 128"/>
              <p:cNvGrpSpPr>
                <a:grpSpLocks/>
              </p:cNvGrpSpPr>
              <p:nvPr/>
            </p:nvGrpSpPr>
            <p:grpSpPr bwMode="auto">
              <a:xfrm>
                <a:off x="3833" y="2433"/>
                <a:ext cx="454" cy="317"/>
                <a:chOff x="1746" y="3385"/>
                <a:chExt cx="454" cy="317"/>
              </a:xfrm>
            </p:grpSpPr>
            <p:sp>
              <p:nvSpPr>
                <p:cNvPr id="197" name="AutoShape 129"/>
                <p:cNvSpPr>
                  <a:spLocks noChangeArrowheads="1"/>
                </p:cNvSpPr>
                <p:nvPr/>
              </p:nvSpPr>
              <p:spPr bwMode="auto">
                <a:xfrm>
                  <a:off x="1791" y="3385"/>
                  <a:ext cx="318" cy="317"/>
                </a:xfrm>
                <a:prstGeom prst="flowChartConnector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140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98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1746" y="3430"/>
                  <a:ext cx="454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r>
                    <a:rPr kumimoji="0" lang="en-US" altLang="zh-CN" sz="1400">
                      <a:solidFill>
                        <a:srgbClr val="FF0000"/>
                      </a:solidFill>
                      <a:effectLst/>
                      <a:latin typeface="Arial" charset="0"/>
                    </a:rPr>
                    <a:t>0110</a:t>
                  </a:r>
                </a:p>
              </p:txBody>
            </p:sp>
          </p:grpSp>
          <p:sp>
            <p:nvSpPr>
              <p:cNvPr id="175" name="Line 131"/>
              <p:cNvSpPr>
                <a:spLocks noChangeShapeType="1"/>
              </p:cNvSpPr>
              <p:nvPr/>
            </p:nvSpPr>
            <p:spPr bwMode="auto">
              <a:xfrm>
                <a:off x="3288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79" name="Line 132"/>
              <p:cNvSpPr>
                <a:spLocks noChangeShapeType="1"/>
              </p:cNvSpPr>
              <p:nvPr/>
            </p:nvSpPr>
            <p:spPr bwMode="auto">
              <a:xfrm>
                <a:off x="3742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1" name="Line 134"/>
              <p:cNvSpPr>
                <a:spLocks noChangeShapeType="1"/>
              </p:cNvSpPr>
              <p:nvPr/>
            </p:nvSpPr>
            <p:spPr bwMode="auto">
              <a:xfrm rot="16200000" flipH="1">
                <a:off x="4400" y="2365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2" name="Line 135"/>
              <p:cNvSpPr>
                <a:spLocks noChangeShapeType="1"/>
              </p:cNvSpPr>
              <p:nvPr/>
            </p:nvSpPr>
            <p:spPr bwMode="auto">
              <a:xfrm rot="-5400000">
                <a:off x="3061" y="191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3" name="Line 136"/>
              <p:cNvSpPr>
                <a:spLocks noChangeShapeType="1"/>
              </p:cNvSpPr>
              <p:nvPr/>
            </p:nvSpPr>
            <p:spPr bwMode="auto">
              <a:xfrm rot="-5400000">
                <a:off x="3061" y="2365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6" name="Line 139"/>
              <p:cNvSpPr>
                <a:spLocks noChangeShapeType="1"/>
              </p:cNvSpPr>
              <p:nvPr/>
            </p:nvSpPr>
            <p:spPr bwMode="auto">
              <a:xfrm flipH="1">
                <a:off x="3288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9" name="Line 140"/>
              <p:cNvSpPr>
                <a:spLocks noChangeShapeType="1"/>
              </p:cNvSpPr>
              <p:nvPr/>
            </p:nvSpPr>
            <p:spPr bwMode="auto">
              <a:xfrm flipH="1">
                <a:off x="3742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93" name="Line 141"/>
              <p:cNvSpPr>
                <a:spLocks noChangeShapeType="1"/>
              </p:cNvSpPr>
              <p:nvPr/>
            </p:nvSpPr>
            <p:spPr bwMode="auto">
              <a:xfrm flipH="1">
                <a:off x="4195" y="2614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94" name="Line 142"/>
              <p:cNvSpPr>
                <a:spLocks noChangeShapeType="1"/>
              </p:cNvSpPr>
              <p:nvPr/>
            </p:nvSpPr>
            <p:spPr bwMode="auto">
              <a:xfrm>
                <a:off x="4195" y="166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95" name="Line 144"/>
              <p:cNvSpPr>
                <a:spLocks noChangeShapeType="1"/>
              </p:cNvSpPr>
              <p:nvPr/>
            </p:nvSpPr>
            <p:spPr bwMode="auto">
              <a:xfrm rot="5400000" flipV="1">
                <a:off x="4400" y="1911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96" name="AutoShape 146"/>
              <p:cNvSpPr>
                <a:spLocks noChangeArrowheads="1"/>
              </p:cNvSpPr>
              <p:nvPr/>
            </p:nvSpPr>
            <p:spPr bwMode="auto">
              <a:xfrm>
                <a:off x="4797" y="1162"/>
                <a:ext cx="544" cy="544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</p:grpSp>
        <p:graphicFrame>
          <p:nvGraphicFramePr>
            <p:cNvPr id="129" name="Object 2"/>
            <p:cNvGraphicFramePr>
              <a:graphicFrameLocks noChangeAspect="1"/>
            </p:cNvGraphicFramePr>
            <p:nvPr/>
          </p:nvGraphicFramePr>
          <p:xfrm>
            <a:off x="7086600" y="1962150"/>
            <a:ext cx="7620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944" name="Equation" r:id="rId30" imgW="1168200" imgH="330120" progId="Equation.DSMT4">
                    <p:embed/>
                  </p:oleObj>
                </mc:Choice>
                <mc:Fallback>
                  <p:oleObj name="Equation" r:id="rId30" imgW="1168200" imgH="330120" progId="Equation.DSMT4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6600" y="1962150"/>
                          <a:ext cx="7620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7" name="Text Box 2"/>
          <p:cNvSpPr txBox="1">
            <a:spLocks noChangeArrowheads="1"/>
          </p:cNvSpPr>
          <p:nvPr/>
        </p:nvSpPr>
        <p:spPr bwMode="auto">
          <a:xfrm>
            <a:off x="381000" y="1047750"/>
            <a:ext cx="7696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的加法计数器。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74LS160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清零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功能为异步清零。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0" name="组合 152"/>
          <p:cNvGrpSpPr/>
          <p:nvPr/>
        </p:nvGrpSpPr>
        <p:grpSpPr>
          <a:xfrm rot="5400000">
            <a:off x="2274733" y="3493347"/>
            <a:ext cx="721267" cy="293756"/>
            <a:chOff x="5693172" y="4651257"/>
            <a:chExt cx="721267" cy="293756"/>
          </a:xfrm>
        </p:grpSpPr>
        <p:sp>
          <p:nvSpPr>
            <p:cNvPr id="91" name="AutoShape 100"/>
            <p:cNvSpPr>
              <a:spLocks noChangeArrowheads="1"/>
            </p:cNvSpPr>
            <p:nvPr/>
          </p:nvSpPr>
          <p:spPr bwMode="auto">
            <a:xfrm rot="16200000" flipV="1">
              <a:off x="5724128" y="4725144"/>
              <a:ext cx="188913" cy="250825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92" name="Text Box 101"/>
            <p:cNvSpPr txBox="1">
              <a:spLocks noChangeArrowheads="1"/>
            </p:cNvSpPr>
            <p:nvPr/>
          </p:nvSpPr>
          <p:spPr bwMode="auto">
            <a:xfrm rot="16200000" flipV="1">
              <a:off x="5978036" y="4502885"/>
              <a:ext cx="28803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 sz="3200" b="1" i="0" dirty="0">
                  <a:latin typeface="Arial" pitchFamily="34" charset="0"/>
                </a:rPr>
                <a:t>。</a:t>
              </a:r>
            </a:p>
          </p:txBody>
        </p:sp>
      </p:grpSp>
      <p:grpSp>
        <p:nvGrpSpPr>
          <p:cNvPr id="93" name="组合 170"/>
          <p:cNvGrpSpPr/>
          <p:nvPr/>
        </p:nvGrpSpPr>
        <p:grpSpPr>
          <a:xfrm>
            <a:off x="2941572" y="3699636"/>
            <a:ext cx="675959" cy="705687"/>
            <a:chOff x="2667000" y="3562350"/>
            <a:chExt cx="675959" cy="705687"/>
          </a:xfrm>
        </p:grpSpPr>
        <p:sp>
          <p:nvSpPr>
            <p:cNvPr id="94" name="AutoShape 87"/>
            <p:cNvSpPr>
              <a:spLocks noChangeArrowheads="1"/>
            </p:cNvSpPr>
            <p:nvPr/>
          </p:nvSpPr>
          <p:spPr bwMode="auto">
            <a:xfrm>
              <a:off x="2667000" y="3562350"/>
              <a:ext cx="431800" cy="59372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95" name="Text Box 101"/>
            <p:cNvSpPr txBox="1">
              <a:spLocks noChangeArrowheads="1"/>
            </p:cNvSpPr>
            <p:nvPr/>
          </p:nvSpPr>
          <p:spPr bwMode="auto">
            <a:xfrm flipV="1">
              <a:off x="3054927" y="3683262"/>
              <a:ext cx="28803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 sz="3200" b="1" i="0" dirty="0">
                  <a:latin typeface="Arial" pitchFamily="34" charset="0"/>
                </a:rPr>
                <a:t>。</a:t>
              </a:r>
            </a:p>
          </p:txBody>
        </p:sp>
      </p:grpSp>
      <p:cxnSp>
        <p:nvCxnSpPr>
          <p:cNvPr id="96" name="直接连接符 95"/>
          <p:cNvCxnSpPr/>
          <p:nvPr/>
        </p:nvCxnSpPr>
        <p:spPr>
          <a:xfrm>
            <a:off x="2582613" y="3637920"/>
            <a:ext cx="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152"/>
          <p:cNvGrpSpPr/>
          <p:nvPr/>
        </p:nvGrpSpPr>
        <p:grpSpPr>
          <a:xfrm rot="5400000">
            <a:off x="1256715" y="3470046"/>
            <a:ext cx="721267" cy="293756"/>
            <a:chOff x="5693172" y="4651257"/>
            <a:chExt cx="721267" cy="293756"/>
          </a:xfrm>
        </p:grpSpPr>
        <p:sp>
          <p:nvSpPr>
            <p:cNvPr id="98" name="AutoShape 100"/>
            <p:cNvSpPr>
              <a:spLocks noChangeArrowheads="1"/>
            </p:cNvSpPr>
            <p:nvPr/>
          </p:nvSpPr>
          <p:spPr bwMode="auto">
            <a:xfrm rot="16200000" flipV="1">
              <a:off x="5724128" y="4725144"/>
              <a:ext cx="188913" cy="250825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99" name="Text Box 101"/>
            <p:cNvSpPr txBox="1">
              <a:spLocks noChangeArrowheads="1"/>
            </p:cNvSpPr>
            <p:nvPr/>
          </p:nvSpPr>
          <p:spPr bwMode="auto">
            <a:xfrm rot="16200000" flipV="1">
              <a:off x="5978036" y="4502885"/>
              <a:ext cx="28803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zh-CN" altLang="en-US" sz="3200" b="1" i="0" dirty="0">
                  <a:latin typeface="Arial" pitchFamily="34" charset="0"/>
                </a:rPr>
                <a:t>。</a:t>
              </a:r>
            </a:p>
          </p:txBody>
        </p:sp>
      </p:grpSp>
      <p:sp>
        <p:nvSpPr>
          <p:cNvPr id="103" name="Line 167"/>
          <p:cNvSpPr>
            <a:spLocks noChangeShapeType="1"/>
          </p:cNvSpPr>
          <p:nvPr/>
        </p:nvSpPr>
        <p:spPr bwMode="auto">
          <a:xfrm>
            <a:off x="2583243" y="3782133"/>
            <a:ext cx="340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4" name="Line 167"/>
          <p:cNvSpPr>
            <a:spLocks noChangeShapeType="1"/>
          </p:cNvSpPr>
          <p:nvPr/>
        </p:nvSpPr>
        <p:spPr bwMode="auto">
          <a:xfrm>
            <a:off x="2217357" y="3965391"/>
            <a:ext cx="721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5" name="Line 167"/>
          <p:cNvSpPr>
            <a:spLocks noChangeShapeType="1"/>
          </p:cNvSpPr>
          <p:nvPr/>
        </p:nvSpPr>
        <p:spPr bwMode="auto">
          <a:xfrm>
            <a:off x="1905000" y="4125978"/>
            <a:ext cx="1026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6" name="Line 167"/>
          <p:cNvSpPr>
            <a:spLocks noChangeShapeType="1"/>
          </p:cNvSpPr>
          <p:nvPr/>
        </p:nvSpPr>
        <p:spPr bwMode="auto">
          <a:xfrm>
            <a:off x="1561785" y="4277748"/>
            <a:ext cx="140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7" name="Line 141"/>
          <p:cNvSpPr>
            <a:spLocks noChangeShapeType="1"/>
          </p:cNvSpPr>
          <p:nvPr/>
        </p:nvSpPr>
        <p:spPr bwMode="auto">
          <a:xfrm>
            <a:off x="1569972" y="3614619"/>
            <a:ext cx="0" cy="65557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8" name="Line 167"/>
          <p:cNvSpPr>
            <a:spLocks noChangeShapeType="1"/>
          </p:cNvSpPr>
          <p:nvPr/>
        </p:nvSpPr>
        <p:spPr bwMode="auto">
          <a:xfrm>
            <a:off x="3451671" y="4003806"/>
            <a:ext cx="20592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09" name="Line 141"/>
          <p:cNvSpPr>
            <a:spLocks noChangeShapeType="1"/>
          </p:cNvSpPr>
          <p:nvPr/>
        </p:nvSpPr>
        <p:spPr bwMode="auto">
          <a:xfrm>
            <a:off x="3657600" y="2669991"/>
            <a:ext cx="0" cy="133909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0" name="矩形 109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aphicFrame>
        <p:nvGraphicFramePr>
          <p:cNvPr id="43010" name="Object 96"/>
          <p:cNvGraphicFramePr>
            <a:graphicFrameLocks noChangeAspect="1"/>
          </p:cNvGraphicFramePr>
          <p:nvPr/>
        </p:nvGraphicFramePr>
        <p:xfrm>
          <a:off x="333375" y="2649538"/>
          <a:ext cx="7656513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954" name="Visio" r:id="rId2" imgW="3981611" imgH="1221774" progId="Visio.Drawing.11">
                  <p:embed/>
                </p:oleObj>
              </mc:Choice>
              <mc:Fallback>
                <p:oleObj name="Visio" r:id="rId2" imgW="3981611" imgH="1221774" progId="Visio.Drawing.11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" y="2649538"/>
                        <a:ext cx="7656513" cy="229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异步清零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4552950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32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时序图</a:t>
            </a:r>
          </a:p>
        </p:txBody>
      </p:sp>
      <p:pic>
        <p:nvPicPr>
          <p:cNvPr id="381955" name="Picture 3" descr="C:\Users\hfutliujun\AppData\Roaming\Tencent\Users\350654676\QQ\WinTemp\RichOle\[%W9EPT{CL]071@Y31C83LU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971550"/>
            <a:ext cx="4047276" cy="1523999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67400" y="1352550"/>
            <a:ext cx="327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加法计数器异步清零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M</a:t>
            </a:r>
            <a:endPara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N&gt;M  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异步步清零 减法计数器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1003058" y="1200150"/>
            <a:ext cx="4026142" cy="2590800"/>
            <a:chOff x="2925" y="1162"/>
            <a:chExt cx="2503" cy="1588"/>
          </a:xfrm>
        </p:grpSpPr>
        <p:grpSp>
          <p:nvGrpSpPr>
            <p:cNvPr id="3" name="Group 83"/>
            <p:cNvGrpSpPr>
              <a:grpSpLocks/>
            </p:cNvGrpSpPr>
            <p:nvPr/>
          </p:nvGrpSpPr>
          <p:grpSpPr bwMode="auto">
            <a:xfrm>
              <a:off x="2925" y="1525"/>
              <a:ext cx="454" cy="317"/>
              <a:chOff x="1746" y="3385"/>
              <a:chExt cx="454" cy="317"/>
            </a:xfrm>
          </p:grpSpPr>
          <p:sp>
            <p:nvSpPr>
              <p:cNvPr id="121" name="AutoShape 84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2" name="Text Box 85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1001</a:t>
                </a:r>
              </a:p>
            </p:txBody>
          </p:sp>
        </p:grpSp>
        <p:grpSp>
          <p:nvGrpSpPr>
            <p:cNvPr id="4" name="Group 86"/>
            <p:cNvGrpSpPr>
              <a:grpSpLocks/>
            </p:cNvGrpSpPr>
            <p:nvPr/>
          </p:nvGrpSpPr>
          <p:grpSpPr bwMode="auto">
            <a:xfrm>
              <a:off x="3832" y="1525"/>
              <a:ext cx="454" cy="317"/>
              <a:chOff x="1746" y="3385"/>
              <a:chExt cx="454" cy="317"/>
            </a:xfrm>
          </p:grpSpPr>
          <p:sp>
            <p:nvSpPr>
              <p:cNvPr id="119" name="AutoShape 87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20" name="Text Box 88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0111</a:t>
                </a:r>
              </a:p>
            </p:txBody>
          </p:sp>
        </p:grpSp>
        <p:grpSp>
          <p:nvGrpSpPr>
            <p:cNvPr id="5" name="Group 89"/>
            <p:cNvGrpSpPr>
              <a:grpSpLocks/>
            </p:cNvGrpSpPr>
            <p:nvPr/>
          </p:nvGrpSpPr>
          <p:grpSpPr bwMode="auto">
            <a:xfrm>
              <a:off x="3378" y="1525"/>
              <a:ext cx="454" cy="317"/>
              <a:chOff x="1746" y="3385"/>
              <a:chExt cx="454" cy="317"/>
            </a:xfrm>
          </p:grpSpPr>
          <p:sp>
            <p:nvSpPr>
              <p:cNvPr id="117" name="AutoShape 9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8" name="Text Box 9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1000</a:t>
                </a:r>
              </a:p>
            </p:txBody>
          </p:sp>
        </p:grpSp>
        <p:grpSp>
          <p:nvGrpSpPr>
            <p:cNvPr id="6" name="Group 92"/>
            <p:cNvGrpSpPr>
              <a:grpSpLocks/>
            </p:cNvGrpSpPr>
            <p:nvPr/>
          </p:nvGrpSpPr>
          <p:grpSpPr bwMode="auto">
            <a:xfrm>
              <a:off x="4286" y="2433"/>
              <a:ext cx="454" cy="317"/>
              <a:chOff x="1746" y="3385"/>
              <a:chExt cx="454" cy="317"/>
            </a:xfrm>
          </p:grpSpPr>
          <p:sp>
            <p:nvSpPr>
              <p:cNvPr id="115" name="AutoShape 9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6" name="Text Box 9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0100</a:t>
                </a:r>
              </a:p>
            </p:txBody>
          </p:sp>
        </p:grpSp>
        <p:grpSp>
          <p:nvGrpSpPr>
            <p:cNvPr id="7" name="Group 95"/>
            <p:cNvGrpSpPr>
              <a:grpSpLocks/>
            </p:cNvGrpSpPr>
            <p:nvPr/>
          </p:nvGrpSpPr>
          <p:grpSpPr bwMode="auto">
            <a:xfrm>
              <a:off x="4286" y="1979"/>
              <a:ext cx="454" cy="317"/>
              <a:chOff x="1746" y="3385"/>
              <a:chExt cx="454" cy="317"/>
            </a:xfrm>
          </p:grpSpPr>
          <p:sp>
            <p:nvSpPr>
              <p:cNvPr id="113" name="AutoShape 9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4" name="Text Box 9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0101</a:t>
                </a:r>
              </a:p>
            </p:txBody>
          </p:sp>
        </p:grpSp>
        <p:grpSp>
          <p:nvGrpSpPr>
            <p:cNvPr id="8" name="Group 98"/>
            <p:cNvGrpSpPr>
              <a:grpSpLocks/>
            </p:cNvGrpSpPr>
            <p:nvPr/>
          </p:nvGrpSpPr>
          <p:grpSpPr bwMode="auto">
            <a:xfrm>
              <a:off x="4285" y="1525"/>
              <a:ext cx="454" cy="317"/>
              <a:chOff x="1746" y="3385"/>
              <a:chExt cx="454" cy="317"/>
            </a:xfrm>
          </p:grpSpPr>
          <p:sp>
            <p:nvSpPr>
              <p:cNvPr id="111" name="AutoShape 9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Text Box 10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0110</a:t>
                </a:r>
              </a:p>
            </p:txBody>
          </p:sp>
        </p:grpSp>
        <p:grpSp>
          <p:nvGrpSpPr>
            <p:cNvPr id="9" name="Group 119"/>
            <p:cNvGrpSpPr>
              <a:grpSpLocks/>
            </p:cNvGrpSpPr>
            <p:nvPr/>
          </p:nvGrpSpPr>
          <p:grpSpPr bwMode="auto">
            <a:xfrm>
              <a:off x="2925" y="2432"/>
              <a:ext cx="454" cy="317"/>
              <a:chOff x="1746" y="3385"/>
              <a:chExt cx="454" cy="317"/>
            </a:xfrm>
          </p:grpSpPr>
          <p:sp>
            <p:nvSpPr>
              <p:cNvPr id="97" name="AutoShape 120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Text Box 121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0001</a:t>
                </a:r>
              </a:p>
            </p:txBody>
          </p:sp>
        </p:grpSp>
        <p:grpSp>
          <p:nvGrpSpPr>
            <p:cNvPr id="10" name="Group 122"/>
            <p:cNvGrpSpPr>
              <a:grpSpLocks/>
            </p:cNvGrpSpPr>
            <p:nvPr/>
          </p:nvGrpSpPr>
          <p:grpSpPr bwMode="auto">
            <a:xfrm>
              <a:off x="2925" y="1979"/>
              <a:ext cx="454" cy="317"/>
              <a:chOff x="1746" y="3385"/>
              <a:chExt cx="454" cy="317"/>
            </a:xfrm>
          </p:grpSpPr>
          <p:sp>
            <p:nvSpPr>
              <p:cNvPr id="95" name="AutoShape 123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Text Box 124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0000</a:t>
                </a:r>
              </a:p>
            </p:txBody>
          </p:sp>
        </p:grpSp>
        <p:grpSp>
          <p:nvGrpSpPr>
            <p:cNvPr id="11" name="Group 125"/>
            <p:cNvGrpSpPr>
              <a:grpSpLocks/>
            </p:cNvGrpSpPr>
            <p:nvPr/>
          </p:nvGrpSpPr>
          <p:grpSpPr bwMode="auto">
            <a:xfrm>
              <a:off x="3379" y="2432"/>
              <a:ext cx="454" cy="317"/>
              <a:chOff x="1746" y="3385"/>
              <a:chExt cx="454" cy="317"/>
            </a:xfrm>
          </p:grpSpPr>
          <p:sp>
            <p:nvSpPr>
              <p:cNvPr id="93" name="AutoShape 126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4" name="Text Box 127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0010</a:t>
                </a:r>
              </a:p>
            </p:txBody>
          </p:sp>
        </p:grpSp>
        <p:grpSp>
          <p:nvGrpSpPr>
            <p:cNvPr id="12" name="Group 128"/>
            <p:cNvGrpSpPr>
              <a:grpSpLocks/>
            </p:cNvGrpSpPr>
            <p:nvPr/>
          </p:nvGrpSpPr>
          <p:grpSpPr bwMode="auto">
            <a:xfrm>
              <a:off x="3833" y="2433"/>
              <a:ext cx="454" cy="317"/>
              <a:chOff x="1746" y="3385"/>
              <a:chExt cx="454" cy="317"/>
            </a:xfrm>
          </p:grpSpPr>
          <p:sp>
            <p:nvSpPr>
              <p:cNvPr id="91" name="AutoShape 129"/>
              <p:cNvSpPr>
                <a:spLocks noChangeArrowheads="1"/>
              </p:cNvSpPr>
              <p:nvPr/>
            </p:nvSpPr>
            <p:spPr bwMode="auto">
              <a:xfrm>
                <a:off x="1791" y="3385"/>
                <a:ext cx="318" cy="317"/>
              </a:xfrm>
              <a:prstGeom prst="flowChartConnector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1400">
                  <a:solidFill>
                    <a:srgbClr val="FF0000"/>
                  </a:solidFill>
                </a:endParaRPr>
              </a:p>
            </p:txBody>
          </p:sp>
          <p:sp>
            <p:nvSpPr>
              <p:cNvPr id="92" name="Text Box 130"/>
              <p:cNvSpPr txBox="1">
                <a:spLocks noChangeArrowheads="1"/>
              </p:cNvSpPr>
              <p:nvPr/>
            </p:nvSpPr>
            <p:spPr bwMode="auto">
              <a:xfrm>
                <a:off x="1746" y="3430"/>
                <a:ext cx="45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kumimoji="0" lang="en-US" altLang="zh-CN" sz="1400" dirty="0">
                    <a:solidFill>
                      <a:srgbClr val="FF0000"/>
                    </a:solidFill>
                    <a:effectLst/>
                    <a:latin typeface="Arial" charset="0"/>
                  </a:rPr>
                  <a:t>0011</a:t>
                </a:r>
              </a:p>
            </p:txBody>
          </p:sp>
        </p:grpSp>
        <p:sp>
          <p:nvSpPr>
            <p:cNvPr id="71" name="Line 131"/>
            <p:cNvSpPr>
              <a:spLocks noChangeShapeType="1"/>
            </p:cNvSpPr>
            <p:nvPr/>
          </p:nvSpPr>
          <p:spPr bwMode="auto">
            <a:xfrm>
              <a:off x="3288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2" name="Line 132"/>
            <p:cNvSpPr>
              <a:spLocks noChangeShapeType="1"/>
            </p:cNvSpPr>
            <p:nvPr/>
          </p:nvSpPr>
          <p:spPr bwMode="auto">
            <a:xfrm>
              <a:off x="3742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4" name="Line 134"/>
            <p:cNvSpPr>
              <a:spLocks noChangeShapeType="1"/>
            </p:cNvSpPr>
            <p:nvPr/>
          </p:nvSpPr>
          <p:spPr bwMode="auto">
            <a:xfrm rot="16200000" flipH="1">
              <a:off x="4400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5" name="Line 135"/>
            <p:cNvSpPr>
              <a:spLocks noChangeShapeType="1"/>
            </p:cNvSpPr>
            <p:nvPr/>
          </p:nvSpPr>
          <p:spPr bwMode="auto">
            <a:xfrm rot="-5400000">
              <a:off x="3061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6" name="Line 136"/>
            <p:cNvSpPr>
              <a:spLocks noChangeShapeType="1"/>
            </p:cNvSpPr>
            <p:nvPr/>
          </p:nvSpPr>
          <p:spPr bwMode="auto">
            <a:xfrm rot="-5400000">
              <a:off x="3061" y="2365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79" name="Line 139"/>
            <p:cNvSpPr>
              <a:spLocks noChangeShapeType="1"/>
            </p:cNvSpPr>
            <p:nvPr/>
          </p:nvSpPr>
          <p:spPr bwMode="auto">
            <a:xfrm flipH="1">
              <a:off x="3288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0" name="Line 140"/>
            <p:cNvSpPr>
              <a:spLocks noChangeShapeType="1"/>
            </p:cNvSpPr>
            <p:nvPr/>
          </p:nvSpPr>
          <p:spPr bwMode="auto">
            <a:xfrm flipH="1">
              <a:off x="3742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1" name="Line 141"/>
            <p:cNvSpPr>
              <a:spLocks noChangeShapeType="1"/>
            </p:cNvSpPr>
            <p:nvPr/>
          </p:nvSpPr>
          <p:spPr bwMode="auto">
            <a:xfrm flipH="1">
              <a:off x="4195" y="2614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2" name="Line 142"/>
            <p:cNvSpPr>
              <a:spLocks noChangeShapeType="1"/>
            </p:cNvSpPr>
            <p:nvPr/>
          </p:nvSpPr>
          <p:spPr bwMode="auto">
            <a:xfrm>
              <a:off x="4195" y="166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4" name="Line 144"/>
            <p:cNvSpPr>
              <a:spLocks noChangeShapeType="1"/>
            </p:cNvSpPr>
            <p:nvPr/>
          </p:nvSpPr>
          <p:spPr bwMode="auto">
            <a:xfrm rot="5400000" flipV="1">
              <a:off x="4400" y="1911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  <p:sp>
          <p:nvSpPr>
            <p:cNvPr id="89" name="AutoShape 146"/>
            <p:cNvSpPr>
              <a:spLocks noChangeArrowheads="1"/>
            </p:cNvSpPr>
            <p:nvPr/>
          </p:nvSpPr>
          <p:spPr bwMode="auto">
            <a:xfrm>
              <a:off x="4797" y="1162"/>
              <a:ext cx="631" cy="557"/>
            </a:xfrm>
            <a:prstGeom prst="flowChartConnector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140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349187" name="Object 3"/>
          <p:cNvGraphicFramePr>
            <a:graphicFrameLocks noChangeAspect="1"/>
          </p:cNvGraphicFramePr>
          <p:nvPr/>
        </p:nvGraphicFramePr>
        <p:xfrm>
          <a:off x="4038241" y="1499572"/>
          <a:ext cx="940091" cy="265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218" name="Equation" r:id="rId2" imgW="1168200" imgH="330120" progId="Equation.DSMT4">
                  <p:embed/>
                </p:oleObj>
              </mc:Choice>
              <mc:Fallback>
                <p:oleObj name="Equation" r:id="rId2" imgW="116820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241" y="1499572"/>
                        <a:ext cx="940091" cy="265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TextBox 76"/>
          <p:cNvSpPr txBox="1"/>
          <p:nvPr/>
        </p:nvSpPr>
        <p:spPr>
          <a:xfrm>
            <a:off x="1142640" y="4090372"/>
            <a:ext cx="2679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33  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减法计数器状态图</a:t>
            </a:r>
          </a:p>
        </p:txBody>
      </p:sp>
      <p:cxnSp>
        <p:nvCxnSpPr>
          <p:cNvPr id="78" name="直接箭头连接符 77"/>
          <p:cNvCxnSpPr>
            <a:stCxn id="113" idx="2"/>
            <a:endCxn id="95" idx="6"/>
          </p:cNvCxnSpPr>
          <p:nvPr/>
        </p:nvCxnSpPr>
        <p:spPr>
          <a:xfrm flipH="1">
            <a:off x="1586953" y="2791665"/>
            <a:ext cx="1677694" cy="0"/>
          </a:xfrm>
          <a:prstGeom prst="straightConnector1">
            <a:avLst/>
          </a:prstGeom>
          <a:ln w="38100">
            <a:solidFill>
              <a:schemeClr val="accent6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5715000" y="2114550"/>
            <a:ext cx="327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加法计数器同步清零</a:t>
            </a:r>
            <a:endParaRPr lang="en-US" altLang="zh-CN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N-M</a:t>
            </a:r>
            <a:endParaRPr lang="zh-CN" altLang="en-US" sz="20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N&lt;M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多片芯片级联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971550"/>
            <a:ext cx="7696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：用两片模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256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7" name="组合 116"/>
          <p:cNvGrpSpPr/>
          <p:nvPr/>
        </p:nvGrpSpPr>
        <p:grpSpPr>
          <a:xfrm>
            <a:off x="609600" y="1733550"/>
            <a:ext cx="2971800" cy="1752600"/>
            <a:chOff x="609600" y="2114550"/>
            <a:chExt cx="2971800" cy="1752600"/>
          </a:xfrm>
        </p:grpSpPr>
        <p:grpSp>
          <p:nvGrpSpPr>
            <p:cNvPr id="33" name="组合 32"/>
            <p:cNvGrpSpPr/>
            <p:nvPr/>
          </p:nvGrpSpPr>
          <p:grpSpPr>
            <a:xfrm>
              <a:off x="609600" y="2114550"/>
              <a:ext cx="2971800" cy="1752600"/>
              <a:chOff x="1977326" y="926909"/>
              <a:chExt cx="3474212" cy="2155424"/>
            </a:xfrm>
          </p:grpSpPr>
          <p:grpSp>
            <p:nvGrpSpPr>
              <p:cNvPr id="34" name="Group 136"/>
              <p:cNvGrpSpPr>
                <a:grpSpLocks/>
              </p:cNvGrpSpPr>
              <p:nvPr/>
            </p:nvGrpSpPr>
            <p:grpSpPr bwMode="auto">
              <a:xfrm>
                <a:off x="1977326" y="926909"/>
                <a:ext cx="3474212" cy="2149328"/>
                <a:chOff x="2031" y="2338"/>
                <a:chExt cx="1587" cy="932"/>
              </a:xfrm>
            </p:grpSpPr>
            <p:sp>
              <p:nvSpPr>
                <p:cNvPr id="46" name="Rectangle 137"/>
                <p:cNvSpPr>
                  <a:spLocks noChangeArrowheads="1"/>
                </p:cNvSpPr>
                <p:nvPr/>
              </p:nvSpPr>
              <p:spPr bwMode="auto">
                <a:xfrm>
                  <a:off x="2303" y="2474"/>
                  <a:ext cx="1089" cy="59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Line 140"/>
                <p:cNvSpPr>
                  <a:spLocks noChangeShapeType="1"/>
                </p:cNvSpPr>
                <p:nvPr/>
              </p:nvSpPr>
              <p:spPr bwMode="auto">
                <a:xfrm>
                  <a:off x="2938" y="3064"/>
                  <a:ext cx="0" cy="19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Line 141"/>
                <p:cNvSpPr>
                  <a:spLocks noChangeShapeType="1"/>
                </p:cNvSpPr>
                <p:nvPr/>
              </p:nvSpPr>
              <p:spPr bwMode="auto">
                <a:xfrm>
                  <a:off x="3119" y="3064"/>
                  <a:ext cx="1" cy="20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Line 142"/>
                <p:cNvSpPr>
                  <a:spLocks noChangeShapeType="1"/>
                </p:cNvSpPr>
                <p:nvPr/>
              </p:nvSpPr>
              <p:spPr bwMode="auto">
                <a:xfrm>
                  <a:off x="2575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Line 143"/>
                <p:cNvSpPr>
                  <a:spLocks noChangeShapeType="1"/>
                </p:cNvSpPr>
                <p:nvPr/>
              </p:nvSpPr>
              <p:spPr bwMode="auto">
                <a:xfrm>
                  <a:off x="2756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Line 144"/>
                <p:cNvSpPr>
                  <a:spLocks noChangeShapeType="1"/>
                </p:cNvSpPr>
                <p:nvPr/>
              </p:nvSpPr>
              <p:spPr bwMode="auto">
                <a:xfrm>
                  <a:off x="2938" y="2338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Line 145"/>
                <p:cNvSpPr>
                  <a:spLocks noChangeShapeType="1"/>
                </p:cNvSpPr>
                <p:nvPr/>
              </p:nvSpPr>
              <p:spPr bwMode="auto">
                <a:xfrm>
                  <a:off x="3119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4" name="Object 146"/>
                <p:cNvGraphicFramePr>
                  <a:graphicFrameLocks noChangeAspect="1"/>
                </p:cNvGraphicFramePr>
                <p:nvPr/>
              </p:nvGraphicFramePr>
              <p:xfrm>
                <a:off x="2332" y="2554"/>
                <a:ext cx="143" cy="1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02" name="Equation" r:id="rId2" imgW="228600" imgH="164880" progId="Equation.DSMT4">
                        <p:embed/>
                      </p:oleObj>
                    </mc:Choice>
                    <mc:Fallback>
                      <p:oleObj name="Equation" r:id="rId2" imgW="228600" imgH="164880" progId="Equation.DSMT4">
                        <p:embed/>
                        <p:pic>
                          <p:nvPicPr>
                            <p:cNvPr id="0" name="Picture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2" y="2554"/>
                              <a:ext cx="143" cy="10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5" name="Object 147"/>
                <p:cNvGraphicFramePr>
                  <a:graphicFrameLocks noChangeAspect="1"/>
                </p:cNvGraphicFramePr>
                <p:nvPr/>
              </p:nvGraphicFramePr>
              <p:xfrm>
                <a:off x="3223" y="2863"/>
                <a:ext cx="160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03" name="Equation" r:id="rId4" imgW="241200" imgH="253800" progId="Equation.DSMT4">
                        <p:embed/>
                      </p:oleObj>
                    </mc:Choice>
                    <mc:Fallback>
                      <p:oleObj name="Equation" r:id="rId4" imgW="241200" imgH="253800" progId="Equation.DSMT4">
                        <p:embed/>
                        <p:pic>
                          <p:nvPicPr>
                            <p:cNvPr id="0" name="Picture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23" y="2863"/>
                              <a:ext cx="160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6" name="Object 148"/>
                <p:cNvGraphicFramePr>
                  <a:graphicFrameLocks noChangeAspect="1"/>
                </p:cNvGraphicFramePr>
                <p:nvPr/>
              </p:nvGraphicFramePr>
              <p:xfrm>
                <a:off x="3234" y="2559"/>
                <a:ext cx="161" cy="1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04" name="Equation" r:id="rId6" imgW="253800" imgH="177480" progId="Equation.DSMT4">
                        <p:embed/>
                      </p:oleObj>
                    </mc:Choice>
                    <mc:Fallback>
                      <p:oleObj name="Equation" r:id="rId6" imgW="253800" imgH="177480" progId="Equation.DSMT4">
                        <p:embed/>
                        <p:pic>
                          <p:nvPicPr>
                            <p:cNvPr id="0" name="Picture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34" y="2559"/>
                              <a:ext cx="161" cy="1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7" name="Object 149"/>
                <p:cNvGraphicFramePr>
                  <a:graphicFrameLocks noChangeAspect="1"/>
                </p:cNvGraphicFramePr>
                <p:nvPr/>
              </p:nvGraphicFramePr>
              <p:xfrm>
                <a:off x="2506" y="2905"/>
                <a:ext cx="152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05" name="Equation" r:id="rId8" imgW="228600" imgH="228600" progId="Equation.DSMT4">
                        <p:embed/>
                      </p:oleObj>
                    </mc:Choice>
                    <mc:Fallback>
                      <p:oleObj name="Equation" r:id="rId8" imgW="228600" imgH="228600" progId="Equation.DSMT4">
                        <p:embed/>
                        <p:pic>
                          <p:nvPicPr>
                            <p:cNvPr id="0" name="Picture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06" y="2905"/>
                              <a:ext cx="152" cy="15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8" name="Object 150"/>
                <p:cNvGraphicFramePr>
                  <a:graphicFrameLocks noChangeAspect="1"/>
                </p:cNvGraphicFramePr>
                <p:nvPr/>
              </p:nvGraphicFramePr>
              <p:xfrm>
                <a:off x="2702" y="2918"/>
                <a:ext cx="134" cy="1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06" name="Equation" r:id="rId10" imgW="215640" imgH="228600" progId="Equation.DSMT4">
                        <p:embed/>
                      </p:oleObj>
                    </mc:Choice>
                    <mc:Fallback>
                      <p:oleObj name="Equation" r:id="rId10" imgW="215640" imgH="228600" progId="Equation.DSMT4">
                        <p:embed/>
                        <p:pic>
                          <p:nvPicPr>
                            <p:cNvPr id="0" name="Picture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2" y="2918"/>
                              <a:ext cx="134" cy="14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9" name="Object 151"/>
                <p:cNvGraphicFramePr>
                  <a:graphicFrameLocks noChangeAspect="1"/>
                </p:cNvGraphicFramePr>
                <p:nvPr/>
              </p:nvGraphicFramePr>
              <p:xfrm>
                <a:off x="2891" y="2918"/>
                <a:ext cx="138" cy="14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07" name="Equation" r:id="rId12" imgW="215640" imgH="228600" progId="Equation.DSMT4">
                        <p:embed/>
                      </p:oleObj>
                    </mc:Choice>
                    <mc:Fallback>
                      <p:oleObj name="Equation" r:id="rId12" imgW="215640" imgH="228600" progId="Equation.DSMT4">
                        <p:embed/>
                        <p:pic>
                          <p:nvPicPr>
                            <p:cNvPr id="0" name="Picture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1" y="2918"/>
                              <a:ext cx="138" cy="14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0" name="Object 152"/>
                <p:cNvGraphicFramePr>
                  <a:graphicFrameLocks noChangeAspect="1"/>
                </p:cNvGraphicFramePr>
                <p:nvPr/>
              </p:nvGraphicFramePr>
              <p:xfrm>
                <a:off x="3058" y="2914"/>
                <a:ext cx="144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08" name="Equation" r:id="rId14" imgW="228600" imgH="228600" progId="Equation.DSMT4">
                        <p:embed/>
                      </p:oleObj>
                    </mc:Choice>
                    <mc:Fallback>
                      <p:oleObj name="Equation" r:id="rId14" imgW="228600" imgH="228600" progId="Equation.DSMT4">
                        <p:embed/>
                        <p:pic>
                          <p:nvPicPr>
                            <p:cNvPr id="0" name="Picture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58" y="2914"/>
                              <a:ext cx="144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" name="Object 153"/>
                <p:cNvGraphicFramePr>
                  <a:graphicFrameLocks noChangeAspect="1"/>
                </p:cNvGraphicFramePr>
                <p:nvPr/>
              </p:nvGraphicFramePr>
              <p:xfrm>
                <a:off x="3086" y="2475"/>
                <a:ext cx="102" cy="1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09" name="Equation" r:id="rId16" imgW="164880" imgH="164880" progId="Equation.DSMT4">
                        <p:embed/>
                      </p:oleObj>
                    </mc:Choice>
                    <mc:Fallback>
                      <p:oleObj name="Equation" r:id="rId16" imgW="164880" imgH="164880" progId="Equation.DSMT4">
                        <p:embed/>
                        <p:pic>
                          <p:nvPicPr>
                            <p:cNvPr id="0" name="Picture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86" y="2475"/>
                              <a:ext cx="102" cy="10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3" name="Object 154"/>
                <p:cNvGraphicFramePr>
                  <a:graphicFrameLocks noChangeAspect="1"/>
                </p:cNvGraphicFramePr>
                <p:nvPr/>
              </p:nvGraphicFramePr>
              <p:xfrm>
                <a:off x="2885" y="2470"/>
                <a:ext cx="93" cy="1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10" name="Equation" r:id="rId18" imgW="152280" imgH="177480" progId="Equation.DSMT4">
                        <p:embed/>
                      </p:oleObj>
                    </mc:Choice>
                    <mc:Fallback>
                      <p:oleObj name="Equation" r:id="rId18" imgW="152280" imgH="177480" progId="Equation.DSMT4">
                        <p:embed/>
                        <p:pic>
                          <p:nvPicPr>
                            <p:cNvPr id="0" name="Picture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85" y="2470"/>
                              <a:ext cx="93" cy="10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4" name="Object 155"/>
                <p:cNvGraphicFramePr>
                  <a:graphicFrameLocks noChangeAspect="1"/>
                </p:cNvGraphicFramePr>
                <p:nvPr/>
              </p:nvGraphicFramePr>
              <p:xfrm>
                <a:off x="2708" y="2478"/>
                <a:ext cx="93" cy="1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11" name="Equation" r:id="rId20" imgW="152280" imgH="164880" progId="Equation.DSMT4">
                        <p:embed/>
                      </p:oleObj>
                    </mc:Choice>
                    <mc:Fallback>
                      <p:oleObj name="Equation" r:id="rId20" imgW="152280" imgH="164880" progId="Equation.DSMT4">
                        <p:embed/>
                        <p:pic>
                          <p:nvPicPr>
                            <p:cNvPr id="0" name="Picture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8" y="2478"/>
                              <a:ext cx="93" cy="10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5" name="Object 156"/>
                <p:cNvGraphicFramePr>
                  <a:graphicFrameLocks noChangeAspect="1"/>
                </p:cNvGraphicFramePr>
                <p:nvPr/>
              </p:nvGraphicFramePr>
              <p:xfrm>
                <a:off x="2509" y="2476"/>
                <a:ext cx="96" cy="1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12" name="Equation" r:id="rId22" imgW="152280" imgH="164880" progId="Equation.DSMT4">
                        <p:embed/>
                      </p:oleObj>
                    </mc:Choice>
                    <mc:Fallback>
                      <p:oleObj name="Equation" r:id="rId22" imgW="152280" imgH="164880" progId="Equation.DSMT4">
                        <p:embed/>
                        <p:pic>
                          <p:nvPicPr>
                            <p:cNvPr id="0" name="Picture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09" y="2476"/>
                              <a:ext cx="96" cy="10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6" name="Object 157"/>
                <p:cNvGraphicFramePr>
                  <a:graphicFrameLocks noChangeAspect="1"/>
                </p:cNvGraphicFramePr>
                <p:nvPr/>
              </p:nvGraphicFramePr>
              <p:xfrm>
                <a:off x="2302" y="2914"/>
                <a:ext cx="203" cy="1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13" name="Equation" r:id="rId24" imgW="355320" imgH="177480" progId="Equation.DSMT4">
                        <p:embed/>
                      </p:oleObj>
                    </mc:Choice>
                    <mc:Fallback>
                      <p:oleObj name="Equation" r:id="rId24" imgW="355320" imgH="177480" progId="Equation.DSMT4">
                        <p:embed/>
                        <p:pic>
                          <p:nvPicPr>
                            <p:cNvPr id="0" name="Picture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02" y="2914"/>
                              <a:ext cx="203" cy="10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7" name="Line 158"/>
                <p:cNvSpPr>
                  <a:spLocks noChangeShapeType="1"/>
                </p:cNvSpPr>
                <p:nvPr/>
              </p:nvSpPr>
              <p:spPr bwMode="auto">
                <a:xfrm>
                  <a:off x="2031" y="2610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" name="Line 159"/>
                <p:cNvSpPr>
                  <a:spLocks noChangeShapeType="1"/>
                </p:cNvSpPr>
                <p:nvPr/>
              </p:nvSpPr>
              <p:spPr bwMode="auto">
                <a:xfrm>
                  <a:off x="2031" y="2973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70" name="Object 161"/>
                <p:cNvGraphicFramePr>
                  <a:graphicFrameLocks noChangeAspect="1"/>
                </p:cNvGraphicFramePr>
                <p:nvPr/>
              </p:nvGraphicFramePr>
              <p:xfrm>
                <a:off x="2333" y="2731"/>
                <a:ext cx="153" cy="1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14" name="Equation" r:id="rId26" imgW="241200" imgH="164880" progId="Equation.DSMT4">
                        <p:embed/>
                      </p:oleObj>
                    </mc:Choice>
                    <mc:Fallback>
                      <p:oleObj name="Equation" r:id="rId26" imgW="241200" imgH="164880" progId="Equation.DSMT4">
                        <p:embed/>
                        <p:pic>
                          <p:nvPicPr>
                            <p:cNvPr id="0" name="Picture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3" y="2731"/>
                              <a:ext cx="153" cy="10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71" name="Group 162"/>
                <p:cNvGrpSpPr>
                  <a:grpSpLocks/>
                </p:cNvGrpSpPr>
                <p:nvPr/>
              </p:nvGrpSpPr>
              <p:grpSpPr bwMode="auto">
                <a:xfrm>
                  <a:off x="3391" y="2745"/>
                  <a:ext cx="226" cy="46"/>
                  <a:chOff x="250" y="2568"/>
                  <a:chExt cx="680" cy="182"/>
                </a:xfrm>
              </p:grpSpPr>
              <p:sp>
                <p:nvSpPr>
                  <p:cNvPr id="78" name="Oval 163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9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2" name="Group 165"/>
                <p:cNvGrpSpPr>
                  <a:grpSpLocks/>
                </p:cNvGrpSpPr>
                <p:nvPr/>
              </p:nvGrpSpPr>
              <p:grpSpPr bwMode="auto">
                <a:xfrm>
                  <a:off x="3391" y="2927"/>
                  <a:ext cx="227" cy="46"/>
                  <a:chOff x="250" y="2568"/>
                  <a:chExt cx="680" cy="182"/>
                </a:xfrm>
              </p:grpSpPr>
              <p:sp>
                <p:nvSpPr>
                  <p:cNvPr id="76" name="Oval 166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" name="Line 167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3" name="Line 168"/>
                <p:cNvSpPr>
                  <a:spLocks noChangeShapeType="1"/>
                </p:cNvSpPr>
                <p:nvPr/>
              </p:nvSpPr>
              <p:spPr bwMode="auto">
                <a:xfrm>
                  <a:off x="3391" y="2609"/>
                  <a:ext cx="22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74" name="Object 169"/>
                <p:cNvGraphicFramePr>
                  <a:graphicFrameLocks noChangeAspect="1"/>
                </p:cNvGraphicFramePr>
                <p:nvPr/>
              </p:nvGraphicFramePr>
              <p:xfrm>
                <a:off x="3235" y="2708"/>
                <a:ext cx="141" cy="1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15" name="Equation" r:id="rId28" imgW="253800" imgH="203040" progId="Equation.DSMT4">
                        <p:embed/>
                      </p:oleObj>
                    </mc:Choice>
                    <mc:Fallback>
                      <p:oleObj name="Equation" r:id="rId28" imgW="253800" imgH="203040" progId="Equation.DSMT4">
                        <p:embed/>
                        <p:pic>
                          <p:nvPicPr>
                            <p:cNvPr id="0" name="Picture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35" y="2708"/>
                              <a:ext cx="141" cy="11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5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2620" y="2655"/>
                  <a:ext cx="499" cy="1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200" dirty="0">
                      <a:solidFill>
                        <a:srgbClr val="800000"/>
                      </a:solidFill>
                      <a:effectLst/>
                      <a:latin typeface="Arial" pitchFamily="34" charset="0"/>
                    </a:rPr>
                    <a:t>74LS163</a:t>
                  </a:r>
                </a:p>
              </p:txBody>
            </p:sp>
          </p:grpSp>
          <p:sp>
            <p:nvSpPr>
              <p:cNvPr id="40" name="Line 140"/>
              <p:cNvSpPr>
                <a:spLocks noChangeShapeType="1"/>
              </p:cNvSpPr>
              <p:nvPr/>
            </p:nvSpPr>
            <p:spPr bwMode="auto">
              <a:xfrm>
                <a:off x="3200903" y="2607267"/>
                <a:ext cx="0" cy="4566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Line 141"/>
              <p:cNvSpPr>
                <a:spLocks noChangeShapeType="1"/>
              </p:cNvSpPr>
              <p:nvPr/>
            </p:nvSpPr>
            <p:spPr bwMode="auto">
              <a:xfrm>
                <a:off x="3597142" y="2607267"/>
                <a:ext cx="2189" cy="47506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6" name="Line 158"/>
            <p:cNvSpPr>
              <a:spLocks noChangeShapeType="1"/>
            </p:cNvSpPr>
            <p:nvPr/>
          </p:nvSpPr>
          <p:spPr bwMode="auto">
            <a:xfrm>
              <a:off x="609600" y="2952750"/>
              <a:ext cx="509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4267200" y="1733550"/>
            <a:ext cx="2971800" cy="1752600"/>
            <a:chOff x="609600" y="2114550"/>
            <a:chExt cx="2971800" cy="1752600"/>
          </a:xfrm>
        </p:grpSpPr>
        <p:grpSp>
          <p:nvGrpSpPr>
            <p:cNvPr id="119" name="组合 32"/>
            <p:cNvGrpSpPr/>
            <p:nvPr/>
          </p:nvGrpSpPr>
          <p:grpSpPr>
            <a:xfrm>
              <a:off x="609600" y="2114550"/>
              <a:ext cx="2971800" cy="1752600"/>
              <a:chOff x="1977326" y="926909"/>
              <a:chExt cx="3474212" cy="2155424"/>
            </a:xfrm>
          </p:grpSpPr>
          <p:grpSp>
            <p:nvGrpSpPr>
              <p:cNvPr id="121" name="Group 136"/>
              <p:cNvGrpSpPr>
                <a:grpSpLocks/>
              </p:cNvGrpSpPr>
              <p:nvPr/>
            </p:nvGrpSpPr>
            <p:grpSpPr bwMode="auto">
              <a:xfrm>
                <a:off x="1977326" y="926909"/>
                <a:ext cx="3474212" cy="2149328"/>
                <a:chOff x="2031" y="2338"/>
                <a:chExt cx="1587" cy="932"/>
              </a:xfrm>
            </p:grpSpPr>
            <p:sp>
              <p:nvSpPr>
                <p:cNvPr id="124" name="Rectangle 137"/>
                <p:cNvSpPr>
                  <a:spLocks noChangeArrowheads="1"/>
                </p:cNvSpPr>
                <p:nvPr/>
              </p:nvSpPr>
              <p:spPr bwMode="auto">
                <a:xfrm>
                  <a:off x="2303" y="2474"/>
                  <a:ext cx="1089" cy="59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5" name="Line 140"/>
                <p:cNvSpPr>
                  <a:spLocks noChangeShapeType="1"/>
                </p:cNvSpPr>
                <p:nvPr/>
              </p:nvSpPr>
              <p:spPr bwMode="auto">
                <a:xfrm>
                  <a:off x="2938" y="3064"/>
                  <a:ext cx="0" cy="19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" name="Line 141"/>
                <p:cNvSpPr>
                  <a:spLocks noChangeShapeType="1"/>
                </p:cNvSpPr>
                <p:nvPr/>
              </p:nvSpPr>
              <p:spPr bwMode="auto">
                <a:xfrm>
                  <a:off x="3119" y="3064"/>
                  <a:ext cx="1" cy="20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" name="Line 142"/>
                <p:cNvSpPr>
                  <a:spLocks noChangeShapeType="1"/>
                </p:cNvSpPr>
                <p:nvPr/>
              </p:nvSpPr>
              <p:spPr bwMode="auto">
                <a:xfrm>
                  <a:off x="2575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" name="Line 143"/>
                <p:cNvSpPr>
                  <a:spLocks noChangeShapeType="1"/>
                </p:cNvSpPr>
                <p:nvPr/>
              </p:nvSpPr>
              <p:spPr bwMode="auto">
                <a:xfrm>
                  <a:off x="2756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" name="Line 144"/>
                <p:cNvSpPr>
                  <a:spLocks noChangeShapeType="1"/>
                </p:cNvSpPr>
                <p:nvPr/>
              </p:nvSpPr>
              <p:spPr bwMode="auto">
                <a:xfrm>
                  <a:off x="2938" y="2338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" name="Line 145"/>
                <p:cNvSpPr>
                  <a:spLocks noChangeShapeType="1"/>
                </p:cNvSpPr>
                <p:nvPr/>
              </p:nvSpPr>
              <p:spPr bwMode="auto">
                <a:xfrm>
                  <a:off x="3119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1" name="Object 146"/>
                <p:cNvGraphicFramePr>
                  <a:graphicFrameLocks noChangeAspect="1"/>
                </p:cNvGraphicFramePr>
                <p:nvPr/>
              </p:nvGraphicFramePr>
              <p:xfrm>
                <a:off x="2332" y="2554"/>
                <a:ext cx="143" cy="1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30" name="Equation" r:id="rId30" imgW="228600" imgH="164880" progId="Equation.DSMT4">
                        <p:embed/>
                      </p:oleObj>
                    </mc:Choice>
                    <mc:Fallback>
                      <p:oleObj name="Equation" r:id="rId30" imgW="228600" imgH="164880" progId="Equation.DSMT4">
                        <p:embed/>
                        <p:pic>
                          <p:nvPicPr>
                            <p:cNvPr id="0" name="Picture 3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2" y="2554"/>
                              <a:ext cx="143" cy="10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2" name="Object 147"/>
                <p:cNvGraphicFramePr>
                  <a:graphicFrameLocks noChangeAspect="1"/>
                </p:cNvGraphicFramePr>
                <p:nvPr/>
              </p:nvGraphicFramePr>
              <p:xfrm>
                <a:off x="3223" y="2863"/>
                <a:ext cx="160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31" name="Equation" r:id="rId31" imgW="241200" imgH="253800" progId="Equation.DSMT4">
                        <p:embed/>
                      </p:oleObj>
                    </mc:Choice>
                    <mc:Fallback>
                      <p:oleObj name="Equation" r:id="rId31" imgW="241200" imgH="253800" progId="Equation.DSMT4">
                        <p:embed/>
                        <p:pic>
                          <p:nvPicPr>
                            <p:cNvPr id="0" name="Picture 3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23" y="2863"/>
                              <a:ext cx="160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3" name="Object 148"/>
                <p:cNvGraphicFramePr>
                  <a:graphicFrameLocks noChangeAspect="1"/>
                </p:cNvGraphicFramePr>
                <p:nvPr/>
              </p:nvGraphicFramePr>
              <p:xfrm>
                <a:off x="3234" y="2559"/>
                <a:ext cx="161" cy="1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32" name="Equation" r:id="rId32" imgW="253800" imgH="177480" progId="Equation.DSMT4">
                        <p:embed/>
                      </p:oleObj>
                    </mc:Choice>
                    <mc:Fallback>
                      <p:oleObj name="Equation" r:id="rId32" imgW="253800" imgH="177480" progId="Equation.DSMT4">
                        <p:embed/>
                        <p:pic>
                          <p:nvPicPr>
                            <p:cNvPr id="0" name="Picture 3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34" y="2559"/>
                              <a:ext cx="161" cy="1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4" name="Object 149"/>
                <p:cNvGraphicFramePr>
                  <a:graphicFrameLocks noChangeAspect="1"/>
                </p:cNvGraphicFramePr>
                <p:nvPr/>
              </p:nvGraphicFramePr>
              <p:xfrm>
                <a:off x="2506" y="2905"/>
                <a:ext cx="152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33" name="Equation" r:id="rId33" imgW="228600" imgH="228600" progId="Equation.DSMT4">
                        <p:embed/>
                      </p:oleObj>
                    </mc:Choice>
                    <mc:Fallback>
                      <p:oleObj name="Equation" r:id="rId33" imgW="228600" imgH="228600" progId="Equation.DSMT4">
                        <p:embed/>
                        <p:pic>
                          <p:nvPicPr>
                            <p:cNvPr id="0" name="Picture 3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06" y="2905"/>
                              <a:ext cx="152" cy="15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5" name="Object 150"/>
                <p:cNvGraphicFramePr>
                  <a:graphicFrameLocks noChangeAspect="1"/>
                </p:cNvGraphicFramePr>
                <p:nvPr/>
              </p:nvGraphicFramePr>
              <p:xfrm>
                <a:off x="2702" y="2918"/>
                <a:ext cx="134" cy="1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34" name="Equation" r:id="rId34" imgW="215640" imgH="228600" progId="Equation.DSMT4">
                        <p:embed/>
                      </p:oleObj>
                    </mc:Choice>
                    <mc:Fallback>
                      <p:oleObj name="Equation" r:id="rId34" imgW="215640" imgH="228600" progId="Equation.DSMT4">
                        <p:embed/>
                        <p:pic>
                          <p:nvPicPr>
                            <p:cNvPr id="0" name="Picture 3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2" y="2918"/>
                              <a:ext cx="134" cy="14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" name="Object 151"/>
                <p:cNvGraphicFramePr>
                  <a:graphicFrameLocks noChangeAspect="1"/>
                </p:cNvGraphicFramePr>
                <p:nvPr/>
              </p:nvGraphicFramePr>
              <p:xfrm>
                <a:off x="2891" y="2918"/>
                <a:ext cx="138" cy="14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35" name="Equation" r:id="rId35" imgW="215640" imgH="228600" progId="Equation.DSMT4">
                        <p:embed/>
                      </p:oleObj>
                    </mc:Choice>
                    <mc:Fallback>
                      <p:oleObj name="Equation" r:id="rId35" imgW="215640" imgH="228600" progId="Equation.DSMT4">
                        <p:embed/>
                        <p:pic>
                          <p:nvPicPr>
                            <p:cNvPr id="0" name="Picture 3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1" y="2918"/>
                              <a:ext cx="138" cy="14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7" name="Object 152"/>
                <p:cNvGraphicFramePr>
                  <a:graphicFrameLocks noChangeAspect="1"/>
                </p:cNvGraphicFramePr>
                <p:nvPr/>
              </p:nvGraphicFramePr>
              <p:xfrm>
                <a:off x="3058" y="2914"/>
                <a:ext cx="144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36" name="Equation" r:id="rId36" imgW="228600" imgH="228600" progId="Equation.DSMT4">
                        <p:embed/>
                      </p:oleObj>
                    </mc:Choice>
                    <mc:Fallback>
                      <p:oleObj name="Equation" r:id="rId36" imgW="228600" imgH="228600" progId="Equation.DSMT4">
                        <p:embed/>
                        <p:pic>
                          <p:nvPicPr>
                            <p:cNvPr id="0" name="Picture 3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58" y="2914"/>
                              <a:ext cx="144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8" name="Object 153"/>
                <p:cNvGraphicFramePr>
                  <a:graphicFrameLocks noChangeAspect="1"/>
                </p:cNvGraphicFramePr>
                <p:nvPr/>
              </p:nvGraphicFramePr>
              <p:xfrm>
                <a:off x="3086" y="2475"/>
                <a:ext cx="102" cy="1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37" name="Equation" r:id="rId37" imgW="164880" imgH="164880" progId="Equation.DSMT4">
                        <p:embed/>
                      </p:oleObj>
                    </mc:Choice>
                    <mc:Fallback>
                      <p:oleObj name="Equation" r:id="rId37" imgW="164880" imgH="164880" progId="Equation.DSMT4">
                        <p:embed/>
                        <p:pic>
                          <p:nvPicPr>
                            <p:cNvPr id="0" name="Picture 3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86" y="2475"/>
                              <a:ext cx="102" cy="10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9" name="Object 154"/>
                <p:cNvGraphicFramePr>
                  <a:graphicFrameLocks noChangeAspect="1"/>
                </p:cNvGraphicFramePr>
                <p:nvPr/>
              </p:nvGraphicFramePr>
              <p:xfrm>
                <a:off x="2885" y="2470"/>
                <a:ext cx="93" cy="1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38" name="Equation" r:id="rId38" imgW="152280" imgH="177480" progId="Equation.DSMT4">
                        <p:embed/>
                      </p:oleObj>
                    </mc:Choice>
                    <mc:Fallback>
                      <p:oleObj name="Equation" r:id="rId38" imgW="152280" imgH="177480" progId="Equation.DSMT4">
                        <p:embed/>
                        <p:pic>
                          <p:nvPicPr>
                            <p:cNvPr id="0" name="Picture 3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85" y="2470"/>
                              <a:ext cx="93" cy="10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0" name="Object 155"/>
                <p:cNvGraphicFramePr>
                  <a:graphicFrameLocks noChangeAspect="1"/>
                </p:cNvGraphicFramePr>
                <p:nvPr/>
              </p:nvGraphicFramePr>
              <p:xfrm>
                <a:off x="2708" y="2478"/>
                <a:ext cx="93" cy="1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39" name="Equation" r:id="rId39" imgW="152280" imgH="164880" progId="Equation.DSMT4">
                        <p:embed/>
                      </p:oleObj>
                    </mc:Choice>
                    <mc:Fallback>
                      <p:oleObj name="Equation" r:id="rId39" imgW="152280" imgH="164880" progId="Equation.DSMT4">
                        <p:embed/>
                        <p:pic>
                          <p:nvPicPr>
                            <p:cNvPr id="0" name="Picture 3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8" y="2478"/>
                              <a:ext cx="93" cy="10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1" name="Object 156"/>
                <p:cNvGraphicFramePr>
                  <a:graphicFrameLocks noChangeAspect="1"/>
                </p:cNvGraphicFramePr>
                <p:nvPr/>
              </p:nvGraphicFramePr>
              <p:xfrm>
                <a:off x="2509" y="2476"/>
                <a:ext cx="96" cy="1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40" name="Equation" r:id="rId40" imgW="152280" imgH="164880" progId="Equation.DSMT4">
                        <p:embed/>
                      </p:oleObj>
                    </mc:Choice>
                    <mc:Fallback>
                      <p:oleObj name="Equation" r:id="rId40" imgW="152280" imgH="164880" progId="Equation.DSMT4">
                        <p:embed/>
                        <p:pic>
                          <p:nvPicPr>
                            <p:cNvPr id="0" name="Picture 4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09" y="2476"/>
                              <a:ext cx="96" cy="10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2" name="Object 157"/>
                <p:cNvGraphicFramePr>
                  <a:graphicFrameLocks noChangeAspect="1"/>
                </p:cNvGraphicFramePr>
                <p:nvPr/>
              </p:nvGraphicFramePr>
              <p:xfrm>
                <a:off x="2302" y="2914"/>
                <a:ext cx="203" cy="1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41" name="Equation" r:id="rId41" imgW="355320" imgH="177480" progId="Equation.DSMT4">
                        <p:embed/>
                      </p:oleObj>
                    </mc:Choice>
                    <mc:Fallback>
                      <p:oleObj name="Equation" r:id="rId41" imgW="355320" imgH="177480" progId="Equation.DSMT4">
                        <p:embed/>
                        <p:pic>
                          <p:nvPicPr>
                            <p:cNvPr id="0" name="Picture 4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02" y="2914"/>
                              <a:ext cx="203" cy="10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3" name="Line 158"/>
                <p:cNvSpPr>
                  <a:spLocks noChangeShapeType="1"/>
                </p:cNvSpPr>
                <p:nvPr/>
              </p:nvSpPr>
              <p:spPr bwMode="auto">
                <a:xfrm>
                  <a:off x="2031" y="2610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" name="Line 159"/>
                <p:cNvSpPr>
                  <a:spLocks noChangeShapeType="1"/>
                </p:cNvSpPr>
                <p:nvPr/>
              </p:nvSpPr>
              <p:spPr bwMode="auto">
                <a:xfrm>
                  <a:off x="2031" y="2973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45" name="Object 161"/>
                <p:cNvGraphicFramePr>
                  <a:graphicFrameLocks noChangeAspect="1"/>
                </p:cNvGraphicFramePr>
                <p:nvPr/>
              </p:nvGraphicFramePr>
              <p:xfrm>
                <a:off x="2333" y="2731"/>
                <a:ext cx="153" cy="1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42" name="Equation" r:id="rId42" imgW="241200" imgH="164880" progId="Equation.DSMT4">
                        <p:embed/>
                      </p:oleObj>
                    </mc:Choice>
                    <mc:Fallback>
                      <p:oleObj name="Equation" r:id="rId42" imgW="241200" imgH="164880" progId="Equation.DSMT4">
                        <p:embed/>
                        <p:pic>
                          <p:nvPicPr>
                            <p:cNvPr id="0" name="Picture 4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3" y="2731"/>
                              <a:ext cx="153" cy="10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46" name="Group 162"/>
                <p:cNvGrpSpPr>
                  <a:grpSpLocks/>
                </p:cNvGrpSpPr>
                <p:nvPr/>
              </p:nvGrpSpPr>
              <p:grpSpPr bwMode="auto">
                <a:xfrm>
                  <a:off x="3391" y="2745"/>
                  <a:ext cx="226" cy="46"/>
                  <a:chOff x="250" y="2568"/>
                  <a:chExt cx="680" cy="182"/>
                </a:xfrm>
              </p:grpSpPr>
              <p:sp>
                <p:nvSpPr>
                  <p:cNvPr id="153" name="Oval 163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" name="Group 165"/>
                <p:cNvGrpSpPr>
                  <a:grpSpLocks/>
                </p:cNvGrpSpPr>
                <p:nvPr/>
              </p:nvGrpSpPr>
              <p:grpSpPr bwMode="auto">
                <a:xfrm>
                  <a:off x="3391" y="2927"/>
                  <a:ext cx="227" cy="46"/>
                  <a:chOff x="250" y="2568"/>
                  <a:chExt cx="680" cy="182"/>
                </a:xfrm>
              </p:grpSpPr>
              <p:sp>
                <p:nvSpPr>
                  <p:cNvPr id="151" name="Oval 166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2" name="Line 167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8" name="Line 168"/>
                <p:cNvSpPr>
                  <a:spLocks noChangeShapeType="1"/>
                </p:cNvSpPr>
                <p:nvPr/>
              </p:nvSpPr>
              <p:spPr bwMode="auto">
                <a:xfrm>
                  <a:off x="3391" y="2609"/>
                  <a:ext cx="22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49" name="Object 169"/>
                <p:cNvGraphicFramePr>
                  <a:graphicFrameLocks noChangeAspect="1"/>
                </p:cNvGraphicFramePr>
                <p:nvPr/>
              </p:nvGraphicFramePr>
              <p:xfrm>
                <a:off x="3235" y="2708"/>
                <a:ext cx="141" cy="1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4043" name="Equation" r:id="rId43" imgW="253800" imgH="203040" progId="Equation.DSMT4">
                        <p:embed/>
                      </p:oleObj>
                    </mc:Choice>
                    <mc:Fallback>
                      <p:oleObj name="Equation" r:id="rId43" imgW="253800" imgH="203040" progId="Equation.DSMT4">
                        <p:embed/>
                        <p:pic>
                          <p:nvPicPr>
                            <p:cNvPr id="0" name="Picture 4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35" y="2708"/>
                              <a:ext cx="141" cy="11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50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2620" y="2655"/>
                  <a:ext cx="499" cy="1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200" dirty="0">
                      <a:solidFill>
                        <a:srgbClr val="800000"/>
                      </a:solidFill>
                      <a:effectLst/>
                      <a:latin typeface="Arial" pitchFamily="34" charset="0"/>
                    </a:rPr>
                    <a:t>74LS163</a:t>
                  </a:r>
                </a:p>
              </p:txBody>
            </p:sp>
          </p:grpSp>
          <p:sp>
            <p:nvSpPr>
              <p:cNvPr id="122" name="Line 140"/>
              <p:cNvSpPr>
                <a:spLocks noChangeShapeType="1"/>
              </p:cNvSpPr>
              <p:nvPr/>
            </p:nvSpPr>
            <p:spPr bwMode="auto">
              <a:xfrm>
                <a:off x="3200903" y="2607267"/>
                <a:ext cx="0" cy="4566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141"/>
              <p:cNvSpPr>
                <a:spLocks noChangeShapeType="1"/>
              </p:cNvSpPr>
              <p:nvPr/>
            </p:nvSpPr>
            <p:spPr bwMode="auto">
              <a:xfrm>
                <a:off x="3597142" y="2607267"/>
                <a:ext cx="2189" cy="47506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0" name="Line 158"/>
            <p:cNvSpPr>
              <a:spLocks noChangeShapeType="1"/>
            </p:cNvSpPr>
            <p:nvPr/>
          </p:nvSpPr>
          <p:spPr bwMode="auto">
            <a:xfrm>
              <a:off x="609600" y="2952750"/>
              <a:ext cx="509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5" name="Text Box 2"/>
          <p:cNvSpPr txBox="1">
            <a:spLocks noChangeArrowheads="1"/>
          </p:cNvSpPr>
          <p:nvPr/>
        </p:nvSpPr>
        <p:spPr bwMode="auto">
          <a:xfrm>
            <a:off x="3048000" y="4171950"/>
            <a:ext cx="2362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34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级联</a:t>
            </a:r>
          </a:p>
        </p:txBody>
      </p:sp>
      <p:sp>
        <p:nvSpPr>
          <p:cNvPr id="156" name="矩形 155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AutoShape 4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4933" name="AutoShape 5" descr="C:\Users\hfutliujun\AppData\Roaming\Tencent\Users\350654676\QQ\WinTemp\RichOle\(1YHR_{OZC$S)HTNC8L4D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>
            <a:off x="152400" y="590550"/>
            <a:ext cx="80010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构建任意模值的计数器：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N&lt;M  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多片芯片级联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" name="Text Box 2"/>
          <p:cNvSpPr txBox="1">
            <a:spLocks noChangeArrowheads="1"/>
          </p:cNvSpPr>
          <p:nvPr/>
        </p:nvSpPr>
        <p:spPr bwMode="auto">
          <a:xfrm>
            <a:off x="381000" y="971550"/>
            <a:ext cx="7696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：用两片模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16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计数器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构成模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256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的计数器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。</a:t>
            </a:r>
            <a:endParaRPr kumimoji="0" lang="zh-CN" altLang="en-US" sz="1600" b="1" i="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16"/>
          <p:cNvGrpSpPr/>
          <p:nvPr/>
        </p:nvGrpSpPr>
        <p:grpSpPr>
          <a:xfrm>
            <a:off x="609600" y="1733550"/>
            <a:ext cx="3277032" cy="1752600"/>
            <a:chOff x="609600" y="2114550"/>
            <a:chExt cx="3277032" cy="1752600"/>
          </a:xfrm>
        </p:grpSpPr>
        <p:grpSp>
          <p:nvGrpSpPr>
            <p:cNvPr id="3" name="组合 32"/>
            <p:cNvGrpSpPr/>
            <p:nvPr/>
          </p:nvGrpSpPr>
          <p:grpSpPr>
            <a:xfrm>
              <a:off x="609600" y="2114550"/>
              <a:ext cx="3277032" cy="1752600"/>
              <a:chOff x="1977326" y="926909"/>
              <a:chExt cx="3831047" cy="2155424"/>
            </a:xfrm>
          </p:grpSpPr>
          <p:grpSp>
            <p:nvGrpSpPr>
              <p:cNvPr id="4" name="Group 136"/>
              <p:cNvGrpSpPr>
                <a:grpSpLocks/>
              </p:cNvGrpSpPr>
              <p:nvPr/>
            </p:nvGrpSpPr>
            <p:grpSpPr bwMode="auto">
              <a:xfrm>
                <a:off x="1977326" y="926909"/>
                <a:ext cx="3831047" cy="2149328"/>
                <a:chOff x="2031" y="2338"/>
                <a:chExt cx="1750" cy="932"/>
              </a:xfrm>
            </p:grpSpPr>
            <p:sp>
              <p:nvSpPr>
                <p:cNvPr id="46" name="Rectangle 137"/>
                <p:cNvSpPr>
                  <a:spLocks noChangeArrowheads="1"/>
                </p:cNvSpPr>
                <p:nvPr/>
              </p:nvSpPr>
              <p:spPr bwMode="auto">
                <a:xfrm>
                  <a:off x="2303" y="2474"/>
                  <a:ext cx="1089" cy="59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Line 140"/>
                <p:cNvSpPr>
                  <a:spLocks noChangeShapeType="1"/>
                </p:cNvSpPr>
                <p:nvPr/>
              </p:nvSpPr>
              <p:spPr bwMode="auto">
                <a:xfrm>
                  <a:off x="2938" y="3064"/>
                  <a:ext cx="0" cy="19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Line 141"/>
                <p:cNvSpPr>
                  <a:spLocks noChangeShapeType="1"/>
                </p:cNvSpPr>
                <p:nvPr/>
              </p:nvSpPr>
              <p:spPr bwMode="auto">
                <a:xfrm>
                  <a:off x="3119" y="3064"/>
                  <a:ext cx="1" cy="20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Line 142"/>
                <p:cNvSpPr>
                  <a:spLocks noChangeShapeType="1"/>
                </p:cNvSpPr>
                <p:nvPr/>
              </p:nvSpPr>
              <p:spPr bwMode="auto">
                <a:xfrm>
                  <a:off x="2575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Line 143"/>
                <p:cNvSpPr>
                  <a:spLocks noChangeShapeType="1"/>
                </p:cNvSpPr>
                <p:nvPr/>
              </p:nvSpPr>
              <p:spPr bwMode="auto">
                <a:xfrm>
                  <a:off x="2756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Line 144"/>
                <p:cNvSpPr>
                  <a:spLocks noChangeShapeType="1"/>
                </p:cNvSpPr>
                <p:nvPr/>
              </p:nvSpPr>
              <p:spPr bwMode="auto">
                <a:xfrm>
                  <a:off x="2938" y="2338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Line 145"/>
                <p:cNvSpPr>
                  <a:spLocks noChangeShapeType="1"/>
                </p:cNvSpPr>
                <p:nvPr/>
              </p:nvSpPr>
              <p:spPr bwMode="auto">
                <a:xfrm>
                  <a:off x="3119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4" name="Object 146"/>
                <p:cNvGraphicFramePr>
                  <a:graphicFrameLocks noChangeAspect="1"/>
                </p:cNvGraphicFramePr>
                <p:nvPr/>
              </p:nvGraphicFramePr>
              <p:xfrm>
                <a:off x="2332" y="2554"/>
                <a:ext cx="143" cy="1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26" name="Equation" r:id="rId2" imgW="228600" imgH="164880" progId="Equation.DSMT4">
                        <p:embed/>
                      </p:oleObj>
                    </mc:Choice>
                    <mc:Fallback>
                      <p:oleObj name="Equation" r:id="rId2" imgW="228600" imgH="164880" progId="Equation.DSMT4">
                        <p:embed/>
                        <p:pic>
                          <p:nvPicPr>
                            <p:cNvPr id="0" name="Picture 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2" y="2554"/>
                              <a:ext cx="143" cy="10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5" name="Object 147"/>
                <p:cNvGraphicFramePr>
                  <a:graphicFrameLocks noChangeAspect="1"/>
                </p:cNvGraphicFramePr>
                <p:nvPr/>
              </p:nvGraphicFramePr>
              <p:xfrm>
                <a:off x="3223" y="2863"/>
                <a:ext cx="160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27" name="Equation" r:id="rId4" imgW="241200" imgH="253800" progId="Equation.DSMT4">
                        <p:embed/>
                      </p:oleObj>
                    </mc:Choice>
                    <mc:Fallback>
                      <p:oleObj name="Equation" r:id="rId4" imgW="241200" imgH="253800" progId="Equation.DSMT4">
                        <p:embed/>
                        <p:pic>
                          <p:nvPicPr>
                            <p:cNvPr id="0" name="Picture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23" y="2863"/>
                              <a:ext cx="160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6" name="Object 148"/>
                <p:cNvGraphicFramePr>
                  <a:graphicFrameLocks noChangeAspect="1"/>
                </p:cNvGraphicFramePr>
                <p:nvPr/>
              </p:nvGraphicFramePr>
              <p:xfrm>
                <a:off x="3234" y="2559"/>
                <a:ext cx="161" cy="1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28" name="Equation" r:id="rId6" imgW="253800" imgH="177480" progId="Equation.DSMT4">
                        <p:embed/>
                      </p:oleObj>
                    </mc:Choice>
                    <mc:Fallback>
                      <p:oleObj name="Equation" r:id="rId6" imgW="253800" imgH="177480" progId="Equation.DSMT4">
                        <p:embed/>
                        <p:pic>
                          <p:nvPicPr>
                            <p:cNvPr id="0" name="Picture 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34" y="2559"/>
                              <a:ext cx="161" cy="1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7" name="Object 149"/>
                <p:cNvGraphicFramePr>
                  <a:graphicFrameLocks noChangeAspect="1"/>
                </p:cNvGraphicFramePr>
                <p:nvPr/>
              </p:nvGraphicFramePr>
              <p:xfrm>
                <a:off x="2506" y="2905"/>
                <a:ext cx="152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29" name="Equation" r:id="rId8" imgW="228600" imgH="228600" progId="Equation.DSMT4">
                        <p:embed/>
                      </p:oleObj>
                    </mc:Choice>
                    <mc:Fallback>
                      <p:oleObj name="Equation" r:id="rId8" imgW="228600" imgH="228600" progId="Equation.DSMT4">
                        <p:embed/>
                        <p:pic>
                          <p:nvPicPr>
                            <p:cNvPr id="0" name="Picture 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06" y="2905"/>
                              <a:ext cx="152" cy="15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8" name="Object 150"/>
                <p:cNvGraphicFramePr>
                  <a:graphicFrameLocks noChangeAspect="1"/>
                </p:cNvGraphicFramePr>
                <p:nvPr/>
              </p:nvGraphicFramePr>
              <p:xfrm>
                <a:off x="2702" y="2918"/>
                <a:ext cx="134" cy="1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30" name="Equation" r:id="rId10" imgW="215640" imgH="228600" progId="Equation.DSMT4">
                        <p:embed/>
                      </p:oleObj>
                    </mc:Choice>
                    <mc:Fallback>
                      <p:oleObj name="Equation" r:id="rId10" imgW="215640" imgH="228600" progId="Equation.DSMT4">
                        <p:embed/>
                        <p:pic>
                          <p:nvPicPr>
                            <p:cNvPr id="0" name="Picture 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2" y="2918"/>
                              <a:ext cx="134" cy="14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9" name="Object 151"/>
                <p:cNvGraphicFramePr>
                  <a:graphicFrameLocks noChangeAspect="1"/>
                </p:cNvGraphicFramePr>
                <p:nvPr/>
              </p:nvGraphicFramePr>
              <p:xfrm>
                <a:off x="2891" y="2918"/>
                <a:ext cx="138" cy="14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31" name="Equation" r:id="rId12" imgW="215640" imgH="228600" progId="Equation.DSMT4">
                        <p:embed/>
                      </p:oleObj>
                    </mc:Choice>
                    <mc:Fallback>
                      <p:oleObj name="Equation" r:id="rId12" imgW="215640" imgH="228600" progId="Equation.DSMT4">
                        <p:embed/>
                        <p:pic>
                          <p:nvPicPr>
                            <p:cNvPr id="0" name="Picture 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1" y="2918"/>
                              <a:ext cx="138" cy="14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0" name="Object 152"/>
                <p:cNvGraphicFramePr>
                  <a:graphicFrameLocks noChangeAspect="1"/>
                </p:cNvGraphicFramePr>
                <p:nvPr/>
              </p:nvGraphicFramePr>
              <p:xfrm>
                <a:off x="3058" y="2914"/>
                <a:ext cx="144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32" name="Equation" r:id="rId14" imgW="228600" imgH="228600" progId="Equation.DSMT4">
                        <p:embed/>
                      </p:oleObj>
                    </mc:Choice>
                    <mc:Fallback>
                      <p:oleObj name="Equation" r:id="rId14" imgW="228600" imgH="228600" progId="Equation.DSMT4">
                        <p:embed/>
                        <p:pic>
                          <p:nvPicPr>
                            <p:cNvPr id="0" name="Picture 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58" y="2914"/>
                              <a:ext cx="144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" name="Object 153"/>
                <p:cNvGraphicFramePr>
                  <a:graphicFrameLocks noChangeAspect="1"/>
                </p:cNvGraphicFramePr>
                <p:nvPr/>
              </p:nvGraphicFramePr>
              <p:xfrm>
                <a:off x="3086" y="2475"/>
                <a:ext cx="102" cy="1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33" name="Equation" r:id="rId16" imgW="164880" imgH="164880" progId="Equation.DSMT4">
                        <p:embed/>
                      </p:oleObj>
                    </mc:Choice>
                    <mc:Fallback>
                      <p:oleObj name="Equation" r:id="rId16" imgW="164880" imgH="164880" progId="Equation.DSMT4">
                        <p:embed/>
                        <p:pic>
                          <p:nvPicPr>
                            <p:cNvPr id="0" name="Picture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86" y="2475"/>
                              <a:ext cx="102" cy="10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3" name="Object 154"/>
                <p:cNvGraphicFramePr>
                  <a:graphicFrameLocks noChangeAspect="1"/>
                </p:cNvGraphicFramePr>
                <p:nvPr/>
              </p:nvGraphicFramePr>
              <p:xfrm>
                <a:off x="2885" y="2470"/>
                <a:ext cx="93" cy="1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34" name="Equation" r:id="rId18" imgW="152280" imgH="177480" progId="Equation.DSMT4">
                        <p:embed/>
                      </p:oleObj>
                    </mc:Choice>
                    <mc:Fallback>
                      <p:oleObj name="Equation" r:id="rId18" imgW="152280" imgH="177480" progId="Equation.DSMT4">
                        <p:embed/>
                        <p:pic>
                          <p:nvPicPr>
                            <p:cNvPr id="0" name="Picture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85" y="2470"/>
                              <a:ext cx="93" cy="10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4" name="Object 155"/>
                <p:cNvGraphicFramePr>
                  <a:graphicFrameLocks noChangeAspect="1"/>
                </p:cNvGraphicFramePr>
                <p:nvPr/>
              </p:nvGraphicFramePr>
              <p:xfrm>
                <a:off x="2708" y="2478"/>
                <a:ext cx="93" cy="1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35" name="Equation" r:id="rId20" imgW="152280" imgH="164880" progId="Equation.DSMT4">
                        <p:embed/>
                      </p:oleObj>
                    </mc:Choice>
                    <mc:Fallback>
                      <p:oleObj name="Equation" r:id="rId20" imgW="152280" imgH="164880" progId="Equation.DSMT4">
                        <p:embed/>
                        <p:pic>
                          <p:nvPicPr>
                            <p:cNvPr id="0" name="Picture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8" y="2478"/>
                              <a:ext cx="93" cy="10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5" name="Object 156"/>
                <p:cNvGraphicFramePr>
                  <a:graphicFrameLocks noChangeAspect="1"/>
                </p:cNvGraphicFramePr>
                <p:nvPr/>
              </p:nvGraphicFramePr>
              <p:xfrm>
                <a:off x="2509" y="2476"/>
                <a:ext cx="96" cy="1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36" name="Equation" r:id="rId22" imgW="152280" imgH="164880" progId="Equation.DSMT4">
                        <p:embed/>
                      </p:oleObj>
                    </mc:Choice>
                    <mc:Fallback>
                      <p:oleObj name="Equation" r:id="rId22" imgW="152280" imgH="164880" progId="Equation.DSMT4">
                        <p:embed/>
                        <p:pic>
                          <p:nvPicPr>
                            <p:cNvPr id="0" name="Picture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09" y="2476"/>
                              <a:ext cx="96" cy="10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6" name="Object 157"/>
                <p:cNvGraphicFramePr>
                  <a:graphicFrameLocks noChangeAspect="1"/>
                </p:cNvGraphicFramePr>
                <p:nvPr/>
              </p:nvGraphicFramePr>
              <p:xfrm>
                <a:off x="2302" y="2914"/>
                <a:ext cx="203" cy="1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37" name="Equation" r:id="rId24" imgW="355320" imgH="177480" progId="Equation.DSMT4">
                        <p:embed/>
                      </p:oleObj>
                    </mc:Choice>
                    <mc:Fallback>
                      <p:oleObj name="Equation" r:id="rId24" imgW="355320" imgH="177480" progId="Equation.DSMT4">
                        <p:embed/>
                        <p:pic>
                          <p:nvPicPr>
                            <p:cNvPr id="0" name="Picture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02" y="2914"/>
                              <a:ext cx="203" cy="10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7" name="Line 158"/>
                <p:cNvSpPr>
                  <a:spLocks noChangeShapeType="1"/>
                </p:cNvSpPr>
                <p:nvPr/>
              </p:nvSpPr>
              <p:spPr bwMode="auto">
                <a:xfrm>
                  <a:off x="2031" y="2610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" name="Line 159"/>
                <p:cNvSpPr>
                  <a:spLocks noChangeShapeType="1"/>
                </p:cNvSpPr>
                <p:nvPr/>
              </p:nvSpPr>
              <p:spPr bwMode="auto">
                <a:xfrm>
                  <a:off x="2031" y="2973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70" name="Object 161"/>
                <p:cNvGraphicFramePr>
                  <a:graphicFrameLocks noChangeAspect="1"/>
                </p:cNvGraphicFramePr>
                <p:nvPr/>
              </p:nvGraphicFramePr>
              <p:xfrm>
                <a:off x="2333" y="2731"/>
                <a:ext cx="153" cy="1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38" name="Equation" r:id="rId26" imgW="241200" imgH="164880" progId="Equation.DSMT4">
                        <p:embed/>
                      </p:oleObj>
                    </mc:Choice>
                    <mc:Fallback>
                      <p:oleObj name="Equation" r:id="rId26" imgW="241200" imgH="164880" progId="Equation.DSMT4">
                        <p:embed/>
                        <p:pic>
                          <p:nvPicPr>
                            <p:cNvPr id="0" name="Picture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3" y="2731"/>
                              <a:ext cx="153" cy="10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5" name="Group 162"/>
                <p:cNvGrpSpPr>
                  <a:grpSpLocks/>
                </p:cNvGrpSpPr>
                <p:nvPr/>
              </p:nvGrpSpPr>
              <p:grpSpPr bwMode="auto">
                <a:xfrm>
                  <a:off x="3391" y="2745"/>
                  <a:ext cx="226" cy="46"/>
                  <a:chOff x="250" y="2568"/>
                  <a:chExt cx="680" cy="182"/>
                </a:xfrm>
              </p:grpSpPr>
              <p:sp>
                <p:nvSpPr>
                  <p:cNvPr id="78" name="Oval 163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9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" name="Group 165"/>
                <p:cNvGrpSpPr>
                  <a:grpSpLocks/>
                </p:cNvGrpSpPr>
                <p:nvPr/>
              </p:nvGrpSpPr>
              <p:grpSpPr bwMode="auto">
                <a:xfrm>
                  <a:off x="3391" y="2927"/>
                  <a:ext cx="227" cy="46"/>
                  <a:chOff x="250" y="2568"/>
                  <a:chExt cx="680" cy="182"/>
                </a:xfrm>
              </p:grpSpPr>
              <p:sp>
                <p:nvSpPr>
                  <p:cNvPr id="76" name="Oval 166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7" name="Line 167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3" name="Line 168"/>
                <p:cNvSpPr>
                  <a:spLocks noChangeShapeType="1"/>
                </p:cNvSpPr>
                <p:nvPr/>
              </p:nvSpPr>
              <p:spPr bwMode="auto">
                <a:xfrm>
                  <a:off x="3391" y="2609"/>
                  <a:ext cx="390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74" name="Object 169"/>
                <p:cNvGraphicFramePr>
                  <a:graphicFrameLocks noChangeAspect="1"/>
                </p:cNvGraphicFramePr>
                <p:nvPr/>
              </p:nvGraphicFramePr>
              <p:xfrm>
                <a:off x="3235" y="2708"/>
                <a:ext cx="141" cy="1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39" name="Equation" r:id="rId28" imgW="253800" imgH="203040" progId="Equation.DSMT4">
                        <p:embed/>
                      </p:oleObj>
                    </mc:Choice>
                    <mc:Fallback>
                      <p:oleObj name="Equation" r:id="rId28" imgW="253800" imgH="203040" progId="Equation.DSMT4">
                        <p:embed/>
                        <p:pic>
                          <p:nvPicPr>
                            <p:cNvPr id="0" name="Picture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35" y="2708"/>
                              <a:ext cx="141" cy="11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5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2620" y="2655"/>
                  <a:ext cx="499" cy="1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200" dirty="0">
                      <a:solidFill>
                        <a:srgbClr val="800000"/>
                      </a:solidFill>
                      <a:effectLst/>
                      <a:latin typeface="Arial" pitchFamily="34" charset="0"/>
                    </a:rPr>
                    <a:t>74LS163</a:t>
                  </a:r>
                </a:p>
              </p:txBody>
            </p:sp>
          </p:grpSp>
          <p:sp>
            <p:nvSpPr>
              <p:cNvPr id="40" name="Line 140"/>
              <p:cNvSpPr>
                <a:spLocks noChangeShapeType="1"/>
              </p:cNvSpPr>
              <p:nvPr/>
            </p:nvSpPr>
            <p:spPr bwMode="auto">
              <a:xfrm>
                <a:off x="3200903" y="2607267"/>
                <a:ext cx="0" cy="4566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Line 141"/>
              <p:cNvSpPr>
                <a:spLocks noChangeShapeType="1"/>
              </p:cNvSpPr>
              <p:nvPr/>
            </p:nvSpPr>
            <p:spPr bwMode="auto">
              <a:xfrm>
                <a:off x="3597142" y="2607267"/>
                <a:ext cx="2189" cy="47506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6" name="Line 158"/>
            <p:cNvSpPr>
              <a:spLocks noChangeShapeType="1"/>
            </p:cNvSpPr>
            <p:nvPr/>
          </p:nvSpPr>
          <p:spPr bwMode="auto">
            <a:xfrm>
              <a:off x="609600" y="2952750"/>
              <a:ext cx="5093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组合 117"/>
          <p:cNvGrpSpPr/>
          <p:nvPr/>
        </p:nvGrpSpPr>
        <p:grpSpPr>
          <a:xfrm>
            <a:off x="4267200" y="1733550"/>
            <a:ext cx="2971800" cy="1752600"/>
            <a:chOff x="609600" y="2114550"/>
            <a:chExt cx="2971800" cy="1752600"/>
          </a:xfrm>
        </p:grpSpPr>
        <p:grpSp>
          <p:nvGrpSpPr>
            <p:cNvPr id="8" name="组合 32"/>
            <p:cNvGrpSpPr/>
            <p:nvPr/>
          </p:nvGrpSpPr>
          <p:grpSpPr>
            <a:xfrm>
              <a:off x="609600" y="2114550"/>
              <a:ext cx="2971800" cy="1752600"/>
              <a:chOff x="1977326" y="926909"/>
              <a:chExt cx="3474212" cy="2155424"/>
            </a:xfrm>
          </p:grpSpPr>
          <p:grpSp>
            <p:nvGrpSpPr>
              <p:cNvPr id="9" name="Group 136"/>
              <p:cNvGrpSpPr>
                <a:grpSpLocks/>
              </p:cNvGrpSpPr>
              <p:nvPr/>
            </p:nvGrpSpPr>
            <p:grpSpPr bwMode="auto">
              <a:xfrm>
                <a:off x="1977326" y="926909"/>
                <a:ext cx="3474212" cy="2149328"/>
                <a:chOff x="2031" y="2338"/>
                <a:chExt cx="1587" cy="932"/>
              </a:xfrm>
            </p:grpSpPr>
            <p:sp>
              <p:nvSpPr>
                <p:cNvPr id="124" name="Rectangle 137"/>
                <p:cNvSpPr>
                  <a:spLocks noChangeArrowheads="1"/>
                </p:cNvSpPr>
                <p:nvPr/>
              </p:nvSpPr>
              <p:spPr bwMode="auto">
                <a:xfrm>
                  <a:off x="2303" y="2474"/>
                  <a:ext cx="1089" cy="59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5" name="Line 140"/>
                <p:cNvSpPr>
                  <a:spLocks noChangeShapeType="1"/>
                </p:cNvSpPr>
                <p:nvPr/>
              </p:nvSpPr>
              <p:spPr bwMode="auto">
                <a:xfrm>
                  <a:off x="2938" y="3064"/>
                  <a:ext cx="0" cy="19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6" name="Line 141"/>
                <p:cNvSpPr>
                  <a:spLocks noChangeShapeType="1"/>
                </p:cNvSpPr>
                <p:nvPr/>
              </p:nvSpPr>
              <p:spPr bwMode="auto">
                <a:xfrm>
                  <a:off x="3119" y="3064"/>
                  <a:ext cx="1" cy="20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" name="Line 142"/>
                <p:cNvSpPr>
                  <a:spLocks noChangeShapeType="1"/>
                </p:cNvSpPr>
                <p:nvPr/>
              </p:nvSpPr>
              <p:spPr bwMode="auto">
                <a:xfrm>
                  <a:off x="2575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" name="Line 143"/>
                <p:cNvSpPr>
                  <a:spLocks noChangeShapeType="1"/>
                </p:cNvSpPr>
                <p:nvPr/>
              </p:nvSpPr>
              <p:spPr bwMode="auto">
                <a:xfrm>
                  <a:off x="2756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" name="Line 144"/>
                <p:cNvSpPr>
                  <a:spLocks noChangeShapeType="1"/>
                </p:cNvSpPr>
                <p:nvPr/>
              </p:nvSpPr>
              <p:spPr bwMode="auto">
                <a:xfrm>
                  <a:off x="2938" y="2338"/>
                  <a:ext cx="0" cy="1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0" name="Line 145"/>
                <p:cNvSpPr>
                  <a:spLocks noChangeShapeType="1"/>
                </p:cNvSpPr>
                <p:nvPr/>
              </p:nvSpPr>
              <p:spPr bwMode="auto">
                <a:xfrm>
                  <a:off x="3119" y="2338"/>
                  <a:ext cx="0" cy="13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31" name="Object 146"/>
                <p:cNvGraphicFramePr>
                  <a:graphicFrameLocks noChangeAspect="1"/>
                </p:cNvGraphicFramePr>
                <p:nvPr/>
              </p:nvGraphicFramePr>
              <p:xfrm>
                <a:off x="2332" y="2554"/>
                <a:ext cx="143" cy="1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40" name="Equation" r:id="rId30" imgW="228600" imgH="164880" progId="Equation.DSMT4">
                        <p:embed/>
                      </p:oleObj>
                    </mc:Choice>
                    <mc:Fallback>
                      <p:oleObj name="Equation" r:id="rId30" imgW="228600" imgH="164880" progId="Equation.DSMT4">
                        <p:embed/>
                        <p:pic>
                          <p:nvPicPr>
                            <p:cNvPr id="0" name="Picture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2" y="2554"/>
                              <a:ext cx="143" cy="10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2" name="Object 147"/>
                <p:cNvGraphicFramePr>
                  <a:graphicFrameLocks noChangeAspect="1"/>
                </p:cNvGraphicFramePr>
                <p:nvPr/>
              </p:nvGraphicFramePr>
              <p:xfrm>
                <a:off x="3223" y="2863"/>
                <a:ext cx="160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41" name="Equation" r:id="rId31" imgW="241200" imgH="253800" progId="Equation.DSMT4">
                        <p:embed/>
                      </p:oleObj>
                    </mc:Choice>
                    <mc:Fallback>
                      <p:oleObj name="Equation" r:id="rId31" imgW="241200" imgH="253800" progId="Equation.DSMT4">
                        <p:embed/>
                        <p:pic>
                          <p:nvPicPr>
                            <p:cNvPr id="0" name="Picture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23" y="2863"/>
                              <a:ext cx="160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3" name="Object 148"/>
                <p:cNvGraphicFramePr>
                  <a:graphicFrameLocks noChangeAspect="1"/>
                </p:cNvGraphicFramePr>
                <p:nvPr/>
              </p:nvGraphicFramePr>
              <p:xfrm>
                <a:off x="3234" y="2559"/>
                <a:ext cx="161" cy="1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42" name="Equation" r:id="rId32" imgW="253800" imgH="177480" progId="Equation.DSMT4">
                        <p:embed/>
                      </p:oleObj>
                    </mc:Choice>
                    <mc:Fallback>
                      <p:oleObj name="Equation" r:id="rId32" imgW="253800" imgH="177480" progId="Equation.DSMT4">
                        <p:embed/>
                        <p:pic>
                          <p:nvPicPr>
                            <p:cNvPr id="0" name="Picture 1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34" y="2559"/>
                              <a:ext cx="161" cy="1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4" name="Object 149"/>
                <p:cNvGraphicFramePr>
                  <a:graphicFrameLocks noChangeAspect="1"/>
                </p:cNvGraphicFramePr>
                <p:nvPr/>
              </p:nvGraphicFramePr>
              <p:xfrm>
                <a:off x="2506" y="2905"/>
                <a:ext cx="152" cy="15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43" name="Equation" r:id="rId33" imgW="228600" imgH="228600" progId="Equation.DSMT4">
                        <p:embed/>
                      </p:oleObj>
                    </mc:Choice>
                    <mc:Fallback>
                      <p:oleObj name="Equation" r:id="rId33" imgW="228600" imgH="228600" progId="Equation.DSMT4">
                        <p:embed/>
                        <p:pic>
                          <p:nvPicPr>
                            <p:cNvPr id="0" name="Picture 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06" y="2905"/>
                              <a:ext cx="152" cy="15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5" name="Object 150"/>
                <p:cNvGraphicFramePr>
                  <a:graphicFrameLocks noChangeAspect="1"/>
                </p:cNvGraphicFramePr>
                <p:nvPr/>
              </p:nvGraphicFramePr>
              <p:xfrm>
                <a:off x="2702" y="2918"/>
                <a:ext cx="134" cy="14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44" name="Equation" r:id="rId34" imgW="215640" imgH="228600" progId="Equation.DSMT4">
                        <p:embed/>
                      </p:oleObj>
                    </mc:Choice>
                    <mc:Fallback>
                      <p:oleObj name="Equation" r:id="rId34" imgW="215640" imgH="228600" progId="Equation.DSMT4">
                        <p:embed/>
                        <p:pic>
                          <p:nvPicPr>
                            <p:cNvPr id="0" name="Picture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2" y="2918"/>
                              <a:ext cx="134" cy="14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6" name="Object 151"/>
                <p:cNvGraphicFramePr>
                  <a:graphicFrameLocks noChangeAspect="1"/>
                </p:cNvGraphicFramePr>
                <p:nvPr/>
              </p:nvGraphicFramePr>
              <p:xfrm>
                <a:off x="2891" y="2918"/>
                <a:ext cx="138" cy="14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45" name="Equation" r:id="rId35" imgW="215640" imgH="228600" progId="Equation.DSMT4">
                        <p:embed/>
                      </p:oleObj>
                    </mc:Choice>
                    <mc:Fallback>
                      <p:oleObj name="Equation" r:id="rId35" imgW="215640" imgH="228600" progId="Equation.DSMT4">
                        <p:embed/>
                        <p:pic>
                          <p:nvPicPr>
                            <p:cNvPr id="0" name="Picture 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91" y="2918"/>
                              <a:ext cx="138" cy="14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7" name="Object 152"/>
                <p:cNvGraphicFramePr>
                  <a:graphicFrameLocks noChangeAspect="1"/>
                </p:cNvGraphicFramePr>
                <p:nvPr/>
              </p:nvGraphicFramePr>
              <p:xfrm>
                <a:off x="3058" y="2914"/>
                <a:ext cx="144" cy="1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46" name="Equation" r:id="rId36" imgW="228600" imgH="228600" progId="Equation.DSMT4">
                        <p:embed/>
                      </p:oleObj>
                    </mc:Choice>
                    <mc:Fallback>
                      <p:oleObj name="Equation" r:id="rId36" imgW="228600" imgH="228600" progId="Equation.DSMT4">
                        <p:embed/>
                        <p:pic>
                          <p:nvPicPr>
                            <p:cNvPr id="0" name="Picture 2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58" y="2914"/>
                              <a:ext cx="144" cy="14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8" name="Object 153"/>
                <p:cNvGraphicFramePr>
                  <a:graphicFrameLocks noChangeAspect="1"/>
                </p:cNvGraphicFramePr>
                <p:nvPr/>
              </p:nvGraphicFramePr>
              <p:xfrm>
                <a:off x="3086" y="2475"/>
                <a:ext cx="102" cy="1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47" name="Equation" r:id="rId37" imgW="164880" imgH="164880" progId="Equation.DSMT4">
                        <p:embed/>
                      </p:oleObj>
                    </mc:Choice>
                    <mc:Fallback>
                      <p:oleObj name="Equation" r:id="rId37" imgW="164880" imgH="164880" progId="Equation.DSMT4">
                        <p:embed/>
                        <p:pic>
                          <p:nvPicPr>
                            <p:cNvPr id="0" name="Picture 2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86" y="2475"/>
                              <a:ext cx="102" cy="10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9" name="Object 154"/>
                <p:cNvGraphicFramePr>
                  <a:graphicFrameLocks noChangeAspect="1"/>
                </p:cNvGraphicFramePr>
                <p:nvPr/>
              </p:nvGraphicFramePr>
              <p:xfrm>
                <a:off x="2885" y="2470"/>
                <a:ext cx="93" cy="1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48" name="Equation" r:id="rId38" imgW="152280" imgH="177480" progId="Equation.DSMT4">
                        <p:embed/>
                      </p:oleObj>
                    </mc:Choice>
                    <mc:Fallback>
                      <p:oleObj name="Equation" r:id="rId38" imgW="152280" imgH="177480" progId="Equation.DSMT4">
                        <p:embed/>
                        <p:pic>
                          <p:nvPicPr>
                            <p:cNvPr id="0" name="Picture 2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85" y="2470"/>
                              <a:ext cx="93" cy="10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0" name="Object 155"/>
                <p:cNvGraphicFramePr>
                  <a:graphicFrameLocks noChangeAspect="1"/>
                </p:cNvGraphicFramePr>
                <p:nvPr/>
              </p:nvGraphicFramePr>
              <p:xfrm>
                <a:off x="2708" y="2478"/>
                <a:ext cx="93" cy="1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49" name="Equation" r:id="rId39" imgW="152280" imgH="164880" progId="Equation.DSMT4">
                        <p:embed/>
                      </p:oleObj>
                    </mc:Choice>
                    <mc:Fallback>
                      <p:oleObj name="Equation" r:id="rId39" imgW="152280" imgH="164880" progId="Equation.DSMT4">
                        <p:embed/>
                        <p:pic>
                          <p:nvPicPr>
                            <p:cNvPr id="0" name="Picture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08" y="2478"/>
                              <a:ext cx="93" cy="101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1" name="Object 156"/>
                <p:cNvGraphicFramePr>
                  <a:graphicFrameLocks noChangeAspect="1"/>
                </p:cNvGraphicFramePr>
                <p:nvPr/>
              </p:nvGraphicFramePr>
              <p:xfrm>
                <a:off x="2509" y="2476"/>
                <a:ext cx="96" cy="1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50" name="Equation" r:id="rId40" imgW="152280" imgH="164880" progId="Equation.DSMT4">
                        <p:embed/>
                      </p:oleObj>
                    </mc:Choice>
                    <mc:Fallback>
                      <p:oleObj name="Equation" r:id="rId40" imgW="152280" imgH="164880" progId="Equation.DSMT4">
                        <p:embed/>
                        <p:pic>
                          <p:nvPicPr>
                            <p:cNvPr id="0" name="Picture 2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509" y="2476"/>
                              <a:ext cx="96" cy="10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2" name="Object 157"/>
                <p:cNvGraphicFramePr>
                  <a:graphicFrameLocks noChangeAspect="1"/>
                </p:cNvGraphicFramePr>
                <p:nvPr/>
              </p:nvGraphicFramePr>
              <p:xfrm>
                <a:off x="2302" y="2914"/>
                <a:ext cx="203" cy="1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51" name="Equation" r:id="rId41" imgW="355320" imgH="177480" progId="Equation.DSMT4">
                        <p:embed/>
                      </p:oleObj>
                    </mc:Choice>
                    <mc:Fallback>
                      <p:oleObj name="Equation" r:id="rId41" imgW="355320" imgH="177480" progId="Equation.DSMT4">
                        <p:embed/>
                        <p:pic>
                          <p:nvPicPr>
                            <p:cNvPr id="0" name="Picture 2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02" y="2914"/>
                              <a:ext cx="203" cy="10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3" name="Line 158"/>
                <p:cNvSpPr>
                  <a:spLocks noChangeShapeType="1"/>
                </p:cNvSpPr>
                <p:nvPr/>
              </p:nvSpPr>
              <p:spPr bwMode="auto">
                <a:xfrm>
                  <a:off x="2031" y="2610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4" name="Line 159"/>
                <p:cNvSpPr>
                  <a:spLocks noChangeShapeType="1"/>
                </p:cNvSpPr>
                <p:nvPr/>
              </p:nvSpPr>
              <p:spPr bwMode="auto">
                <a:xfrm>
                  <a:off x="2031" y="2973"/>
                  <a:ext cx="272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45" name="Object 161"/>
                <p:cNvGraphicFramePr>
                  <a:graphicFrameLocks noChangeAspect="1"/>
                </p:cNvGraphicFramePr>
                <p:nvPr/>
              </p:nvGraphicFramePr>
              <p:xfrm>
                <a:off x="2333" y="2731"/>
                <a:ext cx="153" cy="10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52" name="Equation" r:id="rId42" imgW="241200" imgH="164880" progId="Equation.DSMT4">
                        <p:embed/>
                      </p:oleObj>
                    </mc:Choice>
                    <mc:Fallback>
                      <p:oleObj name="Equation" r:id="rId42" imgW="241200" imgH="164880" progId="Equation.DSMT4">
                        <p:embed/>
                        <p:pic>
                          <p:nvPicPr>
                            <p:cNvPr id="0" name="Picture 2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33" y="2731"/>
                              <a:ext cx="153" cy="10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0" name="Group 162"/>
                <p:cNvGrpSpPr>
                  <a:grpSpLocks/>
                </p:cNvGrpSpPr>
                <p:nvPr/>
              </p:nvGrpSpPr>
              <p:grpSpPr bwMode="auto">
                <a:xfrm>
                  <a:off x="3391" y="2745"/>
                  <a:ext cx="226" cy="46"/>
                  <a:chOff x="250" y="2568"/>
                  <a:chExt cx="680" cy="182"/>
                </a:xfrm>
              </p:grpSpPr>
              <p:sp>
                <p:nvSpPr>
                  <p:cNvPr id="153" name="Oval 163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" name="Group 165"/>
                <p:cNvGrpSpPr>
                  <a:grpSpLocks/>
                </p:cNvGrpSpPr>
                <p:nvPr/>
              </p:nvGrpSpPr>
              <p:grpSpPr bwMode="auto">
                <a:xfrm>
                  <a:off x="3391" y="2927"/>
                  <a:ext cx="227" cy="46"/>
                  <a:chOff x="250" y="2568"/>
                  <a:chExt cx="680" cy="182"/>
                </a:xfrm>
              </p:grpSpPr>
              <p:sp>
                <p:nvSpPr>
                  <p:cNvPr id="151" name="Oval 166"/>
                  <p:cNvSpPr>
                    <a:spLocks noChangeArrowheads="1"/>
                  </p:cNvSpPr>
                  <p:nvPr/>
                </p:nvSpPr>
                <p:spPr bwMode="auto">
                  <a:xfrm>
                    <a:off x="250" y="2568"/>
                    <a:ext cx="135" cy="182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2" name="Line 167"/>
                  <p:cNvSpPr>
                    <a:spLocks noChangeShapeType="1"/>
                  </p:cNvSpPr>
                  <p:nvPr/>
                </p:nvSpPr>
                <p:spPr bwMode="auto">
                  <a:xfrm>
                    <a:off x="385" y="2659"/>
                    <a:ext cx="5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8" name="Line 168"/>
                <p:cNvSpPr>
                  <a:spLocks noChangeShapeType="1"/>
                </p:cNvSpPr>
                <p:nvPr/>
              </p:nvSpPr>
              <p:spPr bwMode="auto">
                <a:xfrm>
                  <a:off x="3391" y="2609"/>
                  <a:ext cx="22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49" name="Object 169"/>
                <p:cNvGraphicFramePr>
                  <a:graphicFrameLocks noChangeAspect="1"/>
                </p:cNvGraphicFramePr>
                <p:nvPr/>
              </p:nvGraphicFramePr>
              <p:xfrm>
                <a:off x="3235" y="2708"/>
                <a:ext cx="141" cy="1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85053" name="Equation" r:id="rId43" imgW="253800" imgH="203040" progId="Equation.DSMT4">
                        <p:embed/>
                      </p:oleObj>
                    </mc:Choice>
                    <mc:Fallback>
                      <p:oleObj name="Equation" r:id="rId43" imgW="253800" imgH="203040" progId="Equation.DSMT4">
                        <p:embed/>
                        <p:pic>
                          <p:nvPicPr>
                            <p:cNvPr id="0" name="Picture 2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235" y="2708"/>
                              <a:ext cx="141" cy="11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50" name="Text Box 170"/>
                <p:cNvSpPr txBox="1">
                  <a:spLocks noChangeArrowheads="1"/>
                </p:cNvSpPr>
                <p:nvPr/>
              </p:nvSpPr>
              <p:spPr bwMode="auto">
                <a:xfrm>
                  <a:off x="2620" y="2655"/>
                  <a:ext cx="499" cy="17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sz="1200" dirty="0">
                      <a:solidFill>
                        <a:srgbClr val="800000"/>
                      </a:solidFill>
                      <a:effectLst/>
                      <a:latin typeface="Arial" pitchFamily="34" charset="0"/>
                    </a:rPr>
                    <a:t>74LS163</a:t>
                  </a:r>
                </a:p>
              </p:txBody>
            </p:sp>
          </p:grpSp>
          <p:sp>
            <p:nvSpPr>
              <p:cNvPr id="122" name="Line 140"/>
              <p:cNvSpPr>
                <a:spLocks noChangeShapeType="1"/>
              </p:cNvSpPr>
              <p:nvPr/>
            </p:nvSpPr>
            <p:spPr bwMode="auto">
              <a:xfrm>
                <a:off x="3200903" y="2607267"/>
                <a:ext cx="0" cy="4566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141"/>
              <p:cNvSpPr>
                <a:spLocks noChangeShapeType="1"/>
              </p:cNvSpPr>
              <p:nvPr/>
            </p:nvSpPr>
            <p:spPr bwMode="auto">
              <a:xfrm>
                <a:off x="3597142" y="2607267"/>
                <a:ext cx="2189" cy="47506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0" name="Line 158"/>
            <p:cNvSpPr>
              <a:spLocks noChangeShapeType="1"/>
            </p:cNvSpPr>
            <p:nvPr/>
          </p:nvSpPr>
          <p:spPr bwMode="auto">
            <a:xfrm>
              <a:off x="609600" y="2952750"/>
              <a:ext cx="50934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5" name="Text Box 2"/>
          <p:cNvSpPr txBox="1">
            <a:spLocks noChangeArrowheads="1"/>
          </p:cNvSpPr>
          <p:nvPr/>
        </p:nvSpPr>
        <p:spPr bwMode="auto">
          <a:xfrm>
            <a:off x="3048000" y="4171950"/>
            <a:ext cx="2362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34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级联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4800" y="20383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6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04800" y="2343150"/>
            <a:ext cx="38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6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1" name="直接连接符 90"/>
          <p:cNvCxnSpPr>
            <a:stCxn id="68" idx="0"/>
          </p:cNvCxnSpPr>
          <p:nvPr/>
        </p:nvCxnSpPr>
        <p:spPr>
          <a:xfrm>
            <a:off x="609600" y="2924272"/>
            <a:ext cx="0" cy="86667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304800" y="3790950"/>
            <a:ext cx="39624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>
            <a:stCxn id="144" idx="0"/>
          </p:cNvCxnSpPr>
          <p:nvPr/>
        </p:nvCxnSpPr>
        <p:spPr>
          <a:xfrm>
            <a:off x="4267200" y="2924272"/>
            <a:ext cx="0" cy="86667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>
            <a:stCxn id="143" idx="0"/>
            <a:endCxn id="120" idx="0"/>
          </p:cNvCxnSpPr>
          <p:nvPr/>
        </p:nvCxnSpPr>
        <p:spPr>
          <a:xfrm>
            <a:off x="4267200" y="2243592"/>
            <a:ext cx="0" cy="3281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H="1">
            <a:off x="3886200" y="2419350"/>
            <a:ext cx="381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>
            <a:endCxn id="73" idx="1"/>
          </p:cNvCxnSpPr>
          <p:nvPr/>
        </p:nvCxnSpPr>
        <p:spPr>
          <a:xfrm flipV="1">
            <a:off x="3886200" y="2241717"/>
            <a:ext cx="0" cy="17763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0" y="3409950"/>
            <a:ext cx="914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endParaRPr lang="zh-CN" altLang="en-US" sz="16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1" name="Text Box 2"/>
          <p:cNvSpPr txBox="1">
            <a:spLocks noChangeArrowheads="1"/>
          </p:cNvSpPr>
          <p:nvPr/>
        </p:nvSpPr>
        <p:spPr bwMode="auto">
          <a:xfrm>
            <a:off x="6248400" y="971550"/>
            <a:ext cx="1752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同步级联</a:t>
            </a:r>
            <a:endParaRPr kumimoji="0" lang="zh-CN" altLang="en-US" sz="2000" b="1" i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828800" y="249555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562600" y="2495550"/>
            <a:ext cx="83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2#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70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81000" y="2266950"/>
          <a:ext cx="7706205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7316" name="Visio" r:id="rId2" imgW="5278501" imgH="2139727" progId="Visio.Drawing.11">
                  <p:embed/>
                </p:oleObj>
              </mc:Choice>
              <mc:Fallback>
                <p:oleObj name="Visio" r:id="rId2" imgW="5278501" imgH="2139727" progId="Visio.Drawing.11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266950"/>
                        <a:ext cx="7706205" cy="312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7317" name="Picture 5" descr="C:\Users\hfutliujun\AppData\Roaming\Tencent\Users\350654676\QQ\WinTemp\RichOle\[ZGQWU4~3LOVE7J3V8ZDN2N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5000" y="742950"/>
            <a:ext cx="4272762" cy="1752600"/>
          </a:xfrm>
          <a:prstGeom prst="rect">
            <a:avLst/>
          </a:prstGeom>
          <a:noFill/>
        </p:spPr>
      </p:pic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3352800" y="4248150"/>
            <a:ext cx="3048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600" b="1" dirty="0">
                <a:latin typeface="微软雅黑" pitchFamily="34" charset="-122"/>
                <a:ea typeface="微软雅黑" pitchFamily="34" charset="-122"/>
              </a:rPr>
              <a:t>35</a:t>
            </a:r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kumimoji="0" lang="en-US" altLang="zh-CN" sz="1600" b="1" i="0" dirty="0">
                <a:latin typeface="微软雅黑" pitchFamily="34" charset="-122"/>
                <a:ea typeface="微软雅黑" pitchFamily="34" charset="-122"/>
              </a:rPr>
              <a:t>74LS163</a:t>
            </a:r>
            <a:r>
              <a:rPr kumimoji="0" lang="zh-CN" altLang="en-US" sz="1600" b="1" i="0" dirty="0">
                <a:latin typeface="微软雅黑" pitchFamily="34" charset="-122"/>
                <a:ea typeface="微软雅黑" pitchFamily="34" charset="-122"/>
              </a:rPr>
              <a:t>级联时序图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600" y="226695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0" y="226695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48400" y="2266950"/>
            <a:ext cx="45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T3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0"/>
            <a:ext cx="4217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：构建任意模值计数器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9227</TotalTime>
  <Words>584</Words>
  <Application>Microsoft Office PowerPoint</Application>
  <PresentationFormat>全屏显示(16:9)</PresentationFormat>
  <Paragraphs>231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宋体</vt:lpstr>
      <vt:lpstr>微软雅黑</vt:lpstr>
      <vt:lpstr>Arial</vt:lpstr>
      <vt:lpstr>Calibri</vt:lpstr>
      <vt:lpstr>Wingdings</vt:lpstr>
      <vt:lpstr>默认设计模板</vt:lpstr>
      <vt:lpstr>Equation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982</cp:revision>
  <cp:lastPrinted>2113-01-01T00:00:00Z</cp:lastPrinted>
  <dcterms:created xsi:type="dcterms:W3CDTF">2113-01-01T00:00:00Z</dcterms:created>
  <dcterms:modified xsi:type="dcterms:W3CDTF">2021-07-20T02:04:51Z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