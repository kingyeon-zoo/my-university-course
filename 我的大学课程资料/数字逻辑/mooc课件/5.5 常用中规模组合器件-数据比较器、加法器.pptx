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09" r:id="rId2"/>
    <p:sldId id="388" r:id="rId3"/>
    <p:sldId id="402" r:id="rId4"/>
    <p:sldId id="403" r:id="rId5"/>
    <p:sldId id="406" r:id="rId6"/>
    <p:sldId id="429" r:id="rId7"/>
    <p:sldId id="430" r:id="rId8"/>
    <p:sldId id="407" r:id="rId9"/>
    <p:sldId id="434" r:id="rId10"/>
    <p:sldId id="435" r:id="rId11"/>
    <p:sldId id="436" r:id="rId12"/>
    <p:sldId id="408" r:id="rId13"/>
    <p:sldId id="409" r:id="rId14"/>
    <p:sldId id="410" r:id="rId15"/>
    <p:sldId id="412" r:id="rId16"/>
    <p:sldId id="413" r:id="rId17"/>
    <p:sldId id="415" r:id="rId18"/>
    <p:sldId id="421" r:id="rId19"/>
    <p:sldId id="422" r:id="rId20"/>
    <p:sldId id="423" r:id="rId21"/>
    <p:sldId id="424" r:id="rId22"/>
    <p:sldId id="425" r:id="rId23"/>
    <p:sldId id="433" r:id="rId2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341"/>
    <a:srgbClr val="6600CC"/>
    <a:srgbClr val="00FFFF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81242" autoAdjust="0"/>
  </p:normalViewPr>
  <p:slideViewPr>
    <p:cSldViewPr>
      <p:cViewPr varScale="1">
        <p:scale>
          <a:sx n="118" d="100"/>
          <a:sy n="118" d="100"/>
        </p:scale>
        <p:origin x="-330" y="-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__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</a:t>
            </a:r>
            <a:r>
              <a:rPr lang="zh-CN" altLang="en-US" sz="1600" b="1" dirty="0" smtClean="0">
                <a:solidFill>
                  <a:schemeClr val="accent6"/>
                </a:solidFill>
                <a:latin typeface="黑体" pitchFamily="49" charset="-122"/>
                <a:ea typeface="黑体" pitchFamily="49" charset="-122"/>
              </a:rPr>
              <a:t>实现两个位数相同的二进制数码大小比较的组合逻辑电路。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 Box 72"/>
          <p:cNvSpPr txBox="1">
            <a:spLocks noChangeArrowheads="1"/>
          </p:cNvSpPr>
          <p:nvPr/>
        </p:nvSpPr>
        <p:spPr bwMode="auto">
          <a:xfrm>
            <a:off x="1676400" y="3867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grpSp>
        <p:nvGrpSpPr>
          <p:cNvPr id="28" name="Group 7"/>
          <p:cNvGrpSpPr>
            <a:grpSpLocks/>
          </p:cNvGrpSpPr>
          <p:nvPr/>
        </p:nvGrpSpPr>
        <p:grpSpPr bwMode="auto">
          <a:xfrm>
            <a:off x="533482" y="1123950"/>
            <a:ext cx="3905576" cy="2590800"/>
            <a:chOff x="1147" y="1003"/>
            <a:chExt cx="2822" cy="1872"/>
          </a:xfrm>
        </p:grpSpPr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202" y="1434"/>
              <a:ext cx="2041" cy="102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1147" y="1003"/>
              <a:ext cx="226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  a</a:t>
              </a:r>
              <a:r>
                <a:rPr lang="en-US" altLang="zh-CN" sz="1400" b="1" baseline="-5000" dirty="0" smtClean="0"/>
                <a:t>3</a:t>
              </a:r>
              <a:r>
                <a:rPr lang="en-US" altLang="zh-CN" sz="1400" b="1" dirty="0" smtClean="0"/>
                <a:t>   </a:t>
              </a:r>
              <a:r>
                <a:rPr lang="en-US" altLang="zh-CN" sz="1400" b="1" dirty="0"/>
                <a:t>b</a:t>
              </a:r>
              <a:r>
                <a:rPr lang="en-US" altLang="zh-CN" sz="1400" b="1" baseline="-5000" dirty="0"/>
                <a:t>3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a</a:t>
              </a:r>
              <a:r>
                <a:rPr lang="en-US" altLang="zh-CN" sz="1400" b="1" baseline="-5000" dirty="0" smtClean="0"/>
                <a:t>2</a:t>
              </a:r>
              <a:r>
                <a:rPr lang="en-US" altLang="zh-CN" sz="1400" b="1" dirty="0" smtClean="0"/>
                <a:t>    b</a:t>
              </a:r>
              <a:r>
                <a:rPr lang="en-US" altLang="zh-CN" sz="1400" b="1" baseline="-5000" dirty="0" smtClean="0"/>
                <a:t>2</a:t>
              </a:r>
              <a:r>
                <a:rPr lang="en-US" altLang="zh-CN" sz="1400" b="1" dirty="0" smtClean="0"/>
                <a:t>    a</a:t>
              </a:r>
              <a:r>
                <a:rPr lang="en-US" altLang="zh-CN" sz="1400" b="1" baseline="-5000" dirty="0" smtClean="0"/>
                <a:t>1</a:t>
              </a:r>
              <a:r>
                <a:rPr lang="en-US" altLang="zh-CN" sz="1400" b="1" dirty="0" smtClean="0"/>
                <a:t>   b</a:t>
              </a:r>
              <a:r>
                <a:rPr lang="en-US" altLang="zh-CN" sz="1400" b="1" baseline="-5000" dirty="0" smtClean="0"/>
                <a:t>1</a:t>
              </a:r>
              <a:r>
                <a:rPr lang="en-US" altLang="zh-CN" sz="1400" b="1" dirty="0" smtClean="0"/>
                <a:t>   a</a:t>
              </a:r>
              <a:r>
                <a:rPr lang="en-US" altLang="zh-CN" sz="1400" b="1" baseline="-5000" dirty="0" smtClean="0"/>
                <a:t>0</a:t>
              </a:r>
              <a:r>
                <a:rPr lang="en-US" altLang="zh-CN" sz="1400" b="1" dirty="0" smtClean="0"/>
                <a:t>   b</a:t>
              </a:r>
              <a:r>
                <a:rPr lang="en-US" altLang="zh-CN" sz="1400" b="1" baseline="-5000" dirty="0" smtClean="0"/>
                <a:t>0 </a:t>
              </a:r>
              <a:r>
                <a:rPr lang="en-US" altLang="zh-CN" sz="1400" b="1" dirty="0" smtClean="0"/>
                <a:t> </a:t>
              </a:r>
              <a:endParaRPr lang="en-US" altLang="zh-CN" sz="1400" b="1" dirty="0"/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1791" y="1774"/>
              <a:ext cx="70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74LS85 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451" y="2205"/>
              <a:ext cx="17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 &gt;B     </a:t>
              </a:r>
              <a:r>
                <a:rPr lang="en-US" altLang="zh-CN" sz="1400" b="1" dirty="0" smtClean="0"/>
                <a:t>  A=B         A&lt;B  </a:t>
              </a:r>
              <a:endParaRPr lang="en-US" altLang="zh-CN" sz="1400" b="1" dirty="0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3470" y="1662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a&gt;b   </a:t>
              </a: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3469" y="1888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a=b </a:t>
              </a:r>
              <a:r>
                <a:rPr lang="en-US" altLang="zh-CN" sz="1400"/>
                <a:t>  </a:t>
              </a:r>
            </a:p>
          </p:txBody>
        </p:sp>
        <p:sp>
          <p:nvSpPr>
            <p:cNvPr id="41" name="Text Box 14"/>
            <p:cNvSpPr txBox="1">
              <a:spLocks noChangeArrowheads="1"/>
            </p:cNvSpPr>
            <p:nvPr/>
          </p:nvSpPr>
          <p:spPr bwMode="auto">
            <a:xfrm>
              <a:off x="3470" y="2115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a&lt;b</a:t>
              </a:r>
              <a:r>
                <a:rPr lang="en-US" altLang="zh-CN" sz="1400" dirty="0"/>
                <a:t>   </a:t>
              </a:r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1568" y="2653"/>
              <a:ext cx="1836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L</a:t>
              </a:r>
              <a:r>
                <a:rPr lang="en-US" altLang="zh-CN" sz="1400" b="1" baseline="-25000" dirty="0"/>
                <a:t>1</a:t>
              </a:r>
              <a:r>
                <a:rPr lang="en-US" altLang="zh-CN" sz="1400" b="1" dirty="0"/>
                <a:t>        </a:t>
              </a:r>
              <a:r>
                <a:rPr lang="en-US" altLang="zh-CN" sz="1400" b="1" dirty="0" smtClean="0"/>
                <a:t>    L</a:t>
              </a:r>
              <a:r>
                <a:rPr lang="en-US" altLang="zh-CN" sz="1400" b="1" baseline="-25000" dirty="0" smtClean="0"/>
                <a:t>2</a:t>
              </a:r>
              <a:r>
                <a:rPr lang="en-US" altLang="zh-CN" sz="1400" b="1" dirty="0" smtClean="0"/>
                <a:t>             L</a:t>
              </a:r>
              <a:r>
                <a:rPr lang="en-US" altLang="zh-CN" sz="1400" b="1" baseline="-25000" dirty="0" smtClean="0"/>
                <a:t>3</a:t>
              </a:r>
              <a:endParaRPr lang="en-US" altLang="zh-CN" sz="1400" b="1" dirty="0"/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 flipV="1">
              <a:off x="1338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 flipV="1">
              <a:off x="1564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 flipV="1">
              <a:off x="1798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 flipV="1">
              <a:off x="2041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V="1">
              <a:off x="2290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V="1">
              <a:off x="2540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 flipV="1">
              <a:off x="2789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 flipV="1">
              <a:off x="2993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 flipV="1">
              <a:off x="2789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 flipV="1">
              <a:off x="2200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 flipV="1">
              <a:off x="1669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3243" y="1774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3242" y="2024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6" name="Line 29"/>
            <p:cNvSpPr>
              <a:spLocks noChangeShapeType="1"/>
            </p:cNvSpPr>
            <p:nvPr/>
          </p:nvSpPr>
          <p:spPr bwMode="auto">
            <a:xfrm>
              <a:off x="3243" y="2228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58" name="矩形 57"/>
          <p:cNvSpPr/>
          <p:nvPr/>
        </p:nvSpPr>
        <p:spPr>
          <a:xfrm>
            <a:off x="4495800" y="3105150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级联输入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a&lt;b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a&gt;b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：扩展连接时使用。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位以上数码比较时，输入低位芯片的比较结果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)</a:t>
            </a:r>
            <a:b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</a:b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419600" y="2190750"/>
            <a:ext cx="457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比较结果输出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A&lt;B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A&gt;B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：三个输出中只有一个高电平，它代表两个数据的比较结果。 </a:t>
            </a:r>
          </a:p>
          <a:p>
            <a:endParaRPr lang="zh-CN" altLang="en-US" dirty="0"/>
          </a:p>
        </p:txBody>
      </p:sp>
      <p:sp>
        <p:nvSpPr>
          <p:cNvPr id="31" name="椭圆 30"/>
          <p:cNvSpPr/>
          <p:nvPr/>
        </p:nvSpPr>
        <p:spPr>
          <a:xfrm>
            <a:off x="3733800" y="1962150"/>
            <a:ext cx="533400" cy="1143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419600" y="1657350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功能：比较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的大小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8" grpId="0"/>
      <p:bldP spid="60" grpId="0"/>
      <p:bldP spid="31" grpId="0" animBg="1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</a:t>
            </a:r>
            <a:endParaRPr kumimoji="1"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371600" y="666750"/>
            <a:ext cx="548481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b="1" dirty="0" smtClean="0">
                <a:solidFill>
                  <a:srgbClr val="333399"/>
                </a:solidFill>
              </a:rPr>
              <a:t>74LS85</a:t>
            </a:r>
            <a:r>
              <a:rPr lang="zh-CN" altLang="en-US" sz="1600" b="1" dirty="0" smtClean="0">
                <a:solidFill>
                  <a:srgbClr val="333399"/>
                </a:solidFill>
              </a:rPr>
              <a:t>逻辑功能表</a:t>
            </a:r>
            <a:endParaRPr lang="en-US" altLang="zh-CN" sz="1600" b="1" dirty="0">
              <a:solidFill>
                <a:srgbClr val="333399"/>
              </a:solidFill>
              <a:latin typeface="Century" pitchFamily="18" charset="0"/>
            </a:endParaRPr>
          </a:p>
        </p:txBody>
      </p:sp>
      <p:pic>
        <p:nvPicPr>
          <p:cNvPr id="165889" name="Picture 1" descr="C:\Users\hfutliujun\AppData\Roaming\Tencent\Users\350654676\QQ\WinTemp\RichOle\X~81$AR]}OV%FUJD]8WTK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428750"/>
            <a:ext cx="5026523" cy="3124200"/>
          </a:xfrm>
          <a:prstGeom prst="rect">
            <a:avLst/>
          </a:prstGeom>
          <a:noFill/>
        </p:spPr>
      </p:pic>
      <p:sp>
        <p:nvSpPr>
          <p:cNvPr id="33" name="Text Box 72"/>
          <p:cNvSpPr txBox="1">
            <a:spLocks noChangeArrowheads="1"/>
          </p:cNvSpPr>
          <p:nvPr/>
        </p:nvSpPr>
        <p:spPr bwMode="auto">
          <a:xfrm>
            <a:off x="2209800" y="1123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sp>
        <p:nvSpPr>
          <p:cNvPr id="34" name="Text Box 100"/>
          <p:cNvSpPr txBox="1">
            <a:spLocks noChangeArrowheads="1"/>
          </p:cNvSpPr>
          <p:nvPr/>
        </p:nvSpPr>
        <p:spPr bwMode="auto">
          <a:xfrm>
            <a:off x="5334000" y="2038350"/>
            <a:ext cx="32766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注意：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在进行四位数比较时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en-US" altLang="zh-CN" sz="1400" b="1" dirty="0">
                <a:ea typeface="黑体" pitchFamily="49" charset="-122"/>
              </a:rPr>
              <a:t>1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片</a:t>
            </a:r>
            <a:r>
              <a:rPr lang="en-US" altLang="zh-CN" sz="1400" b="1" dirty="0">
                <a:ea typeface="黑体" pitchFamily="49" charset="-122"/>
              </a:rPr>
              <a:t>74LS85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工作时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必须将级联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输入</a:t>
            </a:r>
            <a:r>
              <a:rPr lang="en-US" altLang="zh-CN" sz="1400" b="1" dirty="0" smtClean="0">
                <a:solidFill>
                  <a:srgbClr val="C00000"/>
                </a:solidFill>
                <a:ea typeface="黑体" pitchFamily="49" charset="-122"/>
              </a:rPr>
              <a:t>a&lt;b</a:t>
            </a:r>
            <a:r>
              <a:rPr lang="zh-CN" altLang="en-US" sz="1400" b="1" dirty="0">
                <a:ea typeface="华文中宋" pitchFamily="2" charset="-122"/>
              </a:rPr>
              <a:t>和</a:t>
            </a:r>
            <a:r>
              <a:rPr lang="en-US" altLang="zh-CN" sz="1400" b="1" dirty="0">
                <a:solidFill>
                  <a:srgbClr val="C00000"/>
                </a:solidFill>
                <a:ea typeface="黑体" pitchFamily="49" charset="-122"/>
              </a:rPr>
              <a:t>a&gt;b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接</a:t>
            </a:r>
            <a:r>
              <a:rPr lang="zh-CN" altLang="en-US" sz="14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地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，</a:t>
            </a:r>
            <a:r>
              <a:rPr lang="en-US" altLang="zh-CN" sz="1400" b="1" dirty="0">
                <a:solidFill>
                  <a:srgbClr val="C00000"/>
                </a:solidFill>
                <a:ea typeface="黑体" pitchFamily="49" charset="-122"/>
              </a:rPr>
              <a:t>a=b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接</a:t>
            </a:r>
            <a:r>
              <a:rPr lang="zh-CN" altLang="en-US" sz="14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高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电平</a:t>
            </a:r>
            <a:r>
              <a:rPr lang="zh-CN" altLang="en-US" sz="1400" b="1" dirty="0">
                <a:latin typeface="黑体" pitchFamily="49" charset="-122"/>
                <a:ea typeface="黑体" pitchFamily="49" charset="-122"/>
              </a:rPr>
              <a:t>。</a:t>
            </a:r>
            <a:r>
              <a:rPr lang="zh-CN" altLang="en-US" sz="1400" b="1" dirty="0"/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304800" y="3867150"/>
            <a:ext cx="5029200" cy="6858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461963" y="1179910"/>
            <a:ext cx="20891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串联</a:t>
            </a:r>
            <a:r>
              <a:rPr lang="zh-CN" altLang="en-US" sz="1400" b="1" dirty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方式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47751" y="1788320"/>
            <a:ext cx="935037" cy="631031"/>
            <a:chOff x="299" y="981"/>
            <a:chExt cx="589" cy="530"/>
          </a:xfrm>
        </p:grpSpPr>
        <p:sp>
          <p:nvSpPr>
            <p:cNvPr id="97328" name="Text Box 5"/>
            <p:cNvSpPr txBox="1">
              <a:spLocks noChangeArrowheads="1"/>
            </p:cNvSpPr>
            <p:nvPr/>
          </p:nvSpPr>
          <p:spPr bwMode="auto">
            <a:xfrm>
              <a:off x="299" y="981"/>
              <a:ext cx="589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</a:t>
              </a:r>
              <a:r>
                <a:rPr lang="en-US" altLang="zh-CN" sz="1400" b="1" baseline="-5000" dirty="0"/>
                <a:t>3</a:t>
              </a:r>
              <a:r>
                <a:rPr lang="en-US" altLang="zh-CN" sz="1400" b="1" dirty="0"/>
                <a:t>~a</a:t>
              </a:r>
              <a:r>
                <a:rPr lang="en-US" altLang="zh-CN" sz="1400" b="1" baseline="-5000" dirty="0"/>
                <a:t>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b</a:t>
              </a:r>
              <a:r>
                <a:rPr lang="en-US" altLang="zh-CN" sz="1400" b="1" baseline="-5000" dirty="0"/>
                <a:t>3</a:t>
              </a:r>
              <a:r>
                <a:rPr lang="en-US" altLang="zh-CN" sz="1400" b="1" dirty="0"/>
                <a:t>~b</a:t>
              </a:r>
              <a:r>
                <a:rPr lang="en-US" altLang="zh-CN" sz="1400" b="1" baseline="-5000" dirty="0"/>
                <a:t>0</a:t>
              </a:r>
              <a:endParaRPr lang="en-US" altLang="zh-CN" sz="1400" b="1" dirty="0"/>
            </a:p>
          </p:txBody>
        </p:sp>
        <p:sp>
          <p:nvSpPr>
            <p:cNvPr id="97329" name="Line 6"/>
            <p:cNvSpPr>
              <a:spLocks noChangeShapeType="1"/>
            </p:cNvSpPr>
            <p:nvPr/>
          </p:nvSpPr>
          <p:spPr bwMode="auto">
            <a:xfrm>
              <a:off x="680" y="1117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30" name="Line 7"/>
            <p:cNvSpPr>
              <a:spLocks noChangeShapeType="1"/>
            </p:cNvSpPr>
            <p:nvPr/>
          </p:nvSpPr>
          <p:spPr bwMode="auto">
            <a:xfrm>
              <a:off x="680" y="141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19151" y="2667000"/>
            <a:ext cx="1122362" cy="619125"/>
            <a:chOff x="155" y="2819"/>
            <a:chExt cx="707" cy="520"/>
          </a:xfrm>
        </p:grpSpPr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680" y="2819"/>
              <a:ext cx="182" cy="135"/>
              <a:chOff x="680" y="1730"/>
              <a:chExt cx="182" cy="135"/>
            </a:xfrm>
          </p:grpSpPr>
          <p:sp>
            <p:nvSpPr>
              <p:cNvPr id="97326" name="Line 10"/>
              <p:cNvSpPr>
                <a:spLocks noChangeShapeType="1"/>
              </p:cNvSpPr>
              <p:nvPr/>
            </p:nvSpPr>
            <p:spPr bwMode="auto">
              <a:xfrm>
                <a:off x="680" y="1797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7327" name="Line 11"/>
              <p:cNvSpPr>
                <a:spLocks noChangeShapeType="1"/>
              </p:cNvSpPr>
              <p:nvPr/>
            </p:nvSpPr>
            <p:spPr bwMode="auto">
              <a:xfrm>
                <a:off x="680" y="1730"/>
                <a:ext cx="0" cy="1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680" y="3204"/>
              <a:ext cx="182" cy="135"/>
              <a:chOff x="680" y="1730"/>
              <a:chExt cx="182" cy="135"/>
            </a:xfrm>
          </p:grpSpPr>
          <p:sp>
            <p:nvSpPr>
              <p:cNvPr id="97324" name="Line 13"/>
              <p:cNvSpPr>
                <a:spLocks noChangeShapeType="1"/>
              </p:cNvSpPr>
              <p:nvPr/>
            </p:nvSpPr>
            <p:spPr bwMode="auto">
              <a:xfrm>
                <a:off x="680" y="1797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97325" name="Line 14"/>
              <p:cNvSpPr>
                <a:spLocks noChangeShapeType="1"/>
              </p:cNvSpPr>
              <p:nvPr/>
            </p:nvSpPr>
            <p:spPr bwMode="auto">
              <a:xfrm>
                <a:off x="680" y="1730"/>
                <a:ext cx="0" cy="1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  <p:sp>
          <p:nvSpPr>
            <p:cNvPr id="97322" name="Line 15"/>
            <p:cNvSpPr>
              <a:spLocks noChangeShapeType="1"/>
            </p:cNvSpPr>
            <p:nvPr/>
          </p:nvSpPr>
          <p:spPr bwMode="auto">
            <a:xfrm flipH="1">
              <a:off x="499" y="3068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23" name="Text Box 16"/>
            <p:cNvSpPr txBox="1">
              <a:spLocks noChangeArrowheads="1"/>
            </p:cNvSpPr>
            <p:nvPr/>
          </p:nvSpPr>
          <p:spPr bwMode="auto">
            <a:xfrm>
              <a:off x="155" y="2954"/>
              <a:ext cx="58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+5V</a:t>
              </a:r>
              <a:r>
                <a:rPr lang="en-US" altLang="zh-CN" sz="1400" dirty="0"/>
                <a:t> 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790950" y="1788320"/>
            <a:ext cx="935038" cy="631031"/>
            <a:chOff x="2027" y="981"/>
            <a:chExt cx="589" cy="530"/>
          </a:xfrm>
        </p:grpSpPr>
        <p:sp>
          <p:nvSpPr>
            <p:cNvPr id="97317" name="Text Box 18"/>
            <p:cNvSpPr txBox="1">
              <a:spLocks noChangeArrowheads="1"/>
            </p:cNvSpPr>
            <p:nvPr/>
          </p:nvSpPr>
          <p:spPr bwMode="auto">
            <a:xfrm>
              <a:off x="2027" y="981"/>
              <a:ext cx="589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</a:t>
              </a:r>
              <a:r>
                <a:rPr lang="en-US" altLang="zh-CN" sz="1400" b="1" baseline="-5000" dirty="0"/>
                <a:t>7</a:t>
              </a:r>
              <a:r>
                <a:rPr lang="en-US" altLang="zh-CN" sz="1400" b="1" dirty="0"/>
                <a:t>~a</a:t>
              </a:r>
              <a:r>
                <a:rPr lang="en-US" altLang="zh-CN" sz="1400" b="1" baseline="-5000" dirty="0"/>
                <a:t>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b</a:t>
              </a:r>
              <a:r>
                <a:rPr lang="en-US" altLang="zh-CN" sz="1400" b="1" baseline="-5000" dirty="0"/>
                <a:t>7</a:t>
              </a:r>
              <a:r>
                <a:rPr lang="en-US" altLang="zh-CN" sz="1400" b="1" dirty="0"/>
                <a:t>~b</a:t>
              </a:r>
              <a:r>
                <a:rPr lang="en-US" altLang="zh-CN" sz="1400" b="1" baseline="-5000" dirty="0"/>
                <a:t>4</a:t>
              </a:r>
              <a:endParaRPr lang="en-US" altLang="zh-CN" sz="1400" b="1" dirty="0"/>
            </a:p>
          </p:txBody>
        </p:sp>
        <p:sp>
          <p:nvSpPr>
            <p:cNvPr id="97318" name="Line 19"/>
            <p:cNvSpPr>
              <a:spLocks noChangeShapeType="1"/>
            </p:cNvSpPr>
            <p:nvPr/>
          </p:nvSpPr>
          <p:spPr bwMode="auto">
            <a:xfrm>
              <a:off x="2403" y="1117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19" name="Line 20"/>
            <p:cNvSpPr>
              <a:spLocks noChangeShapeType="1"/>
            </p:cNvSpPr>
            <p:nvPr/>
          </p:nvSpPr>
          <p:spPr bwMode="auto">
            <a:xfrm>
              <a:off x="2403" y="141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5684838" y="1762125"/>
            <a:ext cx="1116013" cy="738187"/>
            <a:chOff x="3220" y="959"/>
            <a:chExt cx="703" cy="620"/>
          </a:xfrm>
        </p:grpSpPr>
        <p:sp>
          <p:nvSpPr>
            <p:cNvPr id="97313" name="Text Box 22"/>
            <p:cNvSpPr txBox="1">
              <a:spLocks noChangeArrowheads="1"/>
            </p:cNvSpPr>
            <p:nvPr/>
          </p:nvSpPr>
          <p:spPr bwMode="auto">
            <a:xfrm>
              <a:off x="3379" y="959"/>
              <a:ext cx="544" cy="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A&gt;B  A=B  A&lt;B</a:t>
              </a:r>
            </a:p>
          </p:txBody>
        </p:sp>
        <p:sp>
          <p:nvSpPr>
            <p:cNvPr id="97314" name="Line 23"/>
            <p:cNvSpPr>
              <a:spLocks noChangeShapeType="1"/>
            </p:cNvSpPr>
            <p:nvPr/>
          </p:nvSpPr>
          <p:spPr bwMode="auto">
            <a:xfrm>
              <a:off x="3220" y="1109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15" name="Line 24"/>
            <p:cNvSpPr>
              <a:spLocks noChangeShapeType="1"/>
            </p:cNvSpPr>
            <p:nvPr/>
          </p:nvSpPr>
          <p:spPr bwMode="auto">
            <a:xfrm>
              <a:off x="3220" y="1275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16" name="Line 25"/>
            <p:cNvSpPr>
              <a:spLocks noChangeShapeType="1"/>
            </p:cNvSpPr>
            <p:nvPr/>
          </p:nvSpPr>
          <p:spPr bwMode="auto">
            <a:xfrm>
              <a:off x="3220" y="1457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2949575" y="1950244"/>
            <a:ext cx="1727200" cy="819150"/>
            <a:chOff x="2155" y="-62"/>
            <a:chExt cx="1088" cy="688"/>
          </a:xfrm>
        </p:grpSpPr>
        <p:sp>
          <p:nvSpPr>
            <p:cNvPr id="97310" name="Line 27"/>
            <p:cNvSpPr>
              <a:spLocks noChangeShapeType="1"/>
            </p:cNvSpPr>
            <p:nvPr/>
          </p:nvSpPr>
          <p:spPr bwMode="auto">
            <a:xfrm>
              <a:off x="2155" y="-62"/>
              <a:ext cx="4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11" name="Line 28"/>
            <p:cNvSpPr>
              <a:spLocks noChangeShapeType="1"/>
            </p:cNvSpPr>
            <p:nvPr/>
          </p:nvSpPr>
          <p:spPr bwMode="auto">
            <a:xfrm>
              <a:off x="2562" y="-62"/>
              <a:ext cx="0" cy="6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12" name="Line 29"/>
            <p:cNvSpPr>
              <a:spLocks noChangeShapeType="1"/>
            </p:cNvSpPr>
            <p:nvPr/>
          </p:nvSpPr>
          <p:spPr bwMode="auto">
            <a:xfrm>
              <a:off x="2562" y="626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2949575" y="2138363"/>
            <a:ext cx="1727200" cy="838200"/>
            <a:chOff x="3651" y="2046"/>
            <a:chExt cx="1088" cy="704"/>
          </a:xfrm>
        </p:grpSpPr>
        <p:sp>
          <p:nvSpPr>
            <p:cNvPr id="97307" name="Line 31"/>
            <p:cNvSpPr>
              <a:spLocks noChangeShapeType="1"/>
            </p:cNvSpPr>
            <p:nvPr/>
          </p:nvSpPr>
          <p:spPr bwMode="auto">
            <a:xfrm>
              <a:off x="3651" y="2046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08" name="Line 32"/>
            <p:cNvSpPr>
              <a:spLocks noChangeShapeType="1"/>
            </p:cNvSpPr>
            <p:nvPr/>
          </p:nvSpPr>
          <p:spPr bwMode="auto">
            <a:xfrm>
              <a:off x="3923" y="2046"/>
              <a:ext cx="0" cy="7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09" name="Line 33"/>
            <p:cNvSpPr>
              <a:spLocks noChangeShapeType="1"/>
            </p:cNvSpPr>
            <p:nvPr/>
          </p:nvSpPr>
          <p:spPr bwMode="auto">
            <a:xfrm>
              <a:off x="3923" y="275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2949575" y="2382442"/>
            <a:ext cx="1727200" cy="835819"/>
            <a:chOff x="1497" y="2360"/>
            <a:chExt cx="1088" cy="702"/>
          </a:xfrm>
        </p:grpSpPr>
        <p:sp>
          <p:nvSpPr>
            <p:cNvPr id="97304" name="Line 35"/>
            <p:cNvSpPr>
              <a:spLocks noChangeShapeType="1"/>
            </p:cNvSpPr>
            <p:nvPr/>
          </p:nvSpPr>
          <p:spPr bwMode="auto">
            <a:xfrm>
              <a:off x="1497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05" name="Line 36"/>
            <p:cNvSpPr>
              <a:spLocks noChangeShapeType="1"/>
            </p:cNvSpPr>
            <p:nvPr/>
          </p:nvSpPr>
          <p:spPr bwMode="auto">
            <a:xfrm>
              <a:off x="1633" y="2360"/>
              <a:ext cx="0" cy="7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7306" name="Line 37"/>
            <p:cNvSpPr>
              <a:spLocks noChangeShapeType="1"/>
            </p:cNvSpPr>
            <p:nvPr/>
          </p:nvSpPr>
          <p:spPr bwMode="auto">
            <a:xfrm>
              <a:off x="1633" y="3062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1905000" y="1733550"/>
            <a:ext cx="1374776" cy="2171701"/>
            <a:chOff x="1179" y="1184"/>
            <a:chExt cx="866" cy="1824"/>
          </a:xfrm>
        </p:grpSpPr>
        <p:sp>
          <p:nvSpPr>
            <p:cNvPr id="97298" name="Text Box 39"/>
            <p:cNvSpPr txBox="1">
              <a:spLocks noChangeArrowheads="1"/>
            </p:cNvSpPr>
            <p:nvPr/>
          </p:nvSpPr>
          <p:spPr bwMode="auto">
            <a:xfrm>
              <a:off x="1429" y="1230"/>
              <a:ext cx="544" cy="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A&gt;B  A=B  A&lt;B</a:t>
              </a:r>
            </a:p>
          </p:txBody>
        </p:sp>
        <p:sp>
          <p:nvSpPr>
            <p:cNvPr id="97299" name="Text Box 40"/>
            <p:cNvSpPr txBox="1">
              <a:spLocks noChangeArrowheads="1"/>
            </p:cNvSpPr>
            <p:nvPr/>
          </p:nvSpPr>
          <p:spPr bwMode="auto">
            <a:xfrm>
              <a:off x="1202" y="2749"/>
              <a:ext cx="49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zh-CN" sz="1400"/>
            </a:p>
          </p:txBody>
        </p:sp>
        <p:grpSp>
          <p:nvGrpSpPr>
            <p:cNvPr id="12" name="Group 41"/>
            <p:cNvGrpSpPr>
              <a:grpSpLocks/>
            </p:cNvGrpSpPr>
            <p:nvPr/>
          </p:nvGrpSpPr>
          <p:grpSpPr bwMode="auto">
            <a:xfrm>
              <a:off x="1179" y="1184"/>
              <a:ext cx="658" cy="1361"/>
              <a:chOff x="839" y="935"/>
              <a:chExt cx="658" cy="1361"/>
            </a:xfrm>
          </p:grpSpPr>
          <p:sp>
            <p:nvSpPr>
              <p:cNvPr id="97302" name="Rectangle 42"/>
              <p:cNvSpPr>
                <a:spLocks noChangeArrowheads="1"/>
              </p:cNvSpPr>
              <p:nvPr/>
            </p:nvSpPr>
            <p:spPr bwMode="auto">
              <a:xfrm>
                <a:off x="862" y="935"/>
                <a:ext cx="635" cy="13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7303" name="Text Box 43"/>
              <p:cNvSpPr txBox="1">
                <a:spLocks noChangeArrowheads="1"/>
              </p:cNvSpPr>
              <p:nvPr/>
            </p:nvSpPr>
            <p:spPr bwMode="auto">
              <a:xfrm>
                <a:off x="839" y="1662"/>
                <a:ext cx="529" cy="6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 smtClean="0"/>
                  <a:t>a&gt;b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zh-CN" sz="1400" b="1" dirty="0" smtClean="0"/>
                  <a:t>a=b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zh-CN" sz="1400" b="1" dirty="0" smtClean="0"/>
                  <a:t>a&lt;b</a:t>
                </a:r>
                <a:endParaRPr lang="en-US" altLang="zh-CN" sz="1400" b="1" dirty="0"/>
              </a:p>
            </p:txBody>
          </p:sp>
        </p:grpSp>
        <p:sp>
          <p:nvSpPr>
            <p:cNvPr id="97301" name="Text Box 44"/>
            <p:cNvSpPr txBox="1">
              <a:spLocks noChangeArrowheads="1"/>
            </p:cNvSpPr>
            <p:nvPr/>
          </p:nvSpPr>
          <p:spPr bwMode="auto">
            <a:xfrm>
              <a:off x="1228" y="2688"/>
              <a:ext cx="817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华文中宋" pitchFamily="2" charset="-122"/>
                  <a:ea typeface="华文中宋" pitchFamily="2" charset="-122"/>
                </a:rPr>
                <a:t>低</a:t>
              </a:r>
              <a:r>
                <a:rPr lang="en-US" altLang="zh-CN" sz="1400" b="1" dirty="0">
                  <a:ea typeface="黑体" pitchFamily="49" charset="-122"/>
                </a:rPr>
                <a:t>4</a:t>
              </a:r>
              <a:r>
                <a:rPr lang="zh-CN" altLang="en-US" sz="1400" b="1" dirty="0">
                  <a:latin typeface="华文中宋" pitchFamily="2" charset="-122"/>
                  <a:ea typeface="华文中宋" pitchFamily="2" charset="-122"/>
                </a:rPr>
                <a:t>位片</a:t>
              </a:r>
            </a:p>
          </p:txBody>
        </p:sp>
      </p:grpSp>
      <p:grpSp>
        <p:nvGrpSpPr>
          <p:cNvPr id="13" name="Group 45"/>
          <p:cNvGrpSpPr>
            <a:grpSpLocks/>
          </p:cNvGrpSpPr>
          <p:nvPr/>
        </p:nvGrpSpPr>
        <p:grpSpPr bwMode="auto">
          <a:xfrm>
            <a:off x="4640264" y="1733550"/>
            <a:ext cx="1458913" cy="2099073"/>
            <a:chOff x="2902" y="1184"/>
            <a:chExt cx="919" cy="1763"/>
          </a:xfrm>
        </p:grpSpPr>
        <p:grpSp>
          <p:nvGrpSpPr>
            <p:cNvPr id="14" name="Group 46"/>
            <p:cNvGrpSpPr>
              <a:grpSpLocks/>
            </p:cNvGrpSpPr>
            <p:nvPr/>
          </p:nvGrpSpPr>
          <p:grpSpPr bwMode="auto">
            <a:xfrm>
              <a:off x="2902" y="1184"/>
              <a:ext cx="658" cy="1361"/>
              <a:chOff x="2562" y="935"/>
              <a:chExt cx="658" cy="1361"/>
            </a:xfrm>
          </p:grpSpPr>
          <p:sp>
            <p:nvSpPr>
              <p:cNvPr id="97296" name="Rectangle 47"/>
              <p:cNvSpPr>
                <a:spLocks noChangeArrowheads="1"/>
              </p:cNvSpPr>
              <p:nvPr/>
            </p:nvSpPr>
            <p:spPr bwMode="auto">
              <a:xfrm>
                <a:off x="2585" y="935"/>
                <a:ext cx="635" cy="136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97297" name="Text Box 48"/>
              <p:cNvSpPr txBox="1">
                <a:spLocks noChangeArrowheads="1"/>
              </p:cNvSpPr>
              <p:nvPr/>
            </p:nvSpPr>
            <p:spPr bwMode="auto">
              <a:xfrm>
                <a:off x="2562" y="1671"/>
                <a:ext cx="407" cy="6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b="1" dirty="0" smtClean="0"/>
                  <a:t>a&gt;b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zh-CN" sz="1400" b="1" dirty="0" smtClean="0"/>
                  <a:t>a=b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zh-CN" sz="1400" b="1" dirty="0" smtClean="0"/>
                  <a:t>a&lt;b</a:t>
                </a:r>
                <a:endParaRPr lang="en-US" altLang="zh-CN" sz="1400" b="1" dirty="0"/>
              </a:p>
            </p:txBody>
          </p:sp>
        </p:grpSp>
        <p:sp>
          <p:nvSpPr>
            <p:cNvPr id="97295" name="Text Box 49"/>
            <p:cNvSpPr txBox="1">
              <a:spLocks noChangeArrowheads="1"/>
            </p:cNvSpPr>
            <p:nvPr/>
          </p:nvSpPr>
          <p:spPr bwMode="auto">
            <a:xfrm>
              <a:off x="3004" y="2688"/>
              <a:ext cx="817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>
                  <a:latin typeface="华文中宋" pitchFamily="2" charset="-122"/>
                  <a:ea typeface="华文中宋" pitchFamily="2" charset="-122"/>
                </a:rPr>
                <a:t>高</a:t>
              </a:r>
              <a:r>
                <a:rPr lang="en-US" altLang="zh-CN" sz="1400" b="1" dirty="0">
                  <a:ea typeface="黑体" pitchFamily="49" charset="-122"/>
                </a:rPr>
                <a:t>4</a:t>
              </a:r>
              <a:r>
                <a:rPr lang="zh-CN" altLang="en-US" sz="1400" b="1" dirty="0">
                  <a:latin typeface="华文中宋" pitchFamily="2" charset="-122"/>
                  <a:ea typeface="华文中宋" pitchFamily="2" charset="-122"/>
                </a:rPr>
                <a:t>位片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6200" y="6667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数据比较器：四位数据比较器扩展成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位数据比较器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3276600" y="3867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5242964" y="28003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99764" y="28003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/>
      <p:bldP spid="53" grpId="0"/>
      <p:bldP spid="54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461963" y="1179910"/>
            <a:ext cx="20891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并联</a:t>
            </a:r>
            <a:r>
              <a:rPr lang="zh-CN" altLang="en-US" sz="1400" b="1" dirty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方式</a:t>
            </a:r>
          </a:p>
        </p:txBody>
      </p:sp>
      <p:sp>
        <p:nvSpPr>
          <p:cNvPr id="51" name="矩形 5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6200" y="6667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数据比较器：四位数据比较器扩展成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位数据比较器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4114800" y="4629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pic>
        <p:nvPicPr>
          <p:cNvPr id="175105" name="Picture 1" descr="C:\Users\hfutliujun\AppData\Roaming\Tencent\Users\350654676\QQ\WinTemp\RichOle\_OEHAFU]GW4PP]A4(YWRMF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00150"/>
            <a:ext cx="6764905" cy="3429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5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5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461963" y="1179910"/>
            <a:ext cx="20891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并联</a:t>
            </a:r>
            <a:r>
              <a:rPr lang="zh-CN" altLang="en-US" sz="1400" b="1" dirty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方式</a:t>
            </a:r>
          </a:p>
        </p:txBody>
      </p:sp>
      <p:sp>
        <p:nvSpPr>
          <p:cNvPr id="51" name="矩形 5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6200" y="6667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数据比较器：四位数据比较器扩展成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位数据比较器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4114800" y="4629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pic>
        <p:nvPicPr>
          <p:cNvPr id="175105" name="Picture 1" descr="C:\Users\hfutliujun\AppData\Roaming\Tencent\Users\350654676\QQ\WinTemp\RichOle\_OEHAFU]GW4PP]A4(YWRMF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00150"/>
            <a:ext cx="6764905" cy="3429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057400" y="12763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&gt;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27241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58352" y="27241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958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38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52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3#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4#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3638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5#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461963" y="1179910"/>
            <a:ext cx="20891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并联</a:t>
            </a:r>
            <a:r>
              <a:rPr lang="zh-CN" altLang="en-US" sz="1400" b="1" dirty="0">
                <a:solidFill>
                  <a:srgbClr val="333399"/>
                </a:solidFill>
                <a:latin typeface="华文中宋" pitchFamily="2" charset="-122"/>
                <a:ea typeface="华文中宋" pitchFamily="2" charset="-122"/>
              </a:rPr>
              <a:t>方式</a:t>
            </a:r>
          </a:p>
        </p:txBody>
      </p:sp>
      <p:sp>
        <p:nvSpPr>
          <p:cNvPr id="51" name="矩形 5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6200" y="6667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数据比较器：四位数据比较器扩展成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位数据比较器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72"/>
          <p:cNvSpPr txBox="1">
            <a:spLocks noChangeArrowheads="1"/>
          </p:cNvSpPr>
          <p:nvPr/>
        </p:nvSpPr>
        <p:spPr bwMode="auto">
          <a:xfrm>
            <a:off x="4114800" y="4629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pic>
        <p:nvPicPr>
          <p:cNvPr id="175105" name="Picture 1" descr="C:\Users\hfutliujun\AppData\Roaming\Tencent\Users\350654676\QQ\WinTemp\RichOle\_OEHAFU]GW4PP]A4(YWRMF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200150"/>
            <a:ext cx="6764905" cy="3429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057400" y="12763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=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27241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58352" y="27241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958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3800" y="40195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52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3#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2114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4#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36385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5#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1400" y="12763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&lt;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8048" y="26479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91000" y="264795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762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数据比较器：应用例子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2033" name="Picture 1" descr="C:\Users\hfutliujun\AppData\Roaming\Tencent\Users\350654676\QQ\WinTemp\RichOle\I]IQY%{``(OKBGO}VOA({]J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895350"/>
            <a:ext cx="5776076" cy="3733800"/>
          </a:xfrm>
          <a:prstGeom prst="rect">
            <a:avLst/>
          </a:prstGeom>
          <a:noFill/>
        </p:spPr>
      </p:pic>
      <p:sp>
        <p:nvSpPr>
          <p:cNvPr id="7" name="Text Box 72"/>
          <p:cNvSpPr txBox="1">
            <a:spLocks noChangeArrowheads="1"/>
          </p:cNvSpPr>
          <p:nvPr/>
        </p:nvSpPr>
        <p:spPr bwMode="auto">
          <a:xfrm>
            <a:off x="3886200" y="4629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4</a:t>
            </a:r>
            <a:endParaRPr lang="en-US" altLang="zh-CN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8200" y="682934"/>
            <a:ext cx="731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74LS85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比较器和若干逻辑门设计比较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大小的电路。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30401" name="Picture 1" descr="C:\Users\hfutliujun\AppData\Roaming\Tencent\Users\350654676\QQ\WinTemp\RichOle\A87VE~)T9ZX@KZ)82$RM}C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428750"/>
            <a:ext cx="4495800" cy="3217178"/>
          </a:xfrm>
          <a:prstGeom prst="rect">
            <a:avLst/>
          </a:prstGeom>
          <a:noFill/>
        </p:spPr>
      </p:pic>
      <p:sp>
        <p:nvSpPr>
          <p:cNvPr id="31" name="TextBox 30"/>
          <p:cNvSpPr txBox="1"/>
          <p:nvPr/>
        </p:nvSpPr>
        <p:spPr>
          <a:xfrm>
            <a:off x="1447800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4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09800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3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24200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2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62400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94408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4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621144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3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43636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2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381836" y="10477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791200" y="2014074"/>
            <a:ext cx="461665" cy="1905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vert="eaVert" wrap="square" rtlCol="0">
            <a:spAutoFit/>
          </a:bodyPr>
          <a:lstStyle/>
          <a:p>
            <a:r>
              <a:rPr lang="zh-CN" altLang="en-US" dirty="0" smtClean="0"/>
              <a:t>  </a:t>
            </a:r>
            <a:r>
              <a:rPr lang="zh-CN" altLang="en-US" b="1" dirty="0" smtClean="0"/>
              <a:t>组   合   电   路</a:t>
            </a:r>
            <a:endParaRPr lang="zh-CN" altLang="en-US" b="1" dirty="0"/>
          </a:p>
        </p:txBody>
      </p:sp>
      <p:cxnSp>
        <p:nvCxnSpPr>
          <p:cNvPr id="65" name="直接连接符 64"/>
          <p:cNvCxnSpPr/>
          <p:nvPr/>
        </p:nvCxnSpPr>
        <p:spPr>
          <a:xfrm>
            <a:off x="6248400" y="2266950"/>
            <a:ext cx="457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6248400" y="3333750"/>
            <a:ext cx="457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705600" y="19621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a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0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705600" y="310515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0</a:t>
            </a:r>
            <a:endParaRPr lang="zh-CN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70" name="Text Box 72"/>
          <p:cNvSpPr txBox="1">
            <a:spLocks noChangeArrowheads="1"/>
          </p:cNvSpPr>
          <p:nvPr/>
        </p:nvSpPr>
        <p:spPr bwMode="auto">
          <a:xfrm>
            <a:off x="3657600" y="46291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5" grpId="0"/>
      <p:bldP spid="36" grpId="0"/>
      <p:bldP spid="37" grpId="0"/>
      <p:bldP spid="57" grpId="0"/>
      <p:bldP spid="58" grpId="0"/>
      <p:bldP spid="63" grpId="0" animBg="1"/>
      <p:bldP spid="68" grpId="0"/>
      <p:bldP spid="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8200" y="682934"/>
            <a:ext cx="731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74LS85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比较器和若干逻辑门设计比较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大小的电路。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30403" name="Object 3"/>
          <p:cNvGraphicFramePr>
            <a:graphicFrameLocks noChangeAspect="1"/>
          </p:cNvGraphicFramePr>
          <p:nvPr/>
        </p:nvGraphicFramePr>
        <p:xfrm>
          <a:off x="304800" y="1581150"/>
          <a:ext cx="3182937" cy="2446338"/>
        </p:xfrm>
        <a:graphic>
          <a:graphicData uri="http://schemas.openxmlformats.org/presentationml/2006/ole">
            <p:oleObj spid="_x0000_s235522" name="Visio" r:id="rId3" imgW="2434571" imgH="1494511" progId="Visio.Drawing.11">
              <p:embed/>
            </p:oleObj>
          </a:graphicData>
        </a:graphic>
      </p:graphicFrame>
      <p:sp>
        <p:nvSpPr>
          <p:cNvPr id="20" name="Text Box 72"/>
          <p:cNvSpPr txBox="1">
            <a:spLocks noChangeArrowheads="1"/>
          </p:cNvSpPr>
          <p:nvPr/>
        </p:nvSpPr>
        <p:spPr bwMode="auto">
          <a:xfrm>
            <a:off x="1295400" y="12763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  <p:graphicFrame>
        <p:nvGraphicFramePr>
          <p:cNvPr id="235524" name="Object 4"/>
          <p:cNvGraphicFramePr>
            <a:graphicFrameLocks noChangeAspect="1"/>
          </p:cNvGraphicFramePr>
          <p:nvPr/>
        </p:nvGraphicFramePr>
        <p:xfrm>
          <a:off x="4038600" y="1123950"/>
          <a:ext cx="1231900" cy="368300"/>
        </p:xfrm>
        <a:graphic>
          <a:graphicData uri="http://schemas.openxmlformats.org/presentationml/2006/ole">
            <p:oleObj spid="_x0000_s235524" name="Equation" r:id="rId4" imgW="1231560" imgH="368280" progId="Equation.DSMT4">
              <p:embed/>
            </p:oleObj>
          </a:graphicData>
        </a:graphic>
      </p:graphicFrame>
      <p:graphicFrame>
        <p:nvGraphicFramePr>
          <p:cNvPr id="235525" name="Object 5"/>
          <p:cNvGraphicFramePr>
            <a:graphicFrameLocks noChangeAspect="1"/>
          </p:cNvGraphicFramePr>
          <p:nvPr/>
        </p:nvGraphicFramePr>
        <p:xfrm>
          <a:off x="4038600" y="1657350"/>
          <a:ext cx="1206500" cy="368300"/>
        </p:xfrm>
        <a:graphic>
          <a:graphicData uri="http://schemas.openxmlformats.org/presentationml/2006/ole">
            <p:oleObj spid="_x0000_s235525" name="Equation" r:id="rId5" imgW="1206360" imgH="368280" progId="Equation.DSMT4">
              <p:embed/>
            </p:oleObj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5638800" y="1123950"/>
          <a:ext cx="2908300" cy="368300"/>
        </p:xfrm>
        <a:graphic>
          <a:graphicData uri="http://schemas.openxmlformats.org/presentationml/2006/ole">
            <p:oleObj spid="_x0000_s235527" name="Equation" r:id="rId6" imgW="2908080" imgH="368280" progId="Equation.DSMT4">
              <p:embed/>
            </p:oleObj>
          </a:graphicData>
        </a:graphic>
      </p:graphicFrame>
      <p:graphicFrame>
        <p:nvGraphicFramePr>
          <p:cNvPr id="235529" name="Object 9"/>
          <p:cNvGraphicFramePr>
            <a:graphicFrameLocks noChangeAspect="1"/>
          </p:cNvGraphicFramePr>
          <p:nvPr/>
        </p:nvGraphicFramePr>
        <p:xfrm>
          <a:off x="3962400" y="2114550"/>
          <a:ext cx="2438400" cy="2366210"/>
        </p:xfrm>
        <a:graphic>
          <a:graphicData uri="http://schemas.openxmlformats.org/presentationml/2006/ole">
            <p:oleObj spid="_x0000_s235529" name="Visio" r:id="rId7" imgW="2385728" imgH="2184597" progId="Visio.Drawing.11">
              <p:embed/>
            </p:oleObj>
          </a:graphicData>
        </a:graphic>
      </p:graphicFrame>
      <p:sp>
        <p:nvSpPr>
          <p:cNvPr id="13" name="Text Box 72"/>
          <p:cNvSpPr txBox="1">
            <a:spLocks noChangeArrowheads="1"/>
          </p:cNvSpPr>
          <p:nvPr/>
        </p:nvSpPr>
        <p:spPr bwMode="auto">
          <a:xfrm>
            <a:off x="4572000" y="4400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8200" y="682934"/>
            <a:ext cx="731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74LS85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比较器和若干逻辑门设计比较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大小的电路。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 Box 72"/>
          <p:cNvSpPr txBox="1">
            <a:spLocks noChangeArrowheads="1"/>
          </p:cNvSpPr>
          <p:nvPr/>
        </p:nvSpPr>
        <p:spPr bwMode="auto">
          <a:xfrm>
            <a:off x="3657600" y="36385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 </a:t>
            </a:r>
            <a:r>
              <a:rPr lang="en-US" altLang="zh-CN" sz="1400" b="1" dirty="0" smtClean="0"/>
              <a:t>7</a:t>
            </a:r>
            <a:endParaRPr lang="en-US" altLang="zh-CN" sz="1400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295400" y="1200150"/>
            <a:ext cx="5221288" cy="2300288"/>
            <a:chOff x="762000" y="1733550"/>
            <a:chExt cx="5221288" cy="2300288"/>
          </a:xfrm>
        </p:grpSpPr>
        <p:sp>
          <p:nvSpPr>
            <p:cNvPr id="31" name="TextBox 30"/>
            <p:cNvSpPr txBox="1"/>
            <p:nvPr/>
          </p:nvSpPr>
          <p:spPr>
            <a:xfrm>
              <a:off x="914400" y="1733550"/>
              <a:ext cx="381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4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371600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3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905000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2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38400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a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1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23444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b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4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632568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b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3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5968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b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2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663628" y="173355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rgbClr val="FF0000"/>
                  </a:solidFill>
                </a:rPr>
                <a:t>b</a:t>
              </a:r>
              <a:r>
                <a:rPr lang="en-US" altLang="zh-CN" sz="1200" b="1" baseline="-25000" dirty="0" smtClean="0">
                  <a:solidFill>
                    <a:srgbClr val="FF0000"/>
                  </a:solidFill>
                </a:rPr>
                <a:t>1</a:t>
              </a:r>
              <a:endParaRPr lang="zh-CN" altLang="en-US" sz="1200" b="1" baseline="-250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/>
          </p:nvGraphicFramePr>
          <p:xfrm>
            <a:off x="762000" y="1789113"/>
            <a:ext cx="5221288" cy="2244725"/>
          </p:xfrm>
          <a:graphic>
            <a:graphicData uri="http://schemas.openxmlformats.org/presentationml/2006/ole">
              <p:oleObj spid="_x0000_s266245" name="Visio" r:id="rId3" imgW="4022088" imgH="1795900" progId="Visio.Drawing.11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全加器：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 Box 72"/>
          <p:cNvSpPr txBox="1">
            <a:spLocks noChangeArrowheads="1"/>
          </p:cNvSpPr>
          <p:nvPr/>
        </p:nvSpPr>
        <p:spPr bwMode="auto">
          <a:xfrm>
            <a:off x="4191000" y="3790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Box 72"/>
          <p:cNvSpPr txBox="1">
            <a:spLocks noChangeArrowheads="1"/>
          </p:cNvSpPr>
          <p:nvPr/>
        </p:nvSpPr>
        <p:spPr bwMode="auto">
          <a:xfrm>
            <a:off x="762000" y="1123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2 </a:t>
            </a:r>
            <a:r>
              <a:rPr lang="zh-CN" altLang="en-US" sz="1400" b="1" dirty="0" smtClean="0"/>
              <a:t>全加器真值表</a:t>
            </a:r>
            <a:endParaRPr lang="en-US" altLang="zh-CN" sz="1400" b="1" dirty="0"/>
          </a:p>
        </p:txBody>
      </p:sp>
      <p:pic>
        <p:nvPicPr>
          <p:cNvPr id="173058" name="Picture 2" descr="C:\Users\hfutliujun\AppData\Roaming\Tencent\Users\350654676\QQ\WinTemp\RichOle\[W9BQ4UC6{QWPB[X1AC`U}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428750"/>
            <a:ext cx="2087905" cy="2971800"/>
          </a:xfrm>
          <a:prstGeom prst="rect">
            <a:avLst/>
          </a:prstGeom>
          <a:noFill/>
        </p:spPr>
      </p:pic>
      <p:graphicFrame>
        <p:nvGraphicFramePr>
          <p:cNvPr id="338974" name="Object 30"/>
          <p:cNvGraphicFramePr>
            <a:graphicFrameLocks noChangeAspect="1"/>
          </p:cNvGraphicFramePr>
          <p:nvPr/>
        </p:nvGraphicFramePr>
        <p:xfrm>
          <a:off x="3810000" y="1428750"/>
          <a:ext cx="1524000" cy="229397"/>
        </p:xfrm>
        <a:graphic>
          <a:graphicData uri="http://schemas.openxmlformats.org/presentationml/2006/ole">
            <p:oleObj spid="_x0000_s173059" name="公式" r:id="rId4" imgW="1180800" imgH="177480" progId="">
              <p:embed/>
            </p:oleObj>
          </a:graphicData>
        </a:graphic>
      </p:graphicFrame>
      <p:graphicFrame>
        <p:nvGraphicFramePr>
          <p:cNvPr id="338975" name="Object 31"/>
          <p:cNvGraphicFramePr>
            <a:graphicFrameLocks noChangeAspect="1"/>
          </p:cNvGraphicFramePr>
          <p:nvPr/>
        </p:nvGraphicFramePr>
        <p:xfrm>
          <a:off x="5638800" y="1453504"/>
          <a:ext cx="1752600" cy="231494"/>
        </p:xfrm>
        <a:graphic>
          <a:graphicData uri="http://schemas.openxmlformats.org/presentationml/2006/ole">
            <p:oleObj spid="_x0000_s173060" name="公式" r:id="rId5" imgW="1536480" imgH="203040" progId="">
              <p:embed/>
            </p:oleObj>
          </a:graphicData>
        </a:graphic>
      </p:graphicFrame>
      <p:sp>
        <p:nvSpPr>
          <p:cNvPr id="57" name="Text Box 72"/>
          <p:cNvSpPr txBox="1">
            <a:spLocks noChangeArrowheads="1"/>
          </p:cNvSpPr>
          <p:nvPr/>
        </p:nvSpPr>
        <p:spPr bwMode="auto">
          <a:xfrm>
            <a:off x="3733800" y="10477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逻辑表达式：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 Box 72"/>
          <p:cNvSpPr txBox="1">
            <a:spLocks noChangeArrowheads="1"/>
          </p:cNvSpPr>
          <p:nvPr/>
        </p:nvSpPr>
        <p:spPr bwMode="auto">
          <a:xfrm>
            <a:off x="3581400" y="1885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逻辑电路：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2" name="Picture 48" descr="KEYFW(_7@5EBW2@7)S5W4KW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81400" y="2266950"/>
            <a:ext cx="221244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Text Box 72"/>
          <p:cNvSpPr txBox="1">
            <a:spLocks noChangeArrowheads="1"/>
          </p:cNvSpPr>
          <p:nvPr/>
        </p:nvSpPr>
        <p:spPr bwMode="auto">
          <a:xfrm>
            <a:off x="6553200" y="1885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逻辑框图：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Group 32"/>
          <p:cNvGrpSpPr>
            <a:grpSpLocks/>
          </p:cNvGrpSpPr>
          <p:nvPr/>
        </p:nvGrpSpPr>
        <p:grpSpPr bwMode="auto">
          <a:xfrm>
            <a:off x="6629400" y="2266950"/>
            <a:ext cx="1371601" cy="1831514"/>
            <a:chOff x="3868" y="2736"/>
            <a:chExt cx="1298" cy="1639"/>
          </a:xfrm>
        </p:grpSpPr>
        <p:grpSp>
          <p:nvGrpSpPr>
            <p:cNvPr id="65" name="Group 33"/>
            <p:cNvGrpSpPr>
              <a:grpSpLocks/>
            </p:cNvGrpSpPr>
            <p:nvPr/>
          </p:nvGrpSpPr>
          <p:grpSpPr bwMode="auto">
            <a:xfrm>
              <a:off x="3868" y="2736"/>
              <a:ext cx="1298" cy="1164"/>
              <a:chOff x="3868" y="2832"/>
              <a:chExt cx="1298" cy="1164"/>
            </a:xfrm>
          </p:grpSpPr>
          <p:sp>
            <p:nvSpPr>
              <p:cNvPr id="67" name="Text Box 34"/>
              <p:cNvSpPr txBox="1">
                <a:spLocks noChangeArrowheads="1"/>
              </p:cNvSpPr>
              <p:nvPr/>
            </p:nvSpPr>
            <p:spPr bwMode="auto">
              <a:xfrm>
                <a:off x="4351" y="3360"/>
                <a:ext cx="382" cy="27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en-US" altLang="zh-CN" sz="1400" dirty="0">
                    <a:latin typeface="Tahoma" pitchFamily="34" charset="0"/>
                  </a:rPr>
                  <a:t>FA</a:t>
                </a:r>
              </a:p>
            </p:txBody>
          </p:sp>
          <p:sp>
            <p:nvSpPr>
              <p:cNvPr id="68" name="Rectangle 35"/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576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69" name="Line 36"/>
              <p:cNvSpPr>
                <a:spLocks noChangeShapeType="1"/>
              </p:cNvSpPr>
              <p:nvPr/>
            </p:nvSpPr>
            <p:spPr bwMode="auto">
              <a:xfrm>
                <a:off x="4320" y="364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0" name="Line 37"/>
              <p:cNvSpPr>
                <a:spLocks noChangeShapeType="1"/>
              </p:cNvSpPr>
              <p:nvPr/>
            </p:nvSpPr>
            <p:spPr bwMode="auto">
              <a:xfrm>
                <a:off x="4704" y="364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1" name="Line 38"/>
              <p:cNvSpPr>
                <a:spLocks noChangeShapeType="1"/>
              </p:cNvSpPr>
              <p:nvPr/>
            </p:nvSpPr>
            <p:spPr bwMode="auto">
              <a:xfrm>
                <a:off x="4512" y="312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2" name="Line 39"/>
              <p:cNvSpPr>
                <a:spLocks noChangeShapeType="1"/>
              </p:cNvSpPr>
              <p:nvPr/>
            </p:nvSpPr>
            <p:spPr bwMode="auto">
              <a:xfrm flipH="1">
                <a:off x="4800" y="345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3" name="Line 40"/>
              <p:cNvSpPr>
                <a:spLocks noChangeShapeType="1"/>
              </p:cNvSpPr>
              <p:nvPr/>
            </p:nvSpPr>
            <p:spPr bwMode="auto">
              <a:xfrm flipH="1">
                <a:off x="4080" y="345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4" name="Text Box 41"/>
              <p:cNvSpPr txBox="1">
                <a:spLocks noChangeArrowheads="1"/>
              </p:cNvSpPr>
              <p:nvPr/>
            </p:nvSpPr>
            <p:spPr bwMode="auto">
              <a:xfrm>
                <a:off x="4896" y="3285"/>
                <a:ext cx="270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C</a:t>
                </a:r>
                <a:r>
                  <a:rPr kumimoji="1" lang="en-US" altLang="zh-CN" sz="1400" baseline="-25000">
                    <a:latin typeface="Tahoma" pitchFamily="34" charset="0"/>
                  </a:rPr>
                  <a:t>i-1</a:t>
                </a:r>
                <a:endParaRPr kumimoji="1" lang="en-US" altLang="zh-CN" sz="1400">
                  <a:latin typeface="Tahoma" pitchFamily="34" charset="0"/>
                </a:endParaRPr>
              </a:p>
            </p:txBody>
          </p:sp>
          <p:sp>
            <p:nvSpPr>
              <p:cNvPr id="75" name="Text Box 42"/>
              <p:cNvSpPr txBox="1">
                <a:spLocks noChangeArrowheads="1"/>
              </p:cNvSpPr>
              <p:nvPr/>
            </p:nvSpPr>
            <p:spPr bwMode="auto">
              <a:xfrm>
                <a:off x="3868" y="3285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C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  <a:endParaRPr kumimoji="1" lang="en-US" altLang="zh-CN" sz="1400">
                  <a:latin typeface="Tahoma" pitchFamily="34" charset="0"/>
                </a:endParaRPr>
              </a:p>
            </p:txBody>
          </p:sp>
          <p:sp>
            <p:nvSpPr>
              <p:cNvPr id="76" name="Text Box 43"/>
              <p:cNvSpPr txBox="1">
                <a:spLocks noChangeArrowheads="1"/>
              </p:cNvSpPr>
              <p:nvPr/>
            </p:nvSpPr>
            <p:spPr bwMode="auto">
              <a:xfrm>
                <a:off x="4404" y="2832"/>
                <a:ext cx="19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 dirty="0">
                    <a:latin typeface="Tahoma" pitchFamily="34" charset="0"/>
                  </a:rPr>
                  <a:t>S</a:t>
                </a:r>
                <a:r>
                  <a:rPr kumimoji="1" lang="en-US" altLang="zh-CN" sz="1400" baseline="-25000" dirty="0">
                    <a:latin typeface="Tahoma" pitchFamily="34" charset="0"/>
                  </a:rPr>
                  <a:t>i</a:t>
                </a:r>
              </a:p>
            </p:txBody>
          </p:sp>
          <p:sp>
            <p:nvSpPr>
              <p:cNvPr id="77" name="Text Box 44"/>
              <p:cNvSpPr txBox="1">
                <a:spLocks noChangeArrowheads="1"/>
              </p:cNvSpPr>
              <p:nvPr/>
            </p:nvSpPr>
            <p:spPr bwMode="auto">
              <a:xfrm>
                <a:off x="4201" y="3802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A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</a:p>
            </p:txBody>
          </p:sp>
          <p:sp>
            <p:nvSpPr>
              <p:cNvPr id="78" name="Text Box 45"/>
              <p:cNvSpPr txBox="1">
                <a:spLocks noChangeArrowheads="1"/>
              </p:cNvSpPr>
              <p:nvPr/>
            </p:nvSpPr>
            <p:spPr bwMode="auto">
              <a:xfrm>
                <a:off x="4595" y="3792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B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</a:p>
            </p:txBody>
          </p:sp>
        </p:grp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29" y="4100"/>
              <a:ext cx="596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 smtClean="0">
                  <a:latin typeface="微软雅黑" pitchFamily="34" charset="-122"/>
                  <a:ea typeface="微软雅黑" pitchFamily="34" charset="-122"/>
                </a:rPr>
                <a:t> 图  </a:t>
              </a:r>
              <a:r>
                <a:rPr kumimoji="1" lang="en-US" altLang="zh-CN" sz="1400" dirty="0" smtClean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7" grpId="0"/>
      <p:bldP spid="59" grpId="0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685800" y="1200150"/>
            <a:ext cx="7580313" cy="2305050"/>
            <a:chOff x="192" y="1843"/>
            <a:chExt cx="4775" cy="1452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453" y="2047"/>
              <a:ext cx="1021" cy="998"/>
              <a:chOff x="453" y="2047"/>
              <a:chExt cx="1021" cy="998"/>
            </a:xfrm>
          </p:grpSpPr>
          <p:grpSp>
            <p:nvGrpSpPr>
              <p:cNvPr id="32" name="Group 7"/>
              <p:cNvGrpSpPr>
                <a:grpSpLocks/>
              </p:cNvGrpSpPr>
              <p:nvPr/>
            </p:nvGrpSpPr>
            <p:grpSpPr bwMode="auto">
              <a:xfrm>
                <a:off x="453" y="2047"/>
                <a:ext cx="885" cy="998"/>
                <a:chOff x="453" y="2047"/>
                <a:chExt cx="885" cy="998"/>
              </a:xfrm>
            </p:grpSpPr>
            <p:sp>
              <p:nvSpPr>
                <p:cNvPr id="34" name="Rectangle 8"/>
                <p:cNvSpPr>
                  <a:spLocks noChangeArrowheads="1"/>
                </p:cNvSpPr>
                <p:nvPr/>
              </p:nvSpPr>
              <p:spPr bwMode="auto">
                <a:xfrm>
                  <a:off x="657" y="2273"/>
                  <a:ext cx="681" cy="45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816" y="2727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179" y="2727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53" y="2478"/>
                  <a:ext cx="2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975" y="2047"/>
                  <a:ext cx="0" cy="2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" name="Text Box 13"/>
              <p:cNvSpPr txBox="1">
                <a:spLocks noChangeArrowheads="1"/>
              </p:cNvSpPr>
              <p:nvPr/>
            </p:nvSpPr>
            <p:spPr bwMode="auto">
              <a:xfrm>
                <a:off x="793" y="2341"/>
                <a:ext cx="68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/>
                  <a:t>FA</a:t>
                </a:r>
                <a:r>
                  <a:rPr lang="en-US" altLang="zh-CN" sz="2000" b="1" baseline="-5000"/>
                  <a:t>4</a:t>
                </a:r>
              </a:p>
            </p:txBody>
          </p:sp>
        </p:grp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1609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V="1">
              <a:off x="1768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 flipV="1">
              <a:off x="2131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 flipH="1">
              <a:off x="1338" y="247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V="1">
              <a:off x="1927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745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3</a:t>
              </a: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2539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flipV="1">
              <a:off x="2698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flipV="1">
              <a:off x="3061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flipH="1">
              <a:off x="2290" y="247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4"/>
            <p:cNvSpPr>
              <a:spLocks noChangeShapeType="1"/>
            </p:cNvSpPr>
            <p:nvPr/>
          </p:nvSpPr>
          <p:spPr bwMode="auto">
            <a:xfrm flipV="1">
              <a:off x="2857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2675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2</a:t>
              </a: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515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 flipV="1">
              <a:off x="3674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 flipV="1">
              <a:off x="4037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V="1">
              <a:off x="3833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3651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H="1">
              <a:off x="4197" y="247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657" y="3045"/>
              <a:ext cx="38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   B</a:t>
              </a:r>
              <a:r>
                <a:rPr lang="en-US" altLang="zh-CN" sz="2000" b="1" baseline="-5000"/>
                <a:t>4 </a:t>
              </a:r>
              <a:r>
                <a:rPr lang="en-US" altLang="zh-CN" sz="2000" b="1"/>
                <a:t>         A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    B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       A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   B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       A</a:t>
              </a:r>
              <a:r>
                <a:rPr lang="en-US" altLang="zh-CN" sz="2000" b="1" baseline="-5000"/>
                <a:t>1</a:t>
              </a:r>
              <a:r>
                <a:rPr lang="en-US" altLang="zh-CN" sz="2000" b="1"/>
                <a:t>     B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657" y="1843"/>
              <a:ext cx="34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    S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                S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                S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                S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>
              <a:off x="4468" y="2341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0</a:t>
              </a:r>
            </a:p>
          </p:txBody>
        </p:sp>
        <p:sp>
          <p:nvSpPr>
            <p:cNvPr id="27" name="Text Box 35"/>
            <p:cNvSpPr txBox="1">
              <a:spLocks noChangeArrowheads="1"/>
            </p:cNvSpPr>
            <p:nvPr/>
          </p:nvSpPr>
          <p:spPr bwMode="auto">
            <a:xfrm>
              <a:off x="3197" y="2250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8" name="Text Box 36"/>
            <p:cNvSpPr txBox="1">
              <a:spLocks noChangeArrowheads="1"/>
            </p:cNvSpPr>
            <p:nvPr/>
          </p:nvSpPr>
          <p:spPr bwMode="auto">
            <a:xfrm>
              <a:off x="2246" y="2250"/>
              <a:ext cx="4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2</a:t>
              </a:r>
            </a:p>
          </p:txBody>
        </p:sp>
        <p:sp>
          <p:nvSpPr>
            <p:cNvPr id="29" name="Text Box 37"/>
            <p:cNvSpPr txBox="1">
              <a:spLocks noChangeArrowheads="1"/>
            </p:cNvSpPr>
            <p:nvPr/>
          </p:nvSpPr>
          <p:spPr bwMode="auto">
            <a:xfrm>
              <a:off x="1315" y="2250"/>
              <a:ext cx="6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3</a:t>
              </a:r>
            </a:p>
          </p:txBody>
        </p:sp>
        <p:sp>
          <p:nvSpPr>
            <p:cNvPr id="30" name="Text Box 38"/>
            <p:cNvSpPr txBox="1">
              <a:spLocks noChangeArrowheads="1"/>
            </p:cNvSpPr>
            <p:nvPr/>
          </p:nvSpPr>
          <p:spPr bwMode="auto">
            <a:xfrm>
              <a:off x="192" y="2341"/>
              <a:ext cx="5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C</a:t>
              </a:r>
              <a:r>
                <a:rPr lang="en-US" altLang="zh-CN" sz="2000" b="1" baseline="-5000" dirty="0"/>
                <a:t>4</a:t>
              </a:r>
            </a:p>
          </p:txBody>
        </p:sp>
        <p:sp>
          <p:nvSpPr>
            <p:cNvPr id="31" name="Line 39"/>
            <p:cNvSpPr>
              <a:spLocks noChangeShapeType="1"/>
            </p:cNvSpPr>
            <p:nvPr/>
          </p:nvSpPr>
          <p:spPr bwMode="auto">
            <a:xfrm flipH="1">
              <a:off x="3220" y="2478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Text Box 40"/>
          <p:cNvSpPr txBox="1">
            <a:spLocks noChangeArrowheads="1"/>
          </p:cNvSpPr>
          <p:nvPr/>
        </p:nvSpPr>
        <p:spPr bwMode="auto">
          <a:xfrm>
            <a:off x="1676400" y="4171950"/>
            <a:ext cx="68405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简单，运算速度不高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低位的进位影响高位的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串行加法器  例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：两个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位二进制数相加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(A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46"/>
          <p:cNvSpPr txBox="1">
            <a:spLocks noChangeArrowheads="1"/>
          </p:cNvSpPr>
          <p:nvPr/>
        </p:nvSpPr>
        <p:spPr bwMode="auto">
          <a:xfrm>
            <a:off x="3505200" y="37147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串行加法器的延迟时间</a:t>
            </a: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Picture 2" descr="D:\《数字逻辑与FPGA》\PPT\加法器和超前进位加法器延迟\加法器和超前进位加法器延迟\串行加法器进位加法器关键路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895350"/>
            <a:ext cx="7140575" cy="3452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3276600" y="45529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381000" y="971550"/>
            <a:ext cx="72390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chemeClr val="accent6"/>
                </a:solidFill>
                <a:ea typeface="华文中宋" pitchFamily="2" charset="-122"/>
              </a:rPr>
              <a:t>实现：</a:t>
            </a:r>
            <a:r>
              <a:rPr lang="zh-CN" altLang="en-US" sz="1400" b="1" dirty="0">
                <a:ea typeface="华文中宋" pitchFamily="2" charset="-122"/>
              </a:rPr>
              <a:t>各位的进位信号同时产生</a:t>
            </a:r>
            <a:r>
              <a:rPr lang="zh-CN" altLang="en-US" sz="1400" b="1" dirty="0" smtClean="0">
                <a:ea typeface="华文中宋" pitchFamily="2" charset="-122"/>
              </a:rPr>
              <a:t>。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每位的进位信号</a:t>
            </a:r>
            <a:r>
              <a:rPr lang="en-US" altLang="zh-CN" sz="1400" b="1" dirty="0" err="1" smtClean="0">
                <a:ea typeface="黑体" pitchFamily="49" charset="-122"/>
              </a:rPr>
              <a:t>C</a:t>
            </a:r>
            <a:r>
              <a:rPr lang="en-US" altLang="zh-CN" sz="1400" b="1" baseline="-2000" dirty="0" err="1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只与加数   </a:t>
            </a:r>
            <a:r>
              <a:rPr lang="en-US" altLang="zh-CN" sz="1400" b="1" dirty="0" smtClean="0">
                <a:ea typeface="黑体" pitchFamily="49" charset="-122"/>
              </a:rPr>
              <a:t>A</a:t>
            </a:r>
            <a:r>
              <a:rPr lang="en-US" altLang="zh-CN" sz="1400" b="1" baseline="-2000" dirty="0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被加数</a:t>
            </a:r>
            <a:r>
              <a:rPr lang="en-US" altLang="zh-CN" sz="1400" b="1" dirty="0" smtClean="0">
                <a:ea typeface="黑体" pitchFamily="49" charset="-122"/>
              </a:rPr>
              <a:t>B</a:t>
            </a:r>
            <a:r>
              <a:rPr lang="en-US" altLang="zh-CN" sz="1400" b="1" baseline="-2000" dirty="0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以及最低位     </a:t>
            </a:r>
            <a:endParaRPr lang="en-US" altLang="zh-CN" sz="1400" b="1" dirty="0" smtClean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>
                <a:latin typeface="华文中宋" pitchFamily="2" charset="-122"/>
                <a:ea typeface="华文中宋" pitchFamily="2" charset="-122"/>
              </a:rPr>
              <a:t>          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进位</a:t>
            </a:r>
            <a:r>
              <a:rPr lang="en-US" altLang="zh-CN" sz="1400" b="1" dirty="0" smtClean="0">
                <a:ea typeface="黑体" pitchFamily="49" charset="-122"/>
              </a:rPr>
              <a:t>C</a:t>
            </a:r>
            <a:r>
              <a:rPr lang="en-US" altLang="zh-CN" sz="1400" b="1" baseline="-2000" dirty="0" smtClean="0">
                <a:ea typeface="黑体" pitchFamily="49" charset="-122"/>
              </a:rPr>
              <a:t>0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有关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而与相邻低位的进位</a:t>
            </a:r>
            <a:r>
              <a:rPr lang="en-US" altLang="zh-CN" sz="1400" b="1" dirty="0" smtClean="0">
                <a:ea typeface="黑体" pitchFamily="49" charset="-122"/>
              </a:rPr>
              <a:t>C</a:t>
            </a:r>
            <a:r>
              <a:rPr lang="en-US" altLang="zh-CN" sz="1400" b="1" baseline="-2000" dirty="0" smtClean="0">
                <a:ea typeface="黑体" pitchFamily="49" charset="-122"/>
              </a:rPr>
              <a:t>i-1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无关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>
                <a:latin typeface="黑体" pitchFamily="49" charset="-122"/>
                <a:ea typeface="黑体" pitchFamily="49" charset="-122"/>
              </a:rPr>
              <a:t>     </a:t>
            </a:r>
            <a:endParaRPr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eaLnBrk="1" hangingPunct="1"/>
            <a:endParaRPr lang="zh-CN" altLang="en-US" sz="1400" b="1" dirty="0">
              <a:ea typeface="华文中宋" pitchFamily="2" charset="-122"/>
            </a:endParaRPr>
          </a:p>
        </p:txBody>
      </p:sp>
      <p:sp>
        <p:nvSpPr>
          <p:cNvPr id="342021" name="Text Box 5"/>
          <p:cNvSpPr txBox="1">
            <a:spLocks noChangeArrowheads="1"/>
          </p:cNvSpPr>
          <p:nvPr/>
        </p:nvSpPr>
        <p:spPr bwMode="auto">
          <a:xfrm>
            <a:off x="381000" y="1809750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例：两个</a:t>
            </a:r>
            <a:r>
              <a:rPr lang="en-US" altLang="zh-CN" sz="1400" b="1" dirty="0">
                <a:ea typeface="黑体" pitchFamily="49" charset="-122"/>
              </a:rPr>
              <a:t>4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位二进制数相加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4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3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2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1 </a:t>
            </a:r>
            <a:r>
              <a:rPr lang="zh-CN" altLang="en-US" sz="1400" b="1" dirty="0">
                <a:ea typeface="黑体" pitchFamily="49" charset="-122"/>
              </a:rPr>
              <a:t>，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4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3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2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1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400" y="2266950"/>
            <a:ext cx="5486400" cy="1295400"/>
            <a:chOff x="461" y="2096"/>
            <a:chExt cx="4084" cy="1105"/>
          </a:xfrm>
        </p:grpSpPr>
        <p:graphicFrame>
          <p:nvGraphicFramePr>
            <p:cNvPr id="14338" name="Object 7"/>
            <p:cNvGraphicFramePr>
              <a:graphicFrameLocks noChangeAspect="1"/>
            </p:cNvGraphicFramePr>
            <p:nvPr/>
          </p:nvGraphicFramePr>
          <p:xfrm>
            <a:off x="478" y="2104"/>
            <a:ext cx="1597" cy="226"/>
          </p:xfrm>
          <a:graphic>
            <a:graphicData uri="http://schemas.openxmlformats.org/presentationml/2006/ole">
              <p:oleObj spid="_x0000_s205826" name="公式" r:id="rId4" imgW="1257120" imgH="177480" progId="">
                <p:embed/>
              </p:oleObj>
            </a:graphicData>
          </a:graphic>
        </p:graphicFrame>
        <p:graphicFrame>
          <p:nvGraphicFramePr>
            <p:cNvPr id="14339" name="Object 8"/>
            <p:cNvGraphicFramePr>
              <a:graphicFrameLocks noChangeAspect="1"/>
            </p:cNvGraphicFramePr>
            <p:nvPr/>
          </p:nvGraphicFramePr>
          <p:xfrm>
            <a:off x="461" y="2393"/>
            <a:ext cx="1616" cy="226"/>
          </p:xfrm>
          <a:graphic>
            <a:graphicData uri="http://schemas.openxmlformats.org/presentationml/2006/ole">
              <p:oleObj spid="_x0000_s205827" name="公式" r:id="rId5" imgW="1269720" imgH="177480" progId="">
                <p:embed/>
              </p:oleObj>
            </a:graphicData>
          </a:graphic>
        </p:graphicFrame>
        <p:graphicFrame>
          <p:nvGraphicFramePr>
            <p:cNvPr id="14340" name="Object 9"/>
            <p:cNvGraphicFramePr>
              <a:graphicFrameLocks noChangeAspect="1"/>
            </p:cNvGraphicFramePr>
            <p:nvPr/>
          </p:nvGraphicFramePr>
          <p:xfrm>
            <a:off x="469" y="2682"/>
            <a:ext cx="1613" cy="226"/>
          </p:xfrm>
          <a:graphic>
            <a:graphicData uri="http://schemas.openxmlformats.org/presentationml/2006/ole">
              <p:oleObj spid="_x0000_s205828" name="公式" r:id="rId6" imgW="1269720" imgH="177480" progId="">
                <p:embed/>
              </p:oleObj>
            </a:graphicData>
          </a:graphic>
        </p:graphicFrame>
        <p:graphicFrame>
          <p:nvGraphicFramePr>
            <p:cNvPr id="14341" name="Object 10"/>
            <p:cNvGraphicFramePr>
              <a:graphicFrameLocks noChangeAspect="1"/>
            </p:cNvGraphicFramePr>
            <p:nvPr/>
          </p:nvGraphicFramePr>
          <p:xfrm>
            <a:off x="469" y="2962"/>
            <a:ext cx="1631" cy="226"/>
          </p:xfrm>
          <a:graphic>
            <a:graphicData uri="http://schemas.openxmlformats.org/presentationml/2006/ole">
              <p:oleObj spid="_x0000_s205829" name="公式" r:id="rId7" imgW="1282680" imgH="177480" progId="">
                <p:embed/>
              </p:oleObj>
            </a:graphicData>
          </a:graphic>
        </p:graphicFrame>
        <p:graphicFrame>
          <p:nvGraphicFramePr>
            <p:cNvPr id="14342" name="Object 11"/>
            <p:cNvGraphicFramePr>
              <a:graphicFrameLocks noChangeAspect="1"/>
            </p:cNvGraphicFramePr>
            <p:nvPr/>
          </p:nvGraphicFramePr>
          <p:xfrm>
            <a:off x="2336" y="2096"/>
            <a:ext cx="2149" cy="251"/>
          </p:xfrm>
          <a:graphic>
            <a:graphicData uri="http://schemas.openxmlformats.org/presentationml/2006/ole">
              <p:oleObj spid="_x0000_s205830" name="公式" r:id="rId8" imgW="1739880" imgH="203040" progId="">
                <p:embed/>
              </p:oleObj>
            </a:graphicData>
          </a:graphic>
        </p:graphicFrame>
        <p:graphicFrame>
          <p:nvGraphicFramePr>
            <p:cNvPr id="14343" name="Object 12"/>
            <p:cNvGraphicFramePr>
              <a:graphicFrameLocks noChangeAspect="1"/>
            </p:cNvGraphicFramePr>
            <p:nvPr/>
          </p:nvGraphicFramePr>
          <p:xfrm>
            <a:off x="2339" y="2355"/>
            <a:ext cx="2195" cy="251"/>
          </p:xfrm>
          <a:graphic>
            <a:graphicData uri="http://schemas.openxmlformats.org/presentationml/2006/ole">
              <p:oleObj spid="_x0000_s205831" name="公式" r:id="rId9" imgW="1777680" imgH="203040" progId="">
                <p:embed/>
              </p:oleObj>
            </a:graphicData>
          </a:graphic>
        </p:graphicFrame>
        <p:graphicFrame>
          <p:nvGraphicFramePr>
            <p:cNvPr id="14344" name="Object 13"/>
            <p:cNvGraphicFramePr>
              <a:graphicFrameLocks noChangeAspect="1"/>
            </p:cNvGraphicFramePr>
            <p:nvPr/>
          </p:nvGraphicFramePr>
          <p:xfrm>
            <a:off x="2349" y="2656"/>
            <a:ext cx="2196" cy="251"/>
          </p:xfrm>
          <a:graphic>
            <a:graphicData uri="http://schemas.openxmlformats.org/presentationml/2006/ole">
              <p:oleObj spid="_x0000_s205832" name="公式" r:id="rId10" imgW="1777680" imgH="203040" progId="">
                <p:embed/>
              </p:oleObj>
            </a:graphicData>
          </a:graphic>
        </p:graphicFrame>
        <p:graphicFrame>
          <p:nvGraphicFramePr>
            <p:cNvPr id="14345" name="Object 14"/>
            <p:cNvGraphicFramePr>
              <a:graphicFrameLocks noChangeAspect="1"/>
            </p:cNvGraphicFramePr>
            <p:nvPr/>
          </p:nvGraphicFramePr>
          <p:xfrm>
            <a:off x="2347" y="2950"/>
            <a:ext cx="2197" cy="251"/>
          </p:xfrm>
          <a:graphic>
            <a:graphicData uri="http://schemas.openxmlformats.org/presentationml/2006/ole">
              <p:oleObj spid="_x0000_s205833" name="公式" r:id="rId11" imgW="1777680" imgH="203040" progId="">
                <p:embed/>
              </p:oleObj>
            </a:graphicData>
          </a:graphic>
        </p:graphicFrame>
      </p:grpSp>
      <p:sp>
        <p:nvSpPr>
          <p:cNvPr id="342031" name="Text Box 15"/>
          <p:cNvSpPr txBox="1">
            <a:spLocks noChangeArrowheads="1"/>
          </p:cNvSpPr>
          <p:nvPr/>
        </p:nvSpPr>
        <p:spPr bwMode="auto">
          <a:xfrm>
            <a:off x="847725" y="3788569"/>
            <a:ext cx="54006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zh-CN" altLang="en-US" sz="1400" b="1" dirty="0"/>
              <a:t>：</a:t>
            </a:r>
            <a:r>
              <a:rPr lang="zh-CN" altLang="en-US" sz="1400" b="1" dirty="0">
                <a:ea typeface="华文中宋" pitchFamily="2" charset="-122"/>
              </a:rPr>
              <a:t>进位产生变量</a:t>
            </a:r>
            <a:r>
              <a:rPr lang="zh-CN" altLang="en-US" sz="1400" b="1" dirty="0"/>
              <a:t> </a:t>
            </a: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/>
              <a:t> =</a:t>
            </a:r>
            <a:r>
              <a:rPr lang="en-US" altLang="zh-CN" sz="1400" b="1" dirty="0" err="1"/>
              <a:t>A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 err="1"/>
              <a:t>B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/>
              <a:t> 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47725" y="4220768"/>
            <a:ext cx="5400675" cy="308372"/>
            <a:chOff x="499" y="3748"/>
            <a:chExt cx="3402" cy="259"/>
          </a:xfrm>
        </p:grpSpPr>
        <p:sp>
          <p:nvSpPr>
            <p:cNvPr id="14358" name="Text Box 17"/>
            <p:cNvSpPr txBox="1">
              <a:spLocks noChangeArrowheads="1"/>
            </p:cNvSpPr>
            <p:nvPr/>
          </p:nvSpPr>
          <p:spPr bwMode="auto">
            <a:xfrm>
              <a:off x="499" y="3748"/>
              <a:ext cx="340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P</a:t>
              </a:r>
              <a:r>
                <a:rPr lang="en-US" altLang="zh-CN" sz="1400" b="1" baseline="-2000" dirty="0"/>
                <a:t>i</a:t>
              </a:r>
              <a:r>
                <a:rPr lang="zh-CN" altLang="en-US" sz="1400" b="1" dirty="0"/>
                <a:t>：</a:t>
              </a:r>
              <a:r>
                <a:rPr lang="zh-CN" altLang="en-US" sz="1400" b="1" dirty="0">
                  <a:ea typeface="华文中宋" pitchFamily="2" charset="-122"/>
                </a:rPr>
                <a:t>进位传递变量</a:t>
              </a:r>
              <a:r>
                <a:rPr lang="zh-CN" altLang="en-US" sz="1400" b="1" dirty="0"/>
                <a:t>  </a:t>
              </a:r>
              <a:r>
                <a:rPr lang="en-US" altLang="zh-CN" sz="1400" b="1" dirty="0"/>
                <a:t>P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=A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    B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 </a:t>
              </a:r>
            </a:p>
          </p:txBody>
        </p:sp>
        <p:sp>
          <p:nvSpPr>
            <p:cNvPr id="14359" name="AutoShape 18"/>
            <p:cNvSpPr>
              <a:spLocks noChangeArrowheads="1"/>
            </p:cNvSpPr>
            <p:nvPr/>
          </p:nvSpPr>
          <p:spPr bwMode="auto">
            <a:xfrm>
              <a:off x="1781" y="3815"/>
              <a:ext cx="75" cy="137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</p:grpSp>
      <p:sp>
        <p:nvSpPr>
          <p:cNvPr id="342035" name="AutoShape 19"/>
          <p:cNvSpPr>
            <a:spLocks/>
          </p:cNvSpPr>
          <p:nvPr/>
        </p:nvSpPr>
        <p:spPr bwMode="auto">
          <a:xfrm>
            <a:off x="3352800" y="3777853"/>
            <a:ext cx="71437" cy="775097"/>
          </a:xfrm>
          <a:prstGeom prst="rightBrace">
            <a:avLst>
              <a:gd name="adj1" fmla="val 12055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42036" name="Text Box 20"/>
          <p:cNvSpPr txBox="1">
            <a:spLocks noChangeArrowheads="1"/>
          </p:cNvSpPr>
          <p:nvPr/>
        </p:nvSpPr>
        <p:spPr bwMode="auto">
          <a:xfrm>
            <a:off x="3449639" y="4030729"/>
            <a:ext cx="3595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zh-CN" altLang="en-US" sz="1400" b="1" dirty="0">
                <a:ea typeface="华文中宋" pitchFamily="2" charset="-122"/>
              </a:rPr>
              <a:t>和</a:t>
            </a:r>
            <a:r>
              <a:rPr lang="en-US" altLang="zh-CN" sz="1400" b="1" dirty="0"/>
              <a:t>P</a:t>
            </a:r>
            <a:r>
              <a:rPr lang="en-US" altLang="zh-CN" sz="1400" b="1" baseline="-2000" dirty="0"/>
              <a:t>i</a:t>
            </a:r>
            <a:r>
              <a:rPr lang="zh-CN" altLang="en-US" sz="1400" b="1" dirty="0">
                <a:ea typeface="华文中宋" pitchFamily="2" charset="-122"/>
              </a:rPr>
              <a:t>仅与</a:t>
            </a:r>
            <a:r>
              <a:rPr lang="en-US" altLang="zh-CN" sz="1400" b="1" dirty="0"/>
              <a:t>A</a:t>
            </a:r>
            <a:r>
              <a:rPr lang="en-US" altLang="zh-CN" sz="1400" b="1" baseline="-2000" dirty="0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B</a:t>
            </a:r>
            <a:r>
              <a:rPr lang="en-US" altLang="zh-CN" sz="1400" b="1" baseline="-2000" dirty="0"/>
              <a:t>i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相关 </a:t>
            </a:r>
          </a:p>
        </p:txBody>
      </p:sp>
      <p:sp>
        <p:nvSpPr>
          <p:cNvPr id="342037" name="Oval 21"/>
          <p:cNvSpPr>
            <a:spLocks noChangeArrowheads="1"/>
          </p:cNvSpPr>
          <p:nvPr/>
        </p:nvSpPr>
        <p:spPr bwMode="auto">
          <a:xfrm>
            <a:off x="2971800" y="2190750"/>
            <a:ext cx="533400" cy="1391841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42038" name="Line 22"/>
          <p:cNvSpPr>
            <a:spLocks noChangeShapeType="1"/>
          </p:cNvSpPr>
          <p:nvPr/>
        </p:nvSpPr>
        <p:spPr bwMode="auto">
          <a:xfrm>
            <a:off x="3581400" y="2571750"/>
            <a:ext cx="77628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42039" name="Line 23"/>
          <p:cNvSpPr>
            <a:spLocks noChangeShapeType="1"/>
          </p:cNvSpPr>
          <p:nvPr/>
        </p:nvSpPr>
        <p:spPr bwMode="auto">
          <a:xfrm>
            <a:off x="4495800" y="2571750"/>
            <a:ext cx="996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  <p:bldP spid="342021" grpId="0"/>
      <p:bldP spid="342031" grpId="0"/>
      <p:bldP spid="342035" grpId="0" animBg="1"/>
      <p:bldP spid="342036" grpId="0"/>
      <p:bldP spid="342037" grpId="0" animBg="1"/>
      <p:bldP spid="342038" grpId="0" animBg="1"/>
      <p:bldP spid="3420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042" name="Object 2"/>
          <p:cNvGraphicFramePr>
            <a:graphicFrameLocks noChangeAspect="1"/>
          </p:cNvGraphicFramePr>
          <p:nvPr/>
        </p:nvGraphicFramePr>
        <p:xfrm flipV="1">
          <a:off x="271462" y="2570560"/>
          <a:ext cx="1786955" cy="218384"/>
        </p:xfrm>
        <a:graphic>
          <a:graphicData uri="http://schemas.openxmlformats.org/presentationml/2006/ole">
            <p:oleObj spid="_x0000_s206850" name="公式" r:id="rId3" imgW="1091880" imgH="177480" progId="">
              <p:embed/>
            </p:oleObj>
          </a:graphicData>
        </a:graphic>
      </p:graphicFrame>
      <p:graphicFrame>
        <p:nvGraphicFramePr>
          <p:cNvPr id="343043" name="Object 3"/>
          <p:cNvGraphicFramePr>
            <a:graphicFrameLocks noChangeAspect="1"/>
          </p:cNvGraphicFramePr>
          <p:nvPr/>
        </p:nvGraphicFramePr>
        <p:xfrm flipV="1">
          <a:off x="228600" y="3028950"/>
          <a:ext cx="4418193" cy="218384"/>
        </p:xfrm>
        <a:graphic>
          <a:graphicData uri="http://schemas.openxmlformats.org/presentationml/2006/ole">
            <p:oleObj spid="_x0000_s206851" name="公式" r:id="rId4" imgW="2705040" imgH="177480" progId="">
              <p:embed/>
            </p:oleObj>
          </a:graphicData>
        </a:graphic>
      </p:graphicFrame>
      <p:graphicFrame>
        <p:nvGraphicFramePr>
          <p:cNvPr id="343044" name="Object 4"/>
          <p:cNvGraphicFramePr>
            <a:graphicFrameLocks noChangeAspect="1"/>
          </p:cNvGraphicFramePr>
          <p:nvPr/>
        </p:nvGraphicFramePr>
        <p:xfrm flipV="1">
          <a:off x="184150" y="3488531"/>
          <a:ext cx="5976460" cy="218384"/>
        </p:xfrm>
        <a:graphic>
          <a:graphicData uri="http://schemas.openxmlformats.org/presentationml/2006/ole">
            <p:oleObj spid="_x0000_s206852" name="公式" r:id="rId5" imgW="3657600" imgH="177480" progId="">
              <p:embed/>
            </p:oleObj>
          </a:graphicData>
        </a:graphic>
      </p:graphicFrame>
      <p:graphicFrame>
        <p:nvGraphicFramePr>
          <p:cNvPr id="343045" name="Object 5"/>
          <p:cNvGraphicFramePr>
            <a:graphicFrameLocks noChangeAspect="1"/>
          </p:cNvGraphicFramePr>
          <p:nvPr/>
        </p:nvGraphicFramePr>
        <p:xfrm flipV="1">
          <a:off x="139699" y="3914002"/>
          <a:ext cx="7708901" cy="214394"/>
        </p:xfrm>
        <a:graphic>
          <a:graphicData uri="http://schemas.openxmlformats.org/presentationml/2006/ole">
            <p:oleObj spid="_x0000_s206853" name="公式" r:id="rId6" imgW="4813200" imgH="177480" progId="">
              <p:embed/>
            </p:oleObj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 flipV="1">
          <a:off x="457201" y="1045057"/>
          <a:ext cx="2832004" cy="241318"/>
        </p:xfrm>
        <a:graphic>
          <a:graphicData uri="http://schemas.openxmlformats.org/presentationml/2006/ole">
            <p:oleObj spid="_x0000_s206854" name="公式" r:id="rId7" imgW="1777680" imgH="203040" progId="">
              <p:embed/>
            </p:oleObj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 flipV="1">
          <a:off x="4164014" y="1046053"/>
          <a:ext cx="2832004" cy="240322"/>
        </p:xfrm>
        <a:graphic>
          <a:graphicData uri="http://schemas.openxmlformats.org/presentationml/2006/ole">
            <p:oleObj spid="_x0000_s206855" name="公式" r:id="rId8" imgW="1777680" imgH="203040" progId="">
              <p:embed/>
            </p:oleObj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 flipV="1">
          <a:off x="423862" y="1466344"/>
          <a:ext cx="2891835" cy="240321"/>
        </p:xfrm>
        <a:graphic>
          <a:graphicData uri="http://schemas.openxmlformats.org/presentationml/2006/ole">
            <p:oleObj spid="_x0000_s206856" name="公式" r:id="rId9" imgW="1815840" imgH="203040" progId="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 flipV="1">
          <a:off x="4202112" y="1465348"/>
          <a:ext cx="2833333" cy="241318"/>
        </p:xfrm>
        <a:graphic>
          <a:graphicData uri="http://schemas.openxmlformats.org/presentationml/2006/ole">
            <p:oleObj spid="_x0000_s206857" name="公式" r:id="rId10" imgW="1777680" imgH="203040" progId="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429000" y="1885950"/>
            <a:ext cx="2816225" cy="427435"/>
            <a:chOff x="576" y="1195"/>
            <a:chExt cx="1774" cy="359"/>
          </a:xfrm>
        </p:grpSpPr>
        <p:sp>
          <p:nvSpPr>
            <p:cNvPr id="15373" name="Text Box 11"/>
            <p:cNvSpPr txBox="1">
              <a:spLocks noChangeArrowheads="1"/>
            </p:cNvSpPr>
            <p:nvPr/>
          </p:nvSpPr>
          <p:spPr bwMode="auto">
            <a:xfrm>
              <a:off x="737" y="1195"/>
              <a:ext cx="1613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/>
                <a:t> </a:t>
              </a:r>
              <a:r>
                <a:rPr lang="zh-CN" altLang="en-US" sz="1600" b="1" dirty="0">
                  <a:ea typeface="黑体" pitchFamily="49" charset="-122"/>
                </a:rPr>
                <a:t>由</a:t>
              </a:r>
              <a:r>
                <a:rPr lang="en-US" altLang="zh-CN" sz="1600" b="1" dirty="0" err="1"/>
                <a:t>G</a:t>
              </a:r>
              <a:r>
                <a:rPr lang="en-US" altLang="zh-CN" sz="1600" b="1" baseline="-2000" dirty="0" err="1"/>
                <a:t>i</a:t>
              </a:r>
              <a:r>
                <a:rPr lang="zh-CN" altLang="en-US" sz="1600" b="1" dirty="0">
                  <a:ea typeface="黑体" pitchFamily="49" charset="-122"/>
                </a:rPr>
                <a:t>和</a:t>
              </a:r>
              <a:r>
                <a:rPr lang="en-US" altLang="zh-CN" sz="1600" b="1" dirty="0"/>
                <a:t>P</a:t>
              </a:r>
              <a:r>
                <a:rPr lang="en-US" altLang="zh-CN" sz="1600" b="1" baseline="-2000" dirty="0"/>
                <a:t>i</a:t>
              </a:r>
              <a:r>
                <a:rPr lang="en-US" altLang="zh-CN" sz="1600" b="1" dirty="0"/>
                <a:t> </a:t>
              </a:r>
            </a:p>
          </p:txBody>
        </p:sp>
        <p:sp>
          <p:nvSpPr>
            <p:cNvPr id="15374" name="AutoShape 12"/>
            <p:cNvSpPr>
              <a:spLocks noChangeArrowheads="1"/>
            </p:cNvSpPr>
            <p:nvPr/>
          </p:nvSpPr>
          <p:spPr bwMode="auto">
            <a:xfrm>
              <a:off x="576" y="1227"/>
              <a:ext cx="144" cy="327"/>
            </a:xfrm>
            <a:prstGeom prst="downArrow">
              <a:avLst>
                <a:gd name="adj1" fmla="val 50000"/>
                <a:gd name="adj2" fmla="val 37673"/>
              </a:avLst>
            </a:prstGeom>
            <a:solidFill>
              <a:schemeClr val="accent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超前进位加法器的延迟时间</a:t>
            </a: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3276600" y="45529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123950"/>
            <a:ext cx="698066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74LS283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的逻辑结构示意图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8906" name="Picture 10" descr="C:\Users\hfutliujun\AppData\Roaming\Tencent\Users\350654676\QQ\WinTemp\RichOle\11M~8VXVSO6QGA~_A3K4V`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971549"/>
            <a:ext cx="2971800" cy="3581621"/>
          </a:xfrm>
          <a:prstGeom prst="rect">
            <a:avLst/>
          </a:prstGeom>
          <a:noFill/>
        </p:spPr>
      </p:pic>
      <p:sp>
        <p:nvSpPr>
          <p:cNvPr id="17" name="Text Box 46"/>
          <p:cNvSpPr txBox="1">
            <a:spLocks noChangeArrowheads="1"/>
          </p:cNvSpPr>
          <p:nvPr/>
        </p:nvSpPr>
        <p:spPr bwMode="auto">
          <a:xfrm>
            <a:off x="3429000" y="45529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74LS283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8906" name="Picture 10" descr="C:\Users\hfutliujun\AppData\Roaming\Tencent\Users\350654676\QQ\WinTemp\RichOle\11M~8VXVSO6QGA~_A3K4V`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895350"/>
            <a:ext cx="2971800" cy="3581621"/>
          </a:xfrm>
          <a:prstGeom prst="rect">
            <a:avLst/>
          </a:prstGeom>
          <a:noFill/>
        </p:spPr>
      </p:pic>
      <p:sp>
        <p:nvSpPr>
          <p:cNvPr id="17" name="Text Box 46"/>
          <p:cNvSpPr txBox="1">
            <a:spLocks noChangeArrowheads="1"/>
          </p:cNvSpPr>
          <p:nvPr/>
        </p:nvSpPr>
        <p:spPr bwMode="auto">
          <a:xfrm>
            <a:off x="1219200" y="4552950"/>
            <a:ext cx="19383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6 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逻辑结构示意图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4191000" y="1657350"/>
            <a:ext cx="3760787" cy="1644253"/>
            <a:chOff x="952" y="3158"/>
            <a:chExt cx="2155" cy="102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952" y="3294"/>
              <a:ext cx="2155" cy="7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952" y="3305"/>
              <a:ext cx="2155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 S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S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S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S</a:t>
              </a:r>
              <a:r>
                <a:rPr lang="en-US" altLang="zh-CN" sz="2000" b="1" baseline="-5000"/>
                <a:t>1</a:t>
              </a:r>
              <a:r>
                <a:rPr lang="en-US" altLang="zh-CN" sz="2000" b="1"/>
                <a:t>                  CO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952" y="3816"/>
              <a:ext cx="2155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A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A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A</a:t>
              </a:r>
              <a:r>
                <a:rPr lang="en-US" altLang="zh-CN" sz="2000" b="1" baseline="-5000"/>
                <a:t>1</a:t>
              </a:r>
              <a:r>
                <a:rPr lang="en-US" altLang="zh-CN" sz="2000" b="1"/>
                <a:t>    CI   B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565" y="3566"/>
              <a:ext cx="1156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74LS283</a:t>
              </a: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1179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108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1405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1570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 flipV="1">
              <a:off x="2721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 flipV="1">
              <a:off x="1791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V="1">
              <a:off x="1723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 flipV="1">
              <a:off x="1292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V="1">
              <a:off x="1497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2494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2730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 flipV="1">
              <a:off x="294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 flipV="1">
              <a:off x="226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 flipV="1">
              <a:off x="201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Text Box 46"/>
          <p:cNvSpPr txBox="1">
            <a:spLocks noChangeArrowheads="1"/>
          </p:cNvSpPr>
          <p:nvPr/>
        </p:nvSpPr>
        <p:spPr bwMode="auto">
          <a:xfrm>
            <a:off x="5791200" y="3486150"/>
            <a:ext cx="9877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7 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框图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52399" y="907257"/>
            <a:ext cx="3600450" cy="660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例：设计一个能将</a:t>
            </a:r>
            <a:r>
              <a:rPr kumimoji="1" lang="en-US" altLang="zh-CN" sz="1400" b="1" dirty="0">
                <a:latin typeface="Times New Roman" pitchFamily="18" charset="0"/>
              </a:rPr>
              <a:t>BCD</a:t>
            </a:r>
            <a:r>
              <a:rPr kumimoji="1" lang="zh-CN" altLang="en-US" sz="1400" b="1" dirty="0">
                <a:latin typeface="Times New Roman" pitchFamily="18" charset="0"/>
              </a:rPr>
              <a:t>码转换为余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码的代码转换器</a:t>
            </a:r>
          </a:p>
        </p:txBody>
      </p:sp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4724400" y="1047750"/>
          <a:ext cx="3981450" cy="3511550"/>
        </p:xfrm>
        <a:graphic>
          <a:graphicData uri="http://schemas.openxmlformats.org/presentationml/2006/ole">
            <p:oleObj spid="_x0000_s220162" name="Document" r:id="rId3" imgW="3262384" imgH="2900062" progId="Word.Document.8">
              <p:embed/>
            </p:oleObj>
          </a:graphicData>
        </a:graphic>
      </p:graphicFrame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152400" y="1733550"/>
            <a:ext cx="4100513" cy="129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分析：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由余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码与</a:t>
            </a:r>
            <a:r>
              <a:rPr kumimoji="1" lang="en-US" altLang="zh-CN" sz="1400" b="1" dirty="0">
                <a:latin typeface="Times New Roman" pitchFamily="18" charset="0"/>
              </a:rPr>
              <a:t>BCD</a:t>
            </a:r>
            <a:r>
              <a:rPr kumimoji="1" lang="zh-CN" altLang="en-US" sz="1400" b="1" dirty="0">
                <a:latin typeface="Times New Roman" pitchFamily="18" charset="0"/>
              </a:rPr>
              <a:t>码的代码表可知，余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码的</a:t>
            </a:r>
            <a:r>
              <a:rPr kumimoji="1" lang="zh-CN" altLang="zh-CN" sz="1400" b="1" dirty="0">
                <a:latin typeface="Times New Roman" pitchFamily="18" charset="0"/>
              </a:rPr>
              <a:t>函数表达式</a:t>
            </a:r>
            <a:r>
              <a:rPr kumimoji="1" lang="zh-CN" altLang="en-US" sz="1400" b="1" dirty="0">
                <a:latin typeface="Times New Roman" pitchFamily="18" charset="0"/>
              </a:rPr>
              <a:t>为：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400" b="1" dirty="0">
                <a:latin typeface="Times New Roman" pitchFamily="18" charset="0"/>
              </a:rPr>
              <a:t>Y</a:t>
            </a:r>
            <a:r>
              <a:rPr kumimoji="1" lang="en-US" altLang="zh-CN" sz="1400" b="1" baseline="-25000" dirty="0">
                <a:latin typeface="Times New Roman" pitchFamily="18" charset="0"/>
              </a:rPr>
              <a:t>3</a:t>
            </a:r>
            <a:r>
              <a:rPr kumimoji="1" lang="en-US" altLang="zh-CN" sz="1400" b="1" dirty="0">
                <a:latin typeface="Times New Roman" pitchFamily="18" charset="0"/>
              </a:rPr>
              <a:t>Y</a:t>
            </a:r>
            <a:r>
              <a:rPr kumimoji="1" lang="en-US" altLang="zh-CN" sz="1400" b="1" baseline="-25000" dirty="0">
                <a:latin typeface="Times New Roman" pitchFamily="18" charset="0"/>
              </a:rPr>
              <a:t>2</a:t>
            </a:r>
            <a:r>
              <a:rPr kumimoji="1" lang="en-US" altLang="zh-CN" sz="1400" b="1" dirty="0">
                <a:latin typeface="Times New Roman" pitchFamily="18" charset="0"/>
              </a:rPr>
              <a:t>Y</a:t>
            </a:r>
            <a:r>
              <a:rPr kumimoji="1" lang="en-US" altLang="zh-CN" sz="1400" b="1" baseline="-25000" dirty="0">
                <a:latin typeface="Times New Roman" pitchFamily="18" charset="0"/>
              </a:rPr>
              <a:t>1</a:t>
            </a:r>
            <a:r>
              <a:rPr kumimoji="1" lang="en-US" altLang="zh-CN" sz="1400" b="1" dirty="0">
                <a:latin typeface="Times New Roman" pitchFamily="18" charset="0"/>
              </a:rPr>
              <a:t>Y</a:t>
            </a:r>
            <a:r>
              <a:rPr kumimoji="1" lang="en-US" altLang="zh-CN" sz="1400" b="1" baseline="-25000" dirty="0">
                <a:latin typeface="Times New Roman" pitchFamily="18" charset="0"/>
              </a:rPr>
              <a:t>0</a:t>
            </a:r>
            <a:r>
              <a:rPr kumimoji="1" lang="en-US" altLang="zh-CN" sz="1400" b="1" dirty="0">
                <a:latin typeface="Times New Roman" pitchFamily="18" charset="0"/>
              </a:rPr>
              <a:t>=DCBA+0011</a:t>
            </a:r>
          </a:p>
        </p:txBody>
      </p:sp>
      <p:sp>
        <p:nvSpPr>
          <p:cNvPr id="32" name="Text Box 72"/>
          <p:cNvSpPr txBox="1">
            <a:spLocks noChangeArrowheads="1"/>
          </p:cNvSpPr>
          <p:nvPr/>
        </p:nvSpPr>
        <p:spPr bwMode="auto">
          <a:xfrm>
            <a:off x="5562600" y="742950"/>
            <a:ext cx="19812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3 BCD </a:t>
            </a:r>
            <a:r>
              <a:rPr lang="zh-CN" altLang="en-US" sz="1400" b="1" dirty="0" smtClean="0"/>
              <a:t>码和余</a:t>
            </a:r>
            <a:r>
              <a:rPr lang="en-US" altLang="zh-CN" sz="1400" b="1" dirty="0" smtClean="0"/>
              <a:t>3</a:t>
            </a:r>
            <a:r>
              <a:rPr lang="zh-CN" altLang="en-US" sz="1400" b="1" dirty="0" smtClean="0"/>
              <a:t>码</a:t>
            </a:r>
            <a:endParaRPr lang="en-US" altLang="zh-CN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52399" y="907257"/>
            <a:ext cx="3600450" cy="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例：设计一个能将</a:t>
            </a:r>
            <a:r>
              <a:rPr kumimoji="1" lang="en-US" altLang="zh-CN" sz="1400" b="1" dirty="0">
                <a:latin typeface="Times New Roman" pitchFamily="18" charset="0"/>
              </a:rPr>
              <a:t>BCD</a:t>
            </a:r>
            <a:r>
              <a:rPr kumimoji="1" lang="zh-CN" altLang="en-US" sz="1400" b="1" dirty="0">
                <a:latin typeface="Times New Roman" pitchFamily="18" charset="0"/>
              </a:rPr>
              <a:t>码转换为余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码的</a:t>
            </a:r>
            <a:r>
              <a:rPr kumimoji="1" lang="zh-CN" altLang="en-US" sz="1400" b="1" dirty="0" smtClean="0">
                <a:latin typeface="Times New Roman" pitchFamily="18" charset="0"/>
              </a:rPr>
              <a:t>代 码</a:t>
            </a:r>
            <a:r>
              <a:rPr kumimoji="1" lang="zh-CN" altLang="en-US" sz="1400" b="1" dirty="0">
                <a:latin typeface="Times New Roman" pitchFamily="18" charset="0"/>
              </a:rPr>
              <a:t>转换器</a:t>
            </a:r>
          </a:p>
        </p:txBody>
      </p:sp>
      <p:grpSp>
        <p:nvGrpSpPr>
          <p:cNvPr id="8" name="Group 2"/>
          <p:cNvGrpSpPr>
            <a:grpSpLocks/>
          </p:cNvGrpSpPr>
          <p:nvPr/>
        </p:nvGrpSpPr>
        <p:grpSpPr bwMode="auto">
          <a:xfrm rot="5400000">
            <a:off x="3588345" y="864196"/>
            <a:ext cx="3651647" cy="3382963"/>
            <a:chOff x="1923" y="29"/>
            <a:chExt cx="3067" cy="2131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 rot="-5400000">
              <a:off x="2338" y="447"/>
              <a:ext cx="2131" cy="12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400" b="1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 rot="-5400000">
              <a:off x="3045" y="1071"/>
              <a:ext cx="88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zh-CN" altLang="en-US" sz="1400" b="1" dirty="0" smtClean="0">
                  <a:latin typeface="Times New Roman" pitchFamily="18" charset="0"/>
                </a:rPr>
                <a:t>      四</a:t>
              </a:r>
              <a:r>
                <a:rPr kumimoji="1" lang="zh-CN" altLang="en-US" sz="1400" b="1" dirty="0">
                  <a:latin typeface="Times New Roman" pitchFamily="18" charset="0"/>
                </a:rPr>
                <a:t>位全加器</a:t>
              </a:r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 rot="-5400000">
              <a:off x="3838" y="23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 rot="-5400000">
              <a:off x="4739" y="162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 rot="-5400000">
              <a:off x="4711" y="1364"/>
              <a:ext cx="281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 rot="-5400000">
              <a:off x="4709" y="1174"/>
              <a:ext cx="236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 rot="16200000">
              <a:off x="4803" y="420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1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8" name="Oval 10"/>
            <p:cNvSpPr>
              <a:spLocks noChangeArrowheads="1"/>
            </p:cNvSpPr>
            <p:nvPr/>
          </p:nvSpPr>
          <p:spPr bwMode="auto">
            <a:xfrm rot="-5400000">
              <a:off x="4340" y="550"/>
              <a:ext cx="48" cy="5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 rot="-5400000">
              <a:off x="4340" y="1030"/>
              <a:ext cx="48" cy="5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 rot="-5400000">
              <a:off x="3829" y="1214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 rot="-5400000">
              <a:off x="3821" y="146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 rot="-5400000">
              <a:off x="3803" y="167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 rot="-5400000">
              <a:off x="4379" y="1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rot="-5400000">
              <a:off x="4379" y="17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 rot="-5400000">
              <a:off x="4379" y="15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 rot="-5400000">
              <a:off x="4379" y="127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 rot="-5400000">
              <a:off x="3803" y="191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 rot="-5400000">
              <a:off x="3829" y="205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3" name="Text Box 21"/>
            <p:cNvSpPr txBox="1">
              <a:spLocks noChangeArrowheads="1"/>
            </p:cNvSpPr>
            <p:nvPr/>
          </p:nvSpPr>
          <p:spPr bwMode="auto">
            <a:xfrm rot="-5400000">
              <a:off x="3821" y="45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 rot="-5400000">
              <a:off x="3803" y="71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 rot="-5400000">
              <a:off x="4216" y="181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 rot="-5400000">
              <a:off x="4379" y="74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 rot="-5400000">
              <a:off x="4219" y="663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 rot="-5400000">
              <a:off x="4379" y="26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 rot="-5400000">
              <a:off x="3803" y="95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" name="Text Box 28"/>
            <p:cNvSpPr txBox="1">
              <a:spLocks noChangeArrowheads="1"/>
            </p:cNvSpPr>
            <p:nvPr/>
          </p:nvSpPr>
          <p:spPr bwMode="auto">
            <a:xfrm rot="16200000">
              <a:off x="4803" y="899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0</a:t>
              </a:r>
              <a:endParaRPr kumimoji="1" lang="en-US" altLang="zh-CN" sz="1400" b="1" baseline="-25000" dirty="0">
                <a:latin typeface="Times New Roman" pitchFamily="18" charset="0"/>
              </a:endParaRPr>
            </a:p>
          </p:txBody>
        </p:sp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 rot="16200000">
              <a:off x="4803" y="8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0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rot="-5400000">
              <a:off x="4351" y="-15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3" name="Line 31"/>
            <p:cNvSpPr>
              <a:spLocks noChangeShapeType="1"/>
            </p:cNvSpPr>
            <p:nvPr/>
          </p:nvSpPr>
          <p:spPr bwMode="auto">
            <a:xfrm rot="16200000" flipH="1">
              <a:off x="4248" y="45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4" name="Line 32"/>
            <p:cNvSpPr>
              <a:spLocks noChangeShapeType="1"/>
            </p:cNvSpPr>
            <p:nvPr/>
          </p:nvSpPr>
          <p:spPr bwMode="auto">
            <a:xfrm rot="16200000" flipH="1">
              <a:off x="4248" y="93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5" name="Text Box 33"/>
            <p:cNvSpPr txBox="1">
              <a:spLocks noChangeArrowheads="1"/>
            </p:cNvSpPr>
            <p:nvPr/>
          </p:nvSpPr>
          <p:spPr bwMode="auto">
            <a:xfrm rot="-5400000">
              <a:off x="2888" y="1795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6" name="Line 34"/>
            <p:cNvSpPr>
              <a:spLocks noChangeShapeType="1"/>
            </p:cNvSpPr>
            <p:nvPr/>
          </p:nvSpPr>
          <p:spPr bwMode="auto">
            <a:xfrm rot="-5400000">
              <a:off x="2462" y="162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7" name="Line 35"/>
            <p:cNvSpPr>
              <a:spLocks noChangeShapeType="1"/>
            </p:cNvSpPr>
            <p:nvPr/>
          </p:nvSpPr>
          <p:spPr bwMode="auto">
            <a:xfrm rot="-5400000">
              <a:off x="2462" y="109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8" name="Line 36"/>
            <p:cNvSpPr>
              <a:spLocks noChangeShapeType="1"/>
            </p:cNvSpPr>
            <p:nvPr/>
          </p:nvSpPr>
          <p:spPr bwMode="auto">
            <a:xfrm rot="-5400000">
              <a:off x="2462" y="727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 rot="-5400000">
              <a:off x="2462" y="35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0" name="Line 38"/>
            <p:cNvSpPr>
              <a:spLocks noChangeShapeType="1"/>
            </p:cNvSpPr>
            <p:nvPr/>
          </p:nvSpPr>
          <p:spPr bwMode="auto">
            <a:xfrm rot="-5400000">
              <a:off x="2462" y="-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 rot="-5400000">
              <a:off x="2893" y="157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2" name="Text Box 40"/>
            <p:cNvSpPr txBox="1">
              <a:spLocks noChangeArrowheads="1"/>
            </p:cNvSpPr>
            <p:nvPr/>
          </p:nvSpPr>
          <p:spPr bwMode="auto">
            <a:xfrm rot="-5400000">
              <a:off x="2885" y="51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3" name="Text Box 41"/>
            <p:cNvSpPr txBox="1">
              <a:spLocks noChangeArrowheads="1"/>
            </p:cNvSpPr>
            <p:nvPr/>
          </p:nvSpPr>
          <p:spPr bwMode="auto">
            <a:xfrm rot="-5400000">
              <a:off x="2867" y="885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4" name="Text Box 42"/>
            <p:cNvSpPr txBox="1">
              <a:spLocks noChangeArrowheads="1"/>
            </p:cNvSpPr>
            <p:nvPr/>
          </p:nvSpPr>
          <p:spPr bwMode="auto">
            <a:xfrm rot="-5400000">
              <a:off x="2867" y="1239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5" name="Text Box 43"/>
            <p:cNvSpPr txBox="1">
              <a:spLocks noChangeArrowheads="1"/>
            </p:cNvSpPr>
            <p:nvPr/>
          </p:nvSpPr>
          <p:spPr bwMode="auto">
            <a:xfrm rot="16200000">
              <a:off x="1958" y="103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6" name="Text Box 44"/>
            <p:cNvSpPr txBox="1">
              <a:spLocks noChangeArrowheads="1"/>
            </p:cNvSpPr>
            <p:nvPr/>
          </p:nvSpPr>
          <p:spPr bwMode="auto">
            <a:xfrm rot="16200000">
              <a:off x="1949" y="48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7" name="Text Box 45"/>
            <p:cNvSpPr txBox="1">
              <a:spLocks noChangeArrowheads="1"/>
            </p:cNvSpPr>
            <p:nvPr/>
          </p:nvSpPr>
          <p:spPr bwMode="auto">
            <a:xfrm rot="16200000">
              <a:off x="1932" y="86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8" name="Text Box 46"/>
            <p:cNvSpPr txBox="1">
              <a:spLocks noChangeArrowheads="1"/>
            </p:cNvSpPr>
            <p:nvPr/>
          </p:nvSpPr>
          <p:spPr bwMode="auto">
            <a:xfrm rot="16200000">
              <a:off x="1932" y="123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9" name="Text Box 47"/>
            <p:cNvSpPr txBox="1">
              <a:spLocks noChangeArrowheads="1"/>
            </p:cNvSpPr>
            <p:nvPr/>
          </p:nvSpPr>
          <p:spPr bwMode="auto">
            <a:xfrm rot="-5400000">
              <a:off x="4739" y="186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D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</p:grpSp>
      <p:sp>
        <p:nvSpPr>
          <p:cNvPr id="60" name="Oval 49"/>
          <p:cNvSpPr>
            <a:spLocks noChangeArrowheads="1"/>
          </p:cNvSpPr>
          <p:nvPr/>
        </p:nvSpPr>
        <p:spPr bwMode="auto">
          <a:xfrm>
            <a:off x="4648200" y="590550"/>
            <a:ext cx="2438400" cy="4572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1" name="Oval 50"/>
          <p:cNvSpPr>
            <a:spLocks noChangeArrowheads="1"/>
          </p:cNvSpPr>
          <p:nvPr/>
        </p:nvSpPr>
        <p:spPr bwMode="auto">
          <a:xfrm>
            <a:off x="3578225" y="3943350"/>
            <a:ext cx="172878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5257800" y="3409950"/>
            <a:ext cx="163353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7250111" y="947737"/>
            <a:ext cx="1296988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>
                <a:solidFill>
                  <a:srgbClr val="FF0000"/>
                </a:solidFill>
              </a:rPr>
              <a:t>余</a:t>
            </a:r>
            <a:r>
              <a:rPr lang="en-US" altLang="zh-CN" sz="1400" b="1">
                <a:solidFill>
                  <a:srgbClr val="FF0000"/>
                </a:solidFill>
              </a:rPr>
              <a:t>3</a:t>
            </a:r>
            <a:r>
              <a:rPr lang="zh-CN" altLang="en-US" sz="1400" b="1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4" name="Text Box 53"/>
          <p:cNvSpPr txBox="1">
            <a:spLocks noChangeArrowheads="1"/>
          </p:cNvSpPr>
          <p:nvPr/>
        </p:nvSpPr>
        <p:spPr bwMode="auto">
          <a:xfrm>
            <a:off x="6962775" y="3376613"/>
            <a:ext cx="1296987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>
                <a:solidFill>
                  <a:srgbClr val="FF0000"/>
                </a:solidFill>
              </a:rPr>
              <a:t>0011</a:t>
            </a:r>
          </a:p>
        </p:txBody>
      </p: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2819400" y="3900488"/>
            <a:ext cx="1296987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</a:rPr>
              <a:t>BCD</a:t>
            </a:r>
            <a:r>
              <a:rPr lang="zh-CN" altLang="en-US" sz="1400" b="1" dirty="0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4114800" y="4552950"/>
            <a:ext cx="28985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8 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用加法器实现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BCD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码转余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码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2209" name="Picture 1" descr="C:\Users\hfutliujun\AppData\Roaming\Tencent\Users\350654676\QQ\WinTemp\RichOle\%_$1$@K9]CMI[DTYC@WZIA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895350"/>
            <a:ext cx="4732803" cy="3581400"/>
          </a:xfrm>
          <a:prstGeom prst="rect">
            <a:avLst/>
          </a:prstGeom>
          <a:noFill/>
        </p:spPr>
      </p:pic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3276600" y="4552950"/>
            <a:ext cx="13468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9 </a:t>
            </a:r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投票系统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1047750"/>
            <a:ext cx="8610600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图备用例题：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09800" y="1428750"/>
            <a:ext cx="3537438" cy="2590800"/>
            <a:chOff x="1147" y="1003"/>
            <a:chExt cx="2556" cy="1872"/>
          </a:xfrm>
        </p:grpSpPr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202" y="1434"/>
              <a:ext cx="2041" cy="102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1147" y="1003"/>
              <a:ext cx="226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  a</a:t>
              </a:r>
              <a:r>
                <a:rPr lang="en-US" altLang="zh-CN" sz="1400" b="1" baseline="-5000" dirty="0" smtClean="0"/>
                <a:t>3</a:t>
              </a:r>
              <a:r>
                <a:rPr lang="en-US" altLang="zh-CN" sz="1400" b="1" dirty="0" smtClean="0"/>
                <a:t>   </a:t>
              </a:r>
              <a:r>
                <a:rPr lang="en-US" altLang="zh-CN" sz="1400" b="1" dirty="0"/>
                <a:t>b</a:t>
              </a:r>
              <a:r>
                <a:rPr lang="en-US" altLang="zh-CN" sz="1400" b="1" baseline="-5000" dirty="0"/>
                <a:t>3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a</a:t>
              </a:r>
              <a:r>
                <a:rPr lang="en-US" altLang="zh-CN" sz="1400" b="1" baseline="-5000" dirty="0" smtClean="0"/>
                <a:t>2</a:t>
              </a:r>
              <a:r>
                <a:rPr lang="en-US" altLang="zh-CN" sz="1400" b="1" dirty="0" smtClean="0"/>
                <a:t>    b</a:t>
              </a:r>
              <a:r>
                <a:rPr lang="en-US" altLang="zh-CN" sz="1400" b="1" baseline="-5000" dirty="0" smtClean="0"/>
                <a:t>2</a:t>
              </a:r>
              <a:r>
                <a:rPr lang="en-US" altLang="zh-CN" sz="1400" b="1" dirty="0" smtClean="0"/>
                <a:t>    a</a:t>
              </a:r>
              <a:r>
                <a:rPr lang="en-US" altLang="zh-CN" sz="1400" b="1" baseline="-5000" dirty="0" smtClean="0"/>
                <a:t>1</a:t>
              </a:r>
              <a:r>
                <a:rPr lang="en-US" altLang="zh-CN" sz="1400" b="1" dirty="0" smtClean="0"/>
                <a:t>   b</a:t>
              </a:r>
              <a:r>
                <a:rPr lang="en-US" altLang="zh-CN" sz="1400" b="1" baseline="-5000" dirty="0" smtClean="0"/>
                <a:t>1</a:t>
              </a:r>
              <a:r>
                <a:rPr lang="en-US" altLang="zh-CN" sz="1400" b="1" dirty="0" smtClean="0"/>
                <a:t>   a</a:t>
              </a:r>
              <a:r>
                <a:rPr lang="en-US" altLang="zh-CN" sz="1400" b="1" baseline="-5000" dirty="0" smtClean="0"/>
                <a:t>0</a:t>
              </a:r>
              <a:r>
                <a:rPr lang="en-US" altLang="zh-CN" sz="1400" b="1" dirty="0" smtClean="0"/>
                <a:t>   b</a:t>
              </a:r>
              <a:r>
                <a:rPr lang="en-US" altLang="zh-CN" sz="1400" b="1" baseline="-5000" dirty="0" smtClean="0"/>
                <a:t>0 </a:t>
              </a:r>
              <a:r>
                <a:rPr lang="en-US" altLang="zh-CN" sz="1400" b="1" dirty="0" smtClean="0"/>
                <a:t> </a:t>
              </a:r>
              <a:endParaRPr lang="en-US" altLang="zh-CN" sz="1400" b="1" dirty="0"/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1791" y="1774"/>
              <a:ext cx="70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74LS85 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1451" y="2205"/>
              <a:ext cx="17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 &gt;B     A=B     A&lt;B  </a:t>
              </a: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3202" y="1333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a&gt;b   </a:t>
              </a: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3204" y="1719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a=b </a:t>
              </a:r>
              <a:r>
                <a:rPr lang="en-US" altLang="zh-CN" sz="1400" dirty="0"/>
                <a:t>  </a:t>
              </a:r>
            </a:p>
          </p:txBody>
        </p:sp>
        <p:sp>
          <p:nvSpPr>
            <p:cNvPr id="41" name="Text Box 14"/>
            <p:cNvSpPr txBox="1">
              <a:spLocks noChangeArrowheads="1"/>
            </p:cNvSpPr>
            <p:nvPr/>
          </p:nvSpPr>
          <p:spPr bwMode="auto">
            <a:xfrm>
              <a:off x="3192" y="2128"/>
              <a:ext cx="499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a&lt;b</a:t>
              </a:r>
              <a:r>
                <a:rPr lang="en-US" altLang="zh-CN" sz="1400" dirty="0"/>
                <a:t>   </a:t>
              </a:r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1568" y="2653"/>
              <a:ext cx="1836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L</a:t>
              </a:r>
              <a:r>
                <a:rPr lang="en-US" altLang="zh-CN" sz="1400" b="1" baseline="-25000" dirty="0"/>
                <a:t>1</a:t>
              </a:r>
              <a:r>
                <a:rPr lang="en-US" altLang="zh-CN" sz="1400" b="1" dirty="0"/>
                <a:t>        </a:t>
              </a:r>
              <a:r>
                <a:rPr lang="en-US" altLang="zh-CN" sz="1400" b="1" dirty="0" smtClean="0"/>
                <a:t>    </a:t>
              </a:r>
              <a:r>
                <a:rPr lang="en-US" altLang="zh-CN" sz="1400" b="1" dirty="0"/>
                <a:t>L</a:t>
              </a:r>
              <a:r>
                <a:rPr lang="en-US" altLang="zh-CN" sz="1400" b="1" baseline="-25000" dirty="0"/>
                <a:t>3</a:t>
              </a:r>
              <a:r>
                <a:rPr lang="en-US" altLang="zh-CN" sz="1400" b="1" dirty="0"/>
                <a:t>         </a:t>
              </a:r>
              <a:r>
                <a:rPr lang="en-US" altLang="zh-CN" sz="1400" b="1" dirty="0" smtClean="0"/>
                <a:t>    </a:t>
              </a:r>
              <a:r>
                <a:rPr lang="en-US" altLang="zh-CN" sz="1400" b="1" dirty="0"/>
                <a:t>L</a:t>
              </a:r>
              <a:r>
                <a:rPr lang="en-US" altLang="zh-CN" sz="1400" b="1" baseline="-25000" dirty="0"/>
                <a:t>2</a:t>
              </a:r>
              <a:endParaRPr lang="en-US" altLang="zh-CN" sz="1400" b="1" dirty="0"/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 flipV="1">
              <a:off x="1338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 flipV="1">
              <a:off x="1564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 flipV="1">
              <a:off x="1798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 flipV="1">
              <a:off x="2041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V="1">
              <a:off x="2290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V="1">
              <a:off x="2540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 flipV="1">
              <a:off x="2789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 flipV="1">
              <a:off x="2993" y="1253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 flipV="1">
              <a:off x="2789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 flipV="1">
              <a:off x="2200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 flipV="1">
              <a:off x="1669" y="245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3255" y="1570"/>
              <a:ext cx="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3242" y="1934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6" name="Line 29"/>
            <p:cNvSpPr>
              <a:spLocks noChangeShapeType="1"/>
            </p:cNvSpPr>
            <p:nvPr/>
          </p:nvSpPr>
          <p:spPr bwMode="auto">
            <a:xfrm>
              <a:off x="3243" y="2338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838200" y="682934"/>
            <a:ext cx="731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74LS85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比较器和若干逻辑门设计比较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A=a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B=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大小的电路。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6176</TotalTime>
  <Words>975</Words>
  <Application>Microsoft Office PowerPoint</Application>
  <PresentationFormat>全屏显示(16:9)</PresentationFormat>
  <Paragraphs>329</Paragraphs>
  <Slides>23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默认设计模板</vt:lpstr>
      <vt:lpstr>Microsoft Visio 绘图</vt:lpstr>
      <vt:lpstr>Equation</vt:lpstr>
      <vt:lpstr>公式</vt:lpstr>
      <vt:lpstr>Document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714</cp:revision>
  <cp:lastPrinted>2113-01-01T00:00:00Z</cp:lastPrinted>
  <dcterms:created xsi:type="dcterms:W3CDTF">2113-01-01T00:00:00Z</dcterms:created>
  <dcterms:modified xsi:type="dcterms:W3CDTF">2021-01-13T08:40:47Z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