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09" r:id="rId2"/>
    <p:sldId id="342" r:id="rId3"/>
    <p:sldId id="343" r:id="rId4"/>
    <p:sldId id="344" r:id="rId5"/>
    <p:sldId id="345" r:id="rId6"/>
    <p:sldId id="358" r:id="rId7"/>
    <p:sldId id="346" r:id="rId8"/>
    <p:sldId id="348" r:id="rId9"/>
    <p:sldId id="349" r:id="rId10"/>
    <p:sldId id="351" r:id="rId11"/>
    <p:sldId id="360" r:id="rId12"/>
    <p:sldId id="361" r:id="rId13"/>
    <p:sldId id="350" r:id="rId14"/>
    <p:sldId id="353" r:id="rId15"/>
    <p:sldId id="354" r:id="rId16"/>
    <p:sldId id="357" r:id="rId17"/>
    <p:sldId id="355" r:id="rId18"/>
    <p:sldId id="356" r:id="rId19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2D8A"/>
    <a:srgbClr val="0000CC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8" autoAdjust="0"/>
    <p:restoredTop sz="95250" autoAdjust="0"/>
  </p:normalViewPr>
  <p:slideViewPr>
    <p:cSldViewPr>
      <p:cViewPr varScale="1">
        <p:scale>
          <a:sx n="98" d="100"/>
          <a:sy n="98" d="100"/>
        </p:scale>
        <p:origin x="936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2022/9/5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3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16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79245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编 码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刘 军</a:t>
            </a:r>
            <a:endParaRPr lang="en-US" altLang="zh-CN" sz="2800" b="1" dirty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4473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457200" y="1047750"/>
          <a:ext cx="4648200" cy="2886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57623" imgH="3030919" progId="Visio.Drawing.11">
                  <p:embed/>
                </p:oleObj>
              </mc:Choice>
              <mc:Fallback>
                <p:oleObj name="Visio" r:id="rId2" imgW="4457623" imgH="30309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047750"/>
                        <a:ext cx="4648200" cy="288649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 cmpd="thickThin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219200" y="666750"/>
            <a:ext cx="2874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常用的二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2209800" y="1123950"/>
            <a:ext cx="685800" cy="381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838200" y="1900698"/>
            <a:ext cx="2057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838200" y="3409950"/>
            <a:ext cx="1905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562600" y="1809750"/>
            <a:ext cx="28956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rgbClr val="FF0000"/>
                </a:solidFill>
                <a:ea typeface="黑体" pitchFamily="49" charset="-122"/>
              </a:rPr>
              <a:t>互为</a:t>
            </a:r>
            <a:r>
              <a:rPr lang="en-US" altLang="zh-CN" sz="1600" b="1" dirty="0">
                <a:solidFill>
                  <a:srgbClr val="FF0000"/>
                </a:solidFill>
                <a:ea typeface="黑体" pitchFamily="49" charset="-122"/>
              </a:rPr>
              <a:t>9</a:t>
            </a:r>
            <a:r>
              <a:rPr lang="zh-CN" altLang="en-US" sz="1600" b="1" dirty="0">
                <a:solidFill>
                  <a:srgbClr val="FF0000"/>
                </a:solidFill>
                <a:ea typeface="黑体" pitchFamily="49" charset="-122"/>
              </a:rPr>
              <a:t>的补码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838200" y="2343150"/>
            <a:ext cx="2057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838200" y="2989620"/>
            <a:ext cx="2057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8421BCD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码的加法：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4" name="标题 1"/>
          <p:cNvSpPr txBox="1">
            <a:spLocks/>
          </p:cNvSpPr>
          <p:nvPr/>
        </p:nvSpPr>
        <p:spPr>
          <a:xfrm>
            <a:off x="457200" y="1047750"/>
            <a:ext cx="2895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</a:rPr>
              <a:t>2+3:   0010+0011 =  0101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609600" y="1962150"/>
            <a:ext cx="3124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/>
              <a:t>5+6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0101+0110  =  </a:t>
            </a:r>
            <a:r>
              <a:rPr lang="en-US" altLang="zh-CN" sz="1600" b="1" dirty="0">
                <a:solidFill>
                  <a:srgbClr val="FF0000"/>
                </a:solidFill>
              </a:rPr>
              <a:t>1011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6" name="TextBox 3"/>
          <p:cNvSpPr txBox="1">
            <a:spLocks noChangeArrowheads="1"/>
          </p:cNvSpPr>
          <p:nvPr/>
        </p:nvSpPr>
        <p:spPr bwMode="auto">
          <a:xfrm>
            <a:off x="4191000" y="971550"/>
            <a:ext cx="3124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/>
              <a:t>两个</a:t>
            </a:r>
            <a:r>
              <a:rPr lang="en-US" altLang="zh-CN" sz="1600" b="1" dirty="0"/>
              <a:t>8421BCD</a:t>
            </a:r>
            <a:r>
              <a:rPr lang="zh-CN" altLang="en-US" sz="1600" b="1" dirty="0"/>
              <a:t>码相加，若和小于等于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，其和仍为</a:t>
            </a:r>
            <a:r>
              <a:rPr lang="en-US" altLang="zh-CN" sz="1600" b="1" dirty="0"/>
              <a:t>8421BCD</a:t>
            </a:r>
            <a:r>
              <a:rPr lang="zh-CN" altLang="en-US" sz="1600" b="1" dirty="0"/>
              <a:t>码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7" name="TextBox 3"/>
          <p:cNvSpPr txBox="1">
            <a:spLocks noChangeArrowheads="1"/>
          </p:cNvSpPr>
          <p:nvPr/>
        </p:nvSpPr>
        <p:spPr bwMode="auto">
          <a:xfrm>
            <a:off x="4191000" y="1809750"/>
            <a:ext cx="3124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/>
              <a:t>两个</a:t>
            </a:r>
            <a:r>
              <a:rPr lang="en-US" altLang="zh-CN" sz="1600" b="1" dirty="0"/>
              <a:t>8421BCD</a:t>
            </a:r>
            <a:r>
              <a:rPr lang="zh-CN" altLang="en-US" sz="1600" b="1" dirty="0"/>
              <a:t>码相加，若和大于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，其和就不是</a:t>
            </a:r>
            <a:r>
              <a:rPr lang="en-US" altLang="zh-CN" sz="1600" b="1" dirty="0"/>
              <a:t>8421BCD</a:t>
            </a:r>
            <a:r>
              <a:rPr lang="zh-CN" altLang="en-US" sz="1600" b="1" dirty="0"/>
              <a:t>码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152400" y="24955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码的加法：</a:t>
            </a:r>
            <a:endParaRPr lang="en-US" altLang="zh-CN" sz="16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9" name="标题 1"/>
          <p:cNvSpPr txBox="1">
            <a:spLocks/>
          </p:cNvSpPr>
          <p:nvPr/>
        </p:nvSpPr>
        <p:spPr>
          <a:xfrm>
            <a:off x="533400" y="2952750"/>
            <a:ext cx="2895600" cy="4572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微软雅黑" panose="020B0503020204020204" pitchFamily="34" charset="-122"/>
                <a:cs typeface="+mj-cs"/>
              </a:rPr>
              <a:t>2+3:   0101+0110 =  1011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0" name="TextBox 3"/>
          <p:cNvSpPr txBox="1">
            <a:spLocks noChangeArrowheads="1"/>
          </p:cNvSpPr>
          <p:nvPr/>
        </p:nvSpPr>
        <p:spPr bwMode="auto">
          <a:xfrm>
            <a:off x="685800" y="3790950"/>
            <a:ext cx="3124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1600" b="1" dirty="0"/>
              <a:t>5+9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1000+1100  =  </a:t>
            </a:r>
            <a:r>
              <a:rPr lang="en-US" altLang="zh-CN" sz="1600" b="1" dirty="0">
                <a:solidFill>
                  <a:srgbClr val="FF0000"/>
                </a:solidFill>
              </a:rPr>
              <a:t>1   0100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1" name="TextBox 3"/>
          <p:cNvSpPr txBox="1">
            <a:spLocks noChangeArrowheads="1"/>
          </p:cNvSpPr>
          <p:nvPr/>
        </p:nvSpPr>
        <p:spPr bwMode="auto">
          <a:xfrm>
            <a:off x="4267200" y="2876550"/>
            <a:ext cx="3124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/>
              <a:t>两个余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码相加，若和小于等于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，其和不是余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码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2" name="TextBox 3"/>
          <p:cNvSpPr txBox="1">
            <a:spLocks noChangeArrowheads="1"/>
          </p:cNvSpPr>
          <p:nvPr/>
        </p:nvSpPr>
        <p:spPr bwMode="auto">
          <a:xfrm>
            <a:off x="4267200" y="3638550"/>
            <a:ext cx="32766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1600" b="1" dirty="0"/>
              <a:t>两个余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码相加若和大于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，其和是</a:t>
            </a:r>
            <a:r>
              <a:rPr lang="en-US" altLang="zh-CN" sz="1600" b="1" dirty="0"/>
              <a:t>8421BCD</a:t>
            </a:r>
            <a:r>
              <a:rPr lang="zh-CN" altLang="en-US" sz="1600" b="1" dirty="0"/>
              <a:t>码，并且能够产生进位</a:t>
            </a:r>
            <a:endParaRPr lang="zh-CN" altLang="en-US" sz="16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56270" y="4095750"/>
            <a:ext cx="685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/>
              <a:t>BCD</a:t>
            </a:r>
            <a:r>
              <a:rPr lang="zh-CN" altLang="en-US" sz="1200" b="1" dirty="0"/>
              <a:t>码</a:t>
            </a:r>
          </a:p>
        </p:txBody>
      </p:sp>
      <p:cxnSp>
        <p:nvCxnSpPr>
          <p:cNvPr id="25" name="直接连接符 24"/>
          <p:cNvCxnSpPr/>
          <p:nvPr/>
        </p:nvCxnSpPr>
        <p:spPr>
          <a:xfrm>
            <a:off x="2942304" y="4095750"/>
            <a:ext cx="457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667000" y="4095750"/>
            <a:ext cx="1524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580960" y="4115418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进</a:t>
            </a:r>
            <a:endParaRPr lang="en-US" altLang="zh-CN" sz="1200" b="1" dirty="0"/>
          </a:p>
          <a:p>
            <a:r>
              <a:rPr lang="zh-CN" altLang="en-US" sz="1200" b="1" dirty="0"/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381000" y="971550"/>
          <a:ext cx="5029200" cy="312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57623" imgH="3030919" progId="Visio.Drawing.11">
                  <p:embed/>
                </p:oleObj>
              </mc:Choice>
              <mc:Fallback>
                <p:oleObj name="Visio" r:id="rId2" imgW="4457623" imgH="30309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71550"/>
                        <a:ext cx="5029200" cy="312309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 cmpd="thickThin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447800" y="666750"/>
            <a:ext cx="2874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常用的二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3048000" y="1047750"/>
            <a:ext cx="685800" cy="381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168450" y="3311628"/>
            <a:ext cx="533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5867400" y="1657350"/>
          <a:ext cx="2786063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70200" imgH="355320" progId="Equation.DSMT4">
                  <p:embed/>
                </p:oleObj>
              </mc:Choice>
              <mc:Fallback>
                <p:oleObj name="Equation" r:id="rId4" imgW="3670200" imgH="3553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657350"/>
                        <a:ext cx="2786063" cy="26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/>
          <p:nvPr/>
        </p:nvSpPr>
        <p:spPr>
          <a:xfrm>
            <a:off x="304800" y="4019550"/>
            <a:ext cx="7620000" cy="63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选择四位二进制码的前</a:t>
            </a:r>
            <a:r>
              <a:rPr lang="en-US" altLang="zh-CN" sz="1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个数和后</a:t>
            </a:r>
            <a:r>
              <a:rPr lang="en-US" altLang="zh-CN" sz="1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个数表示十进制数十个数字符号</a:t>
            </a:r>
            <a:r>
              <a:rPr lang="en-US" altLang="zh-CN" sz="1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,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16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其中</a:t>
            </a:r>
            <a:r>
              <a:rPr lang="zh-CN" altLang="en-US" sz="1600" b="1" dirty="0">
                <a:solidFill>
                  <a:srgbClr val="FF0000"/>
                </a:solidFill>
                <a:ea typeface="黑体" pitchFamily="49" charset="-122"/>
              </a:rPr>
              <a:t>二进制码：</a:t>
            </a:r>
            <a:r>
              <a:rPr lang="en-US" altLang="zh-CN" sz="1600" b="1" dirty="0">
                <a:solidFill>
                  <a:srgbClr val="FF0000"/>
                </a:solidFill>
                <a:ea typeface="黑体" pitchFamily="49" charset="-122"/>
              </a:rPr>
              <a:t>0101-1010 </a:t>
            </a:r>
            <a:r>
              <a:rPr lang="zh-CN" altLang="en-US" sz="1600" b="1" dirty="0">
                <a:solidFill>
                  <a:srgbClr val="FF0000"/>
                </a:solidFill>
                <a:ea typeface="黑体" pitchFamily="49" charset="-122"/>
              </a:rPr>
              <a:t>禁止在</a:t>
            </a:r>
            <a:r>
              <a:rPr lang="zh-CN" altLang="en-US" sz="16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“</a:t>
            </a:r>
            <a:r>
              <a:rPr lang="en-US" altLang="zh-CN" sz="1600" b="1" dirty="0">
                <a:solidFill>
                  <a:srgbClr val="FF0000"/>
                </a:solidFill>
                <a:ea typeface="黑体" pitchFamily="49" charset="-122"/>
              </a:rPr>
              <a:t>2421</a:t>
            </a:r>
            <a:r>
              <a:rPr lang="en-US" altLang="zh-CN" sz="1600" b="1" dirty="0">
                <a:solidFill>
                  <a:srgbClr val="FF0000"/>
                </a:solidFill>
                <a:latin typeface="Times New Roman" pitchFamily="18" charset="0"/>
                <a:ea typeface="黑体" pitchFamily="49" charset="-122"/>
              </a:rPr>
              <a:t>”</a:t>
            </a:r>
            <a:r>
              <a:rPr lang="zh-CN" altLang="en-US" sz="1600" b="1" dirty="0">
                <a:solidFill>
                  <a:srgbClr val="FF0000"/>
                </a:solidFill>
                <a:ea typeface="黑体" pitchFamily="49" charset="-122"/>
              </a:rPr>
              <a:t>码中出现</a:t>
            </a:r>
          </a:p>
        </p:txBody>
      </p:sp>
      <p:cxnSp>
        <p:nvCxnSpPr>
          <p:cNvPr id="17" name="直接连接符 16"/>
          <p:cNvCxnSpPr/>
          <p:nvPr/>
        </p:nvCxnSpPr>
        <p:spPr>
          <a:xfrm>
            <a:off x="3156156" y="2136672"/>
            <a:ext cx="533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161070" y="1664724"/>
            <a:ext cx="533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3156156" y="3776202"/>
            <a:ext cx="5334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381000" y="971550"/>
          <a:ext cx="5029200" cy="312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57623" imgH="3030919" progId="Visio.Drawing.11">
                  <p:embed/>
                </p:oleObj>
              </mc:Choice>
              <mc:Fallback>
                <p:oleObj name="Visio" r:id="rId2" imgW="4457623" imgH="30309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71550"/>
                        <a:ext cx="5029200" cy="312309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 cmpd="thickThin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447800" y="666750"/>
            <a:ext cx="2874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常用的二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3886200" y="1047750"/>
            <a:ext cx="685800" cy="381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5791200" y="1200150"/>
          <a:ext cx="269875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5720" imgH="330120" progId="Equation.DSMT4">
                  <p:embed/>
                </p:oleObj>
              </mc:Choice>
              <mc:Fallback>
                <p:oleObj name="Equation" r:id="rId4" imgW="3555720" imgH="33012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1200150"/>
                        <a:ext cx="269875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5791200" y="1809750"/>
            <a:ext cx="27432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5211</a:t>
            </a:r>
            <a:r>
              <a:rPr lang="zh-CN" altLang="en-US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码的每一位正好与</a:t>
            </a: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8421</a:t>
            </a:r>
            <a:r>
              <a:rPr lang="zh-CN" altLang="en-US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码十进制计数器</a:t>
            </a: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zh-CN" altLang="en-US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个触发器输出脉冲的分频比从低位到高位依次为</a:t>
            </a:r>
            <a:r>
              <a:rPr lang="en-US" altLang="zh-CN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5:2:1:1. </a:t>
            </a:r>
            <a:r>
              <a:rPr lang="zh-CN" altLang="en-US" sz="1400" b="1" dirty="0">
                <a:solidFill>
                  <a:srgbClr val="FF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这些对应关系在构成某些数字系统中很有用。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3794" name="Object 2"/>
          <p:cNvGraphicFramePr>
            <a:graphicFrameLocks noChangeAspect="1"/>
          </p:cNvGraphicFramePr>
          <p:nvPr/>
        </p:nvGraphicFramePr>
        <p:xfrm>
          <a:off x="381000" y="971550"/>
          <a:ext cx="5029200" cy="3123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457623" imgH="3030919" progId="Visio.Drawing.11">
                  <p:embed/>
                </p:oleObj>
              </mc:Choice>
              <mc:Fallback>
                <p:oleObj name="Visio" r:id="rId2" imgW="4457623" imgH="30309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971550"/>
                        <a:ext cx="5029200" cy="312309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 cmpd="thickThin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/>
          <p:cNvSpPr/>
          <p:nvPr/>
        </p:nvSpPr>
        <p:spPr>
          <a:xfrm>
            <a:off x="1447800" y="666750"/>
            <a:ext cx="2874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常用的二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十进制编码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>
          <a:xfrm>
            <a:off x="4604274" y="1047750"/>
            <a:ext cx="685800" cy="3810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791200" y="1504950"/>
            <a:ext cx="2743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400" b="1" dirty="0"/>
              <a:t>任何两个相邻的数其编码只有一位不同</a:t>
            </a:r>
            <a:endParaRPr lang="zh-CN" altLang="en-US" sz="1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编码分类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Text Box 29"/>
          <p:cNvSpPr txBox="1">
            <a:spLocks noChangeArrowheads="1"/>
          </p:cNvSpPr>
          <p:nvPr/>
        </p:nvSpPr>
        <p:spPr bwMode="auto">
          <a:xfrm>
            <a:off x="1447800" y="2562222"/>
            <a:ext cx="6463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chemeClr val="accent2"/>
                </a:solidFill>
                <a:ea typeface="黑体" pitchFamily="49" charset="-122"/>
              </a:rPr>
              <a:t>编码</a:t>
            </a:r>
          </a:p>
        </p:txBody>
      </p:sp>
      <p:sp>
        <p:nvSpPr>
          <p:cNvPr id="9" name="AutoShape 30"/>
          <p:cNvSpPr>
            <a:spLocks/>
          </p:cNvSpPr>
          <p:nvPr/>
        </p:nvSpPr>
        <p:spPr bwMode="auto">
          <a:xfrm>
            <a:off x="2057400" y="1876422"/>
            <a:ext cx="152400" cy="1828800"/>
          </a:xfrm>
          <a:prstGeom prst="leftBrace">
            <a:avLst>
              <a:gd name="adj1" fmla="val 100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b="1">
              <a:solidFill>
                <a:schemeClr val="accent2"/>
              </a:solidFill>
            </a:endParaRPr>
          </a:p>
        </p:txBody>
      </p: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2286000" y="1800222"/>
            <a:ext cx="1447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zh-CN" altLang="en-US" b="1">
                <a:solidFill>
                  <a:schemeClr val="accent2"/>
                </a:solidFill>
                <a:ea typeface="黑体" pitchFamily="49" charset="-122"/>
              </a:rPr>
              <a:t>数字编码</a:t>
            </a:r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2362200" y="3324222"/>
            <a:ext cx="110799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chemeClr val="accent2"/>
                </a:solidFill>
                <a:ea typeface="黑体" pitchFamily="49" charset="-122"/>
              </a:rPr>
              <a:t>字符编码</a:t>
            </a: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3429000" y="1266822"/>
            <a:ext cx="1336675" cy="1295400"/>
            <a:chOff x="2544" y="2160"/>
            <a:chExt cx="842" cy="816"/>
          </a:xfrm>
        </p:grpSpPr>
        <p:sp>
          <p:nvSpPr>
            <p:cNvPr id="14" name="AutoShape 34"/>
            <p:cNvSpPr>
              <a:spLocks/>
            </p:cNvSpPr>
            <p:nvPr/>
          </p:nvSpPr>
          <p:spPr bwMode="auto">
            <a:xfrm>
              <a:off x="2544" y="2304"/>
              <a:ext cx="96" cy="67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15" name="Text Box 35"/>
            <p:cNvSpPr txBox="1">
              <a:spLocks noChangeArrowheads="1"/>
            </p:cNvSpPr>
            <p:nvPr/>
          </p:nvSpPr>
          <p:spPr bwMode="auto">
            <a:xfrm>
              <a:off x="2688" y="2160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1" dirty="0">
                  <a:solidFill>
                    <a:schemeClr val="accent2"/>
                  </a:solidFill>
                  <a:ea typeface="黑体" pitchFamily="49" charset="-122"/>
                </a:rPr>
                <a:t>有符号数</a:t>
              </a:r>
            </a:p>
          </p:txBody>
        </p:sp>
        <p:sp>
          <p:nvSpPr>
            <p:cNvPr id="16" name="Text Box 36"/>
            <p:cNvSpPr txBox="1">
              <a:spLocks noChangeArrowheads="1"/>
            </p:cNvSpPr>
            <p:nvPr/>
          </p:nvSpPr>
          <p:spPr bwMode="auto">
            <a:xfrm>
              <a:off x="2688" y="2736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1">
                  <a:solidFill>
                    <a:schemeClr val="accent2"/>
                  </a:solidFill>
                  <a:ea typeface="黑体" pitchFamily="49" charset="-122"/>
                </a:rPr>
                <a:t>无符号数</a:t>
              </a:r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800600" y="742950"/>
            <a:ext cx="944563" cy="1073150"/>
            <a:chOff x="3600" y="1920"/>
            <a:chExt cx="595" cy="676"/>
          </a:xfrm>
        </p:grpSpPr>
        <p:sp>
          <p:nvSpPr>
            <p:cNvPr id="18" name="Text Box 38"/>
            <p:cNvSpPr txBox="1">
              <a:spLocks noChangeArrowheads="1"/>
            </p:cNvSpPr>
            <p:nvPr/>
          </p:nvSpPr>
          <p:spPr bwMode="auto">
            <a:xfrm>
              <a:off x="3744" y="1920"/>
              <a:ext cx="44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accent2"/>
                  </a:solidFill>
                  <a:ea typeface="黑体" pitchFamily="49" charset="-122"/>
                </a:rPr>
                <a:t>原码</a:t>
              </a:r>
            </a:p>
          </p:txBody>
        </p:sp>
        <p:grpSp>
          <p:nvGrpSpPr>
            <p:cNvPr id="4" name="Group 39"/>
            <p:cNvGrpSpPr>
              <a:grpSpLocks/>
            </p:cNvGrpSpPr>
            <p:nvPr/>
          </p:nvGrpSpPr>
          <p:grpSpPr bwMode="auto">
            <a:xfrm>
              <a:off x="3600" y="2016"/>
              <a:ext cx="595" cy="580"/>
              <a:chOff x="3600" y="2016"/>
              <a:chExt cx="595" cy="580"/>
            </a:xfrm>
          </p:grpSpPr>
          <p:sp>
            <p:nvSpPr>
              <p:cNvPr id="20" name="AutoShape 40"/>
              <p:cNvSpPr>
                <a:spLocks/>
              </p:cNvSpPr>
              <p:nvPr/>
            </p:nvSpPr>
            <p:spPr bwMode="auto">
              <a:xfrm>
                <a:off x="3600" y="2016"/>
                <a:ext cx="96" cy="576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b="1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" name="Text Box 41"/>
              <p:cNvSpPr txBox="1">
                <a:spLocks noChangeArrowheads="1"/>
              </p:cNvSpPr>
              <p:nvPr/>
            </p:nvSpPr>
            <p:spPr bwMode="auto">
              <a:xfrm>
                <a:off x="3754" y="2114"/>
                <a:ext cx="44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accent2"/>
                    </a:solidFill>
                    <a:ea typeface="黑体" pitchFamily="49" charset="-122"/>
                  </a:rPr>
                  <a:t>反码</a:t>
                </a:r>
              </a:p>
            </p:txBody>
          </p:sp>
          <p:sp>
            <p:nvSpPr>
              <p:cNvPr id="22" name="Text Box 42"/>
              <p:cNvSpPr txBox="1">
                <a:spLocks noChangeArrowheads="1"/>
              </p:cNvSpPr>
              <p:nvPr/>
            </p:nvSpPr>
            <p:spPr bwMode="auto">
              <a:xfrm>
                <a:off x="3754" y="2344"/>
                <a:ext cx="44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/>
                <a:r>
                  <a:rPr lang="zh-CN" altLang="en-US" sz="2000" b="1" dirty="0">
                    <a:solidFill>
                      <a:schemeClr val="accent2"/>
                    </a:solidFill>
                    <a:ea typeface="黑体" pitchFamily="49" charset="-122"/>
                  </a:rPr>
                  <a:t>补码</a:t>
                </a:r>
              </a:p>
            </p:txBody>
          </p:sp>
        </p:grpSp>
      </p:grpSp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4800600" y="1809750"/>
            <a:ext cx="1774825" cy="1006475"/>
            <a:chOff x="3600" y="2582"/>
            <a:chExt cx="1118" cy="634"/>
          </a:xfrm>
        </p:grpSpPr>
        <p:sp>
          <p:nvSpPr>
            <p:cNvPr id="24" name="AutoShape 44"/>
            <p:cNvSpPr>
              <a:spLocks/>
            </p:cNvSpPr>
            <p:nvPr/>
          </p:nvSpPr>
          <p:spPr bwMode="auto">
            <a:xfrm>
              <a:off x="3600" y="2640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3744" y="2582"/>
              <a:ext cx="76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accent2"/>
                  </a:solidFill>
                  <a:ea typeface="黑体" pitchFamily="49" charset="-122"/>
                </a:rPr>
                <a:t>二进制码</a:t>
              </a:r>
            </a:p>
          </p:txBody>
        </p:sp>
        <p:sp>
          <p:nvSpPr>
            <p:cNvPr id="26" name="Text Box 46"/>
            <p:cNvSpPr txBox="1">
              <a:spLocks noChangeArrowheads="1"/>
            </p:cNvSpPr>
            <p:nvPr/>
          </p:nvSpPr>
          <p:spPr bwMode="auto">
            <a:xfrm>
              <a:off x="3744" y="2966"/>
              <a:ext cx="97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000" b="1" dirty="0">
                  <a:solidFill>
                    <a:schemeClr val="accent2"/>
                  </a:solidFill>
                  <a:ea typeface="黑体" pitchFamily="49" charset="-122"/>
                </a:rPr>
                <a:t>二</a:t>
              </a:r>
              <a:r>
                <a:rPr lang="en-US" altLang="zh-CN" sz="2000" b="1" dirty="0">
                  <a:solidFill>
                    <a:schemeClr val="accent2"/>
                  </a:solidFill>
                  <a:ea typeface="黑体" pitchFamily="49" charset="-122"/>
                </a:rPr>
                <a:t>-</a:t>
              </a:r>
              <a:r>
                <a:rPr lang="zh-CN" altLang="en-US" sz="2000" b="1" dirty="0">
                  <a:solidFill>
                    <a:schemeClr val="accent2"/>
                  </a:solidFill>
                  <a:ea typeface="黑体" pitchFamily="49" charset="-122"/>
                </a:rPr>
                <a:t>十进制码</a:t>
              </a:r>
            </a:p>
          </p:txBody>
        </p:sp>
      </p:grpSp>
      <p:grpSp>
        <p:nvGrpSpPr>
          <p:cNvPr id="6" name="Group 48"/>
          <p:cNvGrpSpPr>
            <a:grpSpLocks/>
          </p:cNvGrpSpPr>
          <p:nvPr/>
        </p:nvGrpSpPr>
        <p:grpSpPr bwMode="auto">
          <a:xfrm>
            <a:off x="3429001" y="2811462"/>
            <a:ext cx="1452563" cy="1131888"/>
            <a:chOff x="2544" y="3133"/>
            <a:chExt cx="915" cy="713"/>
          </a:xfrm>
        </p:grpSpPr>
        <p:sp>
          <p:nvSpPr>
            <p:cNvPr id="29" name="AutoShape 49"/>
            <p:cNvSpPr>
              <a:spLocks/>
            </p:cNvSpPr>
            <p:nvPr/>
          </p:nvSpPr>
          <p:spPr bwMode="auto">
            <a:xfrm>
              <a:off x="2544" y="3312"/>
              <a:ext cx="96" cy="528"/>
            </a:xfrm>
            <a:prstGeom prst="leftBrace">
              <a:avLst>
                <a:gd name="adj1" fmla="val 45833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b="1">
                <a:solidFill>
                  <a:schemeClr val="accent2"/>
                </a:solidFill>
              </a:endParaRPr>
            </a:p>
          </p:txBody>
        </p:sp>
        <p:sp>
          <p:nvSpPr>
            <p:cNvPr id="30" name="Text Box 50"/>
            <p:cNvSpPr txBox="1">
              <a:spLocks noChangeArrowheads="1"/>
            </p:cNvSpPr>
            <p:nvPr/>
          </p:nvSpPr>
          <p:spPr bwMode="auto">
            <a:xfrm>
              <a:off x="2822" y="3133"/>
              <a:ext cx="11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endParaRPr lang="zh-CN" altLang="zh-CN" b="1">
                <a:solidFill>
                  <a:schemeClr val="accent2"/>
                </a:solidFill>
              </a:endParaRPr>
            </a:p>
          </p:txBody>
        </p:sp>
        <p:sp>
          <p:nvSpPr>
            <p:cNvPr id="31" name="Text Box 51"/>
            <p:cNvSpPr txBox="1">
              <a:spLocks noChangeArrowheads="1"/>
            </p:cNvSpPr>
            <p:nvPr/>
          </p:nvSpPr>
          <p:spPr bwMode="auto">
            <a:xfrm>
              <a:off x="2688" y="3216"/>
              <a:ext cx="77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b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ASCII</a:t>
              </a:r>
              <a:r>
                <a:rPr lang="zh-CN" altLang="en-US" b="1">
                  <a:solidFill>
                    <a:schemeClr val="accent2"/>
                  </a:solidFill>
                  <a:latin typeface="黑体" pitchFamily="49" charset="-122"/>
                  <a:ea typeface="黑体" pitchFamily="49" charset="-122"/>
                </a:rPr>
                <a:t>编码</a:t>
              </a:r>
            </a:p>
          </p:txBody>
        </p:sp>
        <p:sp>
          <p:nvSpPr>
            <p:cNvPr id="32" name="Text Box 52"/>
            <p:cNvSpPr txBox="1">
              <a:spLocks noChangeArrowheads="1"/>
            </p:cNvSpPr>
            <p:nvPr/>
          </p:nvSpPr>
          <p:spPr bwMode="auto">
            <a:xfrm>
              <a:off x="2688" y="3613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zh-CN" altLang="en-US" b="1">
                  <a:solidFill>
                    <a:schemeClr val="accent2"/>
                  </a:solidFill>
                  <a:ea typeface="黑体" pitchFamily="49" charset="-122"/>
                </a:rPr>
                <a:t>汉字编码</a:t>
              </a:r>
            </a:p>
          </p:txBody>
        </p:sp>
      </p:grpSp>
      <p:sp>
        <p:nvSpPr>
          <p:cNvPr id="33" name="矩形 32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098026" y="1755672"/>
            <a:ext cx="1066800" cy="53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3733800" y="1200150"/>
            <a:ext cx="9906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：数 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398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无符号数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所有的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位二进制位全部表示数据位。</a:t>
            </a:r>
            <a:endParaRPr lang="en-US" altLang="zh-CN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如用四位二进制来表示无符号数：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0101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647950"/>
            <a:ext cx="594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unsigned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定义无符号整形，用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位二进制来表示数的大小，  其表示的数值范围是多少？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590800" y="3333750"/>
            <a:ext cx="1905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[0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baseline="50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-1]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有符号数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最高位表示符号位，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表示正数，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表示负数，低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位二进制位全部表示数据位。</a:t>
            </a:r>
            <a:endParaRPr lang="en-US" altLang="zh-CN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685800" y="1657350"/>
            <a:ext cx="4572000" cy="45890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如用四位二进制来表示有符号数：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2286000" y="2754630"/>
          <a:ext cx="228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 +5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2286000" y="3196590"/>
          <a:ext cx="228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 -5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1101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86000" y="2327910"/>
          <a:ext cx="2286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十进制数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原码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4648200" y="2327910"/>
          <a:ext cx="2286000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反码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/>
                          </a:solidFill>
                        </a:rPr>
                        <a:t>补码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4648200" y="2754630"/>
          <a:ext cx="228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0101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648200" y="3196590"/>
          <a:ext cx="228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1010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1011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742950"/>
            <a:ext cx="8610600" cy="149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补码的由来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3729" name="Picture 1" descr="C:\Users\hfu\AppData\Roaming\Tencent\Users\350654676\QQ\WinTemp\RichOle\`7ITE6H@QP}5KO){)(T_[{4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885950"/>
            <a:ext cx="4248150" cy="1514475"/>
          </a:xfrm>
          <a:prstGeom prst="rect">
            <a:avLst/>
          </a:prstGeom>
          <a:noFill/>
        </p:spPr>
      </p:pic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981200" y="1200150"/>
            <a:ext cx="8610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把时钟上的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点调整为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点。</a:t>
            </a:r>
            <a:endParaRPr lang="en-US" altLang="zh-CN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36385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 </a:t>
            </a:r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7429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补码的由来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把时钟上的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点调整为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点。</a:t>
            </a:r>
            <a:endParaRPr lang="en-US" altLang="zh-CN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981200" y="742950"/>
            <a:ext cx="8610600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81921" name="Picture 1" descr="C:\Users\hfu\AppData\Roaming\Tencent\Users\350654676\QQ\WinTemp\RichOle\C(TNEHE``B3N95{ETWP}B_K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038350"/>
            <a:ext cx="1457325" cy="1790700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533400" y="142875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方法一：逆时针拨</a:t>
            </a:r>
            <a:r>
              <a:rPr lang="en-US" altLang="zh-CN" b="1" dirty="0"/>
              <a:t>2</a:t>
            </a:r>
            <a:r>
              <a:rPr lang="zh-CN" altLang="en-US" b="1" dirty="0"/>
              <a:t>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40055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8-2</a:t>
            </a:r>
            <a:endParaRPr lang="zh-CN" altLang="en-US" b="1" dirty="0"/>
          </a:p>
        </p:txBody>
      </p:sp>
      <p:pic>
        <p:nvPicPr>
          <p:cNvPr id="81922" name="Picture 2" descr="C:\Users\hfu\AppData\Roaming\Tencent\Users\350654676\QQ\WinTemp\RichOle\6ZB@EG)4)}$W}R]%)E@`RN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3600" y="1885950"/>
            <a:ext cx="2124075" cy="2447925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5562600" y="142875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方法二：顺时针时针拨</a:t>
            </a:r>
            <a:r>
              <a:rPr lang="en-US" altLang="zh-CN" b="1" dirty="0"/>
              <a:t>10</a:t>
            </a:r>
            <a:r>
              <a:rPr lang="zh-CN" altLang="en-US" b="1" dirty="0"/>
              <a:t>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47675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8+10</a:t>
            </a:r>
            <a:endParaRPr lang="zh-CN" altLang="en-US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1524000" y="4400550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=12+8-2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38400" y="440055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=8+12-2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43200" y="226695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</a:rPr>
              <a:t>思考：在计算机中，是否也可以将</a:t>
            </a:r>
            <a:r>
              <a:rPr lang="en-US" altLang="zh-CN" sz="1200" b="1" dirty="0">
                <a:solidFill>
                  <a:srgbClr val="FF0000"/>
                </a:solidFill>
              </a:rPr>
              <a:t>8-2</a:t>
            </a:r>
            <a:r>
              <a:rPr lang="zh-CN" altLang="en-US" sz="1200" b="1" dirty="0">
                <a:solidFill>
                  <a:srgbClr val="FF0000"/>
                </a:solidFill>
              </a:rPr>
              <a:t>转换成</a:t>
            </a:r>
            <a:r>
              <a:rPr lang="en-US" altLang="zh-CN" sz="1200" b="1" dirty="0">
                <a:solidFill>
                  <a:srgbClr val="FF0000"/>
                </a:solidFill>
              </a:rPr>
              <a:t>8+10</a:t>
            </a:r>
            <a:r>
              <a:rPr lang="zh-CN" altLang="en-US" sz="1200" b="1" dirty="0">
                <a:solidFill>
                  <a:srgbClr val="FF0000"/>
                </a:solidFill>
              </a:rPr>
              <a:t>？如果不行，转换成什么样的式子呢？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0195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 </a:t>
            </a:r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553200" y="4248150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 </a:t>
            </a:r>
            <a:r>
              <a:rPr lang="en-US" altLang="zh-CN" sz="1400" b="1" dirty="0"/>
              <a:t>3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742950"/>
            <a:ext cx="8610600" cy="1908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补码的由来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 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计算机中如何转换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7-2</a:t>
            </a: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8" name="矩形 7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981200" y="742950"/>
            <a:ext cx="8610600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1276350"/>
            <a:ext cx="4191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假设计算机中用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位二进制表示一个数</a:t>
            </a:r>
          </a:p>
        </p:txBody>
      </p:sp>
      <p:graphicFrame>
        <p:nvGraphicFramePr>
          <p:cNvPr id="80898" name="Object 2"/>
          <p:cNvGraphicFramePr>
            <a:graphicFrameLocks noChangeAspect="1"/>
          </p:cNvGraphicFramePr>
          <p:nvPr/>
        </p:nvGraphicFramePr>
        <p:xfrm>
          <a:off x="381000" y="2306274"/>
          <a:ext cx="7620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160" imgH="1054080" progId="Equation.DSMT4">
                  <p:embed/>
                </p:oleObj>
              </mc:Choice>
              <mc:Fallback>
                <p:oleObj name="Equation" r:id="rId2" imgW="317160" imgH="10540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306274"/>
                        <a:ext cx="7620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1752600" y="2306274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450260" y="26799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752600" y="2756100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1752600" y="3220674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直接连接符 27"/>
          <p:cNvCxnSpPr/>
          <p:nvPr/>
        </p:nvCxnSpPr>
        <p:spPr>
          <a:xfrm>
            <a:off x="1447800" y="3137100"/>
            <a:ext cx="1600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3962400" y="2306274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529782" y="265777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3962400" y="2702022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3962400" y="1849074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615810" y="181158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505200" y="230627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6553200" y="2266950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6120582" y="261845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6553200" y="2662698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6553200" y="3196098"/>
          <a:ext cx="9144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4" name="直接连接符 43"/>
          <p:cNvCxnSpPr/>
          <p:nvPr/>
        </p:nvCxnSpPr>
        <p:spPr>
          <a:xfrm>
            <a:off x="6248400" y="3043698"/>
            <a:ext cx="160020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216444" y="317397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848600" y="2190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48600" y="25717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105400" y="180975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16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105400" y="226695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 7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105400" y="2647950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 2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997244" y="2618454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-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972662" y="22669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+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20000" y="257175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+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38" grpId="0"/>
      <p:bldP spid="39" grpId="0"/>
      <p:bldP spid="41" grpId="0"/>
      <p:bldP spid="49" grpId="0"/>
      <p:bldP spid="50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90550"/>
            <a:ext cx="8610600" cy="838200"/>
          </a:xfrm>
        </p:spPr>
        <p:txBody>
          <a:bodyPr/>
          <a:lstStyle/>
          <a:p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</a:rPr>
              <a:t>表</a:t>
            </a:r>
            <a:r>
              <a:rPr lang="en-US" altLang="zh-CN" sz="2000" b="1" dirty="0">
                <a:solidFill>
                  <a:schemeClr val="tx1"/>
                </a:solidFill>
                <a:ea typeface="楷体_GB2312" pitchFamily="49" charset="-122"/>
              </a:rPr>
              <a:t>2   4</a:t>
            </a:r>
            <a:r>
              <a:rPr lang="zh-CN" altLang="en-US" sz="2000" b="1" dirty="0">
                <a:solidFill>
                  <a:schemeClr val="tx1"/>
                </a:solidFill>
                <a:ea typeface="楷体_GB2312" pitchFamily="49" charset="-122"/>
              </a:rPr>
              <a:t>位带符号位二进制代码的原码、反码和补码对照表</a:t>
            </a:r>
          </a:p>
        </p:txBody>
      </p:sp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83619"/>
              </p:ext>
            </p:extLst>
          </p:nvPr>
        </p:nvGraphicFramePr>
        <p:xfrm>
          <a:off x="457200" y="971550"/>
          <a:ext cx="8497070" cy="3911591"/>
        </p:xfrm>
        <a:graphic>
          <a:graphicData uri="http://schemas.openxmlformats.org/drawingml/2006/table">
            <a:tbl>
              <a:tblPr/>
              <a:tblGrid>
                <a:gridCol w="119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2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9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48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2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88885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楷体_GB2312" pitchFamily="49" charset="-122"/>
                        </a:rPr>
                        <a:t>十进制数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原码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反码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补码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楷体_GB2312" pitchFamily="49" charset="-122"/>
                        </a:rPr>
                        <a:t>十进制数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原码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反码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补码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41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94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4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4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1010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4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＋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1111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1001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4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－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1000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10600" y="23431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14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10600" y="27241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13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10600" y="37909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10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补码的特性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9" name="矩形 18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04775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/>
              <a:t>若某一有符号数为</a:t>
            </a:r>
            <a:r>
              <a:rPr lang="en-US" altLang="zh-CN" b="1" dirty="0"/>
              <a:t>n</a:t>
            </a:r>
            <a:r>
              <a:rPr lang="zh-CN" altLang="en-US" b="1" dirty="0"/>
              <a:t>位（包含符号位和数据位），某负数</a:t>
            </a:r>
            <a:r>
              <a:rPr lang="en-US" altLang="zh-CN" b="1" dirty="0"/>
              <a:t>X</a:t>
            </a:r>
            <a:r>
              <a:rPr lang="zh-CN" altLang="en-US" b="1" dirty="0"/>
              <a:t>的补码为：</a:t>
            </a:r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2743200" y="1657350"/>
          <a:ext cx="800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368280" progId="Equation.DSMT4">
                  <p:embed/>
                </p:oleObj>
              </mc:Choice>
              <mc:Fallback>
                <p:oleObj name="Equation" r:id="rId2" imgW="799920" imgH="3682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57350"/>
                        <a:ext cx="800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5800" y="21145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zh-CN" altLang="en-US" b="1" dirty="0"/>
              <a:t>例</a:t>
            </a:r>
            <a:r>
              <a:rPr lang="en-US" altLang="zh-CN" b="1" dirty="0"/>
              <a:t>1</a:t>
            </a:r>
            <a:r>
              <a:rPr lang="zh-CN" altLang="en-US" b="1" dirty="0"/>
              <a:t>：设补码的位数为</a:t>
            </a:r>
            <a:r>
              <a:rPr lang="en-US" altLang="zh-CN" b="1" dirty="0"/>
              <a:t>4</a:t>
            </a:r>
            <a:r>
              <a:rPr lang="zh-CN" altLang="en-US" b="1" dirty="0"/>
              <a:t>位，求</a:t>
            </a:r>
            <a:r>
              <a:rPr lang="en-US" altLang="zh-CN" b="1" dirty="0"/>
              <a:t>-3</a:t>
            </a:r>
            <a:r>
              <a:rPr lang="zh-CN" altLang="en-US" b="1" dirty="0"/>
              <a:t>的补码。</a:t>
            </a:r>
          </a:p>
        </p:txBody>
      </p:sp>
      <p:graphicFrame>
        <p:nvGraphicFramePr>
          <p:cNvPr id="63492" name="Object 4"/>
          <p:cNvGraphicFramePr>
            <a:graphicFrameLocks noChangeAspect="1"/>
          </p:cNvGraphicFramePr>
          <p:nvPr/>
        </p:nvGraphicFramePr>
        <p:xfrm>
          <a:off x="2362200" y="2571750"/>
          <a:ext cx="1625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330120" progId="Equation.DSMT4">
                  <p:embed/>
                </p:oleObj>
              </mc:Choice>
              <mc:Fallback>
                <p:oleObj name="Equation" r:id="rId4" imgW="1625400" imgH="3301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571750"/>
                        <a:ext cx="1625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676400" y="2952750"/>
            <a:ext cx="381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符号位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</a:rPr>
              <a:t>保持不变，数值位取反，然后加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64521" name="Object 9"/>
          <p:cNvGraphicFramePr>
            <a:graphicFrameLocks noChangeAspect="1"/>
          </p:cNvGraphicFramePr>
          <p:nvPr/>
        </p:nvGraphicFramePr>
        <p:xfrm>
          <a:off x="2438400" y="3409950"/>
          <a:ext cx="1625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330120" progId="Equation.DSMT4">
                  <p:embed/>
                </p:oleObj>
              </mc:Choice>
              <mc:Fallback>
                <p:oleObj name="Equation" r:id="rId6" imgW="1625400" imgH="33012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409950"/>
                        <a:ext cx="1625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补码的特性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9" name="矩形 18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047750"/>
            <a:ext cx="594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b="1" dirty="0"/>
              <a:t>若某一有符号数为</a:t>
            </a:r>
            <a:r>
              <a:rPr lang="en-US" altLang="zh-CN" b="1" dirty="0"/>
              <a:t>n</a:t>
            </a:r>
            <a:r>
              <a:rPr lang="zh-CN" altLang="en-US" b="1" dirty="0"/>
              <a:t>位（包含符号位和数据位），某负数</a:t>
            </a:r>
            <a:r>
              <a:rPr lang="en-US" altLang="zh-CN" b="1" dirty="0"/>
              <a:t>X</a:t>
            </a:r>
            <a:r>
              <a:rPr lang="zh-CN" altLang="en-US" b="1" dirty="0"/>
              <a:t>的补码为：</a:t>
            </a:r>
          </a:p>
        </p:txBody>
      </p:sp>
      <p:graphicFrame>
        <p:nvGraphicFramePr>
          <p:cNvPr id="63490" name="Object 2"/>
          <p:cNvGraphicFramePr>
            <a:graphicFrameLocks noChangeAspect="1"/>
          </p:cNvGraphicFramePr>
          <p:nvPr/>
        </p:nvGraphicFramePr>
        <p:xfrm>
          <a:off x="2743200" y="1657350"/>
          <a:ext cx="800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9920" imgH="368280" progId="Equation.DSMT4">
                  <p:embed/>
                </p:oleObj>
              </mc:Choice>
              <mc:Fallback>
                <p:oleObj name="Equation" r:id="rId2" imgW="799920" imgH="3682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657350"/>
                        <a:ext cx="800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85800" y="21145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zh-CN" altLang="en-US" b="1" dirty="0"/>
              <a:t>例</a:t>
            </a:r>
            <a:r>
              <a:rPr lang="en-US" altLang="zh-CN" b="1" dirty="0"/>
              <a:t>1</a:t>
            </a:r>
            <a:r>
              <a:rPr lang="zh-CN" altLang="en-US" b="1" dirty="0"/>
              <a:t>：设补码的位数为</a:t>
            </a:r>
            <a:r>
              <a:rPr lang="en-US" altLang="zh-CN" b="1" dirty="0"/>
              <a:t>4</a:t>
            </a:r>
            <a:r>
              <a:rPr lang="zh-CN" altLang="en-US" b="1" dirty="0"/>
              <a:t>位，求</a:t>
            </a:r>
            <a:r>
              <a:rPr lang="en-US" altLang="zh-CN" b="1" dirty="0"/>
              <a:t>-3</a:t>
            </a:r>
            <a:r>
              <a:rPr lang="zh-CN" altLang="en-US" b="1" dirty="0"/>
              <a:t>的补码。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1371600" y="2571750"/>
          <a:ext cx="2032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31840" imgH="368280" progId="Equation.DSMT4">
                  <p:embed/>
                </p:oleObj>
              </mc:Choice>
              <mc:Fallback>
                <p:oleObj name="Equation" r:id="rId4" imgW="2031840" imgH="3682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571750"/>
                        <a:ext cx="2032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1841500" y="3028950"/>
          <a:ext cx="2273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040" imgH="368280" progId="Equation.DSMT4">
                  <p:embed/>
                </p:oleObj>
              </mc:Choice>
              <mc:Fallback>
                <p:oleObj name="Equation" r:id="rId6" imgW="2273040" imgH="3682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500" y="3028950"/>
                        <a:ext cx="2273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6"/>
          <p:cNvGraphicFramePr>
            <a:graphicFrameLocks noChangeAspect="1"/>
          </p:cNvGraphicFramePr>
          <p:nvPr/>
        </p:nvGraphicFramePr>
        <p:xfrm>
          <a:off x="2743200" y="3409950"/>
          <a:ext cx="1803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03240" imgH="241200" progId="Equation.DSMT4">
                  <p:embed/>
                </p:oleObj>
              </mc:Choice>
              <mc:Fallback>
                <p:oleObj name="Equation" r:id="rId8" imgW="1803240" imgH="2412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409950"/>
                        <a:ext cx="18034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8"/>
          <p:cNvGraphicFramePr>
            <a:graphicFrameLocks noChangeAspect="1"/>
          </p:cNvGraphicFramePr>
          <p:nvPr/>
        </p:nvGraphicFramePr>
        <p:xfrm>
          <a:off x="2743200" y="3714750"/>
          <a:ext cx="2209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209680" imgH="253800" progId="Equation.DSMT4">
                  <p:embed/>
                </p:oleObj>
              </mc:Choice>
              <mc:Fallback>
                <p:oleObj name="Equation" r:id="rId10" imgW="2209680" imgH="2538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714750"/>
                        <a:ext cx="22098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连接符 20"/>
          <p:cNvCxnSpPr/>
          <p:nvPr/>
        </p:nvCxnSpPr>
        <p:spPr>
          <a:xfrm>
            <a:off x="3810000" y="4019550"/>
            <a:ext cx="8382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971800" y="4019550"/>
            <a:ext cx="4572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4724400" y="4019550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918156" y="401955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取反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8200" y="401955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加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3816" y="4019550"/>
            <a:ext cx="732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符号位</a:t>
            </a:r>
          </a:p>
        </p:txBody>
      </p:sp>
      <p:graphicFrame>
        <p:nvGraphicFramePr>
          <p:cNvPr id="63497" name="Object 9"/>
          <p:cNvGraphicFramePr>
            <a:graphicFrameLocks noChangeAspect="1"/>
          </p:cNvGraphicFramePr>
          <p:nvPr/>
        </p:nvGraphicFramePr>
        <p:xfrm>
          <a:off x="2743200" y="4400550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400" imgH="241200" progId="Equation.DSMT4">
                  <p:embed/>
                </p:oleObj>
              </mc:Choice>
              <mc:Fallback>
                <p:oleObj name="Equation" r:id="rId12" imgW="698400" imgH="2412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400550"/>
                        <a:ext cx="698500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补码的特性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9" name="矩形 18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10477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zh-CN" altLang="en-US" b="1" dirty="0"/>
              <a:t>例</a:t>
            </a:r>
            <a:r>
              <a:rPr lang="en-US" altLang="zh-CN" b="1" dirty="0"/>
              <a:t>2</a:t>
            </a:r>
            <a:r>
              <a:rPr lang="zh-CN" altLang="en-US" b="1" dirty="0"/>
              <a:t>：设补码的位数为</a:t>
            </a:r>
            <a:r>
              <a:rPr lang="en-US" altLang="zh-CN" b="1" dirty="0"/>
              <a:t>4</a:t>
            </a:r>
            <a:r>
              <a:rPr lang="zh-CN" altLang="en-US" b="1" dirty="0"/>
              <a:t>位，求</a:t>
            </a:r>
            <a:r>
              <a:rPr lang="en-US" altLang="zh-CN" b="1" dirty="0"/>
              <a:t>-8</a:t>
            </a:r>
            <a:r>
              <a:rPr lang="zh-CN" altLang="en-US" b="1" dirty="0"/>
              <a:t>的补码。</a:t>
            </a: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1416050" y="1504950"/>
          <a:ext cx="1943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2920" imgH="368280" progId="Equation.DSMT4">
                  <p:embed/>
                </p:oleObj>
              </mc:Choice>
              <mc:Fallback>
                <p:oleObj name="Equation" r:id="rId2" imgW="1942920" imgH="3682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050" y="1504950"/>
                        <a:ext cx="1943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85800" y="20383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zh-CN" altLang="en-US" b="1" dirty="0"/>
              <a:t>例</a:t>
            </a:r>
            <a:r>
              <a:rPr lang="en-US" altLang="zh-CN" b="1" dirty="0"/>
              <a:t>3</a:t>
            </a:r>
            <a:r>
              <a:rPr lang="zh-CN" altLang="en-US" b="1" dirty="0"/>
              <a:t>：设补码的位数为</a:t>
            </a:r>
            <a:r>
              <a:rPr lang="en-US" altLang="zh-CN" b="1" dirty="0"/>
              <a:t>4</a:t>
            </a:r>
            <a:r>
              <a:rPr lang="zh-CN" altLang="en-US" b="1" dirty="0"/>
              <a:t>位，</a:t>
            </a:r>
            <a:r>
              <a:rPr lang="en-US" altLang="zh-CN" b="1" dirty="0"/>
              <a:t>[X]</a:t>
            </a:r>
            <a:r>
              <a:rPr lang="zh-CN" altLang="en-US" b="1" baseline="-25000" dirty="0"/>
              <a:t>补</a:t>
            </a:r>
            <a:r>
              <a:rPr lang="en-US" altLang="zh-CN" b="1" dirty="0"/>
              <a:t>=1010</a:t>
            </a:r>
            <a:r>
              <a:rPr lang="zh-CN" altLang="en-US" b="1" dirty="0"/>
              <a:t>，求</a:t>
            </a:r>
            <a:r>
              <a:rPr lang="en-US" altLang="zh-CN" b="1" dirty="0"/>
              <a:t>[X]</a:t>
            </a:r>
            <a:r>
              <a:rPr lang="zh-CN" altLang="en-US" b="1" baseline="-25000" dirty="0"/>
              <a:t>原</a:t>
            </a:r>
            <a:r>
              <a:rPr lang="zh-CN" altLang="en-US" b="1" dirty="0"/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2495550"/>
            <a:ext cx="381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符号位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</a:rPr>
              <a:t>保持不变，数值位先减一，然后取反</a:t>
            </a:r>
          </a:p>
        </p:txBody>
      </p:sp>
      <p:graphicFrame>
        <p:nvGraphicFramePr>
          <p:cNvPr id="63499" name="Object 11"/>
          <p:cNvGraphicFramePr>
            <a:graphicFrameLocks noChangeAspect="1"/>
          </p:cNvGraphicFramePr>
          <p:nvPr/>
        </p:nvGraphicFramePr>
        <p:xfrm>
          <a:off x="2527300" y="2844800"/>
          <a:ext cx="144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393480" progId="Equation.DSMT4">
                  <p:embed/>
                </p:oleObj>
              </mc:Choice>
              <mc:Fallback>
                <p:oleObj name="Equation" r:id="rId4" imgW="144756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2844800"/>
                        <a:ext cx="1447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1600200" y="4552950"/>
            <a:ext cx="381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符号位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</a:rPr>
              <a:t>保持不变，数值位取反，然后加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14" name="Object 8"/>
          <p:cNvGraphicFramePr>
            <a:graphicFrameLocks noChangeAspect="1"/>
          </p:cNvGraphicFramePr>
          <p:nvPr/>
        </p:nvGraphicFramePr>
        <p:xfrm>
          <a:off x="2647950" y="3333750"/>
          <a:ext cx="1943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2920" imgH="253800" progId="Equation.DSMT4">
                  <p:embed/>
                </p:oleObj>
              </mc:Choice>
              <mc:Fallback>
                <p:oleObj name="Equation" r:id="rId6" imgW="1942920" imgH="2538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3333750"/>
                        <a:ext cx="19431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连接符 15"/>
          <p:cNvCxnSpPr/>
          <p:nvPr/>
        </p:nvCxnSpPr>
        <p:spPr>
          <a:xfrm>
            <a:off x="3276600" y="3638550"/>
            <a:ext cx="5334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743200" y="3638550"/>
            <a:ext cx="4572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962400" y="3638550"/>
            <a:ext cx="5334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283974" y="363855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取反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2400" y="363855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减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25216" y="3638550"/>
            <a:ext cx="732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符号位</a:t>
            </a:r>
          </a:p>
        </p:txBody>
      </p:sp>
      <p:graphicFrame>
        <p:nvGraphicFramePr>
          <p:cNvPr id="28" name="Object 8"/>
          <p:cNvGraphicFramePr>
            <a:graphicFrameLocks noChangeAspect="1"/>
          </p:cNvGraphicFramePr>
          <p:nvPr/>
        </p:nvGraphicFramePr>
        <p:xfrm>
          <a:off x="2362200" y="3943350"/>
          <a:ext cx="2209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09680" imgH="253800" progId="Equation.DSMT4">
                  <p:embed/>
                </p:oleObj>
              </mc:Choice>
              <mc:Fallback>
                <p:oleObj name="Equation" r:id="rId8" imgW="2209680" imgH="25380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943350"/>
                        <a:ext cx="22098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9" name="直接连接符 28"/>
          <p:cNvCxnSpPr/>
          <p:nvPr/>
        </p:nvCxnSpPr>
        <p:spPr>
          <a:xfrm>
            <a:off x="3429000" y="4248150"/>
            <a:ext cx="8382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590800" y="4248150"/>
            <a:ext cx="4572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343400" y="4248150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537156" y="424815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取反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7200" y="424815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加</a:t>
            </a:r>
            <a:r>
              <a:rPr lang="en-US" altLang="zh-CN" sz="1400" b="1" dirty="0">
                <a:solidFill>
                  <a:srgbClr val="FF0000"/>
                </a:solidFill>
              </a:rPr>
              <a:t>1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72816" y="4248150"/>
            <a:ext cx="732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FF0000"/>
                </a:solidFill>
              </a:rPr>
              <a:t>符号位</a:t>
            </a:r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3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2" grpId="0"/>
      <p:bldP spid="34" grpId="0"/>
      <p:bldP spid="40" grpId="0"/>
      <p:bldP spid="20" grpId="0"/>
      <p:bldP spid="21" grpId="0"/>
      <p:bldP spid="22" grpId="0"/>
      <p:bldP spid="33" grpId="0"/>
      <p:bldP spid="35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补码的特性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9" name="矩形 18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85800" y="10477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zh-CN" altLang="en-US" b="1" dirty="0"/>
              <a:t>例</a:t>
            </a:r>
            <a:r>
              <a:rPr lang="en-US" altLang="zh-CN" b="1" dirty="0"/>
              <a:t>4</a:t>
            </a:r>
            <a:r>
              <a:rPr lang="zh-CN" altLang="en-US" b="1" dirty="0"/>
              <a:t>：设补码的位数为</a:t>
            </a:r>
            <a:r>
              <a:rPr lang="en-US" altLang="zh-CN" b="1" dirty="0"/>
              <a:t>4</a:t>
            </a:r>
            <a:r>
              <a:rPr lang="zh-CN" altLang="en-US" b="1" dirty="0"/>
              <a:t>位，</a:t>
            </a:r>
            <a:r>
              <a:rPr lang="en-US" altLang="zh-CN" b="1" dirty="0"/>
              <a:t>[X]</a:t>
            </a:r>
            <a:r>
              <a:rPr lang="zh-CN" altLang="en-US" b="1" baseline="-25000" dirty="0"/>
              <a:t>补</a:t>
            </a:r>
            <a:r>
              <a:rPr lang="en-US" altLang="zh-CN" b="1" dirty="0"/>
              <a:t>=1010</a:t>
            </a:r>
            <a:r>
              <a:rPr lang="zh-CN" altLang="en-US" b="1" dirty="0"/>
              <a:t>，求</a:t>
            </a:r>
            <a:r>
              <a:rPr lang="en-US" altLang="zh-CN" b="1" dirty="0"/>
              <a:t>[-X]</a:t>
            </a:r>
            <a:r>
              <a:rPr lang="zh-CN" altLang="en-US" b="1" baseline="-25000" dirty="0"/>
              <a:t>补</a:t>
            </a:r>
            <a:r>
              <a:rPr lang="zh-CN" altLang="en-US" b="1" dirty="0"/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600" y="226695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所有位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zh-CN" altLang="en-US" b="1" dirty="0">
                <a:solidFill>
                  <a:srgbClr val="FF0000"/>
                </a:solidFill>
              </a:rPr>
              <a:t>包括符号位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取反，然后加一</a:t>
            </a:r>
          </a:p>
        </p:txBody>
      </p:sp>
      <p:sp>
        <p:nvSpPr>
          <p:cNvPr id="17" name="矩形 16"/>
          <p:cNvSpPr/>
          <p:nvPr/>
        </p:nvSpPr>
        <p:spPr>
          <a:xfrm>
            <a:off x="1600200" y="1657350"/>
            <a:ext cx="12939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[X]</a:t>
            </a:r>
            <a:r>
              <a:rPr lang="zh-CN" altLang="en-US" b="1" baseline="-25000" dirty="0"/>
              <a:t>原</a:t>
            </a:r>
            <a:r>
              <a:rPr lang="en-US" altLang="zh-CN" b="1" dirty="0"/>
              <a:t>=1110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3048000" y="1657350"/>
            <a:ext cx="1345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[-X]</a:t>
            </a:r>
            <a:r>
              <a:rPr lang="zh-CN" altLang="en-US" b="1" baseline="-25000" dirty="0"/>
              <a:t>原</a:t>
            </a:r>
            <a:r>
              <a:rPr lang="en-US" altLang="zh-CN" b="1" dirty="0"/>
              <a:t>=0110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4343400" y="1657350"/>
            <a:ext cx="857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=[-X]</a:t>
            </a:r>
            <a:r>
              <a:rPr lang="zh-CN" altLang="en-US" b="1" baseline="-25000" dirty="0"/>
              <a:t>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补码的特性</a:t>
            </a: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</a:p>
          <a:p>
            <a:pPr marL="0" lvl="1" indent="457200"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19" name="矩形 18"/>
          <p:cNvSpPr/>
          <p:nvPr/>
        </p:nvSpPr>
        <p:spPr>
          <a:xfrm>
            <a:off x="456971" y="0"/>
            <a:ext cx="1914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：编 码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047750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zh-CN" b="1" dirty="0"/>
              <a:t>2. </a:t>
            </a:r>
            <a:r>
              <a:rPr lang="zh-CN" altLang="en-US" b="1" dirty="0"/>
              <a:t>利用补码，可以将减法运算变成加法运算。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570038" y="1657350"/>
            <a:ext cx="10096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6-3</a:t>
            </a:r>
            <a:r>
              <a:rPr lang="zh-CN" altLang="en-US" dirty="0"/>
              <a:t>：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362200" y="1657350"/>
            <a:ext cx="32416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   0110+1101= 0011</a:t>
            </a:r>
            <a:endParaRPr lang="zh-CN" altLang="en-US" dirty="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498600" y="2449513"/>
            <a:ext cx="1008063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 dirty="0"/>
              <a:t>3-6</a:t>
            </a:r>
            <a:r>
              <a:rPr lang="zh-CN" altLang="en-US" dirty="0"/>
              <a:t>：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290763" y="2449513"/>
            <a:ext cx="32400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CN"/>
              <a:t>   0011+1010= 1101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</p:bld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4423</TotalTime>
  <Words>1042</Words>
  <Application>Microsoft Office PowerPoint</Application>
  <PresentationFormat>全屏显示(16:9)</PresentationFormat>
  <Paragraphs>300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默认设计模板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表2   4位带符号位二进制代码的原码、反码和补码对照表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DELL</cp:lastModifiedBy>
  <cp:revision>427</cp:revision>
  <cp:lastPrinted>2113-01-01T00:00:00Z</cp:lastPrinted>
  <dcterms:created xsi:type="dcterms:W3CDTF">2113-01-01T00:00:00Z</dcterms:created>
  <dcterms:modified xsi:type="dcterms:W3CDTF">2022-09-05T00:35:41Z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