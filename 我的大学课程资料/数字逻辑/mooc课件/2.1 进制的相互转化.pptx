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9" r:id="rId2"/>
    <p:sldId id="311" r:id="rId3"/>
    <p:sldId id="312" r:id="rId4"/>
    <p:sldId id="314" r:id="rId5"/>
    <p:sldId id="315" r:id="rId6"/>
    <p:sldId id="316" r:id="rId7"/>
    <p:sldId id="344" r:id="rId8"/>
    <p:sldId id="317" r:id="rId9"/>
    <p:sldId id="318" r:id="rId10"/>
    <p:sldId id="324" r:id="rId11"/>
    <p:sldId id="320" r:id="rId12"/>
    <p:sldId id="321" r:id="rId13"/>
    <p:sldId id="322" r:id="rId1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8A"/>
    <a:srgbClr val="0000CC"/>
    <a:srgbClr val="33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8" autoAdjust="0"/>
    <p:restoredTop sz="95250" autoAdjust="0"/>
  </p:normalViewPr>
  <p:slideViewPr>
    <p:cSldViewPr>
      <p:cViewPr varScale="1">
        <p:scale>
          <a:sx n="129" d="100"/>
          <a:sy n="129" d="100"/>
        </p:scale>
        <p:origin x="-96" y="88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2020/12/18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79245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 制 和 编 码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8191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十进制：</a:t>
            </a:r>
            <a:r>
              <a:rPr lang="zh-CN" altLang="en-US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“逢十进一”，用</a:t>
            </a:r>
            <a:r>
              <a:rPr lang="en-US" altLang="zh-CN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0-9</a:t>
            </a:r>
            <a:r>
              <a:rPr lang="zh-CN" altLang="en-US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这十个数字的组合来表示数。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823913" y="1428750"/>
          <a:ext cx="6442075" cy="374650"/>
        </p:xfrm>
        <a:graphic>
          <a:graphicData uri="http://schemas.openxmlformats.org/presentationml/2006/ole">
            <p:oleObj spid="_x0000_s7171" name="Equation" r:id="rId3" imgW="4152600" imgH="241200" progId="Equation.DSMT4">
              <p:embed/>
            </p:oleObj>
          </a:graphicData>
        </a:graphic>
      </p:graphicFrame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0" y="22669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二进制：</a:t>
            </a:r>
            <a:r>
              <a:rPr lang="zh-CN" altLang="en-US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“逢二进一”，用</a:t>
            </a:r>
            <a:r>
              <a:rPr lang="en-US" altLang="zh-CN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这两个数字的组合来表示数。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942975" y="3111500"/>
          <a:ext cx="6203950" cy="374650"/>
        </p:xfrm>
        <a:graphic>
          <a:graphicData uri="http://schemas.openxmlformats.org/presentationml/2006/ole">
            <p:oleObj spid="_x0000_s7172" name="Equation" r:id="rId4" imgW="4000320" imgH="2412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八进制：</a:t>
            </a:r>
            <a:r>
              <a:rPr lang="zh-CN" altLang="en-US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“逢八进一”，用</a:t>
            </a:r>
            <a:r>
              <a:rPr lang="en-US" altLang="zh-CN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0-7</a:t>
            </a:r>
            <a:r>
              <a:rPr lang="zh-CN" altLang="en-US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这八个数字的组合来表示数。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3422650" y="2470150"/>
          <a:ext cx="2298700" cy="203200"/>
        </p:xfrm>
        <a:graphic>
          <a:graphicData uri="http://schemas.openxmlformats.org/presentationml/2006/ole">
            <p:oleObj spid="_x0000_s32770" name="Equation" r:id="rId3" imgW="2298600" imgH="203040" progId="Equation.DSMT4">
              <p:embed/>
            </p:oleObj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852488" y="1352550"/>
          <a:ext cx="6383337" cy="374650"/>
        </p:xfrm>
        <a:graphic>
          <a:graphicData uri="http://schemas.openxmlformats.org/presentationml/2006/ole">
            <p:oleObj spid="_x0000_s32771" name="Equation" r:id="rId4" imgW="4114800" imgH="241200" progId="Equation.DSMT4">
              <p:embed/>
            </p:oleObj>
          </a:graphicData>
        </a:graphic>
      </p:graphicFrame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0" y="2114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十六进制：</a:t>
            </a:r>
            <a:r>
              <a:rPr lang="zh-CN" altLang="en-US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“逢十六进一”，用</a:t>
            </a:r>
            <a:r>
              <a:rPr lang="en-US" altLang="zh-CN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0-9</a:t>
            </a:r>
            <a:r>
              <a:rPr lang="zh-CN" altLang="en-US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A-F</a:t>
            </a:r>
            <a:r>
              <a:rPr lang="zh-CN" altLang="en-US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这十六个数字的组合来表示数。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/>
        </p:nvGraphicFramePr>
        <p:xfrm>
          <a:off x="838200" y="2724150"/>
          <a:ext cx="6697663" cy="374650"/>
        </p:xfrm>
        <a:graphic>
          <a:graphicData uri="http://schemas.openxmlformats.org/presentationml/2006/ole">
            <p:oleObj spid="_x0000_s32772" name="Equation" r:id="rId5" imgW="4317840" imgH="2412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二、八、十六进制转换成十进制：多项式替换法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762000" y="1428750"/>
            <a:ext cx="7788275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：</a:t>
            </a:r>
          </a:p>
          <a:p>
            <a:pPr algn="l">
              <a:spcBef>
                <a:spcPct val="20000"/>
              </a:spcBef>
            </a:pPr>
            <a:r>
              <a:rPr lang="en-US" altLang="zh-CN" sz="2000" dirty="0"/>
              <a:t>(101010.1)</a:t>
            </a:r>
            <a:r>
              <a:rPr lang="en-US" altLang="zh-CN" sz="2000" baseline="-25000" dirty="0"/>
              <a:t>2</a:t>
            </a:r>
            <a:r>
              <a:rPr lang="en-US" altLang="zh-CN" sz="2000" dirty="0">
                <a:latin typeface="Arial" pitchFamily="34" charset="0"/>
              </a:rPr>
              <a:t>=(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</a:rPr>
              <a:t>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10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5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0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10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4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10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3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0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10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10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0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10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0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10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-1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)</a:t>
            </a:r>
            <a:r>
              <a:rPr lang="en-US" altLang="zh-CN" sz="2000" baseline="-25000" dirty="0">
                <a:latin typeface="Arial" pitchFamily="34" charset="0"/>
                <a:sym typeface="Symbol" pitchFamily="18" charset="2"/>
              </a:rPr>
              <a:t>2</a:t>
            </a:r>
            <a:endParaRPr lang="en-US" altLang="zh-CN" sz="2000" dirty="0">
              <a:latin typeface="Arial" pitchFamily="34" charset="0"/>
              <a:sym typeface="Symbol" pitchFamily="18" charset="2"/>
            </a:endParaRPr>
          </a:p>
          <a:p>
            <a:pPr algn="l">
              <a:spcBef>
                <a:spcPct val="20000"/>
              </a:spcBef>
            </a:pPr>
            <a:r>
              <a:rPr lang="en-US" altLang="zh-CN" sz="2000" baseline="-25000" dirty="0">
                <a:latin typeface="Arial" pitchFamily="34" charset="0"/>
                <a:sym typeface="Symbol" pitchFamily="18" charset="2"/>
              </a:rPr>
              <a:t>                             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= </a:t>
            </a:r>
            <a:r>
              <a:rPr lang="en-US" altLang="zh-CN" sz="2000" dirty="0">
                <a:latin typeface="Arial" pitchFamily="34" charset="0"/>
              </a:rPr>
              <a:t>(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</a:rPr>
              <a:t>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5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0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4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3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0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0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0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sz="2000" dirty="0">
                <a:solidFill>
                  <a:schemeClr val="accent2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sz="2000" baseline="30000" dirty="0">
                <a:latin typeface="Arial" pitchFamily="34" charset="0"/>
                <a:sym typeface="Symbol" pitchFamily="18" charset="2"/>
              </a:rPr>
              <a:t>-1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)</a:t>
            </a:r>
            <a:r>
              <a:rPr lang="en-US" altLang="zh-CN" sz="2000" baseline="-25000" dirty="0">
                <a:latin typeface="Arial" pitchFamily="34" charset="0"/>
                <a:sym typeface="Symbol" pitchFamily="18" charset="2"/>
              </a:rPr>
              <a:t>10</a:t>
            </a:r>
            <a:r>
              <a:rPr lang="en-US" altLang="zh-CN" sz="2000" dirty="0">
                <a:latin typeface="Arial" pitchFamily="34" charset="0"/>
                <a:sym typeface="Symbol" pitchFamily="18" charset="2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Arial" pitchFamily="34" charset="0"/>
                <a:sym typeface="Symbol" pitchFamily="18" charset="2"/>
              </a:rPr>
              <a:t>                   =(</a:t>
            </a:r>
            <a:r>
              <a:rPr lang="en-US" altLang="zh-CN" sz="2000" dirty="0" smtClean="0">
                <a:latin typeface="Arial" pitchFamily="34" charset="0"/>
                <a:sym typeface="Symbol" pitchFamily="18" charset="2"/>
              </a:rPr>
              <a:t>32+8+2+0.5)</a:t>
            </a:r>
            <a:r>
              <a:rPr lang="en-US" altLang="zh-CN" sz="2000" baseline="-25000" dirty="0" smtClean="0">
                <a:latin typeface="Arial" pitchFamily="34" charset="0"/>
                <a:sym typeface="Symbol" pitchFamily="18" charset="2"/>
              </a:rPr>
              <a:t>10</a:t>
            </a:r>
            <a:endParaRPr lang="en-US" altLang="zh-CN" sz="2000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57400" y="2960124"/>
            <a:ext cx="1191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ym typeface="Symbol" pitchFamily="18" charset="2"/>
              </a:rPr>
              <a:t>=(42.5)</a:t>
            </a:r>
            <a:r>
              <a:rPr lang="en-US" altLang="zh-CN" sz="2000" baseline="-25000" dirty="0" smtClean="0">
                <a:sym typeface="Symbol" pitchFamily="18" charset="2"/>
              </a:rPr>
              <a:t>10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二、八、十六进制转换成十进制：多项式替换法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762000" y="1428750"/>
            <a:ext cx="7788275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：</a:t>
            </a:r>
          </a:p>
          <a:p>
            <a:pPr>
              <a:spcBef>
                <a:spcPct val="20000"/>
              </a:spcBef>
            </a:pPr>
            <a:r>
              <a:rPr lang="en-US" altLang="zh-CN" sz="2000" dirty="0"/>
              <a:t>(</a:t>
            </a:r>
            <a:r>
              <a:rPr lang="en-US" altLang="zh-CN" sz="2000" dirty="0" smtClean="0"/>
              <a:t>101010.1)</a:t>
            </a:r>
            <a:r>
              <a:rPr lang="en-US" altLang="zh-CN" sz="2000" baseline="-25000" dirty="0" smtClean="0"/>
              <a:t>2 </a:t>
            </a:r>
            <a:r>
              <a:rPr lang="en-US" altLang="zh-CN" sz="2000" dirty="0" smtClean="0">
                <a:latin typeface="Arial" pitchFamily="34" charset="0"/>
              </a:rPr>
              <a:t>= </a:t>
            </a:r>
            <a:r>
              <a:rPr lang="en-US" altLang="zh-CN" sz="2000" dirty="0" smtClean="0"/>
              <a:t>(</a:t>
            </a:r>
            <a:r>
              <a:rPr lang="en-US" altLang="zh-CN" sz="2000" dirty="0" smtClean="0">
                <a:solidFill>
                  <a:schemeClr val="accent2"/>
                </a:solidFill>
              </a:rPr>
              <a:t>1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2</a:t>
            </a:r>
            <a:r>
              <a:rPr lang="en-US" altLang="zh-CN" sz="2000" baseline="30000" dirty="0" smtClean="0">
                <a:sym typeface="Symbol" pitchFamily="18" charset="2"/>
              </a:rPr>
              <a:t>5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0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2</a:t>
            </a:r>
            <a:r>
              <a:rPr lang="en-US" altLang="zh-CN" sz="2000" baseline="30000" dirty="0" smtClean="0">
                <a:sym typeface="Symbol" pitchFamily="18" charset="2"/>
              </a:rPr>
              <a:t>4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1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2</a:t>
            </a:r>
            <a:r>
              <a:rPr lang="en-US" altLang="zh-CN" sz="2000" baseline="30000" dirty="0" smtClean="0">
                <a:sym typeface="Symbol" pitchFamily="18" charset="2"/>
              </a:rPr>
              <a:t>3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0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2</a:t>
            </a:r>
            <a:r>
              <a:rPr lang="en-US" altLang="zh-CN" sz="2000" baseline="30000" dirty="0" smtClean="0">
                <a:sym typeface="Symbol" pitchFamily="18" charset="2"/>
              </a:rPr>
              <a:t>2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1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2</a:t>
            </a:r>
            <a:r>
              <a:rPr lang="en-US" altLang="zh-CN" sz="2000" baseline="30000" dirty="0" smtClean="0">
                <a:sym typeface="Symbol" pitchFamily="18" charset="2"/>
              </a:rPr>
              <a:t>1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0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2</a:t>
            </a:r>
            <a:r>
              <a:rPr lang="en-US" altLang="zh-CN" sz="2000" baseline="30000" dirty="0" smtClean="0">
                <a:sym typeface="Symbol" pitchFamily="18" charset="2"/>
              </a:rPr>
              <a:t>0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1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2</a:t>
            </a:r>
            <a:r>
              <a:rPr lang="en-US" altLang="zh-CN" sz="2000" baseline="30000" dirty="0" smtClean="0">
                <a:sym typeface="Symbol" pitchFamily="18" charset="2"/>
              </a:rPr>
              <a:t>-1</a:t>
            </a:r>
            <a:r>
              <a:rPr lang="en-US" altLang="zh-CN" sz="2000" dirty="0" smtClean="0">
                <a:sym typeface="Symbol" pitchFamily="18" charset="2"/>
              </a:rPr>
              <a:t>)</a:t>
            </a:r>
            <a:r>
              <a:rPr lang="en-US" altLang="zh-CN" sz="2000" baseline="-25000" dirty="0" smtClean="0">
                <a:sym typeface="Symbol" pitchFamily="18" charset="2"/>
              </a:rPr>
              <a:t>10</a:t>
            </a:r>
            <a:r>
              <a:rPr lang="en-US" altLang="zh-CN" sz="2000" dirty="0" smtClean="0">
                <a:sym typeface="Symbol" pitchFamily="18" charset="2"/>
              </a:rPr>
              <a:t> </a:t>
            </a:r>
            <a:endParaRPr lang="en-US" altLang="zh-CN" sz="2000" dirty="0">
              <a:latin typeface="Arial" pitchFamily="34" charset="0"/>
              <a:sym typeface="Symbol" pitchFamily="18" charset="2"/>
            </a:endParaRPr>
          </a:p>
          <a:p>
            <a:pPr>
              <a:spcBef>
                <a:spcPct val="20000"/>
              </a:spcBef>
            </a:pPr>
            <a:r>
              <a:rPr lang="en-US" altLang="zh-CN" sz="2000" baseline="-25000" dirty="0">
                <a:latin typeface="Arial" pitchFamily="34" charset="0"/>
                <a:sym typeface="Symbol" pitchFamily="18" charset="2"/>
              </a:rPr>
              <a:t>                             </a:t>
            </a:r>
            <a:r>
              <a:rPr lang="en-US" altLang="zh-CN" sz="2000" dirty="0" smtClean="0">
                <a:sym typeface="Symbol" pitchFamily="18" charset="2"/>
              </a:rPr>
              <a:t>= (32+8+2+0.5)</a:t>
            </a:r>
            <a:r>
              <a:rPr lang="en-US" altLang="zh-CN" sz="2000" baseline="-25000" dirty="0" smtClean="0">
                <a:sym typeface="Symbol" pitchFamily="18" charset="2"/>
              </a:rPr>
              <a:t>10</a:t>
            </a:r>
            <a:r>
              <a:rPr lang="en-US" altLang="zh-CN" sz="2000" dirty="0" smtClean="0">
                <a:sym typeface="Symbol" pitchFamily="18" charset="2"/>
              </a:rPr>
              <a:t>=(42.5)</a:t>
            </a:r>
            <a:r>
              <a:rPr lang="en-US" altLang="zh-CN" sz="2000" baseline="-25000" dirty="0" smtClean="0">
                <a:sym typeface="Symbol" pitchFamily="18" charset="2"/>
              </a:rPr>
              <a:t>10</a:t>
            </a:r>
            <a:endParaRPr lang="en-US" altLang="zh-CN" sz="2000" dirty="0">
              <a:latin typeface="Arial" pitchFamily="34" charset="0"/>
              <a:sym typeface="Symbol" pitchFamily="18" charset="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>
                <a:latin typeface="Arial" pitchFamily="34" charset="0"/>
                <a:sym typeface="Symbol" pitchFamily="18" charset="2"/>
              </a:rPr>
              <a:t>            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8400" y="3105150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多项式替换法</a:t>
            </a:r>
            <a:endParaRPr lang="zh-CN" altLang="en-US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二、八、十六进制转换成十进制：多项式替换法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762000" y="1428750"/>
            <a:ext cx="778827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</a:pPr>
            <a:r>
              <a:rPr lang="zh-CN" altLang="en-US" sz="2000" b="1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000" b="1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000" b="1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：</a:t>
            </a:r>
            <a:endParaRPr lang="zh-CN" altLang="en-US" sz="2000" b="1" dirty="0">
              <a:solidFill>
                <a:schemeClr val="accent2"/>
              </a:solidFill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 smtClean="0"/>
              <a:t>(124.6)</a:t>
            </a:r>
            <a:r>
              <a:rPr lang="en-US" altLang="zh-CN" sz="2000" baseline="-25000" dirty="0" smtClean="0"/>
              <a:t>8</a:t>
            </a:r>
            <a:endParaRPr lang="en-US" altLang="zh-CN" sz="2000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685800" y="2952750"/>
            <a:ext cx="778827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</a:pPr>
            <a:r>
              <a:rPr lang="zh-CN" altLang="en-US" sz="2000" b="1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000" b="1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3</a:t>
            </a:r>
            <a:r>
              <a:rPr lang="zh-CN" altLang="en-US" sz="2000" b="1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：</a:t>
            </a:r>
          </a:p>
          <a:p>
            <a:pPr>
              <a:spcBef>
                <a:spcPct val="20000"/>
              </a:spcBef>
            </a:pPr>
            <a:r>
              <a:rPr lang="en-US" altLang="zh-CN" sz="2000" dirty="0" smtClean="0"/>
              <a:t>(1AF.8)</a:t>
            </a:r>
            <a:r>
              <a:rPr lang="en-US" altLang="zh-CN" sz="2000" baseline="-25000" dirty="0" smtClean="0"/>
              <a:t>16</a:t>
            </a:r>
            <a:endParaRPr lang="en-US" altLang="zh-CN" sz="2000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28800" y="1809750"/>
            <a:ext cx="6248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000" dirty="0" smtClean="0"/>
              <a:t>= (</a:t>
            </a:r>
            <a:r>
              <a:rPr lang="en-US" altLang="zh-CN" sz="2000" dirty="0" smtClean="0">
                <a:solidFill>
                  <a:schemeClr val="accent2"/>
                </a:solidFill>
              </a:rPr>
              <a:t>1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8</a:t>
            </a:r>
            <a:r>
              <a:rPr lang="en-US" altLang="zh-CN" sz="2000" baseline="30000" dirty="0" smtClean="0">
                <a:sym typeface="Symbol" pitchFamily="18" charset="2"/>
              </a:rPr>
              <a:t>2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2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8</a:t>
            </a:r>
            <a:r>
              <a:rPr lang="en-US" altLang="zh-CN" sz="2000" baseline="30000" dirty="0" smtClean="0">
                <a:sym typeface="Symbol" pitchFamily="18" charset="2"/>
              </a:rPr>
              <a:t>1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4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8</a:t>
            </a:r>
            <a:r>
              <a:rPr lang="en-US" altLang="zh-CN" sz="2000" baseline="30000" dirty="0" smtClean="0">
                <a:sym typeface="Symbol" pitchFamily="18" charset="2"/>
              </a:rPr>
              <a:t>0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6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8</a:t>
            </a:r>
            <a:r>
              <a:rPr lang="en-US" altLang="zh-CN" sz="2000" baseline="30000" dirty="0" smtClean="0">
                <a:solidFill>
                  <a:schemeClr val="accent2"/>
                </a:solidFill>
                <a:sym typeface="Symbol" pitchFamily="18" charset="2"/>
              </a:rPr>
              <a:t>-</a:t>
            </a:r>
            <a:r>
              <a:rPr lang="en-US" altLang="zh-CN" sz="2000" baseline="30000" dirty="0" smtClean="0">
                <a:sym typeface="Symbol" pitchFamily="18" charset="2"/>
              </a:rPr>
              <a:t>1</a:t>
            </a:r>
            <a:r>
              <a:rPr lang="en-US" altLang="zh-CN" sz="2000" dirty="0" smtClean="0">
                <a:sym typeface="Symbol" pitchFamily="18" charset="2"/>
              </a:rPr>
              <a:t>)</a:t>
            </a:r>
            <a:r>
              <a:rPr lang="en-US" altLang="zh-CN" sz="2000" baseline="-25000" dirty="0" smtClean="0">
                <a:sym typeface="Symbol" pitchFamily="18" charset="2"/>
              </a:rPr>
              <a:t>10</a:t>
            </a:r>
            <a:r>
              <a:rPr lang="en-US" altLang="zh-CN" sz="2000" dirty="0" smtClean="0">
                <a:sym typeface="Symbol" pitchFamily="18" charset="2"/>
              </a:rPr>
              <a:t> </a:t>
            </a:r>
          </a:p>
        </p:txBody>
      </p:sp>
      <p:sp>
        <p:nvSpPr>
          <p:cNvPr id="10" name="矩形 9"/>
          <p:cNvSpPr/>
          <p:nvPr/>
        </p:nvSpPr>
        <p:spPr>
          <a:xfrm>
            <a:off x="1828800" y="2266950"/>
            <a:ext cx="24705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aseline="-25000" dirty="0" smtClean="0">
                <a:sym typeface="Symbol" pitchFamily="18" charset="2"/>
              </a:rPr>
              <a:t> </a:t>
            </a:r>
            <a:r>
              <a:rPr lang="en-US" altLang="zh-CN" sz="2000" dirty="0" smtClean="0">
                <a:sym typeface="Symbol" pitchFamily="18" charset="2"/>
              </a:rPr>
              <a:t>= (64+16+4+0.75)</a:t>
            </a:r>
            <a:r>
              <a:rPr lang="en-US" altLang="zh-CN" sz="2000" baseline="-25000" dirty="0" smtClean="0">
                <a:sym typeface="Symbol" pitchFamily="18" charset="2"/>
              </a:rPr>
              <a:t>10</a:t>
            </a:r>
            <a:endParaRPr lang="zh-CN" altLang="en-US" sz="2000" dirty="0"/>
          </a:p>
        </p:txBody>
      </p:sp>
      <p:sp>
        <p:nvSpPr>
          <p:cNvPr id="11" name="矩形 10"/>
          <p:cNvSpPr/>
          <p:nvPr/>
        </p:nvSpPr>
        <p:spPr>
          <a:xfrm>
            <a:off x="4191000" y="2266950"/>
            <a:ext cx="13340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sym typeface="Symbol" pitchFamily="18" charset="2"/>
              </a:rPr>
              <a:t>=(84.75)</a:t>
            </a:r>
            <a:r>
              <a:rPr lang="en-US" altLang="zh-CN" sz="2000" baseline="-25000" dirty="0" smtClean="0">
                <a:sym typeface="Symbol" pitchFamily="18" charset="2"/>
              </a:rPr>
              <a:t>10</a:t>
            </a:r>
            <a:endParaRPr lang="zh-CN" altLang="en-US" sz="2000" dirty="0"/>
          </a:p>
        </p:txBody>
      </p:sp>
      <p:sp>
        <p:nvSpPr>
          <p:cNvPr id="12" name="矩形 11"/>
          <p:cNvSpPr/>
          <p:nvPr/>
        </p:nvSpPr>
        <p:spPr>
          <a:xfrm>
            <a:off x="1600200" y="3333750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000" dirty="0" smtClean="0"/>
              <a:t>= (</a:t>
            </a:r>
            <a:r>
              <a:rPr lang="en-US" altLang="zh-CN" sz="2000" dirty="0" smtClean="0">
                <a:solidFill>
                  <a:schemeClr val="accent2"/>
                </a:solidFill>
              </a:rPr>
              <a:t>1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16</a:t>
            </a:r>
            <a:r>
              <a:rPr lang="en-US" altLang="zh-CN" sz="2000" baseline="30000" dirty="0" smtClean="0">
                <a:sym typeface="Symbol" pitchFamily="18" charset="2"/>
              </a:rPr>
              <a:t>2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10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16</a:t>
            </a:r>
            <a:r>
              <a:rPr lang="en-US" altLang="zh-CN" sz="2000" baseline="30000" dirty="0" smtClean="0">
                <a:sym typeface="Symbol" pitchFamily="18" charset="2"/>
              </a:rPr>
              <a:t>1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15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16</a:t>
            </a:r>
            <a:r>
              <a:rPr lang="en-US" altLang="zh-CN" sz="2000" baseline="30000" dirty="0" smtClean="0">
                <a:sym typeface="Symbol" pitchFamily="18" charset="2"/>
              </a:rPr>
              <a:t>0</a:t>
            </a:r>
            <a:r>
              <a:rPr lang="en-US" altLang="zh-CN" sz="2000" dirty="0" smtClean="0">
                <a:sym typeface="Symbol" pitchFamily="18" charset="2"/>
              </a:rPr>
              <a:t>+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8</a:t>
            </a:r>
            <a:r>
              <a:rPr lang="en-US" altLang="zh-CN" sz="2000" dirty="0" smtClean="0">
                <a:sym typeface="Symbol" pitchFamily="18" charset="2"/>
              </a:rPr>
              <a:t></a:t>
            </a:r>
            <a:r>
              <a:rPr lang="en-US" altLang="zh-CN" sz="2000" dirty="0" smtClean="0">
                <a:solidFill>
                  <a:schemeClr val="accent2"/>
                </a:solidFill>
                <a:sym typeface="Symbol" pitchFamily="18" charset="2"/>
              </a:rPr>
              <a:t>16</a:t>
            </a:r>
            <a:r>
              <a:rPr lang="en-US" altLang="zh-CN" sz="2000" baseline="30000" dirty="0" smtClean="0">
                <a:sym typeface="Symbol" pitchFamily="18" charset="2"/>
              </a:rPr>
              <a:t>-1</a:t>
            </a:r>
            <a:r>
              <a:rPr lang="en-US" altLang="zh-CN" sz="2000" dirty="0" smtClean="0">
                <a:sym typeface="Symbol" pitchFamily="18" charset="2"/>
              </a:rPr>
              <a:t>)</a:t>
            </a:r>
            <a:r>
              <a:rPr lang="en-US" altLang="zh-CN" sz="2000" baseline="-25000" dirty="0" smtClean="0">
                <a:sym typeface="Symbol" pitchFamily="18" charset="2"/>
              </a:rPr>
              <a:t>10</a:t>
            </a:r>
            <a:r>
              <a:rPr lang="en-US" altLang="zh-CN" sz="2000" dirty="0" smtClean="0">
                <a:sym typeface="Symbol" pitchFamily="18" charset="2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sym typeface="Symbol" pitchFamily="18" charset="2"/>
              </a:rPr>
              <a:t>                   </a:t>
            </a:r>
            <a:endParaRPr lang="en-US" altLang="zh-CN" sz="2000" dirty="0">
              <a:sym typeface="Symbol" pitchFamily="18" charset="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00200" y="3867150"/>
            <a:ext cx="3905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aseline="-25000" dirty="0" smtClean="0">
                <a:sym typeface="Symbol" pitchFamily="18" charset="2"/>
              </a:rPr>
              <a:t> </a:t>
            </a:r>
            <a:r>
              <a:rPr lang="en-US" altLang="zh-CN" sz="2000" dirty="0" smtClean="0">
                <a:sym typeface="Symbol" pitchFamily="18" charset="2"/>
              </a:rPr>
              <a:t>= (256+160+15+0.5)</a:t>
            </a:r>
            <a:r>
              <a:rPr lang="en-US" altLang="zh-CN" sz="2000" baseline="-25000" dirty="0" smtClean="0">
                <a:sym typeface="Symbol" pitchFamily="18" charset="2"/>
              </a:rPr>
              <a:t>10</a:t>
            </a:r>
            <a:r>
              <a:rPr lang="en-US" altLang="zh-CN" sz="2000" dirty="0" smtClean="0">
                <a:sym typeface="Symbol" pitchFamily="18" charset="2"/>
              </a:rPr>
              <a:t>=(431.5)</a:t>
            </a:r>
            <a:r>
              <a:rPr lang="en-US" altLang="zh-CN" sz="2000" baseline="-25000" dirty="0" smtClean="0">
                <a:sym typeface="Symbol" pitchFamily="18" charset="2"/>
              </a:rPr>
              <a:t>10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9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二、八、十六进制转换成十进制：练习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533400" y="1428750"/>
            <a:ext cx="7788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把四进制数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(123.223)</a:t>
            </a:r>
            <a:r>
              <a:rPr lang="en-US" altLang="zh-CN" baseline="-250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lang="en-US" altLang="zh-CN" dirty="0"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24200" y="1428750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转换成十进制数，结果保留四位小数。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533400" y="2343150"/>
            <a:ext cx="7788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把七进制数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(426.43)</a:t>
            </a:r>
            <a:r>
              <a:rPr lang="en-US" altLang="zh-CN" baseline="-25000" dirty="0" smtClean="0">
                <a:latin typeface="微软雅黑" pitchFamily="34" charset="-122"/>
                <a:ea typeface="微软雅黑" pitchFamily="34" charset="-122"/>
              </a:rPr>
              <a:t>7</a:t>
            </a:r>
            <a:endParaRPr lang="en-US" altLang="zh-CN" dirty="0">
              <a:latin typeface="微软雅黑" pitchFamily="34" charset="-122"/>
              <a:ea typeface="微软雅黑" pitchFamily="34" charset="-122"/>
              <a:sym typeface="Symbol" pitchFamily="18" charset="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48000" y="2343150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转换成十进制数。结果保留四位小数。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十进制转换成其它进制：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304800" y="1428750"/>
            <a:ext cx="778827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20000"/>
              </a:spcBef>
            </a:pPr>
            <a:r>
              <a:rPr lang="zh-CN" altLang="en-US" sz="2000" b="1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例</a:t>
            </a:r>
            <a:r>
              <a:rPr lang="en-US" altLang="zh-CN" sz="2000" b="1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sz="2000" b="1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：</a:t>
            </a:r>
            <a:endParaRPr lang="zh-CN" altLang="en-US" sz="2000" b="1" dirty="0">
              <a:solidFill>
                <a:schemeClr val="accent2"/>
              </a:solidFill>
              <a:latin typeface="黑体" pitchFamily="49" charset="-122"/>
              <a:ea typeface="黑体" pitchFamily="49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2000" dirty="0" smtClean="0">
                <a:latin typeface="Arial" pitchFamily="34" charset="0"/>
                <a:sym typeface="Symbol" pitchFamily="18" charset="2"/>
              </a:rPr>
              <a:t>                   </a:t>
            </a:r>
            <a:endParaRPr lang="en-US" altLang="zh-CN" sz="2000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304800" y="2038350"/>
            <a:ext cx="8153400" cy="687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15000"/>
              </a:spcBef>
            </a:pPr>
            <a:r>
              <a:rPr lang="en-US" altLang="zh-CN" dirty="0" smtClean="0">
                <a:ea typeface="黑体" pitchFamily="49" charset="-122"/>
              </a:rPr>
              <a:t>(123.45)</a:t>
            </a:r>
            <a:r>
              <a:rPr lang="en-US" altLang="zh-CN" baseline="-25000" dirty="0" smtClean="0">
                <a:ea typeface="黑体" pitchFamily="49" charset="-122"/>
              </a:rPr>
              <a:t>10</a:t>
            </a:r>
            <a:endParaRPr lang="en-US" altLang="zh-CN" dirty="0" smtClean="0"/>
          </a:p>
          <a:p>
            <a:pPr algn="l">
              <a:spcBef>
                <a:spcPct val="15000"/>
              </a:spcBef>
            </a:pPr>
            <a:endParaRPr lang="en-US" altLang="zh-CN" dirty="0"/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1371601" y="2477722"/>
            <a:ext cx="7772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15000"/>
              </a:spcBef>
            </a:pPr>
            <a:r>
              <a:rPr lang="en-US" altLang="zh-CN" dirty="0" smtClean="0">
                <a:solidFill>
                  <a:srgbClr val="FF0000"/>
                </a:solidFill>
                <a:ea typeface="黑体" pitchFamily="49" charset="-122"/>
              </a:rPr>
              <a:t>= (</a:t>
            </a:r>
            <a:r>
              <a:rPr lang="en-US" altLang="zh-CN" dirty="0" smtClean="0">
                <a:ea typeface=""/>
                <a:cs typeface=""/>
              </a:rPr>
              <a:t>1</a:t>
            </a:r>
            <a:r>
              <a:rPr lang="en-US" altLang="zh-CN" dirty="0"/>
              <a:t>×(</a:t>
            </a:r>
            <a:r>
              <a:rPr lang="en-US" altLang="zh-CN" dirty="0">
                <a:ea typeface=""/>
                <a:cs typeface=""/>
              </a:rPr>
              <a:t>1010)</a:t>
            </a:r>
            <a:r>
              <a:rPr lang="en-US" altLang="zh-CN" baseline="30000" dirty="0">
                <a:ea typeface=""/>
                <a:cs typeface=""/>
              </a:rPr>
              <a:t>2</a:t>
            </a:r>
            <a:r>
              <a:rPr lang="en-US" altLang="zh-CN" dirty="0">
                <a:ea typeface=""/>
                <a:cs typeface=""/>
              </a:rPr>
              <a:t>+</a:t>
            </a:r>
            <a:r>
              <a:rPr lang="en-US" altLang="zh-CN" dirty="0"/>
              <a:t>10×(1010)</a:t>
            </a:r>
            <a:r>
              <a:rPr lang="en-US" altLang="zh-CN" baseline="30000" dirty="0">
                <a:ea typeface=""/>
                <a:cs typeface=""/>
              </a:rPr>
              <a:t>1</a:t>
            </a:r>
            <a:r>
              <a:rPr lang="en-US" altLang="zh-CN" dirty="0">
                <a:ea typeface=""/>
                <a:cs typeface=""/>
              </a:rPr>
              <a:t>+11</a:t>
            </a:r>
            <a:r>
              <a:rPr lang="en-US" altLang="zh-CN" dirty="0"/>
              <a:t>×(</a:t>
            </a:r>
            <a:r>
              <a:rPr lang="en-US" altLang="zh-CN" dirty="0" smtClean="0"/>
              <a:t>1010)</a:t>
            </a:r>
            <a:r>
              <a:rPr lang="en-US" altLang="zh-CN" baseline="30000" dirty="0" smtClean="0">
                <a:ea typeface=""/>
                <a:cs typeface=""/>
              </a:rPr>
              <a:t>0</a:t>
            </a:r>
            <a:r>
              <a:rPr lang="en-US" altLang="zh-CN" dirty="0" smtClean="0">
                <a:ea typeface=""/>
                <a:cs typeface=""/>
              </a:rPr>
              <a:t>+100</a:t>
            </a:r>
            <a:r>
              <a:rPr lang="en-US" altLang="zh-CN" baseline="30000" dirty="0" smtClean="0">
                <a:ea typeface=""/>
                <a:cs typeface=""/>
              </a:rPr>
              <a:t> </a:t>
            </a:r>
            <a:r>
              <a:rPr lang="en-US" altLang="zh-CN" dirty="0" smtClean="0"/>
              <a:t>×(1010)</a:t>
            </a:r>
            <a:r>
              <a:rPr lang="en-US" altLang="zh-CN" baseline="30000" dirty="0" smtClean="0"/>
              <a:t>-1</a:t>
            </a:r>
            <a:r>
              <a:rPr lang="en-US" altLang="zh-CN" dirty="0" smtClean="0"/>
              <a:t>+101×(1010)</a:t>
            </a:r>
            <a:r>
              <a:rPr lang="en-US" altLang="zh-CN" baseline="30000" dirty="0" smtClean="0">
                <a:ea typeface=""/>
                <a:cs typeface=""/>
              </a:rPr>
              <a:t>-2</a:t>
            </a:r>
            <a:r>
              <a:rPr lang="en-US" altLang="zh-CN" dirty="0" smtClean="0">
                <a:solidFill>
                  <a:srgbClr val="FF0000"/>
                </a:solidFill>
                <a:ea typeface=""/>
                <a:cs typeface=""/>
              </a:rPr>
              <a:t>)</a:t>
            </a:r>
            <a:r>
              <a:rPr lang="en-US" altLang="zh-CN" baseline="-25000" dirty="0" smtClean="0">
                <a:solidFill>
                  <a:srgbClr val="FF0000"/>
                </a:solidFill>
                <a:ea typeface=""/>
                <a:cs typeface=""/>
              </a:rPr>
              <a:t>2</a:t>
            </a:r>
            <a:endParaRPr lang="en-US" altLang="zh-CN" baseline="-25000" dirty="0">
              <a:solidFill>
                <a:srgbClr val="FF0000"/>
              </a:solidFill>
              <a:ea typeface=""/>
              <a:cs typeface="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371600" y="2876550"/>
            <a:ext cx="75612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15000"/>
              </a:spcBef>
            </a:pPr>
            <a:r>
              <a:rPr lang="en-US" altLang="zh-CN" b="1" dirty="0">
                <a:solidFill>
                  <a:srgbClr val="FF0000"/>
                </a:solidFill>
                <a:ea typeface="黑体" pitchFamily="49" charset="-122"/>
              </a:rPr>
              <a:t>=   ……</a:t>
            </a:r>
            <a:r>
              <a:rPr lang="en-US" altLang="zh-CN" b="1" dirty="0">
                <a:solidFill>
                  <a:srgbClr val="FF0000"/>
                </a:solidFill>
                <a:ea typeface=""/>
                <a:cs typeface=""/>
              </a:rPr>
              <a:t> 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533400" y="33337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多项式替换法在这种转换中计算复杂，不合适！需要探索新的方法！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71600" y="2055558"/>
            <a:ext cx="5257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ea typeface="黑体" pitchFamily="49" charset="-122"/>
              </a:rPr>
              <a:t>= (</a:t>
            </a:r>
            <a:r>
              <a:rPr lang="en-US" altLang="zh-CN" dirty="0" smtClean="0">
                <a:ea typeface=""/>
                <a:cs typeface=""/>
              </a:rPr>
              <a:t>1</a:t>
            </a:r>
            <a:r>
              <a:rPr lang="en-US" altLang="zh-CN" dirty="0" smtClean="0"/>
              <a:t>×</a:t>
            </a:r>
            <a:r>
              <a:rPr lang="en-US" altLang="zh-CN" dirty="0" smtClean="0">
                <a:ea typeface=""/>
                <a:cs typeface=""/>
              </a:rPr>
              <a:t>10</a:t>
            </a:r>
            <a:r>
              <a:rPr lang="en-US" altLang="zh-CN" baseline="30000" dirty="0" smtClean="0">
                <a:ea typeface=""/>
                <a:cs typeface=""/>
              </a:rPr>
              <a:t>2</a:t>
            </a:r>
            <a:r>
              <a:rPr lang="en-US" altLang="zh-CN" dirty="0" smtClean="0">
                <a:ea typeface=""/>
                <a:cs typeface=""/>
              </a:rPr>
              <a:t>+2</a:t>
            </a:r>
            <a:r>
              <a:rPr lang="en-US" altLang="zh-CN" dirty="0" smtClean="0"/>
              <a:t>×</a:t>
            </a:r>
            <a:r>
              <a:rPr lang="en-US" altLang="zh-CN" dirty="0" smtClean="0">
                <a:ea typeface=""/>
                <a:cs typeface=""/>
              </a:rPr>
              <a:t>10</a:t>
            </a:r>
            <a:r>
              <a:rPr lang="en-US" altLang="zh-CN" baseline="30000" dirty="0" smtClean="0">
                <a:ea typeface=""/>
                <a:cs typeface=""/>
              </a:rPr>
              <a:t>1</a:t>
            </a:r>
            <a:r>
              <a:rPr lang="en-US" altLang="zh-CN" dirty="0" smtClean="0">
                <a:ea typeface=""/>
                <a:cs typeface=""/>
              </a:rPr>
              <a:t>+3</a:t>
            </a:r>
            <a:r>
              <a:rPr lang="en-US" altLang="zh-CN" dirty="0" smtClean="0"/>
              <a:t>×</a:t>
            </a:r>
            <a:r>
              <a:rPr lang="en-US" altLang="zh-CN" dirty="0" smtClean="0">
                <a:ea typeface=""/>
                <a:cs typeface=""/>
              </a:rPr>
              <a:t>10</a:t>
            </a:r>
            <a:r>
              <a:rPr lang="en-US" altLang="zh-CN" baseline="30000" dirty="0" smtClean="0">
                <a:ea typeface=""/>
                <a:cs typeface=""/>
              </a:rPr>
              <a:t>0 </a:t>
            </a:r>
            <a:r>
              <a:rPr lang="en-US" altLang="zh-CN" dirty="0" smtClean="0">
                <a:ea typeface=""/>
                <a:cs typeface=""/>
              </a:rPr>
              <a:t>+4</a:t>
            </a:r>
            <a:r>
              <a:rPr lang="en-US" altLang="zh-CN" dirty="0" smtClean="0"/>
              <a:t>×10</a:t>
            </a:r>
            <a:r>
              <a:rPr lang="en-US" altLang="zh-CN" baseline="30000" dirty="0" smtClean="0"/>
              <a:t>-1</a:t>
            </a:r>
            <a:r>
              <a:rPr lang="en-US" altLang="zh-CN" dirty="0" smtClean="0"/>
              <a:t>+5×</a:t>
            </a:r>
            <a:r>
              <a:rPr lang="en-US" altLang="zh-CN" dirty="0" smtClean="0">
                <a:ea typeface=""/>
                <a:cs typeface=""/>
              </a:rPr>
              <a:t>10</a:t>
            </a:r>
            <a:r>
              <a:rPr lang="en-US" altLang="zh-CN" baseline="30000" dirty="0" smtClean="0">
                <a:ea typeface=""/>
                <a:cs typeface=""/>
              </a:rPr>
              <a:t>-2</a:t>
            </a:r>
            <a:r>
              <a:rPr lang="en-US" altLang="zh-CN" dirty="0" smtClean="0"/>
              <a:t>)</a:t>
            </a:r>
            <a:r>
              <a:rPr lang="en-US" altLang="zh-CN" baseline="-25000" dirty="0" smtClean="0">
                <a:ea typeface="黑体" pitchFamily="49" charset="-122"/>
              </a:rPr>
              <a:t> 10</a:t>
            </a:r>
            <a:r>
              <a:rPr lang="en-US" altLang="zh-CN" dirty="0" smtClean="0">
                <a:ea typeface="黑体" pitchFamily="49" charset="-122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十进制转换成其它进制：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124200" y="742950"/>
            <a:ext cx="1371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乘除法</a:t>
            </a:r>
            <a:endParaRPr lang="en-US" altLang="zh-CN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1600200" y="15049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十进制整数转换成二进制：除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取余</a:t>
            </a:r>
            <a:endParaRPr lang="en-US" altLang="zh-CN" sz="1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79217" y="2343150"/>
            <a:ext cx="344998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十进制小数转换成二进制：乘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取整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1066800" y="1200150"/>
            <a:ext cx="3605212" cy="544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 dirty="0" smtClean="0">
                <a:solidFill>
                  <a:schemeClr val="accent2"/>
                </a:solidFill>
                <a:ea typeface="黑体" pitchFamily="49" charset="-122"/>
              </a:rPr>
              <a:t>例</a:t>
            </a:r>
            <a:r>
              <a:rPr lang="en-US" altLang="zh-CN" sz="2000" dirty="0" smtClean="0">
                <a:solidFill>
                  <a:schemeClr val="accent2"/>
                </a:solidFill>
                <a:ea typeface="黑体" pitchFamily="49" charset="-122"/>
              </a:rPr>
              <a:t>5</a:t>
            </a:r>
            <a:r>
              <a:rPr lang="en-US" altLang="zh-CN" sz="2000" dirty="0" smtClean="0"/>
              <a:t>  </a:t>
            </a:r>
            <a:r>
              <a:rPr lang="en-US" altLang="zh-CN" sz="2000" dirty="0"/>
              <a:t>(35)</a:t>
            </a:r>
            <a:r>
              <a:rPr lang="en-US" altLang="zh-CN" sz="2000" baseline="-25000" dirty="0"/>
              <a:t>10</a:t>
            </a:r>
            <a:r>
              <a:rPr lang="en-US" altLang="zh-CN" sz="2000" dirty="0"/>
              <a:t>=(?)</a:t>
            </a:r>
            <a:r>
              <a:rPr lang="en-US" altLang="zh-CN" sz="2000" baseline="-25000" dirty="0"/>
              <a:t>2</a:t>
            </a:r>
          </a:p>
        </p:txBody>
      </p:sp>
      <p:grpSp>
        <p:nvGrpSpPr>
          <p:cNvPr id="2" name="Group 74"/>
          <p:cNvGrpSpPr>
            <a:grpSpLocks/>
          </p:cNvGrpSpPr>
          <p:nvPr/>
        </p:nvGrpSpPr>
        <p:grpSpPr bwMode="auto">
          <a:xfrm>
            <a:off x="2681289" y="1809751"/>
            <a:ext cx="1012825" cy="400051"/>
            <a:chOff x="1762" y="1783"/>
            <a:chExt cx="638" cy="336"/>
          </a:xfrm>
        </p:grpSpPr>
        <p:sp>
          <p:nvSpPr>
            <p:cNvPr id="36920" name="Text Box 5"/>
            <p:cNvSpPr txBox="1">
              <a:spLocks noChangeArrowheads="1"/>
            </p:cNvSpPr>
            <p:nvPr/>
          </p:nvSpPr>
          <p:spPr bwMode="auto">
            <a:xfrm>
              <a:off x="1762" y="1783"/>
              <a:ext cx="519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 2  35</a:t>
              </a:r>
            </a:p>
          </p:txBody>
        </p:sp>
        <p:grpSp>
          <p:nvGrpSpPr>
            <p:cNvPr id="3" name="Group 30"/>
            <p:cNvGrpSpPr>
              <a:grpSpLocks/>
            </p:cNvGrpSpPr>
            <p:nvPr/>
          </p:nvGrpSpPr>
          <p:grpSpPr bwMode="auto">
            <a:xfrm>
              <a:off x="1978" y="1863"/>
              <a:ext cx="422" cy="240"/>
              <a:chOff x="1594" y="1863"/>
              <a:chExt cx="422" cy="240"/>
            </a:xfrm>
          </p:grpSpPr>
          <p:sp>
            <p:nvSpPr>
              <p:cNvPr id="36922" name="Line 6"/>
              <p:cNvSpPr>
                <a:spLocks noChangeShapeType="1"/>
              </p:cNvSpPr>
              <p:nvPr/>
            </p:nvSpPr>
            <p:spPr bwMode="auto">
              <a:xfrm>
                <a:off x="1594" y="1863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  <p:sp>
            <p:nvSpPr>
              <p:cNvPr id="36923" name="Line 7"/>
              <p:cNvSpPr>
                <a:spLocks noChangeShapeType="1"/>
              </p:cNvSpPr>
              <p:nvPr/>
            </p:nvSpPr>
            <p:spPr bwMode="auto">
              <a:xfrm>
                <a:off x="1594" y="2103"/>
                <a:ext cx="4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</p:grpSp>
      </p:grp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3236912" y="2857440"/>
            <a:ext cx="327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dirty="0"/>
              <a:t>4</a:t>
            </a:r>
          </a:p>
        </p:txBody>
      </p:sp>
      <p:grpSp>
        <p:nvGrpSpPr>
          <p:cNvPr id="4" name="Group 75"/>
          <p:cNvGrpSpPr>
            <a:grpSpLocks/>
          </p:cNvGrpSpPr>
          <p:nvPr/>
        </p:nvGrpSpPr>
        <p:grpSpPr bwMode="auto">
          <a:xfrm>
            <a:off x="4776790" y="1416843"/>
            <a:ext cx="696913" cy="750094"/>
            <a:chOff x="3082" y="1453"/>
            <a:chExt cx="439" cy="630"/>
          </a:xfrm>
        </p:grpSpPr>
        <p:sp>
          <p:nvSpPr>
            <p:cNvPr id="36918" name="Text Box 14"/>
            <p:cNvSpPr txBox="1">
              <a:spLocks noChangeArrowheads="1"/>
            </p:cNvSpPr>
            <p:nvPr/>
          </p:nvSpPr>
          <p:spPr bwMode="auto">
            <a:xfrm>
              <a:off x="3082" y="1453"/>
              <a:ext cx="439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>
                  <a:ea typeface="黑体" pitchFamily="49" charset="-122"/>
                </a:rPr>
                <a:t>余数</a:t>
              </a:r>
            </a:p>
          </p:txBody>
        </p:sp>
        <p:sp>
          <p:nvSpPr>
            <p:cNvPr id="36919" name="Text Box 15"/>
            <p:cNvSpPr txBox="1">
              <a:spLocks noChangeArrowheads="1"/>
            </p:cNvSpPr>
            <p:nvPr/>
          </p:nvSpPr>
          <p:spPr bwMode="auto">
            <a:xfrm>
              <a:off x="3210" y="1747"/>
              <a:ext cx="20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1</a:t>
              </a:r>
            </a:p>
          </p:txBody>
        </p:sp>
      </p:grpSp>
      <p:sp>
        <p:nvSpPr>
          <p:cNvPr id="40977" name="Text Box 17"/>
          <p:cNvSpPr txBox="1">
            <a:spLocks noChangeArrowheads="1"/>
          </p:cNvSpPr>
          <p:nvPr/>
        </p:nvSpPr>
        <p:spPr bwMode="auto">
          <a:xfrm>
            <a:off x="4989512" y="2087165"/>
            <a:ext cx="327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dirty="0"/>
              <a:t>1</a:t>
            </a:r>
          </a:p>
        </p:txBody>
      </p:sp>
      <p:sp>
        <p:nvSpPr>
          <p:cNvPr id="40983" name="Text Box 23"/>
          <p:cNvSpPr txBox="1">
            <a:spLocks noChangeArrowheads="1"/>
          </p:cNvSpPr>
          <p:nvPr/>
        </p:nvSpPr>
        <p:spPr bwMode="auto">
          <a:xfrm>
            <a:off x="1408112" y="4167188"/>
            <a:ext cx="5486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ea typeface="黑体" pitchFamily="49" charset="-122"/>
              </a:rPr>
              <a:t>结果</a:t>
            </a:r>
            <a:r>
              <a:rPr lang="zh-CN" altLang="en-US" sz="2000" b="1" dirty="0"/>
              <a:t>：</a:t>
            </a:r>
            <a:r>
              <a:rPr lang="zh-CN" altLang="en-US" sz="2000" dirty="0"/>
              <a:t>    </a:t>
            </a:r>
            <a:r>
              <a:rPr lang="en-US" altLang="zh-CN" sz="2000" dirty="0"/>
              <a:t>(35)</a:t>
            </a:r>
            <a:r>
              <a:rPr lang="en-US" altLang="zh-CN" sz="2000" baseline="-25000" dirty="0"/>
              <a:t>10</a:t>
            </a:r>
            <a:r>
              <a:rPr lang="en-US" altLang="zh-CN" sz="2000" dirty="0"/>
              <a:t>=(100011)</a:t>
            </a:r>
            <a:r>
              <a:rPr lang="en-US" altLang="zh-CN" sz="2000" baseline="-25000" dirty="0"/>
              <a:t>2</a:t>
            </a:r>
          </a:p>
        </p:txBody>
      </p:sp>
      <p:sp>
        <p:nvSpPr>
          <p:cNvPr id="40984" name="Text Box 24"/>
          <p:cNvSpPr txBox="1">
            <a:spLocks noChangeArrowheads="1"/>
          </p:cNvSpPr>
          <p:nvPr/>
        </p:nvSpPr>
        <p:spPr bwMode="auto">
          <a:xfrm>
            <a:off x="3008312" y="2190750"/>
            <a:ext cx="470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dirty="0"/>
              <a:t>17</a:t>
            </a:r>
          </a:p>
        </p:txBody>
      </p:sp>
      <p:sp>
        <p:nvSpPr>
          <p:cNvPr id="40989" name="Text Box 29"/>
          <p:cNvSpPr txBox="1">
            <a:spLocks noChangeArrowheads="1"/>
          </p:cNvSpPr>
          <p:nvPr/>
        </p:nvSpPr>
        <p:spPr bwMode="auto">
          <a:xfrm>
            <a:off x="3236912" y="2552640"/>
            <a:ext cx="327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dirty="0"/>
              <a:t>8</a:t>
            </a:r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2720975" y="2190751"/>
            <a:ext cx="957263" cy="400051"/>
            <a:chOff x="1403" y="2103"/>
            <a:chExt cx="603" cy="336"/>
          </a:xfrm>
        </p:grpSpPr>
        <p:grpSp>
          <p:nvGrpSpPr>
            <p:cNvPr id="6" name="Group 31"/>
            <p:cNvGrpSpPr>
              <a:grpSpLocks/>
            </p:cNvGrpSpPr>
            <p:nvPr/>
          </p:nvGrpSpPr>
          <p:grpSpPr bwMode="auto">
            <a:xfrm>
              <a:off x="1584" y="2167"/>
              <a:ext cx="422" cy="240"/>
              <a:chOff x="1594" y="1879"/>
              <a:chExt cx="422" cy="240"/>
            </a:xfrm>
          </p:grpSpPr>
          <p:sp>
            <p:nvSpPr>
              <p:cNvPr id="36916" name="Line 32"/>
              <p:cNvSpPr>
                <a:spLocks noChangeShapeType="1"/>
              </p:cNvSpPr>
              <p:nvPr/>
            </p:nvSpPr>
            <p:spPr bwMode="auto">
              <a:xfrm>
                <a:off x="1594" y="1879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  <p:sp>
            <p:nvSpPr>
              <p:cNvPr id="36917" name="Line 33"/>
              <p:cNvSpPr>
                <a:spLocks noChangeShapeType="1"/>
              </p:cNvSpPr>
              <p:nvPr/>
            </p:nvSpPr>
            <p:spPr bwMode="auto">
              <a:xfrm>
                <a:off x="1594" y="2119"/>
                <a:ext cx="4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</p:grpSp>
        <p:sp>
          <p:nvSpPr>
            <p:cNvPr id="36915" name="Text Box 34"/>
            <p:cNvSpPr txBox="1">
              <a:spLocks noChangeArrowheads="1"/>
            </p:cNvSpPr>
            <p:nvPr/>
          </p:nvSpPr>
          <p:spPr bwMode="auto">
            <a:xfrm>
              <a:off x="1403" y="2103"/>
              <a:ext cx="20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2</a:t>
              </a:r>
            </a:p>
          </p:txBody>
        </p:sp>
      </p:grp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2873375" y="2552761"/>
            <a:ext cx="973138" cy="400051"/>
            <a:chOff x="1393" y="2103"/>
            <a:chExt cx="613" cy="336"/>
          </a:xfrm>
        </p:grpSpPr>
        <p:grpSp>
          <p:nvGrpSpPr>
            <p:cNvPr id="8" name="Group 37"/>
            <p:cNvGrpSpPr>
              <a:grpSpLocks/>
            </p:cNvGrpSpPr>
            <p:nvPr/>
          </p:nvGrpSpPr>
          <p:grpSpPr bwMode="auto">
            <a:xfrm>
              <a:off x="1584" y="2135"/>
              <a:ext cx="422" cy="240"/>
              <a:chOff x="1594" y="1847"/>
              <a:chExt cx="422" cy="240"/>
            </a:xfrm>
          </p:grpSpPr>
          <p:sp>
            <p:nvSpPr>
              <p:cNvPr id="36912" name="Line 38"/>
              <p:cNvSpPr>
                <a:spLocks noChangeShapeType="1"/>
              </p:cNvSpPr>
              <p:nvPr/>
            </p:nvSpPr>
            <p:spPr bwMode="auto">
              <a:xfrm>
                <a:off x="1594" y="1847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  <p:sp>
            <p:nvSpPr>
              <p:cNvPr id="36913" name="Line 39"/>
              <p:cNvSpPr>
                <a:spLocks noChangeShapeType="1"/>
              </p:cNvSpPr>
              <p:nvPr/>
            </p:nvSpPr>
            <p:spPr bwMode="auto">
              <a:xfrm>
                <a:off x="1594" y="2087"/>
                <a:ext cx="4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</p:grpSp>
        <p:sp>
          <p:nvSpPr>
            <p:cNvPr id="36911" name="Text Box 40"/>
            <p:cNvSpPr txBox="1">
              <a:spLocks noChangeArrowheads="1"/>
            </p:cNvSpPr>
            <p:nvPr/>
          </p:nvSpPr>
          <p:spPr bwMode="auto">
            <a:xfrm>
              <a:off x="1393" y="2103"/>
              <a:ext cx="20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2</a:t>
              </a:r>
            </a:p>
          </p:txBody>
        </p:sp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2873375" y="2857501"/>
            <a:ext cx="973138" cy="400051"/>
            <a:chOff x="1393" y="2087"/>
            <a:chExt cx="613" cy="336"/>
          </a:xfrm>
        </p:grpSpPr>
        <p:grpSp>
          <p:nvGrpSpPr>
            <p:cNvPr id="10" name="Group 42"/>
            <p:cNvGrpSpPr>
              <a:grpSpLocks/>
            </p:cNvGrpSpPr>
            <p:nvPr/>
          </p:nvGrpSpPr>
          <p:grpSpPr bwMode="auto">
            <a:xfrm>
              <a:off x="1584" y="2167"/>
              <a:ext cx="422" cy="240"/>
              <a:chOff x="1594" y="1879"/>
              <a:chExt cx="422" cy="240"/>
            </a:xfrm>
          </p:grpSpPr>
          <p:sp>
            <p:nvSpPr>
              <p:cNvPr id="36908" name="Line 43"/>
              <p:cNvSpPr>
                <a:spLocks noChangeShapeType="1"/>
              </p:cNvSpPr>
              <p:nvPr/>
            </p:nvSpPr>
            <p:spPr bwMode="auto">
              <a:xfrm>
                <a:off x="1594" y="1879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  <p:sp>
            <p:nvSpPr>
              <p:cNvPr id="36909" name="Line 44"/>
              <p:cNvSpPr>
                <a:spLocks noChangeShapeType="1"/>
              </p:cNvSpPr>
              <p:nvPr/>
            </p:nvSpPr>
            <p:spPr bwMode="auto">
              <a:xfrm>
                <a:off x="1594" y="2119"/>
                <a:ext cx="4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</p:grpSp>
        <p:sp>
          <p:nvSpPr>
            <p:cNvPr id="36907" name="Text Box 45"/>
            <p:cNvSpPr txBox="1">
              <a:spLocks noChangeArrowheads="1"/>
            </p:cNvSpPr>
            <p:nvPr/>
          </p:nvSpPr>
          <p:spPr bwMode="auto">
            <a:xfrm>
              <a:off x="1393" y="2087"/>
              <a:ext cx="20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2</a:t>
              </a:r>
            </a:p>
          </p:txBody>
        </p:sp>
      </p:grpSp>
      <p:sp>
        <p:nvSpPr>
          <p:cNvPr id="41006" name="Text Box 46"/>
          <p:cNvSpPr txBox="1">
            <a:spLocks noChangeArrowheads="1"/>
          </p:cNvSpPr>
          <p:nvPr/>
        </p:nvSpPr>
        <p:spPr bwMode="auto">
          <a:xfrm>
            <a:off x="3236912" y="3238440"/>
            <a:ext cx="327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dirty="0"/>
              <a:t>2</a:t>
            </a:r>
          </a:p>
        </p:txBody>
      </p: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2873375" y="3238501"/>
            <a:ext cx="973138" cy="400051"/>
            <a:chOff x="1393" y="2119"/>
            <a:chExt cx="613" cy="336"/>
          </a:xfrm>
        </p:grpSpPr>
        <p:grpSp>
          <p:nvGrpSpPr>
            <p:cNvPr id="12" name="Group 48"/>
            <p:cNvGrpSpPr>
              <a:grpSpLocks/>
            </p:cNvGrpSpPr>
            <p:nvPr/>
          </p:nvGrpSpPr>
          <p:grpSpPr bwMode="auto">
            <a:xfrm>
              <a:off x="1584" y="2151"/>
              <a:ext cx="422" cy="240"/>
              <a:chOff x="1594" y="1863"/>
              <a:chExt cx="422" cy="240"/>
            </a:xfrm>
          </p:grpSpPr>
          <p:sp>
            <p:nvSpPr>
              <p:cNvPr id="36904" name="Line 49"/>
              <p:cNvSpPr>
                <a:spLocks noChangeShapeType="1"/>
              </p:cNvSpPr>
              <p:nvPr/>
            </p:nvSpPr>
            <p:spPr bwMode="auto">
              <a:xfrm>
                <a:off x="1594" y="1863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  <p:sp>
            <p:nvSpPr>
              <p:cNvPr id="36905" name="Line 50"/>
              <p:cNvSpPr>
                <a:spLocks noChangeShapeType="1"/>
              </p:cNvSpPr>
              <p:nvPr/>
            </p:nvSpPr>
            <p:spPr bwMode="auto">
              <a:xfrm>
                <a:off x="1594" y="2103"/>
                <a:ext cx="4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</p:grpSp>
        <p:sp>
          <p:nvSpPr>
            <p:cNvPr id="36903" name="Text Box 51"/>
            <p:cNvSpPr txBox="1">
              <a:spLocks noChangeArrowheads="1"/>
            </p:cNvSpPr>
            <p:nvPr/>
          </p:nvSpPr>
          <p:spPr bwMode="auto">
            <a:xfrm>
              <a:off x="1393" y="2119"/>
              <a:ext cx="20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2</a:t>
              </a:r>
            </a:p>
          </p:txBody>
        </p:sp>
      </p:grpSp>
      <p:sp>
        <p:nvSpPr>
          <p:cNvPr id="41012" name="Text Box 52"/>
          <p:cNvSpPr txBox="1">
            <a:spLocks noChangeArrowheads="1"/>
          </p:cNvSpPr>
          <p:nvPr/>
        </p:nvSpPr>
        <p:spPr bwMode="auto">
          <a:xfrm>
            <a:off x="3236912" y="3562350"/>
            <a:ext cx="327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dirty="0"/>
              <a:t>1</a:t>
            </a:r>
          </a:p>
        </p:txBody>
      </p:sp>
      <p:grpSp>
        <p:nvGrpSpPr>
          <p:cNvPr id="13" name="Group 53"/>
          <p:cNvGrpSpPr>
            <a:grpSpLocks/>
          </p:cNvGrpSpPr>
          <p:nvPr/>
        </p:nvGrpSpPr>
        <p:grpSpPr bwMode="auto">
          <a:xfrm>
            <a:off x="2873375" y="3619501"/>
            <a:ext cx="973138" cy="400051"/>
            <a:chOff x="1393" y="2151"/>
            <a:chExt cx="613" cy="336"/>
          </a:xfrm>
        </p:grpSpPr>
        <p:grpSp>
          <p:nvGrpSpPr>
            <p:cNvPr id="14" name="Group 54"/>
            <p:cNvGrpSpPr>
              <a:grpSpLocks/>
            </p:cNvGrpSpPr>
            <p:nvPr/>
          </p:nvGrpSpPr>
          <p:grpSpPr bwMode="auto">
            <a:xfrm>
              <a:off x="1584" y="2167"/>
              <a:ext cx="422" cy="240"/>
              <a:chOff x="1594" y="1879"/>
              <a:chExt cx="422" cy="240"/>
            </a:xfrm>
          </p:grpSpPr>
          <p:sp>
            <p:nvSpPr>
              <p:cNvPr id="36900" name="Line 55"/>
              <p:cNvSpPr>
                <a:spLocks noChangeShapeType="1"/>
              </p:cNvSpPr>
              <p:nvPr/>
            </p:nvSpPr>
            <p:spPr bwMode="auto">
              <a:xfrm>
                <a:off x="1594" y="1879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  <p:sp>
            <p:nvSpPr>
              <p:cNvPr id="36901" name="Line 56"/>
              <p:cNvSpPr>
                <a:spLocks noChangeShapeType="1"/>
              </p:cNvSpPr>
              <p:nvPr/>
            </p:nvSpPr>
            <p:spPr bwMode="auto">
              <a:xfrm>
                <a:off x="1594" y="2119"/>
                <a:ext cx="4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2000"/>
              </a:p>
            </p:txBody>
          </p:sp>
        </p:grpSp>
        <p:sp>
          <p:nvSpPr>
            <p:cNvPr id="36899" name="Text Box 57"/>
            <p:cNvSpPr txBox="1">
              <a:spLocks noChangeArrowheads="1"/>
            </p:cNvSpPr>
            <p:nvPr/>
          </p:nvSpPr>
          <p:spPr bwMode="auto">
            <a:xfrm>
              <a:off x="1393" y="2151"/>
              <a:ext cx="20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000" dirty="0"/>
                <a:t>2</a:t>
              </a:r>
            </a:p>
          </p:txBody>
        </p:sp>
      </p:grpSp>
      <p:sp>
        <p:nvSpPr>
          <p:cNvPr id="41018" name="Text Box 58"/>
          <p:cNvSpPr txBox="1">
            <a:spLocks noChangeArrowheads="1"/>
          </p:cNvSpPr>
          <p:nvPr/>
        </p:nvSpPr>
        <p:spPr bwMode="auto">
          <a:xfrm>
            <a:off x="3236912" y="3848040"/>
            <a:ext cx="327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dirty="0"/>
              <a:t>0</a:t>
            </a:r>
          </a:p>
        </p:txBody>
      </p:sp>
      <p:sp>
        <p:nvSpPr>
          <p:cNvPr id="41019" name="Text Box 59"/>
          <p:cNvSpPr txBox="1">
            <a:spLocks noChangeArrowheads="1"/>
          </p:cNvSpPr>
          <p:nvPr/>
        </p:nvSpPr>
        <p:spPr bwMode="auto">
          <a:xfrm>
            <a:off x="4989512" y="2430065"/>
            <a:ext cx="327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/>
              <a:t>0</a:t>
            </a:r>
          </a:p>
        </p:txBody>
      </p:sp>
      <p:sp>
        <p:nvSpPr>
          <p:cNvPr id="41020" name="Text Box 60"/>
          <p:cNvSpPr txBox="1">
            <a:spLocks noChangeArrowheads="1"/>
          </p:cNvSpPr>
          <p:nvPr/>
        </p:nvSpPr>
        <p:spPr bwMode="auto">
          <a:xfrm>
            <a:off x="5980112" y="3458765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endParaRPr lang="zh-CN" altLang="zh-CN" sz="2000"/>
          </a:p>
        </p:txBody>
      </p:sp>
      <p:sp>
        <p:nvSpPr>
          <p:cNvPr id="41021" name="Text Box 61"/>
          <p:cNvSpPr txBox="1">
            <a:spLocks noChangeArrowheads="1"/>
          </p:cNvSpPr>
          <p:nvPr/>
        </p:nvSpPr>
        <p:spPr bwMode="auto">
          <a:xfrm>
            <a:off x="4989512" y="2795587"/>
            <a:ext cx="327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/>
              <a:t>0</a:t>
            </a:r>
          </a:p>
        </p:txBody>
      </p:sp>
      <p:sp>
        <p:nvSpPr>
          <p:cNvPr id="41022" name="Text Box 62"/>
          <p:cNvSpPr txBox="1">
            <a:spLocks noChangeArrowheads="1"/>
          </p:cNvSpPr>
          <p:nvPr/>
        </p:nvSpPr>
        <p:spPr bwMode="auto">
          <a:xfrm>
            <a:off x="4989512" y="3115865"/>
            <a:ext cx="327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 dirty="0"/>
              <a:t>0</a:t>
            </a:r>
          </a:p>
        </p:txBody>
      </p:sp>
      <p:sp>
        <p:nvSpPr>
          <p:cNvPr id="41023" name="Text Box 63"/>
          <p:cNvSpPr txBox="1">
            <a:spLocks noChangeArrowheads="1"/>
          </p:cNvSpPr>
          <p:nvPr/>
        </p:nvSpPr>
        <p:spPr bwMode="auto">
          <a:xfrm>
            <a:off x="4989512" y="3458765"/>
            <a:ext cx="32733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000"/>
              <a:t>1</a:t>
            </a:r>
          </a:p>
        </p:txBody>
      </p:sp>
      <p:grpSp>
        <p:nvGrpSpPr>
          <p:cNvPr id="15" name="Group 73"/>
          <p:cNvGrpSpPr>
            <a:grpSpLocks/>
          </p:cNvGrpSpPr>
          <p:nvPr/>
        </p:nvGrpSpPr>
        <p:grpSpPr bwMode="auto">
          <a:xfrm>
            <a:off x="5888038" y="1391841"/>
            <a:ext cx="1692275" cy="2444353"/>
            <a:chOff x="3782" y="1432"/>
            <a:chExt cx="1066" cy="2053"/>
          </a:xfrm>
        </p:grpSpPr>
        <p:sp>
          <p:nvSpPr>
            <p:cNvPr id="36889" name="Text Box 19"/>
            <p:cNvSpPr txBox="1">
              <a:spLocks noChangeArrowheads="1"/>
            </p:cNvSpPr>
            <p:nvPr/>
          </p:nvSpPr>
          <p:spPr bwMode="auto">
            <a:xfrm>
              <a:off x="3782" y="1432"/>
              <a:ext cx="843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>
                  <a:latin typeface="黑体" pitchFamily="49" charset="-122"/>
                  <a:ea typeface="黑体" pitchFamily="49" charset="-122"/>
                </a:rPr>
                <a:t>转成</a:t>
              </a:r>
              <a:r>
                <a:rPr lang="en-US" altLang="zh-CN" sz="2000">
                  <a:latin typeface="黑体" pitchFamily="49" charset="-122"/>
                  <a:ea typeface="黑体" pitchFamily="49" charset="-122"/>
                </a:rPr>
                <a:t>2</a:t>
              </a:r>
              <a:r>
                <a:rPr lang="zh-CN" altLang="en-US" sz="2000">
                  <a:latin typeface="黑体" pitchFamily="49" charset="-122"/>
                  <a:ea typeface="黑体" pitchFamily="49" charset="-122"/>
                </a:rPr>
                <a:t>进制</a:t>
              </a:r>
            </a:p>
          </p:txBody>
        </p:sp>
        <p:grpSp>
          <p:nvGrpSpPr>
            <p:cNvPr id="16" name="Group 71"/>
            <p:cNvGrpSpPr>
              <a:grpSpLocks/>
            </p:cNvGrpSpPr>
            <p:nvPr/>
          </p:nvGrpSpPr>
          <p:grpSpPr bwMode="auto">
            <a:xfrm>
              <a:off x="4102" y="1728"/>
              <a:ext cx="746" cy="1757"/>
              <a:chOff x="4102" y="1728"/>
              <a:chExt cx="746" cy="1757"/>
            </a:xfrm>
          </p:grpSpPr>
          <p:sp>
            <p:nvSpPr>
              <p:cNvPr id="36891" name="Text Box 64"/>
              <p:cNvSpPr txBox="1">
                <a:spLocks noChangeArrowheads="1"/>
              </p:cNvSpPr>
              <p:nvPr/>
            </p:nvSpPr>
            <p:spPr bwMode="auto">
              <a:xfrm>
                <a:off x="4102" y="1728"/>
                <a:ext cx="206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/>
                  <a:t>1</a:t>
                </a:r>
              </a:p>
            </p:txBody>
          </p:sp>
          <p:sp>
            <p:nvSpPr>
              <p:cNvPr id="36892" name="Text Box 65"/>
              <p:cNvSpPr txBox="1">
                <a:spLocks noChangeArrowheads="1"/>
              </p:cNvSpPr>
              <p:nvPr/>
            </p:nvSpPr>
            <p:spPr bwMode="auto">
              <a:xfrm>
                <a:off x="4108" y="1997"/>
                <a:ext cx="206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/>
                  <a:t>1</a:t>
                </a:r>
              </a:p>
            </p:txBody>
          </p:sp>
          <p:sp>
            <p:nvSpPr>
              <p:cNvPr id="36893" name="Text Box 66"/>
              <p:cNvSpPr txBox="1">
                <a:spLocks noChangeArrowheads="1"/>
              </p:cNvSpPr>
              <p:nvPr/>
            </p:nvSpPr>
            <p:spPr bwMode="auto">
              <a:xfrm>
                <a:off x="4108" y="2285"/>
                <a:ext cx="206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/>
                  <a:t>0</a:t>
                </a:r>
              </a:p>
            </p:txBody>
          </p:sp>
          <p:sp>
            <p:nvSpPr>
              <p:cNvPr id="36894" name="Text Box 67"/>
              <p:cNvSpPr txBox="1">
                <a:spLocks noChangeArrowheads="1"/>
              </p:cNvSpPr>
              <p:nvPr/>
            </p:nvSpPr>
            <p:spPr bwMode="auto">
              <a:xfrm>
                <a:off x="4732" y="3149"/>
                <a:ext cx="116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endParaRPr lang="zh-CN" altLang="zh-CN" sz="2000"/>
              </a:p>
            </p:txBody>
          </p:sp>
          <p:sp>
            <p:nvSpPr>
              <p:cNvPr id="36895" name="Text Box 68"/>
              <p:cNvSpPr txBox="1">
                <a:spLocks noChangeArrowheads="1"/>
              </p:cNvSpPr>
              <p:nvPr/>
            </p:nvSpPr>
            <p:spPr bwMode="auto">
              <a:xfrm>
                <a:off x="4108" y="2592"/>
                <a:ext cx="206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/>
                  <a:t>0</a:t>
                </a:r>
              </a:p>
            </p:txBody>
          </p:sp>
          <p:sp>
            <p:nvSpPr>
              <p:cNvPr id="36896" name="Text Box 69"/>
              <p:cNvSpPr txBox="1">
                <a:spLocks noChangeArrowheads="1"/>
              </p:cNvSpPr>
              <p:nvPr/>
            </p:nvSpPr>
            <p:spPr bwMode="auto">
              <a:xfrm>
                <a:off x="4108" y="2861"/>
                <a:ext cx="206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/>
                  <a:t>0</a:t>
                </a:r>
              </a:p>
            </p:txBody>
          </p:sp>
          <p:sp>
            <p:nvSpPr>
              <p:cNvPr id="36897" name="Text Box 70"/>
              <p:cNvSpPr txBox="1">
                <a:spLocks noChangeArrowheads="1"/>
              </p:cNvSpPr>
              <p:nvPr/>
            </p:nvSpPr>
            <p:spPr bwMode="auto">
              <a:xfrm>
                <a:off x="4108" y="3149"/>
                <a:ext cx="206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000"/>
                  <a:t>1</a:t>
                </a:r>
              </a:p>
            </p:txBody>
          </p:sp>
        </p:grpSp>
      </p:grpSp>
      <p:sp>
        <p:nvSpPr>
          <p:cNvPr id="60" name="矩形 59"/>
          <p:cNvSpPr/>
          <p:nvPr/>
        </p:nvSpPr>
        <p:spPr>
          <a:xfrm>
            <a:off x="228600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Rectangle 14"/>
          <p:cNvSpPr>
            <a:spLocks noChangeArrowheads="1"/>
          </p:cNvSpPr>
          <p:nvPr/>
        </p:nvSpPr>
        <p:spPr bwMode="auto">
          <a:xfrm>
            <a:off x="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十进制转换成其它进制：乘除法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1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1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1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1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1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1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1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1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0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7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2" grpId="0" autoUpdateAnimBg="0"/>
      <p:bldP spid="40977" grpId="0" autoUpdateAnimBg="0"/>
      <p:bldP spid="40983" grpId="0" autoUpdateAnimBg="0"/>
      <p:bldP spid="40984" grpId="0" autoUpdateAnimBg="0"/>
      <p:bldP spid="40989" grpId="0" autoUpdateAnimBg="0"/>
      <p:bldP spid="41006" grpId="0" autoUpdateAnimBg="0"/>
      <p:bldP spid="41012" grpId="0" autoUpdateAnimBg="0"/>
      <p:bldP spid="41018" grpId="0" autoUpdateAnimBg="0"/>
      <p:bldP spid="41019" grpId="0" autoUpdateAnimBg="0"/>
      <p:bldP spid="41020" grpId="0" autoUpdateAnimBg="0"/>
      <p:bldP spid="41021" grpId="0" autoUpdateAnimBg="0"/>
      <p:bldP spid="41022" grpId="0" autoUpdateAnimBg="0"/>
      <p:bldP spid="4102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843195" y="1380030"/>
            <a:ext cx="43592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ea typeface="黑体" pitchFamily="49" charset="-122"/>
              </a:rPr>
              <a:t>6  </a:t>
            </a:r>
            <a:r>
              <a:rPr lang="en-US" altLang="zh-CN" dirty="0" smtClean="0"/>
              <a:t>(0.786)</a:t>
            </a:r>
            <a:r>
              <a:rPr lang="en-US" altLang="zh-CN" baseline="-25000" dirty="0" smtClean="0"/>
              <a:t>10</a:t>
            </a:r>
            <a:r>
              <a:rPr lang="en-US" altLang="zh-CN" dirty="0" smtClean="0"/>
              <a:t>=(?)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 </a:t>
            </a:r>
            <a:r>
              <a:rPr lang="en-US" altLang="zh-CN" sz="1800" dirty="0"/>
              <a:t>(</a:t>
            </a:r>
            <a:r>
              <a:rPr lang="zh-CN" altLang="en-US" sz="1800" dirty="0">
                <a:ea typeface="黑体" pitchFamily="49" charset="-122"/>
              </a:rPr>
              <a:t>取四位小数</a:t>
            </a:r>
            <a:r>
              <a:rPr lang="en-US" altLang="zh-CN" sz="1800" dirty="0"/>
              <a:t>)</a:t>
            </a: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1363894" y="1780080"/>
            <a:ext cx="18966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dirty="0" smtClean="0"/>
              <a:t>2</a:t>
            </a:r>
            <a:r>
              <a:rPr lang="en-US" altLang="zh-CN" sz="2000" b="1" dirty="0" smtClean="0">
                <a:sym typeface="Symbol" pitchFamily="18" charset="2"/>
              </a:rPr>
              <a:t></a:t>
            </a:r>
            <a:r>
              <a:rPr lang="en-US" altLang="zh-CN" dirty="0" smtClean="0">
                <a:sym typeface="Symbol" pitchFamily="18" charset="2"/>
              </a:rPr>
              <a:t>(</a:t>
            </a:r>
            <a:r>
              <a:rPr lang="en-US" altLang="zh-CN" dirty="0" smtClean="0"/>
              <a:t>0.786)=1.572</a:t>
            </a:r>
            <a:endParaRPr lang="en-US" altLang="zh-CN" dirty="0"/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5348519" y="1551480"/>
            <a:ext cx="697627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dirty="0">
                <a:ea typeface="黑体" pitchFamily="49" charset="-122"/>
              </a:rPr>
              <a:t>整数</a:t>
            </a:r>
          </a:p>
          <a:p>
            <a:r>
              <a:rPr lang="en-US" altLang="zh-CN" dirty="0" smtClean="0"/>
              <a:t>   1</a:t>
            </a:r>
            <a:endParaRPr lang="en-US" altLang="zh-CN" dirty="0"/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1363895" y="2122980"/>
            <a:ext cx="18966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dirty="0" smtClean="0"/>
              <a:t>2</a:t>
            </a:r>
            <a:r>
              <a:rPr lang="en-US" altLang="zh-CN" sz="2000" b="1" dirty="0" smtClean="0">
                <a:sym typeface="Symbol" pitchFamily="18" charset="2"/>
              </a:rPr>
              <a:t></a:t>
            </a:r>
            <a:r>
              <a:rPr lang="en-US" altLang="zh-CN" dirty="0">
                <a:sym typeface="Symbol" pitchFamily="18" charset="2"/>
              </a:rPr>
              <a:t>(</a:t>
            </a:r>
            <a:r>
              <a:rPr lang="en-US" altLang="zh-CN" dirty="0" smtClean="0"/>
              <a:t>0.572)=1.144</a:t>
            </a:r>
            <a:endParaRPr lang="en-US" altLang="zh-CN" dirty="0"/>
          </a:p>
        </p:txBody>
      </p:sp>
      <p:sp>
        <p:nvSpPr>
          <p:cNvPr id="43023" name="Text Box 15"/>
          <p:cNvSpPr txBox="1">
            <a:spLocks noChangeArrowheads="1"/>
          </p:cNvSpPr>
          <p:nvPr/>
        </p:nvSpPr>
        <p:spPr bwMode="auto">
          <a:xfrm>
            <a:off x="5424720" y="2140840"/>
            <a:ext cx="4411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dirty="0" smtClean="0"/>
              <a:t>  1</a:t>
            </a:r>
            <a:endParaRPr lang="en-US" altLang="zh-CN" dirty="0"/>
          </a:p>
        </p:txBody>
      </p:sp>
      <p:sp>
        <p:nvSpPr>
          <p:cNvPr id="43024" name="Text Box 16"/>
          <p:cNvSpPr txBox="1">
            <a:spLocks noChangeArrowheads="1"/>
          </p:cNvSpPr>
          <p:nvPr/>
        </p:nvSpPr>
        <p:spPr bwMode="auto">
          <a:xfrm>
            <a:off x="1363894" y="2465880"/>
            <a:ext cx="18966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dirty="0" smtClean="0"/>
              <a:t>2</a:t>
            </a:r>
            <a:r>
              <a:rPr lang="en-US" altLang="zh-CN" sz="2000" b="1" dirty="0" smtClean="0">
                <a:sym typeface="Symbol" pitchFamily="18" charset="2"/>
              </a:rPr>
              <a:t></a:t>
            </a:r>
            <a:r>
              <a:rPr lang="en-US" altLang="zh-CN" dirty="0">
                <a:sym typeface="Symbol" pitchFamily="18" charset="2"/>
              </a:rPr>
              <a:t>(</a:t>
            </a:r>
            <a:r>
              <a:rPr lang="en-US" altLang="zh-CN" dirty="0" smtClean="0"/>
              <a:t>0.144)=0.288</a:t>
            </a:r>
            <a:endParaRPr lang="en-US" altLang="zh-CN" dirty="0"/>
          </a:p>
        </p:txBody>
      </p:sp>
      <p:sp>
        <p:nvSpPr>
          <p:cNvPr id="43025" name="Text Box 17"/>
          <p:cNvSpPr txBox="1">
            <a:spLocks noChangeArrowheads="1"/>
          </p:cNvSpPr>
          <p:nvPr/>
        </p:nvSpPr>
        <p:spPr bwMode="auto">
          <a:xfrm>
            <a:off x="5531083" y="2483740"/>
            <a:ext cx="3770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dirty="0" smtClean="0"/>
              <a:t> 0</a:t>
            </a:r>
            <a:endParaRPr lang="en-US" altLang="zh-CN" dirty="0"/>
          </a:p>
        </p:txBody>
      </p:sp>
      <p:sp>
        <p:nvSpPr>
          <p:cNvPr id="43026" name="Text Box 18"/>
          <p:cNvSpPr txBox="1">
            <a:spLocks noChangeArrowheads="1"/>
          </p:cNvSpPr>
          <p:nvPr/>
        </p:nvSpPr>
        <p:spPr bwMode="auto">
          <a:xfrm>
            <a:off x="1363895" y="2808780"/>
            <a:ext cx="19046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dirty="0" smtClean="0"/>
              <a:t>2</a:t>
            </a:r>
            <a:r>
              <a:rPr lang="en-US" altLang="zh-CN" sz="2000" b="1" dirty="0" smtClean="0">
                <a:sym typeface="Symbol" pitchFamily="18" charset="2"/>
              </a:rPr>
              <a:t></a:t>
            </a:r>
            <a:r>
              <a:rPr lang="en-US" altLang="zh-CN" sz="2000" dirty="0">
                <a:sym typeface="Symbol" pitchFamily="18" charset="2"/>
              </a:rPr>
              <a:t>(</a:t>
            </a:r>
            <a:r>
              <a:rPr lang="en-US" altLang="zh-CN" dirty="0" smtClean="0"/>
              <a:t>0.288)=0.576</a:t>
            </a:r>
            <a:endParaRPr lang="en-US" altLang="zh-CN" dirty="0"/>
          </a:p>
        </p:txBody>
      </p:sp>
      <p:sp>
        <p:nvSpPr>
          <p:cNvPr id="43027" name="Text Box 19"/>
          <p:cNvSpPr txBox="1">
            <a:spLocks noChangeArrowheads="1"/>
          </p:cNvSpPr>
          <p:nvPr/>
        </p:nvSpPr>
        <p:spPr bwMode="auto">
          <a:xfrm>
            <a:off x="5424720" y="2826640"/>
            <a:ext cx="5052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dirty="0" smtClean="0"/>
              <a:t>   0</a:t>
            </a:r>
            <a:endParaRPr lang="en-US" altLang="zh-CN" dirty="0"/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6204187" y="1544336"/>
            <a:ext cx="1466851" cy="1633538"/>
            <a:chOff x="4135" y="2538"/>
            <a:chExt cx="924" cy="1372"/>
          </a:xfrm>
        </p:grpSpPr>
        <p:sp>
          <p:nvSpPr>
            <p:cNvPr id="38929" name="Text Box 12"/>
            <p:cNvSpPr txBox="1">
              <a:spLocks noChangeArrowheads="1"/>
            </p:cNvSpPr>
            <p:nvPr/>
          </p:nvSpPr>
          <p:spPr bwMode="auto">
            <a:xfrm>
              <a:off x="4135" y="2538"/>
              <a:ext cx="924" cy="5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黑体" pitchFamily="49" charset="-122"/>
                  <a:ea typeface="黑体" pitchFamily="49" charset="-122"/>
                </a:rPr>
                <a:t>转</a:t>
              </a:r>
              <a:r>
                <a:rPr lang="zh-CN" altLang="en-US" sz="2000" dirty="0" smtClean="0">
                  <a:latin typeface="黑体" pitchFamily="49" charset="-122"/>
                  <a:ea typeface="黑体" pitchFamily="49" charset="-122"/>
                </a:rPr>
                <a:t>成二进制</a:t>
              </a:r>
              <a:endParaRPr lang="zh-CN" altLang="en-US" sz="2000" dirty="0">
                <a:latin typeface="黑体" pitchFamily="49" charset="-122"/>
                <a:ea typeface="黑体" pitchFamily="49" charset="-122"/>
              </a:endParaRPr>
            </a:p>
            <a:p>
              <a:r>
                <a:rPr lang="en-US" altLang="zh-CN" dirty="0" smtClean="0"/>
                <a:t>         1</a:t>
              </a:r>
              <a:endParaRPr lang="en-US" altLang="zh-CN" dirty="0"/>
            </a:p>
          </p:txBody>
        </p:sp>
        <p:sp>
          <p:nvSpPr>
            <p:cNvPr id="38930" name="Text Box 20"/>
            <p:cNvSpPr txBox="1">
              <a:spLocks noChangeArrowheads="1"/>
            </p:cNvSpPr>
            <p:nvPr/>
          </p:nvSpPr>
          <p:spPr bwMode="auto">
            <a:xfrm>
              <a:off x="4480" y="3024"/>
              <a:ext cx="19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 smtClean="0"/>
                <a:t>1</a:t>
              </a:r>
              <a:endParaRPr lang="en-US" altLang="zh-CN" dirty="0"/>
            </a:p>
          </p:txBody>
        </p:sp>
        <p:sp>
          <p:nvSpPr>
            <p:cNvPr id="38931" name="Text Box 21"/>
            <p:cNvSpPr txBox="1">
              <a:spLocks noChangeArrowheads="1"/>
            </p:cNvSpPr>
            <p:nvPr/>
          </p:nvSpPr>
          <p:spPr bwMode="auto">
            <a:xfrm>
              <a:off x="4483" y="3312"/>
              <a:ext cx="19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 smtClean="0"/>
                <a:t>0</a:t>
              </a:r>
              <a:endParaRPr lang="en-US" altLang="zh-CN" dirty="0"/>
            </a:p>
          </p:txBody>
        </p:sp>
        <p:sp>
          <p:nvSpPr>
            <p:cNvPr id="38932" name="Text Box 22"/>
            <p:cNvSpPr txBox="1">
              <a:spLocks noChangeArrowheads="1"/>
            </p:cNvSpPr>
            <p:nvPr/>
          </p:nvSpPr>
          <p:spPr bwMode="auto">
            <a:xfrm>
              <a:off x="4480" y="3600"/>
              <a:ext cx="19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 smtClean="0"/>
                <a:t>0</a:t>
              </a:r>
              <a:endParaRPr lang="en-US" altLang="zh-CN" dirty="0"/>
            </a:p>
          </p:txBody>
        </p:sp>
      </p:grpSp>
      <p:sp>
        <p:nvSpPr>
          <p:cNvPr id="43032" name="Text Box 24"/>
          <p:cNvSpPr txBox="1">
            <a:spLocks noChangeArrowheads="1"/>
          </p:cNvSpPr>
          <p:nvPr/>
        </p:nvSpPr>
        <p:spPr bwMode="auto">
          <a:xfrm>
            <a:off x="1376595" y="3513630"/>
            <a:ext cx="2908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dirty="0">
                <a:latin typeface="黑体" pitchFamily="49" charset="-122"/>
                <a:ea typeface="黑体" pitchFamily="49" charset="-122"/>
              </a:rPr>
              <a:t>结果</a:t>
            </a:r>
            <a:r>
              <a:rPr lang="en-US" altLang="zh-CN" dirty="0">
                <a:latin typeface="黑体" pitchFamily="49" charset="-122"/>
                <a:ea typeface="黑体" pitchFamily="49" charset="-122"/>
              </a:rPr>
              <a:t>:</a:t>
            </a:r>
            <a:r>
              <a:rPr lang="en-US" altLang="zh-CN" dirty="0"/>
              <a:t> (0.4321)</a:t>
            </a:r>
            <a:r>
              <a:rPr lang="en-US" altLang="zh-CN" baseline="-25000" dirty="0"/>
              <a:t>10</a:t>
            </a:r>
            <a:r>
              <a:rPr lang="en-US" altLang="zh-CN" dirty="0">
                <a:sym typeface="Symbol" pitchFamily="18" charset="2"/>
              </a:rPr>
              <a:t></a:t>
            </a:r>
            <a:r>
              <a:rPr lang="en-US" altLang="zh-CN" dirty="0"/>
              <a:t>(</a:t>
            </a:r>
            <a:r>
              <a:rPr lang="en-US" altLang="zh-CN" dirty="0" smtClean="0"/>
              <a:t>0.1100)</a:t>
            </a:r>
            <a:r>
              <a:rPr lang="en-US" altLang="zh-CN" baseline="-25000" dirty="0" smtClean="0"/>
              <a:t>2</a:t>
            </a:r>
            <a:endParaRPr lang="en-US" altLang="zh-CN" baseline="-25000" dirty="0"/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十进制转换成其它进制：乘除法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28600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7" grpId="0" autoUpdateAnimBg="0"/>
      <p:bldP spid="43018" grpId="0" autoUpdateAnimBg="0"/>
      <p:bldP spid="43019" grpId="0" autoUpdateAnimBg="0"/>
      <p:bldP spid="43021" grpId="0" autoUpdateAnimBg="0"/>
      <p:bldP spid="43023" grpId="0" autoUpdateAnimBg="0"/>
      <p:bldP spid="43024" grpId="0" autoUpdateAnimBg="0"/>
      <p:bldP spid="43025" grpId="0" autoUpdateAnimBg="0"/>
      <p:bldP spid="43026" grpId="0" autoUpdateAnimBg="0"/>
      <p:bldP spid="43027" grpId="0" autoUpdateAnimBg="0"/>
      <p:bldP spid="4303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512762" y="3333750"/>
            <a:ext cx="7924800" cy="1066800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12762" y="2038350"/>
            <a:ext cx="7924800" cy="1066800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十进制转换成其它进制：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124200" y="742950"/>
            <a:ext cx="2895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乘除法的原理</a:t>
            </a:r>
            <a:endParaRPr lang="en-US" altLang="zh-CN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10"/>
          <p:cNvSpPr>
            <a:spLocks noChangeArrowheads="1"/>
          </p:cNvSpPr>
          <p:nvPr/>
        </p:nvSpPr>
        <p:spPr bwMode="auto">
          <a:xfrm>
            <a:off x="1960562" y="1602265"/>
            <a:ext cx="7488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= </a:t>
            </a:r>
            <a:r>
              <a:rPr lang="en-US" altLang="zh-CN" i="1" dirty="0" smtClean="0"/>
              <a:t>k</a:t>
            </a:r>
            <a:r>
              <a:rPr lang="en-US" altLang="zh-CN" baseline="-25000" dirty="0" smtClean="0"/>
              <a:t>n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n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aseline="-25000" dirty="0"/>
              <a:t>n-1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n-1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dirty="0">
                <a:latin typeface="Times New Roman" pitchFamily="18" charset="0"/>
              </a:rPr>
              <a:t>…</a:t>
            </a:r>
            <a:r>
              <a:rPr lang="en-US" altLang="zh-CN" i="1" dirty="0"/>
              <a:t>k</a:t>
            </a:r>
            <a:r>
              <a:rPr lang="en-US" altLang="zh-CN" baseline="-25000" dirty="0"/>
              <a:t>1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/>
              <a:t>k</a:t>
            </a:r>
            <a:r>
              <a:rPr lang="en-US" altLang="zh-CN" baseline="-25000" dirty="0"/>
              <a:t>0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 smtClean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 smtClean="0">
                <a:latin typeface="Arial" pitchFamily="34" charset="0"/>
                <a:sym typeface="Symbol" pitchFamily="18" charset="2"/>
              </a:rPr>
              <a:t>0</a:t>
            </a:r>
            <a:endParaRPr lang="zh-CN" altLang="en-US" dirty="0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810000" y="2071133"/>
            <a:ext cx="15520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 smtClean="0"/>
              <a:t>除</a:t>
            </a:r>
            <a:r>
              <a:rPr lang="zh-CN" altLang="en-US" b="1" dirty="0"/>
              <a:t>以</a:t>
            </a:r>
            <a:r>
              <a:rPr lang="en-US" altLang="zh-CN" b="1" dirty="0"/>
              <a:t>2</a:t>
            </a:r>
            <a:r>
              <a:rPr lang="zh-CN" altLang="en-US" b="1" dirty="0"/>
              <a:t>的</a:t>
            </a:r>
            <a:r>
              <a:rPr lang="zh-CN" altLang="en-US" b="1" dirty="0" smtClean="0"/>
              <a:t>余数</a:t>
            </a:r>
            <a:r>
              <a:rPr lang="en-US" altLang="zh-CN" b="1" dirty="0" smtClean="0"/>
              <a:t>:</a:t>
            </a:r>
            <a:endParaRPr lang="zh-CN" altLang="en-US" dirty="0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789362" y="2696499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除</a:t>
            </a:r>
            <a:r>
              <a:rPr lang="zh-CN" altLang="en-US" b="1" dirty="0"/>
              <a:t>以</a:t>
            </a:r>
            <a:r>
              <a:rPr lang="en-US" altLang="zh-CN" b="1" dirty="0"/>
              <a:t>2</a:t>
            </a:r>
            <a:r>
              <a:rPr lang="zh-CN" altLang="en-US" b="1" dirty="0"/>
              <a:t>的商</a:t>
            </a:r>
            <a:r>
              <a:rPr lang="zh-CN" altLang="en-US" dirty="0"/>
              <a:t>：</a:t>
            </a:r>
          </a:p>
        </p:txBody>
      </p:sp>
      <p:sp>
        <p:nvSpPr>
          <p:cNvPr id="10" name="矩形 13"/>
          <p:cNvSpPr>
            <a:spLocks noChangeArrowheads="1"/>
          </p:cNvSpPr>
          <p:nvPr/>
        </p:nvSpPr>
        <p:spPr bwMode="auto">
          <a:xfrm>
            <a:off x="5084762" y="2647950"/>
            <a:ext cx="7488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k</a:t>
            </a:r>
            <a:r>
              <a:rPr lang="en-US" altLang="zh-CN" b="1" baseline="-25000" dirty="0">
                <a:solidFill>
                  <a:srgbClr val="FF0000"/>
                </a:solidFill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n-1</a:t>
            </a: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b="1" i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rgbClr val="FF0000"/>
                </a:solidFill>
              </a:rPr>
              <a:t>n-1</a:t>
            </a:r>
            <a:r>
              <a:rPr lang="en-US" altLang="zh-CN" sz="2000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n-2</a:t>
            </a: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</a:rPr>
              <a:t>…</a:t>
            </a:r>
            <a:r>
              <a:rPr lang="en-US" altLang="zh-CN" b="1" i="1" dirty="0">
                <a:solidFill>
                  <a:srgbClr val="FF0000"/>
                </a:solidFill>
              </a:rPr>
              <a:t>k</a:t>
            </a:r>
            <a:r>
              <a:rPr lang="en-US" altLang="zh-CN" b="1" baseline="-25000" dirty="0">
                <a:solidFill>
                  <a:srgbClr val="FF0000"/>
                </a:solidFill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矩形 9"/>
          <p:cNvSpPr>
            <a:spLocks noChangeArrowheads="1"/>
          </p:cNvSpPr>
          <p:nvPr/>
        </p:nvSpPr>
        <p:spPr bwMode="auto">
          <a:xfrm>
            <a:off x="1427162" y="1200150"/>
            <a:ext cx="74882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r>
              <a:rPr lang="en-US" altLang="zh-CN" i="1" baseline="-25000" dirty="0"/>
              <a:t>10</a:t>
            </a:r>
            <a:r>
              <a:rPr lang="en-US" altLang="zh-CN" i="1" dirty="0"/>
              <a:t> </a:t>
            </a:r>
            <a:r>
              <a:rPr lang="en-US" altLang="zh-CN" dirty="0"/>
              <a:t>= (</a:t>
            </a:r>
            <a:r>
              <a:rPr lang="en-US" altLang="zh-CN" i="1" dirty="0"/>
              <a:t>k</a:t>
            </a:r>
            <a:r>
              <a:rPr lang="en-US" altLang="zh-CN" baseline="-25000" dirty="0"/>
              <a:t>n</a:t>
            </a:r>
            <a:r>
              <a:rPr lang="en-US" altLang="zh-CN" i="1" dirty="0"/>
              <a:t>k</a:t>
            </a:r>
            <a:r>
              <a:rPr lang="en-US" altLang="zh-CN" baseline="-25000" dirty="0"/>
              <a:t>n-1</a:t>
            </a:r>
            <a:r>
              <a:rPr lang="en-US" altLang="zh-CN" dirty="0">
                <a:latin typeface="Times New Roman" pitchFamily="18" charset="0"/>
              </a:rPr>
              <a:t>…</a:t>
            </a:r>
            <a:r>
              <a:rPr lang="en-US" altLang="zh-CN" i="1" dirty="0"/>
              <a:t>k</a:t>
            </a:r>
            <a:r>
              <a:rPr lang="en-US" altLang="zh-CN" baseline="-25000" dirty="0"/>
              <a:t>1</a:t>
            </a:r>
            <a:r>
              <a:rPr lang="en-US" altLang="zh-CN" i="1" dirty="0"/>
              <a:t>k</a:t>
            </a:r>
            <a:r>
              <a:rPr lang="en-US" altLang="zh-CN" baseline="-25000" dirty="0"/>
              <a:t>0</a:t>
            </a:r>
            <a:r>
              <a:rPr lang="en-US" altLang="zh-CN" dirty="0"/>
              <a:t>)</a:t>
            </a:r>
            <a:r>
              <a:rPr lang="en-US" altLang="zh-CN" i="1" baseline="-25000" dirty="0"/>
              <a:t>2</a:t>
            </a:r>
            <a:endParaRPr lang="zh-CN" altLang="en-US" dirty="0"/>
          </a:p>
        </p:txBody>
      </p:sp>
      <p:sp>
        <p:nvSpPr>
          <p:cNvPr id="13" name="矩形 10"/>
          <p:cNvSpPr>
            <a:spLocks noChangeArrowheads="1"/>
          </p:cNvSpPr>
          <p:nvPr/>
        </p:nvSpPr>
        <p:spPr bwMode="auto">
          <a:xfrm>
            <a:off x="588962" y="2038350"/>
            <a:ext cx="7488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1" dirty="0" smtClean="0"/>
              <a:t>k</a:t>
            </a:r>
            <a:r>
              <a:rPr lang="en-US" altLang="zh-CN" baseline="-25000" dirty="0" smtClean="0"/>
              <a:t>n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n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aseline="-25000" dirty="0"/>
              <a:t>n-1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n-1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dirty="0">
                <a:latin typeface="Times New Roman" pitchFamily="18" charset="0"/>
              </a:rPr>
              <a:t>…</a:t>
            </a:r>
            <a:r>
              <a:rPr lang="en-US" altLang="zh-CN" i="1" dirty="0"/>
              <a:t>k</a:t>
            </a:r>
            <a:r>
              <a:rPr lang="en-US" altLang="zh-CN" baseline="-25000" dirty="0"/>
              <a:t>1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/>
              <a:t>k</a:t>
            </a:r>
            <a:r>
              <a:rPr lang="en-US" altLang="zh-CN" baseline="-25000" dirty="0"/>
              <a:t>0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 smtClean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 smtClean="0">
                <a:latin typeface="Arial" pitchFamily="34" charset="0"/>
                <a:sym typeface="Symbol" pitchFamily="18" charset="2"/>
              </a:rPr>
              <a:t>0</a:t>
            </a:r>
            <a:endParaRPr lang="zh-CN" altLang="en-US" dirty="0"/>
          </a:p>
        </p:txBody>
      </p:sp>
      <p:sp>
        <p:nvSpPr>
          <p:cNvPr id="14" name="矩形 10"/>
          <p:cNvSpPr>
            <a:spLocks noChangeArrowheads="1"/>
          </p:cNvSpPr>
          <p:nvPr/>
        </p:nvSpPr>
        <p:spPr bwMode="auto">
          <a:xfrm>
            <a:off x="498554" y="2658546"/>
            <a:ext cx="3657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i="1" dirty="0" smtClean="0"/>
              <a:t>k</a:t>
            </a:r>
            <a:r>
              <a:rPr lang="en-US" altLang="zh-CN" baseline="-25000" dirty="0" smtClean="0"/>
              <a:t>n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n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aseline="-25000" dirty="0"/>
              <a:t>n-1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n-1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dirty="0">
                <a:latin typeface="Times New Roman" pitchFamily="18" charset="0"/>
              </a:rPr>
              <a:t>…</a:t>
            </a:r>
            <a:r>
              <a:rPr lang="en-US" altLang="zh-CN" i="1" dirty="0"/>
              <a:t>k</a:t>
            </a:r>
            <a:r>
              <a:rPr lang="en-US" altLang="zh-CN" baseline="-25000" dirty="0"/>
              <a:t>1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/>
              <a:t>k</a:t>
            </a:r>
            <a:r>
              <a:rPr lang="en-US" altLang="zh-CN" baseline="-25000" dirty="0"/>
              <a:t>0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 smtClean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 smtClean="0">
                <a:latin typeface="Arial" pitchFamily="34" charset="0"/>
                <a:sym typeface="Symbol" pitchFamily="18" charset="2"/>
              </a:rPr>
              <a:t>0</a:t>
            </a:r>
            <a:endParaRPr lang="zh-CN" altLang="en-US" dirty="0"/>
          </a:p>
        </p:txBody>
      </p:sp>
      <p:sp>
        <p:nvSpPr>
          <p:cNvPr id="15" name="矩形 13"/>
          <p:cNvSpPr>
            <a:spLocks noChangeArrowheads="1"/>
          </p:cNvSpPr>
          <p:nvPr/>
        </p:nvSpPr>
        <p:spPr bwMode="auto">
          <a:xfrm>
            <a:off x="741362" y="3333750"/>
            <a:ext cx="7488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1" dirty="0"/>
              <a:t>k</a:t>
            </a:r>
            <a:r>
              <a:rPr lang="en-US" altLang="zh-CN" baseline="-25000" dirty="0"/>
              <a:t>n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n-1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aseline="-25000" dirty="0"/>
              <a:t>n-1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n-2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dirty="0">
                <a:latin typeface="Times New Roman" pitchFamily="18" charset="0"/>
              </a:rPr>
              <a:t>…</a:t>
            </a:r>
            <a:r>
              <a:rPr lang="en-US" altLang="zh-CN" i="1" dirty="0"/>
              <a:t>k</a:t>
            </a:r>
            <a:r>
              <a:rPr lang="en-US" altLang="zh-CN" baseline="-25000" dirty="0"/>
              <a:t>1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0</a:t>
            </a:r>
            <a:endParaRPr lang="zh-CN" altLang="en-US" dirty="0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789362" y="3349248"/>
            <a:ext cx="15520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 smtClean="0"/>
              <a:t>除</a:t>
            </a:r>
            <a:r>
              <a:rPr lang="zh-CN" altLang="en-US" b="1" dirty="0"/>
              <a:t>以</a:t>
            </a:r>
            <a:r>
              <a:rPr lang="en-US" altLang="zh-CN" b="1" dirty="0"/>
              <a:t>2</a:t>
            </a:r>
            <a:r>
              <a:rPr lang="zh-CN" altLang="en-US" b="1" dirty="0"/>
              <a:t>的</a:t>
            </a:r>
            <a:r>
              <a:rPr lang="zh-CN" altLang="en-US" b="1" dirty="0" smtClean="0"/>
              <a:t>余数</a:t>
            </a:r>
            <a:r>
              <a:rPr lang="en-US" altLang="zh-CN" b="1" dirty="0" smtClean="0"/>
              <a:t>:</a:t>
            </a:r>
            <a:endParaRPr lang="zh-CN" altLang="en-US" dirty="0"/>
          </a:p>
        </p:txBody>
      </p:sp>
      <p:sp>
        <p:nvSpPr>
          <p:cNvPr id="19" name="矩形 13"/>
          <p:cNvSpPr>
            <a:spLocks noChangeArrowheads="1"/>
          </p:cNvSpPr>
          <p:nvPr/>
        </p:nvSpPr>
        <p:spPr bwMode="auto">
          <a:xfrm>
            <a:off x="741362" y="3943350"/>
            <a:ext cx="7488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1" dirty="0"/>
              <a:t>k</a:t>
            </a:r>
            <a:r>
              <a:rPr lang="en-US" altLang="zh-CN" baseline="-25000" dirty="0"/>
              <a:t>n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n-1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aseline="-25000" dirty="0"/>
              <a:t>n-1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n-2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dirty="0">
                <a:latin typeface="Times New Roman" pitchFamily="18" charset="0"/>
              </a:rPr>
              <a:t>…</a:t>
            </a:r>
            <a:r>
              <a:rPr lang="en-US" altLang="zh-CN" i="1" dirty="0"/>
              <a:t>k</a:t>
            </a:r>
            <a:r>
              <a:rPr lang="en-US" altLang="zh-CN" baseline="-25000" dirty="0"/>
              <a:t>1</a:t>
            </a:r>
            <a:r>
              <a:rPr lang="en-US" altLang="zh-CN" sz="2000" b="1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0</a:t>
            </a:r>
            <a:endParaRPr lang="zh-CN" altLang="en-US" dirty="0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3789362" y="3976401"/>
            <a:ext cx="1600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除</a:t>
            </a:r>
            <a:r>
              <a:rPr lang="zh-CN" altLang="en-US" b="1" dirty="0"/>
              <a:t>以</a:t>
            </a:r>
            <a:r>
              <a:rPr lang="en-US" altLang="zh-CN" b="1" dirty="0"/>
              <a:t>2</a:t>
            </a:r>
            <a:r>
              <a:rPr lang="zh-CN" altLang="en-US" b="1" dirty="0"/>
              <a:t>的商</a:t>
            </a:r>
            <a:r>
              <a:rPr lang="zh-CN" altLang="en-US" dirty="0"/>
              <a:t>：</a:t>
            </a:r>
          </a:p>
        </p:txBody>
      </p:sp>
      <p:sp>
        <p:nvSpPr>
          <p:cNvPr id="21" name="矩形 13"/>
          <p:cNvSpPr>
            <a:spLocks noChangeArrowheads="1"/>
          </p:cNvSpPr>
          <p:nvPr/>
        </p:nvSpPr>
        <p:spPr bwMode="auto">
          <a:xfrm>
            <a:off x="5084762" y="3943350"/>
            <a:ext cx="7488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k</a:t>
            </a:r>
            <a:r>
              <a:rPr lang="en-US" altLang="zh-CN" b="1" baseline="-25000" dirty="0">
                <a:solidFill>
                  <a:srgbClr val="FF0000"/>
                </a:solidFill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="1" baseline="30000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n-2</a:t>
            </a: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b="1" i="1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n-1</a:t>
            </a:r>
            <a:r>
              <a:rPr lang="en-US" altLang="zh-CN" sz="2000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="1" baseline="30000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n-3</a:t>
            </a: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…</a:t>
            </a:r>
            <a:r>
              <a:rPr lang="en-US" altLang="zh-CN" b="1" i="1" dirty="0" smtClean="0">
                <a:solidFill>
                  <a:srgbClr val="FF0000"/>
                </a:solidFill>
              </a:rPr>
              <a:t>k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2</a:t>
            </a:r>
            <a:r>
              <a:rPr lang="en-US" altLang="zh-CN" sz="2000" b="1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="1" baseline="30000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 rot="5400000">
            <a:off x="2850218" y="5307379"/>
            <a:ext cx="22888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15000"/>
              </a:spcBef>
            </a:pPr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……</a:t>
            </a:r>
            <a:r>
              <a:rPr lang="en-US" altLang="zh-CN" b="1" dirty="0" smtClean="0">
                <a:solidFill>
                  <a:srgbClr val="FF0000"/>
                </a:solidFill>
                <a:ea typeface=""/>
                <a:cs typeface=""/>
              </a:rPr>
              <a:t> 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874694" y="2038350"/>
            <a:ext cx="526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 </a:t>
            </a:r>
            <a:r>
              <a:rPr lang="en-US" altLang="zh-CN" b="1" i="1" dirty="0" smtClean="0">
                <a:solidFill>
                  <a:srgbClr val="FF0000"/>
                </a:solidFill>
              </a:rPr>
              <a:t>k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0</a:t>
            </a:r>
            <a:r>
              <a:rPr lang="zh-CN" altLang="en-US" b="1" i="1" dirty="0" smtClean="0"/>
              <a:t> </a:t>
            </a:r>
            <a:endParaRPr lang="zh-CN" altLang="en-US" b="1" dirty="0"/>
          </a:p>
        </p:txBody>
      </p:sp>
      <p:sp>
        <p:nvSpPr>
          <p:cNvPr id="25" name="矩形 24"/>
          <p:cNvSpPr/>
          <p:nvPr/>
        </p:nvSpPr>
        <p:spPr>
          <a:xfrm>
            <a:off x="5874694" y="3333750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 smtClean="0">
                <a:solidFill>
                  <a:srgbClr val="FF0000"/>
                </a:solidFill>
              </a:rPr>
              <a:t>k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1</a:t>
            </a:r>
            <a:r>
              <a:rPr lang="zh-CN" altLang="en-US" b="1" i="1" dirty="0" smtClean="0"/>
              <a:t> 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8" grpId="0" animBg="1"/>
      <p:bldP spid="5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9" grpId="0"/>
      <p:bldP spid="20" grpId="0"/>
      <p:bldP spid="21" grpId="0"/>
      <p:bldP spid="23" grpId="0"/>
      <p:bldP spid="24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304800" y="3333750"/>
            <a:ext cx="8229600" cy="1066800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04800" y="2038350"/>
            <a:ext cx="8229600" cy="990600"/>
          </a:xfrm>
          <a:prstGeom prst="rect">
            <a:avLst/>
          </a:prstGeom>
          <a:solidFill>
            <a:schemeClr val="bg1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十进制转换成其它进制：</a:t>
            </a: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124200" y="742950"/>
            <a:ext cx="2895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乘除法的原理</a:t>
            </a:r>
            <a:endParaRPr lang="en-US" altLang="zh-CN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332162" y="2038350"/>
            <a:ext cx="21707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 smtClean="0"/>
              <a:t>乘以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的整数部分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352800" y="3349248"/>
            <a:ext cx="26196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 smtClean="0"/>
              <a:t>       乘以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的整数部分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 rot="5400000">
            <a:off x="2850218" y="5307379"/>
            <a:ext cx="22888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15000"/>
              </a:spcBef>
            </a:pPr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……</a:t>
            </a:r>
            <a:r>
              <a:rPr lang="en-US" altLang="zh-CN" b="1" dirty="0" smtClean="0">
                <a:solidFill>
                  <a:srgbClr val="FF0000"/>
                </a:solidFill>
                <a:ea typeface=""/>
                <a:cs typeface=""/>
              </a:rPr>
              <a:t> 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24" name="矩形 9"/>
          <p:cNvSpPr>
            <a:spLocks noChangeArrowheads="1"/>
          </p:cNvSpPr>
          <p:nvPr/>
        </p:nvSpPr>
        <p:spPr bwMode="auto">
          <a:xfrm>
            <a:off x="1066800" y="1200150"/>
            <a:ext cx="74882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>
                <a:ea typeface="黑体" pitchFamily="49" charset="-122"/>
              </a:rPr>
              <a:t>(0.</a:t>
            </a:r>
            <a:r>
              <a:rPr lang="en-US" altLang="zh-CN" i="1" dirty="0">
                <a:ea typeface="黑体" pitchFamily="49" charset="-122"/>
              </a:rPr>
              <a:t>N</a:t>
            </a:r>
            <a:r>
              <a:rPr lang="en-US" altLang="zh-CN" dirty="0">
                <a:ea typeface="黑体" pitchFamily="49" charset="-122"/>
              </a:rPr>
              <a:t>)</a:t>
            </a:r>
            <a:r>
              <a:rPr lang="en-US" altLang="zh-CN" baseline="-25000" dirty="0">
                <a:ea typeface="黑体" pitchFamily="49" charset="-122"/>
              </a:rPr>
              <a:t>10</a:t>
            </a:r>
            <a:r>
              <a:rPr lang="en-US" altLang="zh-CN" i="1" dirty="0">
                <a:ea typeface="黑体" pitchFamily="49" charset="-122"/>
              </a:rPr>
              <a:t> </a:t>
            </a:r>
            <a:r>
              <a:rPr lang="en-US" altLang="zh-CN" dirty="0">
                <a:ea typeface="黑体" pitchFamily="49" charset="-122"/>
              </a:rPr>
              <a:t>= (0.</a:t>
            </a:r>
            <a:r>
              <a:rPr lang="en-US" altLang="zh-CN" i="1" dirty="0">
                <a:ea typeface="黑体" pitchFamily="49" charset="-122"/>
              </a:rPr>
              <a:t>k</a:t>
            </a:r>
            <a:r>
              <a:rPr lang="en-US" altLang="zh-CN" baseline="-25000" dirty="0">
                <a:ea typeface="黑体" pitchFamily="49" charset="-122"/>
              </a:rPr>
              <a:t>-1</a:t>
            </a:r>
            <a:r>
              <a:rPr lang="en-US" altLang="zh-CN" i="1" dirty="0">
                <a:ea typeface="黑体" pitchFamily="49" charset="-122"/>
              </a:rPr>
              <a:t>k</a:t>
            </a:r>
            <a:r>
              <a:rPr lang="en-US" altLang="zh-CN" baseline="-25000" dirty="0">
                <a:ea typeface="黑体" pitchFamily="49" charset="-122"/>
              </a:rPr>
              <a:t>-2</a:t>
            </a:r>
            <a:r>
              <a:rPr lang="en-US" altLang="zh-CN" dirty="0">
                <a:latin typeface="Times New Roman" pitchFamily="18" charset="0"/>
                <a:ea typeface="黑体" pitchFamily="49" charset="-122"/>
              </a:rPr>
              <a:t>…</a:t>
            </a:r>
            <a:r>
              <a:rPr lang="en-US" altLang="zh-CN" i="1" dirty="0">
                <a:ea typeface="黑体" pitchFamily="49" charset="-122"/>
              </a:rPr>
              <a:t>k</a:t>
            </a:r>
            <a:r>
              <a:rPr lang="en-US" altLang="zh-CN" i="1" baseline="-25000" dirty="0">
                <a:ea typeface="黑体" pitchFamily="49" charset="-122"/>
              </a:rPr>
              <a:t>-</a:t>
            </a:r>
            <a:r>
              <a:rPr lang="en-US" altLang="zh-CN" baseline="-25000" dirty="0">
                <a:ea typeface="黑体" pitchFamily="49" charset="-122"/>
              </a:rPr>
              <a:t>m</a:t>
            </a:r>
            <a:r>
              <a:rPr lang="en-US" altLang="zh-CN" dirty="0">
                <a:ea typeface="黑体" pitchFamily="49" charset="-122"/>
              </a:rPr>
              <a:t>)</a:t>
            </a:r>
            <a:r>
              <a:rPr lang="en-US" altLang="zh-CN" baseline="-25000" dirty="0">
                <a:ea typeface="黑体" pitchFamily="49" charset="-122"/>
              </a:rPr>
              <a:t>2</a:t>
            </a:r>
            <a:endParaRPr lang="zh-CN" altLang="en-US" baseline="-25000" dirty="0"/>
          </a:p>
        </p:txBody>
      </p:sp>
      <p:sp>
        <p:nvSpPr>
          <p:cNvPr id="25" name="矩形 10"/>
          <p:cNvSpPr>
            <a:spLocks noChangeArrowheads="1"/>
          </p:cNvSpPr>
          <p:nvPr/>
        </p:nvSpPr>
        <p:spPr bwMode="auto">
          <a:xfrm>
            <a:off x="1828800" y="1581150"/>
            <a:ext cx="74882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= </a:t>
            </a:r>
            <a:r>
              <a:rPr lang="en-US" altLang="zh-CN" i="1" dirty="0" smtClean="0"/>
              <a:t>k</a:t>
            </a:r>
            <a:r>
              <a:rPr lang="en-US" altLang="zh-CN" baseline="-25000" dirty="0" smtClean="0"/>
              <a:t>-1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-1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aseline="-25000" dirty="0"/>
              <a:t>-2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-2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dirty="0">
                <a:latin typeface="Times New Roman" pitchFamily="18" charset="0"/>
              </a:rPr>
              <a:t>…</a:t>
            </a:r>
            <a:r>
              <a:rPr lang="en-US" altLang="zh-CN" i="1" dirty="0"/>
              <a:t>k</a:t>
            </a:r>
            <a:r>
              <a:rPr lang="en-US" altLang="zh-CN" baseline="-25000" dirty="0"/>
              <a:t>-m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 smtClean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 smtClean="0">
                <a:latin typeface="Arial" pitchFamily="34" charset="0"/>
                <a:sym typeface="Symbol" pitchFamily="18" charset="2"/>
              </a:rPr>
              <a:t>-m</a:t>
            </a:r>
            <a:endParaRPr lang="zh-CN" altLang="en-US" dirty="0"/>
          </a:p>
        </p:txBody>
      </p:sp>
      <p:sp>
        <p:nvSpPr>
          <p:cNvPr id="26" name="矩形 10"/>
          <p:cNvSpPr>
            <a:spLocks noChangeArrowheads="1"/>
          </p:cNvSpPr>
          <p:nvPr/>
        </p:nvSpPr>
        <p:spPr bwMode="auto">
          <a:xfrm>
            <a:off x="588962" y="2038350"/>
            <a:ext cx="74882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 smtClean="0"/>
              <a:t> </a:t>
            </a:r>
            <a:r>
              <a:rPr lang="en-US" altLang="zh-CN" i="1" dirty="0" smtClean="0"/>
              <a:t>k</a:t>
            </a:r>
            <a:r>
              <a:rPr lang="en-US" altLang="zh-CN" baseline="-25000" dirty="0" smtClean="0"/>
              <a:t>-1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-1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aseline="-25000" dirty="0"/>
              <a:t>-2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-2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dirty="0">
                <a:latin typeface="Times New Roman" pitchFamily="18" charset="0"/>
              </a:rPr>
              <a:t>…</a:t>
            </a:r>
            <a:r>
              <a:rPr lang="en-US" altLang="zh-CN" i="1" dirty="0"/>
              <a:t>k</a:t>
            </a:r>
            <a:r>
              <a:rPr lang="en-US" altLang="zh-CN" baseline="-25000" dirty="0"/>
              <a:t>-m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 smtClean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 smtClean="0">
                <a:latin typeface="Arial" pitchFamily="34" charset="0"/>
                <a:sym typeface="Symbol" pitchFamily="18" charset="2"/>
              </a:rPr>
              <a:t>-m</a:t>
            </a:r>
            <a:endParaRPr lang="zh-CN" altLang="en-US" dirty="0"/>
          </a:p>
        </p:txBody>
      </p: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3332162" y="2495550"/>
            <a:ext cx="29402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 smtClean="0"/>
              <a:t>乘以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的小数部分</a:t>
            </a:r>
            <a:r>
              <a:rPr lang="zh-CN" altLang="en-US" dirty="0" smtClean="0"/>
              <a:t>：</a:t>
            </a:r>
            <a:r>
              <a:rPr lang="zh-CN" altLang="en-US" i="1" dirty="0" smtClean="0"/>
              <a:t>            </a:t>
            </a:r>
            <a:endParaRPr lang="zh-CN" altLang="en-US" dirty="0"/>
          </a:p>
        </p:txBody>
      </p:sp>
      <p:sp>
        <p:nvSpPr>
          <p:cNvPr id="28" name="矩形 10"/>
          <p:cNvSpPr>
            <a:spLocks noChangeArrowheads="1"/>
          </p:cNvSpPr>
          <p:nvPr/>
        </p:nvSpPr>
        <p:spPr bwMode="auto">
          <a:xfrm>
            <a:off x="588962" y="2495550"/>
            <a:ext cx="74882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 smtClean="0"/>
              <a:t> </a:t>
            </a:r>
            <a:r>
              <a:rPr lang="en-US" altLang="zh-CN" i="1" dirty="0" smtClean="0"/>
              <a:t>k</a:t>
            </a:r>
            <a:r>
              <a:rPr lang="en-US" altLang="zh-CN" baseline="-25000" dirty="0" smtClean="0"/>
              <a:t>-1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-1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aseline="-25000" dirty="0"/>
              <a:t>-2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-2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dirty="0">
                <a:latin typeface="Times New Roman" pitchFamily="18" charset="0"/>
              </a:rPr>
              <a:t>…</a:t>
            </a:r>
            <a:r>
              <a:rPr lang="en-US" altLang="zh-CN" i="1" dirty="0"/>
              <a:t>k</a:t>
            </a:r>
            <a:r>
              <a:rPr lang="en-US" altLang="zh-CN" baseline="-25000" dirty="0"/>
              <a:t>-m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 smtClean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 smtClean="0">
                <a:latin typeface="Arial" pitchFamily="34" charset="0"/>
                <a:sym typeface="Symbol" pitchFamily="18" charset="2"/>
              </a:rPr>
              <a:t>-m</a:t>
            </a:r>
            <a:endParaRPr lang="zh-CN" altLang="en-US" dirty="0"/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237163" y="2495550"/>
            <a:ext cx="74882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i="1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-2</a:t>
            </a: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2</a:t>
            </a:r>
            <a:r>
              <a:rPr lang="en-US" altLang="zh-CN" b="1" baseline="30000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-1</a:t>
            </a: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b="1" i="1" dirty="0" smtClean="0">
                <a:solidFill>
                  <a:srgbClr val="FF0000"/>
                </a:solidFill>
                <a:sym typeface="Symbol" pitchFamily="18" charset="2"/>
              </a:rPr>
              <a:t> k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-3</a:t>
            </a:r>
            <a:r>
              <a:rPr lang="en-US" altLang="zh-CN" b="1" dirty="0" smtClean="0">
                <a:solidFill>
                  <a:srgbClr val="FF0000"/>
                </a:solidFill>
                <a:sym typeface="Symbol" pitchFamily="18" charset="2"/>
              </a:rPr>
              <a:t>2</a:t>
            </a:r>
            <a:r>
              <a:rPr lang="en-US" altLang="zh-CN" b="1" baseline="30000" dirty="0" smtClean="0">
                <a:solidFill>
                  <a:srgbClr val="FF0000"/>
                </a:solidFill>
                <a:sym typeface="Symbol" pitchFamily="18" charset="2"/>
              </a:rPr>
              <a:t>-2</a:t>
            </a:r>
            <a:r>
              <a:rPr lang="en-US" altLang="zh-CN" b="1" dirty="0" smtClean="0">
                <a:solidFill>
                  <a:srgbClr val="FF0000"/>
                </a:solidFill>
                <a:sym typeface="Symbol" pitchFamily="18" charset="2"/>
              </a:rPr>
              <a:t>+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 …</a:t>
            </a:r>
            <a:r>
              <a:rPr lang="en-US" altLang="zh-CN" b="1" i="1" dirty="0">
                <a:solidFill>
                  <a:srgbClr val="FF0000"/>
                </a:solidFill>
              </a:rPr>
              <a:t>k</a:t>
            </a:r>
            <a:r>
              <a:rPr lang="en-US" altLang="zh-CN" b="1" baseline="-25000" dirty="0">
                <a:solidFill>
                  <a:srgbClr val="FF0000"/>
                </a:solidFill>
              </a:rPr>
              <a:t>-m</a:t>
            </a: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b="1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="1" baseline="30000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-m+1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3357969" y="3878818"/>
            <a:ext cx="28520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 dirty="0" smtClean="0"/>
              <a:t>       乘以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的小数数部分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6019800" y="3867150"/>
            <a:ext cx="74882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1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-3</a:t>
            </a:r>
            <a:r>
              <a:rPr lang="en-US" altLang="zh-CN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-1</a:t>
            </a:r>
            <a:r>
              <a:rPr lang="en-US" altLang="zh-CN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…</a:t>
            </a:r>
            <a:r>
              <a:rPr lang="en-US" altLang="zh-CN" i="1" dirty="0">
                <a:solidFill>
                  <a:srgbClr val="FF0000"/>
                </a:solidFill>
              </a:rPr>
              <a:t>k</a:t>
            </a:r>
            <a:r>
              <a:rPr lang="en-US" altLang="zh-CN" baseline="-25000" dirty="0">
                <a:solidFill>
                  <a:srgbClr val="FF0000"/>
                </a:solidFill>
              </a:rPr>
              <a:t>-m</a:t>
            </a:r>
            <a:r>
              <a:rPr lang="en-US" altLang="zh-CN" dirty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 smtClean="0">
                <a:solidFill>
                  <a:srgbClr val="FF0000"/>
                </a:solidFill>
                <a:latin typeface="Arial" pitchFamily="34" charset="0"/>
                <a:sym typeface="Symbol" pitchFamily="18" charset="2"/>
              </a:rPr>
              <a:t>-m+2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533400" y="3333750"/>
            <a:ext cx="74882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1" dirty="0" smtClean="0"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aseline="-25000" dirty="0" smtClean="0"/>
              <a:t>-2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-1</a:t>
            </a:r>
            <a:r>
              <a:rPr lang="en-US" altLang="zh-CN" dirty="0" smtClean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 smtClean="0">
                <a:sym typeface="Symbol" pitchFamily="18" charset="2"/>
              </a:rPr>
              <a:t> k</a:t>
            </a:r>
            <a:r>
              <a:rPr lang="en-US" altLang="zh-CN" baseline="-25000" dirty="0" smtClean="0"/>
              <a:t>-3</a:t>
            </a:r>
            <a:r>
              <a:rPr lang="en-US" altLang="zh-CN" dirty="0" smtClean="0">
                <a:sym typeface="Symbol" pitchFamily="18" charset="2"/>
              </a:rPr>
              <a:t>2</a:t>
            </a:r>
            <a:r>
              <a:rPr lang="en-US" altLang="zh-CN" baseline="30000" dirty="0" smtClean="0">
                <a:sym typeface="Symbol" pitchFamily="18" charset="2"/>
              </a:rPr>
              <a:t>-2</a:t>
            </a:r>
            <a:r>
              <a:rPr lang="en-US" altLang="zh-CN" dirty="0" smtClean="0">
                <a:sym typeface="Symbol" pitchFamily="18" charset="2"/>
              </a:rPr>
              <a:t>+</a:t>
            </a:r>
            <a:r>
              <a:rPr lang="en-US" altLang="zh-CN" dirty="0" smtClean="0">
                <a:latin typeface="Times New Roman" pitchFamily="18" charset="0"/>
              </a:rPr>
              <a:t> …</a:t>
            </a:r>
            <a:r>
              <a:rPr lang="en-US" altLang="zh-CN" i="1" dirty="0"/>
              <a:t>k</a:t>
            </a:r>
            <a:r>
              <a:rPr lang="en-US" altLang="zh-CN" baseline="-25000" dirty="0"/>
              <a:t>-m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 smtClean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 smtClean="0">
                <a:latin typeface="Arial" pitchFamily="34" charset="0"/>
                <a:sym typeface="Symbol" pitchFamily="18" charset="2"/>
              </a:rPr>
              <a:t>-m+1</a:t>
            </a:r>
            <a:endParaRPr lang="zh-CN" altLang="en-US" dirty="0"/>
          </a:p>
        </p:txBody>
      </p: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457200" y="3867150"/>
            <a:ext cx="74882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1" dirty="0" smtClean="0">
                <a:latin typeface="Arial" pitchFamily="34" charset="0"/>
                <a:sym typeface="Symbol" pitchFamily="18" charset="2"/>
              </a:rPr>
              <a:t>k</a:t>
            </a:r>
            <a:r>
              <a:rPr lang="en-US" altLang="zh-CN" baseline="-25000" dirty="0" smtClean="0"/>
              <a:t>-2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2</a:t>
            </a:r>
            <a:r>
              <a:rPr lang="en-US" altLang="zh-CN" baseline="30000" dirty="0">
                <a:latin typeface="Arial" pitchFamily="34" charset="0"/>
                <a:sym typeface="Symbol" pitchFamily="18" charset="2"/>
              </a:rPr>
              <a:t>-1</a:t>
            </a:r>
            <a:r>
              <a:rPr lang="en-US" altLang="zh-CN" dirty="0" smtClean="0">
                <a:latin typeface="Arial" pitchFamily="34" charset="0"/>
                <a:sym typeface="Symbol" pitchFamily="18" charset="2"/>
              </a:rPr>
              <a:t>+</a:t>
            </a:r>
            <a:r>
              <a:rPr lang="en-US" altLang="zh-CN" i="1" dirty="0" smtClean="0">
                <a:sym typeface="Symbol" pitchFamily="18" charset="2"/>
              </a:rPr>
              <a:t> k</a:t>
            </a:r>
            <a:r>
              <a:rPr lang="en-US" altLang="zh-CN" baseline="-25000" dirty="0" smtClean="0"/>
              <a:t>-3</a:t>
            </a:r>
            <a:r>
              <a:rPr lang="en-US" altLang="zh-CN" dirty="0" smtClean="0">
                <a:sym typeface="Symbol" pitchFamily="18" charset="2"/>
              </a:rPr>
              <a:t>2</a:t>
            </a:r>
            <a:r>
              <a:rPr lang="en-US" altLang="zh-CN" baseline="30000" dirty="0" smtClean="0">
                <a:sym typeface="Symbol" pitchFamily="18" charset="2"/>
              </a:rPr>
              <a:t>-2</a:t>
            </a:r>
            <a:r>
              <a:rPr lang="en-US" altLang="zh-CN" dirty="0" smtClean="0">
                <a:sym typeface="Symbol" pitchFamily="18" charset="2"/>
              </a:rPr>
              <a:t>+</a:t>
            </a:r>
            <a:r>
              <a:rPr lang="en-US" altLang="zh-CN" dirty="0" smtClean="0">
                <a:latin typeface="Times New Roman" pitchFamily="18" charset="0"/>
              </a:rPr>
              <a:t> …</a:t>
            </a:r>
            <a:r>
              <a:rPr lang="en-US" altLang="zh-CN" i="1" dirty="0"/>
              <a:t>k</a:t>
            </a:r>
            <a:r>
              <a:rPr lang="en-US" altLang="zh-CN" baseline="-25000" dirty="0"/>
              <a:t>-m</a:t>
            </a:r>
            <a:r>
              <a:rPr lang="en-US" altLang="zh-CN" dirty="0">
                <a:latin typeface="Arial" pitchFamily="34" charset="0"/>
                <a:sym typeface="Symbol" pitchFamily="18" charset="2"/>
              </a:rPr>
              <a:t></a:t>
            </a:r>
            <a:r>
              <a:rPr lang="en-US" altLang="zh-CN" dirty="0" smtClean="0">
                <a:latin typeface="Arial" pitchFamily="34" charset="0"/>
                <a:sym typeface="Symbol" pitchFamily="18" charset="2"/>
              </a:rPr>
              <a:t>2</a:t>
            </a:r>
            <a:r>
              <a:rPr lang="en-US" altLang="zh-CN" baseline="30000" dirty="0" smtClean="0">
                <a:latin typeface="Arial" pitchFamily="34" charset="0"/>
                <a:sym typeface="Symbol" pitchFamily="18" charset="2"/>
              </a:rPr>
              <a:t>-m+1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5715000" y="2038350"/>
            <a:ext cx="449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 smtClean="0">
                <a:solidFill>
                  <a:srgbClr val="FF0000"/>
                </a:solidFill>
              </a:rPr>
              <a:t>k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-1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248400" y="3333750"/>
            <a:ext cx="5132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 smtClean="0">
                <a:solidFill>
                  <a:srgbClr val="FF0000"/>
                </a:solidFill>
              </a:rPr>
              <a:t>k</a:t>
            </a:r>
            <a:r>
              <a:rPr lang="en-US" altLang="zh-CN" b="1" baseline="-25000" dirty="0" smtClean="0">
                <a:solidFill>
                  <a:srgbClr val="FF0000"/>
                </a:solidFill>
              </a:rPr>
              <a:t>-2</a:t>
            </a:r>
            <a:r>
              <a:rPr lang="zh-CN" altLang="en-US" b="1" i="1" dirty="0" smtClean="0">
                <a:solidFill>
                  <a:srgbClr val="FF0000"/>
                </a:solidFill>
              </a:rPr>
              <a:t>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3" grpId="0"/>
      <p:bldP spid="25" grpId="0"/>
      <p:bldP spid="26" grpId="0"/>
      <p:bldP spid="28" grpId="0"/>
      <p:bldP spid="29" grpId="0"/>
      <p:bldP spid="31" grpId="0"/>
      <p:bldP spid="34" grpId="0"/>
      <p:bldP spid="35" grpId="0"/>
      <p:bldP spid="20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2595</TotalTime>
  <Words>830</Words>
  <Application>Microsoft Office PowerPoint</Application>
  <PresentationFormat>全屏显示(16:9)</PresentationFormat>
  <Paragraphs>180</Paragraphs>
  <Slides>13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默认设计模板</vt:lpstr>
      <vt:lpstr>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319</cp:revision>
  <cp:lastPrinted>2113-01-01T00:00:00Z</cp:lastPrinted>
  <dcterms:created xsi:type="dcterms:W3CDTF">2113-01-01T00:00:00Z</dcterms:created>
  <dcterms:modified xsi:type="dcterms:W3CDTF">2020-12-18T01:37:24Z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