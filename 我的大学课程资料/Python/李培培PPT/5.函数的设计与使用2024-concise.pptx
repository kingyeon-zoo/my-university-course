
<file path=[Content_Types].xml><?xml version="1.0" encoding="utf-8"?>
<Types xmlns="http://schemas.openxmlformats.org/package/2006/content-types">
  <Default Extension="png" ContentType="image/png"/>
  <Default Extension="tmp"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9">
  <p:sldMasterIdLst>
    <p:sldMasterId id="2147483648" r:id="rId1"/>
  </p:sldMasterIdLst>
  <p:notesMasterIdLst>
    <p:notesMasterId r:id="rId55"/>
  </p:notesMasterIdLst>
  <p:handoutMasterIdLst>
    <p:handoutMasterId r:id="rId56"/>
  </p:handoutMasterIdLst>
  <p:sldIdLst>
    <p:sldId id="256" r:id="rId2"/>
    <p:sldId id="481" r:id="rId3"/>
    <p:sldId id="984" r:id="rId4"/>
    <p:sldId id="986" r:id="rId5"/>
    <p:sldId id="987" r:id="rId6"/>
    <p:sldId id="988" r:id="rId7"/>
    <p:sldId id="989" r:id="rId8"/>
    <p:sldId id="1165" r:id="rId9"/>
    <p:sldId id="1158" r:id="rId10"/>
    <p:sldId id="1159" r:id="rId11"/>
    <p:sldId id="1166" r:id="rId12"/>
    <p:sldId id="990" r:id="rId13"/>
    <p:sldId id="991" r:id="rId14"/>
    <p:sldId id="993" r:id="rId15"/>
    <p:sldId id="995" r:id="rId16"/>
    <p:sldId id="997" r:id="rId17"/>
    <p:sldId id="1162" r:id="rId18"/>
    <p:sldId id="1163" r:id="rId19"/>
    <p:sldId id="999" r:id="rId20"/>
    <p:sldId id="1167" r:id="rId21"/>
    <p:sldId id="1001" r:id="rId22"/>
    <p:sldId id="1004" r:id="rId23"/>
    <p:sldId id="1006" r:id="rId24"/>
    <p:sldId id="1008" r:id="rId25"/>
    <p:sldId id="1010" r:id="rId26"/>
    <p:sldId id="1011" r:id="rId27"/>
    <p:sldId id="1012" r:id="rId28"/>
    <p:sldId id="1014" r:id="rId29"/>
    <p:sldId id="1016" r:id="rId30"/>
    <p:sldId id="1017" r:id="rId31"/>
    <p:sldId id="1019" r:id="rId32"/>
    <p:sldId id="1021" r:id="rId33"/>
    <p:sldId id="1024" r:id="rId34"/>
    <p:sldId id="1025" r:id="rId35"/>
    <p:sldId id="1026" r:id="rId36"/>
    <p:sldId id="1028" r:id="rId37"/>
    <p:sldId id="1029" r:id="rId38"/>
    <p:sldId id="1030" r:id="rId39"/>
    <p:sldId id="1032" r:id="rId40"/>
    <p:sldId id="1034" r:id="rId41"/>
    <p:sldId id="1036" r:id="rId42"/>
    <p:sldId id="1042" r:id="rId43"/>
    <p:sldId id="1045" r:id="rId44"/>
    <p:sldId id="1047" r:id="rId45"/>
    <p:sldId id="1168" r:id="rId46"/>
    <p:sldId id="1125" r:id="rId47"/>
    <p:sldId id="1127" r:id="rId48"/>
    <p:sldId id="1126" r:id="rId49"/>
    <p:sldId id="1128" r:id="rId50"/>
    <p:sldId id="1142" r:id="rId51"/>
    <p:sldId id="1145" r:id="rId52"/>
    <p:sldId id="514" r:id="rId53"/>
    <p:sldId id="448" r:id="rId54"/>
  </p:sldIdLst>
  <p:sldSz cx="9144000" cy="6858000" type="screen4x3"/>
  <p:notesSz cx="6797675" cy="9928225"/>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6E6E6"/>
    <a:srgbClr val="FF6600"/>
    <a:srgbClr val="000000"/>
    <a:srgbClr val="FFFFFF"/>
    <a:srgbClr val="5E8892"/>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780" autoAdjust="0"/>
    <p:restoredTop sz="87665" autoAdjust="0"/>
  </p:normalViewPr>
  <p:slideViewPr>
    <p:cSldViewPr>
      <p:cViewPr varScale="1">
        <p:scale>
          <a:sx n="64" d="100"/>
          <a:sy n="64" d="100"/>
        </p:scale>
        <p:origin x="127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pPr>
                <a:defRPr/>
              </a:pPr>
              <a:t>12/3/2024</a:t>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pPr>
                <a:defRPr/>
              </a:pPr>
              <a:t>‹#›</a:t>
            </a:fld>
            <a:endParaRPr lang="en-US"/>
          </a:p>
        </p:txBody>
      </p:sp>
    </p:spTree>
    <p:extLst>
      <p:ext uri="{BB962C8B-B14F-4D97-AF65-F5344CB8AC3E}">
        <p14:creationId xmlns:p14="http://schemas.microsoft.com/office/powerpoint/2010/main" val="2282946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pPr>
                <a:defRPr/>
              </a:pPr>
              <a:t>2024/12/3</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pPr>
                <a:defRPr/>
              </a:pPr>
              <a:t>‹#›</a:t>
            </a:fld>
            <a:endParaRPr lang="zh-CN" altLang="en-US"/>
          </a:p>
        </p:txBody>
      </p:sp>
    </p:spTree>
    <p:extLst>
      <p:ext uri="{BB962C8B-B14F-4D97-AF65-F5344CB8AC3E}">
        <p14:creationId xmlns:p14="http://schemas.microsoft.com/office/powerpoint/2010/main" val="345172626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en-US" altLang="zh-CN" b="0" i="0" dirty="0">
                <a:solidFill>
                  <a:srgbClr val="333333"/>
                </a:solidFill>
                <a:effectLst/>
                <a:latin typeface="Helvetica Neue"/>
              </a:rPr>
              <a:t>Python assert</a:t>
            </a:r>
            <a:r>
              <a:rPr lang="zh-CN" altLang="en-US" b="0" i="0" dirty="0">
                <a:solidFill>
                  <a:srgbClr val="333333"/>
                </a:solidFill>
                <a:effectLst/>
                <a:latin typeface="Helvetica Neue"/>
              </a:rPr>
              <a:t>（断言）用于判断一个表达式，在表达式条件为 </a:t>
            </a:r>
            <a:r>
              <a:rPr lang="en-US" altLang="zh-CN" b="0" i="0" dirty="0">
                <a:solidFill>
                  <a:srgbClr val="333333"/>
                </a:solidFill>
                <a:effectLst/>
                <a:latin typeface="Helvetica Neue"/>
              </a:rPr>
              <a:t>false </a:t>
            </a:r>
            <a:r>
              <a:rPr lang="zh-CN" altLang="en-US" b="0" i="0" dirty="0">
                <a:solidFill>
                  <a:srgbClr val="333333"/>
                </a:solidFill>
                <a:effectLst/>
                <a:latin typeface="Helvetica Neue"/>
              </a:rPr>
              <a:t>的时候触发异常。</a:t>
            </a:r>
          </a:p>
          <a:p>
            <a:pPr algn="l" latinLnBrk="1"/>
            <a:r>
              <a:rPr lang="zh-CN" altLang="en-US" b="0" i="0" dirty="0">
                <a:solidFill>
                  <a:srgbClr val="333333"/>
                </a:solidFill>
                <a:effectLst/>
                <a:latin typeface="Helvetica Neue"/>
              </a:rPr>
              <a:t>断言可以在条件不满足程序运行的情况下直接返回错误，而不必等待程序运行后出现崩溃的情况，例如我们的代码只能在 </a:t>
            </a:r>
            <a:r>
              <a:rPr lang="en-US" altLang="zh-CN" b="0" i="0" dirty="0">
                <a:solidFill>
                  <a:srgbClr val="333333"/>
                </a:solidFill>
                <a:effectLst/>
                <a:latin typeface="Helvetica Neue"/>
              </a:rPr>
              <a:t>Linux </a:t>
            </a:r>
            <a:r>
              <a:rPr lang="zh-CN" altLang="en-US" b="0" i="0" dirty="0">
                <a:solidFill>
                  <a:srgbClr val="333333"/>
                </a:solidFill>
                <a:effectLst/>
                <a:latin typeface="Helvetica Neue"/>
              </a:rPr>
              <a:t>系统下运行，可以先判断当前系统是否符合条件。</a:t>
            </a: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15</a:t>
            </a:fld>
            <a:endParaRPr lang="zh-CN" altLang="en-US"/>
          </a:p>
        </p:txBody>
      </p:sp>
    </p:spTree>
    <p:extLst>
      <p:ext uri="{BB962C8B-B14F-4D97-AF65-F5344CB8AC3E}">
        <p14:creationId xmlns:p14="http://schemas.microsoft.com/office/powerpoint/2010/main" val="492731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16</a:t>
            </a:fld>
            <a:endParaRPr lang="zh-CN" altLang="en-US"/>
          </a:p>
        </p:txBody>
      </p:sp>
    </p:spTree>
    <p:extLst>
      <p:ext uri="{BB962C8B-B14F-4D97-AF65-F5344CB8AC3E}">
        <p14:creationId xmlns:p14="http://schemas.microsoft.com/office/powerpoint/2010/main" val="3274983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18</a:t>
            </a:fld>
            <a:endParaRPr lang="zh-CN" altLang="en-US"/>
          </a:p>
        </p:txBody>
      </p:sp>
    </p:spTree>
    <p:extLst>
      <p:ext uri="{BB962C8B-B14F-4D97-AF65-F5344CB8AC3E}">
        <p14:creationId xmlns:p14="http://schemas.microsoft.com/office/powerpoint/2010/main" val="3274983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19</a:t>
            </a:fld>
            <a:endParaRPr lang="zh-CN" altLang="en-US"/>
          </a:p>
        </p:txBody>
      </p:sp>
    </p:spTree>
    <p:extLst>
      <p:ext uri="{BB962C8B-B14F-4D97-AF65-F5344CB8AC3E}">
        <p14:creationId xmlns:p14="http://schemas.microsoft.com/office/powerpoint/2010/main" val="3519088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39</a:t>
            </a:fld>
            <a:endParaRPr lang="zh-CN" altLang="en-US"/>
          </a:p>
        </p:txBody>
      </p:sp>
    </p:spTree>
    <p:extLst>
      <p:ext uri="{BB962C8B-B14F-4D97-AF65-F5344CB8AC3E}">
        <p14:creationId xmlns:p14="http://schemas.microsoft.com/office/powerpoint/2010/main" val="15616784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37C543DC-16DF-48CF-95C9-8AFFB78A12BE}" type="datetime1">
              <a:rPr lang="zh-CN" altLang="en-US" smtClean="0"/>
              <a:t>2024/12/3</a:t>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itchFamily="2" charset="-122"/>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3EEC5C7F-9854-475C-AC43-14E0B990A8B1}" type="datetime1">
              <a:rPr lang="zh-CN" altLang="en-US" smtClean="0"/>
              <a:t>2024/12/3</a:t>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B641D3A0-9C34-4299-AEEE-9C8B42757B47}" type="datetime1">
              <a:rPr lang="zh-CN" altLang="en-US" smtClean="0"/>
              <a:t>2024/12/3</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0CB6151D-9ABA-47F0-8B12-F668409623D1}" type="datetime1">
              <a:rPr lang="zh-CN" altLang="en-US" smtClean="0"/>
              <a:t>2024/12/3</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27E7B098-0742-4CD3-A91D-4A0DAF50A28D}" type="datetime1">
              <a:rPr lang="zh-CN" altLang="en-US" smtClean="0"/>
              <a:t>2024/12/3</a:t>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45CF1A08-4265-4F5C-850F-90CA889EAC45}" type="datetime1">
              <a:rPr lang="zh-CN" altLang="en-US" smtClean="0"/>
              <a:t>2024/12/3</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E12F89C6-4D22-4049-948A-1475B3B94D16}" type="datetime1">
              <a:rPr lang="zh-CN" altLang="en-US" smtClean="0"/>
              <a:t>2024/12/3</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E111B1E-6835-46AA-A5EC-F7D7B808C2C5}" type="datetime1">
              <a:rPr lang="zh-CN" altLang="en-US" smtClean="0"/>
              <a:t>2024/12/3</a:t>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48C49790-A261-49A7-9FF3-7DC7F349EF8E}" type="datetime1">
              <a:rPr lang="zh-CN" altLang="en-US" smtClean="0"/>
              <a:t>2024/12/3</a:t>
            </a:fld>
            <a:endParaRPr lang="zh-CN" altLang="en-US" dirty="0"/>
          </a:p>
        </p:txBody>
      </p:sp>
      <p:sp>
        <p:nvSpPr>
          <p:cNvPr id="3" name="页脚占位符 2"/>
          <p:cNvSpPr>
            <a:spLocks noGrp="1"/>
          </p:cNvSpPr>
          <p:nvPr>
            <p:ph type="ftr" sz="quarter" idx="11"/>
          </p:nvPr>
        </p:nvSpPr>
        <p:spPr/>
        <p:txBody>
          <a:bodyPr/>
          <a:lstStyle/>
          <a:p>
            <a:pPr>
              <a:defRPr/>
            </a:pPr>
            <a:r>
              <a:rPr lang="zh-CN" altLang="en-US" smtClean="0"/>
              <a:t>特征选择研究</a:t>
            </a:r>
            <a:endParaRPr lang="zh-CN" altLang="en-US" dirty="0"/>
          </a:p>
        </p:txBody>
      </p:sp>
      <p:sp>
        <p:nvSpPr>
          <p:cNvPr id="4" name="灯片编号占位符 3"/>
          <p:cNvSpPr>
            <a:spLocks noGrp="1"/>
          </p:cNvSpPr>
          <p:nvPr>
            <p:ph type="sldNum" sz="quarter" idx="12"/>
          </p:nvPr>
        </p:nvSpPr>
        <p:spPr/>
        <p:txBody>
          <a:bodyPr/>
          <a:lstStyle/>
          <a:p>
            <a:pPr>
              <a:defRPr/>
            </a:pPr>
            <a:fld id="{6EA7BA5E-4115-4796-A8C9-4698036AB88B}" type="slidenum">
              <a:rPr lang="zh-CN" altLang="en-US" smtClean="0"/>
              <a:pPr>
                <a:defRPr/>
              </a:pPr>
              <a:t>‹#›</a:t>
            </a:fld>
            <a:endParaRPr lang="zh-CN" altLang="en-US" dirty="0"/>
          </a:p>
        </p:txBody>
      </p:sp>
    </p:spTree>
    <p:extLst>
      <p:ext uri="{BB962C8B-B14F-4D97-AF65-F5344CB8AC3E}">
        <p14:creationId xmlns:p14="http://schemas.microsoft.com/office/powerpoint/2010/main" val="1191990944"/>
      </p:ext>
    </p:extLst>
  </p:cSld>
  <p:clrMapOvr>
    <a:masterClrMapping/>
  </p:clrMapOvr>
  <p:transition spd="slow" advClick="0">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1" name="图片 2"/>
          <p:cNvPicPr>
            <a:picLocks noChangeAspect="1"/>
          </p:cNvPicPr>
          <p:nvPr userDrawn="1"/>
        </p:nvPicPr>
        <p:blipFill>
          <a:blip r:embed="rId11"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2" name="图片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48C49790-A261-49A7-9FF3-7DC7F349EF8E}" type="datetime1">
              <a:rPr lang="zh-CN" altLang="en-US" smtClean="0"/>
              <a:t>2024/12/3</a:t>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59" r:id="rId3"/>
    <p:sldLayoutId id="2147483658" r:id="rId4"/>
    <p:sldLayoutId id="2147483657" r:id="rId5"/>
    <p:sldLayoutId id="2147483654" r:id="rId6"/>
    <p:sldLayoutId id="2147483653" r:id="rId7"/>
    <p:sldLayoutId id="2147483651" r:id="rId8"/>
    <p:sldLayoutId id="2147483662" r:id="rId9"/>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itchFamily="18" charset="0"/>
          <a:ea typeface="黑体" pitchFamily="49"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5.tmp"/><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9.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image" Target="../media/image15.tmp"/><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slideLayout" Target="../slideLayouts/slideLayout9.xml"/><Relationship Id="rId2" Type="http://schemas.openxmlformats.org/officeDocument/2006/relationships/tags" Target="../tags/tag12.xml"/><Relationship Id="rId16" Type="http://schemas.openxmlformats.org/officeDocument/2006/relationships/tags" Target="../tags/tag26.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xml"/><Relationship Id="rId4"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971600" y="1052736"/>
            <a:ext cx="7560840" cy="5386090"/>
          </a:xfrm>
          <a:prstGeom prst="rect">
            <a:avLst/>
          </a:prstGeom>
        </p:spPr>
        <p:txBody>
          <a:bodyPr wrap="square">
            <a:spAutoFit/>
          </a:bodyPr>
          <a:lstStyle/>
          <a:p>
            <a:pPr algn="ctr" eaLnBrk="1" hangingPunct="1">
              <a:buFont typeface="Wingdings" panose="05000000000000000000" pitchFamily="2" charset="2"/>
              <a:buNone/>
            </a:pPr>
            <a:r>
              <a:rPr lang="en-US" altLang="zh-CN" sz="3600" b="1" dirty="0">
                <a:latin typeface="Comic Sans MS" panose="030F0702030302020204" pitchFamily="66" charset="0"/>
              </a:rPr>
              <a:t>Python</a:t>
            </a:r>
            <a:r>
              <a:rPr lang="zh-CN" altLang="en-US" sz="3600" b="1" dirty="0">
                <a:latin typeface="Comic Sans MS" panose="030F0702030302020204" pitchFamily="66" charset="0"/>
              </a:rPr>
              <a:t>语言与系统设计</a:t>
            </a:r>
          </a:p>
          <a:p>
            <a:pPr algn="ctr" eaLnBrk="1" hangingPunct="1">
              <a:buFont typeface="Wingdings" panose="05000000000000000000" pitchFamily="2" charset="2"/>
              <a:buNone/>
            </a:pPr>
            <a:r>
              <a:rPr lang="zh-CN" altLang="en-US" sz="1400" b="1" dirty="0">
                <a:latin typeface="Comic Sans MS" panose="030F0702030302020204" pitchFamily="66" charset="0"/>
              </a:rPr>
              <a:t>（</a:t>
            </a:r>
            <a:r>
              <a:rPr lang="zh-CN" altLang="en-US" sz="1400" b="1" dirty="0">
                <a:solidFill>
                  <a:schemeClr val="accent2"/>
                </a:solidFill>
                <a:latin typeface="Comic Sans MS" panose="030F0702030302020204" pitchFamily="66" charset="0"/>
              </a:rPr>
              <a:t>函数的设计与使用</a:t>
            </a:r>
            <a:r>
              <a:rPr lang="zh-CN" altLang="en-US" sz="1400" b="1" dirty="0">
                <a:latin typeface="Comic Sans MS" panose="030F0702030302020204" pitchFamily="66" charset="0"/>
              </a:rPr>
              <a:t>）</a:t>
            </a:r>
          </a:p>
          <a:p>
            <a:pPr algn="ctr" eaLnBrk="1" hangingPunct="1">
              <a:buFont typeface="Wingdings" panose="05000000000000000000" pitchFamily="2" charset="2"/>
              <a:buNone/>
            </a:pPr>
            <a:r>
              <a:rPr lang="en-US" altLang="zh-CN" sz="3200" dirty="0">
                <a:latin typeface="Comic Sans MS" panose="030F0702030302020204" pitchFamily="66" charset="0"/>
                <a:ea typeface="MS PMincho" panose="02020600040205080304" pitchFamily="18" charset="-128"/>
              </a:rPr>
              <a:t> </a:t>
            </a:r>
            <a:r>
              <a:rPr lang="en-US" altLang="zh-CN" sz="3200" b="1" dirty="0">
                <a:solidFill>
                  <a:schemeClr val="tx2"/>
                </a:solidFill>
                <a:latin typeface="Garamond" panose="02020404030301010803" pitchFamily="18" charset="0"/>
                <a:ea typeface="方正舒体" panose="02010601030101010101" pitchFamily="2" charset="-122"/>
              </a:rPr>
              <a:t>Python Language &amp; System Design</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5</a:t>
            </a:r>
            <a:r>
              <a:rPr lang="zh-CN" altLang="en-US" sz="3200" b="1" dirty="0">
                <a:solidFill>
                  <a:srgbClr val="FF0000"/>
                </a:solidFill>
                <a:latin typeface="Comic Sans MS" panose="030F0702030302020204" pitchFamily="66" charset="0"/>
              </a:rPr>
              <a:t>章 函数的设计与使用</a:t>
            </a:r>
            <a:endParaRPr lang="en-US" altLang="zh-CN" sz="3200" b="1" dirty="0">
              <a:solidFill>
                <a:srgbClr val="FF0000"/>
              </a:solidFill>
              <a:latin typeface="Comic Sans MS" panose="030F0702030302020204" pitchFamily="66" charset="0"/>
            </a:endParaRPr>
          </a:p>
          <a:p>
            <a:pPr algn="ctr" eaLnBrk="1" hangingPunct="1">
              <a:buFont typeface="Wingdings" panose="05000000000000000000" pitchFamily="2" charset="2"/>
              <a:buNone/>
            </a:pPr>
            <a:r>
              <a:rPr lang="en-US" altLang="zh-CN" sz="3200" b="1" dirty="0">
                <a:solidFill>
                  <a:srgbClr val="FF0000"/>
                </a:solidFill>
                <a:latin typeface="Comic Sans MS" panose="030F0702030302020204" pitchFamily="66" charset="0"/>
              </a:rPr>
              <a:t>(Design and Use of Functions)</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Python</a:t>
            </a:r>
            <a:r>
              <a:rPr lang="zh-CN" altLang="en-US" sz="2600" b="1" dirty="0">
                <a:solidFill>
                  <a:schemeClr val="tx2"/>
                </a:solidFill>
                <a:latin typeface="宋体" panose="02010600030101010101" pitchFamily="2" charset="-122"/>
              </a:rPr>
              <a:t>语言与系统设计课程组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rgbClr val="0000FF"/>
                </a:solidFill>
                <a:latin typeface="宋体" panose="02010600030101010101" pitchFamily="2" charset="-122"/>
              </a:rPr>
              <a:t>李培培 马学森 李俊照</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p>
          <a:p>
            <a:pPr algn="ctr">
              <a:lnSpc>
                <a:spcPts val="2000"/>
              </a:lnSpc>
            </a:pPr>
            <a:r>
              <a:rPr lang="zh-CN" altLang="en-US" sz="2600" b="1" dirty="0">
                <a:solidFill>
                  <a:schemeClr val="tx2"/>
                </a:solidFill>
                <a:latin typeface="宋体" panose="02010600030101010101" pitchFamily="2" charset="-122"/>
              </a:rPr>
              <a:t>合肥工业大学 计算机与信息学院  </a:t>
            </a: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6256"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advClick="0" advTm="515"/>
    </mc:Choice>
    <mc:Fallback xmlns="">
      <p:transition spd="slow" advClick="0" advTm="515"/>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p:txBody>
          <a:bodyPr>
            <a:normAutofit/>
          </a:bodyPr>
          <a:lstStyle/>
          <a:p>
            <a:pPr eaLnBrk="1" hangingPunct="1"/>
            <a:r>
              <a:rPr lang="zh-CN" altLang="en-US" b="1" dirty="0"/>
              <a:t>第</a:t>
            </a:r>
            <a:r>
              <a:rPr lang="en-US" altLang="zh-CN" b="1" dirty="0"/>
              <a:t>5</a:t>
            </a:r>
            <a:r>
              <a:rPr lang="zh-CN" altLang="en-US" b="1" dirty="0"/>
              <a:t>章 函数的设计与使用 </a:t>
            </a:r>
          </a:p>
        </p:txBody>
      </p:sp>
      <p:sp>
        <p:nvSpPr>
          <p:cNvPr id="4100" name="灯片编号占位符 2"/>
          <p:cNvSpPr>
            <a:spLocks noGrp="1" noChangeArrowheads="1"/>
          </p:cNvSpPr>
          <p:nvPr>
            <p:ph type="sldNum" sz="quarter" idx="429496729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defRPr/>
            </a:pPr>
            <a:fld id="{56DC911D-46DE-485C-8777-064FD0BC3DF5}" type="slidenum">
              <a:rPr lang="zh-CN" altLang="en-US" sz="1200" dirty="0" smtClean="0"/>
              <a:pPr>
                <a:defRPr/>
              </a:pPr>
              <a:t>2</a:t>
            </a:fld>
            <a:endParaRPr lang="zh-CN" altLang="en-US" sz="1200" dirty="0"/>
          </a:p>
        </p:txBody>
      </p:sp>
      <p:grpSp>
        <p:nvGrpSpPr>
          <p:cNvPr id="5" name="组合 107"/>
          <p:cNvGrpSpPr/>
          <p:nvPr/>
        </p:nvGrpSpPr>
        <p:grpSpPr>
          <a:xfrm>
            <a:off x="1331640" y="5733256"/>
            <a:ext cx="4011296" cy="684275"/>
            <a:chOff x="939802" y="5062184"/>
            <a:chExt cx="4011296" cy="684275"/>
          </a:xfrm>
        </p:grpSpPr>
        <p:grpSp>
          <p:nvGrpSpPr>
            <p:cNvPr id="6" name="组合 33"/>
            <p:cNvGrpSpPr/>
            <p:nvPr/>
          </p:nvGrpSpPr>
          <p:grpSpPr>
            <a:xfrm>
              <a:off x="939802" y="5098728"/>
              <a:ext cx="813499" cy="647731"/>
              <a:chOff x="6068613" y="2138334"/>
              <a:chExt cx="412166" cy="348468"/>
            </a:xfrm>
          </p:grpSpPr>
          <p:sp>
            <p:nvSpPr>
              <p:cNvPr id="8" name="Freeform 5"/>
              <p:cNvSpPr>
                <a:spLocks/>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KSO_Shape"/>
              <p:cNvSpPr>
                <a:spLocks/>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itchFamily="34" charset="-122"/>
                </a:endParaRPr>
              </a:p>
            </p:txBody>
          </p:sp>
        </p:grpSp>
        <p:sp>
          <p:nvSpPr>
            <p:cNvPr id="7" name="TextBox 6"/>
            <p:cNvSpPr txBox="1">
              <a:spLocks noChangeArrowheads="1"/>
            </p:cNvSpPr>
            <p:nvPr/>
          </p:nvSpPr>
          <p:spPr bwMode="auto">
            <a:xfrm>
              <a:off x="1443858"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 5.7 </a:t>
              </a:r>
              <a:r>
                <a:rPr lang="zh-CN" altLang="en-US" sz="3600" b="1" dirty="0">
                  <a:latin typeface="Times New Roman" pitchFamily="18" charset="0"/>
                  <a:ea typeface="黑体" pitchFamily="49" charset="-122"/>
                </a:rPr>
                <a:t>本章小结</a:t>
              </a:r>
            </a:p>
          </p:txBody>
        </p:sp>
      </p:grpSp>
      <p:grpSp>
        <p:nvGrpSpPr>
          <p:cNvPr id="4" name="组合 3"/>
          <p:cNvGrpSpPr/>
          <p:nvPr/>
        </p:nvGrpSpPr>
        <p:grpSpPr>
          <a:xfrm>
            <a:off x="1251356" y="980728"/>
            <a:ext cx="4583419" cy="684042"/>
            <a:chOff x="958665" y="1326432"/>
            <a:chExt cx="4583419" cy="684042"/>
          </a:xfrm>
        </p:grpSpPr>
        <p:sp>
          <p:nvSpPr>
            <p:cNvPr id="11" name="TextBox 6"/>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3" name="组合 2"/>
            <p:cNvGrpSpPr/>
            <p:nvPr/>
          </p:nvGrpSpPr>
          <p:grpSpPr>
            <a:xfrm>
              <a:off x="958665" y="1327471"/>
              <a:ext cx="842977" cy="683003"/>
              <a:chOff x="958665" y="1327471"/>
              <a:chExt cx="842977" cy="683003"/>
            </a:xfrm>
          </p:grpSpPr>
          <p:sp>
            <p:nvSpPr>
              <p:cNvPr id="12"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3" name="图片 12" descr="1.jpg"/>
              <p:cNvPicPr>
                <a:picLocks noChangeAspect="1"/>
              </p:cNvPicPr>
              <p:nvPr/>
            </p:nvPicPr>
            <p:blipFill>
              <a:blip r:embed="rId2" cstate="print"/>
              <a:stretch>
                <a:fillRect/>
              </a:stretch>
            </p:blipFill>
            <p:spPr>
              <a:xfrm>
                <a:off x="1189071" y="1467621"/>
                <a:ext cx="377680" cy="419801"/>
              </a:xfrm>
              <a:prstGeom prst="rect">
                <a:avLst/>
              </a:prstGeom>
            </p:spPr>
          </p:pic>
        </p:grpSp>
      </p:grpSp>
      <p:grpSp>
        <p:nvGrpSpPr>
          <p:cNvPr id="14" name="组合 114"/>
          <p:cNvGrpSpPr/>
          <p:nvPr/>
        </p:nvGrpSpPr>
        <p:grpSpPr>
          <a:xfrm>
            <a:off x="723224" y="1772816"/>
            <a:ext cx="6225040" cy="662730"/>
            <a:chOff x="377789" y="3380765"/>
            <a:chExt cx="6225040" cy="662730"/>
          </a:xfrm>
        </p:grpSpPr>
        <p:grpSp>
          <p:nvGrpSpPr>
            <p:cNvPr id="15" name="组合 105"/>
            <p:cNvGrpSpPr/>
            <p:nvPr/>
          </p:nvGrpSpPr>
          <p:grpSpPr>
            <a:xfrm>
              <a:off x="377789" y="3380765"/>
              <a:ext cx="6225040" cy="662730"/>
              <a:chOff x="377789" y="3380765"/>
              <a:chExt cx="6225040" cy="662730"/>
            </a:xfrm>
          </p:grpSpPr>
          <p:sp>
            <p:nvSpPr>
              <p:cNvPr id="17"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8" name="TextBox 6"/>
              <p:cNvSpPr txBox="1">
                <a:spLocks noChangeArrowheads="1"/>
              </p:cNvSpPr>
              <p:nvPr/>
            </p:nvSpPr>
            <p:spPr bwMode="auto">
              <a:xfrm>
                <a:off x="377789"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5.2 </a:t>
                </a:r>
                <a:r>
                  <a:rPr lang="zh-CN" altLang="en-US" sz="3600" b="1" dirty="0">
                    <a:latin typeface="Times New Roman" pitchFamily="18" charset="0"/>
                    <a:ea typeface="黑体" pitchFamily="49" charset="-122"/>
                  </a:rPr>
                  <a:t> 形参与实参</a:t>
                </a:r>
                <a:endParaRPr lang="zh-CN" altLang="en-US" sz="3600" b="1" dirty="0">
                  <a:latin typeface="黑体" pitchFamily="49" charset="-122"/>
                  <a:ea typeface="黑体" pitchFamily="49" charset="-122"/>
                </a:endParaRPr>
              </a:p>
            </p:txBody>
          </p:sp>
        </p:grpSp>
        <p:pic>
          <p:nvPicPr>
            <p:cNvPr id="16" name="图片 15" descr="12.jpg"/>
            <p:cNvPicPr>
              <a:picLocks noChangeAspect="1"/>
            </p:cNvPicPr>
            <p:nvPr/>
          </p:nvPicPr>
          <p:blipFill>
            <a:blip r:embed="rId3" cstate="print"/>
            <a:stretch>
              <a:fillRect/>
            </a:stretch>
          </p:blipFill>
          <p:spPr>
            <a:xfrm>
              <a:off x="1115929" y="3530600"/>
              <a:ext cx="446172" cy="431048"/>
            </a:xfrm>
            <a:prstGeom prst="rect">
              <a:avLst/>
            </a:prstGeom>
          </p:spPr>
        </p:pic>
      </p:grpSp>
      <p:grpSp>
        <p:nvGrpSpPr>
          <p:cNvPr id="19" name="组合 67"/>
          <p:cNvGrpSpPr/>
          <p:nvPr/>
        </p:nvGrpSpPr>
        <p:grpSpPr>
          <a:xfrm>
            <a:off x="1259632" y="2492896"/>
            <a:ext cx="8306117" cy="727935"/>
            <a:chOff x="936625" y="4149796"/>
            <a:chExt cx="8306117" cy="727935"/>
          </a:xfrm>
        </p:grpSpPr>
        <p:grpSp>
          <p:nvGrpSpPr>
            <p:cNvPr id="20" name="组合 106"/>
            <p:cNvGrpSpPr/>
            <p:nvPr/>
          </p:nvGrpSpPr>
          <p:grpSpPr>
            <a:xfrm>
              <a:off x="936625" y="4149796"/>
              <a:ext cx="8306117" cy="727935"/>
              <a:chOff x="927100" y="4149796"/>
              <a:chExt cx="8306117" cy="727935"/>
            </a:xfrm>
          </p:grpSpPr>
          <p:sp>
            <p:nvSpPr>
              <p:cNvPr id="22"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23" name="TextBox 6"/>
              <p:cNvSpPr txBox="1">
                <a:spLocks noChangeArrowheads="1"/>
              </p:cNvSpPr>
              <p:nvPr/>
            </p:nvSpPr>
            <p:spPr bwMode="auto">
              <a:xfrm>
                <a:off x="1915977" y="4149796"/>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21" name="图片 20" descr="无标题.png"/>
            <p:cNvPicPr>
              <a:picLocks noChangeAspect="1"/>
            </p:cNvPicPr>
            <p:nvPr/>
          </p:nvPicPr>
          <p:blipFill>
            <a:blip r:embed="rId4" cstate="print"/>
            <a:stretch>
              <a:fillRect/>
            </a:stretch>
          </p:blipFill>
          <p:spPr>
            <a:xfrm>
              <a:off x="1137949" y="4364064"/>
              <a:ext cx="433676" cy="330989"/>
            </a:xfrm>
            <a:prstGeom prst="rect">
              <a:avLst/>
            </a:prstGeom>
          </p:spPr>
        </p:pic>
      </p:grpSp>
      <p:grpSp>
        <p:nvGrpSpPr>
          <p:cNvPr id="24" name="组合 109"/>
          <p:cNvGrpSpPr/>
          <p:nvPr/>
        </p:nvGrpSpPr>
        <p:grpSpPr>
          <a:xfrm>
            <a:off x="1279931" y="3356992"/>
            <a:ext cx="4732229" cy="651944"/>
            <a:chOff x="956926" y="4599564"/>
            <a:chExt cx="4732229" cy="651944"/>
          </a:xfrm>
        </p:grpSpPr>
        <p:sp>
          <p:nvSpPr>
            <p:cNvPr id="25"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26" name="图片 25" descr="u=714968970,2342735455&amp;fm=27&amp;gp=0.jpg"/>
            <p:cNvPicPr/>
            <p:nvPr/>
          </p:nvPicPr>
          <p:blipFill>
            <a:blip r:embed="rId5"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368675"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5.4 </a:t>
              </a:r>
              <a:r>
                <a:rPr lang="zh-CN" altLang="en-US" sz="3600" b="1" dirty="0">
                  <a:latin typeface="Times New Roman" pitchFamily="18" charset="0"/>
                  <a:ea typeface="黑体" pitchFamily="49" charset="-122"/>
                </a:rPr>
                <a:t> </a:t>
              </a:r>
              <a:r>
                <a:rPr lang="en-US" altLang="zh-CN" sz="3600" b="1" dirty="0">
                  <a:latin typeface="Times New Roman" pitchFamily="18" charset="0"/>
                  <a:ea typeface="黑体" pitchFamily="49" charset="-122"/>
                </a:rPr>
                <a:t>return</a:t>
              </a:r>
              <a:r>
                <a:rPr lang="zh-CN" altLang="en-US" sz="3600" b="1" dirty="0">
                  <a:latin typeface="Times New Roman" pitchFamily="18" charset="0"/>
                  <a:ea typeface="黑体" pitchFamily="49" charset="-122"/>
                </a:rPr>
                <a:t>语句 </a:t>
              </a:r>
            </a:p>
          </p:txBody>
        </p:sp>
      </p:grpSp>
      <p:grpSp>
        <p:nvGrpSpPr>
          <p:cNvPr id="28" name="组合 27"/>
          <p:cNvGrpSpPr/>
          <p:nvPr/>
        </p:nvGrpSpPr>
        <p:grpSpPr>
          <a:xfrm>
            <a:off x="683568" y="4149080"/>
            <a:ext cx="7272808" cy="728393"/>
            <a:chOff x="360293" y="5026748"/>
            <a:chExt cx="7337768" cy="663172"/>
          </a:xfrm>
        </p:grpSpPr>
        <p:sp>
          <p:nvSpPr>
            <p:cNvPr id="29"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30" name="TextBox 6"/>
            <p:cNvSpPr txBox="1">
              <a:spLocks noChangeArrowheads="1"/>
            </p:cNvSpPr>
            <p:nvPr/>
          </p:nvSpPr>
          <p:spPr bwMode="auto">
            <a:xfrm>
              <a:off x="360293" y="5026748"/>
              <a:ext cx="7337768" cy="661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5.5  Lambda</a:t>
              </a:r>
              <a:r>
                <a:rPr lang="zh-CN" altLang="en-US" sz="3600" b="1" dirty="0">
                  <a:latin typeface="Times New Roman" pitchFamily="18" charset="0"/>
                  <a:ea typeface="黑体" pitchFamily="49" charset="-122"/>
                </a:rPr>
                <a:t>表达式</a:t>
              </a:r>
            </a:p>
          </p:txBody>
        </p:sp>
        <p:pic>
          <p:nvPicPr>
            <p:cNvPr id="31" name="图片 30"/>
            <p:cNvPicPr>
              <a:picLocks noChangeAspect="1"/>
            </p:cNvPicPr>
            <p:nvPr/>
          </p:nvPicPr>
          <p:blipFill>
            <a:blip r:embed="rId6"/>
            <a:stretch>
              <a:fillRect/>
            </a:stretch>
          </p:blipFill>
          <p:spPr>
            <a:xfrm>
              <a:off x="1199659" y="5205012"/>
              <a:ext cx="420013" cy="322083"/>
            </a:xfrm>
            <a:prstGeom prst="rect">
              <a:avLst/>
            </a:prstGeom>
          </p:spPr>
        </p:pic>
      </p:grpSp>
      <p:grpSp>
        <p:nvGrpSpPr>
          <p:cNvPr id="32" name="组合 31"/>
          <p:cNvGrpSpPr/>
          <p:nvPr/>
        </p:nvGrpSpPr>
        <p:grpSpPr>
          <a:xfrm>
            <a:off x="-324544" y="4983576"/>
            <a:ext cx="8064895" cy="677666"/>
            <a:chOff x="-759186" y="5191294"/>
            <a:chExt cx="7919582" cy="487895"/>
          </a:xfrm>
        </p:grpSpPr>
        <p:grpSp>
          <p:nvGrpSpPr>
            <p:cNvPr id="33" name="组合 32"/>
            <p:cNvGrpSpPr/>
            <p:nvPr/>
          </p:nvGrpSpPr>
          <p:grpSpPr>
            <a:xfrm>
              <a:off x="-759186" y="5191294"/>
              <a:ext cx="7919582" cy="487895"/>
              <a:chOff x="-870470" y="5828963"/>
              <a:chExt cx="8626056" cy="638887"/>
            </a:xfrm>
          </p:grpSpPr>
          <p:sp>
            <p:nvSpPr>
              <p:cNvPr id="35"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36" name="TextBox 6"/>
              <p:cNvSpPr txBox="1">
                <a:spLocks noChangeArrowheads="1"/>
              </p:cNvSpPr>
              <p:nvPr/>
            </p:nvSpPr>
            <p:spPr bwMode="auto">
              <a:xfrm>
                <a:off x="-870470"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5.6 </a:t>
                </a:r>
                <a:r>
                  <a:rPr lang="zh-CN" altLang="en-US" sz="3600" b="1" dirty="0">
                    <a:latin typeface="Times New Roman" pitchFamily="18" charset="0"/>
                    <a:ea typeface="黑体" pitchFamily="49" charset="-122"/>
                  </a:rPr>
                  <a:t> 高级话题</a:t>
                </a:r>
              </a:p>
            </p:txBody>
          </p:sp>
        </p:grpSp>
        <p:pic>
          <p:nvPicPr>
            <p:cNvPr id="34" name="图片 3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Tree>
    <p:extLst>
      <p:ext uri="{BB962C8B-B14F-4D97-AF65-F5344CB8AC3E}">
        <p14:creationId xmlns:p14="http://schemas.microsoft.com/office/powerpoint/2010/main" val="4021526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ox(in)">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ox(in)">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文本占位符 18434"/>
          <p:cNvSpPr>
            <a:spLocks noGrp="1"/>
          </p:cNvSpPr>
          <p:nvPr>
            <p:ph idx="1"/>
          </p:nvPr>
        </p:nvSpPr>
        <p:spPr>
          <a:xfrm>
            <a:off x="769958" y="1412776"/>
            <a:ext cx="8229600" cy="4678451"/>
          </a:xfrm>
        </p:spPr>
        <p:txBody>
          <a:bodyPr vert="horz" wrap="square" lIns="68591" tIns="34295" rIns="68591" bIns="34295" numCol="1" anchor="t" anchorCtr="0" compatLnSpc="1">
            <a:prstTxWarp prst="textNoShape">
              <a:avLst/>
            </a:prstTxWarp>
          </a:bodyPr>
          <a:lstStyle/>
          <a:p>
            <a:pPr>
              <a:lnSpc>
                <a:spcPct val="130000"/>
              </a:lnSpc>
              <a:spcBef>
                <a:spcPts val="600"/>
              </a:spcBef>
              <a:spcAft>
                <a:spcPts val="600"/>
              </a:spcAft>
              <a:buClr>
                <a:srgbClr val="FF0000"/>
              </a:buClr>
              <a:buSzPct val="90000"/>
              <a:buFont typeface="Wingdings" panose="05000000000000000000" pitchFamily="2" charset="2"/>
              <a:buChar char="n"/>
            </a:pPr>
            <a:r>
              <a:rPr lang="zh-CN" altLang="en-US" sz="1800" b="1" dirty="0"/>
              <a:t>将可能需要反复执行的代码封装为函数，并在需要该功能的地方进行调用，不仅可</a:t>
            </a:r>
            <a:r>
              <a:rPr lang="en-US" altLang="zh-CN" sz="1800" b="1" dirty="0"/>
              <a:t>0</a:t>
            </a:r>
            <a:r>
              <a:rPr lang="zh-CN" altLang="en-US" sz="1800" b="1" dirty="0"/>
              <a:t>以实现</a:t>
            </a:r>
            <a:r>
              <a:rPr lang="zh-CN" altLang="en-US" sz="1800" b="1" dirty="0">
                <a:solidFill>
                  <a:srgbClr val="FF0000"/>
                </a:solidFill>
              </a:rPr>
              <a:t>代码复用</a:t>
            </a:r>
            <a:r>
              <a:rPr lang="zh-CN" altLang="en-US" sz="1800" b="1" dirty="0"/>
              <a:t>，更重要的是可以</a:t>
            </a:r>
            <a:r>
              <a:rPr lang="zh-CN" altLang="en-US" sz="1800" b="1" dirty="0">
                <a:solidFill>
                  <a:srgbClr val="FF0000"/>
                </a:solidFill>
              </a:rPr>
              <a:t>保证代码的一致性</a:t>
            </a:r>
            <a:r>
              <a:rPr lang="zh-CN" altLang="en-US" sz="1800" b="1" dirty="0"/>
              <a:t>，只需要修改该函数代码则所有调用均受到影响。</a:t>
            </a:r>
          </a:p>
          <a:p>
            <a:pPr>
              <a:lnSpc>
                <a:spcPct val="130000"/>
              </a:lnSpc>
              <a:spcBef>
                <a:spcPts val="600"/>
              </a:spcBef>
              <a:spcAft>
                <a:spcPts val="600"/>
              </a:spcAft>
              <a:buClr>
                <a:srgbClr val="FF0000"/>
              </a:buClr>
              <a:buSzPct val="90000"/>
              <a:buFont typeface="Wingdings" panose="05000000000000000000" pitchFamily="2" charset="2"/>
              <a:buChar char="n"/>
            </a:pPr>
            <a:r>
              <a:rPr lang="zh-CN" altLang="en-US" sz="1800" b="1" dirty="0"/>
              <a:t>设计函数时，应注意</a:t>
            </a:r>
            <a:r>
              <a:rPr lang="zh-CN" altLang="en-US" sz="1800" b="1" dirty="0">
                <a:solidFill>
                  <a:srgbClr val="FF0000"/>
                </a:solidFill>
              </a:rPr>
              <a:t>提高模块的内聚性</a:t>
            </a:r>
            <a:r>
              <a:rPr lang="zh-CN" altLang="en-US" sz="1800" b="1" dirty="0"/>
              <a:t>，同时</a:t>
            </a:r>
            <a:r>
              <a:rPr lang="zh-CN" altLang="en-US" sz="1800" b="1" dirty="0">
                <a:solidFill>
                  <a:srgbClr val="FF0000"/>
                </a:solidFill>
              </a:rPr>
              <a:t>降低模块之间的隐式耦合</a:t>
            </a:r>
            <a:r>
              <a:rPr lang="zh-CN" altLang="en-US" sz="1800" b="1" dirty="0"/>
              <a:t>。</a:t>
            </a:r>
          </a:p>
          <a:p>
            <a:pPr>
              <a:lnSpc>
                <a:spcPct val="130000"/>
              </a:lnSpc>
              <a:spcBef>
                <a:spcPts val="600"/>
              </a:spcBef>
              <a:spcAft>
                <a:spcPts val="600"/>
              </a:spcAft>
              <a:buClr>
                <a:srgbClr val="FF0000"/>
              </a:buClr>
              <a:buSzPct val="90000"/>
              <a:buFont typeface="Wingdings" panose="05000000000000000000" pitchFamily="2" charset="2"/>
              <a:buChar char="n"/>
            </a:pPr>
            <a:r>
              <a:rPr lang="zh-CN" altLang="en-US" sz="1800" b="1" dirty="0"/>
              <a:t>在实际项目开发中，往往会把一些通用的函数封装到一个模块中，并把这个通用模块文件放到顶层文件夹中，这样更方便管理。</a:t>
            </a:r>
          </a:p>
        </p:txBody>
      </p:sp>
      <p:grpSp>
        <p:nvGrpSpPr>
          <p:cNvPr id="5" name="组合 4"/>
          <p:cNvGrpSpPr/>
          <p:nvPr/>
        </p:nvGrpSpPr>
        <p:grpSpPr>
          <a:xfrm>
            <a:off x="539552" y="116632"/>
            <a:ext cx="4583419" cy="684042"/>
            <a:chOff x="958665" y="1326432"/>
            <a:chExt cx="4583419" cy="684042"/>
          </a:xfrm>
        </p:grpSpPr>
        <p:sp>
          <p:nvSpPr>
            <p:cNvPr id="6" name="TextBox 6"/>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7" name="组合 6"/>
            <p:cNvGrpSpPr/>
            <p:nvPr/>
          </p:nvGrpSpPr>
          <p:grpSpPr>
            <a:xfrm>
              <a:off x="958665" y="1327471"/>
              <a:ext cx="842977" cy="683003"/>
              <a:chOff x="958665" y="1327471"/>
              <a:chExt cx="842977" cy="683003"/>
            </a:xfrm>
          </p:grpSpPr>
          <p:sp>
            <p:nvSpPr>
              <p:cNvPr id="8"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9" name="图片 8"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10" name="Content Placeholder 2"/>
          <p:cNvSpPr txBox="1">
            <a:spLocks/>
          </p:cNvSpPr>
          <p:nvPr/>
        </p:nvSpPr>
        <p:spPr bwMode="auto">
          <a:xfrm>
            <a:off x="765022" y="4005064"/>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ts val="600"/>
              </a:spcBef>
              <a:spcAft>
                <a:spcPts val="600"/>
              </a:spcAft>
              <a:buClr>
                <a:srgbClr val="FF0000"/>
              </a:buClr>
              <a:buFont typeface="Wingdings" panose="05000000000000000000" pitchFamily="2" charset="2"/>
              <a:buChar char="n"/>
            </a:pPr>
            <a:r>
              <a:rPr lang="en-US" altLang="en-US" sz="1800" b="1" dirty="0"/>
              <a:t>在编写函数时，应尽量减少副作用，尽量</a:t>
            </a:r>
            <a:r>
              <a:rPr lang="en-US" altLang="en-US" sz="1800" b="1" dirty="0">
                <a:solidFill>
                  <a:srgbClr val="FF0000"/>
                </a:solidFill>
              </a:rPr>
              <a:t>不要修改参数本身</a:t>
            </a:r>
            <a:r>
              <a:rPr lang="en-US" altLang="en-US" sz="1800" b="1" dirty="0"/>
              <a:t>，不要修改除返回值以外的其他内容。</a:t>
            </a:r>
          </a:p>
          <a:p>
            <a:pPr>
              <a:lnSpc>
                <a:spcPct val="150000"/>
              </a:lnSpc>
              <a:spcBef>
                <a:spcPts val="600"/>
              </a:spcBef>
              <a:spcAft>
                <a:spcPts val="600"/>
              </a:spcAft>
              <a:buClr>
                <a:srgbClr val="FF0000"/>
              </a:buClr>
              <a:buFont typeface="Wingdings" panose="05000000000000000000" pitchFamily="2" charset="2"/>
              <a:buChar char="n"/>
            </a:pPr>
            <a:r>
              <a:rPr lang="en-US" altLang="en-US" sz="1800" b="1" dirty="0" err="1"/>
              <a:t>应充分利用Python函数式编程的特点，让自己定义的函数尽量符合纯函数式编程的要求，例如保证</a:t>
            </a:r>
            <a:r>
              <a:rPr lang="en-US" altLang="en-US" sz="1800" b="1" dirty="0" err="1">
                <a:solidFill>
                  <a:srgbClr val="FF0000"/>
                </a:solidFill>
              </a:rPr>
              <a:t>线程安全</a:t>
            </a:r>
            <a:r>
              <a:rPr lang="en-US" altLang="en-US" sz="1800" b="1" dirty="0" err="1"/>
              <a:t>、可以</a:t>
            </a:r>
            <a:r>
              <a:rPr lang="en-US" altLang="en-US" sz="1800" b="1" dirty="0" err="1">
                <a:solidFill>
                  <a:srgbClr val="FF0000"/>
                </a:solidFill>
              </a:rPr>
              <a:t>并行运行</a:t>
            </a:r>
            <a:r>
              <a:rPr lang="en-US" altLang="en-US" sz="1800" b="1" dirty="0" err="1"/>
              <a:t>等</a:t>
            </a:r>
            <a:r>
              <a:rPr lang="en-US" altLang="en-US" sz="1800" b="1" dirty="0"/>
              <a:t>。</a:t>
            </a:r>
          </a:p>
        </p:txBody>
      </p:sp>
      <p:sp>
        <p:nvSpPr>
          <p:cNvPr id="4" name="文本框 3"/>
          <p:cNvSpPr txBox="1"/>
          <p:nvPr/>
        </p:nvSpPr>
        <p:spPr>
          <a:xfrm>
            <a:off x="487388" y="988406"/>
            <a:ext cx="5236740"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400" dirty="0"/>
              <a:t>意义：</a:t>
            </a:r>
          </a:p>
        </p:txBody>
      </p:sp>
      <p:sp>
        <p:nvSpPr>
          <p:cNvPr id="11" name="灯片编号占位符 10"/>
          <p:cNvSpPr>
            <a:spLocks noGrp="1"/>
          </p:cNvSpPr>
          <p:nvPr>
            <p:ph type="sldNum" sz="quarter" idx="4"/>
          </p:nvPr>
        </p:nvSpPr>
        <p:spPr/>
        <p:txBody>
          <a:bodyPr/>
          <a:lstStyle/>
          <a:p>
            <a:pPr>
              <a:defRPr/>
            </a:pPr>
            <a:fld id="{6EA7BA5E-4115-4796-A8C9-4698036AB88B}" type="slidenum">
              <a:rPr lang="zh-CN" altLang="en-US" smtClean="0"/>
              <a:pPr>
                <a:defRPr/>
              </a:pPr>
              <a:t>3</a:t>
            </a:fld>
            <a:endParaRPr lang="zh-CN" altLang="en-US" dirty="0"/>
          </a:p>
        </p:txBody>
      </p:sp>
      <p:sp>
        <p:nvSpPr>
          <p:cNvPr id="12" name="文本框 11"/>
          <p:cNvSpPr txBox="1"/>
          <p:nvPr/>
        </p:nvSpPr>
        <p:spPr>
          <a:xfrm>
            <a:off x="-2160" y="6317828"/>
            <a:ext cx="8460007" cy="461665"/>
          </a:xfrm>
          <a:prstGeom prst="rect">
            <a:avLst/>
          </a:prstGeom>
          <a:noFill/>
        </p:spPr>
        <p:txBody>
          <a:bodyPr wrap="square" rtlCol="0">
            <a:spAutoFit/>
          </a:bodyPr>
          <a:lstStyle/>
          <a:p>
            <a:r>
              <a:rPr lang="zh-CN" altLang="en-US" sz="1200" dirty="0">
                <a:solidFill>
                  <a:srgbClr val="0000FF"/>
                </a:solidFill>
              </a:rPr>
              <a:t>注：</a:t>
            </a:r>
            <a:r>
              <a:rPr lang="en-US" altLang="zh-CN" sz="1200" dirty="0">
                <a:solidFill>
                  <a:srgbClr val="0000FF"/>
                </a:solidFill>
              </a:rPr>
              <a:t>slides</a:t>
            </a:r>
            <a:r>
              <a:rPr lang="zh-CN" altLang="en-US" sz="1200" dirty="0">
                <a:solidFill>
                  <a:srgbClr val="0000FF"/>
                </a:solidFill>
              </a:rPr>
              <a:t>参考：</a:t>
            </a:r>
            <a:r>
              <a:rPr lang="zh-CN" altLang="zh-CN" sz="1200" dirty="0">
                <a:solidFill>
                  <a:srgbClr val="0000FF"/>
                </a:solidFill>
              </a:rPr>
              <a:t>董付国</a:t>
            </a:r>
            <a:r>
              <a:rPr lang="en-US" altLang="zh-CN" sz="1200" dirty="0">
                <a:solidFill>
                  <a:srgbClr val="0000FF"/>
                </a:solidFill>
              </a:rPr>
              <a:t>. </a:t>
            </a:r>
            <a:r>
              <a:rPr lang="zh-CN" altLang="zh-CN" sz="1200" dirty="0">
                <a:solidFill>
                  <a:srgbClr val="0000FF"/>
                </a:solidFill>
              </a:rPr>
              <a:t>《</a:t>
            </a:r>
            <a:r>
              <a:rPr lang="en-US" altLang="zh-CN" sz="1200" dirty="0">
                <a:solidFill>
                  <a:srgbClr val="0000FF"/>
                </a:solidFill>
              </a:rPr>
              <a:t>Python</a:t>
            </a:r>
            <a:r>
              <a:rPr lang="zh-CN" altLang="zh-CN" sz="1200" dirty="0">
                <a:solidFill>
                  <a:srgbClr val="0000FF"/>
                </a:solidFill>
              </a:rPr>
              <a:t>程序设计》</a:t>
            </a:r>
            <a:r>
              <a:rPr lang="en-US" altLang="zh-CN" sz="1200" dirty="0">
                <a:solidFill>
                  <a:srgbClr val="0000FF"/>
                </a:solidFill>
              </a:rPr>
              <a:t>(</a:t>
            </a:r>
            <a:r>
              <a:rPr lang="zh-CN" altLang="zh-CN" sz="1200" dirty="0">
                <a:solidFill>
                  <a:srgbClr val="0000FF"/>
                </a:solidFill>
              </a:rPr>
              <a:t>第</a:t>
            </a:r>
            <a:r>
              <a:rPr lang="en-US" altLang="zh-CN" sz="1200" dirty="0">
                <a:solidFill>
                  <a:srgbClr val="0000FF"/>
                </a:solidFill>
              </a:rPr>
              <a:t>2</a:t>
            </a:r>
            <a:r>
              <a:rPr lang="zh-CN" altLang="zh-CN" sz="1200" dirty="0">
                <a:solidFill>
                  <a:srgbClr val="0000FF"/>
                </a:solidFill>
              </a:rPr>
              <a:t>版</a:t>
            </a:r>
            <a:r>
              <a:rPr lang="en-US" altLang="zh-CN" sz="1200" dirty="0">
                <a:solidFill>
                  <a:srgbClr val="0000FF"/>
                </a:solidFill>
              </a:rPr>
              <a:t>). </a:t>
            </a:r>
            <a:r>
              <a:rPr lang="zh-CN" altLang="zh-CN" sz="1200" dirty="0">
                <a:solidFill>
                  <a:srgbClr val="0000FF"/>
                </a:solidFill>
              </a:rPr>
              <a:t>清华大学出版社</a:t>
            </a:r>
            <a:r>
              <a:rPr lang="en-US" altLang="zh-CN" sz="1200" dirty="0">
                <a:solidFill>
                  <a:srgbClr val="0000FF"/>
                </a:solidFill>
              </a:rPr>
              <a:t>, 2018.</a:t>
            </a:r>
            <a:endParaRPr lang="zh-CN" altLang="zh-CN" sz="1200" dirty="0">
              <a:solidFill>
                <a:srgbClr val="0000FF"/>
              </a:solidFill>
            </a:endParaRPr>
          </a:p>
          <a:p>
            <a:endParaRPr lang="zh-CN" altLang="en-US" sz="1200" dirty="0">
              <a:solidFill>
                <a:srgbClr val="0000FF"/>
              </a:solidFill>
            </a:endParaRPr>
          </a:p>
        </p:txBody>
      </p:sp>
    </p:spTree>
    <p:extLst>
      <p:ext uri="{BB962C8B-B14F-4D97-AF65-F5344CB8AC3E}">
        <p14:creationId xmlns:p14="http://schemas.microsoft.com/office/powerpoint/2010/main" val="420676521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文本占位符 19458"/>
          <p:cNvSpPr>
            <a:spLocks noGrp="1"/>
          </p:cNvSpPr>
          <p:nvPr>
            <p:ph idx="1"/>
          </p:nvPr>
        </p:nvSpPr>
        <p:spPr>
          <a:xfrm>
            <a:off x="539552" y="943900"/>
            <a:ext cx="8229600" cy="4678451"/>
          </a:xfrm>
        </p:spPr>
        <p:txBody>
          <a:bodyPr vert="horz" wrap="square" lIns="68591" tIns="34295" rIns="68591" bIns="34295" numCol="1" anchor="t" anchorCtr="0" compatLnSpc="1">
            <a:prstTxWarp prst="textNoShape">
              <a:avLst/>
            </a:prstTxWarp>
          </a:bodyPr>
          <a:lstStyle/>
          <a:p>
            <a:pPr>
              <a:buClr>
                <a:srgbClr val="FF0000"/>
              </a:buClr>
              <a:buSzPct val="90000"/>
              <a:buFont typeface="Wingdings" panose="05000000000000000000" pitchFamily="2" charset="2"/>
              <a:buChar char="Ø"/>
            </a:pPr>
            <a:r>
              <a:rPr lang="en-US" altLang="zh-CN" sz="2400" dirty="0">
                <a:latin typeface="仿宋" panose="02010609060101010101" pitchFamily="49" charset="-122"/>
                <a:cs typeface="Times New Roman" pitchFamily="18" charset="0"/>
              </a:rPr>
              <a:t>Python</a:t>
            </a:r>
            <a:r>
              <a:rPr lang="zh-CN" altLang="en-US" sz="2400" dirty="0">
                <a:latin typeface="仿宋" panose="02010609060101010101" pitchFamily="49" charset="-122"/>
                <a:cs typeface="Times New Roman" pitchFamily="18" charset="0"/>
              </a:rPr>
              <a:t>中</a:t>
            </a:r>
            <a:r>
              <a:rPr lang="zh-CN" altLang="zh-CN" sz="2400" dirty="0">
                <a:latin typeface="仿宋" panose="02010609060101010101" pitchFamily="49" charset="-122"/>
                <a:cs typeface="Times New Roman" pitchFamily="18" charset="0"/>
              </a:rPr>
              <a:t>函数</a:t>
            </a:r>
            <a:r>
              <a:rPr lang="zh-CN" altLang="en-US" sz="2400" dirty="0">
                <a:latin typeface="仿宋" panose="02010609060101010101" pitchFamily="49" charset="-122"/>
                <a:cs typeface="Times New Roman" pitchFamily="18" charset="0"/>
              </a:rPr>
              <a:t>的定义</a:t>
            </a:r>
            <a:r>
              <a:rPr lang="zh-CN" altLang="zh-CN" sz="2400" dirty="0">
                <a:latin typeface="仿宋" panose="02010609060101010101" pitchFamily="49" charset="-122"/>
                <a:cs typeface="Times New Roman" pitchFamily="18" charset="0"/>
              </a:rPr>
              <a:t>使用</a:t>
            </a:r>
            <a:r>
              <a:rPr lang="en-US" altLang="zh-CN" sz="2400" b="1" dirty="0" err="1">
                <a:solidFill>
                  <a:srgbClr val="FF0000"/>
                </a:solidFill>
                <a:latin typeface="仿宋" panose="02010609060101010101" pitchFamily="49" charset="-122"/>
                <a:cs typeface="Times New Roman" pitchFamily="18" charset="0"/>
              </a:rPr>
              <a:t>def</a:t>
            </a:r>
            <a:r>
              <a:rPr lang="zh-CN" altLang="zh-CN" sz="2400" b="1" dirty="0">
                <a:solidFill>
                  <a:srgbClr val="FF0000"/>
                </a:solidFill>
                <a:latin typeface="仿宋" panose="02010609060101010101" pitchFamily="49" charset="-122"/>
                <a:cs typeface="Times New Roman" pitchFamily="18" charset="0"/>
              </a:rPr>
              <a:t>保留字</a:t>
            </a:r>
            <a:r>
              <a:rPr lang="zh-CN" altLang="zh-CN" sz="2400" dirty="0">
                <a:latin typeface="仿宋" panose="02010609060101010101" pitchFamily="49" charset="-122"/>
                <a:cs typeface="Times New Roman" pitchFamily="18" charset="0"/>
              </a:rPr>
              <a:t>，语法形式如下</a:t>
            </a:r>
            <a:r>
              <a:rPr lang="zh-CN" altLang="en-US" sz="2400" b="1" noProof="1"/>
              <a:t>：</a:t>
            </a: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pPr>
                <a:defRPr/>
              </a:pPr>
              <a:t>4</a:t>
            </a:fld>
            <a:endParaRPr lang="zh-CN" altLang="en-US" dirty="0"/>
          </a:p>
        </p:txBody>
      </p:sp>
      <p:grpSp>
        <p:nvGrpSpPr>
          <p:cNvPr id="6" name="组合 5"/>
          <p:cNvGrpSpPr/>
          <p:nvPr/>
        </p:nvGrpSpPr>
        <p:grpSpPr>
          <a:xfrm>
            <a:off x="539552" y="116632"/>
            <a:ext cx="4583419" cy="684042"/>
            <a:chOff x="958665" y="1326432"/>
            <a:chExt cx="4583419" cy="684042"/>
          </a:xfrm>
        </p:grpSpPr>
        <p:sp>
          <p:nvSpPr>
            <p:cNvPr id="7" name="TextBox 6"/>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8" name="组合 7"/>
            <p:cNvGrpSpPr/>
            <p:nvPr/>
          </p:nvGrpSpPr>
          <p:grpSpPr>
            <a:xfrm>
              <a:off x="958665" y="1327471"/>
              <a:ext cx="842977" cy="683003"/>
              <a:chOff x="958665" y="1327471"/>
              <a:chExt cx="842977" cy="683003"/>
            </a:xfrm>
          </p:grpSpPr>
          <p:sp>
            <p:nvSpPr>
              <p:cNvPr id="9"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0" name="图片 9"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5" name="矩形 4"/>
          <p:cNvSpPr/>
          <p:nvPr/>
        </p:nvSpPr>
        <p:spPr>
          <a:xfrm>
            <a:off x="539552" y="2685113"/>
            <a:ext cx="7794977" cy="2600712"/>
          </a:xfrm>
          <a:prstGeom prst="rect">
            <a:avLst/>
          </a:prstGeom>
        </p:spPr>
        <p:txBody>
          <a:bodyPr wrap="square">
            <a:spAutoFit/>
          </a:bodyPr>
          <a:lstStyle/>
          <a:p>
            <a:pPr marL="342900" indent="-342900">
              <a:buClr>
                <a:srgbClr val="FF0000"/>
              </a:buClr>
              <a:buSzPct val="90000"/>
              <a:buFont typeface="Wingdings" panose="05000000000000000000" pitchFamily="2" charset="2"/>
              <a:buChar char="Ø"/>
            </a:pPr>
            <a:r>
              <a:rPr lang="zh-CN" altLang="en-US" sz="2800" b="1" noProof="1">
                <a:latin typeface="Times New Roman" pitchFamily="18" charset="0"/>
                <a:ea typeface="仿宋" pitchFamily="49" charset="-122"/>
              </a:rPr>
              <a:t>注意事项</a:t>
            </a:r>
          </a:p>
          <a:p>
            <a:pPr lvl="1">
              <a:spcBef>
                <a:spcPts val="600"/>
              </a:spcBef>
              <a:spcAft>
                <a:spcPts val="600"/>
              </a:spcAft>
              <a:buClr>
                <a:srgbClr val="FF0000"/>
              </a:buClr>
              <a:buSzPct val="90000"/>
              <a:buFont typeface="Wingdings" panose="05000000000000000000" pitchFamily="2" charset="2"/>
              <a:buChar char="ü"/>
            </a:pPr>
            <a:r>
              <a:rPr lang="zh-CN" altLang="en-US" noProof="1"/>
              <a:t>  函数形参</a:t>
            </a:r>
            <a:r>
              <a:rPr lang="zh-CN" altLang="en-US" noProof="1">
                <a:solidFill>
                  <a:srgbClr val="FF0000"/>
                </a:solidFill>
              </a:rPr>
              <a:t>不需要</a:t>
            </a:r>
            <a:r>
              <a:rPr lang="zh-CN" altLang="en-US" noProof="1"/>
              <a:t>声明类型，也</a:t>
            </a:r>
            <a:r>
              <a:rPr lang="zh-CN" altLang="en-US" noProof="1">
                <a:solidFill>
                  <a:srgbClr val="FF0000"/>
                </a:solidFill>
              </a:rPr>
              <a:t>不需要</a:t>
            </a:r>
            <a:r>
              <a:rPr lang="zh-CN" altLang="en-US" noProof="1"/>
              <a:t>指定函数返回值类型</a:t>
            </a:r>
          </a:p>
          <a:p>
            <a:pPr lvl="1">
              <a:spcBef>
                <a:spcPts val="600"/>
              </a:spcBef>
              <a:spcAft>
                <a:spcPts val="600"/>
              </a:spcAft>
              <a:buClr>
                <a:srgbClr val="FF0000"/>
              </a:buClr>
              <a:buSzPct val="90000"/>
              <a:buFont typeface="Wingdings" panose="05000000000000000000" pitchFamily="2" charset="2"/>
              <a:buChar char="ü"/>
            </a:pPr>
            <a:r>
              <a:rPr lang="zh-CN" altLang="en-US" noProof="1"/>
              <a:t>  即使该函数不需要接收任何参数，也</a:t>
            </a:r>
            <a:r>
              <a:rPr lang="zh-CN" altLang="en-US" noProof="1">
                <a:solidFill>
                  <a:srgbClr val="FF0000"/>
                </a:solidFill>
              </a:rPr>
              <a:t>必须</a:t>
            </a:r>
            <a:r>
              <a:rPr lang="zh-CN" altLang="en-US" noProof="1"/>
              <a:t>保留一对空的圆括号</a:t>
            </a:r>
          </a:p>
          <a:p>
            <a:pPr lvl="1">
              <a:spcBef>
                <a:spcPts val="600"/>
              </a:spcBef>
              <a:spcAft>
                <a:spcPts val="600"/>
              </a:spcAft>
              <a:buClr>
                <a:srgbClr val="FF0000"/>
              </a:buClr>
              <a:buSzPct val="90000"/>
              <a:buFont typeface="Wingdings" panose="05000000000000000000" pitchFamily="2" charset="2"/>
              <a:buChar char="ü"/>
            </a:pPr>
            <a:r>
              <a:rPr lang="zh-CN" altLang="en-US" noProof="1"/>
              <a:t>  括号后面的</a:t>
            </a:r>
            <a:r>
              <a:rPr lang="zh-CN" altLang="en-US" noProof="1">
                <a:solidFill>
                  <a:srgbClr val="FF0000"/>
                </a:solidFill>
              </a:rPr>
              <a:t>冒号</a:t>
            </a:r>
            <a:r>
              <a:rPr lang="zh-CN" altLang="en-US" noProof="1"/>
              <a:t>必不可少</a:t>
            </a:r>
          </a:p>
          <a:p>
            <a:pPr lvl="1">
              <a:spcBef>
                <a:spcPts val="600"/>
              </a:spcBef>
              <a:spcAft>
                <a:spcPts val="600"/>
              </a:spcAft>
              <a:buClr>
                <a:srgbClr val="FF0000"/>
              </a:buClr>
              <a:buSzPct val="90000"/>
              <a:buFont typeface="Wingdings" panose="05000000000000000000" pitchFamily="2" charset="2"/>
              <a:buChar char="ü"/>
            </a:pPr>
            <a:r>
              <a:rPr lang="zh-CN" altLang="en-US" noProof="1"/>
              <a:t>  函数体相对于def关键字必须保持一定的空格</a:t>
            </a:r>
            <a:r>
              <a:rPr lang="zh-CN" altLang="en-US" noProof="1">
                <a:solidFill>
                  <a:srgbClr val="FF0000"/>
                </a:solidFill>
              </a:rPr>
              <a:t>缩进</a:t>
            </a:r>
          </a:p>
          <a:p>
            <a:pPr lvl="1">
              <a:spcBef>
                <a:spcPts val="600"/>
              </a:spcBef>
              <a:spcAft>
                <a:spcPts val="600"/>
              </a:spcAft>
              <a:buClr>
                <a:srgbClr val="FF0000"/>
              </a:buClr>
              <a:buSzPct val="90000"/>
              <a:buFont typeface="Wingdings" panose="05000000000000000000" pitchFamily="2" charset="2"/>
              <a:buChar char="ü"/>
            </a:pPr>
            <a:r>
              <a:rPr lang="zh-CN" altLang="en-US" noProof="1"/>
              <a:t>  Python</a:t>
            </a:r>
            <a:r>
              <a:rPr lang="zh-CN" altLang="en-US" noProof="1">
                <a:solidFill>
                  <a:srgbClr val="FF0000"/>
                </a:solidFill>
              </a:rPr>
              <a:t>允许嵌套定义函数</a:t>
            </a:r>
          </a:p>
        </p:txBody>
      </p:sp>
      <p:sp>
        <p:nvSpPr>
          <p:cNvPr id="11" name="矩形 10"/>
          <p:cNvSpPr/>
          <p:nvPr/>
        </p:nvSpPr>
        <p:spPr>
          <a:xfrm>
            <a:off x="971600" y="1318480"/>
            <a:ext cx="6624736" cy="1477328"/>
          </a:xfrm>
          <a:prstGeom prst="rect">
            <a:avLst/>
          </a:prstGeom>
        </p:spPr>
        <p:txBody>
          <a:bodyPr wrap="square">
            <a:spAutoFit/>
          </a:bodyPr>
          <a:lstStyle/>
          <a:p>
            <a:pPr lvl="1" indent="304800" algn="just">
              <a:lnSpc>
                <a:spcPct val="125000"/>
              </a:lnSpc>
            </a:pPr>
            <a:r>
              <a:rPr lang="en-US" altLang="zh-CN" b="1" dirty="0" err="1">
                <a:solidFill>
                  <a:srgbClr val="0000FF"/>
                </a:solidFill>
                <a:latin typeface="仿宋" panose="02010609060101010101" pitchFamily="49" charset="-122"/>
                <a:ea typeface="仿宋" panose="02010609060101010101" pitchFamily="49" charset="-122"/>
                <a:cs typeface="Times New Roman" pitchFamily="18" charset="0"/>
              </a:rPr>
              <a:t>def</a:t>
            </a:r>
            <a:r>
              <a:rPr lang="en-US" altLang="zh-CN" b="1" dirty="0">
                <a:solidFill>
                  <a:srgbClr val="FF0000"/>
                </a:solidFill>
                <a:latin typeface="仿宋" panose="02010609060101010101" pitchFamily="49" charset="-122"/>
                <a:ea typeface="仿宋" panose="02010609060101010101" pitchFamily="49" charset="-122"/>
                <a:cs typeface="Times New Roman" pitchFamily="18" charset="0"/>
              </a:rPr>
              <a:t> </a:t>
            </a:r>
            <a:r>
              <a:rPr lang="en-US" altLang="zh-CN" b="1" dirty="0">
                <a:latin typeface="仿宋" panose="02010609060101010101" pitchFamily="49" charset="-122"/>
                <a:ea typeface="仿宋" panose="02010609060101010101" pitchFamily="49" charset="-122"/>
                <a:cs typeface="Times New Roman" pitchFamily="18" charset="0"/>
              </a:rPr>
              <a:t>&lt;</a:t>
            </a:r>
            <a:r>
              <a:rPr lang="zh-CN" altLang="zh-CN" b="1" dirty="0">
                <a:latin typeface="仿宋" panose="02010609060101010101" pitchFamily="49" charset="-122"/>
                <a:ea typeface="仿宋" panose="02010609060101010101" pitchFamily="49" charset="-122"/>
                <a:cs typeface="Times New Roman" pitchFamily="18" charset="0"/>
              </a:rPr>
              <a:t>函数名</a:t>
            </a:r>
            <a:r>
              <a:rPr lang="en-US" altLang="zh-CN" b="1" dirty="0">
                <a:latin typeface="仿宋" panose="02010609060101010101" pitchFamily="49" charset="-122"/>
                <a:ea typeface="仿宋" panose="02010609060101010101" pitchFamily="49" charset="-122"/>
                <a:cs typeface="Times New Roman" pitchFamily="18" charset="0"/>
              </a:rPr>
              <a:t>&gt;(&lt;</a:t>
            </a:r>
            <a:r>
              <a:rPr lang="zh-CN" altLang="zh-CN" b="1" dirty="0">
                <a:latin typeface="仿宋" panose="02010609060101010101" pitchFamily="49" charset="-122"/>
                <a:ea typeface="仿宋" panose="02010609060101010101" pitchFamily="49" charset="-122"/>
                <a:cs typeface="Times New Roman" pitchFamily="18" charset="0"/>
              </a:rPr>
              <a:t>参数列表</a:t>
            </a:r>
            <a:r>
              <a:rPr lang="en-US" altLang="zh-CN" b="1" dirty="0">
                <a:latin typeface="仿宋" panose="02010609060101010101" pitchFamily="49" charset="-122"/>
                <a:ea typeface="仿宋" panose="02010609060101010101" pitchFamily="49" charset="-122"/>
                <a:cs typeface="Times New Roman" pitchFamily="18" charset="0"/>
              </a:rPr>
              <a:t>&gt;):</a:t>
            </a:r>
          </a:p>
          <a:p>
            <a:pPr lvl="1" indent="304800" algn="just">
              <a:lnSpc>
                <a:spcPct val="125000"/>
              </a:lnSpc>
            </a:pPr>
            <a:r>
              <a:rPr lang="en-US" altLang="zh-CN" b="1" noProof="1">
                <a:latin typeface="Consolas" panose="020B0609020204030204" pitchFamily="49" charset="0"/>
                <a:ea typeface="仿宋" panose="02010609060101010101" pitchFamily="49" charset="-122"/>
              </a:rPr>
              <a:t>    '''</a:t>
            </a:r>
            <a:r>
              <a:rPr lang="zh-CN" altLang="en-US" b="1" noProof="1">
                <a:latin typeface="Consolas" panose="020B0609020204030204" pitchFamily="49" charset="0"/>
                <a:ea typeface="仿宋" panose="02010609060101010101" pitchFamily="49" charset="-122"/>
              </a:rPr>
              <a:t>注释</a:t>
            </a:r>
            <a:r>
              <a:rPr lang="en-US" altLang="zh-CN" b="1" noProof="1">
                <a:latin typeface="Consolas" panose="020B0609020204030204" pitchFamily="49" charset="0"/>
                <a:ea typeface="仿宋" panose="02010609060101010101" pitchFamily="49" charset="-122"/>
              </a:rPr>
              <a:t>'''</a:t>
            </a:r>
            <a:endParaRPr lang="zh-CN" altLang="zh-CN" b="1" dirty="0">
              <a:latin typeface="仿宋" panose="02010609060101010101" pitchFamily="49" charset="-122"/>
              <a:ea typeface="仿宋" panose="02010609060101010101" pitchFamily="49" charset="-122"/>
              <a:cs typeface="Times New Roman" pitchFamily="18" charset="0"/>
            </a:endParaRPr>
          </a:p>
          <a:p>
            <a:pPr lvl="1" indent="304800" algn="just">
              <a:lnSpc>
                <a:spcPct val="125000"/>
              </a:lnSpc>
            </a:pPr>
            <a:r>
              <a:rPr lang="en-US" altLang="zh-CN" b="1" dirty="0">
                <a:latin typeface="仿宋" panose="02010609060101010101" pitchFamily="49" charset="-122"/>
                <a:ea typeface="仿宋" panose="02010609060101010101" pitchFamily="49" charset="-122"/>
                <a:cs typeface="Times New Roman" pitchFamily="18" charset="0"/>
              </a:rPr>
              <a:t>      &lt;</a:t>
            </a:r>
            <a:r>
              <a:rPr lang="zh-CN" altLang="zh-CN" b="1" dirty="0">
                <a:latin typeface="仿宋" panose="02010609060101010101" pitchFamily="49" charset="-122"/>
                <a:ea typeface="仿宋" panose="02010609060101010101" pitchFamily="49" charset="-122"/>
                <a:cs typeface="Times New Roman" pitchFamily="18" charset="0"/>
              </a:rPr>
              <a:t>函数体</a:t>
            </a:r>
            <a:r>
              <a:rPr lang="en-US" altLang="zh-CN" b="1" dirty="0">
                <a:latin typeface="仿宋" panose="02010609060101010101" pitchFamily="49" charset="-122"/>
                <a:ea typeface="仿宋" panose="02010609060101010101" pitchFamily="49" charset="-122"/>
                <a:cs typeface="Times New Roman" pitchFamily="18" charset="0"/>
              </a:rPr>
              <a:t>&gt;</a:t>
            </a:r>
            <a:endParaRPr lang="zh-CN" altLang="zh-CN" b="1" dirty="0">
              <a:latin typeface="仿宋" panose="02010609060101010101" pitchFamily="49" charset="-122"/>
              <a:ea typeface="仿宋" panose="02010609060101010101" pitchFamily="49" charset="-122"/>
              <a:cs typeface="Times New Roman" pitchFamily="18" charset="0"/>
            </a:endParaRPr>
          </a:p>
          <a:p>
            <a:pPr lvl="1" indent="304800" algn="just">
              <a:lnSpc>
                <a:spcPct val="125000"/>
              </a:lnSpc>
            </a:pPr>
            <a:r>
              <a:rPr lang="en-US" altLang="zh-CN" b="1" dirty="0">
                <a:solidFill>
                  <a:srgbClr val="FF0000"/>
                </a:solidFill>
                <a:latin typeface="仿宋" panose="02010609060101010101" pitchFamily="49" charset="-122"/>
                <a:ea typeface="仿宋" panose="02010609060101010101" pitchFamily="49" charset="-122"/>
                <a:cs typeface="Times New Roman" pitchFamily="18" charset="0"/>
              </a:rPr>
              <a:t>   </a:t>
            </a:r>
            <a:r>
              <a:rPr lang="en-US" altLang="zh-CN" b="1" dirty="0">
                <a:solidFill>
                  <a:srgbClr val="0000FF"/>
                </a:solidFill>
                <a:latin typeface="仿宋" panose="02010609060101010101" pitchFamily="49" charset="-122"/>
                <a:ea typeface="仿宋" panose="02010609060101010101" pitchFamily="49" charset="-122"/>
                <a:cs typeface="Times New Roman" pitchFamily="18" charset="0"/>
              </a:rPr>
              <a:t>return</a:t>
            </a:r>
            <a:r>
              <a:rPr lang="en-US" altLang="zh-CN" b="1" dirty="0">
                <a:solidFill>
                  <a:srgbClr val="FF0000"/>
                </a:solidFill>
                <a:latin typeface="仿宋" panose="02010609060101010101" pitchFamily="49" charset="-122"/>
                <a:ea typeface="仿宋" panose="02010609060101010101" pitchFamily="49" charset="-122"/>
                <a:cs typeface="Times New Roman" pitchFamily="18" charset="0"/>
              </a:rPr>
              <a:t> </a:t>
            </a:r>
            <a:r>
              <a:rPr lang="en-US" altLang="zh-CN" b="1" dirty="0">
                <a:latin typeface="仿宋" panose="02010609060101010101" pitchFamily="49" charset="-122"/>
                <a:ea typeface="仿宋" panose="02010609060101010101" pitchFamily="49" charset="-122"/>
                <a:cs typeface="Times New Roman" pitchFamily="18" charset="0"/>
              </a:rPr>
              <a:t>&lt;</a:t>
            </a:r>
            <a:r>
              <a:rPr lang="zh-CN" altLang="zh-CN" b="1" dirty="0">
                <a:latin typeface="仿宋" panose="02010609060101010101" pitchFamily="49" charset="-122"/>
                <a:ea typeface="仿宋" panose="02010609060101010101" pitchFamily="49" charset="-122"/>
                <a:cs typeface="Times New Roman" pitchFamily="18" charset="0"/>
              </a:rPr>
              <a:t>返回值列表</a:t>
            </a:r>
            <a:r>
              <a:rPr lang="en-US" altLang="zh-CN" b="1" dirty="0">
                <a:latin typeface="仿宋" panose="02010609060101010101" pitchFamily="49" charset="-122"/>
                <a:ea typeface="仿宋" panose="02010609060101010101" pitchFamily="49" charset="-122"/>
                <a:cs typeface="Times New Roman" pitchFamily="18" charset="0"/>
              </a:rPr>
              <a:t>&gt;</a:t>
            </a:r>
            <a:endParaRPr lang="zh-CN" altLang="zh-CN" b="1" dirty="0">
              <a:latin typeface="仿宋" panose="02010609060101010101" pitchFamily="49" charset="-122"/>
              <a:ea typeface="仿宋" panose="02010609060101010101" pitchFamily="49" charset="-122"/>
              <a:cs typeface="Times New Roman" pitchFamily="18" charset="0"/>
            </a:endParaRPr>
          </a:p>
        </p:txBody>
      </p:sp>
    </p:spTree>
    <p:extLst>
      <p:ext uri="{BB962C8B-B14F-4D97-AF65-F5344CB8AC3E}">
        <p14:creationId xmlns:p14="http://schemas.microsoft.com/office/powerpoint/2010/main" val="322149172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文本占位符 20482"/>
          <p:cNvSpPr>
            <a:spLocks noGrp="1"/>
          </p:cNvSpPr>
          <p:nvPr>
            <p:ph idx="1"/>
          </p:nvPr>
        </p:nvSpPr>
        <p:spPr>
          <a:xfrm>
            <a:off x="539552" y="1007491"/>
            <a:ext cx="6172200" cy="447675"/>
          </a:xfrm>
        </p:spPr>
        <p:txBody>
          <a:bodyPr vert="horz" wrap="square" lIns="68591" tIns="34295" rIns="68591" bIns="34295" numCol="1" anchor="t" anchorCtr="0" compatLnSpc="1">
            <a:prstTxWarp prst="textNoShape">
              <a:avLst/>
            </a:prstTxWarp>
          </a:bodyPr>
          <a:lstStyle/>
          <a:p>
            <a:pPr eaLnBrk="1" fontAlgn="base" hangingPunct="1">
              <a:lnSpc>
                <a:spcPct val="90000"/>
              </a:lnSpc>
              <a:buClr>
                <a:srgbClr val="FF0000"/>
              </a:buClr>
              <a:buSzPct val="90000"/>
              <a:buFont typeface="Wingdings" panose="05000000000000000000" pitchFamily="2" charset="2"/>
              <a:buChar char="ü"/>
            </a:pPr>
            <a:r>
              <a:rPr lang="zh-CN" altLang="en-US" sz="2400" b="1" noProof="1"/>
              <a:t>生成斐波那契数列的函数定义和调用</a:t>
            </a:r>
            <a:endParaRPr lang="en-US" altLang="zh-CN" sz="1600" b="1" noProof="1">
              <a:latin typeface="Consolas" panose="020B0609020204030204" pitchFamily="49" charset="0"/>
            </a:endParaRPr>
          </a:p>
        </p:txBody>
      </p:sp>
      <p:sp>
        <p:nvSpPr>
          <p:cNvPr id="2" name="线形标注 2 1"/>
          <p:cNvSpPr/>
          <p:nvPr/>
        </p:nvSpPr>
        <p:spPr>
          <a:xfrm>
            <a:off x="2100857" y="4547568"/>
            <a:ext cx="1206500" cy="355600"/>
          </a:xfrm>
          <a:prstGeom prst="borderCallout2">
            <a:avLst>
              <a:gd name="adj1" fmla="val -291"/>
              <a:gd name="adj2" fmla="val 48580"/>
              <a:gd name="adj3" fmla="val -55642"/>
              <a:gd name="adj4" fmla="val 55717"/>
              <a:gd name="adj5" fmla="val -185214"/>
              <a:gd name="adj6" fmla="val 73186"/>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350" noProof="1">
                <a:solidFill>
                  <a:srgbClr val="FF0000"/>
                </a:solidFill>
              </a:rPr>
              <a:t>调用函数</a:t>
            </a:r>
          </a:p>
        </p:txBody>
      </p:sp>
      <p:sp>
        <p:nvSpPr>
          <p:cNvPr id="3" name="线形标注 2 2"/>
          <p:cNvSpPr/>
          <p:nvPr/>
        </p:nvSpPr>
        <p:spPr>
          <a:xfrm>
            <a:off x="4231282" y="4467876"/>
            <a:ext cx="1208088" cy="365125"/>
          </a:xfrm>
          <a:prstGeom prst="borderCallout2">
            <a:avLst>
              <a:gd name="adj1" fmla="val 18750"/>
              <a:gd name="adj2" fmla="val -8333"/>
              <a:gd name="adj3" fmla="val 18750"/>
              <a:gd name="adj4" fmla="val -16667"/>
              <a:gd name="adj5" fmla="val -155816"/>
              <a:gd name="adj6" fmla="val -52720"/>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350" noProof="1">
                <a:solidFill>
                  <a:srgbClr val="FF0000"/>
                </a:solidFill>
              </a:rPr>
              <a:t>1000</a:t>
            </a:r>
            <a:r>
              <a:rPr lang="zh-CN" altLang="en-US" sz="1350" noProof="1">
                <a:solidFill>
                  <a:srgbClr val="FF0000"/>
                </a:solidFill>
              </a:rPr>
              <a:t>是实参</a:t>
            </a:r>
          </a:p>
        </p:txBody>
      </p:sp>
      <p:sp>
        <p:nvSpPr>
          <p:cNvPr id="4" name="线形标注 2 3"/>
          <p:cNvSpPr/>
          <p:nvPr/>
        </p:nvSpPr>
        <p:spPr>
          <a:xfrm>
            <a:off x="4656732" y="1867869"/>
            <a:ext cx="1208088" cy="385763"/>
          </a:xfrm>
          <a:prstGeom prst="borderCallout2">
            <a:avLst>
              <a:gd name="adj1" fmla="val 18750"/>
              <a:gd name="adj2" fmla="val -8333"/>
              <a:gd name="adj3" fmla="val 18750"/>
              <a:gd name="adj4" fmla="val -16667"/>
              <a:gd name="adj5" fmla="val 140175"/>
              <a:gd name="adj6" fmla="val -75118"/>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350" noProof="1">
                <a:solidFill>
                  <a:srgbClr val="FF0000"/>
                </a:solidFill>
              </a:rPr>
              <a:t>n</a:t>
            </a:r>
            <a:r>
              <a:rPr lang="zh-CN" altLang="en-US" sz="1350" noProof="1">
                <a:solidFill>
                  <a:srgbClr val="FF0000"/>
                </a:solidFill>
              </a:rPr>
              <a:t>是形参</a:t>
            </a:r>
          </a:p>
        </p:txBody>
      </p:sp>
      <p:sp>
        <p:nvSpPr>
          <p:cNvPr id="24582" name="文本框 4"/>
          <p:cNvSpPr txBox="1"/>
          <p:nvPr/>
        </p:nvSpPr>
        <p:spPr>
          <a:xfrm>
            <a:off x="2843808" y="2348880"/>
            <a:ext cx="2655887" cy="1855470"/>
          </a:xfrm>
          <a:prstGeom prst="rect">
            <a:avLst/>
          </a:prstGeom>
          <a:noFill/>
          <a:ln w="22225" cap="flat" cmpd="sng">
            <a:solidFill>
              <a:srgbClr val="0000FF"/>
            </a:solidFill>
            <a:prstDash val="solid"/>
            <a:round/>
            <a:headEnd type="none" w="med" len="med"/>
            <a:tailEnd type="none" w="med" len="med"/>
          </a:ln>
        </p:spPr>
        <p:txBody>
          <a:bodyPr anchor="t">
            <a:spAutoFit/>
          </a:bodyPr>
          <a:lstStyle/>
          <a:p>
            <a:pPr>
              <a:lnSpc>
                <a:spcPct val="90000"/>
              </a:lnSpc>
              <a:buSzPct val="90000"/>
              <a:buFont typeface="Wingdings" panose="05000000000000000000" pitchFamily="2" charset="2"/>
              <a:buNone/>
            </a:pPr>
            <a:r>
              <a:rPr lang="en-US" altLang="zh-CN" sz="1400" dirty="0">
                <a:solidFill>
                  <a:srgbClr val="0000FF"/>
                </a:solidFill>
                <a:latin typeface="Consolas" panose="020B0609020204030204" pitchFamily="49" charset="0"/>
                <a:ea typeface="宋体" panose="02010600030101010101" pitchFamily="2" charset="-122"/>
              </a:rPr>
              <a:t>def</a:t>
            </a:r>
            <a:r>
              <a:rPr lang="en-US" altLang="zh-CN" sz="1400" dirty="0">
                <a:latin typeface="Consolas" panose="020B0609020204030204" pitchFamily="49" charset="0"/>
                <a:ea typeface="宋体" panose="02010600030101010101" pitchFamily="2" charset="-122"/>
              </a:rPr>
              <a:t> fib(n):</a:t>
            </a: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    a, b = 1, 1</a:t>
            </a: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    </a:t>
            </a:r>
            <a:r>
              <a:rPr lang="en-US" altLang="zh-CN" sz="1400" dirty="0">
                <a:solidFill>
                  <a:srgbClr val="0000FF"/>
                </a:solidFill>
                <a:latin typeface="Consolas" panose="020B0609020204030204" pitchFamily="49" charset="0"/>
                <a:ea typeface="宋体" panose="02010600030101010101" pitchFamily="2" charset="-122"/>
              </a:rPr>
              <a:t>while</a:t>
            </a:r>
            <a:r>
              <a:rPr lang="en-US" altLang="zh-CN" sz="1400" dirty="0">
                <a:latin typeface="Consolas" panose="020B0609020204030204" pitchFamily="49" charset="0"/>
                <a:ea typeface="宋体" panose="02010600030101010101" pitchFamily="2" charset="-122"/>
              </a:rPr>
              <a:t> a &lt; n:</a:t>
            </a: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        print(a, end=' ')</a:t>
            </a: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        a, b = b, a+b</a:t>
            </a: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    </a:t>
            </a:r>
            <a:r>
              <a:rPr lang="en-US" altLang="zh-CN" sz="1400" dirty="0">
                <a:solidFill>
                  <a:srgbClr val="0000FF"/>
                </a:solidFill>
                <a:latin typeface="Consolas" panose="020B0609020204030204" pitchFamily="49" charset="0"/>
                <a:ea typeface="宋体" panose="02010600030101010101" pitchFamily="2" charset="-122"/>
              </a:rPr>
              <a:t>print</a:t>
            </a:r>
            <a:r>
              <a:rPr lang="en-US" altLang="zh-CN" sz="1400" dirty="0">
                <a:latin typeface="Consolas" panose="020B0609020204030204" pitchFamily="49" charset="0"/>
                <a:ea typeface="宋体" panose="02010600030101010101" pitchFamily="2" charset="-122"/>
              </a:rPr>
              <a:t>()</a:t>
            </a:r>
          </a:p>
          <a:p>
            <a:pPr>
              <a:lnSpc>
                <a:spcPct val="90000"/>
              </a:lnSpc>
              <a:buSzPct val="90000"/>
              <a:buFont typeface="Wingdings" panose="05000000000000000000" pitchFamily="2" charset="2"/>
              <a:buNone/>
            </a:pPr>
            <a:endParaRPr lang="en-US" altLang="zh-CN" sz="1400" dirty="0">
              <a:latin typeface="Consolas" panose="020B0609020204030204" pitchFamily="49" charset="0"/>
              <a:ea typeface="宋体" panose="02010600030101010101" pitchFamily="2" charset="-122"/>
            </a:endParaRP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fib(1000)</a:t>
            </a:r>
          </a:p>
          <a:p>
            <a:endParaRPr lang="zh-CN" altLang="en-US" sz="1400" dirty="0">
              <a:latin typeface="Arial" panose="020B0604020202020204" pitchFamily="34" charset="0"/>
              <a:ea typeface="宋体" panose="02010600030101010101" pitchFamily="2" charset="-122"/>
            </a:endParaRPr>
          </a:p>
        </p:txBody>
      </p:sp>
      <p:sp>
        <p:nvSpPr>
          <p:cNvPr id="6" name="线形标注 1 5"/>
          <p:cNvSpPr/>
          <p:nvPr/>
        </p:nvSpPr>
        <p:spPr>
          <a:xfrm>
            <a:off x="1705570" y="3048968"/>
            <a:ext cx="944563" cy="374650"/>
          </a:xfrm>
          <a:prstGeom prst="borderCallout1">
            <a:avLst>
              <a:gd name="adj1" fmla="val -4574"/>
              <a:gd name="adj2" fmla="val 48895"/>
              <a:gd name="adj3" fmla="val -136276"/>
              <a:gd name="adj4" fmla="val 144767"/>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350" noProof="1">
                <a:solidFill>
                  <a:srgbClr val="FF0000"/>
                </a:solidFill>
              </a:rPr>
              <a:t>定义头</a:t>
            </a:r>
          </a:p>
        </p:txBody>
      </p:sp>
      <p:sp>
        <p:nvSpPr>
          <p:cNvPr id="7" name="矩形 6"/>
          <p:cNvSpPr/>
          <p:nvPr/>
        </p:nvSpPr>
        <p:spPr>
          <a:xfrm>
            <a:off x="3226395" y="2574305"/>
            <a:ext cx="2087563" cy="97948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noProof="1"/>
          </a:p>
        </p:txBody>
      </p:sp>
      <p:sp>
        <p:nvSpPr>
          <p:cNvPr id="8" name="线形标注 2 7"/>
          <p:cNvSpPr/>
          <p:nvPr/>
        </p:nvSpPr>
        <p:spPr>
          <a:xfrm>
            <a:off x="6063574" y="2254266"/>
            <a:ext cx="1208088" cy="385763"/>
          </a:xfrm>
          <a:prstGeom prst="borderCallout2">
            <a:avLst>
              <a:gd name="adj1" fmla="val 18750"/>
              <a:gd name="adj2" fmla="val -8333"/>
              <a:gd name="adj3" fmla="val 18750"/>
              <a:gd name="adj4" fmla="val -16667"/>
              <a:gd name="adj5" fmla="val 99629"/>
              <a:gd name="adj6" fmla="val -6565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350" noProof="1"/>
              <a:t>函数体</a:t>
            </a:r>
          </a:p>
        </p:txBody>
      </p:sp>
      <p:sp>
        <p:nvSpPr>
          <p:cNvPr id="5" name="灯片编号占位符 4"/>
          <p:cNvSpPr>
            <a:spLocks noGrp="1"/>
          </p:cNvSpPr>
          <p:nvPr>
            <p:ph type="sldNum" sz="quarter" idx="4"/>
          </p:nvPr>
        </p:nvSpPr>
        <p:spPr/>
        <p:txBody>
          <a:bodyPr/>
          <a:lstStyle/>
          <a:p>
            <a:pPr>
              <a:defRPr/>
            </a:pPr>
            <a:fld id="{6EA7BA5E-4115-4796-A8C9-4698036AB88B}" type="slidenum">
              <a:rPr lang="zh-CN" altLang="en-US" smtClean="0"/>
              <a:pPr>
                <a:defRPr/>
              </a:pPr>
              <a:t>5</a:t>
            </a:fld>
            <a:endParaRPr lang="zh-CN" altLang="en-US" dirty="0"/>
          </a:p>
        </p:txBody>
      </p:sp>
      <p:grpSp>
        <p:nvGrpSpPr>
          <p:cNvPr id="13" name="组合 12"/>
          <p:cNvGrpSpPr/>
          <p:nvPr/>
        </p:nvGrpSpPr>
        <p:grpSpPr>
          <a:xfrm>
            <a:off x="539552" y="116632"/>
            <a:ext cx="4583419" cy="684042"/>
            <a:chOff x="958665" y="1326432"/>
            <a:chExt cx="4583419" cy="684042"/>
          </a:xfrm>
        </p:grpSpPr>
        <p:sp>
          <p:nvSpPr>
            <p:cNvPr id="14" name="TextBox 6"/>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15" name="组合 14"/>
            <p:cNvGrpSpPr/>
            <p:nvPr/>
          </p:nvGrpSpPr>
          <p:grpSpPr>
            <a:xfrm>
              <a:off x="958665" y="1327471"/>
              <a:ext cx="842977" cy="683003"/>
              <a:chOff x="958665" y="1327471"/>
              <a:chExt cx="842977" cy="683003"/>
            </a:xfrm>
          </p:grpSpPr>
          <p:sp>
            <p:nvSpPr>
              <p:cNvPr id="16"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7" name="图片 16" descr="1.jpg"/>
              <p:cNvPicPr>
                <a:picLocks noChangeAspect="1"/>
              </p:cNvPicPr>
              <p:nvPr/>
            </p:nvPicPr>
            <p:blipFill>
              <a:blip r:embed="rId2"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170173481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582"/>
                                        </p:tgtEl>
                                        <p:attrNameLst>
                                          <p:attrName>style.visibility</p:attrName>
                                        </p:attrNameLst>
                                      </p:cBhvr>
                                      <p:to>
                                        <p:strVal val="visible"/>
                                      </p:to>
                                    </p:set>
                                    <p:anim calcmode="lin" valueType="num">
                                      <p:cBhvr additive="base">
                                        <p:cTn id="23" dur="500" fill="hold"/>
                                        <p:tgtEl>
                                          <p:spTgt spid="24582"/>
                                        </p:tgtEl>
                                        <p:attrNameLst>
                                          <p:attrName>ppt_x</p:attrName>
                                        </p:attrNameLst>
                                      </p:cBhvr>
                                      <p:tavLst>
                                        <p:tav tm="0">
                                          <p:val>
                                            <p:strVal val="#ppt_x"/>
                                          </p:val>
                                        </p:tav>
                                        <p:tav tm="100000">
                                          <p:val>
                                            <p:strVal val="#ppt_x"/>
                                          </p:val>
                                        </p:tav>
                                      </p:tavLst>
                                    </p:anim>
                                    <p:anim calcmode="lin" valueType="num">
                                      <p:cBhvr additive="base">
                                        <p:cTn id="24" dur="500" fill="hold"/>
                                        <p:tgtEl>
                                          <p:spTgt spid="2458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build="p"/>
      <p:bldP spid="2" grpId="0" animBg="1"/>
      <p:bldP spid="3" grpId="0" animBg="1"/>
      <p:bldP spid="4" grpId="0" animBg="1"/>
      <p:bldP spid="24582" grpId="0" animBg="1"/>
      <p:bldP spid="6" grpId="0" animBg="1"/>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文本占位符 21506"/>
          <p:cNvSpPr>
            <a:spLocks noGrp="1"/>
          </p:cNvSpPr>
          <p:nvPr>
            <p:ph idx="1"/>
          </p:nvPr>
        </p:nvSpPr>
        <p:spPr>
          <a:xfrm>
            <a:off x="426914" y="983970"/>
            <a:ext cx="8277472" cy="3395345"/>
          </a:xfrm>
        </p:spPr>
        <p:txBody>
          <a:bodyPr vert="horz" wrap="square" lIns="68591" tIns="34295" rIns="68591" bIns="34295" numCol="1" anchor="t" anchorCtr="0" compatLnSpc="1">
            <a:prstTxWarp prst="textNoShape">
              <a:avLst/>
            </a:prstTxWarp>
          </a:bodyPr>
          <a:lstStyle/>
          <a:p>
            <a:pPr eaLnBrk="1" hangingPunct="1">
              <a:spcBef>
                <a:spcPct val="0"/>
              </a:spcBef>
              <a:buClr>
                <a:srgbClr val="FF0000"/>
              </a:buClr>
              <a:buSzPct val="90000"/>
              <a:buFont typeface="Wingdings" panose="05000000000000000000" pitchFamily="2" charset="2"/>
              <a:buChar char="n"/>
            </a:pPr>
            <a:r>
              <a:rPr lang="zh-CN" altLang="en-US" sz="2400" dirty="0"/>
              <a:t>在定义函数时，开头部分的注释并不是必需的，但如果为函数的定义加上注释的话，可以为用户提供</a:t>
            </a:r>
            <a:r>
              <a:rPr lang="zh-CN" altLang="en-US" sz="2400" dirty="0">
                <a:solidFill>
                  <a:srgbClr val="FF0000"/>
                </a:solidFill>
              </a:rPr>
              <a:t>友好的提示</a:t>
            </a:r>
            <a:r>
              <a:rPr lang="zh-CN" altLang="en-US" sz="2400" dirty="0"/>
              <a:t>。</a:t>
            </a:r>
          </a:p>
          <a:p>
            <a:pPr eaLnBrk="1" hangingPunct="1">
              <a:lnSpc>
                <a:spcPct val="80000"/>
              </a:lnSpc>
              <a:buSzPct val="90000"/>
              <a:buFont typeface="Wingdings" panose="05000000000000000000" pitchFamily="2" charset="2"/>
              <a:buNone/>
            </a:pPr>
            <a:endParaRPr lang="en-US" altLang="zh-CN" sz="1500" dirty="0"/>
          </a:p>
        </p:txBody>
      </p:sp>
      <p:pic>
        <p:nvPicPr>
          <p:cNvPr id="25603" name="图片 43"/>
          <p:cNvPicPr>
            <a:picLocks noGrp="1" noChangeAspect="1"/>
          </p:cNvPicPr>
          <p:nvPr/>
        </p:nvPicPr>
        <p:blipFill>
          <a:blip r:embed="rId2">
            <a:clrChange>
              <a:clrFrom>
                <a:srgbClr val="FFFFFF"/>
              </a:clrFrom>
              <a:clrTo>
                <a:srgbClr val="FFFFFF">
                  <a:alpha val="0"/>
                </a:srgbClr>
              </a:clrTo>
            </a:clrChange>
          </a:blip>
          <a:stretch>
            <a:fillRect/>
          </a:stretch>
        </p:blipFill>
        <p:spPr>
          <a:xfrm>
            <a:off x="749350" y="2132856"/>
            <a:ext cx="8319307" cy="3551771"/>
          </a:xfrm>
          <a:prstGeom prst="rect">
            <a:avLst/>
          </a:prstGeom>
          <a:noFill/>
          <a:ln w="9525">
            <a:noFill/>
          </a:ln>
        </p:spPr>
      </p:pic>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a:t>
            </a:fld>
            <a:endParaRPr lang="zh-CN" altLang="en-US" dirty="0"/>
          </a:p>
        </p:txBody>
      </p:sp>
      <p:grpSp>
        <p:nvGrpSpPr>
          <p:cNvPr id="7" name="组合 6"/>
          <p:cNvGrpSpPr/>
          <p:nvPr/>
        </p:nvGrpSpPr>
        <p:grpSpPr>
          <a:xfrm>
            <a:off x="539552" y="116632"/>
            <a:ext cx="4583419" cy="684042"/>
            <a:chOff x="958665" y="1326432"/>
            <a:chExt cx="4583419" cy="684042"/>
          </a:xfrm>
        </p:grpSpPr>
        <p:sp>
          <p:nvSpPr>
            <p:cNvPr id="8" name="TextBox 6"/>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9" name="组合 8"/>
            <p:cNvGrpSpPr/>
            <p:nvPr/>
          </p:nvGrpSpPr>
          <p:grpSpPr>
            <a:xfrm>
              <a:off x="958665" y="1327471"/>
              <a:ext cx="842977" cy="683003"/>
              <a:chOff x="958665" y="1327471"/>
              <a:chExt cx="842977" cy="683003"/>
            </a:xfrm>
          </p:grpSpPr>
          <p:sp>
            <p:nvSpPr>
              <p:cNvPr id="10"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1" name="图片 10" descr="1.jpg"/>
              <p:cNvPicPr>
                <a:picLocks noChangeAspect="1"/>
              </p:cNvPicPr>
              <p:nvPr/>
            </p:nvPicPr>
            <p:blipFill>
              <a:blip r:embed="rId3"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416767831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5603"/>
                                        </p:tgtEl>
                                        <p:attrNameLst>
                                          <p:attrName>style.visibility</p:attrName>
                                        </p:attrNameLst>
                                      </p:cBhvr>
                                      <p:to>
                                        <p:strVal val="visible"/>
                                      </p:to>
                                    </p:set>
                                    <p:anim calcmode="lin" valueType="num">
                                      <p:cBhvr additive="base">
                                        <p:cTn id="11" dur="500" fill="hold"/>
                                        <p:tgtEl>
                                          <p:spTgt spid="25603"/>
                                        </p:tgtEl>
                                        <p:attrNameLst>
                                          <p:attrName>ppt_x</p:attrName>
                                        </p:attrNameLst>
                                      </p:cBhvr>
                                      <p:tavLst>
                                        <p:tav tm="0">
                                          <p:val>
                                            <p:strVal val="#ppt_x"/>
                                          </p:val>
                                        </p:tav>
                                        <p:tav tm="100000">
                                          <p:val>
                                            <p:strVal val="#ppt_x"/>
                                          </p:val>
                                        </p:tav>
                                      </p:tavLst>
                                    </p:anim>
                                    <p:anim calcmode="lin" valueType="num">
                                      <p:cBhvr additive="base">
                                        <p:cTn id="12" dur="500" fill="hold"/>
                                        <p:tgtEl>
                                          <p:spTgt spid="256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0155" y="1052736"/>
            <a:ext cx="8179435" cy="741044"/>
          </a:xfrm>
        </p:spPr>
        <p:txBody>
          <a:bodyPr vert="horz" wrap="square" lIns="68591" tIns="34295" rIns="68591" bIns="34295" numCol="1" anchor="t" anchorCtr="0" compatLnSpc="1">
            <a:prstTxWarp prst="textNoShape">
              <a:avLst/>
            </a:prstTxWarp>
          </a:bodyPr>
          <a:lstStyle/>
          <a:p>
            <a:pPr>
              <a:spcBef>
                <a:spcPts val="600"/>
              </a:spcBef>
              <a:buClr>
                <a:srgbClr val="FF0000"/>
              </a:buClr>
              <a:buFont typeface="Wingdings" panose="05000000000000000000" pitchFamily="2" charset="2"/>
              <a:buChar char="n"/>
              <a:defRPr/>
            </a:pPr>
            <a:r>
              <a:rPr lang="en-US" sz="2400" b="1" noProof="1"/>
              <a:t>Python中的函数和自定义对象的成员也是可以随时发生改变的，</a:t>
            </a:r>
            <a:r>
              <a:rPr lang="en-US" sz="2400" b="1" noProof="1">
                <a:solidFill>
                  <a:srgbClr val="FF0000"/>
                </a:solidFill>
              </a:rPr>
              <a:t>可以为函数和自定义对象动态增加新成员</a:t>
            </a:r>
            <a:r>
              <a:rPr lang="en-US" sz="2400" b="1" noProof="1"/>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7</a:t>
            </a:fld>
            <a:endParaRPr lang="zh-CN" altLang="en-US" dirty="0"/>
          </a:p>
        </p:txBody>
      </p:sp>
      <p:grpSp>
        <p:nvGrpSpPr>
          <p:cNvPr id="6" name="组合 5"/>
          <p:cNvGrpSpPr/>
          <p:nvPr/>
        </p:nvGrpSpPr>
        <p:grpSpPr>
          <a:xfrm>
            <a:off x="539552" y="116632"/>
            <a:ext cx="4583419" cy="684042"/>
            <a:chOff x="958665" y="1326432"/>
            <a:chExt cx="4583419" cy="684042"/>
          </a:xfrm>
        </p:grpSpPr>
        <p:sp>
          <p:nvSpPr>
            <p:cNvPr id="7" name="TextBox 6"/>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8" name="组合 7"/>
            <p:cNvGrpSpPr/>
            <p:nvPr/>
          </p:nvGrpSpPr>
          <p:grpSpPr>
            <a:xfrm>
              <a:off x="958665" y="1327471"/>
              <a:ext cx="842977" cy="683003"/>
              <a:chOff x="958665" y="1327471"/>
              <a:chExt cx="842977" cy="683003"/>
            </a:xfrm>
          </p:grpSpPr>
          <p:sp>
            <p:nvSpPr>
              <p:cNvPr id="9"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0" name="图片 9"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5" name="矩形 4"/>
          <p:cNvSpPr/>
          <p:nvPr/>
        </p:nvSpPr>
        <p:spPr>
          <a:xfrm>
            <a:off x="888028" y="1916832"/>
            <a:ext cx="8064896" cy="3416320"/>
          </a:xfrm>
          <a:prstGeom prst="rect">
            <a:avLst/>
          </a:prstGeom>
        </p:spPr>
        <p:txBody>
          <a:bodyPr wrap="square">
            <a:spAutoFit/>
          </a:bodyPr>
          <a:lstStyle/>
          <a:p>
            <a:pPr marL="0" indent="0">
              <a:buNone/>
              <a:defRPr/>
            </a:pPr>
            <a:r>
              <a:rPr lang="en-US" altLang="zh-CN" noProof="1">
                <a:latin typeface="Consolas" panose="020B0609020204030204" pitchFamily="49" charset="0"/>
                <a:ea typeface="仿宋" panose="02010609060101010101" pitchFamily="49" charset="-122"/>
              </a:rPr>
              <a:t>&gt;&gt;&gt; def func():</a:t>
            </a:r>
          </a:p>
          <a:p>
            <a:pPr marL="0" indent="0">
              <a:buNone/>
              <a:defRPr/>
            </a:pPr>
            <a:r>
              <a:rPr lang="en-US" altLang="zh-CN" noProof="1">
                <a:latin typeface="Consolas" panose="020B0609020204030204" pitchFamily="49" charset="0"/>
                <a:ea typeface="仿宋" panose="02010609060101010101" pitchFamily="49" charset="-122"/>
              </a:rPr>
              <a:t>    print(func.x) </a:t>
            </a:r>
          </a:p>
          <a:p>
            <a:pPr marL="0" indent="0">
              <a:buNone/>
              <a:defRPr/>
            </a:pPr>
            <a:r>
              <a:rPr lang="en-US" altLang="zh-CN" noProof="1">
                <a:latin typeface="Consolas" panose="020B0609020204030204" pitchFamily="49" charset="0"/>
                <a:ea typeface="仿宋" panose="02010609060101010101" pitchFamily="49" charset="-122"/>
              </a:rPr>
              <a:t>&gt;&gt;&gt; func() </a:t>
            </a:r>
          </a:p>
          <a:p>
            <a:pPr marL="0" indent="0">
              <a:buNone/>
              <a:defRPr/>
            </a:pPr>
            <a:r>
              <a:rPr lang="en-US" altLang="zh-CN" noProof="1">
                <a:solidFill>
                  <a:srgbClr val="FF0000"/>
                </a:solidFill>
                <a:latin typeface="Consolas" panose="020B0609020204030204" pitchFamily="49" charset="0"/>
                <a:ea typeface="仿宋" panose="02010609060101010101" pitchFamily="49" charset="-122"/>
              </a:rPr>
              <a:t>AttributeError: 'function' object has no attribute 'x'</a:t>
            </a:r>
          </a:p>
          <a:p>
            <a:pPr marL="0" indent="0">
              <a:buNone/>
              <a:defRPr/>
            </a:pPr>
            <a:r>
              <a:rPr lang="en-US" altLang="zh-CN" noProof="1">
                <a:latin typeface="Consolas" panose="020B0609020204030204" pitchFamily="49" charset="0"/>
                <a:ea typeface="仿宋" panose="02010609060101010101" pitchFamily="49" charset="-122"/>
              </a:rPr>
              <a:t>&gt;&gt;&gt; func.x = 3                    </a:t>
            </a:r>
            <a:r>
              <a:rPr lang="en-US" altLang="zh-CN" noProof="1">
                <a:solidFill>
                  <a:srgbClr val="0000FF"/>
                </a:solidFill>
                <a:latin typeface="Consolas" panose="020B0609020204030204" pitchFamily="49" charset="0"/>
                <a:ea typeface="仿宋" panose="02010609060101010101" pitchFamily="49" charset="-122"/>
              </a:rPr>
              <a:t>#动态为函数增加新成员</a:t>
            </a:r>
          </a:p>
          <a:p>
            <a:pPr marL="0" indent="0">
              <a:buNone/>
              <a:defRPr/>
            </a:pPr>
            <a:r>
              <a:rPr lang="en-US" altLang="zh-CN" noProof="1">
                <a:latin typeface="Consolas" panose="020B0609020204030204" pitchFamily="49" charset="0"/>
                <a:ea typeface="仿宋" panose="02010609060101010101" pitchFamily="49" charset="-122"/>
              </a:rPr>
              <a:t>&gt;&gt;&gt; func()</a:t>
            </a:r>
          </a:p>
          <a:p>
            <a:pPr marL="0" indent="0">
              <a:buNone/>
              <a:defRPr/>
            </a:pPr>
            <a:r>
              <a:rPr lang="en-US" altLang="zh-CN" noProof="1">
                <a:solidFill>
                  <a:srgbClr val="0000FF"/>
                </a:solidFill>
                <a:latin typeface="Consolas" panose="020B0609020204030204" pitchFamily="49" charset="0"/>
                <a:ea typeface="仿宋" panose="02010609060101010101" pitchFamily="49" charset="-122"/>
              </a:rPr>
              <a:t>3</a:t>
            </a:r>
          </a:p>
          <a:p>
            <a:pPr marL="0" indent="0">
              <a:buNone/>
              <a:defRPr/>
            </a:pPr>
            <a:r>
              <a:rPr lang="en-US" altLang="zh-CN" noProof="1">
                <a:latin typeface="Consolas" panose="020B0609020204030204" pitchFamily="49" charset="0"/>
                <a:ea typeface="仿宋" panose="02010609060101010101" pitchFamily="49" charset="-122"/>
              </a:rPr>
              <a:t>&gt;&gt;&gt; func.x                        </a:t>
            </a:r>
            <a:r>
              <a:rPr lang="en-US" altLang="zh-CN" noProof="1">
                <a:solidFill>
                  <a:srgbClr val="0000FF"/>
                </a:solidFill>
                <a:latin typeface="Consolas" panose="020B0609020204030204" pitchFamily="49" charset="0"/>
                <a:ea typeface="仿宋" panose="02010609060101010101" pitchFamily="49" charset="-122"/>
              </a:rPr>
              <a:t>#在外部也可以直接访问函数的成员</a:t>
            </a:r>
          </a:p>
          <a:p>
            <a:pPr marL="0" indent="0">
              <a:buNone/>
              <a:defRPr/>
            </a:pPr>
            <a:r>
              <a:rPr lang="en-US" altLang="zh-CN" noProof="1">
                <a:solidFill>
                  <a:srgbClr val="0000FF"/>
                </a:solidFill>
                <a:latin typeface="Consolas" panose="020B0609020204030204" pitchFamily="49" charset="0"/>
                <a:ea typeface="仿宋" panose="02010609060101010101" pitchFamily="49" charset="-122"/>
              </a:rPr>
              <a:t>3</a:t>
            </a:r>
          </a:p>
          <a:p>
            <a:pPr marL="0" indent="0">
              <a:buNone/>
              <a:defRPr/>
            </a:pPr>
            <a:r>
              <a:rPr lang="en-US" altLang="zh-CN" noProof="1">
                <a:latin typeface="Consolas" panose="020B0609020204030204" pitchFamily="49" charset="0"/>
                <a:ea typeface="仿宋" panose="02010609060101010101" pitchFamily="49" charset="-122"/>
              </a:rPr>
              <a:t>&gt;&gt;&gt; del func.x                    </a:t>
            </a:r>
            <a:r>
              <a:rPr lang="en-US" altLang="zh-CN" noProof="1">
                <a:solidFill>
                  <a:srgbClr val="0000FF"/>
                </a:solidFill>
                <a:latin typeface="Consolas" panose="020B0609020204030204" pitchFamily="49" charset="0"/>
                <a:ea typeface="仿宋" panose="02010609060101010101" pitchFamily="49" charset="-122"/>
              </a:rPr>
              <a:t>#删除函数成员</a:t>
            </a:r>
          </a:p>
          <a:p>
            <a:pPr marL="0" indent="0">
              <a:buNone/>
              <a:defRPr/>
            </a:pPr>
            <a:r>
              <a:rPr lang="en-US" altLang="zh-CN" noProof="1">
                <a:latin typeface="Consolas" panose="020B0609020204030204" pitchFamily="49" charset="0"/>
                <a:ea typeface="仿宋" panose="02010609060101010101" pitchFamily="49" charset="-122"/>
              </a:rPr>
              <a:t>&gt;&gt;&gt; func()</a:t>
            </a:r>
            <a:endParaRPr lang="en-US" altLang="zh-CN" noProof="1">
              <a:solidFill>
                <a:srgbClr val="0000FF"/>
              </a:solidFill>
              <a:latin typeface="Consolas" panose="020B0609020204030204" pitchFamily="49" charset="0"/>
              <a:ea typeface="仿宋" panose="02010609060101010101" pitchFamily="49" charset="-122"/>
            </a:endParaRPr>
          </a:p>
          <a:p>
            <a:pPr marL="0" indent="0">
              <a:buNone/>
              <a:defRPr/>
            </a:pPr>
            <a:r>
              <a:rPr lang="en-US" altLang="zh-CN" noProof="1">
                <a:solidFill>
                  <a:srgbClr val="FF0000"/>
                </a:solidFill>
                <a:latin typeface="Consolas" panose="020B0609020204030204" pitchFamily="49" charset="0"/>
                <a:ea typeface="仿宋" panose="02010609060101010101" pitchFamily="49" charset="-122"/>
              </a:rPr>
              <a:t>AttributeError: 'function' object has no attribute 'x'</a:t>
            </a:r>
          </a:p>
        </p:txBody>
      </p:sp>
    </p:spTree>
    <p:extLst>
      <p:ext uri="{BB962C8B-B14F-4D97-AF65-F5344CB8AC3E}">
        <p14:creationId xmlns:p14="http://schemas.microsoft.com/office/powerpoint/2010/main" val="346856932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3"/>
          <p:cNvSpPr txBox="1">
            <a:spLocks noChangeAspect="1" noChangeArrowheads="1"/>
          </p:cNvSpPr>
          <p:nvPr/>
        </p:nvSpPr>
        <p:spPr bwMode="auto">
          <a:xfrm>
            <a:off x="457200" y="980729"/>
            <a:ext cx="8229600" cy="51125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n"/>
            </a:pPr>
            <a:r>
              <a:rPr lang="zh-CN" altLang="en-US" b="1" dirty="0"/>
              <a:t>汉诺塔问题</a:t>
            </a:r>
            <a:endParaRPr lang="en-US" altLang="zh-CN" b="1" dirty="0"/>
          </a:p>
          <a:p>
            <a:pPr marL="457200" indent="-457200" algn="just">
              <a:spcBef>
                <a:spcPts val="1200"/>
              </a:spcBef>
              <a:buFont typeface="Wingdings" panose="05000000000000000000" pitchFamily="2" charset="2"/>
              <a:buAutoNum type="arabicPeriod" startAt="2"/>
            </a:pPr>
            <a:r>
              <a:rPr lang="en-US" altLang="zh-CN" sz="2400" b="1" dirty="0"/>
              <a:t> </a:t>
            </a:r>
            <a:r>
              <a:rPr lang="en-US" altLang="zh-CN" sz="2400" b="1" i="1" dirty="0"/>
              <a:t>n</a:t>
            </a:r>
            <a:r>
              <a:rPr lang="zh-CN" altLang="en-US" sz="2400" b="1" dirty="0"/>
              <a:t>个盘子和</a:t>
            </a:r>
            <a:r>
              <a:rPr lang="en-US" altLang="zh-CN" sz="2400" b="1" dirty="0"/>
              <a:t>3</a:t>
            </a:r>
            <a:r>
              <a:rPr lang="zh-CN" altLang="en-US" sz="2400" b="1" dirty="0"/>
              <a:t>根柱子：</a:t>
            </a:r>
            <a:r>
              <a:rPr lang="en-US" altLang="zh-CN" sz="2400" b="1" dirty="0"/>
              <a:t>A</a:t>
            </a:r>
            <a:r>
              <a:rPr lang="zh-CN" altLang="en-US" sz="2400" b="1" dirty="0"/>
              <a:t>、</a:t>
            </a:r>
            <a:r>
              <a:rPr lang="en-US" altLang="zh-CN" sz="2400" b="1" dirty="0"/>
              <a:t>B</a:t>
            </a:r>
            <a:r>
              <a:rPr lang="zh-CN" altLang="en-US" sz="2400" b="1" dirty="0"/>
              <a:t>、</a:t>
            </a:r>
            <a:r>
              <a:rPr lang="en-US" altLang="zh-CN" sz="2400" b="1" dirty="0"/>
              <a:t>C</a:t>
            </a:r>
            <a:r>
              <a:rPr lang="zh-CN" altLang="en-US" sz="2400" b="1" dirty="0"/>
              <a:t>。起初，所有盘子在</a:t>
            </a:r>
            <a:r>
              <a:rPr lang="en-US" altLang="zh-CN" sz="2400" b="1" dirty="0"/>
              <a:t>A</a:t>
            </a:r>
            <a:r>
              <a:rPr lang="zh-CN" altLang="en-US" sz="2400" b="1" dirty="0"/>
              <a:t>柱上，问</a:t>
            </a:r>
            <a:r>
              <a:rPr lang="en-US" altLang="zh-CN" sz="2400" b="1" dirty="0"/>
              <a:t>: </a:t>
            </a:r>
            <a:r>
              <a:rPr lang="zh-CN" altLang="en-US" sz="2400" b="1" dirty="0"/>
              <a:t>如何将盘子一个一个地从</a:t>
            </a:r>
            <a:r>
              <a:rPr lang="en-US" altLang="zh-CN" sz="2400" b="1" dirty="0"/>
              <a:t>A</a:t>
            </a:r>
            <a:r>
              <a:rPr lang="zh-CN" altLang="en-US" sz="2400" b="1" dirty="0"/>
              <a:t>柱子移动到</a:t>
            </a:r>
            <a:r>
              <a:rPr lang="en-US" altLang="zh-CN" sz="2400" b="1" dirty="0"/>
              <a:t>B</a:t>
            </a:r>
            <a:r>
              <a:rPr lang="zh-CN" altLang="en-US" sz="2400" b="1" dirty="0"/>
              <a:t>柱子？ </a:t>
            </a:r>
            <a:r>
              <a:rPr lang="zh-CN" altLang="en-US" sz="2400" b="1" dirty="0">
                <a:solidFill>
                  <a:srgbClr val="FF0000"/>
                </a:solidFill>
              </a:rPr>
              <a:t>提示：</a:t>
            </a:r>
            <a:r>
              <a:rPr lang="zh-CN" altLang="en-US" sz="2400" b="1" dirty="0"/>
              <a:t>移动过程中可以使用</a:t>
            </a:r>
            <a:r>
              <a:rPr lang="en-US" altLang="zh-CN" sz="2400" b="1" dirty="0"/>
              <a:t>C</a:t>
            </a:r>
            <a:r>
              <a:rPr lang="zh-CN" altLang="en-US" sz="2400" b="1" dirty="0"/>
              <a:t>柱，但盘子只能放在比它大的盘子上面。</a:t>
            </a:r>
          </a:p>
          <a:p>
            <a:pPr>
              <a:buFont typeface="Wingdings" panose="05000000000000000000" pitchFamily="2" charset="2"/>
              <a:buNone/>
            </a:pPr>
            <a:endParaRPr lang="en-US" altLang="zh-CN" b="1" dirty="0"/>
          </a:p>
        </p:txBody>
      </p:sp>
      <p:pic>
        <p:nvPicPr>
          <p:cNvPr id="6" name="Picture 5" descr="u=835663323,3763396319&amp;fm=21&amp;g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3503725"/>
            <a:ext cx="5400675" cy="3032125"/>
          </a:xfrm>
          <a:prstGeom prst="rect">
            <a:avLst/>
          </a:prstGeom>
          <a:noFill/>
          <a:extLst>
            <a:ext uri="{909E8E84-426E-40DD-AFC4-6F175D3DCCD1}">
              <a14:hiddenFill xmlns:a14="http://schemas.microsoft.com/office/drawing/2010/main">
                <a:solidFill>
                  <a:srgbClr val="FFFFFF"/>
                </a:solidFill>
              </a14:hiddenFill>
            </a:ext>
          </a:extLst>
        </p:spPr>
      </p:pic>
      <p:sp>
        <p:nvSpPr>
          <p:cNvPr id="2" name="页脚占位符 1"/>
          <p:cNvSpPr>
            <a:spLocks noGrp="1"/>
          </p:cNvSpPr>
          <p:nvPr>
            <p:ph type="ftr" sz="quarter" idx="3"/>
          </p:nvPr>
        </p:nvSpPr>
        <p:spPr/>
        <p:txBody>
          <a:bodyPr/>
          <a:lstStyle/>
          <a:p>
            <a:pPr>
              <a:defRPr/>
            </a:pPr>
            <a:endParaRPr lang="zh-CN" altLang="en-US" dirty="0"/>
          </a:p>
        </p:txBody>
      </p:sp>
      <p:grpSp>
        <p:nvGrpSpPr>
          <p:cNvPr id="12" name="组合 11"/>
          <p:cNvGrpSpPr/>
          <p:nvPr/>
        </p:nvGrpSpPr>
        <p:grpSpPr>
          <a:xfrm>
            <a:off x="539552" y="116632"/>
            <a:ext cx="4583419" cy="684042"/>
            <a:chOff x="958665" y="1326432"/>
            <a:chExt cx="4583419" cy="684042"/>
          </a:xfrm>
        </p:grpSpPr>
        <p:sp>
          <p:nvSpPr>
            <p:cNvPr id="13" name="TextBox 12"/>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14" name="组合 13"/>
            <p:cNvGrpSpPr/>
            <p:nvPr/>
          </p:nvGrpSpPr>
          <p:grpSpPr>
            <a:xfrm>
              <a:off x="958665" y="1327471"/>
              <a:ext cx="842977" cy="683003"/>
              <a:chOff x="958665" y="1327471"/>
              <a:chExt cx="842977" cy="683003"/>
            </a:xfrm>
          </p:grpSpPr>
          <p:sp>
            <p:nvSpPr>
              <p:cNvPr id="15"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6" name="图片 15" descr="1.jpg"/>
              <p:cNvPicPr>
                <a:picLocks noChangeAspect="1"/>
              </p:cNvPicPr>
              <p:nvPr/>
            </p:nvPicPr>
            <p:blipFill>
              <a:blip r:embed="rId3"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169351589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122"/>
          <p:cNvSpPr>
            <a:spLocks noGrp="1" noChangeArrowheads="1"/>
          </p:cNvSpPr>
          <p:nvPr>
            <p:ph idx="1"/>
          </p:nvPr>
        </p:nvSpPr>
        <p:spPr>
          <a:xfrm>
            <a:off x="460714" y="983601"/>
            <a:ext cx="8575781" cy="5325719"/>
          </a:xfrm>
        </p:spPr>
        <p:txBody>
          <a:bodyPr/>
          <a:lstStyle/>
          <a:p>
            <a:pPr>
              <a:lnSpc>
                <a:spcPct val="90000"/>
              </a:lnSpc>
              <a:buClr>
                <a:srgbClr val="FF0000"/>
              </a:buClr>
              <a:buFont typeface="Wingdings" panose="05000000000000000000" pitchFamily="2" charset="2"/>
              <a:buChar char="Ø"/>
            </a:pPr>
            <a:r>
              <a:rPr lang="en-US" altLang="en-US" sz="2800" noProof="1">
                <a:latin typeface="宋体" panose="02010600030101010101" pitchFamily="2" charset="-122"/>
              </a:rPr>
              <a:t>函数的</a:t>
            </a:r>
            <a:r>
              <a:rPr lang="en-US" altLang="en-US" sz="2800" noProof="1">
                <a:solidFill>
                  <a:srgbClr val="FF0000"/>
                </a:solidFill>
                <a:latin typeface="宋体" panose="02010600030101010101" pitchFamily="2" charset="-122"/>
              </a:rPr>
              <a:t>递归调用</a:t>
            </a:r>
            <a:r>
              <a:rPr lang="en-US" altLang="en-US" sz="2800" noProof="1">
                <a:latin typeface="宋体" panose="02010600030101010101" pitchFamily="2" charset="-122"/>
              </a:rPr>
              <a:t>是函数调用的一种特殊情况</a:t>
            </a:r>
          </a:p>
          <a:p>
            <a:pPr>
              <a:lnSpc>
                <a:spcPct val="150000"/>
              </a:lnSpc>
              <a:buFont typeface="Wingdings" panose="05000000000000000000" pitchFamily="2" charset="2"/>
              <a:buNone/>
            </a:pPr>
            <a:r>
              <a:rPr lang="zh-CN" altLang="en-US" sz="2400" b="1" dirty="0"/>
              <a:t>    </a:t>
            </a:r>
            <a:r>
              <a:rPr lang="en-US" altLang="zh-CN" sz="2400" b="1" dirty="0"/>
              <a:t>(1) </a:t>
            </a:r>
            <a:r>
              <a:rPr lang="zh-CN" altLang="en-US" sz="2400" b="1" dirty="0"/>
              <a:t>作为一种</a:t>
            </a:r>
            <a:r>
              <a:rPr lang="zh-CN" altLang="en-US" sz="2400" b="1" dirty="0">
                <a:solidFill>
                  <a:srgbClr val="FF0000"/>
                </a:solidFill>
              </a:rPr>
              <a:t>程序形式</a:t>
            </a:r>
            <a:r>
              <a:rPr lang="zh-CN" altLang="en-US" sz="2400" b="1" dirty="0"/>
              <a:t>的</a:t>
            </a:r>
            <a:r>
              <a:rPr lang="zh-CN" altLang="en-US" sz="2400" b="1" dirty="0">
                <a:solidFill>
                  <a:srgbClr val="0000FF"/>
                </a:solidFill>
              </a:rPr>
              <a:t>递归</a:t>
            </a:r>
            <a:r>
              <a:rPr lang="zh-CN" altLang="en-US" sz="2400" b="1" dirty="0"/>
              <a:t>：</a:t>
            </a:r>
          </a:p>
          <a:p>
            <a:pPr>
              <a:lnSpc>
                <a:spcPct val="150000"/>
              </a:lnSpc>
              <a:buFont typeface="Wingdings" panose="05000000000000000000" pitchFamily="2" charset="2"/>
              <a:buNone/>
            </a:pPr>
            <a:r>
              <a:rPr lang="zh-CN" altLang="en-US" sz="2400" b="1" dirty="0"/>
              <a:t>          在函数（子程序）的执行过程中调用自身。</a:t>
            </a:r>
            <a:endParaRPr lang="en-US" altLang="zh-CN" sz="2400" b="1" dirty="0"/>
          </a:p>
          <a:p>
            <a:pPr lvl="2">
              <a:lnSpc>
                <a:spcPct val="150000"/>
              </a:lnSpc>
              <a:buClr>
                <a:srgbClr val="FF0000"/>
              </a:buClr>
              <a:buFont typeface="Wingdings" panose="05000000000000000000" pitchFamily="2" charset="2"/>
              <a:buChar char="n"/>
            </a:pPr>
            <a:r>
              <a:rPr lang="zh-CN" altLang="en-US" b="1" dirty="0"/>
              <a:t> 有两种调用形式：</a:t>
            </a:r>
          </a:p>
          <a:p>
            <a:pPr>
              <a:lnSpc>
                <a:spcPct val="150000"/>
              </a:lnSpc>
              <a:buFont typeface="Wingdings" panose="05000000000000000000" pitchFamily="2" charset="2"/>
              <a:buNone/>
            </a:pPr>
            <a:r>
              <a:rPr lang="zh-CN" altLang="en-US" sz="2400" b="1" dirty="0">
                <a:solidFill>
                  <a:schemeClr val="accent2"/>
                </a:solidFill>
              </a:rPr>
              <a:t>                 </a:t>
            </a:r>
            <a:r>
              <a:rPr lang="zh-CN" altLang="en-US" sz="2400" b="1" dirty="0">
                <a:solidFill>
                  <a:srgbClr val="FF0000"/>
                </a:solidFill>
              </a:rPr>
              <a:t>直接递归</a:t>
            </a:r>
            <a:r>
              <a:rPr lang="en-US" altLang="zh-CN" sz="2400" b="1" dirty="0"/>
              <a:t>----</a:t>
            </a:r>
            <a:r>
              <a:rPr lang="zh-CN" altLang="en-US" sz="2400" b="1" dirty="0"/>
              <a:t>在函数体内调用自身</a:t>
            </a:r>
            <a:r>
              <a:rPr lang="en-US" altLang="zh-CN" sz="2400" b="1" dirty="0"/>
              <a:t>;</a:t>
            </a:r>
            <a:endParaRPr lang="zh-CN" altLang="en-US" sz="2400" b="1" dirty="0"/>
          </a:p>
          <a:p>
            <a:pPr>
              <a:lnSpc>
                <a:spcPct val="150000"/>
              </a:lnSpc>
              <a:buFont typeface="Wingdings" panose="05000000000000000000" pitchFamily="2" charset="2"/>
              <a:buNone/>
            </a:pPr>
            <a:r>
              <a:rPr lang="zh-CN" altLang="en-US" sz="2400" b="1" dirty="0">
                <a:solidFill>
                  <a:schemeClr val="accent2"/>
                </a:solidFill>
              </a:rPr>
              <a:t>                 </a:t>
            </a:r>
            <a:r>
              <a:rPr lang="zh-CN" altLang="en-US" sz="2400" b="1" dirty="0">
                <a:solidFill>
                  <a:srgbClr val="FF0000"/>
                </a:solidFill>
              </a:rPr>
              <a:t>间接递归</a:t>
            </a:r>
            <a:r>
              <a:rPr lang="en-US" altLang="zh-CN" sz="2400" b="1" dirty="0"/>
              <a:t>----</a:t>
            </a:r>
            <a:r>
              <a:rPr lang="zh-CN" altLang="en-US" sz="2400" b="1" dirty="0"/>
              <a:t>函数中调用其他函数，并由其他函数调</a:t>
            </a:r>
            <a:endParaRPr lang="en-US" altLang="zh-CN" sz="2400" b="1" dirty="0"/>
          </a:p>
          <a:p>
            <a:pPr>
              <a:lnSpc>
                <a:spcPct val="150000"/>
              </a:lnSpc>
              <a:buFont typeface="Wingdings" panose="05000000000000000000" pitchFamily="2" charset="2"/>
              <a:buNone/>
            </a:pPr>
            <a:r>
              <a:rPr lang="en-US" altLang="zh-CN" sz="2400" b="1" dirty="0"/>
              <a:t>                                      </a:t>
            </a:r>
            <a:r>
              <a:rPr lang="zh-CN" altLang="en-US" sz="2400" b="1" dirty="0"/>
              <a:t>用自身</a:t>
            </a:r>
            <a:r>
              <a:rPr lang="en-US" altLang="zh-CN" sz="2400" b="1" dirty="0"/>
              <a:t>;</a:t>
            </a:r>
            <a:endParaRPr lang="zh-CN" altLang="en-US" sz="2400" b="1" dirty="0">
              <a:solidFill>
                <a:schemeClr val="accent2"/>
              </a:solidFill>
            </a:endParaRPr>
          </a:p>
          <a:p>
            <a:pPr>
              <a:lnSpc>
                <a:spcPct val="90000"/>
              </a:lnSpc>
              <a:buFont typeface="Wingdings" panose="05000000000000000000" pitchFamily="2" charset="2"/>
              <a:buNone/>
            </a:pPr>
            <a:endParaRPr lang="zh-CN" altLang="en-US" sz="2400" b="1" dirty="0"/>
          </a:p>
          <a:p>
            <a:pPr>
              <a:lnSpc>
                <a:spcPct val="90000"/>
              </a:lnSpc>
              <a:buFont typeface="Wingdings" panose="05000000000000000000" pitchFamily="2" charset="2"/>
              <a:buNone/>
            </a:pPr>
            <a:r>
              <a:rPr lang="zh-CN" altLang="en-US" sz="2400" b="1" dirty="0"/>
              <a:t>    </a:t>
            </a:r>
            <a:endParaRPr lang="zh-CN" altLang="zh-CN" sz="2000" b="1" dirty="0"/>
          </a:p>
        </p:txBody>
      </p:sp>
      <p:sp>
        <p:nvSpPr>
          <p:cNvPr id="2" name="页脚占位符 1"/>
          <p:cNvSpPr>
            <a:spLocks noGrp="1"/>
          </p:cNvSpPr>
          <p:nvPr>
            <p:ph type="ftr" sz="quarter" idx="3"/>
          </p:nvPr>
        </p:nvSpPr>
        <p:spPr/>
        <p:txBody>
          <a:bodyPr/>
          <a:lstStyle/>
          <a:p>
            <a:pPr>
              <a:defRPr/>
            </a:pPr>
            <a:endParaRPr lang="zh-CN" altLang="en-US" dirty="0"/>
          </a:p>
        </p:txBody>
      </p:sp>
      <p:grpSp>
        <p:nvGrpSpPr>
          <p:cNvPr id="14" name="组合 13"/>
          <p:cNvGrpSpPr/>
          <p:nvPr/>
        </p:nvGrpSpPr>
        <p:grpSpPr>
          <a:xfrm>
            <a:off x="539552" y="116632"/>
            <a:ext cx="4583419" cy="684042"/>
            <a:chOff x="958665" y="1326432"/>
            <a:chExt cx="4583419" cy="684042"/>
          </a:xfrm>
        </p:grpSpPr>
        <p:sp>
          <p:nvSpPr>
            <p:cNvPr id="15" name="TextBox 6"/>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16" name="组合 15"/>
            <p:cNvGrpSpPr/>
            <p:nvPr/>
          </p:nvGrpSpPr>
          <p:grpSpPr>
            <a:xfrm>
              <a:off x="958665" y="1327471"/>
              <a:ext cx="842977" cy="683003"/>
              <a:chOff x="958665" y="1327471"/>
              <a:chExt cx="842977" cy="683003"/>
            </a:xfrm>
          </p:grpSpPr>
          <p:sp>
            <p:nvSpPr>
              <p:cNvPr id="17"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8" name="图片 17" descr="1.jpg"/>
              <p:cNvPicPr>
                <a:picLocks noChangeAspect="1"/>
              </p:cNvPicPr>
              <p:nvPr/>
            </p:nvPicPr>
            <p:blipFill>
              <a:blip r:embed="rId2"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418190982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blinds(horizontal)">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blinds(horizontal)">
                                      <p:cBhvr>
                                        <p:cTn id="25" dur="500"/>
                                        <p:tgtEl>
                                          <p:spTgt spid="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blinds(horizontal)">
                                      <p:cBhvr>
                                        <p:cTn id="30" dur="500"/>
                                        <p:tgtEl>
                                          <p:spTgt spid="6">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blinds(horizontal)">
                                      <p:cBhvr>
                                        <p:cTn id="35" dur="500"/>
                                        <p:tgtEl>
                                          <p:spTgt spid="6">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6">
                                            <p:txEl>
                                              <p:pRg st="8" end="8"/>
                                            </p:txEl>
                                          </p:spTgt>
                                        </p:tgtEl>
                                        <p:attrNameLst>
                                          <p:attrName>style.visibility</p:attrName>
                                        </p:attrNameLst>
                                      </p:cBhvr>
                                      <p:to>
                                        <p:strVal val="visible"/>
                                      </p:to>
                                    </p:set>
                                    <p:animEffect transition="in" filter="blinds(horizontal)">
                                      <p:cBhvr>
                                        <p:cTn id="40"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122"/>
          <p:cNvSpPr>
            <a:spLocks noGrp="1" noChangeArrowheads="1"/>
          </p:cNvSpPr>
          <p:nvPr>
            <p:ph idx="1"/>
          </p:nvPr>
        </p:nvSpPr>
        <p:spPr>
          <a:xfrm>
            <a:off x="460714" y="983601"/>
            <a:ext cx="8575781" cy="5325719"/>
          </a:xfrm>
        </p:spPr>
        <p:txBody>
          <a:bodyPr/>
          <a:lstStyle/>
          <a:p>
            <a:pPr>
              <a:lnSpc>
                <a:spcPct val="150000"/>
              </a:lnSpc>
              <a:buFont typeface="Wingdings" panose="05000000000000000000" pitchFamily="2" charset="2"/>
              <a:buNone/>
            </a:pPr>
            <a:r>
              <a:rPr lang="zh-CN" altLang="en-US" sz="2400" b="1" dirty="0"/>
              <a:t>    </a:t>
            </a:r>
            <a:r>
              <a:rPr lang="en-US" altLang="zh-CN" sz="2400" b="1" dirty="0"/>
              <a:t>(2)  </a:t>
            </a:r>
            <a:r>
              <a:rPr lang="zh-CN" altLang="en-US" sz="2400" b="1" dirty="0"/>
              <a:t>更是作为一种</a:t>
            </a:r>
            <a:r>
              <a:rPr lang="zh-CN" altLang="en-US" sz="2400" b="1" dirty="0">
                <a:solidFill>
                  <a:srgbClr val="FF0000"/>
                </a:solidFill>
              </a:rPr>
              <a:t>程序设计</a:t>
            </a:r>
            <a:r>
              <a:rPr lang="en-US" altLang="zh-CN" sz="2400" b="1" dirty="0">
                <a:solidFill>
                  <a:srgbClr val="FF0000"/>
                </a:solidFill>
              </a:rPr>
              <a:t>(</a:t>
            </a:r>
            <a:r>
              <a:rPr lang="zh-CN" altLang="en-US" sz="2400" b="1" dirty="0">
                <a:solidFill>
                  <a:srgbClr val="FF0000"/>
                </a:solidFill>
              </a:rPr>
              <a:t>算法设计</a:t>
            </a:r>
            <a:r>
              <a:rPr lang="en-US" altLang="zh-CN" sz="2400" b="1" dirty="0">
                <a:solidFill>
                  <a:srgbClr val="FF0000"/>
                </a:solidFill>
              </a:rPr>
              <a:t>)</a:t>
            </a:r>
            <a:r>
              <a:rPr lang="zh-CN" altLang="en-US" sz="2400" b="1" dirty="0">
                <a:solidFill>
                  <a:srgbClr val="FF0000"/>
                </a:solidFill>
              </a:rPr>
              <a:t>的技术</a:t>
            </a:r>
            <a:r>
              <a:rPr lang="zh-CN" altLang="en-US" sz="2400" b="1" dirty="0"/>
              <a:t>的递归。</a:t>
            </a:r>
          </a:p>
          <a:p>
            <a:pPr lvl="1">
              <a:lnSpc>
                <a:spcPct val="150000"/>
              </a:lnSpc>
              <a:buClr>
                <a:srgbClr val="FF0000"/>
              </a:buClr>
              <a:buFont typeface="Wingdings" panose="05000000000000000000" pitchFamily="2" charset="2"/>
              <a:buChar char="n"/>
            </a:pPr>
            <a:r>
              <a:rPr lang="zh-CN" altLang="en-US" sz="2200" b="1" dirty="0"/>
              <a:t>因为一些问题的求解具有这样的</a:t>
            </a:r>
            <a:r>
              <a:rPr lang="zh-CN" altLang="en-US" sz="2200" b="1" dirty="0">
                <a:solidFill>
                  <a:srgbClr val="FF0000"/>
                </a:solidFill>
              </a:rPr>
              <a:t>特点</a:t>
            </a:r>
            <a:r>
              <a:rPr lang="zh-CN" altLang="en-US" sz="2200" b="1" dirty="0"/>
              <a:t>： </a:t>
            </a:r>
          </a:p>
          <a:p>
            <a:pPr lvl="2">
              <a:lnSpc>
                <a:spcPct val="150000"/>
              </a:lnSpc>
              <a:buClr>
                <a:srgbClr val="FF0000"/>
              </a:buClr>
              <a:buFont typeface="Arial" panose="020B0604020202020204" pitchFamily="34" charset="0"/>
              <a:buChar char="•"/>
            </a:pPr>
            <a:r>
              <a:rPr lang="zh-CN" altLang="en-US" sz="2200" b="1" dirty="0"/>
              <a:t>原问题可以</a:t>
            </a:r>
            <a:r>
              <a:rPr lang="zh-CN" altLang="en-US" sz="2200" b="1" dirty="0">
                <a:solidFill>
                  <a:srgbClr val="FF0000"/>
                </a:solidFill>
              </a:rPr>
              <a:t>分解</a:t>
            </a:r>
            <a:r>
              <a:rPr lang="zh-CN" altLang="en-US" sz="2200" b="1" dirty="0"/>
              <a:t>为若干子问题分别进行求解</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适当地</a:t>
            </a:r>
            <a:r>
              <a:rPr lang="zh-CN" altLang="en-US" sz="2200" b="1" dirty="0">
                <a:solidFill>
                  <a:srgbClr val="FF0000"/>
                </a:solidFill>
              </a:rPr>
              <a:t>合并</a:t>
            </a:r>
            <a:r>
              <a:rPr lang="zh-CN" altLang="en-US" sz="2200" b="1" dirty="0"/>
              <a:t>子问题的解可以得到原问题的解</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而子问题的求解方式与原问题的求解相同</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因而需要调用</a:t>
            </a:r>
            <a:r>
              <a:rPr lang="zh-CN" altLang="en-US" sz="2200" b="1" dirty="0">
                <a:solidFill>
                  <a:srgbClr val="FF0000"/>
                </a:solidFill>
              </a:rPr>
              <a:t>相同的函数</a:t>
            </a:r>
            <a:r>
              <a:rPr lang="zh-CN" altLang="en-US" sz="2200" b="1" dirty="0"/>
              <a:t>来实现</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由此而涉及到递归技术。</a:t>
            </a:r>
          </a:p>
          <a:p>
            <a:pPr>
              <a:lnSpc>
                <a:spcPct val="90000"/>
              </a:lnSpc>
              <a:buFont typeface="Wingdings" panose="05000000000000000000" pitchFamily="2" charset="2"/>
              <a:buNone/>
            </a:pPr>
            <a:endParaRPr lang="zh-CN" altLang="zh-CN" sz="2000" b="1" dirty="0"/>
          </a:p>
        </p:txBody>
      </p:sp>
      <p:sp>
        <p:nvSpPr>
          <p:cNvPr id="2" name="页脚占位符 1"/>
          <p:cNvSpPr>
            <a:spLocks noGrp="1"/>
          </p:cNvSpPr>
          <p:nvPr>
            <p:ph type="ftr" sz="quarter" idx="3"/>
          </p:nvPr>
        </p:nvSpPr>
        <p:spPr/>
        <p:txBody>
          <a:bodyPr/>
          <a:lstStyle/>
          <a:p>
            <a:pPr>
              <a:defRPr/>
            </a:pPr>
            <a:endParaRPr lang="zh-CN" altLang="en-US" dirty="0"/>
          </a:p>
        </p:txBody>
      </p:sp>
      <p:grpSp>
        <p:nvGrpSpPr>
          <p:cNvPr id="14" name="组合 13"/>
          <p:cNvGrpSpPr/>
          <p:nvPr/>
        </p:nvGrpSpPr>
        <p:grpSpPr>
          <a:xfrm>
            <a:off x="539552" y="116632"/>
            <a:ext cx="4583419" cy="684042"/>
            <a:chOff x="958665" y="1326432"/>
            <a:chExt cx="4583419" cy="684042"/>
          </a:xfrm>
        </p:grpSpPr>
        <p:sp>
          <p:nvSpPr>
            <p:cNvPr id="15" name="TextBox 6"/>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16" name="组合 15"/>
            <p:cNvGrpSpPr/>
            <p:nvPr/>
          </p:nvGrpSpPr>
          <p:grpSpPr>
            <a:xfrm>
              <a:off x="958665" y="1327471"/>
              <a:ext cx="842977" cy="683003"/>
              <a:chOff x="958665" y="1327471"/>
              <a:chExt cx="842977" cy="683003"/>
            </a:xfrm>
          </p:grpSpPr>
          <p:sp>
            <p:nvSpPr>
              <p:cNvPr id="17"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8" name="图片 17" descr="1.jpg"/>
              <p:cNvPicPr>
                <a:picLocks noChangeAspect="1"/>
              </p:cNvPicPr>
              <p:nvPr/>
            </p:nvPicPr>
            <p:blipFill>
              <a:blip r:embed="rId2"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176737724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blinds(horizontal)">
                                      <p:cBhvr>
                                        <p:cTn id="16" dur="500"/>
                                        <p:tgtEl>
                                          <p:spTgt spid="6">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blinds(horizontal)">
                                      <p:cBhvr>
                                        <p:cTn id="19" dur="500"/>
                                        <p:tgtEl>
                                          <p:spTgt spid="6">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blinds(horizontal)">
                                      <p:cBhvr>
                                        <p:cTn id="22" dur="500"/>
                                        <p:tgtEl>
                                          <p:spTgt spid="6">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Effect transition="in" filter="blinds(horizontal)">
                                      <p:cBhvr>
                                        <p:cTn id="25"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122"/>
          <p:cNvSpPr>
            <a:spLocks noGrp="1" noChangeArrowheads="1"/>
          </p:cNvSpPr>
          <p:nvPr>
            <p:ph idx="1"/>
          </p:nvPr>
        </p:nvSpPr>
        <p:spPr>
          <a:xfrm>
            <a:off x="460714" y="983601"/>
            <a:ext cx="8575781" cy="5325719"/>
          </a:xfrm>
        </p:spPr>
        <p:txBody>
          <a:bodyPr/>
          <a:lstStyle/>
          <a:p>
            <a:pPr>
              <a:lnSpc>
                <a:spcPct val="90000"/>
              </a:lnSpc>
              <a:buClr>
                <a:srgbClr val="FF0000"/>
              </a:buClr>
              <a:buFont typeface="Wingdings" panose="05000000000000000000" pitchFamily="2" charset="2"/>
              <a:buChar char="Ø"/>
            </a:pPr>
            <a:r>
              <a:rPr lang="zh-CN" altLang="en-US" sz="2800" b="1" dirty="0">
                <a:solidFill>
                  <a:srgbClr val="FF0000"/>
                </a:solidFill>
              </a:rPr>
              <a:t>递归用于解决的三类问题</a:t>
            </a:r>
            <a:endParaRPr lang="zh-CN" altLang="en-US" sz="2800" b="1" dirty="0"/>
          </a:p>
          <a:p>
            <a:pPr>
              <a:lnSpc>
                <a:spcPct val="150000"/>
              </a:lnSpc>
              <a:buFont typeface="Wingdings" panose="05000000000000000000" pitchFamily="2" charset="2"/>
              <a:buNone/>
            </a:pPr>
            <a:r>
              <a:rPr lang="zh-CN" altLang="en-US" sz="2400" b="1" dirty="0">
                <a:solidFill>
                  <a:srgbClr val="0000FF"/>
                </a:solidFill>
              </a:rPr>
              <a:t>    </a:t>
            </a:r>
            <a:r>
              <a:rPr lang="en-US" altLang="zh-CN" sz="2400" b="1" dirty="0">
                <a:solidFill>
                  <a:srgbClr val="0000FF"/>
                </a:solidFill>
              </a:rPr>
              <a:t>(1) </a:t>
            </a:r>
            <a:r>
              <a:rPr lang="zh-CN" altLang="en-US" sz="2400" b="1" dirty="0">
                <a:solidFill>
                  <a:srgbClr val="0000FF"/>
                </a:solidFill>
              </a:rPr>
              <a:t>数据的定义是按递归定义的</a:t>
            </a:r>
            <a:r>
              <a:rPr lang="en-US" altLang="zh-CN" sz="2400" b="1" dirty="0">
                <a:solidFill>
                  <a:srgbClr val="0000FF"/>
                </a:solidFill>
              </a:rPr>
              <a:t>;</a:t>
            </a:r>
          </a:p>
          <a:p>
            <a:pPr lvl="1">
              <a:lnSpc>
                <a:spcPct val="150000"/>
              </a:lnSpc>
              <a:buClr>
                <a:srgbClr val="FF0000"/>
              </a:buClr>
              <a:buFont typeface="Wingdings" panose="05000000000000000000" pitchFamily="2" charset="2"/>
              <a:buChar char="ü"/>
            </a:pPr>
            <a:r>
              <a:rPr lang="en-US" altLang="zh-CN" sz="2400" dirty="0"/>
              <a:t>  Fibonacci</a:t>
            </a:r>
            <a:r>
              <a:rPr lang="zh-CN" altLang="en-US" sz="2400" dirty="0"/>
              <a:t>函数</a:t>
            </a:r>
            <a:r>
              <a:rPr lang="en-US" altLang="zh-CN" sz="2400" dirty="0"/>
              <a:t> </a:t>
            </a:r>
          </a:p>
          <a:p>
            <a:pPr>
              <a:lnSpc>
                <a:spcPct val="150000"/>
              </a:lnSpc>
              <a:buNone/>
            </a:pPr>
            <a:r>
              <a:rPr lang="en-US" altLang="zh-CN" sz="2400" b="1" dirty="0">
                <a:solidFill>
                  <a:srgbClr val="0000FF"/>
                </a:solidFill>
              </a:rPr>
              <a:t>    (2) </a:t>
            </a:r>
            <a:r>
              <a:rPr lang="zh-CN" altLang="en-US" sz="2400" b="1" dirty="0">
                <a:solidFill>
                  <a:srgbClr val="0000FF"/>
                </a:solidFill>
              </a:rPr>
              <a:t>问题解法按递归算法实现</a:t>
            </a:r>
            <a:r>
              <a:rPr lang="en-US" altLang="zh-CN" sz="2400" b="1" dirty="0">
                <a:solidFill>
                  <a:srgbClr val="0000FF"/>
                </a:solidFill>
              </a:rPr>
              <a:t>;</a:t>
            </a:r>
          </a:p>
          <a:p>
            <a:pPr lvl="1">
              <a:lnSpc>
                <a:spcPct val="150000"/>
              </a:lnSpc>
              <a:buClr>
                <a:srgbClr val="FF0000"/>
              </a:buClr>
              <a:buFont typeface="Wingdings" panose="05000000000000000000" pitchFamily="2" charset="2"/>
              <a:buChar char="ü"/>
            </a:pPr>
            <a:r>
              <a:rPr lang="zh-CN" altLang="en-US" sz="2400" dirty="0"/>
              <a:t> </a:t>
            </a:r>
            <a:r>
              <a:rPr lang="en-US" altLang="zh-CN" sz="2400" dirty="0"/>
              <a:t>Hanoi</a:t>
            </a:r>
            <a:r>
              <a:rPr lang="zh-CN" altLang="en-US" sz="2400" dirty="0"/>
              <a:t>问题</a:t>
            </a:r>
            <a:endParaRPr lang="en-US" altLang="zh-CN" sz="2400" dirty="0"/>
          </a:p>
          <a:p>
            <a:pPr>
              <a:lnSpc>
                <a:spcPct val="150000"/>
              </a:lnSpc>
              <a:buFont typeface="Wingdings" panose="05000000000000000000" pitchFamily="2" charset="2"/>
              <a:buNone/>
            </a:pPr>
            <a:r>
              <a:rPr lang="zh-CN" altLang="en-US" sz="2400" b="1" dirty="0">
                <a:solidFill>
                  <a:srgbClr val="0000FF"/>
                </a:solidFill>
              </a:rPr>
              <a:t>   </a:t>
            </a:r>
            <a:r>
              <a:rPr lang="en-US" altLang="zh-CN" sz="2400" b="1" dirty="0">
                <a:solidFill>
                  <a:srgbClr val="0000FF"/>
                </a:solidFill>
              </a:rPr>
              <a:t>(3)</a:t>
            </a:r>
            <a:r>
              <a:rPr lang="zh-CN" altLang="en-US" sz="2400" b="1" dirty="0">
                <a:solidFill>
                  <a:srgbClr val="0000FF"/>
                </a:solidFill>
              </a:rPr>
              <a:t>数据的结构形式是按递归定义的</a:t>
            </a:r>
            <a:endParaRPr lang="en-US" altLang="zh-CN" sz="2400" b="1" dirty="0">
              <a:solidFill>
                <a:srgbClr val="0000FF"/>
              </a:solidFill>
            </a:endParaRPr>
          </a:p>
          <a:p>
            <a:pPr lvl="1">
              <a:lnSpc>
                <a:spcPct val="150000"/>
              </a:lnSpc>
              <a:buClr>
                <a:srgbClr val="FF0000"/>
              </a:buClr>
              <a:buFont typeface="Wingdings" panose="05000000000000000000" pitchFamily="2" charset="2"/>
              <a:buChar char="ü"/>
            </a:pPr>
            <a:r>
              <a:rPr lang="zh-CN" altLang="en-US" sz="2400" dirty="0"/>
              <a:t>二叉树等</a:t>
            </a:r>
            <a:endParaRPr lang="en-US" altLang="zh-CN" sz="2400" dirty="0"/>
          </a:p>
          <a:p>
            <a:pPr>
              <a:lnSpc>
                <a:spcPct val="90000"/>
              </a:lnSpc>
              <a:buFont typeface="Wingdings" panose="05000000000000000000" pitchFamily="2" charset="2"/>
              <a:buNone/>
            </a:pPr>
            <a:r>
              <a:rPr lang="zh-CN" altLang="en-US" sz="2400" b="1" dirty="0"/>
              <a:t>    </a:t>
            </a:r>
            <a:endParaRPr lang="zh-CN" altLang="zh-CN" sz="2000" b="1" dirty="0"/>
          </a:p>
        </p:txBody>
      </p:sp>
      <p:sp>
        <p:nvSpPr>
          <p:cNvPr id="2" name="页脚占位符 1"/>
          <p:cNvSpPr>
            <a:spLocks noGrp="1"/>
          </p:cNvSpPr>
          <p:nvPr>
            <p:ph type="ftr" sz="quarter" idx="3"/>
          </p:nvPr>
        </p:nvSpPr>
        <p:spPr/>
        <p:txBody>
          <a:bodyPr/>
          <a:lstStyle/>
          <a:p>
            <a:pPr>
              <a:defRPr/>
            </a:pPr>
            <a:endParaRPr lang="zh-CN" altLang="en-US" dirty="0"/>
          </a:p>
        </p:txBody>
      </p:sp>
      <p:grpSp>
        <p:nvGrpSpPr>
          <p:cNvPr id="14" name="组合 13"/>
          <p:cNvGrpSpPr/>
          <p:nvPr/>
        </p:nvGrpSpPr>
        <p:grpSpPr>
          <a:xfrm>
            <a:off x="539552" y="116632"/>
            <a:ext cx="4583419" cy="684042"/>
            <a:chOff x="958665" y="1326432"/>
            <a:chExt cx="4583419" cy="684042"/>
          </a:xfrm>
        </p:grpSpPr>
        <p:sp>
          <p:nvSpPr>
            <p:cNvPr id="15" name="TextBox 14"/>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16" name="组合 15"/>
            <p:cNvGrpSpPr/>
            <p:nvPr/>
          </p:nvGrpSpPr>
          <p:grpSpPr>
            <a:xfrm>
              <a:off x="958665" y="1327471"/>
              <a:ext cx="842977" cy="683003"/>
              <a:chOff x="958665" y="1327471"/>
              <a:chExt cx="842977" cy="683003"/>
            </a:xfrm>
          </p:grpSpPr>
          <p:sp>
            <p:nvSpPr>
              <p:cNvPr id="17"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8" name="图片 17" descr="1.jpg"/>
              <p:cNvPicPr>
                <a:picLocks noChangeAspect="1"/>
              </p:cNvPicPr>
              <p:nvPr/>
            </p:nvPicPr>
            <p:blipFill>
              <a:blip r:embed="rId2"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401578046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blinds(horizontal)">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blinds(horizontal)">
                                      <p:cBhvr>
                                        <p:cTn id="20" dur="500"/>
                                        <p:tgtEl>
                                          <p:spTgt spid="6">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blinds(horizontal)">
                                      <p:cBhvr>
                                        <p:cTn id="23" dur="500"/>
                                        <p:tgtEl>
                                          <p:spTgt spid="6">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blinds(horizontal)">
                                      <p:cBhvr>
                                        <p:cTn id="28" dur="500"/>
                                        <p:tgtEl>
                                          <p:spTgt spid="6">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blinds(horizontal)">
                                      <p:cBhvr>
                                        <p:cTn id="31" dur="500"/>
                                        <p:tgtEl>
                                          <p:spTgt spid="6">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blinds(horizontal)">
                                      <p:cBhvr>
                                        <p:cTn id="36"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Content Placeholder 2"/>
          <p:cNvSpPr>
            <a:spLocks noGrp="1"/>
          </p:cNvSpPr>
          <p:nvPr>
            <p:ph idx="1"/>
          </p:nvPr>
        </p:nvSpPr>
        <p:spPr>
          <a:xfrm>
            <a:off x="469891" y="1109175"/>
            <a:ext cx="8350581" cy="3395980"/>
          </a:xfrm>
        </p:spPr>
        <p:txBody>
          <a:bodyPr vert="horz" wrap="square" lIns="68591" tIns="34295" rIns="68591" bIns="34295" numCol="1" anchor="t" anchorCtr="0" compatLnSpc="1">
            <a:prstTxWarp prst="textNoShape">
              <a:avLst/>
            </a:prstTxWarp>
          </a:bodyPr>
          <a:lstStyle/>
          <a:p>
            <a:pPr>
              <a:spcBef>
                <a:spcPts val="600"/>
              </a:spcBef>
              <a:buClr>
                <a:srgbClr val="FF0000"/>
              </a:buClr>
              <a:buFont typeface="Wingdings" panose="05000000000000000000" pitchFamily="2" charset="2"/>
              <a:buChar char="n"/>
              <a:defRPr/>
            </a:pPr>
            <a:r>
              <a:rPr lang="en-US" altLang="en-US" sz="2000" noProof="1">
                <a:latin typeface="宋体" panose="02010600030101010101" pitchFamily="2" charset="-122"/>
                <a:ea typeface="+mn-ea"/>
              </a:rPr>
              <a:t>函数的</a:t>
            </a:r>
            <a:r>
              <a:rPr lang="en-US" altLang="en-US" sz="2000" noProof="1">
                <a:solidFill>
                  <a:srgbClr val="FF0000"/>
                </a:solidFill>
                <a:latin typeface="宋体" panose="02010600030101010101" pitchFamily="2" charset="-122"/>
                <a:ea typeface="+mn-ea"/>
              </a:rPr>
              <a:t>递归调用</a:t>
            </a:r>
            <a:r>
              <a:rPr lang="en-US" altLang="en-US" sz="2000" noProof="1">
                <a:latin typeface="宋体" panose="02010600030101010101" pitchFamily="2" charset="-122"/>
                <a:ea typeface="+mn-ea"/>
              </a:rPr>
              <a:t>是函数调用的一种特殊情况，函数调用自己，自己再调用自己，自己再调用自己，...，当</a:t>
            </a:r>
            <a:r>
              <a:rPr lang="en-US" altLang="en-US" sz="2000" noProof="1">
                <a:solidFill>
                  <a:srgbClr val="FF0000"/>
                </a:solidFill>
                <a:latin typeface="宋体" panose="02010600030101010101" pitchFamily="2" charset="-122"/>
                <a:ea typeface="+mn-ea"/>
              </a:rPr>
              <a:t>某个条件得到满足的时候就不再调用了</a:t>
            </a:r>
            <a:r>
              <a:rPr lang="en-US" altLang="en-US" sz="2000" noProof="1">
                <a:latin typeface="宋体" panose="02010600030101010101" pitchFamily="2" charset="-122"/>
                <a:ea typeface="+mn-ea"/>
              </a:rPr>
              <a:t>，然后再</a:t>
            </a:r>
            <a:r>
              <a:rPr lang="en-US" altLang="en-US" sz="2000" noProof="1">
                <a:solidFill>
                  <a:srgbClr val="FF0000"/>
                </a:solidFill>
                <a:latin typeface="宋体" panose="02010600030101010101" pitchFamily="2" charset="-122"/>
                <a:ea typeface="+mn-ea"/>
              </a:rPr>
              <a:t>一层一层地返回</a:t>
            </a:r>
            <a:r>
              <a:rPr lang="en-US" altLang="en-US" sz="2000" noProof="1">
                <a:latin typeface="宋体" panose="02010600030101010101" pitchFamily="2" charset="-122"/>
                <a:ea typeface="+mn-ea"/>
              </a:rPr>
              <a:t>直到该函数第一次调用</a:t>
            </a:r>
            <a:r>
              <a:rPr lang="zh-CN" altLang="en-US" sz="2000" noProof="1">
                <a:latin typeface="宋体" panose="02010600030101010101" pitchFamily="2" charset="-122"/>
                <a:ea typeface="+mn-ea"/>
              </a:rPr>
              <a:t>的位置。</a:t>
            </a:r>
          </a:p>
          <a:p>
            <a:pPr>
              <a:spcBef>
                <a:spcPts val="600"/>
              </a:spcBef>
              <a:buClr>
                <a:srgbClr val="FF0000"/>
              </a:buClr>
              <a:buFont typeface="Wingdings" panose="05000000000000000000" pitchFamily="2" charset="2"/>
              <a:buChar char="n"/>
              <a:defRPr/>
            </a:pPr>
            <a:r>
              <a:rPr lang="zh-CN" altLang="en-US" sz="2000" noProof="1">
                <a:latin typeface="宋体" panose="02010600030101010101" pitchFamily="2" charset="-122"/>
                <a:ea typeface="+mn-ea"/>
              </a:rPr>
              <a:t>设置递归深度：</a:t>
            </a:r>
          </a:p>
          <a:p>
            <a:pPr marL="0" indent="0">
              <a:spcBef>
                <a:spcPct val="0"/>
              </a:spcBef>
              <a:buNone/>
              <a:defRPr/>
            </a:pPr>
            <a:endParaRPr lang="en-US" altLang="zh-CN" sz="1500" noProof="1">
              <a:latin typeface="Consolas" panose="020B0609020204030204" pitchFamily="49" charset="0"/>
              <a:ea typeface="+mn-ea"/>
            </a:endParaRPr>
          </a:p>
          <a:p>
            <a:pPr marL="0" indent="0">
              <a:spcBef>
                <a:spcPct val="0"/>
              </a:spcBef>
              <a:buNone/>
              <a:defRPr/>
            </a:pPr>
            <a:r>
              <a:rPr lang="zh-CN" altLang="en-US" sz="1500" noProof="1">
                <a:latin typeface="Consolas" panose="020B0609020204030204" pitchFamily="49" charset="0"/>
                <a:ea typeface="+mn-ea"/>
              </a:rPr>
              <a:t>    import sys</a:t>
            </a:r>
          </a:p>
          <a:p>
            <a:pPr marL="0" indent="0">
              <a:spcBef>
                <a:spcPct val="0"/>
              </a:spcBef>
              <a:buNone/>
              <a:defRPr/>
            </a:pPr>
            <a:r>
              <a:rPr lang="zh-CN" altLang="en-US" sz="1500" noProof="1">
                <a:latin typeface="Consolas" panose="020B0609020204030204" pitchFamily="49" charset="0"/>
                <a:ea typeface="+mn-ea"/>
              </a:rPr>
              <a:t>    sys.setrecursionlimit(3000)</a:t>
            </a:r>
          </a:p>
        </p:txBody>
      </p:sp>
      <p:grpSp>
        <p:nvGrpSpPr>
          <p:cNvPr id="27650" name="画布 110"/>
          <p:cNvGrpSpPr/>
          <p:nvPr/>
        </p:nvGrpSpPr>
        <p:grpSpPr>
          <a:xfrm>
            <a:off x="1966913" y="3419476"/>
            <a:ext cx="4938712" cy="2049463"/>
            <a:chOff x="0" y="0"/>
            <a:chExt cx="6253" cy="4219"/>
          </a:xfrm>
        </p:grpSpPr>
        <p:sp>
          <p:nvSpPr>
            <p:cNvPr id="27651" name="Rectangle 1073743955"/>
            <p:cNvSpPr/>
            <p:nvPr/>
          </p:nvSpPr>
          <p:spPr>
            <a:xfrm>
              <a:off x="0" y="0"/>
              <a:ext cx="6241" cy="4219"/>
            </a:xfrm>
            <a:prstGeom prst="rect">
              <a:avLst/>
            </a:prstGeom>
            <a:noFill/>
            <a:ln w="9525">
              <a:noFill/>
            </a:ln>
          </p:spPr>
          <p:txBody>
            <a:bodyPr anchor="t"/>
            <a:lstStyle/>
            <a:p>
              <a:endParaRPr lang="en-US" altLang="en-US" sz="1200" dirty="0">
                <a:latin typeface="Arial" panose="020B0604020202020204" pitchFamily="34" charset="0"/>
                <a:ea typeface="宋体" panose="02010600030101010101" pitchFamily="2" charset="-122"/>
              </a:endParaRPr>
            </a:p>
          </p:txBody>
        </p:sp>
        <p:cxnSp>
          <p:nvCxnSpPr>
            <p:cNvPr id="27652" name="直接箭头连接符 99"/>
            <p:cNvCxnSpPr/>
            <p:nvPr/>
          </p:nvCxnSpPr>
          <p:spPr>
            <a:xfrm>
              <a:off x="381" y="472"/>
              <a:ext cx="0" cy="1095"/>
            </a:xfrm>
            <a:prstGeom prst="straightConnector1">
              <a:avLst/>
            </a:prstGeom>
            <a:ln w="12700" cap="flat" cmpd="sng">
              <a:solidFill>
                <a:srgbClr val="0000FF"/>
              </a:solidFill>
              <a:prstDash val="solid"/>
              <a:round/>
              <a:headEnd type="none" w="med" len="med"/>
              <a:tailEnd type="arrow" w="med" len="med"/>
            </a:ln>
          </p:spPr>
        </p:cxnSp>
        <p:cxnSp>
          <p:nvCxnSpPr>
            <p:cNvPr id="27653" name="直接箭头连接符 100"/>
            <p:cNvCxnSpPr/>
            <p:nvPr/>
          </p:nvCxnSpPr>
          <p:spPr>
            <a:xfrm flipV="1">
              <a:off x="516" y="622"/>
              <a:ext cx="485" cy="840"/>
            </a:xfrm>
            <a:prstGeom prst="straightConnector1">
              <a:avLst/>
            </a:prstGeom>
            <a:ln w="12700" cap="flat" cmpd="sng">
              <a:solidFill>
                <a:srgbClr val="0000FF"/>
              </a:solidFill>
              <a:prstDash val="solid"/>
              <a:round/>
              <a:headEnd type="none" w="med" len="med"/>
              <a:tailEnd type="arrow" w="med" len="med"/>
            </a:ln>
          </p:spPr>
        </p:cxnSp>
        <p:cxnSp>
          <p:nvCxnSpPr>
            <p:cNvPr id="27654" name="直接箭头连接符 101"/>
            <p:cNvCxnSpPr/>
            <p:nvPr/>
          </p:nvCxnSpPr>
          <p:spPr>
            <a:xfrm>
              <a:off x="1086" y="517"/>
              <a:ext cx="0" cy="1530"/>
            </a:xfrm>
            <a:prstGeom prst="straightConnector1">
              <a:avLst/>
            </a:prstGeom>
            <a:ln w="12700" cap="flat" cmpd="sng">
              <a:solidFill>
                <a:srgbClr val="0000FF"/>
              </a:solidFill>
              <a:prstDash val="solid"/>
              <a:round/>
              <a:headEnd type="none" w="med" len="med"/>
              <a:tailEnd type="arrow" w="med" len="med"/>
            </a:ln>
          </p:spPr>
        </p:cxnSp>
        <p:cxnSp>
          <p:nvCxnSpPr>
            <p:cNvPr id="27655" name="直接箭头连接符 102"/>
            <p:cNvCxnSpPr/>
            <p:nvPr/>
          </p:nvCxnSpPr>
          <p:spPr>
            <a:xfrm flipV="1">
              <a:off x="1191" y="682"/>
              <a:ext cx="693" cy="1200"/>
            </a:xfrm>
            <a:prstGeom prst="straightConnector1">
              <a:avLst/>
            </a:prstGeom>
            <a:ln w="12700" cap="flat" cmpd="sng">
              <a:solidFill>
                <a:srgbClr val="0000FF"/>
              </a:solidFill>
              <a:prstDash val="solid"/>
              <a:round/>
              <a:headEnd type="none" w="med" len="med"/>
              <a:tailEnd type="arrow" w="med" len="med"/>
            </a:ln>
          </p:spPr>
        </p:cxnSp>
        <p:cxnSp>
          <p:nvCxnSpPr>
            <p:cNvPr id="27656" name="直接箭头连接符 103"/>
            <p:cNvCxnSpPr/>
            <p:nvPr/>
          </p:nvCxnSpPr>
          <p:spPr>
            <a:xfrm>
              <a:off x="1918" y="553"/>
              <a:ext cx="0" cy="1530"/>
            </a:xfrm>
            <a:prstGeom prst="straightConnector1">
              <a:avLst/>
            </a:prstGeom>
            <a:ln w="12700" cap="flat" cmpd="sng">
              <a:solidFill>
                <a:srgbClr val="0000FF"/>
              </a:solidFill>
              <a:prstDash val="solid"/>
              <a:round/>
              <a:headEnd type="none" w="med" len="med"/>
              <a:tailEnd type="arrow" w="med" len="med"/>
            </a:ln>
          </p:spPr>
        </p:cxnSp>
        <p:cxnSp>
          <p:nvCxnSpPr>
            <p:cNvPr id="27657" name="直接箭头连接符 104"/>
            <p:cNvCxnSpPr/>
            <p:nvPr/>
          </p:nvCxnSpPr>
          <p:spPr>
            <a:xfrm flipV="1">
              <a:off x="2023" y="718"/>
              <a:ext cx="693" cy="1200"/>
            </a:xfrm>
            <a:prstGeom prst="straightConnector1">
              <a:avLst/>
            </a:prstGeom>
            <a:ln w="12700" cap="flat" cmpd="sng">
              <a:solidFill>
                <a:srgbClr val="0000FF"/>
              </a:solidFill>
              <a:prstDash val="solid"/>
              <a:round/>
              <a:headEnd type="none" w="med" len="med"/>
              <a:tailEnd type="arrow" w="med" len="med"/>
            </a:ln>
          </p:spPr>
        </p:cxnSp>
        <p:cxnSp>
          <p:nvCxnSpPr>
            <p:cNvPr id="27658" name="直接箭头连接符 105"/>
            <p:cNvCxnSpPr/>
            <p:nvPr/>
          </p:nvCxnSpPr>
          <p:spPr>
            <a:xfrm>
              <a:off x="2758" y="478"/>
              <a:ext cx="0" cy="1530"/>
            </a:xfrm>
            <a:prstGeom prst="straightConnector1">
              <a:avLst/>
            </a:prstGeom>
            <a:ln w="12700" cap="flat" cmpd="sng">
              <a:solidFill>
                <a:srgbClr val="0000FF"/>
              </a:solidFill>
              <a:prstDash val="solid"/>
              <a:round/>
              <a:headEnd type="none" w="med" len="med"/>
              <a:tailEnd type="arrow" w="med" len="med"/>
            </a:ln>
          </p:spPr>
        </p:cxnSp>
        <p:cxnSp>
          <p:nvCxnSpPr>
            <p:cNvPr id="27659" name="直接箭头连接符 106"/>
            <p:cNvCxnSpPr/>
            <p:nvPr/>
          </p:nvCxnSpPr>
          <p:spPr>
            <a:xfrm flipV="1">
              <a:off x="2863" y="643"/>
              <a:ext cx="693" cy="1200"/>
            </a:xfrm>
            <a:prstGeom prst="straightConnector1">
              <a:avLst/>
            </a:prstGeom>
            <a:ln w="12700" cap="flat" cmpd="sng">
              <a:solidFill>
                <a:srgbClr val="0000FF"/>
              </a:solidFill>
              <a:prstDash val="solid"/>
              <a:round/>
              <a:headEnd type="none" w="med" len="med"/>
              <a:tailEnd type="arrow" w="med" len="med"/>
            </a:ln>
          </p:spPr>
        </p:cxnSp>
        <p:cxnSp>
          <p:nvCxnSpPr>
            <p:cNvPr id="27660" name="直接箭头连接符 107"/>
            <p:cNvCxnSpPr/>
            <p:nvPr/>
          </p:nvCxnSpPr>
          <p:spPr>
            <a:xfrm>
              <a:off x="5053" y="478"/>
              <a:ext cx="0" cy="1530"/>
            </a:xfrm>
            <a:prstGeom prst="straightConnector1">
              <a:avLst/>
            </a:prstGeom>
            <a:ln w="12700" cap="flat" cmpd="sng">
              <a:solidFill>
                <a:srgbClr val="0000FF"/>
              </a:solidFill>
              <a:prstDash val="solid"/>
              <a:round/>
              <a:headEnd type="none" w="med" len="med"/>
              <a:tailEnd type="arrow" w="med" len="med"/>
            </a:ln>
          </p:spPr>
        </p:cxnSp>
        <p:cxnSp>
          <p:nvCxnSpPr>
            <p:cNvPr id="27661" name="直接箭头连接符 108"/>
            <p:cNvCxnSpPr/>
            <p:nvPr/>
          </p:nvCxnSpPr>
          <p:spPr>
            <a:xfrm flipV="1">
              <a:off x="5158" y="643"/>
              <a:ext cx="693" cy="1200"/>
            </a:xfrm>
            <a:prstGeom prst="straightConnector1">
              <a:avLst/>
            </a:prstGeom>
            <a:ln w="12700" cap="flat" cmpd="sng">
              <a:solidFill>
                <a:srgbClr val="0000FF"/>
              </a:solidFill>
              <a:prstDash val="solid"/>
              <a:round/>
              <a:headEnd type="none" w="med" len="med"/>
              <a:tailEnd type="arrow" w="med" len="med"/>
            </a:ln>
          </p:spPr>
        </p:cxnSp>
        <p:cxnSp>
          <p:nvCxnSpPr>
            <p:cNvPr id="27662" name="直接箭头连接符 109"/>
            <p:cNvCxnSpPr/>
            <p:nvPr/>
          </p:nvCxnSpPr>
          <p:spPr>
            <a:xfrm>
              <a:off x="5953" y="463"/>
              <a:ext cx="0" cy="3609"/>
            </a:xfrm>
            <a:prstGeom prst="straightConnector1">
              <a:avLst/>
            </a:prstGeom>
            <a:ln w="12700" cap="flat" cmpd="sng">
              <a:solidFill>
                <a:srgbClr val="0000FF"/>
              </a:solidFill>
              <a:prstDash val="solid"/>
              <a:round/>
              <a:headEnd type="none" w="med" len="med"/>
              <a:tailEnd type="arrow" w="med" len="med"/>
            </a:ln>
          </p:spPr>
        </p:cxnSp>
        <p:cxnSp>
          <p:nvCxnSpPr>
            <p:cNvPr id="27663" name="直接箭头连接符 110"/>
            <p:cNvCxnSpPr/>
            <p:nvPr/>
          </p:nvCxnSpPr>
          <p:spPr>
            <a:xfrm flipH="1" flipV="1">
              <a:off x="5076" y="2092"/>
              <a:ext cx="750" cy="1860"/>
            </a:xfrm>
            <a:prstGeom prst="straightConnector1">
              <a:avLst/>
            </a:prstGeom>
            <a:ln w="12700" cap="flat" cmpd="sng">
              <a:solidFill>
                <a:srgbClr val="0000FF"/>
              </a:solidFill>
              <a:prstDash val="solid"/>
              <a:round/>
              <a:headEnd type="none" w="med" len="med"/>
              <a:tailEnd type="arrow" w="med" len="med"/>
            </a:ln>
          </p:spPr>
        </p:cxnSp>
        <p:cxnSp>
          <p:nvCxnSpPr>
            <p:cNvPr id="27664" name="直接箭头连接符 111"/>
            <p:cNvCxnSpPr/>
            <p:nvPr/>
          </p:nvCxnSpPr>
          <p:spPr>
            <a:xfrm>
              <a:off x="5061" y="2122"/>
              <a:ext cx="0" cy="1905"/>
            </a:xfrm>
            <a:prstGeom prst="straightConnector1">
              <a:avLst/>
            </a:prstGeom>
            <a:ln w="12700" cap="flat" cmpd="sng">
              <a:solidFill>
                <a:srgbClr val="0000FF"/>
              </a:solidFill>
              <a:prstDash val="solid"/>
              <a:round/>
              <a:headEnd type="none" w="med" len="med"/>
              <a:tailEnd type="arrow" w="med" len="med"/>
            </a:ln>
          </p:spPr>
        </p:cxnSp>
        <p:cxnSp>
          <p:nvCxnSpPr>
            <p:cNvPr id="27665" name="直接箭头连接符 112"/>
            <p:cNvCxnSpPr/>
            <p:nvPr/>
          </p:nvCxnSpPr>
          <p:spPr>
            <a:xfrm flipV="1">
              <a:off x="4258" y="703"/>
              <a:ext cx="693" cy="1200"/>
            </a:xfrm>
            <a:prstGeom prst="straightConnector1">
              <a:avLst/>
            </a:prstGeom>
            <a:ln w="12700" cap="flat" cmpd="sng">
              <a:solidFill>
                <a:srgbClr val="0000FF"/>
              </a:solidFill>
              <a:prstDash val="solid"/>
              <a:round/>
              <a:headEnd type="none" w="med" len="med"/>
              <a:tailEnd type="arrow" w="med" len="med"/>
            </a:ln>
          </p:spPr>
        </p:cxnSp>
        <p:cxnSp>
          <p:nvCxnSpPr>
            <p:cNvPr id="27666" name="直接箭头连接符 113"/>
            <p:cNvCxnSpPr/>
            <p:nvPr/>
          </p:nvCxnSpPr>
          <p:spPr>
            <a:xfrm flipH="1" flipV="1">
              <a:off x="4213" y="2113"/>
              <a:ext cx="750" cy="1860"/>
            </a:xfrm>
            <a:prstGeom prst="straightConnector1">
              <a:avLst/>
            </a:prstGeom>
            <a:ln w="12700" cap="flat" cmpd="sng">
              <a:solidFill>
                <a:srgbClr val="0000FF"/>
              </a:solidFill>
              <a:prstDash val="solid"/>
              <a:round/>
              <a:headEnd type="none" w="med" len="med"/>
              <a:tailEnd type="arrow" w="med" len="med"/>
            </a:ln>
          </p:spPr>
        </p:cxnSp>
        <p:cxnSp>
          <p:nvCxnSpPr>
            <p:cNvPr id="27667" name="直接箭头连接符 114"/>
            <p:cNvCxnSpPr/>
            <p:nvPr/>
          </p:nvCxnSpPr>
          <p:spPr>
            <a:xfrm>
              <a:off x="4198" y="2143"/>
              <a:ext cx="0" cy="1905"/>
            </a:xfrm>
            <a:prstGeom prst="straightConnector1">
              <a:avLst/>
            </a:prstGeom>
            <a:ln w="12700" cap="flat" cmpd="sng">
              <a:solidFill>
                <a:srgbClr val="0000FF"/>
              </a:solidFill>
              <a:prstDash val="solid"/>
              <a:round/>
              <a:headEnd type="none" w="med" len="med"/>
              <a:tailEnd type="arrow" w="med" len="med"/>
            </a:ln>
          </p:spPr>
        </p:cxnSp>
        <p:cxnSp>
          <p:nvCxnSpPr>
            <p:cNvPr id="27668" name="直接箭头连接符 132"/>
            <p:cNvCxnSpPr/>
            <p:nvPr/>
          </p:nvCxnSpPr>
          <p:spPr>
            <a:xfrm flipH="1" flipV="1">
              <a:off x="2788" y="2173"/>
              <a:ext cx="750" cy="1860"/>
            </a:xfrm>
            <a:prstGeom prst="straightConnector1">
              <a:avLst/>
            </a:prstGeom>
            <a:ln w="12700" cap="flat" cmpd="sng">
              <a:solidFill>
                <a:srgbClr val="0000FF"/>
              </a:solidFill>
              <a:prstDash val="solid"/>
              <a:round/>
              <a:headEnd type="none" w="med" len="med"/>
              <a:tailEnd type="arrow" w="med" len="med"/>
            </a:ln>
          </p:spPr>
        </p:cxnSp>
        <p:cxnSp>
          <p:nvCxnSpPr>
            <p:cNvPr id="27669" name="直接箭头连接符 133"/>
            <p:cNvCxnSpPr/>
            <p:nvPr/>
          </p:nvCxnSpPr>
          <p:spPr>
            <a:xfrm>
              <a:off x="2773" y="2203"/>
              <a:ext cx="0" cy="1905"/>
            </a:xfrm>
            <a:prstGeom prst="straightConnector1">
              <a:avLst/>
            </a:prstGeom>
            <a:ln w="12700" cap="flat" cmpd="sng">
              <a:solidFill>
                <a:srgbClr val="0000FF"/>
              </a:solidFill>
              <a:prstDash val="solid"/>
              <a:round/>
              <a:headEnd type="none" w="med" len="med"/>
              <a:tailEnd type="arrow" w="med" len="med"/>
            </a:ln>
          </p:spPr>
        </p:cxnSp>
        <p:cxnSp>
          <p:nvCxnSpPr>
            <p:cNvPr id="27670" name="直接箭头连接符 134"/>
            <p:cNvCxnSpPr/>
            <p:nvPr/>
          </p:nvCxnSpPr>
          <p:spPr>
            <a:xfrm flipH="1" flipV="1">
              <a:off x="1933" y="2173"/>
              <a:ext cx="750" cy="1860"/>
            </a:xfrm>
            <a:prstGeom prst="straightConnector1">
              <a:avLst/>
            </a:prstGeom>
            <a:ln w="12700" cap="flat" cmpd="sng">
              <a:solidFill>
                <a:srgbClr val="0000FF"/>
              </a:solidFill>
              <a:prstDash val="solid"/>
              <a:round/>
              <a:headEnd type="none" w="med" len="med"/>
              <a:tailEnd type="arrow" w="med" len="med"/>
            </a:ln>
          </p:spPr>
        </p:cxnSp>
        <p:cxnSp>
          <p:nvCxnSpPr>
            <p:cNvPr id="27671" name="直接箭头连接符 135"/>
            <p:cNvCxnSpPr/>
            <p:nvPr/>
          </p:nvCxnSpPr>
          <p:spPr>
            <a:xfrm>
              <a:off x="1918" y="2203"/>
              <a:ext cx="0" cy="1905"/>
            </a:xfrm>
            <a:prstGeom prst="straightConnector1">
              <a:avLst/>
            </a:prstGeom>
            <a:ln w="12700" cap="flat" cmpd="sng">
              <a:solidFill>
                <a:srgbClr val="0000FF"/>
              </a:solidFill>
              <a:prstDash val="solid"/>
              <a:round/>
              <a:headEnd type="none" w="med" len="med"/>
              <a:tailEnd type="arrow" w="med" len="med"/>
            </a:ln>
          </p:spPr>
        </p:cxnSp>
        <p:cxnSp>
          <p:nvCxnSpPr>
            <p:cNvPr id="27672" name="直接箭头连接符 136"/>
            <p:cNvCxnSpPr/>
            <p:nvPr/>
          </p:nvCxnSpPr>
          <p:spPr>
            <a:xfrm flipH="1" flipV="1">
              <a:off x="1093" y="2218"/>
              <a:ext cx="750" cy="1860"/>
            </a:xfrm>
            <a:prstGeom prst="straightConnector1">
              <a:avLst/>
            </a:prstGeom>
            <a:ln w="12700" cap="flat" cmpd="sng">
              <a:solidFill>
                <a:srgbClr val="0000FF"/>
              </a:solidFill>
              <a:prstDash val="solid"/>
              <a:round/>
              <a:headEnd type="none" w="med" len="med"/>
              <a:tailEnd type="arrow" w="med" len="med"/>
            </a:ln>
          </p:spPr>
        </p:cxnSp>
        <p:cxnSp>
          <p:nvCxnSpPr>
            <p:cNvPr id="27673" name="直接箭头连接符 137"/>
            <p:cNvCxnSpPr/>
            <p:nvPr/>
          </p:nvCxnSpPr>
          <p:spPr>
            <a:xfrm>
              <a:off x="1078" y="2248"/>
              <a:ext cx="0" cy="1905"/>
            </a:xfrm>
            <a:prstGeom prst="straightConnector1">
              <a:avLst/>
            </a:prstGeom>
            <a:ln w="12700" cap="flat" cmpd="sng">
              <a:solidFill>
                <a:srgbClr val="0000FF"/>
              </a:solidFill>
              <a:prstDash val="solid"/>
              <a:round/>
              <a:headEnd type="none" w="med" len="med"/>
              <a:tailEnd type="arrow" w="med" len="med"/>
            </a:ln>
          </p:spPr>
        </p:cxnSp>
        <p:cxnSp>
          <p:nvCxnSpPr>
            <p:cNvPr id="27674" name="直接箭头连接符 140"/>
            <p:cNvCxnSpPr/>
            <p:nvPr/>
          </p:nvCxnSpPr>
          <p:spPr>
            <a:xfrm flipH="1" flipV="1">
              <a:off x="411" y="1605"/>
              <a:ext cx="570" cy="2355"/>
            </a:xfrm>
            <a:prstGeom prst="straightConnector1">
              <a:avLst/>
            </a:prstGeom>
            <a:ln w="12700" cap="flat" cmpd="sng">
              <a:solidFill>
                <a:srgbClr val="0000FF"/>
              </a:solidFill>
              <a:prstDash val="solid"/>
              <a:round/>
              <a:headEnd type="none" w="med" len="med"/>
              <a:tailEnd type="arrow" w="med" len="med"/>
            </a:ln>
          </p:spPr>
        </p:cxnSp>
        <p:cxnSp>
          <p:nvCxnSpPr>
            <p:cNvPr id="27675" name="直接箭头连接符 141"/>
            <p:cNvCxnSpPr/>
            <p:nvPr/>
          </p:nvCxnSpPr>
          <p:spPr>
            <a:xfrm>
              <a:off x="366" y="1680"/>
              <a:ext cx="0" cy="2385"/>
            </a:xfrm>
            <a:prstGeom prst="straightConnector1">
              <a:avLst/>
            </a:prstGeom>
            <a:ln w="12700" cap="flat" cmpd="sng">
              <a:solidFill>
                <a:srgbClr val="0000FF"/>
              </a:solidFill>
              <a:prstDash val="solid"/>
              <a:round/>
              <a:headEnd type="none" w="med" len="med"/>
              <a:tailEnd type="arrow" w="med" len="med"/>
            </a:ln>
          </p:spPr>
        </p:cxnSp>
        <p:sp>
          <p:nvSpPr>
            <p:cNvPr id="27676" name="文本框 142"/>
            <p:cNvSpPr/>
            <p:nvPr/>
          </p:nvSpPr>
          <p:spPr>
            <a:xfrm>
              <a:off x="3561" y="1860"/>
              <a:ext cx="614" cy="435"/>
            </a:xfrm>
            <a:prstGeom prst="rect">
              <a:avLst/>
            </a:prstGeom>
            <a:solidFill>
              <a:srgbClr val="FFFFFF"/>
            </a:solidFill>
            <a:ln w="9525">
              <a:noFill/>
            </a:ln>
          </p:spPr>
          <p:txBody>
            <a:bodyPr lIns="0" rIns="0" anchor="t"/>
            <a:lstStyle/>
            <a:p>
              <a:r>
                <a:rPr lang="en-US" altLang="en-US" sz="1200" dirty="0">
                  <a:latin typeface="Arial" panose="020B0604020202020204" pitchFamily="34" charset="0"/>
                  <a:ea typeface="宋体" panose="02010600030101010101" pitchFamily="2" charset="-122"/>
                </a:rPr>
                <a:t>......</a:t>
              </a:r>
            </a:p>
            <a:p>
              <a:endParaRPr lang="en-US" altLang="en-US" sz="1200" dirty="0">
                <a:latin typeface="Arial" panose="020B0604020202020204" pitchFamily="34" charset="0"/>
                <a:ea typeface="宋体" panose="02010600030101010101" pitchFamily="2" charset="-122"/>
              </a:endParaRPr>
            </a:p>
          </p:txBody>
        </p:sp>
        <p:sp>
          <p:nvSpPr>
            <p:cNvPr id="27677" name="文本框 143"/>
            <p:cNvSpPr/>
            <p:nvPr/>
          </p:nvSpPr>
          <p:spPr>
            <a:xfrm>
              <a:off x="137" y="60"/>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函数A</a:t>
              </a:r>
            </a:p>
            <a:p>
              <a:endParaRPr lang="en-US" altLang="en-US" sz="1200" dirty="0">
                <a:latin typeface="Arial" panose="020B0604020202020204" pitchFamily="34" charset="0"/>
                <a:ea typeface="宋体" panose="02010600030101010101" pitchFamily="2" charset="-122"/>
              </a:endParaRPr>
            </a:p>
          </p:txBody>
        </p:sp>
        <p:sp>
          <p:nvSpPr>
            <p:cNvPr id="27678" name="文本框 144"/>
            <p:cNvSpPr/>
            <p:nvPr/>
          </p:nvSpPr>
          <p:spPr>
            <a:xfrm>
              <a:off x="823" y="73"/>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函数B</a:t>
              </a:r>
            </a:p>
            <a:p>
              <a:endParaRPr lang="en-US" altLang="en-US" sz="1200" dirty="0">
                <a:latin typeface="Arial" panose="020B0604020202020204" pitchFamily="34" charset="0"/>
                <a:ea typeface="宋体" panose="02010600030101010101" pitchFamily="2" charset="-122"/>
              </a:endParaRPr>
            </a:p>
          </p:txBody>
        </p:sp>
        <p:sp>
          <p:nvSpPr>
            <p:cNvPr id="27679" name="文本框 145"/>
            <p:cNvSpPr/>
            <p:nvPr/>
          </p:nvSpPr>
          <p:spPr>
            <a:xfrm>
              <a:off x="1603" y="58"/>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函数B</a:t>
              </a:r>
            </a:p>
            <a:p>
              <a:endParaRPr lang="en-US" altLang="en-US" sz="1200" dirty="0">
                <a:latin typeface="Arial" panose="020B0604020202020204" pitchFamily="34" charset="0"/>
                <a:ea typeface="宋体" panose="02010600030101010101" pitchFamily="2" charset="-122"/>
              </a:endParaRPr>
            </a:p>
          </p:txBody>
        </p:sp>
        <p:sp>
          <p:nvSpPr>
            <p:cNvPr id="27680" name="文本框 146"/>
            <p:cNvSpPr/>
            <p:nvPr/>
          </p:nvSpPr>
          <p:spPr>
            <a:xfrm>
              <a:off x="2428" y="43"/>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函数B</a:t>
              </a:r>
            </a:p>
            <a:p>
              <a:endParaRPr lang="en-US" altLang="en-US" sz="1200" dirty="0">
                <a:latin typeface="Arial" panose="020B0604020202020204" pitchFamily="34" charset="0"/>
                <a:ea typeface="宋体" panose="02010600030101010101" pitchFamily="2" charset="-122"/>
              </a:endParaRPr>
            </a:p>
          </p:txBody>
        </p:sp>
        <p:sp>
          <p:nvSpPr>
            <p:cNvPr id="27681" name="文本框 147"/>
            <p:cNvSpPr/>
            <p:nvPr/>
          </p:nvSpPr>
          <p:spPr>
            <a:xfrm>
              <a:off x="4738" y="28"/>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函数B</a:t>
              </a:r>
            </a:p>
            <a:p>
              <a:endParaRPr lang="en-US" altLang="en-US" sz="1200" dirty="0">
                <a:latin typeface="Arial" panose="020B0604020202020204" pitchFamily="34" charset="0"/>
                <a:ea typeface="宋体" panose="02010600030101010101" pitchFamily="2" charset="-122"/>
              </a:endParaRPr>
            </a:p>
          </p:txBody>
        </p:sp>
        <p:sp>
          <p:nvSpPr>
            <p:cNvPr id="27682" name="文本框 148"/>
            <p:cNvSpPr/>
            <p:nvPr/>
          </p:nvSpPr>
          <p:spPr>
            <a:xfrm>
              <a:off x="5683" y="58"/>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函数B</a:t>
              </a:r>
            </a:p>
            <a:p>
              <a:endParaRPr lang="en-US" altLang="en-US" sz="1200" dirty="0">
                <a:latin typeface="Arial" panose="020B0604020202020204" pitchFamily="34" charset="0"/>
                <a:ea typeface="宋体" panose="02010600030101010101" pitchFamily="2" charset="-122"/>
              </a:endParaRPr>
            </a:p>
          </p:txBody>
        </p:sp>
        <p:sp>
          <p:nvSpPr>
            <p:cNvPr id="27683" name="文本框 149"/>
            <p:cNvSpPr/>
            <p:nvPr/>
          </p:nvSpPr>
          <p:spPr>
            <a:xfrm>
              <a:off x="463" y="943"/>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p>
            <a:p>
              <a:endParaRPr lang="en-US" altLang="en-US" sz="1200" dirty="0">
                <a:latin typeface="Arial" panose="020B0604020202020204" pitchFamily="34" charset="0"/>
                <a:ea typeface="宋体" panose="02010600030101010101" pitchFamily="2" charset="-122"/>
              </a:endParaRPr>
            </a:p>
          </p:txBody>
        </p:sp>
        <p:sp>
          <p:nvSpPr>
            <p:cNvPr id="27684" name="文本框 150"/>
            <p:cNvSpPr/>
            <p:nvPr/>
          </p:nvSpPr>
          <p:spPr>
            <a:xfrm>
              <a:off x="433" y="2458"/>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p>
            <a:p>
              <a:endParaRPr lang="en-US" altLang="en-US" sz="1200" dirty="0">
                <a:latin typeface="Arial" panose="020B0604020202020204" pitchFamily="34" charset="0"/>
                <a:ea typeface="宋体" panose="02010600030101010101" pitchFamily="2" charset="-122"/>
              </a:endParaRPr>
            </a:p>
          </p:txBody>
        </p:sp>
        <p:sp>
          <p:nvSpPr>
            <p:cNvPr id="27685" name="文本框 5"/>
            <p:cNvSpPr/>
            <p:nvPr/>
          </p:nvSpPr>
          <p:spPr>
            <a:xfrm>
              <a:off x="1183" y="1258"/>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p>
            <a:p>
              <a:endParaRPr lang="en-US" altLang="en-US" sz="1200" dirty="0">
                <a:latin typeface="Arial" panose="020B0604020202020204" pitchFamily="34" charset="0"/>
                <a:ea typeface="宋体" panose="02010600030101010101" pitchFamily="2" charset="-122"/>
              </a:endParaRPr>
            </a:p>
          </p:txBody>
        </p:sp>
        <p:sp>
          <p:nvSpPr>
            <p:cNvPr id="27686" name="文本框 115"/>
            <p:cNvSpPr/>
            <p:nvPr/>
          </p:nvSpPr>
          <p:spPr>
            <a:xfrm>
              <a:off x="1153" y="2773"/>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p>
            <a:p>
              <a:endParaRPr lang="en-US" altLang="en-US" sz="1200" dirty="0">
                <a:latin typeface="Arial" panose="020B0604020202020204" pitchFamily="34" charset="0"/>
                <a:ea typeface="宋体" panose="02010600030101010101" pitchFamily="2" charset="-122"/>
              </a:endParaRPr>
            </a:p>
          </p:txBody>
        </p:sp>
        <p:sp>
          <p:nvSpPr>
            <p:cNvPr id="27687" name="文本框 117"/>
            <p:cNvSpPr/>
            <p:nvPr/>
          </p:nvSpPr>
          <p:spPr>
            <a:xfrm>
              <a:off x="2053" y="1264"/>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p>
            <a:p>
              <a:endParaRPr lang="en-US" altLang="en-US" sz="1200" dirty="0">
                <a:latin typeface="Arial" panose="020B0604020202020204" pitchFamily="34" charset="0"/>
                <a:ea typeface="宋体" panose="02010600030101010101" pitchFamily="2" charset="-122"/>
              </a:endParaRPr>
            </a:p>
          </p:txBody>
        </p:sp>
        <p:sp>
          <p:nvSpPr>
            <p:cNvPr id="27688" name="文本框 118"/>
            <p:cNvSpPr/>
            <p:nvPr/>
          </p:nvSpPr>
          <p:spPr>
            <a:xfrm>
              <a:off x="2023" y="2779"/>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p>
            <a:p>
              <a:endParaRPr lang="en-US" altLang="en-US" sz="1200" dirty="0">
                <a:latin typeface="Arial" panose="020B0604020202020204" pitchFamily="34" charset="0"/>
                <a:ea typeface="宋体" panose="02010600030101010101" pitchFamily="2" charset="-122"/>
              </a:endParaRPr>
            </a:p>
          </p:txBody>
        </p:sp>
        <p:sp>
          <p:nvSpPr>
            <p:cNvPr id="27689" name="文本框 122"/>
            <p:cNvSpPr/>
            <p:nvPr/>
          </p:nvSpPr>
          <p:spPr>
            <a:xfrm>
              <a:off x="2908" y="1303"/>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p>
            <a:p>
              <a:endParaRPr lang="en-US" altLang="en-US" sz="1200" dirty="0">
                <a:latin typeface="Arial" panose="020B0604020202020204" pitchFamily="34" charset="0"/>
                <a:ea typeface="宋体" panose="02010600030101010101" pitchFamily="2" charset="-122"/>
              </a:endParaRPr>
            </a:p>
          </p:txBody>
        </p:sp>
        <p:sp>
          <p:nvSpPr>
            <p:cNvPr id="27690" name="文本框 123"/>
            <p:cNvSpPr/>
            <p:nvPr/>
          </p:nvSpPr>
          <p:spPr>
            <a:xfrm>
              <a:off x="2878" y="2818"/>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p>
            <a:p>
              <a:endParaRPr lang="en-US" altLang="en-US" sz="1200" dirty="0">
                <a:latin typeface="Arial" panose="020B0604020202020204" pitchFamily="34" charset="0"/>
                <a:ea typeface="宋体" panose="02010600030101010101" pitchFamily="2" charset="-122"/>
              </a:endParaRPr>
            </a:p>
          </p:txBody>
        </p:sp>
        <p:sp>
          <p:nvSpPr>
            <p:cNvPr id="27691" name="文本框 124"/>
            <p:cNvSpPr/>
            <p:nvPr/>
          </p:nvSpPr>
          <p:spPr>
            <a:xfrm>
              <a:off x="4363" y="1333"/>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p>
            <a:p>
              <a:endParaRPr lang="en-US" altLang="en-US" sz="1200" dirty="0">
                <a:latin typeface="Arial" panose="020B0604020202020204" pitchFamily="34" charset="0"/>
                <a:ea typeface="宋体" panose="02010600030101010101" pitchFamily="2" charset="-122"/>
              </a:endParaRPr>
            </a:p>
          </p:txBody>
        </p:sp>
        <p:sp>
          <p:nvSpPr>
            <p:cNvPr id="27692" name="文本框 125"/>
            <p:cNvSpPr/>
            <p:nvPr/>
          </p:nvSpPr>
          <p:spPr>
            <a:xfrm>
              <a:off x="4333" y="2848"/>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p>
            <a:p>
              <a:endParaRPr lang="en-US" altLang="en-US" sz="1200" dirty="0">
                <a:latin typeface="Arial" panose="020B0604020202020204" pitchFamily="34" charset="0"/>
                <a:ea typeface="宋体" panose="02010600030101010101" pitchFamily="2" charset="-122"/>
              </a:endParaRPr>
            </a:p>
          </p:txBody>
        </p:sp>
        <p:sp>
          <p:nvSpPr>
            <p:cNvPr id="27693" name="文本框 126"/>
            <p:cNvSpPr/>
            <p:nvPr/>
          </p:nvSpPr>
          <p:spPr>
            <a:xfrm>
              <a:off x="5248" y="1363"/>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p>
            <a:p>
              <a:endParaRPr lang="en-US" altLang="en-US" sz="1200" dirty="0">
                <a:latin typeface="Arial" panose="020B0604020202020204" pitchFamily="34" charset="0"/>
                <a:ea typeface="宋体" panose="02010600030101010101" pitchFamily="2" charset="-122"/>
              </a:endParaRPr>
            </a:p>
          </p:txBody>
        </p:sp>
        <p:sp>
          <p:nvSpPr>
            <p:cNvPr id="27694" name="文本框 127"/>
            <p:cNvSpPr/>
            <p:nvPr/>
          </p:nvSpPr>
          <p:spPr>
            <a:xfrm>
              <a:off x="5218" y="2878"/>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p>
            <a:p>
              <a:endParaRPr lang="en-US" altLang="en-US" sz="1200" dirty="0">
                <a:latin typeface="Arial" panose="020B0604020202020204" pitchFamily="34" charset="0"/>
                <a:ea typeface="宋体" panose="02010600030101010101" pitchFamily="2" charset="-122"/>
              </a:endParaRPr>
            </a:p>
          </p:txBody>
        </p:sp>
        <p:cxnSp>
          <p:nvCxnSpPr>
            <p:cNvPr id="27695" name="直接箭头连接符 128"/>
            <p:cNvCxnSpPr/>
            <p:nvPr/>
          </p:nvCxnSpPr>
          <p:spPr>
            <a:xfrm>
              <a:off x="4183" y="508"/>
              <a:ext cx="0" cy="1530"/>
            </a:xfrm>
            <a:prstGeom prst="straightConnector1">
              <a:avLst/>
            </a:prstGeom>
            <a:ln w="12700" cap="flat" cmpd="sng">
              <a:solidFill>
                <a:srgbClr val="0000FF"/>
              </a:solidFill>
              <a:prstDash val="solid"/>
              <a:round/>
              <a:headEnd type="none" w="med" len="med"/>
              <a:tailEnd type="arrow" w="med" len="med"/>
            </a:ln>
          </p:spPr>
        </p:cxn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12</a:t>
            </a:fld>
            <a:endParaRPr lang="zh-CN" altLang="en-US" dirty="0"/>
          </a:p>
        </p:txBody>
      </p:sp>
      <p:grpSp>
        <p:nvGrpSpPr>
          <p:cNvPr id="55" name="组合 54"/>
          <p:cNvGrpSpPr/>
          <p:nvPr/>
        </p:nvGrpSpPr>
        <p:grpSpPr>
          <a:xfrm>
            <a:off x="539552" y="116632"/>
            <a:ext cx="4583419" cy="684042"/>
            <a:chOff x="958665" y="1326432"/>
            <a:chExt cx="4583419" cy="684042"/>
          </a:xfrm>
        </p:grpSpPr>
        <p:sp>
          <p:nvSpPr>
            <p:cNvPr id="56" name="TextBox 6"/>
            <p:cNvSpPr txBox="1">
              <a:spLocks noChangeArrowheads="1"/>
            </p:cNvSpPr>
            <p:nvPr/>
          </p:nvSpPr>
          <p:spPr bwMode="auto">
            <a:xfrm>
              <a:off x="1310936"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5.1 </a:t>
              </a:r>
              <a:r>
                <a:rPr lang="zh-CN" altLang="en-US" sz="3600" b="1" dirty="0">
                  <a:latin typeface="Times New Roman" pitchFamily="18" charset="0"/>
                  <a:ea typeface="黑体" pitchFamily="49" charset="-122"/>
                </a:rPr>
                <a:t>函数的定义</a:t>
              </a:r>
              <a:endParaRPr lang="zh-CN" altLang="en-US" sz="3600" b="1" dirty="0">
                <a:latin typeface="黑体" pitchFamily="49" charset="-122"/>
                <a:ea typeface="黑体" pitchFamily="49" charset="-122"/>
              </a:endParaRPr>
            </a:p>
          </p:txBody>
        </p:sp>
        <p:grpSp>
          <p:nvGrpSpPr>
            <p:cNvPr id="57" name="组合 56"/>
            <p:cNvGrpSpPr/>
            <p:nvPr/>
          </p:nvGrpSpPr>
          <p:grpSpPr>
            <a:xfrm>
              <a:off x="958665" y="1327471"/>
              <a:ext cx="842977" cy="683003"/>
              <a:chOff x="958665" y="1327471"/>
              <a:chExt cx="842977" cy="683003"/>
            </a:xfrm>
          </p:grpSpPr>
          <p:sp>
            <p:nvSpPr>
              <p:cNvPr id="58"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59" name="图片 58" descr="1.jpg"/>
              <p:cNvPicPr>
                <a:picLocks noChangeAspect="1"/>
              </p:cNvPicPr>
              <p:nvPr/>
            </p:nvPicPr>
            <p:blipFill>
              <a:blip r:embed="rId2"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358394987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7650"/>
                                        </p:tgtEl>
                                        <p:attrNameLst>
                                          <p:attrName>style.visibility</p:attrName>
                                        </p:attrNameLst>
                                      </p:cBhvr>
                                      <p:to>
                                        <p:strVal val="visible"/>
                                      </p:to>
                                    </p:set>
                                    <p:anim calcmode="lin" valueType="num">
                                      <p:cBhvr additive="base">
                                        <p:cTn id="23" dur="500" fill="hold"/>
                                        <p:tgtEl>
                                          <p:spTgt spid="27650"/>
                                        </p:tgtEl>
                                        <p:attrNameLst>
                                          <p:attrName>ppt_x</p:attrName>
                                        </p:attrNameLst>
                                      </p:cBhvr>
                                      <p:tavLst>
                                        <p:tav tm="0">
                                          <p:val>
                                            <p:strVal val="#ppt_x"/>
                                          </p:val>
                                        </p:tav>
                                        <p:tav tm="100000">
                                          <p:val>
                                            <p:strVal val="#ppt_x"/>
                                          </p:val>
                                        </p:tav>
                                      </p:tavLst>
                                    </p:anim>
                                    <p:anim calcmode="lin" valueType="num">
                                      <p:cBhvr additive="base">
                                        <p:cTn id="24" dur="500" fill="hold"/>
                                        <p:tgtEl>
                                          <p:spTgt spid="276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占位符 23554"/>
          <p:cNvSpPr>
            <a:spLocks noGrp="1"/>
          </p:cNvSpPr>
          <p:nvPr>
            <p:ph idx="1"/>
          </p:nvPr>
        </p:nvSpPr>
        <p:spPr>
          <a:xfrm>
            <a:off x="457200" y="962976"/>
            <a:ext cx="8229600" cy="4678451"/>
          </a:xfrm>
        </p:spPr>
        <p:txBody>
          <a:bodyPr vert="horz" wrap="square" lIns="68591" tIns="34295" rIns="68591" bIns="34295" numCol="1" anchor="t" anchorCtr="0" compatLnSpc="1">
            <a:prstTxWarp prst="textNoShape">
              <a:avLst/>
            </a:prstTxWarp>
          </a:bodyPr>
          <a:lstStyle/>
          <a:p>
            <a:pPr>
              <a:spcBef>
                <a:spcPts val="600"/>
              </a:spcBef>
              <a:spcAft>
                <a:spcPts val="0"/>
              </a:spcAft>
              <a:buClr>
                <a:srgbClr val="FF0000"/>
              </a:buClr>
              <a:buSzPct val="90000"/>
              <a:buFont typeface="Wingdings" panose="05000000000000000000" pitchFamily="2" charset="2"/>
              <a:buChar char="n"/>
            </a:pPr>
            <a:r>
              <a:rPr lang="zh-CN" altLang="en-US" sz="2000" dirty="0"/>
              <a:t>函数定义时括弧内为形参，一个函数可以没有形参，但是括弧必须要有，表示该函数不接受参数。</a:t>
            </a:r>
          </a:p>
          <a:p>
            <a:pPr>
              <a:spcBef>
                <a:spcPts val="600"/>
              </a:spcBef>
              <a:spcAft>
                <a:spcPts val="0"/>
              </a:spcAft>
              <a:buClr>
                <a:srgbClr val="FF0000"/>
              </a:buClr>
              <a:buSzPct val="90000"/>
              <a:buFont typeface="Wingdings" panose="05000000000000000000" pitchFamily="2" charset="2"/>
              <a:buChar char="n"/>
            </a:pPr>
            <a:r>
              <a:rPr lang="zh-CN" altLang="en-US" sz="2000" dirty="0"/>
              <a:t>函数调用时向其传递实参，将实参</a:t>
            </a:r>
            <a:r>
              <a:rPr lang="zh-CN" altLang="en-US" sz="2000" dirty="0">
                <a:solidFill>
                  <a:srgbClr val="FF0000"/>
                </a:solidFill>
              </a:rPr>
              <a:t>引用</a:t>
            </a:r>
            <a:r>
              <a:rPr lang="zh-CN" altLang="en-US" sz="2000" dirty="0"/>
              <a:t>传递给形参。</a:t>
            </a:r>
          </a:p>
          <a:p>
            <a:pPr>
              <a:spcBef>
                <a:spcPts val="600"/>
              </a:spcBef>
              <a:spcAft>
                <a:spcPts val="0"/>
              </a:spcAft>
              <a:buClr>
                <a:srgbClr val="FF0000"/>
              </a:buClr>
              <a:buSzPct val="90000"/>
              <a:buFont typeface="Wingdings" panose="05000000000000000000" pitchFamily="2" charset="2"/>
              <a:buChar char="n"/>
            </a:pPr>
            <a:r>
              <a:rPr lang="zh-CN" altLang="en-US" sz="2000" dirty="0"/>
              <a:t>在定义函数时，对参数个数并没有限制，如果有多个形参，需要使用逗号进行分隔。</a:t>
            </a:r>
          </a:p>
          <a:p>
            <a:pPr eaLnBrk="1" hangingPunct="1">
              <a:buSzPct val="90000"/>
              <a:buFont typeface="Wingdings" panose="05000000000000000000" pitchFamily="2" charset="2"/>
              <a:buChar char="•"/>
            </a:pPr>
            <a:endParaRPr lang="zh-CN" altLang="en-US" dirty="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13</a:t>
            </a:fld>
            <a:endParaRPr lang="zh-CN" altLang="en-US" dirty="0"/>
          </a:p>
        </p:txBody>
      </p:sp>
      <p:grpSp>
        <p:nvGrpSpPr>
          <p:cNvPr id="5" name="组合 114"/>
          <p:cNvGrpSpPr/>
          <p:nvPr/>
        </p:nvGrpSpPr>
        <p:grpSpPr>
          <a:xfrm>
            <a:off x="13841" y="121967"/>
            <a:ext cx="6225040" cy="662730"/>
            <a:chOff x="377789" y="3380765"/>
            <a:chExt cx="6225040" cy="662730"/>
          </a:xfrm>
        </p:grpSpPr>
        <p:grpSp>
          <p:nvGrpSpPr>
            <p:cNvPr id="6" name="组合 105"/>
            <p:cNvGrpSpPr/>
            <p:nvPr/>
          </p:nvGrpSpPr>
          <p:grpSpPr>
            <a:xfrm>
              <a:off x="377789" y="3380765"/>
              <a:ext cx="6225040" cy="662730"/>
              <a:chOff x="377789" y="3380765"/>
              <a:chExt cx="6225040" cy="662730"/>
            </a:xfrm>
          </p:grpSpPr>
          <p:sp>
            <p:nvSpPr>
              <p:cNvPr id="8"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377789"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5.2 </a:t>
                </a:r>
                <a:r>
                  <a:rPr lang="zh-CN" altLang="en-US" sz="3600" b="1" dirty="0">
                    <a:latin typeface="Times New Roman" pitchFamily="18" charset="0"/>
                    <a:ea typeface="黑体" pitchFamily="49" charset="-122"/>
                  </a:rPr>
                  <a:t> 形参与实参</a:t>
                </a:r>
                <a:endParaRPr lang="zh-CN" altLang="en-US" sz="3600" b="1" dirty="0">
                  <a:latin typeface="黑体" pitchFamily="49" charset="-122"/>
                  <a:ea typeface="黑体"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文本占位符 25602"/>
          <p:cNvSpPr txBox="1">
            <a:spLocks/>
          </p:cNvSpPr>
          <p:nvPr/>
        </p:nvSpPr>
        <p:spPr bwMode="auto">
          <a:xfrm>
            <a:off x="482352" y="2708920"/>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ts val="0"/>
              </a:spcAft>
              <a:buClr>
                <a:srgbClr val="FF0000"/>
              </a:buClr>
              <a:buSzPct val="90000"/>
              <a:buFont typeface="Wingdings" panose="05000000000000000000" pitchFamily="2" charset="2"/>
              <a:buChar char="n"/>
            </a:pPr>
            <a:r>
              <a:rPr lang="zh-CN" altLang="en-US" sz="2000" dirty="0"/>
              <a:t>对于绝大多数情况下，</a:t>
            </a:r>
            <a:r>
              <a:rPr lang="zh-CN" altLang="en-US" sz="2000" dirty="0">
                <a:solidFill>
                  <a:srgbClr val="FF0000"/>
                </a:solidFill>
              </a:rPr>
              <a:t>在函数内部直接修改形参的值不会影响实参，而是创建一个新变量</a:t>
            </a:r>
            <a:r>
              <a:rPr lang="zh-CN" altLang="en-US" sz="2000" dirty="0"/>
              <a:t>。</a:t>
            </a:r>
          </a:p>
        </p:txBody>
      </p:sp>
      <p:sp>
        <p:nvSpPr>
          <p:cNvPr id="4" name="矩形 3"/>
          <p:cNvSpPr/>
          <p:nvPr/>
        </p:nvSpPr>
        <p:spPr>
          <a:xfrm>
            <a:off x="1334369" y="3404943"/>
            <a:ext cx="7344816" cy="3050515"/>
          </a:xfrm>
          <a:prstGeom prst="rect">
            <a:avLst/>
          </a:prstGeom>
        </p:spPr>
        <p:txBody>
          <a:bodyPr wrap="square">
            <a:spAutoFit/>
          </a:bodyPr>
          <a:lstStyle/>
          <a:p>
            <a:pPr>
              <a:lnSpc>
                <a:spcPct val="80000"/>
              </a:lnSpc>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def</a:t>
            </a:r>
            <a:r>
              <a:rPr lang="en-US" altLang="zh-CN" sz="1600" dirty="0">
                <a:latin typeface="Consolas" panose="020B0609020204030204" pitchFamily="49" charset="0"/>
              </a:rPr>
              <a:t> </a:t>
            </a:r>
            <a:r>
              <a:rPr lang="en-US" altLang="zh-CN" sz="1600" dirty="0" err="1">
                <a:latin typeface="Consolas" panose="020B0609020204030204" pitchFamily="49" charset="0"/>
              </a:rPr>
              <a:t>addOne</a:t>
            </a:r>
            <a:r>
              <a:rPr lang="en-US" altLang="zh-CN" sz="1600" dirty="0">
                <a:latin typeface="Consolas" panose="020B0609020204030204" pitchFamily="49" charset="0"/>
              </a:rPr>
              <a:t>(a):</a:t>
            </a:r>
          </a:p>
          <a:p>
            <a:pPr>
              <a:lnSpc>
                <a:spcPct val="80000"/>
              </a:lnSpc>
              <a:buSzPct val="90000"/>
              <a:buFont typeface="Wingdings" panose="05000000000000000000" pitchFamily="2" charset="2"/>
              <a:buNone/>
            </a:pPr>
            <a:r>
              <a:rPr lang="en-US" altLang="zh-CN" sz="1600" dirty="0">
                <a:latin typeface="Consolas" panose="020B0609020204030204" pitchFamily="49" charset="0"/>
              </a:rPr>
              <a:t>    print(id(a), ':', a)</a:t>
            </a:r>
          </a:p>
          <a:p>
            <a:pPr>
              <a:lnSpc>
                <a:spcPct val="80000"/>
              </a:lnSpc>
              <a:buSzPct val="90000"/>
              <a:buFont typeface="Wingdings" panose="05000000000000000000" pitchFamily="2" charset="2"/>
              <a:buNone/>
            </a:pPr>
            <a:r>
              <a:rPr lang="en-US" altLang="zh-CN" sz="1600" dirty="0">
                <a:latin typeface="Consolas" panose="020B0609020204030204" pitchFamily="49" charset="0"/>
              </a:rPr>
              <a:t>    a += 1</a:t>
            </a:r>
          </a:p>
          <a:p>
            <a:pPr>
              <a:lnSpc>
                <a:spcPct val="80000"/>
              </a:lnSpc>
              <a:buSzPct val="90000"/>
              <a:buFont typeface="Wingdings" panose="05000000000000000000" pitchFamily="2" charset="2"/>
              <a:buNone/>
            </a:pPr>
            <a:r>
              <a:rPr lang="en-US" altLang="zh-CN" sz="1600" dirty="0">
                <a:latin typeface="Consolas" panose="020B0609020204030204" pitchFamily="49" charset="0"/>
              </a:rPr>
              <a:t>    print(id(a), ':', a)</a:t>
            </a:r>
          </a:p>
          <a:p>
            <a:pPr>
              <a:lnSpc>
                <a:spcPct val="80000"/>
              </a:lnSpc>
              <a:buSzPct val="90000"/>
              <a:buFont typeface="Wingdings" panose="05000000000000000000" pitchFamily="2" charset="2"/>
              <a:buNone/>
            </a:pPr>
            <a:r>
              <a:rPr lang="en-US" altLang="zh-CN" sz="1600" dirty="0">
                <a:latin typeface="Consolas" panose="020B0609020204030204" pitchFamily="49" charset="0"/>
              </a:rPr>
              <a:t>	</a:t>
            </a:r>
          </a:p>
          <a:p>
            <a:pPr>
              <a:lnSpc>
                <a:spcPct val="80000"/>
              </a:lnSpc>
              <a:buSzPct val="90000"/>
              <a:buFont typeface="Wingdings" panose="05000000000000000000" pitchFamily="2" charset="2"/>
              <a:buNone/>
            </a:pPr>
            <a:r>
              <a:rPr lang="en-US" altLang="zh-CN" sz="1600" dirty="0">
                <a:latin typeface="Consolas" panose="020B0609020204030204" pitchFamily="49" charset="0"/>
              </a:rPr>
              <a:t>&gt;&gt;&gt; v = 3</a:t>
            </a:r>
          </a:p>
          <a:p>
            <a:pPr>
              <a:lnSpc>
                <a:spcPct val="80000"/>
              </a:lnSpc>
              <a:buSzPct val="90000"/>
              <a:buFont typeface="Wingdings" panose="05000000000000000000" pitchFamily="2" charset="2"/>
              <a:buNone/>
            </a:pPr>
            <a:r>
              <a:rPr lang="en-US" altLang="zh-CN" sz="1600" dirty="0">
                <a:latin typeface="Consolas" panose="020B0609020204030204" pitchFamily="49" charset="0"/>
              </a:rPr>
              <a:t>&gt;&gt;&gt; id(v)</a:t>
            </a:r>
          </a:p>
          <a:p>
            <a:pPr>
              <a:lnSpc>
                <a:spcPct val="80000"/>
              </a:lnSpc>
              <a:buSzPct val="90000"/>
              <a:buFont typeface="Wingdings" panose="05000000000000000000" pitchFamily="2" charset="2"/>
              <a:buNone/>
            </a:pPr>
            <a:r>
              <a:rPr lang="en-US" altLang="zh-CN" sz="1600" dirty="0">
                <a:solidFill>
                  <a:srgbClr val="0000FF"/>
                </a:solidFill>
                <a:latin typeface="Consolas" panose="020B0609020204030204" pitchFamily="49" charset="0"/>
              </a:rPr>
              <a:t>1599055008</a:t>
            </a:r>
          </a:p>
          <a:p>
            <a:pPr>
              <a:lnSpc>
                <a:spcPct val="80000"/>
              </a:lnSpc>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addOne</a:t>
            </a:r>
            <a:r>
              <a:rPr lang="en-US" altLang="zh-CN" sz="1600" dirty="0">
                <a:latin typeface="Consolas" panose="020B0609020204030204" pitchFamily="49" charset="0"/>
              </a:rPr>
              <a:t>(v)</a:t>
            </a:r>
          </a:p>
          <a:p>
            <a:pPr>
              <a:lnSpc>
                <a:spcPct val="80000"/>
              </a:lnSpc>
              <a:buSzPct val="90000"/>
              <a:buFont typeface="Wingdings" panose="05000000000000000000" pitchFamily="2" charset="2"/>
              <a:buNone/>
            </a:pPr>
            <a:r>
              <a:rPr lang="en-US" altLang="zh-CN" sz="1600" dirty="0">
                <a:solidFill>
                  <a:srgbClr val="0000FF"/>
                </a:solidFill>
                <a:latin typeface="Consolas" panose="020B0609020204030204" pitchFamily="49" charset="0"/>
              </a:rPr>
              <a:t>1599055008 : 3</a:t>
            </a:r>
          </a:p>
          <a:p>
            <a:pPr>
              <a:lnSpc>
                <a:spcPct val="80000"/>
              </a:lnSpc>
              <a:buSzPct val="90000"/>
              <a:buFont typeface="Wingdings" panose="05000000000000000000" pitchFamily="2" charset="2"/>
              <a:buNone/>
            </a:pPr>
            <a:r>
              <a:rPr lang="en-US" altLang="zh-CN" sz="1600" dirty="0">
                <a:solidFill>
                  <a:srgbClr val="0000FF"/>
                </a:solidFill>
                <a:latin typeface="Consolas" panose="020B0609020204030204" pitchFamily="49" charset="0"/>
              </a:rPr>
              <a:t>1599055040 : 4</a:t>
            </a:r>
          </a:p>
          <a:p>
            <a:pPr>
              <a:lnSpc>
                <a:spcPct val="80000"/>
              </a:lnSpc>
              <a:buSzPct val="90000"/>
              <a:buFont typeface="Wingdings" panose="05000000000000000000" pitchFamily="2" charset="2"/>
              <a:buNone/>
            </a:pPr>
            <a:r>
              <a:rPr lang="en-US" altLang="zh-CN" sz="1600" dirty="0">
                <a:latin typeface="Consolas" panose="020B0609020204030204" pitchFamily="49" charset="0"/>
              </a:rPr>
              <a:t>&gt;&gt;&gt; v</a:t>
            </a:r>
          </a:p>
          <a:p>
            <a:pPr>
              <a:lnSpc>
                <a:spcPct val="80000"/>
              </a:lnSpc>
              <a:buSzPct val="90000"/>
              <a:buFont typeface="Wingdings" panose="05000000000000000000" pitchFamily="2" charset="2"/>
              <a:buNone/>
            </a:pPr>
            <a:r>
              <a:rPr lang="en-US" altLang="zh-CN" sz="1600" dirty="0">
                <a:solidFill>
                  <a:srgbClr val="0000FF"/>
                </a:solidFill>
                <a:latin typeface="Consolas" panose="020B0609020204030204" pitchFamily="49" charset="0"/>
              </a:rPr>
              <a:t>3</a:t>
            </a:r>
          </a:p>
          <a:p>
            <a:pPr>
              <a:lnSpc>
                <a:spcPct val="80000"/>
              </a:lnSpc>
              <a:buSzPct val="90000"/>
              <a:buFont typeface="Wingdings" panose="05000000000000000000" pitchFamily="2" charset="2"/>
              <a:buNone/>
            </a:pPr>
            <a:r>
              <a:rPr lang="en-US" altLang="zh-CN" sz="1600" dirty="0">
                <a:latin typeface="Consolas" panose="020B0609020204030204" pitchFamily="49" charset="0"/>
              </a:rPr>
              <a:t>&gt;&gt;&gt; id(v)</a:t>
            </a:r>
          </a:p>
          <a:p>
            <a:pPr>
              <a:lnSpc>
                <a:spcPct val="80000"/>
              </a:lnSpc>
              <a:buSzPct val="90000"/>
              <a:buFont typeface="Wingdings" panose="05000000000000000000" pitchFamily="2" charset="2"/>
              <a:buNone/>
            </a:pPr>
            <a:r>
              <a:rPr lang="en-US" altLang="zh-CN" sz="1600" dirty="0">
                <a:solidFill>
                  <a:srgbClr val="0000FF"/>
                </a:solidFill>
                <a:latin typeface="Consolas" panose="020B0609020204030204" pitchFamily="49" charset="0"/>
              </a:rPr>
              <a:t>1599055008</a:t>
            </a:r>
          </a:p>
        </p:txBody>
      </p:sp>
      <p:sp>
        <p:nvSpPr>
          <p:cNvPr id="14" name="文本框 13"/>
          <p:cNvSpPr txBox="1"/>
          <p:nvPr/>
        </p:nvSpPr>
        <p:spPr>
          <a:xfrm>
            <a:off x="3618918" y="5021211"/>
            <a:ext cx="3672408" cy="369332"/>
          </a:xfrm>
          <a:prstGeom prst="rect">
            <a:avLst/>
          </a:prstGeom>
          <a:solidFill>
            <a:srgbClr val="FFFF00"/>
          </a:solidFill>
        </p:spPr>
        <p:txBody>
          <a:bodyPr wrap="square" rtlCol="0">
            <a:spAutoFit/>
          </a:bodyPr>
          <a:lstStyle/>
          <a:p>
            <a:r>
              <a:rPr lang="zh-CN" altLang="en-US" noProof="1">
                <a:solidFill>
                  <a:srgbClr val="FF0000"/>
                </a:solidFill>
              </a:rPr>
              <a:t>注意：此时</a:t>
            </a:r>
            <a:r>
              <a:rPr lang="en-US" altLang="zh-CN" noProof="1">
                <a:solidFill>
                  <a:srgbClr val="FF0000"/>
                </a:solidFill>
              </a:rPr>
              <a:t>a</a:t>
            </a:r>
            <a:r>
              <a:rPr lang="zh-CN" altLang="en-US" noProof="1">
                <a:solidFill>
                  <a:srgbClr val="FF0000"/>
                </a:solidFill>
              </a:rPr>
              <a:t>的地址与</a:t>
            </a:r>
            <a:r>
              <a:rPr lang="en-US" altLang="zh-CN" noProof="1">
                <a:solidFill>
                  <a:srgbClr val="FF0000"/>
                </a:solidFill>
              </a:rPr>
              <a:t>v</a:t>
            </a:r>
            <a:r>
              <a:rPr lang="zh-CN" altLang="en-US" noProof="1">
                <a:solidFill>
                  <a:srgbClr val="FF0000"/>
                </a:solidFill>
              </a:rPr>
              <a:t>的地址相同</a:t>
            </a:r>
          </a:p>
        </p:txBody>
      </p:sp>
      <p:sp>
        <p:nvSpPr>
          <p:cNvPr id="15" name="文本框 14"/>
          <p:cNvSpPr txBox="1"/>
          <p:nvPr/>
        </p:nvSpPr>
        <p:spPr>
          <a:xfrm>
            <a:off x="3618918" y="5922717"/>
            <a:ext cx="3515654" cy="369332"/>
          </a:xfrm>
          <a:prstGeom prst="rect">
            <a:avLst/>
          </a:prstGeom>
          <a:solidFill>
            <a:srgbClr val="FFFF00"/>
          </a:solidFill>
        </p:spPr>
        <p:txBody>
          <a:bodyPr wrap="square" rtlCol="0">
            <a:spAutoFit/>
          </a:bodyPr>
          <a:lstStyle/>
          <a:p>
            <a:r>
              <a:rPr lang="zh-CN" altLang="en-US" noProof="1">
                <a:solidFill>
                  <a:srgbClr val="FF0000"/>
                </a:solidFill>
              </a:rPr>
              <a:t>现在</a:t>
            </a:r>
            <a:r>
              <a:rPr lang="en-US" altLang="zh-CN" noProof="1">
                <a:solidFill>
                  <a:srgbClr val="FF0000"/>
                </a:solidFill>
              </a:rPr>
              <a:t>a</a:t>
            </a:r>
            <a:r>
              <a:rPr lang="zh-CN" altLang="en-US" noProof="1">
                <a:solidFill>
                  <a:srgbClr val="FF0000"/>
                </a:solidFill>
              </a:rPr>
              <a:t>的地址和</a:t>
            </a:r>
            <a:r>
              <a:rPr lang="en-US" altLang="zh-CN" noProof="1">
                <a:solidFill>
                  <a:srgbClr val="FF0000"/>
                </a:solidFill>
              </a:rPr>
              <a:t>v</a:t>
            </a:r>
            <a:r>
              <a:rPr lang="zh-CN" altLang="en-US" noProof="1">
                <a:solidFill>
                  <a:srgbClr val="FF0000"/>
                </a:solidFill>
              </a:rPr>
              <a:t>的地址不一样了</a:t>
            </a:r>
          </a:p>
        </p:txBody>
      </p:sp>
    </p:spTree>
    <p:extLst>
      <p:ext uri="{BB962C8B-B14F-4D97-AF65-F5344CB8AC3E}">
        <p14:creationId xmlns:p14="http://schemas.microsoft.com/office/powerpoint/2010/main" val="138243296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
                                            <p:txEl>
                                              <p:pRg st="11" end="11"/>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
                                            <p:txEl>
                                              <p:pRg st="12" end="12"/>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5"/>
                                        </p:tgtEl>
                                        <p:attrNameLst>
                                          <p:attrName>style.visibility</p:attrName>
                                        </p:attrNameLst>
                                      </p:cBhvr>
                                      <p:to>
                                        <p:strVal val="visible"/>
                                      </p:to>
                                    </p:set>
                                    <p:anim calcmode="lin" valueType="num">
                                      <p:cBhvr additive="base">
                                        <p:cTn id="85" dur="500" fill="hold"/>
                                        <p:tgtEl>
                                          <p:spTgt spid="15"/>
                                        </p:tgtEl>
                                        <p:attrNameLst>
                                          <p:attrName>ppt_x</p:attrName>
                                        </p:attrNameLst>
                                      </p:cBhvr>
                                      <p:tavLst>
                                        <p:tav tm="0">
                                          <p:val>
                                            <p:strVal val="#ppt_x"/>
                                          </p:val>
                                        </p:tav>
                                        <p:tav tm="100000">
                                          <p:val>
                                            <p:strVal val="#ppt_x"/>
                                          </p:val>
                                        </p:tav>
                                      </p:tavLst>
                                    </p:anim>
                                    <p:anim calcmode="lin" valueType="num">
                                      <p:cBhvr additive="base">
                                        <p:cTn id="8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文本占位符 26626"/>
          <p:cNvSpPr>
            <a:spLocks noGrp="1"/>
          </p:cNvSpPr>
          <p:nvPr>
            <p:ph idx="1"/>
          </p:nvPr>
        </p:nvSpPr>
        <p:spPr>
          <a:xfrm>
            <a:off x="395536" y="945836"/>
            <a:ext cx="8496944" cy="4678451"/>
          </a:xfrm>
        </p:spPr>
        <p:txBody>
          <a:bodyPr vert="horz" wrap="square" lIns="68591" tIns="34295" rIns="68591" bIns="34295" numCol="1" anchor="t" anchorCtr="0" compatLnSpc="1">
            <a:prstTxWarp prst="textNoShape">
              <a:avLst/>
            </a:prstTxWarp>
          </a:bodyPr>
          <a:lstStyle/>
          <a:p>
            <a:pPr eaLnBrk="1" fontAlgn="base" hangingPunct="1">
              <a:spcBef>
                <a:spcPts val="600"/>
              </a:spcBef>
              <a:buClr>
                <a:srgbClr val="FF0000"/>
              </a:buClr>
              <a:buSzPct val="90000"/>
              <a:buFont typeface="Wingdings" panose="05000000000000000000" pitchFamily="2" charset="2"/>
              <a:buChar char="n"/>
            </a:pPr>
            <a:r>
              <a:rPr lang="zh-CN" altLang="en-US" sz="2000" noProof="1"/>
              <a:t>有些情况下，可以通过</a:t>
            </a:r>
            <a:r>
              <a:rPr lang="zh-CN" altLang="en-US" sz="2000" noProof="1">
                <a:solidFill>
                  <a:srgbClr val="FF0000"/>
                </a:solidFill>
              </a:rPr>
              <a:t>特殊的方式</a:t>
            </a:r>
            <a:r>
              <a:rPr lang="zh-CN" altLang="en-US" sz="2000" noProof="1"/>
              <a:t>在函数内部修改实参的值。</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14</a:t>
            </a:fld>
            <a:endParaRPr lang="zh-CN" altLang="en-US" dirty="0"/>
          </a:p>
        </p:txBody>
      </p:sp>
      <p:grpSp>
        <p:nvGrpSpPr>
          <p:cNvPr id="6" name="组合 114"/>
          <p:cNvGrpSpPr/>
          <p:nvPr/>
        </p:nvGrpSpPr>
        <p:grpSpPr>
          <a:xfrm>
            <a:off x="13841" y="121967"/>
            <a:ext cx="6225040" cy="662730"/>
            <a:chOff x="377789" y="3380765"/>
            <a:chExt cx="6225040" cy="662730"/>
          </a:xfrm>
        </p:grpSpPr>
        <p:grpSp>
          <p:nvGrpSpPr>
            <p:cNvPr id="7" name="组合 105"/>
            <p:cNvGrpSpPr/>
            <p:nvPr/>
          </p:nvGrpSpPr>
          <p:grpSpPr>
            <a:xfrm>
              <a:off x="377789" y="3380765"/>
              <a:ext cx="6225040" cy="662730"/>
              <a:chOff x="377789" y="3380765"/>
              <a:chExt cx="6225040" cy="662730"/>
            </a:xfrm>
          </p:grpSpPr>
          <p:sp>
            <p:nvSpPr>
              <p:cNvPr id="9"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377789"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5.2 </a:t>
                </a:r>
                <a:r>
                  <a:rPr lang="zh-CN" altLang="en-US" sz="3600" b="1" dirty="0">
                    <a:latin typeface="Times New Roman" pitchFamily="18" charset="0"/>
                    <a:ea typeface="黑体" pitchFamily="49" charset="-122"/>
                  </a:rPr>
                  <a:t> 形参与实参</a:t>
                </a:r>
                <a:endParaRPr lang="zh-CN" altLang="en-US" sz="3600" b="1" dirty="0">
                  <a:latin typeface="黑体" pitchFamily="49" charset="-122"/>
                  <a:ea typeface="黑体"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4" name="矩形 3"/>
          <p:cNvSpPr/>
          <p:nvPr/>
        </p:nvSpPr>
        <p:spPr>
          <a:xfrm>
            <a:off x="971600" y="1310146"/>
            <a:ext cx="7715200" cy="2505301"/>
          </a:xfrm>
          <a:prstGeom prst="rect">
            <a:avLst/>
          </a:prstGeom>
        </p:spPr>
        <p:txBody>
          <a:bodyPr wrap="square">
            <a:spAutoFit/>
          </a:bodyPr>
          <a:lstStyle/>
          <a:p>
            <a:pPr>
              <a:lnSpc>
                <a:spcPct val="80000"/>
              </a:lnSpc>
              <a:buSzPct val="90000"/>
            </a:pPr>
            <a:r>
              <a:rPr lang="en-US" altLang="zh-CN" sz="1600" noProof="1">
                <a:latin typeface="Consolas" panose="020B0609020204030204" pitchFamily="49" charset="0"/>
              </a:rPr>
              <a:t>&gt;&gt;&gt; def modify(v):          </a:t>
            </a:r>
            <a:r>
              <a:rPr lang="en-US" altLang="zh-CN" sz="1600" noProof="1">
                <a:solidFill>
                  <a:srgbClr val="0000FF"/>
                </a:solidFill>
                <a:latin typeface="Consolas" panose="020B0609020204030204" pitchFamily="49" charset="0"/>
              </a:rPr>
              <a:t># </a:t>
            </a:r>
            <a:r>
              <a:rPr lang="zh-CN" altLang="en-US" sz="1600" noProof="1">
                <a:solidFill>
                  <a:srgbClr val="0000FF"/>
                </a:solidFill>
                <a:latin typeface="Consolas" panose="020B0609020204030204" pitchFamily="49" charset="0"/>
              </a:rPr>
              <a:t>使用下标修改列表元素值</a:t>
            </a:r>
          </a:p>
          <a:p>
            <a:pPr>
              <a:lnSpc>
                <a:spcPct val="80000"/>
              </a:lnSpc>
              <a:buSzPct val="90000"/>
            </a:pPr>
            <a:r>
              <a:rPr lang="en-US" altLang="zh-CN" sz="1600" noProof="1">
                <a:latin typeface="Consolas" panose="020B0609020204030204" pitchFamily="49" charset="0"/>
              </a:rPr>
              <a:t>    v[0] = v[0]+1</a:t>
            </a:r>
          </a:p>
          <a:p>
            <a:pPr>
              <a:lnSpc>
                <a:spcPct val="80000"/>
              </a:lnSpc>
              <a:buSzPct val="90000"/>
            </a:pPr>
            <a:r>
              <a:rPr lang="en-US" altLang="zh-CN" sz="1600" noProof="1">
                <a:latin typeface="Consolas" panose="020B0609020204030204" pitchFamily="49" charset="0"/>
              </a:rPr>
              <a:t>&gt;&gt;&gt; a = [2]</a:t>
            </a:r>
          </a:p>
          <a:p>
            <a:pPr>
              <a:lnSpc>
                <a:spcPct val="80000"/>
              </a:lnSpc>
              <a:buSzPct val="90000"/>
            </a:pPr>
            <a:r>
              <a:rPr lang="en-US" altLang="zh-CN" sz="1600" noProof="1">
                <a:latin typeface="Consolas" panose="020B0609020204030204" pitchFamily="49" charset="0"/>
              </a:rPr>
              <a:t>&gt;&gt;&gt; modify(a)</a:t>
            </a:r>
          </a:p>
          <a:p>
            <a:pPr>
              <a:lnSpc>
                <a:spcPct val="80000"/>
              </a:lnSpc>
              <a:buSzPct val="90000"/>
            </a:pPr>
            <a:r>
              <a:rPr lang="en-US" altLang="zh-CN" sz="1600" noProof="1">
                <a:latin typeface="Consolas" panose="020B0609020204030204" pitchFamily="49" charset="0"/>
              </a:rPr>
              <a:t>&gt;&gt;&gt; a</a:t>
            </a:r>
          </a:p>
          <a:p>
            <a:pPr>
              <a:lnSpc>
                <a:spcPct val="80000"/>
              </a:lnSpc>
              <a:buSzPct val="90000"/>
            </a:pPr>
            <a:r>
              <a:rPr lang="en-US" altLang="zh-CN" sz="1600" noProof="1">
                <a:solidFill>
                  <a:srgbClr val="0000FF"/>
                </a:solidFill>
                <a:latin typeface="Consolas" panose="020B0609020204030204" pitchFamily="49" charset="0"/>
              </a:rPr>
              <a:t>[3]</a:t>
            </a:r>
          </a:p>
          <a:p>
            <a:pPr>
              <a:lnSpc>
                <a:spcPct val="80000"/>
              </a:lnSpc>
              <a:buSzPct val="90000"/>
            </a:pPr>
            <a:r>
              <a:rPr lang="en-US" altLang="zh-CN" sz="1600" noProof="1">
                <a:latin typeface="Consolas" panose="020B0609020204030204" pitchFamily="49" charset="0"/>
              </a:rPr>
              <a:t>&gt;&gt;&gt; def modify(v, item):    </a:t>
            </a:r>
            <a:r>
              <a:rPr lang="en-US" altLang="zh-CN" sz="1600" noProof="1">
                <a:solidFill>
                  <a:srgbClr val="0000FF"/>
                </a:solidFill>
                <a:latin typeface="Consolas" panose="020B0609020204030204" pitchFamily="49" charset="0"/>
              </a:rPr>
              <a:t># </a:t>
            </a:r>
            <a:r>
              <a:rPr lang="zh-CN" altLang="en-US" sz="1600" noProof="1">
                <a:solidFill>
                  <a:srgbClr val="0000FF"/>
                </a:solidFill>
                <a:latin typeface="Consolas" panose="020B0609020204030204" pitchFamily="49" charset="0"/>
              </a:rPr>
              <a:t>使用列表的方法为列表增加元素</a:t>
            </a:r>
          </a:p>
          <a:p>
            <a:pPr>
              <a:lnSpc>
                <a:spcPct val="80000"/>
              </a:lnSpc>
              <a:buSzPct val="90000"/>
            </a:pPr>
            <a:r>
              <a:rPr lang="en-US" altLang="zh-CN" sz="1600" noProof="1">
                <a:latin typeface="Consolas" panose="020B0609020204030204" pitchFamily="49" charset="0"/>
              </a:rPr>
              <a:t>    v.append(item)</a:t>
            </a:r>
          </a:p>
          <a:p>
            <a:pPr>
              <a:lnSpc>
                <a:spcPct val="80000"/>
              </a:lnSpc>
              <a:buSzPct val="90000"/>
            </a:pPr>
            <a:r>
              <a:rPr lang="en-US" altLang="zh-CN" sz="1600" noProof="1">
                <a:latin typeface="Consolas" panose="020B0609020204030204" pitchFamily="49" charset="0"/>
              </a:rPr>
              <a:t>&gt;&gt;&gt; a = [2]</a:t>
            </a:r>
          </a:p>
          <a:p>
            <a:pPr>
              <a:lnSpc>
                <a:spcPct val="80000"/>
              </a:lnSpc>
              <a:buSzPct val="90000"/>
            </a:pPr>
            <a:r>
              <a:rPr lang="en-US" altLang="zh-CN" sz="1600" noProof="1">
                <a:latin typeface="Consolas" panose="020B0609020204030204" pitchFamily="49" charset="0"/>
              </a:rPr>
              <a:t>&gt;&gt;&gt; modify(a,3)</a:t>
            </a:r>
          </a:p>
          <a:p>
            <a:pPr>
              <a:lnSpc>
                <a:spcPct val="80000"/>
              </a:lnSpc>
              <a:buSzPct val="90000"/>
            </a:pPr>
            <a:r>
              <a:rPr lang="en-US" altLang="zh-CN" sz="1600" noProof="1">
                <a:latin typeface="Consolas" panose="020B0609020204030204" pitchFamily="49" charset="0"/>
              </a:rPr>
              <a:t>&gt;&gt;&gt; a</a:t>
            </a:r>
          </a:p>
          <a:p>
            <a:pPr>
              <a:lnSpc>
                <a:spcPct val="80000"/>
              </a:lnSpc>
              <a:buSzPct val="90000"/>
            </a:pPr>
            <a:r>
              <a:rPr lang="en-US" altLang="zh-CN" sz="1600" noProof="1">
                <a:solidFill>
                  <a:srgbClr val="0000FF"/>
                </a:solidFill>
                <a:latin typeface="Consolas" panose="020B0609020204030204" pitchFamily="49" charset="0"/>
              </a:rPr>
              <a:t>[2, 3]</a:t>
            </a:r>
          </a:p>
        </p:txBody>
      </p:sp>
      <p:sp>
        <p:nvSpPr>
          <p:cNvPr id="12" name="内容占位符 2"/>
          <p:cNvSpPr txBox="1">
            <a:spLocks/>
          </p:cNvSpPr>
          <p:nvPr/>
        </p:nvSpPr>
        <p:spPr bwMode="auto">
          <a:xfrm>
            <a:off x="467544" y="3770193"/>
            <a:ext cx="8507288"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buClr>
                <a:srgbClr val="FF0000"/>
              </a:buClr>
              <a:buSzPct val="90000"/>
              <a:buFont typeface="Wingdings" panose="05000000000000000000" pitchFamily="2" charset="2"/>
              <a:buChar char="n"/>
            </a:pPr>
            <a:r>
              <a:rPr lang="zh-CN" altLang="en-US" sz="2000" noProof="1"/>
              <a:t>如果传递给函数的</a:t>
            </a:r>
            <a:r>
              <a:rPr lang="zh-CN" altLang="en-US" sz="2000" noProof="1">
                <a:solidFill>
                  <a:srgbClr val="FF0000"/>
                </a:solidFill>
              </a:rPr>
              <a:t>实参是可变序列</a:t>
            </a:r>
            <a:r>
              <a:rPr lang="zh-CN" altLang="en-US" sz="2000" noProof="1"/>
              <a:t>，并且在函数内部使用</a:t>
            </a:r>
            <a:r>
              <a:rPr lang="zh-CN" altLang="en-US" sz="2000" noProof="1">
                <a:solidFill>
                  <a:srgbClr val="FF0000"/>
                </a:solidFill>
              </a:rPr>
              <a:t>下标</a:t>
            </a:r>
            <a:r>
              <a:rPr lang="zh-CN" altLang="en-US" sz="2000" noProof="1"/>
              <a:t>或</a:t>
            </a:r>
            <a:r>
              <a:rPr lang="zh-CN" altLang="en-US" sz="2000" noProof="1">
                <a:solidFill>
                  <a:srgbClr val="FF0000"/>
                </a:solidFill>
              </a:rPr>
              <a:t>可变序列自身的方法</a:t>
            </a:r>
            <a:r>
              <a:rPr lang="zh-CN" altLang="en-US" sz="2000" noProof="1"/>
              <a:t>增加、删除元素或修改元素时，实参也得到相应的修改。</a:t>
            </a:r>
          </a:p>
          <a:p>
            <a:pPr>
              <a:lnSpc>
                <a:spcPct val="80000"/>
              </a:lnSpc>
              <a:buSzPct val="90000"/>
              <a:buFont typeface="Wingdings" panose="05000000000000000000" pitchFamily="2" charset="2"/>
              <a:buNone/>
            </a:pPr>
            <a:endParaRPr lang="en-US" altLang="zh-CN" sz="1350" noProof="1">
              <a:latin typeface="Consolas" panose="020B0609020204030204" pitchFamily="49" charset="0"/>
            </a:endParaRPr>
          </a:p>
        </p:txBody>
      </p:sp>
      <p:sp>
        <p:nvSpPr>
          <p:cNvPr id="5" name="矩形 4"/>
          <p:cNvSpPr/>
          <p:nvPr/>
        </p:nvSpPr>
        <p:spPr>
          <a:xfrm>
            <a:off x="970790" y="4607345"/>
            <a:ext cx="8424936" cy="1668149"/>
          </a:xfrm>
          <a:prstGeom prst="rect">
            <a:avLst/>
          </a:prstGeom>
        </p:spPr>
        <p:txBody>
          <a:bodyPr wrap="square">
            <a:spAutoFit/>
          </a:bodyPr>
          <a:lstStyle/>
          <a:p>
            <a:pPr>
              <a:lnSpc>
                <a:spcPct val="80000"/>
              </a:lnSpc>
              <a:buSzPct val="90000"/>
              <a:buFont typeface="Wingdings" panose="05000000000000000000" pitchFamily="2" charset="2"/>
              <a:buNone/>
            </a:pPr>
            <a:r>
              <a:rPr lang="en-US" altLang="zh-CN" sz="1600" noProof="1">
                <a:latin typeface="Consolas" panose="020B0609020204030204" pitchFamily="49" charset="0"/>
              </a:rPr>
              <a:t>&gt;&gt;&gt; def modify(d):         </a:t>
            </a:r>
            <a:endParaRPr lang="zh-CN" altLang="en-US" sz="1600" noProof="1">
              <a:solidFill>
                <a:srgbClr val="0000FF"/>
              </a:solidFill>
              <a:latin typeface="Consolas" panose="020B0609020204030204" pitchFamily="49" charset="0"/>
            </a:endParaRPr>
          </a:p>
          <a:p>
            <a:pPr>
              <a:lnSpc>
                <a:spcPct val="80000"/>
              </a:lnSpc>
              <a:buSzPct val="90000"/>
              <a:buFont typeface="Wingdings" panose="05000000000000000000" pitchFamily="2" charset="2"/>
              <a:buNone/>
            </a:pPr>
            <a:r>
              <a:rPr lang="en-US" altLang="zh-CN" sz="1600" noProof="1">
                <a:latin typeface="Consolas" panose="020B0609020204030204" pitchFamily="49" charset="0"/>
              </a:rPr>
              <a:t>    d['age'] = 38</a:t>
            </a:r>
          </a:p>
          <a:p>
            <a:pPr>
              <a:lnSpc>
                <a:spcPct val="80000"/>
              </a:lnSpc>
              <a:buSzPct val="90000"/>
              <a:buFont typeface="Wingdings" panose="05000000000000000000" pitchFamily="2" charset="2"/>
              <a:buNone/>
            </a:pPr>
            <a:r>
              <a:rPr lang="en-US" altLang="zh-CN" sz="1600" noProof="1">
                <a:latin typeface="Consolas" panose="020B0609020204030204" pitchFamily="49" charset="0"/>
              </a:rPr>
              <a:t>&gt;&gt;&gt; a = {'name':‘zhang', 'age':46, 'sex':'Male'}</a:t>
            </a:r>
          </a:p>
          <a:p>
            <a:pPr>
              <a:lnSpc>
                <a:spcPct val="80000"/>
              </a:lnSpc>
              <a:buSzPct val="90000"/>
              <a:buFont typeface="Wingdings" panose="05000000000000000000" pitchFamily="2" charset="2"/>
              <a:buNone/>
            </a:pPr>
            <a:r>
              <a:rPr lang="en-US" altLang="zh-CN" sz="1600" noProof="1">
                <a:latin typeface="Consolas" panose="020B0609020204030204" pitchFamily="49" charset="0"/>
              </a:rPr>
              <a:t>&gt;&gt;&gt; a</a:t>
            </a:r>
          </a:p>
          <a:p>
            <a:pPr>
              <a:lnSpc>
                <a:spcPct val="80000"/>
              </a:lnSpc>
              <a:buSzPct val="90000"/>
              <a:buFont typeface="Wingdings" panose="05000000000000000000" pitchFamily="2" charset="2"/>
              <a:buNone/>
            </a:pPr>
            <a:r>
              <a:rPr lang="en-US" altLang="zh-CN" sz="1600" noProof="1">
                <a:solidFill>
                  <a:srgbClr val="0000FF"/>
                </a:solidFill>
                <a:latin typeface="Consolas" panose="020B0609020204030204" pitchFamily="49" charset="0"/>
              </a:rPr>
              <a:t>{'age': 46, 'name': ‘zhang', 'sex': 'Male'}</a:t>
            </a:r>
          </a:p>
          <a:p>
            <a:pPr>
              <a:lnSpc>
                <a:spcPct val="80000"/>
              </a:lnSpc>
              <a:buSzPct val="90000"/>
              <a:buFont typeface="Wingdings" panose="05000000000000000000" pitchFamily="2" charset="2"/>
              <a:buNone/>
            </a:pPr>
            <a:r>
              <a:rPr lang="en-US" altLang="zh-CN" sz="1600" noProof="1">
                <a:latin typeface="Consolas" panose="020B0609020204030204" pitchFamily="49" charset="0"/>
              </a:rPr>
              <a:t>&gt;&gt;&gt; modify(a)</a:t>
            </a:r>
          </a:p>
          <a:p>
            <a:pPr>
              <a:lnSpc>
                <a:spcPct val="80000"/>
              </a:lnSpc>
              <a:buSzPct val="90000"/>
              <a:buFont typeface="Wingdings" panose="05000000000000000000" pitchFamily="2" charset="2"/>
              <a:buNone/>
            </a:pPr>
            <a:r>
              <a:rPr lang="en-US" altLang="zh-CN" sz="1600" noProof="1">
                <a:latin typeface="Consolas" panose="020B0609020204030204" pitchFamily="49" charset="0"/>
              </a:rPr>
              <a:t>&gt;&gt;&gt; a</a:t>
            </a:r>
          </a:p>
          <a:p>
            <a:pPr>
              <a:lnSpc>
                <a:spcPct val="80000"/>
              </a:lnSpc>
              <a:buSzPct val="90000"/>
              <a:buFont typeface="Wingdings" panose="05000000000000000000" pitchFamily="2" charset="2"/>
              <a:buNone/>
            </a:pPr>
            <a:r>
              <a:rPr lang="en-US" altLang="zh-CN" sz="1600" noProof="1">
                <a:solidFill>
                  <a:srgbClr val="0000FF"/>
                </a:solidFill>
                <a:latin typeface="Consolas" panose="020B0609020204030204" pitchFamily="49" charset="0"/>
              </a:rPr>
              <a:t>{'age': 38, 'name': ‘zhang', 'sex': 'Male'}</a:t>
            </a:r>
          </a:p>
        </p:txBody>
      </p:sp>
    </p:spTree>
    <p:extLst>
      <p:ext uri="{BB962C8B-B14F-4D97-AF65-F5344CB8AC3E}">
        <p14:creationId xmlns:p14="http://schemas.microsoft.com/office/powerpoint/2010/main" val="151555058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xEl>
                                              <p:pRg st="2" end="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xEl>
                                              <p:pRg st="3" end="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
                                            <p:txEl>
                                              <p:pRg st="5" end="5"/>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
                                            <p:txEl>
                                              <p:pRg st="6" end="6"/>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文本占位符 27650"/>
          <p:cNvSpPr>
            <a:spLocks noGrp="1"/>
          </p:cNvSpPr>
          <p:nvPr>
            <p:ph idx="1"/>
          </p:nvPr>
        </p:nvSpPr>
        <p:spPr>
          <a:xfrm>
            <a:off x="395536" y="961431"/>
            <a:ext cx="8496944" cy="4678451"/>
          </a:xfrm>
        </p:spPr>
        <p:txBody>
          <a:bodyPr vert="horz" wrap="square" lIns="68591" tIns="34295" rIns="68591" bIns="34295" numCol="1" anchor="t" anchorCtr="0" compatLnSpc="1">
            <a:prstTxWarp prst="textNoShape">
              <a:avLst/>
            </a:prstTxWarp>
          </a:bodyPr>
          <a:lstStyle/>
          <a:p>
            <a:pPr>
              <a:spcBef>
                <a:spcPts val="300"/>
              </a:spcBef>
              <a:buClr>
                <a:srgbClr val="FF0000"/>
              </a:buClr>
              <a:buSzPct val="90000"/>
              <a:buFont typeface="Wingdings" panose="05000000000000000000" pitchFamily="2" charset="2"/>
              <a:buChar char="n"/>
            </a:pPr>
            <a:r>
              <a:rPr lang="zh-CN" altLang="en-US" sz="2000" dirty="0"/>
              <a:t>在Python中，函数参数有很多种：可以为</a:t>
            </a:r>
            <a:r>
              <a:rPr lang="zh-CN" altLang="en-US" sz="2000" dirty="0">
                <a:solidFill>
                  <a:srgbClr val="FF0000"/>
                </a:solidFill>
              </a:rPr>
              <a:t>普通参数</a:t>
            </a:r>
            <a:r>
              <a:rPr lang="zh-CN" altLang="en-US" sz="2000" dirty="0"/>
              <a:t>、</a:t>
            </a:r>
            <a:r>
              <a:rPr lang="zh-CN" altLang="en-US" sz="2000" dirty="0">
                <a:solidFill>
                  <a:srgbClr val="FF0000"/>
                </a:solidFill>
              </a:rPr>
              <a:t>默认值参数</a:t>
            </a:r>
            <a:r>
              <a:rPr lang="zh-CN" altLang="en-US" sz="2000" dirty="0"/>
              <a:t>、</a:t>
            </a:r>
            <a:r>
              <a:rPr lang="zh-CN" altLang="en-US" sz="2000" dirty="0">
                <a:solidFill>
                  <a:srgbClr val="FF0000"/>
                </a:solidFill>
              </a:rPr>
              <a:t>关键参数</a:t>
            </a:r>
            <a:r>
              <a:rPr lang="zh-CN" altLang="en-US" sz="2000" dirty="0"/>
              <a:t>、</a:t>
            </a:r>
            <a:r>
              <a:rPr lang="zh-CN" altLang="en-US" sz="2000" dirty="0">
                <a:solidFill>
                  <a:srgbClr val="FF0000"/>
                </a:solidFill>
              </a:rPr>
              <a:t>可变长度参数</a:t>
            </a:r>
            <a:r>
              <a:rPr lang="zh-CN" altLang="en-US" sz="2000" dirty="0"/>
              <a:t>等等。</a:t>
            </a:r>
          </a:p>
          <a:p>
            <a:pPr>
              <a:spcBef>
                <a:spcPts val="600"/>
              </a:spcBef>
              <a:buClr>
                <a:srgbClr val="FF0000"/>
              </a:buClr>
              <a:buSzPct val="90000"/>
              <a:buFont typeface="Wingdings" panose="05000000000000000000" pitchFamily="2" charset="2"/>
              <a:buChar char="n"/>
            </a:pPr>
            <a:r>
              <a:rPr lang="en-US" altLang="zh-CN" sz="2000" dirty="0"/>
              <a:t>Python</a:t>
            </a:r>
            <a:r>
              <a:rPr lang="zh-CN" altLang="en-US" sz="2000" dirty="0"/>
              <a:t>在</a:t>
            </a:r>
            <a:r>
              <a:rPr lang="zh-CN" altLang="en-US" sz="2000" dirty="0">
                <a:solidFill>
                  <a:srgbClr val="FF0000"/>
                </a:solidFill>
              </a:rPr>
              <a:t>定义函数时不需要指定形参的类型</a:t>
            </a:r>
            <a:r>
              <a:rPr lang="zh-CN" altLang="en-US" sz="2000" dirty="0"/>
              <a:t>，完全由调用者传递的实参类型以及</a:t>
            </a:r>
            <a:r>
              <a:rPr lang="en-US" altLang="zh-CN" sz="2000" dirty="0"/>
              <a:t>Python</a:t>
            </a:r>
            <a:r>
              <a:rPr lang="zh-CN" altLang="en-US" sz="2000" dirty="0"/>
              <a:t>解释器的理解和推断来决定，类似于重载和泛型。</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15</a:t>
            </a:fld>
            <a:endParaRPr lang="zh-CN" altLang="en-US"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11" name="Content Placeholder 2"/>
          <p:cNvSpPr txBox="1">
            <a:spLocks/>
          </p:cNvSpPr>
          <p:nvPr/>
        </p:nvSpPr>
        <p:spPr bwMode="auto">
          <a:xfrm>
            <a:off x="395536" y="2492896"/>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300"/>
              </a:spcBef>
              <a:buClr>
                <a:srgbClr val="FF0000"/>
              </a:buClr>
              <a:buFont typeface="Wingdings" panose="05000000000000000000" pitchFamily="2" charset="2"/>
              <a:buChar char="n"/>
              <a:defRPr/>
            </a:pPr>
            <a:r>
              <a:rPr lang="en-US" sz="2000" noProof="1"/>
              <a:t>Python</a:t>
            </a:r>
            <a:r>
              <a:rPr lang="zh-CN" altLang="en-US" sz="2000" noProof="1"/>
              <a:t>也允许对函数参数和返回值类型进行标注，但</a:t>
            </a:r>
            <a:r>
              <a:rPr lang="zh-CN" altLang="en-US" sz="2000" noProof="1">
                <a:solidFill>
                  <a:srgbClr val="FF0000"/>
                </a:solidFill>
              </a:rPr>
              <a:t>实际上并不起任何作用</a:t>
            </a:r>
            <a:r>
              <a:rPr lang="zh-CN" altLang="en-US" sz="2000" noProof="1"/>
              <a:t>，只是看起来方便。</a:t>
            </a:r>
          </a:p>
        </p:txBody>
      </p:sp>
      <p:sp>
        <p:nvSpPr>
          <p:cNvPr id="4" name="矩形 3"/>
          <p:cNvSpPr/>
          <p:nvPr/>
        </p:nvSpPr>
        <p:spPr>
          <a:xfrm>
            <a:off x="977952" y="3335705"/>
            <a:ext cx="8712968" cy="3046988"/>
          </a:xfrm>
          <a:prstGeom prst="rect">
            <a:avLst/>
          </a:prstGeom>
        </p:spPr>
        <p:txBody>
          <a:bodyPr wrap="square">
            <a:spAutoFit/>
          </a:bodyPr>
          <a:lstStyle/>
          <a:p>
            <a:pPr marL="0" indent="0">
              <a:spcBef>
                <a:spcPts val="0"/>
              </a:spcBef>
              <a:buFont typeface="Arial" charset="0"/>
              <a:buNone/>
              <a:defRPr/>
            </a:pPr>
            <a:r>
              <a:rPr lang="zh-CN" altLang="en-US" sz="1600" noProof="1">
                <a:latin typeface="Consolas" panose="020B0609020204030204" pitchFamily="49" charset="0"/>
              </a:rPr>
              <a:t>&gt;&gt;&gt; def test(x</a:t>
            </a:r>
            <a:r>
              <a:rPr lang="zh-CN" altLang="en-US" sz="1600" noProof="1">
                <a:solidFill>
                  <a:srgbClr val="0000FF"/>
                </a:solidFill>
                <a:latin typeface="Consolas" panose="020B0609020204030204" pitchFamily="49" charset="0"/>
              </a:rPr>
              <a:t>:int</a:t>
            </a:r>
            <a:r>
              <a:rPr lang="zh-CN" altLang="en-US" sz="1600" noProof="1">
                <a:latin typeface="Consolas" panose="020B0609020204030204" pitchFamily="49" charset="0"/>
              </a:rPr>
              <a:t>, y</a:t>
            </a:r>
            <a:r>
              <a:rPr lang="zh-CN" altLang="en-US" sz="1600" noProof="1">
                <a:solidFill>
                  <a:srgbClr val="0000FF"/>
                </a:solidFill>
                <a:latin typeface="Consolas" panose="020B0609020204030204" pitchFamily="49" charset="0"/>
              </a:rPr>
              <a:t>:int</a:t>
            </a:r>
            <a:r>
              <a:rPr lang="zh-CN" altLang="en-US" sz="1600" noProof="1">
                <a:latin typeface="Consolas" panose="020B0609020204030204" pitchFamily="49" charset="0"/>
              </a:rPr>
              <a:t>) </a:t>
            </a:r>
            <a:r>
              <a:rPr lang="zh-CN" altLang="en-US" sz="1600" noProof="1">
                <a:solidFill>
                  <a:srgbClr val="FF0000"/>
                </a:solidFill>
                <a:latin typeface="Consolas" panose="020B0609020204030204" pitchFamily="49" charset="0"/>
              </a:rPr>
              <a:t>-&gt; int:</a:t>
            </a:r>
          </a:p>
          <a:p>
            <a:pPr marL="0" indent="0">
              <a:spcBef>
                <a:spcPts val="0"/>
              </a:spcBef>
              <a:buFont typeface="Arial" charset="0"/>
              <a:buNone/>
              <a:defRPr/>
            </a:pPr>
            <a:r>
              <a:rPr lang="zh-CN" altLang="en-US" sz="1600" noProof="1">
                <a:latin typeface="Consolas" panose="020B0609020204030204" pitchFamily="49" charset="0"/>
              </a:rPr>
              <a:t>    '''x and y must be integers, return an integer x+y'''</a:t>
            </a:r>
          </a:p>
          <a:p>
            <a:pPr marL="0" indent="0">
              <a:spcBef>
                <a:spcPts val="0"/>
              </a:spcBef>
              <a:buFont typeface="Arial" charset="0"/>
              <a:buNone/>
              <a:defRPr/>
            </a:pPr>
            <a:r>
              <a:rPr lang="zh-CN" altLang="en-US" sz="1600" noProof="1">
                <a:latin typeface="Consolas" panose="020B0609020204030204" pitchFamily="49" charset="0"/>
              </a:rPr>
              <a:t>    assert isinstance(x, int), 'x must be integer'</a:t>
            </a:r>
          </a:p>
          <a:p>
            <a:pPr marL="0" indent="0">
              <a:spcBef>
                <a:spcPts val="0"/>
              </a:spcBef>
              <a:buFont typeface="Arial" charset="0"/>
              <a:buNone/>
              <a:defRPr/>
            </a:pPr>
            <a:r>
              <a:rPr lang="zh-CN" altLang="en-US" sz="1600" noProof="1">
                <a:latin typeface="Consolas" panose="020B0609020204030204" pitchFamily="49" charset="0"/>
              </a:rPr>
              <a:t>    assert isinstance(y, int), 'y must be integer'</a:t>
            </a:r>
          </a:p>
          <a:p>
            <a:pPr marL="0" indent="0">
              <a:spcBef>
                <a:spcPts val="0"/>
              </a:spcBef>
              <a:buFont typeface="Arial" charset="0"/>
              <a:buNone/>
              <a:defRPr/>
            </a:pPr>
            <a:r>
              <a:rPr lang="zh-CN" altLang="en-US" sz="1600" noProof="1">
                <a:latin typeface="Consolas" panose="020B0609020204030204" pitchFamily="49" charset="0"/>
              </a:rPr>
              <a:t>    z = x+y</a:t>
            </a:r>
          </a:p>
          <a:p>
            <a:pPr marL="0" indent="0">
              <a:spcBef>
                <a:spcPts val="0"/>
              </a:spcBef>
              <a:buFont typeface="Arial" charset="0"/>
              <a:buNone/>
              <a:defRPr/>
            </a:pPr>
            <a:r>
              <a:rPr lang="zh-CN" altLang="en-US" sz="1600" noProof="1">
                <a:latin typeface="Consolas" panose="020B0609020204030204" pitchFamily="49" charset="0"/>
              </a:rPr>
              <a:t>    assert isinstance(z, int), 'must return an integer'</a:t>
            </a:r>
          </a:p>
          <a:p>
            <a:pPr marL="0" indent="0">
              <a:spcBef>
                <a:spcPts val="0"/>
              </a:spcBef>
              <a:buFont typeface="Arial" charset="0"/>
              <a:buNone/>
              <a:defRPr/>
            </a:pPr>
            <a:r>
              <a:rPr lang="zh-CN" altLang="en-US" sz="1600" noProof="1">
                <a:latin typeface="Consolas" panose="020B0609020204030204" pitchFamily="49" charset="0"/>
              </a:rPr>
              <a:t>    return z</a:t>
            </a:r>
          </a:p>
          <a:p>
            <a:pPr marL="0" indent="0">
              <a:spcBef>
                <a:spcPts val="0"/>
              </a:spcBef>
              <a:buFont typeface="Arial" charset="0"/>
              <a:buNone/>
              <a:defRPr/>
            </a:pPr>
            <a:endParaRPr lang="zh-CN" altLang="en-US" sz="1600" noProof="1">
              <a:latin typeface="Consolas" panose="020B0609020204030204" pitchFamily="49" charset="0"/>
            </a:endParaRPr>
          </a:p>
          <a:p>
            <a:pPr marL="0" indent="0">
              <a:spcBef>
                <a:spcPts val="0"/>
              </a:spcBef>
              <a:buFont typeface="Arial" charset="0"/>
              <a:buNone/>
              <a:defRPr/>
            </a:pPr>
            <a:r>
              <a:rPr lang="zh-CN" altLang="en-US" sz="1600" noProof="1">
                <a:latin typeface="Consolas" panose="020B0609020204030204" pitchFamily="49" charset="0"/>
              </a:rPr>
              <a:t>&gt;&gt;&gt; test(1, 2)</a:t>
            </a:r>
          </a:p>
          <a:p>
            <a:pPr marL="0" indent="0">
              <a:spcBef>
                <a:spcPts val="0"/>
              </a:spcBef>
              <a:buFont typeface="Arial" charset="0"/>
              <a:buNone/>
              <a:defRPr/>
            </a:pPr>
            <a:r>
              <a:rPr lang="zh-CN" altLang="en-US" sz="1600" noProof="1">
                <a:solidFill>
                  <a:srgbClr val="0000FF"/>
                </a:solidFill>
                <a:latin typeface="Consolas" panose="020B0609020204030204" pitchFamily="49" charset="0"/>
              </a:rPr>
              <a:t>3</a:t>
            </a:r>
          </a:p>
          <a:p>
            <a:pPr marL="0" indent="0">
              <a:spcBef>
                <a:spcPts val="0"/>
              </a:spcBef>
              <a:buFont typeface="Arial" charset="0"/>
              <a:buNone/>
              <a:defRPr/>
            </a:pPr>
            <a:r>
              <a:rPr lang="zh-CN" altLang="en-US" sz="1600" noProof="1">
                <a:latin typeface="Consolas" panose="020B0609020204030204" pitchFamily="49" charset="0"/>
              </a:rPr>
              <a:t>&gt;&gt;&gt; test(2, 3.0)                    </a:t>
            </a:r>
            <a:r>
              <a:rPr lang="zh-CN" altLang="en-US" sz="1600" noProof="1">
                <a:solidFill>
                  <a:srgbClr val="0000FF"/>
                </a:solidFill>
                <a:latin typeface="Consolas" panose="020B0609020204030204" pitchFamily="49" charset="0"/>
              </a:rPr>
              <a:t>#参数类型不符合要求，抛出异常</a:t>
            </a:r>
          </a:p>
          <a:p>
            <a:pPr marL="0" indent="0">
              <a:spcBef>
                <a:spcPts val="0"/>
              </a:spcBef>
              <a:buFont typeface="Arial" charset="0"/>
              <a:buNone/>
              <a:defRPr/>
            </a:pPr>
            <a:r>
              <a:rPr lang="zh-CN" altLang="en-US" sz="1600" noProof="1">
                <a:solidFill>
                  <a:srgbClr val="FF0000"/>
                </a:solidFill>
                <a:latin typeface="Consolas" panose="020B0609020204030204" pitchFamily="49" charset="0"/>
              </a:rPr>
              <a:t>AssertionError: y must be integer</a:t>
            </a:r>
          </a:p>
        </p:txBody>
      </p:sp>
    </p:spTree>
    <p:extLst>
      <p:ext uri="{BB962C8B-B14F-4D97-AF65-F5344CB8AC3E}">
        <p14:creationId xmlns:p14="http://schemas.microsoft.com/office/powerpoint/2010/main" val="308691754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61431"/>
            <a:ext cx="8229600" cy="4678451"/>
          </a:xfrm>
        </p:spPr>
        <p:txBody>
          <a:bodyPr vert="horz" wrap="square" lIns="68591" tIns="34295" rIns="68591" bIns="34295" numCol="1" anchor="t" anchorCtr="0" compatLnSpc="1">
            <a:prstTxWarp prst="textNoShape">
              <a:avLst/>
            </a:prstTxWarp>
          </a:bodyPr>
          <a:lstStyle/>
          <a:p>
            <a:pPr>
              <a:spcBef>
                <a:spcPts val="600"/>
              </a:spcBef>
              <a:buClr>
                <a:srgbClr val="FF0000"/>
              </a:buClr>
              <a:buFont typeface="Wingdings" panose="05000000000000000000" pitchFamily="2" charset="2"/>
              <a:buChar char="n"/>
              <a:defRPr/>
            </a:pPr>
            <a:r>
              <a:rPr lang="en-US" sz="2000" b="1" noProof="1">
                <a:solidFill>
                  <a:srgbClr val="0000FF"/>
                </a:solidFill>
                <a:latin typeface="+mn-lt"/>
                <a:ea typeface="+mn-ea"/>
              </a:rPr>
              <a:t>位置参数</a:t>
            </a:r>
            <a:r>
              <a:rPr lang="en-US" sz="2000" b="1" noProof="1">
                <a:latin typeface="+mn-lt"/>
                <a:ea typeface="+mn-ea"/>
              </a:rPr>
              <a:t>（positional arguments）是比较常用的形式，调用函数时</a:t>
            </a:r>
            <a:r>
              <a:rPr lang="en-US" sz="2000" b="1" noProof="1">
                <a:solidFill>
                  <a:srgbClr val="FF0000"/>
                </a:solidFill>
                <a:latin typeface="+mn-lt"/>
                <a:ea typeface="+mn-ea"/>
              </a:rPr>
              <a:t>实参和形参的顺序必须严格一致</a:t>
            </a:r>
            <a:r>
              <a:rPr lang="en-US" sz="2000" b="1" noProof="1">
                <a:latin typeface="+mn-lt"/>
                <a:ea typeface="+mn-ea"/>
              </a:rPr>
              <a:t>，并且</a:t>
            </a:r>
            <a:r>
              <a:rPr lang="en-US" sz="2000" b="1" noProof="1">
                <a:solidFill>
                  <a:srgbClr val="FF0000"/>
                </a:solidFill>
                <a:latin typeface="+mn-lt"/>
                <a:ea typeface="+mn-ea"/>
              </a:rPr>
              <a:t>实参和形参的数量必须相同</a:t>
            </a:r>
            <a:r>
              <a:rPr lang="en-US" sz="2000" b="1" noProof="1">
                <a:latin typeface="+mn-lt"/>
                <a:ea typeface="+mn-ea"/>
              </a:rPr>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16</a:t>
            </a:fld>
            <a:endParaRPr lang="zh-CN" altLang="en-US"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5" name="矩形 4"/>
          <p:cNvSpPr/>
          <p:nvPr/>
        </p:nvSpPr>
        <p:spPr>
          <a:xfrm>
            <a:off x="1406032" y="2204864"/>
            <a:ext cx="7704856" cy="2308324"/>
          </a:xfrm>
          <a:prstGeom prst="rect">
            <a:avLst/>
          </a:prstGeom>
        </p:spPr>
        <p:txBody>
          <a:bodyPr wrap="square">
            <a:spAutoFit/>
          </a:bodyPr>
          <a:lstStyle/>
          <a:p>
            <a:pPr marL="0" indent="0">
              <a:spcBef>
                <a:spcPts val="0"/>
              </a:spcBef>
              <a:buNone/>
              <a:defRPr/>
            </a:pPr>
            <a:r>
              <a:rPr lang="en-US" altLang="zh-CN" sz="1600" noProof="1">
                <a:latin typeface="Consolas" panose="020B0609020204030204" pitchFamily="49" charset="0"/>
              </a:rPr>
              <a:t>&gt;&gt;&gt; def demo(a, b, c):</a:t>
            </a:r>
          </a:p>
          <a:p>
            <a:pPr marL="0" indent="0">
              <a:spcBef>
                <a:spcPts val="0"/>
              </a:spcBef>
              <a:buNone/>
              <a:defRPr/>
            </a:pPr>
            <a:r>
              <a:rPr lang="en-US" altLang="zh-CN" sz="1600" noProof="1">
                <a:latin typeface="Consolas" panose="020B0609020204030204" pitchFamily="49" charset="0"/>
              </a:rPr>
              <a:t>    print(a, b, c)</a:t>
            </a:r>
          </a:p>
          <a:p>
            <a:pPr marL="0" indent="0">
              <a:spcBef>
                <a:spcPts val="0"/>
              </a:spcBef>
              <a:buNone/>
              <a:defRPr/>
            </a:pPr>
            <a:endParaRPr lang="en-US" altLang="zh-CN" sz="1600" noProof="1">
              <a:latin typeface="Consolas" panose="020B0609020204030204" pitchFamily="49" charset="0"/>
            </a:endParaRPr>
          </a:p>
          <a:p>
            <a:pPr marL="0" indent="0">
              <a:spcBef>
                <a:spcPts val="0"/>
              </a:spcBef>
              <a:buNone/>
              <a:defRPr/>
            </a:pPr>
            <a:r>
              <a:rPr lang="en-US" altLang="zh-CN" sz="1600" noProof="1">
                <a:latin typeface="Consolas" panose="020B0609020204030204" pitchFamily="49" charset="0"/>
              </a:rPr>
              <a:t>&gt;&gt;&gt; demo(3, 4, 5)</a:t>
            </a:r>
            <a:endParaRPr lang="zh-CN" altLang="en-US" sz="1600" noProof="1">
              <a:solidFill>
                <a:srgbClr val="0000FF"/>
              </a:solidFill>
              <a:latin typeface="Consolas" panose="020B0609020204030204" pitchFamily="49" charset="0"/>
              <a:sym typeface="+mn-ea"/>
            </a:endParaRPr>
          </a:p>
          <a:p>
            <a:pPr marL="0" indent="0">
              <a:spcBef>
                <a:spcPts val="0"/>
              </a:spcBef>
              <a:buNone/>
              <a:defRPr/>
            </a:pPr>
            <a:r>
              <a:rPr lang="en-US" altLang="zh-CN" sz="1600" noProof="1">
                <a:solidFill>
                  <a:srgbClr val="0000FF"/>
                </a:solidFill>
                <a:latin typeface="Consolas" panose="020B0609020204030204" pitchFamily="49" charset="0"/>
              </a:rPr>
              <a:t>3 4 5</a:t>
            </a:r>
          </a:p>
          <a:p>
            <a:pPr marL="0" indent="0">
              <a:spcBef>
                <a:spcPts val="0"/>
              </a:spcBef>
              <a:buNone/>
              <a:defRPr/>
            </a:pPr>
            <a:r>
              <a:rPr lang="en-US" altLang="zh-CN" sz="1600" noProof="1">
                <a:latin typeface="Consolas" panose="020B0609020204030204" pitchFamily="49" charset="0"/>
              </a:rPr>
              <a:t>&gt;&gt;&gt; demo(3, 5, 4)</a:t>
            </a:r>
          </a:p>
          <a:p>
            <a:pPr marL="0" indent="0">
              <a:spcBef>
                <a:spcPts val="0"/>
              </a:spcBef>
              <a:buNone/>
              <a:defRPr/>
            </a:pPr>
            <a:r>
              <a:rPr lang="en-US" altLang="zh-CN" sz="1600" noProof="1">
                <a:solidFill>
                  <a:srgbClr val="0000FF"/>
                </a:solidFill>
                <a:latin typeface="Consolas" panose="020B0609020204030204" pitchFamily="49" charset="0"/>
              </a:rPr>
              <a:t>3 5 4</a:t>
            </a:r>
          </a:p>
          <a:p>
            <a:pPr marL="0" indent="0">
              <a:spcBef>
                <a:spcPts val="0"/>
              </a:spcBef>
              <a:buNone/>
              <a:defRPr/>
            </a:pPr>
            <a:r>
              <a:rPr lang="en-US" altLang="zh-CN" sz="1600" noProof="1">
                <a:latin typeface="Consolas" panose="020B0609020204030204" pitchFamily="49" charset="0"/>
              </a:rPr>
              <a:t>&gt;&gt;&gt; demo(1, 2, 3, 4) </a:t>
            </a:r>
          </a:p>
          <a:p>
            <a:pPr marL="0" indent="0">
              <a:spcBef>
                <a:spcPts val="0"/>
              </a:spcBef>
              <a:buNone/>
              <a:defRPr/>
            </a:pPr>
            <a:r>
              <a:rPr lang="en-US" altLang="zh-CN" sz="1600" noProof="1">
                <a:solidFill>
                  <a:srgbClr val="FF0000"/>
                </a:solidFill>
                <a:latin typeface="Consolas" panose="020B0609020204030204" pitchFamily="49" charset="0"/>
              </a:rPr>
              <a:t>TypeError: demo() takes 3 positional arguments but 4 were given</a:t>
            </a:r>
          </a:p>
        </p:txBody>
      </p:sp>
    </p:spTree>
    <p:extLst>
      <p:ext uri="{BB962C8B-B14F-4D97-AF65-F5344CB8AC3E}">
        <p14:creationId xmlns:p14="http://schemas.microsoft.com/office/powerpoint/2010/main" val="82033126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17</a:t>
            </a:fld>
            <a:endParaRPr lang="zh-CN" altLang="en-US" dirty="0"/>
          </a:p>
        </p:txBody>
      </p:sp>
      <p:sp>
        <p:nvSpPr>
          <p:cNvPr id="5" name="文本框 1"/>
          <p:cNvSpPr txBox="1">
            <a:spLocks noChangeArrowheads="1"/>
          </p:cNvSpPr>
          <p:nvPr/>
        </p:nvSpPr>
        <p:spPr bwMode="auto">
          <a:xfrm>
            <a:off x="1547664" y="842516"/>
            <a:ext cx="7265391" cy="2154436"/>
          </a:xfrm>
          <a:prstGeom prst="rect">
            <a:avLst/>
          </a:prstGeom>
          <a:noFill/>
          <a:ln w="9525">
            <a:noFill/>
            <a:miter lim="800000"/>
            <a:headEnd/>
            <a:tailEnd/>
          </a:ln>
        </p:spPr>
        <p:txBody>
          <a:bodyPr wrap="square">
            <a:spAutoFit/>
          </a:bodyPr>
          <a:lstStyle/>
          <a:p>
            <a:pPr marL="342900" indent="-342900">
              <a:lnSpc>
                <a:spcPct val="150000"/>
              </a:lnSpc>
              <a:buClr>
                <a:srgbClr val="FF0000"/>
              </a:buClr>
              <a:buFont typeface="Wingdings" panose="05000000000000000000" pitchFamily="2" charset="2"/>
              <a:buChar char="ü"/>
            </a:pPr>
            <a:r>
              <a:rPr lang="zh-CN" altLang="zh-CN" sz="2400" b="1" dirty="0">
                <a:solidFill>
                  <a:srgbClr val="0000FF"/>
                </a:solidFill>
                <a:latin typeface="仿宋" panose="02010609060101010101" pitchFamily="49" charset="-122"/>
                <a:ea typeface="仿宋" panose="02010609060101010101" pitchFamily="49" charset="-122"/>
              </a:rPr>
              <a:t>天天向上</a:t>
            </a:r>
            <a:r>
              <a:rPr lang="zh-CN" altLang="en-US" sz="2400" b="1" dirty="0">
                <a:solidFill>
                  <a:srgbClr val="0000FF"/>
                </a:solidFill>
                <a:latin typeface="仿宋" panose="02010609060101010101" pitchFamily="49" charset="-122"/>
                <a:ea typeface="仿宋" panose="02010609060101010101" pitchFamily="49" charset="-122"/>
              </a:rPr>
              <a:t>实例</a:t>
            </a:r>
          </a:p>
          <a:p>
            <a:pPr lvl="1">
              <a:buClr>
                <a:srgbClr val="FF0000"/>
              </a:buClr>
              <a:buFont typeface="Wingdings" pitchFamily="2" charset="2"/>
              <a:buChar char="n"/>
            </a:pPr>
            <a:r>
              <a:rPr lang="en-US" altLang="zh-CN" sz="2000" b="1" dirty="0">
                <a:latin typeface="Times New Roman" panose="02020603050405020304" pitchFamily="18" charset="0"/>
                <a:ea typeface="仿宋" panose="02010609060101010101" pitchFamily="49" charset="-122"/>
              </a:rPr>
              <a:t> </a:t>
            </a:r>
            <a:r>
              <a:rPr lang="zh-CN" altLang="zh-CN" sz="2000" b="1" dirty="0">
                <a:latin typeface="Times New Roman" panose="02020603050405020304" pitchFamily="18" charset="0"/>
                <a:ea typeface="仿宋" panose="02010609060101010101" pitchFamily="49" charset="-122"/>
              </a:rPr>
              <a:t>一年</a:t>
            </a:r>
            <a:r>
              <a:rPr lang="en-US" altLang="zh-CN" sz="2000" b="1" dirty="0">
                <a:latin typeface="Times New Roman" panose="02020603050405020304" pitchFamily="18" charset="0"/>
                <a:ea typeface="仿宋" panose="02010609060101010101" pitchFamily="49" charset="-122"/>
              </a:rPr>
              <a:t>365</a:t>
            </a:r>
            <a:r>
              <a:rPr lang="zh-CN" altLang="zh-CN" sz="2000" b="1" dirty="0">
                <a:latin typeface="Times New Roman" panose="02020603050405020304" pitchFamily="18" charset="0"/>
                <a:ea typeface="仿宋" panose="02010609060101010101" pitchFamily="49" charset="-122"/>
              </a:rPr>
              <a:t>天，以第</a:t>
            </a:r>
            <a:r>
              <a:rPr lang="en-US" altLang="zh-CN" sz="2000" b="1" dirty="0">
                <a:latin typeface="Times New Roman" panose="02020603050405020304" pitchFamily="18" charset="0"/>
                <a:ea typeface="仿宋" panose="02010609060101010101" pitchFamily="49" charset="-122"/>
              </a:rPr>
              <a:t>1</a:t>
            </a:r>
            <a:r>
              <a:rPr lang="zh-CN" altLang="zh-CN" sz="2000" b="1" dirty="0">
                <a:latin typeface="Times New Roman" panose="02020603050405020304" pitchFamily="18" charset="0"/>
                <a:ea typeface="仿宋" panose="02010609060101010101" pitchFamily="49" charset="-122"/>
              </a:rPr>
              <a:t>天的能力值为基数，记为</a:t>
            </a:r>
            <a:r>
              <a:rPr lang="en-US" altLang="zh-CN" sz="2000" b="1" dirty="0">
                <a:latin typeface="Times New Roman" panose="02020603050405020304" pitchFamily="18" charset="0"/>
                <a:ea typeface="仿宋" panose="02010609060101010101" pitchFamily="49" charset="-122"/>
              </a:rPr>
              <a:t>1.0</a:t>
            </a:r>
            <a:r>
              <a:rPr lang="zh-CN" altLang="zh-CN" sz="2000" b="1" dirty="0">
                <a:latin typeface="Times New Roman" panose="02020603050405020304" pitchFamily="18" charset="0"/>
                <a:ea typeface="仿宋" panose="02010609060101010101" pitchFamily="49" charset="-122"/>
              </a:rPr>
              <a:t>，当好好学习时能力值相比前一天提高</a:t>
            </a:r>
            <a:r>
              <a:rPr lang="en-US" altLang="zh-CN" sz="2000" b="1" dirty="0">
                <a:solidFill>
                  <a:srgbClr val="FF0000"/>
                </a:solidFill>
                <a:latin typeface="Times New Roman" panose="02020603050405020304" pitchFamily="18" charset="0"/>
                <a:ea typeface="仿宋" panose="02010609060101010101" pitchFamily="49" charset="-122"/>
              </a:rPr>
              <a:t>r</a:t>
            </a:r>
            <a:r>
              <a:rPr lang="zh-CN" altLang="zh-CN" sz="2000" b="1" dirty="0">
                <a:latin typeface="Times New Roman" panose="02020603050405020304" pitchFamily="18" charset="0"/>
                <a:ea typeface="仿宋" panose="02010609060101010101" pitchFamily="49" charset="-122"/>
              </a:rPr>
              <a:t>‰，当没有学习时由于遗忘等原因能力值相比前一天下降</a:t>
            </a:r>
            <a:r>
              <a:rPr lang="en-US" altLang="zh-CN" sz="2000" b="1" dirty="0">
                <a:solidFill>
                  <a:srgbClr val="FF0000"/>
                </a:solidFill>
                <a:latin typeface="Times New Roman" panose="02020603050405020304" pitchFamily="18" charset="0"/>
                <a:ea typeface="仿宋" panose="02010609060101010101" pitchFamily="49" charset="-122"/>
              </a:rPr>
              <a:t>r</a:t>
            </a:r>
            <a:r>
              <a:rPr lang="zh-CN" altLang="zh-CN" sz="2000" b="1" dirty="0">
                <a:latin typeface="Times New Roman" panose="02020603050405020304" pitchFamily="18" charset="0"/>
                <a:ea typeface="仿宋" panose="02010609060101010101" pitchFamily="49" charset="-122"/>
              </a:rPr>
              <a:t>‰。每天努力和每天放任，一年下来的能力值相差多少呢？</a:t>
            </a:r>
          </a:p>
          <a:p>
            <a:endParaRPr lang="zh-CN" altLang="en-US" dirty="0"/>
          </a:p>
        </p:txBody>
      </p:sp>
      <p:sp>
        <p:nvSpPr>
          <p:cNvPr id="12" name="矩形 11"/>
          <p:cNvSpPr/>
          <p:nvPr/>
        </p:nvSpPr>
        <p:spPr>
          <a:xfrm>
            <a:off x="1568962" y="4419963"/>
            <a:ext cx="5194051" cy="1277273"/>
          </a:xfrm>
          <a:prstGeom prst="rect">
            <a:avLst/>
          </a:prstGeom>
        </p:spPr>
        <p:txBody>
          <a:bodyPr wrap="none">
            <a:spAutoFit/>
          </a:bodyPr>
          <a:lstStyle/>
          <a:p>
            <a:pPr>
              <a:spcBef>
                <a:spcPts val="300"/>
              </a:spcBef>
            </a:pPr>
            <a:r>
              <a:rPr lang="en-US" altLang="zh-CN" b="1" dirty="0">
                <a:latin typeface="仿宋" panose="02010609060101010101" pitchFamily="49" charset="-122"/>
                <a:ea typeface="仿宋" panose="02010609060101010101" pitchFamily="49" charset="-122"/>
              </a:rPr>
              <a:t>r = 0.001, </a:t>
            </a:r>
            <a:r>
              <a:rPr lang="zh-CN" altLang="zh-CN" b="1" dirty="0">
                <a:latin typeface="仿宋" panose="02010609060101010101" pitchFamily="49" charset="-122"/>
                <a:ea typeface="仿宋" panose="02010609060101010101" pitchFamily="49" charset="-122"/>
              </a:rPr>
              <a:t>每天努力</a:t>
            </a:r>
            <a:r>
              <a:rPr lang="en-US" altLang="zh-CN" b="1" dirty="0">
                <a:latin typeface="仿宋" panose="02010609060101010101" pitchFamily="49" charset="-122"/>
                <a:ea typeface="仿宋" panose="02010609060101010101" pitchFamily="49" charset="-122"/>
              </a:rPr>
              <a:t>1</a:t>
            </a:r>
            <a:r>
              <a:rPr lang="zh-CN" altLang="zh-CN" b="1" dirty="0">
                <a:latin typeface="仿宋" panose="02010609060101010101" pitchFamily="49" charset="-122"/>
                <a:ea typeface="仿宋" panose="02010609060101010101" pitchFamily="49" charset="-122"/>
              </a:rPr>
              <a:t>‰，一年下来将提高</a:t>
            </a:r>
            <a:r>
              <a:rPr lang="en-US" altLang="zh-CN" b="1" dirty="0">
                <a:latin typeface="仿宋" panose="02010609060101010101" pitchFamily="49" charset="-122"/>
                <a:ea typeface="仿宋" panose="02010609060101010101" pitchFamily="49" charset="-122"/>
              </a:rPr>
              <a:t>44%</a:t>
            </a:r>
            <a:r>
              <a:rPr lang="zh-CN" altLang="en-US" b="1" dirty="0">
                <a:latin typeface="仿宋" panose="02010609060101010101" pitchFamily="49" charset="-122"/>
                <a:ea typeface="仿宋" panose="02010609060101010101" pitchFamily="49" charset="-122"/>
              </a:rPr>
              <a:t>；</a:t>
            </a:r>
            <a:endParaRPr lang="en-US" altLang="zh-CN" b="1" dirty="0">
              <a:latin typeface="仿宋" panose="02010609060101010101" pitchFamily="49" charset="-122"/>
              <a:ea typeface="仿宋" panose="02010609060101010101" pitchFamily="49" charset="-122"/>
            </a:endParaRPr>
          </a:p>
          <a:p>
            <a:pPr>
              <a:spcBef>
                <a:spcPts val="300"/>
              </a:spcBef>
            </a:pPr>
            <a:r>
              <a:rPr lang="en-US" altLang="zh-CN" b="1" dirty="0">
                <a:latin typeface="仿宋" panose="02010609060101010101" pitchFamily="49" charset="-122"/>
                <a:ea typeface="仿宋" panose="02010609060101010101" pitchFamily="49" charset="-122"/>
              </a:rPr>
              <a:t>r = 0.005, </a:t>
            </a:r>
            <a:r>
              <a:rPr lang="zh-CN" altLang="zh-CN" b="1" dirty="0">
                <a:latin typeface="仿宋" panose="02010609060101010101" pitchFamily="49" charset="-122"/>
                <a:ea typeface="仿宋" panose="02010609060101010101" pitchFamily="49" charset="-122"/>
              </a:rPr>
              <a:t>每天努力</a:t>
            </a:r>
            <a:r>
              <a:rPr lang="en-US" altLang="zh-CN" b="1" dirty="0">
                <a:latin typeface="仿宋" panose="02010609060101010101" pitchFamily="49" charset="-122"/>
                <a:ea typeface="仿宋" panose="02010609060101010101" pitchFamily="49" charset="-122"/>
              </a:rPr>
              <a:t>5</a:t>
            </a:r>
            <a:r>
              <a:rPr lang="zh-CN" altLang="zh-CN" b="1" dirty="0">
                <a:latin typeface="仿宋" panose="02010609060101010101" pitchFamily="49" charset="-122"/>
                <a:ea typeface="仿宋" panose="02010609060101010101" pitchFamily="49" charset="-122"/>
              </a:rPr>
              <a:t>‰</a:t>
            </a:r>
            <a:r>
              <a:rPr lang="en-US" altLang="zh-CN" b="1" dirty="0">
                <a:latin typeface="仿宋" panose="02010609060101010101" pitchFamily="49" charset="-122"/>
                <a:ea typeface="仿宋" panose="02010609060101010101" pitchFamily="49" charset="-122"/>
              </a:rPr>
              <a:t>, </a:t>
            </a:r>
            <a:r>
              <a:rPr lang="zh-CN" altLang="zh-CN" b="1" dirty="0">
                <a:latin typeface="仿宋" panose="02010609060101010101" pitchFamily="49" charset="-122"/>
                <a:ea typeface="仿宋" panose="02010609060101010101" pitchFamily="49" charset="-122"/>
              </a:rPr>
              <a:t>一年下来将提高</a:t>
            </a:r>
            <a:r>
              <a:rPr lang="en-US" altLang="zh-CN" b="1" dirty="0">
                <a:latin typeface="仿宋" panose="02010609060101010101" pitchFamily="49" charset="-122"/>
                <a:ea typeface="仿宋" panose="02010609060101010101" pitchFamily="49" charset="-122"/>
              </a:rPr>
              <a:t>6</a:t>
            </a:r>
            <a:r>
              <a:rPr lang="zh-CN" altLang="zh-CN" b="1" dirty="0">
                <a:latin typeface="仿宋" panose="02010609060101010101" pitchFamily="49" charset="-122"/>
                <a:ea typeface="仿宋" panose="02010609060101010101" pitchFamily="49" charset="-122"/>
              </a:rPr>
              <a:t>倍！</a:t>
            </a:r>
            <a:endParaRPr lang="en-US" altLang="zh-CN" b="1" dirty="0">
              <a:latin typeface="仿宋" panose="02010609060101010101" pitchFamily="49" charset="-122"/>
              <a:ea typeface="仿宋" panose="02010609060101010101" pitchFamily="49" charset="-122"/>
            </a:endParaRPr>
          </a:p>
          <a:p>
            <a:pPr>
              <a:spcBef>
                <a:spcPts val="300"/>
              </a:spcBef>
            </a:pPr>
            <a:r>
              <a:rPr lang="en-US" altLang="zh-CN" b="1" dirty="0">
                <a:latin typeface="仿宋" panose="02010609060101010101" pitchFamily="49" charset="-122"/>
                <a:ea typeface="仿宋" panose="02010609060101010101" pitchFamily="49" charset="-122"/>
              </a:rPr>
              <a:t>r = 0.01,  </a:t>
            </a:r>
            <a:r>
              <a:rPr lang="zh-CN" altLang="zh-CN" b="1" dirty="0">
                <a:solidFill>
                  <a:srgbClr val="FF0000"/>
                </a:solidFill>
                <a:latin typeface="仿宋" panose="02010609060101010101" pitchFamily="49" charset="-122"/>
                <a:ea typeface="仿宋" panose="02010609060101010101" pitchFamily="49" charset="-122"/>
              </a:rPr>
              <a:t>每天努力</a:t>
            </a:r>
            <a:r>
              <a:rPr lang="en-US" altLang="zh-CN" b="1" dirty="0">
                <a:solidFill>
                  <a:srgbClr val="FF0000"/>
                </a:solidFill>
                <a:latin typeface="仿宋" panose="02010609060101010101" pitchFamily="49" charset="-122"/>
                <a:ea typeface="仿宋" panose="02010609060101010101" pitchFamily="49" charset="-122"/>
              </a:rPr>
              <a:t>1%</a:t>
            </a:r>
            <a:r>
              <a:rPr lang="zh-CN" altLang="zh-CN" b="1" dirty="0">
                <a:solidFill>
                  <a:srgbClr val="FF0000"/>
                </a:solidFill>
                <a:latin typeface="仿宋" panose="02010609060101010101" pitchFamily="49" charset="-122"/>
                <a:ea typeface="仿宋" panose="02010609060101010101" pitchFamily="49" charset="-122"/>
              </a:rPr>
              <a:t>，一年下来将提高</a:t>
            </a:r>
            <a:r>
              <a:rPr lang="en-US" altLang="zh-CN" b="1" dirty="0">
                <a:solidFill>
                  <a:srgbClr val="FF0000"/>
                </a:solidFill>
                <a:latin typeface="仿宋" panose="02010609060101010101" pitchFamily="49" charset="-122"/>
                <a:ea typeface="仿宋" panose="02010609060101010101" pitchFamily="49" charset="-122"/>
              </a:rPr>
              <a:t>37</a:t>
            </a:r>
            <a:r>
              <a:rPr lang="zh-CN" altLang="zh-CN" b="1" dirty="0">
                <a:solidFill>
                  <a:srgbClr val="FF0000"/>
                </a:solidFill>
                <a:latin typeface="仿宋" panose="02010609060101010101" pitchFamily="49" charset="-122"/>
                <a:ea typeface="仿宋" panose="02010609060101010101" pitchFamily="49" charset="-122"/>
              </a:rPr>
              <a:t>倍</a:t>
            </a:r>
            <a:r>
              <a:rPr lang="en-US" altLang="zh-CN" b="1" dirty="0">
                <a:solidFill>
                  <a:srgbClr val="FF0000"/>
                </a:solidFill>
                <a:latin typeface="仿宋" panose="02010609060101010101" pitchFamily="49" charset="-122"/>
                <a:ea typeface="仿宋" panose="02010609060101010101" pitchFamily="49" charset="-122"/>
              </a:rPr>
              <a:t>!</a:t>
            </a:r>
            <a:endParaRPr lang="zh-CN" altLang="zh-CN" b="1" dirty="0">
              <a:solidFill>
                <a:srgbClr val="FF0000"/>
              </a:solidFill>
              <a:latin typeface="仿宋" panose="02010609060101010101" pitchFamily="49" charset="-122"/>
              <a:ea typeface="仿宋" panose="02010609060101010101" pitchFamily="49" charset="-122"/>
            </a:endParaRPr>
          </a:p>
          <a:p>
            <a:endParaRPr lang="zh-CN" altLang="en-US" dirty="0"/>
          </a:p>
        </p:txBody>
      </p:sp>
      <p:sp>
        <p:nvSpPr>
          <p:cNvPr id="13" name="矩形 12"/>
          <p:cNvSpPr/>
          <p:nvPr/>
        </p:nvSpPr>
        <p:spPr>
          <a:xfrm>
            <a:off x="1547664" y="2979803"/>
            <a:ext cx="5712992" cy="1374735"/>
          </a:xfrm>
          <a:prstGeom prst="rect">
            <a:avLst/>
          </a:prstGeom>
          <a:solidFill>
            <a:schemeClr val="accent6">
              <a:lumMod val="60000"/>
              <a:lumOff val="40000"/>
            </a:schemeClr>
          </a:solidFill>
          <a:ln>
            <a:solidFill>
              <a:srgbClr val="FF0000"/>
            </a:solidFill>
          </a:ln>
        </p:spPr>
        <p:txBody>
          <a:bodyPr wrap="square">
            <a:spAutoFit/>
          </a:bodyPr>
          <a:lstStyle/>
          <a:p>
            <a:pPr lvl="0" algn="just">
              <a:lnSpc>
                <a:spcPts val="2000"/>
              </a:lnSpc>
            </a:pPr>
            <a:r>
              <a:rPr lang="en-US" altLang="zh-CN" sz="1400" dirty="0">
                <a:latin typeface="Consolas" panose="020B0609020204030204" charset="0"/>
                <a:ea typeface="+mn-ea"/>
              </a:rPr>
              <a:t>import math</a:t>
            </a:r>
          </a:p>
          <a:p>
            <a:pPr lvl="0" algn="just">
              <a:lnSpc>
                <a:spcPts val="2000"/>
              </a:lnSpc>
            </a:pPr>
            <a:r>
              <a:rPr lang="en-US" altLang="zh-CN" sz="1400" dirty="0">
                <a:latin typeface="Consolas" panose="020B0609020204030204" charset="0"/>
                <a:ea typeface="+mn-ea"/>
              </a:rPr>
              <a:t>r = </a:t>
            </a:r>
            <a:r>
              <a:rPr lang="en-US" altLang="zh-CN" sz="1400" dirty="0" err="1">
                <a:latin typeface="Consolas" panose="020B0609020204030204" charset="0"/>
                <a:ea typeface="+mn-ea"/>
              </a:rPr>
              <a:t>eval</a:t>
            </a:r>
            <a:r>
              <a:rPr lang="en-US" altLang="zh-CN" sz="1400" dirty="0">
                <a:latin typeface="Consolas" panose="020B0609020204030204" charset="0"/>
                <a:ea typeface="+mn-ea"/>
              </a:rPr>
              <a:t>(input(“ratio:”))</a:t>
            </a:r>
            <a:endParaRPr lang="zh-CN" altLang="zh-CN" sz="1400" dirty="0">
              <a:latin typeface="Consolas" panose="020B0609020204030204" charset="0"/>
              <a:ea typeface="+mn-ea"/>
            </a:endParaRPr>
          </a:p>
          <a:p>
            <a:pPr lvl="0" algn="just">
              <a:lnSpc>
                <a:spcPts val="2000"/>
              </a:lnSpc>
            </a:pPr>
            <a:r>
              <a:rPr lang="en-US" altLang="zh-CN" sz="1400" dirty="0" err="1">
                <a:latin typeface="Consolas" panose="020B0609020204030204" charset="0"/>
                <a:ea typeface="+mn-ea"/>
              </a:rPr>
              <a:t>dayup</a:t>
            </a:r>
            <a:r>
              <a:rPr lang="en-US" altLang="zh-CN" sz="1400" dirty="0">
                <a:latin typeface="Consolas" panose="020B0609020204030204" charset="0"/>
                <a:ea typeface="+mn-ea"/>
              </a:rPr>
              <a:t> = </a:t>
            </a:r>
            <a:r>
              <a:rPr lang="en-US" altLang="zh-CN" sz="1400" dirty="0" err="1">
                <a:latin typeface="Consolas" panose="020B0609020204030204" charset="0"/>
                <a:ea typeface="+mn-ea"/>
              </a:rPr>
              <a:t>math.pow</a:t>
            </a:r>
            <a:r>
              <a:rPr lang="en-US" altLang="zh-CN" sz="1400" dirty="0">
                <a:latin typeface="Consolas" panose="020B0609020204030204" charset="0"/>
                <a:ea typeface="+mn-ea"/>
              </a:rPr>
              <a:t>((1.0 + r), 365)  </a:t>
            </a:r>
          </a:p>
          <a:p>
            <a:pPr lvl="0" algn="just">
              <a:lnSpc>
                <a:spcPts val="2000"/>
              </a:lnSpc>
            </a:pPr>
            <a:r>
              <a:rPr lang="en-US" altLang="zh-CN" sz="1400" dirty="0" err="1">
                <a:latin typeface="Consolas" panose="020B0609020204030204" charset="0"/>
                <a:ea typeface="+mn-ea"/>
              </a:rPr>
              <a:t>daydown</a:t>
            </a:r>
            <a:r>
              <a:rPr lang="en-US" altLang="zh-CN" sz="1400" dirty="0">
                <a:latin typeface="Consolas" panose="020B0609020204030204" charset="0"/>
                <a:ea typeface="+mn-ea"/>
              </a:rPr>
              <a:t> = </a:t>
            </a:r>
            <a:r>
              <a:rPr lang="en-US" altLang="zh-CN" sz="1400" dirty="0" err="1">
                <a:latin typeface="Consolas" panose="020B0609020204030204" charset="0"/>
                <a:ea typeface="+mn-ea"/>
              </a:rPr>
              <a:t>math.pow</a:t>
            </a:r>
            <a:r>
              <a:rPr lang="en-US" altLang="zh-CN" sz="1400" dirty="0">
                <a:latin typeface="Consolas" panose="020B0609020204030204" charset="0"/>
                <a:ea typeface="+mn-ea"/>
              </a:rPr>
              <a:t>((1.0 - r), 365)</a:t>
            </a:r>
            <a:endParaRPr lang="zh-CN" altLang="zh-CN" sz="1400" dirty="0">
              <a:latin typeface="Consolas" panose="020B0609020204030204" charset="0"/>
              <a:ea typeface="+mn-ea"/>
            </a:endParaRPr>
          </a:p>
          <a:p>
            <a:pPr lvl="0" algn="just">
              <a:lnSpc>
                <a:spcPts val="2000"/>
              </a:lnSpc>
            </a:pPr>
            <a:r>
              <a:rPr lang="en-US" altLang="zh-CN" sz="1400" dirty="0">
                <a:latin typeface="Consolas" panose="020B0609020204030204" charset="0"/>
                <a:ea typeface="+mn-ea"/>
              </a:rPr>
              <a:t>print("</a:t>
            </a:r>
            <a:r>
              <a:rPr lang="zh-CN" altLang="zh-CN" sz="1400" dirty="0">
                <a:latin typeface="Consolas" panose="020B0609020204030204" charset="0"/>
                <a:ea typeface="+mn-ea"/>
              </a:rPr>
              <a:t>向上</a:t>
            </a:r>
            <a:r>
              <a:rPr lang="en-US" altLang="zh-CN" sz="1400" dirty="0">
                <a:latin typeface="Consolas" panose="020B0609020204030204" charset="0"/>
                <a:ea typeface="+mn-ea"/>
              </a:rPr>
              <a:t>:{:.2f}, </a:t>
            </a:r>
            <a:r>
              <a:rPr lang="zh-CN" altLang="zh-CN" sz="1400" dirty="0">
                <a:latin typeface="Consolas" panose="020B0609020204030204" charset="0"/>
                <a:ea typeface="+mn-ea"/>
              </a:rPr>
              <a:t>向下</a:t>
            </a:r>
            <a:r>
              <a:rPr lang="en-US" altLang="zh-CN" sz="1400" dirty="0">
                <a:latin typeface="Consolas" panose="020B0609020204030204" charset="0"/>
                <a:ea typeface="+mn-ea"/>
              </a:rPr>
              <a:t>:{:.2f}.".format(</a:t>
            </a:r>
            <a:r>
              <a:rPr lang="en-US" altLang="zh-CN" sz="1400" dirty="0" err="1">
                <a:latin typeface="Consolas" panose="020B0609020204030204" charset="0"/>
                <a:ea typeface="+mn-ea"/>
              </a:rPr>
              <a:t>dayup</a:t>
            </a:r>
            <a:r>
              <a:rPr lang="en-US" altLang="zh-CN" sz="1400" dirty="0">
                <a:latin typeface="Consolas" panose="020B0609020204030204" charset="0"/>
                <a:ea typeface="+mn-ea"/>
              </a:rPr>
              <a:t>, </a:t>
            </a:r>
            <a:r>
              <a:rPr lang="en-US" altLang="zh-CN" sz="1400" dirty="0" err="1">
                <a:latin typeface="Consolas" panose="020B0609020204030204" charset="0"/>
                <a:ea typeface="+mn-ea"/>
              </a:rPr>
              <a:t>daydown</a:t>
            </a:r>
            <a:r>
              <a:rPr lang="en-US" altLang="zh-CN" sz="1400" dirty="0">
                <a:latin typeface="Consolas" panose="020B0609020204030204" charset="0"/>
                <a:ea typeface="+mn-ea"/>
              </a:rPr>
              <a:t>))</a:t>
            </a:r>
            <a:endParaRPr lang="zh-CN" altLang="zh-CN" sz="1400" dirty="0">
              <a:latin typeface="Consolas" panose="020B0609020204030204" charset="0"/>
              <a:ea typeface="+mn-ea"/>
            </a:endParaRPr>
          </a:p>
        </p:txBody>
      </p:sp>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70" y="935111"/>
            <a:ext cx="1674195" cy="1676771"/>
          </a:xfrm>
          <a:prstGeom prst="rect">
            <a:avLst/>
          </a:prstGeom>
        </p:spPr>
      </p:pic>
      <p:grpSp>
        <p:nvGrpSpPr>
          <p:cNvPr id="18" name="组合 67"/>
          <p:cNvGrpSpPr/>
          <p:nvPr/>
        </p:nvGrpSpPr>
        <p:grpSpPr>
          <a:xfrm>
            <a:off x="539552" y="125404"/>
            <a:ext cx="8161601" cy="674847"/>
            <a:chOff x="936625" y="4202884"/>
            <a:chExt cx="8161601" cy="674847"/>
          </a:xfrm>
        </p:grpSpPr>
        <p:grpSp>
          <p:nvGrpSpPr>
            <p:cNvPr id="19" name="组合 106"/>
            <p:cNvGrpSpPr/>
            <p:nvPr/>
          </p:nvGrpSpPr>
          <p:grpSpPr>
            <a:xfrm>
              <a:off x="936625" y="4202884"/>
              <a:ext cx="8161601" cy="674847"/>
              <a:chOff x="927100" y="4202884"/>
              <a:chExt cx="8161601" cy="674847"/>
            </a:xfrm>
          </p:grpSpPr>
          <p:sp>
            <p:nvSpPr>
              <p:cNvPr id="2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22"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20" name="图片 19"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23" name="矩形 22"/>
          <p:cNvSpPr/>
          <p:nvPr/>
        </p:nvSpPr>
        <p:spPr>
          <a:xfrm>
            <a:off x="957714" y="2801572"/>
            <a:ext cx="6768752" cy="2895664"/>
          </a:xfrm>
          <a:prstGeom prst="rect">
            <a:avLst/>
          </a:prstGeom>
          <a:solidFill>
            <a:srgbClr val="92D050"/>
          </a:solidFill>
          <a:ln>
            <a:solidFill>
              <a:srgbClr val="FF0000"/>
            </a:solidFill>
          </a:ln>
        </p:spPr>
        <p:txBody>
          <a:bodyPr wrap="square">
            <a:spAutoFit/>
          </a:bodyPr>
          <a:lstStyle/>
          <a:p>
            <a:pPr lvl="0" algn="just">
              <a:lnSpc>
                <a:spcPts val="2000"/>
              </a:lnSpc>
            </a:pPr>
            <a:r>
              <a:rPr lang="en-US" altLang="zh-CN" sz="1400" dirty="0" err="1">
                <a:solidFill>
                  <a:srgbClr val="0000FF"/>
                </a:solidFill>
                <a:latin typeface="Consolas" panose="020B0609020204030204" charset="0"/>
                <a:ea typeface="+mn-ea"/>
              </a:rPr>
              <a:t>def</a:t>
            </a:r>
            <a:r>
              <a:rPr lang="en-US" altLang="zh-CN" sz="1400" dirty="0">
                <a:solidFill>
                  <a:srgbClr val="0000FF"/>
                </a:solidFill>
                <a:latin typeface="Consolas" panose="020B0609020204030204" charset="0"/>
                <a:ea typeface="+mn-ea"/>
              </a:rPr>
              <a:t> </a:t>
            </a:r>
            <a:r>
              <a:rPr lang="en-US" altLang="zh-CN" sz="1400" dirty="0" err="1">
                <a:latin typeface="Consolas" panose="020B0609020204030204" charset="0"/>
                <a:ea typeface="+mn-ea"/>
              </a:rPr>
              <a:t>DayUpFun</a:t>
            </a:r>
            <a:r>
              <a:rPr lang="en-US" altLang="zh-CN" sz="1400" dirty="0">
                <a:latin typeface="Consolas" panose="020B0609020204030204" charset="0"/>
                <a:ea typeface="+mn-ea"/>
              </a:rPr>
              <a:t>(</a:t>
            </a:r>
            <a:r>
              <a:rPr lang="en-US" altLang="zh-CN" sz="1400" dirty="0">
                <a:solidFill>
                  <a:srgbClr val="FF0000"/>
                </a:solidFill>
                <a:latin typeface="Consolas" panose="020B0609020204030204" charset="0"/>
                <a:ea typeface="+mn-ea"/>
              </a:rPr>
              <a:t>r</a:t>
            </a:r>
            <a:r>
              <a:rPr lang="en-US" altLang="zh-CN" sz="1400" dirty="0">
                <a:latin typeface="Consolas" panose="020B0609020204030204" charset="0"/>
                <a:ea typeface="+mn-ea"/>
              </a:rPr>
              <a:t>):</a:t>
            </a:r>
          </a:p>
          <a:p>
            <a:pPr lvl="0" algn="just">
              <a:lnSpc>
                <a:spcPts val="2000"/>
              </a:lnSpc>
            </a:pPr>
            <a:r>
              <a:rPr lang="en-US" altLang="zh-CN" sz="1400" dirty="0">
                <a:latin typeface="Consolas" panose="020B0609020204030204" charset="0"/>
                <a:ea typeface="+mn-ea"/>
              </a:rPr>
              <a:t>    </a:t>
            </a:r>
            <a:r>
              <a:rPr lang="en-US" altLang="zh-CN" sz="1400" dirty="0" err="1">
                <a:latin typeface="Consolas" panose="020B0609020204030204" charset="0"/>
                <a:ea typeface="+mn-ea"/>
              </a:rPr>
              <a:t>dayup</a:t>
            </a:r>
            <a:r>
              <a:rPr lang="en-US" altLang="zh-CN" sz="1400" dirty="0">
                <a:latin typeface="Consolas" panose="020B0609020204030204" charset="0"/>
                <a:ea typeface="+mn-ea"/>
              </a:rPr>
              <a:t> = </a:t>
            </a:r>
            <a:r>
              <a:rPr lang="en-US" altLang="zh-CN" sz="1400" dirty="0">
                <a:solidFill>
                  <a:srgbClr val="0000FF"/>
                </a:solidFill>
                <a:latin typeface="Consolas" panose="020B0609020204030204" charset="0"/>
                <a:ea typeface="+mn-ea"/>
              </a:rPr>
              <a:t>pow</a:t>
            </a:r>
            <a:r>
              <a:rPr lang="en-US" altLang="zh-CN" sz="1400" dirty="0">
                <a:latin typeface="Consolas" panose="020B0609020204030204" charset="0"/>
                <a:ea typeface="+mn-ea"/>
              </a:rPr>
              <a:t>((1.0 + r), 365)  </a:t>
            </a:r>
          </a:p>
          <a:p>
            <a:pPr lvl="0" algn="just">
              <a:lnSpc>
                <a:spcPts val="2000"/>
              </a:lnSpc>
            </a:pPr>
            <a:r>
              <a:rPr lang="en-US" altLang="zh-CN" sz="1400" dirty="0">
                <a:latin typeface="Consolas" panose="020B0609020204030204" charset="0"/>
                <a:ea typeface="+mn-ea"/>
              </a:rPr>
              <a:t>    </a:t>
            </a:r>
            <a:r>
              <a:rPr lang="en-US" altLang="zh-CN" sz="1400" dirty="0" err="1">
                <a:latin typeface="Consolas" panose="020B0609020204030204" charset="0"/>
                <a:ea typeface="+mn-ea"/>
              </a:rPr>
              <a:t>daydown</a:t>
            </a:r>
            <a:r>
              <a:rPr lang="en-US" altLang="zh-CN" sz="1400" dirty="0">
                <a:latin typeface="Consolas" panose="020B0609020204030204" charset="0"/>
                <a:ea typeface="+mn-ea"/>
              </a:rPr>
              <a:t> = </a:t>
            </a:r>
            <a:r>
              <a:rPr lang="en-US" altLang="zh-CN" sz="1400" dirty="0">
                <a:solidFill>
                  <a:srgbClr val="0000FF"/>
                </a:solidFill>
                <a:latin typeface="Consolas" panose="020B0609020204030204" charset="0"/>
                <a:ea typeface="+mn-ea"/>
              </a:rPr>
              <a:t>pow</a:t>
            </a:r>
            <a:r>
              <a:rPr lang="en-US" altLang="zh-CN" sz="1400" dirty="0">
                <a:latin typeface="Consolas" panose="020B0609020204030204" charset="0"/>
                <a:ea typeface="+mn-ea"/>
              </a:rPr>
              <a:t>((1.0 - r), 365)</a:t>
            </a:r>
          </a:p>
          <a:p>
            <a:pPr lvl="0" algn="just">
              <a:lnSpc>
                <a:spcPts val="2000"/>
              </a:lnSpc>
            </a:pPr>
            <a:r>
              <a:rPr lang="en-US" altLang="zh-CN" sz="1400" dirty="0">
                <a:latin typeface="Consolas" panose="020B0609020204030204" charset="0"/>
                <a:ea typeface="+mn-ea"/>
              </a:rPr>
              <a:t>    </a:t>
            </a:r>
            <a:r>
              <a:rPr lang="en-US" altLang="zh-CN" sz="1400" dirty="0">
                <a:solidFill>
                  <a:srgbClr val="0000FF"/>
                </a:solidFill>
                <a:latin typeface="Consolas" panose="020B0609020204030204" charset="0"/>
                <a:ea typeface="+mn-ea"/>
              </a:rPr>
              <a:t>return</a:t>
            </a:r>
            <a:r>
              <a:rPr lang="en-US" altLang="zh-CN" sz="1400" dirty="0">
                <a:latin typeface="Consolas" panose="020B0609020204030204" charset="0"/>
                <a:ea typeface="+mn-ea"/>
              </a:rPr>
              <a:t> </a:t>
            </a:r>
            <a:r>
              <a:rPr lang="en-US" altLang="zh-CN" sz="1400" dirty="0" err="1">
                <a:latin typeface="Consolas" panose="020B0609020204030204" charset="0"/>
                <a:ea typeface="+mn-ea"/>
              </a:rPr>
              <a:t>dayup,daydown</a:t>
            </a:r>
            <a:endParaRPr lang="en-US" altLang="zh-CN" sz="1400" dirty="0">
              <a:latin typeface="Consolas" panose="020B0609020204030204" charset="0"/>
              <a:ea typeface="+mn-ea"/>
            </a:endParaRPr>
          </a:p>
          <a:p>
            <a:pPr lvl="0" algn="just">
              <a:lnSpc>
                <a:spcPts val="2000"/>
              </a:lnSpc>
            </a:pPr>
            <a:endParaRPr lang="en-US" altLang="zh-CN" sz="1400" dirty="0">
              <a:latin typeface="Consolas" panose="020B0609020204030204" charset="0"/>
              <a:ea typeface="+mn-ea"/>
            </a:endParaRPr>
          </a:p>
          <a:p>
            <a:pPr lvl="0" algn="just">
              <a:lnSpc>
                <a:spcPts val="2000"/>
              </a:lnSpc>
            </a:pPr>
            <a:r>
              <a:rPr lang="en-US" altLang="zh-CN" sz="1400" dirty="0" err="1">
                <a:solidFill>
                  <a:srgbClr val="0000FF"/>
                </a:solidFill>
                <a:latin typeface="Consolas" panose="020B0609020204030204" charset="0"/>
                <a:ea typeface="+mn-ea"/>
              </a:rPr>
              <a:t>def</a:t>
            </a:r>
            <a:r>
              <a:rPr lang="en-US" altLang="zh-CN" sz="1400" dirty="0">
                <a:solidFill>
                  <a:srgbClr val="0000FF"/>
                </a:solidFill>
                <a:latin typeface="Consolas" panose="020B0609020204030204" charset="0"/>
                <a:ea typeface="+mn-ea"/>
              </a:rPr>
              <a:t> </a:t>
            </a:r>
            <a:r>
              <a:rPr lang="en-US" altLang="zh-CN" sz="1400" dirty="0">
                <a:latin typeface="Consolas" panose="020B0609020204030204" charset="0"/>
                <a:ea typeface="+mn-ea"/>
              </a:rPr>
              <a:t>Main():</a:t>
            </a:r>
          </a:p>
          <a:p>
            <a:pPr lvl="0" algn="just">
              <a:lnSpc>
                <a:spcPts val="2000"/>
              </a:lnSpc>
            </a:pPr>
            <a:r>
              <a:rPr lang="en-US" altLang="zh-CN" sz="1400" dirty="0">
                <a:latin typeface="Consolas" panose="020B0609020204030204" charset="0"/>
                <a:ea typeface="+mn-ea"/>
              </a:rPr>
              <a:t>    r = </a:t>
            </a:r>
            <a:r>
              <a:rPr lang="en-US" altLang="zh-CN" sz="1400" dirty="0" err="1">
                <a:solidFill>
                  <a:srgbClr val="0000FF"/>
                </a:solidFill>
                <a:latin typeface="Consolas" panose="020B0609020204030204" charset="0"/>
                <a:ea typeface="+mn-ea"/>
              </a:rPr>
              <a:t>eval</a:t>
            </a:r>
            <a:r>
              <a:rPr lang="en-US" altLang="zh-CN" sz="1400" dirty="0">
                <a:latin typeface="Consolas" panose="020B0609020204030204" charset="0"/>
                <a:ea typeface="+mn-ea"/>
              </a:rPr>
              <a:t>(</a:t>
            </a:r>
            <a:r>
              <a:rPr lang="en-US" altLang="zh-CN" sz="1400" dirty="0">
                <a:solidFill>
                  <a:srgbClr val="0000FF"/>
                </a:solidFill>
                <a:latin typeface="Consolas" panose="020B0609020204030204" charset="0"/>
                <a:ea typeface="+mn-ea"/>
              </a:rPr>
              <a:t>input</a:t>
            </a:r>
            <a:r>
              <a:rPr lang="en-US" altLang="zh-CN" sz="1400" dirty="0">
                <a:latin typeface="Consolas" panose="020B0609020204030204" charset="0"/>
                <a:ea typeface="+mn-ea"/>
              </a:rPr>
              <a:t>("ratio:"))</a:t>
            </a:r>
          </a:p>
          <a:p>
            <a:pPr lvl="0" algn="just">
              <a:lnSpc>
                <a:spcPts val="2000"/>
              </a:lnSpc>
            </a:pPr>
            <a:r>
              <a:rPr lang="en-US" altLang="zh-CN" sz="1400" dirty="0">
                <a:latin typeface="Consolas" panose="020B0609020204030204" charset="0"/>
                <a:ea typeface="+mn-ea"/>
              </a:rPr>
              <a:t>    </a:t>
            </a:r>
            <a:r>
              <a:rPr lang="en-US" altLang="zh-CN" sz="1400" dirty="0" err="1">
                <a:latin typeface="Consolas" panose="020B0609020204030204" charset="0"/>
                <a:ea typeface="+mn-ea"/>
              </a:rPr>
              <a:t>dayup</a:t>
            </a:r>
            <a:r>
              <a:rPr lang="en-US" altLang="zh-CN" sz="1400" dirty="0">
                <a:latin typeface="Consolas" panose="020B0609020204030204" charset="0"/>
                <a:ea typeface="+mn-ea"/>
              </a:rPr>
              <a:t>, </a:t>
            </a:r>
            <a:r>
              <a:rPr lang="en-US" altLang="zh-CN" sz="1400" dirty="0" err="1">
                <a:latin typeface="Consolas" panose="020B0609020204030204" charset="0"/>
                <a:ea typeface="+mn-ea"/>
              </a:rPr>
              <a:t>daydown</a:t>
            </a:r>
            <a:r>
              <a:rPr lang="en-US" altLang="zh-CN" sz="1400" dirty="0">
                <a:latin typeface="Consolas" panose="020B0609020204030204" charset="0"/>
                <a:ea typeface="+mn-ea"/>
              </a:rPr>
              <a:t> = </a:t>
            </a:r>
            <a:r>
              <a:rPr lang="en-US" altLang="zh-CN" sz="1400" dirty="0" err="1">
                <a:latin typeface="Consolas" panose="020B0609020204030204" charset="0"/>
                <a:ea typeface="+mn-ea"/>
              </a:rPr>
              <a:t>DayUpFun</a:t>
            </a:r>
            <a:r>
              <a:rPr lang="en-US" altLang="zh-CN" sz="1400" dirty="0">
                <a:latin typeface="Consolas" panose="020B0609020204030204" charset="0"/>
                <a:ea typeface="+mn-ea"/>
              </a:rPr>
              <a:t>(r)</a:t>
            </a:r>
          </a:p>
          <a:p>
            <a:pPr lvl="0" algn="just">
              <a:lnSpc>
                <a:spcPts val="2000"/>
              </a:lnSpc>
            </a:pPr>
            <a:r>
              <a:rPr lang="en-US" altLang="zh-CN" sz="1400" dirty="0">
                <a:latin typeface="Consolas" panose="020B0609020204030204" charset="0"/>
                <a:ea typeface="+mn-ea"/>
              </a:rPr>
              <a:t>    print("</a:t>
            </a:r>
            <a:r>
              <a:rPr lang="en-US" altLang="zh-CN" sz="1400" dirty="0" err="1">
                <a:latin typeface="Consolas" panose="020B0609020204030204" charset="0"/>
                <a:ea typeface="+mn-ea"/>
              </a:rPr>
              <a:t>dayUp</a:t>
            </a:r>
            <a:r>
              <a:rPr lang="en-US" altLang="zh-CN" sz="1400" dirty="0">
                <a:latin typeface="Consolas" panose="020B0609020204030204" charset="0"/>
                <a:ea typeface="+mn-ea"/>
              </a:rPr>
              <a:t>:{:.2f}, </a:t>
            </a:r>
            <a:r>
              <a:rPr lang="en-US" altLang="zh-CN" sz="1400" dirty="0" err="1">
                <a:latin typeface="Consolas" panose="020B0609020204030204" charset="0"/>
                <a:ea typeface="+mn-ea"/>
              </a:rPr>
              <a:t>dayDown</a:t>
            </a:r>
            <a:r>
              <a:rPr lang="en-US" altLang="zh-CN" sz="1400" dirty="0">
                <a:latin typeface="Consolas" panose="020B0609020204030204" charset="0"/>
                <a:ea typeface="+mn-ea"/>
              </a:rPr>
              <a:t>:{:.2f}.".</a:t>
            </a:r>
            <a:r>
              <a:rPr lang="en-US" altLang="zh-CN" sz="1400" dirty="0">
                <a:solidFill>
                  <a:srgbClr val="0000FF"/>
                </a:solidFill>
                <a:latin typeface="Consolas" panose="020B0609020204030204" charset="0"/>
                <a:ea typeface="+mn-ea"/>
              </a:rPr>
              <a:t>format</a:t>
            </a:r>
            <a:r>
              <a:rPr lang="en-US" altLang="zh-CN" sz="1400" dirty="0">
                <a:latin typeface="Consolas" panose="020B0609020204030204" charset="0"/>
                <a:ea typeface="+mn-ea"/>
              </a:rPr>
              <a:t>(</a:t>
            </a:r>
            <a:r>
              <a:rPr lang="en-US" altLang="zh-CN" sz="1400" dirty="0" err="1">
                <a:latin typeface="Consolas" panose="020B0609020204030204" charset="0"/>
                <a:ea typeface="+mn-ea"/>
              </a:rPr>
              <a:t>dayup</a:t>
            </a:r>
            <a:r>
              <a:rPr lang="en-US" altLang="zh-CN" sz="1400" dirty="0">
                <a:latin typeface="Consolas" panose="020B0609020204030204" charset="0"/>
                <a:ea typeface="+mn-ea"/>
              </a:rPr>
              <a:t>, </a:t>
            </a:r>
            <a:r>
              <a:rPr lang="en-US" altLang="zh-CN" sz="1400" dirty="0" err="1">
                <a:latin typeface="Consolas" panose="020B0609020204030204" charset="0"/>
                <a:ea typeface="+mn-ea"/>
              </a:rPr>
              <a:t>daydown</a:t>
            </a:r>
            <a:r>
              <a:rPr lang="en-US" altLang="zh-CN" sz="1400" dirty="0">
                <a:latin typeface="Consolas" panose="020B0609020204030204" charset="0"/>
                <a:ea typeface="+mn-ea"/>
              </a:rPr>
              <a:t>))</a:t>
            </a:r>
          </a:p>
          <a:p>
            <a:pPr lvl="0" algn="just">
              <a:lnSpc>
                <a:spcPts val="2000"/>
              </a:lnSpc>
            </a:pPr>
            <a:endParaRPr lang="en-US" altLang="zh-CN" sz="1400" dirty="0">
              <a:latin typeface="Consolas" panose="020B0609020204030204" charset="0"/>
              <a:ea typeface="+mn-ea"/>
            </a:endParaRPr>
          </a:p>
          <a:p>
            <a:pPr lvl="0" algn="just">
              <a:lnSpc>
                <a:spcPts val="2000"/>
              </a:lnSpc>
            </a:pPr>
            <a:r>
              <a:rPr lang="en-US" altLang="zh-CN" sz="1400" dirty="0">
                <a:latin typeface="Consolas" panose="020B0609020204030204" charset="0"/>
                <a:ea typeface="+mn-ea"/>
              </a:rPr>
              <a:t>Main()</a:t>
            </a:r>
            <a:endParaRPr lang="zh-CN" altLang="zh-CN" sz="1400" dirty="0">
              <a:latin typeface="Consolas" panose="020B0609020204030204" charset="0"/>
              <a:ea typeface="+mn-ea"/>
            </a:endParaRPr>
          </a:p>
        </p:txBody>
      </p:sp>
    </p:spTree>
    <p:extLst>
      <p:ext uri="{BB962C8B-B14F-4D97-AF65-F5344CB8AC3E}">
        <p14:creationId xmlns:p14="http://schemas.microsoft.com/office/powerpoint/2010/main" val="24812329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 calcmode="lin" valueType="num">
                                      <p:cBhvr additive="base">
                                        <p:cTn id="28"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2">
                                            <p:txEl>
                                              <p:pRg st="1" end="1"/>
                                            </p:txEl>
                                          </p:spTgt>
                                        </p:tgtEl>
                                        <p:attrNameLst>
                                          <p:attrName>style.visibility</p:attrName>
                                        </p:attrNameLst>
                                      </p:cBhvr>
                                      <p:to>
                                        <p:strVal val="visible"/>
                                      </p:to>
                                    </p:set>
                                    <p:anim calcmode="lin" valueType="num">
                                      <p:cBhvr additive="base">
                                        <p:cTn id="34"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2">
                                            <p:txEl>
                                              <p:pRg st="2" end="2"/>
                                            </p:txEl>
                                          </p:spTgt>
                                        </p:tgtEl>
                                        <p:attrNameLst>
                                          <p:attrName>style.visibility</p:attrName>
                                        </p:attrNameLst>
                                      </p:cBhvr>
                                      <p:to>
                                        <p:strVal val="visible"/>
                                      </p:to>
                                    </p:set>
                                    <p:anim calcmode="lin" valueType="num">
                                      <p:cBhvr additive="base">
                                        <p:cTn id="40"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18</a:t>
            </a:fld>
            <a:endParaRPr lang="zh-CN" altLang="en-US"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12" name="文本占位符 29698"/>
          <p:cNvSpPr txBox="1">
            <a:spLocks/>
          </p:cNvSpPr>
          <p:nvPr/>
        </p:nvSpPr>
        <p:spPr bwMode="auto">
          <a:xfrm>
            <a:off x="323528" y="908720"/>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buClr>
                <a:srgbClr val="FF0000"/>
              </a:buClr>
              <a:buSzPct val="90000"/>
              <a:buFont typeface="Wingdings" panose="05000000000000000000" pitchFamily="2" charset="2"/>
              <a:buChar char="n"/>
            </a:pPr>
            <a:r>
              <a:rPr lang="zh-CN" altLang="en-US" sz="2000" b="1" noProof="1"/>
              <a:t>调用带有</a:t>
            </a:r>
            <a:r>
              <a:rPr lang="zh-CN" altLang="en-US" sz="2000" b="1" noProof="1">
                <a:solidFill>
                  <a:srgbClr val="0000FF"/>
                </a:solidFill>
              </a:rPr>
              <a:t>默认值参数</a:t>
            </a:r>
            <a:r>
              <a:rPr lang="zh-CN" altLang="en-US" sz="2000" b="1" noProof="1"/>
              <a:t>的函数时，</a:t>
            </a:r>
            <a:r>
              <a:rPr lang="zh-CN" altLang="en-US" sz="2000" b="1" noProof="1">
                <a:solidFill>
                  <a:srgbClr val="FF0000"/>
                </a:solidFill>
              </a:rPr>
              <a:t>可以不对默认值参数进行赋值，也可以为其赋值</a:t>
            </a:r>
            <a:r>
              <a:rPr lang="zh-CN" altLang="en-US" sz="2000" b="1" noProof="1"/>
              <a:t>，具有很大的灵活性。</a:t>
            </a:r>
          </a:p>
          <a:p>
            <a:pPr>
              <a:lnSpc>
                <a:spcPct val="80000"/>
              </a:lnSpc>
              <a:buSzPct val="90000"/>
              <a:buFont typeface="Wingdings" panose="05000000000000000000" pitchFamily="2" charset="2"/>
              <a:buNone/>
            </a:pPr>
            <a:endParaRPr lang="en-US" altLang="zh-CN" sz="1500" noProof="1"/>
          </a:p>
        </p:txBody>
      </p:sp>
      <p:sp>
        <p:nvSpPr>
          <p:cNvPr id="11" name="矩形 10"/>
          <p:cNvSpPr/>
          <p:nvPr/>
        </p:nvSpPr>
        <p:spPr>
          <a:xfrm>
            <a:off x="1475656" y="1628800"/>
            <a:ext cx="6356439" cy="1889748"/>
          </a:xfrm>
          <a:prstGeom prst="rect">
            <a:avLst/>
          </a:prstGeom>
        </p:spPr>
        <p:txBody>
          <a:bodyPr wrap="square">
            <a:spAutoFit/>
          </a:bodyPr>
          <a:lstStyle/>
          <a:p>
            <a:pPr>
              <a:lnSpc>
                <a:spcPct val="80000"/>
              </a:lnSpc>
              <a:buSzPct val="90000"/>
              <a:buFont typeface="Wingdings" panose="05000000000000000000" pitchFamily="2" charset="2"/>
              <a:buNone/>
            </a:pPr>
            <a:r>
              <a:rPr lang="en-US" altLang="zh-CN" sz="1600" noProof="1">
                <a:latin typeface="Consolas" panose="020B0609020204030204" pitchFamily="49" charset="0"/>
              </a:rPr>
              <a:t>&gt;&gt;&gt; def say( message, times =1 ):</a:t>
            </a:r>
          </a:p>
          <a:p>
            <a:pPr>
              <a:lnSpc>
                <a:spcPct val="80000"/>
              </a:lnSpc>
              <a:buSzPct val="90000"/>
              <a:buFont typeface="Wingdings" panose="05000000000000000000" pitchFamily="2" charset="2"/>
              <a:buNone/>
            </a:pPr>
            <a:r>
              <a:rPr lang="en-US" altLang="zh-CN" sz="1600" noProof="1">
                <a:latin typeface="Consolas" panose="020B0609020204030204" pitchFamily="49" charset="0"/>
              </a:rPr>
              <a:t>    print(message * times)</a:t>
            </a:r>
          </a:p>
          <a:p>
            <a:pPr>
              <a:lnSpc>
                <a:spcPct val="80000"/>
              </a:lnSpc>
              <a:buSzPct val="90000"/>
              <a:buFont typeface="Wingdings" panose="05000000000000000000" pitchFamily="2" charset="2"/>
              <a:buNone/>
            </a:pPr>
            <a:endParaRPr lang="en-US" altLang="zh-CN" sz="1600" noProof="1">
              <a:latin typeface="Consolas" panose="020B0609020204030204" pitchFamily="49" charset="0"/>
            </a:endParaRPr>
          </a:p>
          <a:p>
            <a:pPr>
              <a:lnSpc>
                <a:spcPct val="80000"/>
              </a:lnSpc>
              <a:buSzPct val="90000"/>
              <a:buFont typeface="Wingdings" panose="05000000000000000000" pitchFamily="2" charset="2"/>
              <a:buNone/>
            </a:pPr>
            <a:r>
              <a:rPr lang="en-US" altLang="zh-CN" sz="1600" noProof="1">
                <a:latin typeface="Consolas" panose="020B0609020204030204" pitchFamily="49" charset="0"/>
              </a:rPr>
              <a:t>&gt;&gt;&gt; say('hello')</a:t>
            </a:r>
          </a:p>
          <a:p>
            <a:pPr>
              <a:lnSpc>
                <a:spcPct val="80000"/>
              </a:lnSpc>
              <a:buSzPct val="90000"/>
              <a:buFont typeface="Wingdings" panose="05000000000000000000" pitchFamily="2" charset="2"/>
              <a:buNone/>
            </a:pPr>
            <a:r>
              <a:rPr lang="en-US" altLang="zh-CN" sz="1600" noProof="1">
                <a:solidFill>
                  <a:srgbClr val="0000FF"/>
                </a:solidFill>
                <a:latin typeface="Consolas" panose="020B0609020204030204" pitchFamily="49" charset="0"/>
              </a:rPr>
              <a:t>hello</a:t>
            </a:r>
          </a:p>
          <a:p>
            <a:pPr>
              <a:lnSpc>
                <a:spcPct val="80000"/>
              </a:lnSpc>
              <a:buSzPct val="90000"/>
              <a:buFont typeface="Wingdings" panose="05000000000000000000" pitchFamily="2" charset="2"/>
              <a:buNone/>
            </a:pPr>
            <a:r>
              <a:rPr lang="en-US" altLang="zh-CN" sz="1600" noProof="1">
                <a:latin typeface="Consolas" panose="020B0609020204030204" pitchFamily="49" charset="0"/>
              </a:rPr>
              <a:t>&gt;&gt;&gt; say('hello',3)</a:t>
            </a:r>
          </a:p>
          <a:p>
            <a:pPr>
              <a:lnSpc>
                <a:spcPct val="80000"/>
              </a:lnSpc>
              <a:buSzPct val="90000"/>
              <a:buFont typeface="Wingdings" panose="05000000000000000000" pitchFamily="2" charset="2"/>
              <a:buNone/>
            </a:pPr>
            <a:r>
              <a:rPr lang="en-US" altLang="zh-CN" sz="1600" noProof="1">
                <a:solidFill>
                  <a:srgbClr val="0000FF"/>
                </a:solidFill>
                <a:latin typeface="Consolas" panose="020B0609020204030204" pitchFamily="49" charset="0"/>
              </a:rPr>
              <a:t>hello hello hello</a:t>
            </a:r>
          </a:p>
          <a:p>
            <a:pPr>
              <a:lnSpc>
                <a:spcPct val="80000"/>
              </a:lnSpc>
              <a:buSzPct val="90000"/>
              <a:buFont typeface="Wingdings" panose="05000000000000000000" pitchFamily="2" charset="2"/>
              <a:buNone/>
            </a:pPr>
            <a:r>
              <a:rPr lang="en-US" altLang="zh-CN" sz="1600" noProof="1">
                <a:latin typeface="Consolas" panose="020B0609020204030204" pitchFamily="49" charset="0"/>
              </a:rPr>
              <a:t>&gt;&gt;&gt; say('hi',7)</a:t>
            </a:r>
          </a:p>
          <a:p>
            <a:pPr>
              <a:lnSpc>
                <a:spcPct val="80000"/>
              </a:lnSpc>
              <a:buSzPct val="90000"/>
              <a:buFont typeface="Wingdings" panose="05000000000000000000" pitchFamily="2" charset="2"/>
              <a:buNone/>
            </a:pPr>
            <a:r>
              <a:rPr lang="en-US" altLang="zh-CN" sz="1600" noProof="1">
                <a:solidFill>
                  <a:srgbClr val="0000FF"/>
                </a:solidFill>
                <a:latin typeface="Consolas" panose="020B0609020204030204" pitchFamily="49" charset="0"/>
              </a:rPr>
              <a:t>hi hi hi hi hi hi hi</a:t>
            </a:r>
          </a:p>
        </p:txBody>
      </p:sp>
      <p:sp>
        <p:nvSpPr>
          <p:cNvPr id="13" name="文本框 1"/>
          <p:cNvSpPr txBox="1">
            <a:spLocks noChangeArrowheads="1"/>
          </p:cNvSpPr>
          <p:nvPr/>
        </p:nvSpPr>
        <p:spPr bwMode="auto">
          <a:xfrm>
            <a:off x="107504" y="3380935"/>
            <a:ext cx="7265391" cy="954107"/>
          </a:xfrm>
          <a:prstGeom prst="rect">
            <a:avLst/>
          </a:prstGeom>
          <a:noFill/>
          <a:ln w="9525">
            <a:noFill/>
            <a:miter lim="800000"/>
            <a:headEnd/>
            <a:tailEnd/>
          </a:ln>
        </p:spPr>
        <p:txBody>
          <a:bodyPr wrap="square">
            <a:spAutoFit/>
          </a:bodyPr>
          <a:lstStyle/>
          <a:p>
            <a:pPr marL="342900" indent="-342900">
              <a:lnSpc>
                <a:spcPct val="150000"/>
              </a:lnSpc>
              <a:buClr>
                <a:srgbClr val="FF0000"/>
              </a:buClr>
              <a:buFont typeface="Wingdings" panose="05000000000000000000" pitchFamily="2" charset="2"/>
              <a:buChar char="ü"/>
            </a:pPr>
            <a:r>
              <a:rPr lang="zh-CN" altLang="zh-CN" sz="2400" b="1" dirty="0">
                <a:solidFill>
                  <a:srgbClr val="0000FF"/>
                </a:solidFill>
                <a:latin typeface="仿宋" panose="02010609060101010101" pitchFamily="49" charset="-122"/>
                <a:ea typeface="仿宋" panose="02010609060101010101" pitchFamily="49" charset="-122"/>
              </a:rPr>
              <a:t>天天向上</a:t>
            </a:r>
            <a:r>
              <a:rPr lang="zh-CN" altLang="en-US" sz="2400" b="1" dirty="0">
                <a:solidFill>
                  <a:srgbClr val="0000FF"/>
                </a:solidFill>
                <a:latin typeface="仿宋" panose="02010609060101010101" pitchFamily="49" charset="-122"/>
                <a:ea typeface="仿宋" panose="02010609060101010101" pitchFamily="49" charset="-122"/>
              </a:rPr>
              <a:t>实例</a:t>
            </a:r>
          </a:p>
          <a:p>
            <a:pPr lvl="1">
              <a:buClr>
                <a:srgbClr val="FF0000"/>
              </a:buClr>
            </a:pPr>
            <a:endParaRPr lang="zh-CN" altLang="en-US" dirty="0"/>
          </a:p>
        </p:txBody>
      </p:sp>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7544" y="4002121"/>
            <a:ext cx="1674195" cy="1676771"/>
          </a:xfrm>
          <a:prstGeom prst="rect">
            <a:avLst/>
          </a:prstGeom>
        </p:spPr>
      </p:pic>
      <p:sp>
        <p:nvSpPr>
          <p:cNvPr id="15" name="矩形 14"/>
          <p:cNvSpPr/>
          <p:nvPr/>
        </p:nvSpPr>
        <p:spPr>
          <a:xfrm>
            <a:off x="2411760" y="3573016"/>
            <a:ext cx="6607813" cy="2913618"/>
          </a:xfrm>
          <a:prstGeom prst="rect">
            <a:avLst/>
          </a:prstGeom>
          <a:solidFill>
            <a:srgbClr val="92D050"/>
          </a:solidFill>
          <a:ln>
            <a:solidFill>
              <a:srgbClr val="FF0000"/>
            </a:solidFill>
          </a:ln>
        </p:spPr>
        <p:txBody>
          <a:bodyPr wrap="square">
            <a:spAutoFit/>
          </a:bodyPr>
          <a:lstStyle/>
          <a:p>
            <a:pPr lvl="0" algn="just">
              <a:lnSpc>
                <a:spcPts val="2000"/>
              </a:lnSpc>
            </a:pPr>
            <a:r>
              <a:rPr lang="en-US" altLang="zh-CN" sz="1400" dirty="0" err="1">
                <a:solidFill>
                  <a:srgbClr val="0000FF"/>
                </a:solidFill>
                <a:latin typeface="Consolas" panose="020B0609020204030204" charset="0"/>
                <a:ea typeface="+mn-ea"/>
              </a:rPr>
              <a:t>def</a:t>
            </a:r>
            <a:r>
              <a:rPr lang="en-US" altLang="zh-CN" sz="1400" dirty="0">
                <a:solidFill>
                  <a:srgbClr val="0000FF"/>
                </a:solidFill>
                <a:latin typeface="Consolas" panose="020B0609020204030204" charset="0"/>
                <a:ea typeface="+mn-ea"/>
              </a:rPr>
              <a:t> </a:t>
            </a:r>
            <a:r>
              <a:rPr lang="en-US" altLang="zh-CN" sz="1400" dirty="0" err="1">
                <a:latin typeface="Consolas" panose="020B0609020204030204" charset="0"/>
                <a:ea typeface="+mn-ea"/>
              </a:rPr>
              <a:t>DayUpFun</a:t>
            </a:r>
            <a:r>
              <a:rPr lang="en-US" altLang="zh-CN" sz="1400" dirty="0">
                <a:latin typeface="Consolas" panose="020B0609020204030204" charset="0"/>
                <a:ea typeface="+mn-ea"/>
              </a:rPr>
              <a:t>(</a:t>
            </a:r>
            <a:r>
              <a:rPr lang="en-US" altLang="zh-CN" sz="1400" dirty="0" err="1">
                <a:solidFill>
                  <a:srgbClr val="FF0000"/>
                </a:solidFill>
                <a:latin typeface="Consolas" panose="020B0609020204030204" charset="0"/>
                <a:ea typeface="+mn-ea"/>
              </a:rPr>
              <a:t>r,days</a:t>
            </a:r>
            <a:r>
              <a:rPr lang="en-US" altLang="zh-CN" sz="1400" dirty="0">
                <a:solidFill>
                  <a:srgbClr val="FF0000"/>
                </a:solidFill>
                <a:latin typeface="Consolas" panose="020B0609020204030204" charset="0"/>
                <a:ea typeface="+mn-ea"/>
              </a:rPr>
              <a:t> = 365</a:t>
            </a:r>
            <a:r>
              <a:rPr lang="en-US" altLang="zh-CN" sz="1400" dirty="0">
                <a:latin typeface="Consolas" panose="020B0609020204030204" charset="0"/>
                <a:ea typeface="+mn-ea"/>
              </a:rPr>
              <a:t>):</a:t>
            </a:r>
          </a:p>
          <a:p>
            <a:pPr lvl="0" algn="just">
              <a:lnSpc>
                <a:spcPts val="2000"/>
              </a:lnSpc>
            </a:pPr>
            <a:r>
              <a:rPr lang="en-US" altLang="zh-CN" sz="1400" dirty="0">
                <a:latin typeface="Consolas" panose="020B0609020204030204" charset="0"/>
                <a:ea typeface="+mn-ea"/>
              </a:rPr>
              <a:t>    </a:t>
            </a:r>
            <a:r>
              <a:rPr lang="en-US" altLang="zh-CN" sz="1400" dirty="0" err="1">
                <a:latin typeface="Consolas" panose="020B0609020204030204" charset="0"/>
                <a:ea typeface="+mn-ea"/>
              </a:rPr>
              <a:t>dayup</a:t>
            </a:r>
            <a:r>
              <a:rPr lang="en-US" altLang="zh-CN" sz="1400" dirty="0">
                <a:latin typeface="Consolas" panose="020B0609020204030204" charset="0"/>
                <a:ea typeface="+mn-ea"/>
              </a:rPr>
              <a:t> = </a:t>
            </a:r>
            <a:r>
              <a:rPr lang="en-US" altLang="zh-CN" sz="1400" dirty="0">
                <a:solidFill>
                  <a:srgbClr val="0000FF"/>
                </a:solidFill>
                <a:latin typeface="Consolas" panose="020B0609020204030204" charset="0"/>
                <a:ea typeface="+mn-ea"/>
              </a:rPr>
              <a:t>pow</a:t>
            </a:r>
            <a:r>
              <a:rPr lang="en-US" altLang="zh-CN" sz="1400" dirty="0">
                <a:latin typeface="Consolas" panose="020B0609020204030204" charset="0"/>
                <a:ea typeface="+mn-ea"/>
              </a:rPr>
              <a:t>((1.0 + r), days)  </a:t>
            </a:r>
          </a:p>
          <a:p>
            <a:pPr lvl="0" algn="just">
              <a:lnSpc>
                <a:spcPts val="2000"/>
              </a:lnSpc>
            </a:pPr>
            <a:r>
              <a:rPr lang="en-US" altLang="zh-CN" sz="1400" dirty="0">
                <a:latin typeface="Consolas" panose="020B0609020204030204" charset="0"/>
                <a:ea typeface="+mn-ea"/>
              </a:rPr>
              <a:t>    </a:t>
            </a:r>
            <a:r>
              <a:rPr lang="en-US" altLang="zh-CN" sz="1400" dirty="0" err="1">
                <a:latin typeface="Consolas" panose="020B0609020204030204" charset="0"/>
                <a:ea typeface="+mn-ea"/>
              </a:rPr>
              <a:t>daydown</a:t>
            </a:r>
            <a:r>
              <a:rPr lang="en-US" altLang="zh-CN" sz="1400" dirty="0">
                <a:latin typeface="Consolas" panose="020B0609020204030204" charset="0"/>
                <a:ea typeface="+mn-ea"/>
              </a:rPr>
              <a:t> = </a:t>
            </a:r>
            <a:r>
              <a:rPr lang="en-US" altLang="zh-CN" sz="1400" dirty="0">
                <a:solidFill>
                  <a:srgbClr val="0000FF"/>
                </a:solidFill>
                <a:latin typeface="Consolas" panose="020B0609020204030204" charset="0"/>
                <a:ea typeface="+mn-ea"/>
              </a:rPr>
              <a:t>pow</a:t>
            </a:r>
            <a:r>
              <a:rPr lang="en-US" altLang="zh-CN" sz="1400" dirty="0">
                <a:latin typeface="Consolas" panose="020B0609020204030204" charset="0"/>
                <a:ea typeface="+mn-ea"/>
              </a:rPr>
              <a:t>((1.0 - r), days)</a:t>
            </a:r>
          </a:p>
          <a:p>
            <a:pPr lvl="0" algn="just">
              <a:lnSpc>
                <a:spcPts val="2000"/>
              </a:lnSpc>
            </a:pPr>
            <a:r>
              <a:rPr lang="en-US" altLang="zh-CN" sz="1400" dirty="0">
                <a:latin typeface="Consolas" panose="020B0609020204030204" charset="0"/>
                <a:ea typeface="+mn-ea"/>
              </a:rPr>
              <a:t>    </a:t>
            </a:r>
            <a:r>
              <a:rPr lang="en-US" altLang="zh-CN" sz="1400" dirty="0">
                <a:solidFill>
                  <a:srgbClr val="0000FF"/>
                </a:solidFill>
                <a:latin typeface="Consolas" panose="020B0609020204030204" charset="0"/>
                <a:ea typeface="+mn-ea"/>
              </a:rPr>
              <a:t>return</a:t>
            </a:r>
            <a:r>
              <a:rPr lang="en-US" altLang="zh-CN" sz="1400" dirty="0">
                <a:latin typeface="Consolas" panose="020B0609020204030204" charset="0"/>
                <a:ea typeface="+mn-ea"/>
              </a:rPr>
              <a:t> </a:t>
            </a:r>
            <a:r>
              <a:rPr lang="en-US" altLang="zh-CN" sz="1400" dirty="0" err="1">
                <a:latin typeface="Consolas" panose="020B0609020204030204" charset="0"/>
                <a:ea typeface="+mn-ea"/>
              </a:rPr>
              <a:t>dayup,daydown</a:t>
            </a:r>
            <a:endParaRPr lang="en-US" altLang="zh-CN" sz="1400" dirty="0">
              <a:latin typeface="Consolas" panose="020B0609020204030204" charset="0"/>
              <a:ea typeface="+mn-ea"/>
            </a:endParaRPr>
          </a:p>
          <a:p>
            <a:pPr lvl="0" algn="just">
              <a:lnSpc>
                <a:spcPts val="2000"/>
              </a:lnSpc>
            </a:pPr>
            <a:endParaRPr lang="en-US" altLang="zh-CN" sz="1400" dirty="0">
              <a:latin typeface="Consolas" panose="020B0609020204030204" charset="0"/>
              <a:ea typeface="+mn-ea"/>
            </a:endParaRPr>
          </a:p>
          <a:p>
            <a:pPr lvl="0" algn="just">
              <a:lnSpc>
                <a:spcPts val="2000"/>
              </a:lnSpc>
            </a:pPr>
            <a:r>
              <a:rPr lang="en-US" altLang="zh-CN" sz="1400" dirty="0" err="1">
                <a:solidFill>
                  <a:srgbClr val="0000FF"/>
                </a:solidFill>
                <a:latin typeface="Consolas" panose="020B0609020204030204" charset="0"/>
                <a:ea typeface="+mn-ea"/>
              </a:rPr>
              <a:t>def</a:t>
            </a:r>
            <a:r>
              <a:rPr lang="en-US" altLang="zh-CN" sz="1400" dirty="0">
                <a:solidFill>
                  <a:srgbClr val="0000FF"/>
                </a:solidFill>
                <a:latin typeface="Consolas" panose="020B0609020204030204" charset="0"/>
                <a:ea typeface="+mn-ea"/>
              </a:rPr>
              <a:t> </a:t>
            </a:r>
            <a:r>
              <a:rPr lang="en-US" altLang="zh-CN" sz="1400" dirty="0">
                <a:latin typeface="Consolas" panose="020B0609020204030204" charset="0"/>
                <a:ea typeface="+mn-ea"/>
              </a:rPr>
              <a:t>Main():</a:t>
            </a:r>
          </a:p>
          <a:p>
            <a:pPr lvl="0" algn="just">
              <a:lnSpc>
                <a:spcPts val="2000"/>
              </a:lnSpc>
            </a:pPr>
            <a:r>
              <a:rPr lang="en-US" altLang="zh-CN" sz="1400" dirty="0">
                <a:latin typeface="Consolas" panose="020B0609020204030204" charset="0"/>
                <a:ea typeface="+mn-ea"/>
              </a:rPr>
              <a:t>    r = </a:t>
            </a:r>
            <a:r>
              <a:rPr lang="en-US" altLang="zh-CN" sz="1400" dirty="0" err="1">
                <a:solidFill>
                  <a:srgbClr val="0000FF"/>
                </a:solidFill>
                <a:latin typeface="Consolas" panose="020B0609020204030204" charset="0"/>
                <a:ea typeface="+mn-ea"/>
              </a:rPr>
              <a:t>eval</a:t>
            </a:r>
            <a:r>
              <a:rPr lang="en-US" altLang="zh-CN" sz="1400" dirty="0">
                <a:latin typeface="Consolas" panose="020B0609020204030204" charset="0"/>
                <a:ea typeface="+mn-ea"/>
              </a:rPr>
              <a:t>(</a:t>
            </a:r>
            <a:r>
              <a:rPr lang="en-US" altLang="zh-CN" sz="1400" dirty="0">
                <a:solidFill>
                  <a:srgbClr val="0000FF"/>
                </a:solidFill>
                <a:latin typeface="Consolas" panose="020B0609020204030204" charset="0"/>
                <a:ea typeface="+mn-ea"/>
              </a:rPr>
              <a:t>input</a:t>
            </a:r>
            <a:r>
              <a:rPr lang="en-US" altLang="zh-CN" sz="1400" dirty="0">
                <a:latin typeface="Consolas" panose="020B0609020204030204" charset="0"/>
                <a:ea typeface="+mn-ea"/>
              </a:rPr>
              <a:t>("ratio:"))</a:t>
            </a:r>
          </a:p>
          <a:p>
            <a:pPr lvl="0" algn="just">
              <a:lnSpc>
                <a:spcPts val="2000"/>
              </a:lnSpc>
            </a:pPr>
            <a:r>
              <a:rPr lang="en-US" altLang="zh-CN" sz="1400" dirty="0">
                <a:latin typeface="Consolas" panose="020B0609020204030204" charset="0"/>
                <a:ea typeface="+mn-ea"/>
              </a:rPr>
              <a:t>    </a:t>
            </a:r>
            <a:r>
              <a:rPr lang="en-US" altLang="zh-CN" sz="1400" dirty="0" err="1">
                <a:latin typeface="Consolas" panose="020B0609020204030204" charset="0"/>
                <a:ea typeface="+mn-ea"/>
              </a:rPr>
              <a:t>dayup</a:t>
            </a:r>
            <a:r>
              <a:rPr lang="en-US" altLang="zh-CN" sz="1400" dirty="0">
                <a:latin typeface="Consolas" panose="020B0609020204030204" charset="0"/>
                <a:ea typeface="+mn-ea"/>
              </a:rPr>
              <a:t>, </a:t>
            </a:r>
            <a:r>
              <a:rPr lang="en-US" altLang="zh-CN" sz="1400" dirty="0" err="1">
                <a:latin typeface="Consolas" panose="020B0609020204030204" charset="0"/>
                <a:ea typeface="+mn-ea"/>
              </a:rPr>
              <a:t>daydown</a:t>
            </a:r>
            <a:r>
              <a:rPr lang="en-US" altLang="zh-CN" sz="1400" dirty="0">
                <a:latin typeface="Consolas" panose="020B0609020204030204" charset="0"/>
                <a:ea typeface="+mn-ea"/>
              </a:rPr>
              <a:t> = </a:t>
            </a:r>
            <a:r>
              <a:rPr lang="en-US" altLang="zh-CN" sz="1400" dirty="0" err="1">
                <a:latin typeface="Consolas" panose="020B0609020204030204" charset="0"/>
                <a:ea typeface="+mn-ea"/>
              </a:rPr>
              <a:t>DayUpFun</a:t>
            </a:r>
            <a:r>
              <a:rPr lang="en-US" altLang="zh-CN" sz="1400" dirty="0">
                <a:latin typeface="Consolas" panose="020B0609020204030204" charset="0"/>
                <a:ea typeface="+mn-ea"/>
              </a:rPr>
              <a:t>(r)</a:t>
            </a:r>
          </a:p>
          <a:p>
            <a:pPr lvl="0" algn="just">
              <a:lnSpc>
                <a:spcPts val="2000"/>
              </a:lnSpc>
            </a:pPr>
            <a:r>
              <a:rPr lang="en-US" altLang="zh-CN" sz="1400" dirty="0">
                <a:latin typeface="Consolas" panose="020B0609020204030204" charset="0"/>
                <a:ea typeface="+mn-ea"/>
              </a:rPr>
              <a:t>    print("</a:t>
            </a:r>
            <a:r>
              <a:rPr lang="en-US" altLang="zh-CN" sz="1400" dirty="0" err="1">
                <a:latin typeface="Consolas" panose="020B0609020204030204" charset="0"/>
                <a:ea typeface="+mn-ea"/>
              </a:rPr>
              <a:t>dayUp</a:t>
            </a:r>
            <a:r>
              <a:rPr lang="en-US" altLang="zh-CN" sz="1400" dirty="0">
                <a:latin typeface="Consolas" panose="020B0609020204030204" charset="0"/>
                <a:ea typeface="+mn-ea"/>
              </a:rPr>
              <a:t>:{:.2f}, </a:t>
            </a:r>
            <a:r>
              <a:rPr lang="en-US" altLang="zh-CN" sz="1400" dirty="0" err="1">
                <a:latin typeface="Consolas" panose="020B0609020204030204" charset="0"/>
                <a:ea typeface="+mn-ea"/>
              </a:rPr>
              <a:t>dayDown</a:t>
            </a:r>
            <a:r>
              <a:rPr lang="en-US" altLang="zh-CN" sz="1400" dirty="0">
                <a:latin typeface="Consolas" panose="020B0609020204030204" charset="0"/>
                <a:ea typeface="+mn-ea"/>
              </a:rPr>
              <a:t>:{:.2f}.".</a:t>
            </a:r>
            <a:r>
              <a:rPr lang="en-US" altLang="zh-CN" sz="1400" dirty="0">
                <a:solidFill>
                  <a:srgbClr val="0000FF"/>
                </a:solidFill>
                <a:latin typeface="Consolas" panose="020B0609020204030204" charset="0"/>
                <a:ea typeface="+mn-ea"/>
              </a:rPr>
              <a:t>format</a:t>
            </a:r>
            <a:r>
              <a:rPr lang="en-US" altLang="zh-CN" sz="1400" dirty="0">
                <a:latin typeface="Consolas" panose="020B0609020204030204" charset="0"/>
                <a:ea typeface="+mn-ea"/>
              </a:rPr>
              <a:t>(</a:t>
            </a:r>
            <a:r>
              <a:rPr lang="en-US" altLang="zh-CN" sz="1400" dirty="0" err="1">
                <a:latin typeface="Consolas" panose="020B0609020204030204" charset="0"/>
                <a:ea typeface="+mn-ea"/>
              </a:rPr>
              <a:t>dayup</a:t>
            </a:r>
            <a:r>
              <a:rPr lang="en-US" altLang="zh-CN" sz="1400" dirty="0">
                <a:latin typeface="Consolas" panose="020B0609020204030204" charset="0"/>
                <a:ea typeface="+mn-ea"/>
              </a:rPr>
              <a:t>, </a:t>
            </a:r>
            <a:r>
              <a:rPr lang="en-US" altLang="zh-CN" sz="1400" dirty="0" err="1">
                <a:latin typeface="Consolas" panose="020B0609020204030204" charset="0"/>
                <a:ea typeface="+mn-ea"/>
              </a:rPr>
              <a:t>daydown</a:t>
            </a:r>
            <a:r>
              <a:rPr lang="en-US" altLang="zh-CN" sz="1400" dirty="0">
                <a:latin typeface="Consolas" panose="020B0609020204030204" charset="0"/>
                <a:ea typeface="+mn-ea"/>
              </a:rPr>
              <a:t>))</a:t>
            </a:r>
          </a:p>
          <a:p>
            <a:pPr lvl="0" algn="just">
              <a:lnSpc>
                <a:spcPts val="2000"/>
              </a:lnSpc>
            </a:pPr>
            <a:endParaRPr lang="en-US" altLang="zh-CN" sz="1400" dirty="0">
              <a:latin typeface="Consolas" panose="020B0609020204030204" charset="0"/>
              <a:ea typeface="+mn-ea"/>
            </a:endParaRPr>
          </a:p>
          <a:p>
            <a:pPr lvl="0" algn="just">
              <a:lnSpc>
                <a:spcPts val="2000"/>
              </a:lnSpc>
            </a:pPr>
            <a:r>
              <a:rPr lang="en-US" altLang="zh-CN" sz="1400" dirty="0">
                <a:latin typeface="Consolas" panose="020B0609020204030204" charset="0"/>
                <a:ea typeface="+mn-ea"/>
              </a:rPr>
              <a:t>Main()</a:t>
            </a:r>
            <a:endParaRPr lang="zh-CN" altLang="zh-CN" sz="1400" dirty="0">
              <a:latin typeface="Consolas" panose="020B0609020204030204" charset="0"/>
              <a:ea typeface="+mn-ea"/>
            </a:endParaRPr>
          </a:p>
        </p:txBody>
      </p:sp>
    </p:spTree>
    <p:extLst>
      <p:ext uri="{BB962C8B-B14F-4D97-AF65-F5344CB8AC3E}">
        <p14:creationId xmlns:p14="http://schemas.microsoft.com/office/powerpoint/2010/main" val="420022333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000"/>
                                        <p:tgtEl>
                                          <p:spTgt spid="14"/>
                                        </p:tgtEl>
                                      </p:cBhvr>
                                    </p:animEffect>
                                    <p:anim calcmode="lin" valueType="num">
                                      <p:cBhvr>
                                        <p:cTn id="36" dur="1000" fill="hold"/>
                                        <p:tgtEl>
                                          <p:spTgt spid="14"/>
                                        </p:tgtEl>
                                        <p:attrNameLst>
                                          <p:attrName>ppt_x</p:attrName>
                                        </p:attrNameLst>
                                      </p:cBhvr>
                                      <p:tavLst>
                                        <p:tav tm="0">
                                          <p:val>
                                            <p:strVal val="#ppt_x"/>
                                          </p:val>
                                        </p:tav>
                                        <p:tav tm="100000">
                                          <p:val>
                                            <p:strVal val="#ppt_x"/>
                                          </p:val>
                                        </p:tav>
                                      </p:tavLst>
                                    </p:anim>
                                    <p:anim calcmode="lin" valueType="num">
                                      <p:cBhvr>
                                        <p:cTn id="3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500" fill="hold"/>
                                        <p:tgtEl>
                                          <p:spTgt spid="15"/>
                                        </p:tgtEl>
                                        <p:attrNameLst>
                                          <p:attrName>ppt_x</p:attrName>
                                        </p:attrNameLst>
                                      </p:cBhvr>
                                      <p:tavLst>
                                        <p:tav tm="0">
                                          <p:val>
                                            <p:strVal val="#ppt_x"/>
                                          </p:val>
                                        </p:tav>
                                        <p:tav tm="100000">
                                          <p:val>
                                            <p:strVal val="#ppt_x"/>
                                          </p:val>
                                        </p:tav>
                                      </p:tavLst>
                                    </p:anim>
                                    <p:anim calcmode="lin" valueType="num">
                                      <p:cBhvr additive="base">
                                        <p:cTn id="4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文本占位符 30722"/>
          <p:cNvSpPr>
            <a:spLocks noGrp="1"/>
          </p:cNvSpPr>
          <p:nvPr>
            <p:ph idx="1"/>
          </p:nvPr>
        </p:nvSpPr>
        <p:spPr>
          <a:xfrm>
            <a:off x="719941" y="1208568"/>
            <a:ext cx="8229600" cy="4678451"/>
          </a:xfrm>
        </p:spPr>
        <p:txBody>
          <a:bodyPr vert="horz" wrap="square" lIns="68591" tIns="34295" rIns="68591" bIns="34295" numCol="1" anchor="t" anchorCtr="0" compatLnSpc="1">
            <a:prstTxWarp prst="textNoShape">
              <a:avLst/>
            </a:prstTxWarp>
          </a:bodyPr>
          <a:lstStyle/>
          <a:p>
            <a:pPr eaLnBrk="1" fontAlgn="base" hangingPunct="1">
              <a:lnSpc>
                <a:spcPct val="150000"/>
              </a:lnSpc>
              <a:spcBef>
                <a:spcPct val="0"/>
              </a:spcBef>
              <a:buClr>
                <a:srgbClr val="FF0000"/>
              </a:buClr>
              <a:buSzPct val="90000"/>
              <a:buFont typeface="Wingdings" panose="05000000000000000000" pitchFamily="2" charset="2"/>
              <a:buChar char="n"/>
            </a:pPr>
            <a:r>
              <a:rPr lang="zh-CN" altLang="en-US" sz="1800" noProof="1"/>
              <a:t>下面的函数使用指定分隔符将列表中所有字符串元素连接成一个字符串。</a:t>
            </a:r>
          </a:p>
          <a:p>
            <a:pPr eaLnBrk="1" fontAlgn="base" hangingPunct="1">
              <a:lnSpc>
                <a:spcPct val="80000"/>
              </a:lnSpc>
              <a:buSzPct val="90000"/>
              <a:buFont typeface="Wingdings" panose="05000000000000000000" pitchFamily="2" charset="2"/>
              <a:buChar char="•"/>
            </a:pPr>
            <a:endParaRPr lang="zh-CN" altLang="en-US" sz="1350" noProof="1"/>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19</a:t>
            </a:fld>
            <a:endParaRPr lang="zh-CN" altLang="en-US"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4" name="矩形 3"/>
          <p:cNvSpPr/>
          <p:nvPr/>
        </p:nvSpPr>
        <p:spPr>
          <a:xfrm>
            <a:off x="314648" y="908720"/>
            <a:ext cx="2169120" cy="461665"/>
          </a:xfrm>
          <a:prstGeom prst="rect">
            <a:avLst/>
          </a:prstGeom>
        </p:spPr>
        <p:txBody>
          <a:bodyPr wrap="square">
            <a:spAutoFit/>
          </a:bodyPr>
          <a:lstStyle/>
          <a:p>
            <a:pPr marL="285750" indent="-285750">
              <a:buClr>
                <a:srgbClr val="FF0000"/>
              </a:buClr>
              <a:buFont typeface="Wingdings" panose="05000000000000000000" pitchFamily="2" charset="2"/>
              <a:buChar char="Ø"/>
            </a:pPr>
            <a:r>
              <a:rPr lang="zh-CN" altLang="en-US" sz="2400" b="1" noProof="1">
                <a:solidFill>
                  <a:srgbClr val="0000FF"/>
                </a:solidFill>
                <a:ea typeface="仿宋" panose="02010609060101010101" pitchFamily="49" charset="-122"/>
              </a:rPr>
              <a:t>默认值参数</a:t>
            </a:r>
            <a:endParaRPr lang="zh-CN" altLang="en-US" sz="2400" dirty="0">
              <a:ea typeface="仿宋" panose="02010609060101010101" pitchFamily="49" charset="-122"/>
            </a:endParaRPr>
          </a:p>
        </p:txBody>
      </p:sp>
      <p:sp>
        <p:nvSpPr>
          <p:cNvPr id="5" name="矩形 4"/>
          <p:cNvSpPr/>
          <p:nvPr/>
        </p:nvSpPr>
        <p:spPr>
          <a:xfrm>
            <a:off x="1907704" y="1594034"/>
            <a:ext cx="5474087" cy="1815882"/>
          </a:xfrm>
          <a:prstGeom prst="rect">
            <a:avLst/>
          </a:prstGeom>
        </p:spPr>
        <p:txBody>
          <a:bodyPr wrap="square">
            <a:spAutoFit/>
          </a:bodyPr>
          <a:lstStyle/>
          <a:p>
            <a:pPr>
              <a:buSzPct val="90000"/>
            </a:pPr>
            <a:r>
              <a:rPr lang="en-US" altLang="zh-CN" sz="1400" noProof="1">
                <a:latin typeface="Consolas" panose="020B0609020204030204" pitchFamily="49" charset="0"/>
              </a:rPr>
              <a:t>&gt;&gt;&gt; def Join(List,sep=None):</a:t>
            </a:r>
          </a:p>
          <a:p>
            <a:pPr>
              <a:buSzPct val="90000"/>
            </a:pPr>
            <a:r>
              <a:rPr lang="en-US" altLang="zh-CN" sz="1400" noProof="1">
                <a:latin typeface="Consolas" panose="020B0609020204030204" pitchFamily="49" charset="0"/>
              </a:rPr>
              <a:t>    return (sep or '').join(List)</a:t>
            </a:r>
          </a:p>
          <a:p>
            <a:pPr>
              <a:buSzPct val="90000"/>
            </a:pPr>
            <a:endParaRPr lang="en-US" altLang="zh-CN" sz="1400" noProof="1">
              <a:latin typeface="Consolas" panose="020B0609020204030204" pitchFamily="49" charset="0"/>
            </a:endParaRPr>
          </a:p>
          <a:p>
            <a:pPr>
              <a:buSzPct val="90000"/>
            </a:pPr>
            <a:r>
              <a:rPr lang="en-US" altLang="zh-CN" sz="1400" noProof="1">
                <a:latin typeface="Consolas" panose="020B0609020204030204" pitchFamily="49" charset="0"/>
              </a:rPr>
              <a:t>&gt;&gt;&gt; aList = ['a', 'b', 'c']</a:t>
            </a:r>
          </a:p>
          <a:p>
            <a:pPr>
              <a:buSzPct val="90000"/>
            </a:pPr>
            <a:r>
              <a:rPr lang="en-US" altLang="zh-CN" sz="1400" noProof="1">
                <a:latin typeface="Consolas" panose="020B0609020204030204" pitchFamily="49" charset="0"/>
              </a:rPr>
              <a:t>&gt;&gt;&gt; Join(aList)</a:t>
            </a:r>
          </a:p>
          <a:p>
            <a:pPr>
              <a:buSzPct val="90000"/>
            </a:pPr>
            <a:r>
              <a:rPr lang="en-US" altLang="zh-CN" sz="1400" noProof="1">
                <a:solidFill>
                  <a:srgbClr val="0000FF"/>
                </a:solidFill>
                <a:latin typeface="Consolas" panose="020B0609020204030204" pitchFamily="49" charset="0"/>
              </a:rPr>
              <a:t>'a b c'</a:t>
            </a:r>
          </a:p>
          <a:p>
            <a:pPr>
              <a:buSzPct val="90000"/>
            </a:pPr>
            <a:r>
              <a:rPr lang="en-US" altLang="zh-CN" sz="1400" noProof="1">
                <a:latin typeface="Consolas" panose="020B0609020204030204" pitchFamily="49" charset="0"/>
              </a:rPr>
              <a:t>&gt;&gt;&gt; Join(aList, ',')</a:t>
            </a:r>
          </a:p>
          <a:p>
            <a:pPr>
              <a:buSzPct val="90000"/>
            </a:pPr>
            <a:r>
              <a:rPr lang="en-US" altLang="zh-CN" sz="1400" noProof="1">
                <a:solidFill>
                  <a:srgbClr val="0000FF"/>
                </a:solidFill>
                <a:latin typeface="Consolas" panose="020B0609020204030204" pitchFamily="49" charset="0"/>
              </a:rPr>
              <a:t>'a,b,c'</a:t>
            </a:r>
          </a:p>
        </p:txBody>
      </p:sp>
      <p:sp>
        <p:nvSpPr>
          <p:cNvPr id="13" name="文本占位符 28674"/>
          <p:cNvSpPr txBox="1">
            <a:spLocks/>
          </p:cNvSpPr>
          <p:nvPr/>
        </p:nvSpPr>
        <p:spPr bwMode="auto">
          <a:xfrm>
            <a:off x="756156" y="3409916"/>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buClr>
                <a:srgbClr val="FF0000"/>
              </a:buClr>
              <a:buSzPct val="90000"/>
              <a:buFont typeface="Wingdings" panose="05000000000000000000" pitchFamily="2" charset="2"/>
              <a:buChar char="n"/>
              <a:defRPr/>
            </a:pPr>
            <a:r>
              <a:rPr lang="zh-CN" altLang="en-US" sz="1800" noProof="1"/>
              <a:t>注意：默认值参数必须出现在函数参数列表的最右端，</a:t>
            </a:r>
            <a:r>
              <a:rPr lang="zh-CN" altLang="en-US" sz="1800" noProof="1">
                <a:solidFill>
                  <a:srgbClr val="FF0000"/>
                </a:solidFill>
              </a:rPr>
              <a:t>任何一个默认值参数右边不能有非默认值参数</a:t>
            </a:r>
            <a:r>
              <a:rPr lang="zh-CN" altLang="en-US" sz="1800" noProof="1"/>
              <a:t>。</a:t>
            </a:r>
            <a:endParaRPr lang="en-US" altLang="zh-CN" sz="1800" noProof="1"/>
          </a:p>
          <a:p>
            <a:pPr>
              <a:lnSpc>
                <a:spcPts val="1200"/>
              </a:lnSpc>
              <a:spcBef>
                <a:spcPts val="0"/>
              </a:spcBef>
              <a:buClr>
                <a:srgbClr val="FF0000"/>
              </a:buClr>
              <a:buSzPct val="90000"/>
              <a:buFont typeface="Wingdings" panose="05000000000000000000" pitchFamily="2" charset="2"/>
              <a:buChar char="n"/>
              <a:defRPr/>
            </a:pPr>
            <a:endParaRPr lang="zh-CN" altLang="en-US" sz="1800" noProof="1">
              <a:latin typeface="+mn-lt"/>
              <a:ea typeface="+mn-ea"/>
            </a:endParaRPr>
          </a:p>
          <a:p>
            <a:pPr marL="0" indent="0">
              <a:spcBef>
                <a:spcPct val="0"/>
              </a:spcBef>
              <a:buSzPct val="90000"/>
              <a:buFont typeface="Arial" charset="0"/>
              <a:buNone/>
              <a:defRPr/>
            </a:pPr>
            <a:r>
              <a:rPr lang="zh-CN" altLang="en-US" sz="1350" noProof="1">
                <a:latin typeface="Consolas" panose="020B0609020204030204" pitchFamily="49" charset="0"/>
                <a:ea typeface="+mn-ea"/>
              </a:rPr>
              <a:t>&gt;&gt;&gt; def func(a=3, b, c=5):</a:t>
            </a:r>
            <a:endParaRPr lang="zh-CN" altLang="en-US" sz="1350" noProof="1">
              <a:solidFill>
                <a:srgbClr val="0000FF"/>
              </a:solidFill>
              <a:latin typeface="Consolas" panose="020B0609020204030204" pitchFamily="49" charset="0"/>
              <a:ea typeface="+mn-ea"/>
            </a:endParaRPr>
          </a:p>
          <a:p>
            <a:pPr marL="0" indent="0">
              <a:spcBef>
                <a:spcPct val="0"/>
              </a:spcBef>
              <a:buSzPct val="90000"/>
              <a:buFont typeface="Arial" charset="0"/>
              <a:buNone/>
              <a:defRPr/>
            </a:pPr>
            <a:r>
              <a:rPr lang="zh-CN" altLang="en-US" sz="1350" noProof="1">
                <a:latin typeface="Consolas" panose="020B0609020204030204" pitchFamily="49" charset="0"/>
                <a:ea typeface="+mn-ea"/>
              </a:rPr>
              <a:t>    print(a, b, c)</a:t>
            </a:r>
            <a:endParaRPr lang="en-US" altLang="zh-CN" sz="1350" noProof="1">
              <a:latin typeface="Consolas" panose="020B0609020204030204" pitchFamily="49" charset="0"/>
              <a:ea typeface="+mn-ea"/>
            </a:endParaRPr>
          </a:p>
          <a:p>
            <a:pPr marL="0" indent="0">
              <a:spcBef>
                <a:spcPct val="0"/>
              </a:spcBef>
              <a:buSzPct val="90000"/>
              <a:buFont typeface="Arial" charset="0"/>
              <a:buNone/>
              <a:defRPr/>
            </a:pPr>
            <a:endParaRPr lang="en-US" altLang="zh-CN" sz="1350" noProof="1">
              <a:solidFill>
                <a:srgbClr val="FF0000"/>
              </a:solidFill>
              <a:latin typeface="Consolas" panose="020B0609020204030204" pitchFamily="49" charset="0"/>
              <a:ea typeface="+mn-ea"/>
            </a:endParaRPr>
          </a:p>
          <a:p>
            <a:pPr marL="0" indent="0">
              <a:spcBef>
                <a:spcPct val="0"/>
              </a:spcBef>
              <a:buSzPct val="90000"/>
              <a:buFont typeface="Arial" charset="0"/>
              <a:buNone/>
              <a:defRPr/>
            </a:pPr>
            <a:r>
              <a:rPr lang="zh-CN" altLang="en-US" sz="1350" noProof="1">
                <a:solidFill>
                  <a:srgbClr val="FF0000"/>
                </a:solidFill>
                <a:latin typeface="Consolas" panose="020B0609020204030204" pitchFamily="49" charset="0"/>
                <a:ea typeface="+mn-ea"/>
              </a:rPr>
              <a:t>SyntaxError: non-default argument follows default argument</a:t>
            </a:r>
            <a:endParaRPr lang="en-US" altLang="zh-CN" sz="1350" noProof="1">
              <a:solidFill>
                <a:srgbClr val="FF0000"/>
              </a:solidFill>
              <a:latin typeface="Consolas" panose="020B0609020204030204" pitchFamily="49" charset="0"/>
              <a:ea typeface="+mn-ea"/>
            </a:endParaRPr>
          </a:p>
          <a:p>
            <a:pPr marL="0" indent="0">
              <a:spcBef>
                <a:spcPct val="0"/>
              </a:spcBef>
              <a:buSzPct val="90000"/>
              <a:buFont typeface="Arial" charset="0"/>
              <a:buNone/>
              <a:defRPr/>
            </a:pPr>
            <a:endParaRPr lang="zh-CN" altLang="en-US" sz="1350" noProof="1">
              <a:solidFill>
                <a:srgbClr val="FF0000"/>
              </a:solidFill>
              <a:latin typeface="Consolas" panose="020B0609020204030204" pitchFamily="49" charset="0"/>
              <a:ea typeface="+mn-ea"/>
            </a:endParaRPr>
          </a:p>
          <a:p>
            <a:pPr marL="0" indent="0">
              <a:spcBef>
                <a:spcPct val="0"/>
              </a:spcBef>
              <a:buSzPct val="90000"/>
              <a:buFont typeface="Arial" charset="0"/>
              <a:buNone/>
              <a:defRPr/>
            </a:pPr>
            <a:r>
              <a:rPr lang="zh-CN" altLang="en-US" sz="1350" noProof="1">
                <a:latin typeface="Consolas" panose="020B0609020204030204" pitchFamily="49" charset="0"/>
                <a:ea typeface="+mn-ea"/>
              </a:rPr>
              <a:t>&gt;&gt;&gt; def func(a=3, b): </a:t>
            </a:r>
            <a:endParaRPr lang="en-US" altLang="zh-CN" sz="1350" noProof="1">
              <a:latin typeface="Consolas" panose="020B0609020204030204" pitchFamily="49" charset="0"/>
              <a:ea typeface="+mn-ea"/>
            </a:endParaRPr>
          </a:p>
          <a:p>
            <a:pPr marL="0" indent="0">
              <a:spcBef>
                <a:spcPct val="0"/>
              </a:spcBef>
              <a:buSzPct val="90000"/>
              <a:buFont typeface="Arial" charset="0"/>
              <a:buNone/>
              <a:defRPr/>
            </a:pPr>
            <a:r>
              <a:rPr lang="zh-CN" altLang="en-US" sz="1350" noProof="1">
                <a:latin typeface="Consolas" panose="020B0609020204030204" pitchFamily="49" charset="0"/>
                <a:ea typeface="+mn-ea"/>
              </a:rPr>
              <a:t>print(a, b)</a:t>
            </a:r>
          </a:p>
          <a:p>
            <a:pPr marL="0" indent="0">
              <a:spcBef>
                <a:spcPct val="0"/>
              </a:spcBef>
              <a:buSzPct val="90000"/>
              <a:buFont typeface="Arial" charset="0"/>
              <a:buNone/>
              <a:defRPr/>
            </a:pPr>
            <a:endParaRPr lang="zh-CN" altLang="en-US" sz="1350" noProof="1">
              <a:latin typeface="Consolas" panose="020B0609020204030204" pitchFamily="49" charset="0"/>
              <a:ea typeface="+mn-ea"/>
            </a:endParaRPr>
          </a:p>
          <a:p>
            <a:pPr marL="0" indent="0">
              <a:spcBef>
                <a:spcPct val="0"/>
              </a:spcBef>
              <a:buSzPct val="90000"/>
              <a:buFont typeface="Arial" charset="0"/>
              <a:buNone/>
              <a:defRPr/>
            </a:pPr>
            <a:r>
              <a:rPr lang="zh-CN" altLang="en-US" sz="1350" noProof="1">
                <a:solidFill>
                  <a:srgbClr val="FF0000"/>
                </a:solidFill>
                <a:latin typeface="Consolas" panose="020B0609020204030204" pitchFamily="49" charset="0"/>
                <a:ea typeface="+mn-ea"/>
              </a:rPr>
              <a:t>SyntaxError: non-default argument follows default argument</a:t>
            </a:r>
          </a:p>
          <a:p>
            <a:pPr marL="0" indent="0">
              <a:lnSpc>
                <a:spcPts val="1200"/>
              </a:lnSpc>
              <a:spcBef>
                <a:spcPct val="0"/>
              </a:spcBef>
              <a:buSzPct val="90000"/>
              <a:buFont typeface="Arial" charset="0"/>
              <a:buNone/>
              <a:defRPr/>
            </a:pPr>
            <a:endParaRPr lang="en-US" altLang="zh-CN" sz="1350" noProof="1">
              <a:latin typeface="Consolas" panose="020B0609020204030204" pitchFamily="49" charset="0"/>
              <a:ea typeface="+mn-ea"/>
            </a:endParaRPr>
          </a:p>
          <a:p>
            <a:pPr marL="0" indent="0">
              <a:spcBef>
                <a:spcPct val="0"/>
              </a:spcBef>
              <a:buSzPct val="90000"/>
              <a:buFont typeface="Arial" charset="0"/>
              <a:buNone/>
              <a:defRPr/>
            </a:pPr>
            <a:r>
              <a:rPr lang="zh-CN" altLang="en-US" sz="1350" noProof="1">
                <a:latin typeface="Consolas" panose="020B0609020204030204" pitchFamily="49" charset="0"/>
                <a:ea typeface="+mn-ea"/>
              </a:rPr>
              <a:t>&gt;&gt;&gt; def func(a, b, c=5):      </a:t>
            </a:r>
            <a:endParaRPr lang="zh-CN" altLang="en-US" sz="1350" noProof="1">
              <a:solidFill>
                <a:srgbClr val="0000FF"/>
              </a:solidFill>
              <a:latin typeface="Consolas" panose="020B0609020204030204" pitchFamily="49" charset="0"/>
              <a:ea typeface="+mn-ea"/>
            </a:endParaRPr>
          </a:p>
          <a:p>
            <a:pPr marL="0" indent="0">
              <a:spcBef>
                <a:spcPct val="0"/>
              </a:spcBef>
              <a:buSzPct val="90000"/>
              <a:buFont typeface="Arial" charset="0"/>
              <a:buNone/>
              <a:defRPr/>
            </a:pPr>
            <a:r>
              <a:rPr lang="zh-CN" altLang="en-US" sz="1350" noProof="1">
                <a:latin typeface="Consolas" panose="020B0609020204030204" pitchFamily="49" charset="0"/>
                <a:ea typeface="+mn-ea"/>
              </a:rPr>
              <a:t>    print(a, b, c)</a:t>
            </a:r>
          </a:p>
          <a:p>
            <a:pPr>
              <a:lnSpc>
                <a:spcPct val="80000"/>
              </a:lnSpc>
              <a:buSzPct val="90000"/>
              <a:buFont typeface="Arial" charset="0"/>
              <a:buNone/>
              <a:defRPr/>
            </a:pPr>
            <a:endParaRPr lang="zh-CN" altLang="en-US" sz="1800" noProof="1">
              <a:latin typeface="+mn-lt"/>
              <a:ea typeface="+mn-ea"/>
            </a:endParaRPr>
          </a:p>
        </p:txBody>
      </p:sp>
    </p:spTree>
    <p:extLst>
      <p:ext uri="{BB962C8B-B14F-4D97-AF65-F5344CB8AC3E}">
        <p14:creationId xmlns:p14="http://schemas.microsoft.com/office/powerpoint/2010/main" val="317418452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build="p"/>
      <p:bldP spid="5"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pPr>
              <a:defRPr/>
            </a:pPr>
            <a:fld id="{6EA7BA5E-4115-4796-A8C9-4698036AB88B}" type="slidenum">
              <a:rPr lang="zh-CN" altLang="en-US" smtClean="0"/>
              <a:pPr>
                <a:defRPr/>
              </a:pPr>
              <a:t>20</a:t>
            </a:fld>
            <a:endParaRPr lang="zh-CN" altLang="en-US" dirty="0"/>
          </a:p>
        </p:txBody>
      </p:sp>
      <p:sp>
        <p:nvSpPr>
          <p:cNvPr id="6" name="文本框 5"/>
          <p:cNvSpPr txBox="1"/>
          <p:nvPr>
            <p:custDataLst>
              <p:tags r:id="rId2"/>
            </p:custDataLst>
          </p:nvPr>
        </p:nvSpPr>
        <p:spPr>
          <a:xfrm>
            <a:off x="914400" y="1484785"/>
            <a:ext cx="7315200" cy="2851668"/>
          </a:xfrm>
          <a:prstGeom prst="rect">
            <a:avLst/>
          </a:prstGeom>
          <a:noFill/>
        </p:spPr>
        <p:txBody>
          <a:bodyPr vert="horz" wrap="square" rtlCol="0" anchor="ctr" anchorCtr="0">
            <a:noAutofit/>
          </a:bodyPr>
          <a:lstStyle/>
          <a:p>
            <a:pPr>
              <a:spcBef>
                <a:spcPts val="300"/>
              </a:spcBef>
              <a:buSzPct val="90000"/>
              <a:buNone/>
            </a:pPr>
            <a:r>
              <a:rPr lang="en-US" altLang="zh-CN" sz="2000" noProof="1">
                <a:solidFill>
                  <a:srgbClr val="0000FF"/>
                </a:solidFill>
                <a:latin typeface="Consolas" panose="020B0609020204030204" pitchFamily="49" charset="0"/>
              </a:rPr>
              <a:t>def</a:t>
            </a:r>
            <a:r>
              <a:rPr lang="en-US" altLang="zh-CN" sz="2000" noProof="1">
                <a:latin typeface="Consolas" panose="020B0609020204030204" pitchFamily="49" charset="0"/>
              </a:rPr>
              <a:t> demo(newitem,old_list=[]):</a:t>
            </a:r>
          </a:p>
          <a:p>
            <a:pPr>
              <a:spcBef>
                <a:spcPts val="300"/>
              </a:spcBef>
              <a:buSzPct val="90000"/>
              <a:buNone/>
            </a:pPr>
            <a:r>
              <a:rPr lang="en-US" altLang="zh-CN" sz="2000" noProof="1">
                <a:latin typeface="Consolas" panose="020B0609020204030204" pitchFamily="49" charset="0"/>
              </a:rPr>
              <a:t>    old_list.append(newitem)</a:t>
            </a:r>
          </a:p>
          <a:p>
            <a:pPr>
              <a:spcBef>
                <a:spcPts val="300"/>
              </a:spcBef>
              <a:buSzPct val="90000"/>
              <a:buNone/>
            </a:pPr>
            <a:r>
              <a:rPr lang="en-US" altLang="zh-CN" sz="2000" noProof="1">
                <a:latin typeface="Consolas" panose="020B0609020204030204" pitchFamily="49" charset="0"/>
              </a:rPr>
              <a:t>    return old_list</a:t>
            </a:r>
          </a:p>
          <a:p>
            <a:pPr>
              <a:spcBef>
                <a:spcPts val="300"/>
              </a:spcBef>
              <a:buSzPct val="90000"/>
              <a:buNone/>
            </a:pPr>
            <a:endParaRPr lang="en-US" altLang="zh-CN" sz="2000" noProof="1">
              <a:latin typeface="Consolas" panose="020B0609020204030204" pitchFamily="49" charset="0"/>
            </a:endParaRPr>
          </a:p>
          <a:p>
            <a:pPr>
              <a:spcBef>
                <a:spcPts val="300"/>
              </a:spcBef>
              <a:buSzPct val="90000"/>
              <a:buNone/>
            </a:pPr>
            <a:r>
              <a:rPr lang="en-US" altLang="zh-CN" sz="2000" noProof="1">
                <a:solidFill>
                  <a:srgbClr val="0000FF"/>
                </a:solidFill>
                <a:latin typeface="Consolas" panose="020B0609020204030204" pitchFamily="49" charset="0"/>
              </a:rPr>
              <a:t>print</a:t>
            </a:r>
            <a:r>
              <a:rPr lang="en-US" altLang="zh-CN" sz="2000" noProof="1">
                <a:latin typeface="Consolas" panose="020B0609020204030204" pitchFamily="49" charset="0"/>
              </a:rPr>
              <a:t>(demo('5',[1,2,3,4]))</a:t>
            </a:r>
          </a:p>
          <a:p>
            <a:pPr>
              <a:spcBef>
                <a:spcPts val="300"/>
              </a:spcBef>
              <a:buSzPct val="90000"/>
              <a:buNone/>
            </a:pPr>
            <a:r>
              <a:rPr lang="en-US" altLang="zh-CN" sz="2000" noProof="1">
                <a:solidFill>
                  <a:srgbClr val="0000FF"/>
                </a:solidFill>
                <a:latin typeface="Consolas" panose="020B0609020204030204" pitchFamily="49" charset="0"/>
              </a:rPr>
              <a:t>print</a:t>
            </a:r>
            <a:r>
              <a:rPr lang="en-US" altLang="zh-CN" sz="2000" noProof="1">
                <a:latin typeface="Consolas" panose="020B0609020204030204" pitchFamily="49" charset="0"/>
              </a:rPr>
              <a:t>(demo('aaa',['a','b']))</a:t>
            </a:r>
          </a:p>
          <a:p>
            <a:pPr>
              <a:spcBef>
                <a:spcPts val="300"/>
              </a:spcBef>
              <a:buSzPct val="90000"/>
              <a:buNone/>
            </a:pPr>
            <a:r>
              <a:rPr lang="en-US" altLang="zh-CN" sz="2000" noProof="1">
                <a:solidFill>
                  <a:srgbClr val="0000FF"/>
                </a:solidFill>
                <a:latin typeface="Consolas" panose="020B0609020204030204" pitchFamily="49" charset="0"/>
              </a:rPr>
              <a:t>print</a:t>
            </a:r>
            <a:r>
              <a:rPr lang="en-US" altLang="zh-CN" sz="2000" noProof="1">
                <a:latin typeface="Consolas" panose="020B0609020204030204" pitchFamily="49" charset="0"/>
              </a:rPr>
              <a:t>(demo('a'))</a:t>
            </a:r>
          </a:p>
          <a:p>
            <a:pPr>
              <a:spcBef>
                <a:spcPts val="300"/>
              </a:spcBef>
              <a:buSzPct val="90000"/>
              <a:buNone/>
            </a:pPr>
            <a:r>
              <a:rPr lang="en-US" altLang="zh-CN" sz="2000" noProof="1">
                <a:solidFill>
                  <a:srgbClr val="0000FF"/>
                </a:solidFill>
                <a:latin typeface="Consolas" panose="020B0609020204030204" pitchFamily="49" charset="0"/>
              </a:rPr>
              <a:t>print</a:t>
            </a:r>
            <a:r>
              <a:rPr lang="en-US" altLang="zh-CN" sz="2000" noProof="1">
                <a:latin typeface="Consolas" panose="020B0609020204030204" pitchFamily="49" charset="0"/>
              </a:rPr>
              <a:t>(demo('b</a:t>
            </a:r>
            <a:r>
              <a:rPr lang="en-US" altLang="zh-CN" sz="2000" noProof="1" smtClean="0">
                <a:latin typeface="Consolas" panose="020B0609020204030204" pitchFamily="49" charset="0"/>
              </a:rPr>
              <a:t>'))</a:t>
            </a:r>
          </a:p>
          <a:p>
            <a:pPr>
              <a:spcBef>
                <a:spcPts val="300"/>
              </a:spcBef>
              <a:buSzPct val="90000"/>
              <a:buNone/>
            </a:pPr>
            <a:r>
              <a:rPr lang="zh-CN" altLang="en-US" sz="2000" noProof="1" smtClean="0">
                <a:solidFill>
                  <a:srgbClr val="FF0000"/>
                </a:solidFill>
                <a:latin typeface="Consolas" panose="020B0609020204030204" pitchFamily="49" charset="0"/>
              </a:rPr>
              <a:t>阅读上述代码，写出结果：</a:t>
            </a:r>
            <a:r>
              <a:rPr lang="zh-CN" altLang="en-US" sz="2000" noProof="1" smtClean="0">
                <a:solidFill>
                  <a:srgbClr val="639EF4"/>
                </a:solidFill>
                <a:latin typeface="Consolas" panose="020B0609020204030204" pitchFamily="49" charset="0"/>
              </a:rPr>
              <a:t> </a:t>
            </a:r>
            <a:r>
              <a:rPr lang="en-US" altLang="zh-CN" sz="2000" noProof="1" smtClean="0">
                <a:solidFill>
                  <a:srgbClr val="639EF4"/>
                </a:solidFill>
                <a:latin typeface="Consolas" panose="020B0609020204030204" pitchFamily="49" charset="0"/>
              </a:rPr>
              <a:t>[</a:t>
            </a:r>
            <a:r>
              <a:rPr lang="zh-CN" altLang="en-US" sz="2000" noProof="1" smtClean="0">
                <a:solidFill>
                  <a:srgbClr val="639EF4"/>
                </a:solidFill>
                <a:latin typeface="Consolas" panose="020B0609020204030204" pitchFamily="49" charset="0"/>
              </a:rPr>
              <a:t>填空</a:t>
            </a:r>
            <a:r>
              <a:rPr lang="en-US" altLang="zh-CN" sz="2000" noProof="1" smtClean="0">
                <a:solidFill>
                  <a:srgbClr val="639EF4"/>
                </a:solidFill>
                <a:latin typeface="Consolas" panose="020B0609020204030204" pitchFamily="49" charset="0"/>
              </a:rPr>
              <a:t>1]</a:t>
            </a:r>
            <a:r>
              <a:rPr lang="en-US" altLang="zh-CN" sz="2000" noProof="1" smtClean="0">
                <a:solidFill>
                  <a:srgbClr val="000000"/>
                </a:solidFill>
                <a:latin typeface="Consolas" panose="020B0609020204030204" pitchFamily="49" charset="0"/>
              </a:rPr>
              <a:t> </a:t>
            </a:r>
            <a:endParaRPr lang="en-US" altLang="zh-CN" sz="2000" noProof="1">
              <a:solidFill>
                <a:srgbClr val="000000"/>
              </a:solidFill>
            </a:endParaRPr>
          </a:p>
          <a:p>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圆角矩形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95392831"/>
      </p:ext>
    </p:extLst>
  </p:cSld>
  <p:clrMapOvr>
    <a:masterClrMapping/>
  </p:clrMapOvr>
  <p:transition spd="slow" advClick="0">
    <p:pull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占位符 31746"/>
          <p:cNvSpPr>
            <a:spLocks noGrp="1"/>
          </p:cNvSpPr>
          <p:nvPr>
            <p:ph idx="1"/>
          </p:nvPr>
        </p:nvSpPr>
        <p:spPr>
          <a:xfrm>
            <a:off x="683568" y="1381160"/>
            <a:ext cx="8229600" cy="4678451"/>
          </a:xfrm>
        </p:spPr>
        <p:txBody>
          <a:bodyPr vert="horz" wrap="square" lIns="68591" tIns="34295" rIns="68591" bIns="34295" numCol="1" anchor="t" anchorCtr="0" compatLnSpc="1">
            <a:prstTxWarp prst="textNoShape">
              <a:avLst/>
            </a:prstTxWarp>
          </a:bodyPr>
          <a:lstStyle/>
          <a:p>
            <a:pPr eaLnBrk="1" fontAlgn="base" hangingPunct="1">
              <a:lnSpc>
                <a:spcPct val="150000"/>
              </a:lnSpc>
              <a:spcBef>
                <a:spcPct val="0"/>
              </a:spcBef>
              <a:buClr>
                <a:srgbClr val="FF0000"/>
              </a:buClr>
              <a:buSzPct val="90000"/>
              <a:buFont typeface="Wingdings" panose="05000000000000000000" pitchFamily="2" charset="2"/>
              <a:buChar char="n"/>
            </a:pPr>
            <a:r>
              <a:rPr lang="zh-CN" altLang="en-US" sz="2000" noProof="1"/>
              <a:t>另外，默认值参数如果使用不当，会导致很难发现的</a:t>
            </a:r>
            <a:r>
              <a:rPr lang="zh-CN" altLang="en-US" sz="2000" noProof="1">
                <a:solidFill>
                  <a:srgbClr val="FF0000"/>
                </a:solidFill>
              </a:rPr>
              <a:t>逻辑错误</a:t>
            </a:r>
            <a:r>
              <a:rPr lang="zh-CN" altLang="en-US" sz="2000" noProof="1"/>
              <a:t>，例如：</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21</a:t>
            </a:fld>
            <a:endParaRPr lang="zh-CN" altLang="en-US"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矩形 10"/>
          <p:cNvSpPr/>
          <p:nvPr/>
        </p:nvSpPr>
        <p:spPr>
          <a:xfrm>
            <a:off x="314648" y="956751"/>
            <a:ext cx="2169120" cy="461665"/>
          </a:xfrm>
          <a:prstGeom prst="rect">
            <a:avLst/>
          </a:prstGeom>
        </p:spPr>
        <p:txBody>
          <a:bodyPr wrap="square">
            <a:spAutoFit/>
          </a:bodyPr>
          <a:lstStyle/>
          <a:p>
            <a:pPr marL="285750" indent="-285750">
              <a:buClr>
                <a:srgbClr val="FF0000"/>
              </a:buClr>
              <a:buFont typeface="Wingdings" panose="05000000000000000000" pitchFamily="2" charset="2"/>
              <a:buChar char="Ø"/>
            </a:pPr>
            <a:r>
              <a:rPr lang="zh-CN" altLang="en-US" sz="2400" b="1" noProof="1">
                <a:solidFill>
                  <a:srgbClr val="0000FF"/>
                </a:solidFill>
                <a:ea typeface="仿宋" panose="02010609060101010101" pitchFamily="49" charset="-122"/>
              </a:rPr>
              <a:t>默认值参数</a:t>
            </a:r>
            <a:endParaRPr lang="zh-CN" altLang="en-US" sz="2400" dirty="0">
              <a:ea typeface="仿宋" panose="02010609060101010101" pitchFamily="49" charset="-122"/>
            </a:endParaRPr>
          </a:p>
        </p:txBody>
      </p:sp>
      <p:sp>
        <p:nvSpPr>
          <p:cNvPr id="4" name="矩形 3"/>
          <p:cNvSpPr/>
          <p:nvPr/>
        </p:nvSpPr>
        <p:spPr>
          <a:xfrm>
            <a:off x="1198181" y="1896868"/>
            <a:ext cx="7801560" cy="2577629"/>
          </a:xfrm>
          <a:prstGeom prst="rect">
            <a:avLst/>
          </a:prstGeom>
        </p:spPr>
        <p:txBody>
          <a:bodyPr wrap="square">
            <a:spAutoFit/>
          </a:bodyPr>
          <a:lstStyle/>
          <a:p>
            <a:pPr>
              <a:spcBef>
                <a:spcPts val="300"/>
              </a:spcBef>
              <a:buSzPct val="90000"/>
              <a:buNone/>
            </a:pPr>
            <a:r>
              <a:rPr lang="en-US" altLang="zh-CN" noProof="1">
                <a:solidFill>
                  <a:srgbClr val="0000FF"/>
                </a:solidFill>
                <a:latin typeface="Consolas" panose="020B0609020204030204" pitchFamily="49" charset="0"/>
              </a:rPr>
              <a:t>def</a:t>
            </a:r>
            <a:r>
              <a:rPr lang="en-US" altLang="zh-CN" noProof="1">
                <a:latin typeface="Consolas" panose="020B0609020204030204" pitchFamily="49" charset="0"/>
              </a:rPr>
              <a:t> demo(newitem,old_list=[]):</a:t>
            </a:r>
          </a:p>
          <a:p>
            <a:pPr>
              <a:spcBef>
                <a:spcPts val="300"/>
              </a:spcBef>
              <a:buSzPct val="90000"/>
              <a:buNone/>
            </a:pPr>
            <a:r>
              <a:rPr lang="en-US" altLang="zh-CN" noProof="1">
                <a:latin typeface="Consolas" panose="020B0609020204030204" pitchFamily="49" charset="0"/>
              </a:rPr>
              <a:t>    old_list.append(newitem)</a:t>
            </a:r>
          </a:p>
          <a:p>
            <a:pPr>
              <a:spcBef>
                <a:spcPts val="300"/>
              </a:spcBef>
              <a:buSzPct val="90000"/>
              <a:buNone/>
            </a:pPr>
            <a:r>
              <a:rPr lang="en-US" altLang="zh-CN" noProof="1">
                <a:latin typeface="Consolas" panose="020B0609020204030204" pitchFamily="49" charset="0"/>
              </a:rPr>
              <a:t>    return old_list</a:t>
            </a:r>
          </a:p>
          <a:p>
            <a:pPr>
              <a:spcBef>
                <a:spcPts val="300"/>
              </a:spcBef>
              <a:buSzPct val="90000"/>
              <a:buNone/>
            </a:pPr>
            <a:endParaRPr lang="en-US" altLang="zh-CN" noProof="1">
              <a:latin typeface="Consolas" panose="020B0609020204030204" pitchFamily="49" charset="0"/>
            </a:endParaRPr>
          </a:p>
          <a:p>
            <a:pPr>
              <a:spcBef>
                <a:spcPts val="300"/>
              </a:spcBef>
              <a:buSzPct val="90000"/>
              <a:buNone/>
            </a:pPr>
            <a:r>
              <a:rPr lang="en-US" altLang="zh-CN" noProof="1">
                <a:solidFill>
                  <a:srgbClr val="0000FF"/>
                </a:solidFill>
                <a:latin typeface="Consolas" panose="020B0609020204030204" pitchFamily="49" charset="0"/>
              </a:rPr>
              <a:t>print</a:t>
            </a:r>
            <a:r>
              <a:rPr lang="en-US" altLang="zh-CN" noProof="1">
                <a:latin typeface="Consolas" panose="020B0609020204030204" pitchFamily="49" charset="0"/>
              </a:rPr>
              <a:t>(demo('5',[1,2,3,4]))</a:t>
            </a:r>
          </a:p>
          <a:p>
            <a:pPr>
              <a:spcBef>
                <a:spcPts val="300"/>
              </a:spcBef>
              <a:buSzPct val="90000"/>
              <a:buNone/>
            </a:pPr>
            <a:r>
              <a:rPr lang="en-US" altLang="zh-CN" noProof="1">
                <a:solidFill>
                  <a:srgbClr val="0000FF"/>
                </a:solidFill>
                <a:latin typeface="Consolas" panose="020B0609020204030204" pitchFamily="49" charset="0"/>
              </a:rPr>
              <a:t>print</a:t>
            </a:r>
            <a:r>
              <a:rPr lang="en-US" altLang="zh-CN" noProof="1">
                <a:latin typeface="Consolas" panose="020B0609020204030204" pitchFamily="49" charset="0"/>
              </a:rPr>
              <a:t>(demo('aaa',['a','b']))</a:t>
            </a:r>
          </a:p>
          <a:p>
            <a:pPr>
              <a:spcBef>
                <a:spcPts val="300"/>
              </a:spcBef>
              <a:buSzPct val="90000"/>
              <a:buNone/>
            </a:pPr>
            <a:r>
              <a:rPr lang="en-US" altLang="zh-CN" noProof="1">
                <a:solidFill>
                  <a:srgbClr val="0000FF"/>
                </a:solidFill>
                <a:latin typeface="Consolas" panose="020B0609020204030204" pitchFamily="49" charset="0"/>
              </a:rPr>
              <a:t>print</a:t>
            </a:r>
            <a:r>
              <a:rPr lang="en-US" altLang="zh-CN" noProof="1">
                <a:latin typeface="Consolas" panose="020B0609020204030204" pitchFamily="49" charset="0"/>
              </a:rPr>
              <a:t>(demo('a'))</a:t>
            </a:r>
          </a:p>
          <a:p>
            <a:pPr>
              <a:spcBef>
                <a:spcPts val="300"/>
              </a:spcBef>
              <a:buSzPct val="90000"/>
              <a:buNone/>
            </a:pPr>
            <a:r>
              <a:rPr lang="en-US" altLang="zh-CN" noProof="1">
                <a:solidFill>
                  <a:srgbClr val="0000FF"/>
                </a:solidFill>
                <a:latin typeface="Consolas" panose="020B0609020204030204" pitchFamily="49" charset="0"/>
              </a:rPr>
              <a:t>print</a:t>
            </a:r>
            <a:r>
              <a:rPr lang="en-US" altLang="zh-CN" noProof="1">
                <a:latin typeface="Consolas" panose="020B0609020204030204" pitchFamily="49" charset="0"/>
              </a:rPr>
              <a:t>(demo('b'))</a:t>
            </a:r>
            <a:endParaRPr lang="en-US" altLang="zh-CN" noProof="1">
              <a:solidFill>
                <a:srgbClr val="FF0000"/>
              </a:solidFill>
            </a:endParaRPr>
          </a:p>
        </p:txBody>
      </p:sp>
      <p:grpSp>
        <p:nvGrpSpPr>
          <p:cNvPr id="3" name="组合 2"/>
          <p:cNvGrpSpPr/>
          <p:nvPr/>
        </p:nvGrpSpPr>
        <p:grpSpPr>
          <a:xfrm>
            <a:off x="759847" y="4437112"/>
            <a:ext cx="3668137" cy="507036"/>
            <a:chOff x="759847" y="4437112"/>
            <a:chExt cx="3668137" cy="507036"/>
          </a:xfrm>
        </p:grpSpPr>
        <p:pic>
          <p:nvPicPr>
            <p:cNvPr id="13"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59847" y="4437112"/>
              <a:ext cx="501600" cy="505676"/>
            </a:xfrm>
            <a:prstGeom prst="rect">
              <a:avLst/>
            </a:prstGeom>
            <a:noFill/>
            <a:ln w="9525">
              <a:noFill/>
              <a:miter lim="800000"/>
              <a:headEnd/>
              <a:tailEnd/>
            </a:ln>
          </p:spPr>
        </p:pic>
        <p:sp>
          <p:nvSpPr>
            <p:cNvPr id="5" name="矩形 4"/>
            <p:cNvSpPr/>
            <p:nvPr/>
          </p:nvSpPr>
          <p:spPr>
            <a:xfrm>
              <a:off x="1261447" y="4605594"/>
              <a:ext cx="3166537" cy="338554"/>
            </a:xfrm>
            <a:prstGeom prst="rect">
              <a:avLst/>
            </a:prstGeom>
          </p:spPr>
          <p:txBody>
            <a:bodyPr wrap="square">
              <a:spAutoFit/>
            </a:bodyPr>
            <a:lstStyle/>
            <a:p>
              <a:pPr>
                <a:lnSpc>
                  <a:spcPct val="80000"/>
                </a:lnSpc>
                <a:buSzPct val="90000"/>
              </a:pPr>
              <a:r>
                <a:rPr lang="zh-CN" altLang="en-US" sz="2000" b="1" noProof="1">
                  <a:ea typeface="仿宋" panose="02010609060101010101" pitchFamily="49" charset="-122"/>
                </a:rPr>
                <a:t>这段代码会输出什么呢？</a:t>
              </a:r>
            </a:p>
          </p:txBody>
        </p:sp>
      </p:grpSp>
      <p:sp>
        <p:nvSpPr>
          <p:cNvPr id="15" name="内容占位符 2"/>
          <p:cNvSpPr txBox="1">
            <a:spLocks/>
          </p:cNvSpPr>
          <p:nvPr/>
        </p:nvSpPr>
        <p:spPr bwMode="auto">
          <a:xfrm>
            <a:off x="4791929" y="4437112"/>
            <a:ext cx="5070128" cy="1306855"/>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zh-CN" altLang="en-US" sz="1800" noProof="1">
                <a:solidFill>
                  <a:srgbClr val="0000FF"/>
                </a:solidFill>
                <a:latin typeface="+mn-lt"/>
                <a:ea typeface="+mn-ea"/>
              </a:rPr>
              <a:t>[1, 2, 3, 4, '5']</a:t>
            </a:r>
          </a:p>
          <a:p>
            <a:pPr marL="0" indent="0">
              <a:buFont typeface="Arial" charset="0"/>
              <a:buNone/>
              <a:defRPr/>
            </a:pPr>
            <a:r>
              <a:rPr lang="zh-CN" altLang="en-US" sz="1800" noProof="1">
                <a:solidFill>
                  <a:srgbClr val="0000FF"/>
                </a:solidFill>
                <a:latin typeface="+mn-lt"/>
                <a:ea typeface="+mn-ea"/>
              </a:rPr>
              <a:t>['a', 'b', 'aaa']</a:t>
            </a:r>
          </a:p>
          <a:p>
            <a:pPr marL="0" indent="0">
              <a:buFont typeface="Arial" charset="0"/>
              <a:buNone/>
              <a:defRPr/>
            </a:pPr>
            <a:r>
              <a:rPr lang="zh-CN" altLang="en-US" sz="1800" noProof="1">
                <a:solidFill>
                  <a:srgbClr val="0000FF"/>
                </a:solidFill>
                <a:latin typeface="+mn-lt"/>
                <a:ea typeface="+mn-ea"/>
              </a:rPr>
              <a:t>['a']</a:t>
            </a:r>
          </a:p>
          <a:p>
            <a:pPr marL="0" indent="0">
              <a:buFont typeface="Arial" charset="0"/>
              <a:buNone/>
              <a:defRPr/>
            </a:pPr>
            <a:r>
              <a:rPr lang="zh-CN" altLang="en-US" sz="1800" noProof="1">
                <a:solidFill>
                  <a:srgbClr val="0000FF"/>
                </a:solidFill>
                <a:latin typeface="+mn-lt"/>
                <a:ea typeface="+mn-ea"/>
              </a:rPr>
              <a:t>['a', 'b']</a:t>
            </a:r>
          </a:p>
        </p:txBody>
      </p:sp>
      <p:sp>
        <p:nvSpPr>
          <p:cNvPr id="12" name="矩形 11"/>
          <p:cNvSpPr/>
          <p:nvPr/>
        </p:nvSpPr>
        <p:spPr>
          <a:xfrm>
            <a:off x="827584" y="5799409"/>
            <a:ext cx="7560840" cy="707886"/>
          </a:xfrm>
          <a:prstGeom prst="rect">
            <a:avLst/>
          </a:prstGeom>
        </p:spPr>
        <p:txBody>
          <a:bodyPr wrap="square">
            <a:spAutoFit/>
          </a:bodyPr>
          <a:lstStyle/>
          <a:p>
            <a:pPr marL="285750" indent="-285750">
              <a:spcBef>
                <a:spcPts val="600"/>
              </a:spcBef>
              <a:spcAft>
                <a:spcPts val="0"/>
              </a:spcAft>
              <a:buClr>
                <a:srgbClr val="FF0000"/>
              </a:buClr>
              <a:buSzPct val="90000"/>
              <a:buFont typeface="Wingdings" panose="05000000000000000000" pitchFamily="2" charset="2"/>
              <a:buChar char="n"/>
            </a:pPr>
            <a:r>
              <a:rPr lang="zh-CN" altLang="en-US" sz="2000" b="1" dirty="0">
                <a:ea typeface="仿宋" panose="02010609060101010101" pitchFamily="49" charset="-122"/>
              </a:rPr>
              <a:t>原因在于</a:t>
            </a:r>
            <a:r>
              <a:rPr lang="zh-CN" altLang="en-US" sz="2000" b="1" dirty="0">
                <a:solidFill>
                  <a:srgbClr val="FF0000"/>
                </a:solidFill>
                <a:ea typeface="仿宋" panose="02010609060101010101" pitchFamily="49" charset="-122"/>
              </a:rPr>
              <a:t>默认值参数的赋值只会在函数定义时被解释一次</a:t>
            </a:r>
            <a:r>
              <a:rPr lang="zh-CN" altLang="en-US" sz="2000" b="1" dirty="0">
                <a:ea typeface="仿宋" panose="02010609060101010101" pitchFamily="49" charset="-122"/>
              </a:rPr>
              <a:t>。当使用可变序列作为参数默认值时，一定要谨慎操作。</a:t>
            </a:r>
          </a:p>
        </p:txBody>
      </p:sp>
    </p:spTree>
    <p:extLst>
      <p:ext uri="{BB962C8B-B14F-4D97-AF65-F5344CB8AC3E}">
        <p14:creationId xmlns:p14="http://schemas.microsoft.com/office/powerpoint/2010/main" val="63769921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2">
                                            <p:txEl>
                                              <p:pRg st="0" end="0"/>
                                            </p:txEl>
                                          </p:spTgt>
                                        </p:tgtEl>
                                        <p:attrNameLst>
                                          <p:attrName>style.visibility</p:attrName>
                                        </p:attrNameLst>
                                      </p:cBhvr>
                                      <p:to>
                                        <p:strVal val="visible"/>
                                      </p:to>
                                    </p:set>
                                    <p:anim calcmode="lin" valueType="num">
                                      <p:cBhvr additive="base">
                                        <p:cTn id="51"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文本占位符 32770"/>
          <p:cNvSpPr>
            <a:spLocks noGrp="1"/>
          </p:cNvSpPr>
          <p:nvPr>
            <p:ph idx="1"/>
          </p:nvPr>
        </p:nvSpPr>
        <p:spPr>
          <a:xfrm>
            <a:off x="740876" y="1418416"/>
            <a:ext cx="8229600" cy="4678451"/>
          </a:xfrm>
        </p:spPr>
        <p:txBody>
          <a:bodyPr vert="horz" wrap="square" lIns="68591" tIns="34295" rIns="68591" bIns="34295" numCol="1" anchor="t" anchorCtr="0" compatLnSpc="1">
            <a:prstTxWarp prst="textNoShape">
              <a:avLst/>
            </a:prstTxWarp>
          </a:bodyPr>
          <a:lstStyle/>
          <a:p>
            <a:pPr eaLnBrk="1" fontAlgn="base" hangingPunct="1">
              <a:buClr>
                <a:srgbClr val="FF0000"/>
              </a:buClr>
              <a:buSzPct val="90000"/>
              <a:buFont typeface="Wingdings" panose="05000000000000000000" pitchFamily="2" charset="2"/>
              <a:buChar char="n"/>
            </a:pPr>
            <a:r>
              <a:rPr lang="zh-CN" altLang="en-US" sz="2400" b="1" noProof="1"/>
              <a:t>解决方案：</a:t>
            </a:r>
            <a:endParaRPr lang="zh-CN" altLang="en-US" sz="2400" noProof="1"/>
          </a:p>
          <a:p>
            <a:pPr eaLnBrk="1" fontAlgn="base" hangingPunct="1">
              <a:lnSpc>
                <a:spcPct val="80000"/>
              </a:lnSpc>
              <a:buSzPct val="90000"/>
              <a:buFont typeface="Wingdings" panose="05000000000000000000" pitchFamily="2" charset="2"/>
              <a:buNone/>
            </a:pPr>
            <a:endParaRPr lang="zh-CN" altLang="en-US" sz="1800" noProof="1"/>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22</a:t>
            </a:fld>
            <a:endParaRPr lang="zh-CN" altLang="en-US"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矩形 10"/>
          <p:cNvSpPr/>
          <p:nvPr/>
        </p:nvSpPr>
        <p:spPr>
          <a:xfrm>
            <a:off x="314648" y="956751"/>
            <a:ext cx="2169120" cy="461665"/>
          </a:xfrm>
          <a:prstGeom prst="rect">
            <a:avLst/>
          </a:prstGeom>
        </p:spPr>
        <p:txBody>
          <a:bodyPr wrap="square">
            <a:spAutoFit/>
          </a:bodyPr>
          <a:lstStyle/>
          <a:p>
            <a:pPr marL="285750" indent="-285750">
              <a:buClr>
                <a:srgbClr val="FF0000"/>
              </a:buClr>
              <a:buFont typeface="Wingdings" panose="05000000000000000000" pitchFamily="2" charset="2"/>
              <a:buChar char="Ø"/>
            </a:pPr>
            <a:r>
              <a:rPr lang="zh-CN" altLang="en-US" sz="2400" b="1" noProof="1">
                <a:solidFill>
                  <a:srgbClr val="0000FF"/>
                </a:solidFill>
                <a:ea typeface="仿宋" panose="02010609060101010101" pitchFamily="49" charset="-122"/>
              </a:rPr>
              <a:t>默认值参数</a:t>
            </a:r>
            <a:endParaRPr lang="zh-CN" altLang="en-US" sz="2400" dirty="0">
              <a:ea typeface="仿宋" panose="02010609060101010101" pitchFamily="49" charset="-122"/>
            </a:endParaRPr>
          </a:p>
        </p:txBody>
      </p:sp>
      <p:sp>
        <p:nvSpPr>
          <p:cNvPr id="4" name="矩形 3"/>
          <p:cNvSpPr/>
          <p:nvPr/>
        </p:nvSpPr>
        <p:spPr>
          <a:xfrm>
            <a:off x="3059832" y="1184392"/>
            <a:ext cx="7717928" cy="2332946"/>
          </a:xfrm>
          <a:prstGeom prst="rect">
            <a:avLst/>
          </a:prstGeom>
        </p:spPr>
        <p:txBody>
          <a:bodyPr wrap="square">
            <a:spAutoFit/>
          </a:bodyPr>
          <a:lstStyle/>
          <a:p>
            <a:pPr>
              <a:lnSpc>
                <a:spcPct val="80000"/>
              </a:lnSpc>
              <a:buSzPct val="90000"/>
            </a:pPr>
            <a:r>
              <a:rPr lang="en-US" altLang="zh-CN" sz="1600" noProof="1">
                <a:solidFill>
                  <a:srgbClr val="0000FF"/>
                </a:solidFill>
                <a:latin typeface="Consolas" panose="020B0609020204030204" pitchFamily="49" charset="0"/>
              </a:rPr>
              <a:t>def</a:t>
            </a:r>
            <a:r>
              <a:rPr lang="en-US" altLang="zh-CN" sz="1600" noProof="1">
                <a:latin typeface="Consolas" panose="020B0609020204030204" pitchFamily="49" charset="0"/>
              </a:rPr>
              <a:t> demo(newitem,old_list=None):</a:t>
            </a:r>
          </a:p>
          <a:p>
            <a:pPr>
              <a:lnSpc>
                <a:spcPct val="80000"/>
              </a:lnSpc>
              <a:buSzPct val="90000"/>
            </a:pPr>
            <a:r>
              <a:rPr lang="en-US" altLang="zh-CN" sz="1600" noProof="1">
                <a:latin typeface="Consolas" panose="020B0609020204030204" pitchFamily="49" charset="0"/>
              </a:rPr>
              <a:t>    </a:t>
            </a:r>
            <a:r>
              <a:rPr lang="en-US" altLang="zh-CN" sz="1600" noProof="1">
                <a:solidFill>
                  <a:srgbClr val="0000FF"/>
                </a:solidFill>
                <a:latin typeface="Consolas" panose="020B0609020204030204" pitchFamily="49" charset="0"/>
              </a:rPr>
              <a:t>if</a:t>
            </a:r>
            <a:r>
              <a:rPr lang="en-US" altLang="zh-CN" sz="1600" noProof="1">
                <a:latin typeface="Consolas" panose="020B0609020204030204" pitchFamily="49" charset="0"/>
              </a:rPr>
              <a:t> old_list is None:</a:t>
            </a:r>
          </a:p>
          <a:p>
            <a:pPr>
              <a:lnSpc>
                <a:spcPct val="80000"/>
              </a:lnSpc>
              <a:buSzPct val="90000"/>
            </a:pPr>
            <a:r>
              <a:rPr lang="en-US" altLang="zh-CN" sz="1600" noProof="1">
                <a:latin typeface="Consolas" panose="020B0609020204030204" pitchFamily="49" charset="0"/>
              </a:rPr>
              <a:t>        old_list=[]</a:t>
            </a:r>
          </a:p>
          <a:p>
            <a:pPr>
              <a:lnSpc>
                <a:spcPct val="80000"/>
              </a:lnSpc>
              <a:buSzPct val="90000"/>
            </a:pPr>
            <a:r>
              <a:rPr lang="en-US" altLang="zh-CN" sz="1600" noProof="1">
                <a:latin typeface="Consolas" panose="020B0609020204030204" pitchFamily="49" charset="0"/>
              </a:rPr>
              <a:t>    new_list = old_list[:]</a:t>
            </a:r>
          </a:p>
          <a:p>
            <a:pPr>
              <a:lnSpc>
                <a:spcPct val="80000"/>
              </a:lnSpc>
              <a:buSzPct val="90000"/>
            </a:pPr>
            <a:r>
              <a:rPr lang="en-US" altLang="zh-CN" sz="1600" noProof="1">
                <a:latin typeface="Consolas" panose="020B0609020204030204" pitchFamily="49" charset="0"/>
              </a:rPr>
              <a:t>    new_list.append(newitem)</a:t>
            </a:r>
          </a:p>
          <a:p>
            <a:pPr>
              <a:lnSpc>
                <a:spcPct val="80000"/>
              </a:lnSpc>
              <a:buSzPct val="90000"/>
            </a:pPr>
            <a:r>
              <a:rPr lang="en-US" altLang="zh-CN" sz="1600" noProof="1">
                <a:latin typeface="Consolas" panose="020B0609020204030204" pitchFamily="49" charset="0"/>
              </a:rPr>
              <a:t>    </a:t>
            </a:r>
            <a:r>
              <a:rPr lang="en-US" altLang="zh-CN" sz="1600" noProof="1">
                <a:solidFill>
                  <a:srgbClr val="0000FF"/>
                </a:solidFill>
                <a:latin typeface="Consolas" panose="020B0609020204030204" pitchFamily="49" charset="0"/>
              </a:rPr>
              <a:t>return</a:t>
            </a:r>
            <a:r>
              <a:rPr lang="en-US" altLang="zh-CN" sz="1600" noProof="1">
                <a:latin typeface="Consolas" panose="020B0609020204030204" pitchFamily="49" charset="0"/>
              </a:rPr>
              <a:t> new_list</a:t>
            </a:r>
          </a:p>
          <a:p>
            <a:pPr>
              <a:lnSpc>
                <a:spcPct val="80000"/>
              </a:lnSpc>
              <a:buSzPct val="90000"/>
            </a:pPr>
            <a:endParaRPr lang="en-US" altLang="zh-CN" sz="1600" noProof="1">
              <a:latin typeface="Consolas" panose="020B0609020204030204" pitchFamily="49" charset="0"/>
            </a:endParaRPr>
          </a:p>
          <a:p>
            <a:pPr>
              <a:lnSpc>
                <a:spcPct val="80000"/>
              </a:lnSpc>
              <a:buSzPct val="90000"/>
            </a:pPr>
            <a:r>
              <a:rPr lang="en-US" altLang="zh-CN" sz="1600" noProof="1">
                <a:solidFill>
                  <a:srgbClr val="0000FF"/>
                </a:solidFill>
                <a:latin typeface="Consolas" panose="020B0609020204030204" pitchFamily="49" charset="0"/>
              </a:rPr>
              <a:t>print</a:t>
            </a:r>
            <a:r>
              <a:rPr lang="en-US" altLang="zh-CN" sz="1600" noProof="1">
                <a:latin typeface="Consolas" panose="020B0609020204030204" pitchFamily="49" charset="0"/>
              </a:rPr>
              <a:t>(demo('5',[1,2,3,4]))</a:t>
            </a:r>
          </a:p>
          <a:p>
            <a:pPr>
              <a:lnSpc>
                <a:spcPct val="80000"/>
              </a:lnSpc>
              <a:buSzPct val="90000"/>
            </a:pPr>
            <a:r>
              <a:rPr lang="en-US" altLang="zh-CN" sz="1600" noProof="1">
                <a:solidFill>
                  <a:srgbClr val="0000FF"/>
                </a:solidFill>
                <a:latin typeface="Consolas" panose="020B0609020204030204" pitchFamily="49" charset="0"/>
              </a:rPr>
              <a:t>print</a:t>
            </a:r>
            <a:r>
              <a:rPr lang="en-US" altLang="zh-CN" sz="1600" noProof="1">
                <a:latin typeface="Consolas" panose="020B0609020204030204" pitchFamily="49" charset="0"/>
              </a:rPr>
              <a:t>(demo('aaa',['a','b']))</a:t>
            </a:r>
          </a:p>
          <a:p>
            <a:pPr>
              <a:lnSpc>
                <a:spcPct val="80000"/>
              </a:lnSpc>
              <a:buSzPct val="90000"/>
            </a:pPr>
            <a:r>
              <a:rPr lang="en-US" altLang="zh-CN" sz="1600" noProof="1">
                <a:solidFill>
                  <a:srgbClr val="0000FF"/>
                </a:solidFill>
                <a:latin typeface="Consolas" panose="020B0609020204030204" pitchFamily="49" charset="0"/>
              </a:rPr>
              <a:t>print</a:t>
            </a:r>
            <a:r>
              <a:rPr lang="en-US" altLang="zh-CN" sz="1600" noProof="1">
                <a:latin typeface="Consolas" panose="020B0609020204030204" pitchFamily="49" charset="0"/>
              </a:rPr>
              <a:t>(demo('a'))</a:t>
            </a:r>
          </a:p>
          <a:p>
            <a:pPr>
              <a:lnSpc>
                <a:spcPct val="80000"/>
              </a:lnSpc>
              <a:buSzPct val="90000"/>
            </a:pPr>
            <a:r>
              <a:rPr lang="en-US" altLang="zh-CN" sz="1600" noProof="1">
                <a:solidFill>
                  <a:srgbClr val="0000FF"/>
                </a:solidFill>
                <a:latin typeface="Consolas" panose="020B0609020204030204" pitchFamily="49" charset="0"/>
              </a:rPr>
              <a:t>print</a:t>
            </a:r>
            <a:r>
              <a:rPr lang="en-US" altLang="zh-CN" sz="1600" noProof="1">
                <a:latin typeface="Consolas" panose="020B0609020204030204" pitchFamily="49" charset="0"/>
              </a:rPr>
              <a:t>(demo('b'))</a:t>
            </a:r>
          </a:p>
        </p:txBody>
      </p:sp>
      <p:sp>
        <p:nvSpPr>
          <p:cNvPr id="13" name="文本占位符 33794"/>
          <p:cNvSpPr txBox="1">
            <a:spLocks/>
          </p:cNvSpPr>
          <p:nvPr/>
        </p:nvSpPr>
        <p:spPr bwMode="auto">
          <a:xfrm>
            <a:off x="458739" y="3356992"/>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ts val="0"/>
              </a:spcAft>
              <a:buClr>
                <a:srgbClr val="FF0000"/>
              </a:buClr>
              <a:buSzPct val="90000"/>
              <a:buFont typeface="Wingdings" panose="05000000000000000000" pitchFamily="2" charset="2"/>
              <a:buChar char="n"/>
              <a:defRPr/>
            </a:pPr>
            <a:r>
              <a:rPr lang="zh-CN" altLang="en-US" sz="1800" b="1" noProof="1">
                <a:latin typeface="+mn-lt"/>
              </a:rPr>
              <a:t>注意：</a:t>
            </a:r>
          </a:p>
          <a:p>
            <a:pPr>
              <a:spcBef>
                <a:spcPts val="600"/>
              </a:spcBef>
              <a:spcAft>
                <a:spcPts val="0"/>
              </a:spcAft>
              <a:buSzPct val="90000"/>
              <a:buFont typeface="Wingdings" panose="05000000000000000000" charset="0"/>
              <a:buChar char="ü"/>
              <a:defRPr/>
            </a:pPr>
            <a:r>
              <a:rPr lang="zh-CN" altLang="en-US" sz="1600" b="1" noProof="1">
                <a:solidFill>
                  <a:srgbClr val="FF0000"/>
                </a:solidFill>
                <a:latin typeface="+mn-lt"/>
              </a:rPr>
              <a:t>默认值参数只在函数定义时被解释一次</a:t>
            </a:r>
          </a:p>
          <a:p>
            <a:pPr>
              <a:spcBef>
                <a:spcPts val="600"/>
              </a:spcBef>
              <a:spcAft>
                <a:spcPts val="0"/>
              </a:spcAft>
              <a:buClr>
                <a:srgbClr val="FF0000"/>
              </a:buClr>
              <a:buSzPct val="90000"/>
              <a:buFont typeface="Wingdings" panose="05000000000000000000" charset="0"/>
              <a:buChar char="ü"/>
              <a:defRPr/>
            </a:pPr>
            <a:r>
              <a:rPr lang="zh-CN" altLang="en-US" sz="1600" b="1" noProof="1">
                <a:latin typeface="+mn-lt"/>
              </a:rPr>
              <a:t>可以使用“函数名</a:t>
            </a:r>
            <a:r>
              <a:rPr lang="en-US" altLang="zh-CN" sz="1600" b="1" noProof="1">
                <a:latin typeface="+mn-lt"/>
              </a:rPr>
              <a:t>.__defaults__”</a:t>
            </a:r>
            <a:r>
              <a:rPr lang="zh-CN" altLang="en-US" sz="1600" b="1" noProof="1">
                <a:latin typeface="+mn-lt"/>
              </a:rPr>
              <a:t>查看所有默认参数的当前值</a:t>
            </a:r>
          </a:p>
        </p:txBody>
      </p:sp>
      <p:sp>
        <p:nvSpPr>
          <p:cNvPr id="5" name="矩形 4"/>
          <p:cNvSpPr/>
          <p:nvPr/>
        </p:nvSpPr>
        <p:spPr>
          <a:xfrm>
            <a:off x="780274" y="4280496"/>
            <a:ext cx="7920879" cy="2350836"/>
          </a:xfrm>
          <a:prstGeom prst="rect">
            <a:avLst/>
          </a:prstGeom>
        </p:spPr>
        <p:txBody>
          <a:bodyPr wrap="square">
            <a:spAutoFit/>
          </a:bodyPr>
          <a:lstStyle/>
          <a:p>
            <a:pPr marL="0" indent="0">
              <a:lnSpc>
                <a:spcPts val="1600"/>
              </a:lnSpc>
              <a:spcBef>
                <a:spcPts val="0"/>
              </a:spcBef>
              <a:spcAft>
                <a:spcPts val="0"/>
              </a:spcAft>
              <a:buSzPct val="90000"/>
              <a:buFont typeface="Arial" charset="0"/>
              <a:buNone/>
              <a:defRPr/>
            </a:pPr>
            <a:r>
              <a:rPr lang="zh-CN" altLang="en-US" sz="1600" b="1" noProof="1">
                <a:latin typeface="Consolas" panose="020B0609020204030204" pitchFamily="49" charset="0"/>
              </a:rPr>
              <a:t>&gt;&gt;&gt; i = 3</a:t>
            </a:r>
          </a:p>
          <a:p>
            <a:pPr marL="0" indent="0">
              <a:lnSpc>
                <a:spcPts val="1600"/>
              </a:lnSpc>
              <a:spcBef>
                <a:spcPts val="0"/>
              </a:spcBef>
              <a:spcAft>
                <a:spcPts val="0"/>
              </a:spcAft>
              <a:buSzPct val="90000"/>
              <a:buFont typeface="Arial" charset="0"/>
              <a:buNone/>
              <a:defRPr/>
            </a:pPr>
            <a:r>
              <a:rPr lang="zh-CN" altLang="en-US" sz="1600" b="1" noProof="1">
                <a:latin typeface="Consolas" panose="020B0609020204030204" pitchFamily="49" charset="0"/>
              </a:rPr>
              <a:t>&gt;&gt;&gt; def f(n=i):        </a:t>
            </a:r>
          </a:p>
          <a:p>
            <a:pPr marL="0" indent="0">
              <a:lnSpc>
                <a:spcPts val="1600"/>
              </a:lnSpc>
              <a:spcBef>
                <a:spcPts val="0"/>
              </a:spcBef>
              <a:spcAft>
                <a:spcPts val="0"/>
              </a:spcAft>
              <a:buSzPct val="90000"/>
              <a:buFont typeface="Arial" charset="0"/>
              <a:buNone/>
              <a:defRPr/>
            </a:pPr>
            <a:r>
              <a:rPr lang="zh-CN" altLang="en-US" sz="1600" b="1" noProof="1">
                <a:latin typeface="Consolas" panose="020B0609020204030204" pitchFamily="49" charset="0"/>
              </a:rPr>
              <a:t>    print(n)</a:t>
            </a:r>
          </a:p>
          <a:p>
            <a:pPr marL="0" indent="0">
              <a:lnSpc>
                <a:spcPts val="1600"/>
              </a:lnSpc>
              <a:spcBef>
                <a:spcPts val="0"/>
              </a:spcBef>
              <a:spcAft>
                <a:spcPts val="0"/>
              </a:spcAft>
              <a:buSzPct val="90000"/>
              <a:buFont typeface="Arial" charset="0"/>
              <a:buNone/>
              <a:defRPr/>
            </a:pPr>
            <a:endParaRPr lang="zh-CN" altLang="en-US" sz="1600" b="1" noProof="1">
              <a:latin typeface="Consolas" panose="020B0609020204030204" pitchFamily="49" charset="0"/>
            </a:endParaRPr>
          </a:p>
          <a:p>
            <a:pPr marL="0" indent="0">
              <a:lnSpc>
                <a:spcPts val="1600"/>
              </a:lnSpc>
              <a:spcBef>
                <a:spcPts val="0"/>
              </a:spcBef>
              <a:spcAft>
                <a:spcPts val="0"/>
              </a:spcAft>
              <a:buSzPct val="90000"/>
              <a:buFont typeface="Arial" charset="0"/>
              <a:buNone/>
              <a:defRPr/>
            </a:pPr>
            <a:r>
              <a:rPr lang="zh-CN" altLang="en-US" sz="1600" b="1" noProof="1">
                <a:latin typeface="Consolas" panose="020B0609020204030204" pitchFamily="49" charset="0"/>
              </a:rPr>
              <a:t>&gt;&gt;&gt; f()</a:t>
            </a:r>
          </a:p>
          <a:p>
            <a:pPr marL="0" indent="0">
              <a:lnSpc>
                <a:spcPts val="1600"/>
              </a:lnSpc>
              <a:spcBef>
                <a:spcPts val="0"/>
              </a:spcBef>
              <a:spcAft>
                <a:spcPts val="0"/>
              </a:spcAft>
              <a:buSzPct val="90000"/>
              <a:buFont typeface="Arial" charset="0"/>
              <a:buNone/>
              <a:defRPr/>
            </a:pPr>
            <a:r>
              <a:rPr lang="zh-CN" altLang="en-US" sz="1600" b="1" noProof="1">
                <a:solidFill>
                  <a:srgbClr val="0000FF"/>
                </a:solidFill>
                <a:latin typeface="Consolas" panose="020B0609020204030204" pitchFamily="49" charset="0"/>
              </a:rPr>
              <a:t>3</a:t>
            </a:r>
          </a:p>
          <a:p>
            <a:pPr marL="0" indent="0">
              <a:lnSpc>
                <a:spcPts val="1600"/>
              </a:lnSpc>
              <a:spcBef>
                <a:spcPts val="0"/>
              </a:spcBef>
              <a:spcAft>
                <a:spcPts val="0"/>
              </a:spcAft>
              <a:buSzPct val="90000"/>
              <a:buFont typeface="Arial" charset="0"/>
              <a:buNone/>
              <a:defRPr/>
            </a:pPr>
            <a:r>
              <a:rPr lang="zh-CN" altLang="en-US" sz="1600" b="1" noProof="1">
                <a:latin typeface="Consolas" panose="020B0609020204030204" pitchFamily="49" charset="0"/>
              </a:rPr>
              <a:t>&gt;&gt;&gt; i = 5</a:t>
            </a:r>
            <a:endParaRPr lang="zh-CN" altLang="en-US" sz="1600" noProof="1">
              <a:solidFill>
                <a:srgbClr val="0000FF"/>
              </a:solidFill>
              <a:latin typeface="Consolas" panose="020B0609020204030204" pitchFamily="49" charset="0"/>
              <a:ea typeface="仿宋" panose="02010609060101010101" pitchFamily="49" charset="-122"/>
            </a:endParaRPr>
          </a:p>
          <a:p>
            <a:pPr marL="0" indent="0">
              <a:lnSpc>
                <a:spcPts val="1600"/>
              </a:lnSpc>
              <a:spcBef>
                <a:spcPts val="0"/>
              </a:spcBef>
              <a:spcAft>
                <a:spcPts val="0"/>
              </a:spcAft>
              <a:buSzPct val="90000"/>
              <a:buFont typeface="Arial" charset="0"/>
              <a:buNone/>
              <a:defRPr/>
            </a:pPr>
            <a:r>
              <a:rPr lang="zh-CN" altLang="en-US" sz="1600" b="1" noProof="1">
                <a:latin typeface="Consolas" panose="020B0609020204030204" pitchFamily="49" charset="0"/>
              </a:rPr>
              <a:t>&gt;&gt;&gt; f()</a:t>
            </a:r>
          </a:p>
          <a:p>
            <a:pPr marL="0" indent="0">
              <a:lnSpc>
                <a:spcPts val="1600"/>
              </a:lnSpc>
              <a:spcBef>
                <a:spcPts val="0"/>
              </a:spcBef>
              <a:spcAft>
                <a:spcPts val="0"/>
              </a:spcAft>
              <a:buSzPct val="90000"/>
              <a:buFont typeface="Arial" charset="0"/>
              <a:buNone/>
              <a:defRPr/>
            </a:pPr>
            <a:r>
              <a:rPr lang="zh-CN" altLang="en-US" sz="1600" b="1" noProof="1">
                <a:solidFill>
                  <a:srgbClr val="0000FF"/>
                </a:solidFill>
                <a:latin typeface="Consolas" panose="020B0609020204030204" pitchFamily="49" charset="0"/>
              </a:rPr>
              <a:t>3</a:t>
            </a:r>
          </a:p>
          <a:p>
            <a:pPr marL="0" indent="0">
              <a:lnSpc>
                <a:spcPts val="1600"/>
              </a:lnSpc>
              <a:spcBef>
                <a:spcPts val="0"/>
              </a:spcBef>
              <a:spcAft>
                <a:spcPts val="0"/>
              </a:spcAft>
              <a:buSzPct val="90000"/>
              <a:buFont typeface="Arial" charset="0"/>
              <a:buNone/>
              <a:defRPr/>
            </a:pPr>
            <a:r>
              <a:rPr lang="zh-CN" altLang="en-US" sz="1600" b="1" noProof="1">
                <a:latin typeface="Consolas" panose="020B0609020204030204" pitchFamily="49" charset="0"/>
              </a:rPr>
              <a:t>&gt;&gt;&gt; f.__defaults__     </a:t>
            </a:r>
            <a:r>
              <a:rPr lang="en-US" altLang="zh-CN" sz="1600" noProof="1">
                <a:solidFill>
                  <a:srgbClr val="0000FF"/>
                </a:solidFill>
                <a:latin typeface="Consolas" panose="020B0609020204030204" pitchFamily="49" charset="0"/>
                <a:ea typeface="仿宋" panose="02010609060101010101" pitchFamily="49" charset="-122"/>
              </a:rPr>
              <a:t># </a:t>
            </a:r>
            <a:r>
              <a:rPr lang="zh-CN" altLang="en-US" sz="1600" noProof="1">
                <a:solidFill>
                  <a:srgbClr val="0000FF"/>
                </a:solidFill>
                <a:latin typeface="Consolas" panose="020B0609020204030204" pitchFamily="49" charset="0"/>
                <a:ea typeface="仿宋" panose="02010609060101010101" pitchFamily="49" charset="-122"/>
              </a:rPr>
              <a:t>查看函数所有默认值参数的当前值</a:t>
            </a:r>
          </a:p>
          <a:p>
            <a:pPr marL="0" indent="0">
              <a:lnSpc>
                <a:spcPts val="1600"/>
              </a:lnSpc>
              <a:spcBef>
                <a:spcPts val="0"/>
              </a:spcBef>
              <a:spcAft>
                <a:spcPts val="0"/>
              </a:spcAft>
              <a:buSzPct val="90000"/>
              <a:buFont typeface="Arial" charset="0"/>
              <a:buNone/>
              <a:defRPr/>
            </a:pPr>
            <a:r>
              <a:rPr lang="zh-CN" altLang="en-US" sz="1600" b="1" noProof="1">
                <a:solidFill>
                  <a:srgbClr val="0000FF"/>
                </a:solidFill>
                <a:latin typeface="Consolas" panose="020B0609020204030204" pitchFamily="49" charset="0"/>
              </a:rPr>
              <a:t>(3,)</a:t>
            </a:r>
          </a:p>
        </p:txBody>
      </p:sp>
      <p:sp>
        <p:nvSpPr>
          <p:cNvPr id="3" name="矩形 2"/>
          <p:cNvSpPr/>
          <p:nvPr/>
        </p:nvSpPr>
        <p:spPr>
          <a:xfrm>
            <a:off x="3347864" y="5511551"/>
            <a:ext cx="4816623" cy="369332"/>
          </a:xfrm>
          <a:prstGeom prst="rect">
            <a:avLst/>
          </a:prstGeom>
        </p:spPr>
        <p:txBody>
          <a:bodyPr wrap="square">
            <a:spAutoFit/>
          </a:bodyPr>
          <a:lstStyle/>
          <a:p>
            <a:r>
              <a:rPr lang="zh-CN" altLang="en-US" noProof="1">
                <a:solidFill>
                  <a:srgbClr val="0000FF"/>
                </a:solidFill>
                <a:latin typeface="Consolas" panose="020B0609020204030204" pitchFamily="49" charset="0"/>
                <a:ea typeface="仿宋" panose="02010609060101010101" pitchFamily="49" charset="-122"/>
              </a:rPr>
              <a:t># 函数定义后修改i的值不影响参数n的默认值</a:t>
            </a:r>
            <a:endParaRPr lang="zh-CN" altLang="en-US" dirty="0"/>
          </a:p>
        </p:txBody>
      </p:sp>
    </p:spTree>
    <p:extLst>
      <p:ext uri="{BB962C8B-B14F-4D97-AF65-F5344CB8AC3E}">
        <p14:creationId xmlns:p14="http://schemas.microsoft.com/office/powerpoint/2010/main" val="356049618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9" end="9"/>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build="p"/>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文本占位符 34818"/>
          <p:cNvSpPr>
            <a:spLocks noGrp="1"/>
          </p:cNvSpPr>
          <p:nvPr>
            <p:ph idx="1"/>
          </p:nvPr>
        </p:nvSpPr>
        <p:spPr>
          <a:xfrm>
            <a:off x="618724" y="1385260"/>
            <a:ext cx="8229600" cy="4678451"/>
          </a:xfrm>
        </p:spPr>
        <p:txBody>
          <a:bodyPr vert="horz" wrap="square" lIns="68591" tIns="34295" rIns="68591" bIns="34295" numCol="1" anchor="t" anchorCtr="0" compatLnSpc="1">
            <a:prstTxWarp prst="textNoShape">
              <a:avLst/>
            </a:prstTxWarp>
          </a:bodyPr>
          <a:lstStyle/>
          <a:p>
            <a:pPr>
              <a:spcBef>
                <a:spcPts val="600"/>
              </a:spcBef>
              <a:spcAft>
                <a:spcPts val="600"/>
              </a:spcAft>
              <a:buClr>
                <a:srgbClr val="FF0000"/>
              </a:buClr>
              <a:buSzPct val="90000"/>
              <a:buFont typeface="Wingdings" panose="05000000000000000000" pitchFamily="2" charset="2"/>
              <a:buChar char="n"/>
            </a:pPr>
            <a:r>
              <a:rPr lang="zh-CN" altLang="en-US" sz="2200" noProof="1"/>
              <a:t>通过关键参数，</a:t>
            </a:r>
            <a:r>
              <a:rPr lang="zh-CN" altLang="en-US" sz="2200" noProof="1">
                <a:solidFill>
                  <a:srgbClr val="FF0000"/>
                </a:solidFill>
              </a:rPr>
              <a:t>实参顺序可以和形参顺序不一致</a:t>
            </a:r>
            <a:r>
              <a:rPr lang="zh-CN" altLang="en-US" sz="2200" noProof="1"/>
              <a:t>，但不影响传递结果，</a:t>
            </a:r>
            <a:r>
              <a:rPr lang="zh-CN" altLang="en-US" sz="2200" noProof="1">
                <a:solidFill>
                  <a:srgbClr val="FF0000"/>
                </a:solidFill>
              </a:rPr>
              <a:t>避免了用户需要牢记位置参数顺序的麻烦</a:t>
            </a:r>
            <a:r>
              <a:rPr lang="zh-CN" altLang="en-US" sz="2200" noProof="1"/>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23</a:t>
            </a:fld>
            <a:endParaRPr lang="zh-CN" altLang="en-US" dirty="0"/>
          </a:p>
        </p:txBody>
      </p:sp>
      <p:sp>
        <p:nvSpPr>
          <p:cNvPr id="6" name="矩形 5"/>
          <p:cNvSpPr/>
          <p:nvPr/>
        </p:nvSpPr>
        <p:spPr>
          <a:xfrm>
            <a:off x="314648" y="956751"/>
            <a:ext cx="2169120" cy="461665"/>
          </a:xfrm>
          <a:prstGeom prst="rect">
            <a:avLst/>
          </a:prstGeom>
        </p:spPr>
        <p:txBody>
          <a:bodyPr wrap="square">
            <a:spAutoFit/>
          </a:bodyPr>
          <a:lstStyle/>
          <a:p>
            <a:pPr marL="285750" indent="-285750">
              <a:buClr>
                <a:srgbClr val="FF0000"/>
              </a:buClr>
              <a:buFont typeface="Wingdings" panose="05000000000000000000" pitchFamily="2" charset="2"/>
              <a:buChar char="Ø"/>
            </a:pPr>
            <a:r>
              <a:rPr lang="zh-CN" altLang="en-US" sz="2400" b="1" noProof="1">
                <a:solidFill>
                  <a:srgbClr val="0000FF"/>
                </a:solidFill>
                <a:ea typeface="仿宋" panose="02010609060101010101" pitchFamily="49" charset="-122"/>
              </a:rPr>
              <a:t>关键参数</a:t>
            </a:r>
            <a:endParaRPr lang="zh-CN" altLang="en-US" sz="2400" dirty="0">
              <a:ea typeface="仿宋" panose="02010609060101010101" pitchFamily="49" charset="-122"/>
            </a:endParaRPr>
          </a:p>
        </p:txBody>
      </p:sp>
      <p:grpSp>
        <p:nvGrpSpPr>
          <p:cNvPr id="7" name="组合 67"/>
          <p:cNvGrpSpPr/>
          <p:nvPr/>
        </p:nvGrpSpPr>
        <p:grpSpPr>
          <a:xfrm>
            <a:off x="539552" y="125404"/>
            <a:ext cx="8161601" cy="674847"/>
            <a:chOff x="936625" y="4202884"/>
            <a:chExt cx="8161601" cy="674847"/>
          </a:xfrm>
        </p:grpSpPr>
        <p:grpSp>
          <p:nvGrpSpPr>
            <p:cNvPr id="8" name="组合 106"/>
            <p:cNvGrpSpPr/>
            <p:nvPr/>
          </p:nvGrpSpPr>
          <p:grpSpPr>
            <a:xfrm>
              <a:off x="936625" y="4202884"/>
              <a:ext cx="8161601" cy="674847"/>
              <a:chOff x="927100" y="4202884"/>
              <a:chExt cx="8161601" cy="674847"/>
            </a:xfrm>
          </p:grpSpPr>
          <p:sp>
            <p:nvSpPr>
              <p:cNvPr id="10"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9" name="图片 8"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4" name="矩形 3"/>
          <p:cNvSpPr/>
          <p:nvPr/>
        </p:nvSpPr>
        <p:spPr>
          <a:xfrm>
            <a:off x="1979712" y="1919669"/>
            <a:ext cx="5256584" cy="2332946"/>
          </a:xfrm>
          <a:prstGeom prst="rect">
            <a:avLst/>
          </a:prstGeom>
        </p:spPr>
        <p:txBody>
          <a:bodyPr wrap="square">
            <a:spAutoFit/>
          </a:bodyPr>
          <a:lstStyle/>
          <a:p>
            <a:pPr>
              <a:lnSpc>
                <a:spcPct val="80000"/>
              </a:lnSpc>
              <a:buSzPct val="90000"/>
            </a:pPr>
            <a:endParaRPr lang="en-US" altLang="zh-CN" noProof="1"/>
          </a:p>
          <a:p>
            <a:pPr>
              <a:lnSpc>
                <a:spcPct val="80000"/>
              </a:lnSpc>
              <a:buSzPct val="90000"/>
            </a:pPr>
            <a:r>
              <a:rPr lang="en-US" altLang="zh-CN" noProof="1">
                <a:latin typeface="Consolas" panose="020B0609020204030204" pitchFamily="49" charset="0"/>
              </a:rPr>
              <a:t>&gt;&gt;&gt; def demo(a,b,c=5):</a:t>
            </a:r>
          </a:p>
          <a:p>
            <a:pPr>
              <a:lnSpc>
                <a:spcPct val="80000"/>
              </a:lnSpc>
              <a:buSzPct val="90000"/>
            </a:pPr>
            <a:r>
              <a:rPr lang="en-US" altLang="zh-CN" noProof="1">
                <a:latin typeface="Consolas" panose="020B0609020204030204" pitchFamily="49" charset="0"/>
              </a:rPr>
              <a:t>    print(a,b,c)</a:t>
            </a:r>
          </a:p>
          <a:p>
            <a:pPr>
              <a:lnSpc>
                <a:spcPct val="80000"/>
              </a:lnSpc>
              <a:buSzPct val="90000"/>
            </a:pPr>
            <a:endParaRPr lang="en-US" altLang="zh-CN" noProof="1">
              <a:latin typeface="Consolas" panose="020B0609020204030204" pitchFamily="49" charset="0"/>
            </a:endParaRPr>
          </a:p>
          <a:p>
            <a:pPr>
              <a:lnSpc>
                <a:spcPct val="80000"/>
              </a:lnSpc>
              <a:buSzPct val="90000"/>
            </a:pPr>
            <a:r>
              <a:rPr lang="en-US" altLang="zh-CN" noProof="1">
                <a:latin typeface="Consolas" panose="020B0609020204030204" pitchFamily="49" charset="0"/>
              </a:rPr>
              <a:t>&gt;&gt;&gt; demo(3,7)</a:t>
            </a:r>
          </a:p>
          <a:p>
            <a:pPr>
              <a:lnSpc>
                <a:spcPct val="80000"/>
              </a:lnSpc>
              <a:buSzPct val="90000"/>
            </a:pPr>
            <a:r>
              <a:rPr lang="en-US" altLang="zh-CN" noProof="1">
                <a:solidFill>
                  <a:srgbClr val="0000FF"/>
                </a:solidFill>
                <a:latin typeface="Consolas" panose="020B0609020204030204" pitchFamily="49" charset="0"/>
              </a:rPr>
              <a:t>3 7 5</a:t>
            </a:r>
          </a:p>
          <a:p>
            <a:pPr>
              <a:lnSpc>
                <a:spcPct val="80000"/>
              </a:lnSpc>
              <a:buSzPct val="90000"/>
            </a:pPr>
            <a:r>
              <a:rPr lang="en-US" altLang="zh-CN" noProof="1">
                <a:latin typeface="Consolas" panose="020B0609020204030204" pitchFamily="49" charset="0"/>
              </a:rPr>
              <a:t>&gt;&gt;&gt; demo(a=7,b=3,c=6)</a:t>
            </a:r>
          </a:p>
          <a:p>
            <a:pPr>
              <a:lnSpc>
                <a:spcPct val="80000"/>
              </a:lnSpc>
              <a:buSzPct val="90000"/>
            </a:pPr>
            <a:r>
              <a:rPr lang="en-US" altLang="zh-CN" noProof="1">
                <a:solidFill>
                  <a:srgbClr val="0000FF"/>
                </a:solidFill>
                <a:latin typeface="Consolas" panose="020B0609020204030204" pitchFamily="49" charset="0"/>
              </a:rPr>
              <a:t>7 3 6</a:t>
            </a:r>
          </a:p>
          <a:p>
            <a:pPr>
              <a:lnSpc>
                <a:spcPct val="80000"/>
              </a:lnSpc>
              <a:buSzPct val="90000"/>
            </a:pPr>
            <a:r>
              <a:rPr lang="en-US" altLang="zh-CN" noProof="1">
                <a:latin typeface="Consolas" panose="020B0609020204030204" pitchFamily="49" charset="0"/>
              </a:rPr>
              <a:t>&gt;&gt;&gt; demo(c=8,a=9,b=0)</a:t>
            </a:r>
          </a:p>
          <a:p>
            <a:pPr>
              <a:lnSpc>
                <a:spcPct val="80000"/>
              </a:lnSpc>
              <a:buSzPct val="90000"/>
            </a:pPr>
            <a:r>
              <a:rPr lang="en-US" altLang="zh-CN" noProof="1">
                <a:solidFill>
                  <a:srgbClr val="0000FF"/>
                </a:solidFill>
                <a:latin typeface="Consolas" panose="020B0609020204030204" pitchFamily="49" charset="0"/>
              </a:rPr>
              <a:t>9 0 8</a:t>
            </a:r>
          </a:p>
        </p:txBody>
      </p:sp>
      <p:sp>
        <p:nvSpPr>
          <p:cNvPr id="5" name="矩形 4"/>
          <p:cNvSpPr/>
          <p:nvPr/>
        </p:nvSpPr>
        <p:spPr>
          <a:xfrm>
            <a:off x="407300" y="4249044"/>
            <a:ext cx="2329484" cy="461665"/>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400" b="1" dirty="0">
                <a:solidFill>
                  <a:srgbClr val="0000FF"/>
                </a:solidFill>
                <a:ea typeface="仿宋" panose="02010609060101010101" pitchFamily="49" charset="-122"/>
              </a:rPr>
              <a:t>可变长度参数</a:t>
            </a:r>
          </a:p>
        </p:txBody>
      </p:sp>
      <p:sp>
        <p:nvSpPr>
          <p:cNvPr id="14" name="文本占位符 35842"/>
          <p:cNvSpPr txBox="1">
            <a:spLocks/>
          </p:cNvSpPr>
          <p:nvPr/>
        </p:nvSpPr>
        <p:spPr bwMode="auto">
          <a:xfrm>
            <a:off x="730260" y="4710709"/>
            <a:ext cx="7414260" cy="3399155"/>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ts val="0"/>
              </a:spcAft>
              <a:buClr>
                <a:srgbClr val="FF0000"/>
              </a:buClr>
              <a:buSzPct val="90000"/>
              <a:buFont typeface="Wingdings" panose="05000000000000000000" pitchFamily="2" charset="2"/>
              <a:buChar char="n"/>
            </a:pPr>
            <a:r>
              <a:rPr lang="zh-CN" altLang="en-US" sz="2000" dirty="0"/>
              <a:t>可变长度参数主要有两种形式：</a:t>
            </a:r>
            <a:r>
              <a:rPr lang="zh-CN" altLang="en-US" sz="2000" dirty="0">
                <a:solidFill>
                  <a:srgbClr val="FF0000"/>
                </a:solidFill>
              </a:rPr>
              <a:t>在参数名前加</a:t>
            </a:r>
            <a:r>
              <a:rPr lang="en-US" altLang="zh-CN" sz="2000" dirty="0">
                <a:solidFill>
                  <a:srgbClr val="FF0000"/>
                </a:solidFill>
              </a:rPr>
              <a:t>1</a:t>
            </a:r>
            <a:r>
              <a:rPr lang="zh-CN" altLang="en-US" sz="2000" dirty="0">
                <a:solidFill>
                  <a:srgbClr val="FF0000"/>
                </a:solidFill>
              </a:rPr>
              <a:t>个</a:t>
            </a:r>
            <a:r>
              <a:rPr lang="en-US" altLang="zh-CN" sz="2000" dirty="0">
                <a:solidFill>
                  <a:srgbClr val="FF0000"/>
                </a:solidFill>
              </a:rPr>
              <a:t>*</a:t>
            </a:r>
            <a:r>
              <a:rPr lang="zh-CN" altLang="en-US" sz="2000" dirty="0">
                <a:solidFill>
                  <a:srgbClr val="FF0000"/>
                </a:solidFill>
              </a:rPr>
              <a:t>或</a:t>
            </a:r>
            <a:r>
              <a:rPr lang="en-US" altLang="zh-CN" sz="2000" dirty="0">
                <a:solidFill>
                  <a:srgbClr val="FF0000"/>
                </a:solidFill>
              </a:rPr>
              <a:t>2</a:t>
            </a:r>
            <a:r>
              <a:rPr lang="zh-CN" altLang="en-US" sz="2000" dirty="0">
                <a:solidFill>
                  <a:srgbClr val="FF0000"/>
                </a:solidFill>
              </a:rPr>
              <a:t>个</a:t>
            </a:r>
            <a:r>
              <a:rPr lang="en-US" altLang="zh-CN" sz="2000" dirty="0">
                <a:solidFill>
                  <a:srgbClr val="FF0000"/>
                </a:solidFill>
              </a:rPr>
              <a:t>**</a:t>
            </a:r>
          </a:p>
          <a:p>
            <a:pPr>
              <a:spcBef>
                <a:spcPts val="600"/>
              </a:spcBef>
              <a:spcAft>
                <a:spcPts val="0"/>
              </a:spcAft>
              <a:buClr>
                <a:srgbClr val="FF0000"/>
              </a:buClr>
              <a:buSzPct val="90000"/>
              <a:buFont typeface="Arial" panose="020B0604020202020204" pitchFamily="34" charset="0"/>
              <a:buChar char="•"/>
            </a:pPr>
            <a:r>
              <a:rPr lang="en-US" altLang="zh-CN" sz="2000" dirty="0"/>
              <a:t>*parameter</a:t>
            </a:r>
            <a:r>
              <a:rPr lang="zh-CN" altLang="en-US" sz="2000" dirty="0"/>
              <a:t>用来接收多个</a:t>
            </a:r>
            <a:r>
              <a:rPr lang="zh-CN" altLang="en-US" sz="2000" dirty="0">
                <a:solidFill>
                  <a:srgbClr val="FF0000"/>
                </a:solidFill>
              </a:rPr>
              <a:t>位置实参</a:t>
            </a:r>
            <a:r>
              <a:rPr lang="zh-CN" altLang="en-US" sz="2000" dirty="0"/>
              <a:t>并将其放在一个</a:t>
            </a:r>
            <a:r>
              <a:rPr lang="zh-CN" altLang="en-US" sz="2000" dirty="0">
                <a:solidFill>
                  <a:srgbClr val="FF0000"/>
                </a:solidFill>
              </a:rPr>
              <a:t>元组</a:t>
            </a:r>
            <a:r>
              <a:rPr lang="zh-CN" altLang="en-US" sz="2000" dirty="0"/>
              <a:t>中</a:t>
            </a:r>
          </a:p>
          <a:p>
            <a:pPr>
              <a:spcBef>
                <a:spcPts val="600"/>
              </a:spcBef>
              <a:spcAft>
                <a:spcPts val="0"/>
              </a:spcAft>
              <a:buClr>
                <a:srgbClr val="FF0000"/>
              </a:buClr>
              <a:buSzPct val="90000"/>
              <a:buFont typeface="Arial" panose="020B0604020202020204" pitchFamily="34" charset="0"/>
              <a:buChar char="•"/>
            </a:pPr>
            <a:r>
              <a:rPr lang="en-US" altLang="zh-CN" sz="2000" dirty="0"/>
              <a:t>**parameter</a:t>
            </a:r>
            <a:r>
              <a:rPr lang="zh-CN" altLang="en-US" sz="2000" dirty="0"/>
              <a:t>接收多个</a:t>
            </a:r>
            <a:r>
              <a:rPr lang="zh-CN" altLang="en-US" sz="2000" dirty="0">
                <a:solidFill>
                  <a:srgbClr val="FF0000"/>
                </a:solidFill>
              </a:rPr>
              <a:t>关键参数</a:t>
            </a:r>
            <a:r>
              <a:rPr lang="zh-CN" altLang="en-US" sz="2000" dirty="0"/>
              <a:t>并存放到</a:t>
            </a:r>
            <a:r>
              <a:rPr lang="zh-CN" altLang="en-US" sz="2000" dirty="0">
                <a:solidFill>
                  <a:srgbClr val="FF0000"/>
                </a:solidFill>
              </a:rPr>
              <a:t>字典</a:t>
            </a:r>
            <a:r>
              <a:rPr lang="zh-CN" altLang="en-US" sz="2000" dirty="0"/>
              <a:t>中</a:t>
            </a:r>
          </a:p>
        </p:txBody>
      </p:sp>
    </p:spTree>
    <p:extLst>
      <p:ext uri="{BB962C8B-B14F-4D97-AF65-F5344CB8AC3E}">
        <p14:creationId xmlns:p14="http://schemas.microsoft.com/office/powerpoint/2010/main" val="200490633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uild="p"/>
      <p:bldP spid="6" grpId="0"/>
      <p:bldP spid="5"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文本占位符 36866"/>
          <p:cNvSpPr>
            <a:spLocks noGrp="1"/>
          </p:cNvSpPr>
          <p:nvPr>
            <p:ph idx="1"/>
          </p:nvPr>
        </p:nvSpPr>
        <p:spPr>
          <a:xfrm>
            <a:off x="743952" y="1414845"/>
            <a:ext cx="8229600" cy="4678451"/>
          </a:xfrm>
        </p:spPr>
        <p:txBody>
          <a:bodyPr vert="horz" wrap="square" lIns="68591" tIns="34295" rIns="68591" bIns="34295" numCol="1" anchor="t" anchorCtr="0" compatLnSpc="1">
            <a:prstTxWarp prst="textNoShape">
              <a:avLst/>
            </a:prstTxWarp>
          </a:bodyPr>
          <a:lstStyle/>
          <a:p>
            <a:pPr>
              <a:lnSpc>
                <a:spcPct val="80000"/>
              </a:lnSpc>
              <a:buClr>
                <a:srgbClr val="FF0000"/>
              </a:buClr>
              <a:buSzPct val="90000"/>
              <a:buFont typeface="Wingdings" panose="05000000000000000000" pitchFamily="2" charset="2"/>
              <a:buChar char="n"/>
              <a:defRPr/>
            </a:pPr>
            <a:r>
              <a:rPr lang="en-US" altLang="zh-CN" sz="2400" noProof="1"/>
              <a:t>*parameter</a:t>
            </a:r>
            <a:r>
              <a:rPr lang="zh-CN" altLang="en-US" sz="2400" noProof="1"/>
              <a:t>的用法</a:t>
            </a:r>
          </a:p>
          <a:p>
            <a:pPr>
              <a:lnSpc>
                <a:spcPct val="80000"/>
              </a:lnSpc>
              <a:buSzPct val="90000"/>
              <a:buNone/>
              <a:defRPr/>
            </a:pPr>
            <a:endParaRPr lang="en-US" altLang="x-none" sz="1500" noProof="1">
              <a:latin typeface="+mn-lt"/>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24</a:t>
            </a:fld>
            <a:endParaRPr lang="zh-CN" altLang="en-US"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矩形 10"/>
          <p:cNvSpPr/>
          <p:nvPr/>
        </p:nvSpPr>
        <p:spPr>
          <a:xfrm>
            <a:off x="395536" y="953180"/>
            <a:ext cx="2329484" cy="461665"/>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400" b="1" dirty="0">
                <a:solidFill>
                  <a:srgbClr val="0000FF"/>
                </a:solidFill>
                <a:ea typeface="仿宋" panose="02010609060101010101" pitchFamily="49" charset="-122"/>
              </a:rPr>
              <a:t>可变长度参数</a:t>
            </a:r>
          </a:p>
        </p:txBody>
      </p:sp>
      <p:sp>
        <p:nvSpPr>
          <p:cNvPr id="4" name="矩形 3"/>
          <p:cNvSpPr/>
          <p:nvPr/>
        </p:nvSpPr>
        <p:spPr>
          <a:xfrm>
            <a:off x="2987824" y="1772816"/>
            <a:ext cx="5004048" cy="1889748"/>
          </a:xfrm>
          <a:prstGeom prst="rect">
            <a:avLst/>
          </a:prstGeom>
        </p:spPr>
        <p:txBody>
          <a:bodyPr wrap="square">
            <a:spAutoFit/>
          </a:bodyPr>
          <a:lstStyle/>
          <a:p>
            <a:pPr>
              <a:lnSpc>
                <a:spcPct val="80000"/>
              </a:lnSpc>
              <a:buSzPct val="90000"/>
              <a:buNone/>
              <a:defRPr/>
            </a:pPr>
            <a:r>
              <a:rPr lang="en-US" altLang="x-none" sz="1600" noProof="1">
                <a:latin typeface="Consolas" panose="020B0609020204030204" pitchFamily="49" charset="0"/>
              </a:rPr>
              <a:t>&gt;&gt;&gt; def demo(*p):</a:t>
            </a:r>
          </a:p>
          <a:p>
            <a:pPr>
              <a:lnSpc>
                <a:spcPct val="80000"/>
              </a:lnSpc>
              <a:buSzPct val="90000"/>
              <a:buNone/>
              <a:defRPr/>
            </a:pPr>
            <a:r>
              <a:rPr lang="en-US" altLang="x-none" sz="1600" noProof="1">
                <a:latin typeface="Consolas" panose="020B0609020204030204" pitchFamily="49" charset="0"/>
              </a:rPr>
              <a:t>    print(p)</a:t>
            </a:r>
          </a:p>
          <a:p>
            <a:pPr>
              <a:lnSpc>
                <a:spcPct val="80000"/>
              </a:lnSpc>
              <a:buSzPct val="90000"/>
              <a:buNone/>
              <a:defRPr/>
            </a:pPr>
            <a:endParaRPr lang="en-US" altLang="x-none" sz="1600" noProof="1">
              <a:latin typeface="Consolas" panose="020B0609020204030204" pitchFamily="49" charset="0"/>
            </a:endParaRPr>
          </a:p>
          <a:p>
            <a:pPr>
              <a:lnSpc>
                <a:spcPct val="80000"/>
              </a:lnSpc>
              <a:buSzPct val="90000"/>
              <a:buNone/>
              <a:defRPr/>
            </a:pPr>
            <a:r>
              <a:rPr lang="en-US" altLang="x-none" sz="1600" noProof="1">
                <a:latin typeface="Consolas" panose="020B0609020204030204" pitchFamily="49" charset="0"/>
              </a:rPr>
              <a:t>&gt;&gt;&gt; demo(1,2,3)</a:t>
            </a:r>
          </a:p>
          <a:p>
            <a:pPr>
              <a:lnSpc>
                <a:spcPct val="80000"/>
              </a:lnSpc>
              <a:buSzPct val="90000"/>
              <a:buNone/>
              <a:defRPr/>
            </a:pPr>
            <a:r>
              <a:rPr lang="en-US" altLang="x-none" sz="1600" noProof="1">
                <a:solidFill>
                  <a:srgbClr val="0000FF"/>
                </a:solidFill>
                <a:latin typeface="Consolas" panose="020B0609020204030204" pitchFamily="49" charset="0"/>
              </a:rPr>
              <a:t>(1, 2, 3)</a:t>
            </a:r>
          </a:p>
          <a:p>
            <a:pPr>
              <a:lnSpc>
                <a:spcPct val="80000"/>
              </a:lnSpc>
              <a:buSzPct val="90000"/>
              <a:buNone/>
              <a:defRPr/>
            </a:pPr>
            <a:r>
              <a:rPr lang="en-US" altLang="x-none" sz="1600" noProof="1">
                <a:latin typeface="Consolas" panose="020B0609020204030204" pitchFamily="49" charset="0"/>
              </a:rPr>
              <a:t>&gt;&gt;&gt; demo(1,2)</a:t>
            </a:r>
          </a:p>
          <a:p>
            <a:pPr>
              <a:lnSpc>
                <a:spcPct val="80000"/>
              </a:lnSpc>
              <a:buSzPct val="90000"/>
              <a:buNone/>
              <a:defRPr/>
            </a:pPr>
            <a:r>
              <a:rPr lang="en-US" altLang="x-none" sz="1600" noProof="1">
                <a:solidFill>
                  <a:srgbClr val="0000FF"/>
                </a:solidFill>
                <a:latin typeface="Consolas" panose="020B0609020204030204" pitchFamily="49" charset="0"/>
              </a:rPr>
              <a:t>(1, 2)</a:t>
            </a:r>
          </a:p>
          <a:p>
            <a:pPr>
              <a:lnSpc>
                <a:spcPct val="80000"/>
              </a:lnSpc>
              <a:buSzPct val="90000"/>
              <a:buNone/>
              <a:defRPr/>
            </a:pPr>
            <a:r>
              <a:rPr lang="en-US" altLang="x-none" sz="1600" noProof="1">
                <a:latin typeface="Consolas" panose="020B0609020204030204" pitchFamily="49" charset="0"/>
              </a:rPr>
              <a:t>&gt;&gt;&gt; demo(1,2,3,4,5,6,7)</a:t>
            </a:r>
          </a:p>
          <a:p>
            <a:pPr>
              <a:lnSpc>
                <a:spcPct val="80000"/>
              </a:lnSpc>
              <a:buSzPct val="90000"/>
              <a:buNone/>
              <a:defRPr/>
            </a:pPr>
            <a:r>
              <a:rPr lang="en-US" altLang="x-none" sz="1600" noProof="1">
                <a:solidFill>
                  <a:srgbClr val="0000FF"/>
                </a:solidFill>
                <a:latin typeface="Consolas" panose="020B0609020204030204" pitchFamily="49" charset="0"/>
              </a:rPr>
              <a:t>(1, 2, 3, 4, 5, 6, 7)</a:t>
            </a:r>
          </a:p>
        </p:txBody>
      </p:sp>
      <p:sp>
        <p:nvSpPr>
          <p:cNvPr id="13" name="文本占位符 37890"/>
          <p:cNvSpPr txBox="1">
            <a:spLocks/>
          </p:cNvSpPr>
          <p:nvPr/>
        </p:nvSpPr>
        <p:spPr bwMode="auto">
          <a:xfrm>
            <a:off x="743952" y="3933056"/>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Clr>
                <a:srgbClr val="FF0000"/>
              </a:buClr>
              <a:buSzPct val="90000"/>
              <a:buFont typeface="Wingdings" panose="05000000000000000000" pitchFamily="2" charset="2"/>
              <a:buChar char="n"/>
              <a:defRPr/>
            </a:pPr>
            <a:r>
              <a:rPr lang="en-US" altLang="zh-CN" sz="2400" noProof="1"/>
              <a:t>**parameter</a:t>
            </a:r>
            <a:r>
              <a:rPr lang="zh-CN" altLang="en-US" sz="2400" noProof="1"/>
              <a:t>的用法</a:t>
            </a:r>
          </a:p>
          <a:p>
            <a:pPr>
              <a:lnSpc>
                <a:spcPct val="80000"/>
              </a:lnSpc>
              <a:buSzPct val="90000"/>
              <a:buFont typeface="Arial" charset="0"/>
              <a:buNone/>
              <a:defRPr/>
            </a:pPr>
            <a:endParaRPr lang="en-US" altLang="x-none" sz="1500" noProof="1">
              <a:latin typeface="+mn-lt"/>
              <a:ea typeface="+mn-ea"/>
            </a:endParaRPr>
          </a:p>
        </p:txBody>
      </p:sp>
      <p:sp>
        <p:nvSpPr>
          <p:cNvPr id="5" name="矩形 4"/>
          <p:cNvSpPr/>
          <p:nvPr/>
        </p:nvSpPr>
        <p:spPr>
          <a:xfrm>
            <a:off x="2831976" y="4405457"/>
            <a:ext cx="4788024" cy="1717393"/>
          </a:xfrm>
          <a:prstGeom prst="rect">
            <a:avLst/>
          </a:prstGeom>
        </p:spPr>
        <p:txBody>
          <a:bodyPr wrap="square">
            <a:spAutoFit/>
          </a:bodyPr>
          <a:lstStyle/>
          <a:p>
            <a:pPr>
              <a:lnSpc>
                <a:spcPct val="80000"/>
              </a:lnSpc>
              <a:buSzPct val="90000"/>
              <a:buFont typeface="Arial" charset="0"/>
              <a:buNone/>
              <a:defRPr/>
            </a:pPr>
            <a:r>
              <a:rPr lang="en-US" altLang="x-none" sz="1600" noProof="1">
                <a:latin typeface="Consolas" panose="020B0609020204030204" pitchFamily="49" charset="0"/>
              </a:rPr>
              <a:t>&gt;&gt;&gt; def demo(**p):</a:t>
            </a:r>
          </a:p>
          <a:p>
            <a:pPr>
              <a:lnSpc>
                <a:spcPct val="80000"/>
              </a:lnSpc>
              <a:buSzPct val="90000"/>
              <a:buFont typeface="Arial" charset="0"/>
              <a:buNone/>
              <a:defRPr/>
            </a:pPr>
            <a:r>
              <a:rPr lang="en-US" altLang="x-none" sz="1600" noProof="1">
                <a:latin typeface="Consolas" panose="020B0609020204030204" pitchFamily="49" charset="0"/>
              </a:rPr>
              <a:t>    for item in p.items():</a:t>
            </a:r>
          </a:p>
          <a:p>
            <a:pPr>
              <a:lnSpc>
                <a:spcPct val="80000"/>
              </a:lnSpc>
              <a:buSzPct val="90000"/>
              <a:buFont typeface="Arial" charset="0"/>
              <a:buNone/>
              <a:defRPr/>
            </a:pPr>
            <a:r>
              <a:rPr lang="en-US" altLang="x-none" sz="1600" noProof="1">
                <a:latin typeface="Consolas" panose="020B0609020204030204" pitchFamily="49" charset="0"/>
              </a:rPr>
              <a:t>        print(item)</a:t>
            </a:r>
          </a:p>
          <a:p>
            <a:pPr>
              <a:lnSpc>
                <a:spcPct val="80000"/>
              </a:lnSpc>
              <a:buSzPct val="90000"/>
              <a:buFont typeface="Arial" charset="0"/>
              <a:buNone/>
              <a:defRPr/>
            </a:pPr>
            <a:endParaRPr lang="en-US" altLang="x-none" sz="1600" noProof="1">
              <a:latin typeface="Consolas" panose="020B0609020204030204" pitchFamily="49" charset="0"/>
            </a:endParaRPr>
          </a:p>
          <a:p>
            <a:pPr>
              <a:lnSpc>
                <a:spcPct val="80000"/>
              </a:lnSpc>
              <a:buSzPct val="90000"/>
              <a:buFont typeface="Arial" charset="0"/>
              <a:buNone/>
              <a:defRPr/>
            </a:pPr>
            <a:r>
              <a:rPr lang="en-US" altLang="x-none" sz="1600" noProof="1">
                <a:latin typeface="Consolas" panose="020B0609020204030204" pitchFamily="49" charset="0"/>
              </a:rPr>
              <a:t>&gt;&gt;&gt; demo(x=1,y=2,z=3)</a:t>
            </a:r>
          </a:p>
          <a:p>
            <a:pPr>
              <a:lnSpc>
                <a:spcPct val="80000"/>
              </a:lnSpc>
              <a:buSzPct val="90000"/>
              <a:buFont typeface="Arial" charset="0"/>
              <a:buNone/>
              <a:defRPr/>
            </a:pPr>
            <a:r>
              <a:rPr lang="en-US" altLang="x-none" sz="1600" noProof="1">
                <a:solidFill>
                  <a:srgbClr val="0000FF"/>
                </a:solidFill>
                <a:latin typeface="Consolas" panose="020B0609020204030204" pitchFamily="49" charset="0"/>
              </a:rPr>
              <a:t>('y', 2)</a:t>
            </a:r>
          </a:p>
          <a:p>
            <a:pPr>
              <a:lnSpc>
                <a:spcPct val="80000"/>
              </a:lnSpc>
              <a:buSzPct val="90000"/>
              <a:buFont typeface="Arial" charset="0"/>
              <a:buNone/>
              <a:defRPr/>
            </a:pPr>
            <a:r>
              <a:rPr lang="en-US" altLang="x-none" sz="1600" noProof="1">
                <a:solidFill>
                  <a:srgbClr val="0000FF"/>
                </a:solidFill>
                <a:latin typeface="Consolas" panose="020B0609020204030204" pitchFamily="49" charset="0"/>
              </a:rPr>
              <a:t>('x', 1)</a:t>
            </a:r>
          </a:p>
          <a:p>
            <a:pPr>
              <a:lnSpc>
                <a:spcPct val="80000"/>
              </a:lnSpc>
              <a:buSzPct val="90000"/>
              <a:buFont typeface="Arial" charset="0"/>
              <a:buNone/>
              <a:defRPr/>
            </a:pPr>
            <a:r>
              <a:rPr lang="en-US" altLang="x-none" sz="1600" noProof="1">
                <a:solidFill>
                  <a:srgbClr val="0000FF"/>
                </a:solidFill>
                <a:latin typeface="Consolas" panose="020B0609020204030204" pitchFamily="49" charset="0"/>
              </a:rPr>
              <a:t>('z', 3)</a:t>
            </a:r>
          </a:p>
        </p:txBody>
      </p:sp>
      <p:grpSp>
        <p:nvGrpSpPr>
          <p:cNvPr id="12" name="组合 11"/>
          <p:cNvGrpSpPr/>
          <p:nvPr/>
        </p:nvGrpSpPr>
        <p:grpSpPr>
          <a:xfrm>
            <a:off x="5225988" y="1179158"/>
            <a:ext cx="3557661" cy="646331"/>
            <a:chOff x="5225988" y="1179158"/>
            <a:chExt cx="3557661" cy="646331"/>
          </a:xfrm>
        </p:grpSpPr>
        <p:sp>
          <p:nvSpPr>
            <p:cNvPr id="3" name="矩形 2"/>
            <p:cNvSpPr/>
            <p:nvPr/>
          </p:nvSpPr>
          <p:spPr>
            <a:xfrm>
              <a:off x="5489848" y="1179158"/>
              <a:ext cx="3293801" cy="646331"/>
            </a:xfrm>
            <a:prstGeom prst="rect">
              <a:avLst/>
            </a:prstGeom>
          </p:spPr>
          <p:txBody>
            <a:bodyPr wrap="square">
              <a:spAutoFit/>
            </a:bodyPr>
            <a:lstStyle/>
            <a:p>
              <a:pPr marL="0" indent="0">
                <a:buSzPct val="90000"/>
                <a:buNone/>
              </a:pPr>
              <a:r>
                <a:rPr lang="zh-CN" altLang="en-US" b="1" dirty="0" smtClean="0"/>
                <a:t>用户</a:t>
              </a:r>
              <a:r>
                <a:rPr lang="zh-CN" altLang="en-US" b="1" dirty="0"/>
                <a:t>输入一</a:t>
              </a:r>
              <a:r>
                <a:rPr lang="zh-CN" altLang="en-US" b="1" dirty="0" smtClean="0"/>
                <a:t>个自然数</a:t>
              </a:r>
              <a:r>
                <a:rPr lang="zh-CN" altLang="en-US" b="1" dirty="0"/>
                <a:t>，计算并</a:t>
              </a:r>
              <a:r>
                <a:rPr lang="zh-CN" altLang="en-US" b="1" dirty="0" smtClean="0"/>
                <a:t>输出各位上的</a:t>
              </a:r>
              <a:r>
                <a:rPr lang="zh-CN" altLang="en-US" b="1" dirty="0"/>
                <a:t>数字。</a:t>
              </a:r>
              <a:endParaRPr lang="en-US" altLang="zh-CN" b="1" dirty="0"/>
            </a:p>
          </p:txBody>
        </p:sp>
        <p:pic>
          <p:nvPicPr>
            <p:cNvPr id="14" name="图片 13"/>
            <p:cNvPicPr>
              <a:picLocks noChangeAspect="1"/>
            </p:cNvPicPr>
            <p:nvPr/>
          </p:nvPicPr>
          <p:blipFill>
            <a:blip r:embed="rId3"/>
            <a:stretch>
              <a:fillRect/>
            </a:stretch>
          </p:blipFill>
          <p:spPr>
            <a:xfrm>
              <a:off x="5225988" y="1222667"/>
              <a:ext cx="335377" cy="384355"/>
            </a:xfrm>
            <a:prstGeom prst="rect">
              <a:avLst/>
            </a:prstGeom>
          </p:spPr>
        </p:pic>
      </p:grpSp>
    </p:spTree>
    <p:extLst>
      <p:ext uri="{BB962C8B-B14F-4D97-AF65-F5344CB8AC3E}">
        <p14:creationId xmlns:p14="http://schemas.microsoft.com/office/powerpoint/2010/main" val="139310854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13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P spid="11" grpId="0"/>
      <p:bldP spid="4" grpId="0"/>
      <p:bldP spid="13"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文本占位符 38914"/>
          <p:cNvSpPr>
            <a:spLocks noGrp="1"/>
          </p:cNvSpPr>
          <p:nvPr>
            <p:ph idx="1"/>
          </p:nvPr>
        </p:nvSpPr>
        <p:spPr>
          <a:xfrm>
            <a:off x="755015" y="1400940"/>
            <a:ext cx="8229600" cy="4678451"/>
          </a:xfrm>
        </p:spPr>
        <p:txBody>
          <a:bodyPr vert="horz" wrap="square" lIns="68591" tIns="34295" rIns="68591" bIns="34295" numCol="1" anchor="t" anchorCtr="0" compatLnSpc="1">
            <a:prstTxWarp prst="textNoShape">
              <a:avLst/>
            </a:prstTxWarp>
          </a:bodyPr>
          <a:lstStyle/>
          <a:p>
            <a:pPr eaLnBrk="1" fontAlgn="base" hangingPunct="1">
              <a:lnSpc>
                <a:spcPct val="90000"/>
              </a:lnSpc>
              <a:spcBef>
                <a:spcPct val="0"/>
              </a:spcBef>
              <a:buClr>
                <a:srgbClr val="FF0000"/>
              </a:buClr>
              <a:buSzPct val="90000"/>
              <a:buFont typeface="Wingdings" panose="05000000000000000000" pitchFamily="2" charset="2"/>
              <a:buChar char="n"/>
            </a:pPr>
            <a:r>
              <a:rPr lang="zh-CN" altLang="en-US" sz="2400" noProof="1"/>
              <a:t>几种不同类型的参数</a:t>
            </a:r>
            <a:r>
              <a:rPr lang="zh-CN" altLang="en-US" sz="2400" noProof="1">
                <a:solidFill>
                  <a:srgbClr val="FF0000"/>
                </a:solidFill>
              </a:rPr>
              <a:t>可以混合使用</a:t>
            </a:r>
            <a:r>
              <a:rPr lang="zh-CN" altLang="en-US" sz="2400" noProof="1"/>
              <a:t>，但是</a:t>
            </a:r>
            <a:r>
              <a:rPr lang="zh-CN" altLang="en-US" sz="2400" noProof="1">
                <a:solidFill>
                  <a:srgbClr val="FF0000"/>
                </a:solidFill>
              </a:rPr>
              <a:t>不建议这样做</a:t>
            </a:r>
            <a:r>
              <a:rPr lang="zh-CN" altLang="en-US" sz="2400" noProof="1"/>
              <a:t>。</a:t>
            </a:r>
          </a:p>
          <a:p>
            <a:pPr eaLnBrk="1" fontAlgn="base" hangingPunct="1">
              <a:lnSpc>
                <a:spcPct val="90000"/>
              </a:lnSpc>
              <a:spcBef>
                <a:spcPct val="0"/>
              </a:spcBef>
              <a:buSzPct val="90000"/>
              <a:buFont typeface="Wingdings" panose="05000000000000000000" pitchFamily="2" charset="2"/>
              <a:buNone/>
            </a:pPr>
            <a:endParaRPr lang="en-US" altLang="zh-CN" sz="1350" noProof="1">
              <a:latin typeface="Consolas" panose="020B0609020204030204" pitchFamily="49"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25</a:t>
            </a:fld>
            <a:endParaRPr lang="zh-CN" altLang="en-US"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solidFill>
                      <a:srgbClr val="FFC000"/>
                    </a:solidFill>
                    <a:latin typeface="Times New Roman" pitchFamily="18" charset="0"/>
                    <a:ea typeface="黑体" pitchFamily="49" charset="-122"/>
                  </a:rPr>
                  <a:t>5.3 </a:t>
                </a:r>
                <a:r>
                  <a:rPr lang="zh-CN" altLang="en-US" sz="3600" b="1" dirty="0">
                    <a:solidFill>
                      <a:srgbClr val="FFC000"/>
                    </a:solidFill>
                    <a:latin typeface="Times New Roman" pitchFamily="18" charset="0"/>
                    <a:ea typeface="黑体" pitchFamily="49" charset="-122"/>
                  </a:rPr>
                  <a:t> 参数类型</a:t>
                </a:r>
                <a:endParaRPr lang="zh-CN" altLang="en-US" sz="3600" b="1" dirty="0">
                  <a:solidFill>
                    <a:srgbClr val="FFC000"/>
                  </a:solidFill>
                  <a:latin typeface="黑体" pitchFamily="49" charset="-122"/>
                  <a:ea typeface="黑体"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矩形 10"/>
          <p:cNvSpPr/>
          <p:nvPr/>
        </p:nvSpPr>
        <p:spPr>
          <a:xfrm>
            <a:off x="395536" y="953180"/>
            <a:ext cx="2329484" cy="461665"/>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400" b="1" dirty="0">
                <a:solidFill>
                  <a:srgbClr val="0000FF"/>
                </a:solidFill>
              </a:rPr>
              <a:t>可变长度参数</a:t>
            </a:r>
          </a:p>
        </p:txBody>
      </p:sp>
      <p:sp>
        <p:nvSpPr>
          <p:cNvPr id="4" name="矩形 3"/>
          <p:cNvSpPr/>
          <p:nvPr/>
        </p:nvSpPr>
        <p:spPr>
          <a:xfrm>
            <a:off x="1363716" y="1824656"/>
            <a:ext cx="6997848" cy="3693319"/>
          </a:xfrm>
          <a:prstGeom prst="rect">
            <a:avLst/>
          </a:prstGeom>
        </p:spPr>
        <p:txBody>
          <a:bodyPr wrap="square">
            <a:spAutoFit/>
          </a:bodyPr>
          <a:lstStyle/>
          <a:p>
            <a:pPr>
              <a:buSzPct val="90000"/>
            </a:pPr>
            <a:r>
              <a:rPr lang="en-US" altLang="zh-CN" noProof="1">
                <a:latin typeface="Consolas" panose="020B0609020204030204" pitchFamily="49" charset="0"/>
              </a:rPr>
              <a:t>&gt;&gt;&gt; def func_4(a, b, c=4, *aa, **bb):</a:t>
            </a:r>
          </a:p>
          <a:p>
            <a:pPr>
              <a:buSzPct val="90000"/>
            </a:pPr>
            <a:r>
              <a:rPr lang="en-US" altLang="zh-CN" noProof="1">
                <a:latin typeface="Consolas" panose="020B0609020204030204" pitchFamily="49" charset="0"/>
              </a:rPr>
              <a:t>    print(a,b,c)</a:t>
            </a:r>
          </a:p>
          <a:p>
            <a:pPr>
              <a:buSzPct val="90000"/>
            </a:pPr>
            <a:r>
              <a:rPr lang="en-US" altLang="zh-CN" noProof="1">
                <a:latin typeface="Consolas" panose="020B0609020204030204" pitchFamily="49" charset="0"/>
              </a:rPr>
              <a:t>    print(aa)</a:t>
            </a:r>
          </a:p>
          <a:p>
            <a:pPr>
              <a:buSzPct val="90000"/>
            </a:pPr>
            <a:r>
              <a:rPr lang="en-US" altLang="zh-CN" noProof="1">
                <a:latin typeface="Consolas" panose="020B0609020204030204" pitchFamily="49" charset="0"/>
              </a:rPr>
              <a:t>    print(bb)</a:t>
            </a:r>
          </a:p>
          <a:p>
            <a:pPr>
              <a:buSzPct val="90000"/>
            </a:pPr>
            <a:endParaRPr lang="en-US" altLang="zh-CN" noProof="1">
              <a:latin typeface="Consolas" panose="020B0609020204030204" pitchFamily="49" charset="0"/>
            </a:endParaRPr>
          </a:p>
          <a:p>
            <a:pPr>
              <a:buSzPct val="90000"/>
            </a:pPr>
            <a:r>
              <a:rPr lang="en-US" altLang="zh-CN" noProof="1">
                <a:latin typeface="Consolas" panose="020B0609020204030204" pitchFamily="49" charset="0"/>
              </a:rPr>
              <a:t>&gt;&gt;&gt; func_4(</a:t>
            </a:r>
            <a:r>
              <a:rPr lang="en-US" altLang="zh-CN" noProof="1">
                <a:solidFill>
                  <a:srgbClr val="0070C0"/>
                </a:solidFill>
                <a:latin typeface="Consolas" panose="020B0609020204030204" pitchFamily="49" charset="0"/>
              </a:rPr>
              <a:t>1,2,3</a:t>
            </a:r>
            <a:r>
              <a:rPr lang="en-US" altLang="zh-CN" noProof="1">
                <a:latin typeface="Consolas" panose="020B0609020204030204" pitchFamily="49" charset="0"/>
              </a:rPr>
              <a:t>,4,5,6,7,8,9,xx='1',yy='2',zz=3)</a:t>
            </a:r>
          </a:p>
          <a:p>
            <a:pPr>
              <a:buSzPct val="90000"/>
            </a:pPr>
            <a:r>
              <a:rPr lang="en-US" altLang="zh-CN" noProof="1">
                <a:solidFill>
                  <a:srgbClr val="0000FF"/>
                </a:solidFill>
                <a:latin typeface="Consolas" panose="020B0609020204030204" pitchFamily="49" charset="0"/>
              </a:rPr>
              <a:t>1 2 3</a:t>
            </a:r>
          </a:p>
          <a:p>
            <a:pPr>
              <a:buSzPct val="90000"/>
            </a:pPr>
            <a:r>
              <a:rPr lang="en-US" altLang="zh-CN" noProof="1">
                <a:solidFill>
                  <a:srgbClr val="0000FF"/>
                </a:solidFill>
                <a:latin typeface="Consolas" panose="020B0609020204030204" pitchFamily="49" charset="0"/>
              </a:rPr>
              <a:t>(4, 5, 6, 7, 8, 9)</a:t>
            </a:r>
          </a:p>
          <a:p>
            <a:pPr>
              <a:buSzPct val="90000"/>
            </a:pPr>
            <a:r>
              <a:rPr lang="en-US" altLang="zh-CN" noProof="1">
                <a:solidFill>
                  <a:srgbClr val="0000FF"/>
                </a:solidFill>
                <a:latin typeface="Consolas" panose="020B0609020204030204" pitchFamily="49" charset="0"/>
              </a:rPr>
              <a:t>{'yy': '2', 'xx': '1', 'zz': 3}</a:t>
            </a:r>
          </a:p>
          <a:p>
            <a:pPr>
              <a:buSzPct val="90000"/>
            </a:pPr>
            <a:r>
              <a:rPr lang="en-US" altLang="zh-CN" noProof="1">
                <a:latin typeface="Consolas" panose="020B0609020204030204" pitchFamily="49" charset="0"/>
              </a:rPr>
              <a:t>&gt;&gt;&gt; func_4(1,2,3,4,5,6,7,xx='1',yy='2',zz=3)</a:t>
            </a:r>
          </a:p>
          <a:p>
            <a:pPr>
              <a:buSzPct val="90000"/>
            </a:pPr>
            <a:r>
              <a:rPr lang="en-US" altLang="zh-CN" noProof="1">
                <a:solidFill>
                  <a:srgbClr val="0000FF"/>
                </a:solidFill>
                <a:latin typeface="Consolas" panose="020B0609020204030204" pitchFamily="49" charset="0"/>
              </a:rPr>
              <a:t>1 2 3</a:t>
            </a:r>
          </a:p>
          <a:p>
            <a:pPr>
              <a:buSzPct val="90000"/>
            </a:pPr>
            <a:r>
              <a:rPr lang="en-US" altLang="zh-CN" noProof="1">
                <a:solidFill>
                  <a:srgbClr val="0000FF"/>
                </a:solidFill>
                <a:latin typeface="Consolas" panose="020B0609020204030204" pitchFamily="49" charset="0"/>
              </a:rPr>
              <a:t>(4, 5, 6, 7)</a:t>
            </a:r>
          </a:p>
          <a:p>
            <a:pPr>
              <a:buSzPct val="90000"/>
            </a:pPr>
            <a:r>
              <a:rPr lang="en-US" altLang="zh-CN" noProof="1">
                <a:solidFill>
                  <a:srgbClr val="0000FF"/>
                </a:solidFill>
                <a:latin typeface="Consolas" panose="020B0609020204030204" pitchFamily="49" charset="0"/>
              </a:rPr>
              <a:t>{'yy': '2', 'xx': '1', 'zz': 3}</a:t>
            </a:r>
          </a:p>
        </p:txBody>
      </p:sp>
    </p:spTree>
    <p:extLst>
      <p:ext uri="{BB962C8B-B14F-4D97-AF65-F5344CB8AC3E}">
        <p14:creationId xmlns:p14="http://schemas.microsoft.com/office/powerpoint/2010/main" val="182658897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本占位符 39938"/>
          <p:cNvSpPr>
            <a:spLocks noGrp="1"/>
          </p:cNvSpPr>
          <p:nvPr>
            <p:ph idx="1"/>
          </p:nvPr>
        </p:nvSpPr>
        <p:spPr>
          <a:xfrm>
            <a:off x="740876" y="1423096"/>
            <a:ext cx="8229600" cy="4678451"/>
          </a:xfrm>
        </p:spPr>
        <p:txBody>
          <a:bodyPr vert="horz" wrap="square" lIns="68591" tIns="34295" rIns="68591" bIns="34295" numCol="1" anchor="t" anchorCtr="0" compatLnSpc="1">
            <a:prstTxWarp prst="textNoShape">
              <a:avLst/>
            </a:prstTxWarp>
          </a:bodyPr>
          <a:lstStyle/>
          <a:p>
            <a:pPr>
              <a:spcBef>
                <a:spcPts val="600"/>
              </a:spcBef>
              <a:spcAft>
                <a:spcPts val="0"/>
              </a:spcAft>
              <a:buClr>
                <a:srgbClr val="FF0000"/>
              </a:buClr>
              <a:buSzPct val="90000"/>
              <a:buFont typeface="Wingdings" panose="05000000000000000000" pitchFamily="2" charset="2"/>
              <a:buChar char="n"/>
            </a:pPr>
            <a:r>
              <a:rPr lang="zh-CN" altLang="en-US" sz="2000" noProof="1"/>
              <a:t>传递参数时，可以通过</a:t>
            </a:r>
            <a:r>
              <a:rPr lang="zh-CN" altLang="en-US" sz="2000" noProof="1">
                <a:solidFill>
                  <a:srgbClr val="FF0000"/>
                </a:solidFill>
              </a:rPr>
              <a:t>在实参序列前加一个星号</a:t>
            </a:r>
            <a:r>
              <a:rPr lang="zh-CN" altLang="en-US" sz="2000" noProof="1"/>
              <a:t>将其解包，然后传递给</a:t>
            </a:r>
            <a:r>
              <a:rPr lang="zh-CN" altLang="en-US" sz="2000" noProof="1">
                <a:solidFill>
                  <a:srgbClr val="FF0000"/>
                </a:solidFill>
              </a:rPr>
              <a:t>多个单变量形参</a:t>
            </a:r>
            <a:r>
              <a:rPr lang="zh-CN" altLang="en-US" sz="2000" noProof="1"/>
              <a:t>。</a:t>
            </a:r>
          </a:p>
          <a:p>
            <a:pPr eaLnBrk="1" fontAlgn="base" hangingPunct="1">
              <a:lnSpc>
                <a:spcPct val="80000"/>
              </a:lnSpc>
              <a:buSzPct val="90000"/>
              <a:buFont typeface="Wingdings" panose="05000000000000000000" pitchFamily="2" charset="2"/>
              <a:buNone/>
            </a:pPr>
            <a:endParaRPr lang="en-US" altLang="zh-CN" sz="1350" noProof="1">
              <a:latin typeface="Consolas" panose="020B0609020204030204" pitchFamily="49" charset="0"/>
            </a:endParaRPr>
          </a:p>
        </p:txBody>
      </p:sp>
      <p:sp>
        <p:nvSpPr>
          <p:cNvPr id="49155" name="文本框 1"/>
          <p:cNvSpPr txBox="1"/>
          <p:nvPr/>
        </p:nvSpPr>
        <p:spPr>
          <a:xfrm>
            <a:off x="4716016" y="2204864"/>
            <a:ext cx="3101975" cy="2308324"/>
          </a:xfrm>
          <a:prstGeom prst="rect">
            <a:avLst/>
          </a:prstGeom>
          <a:noFill/>
          <a:ln w="25400" cap="flat" cmpd="sng">
            <a:solidFill>
              <a:srgbClr val="0000FF"/>
            </a:solidFill>
            <a:prstDash val="solid"/>
            <a:round/>
            <a:headEnd type="none" w="med" len="med"/>
            <a:tailEnd type="none" w="med" len="med"/>
          </a:ln>
        </p:spPr>
        <p:txBody>
          <a:bodyPr anchor="t">
            <a:spAutoFit/>
          </a:bodyPr>
          <a:lstStyle/>
          <a:p>
            <a:r>
              <a:rPr lang="zh-CN" altLang="en-US" sz="1600" dirty="0">
                <a:latin typeface="Consolas" panose="020B0609020204030204" pitchFamily="49" charset="0"/>
                <a:ea typeface="宋体" panose="02010600030101010101" pitchFamily="2" charset="-122"/>
              </a:rPr>
              <a:t>&gt;&gt;&gt; dic = {1:'a', 2:'b', 3:'c'}</a:t>
            </a:r>
          </a:p>
          <a:p>
            <a:r>
              <a:rPr lang="zh-CN" altLang="en-US" sz="1600" dirty="0">
                <a:latin typeface="Consolas" panose="020B0609020204030204" pitchFamily="49" charset="0"/>
                <a:ea typeface="宋体" panose="02010600030101010101" pitchFamily="2" charset="-122"/>
              </a:rPr>
              <a:t>&gt;&gt;&gt; demo(*dic)</a:t>
            </a:r>
          </a:p>
          <a:p>
            <a:r>
              <a:rPr lang="zh-CN" altLang="en-US" sz="1600" dirty="0">
                <a:solidFill>
                  <a:srgbClr val="0000FF"/>
                </a:solidFill>
                <a:latin typeface="Consolas" panose="020B0609020204030204" pitchFamily="49" charset="0"/>
                <a:ea typeface="宋体" panose="02010600030101010101" pitchFamily="2" charset="-122"/>
              </a:rPr>
              <a:t>6</a:t>
            </a:r>
          </a:p>
          <a:p>
            <a:r>
              <a:rPr lang="zh-CN" altLang="en-US" sz="1600" dirty="0">
                <a:latin typeface="Consolas" panose="020B0609020204030204" pitchFamily="49" charset="0"/>
                <a:ea typeface="宋体" panose="02010600030101010101" pitchFamily="2" charset="-122"/>
              </a:rPr>
              <a:t>&gt;&gt;&gt; Set = {1, 2, 3}</a:t>
            </a:r>
          </a:p>
          <a:p>
            <a:r>
              <a:rPr lang="zh-CN" altLang="en-US" sz="1600" dirty="0">
                <a:latin typeface="Consolas" panose="020B0609020204030204" pitchFamily="49" charset="0"/>
                <a:ea typeface="宋体" panose="02010600030101010101" pitchFamily="2" charset="-122"/>
              </a:rPr>
              <a:t>&gt;&gt;&gt; demo(*Set)</a:t>
            </a:r>
          </a:p>
          <a:p>
            <a:r>
              <a:rPr lang="zh-CN" altLang="en-US" sz="1600" dirty="0">
                <a:solidFill>
                  <a:srgbClr val="0000FF"/>
                </a:solidFill>
                <a:latin typeface="Consolas" panose="020B0609020204030204" pitchFamily="49" charset="0"/>
                <a:ea typeface="宋体" panose="02010600030101010101" pitchFamily="2" charset="-122"/>
              </a:rPr>
              <a:t>6</a:t>
            </a:r>
          </a:p>
          <a:p>
            <a:r>
              <a:rPr lang="zh-CN" altLang="en-US" sz="1600" dirty="0">
                <a:latin typeface="Consolas" panose="020B0609020204030204" pitchFamily="49" charset="0"/>
                <a:ea typeface="宋体" panose="02010600030101010101" pitchFamily="2" charset="-122"/>
              </a:rPr>
              <a:t>&gt;&gt;&gt; demo(*dic.values())</a:t>
            </a:r>
          </a:p>
          <a:p>
            <a:r>
              <a:rPr lang="zh-CN" altLang="en-US" sz="1600" dirty="0">
                <a:solidFill>
                  <a:srgbClr val="0000FF"/>
                </a:solidFill>
                <a:latin typeface="Consolas" panose="020B0609020204030204" pitchFamily="49" charset="0"/>
                <a:ea typeface="宋体" panose="02010600030101010101" pitchFamily="2" charset="-122"/>
              </a:rPr>
              <a:t>abc</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26</a:t>
            </a:fld>
            <a:endParaRPr lang="zh-CN" altLang="en-US" dirty="0"/>
          </a:p>
        </p:txBody>
      </p:sp>
      <p:sp>
        <p:nvSpPr>
          <p:cNvPr id="4" name="矩形 3"/>
          <p:cNvSpPr/>
          <p:nvPr/>
        </p:nvSpPr>
        <p:spPr>
          <a:xfrm>
            <a:off x="323528" y="961431"/>
            <a:ext cx="3257623" cy="461665"/>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400" b="1" dirty="0">
                <a:ea typeface="仿宋" panose="02010609060101010101" pitchFamily="49" charset="-122"/>
              </a:rPr>
              <a:t>参数传递的序列解包</a:t>
            </a:r>
          </a:p>
        </p:txBody>
      </p:sp>
      <p:grpSp>
        <p:nvGrpSpPr>
          <p:cNvPr id="8" name="组合 67"/>
          <p:cNvGrpSpPr/>
          <p:nvPr/>
        </p:nvGrpSpPr>
        <p:grpSpPr>
          <a:xfrm>
            <a:off x="539552" y="125404"/>
            <a:ext cx="8161601" cy="674847"/>
            <a:chOff x="936625" y="4202884"/>
            <a:chExt cx="8161601" cy="674847"/>
          </a:xfrm>
        </p:grpSpPr>
        <p:grpSp>
          <p:nvGrpSpPr>
            <p:cNvPr id="9" name="组合 106"/>
            <p:cNvGrpSpPr/>
            <p:nvPr/>
          </p:nvGrpSpPr>
          <p:grpSpPr>
            <a:xfrm>
              <a:off x="936625" y="4202884"/>
              <a:ext cx="8161601" cy="674847"/>
              <a:chOff x="927100" y="4202884"/>
              <a:chExt cx="8161601" cy="674847"/>
            </a:xfrm>
          </p:grpSpPr>
          <p:sp>
            <p:nvSpPr>
              <p:cNvPr id="1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2"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10" name="图片 9"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5" name="矩形 4"/>
          <p:cNvSpPr/>
          <p:nvPr/>
        </p:nvSpPr>
        <p:spPr>
          <a:xfrm>
            <a:off x="928417" y="2228503"/>
            <a:ext cx="2808312" cy="1889748"/>
          </a:xfrm>
          <a:prstGeom prst="rect">
            <a:avLst/>
          </a:prstGeom>
          <a:ln w="25400">
            <a:solidFill>
              <a:srgbClr val="0000FF"/>
            </a:solidFill>
          </a:ln>
        </p:spPr>
        <p:txBody>
          <a:bodyPr wrap="square">
            <a:spAutoFit/>
          </a:bodyPr>
          <a:lstStyle/>
          <a:p>
            <a:pPr>
              <a:lnSpc>
                <a:spcPct val="80000"/>
              </a:lnSpc>
              <a:buSzPct val="90000"/>
            </a:pPr>
            <a:r>
              <a:rPr lang="en-US" altLang="zh-CN" sz="1600" noProof="1">
                <a:latin typeface="Consolas" panose="020B0609020204030204" pitchFamily="49" charset="0"/>
              </a:rPr>
              <a:t>&gt;&gt;&gt; def demo(a, b, c):</a:t>
            </a:r>
          </a:p>
          <a:p>
            <a:pPr>
              <a:lnSpc>
                <a:spcPct val="80000"/>
              </a:lnSpc>
              <a:buSzPct val="90000"/>
            </a:pPr>
            <a:r>
              <a:rPr lang="en-US" altLang="zh-CN" sz="1600" noProof="1">
                <a:latin typeface="Consolas" panose="020B0609020204030204" pitchFamily="49" charset="0"/>
              </a:rPr>
              <a:t>    print(a+b+c)</a:t>
            </a:r>
          </a:p>
          <a:p>
            <a:pPr>
              <a:lnSpc>
                <a:spcPct val="80000"/>
              </a:lnSpc>
              <a:buSzPct val="90000"/>
            </a:pPr>
            <a:endParaRPr lang="en-US" altLang="zh-CN" sz="1600" noProof="1">
              <a:latin typeface="Consolas" panose="020B0609020204030204" pitchFamily="49" charset="0"/>
            </a:endParaRPr>
          </a:p>
          <a:p>
            <a:pPr>
              <a:lnSpc>
                <a:spcPct val="80000"/>
              </a:lnSpc>
              <a:buSzPct val="90000"/>
            </a:pPr>
            <a:r>
              <a:rPr lang="en-US" altLang="zh-CN" sz="1600" noProof="1">
                <a:latin typeface="Consolas" panose="020B0609020204030204" pitchFamily="49" charset="0"/>
              </a:rPr>
              <a:t>&gt;&gt;&gt; seq = [1, 2, 3]</a:t>
            </a:r>
          </a:p>
          <a:p>
            <a:pPr>
              <a:lnSpc>
                <a:spcPct val="80000"/>
              </a:lnSpc>
              <a:buSzPct val="90000"/>
            </a:pPr>
            <a:r>
              <a:rPr lang="en-US" altLang="zh-CN" sz="1600" noProof="1">
                <a:latin typeface="Consolas" panose="020B0609020204030204" pitchFamily="49" charset="0"/>
              </a:rPr>
              <a:t>&gt;&gt;&gt; demo(*seq)</a:t>
            </a:r>
          </a:p>
          <a:p>
            <a:pPr>
              <a:lnSpc>
                <a:spcPct val="80000"/>
              </a:lnSpc>
              <a:buSzPct val="90000"/>
            </a:pPr>
            <a:r>
              <a:rPr lang="en-US" altLang="zh-CN" sz="1600" noProof="1">
                <a:solidFill>
                  <a:srgbClr val="0000FF"/>
                </a:solidFill>
                <a:latin typeface="Consolas" panose="020B0609020204030204" pitchFamily="49" charset="0"/>
              </a:rPr>
              <a:t>6</a:t>
            </a:r>
          </a:p>
          <a:p>
            <a:pPr>
              <a:lnSpc>
                <a:spcPct val="80000"/>
              </a:lnSpc>
              <a:buSzPct val="90000"/>
            </a:pPr>
            <a:r>
              <a:rPr lang="en-US" altLang="zh-CN" sz="1600" noProof="1">
                <a:latin typeface="Consolas" panose="020B0609020204030204" pitchFamily="49" charset="0"/>
              </a:rPr>
              <a:t>&gt;&gt;&gt; tup = (1, 2, 3)</a:t>
            </a:r>
          </a:p>
          <a:p>
            <a:pPr>
              <a:lnSpc>
                <a:spcPct val="80000"/>
              </a:lnSpc>
              <a:buSzPct val="90000"/>
            </a:pPr>
            <a:r>
              <a:rPr lang="en-US" altLang="zh-CN" sz="1600" noProof="1">
                <a:latin typeface="Consolas" panose="020B0609020204030204" pitchFamily="49" charset="0"/>
              </a:rPr>
              <a:t>&gt;&gt;&gt; demo(*tup)</a:t>
            </a:r>
          </a:p>
          <a:p>
            <a:pPr>
              <a:lnSpc>
                <a:spcPct val="80000"/>
              </a:lnSpc>
              <a:buSzPct val="90000"/>
            </a:pPr>
            <a:r>
              <a:rPr lang="en-US" altLang="zh-CN" sz="1600" noProof="1">
                <a:solidFill>
                  <a:srgbClr val="0000FF"/>
                </a:solidFill>
                <a:latin typeface="Consolas" panose="020B0609020204030204" pitchFamily="49" charset="0"/>
              </a:rPr>
              <a:t>6</a:t>
            </a:r>
          </a:p>
        </p:txBody>
      </p:sp>
    </p:spTree>
    <p:extLst>
      <p:ext uri="{BB962C8B-B14F-4D97-AF65-F5344CB8AC3E}">
        <p14:creationId xmlns:p14="http://schemas.microsoft.com/office/powerpoint/2010/main" val="71060243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p:bldP spid="49155" grpId="0"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40876" y="1366790"/>
            <a:ext cx="8229600" cy="4678451"/>
          </a:xfrm>
        </p:spPr>
        <p:txBody>
          <a:bodyPr vert="horz" wrap="square" lIns="68591" tIns="34295" rIns="68591" bIns="34295" numCol="1" anchor="t" anchorCtr="0" compatLnSpc="1">
            <a:prstTxWarp prst="textNoShape">
              <a:avLst/>
            </a:prstTxWarp>
          </a:bodyPr>
          <a:lstStyle/>
          <a:p>
            <a:pPr>
              <a:spcBef>
                <a:spcPts val="600"/>
              </a:spcBef>
              <a:buClr>
                <a:srgbClr val="FF0000"/>
              </a:buClr>
              <a:buFont typeface="Wingdings" panose="05000000000000000000" pitchFamily="2" charset="2"/>
              <a:buChar char="n"/>
              <a:defRPr/>
            </a:pPr>
            <a:r>
              <a:rPr lang="zh-CN" altLang="en-US" sz="2000" noProof="1">
                <a:latin typeface="+mn-lt"/>
              </a:rPr>
              <a:t>如果</a:t>
            </a:r>
            <a:r>
              <a:rPr lang="zh-CN" altLang="en-US" sz="2000" noProof="1">
                <a:solidFill>
                  <a:srgbClr val="FF0000"/>
                </a:solidFill>
                <a:latin typeface="+mn-lt"/>
              </a:rPr>
              <a:t>函数实参是字典</a:t>
            </a:r>
            <a:r>
              <a:rPr lang="zh-CN" altLang="en-US" sz="2000" noProof="1">
                <a:latin typeface="+mn-lt"/>
              </a:rPr>
              <a:t>，可以</a:t>
            </a:r>
            <a:r>
              <a:rPr lang="zh-CN" altLang="en-US" sz="2000" noProof="1">
                <a:solidFill>
                  <a:srgbClr val="FF0000"/>
                </a:solidFill>
                <a:latin typeface="+mn-lt"/>
              </a:rPr>
              <a:t>在前面加两个星号</a:t>
            </a:r>
            <a:r>
              <a:rPr lang="zh-CN" altLang="en-US" sz="2000" noProof="1">
                <a:latin typeface="+mn-lt"/>
              </a:rPr>
              <a:t>进行解包，</a:t>
            </a:r>
            <a:r>
              <a:rPr lang="zh-CN" altLang="en-US" sz="2000" noProof="1">
                <a:solidFill>
                  <a:srgbClr val="FF0000"/>
                </a:solidFill>
                <a:latin typeface="+mn-lt"/>
              </a:rPr>
              <a:t>等价于关键参数</a:t>
            </a:r>
            <a:r>
              <a:rPr lang="zh-CN" altLang="en-US" sz="1800" noProof="1">
                <a:latin typeface="+mn-lt"/>
                <a:ea typeface="+mn-ea"/>
              </a:rPr>
              <a:t>。</a:t>
            </a:r>
          </a:p>
          <a:p>
            <a:pPr marL="0" indent="0">
              <a:buNone/>
              <a:defRPr/>
            </a:pPr>
            <a:r>
              <a:rPr lang="zh-CN" altLang="en-US" sz="1500" noProof="1">
                <a:latin typeface="Consolas" panose="020B0609020204030204" pitchFamily="49" charset="0"/>
                <a:ea typeface="+mn-ea"/>
              </a:rPr>
              <a:t>&gt;&gt;&gt; def demo(a, b, c):</a:t>
            </a:r>
          </a:p>
          <a:p>
            <a:pPr marL="0" indent="0">
              <a:buNone/>
              <a:defRPr/>
            </a:pPr>
            <a:r>
              <a:rPr lang="zh-CN" altLang="en-US" sz="1500" noProof="1">
                <a:latin typeface="Consolas" panose="020B0609020204030204" pitchFamily="49" charset="0"/>
                <a:ea typeface="+mn-ea"/>
              </a:rPr>
              <a:t>    print(a+b+c)</a:t>
            </a:r>
          </a:p>
          <a:p>
            <a:pPr marL="0" indent="0">
              <a:buNone/>
              <a:defRPr/>
            </a:pPr>
            <a:endParaRPr lang="zh-CN" altLang="en-US" sz="1500" noProof="1">
              <a:latin typeface="Consolas" panose="020B0609020204030204" pitchFamily="49" charset="0"/>
              <a:ea typeface="+mn-ea"/>
            </a:endParaRPr>
          </a:p>
          <a:p>
            <a:pPr marL="0" indent="0">
              <a:buNone/>
              <a:defRPr/>
            </a:pPr>
            <a:r>
              <a:rPr lang="zh-CN" altLang="en-US" sz="1500" noProof="1">
                <a:latin typeface="Consolas" panose="020B0609020204030204" pitchFamily="49" charset="0"/>
                <a:ea typeface="+mn-ea"/>
              </a:rPr>
              <a:t>&gt;&gt;&gt; dic = {'a':1, 'b':2, 'c':3}</a:t>
            </a:r>
          </a:p>
          <a:p>
            <a:pPr marL="0" indent="0">
              <a:buNone/>
              <a:defRPr/>
            </a:pPr>
            <a:r>
              <a:rPr lang="zh-CN" altLang="en-US" sz="1500" noProof="1">
                <a:latin typeface="Consolas" panose="020B0609020204030204" pitchFamily="49" charset="0"/>
                <a:ea typeface="+mn-ea"/>
              </a:rPr>
              <a:t>&gt;&gt;&gt; demo(**dic)</a:t>
            </a:r>
          </a:p>
          <a:p>
            <a:pPr marL="0" indent="0">
              <a:buNone/>
              <a:defRPr/>
            </a:pPr>
            <a:r>
              <a:rPr lang="zh-CN" altLang="en-US" sz="1500" noProof="1">
                <a:solidFill>
                  <a:srgbClr val="0000FF"/>
                </a:solidFill>
                <a:latin typeface="Consolas" panose="020B0609020204030204" pitchFamily="49" charset="0"/>
                <a:ea typeface="+mn-ea"/>
              </a:rPr>
              <a:t>6</a:t>
            </a:r>
          </a:p>
          <a:p>
            <a:pPr marL="0" indent="0">
              <a:buNone/>
              <a:defRPr/>
            </a:pPr>
            <a:r>
              <a:rPr lang="zh-CN" altLang="en-US" sz="1500" noProof="1">
                <a:latin typeface="Consolas" panose="020B0609020204030204" pitchFamily="49" charset="0"/>
                <a:ea typeface="+mn-ea"/>
              </a:rPr>
              <a:t>&gt;&gt;&gt; demo(a=1, b=2, c=3)</a:t>
            </a:r>
          </a:p>
          <a:p>
            <a:pPr marL="0" indent="0">
              <a:buNone/>
              <a:defRPr/>
            </a:pPr>
            <a:r>
              <a:rPr lang="zh-CN" altLang="en-US" sz="1500" noProof="1">
                <a:solidFill>
                  <a:srgbClr val="0000FF"/>
                </a:solidFill>
                <a:latin typeface="Consolas" panose="020B0609020204030204" pitchFamily="49" charset="0"/>
                <a:ea typeface="+mn-ea"/>
              </a:rPr>
              <a:t>6</a:t>
            </a:r>
          </a:p>
          <a:p>
            <a:pPr marL="0" indent="0">
              <a:buNone/>
              <a:defRPr/>
            </a:pPr>
            <a:r>
              <a:rPr lang="zh-CN" altLang="en-US" sz="1500" noProof="1">
                <a:latin typeface="Consolas" panose="020B0609020204030204" pitchFamily="49" charset="0"/>
                <a:ea typeface="+mn-ea"/>
              </a:rPr>
              <a:t>&gt;&gt;&gt; demo(*dic.values())</a:t>
            </a:r>
          </a:p>
          <a:p>
            <a:pPr marL="0" indent="0">
              <a:buNone/>
              <a:defRPr/>
            </a:pPr>
            <a:r>
              <a:rPr lang="zh-CN" altLang="en-US" sz="1500" noProof="1">
                <a:solidFill>
                  <a:srgbClr val="0000FF"/>
                </a:solidFill>
                <a:latin typeface="Consolas" panose="020B0609020204030204" pitchFamily="49" charset="0"/>
                <a:ea typeface="+mn-ea"/>
              </a:rPr>
              <a:t>6</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27</a:t>
            </a:fld>
            <a:endParaRPr lang="zh-CN" altLang="en-US" dirty="0"/>
          </a:p>
        </p:txBody>
      </p:sp>
      <p:grpSp>
        <p:nvGrpSpPr>
          <p:cNvPr id="7" name="组合 67"/>
          <p:cNvGrpSpPr/>
          <p:nvPr/>
        </p:nvGrpSpPr>
        <p:grpSpPr>
          <a:xfrm>
            <a:off x="539552" y="125404"/>
            <a:ext cx="8161601" cy="674847"/>
            <a:chOff x="936625" y="4202884"/>
            <a:chExt cx="8161601" cy="674847"/>
          </a:xfrm>
        </p:grpSpPr>
        <p:grpSp>
          <p:nvGrpSpPr>
            <p:cNvPr id="8" name="组合 106"/>
            <p:cNvGrpSpPr/>
            <p:nvPr/>
          </p:nvGrpSpPr>
          <p:grpSpPr>
            <a:xfrm>
              <a:off x="936625" y="4202884"/>
              <a:ext cx="8161601" cy="674847"/>
              <a:chOff x="927100" y="4202884"/>
              <a:chExt cx="8161601" cy="674847"/>
            </a:xfrm>
          </p:grpSpPr>
          <p:sp>
            <p:nvSpPr>
              <p:cNvPr id="10"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9" name="图片 8"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2" name="内容占位符 2"/>
          <p:cNvSpPr txBox="1">
            <a:spLocks/>
          </p:cNvSpPr>
          <p:nvPr/>
        </p:nvSpPr>
        <p:spPr bwMode="auto">
          <a:xfrm>
            <a:off x="705455" y="4869160"/>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buClr>
                <a:srgbClr val="FF0000"/>
              </a:buClr>
              <a:buSzPct val="90000"/>
              <a:buFont typeface="Wingdings" panose="05000000000000000000" pitchFamily="2" charset="2"/>
              <a:buChar char="n"/>
            </a:pPr>
            <a:r>
              <a:rPr lang="zh-CN" altLang="en-US" sz="2000" dirty="0">
                <a:solidFill>
                  <a:srgbClr val="FF0000"/>
                </a:solidFill>
              </a:rPr>
              <a:t>注意：</a:t>
            </a:r>
            <a:r>
              <a:rPr lang="zh-CN" altLang="en-US" sz="2000" dirty="0"/>
              <a:t>调用函数时对实参序列使用</a:t>
            </a:r>
            <a:r>
              <a:rPr lang="zh-CN" altLang="en-US" sz="2000" dirty="0">
                <a:solidFill>
                  <a:srgbClr val="FF0000"/>
                </a:solidFill>
              </a:rPr>
              <a:t>一个星号*进行解包</a:t>
            </a:r>
            <a:r>
              <a:rPr lang="zh-CN" altLang="en-US" sz="2000" dirty="0"/>
              <a:t>后的实参将会被</a:t>
            </a:r>
            <a:endParaRPr lang="en-US" altLang="zh-CN" sz="2000" dirty="0"/>
          </a:p>
          <a:p>
            <a:pPr marL="0" indent="0">
              <a:spcBef>
                <a:spcPts val="600"/>
              </a:spcBef>
              <a:buClr>
                <a:srgbClr val="FF0000"/>
              </a:buClr>
              <a:buSzPct val="90000"/>
              <a:buNone/>
            </a:pPr>
            <a:r>
              <a:rPr lang="en-US" altLang="zh-CN" sz="2000" dirty="0"/>
              <a:t>                 </a:t>
            </a:r>
            <a:r>
              <a:rPr lang="zh-CN" altLang="en-US" sz="2000" dirty="0"/>
              <a:t>当做</a:t>
            </a:r>
            <a:r>
              <a:rPr lang="zh-CN" altLang="en-US" sz="2000" dirty="0">
                <a:solidFill>
                  <a:srgbClr val="FF0000"/>
                </a:solidFill>
              </a:rPr>
              <a:t>普通位置参数</a:t>
            </a:r>
            <a:r>
              <a:rPr lang="zh-CN" altLang="en-US" sz="2000" dirty="0"/>
              <a:t>对待；</a:t>
            </a:r>
            <a:endParaRPr lang="en-US" altLang="zh-CN" sz="2000" dirty="0"/>
          </a:p>
          <a:p>
            <a:pPr marL="0" indent="0">
              <a:spcBef>
                <a:spcPts val="600"/>
              </a:spcBef>
              <a:buClr>
                <a:srgbClr val="FF0000"/>
              </a:buClr>
              <a:buSzPct val="90000"/>
              <a:buNone/>
            </a:pPr>
            <a:r>
              <a:rPr lang="en-US" altLang="zh-CN" sz="2000" dirty="0"/>
              <a:t>                 </a:t>
            </a:r>
            <a:r>
              <a:rPr lang="zh-CN" altLang="en-US" sz="2000" dirty="0"/>
              <a:t>且</a:t>
            </a:r>
            <a:r>
              <a:rPr lang="zh-CN" altLang="en-US" sz="2000" dirty="0">
                <a:solidFill>
                  <a:srgbClr val="FF0000"/>
                </a:solidFill>
              </a:rPr>
              <a:t>会在关键参数和使用两个星号**进行序列解包的参数</a:t>
            </a:r>
            <a:r>
              <a:rPr lang="zh-CN" altLang="en-US" sz="2000" dirty="0" smtClean="0">
                <a:solidFill>
                  <a:srgbClr val="FF0000"/>
                </a:solidFill>
              </a:rPr>
              <a:t>之前</a:t>
            </a:r>
            <a:endParaRPr lang="en-US" altLang="zh-CN" sz="2000" dirty="0" smtClean="0">
              <a:solidFill>
                <a:srgbClr val="FF0000"/>
              </a:solidFill>
            </a:endParaRPr>
          </a:p>
          <a:p>
            <a:pPr marL="0" indent="0">
              <a:spcBef>
                <a:spcPts val="600"/>
              </a:spcBef>
              <a:buClr>
                <a:srgbClr val="FF0000"/>
              </a:buClr>
              <a:buSzPct val="90000"/>
              <a:buNone/>
            </a:pPr>
            <a:r>
              <a:rPr lang="en-US" altLang="zh-CN" sz="2000" dirty="0" smtClean="0"/>
              <a:t>                  </a:t>
            </a:r>
            <a:r>
              <a:rPr lang="zh-CN" altLang="en-US" sz="2000" dirty="0" smtClean="0"/>
              <a:t>进行</a:t>
            </a:r>
            <a:r>
              <a:rPr lang="zh-CN" altLang="en-US" sz="2000" dirty="0"/>
              <a:t>处理。</a:t>
            </a:r>
          </a:p>
        </p:txBody>
      </p:sp>
      <p:sp>
        <p:nvSpPr>
          <p:cNvPr id="13" name="矩形 12"/>
          <p:cNvSpPr/>
          <p:nvPr/>
        </p:nvSpPr>
        <p:spPr>
          <a:xfrm>
            <a:off x="323528" y="961431"/>
            <a:ext cx="3257623" cy="461665"/>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400" b="1" dirty="0">
                <a:ea typeface="仿宋" panose="02010609060101010101" pitchFamily="49" charset="-122"/>
              </a:rPr>
              <a:t>参数传递的序列解包</a:t>
            </a:r>
          </a:p>
        </p:txBody>
      </p:sp>
    </p:spTree>
    <p:extLst>
      <p:ext uri="{BB962C8B-B14F-4D97-AF65-F5344CB8AC3E}">
        <p14:creationId xmlns:p14="http://schemas.microsoft.com/office/powerpoint/2010/main" val="266220583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p:cNvSpPr>
            <a:spLocks noGrp="1"/>
          </p:cNvSpPr>
          <p:nvPr>
            <p:ph idx="1"/>
          </p:nvPr>
        </p:nvSpPr>
        <p:spPr>
          <a:xfrm>
            <a:off x="740876" y="1407917"/>
            <a:ext cx="8229600" cy="4678451"/>
          </a:xfrm>
        </p:spPr>
        <p:txBody>
          <a:bodyPr vert="horz" wrap="square" lIns="68591" tIns="34295" rIns="68591" bIns="34295" numCol="1" anchor="t" anchorCtr="0" compatLnSpc="1">
            <a:prstTxWarp prst="textNoShape">
              <a:avLst/>
            </a:prstTxWarp>
          </a:bodyPr>
          <a:lstStyle/>
          <a:p>
            <a:pPr marL="0" indent="0">
              <a:buSzPct val="90000"/>
              <a:buNone/>
            </a:pPr>
            <a:r>
              <a:rPr lang="zh-CN" altLang="en-US" sz="1200" noProof="1">
                <a:latin typeface="Consolas" panose="020B0609020204030204" pitchFamily="49" charset="0"/>
              </a:rPr>
              <a:t>&gt;&gt;&gt; def demo(a, b, c):</a:t>
            </a:r>
          </a:p>
          <a:p>
            <a:pPr marL="0" indent="0">
              <a:buSzPct val="90000"/>
              <a:buNone/>
            </a:pPr>
            <a:r>
              <a:rPr lang="en-US" altLang="zh-CN" sz="1200" noProof="1">
                <a:latin typeface="Consolas" panose="020B0609020204030204" pitchFamily="49" charset="0"/>
              </a:rPr>
              <a:t>    </a:t>
            </a:r>
            <a:r>
              <a:rPr lang="zh-CN" altLang="en-US" sz="1200" noProof="1">
                <a:latin typeface="Consolas" panose="020B0609020204030204" pitchFamily="49" charset="0"/>
              </a:rPr>
              <a:t>print(a, b, c)	</a:t>
            </a:r>
          </a:p>
          <a:p>
            <a:pPr marL="0" indent="0">
              <a:lnSpc>
                <a:spcPts val="1200"/>
              </a:lnSpc>
              <a:spcBef>
                <a:spcPts val="0"/>
              </a:spcBef>
              <a:buSzPct val="90000"/>
              <a:buNone/>
            </a:pPr>
            <a:endParaRPr lang="zh-CN" altLang="en-US" sz="1200" noProof="1">
              <a:latin typeface="Consolas" panose="020B0609020204030204" pitchFamily="49" charset="0"/>
            </a:endParaRPr>
          </a:p>
          <a:p>
            <a:pPr marL="0" indent="0">
              <a:buSzPct val="90000"/>
              <a:buNone/>
            </a:pPr>
            <a:r>
              <a:rPr lang="zh-CN" altLang="en-US" sz="1200" noProof="1">
                <a:latin typeface="Consolas" panose="020B0609020204030204" pitchFamily="49" charset="0"/>
              </a:rPr>
              <a:t>&gt;&gt;&gt; demo(*(1, 2, 3))                  #调用，序列解包</a:t>
            </a:r>
          </a:p>
          <a:p>
            <a:pPr marL="0" indent="0">
              <a:buSzPct val="90000"/>
              <a:buNone/>
            </a:pPr>
            <a:r>
              <a:rPr lang="zh-CN" altLang="en-US" sz="1200" noProof="1">
                <a:solidFill>
                  <a:srgbClr val="0000FF"/>
                </a:solidFill>
                <a:latin typeface="Consolas" panose="020B0609020204030204" pitchFamily="49" charset="0"/>
              </a:rPr>
              <a:t>1 2 3</a:t>
            </a:r>
          </a:p>
          <a:p>
            <a:pPr marL="0" indent="0">
              <a:buSzPct val="90000"/>
              <a:buNone/>
            </a:pPr>
            <a:r>
              <a:rPr lang="zh-CN" altLang="en-US" sz="1200" noProof="1">
                <a:latin typeface="Consolas" panose="020B0609020204030204" pitchFamily="49" charset="0"/>
              </a:rPr>
              <a:t>&gt;&gt;&gt; demo(1, *(2, 3))                  #位置参数和序列解包同时使用</a:t>
            </a:r>
          </a:p>
          <a:p>
            <a:pPr marL="0" indent="0">
              <a:buSzPct val="90000"/>
              <a:buNone/>
            </a:pPr>
            <a:r>
              <a:rPr lang="zh-CN" altLang="en-US" sz="1200" noProof="1">
                <a:solidFill>
                  <a:srgbClr val="0000FF"/>
                </a:solidFill>
                <a:latin typeface="Consolas" panose="020B0609020204030204" pitchFamily="49" charset="0"/>
              </a:rPr>
              <a:t>1 2 3</a:t>
            </a:r>
          </a:p>
          <a:p>
            <a:pPr marL="0" indent="0">
              <a:buSzPct val="90000"/>
              <a:buNone/>
            </a:pPr>
            <a:r>
              <a:rPr lang="zh-CN" altLang="en-US" sz="1200" noProof="1">
                <a:latin typeface="Consolas" panose="020B0609020204030204" pitchFamily="49" charset="0"/>
              </a:rPr>
              <a:t>&gt;&gt;&gt; demo(1, *(2,), 3)</a:t>
            </a:r>
          </a:p>
          <a:p>
            <a:pPr marL="0" indent="0">
              <a:buSzPct val="90000"/>
              <a:buNone/>
            </a:pPr>
            <a:r>
              <a:rPr lang="zh-CN" altLang="en-US" sz="1200" noProof="1">
                <a:solidFill>
                  <a:srgbClr val="0000FF"/>
                </a:solidFill>
                <a:latin typeface="Consolas" panose="020B0609020204030204" pitchFamily="49" charset="0"/>
              </a:rPr>
              <a:t>1 2 3</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28</a:t>
            </a:fld>
            <a:endParaRPr lang="zh-CN" altLang="en-US" dirty="0"/>
          </a:p>
        </p:txBody>
      </p:sp>
      <p:grpSp>
        <p:nvGrpSpPr>
          <p:cNvPr id="7" name="组合 67"/>
          <p:cNvGrpSpPr/>
          <p:nvPr/>
        </p:nvGrpSpPr>
        <p:grpSpPr>
          <a:xfrm>
            <a:off x="539552" y="125404"/>
            <a:ext cx="8161601" cy="674847"/>
            <a:chOff x="936625" y="4202884"/>
            <a:chExt cx="8161601" cy="674847"/>
          </a:xfrm>
        </p:grpSpPr>
        <p:grpSp>
          <p:nvGrpSpPr>
            <p:cNvPr id="8" name="组合 106"/>
            <p:cNvGrpSpPr/>
            <p:nvPr/>
          </p:nvGrpSpPr>
          <p:grpSpPr>
            <a:xfrm>
              <a:off x="936625" y="4202884"/>
              <a:ext cx="8161601" cy="674847"/>
              <a:chOff x="927100" y="4202884"/>
              <a:chExt cx="8161601" cy="674847"/>
            </a:xfrm>
          </p:grpSpPr>
          <p:sp>
            <p:nvSpPr>
              <p:cNvPr id="10"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9" name="图片 8"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2" name="内容占位符 2"/>
          <p:cNvSpPr txBox="1">
            <a:spLocks/>
          </p:cNvSpPr>
          <p:nvPr/>
        </p:nvSpPr>
        <p:spPr bwMode="auto">
          <a:xfrm>
            <a:off x="740876" y="3573016"/>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90000"/>
              <a:buFont typeface="Arial" charset="0"/>
              <a:buNone/>
            </a:pPr>
            <a:r>
              <a:rPr lang="zh-CN" altLang="en-US" sz="1200" noProof="1">
                <a:latin typeface="Consolas" panose="020B0609020204030204" pitchFamily="49" charset="0"/>
              </a:rPr>
              <a:t>&gt;&gt;&gt; demo(a=1, *(2, 3))</a:t>
            </a:r>
          </a:p>
          <a:p>
            <a:pPr marL="0" indent="0">
              <a:buSzPct val="90000"/>
              <a:buFont typeface="Arial" charset="0"/>
              <a:buNone/>
            </a:pPr>
            <a:r>
              <a:rPr lang="zh-CN" altLang="en-US" sz="1200" noProof="1">
                <a:solidFill>
                  <a:srgbClr val="FF0000"/>
                </a:solidFill>
                <a:latin typeface="Consolas" panose="020B0609020204030204" pitchFamily="49" charset="0"/>
              </a:rPr>
              <a:t>Traceback (most recent call last):</a:t>
            </a:r>
          </a:p>
          <a:p>
            <a:pPr marL="0" indent="0">
              <a:buSzPct val="90000"/>
              <a:buFont typeface="Arial" charset="0"/>
              <a:buNone/>
            </a:pPr>
            <a:r>
              <a:rPr lang="zh-CN" altLang="en-US" sz="1200" noProof="1">
                <a:solidFill>
                  <a:srgbClr val="FF0000"/>
                </a:solidFill>
                <a:latin typeface="Consolas" panose="020B0609020204030204" pitchFamily="49" charset="0"/>
              </a:rPr>
              <a:t>  File "&lt;pyshell#26&gt;", line 1, in &lt;module&gt;</a:t>
            </a:r>
          </a:p>
          <a:p>
            <a:pPr marL="0" indent="0">
              <a:buSzPct val="90000"/>
              <a:buFont typeface="Arial" charset="0"/>
              <a:buNone/>
            </a:pPr>
            <a:r>
              <a:rPr lang="zh-CN" altLang="en-US" sz="1200" noProof="1">
                <a:solidFill>
                  <a:srgbClr val="FF0000"/>
                </a:solidFill>
                <a:latin typeface="Consolas" panose="020B0609020204030204" pitchFamily="49" charset="0"/>
              </a:rPr>
              <a:t>    demo(a=1, *(2, 3))</a:t>
            </a:r>
          </a:p>
          <a:p>
            <a:pPr marL="0" indent="0">
              <a:buSzPct val="90000"/>
              <a:buFont typeface="Arial" charset="0"/>
              <a:buNone/>
            </a:pPr>
            <a:r>
              <a:rPr lang="zh-CN" altLang="en-US" sz="1200" noProof="1">
                <a:solidFill>
                  <a:srgbClr val="FF0000"/>
                </a:solidFill>
                <a:latin typeface="Consolas" panose="020B0609020204030204" pitchFamily="49" charset="0"/>
              </a:rPr>
              <a:t>TypeError: demo() got multiple values for argument 'a'</a:t>
            </a:r>
          </a:p>
          <a:p>
            <a:pPr marL="0" indent="0">
              <a:buSzPct val="90000"/>
              <a:buFont typeface="Arial" charset="0"/>
              <a:buNone/>
            </a:pPr>
            <a:endParaRPr lang="zh-CN" altLang="en-US" sz="1200" noProof="1">
              <a:latin typeface="Consolas" panose="020B0609020204030204" pitchFamily="49" charset="0"/>
            </a:endParaRPr>
          </a:p>
          <a:p>
            <a:pPr marL="0" indent="0">
              <a:buSzPct val="90000"/>
              <a:buFont typeface="Arial" charset="0"/>
              <a:buNone/>
            </a:pPr>
            <a:r>
              <a:rPr lang="zh-CN" altLang="en-US" sz="1200" noProof="1">
                <a:latin typeface="Consolas" panose="020B0609020204030204" pitchFamily="49" charset="0"/>
              </a:rPr>
              <a:t>&gt;&gt;&gt; demo(b=1, *(2, 3))</a:t>
            </a:r>
          </a:p>
          <a:p>
            <a:pPr marL="0" indent="0">
              <a:buSzPct val="90000"/>
              <a:buFont typeface="Arial" charset="0"/>
              <a:buNone/>
            </a:pPr>
            <a:r>
              <a:rPr lang="zh-CN" altLang="en-US" sz="1200" noProof="1">
                <a:solidFill>
                  <a:srgbClr val="FF0000"/>
                </a:solidFill>
                <a:latin typeface="Consolas" panose="020B0609020204030204" pitchFamily="49" charset="0"/>
              </a:rPr>
              <a:t>Traceback (most recent call last):</a:t>
            </a:r>
          </a:p>
          <a:p>
            <a:pPr marL="0" indent="0">
              <a:buSzPct val="90000"/>
              <a:buFont typeface="Arial" charset="0"/>
              <a:buNone/>
            </a:pPr>
            <a:r>
              <a:rPr lang="zh-CN" altLang="en-US" sz="1200" noProof="1">
                <a:solidFill>
                  <a:srgbClr val="FF0000"/>
                </a:solidFill>
                <a:latin typeface="Consolas" panose="020B0609020204030204" pitchFamily="49" charset="0"/>
              </a:rPr>
              <a:t>  File "&lt;pyshell#27&gt;", line 1, in &lt;module&gt;</a:t>
            </a:r>
          </a:p>
          <a:p>
            <a:pPr marL="0" indent="0">
              <a:buSzPct val="90000"/>
              <a:buFont typeface="Arial" charset="0"/>
              <a:buNone/>
            </a:pPr>
            <a:r>
              <a:rPr lang="zh-CN" altLang="en-US" sz="1200" noProof="1">
                <a:solidFill>
                  <a:srgbClr val="FF0000"/>
                </a:solidFill>
                <a:latin typeface="Consolas" panose="020B0609020204030204" pitchFamily="49" charset="0"/>
              </a:rPr>
              <a:t>    demo(b=1, *(2, 3))</a:t>
            </a:r>
          </a:p>
          <a:p>
            <a:pPr marL="0" indent="0">
              <a:buSzPct val="90000"/>
              <a:buFont typeface="Arial" charset="0"/>
              <a:buNone/>
            </a:pPr>
            <a:r>
              <a:rPr lang="zh-CN" altLang="en-US" sz="1200" noProof="1">
                <a:solidFill>
                  <a:srgbClr val="FF0000"/>
                </a:solidFill>
                <a:latin typeface="Consolas" panose="020B0609020204030204" pitchFamily="49" charset="0"/>
              </a:rPr>
              <a:t>TypeError: demo() got multiple values for argument 'b'</a:t>
            </a:r>
          </a:p>
          <a:p>
            <a:pPr marL="0" indent="0">
              <a:buSzPct val="90000"/>
              <a:buFont typeface="Arial" charset="0"/>
              <a:buNone/>
            </a:pPr>
            <a:r>
              <a:rPr lang="zh-CN" altLang="en-US" sz="1200" noProof="1">
                <a:latin typeface="Consolas" panose="020B0609020204030204" pitchFamily="49" charset="0"/>
              </a:rPr>
              <a:t>&gt;&gt;&gt; demo(c=1, *(2, 3))</a:t>
            </a:r>
          </a:p>
          <a:p>
            <a:pPr marL="0" indent="0">
              <a:buSzPct val="90000"/>
              <a:buFont typeface="Arial" charset="0"/>
              <a:buNone/>
            </a:pPr>
            <a:r>
              <a:rPr lang="zh-CN" altLang="en-US" sz="1200" noProof="1">
                <a:solidFill>
                  <a:srgbClr val="0000FF"/>
                </a:solidFill>
                <a:latin typeface="Consolas" panose="020B0609020204030204" pitchFamily="49" charset="0"/>
              </a:rPr>
              <a:t>2 3 1</a:t>
            </a:r>
          </a:p>
        </p:txBody>
      </p:sp>
      <p:sp>
        <p:nvSpPr>
          <p:cNvPr id="4" name="矩形 3"/>
          <p:cNvSpPr/>
          <p:nvPr/>
        </p:nvSpPr>
        <p:spPr>
          <a:xfrm>
            <a:off x="3923928" y="3573016"/>
            <a:ext cx="3156633" cy="307777"/>
          </a:xfrm>
          <a:prstGeom prst="rect">
            <a:avLst/>
          </a:prstGeom>
        </p:spPr>
        <p:txBody>
          <a:bodyPr wrap="none">
            <a:spAutoFit/>
          </a:bodyPr>
          <a:lstStyle/>
          <a:p>
            <a:r>
              <a:rPr lang="zh-CN" altLang="en-US" sz="1400" b="1" noProof="1">
                <a:solidFill>
                  <a:srgbClr val="0000FF"/>
                </a:solidFill>
                <a:latin typeface="Consolas" panose="020B0609020204030204" pitchFamily="49" charset="0"/>
                <a:ea typeface="仿宋" panose="02010609060101010101" pitchFamily="49" charset="-122"/>
              </a:rPr>
              <a:t>#序列解包相当于位置参数，优先处理</a:t>
            </a:r>
            <a:endParaRPr lang="zh-CN" altLang="en-US" sz="1400" b="1" dirty="0">
              <a:solidFill>
                <a:srgbClr val="0000FF"/>
              </a:solidFill>
              <a:ea typeface="仿宋" panose="02010609060101010101" pitchFamily="49" charset="-122"/>
            </a:endParaRPr>
          </a:p>
        </p:txBody>
      </p:sp>
      <p:sp>
        <p:nvSpPr>
          <p:cNvPr id="14" name="矩形 13"/>
          <p:cNvSpPr/>
          <p:nvPr/>
        </p:nvSpPr>
        <p:spPr>
          <a:xfrm>
            <a:off x="323528" y="961431"/>
            <a:ext cx="3257623" cy="461665"/>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400" b="1" dirty="0">
                <a:ea typeface="仿宋" panose="02010609060101010101" pitchFamily="49" charset="-122"/>
              </a:rPr>
              <a:t>参数传递的序列解包</a:t>
            </a:r>
          </a:p>
        </p:txBody>
      </p:sp>
    </p:spTree>
    <p:extLst>
      <p:ext uri="{BB962C8B-B14F-4D97-AF65-F5344CB8AC3E}">
        <p14:creationId xmlns:p14="http://schemas.microsoft.com/office/powerpoint/2010/main" val="339971332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2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22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22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226">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2226">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22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additive="base">
                                        <p:cTn id="45" dur="500" fill="hold"/>
                                        <p:tgtEl>
                                          <p:spTgt spid="4"/>
                                        </p:tgtEl>
                                        <p:attrNameLst>
                                          <p:attrName>ppt_x</p:attrName>
                                        </p:attrNameLst>
                                      </p:cBhvr>
                                      <p:tavLst>
                                        <p:tav tm="0">
                                          <p:val>
                                            <p:strVal val="#ppt_x"/>
                                          </p:val>
                                        </p:tav>
                                        <p:tav tm="100000">
                                          <p:val>
                                            <p:strVal val="#ppt_x"/>
                                          </p:val>
                                        </p:tav>
                                      </p:tavLst>
                                    </p:anim>
                                    <p:anim calcmode="lin" valueType="num">
                                      <p:cBhvr additive="base">
                                        <p:cTn id="4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2">
                                            <p:txEl>
                                              <p:pRg st="9" end="9"/>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11" end="11"/>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p:cNvSpPr>
            <a:spLocks noGrp="1"/>
          </p:cNvSpPr>
          <p:nvPr>
            <p:ph idx="1"/>
          </p:nvPr>
        </p:nvSpPr>
        <p:spPr>
          <a:xfrm>
            <a:off x="827584" y="2348880"/>
            <a:ext cx="8229600" cy="4678451"/>
          </a:xfrm>
        </p:spPr>
        <p:txBody>
          <a:bodyPr vert="horz" wrap="square" lIns="68591" tIns="34295" rIns="68591" bIns="34295" numCol="1" anchor="t" anchorCtr="0" compatLnSpc="1">
            <a:prstTxWarp prst="textNoShape">
              <a:avLst/>
            </a:prstTxWarp>
          </a:bodyPr>
          <a:lstStyle/>
          <a:p>
            <a:pPr marL="0" indent="0">
              <a:buSzPct val="90000"/>
              <a:buNone/>
            </a:pPr>
            <a:r>
              <a:rPr lang="zh-CN" altLang="en-US" sz="1600" noProof="1">
                <a:latin typeface="Consolas" panose="020B0609020204030204" pitchFamily="49" charset="0"/>
              </a:rPr>
              <a:t>&gt;&gt;&gt; demo(**{'a':1, 'b':2}, </a:t>
            </a:r>
            <a:r>
              <a:rPr lang="zh-CN" altLang="en-US" sz="1600" noProof="1">
                <a:solidFill>
                  <a:srgbClr val="7030A0"/>
                </a:solidFill>
                <a:latin typeface="Consolas" panose="020B0609020204030204" pitchFamily="49" charset="0"/>
              </a:rPr>
              <a:t>*(3,)</a:t>
            </a:r>
            <a:r>
              <a:rPr lang="zh-CN" altLang="en-US" sz="1600" noProof="1">
                <a:latin typeface="Consolas" panose="020B0609020204030204" pitchFamily="49" charset="0"/>
              </a:rPr>
              <a:t>) </a:t>
            </a:r>
            <a:endParaRPr lang="en-US" altLang="zh-CN" sz="1600" noProof="1">
              <a:latin typeface="Consolas" panose="020B0609020204030204" pitchFamily="49" charset="0"/>
            </a:endParaRPr>
          </a:p>
          <a:p>
            <a:pPr marL="0" indent="0">
              <a:buSzPct val="90000"/>
              <a:buNone/>
            </a:pPr>
            <a:r>
              <a:rPr lang="zh-CN" altLang="en-US" sz="1600" noProof="1">
                <a:solidFill>
                  <a:srgbClr val="FF0000"/>
                </a:solidFill>
                <a:latin typeface="Consolas" panose="020B0609020204030204" pitchFamily="49" charset="0"/>
              </a:rPr>
              <a:t>SyntaxError: iterable argument unpacking follows keyword argument unpacking</a:t>
            </a:r>
          </a:p>
          <a:p>
            <a:pPr marL="0" indent="0">
              <a:buSzPct val="90000"/>
              <a:buNone/>
            </a:pPr>
            <a:endParaRPr lang="zh-CN" altLang="en-US" sz="1600" noProof="1">
              <a:latin typeface="Consolas" panose="020B0609020204030204" pitchFamily="49" charset="0"/>
            </a:endParaRPr>
          </a:p>
          <a:p>
            <a:pPr marL="0" indent="0">
              <a:buSzPct val="90000"/>
              <a:buNone/>
            </a:pPr>
            <a:r>
              <a:rPr lang="zh-CN" altLang="en-US" sz="1600" noProof="1">
                <a:latin typeface="Consolas" panose="020B0609020204030204" pitchFamily="49" charset="0"/>
              </a:rPr>
              <a:t>&gt;&gt;&gt; demo(*(3,), **{'a':1, 'b':2})</a:t>
            </a:r>
          </a:p>
          <a:p>
            <a:pPr marL="0" indent="0">
              <a:buSzPct val="90000"/>
              <a:buNone/>
            </a:pPr>
            <a:r>
              <a:rPr lang="zh-CN" altLang="en-US" sz="1600" noProof="1">
                <a:solidFill>
                  <a:srgbClr val="FF0000"/>
                </a:solidFill>
                <a:latin typeface="Consolas" panose="020B0609020204030204" pitchFamily="49" charset="0"/>
              </a:rPr>
              <a:t>Traceback (most recent call last):</a:t>
            </a:r>
          </a:p>
          <a:p>
            <a:pPr marL="0" indent="0">
              <a:buSzPct val="90000"/>
              <a:buNone/>
            </a:pPr>
            <a:r>
              <a:rPr lang="zh-CN" altLang="en-US" sz="1600" noProof="1">
                <a:solidFill>
                  <a:srgbClr val="FF0000"/>
                </a:solidFill>
                <a:latin typeface="Consolas" panose="020B0609020204030204" pitchFamily="49" charset="0"/>
              </a:rPr>
              <a:t>  File "&lt;pyshell#30&gt;", line 1, in &lt;module&gt;</a:t>
            </a:r>
          </a:p>
          <a:p>
            <a:pPr marL="0" indent="0">
              <a:buSzPct val="90000"/>
              <a:buNone/>
            </a:pPr>
            <a:r>
              <a:rPr lang="zh-CN" altLang="en-US" sz="1600" noProof="1">
                <a:solidFill>
                  <a:srgbClr val="FF0000"/>
                </a:solidFill>
                <a:latin typeface="Consolas" panose="020B0609020204030204" pitchFamily="49" charset="0"/>
              </a:rPr>
              <a:t>    demo(*(3,), **{'a':1, 'b':2})</a:t>
            </a:r>
          </a:p>
          <a:p>
            <a:pPr marL="0" indent="0">
              <a:buSzPct val="90000"/>
              <a:buNone/>
            </a:pPr>
            <a:r>
              <a:rPr lang="zh-CN" altLang="en-US" sz="1600" noProof="1">
                <a:solidFill>
                  <a:srgbClr val="FF0000"/>
                </a:solidFill>
                <a:latin typeface="Consolas" panose="020B0609020204030204" pitchFamily="49" charset="0"/>
              </a:rPr>
              <a:t>TypeError: demo() got multiple values for argument 'a'</a:t>
            </a:r>
          </a:p>
          <a:p>
            <a:pPr marL="0" indent="0">
              <a:buSzPct val="90000"/>
              <a:buNone/>
            </a:pPr>
            <a:r>
              <a:rPr lang="zh-CN" altLang="en-US" sz="1600" noProof="1">
                <a:latin typeface="Consolas" panose="020B0609020204030204" pitchFamily="49" charset="0"/>
              </a:rPr>
              <a:t>&gt;&gt;&gt; demo(*(3,), **{'c':1, 'b':2})</a:t>
            </a:r>
          </a:p>
          <a:p>
            <a:pPr marL="0" indent="0">
              <a:buSzPct val="90000"/>
              <a:buNone/>
            </a:pPr>
            <a:r>
              <a:rPr lang="zh-CN" altLang="en-US" sz="1600" noProof="1">
                <a:solidFill>
                  <a:srgbClr val="0000FF"/>
                </a:solidFill>
                <a:latin typeface="Consolas" panose="020B0609020204030204" pitchFamily="49" charset="0"/>
              </a:rPr>
              <a:t>3 2 1</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29</a:t>
            </a:fld>
            <a:endParaRPr lang="zh-CN" altLang="en-US" dirty="0"/>
          </a:p>
        </p:txBody>
      </p:sp>
      <p:grpSp>
        <p:nvGrpSpPr>
          <p:cNvPr id="7" name="组合 67"/>
          <p:cNvGrpSpPr/>
          <p:nvPr/>
        </p:nvGrpSpPr>
        <p:grpSpPr>
          <a:xfrm>
            <a:off x="539552" y="125404"/>
            <a:ext cx="8161601" cy="674847"/>
            <a:chOff x="936625" y="4202884"/>
            <a:chExt cx="8161601" cy="674847"/>
          </a:xfrm>
        </p:grpSpPr>
        <p:grpSp>
          <p:nvGrpSpPr>
            <p:cNvPr id="8" name="组合 106"/>
            <p:cNvGrpSpPr/>
            <p:nvPr/>
          </p:nvGrpSpPr>
          <p:grpSpPr>
            <a:xfrm>
              <a:off x="936625" y="4202884"/>
              <a:ext cx="8161601" cy="674847"/>
              <a:chOff x="927100" y="4202884"/>
              <a:chExt cx="8161601" cy="674847"/>
            </a:xfrm>
          </p:grpSpPr>
          <p:sp>
            <p:nvSpPr>
              <p:cNvPr id="10"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5.3 </a:t>
                </a:r>
                <a:r>
                  <a:rPr lang="zh-CN" altLang="en-US" sz="3600" b="1" dirty="0">
                    <a:latin typeface="Times New Roman" pitchFamily="18" charset="0"/>
                    <a:ea typeface="黑体" pitchFamily="49" charset="-122"/>
                  </a:rPr>
                  <a:t> 参数类型</a:t>
                </a:r>
                <a:endParaRPr lang="zh-CN" altLang="en-US" sz="3600" b="1" dirty="0">
                  <a:latin typeface="黑体" pitchFamily="49" charset="-122"/>
                  <a:ea typeface="黑体" pitchFamily="49" charset="-122"/>
                </a:endParaRPr>
              </a:p>
            </p:txBody>
          </p:sp>
        </p:grpSp>
        <p:pic>
          <p:nvPicPr>
            <p:cNvPr id="9" name="图片 8"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2" name="矩形 11"/>
          <p:cNvSpPr/>
          <p:nvPr/>
        </p:nvSpPr>
        <p:spPr>
          <a:xfrm>
            <a:off x="323528" y="961431"/>
            <a:ext cx="3257623" cy="461665"/>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400" b="1" dirty="0">
                <a:ea typeface="仿宋" panose="02010609060101010101" pitchFamily="49" charset="-122"/>
              </a:rPr>
              <a:t>参数传递的序列解包</a:t>
            </a:r>
          </a:p>
        </p:txBody>
      </p:sp>
      <p:sp>
        <p:nvSpPr>
          <p:cNvPr id="4" name="矩形 3"/>
          <p:cNvSpPr/>
          <p:nvPr/>
        </p:nvSpPr>
        <p:spPr>
          <a:xfrm>
            <a:off x="5273075" y="2348880"/>
            <a:ext cx="3773790" cy="369332"/>
          </a:xfrm>
          <a:prstGeom prst="rect">
            <a:avLst/>
          </a:prstGeom>
        </p:spPr>
        <p:txBody>
          <a:bodyPr wrap="none">
            <a:spAutoFit/>
          </a:bodyPr>
          <a:lstStyle/>
          <a:p>
            <a:pPr marL="0" indent="0">
              <a:buSzPct val="90000"/>
              <a:buNone/>
            </a:pPr>
            <a:r>
              <a:rPr lang="zh-CN" altLang="en-US" noProof="1">
                <a:solidFill>
                  <a:srgbClr val="0000FF"/>
                </a:solidFill>
                <a:latin typeface="Consolas" panose="020B0609020204030204" pitchFamily="49" charset="0"/>
                <a:ea typeface="仿宋" panose="02010609060101010101" pitchFamily="49" charset="-122"/>
              </a:rPr>
              <a:t>#序列解包不能在关键参数解包之后</a:t>
            </a:r>
          </a:p>
        </p:txBody>
      </p:sp>
      <p:sp>
        <p:nvSpPr>
          <p:cNvPr id="5" name="矩形 4"/>
          <p:cNvSpPr/>
          <p:nvPr/>
        </p:nvSpPr>
        <p:spPr>
          <a:xfrm>
            <a:off x="740876" y="1476403"/>
            <a:ext cx="4983252" cy="584775"/>
          </a:xfrm>
          <a:prstGeom prst="rect">
            <a:avLst/>
          </a:prstGeom>
        </p:spPr>
        <p:txBody>
          <a:bodyPr wrap="square">
            <a:spAutoFit/>
          </a:bodyPr>
          <a:lstStyle/>
          <a:p>
            <a:pPr marL="0" indent="0">
              <a:buSzPct val="90000"/>
              <a:buNone/>
            </a:pPr>
            <a:r>
              <a:rPr lang="zh-CN" altLang="en-US" sz="1600" noProof="1">
                <a:latin typeface="Consolas" panose="020B0609020204030204" pitchFamily="49" charset="0"/>
              </a:rPr>
              <a:t>&gt;&gt;&gt; def demo(a, b, c):</a:t>
            </a:r>
          </a:p>
          <a:p>
            <a:pPr marL="0" indent="0">
              <a:buSzPct val="90000"/>
              <a:buNone/>
            </a:pPr>
            <a:r>
              <a:rPr lang="en-US" altLang="zh-CN" sz="1600" noProof="1">
                <a:latin typeface="Consolas" panose="020B0609020204030204" pitchFamily="49" charset="0"/>
              </a:rPr>
              <a:t>    </a:t>
            </a:r>
            <a:r>
              <a:rPr lang="zh-CN" altLang="en-US" sz="1600" noProof="1">
                <a:latin typeface="Consolas" panose="020B0609020204030204" pitchFamily="49" charset="0"/>
              </a:rPr>
              <a:t>print(a, b, c)</a:t>
            </a:r>
            <a:endParaRPr lang="zh-CN" altLang="en-US" sz="1600" dirty="0"/>
          </a:p>
        </p:txBody>
      </p:sp>
      <p:sp>
        <p:nvSpPr>
          <p:cNvPr id="13" name="矩形 12">
            <a:extLst>
              <a:ext uri="{FF2B5EF4-FFF2-40B4-BE49-F238E27FC236}">
                <a16:creationId xmlns:a16="http://schemas.microsoft.com/office/drawing/2014/main" id="{985F8DB3-7629-4335-B3AC-09DC4622B22D}"/>
              </a:ext>
            </a:extLst>
          </p:cNvPr>
          <p:cNvSpPr/>
          <p:nvPr/>
        </p:nvSpPr>
        <p:spPr>
          <a:xfrm>
            <a:off x="4644008" y="3484458"/>
            <a:ext cx="4153701" cy="307777"/>
          </a:xfrm>
          <a:prstGeom prst="rect">
            <a:avLst/>
          </a:prstGeom>
        </p:spPr>
        <p:txBody>
          <a:bodyPr wrap="none">
            <a:spAutoFit/>
          </a:bodyPr>
          <a:lstStyle/>
          <a:p>
            <a:pPr marL="0" indent="0">
              <a:buSzPct val="90000"/>
              <a:buNone/>
            </a:pPr>
            <a:r>
              <a:rPr lang="zh-CN" altLang="en-US" sz="1400" noProof="1">
                <a:solidFill>
                  <a:srgbClr val="0000FF"/>
                </a:solidFill>
                <a:latin typeface="Consolas" panose="020B0609020204030204" pitchFamily="49" charset="0"/>
                <a:ea typeface="仿宋" panose="02010609060101010101" pitchFamily="49" charset="-122"/>
              </a:rPr>
              <a:t>#序列解包放在关键参数解包之后，但</a:t>
            </a:r>
            <a:r>
              <a:rPr lang="en-US" altLang="zh-CN" sz="1400" noProof="1">
                <a:solidFill>
                  <a:srgbClr val="0000FF"/>
                </a:solidFill>
                <a:latin typeface="Consolas" panose="020B0609020204030204" pitchFamily="49" charset="0"/>
                <a:ea typeface="仿宋" panose="02010609060101010101" pitchFamily="49" charset="-122"/>
              </a:rPr>
              <a:t>a</a:t>
            </a:r>
            <a:r>
              <a:rPr lang="zh-CN" altLang="en-US" sz="1400" noProof="1">
                <a:solidFill>
                  <a:srgbClr val="0000FF"/>
                </a:solidFill>
                <a:latin typeface="Consolas" panose="020B0609020204030204" pitchFamily="49" charset="0"/>
                <a:ea typeface="仿宋" panose="02010609060101010101" pitchFamily="49" charset="-122"/>
              </a:rPr>
              <a:t>被多次赋值</a:t>
            </a:r>
          </a:p>
        </p:txBody>
      </p:sp>
    </p:spTree>
    <p:extLst>
      <p:ext uri="{BB962C8B-B14F-4D97-AF65-F5344CB8AC3E}">
        <p14:creationId xmlns:p14="http://schemas.microsoft.com/office/powerpoint/2010/main" val="103336156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27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427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427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4274">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4274">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4274">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4274">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uiExpand="1" build="p"/>
      <p:bldP spid="4" grpId="0"/>
      <p:bldP spid="5"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文本占位符 40962"/>
          <p:cNvSpPr>
            <a:spLocks noGrp="1"/>
          </p:cNvSpPr>
          <p:nvPr>
            <p:ph idx="1"/>
          </p:nvPr>
        </p:nvSpPr>
        <p:spPr>
          <a:xfrm>
            <a:off x="539552" y="1433670"/>
            <a:ext cx="8229600" cy="4678451"/>
          </a:xfrm>
        </p:spPr>
        <p:txBody>
          <a:bodyPr vert="horz" wrap="square" lIns="68591" tIns="34295" rIns="68591" bIns="34295" numCol="1" anchor="t" anchorCtr="0" compatLnSpc="1">
            <a:prstTxWarp prst="textNoShape">
              <a:avLst/>
            </a:prstTxWarp>
          </a:bodyPr>
          <a:lstStyle/>
          <a:p>
            <a:pPr>
              <a:spcBef>
                <a:spcPts val="600"/>
              </a:spcBef>
              <a:spcAft>
                <a:spcPts val="0"/>
              </a:spcAft>
              <a:buClr>
                <a:srgbClr val="FF0000"/>
              </a:buClr>
              <a:buSzPct val="90000"/>
              <a:buFont typeface="Wingdings" panose="05000000000000000000" pitchFamily="2" charset="2"/>
              <a:buChar char="n"/>
            </a:pPr>
            <a:r>
              <a:rPr lang="zh-CN" altLang="en-US" sz="2400" dirty="0"/>
              <a:t>return语句用来从一个函数中返回一个值，同时结束函数。</a:t>
            </a:r>
          </a:p>
          <a:p>
            <a:pPr>
              <a:spcBef>
                <a:spcPts val="600"/>
              </a:spcBef>
              <a:spcAft>
                <a:spcPts val="0"/>
              </a:spcAft>
              <a:buClr>
                <a:srgbClr val="FF0000"/>
              </a:buClr>
              <a:buSzPct val="90000"/>
              <a:buFont typeface="Wingdings" panose="05000000000000000000" pitchFamily="2" charset="2"/>
              <a:buChar char="n"/>
            </a:pPr>
            <a:r>
              <a:rPr lang="en-US" altLang="zh-CN" sz="2400" dirty="0"/>
              <a:t>Python</a:t>
            </a:r>
            <a:r>
              <a:rPr lang="zh-CN" altLang="en-US" sz="2400" dirty="0"/>
              <a:t>将认为该函数以</a:t>
            </a:r>
            <a:r>
              <a:rPr lang="en-US" altLang="zh-CN" sz="2400" dirty="0"/>
              <a:t>return None</a:t>
            </a:r>
            <a:r>
              <a:rPr lang="zh-CN" altLang="en-US" sz="2400" dirty="0"/>
              <a:t>结束，返回空值：</a:t>
            </a:r>
          </a:p>
          <a:p>
            <a:pPr lvl="1">
              <a:spcBef>
                <a:spcPts val="600"/>
              </a:spcBef>
              <a:spcAft>
                <a:spcPts val="0"/>
              </a:spcAft>
              <a:buClr>
                <a:srgbClr val="FF0000"/>
              </a:buClr>
              <a:buSzPct val="90000"/>
              <a:buFont typeface="Wingdings" panose="05000000000000000000" pitchFamily="2" charset="2"/>
              <a:buChar char="l"/>
            </a:pPr>
            <a:r>
              <a:rPr lang="zh-CN" altLang="en-US" sz="2000" dirty="0">
                <a:latin typeface="宋体" panose="02010600030101010101" pitchFamily="2" charset="-122"/>
              </a:rPr>
              <a:t>函数没有</a:t>
            </a:r>
            <a:r>
              <a:rPr lang="en-US" altLang="zh-CN" sz="2000" dirty="0">
                <a:latin typeface="宋体" panose="02010600030101010101" pitchFamily="2" charset="-122"/>
              </a:rPr>
              <a:t>return</a:t>
            </a:r>
            <a:r>
              <a:rPr lang="zh-CN" altLang="en-US" sz="2000" dirty="0">
                <a:latin typeface="宋体" panose="02010600030101010101" pitchFamily="2" charset="-122"/>
              </a:rPr>
              <a:t>语句；</a:t>
            </a:r>
          </a:p>
          <a:p>
            <a:pPr lvl="1">
              <a:spcBef>
                <a:spcPts val="600"/>
              </a:spcBef>
              <a:spcAft>
                <a:spcPts val="0"/>
              </a:spcAft>
              <a:buClr>
                <a:srgbClr val="FF0000"/>
              </a:buClr>
              <a:buSzPct val="90000"/>
              <a:buFont typeface="Wingdings" panose="05000000000000000000" pitchFamily="2" charset="2"/>
              <a:buChar char="l"/>
            </a:pPr>
            <a:r>
              <a:rPr lang="zh-CN" altLang="en-US" sz="2000" dirty="0">
                <a:latin typeface="宋体" panose="02010600030101010101" pitchFamily="2" charset="-122"/>
              </a:rPr>
              <a:t>函数有</a:t>
            </a:r>
            <a:r>
              <a:rPr lang="en-US" altLang="zh-CN" sz="2000" dirty="0">
                <a:latin typeface="宋体" panose="02010600030101010101" pitchFamily="2" charset="-122"/>
              </a:rPr>
              <a:t>return</a:t>
            </a:r>
            <a:r>
              <a:rPr lang="zh-CN" altLang="en-US" sz="2000" dirty="0">
                <a:latin typeface="宋体" panose="02010600030101010101" pitchFamily="2" charset="-122"/>
              </a:rPr>
              <a:t>语句但是没有执行到；</a:t>
            </a:r>
          </a:p>
          <a:p>
            <a:pPr lvl="1">
              <a:spcBef>
                <a:spcPts val="600"/>
              </a:spcBef>
              <a:spcAft>
                <a:spcPts val="0"/>
              </a:spcAft>
              <a:buClr>
                <a:srgbClr val="FF0000"/>
              </a:buClr>
              <a:buSzPct val="90000"/>
              <a:buFont typeface="Wingdings" panose="05000000000000000000" pitchFamily="2" charset="2"/>
              <a:buChar char="l"/>
            </a:pPr>
            <a:r>
              <a:rPr lang="zh-CN" altLang="en-US" sz="2000" dirty="0">
                <a:latin typeface="宋体" panose="02010600030101010101" pitchFamily="2" charset="-122"/>
              </a:rPr>
              <a:t>函数有</a:t>
            </a:r>
            <a:r>
              <a:rPr lang="en-US" altLang="zh-CN" sz="2000" dirty="0">
                <a:latin typeface="宋体" panose="02010600030101010101" pitchFamily="2" charset="-122"/>
              </a:rPr>
              <a:t>return</a:t>
            </a:r>
            <a:r>
              <a:rPr lang="zh-CN" altLang="en-US" sz="2000" dirty="0">
                <a:latin typeface="宋体" panose="02010600030101010101" pitchFamily="2" charset="-122"/>
              </a:rPr>
              <a:t>但是没有返回任何值。</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30</a:t>
            </a:fld>
            <a:endParaRPr lang="zh-CN" altLang="en-US" dirty="0"/>
          </a:p>
        </p:txBody>
      </p:sp>
      <p:grpSp>
        <p:nvGrpSpPr>
          <p:cNvPr id="5" name="组合 109"/>
          <p:cNvGrpSpPr/>
          <p:nvPr/>
        </p:nvGrpSpPr>
        <p:grpSpPr>
          <a:xfrm>
            <a:off x="539552" y="118397"/>
            <a:ext cx="7200800" cy="655385"/>
            <a:chOff x="956926" y="4596123"/>
            <a:chExt cx="7200800" cy="655385"/>
          </a:xfrm>
        </p:grpSpPr>
        <p:sp>
          <p:nvSpPr>
            <p:cNvPr id="6"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7" name="图片 6"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124495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5.4 </a:t>
              </a:r>
              <a:r>
                <a:rPr lang="zh-CN" altLang="en-US" sz="3600" b="1" dirty="0">
                  <a:latin typeface="Times New Roman" pitchFamily="18" charset="0"/>
                  <a:ea typeface="黑体" pitchFamily="49" charset="-122"/>
                </a:rPr>
                <a:t> </a:t>
              </a:r>
              <a:r>
                <a:rPr lang="en-US" altLang="zh-CN" sz="3600" b="1" dirty="0">
                  <a:latin typeface="Times New Roman" pitchFamily="18" charset="0"/>
                  <a:ea typeface="黑体" pitchFamily="49" charset="-122"/>
                </a:rPr>
                <a:t>return</a:t>
              </a:r>
              <a:r>
                <a:rPr lang="zh-CN" altLang="en-US" sz="3600" b="1" dirty="0">
                  <a:latin typeface="Times New Roman" pitchFamily="18" charset="0"/>
                  <a:ea typeface="黑体" pitchFamily="49" charset="-122"/>
                </a:rPr>
                <a:t>语句与变量作用域 </a:t>
              </a:r>
            </a:p>
          </p:txBody>
        </p:sp>
      </p:grpSp>
      <p:sp>
        <p:nvSpPr>
          <p:cNvPr id="10" name="内容占位符 2"/>
          <p:cNvSpPr txBox="1">
            <a:spLocks/>
          </p:cNvSpPr>
          <p:nvPr/>
        </p:nvSpPr>
        <p:spPr bwMode="auto">
          <a:xfrm>
            <a:off x="611560" y="3501008"/>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buClr>
                <a:srgbClr val="FF0000"/>
              </a:buClr>
              <a:buFont typeface="Wingdings" panose="05000000000000000000" pitchFamily="2" charset="2"/>
              <a:buChar char="n"/>
              <a:defRPr/>
            </a:pPr>
            <a:r>
              <a:rPr lang="zh-CN" altLang="en-US" sz="2400" noProof="1">
                <a:sym typeface="+mn-ea"/>
              </a:rPr>
              <a:t>在调用函数或对象方法时，</a:t>
            </a:r>
            <a:r>
              <a:rPr lang="zh-CN" altLang="en-US" sz="2400" noProof="1">
                <a:solidFill>
                  <a:srgbClr val="FF0000"/>
                </a:solidFill>
                <a:sym typeface="+mn-ea"/>
              </a:rPr>
              <a:t>一定要注意有没有返回值</a:t>
            </a:r>
            <a:r>
              <a:rPr lang="zh-CN" altLang="en-US" sz="2400" noProof="1">
                <a:sym typeface="+mn-ea"/>
              </a:rPr>
              <a:t>，这决定了该函数或方法的用法。</a:t>
            </a:r>
          </a:p>
        </p:txBody>
      </p:sp>
      <p:sp>
        <p:nvSpPr>
          <p:cNvPr id="4" name="矩形 3"/>
          <p:cNvSpPr/>
          <p:nvPr/>
        </p:nvSpPr>
        <p:spPr>
          <a:xfrm>
            <a:off x="2195736" y="4255447"/>
            <a:ext cx="6191200" cy="2339102"/>
          </a:xfrm>
          <a:prstGeom prst="rect">
            <a:avLst/>
          </a:prstGeom>
        </p:spPr>
        <p:txBody>
          <a:bodyPr wrap="square">
            <a:spAutoFit/>
          </a:bodyPr>
          <a:lstStyle/>
          <a:p>
            <a:pPr marL="0" indent="0">
              <a:buFont typeface="Arial" charset="0"/>
              <a:buNone/>
              <a:defRPr/>
            </a:pPr>
            <a:r>
              <a:rPr lang="zh-CN" altLang="en-US" sz="1600" noProof="1">
                <a:latin typeface="Consolas" panose="020B0609020204030204" pitchFamily="49" charset="0"/>
              </a:rPr>
              <a:t>&gt;&gt;&gt; a_list = [1, 2, 3, 4, 9, 5, 7]</a:t>
            </a:r>
          </a:p>
          <a:p>
            <a:pPr marL="0" indent="0">
              <a:buFont typeface="Arial" charset="0"/>
              <a:buNone/>
              <a:defRPr/>
            </a:pPr>
            <a:r>
              <a:rPr lang="zh-CN" altLang="en-US" sz="1600" noProof="1">
                <a:latin typeface="Consolas" panose="020B0609020204030204" pitchFamily="49" charset="0"/>
              </a:rPr>
              <a:t>&gt;&gt;&gt; print(sorted(a_list))</a:t>
            </a:r>
          </a:p>
          <a:p>
            <a:pPr marL="0" indent="0">
              <a:buFont typeface="Arial" charset="0"/>
              <a:buNone/>
              <a:defRPr/>
            </a:pPr>
            <a:r>
              <a:rPr lang="zh-CN" altLang="en-US" sz="1600" noProof="1">
                <a:solidFill>
                  <a:srgbClr val="0000FF"/>
                </a:solidFill>
                <a:latin typeface="Consolas" panose="020B0609020204030204" pitchFamily="49" charset="0"/>
              </a:rPr>
              <a:t>[1, 2, 3, 4, 5, 7, 9]</a:t>
            </a:r>
          </a:p>
          <a:p>
            <a:pPr marL="0" indent="0">
              <a:buFont typeface="Arial" charset="0"/>
              <a:buNone/>
              <a:defRPr/>
            </a:pPr>
            <a:r>
              <a:rPr lang="zh-CN" altLang="en-US" sz="1600" noProof="1">
                <a:latin typeface="Consolas" panose="020B0609020204030204" pitchFamily="49" charset="0"/>
              </a:rPr>
              <a:t>&gt;&gt;&gt; print(a_list)</a:t>
            </a:r>
          </a:p>
          <a:p>
            <a:pPr marL="0" indent="0">
              <a:buFont typeface="Arial" charset="0"/>
              <a:buNone/>
              <a:defRPr/>
            </a:pPr>
            <a:r>
              <a:rPr lang="zh-CN" altLang="en-US" sz="1600" noProof="1">
                <a:solidFill>
                  <a:srgbClr val="0000FF"/>
                </a:solidFill>
                <a:latin typeface="Consolas" panose="020B0609020204030204" pitchFamily="49" charset="0"/>
              </a:rPr>
              <a:t>[1, 2, 3, 4, 9, 5, 7]</a:t>
            </a:r>
          </a:p>
          <a:p>
            <a:pPr marL="0" indent="0">
              <a:buFont typeface="Arial" charset="0"/>
              <a:buNone/>
              <a:defRPr/>
            </a:pPr>
            <a:r>
              <a:rPr lang="zh-CN" altLang="en-US" sz="1600" noProof="1">
                <a:latin typeface="Consolas" panose="020B0609020204030204" pitchFamily="49" charset="0"/>
              </a:rPr>
              <a:t>&gt;&gt;&gt; print(a_list.sort())     </a:t>
            </a:r>
          </a:p>
          <a:p>
            <a:pPr marL="0" indent="0">
              <a:buFont typeface="Arial" charset="0"/>
              <a:buNone/>
              <a:defRPr/>
            </a:pPr>
            <a:r>
              <a:rPr lang="zh-CN" altLang="en-US" sz="1600" noProof="1">
                <a:solidFill>
                  <a:srgbClr val="0000FF"/>
                </a:solidFill>
                <a:latin typeface="Consolas" panose="020B0609020204030204" pitchFamily="49" charset="0"/>
              </a:rPr>
              <a:t>None</a:t>
            </a:r>
          </a:p>
          <a:p>
            <a:pPr marL="0" indent="0">
              <a:buFont typeface="Arial" charset="0"/>
              <a:buNone/>
              <a:defRPr/>
            </a:pPr>
            <a:r>
              <a:rPr lang="zh-CN" altLang="en-US" sz="1600" noProof="1">
                <a:latin typeface="Consolas" panose="020B0609020204030204" pitchFamily="49" charset="0"/>
              </a:rPr>
              <a:t>&gt;&gt;&gt; print(a_list)</a:t>
            </a:r>
          </a:p>
          <a:p>
            <a:pPr marL="0" indent="0">
              <a:buFont typeface="Arial" charset="0"/>
              <a:buNone/>
              <a:defRPr/>
            </a:pPr>
            <a:r>
              <a:rPr lang="zh-CN" altLang="en-US" sz="1600" noProof="1">
                <a:solidFill>
                  <a:srgbClr val="0000FF"/>
                </a:solidFill>
                <a:latin typeface="Consolas" panose="020B0609020204030204" pitchFamily="49" charset="0"/>
              </a:rPr>
              <a:t>[1, 2, 3, 4, 5, 7, 9]</a:t>
            </a:r>
          </a:p>
        </p:txBody>
      </p:sp>
      <p:sp>
        <p:nvSpPr>
          <p:cNvPr id="12" name="矩形 11"/>
          <p:cNvSpPr/>
          <p:nvPr/>
        </p:nvSpPr>
        <p:spPr>
          <a:xfrm>
            <a:off x="323528" y="908720"/>
            <a:ext cx="2233304" cy="523220"/>
          </a:xfrm>
          <a:prstGeom prst="rect">
            <a:avLst/>
          </a:prstGeom>
        </p:spPr>
        <p:txBody>
          <a:bodyPr wrap="none">
            <a:spAutoFit/>
          </a:bodyPr>
          <a:lstStyle/>
          <a:p>
            <a:pPr marL="285750" indent="-285750">
              <a:buClr>
                <a:srgbClr val="FF0000"/>
              </a:buClr>
              <a:buFont typeface="Wingdings" panose="05000000000000000000" pitchFamily="2" charset="2"/>
              <a:buChar char="Ø"/>
            </a:pPr>
            <a:r>
              <a:rPr lang="en-US" altLang="zh-CN" sz="2800" b="1" dirty="0">
                <a:ea typeface="仿宋" panose="02010609060101010101" pitchFamily="49" charset="-122"/>
              </a:rPr>
              <a:t>return</a:t>
            </a:r>
            <a:r>
              <a:rPr lang="zh-CN" altLang="en-US" sz="2800" b="1" dirty="0">
                <a:ea typeface="仿宋" panose="02010609060101010101" pitchFamily="49" charset="-122"/>
              </a:rPr>
              <a:t>语句</a:t>
            </a:r>
          </a:p>
        </p:txBody>
      </p:sp>
      <p:sp>
        <p:nvSpPr>
          <p:cNvPr id="3" name="文本框 2">
            <a:extLst>
              <a:ext uri="{FF2B5EF4-FFF2-40B4-BE49-F238E27FC236}">
                <a16:creationId xmlns:a16="http://schemas.microsoft.com/office/drawing/2014/main" id="{734C6A14-AE6C-4C5C-AD1E-2FA784EDE370}"/>
              </a:ext>
            </a:extLst>
          </p:cNvPr>
          <p:cNvSpPr txBox="1"/>
          <p:nvPr/>
        </p:nvSpPr>
        <p:spPr>
          <a:xfrm>
            <a:off x="5004048" y="5497417"/>
            <a:ext cx="3981128" cy="307777"/>
          </a:xfrm>
          <a:prstGeom prst="rect">
            <a:avLst/>
          </a:prstGeom>
          <a:noFill/>
        </p:spPr>
        <p:txBody>
          <a:bodyPr wrap="square" rtlCol="0">
            <a:spAutoFit/>
          </a:bodyPr>
          <a:lstStyle/>
          <a:p>
            <a:r>
              <a:rPr lang="en-US" altLang="zh-CN" sz="1400" dirty="0">
                <a:solidFill>
                  <a:srgbClr val="FF0000"/>
                </a:solidFill>
              </a:rPr>
              <a:t>#a_list()</a:t>
            </a:r>
            <a:r>
              <a:rPr lang="zh-CN" altLang="en-US" sz="1400" dirty="0">
                <a:solidFill>
                  <a:srgbClr val="FF0000"/>
                </a:solidFill>
              </a:rPr>
              <a:t>本地排序，没有返回值， 必须访问</a:t>
            </a:r>
            <a:r>
              <a:rPr lang="en-US" altLang="zh-CN" sz="1400" dirty="0" err="1">
                <a:solidFill>
                  <a:srgbClr val="FF0000"/>
                </a:solidFill>
              </a:rPr>
              <a:t>a_list</a:t>
            </a:r>
            <a:endParaRPr lang="zh-CN" altLang="en-US" sz="1400" dirty="0">
              <a:solidFill>
                <a:srgbClr val="FF0000"/>
              </a:solidFill>
            </a:endParaRPr>
          </a:p>
        </p:txBody>
      </p:sp>
    </p:spTree>
    <p:extLst>
      <p:ext uri="{BB962C8B-B14F-4D97-AF65-F5344CB8AC3E}">
        <p14:creationId xmlns:p14="http://schemas.microsoft.com/office/powerpoint/2010/main" val="209875212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2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2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2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2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文本占位符 41986"/>
          <p:cNvSpPr>
            <a:spLocks noGrp="1"/>
          </p:cNvSpPr>
          <p:nvPr>
            <p:ph idx="1"/>
          </p:nvPr>
        </p:nvSpPr>
        <p:spPr>
          <a:xfrm>
            <a:off x="740307" y="1484651"/>
            <a:ext cx="8229600" cy="4678451"/>
          </a:xfrm>
        </p:spPr>
        <p:txBody>
          <a:bodyPr vert="horz" wrap="square" lIns="68591" tIns="34295" rIns="68591" bIns="34295" numCol="1" anchor="t" anchorCtr="0" compatLnSpc="1">
            <a:prstTxWarp prst="textNoShape">
              <a:avLst/>
            </a:prstTxWarp>
          </a:bodyPr>
          <a:lstStyle/>
          <a:p>
            <a:pPr eaLnBrk="1" hangingPunct="1">
              <a:spcBef>
                <a:spcPts val="600"/>
              </a:spcBef>
              <a:spcAft>
                <a:spcPts val="600"/>
              </a:spcAft>
              <a:buClr>
                <a:srgbClr val="FF0000"/>
              </a:buClr>
              <a:buSzPct val="90000"/>
              <a:buFont typeface="Wingdings" panose="05000000000000000000" pitchFamily="2" charset="2"/>
              <a:buChar char="n"/>
            </a:pPr>
            <a:r>
              <a:rPr lang="zh-CN" altLang="en-US" sz="2000" dirty="0">
                <a:solidFill>
                  <a:srgbClr val="FF0000"/>
                </a:solidFill>
              </a:rPr>
              <a:t>变量起作用的代码范围</a:t>
            </a:r>
            <a:r>
              <a:rPr lang="zh-CN" altLang="en-US" sz="2000" dirty="0"/>
              <a:t>称为变量</a:t>
            </a:r>
            <a:endParaRPr lang="en-US" altLang="zh-CN" sz="2000" dirty="0"/>
          </a:p>
          <a:p>
            <a:pPr marL="0" indent="0" eaLnBrk="1" hangingPunct="1">
              <a:spcBef>
                <a:spcPts val="600"/>
              </a:spcBef>
              <a:spcAft>
                <a:spcPts val="600"/>
              </a:spcAft>
              <a:buClr>
                <a:srgbClr val="FF0000"/>
              </a:buClr>
              <a:buSzPct val="90000"/>
              <a:buNone/>
            </a:pPr>
            <a:r>
              <a:rPr lang="en-US" altLang="zh-CN" sz="2000" dirty="0"/>
              <a:t>      </a:t>
            </a:r>
            <a:r>
              <a:rPr lang="zh-CN" altLang="en-US" sz="2000" dirty="0"/>
              <a:t>的作用域，不同作用域内变量名</a:t>
            </a:r>
            <a:endParaRPr lang="en-US" altLang="zh-CN" sz="2000" dirty="0"/>
          </a:p>
          <a:p>
            <a:pPr marL="0" indent="0" eaLnBrk="1" hangingPunct="1">
              <a:spcBef>
                <a:spcPts val="600"/>
              </a:spcBef>
              <a:spcAft>
                <a:spcPts val="600"/>
              </a:spcAft>
              <a:buClr>
                <a:srgbClr val="FF0000"/>
              </a:buClr>
              <a:buSzPct val="90000"/>
              <a:buNone/>
            </a:pPr>
            <a:r>
              <a:rPr lang="en-US" altLang="zh-CN" sz="2000" dirty="0"/>
              <a:t>      </a:t>
            </a:r>
            <a:r>
              <a:rPr lang="zh-CN" altLang="en-US" sz="2000" dirty="0"/>
              <a:t>可以相同，互不影响。</a:t>
            </a:r>
          </a:p>
          <a:p>
            <a:pPr eaLnBrk="1" hangingPunct="1">
              <a:spcBef>
                <a:spcPts val="600"/>
              </a:spcBef>
              <a:spcAft>
                <a:spcPts val="600"/>
              </a:spcAft>
              <a:buClr>
                <a:srgbClr val="FF0000"/>
              </a:buClr>
              <a:buSzPct val="90000"/>
              <a:buFont typeface="Wingdings" panose="05000000000000000000" pitchFamily="2" charset="2"/>
              <a:buChar char="n"/>
            </a:pPr>
            <a:r>
              <a:rPr lang="zh-CN" altLang="en-US" sz="2000" dirty="0"/>
              <a:t>在函数内部定义的普通变量只在</a:t>
            </a:r>
            <a:endParaRPr lang="en-US" altLang="zh-CN" sz="2000" dirty="0"/>
          </a:p>
          <a:p>
            <a:pPr marL="0" indent="0" eaLnBrk="1" hangingPunct="1">
              <a:spcBef>
                <a:spcPts val="600"/>
              </a:spcBef>
              <a:spcAft>
                <a:spcPts val="600"/>
              </a:spcAft>
              <a:buClr>
                <a:srgbClr val="FF0000"/>
              </a:buClr>
              <a:buSzPct val="90000"/>
              <a:buNone/>
            </a:pPr>
            <a:r>
              <a:rPr lang="en-US" altLang="zh-CN" sz="2000" dirty="0"/>
              <a:t>      </a:t>
            </a:r>
            <a:r>
              <a:rPr lang="zh-CN" altLang="en-US" sz="2000" dirty="0"/>
              <a:t>函数内部起作用，称为</a:t>
            </a:r>
            <a:r>
              <a:rPr lang="zh-CN" altLang="en-US" sz="2000" b="1" dirty="0">
                <a:solidFill>
                  <a:srgbClr val="00B050"/>
                </a:solidFill>
              </a:rPr>
              <a:t>局部变量</a:t>
            </a:r>
            <a:r>
              <a:rPr lang="zh-CN" altLang="en-US" sz="2000" dirty="0"/>
              <a:t>。</a:t>
            </a:r>
            <a:endParaRPr lang="en-US" altLang="zh-CN" sz="2000" dirty="0"/>
          </a:p>
          <a:p>
            <a:pPr marL="0" indent="0" eaLnBrk="1" hangingPunct="1">
              <a:spcBef>
                <a:spcPts val="600"/>
              </a:spcBef>
              <a:spcAft>
                <a:spcPts val="600"/>
              </a:spcAft>
              <a:buClr>
                <a:srgbClr val="FF0000"/>
              </a:buClr>
              <a:buSzPct val="90000"/>
              <a:buNone/>
            </a:pPr>
            <a:r>
              <a:rPr lang="en-US" altLang="zh-CN" sz="2000" dirty="0">
                <a:solidFill>
                  <a:srgbClr val="FF0000"/>
                </a:solidFill>
              </a:rPr>
              <a:t>      </a:t>
            </a:r>
            <a:r>
              <a:rPr lang="zh-CN" altLang="en-US" sz="2000" dirty="0">
                <a:solidFill>
                  <a:srgbClr val="FF0000"/>
                </a:solidFill>
              </a:rPr>
              <a:t>当函数执行结束后，局部变量自动删除</a:t>
            </a:r>
            <a:r>
              <a:rPr lang="zh-CN" altLang="en-US" sz="2000" dirty="0"/>
              <a:t>，不再可以使用。</a:t>
            </a:r>
          </a:p>
          <a:p>
            <a:pPr eaLnBrk="1" hangingPunct="1">
              <a:spcBef>
                <a:spcPts val="600"/>
              </a:spcBef>
              <a:spcAft>
                <a:spcPts val="600"/>
              </a:spcAft>
              <a:buClr>
                <a:srgbClr val="FF0000"/>
              </a:buClr>
              <a:buSzPct val="90000"/>
              <a:buFont typeface="Wingdings" panose="05000000000000000000" pitchFamily="2" charset="2"/>
              <a:buChar char="n"/>
            </a:pPr>
            <a:r>
              <a:rPr lang="zh-CN" altLang="en-US" sz="2000" dirty="0">
                <a:solidFill>
                  <a:srgbClr val="FF0000"/>
                </a:solidFill>
              </a:rPr>
              <a:t>局部变量的引用比全局变量速度快</a:t>
            </a:r>
            <a:r>
              <a:rPr lang="zh-CN" altLang="en-US" sz="2000" dirty="0"/>
              <a:t>，应优先考虑使用。</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31</a:t>
            </a:fld>
            <a:endParaRPr lang="zh-CN" altLang="en-US" dirty="0"/>
          </a:p>
        </p:txBody>
      </p:sp>
      <p:grpSp>
        <p:nvGrpSpPr>
          <p:cNvPr id="6" name="组合 109"/>
          <p:cNvGrpSpPr/>
          <p:nvPr/>
        </p:nvGrpSpPr>
        <p:grpSpPr>
          <a:xfrm>
            <a:off x="539552" y="118397"/>
            <a:ext cx="7200800" cy="655385"/>
            <a:chOff x="956926" y="4596123"/>
            <a:chExt cx="7200800" cy="655385"/>
          </a:xfrm>
        </p:grpSpPr>
        <p:sp>
          <p:nvSpPr>
            <p:cNvPr id="7"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24495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5.4 </a:t>
              </a:r>
              <a:r>
                <a:rPr lang="zh-CN" altLang="en-US" sz="3600" b="1" dirty="0">
                  <a:latin typeface="Times New Roman" pitchFamily="18" charset="0"/>
                  <a:ea typeface="黑体" pitchFamily="49" charset="-122"/>
                </a:rPr>
                <a:t> </a:t>
              </a:r>
              <a:r>
                <a:rPr lang="en-US" altLang="zh-CN" sz="3600" b="1" dirty="0">
                  <a:latin typeface="Times New Roman" pitchFamily="18" charset="0"/>
                  <a:ea typeface="黑体" pitchFamily="49" charset="-122"/>
                </a:rPr>
                <a:t>return</a:t>
              </a:r>
              <a:r>
                <a:rPr lang="zh-CN" altLang="en-US" sz="3600" b="1" dirty="0">
                  <a:latin typeface="Times New Roman" pitchFamily="18" charset="0"/>
                  <a:ea typeface="黑体" pitchFamily="49" charset="-122"/>
                </a:rPr>
                <a:t>语句与变量作用域 </a:t>
              </a:r>
            </a:p>
          </p:txBody>
        </p:sp>
      </p:grpSp>
      <p:sp>
        <p:nvSpPr>
          <p:cNvPr id="10" name="矩形 9"/>
          <p:cNvSpPr/>
          <p:nvPr/>
        </p:nvSpPr>
        <p:spPr>
          <a:xfrm>
            <a:off x="323528" y="961431"/>
            <a:ext cx="2375971" cy="523220"/>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800" b="1" dirty="0">
                <a:ea typeface="仿宋" panose="02010609060101010101" pitchFamily="49" charset="-122"/>
              </a:rPr>
              <a:t>变量作用域 </a:t>
            </a:r>
          </a:p>
        </p:txBody>
      </p:sp>
      <p:sp>
        <p:nvSpPr>
          <p:cNvPr id="11" name="文本占位符 44034"/>
          <p:cNvSpPr txBox="1">
            <a:spLocks/>
          </p:cNvSpPr>
          <p:nvPr/>
        </p:nvSpPr>
        <p:spPr bwMode="auto">
          <a:xfrm>
            <a:off x="756683" y="4797150"/>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ts val="600"/>
              </a:spcAft>
              <a:buClr>
                <a:srgbClr val="FF0000"/>
              </a:buClr>
              <a:buSzPct val="90000"/>
              <a:buFont typeface="Wingdings" panose="05000000000000000000" pitchFamily="2" charset="2"/>
              <a:buChar char="n"/>
            </a:pPr>
            <a:r>
              <a:rPr lang="zh-CN" altLang="en-US" sz="2000" b="1" dirty="0">
                <a:solidFill>
                  <a:srgbClr val="00B050"/>
                </a:solidFill>
              </a:rPr>
              <a:t>全局变量</a:t>
            </a:r>
            <a:r>
              <a:rPr lang="zh-CN" altLang="en-US" sz="2000" dirty="0"/>
              <a:t>可以通过</a:t>
            </a:r>
            <a:r>
              <a:rPr lang="zh-CN" altLang="en-US" sz="2000" dirty="0">
                <a:solidFill>
                  <a:srgbClr val="0000FF"/>
                </a:solidFill>
              </a:rPr>
              <a:t>关键字</a:t>
            </a:r>
            <a:r>
              <a:rPr lang="en-US" altLang="zh-CN" sz="2000" dirty="0">
                <a:solidFill>
                  <a:srgbClr val="0000FF"/>
                </a:solidFill>
              </a:rPr>
              <a:t>global</a:t>
            </a:r>
            <a:r>
              <a:rPr lang="zh-CN" altLang="en-US" sz="2000" dirty="0"/>
              <a:t>来定义。这分为两种情况：</a:t>
            </a:r>
          </a:p>
          <a:p>
            <a:pPr lvl="1">
              <a:spcBef>
                <a:spcPts val="600"/>
              </a:spcBef>
              <a:spcAft>
                <a:spcPts val="600"/>
              </a:spcAft>
              <a:buClr>
                <a:srgbClr val="FF0000"/>
              </a:buClr>
              <a:buSzPct val="90000"/>
              <a:buFont typeface="Wingdings" panose="05000000000000000000" pitchFamily="2" charset="2"/>
              <a:buChar char="ü"/>
            </a:pPr>
            <a:r>
              <a:rPr lang="zh-CN" altLang="en-US" sz="1800" dirty="0"/>
              <a:t>一个变量</a:t>
            </a:r>
            <a:r>
              <a:rPr lang="zh-CN" altLang="en-US" sz="1800" dirty="0">
                <a:solidFill>
                  <a:srgbClr val="FF0000"/>
                </a:solidFill>
              </a:rPr>
              <a:t>已在函数外定义</a:t>
            </a:r>
            <a:r>
              <a:rPr lang="zh-CN" altLang="en-US" sz="1800" dirty="0"/>
              <a:t>，如果在函数内需要为这个变量赋值，并要将这个赋值结果反映到函数外，可以在函数内</a:t>
            </a:r>
            <a:r>
              <a:rPr lang="zh-CN" altLang="en-US" sz="1800" dirty="0">
                <a:solidFill>
                  <a:srgbClr val="0000FF"/>
                </a:solidFill>
              </a:rPr>
              <a:t>使用</a:t>
            </a:r>
            <a:r>
              <a:rPr lang="en-US" altLang="zh-CN" sz="1800" dirty="0">
                <a:solidFill>
                  <a:srgbClr val="0000FF"/>
                </a:solidFill>
              </a:rPr>
              <a:t>global</a:t>
            </a:r>
            <a:r>
              <a:rPr lang="zh-CN" altLang="en-US" sz="1800" dirty="0">
                <a:solidFill>
                  <a:srgbClr val="0000FF"/>
                </a:solidFill>
              </a:rPr>
              <a:t>将其声明为全局变量</a:t>
            </a:r>
            <a:r>
              <a:rPr lang="zh-CN" altLang="en-US" sz="1800" dirty="0"/>
              <a:t>。</a:t>
            </a:r>
          </a:p>
          <a:p>
            <a:pPr lvl="1">
              <a:spcBef>
                <a:spcPts val="600"/>
              </a:spcBef>
              <a:spcAft>
                <a:spcPts val="600"/>
              </a:spcAft>
              <a:buClr>
                <a:srgbClr val="FF0000"/>
              </a:buClr>
              <a:buSzPct val="90000"/>
              <a:buFont typeface="Wingdings" panose="05000000000000000000" pitchFamily="2" charset="2"/>
              <a:buChar char="ü"/>
            </a:pPr>
            <a:r>
              <a:rPr lang="zh-CN" altLang="en-US" sz="1800" dirty="0"/>
              <a:t>如果一个变量</a:t>
            </a:r>
            <a:r>
              <a:rPr lang="zh-CN" altLang="en-US" sz="1800" dirty="0">
                <a:solidFill>
                  <a:srgbClr val="FF0000"/>
                </a:solidFill>
              </a:rPr>
              <a:t>在函数外没有定义</a:t>
            </a:r>
            <a:r>
              <a:rPr lang="zh-CN" altLang="en-US" sz="1800" dirty="0"/>
              <a:t>，</a:t>
            </a:r>
            <a:r>
              <a:rPr lang="zh-CN" altLang="en-US" sz="1800" dirty="0">
                <a:solidFill>
                  <a:srgbClr val="FF0000"/>
                </a:solidFill>
              </a:rPr>
              <a:t>在函数内部也可以直接将一个变量定义为全局变量</a:t>
            </a:r>
            <a:r>
              <a:rPr lang="zh-CN" altLang="en-US" sz="1800" dirty="0"/>
              <a:t>，该函数执行后，将增加一个新的全局变量。</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7549" y="981455"/>
            <a:ext cx="3855374" cy="2500114"/>
          </a:xfrm>
          <a:prstGeom prst="rect">
            <a:avLst/>
          </a:prstGeom>
        </p:spPr>
      </p:pic>
    </p:spTree>
    <p:extLst>
      <p:ext uri="{BB962C8B-B14F-4D97-AF65-F5344CB8AC3E}">
        <p14:creationId xmlns:p14="http://schemas.microsoft.com/office/powerpoint/2010/main" val="395873030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3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3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3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34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052736"/>
            <a:ext cx="8229600" cy="4678451"/>
          </a:xfrm>
        </p:spPr>
        <p:txBody>
          <a:bodyPr vert="horz" wrap="square" lIns="68591" tIns="34295" rIns="68591" bIns="34295" numCol="1" anchor="t" anchorCtr="0" compatLnSpc="1">
            <a:prstTxWarp prst="textNoShape">
              <a:avLst/>
            </a:prstTxWarp>
          </a:bodyPr>
          <a:lstStyle/>
          <a:p>
            <a:pPr>
              <a:buClr>
                <a:srgbClr val="FF0000"/>
              </a:buClr>
              <a:buFont typeface="Wingdings" panose="05000000000000000000" charset="0"/>
              <a:buChar char="n"/>
              <a:defRPr/>
            </a:pPr>
            <a:r>
              <a:rPr lang="zh-CN" altLang="en-US" sz="1800" noProof="1">
                <a:latin typeface="+mn-lt"/>
                <a:ea typeface="+mn-ea"/>
                <a:sym typeface="+mn-ea"/>
              </a:rPr>
              <a:t>也可以这么理解：</a:t>
            </a:r>
          </a:p>
          <a:p>
            <a:pPr lvl="1">
              <a:spcBef>
                <a:spcPts val="600"/>
              </a:spcBef>
              <a:spcAft>
                <a:spcPts val="0"/>
              </a:spcAft>
              <a:buClr>
                <a:srgbClr val="FF0000"/>
              </a:buClr>
              <a:buFont typeface="Wingdings" panose="05000000000000000000" charset="0"/>
              <a:buChar char="ü"/>
              <a:defRPr/>
            </a:pPr>
            <a:r>
              <a:rPr lang="zh-CN" altLang="en-US" sz="2000" noProof="1">
                <a:latin typeface="+mn-lt"/>
                <a:sym typeface="+mn-ea"/>
              </a:rPr>
              <a:t>在函数内只引用某个变量的值而没有为其赋新值，如果这样的操作可以执行，那么该变量为（隐式的）全局变量；</a:t>
            </a:r>
          </a:p>
          <a:p>
            <a:pPr lvl="1">
              <a:spcBef>
                <a:spcPts val="600"/>
              </a:spcBef>
              <a:spcAft>
                <a:spcPts val="0"/>
              </a:spcAft>
              <a:buClr>
                <a:srgbClr val="FF0000"/>
              </a:buClr>
              <a:buFont typeface="Wingdings" panose="05000000000000000000" charset="0"/>
              <a:buChar char="ü"/>
              <a:defRPr/>
            </a:pPr>
            <a:r>
              <a:rPr lang="zh-CN" altLang="en-US" sz="2000" noProof="1">
                <a:latin typeface="+mn-lt"/>
                <a:sym typeface="+mn-ea"/>
              </a:rPr>
              <a:t>如果在函数内</a:t>
            </a:r>
            <a:r>
              <a:rPr lang="zh-CN" altLang="en-US" sz="2000" noProof="1">
                <a:solidFill>
                  <a:srgbClr val="FF0000"/>
                </a:solidFill>
                <a:latin typeface="+mn-lt"/>
                <a:sym typeface="+mn-ea"/>
              </a:rPr>
              <a:t>任意位置</a:t>
            </a:r>
            <a:r>
              <a:rPr lang="zh-CN" altLang="en-US" sz="2000" noProof="1">
                <a:latin typeface="+mn-lt"/>
                <a:sym typeface="+mn-ea"/>
              </a:rPr>
              <a:t>有为变量赋新值的操作，该变量即被认为是（隐式的）局部变量，</a:t>
            </a:r>
            <a:r>
              <a:rPr lang="zh-CN" altLang="en-US" sz="2000" noProof="1">
                <a:solidFill>
                  <a:srgbClr val="FF0000"/>
                </a:solidFill>
                <a:latin typeface="+mn-lt"/>
                <a:sym typeface="+mn-ea"/>
              </a:rPr>
              <a:t>除非</a:t>
            </a:r>
            <a:r>
              <a:rPr lang="zh-CN" altLang="en-US" sz="2000" noProof="1">
                <a:latin typeface="+mn-lt"/>
                <a:sym typeface="+mn-ea"/>
              </a:rPr>
              <a:t>在函数内显式地用关键字global进行声明。</a:t>
            </a:r>
          </a:p>
          <a:p>
            <a:pPr marL="0" indent="0">
              <a:buNone/>
              <a:defRPr/>
            </a:pPr>
            <a:endParaRPr lang="zh-CN" altLang="en-US" sz="1800" noProof="1">
              <a:latin typeface="+mn-lt"/>
              <a:ea typeface="+mn-ea"/>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32</a:t>
            </a:fld>
            <a:endParaRPr lang="zh-CN" altLang="en-US" dirty="0"/>
          </a:p>
        </p:txBody>
      </p:sp>
      <p:sp>
        <p:nvSpPr>
          <p:cNvPr id="6" name="文本占位符 45058"/>
          <p:cNvSpPr txBox="1">
            <a:spLocks/>
          </p:cNvSpPr>
          <p:nvPr/>
        </p:nvSpPr>
        <p:spPr bwMode="auto">
          <a:xfrm>
            <a:off x="740307" y="3068960"/>
            <a:ext cx="3975709"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ct val="0"/>
              </a:spcBef>
              <a:buSzPct val="90000"/>
              <a:buFont typeface="Wingdings" panose="05000000000000000000" pitchFamily="2" charset="2"/>
              <a:buNone/>
            </a:pPr>
            <a:r>
              <a:rPr lang="en-US" altLang="zh-CN" sz="1600" noProof="1">
                <a:latin typeface="Consolas" panose="020B0609020204030204" pitchFamily="49" charset="0"/>
              </a:rPr>
              <a:t>&gt;&gt;&gt; def demo():</a:t>
            </a:r>
          </a:p>
          <a:p>
            <a:pPr>
              <a:spcBef>
                <a:spcPct val="0"/>
              </a:spcBef>
              <a:buSzPct val="90000"/>
              <a:buFont typeface="Wingdings" panose="05000000000000000000" pitchFamily="2" charset="2"/>
              <a:buNone/>
            </a:pPr>
            <a:r>
              <a:rPr lang="en-US" altLang="zh-CN" sz="1600" noProof="1">
                <a:latin typeface="Consolas" panose="020B0609020204030204" pitchFamily="49" charset="0"/>
              </a:rPr>
              <a:t>    global x</a:t>
            </a:r>
          </a:p>
          <a:p>
            <a:pPr>
              <a:spcBef>
                <a:spcPct val="0"/>
              </a:spcBef>
              <a:buSzPct val="90000"/>
              <a:buFont typeface="Wingdings" panose="05000000000000000000" pitchFamily="2" charset="2"/>
              <a:buNone/>
            </a:pPr>
            <a:r>
              <a:rPr lang="en-US" altLang="zh-CN" sz="1600" noProof="1">
                <a:latin typeface="Consolas" panose="020B0609020204030204" pitchFamily="49" charset="0"/>
              </a:rPr>
              <a:t>    x = 3</a:t>
            </a:r>
          </a:p>
          <a:p>
            <a:pPr>
              <a:spcBef>
                <a:spcPct val="0"/>
              </a:spcBef>
              <a:buSzPct val="90000"/>
              <a:buFont typeface="Wingdings" panose="05000000000000000000" pitchFamily="2" charset="2"/>
              <a:buNone/>
            </a:pPr>
            <a:r>
              <a:rPr lang="en-US" altLang="zh-CN" sz="1600" noProof="1">
                <a:latin typeface="Consolas" panose="020B0609020204030204" pitchFamily="49" charset="0"/>
              </a:rPr>
              <a:t>    y = 4</a:t>
            </a:r>
          </a:p>
          <a:p>
            <a:pPr>
              <a:spcBef>
                <a:spcPct val="0"/>
              </a:spcBef>
              <a:buSzPct val="90000"/>
              <a:buFont typeface="Wingdings" panose="05000000000000000000" pitchFamily="2" charset="2"/>
              <a:buNone/>
            </a:pPr>
            <a:r>
              <a:rPr lang="en-US" altLang="zh-CN" sz="1600" noProof="1">
                <a:latin typeface="Consolas" panose="020B0609020204030204" pitchFamily="49" charset="0"/>
              </a:rPr>
              <a:t>    print(x,y)</a:t>
            </a:r>
          </a:p>
          <a:p>
            <a:pPr>
              <a:spcBef>
                <a:spcPct val="0"/>
              </a:spcBef>
              <a:buSzPct val="90000"/>
              <a:buFont typeface="Wingdings" panose="05000000000000000000" pitchFamily="2" charset="2"/>
              <a:buNone/>
            </a:pPr>
            <a:endParaRPr lang="en-US" altLang="zh-CN" sz="1600" noProof="1">
              <a:latin typeface="Consolas" panose="020B0609020204030204" pitchFamily="49" charset="0"/>
            </a:endParaRP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x = 5</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demo()</a:t>
            </a:r>
          </a:p>
          <a:p>
            <a:pPr>
              <a:spcBef>
                <a:spcPct val="0"/>
              </a:spcBef>
              <a:buSzPct val="90000"/>
              <a:buFont typeface="Wingdings" panose="05000000000000000000" pitchFamily="2" charset="2"/>
              <a:buNone/>
            </a:pPr>
            <a:r>
              <a:rPr lang="en-US" altLang="zh-CN" sz="1600" noProof="1">
                <a:solidFill>
                  <a:srgbClr val="0000FF"/>
                </a:solidFill>
                <a:latin typeface="Consolas" panose="020B0609020204030204" pitchFamily="49" charset="0"/>
              </a:rPr>
              <a:t>3  4</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x</a:t>
            </a:r>
          </a:p>
          <a:p>
            <a:pPr>
              <a:spcBef>
                <a:spcPct val="0"/>
              </a:spcBef>
              <a:buSzPct val="90000"/>
              <a:buFont typeface="Wingdings" panose="05000000000000000000" pitchFamily="2" charset="2"/>
              <a:buNone/>
            </a:pPr>
            <a:r>
              <a:rPr lang="en-US" altLang="zh-CN" sz="1600" noProof="1">
                <a:solidFill>
                  <a:srgbClr val="0000FF"/>
                </a:solidFill>
                <a:latin typeface="Consolas" panose="020B0609020204030204" pitchFamily="49" charset="0"/>
              </a:rPr>
              <a:t>3</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y</a:t>
            </a:r>
            <a:endParaRPr lang="zh-CN" altLang="en-US" sz="1600" noProof="1">
              <a:latin typeface="Consolas" panose="020B0609020204030204" pitchFamily="49" charset="0"/>
            </a:endParaRPr>
          </a:p>
          <a:p>
            <a:pPr>
              <a:spcBef>
                <a:spcPct val="0"/>
              </a:spcBef>
              <a:buSzPct val="90000"/>
              <a:buFont typeface="Wingdings" panose="05000000000000000000" pitchFamily="2" charset="2"/>
              <a:buNone/>
            </a:pPr>
            <a:r>
              <a:rPr lang="en-US" altLang="zh-CN" sz="1600" noProof="1">
                <a:solidFill>
                  <a:srgbClr val="FF0000"/>
                </a:solidFill>
                <a:latin typeface="Consolas" panose="020B0609020204030204" pitchFamily="49" charset="0"/>
              </a:rPr>
              <a:t>NameError: name 'y' is not defined</a:t>
            </a:r>
          </a:p>
        </p:txBody>
      </p:sp>
      <p:grpSp>
        <p:nvGrpSpPr>
          <p:cNvPr id="7" name="组合 109"/>
          <p:cNvGrpSpPr/>
          <p:nvPr/>
        </p:nvGrpSpPr>
        <p:grpSpPr>
          <a:xfrm>
            <a:off x="539552" y="118397"/>
            <a:ext cx="7200800" cy="655385"/>
            <a:chOff x="956926" y="4596123"/>
            <a:chExt cx="7200800" cy="655385"/>
          </a:xfrm>
        </p:grpSpPr>
        <p:sp>
          <p:nvSpPr>
            <p:cNvPr id="8"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24495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5.4 </a:t>
              </a:r>
              <a:r>
                <a:rPr lang="zh-CN" altLang="en-US" sz="3600" b="1" dirty="0">
                  <a:latin typeface="Times New Roman" pitchFamily="18" charset="0"/>
                  <a:ea typeface="黑体" pitchFamily="49" charset="-122"/>
                </a:rPr>
                <a:t> </a:t>
              </a:r>
              <a:r>
                <a:rPr lang="en-US" altLang="zh-CN" sz="3600" b="1" dirty="0">
                  <a:latin typeface="Times New Roman" pitchFamily="18" charset="0"/>
                  <a:ea typeface="黑体" pitchFamily="49" charset="-122"/>
                </a:rPr>
                <a:t>return</a:t>
              </a:r>
              <a:r>
                <a:rPr lang="zh-CN" altLang="en-US" sz="3600" b="1" dirty="0">
                  <a:latin typeface="Times New Roman" pitchFamily="18" charset="0"/>
                  <a:ea typeface="黑体" pitchFamily="49" charset="-122"/>
                </a:rPr>
                <a:t>语句与变量作用域 </a:t>
              </a:r>
            </a:p>
          </p:txBody>
        </p:sp>
      </p:grpSp>
      <p:sp>
        <p:nvSpPr>
          <p:cNvPr id="11" name="内容占位符 2"/>
          <p:cNvSpPr txBox="1">
            <a:spLocks/>
          </p:cNvSpPr>
          <p:nvPr/>
        </p:nvSpPr>
        <p:spPr bwMode="auto">
          <a:xfrm>
            <a:off x="4719042" y="3140968"/>
            <a:ext cx="41148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ct val="0"/>
              </a:spcBef>
              <a:buSzPct val="90000"/>
              <a:buFont typeface="Wingdings" panose="05000000000000000000" pitchFamily="2" charset="2"/>
              <a:buNone/>
            </a:pPr>
            <a:r>
              <a:rPr lang="en-US" altLang="zh-CN" sz="1600" noProof="1">
                <a:latin typeface="Consolas" panose="020B0609020204030204" pitchFamily="49" charset="0"/>
              </a:rPr>
              <a:t>&gt;&gt;&gt; del x</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x</a:t>
            </a:r>
            <a:endParaRPr lang="zh-CN" altLang="en-US" sz="1600" noProof="1">
              <a:latin typeface="Consolas" panose="020B0609020204030204" pitchFamily="49" charset="0"/>
            </a:endParaRPr>
          </a:p>
          <a:p>
            <a:pPr>
              <a:spcBef>
                <a:spcPct val="0"/>
              </a:spcBef>
              <a:buSzPct val="90000"/>
              <a:buFont typeface="Wingdings" panose="05000000000000000000" pitchFamily="2" charset="2"/>
              <a:buNone/>
            </a:pPr>
            <a:r>
              <a:rPr lang="en-US" altLang="zh-CN" sz="1600" noProof="1">
                <a:solidFill>
                  <a:srgbClr val="FF0000"/>
                </a:solidFill>
                <a:latin typeface="Consolas" panose="020B0609020204030204" pitchFamily="49" charset="0"/>
              </a:rPr>
              <a:t>NameError: name 'x' is not defined</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demo()</a:t>
            </a:r>
          </a:p>
          <a:p>
            <a:pPr>
              <a:spcBef>
                <a:spcPct val="0"/>
              </a:spcBef>
              <a:buSzPct val="90000"/>
              <a:buFont typeface="Wingdings" panose="05000000000000000000" pitchFamily="2" charset="2"/>
              <a:buNone/>
            </a:pPr>
            <a:r>
              <a:rPr lang="en-US" altLang="zh-CN" sz="1600" noProof="1">
                <a:solidFill>
                  <a:srgbClr val="0000FF"/>
                </a:solidFill>
                <a:latin typeface="Consolas" panose="020B0609020204030204" pitchFamily="49" charset="0"/>
              </a:rPr>
              <a:t>3  4</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x</a:t>
            </a:r>
          </a:p>
          <a:p>
            <a:pPr>
              <a:spcBef>
                <a:spcPct val="0"/>
              </a:spcBef>
              <a:buSzPct val="90000"/>
              <a:buFont typeface="Wingdings" panose="05000000000000000000" pitchFamily="2" charset="2"/>
              <a:buNone/>
            </a:pPr>
            <a:r>
              <a:rPr lang="en-US" altLang="zh-CN" sz="1600" noProof="1">
                <a:solidFill>
                  <a:srgbClr val="0000FF"/>
                </a:solidFill>
                <a:latin typeface="Consolas" panose="020B0609020204030204" pitchFamily="49" charset="0"/>
              </a:rPr>
              <a:t>3</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y</a:t>
            </a:r>
            <a:endParaRPr lang="zh-CN" altLang="en-US" sz="1600" noProof="1">
              <a:latin typeface="Consolas" panose="020B0609020204030204" pitchFamily="49" charset="0"/>
            </a:endParaRPr>
          </a:p>
          <a:p>
            <a:pPr>
              <a:spcBef>
                <a:spcPct val="0"/>
              </a:spcBef>
              <a:buSzPct val="90000"/>
              <a:buFont typeface="Wingdings" panose="05000000000000000000" pitchFamily="2" charset="2"/>
              <a:buNone/>
            </a:pPr>
            <a:r>
              <a:rPr lang="en-US" altLang="zh-CN" sz="1600" noProof="1">
                <a:solidFill>
                  <a:srgbClr val="FF0000"/>
                </a:solidFill>
                <a:latin typeface="Consolas" panose="020B0609020204030204" pitchFamily="49" charset="0"/>
              </a:rPr>
              <a:t>NameError: name 'y' is not defined</a:t>
            </a:r>
          </a:p>
        </p:txBody>
      </p:sp>
    </p:spTree>
    <p:extLst>
      <p:ext uri="{BB962C8B-B14F-4D97-AF65-F5344CB8AC3E}">
        <p14:creationId xmlns:p14="http://schemas.microsoft.com/office/powerpoint/2010/main" val="114233806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0" end="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
                                            <p:txEl>
                                              <p:pRg st="1" end="1"/>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3" end="3"/>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1">
                                            <p:txEl>
                                              <p:pRg st="5" end="5"/>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
                                            <p:txEl>
                                              <p:pRg st="7" end="7"/>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0307" y="1484651"/>
            <a:ext cx="8065135" cy="3395980"/>
          </a:xfrm>
        </p:spPr>
        <p:txBody>
          <a:bodyPr vert="horz" wrap="square" lIns="68591" tIns="34295" rIns="68591" bIns="34295" numCol="1" anchor="t" anchorCtr="0" compatLnSpc="1">
            <a:prstTxWarp prst="textNoShape">
              <a:avLst/>
            </a:prstTxWarp>
          </a:bodyPr>
          <a:lstStyle/>
          <a:p>
            <a:pPr>
              <a:lnSpc>
                <a:spcPct val="130000"/>
              </a:lnSpc>
              <a:spcBef>
                <a:spcPts val="0"/>
              </a:spcBef>
              <a:buClr>
                <a:srgbClr val="FF0000"/>
              </a:buClr>
              <a:buFont typeface="Wingdings" panose="05000000000000000000" pitchFamily="2" charset="2"/>
              <a:buChar char="n"/>
              <a:defRPr/>
            </a:pPr>
            <a:r>
              <a:rPr lang="zh-CN" altLang="en-US" sz="1800" noProof="1">
                <a:latin typeface="+mn-lt"/>
                <a:ea typeface="+mn-ea"/>
              </a:rPr>
              <a:t>注意：在某个作用域内</a:t>
            </a:r>
            <a:r>
              <a:rPr lang="zh-CN" altLang="en-US" sz="1800" noProof="1">
                <a:solidFill>
                  <a:srgbClr val="FF0000"/>
                </a:solidFill>
                <a:latin typeface="+mn-lt"/>
                <a:ea typeface="+mn-ea"/>
              </a:rPr>
              <a:t>任意位置</a:t>
            </a:r>
            <a:r>
              <a:rPr lang="zh-CN" altLang="en-US" sz="1800" noProof="1">
                <a:latin typeface="+mn-lt"/>
                <a:ea typeface="+mn-ea"/>
              </a:rPr>
              <a:t>只要有为变量赋值的操作，该变量在这个作用域内就是局部变量，</a:t>
            </a:r>
            <a:r>
              <a:rPr lang="zh-CN" altLang="en-US" sz="1800" noProof="1">
                <a:solidFill>
                  <a:srgbClr val="FF0000"/>
                </a:solidFill>
                <a:latin typeface="+mn-lt"/>
                <a:ea typeface="+mn-ea"/>
              </a:rPr>
              <a:t>除非</a:t>
            </a:r>
            <a:r>
              <a:rPr lang="zh-CN" altLang="en-US" sz="1800" noProof="1">
                <a:latin typeface="+mn-lt"/>
                <a:ea typeface="+mn-ea"/>
              </a:rPr>
              <a:t>使用</a:t>
            </a:r>
            <a:r>
              <a:rPr lang="en-US" altLang="zh-CN" sz="1800" noProof="1">
                <a:latin typeface="+mn-lt"/>
                <a:ea typeface="+mn-ea"/>
              </a:rPr>
              <a:t>global</a:t>
            </a:r>
            <a:r>
              <a:rPr lang="zh-CN" altLang="en-US" sz="1800" noProof="1">
                <a:latin typeface="+mn-lt"/>
                <a:ea typeface="+mn-ea"/>
              </a:rPr>
              <a:t>进行了声明。</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33</a:t>
            </a:fld>
            <a:endParaRPr lang="zh-CN" altLang="en-US" dirty="0"/>
          </a:p>
        </p:txBody>
      </p:sp>
      <p:grpSp>
        <p:nvGrpSpPr>
          <p:cNvPr id="6" name="组合 109"/>
          <p:cNvGrpSpPr/>
          <p:nvPr/>
        </p:nvGrpSpPr>
        <p:grpSpPr>
          <a:xfrm>
            <a:off x="539552" y="118397"/>
            <a:ext cx="7200800" cy="655385"/>
            <a:chOff x="956926" y="4596123"/>
            <a:chExt cx="7200800" cy="655385"/>
          </a:xfrm>
        </p:grpSpPr>
        <p:sp>
          <p:nvSpPr>
            <p:cNvPr id="7"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24495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5.4 </a:t>
              </a:r>
              <a:r>
                <a:rPr lang="zh-CN" altLang="en-US" sz="3600" b="1" dirty="0">
                  <a:latin typeface="Times New Roman" pitchFamily="18" charset="0"/>
                  <a:ea typeface="黑体" pitchFamily="49" charset="-122"/>
                </a:rPr>
                <a:t> </a:t>
              </a:r>
              <a:r>
                <a:rPr lang="en-US" altLang="zh-CN" sz="3600" b="1" dirty="0">
                  <a:latin typeface="Times New Roman" pitchFamily="18" charset="0"/>
                  <a:ea typeface="黑体" pitchFamily="49" charset="-122"/>
                </a:rPr>
                <a:t>return</a:t>
              </a:r>
              <a:r>
                <a:rPr lang="zh-CN" altLang="en-US" sz="3600" b="1" dirty="0">
                  <a:latin typeface="Times New Roman" pitchFamily="18" charset="0"/>
                  <a:ea typeface="黑体" pitchFamily="49" charset="-122"/>
                </a:rPr>
                <a:t>语句与变量作用域 </a:t>
              </a:r>
            </a:p>
          </p:txBody>
        </p:sp>
      </p:grpSp>
      <p:sp>
        <p:nvSpPr>
          <p:cNvPr id="10" name="矩形 9"/>
          <p:cNvSpPr/>
          <p:nvPr/>
        </p:nvSpPr>
        <p:spPr>
          <a:xfrm>
            <a:off x="323528" y="961431"/>
            <a:ext cx="2375971" cy="523220"/>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800" b="1" dirty="0">
                <a:ea typeface="仿宋" panose="02010609060101010101" pitchFamily="49" charset="-122"/>
              </a:rPr>
              <a:t>变量作用域 </a:t>
            </a:r>
          </a:p>
        </p:txBody>
      </p:sp>
      <p:sp>
        <p:nvSpPr>
          <p:cNvPr id="5" name="矩形 4"/>
          <p:cNvSpPr/>
          <p:nvPr/>
        </p:nvSpPr>
        <p:spPr>
          <a:xfrm>
            <a:off x="1043608" y="2348880"/>
            <a:ext cx="7761834" cy="3293209"/>
          </a:xfrm>
          <a:prstGeom prst="rect">
            <a:avLst/>
          </a:prstGeom>
        </p:spPr>
        <p:txBody>
          <a:bodyPr wrap="square">
            <a:spAutoFit/>
          </a:bodyPr>
          <a:lstStyle/>
          <a:p>
            <a:pPr marL="0" indent="0">
              <a:spcBef>
                <a:spcPts val="0"/>
              </a:spcBef>
              <a:buNone/>
              <a:defRPr/>
            </a:pPr>
            <a:r>
              <a:rPr lang="zh-CN" altLang="en-US" sz="1600" noProof="1">
                <a:latin typeface="Consolas" panose="020B0609020204030204" pitchFamily="49" charset="0"/>
              </a:rPr>
              <a:t>&gt;&gt;&gt; x = 3</a:t>
            </a:r>
          </a:p>
          <a:p>
            <a:pPr marL="0" indent="0">
              <a:spcBef>
                <a:spcPts val="0"/>
              </a:spcBef>
              <a:buNone/>
              <a:defRPr/>
            </a:pPr>
            <a:r>
              <a:rPr lang="zh-CN" altLang="en-US" sz="1600" noProof="1">
                <a:latin typeface="Consolas" panose="020B0609020204030204" pitchFamily="49" charset="0"/>
              </a:rPr>
              <a:t>&gt;&gt;&gt; def f():</a:t>
            </a:r>
          </a:p>
          <a:p>
            <a:pPr marL="0" indent="0">
              <a:spcBef>
                <a:spcPts val="0"/>
              </a:spcBef>
              <a:buNone/>
              <a:defRPr/>
            </a:pPr>
            <a:r>
              <a:rPr lang="en-US" altLang="x-none" sz="1600" noProof="1">
                <a:latin typeface="Consolas" panose="020B0609020204030204" pitchFamily="49" charset="0"/>
                <a:sym typeface="+mn-ea"/>
              </a:rPr>
              <a:t>    </a:t>
            </a:r>
            <a:r>
              <a:rPr lang="zh-CN" altLang="en-US" sz="1600" noProof="1">
                <a:latin typeface="Consolas" panose="020B0609020204030204" pitchFamily="49" charset="0"/>
              </a:rPr>
              <a:t>print(x) </a:t>
            </a:r>
            <a:endParaRPr lang="en-US" altLang="zh-CN" sz="1600" noProof="1">
              <a:latin typeface="Consolas" panose="020B0609020204030204" pitchFamily="49" charset="0"/>
            </a:endParaRPr>
          </a:p>
          <a:p>
            <a:pPr marL="0" indent="0">
              <a:spcBef>
                <a:spcPts val="0"/>
              </a:spcBef>
              <a:buNone/>
              <a:defRPr/>
            </a:pPr>
            <a:r>
              <a:rPr lang="en-US" altLang="zh-CN" sz="1600" noProof="1">
                <a:latin typeface="Consolas" panose="020B0609020204030204" pitchFamily="49" charset="0"/>
              </a:rPr>
              <a:t>    </a:t>
            </a:r>
            <a:r>
              <a:rPr lang="zh-CN" altLang="en-US" sz="1600" noProof="1">
                <a:latin typeface="Consolas" panose="020B0609020204030204" pitchFamily="49" charset="0"/>
              </a:rPr>
              <a:t>x = 5</a:t>
            </a:r>
          </a:p>
          <a:p>
            <a:pPr marL="0" indent="0">
              <a:spcBef>
                <a:spcPts val="0"/>
              </a:spcBef>
              <a:buNone/>
              <a:defRPr/>
            </a:pPr>
            <a:r>
              <a:rPr lang="en-US" altLang="x-none" sz="1600" noProof="1">
                <a:latin typeface="Consolas" panose="020B0609020204030204" pitchFamily="49" charset="0"/>
                <a:sym typeface="+mn-ea"/>
              </a:rPr>
              <a:t>    </a:t>
            </a:r>
            <a:r>
              <a:rPr lang="zh-CN" altLang="en-US" sz="1600" noProof="1">
                <a:latin typeface="Consolas" panose="020B0609020204030204" pitchFamily="49" charset="0"/>
              </a:rPr>
              <a:t>print(x)</a:t>
            </a:r>
          </a:p>
          <a:p>
            <a:pPr marL="0" indent="0">
              <a:spcBef>
                <a:spcPts val="0"/>
              </a:spcBef>
              <a:buNone/>
              <a:defRPr/>
            </a:pPr>
            <a:endParaRPr lang="zh-CN" altLang="en-US" sz="1600" noProof="1">
              <a:latin typeface="Consolas" panose="020B0609020204030204" pitchFamily="49" charset="0"/>
            </a:endParaRPr>
          </a:p>
          <a:p>
            <a:pPr marL="0" indent="0">
              <a:spcBef>
                <a:spcPts val="0"/>
              </a:spcBef>
              <a:buNone/>
              <a:defRPr/>
            </a:pPr>
            <a:r>
              <a:rPr lang="zh-CN" altLang="en-US" sz="1600" noProof="1">
                <a:latin typeface="Consolas" panose="020B0609020204030204" pitchFamily="49" charset="0"/>
              </a:rPr>
              <a:t>&gt;&gt;&gt; f()</a:t>
            </a:r>
          </a:p>
          <a:p>
            <a:pPr marL="0" indent="0">
              <a:spcBef>
                <a:spcPts val="0"/>
              </a:spcBef>
              <a:buNone/>
              <a:defRPr/>
            </a:pPr>
            <a:r>
              <a:rPr lang="zh-CN" altLang="en-US" sz="1600" noProof="1">
                <a:solidFill>
                  <a:srgbClr val="FF0000"/>
                </a:solidFill>
                <a:latin typeface="Consolas" panose="020B0609020204030204" pitchFamily="49" charset="0"/>
              </a:rPr>
              <a:t>Traceback (most recent call last):</a:t>
            </a:r>
          </a:p>
          <a:p>
            <a:pPr marL="0" indent="0">
              <a:spcBef>
                <a:spcPts val="0"/>
              </a:spcBef>
              <a:buNone/>
              <a:defRPr/>
            </a:pPr>
            <a:r>
              <a:rPr lang="zh-CN" altLang="en-US" sz="1600" noProof="1">
                <a:solidFill>
                  <a:srgbClr val="FF0000"/>
                </a:solidFill>
                <a:latin typeface="Consolas" panose="020B0609020204030204" pitchFamily="49" charset="0"/>
              </a:rPr>
              <a:t>  File "&lt;pyshell#10&gt;", line 1, in &lt;module&gt;</a:t>
            </a:r>
          </a:p>
          <a:p>
            <a:pPr marL="0" indent="0">
              <a:spcBef>
                <a:spcPts val="0"/>
              </a:spcBef>
              <a:buNone/>
              <a:defRPr/>
            </a:pPr>
            <a:r>
              <a:rPr lang="zh-CN" altLang="en-US" sz="1600" noProof="1">
                <a:solidFill>
                  <a:srgbClr val="FF0000"/>
                </a:solidFill>
                <a:latin typeface="Consolas" panose="020B0609020204030204" pitchFamily="49" charset="0"/>
              </a:rPr>
              <a:t>    f()</a:t>
            </a:r>
          </a:p>
          <a:p>
            <a:pPr marL="0" indent="0">
              <a:spcBef>
                <a:spcPts val="0"/>
              </a:spcBef>
              <a:buNone/>
              <a:defRPr/>
            </a:pPr>
            <a:r>
              <a:rPr lang="zh-CN" altLang="en-US" sz="1600" noProof="1">
                <a:solidFill>
                  <a:srgbClr val="FF0000"/>
                </a:solidFill>
                <a:latin typeface="Consolas" panose="020B0609020204030204" pitchFamily="49" charset="0"/>
              </a:rPr>
              <a:t>  File "&lt;pyshell#9&gt;", line 2, in f</a:t>
            </a:r>
          </a:p>
          <a:p>
            <a:pPr marL="0" indent="0">
              <a:spcBef>
                <a:spcPts val="0"/>
              </a:spcBef>
              <a:buNone/>
              <a:defRPr/>
            </a:pPr>
            <a:r>
              <a:rPr lang="zh-CN" altLang="en-US" sz="1600" noProof="1">
                <a:solidFill>
                  <a:srgbClr val="FF0000"/>
                </a:solidFill>
                <a:latin typeface="Consolas" panose="020B0609020204030204" pitchFamily="49" charset="0"/>
              </a:rPr>
              <a:t>    print(x)</a:t>
            </a:r>
          </a:p>
          <a:p>
            <a:pPr marL="0" indent="0">
              <a:spcBef>
                <a:spcPts val="0"/>
              </a:spcBef>
              <a:buNone/>
              <a:defRPr/>
            </a:pPr>
            <a:r>
              <a:rPr lang="zh-CN" altLang="en-US" sz="1600" noProof="1">
                <a:solidFill>
                  <a:srgbClr val="FF0000"/>
                </a:solidFill>
                <a:latin typeface="Consolas" panose="020B0609020204030204" pitchFamily="49" charset="0"/>
              </a:rPr>
              <a:t>UnboundLocalError: local variable 'x' referenced before assignment</a:t>
            </a:r>
          </a:p>
        </p:txBody>
      </p:sp>
      <p:sp>
        <p:nvSpPr>
          <p:cNvPr id="11" name="矩形 10"/>
          <p:cNvSpPr/>
          <p:nvPr/>
        </p:nvSpPr>
        <p:spPr>
          <a:xfrm>
            <a:off x="3739269" y="2564904"/>
            <a:ext cx="5482952" cy="338554"/>
          </a:xfrm>
          <a:prstGeom prst="rect">
            <a:avLst/>
          </a:prstGeom>
        </p:spPr>
        <p:txBody>
          <a:bodyPr wrap="square">
            <a:spAutoFit/>
          </a:bodyPr>
          <a:lstStyle/>
          <a:p>
            <a:pPr marL="0" indent="0">
              <a:spcBef>
                <a:spcPts val="0"/>
              </a:spcBef>
              <a:buNone/>
              <a:defRPr/>
            </a:pPr>
            <a:r>
              <a:rPr lang="en-US" altLang="zh-CN" sz="1600" noProof="1">
                <a:solidFill>
                  <a:srgbClr val="0000FF"/>
                </a:solidFill>
                <a:latin typeface="Consolas" panose="020B0609020204030204" pitchFamily="49" charset="0"/>
              </a:rPr>
              <a:t>#</a:t>
            </a:r>
            <a:r>
              <a:rPr lang="zh-CN" altLang="en-US" sz="1600" noProof="1">
                <a:solidFill>
                  <a:srgbClr val="0000FF"/>
                </a:solidFill>
                <a:latin typeface="Consolas" panose="020B0609020204030204" pitchFamily="49" charset="0"/>
              </a:rPr>
              <a:t>本意是先输出全局变量</a:t>
            </a:r>
            <a:r>
              <a:rPr lang="en-US" altLang="zh-CN" sz="1600" noProof="1">
                <a:solidFill>
                  <a:srgbClr val="0000FF"/>
                </a:solidFill>
                <a:latin typeface="Consolas" panose="020B0609020204030204" pitchFamily="49" charset="0"/>
              </a:rPr>
              <a:t>x</a:t>
            </a:r>
            <a:r>
              <a:rPr lang="zh-CN" altLang="en-US" sz="1600" noProof="1">
                <a:solidFill>
                  <a:srgbClr val="0000FF"/>
                </a:solidFill>
                <a:latin typeface="Consolas" panose="020B0609020204030204" pitchFamily="49" charset="0"/>
              </a:rPr>
              <a:t>的值，但是不允许这样做</a:t>
            </a:r>
          </a:p>
        </p:txBody>
      </p:sp>
      <p:sp>
        <p:nvSpPr>
          <p:cNvPr id="12" name="矩形 11"/>
          <p:cNvSpPr/>
          <p:nvPr/>
        </p:nvSpPr>
        <p:spPr>
          <a:xfrm>
            <a:off x="3744230" y="3013364"/>
            <a:ext cx="5112568" cy="338554"/>
          </a:xfrm>
          <a:prstGeom prst="rect">
            <a:avLst/>
          </a:prstGeom>
        </p:spPr>
        <p:txBody>
          <a:bodyPr wrap="square">
            <a:spAutoFit/>
          </a:bodyPr>
          <a:lstStyle/>
          <a:p>
            <a:r>
              <a:rPr lang="en-US" altLang="zh-CN" sz="1600" noProof="1">
                <a:solidFill>
                  <a:srgbClr val="0000FF"/>
                </a:solidFill>
                <a:latin typeface="Consolas" panose="020B0609020204030204" pitchFamily="49" charset="0"/>
              </a:rPr>
              <a:t>#</a:t>
            </a:r>
            <a:r>
              <a:rPr lang="zh-CN" altLang="en-US" sz="1600" noProof="1">
                <a:solidFill>
                  <a:srgbClr val="0000FF"/>
                </a:solidFill>
                <a:latin typeface="Consolas" panose="020B0609020204030204" pitchFamily="49" charset="0"/>
              </a:rPr>
              <a:t>有赋值操作，因此在整个作用域内</a:t>
            </a:r>
            <a:r>
              <a:rPr lang="en-US" altLang="zh-CN" sz="1600" noProof="1">
                <a:solidFill>
                  <a:srgbClr val="0000FF"/>
                </a:solidFill>
                <a:latin typeface="Consolas" panose="020B0609020204030204" pitchFamily="49" charset="0"/>
              </a:rPr>
              <a:t>x</a:t>
            </a:r>
            <a:r>
              <a:rPr lang="zh-CN" altLang="en-US" sz="1600" noProof="1">
                <a:solidFill>
                  <a:srgbClr val="0000FF"/>
                </a:solidFill>
                <a:latin typeface="Consolas" panose="020B0609020204030204" pitchFamily="49" charset="0"/>
              </a:rPr>
              <a:t>都是局部变量</a:t>
            </a:r>
            <a:endParaRPr lang="zh-CN" altLang="en-US" sz="1600" dirty="0">
              <a:solidFill>
                <a:srgbClr val="0000FF"/>
              </a:solidFill>
            </a:endParaRPr>
          </a:p>
        </p:txBody>
      </p:sp>
    </p:spTree>
    <p:extLst>
      <p:ext uri="{BB962C8B-B14F-4D97-AF65-F5344CB8AC3E}">
        <p14:creationId xmlns:p14="http://schemas.microsoft.com/office/powerpoint/2010/main" val="428359521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vert="horz" wrap="square" lIns="68591" tIns="34295" rIns="68591" bIns="34295" numCol="1" anchor="t" anchorCtr="0" compatLnSpc="1">
            <a:prstTxWarp prst="textNoShape">
              <a:avLst/>
            </a:prstTxWarp>
          </a:bodyPr>
          <a:lstStyle/>
          <a:p>
            <a:pPr>
              <a:lnSpc>
                <a:spcPct val="150000"/>
              </a:lnSpc>
              <a:spcBef>
                <a:spcPts val="600"/>
              </a:spcBef>
              <a:spcAft>
                <a:spcPts val="600"/>
              </a:spcAft>
              <a:buClr>
                <a:srgbClr val="FF0000"/>
              </a:buClr>
              <a:buFont typeface="Wingdings" panose="05000000000000000000" charset="0"/>
              <a:buChar char="n"/>
              <a:defRPr/>
            </a:pPr>
            <a:r>
              <a:rPr lang="zh-CN" altLang="en-US" sz="1800" noProof="1">
                <a:latin typeface="+mn-lt"/>
                <a:ea typeface="+mn-ea"/>
              </a:rPr>
              <a:t>如果局部变量与全局变量具有相同的名字，那么该</a:t>
            </a:r>
            <a:r>
              <a:rPr lang="zh-CN" altLang="en-US" sz="1800" noProof="1">
                <a:solidFill>
                  <a:srgbClr val="FF0000"/>
                </a:solidFill>
                <a:latin typeface="+mn-lt"/>
                <a:ea typeface="+mn-ea"/>
              </a:rPr>
              <a:t>局部变量会在自己的作用域内隐藏同名的全局变量</a:t>
            </a:r>
            <a:r>
              <a:rPr lang="zh-CN" altLang="en-US" sz="1800" noProof="1">
                <a:latin typeface="+mn-lt"/>
                <a:ea typeface="+mn-ea"/>
              </a:rPr>
              <a:t>。</a:t>
            </a:r>
          </a:p>
          <a:p>
            <a:pPr marL="0" indent="0">
              <a:buNone/>
              <a:defRPr/>
            </a:pPr>
            <a:endParaRPr lang="zh-CN" altLang="en-US" sz="1350" noProof="1">
              <a:latin typeface="Consolas" panose="020B0609020204030204" pitchFamily="49" charset="0"/>
              <a:ea typeface="+mn-ea"/>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34</a:t>
            </a:fld>
            <a:endParaRPr lang="zh-CN" altLang="en-US" dirty="0"/>
          </a:p>
        </p:txBody>
      </p:sp>
      <p:grpSp>
        <p:nvGrpSpPr>
          <p:cNvPr id="6" name="组合 109"/>
          <p:cNvGrpSpPr/>
          <p:nvPr/>
        </p:nvGrpSpPr>
        <p:grpSpPr>
          <a:xfrm>
            <a:off x="539552" y="118397"/>
            <a:ext cx="7200800" cy="655385"/>
            <a:chOff x="956926" y="4596123"/>
            <a:chExt cx="7200800" cy="655385"/>
          </a:xfrm>
        </p:grpSpPr>
        <p:sp>
          <p:nvSpPr>
            <p:cNvPr id="7"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24495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5.4 </a:t>
              </a:r>
              <a:r>
                <a:rPr lang="zh-CN" altLang="en-US" sz="3600" b="1" dirty="0">
                  <a:latin typeface="Times New Roman" pitchFamily="18" charset="0"/>
                  <a:ea typeface="黑体" pitchFamily="49" charset="-122"/>
                </a:rPr>
                <a:t> </a:t>
              </a:r>
              <a:r>
                <a:rPr lang="en-US" altLang="zh-CN" sz="3600" b="1" dirty="0">
                  <a:latin typeface="Times New Roman" pitchFamily="18" charset="0"/>
                  <a:ea typeface="黑体" pitchFamily="49" charset="-122"/>
                </a:rPr>
                <a:t>return</a:t>
              </a:r>
              <a:r>
                <a:rPr lang="zh-CN" altLang="en-US" sz="3600" b="1" dirty="0">
                  <a:latin typeface="Times New Roman" pitchFamily="18" charset="0"/>
                  <a:ea typeface="黑体" pitchFamily="49" charset="-122"/>
                </a:rPr>
                <a:t>语句与变量作用域 </a:t>
              </a:r>
            </a:p>
          </p:txBody>
        </p:sp>
      </p:grpSp>
      <p:sp>
        <p:nvSpPr>
          <p:cNvPr id="10" name="矩形 9"/>
          <p:cNvSpPr/>
          <p:nvPr/>
        </p:nvSpPr>
        <p:spPr>
          <a:xfrm>
            <a:off x="323528" y="961431"/>
            <a:ext cx="2375971" cy="523220"/>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800" b="1" dirty="0">
                <a:ea typeface="仿宋" panose="02010609060101010101" pitchFamily="49" charset="-122"/>
              </a:rPr>
              <a:t>变量作用域 </a:t>
            </a:r>
          </a:p>
        </p:txBody>
      </p:sp>
      <p:sp>
        <p:nvSpPr>
          <p:cNvPr id="5" name="矩形 4"/>
          <p:cNvSpPr/>
          <p:nvPr/>
        </p:nvSpPr>
        <p:spPr>
          <a:xfrm>
            <a:off x="1043608" y="2346402"/>
            <a:ext cx="7776864" cy="2308324"/>
          </a:xfrm>
          <a:prstGeom prst="rect">
            <a:avLst/>
          </a:prstGeom>
        </p:spPr>
        <p:txBody>
          <a:bodyPr wrap="square">
            <a:spAutoFit/>
          </a:bodyPr>
          <a:lstStyle/>
          <a:p>
            <a:pPr marL="0" indent="0">
              <a:buNone/>
              <a:defRPr/>
            </a:pPr>
            <a:r>
              <a:rPr lang="zh-CN" altLang="en-US" noProof="1">
                <a:latin typeface="Consolas" panose="020B0609020204030204" pitchFamily="49" charset="0"/>
              </a:rPr>
              <a:t>&gt;&gt;&gt; def demo():</a:t>
            </a:r>
          </a:p>
          <a:p>
            <a:pPr marL="0" indent="0">
              <a:buNone/>
              <a:defRPr/>
            </a:pPr>
            <a:r>
              <a:rPr lang="en-US" altLang="x-none" noProof="1">
                <a:latin typeface="Consolas" panose="020B0609020204030204" pitchFamily="49" charset="0"/>
                <a:sym typeface="+mn-ea"/>
              </a:rPr>
              <a:t>    </a:t>
            </a:r>
            <a:r>
              <a:rPr lang="zh-CN" altLang="en-US" noProof="1">
                <a:latin typeface="Consolas" panose="020B0609020204030204" pitchFamily="49" charset="0"/>
              </a:rPr>
              <a:t>x = 3         	</a:t>
            </a:r>
          </a:p>
          <a:p>
            <a:pPr marL="0" indent="0">
              <a:buNone/>
              <a:defRPr/>
            </a:pPr>
            <a:r>
              <a:rPr lang="zh-CN" altLang="en-US" noProof="1">
                <a:latin typeface="Consolas" panose="020B0609020204030204" pitchFamily="49" charset="0"/>
              </a:rPr>
              <a:t>&gt;&gt;&gt; x = 5</a:t>
            </a:r>
          </a:p>
          <a:p>
            <a:pPr marL="0" indent="0">
              <a:buNone/>
              <a:defRPr/>
            </a:pPr>
            <a:r>
              <a:rPr lang="zh-CN" altLang="en-US" noProof="1">
                <a:latin typeface="Consolas" panose="020B0609020204030204" pitchFamily="49" charset="0"/>
              </a:rPr>
              <a:t>&gt;&gt;&gt; x</a:t>
            </a:r>
          </a:p>
          <a:p>
            <a:pPr marL="0" indent="0">
              <a:buNone/>
              <a:defRPr/>
            </a:pPr>
            <a:r>
              <a:rPr lang="zh-CN" altLang="en-US" noProof="1">
                <a:solidFill>
                  <a:srgbClr val="0000FF"/>
                </a:solidFill>
                <a:latin typeface="Consolas" panose="020B0609020204030204" pitchFamily="49" charset="0"/>
              </a:rPr>
              <a:t>5</a:t>
            </a:r>
          </a:p>
          <a:p>
            <a:pPr marL="0" indent="0">
              <a:buNone/>
              <a:defRPr/>
            </a:pPr>
            <a:r>
              <a:rPr lang="zh-CN" altLang="en-US" noProof="1">
                <a:latin typeface="Consolas" panose="020B0609020204030204" pitchFamily="49" charset="0"/>
              </a:rPr>
              <a:t>&gt;&gt;&gt; demo()</a:t>
            </a:r>
          </a:p>
          <a:p>
            <a:pPr marL="0" indent="0">
              <a:buNone/>
              <a:defRPr/>
            </a:pPr>
            <a:r>
              <a:rPr lang="zh-CN" altLang="en-US" noProof="1">
                <a:latin typeface="Consolas" panose="020B0609020204030204" pitchFamily="49" charset="0"/>
              </a:rPr>
              <a:t>&gt;&gt;&gt; x             </a:t>
            </a:r>
            <a:endParaRPr lang="en-US" altLang="zh-CN" noProof="1">
              <a:latin typeface="Consolas" panose="020B0609020204030204" pitchFamily="49" charset="0"/>
            </a:endParaRPr>
          </a:p>
          <a:p>
            <a:pPr marL="0" indent="0">
              <a:buNone/>
              <a:defRPr/>
            </a:pPr>
            <a:r>
              <a:rPr lang="zh-CN" altLang="en-US" noProof="1">
                <a:solidFill>
                  <a:srgbClr val="0000FF"/>
                </a:solidFill>
                <a:latin typeface="Consolas" panose="020B0609020204030204" pitchFamily="49" charset="0"/>
              </a:rPr>
              <a:t>5</a:t>
            </a:r>
          </a:p>
        </p:txBody>
      </p:sp>
      <p:sp>
        <p:nvSpPr>
          <p:cNvPr id="11" name="矩形 10"/>
          <p:cNvSpPr/>
          <p:nvPr/>
        </p:nvSpPr>
        <p:spPr>
          <a:xfrm>
            <a:off x="4788024" y="3861048"/>
            <a:ext cx="3773790" cy="369332"/>
          </a:xfrm>
          <a:prstGeom prst="rect">
            <a:avLst/>
          </a:prstGeom>
        </p:spPr>
        <p:txBody>
          <a:bodyPr wrap="none">
            <a:spAutoFit/>
          </a:bodyPr>
          <a:lstStyle/>
          <a:p>
            <a:pPr marL="0" indent="0">
              <a:buNone/>
              <a:defRPr/>
            </a:pPr>
            <a:r>
              <a:rPr lang="en-US" altLang="zh-CN" noProof="1">
                <a:solidFill>
                  <a:srgbClr val="0000FF"/>
                </a:solidFill>
                <a:latin typeface="Consolas" panose="020B0609020204030204" pitchFamily="49" charset="0"/>
                <a:ea typeface="仿宋" panose="02010609060101010101" pitchFamily="49" charset="-122"/>
              </a:rPr>
              <a:t>#</a:t>
            </a:r>
            <a:r>
              <a:rPr lang="zh-CN" altLang="en-US" noProof="1">
                <a:solidFill>
                  <a:srgbClr val="0000FF"/>
                </a:solidFill>
                <a:latin typeface="Consolas" panose="020B0609020204030204" pitchFamily="49" charset="0"/>
                <a:ea typeface="仿宋" panose="02010609060101010101" pitchFamily="49" charset="-122"/>
              </a:rPr>
              <a:t>函数执行不影响外面全局变量的值</a:t>
            </a:r>
          </a:p>
        </p:txBody>
      </p:sp>
    </p:spTree>
    <p:extLst>
      <p:ext uri="{BB962C8B-B14F-4D97-AF65-F5344CB8AC3E}">
        <p14:creationId xmlns:p14="http://schemas.microsoft.com/office/powerpoint/2010/main" val="194319636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17487" y="1484651"/>
            <a:ext cx="8229600" cy="4678451"/>
          </a:xfrm>
        </p:spPr>
        <p:txBody>
          <a:bodyPr vert="horz" wrap="square" lIns="68591" tIns="34295" rIns="68591" bIns="34295" numCol="1" anchor="t" anchorCtr="0" compatLnSpc="1">
            <a:prstTxWarp prst="textNoShape">
              <a:avLst/>
            </a:prstTxWarp>
          </a:bodyPr>
          <a:lstStyle/>
          <a:p>
            <a:pPr>
              <a:buClr>
                <a:srgbClr val="FF0000"/>
              </a:buClr>
              <a:buFont typeface="Wingdings" panose="05000000000000000000" charset="0"/>
              <a:buChar char="n"/>
              <a:defRPr/>
            </a:pPr>
            <a:r>
              <a:rPr lang="zh-CN" altLang="en-US" sz="1800" noProof="1">
                <a:latin typeface="+mn-lt"/>
                <a:ea typeface="+mn-ea"/>
              </a:rPr>
              <a:t>如果需要在同一个程序的不同模块之间共享全局变量的话，可以编写一个专门的模块来实现这一目的。例如，假设在模块A.py中有如下变量定义：</a:t>
            </a:r>
          </a:p>
          <a:p>
            <a:pPr marL="0" indent="0">
              <a:buNone/>
              <a:defRPr/>
            </a:pPr>
            <a:r>
              <a:rPr lang="zh-CN" altLang="en-US" sz="1350" noProof="1">
                <a:latin typeface="Consolas" panose="020B0609020204030204" pitchFamily="49" charset="0"/>
                <a:ea typeface="+mn-ea"/>
              </a:rPr>
              <a:t>                       global_variable = 0</a:t>
            </a:r>
          </a:p>
          <a:p>
            <a:pPr marL="0" indent="0">
              <a:buNone/>
              <a:defRPr/>
            </a:pPr>
            <a:endParaRPr lang="zh-CN" altLang="en-US" sz="1350" noProof="1">
              <a:latin typeface="Consolas" panose="020B0609020204030204" pitchFamily="49" charset="0"/>
              <a:ea typeface="+mn-ea"/>
            </a:endParaRPr>
          </a:p>
          <a:p>
            <a:pPr>
              <a:buClr>
                <a:srgbClr val="FF0000"/>
              </a:buClr>
              <a:buFont typeface="Wingdings" panose="05000000000000000000" charset="0"/>
              <a:buChar char="n"/>
              <a:defRPr/>
            </a:pPr>
            <a:r>
              <a:rPr lang="zh-CN" altLang="en-US" sz="1800" noProof="1">
                <a:latin typeface="+mn-lt"/>
                <a:ea typeface="+mn-ea"/>
              </a:rPr>
              <a:t>而在模块B.py中包含以下用来设置全局变量的语句：</a:t>
            </a:r>
          </a:p>
          <a:p>
            <a:pPr marL="0" indent="0">
              <a:buNone/>
              <a:defRPr/>
            </a:pPr>
            <a:r>
              <a:rPr lang="zh-CN" altLang="en-US" sz="1350" noProof="1">
                <a:latin typeface="Consolas" panose="020B0609020204030204" pitchFamily="49" charset="0"/>
                <a:ea typeface="+mn-ea"/>
              </a:rPr>
              <a:t>                       import A</a:t>
            </a:r>
          </a:p>
          <a:p>
            <a:pPr marL="0" indent="0">
              <a:buNone/>
              <a:defRPr/>
            </a:pPr>
            <a:r>
              <a:rPr lang="zh-CN" altLang="en-US" sz="1350" noProof="1">
                <a:latin typeface="Consolas" panose="020B0609020204030204" pitchFamily="49" charset="0"/>
                <a:ea typeface="+mn-ea"/>
              </a:rPr>
              <a:t>                       A.global_variable = 1</a:t>
            </a:r>
          </a:p>
          <a:p>
            <a:pPr marL="0" indent="0">
              <a:buNone/>
              <a:defRPr/>
            </a:pPr>
            <a:endParaRPr lang="zh-CN" altLang="en-US" sz="1350" noProof="1">
              <a:latin typeface="Consolas" panose="020B0609020204030204" pitchFamily="49" charset="0"/>
              <a:ea typeface="+mn-ea"/>
            </a:endParaRPr>
          </a:p>
          <a:p>
            <a:pPr>
              <a:buClr>
                <a:srgbClr val="FF0000"/>
              </a:buClr>
              <a:buFont typeface="Wingdings" panose="05000000000000000000" charset="0"/>
              <a:buChar char="n"/>
              <a:defRPr/>
            </a:pPr>
            <a:r>
              <a:rPr lang="zh-CN" altLang="en-US" sz="1800" noProof="1">
                <a:latin typeface="+mn-lt"/>
                <a:ea typeface="+mn-ea"/>
              </a:rPr>
              <a:t>在模块C.py中有以下语句来访问全局变量的值：</a:t>
            </a:r>
          </a:p>
          <a:p>
            <a:pPr marL="0" indent="0">
              <a:buNone/>
              <a:defRPr/>
            </a:pPr>
            <a:r>
              <a:rPr lang="zh-CN" altLang="en-US" sz="1350" noProof="1">
                <a:latin typeface="Consolas" panose="020B0609020204030204" pitchFamily="49" charset="0"/>
                <a:ea typeface="+mn-ea"/>
              </a:rPr>
              <a:t>                       import A</a:t>
            </a:r>
          </a:p>
          <a:p>
            <a:pPr marL="0" indent="0">
              <a:buNone/>
              <a:defRPr/>
            </a:pPr>
            <a:r>
              <a:rPr lang="zh-CN" altLang="en-US" sz="1350" noProof="1">
                <a:latin typeface="Consolas" panose="020B0609020204030204" pitchFamily="49" charset="0"/>
                <a:ea typeface="+mn-ea"/>
              </a:rPr>
              <a:t>                       print(A.global_variable)</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35</a:t>
            </a:fld>
            <a:endParaRPr lang="zh-CN" altLang="en-US" dirty="0"/>
          </a:p>
        </p:txBody>
      </p:sp>
      <p:grpSp>
        <p:nvGrpSpPr>
          <p:cNvPr id="6" name="组合 109"/>
          <p:cNvGrpSpPr/>
          <p:nvPr/>
        </p:nvGrpSpPr>
        <p:grpSpPr>
          <a:xfrm>
            <a:off x="539552" y="118397"/>
            <a:ext cx="7200800" cy="655385"/>
            <a:chOff x="956926" y="4596123"/>
            <a:chExt cx="7200800" cy="655385"/>
          </a:xfrm>
        </p:grpSpPr>
        <p:sp>
          <p:nvSpPr>
            <p:cNvPr id="7"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24495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5.4 </a:t>
              </a:r>
              <a:r>
                <a:rPr lang="zh-CN" altLang="en-US" sz="3600" b="1" dirty="0">
                  <a:latin typeface="Times New Roman" pitchFamily="18" charset="0"/>
                  <a:ea typeface="黑体" pitchFamily="49" charset="-122"/>
                </a:rPr>
                <a:t> </a:t>
              </a:r>
              <a:r>
                <a:rPr lang="en-US" altLang="zh-CN" sz="3600" b="1" dirty="0">
                  <a:latin typeface="Times New Roman" pitchFamily="18" charset="0"/>
                  <a:ea typeface="黑体" pitchFamily="49" charset="-122"/>
                </a:rPr>
                <a:t>return</a:t>
              </a:r>
              <a:r>
                <a:rPr lang="zh-CN" altLang="en-US" sz="3600" b="1" dirty="0">
                  <a:latin typeface="Times New Roman" pitchFamily="18" charset="0"/>
                  <a:ea typeface="黑体" pitchFamily="49" charset="-122"/>
                </a:rPr>
                <a:t>语句与变量作用域 </a:t>
              </a:r>
            </a:p>
          </p:txBody>
        </p:sp>
      </p:grpSp>
      <p:sp>
        <p:nvSpPr>
          <p:cNvPr id="10" name="矩形 9"/>
          <p:cNvSpPr/>
          <p:nvPr/>
        </p:nvSpPr>
        <p:spPr>
          <a:xfrm>
            <a:off x="323528" y="961431"/>
            <a:ext cx="2375971" cy="523220"/>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800" b="1" dirty="0">
                <a:ea typeface="仿宋" panose="02010609060101010101" pitchFamily="49" charset="-122"/>
              </a:rPr>
              <a:t>变量作用域 </a:t>
            </a:r>
          </a:p>
        </p:txBody>
      </p:sp>
      <p:sp>
        <p:nvSpPr>
          <p:cNvPr id="11" name="Content Placeholder 2"/>
          <p:cNvSpPr txBox="1">
            <a:spLocks/>
          </p:cNvSpPr>
          <p:nvPr/>
        </p:nvSpPr>
        <p:spPr bwMode="auto">
          <a:xfrm>
            <a:off x="695808" y="4725144"/>
            <a:ext cx="8229600" cy="1294075"/>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spcBef>
                <a:spcPct val="0"/>
              </a:spcBef>
              <a:buClr>
                <a:srgbClr val="FF0000"/>
              </a:buClr>
              <a:buFont typeface="Wingdings" panose="05000000000000000000" pitchFamily="2" charset="2"/>
              <a:buChar char="n"/>
            </a:pPr>
            <a:r>
              <a:rPr lang="en-US" altLang="en-US" sz="1800" dirty="0"/>
              <a:t>除了局部变量和全局变量，Python还支持使用nonlocal关键字定义一种介于二者之间的变量。</a:t>
            </a:r>
            <a:r>
              <a:rPr lang="en-US" altLang="en-US" sz="1800" dirty="0">
                <a:solidFill>
                  <a:srgbClr val="FF0000"/>
                </a:solidFill>
              </a:rPr>
              <a:t>关键字nonlocal声明的变量会引用距离最近的非全局作用域的变量</a:t>
            </a:r>
            <a:r>
              <a:rPr lang="en-US" altLang="en-US" sz="1800" dirty="0"/>
              <a:t>，</a:t>
            </a:r>
            <a:r>
              <a:rPr lang="en-US" altLang="en-US" sz="1800" dirty="0">
                <a:solidFill>
                  <a:srgbClr val="FF0000"/>
                </a:solidFill>
              </a:rPr>
              <a:t>要求声明的变量已经存在</a:t>
            </a:r>
            <a:r>
              <a:rPr lang="en-US" altLang="en-US" sz="1800" dirty="0"/>
              <a:t>，关键字</a:t>
            </a:r>
            <a:r>
              <a:rPr lang="en-US" altLang="en-US" sz="1800" dirty="0">
                <a:solidFill>
                  <a:srgbClr val="FF0000"/>
                </a:solidFill>
              </a:rPr>
              <a:t>nonlocal不会创建新变量</a:t>
            </a:r>
            <a:r>
              <a:rPr lang="en-US" altLang="en-US" sz="1800" dirty="0"/>
              <a:t>。</a:t>
            </a:r>
          </a:p>
        </p:txBody>
      </p:sp>
    </p:spTree>
    <p:extLst>
      <p:ext uri="{BB962C8B-B14F-4D97-AF65-F5344CB8AC3E}">
        <p14:creationId xmlns:p14="http://schemas.microsoft.com/office/powerpoint/2010/main" val="218990455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Content Placeholder 2"/>
          <p:cNvSpPr>
            <a:spLocks noGrp="1"/>
          </p:cNvSpPr>
          <p:nvPr>
            <p:ph idx="1"/>
          </p:nvPr>
        </p:nvSpPr>
        <p:spPr>
          <a:xfrm>
            <a:off x="1763688" y="1483402"/>
            <a:ext cx="7325995" cy="3394075"/>
          </a:xfrm>
        </p:spPr>
        <p:txBody>
          <a:bodyPr vert="horz" wrap="square" lIns="68591" tIns="34295" rIns="68591" bIns="34295" numCol="1" anchor="t" anchorCtr="0" compatLnSpc="1">
            <a:prstTxWarp prst="textNoShape">
              <a:avLst/>
            </a:prstTxWarp>
          </a:bodyPr>
          <a:lstStyle/>
          <a:p>
            <a:pPr marL="0" indent="0">
              <a:spcBef>
                <a:spcPts val="0"/>
              </a:spcBef>
              <a:buNone/>
            </a:pPr>
            <a:r>
              <a:rPr lang="en-US" altLang="en-US" sz="1400" dirty="0">
                <a:solidFill>
                  <a:srgbClr val="0000FF"/>
                </a:solidFill>
                <a:latin typeface="Consolas" panose="020B0609020204030204" pitchFamily="49" charset="0"/>
              </a:rPr>
              <a:t>def</a:t>
            </a:r>
            <a:r>
              <a:rPr lang="en-US" altLang="en-US" sz="1400" dirty="0">
                <a:latin typeface="Consolas" panose="020B0609020204030204" pitchFamily="49" charset="0"/>
              </a:rPr>
              <a:t> scope_test():</a:t>
            </a:r>
          </a:p>
          <a:p>
            <a:pPr marL="0" indent="0">
              <a:spcBef>
                <a:spcPts val="0"/>
              </a:spcBef>
              <a:buNone/>
            </a:pPr>
            <a:r>
              <a:rPr lang="en-US" altLang="en-US" sz="1400" dirty="0">
                <a:latin typeface="Consolas" panose="020B0609020204030204" pitchFamily="49" charset="0"/>
              </a:rPr>
              <a:t>    </a:t>
            </a:r>
            <a:r>
              <a:rPr lang="en-US" altLang="en-US" sz="1400" dirty="0">
                <a:solidFill>
                  <a:srgbClr val="0000FF"/>
                </a:solidFill>
                <a:latin typeface="Consolas" panose="020B0609020204030204" pitchFamily="49" charset="0"/>
              </a:rPr>
              <a:t>def</a:t>
            </a:r>
            <a:r>
              <a:rPr lang="en-US" altLang="en-US" sz="1400" dirty="0">
                <a:latin typeface="Consolas" panose="020B0609020204030204" pitchFamily="49" charset="0"/>
              </a:rPr>
              <a:t> do_local():</a:t>
            </a:r>
          </a:p>
          <a:p>
            <a:pPr marL="0" indent="0">
              <a:spcBef>
                <a:spcPts val="0"/>
              </a:spcBef>
              <a:buNone/>
            </a:pPr>
            <a:r>
              <a:rPr lang="en-US" altLang="en-US" sz="1400" dirty="0">
                <a:latin typeface="Consolas" panose="020B0609020204030204" pitchFamily="49" charset="0"/>
              </a:rPr>
              <a:t>        spam = "我是局部变量"</a:t>
            </a:r>
          </a:p>
          <a:p>
            <a:pPr marL="0" indent="0">
              <a:spcBef>
                <a:spcPts val="0"/>
              </a:spcBef>
              <a:buNone/>
            </a:pPr>
            <a:endParaRPr lang="en-US" altLang="en-US" sz="1400" dirty="0">
              <a:latin typeface="Consolas" panose="020B0609020204030204" pitchFamily="49" charset="0"/>
            </a:endParaRPr>
          </a:p>
          <a:p>
            <a:pPr marL="0" indent="0">
              <a:spcBef>
                <a:spcPts val="0"/>
              </a:spcBef>
              <a:buNone/>
            </a:pPr>
            <a:r>
              <a:rPr lang="en-US" altLang="en-US" sz="1400" dirty="0">
                <a:latin typeface="Consolas" panose="020B0609020204030204" pitchFamily="49" charset="0"/>
              </a:rPr>
              <a:t>    </a:t>
            </a:r>
            <a:r>
              <a:rPr lang="en-US" altLang="en-US" sz="1400" dirty="0">
                <a:solidFill>
                  <a:srgbClr val="0000FF"/>
                </a:solidFill>
                <a:latin typeface="Consolas" panose="020B0609020204030204" pitchFamily="49" charset="0"/>
              </a:rPr>
              <a:t>def</a:t>
            </a:r>
            <a:r>
              <a:rPr lang="en-US" altLang="en-US" sz="1400" dirty="0">
                <a:latin typeface="Consolas" panose="020B0609020204030204" pitchFamily="49" charset="0"/>
              </a:rPr>
              <a:t> do_nonlocal():</a:t>
            </a:r>
          </a:p>
          <a:p>
            <a:pPr marL="0" indent="0">
              <a:spcBef>
                <a:spcPts val="0"/>
              </a:spcBef>
              <a:buNone/>
            </a:pPr>
            <a:r>
              <a:rPr lang="en-US" altLang="en-US" sz="1400" dirty="0">
                <a:latin typeface="Consolas" panose="020B0609020204030204" pitchFamily="49" charset="0"/>
              </a:rPr>
              <a:t>        </a:t>
            </a:r>
            <a:r>
              <a:rPr lang="en-US" altLang="en-US" sz="1400" dirty="0">
                <a:solidFill>
                  <a:schemeClr val="accent6">
                    <a:lumMod val="75000"/>
                  </a:schemeClr>
                </a:solidFill>
                <a:latin typeface="Consolas" panose="020B0609020204030204" pitchFamily="49" charset="0"/>
              </a:rPr>
              <a:t>nonlocal</a:t>
            </a:r>
            <a:r>
              <a:rPr lang="en-US" altLang="en-US" sz="1400" dirty="0">
                <a:latin typeface="Consolas" panose="020B0609020204030204" pitchFamily="49" charset="0"/>
              </a:rPr>
              <a:t> spam           </a:t>
            </a:r>
            <a:r>
              <a:rPr lang="en-US" altLang="en-US" sz="1400" dirty="0">
                <a:solidFill>
                  <a:srgbClr val="0000FF"/>
                </a:solidFill>
                <a:latin typeface="Consolas" panose="020B0609020204030204" pitchFamily="49" charset="0"/>
              </a:rPr>
              <a:t>#这时要求spam必须是已存在的变量</a:t>
            </a:r>
          </a:p>
          <a:p>
            <a:pPr marL="0" indent="0">
              <a:spcBef>
                <a:spcPts val="0"/>
              </a:spcBef>
              <a:buNone/>
            </a:pPr>
            <a:r>
              <a:rPr lang="en-US" altLang="en-US" sz="1400" dirty="0">
                <a:latin typeface="Consolas" panose="020B0609020204030204" pitchFamily="49" charset="0"/>
              </a:rPr>
              <a:t>        spam = "我不是局部变量，也不是全局变量"</a:t>
            </a:r>
          </a:p>
          <a:p>
            <a:pPr marL="0" indent="0">
              <a:spcBef>
                <a:spcPts val="0"/>
              </a:spcBef>
              <a:buNone/>
            </a:pPr>
            <a:endParaRPr lang="en-US" altLang="en-US" sz="1400" dirty="0">
              <a:latin typeface="Consolas" panose="020B0609020204030204" pitchFamily="49" charset="0"/>
            </a:endParaRPr>
          </a:p>
          <a:p>
            <a:pPr marL="0" indent="0">
              <a:spcBef>
                <a:spcPts val="0"/>
              </a:spcBef>
              <a:buNone/>
            </a:pPr>
            <a:r>
              <a:rPr lang="en-US" altLang="en-US" sz="1400" dirty="0">
                <a:latin typeface="Consolas" panose="020B0609020204030204" pitchFamily="49" charset="0"/>
              </a:rPr>
              <a:t>    </a:t>
            </a:r>
            <a:r>
              <a:rPr lang="en-US" altLang="en-US" sz="1400" dirty="0">
                <a:solidFill>
                  <a:srgbClr val="0000FF"/>
                </a:solidFill>
                <a:latin typeface="Consolas" panose="020B0609020204030204" pitchFamily="49" charset="0"/>
              </a:rPr>
              <a:t>def</a:t>
            </a:r>
            <a:r>
              <a:rPr lang="en-US" altLang="en-US" sz="1400" dirty="0">
                <a:latin typeface="Consolas" panose="020B0609020204030204" pitchFamily="49" charset="0"/>
              </a:rPr>
              <a:t> do_global():</a:t>
            </a:r>
          </a:p>
          <a:p>
            <a:pPr marL="0" indent="0">
              <a:spcBef>
                <a:spcPts val="0"/>
              </a:spcBef>
              <a:buNone/>
            </a:pPr>
            <a:r>
              <a:rPr lang="en-US" altLang="en-US" sz="1400" dirty="0">
                <a:latin typeface="Consolas" panose="020B0609020204030204" pitchFamily="49" charset="0"/>
              </a:rPr>
              <a:t>        </a:t>
            </a:r>
            <a:r>
              <a:rPr lang="en-US" altLang="en-US" sz="1400" dirty="0">
                <a:solidFill>
                  <a:schemeClr val="accent6">
                    <a:lumMod val="75000"/>
                  </a:schemeClr>
                </a:solidFill>
                <a:latin typeface="Consolas" panose="020B0609020204030204" pitchFamily="49" charset="0"/>
              </a:rPr>
              <a:t>global</a:t>
            </a:r>
            <a:r>
              <a:rPr lang="en-US" altLang="en-US" sz="1400" dirty="0">
                <a:latin typeface="Consolas" panose="020B0609020204030204" pitchFamily="49" charset="0"/>
              </a:rPr>
              <a:t> spam             </a:t>
            </a:r>
            <a:r>
              <a:rPr lang="en-US" altLang="en-US" sz="1400" dirty="0">
                <a:solidFill>
                  <a:srgbClr val="0000FF"/>
                </a:solidFill>
                <a:latin typeface="Consolas" panose="020B0609020204030204" pitchFamily="49" charset="0"/>
              </a:rPr>
              <a:t>#如果全局作用域内没有spam，就自动新建一个</a:t>
            </a:r>
          </a:p>
          <a:p>
            <a:pPr marL="0" indent="0">
              <a:spcBef>
                <a:spcPts val="0"/>
              </a:spcBef>
              <a:buNone/>
            </a:pPr>
            <a:r>
              <a:rPr lang="en-US" altLang="en-US" sz="1400" dirty="0">
                <a:latin typeface="Consolas" panose="020B0609020204030204" pitchFamily="49" charset="0"/>
              </a:rPr>
              <a:t>        spam = "我是全局变量"</a:t>
            </a:r>
          </a:p>
          <a:p>
            <a:pPr marL="0" indent="0">
              <a:spcBef>
                <a:spcPts val="0"/>
              </a:spcBef>
              <a:buNone/>
            </a:pPr>
            <a:endParaRPr lang="en-US" altLang="en-US" sz="1400" dirty="0">
              <a:latin typeface="Consolas" panose="020B0609020204030204" pitchFamily="49" charset="0"/>
            </a:endParaRPr>
          </a:p>
          <a:p>
            <a:pPr marL="0" indent="0">
              <a:spcBef>
                <a:spcPts val="0"/>
              </a:spcBef>
              <a:buNone/>
            </a:pPr>
            <a:r>
              <a:rPr lang="en-US" altLang="en-US" sz="1400" dirty="0">
                <a:latin typeface="Consolas" panose="020B0609020204030204" pitchFamily="49" charset="0"/>
              </a:rPr>
              <a:t>    spam = "原来的值"</a:t>
            </a:r>
          </a:p>
          <a:p>
            <a:pPr marL="0" indent="0">
              <a:spcBef>
                <a:spcPts val="0"/>
              </a:spcBef>
              <a:buNone/>
            </a:pPr>
            <a:r>
              <a:rPr lang="en-US" altLang="en-US" sz="1400" dirty="0">
                <a:latin typeface="Consolas" panose="020B0609020204030204" pitchFamily="49" charset="0"/>
              </a:rPr>
              <a:t>    do_local()</a:t>
            </a:r>
          </a:p>
          <a:p>
            <a:pPr marL="0" indent="0">
              <a:spcBef>
                <a:spcPts val="0"/>
              </a:spcBef>
              <a:buNone/>
            </a:pPr>
            <a:r>
              <a:rPr lang="en-US" altLang="en-US" sz="1400" dirty="0">
                <a:latin typeface="Consolas" panose="020B0609020204030204" pitchFamily="49" charset="0"/>
              </a:rPr>
              <a:t>    </a:t>
            </a:r>
            <a:r>
              <a:rPr lang="en-US" altLang="en-US" sz="1400" dirty="0">
                <a:solidFill>
                  <a:srgbClr val="0000FF"/>
                </a:solidFill>
                <a:latin typeface="Consolas" panose="020B0609020204030204" pitchFamily="49" charset="0"/>
              </a:rPr>
              <a:t>print</a:t>
            </a:r>
            <a:r>
              <a:rPr lang="en-US" altLang="en-US" sz="1400" dirty="0">
                <a:latin typeface="Consolas" panose="020B0609020204030204" pitchFamily="49" charset="0"/>
              </a:rPr>
              <a:t>("局部变量赋值后：", spam)</a:t>
            </a:r>
          </a:p>
          <a:p>
            <a:pPr marL="0" indent="0">
              <a:spcBef>
                <a:spcPts val="0"/>
              </a:spcBef>
              <a:buNone/>
            </a:pPr>
            <a:r>
              <a:rPr lang="en-US" altLang="en-US" sz="1400" dirty="0">
                <a:latin typeface="Consolas" panose="020B0609020204030204" pitchFamily="49" charset="0"/>
              </a:rPr>
              <a:t>    do_nonlocal()</a:t>
            </a:r>
          </a:p>
          <a:p>
            <a:pPr marL="0" indent="0">
              <a:spcBef>
                <a:spcPts val="0"/>
              </a:spcBef>
              <a:buNone/>
            </a:pPr>
            <a:r>
              <a:rPr lang="en-US" altLang="en-US" sz="1400" dirty="0">
                <a:latin typeface="Consolas" panose="020B0609020204030204" pitchFamily="49" charset="0"/>
              </a:rPr>
              <a:t>    </a:t>
            </a:r>
            <a:r>
              <a:rPr lang="en-US" altLang="en-US" sz="1400" dirty="0">
                <a:solidFill>
                  <a:srgbClr val="0000FF"/>
                </a:solidFill>
                <a:latin typeface="Consolas" panose="020B0609020204030204" pitchFamily="49" charset="0"/>
              </a:rPr>
              <a:t>print</a:t>
            </a:r>
            <a:r>
              <a:rPr lang="en-US" altLang="en-US" sz="1400" dirty="0">
                <a:latin typeface="Consolas" panose="020B0609020204030204" pitchFamily="49" charset="0"/>
              </a:rPr>
              <a:t>("nonlocal变量赋值后：", spam)</a:t>
            </a:r>
          </a:p>
          <a:p>
            <a:pPr marL="0" indent="0">
              <a:spcBef>
                <a:spcPts val="0"/>
              </a:spcBef>
              <a:buNone/>
            </a:pPr>
            <a:r>
              <a:rPr lang="en-US" altLang="en-US" sz="1400" dirty="0">
                <a:latin typeface="Consolas" panose="020B0609020204030204" pitchFamily="49" charset="0"/>
              </a:rPr>
              <a:t>    do_global()</a:t>
            </a:r>
          </a:p>
          <a:p>
            <a:pPr marL="0" indent="0">
              <a:spcBef>
                <a:spcPts val="0"/>
              </a:spcBef>
              <a:buNone/>
            </a:pPr>
            <a:r>
              <a:rPr lang="en-US" altLang="en-US" sz="1400" dirty="0">
                <a:latin typeface="Consolas" panose="020B0609020204030204" pitchFamily="49" charset="0"/>
              </a:rPr>
              <a:t>    </a:t>
            </a:r>
            <a:r>
              <a:rPr lang="en-US" altLang="en-US" sz="1400" dirty="0">
                <a:solidFill>
                  <a:srgbClr val="0000FF"/>
                </a:solidFill>
                <a:latin typeface="Consolas" panose="020B0609020204030204" pitchFamily="49" charset="0"/>
              </a:rPr>
              <a:t>print</a:t>
            </a:r>
            <a:r>
              <a:rPr lang="en-US" altLang="en-US" sz="1400" dirty="0">
                <a:latin typeface="Consolas" panose="020B0609020204030204" pitchFamily="49" charset="0"/>
              </a:rPr>
              <a:t>("全局变量赋值后：", spam)</a:t>
            </a:r>
          </a:p>
          <a:p>
            <a:pPr marL="0" indent="0">
              <a:spcBef>
                <a:spcPts val="0"/>
              </a:spcBef>
              <a:buNone/>
            </a:pPr>
            <a:endParaRPr lang="en-US" altLang="en-US" sz="1400" dirty="0">
              <a:latin typeface="Consolas" panose="020B0609020204030204" pitchFamily="49" charset="0"/>
            </a:endParaRPr>
          </a:p>
          <a:p>
            <a:pPr marL="0" indent="0">
              <a:spcBef>
                <a:spcPts val="0"/>
              </a:spcBef>
              <a:buNone/>
            </a:pPr>
            <a:r>
              <a:rPr lang="en-US" altLang="en-US" sz="1400" dirty="0">
                <a:latin typeface="Consolas" panose="020B0609020204030204" pitchFamily="49" charset="0"/>
              </a:rPr>
              <a:t>scope_test()</a:t>
            </a:r>
          </a:p>
          <a:p>
            <a:pPr marL="0" indent="0">
              <a:spcBef>
                <a:spcPts val="0"/>
              </a:spcBef>
              <a:buNone/>
            </a:pPr>
            <a:r>
              <a:rPr lang="en-US" altLang="en-US" sz="1400" dirty="0">
                <a:solidFill>
                  <a:srgbClr val="0000FF"/>
                </a:solidFill>
                <a:latin typeface="Consolas" panose="020B0609020204030204" pitchFamily="49" charset="0"/>
              </a:rPr>
              <a:t>print</a:t>
            </a:r>
            <a:r>
              <a:rPr lang="en-US" altLang="en-US" sz="1400" dirty="0">
                <a:latin typeface="Consolas" panose="020B0609020204030204" pitchFamily="49" charset="0"/>
              </a:rPr>
              <a:t>("全局变量：", spam)</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36</a:t>
            </a:fld>
            <a:endParaRPr lang="zh-CN" altLang="en-US" dirty="0"/>
          </a:p>
        </p:txBody>
      </p:sp>
      <p:grpSp>
        <p:nvGrpSpPr>
          <p:cNvPr id="6" name="组合 109"/>
          <p:cNvGrpSpPr/>
          <p:nvPr/>
        </p:nvGrpSpPr>
        <p:grpSpPr>
          <a:xfrm>
            <a:off x="539552" y="118397"/>
            <a:ext cx="7200800" cy="655385"/>
            <a:chOff x="956926" y="4596123"/>
            <a:chExt cx="7200800" cy="655385"/>
          </a:xfrm>
        </p:grpSpPr>
        <p:sp>
          <p:nvSpPr>
            <p:cNvPr id="7"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24495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5.4 </a:t>
              </a:r>
              <a:r>
                <a:rPr lang="zh-CN" altLang="en-US" sz="3600" b="1" dirty="0">
                  <a:latin typeface="Times New Roman" pitchFamily="18" charset="0"/>
                  <a:ea typeface="黑体" pitchFamily="49" charset="-122"/>
                </a:rPr>
                <a:t> </a:t>
              </a:r>
              <a:r>
                <a:rPr lang="en-US" altLang="zh-CN" sz="3600" b="1" dirty="0">
                  <a:latin typeface="Times New Roman" pitchFamily="18" charset="0"/>
                  <a:ea typeface="黑体" pitchFamily="49" charset="-122"/>
                </a:rPr>
                <a:t>return</a:t>
              </a:r>
              <a:r>
                <a:rPr lang="zh-CN" altLang="en-US" sz="3600" b="1" dirty="0">
                  <a:latin typeface="Times New Roman" pitchFamily="18" charset="0"/>
                  <a:ea typeface="黑体" pitchFamily="49" charset="-122"/>
                </a:rPr>
                <a:t>语句与变量作用域 </a:t>
              </a:r>
            </a:p>
          </p:txBody>
        </p:sp>
      </p:grpSp>
      <p:sp>
        <p:nvSpPr>
          <p:cNvPr id="10" name="矩形 9"/>
          <p:cNvSpPr/>
          <p:nvPr/>
        </p:nvSpPr>
        <p:spPr>
          <a:xfrm>
            <a:off x="323528" y="961431"/>
            <a:ext cx="2375971" cy="523220"/>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800" b="1" dirty="0">
                <a:ea typeface="仿宋" panose="02010609060101010101" pitchFamily="49" charset="-122"/>
              </a:rPr>
              <a:t>变量作用域 </a:t>
            </a:r>
          </a:p>
        </p:txBody>
      </p:sp>
    </p:spTree>
    <p:extLst>
      <p:ext uri="{BB962C8B-B14F-4D97-AF65-F5344CB8AC3E}">
        <p14:creationId xmlns:p14="http://schemas.microsoft.com/office/powerpoint/2010/main" val="1633967908"/>
      </p:ext>
    </p:extLst>
  </p:cSld>
  <p:clrMapOvr>
    <a:masterClrMapping/>
  </p:clrMapOvr>
  <p:transition spd="slow" advClick="0">
    <p:pull di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9427" y="1379525"/>
            <a:ext cx="8224181" cy="3395980"/>
          </a:xfrm>
        </p:spPr>
        <p:txBody>
          <a:bodyPr vert="horz" wrap="square" lIns="68591" tIns="34295" rIns="68591" bIns="34295" numCol="1" anchor="t" anchorCtr="0" compatLnSpc="1">
            <a:prstTxWarp prst="textNoShape">
              <a:avLst/>
            </a:prstTxWarp>
          </a:bodyPr>
          <a:lstStyle/>
          <a:p>
            <a:pPr indent="-306705">
              <a:spcBef>
                <a:spcPts val="0"/>
              </a:spcBef>
              <a:buClr>
                <a:srgbClr val="FF0000"/>
              </a:buClr>
              <a:buFont typeface="Wingdings" panose="05000000000000000000" pitchFamily="2" charset="2"/>
              <a:buChar char="n"/>
              <a:defRPr/>
            </a:pPr>
            <a:r>
              <a:rPr lang="zh-CN" altLang="en-US" sz="1600" noProof="1">
                <a:latin typeface="+mn-lt"/>
                <a:ea typeface="+mn-ea"/>
              </a:rPr>
              <a:t>变量访问时的</a:t>
            </a:r>
            <a:r>
              <a:rPr lang="en-US" altLang="zh-CN" sz="1600" noProof="1">
                <a:latin typeface="+mn-lt"/>
                <a:ea typeface="+mn-ea"/>
              </a:rPr>
              <a:t>LEGB</a:t>
            </a:r>
            <a:r>
              <a:rPr lang="zh-CN" altLang="en-US" sz="1600" noProof="1">
                <a:latin typeface="+mn-lt"/>
                <a:ea typeface="+mn-ea"/>
              </a:rPr>
              <a:t>顺序：</a:t>
            </a:r>
            <a:r>
              <a:rPr lang="zh-CN" altLang="en-US" sz="1600" noProof="1">
                <a:solidFill>
                  <a:srgbClr val="FF0000"/>
                </a:solidFill>
                <a:latin typeface="+mn-lt"/>
                <a:ea typeface="+mn-ea"/>
              </a:rPr>
              <a:t>Local ==&gt; Enclosing ==&gt; Global ==&gt; Builtin</a:t>
            </a:r>
            <a:endParaRPr lang="en-US" altLang="zh-CN" sz="1600" noProof="1">
              <a:solidFill>
                <a:srgbClr val="FF0000"/>
              </a:solidFill>
              <a:latin typeface="+mn-lt"/>
              <a:ea typeface="+mn-ea"/>
            </a:endParaRPr>
          </a:p>
          <a:p>
            <a:pPr indent="-306705">
              <a:spcBef>
                <a:spcPts val="0"/>
              </a:spcBef>
              <a:buClr>
                <a:srgbClr val="FF0000"/>
              </a:buClr>
              <a:buFont typeface="Arial" panose="020B0604020202020204" pitchFamily="34" charset="0"/>
              <a:buChar char="•"/>
              <a:defRPr/>
            </a:pPr>
            <a:r>
              <a:rPr lang="zh-CN" altLang="en-US" sz="1600" b="1" dirty="0"/>
              <a:t>函数内部</a:t>
            </a:r>
            <a:r>
              <a:rPr lang="zh-CN" altLang="en-US" sz="1600" b="1" noProof="1"/>
              <a:t>==&gt;函数内部与嵌入函数之间 ==&gt;</a:t>
            </a:r>
            <a:r>
              <a:rPr lang="zh-CN" altLang="en-US" sz="1600" b="1" dirty="0"/>
              <a:t>全局</a:t>
            </a:r>
            <a:r>
              <a:rPr lang="zh-CN" altLang="en-US" sz="1600" b="1" noProof="1"/>
              <a:t>==&gt;</a:t>
            </a:r>
            <a:r>
              <a:rPr lang="zh-CN" altLang="en-US" sz="1600" b="1" dirty="0"/>
              <a:t>内置作用域</a:t>
            </a:r>
            <a:endParaRPr lang="zh-CN" altLang="en-US" sz="1600" b="1" noProof="1">
              <a:latin typeface="+mn-lt"/>
              <a:ea typeface="+mn-ea"/>
            </a:endParaRPr>
          </a:p>
          <a:p>
            <a:pPr marL="0" indent="0">
              <a:spcBef>
                <a:spcPts val="0"/>
              </a:spcBef>
              <a:buNone/>
              <a:defRPr/>
            </a:pPr>
            <a:endParaRPr lang="en-US" altLang="zh-CN" sz="1100" noProof="1">
              <a:latin typeface="Consolas" panose="020B0609020204030204" pitchFamily="49" charset="0"/>
              <a:ea typeface="+mn-ea"/>
            </a:endParaRPr>
          </a:p>
          <a:p>
            <a:pPr marL="0" indent="0">
              <a:spcBef>
                <a:spcPts val="0"/>
              </a:spcBef>
              <a:buNone/>
              <a:defRPr/>
            </a:pPr>
            <a:r>
              <a:rPr lang="zh-CN" altLang="en-US" sz="1100" b="1" noProof="1" smtClean="0">
                <a:latin typeface="Consolas" panose="020B0609020204030204" pitchFamily="49" charset="0"/>
                <a:ea typeface="+mn-ea"/>
              </a:rPr>
              <a:t> </a:t>
            </a:r>
            <a:r>
              <a:rPr lang="zh-CN" altLang="en-US" sz="1100" b="1" noProof="1" smtClean="0">
                <a:latin typeface="Consolas" panose="020B0609020204030204" pitchFamily="49" charset="0"/>
                <a:ea typeface="+mn-ea"/>
              </a:rPr>
              <a:t>x </a:t>
            </a:r>
            <a:r>
              <a:rPr lang="zh-CN" altLang="en-US" sz="1100" b="1" noProof="1">
                <a:latin typeface="Consolas" panose="020B0609020204030204" pitchFamily="49" charset="0"/>
                <a:ea typeface="+mn-ea"/>
              </a:rPr>
              <a:t>= 3</a:t>
            </a:r>
          </a:p>
          <a:p>
            <a:pPr marL="0" indent="0">
              <a:spcBef>
                <a:spcPts val="0"/>
              </a:spcBef>
              <a:buNone/>
              <a:defRPr/>
            </a:pPr>
            <a:r>
              <a:rPr lang="zh-CN" altLang="en-US" sz="1100" b="1" noProof="1" smtClean="0">
                <a:solidFill>
                  <a:srgbClr val="0000FF"/>
                </a:solidFill>
                <a:latin typeface="Consolas" panose="020B0609020204030204" pitchFamily="49" charset="0"/>
                <a:ea typeface="+mn-ea"/>
              </a:rPr>
              <a:t> </a:t>
            </a:r>
            <a:r>
              <a:rPr lang="zh-CN" altLang="en-US" sz="1100" b="1" noProof="1" smtClean="0">
                <a:solidFill>
                  <a:srgbClr val="0000FF"/>
                </a:solidFill>
                <a:latin typeface="Consolas" panose="020B0609020204030204" pitchFamily="49" charset="0"/>
                <a:ea typeface="+mn-ea"/>
              </a:rPr>
              <a:t>def</a:t>
            </a:r>
            <a:r>
              <a:rPr lang="zh-CN" altLang="en-US" sz="1100" b="1" noProof="1" smtClean="0">
                <a:latin typeface="Consolas" panose="020B0609020204030204" pitchFamily="49" charset="0"/>
                <a:ea typeface="+mn-ea"/>
              </a:rPr>
              <a:t> </a:t>
            </a:r>
            <a:r>
              <a:rPr lang="zh-CN" altLang="en-US" sz="1100" b="1" noProof="1">
                <a:latin typeface="Consolas" panose="020B0609020204030204" pitchFamily="49" charset="0"/>
                <a:ea typeface="+mn-ea"/>
              </a:rPr>
              <a:t>outer():</a:t>
            </a:r>
          </a:p>
          <a:p>
            <a:pPr marL="0" indent="0">
              <a:spcBef>
                <a:spcPts val="0"/>
              </a:spcBef>
              <a:buNone/>
              <a:defRPr/>
            </a:pPr>
            <a:r>
              <a:rPr lang="zh-CN" altLang="en-US" sz="1100" b="1" noProof="1">
                <a:latin typeface="Consolas" panose="020B0609020204030204" pitchFamily="49" charset="0"/>
                <a:ea typeface="+mn-ea"/>
              </a:rPr>
              <a:t>   </a:t>
            </a:r>
            <a:r>
              <a:rPr lang="zh-CN" altLang="en-US" sz="1100" b="1" noProof="1" smtClean="0">
                <a:latin typeface="Consolas" panose="020B0609020204030204" pitchFamily="49" charset="0"/>
                <a:ea typeface="+mn-ea"/>
              </a:rPr>
              <a:t> </a:t>
            </a:r>
            <a:r>
              <a:rPr lang="zh-CN" altLang="en-US" sz="1100" b="1" noProof="1" smtClean="0">
                <a:latin typeface="Consolas" panose="020B0609020204030204" pitchFamily="49" charset="0"/>
                <a:ea typeface="+mn-ea"/>
              </a:rPr>
              <a:t> </a:t>
            </a:r>
            <a:r>
              <a:rPr lang="zh-CN" altLang="en-US" sz="1100" b="1" noProof="1">
                <a:latin typeface="Consolas" panose="020B0609020204030204" pitchFamily="49" charset="0"/>
                <a:ea typeface="+mn-ea"/>
              </a:rPr>
              <a:t>y = 5</a:t>
            </a:r>
          </a:p>
          <a:p>
            <a:pPr marL="0" indent="0">
              <a:spcBef>
                <a:spcPts val="0"/>
              </a:spcBef>
              <a:buNone/>
              <a:defRPr/>
            </a:pPr>
            <a:endParaRPr lang="zh-CN" altLang="en-US" sz="1100" b="1" noProof="1">
              <a:latin typeface="Consolas" panose="020B0609020204030204" pitchFamily="49" charset="0"/>
              <a:ea typeface="+mn-ea"/>
            </a:endParaRPr>
          </a:p>
          <a:p>
            <a:pPr marL="400050" lvl="1" indent="0">
              <a:spcBef>
                <a:spcPts val="0"/>
              </a:spcBef>
              <a:buNone/>
              <a:defRPr/>
            </a:pPr>
            <a:r>
              <a:rPr lang="zh-CN" altLang="en-US" sz="700" b="1" noProof="1">
                <a:solidFill>
                  <a:srgbClr val="0000FF"/>
                </a:solidFill>
                <a:latin typeface="Consolas" panose="020B0609020204030204" pitchFamily="49" charset="0"/>
                <a:ea typeface="+mn-ea"/>
              </a:rPr>
              <a:t> </a:t>
            </a:r>
            <a:r>
              <a:rPr lang="zh-CN" altLang="en-US" sz="900" b="1" noProof="1" smtClean="0">
                <a:solidFill>
                  <a:srgbClr val="0000FF"/>
                </a:solidFill>
                <a:latin typeface="Consolas" panose="020B0609020204030204" pitchFamily="49" charset="0"/>
                <a:ea typeface="+mn-ea"/>
              </a:rPr>
              <a:t>def</a:t>
            </a:r>
            <a:r>
              <a:rPr lang="zh-CN" altLang="en-US" sz="900" b="1" noProof="1" smtClean="0">
                <a:latin typeface="Consolas" panose="020B0609020204030204" pitchFamily="49" charset="0"/>
                <a:ea typeface="+mn-ea"/>
              </a:rPr>
              <a:t> </a:t>
            </a:r>
            <a:r>
              <a:rPr lang="zh-CN" altLang="en-US" sz="900" b="1" noProof="1">
                <a:latin typeface="Consolas" panose="020B0609020204030204" pitchFamily="49" charset="0"/>
                <a:ea typeface="+mn-ea"/>
              </a:rPr>
              <a:t>map():</a:t>
            </a:r>
          </a:p>
          <a:p>
            <a:pPr marL="400050" lvl="1" indent="0">
              <a:spcBef>
                <a:spcPts val="0"/>
              </a:spcBef>
              <a:buNone/>
              <a:defRPr/>
            </a:pPr>
            <a:r>
              <a:rPr lang="zh-CN" altLang="en-US" sz="900" b="1" noProof="1">
                <a:latin typeface="Consolas" panose="020B0609020204030204" pitchFamily="49" charset="0"/>
                <a:ea typeface="+mn-ea"/>
              </a:rPr>
              <a:t>     </a:t>
            </a:r>
            <a:r>
              <a:rPr lang="zh-CN" altLang="en-US" sz="900" b="1" noProof="1" smtClean="0">
                <a:latin typeface="Consolas" panose="020B0609020204030204" pitchFamily="49" charset="0"/>
                <a:ea typeface="+mn-ea"/>
              </a:rPr>
              <a:t>return </a:t>
            </a:r>
            <a:r>
              <a:rPr lang="zh-CN" altLang="en-US" sz="900" b="1" noProof="1">
                <a:latin typeface="Consolas" panose="020B0609020204030204" pitchFamily="49" charset="0"/>
                <a:ea typeface="+mn-ea"/>
              </a:rPr>
              <a:t>'我是假的map()函数'</a:t>
            </a:r>
          </a:p>
          <a:p>
            <a:pPr marL="400050" lvl="1" indent="0">
              <a:spcBef>
                <a:spcPts val="0"/>
              </a:spcBef>
              <a:buNone/>
              <a:defRPr/>
            </a:pPr>
            <a:r>
              <a:rPr lang="zh-CN" altLang="en-US" sz="900" b="1" noProof="1">
                <a:latin typeface="Consolas" panose="020B0609020204030204" pitchFamily="49" charset="0"/>
                <a:ea typeface="+mn-ea"/>
              </a:rPr>
              <a:t>    </a:t>
            </a:r>
          </a:p>
          <a:p>
            <a:pPr marL="400050" lvl="1" indent="0">
              <a:spcBef>
                <a:spcPts val="0"/>
              </a:spcBef>
              <a:buNone/>
              <a:defRPr/>
            </a:pPr>
            <a:r>
              <a:rPr lang="zh-CN" altLang="en-US" sz="900" b="1" noProof="1">
                <a:latin typeface="Consolas" panose="020B0609020204030204" pitchFamily="49" charset="0"/>
                <a:ea typeface="+mn-ea"/>
              </a:rPr>
              <a:t>    </a:t>
            </a:r>
            <a:r>
              <a:rPr lang="zh-CN" altLang="en-US" sz="900" b="1" noProof="1">
                <a:solidFill>
                  <a:srgbClr val="0000FF"/>
                </a:solidFill>
                <a:latin typeface="Consolas" panose="020B0609020204030204" pitchFamily="49" charset="0"/>
                <a:ea typeface="+mn-ea"/>
              </a:rPr>
              <a:t>def</a:t>
            </a:r>
            <a:r>
              <a:rPr lang="zh-CN" altLang="en-US" sz="900" b="1" noProof="1">
                <a:latin typeface="Consolas" panose="020B0609020204030204" pitchFamily="49" charset="0"/>
                <a:ea typeface="+mn-ea"/>
              </a:rPr>
              <a:t> inner():</a:t>
            </a:r>
          </a:p>
          <a:p>
            <a:pPr marL="400050" lvl="1" indent="0">
              <a:spcBef>
                <a:spcPts val="0"/>
              </a:spcBef>
              <a:buNone/>
              <a:defRPr/>
            </a:pPr>
            <a:r>
              <a:rPr lang="zh-CN" altLang="en-US" sz="900" b="1" noProof="1">
                <a:latin typeface="Consolas" panose="020B0609020204030204" pitchFamily="49" charset="0"/>
                <a:ea typeface="+mn-ea"/>
              </a:rPr>
              <a:t>        x = 7</a:t>
            </a:r>
          </a:p>
          <a:p>
            <a:pPr marL="400050" lvl="1" indent="0">
              <a:spcBef>
                <a:spcPts val="0"/>
              </a:spcBef>
              <a:buNone/>
              <a:defRPr/>
            </a:pPr>
            <a:r>
              <a:rPr lang="zh-CN" altLang="en-US" sz="900" b="1" noProof="1">
                <a:latin typeface="Consolas" panose="020B0609020204030204" pitchFamily="49" charset="0"/>
                <a:ea typeface="+mn-ea"/>
              </a:rPr>
              <a:t>        y = 9</a:t>
            </a:r>
          </a:p>
          <a:p>
            <a:pPr marL="400050" lvl="1" indent="0">
              <a:spcBef>
                <a:spcPts val="0"/>
              </a:spcBef>
              <a:buNone/>
              <a:defRPr/>
            </a:pPr>
            <a:r>
              <a:rPr lang="zh-CN" altLang="en-US" sz="900" b="1" noProof="1">
                <a:latin typeface="Consolas" panose="020B0609020204030204" pitchFamily="49" charset="0"/>
                <a:ea typeface="+mn-ea"/>
              </a:rPr>
              <a:t>        print('inner:', x, y, max(x,y), </a:t>
            </a:r>
            <a:r>
              <a:rPr lang="zh-CN" altLang="en-US" sz="900" b="1" noProof="1" smtClean="0">
                <a:latin typeface="Consolas" panose="020B0609020204030204" pitchFamily="49" charset="0"/>
                <a:ea typeface="+mn-ea"/>
              </a:rPr>
              <a:t>map())</a:t>
            </a:r>
            <a:endParaRPr lang="zh-CN" altLang="en-US" sz="900" b="1" noProof="1">
              <a:latin typeface="Consolas" panose="020B0609020204030204" pitchFamily="49" charset="0"/>
              <a:ea typeface="+mn-ea"/>
            </a:endParaRPr>
          </a:p>
          <a:p>
            <a:pPr marL="400050" lvl="1" indent="0">
              <a:spcBef>
                <a:spcPts val="0"/>
              </a:spcBef>
              <a:buNone/>
              <a:defRPr/>
            </a:pPr>
            <a:r>
              <a:rPr lang="zh-CN" altLang="en-US" sz="900" b="1" noProof="1">
                <a:latin typeface="Consolas" panose="020B0609020204030204" pitchFamily="49" charset="0"/>
                <a:ea typeface="+mn-ea"/>
              </a:rPr>
              <a:t>        </a:t>
            </a:r>
          </a:p>
          <a:p>
            <a:pPr marL="0" indent="0">
              <a:spcBef>
                <a:spcPts val="0"/>
              </a:spcBef>
              <a:buNone/>
              <a:defRPr/>
            </a:pPr>
            <a:r>
              <a:rPr lang="zh-CN" altLang="en-US" sz="1100" b="1" noProof="1">
                <a:latin typeface="Consolas" panose="020B0609020204030204" pitchFamily="49" charset="0"/>
                <a:ea typeface="+mn-ea"/>
              </a:rPr>
              <a:t>  </a:t>
            </a:r>
            <a:endParaRPr lang="en-US" altLang="zh-CN" sz="1100" b="1" noProof="1">
              <a:latin typeface="Consolas" panose="020B0609020204030204" pitchFamily="49" charset="0"/>
              <a:ea typeface="+mn-ea"/>
            </a:endParaRPr>
          </a:p>
          <a:p>
            <a:pPr marL="0" indent="0">
              <a:spcBef>
                <a:spcPts val="0"/>
              </a:spcBef>
              <a:buNone/>
              <a:defRPr/>
            </a:pPr>
            <a:endParaRPr lang="en-US" altLang="zh-CN" sz="1100" b="1" noProof="1">
              <a:latin typeface="Consolas" panose="020B0609020204030204" pitchFamily="49" charset="0"/>
              <a:ea typeface="+mn-ea"/>
            </a:endParaRPr>
          </a:p>
          <a:p>
            <a:pPr marL="0" indent="0">
              <a:spcBef>
                <a:spcPts val="0"/>
              </a:spcBef>
              <a:buNone/>
              <a:defRPr/>
            </a:pPr>
            <a:r>
              <a:rPr lang="zh-CN" altLang="en-US" sz="1100" b="1" noProof="1">
                <a:latin typeface="Consolas" panose="020B0609020204030204" pitchFamily="49" charset="0"/>
                <a:ea typeface="+mn-ea"/>
              </a:rPr>
              <a:t>  </a:t>
            </a:r>
            <a:endParaRPr lang="en-US" altLang="zh-CN" sz="1100" b="1" noProof="1">
              <a:latin typeface="Consolas" panose="020B0609020204030204" pitchFamily="49" charset="0"/>
              <a:ea typeface="+mn-ea"/>
            </a:endParaRPr>
          </a:p>
          <a:p>
            <a:pPr marL="0" indent="0">
              <a:spcBef>
                <a:spcPts val="0"/>
              </a:spcBef>
              <a:buNone/>
              <a:defRPr/>
            </a:pPr>
            <a:r>
              <a:rPr lang="zh-CN" altLang="en-US" sz="1100" b="1" noProof="1" smtClean="0">
                <a:latin typeface="Consolas" panose="020B0609020204030204" pitchFamily="49" charset="0"/>
                <a:ea typeface="+mn-ea"/>
              </a:rPr>
              <a:t>     inner</a:t>
            </a:r>
            <a:r>
              <a:rPr lang="zh-CN" altLang="en-US" sz="1100" b="1" noProof="1">
                <a:latin typeface="Consolas" panose="020B0609020204030204" pitchFamily="49" charset="0"/>
                <a:ea typeface="+mn-ea"/>
              </a:rPr>
              <a:t>()</a:t>
            </a:r>
          </a:p>
          <a:p>
            <a:pPr marL="0" indent="0">
              <a:spcBef>
                <a:spcPts val="0"/>
              </a:spcBef>
              <a:buNone/>
              <a:defRPr/>
            </a:pPr>
            <a:r>
              <a:rPr lang="zh-CN" altLang="en-US" sz="1100" b="1" noProof="1" smtClean="0">
                <a:solidFill>
                  <a:srgbClr val="0000FF"/>
                </a:solidFill>
                <a:latin typeface="Consolas" panose="020B0609020204030204" pitchFamily="49" charset="0"/>
                <a:ea typeface="+mn-ea"/>
              </a:rPr>
              <a:t>     print</a:t>
            </a:r>
            <a:r>
              <a:rPr lang="zh-CN" altLang="en-US" sz="1100" b="1" noProof="1">
                <a:latin typeface="Consolas" panose="020B0609020204030204" pitchFamily="49" charset="0"/>
                <a:ea typeface="+mn-ea"/>
              </a:rPr>
              <a:t>('outer:', x, y, max(x,y), map())</a:t>
            </a:r>
          </a:p>
          <a:p>
            <a:pPr marL="0" indent="0">
              <a:spcBef>
                <a:spcPts val="0"/>
              </a:spcBef>
              <a:buNone/>
              <a:defRPr/>
            </a:pPr>
            <a:r>
              <a:rPr lang="zh-CN" altLang="en-US" sz="1100" b="1" noProof="1">
                <a:latin typeface="Consolas" panose="020B0609020204030204" pitchFamily="49" charset="0"/>
                <a:ea typeface="+mn-ea"/>
              </a:rPr>
              <a:t>    </a:t>
            </a:r>
          </a:p>
          <a:p>
            <a:pPr marL="0" indent="0">
              <a:spcBef>
                <a:spcPts val="0"/>
              </a:spcBef>
              <a:buNone/>
              <a:defRPr/>
            </a:pPr>
            <a:endParaRPr lang="en-US" altLang="zh-CN" sz="1050" b="1" noProof="1">
              <a:latin typeface="Consolas" panose="020B0609020204030204" pitchFamily="49" charset="0"/>
              <a:ea typeface="+mn-ea"/>
            </a:endParaRPr>
          </a:p>
          <a:p>
            <a:pPr marL="0" indent="0">
              <a:spcBef>
                <a:spcPts val="0"/>
              </a:spcBef>
              <a:buNone/>
              <a:defRPr/>
            </a:pPr>
            <a:endParaRPr lang="en-US" altLang="zh-CN" sz="1050" b="1" noProof="1">
              <a:latin typeface="Consolas" panose="020B0609020204030204" pitchFamily="49" charset="0"/>
              <a:ea typeface="+mn-ea"/>
            </a:endParaRPr>
          </a:p>
          <a:p>
            <a:pPr marL="0" indent="0">
              <a:spcBef>
                <a:spcPts val="0"/>
              </a:spcBef>
              <a:buNone/>
              <a:defRPr/>
            </a:pPr>
            <a:endParaRPr lang="en-US" altLang="zh-CN" sz="1050" b="1" noProof="1">
              <a:latin typeface="Consolas" panose="020B0609020204030204" pitchFamily="49" charset="0"/>
              <a:ea typeface="+mn-ea"/>
            </a:endParaRPr>
          </a:p>
          <a:p>
            <a:pPr marL="0" indent="0">
              <a:spcBef>
                <a:spcPts val="0"/>
              </a:spcBef>
              <a:buNone/>
              <a:defRPr/>
            </a:pPr>
            <a:r>
              <a:rPr lang="zh-CN" altLang="en-US" sz="1050" b="1" noProof="1">
                <a:latin typeface="Consolas" panose="020B0609020204030204" pitchFamily="49" charset="0"/>
                <a:ea typeface="+mn-ea"/>
              </a:rPr>
              <a:t>outer()</a:t>
            </a:r>
          </a:p>
          <a:p>
            <a:pPr marL="0" indent="0">
              <a:spcBef>
                <a:spcPts val="0"/>
              </a:spcBef>
              <a:buNone/>
              <a:defRPr/>
            </a:pPr>
            <a:r>
              <a:rPr lang="zh-CN" altLang="en-US" sz="1050" b="1" noProof="1">
                <a:solidFill>
                  <a:srgbClr val="0000FF"/>
                </a:solidFill>
                <a:latin typeface="Consolas" panose="020B0609020204030204" pitchFamily="49" charset="0"/>
                <a:ea typeface="+mn-ea"/>
              </a:rPr>
              <a:t>print</a:t>
            </a:r>
            <a:r>
              <a:rPr lang="zh-CN" altLang="en-US" sz="1050" b="1" noProof="1">
                <a:latin typeface="Consolas" panose="020B0609020204030204" pitchFamily="49" charset="0"/>
                <a:ea typeface="+mn-ea"/>
              </a:rPr>
              <a:t>('outside:', x, y, max(x,y))</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37</a:t>
            </a:fld>
            <a:endParaRPr lang="zh-CN" altLang="en-US" dirty="0"/>
          </a:p>
        </p:txBody>
      </p:sp>
      <p:grpSp>
        <p:nvGrpSpPr>
          <p:cNvPr id="6" name="组合 109"/>
          <p:cNvGrpSpPr/>
          <p:nvPr/>
        </p:nvGrpSpPr>
        <p:grpSpPr>
          <a:xfrm>
            <a:off x="539552" y="118397"/>
            <a:ext cx="7200800" cy="655385"/>
            <a:chOff x="956926" y="4596123"/>
            <a:chExt cx="7200800" cy="655385"/>
          </a:xfrm>
        </p:grpSpPr>
        <p:sp>
          <p:nvSpPr>
            <p:cNvPr id="7"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24495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5.4 </a:t>
              </a:r>
              <a:r>
                <a:rPr lang="zh-CN" altLang="en-US" sz="3600" b="1" dirty="0">
                  <a:latin typeface="Times New Roman" pitchFamily="18" charset="0"/>
                  <a:ea typeface="黑体" pitchFamily="49" charset="-122"/>
                </a:rPr>
                <a:t> </a:t>
              </a:r>
              <a:r>
                <a:rPr lang="en-US" altLang="zh-CN" sz="3600" b="1" dirty="0">
                  <a:latin typeface="Times New Roman" pitchFamily="18" charset="0"/>
                  <a:ea typeface="黑体" pitchFamily="49" charset="-122"/>
                </a:rPr>
                <a:t>return</a:t>
              </a:r>
              <a:r>
                <a:rPr lang="zh-CN" altLang="en-US" sz="3600" b="1" dirty="0">
                  <a:latin typeface="Times New Roman" pitchFamily="18" charset="0"/>
                  <a:ea typeface="黑体" pitchFamily="49" charset="-122"/>
                </a:rPr>
                <a:t>语句与变量作用域 </a:t>
              </a:r>
            </a:p>
          </p:txBody>
        </p:sp>
      </p:grpSp>
      <p:sp>
        <p:nvSpPr>
          <p:cNvPr id="10" name="矩形 9"/>
          <p:cNvSpPr/>
          <p:nvPr/>
        </p:nvSpPr>
        <p:spPr>
          <a:xfrm>
            <a:off x="251520" y="904730"/>
            <a:ext cx="2375971" cy="523220"/>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800" b="1" dirty="0">
                <a:ea typeface="仿宋" panose="02010609060101010101" pitchFamily="49" charset="-122"/>
              </a:rPr>
              <a:t>变量作用域 </a:t>
            </a:r>
          </a:p>
        </p:txBody>
      </p:sp>
      <p:sp>
        <p:nvSpPr>
          <p:cNvPr id="5" name="矩形 4"/>
          <p:cNvSpPr/>
          <p:nvPr/>
        </p:nvSpPr>
        <p:spPr>
          <a:xfrm>
            <a:off x="4139952" y="2536710"/>
            <a:ext cx="4824536" cy="461665"/>
          </a:xfrm>
          <a:prstGeom prst="rect">
            <a:avLst/>
          </a:prstGeom>
          <a:ln>
            <a:solidFill>
              <a:srgbClr val="FF0000"/>
            </a:solidFill>
          </a:ln>
        </p:spPr>
        <p:txBody>
          <a:bodyPr wrap="square">
            <a:spAutoFit/>
          </a:bodyPr>
          <a:lstStyle/>
          <a:p>
            <a:pPr marL="0" indent="0">
              <a:spcBef>
                <a:spcPts val="0"/>
              </a:spcBef>
              <a:buNone/>
              <a:defRPr/>
            </a:pPr>
            <a:r>
              <a:rPr lang="zh-CN" altLang="en-US" sz="1200" noProof="1">
                <a:solidFill>
                  <a:srgbClr val="0000FF"/>
                </a:solidFill>
                <a:latin typeface="Consolas" panose="020B0609020204030204" pitchFamily="49" charset="0"/>
                <a:ea typeface="仿宋" panose="02010609060101010101" pitchFamily="49" charset="-122"/>
              </a:rPr>
              <a:t># 这个自定义函数和内置函数名字相同，会在当前作用域和更内层作用域中影响内置函数map()的正常使用</a:t>
            </a:r>
          </a:p>
        </p:txBody>
      </p:sp>
      <p:cxnSp>
        <p:nvCxnSpPr>
          <p:cNvPr id="12" name="直接箭头连接符 11"/>
          <p:cNvCxnSpPr/>
          <p:nvPr/>
        </p:nvCxnSpPr>
        <p:spPr>
          <a:xfrm>
            <a:off x="1979712" y="2852936"/>
            <a:ext cx="2160240"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1979712" y="3077515"/>
            <a:ext cx="6984776" cy="938719"/>
            <a:chOff x="1979712" y="3077515"/>
            <a:chExt cx="6984776" cy="938719"/>
          </a:xfrm>
        </p:grpSpPr>
        <p:sp>
          <p:nvSpPr>
            <p:cNvPr id="4" name="矩形 3"/>
            <p:cNvSpPr/>
            <p:nvPr/>
          </p:nvSpPr>
          <p:spPr>
            <a:xfrm>
              <a:off x="4139952" y="3077515"/>
              <a:ext cx="4824536" cy="938719"/>
            </a:xfrm>
            <a:prstGeom prst="rect">
              <a:avLst/>
            </a:prstGeom>
            <a:ln>
              <a:solidFill>
                <a:srgbClr val="FF0000"/>
              </a:solidFill>
            </a:ln>
          </p:spPr>
          <p:txBody>
            <a:bodyPr wrap="square">
              <a:spAutoFit/>
            </a:bodyPr>
            <a:lstStyle/>
            <a:p>
              <a:pPr marL="0" indent="0">
                <a:spcBef>
                  <a:spcPts val="0"/>
                </a:spcBef>
                <a:buNone/>
                <a:defRPr/>
              </a:pPr>
              <a:r>
                <a:rPr lang="zh-CN" altLang="en-US" sz="1100" noProof="1">
                  <a:solidFill>
                    <a:srgbClr val="0000FF"/>
                  </a:solidFill>
                  <a:latin typeface="Consolas" panose="020B0609020204030204" pitchFamily="49" charset="0"/>
                </a:rPr>
                <a:t># </a:t>
              </a:r>
              <a:r>
                <a:rPr lang="zh-CN" altLang="en-US" sz="1100" noProof="1" smtClean="0">
                  <a:solidFill>
                    <a:srgbClr val="0000FF"/>
                  </a:solidFill>
                  <a:latin typeface="Consolas" panose="020B0609020204030204" pitchFamily="49" charset="0"/>
                </a:rPr>
                <a:t>（</a:t>
              </a:r>
              <a:r>
                <a:rPr lang="zh-CN" altLang="en-US" sz="1100" noProof="1">
                  <a:solidFill>
                    <a:srgbClr val="0000FF"/>
                  </a:solidFill>
                  <a:latin typeface="Consolas" panose="020B0609020204030204" pitchFamily="49" charset="0"/>
                </a:rPr>
                <a:t>Local）x,y优先被访问</a:t>
              </a:r>
            </a:p>
            <a:p>
              <a:pPr marL="0" indent="0">
                <a:spcBef>
                  <a:spcPts val="0"/>
                </a:spcBef>
                <a:buNone/>
                <a:defRPr/>
              </a:pPr>
              <a:r>
                <a:rPr lang="zh-CN" altLang="en-US" sz="1100" noProof="1">
                  <a:solidFill>
                    <a:srgbClr val="0000FF"/>
                  </a:solidFill>
                  <a:latin typeface="Consolas" panose="020B0609020204030204" pitchFamily="49" charset="0"/>
                </a:rPr>
                <a:t># 在局部作用域、闭包作最内层的作用域内</a:t>
              </a:r>
              <a:r>
                <a:rPr lang="zh-CN" altLang="en-US" sz="1100" noProof="1" smtClean="0">
                  <a:solidFill>
                    <a:srgbClr val="0000FF"/>
                  </a:solidFill>
                  <a:latin typeface="Consolas" panose="020B0609020204030204" pitchFamily="49" charset="0"/>
                </a:rPr>
                <a:t>，全局</a:t>
              </a:r>
              <a:r>
                <a:rPr lang="zh-CN" altLang="en-US" sz="1100" noProof="1">
                  <a:solidFill>
                    <a:srgbClr val="0000FF"/>
                  </a:solidFill>
                  <a:latin typeface="Consolas" panose="020B0609020204030204" pitchFamily="49" charset="0"/>
                </a:rPr>
                <a:t>作用域内都不存在函数max，最后在内置作用域（Builtin）内搜索到函数max</a:t>
              </a:r>
            </a:p>
            <a:p>
              <a:pPr marL="0" indent="0">
                <a:spcBef>
                  <a:spcPts val="0"/>
                </a:spcBef>
                <a:buNone/>
                <a:defRPr/>
              </a:pPr>
              <a:r>
                <a:rPr lang="zh-CN" altLang="en-US" sz="1100" noProof="1">
                  <a:solidFill>
                    <a:srgbClr val="0000FF"/>
                  </a:solidFill>
                  <a:latin typeface="Consolas" panose="020B0609020204030204" pitchFamily="49" charset="0"/>
                </a:rPr>
                <a:t># 当前作用域中不存在map，但在外层的闭包作用域内搜索到了，并没有调用内置函数map，被拦截了</a:t>
              </a:r>
              <a:endParaRPr lang="zh-CN" altLang="en-US" sz="1100" dirty="0">
                <a:solidFill>
                  <a:srgbClr val="0000FF"/>
                </a:solidFill>
              </a:endParaRPr>
            </a:p>
          </p:txBody>
        </p:sp>
        <p:cxnSp>
          <p:nvCxnSpPr>
            <p:cNvPr id="18" name="直接箭头连接符 17"/>
            <p:cNvCxnSpPr/>
            <p:nvPr/>
          </p:nvCxnSpPr>
          <p:spPr>
            <a:xfrm>
              <a:off x="1979712" y="3573016"/>
              <a:ext cx="2160240"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1979712" y="4195667"/>
            <a:ext cx="6984776" cy="1107996"/>
            <a:chOff x="1979712" y="4195667"/>
            <a:chExt cx="6984776" cy="1107996"/>
          </a:xfrm>
        </p:grpSpPr>
        <p:sp>
          <p:nvSpPr>
            <p:cNvPr id="19" name="矩形 18"/>
            <p:cNvSpPr/>
            <p:nvPr/>
          </p:nvSpPr>
          <p:spPr>
            <a:xfrm>
              <a:off x="4139952" y="4195667"/>
              <a:ext cx="4824536" cy="1107996"/>
            </a:xfrm>
            <a:prstGeom prst="rect">
              <a:avLst/>
            </a:prstGeom>
            <a:ln>
              <a:solidFill>
                <a:srgbClr val="FF0000"/>
              </a:solidFill>
            </a:ln>
          </p:spPr>
          <p:txBody>
            <a:bodyPr wrap="square">
              <a:spAutoFit/>
            </a:bodyPr>
            <a:lstStyle/>
            <a:p>
              <a:pPr>
                <a:spcBef>
                  <a:spcPts val="0"/>
                </a:spcBef>
              </a:pPr>
              <a:r>
                <a:rPr lang="zh-CN" altLang="en-US" sz="1100" noProof="1">
                  <a:solidFill>
                    <a:srgbClr val="0000FF"/>
                  </a:solidFill>
                  <a:latin typeface="Consolas" panose="020B0609020204030204" pitchFamily="49" charset="0"/>
                </a:rPr>
                <a:t># 在当前作用域（闭包，Enclosing）内，y可以直接访问</a:t>
              </a:r>
            </a:p>
            <a:p>
              <a:pPr>
                <a:spcBef>
                  <a:spcPts val="0"/>
                </a:spcBef>
              </a:pPr>
              <a:r>
                <a:rPr lang="zh-CN" altLang="en-US" sz="1100" noProof="1">
                  <a:solidFill>
                    <a:srgbClr val="0000FF"/>
                  </a:solidFill>
                  <a:latin typeface="Consolas" panose="020B0609020204030204" pitchFamily="49" charset="0"/>
                </a:rPr>
                <a:t># 当在当前作用域内不存在x，继续到全局作用域（Global）去搜索</a:t>
              </a:r>
            </a:p>
            <a:p>
              <a:pPr>
                <a:spcBef>
                  <a:spcPts val="0"/>
                </a:spcBef>
              </a:pPr>
              <a:r>
                <a:rPr lang="zh-CN" altLang="en-US" sz="1100" noProof="1">
                  <a:solidFill>
                    <a:srgbClr val="0000FF"/>
                  </a:solidFill>
                  <a:latin typeface="Consolas" panose="020B0609020204030204" pitchFamily="49" charset="0"/>
                </a:rPr>
                <a:t># 当前作用域内不存在函数max，外层全局作用域也不存在，最后在内置作用域（Builtin）内搜索到函数max</a:t>
              </a:r>
            </a:p>
            <a:p>
              <a:pPr>
                <a:spcBef>
                  <a:spcPts val="0"/>
                </a:spcBef>
              </a:pPr>
              <a:r>
                <a:rPr lang="zh-CN" altLang="en-US" sz="1100" noProof="1">
                  <a:solidFill>
                    <a:srgbClr val="0000FF"/>
                  </a:solidFill>
                  <a:latin typeface="Consolas" panose="020B0609020204030204" pitchFamily="49" charset="0"/>
                </a:rPr>
                <a:t># 当前作用域中有个map，直接调用了，没有调用内置函数map()，被拦截了</a:t>
              </a:r>
            </a:p>
          </p:txBody>
        </p:sp>
        <p:cxnSp>
          <p:nvCxnSpPr>
            <p:cNvPr id="21" name="直接箭头连接符 20"/>
            <p:cNvCxnSpPr/>
            <p:nvPr/>
          </p:nvCxnSpPr>
          <p:spPr>
            <a:xfrm>
              <a:off x="1979712" y="5013176"/>
              <a:ext cx="2160240"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1979712" y="5597031"/>
            <a:ext cx="6984776" cy="938719"/>
            <a:chOff x="1979712" y="5597031"/>
            <a:chExt cx="6984776" cy="938719"/>
          </a:xfrm>
        </p:grpSpPr>
        <p:sp>
          <p:nvSpPr>
            <p:cNvPr id="20" name="矩形 19"/>
            <p:cNvSpPr/>
            <p:nvPr/>
          </p:nvSpPr>
          <p:spPr>
            <a:xfrm>
              <a:off x="4139952" y="5597031"/>
              <a:ext cx="4824536" cy="938719"/>
            </a:xfrm>
            <a:prstGeom prst="rect">
              <a:avLst/>
            </a:prstGeom>
            <a:ln>
              <a:solidFill>
                <a:srgbClr val="FF0000"/>
              </a:solidFill>
            </a:ln>
          </p:spPr>
          <p:txBody>
            <a:bodyPr wrap="square">
              <a:spAutoFit/>
            </a:bodyPr>
            <a:lstStyle/>
            <a:p>
              <a:pPr>
                <a:spcBef>
                  <a:spcPts val="0"/>
                </a:spcBef>
              </a:pPr>
              <a:r>
                <a:rPr lang="zh-CN" altLang="en-US" sz="1100" noProof="1">
                  <a:solidFill>
                    <a:srgbClr val="0000FF"/>
                  </a:solidFill>
                  <a:latin typeface="Consolas" panose="020B0609020204030204" pitchFamily="49" charset="0"/>
                </a:rPr>
                <a:t># 当前作用域中有x，可以直接访问，但不存在y</a:t>
              </a:r>
            </a:p>
            <a:p>
              <a:pPr>
                <a:spcBef>
                  <a:spcPts val="0"/>
                </a:spcBef>
              </a:pPr>
              <a:r>
                <a:rPr lang="zh-CN" altLang="en-US" sz="1100" noProof="1">
                  <a:solidFill>
                    <a:srgbClr val="0000FF"/>
                  </a:solidFill>
                  <a:latin typeface="Consolas" panose="020B0609020204030204" pitchFamily="49" charset="0"/>
                </a:rPr>
                <a:t># 由于当前处于全局作用域，按Python变量搜索顺序，会继续在内置作用域搜索</a:t>
              </a:r>
            </a:p>
            <a:p>
              <a:pPr>
                <a:spcBef>
                  <a:spcPts val="0"/>
                </a:spcBef>
              </a:pPr>
              <a:r>
                <a:rPr lang="en-US" altLang="zh-CN" sz="1100" noProof="1">
                  <a:solidFill>
                    <a:srgbClr val="0000FF"/>
                  </a:solidFill>
                  <a:latin typeface="Consolas" panose="020B0609020204030204" pitchFamily="49" charset="0"/>
                </a:rPr>
                <a:t># </a:t>
              </a:r>
              <a:r>
                <a:rPr lang="zh-CN" altLang="en-US" sz="1100" noProof="1">
                  <a:solidFill>
                    <a:srgbClr val="0000FF"/>
                  </a:solidFill>
                  <a:latin typeface="Consolas" panose="020B0609020204030204" pitchFamily="49" charset="0"/>
                </a:rPr>
                <a:t>不会去搜索Enclosing和Local作用域，但在内置作用域内也不存在y，代码引发异常</a:t>
              </a:r>
            </a:p>
          </p:txBody>
        </p:sp>
        <p:cxnSp>
          <p:nvCxnSpPr>
            <p:cNvPr id="23" name="直接箭头连接符 22"/>
            <p:cNvCxnSpPr/>
            <p:nvPr/>
          </p:nvCxnSpPr>
          <p:spPr>
            <a:xfrm>
              <a:off x="1979712" y="5949280"/>
              <a:ext cx="2160240"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6561199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9" end="19"/>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
                                            <p:txEl>
                                              <p:pRg st="20" end="20"/>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24" end="24"/>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25" end="2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anim calcmode="lin" valueType="num">
                                      <p:cBhvr additive="base">
                                        <p:cTn id="59" dur="500" fill="hold"/>
                                        <p:tgtEl>
                                          <p:spTgt spid="5"/>
                                        </p:tgtEl>
                                        <p:attrNameLst>
                                          <p:attrName>ppt_x</p:attrName>
                                        </p:attrNameLst>
                                      </p:cBhvr>
                                      <p:tavLst>
                                        <p:tav tm="0">
                                          <p:val>
                                            <p:strVal val="#ppt_x"/>
                                          </p:val>
                                        </p:tav>
                                        <p:tav tm="100000">
                                          <p:val>
                                            <p:strVal val="#ppt_x"/>
                                          </p:val>
                                        </p:tav>
                                      </p:tavLst>
                                    </p:anim>
                                    <p:anim calcmode="lin" valueType="num">
                                      <p:cBhvr additive="base">
                                        <p:cTn id="60" dur="500" fill="hold"/>
                                        <p:tgtEl>
                                          <p:spTgt spid="5"/>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additive="base">
                                        <p:cTn id="63" dur="500" fill="hold"/>
                                        <p:tgtEl>
                                          <p:spTgt spid="12"/>
                                        </p:tgtEl>
                                        <p:attrNameLst>
                                          <p:attrName>ppt_x</p:attrName>
                                        </p:attrNameLst>
                                      </p:cBhvr>
                                      <p:tavLst>
                                        <p:tav tm="0">
                                          <p:val>
                                            <p:strVal val="#ppt_x"/>
                                          </p:val>
                                        </p:tav>
                                        <p:tav tm="100000">
                                          <p:val>
                                            <p:strVal val="#ppt_x"/>
                                          </p:val>
                                        </p:tav>
                                      </p:tavLst>
                                    </p:anim>
                                    <p:anim calcmode="lin" valueType="num">
                                      <p:cBhvr additive="base">
                                        <p:cTn id="6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additive="base">
                                        <p:cTn id="69" dur="500" fill="hold"/>
                                        <p:tgtEl>
                                          <p:spTgt spid="14"/>
                                        </p:tgtEl>
                                        <p:attrNameLst>
                                          <p:attrName>ppt_x</p:attrName>
                                        </p:attrNameLst>
                                      </p:cBhvr>
                                      <p:tavLst>
                                        <p:tav tm="0">
                                          <p:val>
                                            <p:strVal val="#ppt_x"/>
                                          </p:val>
                                        </p:tav>
                                        <p:tav tm="100000">
                                          <p:val>
                                            <p:strVal val="#ppt_x"/>
                                          </p:val>
                                        </p:tav>
                                      </p:tavLst>
                                    </p:anim>
                                    <p:anim calcmode="lin" valueType="num">
                                      <p:cBhvr additive="base">
                                        <p:cTn id="7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1"/>
                                        </p:tgtEl>
                                        <p:attrNameLst>
                                          <p:attrName>style.visibility</p:attrName>
                                        </p:attrNameLst>
                                      </p:cBhvr>
                                      <p:to>
                                        <p:strVal val="visible"/>
                                      </p:to>
                                    </p:set>
                                    <p:anim calcmode="lin" valueType="num">
                                      <p:cBhvr additive="base">
                                        <p:cTn id="75" dur="500" fill="hold"/>
                                        <p:tgtEl>
                                          <p:spTgt spid="11"/>
                                        </p:tgtEl>
                                        <p:attrNameLst>
                                          <p:attrName>ppt_x</p:attrName>
                                        </p:attrNameLst>
                                      </p:cBhvr>
                                      <p:tavLst>
                                        <p:tav tm="0">
                                          <p:val>
                                            <p:strVal val="#ppt_x"/>
                                          </p:val>
                                        </p:tav>
                                        <p:tav tm="100000">
                                          <p:val>
                                            <p:strVal val="#ppt_x"/>
                                          </p:val>
                                        </p:tav>
                                      </p:tavLst>
                                    </p:anim>
                                    <p:anim calcmode="lin" valueType="num">
                                      <p:cBhvr additive="base">
                                        <p:cTn id="7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3"/>
                                        </p:tgtEl>
                                        <p:attrNameLst>
                                          <p:attrName>style.visibility</p:attrName>
                                        </p:attrNameLst>
                                      </p:cBhvr>
                                      <p:to>
                                        <p:strVal val="visible"/>
                                      </p:to>
                                    </p:set>
                                    <p:anim calcmode="lin" valueType="num">
                                      <p:cBhvr additive="base">
                                        <p:cTn id="81" dur="500" fill="hold"/>
                                        <p:tgtEl>
                                          <p:spTgt spid="13"/>
                                        </p:tgtEl>
                                        <p:attrNameLst>
                                          <p:attrName>ppt_x</p:attrName>
                                        </p:attrNameLst>
                                      </p:cBhvr>
                                      <p:tavLst>
                                        <p:tav tm="0">
                                          <p:val>
                                            <p:strVal val="#ppt_x"/>
                                          </p:val>
                                        </p:tav>
                                        <p:tav tm="100000">
                                          <p:val>
                                            <p:strVal val="#ppt_x"/>
                                          </p:val>
                                        </p:tav>
                                      </p:tavLst>
                                    </p:anim>
                                    <p:anim calcmode="lin" valueType="num">
                                      <p:cBhvr additive="base">
                                        <p:cTn id="8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文本占位符 46082"/>
          <p:cNvSpPr>
            <a:spLocks noGrp="1"/>
          </p:cNvSpPr>
          <p:nvPr>
            <p:ph idx="1"/>
          </p:nvPr>
        </p:nvSpPr>
        <p:spPr>
          <a:xfrm>
            <a:off x="413098" y="948184"/>
            <a:ext cx="8229600" cy="4678451"/>
          </a:xfrm>
        </p:spPr>
        <p:txBody>
          <a:bodyPr vert="horz" wrap="square" lIns="68591" tIns="34295" rIns="68591" bIns="34295" numCol="1" anchor="t" anchorCtr="0" compatLnSpc="1">
            <a:prstTxWarp prst="textNoShape">
              <a:avLst/>
            </a:prstTxWarp>
          </a:bodyPr>
          <a:lstStyle/>
          <a:p>
            <a:pPr>
              <a:spcBef>
                <a:spcPts val="600"/>
              </a:spcBef>
              <a:spcAft>
                <a:spcPts val="0"/>
              </a:spcAft>
              <a:buClr>
                <a:srgbClr val="FF0000"/>
              </a:buClr>
              <a:buSzPct val="90000"/>
              <a:buFont typeface="Wingdings" panose="05000000000000000000" pitchFamily="2" charset="2"/>
              <a:buChar char="n"/>
            </a:pPr>
            <a:r>
              <a:rPr lang="en-US" altLang="zh-CN" sz="2000" dirty="0"/>
              <a:t>lambda</a:t>
            </a:r>
            <a:r>
              <a:rPr lang="zh-CN" altLang="en-US" sz="2000" dirty="0"/>
              <a:t>表达式可以用来声明</a:t>
            </a:r>
            <a:r>
              <a:rPr lang="zh-CN" altLang="en-US" sz="2000" dirty="0">
                <a:solidFill>
                  <a:srgbClr val="FF0000"/>
                </a:solidFill>
              </a:rPr>
              <a:t>匿名函数，</a:t>
            </a:r>
            <a:r>
              <a:rPr lang="zh-CN" altLang="en-US" sz="2000" dirty="0"/>
              <a:t>又称</a:t>
            </a:r>
            <a:r>
              <a:rPr lang="en-US" altLang="zh-CN" sz="2000" b="1" dirty="0"/>
              <a:t>lambda</a:t>
            </a:r>
            <a:r>
              <a:rPr lang="zh-CN" altLang="en-US" sz="2000" b="1" dirty="0"/>
              <a:t>函数</a:t>
            </a:r>
            <a:endParaRPr lang="en-US" altLang="zh-CN" sz="2000" dirty="0"/>
          </a:p>
          <a:p>
            <a:pPr lvl="1">
              <a:spcBef>
                <a:spcPts val="600"/>
              </a:spcBef>
              <a:spcAft>
                <a:spcPts val="0"/>
              </a:spcAft>
              <a:buClr>
                <a:srgbClr val="FF0000"/>
              </a:buClr>
              <a:buSzPct val="90000"/>
              <a:buFont typeface="Arial" panose="020B0604020202020204" pitchFamily="34" charset="0"/>
              <a:buChar char="•"/>
            </a:pPr>
            <a:r>
              <a:rPr lang="zh-CN" altLang="en-US" sz="2000" dirty="0"/>
              <a:t>也就是没有函数名字的临时使用的小函数，尤其适合需要一个函数作为另一个函数参数的场合。也可以定义</a:t>
            </a:r>
            <a:r>
              <a:rPr lang="zh-CN" altLang="en-US" sz="2000" dirty="0">
                <a:solidFill>
                  <a:srgbClr val="FF0000"/>
                </a:solidFill>
              </a:rPr>
              <a:t>具名函数</a:t>
            </a:r>
            <a:r>
              <a:rPr lang="zh-CN" altLang="en-US" sz="2000" dirty="0"/>
              <a:t>。</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38</a:t>
            </a:fld>
            <a:endParaRPr lang="zh-CN" altLang="en-US" dirty="0"/>
          </a:p>
        </p:txBody>
      </p:sp>
      <p:grpSp>
        <p:nvGrpSpPr>
          <p:cNvPr id="6" name="组合 5"/>
          <p:cNvGrpSpPr/>
          <p:nvPr/>
        </p:nvGrpSpPr>
        <p:grpSpPr>
          <a:xfrm>
            <a:off x="-395016" y="116632"/>
            <a:ext cx="6983240" cy="648072"/>
            <a:chOff x="-14041" y="5026748"/>
            <a:chExt cx="7337768" cy="663172"/>
          </a:xfrm>
        </p:grpSpPr>
        <p:sp>
          <p:nvSpPr>
            <p:cNvPr id="7"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TextBox 6"/>
            <p:cNvSpPr txBox="1">
              <a:spLocks noChangeArrowheads="1"/>
            </p:cNvSpPr>
            <p:nvPr/>
          </p:nvSpPr>
          <p:spPr bwMode="auto">
            <a:xfrm>
              <a:off x="-14041"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5.5 Lambda</a:t>
              </a:r>
              <a:r>
                <a:rPr lang="zh-CN" altLang="en-US" sz="3200" b="1" dirty="0">
                  <a:latin typeface="Times New Roman" pitchFamily="18" charset="0"/>
                  <a:ea typeface="黑体" pitchFamily="49" charset="-122"/>
                </a:rPr>
                <a:t>表达式</a:t>
              </a:r>
            </a:p>
          </p:txBody>
        </p:sp>
        <p:pic>
          <p:nvPicPr>
            <p:cNvPr id="9" name="图片 8"/>
            <p:cNvPicPr>
              <a:picLocks noChangeAspect="1"/>
            </p:cNvPicPr>
            <p:nvPr/>
          </p:nvPicPr>
          <p:blipFill>
            <a:blip r:embed="rId2"/>
            <a:stretch>
              <a:fillRect/>
            </a:stretch>
          </p:blipFill>
          <p:spPr>
            <a:xfrm>
              <a:off x="1199659" y="5205012"/>
              <a:ext cx="420013" cy="322083"/>
            </a:xfrm>
            <a:prstGeom prst="rect">
              <a:avLst/>
            </a:prstGeom>
          </p:spPr>
        </p:pic>
      </p:grpSp>
      <p:sp>
        <p:nvSpPr>
          <p:cNvPr id="10" name="Rectangle 1">
            <a:extLst>
              <a:ext uri="{FF2B5EF4-FFF2-40B4-BE49-F238E27FC236}">
                <a16:creationId xmlns:a16="http://schemas.microsoft.com/office/drawing/2014/main" id="{9984C398-EE8C-422F-A8A6-10A49D034BA3}"/>
              </a:ext>
            </a:extLst>
          </p:cNvPr>
          <p:cNvSpPr>
            <a:spLocks noChangeArrowheads="1"/>
          </p:cNvSpPr>
          <p:nvPr/>
        </p:nvSpPr>
        <p:spPr bwMode="auto">
          <a:xfrm>
            <a:off x="407418" y="2108088"/>
            <a:ext cx="9217025"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mpd="sng">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buClr>
                <a:srgbClr val="FF0000"/>
              </a:buClr>
              <a:buFont typeface="Wingdings" pitchFamily="2" charset="2"/>
              <a:buChar char="n"/>
              <a:defRPr/>
            </a:pPr>
            <a:r>
              <a:rPr lang="zh-CN" altLang="en-US" sz="2000" dirty="0">
                <a:latin typeface="Times New Roman" panose="02020603050405020304" pitchFamily="18" charset="0"/>
                <a:ea typeface="仿宋" panose="02010609060101010101" pitchFamily="49" charset="-122"/>
              </a:rPr>
              <a:t>匿名函数并非没有名字，而是将函数名作为函数结果返回：</a:t>
            </a:r>
          </a:p>
          <a:p>
            <a:pPr lvl="2">
              <a:lnSpc>
                <a:spcPct val="125000"/>
              </a:lnSpc>
              <a:buClr>
                <a:srgbClr val="FF0000"/>
              </a:buClr>
              <a:buFont typeface="Arial" pitchFamily="34" charset="0"/>
              <a:buChar char="•"/>
              <a:defRPr/>
            </a:pPr>
            <a:r>
              <a:rPr lang="en-US" altLang="zh-CN" sz="2000" dirty="0">
                <a:latin typeface="Times New Roman" panose="02020603050405020304" pitchFamily="18" charset="0"/>
                <a:ea typeface="仿宋" panose="02010609060101010101" pitchFamily="49" charset="-122"/>
              </a:rPr>
              <a:t> &lt;</a:t>
            </a:r>
            <a:r>
              <a:rPr lang="zh-CN" altLang="en-US" sz="2000" dirty="0">
                <a:latin typeface="Times New Roman" panose="02020603050405020304" pitchFamily="18" charset="0"/>
                <a:ea typeface="仿宋" panose="02010609060101010101" pitchFamily="49" charset="-122"/>
              </a:rPr>
              <a:t>函数名</a:t>
            </a:r>
            <a:r>
              <a:rPr lang="en-US" altLang="zh-CN" sz="2000" dirty="0">
                <a:latin typeface="Times New Roman" panose="02020603050405020304" pitchFamily="18" charset="0"/>
                <a:ea typeface="仿宋" panose="02010609060101010101" pitchFamily="49" charset="-122"/>
              </a:rPr>
              <a:t>&gt; = </a:t>
            </a:r>
            <a:r>
              <a:rPr lang="en-US" altLang="zh-CN" sz="2000" dirty="0">
                <a:solidFill>
                  <a:srgbClr val="0000FF"/>
                </a:solidFill>
                <a:latin typeface="Times New Roman" panose="02020603050405020304" pitchFamily="18" charset="0"/>
                <a:ea typeface="仿宋" panose="02010609060101010101" pitchFamily="49" charset="-122"/>
              </a:rPr>
              <a:t>lambda</a:t>
            </a:r>
            <a:r>
              <a:rPr lang="en-US" altLang="zh-CN" sz="2000" dirty="0">
                <a:latin typeface="Times New Roman" panose="02020603050405020304" pitchFamily="18" charset="0"/>
                <a:ea typeface="仿宋" panose="02010609060101010101" pitchFamily="49" charset="-122"/>
              </a:rPr>
              <a:t> &lt;</a:t>
            </a:r>
            <a:r>
              <a:rPr lang="zh-CN" altLang="en-US" sz="2000" dirty="0">
                <a:latin typeface="Times New Roman" panose="02020603050405020304" pitchFamily="18" charset="0"/>
                <a:ea typeface="仿宋" panose="02010609060101010101" pitchFamily="49" charset="-122"/>
              </a:rPr>
              <a:t>参数列表</a:t>
            </a:r>
            <a:r>
              <a:rPr lang="en-US" altLang="zh-CN" sz="2000" dirty="0">
                <a:latin typeface="Times New Roman" panose="02020603050405020304" pitchFamily="18" charset="0"/>
                <a:ea typeface="仿宋" panose="02010609060101010101" pitchFamily="49" charset="-122"/>
              </a:rPr>
              <a:t>&gt;: &lt;</a:t>
            </a:r>
            <a:r>
              <a:rPr lang="zh-CN" altLang="en-US" sz="2000" dirty="0">
                <a:latin typeface="Times New Roman" panose="02020603050405020304" pitchFamily="18" charset="0"/>
                <a:ea typeface="仿宋" panose="02010609060101010101" pitchFamily="49" charset="-122"/>
              </a:rPr>
              <a:t>表达式</a:t>
            </a:r>
            <a:r>
              <a:rPr lang="en-US" altLang="zh-CN" sz="2000" dirty="0">
                <a:latin typeface="Times New Roman" panose="02020603050405020304" pitchFamily="18" charset="0"/>
                <a:ea typeface="仿宋" panose="02010609060101010101" pitchFamily="49" charset="-122"/>
              </a:rPr>
              <a:t>&gt;</a:t>
            </a:r>
            <a:endParaRPr lang="zh-CN" altLang="en-US" sz="2000" dirty="0">
              <a:latin typeface="Times New Roman" panose="02020603050405020304" pitchFamily="18" charset="0"/>
              <a:ea typeface="仿宋" panose="02010609060101010101" pitchFamily="49" charset="-122"/>
            </a:endParaRPr>
          </a:p>
          <a:p>
            <a:pPr>
              <a:lnSpc>
                <a:spcPct val="125000"/>
              </a:lnSpc>
              <a:buClr>
                <a:srgbClr val="FF0000"/>
              </a:buClr>
              <a:buFont typeface="Wingdings" pitchFamily="2" charset="2"/>
              <a:buChar char="n"/>
              <a:defRPr/>
            </a:pPr>
            <a:r>
              <a:rPr lang="en-US" altLang="zh-CN" sz="2000" dirty="0">
                <a:latin typeface="Times New Roman" panose="02020603050405020304" pitchFamily="18" charset="0"/>
                <a:ea typeface="仿宋" panose="02010609060101010101" pitchFamily="49" charset="-122"/>
              </a:rPr>
              <a:t> lambda</a:t>
            </a:r>
            <a:r>
              <a:rPr lang="zh-CN" altLang="en-US" sz="2000" dirty="0">
                <a:latin typeface="Times New Roman" panose="02020603050405020304" pitchFamily="18" charset="0"/>
                <a:ea typeface="仿宋" panose="02010609060101010101" pitchFamily="49" charset="-122"/>
              </a:rPr>
              <a:t>函数与正常函数一样，等价于下面形式：</a:t>
            </a:r>
          </a:p>
          <a:p>
            <a:pPr lvl="2">
              <a:lnSpc>
                <a:spcPct val="125000"/>
              </a:lnSpc>
              <a:defRPr/>
            </a:pPr>
            <a:r>
              <a:rPr lang="en-US" altLang="zh-CN" sz="2000" dirty="0">
                <a:solidFill>
                  <a:srgbClr val="0000FF"/>
                </a:solidFill>
                <a:latin typeface="Times New Roman" panose="02020603050405020304" pitchFamily="18" charset="0"/>
                <a:ea typeface="仿宋" panose="02010609060101010101" pitchFamily="49" charset="-122"/>
              </a:rPr>
              <a:t>def </a:t>
            </a:r>
            <a:r>
              <a:rPr lang="en-US" altLang="zh-CN" sz="2000" dirty="0">
                <a:latin typeface="Times New Roman" panose="02020603050405020304" pitchFamily="18" charset="0"/>
                <a:ea typeface="仿宋" panose="02010609060101010101" pitchFamily="49" charset="-122"/>
              </a:rPr>
              <a:t>&lt;</a:t>
            </a:r>
            <a:r>
              <a:rPr lang="zh-CN" altLang="en-US" sz="2000" dirty="0">
                <a:latin typeface="Times New Roman" panose="02020603050405020304" pitchFamily="18" charset="0"/>
                <a:ea typeface="仿宋" panose="02010609060101010101" pitchFamily="49" charset="-122"/>
              </a:rPr>
              <a:t>函数名</a:t>
            </a:r>
            <a:r>
              <a:rPr lang="en-US" altLang="zh-CN" sz="2000" dirty="0">
                <a:latin typeface="Times New Roman" panose="02020603050405020304" pitchFamily="18" charset="0"/>
                <a:ea typeface="仿宋" panose="02010609060101010101" pitchFamily="49" charset="-122"/>
              </a:rPr>
              <a:t>&gt;(&lt;</a:t>
            </a:r>
            <a:r>
              <a:rPr lang="zh-CN" altLang="en-US" sz="2000" dirty="0">
                <a:latin typeface="Times New Roman" panose="02020603050405020304" pitchFamily="18" charset="0"/>
                <a:ea typeface="仿宋" panose="02010609060101010101" pitchFamily="49" charset="-122"/>
              </a:rPr>
              <a:t>参数列表</a:t>
            </a:r>
            <a:r>
              <a:rPr lang="en-US" altLang="zh-CN" sz="2000" dirty="0">
                <a:latin typeface="Times New Roman" panose="02020603050405020304" pitchFamily="18" charset="0"/>
                <a:ea typeface="仿宋" panose="02010609060101010101" pitchFamily="49" charset="-122"/>
              </a:rPr>
              <a:t>&gt;)</a:t>
            </a:r>
            <a:r>
              <a:rPr lang="en-US" altLang="zh-CN" sz="2000" dirty="0">
                <a:solidFill>
                  <a:srgbClr val="0000FF"/>
                </a:solidFill>
                <a:latin typeface="Times New Roman" panose="02020603050405020304" pitchFamily="18" charset="0"/>
                <a:ea typeface="仿宋" panose="02010609060101010101" pitchFamily="49" charset="-122"/>
              </a:rPr>
              <a:t>:</a:t>
            </a:r>
          </a:p>
          <a:p>
            <a:pPr lvl="2">
              <a:lnSpc>
                <a:spcPct val="125000"/>
              </a:lnSpc>
              <a:defRPr/>
            </a:pPr>
            <a:r>
              <a:rPr lang="en-US" altLang="zh-CN" sz="2000" dirty="0">
                <a:solidFill>
                  <a:srgbClr val="FF0000"/>
                </a:solidFill>
                <a:latin typeface="Times New Roman" panose="02020603050405020304" pitchFamily="18" charset="0"/>
                <a:ea typeface="仿宋" panose="02010609060101010101" pitchFamily="49" charset="-122"/>
              </a:rPr>
              <a:t>     </a:t>
            </a:r>
            <a:r>
              <a:rPr lang="en-US" altLang="zh-CN" sz="2000" dirty="0">
                <a:solidFill>
                  <a:srgbClr val="0000FF"/>
                </a:solidFill>
                <a:latin typeface="Times New Roman" panose="02020603050405020304" pitchFamily="18" charset="0"/>
                <a:ea typeface="仿宋" panose="02010609060101010101" pitchFamily="49" charset="-122"/>
              </a:rPr>
              <a:t>return</a:t>
            </a:r>
            <a:r>
              <a:rPr lang="en-US" altLang="zh-CN" sz="2000" dirty="0">
                <a:solidFill>
                  <a:srgbClr val="FF0000"/>
                </a:solidFill>
                <a:latin typeface="Times New Roman" panose="02020603050405020304" pitchFamily="18" charset="0"/>
                <a:ea typeface="仿宋" panose="02010609060101010101" pitchFamily="49" charset="-122"/>
              </a:rPr>
              <a:t> </a:t>
            </a:r>
            <a:r>
              <a:rPr lang="en-US" altLang="zh-CN" sz="2000" dirty="0">
                <a:latin typeface="Times New Roman" panose="02020603050405020304" pitchFamily="18" charset="0"/>
                <a:ea typeface="仿宋" panose="02010609060101010101" pitchFamily="49" charset="-122"/>
              </a:rPr>
              <a:t>&lt;</a:t>
            </a:r>
            <a:r>
              <a:rPr lang="zh-CN" altLang="en-US" sz="2000" dirty="0">
                <a:latin typeface="Times New Roman" panose="02020603050405020304" pitchFamily="18" charset="0"/>
                <a:ea typeface="仿宋" panose="02010609060101010101" pitchFamily="49" charset="-122"/>
              </a:rPr>
              <a:t>表达式</a:t>
            </a:r>
            <a:r>
              <a:rPr lang="en-US" altLang="zh-CN" sz="2000" dirty="0">
                <a:latin typeface="Times New Roman" panose="02020603050405020304" pitchFamily="18" charset="0"/>
                <a:ea typeface="仿宋" panose="02010609060101010101" pitchFamily="49" charset="-122"/>
              </a:rPr>
              <a:t>&gt;</a:t>
            </a:r>
          </a:p>
        </p:txBody>
      </p:sp>
      <p:sp>
        <p:nvSpPr>
          <p:cNvPr id="11" name="文本占位符 47106"/>
          <p:cNvSpPr txBox="1">
            <a:spLocks/>
          </p:cNvSpPr>
          <p:nvPr/>
        </p:nvSpPr>
        <p:spPr bwMode="auto">
          <a:xfrm>
            <a:off x="1159763" y="4437112"/>
            <a:ext cx="8229600" cy="3053405"/>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ct val="0"/>
              </a:spcBef>
              <a:buSzPct val="90000"/>
              <a:buFont typeface="Wingdings" panose="05000000000000000000" pitchFamily="2" charset="2"/>
              <a:buNone/>
            </a:pPr>
            <a:r>
              <a:rPr lang="en-US" altLang="zh-CN" sz="1600" noProof="1">
                <a:latin typeface="Consolas" panose="020B0609020204030204" pitchFamily="49" charset="0"/>
              </a:rPr>
              <a:t>&gt;&gt;&gt; f = lambda x, y, z: x+y+z        </a:t>
            </a:r>
            <a:r>
              <a:rPr lang="en-US" altLang="zh-CN" sz="1600" noProof="1">
                <a:solidFill>
                  <a:srgbClr val="0000FF"/>
                </a:solidFill>
                <a:latin typeface="Consolas" panose="020B0609020204030204" pitchFamily="49" charset="0"/>
              </a:rPr>
              <a:t>#</a:t>
            </a:r>
            <a:r>
              <a:rPr lang="zh-CN" altLang="en-US" sz="1600" noProof="1">
                <a:solidFill>
                  <a:srgbClr val="0000FF"/>
                </a:solidFill>
                <a:latin typeface="Consolas" panose="020B0609020204030204" pitchFamily="49" charset="0"/>
              </a:rPr>
              <a:t>可以给</a:t>
            </a:r>
            <a:r>
              <a:rPr lang="en-US" altLang="zh-CN" sz="1600" noProof="1">
                <a:solidFill>
                  <a:srgbClr val="0000FF"/>
                </a:solidFill>
                <a:latin typeface="Consolas" panose="020B0609020204030204" pitchFamily="49" charset="0"/>
              </a:rPr>
              <a:t>lambda</a:t>
            </a:r>
            <a:r>
              <a:rPr lang="zh-CN" altLang="en-US" sz="1600" noProof="1">
                <a:solidFill>
                  <a:srgbClr val="0000FF"/>
                </a:solidFill>
                <a:latin typeface="Consolas" panose="020B0609020204030204" pitchFamily="49" charset="0"/>
              </a:rPr>
              <a:t>表达式起名字</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f(1,2,3)                         </a:t>
            </a:r>
            <a:r>
              <a:rPr lang="en-US" altLang="zh-CN" sz="1600" noProof="1">
                <a:solidFill>
                  <a:srgbClr val="0000FF"/>
                </a:solidFill>
                <a:latin typeface="Consolas" panose="020B0609020204030204" pitchFamily="49" charset="0"/>
              </a:rPr>
              <a:t>#</a:t>
            </a:r>
            <a:r>
              <a:rPr lang="zh-CN" altLang="en-US" sz="1600" noProof="1">
                <a:solidFill>
                  <a:srgbClr val="0000FF"/>
                </a:solidFill>
                <a:latin typeface="Consolas" panose="020B0609020204030204" pitchFamily="49" charset="0"/>
              </a:rPr>
              <a:t>像函数一样调用</a:t>
            </a:r>
          </a:p>
          <a:p>
            <a:pPr>
              <a:spcBef>
                <a:spcPct val="0"/>
              </a:spcBef>
              <a:buSzPct val="90000"/>
              <a:buFont typeface="Wingdings" panose="05000000000000000000" pitchFamily="2" charset="2"/>
              <a:buNone/>
            </a:pPr>
            <a:r>
              <a:rPr lang="en-US" altLang="zh-CN" sz="1600" noProof="1">
                <a:solidFill>
                  <a:srgbClr val="0000FF"/>
                </a:solidFill>
                <a:latin typeface="Consolas" panose="020B0609020204030204" pitchFamily="49" charset="0"/>
              </a:rPr>
              <a:t>6</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g = lambda x, y=2, z=3: x+y+z    </a:t>
            </a:r>
            <a:r>
              <a:rPr lang="en-US" altLang="zh-CN" sz="1600" noProof="1">
                <a:solidFill>
                  <a:srgbClr val="0000FF"/>
                </a:solidFill>
                <a:latin typeface="Consolas" panose="020B0609020204030204" pitchFamily="49" charset="0"/>
              </a:rPr>
              <a:t>#</a:t>
            </a:r>
            <a:r>
              <a:rPr lang="zh-CN" altLang="en-US" sz="1600" noProof="1">
                <a:solidFill>
                  <a:srgbClr val="0000FF"/>
                </a:solidFill>
                <a:latin typeface="Consolas" panose="020B0609020204030204" pitchFamily="49" charset="0"/>
              </a:rPr>
              <a:t>参数默认值</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g(1)</a:t>
            </a:r>
          </a:p>
          <a:p>
            <a:pPr>
              <a:spcBef>
                <a:spcPct val="0"/>
              </a:spcBef>
              <a:buSzPct val="90000"/>
              <a:buFont typeface="Wingdings" panose="05000000000000000000" pitchFamily="2" charset="2"/>
              <a:buNone/>
            </a:pPr>
            <a:r>
              <a:rPr lang="en-US" altLang="zh-CN" sz="1600" noProof="1">
                <a:solidFill>
                  <a:srgbClr val="0000FF"/>
                </a:solidFill>
                <a:latin typeface="Consolas" panose="020B0609020204030204" pitchFamily="49" charset="0"/>
              </a:rPr>
              <a:t>6</a:t>
            </a:r>
          </a:p>
          <a:p>
            <a:pPr>
              <a:spcBef>
                <a:spcPct val="0"/>
              </a:spcBef>
              <a:buSzPct val="90000"/>
              <a:buFont typeface="Wingdings" panose="05000000000000000000" pitchFamily="2" charset="2"/>
              <a:buNone/>
            </a:pPr>
            <a:r>
              <a:rPr lang="en-US" altLang="zh-CN" sz="1600" noProof="1">
                <a:latin typeface="Consolas" panose="020B0609020204030204" pitchFamily="49" charset="0"/>
              </a:rPr>
              <a:t>&gt;&gt;&gt; g(2, z=4, y=5)                   </a:t>
            </a:r>
            <a:r>
              <a:rPr lang="en-US" altLang="zh-CN" sz="1600" noProof="1">
                <a:solidFill>
                  <a:srgbClr val="0000FF"/>
                </a:solidFill>
                <a:latin typeface="Consolas" panose="020B0609020204030204" pitchFamily="49" charset="0"/>
              </a:rPr>
              <a:t>#</a:t>
            </a:r>
            <a:r>
              <a:rPr lang="zh-CN" altLang="en-US" sz="1600" noProof="1">
                <a:solidFill>
                  <a:srgbClr val="0000FF"/>
                </a:solidFill>
                <a:latin typeface="Consolas" panose="020B0609020204030204" pitchFamily="49" charset="0"/>
              </a:rPr>
              <a:t>关键参数</a:t>
            </a:r>
          </a:p>
          <a:p>
            <a:pPr>
              <a:spcBef>
                <a:spcPct val="0"/>
              </a:spcBef>
              <a:buSzPct val="90000"/>
              <a:buFont typeface="Wingdings" panose="05000000000000000000" pitchFamily="2" charset="2"/>
              <a:buNone/>
            </a:pPr>
            <a:r>
              <a:rPr lang="en-US" altLang="zh-CN" sz="1600" noProof="1">
                <a:solidFill>
                  <a:srgbClr val="0000FF"/>
                </a:solidFill>
                <a:latin typeface="Consolas" panose="020B0609020204030204" pitchFamily="49" charset="0"/>
              </a:rPr>
              <a:t>11</a:t>
            </a:r>
          </a:p>
          <a:p>
            <a:pPr>
              <a:lnSpc>
                <a:spcPct val="80000"/>
              </a:lnSpc>
              <a:spcBef>
                <a:spcPct val="0"/>
              </a:spcBef>
              <a:buSzPct val="90000"/>
              <a:buFont typeface="Wingdings" panose="05000000000000000000" pitchFamily="2" charset="2"/>
              <a:buNone/>
            </a:pPr>
            <a:endParaRPr lang="zh-CN" altLang="en-US" sz="1800" noProof="1"/>
          </a:p>
        </p:txBody>
      </p:sp>
    </p:spTree>
    <p:extLst>
      <p:ext uri="{BB962C8B-B14F-4D97-AF65-F5344CB8AC3E}">
        <p14:creationId xmlns:p14="http://schemas.microsoft.com/office/powerpoint/2010/main" val="125275046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内容占位符 2"/>
          <p:cNvSpPr>
            <a:spLocks noGrp="1"/>
          </p:cNvSpPr>
          <p:nvPr>
            <p:ph idx="1"/>
          </p:nvPr>
        </p:nvSpPr>
        <p:spPr>
          <a:xfrm>
            <a:off x="569736" y="1052736"/>
            <a:ext cx="8229600" cy="4678451"/>
          </a:xfrm>
        </p:spPr>
        <p:txBody>
          <a:bodyPr vert="horz" wrap="square" lIns="68591" tIns="34295" rIns="68591" bIns="34295" numCol="1" anchor="t" anchorCtr="0" compatLnSpc="1">
            <a:prstTxWarp prst="textNoShape">
              <a:avLst/>
            </a:prstTxWarp>
          </a:bodyPr>
          <a:lstStyle/>
          <a:p>
            <a:pPr eaLnBrk="1" fontAlgn="base" hangingPunct="1">
              <a:spcBef>
                <a:spcPct val="0"/>
              </a:spcBef>
              <a:buClr>
                <a:srgbClr val="FF0000"/>
              </a:buClr>
              <a:buSzPct val="90000"/>
              <a:buFont typeface="Wingdings" panose="05000000000000000000" pitchFamily="2" charset="2"/>
              <a:buChar char="ü"/>
            </a:pPr>
            <a:r>
              <a:rPr lang="zh-CN" altLang="en-US" sz="2000" b="1" noProof="1">
                <a:latin typeface="Consolas" panose="020B0609020204030204" pitchFamily="49" charset="0"/>
              </a:rPr>
              <a:t>示例</a:t>
            </a:r>
            <a:endParaRPr lang="en-US" altLang="zh-CN" sz="2000" b="1" noProof="1">
              <a:latin typeface="Consolas" panose="020B0609020204030204" pitchFamily="49"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39</a:t>
            </a:fld>
            <a:endParaRPr lang="zh-CN" altLang="en-US" dirty="0"/>
          </a:p>
        </p:txBody>
      </p:sp>
      <p:grpSp>
        <p:nvGrpSpPr>
          <p:cNvPr id="6" name="组合 5"/>
          <p:cNvGrpSpPr/>
          <p:nvPr/>
        </p:nvGrpSpPr>
        <p:grpSpPr>
          <a:xfrm>
            <a:off x="-395016" y="116632"/>
            <a:ext cx="6983240" cy="648072"/>
            <a:chOff x="-14041" y="5026748"/>
            <a:chExt cx="7337768" cy="663172"/>
          </a:xfrm>
        </p:grpSpPr>
        <p:sp>
          <p:nvSpPr>
            <p:cNvPr id="7"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TextBox 6"/>
            <p:cNvSpPr txBox="1">
              <a:spLocks noChangeArrowheads="1"/>
            </p:cNvSpPr>
            <p:nvPr/>
          </p:nvSpPr>
          <p:spPr bwMode="auto">
            <a:xfrm>
              <a:off x="-14041"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solidFill>
                    <a:srgbClr val="FFC000"/>
                  </a:solidFill>
                  <a:latin typeface="Times New Roman" pitchFamily="18" charset="0"/>
                  <a:ea typeface="黑体" pitchFamily="49" charset="-122"/>
                </a:rPr>
                <a:t>5.5 Lambda</a:t>
              </a:r>
              <a:r>
                <a:rPr lang="zh-CN" altLang="en-US" sz="3200" b="1" dirty="0">
                  <a:solidFill>
                    <a:srgbClr val="FFC000"/>
                  </a:solidFill>
                  <a:latin typeface="Times New Roman" pitchFamily="18" charset="0"/>
                  <a:ea typeface="黑体" pitchFamily="49" charset="-122"/>
                </a:rPr>
                <a:t>表达式</a:t>
              </a:r>
            </a:p>
          </p:txBody>
        </p:sp>
        <p:pic>
          <p:nvPicPr>
            <p:cNvPr id="9" name="图片 8"/>
            <p:cNvPicPr>
              <a:picLocks noChangeAspect="1"/>
            </p:cNvPicPr>
            <p:nvPr/>
          </p:nvPicPr>
          <p:blipFill>
            <a:blip r:embed="rId3"/>
            <a:stretch>
              <a:fillRect/>
            </a:stretch>
          </p:blipFill>
          <p:spPr>
            <a:xfrm>
              <a:off x="1199659" y="5205012"/>
              <a:ext cx="420013" cy="322083"/>
            </a:xfrm>
            <a:prstGeom prst="rect">
              <a:avLst/>
            </a:prstGeom>
          </p:spPr>
        </p:pic>
      </p:grpSp>
      <p:sp>
        <p:nvSpPr>
          <p:cNvPr id="10" name="文本占位符 48130"/>
          <p:cNvSpPr txBox="1">
            <a:spLocks/>
          </p:cNvSpPr>
          <p:nvPr/>
        </p:nvSpPr>
        <p:spPr bwMode="auto">
          <a:xfrm>
            <a:off x="1758950" y="4581128"/>
            <a:ext cx="7385050" cy="3395980"/>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90000"/>
              <a:buFont typeface="Wingdings" panose="05000000000000000000" pitchFamily="2" charset="2"/>
              <a:buNone/>
            </a:pPr>
            <a:r>
              <a:rPr lang="pt-BR" altLang="en-US" sz="1400" noProof="1">
                <a:latin typeface="Consolas" panose="020B0609020204030204" pitchFamily="49" charset="0"/>
              </a:rPr>
              <a:t>&gt;&gt;&gt; def demo(n):</a:t>
            </a:r>
          </a:p>
          <a:p>
            <a:pPr>
              <a:buSzPct val="90000"/>
              <a:buFont typeface="Wingdings" panose="05000000000000000000" pitchFamily="2" charset="2"/>
              <a:buNone/>
            </a:pPr>
            <a:r>
              <a:rPr lang="en-US" altLang="zh-CN" sz="1400" noProof="1">
                <a:latin typeface="Consolas" panose="020B0609020204030204" pitchFamily="49" charset="0"/>
              </a:rPr>
              <a:t>    </a:t>
            </a:r>
            <a:r>
              <a:rPr lang="pt-BR" altLang="en-US" sz="1400" noProof="1">
                <a:latin typeface="Consolas" panose="020B0609020204030204" pitchFamily="49" charset="0"/>
              </a:rPr>
              <a:t>return n*n</a:t>
            </a:r>
          </a:p>
          <a:p>
            <a:pPr>
              <a:lnSpc>
                <a:spcPts val="1200"/>
              </a:lnSpc>
              <a:spcBef>
                <a:spcPts val="0"/>
              </a:spcBef>
              <a:buSzPct val="90000"/>
              <a:buFont typeface="Wingdings" panose="05000000000000000000" pitchFamily="2" charset="2"/>
              <a:buNone/>
            </a:pPr>
            <a:endParaRPr lang="pt-BR" altLang="en-US" sz="1400" noProof="1">
              <a:latin typeface="Consolas" panose="020B0609020204030204" pitchFamily="49" charset="0"/>
            </a:endParaRPr>
          </a:p>
          <a:p>
            <a:pPr>
              <a:buSzPct val="90000"/>
              <a:buFont typeface="Wingdings" panose="05000000000000000000" pitchFamily="2" charset="2"/>
              <a:buNone/>
            </a:pPr>
            <a:r>
              <a:rPr lang="pt-BR" altLang="en-US" sz="1400" noProof="1">
                <a:latin typeface="Consolas" panose="020B0609020204030204" pitchFamily="49" charset="0"/>
              </a:rPr>
              <a:t>&gt;&gt;&gt; demo(5)</a:t>
            </a:r>
          </a:p>
          <a:p>
            <a:pPr>
              <a:buSzPct val="90000"/>
              <a:buFont typeface="Wingdings" panose="05000000000000000000" pitchFamily="2" charset="2"/>
              <a:buNone/>
            </a:pPr>
            <a:r>
              <a:rPr lang="pt-BR" altLang="en-US" sz="1400" noProof="1">
                <a:solidFill>
                  <a:srgbClr val="0000FF"/>
                </a:solidFill>
                <a:latin typeface="Consolas" panose="020B0609020204030204" pitchFamily="49" charset="0"/>
              </a:rPr>
              <a:t>25</a:t>
            </a:r>
          </a:p>
          <a:p>
            <a:pPr>
              <a:buSzPct val="90000"/>
              <a:buFont typeface="Wingdings" panose="05000000000000000000" pitchFamily="2" charset="2"/>
              <a:buNone/>
            </a:pPr>
            <a:r>
              <a:rPr lang="pt-BR" altLang="en-US" sz="1400" noProof="1">
                <a:latin typeface="Consolas" panose="020B0609020204030204" pitchFamily="49" charset="0"/>
              </a:rPr>
              <a:t>&gt;&gt;&gt; a_list = [1,2,3,4,5]</a:t>
            </a:r>
          </a:p>
          <a:p>
            <a:pPr>
              <a:buSzPct val="90000"/>
              <a:buFont typeface="Wingdings" panose="05000000000000000000" pitchFamily="2" charset="2"/>
              <a:buNone/>
            </a:pPr>
            <a:r>
              <a:rPr lang="en-US" altLang="zh-CN" sz="1400" noProof="1">
                <a:latin typeface="Consolas" panose="020B0609020204030204" pitchFamily="49" charset="0"/>
              </a:rPr>
              <a:t>&gt;&gt;&gt; list(map(lambda x: demo(x), a_list))  #</a:t>
            </a:r>
            <a:r>
              <a:rPr lang="zh-CN" altLang="en-US" sz="1400" noProof="1">
                <a:latin typeface="Consolas" panose="020B0609020204030204" pitchFamily="49" charset="0"/>
              </a:rPr>
              <a:t>在</a:t>
            </a:r>
            <a:r>
              <a:rPr lang="en-US" altLang="zh-CN" sz="1400" noProof="1">
                <a:latin typeface="Consolas" panose="020B0609020204030204" pitchFamily="49" charset="0"/>
              </a:rPr>
              <a:t>lambda</a:t>
            </a:r>
            <a:r>
              <a:rPr lang="zh-CN" altLang="en-US" sz="1400" noProof="1">
                <a:latin typeface="Consolas" panose="020B0609020204030204" pitchFamily="49" charset="0"/>
              </a:rPr>
              <a:t>表达式中调用函数</a:t>
            </a:r>
          </a:p>
          <a:p>
            <a:pPr>
              <a:buSzPct val="90000"/>
              <a:buFont typeface="Wingdings" panose="05000000000000000000" pitchFamily="2" charset="2"/>
              <a:buNone/>
            </a:pPr>
            <a:r>
              <a:rPr lang="en-US" altLang="zh-CN" sz="1400" noProof="1">
                <a:solidFill>
                  <a:srgbClr val="0000FF"/>
                </a:solidFill>
                <a:latin typeface="Consolas" panose="020B0609020204030204" pitchFamily="49" charset="0"/>
              </a:rPr>
              <a:t>[1, 4, 9, 16, 25]</a:t>
            </a:r>
          </a:p>
        </p:txBody>
      </p:sp>
      <p:sp>
        <p:nvSpPr>
          <p:cNvPr id="4" name="矩形 3"/>
          <p:cNvSpPr/>
          <p:nvPr/>
        </p:nvSpPr>
        <p:spPr>
          <a:xfrm>
            <a:off x="1757040" y="1052736"/>
            <a:ext cx="8383957" cy="3323987"/>
          </a:xfrm>
          <a:prstGeom prst="rect">
            <a:avLst/>
          </a:prstGeom>
        </p:spPr>
        <p:txBody>
          <a:bodyPr wrap="square">
            <a:spAutoFit/>
          </a:bodyPr>
          <a:lstStyle/>
          <a:p>
            <a:pPr>
              <a:buSzPct val="90000"/>
            </a:pPr>
            <a:r>
              <a:rPr lang="en-US" altLang="zh-CN" sz="1400" noProof="1">
                <a:latin typeface="Consolas" panose="020B0609020204030204" pitchFamily="49" charset="0"/>
              </a:rPr>
              <a:t>&gt;&gt;&gt; L = [(lambda x: x**2),</a:t>
            </a:r>
          </a:p>
          <a:p>
            <a:pPr>
              <a:buSzPct val="90000"/>
            </a:pPr>
            <a:r>
              <a:rPr lang="en-US" altLang="zh-CN" sz="1400" noProof="1">
                <a:latin typeface="Consolas" panose="020B0609020204030204" pitchFamily="49" charset="0"/>
              </a:rPr>
              <a:t>         (lambda x: x**3),</a:t>
            </a:r>
          </a:p>
          <a:p>
            <a:pPr>
              <a:buSzPct val="90000"/>
            </a:pPr>
            <a:r>
              <a:rPr lang="en-US" altLang="zh-CN" sz="1400" noProof="1">
                <a:latin typeface="Consolas" panose="020B0609020204030204" pitchFamily="49" charset="0"/>
              </a:rPr>
              <a:t>         (lambda x: x**4)]</a:t>
            </a:r>
          </a:p>
          <a:p>
            <a:pPr>
              <a:buSzPct val="90000"/>
            </a:pPr>
            <a:r>
              <a:rPr lang="en-US" altLang="zh-CN" sz="1400" noProof="1">
                <a:latin typeface="Consolas" panose="020B0609020204030204" pitchFamily="49" charset="0"/>
              </a:rPr>
              <a:t>&gt;&gt;&gt; print(L[0](2),L[1](2),L[2](2))</a:t>
            </a:r>
          </a:p>
          <a:p>
            <a:pPr>
              <a:buSzPct val="90000"/>
            </a:pPr>
            <a:r>
              <a:rPr lang="en-US" altLang="zh-CN" sz="1400" noProof="1">
                <a:solidFill>
                  <a:srgbClr val="0000FF"/>
                </a:solidFill>
                <a:latin typeface="Consolas" panose="020B0609020204030204" pitchFamily="49" charset="0"/>
              </a:rPr>
              <a:t>4 8 16</a:t>
            </a:r>
          </a:p>
          <a:p>
            <a:pPr>
              <a:buSzPct val="90000"/>
            </a:pPr>
            <a:r>
              <a:rPr lang="en-US" altLang="zh-CN" sz="1400" noProof="1">
                <a:latin typeface="Consolas" panose="020B0609020204030204" pitchFamily="49" charset="0"/>
              </a:rPr>
              <a:t>&gt;&gt;&gt; D = {'f1':(lambda:2+3),</a:t>
            </a:r>
          </a:p>
          <a:p>
            <a:pPr>
              <a:buSzPct val="90000"/>
            </a:pPr>
            <a:r>
              <a:rPr lang="en-US" altLang="zh-CN" sz="1400" noProof="1">
                <a:latin typeface="Consolas" panose="020B0609020204030204" pitchFamily="49" charset="0"/>
              </a:rPr>
              <a:t>         'f2':(lambda:2*3),         </a:t>
            </a:r>
          </a:p>
          <a:p>
            <a:pPr>
              <a:buSzPct val="90000"/>
            </a:pPr>
            <a:r>
              <a:rPr lang="en-US" altLang="zh-CN" sz="1400" noProof="1">
                <a:latin typeface="Consolas" panose="020B0609020204030204" pitchFamily="49" charset="0"/>
              </a:rPr>
              <a:t>         'f3':(lambda:2**3)}</a:t>
            </a:r>
          </a:p>
          <a:p>
            <a:pPr>
              <a:buSzPct val="90000"/>
            </a:pPr>
            <a:r>
              <a:rPr lang="en-US" altLang="zh-CN" sz="1400" noProof="1">
                <a:latin typeface="Consolas" panose="020B0609020204030204" pitchFamily="49" charset="0"/>
              </a:rPr>
              <a:t>&gt;&gt;&gt; print(D['f1'](), D['f2'](), D['f3']())</a:t>
            </a:r>
          </a:p>
          <a:p>
            <a:pPr>
              <a:buSzPct val="90000"/>
            </a:pPr>
            <a:r>
              <a:rPr lang="en-US" altLang="zh-CN" sz="1400" noProof="1">
                <a:solidFill>
                  <a:srgbClr val="0000FF"/>
                </a:solidFill>
                <a:latin typeface="Consolas" panose="020B0609020204030204" pitchFamily="49" charset="0"/>
              </a:rPr>
              <a:t>5 6 8</a:t>
            </a:r>
          </a:p>
          <a:p>
            <a:pPr>
              <a:buSzPct val="90000"/>
            </a:pPr>
            <a:r>
              <a:rPr lang="en-US" altLang="zh-CN" sz="1400" noProof="1">
                <a:latin typeface="Consolas" panose="020B0609020204030204" pitchFamily="49" charset="0"/>
              </a:rPr>
              <a:t>&gt;&gt;&gt; L = [1,2,3,4,5]</a:t>
            </a:r>
          </a:p>
          <a:p>
            <a:pPr>
              <a:buSzPct val="90000"/>
            </a:pPr>
            <a:r>
              <a:rPr lang="en-US" altLang="zh-CN" sz="1400" noProof="1">
                <a:latin typeface="Consolas" panose="020B0609020204030204" pitchFamily="49" charset="0"/>
              </a:rPr>
              <a:t>&gt;&gt;&gt; print(list(map(lambda x: x+10, L))) </a:t>
            </a:r>
            <a:endParaRPr lang="zh-CN" altLang="en-US" sz="1400" noProof="1">
              <a:latin typeface="Consolas" panose="020B0609020204030204" pitchFamily="49" charset="0"/>
            </a:endParaRPr>
          </a:p>
          <a:p>
            <a:pPr>
              <a:buSzPct val="90000"/>
            </a:pPr>
            <a:r>
              <a:rPr lang="en-US" altLang="zh-CN" sz="1400" noProof="1">
                <a:solidFill>
                  <a:srgbClr val="0000FF"/>
                </a:solidFill>
                <a:latin typeface="Consolas" panose="020B0609020204030204" pitchFamily="49" charset="0"/>
              </a:rPr>
              <a:t>[11, 12, 13, 14, 15]</a:t>
            </a:r>
          </a:p>
          <a:p>
            <a:pPr>
              <a:buSzPct val="90000"/>
            </a:pPr>
            <a:r>
              <a:rPr lang="en-US" altLang="zh-CN" sz="1400" noProof="1">
                <a:latin typeface="Consolas" panose="020B0609020204030204" pitchFamily="49" charset="0"/>
              </a:rPr>
              <a:t>&gt;&gt;&gt; L</a:t>
            </a:r>
          </a:p>
          <a:p>
            <a:pPr>
              <a:buSzPct val="90000"/>
            </a:pPr>
            <a:r>
              <a:rPr lang="en-US" altLang="zh-CN" sz="1400" noProof="1">
                <a:solidFill>
                  <a:srgbClr val="0000FF"/>
                </a:solidFill>
                <a:latin typeface="Consolas" panose="020B0609020204030204" pitchFamily="49" charset="0"/>
              </a:rPr>
              <a:t>[1, 2, 3, 4, 5]</a:t>
            </a:r>
          </a:p>
        </p:txBody>
      </p:sp>
    </p:spTree>
    <p:extLst>
      <p:ext uri="{BB962C8B-B14F-4D97-AF65-F5344CB8AC3E}">
        <p14:creationId xmlns:p14="http://schemas.microsoft.com/office/powerpoint/2010/main" val="287487309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13" end="1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xEl>
                                              <p:pRg st="0" end="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
                                            <p:txEl>
                                              <p:pRg st="3" end="3"/>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文本占位符 49154"/>
          <p:cNvSpPr>
            <a:spLocks noGrp="1"/>
          </p:cNvSpPr>
          <p:nvPr>
            <p:ph idx="1"/>
          </p:nvPr>
        </p:nvSpPr>
        <p:spPr>
          <a:xfrm>
            <a:off x="760043" y="1052736"/>
            <a:ext cx="8229600" cy="4678451"/>
          </a:xfrm>
        </p:spPr>
        <p:txBody>
          <a:bodyPr vert="horz" wrap="square" lIns="68591" tIns="34295" rIns="68591" bIns="34295" numCol="1" anchor="t" anchorCtr="0" compatLnSpc="1">
            <a:prstTxWarp prst="textNoShape">
              <a:avLst/>
            </a:prstTxWarp>
          </a:bodyPr>
          <a:lstStyle/>
          <a:p>
            <a:pPr>
              <a:spcBef>
                <a:spcPts val="200"/>
              </a:spcBef>
              <a:buClr>
                <a:srgbClr val="FF0000"/>
              </a:buClr>
              <a:buSzPct val="90000"/>
              <a:buFont typeface="Wingdings" panose="05000000000000000000" pitchFamily="2" charset="2"/>
              <a:buChar char="ü"/>
            </a:pPr>
            <a:r>
              <a:rPr lang="zh-CN" altLang="en-US" sz="2000" b="1" noProof="1">
                <a:latin typeface="Consolas" panose="020B0609020204030204" pitchFamily="49" charset="0"/>
              </a:rPr>
              <a:t>示例</a:t>
            </a:r>
            <a:endParaRPr lang="en-US" altLang="zh-CN" sz="2000" b="1" noProof="1">
              <a:latin typeface="Consolas" panose="020B0609020204030204" pitchFamily="49" charset="0"/>
            </a:endParaRPr>
          </a:p>
          <a:p>
            <a:pPr>
              <a:spcBef>
                <a:spcPts val="200"/>
              </a:spcBef>
              <a:buSzPct val="90000"/>
              <a:buNone/>
            </a:pPr>
            <a:endParaRPr lang="en-US" altLang="zh-CN" sz="1200" dirty="0">
              <a:latin typeface="Consolas" panose="020B0609020204030204" pitchFamily="49"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40</a:t>
            </a:fld>
            <a:endParaRPr lang="zh-CN" altLang="en-US" dirty="0"/>
          </a:p>
        </p:txBody>
      </p:sp>
      <p:grpSp>
        <p:nvGrpSpPr>
          <p:cNvPr id="6" name="组合 5"/>
          <p:cNvGrpSpPr/>
          <p:nvPr/>
        </p:nvGrpSpPr>
        <p:grpSpPr>
          <a:xfrm>
            <a:off x="-395016" y="116632"/>
            <a:ext cx="6983240" cy="648072"/>
            <a:chOff x="-14041" y="5026748"/>
            <a:chExt cx="7337768" cy="663172"/>
          </a:xfrm>
        </p:grpSpPr>
        <p:sp>
          <p:nvSpPr>
            <p:cNvPr id="7"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TextBox 6"/>
            <p:cNvSpPr txBox="1">
              <a:spLocks noChangeArrowheads="1"/>
            </p:cNvSpPr>
            <p:nvPr/>
          </p:nvSpPr>
          <p:spPr bwMode="auto">
            <a:xfrm>
              <a:off x="-14041"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solidFill>
                    <a:srgbClr val="FFC000"/>
                  </a:solidFill>
                  <a:latin typeface="Times New Roman" pitchFamily="18" charset="0"/>
                  <a:ea typeface="黑体" pitchFamily="49" charset="-122"/>
                </a:rPr>
                <a:t>5.5 Lambda</a:t>
              </a:r>
              <a:r>
                <a:rPr lang="zh-CN" altLang="en-US" sz="3200" b="1" dirty="0">
                  <a:solidFill>
                    <a:srgbClr val="FFC000"/>
                  </a:solidFill>
                  <a:latin typeface="Times New Roman" pitchFamily="18" charset="0"/>
                  <a:ea typeface="黑体" pitchFamily="49" charset="-122"/>
                </a:rPr>
                <a:t>表达式</a:t>
              </a:r>
            </a:p>
          </p:txBody>
        </p:sp>
        <p:pic>
          <p:nvPicPr>
            <p:cNvPr id="9" name="图片 8"/>
            <p:cNvPicPr>
              <a:picLocks noChangeAspect="1"/>
            </p:cNvPicPr>
            <p:nvPr/>
          </p:nvPicPr>
          <p:blipFill>
            <a:blip r:embed="rId2"/>
            <a:stretch>
              <a:fillRect/>
            </a:stretch>
          </p:blipFill>
          <p:spPr>
            <a:xfrm>
              <a:off x="1199659" y="5205012"/>
              <a:ext cx="420013" cy="322083"/>
            </a:xfrm>
            <a:prstGeom prst="rect">
              <a:avLst/>
            </a:prstGeom>
          </p:spPr>
        </p:pic>
      </p:grpSp>
      <p:sp>
        <p:nvSpPr>
          <p:cNvPr id="4" name="矩形 3"/>
          <p:cNvSpPr/>
          <p:nvPr/>
        </p:nvSpPr>
        <p:spPr>
          <a:xfrm>
            <a:off x="1159763" y="1412776"/>
            <a:ext cx="7716742" cy="2477601"/>
          </a:xfrm>
          <a:prstGeom prst="rect">
            <a:avLst/>
          </a:prstGeom>
        </p:spPr>
        <p:txBody>
          <a:bodyPr wrap="square">
            <a:spAutoFit/>
          </a:bodyPr>
          <a:lstStyle/>
          <a:p>
            <a:pPr>
              <a:spcBef>
                <a:spcPts val="200"/>
              </a:spcBef>
              <a:buSzPct val="90000"/>
              <a:buNone/>
            </a:pPr>
            <a:r>
              <a:rPr lang="en-US" altLang="zh-CN" sz="1400" dirty="0">
                <a:latin typeface="Consolas" panose="020B0609020204030204" pitchFamily="49" charset="0"/>
              </a:rPr>
              <a:t>&gt;&gt;&gt; data = list(range(20))</a:t>
            </a:r>
            <a:endParaRPr lang="zh-CN" altLang="en-US" sz="1400" dirty="0">
              <a:latin typeface="Consolas" panose="020B0609020204030204" pitchFamily="49" charset="0"/>
            </a:endParaRPr>
          </a:p>
          <a:p>
            <a:pPr>
              <a:spcBef>
                <a:spcPts val="200"/>
              </a:spcBef>
              <a:buSzPct val="90000"/>
              <a:buNone/>
            </a:pPr>
            <a:r>
              <a:rPr lang="en-US" altLang="zh-CN" sz="1400" dirty="0">
                <a:latin typeface="Consolas" panose="020B0609020204030204" pitchFamily="49" charset="0"/>
              </a:rPr>
              <a:t>&gt;&gt;&gt; data</a:t>
            </a:r>
          </a:p>
          <a:p>
            <a:pPr>
              <a:spcBef>
                <a:spcPts val="200"/>
              </a:spcBef>
              <a:buSzPct val="90000"/>
              <a:buNone/>
            </a:pPr>
            <a:r>
              <a:rPr lang="en-US" altLang="zh-CN" sz="1400" dirty="0">
                <a:solidFill>
                  <a:srgbClr val="0000FF"/>
                </a:solidFill>
                <a:latin typeface="Consolas" panose="020B0609020204030204" pitchFamily="49" charset="0"/>
              </a:rPr>
              <a:t>[0, 1, 2, 3, 4, 5, 6, 7, 8, 9, 10, 11, 12, 13, 14, 15, 16, 17, 18, 19]</a:t>
            </a:r>
          </a:p>
          <a:p>
            <a:pPr>
              <a:spcBef>
                <a:spcPts val="200"/>
              </a:spcBef>
              <a:buSzPct val="90000"/>
              <a:buNone/>
            </a:pPr>
            <a:r>
              <a:rPr lang="en-US" altLang="zh-CN" sz="1400" dirty="0">
                <a:latin typeface="Consolas" panose="020B0609020204030204" pitchFamily="49" charset="0"/>
              </a:rPr>
              <a:t>&gt;&gt;&gt; import random</a:t>
            </a:r>
          </a:p>
          <a:p>
            <a:pPr>
              <a:spcBef>
                <a:spcPts val="200"/>
              </a:spcBef>
              <a:buSzPct val="9000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random.shuffle</a:t>
            </a:r>
            <a:r>
              <a:rPr lang="en-US" altLang="zh-CN" sz="1400" dirty="0">
                <a:latin typeface="Consolas" panose="020B0609020204030204" pitchFamily="49" charset="0"/>
              </a:rPr>
              <a:t>(data)</a:t>
            </a:r>
            <a:endParaRPr lang="zh-CN" altLang="en-US" sz="1400" dirty="0">
              <a:latin typeface="Consolas" panose="020B0609020204030204" pitchFamily="49" charset="0"/>
            </a:endParaRPr>
          </a:p>
          <a:p>
            <a:pPr>
              <a:spcBef>
                <a:spcPts val="200"/>
              </a:spcBef>
              <a:buSzPct val="90000"/>
              <a:buNone/>
            </a:pPr>
            <a:r>
              <a:rPr lang="en-US" altLang="zh-CN" sz="1400" dirty="0">
                <a:latin typeface="Consolas" panose="020B0609020204030204" pitchFamily="49" charset="0"/>
              </a:rPr>
              <a:t>&gt;&gt;&gt; data</a:t>
            </a:r>
          </a:p>
          <a:p>
            <a:pPr>
              <a:spcBef>
                <a:spcPts val="200"/>
              </a:spcBef>
              <a:buSzPct val="90000"/>
              <a:buNone/>
            </a:pPr>
            <a:r>
              <a:rPr lang="en-US" altLang="zh-CN" sz="1400" dirty="0">
                <a:solidFill>
                  <a:srgbClr val="0000FF"/>
                </a:solidFill>
                <a:latin typeface="Consolas" panose="020B0609020204030204" pitchFamily="49" charset="0"/>
              </a:rPr>
              <a:t>[4, 3, 11, 13, 12, 15, 9, 2, 10, 6, 19, 18, 14, 8, 0, 7, 5, 17, 1, 16]</a:t>
            </a:r>
          </a:p>
          <a:p>
            <a:pPr>
              <a:spcBef>
                <a:spcPts val="200"/>
              </a:spcBef>
              <a:buSzPct val="9000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data.sort</a:t>
            </a:r>
            <a:r>
              <a:rPr lang="en-US" altLang="zh-CN" sz="1400" dirty="0">
                <a:latin typeface="Consolas" panose="020B0609020204030204" pitchFamily="49" charset="0"/>
              </a:rPr>
              <a:t>(key=lambda x: x) </a:t>
            </a:r>
          </a:p>
          <a:p>
            <a:pPr>
              <a:spcBef>
                <a:spcPts val="200"/>
              </a:spcBef>
              <a:buSzPct val="90000"/>
              <a:buNone/>
            </a:pPr>
            <a:r>
              <a:rPr lang="en-US" altLang="zh-CN" sz="1400" dirty="0">
                <a:latin typeface="Consolas" panose="020B0609020204030204" pitchFamily="49" charset="0"/>
              </a:rPr>
              <a:t>&gt;&gt;&gt; data</a:t>
            </a:r>
          </a:p>
          <a:p>
            <a:pPr>
              <a:spcBef>
                <a:spcPts val="200"/>
              </a:spcBef>
              <a:buSzPct val="90000"/>
              <a:buNone/>
            </a:pPr>
            <a:r>
              <a:rPr lang="en-US" altLang="zh-CN" sz="1400" dirty="0">
                <a:solidFill>
                  <a:srgbClr val="0000FF"/>
                </a:solidFill>
                <a:latin typeface="Consolas" panose="020B0609020204030204" pitchFamily="49" charset="0"/>
              </a:rPr>
              <a:t>[0, 1, 2, 3, 4, 5, 6, 7, 8, 9, 10, 11, 12, 13, 14, 15, 16, 17, 18, 19]</a:t>
            </a:r>
          </a:p>
        </p:txBody>
      </p:sp>
      <p:sp>
        <p:nvSpPr>
          <p:cNvPr id="11" name="内容占位符 2"/>
          <p:cNvSpPr txBox="1">
            <a:spLocks/>
          </p:cNvSpPr>
          <p:nvPr/>
        </p:nvSpPr>
        <p:spPr bwMode="auto">
          <a:xfrm>
            <a:off x="1149328" y="4090144"/>
            <a:ext cx="7441979"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200"/>
              </a:spcBef>
              <a:buSzPct val="90000"/>
              <a:buFont typeface="Arial" charset="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data.sort</a:t>
            </a:r>
            <a:r>
              <a:rPr lang="en-US" altLang="zh-CN" sz="1400" dirty="0">
                <a:latin typeface="Consolas" panose="020B0609020204030204" pitchFamily="49" charset="0"/>
              </a:rPr>
              <a:t>(key=lambda x: </a:t>
            </a:r>
            <a:r>
              <a:rPr lang="en-US" altLang="zh-CN" sz="1400" dirty="0" err="1">
                <a:latin typeface="Consolas" panose="020B0609020204030204" pitchFamily="49" charset="0"/>
              </a:rPr>
              <a:t>len</a:t>
            </a:r>
            <a:r>
              <a:rPr lang="en-US" altLang="zh-CN" sz="1400" dirty="0">
                <a:latin typeface="Consolas" panose="020B0609020204030204" pitchFamily="49" charset="0"/>
              </a:rPr>
              <a:t>(</a:t>
            </a:r>
            <a:r>
              <a:rPr lang="en-US" altLang="zh-CN" sz="1400" dirty="0" err="1">
                <a:latin typeface="Consolas" panose="020B0609020204030204" pitchFamily="49" charset="0"/>
              </a:rPr>
              <a:t>str</a:t>
            </a:r>
            <a:r>
              <a:rPr lang="en-US" altLang="zh-CN" sz="1400" dirty="0">
                <a:latin typeface="Consolas" panose="020B0609020204030204" pitchFamily="49" charset="0"/>
              </a:rPr>
              <a:t>(x)))</a:t>
            </a:r>
            <a:endParaRPr lang="zh-CN" altLang="en-US" sz="1400" dirty="0">
              <a:latin typeface="Consolas" panose="020B0609020204030204" pitchFamily="49" charset="0"/>
            </a:endParaRPr>
          </a:p>
          <a:p>
            <a:pPr>
              <a:spcBef>
                <a:spcPts val="200"/>
              </a:spcBef>
              <a:buSzPct val="90000"/>
              <a:buFont typeface="Arial" charset="0"/>
              <a:buNone/>
            </a:pPr>
            <a:r>
              <a:rPr lang="en-US" altLang="zh-CN" sz="1400" dirty="0">
                <a:latin typeface="Consolas" panose="020B0609020204030204" pitchFamily="49" charset="0"/>
              </a:rPr>
              <a:t>&gt;&gt;&gt; data</a:t>
            </a:r>
          </a:p>
          <a:p>
            <a:pPr>
              <a:spcBef>
                <a:spcPts val="200"/>
              </a:spcBef>
              <a:buSzPct val="90000"/>
              <a:buFont typeface="Arial" charset="0"/>
              <a:buNone/>
            </a:pPr>
            <a:r>
              <a:rPr lang="en-US" altLang="zh-CN" sz="1400" dirty="0">
                <a:solidFill>
                  <a:srgbClr val="0000FF"/>
                </a:solidFill>
                <a:latin typeface="Consolas" panose="020B0609020204030204" pitchFamily="49" charset="0"/>
              </a:rPr>
              <a:t>[0, 1, 2, 3, 4, 5, 6, 7, 8, 9, 10, 11, 12, 13, 14, 15, 16, 17, 18, 19]</a:t>
            </a:r>
          </a:p>
          <a:p>
            <a:pPr>
              <a:spcBef>
                <a:spcPts val="200"/>
              </a:spcBef>
              <a:buSzPct val="90000"/>
              <a:buFont typeface="Arial" charset="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data.sort</a:t>
            </a:r>
            <a:r>
              <a:rPr lang="en-US" altLang="zh-CN" sz="1400" dirty="0">
                <a:latin typeface="Consolas" panose="020B0609020204030204" pitchFamily="49" charset="0"/>
              </a:rPr>
              <a:t>(key=lambda x: </a:t>
            </a:r>
            <a:r>
              <a:rPr lang="en-US" altLang="zh-CN" sz="1400" dirty="0" err="1">
                <a:latin typeface="Consolas" panose="020B0609020204030204" pitchFamily="49" charset="0"/>
              </a:rPr>
              <a:t>len</a:t>
            </a:r>
            <a:r>
              <a:rPr lang="en-US" altLang="zh-CN" sz="1400" dirty="0">
                <a:latin typeface="Consolas" panose="020B0609020204030204" pitchFamily="49" charset="0"/>
              </a:rPr>
              <a:t>(</a:t>
            </a:r>
            <a:r>
              <a:rPr lang="en-US" altLang="zh-CN" sz="1400" dirty="0" err="1">
                <a:latin typeface="Consolas" panose="020B0609020204030204" pitchFamily="49" charset="0"/>
              </a:rPr>
              <a:t>str</a:t>
            </a:r>
            <a:r>
              <a:rPr lang="en-US" altLang="zh-CN" sz="1400" dirty="0">
                <a:latin typeface="Consolas" panose="020B0609020204030204" pitchFamily="49" charset="0"/>
              </a:rPr>
              <a:t>(x)), reverse=True)</a:t>
            </a:r>
          </a:p>
          <a:p>
            <a:pPr>
              <a:spcBef>
                <a:spcPts val="200"/>
              </a:spcBef>
              <a:buSzPct val="90000"/>
              <a:buFont typeface="Arial" charset="0"/>
              <a:buNone/>
            </a:pPr>
            <a:r>
              <a:rPr lang="en-US" altLang="zh-CN" sz="1400" dirty="0">
                <a:latin typeface="Consolas" panose="020B0609020204030204" pitchFamily="49" charset="0"/>
              </a:rPr>
              <a:t>                                         </a:t>
            </a:r>
            <a:endParaRPr lang="zh-CN" altLang="en-US" sz="1400" dirty="0">
              <a:latin typeface="Consolas" panose="020B0609020204030204" pitchFamily="49" charset="0"/>
            </a:endParaRPr>
          </a:p>
          <a:p>
            <a:pPr>
              <a:spcBef>
                <a:spcPts val="200"/>
              </a:spcBef>
              <a:buSzPct val="90000"/>
              <a:buFont typeface="Arial" charset="0"/>
              <a:buNone/>
            </a:pPr>
            <a:r>
              <a:rPr lang="en-US" altLang="zh-CN" sz="1400" dirty="0">
                <a:latin typeface="Consolas" panose="020B0609020204030204" pitchFamily="49" charset="0"/>
              </a:rPr>
              <a:t>&gt;&gt;&gt; data</a:t>
            </a:r>
          </a:p>
          <a:p>
            <a:pPr>
              <a:spcBef>
                <a:spcPts val="200"/>
              </a:spcBef>
              <a:buSzPct val="90000"/>
              <a:buFont typeface="Arial" charset="0"/>
              <a:buNone/>
            </a:pPr>
            <a:r>
              <a:rPr lang="en-US" altLang="zh-CN" sz="1400" dirty="0">
                <a:solidFill>
                  <a:srgbClr val="0000FF"/>
                </a:solidFill>
                <a:latin typeface="Consolas" panose="020B0609020204030204" pitchFamily="49" charset="0"/>
              </a:rPr>
              <a:t>[10, 11, 12, 13, 14, 15, 16, 17, 18, 19, 0, 1, 2, 3, 4, 5, 6, 7, 8, 9]</a:t>
            </a:r>
          </a:p>
        </p:txBody>
      </p:sp>
      <p:sp>
        <p:nvSpPr>
          <p:cNvPr id="3" name="矩形 2"/>
          <p:cNvSpPr/>
          <p:nvPr/>
        </p:nvSpPr>
        <p:spPr>
          <a:xfrm>
            <a:off x="5724128" y="3284984"/>
            <a:ext cx="2348720" cy="338554"/>
          </a:xfrm>
          <a:prstGeom prst="rect">
            <a:avLst/>
          </a:prstGeom>
        </p:spPr>
        <p:txBody>
          <a:bodyPr wrap="none">
            <a:spAutoFit/>
          </a:bodyPr>
          <a:lstStyle/>
          <a:p>
            <a:pPr>
              <a:spcBef>
                <a:spcPts val="200"/>
              </a:spcBef>
              <a:buSzPct val="90000"/>
              <a:buNone/>
            </a:pPr>
            <a:r>
              <a:rPr lang="en-US" altLang="zh-CN" sz="1600" dirty="0">
                <a:solidFill>
                  <a:srgbClr val="FF0000"/>
                </a:solidFill>
                <a:latin typeface="Consolas" panose="020B0609020204030204" pitchFamily="49" charset="0"/>
                <a:ea typeface="仿宋" panose="02010609060101010101" pitchFamily="49" charset="-122"/>
              </a:rPr>
              <a:t>#</a:t>
            </a:r>
            <a:r>
              <a:rPr lang="zh-CN" altLang="en-US" sz="1600" dirty="0">
                <a:solidFill>
                  <a:srgbClr val="FF0000"/>
                </a:solidFill>
                <a:latin typeface="Consolas" panose="020B0609020204030204" pitchFamily="49" charset="0"/>
                <a:ea typeface="仿宋" panose="02010609060101010101" pitchFamily="49" charset="-122"/>
              </a:rPr>
              <a:t>和不指定规则效果一样</a:t>
            </a:r>
          </a:p>
        </p:txBody>
      </p:sp>
      <p:sp>
        <p:nvSpPr>
          <p:cNvPr id="5" name="矩形 4"/>
          <p:cNvSpPr/>
          <p:nvPr/>
        </p:nvSpPr>
        <p:spPr>
          <a:xfrm>
            <a:off x="5707048" y="4077072"/>
            <a:ext cx="3169457" cy="338554"/>
          </a:xfrm>
          <a:prstGeom prst="rect">
            <a:avLst/>
          </a:prstGeom>
        </p:spPr>
        <p:txBody>
          <a:bodyPr wrap="none">
            <a:spAutoFit/>
          </a:bodyPr>
          <a:lstStyle/>
          <a:p>
            <a:pPr>
              <a:spcBef>
                <a:spcPts val="200"/>
              </a:spcBef>
              <a:buSzPct val="90000"/>
            </a:pPr>
            <a:r>
              <a:rPr lang="en-US" altLang="zh-CN" sz="1600" dirty="0">
                <a:solidFill>
                  <a:srgbClr val="FF0000"/>
                </a:solidFill>
                <a:latin typeface="Consolas" panose="020B0609020204030204" pitchFamily="49" charset="0"/>
                <a:ea typeface="仿宋" panose="02010609060101010101" pitchFamily="49" charset="-122"/>
              </a:rPr>
              <a:t>#</a:t>
            </a:r>
            <a:r>
              <a:rPr lang="zh-CN" altLang="en-US" sz="1600" dirty="0">
                <a:solidFill>
                  <a:srgbClr val="FF0000"/>
                </a:solidFill>
                <a:latin typeface="Consolas" panose="020B0609020204030204" pitchFamily="49" charset="0"/>
                <a:ea typeface="仿宋" panose="02010609060101010101" pitchFamily="49" charset="-122"/>
              </a:rPr>
              <a:t>按转换成字符串以后的长度排序</a:t>
            </a:r>
          </a:p>
        </p:txBody>
      </p:sp>
      <p:sp>
        <p:nvSpPr>
          <p:cNvPr id="10" name="矩形 9"/>
          <p:cNvSpPr/>
          <p:nvPr/>
        </p:nvSpPr>
        <p:spPr>
          <a:xfrm>
            <a:off x="7137693" y="4833282"/>
            <a:ext cx="1117614" cy="338554"/>
          </a:xfrm>
          <a:prstGeom prst="rect">
            <a:avLst/>
          </a:prstGeom>
        </p:spPr>
        <p:txBody>
          <a:bodyPr wrap="none">
            <a:spAutoFit/>
          </a:bodyPr>
          <a:lstStyle/>
          <a:p>
            <a:pPr>
              <a:spcBef>
                <a:spcPts val="200"/>
              </a:spcBef>
              <a:buSzPct val="90000"/>
            </a:pPr>
            <a:r>
              <a:rPr lang="en-US" altLang="zh-CN" sz="1600" dirty="0">
                <a:solidFill>
                  <a:srgbClr val="FF0000"/>
                </a:solidFill>
                <a:latin typeface="Consolas" panose="020B0609020204030204" pitchFamily="49" charset="0"/>
                <a:ea typeface="仿宋" panose="02010609060101010101" pitchFamily="49" charset="-122"/>
              </a:rPr>
              <a:t>#</a:t>
            </a:r>
            <a:r>
              <a:rPr lang="zh-CN" altLang="en-US" sz="1600" dirty="0">
                <a:solidFill>
                  <a:srgbClr val="FF0000"/>
                </a:solidFill>
                <a:latin typeface="Consolas" panose="020B0609020204030204" pitchFamily="49" charset="0"/>
                <a:ea typeface="仿宋" panose="02010609060101010101" pitchFamily="49" charset="-122"/>
              </a:rPr>
              <a:t>降序排序</a:t>
            </a:r>
          </a:p>
        </p:txBody>
      </p:sp>
    </p:spTree>
    <p:extLst>
      <p:ext uri="{BB962C8B-B14F-4D97-AF65-F5344CB8AC3E}">
        <p14:creationId xmlns:p14="http://schemas.microsoft.com/office/powerpoint/2010/main" val="387782487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7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build="p"/>
      <p:bldP spid="3" grpId="0"/>
      <p:bldP spid="5"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内容占位符 2"/>
          <p:cNvSpPr>
            <a:spLocks noGrp="1"/>
          </p:cNvSpPr>
          <p:nvPr>
            <p:ph idx="1"/>
          </p:nvPr>
        </p:nvSpPr>
        <p:spPr>
          <a:xfrm>
            <a:off x="1619672" y="1017399"/>
            <a:ext cx="6984776" cy="4678451"/>
          </a:xfrm>
        </p:spPr>
        <p:txBody>
          <a:bodyPr vert="horz" wrap="square" lIns="68591" tIns="34295" rIns="68591" bIns="34295" numCol="1" anchor="t" anchorCtr="0" compatLnSpc="1">
            <a:prstTxWarp prst="textNoShape">
              <a:avLst/>
            </a:prstTxWarp>
          </a:bodyPr>
          <a:lstStyle/>
          <a:p>
            <a:pPr marL="0" indent="0">
              <a:buSzPct val="90000"/>
              <a:buNone/>
            </a:pPr>
            <a:r>
              <a:rPr lang="zh-CN" altLang="en-US" sz="1400" dirty="0">
                <a:latin typeface="Consolas" panose="020B0609020204030204" pitchFamily="49" charset="0"/>
              </a:rPr>
              <a:t>&gt;&gt;&gt; import random</a:t>
            </a:r>
          </a:p>
          <a:p>
            <a:pPr marL="0" indent="0">
              <a:buSzPct val="90000"/>
              <a:buNone/>
            </a:pPr>
            <a:r>
              <a:rPr lang="zh-CN" altLang="en-US" sz="1400" dirty="0">
                <a:latin typeface="Consolas" panose="020B0609020204030204" pitchFamily="49" charset="0"/>
              </a:rPr>
              <a:t>&gt;&gt;&gt; x = [[random.randint(1,10) for j in range(5)] for i in range(5)]</a:t>
            </a:r>
          </a:p>
          <a:p>
            <a:pPr marL="0" indent="0">
              <a:buSzPct val="90000"/>
              <a:buNone/>
            </a:pPr>
            <a:r>
              <a:rPr lang="zh-CN" altLang="en-US" sz="1400" dirty="0">
                <a:latin typeface="Consolas" panose="020B0609020204030204" pitchFamily="49" charset="0"/>
              </a:rPr>
              <a:t>&gt;&gt;&gt; for item in x:</a:t>
            </a:r>
          </a:p>
          <a:p>
            <a:pPr marL="0" indent="0">
              <a:buSzPct val="90000"/>
              <a:buNone/>
            </a:pPr>
            <a:r>
              <a:rPr lang="en-US" altLang="zh-CN" sz="1400" dirty="0">
                <a:latin typeface="Consolas" panose="020B0609020204030204" pitchFamily="49" charset="0"/>
              </a:rPr>
              <a:t>    </a:t>
            </a:r>
            <a:r>
              <a:rPr lang="zh-CN" altLang="en-US" sz="1400" dirty="0">
                <a:latin typeface="Consolas" panose="020B0609020204030204" pitchFamily="49" charset="0"/>
              </a:rPr>
              <a:t>print(item)	</a:t>
            </a:r>
          </a:p>
          <a:p>
            <a:pPr marL="0" indent="0">
              <a:lnSpc>
                <a:spcPts val="1200"/>
              </a:lnSpc>
              <a:spcBef>
                <a:spcPts val="0"/>
              </a:spcBef>
              <a:buSzPct val="90000"/>
              <a:buNone/>
            </a:pPr>
            <a:endParaRPr lang="zh-CN" altLang="en-US" sz="1400" dirty="0">
              <a:latin typeface="Consolas" panose="020B0609020204030204" pitchFamily="49" charset="0"/>
            </a:endParaRPr>
          </a:p>
          <a:p>
            <a:pPr marL="0" indent="0">
              <a:buSzPct val="90000"/>
              <a:buNone/>
            </a:pPr>
            <a:r>
              <a:rPr lang="zh-CN" altLang="en-US" sz="1400" dirty="0">
                <a:solidFill>
                  <a:srgbClr val="0000FF"/>
                </a:solidFill>
                <a:latin typeface="Consolas" panose="020B0609020204030204" pitchFamily="49" charset="0"/>
              </a:rPr>
              <a:t>[5, 6, 8, 7, 4]</a:t>
            </a:r>
          </a:p>
          <a:p>
            <a:pPr marL="0" indent="0">
              <a:buSzPct val="90000"/>
              <a:buNone/>
            </a:pPr>
            <a:r>
              <a:rPr lang="zh-CN" altLang="en-US" sz="1400" dirty="0">
                <a:solidFill>
                  <a:srgbClr val="0000FF"/>
                </a:solidFill>
                <a:latin typeface="Consolas" panose="020B0609020204030204" pitchFamily="49" charset="0"/>
              </a:rPr>
              <a:t>[1, 5, 3, 9, 4]</a:t>
            </a:r>
          </a:p>
          <a:p>
            <a:pPr marL="0" indent="0">
              <a:buSzPct val="90000"/>
              <a:buNone/>
            </a:pPr>
            <a:r>
              <a:rPr lang="zh-CN" altLang="en-US" sz="1400" dirty="0">
                <a:solidFill>
                  <a:srgbClr val="0000FF"/>
                </a:solidFill>
                <a:latin typeface="Consolas" panose="020B0609020204030204" pitchFamily="49" charset="0"/>
              </a:rPr>
              <a:t>[9, 6, 10, 7, 6]</a:t>
            </a:r>
          </a:p>
          <a:p>
            <a:pPr marL="0" indent="0">
              <a:buSzPct val="90000"/>
              <a:buNone/>
            </a:pPr>
            <a:r>
              <a:rPr lang="zh-CN" altLang="en-US" sz="1400" dirty="0">
                <a:solidFill>
                  <a:srgbClr val="0000FF"/>
                </a:solidFill>
                <a:latin typeface="Consolas" panose="020B0609020204030204" pitchFamily="49" charset="0"/>
              </a:rPr>
              <a:t>[8, 2, 7, 1, 6]</a:t>
            </a:r>
          </a:p>
          <a:p>
            <a:pPr marL="0" indent="0">
              <a:buSzPct val="90000"/>
              <a:buNone/>
            </a:pPr>
            <a:r>
              <a:rPr lang="zh-CN" altLang="en-US" sz="1400" dirty="0">
                <a:solidFill>
                  <a:srgbClr val="0000FF"/>
                </a:solidFill>
                <a:latin typeface="Consolas" panose="020B0609020204030204" pitchFamily="49" charset="0"/>
              </a:rPr>
              <a:t>[1, 7, 5, 3, 5]</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41</a:t>
            </a:fld>
            <a:endParaRPr lang="zh-CN" altLang="en-US" dirty="0"/>
          </a:p>
        </p:txBody>
      </p:sp>
      <p:sp>
        <p:nvSpPr>
          <p:cNvPr id="6" name="文本占位符 49154"/>
          <p:cNvSpPr txBox="1">
            <a:spLocks/>
          </p:cNvSpPr>
          <p:nvPr/>
        </p:nvSpPr>
        <p:spPr bwMode="auto">
          <a:xfrm>
            <a:off x="459971" y="963233"/>
            <a:ext cx="1015685" cy="414140"/>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200"/>
              </a:spcBef>
              <a:buClr>
                <a:srgbClr val="FF0000"/>
              </a:buClr>
              <a:buSzPct val="90000"/>
              <a:buFont typeface="Wingdings" panose="05000000000000000000" pitchFamily="2" charset="2"/>
              <a:buChar char="ü"/>
            </a:pPr>
            <a:r>
              <a:rPr lang="zh-CN" altLang="en-US" sz="2000" b="1" noProof="1">
                <a:latin typeface="Consolas" panose="020B0609020204030204" pitchFamily="49" charset="0"/>
              </a:rPr>
              <a:t>示例</a:t>
            </a:r>
            <a:endParaRPr lang="en-US" altLang="zh-CN" sz="2000" b="1" noProof="1">
              <a:latin typeface="Consolas" panose="020B0609020204030204" pitchFamily="49" charset="0"/>
            </a:endParaRPr>
          </a:p>
          <a:p>
            <a:pPr>
              <a:spcBef>
                <a:spcPts val="200"/>
              </a:spcBef>
              <a:buSzPct val="90000"/>
              <a:buFont typeface="Arial" charset="0"/>
              <a:buNone/>
            </a:pPr>
            <a:endParaRPr lang="en-US" altLang="zh-CN" sz="1200" dirty="0">
              <a:latin typeface="Consolas" panose="020B0609020204030204" pitchFamily="49" charset="0"/>
            </a:endParaRPr>
          </a:p>
        </p:txBody>
      </p:sp>
      <p:grpSp>
        <p:nvGrpSpPr>
          <p:cNvPr id="7" name="组合 6"/>
          <p:cNvGrpSpPr/>
          <p:nvPr/>
        </p:nvGrpSpPr>
        <p:grpSpPr>
          <a:xfrm>
            <a:off x="-399483" y="116632"/>
            <a:ext cx="6983240" cy="648072"/>
            <a:chOff x="-14041" y="5026748"/>
            <a:chExt cx="7337768" cy="663172"/>
          </a:xfrm>
        </p:grpSpPr>
        <p:sp>
          <p:nvSpPr>
            <p:cNvPr id="8"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4041"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5.5 Lambda</a:t>
              </a:r>
              <a:r>
                <a:rPr lang="zh-CN" altLang="en-US" sz="3200" b="1" dirty="0">
                  <a:latin typeface="Times New Roman" pitchFamily="18" charset="0"/>
                  <a:ea typeface="黑体" pitchFamily="49" charset="-122"/>
                </a:rPr>
                <a:t>表达式</a:t>
              </a:r>
            </a:p>
          </p:txBody>
        </p:sp>
        <p:pic>
          <p:nvPicPr>
            <p:cNvPr id="10" name="图片 9"/>
            <p:cNvPicPr>
              <a:picLocks noChangeAspect="1"/>
            </p:cNvPicPr>
            <p:nvPr/>
          </p:nvPicPr>
          <p:blipFill>
            <a:blip r:embed="rId2"/>
            <a:stretch>
              <a:fillRect/>
            </a:stretch>
          </p:blipFill>
          <p:spPr>
            <a:xfrm>
              <a:off x="1199659" y="5205012"/>
              <a:ext cx="420013" cy="322083"/>
            </a:xfrm>
            <a:prstGeom prst="rect">
              <a:avLst/>
            </a:prstGeom>
          </p:spPr>
        </p:pic>
      </p:grpSp>
      <p:sp>
        <p:nvSpPr>
          <p:cNvPr id="11" name="内容占位符 2"/>
          <p:cNvSpPr txBox="1">
            <a:spLocks/>
          </p:cNvSpPr>
          <p:nvPr/>
        </p:nvSpPr>
        <p:spPr bwMode="auto">
          <a:xfrm>
            <a:off x="1619672" y="4292362"/>
            <a:ext cx="5469532" cy="2302187"/>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90000"/>
              <a:buFont typeface="Arial" charset="0"/>
              <a:buNone/>
            </a:pPr>
            <a:r>
              <a:rPr lang="zh-CN" altLang="en-US" sz="1400" dirty="0">
                <a:latin typeface="Consolas" panose="020B0609020204030204" pitchFamily="49" charset="0"/>
              </a:rPr>
              <a:t>&gt;&gt;&gt; y = sorted(x, key=lambda item: (item[1], item[4]))</a:t>
            </a:r>
          </a:p>
          <a:p>
            <a:pPr marL="0" indent="0">
              <a:buSzPct val="90000"/>
              <a:buFont typeface="Arial" charset="0"/>
              <a:buNone/>
            </a:pPr>
            <a:r>
              <a:rPr lang="zh-CN" altLang="en-US" sz="1400" dirty="0">
                <a:latin typeface="Consolas" panose="020B0609020204030204" pitchFamily="49" charset="0"/>
              </a:rPr>
              <a:t>&gt;&gt;&gt; for item in y:</a:t>
            </a:r>
          </a:p>
          <a:p>
            <a:pPr marL="0" indent="0">
              <a:buSzPct val="90000"/>
              <a:buFont typeface="Arial" charset="0"/>
              <a:buNone/>
            </a:pPr>
            <a:r>
              <a:rPr lang="en-US" altLang="zh-CN" sz="1400" dirty="0">
                <a:latin typeface="Consolas" panose="020B0609020204030204" pitchFamily="49" charset="0"/>
              </a:rPr>
              <a:t>    </a:t>
            </a:r>
            <a:r>
              <a:rPr lang="zh-CN" altLang="en-US" sz="1400" dirty="0">
                <a:latin typeface="Consolas" panose="020B0609020204030204" pitchFamily="49" charset="0"/>
              </a:rPr>
              <a:t>print(item)	</a:t>
            </a:r>
          </a:p>
          <a:p>
            <a:pPr marL="0" indent="0">
              <a:lnSpc>
                <a:spcPts val="1200"/>
              </a:lnSpc>
              <a:buSzPct val="90000"/>
              <a:buFont typeface="Arial" charset="0"/>
              <a:buNone/>
            </a:pPr>
            <a:endParaRPr lang="zh-CN" altLang="en-US" sz="1400" dirty="0">
              <a:latin typeface="Consolas" panose="020B0609020204030204" pitchFamily="49" charset="0"/>
            </a:endParaRPr>
          </a:p>
          <a:p>
            <a:pPr marL="0" indent="0">
              <a:buSzPct val="90000"/>
              <a:buFont typeface="Arial" charset="0"/>
              <a:buNone/>
            </a:pPr>
            <a:r>
              <a:rPr lang="zh-CN" altLang="en-US" sz="1400" dirty="0">
                <a:solidFill>
                  <a:srgbClr val="0000FF"/>
                </a:solidFill>
                <a:latin typeface="Consolas" panose="020B0609020204030204" pitchFamily="49" charset="0"/>
              </a:rPr>
              <a:t>[8, 2, 7, 1, 6]</a:t>
            </a:r>
          </a:p>
          <a:p>
            <a:pPr marL="0" indent="0">
              <a:buSzPct val="90000"/>
              <a:buFont typeface="Arial" charset="0"/>
              <a:buNone/>
            </a:pPr>
            <a:r>
              <a:rPr lang="zh-CN" altLang="en-US" sz="1400" dirty="0">
                <a:solidFill>
                  <a:srgbClr val="0000FF"/>
                </a:solidFill>
                <a:latin typeface="Consolas" panose="020B0609020204030204" pitchFamily="49" charset="0"/>
              </a:rPr>
              <a:t>[1, 5, 3, 9, 4]</a:t>
            </a:r>
          </a:p>
          <a:p>
            <a:pPr marL="0" indent="0">
              <a:buSzPct val="90000"/>
              <a:buFont typeface="Arial" charset="0"/>
              <a:buNone/>
            </a:pPr>
            <a:r>
              <a:rPr lang="zh-CN" altLang="en-US" sz="1400" dirty="0">
                <a:solidFill>
                  <a:srgbClr val="0000FF"/>
                </a:solidFill>
                <a:latin typeface="Consolas" panose="020B0609020204030204" pitchFamily="49" charset="0"/>
              </a:rPr>
              <a:t>[5, 6, 8, 7, 4]</a:t>
            </a:r>
          </a:p>
          <a:p>
            <a:pPr marL="0" indent="0">
              <a:buSzPct val="90000"/>
              <a:buFont typeface="Arial" charset="0"/>
              <a:buNone/>
            </a:pPr>
            <a:r>
              <a:rPr lang="zh-CN" altLang="en-US" sz="1400" dirty="0">
                <a:solidFill>
                  <a:srgbClr val="0000FF"/>
                </a:solidFill>
                <a:latin typeface="Consolas" panose="020B0609020204030204" pitchFamily="49" charset="0"/>
              </a:rPr>
              <a:t>[9, 6, 10, 7, 6]</a:t>
            </a:r>
          </a:p>
          <a:p>
            <a:pPr marL="0" indent="0">
              <a:buSzPct val="90000"/>
              <a:buFont typeface="Arial" charset="0"/>
              <a:buNone/>
            </a:pPr>
            <a:r>
              <a:rPr lang="zh-CN" altLang="en-US" sz="1400" dirty="0">
                <a:solidFill>
                  <a:srgbClr val="0000FF"/>
                </a:solidFill>
                <a:latin typeface="Consolas" panose="020B0609020204030204" pitchFamily="49" charset="0"/>
              </a:rPr>
              <a:t>[1, 7, 5, 3, 5]</a:t>
            </a:r>
          </a:p>
        </p:txBody>
      </p:sp>
      <p:sp>
        <p:nvSpPr>
          <p:cNvPr id="4" name="矩形 3"/>
          <p:cNvSpPr/>
          <p:nvPr/>
        </p:nvSpPr>
        <p:spPr>
          <a:xfrm>
            <a:off x="4546848" y="4555131"/>
            <a:ext cx="4572000" cy="307777"/>
          </a:xfrm>
          <a:prstGeom prst="rect">
            <a:avLst/>
          </a:prstGeom>
        </p:spPr>
        <p:txBody>
          <a:bodyPr>
            <a:spAutoFit/>
          </a:bodyPr>
          <a:lstStyle/>
          <a:p>
            <a:pPr marL="0" indent="0">
              <a:buSzPct val="90000"/>
              <a:buFont typeface="Arial" charset="0"/>
              <a:buNone/>
            </a:pPr>
            <a:r>
              <a:rPr lang="en-US" altLang="zh-CN" sz="1400" dirty="0">
                <a:solidFill>
                  <a:srgbClr val="FF0000"/>
                </a:solidFill>
                <a:latin typeface="Consolas" panose="020B0609020204030204" pitchFamily="49" charset="0"/>
                <a:ea typeface="仿宋" panose="02010609060101010101" pitchFamily="49" charset="-122"/>
              </a:rPr>
              <a:t>#</a:t>
            </a:r>
            <a:r>
              <a:rPr lang="zh-CN" altLang="en-US" sz="1400" dirty="0">
                <a:solidFill>
                  <a:srgbClr val="FF0000"/>
                </a:solidFill>
                <a:latin typeface="Consolas" panose="020B0609020204030204" pitchFamily="49" charset="0"/>
                <a:ea typeface="仿宋" panose="02010609060101010101" pitchFamily="49" charset="-122"/>
              </a:rPr>
              <a:t>按子列表中第</a:t>
            </a:r>
            <a:r>
              <a:rPr lang="en-US" altLang="zh-CN" sz="1400" dirty="0">
                <a:solidFill>
                  <a:srgbClr val="FF0000"/>
                </a:solidFill>
                <a:latin typeface="Consolas" panose="020B0609020204030204" pitchFamily="49" charset="0"/>
                <a:ea typeface="仿宋" panose="02010609060101010101" pitchFamily="49" charset="-122"/>
              </a:rPr>
              <a:t>2</a:t>
            </a:r>
            <a:r>
              <a:rPr lang="zh-CN" altLang="en-US" sz="1400" dirty="0">
                <a:solidFill>
                  <a:srgbClr val="FF0000"/>
                </a:solidFill>
                <a:latin typeface="Consolas" panose="020B0609020204030204" pitchFamily="49" charset="0"/>
                <a:ea typeface="仿宋" panose="02010609060101010101" pitchFamily="49" charset="-122"/>
              </a:rPr>
              <a:t>个元素升序、第</a:t>
            </a:r>
            <a:r>
              <a:rPr lang="en-US" altLang="zh-CN" sz="1400" dirty="0">
                <a:solidFill>
                  <a:srgbClr val="FF0000"/>
                </a:solidFill>
                <a:latin typeface="Consolas" panose="020B0609020204030204" pitchFamily="49" charset="0"/>
                <a:ea typeface="仿宋" panose="02010609060101010101" pitchFamily="49" charset="-122"/>
              </a:rPr>
              <a:t>5</a:t>
            </a:r>
            <a:r>
              <a:rPr lang="zh-CN" altLang="en-US" sz="1400" dirty="0">
                <a:solidFill>
                  <a:srgbClr val="FF0000"/>
                </a:solidFill>
                <a:latin typeface="Consolas" panose="020B0609020204030204" pitchFamily="49" charset="0"/>
                <a:ea typeface="仿宋" panose="02010609060101010101" pitchFamily="49" charset="-122"/>
              </a:rPr>
              <a:t>个元素升序排序</a:t>
            </a:r>
          </a:p>
        </p:txBody>
      </p:sp>
      <p:sp>
        <p:nvSpPr>
          <p:cNvPr id="3" name="矩形 2"/>
          <p:cNvSpPr/>
          <p:nvPr/>
        </p:nvSpPr>
        <p:spPr>
          <a:xfrm>
            <a:off x="4364732" y="1729724"/>
            <a:ext cx="4176464" cy="830997"/>
          </a:xfrm>
          <a:prstGeom prst="rect">
            <a:avLst/>
          </a:prstGeom>
        </p:spPr>
        <p:txBody>
          <a:bodyPr wrap="square">
            <a:spAutoFit/>
          </a:bodyPr>
          <a:lstStyle/>
          <a:p>
            <a:pPr marL="0" indent="0">
              <a:buSzPct val="90000"/>
              <a:buNone/>
            </a:pPr>
            <a:r>
              <a:rPr lang="en-US" altLang="zh-CN" sz="1600" dirty="0">
                <a:solidFill>
                  <a:srgbClr val="FF0000"/>
                </a:solidFill>
                <a:latin typeface="Consolas" panose="020B0609020204030204" pitchFamily="49" charset="0"/>
              </a:rPr>
              <a:t>#</a:t>
            </a:r>
            <a:r>
              <a:rPr lang="zh-CN" altLang="en-US" sz="1600" dirty="0">
                <a:solidFill>
                  <a:srgbClr val="FF0000"/>
                </a:solidFill>
                <a:latin typeface="Consolas" panose="020B0609020204030204" pitchFamily="49" charset="0"/>
              </a:rPr>
              <a:t>使用列表推导式创建列表</a:t>
            </a:r>
          </a:p>
          <a:p>
            <a:pPr marL="0" indent="0">
              <a:buSzPct val="90000"/>
              <a:buNone/>
            </a:pPr>
            <a:r>
              <a:rPr lang="en-US" altLang="zh-CN" sz="1600" dirty="0">
                <a:solidFill>
                  <a:srgbClr val="FF0000"/>
                </a:solidFill>
                <a:latin typeface="Consolas" panose="020B0609020204030204" pitchFamily="49" charset="0"/>
              </a:rPr>
              <a:t>#</a:t>
            </a:r>
            <a:r>
              <a:rPr lang="zh-CN" altLang="en-US" sz="1600" dirty="0">
                <a:solidFill>
                  <a:srgbClr val="FF0000"/>
                </a:solidFill>
                <a:latin typeface="Consolas" panose="020B0609020204030204" pitchFamily="49" charset="0"/>
              </a:rPr>
              <a:t>包含</a:t>
            </a:r>
            <a:r>
              <a:rPr lang="en-US" altLang="zh-CN" sz="1600" dirty="0">
                <a:solidFill>
                  <a:srgbClr val="FF0000"/>
                </a:solidFill>
                <a:latin typeface="Consolas" panose="020B0609020204030204" pitchFamily="49" charset="0"/>
              </a:rPr>
              <a:t>5</a:t>
            </a:r>
            <a:r>
              <a:rPr lang="zh-CN" altLang="en-US" sz="1600" dirty="0">
                <a:solidFill>
                  <a:srgbClr val="FF0000"/>
                </a:solidFill>
                <a:latin typeface="Consolas" panose="020B0609020204030204" pitchFamily="49" charset="0"/>
              </a:rPr>
              <a:t>个子列表的列表</a:t>
            </a:r>
          </a:p>
          <a:p>
            <a:pPr marL="0" indent="0">
              <a:buSzPct val="90000"/>
              <a:buNone/>
            </a:pPr>
            <a:r>
              <a:rPr lang="en-US" altLang="zh-CN" sz="1600" dirty="0">
                <a:solidFill>
                  <a:srgbClr val="FF0000"/>
                </a:solidFill>
                <a:latin typeface="Consolas" panose="020B0609020204030204" pitchFamily="49" charset="0"/>
              </a:rPr>
              <a:t>#</a:t>
            </a:r>
            <a:r>
              <a:rPr lang="zh-CN" altLang="en-US" sz="1600" dirty="0">
                <a:solidFill>
                  <a:srgbClr val="FF0000"/>
                </a:solidFill>
                <a:latin typeface="Consolas" panose="020B0609020204030204" pitchFamily="49" charset="0"/>
              </a:rPr>
              <a:t>每个子列表中包含</a:t>
            </a:r>
            <a:r>
              <a:rPr lang="en-US" altLang="zh-CN" sz="1600" dirty="0">
                <a:solidFill>
                  <a:srgbClr val="FF0000"/>
                </a:solidFill>
                <a:latin typeface="Consolas" panose="020B0609020204030204" pitchFamily="49" charset="0"/>
              </a:rPr>
              <a:t>5</a:t>
            </a:r>
            <a:r>
              <a:rPr lang="zh-CN" altLang="en-US" sz="1600" dirty="0">
                <a:solidFill>
                  <a:srgbClr val="FF0000"/>
                </a:solidFill>
                <a:latin typeface="Consolas" panose="020B0609020204030204" pitchFamily="49" charset="0"/>
              </a:rPr>
              <a:t>个</a:t>
            </a:r>
            <a:r>
              <a:rPr lang="en-US" altLang="zh-CN" sz="1600" dirty="0">
                <a:solidFill>
                  <a:srgbClr val="FF0000"/>
                </a:solidFill>
                <a:latin typeface="Consolas" panose="020B0609020204030204" pitchFamily="49" charset="0"/>
              </a:rPr>
              <a:t>1</a:t>
            </a:r>
            <a:r>
              <a:rPr lang="zh-CN" altLang="en-US" sz="1600" dirty="0">
                <a:solidFill>
                  <a:srgbClr val="FF0000"/>
                </a:solidFill>
                <a:latin typeface="Consolas" panose="020B0609020204030204" pitchFamily="49" charset="0"/>
              </a:rPr>
              <a:t>到</a:t>
            </a:r>
            <a:r>
              <a:rPr lang="en-US" altLang="zh-CN" sz="1600" dirty="0">
                <a:solidFill>
                  <a:srgbClr val="FF0000"/>
                </a:solidFill>
                <a:latin typeface="Consolas" panose="020B0609020204030204" pitchFamily="49" charset="0"/>
              </a:rPr>
              <a:t>10</a:t>
            </a:r>
            <a:r>
              <a:rPr lang="zh-CN" altLang="en-US" sz="1600" dirty="0">
                <a:solidFill>
                  <a:srgbClr val="FF0000"/>
                </a:solidFill>
                <a:latin typeface="Consolas" panose="020B0609020204030204" pitchFamily="49" charset="0"/>
              </a:rPr>
              <a:t>之间的随机数</a:t>
            </a:r>
          </a:p>
        </p:txBody>
      </p:sp>
    </p:spTree>
    <p:extLst>
      <p:ext uri="{BB962C8B-B14F-4D97-AF65-F5344CB8AC3E}">
        <p14:creationId xmlns:p14="http://schemas.microsoft.com/office/powerpoint/2010/main" val="168607735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75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75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75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475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475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475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475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xEl>
                                              <p:pRg st="4" end="4"/>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
                                            <p:txEl>
                                              <p:pRg st="5" end="5"/>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
                                            <p:txEl>
                                              <p:pRg st="6" end="6"/>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
                                            <p:txEl>
                                              <p:pRg st="7" end="7"/>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文本占位符 50178"/>
          <p:cNvSpPr>
            <a:spLocks noGrp="1"/>
          </p:cNvSpPr>
          <p:nvPr>
            <p:ph idx="1"/>
          </p:nvPr>
        </p:nvSpPr>
        <p:spPr>
          <a:xfrm>
            <a:off x="479326" y="1052736"/>
            <a:ext cx="8229600" cy="4678451"/>
          </a:xfrm>
        </p:spPr>
        <p:txBody>
          <a:bodyPr vert="horz" wrap="square" lIns="68591" tIns="34295" rIns="68591" bIns="34295" numCol="1" anchor="t" anchorCtr="0" compatLnSpc="1">
            <a:prstTxWarp prst="textNoShape">
              <a:avLst/>
            </a:prstTxWarp>
          </a:bodyPr>
          <a:lstStyle/>
          <a:p>
            <a:pPr eaLnBrk="1" fontAlgn="base" hangingPunct="1">
              <a:lnSpc>
                <a:spcPct val="80000"/>
              </a:lnSpc>
              <a:buClr>
                <a:srgbClr val="FF0000"/>
              </a:buClr>
              <a:buSzPct val="90000"/>
              <a:buFont typeface="Wingdings" panose="05000000000000000000" pitchFamily="2" charset="2"/>
              <a:buChar char="ü"/>
            </a:pPr>
            <a:r>
              <a:rPr lang="zh-CN" altLang="en-US" sz="2400" noProof="1"/>
              <a:t>例</a:t>
            </a:r>
            <a:r>
              <a:rPr lang="en-US" altLang="zh-CN" sz="2400" noProof="1"/>
              <a:t>5-1</a:t>
            </a:r>
            <a:r>
              <a:rPr lang="zh-CN" altLang="en-US" sz="2400" noProof="1"/>
              <a:t>：编写函数计算圆的面积。</a:t>
            </a:r>
          </a:p>
          <a:p>
            <a:pPr eaLnBrk="1" fontAlgn="base" hangingPunct="1">
              <a:lnSpc>
                <a:spcPct val="80000"/>
              </a:lnSpc>
              <a:buSzPct val="90000"/>
              <a:buFont typeface="Wingdings" panose="05000000000000000000" pitchFamily="2" charset="2"/>
              <a:buNone/>
            </a:pPr>
            <a:endParaRPr lang="zh-CN" altLang="en-US" sz="1500" noProof="1"/>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42</a:t>
            </a:fld>
            <a:endParaRPr lang="zh-CN" altLang="en-US" dirty="0"/>
          </a:p>
        </p:txBody>
      </p:sp>
      <p:grpSp>
        <p:nvGrpSpPr>
          <p:cNvPr id="5" name="组合 4"/>
          <p:cNvGrpSpPr/>
          <p:nvPr/>
        </p:nvGrpSpPr>
        <p:grpSpPr>
          <a:xfrm>
            <a:off x="-1404665" y="95934"/>
            <a:ext cx="7920880" cy="668771"/>
            <a:chOff x="-995410" y="5184550"/>
            <a:chExt cx="7848872" cy="494650"/>
          </a:xfrm>
        </p:grpSpPr>
        <p:grpSp>
          <p:nvGrpSpPr>
            <p:cNvPr id="6" name="组合 5"/>
            <p:cNvGrpSpPr/>
            <p:nvPr/>
          </p:nvGrpSpPr>
          <p:grpSpPr>
            <a:xfrm>
              <a:off x="-995410" y="5184550"/>
              <a:ext cx="7848872" cy="494650"/>
              <a:chOff x="-1127767" y="5820119"/>
              <a:chExt cx="8549038" cy="647731"/>
            </a:xfrm>
          </p:grpSpPr>
          <p:sp>
            <p:nvSpPr>
              <p:cNvPr id="8"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solidFill>
                      <a:srgbClr val="FFC000"/>
                    </a:solidFill>
                    <a:latin typeface="Times New Roman" pitchFamily="18" charset="0"/>
                    <a:ea typeface="黑体" pitchFamily="49" charset="-122"/>
                  </a:rPr>
                  <a:t>5.6 </a:t>
                </a:r>
                <a:r>
                  <a:rPr lang="zh-CN" altLang="en-US" sz="3200" b="1" dirty="0">
                    <a:solidFill>
                      <a:srgbClr val="FFC000"/>
                    </a:solidFill>
                    <a:latin typeface="Times New Roman" pitchFamily="18" charset="0"/>
                    <a:ea typeface="黑体" pitchFamily="49" charset="-122"/>
                  </a:rPr>
                  <a:t>案例应用</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3" name="矩形 2"/>
          <p:cNvSpPr/>
          <p:nvPr/>
        </p:nvSpPr>
        <p:spPr>
          <a:xfrm>
            <a:off x="971600" y="1859340"/>
            <a:ext cx="8172400" cy="2585323"/>
          </a:xfrm>
          <a:prstGeom prst="rect">
            <a:avLst/>
          </a:prstGeom>
        </p:spPr>
        <p:txBody>
          <a:bodyPr wrap="square">
            <a:spAutoFit/>
          </a:bodyPr>
          <a:lstStyle/>
          <a:p>
            <a:pPr>
              <a:buSzPct val="90000"/>
            </a:pPr>
            <a:r>
              <a:rPr lang="en-US" altLang="zh-CN" noProof="1">
                <a:solidFill>
                  <a:srgbClr val="0000FF"/>
                </a:solidFill>
                <a:latin typeface="Consolas" panose="020B0609020204030204" pitchFamily="49" charset="0"/>
              </a:rPr>
              <a:t>from</a:t>
            </a:r>
            <a:r>
              <a:rPr lang="en-US" altLang="zh-CN" noProof="1">
                <a:latin typeface="Consolas" panose="020B0609020204030204" pitchFamily="49" charset="0"/>
              </a:rPr>
              <a:t> math </a:t>
            </a:r>
            <a:r>
              <a:rPr lang="en-US" altLang="zh-CN" noProof="1">
                <a:solidFill>
                  <a:srgbClr val="0000FF"/>
                </a:solidFill>
                <a:latin typeface="Consolas" panose="020B0609020204030204" pitchFamily="49" charset="0"/>
              </a:rPr>
              <a:t>import</a:t>
            </a:r>
            <a:r>
              <a:rPr lang="en-US" altLang="zh-CN" noProof="1">
                <a:latin typeface="Consolas" panose="020B0609020204030204" pitchFamily="49" charset="0"/>
              </a:rPr>
              <a:t> pi </a:t>
            </a:r>
            <a:r>
              <a:rPr lang="en-US" altLang="zh-CN" noProof="1">
                <a:solidFill>
                  <a:srgbClr val="0000FF"/>
                </a:solidFill>
                <a:latin typeface="Consolas" panose="020B0609020204030204" pitchFamily="49" charset="0"/>
              </a:rPr>
              <a:t>as</a:t>
            </a:r>
            <a:r>
              <a:rPr lang="en-US" altLang="zh-CN" noProof="1">
                <a:latin typeface="Consolas" panose="020B0609020204030204" pitchFamily="49" charset="0"/>
              </a:rPr>
              <a:t> PI</a:t>
            </a:r>
          </a:p>
          <a:p>
            <a:pPr>
              <a:buSzPct val="90000"/>
            </a:pPr>
            <a:endParaRPr lang="en-US" altLang="zh-CN" noProof="1">
              <a:latin typeface="Consolas" panose="020B0609020204030204" pitchFamily="49" charset="0"/>
            </a:endParaRPr>
          </a:p>
          <a:p>
            <a:pPr>
              <a:buSzPct val="90000"/>
            </a:pPr>
            <a:r>
              <a:rPr lang="en-US" altLang="zh-CN" noProof="1">
                <a:solidFill>
                  <a:srgbClr val="0000FF"/>
                </a:solidFill>
                <a:latin typeface="Consolas" panose="020B0609020204030204" pitchFamily="49" charset="0"/>
              </a:rPr>
              <a:t>def</a:t>
            </a:r>
            <a:r>
              <a:rPr lang="en-US" altLang="zh-CN" noProof="1">
                <a:latin typeface="Consolas" panose="020B0609020204030204" pitchFamily="49" charset="0"/>
              </a:rPr>
              <a:t> CircleArea(r):</a:t>
            </a:r>
          </a:p>
          <a:p>
            <a:pPr>
              <a:buSzPct val="90000"/>
            </a:pPr>
            <a:r>
              <a:rPr lang="en-US" altLang="zh-CN" noProof="1">
                <a:latin typeface="Consolas" panose="020B0609020204030204" pitchFamily="49" charset="0"/>
              </a:rPr>
              <a:t>    </a:t>
            </a:r>
            <a:r>
              <a:rPr lang="en-US" altLang="zh-CN" noProof="1">
                <a:solidFill>
                  <a:srgbClr val="0000FF"/>
                </a:solidFill>
                <a:latin typeface="Consolas" panose="020B0609020204030204" pitchFamily="49" charset="0"/>
              </a:rPr>
              <a:t>if</a:t>
            </a:r>
            <a:r>
              <a:rPr lang="en-US" altLang="zh-CN" noProof="1">
                <a:latin typeface="Consolas" panose="020B0609020204030204" pitchFamily="49" charset="0"/>
              </a:rPr>
              <a:t> isinstance(r, (int,float)) and r&gt;0: </a:t>
            </a:r>
          </a:p>
          <a:p>
            <a:pPr>
              <a:buSzPct val="90000"/>
            </a:pPr>
            <a:r>
              <a:rPr lang="en-US" altLang="zh-CN" noProof="1">
                <a:latin typeface="Consolas" panose="020B0609020204030204" pitchFamily="49" charset="0"/>
              </a:rPr>
              <a:t>        </a:t>
            </a:r>
            <a:r>
              <a:rPr lang="en-US" altLang="zh-CN" noProof="1">
                <a:solidFill>
                  <a:srgbClr val="0000FF"/>
                </a:solidFill>
                <a:latin typeface="Consolas" panose="020B0609020204030204" pitchFamily="49" charset="0"/>
              </a:rPr>
              <a:t>return</a:t>
            </a:r>
            <a:r>
              <a:rPr lang="en-US" altLang="zh-CN" noProof="1">
                <a:latin typeface="Consolas" panose="020B0609020204030204" pitchFamily="49" charset="0"/>
              </a:rPr>
              <a:t> PI*r*r</a:t>
            </a:r>
          </a:p>
          <a:p>
            <a:pPr>
              <a:buSzPct val="90000"/>
            </a:pPr>
            <a:r>
              <a:rPr lang="en-US" altLang="zh-CN" noProof="1">
                <a:latin typeface="Consolas" panose="020B0609020204030204" pitchFamily="49" charset="0"/>
              </a:rPr>
              <a:t>    </a:t>
            </a:r>
            <a:r>
              <a:rPr lang="en-US" altLang="zh-CN" noProof="1">
                <a:solidFill>
                  <a:srgbClr val="0000FF"/>
                </a:solidFill>
                <a:latin typeface="Consolas" panose="020B0609020204030204" pitchFamily="49" charset="0"/>
              </a:rPr>
              <a:t>else</a:t>
            </a:r>
            <a:r>
              <a:rPr lang="en-US" altLang="zh-CN" noProof="1">
                <a:latin typeface="Consolas" panose="020B0609020204030204" pitchFamily="49" charset="0"/>
              </a:rPr>
              <a:t>:</a:t>
            </a:r>
          </a:p>
          <a:p>
            <a:pPr>
              <a:buSzPct val="90000"/>
            </a:pPr>
            <a:r>
              <a:rPr lang="en-US" altLang="zh-CN" noProof="1">
                <a:latin typeface="Consolas" panose="020B0609020204030204" pitchFamily="49" charset="0"/>
              </a:rPr>
              <a:t>        </a:t>
            </a:r>
            <a:r>
              <a:rPr lang="en-US" altLang="zh-CN" noProof="1">
                <a:solidFill>
                  <a:srgbClr val="0000FF"/>
                </a:solidFill>
                <a:latin typeface="Consolas" panose="020B0609020204030204" pitchFamily="49" charset="0"/>
              </a:rPr>
              <a:t>print</a:t>
            </a:r>
            <a:r>
              <a:rPr lang="en-US" altLang="zh-CN" noProof="1">
                <a:latin typeface="Consolas" panose="020B0609020204030204" pitchFamily="49" charset="0"/>
              </a:rPr>
              <a:t>('You must give an integer or float as radius.')</a:t>
            </a:r>
          </a:p>
          <a:p>
            <a:pPr>
              <a:buSzPct val="90000"/>
            </a:pPr>
            <a:endParaRPr lang="en-US" altLang="zh-CN" noProof="1">
              <a:latin typeface="Consolas" panose="020B0609020204030204" pitchFamily="49" charset="0"/>
            </a:endParaRPr>
          </a:p>
          <a:p>
            <a:pPr>
              <a:buSzPct val="90000"/>
            </a:pPr>
            <a:r>
              <a:rPr lang="en-US" altLang="zh-CN" noProof="1">
                <a:solidFill>
                  <a:srgbClr val="0000FF"/>
                </a:solidFill>
                <a:latin typeface="Consolas" panose="020B0609020204030204" pitchFamily="49" charset="0"/>
              </a:rPr>
              <a:t>print</a:t>
            </a:r>
            <a:r>
              <a:rPr lang="en-US" altLang="zh-CN" noProof="1">
                <a:latin typeface="Consolas" panose="020B0609020204030204" pitchFamily="49" charset="0"/>
              </a:rPr>
              <a:t>(CircleArea(3))</a:t>
            </a:r>
          </a:p>
        </p:txBody>
      </p:sp>
    </p:spTree>
    <p:extLst>
      <p:ext uri="{BB962C8B-B14F-4D97-AF65-F5344CB8AC3E}">
        <p14:creationId xmlns:p14="http://schemas.microsoft.com/office/powerpoint/2010/main" val="270149431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8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uild="p"/>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文本占位符 53250"/>
          <p:cNvSpPr>
            <a:spLocks noGrp="1"/>
          </p:cNvSpPr>
          <p:nvPr>
            <p:ph idx="1"/>
          </p:nvPr>
        </p:nvSpPr>
        <p:spPr>
          <a:xfrm>
            <a:off x="395536" y="1052736"/>
            <a:ext cx="8152765" cy="3394075"/>
          </a:xfrm>
        </p:spPr>
        <p:txBody>
          <a:bodyPr vert="horz" wrap="square" lIns="68591" tIns="34295" rIns="68591" bIns="34295" numCol="1" anchor="t" anchorCtr="0" compatLnSpc="1">
            <a:prstTxWarp prst="textNoShape">
              <a:avLst/>
            </a:prstTxWarp>
          </a:bodyPr>
          <a:lstStyle/>
          <a:p>
            <a:pPr eaLnBrk="1" hangingPunct="1">
              <a:lnSpc>
                <a:spcPct val="150000"/>
              </a:lnSpc>
              <a:spcBef>
                <a:spcPct val="0"/>
              </a:spcBef>
              <a:buClr>
                <a:srgbClr val="FF0000"/>
              </a:buClr>
              <a:buSzPct val="90000"/>
              <a:buFont typeface="Wingdings" panose="05000000000000000000" pitchFamily="2" charset="2"/>
              <a:buChar char="ü"/>
            </a:pPr>
            <a:r>
              <a:rPr lang="zh-CN" altLang="en-US" sz="1800" b="1" dirty="0"/>
              <a:t>例</a:t>
            </a:r>
            <a:r>
              <a:rPr lang="en-US" altLang="zh-CN" sz="1800" b="1" dirty="0"/>
              <a:t>5-2</a:t>
            </a:r>
            <a:r>
              <a:rPr lang="zh-CN" altLang="en-US" sz="1800" b="1" dirty="0"/>
              <a:t>：编写函数，接收包含</a:t>
            </a:r>
            <a:r>
              <a:rPr lang="en-US" altLang="zh-CN" sz="1800" b="1" dirty="0"/>
              <a:t>20</a:t>
            </a:r>
            <a:r>
              <a:rPr lang="zh-CN" altLang="en-US" sz="1800" b="1" dirty="0"/>
              <a:t>个整数的列表</a:t>
            </a:r>
            <a:r>
              <a:rPr lang="en-US" altLang="zh-CN" sz="1800" b="1" dirty="0"/>
              <a:t>lst</a:t>
            </a:r>
            <a:r>
              <a:rPr lang="zh-CN" altLang="en-US" sz="1800" b="1" dirty="0"/>
              <a:t>和一个整数</a:t>
            </a:r>
            <a:r>
              <a:rPr lang="en-US" altLang="zh-CN" sz="1800" b="1" dirty="0"/>
              <a:t>k</a:t>
            </a:r>
            <a:r>
              <a:rPr lang="zh-CN" altLang="en-US" sz="1800" b="1" dirty="0"/>
              <a:t>作为参数，返回</a:t>
            </a:r>
            <a:endParaRPr lang="en-US" altLang="zh-CN" sz="1800" b="1" dirty="0"/>
          </a:p>
          <a:p>
            <a:pPr marL="0" indent="0" eaLnBrk="1" hangingPunct="1">
              <a:lnSpc>
                <a:spcPct val="150000"/>
              </a:lnSpc>
              <a:spcBef>
                <a:spcPct val="0"/>
              </a:spcBef>
              <a:buClr>
                <a:srgbClr val="FF0000"/>
              </a:buClr>
              <a:buSzPct val="90000"/>
              <a:buNone/>
            </a:pPr>
            <a:r>
              <a:rPr lang="en-US" altLang="zh-CN" sz="1800" b="1" dirty="0"/>
              <a:t>                   </a:t>
            </a:r>
            <a:r>
              <a:rPr lang="zh-CN" altLang="en-US" sz="1800" b="1" dirty="0"/>
              <a:t>新列表。处理规则为：将列表</a:t>
            </a:r>
            <a:r>
              <a:rPr lang="en-US" altLang="zh-CN" sz="1800" b="1" dirty="0"/>
              <a:t>lst</a:t>
            </a:r>
            <a:r>
              <a:rPr lang="zh-CN" altLang="en-US" sz="1800" b="1" dirty="0"/>
              <a:t>中下标</a:t>
            </a:r>
            <a:r>
              <a:rPr lang="en-US" altLang="zh-CN" sz="1800" b="1" dirty="0"/>
              <a:t>k</a:t>
            </a:r>
            <a:r>
              <a:rPr lang="zh-CN" altLang="en-US" sz="1800" b="1" dirty="0"/>
              <a:t>之前的元素逆序，下标</a:t>
            </a:r>
            <a:r>
              <a:rPr lang="en-US" altLang="zh-CN" sz="1800" b="1" dirty="0"/>
              <a:t>k</a:t>
            </a:r>
            <a:r>
              <a:rPr lang="zh-CN" altLang="en-US" sz="1800" b="1" dirty="0"/>
              <a:t>之后</a:t>
            </a:r>
            <a:endParaRPr lang="en-US" altLang="zh-CN" sz="1800" b="1" dirty="0"/>
          </a:p>
          <a:p>
            <a:pPr marL="0" indent="0" eaLnBrk="1" hangingPunct="1">
              <a:lnSpc>
                <a:spcPct val="150000"/>
              </a:lnSpc>
              <a:spcBef>
                <a:spcPct val="0"/>
              </a:spcBef>
              <a:buClr>
                <a:srgbClr val="FF0000"/>
              </a:buClr>
              <a:buSzPct val="90000"/>
              <a:buNone/>
            </a:pPr>
            <a:r>
              <a:rPr lang="en-US" altLang="zh-CN" sz="1800" b="1" dirty="0"/>
              <a:t>                   </a:t>
            </a:r>
            <a:r>
              <a:rPr lang="zh-CN" altLang="en-US" sz="1800" b="1" dirty="0"/>
              <a:t>的元素逆序，然后将整个列表</a:t>
            </a:r>
            <a:r>
              <a:rPr lang="en-US" altLang="zh-CN" sz="1800" b="1" dirty="0"/>
              <a:t>lst</a:t>
            </a:r>
            <a:r>
              <a:rPr lang="zh-CN" altLang="en-US" sz="1800" b="1" dirty="0"/>
              <a:t>中的所有元素再逆序。</a:t>
            </a:r>
            <a:endParaRPr lang="en-US" altLang="zh-CN" sz="1200" b="1" dirty="0">
              <a:latin typeface="Consolas" panose="020B0609020204030204" pitchFamily="49"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43</a:t>
            </a:fld>
            <a:endParaRPr lang="zh-CN" altLang="en-US" dirty="0"/>
          </a:p>
        </p:txBody>
      </p:sp>
      <p:grpSp>
        <p:nvGrpSpPr>
          <p:cNvPr id="6" name="组合 5"/>
          <p:cNvGrpSpPr/>
          <p:nvPr/>
        </p:nvGrpSpPr>
        <p:grpSpPr>
          <a:xfrm>
            <a:off x="-1404665" y="95934"/>
            <a:ext cx="7920880" cy="668771"/>
            <a:chOff x="-995410" y="5184550"/>
            <a:chExt cx="7848872" cy="494650"/>
          </a:xfrm>
        </p:grpSpPr>
        <p:grpSp>
          <p:nvGrpSpPr>
            <p:cNvPr id="7" name="组合 6"/>
            <p:cNvGrpSpPr/>
            <p:nvPr/>
          </p:nvGrpSpPr>
          <p:grpSpPr>
            <a:xfrm>
              <a:off x="-995410" y="5184550"/>
              <a:ext cx="7848872" cy="494650"/>
              <a:chOff x="-1127767" y="5820119"/>
              <a:chExt cx="8549038" cy="647731"/>
            </a:xfrm>
          </p:grpSpPr>
          <p:sp>
            <p:nvSpPr>
              <p:cNvPr id="9"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127767" y="5823495"/>
                <a:ext cx="8549038" cy="64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5.6 </a:t>
                </a:r>
                <a:r>
                  <a:rPr lang="zh-CN" altLang="en-US" sz="3200" b="1" dirty="0">
                    <a:latin typeface="Times New Roman" pitchFamily="18" charset="0"/>
                    <a:ea typeface="黑体" pitchFamily="49" charset="-122"/>
                  </a:rPr>
                  <a:t>案例应用</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11" name="内容占位符 2"/>
          <p:cNvSpPr txBox="1">
            <a:spLocks/>
          </p:cNvSpPr>
          <p:nvPr/>
        </p:nvSpPr>
        <p:spPr bwMode="auto">
          <a:xfrm>
            <a:off x="2771800" y="2564904"/>
            <a:ext cx="3744415" cy="2662227"/>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SzPct val="90000"/>
              <a:buFont typeface="Wingdings" panose="05000000000000000000" pitchFamily="2" charset="2"/>
              <a:buNone/>
            </a:pPr>
            <a:r>
              <a:rPr lang="en-US" altLang="zh-CN" sz="1800" noProof="1">
                <a:solidFill>
                  <a:srgbClr val="0000FF"/>
                </a:solidFill>
                <a:latin typeface="Consolas" panose="020B0609020204030204" pitchFamily="49" charset="0"/>
              </a:rPr>
              <a:t>def</a:t>
            </a:r>
            <a:r>
              <a:rPr lang="en-US" altLang="zh-CN" sz="1800" noProof="1">
                <a:latin typeface="Consolas" panose="020B0609020204030204" pitchFamily="49" charset="0"/>
              </a:rPr>
              <a:t> demo(lst,k):</a:t>
            </a:r>
          </a:p>
          <a:p>
            <a:pPr>
              <a:lnSpc>
                <a:spcPct val="90000"/>
              </a:lnSpc>
              <a:buSzPct val="90000"/>
              <a:buFont typeface="Wingdings" panose="05000000000000000000" pitchFamily="2" charset="2"/>
              <a:buNone/>
            </a:pPr>
            <a:r>
              <a:rPr lang="en-US" altLang="zh-CN" sz="1800" noProof="1">
                <a:latin typeface="Consolas" panose="020B0609020204030204" pitchFamily="49" charset="0"/>
              </a:rPr>
              <a:t>    x = lst[:k]</a:t>
            </a:r>
          </a:p>
          <a:p>
            <a:pPr>
              <a:lnSpc>
                <a:spcPct val="90000"/>
              </a:lnSpc>
              <a:buSzPct val="90000"/>
              <a:buFont typeface="Wingdings" panose="05000000000000000000" pitchFamily="2" charset="2"/>
              <a:buNone/>
            </a:pPr>
            <a:r>
              <a:rPr lang="en-US" altLang="zh-CN" sz="1800" noProof="1">
                <a:latin typeface="Consolas" panose="020B0609020204030204" pitchFamily="49" charset="0"/>
              </a:rPr>
              <a:t>    x.reverse()</a:t>
            </a:r>
          </a:p>
          <a:p>
            <a:pPr>
              <a:lnSpc>
                <a:spcPct val="90000"/>
              </a:lnSpc>
              <a:buSzPct val="90000"/>
              <a:buFont typeface="Wingdings" panose="05000000000000000000" pitchFamily="2" charset="2"/>
              <a:buNone/>
            </a:pPr>
            <a:r>
              <a:rPr lang="en-US" altLang="zh-CN" sz="1800" noProof="1">
                <a:latin typeface="Consolas" panose="020B0609020204030204" pitchFamily="49" charset="0"/>
              </a:rPr>
              <a:t>    y = lst[k:]</a:t>
            </a:r>
          </a:p>
          <a:p>
            <a:pPr>
              <a:lnSpc>
                <a:spcPct val="90000"/>
              </a:lnSpc>
              <a:buSzPct val="90000"/>
              <a:buFont typeface="Wingdings" panose="05000000000000000000" pitchFamily="2" charset="2"/>
              <a:buNone/>
            </a:pPr>
            <a:r>
              <a:rPr lang="en-US" altLang="zh-CN" sz="1800" noProof="1">
                <a:latin typeface="Consolas" panose="020B0609020204030204" pitchFamily="49" charset="0"/>
              </a:rPr>
              <a:t>    y.reverse()</a:t>
            </a:r>
          </a:p>
          <a:p>
            <a:pPr>
              <a:lnSpc>
                <a:spcPct val="90000"/>
              </a:lnSpc>
              <a:buSzPct val="90000"/>
              <a:buFont typeface="Wingdings" panose="05000000000000000000" pitchFamily="2" charset="2"/>
              <a:buNone/>
            </a:pPr>
            <a:r>
              <a:rPr lang="en-US" altLang="zh-CN" sz="1800" noProof="1">
                <a:latin typeface="Consolas" panose="020B0609020204030204" pitchFamily="49" charset="0"/>
              </a:rPr>
              <a:t>    r = x+y</a:t>
            </a:r>
          </a:p>
          <a:p>
            <a:pPr>
              <a:lnSpc>
                <a:spcPct val="90000"/>
              </a:lnSpc>
              <a:buSzPct val="90000"/>
              <a:buFont typeface="Wingdings" panose="05000000000000000000" pitchFamily="2" charset="2"/>
              <a:buNone/>
            </a:pPr>
            <a:r>
              <a:rPr lang="en-US" altLang="zh-CN" sz="1800" noProof="1">
                <a:latin typeface="Consolas" panose="020B0609020204030204" pitchFamily="49" charset="0"/>
              </a:rPr>
              <a:t>    r.reverse()</a:t>
            </a:r>
          </a:p>
          <a:p>
            <a:pPr>
              <a:lnSpc>
                <a:spcPct val="90000"/>
              </a:lnSpc>
              <a:buSzPct val="90000"/>
              <a:buFont typeface="Wingdings" panose="05000000000000000000" pitchFamily="2" charset="2"/>
              <a:buNone/>
            </a:pPr>
            <a:r>
              <a:rPr lang="en-US" altLang="zh-CN" sz="1800" noProof="1">
                <a:latin typeface="Consolas" panose="020B0609020204030204" pitchFamily="49" charset="0"/>
              </a:rPr>
              <a:t>    </a:t>
            </a:r>
            <a:r>
              <a:rPr lang="en-US" altLang="zh-CN" sz="1800" noProof="1">
                <a:solidFill>
                  <a:srgbClr val="0000FF"/>
                </a:solidFill>
                <a:latin typeface="Consolas" panose="020B0609020204030204" pitchFamily="49" charset="0"/>
              </a:rPr>
              <a:t>return</a:t>
            </a:r>
            <a:r>
              <a:rPr lang="en-US" altLang="zh-CN" sz="1800" noProof="1">
                <a:latin typeface="Consolas" panose="020B0609020204030204" pitchFamily="49" charset="0"/>
              </a:rPr>
              <a:t> r</a:t>
            </a:r>
          </a:p>
          <a:p>
            <a:pPr>
              <a:lnSpc>
                <a:spcPct val="90000"/>
              </a:lnSpc>
              <a:buSzPct val="90000"/>
              <a:buFont typeface="Wingdings" panose="05000000000000000000" pitchFamily="2" charset="2"/>
              <a:buNone/>
            </a:pPr>
            <a:endParaRPr lang="en-US" altLang="zh-CN" sz="1800" noProof="1">
              <a:latin typeface="Consolas" panose="020B0609020204030204" pitchFamily="49" charset="0"/>
            </a:endParaRPr>
          </a:p>
          <a:p>
            <a:pPr>
              <a:lnSpc>
                <a:spcPct val="90000"/>
              </a:lnSpc>
              <a:buSzPct val="90000"/>
              <a:buFont typeface="Wingdings" panose="05000000000000000000" pitchFamily="2" charset="2"/>
              <a:buNone/>
            </a:pPr>
            <a:r>
              <a:rPr lang="en-US" altLang="zh-CN" sz="1800" noProof="1">
                <a:latin typeface="Consolas" panose="020B0609020204030204" pitchFamily="49" charset="0"/>
              </a:rPr>
              <a:t>lst = list(range(1,21))</a:t>
            </a:r>
          </a:p>
          <a:p>
            <a:pPr>
              <a:lnSpc>
                <a:spcPct val="90000"/>
              </a:lnSpc>
              <a:buSzPct val="90000"/>
              <a:buFont typeface="Wingdings" panose="05000000000000000000" pitchFamily="2" charset="2"/>
              <a:buNone/>
            </a:pPr>
            <a:r>
              <a:rPr lang="en-US" altLang="zh-CN" sz="1800" noProof="1">
                <a:solidFill>
                  <a:srgbClr val="0000FF"/>
                </a:solidFill>
                <a:latin typeface="Consolas" panose="020B0609020204030204" pitchFamily="49" charset="0"/>
              </a:rPr>
              <a:t>print</a:t>
            </a:r>
            <a:r>
              <a:rPr lang="en-US" altLang="zh-CN" sz="1800" noProof="1">
                <a:latin typeface="Consolas" panose="020B0609020204030204" pitchFamily="49" charset="0"/>
              </a:rPr>
              <a:t>(demo(lst,5))</a:t>
            </a:r>
            <a:endParaRPr lang="zh-CN" altLang="en-US" sz="1800" noProof="1"/>
          </a:p>
        </p:txBody>
      </p:sp>
    </p:spTree>
    <p:extLst>
      <p:ext uri="{BB962C8B-B14F-4D97-AF65-F5344CB8AC3E}">
        <p14:creationId xmlns:p14="http://schemas.microsoft.com/office/powerpoint/2010/main" val="331238168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39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9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build="p"/>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文本占位符 54274"/>
          <p:cNvSpPr>
            <a:spLocks noGrp="1"/>
          </p:cNvSpPr>
          <p:nvPr>
            <p:ph idx="1"/>
          </p:nvPr>
        </p:nvSpPr>
        <p:spPr>
          <a:xfrm>
            <a:off x="454899" y="1052736"/>
            <a:ext cx="8163560" cy="3395980"/>
          </a:xfrm>
        </p:spPr>
        <p:txBody>
          <a:bodyPr vert="horz" wrap="square" lIns="68591" tIns="34295" rIns="68591" bIns="34295" numCol="1" anchor="t" anchorCtr="0" compatLnSpc="1">
            <a:prstTxWarp prst="textNoShape">
              <a:avLst/>
            </a:prstTxWarp>
          </a:bodyPr>
          <a:lstStyle/>
          <a:p>
            <a:pPr eaLnBrk="1" fontAlgn="base" hangingPunct="1">
              <a:spcBef>
                <a:spcPts val="600"/>
              </a:spcBef>
              <a:buClr>
                <a:srgbClr val="FF0000"/>
              </a:buClr>
              <a:buSzPct val="90000"/>
              <a:buFont typeface="Wingdings" panose="05000000000000000000" pitchFamily="2" charset="2"/>
              <a:buChar char="ü"/>
            </a:pPr>
            <a:r>
              <a:rPr lang="zh-CN" altLang="en-US" sz="1800" b="1" noProof="1"/>
              <a:t>本例的执行结果实际上是把列表中所有元素循环左移</a:t>
            </a:r>
            <a:r>
              <a:rPr lang="en-US" altLang="zh-CN" sz="1800" b="1" noProof="1"/>
              <a:t>k</a:t>
            </a:r>
            <a:r>
              <a:rPr lang="zh-CN" altLang="en-US" sz="1800" b="1" noProof="1"/>
              <a:t>位。在</a:t>
            </a:r>
            <a:r>
              <a:rPr lang="en-US" altLang="zh-CN" sz="1800" b="1" noProof="1"/>
              <a:t>collections</a:t>
            </a:r>
            <a:r>
              <a:rPr lang="zh-CN" altLang="en-US" sz="1800" b="1" noProof="1"/>
              <a:t>标准库的</a:t>
            </a:r>
            <a:r>
              <a:rPr lang="en-US" altLang="zh-CN" sz="1800" b="1" noProof="1"/>
              <a:t>deque</a:t>
            </a:r>
            <a:r>
              <a:rPr lang="zh-CN" altLang="en-US" sz="1800" b="1" noProof="1"/>
              <a:t>对象已经实现了该功能，直接调用即可。</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44</a:t>
            </a:fld>
            <a:endParaRPr lang="zh-CN" altLang="en-US" dirty="0"/>
          </a:p>
        </p:txBody>
      </p:sp>
      <p:grpSp>
        <p:nvGrpSpPr>
          <p:cNvPr id="5" name="组合 4"/>
          <p:cNvGrpSpPr/>
          <p:nvPr/>
        </p:nvGrpSpPr>
        <p:grpSpPr>
          <a:xfrm>
            <a:off x="-1404665" y="95934"/>
            <a:ext cx="7920880" cy="668771"/>
            <a:chOff x="-995410" y="5184550"/>
            <a:chExt cx="7848872" cy="494650"/>
          </a:xfrm>
        </p:grpSpPr>
        <p:grpSp>
          <p:nvGrpSpPr>
            <p:cNvPr id="6" name="组合 5"/>
            <p:cNvGrpSpPr/>
            <p:nvPr/>
          </p:nvGrpSpPr>
          <p:grpSpPr>
            <a:xfrm>
              <a:off x="-995410" y="5184550"/>
              <a:ext cx="7848872" cy="494650"/>
              <a:chOff x="-1127767" y="5820119"/>
              <a:chExt cx="8549038" cy="647731"/>
            </a:xfrm>
          </p:grpSpPr>
          <p:sp>
            <p:nvSpPr>
              <p:cNvPr id="8"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127767" y="5823495"/>
                <a:ext cx="8549038" cy="64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5.6 </a:t>
                </a:r>
                <a:r>
                  <a:rPr lang="zh-CN" altLang="en-US" sz="3200" b="1" dirty="0">
                    <a:latin typeface="Times New Roman" pitchFamily="18" charset="0"/>
                    <a:ea typeface="黑体" pitchFamily="49" charset="-122"/>
                  </a:rPr>
                  <a:t>案例应用</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11" name="内容占位符 2"/>
          <p:cNvSpPr txBox="1">
            <a:spLocks/>
          </p:cNvSpPr>
          <p:nvPr/>
        </p:nvSpPr>
        <p:spPr bwMode="auto">
          <a:xfrm>
            <a:off x="616904" y="3802125"/>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ts val="0"/>
              </a:spcBef>
              <a:buClr>
                <a:srgbClr val="FF0000"/>
              </a:buClr>
              <a:buFont typeface="Wingdings" panose="05000000000000000000" pitchFamily="2" charset="2"/>
              <a:buChar char="u"/>
              <a:defRPr/>
            </a:pPr>
            <a:r>
              <a:rPr lang="zh-CN" altLang="en-US" sz="1800" noProof="1">
                <a:latin typeface="+mn-lt"/>
                <a:ea typeface="+mn-ea"/>
              </a:rPr>
              <a:t>另一种答案：</a:t>
            </a:r>
          </a:p>
          <a:p>
            <a:pPr marL="0" indent="0">
              <a:buFont typeface="Arial" charset="0"/>
              <a:buNone/>
              <a:defRPr/>
            </a:pPr>
            <a:endParaRPr lang="zh-CN" altLang="en-US" sz="1350" noProof="1">
              <a:ea typeface="+mn-ea"/>
            </a:endParaRPr>
          </a:p>
        </p:txBody>
      </p:sp>
      <p:sp>
        <p:nvSpPr>
          <p:cNvPr id="3" name="矩形 2"/>
          <p:cNvSpPr/>
          <p:nvPr/>
        </p:nvSpPr>
        <p:spPr>
          <a:xfrm>
            <a:off x="997008" y="1794013"/>
            <a:ext cx="8077541" cy="1988237"/>
          </a:xfrm>
          <a:prstGeom prst="rect">
            <a:avLst/>
          </a:prstGeom>
        </p:spPr>
        <p:txBody>
          <a:bodyPr wrap="square">
            <a:spAutoFit/>
          </a:bodyPr>
          <a:lstStyle/>
          <a:p>
            <a:pPr>
              <a:lnSpc>
                <a:spcPct val="80000"/>
              </a:lnSpc>
              <a:buSzPct val="90000"/>
            </a:pPr>
            <a:r>
              <a:rPr lang="fr-FR" altLang="en-US" sz="1400" noProof="1">
                <a:latin typeface="Consolas" panose="020B0609020204030204" pitchFamily="49" charset="0"/>
              </a:rPr>
              <a:t>&gt;&gt;&gt; import collections</a:t>
            </a:r>
          </a:p>
          <a:p>
            <a:pPr>
              <a:lnSpc>
                <a:spcPct val="80000"/>
              </a:lnSpc>
              <a:buSzPct val="90000"/>
            </a:pPr>
            <a:r>
              <a:rPr lang="fr-FR" altLang="en-US" sz="1400" noProof="1">
                <a:latin typeface="Consolas" panose="020B0609020204030204" pitchFamily="49" charset="0"/>
              </a:rPr>
              <a:t>&gt;&gt;&gt; x = </a:t>
            </a:r>
            <a:r>
              <a:rPr lang="en-US" altLang="fr-FR" sz="1400" noProof="1">
                <a:latin typeface="Consolas" panose="020B0609020204030204" pitchFamily="49" charset="0"/>
              </a:rPr>
              <a:t>list(</a:t>
            </a:r>
            <a:r>
              <a:rPr lang="fr-FR" altLang="en-US" sz="1400" noProof="1">
                <a:latin typeface="Consolas" panose="020B0609020204030204" pitchFamily="49" charset="0"/>
              </a:rPr>
              <a:t>range(20)</a:t>
            </a:r>
            <a:r>
              <a:rPr lang="en-US" altLang="fr-FR" sz="1400" noProof="1">
                <a:latin typeface="Consolas" panose="020B0609020204030204" pitchFamily="49" charset="0"/>
              </a:rPr>
              <a:t>)</a:t>
            </a:r>
          </a:p>
          <a:p>
            <a:pPr>
              <a:lnSpc>
                <a:spcPct val="80000"/>
              </a:lnSpc>
              <a:buSzPct val="90000"/>
            </a:pPr>
            <a:r>
              <a:rPr lang="fr-FR" altLang="en-US" sz="1400" noProof="1">
                <a:latin typeface="Consolas" panose="020B0609020204030204" pitchFamily="49" charset="0"/>
              </a:rPr>
              <a:t>&gt;&gt;&gt; x = collections.deque(x)</a:t>
            </a:r>
          </a:p>
          <a:p>
            <a:pPr>
              <a:lnSpc>
                <a:spcPct val="80000"/>
              </a:lnSpc>
              <a:buSzPct val="90000"/>
            </a:pPr>
            <a:r>
              <a:rPr lang="fr-FR" altLang="en-US" sz="1400" noProof="1">
                <a:latin typeface="Consolas" panose="020B0609020204030204" pitchFamily="49" charset="0"/>
              </a:rPr>
              <a:t>&gt;&gt;&gt; x</a:t>
            </a:r>
          </a:p>
          <a:p>
            <a:pPr>
              <a:lnSpc>
                <a:spcPct val="80000"/>
              </a:lnSpc>
              <a:buSzPct val="90000"/>
            </a:pPr>
            <a:r>
              <a:rPr lang="fr-FR" altLang="en-US" sz="1400" noProof="1">
                <a:solidFill>
                  <a:srgbClr val="0000FF"/>
                </a:solidFill>
                <a:latin typeface="Consolas" panose="020B0609020204030204" pitchFamily="49" charset="0"/>
              </a:rPr>
              <a:t>deque([0, 1, 2, 3, 4, 5, 6, 7, 8, 9, 10, 11, 12, 13, 14, 15, 16, 17, 18, 19])</a:t>
            </a:r>
          </a:p>
          <a:p>
            <a:pPr>
              <a:lnSpc>
                <a:spcPct val="80000"/>
              </a:lnSpc>
              <a:buSzPct val="90000"/>
            </a:pPr>
            <a:r>
              <a:rPr lang="fr-FR" altLang="en-US" sz="1400" noProof="1">
                <a:latin typeface="Consolas" panose="020B0609020204030204" pitchFamily="49" charset="0"/>
              </a:rPr>
              <a:t>&gt;&gt;&gt; x.rotate(-3)</a:t>
            </a:r>
          </a:p>
          <a:p>
            <a:pPr>
              <a:lnSpc>
                <a:spcPct val="80000"/>
              </a:lnSpc>
              <a:buSzPct val="90000"/>
            </a:pPr>
            <a:r>
              <a:rPr lang="fr-FR" altLang="en-US" sz="1400" noProof="1">
                <a:latin typeface="Consolas" panose="020B0609020204030204" pitchFamily="49" charset="0"/>
              </a:rPr>
              <a:t>&gt;&gt;&gt; x</a:t>
            </a:r>
          </a:p>
          <a:p>
            <a:pPr>
              <a:lnSpc>
                <a:spcPct val="80000"/>
              </a:lnSpc>
              <a:buSzPct val="90000"/>
            </a:pPr>
            <a:r>
              <a:rPr lang="fr-FR" altLang="en-US" sz="1400" noProof="1">
                <a:solidFill>
                  <a:srgbClr val="0000FF"/>
                </a:solidFill>
                <a:latin typeface="Consolas" panose="020B0609020204030204" pitchFamily="49" charset="0"/>
              </a:rPr>
              <a:t>deque([3, 4, 5, 6, 7, 8, 9, 10, 11, 12, 13, 14, 15, 16, 17, 18, 19, 0, 1, 2])</a:t>
            </a:r>
          </a:p>
          <a:p>
            <a:pPr>
              <a:lnSpc>
                <a:spcPct val="80000"/>
              </a:lnSpc>
              <a:buSzPct val="90000"/>
            </a:pPr>
            <a:r>
              <a:rPr lang="fr-FR" altLang="en-US" sz="1400" noProof="1">
                <a:latin typeface="Consolas" panose="020B0609020204030204" pitchFamily="49" charset="0"/>
              </a:rPr>
              <a:t>&gt;&gt;&gt; x = list(x)</a:t>
            </a:r>
          </a:p>
          <a:p>
            <a:pPr>
              <a:lnSpc>
                <a:spcPct val="80000"/>
              </a:lnSpc>
              <a:buSzPct val="90000"/>
            </a:pPr>
            <a:r>
              <a:rPr lang="fr-FR" altLang="en-US" sz="1400" noProof="1">
                <a:latin typeface="Consolas" panose="020B0609020204030204" pitchFamily="49" charset="0"/>
              </a:rPr>
              <a:t>&gt;&gt;&gt; x</a:t>
            </a:r>
          </a:p>
          <a:p>
            <a:pPr>
              <a:lnSpc>
                <a:spcPct val="80000"/>
              </a:lnSpc>
              <a:buSzPct val="90000"/>
            </a:pPr>
            <a:r>
              <a:rPr lang="fr-FR" altLang="en-US" sz="1400" noProof="1">
                <a:solidFill>
                  <a:srgbClr val="0000FF"/>
                </a:solidFill>
                <a:latin typeface="Consolas" panose="020B0609020204030204" pitchFamily="49" charset="0"/>
              </a:rPr>
              <a:t>[3, 4, 5, 6, 7, 8, 9, 10, 11, 12, 13, 14, 15, 16, 17, 18, 19, 0, 1, 2]</a:t>
            </a:r>
          </a:p>
        </p:txBody>
      </p:sp>
      <p:sp>
        <p:nvSpPr>
          <p:cNvPr id="4" name="矩形 3"/>
          <p:cNvSpPr/>
          <p:nvPr/>
        </p:nvSpPr>
        <p:spPr>
          <a:xfrm>
            <a:off x="1907704" y="4276437"/>
            <a:ext cx="6531402" cy="2062103"/>
          </a:xfrm>
          <a:prstGeom prst="rect">
            <a:avLst/>
          </a:prstGeom>
        </p:spPr>
        <p:txBody>
          <a:bodyPr wrap="square">
            <a:spAutoFit/>
          </a:bodyPr>
          <a:lstStyle/>
          <a:p>
            <a:pPr marL="0" indent="0">
              <a:buFont typeface="Arial" charset="0"/>
              <a:buNone/>
              <a:defRPr/>
            </a:pPr>
            <a:r>
              <a:rPr lang="zh-CN" altLang="en-US" sz="1600" noProof="1">
                <a:latin typeface="Consolas" panose="020B0609020204030204" pitchFamily="49" charset="0"/>
              </a:rPr>
              <a:t>&gt;&gt;&gt; def shift(lst, k):</a:t>
            </a:r>
          </a:p>
          <a:p>
            <a:pPr marL="0" indent="0">
              <a:buFont typeface="Arial" charset="0"/>
              <a:buNone/>
              <a:defRPr/>
            </a:pPr>
            <a:r>
              <a:rPr lang="en-US" altLang="x-none" sz="1600" noProof="1">
                <a:latin typeface="Consolas" panose="020B0609020204030204" pitchFamily="49" charset="0"/>
                <a:sym typeface="+mn-ea"/>
              </a:rPr>
              <a:t>    </a:t>
            </a:r>
            <a:r>
              <a:rPr lang="zh-CN" altLang="en-US" sz="1600" noProof="1">
                <a:latin typeface="Consolas" panose="020B0609020204030204" pitchFamily="49" charset="0"/>
              </a:rPr>
              <a:t>return lst[k:]+lst[:k]</a:t>
            </a:r>
          </a:p>
          <a:p>
            <a:pPr marL="0" indent="0">
              <a:buFont typeface="Arial" charset="0"/>
              <a:buNone/>
              <a:defRPr/>
            </a:pPr>
            <a:endParaRPr lang="zh-CN" altLang="en-US" sz="1600" noProof="1">
              <a:latin typeface="Consolas" panose="020B0609020204030204" pitchFamily="49" charset="0"/>
            </a:endParaRPr>
          </a:p>
          <a:p>
            <a:pPr marL="0" indent="0">
              <a:buFont typeface="Arial" charset="0"/>
              <a:buNone/>
              <a:defRPr/>
            </a:pPr>
            <a:r>
              <a:rPr lang="zh-CN" altLang="en-US" sz="1600" noProof="1">
                <a:latin typeface="Consolas" panose="020B0609020204030204" pitchFamily="49" charset="0"/>
              </a:rPr>
              <a:t>&gt;&gt;&gt; x = list(range(20))</a:t>
            </a:r>
          </a:p>
          <a:p>
            <a:pPr marL="0" indent="0">
              <a:buFont typeface="Arial" charset="0"/>
              <a:buNone/>
              <a:defRPr/>
            </a:pPr>
            <a:r>
              <a:rPr lang="zh-CN" altLang="en-US" sz="1600" noProof="1">
                <a:latin typeface="Consolas" panose="020B0609020204030204" pitchFamily="49" charset="0"/>
              </a:rPr>
              <a:t>&gt;&gt;&gt; shift(x, 3)</a:t>
            </a:r>
          </a:p>
          <a:p>
            <a:pPr marL="0" indent="0">
              <a:buFont typeface="Arial" charset="0"/>
              <a:buNone/>
              <a:defRPr/>
            </a:pPr>
            <a:r>
              <a:rPr lang="zh-CN" altLang="en-US" sz="1600" noProof="1">
                <a:solidFill>
                  <a:srgbClr val="0000FF"/>
                </a:solidFill>
              </a:rPr>
              <a:t>[3, 4, 5, 6, 7, 8, 9, 10, 11, 12, 13, 14, 15, 16, 17, 18, 19, 0, 1, 2]</a:t>
            </a:r>
          </a:p>
          <a:p>
            <a:pPr marL="0" indent="0">
              <a:buFont typeface="Arial" charset="0"/>
              <a:buNone/>
              <a:defRPr/>
            </a:pPr>
            <a:r>
              <a:rPr lang="zh-CN" altLang="en-US" sz="1600" noProof="1">
                <a:latin typeface="Consolas" panose="020B0609020204030204" pitchFamily="49" charset="0"/>
              </a:rPr>
              <a:t>&gt;&gt;&gt; shift(x, -3)</a:t>
            </a:r>
          </a:p>
          <a:p>
            <a:pPr marL="0" indent="0">
              <a:buFont typeface="Arial" charset="0"/>
              <a:buNone/>
              <a:defRPr/>
            </a:pPr>
            <a:r>
              <a:rPr lang="zh-CN" altLang="en-US" sz="1600" noProof="1">
                <a:solidFill>
                  <a:srgbClr val="0000FF"/>
                </a:solidFill>
              </a:rPr>
              <a:t>[17, 18, 19, 0, 1, 2, 3, 4, 5, 6, 7, 8, 9, 10, 11, 12, 13, 14, 15, 16]</a:t>
            </a:r>
          </a:p>
        </p:txBody>
      </p:sp>
    </p:spTree>
    <p:extLst>
      <p:ext uri="{BB962C8B-B14F-4D97-AF65-F5344CB8AC3E}">
        <p14:creationId xmlns:p14="http://schemas.microsoft.com/office/powerpoint/2010/main" val="302979525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build="p"/>
      <p:bldP spid="11" grpId="0"/>
      <p:bldP spid="3" grpId="0"/>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pPr>
              <a:defRPr/>
            </a:pPr>
            <a:fld id="{6EA7BA5E-4115-4796-A8C9-4698036AB88B}" type="slidenum">
              <a:rPr lang="zh-CN" altLang="en-US" smtClean="0"/>
              <a:pPr>
                <a:defRPr/>
              </a:pPr>
              <a:t>45</a:t>
            </a:fld>
            <a:endParaRPr lang="zh-CN" altLang="en-US" dirty="0"/>
          </a:p>
        </p:txBody>
      </p:sp>
      <p:sp>
        <p:nvSpPr>
          <p:cNvPr id="6" name="文本框 5"/>
          <p:cNvSpPr txBox="1"/>
          <p:nvPr>
            <p:custDataLst>
              <p:tags r:id="rId2"/>
            </p:custDataLst>
          </p:nvPr>
        </p:nvSpPr>
        <p:spPr>
          <a:xfrm>
            <a:off x="611560" y="1281906"/>
            <a:ext cx="8405440" cy="2143125"/>
          </a:xfrm>
          <a:prstGeom prst="rect">
            <a:avLst/>
          </a:prstGeom>
          <a:noFill/>
        </p:spPr>
        <p:txBody>
          <a:bodyPr vert="horz" wrap="square" rtlCol="0" anchor="ctr" anchorCtr="0">
            <a:noAutofit/>
          </a:bodyPr>
          <a:lstStyle/>
          <a:p>
            <a:pPr>
              <a:lnSpc>
                <a:spcPct val="150000"/>
              </a:lnSpc>
              <a:buClr>
                <a:srgbClr val="FF0000"/>
              </a:buClr>
              <a:buSzPct val="90000"/>
              <a:buFont typeface="Wingdings" panose="05000000000000000000" pitchFamily="2" charset="2"/>
              <a:buChar char="ü"/>
            </a:pPr>
            <a:r>
              <a:rPr lang="zh-CN" altLang="en-US" sz="2200" b="1" dirty="0"/>
              <a:t>编写函数，接收</a:t>
            </a:r>
            <a:r>
              <a:rPr lang="zh-CN" altLang="en-US" sz="2200" b="1" dirty="0" smtClean="0"/>
              <a:t>包含</a:t>
            </a:r>
            <a:r>
              <a:rPr lang="en-US" altLang="zh-CN" sz="2200" b="1" dirty="0" smtClean="0"/>
              <a:t>N</a:t>
            </a:r>
            <a:r>
              <a:rPr lang="zh-CN" altLang="en-US" sz="2200" b="1" dirty="0" smtClean="0"/>
              <a:t>个</a:t>
            </a:r>
            <a:r>
              <a:rPr lang="zh-CN" altLang="en-US" sz="2200" b="1" dirty="0"/>
              <a:t>整数的</a:t>
            </a:r>
            <a:r>
              <a:rPr lang="zh-CN" altLang="en-US" sz="2200" b="1" dirty="0" smtClean="0"/>
              <a:t>列表</a:t>
            </a:r>
            <a:r>
              <a:rPr lang="en-US" altLang="zh-CN" sz="2200" b="1" dirty="0" smtClean="0"/>
              <a:t>L</a:t>
            </a:r>
            <a:r>
              <a:rPr lang="zh-CN" altLang="en-US" sz="2200" b="1" dirty="0" smtClean="0"/>
              <a:t>和</a:t>
            </a:r>
            <a:r>
              <a:rPr lang="zh-CN" altLang="en-US" sz="2200" b="1" dirty="0"/>
              <a:t>一个整数</a:t>
            </a:r>
            <a:r>
              <a:rPr lang="en-US" altLang="zh-CN" sz="2200" b="1" dirty="0"/>
              <a:t>k</a:t>
            </a:r>
            <a:r>
              <a:rPr lang="zh-CN" altLang="en-US" sz="2200" b="1" dirty="0" smtClean="0"/>
              <a:t>作</a:t>
            </a:r>
            <a:endParaRPr lang="en-US" altLang="zh-CN" sz="2200" b="1" dirty="0" smtClean="0"/>
          </a:p>
          <a:p>
            <a:pPr>
              <a:lnSpc>
                <a:spcPct val="150000"/>
              </a:lnSpc>
              <a:buClr>
                <a:srgbClr val="FF0000"/>
              </a:buClr>
              <a:buSzPct val="90000"/>
            </a:pPr>
            <a:r>
              <a:rPr lang="en-US" altLang="zh-CN" sz="2200" b="1" dirty="0" smtClean="0"/>
              <a:t>  </a:t>
            </a:r>
            <a:r>
              <a:rPr lang="zh-CN" altLang="en-US" sz="2200" b="1" dirty="0" smtClean="0"/>
              <a:t>为</a:t>
            </a:r>
            <a:r>
              <a:rPr lang="zh-CN" altLang="en-US" sz="2200" b="1" dirty="0"/>
              <a:t>参数，</a:t>
            </a:r>
            <a:r>
              <a:rPr lang="zh-CN" altLang="en-US" sz="2200" b="1" dirty="0" smtClean="0"/>
              <a:t>返回新</a:t>
            </a:r>
            <a:r>
              <a:rPr lang="zh-CN" altLang="en-US" sz="2200" b="1" dirty="0"/>
              <a:t>列表</a:t>
            </a:r>
            <a:r>
              <a:rPr lang="zh-CN" altLang="en-US" sz="2200" b="1" dirty="0" smtClean="0"/>
              <a:t>。</a:t>
            </a:r>
            <a:endParaRPr lang="en-US" altLang="zh-CN" sz="2200" b="1" dirty="0" smtClean="0"/>
          </a:p>
          <a:p>
            <a:pPr>
              <a:lnSpc>
                <a:spcPct val="150000"/>
              </a:lnSpc>
              <a:buClr>
                <a:srgbClr val="FF0000"/>
              </a:buClr>
              <a:buSzPct val="90000"/>
            </a:pPr>
            <a:r>
              <a:rPr lang="zh-CN" altLang="en-US" sz="2200" b="1" dirty="0" smtClean="0"/>
              <a:t>  要求：将列表</a:t>
            </a:r>
            <a:r>
              <a:rPr lang="en-US" altLang="zh-CN" sz="2200" b="1" dirty="0" smtClean="0"/>
              <a:t>L</a:t>
            </a:r>
            <a:r>
              <a:rPr lang="zh-CN" altLang="en-US" sz="2200" b="1" dirty="0" smtClean="0"/>
              <a:t>中</a:t>
            </a:r>
            <a:r>
              <a:rPr lang="zh-CN" altLang="en-US" sz="2200" b="1" dirty="0"/>
              <a:t>下标</a:t>
            </a:r>
            <a:r>
              <a:rPr lang="en-US" altLang="zh-CN" sz="2200" b="1" dirty="0"/>
              <a:t>k</a:t>
            </a:r>
            <a:r>
              <a:rPr lang="zh-CN" altLang="en-US" sz="2200" b="1" dirty="0" smtClean="0"/>
              <a:t>之前的元素升序，</a:t>
            </a:r>
            <a:r>
              <a:rPr lang="zh-CN" altLang="en-US" sz="2200" b="1" dirty="0"/>
              <a:t>下标</a:t>
            </a:r>
            <a:r>
              <a:rPr lang="en-US" altLang="zh-CN" sz="2200" b="1" dirty="0"/>
              <a:t>k</a:t>
            </a:r>
            <a:r>
              <a:rPr lang="zh-CN" altLang="en-US" sz="2200" b="1" dirty="0" smtClean="0"/>
              <a:t>之后的元素倒序</a:t>
            </a:r>
            <a:endParaRPr lang="zh-CN" altLang="en-US" sz="2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圆角矩形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8" name="文本框 17"/>
          <p:cNvSpPr txBox="1"/>
          <p:nvPr>
            <p:custDataLst>
              <p:tags r:id="rId5"/>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文本框 18"/>
          <p:cNvSpPr txBox="1"/>
          <p:nvPr>
            <p:custDataLst>
              <p:tags r:id="rId6"/>
            </p:custDataLst>
          </p:nvPr>
        </p:nvSpPr>
        <p:spPr>
          <a:xfrm>
            <a:off x="9779000" y="1270000"/>
            <a:ext cx="3332480" cy="2862322"/>
          </a:xfrm>
          <a:prstGeom prst="rect">
            <a:avLst/>
          </a:prstGeom>
          <a:noFill/>
        </p:spPr>
        <p:txBody>
          <a:bodyPr vert="horz" rtlCol="0" anchor="t" anchorCtr="0">
            <a:spAutoFit/>
          </a:bodyPr>
          <a:lstStyle/>
          <a:p>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def</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SelfSorts</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L,k</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x = L[:k]</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x.sort</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y = L[k:]</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y.sort</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(reverse = True)</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return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x+y</a:t>
            </a:r>
            <a:endPar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random import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randint</a:t>
            </a:r>
            <a:endPar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try:</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N, K=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eval</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(input("N:")),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eval</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(input("K:"))</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L =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randint</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(1,N) for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in range(1,N)]</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print(L)</a:t>
            </a:r>
          </a:p>
          <a:p>
            <a:r>
              <a:rPr lang="en-US" altLang="zh-CN" sz="12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print(</a:t>
            </a:r>
            <a:r>
              <a:rPr lang="en-US" altLang="zh-CN" sz="1200" dirty="0" err="1"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SelfSorts</a:t>
            </a:r>
            <a:r>
              <a:rPr lang="en-US" altLang="zh-CN" sz="12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(L,K</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except:</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print("except")</a:t>
            </a:r>
          </a:p>
        </p:txBody>
      </p:sp>
      <p:grpSp>
        <p:nvGrpSpPr>
          <p:cNvPr id="17" name="组合 16"/>
          <p:cNvGrpSpPr/>
          <p:nvPr>
            <p:custDataLst>
              <p:tags r:id="rId7"/>
            </p:custDataLst>
          </p:nvPr>
        </p:nvGrpSpPr>
        <p:grpSpPr>
          <a:xfrm>
            <a:off x="9537700" y="0"/>
            <a:ext cx="3815080" cy="647700"/>
            <a:chOff x="9537700" y="0"/>
            <a:chExt cx="3815080" cy="647700"/>
          </a:xfrm>
        </p:grpSpPr>
        <p:sp>
          <p:nvSpPr>
            <p:cNvPr id="14" name="RemarkBack"/>
            <p:cNvSpPr/>
            <p:nvPr>
              <p:custDataLst>
                <p:tags r:id="rId14"/>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markBlock"/>
            <p:cNvSpPr/>
            <p:nvPr>
              <p:custDataLst>
                <p:tags r:id="rId15"/>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TitleText"/>
            <p:cNvSpPr txBox="1"/>
            <p:nvPr>
              <p:custDataLst>
                <p:tags r:id="rId16"/>
              </p:custDataLst>
            </p:nvPr>
          </p:nvSpPr>
          <p:spPr>
            <a:xfrm>
              <a:off x="9779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grpSp>
        <p:nvGrpSpPr>
          <p:cNvPr id="12" name="组合 11"/>
          <p:cNvGrpSpPr/>
          <p:nvPr>
            <p:custDataLst>
              <p:tags r:id="rId8"/>
            </p:custDataLst>
          </p:nvPr>
        </p:nvGrpSpPr>
        <p:grpSpPr>
          <a:xfrm>
            <a:off x="0" y="0"/>
            <a:ext cx="9144000" cy="635000"/>
            <a:chOff x="0" y="0"/>
            <a:chExt cx="9144000" cy="635000"/>
          </a:xfrm>
        </p:grpSpPr>
        <p:sp>
          <p:nvSpPr>
            <p:cNvPr id="8" name="TitleBackground"/>
            <p:cNvSpPr/>
            <p:nvPr>
              <p:custDataLst>
                <p:tags r:id="rId10"/>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11"/>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9"/>
            </p:custDataLst>
          </p:nvPr>
        </p:nvPicPr>
        <p:blipFill>
          <a:blip r:embed="rId18">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061627558"/>
      </p:ext>
    </p:extLst>
  </p:cSld>
  <p:clrMapOvr>
    <a:masterClrMapping/>
  </p:clrMapOvr>
  <p:transition spd="slow" advClick="0">
    <p:pull di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文本占位符 60418"/>
          <p:cNvSpPr>
            <a:spLocks noGrp="1"/>
          </p:cNvSpPr>
          <p:nvPr>
            <p:ph idx="1"/>
          </p:nvPr>
        </p:nvSpPr>
        <p:spPr>
          <a:xfrm>
            <a:off x="815485" y="1526985"/>
            <a:ext cx="7261860" cy="3394075"/>
          </a:xfrm>
        </p:spPr>
        <p:txBody>
          <a:bodyPr vert="horz" wrap="square" lIns="68591" tIns="34295" rIns="68591" bIns="34295" numCol="1" anchor="t" anchorCtr="0" compatLnSpc="1">
            <a:prstTxWarp prst="textNoShape">
              <a:avLst/>
            </a:prstTxWarp>
          </a:bodyPr>
          <a:lstStyle/>
          <a:p>
            <a:pPr eaLnBrk="1" fontAlgn="base" hangingPunct="1">
              <a:lnSpc>
                <a:spcPct val="150000"/>
              </a:lnSpc>
              <a:spcBef>
                <a:spcPct val="0"/>
              </a:spcBef>
              <a:buClr>
                <a:srgbClr val="FF0000"/>
              </a:buClr>
              <a:buSzPct val="90000"/>
              <a:buFont typeface="Wingdings" panose="05000000000000000000" pitchFamily="2" charset="2"/>
              <a:buChar char="n"/>
            </a:pPr>
            <a:r>
              <a:rPr lang="zh-CN" altLang="en-US" sz="1800" b="1" noProof="1"/>
              <a:t>内置函数map</a:t>
            </a:r>
            <a:r>
              <a:rPr lang="en-US" altLang="zh-CN" sz="1800" b="1" noProof="1"/>
              <a:t>()</a:t>
            </a:r>
            <a:r>
              <a:rPr lang="zh-CN" altLang="en-US" sz="1800" b="1" noProof="1"/>
              <a:t>可以将一个函数作用到一个序列或迭代器对象上。</a:t>
            </a:r>
            <a:endParaRPr lang="zh-CN" altLang="en-US" sz="1350" b="1"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zh-CN" altLang="en-US" sz="1600" noProof="1">
                <a:latin typeface="Consolas" panose="020B0609020204030204" pitchFamily="49" charset="0"/>
              </a:rPr>
              <a:t>&gt;&gt;&gt; </a:t>
            </a:r>
            <a:r>
              <a:rPr lang="en-US" altLang="zh-CN" sz="1600" noProof="1">
                <a:latin typeface="Consolas" panose="020B0609020204030204" pitchFamily="49" charset="0"/>
              </a:rPr>
              <a:t>list(</a:t>
            </a:r>
            <a:r>
              <a:rPr lang="zh-CN" altLang="en-US" sz="1600" noProof="1">
                <a:latin typeface="Consolas" panose="020B0609020204030204" pitchFamily="49" charset="0"/>
              </a:rPr>
              <a:t>map(str,range(5))</a:t>
            </a:r>
            <a:r>
              <a:rPr lang="en-US" altLang="zh-CN" sz="1600" noProof="1">
                <a:latin typeface="Consolas" panose="020B0609020204030204" pitchFamily="49" charset="0"/>
              </a:rPr>
              <a:t>)</a:t>
            </a:r>
          </a:p>
          <a:p>
            <a:pPr eaLnBrk="1" fontAlgn="base" hangingPunct="1">
              <a:lnSpc>
                <a:spcPct val="90000"/>
              </a:lnSpc>
              <a:buSzPct val="90000"/>
              <a:buFont typeface="Wingdings" panose="05000000000000000000" pitchFamily="2" charset="2"/>
              <a:buNone/>
            </a:pPr>
            <a:r>
              <a:rPr lang="zh-CN" altLang="en-US" sz="1600" noProof="1">
                <a:solidFill>
                  <a:srgbClr val="0000FF"/>
                </a:solidFill>
                <a:latin typeface="Consolas" panose="020B0609020204030204" pitchFamily="49" charset="0"/>
              </a:rPr>
              <a:t>['0', '1', '2', '3', '4']</a:t>
            </a:r>
          </a:p>
          <a:p>
            <a:pPr eaLnBrk="1" fontAlgn="base" hangingPunct="1">
              <a:lnSpc>
                <a:spcPct val="90000"/>
              </a:lnSpc>
              <a:buSzPct val="90000"/>
              <a:buFont typeface="Wingdings" panose="05000000000000000000" pitchFamily="2" charset="2"/>
              <a:buNone/>
            </a:pPr>
            <a:r>
              <a:rPr lang="en-US" altLang="zh-CN" sz="1600" noProof="1">
                <a:latin typeface="Consolas" panose="020B0609020204030204" pitchFamily="49" charset="0"/>
              </a:rPr>
              <a:t>&gt;&gt;&gt; def add5(v):</a:t>
            </a:r>
          </a:p>
          <a:p>
            <a:pPr eaLnBrk="1" fontAlgn="base" hangingPunct="1">
              <a:lnSpc>
                <a:spcPct val="90000"/>
              </a:lnSpc>
              <a:buSzPct val="90000"/>
              <a:buFont typeface="Wingdings" panose="05000000000000000000" pitchFamily="2" charset="2"/>
              <a:buNone/>
            </a:pPr>
            <a:r>
              <a:rPr lang="en-US" altLang="zh-CN" sz="1600" noProof="1">
                <a:latin typeface="Consolas" panose="020B0609020204030204" pitchFamily="49" charset="0"/>
              </a:rPr>
              <a:t>    return v+5</a:t>
            </a:r>
          </a:p>
          <a:p>
            <a:pPr eaLnBrk="1" fontAlgn="base" hangingPunct="1">
              <a:lnSpc>
                <a:spcPct val="90000"/>
              </a:lnSpc>
              <a:buSzPct val="90000"/>
              <a:buFont typeface="Wingdings" panose="05000000000000000000" pitchFamily="2" charset="2"/>
              <a:buNone/>
            </a:pPr>
            <a:endParaRPr lang="en-US" altLang="zh-CN" sz="1600"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600" noProof="1">
                <a:latin typeface="Consolas" panose="020B0609020204030204" pitchFamily="49" charset="0"/>
              </a:rPr>
              <a:t>&gt;&gt;&gt; list(map(add5,range(10)))</a:t>
            </a:r>
          </a:p>
          <a:p>
            <a:pPr eaLnBrk="1" fontAlgn="base" hangingPunct="1">
              <a:lnSpc>
                <a:spcPct val="90000"/>
              </a:lnSpc>
              <a:buSzPct val="90000"/>
              <a:buFont typeface="Wingdings" panose="05000000000000000000" pitchFamily="2" charset="2"/>
              <a:buNone/>
            </a:pPr>
            <a:r>
              <a:rPr lang="en-US" altLang="zh-CN" sz="1600" noProof="1">
                <a:solidFill>
                  <a:srgbClr val="0000FF"/>
                </a:solidFill>
                <a:latin typeface="Consolas" panose="020B0609020204030204" pitchFamily="49" charset="0"/>
              </a:rPr>
              <a:t>[5, 6, 7, 8, 9, 10, 11, 12, 13, 14]</a:t>
            </a:r>
          </a:p>
          <a:p>
            <a:pPr eaLnBrk="1" fontAlgn="base" hangingPunct="1">
              <a:lnSpc>
                <a:spcPct val="90000"/>
              </a:lnSpc>
              <a:buSzPct val="90000"/>
              <a:buFont typeface="Wingdings" panose="05000000000000000000" pitchFamily="2" charset="2"/>
              <a:buNone/>
            </a:pPr>
            <a:endParaRPr lang="en-US" altLang="zh-CN" sz="1600"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600" noProof="1">
                <a:latin typeface="Consolas" panose="020B0609020204030204" pitchFamily="49" charset="0"/>
              </a:rPr>
              <a:t>&gt;&gt;&gt; def add(x, y):return x+y</a:t>
            </a:r>
          </a:p>
          <a:p>
            <a:pPr eaLnBrk="1" fontAlgn="base" hangingPunct="1">
              <a:lnSpc>
                <a:spcPct val="90000"/>
              </a:lnSpc>
              <a:buSzPct val="90000"/>
              <a:buFont typeface="Wingdings" panose="05000000000000000000" pitchFamily="2" charset="2"/>
              <a:buNone/>
            </a:pPr>
            <a:r>
              <a:rPr lang="en-US" altLang="zh-CN" sz="1600" noProof="1">
                <a:latin typeface="Consolas" panose="020B0609020204030204" pitchFamily="49" charset="0"/>
              </a:rPr>
              <a:t>&gt;&gt;&gt; list(map(add, range(5), range(5)))</a:t>
            </a:r>
          </a:p>
          <a:p>
            <a:pPr eaLnBrk="1" fontAlgn="base" hangingPunct="1">
              <a:lnSpc>
                <a:spcPct val="90000"/>
              </a:lnSpc>
              <a:buSzPct val="90000"/>
              <a:buFont typeface="Wingdings" panose="05000000000000000000" pitchFamily="2" charset="2"/>
              <a:buNone/>
            </a:pPr>
            <a:r>
              <a:rPr lang="en-US" altLang="zh-CN" sz="1600" noProof="1">
                <a:solidFill>
                  <a:srgbClr val="0000FF"/>
                </a:solidFill>
                <a:latin typeface="Consolas" panose="020B0609020204030204" pitchFamily="49" charset="0"/>
              </a:rPr>
              <a:t>[0, 2, 4, 6, 8]</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46</a:t>
            </a:fld>
            <a:endParaRPr lang="zh-CN" altLang="en-US" dirty="0"/>
          </a:p>
        </p:txBody>
      </p:sp>
      <p:grpSp>
        <p:nvGrpSpPr>
          <p:cNvPr id="5" name="组合 4"/>
          <p:cNvGrpSpPr/>
          <p:nvPr/>
        </p:nvGrpSpPr>
        <p:grpSpPr>
          <a:xfrm>
            <a:off x="-1116632" y="110450"/>
            <a:ext cx="8064895" cy="677666"/>
            <a:chOff x="-759186" y="5191294"/>
            <a:chExt cx="7919582" cy="487895"/>
          </a:xfrm>
        </p:grpSpPr>
        <p:grpSp>
          <p:nvGrpSpPr>
            <p:cNvPr id="6" name="组合 5"/>
            <p:cNvGrpSpPr/>
            <p:nvPr/>
          </p:nvGrpSpPr>
          <p:grpSpPr>
            <a:xfrm>
              <a:off x="-759186" y="5191294"/>
              <a:ext cx="7919582" cy="487895"/>
              <a:chOff x="-870470" y="5828963"/>
              <a:chExt cx="8626056" cy="638887"/>
            </a:xfrm>
          </p:grpSpPr>
          <p:sp>
            <p:nvSpPr>
              <p:cNvPr id="8"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870470"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5.6 </a:t>
                </a:r>
                <a:r>
                  <a:rPr lang="zh-CN" altLang="en-US" sz="3600" b="1" dirty="0">
                    <a:latin typeface="Times New Roman" pitchFamily="18" charset="0"/>
                    <a:ea typeface="黑体" pitchFamily="49" charset="-122"/>
                  </a:rPr>
                  <a:t> </a:t>
                </a:r>
                <a:r>
                  <a:rPr lang="zh-CN" altLang="en-US" sz="3600" b="1" dirty="0">
                    <a:solidFill>
                      <a:srgbClr val="FFC000"/>
                    </a:solidFill>
                    <a:latin typeface="Times New Roman" pitchFamily="18" charset="0"/>
                    <a:ea typeface="黑体" pitchFamily="49" charset="-122"/>
                  </a:rPr>
                  <a:t>高级话题</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
        <p:nvSpPr>
          <p:cNvPr id="4" name="文本框 3"/>
          <p:cNvSpPr txBox="1"/>
          <p:nvPr/>
        </p:nvSpPr>
        <p:spPr>
          <a:xfrm>
            <a:off x="467544" y="949937"/>
            <a:ext cx="3978871"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内置函数</a:t>
            </a:r>
            <a:r>
              <a:rPr lang="en-US" altLang="zh-CN" sz="2800" b="1" dirty="0">
                <a:latin typeface="Times New Roman" panose="02020603050405020304" pitchFamily="18" charset="0"/>
                <a:ea typeface="仿宋" panose="02010609060101010101" pitchFamily="49" charset="-122"/>
              </a:rPr>
              <a:t>Map</a:t>
            </a:r>
            <a:endParaRPr lang="zh-CN" altLang="en-US" sz="2800" b="1" dirty="0">
              <a:latin typeface="Times New Roman" panose="02020603050405020304" pitchFamily="18" charset="0"/>
              <a:ea typeface="仿宋" panose="02010609060101010101" pitchFamily="49" charset="-122"/>
            </a:endParaRPr>
          </a:p>
        </p:txBody>
      </p:sp>
    </p:spTree>
    <p:extLst>
      <p:ext uri="{BB962C8B-B14F-4D97-AF65-F5344CB8AC3E}">
        <p14:creationId xmlns:p14="http://schemas.microsoft.com/office/powerpoint/2010/main" val="13664251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84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384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384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384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384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384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384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文本占位符 63490"/>
          <p:cNvSpPr>
            <a:spLocks noGrp="1"/>
          </p:cNvSpPr>
          <p:nvPr>
            <p:ph idx="1"/>
          </p:nvPr>
        </p:nvSpPr>
        <p:spPr>
          <a:xfrm>
            <a:off x="902221" y="1454180"/>
            <a:ext cx="8229600" cy="4678451"/>
          </a:xfrm>
        </p:spPr>
        <p:txBody>
          <a:bodyPr vert="horz" wrap="square" lIns="68591" tIns="34295" rIns="68591" bIns="34295" numCol="1" anchor="t" anchorCtr="0" compatLnSpc="1">
            <a:prstTxWarp prst="textNoShape">
              <a:avLst/>
            </a:prstTxWarp>
          </a:bodyPr>
          <a:lstStyle/>
          <a:p>
            <a:pPr eaLnBrk="1" fontAlgn="base" hangingPunct="1">
              <a:spcBef>
                <a:spcPct val="0"/>
              </a:spcBef>
              <a:buClr>
                <a:srgbClr val="FF0000"/>
              </a:buClr>
              <a:buSzPct val="90000"/>
              <a:buFont typeface="Wingdings" panose="05000000000000000000" pitchFamily="2" charset="2"/>
              <a:buChar char="n"/>
            </a:pPr>
            <a:r>
              <a:rPr lang="zh-CN" altLang="en-US" sz="1800" b="1" noProof="1"/>
              <a:t>内置函数</a:t>
            </a:r>
            <a:r>
              <a:rPr lang="en-US" altLang="zh-CN" sz="1800" b="1" noProof="1"/>
              <a:t>filter</a:t>
            </a:r>
            <a:r>
              <a:rPr lang="zh-CN" altLang="en-US" sz="1800" b="1" noProof="1"/>
              <a:t>将一个函数作用到一个序列上，返回该序列中使得该函数返回值为</a:t>
            </a:r>
            <a:r>
              <a:rPr lang="en-US" altLang="zh-CN" sz="1800" b="1" noProof="1"/>
              <a:t>True</a:t>
            </a:r>
            <a:r>
              <a:rPr lang="zh-CN" altLang="en-US" sz="1800" b="1" noProof="1"/>
              <a:t>的那些元素组成的</a:t>
            </a:r>
            <a:r>
              <a:rPr lang="en-US" altLang="zh-CN" sz="1800" b="1" noProof="1"/>
              <a:t>filter</a:t>
            </a:r>
            <a:r>
              <a:rPr lang="zh-CN" altLang="en-US" sz="1800" b="1" noProof="1"/>
              <a:t>对象。</a:t>
            </a:r>
          </a:p>
          <a:p>
            <a:pPr eaLnBrk="1" fontAlgn="base" hangingPunct="1">
              <a:lnSpc>
                <a:spcPct val="90000"/>
              </a:lnSpc>
              <a:buSzPct val="90000"/>
              <a:buFont typeface="Wingdings" panose="05000000000000000000" pitchFamily="2" charset="2"/>
              <a:buChar char="•"/>
            </a:pPr>
            <a:endParaRPr lang="en-US" altLang="zh-CN" sz="1350" noProof="1">
              <a:latin typeface="Consolas" panose="020B0609020204030204" pitchFamily="49"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47</a:t>
            </a:fld>
            <a:endParaRPr lang="zh-CN" altLang="en-US" dirty="0"/>
          </a:p>
        </p:txBody>
      </p:sp>
      <p:grpSp>
        <p:nvGrpSpPr>
          <p:cNvPr id="6" name="组合 5"/>
          <p:cNvGrpSpPr/>
          <p:nvPr/>
        </p:nvGrpSpPr>
        <p:grpSpPr>
          <a:xfrm>
            <a:off x="-1116632" y="110450"/>
            <a:ext cx="8064895" cy="677666"/>
            <a:chOff x="-759186" y="5191294"/>
            <a:chExt cx="7919582" cy="487895"/>
          </a:xfrm>
        </p:grpSpPr>
        <p:grpSp>
          <p:nvGrpSpPr>
            <p:cNvPr id="7" name="组合 6"/>
            <p:cNvGrpSpPr/>
            <p:nvPr/>
          </p:nvGrpSpPr>
          <p:grpSpPr>
            <a:xfrm>
              <a:off x="-759186" y="5191294"/>
              <a:ext cx="7919582" cy="487895"/>
              <a:chOff x="-870470" y="5828963"/>
              <a:chExt cx="8626056" cy="638887"/>
            </a:xfrm>
          </p:grpSpPr>
          <p:sp>
            <p:nvSpPr>
              <p:cNvPr id="9"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870470"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5.6 </a:t>
                </a:r>
                <a:r>
                  <a:rPr lang="zh-CN" altLang="en-US" sz="3600" b="1" dirty="0">
                    <a:latin typeface="Times New Roman" pitchFamily="18" charset="0"/>
                    <a:ea typeface="黑体" pitchFamily="49" charset="-122"/>
                  </a:rPr>
                  <a:t> </a:t>
                </a:r>
                <a:r>
                  <a:rPr lang="zh-CN" altLang="en-US" sz="3600" b="1" dirty="0">
                    <a:solidFill>
                      <a:srgbClr val="FFC000"/>
                    </a:solidFill>
                    <a:latin typeface="Times New Roman" pitchFamily="18" charset="0"/>
                    <a:ea typeface="黑体" pitchFamily="49" charset="-122"/>
                  </a:rPr>
                  <a:t>高级话题</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
        <p:nvSpPr>
          <p:cNvPr id="11" name="文本框 10"/>
          <p:cNvSpPr txBox="1"/>
          <p:nvPr/>
        </p:nvSpPr>
        <p:spPr>
          <a:xfrm>
            <a:off x="521121" y="908720"/>
            <a:ext cx="3978871"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内置函数</a:t>
            </a:r>
            <a:r>
              <a:rPr lang="en-US" altLang="zh-CN" sz="2800" b="1" dirty="0">
                <a:latin typeface="Times New Roman" panose="02020603050405020304" pitchFamily="18" charset="0"/>
                <a:ea typeface="仿宋" panose="02010609060101010101" pitchFamily="49" charset="-122"/>
              </a:rPr>
              <a:t>filter</a:t>
            </a:r>
            <a:endParaRPr lang="zh-CN" altLang="en-US" sz="2800" b="1" dirty="0">
              <a:latin typeface="Times New Roman" panose="02020603050405020304" pitchFamily="18" charset="0"/>
              <a:ea typeface="仿宋" panose="02010609060101010101" pitchFamily="49" charset="-122"/>
            </a:endParaRPr>
          </a:p>
        </p:txBody>
      </p:sp>
      <p:sp>
        <p:nvSpPr>
          <p:cNvPr id="4" name="矩形 3"/>
          <p:cNvSpPr/>
          <p:nvPr/>
        </p:nvSpPr>
        <p:spPr>
          <a:xfrm>
            <a:off x="1156120" y="2085245"/>
            <a:ext cx="7987880" cy="3416320"/>
          </a:xfrm>
          <a:prstGeom prst="rect">
            <a:avLst/>
          </a:prstGeom>
        </p:spPr>
        <p:txBody>
          <a:bodyPr wrap="square">
            <a:spAutoFit/>
          </a:bodyPr>
          <a:lstStyle/>
          <a:p>
            <a:pPr>
              <a:buSzPct val="90000"/>
            </a:pPr>
            <a:endParaRPr lang="en-US" altLang="zh-CN" b="1" noProof="1">
              <a:latin typeface="Consolas" panose="020B0609020204030204" pitchFamily="49" charset="0"/>
            </a:endParaRPr>
          </a:p>
          <a:p>
            <a:pPr>
              <a:buSzPct val="90000"/>
            </a:pPr>
            <a:r>
              <a:rPr lang="en-US" altLang="zh-CN" noProof="1">
                <a:latin typeface="Consolas" panose="020B0609020204030204" pitchFamily="49" charset="0"/>
              </a:rPr>
              <a:t>&gt;&gt;&gt; seq=['foo','x41','?!','***']</a:t>
            </a:r>
          </a:p>
          <a:p>
            <a:pPr>
              <a:buSzPct val="90000"/>
            </a:pPr>
            <a:r>
              <a:rPr lang="en-US" altLang="zh-CN" noProof="1">
                <a:latin typeface="Consolas" panose="020B0609020204030204" pitchFamily="49" charset="0"/>
              </a:rPr>
              <a:t>&gt;&gt;&gt; def func(x):</a:t>
            </a:r>
          </a:p>
          <a:p>
            <a:pPr>
              <a:buSzPct val="90000"/>
            </a:pPr>
            <a:r>
              <a:rPr lang="en-US" altLang="zh-CN" noProof="1">
                <a:latin typeface="Consolas" panose="020B0609020204030204" pitchFamily="49" charset="0"/>
              </a:rPr>
              <a:t>    return x.isalnum()</a:t>
            </a:r>
          </a:p>
          <a:p>
            <a:pPr>
              <a:buSzPct val="90000"/>
            </a:pPr>
            <a:r>
              <a:rPr lang="en-US" altLang="zh-CN" noProof="1">
                <a:latin typeface="Consolas" panose="020B0609020204030204" pitchFamily="49" charset="0"/>
              </a:rPr>
              <a:t>&gt;&gt;&gt; list(filter(func,seq))</a:t>
            </a:r>
          </a:p>
          <a:p>
            <a:pPr>
              <a:buSzPct val="90000"/>
            </a:pPr>
            <a:r>
              <a:rPr lang="en-US" altLang="zh-CN" noProof="1">
                <a:solidFill>
                  <a:srgbClr val="0000FF"/>
                </a:solidFill>
                <a:latin typeface="Consolas" panose="020B0609020204030204" pitchFamily="49" charset="0"/>
              </a:rPr>
              <a:t>['foo', 'x41']</a:t>
            </a:r>
          </a:p>
          <a:p>
            <a:pPr>
              <a:buSzPct val="90000"/>
            </a:pPr>
            <a:r>
              <a:rPr lang="en-US" altLang="zh-CN" noProof="1">
                <a:latin typeface="Consolas" panose="020B0609020204030204" pitchFamily="49" charset="0"/>
              </a:rPr>
              <a:t>&gt;&gt;&gt; seq</a:t>
            </a:r>
          </a:p>
          <a:p>
            <a:pPr>
              <a:buSzPct val="90000"/>
            </a:pPr>
            <a:r>
              <a:rPr lang="en-US" altLang="zh-CN" noProof="1">
                <a:latin typeface="Consolas" panose="020B0609020204030204" pitchFamily="49" charset="0"/>
              </a:rPr>
              <a:t>['foo', 'x41', '?!', '***']</a:t>
            </a:r>
          </a:p>
          <a:p>
            <a:pPr>
              <a:buSzPct val="90000"/>
            </a:pPr>
            <a:r>
              <a:rPr lang="en-US" altLang="zh-CN" noProof="1">
                <a:latin typeface="Consolas" panose="020B0609020204030204" pitchFamily="49" charset="0"/>
              </a:rPr>
              <a:t>&gt;&gt;&gt; [x for x in seq if x.isalnum()]</a:t>
            </a:r>
          </a:p>
          <a:p>
            <a:pPr>
              <a:buSzPct val="90000"/>
            </a:pPr>
            <a:r>
              <a:rPr lang="en-US" altLang="zh-CN" noProof="1">
                <a:solidFill>
                  <a:srgbClr val="0000FF"/>
                </a:solidFill>
                <a:latin typeface="Consolas" panose="020B0609020204030204" pitchFamily="49" charset="0"/>
              </a:rPr>
              <a:t>['foo', 'x41']</a:t>
            </a:r>
          </a:p>
          <a:p>
            <a:pPr>
              <a:buSzPct val="90000"/>
            </a:pPr>
            <a:r>
              <a:rPr lang="en-US" altLang="zh-CN" noProof="1">
                <a:latin typeface="Consolas" panose="020B0609020204030204" pitchFamily="49" charset="0"/>
              </a:rPr>
              <a:t>&gt;&gt;&gt; list(filter(lambda x:x.isalnum(),seq))</a:t>
            </a:r>
          </a:p>
          <a:p>
            <a:pPr>
              <a:buSzPct val="90000"/>
            </a:pPr>
            <a:r>
              <a:rPr lang="en-US" altLang="zh-CN" noProof="1">
                <a:solidFill>
                  <a:srgbClr val="0000FF"/>
                </a:solidFill>
                <a:latin typeface="Consolas" panose="020B0609020204030204" pitchFamily="49" charset="0"/>
              </a:rPr>
              <a:t>['foo', 'x41']</a:t>
            </a:r>
          </a:p>
        </p:txBody>
      </p:sp>
    </p:spTree>
    <p:extLst>
      <p:ext uri="{BB962C8B-B14F-4D97-AF65-F5344CB8AC3E}">
        <p14:creationId xmlns:p14="http://schemas.microsoft.com/office/powerpoint/2010/main" val="3982703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89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build="p"/>
      <p:bldP spid="1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文本占位符 61442"/>
          <p:cNvSpPr>
            <a:spLocks noGrp="1"/>
          </p:cNvSpPr>
          <p:nvPr>
            <p:ph idx="1"/>
          </p:nvPr>
        </p:nvSpPr>
        <p:spPr>
          <a:xfrm>
            <a:off x="793683" y="1454817"/>
            <a:ext cx="8166735" cy="3394075"/>
          </a:xfrm>
        </p:spPr>
        <p:txBody>
          <a:bodyPr vert="horz" wrap="square" lIns="68591" tIns="34295" rIns="68591" bIns="34295" numCol="1" anchor="t" anchorCtr="0" compatLnSpc="1">
            <a:prstTxWarp prst="textNoShape">
              <a:avLst/>
            </a:prstTxWarp>
          </a:bodyPr>
          <a:lstStyle/>
          <a:p>
            <a:pPr eaLnBrk="1" fontAlgn="base" hangingPunct="1">
              <a:lnSpc>
                <a:spcPct val="110000"/>
              </a:lnSpc>
              <a:spcBef>
                <a:spcPct val="0"/>
              </a:spcBef>
              <a:buClr>
                <a:srgbClr val="FF0000"/>
              </a:buClr>
              <a:buSzPct val="90000"/>
              <a:buFont typeface="Wingdings" panose="05000000000000000000" pitchFamily="2" charset="2"/>
              <a:buChar char="n"/>
            </a:pPr>
            <a:r>
              <a:rPr lang="zh-CN" altLang="en-US" sz="1800" b="1" noProof="1"/>
              <a:t>标准库</a:t>
            </a:r>
            <a:r>
              <a:rPr lang="en-US" altLang="zh-CN" sz="1800" b="1" noProof="1"/>
              <a:t>functools</a:t>
            </a:r>
            <a:r>
              <a:rPr lang="zh-CN" altLang="en-US" sz="1800" b="1" noProof="1"/>
              <a:t>中的reduce</a:t>
            </a:r>
            <a:r>
              <a:rPr lang="en-US" altLang="zh-CN" sz="1800" b="1" noProof="1"/>
              <a:t>()</a:t>
            </a:r>
            <a:r>
              <a:rPr lang="zh-CN" altLang="en-US" sz="1800" b="1" noProof="1"/>
              <a:t>函数可以将一个接受2个参数的函数以迭代的方式从左到右依次作用到一个序列或迭代器对象的所有元素上。</a:t>
            </a:r>
          </a:p>
          <a:p>
            <a:pPr eaLnBrk="1" fontAlgn="base" hangingPunct="1">
              <a:lnSpc>
                <a:spcPct val="80000"/>
              </a:lnSpc>
              <a:spcBef>
                <a:spcPct val="0"/>
              </a:spcBef>
              <a:buSzPct val="90000"/>
              <a:buFont typeface="Wingdings" panose="05000000000000000000" pitchFamily="2" charset="2"/>
              <a:buNone/>
            </a:pPr>
            <a:endParaRPr lang="zh-CN" altLang="en-US" sz="1350" noProof="1">
              <a:latin typeface="Consolas" panose="020B0609020204030204" pitchFamily="49" charset="0"/>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48</a:t>
            </a:fld>
            <a:endParaRPr lang="zh-CN" altLang="en-US" dirty="0"/>
          </a:p>
        </p:txBody>
      </p:sp>
      <p:grpSp>
        <p:nvGrpSpPr>
          <p:cNvPr id="6" name="组合 5"/>
          <p:cNvGrpSpPr/>
          <p:nvPr/>
        </p:nvGrpSpPr>
        <p:grpSpPr>
          <a:xfrm>
            <a:off x="-1116632" y="110450"/>
            <a:ext cx="8064895" cy="677666"/>
            <a:chOff x="-759186" y="5191294"/>
            <a:chExt cx="7919582" cy="487895"/>
          </a:xfrm>
        </p:grpSpPr>
        <p:grpSp>
          <p:nvGrpSpPr>
            <p:cNvPr id="7" name="组合 6"/>
            <p:cNvGrpSpPr/>
            <p:nvPr/>
          </p:nvGrpSpPr>
          <p:grpSpPr>
            <a:xfrm>
              <a:off x="-759186" y="5191294"/>
              <a:ext cx="7919582" cy="487895"/>
              <a:chOff x="-870470" y="5828963"/>
              <a:chExt cx="8626056" cy="638887"/>
            </a:xfrm>
          </p:grpSpPr>
          <p:sp>
            <p:nvSpPr>
              <p:cNvPr id="9"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870470"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5.6 </a:t>
                </a:r>
                <a:r>
                  <a:rPr lang="zh-CN" altLang="en-US" sz="3600" b="1" dirty="0">
                    <a:latin typeface="Times New Roman" pitchFamily="18" charset="0"/>
                    <a:ea typeface="黑体" pitchFamily="49" charset="-122"/>
                  </a:rPr>
                  <a:t> 高级话题</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
        <p:nvSpPr>
          <p:cNvPr id="11" name="文本框 10"/>
          <p:cNvSpPr txBox="1"/>
          <p:nvPr/>
        </p:nvSpPr>
        <p:spPr>
          <a:xfrm>
            <a:off x="502493" y="925881"/>
            <a:ext cx="3978871"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reduce</a:t>
            </a:r>
            <a:r>
              <a:rPr lang="zh-CN" altLang="en-US" sz="2800" b="1" dirty="0">
                <a:latin typeface="Times New Roman" panose="02020603050405020304" pitchFamily="18" charset="0"/>
                <a:ea typeface="仿宋" panose="02010609060101010101" pitchFamily="49" charset="-122"/>
              </a:rPr>
              <a:t>函数</a:t>
            </a:r>
          </a:p>
        </p:txBody>
      </p:sp>
      <p:sp>
        <p:nvSpPr>
          <p:cNvPr id="4" name="矩形 3"/>
          <p:cNvSpPr/>
          <p:nvPr/>
        </p:nvSpPr>
        <p:spPr>
          <a:xfrm>
            <a:off x="1382983" y="2274838"/>
            <a:ext cx="7077449" cy="2862322"/>
          </a:xfrm>
          <a:prstGeom prst="rect">
            <a:avLst/>
          </a:prstGeom>
        </p:spPr>
        <p:txBody>
          <a:bodyPr wrap="square">
            <a:spAutoFit/>
          </a:bodyPr>
          <a:lstStyle/>
          <a:p>
            <a:pPr>
              <a:buSzPct val="90000"/>
            </a:pPr>
            <a:r>
              <a:rPr lang="en-US" altLang="zh-CN" noProof="1">
                <a:latin typeface="Consolas" panose="020B0609020204030204" pitchFamily="49" charset="0"/>
              </a:rPr>
              <a:t>&gt;&gt;&gt; </a:t>
            </a:r>
            <a:r>
              <a:rPr lang="zh-CN" altLang="en-US" noProof="1">
                <a:latin typeface="Consolas" panose="020B0609020204030204" pitchFamily="49" charset="0"/>
              </a:rPr>
              <a:t>from functools import reduce</a:t>
            </a:r>
            <a:endParaRPr lang="en-US" altLang="zh-CN" noProof="1">
              <a:latin typeface="Consolas" panose="020B0609020204030204" pitchFamily="49" charset="0"/>
            </a:endParaRPr>
          </a:p>
          <a:p>
            <a:pPr>
              <a:buSzPct val="90000"/>
            </a:pPr>
            <a:r>
              <a:rPr lang="zh-CN" altLang="en-US" noProof="1">
                <a:latin typeface="Consolas" panose="020B0609020204030204" pitchFamily="49" charset="0"/>
              </a:rPr>
              <a:t>&gt;&gt;&gt; seq=[1,2,3,4,5,6,7,8,9]</a:t>
            </a:r>
          </a:p>
          <a:p>
            <a:pPr>
              <a:buSzPct val="90000"/>
            </a:pPr>
            <a:r>
              <a:rPr lang="zh-CN" altLang="en-US" noProof="1">
                <a:latin typeface="Consolas" panose="020B0609020204030204" pitchFamily="49" charset="0"/>
              </a:rPr>
              <a:t>&gt;&gt;&gt; reduce(lambda x,y:x+y, seq)</a:t>
            </a:r>
          </a:p>
          <a:p>
            <a:pPr>
              <a:buSzPct val="90000"/>
            </a:pPr>
            <a:r>
              <a:rPr lang="zh-CN" altLang="en-US" noProof="1">
                <a:solidFill>
                  <a:srgbClr val="0000FF"/>
                </a:solidFill>
                <a:latin typeface="Consolas" panose="020B0609020204030204" pitchFamily="49" charset="0"/>
              </a:rPr>
              <a:t>45</a:t>
            </a:r>
          </a:p>
          <a:p>
            <a:pPr>
              <a:buSzPct val="90000"/>
            </a:pPr>
            <a:r>
              <a:rPr lang="en-US" altLang="zh-CN" noProof="1">
                <a:latin typeface="Consolas" panose="020B0609020204030204" pitchFamily="49" charset="0"/>
              </a:rPr>
              <a:t>&gt;&gt;&gt; def add(x, y):</a:t>
            </a:r>
          </a:p>
          <a:p>
            <a:pPr>
              <a:buSzPct val="90000"/>
            </a:pPr>
            <a:r>
              <a:rPr lang="en-US" altLang="zh-CN" noProof="1">
                <a:latin typeface="Consolas" panose="020B0609020204030204" pitchFamily="49" charset="0"/>
              </a:rPr>
              <a:t>    return x + y</a:t>
            </a:r>
          </a:p>
          <a:p>
            <a:pPr>
              <a:buSzPct val="90000"/>
            </a:pPr>
            <a:r>
              <a:rPr lang="en-US" altLang="zh-CN" noProof="1">
                <a:latin typeface="Consolas" panose="020B0609020204030204" pitchFamily="49" charset="0"/>
              </a:rPr>
              <a:t>&gt;&gt;&gt; reduce(add,range(10))</a:t>
            </a:r>
          </a:p>
          <a:p>
            <a:pPr>
              <a:buSzPct val="90000"/>
            </a:pPr>
            <a:r>
              <a:rPr lang="en-US" altLang="zh-CN" noProof="1">
                <a:solidFill>
                  <a:srgbClr val="0000FF"/>
                </a:solidFill>
                <a:latin typeface="Consolas" panose="020B0609020204030204" pitchFamily="49" charset="0"/>
              </a:rPr>
              <a:t>45</a:t>
            </a:r>
          </a:p>
          <a:p>
            <a:pPr>
              <a:buSzPct val="90000"/>
            </a:pPr>
            <a:r>
              <a:rPr lang="zh-CN" altLang="en-US" noProof="1">
                <a:latin typeface="Consolas" panose="020B0609020204030204" pitchFamily="49" charset="0"/>
              </a:rPr>
              <a:t>&gt;&gt;&gt; reduce(add,map(str,range(10)))</a:t>
            </a:r>
          </a:p>
          <a:p>
            <a:pPr>
              <a:buSzPct val="90000"/>
            </a:pPr>
            <a:r>
              <a:rPr lang="zh-CN" altLang="en-US" noProof="1">
                <a:solidFill>
                  <a:srgbClr val="0000FF"/>
                </a:solidFill>
                <a:latin typeface="Consolas" panose="020B0609020204030204" pitchFamily="49" charset="0"/>
              </a:rPr>
              <a:t>'0123456789'</a:t>
            </a:r>
          </a:p>
        </p:txBody>
      </p:sp>
    </p:spTree>
    <p:extLst>
      <p:ext uri="{BB962C8B-B14F-4D97-AF65-F5344CB8AC3E}">
        <p14:creationId xmlns:p14="http://schemas.microsoft.com/office/powerpoint/2010/main" val="54990811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486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6" grpId="0" build="p"/>
      <p:bldP spid="1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Content Placeholder 2"/>
          <p:cNvSpPr>
            <a:spLocks noGrp="1"/>
          </p:cNvSpPr>
          <p:nvPr>
            <p:ph idx="1"/>
          </p:nvPr>
        </p:nvSpPr>
        <p:spPr>
          <a:xfrm>
            <a:off x="770217" y="1449101"/>
            <a:ext cx="8367395" cy="3395980"/>
          </a:xfrm>
        </p:spPr>
        <p:txBody>
          <a:bodyPr vert="horz" wrap="square" lIns="68591" tIns="34295" rIns="68591" bIns="34295" numCol="1" anchor="t" anchorCtr="0" compatLnSpc="1">
            <a:prstTxWarp prst="textNoShape">
              <a:avLst/>
            </a:prstTxWarp>
          </a:bodyPr>
          <a:lstStyle/>
          <a:p>
            <a:pPr eaLnBrk="1" hangingPunct="1">
              <a:lnSpc>
                <a:spcPct val="150000"/>
              </a:lnSpc>
              <a:spcBef>
                <a:spcPct val="0"/>
              </a:spcBef>
            </a:pPr>
            <a:r>
              <a:rPr lang="en-US" altLang="en-US" sz="1800" b="1" dirty="0">
                <a:solidFill>
                  <a:srgbClr val="FF0000"/>
                </a:solidFill>
              </a:rPr>
              <a:t>包含yield语句的函数</a:t>
            </a:r>
            <a:r>
              <a:rPr lang="en-US" altLang="en-US" sz="1800" b="1" dirty="0"/>
              <a:t>可以用来创建</a:t>
            </a:r>
            <a:r>
              <a:rPr lang="en-US" altLang="en-US" sz="1800" b="1" dirty="0">
                <a:solidFill>
                  <a:srgbClr val="FF0000"/>
                </a:solidFill>
              </a:rPr>
              <a:t>生成器对象</a:t>
            </a:r>
            <a:r>
              <a:rPr lang="en-US" altLang="en-US" sz="1800" b="1" dirty="0"/>
              <a:t>，这样的函数也称</a:t>
            </a:r>
            <a:r>
              <a:rPr lang="en-US" altLang="en-US" sz="1800" b="1" dirty="0">
                <a:solidFill>
                  <a:srgbClr val="0000FF"/>
                </a:solidFill>
              </a:rPr>
              <a:t>生成器函数</a:t>
            </a:r>
            <a:r>
              <a:rPr lang="en-US" altLang="en-US" sz="1800" dirty="0"/>
              <a:t>。</a:t>
            </a:r>
          </a:p>
          <a:p>
            <a:pPr eaLnBrk="1" hangingPunct="1">
              <a:lnSpc>
                <a:spcPct val="150000"/>
              </a:lnSpc>
              <a:spcBef>
                <a:spcPct val="0"/>
              </a:spcBef>
              <a:buClr>
                <a:srgbClr val="FF0000"/>
              </a:buClr>
            </a:pPr>
            <a:r>
              <a:rPr lang="en-US" altLang="en-US" sz="1800" dirty="0"/>
              <a:t>每次执行到yield语句</a:t>
            </a:r>
            <a:r>
              <a:rPr lang="zh-CN" altLang="en-US" sz="1800" dirty="0"/>
              <a:t>会</a:t>
            </a:r>
            <a:r>
              <a:rPr lang="en-US" altLang="en-US" sz="1800" dirty="0">
                <a:solidFill>
                  <a:srgbClr val="FF0000"/>
                </a:solidFill>
              </a:rPr>
              <a:t>返回一个值</a:t>
            </a:r>
            <a:r>
              <a:rPr lang="zh-CN" altLang="en-US" sz="1800" dirty="0">
                <a:solidFill>
                  <a:srgbClr val="FF0000"/>
                </a:solidFill>
              </a:rPr>
              <a:t>然后</a:t>
            </a:r>
            <a:r>
              <a:rPr lang="en-US" altLang="en-US" sz="1800" dirty="0">
                <a:solidFill>
                  <a:srgbClr val="FF0000"/>
                </a:solidFill>
              </a:rPr>
              <a:t>暂停或挂起后面代码的执行</a:t>
            </a:r>
            <a:r>
              <a:rPr lang="en-US" altLang="en-US" sz="1800" dirty="0"/>
              <a:t>，下次通过生成器对象的__next__()方法、内置函数next()、for循环遍历生成器对象元素或其他方式显式“索要”数据时恢复执行。</a:t>
            </a:r>
          </a:p>
          <a:p>
            <a:pPr eaLnBrk="1" hangingPunct="1">
              <a:lnSpc>
                <a:spcPct val="150000"/>
              </a:lnSpc>
              <a:spcBef>
                <a:spcPct val="0"/>
              </a:spcBef>
              <a:buClr>
                <a:srgbClr val="FF0000"/>
              </a:buClr>
            </a:pPr>
            <a:r>
              <a:rPr lang="en-US" altLang="en-US" sz="1800" dirty="0"/>
              <a:t>生成器</a:t>
            </a:r>
            <a:r>
              <a:rPr lang="zh-CN" altLang="en-US" sz="1800" dirty="0"/>
              <a:t>对象</a:t>
            </a:r>
            <a:r>
              <a:rPr lang="en-US" altLang="en-US" sz="1800" dirty="0"/>
              <a:t>具有</a:t>
            </a:r>
            <a:r>
              <a:rPr lang="en-US" altLang="en-US" sz="1800" dirty="0">
                <a:solidFill>
                  <a:srgbClr val="FF0000"/>
                </a:solidFill>
              </a:rPr>
              <a:t>惰性求值</a:t>
            </a:r>
            <a:r>
              <a:rPr lang="en-US" altLang="en-US" sz="1800" dirty="0"/>
              <a:t>的特点，适合大数据处理。</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49</a:t>
            </a:fld>
            <a:endParaRPr lang="zh-CN" altLang="en-US" dirty="0"/>
          </a:p>
        </p:txBody>
      </p:sp>
      <p:grpSp>
        <p:nvGrpSpPr>
          <p:cNvPr id="5" name="组合 4"/>
          <p:cNvGrpSpPr/>
          <p:nvPr/>
        </p:nvGrpSpPr>
        <p:grpSpPr>
          <a:xfrm>
            <a:off x="-1116632" y="110450"/>
            <a:ext cx="8064895" cy="677666"/>
            <a:chOff x="-759186" y="5191294"/>
            <a:chExt cx="7919582" cy="487895"/>
          </a:xfrm>
        </p:grpSpPr>
        <p:grpSp>
          <p:nvGrpSpPr>
            <p:cNvPr id="6" name="组合 5"/>
            <p:cNvGrpSpPr/>
            <p:nvPr/>
          </p:nvGrpSpPr>
          <p:grpSpPr>
            <a:xfrm>
              <a:off x="-759186" y="5191294"/>
              <a:ext cx="7919582" cy="487895"/>
              <a:chOff x="-870470" y="5828963"/>
              <a:chExt cx="8626056" cy="638887"/>
            </a:xfrm>
          </p:grpSpPr>
          <p:sp>
            <p:nvSpPr>
              <p:cNvPr id="8"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870470"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5.6 </a:t>
                </a:r>
                <a:r>
                  <a:rPr lang="zh-CN" altLang="en-US" sz="3600" b="1" dirty="0">
                    <a:latin typeface="Times New Roman" pitchFamily="18" charset="0"/>
                    <a:ea typeface="黑体" pitchFamily="49" charset="-122"/>
                  </a:rPr>
                  <a:t> 高级话题</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
        <p:nvSpPr>
          <p:cNvPr id="10" name="文本框 9"/>
          <p:cNvSpPr txBox="1"/>
          <p:nvPr/>
        </p:nvSpPr>
        <p:spPr>
          <a:xfrm>
            <a:off x="502493" y="925881"/>
            <a:ext cx="3978871"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生成器函数</a:t>
            </a:r>
          </a:p>
        </p:txBody>
      </p:sp>
      <p:sp>
        <p:nvSpPr>
          <p:cNvPr id="12" name="Content Placeholder 2"/>
          <p:cNvSpPr txBox="1">
            <a:spLocks/>
          </p:cNvSpPr>
          <p:nvPr/>
        </p:nvSpPr>
        <p:spPr bwMode="auto">
          <a:xfrm>
            <a:off x="1351382" y="3645024"/>
            <a:ext cx="8229600" cy="465502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350" b="1" noProof="1">
                <a:latin typeface="Consolas" panose="020B0609020204030204" pitchFamily="49" charset="0"/>
              </a:rPr>
              <a:t>&gt;&gt;&gt; def f():</a:t>
            </a:r>
          </a:p>
          <a:p>
            <a:pPr marL="0" indent="0">
              <a:buFont typeface="Arial" charset="0"/>
              <a:buNone/>
            </a:pPr>
            <a:r>
              <a:rPr lang="en-US" altLang="zh-CN" sz="1350" b="1" noProof="1">
                <a:latin typeface="Consolas" panose="020B0609020204030204" pitchFamily="49" charset="0"/>
              </a:rPr>
              <a:t>    </a:t>
            </a:r>
            <a:r>
              <a:rPr lang="en-US" altLang="en-US" sz="1350" b="1" noProof="1">
                <a:latin typeface="Consolas" panose="020B0609020204030204" pitchFamily="49" charset="0"/>
              </a:rPr>
              <a:t>a, b = 1, 1            #序列解包，同时为多个元素赋值</a:t>
            </a:r>
          </a:p>
          <a:p>
            <a:pPr marL="0" indent="0">
              <a:buFont typeface="Arial" charset="0"/>
              <a:buNone/>
            </a:pPr>
            <a:r>
              <a:rPr lang="en-US" altLang="zh-CN" sz="1350" b="1" noProof="1">
                <a:latin typeface="Consolas" panose="020B0609020204030204" pitchFamily="49" charset="0"/>
              </a:rPr>
              <a:t>    </a:t>
            </a:r>
            <a:r>
              <a:rPr lang="en-US" altLang="en-US" sz="1350" b="1" noProof="1">
                <a:latin typeface="Consolas" panose="020B0609020204030204" pitchFamily="49" charset="0"/>
              </a:rPr>
              <a:t>while True:</a:t>
            </a:r>
          </a:p>
          <a:p>
            <a:pPr marL="0" indent="0">
              <a:buFont typeface="Arial" charset="0"/>
              <a:buNone/>
            </a:pPr>
            <a:r>
              <a:rPr lang="en-US" altLang="zh-CN" sz="1350" b="1" noProof="1">
                <a:latin typeface="Consolas" panose="020B0609020204030204" pitchFamily="49" charset="0"/>
              </a:rPr>
              <a:t>        </a:t>
            </a:r>
            <a:r>
              <a:rPr lang="en-US" altLang="en-US" sz="1350" b="1" noProof="1">
                <a:latin typeface="Consolas" panose="020B0609020204030204" pitchFamily="49" charset="0"/>
              </a:rPr>
              <a:t>yield a            #暂停执行，需要时再产生一个新元素</a:t>
            </a:r>
          </a:p>
          <a:p>
            <a:pPr marL="0" indent="0">
              <a:buFont typeface="Arial" charset="0"/>
              <a:buNone/>
            </a:pPr>
            <a:r>
              <a:rPr lang="en-US" altLang="zh-CN" sz="1350" b="1" noProof="1">
                <a:latin typeface="Consolas" panose="020B0609020204030204" pitchFamily="49" charset="0"/>
              </a:rPr>
              <a:t>        </a:t>
            </a:r>
            <a:r>
              <a:rPr lang="en-US" altLang="en-US" sz="1350" b="1" noProof="1">
                <a:latin typeface="Consolas" panose="020B0609020204030204" pitchFamily="49" charset="0"/>
              </a:rPr>
              <a:t>a, b = b, a+b      #序列解包，继续生成新元素</a:t>
            </a:r>
          </a:p>
          <a:p>
            <a:pPr marL="0" indent="0">
              <a:buFont typeface="Arial" charset="0"/>
              <a:buNone/>
            </a:pPr>
            <a:endParaRPr lang="en-US" altLang="en-US" sz="1350" b="1" noProof="1">
              <a:latin typeface="Consolas" panose="020B0609020204030204" pitchFamily="49" charset="0"/>
            </a:endParaRPr>
          </a:p>
          <a:p>
            <a:pPr marL="0" indent="0">
              <a:buFont typeface="Arial" charset="0"/>
              <a:buNone/>
            </a:pPr>
            <a:r>
              <a:rPr lang="en-US" altLang="en-US" sz="1350" b="1" noProof="1">
                <a:latin typeface="Consolas" panose="020B0609020204030204" pitchFamily="49" charset="0"/>
              </a:rPr>
              <a:t>&gt;&gt;&gt; a = f()                #创建生成器对象</a:t>
            </a:r>
          </a:p>
          <a:p>
            <a:pPr marL="0" indent="0">
              <a:buFont typeface="Arial" charset="0"/>
              <a:buNone/>
            </a:pPr>
            <a:r>
              <a:rPr lang="en-US" altLang="en-US" sz="1350" b="1" noProof="1">
                <a:latin typeface="Consolas" panose="020B0609020204030204" pitchFamily="49" charset="0"/>
              </a:rPr>
              <a:t>&gt;&gt;&gt; for i in range(10):    #斐波那契数列中前10个元素</a:t>
            </a:r>
          </a:p>
          <a:p>
            <a:pPr marL="0" indent="0">
              <a:buFont typeface="Arial" charset="0"/>
              <a:buNone/>
            </a:pPr>
            <a:r>
              <a:rPr lang="en-US" altLang="zh-CN" sz="1350" b="1" noProof="1">
                <a:latin typeface="Consolas" panose="020B0609020204030204" pitchFamily="49" charset="0"/>
              </a:rPr>
              <a:t>    </a:t>
            </a:r>
            <a:r>
              <a:rPr lang="en-US" altLang="en-US" sz="1350" b="1" noProof="1">
                <a:latin typeface="Consolas" panose="020B0609020204030204" pitchFamily="49" charset="0"/>
              </a:rPr>
              <a:t>print(a.__next__(), end=' ')</a:t>
            </a:r>
          </a:p>
          <a:p>
            <a:pPr marL="0" indent="0">
              <a:buFont typeface="Arial" charset="0"/>
              <a:buNone/>
            </a:pPr>
            <a:endParaRPr lang="en-US" altLang="en-US" sz="1350" b="1" noProof="1">
              <a:latin typeface="Consolas" panose="020B0609020204030204" pitchFamily="49" charset="0"/>
            </a:endParaRPr>
          </a:p>
          <a:p>
            <a:pPr marL="0" indent="0">
              <a:buFont typeface="Arial" charset="0"/>
              <a:buNone/>
            </a:pPr>
            <a:r>
              <a:rPr lang="en-US" altLang="en-US" sz="1350" b="1" noProof="1">
                <a:solidFill>
                  <a:srgbClr val="0000FF"/>
                </a:solidFill>
                <a:latin typeface="Consolas" panose="020B0609020204030204" pitchFamily="49" charset="0"/>
              </a:rPr>
              <a:t>1 1 2 3 5 8 13 21 34 55 </a:t>
            </a:r>
          </a:p>
        </p:txBody>
      </p:sp>
    </p:spTree>
    <p:extLst>
      <p:ext uri="{BB962C8B-B14F-4D97-AF65-F5344CB8AC3E}">
        <p14:creationId xmlns:p14="http://schemas.microsoft.com/office/powerpoint/2010/main" val="37083699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69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69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69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6553" y="1422208"/>
            <a:ext cx="7384415" cy="3394075"/>
          </a:xfrm>
        </p:spPr>
        <p:txBody>
          <a:bodyPr vert="horz" wrap="square" lIns="68591" tIns="34295" rIns="68591" bIns="34295" numCol="1" anchor="t" anchorCtr="0" compatLnSpc="1">
            <a:prstTxWarp prst="textNoShape">
              <a:avLst/>
            </a:prstTxWarp>
          </a:bodyPr>
          <a:lstStyle/>
          <a:p>
            <a:pPr>
              <a:buClr>
                <a:srgbClr val="FF0000"/>
              </a:buClr>
              <a:buFont typeface="Wingdings" panose="05000000000000000000" pitchFamily="2" charset="2"/>
              <a:buChar char="n"/>
              <a:defRPr/>
            </a:pPr>
            <a:r>
              <a:rPr lang="zh-CN" altLang="en-US" sz="1800" noProof="1">
                <a:latin typeface="+mn-ea"/>
                <a:ea typeface="+mn-ea"/>
                <a:sym typeface="+mn-ea"/>
              </a:rPr>
              <a:t>在</a:t>
            </a:r>
            <a:r>
              <a:rPr lang="en-US" altLang="x-none" sz="1800" noProof="1">
                <a:latin typeface="+mn-ea"/>
                <a:ea typeface="+mn-ea"/>
                <a:sym typeface="+mn-ea"/>
              </a:rPr>
              <a:t>Python</a:t>
            </a:r>
            <a:r>
              <a:rPr lang="zh-CN" altLang="en-US" sz="1800" noProof="1">
                <a:latin typeface="+mn-ea"/>
                <a:ea typeface="+mn-ea"/>
                <a:sym typeface="+mn-ea"/>
              </a:rPr>
              <a:t>中，函数是可以嵌套定义的。</a:t>
            </a:r>
            <a:endParaRPr lang="en-US" sz="1800" noProof="1">
              <a:latin typeface="+mn-ea"/>
              <a:ea typeface="+mn-ea"/>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50</a:t>
            </a:fld>
            <a:endParaRPr lang="zh-CN" altLang="en-US" dirty="0"/>
          </a:p>
        </p:txBody>
      </p:sp>
      <p:grpSp>
        <p:nvGrpSpPr>
          <p:cNvPr id="5" name="组合 4"/>
          <p:cNvGrpSpPr/>
          <p:nvPr/>
        </p:nvGrpSpPr>
        <p:grpSpPr>
          <a:xfrm>
            <a:off x="-1116632" y="110450"/>
            <a:ext cx="8064895" cy="677666"/>
            <a:chOff x="-759186" y="5191294"/>
            <a:chExt cx="7919582" cy="487895"/>
          </a:xfrm>
        </p:grpSpPr>
        <p:grpSp>
          <p:nvGrpSpPr>
            <p:cNvPr id="6" name="组合 5"/>
            <p:cNvGrpSpPr/>
            <p:nvPr/>
          </p:nvGrpSpPr>
          <p:grpSpPr>
            <a:xfrm>
              <a:off x="-759186" y="5191294"/>
              <a:ext cx="7919582" cy="487895"/>
              <a:chOff x="-870470" y="5828963"/>
              <a:chExt cx="8626056" cy="638887"/>
            </a:xfrm>
          </p:grpSpPr>
          <p:sp>
            <p:nvSpPr>
              <p:cNvPr id="8"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870470"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5.6 </a:t>
                </a:r>
                <a:r>
                  <a:rPr lang="zh-CN" altLang="en-US" sz="3600" b="1" dirty="0">
                    <a:latin typeface="Times New Roman" pitchFamily="18" charset="0"/>
                    <a:ea typeface="黑体" pitchFamily="49" charset="-122"/>
                  </a:rPr>
                  <a:t> 高级话题</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
        <p:nvSpPr>
          <p:cNvPr id="10" name="文本框 9"/>
          <p:cNvSpPr txBox="1"/>
          <p:nvPr/>
        </p:nvSpPr>
        <p:spPr>
          <a:xfrm>
            <a:off x="502493" y="925881"/>
            <a:ext cx="3978871"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函数嵌套定义</a:t>
            </a:r>
          </a:p>
        </p:txBody>
      </p:sp>
      <p:sp>
        <p:nvSpPr>
          <p:cNvPr id="11" name="矩形 10"/>
          <p:cNvSpPr/>
          <p:nvPr/>
        </p:nvSpPr>
        <p:spPr>
          <a:xfrm>
            <a:off x="1162023" y="1772816"/>
            <a:ext cx="8072985" cy="3323987"/>
          </a:xfrm>
          <a:prstGeom prst="rect">
            <a:avLst/>
          </a:prstGeom>
        </p:spPr>
        <p:txBody>
          <a:bodyPr wrap="square">
            <a:spAutoFit/>
          </a:bodyPr>
          <a:lstStyle/>
          <a:p>
            <a:pPr marL="0" indent="0">
              <a:buNone/>
              <a:defRPr/>
            </a:pPr>
            <a:r>
              <a:rPr lang="en-US" altLang="zh-CN" sz="1400" noProof="1">
                <a:latin typeface="Consolas" panose="020B0609020204030204" pitchFamily="49" charset="0"/>
              </a:rPr>
              <a:t>&gt;&gt;&gt; def myMap(iterable, op, value):      </a:t>
            </a:r>
            <a:r>
              <a:rPr lang="en-US" altLang="zh-CN" sz="1400" noProof="1">
                <a:solidFill>
                  <a:srgbClr val="0000FF"/>
                </a:solidFill>
                <a:latin typeface="Consolas" panose="020B0609020204030204" pitchFamily="49" charset="0"/>
              </a:rPr>
              <a:t>#自定义函数</a:t>
            </a:r>
          </a:p>
          <a:p>
            <a:pPr marL="0" indent="0">
              <a:buNone/>
              <a:defRPr/>
            </a:pPr>
            <a:r>
              <a:rPr lang="en-US" altLang="x-none" sz="1400" noProof="1">
                <a:latin typeface="Consolas" panose="020B0609020204030204" pitchFamily="49" charset="0"/>
                <a:sym typeface="+mn-ea"/>
              </a:rPr>
              <a:t>    </a:t>
            </a:r>
            <a:r>
              <a:rPr lang="en-US" altLang="zh-CN" sz="1400" noProof="1">
                <a:latin typeface="Consolas" panose="020B0609020204030204" pitchFamily="49" charset="0"/>
              </a:rPr>
              <a:t>if op not in '+-*/':</a:t>
            </a:r>
          </a:p>
          <a:p>
            <a:pPr marL="0" indent="0">
              <a:buNone/>
              <a:defRPr/>
            </a:pPr>
            <a:r>
              <a:rPr lang="en-US" altLang="x-none" sz="1400" noProof="1">
                <a:latin typeface="Consolas" panose="020B0609020204030204" pitchFamily="49" charset="0"/>
                <a:sym typeface="+mn-ea"/>
              </a:rPr>
              <a:t>        </a:t>
            </a:r>
            <a:r>
              <a:rPr lang="en-US" altLang="zh-CN" sz="1400" noProof="1">
                <a:latin typeface="Consolas" panose="020B0609020204030204" pitchFamily="49" charset="0"/>
              </a:rPr>
              <a:t>return 'Error operator'</a:t>
            </a:r>
          </a:p>
          <a:p>
            <a:pPr marL="0" indent="0">
              <a:buNone/>
              <a:defRPr/>
            </a:pPr>
            <a:r>
              <a:rPr lang="en-US" altLang="x-none" sz="1400" noProof="1">
                <a:latin typeface="Consolas" panose="020B0609020204030204" pitchFamily="49" charset="0"/>
                <a:sym typeface="+mn-ea"/>
              </a:rPr>
              <a:t>    </a:t>
            </a:r>
            <a:r>
              <a:rPr lang="en-US" altLang="zh-CN" sz="1400" noProof="1">
                <a:latin typeface="Consolas" panose="020B0609020204030204" pitchFamily="49" charset="0"/>
              </a:rPr>
              <a:t>def nested(item):                    </a:t>
            </a:r>
            <a:r>
              <a:rPr lang="en-US" altLang="zh-CN" sz="1400" noProof="1">
                <a:solidFill>
                  <a:srgbClr val="0000FF"/>
                </a:solidFill>
                <a:latin typeface="Consolas" panose="020B0609020204030204" pitchFamily="49" charset="0"/>
              </a:rPr>
              <a:t>#嵌套定义函数</a:t>
            </a:r>
          </a:p>
          <a:p>
            <a:pPr marL="0" indent="0">
              <a:buNone/>
              <a:defRPr/>
            </a:pPr>
            <a:r>
              <a:rPr lang="en-US" altLang="x-none" sz="1400" noProof="1">
                <a:latin typeface="Consolas" panose="020B0609020204030204" pitchFamily="49" charset="0"/>
                <a:sym typeface="+mn-ea"/>
              </a:rPr>
              <a:t>        </a:t>
            </a:r>
            <a:r>
              <a:rPr lang="en-US" altLang="zh-CN" sz="1400" noProof="1">
                <a:latin typeface="Consolas" panose="020B0609020204030204" pitchFamily="49" charset="0"/>
              </a:rPr>
              <a:t>return eval(repr(item)+op+repr(value))</a:t>
            </a:r>
          </a:p>
          <a:p>
            <a:pPr marL="0" indent="0">
              <a:buNone/>
              <a:defRPr/>
            </a:pPr>
            <a:r>
              <a:rPr lang="en-US" altLang="x-none" sz="1400" noProof="1">
                <a:latin typeface="Consolas" panose="020B0609020204030204" pitchFamily="49" charset="0"/>
                <a:sym typeface="+mn-ea"/>
              </a:rPr>
              <a:t>    </a:t>
            </a:r>
            <a:r>
              <a:rPr lang="en-US" altLang="zh-CN" sz="1400" noProof="1">
                <a:latin typeface="Consolas" panose="020B0609020204030204" pitchFamily="49" charset="0"/>
              </a:rPr>
              <a:t>return map(nested, iterable)         </a:t>
            </a:r>
            <a:r>
              <a:rPr lang="en-US" altLang="zh-CN" sz="1400" noProof="1">
                <a:solidFill>
                  <a:srgbClr val="0000FF"/>
                </a:solidFill>
                <a:latin typeface="Consolas" panose="020B0609020204030204" pitchFamily="49" charset="0"/>
              </a:rPr>
              <a:t>#使用在函数内部定义的函数</a:t>
            </a:r>
          </a:p>
          <a:p>
            <a:pPr marL="0" indent="0">
              <a:buNone/>
              <a:defRPr/>
            </a:pPr>
            <a:endParaRPr lang="en-US" altLang="zh-CN" sz="1400" noProof="1">
              <a:latin typeface="Consolas" panose="020B0609020204030204" pitchFamily="49" charset="0"/>
            </a:endParaRPr>
          </a:p>
          <a:p>
            <a:pPr marL="0" indent="0">
              <a:buNone/>
              <a:defRPr/>
            </a:pPr>
            <a:r>
              <a:rPr lang="en-US" altLang="zh-CN" sz="1400" noProof="1">
                <a:latin typeface="Consolas" panose="020B0609020204030204" pitchFamily="49" charset="0"/>
              </a:rPr>
              <a:t>&gt;&gt;&gt; list(myMap(range(5), '+', 5))        </a:t>
            </a:r>
            <a:r>
              <a:rPr lang="en-US" altLang="zh-CN" sz="1400" noProof="1">
                <a:solidFill>
                  <a:srgbClr val="0000FF"/>
                </a:solidFill>
                <a:latin typeface="Consolas" panose="020B0609020204030204" pitchFamily="49" charset="0"/>
              </a:rPr>
              <a:t>#调用外部函数</a:t>
            </a:r>
          </a:p>
          <a:p>
            <a:pPr marL="0" indent="0">
              <a:buNone/>
              <a:defRPr/>
            </a:pPr>
            <a:r>
              <a:rPr lang="en-US" altLang="zh-CN" sz="1400" noProof="1">
                <a:solidFill>
                  <a:srgbClr val="0000FF"/>
                </a:solidFill>
                <a:latin typeface="Consolas" panose="020B0609020204030204" pitchFamily="49" charset="0"/>
              </a:rPr>
              <a:t>[5, 6, 7, 8, 9]</a:t>
            </a:r>
          </a:p>
          <a:p>
            <a:pPr marL="0" indent="0">
              <a:buNone/>
              <a:defRPr/>
            </a:pPr>
            <a:r>
              <a:rPr lang="en-US" altLang="zh-CN" sz="1400" noProof="1">
                <a:latin typeface="Consolas" panose="020B0609020204030204" pitchFamily="49" charset="0"/>
              </a:rPr>
              <a:t>&gt;&gt;&gt; list(myMap(range(5), '-', 5))</a:t>
            </a:r>
          </a:p>
          <a:p>
            <a:pPr marL="0" indent="0">
              <a:buNone/>
              <a:defRPr/>
            </a:pPr>
            <a:r>
              <a:rPr lang="en-US" altLang="zh-CN" sz="1400" noProof="1">
                <a:solidFill>
                  <a:srgbClr val="0000FF"/>
                </a:solidFill>
                <a:latin typeface="Consolas" panose="020B0609020204030204" pitchFamily="49" charset="0"/>
              </a:rPr>
              <a:t>[-5, -4, -3, -2, -1]</a:t>
            </a:r>
          </a:p>
          <a:p>
            <a:pPr marL="0" indent="0">
              <a:buNone/>
              <a:defRPr/>
            </a:pPr>
            <a:r>
              <a:rPr lang="en-US" altLang="zh-CN" sz="1400" noProof="1">
                <a:latin typeface="Consolas" panose="020B0609020204030204" pitchFamily="49" charset="0"/>
              </a:rPr>
              <a:t>&gt;&gt;&gt; list(myMap(range(5), '*', 5))</a:t>
            </a:r>
          </a:p>
          <a:p>
            <a:pPr marL="0" indent="0">
              <a:buNone/>
              <a:defRPr/>
            </a:pPr>
            <a:r>
              <a:rPr lang="en-US" altLang="zh-CN" sz="1400" noProof="1">
                <a:solidFill>
                  <a:srgbClr val="0000FF"/>
                </a:solidFill>
                <a:latin typeface="Consolas" panose="020B0609020204030204" pitchFamily="49" charset="0"/>
              </a:rPr>
              <a:t>[0, 5, 10, 15, 20]</a:t>
            </a:r>
          </a:p>
          <a:p>
            <a:pPr marL="0" indent="0">
              <a:buNone/>
              <a:defRPr/>
            </a:pPr>
            <a:r>
              <a:rPr lang="en-US" altLang="zh-CN" sz="1400" noProof="1">
                <a:latin typeface="Consolas" panose="020B0609020204030204" pitchFamily="49" charset="0"/>
              </a:rPr>
              <a:t>&gt;&gt;&gt; list(myMap(range(5), '/', 5))</a:t>
            </a:r>
          </a:p>
          <a:p>
            <a:pPr marL="0" indent="0">
              <a:buNone/>
              <a:defRPr/>
            </a:pPr>
            <a:r>
              <a:rPr lang="en-US" altLang="zh-CN" sz="1400" noProof="1">
                <a:solidFill>
                  <a:srgbClr val="0000FF"/>
                </a:solidFill>
                <a:latin typeface="Consolas" panose="020B0609020204030204" pitchFamily="49" charset="0"/>
              </a:rPr>
              <a:t>[0.0, 0.2, 0.4, 0.6, 0.8]</a:t>
            </a:r>
          </a:p>
        </p:txBody>
      </p:sp>
    </p:spTree>
    <p:extLst>
      <p:ext uri="{BB962C8B-B14F-4D97-AF65-F5344CB8AC3E}">
        <p14:creationId xmlns:p14="http://schemas.microsoft.com/office/powerpoint/2010/main" val="193485120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4400" y="3406012"/>
            <a:ext cx="8229600" cy="4678451"/>
          </a:xfrm>
        </p:spPr>
        <p:txBody>
          <a:bodyPr vert="horz" wrap="square" lIns="68591" tIns="34295" rIns="68591" bIns="34295" numCol="1" anchor="t" anchorCtr="0" compatLnSpc="1">
            <a:prstTxWarp prst="textNoShape">
              <a:avLst/>
            </a:prstTxWarp>
          </a:bodyPr>
          <a:lstStyle/>
          <a:p>
            <a:pPr>
              <a:lnSpc>
                <a:spcPct val="150000"/>
              </a:lnSpc>
              <a:spcBef>
                <a:spcPts val="0"/>
              </a:spcBef>
              <a:buClr>
                <a:srgbClr val="FF0000"/>
              </a:buClr>
              <a:buSzPct val="90000"/>
              <a:buFont typeface="Wingdings" panose="05000000000000000000" charset="0"/>
              <a:buChar char="n"/>
              <a:defRPr/>
            </a:pPr>
            <a:r>
              <a:rPr lang="zh-CN" altLang="en-US" sz="2000" b="1" noProof="1">
                <a:sym typeface="+mn-ea"/>
              </a:rPr>
              <a:t>通过以下的方式来定义一个可调用对象：</a:t>
            </a:r>
            <a:endParaRPr lang="zh-CN" altLang="en-US" sz="2000" b="1" noProof="1"/>
          </a:p>
          <a:p>
            <a:pPr>
              <a:lnSpc>
                <a:spcPct val="80000"/>
              </a:lnSpc>
              <a:buSzPct val="90000"/>
              <a:buNone/>
              <a:defRPr/>
            </a:pPr>
            <a:r>
              <a:rPr lang="en-US" altLang="x-none" sz="2000" b="1" noProof="1">
                <a:sym typeface="+mn-ea"/>
              </a:rPr>
              <a:t>          taxes = linear(0.3, 2)</a:t>
            </a:r>
          </a:p>
          <a:p>
            <a:pPr>
              <a:lnSpc>
                <a:spcPct val="80000"/>
              </a:lnSpc>
              <a:buSzPct val="90000"/>
              <a:buNone/>
              <a:defRPr/>
            </a:pPr>
            <a:endParaRPr lang="en-US" altLang="x-none" sz="2000" b="1" noProof="1">
              <a:sym typeface="+mn-ea"/>
            </a:endParaRPr>
          </a:p>
          <a:p>
            <a:pPr>
              <a:lnSpc>
                <a:spcPct val="80000"/>
              </a:lnSpc>
              <a:buClr>
                <a:srgbClr val="FF0000"/>
              </a:buClr>
              <a:buSzPct val="90000"/>
              <a:buFont typeface="Wingdings" panose="05000000000000000000" charset="0"/>
              <a:buChar char="n"/>
              <a:defRPr/>
            </a:pPr>
            <a:r>
              <a:rPr lang="zh-CN" altLang="en-US" sz="2000" b="1" noProof="1">
                <a:sym typeface="+mn-ea"/>
              </a:rPr>
              <a:t>然后通过下面的方式来调用该对象：</a:t>
            </a:r>
            <a:endParaRPr lang="zh-CN" altLang="en-US" sz="2000" b="1" noProof="1"/>
          </a:p>
          <a:p>
            <a:pPr>
              <a:lnSpc>
                <a:spcPct val="80000"/>
              </a:lnSpc>
              <a:buSzPct val="90000"/>
              <a:buNone/>
              <a:defRPr/>
            </a:pPr>
            <a:endParaRPr lang="en-US" altLang="x-none" sz="2000" b="1" noProof="1">
              <a:sym typeface="+mn-ea"/>
            </a:endParaRPr>
          </a:p>
          <a:p>
            <a:pPr>
              <a:lnSpc>
                <a:spcPct val="80000"/>
              </a:lnSpc>
              <a:buSzPct val="90000"/>
              <a:buNone/>
              <a:defRPr/>
            </a:pPr>
            <a:r>
              <a:rPr lang="en-US" altLang="x-none" sz="2000" b="1" noProof="1">
                <a:sym typeface="+mn-ea"/>
              </a:rPr>
              <a:t>         taxes(5)</a:t>
            </a:r>
          </a:p>
          <a:p>
            <a:pPr marL="0" indent="0">
              <a:buNone/>
              <a:defRPr/>
            </a:pPr>
            <a:endParaRPr lang="zh-CN" altLang="en-US" sz="2000" noProof="1"/>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51</a:t>
            </a:fld>
            <a:endParaRPr lang="zh-CN" altLang="en-US" dirty="0"/>
          </a:p>
        </p:txBody>
      </p:sp>
      <p:grpSp>
        <p:nvGrpSpPr>
          <p:cNvPr id="6" name="组合 5"/>
          <p:cNvGrpSpPr/>
          <p:nvPr/>
        </p:nvGrpSpPr>
        <p:grpSpPr>
          <a:xfrm>
            <a:off x="-1116632" y="110450"/>
            <a:ext cx="8064895" cy="677666"/>
            <a:chOff x="-759186" y="5191294"/>
            <a:chExt cx="7919582" cy="487895"/>
          </a:xfrm>
        </p:grpSpPr>
        <p:grpSp>
          <p:nvGrpSpPr>
            <p:cNvPr id="7" name="组合 6"/>
            <p:cNvGrpSpPr/>
            <p:nvPr/>
          </p:nvGrpSpPr>
          <p:grpSpPr>
            <a:xfrm>
              <a:off x="-759186" y="5191294"/>
              <a:ext cx="7919582" cy="487895"/>
              <a:chOff x="-870470" y="5828963"/>
              <a:chExt cx="8626056" cy="638887"/>
            </a:xfrm>
          </p:grpSpPr>
          <p:sp>
            <p:nvSpPr>
              <p:cNvPr id="9"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870470"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5.6 </a:t>
                </a:r>
                <a:r>
                  <a:rPr lang="zh-CN" altLang="en-US" sz="3600" b="1" dirty="0">
                    <a:latin typeface="Times New Roman" pitchFamily="18" charset="0"/>
                    <a:ea typeface="黑体" pitchFamily="49" charset="-122"/>
                  </a:rPr>
                  <a:t> 高级话题</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
        <p:nvSpPr>
          <p:cNvPr id="11" name="文本框 10"/>
          <p:cNvSpPr txBox="1"/>
          <p:nvPr/>
        </p:nvSpPr>
        <p:spPr>
          <a:xfrm>
            <a:off x="502493" y="925881"/>
            <a:ext cx="7813923"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使用嵌套函数定义可调用对象可调用对象</a:t>
            </a:r>
          </a:p>
        </p:txBody>
      </p:sp>
      <p:sp>
        <p:nvSpPr>
          <p:cNvPr id="12" name="文本占位符 66562"/>
          <p:cNvSpPr txBox="1">
            <a:spLocks/>
          </p:cNvSpPr>
          <p:nvPr/>
        </p:nvSpPr>
        <p:spPr bwMode="auto">
          <a:xfrm>
            <a:off x="964607" y="1586866"/>
            <a:ext cx="8229600" cy="1819146"/>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Clr>
                <a:srgbClr val="FF0000"/>
              </a:buClr>
              <a:buSzPct val="90000"/>
              <a:buFont typeface="Wingdings" panose="05000000000000000000" pitchFamily="2" charset="2"/>
              <a:buChar char="ü"/>
            </a:pPr>
            <a:r>
              <a:rPr lang="zh-CN" altLang="en-US" sz="2400" b="1" noProof="1"/>
              <a:t>示例：</a:t>
            </a:r>
          </a:p>
          <a:p>
            <a:pPr>
              <a:lnSpc>
                <a:spcPct val="80000"/>
              </a:lnSpc>
              <a:buSzPct val="90000"/>
              <a:buFont typeface="Wingdings" panose="05000000000000000000" pitchFamily="2" charset="2"/>
              <a:buChar char="ü"/>
            </a:pPr>
            <a:endParaRPr lang="zh-CN" altLang="en-US" sz="1800" noProof="1"/>
          </a:p>
          <a:p>
            <a:pPr>
              <a:lnSpc>
                <a:spcPct val="80000"/>
              </a:lnSpc>
              <a:buSzPct val="90000"/>
              <a:buFont typeface="Wingdings" panose="05000000000000000000" pitchFamily="2" charset="2"/>
              <a:buNone/>
            </a:pPr>
            <a:r>
              <a:rPr lang="en-US" altLang="zh-CN" sz="1600" noProof="1">
                <a:solidFill>
                  <a:srgbClr val="0000FF"/>
                </a:solidFill>
                <a:latin typeface="Consolas" panose="020B0609020204030204" pitchFamily="49" charset="0"/>
              </a:rPr>
              <a:t>def</a:t>
            </a:r>
            <a:r>
              <a:rPr lang="en-US" altLang="zh-CN" sz="1600" noProof="1">
                <a:latin typeface="Consolas" panose="020B0609020204030204" pitchFamily="49" charset="0"/>
              </a:rPr>
              <a:t> linear(a, b):</a:t>
            </a:r>
          </a:p>
          <a:p>
            <a:pPr>
              <a:lnSpc>
                <a:spcPct val="80000"/>
              </a:lnSpc>
              <a:buSzPct val="90000"/>
              <a:buFont typeface="Wingdings" panose="05000000000000000000" pitchFamily="2" charset="2"/>
              <a:buNone/>
            </a:pPr>
            <a:r>
              <a:rPr lang="en-US" altLang="zh-CN" sz="1600" noProof="1">
                <a:latin typeface="Consolas" panose="020B0609020204030204" pitchFamily="49" charset="0"/>
              </a:rPr>
              <a:t>    </a:t>
            </a:r>
            <a:r>
              <a:rPr lang="en-US" altLang="zh-CN" sz="1600" noProof="1">
                <a:solidFill>
                  <a:srgbClr val="0000FF"/>
                </a:solidFill>
                <a:latin typeface="Consolas" panose="020B0609020204030204" pitchFamily="49" charset="0"/>
              </a:rPr>
              <a:t>def</a:t>
            </a:r>
            <a:r>
              <a:rPr lang="en-US" altLang="zh-CN" sz="1600" noProof="1">
                <a:latin typeface="Consolas" panose="020B0609020204030204" pitchFamily="49" charset="0"/>
              </a:rPr>
              <a:t> result(x):</a:t>
            </a:r>
          </a:p>
          <a:p>
            <a:pPr>
              <a:lnSpc>
                <a:spcPct val="80000"/>
              </a:lnSpc>
              <a:buSzPct val="90000"/>
              <a:buFont typeface="Wingdings" panose="05000000000000000000" pitchFamily="2" charset="2"/>
              <a:buNone/>
            </a:pPr>
            <a:r>
              <a:rPr lang="en-US" altLang="zh-CN" sz="1600" noProof="1">
                <a:latin typeface="Consolas" panose="020B0609020204030204" pitchFamily="49" charset="0"/>
              </a:rPr>
              <a:t>        </a:t>
            </a:r>
            <a:r>
              <a:rPr lang="en-US" altLang="zh-CN" sz="1600" noProof="1">
                <a:solidFill>
                  <a:srgbClr val="0000FF"/>
                </a:solidFill>
                <a:latin typeface="Consolas" panose="020B0609020204030204" pitchFamily="49" charset="0"/>
              </a:rPr>
              <a:t>return</a:t>
            </a:r>
            <a:r>
              <a:rPr lang="en-US" altLang="zh-CN" sz="1600" noProof="1">
                <a:latin typeface="Consolas" panose="020B0609020204030204" pitchFamily="49" charset="0"/>
              </a:rPr>
              <a:t> a * x + b</a:t>
            </a:r>
          </a:p>
          <a:p>
            <a:pPr>
              <a:lnSpc>
                <a:spcPct val="80000"/>
              </a:lnSpc>
              <a:buSzPct val="90000"/>
              <a:buFont typeface="Wingdings" panose="05000000000000000000" pitchFamily="2" charset="2"/>
              <a:buNone/>
            </a:pPr>
            <a:r>
              <a:rPr lang="en-US" altLang="zh-CN" sz="1600" noProof="1">
                <a:latin typeface="Consolas" panose="020B0609020204030204" pitchFamily="49" charset="0"/>
              </a:rPr>
              <a:t>    </a:t>
            </a:r>
            <a:r>
              <a:rPr lang="en-US" altLang="zh-CN" sz="1600" noProof="1">
                <a:solidFill>
                  <a:srgbClr val="0000FF"/>
                </a:solidFill>
                <a:latin typeface="Consolas" panose="020B0609020204030204" pitchFamily="49" charset="0"/>
              </a:rPr>
              <a:t>return</a:t>
            </a:r>
            <a:r>
              <a:rPr lang="en-US" altLang="zh-CN" sz="1600" noProof="1">
                <a:latin typeface="Consolas" panose="020B0609020204030204" pitchFamily="49" charset="0"/>
              </a:rPr>
              <a:t> result</a:t>
            </a:r>
          </a:p>
        </p:txBody>
      </p:sp>
    </p:spTree>
    <p:extLst>
      <p:ext uri="{BB962C8B-B14F-4D97-AF65-F5344CB8AC3E}">
        <p14:creationId xmlns:p14="http://schemas.microsoft.com/office/powerpoint/2010/main" val="146866839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a:spLocks/>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KSO_Shape"/>
              <p:cNvSpPr>
                <a:spLocks/>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5.7  </a:t>
              </a:r>
              <a:r>
                <a:rPr lang="zh-CN" altLang="en-US" sz="3600" b="1" dirty="0">
                  <a:latin typeface="Times New Roman" pitchFamily="18" charset="0"/>
                  <a:ea typeface="黑体" pitchFamily="49" charset="-122"/>
                </a:rPr>
                <a:t>本章小结</a:t>
              </a:r>
            </a:p>
          </p:txBody>
        </p:sp>
      </p:grpSp>
      <p:grpSp>
        <p:nvGrpSpPr>
          <p:cNvPr id="9" name="组合 8"/>
          <p:cNvGrpSpPr/>
          <p:nvPr/>
        </p:nvGrpSpPr>
        <p:grpSpPr>
          <a:xfrm>
            <a:off x="921980" y="1088583"/>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itchFamily="34" charset="0"/>
                  <a:ea typeface="黑体" pitchFamily="49" charset="-122"/>
                </a:rPr>
                <a:t>内容回顾</a:t>
              </a: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a:spLocks/>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17" name="Freeform 5"/>
                <p:cNvSpPr>
                  <a:spLocks/>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8" name="Freeform 5"/>
                <p:cNvSpPr>
                  <a:spLocks/>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grpSp>
      <p:sp>
        <p:nvSpPr>
          <p:cNvPr id="21" name="矩形 20"/>
          <p:cNvSpPr/>
          <p:nvPr/>
        </p:nvSpPr>
        <p:spPr>
          <a:xfrm>
            <a:off x="1465147" y="1796617"/>
            <a:ext cx="5155579" cy="1508105"/>
          </a:xfrm>
          <a:prstGeom prst="rect">
            <a:avLst/>
          </a:prstGeom>
        </p:spPr>
        <p:txBody>
          <a:bodyPr wrap="none">
            <a:spAutoFit/>
          </a:bodyPr>
          <a:lstStyle/>
          <a:p>
            <a:pPr>
              <a:spcBef>
                <a:spcPts val="600"/>
              </a:spcBef>
              <a:spcAft>
                <a:spcPts val="600"/>
              </a:spcAft>
              <a:buClr>
                <a:srgbClr val="FF0000"/>
              </a:buClr>
              <a:buFont typeface="Wingdings" pitchFamily="2" charset="2"/>
              <a:buChar char="Ø"/>
            </a:pPr>
            <a:r>
              <a:rPr lang="zh-CN" altLang="en-US" sz="2400" b="1" dirty="0"/>
              <a:t> 函数的相关概念</a:t>
            </a:r>
            <a:endParaRPr lang="en-US" altLang="zh-CN" sz="2400" b="1" dirty="0"/>
          </a:p>
          <a:p>
            <a:pPr>
              <a:spcBef>
                <a:spcPts val="600"/>
              </a:spcBef>
              <a:spcAft>
                <a:spcPts val="600"/>
              </a:spcAft>
              <a:buClr>
                <a:srgbClr val="FF0000"/>
              </a:buClr>
              <a:buFont typeface="Wingdings" pitchFamily="2" charset="2"/>
              <a:buChar char="Ø"/>
            </a:pPr>
            <a:r>
              <a:rPr lang="zh-CN" altLang="en-US" sz="2400" b="1" dirty="0"/>
              <a:t> 形参与实参、参数类型、参数作用</a:t>
            </a:r>
            <a:endParaRPr lang="en-US" altLang="zh-CN" sz="2400" b="1" dirty="0"/>
          </a:p>
          <a:p>
            <a:pPr>
              <a:spcBef>
                <a:spcPts val="600"/>
              </a:spcBef>
              <a:spcAft>
                <a:spcPts val="600"/>
              </a:spcAft>
              <a:buClr>
                <a:srgbClr val="FF0000"/>
              </a:buClr>
              <a:buFont typeface="Wingdings" pitchFamily="2" charset="2"/>
              <a:buChar char="Ø"/>
            </a:pPr>
            <a:r>
              <a:rPr lang="zh-CN" altLang="en-US" sz="2400" b="1" dirty="0">
                <a:solidFill>
                  <a:srgbClr val="FF0000"/>
                </a:solidFill>
                <a:latin typeface="Times New Roman" pitchFamily="18" charset="0"/>
                <a:ea typeface="黑体" pitchFamily="49" charset="-122"/>
              </a:rPr>
              <a:t>函数的其他应用</a:t>
            </a:r>
          </a:p>
        </p:txBody>
      </p:sp>
      <p:grpSp>
        <p:nvGrpSpPr>
          <p:cNvPr id="29" name="组合 28"/>
          <p:cNvGrpSpPr/>
          <p:nvPr/>
        </p:nvGrpSpPr>
        <p:grpSpPr>
          <a:xfrm>
            <a:off x="1040589" y="4405599"/>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itchFamily="34" charset="0"/>
                  <a:ea typeface="黑体" pitchFamily="49" charset="-122"/>
                </a:rPr>
                <a:t>思考</a:t>
              </a:r>
            </a:p>
          </p:txBody>
        </p:sp>
        <p:pic>
          <p:nvPicPr>
            <p:cNvPr id="31" name="图片 1"/>
            <p:cNvPicPr>
              <a:picLocks noChangeAspect="1" noChangeArrowheads="1"/>
            </p:cNvPicPr>
            <p:nvPr/>
          </p:nvPicPr>
          <p:blipFill>
            <a:blip r:embed="rId2"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33750" y="5229200"/>
            <a:ext cx="3902346" cy="430887"/>
          </a:xfrm>
          <a:prstGeom prst="rect">
            <a:avLst/>
          </a:prstGeom>
        </p:spPr>
        <p:txBody>
          <a:bodyPr wrap="square">
            <a:spAutoFit/>
          </a:bodyPr>
          <a:lstStyle/>
          <a:p>
            <a:pPr marL="342900" indent="-342900">
              <a:spcBef>
                <a:spcPts val="1200"/>
              </a:spcBef>
              <a:buClr>
                <a:srgbClr val="FF0000"/>
              </a:buClr>
              <a:buFont typeface="Wingdings" panose="05000000000000000000" pitchFamily="2" charset="2"/>
              <a:buChar char="Ø"/>
            </a:pPr>
            <a:r>
              <a:rPr lang="zh-CN" altLang="en-US" sz="2200" dirty="0">
                <a:latin typeface="Times New Roman" pitchFamily="18" charset="0"/>
                <a:ea typeface="黑体" pitchFamily="49" charset="-122"/>
              </a:rPr>
              <a:t>函数的应用</a:t>
            </a:r>
            <a:endParaRPr lang="en-US" altLang="zh-CN" sz="2200" dirty="0">
              <a:latin typeface="Times New Roman" pitchFamily="18" charset="0"/>
              <a:ea typeface="黑体"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52</a:t>
            </a:fld>
            <a:endParaRPr lang="zh-CN" altLang="en-US" dirty="0"/>
          </a:p>
        </p:txBody>
      </p:sp>
    </p:spTree>
    <p:extLst>
      <p:ext uri="{BB962C8B-B14F-4D97-AF65-F5344CB8AC3E}">
        <p14:creationId xmlns:p14="http://schemas.microsoft.com/office/powerpoint/2010/main" val="188981444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box(in)">
                                      <p:cBhvr>
                                        <p:cTn id="2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2" cstate="print"/>
          <a:stretch>
            <a:fillRect/>
          </a:stretch>
        </p:blipFill>
        <p:spPr>
          <a:xfrm>
            <a:off x="6660232" y="3140968"/>
            <a:ext cx="2116102" cy="2116102"/>
          </a:xfrm>
          <a:prstGeom prst="rect">
            <a:avLst/>
          </a:prstGeom>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53</a:t>
            </a:fld>
            <a:endParaRPr lang="zh-CN" altLang="en-US" dirty="0"/>
          </a:p>
        </p:txBody>
      </p:sp>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itchFamily="18" charset="0"/>
                  <a:ea typeface="黑体" pitchFamily="49" charset="-122"/>
                </a:rPr>
                <a:t>李培培</a:t>
              </a:r>
              <a:endParaRPr lang="en-US" altLang="zh-CN" sz="2000" b="1" dirty="0">
                <a:latin typeface="Times New Roman" pitchFamily="18" charset="0"/>
                <a:ea typeface="黑体" pitchFamily="49" charset="-122"/>
              </a:endParaRPr>
            </a:p>
            <a:p>
              <a:pPr algn="ctr" eaLnBrk="0" hangingPunct="0">
                <a:lnSpc>
                  <a:spcPct val="125000"/>
                </a:lnSpc>
              </a:pPr>
              <a:r>
                <a:rPr lang="en-US" altLang="zh-CN" sz="2000" b="1" dirty="0">
                  <a:solidFill>
                    <a:srgbClr val="FF0000"/>
                  </a:solidFill>
                  <a:latin typeface="Times New Roman" pitchFamily="18" charset="0"/>
                  <a:ea typeface="黑体" pitchFamily="49" charset="-122"/>
                </a:rPr>
                <a:t>QQ</a:t>
              </a:r>
              <a:r>
                <a:rPr lang="zh-CN" altLang="en-US" sz="2000" b="1" dirty="0">
                  <a:latin typeface="Times New Roman" pitchFamily="18" charset="0"/>
                  <a:ea typeface="黑体" pitchFamily="49" charset="-122"/>
                </a:rPr>
                <a:t>：</a:t>
              </a:r>
              <a:r>
                <a:rPr lang="en-US" altLang="zh-CN" sz="2000" b="1" dirty="0">
                  <a:solidFill>
                    <a:srgbClr val="0000FF"/>
                  </a:solidFill>
                  <a:latin typeface="Times New Roman" pitchFamily="18" charset="0"/>
                  <a:ea typeface="黑体" pitchFamily="49" charset="-122"/>
                </a:rPr>
                <a:t>123452644</a:t>
              </a:r>
              <a:r>
                <a:rPr lang="zh-CN" altLang="en-US" sz="2000" b="1" dirty="0">
                  <a:latin typeface="Times New Roman" pitchFamily="18" charset="0"/>
                  <a:ea typeface="黑体" pitchFamily="49" charset="-122"/>
                </a:rPr>
                <a:t>，</a:t>
              </a:r>
              <a:r>
                <a:rPr lang="zh-CN" altLang="en-US" sz="2000" b="1" dirty="0">
                  <a:solidFill>
                    <a:srgbClr val="FF0000"/>
                  </a:solidFill>
                  <a:latin typeface="Times New Roman" pitchFamily="18" charset="0"/>
                  <a:ea typeface="黑体" pitchFamily="49" charset="-122"/>
                </a:rPr>
                <a:t> 微信：</a:t>
              </a:r>
              <a:r>
                <a:rPr lang="en-US" altLang="zh-CN" sz="2000" b="1" dirty="0">
                  <a:solidFill>
                    <a:srgbClr val="FF0000"/>
                  </a:solidFill>
                  <a:latin typeface="Times New Roman" pitchFamily="18" charset="0"/>
                  <a:ea typeface="黑体" pitchFamily="49" charset="-122"/>
                </a:rPr>
                <a:t>li123452644</a:t>
              </a:r>
            </a:p>
            <a:p>
              <a:pPr algn="ctr" eaLnBrk="0" hangingPunct="0">
                <a:lnSpc>
                  <a:spcPct val="125000"/>
                </a:lnSpc>
              </a:pPr>
              <a:r>
                <a:rPr lang="en-US" altLang="zh-CN" sz="2000" b="1" dirty="0">
                  <a:solidFill>
                    <a:srgbClr val="FF0000"/>
                  </a:solidFill>
                  <a:latin typeface="Times New Roman" pitchFamily="18" charset="0"/>
                  <a:ea typeface="黑体" pitchFamily="49" charset="-122"/>
                </a:rPr>
                <a:t>Email</a:t>
              </a:r>
              <a:r>
                <a:rPr lang="en-US" altLang="zh-CN" sz="2000" b="1" dirty="0">
                  <a:latin typeface="Times New Roman" pitchFamily="18" charset="0"/>
                  <a:ea typeface="黑体" pitchFamily="49" charset="-122"/>
                </a:rPr>
                <a:t>: </a:t>
              </a:r>
              <a:r>
                <a:rPr lang="en-US" altLang="zh-CN" sz="2000" b="1" dirty="0">
                  <a:solidFill>
                    <a:srgbClr val="0000FF"/>
                  </a:solidFill>
                  <a:latin typeface="Times New Roman" pitchFamily="18" charset="0"/>
                  <a:ea typeface="黑体" pitchFamily="49" charset="-122"/>
                </a:rPr>
                <a:t>peipeili@hfut.edu.cn</a:t>
              </a:r>
            </a:p>
            <a:p>
              <a:pPr algn="ctr" eaLnBrk="0" hangingPunct="0">
                <a:lnSpc>
                  <a:spcPct val="125000"/>
                </a:lnSpc>
              </a:pPr>
              <a:r>
                <a:rPr lang="zh-CN" altLang="en-US" sz="2000" b="1" dirty="0">
                  <a:solidFill>
                    <a:srgbClr val="FF0000"/>
                  </a:solidFill>
                  <a:latin typeface="Times New Roman" pitchFamily="18" charset="0"/>
                  <a:ea typeface="黑体" pitchFamily="49" charset="-122"/>
                </a:rPr>
                <a:t>手机号</a:t>
              </a:r>
              <a:r>
                <a:rPr lang="zh-CN" altLang="en-US" sz="2000" b="1" dirty="0">
                  <a:latin typeface="Times New Roman" pitchFamily="18" charset="0"/>
                  <a:ea typeface="黑体" pitchFamily="49" charset="-122"/>
                </a:rPr>
                <a:t>：</a:t>
              </a:r>
              <a:r>
                <a:rPr lang="en-US" altLang="zh-CN" sz="2000" b="1" dirty="0">
                  <a:solidFill>
                    <a:srgbClr val="0000FF"/>
                  </a:solidFill>
                  <a:latin typeface="Times New Roman" pitchFamily="18" charset="0"/>
                  <a:ea typeface="黑体" pitchFamily="49" charset="-122"/>
                </a:rPr>
                <a:t>13956043016</a:t>
              </a:r>
            </a:p>
            <a:p>
              <a:pPr marL="0" lvl="1" algn="ctr" eaLnBrk="0" hangingPunct="0">
                <a:lnSpc>
                  <a:spcPct val="125000"/>
                </a:lnSpc>
              </a:pPr>
              <a:r>
                <a:rPr lang="zh-CN" altLang="en-US" sz="2000" b="1" dirty="0">
                  <a:latin typeface="Times New Roman" pitchFamily="18" charset="0"/>
                  <a:ea typeface="黑体"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itchFamily="18" charset="0"/>
                <a:ea typeface="黑体" pitchFamily="49" charset="-122"/>
              </a:endParaRPr>
            </a:p>
            <a:p>
              <a:pPr algn="ctr" eaLnBrk="0" hangingPunct="0"/>
              <a:r>
                <a:rPr lang="zh-CN" altLang="en-US" sz="2000" b="1" dirty="0">
                  <a:latin typeface="Times New Roman" pitchFamily="18" charset="0"/>
                  <a:ea typeface="黑体" pitchFamily="49" charset="-122"/>
                </a:rPr>
                <a:t> </a:t>
              </a: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itchFamily="34" charset="0"/>
                  <a:ea typeface="黑体" pitchFamily="49" charset="-122"/>
                </a:rPr>
                <a:t>联系方式</a:t>
              </a:r>
            </a:p>
          </p:txBody>
        </p:sp>
        <p:pic>
          <p:nvPicPr>
            <p:cNvPr id="10" name="图片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Tree>
  </p:cSld>
  <p:clrMapOvr>
    <a:masterClrMapping/>
  </p:clrMapOvr>
  <p:transition spd="slow" advClick="0" advTm="1622">
    <p:pull dir="d"/>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caseSensitive&quot;:false,&quot;fuzzyMatch&quot;:false,&quot;Score&quot;:1.0,&quot;answers&quot;:[&quot;[1, 2, 3, 4, ‘5’] \\n [‘a’, ‘b’, ‘aaa’] \\n [‘a’] \\n ['a', 'b']&quot;]}]"/>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def SelfSorts(L,k):&#10;    x = L[:k]&#10;    x.sort()&#10;    y = L[k:]&#10;    y.sort(reverse = True)&#10;    return x+y&#10;&#10;from random import randint&#10;try:&#10;    N, K= eval(input(&quot;N:&quot;)), eval(input(&quot;K:&quot;))&#10;    L = [randint(1,N) for i in range(1,N)]&#10;    print(L)&#10;    print(SelfSorts(L,K))&#10;except:&#10;    print(&quot;except&quot;)"/>
  <p:tag name="PROBLEMVOICEALLOWED" val="False"/>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5.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6.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13452</TotalTime>
  <Words>6952</Words>
  <Application>Microsoft Office PowerPoint</Application>
  <PresentationFormat>全屏显示(4:3)</PresentationFormat>
  <Paragraphs>942</Paragraphs>
  <Slides>53</Slides>
  <Notes>5</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53</vt:i4>
      </vt:variant>
    </vt:vector>
  </HeadingPairs>
  <TitlesOfParts>
    <vt:vector size="70" baseType="lpstr">
      <vt:lpstr>Helvetica Neue</vt:lpstr>
      <vt:lpstr>Microsoft Yahei</vt:lpstr>
      <vt:lpstr>MS PMincho</vt:lpstr>
      <vt:lpstr>方正舒体</vt:lpstr>
      <vt:lpstr>仿宋</vt:lpstr>
      <vt:lpstr>黑体</vt:lpstr>
      <vt:lpstr>宋体</vt:lpstr>
      <vt:lpstr>微软雅黑</vt:lpstr>
      <vt:lpstr>Arial</vt:lpstr>
      <vt:lpstr>Calibri</vt:lpstr>
      <vt:lpstr>Comic Sans MS</vt:lpstr>
      <vt:lpstr>Consolas</vt:lpstr>
      <vt:lpstr>Garamond</vt:lpstr>
      <vt:lpstr>Times New Roman</vt:lpstr>
      <vt:lpstr>Verdana</vt:lpstr>
      <vt:lpstr>Wingdings</vt:lpstr>
      <vt:lpstr>Office 主题</vt:lpstr>
      <vt:lpstr>PowerPoint 演示文稿</vt:lpstr>
      <vt:lpstr>第5章 函数的设计与使用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Microsoft</cp:lastModifiedBy>
  <cp:revision>2092</cp:revision>
  <cp:lastPrinted>2012-11-20T01:52:54Z</cp:lastPrinted>
  <dcterms:created xsi:type="dcterms:W3CDTF">2012-10-13T08:41:11Z</dcterms:created>
  <dcterms:modified xsi:type="dcterms:W3CDTF">2024-12-03T09:54:08Z</dcterms:modified>
</cp:coreProperties>
</file>