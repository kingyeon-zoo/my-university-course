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9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6" r:id="rId2"/>
    <p:sldId id="1009" r:id="rId3"/>
    <p:sldId id="481" r:id="rId4"/>
    <p:sldId id="688" r:id="rId5"/>
    <p:sldId id="979" r:id="rId6"/>
    <p:sldId id="1003" r:id="rId7"/>
    <p:sldId id="980" r:id="rId8"/>
    <p:sldId id="981" r:id="rId9"/>
    <p:sldId id="1004" r:id="rId10"/>
    <p:sldId id="1005" r:id="rId11"/>
    <p:sldId id="856" r:id="rId12"/>
    <p:sldId id="858" r:id="rId13"/>
    <p:sldId id="859" r:id="rId14"/>
    <p:sldId id="861" r:id="rId15"/>
    <p:sldId id="863" r:id="rId16"/>
    <p:sldId id="865" r:id="rId17"/>
    <p:sldId id="866" r:id="rId18"/>
    <p:sldId id="867" r:id="rId19"/>
    <p:sldId id="869" r:id="rId20"/>
    <p:sldId id="871" r:id="rId21"/>
    <p:sldId id="873" r:id="rId22"/>
    <p:sldId id="875" r:id="rId23"/>
    <p:sldId id="1006" r:id="rId24"/>
    <p:sldId id="877" r:id="rId25"/>
    <p:sldId id="982" r:id="rId26"/>
    <p:sldId id="879" r:id="rId27"/>
    <p:sldId id="1008" r:id="rId28"/>
    <p:sldId id="1007" r:id="rId29"/>
    <p:sldId id="883" r:id="rId30"/>
    <p:sldId id="885" r:id="rId31"/>
    <p:sldId id="888" r:id="rId32"/>
    <p:sldId id="889" r:id="rId33"/>
    <p:sldId id="892" r:id="rId34"/>
    <p:sldId id="894" r:id="rId35"/>
    <p:sldId id="983" r:id="rId36"/>
    <p:sldId id="1010" r:id="rId37"/>
    <p:sldId id="896" r:id="rId38"/>
    <p:sldId id="899" r:id="rId39"/>
    <p:sldId id="901" r:id="rId40"/>
    <p:sldId id="911" r:id="rId41"/>
    <p:sldId id="913" r:id="rId42"/>
    <p:sldId id="914" r:id="rId43"/>
    <p:sldId id="917" r:id="rId44"/>
    <p:sldId id="919" r:id="rId45"/>
    <p:sldId id="920" r:id="rId46"/>
    <p:sldId id="932" r:id="rId47"/>
    <p:sldId id="943" r:id="rId48"/>
    <p:sldId id="956" r:id="rId49"/>
    <p:sldId id="957" r:id="rId50"/>
    <p:sldId id="958" r:id="rId51"/>
    <p:sldId id="972" r:id="rId52"/>
    <p:sldId id="991" r:id="rId53"/>
    <p:sldId id="992" r:id="rId54"/>
    <p:sldId id="993" r:id="rId55"/>
    <p:sldId id="994" r:id="rId56"/>
    <p:sldId id="995" r:id="rId57"/>
    <p:sldId id="996" r:id="rId58"/>
    <p:sldId id="514" r:id="rId59"/>
    <p:sldId id="448" r:id="rId60"/>
  </p:sldIdLst>
  <p:sldSz cx="9144000" cy="6858000" type="screen4x3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E6E6"/>
    <a:srgbClr val="FF6600"/>
    <a:srgbClr val="000000"/>
    <a:srgbClr val="FFFFFF"/>
    <a:srgbClr val="5E8892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0" autoAdjust="0"/>
    <p:restoredTop sz="87665" autoAdjust="0"/>
  </p:normalViewPr>
  <p:slideViewPr>
    <p:cSldViewPr>
      <p:cViewPr varScale="1">
        <p:scale>
          <a:sx n="146" d="100"/>
          <a:sy n="146" d="100"/>
        </p:scale>
        <p:origin x="223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307" y="-77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85CBAE4-F8D9-4129-B51F-0DB4BEA986F1}" type="datetimeFigureOut">
              <a:rPr lang="en-US"/>
              <a:pPr>
                <a:defRPr/>
              </a:pPr>
              <a:t>11/20/2023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9392E7D-0E06-464C-8541-AA44AE9E79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46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77E5B7F-BBE2-45B0-AC4C-D9CC9AA6B88A}" type="datetimeFigureOut">
              <a:rPr lang="zh-CN" altLang="en-US"/>
              <a:pPr>
                <a:defRPr/>
              </a:pPr>
              <a:t>2023/11/20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383" y="4716585"/>
            <a:ext cx="5436909" cy="44673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3790652-C02E-4B6F-A52E-6A0D29B3CC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7262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夏令时：</a:t>
            </a:r>
            <a:r>
              <a:rPr lang="en-US" altLang="zh-CN" dirty="0"/>
              <a:t>daylight saving time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25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79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7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4D8254C-9EF0-42D8-ABEE-011799BCEF9A}" type="datetime1">
              <a:rPr lang="zh-CN" altLang="en-US" smtClean="0"/>
              <a:t>2023/11/20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 bIns="46800" anchor="b">
            <a:normAutofit/>
          </a:bodyPr>
          <a:lstStyle>
            <a:lvl1pPr algn="l">
              <a:defRPr sz="3600" b="1" baseline="0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4845"/>
            <a:ext cx="8229600" cy="467845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D64E0EE-5B73-47AD-87CF-DD8203CF0C03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61732"/>
            <a:ext cx="2133600" cy="29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BA21264-6194-450F-9E67-69FA95A2639D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C3D0379-170A-47CA-8416-DE5C43BBE701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57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aseline="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51CD30B-66E5-4551-B462-BF9C4A5D5B8F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525344"/>
            <a:ext cx="3456384" cy="328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60232" y="6525344"/>
            <a:ext cx="2133600" cy="299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40E2A9-8589-4618-BAEF-91E1EBBC8022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E4868FC-2E44-4D79-97CC-75DC7E179B49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395536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72EA9C1-C18F-4D93-B3B0-3CE88CB5CCCD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00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60232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2B7097-8263-453C-A59D-218343AA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E1376F-8824-4063-B096-9CE12A814786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61A969-6737-4F60-83D2-0AE0EB11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特征选择研究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42B0B-6AC1-4769-91D6-4D0FC79F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6271474"/>
      </p:ext>
    </p:extLst>
  </p:cSld>
  <p:clrMapOvr>
    <a:masterClrMapping/>
  </p:clrMapOvr>
  <p:transition spd="slow" advClick="0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350"/>
            <a:ext cx="9144000" cy="93503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0" y="6580188"/>
            <a:ext cx="914400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 userDrawn="1"/>
        </p:nvSpPr>
        <p:spPr>
          <a:xfrm>
            <a:off x="468313" y="0"/>
            <a:ext cx="8675687" cy="828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46050"/>
            <a:ext cx="82296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131146"/>
            <a:ext cx="1590708" cy="684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730774" y="15114"/>
            <a:ext cx="2398712" cy="789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7E1376F-8824-4063-B096-9CE12A814786}" type="datetime1">
              <a:rPr lang="zh-CN" altLang="en-US" smtClean="0"/>
              <a:t>2023/11/20</a:t>
            </a:fld>
            <a:endParaRPr lang="zh-CN" alt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9" r:id="rId3"/>
    <p:sldLayoutId id="2147483658" r:id="rId4"/>
    <p:sldLayoutId id="2147483657" r:id="rId5"/>
    <p:sldLayoutId id="2147483654" r:id="rId6"/>
    <p:sldLayoutId id="2147483653" r:id="rId7"/>
    <p:sldLayoutId id="2147483651" r:id="rId8"/>
    <p:sldLayoutId id="2147483662" r:id="rId9"/>
  </p:sldLayoutIdLst>
  <p:transition spd="slow" advClick="0">
    <p:pull dir="d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baseline="0">
          <a:solidFill>
            <a:schemeClr val="tx1"/>
          </a:solidFill>
          <a:latin typeface="Times New Roman" pitchFamily="18" charset="0"/>
          <a:ea typeface="黑体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jpeg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Unix_time" TargetMode="External"/><Relationship Id="rId3" Type="http://schemas.openxmlformats.org/officeDocument/2006/relationships/image" Target="../media/image26.png"/><Relationship Id="rId7" Type="http://schemas.openxmlformats.org/officeDocument/2006/relationships/hyperlink" Target="https://en.wikipedia.org/wiki/Leap_secon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zh-cn/3/library/time.html#epoch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6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jpeg"/><Relationship Id="rId4" Type="http://schemas.openxmlformats.org/officeDocument/2006/relationships/image" Target="../media/image3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jpeg"/><Relationship Id="rId5" Type="http://schemas.openxmlformats.org/officeDocument/2006/relationships/image" Target="../media/image38.png"/><Relationship Id="rId4" Type="http://schemas.openxmlformats.org/officeDocument/2006/relationships/image" Target="../media/image37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79" y="43542"/>
            <a:ext cx="1423266" cy="61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71600" y="1052736"/>
            <a:ext cx="7560840" cy="5642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3600" b="1" dirty="0">
                <a:latin typeface="Comic Sans MS" panose="030F0702030302020204" pitchFamily="66" charset="0"/>
              </a:rPr>
              <a:t>Python</a:t>
            </a:r>
            <a:r>
              <a:rPr lang="zh-CN" altLang="en-US" sz="3600" b="1" dirty="0">
                <a:latin typeface="Comic Sans MS" panose="030F0702030302020204" pitchFamily="66" charset="0"/>
              </a:rPr>
              <a:t>语言与系统设计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Comic Sans MS" panose="030F0702030302020204" pitchFamily="66" charset="0"/>
              </a:rPr>
              <a:t>（</a:t>
            </a:r>
            <a:r>
              <a:rPr lang="en-US" altLang="zh-CN" sz="14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Control Structures of Program</a:t>
            </a:r>
            <a:r>
              <a:rPr lang="zh-CN" altLang="en-US" sz="1400" b="1" dirty="0">
                <a:latin typeface="Comic Sans MS" panose="030F0702030302020204" pitchFamily="66" charset="0"/>
              </a:rPr>
              <a:t>）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Comic Sans MS" panose="030F0702030302020204" pitchFamily="66" charset="0"/>
                <a:ea typeface="MS PMincho" panose="02020600040205080304" pitchFamily="18" charset="-128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Garamond" panose="02020404030301010803" pitchFamily="18" charset="0"/>
                <a:ea typeface="方正舒体" panose="02010601030101010101" pitchFamily="2" charset="-122"/>
              </a:rPr>
              <a:t>Python Language &amp; System Design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章 程序的控制结构</a:t>
            </a:r>
            <a:endParaRPr lang="en-US" altLang="zh-CN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(Control Structures of Program)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语言与系统设计课程组</a:t>
            </a: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李培培 马学森 李俊照</a:t>
            </a:r>
            <a:endParaRPr lang="en-US" altLang="zh-CN" sz="26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</a:p>
          <a:p>
            <a:pPr algn="ctr">
              <a:lnSpc>
                <a:spcPts val="2000"/>
              </a:lnSpc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合肥工业大学 计算机与信息学院  </a:t>
            </a: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0" name="图片 307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789040"/>
            <a:ext cx="204946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 advTm="515"/>
    </mc:Choice>
    <mc:Fallback xmlns="">
      <p:transition spd="slow" advClick="0" advTm="5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5" y="980728"/>
            <a:ext cx="1224136" cy="1047837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279" y="952947"/>
            <a:ext cx="8003232" cy="556813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/>
          <a:lstStyle/>
          <a:p>
            <a:r>
              <a:rPr lang="zh-CN" altLang="en-US" dirty="0"/>
              <a:t>上文回顾</a:t>
            </a:r>
          </a:p>
        </p:txBody>
      </p:sp>
    </p:spTree>
    <p:extLst>
      <p:ext uri="{BB962C8B-B14F-4D97-AF65-F5344CB8AC3E}">
        <p14:creationId xmlns:p14="http://schemas.microsoft.com/office/powerpoint/2010/main" val="1796331761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09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 程序的控制结构 </a:t>
            </a:r>
          </a:p>
        </p:txBody>
      </p:sp>
      <p:sp>
        <p:nvSpPr>
          <p:cNvPr id="410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6DC911D-46DE-485C-8777-064FD0BC3DF5}" type="slidenum">
              <a:rPr lang="zh-CN" altLang="en-US" sz="1200" dirty="0" smtClean="0"/>
              <a:pPr>
                <a:defRPr/>
              </a:pPr>
              <a:t>3</a:t>
            </a:fld>
            <a:endParaRPr lang="zh-CN" altLang="en-US" sz="1200" dirty="0"/>
          </a:p>
        </p:txBody>
      </p:sp>
      <p:grpSp>
        <p:nvGrpSpPr>
          <p:cNvPr id="5" name="组合 107"/>
          <p:cNvGrpSpPr/>
          <p:nvPr/>
        </p:nvGrpSpPr>
        <p:grpSpPr>
          <a:xfrm>
            <a:off x="1279322" y="5709787"/>
            <a:ext cx="3952223" cy="684275"/>
            <a:chOff x="939802" y="5062184"/>
            <a:chExt cx="3952223" cy="684275"/>
          </a:xfrm>
        </p:grpSpPr>
        <p:grpSp>
          <p:nvGrpSpPr>
            <p:cNvPr id="6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KSO_Shape"/>
              <p:cNvSpPr>
                <a:spLocks/>
              </p:cNvSpPr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b="1" dirty="0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384785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 3.6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本章小结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67401" y="1451506"/>
            <a:ext cx="5018847" cy="684042"/>
            <a:chOff x="958665" y="1326432"/>
            <a:chExt cx="5018847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1746364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3" name="图片 12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grpSp>
        <p:nvGrpSpPr>
          <p:cNvPr id="14" name="组合 114"/>
          <p:cNvGrpSpPr/>
          <p:nvPr/>
        </p:nvGrpSpPr>
        <p:grpSpPr>
          <a:xfrm>
            <a:off x="438572" y="2243594"/>
            <a:ext cx="6225040" cy="662730"/>
            <a:chOff x="93137" y="3380765"/>
            <a:chExt cx="6225040" cy="662730"/>
          </a:xfrm>
        </p:grpSpPr>
        <p:grpSp>
          <p:nvGrpSpPr>
            <p:cNvPr id="15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8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16" name="图片 15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19" name="组合 67"/>
          <p:cNvGrpSpPr/>
          <p:nvPr/>
        </p:nvGrpSpPr>
        <p:grpSpPr>
          <a:xfrm>
            <a:off x="1234435" y="3012625"/>
            <a:ext cx="8237489" cy="727935"/>
            <a:chOff x="936625" y="4149796"/>
            <a:chExt cx="8237489" cy="727935"/>
          </a:xfrm>
        </p:grpSpPr>
        <p:grpSp>
          <p:nvGrpSpPr>
            <p:cNvPr id="20" name="组合 106"/>
            <p:cNvGrpSpPr/>
            <p:nvPr/>
          </p:nvGrpSpPr>
          <p:grpSpPr>
            <a:xfrm>
              <a:off x="936625" y="4149796"/>
              <a:ext cx="8237489" cy="727935"/>
              <a:chOff x="927100" y="4149796"/>
              <a:chExt cx="8237489" cy="727935"/>
            </a:xfrm>
          </p:grpSpPr>
          <p:sp>
            <p:nvSpPr>
              <p:cNvPr id="22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23" name="TextBox 6"/>
              <p:cNvSpPr txBox="1">
                <a:spLocks noChangeArrowheads="1"/>
              </p:cNvSpPr>
              <p:nvPr/>
            </p:nvSpPr>
            <p:spPr bwMode="auto">
              <a:xfrm>
                <a:off x="1847349" y="4149796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循环结构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21" name="图片 20" descr="无标题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24" name="组合 109"/>
          <p:cNvGrpSpPr/>
          <p:nvPr/>
        </p:nvGrpSpPr>
        <p:grpSpPr>
          <a:xfrm>
            <a:off x="902972" y="3865065"/>
            <a:ext cx="4320480" cy="651944"/>
            <a:chOff x="605162" y="4599564"/>
            <a:chExt cx="4320480" cy="651944"/>
          </a:xfrm>
        </p:grpSpPr>
        <p:sp>
          <p:nvSpPr>
            <p:cNvPr id="25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26" name="图片 25" descr="u=714968970,2342735455&amp;fm=27&amp;gp=0.jpg"/>
            <p:cNvPicPr/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7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267401" y="4699301"/>
            <a:ext cx="4029379" cy="722883"/>
            <a:chOff x="939802" y="5096024"/>
            <a:chExt cx="4029379" cy="722883"/>
          </a:xfrm>
        </p:grpSpPr>
        <p:grpSp>
          <p:nvGrpSpPr>
            <p:cNvPr id="29" name="组合 107"/>
            <p:cNvGrpSpPr/>
            <p:nvPr/>
          </p:nvGrpSpPr>
          <p:grpSpPr>
            <a:xfrm>
              <a:off x="939802" y="5096024"/>
              <a:ext cx="4029379" cy="722883"/>
              <a:chOff x="939802" y="5062184"/>
              <a:chExt cx="4083114" cy="684275"/>
            </a:xfrm>
          </p:grpSpPr>
          <p:sp>
            <p:nvSpPr>
              <p:cNvPr id="31" name="Freeform 5"/>
              <p:cNvSpPr>
                <a:spLocks/>
              </p:cNvSpPr>
              <p:nvPr/>
            </p:nvSpPr>
            <p:spPr bwMode="auto">
              <a:xfrm>
                <a:off x="939802" y="5098728"/>
                <a:ext cx="813499" cy="64773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32" name="TextBox 6"/>
              <p:cNvSpPr txBox="1">
                <a:spLocks noChangeArrowheads="1"/>
              </p:cNvSpPr>
              <p:nvPr/>
            </p:nvSpPr>
            <p:spPr bwMode="auto">
              <a:xfrm>
                <a:off x="1515676" y="5062184"/>
                <a:ext cx="3507240" cy="611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3.5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异常处理</a:t>
                </a:r>
              </a:p>
            </p:txBody>
          </p:sp>
        </p:grpSp>
        <p:pic>
          <p:nvPicPr>
            <p:cNvPr id="30" name="图片 29"/>
            <p:cNvPicPr/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07930" y="5250439"/>
              <a:ext cx="502661" cy="422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021526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  <p:grpSp>
        <p:nvGrpSpPr>
          <p:cNvPr id="82" name="组合 81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83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85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86" name="图片 85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87" name="矩形 1"/>
          <p:cNvSpPr>
            <a:spLocks noChangeArrowheads="1"/>
          </p:cNvSpPr>
          <p:nvPr/>
        </p:nvSpPr>
        <p:spPr bwMode="auto">
          <a:xfrm>
            <a:off x="707170" y="1531019"/>
            <a:ext cx="796304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程序流程图</a:t>
            </a: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用一系列图形、流程线和文字说明描述程</a:t>
            </a:r>
            <a:endParaRPr lang="en-US" altLang="zh-CN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buClr>
                <a:srgbClr val="FF0000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      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序的基本操作和控制流程，它是程序分析</a:t>
            </a:r>
            <a:endParaRPr lang="en-US" altLang="zh-CN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buClr>
                <a:srgbClr val="FF0000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      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和过程描述的最基本方式</a:t>
            </a:r>
            <a:endParaRPr lang="zh-CN" altLang="en-US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88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2810385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程序的流程图</a:t>
            </a:r>
          </a:p>
        </p:txBody>
      </p:sp>
      <p:grpSp>
        <p:nvGrpSpPr>
          <p:cNvPr id="89" name="组合 88"/>
          <p:cNvGrpSpPr/>
          <p:nvPr/>
        </p:nvGrpSpPr>
        <p:grpSpPr>
          <a:xfrm>
            <a:off x="409443" y="3324027"/>
            <a:ext cx="4104839" cy="2004625"/>
            <a:chOff x="4821383" y="2794721"/>
            <a:chExt cx="4104839" cy="2004625"/>
          </a:xfrm>
        </p:grpSpPr>
        <p:pic>
          <p:nvPicPr>
            <p:cNvPr id="90" name="图片 89"/>
            <p:cNvPicPr/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516272" y="3842039"/>
              <a:ext cx="305752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1" name="TextBox 24"/>
            <p:cNvSpPr txBox="1"/>
            <p:nvPr/>
          </p:nvSpPr>
          <p:spPr>
            <a:xfrm>
              <a:off x="5673436" y="4499264"/>
              <a:ext cx="3065319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注释框               流向线             连接点</a:t>
              </a:r>
            </a:p>
          </p:txBody>
        </p:sp>
        <p:pic>
          <p:nvPicPr>
            <p:cNvPr id="92" name="图片 91"/>
            <p:cNvPicPr/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935247" y="2794721"/>
              <a:ext cx="3990975" cy="561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" name="TextBox 26"/>
            <p:cNvSpPr txBox="1"/>
            <p:nvPr/>
          </p:nvSpPr>
          <p:spPr>
            <a:xfrm>
              <a:off x="4821383" y="3373583"/>
              <a:ext cx="393815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    起止框              判断框                处理框            输入</a:t>
              </a:r>
              <a:r>
                <a:rPr lang="en-US" altLang="zh-CN" b="1" dirty="0">
                  <a:solidFill>
                    <a:srgbClr val="FF0000"/>
                  </a:solidFill>
                </a:rPr>
                <a:t>/                         </a:t>
              </a:r>
            </a:p>
            <a:p>
              <a:r>
                <a:rPr lang="en-US" altLang="zh-CN" b="1" dirty="0">
                  <a:solidFill>
                    <a:srgbClr val="FF0000"/>
                  </a:solidFill>
                </a:rPr>
                <a:t>                                                                                     </a:t>
              </a:r>
              <a:r>
                <a:rPr lang="zh-CN" altLang="en-US" b="1" dirty="0">
                  <a:solidFill>
                    <a:srgbClr val="FF0000"/>
                  </a:solidFill>
                </a:rPr>
                <a:t>输出框 </a:t>
              </a:r>
            </a:p>
          </p:txBody>
        </p:sp>
      </p:grpSp>
      <p:pic>
        <p:nvPicPr>
          <p:cNvPr id="94" name="图片 93"/>
          <p:cNvPicPr/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96125" y="3266011"/>
            <a:ext cx="2295525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" name="图片 94"/>
          <p:cNvPicPr/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59141" y="3238302"/>
            <a:ext cx="2047875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" name="矩形 95"/>
          <p:cNvSpPr/>
          <p:nvPr/>
        </p:nvSpPr>
        <p:spPr>
          <a:xfrm>
            <a:off x="5048638" y="2748788"/>
            <a:ext cx="2270173" cy="506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程序的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流程图</a:t>
            </a:r>
            <a:endParaRPr lang="zh-CN" altLang="en-US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715630" y="2748786"/>
            <a:ext cx="3587842" cy="505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流程图的基本元素</a:t>
            </a: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(7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种</a:t>
            </a: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3536176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96" grpId="0"/>
      <p:bldP spid="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693738" y="1427685"/>
            <a:ext cx="7993062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顺序结构是程序的基础，但单一的顺序结构不可能解决所有问题。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程序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Program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由三种基本结构组成：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714500" lvl="3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l"/>
            </a:pP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顺序结构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Sequence Structure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714500" lvl="3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l"/>
            </a:pP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分支结构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Branch Structure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714500" lvl="3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l"/>
            </a:pP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循环结构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Loop Structure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这些基本结构都有一个入口和一个出口。任何程序都由这三种基本结构组合而成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389241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程序的基本结构概述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1" name="图片 10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12" name="文本框 11"/>
          <p:cNvSpPr txBox="1"/>
          <p:nvPr/>
        </p:nvSpPr>
        <p:spPr>
          <a:xfrm>
            <a:off x="-2160" y="6317828"/>
            <a:ext cx="846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</a:rPr>
              <a:t>注：</a:t>
            </a:r>
            <a:r>
              <a:rPr lang="en-US" altLang="zh-CN" sz="1200" dirty="0">
                <a:solidFill>
                  <a:srgbClr val="0000FF"/>
                </a:solidFill>
              </a:rPr>
              <a:t>slides</a:t>
            </a:r>
            <a:r>
              <a:rPr lang="zh-CN" altLang="en-US" sz="1200" dirty="0">
                <a:solidFill>
                  <a:srgbClr val="0000FF"/>
                </a:solidFill>
              </a:rPr>
              <a:t>参考：</a:t>
            </a:r>
            <a:r>
              <a:rPr lang="zh-CN" altLang="zh-CN" sz="1200" dirty="0">
                <a:solidFill>
                  <a:srgbClr val="0000FF"/>
                </a:solidFill>
              </a:rPr>
              <a:t>董付国</a:t>
            </a:r>
            <a:r>
              <a:rPr lang="en-US" altLang="zh-CN" sz="1200" dirty="0">
                <a:solidFill>
                  <a:srgbClr val="0000FF"/>
                </a:solidFill>
              </a:rPr>
              <a:t>. </a:t>
            </a:r>
            <a:r>
              <a:rPr lang="zh-CN" altLang="zh-CN" sz="1200" dirty="0">
                <a:solidFill>
                  <a:srgbClr val="0000FF"/>
                </a:solidFill>
              </a:rPr>
              <a:t>《</a:t>
            </a:r>
            <a:r>
              <a:rPr lang="en-US" altLang="zh-CN" sz="1200" dirty="0">
                <a:solidFill>
                  <a:srgbClr val="0000FF"/>
                </a:solidFill>
              </a:rPr>
              <a:t>Python</a:t>
            </a:r>
            <a:r>
              <a:rPr lang="zh-CN" altLang="zh-CN" sz="1200" dirty="0">
                <a:solidFill>
                  <a:srgbClr val="0000FF"/>
                </a:solidFill>
              </a:rPr>
              <a:t>程序设计》</a:t>
            </a:r>
            <a:r>
              <a:rPr lang="en-US" altLang="zh-CN" sz="1200" dirty="0">
                <a:solidFill>
                  <a:srgbClr val="0000FF"/>
                </a:solidFill>
              </a:rPr>
              <a:t>(</a:t>
            </a:r>
            <a:r>
              <a:rPr lang="zh-CN" altLang="zh-CN" sz="1200" dirty="0">
                <a:solidFill>
                  <a:srgbClr val="0000FF"/>
                </a:solidFill>
              </a:rPr>
              <a:t>第</a:t>
            </a:r>
            <a:r>
              <a:rPr lang="en-US" altLang="zh-CN" sz="1200" dirty="0">
                <a:solidFill>
                  <a:srgbClr val="0000FF"/>
                </a:solidFill>
              </a:rPr>
              <a:t>2</a:t>
            </a:r>
            <a:r>
              <a:rPr lang="zh-CN" altLang="zh-CN" sz="1200" dirty="0">
                <a:solidFill>
                  <a:srgbClr val="0000FF"/>
                </a:solidFill>
              </a:rPr>
              <a:t>版</a:t>
            </a:r>
            <a:r>
              <a:rPr lang="en-US" altLang="zh-CN" sz="1200" dirty="0">
                <a:solidFill>
                  <a:srgbClr val="0000FF"/>
                </a:solidFill>
              </a:rPr>
              <a:t>). </a:t>
            </a:r>
            <a:r>
              <a:rPr lang="zh-CN" altLang="zh-CN" sz="1200" dirty="0">
                <a:solidFill>
                  <a:srgbClr val="0000FF"/>
                </a:solidFill>
              </a:rPr>
              <a:t>清华大学出版社</a:t>
            </a:r>
            <a:r>
              <a:rPr lang="en-US" altLang="zh-CN" sz="1200" dirty="0">
                <a:solidFill>
                  <a:srgbClr val="0000FF"/>
                </a:solidFill>
              </a:rPr>
              <a:t>, 2018.</a:t>
            </a:r>
            <a:endParaRPr lang="zh-CN" altLang="zh-CN" sz="1200" dirty="0">
              <a:solidFill>
                <a:srgbClr val="0000FF"/>
              </a:solidFill>
            </a:endParaRPr>
          </a:p>
          <a:p>
            <a:endParaRPr lang="zh-CN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16838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474960" y="1628800"/>
            <a:ext cx="7265391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zh-CN" sz="24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天天向上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实例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一年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365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天，以第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天的能力值为基数，记为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1.0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，当好好学习时能力值相比前一天提高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r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‰，当没有学习时由于遗忘等原因能力值相比前一天下降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r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‰。每天努力和每天放任，一年下来的能力值相差多少呢？</a:t>
            </a:r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12" name="矩形 11"/>
          <p:cNvSpPr/>
          <p:nvPr/>
        </p:nvSpPr>
        <p:spPr>
          <a:xfrm>
            <a:off x="1681905" y="5001278"/>
            <a:ext cx="5194051" cy="12772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r = 0.001, 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每天努力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‰，一年下来将提高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44%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spcBef>
                <a:spcPts val="300"/>
              </a:spcBef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r = 0.005, 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每天努力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‰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, 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一年下来将提高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倍！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spcBef>
                <a:spcPts val="300"/>
              </a:spcBef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r = 0.01,  </a:t>
            </a:r>
            <a:r>
              <a:rPr lang="zh-CN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每天努力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1%</a:t>
            </a:r>
            <a:r>
              <a:rPr lang="zh-CN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，一年下来将提高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37</a:t>
            </a:r>
            <a:r>
              <a:rPr lang="zh-CN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倍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!</a:t>
            </a:r>
            <a:endParaRPr lang="zh-CN" altLang="zh-CN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620058" y="3494425"/>
            <a:ext cx="5712992" cy="13747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just">
              <a:lnSpc>
                <a:spcPts val="2000"/>
              </a:lnSpc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import math</a:t>
            </a:r>
          </a:p>
          <a:p>
            <a:pPr lvl="0" algn="just">
              <a:lnSpc>
                <a:spcPts val="2000"/>
              </a:lnSpc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r = </a:t>
            </a:r>
            <a:r>
              <a:rPr lang="en-US" altLang="zh-CN" sz="1400" dirty="0" err="1">
                <a:latin typeface="Consolas" panose="020B0609020204030204" charset="0"/>
                <a:ea typeface="+mn-ea"/>
              </a:rPr>
              <a:t>eval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(input(“ratio:”))</a:t>
            </a:r>
            <a:endParaRPr lang="zh-CN" altLang="zh-CN" sz="1400" dirty="0">
              <a:latin typeface="Consolas" panose="020B0609020204030204" charset="0"/>
              <a:ea typeface="+mn-ea"/>
            </a:endParaRPr>
          </a:p>
          <a:p>
            <a:pPr lvl="0" algn="just">
              <a:lnSpc>
                <a:spcPts val="2000"/>
              </a:lnSpc>
            </a:pPr>
            <a:r>
              <a:rPr lang="en-US" altLang="zh-CN" sz="1400" dirty="0" err="1">
                <a:latin typeface="Consolas" panose="020B0609020204030204" charset="0"/>
                <a:ea typeface="+mn-ea"/>
              </a:rPr>
              <a:t>dayup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 = </a:t>
            </a:r>
            <a:r>
              <a:rPr lang="en-US" altLang="zh-CN" sz="1400" dirty="0" err="1">
                <a:latin typeface="Consolas" panose="020B0609020204030204" charset="0"/>
                <a:ea typeface="+mn-ea"/>
              </a:rPr>
              <a:t>math.pow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((1.0 + r), 365)  </a:t>
            </a:r>
          </a:p>
          <a:p>
            <a:pPr lvl="0" algn="just">
              <a:lnSpc>
                <a:spcPts val="2000"/>
              </a:lnSpc>
            </a:pPr>
            <a:r>
              <a:rPr lang="en-US" altLang="zh-CN" sz="1400" dirty="0" err="1">
                <a:latin typeface="Consolas" panose="020B0609020204030204" charset="0"/>
                <a:ea typeface="+mn-ea"/>
              </a:rPr>
              <a:t>daydown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 = </a:t>
            </a:r>
            <a:r>
              <a:rPr lang="en-US" altLang="zh-CN" sz="1400" dirty="0" err="1">
                <a:latin typeface="Consolas" panose="020B0609020204030204" charset="0"/>
                <a:ea typeface="+mn-ea"/>
              </a:rPr>
              <a:t>math.pow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((1.0 - r), 365)</a:t>
            </a:r>
            <a:endParaRPr lang="zh-CN" altLang="zh-CN" sz="1400" dirty="0">
              <a:latin typeface="Consolas" panose="020B0609020204030204" charset="0"/>
              <a:ea typeface="+mn-ea"/>
            </a:endParaRPr>
          </a:p>
          <a:p>
            <a:pPr lvl="0" algn="just">
              <a:lnSpc>
                <a:spcPts val="2000"/>
              </a:lnSpc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print("</a:t>
            </a:r>
            <a:r>
              <a:rPr lang="zh-CN" altLang="zh-CN" sz="1400" dirty="0">
                <a:latin typeface="Consolas" panose="020B0609020204030204" charset="0"/>
                <a:ea typeface="+mn-ea"/>
              </a:rPr>
              <a:t>向上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:{:.2f}, </a:t>
            </a:r>
            <a:r>
              <a:rPr lang="zh-CN" altLang="zh-CN" sz="1400" dirty="0">
                <a:latin typeface="Consolas" panose="020B0609020204030204" charset="0"/>
                <a:ea typeface="+mn-ea"/>
              </a:rPr>
              <a:t>向下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:{:.2f}.".format(</a:t>
            </a:r>
            <a:r>
              <a:rPr lang="en-US" altLang="zh-CN" sz="1400" dirty="0" err="1">
                <a:latin typeface="Consolas" panose="020B0609020204030204" charset="0"/>
                <a:ea typeface="+mn-ea"/>
              </a:rPr>
              <a:t>dayup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, </a:t>
            </a:r>
            <a:r>
              <a:rPr lang="en-US" altLang="zh-CN" sz="1400" dirty="0" err="1">
                <a:latin typeface="Consolas" panose="020B0609020204030204" charset="0"/>
                <a:ea typeface="+mn-ea"/>
              </a:rPr>
              <a:t>daydown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))</a:t>
            </a:r>
            <a:endParaRPr lang="zh-CN" altLang="zh-CN" sz="1400" dirty="0">
              <a:latin typeface="Consolas" panose="020B0609020204030204" charset="0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108520" y="836712"/>
            <a:ext cx="86409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顺序结构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程序按照线性顺序依次执行的一种运行方式，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如：</a:t>
            </a:r>
            <a:r>
              <a:rPr lang="en-US" altLang="zh-CN" sz="2000" b="1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语句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      块S1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和</a:t>
            </a:r>
            <a:r>
              <a:rPr lang="en-US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语句块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S2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表示一个或一组顺序执行的语句 </a:t>
            </a:r>
            <a:endParaRPr lang="en-US" altLang="en-US" sz="20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3879" y="1545763"/>
            <a:ext cx="1347931" cy="230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615" y="4869160"/>
            <a:ext cx="1674195" cy="1676771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195736" y="5804766"/>
            <a:ext cx="4948791" cy="6376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indent="457200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zh-CN" sz="22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这就是天天向上的力量</a:t>
            </a:r>
            <a:r>
              <a:rPr lang="zh-CN" altLang="zh-CN" sz="28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！ </a:t>
            </a:r>
          </a:p>
        </p:txBody>
      </p:sp>
    </p:spTree>
    <p:extLst>
      <p:ext uri="{BB962C8B-B14F-4D97-AF65-F5344CB8AC3E}">
        <p14:creationId xmlns:p14="http://schemas.microsoft.com/office/powerpoint/2010/main" val="2962041382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b="1" smtClean="0">
                <a:latin typeface="Times New Roman" panose="02020603050405020304" pitchFamily="18" charset="0"/>
                <a:ea typeface="仿宋" panose="02010609060101010101" pitchFamily="49" charset="-122"/>
              </a:rPr>
              <a:pPr>
                <a:defRPr/>
              </a:pPr>
              <a:t>7</a:t>
            </a:fld>
            <a:endParaRPr lang="zh-CN" altLang="en-US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22F8D1-1640-4374-B148-13CF16F75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26309"/>
            <a:ext cx="8333509" cy="1418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分支结构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程序根据条件判断结果而选择不同向前执行路径的一种运</a:t>
            </a:r>
            <a:endParaRPr lang="en-US" altLang="zh-CN" sz="20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     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行方式，包括单分支结构和二分支结构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(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二分支结构会组合</a:t>
            </a:r>
            <a:endParaRPr lang="en-US" altLang="zh-CN" sz="20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     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形成多分支结构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)</a:t>
            </a:r>
            <a:r>
              <a:rPr lang="zh-CN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endParaRPr lang="en-US" altLang="en-US" sz="20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03503" y="2845224"/>
            <a:ext cx="4881590" cy="2680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389241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程序的基本结构概述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3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4" name="图片 13" descr="1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9349009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b="1" smtClean="0">
                <a:latin typeface="Times New Roman" panose="02020603050405020304" pitchFamily="18" charset="0"/>
                <a:ea typeface="仿宋" panose="02010609060101010101" pitchFamily="49" charset="-122"/>
              </a:rPr>
              <a:pPr>
                <a:defRPr/>
              </a:pPr>
              <a:t>8</a:t>
            </a:fld>
            <a:endParaRPr lang="zh-CN" altLang="en-US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389241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程序的基本结构概述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3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4" name="图片 13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A258A26F-3629-4542-B140-F5E5A010F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28" y="1268760"/>
            <a:ext cx="799147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循环结构</a:t>
            </a: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程序根据条件判断结果向后反复执行的一种</a:t>
            </a:r>
            <a:endParaRPr lang="en-US" altLang="zh-CN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     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运行方式，根据循环体触发条件不同，包括</a:t>
            </a:r>
            <a:endParaRPr lang="en-US" altLang="zh-CN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     </a:t>
            </a:r>
            <a:r>
              <a:rPr lang="zh-CN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条件循环和遍历循环结构</a:t>
            </a:r>
          </a:p>
          <a:p>
            <a:pPr>
              <a:defRPr/>
            </a:pPr>
            <a:endParaRPr lang="zh-CN" altLang="zh-CN" sz="24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pic>
        <p:nvPicPr>
          <p:cNvPr id="16" name="图片 15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685160" y="3038293"/>
            <a:ext cx="5973009" cy="303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矩形 16"/>
          <p:cNvSpPr/>
          <p:nvPr/>
        </p:nvSpPr>
        <p:spPr>
          <a:xfrm>
            <a:off x="3923928" y="6077192"/>
            <a:ext cx="171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CN" sz="1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循环</a:t>
            </a:r>
            <a:r>
              <a:rPr lang="zh-CN" altLang="zh-CN" sz="1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结构</a:t>
            </a:r>
            <a:r>
              <a:rPr lang="zh-CN" altLang="en-US" sz="1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221647628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9</a:t>
            </a:fld>
            <a:endParaRPr lang="zh-CN" altLang="en-US" dirty="0"/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179512" y="817772"/>
            <a:ext cx="8712968" cy="1585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u"/>
            </a:pPr>
            <a:r>
              <a:rPr lang="zh-CN" altLang="en-US" sz="2800" b="1" dirty="0">
                <a:solidFill>
                  <a:srgbClr val="262626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分支与循环结构</a:t>
            </a:r>
            <a:r>
              <a:rPr lang="en-US" altLang="zh-CN" sz="2800" b="1" dirty="0">
                <a:solidFill>
                  <a:srgbClr val="262626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 </a:t>
            </a:r>
            <a:r>
              <a:rPr lang="zh-CN" altLang="zh-CN" sz="28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天天向上</a:t>
            </a:r>
            <a:r>
              <a:rPr lang="zh-CN" altLang="en-US" sz="28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实例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一年</a:t>
            </a:r>
            <a:r>
              <a:rPr lang="en-US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365</a:t>
            </a:r>
            <a:r>
              <a:rPr lang="zh-CN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天，一周</a:t>
            </a:r>
            <a:r>
              <a:rPr lang="en-US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个工作日，如果每个工作日都很努力，可以提高</a:t>
            </a:r>
            <a:r>
              <a:rPr lang="en-US" altLang="zh-CN" sz="2000" b="1" kern="1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zh-CN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，仅在周末放任一下，能力值每天下降</a:t>
            </a:r>
            <a:r>
              <a:rPr lang="en-US" altLang="zh-CN" sz="2000" b="1" kern="1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zh-CN" altLang="zh-CN" sz="20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，效果如何呢？ 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2" name="矩形 1"/>
          <p:cNvSpPr/>
          <p:nvPr/>
        </p:nvSpPr>
        <p:spPr>
          <a:xfrm>
            <a:off x="613930" y="4314019"/>
            <a:ext cx="784413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r = 0.01, 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每周努力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天，而不是每天，一年下来，水平仅是初始的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4.63</a:t>
            </a:r>
            <a:r>
              <a:rPr lang="zh-CN" altLang="zh-CN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倍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!</a:t>
            </a:r>
            <a:endParaRPr lang="zh-CN" altLang="en-US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55243" y="2391534"/>
            <a:ext cx="6189416" cy="18158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just"/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dayup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r = 1.0, 0.01</a:t>
            </a:r>
            <a:endParaRPr lang="zh-CN" altLang="zh-CN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 range(365):</a:t>
            </a:r>
            <a:endParaRPr lang="zh-CN" altLang="zh-CN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if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% 7 in [6, 0]:#</a:t>
            </a:r>
            <a:r>
              <a:rPr lang="zh-CN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周六周日</a:t>
            </a:r>
            <a:endParaRPr lang="zh-CN" altLang="zh-CN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dayup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dayup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 (1 - r)</a:t>
            </a:r>
            <a:endParaRPr lang="zh-CN" altLang="zh-CN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else:</a:t>
            </a:r>
            <a:endParaRPr lang="zh-CN" altLang="zh-CN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dayup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dayup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 (1 + r)</a:t>
            </a:r>
            <a:endParaRPr lang="zh-CN" altLang="zh-CN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print("</a:t>
            </a:r>
            <a:r>
              <a:rPr lang="zh-CN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向上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天向下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天的力量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 {:.2f}.".format(</a:t>
            </a:r>
            <a:r>
              <a:rPr lang="en-US" altLang="zh-CN" sz="1600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dayup</a:t>
            </a:r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endParaRPr lang="zh-CN" altLang="zh-CN" sz="16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58798" y="5229459"/>
            <a:ext cx="7645650" cy="85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每周工作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5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天，休息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2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天，休息日水平下降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0.01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，</a:t>
            </a:r>
            <a:r>
              <a:rPr lang="zh-CN" altLang="zh-CN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工作日要努力到什么程度一年后的水平才与每天努力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1%</a:t>
            </a:r>
            <a:r>
              <a:rPr lang="zh-CN" altLang="zh-CN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itchFamily="18" charset="0"/>
              </a:rPr>
              <a:t>所取得的效果一样呢？</a:t>
            </a:r>
            <a:endParaRPr lang="zh-CN" altLang="en-US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7524" y="5382273"/>
            <a:ext cx="642848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09166147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8FE28-31C3-4E9E-A927-5C8A5D8E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str.format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EA88E7-926D-4E72-BA13-D8B2C970C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6" y="1052736"/>
            <a:ext cx="8229600" cy="5040560"/>
          </a:xfrm>
        </p:spPr>
        <p:txBody>
          <a:bodyPr/>
          <a:lstStyle/>
          <a:p>
            <a:pPr marL="457200" lvl="1" indent="0" latinLnBrk="1">
              <a:buNone/>
            </a:pP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/>
              </a:rPr>
              <a:t>基本语法是通过 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SFMono-Regular"/>
              </a:rPr>
              <a:t>{}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/>
              </a:rPr>
              <a:t> 和 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SFMono-Regular"/>
              </a:rPr>
              <a:t>: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/>
              </a:rPr>
              <a:t> 来代替以前的 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SFMono-Regular"/>
              </a:rPr>
              <a:t>%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/>
              </a:rPr>
              <a:t> 。</a:t>
            </a:r>
          </a:p>
          <a:p>
            <a:pPr marL="457200" lvl="1" indent="0" latinLnBrk="1">
              <a:buNone/>
            </a:pPr>
            <a:r>
              <a:rPr lang="en-US" altLang="zh-CN" sz="1200" b="0" i="0" dirty="0">
                <a:solidFill>
                  <a:srgbClr val="333333"/>
                </a:solidFill>
                <a:effectLst/>
                <a:latin typeface="Helvetica Neue"/>
              </a:rPr>
              <a:t>format 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/>
              </a:rPr>
              <a:t>函数可以接受不限个参数，位置可以不按顺序。</a:t>
            </a:r>
            <a:endParaRPr lang="en-US" altLang="zh-CN" sz="12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457200" lvl="1" indent="0" latinLnBrk="1">
              <a:buNone/>
            </a:pP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&gt;&gt;&gt;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{} {}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Menlo"/>
              </a:rPr>
              <a:t>format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hello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,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world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1600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sz="1600" b="0" i="0" dirty="0">
                <a:solidFill>
                  <a:srgbClr val="AA5500"/>
                </a:solidFill>
                <a:effectLst/>
                <a:latin typeface="Menlo"/>
              </a:rPr>
              <a:t>不设置指定位置，按默认顺序</a:t>
            </a:r>
            <a:r>
              <a:rPr lang="zh-CN" altLang="en-US" sz="16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sz="1600" b="0" i="0" dirty="0">
              <a:solidFill>
                <a:srgbClr val="808080"/>
              </a:solidFill>
              <a:effectLst/>
              <a:latin typeface="Menlo"/>
            </a:endParaRPr>
          </a:p>
          <a:p>
            <a:pPr marL="457200" lvl="1" indent="0" latinLnBrk="1">
              <a:buNone/>
            </a:pPr>
            <a:r>
              <a:rPr lang="en-US" altLang="zh-CN" sz="1600" b="0" i="0" dirty="0">
                <a:solidFill>
                  <a:srgbClr val="0000FF"/>
                </a:solidFill>
                <a:effectLst/>
                <a:latin typeface="Menlo"/>
              </a:rPr>
              <a:t>'hello world’ </a:t>
            </a:r>
          </a:p>
          <a:p>
            <a:pPr marL="457200" lvl="1" indent="0" latinLnBrk="1">
              <a:buNone/>
            </a:pP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&gt;&gt;&gt;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{0} {1}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Menlo"/>
              </a:rPr>
              <a:t>format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hello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,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world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1600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sz="1600" b="0" i="0" dirty="0">
                <a:solidFill>
                  <a:srgbClr val="AA5500"/>
                </a:solidFill>
                <a:effectLst/>
                <a:latin typeface="Menlo"/>
              </a:rPr>
              <a:t>设置指定位置</a:t>
            </a:r>
            <a:r>
              <a:rPr lang="zh-CN" altLang="en-US" sz="16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sz="1600" b="0" i="0" dirty="0">
              <a:solidFill>
                <a:srgbClr val="808080"/>
              </a:solidFill>
              <a:effectLst/>
              <a:latin typeface="Menlo"/>
            </a:endParaRPr>
          </a:p>
          <a:p>
            <a:pPr marL="457200" lvl="1" indent="0" latinLnBrk="1">
              <a:buNone/>
            </a:pPr>
            <a:r>
              <a:rPr lang="en-US" altLang="zh-CN" sz="1600" dirty="0">
                <a:solidFill>
                  <a:srgbClr val="0000FF"/>
                </a:solidFill>
                <a:latin typeface="Menlo"/>
              </a:rPr>
              <a:t>'hello world’ </a:t>
            </a:r>
          </a:p>
          <a:p>
            <a:pPr marL="457200" lvl="1" indent="0" latinLnBrk="1">
              <a:buNone/>
            </a:pP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&gt;&gt;&gt;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{1} {0} {1}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Menlo"/>
              </a:rPr>
              <a:t>format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hello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,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Menlo"/>
              </a:rPr>
              <a:t>world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1600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sz="1600" b="0" i="0" dirty="0">
                <a:solidFill>
                  <a:srgbClr val="AA5500"/>
                </a:solidFill>
                <a:effectLst/>
                <a:latin typeface="Menlo"/>
              </a:rPr>
              <a:t>设置指定位置</a:t>
            </a:r>
            <a:r>
              <a:rPr lang="zh-CN" altLang="en-US" sz="16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sz="1600" b="0" i="0" dirty="0">
              <a:solidFill>
                <a:srgbClr val="808080"/>
              </a:solidFill>
              <a:effectLst/>
              <a:latin typeface="Menlo"/>
            </a:endParaRPr>
          </a:p>
          <a:p>
            <a:pPr marL="457200" lvl="1" indent="0" latinLnBrk="1">
              <a:buNone/>
            </a:pPr>
            <a:r>
              <a:rPr lang="en-US" altLang="zh-CN" sz="1600" b="0" i="0" dirty="0">
                <a:solidFill>
                  <a:srgbClr val="0000FF"/>
                </a:solidFill>
                <a:effectLst/>
                <a:latin typeface="Menlo"/>
              </a:rPr>
              <a:t>'world hello world’</a:t>
            </a:r>
          </a:p>
          <a:p>
            <a:pPr marL="457200" lvl="1" indent="0" latinLnBrk="1">
              <a:buNone/>
            </a:pPr>
            <a:r>
              <a:rPr lang="zh-CN" altLang="en-US" sz="1600" dirty="0">
                <a:solidFill>
                  <a:srgbClr val="FF0000"/>
                </a:solidFill>
                <a:latin typeface="Helvetica Neue"/>
              </a:rPr>
              <a:t>数字格式化：</a:t>
            </a:r>
            <a:endParaRPr lang="en-US" altLang="zh-CN" sz="1600" b="0" i="0" dirty="0">
              <a:solidFill>
                <a:srgbClr val="FF0000"/>
              </a:solidFill>
              <a:effectLst/>
              <a:latin typeface="Helvetica Neue"/>
            </a:endParaRPr>
          </a:p>
          <a:p>
            <a:pPr marL="457200" lvl="1" indent="0" latinLnBrk="1">
              <a:buNone/>
            </a:pPr>
            <a:r>
              <a:rPr lang="en-US" altLang="zh-CN" sz="1600" b="0" i="0" dirty="0">
                <a:solidFill>
                  <a:srgbClr val="FF0000"/>
                </a:solidFill>
                <a:effectLst/>
                <a:latin typeface="Helvetica Neue"/>
              </a:rPr>
              <a:t>&gt;&gt;&gt; print("{:.2f}".format(3.1415926));</a:t>
            </a:r>
          </a:p>
          <a:p>
            <a:pPr marL="457200" lvl="1" indent="0" latinLnBrk="1">
              <a:buNone/>
            </a:pPr>
            <a:r>
              <a:rPr lang="en-US" altLang="zh-CN" sz="1600" b="0" i="0" dirty="0">
                <a:solidFill>
                  <a:srgbClr val="FF0000"/>
                </a:solidFill>
                <a:effectLst/>
                <a:latin typeface="Helvetica Neue"/>
              </a:rPr>
              <a:t>3.14</a:t>
            </a:r>
            <a:endParaRPr lang="zh-CN" altLang="en-US" sz="1600" b="0" i="0" dirty="0">
              <a:solidFill>
                <a:srgbClr val="FF0000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305D8C-8B80-432D-B830-255D99CB8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10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7FA4DB-01D4-4D61-973E-9FB3D4C4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185" y="980728"/>
            <a:ext cx="5832648" cy="55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14795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占位符 17410"/>
          <p:cNvSpPr>
            <a:spLocks noGrp="1"/>
          </p:cNvSpPr>
          <p:nvPr>
            <p:ph idx="1"/>
          </p:nvPr>
        </p:nvSpPr>
        <p:spPr>
          <a:xfrm>
            <a:off x="539552" y="1423868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在选择和循环结构中，都要使用条件表达式来确定下一步的执行流程。</a:t>
            </a:r>
            <a:endParaRPr lang="en-US" altLang="zh-CN" sz="2000" dirty="0">
              <a:latin typeface="宋体" panose="02010600030101010101" pitchFamily="2" charset="-122"/>
              <a:ea typeface="+mn-ea"/>
            </a:endParaRP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条件表达式的值只要不是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False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0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（或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0.0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0j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等）、空值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None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、空列表、空元组、空集合、空字典、空字符串、空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range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对象或其他空迭代对象，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Python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解释器均认为与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True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等价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。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从这个意义上来讲，几乎所有的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Python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合法表达式都可以作为条件表达式，包括含有函数调用的表达式。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5771965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条件表达式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</a:rPr>
              <a:t>Conditional Expression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)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7" name="文本占位符 16386"/>
          <p:cNvSpPr txBox="1">
            <a:spLocks/>
          </p:cNvSpPr>
          <p:nvPr/>
        </p:nvSpPr>
        <p:spPr bwMode="auto">
          <a:xfrm>
            <a:off x="539552" y="3642583"/>
            <a:ext cx="3888432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算术运算符：+、-、*、/、//、%、**</a:t>
            </a:r>
          </a:p>
          <a:p>
            <a:pPr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关系运算符：&gt;、&lt;、==、&lt;=、&gt;=、!=</a:t>
            </a:r>
          </a:p>
          <a:p>
            <a:pPr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测试运算符：in、not in、is、is not</a:t>
            </a:r>
          </a:p>
          <a:p>
            <a:pPr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逻辑运算符：and、or、not</a:t>
            </a:r>
            <a:endParaRPr lang="en-US" altLang="zh-CN" sz="1500" b="1" dirty="0">
              <a:latin typeface="宋体" panose="02010600030101010101" pitchFamily="2" charset="-122"/>
              <a:ea typeface="+mn-ea"/>
              <a:sym typeface="Arial" panose="020B0604020202020204" pitchFamily="34" charset="0"/>
            </a:endParaRPr>
          </a:p>
          <a:p>
            <a:pPr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位运算符：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~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、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&amp;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、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|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、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^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、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&lt;&lt;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、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&gt;&gt;</a:t>
            </a:r>
          </a:p>
          <a:p>
            <a:pPr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矩阵乘法运算符：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  <a:sym typeface="Arial" panose="020B0604020202020204" pitchFamily="34" charset="0"/>
              </a:rPr>
              <a:t>@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9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1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2" name="图片 11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13" name="文本框 12"/>
          <p:cNvSpPr txBox="1"/>
          <p:nvPr/>
        </p:nvSpPr>
        <p:spPr>
          <a:xfrm>
            <a:off x="-2160" y="6317828"/>
            <a:ext cx="846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</a:rPr>
              <a:t>注：</a:t>
            </a:r>
            <a:r>
              <a:rPr lang="en-US" altLang="zh-CN" sz="1200" dirty="0">
                <a:solidFill>
                  <a:srgbClr val="0000FF"/>
                </a:solidFill>
              </a:rPr>
              <a:t>slides</a:t>
            </a:r>
            <a:r>
              <a:rPr lang="zh-CN" altLang="en-US" sz="1200" dirty="0">
                <a:solidFill>
                  <a:srgbClr val="0000FF"/>
                </a:solidFill>
              </a:rPr>
              <a:t>参考：</a:t>
            </a:r>
            <a:r>
              <a:rPr lang="zh-CN" altLang="zh-CN" sz="1200" dirty="0">
                <a:solidFill>
                  <a:srgbClr val="0000FF"/>
                </a:solidFill>
              </a:rPr>
              <a:t>董付国</a:t>
            </a:r>
            <a:r>
              <a:rPr lang="en-US" altLang="zh-CN" sz="1200" dirty="0">
                <a:solidFill>
                  <a:srgbClr val="0000FF"/>
                </a:solidFill>
              </a:rPr>
              <a:t>. </a:t>
            </a:r>
            <a:r>
              <a:rPr lang="zh-CN" altLang="zh-CN" sz="1200" dirty="0">
                <a:solidFill>
                  <a:srgbClr val="0000FF"/>
                </a:solidFill>
              </a:rPr>
              <a:t>《</a:t>
            </a:r>
            <a:r>
              <a:rPr lang="en-US" altLang="zh-CN" sz="1200" dirty="0">
                <a:solidFill>
                  <a:srgbClr val="0000FF"/>
                </a:solidFill>
              </a:rPr>
              <a:t>Python</a:t>
            </a:r>
            <a:r>
              <a:rPr lang="zh-CN" altLang="zh-CN" sz="1200" dirty="0">
                <a:solidFill>
                  <a:srgbClr val="0000FF"/>
                </a:solidFill>
              </a:rPr>
              <a:t>程序设计》</a:t>
            </a:r>
            <a:r>
              <a:rPr lang="en-US" altLang="zh-CN" sz="1200" dirty="0">
                <a:solidFill>
                  <a:srgbClr val="0000FF"/>
                </a:solidFill>
              </a:rPr>
              <a:t>(</a:t>
            </a:r>
            <a:r>
              <a:rPr lang="zh-CN" altLang="zh-CN" sz="1200" dirty="0">
                <a:solidFill>
                  <a:srgbClr val="0000FF"/>
                </a:solidFill>
              </a:rPr>
              <a:t>第</a:t>
            </a:r>
            <a:r>
              <a:rPr lang="en-US" altLang="zh-CN" sz="1200" dirty="0">
                <a:solidFill>
                  <a:srgbClr val="0000FF"/>
                </a:solidFill>
              </a:rPr>
              <a:t>2</a:t>
            </a:r>
            <a:r>
              <a:rPr lang="zh-CN" altLang="zh-CN" sz="1200" dirty="0">
                <a:solidFill>
                  <a:srgbClr val="0000FF"/>
                </a:solidFill>
              </a:rPr>
              <a:t>版</a:t>
            </a:r>
            <a:r>
              <a:rPr lang="en-US" altLang="zh-CN" sz="1200" dirty="0">
                <a:solidFill>
                  <a:srgbClr val="0000FF"/>
                </a:solidFill>
              </a:rPr>
              <a:t>). </a:t>
            </a:r>
            <a:r>
              <a:rPr lang="zh-CN" altLang="zh-CN" sz="1200" dirty="0">
                <a:solidFill>
                  <a:srgbClr val="0000FF"/>
                </a:solidFill>
              </a:rPr>
              <a:t>清华大学出版社</a:t>
            </a:r>
            <a:r>
              <a:rPr lang="en-US" altLang="zh-CN" sz="1200" dirty="0">
                <a:solidFill>
                  <a:srgbClr val="0000FF"/>
                </a:solidFill>
              </a:rPr>
              <a:t>, 2018.</a:t>
            </a:r>
            <a:endParaRPr lang="zh-CN" altLang="zh-CN" sz="1200" dirty="0">
              <a:solidFill>
                <a:srgbClr val="0000FF"/>
              </a:solidFill>
            </a:endParaRPr>
          </a:p>
          <a:p>
            <a:endParaRPr lang="zh-CN" altLang="en-US" sz="1200" dirty="0">
              <a:solidFill>
                <a:srgbClr val="0000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297F99-A538-48B0-B5E0-27115327A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066981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占位符 19458"/>
          <p:cNvSpPr>
            <a:spLocks noGrp="1"/>
          </p:cNvSpPr>
          <p:nvPr>
            <p:ph idx="1"/>
          </p:nvPr>
        </p:nvSpPr>
        <p:spPr>
          <a:xfrm>
            <a:off x="3851920" y="1809115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i = s = 0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while i &lt;= 10: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使用关系表达式作为条件表达式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s += i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    i += 1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print(s)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55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i = s = 0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while True: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使用常量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True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作为条件表达式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s += i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    i += 1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    if i &gt; 10: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		break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print(s)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55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s = 0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for i in range(0, 11, 1):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遍历迭代对象中的所有元素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    s += </a:t>
            </a:r>
            <a:r>
              <a:rPr lang="en-US" altLang="zh-CN" sz="1400" dirty="0" err="1">
                <a:latin typeface="Consolas" panose="020B0609020204030204" charset="0"/>
                <a:ea typeface="+mn-ea"/>
              </a:rPr>
              <a:t>i</a:t>
            </a:r>
            <a:endParaRPr lang="en-US" altLang="zh-CN" sz="140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print(s)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55</a:t>
            </a:r>
          </a:p>
        </p:txBody>
      </p:sp>
      <p:sp>
        <p:nvSpPr>
          <p:cNvPr id="4" name="文本占位符 18434"/>
          <p:cNvSpPr txBox="1">
            <a:spLocks/>
          </p:cNvSpPr>
          <p:nvPr/>
        </p:nvSpPr>
        <p:spPr bwMode="auto">
          <a:xfrm>
            <a:off x="251520" y="1916832"/>
            <a:ext cx="36004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if 3: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使用整数作为条件表达式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	    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print(5)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5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a = [1, 2, 3]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if a: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使用列表作为条件表达式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	    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print(a)	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[1, 2, 3]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a = []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&gt;&gt;&gt; if a: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	    print(a)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else: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    print('empty')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endParaRPr lang="en-US" altLang="zh-CN" sz="140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empty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5771965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条件表达式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</a:rPr>
              <a:t>Conditional Expression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)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1" name="图片 10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952B69-F671-4527-940D-E8881C46D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44048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Content Placeholder 2"/>
          <p:cNvSpPr>
            <a:spLocks noGrp="1"/>
          </p:cNvSpPr>
          <p:nvPr>
            <p:ph idx="1"/>
          </p:nvPr>
        </p:nvSpPr>
        <p:spPr>
          <a:xfrm>
            <a:off x="577226" y="1555168"/>
            <a:ext cx="7263765" cy="3395345"/>
          </a:xfrm>
        </p:spPr>
        <p:txBody>
          <a:bodyPr anchor="t"/>
          <a:lstStyle/>
          <a:p>
            <a:pPr eaLnBrk="1" latinLnBrk="0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800" dirty="0">
                <a:latin typeface="+mn-lt"/>
                <a:ea typeface="+mn-ea"/>
              </a:rPr>
              <a:t>逻辑运算符</a:t>
            </a:r>
            <a:r>
              <a:rPr lang="en-US" altLang="zh-CN" sz="1800" dirty="0">
                <a:latin typeface="+mn-lt"/>
                <a:ea typeface="+mn-ea"/>
              </a:rPr>
              <a:t>and</a:t>
            </a:r>
            <a:r>
              <a:rPr lang="zh-CN" altLang="en-US" sz="1800" dirty="0">
                <a:latin typeface="+mn-lt"/>
                <a:ea typeface="+mn-ea"/>
              </a:rPr>
              <a:t>和</a:t>
            </a:r>
            <a:r>
              <a:rPr lang="en-US" altLang="zh-CN" sz="1800" dirty="0">
                <a:latin typeface="+mn-lt"/>
                <a:ea typeface="+mn-ea"/>
              </a:rPr>
              <a:t>or</a:t>
            </a:r>
            <a:r>
              <a:rPr lang="zh-CN" altLang="en-US" sz="1800" dirty="0">
                <a:latin typeface="+mn-lt"/>
                <a:ea typeface="+mn-ea"/>
              </a:rPr>
              <a:t>以及关系运算符具有惰性求值特点，</a:t>
            </a:r>
            <a:r>
              <a:rPr lang="zh-CN" altLang="en-US" sz="1800" dirty="0">
                <a:solidFill>
                  <a:srgbClr val="FF0000"/>
                </a:solidFill>
                <a:latin typeface="+mn-lt"/>
                <a:ea typeface="+mn-ea"/>
              </a:rPr>
              <a:t>只计算必须计算的表达式</a:t>
            </a:r>
            <a:r>
              <a:rPr lang="zh-CN" altLang="en-US" sz="1800" dirty="0">
                <a:latin typeface="+mn-lt"/>
                <a:ea typeface="+mn-ea"/>
              </a:rPr>
              <a:t>。</a:t>
            </a:r>
          </a:p>
        </p:txBody>
      </p:sp>
      <p:grpSp>
        <p:nvGrpSpPr>
          <p:cNvPr id="3" name="画布 207"/>
          <p:cNvGrpSpPr/>
          <p:nvPr/>
        </p:nvGrpSpPr>
        <p:grpSpPr>
          <a:xfrm>
            <a:off x="950256" y="2276872"/>
            <a:ext cx="7209790" cy="2185035"/>
            <a:chOff x="0" y="0"/>
            <a:chExt cx="7430" cy="3007"/>
          </a:xfrm>
        </p:grpSpPr>
        <p:sp>
          <p:nvSpPr>
            <p:cNvPr id="4" name="Rectangle 1073743895"/>
            <p:cNvSpPr/>
            <p:nvPr/>
          </p:nvSpPr>
          <p:spPr>
            <a:xfrm>
              <a:off x="0" y="0"/>
              <a:ext cx="7430" cy="300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直接连接符 208"/>
            <p:cNvSpPr/>
            <p:nvPr/>
          </p:nvSpPr>
          <p:spPr>
            <a:xfrm>
              <a:off x="103" y="1625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直接连接符 209"/>
            <p:cNvSpPr/>
            <p:nvPr/>
          </p:nvSpPr>
          <p:spPr>
            <a:xfrm>
              <a:off x="193" y="1730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直接连接符 210"/>
            <p:cNvSpPr/>
            <p:nvPr/>
          </p:nvSpPr>
          <p:spPr>
            <a:xfrm>
              <a:off x="302" y="1745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直接连接符 211"/>
            <p:cNvSpPr/>
            <p:nvPr/>
          </p:nvSpPr>
          <p:spPr>
            <a:xfrm flipV="1">
              <a:off x="302" y="665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直接连接符 212"/>
            <p:cNvSpPr/>
            <p:nvPr/>
          </p:nvSpPr>
          <p:spPr>
            <a:xfrm>
              <a:off x="332" y="690"/>
              <a:ext cx="390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椭圆 213"/>
            <p:cNvSpPr/>
            <p:nvPr/>
          </p:nvSpPr>
          <p:spPr>
            <a:xfrm>
              <a:off x="722" y="380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直接连接符 214"/>
            <p:cNvSpPr/>
            <p:nvPr/>
          </p:nvSpPr>
          <p:spPr>
            <a:xfrm>
              <a:off x="788" y="47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215"/>
            <p:cNvSpPr/>
            <p:nvPr/>
          </p:nvSpPr>
          <p:spPr>
            <a:xfrm flipH="1">
              <a:off x="788" y="47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216"/>
            <p:cNvSpPr/>
            <p:nvPr/>
          </p:nvSpPr>
          <p:spPr>
            <a:xfrm>
              <a:off x="1277" y="695"/>
              <a:ext cx="690" cy="22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直接连接符 217"/>
            <p:cNvSpPr/>
            <p:nvPr/>
          </p:nvSpPr>
          <p:spPr>
            <a:xfrm>
              <a:off x="1952" y="695"/>
              <a:ext cx="0" cy="3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直接连接符 218"/>
            <p:cNvSpPr/>
            <p:nvPr/>
          </p:nvSpPr>
          <p:spPr>
            <a:xfrm>
              <a:off x="1592" y="1040"/>
              <a:ext cx="690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直接连接符 219"/>
            <p:cNvSpPr/>
            <p:nvPr/>
          </p:nvSpPr>
          <p:spPr>
            <a:xfrm>
              <a:off x="1562" y="1025"/>
              <a:ext cx="0" cy="37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直接连接符 220"/>
            <p:cNvSpPr/>
            <p:nvPr/>
          </p:nvSpPr>
          <p:spPr>
            <a:xfrm>
              <a:off x="2267" y="1040"/>
              <a:ext cx="0" cy="40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直接连接符 221"/>
            <p:cNvSpPr/>
            <p:nvPr/>
          </p:nvSpPr>
          <p:spPr>
            <a:xfrm>
              <a:off x="1562" y="1385"/>
              <a:ext cx="225" cy="49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直接连接符 222"/>
            <p:cNvSpPr/>
            <p:nvPr/>
          </p:nvSpPr>
          <p:spPr>
            <a:xfrm>
              <a:off x="2267" y="1415"/>
              <a:ext cx="210" cy="40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直接连接符 223"/>
            <p:cNvSpPr/>
            <p:nvPr/>
          </p:nvSpPr>
          <p:spPr>
            <a:xfrm flipH="1">
              <a:off x="1562" y="1820"/>
              <a:ext cx="15" cy="72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直接连接符 224"/>
            <p:cNvSpPr/>
            <p:nvPr/>
          </p:nvSpPr>
          <p:spPr>
            <a:xfrm>
              <a:off x="2267" y="1761"/>
              <a:ext cx="0" cy="76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直接连接符 225"/>
            <p:cNvSpPr/>
            <p:nvPr/>
          </p:nvSpPr>
          <p:spPr>
            <a:xfrm>
              <a:off x="302" y="2526"/>
              <a:ext cx="196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文本框 226"/>
            <p:cNvSpPr/>
            <p:nvPr/>
          </p:nvSpPr>
          <p:spPr>
            <a:xfrm>
              <a:off x="1172" y="330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文本框 227"/>
            <p:cNvSpPr/>
            <p:nvPr/>
          </p:nvSpPr>
          <p:spPr>
            <a:xfrm>
              <a:off x="2263" y="1198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K2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文本框 228"/>
            <p:cNvSpPr/>
            <p:nvPr/>
          </p:nvSpPr>
          <p:spPr>
            <a:xfrm>
              <a:off x="1513" y="121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K1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直接连接符 208"/>
            <p:cNvSpPr/>
            <p:nvPr/>
          </p:nvSpPr>
          <p:spPr>
            <a:xfrm>
              <a:off x="2820" y="1565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直接连接符 209"/>
            <p:cNvSpPr/>
            <p:nvPr/>
          </p:nvSpPr>
          <p:spPr>
            <a:xfrm>
              <a:off x="2910" y="1670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直接连接符 210"/>
            <p:cNvSpPr/>
            <p:nvPr/>
          </p:nvSpPr>
          <p:spPr>
            <a:xfrm>
              <a:off x="3019" y="1685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直接连接符 211"/>
            <p:cNvSpPr/>
            <p:nvPr/>
          </p:nvSpPr>
          <p:spPr>
            <a:xfrm flipV="1">
              <a:off x="3019" y="605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直接连接符 212"/>
            <p:cNvSpPr/>
            <p:nvPr/>
          </p:nvSpPr>
          <p:spPr>
            <a:xfrm>
              <a:off x="3002" y="630"/>
              <a:ext cx="437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椭圆 213"/>
            <p:cNvSpPr/>
            <p:nvPr/>
          </p:nvSpPr>
          <p:spPr>
            <a:xfrm>
              <a:off x="3439" y="320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直接连接符 214"/>
            <p:cNvSpPr/>
            <p:nvPr/>
          </p:nvSpPr>
          <p:spPr>
            <a:xfrm>
              <a:off x="3505" y="41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直接连接符 215"/>
            <p:cNvSpPr/>
            <p:nvPr/>
          </p:nvSpPr>
          <p:spPr>
            <a:xfrm flipH="1">
              <a:off x="3505" y="41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直接连接符 216"/>
            <p:cNvSpPr/>
            <p:nvPr/>
          </p:nvSpPr>
          <p:spPr>
            <a:xfrm>
              <a:off x="3979" y="635"/>
              <a:ext cx="1245" cy="1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直接连接符 225"/>
            <p:cNvSpPr/>
            <p:nvPr/>
          </p:nvSpPr>
          <p:spPr>
            <a:xfrm>
              <a:off x="3019" y="2490"/>
              <a:ext cx="585" cy="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文本框 227"/>
            <p:cNvSpPr/>
            <p:nvPr/>
          </p:nvSpPr>
          <p:spPr>
            <a:xfrm>
              <a:off x="3525" y="187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K1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文本框 228"/>
            <p:cNvSpPr/>
            <p:nvPr/>
          </p:nvSpPr>
          <p:spPr>
            <a:xfrm>
              <a:off x="4260" y="1918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K2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直接连接符 269"/>
            <p:cNvSpPr/>
            <p:nvPr/>
          </p:nvSpPr>
          <p:spPr>
            <a:xfrm flipV="1">
              <a:off x="3604" y="2283"/>
              <a:ext cx="330" cy="2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直接连接符 270"/>
            <p:cNvSpPr/>
            <p:nvPr/>
          </p:nvSpPr>
          <p:spPr>
            <a:xfrm>
              <a:off x="3844" y="2493"/>
              <a:ext cx="600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直接连接符 271"/>
            <p:cNvSpPr/>
            <p:nvPr/>
          </p:nvSpPr>
          <p:spPr>
            <a:xfrm flipV="1">
              <a:off x="4429" y="2283"/>
              <a:ext cx="285" cy="21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直接连接符 272"/>
            <p:cNvSpPr/>
            <p:nvPr/>
          </p:nvSpPr>
          <p:spPr>
            <a:xfrm>
              <a:off x="4639" y="2493"/>
              <a:ext cx="58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直接连接符 273"/>
            <p:cNvSpPr/>
            <p:nvPr/>
          </p:nvSpPr>
          <p:spPr>
            <a:xfrm flipV="1">
              <a:off x="5209" y="633"/>
              <a:ext cx="0" cy="18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直接连接符 208"/>
            <p:cNvSpPr/>
            <p:nvPr/>
          </p:nvSpPr>
          <p:spPr>
            <a:xfrm>
              <a:off x="5370" y="1490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直接连接符 209"/>
            <p:cNvSpPr/>
            <p:nvPr/>
          </p:nvSpPr>
          <p:spPr>
            <a:xfrm>
              <a:off x="5460" y="1685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直接连接符 210"/>
            <p:cNvSpPr/>
            <p:nvPr/>
          </p:nvSpPr>
          <p:spPr>
            <a:xfrm>
              <a:off x="5569" y="1700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直接连接符 211"/>
            <p:cNvSpPr/>
            <p:nvPr/>
          </p:nvSpPr>
          <p:spPr>
            <a:xfrm flipV="1">
              <a:off x="5569" y="620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直接连接符 212"/>
            <p:cNvSpPr/>
            <p:nvPr/>
          </p:nvSpPr>
          <p:spPr>
            <a:xfrm>
              <a:off x="5569" y="660"/>
              <a:ext cx="810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椭圆 213"/>
            <p:cNvSpPr/>
            <p:nvPr/>
          </p:nvSpPr>
          <p:spPr>
            <a:xfrm>
              <a:off x="6379" y="335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直接连接符 214"/>
            <p:cNvSpPr/>
            <p:nvPr/>
          </p:nvSpPr>
          <p:spPr>
            <a:xfrm>
              <a:off x="6445" y="427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直接连接符 215"/>
            <p:cNvSpPr/>
            <p:nvPr/>
          </p:nvSpPr>
          <p:spPr>
            <a:xfrm flipH="1">
              <a:off x="6445" y="427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直接连接符 216"/>
            <p:cNvSpPr/>
            <p:nvPr/>
          </p:nvSpPr>
          <p:spPr>
            <a:xfrm>
              <a:off x="6932" y="630"/>
              <a:ext cx="482" cy="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文本框 227"/>
            <p:cNvSpPr/>
            <p:nvPr/>
          </p:nvSpPr>
          <p:spPr>
            <a:xfrm>
              <a:off x="6150" y="109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直接连接符 290"/>
            <p:cNvSpPr/>
            <p:nvPr/>
          </p:nvSpPr>
          <p:spPr>
            <a:xfrm>
              <a:off x="5567" y="2505"/>
              <a:ext cx="184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直接连接符 291"/>
            <p:cNvSpPr/>
            <p:nvPr/>
          </p:nvSpPr>
          <p:spPr>
            <a:xfrm flipV="1">
              <a:off x="7399" y="648"/>
              <a:ext cx="0" cy="18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直接连接符 292"/>
            <p:cNvSpPr/>
            <p:nvPr/>
          </p:nvSpPr>
          <p:spPr>
            <a:xfrm>
              <a:off x="6122" y="660"/>
              <a:ext cx="0" cy="57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直接连接符 293"/>
            <p:cNvSpPr/>
            <p:nvPr/>
          </p:nvSpPr>
          <p:spPr>
            <a:xfrm>
              <a:off x="6122" y="1560"/>
              <a:ext cx="0" cy="9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直接连接符 294"/>
            <p:cNvSpPr/>
            <p:nvPr/>
          </p:nvSpPr>
          <p:spPr>
            <a:xfrm>
              <a:off x="6122" y="1185"/>
              <a:ext cx="240" cy="37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文本框 295"/>
            <p:cNvSpPr/>
            <p:nvPr/>
          </p:nvSpPr>
          <p:spPr>
            <a:xfrm>
              <a:off x="3883" y="328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文本框 296"/>
            <p:cNvSpPr/>
            <p:nvPr/>
          </p:nvSpPr>
          <p:spPr>
            <a:xfrm>
              <a:off x="6808" y="238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文本框 297"/>
            <p:cNvSpPr/>
            <p:nvPr/>
          </p:nvSpPr>
          <p:spPr>
            <a:xfrm>
              <a:off x="272" y="2636"/>
              <a:ext cx="2085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（1）or，并联电路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文本框 299"/>
            <p:cNvSpPr/>
            <p:nvPr/>
          </p:nvSpPr>
          <p:spPr>
            <a:xfrm>
              <a:off x="3058" y="2636"/>
              <a:ext cx="2085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（2）and，串联电路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文本框 300"/>
            <p:cNvSpPr/>
            <p:nvPr/>
          </p:nvSpPr>
          <p:spPr>
            <a:xfrm>
              <a:off x="5473" y="2636"/>
              <a:ext cx="1816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lstStyle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（3）not，短路</a:t>
              </a: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6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5771965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条件表达式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</a:rPr>
              <a:t>Conditional Expression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)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68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7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71" name="图片 70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72" name="文本占位符 20482"/>
          <p:cNvSpPr txBox="1">
            <a:spLocks/>
          </p:cNvSpPr>
          <p:nvPr/>
        </p:nvSpPr>
        <p:spPr bwMode="auto">
          <a:xfrm>
            <a:off x="652860" y="4666821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以“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and”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为例，对于表达式“表达式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1 and 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表达式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2”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而言，如果“表达式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1”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的值为“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False”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或其他等价值时，不论“表达式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2”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的值是什么，整个表达式的值都是“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False”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，此时“表达式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2”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的值无论是什么都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不影响整个表达式的值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，因此将不会被计算，从而减少不必要的计算和判断。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4F88E2-DC26-4CD3-B260-48C01174B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6151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文本占位符 2150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lang="zh-CN" altLang="en-US" sz="2000" noProof="1">
                <a:latin typeface="宋体" panose="02010600030101010101" pitchFamily="2" charset="-122"/>
                <a:ea typeface="+mn-ea"/>
              </a:rPr>
              <a:t>在设计条件表达式时，如果能够大概</a:t>
            </a:r>
            <a:r>
              <a:rPr lang="zh-CN" altLang="en-US" sz="200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预测不同条件失败的概率</a:t>
            </a:r>
            <a:r>
              <a:rPr lang="zh-CN" altLang="en-US" sz="2000" noProof="1">
                <a:latin typeface="宋体" panose="02010600030101010101" pitchFamily="2" charset="-122"/>
                <a:ea typeface="+mn-ea"/>
              </a:rPr>
              <a:t>，并将多个条件根据“and”和“or”运算的短路求值特性来组织</a:t>
            </a:r>
            <a:r>
              <a:rPr lang="zh-CN" altLang="en-US" sz="200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先后顺序</a:t>
            </a:r>
            <a:r>
              <a:rPr lang="zh-CN" altLang="en-US" sz="2000" noProof="1">
                <a:latin typeface="宋体" panose="02010600030101010101" pitchFamily="2" charset="-122"/>
                <a:ea typeface="+mn-ea"/>
              </a:rPr>
              <a:t>，可以大幅度提高程序运行效率。</a:t>
            </a:r>
            <a:endParaRPr lang="en-US" altLang="zh-CN" sz="2000" noProof="1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文本占位符 22530"/>
          <p:cNvSpPr txBox="1">
            <a:spLocks/>
          </p:cNvSpPr>
          <p:nvPr/>
        </p:nvSpPr>
        <p:spPr bwMode="auto">
          <a:xfrm>
            <a:off x="539552" y="2996952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lang="zh-CN" altLang="en-US" sz="2000" noProof="1">
                <a:latin typeface="宋体" panose="02010600030101010101" pitchFamily="2" charset="-122"/>
                <a:ea typeface="+mn-ea"/>
              </a:rPr>
              <a:t>在</a:t>
            </a:r>
            <a:r>
              <a:rPr lang="en-US" altLang="zh-CN" sz="2000" noProof="1">
                <a:latin typeface="宋体" panose="02010600030101010101" pitchFamily="2" charset="-122"/>
                <a:ea typeface="+mn-ea"/>
              </a:rPr>
              <a:t>Python</a:t>
            </a:r>
            <a:r>
              <a:rPr lang="zh-CN" altLang="en-US" sz="2000" noProof="1">
                <a:latin typeface="宋体" panose="02010600030101010101" pitchFamily="2" charset="-122"/>
                <a:ea typeface="+mn-ea"/>
              </a:rPr>
              <a:t>中，</a:t>
            </a:r>
            <a:r>
              <a:rPr lang="zh-CN" altLang="en-US" sz="200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条件表达式中不允许使用赋值运算符“</a:t>
            </a:r>
            <a:r>
              <a:rPr lang="en-US" altLang="zh-CN" sz="200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=”</a:t>
            </a:r>
            <a:r>
              <a:rPr lang="zh-CN" altLang="en-US" sz="200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。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endParaRPr lang="zh-CN" altLang="en-US" sz="1800" noProof="1">
              <a:latin typeface="宋体" panose="02010600030101010101" pitchFamily="2" charset="-122"/>
              <a:ea typeface="+mn-ea"/>
            </a:endParaRP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&gt;&gt;&gt; if a=3: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SyntaxError: invalid syntax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&gt;&gt;&gt; if (a=3) and (b=4):	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SyntaxError: invalid syntax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6" y="903089"/>
            <a:ext cx="5771965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</a:rPr>
              <a:t>条件表达式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</a:rPr>
              <a:t>Conditional Expression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</a:rPr>
              <a:t>)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9552" y="116632"/>
            <a:ext cx="4946839" cy="684042"/>
            <a:chOff x="958665" y="1326432"/>
            <a:chExt cx="4946839" cy="684042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1674356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程序的基本结构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1" name="图片 10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D157E6-3F6A-4A9D-AD2A-0EDE7788B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2511287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占位符 23554"/>
          <p:cNvSpPr>
            <a:spLocks noGrp="1"/>
          </p:cNvSpPr>
          <p:nvPr>
            <p:ph idx="1"/>
          </p:nvPr>
        </p:nvSpPr>
        <p:spPr>
          <a:xfrm>
            <a:off x="914400" y="1566189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1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0000"/>
                </a:solidFill>
              </a:rPr>
              <a:t>if</a:t>
            </a:r>
            <a:r>
              <a:rPr lang="en-US" altLang="zh-CN" sz="2000" b="1" dirty="0"/>
              <a:t>  &lt;</a:t>
            </a:r>
            <a:r>
              <a:rPr lang="zh-CN" altLang="en-US" sz="2000" b="1" dirty="0"/>
              <a:t>表达式</a:t>
            </a:r>
            <a:r>
              <a:rPr lang="en-US" altLang="zh-CN" sz="2000" b="1" dirty="0"/>
              <a:t>&gt;:</a:t>
            </a:r>
          </a:p>
          <a:p>
            <a:pPr>
              <a:lnSpc>
                <a:spcPct val="9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2000" b="1" dirty="0"/>
              <a:t>          &lt;</a:t>
            </a:r>
            <a:r>
              <a:rPr lang="zh-CN" altLang="en-US" sz="2000" b="1" dirty="0"/>
              <a:t>语句块</a:t>
            </a:r>
            <a:r>
              <a:rPr lang="en-US" altLang="zh-CN" sz="2000" b="1" dirty="0"/>
              <a:t>&gt;</a:t>
            </a:r>
            <a:endParaRPr lang="zh-CN" altLang="en-US" sz="2000" b="1" dirty="0"/>
          </a:p>
          <a:p>
            <a:pPr>
              <a:lnSpc>
                <a:spcPct val="90000"/>
              </a:lnSpc>
              <a:spcBef>
                <a:spcPts val="100"/>
              </a:spcBef>
              <a:buSzPct val="70000"/>
              <a:buNone/>
            </a:pPr>
            <a:endParaRPr lang="zh-CN" altLang="en-US" sz="1500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90000"/>
              </a:lnSpc>
              <a:spcBef>
                <a:spcPts val="1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x = input('Input two number:')</a:t>
            </a:r>
          </a:p>
          <a:p>
            <a:pPr>
              <a:lnSpc>
                <a:spcPct val="9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a, b = map(int, x.split())</a:t>
            </a:r>
          </a:p>
          <a:p>
            <a:pPr>
              <a:lnSpc>
                <a:spcPct val="9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if a &gt; b:</a:t>
            </a:r>
          </a:p>
          <a:p>
            <a:pPr>
              <a:lnSpc>
                <a:spcPct val="9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    a, b = b, a        </a:t>
            </a:r>
            <a:endParaRPr lang="zh-CN" altLang="en-US" sz="1350" dirty="0">
              <a:solidFill>
                <a:srgbClr val="0000FF"/>
              </a:solidFill>
              <a:latin typeface="Consolas" panose="020B0609020204030204" charset="0"/>
              <a:ea typeface="+mn-ea"/>
            </a:endParaRPr>
          </a:p>
          <a:p>
            <a:pPr>
              <a:lnSpc>
                <a:spcPct val="90000"/>
              </a:lnSpc>
              <a:spcBef>
                <a:spcPts val="100"/>
              </a:spcBef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    print(a, b)</a:t>
            </a:r>
          </a:p>
        </p:txBody>
      </p:sp>
      <p:graphicFrame>
        <p:nvGraphicFramePr>
          <p:cNvPr id="25603" name="Object -2147482619"/>
          <p:cNvGraphicFramePr/>
          <p:nvPr>
            <p:extLst>
              <p:ext uri="{D42A27DB-BD31-4B8C-83A1-F6EECF244321}">
                <p14:modId xmlns:p14="http://schemas.microsoft.com/office/powerpoint/2010/main" val="2857633948"/>
              </p:ext>
            </p:extLst>
          </p:nvPr>
        </p:nvGraphicFramePr>
        <p:xfrm>
          <a:off x="5796136" y="1405746"/>
          <a:ext cx="2094676" cy="2476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r:id="rId3" imgW="2381250" imgH="3064510" progId="Visio.Drawing.11">
                  <p:embed/>
                </p:oleObj>
              </mc:Choice>
              <mc:Fallback>
                <p:oleObj r:id="rId3" imgW="2381250" imgH="3064510" progId="Visio.Drawing.11">
                  <p:embed/>
                  <p:pic>
                    <p:nvPicPr>
                      <p:cNvPr id="25603" name="Object -21474826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6136" y="1405746"/>
                        <a:ext cx="2094676" cy="247693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114"/>
          <p:cNvGrpSpPr/>
          <p:nvPr/>
        </p:nvGrpSpPr>
        <p:grpSpPr>
          <a:xfrm>
            <a:off x="516206" y="113695"/>
            <a:ext cx="6504066" cy="662730"/>
            <a:chOff x="933887" y="3380765"/>
            <a:chExt cx="6504066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3887" y="3380765"/>
              <a:ext cx="6504066" cy="662730"/>
              <a:chOff x="933887" y="3380765"/>
              <a:chExt cx="6504066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1212913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分支结构 </a:t>
                </a:r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(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选择结构）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51111"/>
            <a:ext cx="5589222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itchFamily="18" charset="0"/>
                <a:ea typeface="仿宋" panose="02010609060101010101" pitchFamily="49" charset="-122"/>
              </a:rPr>
              <a:t>单分支结构</a:t>
            </a:r>
            <a:r>
              <a:rPr lang="en-US" altLang="zh-CN" sz="2400" b="1" dirty="0">
                <a:latin typeface="Times New Roman" pitchFamily="18" charset="0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</a:rPr>
              <a:t>Single Branch Structure</a:t>
            </a:r>
            <a:r>
              <a:rPr lang="en-US" altLang="zh-CN" sz="2400" b="1" dirty="0">
                <a:latin typeface="Times New Roman" pitchFamily="18" charset="0"/>
                <a:ea typeface="仿宋" panose="02010609060101010101" pitchFamily="49" charset="-122"/>
              </a:rPr>
              <a:t>)</a:t>
            </a:r>
            <a:endParaRPr lang="zh-CN" altLang="en-US" sz="24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graphicFrame>
        <p:nvGraphicFramePr>
          <p:cNvPr id="10" name="Object -21474826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336642"/>
              </p:ext>
            </p:extLst>
          </p:nvPr>
        </p:nvGraphicFramePr>
        <p:xfrm>
          <a:off x="5496068" y="3774533"/>
          <a:ext cx="2412628" cy="263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r:id="rId6" imgW="3255645" imgH="3547110" progId="Visio.Drawing.11">
                  <p:embed/>
                </p:oleObj>
              </mc:Choice>
              <mc:Fallback>
                <p:oleObj r:id="rId6" imgW="3255645" imgH="3547110" progId="Visio.Drawing.11">
                  <p:embed/>
                  <p:pic>
                    <p:nvPicPr>
                      <p:cNvPr id="26627" name="Object -21474826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068" y="3774533"/>
                        <a:ext cx="2412628" cy="263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971600" y="4459402"/>
            <a:ext cx="4572000" cy="14311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if</a:t>
            </a: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&lt;</a:t>
            </a: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表达式</a:t>
            </a: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&gt;:</a:t>
            </a:r>
          </a:p>
          <a:p>
            <a:pPr eaLnBrk="1" hangingPunct="1"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&lt;</a:t>
            </a: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语句块</a:t>
            </a: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1&gt;</a:t>
            </a:r>
          </a:p>
          <a:p>
            <a:pPr eaLnBrk="1" hangingPunct="1"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   else</a:t>
            </a: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:</a:t>
            </a:r>
          </a:p>
          <a:p>
            <a:pPr eaLnBrk="1" hangingPunct="1"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&lt;</a:t>
            </a: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语句块</a:t>
            </a: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2&gt;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3854165"/>
            <a:ext cx="5727081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itchFamily="18" charset="0"/>
                <a:ea typeface="仿宋" panose="02010609060101010101" pitchFamily="49" charset="-122"/>
              </a:rPr>
              <a:t>双分支结构</a:t>
            </a:r>
            <a:r>
              <a:rPr lang="en-US" altLang="zh-CN" sz="2400" b="1" dirty="0">
                <a:latin typeface="Times New Roman" pitchFamily="18" charset="0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</a:rPr>
              <a:t>Double Branch Structure</a:t>
            </a:r>
            <a:r>
              <a:rPr lang="en-US" altLang="zh-CN" sz="2400" b="1" dirty="0">
                <a:latin typeface="Times New Roman" pitchFamily="18" charset="0"/>
                <a:ea typeface="仿宋" panose="02010609060101010101" pitchFamily="49" charset="-122"/>
              </a:rPr>
              <a:t>)</a:t>
            </a:r>
            <a:endParaRPr lang="zh-CN" altLang="en-US" sz="24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25D7AB-6A05-4BF0-980E-AF95EC7B9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8683062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文本占位符 25602"/>
          <p:cNvSpPr>
            <a:spLocks noGrp="1"/>
          </p:cNvSpPr>
          <p:nvPr>
            <p:ph idx="1"/>
          </p:nvPr>
        </p:nvSpPr>
        <p:spPr>
          <a:xfrm>
            <a:off x="755576" y="1556792"/>
            <a:ext cx="8229600" cy="4678451"/>
          </a:xfrm>
        </p:spPr>
        <p:txBody>
          <a:bodyPr/>
          <a:lstStyle/>
          <a:p>
            <a:pPr marL="1905" indent="-34480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sz="2000" b="1" noProof="1">
                <a:latin typeface="Consolas" panose="020B0609020204030204" charset="0"/>
                <a:ea typeface="+mn-ea"/>
              </a:rPr>
              <a:t> value1 </a:t>
            </a:r>
            <a:r>
              <a:rPr lang="en-US" altLang="zh-CN" sz="2000" b="1" noProof="1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if</a:t>
            </a:r>
            <a:r>
              <a:rPr lang="en-US" altLang="zh-CN" sz="2000" b="1" noProof="1">
                <a:latin typeface="Consolas" panose="020B0609020204030204" charset="0"/>
                <a:ea typeface="+mn-ea"/>
              </a:rPr>
              <a:t> condition </a:t>
            </a:r>
            <a:r>
              <a:rPr lang="en-US" altLang="zh-CN" sz="2000" b="1" noProof="1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else</a:t>
            </a:r>
            <a:r>
              <a:rPr lang="en-US" altLang="zh-CN" sz="2000" b="1" noProof="1">
                <a:latin typeface="Consolas" panose="020B0609020204030204" charset="0"/>
                <a:ea typeface="+mn-ea"/>
              </a:rPr>
              <a:t> value2</a:t>
            </a:r>
          </a:p>
          <a:p>
            <a:pPr marL="401955" lvl="1" indent="-34480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zh-CN" altLang="en-US" sz="1800" b="1" noProof="1"/>
              <a:t>当条件表达式</a:t>
            </a:r>
            <a:r>
              <a:rPr lang="en-US" altLang="zh-CN" sz="1800" b="1" noProof="1"/>
              <a:t>condition</a:t>
            </a:r>
            <a:r>
              <a:rPr lang="zh-CN" altLang="en-US" sz="1800" b="1" noProof="1"/>
              <a:t>的值与</a:t>
            </a:r>
            <a:r>
              <a:rPr lang="en-US" altLang="zh-CN" sz="1800" b="1" noProof="1"/>
              <a:t>True</a:t>
            </a:r>
            <a:r>
              <a:rPr lang="zh-CN" altLang="en-US" sz="1800" b="1" noProof="1"/>
              <a:t>等价时，表达式的值为</a:t>
            </a:r>
            <a:r>
              <a:rPr lang="en-US" altLang="zh-CN" sz="1800" b="1" noProof="1"/>
              <a:t>value1</a:t>
            </a:r>
            <a:r>
              <a:rPr lang="zh-CN" altLang="en-US" sz="1800" b="1" noProof="1"/>
              <a:t>，否则表达式的值为</a:t>
            </a:r>
            <a:r>
              <a:rPr lang="en-US" altLang="zh-CN" sz="1800" b="1" noProof="1"/>
              <a:t>value2</a:t>
            </a:r>
            <a:r>
              <a:rPr lang="zh-CN" altLang="en-US" sz="1800" b="1" noProof="1"/>
              <a:t>；</a:t>
            </a:r>
            <a:endParaRPr lang="en-US" altLang="zh-CN" sz="1800" b="1" noProof="1"/>
          </a:p>
          <a:p>
            <a:pPr marL="401955" lvl="1" indent="-34480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zh-CN" altLang="en-US" sz="1800" b="1" noProof="1"/>
              <a:t>在</a:t>
            </a:r>
            <a:r>
              <a:rPr lang="en-US" altLang="zh-CN" sz="1800" b="1" noProof="1"/>
              <a:t>value1</a:t>
            </a:r>
            <a:r>
              <a:rPr lang="zh-CN" altLang="en-US" sz="1800" b="1" noProof="1"/>
              <a:t>和</a:t>
            </a:r>
            <a:r>
              <a:rPr lang="en-US" altLang="zh-CN" sz="1800" b="1" noProof="1"/>
              <a:t>value2</a:t>
            </a:r>
            <a:r>
              <a:rPr lang="zh-CN" altLang="en-US" sz="1800" b="1" noProof="1"/>
              <a:t>中还可以使用复杂表达式，包括函数调用和基本输出语句；</a:t>
            </a:r>
            <a:endParaRPr lang="en-US" altLang="zh-CN" sz="1800" b="1" noProof="1"/>
          </a:p>
          <a:p>
            <a:pPr marL="401955" lvl="1" indent="-34480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zh-CN" altLang="en-US" sz="1800" b="1" noProof="1"/>
              <a:t>这个结构的表达式也具有</a:t>
            </a:r>
            <a:r>
              <a:rPr lang="zh-CN" altLang="en-US" sz="1800" b="1" noProof="1">
                <a:solidFill>
                  <a:srgbClr val="FF0000"/>
                </a:solidFill>
              </a:rPr>
              <a:t>惰性求值</a:t>
            </a:r>
            <a:r>
              <a:rPr lang="zh-CN" altLang="en-US" sz="1800" b="1" noProof="1"/>
              <a:t>的特点。</a:t>
            </a: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30177"/>
            <a:ext cx="219322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itchFamily="18" charset="0"/>
                <a:ea typeface="仿宋" panose="02010609060101010101" pitchFamily="49" charset="-122"/>
              </a:rPr>
              <a:t>双分支结构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2123728" y="3896017"/>
            <a:ext cx="4572000" cy="171739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&gt;&gt;&gt; a = 5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&gt;&gt;&gt; print(6) if a&gt;3 else print(5)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6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&gt;&gt;&gt; print(6 if a&gt;3 else 5)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6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&gt;&gt;&gt; b = 6 if a&gt;13 else 9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&gt;&gt;&gt; b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9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E96F49-794C-40FE-859E-E45197D4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929430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占位符 26626"/>
          <p:cNvSpPr>
            <a:spLocks noGrp="1"/>
          </p:cNvSpPr>
          <p:nvPr>
            <p:ph idx="1"/>
          </p:nvPr>
        </p:nvSpPr>
        <p:spPr>
          <a:xfrm>
            <a:off x="727989" y="1628800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x = math.sqrt(9) if 5&gt;3 else random.randint(1, 100)</a:t>
            </a:r>
            <a:endParaRPr lang="zh-CN" altLang="en-US" sz="1600" dirty="0">
              <a:latin typeface="Consolas" panose="020B0609020204030204" charset="0"/>
              <a:ea typeface="+mn-ea"/>
            </a:endParaRP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NameError: name 'math' is not defined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  <a:sym typeface="Arial" panose="020B0604020202020204" pitchFamily="34" charset="0"/>
              </a:rPr>
              <a:t>#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  <a:sym typeface="Arial" panose="020B0604020202020204" pitchFamily="34" charset="0"/>
              </a:rPr>
              <a:t>此时还没有导入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  <a:sym typeface="Arial" panose="020B0604020202020204" pitchFamily="34" charset="0"/>
              </a:rPr>
              <a:t>math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  <a:sym typeface="Arial" panose="020B0604020202020204" pitchFamily="34" charset="0"/>
              </a:rPr>
              <a:t>模块</a:t>
            </a:r>
            <a:endParaRPr lang="en-US" altLang="zh-CN" sz="1600" dirty="0">
              <a:solidFill>
                <a:srgbClr val="0000FF"/>
              </a:solidFill>
              <a:latin typeface="Consolas" panose="020B0609020204030204" charset="0"/>
              <a:sym typeface="Arial" panose="020B0604020202020204" pitchFamily="34" charset="0"/>
            </a:endParaRPr>
          </a:p>
          <a:p>
            <a:pPr marL="1905" indent="-344805">
              <a:spcBef>
                <a:spcPts val="600"/>
              </a:spcBef>
              <a:buSzPct val="70000"/>
              <a:buNone/>
            </a:pPr>
            <a:endParaRPr lang="en-US" altLang="zh-CN" sz="1600" dirty="0">
              <a:solidFill>
                <a:srgbClr val="0000FF"/>
              </a:solidFill>
              <a:latin typeface="Consolas" panose="020B0609020204030204" charset="0"/>
            </a:endParaRP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import math</a:t>
            </a: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x = math.sqrt(9) if 5&gt;3 else random.randint(1,100) </a:t>
            </a: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#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此时还没有导入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random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模块，但由于条件表达式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5&gt;3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的值为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True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，所以可以正常运行</a:t>
            </a:r>
          </a:p>
          <a:p>
            <a:pPr marL="1905" indent="-344805">
              <a:spcBef>
                <a:spcPts val="600"/>
              </a:spcBef>
              <a:buSzPct val="70000"/>
              <a:buNone/>
            </a:pPr>
            <a:endParaRPr lang="en-US" altLang="zh-CN" sz="1600" dirty="0">
              <a:latin typeface="Consolas" panose="020B0609020204030204" charset="0"/>
              <a:ea typeface="+mn-ea"/>
            </a:endParaRP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x = math.sqrt(9) if 2&gt;3 else random.randint(1, 100)</a:t>
            </a: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NameError: name 'random' is not defined</a:t>
            </a: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#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此时还没有导入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random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模块，由于条件表达式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2&gt;3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的值为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</a:rPr>
              <a:t>False</a:t>
            </a:r>
            <a:r>
              <a:rPr lang="zh-CN" altLang="en-US" sz="1600" dirty="0">
                <a:solidFill>
                  <a:srgbClr val="0000FF"/>
                </a:solidFill>
                <a:latin typeface="Consolas" panose="020B0609020204030204" charset="0"/>
              </a:rPr>
              <a:t>，需要计算第二个表达式的值，因此出错</a:t>
            </a:r>
          </a:p>
          <a:p>
            <a:pPr marL="1905" indent="-344805">
              <a:spcBef>
                <a:spcPts val="600"/>
              </a:spcBef>
              <a:buSzPct val="70000"/>
              <a:buNone/>
            </a:pPr>
            <a:endParaRPr lang="en-US" altLang="zh-CN" sz="1600" dirty="0">
              <a:solidFill>
                <a:srgbClr val="FF0000"/>
              </a:solidFill>
              <a:latin typeface="Consolas" panose="020B0609020204030204" charset="0"/>
              <a:ea typeface="+mn-ea"/>
            </a:endParaRP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import random</a:t>
            </a:r>
          </a:p>
          <a:p>
            <a:pPr marL="1905" indent="-344805">
              <a:spcBef>
                <a:spcPts val="600"/>
              </a:spcBef>
              <a:buSzPct val="70000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x = math.sqrt(9) if 2&gt;3 else random.randint(1, 100)</a:t>
            </a: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30177"/>
            <a:ext cx="219322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itchFamily="18" charset="0"/>
                <a:ea typeface="仿宋" panose="02010609060101010101" pitchFamily="49" charset="-122"/>
              </a:rPr>
              <a:t>双分支结构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2A4DD5-861A-437E-ADC8-CE914A92E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83271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本占位符 27650"/>
          <p:cNvSpPr>
            <a:spLocks noGrp="1"/>
          </p:cNvSpPr>
          <p:nvPr>
            <p:ph idx="1"/>
          </p:nvPr>
        </p:nvSpPr>
        <p:spPr>
          <a:xfrm>
            <a:off x="914400" y="1434902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51111"/>
            <a:ext cx="591302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itchFamily="18" charset="0"/>
                <a:ea typeface="仿宋" panose="02010609060101010101" pitchFamily="49" charset="-122"/>
              </a:rPr>
              <a:t>多分支结构</a:t>
            </a:r>
            <a:r>
              <a:rPr lang="en-US" altLang="zh-CN" sz="2400" b="1" dirty="0">
                <a:latin typeface="Times New Roman" pitchFamily="18" charset="0"/>
                <a:ea typeface="仿宋" panose="02010609060101010101" pitchFamily="49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</a:rPr>
              <a:t>Multiple Branch Structure</a:t>
            </a:r>
            <a:r>
              <a:rPr lang="en-US" altLang="zh-CN" sz="2400" b="1" dirty="0">
                <a:latin typeface="Times New Roman" pitchFamily="18" charset="0"/>
                <a:ea typeface="仿宋" panose="02010609060101010101" pitchFamily="49" charset="-122"/>
              </a:rPr>
              <a:t>)</a:t>
            </a:r>
            <a:endParaRPr lang="zh-CN" altLang="en-US" sz="24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2" name="文本占位符 28674"/>
          <p:cNvSpPr txBox="1">
            <a:spLocks/>
          </p:cNvSpPr>
          <p:nvPr/>
        </p:nvSpPr>
        <p:spPr bwMode="auto">
          <a:xfrm>
            <a:off x="3332968" y="1412776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lang="zh-CN" altLang="en-US" sz="1800" b="1" noProof="1">
                <a:latin typeface="宋体" panose="02010600030101010101" pitchFamily="2" charset="-122"/>
                <a:ea typeface="+mn-ea"/>
              </a:rPr>
              <a:t>利用多分支选择结构将成绩从百分制变换到等级制。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    score = eval(input(“score:”))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        if score &gt; 100: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	 print(</a:t>
            </a:r>
            <a:r>
              <a:rPr lang="en-US" altLang="zh-CN" sz="1350" noProof="1">
                <a:latin typeface="Consolas" panose="020B0609020204030204" charset="0"/>
              </a:rPr>
              <a:t>'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wrong score.must &lt;= 100.</a:t>
            </a:r>
            <a:r>
              <a:rPr lang="en-US" altLang="zh-CN" sz="1350" noProof="1">
                <a:latin typeface="Consolas" panose="020B0609020204030204" charset="0"/>
              </a:rPr>
              <a:t>'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)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        elif score &gt;= 90: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	</a:t>
            </a:r>
            <a:r>
              <a:rPr lang="en-US" altLang="zh-CN" sz="1350" noProof="1">
                <a:latin typeface="Consolas" panose="020B0609020204030204" charset="0"/>
              </a:rPr>
              <a:t> print(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'A</a:t>
            </a:r>
            <a:r>
              <a:rPr lang="en-US" altLang="zh-CN" sz="1350" noProof="1">
                <a:latin typeface="Consolas" panose="020B0609020204030204" charset="0"/>
              </a:rPr>
              <a:t>'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)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    elif score &gt;= 80: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	</a:t>
            </a:r>
            <a:r>
              <a:rPr lang="en-US" altLang="zh-CN" sz="1350" noProof="1">
                <a:latin typeface="Consolas" panose="020B0609020204030204" charset="0"/>
              </a:rPr>
              <a:t> print(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'B</a:t>
            </a:r>
            <a:r>
              <a:rPr lang="en-US" altLang="zh-CN" sz="1350" noProof="1">
                <a:latin typeface="Consolas" panose="020B0609020204030204" charset="0"/>
              </a:rPr>
              <a:t>')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    elif score &gt;= 70: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	 </a:t>
            </a:r>
            <a:r>
              <a:rPr lang="en-US" altLang="zh-CN" sz="1350" noProof="1">
                <a:latin typeface="Consolas" panose="020B0609020204030204" charset="0"/>
              </a:rPr>
              <a:t>print('B')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    elif score &gt;= 60: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	 </a:t>
            </a:r>
            <a:r>
              <a:rPr lang="en-US" altLang="zh-CN" sz="1350" noProof="1">
                <a:latin typeface="Consolas" panose="020B0609020204030204" charset="0"/>
              </a:rPr>
              <a:t>print('C')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    elif score &gt;= 0: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	 </a:t>
            </a:r>
            <a:r>
              <a:rPr lang="en-US" altLang="zh-CN" sz="1350" noProof="1">
                <a:latin typeface="Consolas" panose="020B0609020204030204" charset="0"/>
              </a:rPr>
              <a:t>print('E')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    else:</a:t>
            </a:r>
          </a:p>
          <a:p>
            <a:pPr marL="1905" indent="-344805">
              <a:lnSpc>
                <a:spcPct val="80000"/>
              </a:lnSpc>
              <a:spcBef>
                <a:spcPts val="6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		 </a:t>
            </a:r>
            <a:r>
              <a:rPr lang="en-US" altLang="zh-CN" sz="1350" noProof="1">
                <a:latin typeface="Consolas" panose="020B0609020204030204" charset="0"/>
              </a:rPr>
              <a:t>print(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'wrong score.must &gt;0</a:t>
            </a:r>
            <a:r>
              <a:rPr lang="en-US" altLang="zh-CN" sz="1350" noProof="1">
                <a:latin typeface="Consolas" panose="020B0609020204030204" charset="0"/>
              </a:rPr>
              <a:t>'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)	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2054B2A-8D97-4852-B399-B0CE7C591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9" y="1434902"/>
            <a:ext cx="828040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3">
              <a:spcBef>
                <a:spcPts val="60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if  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&lt;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&gt;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lvl="3">
              <a:spcBef>
                <a:spcPts val="600"/>
              </a:spcBef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&lt;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语句块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1&gt;</a:t>
            </a:r>
          </a:p>
          <a:p>
            <a:pPr lvl="3">
              <a:spcBef>
                <a:spcPts val="600"/>
              </a:spcBef>
              <a:defRPr/>
            </a:pP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elif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 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&lt;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表达式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&gt;:</a:t>
            </a:r>
          </a:p>
          <a:p>
            <a:pPr lvl="3">
              <a:spcBef>
                <a:spcPts val="600"/>
              </a:spcBef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&lt;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语句块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2&gt;</a:t>
            </a:r>
          </a:p>
          <a:p>
            <a:pPr lvl="3">
              <a:spcBef>
                <a:spcPts val="60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... </a:t>
            </a:r>
          </a:p>
          <a:p>
            <a:pPr lvl="3">
              <a:spcBef>
                <a:spcPts val="60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else: </a:t>
            </a:r>
          </a:p>
          <a:p>
            <a:pPr lvl="3">
              <a:spcBef>
                <a:spcPts val="600"/>
              </a:spcBef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    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&lt;</a:t>
            </a:r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语句块</a:t>
            </a:r>
            <a:r>
              <a:rPr lang="en-US" altLang="zh-CN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N&gt;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881815-F765-453C-915F-F654F09C5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229357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占位符 29698"/>
          <p:cNvSpPr>
            <a:spLocks noGrp="1"/>
          </p:cNvSpPr>
          <p:nvPr>
            <p:ph idx="1"/>
          </p:nvPr>
        </p:nvSpPr>
        <p:spPr>
          <a:xfrm>
            <a:off x="832967" y="1359087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if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表达式1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&gt;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  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语句块1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&gt;</a:t>
            </a:r>
            <a:endParaRPr lang="zh-CN" altLang="en-US" sz="1500" b="1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   </a:t>
            </a:r>
            <a:r>
              <a:rPr lang="zh-CN" altLang="en-US" sz="15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if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表达式2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&gt;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     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语句块2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&gt;</a:t>
            </a:r>
            <a:endParaRPr lang="zh-CN" altLang="en-US" sz="1500" b="1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   </a:t>
            </a:r>
            <a:r>
              <a:rPr lang="zh-CN" altLang="en-US" sz="15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else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     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语句块3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&gt;</a:t>
            </a:r>
            <a:endParaRPr lang="zh-CN" altLang="en-US" sz="1500" b="1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else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   </a:t>
            </a:r>
            <a:r>
              <a:rPr lang="zh-CN" altLang="en-US" sz="15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if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表达式4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&gt;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       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&lt;</a:t>
            </a:r>
            <a:r>
              <a:rPr lang="zh-CN" altLang="en-US" sz="1500" b="1" dirty="0">
                <a:latin typeface="宋体" panose="02010600030101010101" pitchFamily="2" charset="-122"/>
                <a:ea typeface="+mn-ea"/>
              </a:rPr>
              <a:t>语句块4</a:t>
            </a:r>
            <a:r>
              <a:rPr lang="en-US" altLang="zh-CN" sz="1500" b="1" dirty="0">
                <a:latin typeface="宋体" panose="02010600030101010101" pitchFamily="2" charset="-122"/>
                <a:ea typeface="+mn-ea"/>
              </a:rPr>
              <a:t>&gt;</a:t>
            </a:r>
            <a:endParaRPr lang="zh-CN" altLang="en-US" sz="1500" b="1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500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</a:rPr>
              <a:t>注意</a:t>
            </a:r>
            <a:r>
              <a:rPr lang="zh-CN" altLang="en-US" sz="1500" dirty="0">
                <a:latin typeface="宋体" panose="02010600030101010101" pitchFamily="2" charset="-122"/>
                <a:ea typeface="+mn-ea"/>
              </a:rPr>
              <a:t>：</a:t>
            </a:r>
            <a:r>
              <a:rPr lang="zh-CN" altLang="en-US" sz="15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缩进必须要正确并且一致</a:t>
            </a:r>
            <a:r>
              <a:rPr lang="zh-CN" altLang="en-US" sz="1500" dirty="0">
                <a:latin typeface="宋体" panose="02010600030101010101" pitchFamily="2" charset="-122"/>
                <a:ea typeface="+mn-ea"/>
              </a:rPr>
              <a:t>。</a:t>
            </a:r>
          </a:p>
        </p:txBody>
      </p:sp>
      <p:pic>
        <p:nvPicPr>
          <p:cNvPr id="31747" name="Picture -21474826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345871"/>
            <a:ext cx="1819593" cy="238166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7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2914580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itchFamily="18" charset="0"/>
                <a:ea typeface="仿宋" panose="02010609060101010101" pitchFamily="49" charset="-122"/>
              </a:rPr>
              <a:t>选择语句的嵌套</a:t>
            </a:r>
          </a:p>
        </p:txBody>
      </p:sp>
      <p:sp>
        <p:nvSpPr>
          <p:cNvPr id="12" name="文本占位符 30722"/>
          <p:cNvSpPr txBox="1">
            <a:spLocks/>
          </p:cNvSpPr>
          <p:nvPr/>
        </p:nvSpPr>
        <p:spPr bwMode="auto">
          <a:xfrm>
            <a:off x="709336" y="4005064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344805"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使用嵌套的选择结构实现百分制成绩到等级制的转换。</a:t>
            </a:r>
            <a:endParaRPr lang="en-US" altLang="zh-CN" sz="1800" b="1" dirty="0">
              <a:latin typeface="宋体" panose="02010600030101010101" pitchFamily="2" charset="-122"/>
              <a:ea typeface="+mn-ea"/>
            </a:endParaRPr>
          </a:p>
          <a:p>
            <a:pPr marL="1905" indent="-344805">
              <a:lnSpc>
                <a:spcPct val="50000"/>
              </a:lnSpc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endParaRPr lang="zh-CN" altLang="en-US" sz="1800" b="1" dirty="0">
              <a:latin typeface="宋体" panose="02010600030101010101" pitchFamily="2" charset="-122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score = eval(input(“score:”)) 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	    degree = 'DCBAAE'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	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score &gt; 100 or score &lt; 0: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('wrong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score.must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between 0 and 100.')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index = (score - 60)//10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index &gt;= 0: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(degree[index])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		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(degree[-1])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2BC35B-B743-4BF6-BA5A-08D4BAC3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40549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003" y="1577451"/>
            <a:ext cx="8229600" cy="4678451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sz="2000" b="1" noProof="1"/>
              <a:t>使用列表、元组或字典可以很容易构建</a:t>
            </a:r>
            <a:r>
              <a:rPr lang="en-US" sz="2000" b="1" noProof="1">
                <a:solidFill>
                  <a:srgbClr val="FF0000"/>
                </a:solidFill>
              </a:rPr>
              <a:t>跳转表</a:t>
            </a:r>
            <a:r>
              <a:rPr lang="en-US" sz="2000" b="1" noProof="1"/>
              <a:t>，在某些场合下可以更快速地实现</a:t>
            </a:r>
            <a:r>
              <a:rPr lang="en-US" sz="2000" b="1" noProof="1">
                <a:solidFill>
                  <a:srgbClr val="FF0000"/>
                </a:solidFill>
              </a:rPr>
              <a:t>类似于多分支选择结构</a:t>
            </a:r>
            <a:r>
              <a:rPr lang="en-US" sz="2000" b="1" noProof="1"/>
              <a:t>的功</a:t>
            </a:r>
            <a:r>
              <a:rPr lang="zh-CN" altLang="en-US" sz="2000" b="1" noProof="1"/>
              <a:t>能。</a:t>
            </a:r>
          </a:p>
          <a:p>
            <a:pPr marL="0" indent="0">
              <a:buNone/>
            </a:pPr>
            <a:endParaRPr lang="en-US" sz="1350" noProof="1"/>
          </a:p>
        </p:txBody>
      </p:sp>
      <p:grpSp>
        <p:nvGrpSpPr>
          <p:cNvPr id="4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5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8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6" name="图片 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9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5695790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构建跳转表实现多分支选择结构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32638" y="2624014"/>
            <a:ext cx="823225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funcDict = {'1':</a:t>
            </a:r>
            <a:r>
              <a:rPr lang="en-US" altLang="zh-CN" noProof="1">
                <a:solidFill>
                  <a:srgbClr val="0000FF"/>
                </a:solidFill>
                <a:latin typeface="Consolas" panose="020B0609020204030204" charset="0"/>
              </a:rPr>
              <a:t>lambda:print</a:t>
            </a:r>
            <a:r>
              <a:rPr lang="en-US" altLang="zh-CN" noProof="1">
                <a:latin typeface="Consolas" panose="020B0609020204030204" charset="0"/>
              </a:rPr>
              <a:t>('You input 1'),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        '2':</a:t>
            </a:r>
            <a:r>
              <a:rPr lang="en-US" altLang="zh-CN" noProof="1">
                <a:solidFill>
                  <a:srgbClr val="0000FF"/>
                </a:solidFill>
                <a:latin typeface="Consolas" panose="020B0609020204030204" charset="0"/>
              </a:rPr>
              <a:t>lambda:print</a:t>
            </a:r>
            <a:r>
              <a:rPr lang="en-US" altLang="zh-CN" noProof="1">
                <a:latin typeface="Consolas" panose="020B0609020204030204" charset="0"/>
              </a:rPr>
              <a:t>('You input 2'),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        '3':</a:t>
            </a:r>
            <a:r>
              <a:rPr lang="en-US" altLang="zh-CN" noProof="1">
                <a:solidFill>
                  <a:srgbClr val="0000FF"/>
                </a:solidFill>
                <a:latin typeface="Consolas" panose="020B0609020204030204" charset="0"/>
              </a:rPr>
              <a:t>lambda:print</a:t>
            </a:r>
            <a:r>
              <a:rPr lang="en-US" altLang="zh-CN" noProof="1">
                <a:latin typeface="Consolas" panose="020B0609020204030204" charset="0"/>
              </a:rPr>
              <a:t>('You input 3')}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x = </a:t>
            </a:r>
            <a:r>
              <a:rPr lang="en-US" altLang="zh-CN" noProof="1">
                <a:solidFill>
                  <a:srgbClr val="0000FF"/>
                </a:solidFill>
                <a:latin typeface="Consolas" panose="020B0609020204030204" charset="0"/>
              </a:rPr>
              <a:t>input</a:t>
            </a:r>
            <a:r>
              <a:rPr lang="en-US" altLang="zh-CN" noProof="1">
                <a:latin typeface="Consolas" panose="020B0609020204030204" charset="0"/>
              </a:rPr>
              <a:t>('Input an integer to call different function:')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func = funcDict.get(x, None)</a:t>
            </a:r>
          </a:p>
          <a:p>
            <a:pPr marL="0" indent="0">
              <a:buNone/>
            </a:pPr>
            <a:r>
              <a:rPr lang="en-US" altLang="zh-CN" noProof="1">
                <a:solidFill>
                  <a:srgbClr val="0000FF"/>
                </a:solidFill>
                <a:latin typeface="Consolas" panose="020B0609020204030204" charset="0"/>
              </a:rPr>
              <a:t>if</a:t>
            </a:r>
            <a:r>
              <a:rPr lang="en-US" altLang="zh-CN" noProof="1">
                <a:latin typeface="Consolas" panose="020B0609020204030204" charset="0"/>
              </a:rPr>
              <a:t> func: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func()</a:t>
            </a:r>
          </a:p>
          <a:p>
            <a:pPr marL="0" indent="0">
              <a:buNone/>
            </a:pPr>
            <a:r>
              <a:rPr lang="en-US" altLang="zh-CN" noProof="1">
                <a:solidFill>
                  <a:srgbClr val="0000FF"/>
                </a:solidFill>
                <a:latin typeface="Consolas" panose="020B0609020204030204" charset="0"/>
              </a:rPr>
              <a:t>else</a:t>
            </a:r>
            <a:r>
              <a:rPr lang="en-US" altLang="zh-CN" noProof="1">
                <a:latin typeface="Consolas" panose="020B0609020204030204" charset="0"/>
              </a:rPr>
              <a:t>: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</a:t>
            </a:r>
            <a:r>
              <a:rPr lang="en-US" altLang="zh-CN" noProof="1">
                <a:solidFill>
                  <a:srgbClr val="0000FF"/>
                </a:solidFill>
                <a:latin typeface="Consolas" panose="020B0609020204030204" charset="0"/>
              </a:rPr>
              <a:t>print</a:t>
            </a:r>
            <a:r>
              <a:rPr lang="en-US" altLang="zh-CN" noProof="1">
                <a:latin typeface="Consolas" panose="020B0609020204030204" charset="0"/>
              </a:rPr>
              <a:t>('Wrong integer.')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95BA9F-D81E-4055-B734-0CED1EB23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990031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占位符 32770"/>
          <p:cNvSpPr>
            <a:spLocks noGrp="1"/>
          </p:cNvSpPr>
          <p:nvPr>
            <p:ph idx="1"/>
          </p:nvPr>
        </p:nvSpPr>
        <p:spPr/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latinLnBrk="0" hangingPunct="1"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例：用户输入若干个分数，求所有分数的平均分。每输入一个分数后</a:t>
            </a:r>
            <a:endParaRPr lang="en-US" altLang="zh-CN" sz="2000" b="1" dirty="0">
              <a:latin typeface="宋体" panose="02010600030101010101" pitchFamily="2" charset="-122"/>
              <a:ea typeface="+mn-ea"/>
            </a:endParaRPr>
          </a:p>
          <a:p>
            <a:pPr marL="0" indent="0" eaLnBrk="1" latinLnBrk="0" hangingPunct="1">
              <a:spcBef>
                <a:spcPts val="600"/>
              </a:spcBef>
              <a:buClr>
                <a:srgbClr val="FF0000"/>
              </a:buClr>
              <a:buSzPct val="70000"/>
              <a:buNone/>
            </a:pPr>
            <a:r>
              <a:rPr lang="en-US" altLang="zh-CN" sz="2000" b="1" dirty="0">
                <a:latin typeface="宋体" panose="02010600030101010101" pitchFamily="2" charset="-122"/>
                <a:ea typeface="+mn-ea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询问是否继续输入下一个分数，回答“</a:t>
            </a:r>
            <a:r>
              <a:rPr lang="en-US" altLang="zh-CN" sz="2000" b="1" dirty="0">
                <a:latin typeface="宋体" panose="02010600030101010101" pitchFamily="2" charset="-122"/>
                <a:ea typeface="+mn-ea"/>
              </a:rPr>
              <a:t>yes”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就继续输入下一个</a:t>
            </a:r>
            <a:endParaRPr lang="en-US" altLang="zh-CN" sz="2000" b="1" dirty="0">
              <a:latin typeface="宋体" panose="02010600030101010101" pitchFamily="2" charset="-122"/>
              <a:ea typeface="+mn-ea"/>
            </a:endParaRPr>
          </a:p>
          <a:p>
            <a:pPr marL="0" indent="0" eaLnBrk="1" latinLnBrk="0" hangingPunct="1">
              <a:spcBef>
                <a:spcPts val="600"/>
              </a:spcBef>
              <a:buClr>
                <a:srgbClr val="FF0000"/>
              </a:buClr>
              <a:buSzPct val="70000"/>
              <a:buNone/>
            </a:pPr>
            <a:r>
              <a:rPr lang="en-US" altLang="zh-CN" sz="2000" b="1" dirty="0">
                <a:latin typeface="宋体" panose="02010600030101010101" pitchFamily="2" charset="-122"/>
                <a:ea typeface="+mn-ea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分数，回答“</a:t>
            </a:r>
            <a:r>
              <a:rPr lang="en-US" altLang="zh-CN" sz="2000" b="1" dirty="0">
                <a:latin typeface="宋体" panose="02010600030101010101" pitchFamily="2" charset="-122"/>
                <a:ea typeface="+mn-ea"/>
              </a:rPr>
              <a:t>no”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就停止输入分数。</a:t>
            </a:r>
          </a:p>
        </p:txBody>
      </p:sp>
      <p:grpSp>
        <p:nvGrpSpPr>
          <p:cNvPr id="4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5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8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6" name="图片 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17106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分支结构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的应用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1" name="文本占位符 33794"/>
          <p:cNvSpPr txBox="1">
            <a:spLocks/>
          </p:cNvSpPr>
          <p:nvPr/>
        </p:nvSpPr>
        <p:spPr bwMode="auto">
          <a:xfrm>
            <a:off x="1317908" y="2636912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numbers = []                          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#使用列表存放临时数据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while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 True: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x = input('请输入一个成绩：')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try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:                              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#异常处理结构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numbers.append(float(x))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except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: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print('不是合法成绩')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while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 True: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flag = input('继续输入吗？（yes/no）')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.lower()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if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 flag not in ('yes', 'no'): 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#限定用户输入内容必须为yes或no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print('只能输入yes或no')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else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: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break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if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 flag=='no':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break</a:t>
            </a: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400" dirty="0">
              <a:latin typeface="Consolas" panose="020B0609020204030204" charset="0"/>
              <a:ea typeface="+mn-ea"/>
            </a:endParaRPr>
          </a:p>
          <a:p>
            <a:pPr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print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(sum(numbers)/len(numbers))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E2621B-A742-4E92-888A-CFAFEA56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5106247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文本占位符 34818"/>
          <p:cNvSpPr>
            <a:spLocks noGrp="1"/>
          </p:cNvSpPr>
          <p:nvPr>
            <p:ph idx="1"/>
          </p:nvPr>
        </p:nvSpPr>
        <p:spPr>
          <a:xfrm>
            <a:off x="709336" y="1445682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marL="1905" indent="-344805"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宋体" panose="02010600030101010101" pitchFamily="2" charset="-122"/>
              </a:rPr>
              <a:t>例：编写程序，判断今天是今年的第几天？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endParaRPr lang="en-US" altLang="zh-CN" sz="1350" dirty="0"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&gt;&gt;&gt;import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 time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</a:rPr>
              <a:t>&gt;&gt;&gt; 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date = time.localtime()                                    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#获取当前日期时间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time.struct_time(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tm_year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=2023,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tm_mon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=11,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tm_mday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=20,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tm_hour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=14,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tm_min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=27,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tm_sec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=28,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tm_wday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=0,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tm_yday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=324, </a:t>
            </a: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tm_isdst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=0)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endParaRPr lang="en-US" altLang="zh-CN" sz="1350" dirty="0">
              <a:solidFill>
                <a:srgbClr val="0000FF"/>
              </a:solidFill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</a:rPr>
              <a:t>&gt;&gt;&gt; 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year, month, day = date[:3]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</a:rPr>
              <a:t>&gt;&gt;&gt; </a:t>
            </a:r>
            <a:r>
              <a:rPr lang="en-US" altLang="zh-CN" sz="1350" dirty="0" err="1">
                <a:latin typeface="Consolas" panose="020B0609020204030204" charset="0"/>
                <a:ea typeface="+mn-ea"/>
              </a:rPr>
              <a:t>day_month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 = [31, 28, 31, 30, 31, 30, 31, 31, 30, 31, 30, 31]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</a:rPr>
              <a:t>&gt;&gt;&gt; 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if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 year % 400 == 0 or (year % 4 == 0 and year % 100 != 0):  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#判断是否为闰年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day_month[1] = 29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</a:rPr>
              <a:t>&gt;&gt;&gt; 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if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 month==1: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print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(day)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else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: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print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(sum(day_month[:month-1])+day)</a:t>
            </a: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17106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分支结构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的应用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914400" y="5301208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344805"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800" b="1" noProof="1">
                <a:latin typeface="宋体" panose="02010600030101010101" pitchFamily="2" charset="-122"/>
                <a:sym typeface="+mn-ea"/>
              </a:rPr>
              <a:t>其中闰年判断可以直接使用</a:t>
            </a:r>
            <a:r>
              <a:rPr lang="en-US" altLang="zh-CN" sz="1800" b="1" noProof="1">
                <a:latin typeface="宋体" panose="02010600030101010101" pitchFamily="2" charset="-122"/>
                <a:sym typeface="+mn-ea"/>
              </a:rPr>
              <a:t>calendar</a:t>
            </a:r>
            <a:r>
              <a:rPr lang="zh-CN" altLang="en-US" sz="1800" b="1" noProof="1">
                <a:latin typeface="宋体" panose="02010600030101010101" pitchFamily="2" charset="-122"/>
                <a:sym typeface="+mn-ea"/>
              </a:rPr>
              <a:t>模块的方法。</a:t>
            </a:r>
            <a:endParaRPr lang="zh-CN" altLang="en-US" sz="1800" b="1" noProof="1">
              <a:latin typeface="宋体" panose="02010600030101010101" pitchFamily="2" charset="-122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noProof="1">
                <a:latin typeface="Consolas" panose="020B0609020204030204" charset="0"/>
                <a:sym typeface="+mn-ea"/>
              </a:rPr>
              <a:t>&gt;&gt;&gt; import calendar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  <a:sym typeface="+mn-ea"/>
              </a:rPr>
              <a:t>&gt;&gt;&gt; calendar.isleap(2016)</a:t>
            </a:r>
            <a:endParaRPr lang="zh-CN" altLang="en-US" sz="1350" noProof="1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True</a:t>
            </a:r>
            <a:endParaRPr lang="zh-CN" altLang="en-US" sz="1350" noProof="1">
              <a:solidFill>
                <a:srgbClr val="0000FF"/>
              </a:solidFill>
              <a:latin typeface="Consolas" panose="020B0609020204030204" charset="0"/>
              <a:ea typeface="+mn-ea"/>
              <a:sym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  <a:sym typeface="+mn-ea"/>
              </a:rPr>
              <a:t>&gt;&gt;&gt; calendar.isleap(2015)</a:t>
            </a:r>
            <a:endParaRPr lang="zh-CN" altLang="en-US" sz="1350" noProof="1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False</a:t>
            </a:r>
            <a:endParaRPr lang="zh-CN" altLang="en-US" sz="1350" noProof="1">
              <a:solidFill>
                <a:srgbClr val="0000FF"/>
              </a:solidFill>
              <a:latin typeface="Consolas" panose="020B0609020204030204" charset="0"/>
              <a:ea typeface="+mn-ea"/>
              <a:sym typeface="+mn-ea"/>
            </a:endParaRPr>
          </a:p>
          <a:p>
            <a:pPr marL="0" indent="0">
              <a:buFont typeface="Arial" charset="0"/>
              <a:buNone/>
            </a:pPr>
            <a:endParaRPr lang="zh-CN" altLang="en-US" sz="1500" noProof="1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6F516D-6614-4672-BE4B-15BC6475B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002985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8" y="2375618"/>
            <a:ext cx="8277225" cy="63817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2D22969-8061-4554-8B31-BE713E80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日期与时间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D6CA84-8057-41F3-B42C-2F5437AB8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68" y="986616"/>
            <a:ext cx="8229600" cy="4678451"/>
          </a:xfrm>
        </p:spPr>
        <p:txBody>
          <a:bodyPr/>
          <a:lstStyle/>
          <a:p>
            <a:pPr algn="l" latinLnBrk="1"/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Python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程序能用很多方式处理日期和时间，转换日期格式是一个常见的功能。</a:t>
            </a:r>
          </a:p>
          <a:p>
            <a:pPr algn="l" latinLnBrk="1"/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Python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提供了一个 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time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和 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calendar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模块可以用于格式化日期和时间。</a:t>
            </a:r>
          </a:p>
          <a:p>
            <a:pPr algn="l" latinLnBrk="1"/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时间间隔是以秒为单位的浮点小数。</a:t>
            </a:r>
          </a:p>
          <a:p>
            <a:pPr algn="l" latinLnBrk="1"/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每个时间戳都以自从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1970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年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日午夜（历元）经过了多长时间来表示。</a:t>
            </a:r>
          </a:p>
          <a:p>
            <a:pPr marL="0" indent="0">
              <a:buNone/>
            </a:pPr>
            <a:r>
              <a:rPr lang="zh-CN" altLang="en-US" sz="1400" b="0" i="0" dirty="0">
                <a:solidFill>
                  <a:srgbClr val="FF0000"/>
                </a:solidFill>
                <a:effectLst/>
                <a:latin typeface="Helvetica Neue"/>
              </a:rPr>
              <a:t>时间元组：</a:t>
            </a:r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Python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函数用一个元组装起来的</a:t>
            </a:r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9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组数字处理时间，即</a:t>
            </a:r>
            <a:r>
              <a:rPr lang="en-US" altLang="zh-CN" sz="1400" dirty="0" err="1">
                <a:solidFill>
                  <a:srgbClr val="333333"/>
                </a:solidFill>
                <a:latin typeface="Helvetica Neue"/>
              </a:rPr>
              <a:t>struct_time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元组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5A587-F7A8-4BEF-A7CF-6D0DD1C7E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23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BC62B1-8324-4A30-9FC3-F48AC781F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72" y="3035802"/>
            <a:ext cx="4274349" cy="26072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920636-5F8E-4141-A71E-E24253368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689" y="3035802"/>
            <a:ext cx="3851161" cy="25758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158C858-2190-4722-9964-10DFCDB22A20}"/>
              </a:ext>
            </a:extLst>
          </p:cNvPr>
          <p:cNvSpPr txBox="1"/>
          <p:nvPr/>
        </p:nvSpPr>
        <p:spPr>
          <a:xfrm>
            <a:off x="137781" y="5760476"/>
            <a:ext cx="8826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 err="1">
                <a:solidFill>
                  <a:srgbClr val="222222"/>
                </a:solidFill>
                <a:effectLst/>
                <a:latin typeface="Lucida Grande"/>
              </a:rPr>
              <a:t>time.time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()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返回以浮点数表示的从 </a:t>
            </a:r>
            <a:r>
              <a:rPr lang="en-US" altLang="zh-CN" sz="1400" b="0" i="0" u="none" strike="noStrike" dirty="0">
                <a:solidFill>
                  <a:srgbClr val="6363BB"/>
                </a:solidFill>
                <a:effectLst/>
                <a:latin typeface="Lucida Grande"/>
                <a:hlinkClick r:id="rId6"/>
              </a:rPr>
              <a:t>epoch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 开始的秒数的时间值。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epoch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的具体日期和 </a:t>
            </a:r>
            <a:r>
              <a:rPr lang="en-US" altLang="zh-CN" sz="1400" b="0" i="0" u="none" strike="noStrike" dirty="0">
                <a:solidFill>
                  <a:srgbClr val="6363BB"/>
                </a:solidFill>
                <a:effectLst/>
                <a:latin typeface="Lucida Grande"/>
                <a:hlinkClick r:id="rId7"/>
              </a:rPr>
              <a:t>leap seconds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 的处理取决于平台。 在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Windows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和大多数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Unix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系统中，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epoch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是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1970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年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1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月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1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日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00:00:00 (UTC)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，并且闰秒将不计入从 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Lucida Grande"/>
              </a:rPr>
              <a:t>epoch 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开始的秒数。 这通常被称为 </a:t>
            </a:r>
            <a:r>
              <a:rPr lang="en-US" altLang="zh-CN" sz="1400" b="0" i="0" u="none" strike="noStrike" dirty="0">
                <a:solidFill>
                  <a:srgbClr val="6363BB"/>
                </a:solidFill>
                <a:effectLst/>
                <a:latin typeface="Lucida Grande"/>
                <a:hlinkClick r:id="rId8"/>
              </a:rPr>
              <a:t>Unix </a:t>
            </a:r>
            <a:r>
              <a:rPr lang="zh-CN" altLang="en-US" sz="1400" b="0" i="0" u="none" strike="noStrike" dirty="0">
                <a:solidFill>
                  <a:srgbClr val="6363BB"/>
                </a:solidFill>
                <a:effectLst/>
                <a:latin typeface="Lucida Grande"/>
                <a:hlinkClick r:id="rId8"/>
              </a:rPr>
              <a:t>时间</a:t>
            </a:r>
            <a:r>
              <a:rPr lang="zh-CN" altLang="en-US" sz="1400" b="0" i="0" dirty="0">
                <a:solidFill>
                  <a:srgbClr val="222222"/>
                </a:solidFill>
                <a:effectLst/>
                <a:latin typeface="Lucida Grande"/>
              </a:rPr>
              <a:t>。</a:t>
            </a:r>
            <a:r>
              <a:rPr lang="zh-CN" altLang="en-US" sz="1050" dirty="0"/>
              <a:t>夏令时：</a:t>
            </a:r>
            <a:r>
              <a:rPr lang="en-US" altLang="zh-CN" sz="1050" dirty="0"/>
              <a:t>daylight saving time</a:t>
            </a:r>
            <a:endParaRPr lang="zh-CN" altLang="en-US" sz="1050" dirty="0"/>
          </a:p>
          <a:p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C879C9-1589-33D2-2F4E-ED8F8A84681C}"/>
              </a:ext>
            </a:extLst>
          </p:cNvPr>
          <p:cNvSpPr txBox="1"/>
          <p:nvPr/>
        </p:nvSpPr>
        <p:spPr>
          <a:xfrm>
            <a:off x="6944183" y="1104172"/>
            <a:ext cx="2091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 time time()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返回当前时间的时间戳（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1970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纪元后经过的浮点秒数）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3E88BA-F475-27E7-AD09-188EF2CA3D24}"/>
              </a:ext>
            </a:extLst>
          </p:cNvPr>
          <p:cNvSpPr txBox="1"/>
          <p:nvPr/>
        </p:nvSpPr>
        <p:spPr>
          <a:xfrm>
            <a:off x="4114800" y="298781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6AE300-302D-2146-B958-2C651C644C35}"/>
              </a:ext>
            </a:extLst>
          </p:cNvPr>
          <p:cNvSpPr txBox="1"/>
          <p:nvPr/>
        </p:nvSpPr>
        <p:spPr>
          <a:xfrm>
            <a:off x="-828600" y="49411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4648285"/>
      </p:ext>
    </p:extLst>
  </p:cSld>
  <p:clrMapOvr>
    <a:masterClrMapping/>
  </p:clrMapOvr>
  <p:transition spd="slow" advClick="0">
    <p:pull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文本占位符 35842"/>
          <p:cNvSpPr>
            <a:spLocks noGrp="1"/>
          </p:cNvSpPr>
          <p:nvPr>
            <p:ph idx="1"/>
          </p:nvPr>
        </p:nvSpPr>
        <p:spPr>
          <a:xfrm>
            <a:off x="758677" y="1431940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FF0000"/>
                </a:solidFill>
                <a:cs typeface="Times New Roman" pitchFamily="18" charset="0"/>
              </a:rPr>
              <a:t>或者使用标准函数库</a:t>
            </a:r>
            <a:r>
              <a:rPr lang="en-US" altLang="zh-CN" sz="2000" b="1" dirty="0" err="1">
                <a:solidFill>
                  <a:srgbClr val="FF0000"/>
                </a:solidFill>
                <a:cs typeface="Times New Roman" pitchFamily="18" charset="0"/>
              </a:rPr>
              <a:t>datetime</a:t>
            </a:r>
            <a:r>
              <a:rPr lang="zh-CN" altLang="en-US" sz="2000" b="1" dirty="0">
                <a:solidFill>
                  <a:srgbClr val="FF0000"/>
                </a:solidFill>
                <a:cs typeface="Times New Roman" pitchFamily="18" charset="0"/>
              </a:rPr>
              <a:t>直接计算今天是今年的第几天</a:t>
            </a:r>
            <a:endParaRPr lang="en-US" altLang="zh-CN" sz="2000" b="1" dirty="0">
              <a:solidFill>
                <a:srgbClr val="FF0000"/>
              </a:solidFill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000" b="1" dirty="0" err="1">
                <a:cs typeface="Times New Roman" pitchFamily="18" charset="0"/>
              </a:rPr>
              <a:t>datetime</a:t>
            </a:r>
            <a:r>
              <a:rPr lang="zh-CN" altLang="zh-CN" sz="2000" b="1" dirty="0">
                <a:cs typeface="Times New Roman" pitchFamily="18" charset="0"/>
              </a:rPr>
              <a:t>库以类的方式提供多种日期和时间表达方式</a:t>
            </a:r>
            <a:endParaRPr lang="zh-CN" altLang="zh-CN" sz="2000" dirty="0"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2000" b="1" dirty="0"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</p:txBody>
      </p:sp>
      <p:grpSp>
        <p:nvGrpSpPr>
          <p:cNvPr id="6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7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17106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分支结构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的应用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589371" y="2115692"/>
            <a:ext cx="8155132" cy="232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indent="30480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datetime.date</a:t>
            </a:r>
            <a:r>
              <a:rPr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：日期表示类，可以表示年、月、日等</a:t>
            </a:r>
          </a:p>
          <a:p>
            <a:pPr lvl="1" indent="30480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lang="en-US" altLang="zh-CN" sz="20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datetime.time</a:t>
            </a:r>
            <a:r>
              <a:rPr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：时间表示类，可以表示小时、分钟、秒、毫秒等</a:t>
            </a:r>
          </a:p>
          <a:p>
            <a:pPr lvl="1" indent="30480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lang="en-US" altLang="zh-CN" sz="20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datetime.datetime</a:t>
            </a:r>
            <a:r>
              <a:rPr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：日期和时间表示的类，功能覆盖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date</a:t>
            </a:r>
            <a:r>
              <a:rPr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和</a:t>
            </a: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itchFamily="18" charset="0"/>
            </a:endParaRPr>
          </a:p>
          <a:p>
            <a:pPr lvl="1" indent="304800" algn="just">
              <a:spcBef>
                <a:spcPts val="600"/>
              </a:spcBef>
              <a:buClr>
                <a:srgbClr val="FF0000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                                  time</a:t>
            </a:r>
            <a:r>
              <a:rPr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类</a:t>
            </a:r>
          </a:p>
          <a:p>
            <a:pPr lvl="1" indent="30480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lang="en-US" altLang="zh-CN" sz="20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datetime.timedelta</a:t>
            </a:r>
            <a:r>
              <a:rPr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：时间间隔有关的类</a:t>
            </a:r>
          </a:p>
          <a:p>
            <a:pPr lvl="1" indent="30480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lang="en-US" altLang="zh-CN" sz="20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datetime.tzinfo</a:t>
            </a:r>
            <a:r>
              <a:rPr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itchFamily="18" charset="0"/>
              </a:rPr>
              <a:t>：与时区有关的信息表示类</a:t>
            </a:r>
          </a:p>
        </p:txBody>
      </p:sp>
      <p:sp>
        <p:nvSpPr>
          <p:cNvPr id="2" name="矩形 1"/>
          <p:cNvSpPr/>
          <p:nvPr/>
        </p:nvSpPr>
        <p:spPr>
          <a:xfrm>
            <a:off x="1043608" y="4701015"/>
            <a:ext cx="72466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charset="0"/>
              </a:rPr>
              <a:t>import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charset="0"/>
              </a:rPr>
              <a:t>datetime</a:t>
            </a:r>
            <a:endParaRPr lang="en-US" altLang="zh-CN" dirty="0">
              <a:solidFill>
                <a:srgbClr val="0000FF"/>
              </a:solidFill>
              <a:latin typeface="Consolas" panose="020B0609020204030204" charset="0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datetime.date.today</a:t>
            </a:r>
            <a:r>
              <a:rPr lang="en-US" altLang="zh-CN" dirty="0">
                <a:latin typeface="Consolas" panose="020B0609020204030204" charset="0"/>
              </a:rPr>
              <a:t>().</a:t>
            </a:r>
            <a:r>
              <a:rPr lang="en-US" altLang="zh-CN" dirty="0" err="1">
                <a:latin typeface="Consolas" panose="020B0609020204030204" charset="0"/>
              </a:rPr>
              <a:t>timetuple</a:t>
            </a:r>
            <a:r>
              <a:rPr lang="en-US" altLang="zh-CN" dirty="0">
                <a:latin typeface="Consolas" panose="020B0609020204030204" charset="0"/>
              </a:rPr>
              <a:t>().</a:t>
            </a:r>
            <a:r>
              <a:rPr lang="en-US" altLang="zh-CN" dirty="0" err="1">
                <a:latin typeface="Consolas" panose="020B0609020204030204" charset="0"/>
              </a:rPr>
              <a:t>tm_yday</a:t>
            </a:r>
            <a:endParaRPr lang="en-US" altLang="zh-CN" dirty="0">
              <a:latin typeface="Consolas" panose="020B0609020204030204" charset="0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charset="0"/>
              </a:rPr>
              <a:t>133</a:t>
            </a: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datetime.date</a:t>
            </a:r>
            <a:r>
              <a:rPr lang="en-US" altLang="zh-CN" dirty="0">
                <a:latin typeface="Consolas" panose="020B0609020204030204" charset="0"/>
              </a:rPr>
              <a:t>(2020,5,12).</a:t>
            </a:r>
            <a:r>
              <a:rPr lang="en-US" altLang="zh-CN" dirty="0" err="1">
                <a:latin typeface="Consolas" panose="020B0609020204030204" charset="0"/>
              </a:rPr>
              <a:t>timetuple</a:t>
            </a:r>
            <a:r>
              <a:rPr lang="en-US" altLang="zh-CN" dirty="0">
                <a:latin typeface="Consolas" panose="020B0609020204030204" charset="0"/>
              </a:rPr>
              <a:t>().</a:t>
            </a:r>
            <a:r>
              <a:rPr lang="en-US" altLang="zh-CN" dirty="0" err="1">
                <a:latin typeface="Consolas" panose="020B0609020204030204" charset="0"/>
              </a:rPr>
              <a:t>tm_yday</a:t>
            </a:r>
            <a:endParaRPr lang="en-US" altLang="zh-CN" dirty="0">
              <a:latin typeface="Consolas" panose="020B0609020204030204" charset="0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charset="0"/>
              </a:rPr>
              <a:t>133</a:t>
            </a:r>
            <a:endParaRPr lang="en-US" altLang="zh-CN" sz="800" dirty="0">
              <a:solidFill>
                <a:srgbClr val="0000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01EC37-C111-499A-8FA4-754AC15C9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439405"/>
            <a:ext cx="6120680" cy="20513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61E7E07-5366-4ED0-88C6-C2413ABA3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111" y="4439405"/>
            <a:ext cx="3617983" cy="96926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D2AB67-8B4E-49A1-8965-CED6071DF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91859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 bwMode="auto">
          <a:xfrm>
            <a:off x="827584" y="1549377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344805"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charset="0"/>
              <a:buChar char="n"/>
            </a:pPr>
            <a:r>
              <a:rPr lang="zh-CN" altLang="en-US" sz="1800" b="1" dirty="0">
                <a:latin typeface="+mn-lt"/>
                <a:ea typeface="+mn-ea"/>
                <a:sym typeface="Arial" panose="020B0604020202020204" pitchFamily="34" charset="0"/>
              </a:rPr>
              <a:t>也可以使用</a:t>
            </a:r>
            <a:r>
              <a:rPr lang="en-US" altLang="zh-CN" sz="1800" b="1" dirty="0" err="1">
                <a:latin typeface="+mn-lt"/>
                <a:ea typeface="+mn-ea"/>
                <a:sym typeface="Arial" panose="020B0604020202020204" pitchFamily="34" charset="0"/>
              </a:rPr>
              <a:t>datetime</a:t>
            </a:r>
            <a:r>
              <a:rPr lang="zh-CN" altLang="en-US" sz="1800" b="1" dirty="0">
                <a:latin typeface="+mn-lt"/>
                <a:ea typeface="+mn-ea"/>
                <a:sym typeface="Arial" panose="020B0604020202020204" pitchFamily="34" charset="0"/>
              </a:rPr>
              <a:t>模块提供的功能来计算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  <a:sym typeface="Arial" panose="020B0604020202020204" pitchFamily="34" charset="0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&gt;&gt;&gt; today = 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datetime.date.today</a:t>
            </a: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()</a:t>
            </a: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&gt;&gt;&gt; today</a:t>
            </a: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  <a:sym typeface="Arial" panose="020B0604020202020204" pitchFamily="34" charset="0"/>
              </a:rPr>
              <a:t>datetime.date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  <a:sym typeface="Arial" panose="020B0604020202020204" pitchFamily="34" charset="0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charset="0"/>
              </a:rPr>
              <a:t>2020,5,12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  <a:sym typeface="Arial" panose="020B0604020202020204" pitchFamily="34" charset="0"/>
              </a:rPr>
              <a:t>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&gt;&gt;&gt; 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firstDay</a:t>
            </a: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 = 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datetime.date</a:t>
            </a: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(today.year,1,1)</a:t>
            </a: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&gt;&gt;&gt; 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firstDay</a:t>
            </a: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 err="1">
                <a:solidFill>
                  <a:srgbClr val="0000FF"/>
                </a:solidFill>
                <a:latin typeface="Consolas" panose="020B0609020204030204" charset="0"/>
                <a:ea typeface="+mn-ea"/>
                <a:sym typeface="Arial" panose="020B0604020202020204" pitchFamily="34" charset="0"/>
              </a:rPr>
              <a:t>datetime.date</a:t>
            </a: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  <a:sym typeface="Arial" panose="020B0604020202020204" pitchFamily="34" charset="0"/>
              </a:rPr>
              <a:t>(2020, 1, 1)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&gt;&gt;&gt; 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daysDelta</a:t>
            </a: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 = today-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firstDay</a:t>
            </a: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 + 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datetime.timedelta</a:t>
            </a: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(days=1)</a:t>
            </a: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  <a:sym typeface="Arial" panose="020B0604020202020204" pitchFamily="34" charset="0"/>
              </a:rPr>
              <a:t>&gt;&gt;&gt; </a:t>
            </a:r>
            <a:r>
              <a:rPr lang="en-US" altLang="zh-CN" sz="1350" dirty="0" err="1">
                <a:latin typeface="Consolas" panose="020B0609020204030204" charset="0"/>
                <a:ea typeface="+mn-ea"/>
                <a:sym typeface="Arial" panose="020B0604020202020204" pitchFamily="34" charset="0"/>
              </a:rPr>
              <a:t>daysDelta.days</a:t>
            </a: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350" dirty="0">
                <a:solidFill>
                  <a:srgbClr val="0000FF"/>
                </a:solidFill>
                <a:latin typeface="Consolas" panose="020B0609020204030204" charset="0"/>
                <a:ea typeface="+mn-ea"/>
                <a:sym typeface="Arial" panose="020B0604020202020204" pitchFamily="34" charset="0"/>
              </a:rPr>
              <a:t>133</a:t>
            </a:r>
          </a:p>
        </p:txBody>
      </p:sp>
      <p:grpSp>
        <p:nvGrpSpPr>
          <p:cNvPr id="6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7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17106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分支结构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的应用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50764F-C09E-4FB6-B365-20AA6665A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5243550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5420" y="1446273"/>
            <a:ext cx="8229600" cy="4678451"/>
          </a:xfrm>
        </p:spPr>
        <p:txBody>
          <a:bodyPr/>
          <a:lstStyle/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b="1" noProof="1"/>
              <a:t>datetime</a:t>
            </a:r>
            <a:r>
              <a:rPr lang="zh-CN" altLang="en-US" sz="2400" b="1" noProof="1"/>
              <a:t>还提供了其他功能</a:t>
            </a:r>
          </a:p>
          <a:p>
            <a:pPr marL="0" indent="0">
              <a:buNone/>
            </a:pPr>
            <a:endParaRPr lang="zh-CN" altLang="en-US" sz="1500" noProof="1"/>
          </a:p>
          <a:p>
            <a:pPr marL="0" indent="0">
              <a:buNone/>
            </a:pPr>
            <a:r>
              <a:rPr lang="en-US" altLang="zh-CN" sz="1350" noProof="1">
                <a:latin typeface="Consolas" panose="020B0609020204030204" charset="0"/>
              </a:rPr>
              <a:t>&gt;&gt;&gt; import datetime</a:t>
            </a:r>
          </a:p>
          <a:p>
            <a:pPr marL="0" indent="0">
              <a:buNone/>
            </a:pPr>
            <a:r>
              <a:rPr lang="en-US" altLang="zh-CN" sz="1350" noProof="1">
                <a:latin typeface="Consolas" panose="020B0609020204030204" charset="0"/>
              </a:rPr>
              <a:t>&gt;&gt;&gt; now = datetime.datetime.now()</a:t>
            </a:r>
          </a:p>
          <a:p>
            <a:pPr marL="0" indent="0">
              <a:buNone/>
            </a:pPr>
            <a:r>
              <a:rPr lang="en-US" altLang="zh-CN" sz="1350" noProof="1">
                <a:latin typeface="Consolas" panose="020B0609020204030204" charset="0"/>
              </a:rPr>
              <a:t>&gt;&gt;&gt; print(now)</a:t>
            </a:r>
          </a:p>
          <a:p>
            <a:pPr marL="0" indent="0">
              <a:buNone/>
            </a:pPr>
            <a:r>
              <a:rPr lang="en-US" altLang="zh-CN" sz="1350" noProof="1">
                <a:latin typeface="Consolas" panose="020B0609020204030204" charset="0"/>
              </a:rPr>
              <a:t>2020-05-14 10:39:26.980760</a:t>
            </a:r>
          </a:p>
          <a:p>
            <a:pPr marL="0" indent="0">
              <a:buNone/>
            </a:pPr>
            <a:r>
              <a:rPr lang="en-US" altLang="zh-CN" sz="1350" noProof="1">
                <a:latin typeface="Consolas" panose="020B0609020204030204" charset="0"/>
              </a:rPr>
              <a:t>&gt;&gt;&gt; now.strftime('%Y-%m-%d %H:%M:%S')</a:t>
            </a:r>
          </a:p>
          <a:p>
            <a:pPr marL="0" indent="0">
              <a:buNone/>
            </a:pPr>
            <a:r>
              <a:rPr lang="en-US" altLang="zh-CN" sz="1350" noProof="1">
                <a:latin typeface="Consolas" panose="020B0609020204030204" charset="0"/>
              </a:rPr>
              <a:t>'2020-05-14 10:39:26'</a:t>
            </a:r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&gt;&gt;&gt; now.replace(second=30)                  </a:t>
            </a: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#替换日期时间中的秒</a:t>
            </a:r>
          </a:p>
          <a:p>
            <a:pPr marL="0" indent="0">
              <a:buNone/>
            </a:pPr>
            <a:r>
              <a:rPr lang="nn-NO" altLang="zh-CN" sz="1350" noProof="1">
                <a:solidFill>
                  <a:srgbClr val="0000FF"/>
                </a:solidFill>
                <a:latin typeface="Consolas" panose="020B0609020204030204" charset="0"/>
              </a:rPr>
              <a:t>datetime.datetime(2020, 5, 14, 10, 39, 30, 980760) </a:t>
            </a:r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&gt;&gt;&gt; now+datetime.timedelta(days=5)          </a:t>
            </a: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#计算5天后的日期时间</a:t>
            </a:r>
          </a:p>
          <a:p>
            <a:pPr marL="0" indent="0">
              <a:buNone/>
            </a:pPr>
            <a:r>
              <a:rPr lang="nn-NO" altLang="zh-CN" sz="1350" noProof="1">
                <a:solidFill>
                  <a:srgbClr val="0000FF"/>
                </a:solidFill>
                <a:latin typeface="Consolas" panose="020B0609020204030204" charset="0"/>
              </a:rPr>
              <a:t>datetime.datetime(2020, 5, 19, 10, 39, 26, 980760) </a:t>
            </a:r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&gt;&gt;&gt; now + datetime.timedelta(weeks=-5)      </a:t>
            </a: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#计算5周前的日期时间</a:t>
            </a:r>
          </a:p>
          <a:p>
            <a:pPr marL="0" indent="0">
              <a:buNone/>
            </a:pPr>
            <a:r>
              <a:rPr lang="nn-NO" altLang="zh-CN" sz="1350" noProof="1">
                <a:solidFill>
                  <a:srgbClr val="0000FF"/>
                </a:solidFill>
                <a:latin typeface="Consolas" panose="020B0609020204030204" charset="0"/>
              </a:rPr>
              <a:t>datetime.datetime(2020, 4, 9, 10, 39, 26, 980760)</a:t>
            </a:r>
          </a:p>
          <a:p>
            <a:pPr marL="0" indent="0">
              <a:buNone/>
            </a:pPr>
            <a:endParaRPr lang="nn-NO" altLang="zh-CN" sz="1350" noProof="1">
              <a:solidFill>
                <a:srgbClr val="0000FF"/>
              </a:solidFill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350" noProof="1">
                <a:solidFill>
                  <a:srgbClr val="FF0000"/>
                </a:solidFill>
                <a:latin typeface="Consolas" panose="020B0609020204030204" charset="0"/>
              </a:rPr>
              <a:t>建议大家自行查找 </a:t>
            </a:r>
            <a:r>
              <a:rPr lang="en-US" altLang="zh-CN" sz="1350" noProof="1">
                <a:solidFill>
                  <a:srgbClr val="FF0000"/>
                </a:solidFill>
                <a:latin typeface="Consolas" panose="020B0609020204030204" charset="0"/>
              </a:rPr>
              <a:t>time</a:t>
            </a:r>
            <a:r>
              <a:rPr lang="zh-CN" altLang="en-US" sz="1350" noProof="1">
                <a:solidFill>
                  <a:srgbClr val="FF0000"/>
                </a:solidFill>
                <a:latin typeface="Consolas" panose="020B0609020204030204" charset="0"/>
              </a:rPr>
              <a:t>，</a:t>
            </a:r>
            <a:r>
              <a:rPr lang="en-US" altLang="zh-CN" sz="1350" noProof="1">
                <a:solidFill>
                  <a:srgbClr val="FF0000"/>
                </a:solidFill>
                <a:latin typeface="Consolas" panose="020B0609020204030204" charset="0"/>
              </a:rPr>
              <a:t>datetime </a:t>
            </a:r>
            <a:r>
              <a:rPr lang="zh-CN" altLang="en-US" sz="1350" noProof="1">
                <a:solidFill>
                  <a:srgbClr val="FF0000"/>
                </a:solidFill>
                <a:latin typeface="Consolas" panose="020B0609020204030204" charset="0"/>
              </a:rPr>
              <a:t>模块相关文档查看</a:t>
            </a:r>
          </a:p>
        </p:txBody>
      </p:sp>
      <p:grpSp>
        <p:nvGrpSpPr>
          <p:cNvPr id="6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7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分支结构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55" y="923053"/>
            <a:ext cx="317106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分支结构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的应用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E20470-1044-4478-BC87-218455449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137408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F8089A9-674D-4ACE-95E5-6DC7F323A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8" y="1052736"/>
            <a:ext cx="5284163" cy="401402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53D5443-564B-4CA9-9E64-A287F25A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datetime.datetime</a:t>
            </a:r>
            <a:r>
              <a:rPr lang="en-US" altLang="zh-CN" dirty="0"/>
              <a:t> &amp; </a:t>
            </a:r>
            <a:r>
              <a:rPr lang="en-US" altLang="zh-CN" dirty="0" err="1"/>
              <a:t>timedelta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CDA585-D9F0-4B14-948F-18F89576E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27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E960F6-D6B1-410D-968C-1166F303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424" y="1937196"/>
            <a:ext cx="4977394" cy="465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87927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CE888-AC80-49CE-9B2C-976D7E5A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strftime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87D1C3-9296-4878-80A4-B3A2B9F1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617" y="1123503"/>
            <a:ext cx="8229600" cy="4678451"/>
          </a:xfrm>
        </p:spPr>
        <p:txBody>
          <a:bodyPr/>
          <a:lstStyle/>
          <a:p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Python time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Helvetica Neue"/>
              </a:rPr>
              <a:t>strftime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()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函数接收以时间元组，并返回以可读字符串表示的当地时间，格式由参数 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format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决定。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  <a:p>
            <a:r>
              <a:rPr lang="en-US" altLang="zh-CN" sz="1400" b="0" i="0" dirty="0" err="1">
                <a:solidFill>
                  <a:srgbClr val="00B050"/>
                </a:solidFill>
                <a:effectLst/>
                <a:latin typeface="Helvetica Neue"/>
              </a:rPr>
              <a:t>strftime</a:t>
            </a:r>
            <a:r>
              <a:rPr lang="en-US" altLang="zh-CN" sz="1400" b="0" i="0" dirty="0">
                <a:solidFill>
                  <a:srgbClr val="00B050"/>
                </a:solidFill>
                <a:effectLst/>
                <a:latin typeface="Helvetica Neue"/>
              </a:rPr>
              <a:t>()</a:t>
            </a:r>
            <a:r>
              <a:rPr lang="zh-CN" altLang="en-US" sz="1400" b="0" i="0" dirty="0">
                <a:solidFill>
                  <a:srgbClr val="00B050"/>
                </a:solidFill>
                <a:effectLst/>
                <a:latin typeface="Helvetica Neue"/>
              </a:rPr>
              <a:t>方法语法：</a:t>
            </a:r>
            <a:r>
              <a:rPr lang="en-US" altLang="zh-CN" sz="1400" b="0" i="0" dirty="0">
                <a:solidFill>
                  <a:srgbClr val="00B050"/>
                </a:solidFill>
                <a:effectLst/>
                <a:latin typeface="Helvetica Neue"/>
              </a:rPr>
              <a:t> </a:t>
            </a:r>
            <a:r>
              <a:rPr lang="en-US" altLang="zh-CN" sz="1400" b="0" i="0" dirty="0" err="1">
                <a:solidFill>
                  <a:srgbClr val="00B050"/>
                </a:solidFill>
                <a:effectLst/>
                <a:latin typeface="Helvetica Neue"/>
              </a:rPr>
              <a:t>time.strftime</a:t>
            </a:r>
            <a:r>
              <a:rPr lang="en-US" altLang="zh-CN" sz="1400" b="0" i="0" dirty="0">
                <a:solidFill>
                  <a:srgbClr val="00B050"/>
                </a:solidFill>
                <a:effectLst/>
                <a:latin typeface="Helvetica Neue"/>
              </a:rPr>
              <a:t>(format[, t])</a:t>
            </a:r>
          </a:p>
          <a:p>
            <a:pPr marL="0" indent="0" algn="l" latinLnBrk="1">
              <a:buNone/>
            </a:pPr>
            <a:r>
              <a:rPr lang="en-US" altLang="zh-CN" sz="1400" b="0" i="0" dirty="0">
                <a:solidFill>
                  <a:srgbClr val="00B050"/>
                </a:solidFill>
                <a:effectLst/>
                <a:latin typeface="Helvetica Neue"/>
              </a:rPr>
              <a:t>format -- </a:t>
            </a:r>
            <a:r>
              <a:rPr lang="zh-CN" altLang="en-US" sz="1400" b="0" i="0" dirty="0">
                <a:solidFill>
                  <a:srgbClr val="00B050"/>
                </a:solidFill>
                <a:effectLst/>
                <a:latin typeface="Helvetica Neue"/>
              </a:rPr>
              <a:t>格式字符串。</a:t>
            </a:r>
          </a:p>
          <a:p>
            <a:pPr marL="0" indent="0" algn="l" latinLnBrk="1">
              <a:buNone/>
            </a:pPr>
            <a:r>
              <a:rPr lang="en-US" altLang="zh-CN" sz="1400" b="0" i="0" dirty="0">
                <a:solidFill>
                  <a:srgbClr val="00B050"/>
                </a:solidFill>
                <a:effectLst/>
                <a:latin typeface="Helvetica Neue"/>
              </a:rPr>
              <a:t>t -- </a:t>
            </a:r>
            <a:r>
              <a:rPr lang="zh-CN" altLang="en-US" sz="1400" b="0" i="0" dirty="0">
                <a:solidFill>
                  <a:srgbClr val="00B050"/>
                </a:solidFill>
                <a:effectLst/>
                <a:latin typeface="Helvetica Neue"/>
              </a:rPr>
              <a:t>可选的参数 </a:t>
            </a:r>
            <a:r>
              <a:rPr lang="en-US" altLang="zh-CN" sz="1400" b="0" i="0" dirty="0">
                <a:solidFill>
                  <a:srgbClr val="00B050"/>
                </a:solidFill>
                <a:effectLst/>
                <a:latin typeface="Helvetica Neue"/>
              </a:rPr>
              <a:t>t</a:t>
            </a:r>
            <a:r>
              <a:rPr lang="zh-CN" altLang="en-US" sz="1400" b="0" i="0" dirty="0">
                <a:solidFill>
                  <a:srgbClr val="00B050"/>
                </a:solidFill>
                <a:effectLst/>
                <a:latin typeface="Helvetica Neue"/>
              </a:rPr>
              <a:t>是一个</a:t>
            </a:r>
            <a:r>
              <a:rPr lang="en-US" altLang="zh-CN" sz="1400" b="0" i="0" dirty="0" err="1">
                <a:solidFill>
                  <a:srgbClr val="00B050"/>
                </a:solidFill>
                <a:effectLst/>
                <a:latin typeface="Helvetica Neue"/>
              </a:rPr>
              <a:t>struct_time</a:t>
            </a:r>
            <a:r>
              <a:rPr lang="zh-CN" altLang="en-US" sz="1400" b="0" i="0" dirty="0">
                <a:solidFill>
                  <a:srgbClr val="00B050"/>
                </a:solidFill>
                <a:effectLst/>
                <a:latin typeface="Helvetica Neue"/>
              </a:rPr>
              <a:t>对象。</a:t>
            </a:r>
          </a:p>
          <a:p>
            <a:endParaRPr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D83072-3312-4BB1-8AA4-5842D34C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28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BFB4A9-F5E2-4A69-9B09-E2FD3CBE6A30}"/>
              </a:ext>
            </a:extLst>
          </p:cNvPr>
          <p:cNvSpPr txBox="1"/>
          <p:nvPr/>
        </p:nvSpPr>
        <p:spPr>
          <a:xfrm>
            <a:off x="4932040" y="1577791"/>
            <a:ext cx="47628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python</a:t>
            </a:r>
            <a:r>
              <a:rPr lang="zh-CN" altLang="en-US" sz="12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中时间日期格式化符号： </a:t>
            </a:r>
            <a:endParaRPr lang="en-US" altLang="zh-CN" sz="12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%y 两位数的年份表示（00-99）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%Y 四位数的年份表示（000-9999）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%m 月份（01-12）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%d 月内中的一天（0-31）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%H 24小时制小时数（0-23）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%I 12小时制小时数（01-12）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%M 分钟数（00=59）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%S 秒（00-59）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%a 本地简化星期名称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%A 本地完整星期名称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%b 本地简化的月份名称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%B 本地完整的月份名称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%c 本地相应的日期表示和时间表示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%j 年内的一天（001-366）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%p 本地A.M.或P.M.的等价符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%U 一年中的星期数（00-53）星期天为星期的开始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%w 星期（0-6），星期天为星期的开始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%W 一年中的星期数（00-53）星期一为星期的开始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%x 本地相应的日期表示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%X 本地相应的时间表示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%Z 当前时区的名称</a:t>
            </a:r>
          </a:p>
          <a:p>
            <a:r>
              <a:rPr lang="zh-CN" altLang="en-US" sz="1400" dirty="0">
                <a:latin typeface="Times New Roman" panose="02020603050405020304" pitchFamily="18" charset="0"/>
              </a:rPr>
              <a:t>%% %号本身</a:t>
            </a:r>
          </a:p>
        </p:txBody>
      </p:sp>
    </p:spTree>
    <p:extLst>
      <p:ext uri="{BB962C8B-B14F-4D97-AF65-F5344CB8AC3E}">
        <p14:creationId xmlns:p14="http://schemas.microsoft.com/office/powerpoint/2010/main" val="4165786376"/>
      </p:ext>
    </p:extLst>
  </p:cSld>
  <p:clrMapOvr>
    <a:masterClrMapping/>
  </p:clrMapOvr>
  <p:transition spd="slow" advClick="0">
    <p:pull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文本占位符 36866"/>
          <p:cNvSpPr>
            <a:spLocks noGrp="1"/>
          </p:cNvSpPr>
          <p:nvPr>
            <p:ph idx="1"/>
          </p:nvPr>
        </p:nvSpPr>
        <p:spPr>
          <a:xfrm>
            <a:off x="749331" y="1444655"/>
            <a:ext cx="8229600" cy="2645633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1800" b="1" dirty="0">
                <a:ea typeface="+mn-ea"/>
              </a:rPr>
              <a:t>Python</a:t>
            </a:r>
            <a:r>
              <a:rPr lang="zh-CN" altLang="en-US" sz="1800" b="1" dirty="0">
                <a:ea typeface="+mn-ea"/>
              </a:rPr>
              <a:t>提供了两种基本的循环结构语句</a:t>
            </a:r>
            <a:r>
              <a:rPr lang="en-US" altLang="zh-CN" sz="1800" b="1" dirty="0">
                <a:ea typeface="+mn-ea"/>
              </a:rPr>
              <a:t>——</a:t>
            </a:r>
            <a:r>
              <a:rPr lang="en-US" altLang="zh-CN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while</a:t>
            </a:r>
            <a:r>
              <a:rPr lang="zh-CN" altLang="en-US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for</a:t>
            </a:r>
            <a:r>
              <a:rPr lang="zh-CN" altLang="en-US" sz="1800" b="1" dirty="0">
                <a:ea typeface="+mn-ea"/>
                <a:sym typeface="Arial" panose="020B0604020202020204" pitchFamily="34" charset="0"/>
              </a:rPr>
              <a:t>。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b="1" dirty="0">
                <a:ea typeface="+mn-ea"/>
                <a:sym typeface="Arial" panose="020B0604020202020204" pitchFamily="34" charset="0"/>
              </a:rPr>
              <a:t>while循环一般用于循环次数难以提前确定的情况，也可以用于循环次数确定的情况。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b="1" dirty="0">
                <a:ea typeface="+mn-ea"/>
                <a:sym typeface="Arial" panose="020B0604020202020204" pitchFamily="34" charset="0"/>
              </a:rPr>
              <a:t>for循环一般用于循环次数可以提前确定的情况，尤其是用于枚举序列或迭代对象中的元素。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b="1" dirty="0">
                <a:ea typeface="+mn-ea"/>
                <a:sym typeface="Arial" panose="020B0604020202020204" pitchFamily="34" charset="0"/>
              </a:rPr>
              <a:t>相同或不同的循环结构之间都可以</a:t>
            </a:r>
            <a:r>
              <a:rPr lang="zh-CN" altLang="en-US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互相嵌套</a:t>
            </a:r>
            <a:r>
              <a:rPr lang="zh-CN" altLang="en-US" sz="1800" b="1" dirty="0">
                <a:ea typeface="+mn-ea"/>
                <a:sym typeface="Arial" panose="020B0604020202020204" pitchFamily="34" charset="0"/>
              </a:rPr>
              <a:t>，实现更为复杂的逻辑。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for</a:t>
            </a:r>
            <a:r>
              <a:rPr lang="zh-CN" altLang="en-US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循环和</a:t>
            </a:r>
            <a:r>
              <a:rPr lang="en-US" altLang="zh-CN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while</a:t>
            </a:r>
            <a:r>
              <a:rPr lang="zh-CN" altLang="en-US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循环都可以带</a:t>
            </a:r>
            <a:r>
              <a:rPr lang="en-US" altLang="zh-CN" sz="1800" b="1" dirty="0">
                <a:solidFill>
                  <a:srgbClr val="FF0000"/>
                </a:solidFill>
                <a:ea typeface="+mn-ea"/>
                <a:sym typeface="Arial" panose="020B0604020202020204" pitchFamily="34" charset="0"/>
              </a:rPr>
              <a:t>else, </a:t>
            </a:r>
            <a:r>
              <a:rPr lang="zh-CN" altLang="en-US" sz="1800" b="1" dirty="0">
                <a:solidFill>
                  <a:srgbClr val="0000FF"/>
                </a:solidFill>
                <a:sym typeface="Arial" panose="020B0604020202020204" pitchFamily="34" charset="0"/>
              </a:rPr>
              <a:t>如果循环是因为</a:t>
            </a:r>
            <a:r>
              <a:rPr lang="en-US" altLang="zh-CN" sz="1800" b="1" dirty="0">
                <a:solidFill>
                  <a:srgbClr val="0000FF"/>
                </a:solidFill>
                <a:sym typeface="Arial" panose="020B0604020202020204" pitchFamily="34" charset="0"/>
              </a:rPr>
              <a:t>break</a:t>
            </a:r>
            <a:r>
              <a:rPr lang="zh-CN" altLang="en-US" sz="1800" b="1" dirty="0">
                <a:solidFill>
                  <a:srgbClr val="0000FF"/>
                </a:solidFill>
                <a:sym typeface="Arial" panose="020B0604020202020204" pitchFamily="34" charset="0"/>
              </a:rPr>
              <a:t>结束的，就不执行</a:t>
            </a:r>
            <a:r>
              <a:rPr lang="en-US" altLang="zh-CN" sz="1800" b="1" dirty="0">
                <a:solidFill>
                  <a:srgbClr val="0000FF"/>
                </a:solidFill>
                <a:sym typeface="Arial" panose="020B0604020202020204" pitchFamily="34" charset="0"/>
              </a:rPr>
              <a:t>else</a:t>
            </a:r>
            <a:r>
              <a:rPr lang="zh-CN" altLang="en-US" sz="1800" b="1" dirty="0">
                <a:solidFill>
                  <a:srgbClr val="0000FF"/>
                </a:solidFill>
                <a:sym typeface="Arial" panose="020B0604020202020204" pitchFamily="34" charset="0"/>
              </a:rPr>
              <a:t>中的代码</a:t>
            </a:r>
            <a:r>
              <a:rPr lang="zh-CN" altLang="en-US" sz="1800" b="1" dirty="0">
                <a:ea typeface="+mn-ea"/>
                <a:sym typeface="Arial" panose="020B0604020202020204" pitchFamily="34" charset="0"/>
              </a:rPr>
              <a:t>。</a:t>
            </a:r>
          </a:p>
        </p:txBody>
      </p:sp>
      <p:grpSp>
        <p:nvGrpSpPr>
          <p:cNvPr id="4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5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8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 循环结构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6" name="图片 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9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6153479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循环</a:t>
            </a: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结构</a:t>
            </a:r>
            <a:r>
              <a:rPr lang="en-US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en-US" altLang="en-US" sz="2400" b="1" dirty="0">
                <a:solidFill>
                  <a:srgbClr val="0000FF"/>
                </a:solidFill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Loop Structure</a:t>
            </a:r>
            <a:r>
              <a:rPr lang="en-US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的基本用法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1" name="文本占位符 37890"/>
          <p:cNvSpPr txBox="1">
            <a:spLocks/>
          </p:cNvSpPr>
          <p:nvPr/>
        </p:nvSpPr>
        <p:spPr bwMode="auto">
          <a:xfrm>
            <a:off x="2699792" y="3933056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00FF"/>
                </a:solidFill>
                <a:ea typeface="+mn-ea"/>
                <a:sym typeface="Arial" panose="020B0604020202020204" pitchFamily="34" charset="0"/>
              </a:rPr>
              <a:t>while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 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&lt;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条件表达式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&gt;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:</a:t>
            </a: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	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&lt;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循环体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&gt;</a:t>
            </a:r>
            <a:endParaRPr lang="zh-CN" altLang="en-US" sz="1600" b="1" dirty="0">
              <a:ea typeface="+mn-ea"/>
              <a:sym typeface="Arial" panose="020B0604020202020204" pitchFamily="34" charset="0"/>
            </a:endParaRP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[</a:t>
            </a:r>
            <a:r>
              <a:rPr lang="zh-CN" altLang="en-US" sz="1600" b="1" dirty="0">
                <a:solidFill>
                  <a:srgbClr val="0000FF"/>
                </a:solidFill>
                <a:ea typeface="+mn-ea"/>
                <a:sym typeface="Arial" panose="020B0604020202020204" pitchFamily="34" charset="0"/>
              </a:rPr>
              <a:t>else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:</a:t>
            </a:r>
            <a:endParaRPr lang="zh-CN" altLang="en-US" sz="1600" b="1" dirty="0">
              <a:solidFill>
                <a:srgbClr val="FF0000"/>
              </a:solidFill>
              <a:ea typeface="+mn-ea"/>
              <a:sym typeface="Arial" panose="020B0604020202020204" pitchFamily="34" charset="0"/>
            </a:endParaRP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	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&lt;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else子句代码块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&gt;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]</a:t>
            </a: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b="1" dirty="0">
              <a:ea typeface="+mn-ea"/>
              <a:sym typeface="Arial" panose="020B0604020202020204" pitchFamily="34" charset="0"/>
            </a:endParaRP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b="1" dirty="0">
              <a:ea typeface="+mn-ea"/>
              <a:sym typeface="Arial" panose="020B0604020202020204" pitchFamily="34" charset="0"/>
            </a:endParaRP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00FF"/>
                </a:solidFill>
                <a:ea typeface="+mn-ea"/>
                <a:sym typeface="Arial" panose="020B0604020202020204" pitchFamily="34" charset="0"/>
              </a:rPr>
              <a:t>for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 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&lt;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取值 in 序列或迭代对象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&gt;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:</a:t>
            </a: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	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&lt;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循环体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&gt;</a:t>
            </a:r>
            <a:endParaRPr lang="zh-CN" altLang="en-US" sz="1600" b="1" dirty="0">
              <a:ea typeface="+mn-ea"/>
              <a:sym typeface="Arial" panose="020B0604020202020204" pitchFamily="34" charset="0"/>
            </a:endParaRP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[</a:t>
            </a:r>
            <a:r>
              <a:rPr lang="zh-CN" altLang="en-US" sz="1600" b="1" dirty="0">
                <a:solidFill>
                  <a:srgbClr val="0000FF"/>
                </a:solidFill>
                <a:ea typeface="+mn-ea"/>
                <a:sym typeface="Arial" panose="020B0604020202020204" pitchFamily="34" charset="0"/>
              </a:rPr>
              <a:t>else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:</a:t>
            </a:r>
          </a:p>
          <a:p>
            <a:pPr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    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&lt;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else子句代码块</a:t>
            </a:r>
            <a:r>
              <a:rPr lang="en-US" altLang="zh-CN" sz="1600" b="1" dirty="0">
                <a:ea typeface="+mn-ea"/>
                <a:sym typeface="Arial" panose="020B0604020202020204" pitchFamily="34" charset="0"/>
              </a:rPr>
              <a:t>&gt;</a:t>
            </a:r>
            <a:r>
              <a:rPr lang="zh-CN" altLang="en-US" sz="1600" b="1" dirty="0">
                <a:ea typeface="+mn-ea"/>
                <a:sym typeface="Arial" panose="020B0604020202020204" pitchFamily="34" charset="0"/>
              </a:rPr>
              <a:t>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1AE0F9-DC32-4145-B8D0-7E070CD6C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6126530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占位符 39938"/>
          <p:cNvSpPr>
            <a:spLocks noGrp="1"/>
          </p:cNvSpPr>
          <p:nvPr>
            <p:ph idx="1"/>
          </p:nvPr>
        </p:nvSpPr>
        <p:spPr>
          <a:xfrm>
            <a:off x="678106" y="1398466"/>
            <a:ext cx="8358389" cy="963632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latinLnBrk="0" hangingPunct="1"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b="1" dirty="0"/>
              <a:t>为了优化程序以获得更高的效率和运行速度，在编写循环语句时，应</a:t>
            </a:r>
            <a:r>
              <a:rPr lang="zh-CN" altLang="en-US" sz="1800" b="1" dirty="0">
                <a:solidFill>
                  <a:srgbClr val="FF0000"/>
                </a:solidFill>
              </a:rPr>
              <a:t>尽量减少循环内部不必要的计算</a:t>
            </a:r>
            <a:r>
              <a:rPr lang="zh-CN" altLang="en-US" sz="1800" b="1" dirty="0"/>
              <a:t>，将与循环变量无关的代码尽可能地提取到循环之外。</a:t>
            </a:r>
            <a:endParaRPr lang="en-US" altLang="zh-CN" sz="1800" b="1" dirty="0"/>
          </a:p>
          <a:p>
            <a:pPr eaLnBrk="1" latinLnBrk="0" hangingPunct="1"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b="1" dirty="0"/>
              <a:t>同理处理多重循环嵌套的情况。</a:t>
            </a: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3.3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循环结构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17106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循环</a:t>
            </a: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结构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的优化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1" name="文本占位符 40962"/>
          <p:cNvSpPr txBox="1">
            <a:spLocks/>
          </p:cNvSpPr>
          <p:nvPr/>
        </p:nvSpPr>
        <p:spPr bwMode="auto">
          <a:xfrm>
            <a:off x="678106" y="2348881"/>
            <a:ext cx="4325942" cy="194421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b="1" dirty="0"/>
              <a:t>优化前的代码：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digits = (1, 2, 3, 4)</a:t>
            </a:r>
          </a:p>
          <a:p>
            <a:pPr marL="1905" indent="-344805">
              <a:lnSpc>
                <a:spcPct val="50000"/>
              </a:lnSpc>
              <a:buSzPct val="70000"/>
              <a:buFont typeface="Arial" charset="0"/>
              <a:buNone/>
            </a:pPr>
            <a:endParaRPr lang="zh-CN" altLang="en-US" sz="1400" dirty="0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for i in range(1000):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result = []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for i in digits: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for j in digits: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for k in digits: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   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result.append(i*100+j*10+k)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5248871" y="2313911"/>
            <a:ext cx="3673474" cy="2411234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800" b="1" noProof="1"/>
              <a:t>优化后的代码：</a:t>
            </a:r>
            <a:endParaRPr lang="en-US" altLang="zh-CN" sz="1800" b="1" noProof="1"/>
          </a:p>
          <a:p>
            <a:pPr marL="1905" indent="-344805">
              <a:lnSpc>
                <a:spcPct val="80000"/>
              </a:lnSpc>
              <a:buSzPct val="70000"/>
              <a:buNone/>
            </a:pPr>
            <a:r>
              <a:rPr lang="zh-CN" altLang="en-US" sz="1400" dirty="0">
                <a:latin typeface="Consolas" panose="020B0609020204030204" charset="0"/>
              </a:rPr>
              <a:t>digits = (1, 2, 3, 4)</a:t>
            </a:r>
          </a:p>
          <a:p>
            <a:pPr marL="1905" indent="-344805">
              <a:lnSpc>
                <a:spcPct val="50000"/>
              </a:lnSpc>
              <a:spcBef>
                <a:spcPts val="0"/>
              </a:spcBef>
              <a:buSzPct val="70000"/>
              <a:buFont typeface="Arial" charset="0"/>
              <a:buNone/>
            </a:pPr>
            <a:endParaRPr lang="zh-CN" altLang="en-US" sz="1400" noProof="1">
              <a:latin typeface="宋体" panose="02010600030101010101" pitchFamily="2" charset="-122"/>
              <a:sym typeface="+mn-ea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latin typeface="Consolas" panose="020B0609020204030204" charset="0"/>
                <a:sym typeface="+mn-ea"/>
              </a:rPr>
              <a:t>for i in range(1000):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latin typeface="Consolas" panose="020B0609020204030204" charset="0"/>
                <a:sym typeface="+mn-ea"/>
              </a:rPr>
              <a:t>    result = []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latin typeface="Consolas" panose="020B0609020204030204" charset="0"/>
                <a:sym typeface="+mn-ea"/>
              </a:rPr>
              <a:t>    for i in digits: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latin typeface="Consolas" panose="020B0609020204030204" charset="0"/>
                <a:sym typeface="+mn-ea"/>
              </a:rPr>
              <a:t>        i = i*100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latin typeface="Consolas" panose="020B0609020204030204" charset="0"/>
                <a:sym typeface="+mn-ea"/>
              </a:rPr>
              <a:t>        for j in digits: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latin typeface="Consolas" panose="020B0609020204030204" charset="0"/>
                <a:sym typeface="+mn-ea"/>
              </a:rPr>
              <a:t>            j = j*10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latin typeface="Consolas" panose="020B0609020204030204" charset="0"/>
                <a:sym typeface="+mn-ea"/>
              </a:rPr>
              <a:t>            for k in digits: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zh-CN" altLang="en-US" sz="1400" noProof="1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                result.append(i+j+k)</a:t>
            </a:r>
          </a:p>
        </p:txBody>
      </p:sp>
      <p:sp>
        <p:nvSpPr>
          <p:cNvPr id="2" name="矩形 1"/>
          <p:cNvSpPr/>
          <p:nvPr/>
        </p:nvSpPr>
        <p:spPr>
          <a:xfrm>
            <a:off x="678105" y="4437112"/>
            <a:ext cx="4456615" cy="226132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digits = {1, 2, 3, 4}</a:t>
            </a:r>
          </a:p>
          <a:p>
            <a:pPr marL="1905" indent="-344805">
              <a:lnSpc>
                <a:spcPct val="50000"/>
              </a:lnSpc>
              <a:buSzPct val="70000"/>
              <a:buFont typeface="Arial" charset="0"/>
              <a:buNone/>
            </a:pPr>
            <a:endParaRPr lang="en-US" altLang="zh-CN" sz="1600" noProof="1">
              <a:latin typeface="Consolas" panose="020B0609020204030204" charset="0"/>
            </a:endParaRP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for i in range(1000):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</a:t>
            </a:r>
            <a:r>
              <a:rPr lang="en-US" altLang="zh-CN" sz="1600" noProof="1">
                <a:solidFill>
                  <a:srgbClr val="FF0000"/>
                </a:solidFill>
                <a:latin typeface="Consolas" panose="020B0609020204030204" charset="0"/>
              </a:rPr>
              <a:t>result = set()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for i in digits: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    if i == 0:continue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    ii = i * 100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    for j in digits - {i}: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        jj = j * 10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        for k in digits - {i, j}:</a:t>
            </a:r>
          </a:p>
          <a:p>
            <a:pPr marL="1905" indent="-344805">
              <a:lnSpc>
                <a:spcPct val="80000"/>
              </a:lnSpc>
              <a:buSzPct val="70000"/>
              <a:buFont typeface="Arial" charset="0"/>
              <a:buNone/>
            </a:pPr>
            <a:r>
              <a:rPr lang="en-US" altLang="zh-CN" sz="1600" noProof="1">
                <a:latin typeface="Consolas" panose="020B0609020204030204" charset="0"/>
              </a:rPr>
              <a:t>                result.add(ii + jj + k)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5724128" y="5229200"/>
            <a:ext cx="25202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00FF"/>
                </a:solidFill>
              </a:rPr>
              <a:t>运行时间：</a:t>
            </a:r>
            <a:endParaRPr lang="en-US" altLang="zh-CN" sz="1600" dirty="0">
              <a:solidFill>
                <a:srgbClr val="0000FF"/>
              </a:solidFill>
            </a:endParaRPr>
          </a:p>
          <a:p>
            <a:r>
              <a:rPr lang="zh-CN" altLang="en-US" sz="1600" dirty="0">
                <a:solidFill>
                  <a:srgbClr val="0000FF"/>
                </a:solidFill>
              </a:rPr>
              <a:t>0.036002159118652344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0.026001691818237305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0.016000747680664062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DBA2DE-FCC0-40B1-989F-BA31110DF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3489472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2" grpId="0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文本占位符 4198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lang="zh-CN" altLang="en-US" sz="1800" noProof="1">
                <a:latin typeface="宋体" panose="02010600030101010101" pitchFamily="2" charset="-122"/>
                <a:ea typeface="+mn-ea"/>
              </a:rPr>
              <a:t>在循环中应尽量引用局部变量，因为</a:t>
            </a:r>
            <a:r>
              <a:rPr lang="zh-CN" altLang="en-US" sz="180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局部变量的查询和访问速度比全局变量略快</a:t>
            </a:r>
            <a:r>
              <a:rPr lang="zh-CN" altLang="en-US" sz="1800" noProof="1">
                <a:latin typeface="宋体" panose="02010600030101010101" pitchFamily="2" charset="-122"/>
                <a:ea typeface="+mn-ea"/>
              </a:rPr>
              <a:t>。</a:t>
            </a:r>
            <a:endParaRPr lang="en-US" altLang="zh-CN" sz="1800" noProof="1">
              <a:latin typeface="宋体" panose="02010600030101010101" pitchFamily="2" charset="-122"/>
              <a:ea typeface="+mn-ea"/>
            </a:endParaRPr>
          </a:p>
          <a:p>
            <a:pPr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charset="0"/>
              <a:buChar char="n"/>
              <a:defRPr/>
            </a:pPr>
            <a:r>
              <a:rPr lang="zh-CN" altLang="en-US" sz="1800" noProof="1">
                <a:latin typeface="宋体" panose="02010600030101010101" pitchFamily="2" charset="-122"/>
                <a:ea typeface="+mn-ea"/>
              </a:rPr>
              <a:t>在使用模块中的方法时，可以通过将其直接导入来减少查询次数和提高运行速度。</a:t>
            </a:r>
            <a:endParaRPr lang="en-US" altLang="zh-CN" sz="1800" noProof="1">
              <a:latin typeface="宋体" panose="02010600030101010101" pitchFamily="2" charset="-122"/>
              <a:ea typeface="+mn-ea"/>
            </a:endParaRPr>
          </a:p>
          <a:p>
            <a:pPr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charset="0"/>
              <a:buChar char="n"/>
              <a:defRPr/>
            </a:pPr>
            <a:endParaRPr lang="zh-CN" altLang="en-US" sz="1350" noProof="1">
              <a:latin typeface="宋体" panose="02010600030101010101" pitchFamily="2" charset="-122"/>
              <a:ea typeface="+mn-ea"/>
            </a:endParaRP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import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 time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import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 math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endParaRPr lang="en-US" altLang="zh-CN" sz="1350" noProof="1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start = time.time()                    #</a:t>
            </a:r>
            <a:r>
              <a:rPr lang="zh-CN" altLang="en-US" sz="1350" noProof="1">
                <a:latin typeface="Consolas" panose="020B0609020204030204" charset="0"/>
                <a:ea typeface="+mn-ea"/>
              </a:rPr>
              <a:t>获取当前时间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for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 i </a:t>
            </a: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in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 range(10000000):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math.sin(i)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print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('Time Used:', time.time()-start) #</a:t>
            </a:r>
            <a:r>
              <a:rPr lang="zh-CN" altLang="en-US" sz="1350" noProof="1">
                <a:latin typeface="Consolas" panose="020B0609020204030204" charset="0"/>
                <a:ea typeface="+mn-ea"/>
              </a:rPr>
              <a:t>输出所用时间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endParaRPr lang="zh-CN" altLang="en-US" sz="1350" noProof="1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loc_sin = math.sin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start = time.time()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for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 i </a:t>
            </a: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in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 range(10000000):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Consolas" panose="020B0609020204030204" charset="0"/>
                <a:ea typeface="+mn-ea"/>
              </a:rPr>
              <a:t>    loc_sin(i)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print</a:t>
            </a:r>
            <a:r>
              <a:rPr lang="en-US" altLang="zh-CN" sz="1350" noProof="1">
                <a:latin typeface="Consolas" panose="020B0609020204030204" charset="0"/>
                <a:ea typeface="+mn-ea"/>
              </a:rPr>
              <a:t>('Time Used:', time.time()-start)</a:t>
            </a: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3.3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循环结构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171061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循环</a:t>
            </a:r>
            <a:r>
              <a:rPr lang="en-US" altLang="en-US" sz="2800" b="1" dirty="0" err="1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结构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的优化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6016" y="465313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Time Used: 2.5671467781066895</a:t>
            </a:r>
          </a:p>
          <a:p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Time Used: 2.0831191539764404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8E9075-5074-4EF4-83AF-0A4EA4D66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48302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占位符 43010"/>
          <p:cNvSpPr>
            <a:spLocks noGrp="1"/>
          </p:cNvSpPr>
          <p:nvPr>
            <p:ph idx="1"/>
          </p:nvPr>
        </p:nvSpPr>
        <p:spPr>
          <a:xfrm>
            <a:off x="698248" y="1463705"/>
            <a:ext cx="8229600" cy="251821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break语句在while循环和for循环中都可以使用，一般放在if选择结构中，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一旦break语句被执行，将使得整个循环提前结束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。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continue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语句的作用是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终止当前循环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，并忽略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continue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之后的语句，然后回到循环的顶端，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提前进入下一次循环</a:t>
            </a:r>
            <a:r>
              <a:rPr lang="zh-CN" altLang="en-US" sz="1800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除非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break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语句让代码更简单或更清晰，否则不要轻易使用。</a:t>
            </a:r>
          </a:p>
        </p:txBody>
      </p:sp>
      <p:grpSp>
        <p:nvGrpSpPr>
          <p:cNvPr id="4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5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8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3.3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循环结构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6" name="图片 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9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93723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break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continue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语句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1" name="文本占位符 44034"/>
          <p:cNvSpPr txBox="1">
            <a:spLocks/>
          </p:cNvSpPr>
          <p:nvPr/>
        </p:nvSpPr>
        <p:spPr bwMode="auto">
          <a:xfrm>
            <a:off x="914400" y="3140968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zh-CN" altLang="en-US" sz="1800" noProof="1">
                <a:latin typeface="宋体" panose="02010600030101010101" pitchFamily="2" charset="-122"/>
                <a:ea typeface="+mn-ea"/>
              </a:rPr>
              <a:t>计算小于100的最大素数，注意break语句和else子句的用法。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endParaRPr lang="zh-CN" altLang="en-US" sz="1500" noProof="1">
              <a:latin typeface="宋体" panose="02010600030101010101" pitchFamily="2" charset="-122"/>
              <a:ea typeface="+mn-ea"/>
            </a:endParaRP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zh-CN" altLang="en-US" sz="1600" noProof="1">
                <a:latin typeface="Consolas" panose="020B0609020204030204" charset="0"/>
                <a:ea typeface="+mn-ea"/>
              </a:rPr>
              <a:t>&gt;&gt;&gt; for n in range(100, 1, -1):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zh-CN" altLang="en-US" sz="1600" noProof="1">
                <a:latin typeface="Consolas" panose="020B0609020204030204" charset="0"/>
                <a:ea typeface="+mn-ea"/>
              </a:rPr>
              <a:t>    for i in range(2, n):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zh-CN" altLang="en-US" sz="1600" noProof="1">
                <a:latin typeface="Consolas" panose="020B0609020204030204" charset="0"/>
                <a:ea typeface="+mn-ea"/>
              </a:rPr>
              <a:t>	</a:t>
            </a: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zh-CN" altLang="en-US" sz="1600" noProof="1">
                <a:latin typeface="Consolas" panose="020B0609020204030204" charset="0"/>
                <a:ea typeface="+mn-ea"/>
              </a:rPr>
              <a:t>if n % i == 0: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    </a:t>
            </a:r>
            <a:r>
              <a:rPr lang="zh-CN" altLang="en-US" sz="1600" noProof="1">
                <a:latin typeface="Consolas" panose="020B0609020204030204" charset="0"/>
                <a:ea typeface="+mn-ea"/>
              </a:rPr>
              <a:t>break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zh-CN" altLang="en-US" sz="1600" noProof="1">
                <a:latin typeface="Consolas" panose="020B0609020204030204" charset="0"/>
                <a:ea typeface="+mn-ea"/>
              </a:rPr>
              <a:t>    else: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zh-CN" altLang="en-US" sz="1600" noProof="1">
                <a:latin typeface="Consolas" panose="020B0609020204030204" charset="0"/>
                <a:ea typeface="+mn-ea"/>
              </a:rPr>
              <a:t>	</a:t>
            </a: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zh-CN" altLang="en-US" sz="1600" noProof="1">
                <a:latin typeface="Consolas" panose="020B0609020204030204" charset="0"/>
                <a:ea typeface="+mn-ea"/>
              </a:rPr>
              <a:t>print(n)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zh-CN" altLang="en-US" sz="1600" noProof="1">
                <a:latin typeface="Consolas" panose="020B0609020204030204" charset="0"/>
                <a:ea typeface="+mn-ea"/>
              </a:rPr>
              <a:t>break	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endParaRPr lang="zh-CN" altLang="en-US" sz="1600" noProof="1">
              <a:latin typeface="Consolas" panose="020B0609020204030204" charset="0"/>
              <a:ea typeface="+mn-ea"/>
            </a:endParaRP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Font typeface="Arial" charset="0"/>
              <a:buNone/>
              <a:defRPr/>
            </a:pPr>
            <a:r>
              <a:rPr lang="zh-CN" altLang="en-US" sz="1600" noProof="1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97</a:t>
            </a:r>
          </a:p>
        </p:txBody>
      </p:sp>
      <p:sp>
        <p:nvSpPr>
          <p:cNvPr id="3" name="矩形 2"/>
          <p:cNvSpPr/>
          <p:nvPr/>
        </p:nvSpPr>
        <p:spPr>
          <a:xfrm>
            <a:off x="3851920" y="4682412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noProof="1">
                <a:latin typeface="宋体" panose="02010600030101010101" pitchFamily="2" charset="-122"/>
                <a:sym typeface="+mn-ea"/>
              </a:rPr>
              <a:t>输出100以内的所有素数，怎么修订</a:t>
            </a:r>
            <a:r>
              <a:rPr lang="en-US" altLang="zh-CN" noProof="1">
                <a:latin typeface="宋体" panose="02010600030101010101" pitchFamily="2" charset="-122"/>
                <a:sym typeface="+mn-ea"/>
              </a:rPr>
              <a:t>?</a:t>
            </a:r>
            <a:endParaRPr lang="zh-CN" altLang="en-US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47789" y="4713776"/>
            <a:ext cx="304131" cy="306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50DDA7-4F9B-49E9-A476-E5E398229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572611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文本占位符 45058"/>
          <p:cNvSpPr>
            <a:spLocks noGrp="1"/>
          </p:cNvSpPr>
          <p:nvPr>
            <p:ph idx="1"/>
          </p:nvPr>
        </p:nvSpPr>
        <p:spPr>
          <a:xfrm>
            <a:off x="1034390" y="1268760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i=0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while i&lt;10: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if i%2==0: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continue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print(i)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i+=1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8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警惕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continue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带来的问题：永不结束的死循环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,Ctrl+C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强行终止。</a:t>
            </a: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3.3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循环结构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93723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break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continue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语句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7" name="文本占位符 46082"/>
          <p:cNvSpPr txBox="1">
            <a:spLocks/>
          </p:cNvSpPr>
          <p:nvPr/>
        </p:nvSpPr>
        <p:spPr bwMode="auto">
          <a:xfrm>
            <a:off x="1338521" y="4113536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70000"/>
              <a:buFont typeface="Wingdings" panose="05000000000000000000" pitchFamily="2" charset="2"/>
              <a:buNone/>
            </a:pPr>
            <a:endParaRPr lang="en-US" altLang="zh-CN" sz="1800" dirty="0">
              <a:latin typeface="宋体" panose="02010600030101010101" pitchFamily="2" charset="-122"/>
              <a:ea typeface="+mn-ea"/>
            </a:endParaRPr>
          </a:p>
          <a:p>
            <a:pPr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for </a:t>
            </a:r>
            <a:r>
              <a:rPr lang="en-US" altLang="zh-CN" sz="1600" dirty="0" err="1">
                <a:latin typeface="Consolas" panose="020B0609020204030204" charset="0"/>
                <a:ea typeface="+mn-ea"/>
              </a:rPr>
              <a:t>i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 in range(10):</a:t>
            </a:r>
          </a:p>
          <a:p>
            <a:pPr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if i%2==0:</a:t>
            </a:r>
          </a:p>
          <a:p>
            <a:pPr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continue</a:t>
            </a:r>
          </a:p>
          <a:p>
            <a:pPr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print(</a:t>
            </a:r>
            <a:r>
              <a:rPr lang="en-US" altLang="zh-CN" sz="1600" dirty="0" err="1">
                <a:latin typeface="Consolas" panose="020B0609020204030204" charset="0"/>
                <a:ea typeface="+mn-ea"/>
              </a:rPr>
              <a:t>i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, end=' ')</a:t>
            </a:r>
          </a:p>
          <a:p>
            <a:pPr>
              <a:buSzPct val="70000"/>
              <a:buFont typeface="Wingdings" panose="05000000000000000000" pitchFamily="2" charset="2"/>
              <a:buNone/>
            </a:pPr>
            <a:endParaRPr lang="en-US" altLang="zh-CN" sz="1600" dirty="0">
              <a:latin typeface="Consolas" panose="020B0609020204030204" charset="0"/>
              <a:ea typeface="+mn-ea"/>
            </a:endParaRPr>
          </a:p>
          <a:p>
            <a:pPr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1 3 5 7 9</a:t>
            </a:r>
          </a:p>
        </p:txBody>
      </p:sp>
      <p:sp>
        <p:nvSpPr>
          <p:cNvPr id="18" name="矩形 17"/>
          <p:cNvSpPr/>
          <p:nvPr/>
        </p:nvSpPr>
        <p:spPr>
          <a:xfrm>
            <a:off x="1317908" y="3951812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noProof="1">
                <a:latin typeface="宋体" panose="02010600030101010101" pitchFamily="2" charset="-122"/>
                <a:sym typeface="+mn-ea"/>
              </a:rPr>
              <a:t>怎么修订</a:t>
            </a:r>
            <a:r>
              <a:rPr lang="en-US" altLang="zh-CN" noProof="1">
                <a:latin typeface="宋体" panose="02010600030101010101" pitchFamily="2" charset="-122"/>
                <a:sym typeface="+mn-ea"/>
              </a:rPr>
              <a:t>?</a:t>
            </a:r>
            <a:endParaRPr lang="zh-CN" altLang="en-US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13777" y="3983176"/>
            <a:ext cx="304131" cy="306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CF025B-ED6E-4B4C-8583-B8646EB3E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2482600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文本占位符 47106"/>
          <p:cNvSpPr>
            <a:spLocks noGrp="1"/>
          </p:cNvSpPr>
          <p:nvPr>
            <p:ph idx="1"/>
          </p:nvPr>
        </p:nvSpPr>
        <p:spPr>
          <a:xfrm>
            <a:off x="827584" y="1431940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&gt;&gt;&gt; for i in range(10):</a:t>
            </a: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    if i%2==0:</a:t>
            </a: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i+=1 </a:t>
            </a: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        continue</a:t>
            </a: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</a:t>
            </a:r>
            <a:r>
              <a:rPr lang="en-US" altLang="zh-CN" sz="1600" dirty="0">
                <a:latin typeface="Consolas" panose="020B0609020204030204" charset="0"/>
                <a:ea typeface="+mn-ea"/>
              </a:rPr>
              <a:t>print(i, end=' ')</a:t>
            </a: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endParaRPr lang="en-US" altLang="zh-CN" sz="1600" dirty="0">
              <a:latin typeface="Consolas" panose="020B0609020204030204" charset="0"/>
              <a:ea typeface="+mn-ea"/>
            </a:endParaRP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1 3 5 7 9</a:t>
            </a:r>
          </a:p>
        </p:txBody>
      </p:sp>
      <p:grpSp>
        <p:nvGrpSpPr>
          <p:cNvPr id="5" name="组合 114"/>
          <p:cNvGrpSpPr/>
          <p:nvPr/>
        </p:nvGrpSpPr>
        <p:grpSpPr>
          <a:xfrm>
            <a:off x="-324544" y="113695"/>
            <a:ext cx="6225040" cy="662730"/>
            <a:chOff x="93137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93137" y="3380765"/>
              <a:ext cx="6225040" cy="662730"/>
              <a:chOff x="93137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3.3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循环结构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393723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break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continue</a:t>
            </a: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语句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11" name="文本占位符 48130"/>
          <p:cNvSpPr txBox="1">
            <a:spLocks/>
          </p:cNvSpPr>
          <p:nvPr/>
        </p:nvSpPr>
        <p:spPr bwMode="auto">
          <a:xfrm>
            <a:off x="709336" y="3645024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</a:rPr>
              <a:t>每次进入循环时的i已经不再是上一次的i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，所以修改其值并不会影响循环的执行。</a:t>
            </a:r>
            <a:endParaRPr lang="nn-NO" altLang="en-US" sz="1800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endParaRPr lang="nn-NO" altLang="en-US" sz="1800" b="1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r>
              <a:rPr lang="nn-NO" altLang="en-US" sz="1600" b="1" dirty="0">
                <a:latin typeface="Consolas" panose="020B0609020204030204" charset="0"/>
                <a:ea typeface="+mn-ea"/>
              </a:rPr>
              <a:t>&gt;&gt;&gt; for i in range(</a:t>
            </a:r>
            <a:r>
              <a:rPr lang="en-US" altLang="zh-CN" sz="1600" b="1" dirty="0">
                <a:latin typeface="Consolas" panose="020B0609020204030204" charset="0"/>
                <a:ea typeface="+mn-ea"/>
              </a:rPr>
              <a:t>5</a:t>
            </a:r>
            <a:r>
              <a:rPr lang="nn-NO" altLang="en-US" sz="1600" b="1" dirty="0">
                <a:latin typeface="Consolas" panose="020B0609020204030204" charset="0"/>
                <a:ea typeface="+mn-ea"/>
              </a:rPr>
              <a:t>):	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b="1" dirty="0">
                <a:latin typeface="Consolas" panose="020B0609020204030204" charset="0"/>
                <a:sym typeface="+mn-ea"/>
              </a:rPr>
              <a:t>    </a:t>
            </a:r>
            <a:r>
              <a:rPr lang="nn-NO" altLang="en-US" sz="1600" b="1" dirty="0">
                <a:latin typeface="Consolas" panose="020B0609020204030204" charset="0"/>
                <a:ea typeface="+mn-ea"/>
              </a:rPr>
              <a:t>print</a:t>
            </a:r>
            <a:r>
              <a:rPr lang="en-US" altLang="nn-NO" sz="1600" b="1" dirty="0">
                <a:latin typeface="Consolas" panose="020B0609020204030204" charset="0"/>
                <a:ea typeface="+mn-ea"/>
              </a:rPr>
              <a:t>(</a:t>
            </a:r>
            <a:r>
              <a:rPr lang="nn-NO" altLang="en-US" sz="1600" b="1" dirty="0">
                <a:latin typeface="Consolas" panose="020B0609020204030204" charset="0"/>
                <a:ea typeface="+mn-ea"/>
              </a:rPr>
              <a:t>id(i), ':', </a:t>
            </a:r>
            <a:r>
              <a:rPr lang="en-US" altLang="nn-NO" sz="1600" b="1" dirty="0" err="1">
                <a:latin typeface="Consolas" panose="020B0609020204030204" charset="0"/>
                <a:ea typeface="+mn-ea"/>
              </a:rPr>
              <a:t>i</a:t>
            </a:r>
            <a:r>
              <a:rPr lang="en-US" altLang="nn-NO" sz="1600" b="1" dirty="0">
                <a:latin typeface="Consolas" panose="020B0609020204030204" charset="0"/>
                <a:ea typeface="+mn-ea"/>
              </a:rPr>
              <a:t>)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endParaRPr lang="en-US" altLang="nn-NO" sz="1350" dirty="0">
              <a:latin typeface="Consolas" panose="020B0609020204030204" charset="0"/>
              <a:ea typeface="+mn-ea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r>
              <a:rPr lang="nn-NO" altLang="en-US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493003840 : 0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r>
              <a:rPr lang="nn-NO" altLang="en-US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493003872 : 1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r>
              <a:rPr lang="nn-NO" altLang="en-US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493003904 : 2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r>
              <a:rPr lang="nn-NO" altLang="en-US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493003936 : 3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None/>
            </a:pPr>
            <a:r>
              <a:rPr lang="nn-NO" altLang="en-US" sz="1350" dirty="0">
                <a:solidFill>
                  <a:srgbClr val="0000FF"/>
                </a:solidFill>
                <a:latin typeface="Consolas" panose="020B0609020204030204" charset="0"/>
                <a:ea typeface="+mn-ea"/>
              </a:rPr>
              <a:t>493003968 : 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2D44CB-7829-48D2-A728-AFE1C3346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6324522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678451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z="2400" b="1" dirty="0"/>
              <a:t>&gt;&gt;&gt;for s in "Hello Python": 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b="1" dirty="0"/>
              <a:t>       if s=="o": 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b="1" dirty="0"/>
              <a:t>           continue 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b="1" dirty="0"/>
              <a:t>       print(s, end="") 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b="1" dirty="0"/>
              <a:t>else: 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b="1" dirty="0"/>
              <a:t>       print("exit") 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zh-CN" sz="2400" b="1" dirty="0">
                <a:solidFill>
                  <a:srgbClr val="0000FF"/>
                </a:solidFill>
              </a:rPr>
              <a:t>输出结果：</a:t>
            </a:r>
            <a:r>
              <a:rPr lang="en-US" altLang="zh-CN" sz="2400" b="1" dirty="0">
                <a:solidFill>
                  <a:srgbClr val="0000FF"/>
                </a:solidFill>
              </a:rPr>
              <a:t>Hell </a:t>
            </a:r>
            <a:r>
              <a:rPr lang="en-US" altLang="zh-CN" sz="2400" b="1" dirty="0" err="1">
                <a:solidFill>
                  <a:srgbClr val="0000FF"/>
                </a:solidFill>
              </a:rPr>
              <a:t>Pythnexit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endParaRPr lang="zh-CN" altLang="zh-CN" sz="24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35</a:t>
            </a:fld>
            <a:endParaRPr lang="zh-CN" altLang="en-US" dirty="0"/>
          </a:p>
        </p:txBody>
      </p:sp>
      <p:grpSp>
        <p:nvGrpSpPr>
          <p:cNvPr id="5" name="组合 114"/>
          <p:cNvGrpSpPr/>
          <p:nvPr/>
        </p:nvGrpSpPr>
        <p:grpSpPr>
          <a:xfrm>
            <a:off x="-756592" y="113695"/>
            <a:ext cx="6225040" cy="662730"/>
            <a:chOff x="-338911" y="3380765"/>
            <a:chExt cx="6225040" cy="662730"/>
          </a:xfrm>
        </p:grpSpPr>
        <p:grpSp>
          <p:nvGrpSpPr>
            <p:cNvPr id="6" name="组合 105"/>
            <p:cNvGrpSpPr/>
            <p:nvPr/>
          </p:nvGrpSpPr>
          <p:grpSpPr>
            <a:xfrm>
              <a:off x="-338911" y="3380765"/>
              <a:ext cx="6225040" cy="662730"/>
              <a:chOff x="-338911" y="3380765"/>
              <a:chExt cx="6225040" cy="662730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-338911" y="3383972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课堂练习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9B9B1A29-5DD9-4D76-B7E2-8BA07156D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268760"/>
            <a:ext cx="4151736" cy="252028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75FB610-2885-4004-A8A5-4F9EEB31A5F7}"/>
              </a:ext>
            </a:extLst>
          </p:cNvPr>
          <p:cNvSpPr txBox="1"/>
          <p:nvPr/>
        </p:nvSpPr>
        <p:spPr>
          <a:xfrm>
            <a:off x="4355976" y="3068960"/>
            <a:ext cx="3240360" cy="50405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52E3E93-4857-43FE-8596-1279CB241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5" y="3861048"/>
            <a:ext cx="4013717" cy="229046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F04B8A9-36A6-4CF8-A9B1-D35BDA250F8B}"/>
              </a:ext>
            </a:extLst>
          </p:cNvPr>
          <p:cNvSpPr txBox="1"/>
          <p:nvPr/>
        </p:nvSpPr>
        <p:spPr>
          <a:xfrm>
            <a:off x="4353823" y="5407151"/>
            <a:ext cx="3240360" cy="50405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6C736DD-8BBD-485E-BC1E-2E5B13270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952" y="1250497"/>
            <a:ext cx="3892448" cy="500615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72D122A-055B-49A2-BF9A-AC299965A2C4}"/>
              </a:ext>
            </a:extLst>
          </p:cNvPr>
          <p:cNvSpPr txBox="1"/>
          <p:nvPr/>
        </p:nvSpPr>
        <p:spPr>
          <a:xfrm>
            <a:off x="4279952" y="2852936"/>
            <a:ext cx="1012128" cy="313932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562646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8E8607-0A70-439C-9CC3-25DD0132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BE48BD-29A2-4FAD-9AD4-A8F81E5425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16288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lvl="0" indent="0">
              <a:buNone/>
            </a:pPr>
            <a:r>
              <a:rPr lang="en-US" altLang="zh-CN" sz="2800" b="1" dirty="0"/>
              <a:t>&gt;&gt;&gt;for s in "Hello Python": </a:t>
            </a:r>
            <a:endParaRPr lang="zh-CN" altLang="zh-CN" sz="2800" dirty="0"/>
          </a:p>
          <a:p>
            <a:pPr marL="0" indent="0">
              <a:buNone/>
            </a:pPr>
            <a:r>
              <a:rPr lang="en-US" altLang="zh-CN" sz="2800" b="1" dirty="0"/>
              <a:t>       if s=="o": </a:t>
            </a:r>
            <a:endParaRPr lang="zh-CN" altLang="zh-CN" sz="2800" dirty="0"/>
          </a:p>
          <a:p>
            <a:pPr marL="0" indent="0">
              <a:buNone/>
            </a:pPr>
            <a:r>
              <a:rPr lang="en-US" altLang="zh-CN" sz="2800" b="1" dirty="0"/>
              <a:t>           break </a:t>
            </a:r>
            <a:endParaRPr lang="zh-CN" altLang="zh-CN" sz="2800" dirty="0"/>
          </a:p>
          <a:p>
            <a:pPr marL="0" indent="0">
              <a:buNone/>
            </a:pPr>
            <a:r>
              <a:rPr lang="en-US" altLang="zh-CN" sz="2800" b="1" dirty="0"/>
              <a:t>       print(s, end="") 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b="1" dirty="0"/>
              <a:t>else: 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b="1" dirty="0"/>
              <a:t>       print("exit") 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46673E5-7A15-4B85-94C9-1815FF7652F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2CAB92-B144-4491-A7F7-7E63652F89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E04298F-AC47-4ACB-8600-992985D04F4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E1EC02E8-486C-4C19-8064-7710BD493EF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4846DA88-2FBB-48B8-9A41-FD4E37A280A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10F59E7D-2890-4327-BEEF-56B7FFC84E0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868A5BAC-515B-4F22-B7DB-6AD5F27EAE45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87033BD-72B8-4952-B6C5-1CAA9F97AA07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634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文本占位符 49154"/>
          <p:cNvSpPr>
            <a:spLocks noGrp="1"/>
          </p:cNvSpPr>
          <p:nvPr>
            <p:ph idx="1"/>
          </p:nvPr>
        </p:nvSpPr>
        <p:spPr/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例：计算</a:t>
            </a:r>
            <a:r>
              <a:rPr lang="en-US" altLang="zh-CN" sz="1800" dirty="0">
                <a:latin typeface="宋体" panose="02010600030101010101" pitchFamily="2" charset="-122"/>
                <a:ea typeface="+mn-ea"/>
              </a:rPr>
              <a:t>1+2+3+…+100 </a:t>
            </a: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的值。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dirty="0">
              <a:latin typeface="宋体" panose="02010600030101010101" pitchFamily="2" charset="-122"/>
              <a:ea typeface="+mn-ea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350" dirty="0">
              <a:latin typeface="Consolas" panose="020B0609020204030204" charset="0"/>
              <a:ea typeface="+mn-ea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C85C05D0-6302-42A4-85DB-94CB76DB3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30" y="908720"/>
            <a:ext cx="208903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Times New Roman" pitchFamily="18" charset="0"/>
                <a:ea typeface="仿宋" panose="02010609060101010101" pitchFamily="49" charset="-122"/>
                <a:sym typeface="宋体" panose="02010600030101010101" pitchFamily="2" charset="-122"/>
              </a:rPr>
              <a:t>一些案例</a:t>
            </a:r>
            <a:endParaRPr lang="zh-CN" altLang="en-US" sz="2800" b="1" dirty="0">
              <a:latin typeface="Times New Roman" pitchFamily="18" charset="0"/>
              <a:ea typeface="仿宋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95936" y="1814604"/>
            <a:ext cx="5292080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SzPct val="70000"/>
            </a:pP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</a:rPr>
              <a:t>解法二</a:t>
            </a:r>
            <a:r>
              <a:rPr lang="zh-CN" altLang="en-US" sz="1600" dirty="0">
                <a:latin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</a:rPr>
              <a:t>print</a:t>
            </a:r>
            <a:r>
              <a:rPr lang="en-US" altLang="zh-CN" sz="1600" dirty="0">
                <a:latin typeface="Consolas" panose="020B0609020204030204" charset="0"/>
              </a:rPr>
              <a:t>(</a:t>
            </a:r>
            <a:r>
              <a:rPr lang="zh-CN" altLang="en-US" sz="1600" dirty="0">
                <a:latin typeface="Consolas" panose="020B0609020204030204" charset="0"/>
              </a:rPr>
              <a:t>'1+2+3+</a:t>
            </a:r>
            <a:r>
              <a:rPr lang="zh-CN" altLang="en-US" sz="1600" dirty="0"/>
              <a:t>…</a:t>
            </a:r>
            <a:r>
              <a:rPr lang="zh-CN" altLang="en-US" sz="1600" dirty="0">
                <a:latin typeface="Consolas" panose="020B0609020204030204" charset="0"/>
              </a:rPr>
              <a:t>+100 = ', sum(range(1,101))</a:t>
            </a:r>
            <a:r>
              <a:rPr lang="en-US" altLang="zh-CN" sz="1600" dirty="0">
                <a:latin typeface="Consolas" panose="020B0609020204030204" charset="0"/>
              </a:rPr>
              <a:t>)</a:t>
            </a:r>
          </a:p>
        </p:txBody>
      </p:sp>
      <p:sp>
        <p:nvSpPr>
          <p:cNvPr id="4" name="矩形 3"/>
          <p:cNvSpPr/>
          <p:nvPr/>
        </p:nvSpPr>
        <p:spPr>
          <a:xfrm>
            <a:off x="917057" y="1814604"/>
            <a:ext cx="4572000" cy="14804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  <a:buSzPct val="70000"/>
            </a:pP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</a:rPr>
              <a:t>解法一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</a:rPr>
              <a:t>s=0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</a:rPr>
              <a:t>for i in range(1,101):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</a:rPr>
              <a:t>    s = s + i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</a:rPr>
              <a:t>print</a:t>
            </a:r>
            <a:r>
              <a:rPr lang="en-US" altLang="zh-CN" sz="1600" dirty="0">
                <a:latin typeface="Consolas" panose="020B0609020204030204" charset="0"/>
              </a:rPr>
              <a:t>(</a:t>
            </a:r>
            <a:r>
              <a:rPr lang="zh-CN" altLang="en-US" sz="1600" dirty="0">
                <a:latin typeface="Consolas" panose="020B0609020204030204" charset="0"/>
              </a:rPr>
              <a:t>'1+2+3+</a:t>
            </a:r>
            <a:r>
              <a:rPr lang="zh-CN" altLang="en-US" sz="1600" dirty="0"/>
              <a:t>…</a:t>
            </a:r>
            <a:r>
              <a:rPr lang="zh-CN" altLang="en-US" sz="1600" dirty="0">
                <a:latin typeface="Consolas" panose="020B0609020204030204" charset="0"/>
              </a:rPr>
              <a:t>+100 = ', s</a:t>
            </a:r>
            <a:r>
              <a:rPr lang="en-US" altLang="zh-CN" sz="1600" dirty="0">
                <a:latin typeface="Consolas" panose="020B0609020204030204" charset="0"/>
              </a:rPr>
              <a:t>)</a:t>
            </a:r>
          </a:p>
        </p:txBody>
      </p:sp>
      <p:sp>
        <p:nvSpPr>
          <p:cNvPr id="13" name="文本占位符 50178"/>
          <p:cNvSpPr txBox="1">
            <a:spLocks/>
          </p:cNvSpPr>
          <p:nvPr/>
        </p:nvSpPr>
        <p:spPr bwMode="auto">
          <a:xfrm>
            <a:off x="757808" y="3573016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宋体" panose="02010600030101010101" pitchFamily="2" charset="-122"/>
                <a:ea typeface="+mn-ea"/>
              </a:rPr>
              <a:t>例：输出序列中的元素。</a:t>
            </a:r>
          </a:p>
          <a:p>
            <a:pPr>
              <a:buSzPct val="70000"/>
              <a:buFont typeface="Wingdings" panose="05000000000000000000" pitchFamily="2" charset="2"/>
              <a:buNone/>
            </a:pPr>
            <a:endParaRPr lang="zh-CN" altLang="en-US" sz="1500" dirty="0">
              <a:latin typeface="宋体" panose="02010600030101010101" pitchFamily="2" charset="-122"/>
              <a:ea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a_list=['a', 'b', </a:t>
            </a:r>
            <a:r>
              <a:rPr lang="zh-CN" altLang="en-US" sz="1350" dirty="0">
                <a:latin typeface="Consolas" panose="020B0609020204030204" charset="0"/>
              </a:rPr>
              <a:t>'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c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', </a:t>
            </a:r>
            <a:r>
              <a:rPr lang="zh-CN" altLang="en-US" sz="1350" dirty="0">
                <a:latin typeface="Consolas" panose="020B0609020204030204" charset="0"/>
              </a:rPr>
              <a:t>'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d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', 'e']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for i, v in enumerate(a_list):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print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(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'列表的第', i+1, '个元素是：', v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)</a:t>
            </a:r>
          </a:p>
        </p:txBody>
      </p:sp>
      <p:grpSp>
        <p:nvGrpSpPr>
          <p:cNvPr id="12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5" name="图片 14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6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3D8E88-C8BC-4D65-8BCA-06D71E73B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0871575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文本占位符 52226"/>
          <p:cNvSpPr>
            <a:spLocks noGrp="1"/>
          </p:cNvSpPr>
          <p:nvPr>
            <p:ph idx="1"/>
          </p:nvPr>
        </p:nvSpPr>
        <p:spPr>
          <a:xfrm>
            <a:off x="281367" y="980728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latinLnBrk="0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例：输出“水仙花数”。所谓水仙花数是指1个3位的十进制数，其各位数字的立方和等于该数本身。例如：153是水仙花数，因为153 = 1</a:t>
            </a:r>
            <a:r>
              <a:rPr lang="zh-CN" altLang="en-US" sz="1800" b="1" baseline="30000" dirty="0">
                <a:latin typeface="宋体" panose="02010600030101010101" pitchFamily="2" charset="-122"/>
                <a:ea typeface="+mn-ea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 + 5</a:t>
            </a:r>
            <a:r>
              <a:rPr lang="zh-CN" altLang="en-US" sz="1800" b="1" baseline="30000" dirty="0">
                <a:latin typeface="宋体" panose="02010600030101010101" pitchFamily="2" charset="-122"/>
                <a:ea typeface="+mn-ea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 + 3</a:t>
            </a:r>
            <a:r>
              <a:rPr lang="zh-CN" altLang="en-US" sz="1800" b="1" baseline="30000" dirty="0">
                <a:latin typeface="宋体" panose="02010600030101010101" pitchFamily="2" charset="-122"/>
                <a:ea typeface="+mn-ea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 。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115616" y="4356156"/>
            <a:ext cx="527632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SzPct val="70000"/>
              <a:buNone/>
            </a:pP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</a:rPr>
              <a:t>#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+mn-ea"/>
              </a:rPr>
              <a:t>解法二：</a:t>
            </a:r>
            <a:endParaRPr lang="en-US" altLang="zh-CN" sz="1800" dirty="0">
              <a:solidFill>
                <a:srgbClr val="0000FF"/>
              </a:solidFill>
              <a:latin typeface="宋体" panose="02010600030101010101" pitchFamily="2" charset="-122"/>
              <a:ea typeface="+mn-ea"/>
            </a:endParaRPr>
          </a:p>
          <a:p>
            <a:pPr marL="0" indent="0">
              <a:buFont typeface="Arial" charset="0"/>
              <a:buNone/>
            </a:pPr>
            <a:r>
              <a:rPr lang="en-US" altLang="zh-CN" sz="1600" dirty="0">
                <a:latin typeface="Consolas" panose="020B0609020204030204" charset="0"/>
                <a:ea typeface="+mn-ea"/>
              </a:rPr>
              <a:t> </a:t>
            </a:r>
            <a:r>
              <a:rPr lang="zh-CN" altLang="en-US" sz="1600" dirty="0">
                <a:latin typeface="Consolas" panose="020B0609020204030204" charset="0"/>
                <a:ea typeface="+mn-ea"/>
              </a:rPr>
              <a:t>for num in range(100, 1000):</a:t>
            </a:r>
          </a:p>
          <a:p>
            <a:pPr marL="0" indent="0">
              <a:buFont typeface="Arial" charset="0"/>
              <a:buNone/>
            </a:pPr>
            <a:r>
              <a:rPr lang="zh-CN" altLang="en-US" sz="1600" dirty="0">
                <a:latin typeface="Consolas" panose="020B0609020204030204" charset="0"/>
                <a:ea typeface="+mn-ea"/>
              </a:rPr>
              <a:t>    r = map(lambda x:int(x)**3, str(num))</a:t>
            </a:r>
          </a:p>
          <a:p>
            <a:pPr marL="0" indent="0">
              <a:buFont typeface="Arial" charset="0"/>
              <a:buNone/>
            </a:pPr>
            <a:r>
              <a:rPr lang="zh-CN" altLang="en-US" sz="1600" dirty="0">
                <a:latin typeface="Consolas" panose="020B0609020204030204" charset="0"/>
                <a:ea typeface="+mn-ea"/>
              </a:rPr>
              <a:t>    if sum(r) == num:</a:t>
            </a:r>
          </a:p>
          <a:p>
            <a:pPr marL="0" indent="0">
              <a:buFont typeface="Arial" charset="0"/>
              <a:buNone/>
            </a:pPr>
            <a:r>
              <a:rPr lang="zh-CN" altLang="en-US" sz="1600" dirty="0">
                <a:latin typeface="Consolas" panose="020B0609020204030204" charset="0"/>
                <a:ea typeface="+mn-ea"/>
              </a:rPr>
              <a:t>        print(num)</a:t>
            </a:r>
          </a:p>
        </p:txBody>
      </p:sp>
      <p:grpSp>
        <p:nvGrpSpPr>
          <p:cNvPr id="10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2" name="图片 11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3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115616" y="2076378"/>
            <a:ext cx="4572000" cy="1868204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#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解法一：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zh-CN" altLang="en-US" sz="1600" dirty="0">
                <a:latin typeface="Consolas" panose="020B0609020204030204" charset="0"/>
              </a:rPr>
              <a:t>for i in range(100, 1000):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zh-CN" altLang="en-US" sz="1600" dirty="0">
                <a:latin typeface="Consolas" panose="020B0609020204030204" charset="0"/>
              </a:rPr>
              <a:t>    bai, shi, ge = map(int, str(i))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zh-CN" altLang="en-US" sz="1600" dirty="0">
                <a:latin typeface="Consolas" panose="020B0609020204030204" charset="0"/>
              </a:rPr>
              <a:t>    if ge**3 + shi**3 + bai**3 == i: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zh-CN" altLang="en-US" sz="1600" dirty="0">
                <a:latin typeface="Consolas" panose="020B0609020204030204" charset="0"/>
              </a:rPr>
              <a:t>        print(i)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9D28661-5A49-49BD-887A-0BF9728C1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9361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文本占位符 53250"/>
          <p:cNvSpPr>
            <a:spLocks noGrp="1"/>
          </p:cNvSpPr>
          <p:nvPr>
            <p:ph idx="1"/>
          </p:nvPr>
        </p:nvSpPr>
        <p:spPr>
          <a:xfrm>
            <a:off x="712524" y="1052736"/>
            <a:ext cx="8229600" cy="4678451"/>
          </a:xfrm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例：求</a:t>
            </a:r>
            <a:r>
              <a:rPr lang="zh-CN" altLang="en-US" sz="2000" dirty="0">
                <a:latin typeface="Consolas" panose="020B0609020204030204" charset="0"/>
              </a:rPr>
              <a:t>[70, 90, 78, 85, 97, 94, 65, 80]</a:t>
            </a:r>
            <a:r>
              <a:rPr lang="zh-CN" altLang="en-US" sz="2000" b="1" dirty="0">
                <a:latin typeface="Consolas" panose="020B0609020204030204" charset="0"/>
              </a:rPr>
              <a:t>的</a:t>
            </a: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平均分。</a:t>
            </a: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dirty="0">
              <a:latin typeface="宋体" panose="02010600030101010101" pitchFamily="2" charset="-122"/>
              <a:ea typeface="+mn-ea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score = [70, 90, 78, 85, 97, 94, 65, 80]</a:t>
            </a: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s = 0</a:t>
            </a: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for i in score:</a:t>
            </a: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	s += i</a:t>
            </a: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print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(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s/len(score)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)</a:t>
            </a: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endParaRPr lang="en-US" altLang="zh-CN" sz="1350" dirty="0">
              <a:latin typeface="Consolas" panose="020B0609020204030204" charset="0"/>
              <a:ea typeface="+mn-ea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endParaRPr lang="en-US" altLang="zh-CN" sz="1350" dirty="0">
              <a:latin typeface="Consolas" panose="020B0609020204030204" charset="0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50861" y="1484784"/>
            <a:ext cx="46730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70000"/>
            </a:pPr>
            <a:r>
              <a:rPr lang="zh-CN" altLang="en-US" sz="1600" dirty="0">
                <a:latin typeface="Consolas" panose="020B0609020204030204" charset="0"/>
              </a:rPr>
              <a:t>score = [70, 90, 78, 85, 97, 94, 65, 80]</a:t>
            </a:r>
          </a:p>
          <a:p>
            <a:pPr>
              <a:buSzPct val="70000"/>
            </a:pPr>
            <a:r>
              <a:rPr lang="zh-CN" altLang="en-US" sz="1600" dirty="0">
                <a:solidFill>
                  <a:srgbClr val="FF0000"/>
                </a:solidFill>
                <a:latin typeface="Consolas" panose="020B0609020204030204" charset="0"/>
              </a:rPr>
              <a:t>print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charset="0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charset="0"/>
              </a:rPr>
              <a:t>sum(score) / len(score)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charset="0"/>
              </a:rPr>
              <a:t>) </a:t>
            </a:r>
            <a:endParaRPr lang="zh-CN" altLang="en-US" sz="1600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11" name="文本占位符 56322"/>
          <p:cNvSpPr txBox="1">
            <a:spLocks/>
          </p:cNvSpPr>
          <p:nvPr/>
        </p:nvSpPr>
        <p:spPr bwMode="auto">
          <a:xfrm>
            <a:off x="978361" y="3178210"/>
            <a:ext cx="8229600" cy="475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宋体" panose="02010600030101010101" pitchFamily="2" charset="-122"/>
                <a:ea typeface="+mn-ea"/>
              </a:rPr>
              <a:t>例：判断一个数是否为素数。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import math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350" dirty="0">
              <a:latin typeface="Consolas" panose="020B0609020204030204" charset="0"/>
              <a:ea typeface="+mn-ea"/>
            </a:endParaRP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n = input('Input an inte</a:t>
            </a:r>
            <a:r>
              <a:rPr lang="en-US" altLang="zh-CN" sz="1350" dirty="0" err="1">
                <a:latin typeface="Consolas" panose="020B0609020204030204" charset="0"/>
                <a:ea typeface="+mn-ea"/>
              </a:rPr>
              <a:t>ge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r:')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n = int(n)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m = math.ceil(math.sqrt(n)+1)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for i in range(2, m):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if n%i == 0 and i&lt;n: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    print('No')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    break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else:</a:t>
            </a:r>
          </a:p>
          <a:p>
            <a:pPr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print('Yes')</a:t>
            </a:r>
          </a:p>
        </p:txBody>
      </p:sp>
      <p:grpSp>
        <p:nvGrpSpPr>
          <p:cNvPr id="13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5" name="图片 14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6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E7C2CF-C80F-4E18-83FF-DC1479D2A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14565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文本占位符 60418"/>
          <p:cNvSpPr>
            <a:spLocks noGrp="1"/>
          </p:cNvSpPr>
          <p:nvPr>
            <p:ph idx="1"/>
          </p:nvPr>
        </p:nvSpPr>
        <p:spPr>
          <a:xfrm>
            <a:off x="302840" y="980728"/>
            <a:ext cx="8229600" cy="467845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zh-CN" altLang="en-US" sz="2000" b="1" noProof="1">
                <a:latin typeface="宋体" panose="02010600030101010101" pitchFamily="2" charset="-122"/>
                <a:ea typeface="+mn-ea"/>
              </a:rPr>
              <a:t>例：编写程序，生成一个含有</a:t>
            </a:r>
            <a:r>
              <a:rPr lang="en-US" altLang="zh-CN" sz="2000" b="1" noProof="1">
                <a:latin typeface="宋体" panose="02010600030101010101" pitchFamily="2" charset="-122"/>
                <a:ea typeface="+mn-ea"/>
              </a:rPr>
              <a:t>20</a:t>
            </a:r>
            <a:r>
              <a:rPr lang="zh-CN" altLang="en-US" sz="2000" b="1" noProof="1">
                <a:latin typeface="宋体" panose="02010600030101010101" pitchFamily="2" charset="-122"/>
                <a:ea typeface="+mn-ea"/>
              </a:rPr>
              <a:t>个随机数的列表，要求所有元素不相</a:t>
            </a:r>
            <a:endParaRPr lang="en-US" altLang="zh-CN" sz="2000" b="1" noProof="1">
              <a:latin typeface="宋体" panose="02010600030101010101" pitchFamily="2" charset="-122"/>
              <a:ea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70000"/>
              <a:buNone/>
              <a:defRPr/>
            </a:pPr>
            <a:r>
              <a:rPr lang="en-US" altLang="zh-CN" sz="2000" b="1" noProof="1">
                <a:latin typeface="宋体" panose="02010600030101010101" pitchFamily="2" charset="-122"/>
                <a:ea typeface="+mn-ea"/>
              </a:rPr>
              <a:t>       </a:t>
            </a:r>
            <a:r>
              <a:rPr lang="zh-CN" altLang="en-US" sz="2000" b="1" noProof="1">
                <a:latin typeface="宋体" panose="02010600030101010101" pitchFamily="2" charset="-122"/>
                <a:ea typeface="+mn-ea"/>
              </a:rPr>
              <a:t>同，并且每个元素的值介于</a:t>
            </a:r>
            <a:r>
              <a:rPr lang="en-US" altLang="zh-CN" sz="2000" b="1" noProof="1">
                <a:latin typeface="宋体" panose="02010600030101010101" pitchFamily="2" charset="-122"/>
                <a:ea typeface="+mn-ea"/>
              </a:rPr>
              <a:t>1</a:t>
            </a:r>
            <a:r>
              <a:rPr lang="zh-CN" altLang="en-US" sz="2000" b="1" noProof="1">
                <a:latin typeface="宋体" panose="02010600030101010101" pitchFamily="2" charset="-122"/>
                <a:ea typeface="+mn-ea"/>
              </a:rPr>
              <a:t>到</a:t>
            </a:r>
            <a:r>
              <a:rPr lang="en-US" altLang="zh-CN" sz="2000" b="1" noProof="1">
                <a:latin typeface="宋体" panose="02010600030101010101" pitchFamily="2" charset="-122"/>
                <a:ea typeface="+mn-ea"/>
              </a:rPr>
              <a:t>100</a:t>
            </a:r>
            <a:r>
              <a:rPr lang="zh-CN" altLang="en-US" sz="2000" b="1" noProof="1">
                <a:latin typeface="宋体" panose="02010600030101010101" pitchFamily="2" charset="-122"/>
                <a:ea typeface="+mn-ea"/>
              </a:rPr>
              <a:t>之间。</a:t>
            </a:r>
          </a:p>
          <a:p>
            <a:pPr marL="1905" indent="-344805">
              <a:lnSpc>
                <a:spcPct val="80000"/>
              </a:lnSpc>
              <a:buClr>
                <a:schemeClr val="hlink"/>
              </a:buClr>
              <a:buSzPct val="70000"/>
              <a:buNone/>
              <a:defRPr/>
            </a:pPr>
            <a:endParaRPr lang="zh-CN" altLang="en-US" sz="1500" noProof="1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788024" y="2158824"/>
            <a:ext cx="3672408" cy="304698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noProof="1"/>
              <a:t>用集合更简单</a:t>
            </a:r>
          </a:p>
          <a:p>
            <a:pPr marL="0" indent="0">
              <a:buFont typeface="Arial" charset="0"/>
              <a:buNone/>
            </a:pPr>
            <a:endParaRPr lang="zh-CN" altLang="en-US" sz="1600" noProof="1"/>
          </a:p>
          <a:p>
            <a:pPr marL="0" indent="0"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</a:rPr>
              <a:t>from random import randint</a:t>
            </a:r>
          </a:p>
          <a:p>
            <a:pPr marL="0" indent="0">
              <a:buFont typeface="Arial" charset="0"/>
              <a:buNone/>
            </a:pPr>
            <a:endParaRPr lang="zh-CN" altLang="en-US" sz="1600" noProof="1">
              <a:latin typeface="Consolas" panose="020B0609020204030204" charset="0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</a:rPr>
              <a:t>x = set()</a:t>
            </a:r>
          </a:p>
          <a:p>
            <a:pPr marL="0" indent="0"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</a:rPr>
              <a:t>while len(x)&lt;20:</a:t>
            </a:r>
          </a:p>
          <a:p>
            <a:pPr marL="0" indent="0"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</a:rPr>
              <a:t>    x.add(randint(1,100))</a:t>
            </a:r>
          </a:p>
          <a:p>
            <a:pPr marL="0" indent="0"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</a:rPr>
              <a:t>print(x)</a:t>
            </a:r>
          </a:p>
          <a:p>
            <a:pPr marL="0" indent="0"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</a:rPr>
              <a:t>print(sorted(x))</a:t>
            </a:r>
          </a:p>
        </p:txBody>
      </p:sp>
      <p:grpSp>
        <p:nvGrpSpPr>
          <p:cNvPr id="10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2" name="图片 11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3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601216" y="2158823"/>
            <a:ext cx="3888432" cy="304698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import random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endParaRPr lang="en-US" altLang="zh-CN" sz="1600" noProof="1">
              <a:latin typeface="Consolas" panose="020B0609020204030204" charset="0"/>
            </a:endParaRP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x = []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while True: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    if len(x)==20: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        break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    n = random.randint(1, 100)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    if n not in x: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        x.append(n)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print(x)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print(len(x))</a:t>
            </a:r>
          </a:p>
          <a:p>
            <a:pPr marL="1905" indent="-344805">
              <a:buClr>
                <a:schemeClr val="hlink"/>
              </a:buClr>
              <a:buSzPct val="70000"/>
              <a:buNone/>
              <a:defRPr/>
            </a:pPr>
            <a:r>
              <a:rPr lang="en-US" altLang="zh-CN" sz="1600" noProof="1">
                <a:latin typeface="Consolas" panose="020B0609020204030204" charset="0"/>
              </a:rPr>
              <a:t>print(sorted(x))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EEBA92-F8FC-4A1F-AEAB-6F633FC95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604321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99464"/>
            <a:ext cx="8424936" cy="467845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zh-CN" altLang="en-US" sz="1800" b="1" noProof="1">
                <a:latin typeface="+mn-lt"/>
                <a:ea typeface="+mn-ea"/>
              </a:rPr>
              <a:t>例 编写程序，计算组合数C(n,i)，即从n个元素中任选i个，有多少种选法。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zh-CN" altLang="en-US" sz="1350" noProof="1">
                <a:latin typeface="+mn-lt"/>
                <a:ea typeface="+mn-ea"/>
              </a:rPr>
              <a:t>       根据组合数定义，需要计算3个数的阶乘，在很多编程语言中都很难直接使用整型变量表示大数的阶乘</a:t>
            </a:r>
            <a:r>
              <a:rPr lang="en-US" altLang="zh-CN" sz="1350" noProof="1">
                <a:latin typeface="+mn-lt"/>
                <a:ea typeface="+mn-ea"/>
              </a:rPr>
              <a:t>  </a:t>
            </a:r>
            <a:br>
              <a:rPr lang="en-US" altLang="zh-CN" sz="1350" noProof="1">
                <a:latin typeface="+mn-lt"/>
                <a:ea typeface="+mn-ea"/>
              </a:rPr>
            </a:br>
            <a:r>
              <a:rPr lang="en-US" altLang="zh-CN" sz="1350" noProof="1">
                <a:latin typeface="+mn-lt"/>
                <a:ea typeface="+mn-ea"/>
              </a:rPr>
              <a:t>       </a:t>
            </a:r>
            <a:r>
              <a:rPr lang="zh-CN" altLang="en-US" sz="1350" noProof="1">
                <a:latin typeface="+mn-lt"/>
                <a:ea typeface="+mn-ea"/>
              </a:rPr>
              <a:t>结果，虽然Python并不存在这个问题，但是计算大数的阶乘仍需要相当多的时间。</a:t>
            </a:r>
            <a:endParaRPr lang="en-US" altLang="zh-CN" sz="1350" noProof="1">
              <a:latin typeface="+mn-lt"/>
              <a:ea typeface="+mn-ea"/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zh-CN" altLang="en-US" sz="1350" noProof="1">
                <a:latin typeface="+mn-lt"/>
                <a:ea typeface="+mn-ea"/>
              </a:rPr>
              <a:t>       以Cni(8,3)为例，按定义式展开如下，对于(5,8]区间的数，分子上出现一次而分母上没出现；(3,5]区间的数</a:t>
            </a:r>
            <a:endParaRPr lang="en-US" altLang="zh-CN" sz="1350" noProof="1">
              <a:latin typeface="+mn-lt"/>
              <a:ea typeface="+mn-ea"/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lang="en-US" altLang="zh-CN" sz="1350" noProof="1">
                <a:latin typeface="+mn-lt"/>
                <a:ea typeface="+mn-ea"/>
              </a:rPr>
              <a:t>        </a:t>
            </a:r>
            <a:r>
              <a:rPr lang="zh-CN" altLang="en-US" sz="1350" noProof="1">
                <a:latin typeface="+mn-lt"/>
                <a:ea typeface="+mn-ea"/>
              </a:rPr>
              <a:t>在分子、分母上各出现一次；[1,3]区间的数分子上出现一次而分母上出现两次。</a:t>
            </a:r>
          </a:p>
        </p:txBody>
      </p:sp>
      <p:graphicFrame>
        <p:nvGraphicFramePr>
          <p:cNvPr id="76803" name="Content Placeholder 3">
            <a:hlinkClick r:id="" action="ppaction://ole?verb=0"/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29976339"/>
              </p:ext>
            </p:extLst>
          </p:nvPr>
        </p:nvGraphicFramePr>
        <p:xfrm>
          <a:off x="1907704" y="2621324"/>
          <a:ext cx="4464496" cy="617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r:id="rId3" imgW="2705100" imgH="419100" progId="Equation.KSEE3">
                  <p:embed/>
                </p:oleObj>
              </mc:Choice>
              <mc:Fallback>
                <p:oleObj r:id="rId3" imgW="2705100" imgH="419100" progId="Equation.KSEE3">
                  <p:embed/>
                  <p:pic>
                    <p:nvPicPr>
                      <p:cNvPr id="76803" name="Content Placeholder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2621324"/>
                        <a:ext cx="4464496" cy="61736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619672" y="3493181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91" tIns="34295" rIns="68591" bIns="34295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  <a:ea typeface="+mn-ea"/>
              </a:rPr>
              <a:t>    n, </a:t>
            </a:r>
            <a:r>
              <a:rPr lang="en-US" altLang="zh-CN" sz="1350" dirty="0" err="1">
                <a:latin typeface="Consolas" panose="020B0609020204030204" charset="0"/>
                <a:ea typeface="+mn-ea"/>
              </a:rPr>
              <a:t>i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 = </a:t>
            </a:r>
            <a:r>
              <a:rPr lang="en-US" altLang="zh-CN" sz="1350" dirty="0" err="1">
                <a:latin typeface="Consolas" panose="020B0609020204030204" charset="0"/>
                <a:ea typeface="+mn-ea"/>
              </a:rPr>
              <a:t>eval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(input("n:")),</a:t>
            </a:r>
            <a:r>
              <a:rPr lang="en-US" altLang="zh-CN" sz="1350" dirty="0" err="1">
                <a:latin typeface="Consolas" panose="020B0609020204030204" charset="0"/>
                <a:ea typeface="+mn-ea"/>
              </a:rPr>
              <a:t>eval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(input("i:"))</a:t>
            </a:r>
            <a:endParaRPr lang="zh-CN" altLang="en-US" sz="1350" dirty="0">
              <a:latin typeface="Consolas" panose="020B0609020204030204" charset="0"/>
              <a:ea typeface="+mn-ea"/>
            </a:endParaRP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    if not (isinstance(n,int) and isinstance(i,int) and n&gt;=i):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        print('n and i must be integers and n </a:t>
            </a:r>
            <a:r>
              <a:rPr lang="en-US" altLang="zh-CN" sz="135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&gt;=</a:t>
            </a:r>
            <a:r>
              <a:rPr lang="zh-CN" altLang="en-US" sz="135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 i.')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solidFill>
                  <a:srgbClr val="FF0000"/>
                </a:solidFill>
                <a:latin typeface="Consolas" panose="020B0609020204030204" charset="0"/>
                <a:ea typeface="+mn-ea"/>
              </a:rPr>
              <a:t>        return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result = 1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Min, Max = 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sorted(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(i,n-i)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)</a:t>
            </a:r>
            <a:endParaRPr lang="zh-CN" altLang="en-US" sz="1350" dirty="0">
              <a:latin typeface="Consolas" panose="020B0609020204030204" charset="0"/>
              <a:ea typeface="+mn-ea"/>
            </a:endParaRP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for i in </a:t>
            </a:r>
            <a:r>
              <a:rPr lang="zh-CN" altLang="en-US" sz="1350" b="1" dirty="0">
                <a:latin typeface="Consolas" panose="020B0609020204030204" charset="0"/>
                <a:ea typeface="+mn-ea"/>
              </a:rPr>
              <a:t>range(n,0,-1)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: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    if i&gt;Max: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        result *= i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    elif i&lt;=Min: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        result /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/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= i</a:t>
            </a:r>
          </a:p>
          <a:p>
            <a:pPr marL="0" indent="0">
              <a:buSzPct val="70000"/>
              <a:buFont typeface="Arial" charset="0"/>
              <a:buNone/>
            </a:pPr>
            <a:r>
              <a:rPr lang="zh-CN" altLang="en-US" sz="1350" dirty="0">
                <a:latin typeface="Consolas" panose="020B0609020204030204" charset="0"/>
                <a:ea typeface="+mn-ea"/>
              </a:rPr>
              <a:t>    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print(</a:t>
            </a:r>
            <a:r>
              <a:rPr lang="zh-CN" altLang="en-US" sz="1350" dirty="0">
                <a:latin typeface="Consolas" panose="020B0609020204030204" charset="0"/>
                <a:ea typeface="+mn-ea"/>
              </a:rPr>
              <a:t>result</a:t>
            </a:r>
            <a:r>
              <a:rPr lang="en-US" altLang="zh-CN" sz="1350" dirty="0">
                <a:latin typeface="Consolas" panose="020B0609020204030204" charset="0"/>
                <a:ea typeface="+mn-ea"/>
              </a:rPr>
              <a:t>)</a:t>
            </a:r>
            <a:endParaRPr lang="zh-CN" altLang="en-US" sz="1350" dirty="0">
              <a:latin typeface="Consolas" panose="020B0609020204030204" charset="0"/>
              <a:ea typeface="+mn-ea"/>
            </a:endParaRPr>
          </a:p>
        </p:txBody>
      </p:sp>
      <p:grpSp>
        <p:nvGrpSpPr>
          <p:cNvPr id="21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23" name="图片 22" descr="u=714968970,2342735455&amp;fm=27&amp;gp=0.jpg"/>
            <p:cNvPicPr/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4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2F525D-9A25-4233-8BC4-7A09324BD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733449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196807" y="1916334"/>
            <a:ext cx="4599329" cy="151604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70000"/>
              <a:buNone/>
            </a:pPr>
            <a:r>
              <a:rPr lang="en-US" altLang="zh-CN" sz="1350" dirty="0">
                <a:latin typeface="Consolas" panose="020B0609020204030204" charset="0"/>
              </a:rPr>
              <a:t>    n, </a:t>
            </a:r>
            <a:r>
              <a:rPr lang="en-US" altLang="zh-CN" sz="1350" dirty="0" err="1">
                <a:latin typeface="Consolas" panose="020B0609020204030204" charset="0"/>
              </a:rPr>
              <a:t>i</a:t>
            </a:r>
            <a:r>
              <a:rPr lang="en-US" altLang="zh-CN" sz="1350" dirty="0">
                <a:latin typeface="Consolas" panose="020B0609020204030204" charset="0"/>
              </a:rPr>
              <a:t> = </a:t>
            </a:r>
            <a:r>
              <a:rPr lang="en-US" altLang="zh-CN" sz="1350" dirty="0" err="1">
                <a:latin typeface="Consolas" panose="020B0609020204030204" charset="0"/>
              </a:rPr>
              <a:t>eval</a:t>
            </a:r>
            <a:r>
              <a:rPr lang="en-US" altLang="zh-CN" sz="1350" dirty="0">
                <a:latin typeface="Consolas" panose="020B0609020204030204" charset="0"/>
              </a:rPr>
              <a:t>(input("n:")),</a:t>
            </a:r>
            <a:r>
              <a:rPr lang="en-US" altLang="zh-CN" sz="1350" dirty="0" err="1">
                <a:latin typeface="Consolas" panose="020B0609020204030204" charset="0"/>
              </a:rPr>
              <a:t>eval</a:t>
            </a:r>
            <a:r>
              <a:rPr lang="en-US" altLang="zh-CN" sz="1350" dirty="0">
                <a:latin typeface="Consolas" panose="020B0609020204030204" charset="0"/>
              </a:rPr>
              <a:t>(input("i:"))</a:t>
            </a:r>
            <a:endParaRPr lang="zh-CN" altLang="en-US" sz="1350" dirty="0">
              <a:latin typeface="Consolas" panose="020B0609020204030204" charset="0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minNI = min(i, n-i)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result = 1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for j in range(0, minNI):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    </a:t>
            </a:r>
            <a:r>
              <a:rPr lang="zh-CN" altLang="en-US" sz="1350" noProof="1">
                <a:solidFill>
                  <a:srgbClr val="FF0000"/>
                </a:solidFill>
                <a:latin typeface="Consolas" panose="020B0609020204030204" charset="0"/>
              </a:rPr>
              <a:t>result = result * (n-j) // (j+1)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</a:t>
            </a:r>
            <a:r>
              <a:rPr lang="en-US" altLang="zh-CN" sz="1350" noProof="1">
                <a:latin typeface="Consolas" panose="020B0609020204030204" charset="0"/>
              </a:rPr>
              <a:t>print(</a:t>
            </a:r>
            <a:r>
              <a:rPr lang="zh-CN" altLang="en-US" sz="1350" noProof="1">
                <a:latin typeface="Consolas" panose="020B0609020204030204" charset="0"/>
              </a:rPr>
              <a:t>result</a:t>
            </a:r>
            <a:r>
              <a:rPr lang="en-US" altLang="zh-CN" sz="1350" noProof="1">
                <a:latin typeface="Consolas" panose="020B0609020204030204" charset="0"/>
              </a:rPr>
              <a:t>)</a:t>
            </a:r>
            <a:endParaRPr lang="zh-CN" altLang="en-US" sz="1350" noProof="1">
              <a:latin typeface="Consolas" panose="020B0609020204030204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949789" y="4348316"/>
            <a:ext cx="4709741" cy="182186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lang="zh-CN" altLang="en-US" sz="1350" noProof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 sz="1350" dirty="0">
                <a:latin typeface="Consolas" panose="020B0609020204030204" charset="0"/>
              </a:rPr>
              <a:t>    n, </a:t>
            </a:r>
            <a:r>
              <a:rPr lang="en-US" altLang="zh-CN" sz="1350" dirty="0" err="1">
                <a:latin typeface="Consolas" panose="020B0609020204030204" charset="0"/>
              </a:rPr>
              <a:t>i</a:t>
            </a:r>
            <a:r>
              <a:rPr lang="en-US" altLang="zh-CN" sz="1350" dirty="0">
                <a:latin typeface="Consolas" panose="020B0609020204030204" charset="0"/>
              </a:rPr>
              <a:t> = </a:t>
            </a:r>
            <a:r>
              <a:rPr lang="en-US" altLang="zh-CN" sz="1350" dirty="0" err="1">
                <a:latin typeface="Consolas" panose="020B0609020204030204" charset="0"/>
              </a:rPr>
              <a:t>eval</a:t>
            </a:r>
            <a:r>
              <a:rPr lang="en-US" altLang="zh-CN" sz="1350" dirty="0">
                <a:latin typeface="Consolas" panose="020B0609020204030204" charset="0"/>
              </a:rPr>
              <a:t>(input("n:")),</a:t>
            </a:r>
            <a:r>
              <a:rPr lang="en-US" altLang="zh-CN" sz="1350" dirty="0" err="1">
                <a:latin typeface="Consolas" panose="020B0609020204030204" charset="0"/>
              </a:rPr>
              <a:t>eval</a:t>
            </a:r>
            <a:r>
              <a:rPr lang="en-US" altLang="zh-CN" sz="1350" dirty="0">
                <a:latin typeface="Consolas" panose="020B0609020204030204" charset="0"/>
              </a:rPr>
              <a:t>(input("i:"))</a:t>
            </a:r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    minNI = min(i, n-i)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result = 1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for j in range(0, minNI):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    </a:t>
            </a:r>
            <a:r>
              <a:rPr lang="zh-CN" altLang="en-US" sz="1350" noProof="1">
                <a:solidFill>
                  <a:srgbClr val="FF0000"/>
                </a:solidFill>
                <a:latin typeface="Consolas" panose="020B0609020204030204" charset="0"/>
              </a:rPr>
              <a:t>result = result * (n-j) // (minNI-j)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</a:rPr>
              <a:t>    </a:t>
            </a:r>
            <a:r>
              <a:rPr lang="en-US" altLang="zh-CN" sz="1350" noProof="1">
                <a:latin typeface="Consolas" panose="020B0609020204030204" charset="0"/>
              </a:rPr>
              <a:t>print(</a:t>
            </a:r>
            <a:r>
              <a:rPr lang="zh-CN" altLang="en-US" sz="1350" noProof="1">
                <a:latin typeface="Consolas" panose="020B0609020204030204" charset="0"/>
              </a:rPr>
              <a:t>result</a:t>
            </a:r>
            <a:r>
              <a:rPr lang="en-US" altLang="zh-CN" sz="1350" noProof="1">
                <a:latin typeface="Consolas" panose="020B0609020204030204" charset="0"/>
              </a:rPr>
              <a:t>)</a:t>
            </a:r>
            <a:endParaRPr lang="zh-CN" altLang="en-US" sz="1350" noProof="1">
              <a:latin typeface="Consolas" panose="020B0609020204030204" charset="0"/>
            </a:endParaRPr>
          </a:p>
        </p:txBody>
      </p:sp>
      <p:graphicFrame>
        <p:nvGraphicFramePr>
          <p:cNvPr id="11" name="Content Placeholder 3">
            <a:hlinkClick r:id="" action="ppaction://ole?verb=0"/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30891278"/>
              </p:ext>
            </p:extLst>
          </p:nvPr>
        </p:nvGraphicFramePr>
        <p:xfrm>
          <a:off x="1144420" y="1121687"/>
          <a:ext cx="4464496" cy="617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r:id="rId3" imgW="2705100" imgH="419100" progId="Equation.KSEE3">
                  <p:embed/>
                </p:oleObj>
              </mc:Choice>
              <mc:Fallback>
                <p:oleObj r:id="rId3" imgW="2705100" imgH="419100" progId="Equation.KSEE3">
                  <p:embed/>
                  <p:pic>
                    <p:nvPicPr>
                      <p:cNvPr id="76803" name="Content Placeholder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4420" y="1121687"/>
                        <a:ext cx="4464496" cy="61736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3916728" y="993259"/>
            <a:ext cx="1116124" cy="871857"/>
            <a:chOff x="4680012" y="2492896"/>
            <a:chExt cx="1116124" cy="8718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4788024" y="2492896"/>
              <a:ext cx="1008112" cy="871857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4680012" y="2492896"/>
              <a:ext cx="1054460" cy="871857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/>
          <p:cNvSpPr/>
          <p:nvPr/>
        </p:nvSpPr>
        <p:spPr>
          <a:xfrm>
            <a:off x="2872612" y="993259"/>
            <a:ext cx="864096" cy="74579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144420" y="3501008"/>
            <a:ext cx="6036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noProof="1">
                <a:solidFill>
                  <a:srgbClr val="FF0000"/>
                </a:solidFill>
                <a:latin typeface="Consolas" panose="020B0609020204030204" charset="0"/>
              </a:rPr>
              <a:t>此段代码与前一段代码相比，效率有提高吗？</a:t>
            </a:r>
          </a:p>
        </p:txBody>
      </p:sp>
      <p:pic>
        <p:nvPicPr>
          <p:cNvPr id="16" name="图片 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1732" y="3422525"/>
            <a:ext cx="385075" cy="447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144420" y="3972437"/>
            <a:ext cx="2125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noProof="1">
                <a:solidFill>
                  <a:srgbClr val="0000FF"/>
                </a:solidFill>
                <a:latin typeface="Consolas" panose="020B0609020204030204" charset="0"/>
              </a:rPr>
              <a:t>代码这样写可以吗？</a:t>
            </a:r>
          </a:p>
        </p:txBody>
      </p:sp>
      <p:grpSp>
        <p:nvGrpSpPr>
          <p:cNvPr id="18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20" name="图片 19" descr="u=714968970,2342735455&amp;fm=27&amp;gp=0.jpg"/>
            <p:cNvPicPr/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1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FB3D502-0861-4D23-99CC-BF075F4CE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050130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5" grpId="0" animBg="1"/>
      <p:bldP spid="2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6828" y="1124744"/>
            <a:ext cx="8229600" cy="4678451"/>
          </a:xfrm>
        </p:spPr>
        <p:txBody>
          <a:bodyPr/>
          <a:lstStyle/>
          <a:p>
            <a:pPr fontAlgn="base"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2400" b="1" noProof="1"/>
              <a:t>也可以使用</a:t>
            </a:r>
            <a:r>
              <a:rPr lang="zh-CN" altLang="en-US" sz="2400" b="1" noProof="1">
                <a:solidFill>
                  <a:srgbClr val="FF0000"/>
                </a:solidFill>
              </a:rPr>
              <a:t>math库</a:t>
            </a:r>
            <a:r>
              <a:rPr lang="zh-CN" altLang="en-US" sz="2400" b="1" noProof="1"/>
              <a:t>中的阶乘函数直接按组合数定义实现。</a:t>
            </a:r>
          </a:p>
          <a:p>
            <a:pPr marL="0" indent="0">
              <a:buNone/>
            </a:pPr>
            <a:endParaRPr lang="zh-CN" altLang="en-US" sz="1350" noProof="1"/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</a:rPr>
              <a:t> </a:t>
            </a:r>
            <a:r>
              <a:rPr lang="en-US" altLang="zh-CN" sz="1600" noProof="1">
                <a:latin typeface="Consolas" panose="020B0609020204030204" charset="0"/>
              </a:rPr>
              <a:t>&gt;&gt;&gt;</a:t>
            </a:r>
            <a:r>
              <a:rPr lang="zh-CN" altLang="en-US" sz="1600" noProof="1">
                <a:latin typeface="Consolas" panose="020B0609020204030204" charset="0"/>
              </a:rPr>
              <a:t>import math</a:t>
            </a:r>
            <a:endParaRPr lang="en-US" altLang="zh-CN" sz="1600" noProof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charset="0"/>
              </a:rPr>
              <a:t> &gt;&gt;&gt;n, </a:t>
            </a:r>
            <a:r>
              <a:rPr lang="en-US" altLang="zh-CN" sz="1600" dirty="0" err="1">
                <a:latin typeface="Consolas" panose="020B0609020204030204" charset="0"/>
              </a:rPr>
              <a:t>i</a:t>
            </a:r>
            <a:r>
              <a:rPr lang="en-US" altLang="zh-CN" sz="1600" dirty="0">
                <a:latin typeface="Consolas" panose="020B0609020204030204" charset="0"/>
              </a:rPr>
              <a:t> = </a:t>
            </a:r>
            <a:r>
              <a:rPr lang="en-US" altLang="zh-CN" sz="1600" dirty="0" err="1">
                <a:latin typeface="Consolas" panose="020B0609020204030204" charset="0"/>
              </a:rPr>
              <a:t>eval</a:t>
            </a:r>
            <a:r>
              <a:rPr lang="en-US" altLang="zh-CN" sz="1600" dirty="0">
                <a:latin typeface="Consolas" panose="020B0609020204030204" charset="0"/>
              </a:rPr>
              <a:t>(input("n:")),</a:t>
            </a:r>
            <a:r>
              <a:rPr lang="en-US" altLang="zh-CN" sz="1600" dirty="0" err="1">
                <a:latin typeface="Consolas" panose="020B0609020204030204" charset="0"/>
              </a:rPr>
              <a:t>eval</a:t>
            </a:r>
            <a:r>
              <a:rPr lang="en-US" altLang="zh-CN" sz="1600" dirty="0">
                <a:latin typeface="Consolas" panose="020B0609020204030204" charset="0"/>
              </a:rPr>
              <a:t>(input("i:"))</a:t>
            </a:r>
          </a:p>
          <a:p>
            <a:pPr marL="0" indent="0"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 n: 6</a:t>
            </a:r>
          </a:p>
          <a:p>
            <a:pPr marL="0" indent="0"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 i: 2</a:t>
            </a:r>
            <a:endParaRPr lang="zh-CN" altLang="en-US" sz="1600" noProof="1">
              <a:solidFill>
                <a:srgbClr val="0000FF"/>
              </a:solidFill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</a:rPr>
              <a:t> </a:t>
            </a:r>
            <a:r>
              <a:rPr lang="en-US" altLang="zh-CN" sz="1600" noProof="1">
                <a:latin typeface="Consolas" panose="020B0609020204030204" charset="0"/>
              </a:rPr>
              <a:t>&gt;&gt;&gt;print(</a:t>
            </a:r>
            <a:r>
              <a:rPr lang="zh-CN" altLang="en-US" sz="1600" noProof="1">
                <a:latin typeface="Consolas" panose="020B0609020204030204" charset="0"/>
              </a:rPr>
              <a:t>int(math.factorial(n)/math.factorial(i)/math.factorial(n-i))</a:t>
            </a:r>
            <a:r>
              <a:rPr lang="en-US" altLang="zh-CN" sz="1600" noProof="1">
                <a:latin typeface="Consolas" panose="020B0609020204030204" charset="0"/>
              </a:rPr>
              <a:t>)</a:t>
            </a:r>
            <a:endParaRPr lang="zh-CN" altLang="en-US" sz="1600" noProof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 15</a:t>
            </a:r>
          </a:p>
          <a:p>
            <a:pPr marL="0" indent="0">
              <a:buNone/>
            </a:pPr>
            <a:endParaRPr lang="zh-CN" altLang="en-US" sz="1350" noProof="1"/>
          </a:p>
          <a:p>
            <a:pPr fontAlgn="base"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2400" b="1" noProof="1"/>
              <a:t>还可以直接使用Python</a:t>
            </a:r>
            <a:r>
              <a:rPr lang="zh-CN" altLang="en-US" sz="2400" b="1" noProof="1">
                <a:solidFill>
                  <a:srgbClr val="FF0000"/>
                </a:solidFill>
              </a:rPr>
              <a:t>标准库itertools</a:t>
            </a:r>
            <a:r>
              <a:rPr lang="zh-CN" altLang="en-US" sz="2400" b="1" noProof="1"/>
              <a:t>提供的函数。</a:t>
            </a:r>
          </a:p>
          <a:p>
            <a:pPr marL="0" indent="0">
              <a:buNone/>
            </a:pPr>
            <a:endParaRPr lang="zh-CN" altLang="en-US" sz="1350" noProof="1"/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</a:rPr>
              <a:t>&gt;&gt;&gt; import itertools</a:t>
            </a:r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</a:rPr>
              <a:t>&gt;&gt;&gt; len(tuple(itertools.combinations(range(60),2)))</a:t>
            </a:r>
          </a:p>
          <a:p>
            <a:pPr marL="0" indent="0">
              <a:buNone/>
            </a:pPr>
            <a:r>
              <a:rPr lang="zh-CN" altLang="en-US" sz="1600" noProof="1">
                <a:solidFill>
                  <a:srgbClr val="0000FF"/>
                </a:solidFill>
                <a:latin typeface="Consolas" panose="020B0609020204030204" charset="0"/>
              </a:rPr>
              <a:t>1770</a:t>
            </a:r>
          </a:p>
        </p:txBody>
      </p:sp>
      <p:grpSp>
        <p:nvGrpSpPr>
          <p:cNvPr id="9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1" name="图片 10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2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27C495-D2DD-4FB2-8920-D1E942551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21604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67512"/>
            <a:ext cx="8229600" cy="4678451"/>
          </a:xfrm>
        </p:spPr>
        <p:txBody>
          <a:bodyPr/>
          <a:lstStyle/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noProof="1">
                <a:sym typeface="+mn-ea"/>
              </a:rPr>
              <a:t>itertools还提供了排列函数permutations()</a:t>
            </a:r>
          </a:p>
          <a:p>
            <a:pPr marL="0" indent="0">
              <a:buNone/>
            </a:pPr>
            <a:endParaRPr lang="zh-CN" altLang="en-US" sz="1500" noProof="1"/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&gt;&gt;&gt; import itertools</a:t>
            </a:r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&gt;&gt;&gt; for item in itertools.permutations(range(1,4),2):</a:t>
            </a:r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    print(item)</a:t>
            </a:r>
          </a:p>
          <a:p>
            <a:pPr marL="0" indent="0">
              <a:lnSpc>
                <a:spcPts val="1000"/>
              </a:lnSpc>
              <a:spcBef>
                <a:spcPts val="0"/>
              </a:spcBef>
              <a:buNone/>
            </a:pPr>
            <a:r>
              <a:rPr lang="zh-CN" altLang="en-US" sz="1350" noProof="1">
                <a:latin typeface="Consolas" panose="020B0609020204030204" charset="0"/>
              </a:rPr>
              <a:t>	</a:t>
            </a:r>
          </a:p>
          <a:p>
            <a:pPr marL="0" indent="0"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(1, 2)</a:t>
            </a:r>
          </a:p>
          <a:p>
            <a:pPr marL="0" indent="0"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(1, 3)</a:t>
            </a:r>
          </a:p>
          <a:p>
            <a:pPr marL="0" indent="0"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(2, 1)</a:t>
            </a:r>
          </a:p>
          <a:p>
            <a:pPr marL="0" indent="0"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(2, 3)</a:t>
            </a:r>
          </a:p>
          <a:p>
            <a:pPr marL="0" indent="0"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(3, 1)</a:t>
            </a:r>
          </a:p>
          <a:p>
            <a:pPr marL="0" indent="0"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</a:rPr>
              <a:t>(3, 2)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39552" y="3933056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noProof="1">
                <a:sym typeface="+mn-ea"/>
              </a:rPr>
              <a:t>itertools还提供了根据一个序列的值对</a:t>
            </a:r>
            <a:endParaRPr lang="en-US" altLang="zh-CN" sz="2000" b="1" noProof="1">
              <a:sym typeface="+mn-ea"/>
            </a:endParaRPr>
          </a:p>
          <a:p>
            <a:pPr marL="0" indent="0">
              <a:spcBef>
                <a:spcPts val="600"/>
              </a:spcBef>
              <a:buClr>
                <a:srgbClr val="FF0000"/>
              </a:buClr>
              <a:buNone/>
            </a:pPr>
            <a:r>
              <a:rPr lang="en-US" altLang="zh-CN" sz="2000" b="1" noProof="1">
                <a:sym typeface="+mn-ea"/>
              </a:rPr>
              <a:t>      </a:t>
            </a:r>
            <a:r>
              <a:rPr lang="zh-CN" altLang="en-US" sz="2000" b="1" noProof="1">
                <a:sym typeface="+mn-ea"/>
              </a:rPr>
              <a:t>另一个序列进行过滤的函数compress()</a:t>
            </a:r>
          </a:p>
          <a:p>
            <a:pPr marL="0" indent="0">
              <a:lnSpc>
                <a:spcPts val="1000"/>
              </a:lnSpc>
              <a:spcBef>
                <a:spcPts val="0"/>
              </a:spcBef>
              <a:buFont typeface="Arial" charset="0"/>
              <a:buNone/>
            </a:pPr>
            <a:endParaRPr lang="zh-CN" altLang="en-US" sz="1500" noProof="1">
              <a:sym typeface="+mn-ea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  <a:sym typeface="+mn-ea"/>
              </a:rPr>
              <a:t>&gt;&gt;&gt; x = range(1, 20)</a:t>
            </a:r>
            <a:endParaRPr lang="zh-CN" altLang="en-US" sz="1350" noProof="1">
              <a:latin typeface="Consolas" panose="020B0609020204030204" charset="0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  <a:sym typeface="+mn-ea"/>
              </a:rPr>
              <a:t>&gt;&gt;&gt; y = (1,0)*9+(1,)</a:t>
            </a:r>
            <a:endParaRPr lang="zh-CN" altLang="en-US" sz="1350" noProof="1">
              <a:latin typeface="Consolas" panose="020B0609020204030204" charset="0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  <a:sym typeface="+mn-ea"/>
              </a:rPr>
              <a:t>&gt;&gt;&gt; y</a:t>
            </a:r>
            <a:endParaRPr lang="zh-CN" altLang="en-US" sz="1350" noProof="1">
              <a:latin typeface="Consolas" panose="020B0609020204030204" charset="0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(1, 0, 1, 0, 1, 0, 1, 0, 1, 0, 1, 0, 1, 0, 1, 0, 1, 0, 1)</a:t>
            </a: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latin typeface="Consolas" panose="020B0609020204030204" charset="0"/>
                <a:sym typeface="+mn-ea"/>
              </a:rPr>
              <a:t>&gt;&gt;&gt; list(itertools.compress(x, y)) </a:t>
            </a:r>
            <a:endParaRPr lang="zh-CN" altLang="en-US" sz="1350" noProof="1">
              <a:latin typeface="Consolas" panose="020B0609020204030204" charset="0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[1, 3, 5, 7, 9, 11, 13, 15, 17, 19]</a:t>
            </a:r>
            <a:endParaRPr lang="en-US" altLang="zh-CN" sz="1350" noProof="1">
              <a:solidFill>
                <a:srgbClr val="0000FF"/>
              </a:solidFill>
              <a:latin typeface="Consolas" panose="020B0609020204030204" charset="0"/>
              <a:sym typeface="+mn-ea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350" noProof="1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另外一个函数</a:t>
            </a:r>
            <a:r>
              <a:rPr lang="en-US" altLang="zh-CN" sz="1350" noProof="1">
                <a:solidFill>
                  <a:srgbClr val="0000FF"/>
                </a:solidFill>
                <a:latin typeface="Consolas" panose="020B0609020204030204" charset="0"/>
                <a:sym typeface="+mn-ea"/>
              </a:rPr>
              <a:t>:</a:t>
            </a:r>
            <a:r>
              <a:rPr lang="en-US" altLang="zh-CN" sz="1350" noProof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filter() </a:t>
            </a:r>
            <a:r>
              <a:rPr lang="zh-CN" altLang="en-US" sz="1350" noProof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自己调研！！</a:t>
            </a:r>
          </a:p>
        </p:txBody>
      </p:sp>
      <p:sp>
        <p:nvSpPr>
          <p:cNvPr id="2" name="矩形 1"/>
          <p:cNvSpPr/>
          <p:nvPr/>
        </p:nvSpPr>
        <p:spPr>
          <a:xfrm>
            <a:off x="5328592" y="967512"/>
            <a:ext cx="4572000" cy="45858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noProof="1"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itertools 模块包含的主要函数</a:t>
            </a:r>
            <a:endParaRPr lang="en-US" altLang="zh-CN" sz="2000" noProof="1">
              <a:latin typeface="Times New Roman" panose="02020603050405020304" pitchFamily="18" charset="0"/>
              <a:ea typeface="仿宋" panose="02010609060101010101" pitchFamily="49" charset="-122"/>
              <a:sym typeface="+mn-ea"/>
            </a:endParaRP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accumulate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chain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combinations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combinations_with_replacement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compress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count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cycle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dropwhile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filterfalse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groupby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islice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permutations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product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repeat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starmap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takewhile</a:t>
            </a:r>
          </a:p>
          <a:p>
            <a:r>
              <a:rPr lang="zh-CN" altLang="en-US" sz="1600" dirty="0">
                <a:solidFill>
                  <a:srgbClr val="0000FF"/>
                </a:solidFill>
              </a:rPr>
              <a:t>        zip_longest</a:t>
            </a:r>
          </a:p>
        </p:txBody>
      </p:sp>
      <p:grpSp>
        <p:nvGrpSpPr>
          <p:cNvPr id="10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2" name="图片 11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3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F0741B-896E-432B-B1DC-CA5196432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44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036985-78B8-4B6D-815D-FACA518A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253" y="5674677"/>
            <a:ext cx="3166878" cy="79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59882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80728"/>
            <a:ext cx="8640960" cy="4678451"/>
          </a:xfrm>
        </p:spPr>
        <p:txBody>
          <a:bodyPr/>
          <a:lstStyle/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noProof="1"/>
              <a:t>itertools还提供了用于循环遍历可迭代对象元素的函数cycle()</a:t>
            </a:r>
          </a:p>
          <a:p>
            <a:pPr marL="0" indent="0">
              <a:buNone/>
            </a:pPr>
            <a:endParaRPr lang="zh-CN" altLang="en-US" sz="1350" noProof="1"/>
          </a:p>
        </p:txBody>
      </p:sp>
      <p:grpSp>
        <p:nvGrpSpPr>
          <p:cNvPr id="9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1" name="图片 10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2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619672" y="1844824"/>
            <a:ext cx="6192688" cy="258532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noProof="1">
                <a:latin typeface="Consolas" panose="020B0609020204030204" charset="0"/>
              </a:rPr>
              <a:t>&gt;&gt;&gt; import itertools</a:t>
            </a:r>
          </a:p>
          <a:p>
            <a:pPr marL="0" indent="0">
              <a:buNone/>
            </a:pPr>
            <a:r>
              <a:rPr lang="zh-CN" altLang="en-US" noProof="1">
                <a:latin typeface="Consolas" panose="020B0609020204030204" charset="0"/>
              </a:rPr>
              <a:t>&gt;&gt;&gt; x = 'Private Key'</a:t>
            </a:r>
          </a:p>
          <a:p>
            <a:pPr marL="0" indent="0">
              <a:buNone/>
            </a:pPr>
            <a:r>
              <a:rPr lang="zh-CN" altLang="en-US" noProof="1">
                <a:latin typeface="Consolas" panose="020B0609020204030204" charset="0"/>
              </a:rPr>
              <a:t>&gt;&gt;&gt; y = itertools.cycle(x) </a:t>
            </a:r>
            <a:r>
              <a:rPr lang="zh-CN" altLang="en-US" noProof="1">
                <a:solidFill>
                  <a:srgbClr val="0000FF"/>
                </a:solidFill>
                <a:latin typeface="Consolas" panose="020B0609020204030204" charset="0"/>
              </a:rPr>
              <a:t>#循环遍历序列中的元素</a:t>
            </a:r>
          </a:p>
          <a:p>
            <a:pPr marL="0" indent="0">
              <a:buNone/>
            </a:pPr>
            <a:r>
              <a:rPr lang="zh-CN" altLang="en-US" noProof="1">
                <a:latin typeface="Consolas" panose="020B0609020204030204" charset="0"/>
              </a:rPr>
              <a:t>&gt;&gt;&gt; for i in range(20):</a:t>
            </a:r>
          </a:p>
          <a:p>
            <a:pPr marL="0" indent="0">
              <a:buNone/>
            </a:pPr>
            <a:r>
              <a:rPr lang="zh-CN" altLang="en-US" noProof="1">
                <a:latin typeface="Consolas" panose="020B0609020204030204" charset="0"/>
              </a:rPr>
              <a:t>    print(next(y), end=',')	</a:t>
            </a:r>
          </a:p>
          <a:p>
            <a:pPr marL="0" indent="0">
              <a:buNone/>
            </a:pPr>
            <a:r>
              <a:rPr lang="zh-CN" altLang="en-US" noProof="1">
                <a:solidFill>
                  <a:srgbClr val="0000FF"/>
                </a:solidFill>
                <a:latin typeface="Consolas" panose="020B0609020204030204" charset="0"/>
              </a:rPr>
              <a:t>P,r,i,v,a,t,e, ,K,e,y,P,r,i,v,a,t,e, ,K,</a:t>
            </a:r>
          </a:p>
          <a:p>
            <a:pPr marL="0" indent="0">
              <a:buNone/>
            </a:pPr>
            <a:r>
              <a:rPr lang="zh-CN" altLang="en-US" noProof="1">
                <a:latin typeface="Consolas" panose="020B0609020204030204" charset="0"/>
              </a:rPr>
              <a:t>&gt;&gt;&gt; for i in range(5):</a:t>
            </a:r>
          </a:p>
          <a:p>
            <a:pPr marL="0" indent="0">
              <a:buNone/>
            </a:pPr>
            <a:r>
              <a:rPr lang="zh-CN" altLang="en-US" noProof="1">
                <a:latin typeface="Consolas" panose="020B0609020204030204" charset="0"/>
              </a:rPr>
              <a:t>    print(next(y), end=',')	</a:t>
            </a:r>
          </a:p>
          <a:p>
            <a:pPr marL="0" indent="0">
              <a:buNone/>
            </a:pPr>
            <a:r>
              <a:rPr lang="zh-CN" altLang="en-US" noProof="1">
                <a:solidFill>
                  <a:srgbClr val="0000FF"/>
                </a:solidFill>
                <a:latin typeface="Consolas" panose="020B0609020204030204" charset="0"/>
              </a:rPr>
              <a:t>e,y,P,r,i,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852356-D05C-48F3-AE94-32E633267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947429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28" y="1052736"/>
            <a:ext cx="8229600" cy="467845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1800" noProof="1">
                <a:latin typeface="+mn-ea"/>
              </a:rPr>
              <a:t>例：</a:t>
            </a:r>
            <a:r>
              <a:rPr lang="en-US" sz="1800" noProof="1">
                <a:latin typeface="+mn-ea"/>
              </a:rPr>
              <a:t>编写程序，计算百钱买百鸡问题。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1800" noProof="1">
                <a:latin typeface="+mn-ea"/>
              </a:rPr>
              <a:t>                               假设公鸡5元一只，母鸡3元一只，小鸡1元三只，现在有100块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1800" noProof="1">
                <a:latin typeface="+mn-ea"/>
              </a:rPr>
              <a:t>                               钱，想买100只鸡，问有多少种买法？</a:t>
            </a:r>
          </a:p>
          <a:p>
            <a:pPr marL="0" indent="0">
              <a:buNone/>
            </a:pPr>
            <a:endParaRPr lang="en-US" sz="1350" noProof="1"/>
          </a:p>
          <a:p>
            <a:pPr marL="0" indent="0">
              <a:buNone/>
            </a:pPr>
            <a:endParaRPr lang="en-US" sz="1350" noProof="1">
              <a:latin typeface="Consolas" panose="020B0609020204030204" charset="0"/>
            </a:endParaRPr>
          </a:p>
        </p:txBody>
      </p:sp>
      <p:grpSp>
        <p:nvGrpSpPr>
          <p:cNvPr id="10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12" name="图片 11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3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07" y="1484784"/>
            <a:ext cx="1387890" cy="138789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779912" y="5095525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0 25 75</a:t>
            </a:r>
          </a:p>
          <a:p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4 18 78</a:t>
            </a:r>
          </a:p>
          <a:p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8 11 81</a:t>
            </a:r>
          </a:p>
          <a:p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12 4 84</a:t>
            </a:r>
          </a:p>
        </p:txBody>
      </p:sp>
      <p:sp>
        <p:nvSpPr>
          <p:cNvPr id="15" name="矩形 14"/>
          <p:cNvSpPr/>
          <p:nvPr/>
        </p:nvSpPr>
        <p:spPr>
          <a:xfrm>
            <a:off x="2500561" y="2539752"/>
            <a:ext cx="6185867" cy="221599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#假设能买x只公鸡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for x in range(21):</a:t>
            </a:r>
          </a:p>
          <a:p>
            <a:pPr marL="0" indent="0">
              <a:buNone/>
            </a:pPr>
            <a:r>
              <a:rPr lang="en-US" altLang="zh-CN" sz="1600" noProof="1">
                <a:latin typeface="Consolas" panose="020B0609020204030204" charset="0"/>
              </a:rPr>
              <a:t>    </a:t>
            </a: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#假设能买y只母鸡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for y in range(34):</a:t>
            </a:r>
          </a:p>
          <a:p>
            <a:pPr marL="0" indent="0">
              <a:buNone/>
            </a:pPr>
            <a:r>
              <a:rPr lang="en-US" altLang="zh-CN" sz="1600" noProof="1">
                <a:solidFill>
                  <a:srgbClr val="0000FF"/>
                </a:solidFill>
                <a:latin typeface="Consolas" panose="020B0609020204030204" charset="0"/>
              </a:rPr>
              <a:t>        #假设能买z只小鸡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    z = 100-x-y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    if z%3==0 and 5*x + 3*y + z//3 == 100:</a:t>
            </a:r>
          </a:p>
          <a:p>
            <a:pPr marL="0" indent="0">
              <a:buNone/>
            </a:pPr>
            <a:r>
              <a:rPr lang="en-US" altLang="zh-CN" noProof="1">
                <a:latin typeface="Consolas" panose="020B0609020204030204" charset="0"/>
              </a:rPr>
              <a:t>              print(x,y,z)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ECD9C5-E5C4-420A-8398-BA8AB80B1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864643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69256"/>
            <a:ext cx="8262620" cy="3395345"/>
          </a:xfrm>
        </p:spPr>
        <p:txBody>
          <a:bodyPr/>
          <a:lstStyle/>
          <a:p>
            <a:pPr marL="296545" indent="-285750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noProof="1"/>
              <a:t>例</a:t>
            </a:r>
            <a:r>
              <a:rPr lang="en-US" altLang="zh-CN" sz="2000" b="1" noProof="1"/>
              <a:t>  </a:t>
            </a:r>
            <a:r>
              <a:rPr lang="zh-CN" altLang="en-US" sz="2000" b="1" noProof="1"/>
              <a:t>编写程序，实现十进制整数到其他任意进制的转换。</a:t>
            </a:r>
          </a:p>
          <a:p>
            <a:pPr marL="324485" indent="-28575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600" noProof="1">
                <a:latin typeface="Consolas" panose="020B0609020204030204" charset="0"/>
              </a:rPr>
              <a:t>编程要点：</a:t>
            </a:r>
            <a:r>
              <a:rPr lang="zh-CN" altLang="en-US" sz="1600" b="1" noProof="1">
                <a:solidFill>
                  <a:srgbClr val="0000FF"/>
                </a:solidFill>
                <a:latin typeface="Consolas" panose="020B0609020204030204" charset="0"/>
              </a:rPr>
              <a:t>除基取余，逆序排列</a:t>
            </a:r>
          </a:p>
          <a:p>
            <a:pPr marL="324485" indent="-28575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600" noProof="1">
                <a:latin typeface="Consolas" panose="020B0609020204030204" charset="0"/>
              </a:rPr>
              <a:t>十进制数668转换为八进制数字的过程如下图所示，其中横着向右的箭头表示左边的数字除以8得到的商，而向下的箭头表示上面的数字除以8得到的余数。当商为0时，算法结束，最后把得到的余数4321逆序得到1234。</a:t>
            </a:r>
          </a:p>
        </p:txBody>
      </p:sp>
      <p:grpSp>
        <p:nvGrpSpPr>
          <p:cNvPr id="106499" name="画布 290"/>
          <p:cNvGrpSpPr/>
          <p:nvPr/>
        </p:nvGrpSpPr>
        <p:grpSpPr>
          <a:xfrm>
            <a:off x="1691680" y="2613358"/>
            <a:ext cx="5050324" cy="1451626"/>
            <a:chOff x="0" y="0"/>
            <a:chExt cx="5233035" cy="1254760"/>
          </a:xfrm>
        </p:grpSpPr>
        <p:sp>
          <p:nvSpPr>
            <p:cNvPr id="106500" name="画布 290"/>
            <p:cNvSpPr/>
            <p:nvPr/>
          </p:nvSpPr>
          <p:spPr>
            <a:xfrm>
              <a:off x="0" y="0"/>
              <a:ext cx="5233035" cy="12547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zh-CN" altLang="en-US" sz="2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1" name="文本框 291"/>
            <p:cNvSpPr txBox="1"/>
            <p:nvPr/>
          </p:nvSpPr>
          <p:spPr>
            <a:xfrm>
              <a:off x="248920" y="118110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668</a:t>
              </a:r>
            </a:p>
          </p:txBody>
        </p:sp>
        <p:sp>
          <p:nvSpPr>
            <p:cNvPr id="292" name="文本框 292"/>
            <p:cNvSpPr txBox="1"/>
            <p:nvPr/>
          </p:nvSpPr>
          <p:spPr>
            <a:xfrm>
              <a:off x="1487170" y="119380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83</a:t>
              </a:r>
            </a:p>
          </p:txBody>
        </p:sp>
        <p:sp>
          <p:nvSpPr>
            <p:cNvPr id="293" name="文本框 293"/>
            <p:cNvSpPr txBox="1"/>
            <p:nvPr/>
          </p:nvSpPr>
          <p:spPr>
            <a:xfrm>
              <a:off x="2656205" y="121920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10</a:t>
              </a:r>
            </a:p>
          </p:txBody>
        </p:sp>
        <p:sp>
          <p:nvSpPr>
            <p:cNvPr id="294" name="文本框 294"/>
            <p:cNvSpPr txBox="1"/>
            <p:nvPr/>
          </p:nvSpPr>
          <p:spPr>
            <a:xfrm>
              <a:off x="3745865" y="121920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1</a:t>
              </a:r>
            </a:p>
          </p:txBody>
        </p:sp>
        <p:sp>
          <p:nvSpPr>
            <p:cNvPr id="295" name="文本框 295"/>
            <p:cNvSpPr txBox="1"/>
            <p:nvPr/>
          </p:nvSpPr>
          <p:spPr>
            <a:xfrm>
              <a:off x="4678680" y="121920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0</a:t>
              </a:r>
            </a:p>
          </p:txBody>
        </p:sp>
        <p:sp>
          <p:nvSpPr>
            <p:cNvPr id="296" name="文本框 296"/>
            <p:cNvSpPr txBox="1"/>
            <p:nvPr/>
          </p:nvSpPr>
          <p:spPr>
            <a:xfrm>
              <a:off x="254000" y="856615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4</a:t>
              </a:r>
            </a:p>
          </p:txBody>
        </p:sp>
        <p:sp>
          <p:nvSpPr>
            <p:cNvPr id="297" name="文本框 297"/>
            <p:cNvSpPr txBox="1"/>
            <p:nvPr/>
          </p:nvSpPr>
          <p:spPr>
            <a:xfrm>
              <a:off x="1489075" y="859155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3</a:t>
              </a:r>
            </a:p>
          </p:txBody>
        </p:sp>
        <p:sp>
          <p:nvSpPr>
            <p:cNvPr id="298" name="文本框 298"/>
            <p:cNvSpPr txBox="1"/>
            <p:nvPr/>
          </p:nvSpPr>
          <p:spPr>
            <a:xfrm>
              <a:off x="2661285" y="859155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2</a:t>
              </a:r>
            </a:p>
          </p:txBody>
        </p:sp>
        <p:sp>
          <p:nvSpPr>
            <p:cNvPr id="299" name="文本框 299"/>
            <p:cNvSpPr txBox="1"/>
            <p:nvPr/>
          </p:nvSpPr>
          <p:spPr>
            <a:xfrm>
              <a:off x="3750945" y="859155"/>
              <a:ext cx="534035" cy="282575"/>
            </a:xfrm>
            <a:prstGeom prst="rect">
              <a:avLst/>
            </a:prstGeom>
            <a:solidFill>
              <a:srgbClr val="92D05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91" tIns="34295" rIns="68591" bIns="34295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sz="1400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1</a:t>
              </a:r>
            </a:p>
          </p:txBody>
        </p:sp>
        <p:cxnSp>
          <p:nvCxnSpPr>
            <p:cNvPr id="300" name="直接箭头连接符 300"/>
            <p:cNvCxnSpPr>
              <a:stCxn id="291" idx="3"/>
              <a:endCxn id="292" idx="1"/>
            </p:cNvCxnSpPr>
            <p:nvPr/>
          </p:nvCxnSpPr>
          <p:spPr>
            <a:xfrm>
              <a:off x="782955" y="259715"/>
              <a:ext cx="704215" cy="127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箭头连接符 301"/>
            <p:cNvCxnSpPr>
              <a:stCxn id="292" idx="3"/>
              <a:endCxn id="293" idx="1"/>
            </p:cNvCxnSpPr>
            <p:nvPr/>
          </p:nvCxnSpPr>
          <p:spPr>
            <a:xfrm>
              <a:off x="2021205" y="260985"/>
              <a:ext cx="635000" cy="254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箭头连接符 302"/>
            <p:cNvCxnSpPr>
              <a:stCxn id="293" idx="3"/>
              <a:endCxn id="294" idx="1"/>
            </p:cNvCxnSpPr>
            <p:nvPr/>
          </p:nvCxnSpPr>
          <p:spPr>
            <a:xfrm>
              <a:off x="3190240" y="263525"/>
              <a:ext cx="555625" cy="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箭头连接符 303"/>
            <p:cNvCxnSpPr>
              <a:stCxn id="294" idx="3"/>
              <a:endCxn id="295" idx="1"/>
            </p:cNvCxnSpPr>
            <p:nvPr/>
          </p:nvCxnSpPr>
          <p:spPr>
            <a:xfrm>
              <a:off x="4279900" y="263525"/>
              <a:ext cx="398780" cy="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箭头连接符 304"/>
            <p:cNvCxnSpPr>
              <a:stCxn id="291" idx="2"/>
              <a:endCxn id="296" idx="0"/>
            </p:cNvCxnSpPr>
            <p:nvPr/>
          </p:nvCxnSpPr>
          <p:spPr>
            <a:xfrm>
              <a:off x="516255" y="400685"/>
              <a:ext cx="5080" cy="45593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箭头连接符 305"/>
            <p:cNvCxnSpPr>
              <a:stCxn id="292" idx="2"/>
              <a:endCxn id="297" idx="0"/>
            </p:cNvCxnSpPr>
            <p:nvPr/>
          </p:nvCxnSpPr>
          <p:spPr>
            <a:xfrm>
              <a:off x="1754505" y="401955"/>
              <a:ext cx="1905" cy="45720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箭头连接符 306"/>
            <p:cNvCxnSpPr>
              <a:stCxn id="293" idx="2"/>
              <a:endCxn id="298" idx="0"/>
            </p:cNvCxnSpPr>
            <p:nvPr/>
          </p:nvCxnSpPr>
          <p:spPr>
            <a:xfrm>
              <a:off x="2923540" y="404495"/>
              <a:ext cx="5080" cy="45466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箭头连接符 307"/>
            <p:cNvCxnSpPr>
              <a:stCxn id="294" idx="2"/>
              <a:endCxn id="299" idx="0"/>
            </p:cNvCxnSpPr>
            <p:nvPr/>
          </p:nvCxnSpPr>
          <p:spPr>
            <a:xfrm>
              <a:off x="4013200" y="404495"/>
              <a:ext cx="5080" cy="454660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Content Placeholder 2"/>
          <p:cNvSpPr txBox="1">
            <a:spLocks/>
          </p:cNvSpPr>
          <p:nvPr/>
        </p:nvSpPr>
        <p:spPr bwMode="auto">
          <a:xfrm>
            <a:off x="1874652" y="4130365"/>
            <a:ext cx="5304387" cy="236897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50" dirty="0">
                <a:latin typeface="Consolas" panose="020B0609020204030204" charset="0"/>
              </a:rPr>
              <a:t>    </a:t>
            </a:r>
            <a:r>
              <a:rPr lang="en-US" altLang="zh-CN" sz="1400" dirty="0">
                <a:latin typeface="Consolas" panose="020B0609020204030204" charset="0"/>
              </a:rPr>
              <a:t>n, base = </a:t>
            </a:r>
            <a:r>
              <a:rPr lang="en-US" altLang="zh-CN" sz="1400" dirty="0" err="1">
                <a:latin typeface="Consolas" panose="020B0609020204030204" charset="0"/>
              </a:rPr>
              <a:t>eval</a:t>
            </a:r>
            <a:r>
              <a:rPr lang="en-US" altLang="zh-CN" sz="1400" dirty="0">
                <a:latin typeface="Consolas" panose="020B0609020204030204" charset="0"/>
              </a:rPr>
              <a:t>(input(“n:”)),</a:t>
            </a:r>
            <a:r>
              <a:rPr lang="en-US" altLang="zh-CN" sz="1400" dirty="0" err="1">
                <a:latin typeface="Consolas" panose="020B0609020204030204" charset="0"/>
              </a:rPr>
              <a:t>eval</a:t>
            </a:r>
            <a:r>
              <a:rPr lang="en-US" altLang="zh-CN" sz="1400" dirty="0">
                <a:latin typeface="Consolas" panose="020B0609020204030204" charset="0"/>
              </a:rPr>
              <a:t>(input(“base:”))</a:t>
            </a:r>
            <a:endParaRPr lang="zh-CN" altLang="en-US" sz="1400" dirty="0">
              <a:latin typeface="Consolas" panose="020B0609020204030204" charset="0"/>
            </a:endParaRPr>
          </a:p>
          <a:p>
            <a:pPr marL="0" indent="0"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result = []</a:t>
            </a:r>
          </a:p>
          <a:p>
            <a:pPr marL="0" indent="0"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div = n</a:t>
            </a:r>
          </a:p>
          <a:p>
            <a:pPr marL="0" indent="0"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while div != 0:</a:t>
            </a:r>
          </a:p>
          <a:p>
            <a:pPr marL="0" indent="0"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div, mod = divmod(div, base)</a:t>
            </a:r>
          </a:p>
          <a:p>
            <a:pPr marL="0" indent="0"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result.append(mod)</a:t>
            </a:r>
          </a:p>
          <a:p>
            <a:pPr marL="0" indent="0"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result.reverse()    </a:t>
            </a:r>
          </a:p>
          <a:p>
            <a:pPr marL="0" indent="0"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result = ''.join(map(str, result))</a:t>
            </a:r>
          </a:p>
          <a:p>
            <a:pPr marL="0" indent="0">
              <a:buFont typeface="Arial" charset="0"/>
              <a:buNone/>
            </a:pPr>
            <a:r>
              <a:rPr lang="en-US" altLang="zh-CN" sz="1400" dirty="0">
                <a:latin typeface="Consolas" panose="020B0609020204030204" charset="0"/>
                <a:ea typeface="+mn-ea"/>
              </a:rPr>
              <a:t>    print(e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val(result)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)</a:t>
            </a:r>
            <a:endParaRPr lang="en-US" altLang="en-US" sz="1400" dirty="0">
              <a:latin typeface="Consolas" panose="020B0609020204030204" charset="0"/>
              <a:ea typeface="+mn-ea"/>
            </a:endParaRPr>
          </a:p>
        </p:txBody>
      </p:sp>
      <p:grpSp>
        <p:nvGrpSpPr>
          <p:cNvPr id="30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32" name="图片 31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33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E2D893-6935-4E45-B255-9A446BEF3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821621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6828" y="980728"/>
            <a:ext cx="8229600" cy="4678451"/>
          </a:xfrm>
        </p:spPr>
        <p:txBody>
          <a:bodyPr/>
          <a:lstStyle/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noProof="1"/>
              <a:t>例</a:t>
            </a:r>
            <a:r>
              <a:rPr lang="en-US" altLang="zh-CN" sz="2400" b="1" noProof="1"/>
              <a:t>  计算</a:t>
            </a:r>
            <a:r>
              <a:rPr lang="zh-CN" altLang="en-US" sz="2400" b="1" noProof="1"/>
              <a:t>前</a:t>
            </a:r>
            <a:r>
              <a:rPr lang="en-US" altLang="zh-CN" sz="2400" b="1" noProof="1"/>
              <a:t>n</a:t>
            </a:r>
            <a:r>
              <a:rPr lang="zh-CN" altLang="en-US" sz="2400" b="1" noProof="1"/>
              <a:t>个自然数的阶乘之和</a:t>
            </a:r>
            <a:r>
              <a:rPr lang="en-US" altLang="zh-CN" sz="2400" b="1" noProof="1"/>
              <a:t>1!+2!+3!+...+n!</a:t>
            </a:r>
            <a:r>
              <a:rPr lang="zh-CN" altLang="en-US" sz="2400" b="1" noProof="1"/>
              <a:t>的值。</a:t>
            </a:r>
          </a:p>
          <a:p>
            <a:pPr marL="0" indent="0">
              <a:buNone/>
            </a:pPr>
            <a:r>
              <a:rPr lang="zh-CN" altLang="en-US" sz="1350" noProof="1">
                <a:latin typeface="Consolas" panose="020B0609020204030204" charset="0"/>
              </a:rPr>
              <a:t>    </a:t>
            </a:r>
            <a:endParaRPr lang="en-US" altLang="zh-CN" sz="1350" noProof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 sz="1600" noProof="1">
                <a:latin typeface="Consolas" panose="020B0609020204030204" charset="0"/>
              </a:rPr>
              <a:t>    n = evl(input(“n:”))</a:t>
            </a:r>
          </a:p>
          <a:p>
            <a:pPr marL="0" indent="0">
              <a:buNone/>
            </a:pPr>
            <a:r>
              <a:rPr lang="en-US" altLang="zh-CN" sz="1600" noProof="1">
                <a:latin typeface="Consolas" panose="020B0609020204030204" charset="0"/>
              </a:rPr>
              <a:t>    </a:t>
            </a:r>
            <a:r>
              <a:rPr lang="zh-CN" altLang="en-US" sz="1600" noProof="1">
                <a:latin typeface="Consolas" panose="020B0609020204030204" charset="0"/>
              </a:rPr>
              <a:t>result, t = 1, 1</a:t>
            </a:r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</a:rPr>
              <a:t>    for i in range(2, n+1):</a:t>
            </a:r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</a:rPr>
              <a:t>        t *= i</a:t>
            </a:r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</a:rPr>
              <a:t>        result += t</a:t>
            </a:r>
          </a:p>
          <a:p>
            <a:pPr marL="0" indent="0">
              <a:buNone/>
            </a:pPr>
            <a:endParaRPr lang="zh-CN" altLang="en-US" sz="1350" noProof="1">
              <a:latin typeface="Consolas" panose="020B0609020204030204" charset="0"/>
            </a:endParaRPr>
          </a:p>
        </p:txBody>
      </p:sp>
      <p:grpSp>
        <p:nvGrpSpPr>
          <p:cNvPr id="4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6" name="图片 5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02808" y="3573016"/>
            <a:ext cx="8937640" cy="107721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  <a:ea typeface="仿宋" panose="02010609060101010101" pitchFamily="49" charset="-122"/>
              </a:rPr>
              <a:t>&gt;&gt;&gt; from math import factorial</a:t>
            </a:r>
          </a:p>
          <a:p>
            <a:pPr marL="0" indent="0">
              <a:buNone/>
            </a:pPr>
            <a:r>
              <a:rPr lang="zh-CN" altLang="en-US" sz="1600" noProof="1">
                <a:latin typeface="Consolas" panose="020B0609020204030204" charset="0"/>
                <a:ea typeface="仿宋" panose="02010609060101010101" pitchFamily="49" charset="-122"/>
              </a:rPr>
              <a:t>&gt;&gt;&gt; sum(map(factorial, range(1, 100)))</a:t>
            </a:r>
          </a:p>
          <a:p>
            <a:pPr marL="0" indent="0">
              <a:buNone/>
            </a:pPr>
            <a:r>
              <a:rPr lang="zh-CN" altLang="en-US" sz="1600" noProof="1">
                <a:solidFill>
                  <a:srgbClr val="0000FF"/>
                </a:solidFill>
                <a:latin typeface="Consolas" panose="020B0609020204030204" charset="0"/>
                <a:ea typeface="仿宋" panose="02010609060101010101" pitchFamily="49" charset="-122"/>
              </a:rPr>
              <a:t>942786239765826579160595268206839381354754349601050974345395410407078230249590414458830117442618180732911203520208889371641659121356556442336528920420940313</a:t>
            </a:r>
          </a:p>
        </p:txBody>
      </p:sp>
      <p:sp>
        <p:nvSpPr>
          <p:cNvPr id="9" name="矩形 8"/>
          <p:cNvSpPr/>
          <p:nvPr/>
        </p:nvSpPr>
        <p:spPr>
          <a:xfrm>
            <a:off x="5292080" y="3645024"/>
            <a:ext cx="3736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zh-CN" altLang="en-US" noProof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这一方法效率会低一些！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Add why?</a:t>
            </a:r>
            <a:endParaRPr lang="zh-CN" altLang="en-US" noProof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6747ED-8DB7-4B65-849C-2DA79EF43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84669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63858"/>
            <a:ext cx="8507730" cy="3395345"/>
          </a:xfrm>
        </p:spPr>
        <p:txBody>
          <a:bodyPr/>
          <a:lstStyle/>
          <a:p>
            <a:pPr indent="-325120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noProof="1"/>
              <a:t>例</a:t>
            </a:r>
            <a:r>
              <a:rPr lang="en-US" altLang="zh-CN" sz="2000" b="1" noProof="1"/>
              <a:t>  判断一个数字是否为丑数。</a:t>
            </a:r>
          </a:p>
          <a:p>
            <a:pPr lvl="1" indent="-325120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1600" b="1" noProof="1"/>
              <a:t>一个数的因数如果只包含2、3、5，那么这个数是丑数。</a:t>
            </a:r>
          </a:p>
          <a:p>
            <a:pPr marL="0" indent="0">
              <a:lnSpc>
                <a:spcPts val="800"/>
              </a:lnSpc>
              <a:spcBef>
                <a:spcPts val="0"/>
              </a:spcBef>
              <a:buNone/>
            </a:pPr>
            <a:endParaRPr lang="en-US" altLang="zh-CN" sz="1350" b="1" noProof="1">
              <a:latin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350" b="1" noProof="1">
                <a:latin typeface="Consolas" panose="020B0609020204030204" charset="0"/>
              </a:rPr>
              <a:t>        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602912" y="4232129"/>
            <a:ext cx="8229600" cy="467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noProof="1"/>
              <a:t>例</a:t>
            </a:r>
            <a:r>
              <a:rPr lang="en-US" altLang="zh-CN" sz="2000" b="1" noProof="1"/>
              <a:t>  </a:t>
            </a:r>
            <a:r>
              <a:rPr lang="zh-CN" altLang="en-US" sz="2000" b="1" noProof="1"/>
              <a:t>检测序列元素是否满足严格升序关系。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endParaRPr lang="zh-CN" altLang="en-US" sz="1500" noProof="1">
              <a:latin typeface="Consolas" panose="020B0609020204030204" charset="0"/>
              <a:cs typeface="Consolas" panose="020B0609020204030204" charset="0"/>
            </a:endParaRPr>
          </a:p>
        </p:txBody>
      </p:sp>
      <p:grpSp>
        <p:nvGrpSpPr>
          <p:cNvPr id="5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7" name="图片 6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1512268" y="1616028"/>
            <a:ext cx="4320480" cy="261610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latin typeface="Consolas" panose="020B0609020204030204" charset="0"/>
              </a:rPr>
              <a:t>        n = </a:t>
            </a:r>
            <a:r>
              <a:rPr lang="en-US" altLang="zh-CN" sz="1600" b="1" dirty="0" err="1">
                <a:latin typeface="Consolas" panose="020B0609020204030204" charset="0"/>
              </a:rPr>
              <a:t>eval</a:t>
            </a:r>
            <a:r>
              <a:rPr lang="en-US" altLang="zh-CN" sz="1600" b="1" dirty="0">
                <a:latin typeface="Consolas" panose="020B0609020204030204" charset="0"/>
              </a:rPr>
              <a:t>(input(“n:”))</a:t>
            </a:r>
            <a:endParaRPr lang="en-US" altLang="zh-CN" sz="1600" b="1" noProof="1">
              <a:latin typeface="Consolas" panose="020B06090202040302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for i in (2, 3, 5):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while True: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    m, r = divmod(n, i)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    if r != 0: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        break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    else: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        print(m)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        n =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noProof="1">
                <a:latin typeface="Consolas" panose="020B0609020204030204" charset="0"/>
              </a:rPr>
              <a:t>        print(n==1)</a:t>
            </a:r>
          </a:p>
        </p:txBody>
      </p:sp>
      <p:sp>
        <p:nvSpPr>
          <p:cNvPr id="10" name="矩形 9"/>
          <p:cNvSpPr/>
          <p:nvPr/>
        </p:nvSpPr>
        <p:spPr>
          <a:xfrm>
            <a:off x="1259723" y="4639184"/>
            <a:ext cx="5072111" cy="181588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  <a:cs typeface="Consolas" panose="020B0609020204030204" charset="0"/>
              </a:rPr>
              <a:t>tests = ('abcdeff', [1,2,3,5,4], (3,5,7,9))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  <a:cs typeface="Consolas" panose="020B0609020204030204" charset="0"/>
              </a:rPr>
              <a:t>for </a:t>
            </a:r>
            <a:r>
              <a:rPr lang="en-US" altLang="zh-CN" sz="1600" noProof="1">
                <a:latin typeface="Consolas" panose="020B0609020204030204" charset="0"/>
                <a:cs typeface="Consolas" panose="020B0609020204030204" charset="0"/>
              </a:rPr>
              <a:t>seq</a:t>
            </a:r>
            <a:r>
              <a:rPr lang="zh-CN" altLang="en-US" sz="1600" noProof="1">
                <a:latin typeface="Consolas" panose="020B0609020204030204" charset="0"/>
                <a:cs typeface="Consolas" panose="020B0609020204030204" charset="0"/>
              </a:rPr>
              <a:t> in tests: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  <a:cs typeface="Consolas" panose="020B0609020204030204" charset="0"/>
              </a:rPr>
              <a:t>    for index, value in enumerate(seq[:-1]):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  <a:cs typeface="Consolas" panose="020B0609020204030204" charset="0"/>
              </a:rPr>
              <a:t>        if value &gt;= seq[index+1]: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zh-CN" sz="1600" noProof="1">
                <a:latin typeface="Consolas" panose="020B0609020204030204" charset="0"/>
                <a:cs typeface="Consolas" panose="020B0609020204030204" charset="0"/>
              </a:rPr>
              <a:t>print(“false”)</a:t>
            </a:r>
            <a:endParaRPr lang="zh-CN" altLang="en-US" sz="1600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zh-CN" altLang="en-US" sz="1600" noProof="1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noProof="1">
                <a:latin typeface="Consolas" panose="020B0609020204030204" charset="0"/>
                <a:cs typeface="Consolas" panose="020B0609020204030204" charset="0"/>
              </a:rPr>
              <a:t>print(“true”)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endParaRPr lang="en-US" altLang="zh-CN" sz="1600" noProof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30DBE7-E0A2-4F3A-A15A-C0FAA012D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49</a:t>
            </a:fld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1FF3248-9C60-42E2-8BF7-E3B2F3BF9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10" y="1304409"/>
            <a:ext cx="5219335" cy="292772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1266DDD-6835-49E0-AE20-AB84937EBADD}"/>
              </a:ext>
            </a:extLst>
          </p:cNvPr>
          <p:cNvSpPr txBox="1"/>
          <p:nvPr/>
        </p:nvSpPr>
        <p:spPr>
          <a:xfrm>
            <a:off x="6732240" y="602128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？？？真的可以么</a:t>
            </a:r>
          </a:p>
        </p:txBody>
      </p:sp>
    </p:spTree>
    <p:extLst>
      <p:ext uri="{BB962C8B-B14F-4D97-AF65-F5344CB8AC3E}">
        <p14:creationId xmlns:p14="http://schemas.microsoft.com/office/powerpoint/2010/main" val="2185099727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089890"/>
            <a:ext cx="8229600" cy="4678451"/>
          </a:xfrm>
        </p:spPr>
        <p:txBody>
          <a:bodyPr/>
          <a:lstStyle/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noProof="1"/>
              <a:t>例</a:t>
            </a:r>
            <a:r>
              <a:rPr lang="en-US" altLang="zh-CN" sz="2000" b="1" noProof="1"/>
              <a:t>:  </a:t>
            </a:r>
            <a:r>
              <a:rPr lang="zh-CN" altLang="en-US" sz="2000" b="1" noProof="1"/>
              <a:t>利用蒙特</a:t>
            </a:r>
            <a:r>
              <a:rPr lang="en-US" altLang="zh-CN" sz="2000" b="1" noProof="1"/>
              <a:t>.</a:t>
            </a:r>
            <a:r>
              <a:rPr lang="zh-CN" altLang="en-US" sz="2000" b="1" noProof="1"/>
              <a:t>卡罗方法计算圆周率近似值。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from random import random</a:t>
            </a:r>
          </a:p>
          <a:p>
            <a:pPr marL="0" indent="0">
              <a:buNone/>
            </a:pPr>
            <a:endParaRPr lang="zh-CN" altLang="en-US" sz="1400" noProof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 sz="1400" noProof="1">
                <a:latin typeface="Consolas" panose="020B0609020204030204" charset="0"/>
              </a:rPr>
              <a:t>    times = evl(input(“times:”))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hits = 0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for i in range(times):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    x = random()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    y = random()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    if x*x + y*y &lt;= 1: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        hits += 1</a:t>
            </a:r>
          </a:p>
          <a:p>
            <a:pPr marL="0" indent="0">
              <a:buNone/>
            </a:pPr>
            <a:r>
              <a:rPr lang="zh-CN" altLang="en-US" sz="1400" noProof="1">
                <a:latin typeface="Consolas" panose="020B0609020204030204" charset="0"/>
              </a:rPr>
              <a:t>    </a:t>
            </a:r>
            <a:r>
              <a:rPr lang="en-US" altLang="zh-CN" sz="1400" noProof="1">
                <a:latin typeface="Consolas" panose="020B0609020204030204" charset="0"/>
              </a:rPr>
              <a:t>print(</a:t>
            </a:r>
            <a:r>
              <a:rPr lang="zh-CN" altLang="en-US" sz="1400" noProof="1">
                <a:latin typeface="Consolas" panose="020B0609020204030204" charset="0"/>
              </a:rPr>
              <a:t>4.0 * hits/times</a:t>
            </a:r>
            <a:r>
              <a:rPr lang="en-US" altLang="zh-CN" sz="1400" noProof="1">
                <a:latin typeface="Consolas" panose="020B0609020204030204" charset="0"/>
              </a:rPr>
              <a:t>)</a:t>
            </a:r>
            <a:endParaRPr lang="zh-CN" altLang="en-US" sz="1400" noProof="1">
              <a:latin typeface="Consolas" panose="020B0609020204030204" charset="0"/>
            </a:endParaRPr>
          </a:p>
          <a:p>
            <a:pPr marL="0" indent="0">
              <a:buNone/>
            </a:pPr>
            <a:endParaRPr lang="en-US" altLang="zh-CN" sz="1400" noProof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 sz="1400" noProof="1">
                <a:latin typeface="Consolas" panose="020B0609020204030204" charset="0"/>
              </a:rPr>
              <a:t>times: </a:t>
            </a:r>
            <a:r>
              <a:rPr lang="zh-CN" altLang="en-US" sz="1400" noProof="1">
                <a:latin typeface="Consolas" panose="020B0609020204030204" charset="0"/>
              </a:rPr>
              <a:t>10000</a:t>
            </a:r>
          </a:p>
          <a:p>
            <a:pPr marL="0" indent="0">
              <a:buNone/>
            </a:pPr>
            <a:r>
              <a:rPr lang="en-US" altLang="zh-CN" sz="1400" noProof="1">
                <a:latin typeface="Consolas" panose="020B0609020204030204" charset="0"/>
              </a:rPr>
              <a:t>times: </a:t>
            </a:r>
            <a:r>
              <a:rPr lang="zh-CN" altLang="en-US" sz="1400" noProof="1">
                <a:latin typeface="Consolas" panose="020B0609020204030204" charset="0"/>
              </a:rPr>
              <a:t>1000000</a:t>
            </a:r>
          </a:p>
          <a:p>
            <a:pPr marL="0" indent="0">
              <a:buNone/>
            </a:pPr>
            <a:r>
              <a:rPr lang="en-US" altLang="zh-CN" sz="1400" noProof="1">
                <a:latin typeface="Consolas" panose="020B0609020204030204" charset="0"/>
              </a:rPr>
              <a:t>times: </a:t>
            </a:r>
            <a:r>
              <a:rPr lang="zh-CN" altLang="en-US" sz="1400" noProof="1">
                <a:latin typeface="Consolas" panose="020B0609020204030204" charset="0"/>
              </a:rPr>
              <a:t>100000000</a:t>
            </a:r>
          </a:p>
          <a:p>
            <a:pPr marL="0" indent="0">
              <a:buNone/>
            </a:pPr>
            <a:r>
              <a:rPr lang="en-US" altLang="zh-CN" sz="1400" noProof="1">
                <a:latin typeface="Consolas" panose="020B0609020204030204" charset="0"/>
              </a:rPr>
              <a:t>times: </a:t>
            </a:r>
            <a:r>
              <a:rPr lang="zh-CN" altLang="en-US" sz="1400" noProof="1">
                <a:latin typeface="Consolas" panose="020B0609020204030204" charset="0"/>
              </a:rPr>
              <a:t>1000000000</a:t>
            </a:r>
          </a:p>
        </p:txBody>
      </p:sp>
      <p:pic>
        <p:nvPicPr>
          <p:cNvPr id="121859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1196752"/>
            <a:ext cx="1886280" cy="19648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</p:pic>
      <p:sp>
        <p:nvSpPr>
          <p:cNvPr id="121860" name="文本框 4"/>
          <p:cNvSpPr txBox="1"/>
          <p:nvPr/>
        </p:nvSpPr>
        <p:spPr>
          <a:xfrm>
            <a:off x="5249293" y="4271183"/>
            <a:ext cx="1610360" cy="1076325"/>
          </a:xfrm>
          <a:prstGeom prst="rect">
            <a:avLst/>
          </a:prstGeom>
          <a:noFill/>
          <a:ln w="222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3.1396</a:t>
            </a:r>
          </a:p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3.1419</a:t>
            </a:r>
          </a:p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3.141688</a:t>
            </a:r>
          </a:p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3.141591436</a:t>
            </a:r>
          </a:p>
        </p:txBody>
      </p:sp>
      <p:sp>
        <p:nvSpPr>
          <p:cNvPr id="6" name="右箭头 5"/>
          <p:cNvSpPr/>
          <p:nvPr/>
        </p:nvSpPr>
        <p:spPr>
          <a:xfrm>
            <a:off x="3186689" y="4692016"/>
            <a:ext cx="1384939" cy="234661"/>
          </a:xfrm>
          <a:prstGeom prst="rightArrow">
            <a:avLst/>
          </a:prstGeom>
          <a:solidFill>
            <a:srgbClr val="92D05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noProof="1"/>
          </a:p>
        </p:txBody>
      </p:sp>
      <p:grpSp>
        <p:nvGrpSpPr>
          <p:cNvPr id="7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9" name="图片 8" descr="u=714968970,2342735455&amp;fm=27&amp;gp=0.jpg"/>
            <p:cNvPicPr/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0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D5D727-9B59-4BEE-AA96-19108C6AB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8899176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1860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186" y="980728"/>
            <a:ext cx="8374286" cy="4678451"/>
          </a:xfrm>
        </p:spPr>
        <p:txBody>
          <a:bodyPr/>
          <a:lstStyle/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noProof="1"/>
              <a:t>例</a:t>
            </a:r>
            <a:r>
              <a:rPr lang="en-US" altLang="zh-CN" sz="2400" b="1" noProof="1"/>
              <a:t>  6174</a:t>
            </a:r>
            <a:r>
              <a:rPr lang="zh-CN" altLang="en-US" sz="2400" b="1" noProof="1"/>
              <a:t>猜想：</a:t>
            </a:r>
            <a:endParaRPr lang="zh-CN" altLang="en-US" sz="2400" b="1" strike="noStrike" noProof="1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800" b="1" noProof="1"/>
              <a:t>       1955年，卡普耶卡(D.R.Kaprekar)对4位数字进行了研究，发现一个规律：对</a:t>
            </a:r>
            <a:endParaRPr lang="en-US" altLang="zh-CN" sz="1800" b="1" noProof="1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1" noProof="1"/>
              <a:t>       </a:t>
            </a:r>
            <a:r>
              <a:rPr lang="zh-CN" altLang="en-US" sz="1800" b="1" noProof="1"/>
              <a:t>任意各位数字不相同的4位数，使用各位数字能组成的最大数减去能组成的最</a:t>
            </a:r>
            <a:endParaRPr lang="en-US" altLang="zh-CN" sz="1800" b="1" noProof="1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1" noProof="1"/>
              <a:t>       </a:t>
            </a:r>
            <a:r>
              <a:rPr lang="zh-CN" altLang="en-US" sz="1800" b="1" noProof="1"/>
              <a:t>小数，对得到的差重复这个操作，最终会得到6174这个数字，并且这个操作</a:t>
            </a:r>
            <a:endParaRPr lang="en-US" altLang="zh-CN" sz="1800" b="1" noProof="1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1" noProof="1"/>
              <a:t>       </a:t>
            </a:r>
            <a:r>
              <a:rPr lang="zh-CN" altLang="en-US" sz="1800" b="1" noProof="1"/>
              <a:t>最多不会超过7次。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407673" y="2924944"/>
            <a:ext cx="5457800" cy="352839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 baseline="0">
                <a:solidFill>
                  <a:schemeClr val="tx1"/>
                </a:solidFill>
                <a:latin typeface="Times New Roman" pitchFamily="18" charset="0"/>
                <a:ea typeface="仿宋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from string import digits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from itertools import combinations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zh-CN" altLang="en-US" sz="1400" dirty="0">
              <a:latin typeface="Consolas" panose="020B0609020204030204" charset="0"/>
              <a:ea typeface="+mn-ea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for item in combinations(digits, 4):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times = 0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while True: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</a:t>
            </a:r>
            <a:r>
              <a:rPr lang="en-US" altLang="zh-CN" sz="1400" dirty="0">
                <a:latin typeface="Consolas" panose="020B0609020204030204" charset="0"/>
                <a:ea typeface="+mn-ea"/>
              </a:rPr>
              <a:t>b</a:t>
            </a:r>
            <a:r>
              <a:rPr lang="zh-CN" altLang="en-US" sz="1400" dirty="0">
                <a:latin typeface="Consolas" panose="020B0609020204030204" charset="0"/>
                <a:ea typeface="+mn-ea"/>
              </a:rPr>
              <a:t>ig = int(''.join(sorted(item, reverse=True)))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little = int(''.join(sorted(item)))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difference = big-little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times = times+1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if difference==6174: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if times&gt;7: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    print(times)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break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else: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zh-CN" altLang="en-US" sz="1400" dirty="0">
                <a:latin typeface="Consolas" panose="020B0609020204030204" charset="0"/>
                <a:ea typeface="+mn-ea"/>
              </a:rPr>
              <a:t>            item = str(difference)</a:t>
            </a:r>
          </a:p>
        </p:txBody>
      </p:sp>
      <p:grpSp>
        <p:nvGrpSpPr>
          <p:cNvPr id="5" name="组合 109"/>
          <p:cNvGrpSpPr/>
          <p:nvPr/>
        </p:nvGrpSpPr>
        <p:grpSpPr>
          <a:xfrm>
            <a:off x="251148" y="65444"/>
            <a:ext cx="4320480" cy="651944"/>
            <a:chOff x="605162" y="4599564"/>
            <a:chExt cx="4320480" cy="651944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 dirty="0">
                <a:ea typeface="微软雅黑" pitchFamily="34" charset="-122"/>
              </a:endParaRPr>
            </a:p>
          </p:txBody>
        </p:sp>
        <p:pic>
          <p:nvPicPr>
            <p:cNvPr id="7" name="图片 6" descr="u=714968970,2342735455&amp;fm=27&amp;gp=0.jpg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605162" y="4599564"/>
              <a:ext cx="432048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3.4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案例 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985F1D-0F6E-4589-8815-E8E6AA15B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1606731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52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39552" y="44624"/>
            <a:ext cx="4029379" cy="722883"/>
            <a:chOff x="939802" y="5096024"/>
            <a:chExt cx="4029379" cy="722883"/>
          </a:xfrm>
        </p:grpSpPr>
        <p:grpSp>
          <p:nvGrpSpPr>
            <p:cNvPr id="6" name="组合 107"/>
            <p:cNvGrpSpPr/>
            <p:nvPr/>
          </p:nvGrpSpPr>
          <p:grpSpPr>
            <a:xfrm>
              <a:off x="939802" y="5096024"/>
              <a:ext cx="4029379" cy="722883"/>
              <a:chOff x="939802" y="5062184"/>
              <a:chExt cx="4083114" cy="684275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9802" y="5098728"/>
                <a:ext cx="813499" cy="64773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1515676" y="5062184"/>
                <a:ext cx="3507240" cy="611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3.5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异常处理</a:t>
                </a:r>
              </a:p>
            </p:txBody>
          </p:sp>
        </p:grpSp>
        <p:pic>
          <p:nvPicPr>
            <p:cNvPr id="7" name="图片 6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07930" y="5250439"/>
              <a:ext cx="502661" cy="422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0CADA37-0830-4B32-9EFC-60D3CA8AE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839153"/>
              </p:ext>
            </p:extLst>
          </p:nvPr>
        </p:nvGraphicFramePr>
        <p:xfrm>
          <a:off x="1475656" y="1695776"/>
          <a:ext cx="5343525" cy="673100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205005788"/>
                    </a:ext>
                  </a:extLst>
                </a:gridCol>
                <a:gridCol w="4986338">
                  <a:extLst>
                    <a:ext uri="{9D8B030D-6E8A-4147-A177-3AD203B41FA5}">
                      <a16:colId xmlns:a16="http://schemas.microsoft.com/office/drawing/2014/main" val="330455640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444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 =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eval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(input("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请输入一个整数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"))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print(num**2)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50587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98596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F9FEE30-2487-46AF-82A9-CC925DF28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467317"/>
              </p:ext>
            </p:extLst>
          </p:nvPr>
        </p:nvGraphicFramePr>
        <p:xfrm>
          <a:off x="1128832" y="2510164"/>
          <a:ext cx="5595938" cy="762000"/>
        </p:xfrm>
        <a:graphic>
          <a:graphicData uri="http://schemas.openxmlformats.org/drawingml/2006/table">
            <a:tbl>
              <a:tblPr/>
              <a:tblGrid>
                <a:gridCol w="5595938">
                  <a:extLst>
                    <a:ext uri="{9D8B030D-6E8A-4147-A177-3AD203B41FA5}">
                      <a16:colId xmlns:a16="http://schemas.microsoft.com/office/drawing/2014/main" val="1781416690"/>
                    </a:ext>
                  </a:extLst>
                </a:gridCol>
              </a:tblGrid>
              <a:tr h="7136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请输入一个整数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585845323"/>
                  </a:ext>
                </a:extLst>
              </a:tr>
            </a:tbl>
          </a:graphicData>
        </a:graphic>
      </p:graphicFrame>
      <p:sp>
        <p:nvSpPr>
          <p:cNvPr id="13" name="TextBox 2">
            <a:extLst>
              <a:ext uri="{FF2B5EF4-FFF2-40B4-BE49-F238E27FC236}">
                <a16:creationId xmlns:a16="http://schemas.microsoft.com/office/drawing/2014/main" id="{CE8D3CFE-254D-4F5C-A69D-9EDC32D71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98" y="980728"/>
            <a:ext cx="6435002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Times New Roman" pitchFamily="18" charset="0"/>
              </a:rPr>
              <a:t>异常处理</a:t>
            </a:r>
            <a:r>
              <a:rPr lang="en-US" altLang="zh-CN" b="1" dirty="0">
                <a:latin typeface="Times New Roman" pitchFamily="18" charset="0"/>
              </a:rPr>
              <a:t>: try-except</a:t>
            </a:r>
            <a:r>
              <a:rPr lang="zh-CN" altLang="en-US" b="1" dirty="0">
                <a:latin typeface="Times New Roman" pitchFamily="18" charset="0"/>
              </a:rPr>
              <a:t>语句</a:t>
            </a:r>
          </a:p>
        </p:txBody>
      </p:sp>
      <p:sp>
        <p:nvSpPr>
          <p:cNvPr id="14" name="矩形 13"/>
          <p:cNvSpPr/>
          <p:nvPr/>
        </p:nvSpPr>
        <p:spPr>
          <a:xfrm>
            <a:off x="1044970" y="3765736"/>
            <a:ext cx="365356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当用户输入的不是数字呢？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F9FEE30-2487-46AF-82A9-CC925DF28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712541"/>
              </p:ext>
            </p:extLst>
          </p:nvPr>
        </p:nvGraphicFramePr>
        <p:xfrm>
          <a:off x="1099126" y="4203440"/>
          <a:ext cx="5595938" cy="2032000"/>
        </p:xfrm>
        <a:graphic>
          <a:graphicData uri="http://schemas.openxmlformats.org/drawingml/2006/table">
            <a:tbl>
              <a:tblPr/>
              <a:tblGrid>
                <a:gridCol w="5595938">
                  <a:extLst>
                    <a:ext uri="{9D8B030D-6E8A-4147-A177-3AD203B41FA5}">
                      <a16:colId xmlns:a16="http://schemas.microsoft.com/office/drawing/2014/main" val="1781416690"/>
                    </a:ext>
                  </a:extLst>
                </a:gridCol>
              </a:tblGrid>
              <a:tr h="19911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请输入一个整数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NO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Traceback (most recent call last):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File "D:/PythonPL/echoInt.py", line 1, in &lt;module&gt;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eval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(input("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请输入一个整数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"))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File "&lt;string&gt;", line 1, in &lt;module&gt;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NameError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name ‘No' is not defined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585845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064512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53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39552" y="44624"/>
            <a:ext cx="4029379" cy="722883"/>
            <a:chOff x="939802" y="5096024"/>
            <a:chExt cx="4029379" cy="722883"/>
          </a:xfrm>
        </p:grpSpPr>
        <p:grpSp>
          <p:nvGrpSpPr>
            <p:cNvPr id="6" name="组合 107"/>
            <p:cNvGrpSpPr/>
            <p:nvPr/>
          </p:nvGrpSpPr>
          <p:grpSpPr>
            <a:xfrm>
              <a:off x="939802" y="5096024"/>
              <a:ext cx="4029379" cy="722883"/>
              <a:chOff x="939802" y="5062184"/>
              <a:chExt cx="4083114" cy="684275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9802" y="5098728"/>
                <a:ext cx="813499" cy="64773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1515676" y="5062184"/>
                <a:ext cx="3507240" cy="611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3.5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异常处理</a:t>
                </a:r>
              </a:p>
            </p:txBody>
          </p:sp>
        </p:grpSp>
        <p:pic>
          <p:nvPicPr>
            <p:cNvPr id="7" name="图片 6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07930" y="5250439"/>
              <a:ext cx="502661" cy="422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E8D3CFE-254D-4F5C-A69D-9EDC32D71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98" y="980728"/>
            <a:ext cx="6435002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Times New Roman" pitchFamily="18" charset="0"/>
              </a:rPr>
              <a:t>异常处理</a:t>
            </a:r>
            <a:r>
              <a:rPr lang="en-US" altLang="zh-CN" b="1" dirty="0">
                <a:latin typeface="Times New Roman" pitchFamily="18" charset="0"/>
              </a:rPr>
              <a:t>: try-except</a:t>
            </a:r>
            <a:r>
              <a:rPr lang="zh-CN" altLang="en-US" b="1" dirty="0">
                <a:latin typeface="Times New Roman" pitchFamily="18" charset="0"/>
              </a:rPr>
              <a:t>语句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50C1D3-038A-4C91-A6A8-6D4CF81B9A06}"/>
              </a:ext>
            </a:extLst>
          </p:cNvPr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7027" y="2348706"/>
            <a:ext cx="5274310" cy="22025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D7D9DCF2-F501-4914-A234-8693D139F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760" y="1544385"/>
            <a:ext cx="84470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Python解释器返回了异常信息，同时程序退出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01B3B0CD-D2E5-4D88-B0B0-120B646C8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527" y="4806711"/>
            <a:ext cx="8146473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n"/>
              <a:defRPr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Python异常信息中最重要的部分是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异常类型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，它表明了发生异常的原因，也是程序处理异常的依据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07347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54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39552" y="44624"/>
            <a:ext cx="4029379" cy="722883"/>
            <a:chOff x="939802" y="5096024"/>
            <a:chExt cx="4029379" cy="722883"/>
          </a:xfrm>
        </p:grpSpPr>
        <p:grpSp>
          <p:nvGrpSpPr>
            <p:cNvPr id="6" name="组合 107"/>
            <p:cNvGrpSpPr/>
            <p:nvPr/>
          </p:nvGrpSpPr>
          <p:grpSpPr>
            <a:xfrm>
              <a:off x="939802" y="5096024"/>
              <a:ext cx="4029379" cy="722883"/>
              <a:chOff x="939802" y="5062184"/>
              <a:chExt cx="4083114" cy="684275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9802" y="5098728"/>
                <a:ext cx="813499" cy="64773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1515676" y="5062184"/>
                <a:ext cx="3507240" cy="611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3.5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异常处理</a:t>
                </a:r>
              </a:p>
            </p:txBody>
          </p:sp>
        </p:grpSp>
        <p:pic>
          <p:nvPicPr>
            <p:cNvPr id="7" name="图片 6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07930" y="5250439"/>
              <a:ext cx="502661" cy="422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E8D3CFE-254D-4F5C-A69D-9EDC32D71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98" y="980728"/>
            <a:ext cx="6435002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Times New Roman" pitchFamily="18" charset="0"/>
              </a:rPr>
              <a:t>异常处理</a:t>
            </a:r>
            <a:r>
              <a:rPr lang="en-US" altLang="zh-CN" b="1" dirty="0">
                <a:latin typeface="Times New Roman" pitchFamily="18" charset="0"/>
              </a:rPr>
              <a:t>: try-except</a:t>
            </a:r>
            <a:r>
              <a:rPr lang="zh-CN" altLang="en-US" b="1" dirty="0">
                <a:latin typeface="Times New Roman" pitchFamily="18" charset="0"/>
              </a:rPr>
              <a:t>语句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8335436-6319-40CA-846A-AEE5354052B0}"/>
              </a:ext>
            </a:extLst>
          </p:cNvPr>
          <p:cNvGraphicFramePr>
            <a:graphicFrameLocks noGrp="1"/>
          </p:cNvGraphicFramePr>
          <p:nvPr/>
        </p:nvGraphicFramePr>
        <p:xfrm>
          <a:off x="1303482" y="3609108"/>
          <a:ext cx="5689600" cy="1727200"/>
        </p:xfrm>
        <a:graphic>
          <a:graphicData uri="http://schemas.openxmlformats.org/drawingml/2006/table">
            <a:tbl>
              <a:tblPr/>
              <a:tblGrid>
                <a:gridCol w="385763">
                  <a:extLst>
                    <a:ext uri="{9D8B030D-6E8A-4147-A177-3AD203B41FA5}">
                      <a16:colId xmlns:a16="http://schemas.microsoft.com/office/drawing/2014/main" val="195721551"/>
                    </a:ext>
                  </a:extLst>
                </a:gridCol>
                <a:gridCol w="5303837">
                  <a:extLst>
                    <a:ext uri="{9D8B030D-6E8A-4147-A177-3AD203B41FA5}">
                      <a16:colId xmlns:a16="http://schemas.microsoft.com/office/drawing/2014/main" val="1508721949"/>
                    </a:ext>
                  </a:extLst>
                </a:gridCol>
              </a:tblGrid>
              <a:tr h="76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52889"/>
                  </a:ext>
                </a:extLst>
              </a:tr>
              <a:tr h="1528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try: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num =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eval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(input("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请输入一个整数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"))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print(num**2)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except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NameError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print("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输入错误，请输入一个整数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!")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855958"/>
                  </a:ext>
                </a:extLst>
              </a:tr>
              <a:tr h="122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925837"/>
                  </a:ext>
                </a:extLst>
              </a:tr>
            </a:tbl>
          </a:graphicData>
        </a:graphic>
      </p:graphicFrame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1357313" y="5324474"/>
            <a:ext cx="2762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该程序执行效果如下</a:t>
            </a:r>
            <a:r>
              <a:rPr lang="zh-CN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endParaRPr lang="zh-CN" altLang="zh-CN" sz="1400" dirty="0">
              <a:latin typeface="Calibri" pitchFamily="34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01B3B0CD-D2E5-4D88-B0B0-120B646C8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74" y="1750457"/>
            <a:ext cx="8239990" cy="1869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n"/>
              <a:defRPr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try-except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语句实现异常处理，基本语法格式：</a:t>
            </a:r>
            <a:endParaRPr lang="en-US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try: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&lt;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1&gt;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except &lt;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异常类型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&gt;: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&lt;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2&gt;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9946570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55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539552" y="44624"/>
            <a:ext cx="4029379" cy="722883"/>
            <a:chOff x="939802" y="5096024"/>
            <a:chExt cx="4029379" cy="722883"/>
          </a:xfrm>
        </p:grpSpPr>
        <p:grpSp>
          <p:nvGrpSpPr>
            <p:cNvPr id="7" name="组合 107"/>
            <p:cNvGrpSpPr/>
            <p:nvPr/>
          </p:nvGrpSpPr>
          <p:grpSpPr>
            <a:xfrm>
              <a:off x="939802" y="5096024"/>
              <a:ext cx="4029379" cy="722883"/>
              <a:chOff x="939802" y="5062184"/>
              <a:chExt cx="4083114" cy="684275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9802" y="5098728"/>
                <a:ext cx="813499" cy="64773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1515676" y="5062184"/>
                <a:ext cx="3507240" cy="611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3.5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异常处理</a:t>
                </a:r>
              </a:p>
            </p:txBody>
          </p:sp>
        </p:grpSp>
        <p:pic>
          <p:nvPicPr>
            <p:cNvPr id="8" name="图片 7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07930" y="5250439"/>
              <a:ext cx="502661" cy="422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7A295CF3-412D-4985-9AD0-707FE5BBC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18" y="1651846"/>
            <a:ext cx="859328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try-except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语句可支持多个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语句，语法格式如下：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try: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	&lt;</a:t>
            </a:r>
            <a:r>
              <a:rPr lang="zh-CN" altLang="en-US" dirty="0"/>
              <a:t>语句块</a:t>
            </a:r>
            <a:r>
              <a:rPr lang="en-US" altLang="zh-CN" dirty="0"/>
              <a:t>1&gt;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except &lt;</a:t>
            </a:r>
            <a:r>
              <a:rPr lang="zh-CN" altLang="en-US" dirty="0"/>
              <a:t>异常类型</a:t>
            </a:r>
            <a:r>
              <a:rPr lang="en-US" altLang="zh-CN" dirty="0"/>
              <a:t>1&gt;: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	&lt;</a:t>
            </a:r>
            <a:r>
              <a:rPr lang="zh-CN" altLang="en-US" dirty="0"/>
              <a:t>语句块</a:t>
            </a:r>
            <a:r>
              <a:rPr lang="en-US" altLang="zh-CN" dirty="0"/>
              <a:t>2&gt;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….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except &lt;</a:t>
            </a:r>
            <a:r>
              <a:rPr lang="zh-CN" altLang="en-US" dirty="0"/>
              <a:t>异常类型</a:t>
            </a:r>
            <a:r>
              <a:rPr lang="en-US" altLang="zh-CN" dirty="0"/>
              <a:t>N&gt;: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	&lt;</a:t>
            </a:r>
            <a:r>
              <a:rPr lang="zh-CN" altLang="en-US" dirty="0"/>
              <a:t>语句块</a:t>
            </a:r>
            <a:r>
              <a:rPr lang="en-US" altLang="zh-CN" dirty="0"/>
              <a:t>N+1&gt;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except:</a:t>
            </a:r>
          </a:p>
          <a:p>
            <a:pPr lvl="2">
              <a:spcBef>
                <a:spcPct val="0"/>
              </a:spcBef>
              <a:buFontTx/>
              <a:buNone/>
              <a:defRPr/>
            </a:pPr>
            <a:r>
              <a:rPr lang="en-US" altLang="zh-CN" dirty="0"/>
              <a:t>	&lt;</a:t>
            </a:r>
            <a:r>
              <a:rPr lang="zh-CN" altLang="en-US" dirty="0"/>
              <a:t>语句块</a:t>
            </a:r>
            <a:r>
              <a:rPr lang="en-US" altLang="zh-CN" dirty="0"/>
              <a:t>N+2&gt;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CE8D3CFE-254D-4F5C-A69D-9EDC32D71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30" y="966906"/>
            <a:ext cx="6435002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Times New Roman" pitchFamily="18" charset="0"/>
              </a:rPr>
              <a:t>异常的高级用法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2B1F914-8395-4E02-A7AE-67DC2F81DBA1}"/>
              </a:ext>
            </a:extLst>
          </p:cNvPr>
          <p:cNvGraphicFramePr>
            <a:graphicFrameLocks noGrp="1"/>
          </p:cNvGraphicFramePr>
          <p:nvPr/>
        </p:nvGraphicFramePr>
        <p:xfrm>
          <a:off x="4312227" y="2552845"/>
          <a:ext cx="4665518" cy="2229293"/>
        </p:xfrm>
        <a:graphic>
          <a:graphicData uri="http://schemas.openxmlformats.org/drawingml/2006/table">
            <a:tbl>
              <a:tblPr/>
              <a:tblGrid>
                <a:gridCol w="312138">
                  <a:extLst>
                    <a:ext uri="{9D8B030D-6E8A-4147-A177-3AD203B41FA5}">
                      <a16:colId xmlns:a16="http://schemas.microsoft.com/office/drawing/2014/main" val="2310067114"/>
                    </a:ext>
                  </a:extLst>
                </a:gridCol>
                <a:gridCol w="4353380">
                  <a:extLst>
                    <a:ext uri="{9D8B030D-6E8A-4147-A177-3AD203B41FA5}">
                      <a16:colId xmlns:a16="http://schemas.microsoft.com/office/drawing/2014/main" val="2639097702"/>
                    </a:ext>
                  </a:extLst>
                </a:gridCol>
              </a:tblGrid>
              <a:tr h="855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787575"/>
                  </a:ext>
                </a:extLst>
              </a:tr>
              <a:tr h="18530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try: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alp = "ABCDEFGHIJKLMNOPQRSTUVWXYZ"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idx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eval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(input("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请输入一个整数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"))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print(alp[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idx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except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NameError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print("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输入错误，请输入一个整数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!")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except: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print("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其他错误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")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6543"/>
                  </a:ext>
                </a:extLst>
              </a:tr>
              <a:tr h="1117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48531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654627" y="5480750"/>
            <a:ext cx="80425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zh-CN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最后一个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</a:t>
            </a:r>
            <a:r>
              <a:rPr lang="zh-CN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语句没有指定任何类型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表示它对应的语句块可以处理所有</a:t>
            </a:r>
            <a:endParaRPr lang="en-US" altLang="zh-CN" sz="18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zh-CN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其他异常。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此</a:t>
            </a:r>
            <a:r>
              <a:rPr lang="zh-CN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过程与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if-</a:t>
            </a:r>
            <a:r>
              <a:rPr lang="en-US" altLang="zh-CN" sz="1800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elif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-else</a:t>
            </a:r>
            <a:r>
              <a:rPr lang="zh-CN" altLang="zh-CN" sz="1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语句类似，是分支结构的一种表达方式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90226117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56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39552" y="44624"/>
            <a:ext cx="4029379" cy="722883"/>
            <a:chOff x="939802" y="5096024"/>
            <a:chExt cx="4029379" cy="722883"/>
          </a:xfrm>
        </p:grpSpPr>
        <p:grpSp>
          <p:nvGrpSpPr>
            <p:cNvPr id="6" name="组合 107"/>
            <p:cNvGrpSpPr/>
            <p:nvPr/>
          </p:nvGrpSpPr>
          <p:grpSpPr>
            <a:xfrm>
              <a:off x="939802" y="5096024"/>
              <a:ext cx="4029379" cy="722883"/>
              <a:chOff x="939802" y="5062184"/>
              <a:chExt cx="4083114" cy="684275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9802" y="5098728"/>
                <a:ext cx="813499" cy="64773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1515676" y="5062184"/>
                <a:ext cx="3507240" cy="611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3.5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异常处理</a:t>
                </a:r>
              </a:p>
            </p:txBody>
          </p:sp>
        </p:grpSp>
        <p:pic>
          <p:nvPicPr>
            <p:cNvPr id="7" name="图片 6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07930" y="5250439"/>
              <a:ext cx="502661" cy="422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CE8D3CFE-254D-4F5C-A69D-9EDC32D71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30" y="966906"/>
            <a:ext cx="6435002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Times New Roman" pitchFamily="18" charset="0"/>
              </a:rPr>
              <a:t>异常的高级用法</a:t>
            </a:r>
          </a:p>
        </p:txBody>
      </p:sp>
      <p:sp>
        <p:nvSpPr>
          <p:cNvPr id="11" name="矩形 2"/>
          <p:cNvSpPr>
            <a:spLocks noChangeArrowheads="1"/>
          </p:cNvSpPr>
          <p:nvPr/>
        </p:nvSpPr>
        <p:spPr bwMode="auto">
          <a:xfrm>
            <a:off x="384464" y="1557338"/>
            <a:ext cx="8321386" cy="4814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indent="266700" algn="just">
              <a:lnSpc>
                <a:spcPct val="1250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除了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保留字外，异常语句还可与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else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1" indent="266700" algn="just">
              <a:lnSpc>
                <a:spcPct val="125000"/>
              </a:lnSpc>
              <a:buClr>
                <a:srgbClr val="FF0000"/>
              </a:buClr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finally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保留字配合使用，语法格式如下：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266700" algn="just">
              <a:lnSpc>
                <a:spcPct val="125000"/>
              </a:lnSpc>
              <a:buClr>
                <a:srgbClr val="FF0000"/>
              </a:buClr>
              <a:buFont typeface="Wingdings" pitchFamily="2" charset="2"/>
              <a:buChar char="n"/>
            </a:pPr>
            <a:endParaRPr lang="zh-CN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try: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    &lt;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1&gt;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 &lt;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异常类型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1&gt;: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    &lt;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2&gt;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else: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    &lt;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3&gt;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finally: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360000" lvl="2" indent="266700" algn="just">
              <a:lnSpc>
                <a:spcPct val="125000"/>
              </a:lnSpc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   &lt;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4&gt;</a:t>
            </a:r>
            <a:endParaRPr lang="zh-CN" altLang="zh-CN" sz="1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2" indent="266700" algn="just">
              <a:lnSpc>
                <a:spcPct val="125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 </a:t>
            </a:r>
            <a:endParaRPr lang="zh-CN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86200" y="2685184"/>
            <a:ext cx="274320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图片 12"/>
          <p:cNvPicPr/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375" y="2702935"/>
            <a:ext cx="2714625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8"/>
          <p:cNvSpPr txBox="1"/>
          <p:nvPr/>
        </p:nvSpPr>
        <p:spPr>
          <a:xfrm>
            <a:off x="4436918" y="6026727"/>
            <a:ext cx="173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正常处理流程</a:t>
            </a:r>
          </a:p>
        </p:txBody>
      </p:sp>
      <p:sp>
        <p:nvSpPr>
          <p:cNvPr id="15" name="TextBox 9"/>
          <p:cNvSpPr txBox="1"/>
          <p:nvPr/>
        </p:nvSpPr>
        <p:spPr>
          <a:xfrm>
            <a:off x="6740236" y="5992091"/>
            <a:ext cx="172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异常处理流程</a:t>
            </a:r>
          </a:p>
        </p:txBody>
      </p:sp>
    </p:spTree>
    <p:extLst>
      <p:ext uri="{BB962C8B-B14F-4D97-AF65-F5344CB8AC3E}">
        <p14:creationId xmlns:p14="http://schemas.microsoft.com/office/powerpoint/2010/main" val="96056715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57</a:t>
            </a:fld>
            <a:endParaRPr lang="zh-CN" altLang="en-US" dirty="0"/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177800" y="1671638"/>
            <a:ext cx="42291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采用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else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finally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修改代码如下：</a:t>
            </a:r>
            <a:endParaRPr lang="zh-CN" altLang="zh-CN" sz="160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2CF32F9-EBF1-4D7C-B712-BE216C5E0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997511"/>
              </p:ext>
            </p:extLst>
          </p:nvPr>
        </p:nvGraphicFramePr>
        <p:xfrm>
          <a:off x="204788" y="2565400"/>
          <a:ext cx="5188094" cy="3078163"/>
        </p:xfrm>
        <a:graphic>
          <a:graphicData uri="http://schemas.openxmlformats.org/drawingml/2006/table">
            <a:tbl>
              <a:tblPr/>
              <a:tblGrid>
                <a:gridCol w="347417">
                  <a:extLst>
                    <a:ext uri="{9D8B030D-6E8A-4147-A177-3AD203B41FA5}">
                      <a16:colId xmlns:a16="http://schemas.microsoft.com/office/drawing/2014/main" val="300811009"/>
                    </a:ext>
                  </a:extLst>
                </a:gridCol>
                <a:gridCol w="4840677">
                  <a:extLst>
                    <a:ext uri="{9D8B030D-6E8A-4147-A177-3AD203B41FA5}">
                      <a16:colId xmlns:a16="http://schemas.microsoft.com/office/drawing/2014/main" val="37785461"/>
                    </a:ext>
                  </a:extLst>
                </a:gridCol>
              </a:tblGrid>
              <a:tr h="295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try: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alp = "ABCDEFGHIJKLMNOPQRSTUVWXYZ"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idx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eval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(input("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请输入一个整数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"))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print(alp[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idx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except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NameError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print("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输入错误，请输入一个整数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!")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else: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print("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没有发生异常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")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finally: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print(“End of program")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514189"/>
                  </a:ext>
                </a:extLst>
              </a:tr>
              <a:tr h="119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301003"/>
                  </a:ext>
                </a:extLst>
              </a:tr>
            </a:tbl>
          </a:graphicData>
        </a:graphic>
      </p:graphicFrame>
      <p:sp>
        <p:nvSpPr>
          <p:cNvPr id="7" name="矩形 4"/>
          <p:cNvSpPr>
            <a:spLocks noChangeArrowheads="1"/>
          </p:cNvSpPr>
          <p:nvPr/>
        </p:nvSpPr>
        <p:spPr bwMode="auto">
          <a:xfrm>
            <a:off x="5219700" y="1671638"/>
            <a:ext cx="301942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200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执行过程和结果如下：</a:t>
            </a:r>
            <a:endParaRPr lang="zh-CN" altLang="zh-CN" sz="160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9552" y="44624"/>
            <a:ext cx="4029379" cy="722883"/>
            <a:chOff x="939802" y="5096024"/>
            <a:chExt cx="4029379" cy="722883"/>
          </a:xfrm>
        </p:grpSpPr>
        <p:grpSp>
          <p:nvGrpSpPr>
            <p:cNvPr id="10" name="组合 107"/>
            <p:cNvGrpSpPr/>
            <p:nvPr/>
          </p:nvGrpSpPr>
          <p:grpSpPr>
            <a:xfrm>
              <a:off x="939802" y="5096024"/>
              <a:ext cx="4029379" cy="722883"/>
              <a:chOff x="939802" y="5062184"/>
              <a:chExt cx="4083114" cy="684275"/>
            </a:xfrm>
          </p:grpSpPr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939802" y="5098728"/>
                <a:ext cx="813499" cy="647731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13" name="TextBox 6"/>
              <p:cNvSpPr txBox="1">
                <a:spLocks noChangeArrowheads="1"/>
              </p:cNvSpPr>
              <p:nvPr/>
            </p:nvSpPr>
            <p:spPr bwMode="auto">
              <a:xfrm>
                <a:off x="1515676" y="5062184"/>
                <a:ext cx="3507240" cy="611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3.5 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异常处理</a:t>
                </a:r>
              </a:p>
            </p:txBody>
          </p:sp>
        </p:grpSp>
        <p:pic>
          <p:nvPicPr>
            <p:cNvPr id="11" name="图片 10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07930" y="5250439"/>
              <a:ext cx="502661" cy="422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TextBox 2">
            <a:extLst>
              <a:ext uri="{FF2B5EF4-FFF2-40B4-BE49-F238E27FC236}">
                <a16:creationId xmlns:a16="http://schemas.microsoft.com/office/drawing/2014/main" id="{CE8D3CFE-254D-4F5C-A69D-9EDC32D71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30" y="966906"/>
            <a:ext cx="6435002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Times New Roman" pitchFamily="18" charset="0"/>
              </a:rPr>
              <a:t>异常的高级用法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DC564F-8170-4AE6-9B92-07F7496F1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10" y="2492897"/>
            <a:ext cx="3406504" cy="326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29332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7"/>
          <p:cNvGrpSpPr/>
          <p:nvPr/>
        </p:nvGrpSpPr>
        <p:grpSpPr>
          <a:xfrm>
            <a:off x="543012" y="93590"/>
            <a:ext cx="4087592" cy="684275"/>
            <a:chOff x="939802" y="5062184"/>
            <a:chExt cx="4087592" cy="684275"/>
          </a:xfrm>
        </p:grpSpPr>
        <p:grpSp>
          <p:nvGrpSpPr>
            <p:cNvPr id="5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8" name="KSO_Shape"/>
              <p:cNvSpPr>
                <a:spLocks/>
              </p:cNvSpPr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dirty="0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1520154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dirty="0">
                  <a:latin typeface="Times New Roman" pitchFamily="18" charset="0"/>
                  <a:ea typeface="黑体" pitchFamily="49" charset="-122"/>
                </a:rPr>
                <a:t>3.5  </a:t>
              </a:r>
              <a:r>
                <a:rPr lang="zh-CN" altLang="en-US" sz="3600" dirty="0">
                  <a:latin typeface="Times New Roman" pitchFamily="18" charset="0"/>
                  <a:ea typeface="黑体" pitchFamily="49" charset="-122"/>
                </a:rPr>
                <a:t>本章小结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21980" y="1088583"/>
            <a:ext cx="2378140" cy="668910"/>
            <a:chOff x="927100" y="1197990"/>
            <a:chExt cx="2378140" cy="668910"/>
          </a:xfrm>
        </p:grpSpPr>
        <p:sp>
          <p:nvSpPr>
            <p:cNvPr id="10" name="矩形 9"/>
            <p:cNvSpPr/>
            <p:nvPr/>
          </p:nvSpPr>
          <p:spPr>
            <a:xfrm>
              <a:off x="1472687" y="1197990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itchFamily="34" charset="0"/>
                  <a:ea typeface="黑体" pitchFamily="49" charset="-122"/>
                </a:rPr>
                <a:t>内容回顾</a:t>
              </a:r>
            </a:p>
          </p:txBody>
        </p:sp>
        <p:grpSp>
          <p:nvGrpSpPr>
            <p:cNvPr id="11" name="组合 99"/>
            <p:cNvGrpSpPr/>
            <p:nvPr/>
          </p:nvGrpSpPr>
          <p:grpSpPr>
            <a:xfrm>
              <a:off x="927100" y="1214339"/>
              <a:ext cx="643729" cy="652561"/>
              <a:chOff x="5547069" y="765931"/>
              <a:chExt cx="1482696" cy="1322356"/>
            </a:xfrm>
          </p:grpSpPr>
          <p:grpSp>
            <p:nvGrpSpPr>
              <p:cNvPr id="12" name="组合 38"/>
              <p:cNvGrpSpPr/>
              <p:nvPr/>
            </p:nvGrpSpPr>
            <p:grpSpPr>
              <a:xfrm>
                <a:off x="5547069" y="765931"/>
                <a:ext cx="1482696" cy="1322356"/>
                <a:chOff x="3337529" y="1161598"/>
                <a:chExt cx="2138277" cy="1907040"/>
              </a:xfrm>
            </p:grpSpPr>
            <p:sp>
              <p:nvSpPr>
                <p:cNvPr id="16" name="任意多边形 15"/>
                <p:cNvSpPr>
                  <a:spLocks/>
                </p:cNvSpPr>
                <p:nvPr/>
              </p:nvSpPr>
              <p:spPr bwMode="auto">
                <a:xfrm rot="10800000">
                  <a:off x="3342359" y="1161598"/>
                  <a:ext cx="2123116" cy="1895135"/>
                </a:xfrm>
                <a:custGeom>
                  <a:avLst/>
                  <a:gdLst>
                    <a:gd name="connsiteX0" fmla="*/ 1795626 w 2791387"/>
                    <a:gd name="connsiteY0" fmla="*/ 2117139 h 2491648"/>
                    <a:gd name="connsiteX1" fmla="*/ 1950063 w 2791387"/>
                    <a:gd name="connsiteY1" fmla="*/ 2028434 h 2491648"/>
                    <a:gd name="connsiteX2" fmla="*/ 2350454 w 2791387"/>
                    <a:gd name="connsiteY2" fmla="*/ 1334530 h 2491648"/>
                    <a:gd name="connsiteX3" fmla="*/ 2350454 w 2791387"/>
                    <a:gd name="connsiteY3" fmla="*/ 1157119 h 2491648"/>
                    <a:gd name="connsiteX4" fmla="*/ 1950063 w 2791387"/>
                    <a:gd name="connsiteY4" fmla="*/ 463215 h 2491648"/>
                    <a:gd name="connsiteX5" fmla="*/ 1795626 w 2791387"/>
                    <a:gd name="connsiteY5" fmla="*/ 374509 h 2491648"/>
                    <a:gd name="connsiteX6" fmla="*/ 994844 w 2791387"/>
                    <a:gd name="connsiteY6" fmla="*/ 374509 h 2491648"/>
                    <a:gd name="connsiteX7" fmla="*/ 840408 w 2791387"/>
                    <a:gd name="connsiteY7" fmla="*/ 463215 h 2491648"/>
                    <a:gd name="connsiteX8" fmla="*/ 440017 w 2791387"/>
                    <a:gd name="connsiteY8" fmla="*/ 1157119 h 2491648"/>
                    <a:gd name="connsiteX9" fmla="*/ 440017 w 2791387"/>
                    <a:gd name="connsiteY9" fmla="*/ 1334530 h 2491648"/>
                    <a:gd name="connsiteX10" fmla="*/ 840408 w 2791387"/>
                    <a:gd name="connsiteY10" fmla="*/ 2028434 h 2491648"/>
                    <a:gd name="connsiteX11" fmla="*/ 994844 w 2791387"/>
                    <a:gd name="connsiteY11" fmla="*/ 2117139 h 2491648"/>
                    <a:gd name="connsiteX12" fmla="*/ 1967414 w 2791387"/>
                    <a:gd name="connsiteY12" fmla="*/ 2491648 h 2491648"/>
                    <a:gd name="connsiteX13" fmla="*/ 822440 w 2791387"/>
                    <a:gd name="connsiteY13" fmla="*/ 2491648 h 2491648"/>
                    <a:gd name="connsiteX14" fmla="*/ 601623 w 2791387"/>
                    <a:gd name="connsiteY14" fmla="*/ 2364815 h 2491648"/>
                    <a:gd name="connsiteX15" fmla="*/ 29136 w 2791387"/>
                    <a:gd name="connsiteY15" fmla="*/ 1372657 h 2491648"/>
                    <a:gd name="connsiteX16" fmla="*/ 29136 w 2791387"/>
                    <a:gd name="connsiteY16" fmla="*/ 1118992 h 2491648"/>
                    <a:gd name="connsiteX17" fmla="*/ 601623 w 2791387"/>
                    <a:gd name="connsiteY17" fmla="*/ 126833 h 2491648"/>
                    <a:gd name="connsiteX18" fmla="*/ 822440 w 2791387"/>
                    <a:gd name="connsiteY18" fmla="*/ 0 h 2491648"/>
                    <a:gd name="connsiteX19" fmla="*/ 1967414 w 2791387"/>
                    <a:gd name="connsiteY19" fmla="*/ 0 h 2491648"/>
                    <a:gd name="connsiteX20" fmla="*/ 2188231 w 2791387"/>
                    <a:gd name="connsiteY20" fmla="*/ 126833 h 2491648"/>
                    <a:gd name="connsiteX21" fmla="*/ 2760718 w 2791387"/>
                    <a:gd name="connsiteY21" fmla="*/ 1118992 h 2491648"/>
                    <a:gd name="connsiteX22" fmla="*/ 2760718 w 2791387"/>
                    <a:gd name="connsiteY22" fmla="*/ 1372657 h 2491648"/>
                    <a:gd name="connsiteX23" fmla="*/ 2188231 w 2791387"/>
                    <a:gd name="connsiteY23" fmla="*/ 2364815 h 2491648"/>
                    <a:gd name="connsiteX24" fmla="*/ 1967414 w 2791387"/>
                    <a:gd name="connsiteY24" fmla="*/ 2491648 h 2491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91387" h="2491648">
                      <a:moveTo>
                        <a:pt x="1795626" y="2117139"/>
                      </a:moveTo>
                      <a:cubicBezTo>
                        <a:pt x="1852825" y="2117139"/>
                        <a:pt x="1921463" y="2077079"/>
                        <a:pt x="1950063" y="2028434"/>
                      </a:cubicBezTo>
                      <a:cubicBezTo>
                        <a:pt x="1950063" y="2028434"/>
                        <a:pt x="1950063" y="2028434"/>
                        <a:pt x="2350454" y="1334530"/>
                      </a:cubicBezTo>
                      <a:cubicBezTo>
                        <a:pt x="2379053" y="1285885"/>
                        <a:pt x="2379053" y="1205764"/>
                        <a:pt x="2350454" y="1157119"/>
                      </a:cubicBezTo>
                      <a:cubicBezTo>
                        <a:pt x="2350454" y="1157119"/>
                        <a:pt x="2350454" y="1157119"/>
                        <a:pt x="1950063" y="463215"/>
                      </a:cubicBezTo>
                      <a:cubicBezTo>
                        <a:pt x="1921463" y="414570"/>
                        <a:pt x="1852825" y="374509"/>
                        <a:pt x="1795626" y="374509"/>
                      </a:cubicBezTo>
                      <a:cubicBezTo>
                        <a:pt x="1795626" y="374509"/>
                        <a:pt x="1795626" y="374509"/>
                        <a:pt x="994844" y="374509"/>
                      </a:cubicBezTo>
                      <a:cubicBezTo>
                        <a:pt x="939075" y="374509"/>
                        <a:pt x="869007" y="414570"/>
                        <a:pt x="840408" y="463215"/>
                      </a:cubicBezTo>
                      <a:cubicBezTo>
                        <a:pt x="840408" y="463215"/>
                        <a:pt x="840408" y="463215"/>
                        <a:pt x="440017" y="1157119"/>
                      </a:cubicBezTo>
                      <a:cubicBezTo>
                        <a:pt x="412847" y="1205764"/>
                        <a:pt x="412847" y="1285885"/>
                        <a:pt x="440017" y="1334530"/>
                      </a:cubicBezTo>
                      <a:cubicBezTo>
                        <a:pt x="440017" y="1334530"/>
                        <a:pt x="440017" y="1334530"/>
                        <a:pt x="840408" y="2028434"/>
                      </a:cubicBezTo>
                      <a:cubicBezTo>
                        <a:pt x="869007" y="2077079"/>
                        <a:pt x="939075" y="2117139"/>
                        <a:pt x="994844" y="2117139"/>
                      </a:cubicBezTo>
                      <a:close/>
                      <a:moveTo>
                        <a:pt x="1967414" y="2491648"/>
                      </a:moveTo>
                      <a:lnTo>
                        <a:pt x="822440" y="2491648"/>
                      </a:lnTo>
                      <a:cubicBezTo>
                        <a:pt x="742700" y="2491648"/>
                        <a:pt x="642515" y="2434369"/>
                        <a:pt x="601623" y="2364815"/>
                      </a:cubicBezTo>
                      <a:cubicBezTo>
                        <a:pt x="29136" y="1372657"/>
                        <a:pt x="29136" y="1372657"/>
                        <a:pt x="29136" y="1372657"/>
                      </a:cubicBezTo>
                      <a:cubicBezTo>
                        <a:pt x="-9712" y="1303103"/>
                        <a:pt x="-9712" y="1188545"/>
                        <a:pt x="29136" y="1118992"/>
                      </a:cubicBezTo>
                      <a:cubicBezTo>
                        <a:pt x="601623" y="126833"/>
                        <a:pt x="601623" y="126833"/>
                        <a:pt x="601623" y="126833"/>
                      </a:cubicBezTo>
                      <a:cubicBezTo>
                        <a:pt x="642515" y="57280"/>
                        <a:pt x="742700" y="0"/>
                        <a:pt x="822440" y="0"/>
                      </a:cubicBezTo>
                      <a:cubicBezTo>
                        <a:pt x="1967414" y="0"/>
                        <a:pt x="1967414" y="0"/>
                        <a:pt x="1967414" y="0"/>
                      </a:cubicBezTo>
                      <a:cubicBezTo>
                        <a:pt x="2049198" y="0"/>
                        <a:pt x="2147339" y="57280"/>
                        <a:pt x="2188231" y="126833"/>
                      </a:cubicBezTo>
                      <a:cubicBezTo>
                        <a:pt x="2760718" y="1118992"/>
                        <a:pt x="2760718" y="1118992"/>
                        <a:pt x="2760718" y="1118992"/>
                      </a:cubicBezTo>
                      <a:cubicBezTo>
                        <a:pt x="2801610" y="1188545"/>
                        <a:pt x="2801610" y="1303103"/>
                        <a:pt x="2760718" y="1372657"/>
                      </a:cubicBezTo>
                      <a:cubicBezTo>
                        <a:pt x="2188231" y="2364815"/>
                        <a:pt x="2188231" y="2364815"/>
                        <a:pt x="2188231" y="2364815"/>
                      </a:cubicBezTo>
                      <a:cubicBezTo>
                        <a:pt x="2147339" y="2434369"/>
                        <a:pt x="2049198" y="2491648"/>
                        <a:pt x="1967414" y="2491648"/>
                      </a:cubicBezTo>
                      <a:close/>
                    </a:path>
                  </a:pathLst>
                </a:custGeom>
                <a:solidFill>
                  <a:srgbClr val="00AF92"/>
                </a:solidFill>
                <a:ln w="19050">
                  <a:noFill/>
                </a:ln>
                <a:effectLst>
                  <a:innerShdw blurRad="63500" dist="63500" dir="27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 5"/>
                <p:cNvSpPr>
                  <a:spLocks/>
                </p:cNvSpPr>
                <p:nvPr/>
              </p:nvSpPr>
              <p:spPr bwMode="auto">
                <a:xfrm rot="10800000">
                  <a:off x="3337529" y="1173504"/>
                  <a:ext cx="2138277" cy="189513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B4B4B4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 5"/>
                <p:cNvSpPr>
                  <a:spLocks/>
                </p:cNvSpPr>
                <p:nvPr/>
              </p:nvSpPr>
              <p:spPr bwMode="auto">
                <a:xfrm rot="10800000">
                  <a:off x="3656172" y="1456206"/>
                  <a:ext cx="1495486" cy="1325435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3" name="Group 17"/>
              <p:cNvGrpSpPr>
                <a:grpSpLocks noChangeAspect="1"/>
              </p:cNvGrpSpPr>
              <p:nvPr/>
            </p:nvGrpSpPr>
            <p:grpSpPr bwMode="auto">
              <a:xfrm>
                <a:off x="6087464" y="1170184"/>
                <a:ext cx="457188" cy="490764"/>
                <a:chOff x="231" y="1205"/>
                <a:chExt cx="640" cy="687"/>
              </a:xfrm>
              <a:solidFill>
                <a:srgbClr val="00AF92"/>
              </a:solidFill>
            </p:grpSpPr>
            <p:sp>
              <p:nvSpPr>
                <p:cNvPr id="14" name="Freeform 18"/>
                <p:cNvSpPr>
                  <a:spLocks/>
                </p:cNvSpPr>
                <p:nvPr/>
              </p:nvSpPr>
              <p:spPr bwMode="auto">
                <a:xfrm>
                  <a:off x="231" y="1205"/>
                  <a:ext cx="499" cy="687"/>
                </a:xfrm>
                <a:custGeom>
                  <a:avLst/>
                  <a:gdLst>
                    <a:gd name="T0" fmla="*/ 442 w 499"/>
                    <a:gd name="T1" fmla="*/ 629 h 687"/>
                    <a:gd name="T2" fmla="*/ 57 w 499"/>
                    <a:gd name="T3" fmla="*/ 629 h 687"/>
                    <a:gd name="T4" fmla="*/ 57 w 499"/>
                    <a:gd name="T5" fmla="*/ 200 h 687"/>
                    <a:gd name="T6" fmla="*/ 200 w 499"/>
                    <a:gd name="T7" fmla="*/ 200 h 687"/>
                    <a:gd name="T8" fmla="*/ 200 w 499"/>
                    <a:gd name="T9" fmla="*/ 57 h 687"/>
                    <a:gd name="T10" fmla="*/ 442 w 499"/>
                    <a:gd name="T11" fmla="*/ 57 h 687"/>
                    <a:gd name="T12" fmla="*/ 442 w 499"/>
                    <a:gd name="T13" fmla="*/ 116 h 687"/>
                    <a:gd name="T14" fmla="*/ 494 w 499"/>
                    <a:gd name="T15" fmla="*/ 64 h 687"/>
                    <a:gd name="T16" fmla="*/ 499 w 499"/>
                    <a:gd name="T17" fmla="*/ 59 h 687"/>
                    <a:gd name="T18" fmla="*/ 499 w 499"/>
                    <a:gd name="T19" fmla="*/ 0 h 687"/>
                    <a:gd name="T20" fmla="*/ 143 w 499"/>
                    <a:gd name="T21" fmla="*/ 0 h 687"/>
                    <a:gd name="T22" fmla="*/ 143 w 499"/>
                    <a:gd name="T23" fmla="*/ 0 h 687"/>
                    <a:gd name="T24" fmla="*/ 0 w 499"/>
                    <a:gd name="T25" fmla="*/ 143 h 687"/>
                    <a:gd name="T26" fmla="*/ 0 w 499"/>
                    <a:gd name="T27" fmla="*/ 687 h 687"/>
                    <a:gd name="T28" fmla="*/ 499 w 499"/>
                    <a:gd name="T29" fmla="*/ 687 h 687"/>
                    <a:gd name="T30" fmla="*/ 499 w 499"/>
                    <a:gd name="T31" fmla="*/ 429 h 687"/>
                    <a:gd name="T32" fmla="*/ 442 w 499"/>
                    <a:gd name="T33" fmla="*/ 486 h 687"/>
                    <a:gd name="T34" fmla="*/ 442 w 499"/>
                    <a:gd name="T35" fmla="*/ 629 h 6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9" h="687">
                      <a:moveTo>
                        <a:pt x="442" y="629"/>
                      </a:moveTo>
                      <a:lnTo>
                        <a:pt x="57" y="629"/>
                      </a:lnTo>
                      <a:lnTo>
                        <a:pt x="57" y="200"/>
                      </a:lnTo>
                      <a:lnTo>
                        <a:pt x="200" y="200"/>
                      </a:lnTo>
                      <a:lnTo>
                        <a:pt x="200" y="57"/>
                      </a:lnTo>
                      <a:lnTo>
                        <a:pt x="442" y="57"/>
                      </a:lnTo>
                      <a:lnTo>
                        <a:pt x="442" y="116"/>
                      </a:lnTo>
                      <a:lnTo>
                        <a:pt x="494" y="64"/>
                      </a:lnTo>
                      <a:lnTo>
                        <a:pt x="499" y="59"/>
                      </a:lnTo>
                      <a:lnTo>
                        <a:pt x="499" y="0"/>
                      </a:lnTo>
                      <a:lnTo>
                        <a:pt x="143" y="0"/>
                      </a:lnTo>
                      <a:lnTo>
                        <a:pt x="143" y="0"/>
                      </a:lnTo>
                      <a:lnTo>
                        <a:pt x="0" y="143"/>
                      </a:lnTo>
                      <a:lnTo>
                        <a:pt x="0" y="687"/>
                      </a:lnTo>
                      <a:lnTo>
                        <a:pt x="499" y="687"/>
                      </a:lnTo>
                      <a:lnTo>
                        <a:pt x="499" y="429"/>
                      </a:lnTo>
                      <a:lnTo>
                        <a:pt x="442" y="486"/>
                      </a:lnTo>
                      <a:lnTo>
                        <a:pt x="442" y="62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" name="Freeform 19"/>
                <p:cNvSpPr>
                  <a:spLocks noEditPoints="1"/>
                </p:cNvSpPr>
                <p:nvPr/>
              </p:nvSpPr>
              <p:spPr bwMode="auto">
                <a:xfrm>
                  <a:off x="436" y="1310"/>
                  <a:ext cx="435" cy="431"/>
                </a:xfrm>
                <a:custGeom>
                  <a:avLst/>
                  <a:gdLst>
                    <a:gd name="T0" fmla="*/ 50 w 435"/>
                    <a:gd name="T1" fmla="*/ 279 h 431"/>
                    <a:gd name="T2" fmla="*/ 50 w 435"/>
                    <a:gd name="T3" fmla="*/ 279 h 431"/>
                    <a:gd name="T4" fmla="*/ 50 w 435"/>
                    <a:gd name="T5" fmla="*/ 279 h 431"/>
                    <a:gd name="T6" fmla="*/ 50 w 435"/>
                    <a:gd name="T7" fmla="*/ 279 h 431"/>
                    <a:gd name="T8" fmla="*/ 0 w 435"/>
                    <a:gd name="T9" fmla="*/ 431 h 431"/>
                    <a:gd name="T10" fmla="*/ 155 w 435"/>
                    <a:gd name="T11" fmla="*/ 381 h 431"/>
                    <a:gd name="T12" fmla="*/ 155 w 435"/>
                    <a:gd name="T13" fmla="*/ 381 h 431"/>
                    <a:gd name="T14" fmla="*/ 155 w 435"/>
                    <a:gd name="T15" fmla="*/ 381 h 431"/>
                    <a:gd name="T16" fmla="*/ 155 w 435"/>
                    <a:gd name="T17" fmla="*/ 381 h 431"/>
                    <a:gd name="T18" fmla="*/ 435 w 435"/>
                    <a:gd name="T19" fmla="*/ 102 h 431"/>
                    <a:gd name="T20" fmla="*/ 330 w 435"/>
                    <a:gd name="T21" fmla="*/ 0 h 431"/>
                    <a:gd name="T22" fmla="*/ 50 w 435"/>
                    <a:gd name="T23" fmla="*/ 279 h 431"/>
                    <a:gd name="T24" fmla="*/ 50 w 435"/>
                    <a:gd name="T25" fmla="*/ 279 h 431"/>
                    <a:gd name="T26" fmla="*/ 141 w 435"/>
                    <a:gd name="T27" fmla="*/ 360 h 431"/>
                    <a:gd name="T28" fmla="*/ 38 w 435"/>
                    <a:gd name="T29" fmla="*/ 396 h 431"/>
                    <a:gd name="T30" fmla="*/ 72 w 435"/>
                    <a:gd name="T31" fmla="*/ 291 h 431"/>
                    <a:gd name="T32" fmla="*/ 141 w 435"/>
                    <a:gd name="T33" fmla="*/ 360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5" h="431">
                      <a:moveTo>
                        <a:pt x="50" y="279"/>
                      </a:move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0" y="43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435" y="102"/>
                      </a:lnTo>
                      <a:lnTo>
                        <a:pt x="330" y="0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close/>
                      <a:moveTo>
                        <a:pt x="141" y="360"/>
                      </a:moveTo>
                      <a:lnTo>
                        <a:pt x="38" y="396"/>
                      </a:lnTo>
                      <a:lnTo>
                        <a:pt x="72" y="291"/>
                      </a:lnTo>
                      <a:lnTo>
                        <a:pt x="141" y="3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sp>
        <p:nvSpPr>
          <p:cNvPr id="21" name="矩形 20"/>
          <p:cNvSpPr/>
          <p:nvPr/>
        </p:nvSpPr>
        <p:spPr>
          <a:xfrm>
            <a:off x="1465147" y="1796617"/>
            <a:ext cx="5464958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400" b="1" dirty="0"/>
              <a:t> 程序的基本结构：顺序、分支、循环</a:t>
            </a:r>
            <a:endParaRPr lang="en-US" altLang="zh-CN" sz="2400" b="1" dirty="0"/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400" b="1" dirty="0"/>
              <a:t> 程序基本结构的应用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040589" y="4405599"/>
            <a:ext cx="1433167" cy="607216"/>
            <a:chOff x="1064237" y="3704725"/>
            <a:chExt cx="1433167" cy="607216"/>
          </a:xfrm>
        </p:grpSpPr>
        <p:sp>
          <p:nvSpPr>
            <p:cNvPr id="30" name="矩形 29"/>
            <p:cNvSpPr/>
            <p:nvPr/>
          </p:nvSpPr>
          <p:spPr>
            <a:xfrm>
              <a:off x="1488795" y="3704725"/>
              <a:ext cx="100860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itchFamily="34" charset="0"/>
                  <a:ea typeface="黑体" pitchFamily="49" charset="-122"/>
                </a:rPr>
                <a:t>思考</a:t>
              </a:r>
            </a:p>
          </p:txBody>
        </p:sp>
        <p:pic>
          <p:nvPicPr>
            <p:cNvPr id="31" name="图片 1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64237" y="3715332"/>
              <a:ext cx="513022" cy="5966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8" name="矩形 37"/>
          <p:cNvSpPr/>
          <p:nvPr/>
        </p:nvSpPr>
        <p:spPr>
          <a:xfrm>
            <a:off x="1533750" y="5229200"/>
            <a:ext cx="39023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三种程序基本结构的区别</a:t>
            </a:r>
            <a:endParaRPr lang="en-US" altLang="zh-CN" sz="2200" dirty="0">
              <a:latin typeface="Times New Roman" pitchFamily="18" charset="0"/>
              <a:ea typeface="黑体" pitchFamily="49" charset="-122"/>
            </a:endParaRPr>
          </a:p>
          <a:p>
            <a:pPr marL="342900" indent="-342900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itchFamily="18" charset="0"/>
                <a:ea typeface="黑体" pitchFamily="49" charset="-122"/>
              </a:rPr>
              <a:t>break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与</a:t>
            </a:r>
            <a:r>
              <a:rPr lang="en-US" altLang="zh-CN" sz="2200" dirty="0">
                <a:latin typeface="Times New Roman" pitchFamily="18" charset="0"/>
                <a:ea typeface="黑体" pitchFamily="49" charset="-122"/>
              </a:rPr>
              <a:t>continue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的区别</a:t>
            </a:r>
            <a:endParaRPr lang="en-US" altLang="zh-CN" sz="22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9814446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微信图片_2019101918225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0232" y="3140968"/>
            <a:ext cx="2116102" cy="211610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59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475656" y="3672894"/>
            <a:ext cx="6388100" cy="2708434"/>
            <a:chOff x="1520825" y="4834037"/>
            <a:chExt cx="6388100" cy="2708434"/>
          </a:xfrm>
        </p:grpSpPr>
        <p:sp>
          <p:nvSpPr>
            <p:cNvPr id="6" name="矩形 5"/>
            <p:cNvSpPr/>
            <p:nvPr/>
          </p:nvSpPr>
          <p:spPr>
            <a:xfrm>
              <a:off x="1520825" y="4834037"/>
              <a:ext cx="6388100" cy="2708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李培培</a:t>
              </a:r>
              <a:endParaRPr lang="en-US" altLang="zh-CN" sz="2000" b="1" dirty="0">
                <a:latin typeface="Times New Roman" pitchFamily="18" charset="0"/>
                <a:ea typeface="黑体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QQ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</a:rPr>
                <a:t>123452644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，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 微信：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li123452644</a:t>
              </a: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Email</a:t>
              </a:r>
              <a:r>
                <a:rPr lang="en-US" altLang="zh-CN" sz="2000" b="1" dirty="0">
                  <a:latin typeface="Times New Roman" pitchFamily="18" charset="0"/>
                  <a:ea typeface="黑体" pitchFamily="49" charset="-122"/>
                </a:rPr>
                <a:t>: 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</a:rPr>
                <a:t>peipeili@hfut.edu.cn</a:t>
              </a:r>
            </a:p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手机号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</a:rPr>
                <a:t>13956043016</a:t>
              </a:r>
            </a:p>
            <a:p>
              <a:pPr marL="0" lvl="1"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         合肥工业大学智能计算与数据挖掘千人团队 </a:t>
              </a:r>
              <a:r>
                <a:rPr lang="en-US" altLang="zh-CN" sz="2000" u="sng" dirty="0">
                  <a:solidFill>
                    <a:srgbClr val="0000FF"/>
                  </a:solidFill>
                </a:rPr>
                <a:t>http://dmic.bigke.org/</a:t>
              </a:r>
              <a:endParaRPr lang="en-US" altLang="zh-CN" sz="2000" b="1" u="sng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endParaRPr>
            </a:p>
            <a:p>
              <a:pPr algn="ctr" eaLnBrk="0" hangingPunct="0"/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 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865" y="6418213"/>
              <a:ext cx="666651" cy="286658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323528" y="3356992"/>
            <a:ext cx="2143084" cy="551837"/>
            <a:chOff x="728936" y="4175538"/>
            <a:chExt cx="2204016" cy="584775"/>
          </a:xfrm>
        </p:grpSpPr>
        <p:sp>
          <p:nvSpPr>
            <p:cNvPr id="9" name="矩形 8"/>
            <p:cNvSpPr/>
            <p:nvPr/>
          </p:nvSpPr>
          <p:spPr>
            <a:xfrm>
              <a:off x="1100399" y="4175538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000" b="1" dirty="0">
                  <a:latin typeface="Verdana" pitchFamily="34" charset="0"/>
                  <a:ea typeface="黑体" pitchFamily="49" charset="-122"/>
                </a:rPr>
                <a:t>联系方式</a:t>
              </a:r>
            </a:p>
          </p:txBody>
        </p:sp>
        <p:pic>
          <p:nvPicPr>
            <p:cNvPr id="10" name="图片 1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28936" y="4235450"/>
              <a:ext cx="401364" cy="434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矩形 11"/>
          <p:cNvSpPr/>
          <p:nvPr/>
        </p:nvSpPr>
        <p:spPr>
          <a:xfrm>
            <a:off x="3707904" y="1916832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Clr>
                <a:srgbClr val="FF0000"/>
              </a:buClr>
            </a:pPr>
            <a:r>
              <a:rPr lang="zh-CN" altLang="en-US" sz="3600" b="1" dirty="0"/>
              <a:t>谢谢！</a:t>
            </a:r>
            <a:endParaRPr lang="zh-CN" altLang="zh-CN" sz="3600" b="1" dirty="0"/>
          </a:p>
        </p:txBody>
      </p:sp>
    </p:spTree>
  </p:cSld>
  <p:clrMapOvr>
    <a:masterClrMapping/>
  </p:clrMapOvr>
  <p:transition spd="slow" advClick="0" advTm="1622">
    <p:pull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13008</TotalTime>
  <Words>7095</Words>
  <Application>Microsoft Office PowerPoint</Application>
  <PresentationFormat>全屏显示(4:3)</PresentationFormat>
  <Paragraphs>1050</Paragraphs>
  <Slides>59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82" baseType="lpstr">
      <vt:lpstr>Helvetica Neue</vt:lpstr>
      <vt:lpstr>Lucida Grande</vt:lpstr>
      <vt:lpstr>Menlo</vt:lpstr>
      <vt:lpstr>Microsoft Yahei</vt:lpstr>
      <vt:lpstr>MS PMincho</vt:lpstr>
      <vt:lpstr>SFMono-Regular</vt:lpstr>
      <vt:lpstr>方正舒体</vt:lpstr>
      <vt:lpstr>仿宋</vt:lpstr>
      <vt:lpstr>黑体</vt:lpstr>
      <vt:lpstr>宋体</vt:lpstr>
      <vt:lpstr>微软雅黑</vt:lpstr>
      <vt:lpstr>Arial</vt:lpstr>
      <vt:lpstr>Calibri</vt:lpstr>
      <vt:lpstr>Comic Sans MS</vt:lpstr>
      <vt:lpstr>Consolas</vt:lpstr>
      <vt:lpstr>Courier New</vt:lpstr>
      <vt:lpstr>Garamond</vt:lpstr>
      <vt:lpstr>Times New Roman</vt:lpstr>
      <vt:lpstr>Verdana</vt:lpstr>
      <vt:lpstr>Wingdings</vt:lpstr>
      <vt:lpstr>Office 主题</vt:lpstr>
      <vt:lpstr>Microsoft Visio 2003-2010 绘图</vt:lpstr>
      <vt:lpstr>Equation.KSEE3</vt:lpstr>
      <vt:lpstr>PowerPoint 演示文稿</vt:lpstr>
      <vt:lpstr>上文回顾</vt:lpstr>
      <vt:lpstr>第3章 程序的控制结构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str.format()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Python日期与时间</vt:lpstr>
      <vt:lpstr>PowerPoint 演示文稿</vt:lpstr>
      <vt:lpstr>PowerPoint 演示文稿</vt:lpstr>
      <vt:lpstr>PowerPoint 演示文稿</vt:lpstr>
      <vt:lpstr>datetime.datetime &amp; timedelta</vt:lpstr>
      <vt:lpstr>strftime()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 究方向：多源海量动态信息处理 团队带头人：吴信东 所 在  学 校：合肥工业大学</dc:title>
  <dc:creator>Peipei Li</dc:creator>
  <cp:lastModifiedBy>wsco</cp:lastModifiedBy>
  <cp:revision>1999</cp:revision>
  <cp:lastPrinted>2012-11-20T01:52:54Z</cp:lastPrinted>
  <dcterms:created xsi:type="dcterms:W3CDTF">2012-10-13T08:41:11Z</dcterms:created>
  <dcterms:modified xsi:type="dcterms:W3CDTF">2023-11-20T11:26:22Z</dcterms:modified>
</cp:coreProperties>
</file>