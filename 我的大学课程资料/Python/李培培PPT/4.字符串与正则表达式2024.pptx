
<file path=[Content_Types].xml><?xml version="1.0" encoding="utf-8"?>
<Types xmlns="http://schemas.openxmlformats.org/package/2006/content-types">
  <Default Extension="png" ContentType="image/png"/>
  <Default Extension="tmp"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bookmarkIdSeed="10">
  <p:sldMasterIdLst>
    <p:sldMasterId id="2147483648" r:id="rId1"/>
  </p:sldMasterIdLst>
  <p:notesMasterIdLst>
    <p:notesMasterId r:id="rId106"/>
  </p:notesMasterIdLst>
  <p:handoutMasterIdLst>
    <p:handoutMasterId r:id="rId107"/>
  </p:handoutMasterIdLst>
  <p:sldIdLst>
    <p:sldId id="1247" r:id="rId2"/>
    <p:sldId id="1197" r:id="rId3"/>
    <p:sldId id="1198" r:id="rId4"/>
    <p:sldId id="1199" r:id="rId5"/>
    <p:sldId id="1200" r:id="rId6"/>
    <p:sldId id="1201" r:id="rId7"/>
    <p:sldId id="1202" r:id="rId8"/>
    <p:sldId id="1203" r:id="rId9"/>
    <p:sldId id="1204" r:id="rId10"/>
    <p:sldId id="1205" r:id="rId11"/>
    <p:sldId id="1206" r:id="rId12"/>
    <p:sldId id="1207" r:id="rId13"/>
    <p:sldId id="1208" r:id="rId14"/>
    <p:sldId id="1209" r:id="rId15"/>
    <p:sldId id="1210" r:id="rId16"/>
    <p:sldId id="1211" r:id="rId17"/>
    <p:sldId id="1212" r:id="rId18"/>
    <p:sldId id="1213" r:id="rId19"/>
    <p:sldId id="1214" r:id="rId20"/>
    <p:sldId id="1215" r:id="rId21"/>
    <p:sldId id="1216" r:id="rId22"/>
    <p:sldId id="1217" r:id="rId23"/>
    <p:sldId id="1218" r:id="rId24"/>
    <p:sldId id="1219" r:id="rId25"/>
    <p:sldId id="1220" r:id="rId26"/>
    <p:sldId id="1221" r:id="rId27"/>
    <p:sldId id="1222" r:id="rId28"/>
    <p:sldId id="1223" r:id="rId29"/>
    <p:sldId id="1224" r:id="rId30"/>
    <p:sldId id="1225" r:id="rId31"/>
    <p:sldId id="1226" r:id="rId32"/>
    <p:sldId id="1227" r:id="rId33"/>
    <p:sldId id="1228" r:id="rId34"/>
    <p:sldId id="1229" r:id="rId35"/>
    <p:sldId id="1230" r:id="rId36"/>
    <p:sldId id="1231" r:id="rId37"/>
    <p:sldId id="1232" r:id="rId38"/>
    <p:sldId id="1233" r:id="rId39"/>
    <p:sldId id="1234" r:id="rId40"/>
    <p:sldId id="1235" r:id="rId41"/>
    <p:sldId id="1236" r:id="rId42"/>
    <p:sldId id="1237" r:id="rId43"/>
    <p:sldId id="1238" r:id="rId44"/>
    <p:sldId id="1239" r:id="rId45"/>
    <p:sldId id="1240" r:id="rId46"/>
    <p:sldId id="1241" r:id="rId47"/>
    <p:sldId id="1242" r:id="rId48"/>
    <p:sldId id="1243" r:id="rId49"/>
    <p:sldId id="1244" r:id="rId50"/>
    <p:sldId id="1245" r:id="rId51"/>
    <p:sldId id="1246" r:id="rId52"/>
    <p:sldId id="1168" r:id="rId53"/>
    <p:sldId id="1169" r:id="rId54"/>
    <p:sldId id="1170" r:id="rId55"/>
    <p:sldId id="1171" r:id="rId56"/>
    <p:sldId id="1172" r:id="rId57"/>
    <p:sldId id="1074" r:id="rId58"/>
    <p:sldId id="1075" r:id="rId59"/>
    <p:sldId id="1078" r:id="rId60"/>
    <p:sldId id="1180" r:id="rId61"/>
    <p:sldId id="1156" r:id="rId62"/>
    <p:sldId id="1161" r:id="rId63"/>
    <p:sldId id="1166" r:id="rId64"/>
    <p:sldId id="1163" r:id="rId65"/>
    <p:sldId id="1155" r:id="rId66"/>
    <p:sldId id="1174" r:id="rId67"/>
    <p:sldId id="1190" r:id="rId68"/>
    <p:sldId id="1184" r:id="rId69"/>
    <p:sldId id="1196" r:id="rId70"/>
    <p:sldId id="1187" r:id="rId71"/>
    <p:sldId id="1188" r:id="rId72"/>
    <p:sldId id="1182" r:id="rId73"/>
    <p:sldId id="1189" r:id="rId74"/>
    <p:sldId id="1183" r:id="rId75"/>
    <p:sldId id="1191" r:id="rId76"/>
    <p:sldId id="1079" r:id="rId77"/>
    <p:sldId id="1159" r:id="rId78"/>
    <p:sldId id="1194" r:id="rId79"/>
    <p:sldId id="1192" r:id="rId80"/>
    <p:sldId id="1193" r:id="rId81"/>
    <p:sldId id="1090" r:id="rId82"/>
    <p:sldId id="1152" r:id="rId83"/>
    <p:sldId id="1091" r:id="rId84"/>
    <p:sldId id="1093" r:id="rId85"/>
    <p:sldId id="1080" r:id="rId86"/>
    <p:sldId id="1081" r:id="rId87"/>
    <p:sldId id="1096" r:id="rId88"/>
    <p:sldId id="1097" r:id="rId89"/>
    <p:sldId id="1195" r:id="rId90"/>
    <p:sldId id="1098" r:id="rId91"/>
    <p:sldId id="1099" r:id="rId92"/>
    <p:sldId id="1100" r:id="rId93"/>
    <p:sldId id="1101" r:id="rId94"/>
    <p:sldId id="1102" r:id="rId95"/>
    <p:sldId id="1103" r:id="rId96"/>
    <p:sldId id="1105" r:id="rId97"/>
    <p:sldId id="1106" r:id="rId98"/>
    <p:sldId id="1107" r:id="rId99"/>
    <p:sldId id="1110" r:id="rId100"/>
    <p:sldId id="1111" r:id="rId101"/>
    <p:sldId id="1112" r:id="rId102"/>
    <p:sldId id="514" r:id="rId103"/>
    <p:sldId id="1149" r:id="rId104"/>
    <p:sldId id="448" r:id="rId105"/>
  </p:sldIdLst>
  <p:sldSz cx="9144000" cy="6858000" type="screen4x3"/>
  <p:notesSz cx="6797675" cy="9928225"/>
  <p:custDataLst>
    <p:tags r:id="rId108"/>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a:srgbClr val="000000"/>
    <a:srgbClr val="FF6600"/>
    <a:srgbClr val="E6E6E6"/>
    <a:srgbClr val="5E8892"/>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3" autoAdjust="0"/>
    <p:restoredTop sz="85478" autoAdjust="0"/>
  </p:normalViewPr>
  <p:slideViewPr>
    <p:cSldViewPr showGuides="1">
      <p:cViewPr varScale="1">
        <p:scale>
          <a:sx n="142" d="100"/>
          <a:sy n="142" d="100"/>
        </p:scale>
        <p:origin x="2360" y="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1" d="100"/>
          <a:sy n="61" d="100"/>
        </p:scale>
        <p:origin x="-3307" y="-77"/>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handoutMaster" Target="handoutMasters/handout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gs" Target="tags/tag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t>11/19/2024</a:t>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t>2024/11/19</a:t>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t>‹#›</a:t>
            </a:fld>
            <a:endParaRPr lang="zh-CN" altLang="en-US"/>
          </a:p>
        </p:txBody>
      </p:sp>
    </p:spTree>
    <p:extLst>
      <p:ext uri="{BB962C8B-B14F-4D97-AF65-F5344CB8AC3E}">
        <p14:creationId xmlns:p14="http://schemas.microsoft.com/office/powerpoint/2010/main" val="310300156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t>2</a:t>
            </a:fld>
            <a:endParaRPr lang="zh-CN" altLang="en-US"/>
          </a:p>
        </p:txBody>
      </p:sp>
    </p:spTree>
    <p:extLst>
      <p:ext uri="{BB962C8B-B14F-4D97-AF65-F5344CB8AC3E}">
        <p14:creationId xmlns:p14="http://schemas.microsoft.com/office/powerpoint/2010/main" val="479488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666666"/>
                </a:solidFill>
                <a:effectLst/>
                <a:latin typeface="Helvetica Neue"/>
              </a:rPr>
              <a:t>用</a:t>
            </a:r>
            <a:r>
              <a:rPr lang="en-US" altLang="zh-CN" b="0" i="0" dirty="0">
                <a:solidFill>
                  <a:srgbClr val="666666"/>
                </a:solidFill>
                <a:effectLst/>
                <a:latin typeface="Helvetica Neue"/>
              </a:rPr>
              <a:t>Unicode</a:t>
            </a:r>
            <a:r>
              <a:rPr lang="zh-CN" altLang="en-US" b="0" i="0" dirty="0">
                <a:solidFill>
                  <a:srgbClr val="666666"/>
                </a:solidFill>
                <a:effectLst/>
                <a:latin typeface="Helvetica Neue"/>
              </a:rPr>
              <a:t>编码比</a:t>
            </a:r>
            <a:r>
              <a:rPr lang="en-US" altLang="zh-CN" b="0" i="0" dirty="0">
                <a:solidFill>
                  <a:srgbClr val="666666"/>
                </a:solidFill>
                <a:effectLst/>
                <a:latin typeface="Helvetica Neue"/>
              </a:rPr>
              <a:t>ASCII</a:t>
            </a:r>
            <a:r>
              <a:rPr lang="zh-CN" altLang="en-US" b="0" i="0" dirty="0">
                <a:solidFill>
                  <a:srgbClr val="666666"/>
                </a:solidFill>
                <a:effectLst/>
                <a:latin typeface="Helvetica Neue"/>
              </a:rPr>
              <a:t>编码需要多一倍的存储空间，在存储和传输上就十分不划算。</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5</a:t>
            </a:fld>
            <a:endParaRPr lang="zh-CN" altLang="en-US"/>
          </a:p>
        </p:txBody>
      </p:sp>
    </p:spTree>
    <p:extLst>
      <p:ext uri="{BB962C8B-B14F-4D97-AF65-F5344CB8AC3E}">
        <p14:creationId xmlns:p14="http://schemas.microsoft.com/office/powerpoint/2010/main" val="1429468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err="1">
                <a:solidFill>
                  <a:srgbClr val="333333"/>
                </a:solidFill>
                <a:effectLst/>
                <a:latin typeface="Helvetica Neue"/>
              </a:rPr>
              <a:t>repr</a:t>
            </a:r>
            <a:r>
              <a:rPr lang="en-US" altLang="zh-CN" b="0" i="0" dirty="0">
                <a:solidFill>
                  <a:srgbClr val="333333"/>
                </a:solidFill>
                <a:effectLst/>
                <a:latin typeface="Helvetica Neue"/>
              </a:rPr>
              <a:t>() </a:t>
            </a:r>
            <a:r>
              <a:rPr lang="zh-CN" altLang="en-US" b="0" i="0" dirty="0">
                <a:solidFill>
                  <a:srgbClr val="333333"/>
                </a:solidFill>
                <a:effectLst/>
                <a:latin typeface="Helvetica Neue"/>
              </a:rPr>
              <a:t>函数将对象转化为供解释器读取的形式。</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返回一个对象的 </a:t>
            </a:r>
            <a:r>
              <a:rPr lang="en-US" altLang="zh-CN" b="0" i="0" dirty="0">
                <a:solidFill>
                  <a:srgbClr val="333333"/>
                </a:solidFill>
                <a:effectLst/>
                <a:latin typeface="Helvetica Neue"/>
              </a:rPr>
              <a:t>string </a:t>
            </a:r>
            <a:r>
              <a:rPr lang="zh-CN" altLang="en-US" b="0" i="0" dirty="0">
                <a:solidFill>
                  <a:srgbClr val="333333"/>
                </a:solidFill>
                <a:effectLst/>
                <a:latin typeface="Helvetica Neue"/>
              </a:rPr>
              <a:t>格式</a:t>
            </a:r>
            <a:endParaRPr lang="en-US" altLang="zh-CN" b="0" i="0" dirty="0">
              <a:solidFill>
                <a:srgbClr val="333333"/>
              </a:solidFill>
              <a:effectLst/>
              <a:latin typeface="Helvetica Neue"/>
            </a:endParaRPr>
          </a:p>
          <a:p>
            <a:r>
              <a:rPr lang="en-US" altLang="zh-CN" b="0" i="0" dirty="0">
                <a:solidFill>
                  <a:srgbClr val="4D4D4D"/>
                </a:solidFill>
                <a:effectLst/>
                <a:latin typeface="-apple-system"/>
              </a:rPr>
              <a:t>str()</a:t>
            </a:r>
            <a:r>
              <a:rPr lang="zh-CN" altLang="en-US" b="0" i="0" dirty="0">
                <a:solidFill>
                  <a:srgbClr val="4D4D4D"/>
                </a:solidFill>
                <a:effectLst/>
                <a:latin typeface="-apple-system"/>
              </a:rPr>
              <a:t>函数：将值转化为适于人阅读的字符串的形式</a:t>
            </a:r>
            <a:r>
              <a:rPr lang="zh-CN" altLang="en-US" dirty="0"/>
              <a:t/>
            </a:r>
            <a:br>
              <a:rPr lang="zh-CN" altLang="en-US" dirty="0"/>
            </a:br>
            <a:r>
              <a:rPr lang="en-US" altLang="zh-CN" b="0" i="0" dirty="0" err="1">
                <a:solidFill>
                  <a:srgbClr val="4D4D4D"/>
                </a:solidFill>
                <a:effectLst/>
                <a:latin typeface="-apple-system"/>
              </a:rPr>
              <a:t>repr</a:t>
            </a:r>
            <a:r>
              <a:rPr lang="en-US" altLang="zh-CN" b="0" i="0" dirty="0">
                <a:solidFill>
                  <a:srgbClr val="4D4D4D"/>
                </a:solidFill>
                <a:effectLst/>
                <a:latin typeface="-apple-system"/>
              </a:rPr>
              <a:t>()</a:t>
            </a:r>
            <a:r>
              <a:rPr lang="zh-CN" altLang="en-US" b="0" i="0" dirty="0">
                <a:solidFill>
                  <a:srgbClr val="4D4D4D"/>
                </a:solidFill>
                <a:effectLst/>
                <a:latin typeface="-apple-system"/>
              </a:rPr>
              <a:t>函数：将值转化为供解释器读取的字符串形式</a:t>
            </a:r>
            <a:endParaRPr lang="en-US" altLang="zh-CN" b="0" i="0" dirty="0">
              <a:solidFill>
                <a:srgbClr val="4D4D4D"/>
              </a:solidFill>
              <a:effectLst/>
              <a:latin typeface="-apple-system"/>
            </a:endParaRPr>
          </a:p>
          <a:p>
            <a:r>
              <a:rPr lang="zh-CN" altLang="en-US" b="0" i="0" dirty="0">
                <a:solidFill>
                  <a:srgbClr val="4D4D4D"/>
                </a:solidFill>
                <a:effectLst/>
                <a:latin typeface="-apple-system"/>
              </a:rPr>
              <a:t>整数变为 字符串 没啥区别。</a:t>
            </a:r>
            <a:endParaRPr lang="en-US" altLang="zh-CN" b="0" i="0" dirty="0">
              <a:solidFill>
                <a:srgbClr val="4D4D4D"/>
              </a:solidFill>
              <a:effectLst/>
              <a:latin typeface="-apple-system"/>
            </a:endParaRPr>
          </a:p>
          <a:p>
            <a:r>
              <a:rPr lang="zh-CN" altLang="en-US" b="0" i="0" dirty="0">
                <a:solidFill>
                  <a:srgbClr val="404040"/>
                </a:solidFill>
                <a:effectLst/>
                <a:latin typeface="-apple-system"/>
              </a:rPr>
              <a:t>当我们把一个字符串传给 </a:t>
            </a:r>
            <a:r>
              <a:rPr lang="en-US" altLang="zh-CN" dirty="0"/>
              <a:t>str()</a:t>
            </a:r>
            <a:r>
              <a:rPr lang="zh-CN" altLang="en-US" b="0" i="0" dirty="0">
                <a:solidFill>
                  <a:srgbClr val="404040"/>
                </a:solidFill>
                <a:effectLst/>
                <a:latin typeface="-apple-system"/>
              </a:rPr>
              <a:t> 函数再打印到终端的时候，输出的字符不带引号。而将一个字符串传给 </a:t>
            </a:r>
            <a:r>
              <a:rPr lang="en-US" altLang="zh-CN" dirty="0" err="1"/>
              <a:t>repr</a:t>
            </a:r>
            <a:r>
              <a:rPr lang="en-US" altLang="zh-CN" dirty="0"/>
              <a:t>()</a:t>
            </a:r>
            <a:r>
              <a:rPr lang="zh-CN" altLang="en-US" b="0" i="0" dirty="0">
                <a:solidFill>
                  <a:srgbClr val="404040"/>
                </a:solidFill>
                <a:effectLst/>
                <a:latin typeface="-apple-system"/>
              </a:rPr>
              <a:t> 函数再打印到终端的时候，输出的字符带有引号。</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10</a:t>
            </a:fld>
            <a:endParaRPr lang="zh-CN" altLang="en-US"/>
          </a:p>
        </p:txBody>
      </p:sp>
    </p:spTree>
    <p:extLst>
      <p:ext uri="{BB962C8B-B14F-4D97-AF65-F5344CB8AC3E}">
        <p14:creationId xmlns:p14="http://schemas.microsoft.com/office/powerpoint/2010/main" val="821616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12</a:t>
            </a:fld>
            <a:endParaRPr lang="zh-CN" altLang="en-US"/>
          </a:p>
        </p:txBody>
      </p:sp>
    </p:spTree>
    <p:extLst>
      <p:ext uri="{BB962C8B-B14F-4D97-AF65-F5344CB8AC3E}">
        <p14:creationId xmlns:p14="http://schemas.microsoft.com/office/powerpoint/2010/main" val="405808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整数默认是 </a:t>
            </a:r>
            <a:r>
              <a:rPr lang="en-US" altLang="zh-CN" dirty="0"/>
              <a:t>d</a:t>
            </a:r>
          </a:p>
          <a:p>
            <a:r>
              <a:rPr lang="zh-CN" altLang="en-US" dirty="0"/>
              <a:t>浮点数类型 ，默认是 </a:t>
            </a:r>
            <a:r>
              <a:rPr lang="en-US" altLang="zh-CN" dirty="0"/>
              <a:t>e </a:t>
            </a:r>
            <a:r>
              <a:rPr lang="zh-CN" altLang="en-US" dirty="0"/>
              <a:t>如果没有指定。</a:t>
            </a:r>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14</a:t>
            </a:fld>
            <a:endParaRPr lang="zh-CN" altLang="en-US"/>
          </a:p>
        </p:txBody>
      </p:sp>
    </p:spTree>
    <p:extLst>
      <p:ext uri="{BB962C8B-B14F-4D97-AF65-F5344CB8AC3E}">
        <p14:creationId xmlns:p14="http://schemas.microsoft.com/office/powerpoint/2010/main" val="758307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&lt; &gt;  </a:t>
            </a:r>
            <a:r>
              <a:rPr lang="zh-CN" altLang="en-US" dirty="0"/>
              <a:t>如果 数值 超过宽度咋办？</a:t>
            </a:r>
            <a:endParaRPr lang="en-US" altLang="zh-CN" dirty="0"/>
          </a:p>
          <a:p>
            <a:r>
              <a:rPr lang="zh-CN" altLang="en-US" dirty="0"/>
              <a:t>对称，则忽略；不对称，左少右多！</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15</a:t>
            </a:fld>
            <a:endParaRPr lang="zh-CN" altLang="en-US"/>
          </a:p>
        </p:txBody>
      </p:sp>
    </p:spTree>
    <p:extLst>
      <p:ext uri="{BB962C8B-B14F-4D97-AF65-F5344CB8AC3E}">
        <p14:creationId xmlns:p14="http://schemas.microsoft.com/office/powerpoint/2010/main" val="2020594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&lt; &gt;  </a:t>
            </a:r>
            <a:r>
              <a:rPr lang="zh-CN" altLang="en-US" dirty="0"/>
              <a:t>如果 数值 超过宽度咋办？</a:t>
            </a:r>
            <a:endParaRPr lang="en-US" altLang="zh-CN" dirty="0"/>
          </a:p>
          <a:p>
            <a:r>
              <a:rPr lang="zh-CN" altLang="en-US" dirty="0"/>
              <a:t>对称，则忽略；不对称，左少右多！</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16</a:t>
            </a:fld>
            <a:endParaRPr lang="zh-CN" altLang="en-US"/>
          </a:p>
        </p:txBody>
      </p:sp>
    </p:spTree>
    <p:extLst>
      <p:ext uri="{BB962C8B-B14F-4D97-AF65-F5344CB8AC3E}">
        <p14:creationId xmlns:p14="http://schemas.microsoft.com/office/powerpoint/2010/main" val="2700096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不是精度的</a:t>
            </a:r>
            <a:r>
              <a:rPr lang="zh-CN" altLang="en-US" dirty="0" smtClean="0"/>
              <a:t>含义</a:t>
            </a:r>
            <a:endParaRPr lang="en-US" altLang="zh-CN" dirty="0" smtClean="0"/>
          </a:p>
          <a:p>
            <a:r>
              <a:rPr lang="zh-CN" altLang="en-US" dirty="0" smtClean="0"/>
              <a:t> </a:t>
            </a:r>
            <a:r>
              <a:rPr lang="en-US" altLang="zh-CN" dirty="0" smtClean="0"/>
              <a:t>{</a:t>
            </a:r>
            <a:r>
              <a:rPr lang="en-US" altLang="zh-CN" dirty="0"/>
              <a:t>m}.{n}    m</a:t>
            </a:r>
            <a:r>
              <a:rPr lang="zh-CN" altLang="en-US" dirty="0"/>
              <a:t>是显示槽宽， </a:t>
            </a:r>
            <a:r>
              <a:rPr lang="en-US" altLang="zh-CN" dirty="0"/>
              <a:t>n</a:t>
            </a:r>
            <a:r>
              <a:rPr lang="zh-CN" altLang="en-US" dirty="0"/>
              <a:t>是显示的位数</a:t>
            </a:r>
            <a:r>
              <a:rPr lang="en-US" altLang="zh-CN" dirty="0"/>
              <a:t>【</a:t>
            </a:r>
            <a:r>
              <a:rPr lang="zh-CN" altLang="en-US" dirty="0"/>
              <a:t>不包含小数点</a:t>
            </a:r>
            <a:r>
              <a:rPr lang="en-US" altLang="zh-CN" dirty="0"/>
              <a:t>】</a:t>
            </a:r>
            <a:r>
              <a:rPr lang="zh-CN" altLang="en-US" dirty="0"/>
              <a:t>（位数</a:t>
            </a:r>
            <a:r>
              <a:rPr lang="en-US" altLang="zh-CN" dirty="0"/>
              <a:t>&gt;=</a:t>
            </a:r>
            <a:r>
              <a:rPr lang="zh-CN" altLang="en-US" dirty="0"/>
              <a:t>数值，则按照正常显示， 否则，按照 指数方式显示，确保指数</a:t>
            </a:r>
            <a:r>
              <a:rPr lang="en-US" altLang="zh-CN" dirty="0"/>
              <a:t>e</a:t>
            </a:r>
            <a:r>
              <a:rPr lang="zh-CN" altLang="en-US" dirty="0"/>
              <a:t>前的位数为</a:t>
            </a:r>
            <a:r>
              <a:rPr lang="en-US" altLang="zh-CN" dirty="0"/>
              <a:t>n)</a:t>
            </a:r>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19</a:t>
            </a:fld>
            <a:endParaRPr lang="zh-CN" altLang="en-US"/>
          </a:p>
        </p:txBody>
      </p:sp>
    </p:spTree>
    <p:extLst>
      <p:ext uri="{BB962C8B-B14F-4D97-AF65-F5344CB8AC3E}">
        <p14:creationId xmlns:p14="http://schemas.microsoft.com/office/powerpoint/2010/main" val="21646161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Helvetica Neue"/>
              </a:rPr>
              <a:t>find() </a:t>
            </a:r>
            <a:r>
              <a:rPr lang="zh-CN" altLang="en-US" b="0" i="0" dirty="0">
                <a:solidFill>
                  <a:srgbClr val="333333"/>
                </a:solidFill>
                <a:effectLst/>
                <a:latin typeface="Helvetica Neue"/>
              </a:rPr>
              <a:t>方法检测字符串中是否包含子字符串 </a:t>
            </a:r>
            <a:r>
              <a:rPr lang="en-US" altLang="zh-CN" b="0" i="0" dirty="0">
                <a:solidFill>
                  <a:srgbClr val="333333"/>
                </a:solidFill>
                <a:effectLst/>
                <a:latin typeface="Helvetica Neue"/>
              </a:rPr>
              <a:t>str </a:t>
            </a:r>
            <a:r>
              <a:rPr lang="zh-CN" altLang="en-US" b="0" i="0" dirty="0">
                <a:solidFill>
                  <a:srgbClr val="333333"/>
                </a:solidFill>
                <a:effectLst/>
                <a:latin typeface="Helvetica Neue"/>
              </a:rPr>
              <a:t>，如果指定 </a:t>
            </a:r>
            <a:r>
              <a:rPr lang="en-US" altLang="zh-CN" b="0" i="0" dirty="0">
                <a:solidFill>
                  <a:srgbClr val="333333"/>
                </a:solidFill>
                <a:effectLst/>
                <a:latin typeface="Helvetica Neue"/>
              </a:rPr>
              <a:t>beg</a:t>
            </a:r>
            <a:r>
              <a:rPr lang="zh-CN" altLang="en-US" b="0" i="0" dirty="0">
                <a:solidFill>
                  <a:srgbClr val="333333"/>
                </a:solidFill>
                <a:effectLst/>
                <a:latin typeface="Helvetica Neue"/>
              </a:rPr>
              <a:t>（开始） 和 </a:t>
            </a:r>
            <a:r>
              <a:rPr lang="en-US" altLang="zh-CN" b="0" i="0" dirty="0">
                <a:solidFill>
                  <a:srgbClr val="333333"/>
                </a:solidFill>
                <a:effectLst/>
                <a:latin typeface="Helvetica Neue"/>
              </a:rPr>
              <a:t>end</a:t>
            </a:r>
            <a:r>
              <a:rPr lang="zh-CN" altLang="en-US" b="0" i="0" dirty="0">
                <a:solidFill>
                  <a:srgbClr val="333333"/>
                </a:solidFill>
                <a:effectLst/>
                <a:latin typeface="Helvetica Neue"/>
              </a:rPr>
              <a:t>（结束） 范围，则检查是否包含在指定范围内，如果指定范围内如果包含指定索引值，返回的是索引值在字符串中的起始位置。如果不包含索引值，返回</a:t>
            </a:r>
            <a:r>
              <a:rPr lang="en-US" altLang="zh-CN" b="0" i="0" dirty="0">
                <a:solidFill>
                  <a:srgbClr val="333333"/>
                </a:solidFill>
                <a:effectLst/>
                <a:latin typeface="Helvetica Neue"/>
              </a:rPr>
              <a:t>-1</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21</a:t>
            </a:fld>
            <a:endParaRPr lang="zh-CN" altLang="en-US"/>
          </a:p>
        </p:txBody>
      </p:sp>
    </p:spTree>
    <p:extLst>
      <p:ext uri="{BB962C8B-B14F-4D97-AF65-F5344CB8AC3E}">
        <p14:creationId xmlns:p14="http://schemas.microsoft.com/office/powerpoint/2010/main" val="24266750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Helvetica Neue"/>
              </a:rPr>
              <a:t>split() </a:t>
            </a:r>
            <a:r>
              <a:rPr lang="zh-CN" altLang="en-US" b="0" i="0" dirty="0">
                <a:solidFill>
                  <a:srgbClr val="333333"/>
                </a:solidFill>
                <a:effectLst/>
                <a:latin typeface="Helvetica Neue"/>
              </a:rPr>
              <a:t>通过指定分隔符对字符串进行切片，如果第二个参数 </a:t>
            </a:r>
            <a:r>
              <a:rPr lang="en-US" altLang="zh-CN" b="0" i="0" dirty="0">
                <a:solidFill>
                  <a:srgbClr val="333333"/>
                </a:solidFill>
                <a:effectLst/>
                <a:latin typeface="Helvetica Neue"/>
              </a:rPr>
              <a:t>num </a:t>
            </a:r>
            <a:r>
              <a:rPr lang="zh-CN" altLang="en-US" b="0" i="0" dirty="0">
                <a:solidFill>
                  <a:srgbClr val="333333"/>
                </a:solidFill>
                <a:effectLst/>
                <a:latin typeface="Helvetica Neue"/>
              </a:rPr>
              <a:t>有指定值，则分割为 </a:t>
            </a:r>
            <a:r>
              <a:rPr lang="en-US" altLang="zh-CN" b="0" i="0" dirty="0">
                <a:solidFill>
                  <a:srgbClr val="333333"/>
                </a:solidFill>
                <a:effectLst/>
                <a:latin typeface="Helvetica Neue"/>
              </a:rPr>
              <a:t>num+1 </a:t>
            </a:r>
            <a:r>
              <a:rPr lang="zh-CN" altLang="en-US" b="0" i="0" dirty="0">
                <a:solidFill>
                  <a:srgbClr val="333333"/>
                </a:solidFill>
                <a:effectLst/>
                <a:latin typeface="Helvetica Neue"/>
              </a:rPr>
              <a:t>个子字符串。</a:t>
            </a:r>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t>23</a:t>
            </a:fld>
            <a:endParaRPr lang="zh-CN" altLang="en-US"/>
          </a:p>
        </p:txBody>
      </p:sp>
    </p:spTree>
    <p:extLst>
      <p:ext uri="{BB962C8B-B14F-4D97-AF65-F5344CB8AC3E}">
        <p14:creationId xmlns:p14="http://schemas.microsoft.com/office/powerpoint/2010/main" val="31527047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Helvetica Neue"/>
              </a:rPr>
              <a:t>split() </a:t>
            </a:r>
            <a:r>
              <a:rPr lang="zh-CN" altLang="en-US" b="0" i="0" dirty="0">
                <a:solidFill>
                  <a:srgbClr val="333333"/>
                </a:solidFill>
                <a:effectLst/>
                <a:latin typeface="Helvetica Neue"/>
              </a:rPr>
              <a:t>通过指定分隔符对字符串进行切片，如果第二个参数 </a:t>
            </a:r>
            <a:r>
              <a:rPr lang="en-US" altLang="zh-CN" b="0" i="0" dirty="0">
                <a:solidFill>
                  <a:srgbClr val="333333"/>
                </a:solidFill>
                <a:effectLst/>
                <a:latin typeface="Helvetica Neue"/>
              </a:rPr>
              <a:t>num </a:t>
            </a:r>
            <a:r>
              <a:rPr lang="zh-CN" altLang="en-US" b="0" i="0" dirty="0">
                <a:solidFill>
                  <a:srgbClr val="333333"/>
                </a:solidFill>
                <a:effectLst/>
                <a:latin typeface="Helvetica Neue"/>
              </a:rPr>
              <a:t>有指定值，则分割为 </a:t>
            </a:r>
            <a:r>
              <a:rPr lang="en-US" altLang="zh-CN" b="0" i="0" dirty="0">
                <a:solidFill>
                  <a:srgbClr val="333333"/>
                </a:solidFill>
                <a:effectLst/>
                <a:latin typeface="Helvetica Neue"/>
              </a:rPr>
              <a:t>num+1 </a:t>
            </a:r>
            <a:r>
              <a:rPr lang="zh-CN" altLang="en-US" b="0" i="0" dirty="0">
                <a:solidFill>
                  <a:srgbClr val="333333"/>
                </a:solidFill>
                <a:effectLst/>
                <a:latin typeface="Helvetica Neue"/>
              </a:rPr>
              <a:t>个子字符串。</a:t>
            </a:r>
            <a:endParaRPr lang="en-US" altLang="zh-CN" b="0" i="0" dirty="0">
              <a:solidFill>
                <a:srgbClr val="333333"/>
              </a:solidFill>
              <a:effectLst/>
              <a:latin typeface="Helvetica Neue"/>
            </a:endParaRPr>
          </a:p>
          <a:p>
            <a:r>
              <a:rPr lang="en-US" altLang="zh-CN" dirty="0" err="1">
                <a:solidFill>
                  <a:srgbClr val="000000"/>
                </a:solidFill>
                <a:effectLst/>
              </a:rPr>
              <a:t>str</a:t>
            </a:r>
            <a:r>
              <a:rPr lang="en-US" altLang="zh-CN" dirty="0" err="1">
                <a:solidFill>
                  <a:srgbClr val="666600"/>
                </a:solidFill>
                <a:effectLst/>
              </a:rPr>
              <a:t>.</a:t>
            </a:r>
            <a:r>
              <a:rPr lang="en-US" altLang="zh-CN" dirty="0" err="1">
                <a:solidFill>
                  <a:srgbClr val="000000"/>
                </a:solidFill>
                <a:effectLst/>
              </a:rPr>
              <a:t>split</a:t>
            </a:r>
            <a:r>
              <a:rPr lang="en-US" altLang="zh-CN" dirty="0">
                <a:solidFill>
                  <a:srgbClr val="666600"/>
                </a:solidFill>
                <a:effectLst/>
              </a:rPr>
              <a:t>(</a:t>
            </a:r>
            <a:r>
              <a:rPr lang="en-US" altLang="zh-CN" dirty="0">
                <a:solidFill>
                  <a:srgbClr val="000000"/>
                </a:solidFill>
                <a:effectLst/>
              </a:rPr>
              <a:t>str</a:t>
            </a:r>
            <a:r>
              <a:rPr lang="en-US" altLang="zh-CN" dirty="0">
                <a:solidFill>
                  <a:srgbClr val="666600"/>
                </a:solidFill>
                <a:effectLst/>
              </a:rPr>
              <a:t>=</a:t>
            </a:r>
            <a:r>
              <a:rPr lang="en-US" altLang="zh-CN" dirty="0">
                <a:solidFill>
                  <a:srgbClr val="008800"/>
                </a:solidFill>
                <a:effectLst/>
              </a:rPr>
              <a:t>""</a:t>
            </a:r>
            <a:r>
              <a:rPr lang="en-US" altLang="zh-CN" dirty="0">
                <a:solidFill>
                  <a:srgbClr val="666600"/>
                </a:solidFill>
                <a:effectLst/>
              </a:rPr>
              <a:t>,</a:t>
            </a:r>
            <a:r>
              <a:rPr lang="en-US" altLang="zh-CN" dirty="0">
                <a:solidFill>
                  <a:srgbClr val="000000"/>
                </a:solidFill>
                <a:effectLst/>
              </a:rPr>
              <a:t> num</a:t>
            </a:r>
            <a:r>
              <a:rPr lang="en-US" altLang="zh-CN" dirty="0">
                <a:solidFill>
                  <a:srgbClr val="666600"/>
                </a:solidFill>
                <a:effectLst/>
              </a:rPr>
              <a:t>=</a:t>
            </a:r>
            <a:r>
              <a:rPr lang="en-US" altLang="zh-CN" dirty="0" err="1">
                <a:solidFill>
                  <a:srgbClr val="000088"/>
                </a:solidFill>
                <a:effectLst/>
              </a:rPr>
              <a:t>string</a:t>
            </a:r>
            <a:r>
              <a:rPr lang="en-US" altLang="zh-CN" dirty="0" err="1">
                <a:solidFill>
                  <a:srgbClr val="666600"/>
                </a:solidFill>
                <a:effectLst/>
              </a:rPr>
              <a:t>.</a:t>
            </a:r>
            <a:r>
              <a:rPr lang="en-US" altLang="zh-CN" dirty="0" err="1">
                <a:solidFill>
                  <a:srgbClr val="000000"/>
                </a:solidFill>
                <a:effectLst/>
              </a:rPr>
              <a:t>count</a:t>
            </a:r>
            <a:r>
              <a:rPr lang="en-US" altLang="zh-CN" dirty="0">
                <a:solidFill>
                  <a:srgbClr val="666600"/>
                </a:solidFill>
                <a:effectLst/>
              </a:rPr>
              <a:t>(</a:t>
            </a:r>
            <a:r>
              <a:rPr lang="en-US" altLang="zh-CN" dirty="0">
                <a:solidFill>
                  <a:srgbClr val="000000"/>
                </a:solidFill>
                <a:effectLst/>
              </a:rPr>
              <a:t>str</a:t>
            </a:r>
            <a:r>
              <a:rPr lang="en-US" altLang="zh-CN" dirty="0">
                <a:solidFill>
                  <a:srgbClr val="666600"/>
                </a:solidFill>
                <a:effectLst/>
              </a:rPr>
              <a:t>))</a:t>
            </a:r>
          </a:p>
          <a:p>
            <a:pPr algn="l" latinLnBrk="1">
              <a:buFont typeface="Arial" panose="020B0604020202020204" pitchFamily="34" charset="0"/>
              <a:buChar char="•"/>
            </a:pPr>
            <a:r>
              <a:rPr lang="en-US" altLang="zh-CN" b="0" i="0" dirty="0">
                <a:solidFill>
                  <a:srgbClr val="333333"/>
                </a:solidFill>
                <a:effectLst/>
                <a:latin typeface="Helvetica Neue"/>
              </a:rPr>
              <a:t>str -- </a:t>
            </a:r>
            <a:r>
              <a:rPr lang="zh-CN" altLang="en-US" b="0" i="0" dirty="0">
                <a:solidFill>
                  <a:srgbClr val="333333"/>
                </a:solidFill>
                <a:effectLst/>
                <a:latin typeface="Helvetica Neue"/>
              </a:rPr>
              <a:t>分隔符，默认为所有的空字符，包括空格、换行</a:t>
            </a:r>
            <a:r>
              <a:rPr lang="en-US" altLang="zh-CN" b="0" i="0" dirty="0">
                <a:solidFill>
                  <a:srgbClr val="333333"/>
                </a:solidFill>
                <a:effectLst/>
                <a:latin typeface="Helvetica Neue"/>
              </a:rPr>
              <a:t>(\n)</a:t>
            </a:r>
            <a:r>
              <a:rPr lang="zh-CN" altLang="en-US" b="0" i="0" dirty="0">
                <a:solidFill>
                  <a:srgbClr val="333333"/>
                </a:solidFill>
                <a:effectLst/>
                <a:latin typeface="Helvetica Neue"/>
              </a:rPr>
              <a:t>、制表符</a:t>
            </a:r>
            <a:r>
              <a:rPr lang="en-US" altLang="zh-CN" b="0" i="0" dirty="0">
                <a:solidFill>
                  <a:srgbClr val="333333"/>
                </a:solidFill>
                <a:effectLst/>
                <a:latin typeface="Helvetica Neue"/>
              </a:rPr>
              <a:t>(\t)</a:t>
            </a:r>
            <a:r>
              <a:rPr lang="zh-CN" altLang="en-US" b="0" i="0" dirty="0">
                <a:solidFill>
                  <a:srgbClr val="333333"/>
                </a:solidFill>
                <a:effectLst/>
                <a:latin typeface="Helvetica Neue"/>
              </a:rPr>
              <a:t>等。</a:t>
            </a:r>
          </a:p>
          <a:p>
            <a:pPr algn="l" latinLnBrk="1">
              <a:buFont typeface="Arial" panose="020B0604020202020204" pitchFamily="34" charset="0"/>
              <a:buChar char="•"/>
            </a:pPr>
            <a:r>
              <a:rPr lang="en-US" altLang="zh-CN" b="0" i="0" dirty="0">
                <a:solidFill>
                  <a:srgbClr val="333333"/>
                </a:solidFill>
                <a:effectLst/>
                <a:latin typeface="Helvetica Neue"/>
              </a:rPr>
              <a:t>num -- </a:t>
            </a:r>
            <a:r>
              <a:rPr lang="zh-CN" altLang="en-US" b="0" i="0" dirty="0">
                <a:solidFill>
                  <a:srgbClr val="333333"/>
                </a:solidFill>
                <a:effectLst/>
                <a:latin typeface="Helvetica Neue"/>
              </a:rPr>
              <a:t>分割次数。默认为 </a:t>
            </a:r>
            <a:r>
              <a:rPr lang="en-US" altLang="zh-CN" b="0" i="0" dirty="0">
                <a:solidFill>
                  <a:srgbClr val="333333"/>
                </a:solidFill>
                <a:effectLst/>
                <a:latin typeface="Helvetica Neue"/>
              </a:rPr>
              <a:t>-1, </a:t>
            </a:r>
            <a:r>
              <a:rPr lang="zh-CN" altLang="en-US" b="0" i="0" dirty="0">
                <a:solidFill>
                  <a:srgbClr val="333333"/>
                </a:solidFill>
                <a:effectLst/>
                <a:latin typeface="Helvetica Neue"/>
              </a:rPr>
              <a:t>即分隔所有。</a:t>
            </a:r>
          </a:p>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24</a:t>
            </a:fld>
            <a:endParaRPr lang="zh-CN" altLang="en-US"/>
          </a:p>
        </p:txBody>
      </p:sp>
    </p:spTree>
    <p:extLst>
      <p:ext uri="{BB962C8B-B14F-4D97-AF65-F5344CB8AC3E}">
        <p14:creationId xmlns:p14="http://schemas.microsoft.com/office/powerpoint/2010/main" val="818834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不建议同一种语言 做字符映射表，建议两种不同的语言 做映射</a:t>
            </a:r>
            <a:endParaRPr lang="en-US" altLang="zh-CN" dirty="0"/>
          </a:p>
          <a:p>
            <a:r>
              <a:rPr lang="zh-CN" altLang="en-US" dirty="0"/>
              <a:t>尼古拉斯 凯奇 风语者</a:t>
            </a:r>
            <a:endParaRPr lang="en-US" altLang="zh-CN" dirty="0"/>
          </a:p>
          <a:p>
            <a:r>
              <a:rPr lang="zh-CN" altLang="en-US" b="0" i="0" dirty="0">
                <a:solidFill>
                  <a:srgbClr val="999999"/>
                </a:solidFill>
                <a:effectLst/>
                <a:latin typeface="hiragino sans gb"/>
              </a:rPr>
              <a:t>在第二次世界大战期间的太平洋战场上，日军总能用各种方法破译美军的密电码，这令美军在战场上吃尽了苦头。为了改变这种局面，</a:t>
            </a:r>
            <a:r>
              <a:rPr lang="en-US" altLang="zh-CN" b="0" i="0" dirty="0">
                <a:solidFill>
                  <a:srgbClr val="999999"/>
                </a:solidFill>
                <a:effectLst/>
                <a:latin typeface="hiragino sans gb"/>
              </a:rPr>
              <a:t>1942</a:t>
            </a:r>
            <a:r>
              <a:rPr lang="zh-CN" altLang="en-US" b="0" i="0" dirty="0">
                <a:solidFill>
                  <a:srgbClr val="999999"/>
                </a:solidFill>
                <a:effectLst/>
                <a:latin typeface="hiragino sans gb"/>
              </a:rPr>
              <a:t>年，几百名纳瓦霍族人被征召入伍，因为他们的语言没有外族人能够听懂，所以美军将他们训练成了专门的译电员，人称“风语者”。作为美国海军的秘密武器，每个“风语者”都肩负着美军的至高机密，因此，他们也受到了特别的“照顾”</a:t>
            </a:r>
            <a:r>
              <a:rPr lang="en-US" altLang="zh-CN" b="0" i="0" dirty="0">
                <a:solidFill>
                  <a:srgbClr val="999999"/>
                </a:solidFill>
                <a:effectLst/>
                <a:latin typeface="hiragino sans gb"/>
              </a:rPr>
              <a:t>--</a:t>
            </a:r>
            <a:r>
              <a:rPr lang="zh-CN" altLang="en-US" b="0" i="0" dirty="0">
                <a:solidFill>
                  <a:srgbClr val="999999"/>
                </a:solidFill>
                <a:effectLst/>
                <a:latin typeface="hiragino sans gb"/>
              </a:rPr>
              <a:t>每个纳瓦霍译电员都由一名海军士兵贴身保护，一方面确保其人身安全，另一方面，如果译电员即将被日军俘获，保护者必须杀死他以保证密码不外泄。</a:t>
            </a:r>
            <a:r>
              <a:rPr lang="zh-CN" altLang="en-US" dirty="0"/>
              <a:t/>
            </a:r>
            <a:br>
              <a:rPr lang="zh-CN" altLang="en-US" dirty="0"/>
            </a:b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32</a:t>
            </a:fld>
            <a:endParaRPr lang="zh-CN" altLang="en-US"/>
          </a:p>
        </p:txBody>
      </p:sp>
    </p:spTree>
    <p:extLst>
      <p:ext uri="{BB962C8B-B14F-4D97-AF65-F5344CB8AC3E}">
        <p14:creationId xmlns:p14="http://schemas.microsoft.com/office/powerpoint/2010/main" val="2850224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不建议同一种语言 做字符映射表，建议两种不同的语言 做映射</a:t>
            </a:r>
            <a:endParaRPr lang="en-US" altLang="zh-CN" dirty="0"/>
          </a:p>
          <a:p>
            <a:r>
              <a:rPr lang="zh-CN" altLang="en-US" smtClean="0"/>
              <a:t/>
            </a:r>
            <a:br>
              <a:rPr lang="zh-CN" altLang="en-US" smtClean="0"/>
            </a:b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33</a:t>
            </a:fld>
            <a:endParaRPr lang="zh-CN" altLang="en-US"/>
          </a:p>
        </p:txBody>
      </p:sp>
    </p:spTree>
    <p:extLst>
      <p:ext uri="{BB962C8B-B14F-4D97-AF65-F5344CB8AC3E}">
        <p14:creationId xmlns:p14="http://schemas.microsoft.com/office/powerpoint/2010/main" val="36346047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noProof="1">
                <a:solidFill>
                  <a:srgbClr val="FF0000"/>
                </a:solidFill>
              </a:rPr>
              <a:t>顺序不限，即包含关系，但是必须从外往里不跨扒。</a:t>
            </a:r>
            <a:endParaRPr lang="en-US" altLang="zh-CN" sz="1200" noProof="1">
              <a:solidFill>
                <a:srgbClr val="FF0000"/>
              </a:solidFill>
            </a:endParaRPr>
          </a:p>
          <a:p>
            <a:r>
              <a:rPr lang="zh-CN" altLang="en-US" sz="1200" noProof="1">
                <a:solidFill>
                  <a:srgbClr val="FF0000"/>
                </a:solidFill>
              </a:rPr>
              <a:t>剥玉米 叶子，一层一层往里剥。。。</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34</a:t>
            </a:fld>
            <a:endParaRPr lang="zh-CN" altLang="en-US"/>
          </a:p>
        </p:txBody>
      </p:sp>
    </p:spTree>
    <p:extLst>
      <p:ext uri="{BB962C8B-B14F-4D97-AF65-F5344CB8AC3E}">
        <p14:creationId xmlns:p14="http://schemas.microsoft.com/office/powerpoint/2010/main" val="22610292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err="1">
                <a:solidFill>
                  <a:srgbClr val="333333"/>
                </a:solidFill>
                <a:effectLst/>
                <a:latin typeface="Helvetica Neue"/>
              </a:rPr>
              <a:t>isdecimal</a:t>
            </a:r>
            <a:r>
              <a:rPr lang="en-US" altLang="zh-CN" b="0" i="0" dirty="0">
                <a:solidFill>
                  <a:srgbClr val="333333"/>
                </a:solidFill>
                <a:effectLst/>
                <a:latin typeface="Helvetica Neue"/>
              </a:rPr>
              <a:t>() </a:t>
            </a:r>
            <a:r>
              <a:rPr lang="zh-CN" altLang="en-US" b="0" i="0" dirty="0">
                <a:solidFill>
                  <a:srgbClr val="333333"/>
                </a:solidFill>
                <a:effectLst/>
                <a:latin typeface="Helvetica Neue"/>
              </a:rPr>
              <a:t>方法检查字符串是否只包含十进制字符。这种方法只存在于</a:t>
            </a:r>
            <a:r>
              <a:rPr lang="en-US" altLang="zh-CN" b="0" i="0" dirty="0" err="1">
                <a:solidFill>
                  <a:srgbClr val="333333"/>
                </a:solidFill>
                <a:effectLst/>
                <a:latin typeface="Helvetica Neue"/>
              </a:rPr>
              <a:t>unicode</a:t>
            </a:r>
            <a:r>
              <a:rPr lang="zh-CN" altLang="en-US" b="0" i="0" dirty="0">
                <a:solidFill>
                  <a:srgbClr val="333333"/>
                </a:solidFill>
                <a:effectLst/>
                <a:latin typeface="Helvetica Neue"/>
              </a:rPr>
              <a:t>对象。</a:t>
            </a:r>
            <a:endParaRPr lang="en-US" altLang="zh-CN" b="0" i="0" dirty="0">
              <a:solidFill>
                <a:srgbClr val="333333"/>
              </a:solidFill>
              <a:effectLst/>
              <a:latin typeface="Helvetica Neue"/>
            </a:endParaRPr>
          </a:p>
          <a:p>
            <a:r>
              <a:rPr lang="zh-CN" altLang="en-US" b="1" i="0" dirty="0">
                <a:solidFill>
                  <a:srgbClr val="333333"/>
                </a:solidFill>
                <a:effectLst/>
                <a:latin typeface="Helvetica Neue"/>
              </a:rPr>
              <a:t>注意</a:t>
            </a:r>
            <a:r>
              <a:rPr lang="en-US" altLang="zh-CN" b="1" i="0" dirty="0">
                <a:solidFill>
                  <a:srgbClr val="333333"/>
                </a:solidFill>
                <a:effectLst/>
                <a:latin typeface="Helvetica Neue"/>
              </a:rPr>
              <a:t>:</a:t>
            </a:r>
            <a:r>
              <a:rPr lang="zh-CN" altLang="en-US" b="0" i="0" dirty="0">
                <a:solidFill>
                  <a:srgbClr val="333333"/>
                </a:solidFill>
                <a:effectLst/>
                <a:latin typeface="Helvetica Neue"/>
              </a:rPr>
              <a:t>定义一个十进制字符串，只需要在字符串前添加 </a:t>
            </a:r>
            <a:r>
              <a:rPr lang="en-US" altLang="zh-CN" b="0" i="0" dirty="0">
                <a:solidFill>
                  <a:srgbClr val="333333"/>
                </a:solidFill>
                <a:effectLst/>
                <a:latin typeface="Helvetica Neue"/>
              </a:rPr>
              <a:t>'u' </a:t>
            </a:r>
            <a:r>
              <a:rPr lang="zh-CN" altLang="en-US" b="0" i="0" dirty="0">
                <a:solidFill>
                  <a:srgbClr val="333333"/>
                </a:solidFill>
                <a:effectLst/>
                <a:latin typeface="Helvetica Neue"/>
              </a:rPr>
              <a:t>前缀即可。</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38</a:t>
            </a:fld>
            <a:endParaRPr lang="zh-CN" altLang="en-US"/>
          </a:p>
        </p:txBody>
      </p:sp>
    </p:spTree>
    <p:extLst>
      <p:ext uri="{BB962C8B-B14F-4D97-AF65-F5344CB8AC3E}">
        <p14:creationId xmlns:p14="http://schemas.microsoft.com/office/powerpoint/2010/main" val="19137815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olidFill>
                  <a:srgbClr val="000000"/>
                </a:solidFill>
                <a:effectLst/>
                <a:latin typeface="Courier New" panose="02070309020205020404" pitchFamily="49" charset="0"/>
              </a:rPr>
              <a:t>#array.array(typecode,[initializer]) </a:t>
            </a:r>
          </a:p>
          <a:p>
            <a:r>
              <a:rPr lang="en-US" altLang="zh-CN" dirty="0"/>
              <a:t>--</a:t>
            </a:r>
            <a:r>
              <a:rPr lang="en-US" altLang="zh-CN" dirty="0" err="1">
                <a:solidFill>
                  <a:srgbClr val="000000"/>
                </a:solidFill>
                <a:effectLst/>
                <a:latin typeface="Courier New" panose="02070309020205020404" pitchFamily="49" charset="0"/>
              </a:rPr>
              <a:t>typecode</a:t>
            </a:r>
            <a:r>
              <a:rPr lang="en-US" altLang="zh-CN" dirty="0">
                <a:solidFill>
                  <a:srgbClr val="000000"/>
                </a:solidFill>
                <a:effectLst/>
                <a:latin typeface="Courier New" panose="02070309020205020404" pitchFamily="49" charset="0"/>
              </a:rPr>
              <a:t>:</a:t>
            </a:r>
            <a:r>
              <a:rPr lang="zh-CN" altLang="en-US" dirty="0">
                <a:solidFill>
                  <a:srgbClr val="000000"/>
                </a:solidFill>
                <a:effectLst/>
                <a:latin typeface="Courier New" panose="02070309020205020404" pitchFamily="49" charset="0"/>
              </a:rPr>
              <a:t>元素类型代码；</a:t>
            </a:r>
            <a:r>
              <a:rPr lang="en-US" altLang="zh-CN" dirty="0">
                <a:solidFill>
                  <a:srgbClr val="000000"/>
                </a:solidFill>
                <a:effectLst/>
                <a:latin typeface="Courier New" panose="02070309020205020404" pitchFamily="49" charset="0"/>
              </a:rPr>
              <a:t>initializer:</a:t>
            </a:r>
            <a:r>
              <a:rPr lang="zh-CN" altLang="en-US" dirty="0">
                <a:solidFill>
                  <a:srgbClr val="000000"/>
                </a:solidFill>
                <a:effectLst/>
                <a:latin typeface="Courier New" panose="02070309020205020404" pitchFamily="49" charset="0"/>
              </a:rPr>
              <a:t>初始化器，若数组为空，则省略初始化器 </a:t>
            </a:r>
            <a:r>
              <a:rPr lang="en-US" altLang="zh-CN" dirty="0" err="1">
                <a:solidFill>
                  <a:srgbClr val="000000"/>
                </a:solidFill>
                <a:effectLst/>
                <a:latin typeface="Courier New" panose="02070309020205020404" pitchFamily="49" charset="0"/>
              </a:rPr>
              <a:t>arr</a:t>
            </a:r>
            <a:r>
              <a:rPr lang="en-US" altLang="zh-CN" dirty="0">
                <a:solidFill>
                  <a:srgbClr val="000000"/>
                </a:solidFill>
                <a:effectLst/>
                <a:latin typeface="Courier New" panose="02070309020205020404" pitchFamily="49" charset="0"/>
              </a:rPr>
              <a:t> </a:t>
            </a:r>
            <a:r>
              <a:rPr lang="en-US" altLang="zh-CN" dirty="0"/>
              <a:t>= </a:t>
            </a:r>
            <a:r>
              <a:rPr lang="en-US" altLang="zh-CN" dirty="0" err="1"/>
              <a:t>array.array</a:t>
            </a:r>
            <a:r>
              <a:rPr lang="en-US" altLang="zh-CN" dirty="0"/>
              <a:t>(</a:t>
            </a:r>
            <a:r>
              <a:rPr lang="en-US" altLang="zh-CN" dirty="0">
                <a:solidFill>
                  <a:srgbClr val="800000"/>
                </a:solidFill>
                <a:effectLst/>
                <a:latin typeface="Courier New" panose="02070309020205020404" pitchFamily="49" charset="0"/>
              </a:rPr>
              <a:t>'</a:t>
            </a:r>
            <a:r>
              <a:rPr lang="en-US" altLang="zh-CN" dirty="0" err="1">
                <a:solidFill>
                  <a:srgbClr val="800000"/>
                </a:solidFill>
                <a:effectLst/>
                <a:latin typeface="Courier New" panose="02070309020205020404" pitchFamily="49" charset="0"/>
              </a:rPr>
              <a:t>i</a:t>
            </a:r>
            <a:r>
              <a:rPr lang="en-US" altLang="zh-CN" dirty="0">
                <a:solidFill>
                  <a:srgbClr val="800000"/>
                </a:solidFill>
                <a:effectLst/>
                <a:latin typeface="Courier New" panose="02070309020205020404" pitchFamily="49" charset="0"/>
              </a:rPr>
              <a:t>'</a:t>
            </a:r>
            <a:r>
              <a:rPr lang="en-US" altLang="zh-CN" dirty="0"/>
              <a:t>,[</a:t>
            </a:r>
            <a:r>
              <a:rPr lang="en-US" altLang="zh-CN" dirty="0">
                <a:solidFill>
                  <a:srgbClr val="800080"/>
                </a:solidFill>
                <a:effectLst/>
                <a:latin typeface="Courier New" panose="02070309020205020404" pitchFamily="49" charset="0"/>
              </a:rPr>
              <a:t>0</a:t>
            </a:r>
            <a:r>
              <a:rPr lang="en-US" altLang="zh-CN" dirty="0"/>
              <a:t>,</a:t>
            </a:r>
            <a:r>
              <a:rPr lang="en-US" altLang="zh-CN" dirty="0">
                <a:solidFill>
                  <a:srgbClr val="800080"/>
                </a:solidFill>
                <a:effectLst/>
                <a:latin typeface="Courier New" panose="02070309020205020404" pitchFamily="49" charset="0"/>
              </a:rPr>
              <a:t>1</a:t>
            </a:r>
            <a:r>
              <a:rPr lang="en-US" altLang="zh-CN" dirty="0"/>
              <a:t>,</a:t>
            </a:r>
            <a:r>
              <a:rPr lang="en-US" altLang="zh-CN" dirty="0">
                <a:solidFill>
                  <a:srgbClr val="800080"/>
                </a:solidFill>
                <a:effectLst/>
                <a:latin typeface="Courier New" panose="02070309020205020404" pitchFamily="49" charset="0"/>
              </a:rPr>
              <a:t>1</a:t>
            </a:r>
            <a:r>
              <a:rPr lang="en-US" altLang="zh-CN" dirty="0"/>
              <a:t>,</a:t>
            </a:r>
            <a:r>
              <a:rPr lang="en-US" altLang="zh-CN" dirty="0">
                <a:solidFill>
                  <a:srgbClr val="800080"/>
                </a:solidFill>
                <a:effectLst/>
                <a:latin typeface="Courier New" panose="02070309020205020404" pitchFamily="49" charset="0"/>
              </a:rPr>
              <a:t>3</a:t>
            </a:r>
            <a:r>
              <a:rPr lang="en-US" altLang="zh-CN" dirty="0">
                <a:solidFill>
                  <a:srgbClr val="000000"/>
                </a:solidFill>
                <a:effectLst/>
                <a:latin typeface="Courier New" panose="02070309020205020404" pitchFamily="49" charset="0"/>
              </a:rPr>
              <a:t>])</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44</a:t>
            </a:fld>
            <a:endParaRPr lang="zh-CN" altLang="en-US"/>
          </a:p>
        </p:txBody>
      </p:sp>
    </p:spTree>
    <p:extLst>
      <p:ext uri="{BB962C8B-B14F-4D97-AF65-F5344CB8AC3E}">
        <p14:creationId xmlns:p14="http://schemas.microsoft.com/office/powerpoint/2010/main" val="30043213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Arial" panose="020B0604020202020204" pitchFamily="34" charset="0"/>
              </a:rPr>
              <a:t>Natural Language Processing</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47</a:t>
            </a:fld>
            <a:endParaRPr lang="zh-CN" altLang="en-US"/>
          </a:p>
        </p:txBody>
      </p:sp>
    </p:spTree>
    <p:extLst>
      <p:ext uri="{BB962C8B-B14F-4D97-AF65-F5344CB8AC3E}">
        <p14:creationId xmlns:p14="http://schemas.microsoft.com/office/powerpoint/2010/main" val="28802083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50</a:t>
            </a:fld>
            <a:endParaRPr lang="zh-CN" altLang="en-US"/>
          </a:p>
        </p:txBody>
      </p:sp>
    </p:spTree>
    <p:extLst>
      <p:ext uri="{BB962C8B-B14F-4D97-AF65-F5344CB8AC3E}">
        <p14:creationId xmlns:p14="http://schemas.microsoft.com/office/powerpoint/2010/main" val="14556078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i="0" u="none" strike="noStrike">
                <a:solidFill>
                  <a:srgbClr val="5A75E0"/>
                </a:solidFill>
                <a:effectLst/>
                <a:latin typeface="PingFang SC"/>
              </a:rPr>
              <a:t>regular expression</a:t>
            </a:r>
            <a:endParaRPr lang="zh-CN" altLang="en-US"/>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52</a:t>
            </a:fld>
            <a:endParaRPr lang="zh-CN" altLang="en-US"/>
          </a:p>
        </p:txBody>
      </p:sp>
    </p:spTree>
    <p:extLst>
      <p:ext uri="{BB962C8B-B14F-4D97-AF65-F5344CB8AC3E}">
        <p14:creationId xmlns:p14="http://schemas.microsoft.com/office/powerpoint/2010/main" val="8974121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t>53</a:t>
            </a:fld>
            <a:endParaRPr lang="zh-CN" altLang="en-US"/>
          </a:p>
        </p:txBody>
      </p:sp>
    </p:spTree>
    <p:extLst>
      <p:ext uri="{BB962C8B-B14F-4D97-AF65-F5344CB8AC3E}">
        <p14:creationId xmlns:p14="http://schemas.microsoft.com/office/powerpoint/2010/main" val="26904411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57</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err="1">
                <a:solidFill>
                  <a:srgbClr val="333333"/>
                </a:solidFill>
                <a:effectLst/>
                <a:latin typeface="Helvetica Neue"/>
              </a:rPr>
              <a:t>re.match</a:t>
            </a:r>
            <a:r>
              <a:rPr lang="en-US" altLang="zh-CN" b="0" i="0" dirty="0">
                <a:solidFill>
                  <a:srgbClr val="333333"/>
                </a:solidFill>
                <a:effectLst/>
                <a:latin typeface="Helvetica Neue"/>
              </a:rPr>
              <a:t> </a:t>
            </a:r>
            <a:r>
              <a:rPr lang="zh-CN" altLang="en-US" b="0" i="0" dirty="0">
                <a:solidFill>
                  <a:srgbClr val="333333"/>
                </a:solidFill>
                <a:effectLst/>
                <a:latin typeface="Helvetica Neue"/>
              </a:rPr>
              <a:t>只匹配字符串的开始，如果字符串开始不符合正则表达式，则匹配失败，函数返回 </a:t>
            </a:r>
            <a:r>
              <a:rPr lang="en-US" altLang="zh-CN" b="0" i="0" dirty="0">
                <a:solidFill>
                  <a:srgbClr val="333333"/>
                </a:solidFill>
                <a:effectLst/>
                <a:latin typeface="Helvetica Neue"/>
              </a:rPr>
              <a:t>None</a:t>
            </a:r>
            <a:r>
              <a:rPr lang="zh-CN" altLang="en-US" b="0" i="0" dirty="0">
                <a:solidFill>
                  <a:srgbClr val="333333"/>
                </a:solidFill>
                <a:effectLst/>
                <a:latin typeface="Helvetica Neue"/>
              </a:rPr>
              <a:t>，而 </a:t>
            </a:r>
            <a:r>
              <a:rPr lang="en-US" altLang="zh-CN" b="0" i="0" dirty="0" err="1">
                <a:solidFill>
                  <a:srgbClr val="333333"/>
                </a:solidFill>
                <a:effectLst/>
                <a:latin typeface="Helvetica Neue"/>
              </a:rPr>
              <a:t>re.search</a:t>
            </a:r>
            <a:r>
              <a:rPr lang="en-US" altLang="zh-CN" b="0" i="0" dirty="0">
                <a:solidFill>
                  <a:srgbClr val="333333"/>
                </a:solidFill>
                <a:effectLst/>
                <a:latin typeface="Helvetica Neue"/>
              </a:rPr>
              <a:t> </a:t>
            </a:r>
            <a:r>
              <a:rPr lang="zh-CN" altLang="en-US" b="0" i="0" dirty="0">
                <a:solidFill>
                  <a:srgbClr val="333333"/>
                </a:solidFill>
                <a:effectLst/>
                <a:latin typeface="Helvetica Neue"/>
              </a:rPr>
              <a:t>匹配整个字符串，直到找到一个匹配。</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59</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err="1">
                <a:solidFill>
                  <a:srgbClr val="333333"/>
                </a:solidFill>
                <a:effectLst/>
                <a:latin typeface="Helvetica Neue"/>
              </a:rPr>
              <a:t>re.match</a:t>
            </a:r>
            <a:r>
              <a:rPr lang="en-US" altLang="zh-CN" b="0" i="0" dirty="0">
                <a:solidFill>
                  <a:srgbClr val="333333"/>
                </a:solidFill>
                <a:effectLst/>
                <a:latin typeface="Helvetica Neue"/>
              </a:rPr>
              <a:t> </a:t>
            </a:r>
            <a:r>
              <a:rPr lang="zh-CN" altLang="en-US" b="0" i="0" dirty="0">
                <a:solidFill>
                  <a:srgbClr val="333333"/>
                </a:solidFill>
                <a:effectLst/>
                <a:latin typeface="Helvetica Neue"/>
              </a:rPr>
              <a:t>只匹配字符串的开始，如果字符串开始不符合正则表达式，则匹配失败，函数返回 </a:t>
            </a:r>
            <a:r>
              <a:rPr lang="en-US" altLang="zh-CN" b="0" i="0" dirty="0">
                <a:solidFill>
                  <a:srgbClr val="333333"/>
                </a:solidFill>
                <a:effectLst/>
                <a:latin typeface="Helvetica Neue"/>
              </a:rPr>
              <a:t>None</a:t>
            </a:r>
            <a:r>
              <a:rPr lang="zh-CN" altLang="en-US" b="0" i="0" dirty="0">
                <a:solidFill>
                  <a:srgbClr val="333333"/>
                </a:solidFill>
                <a:effectLst/>
                <a:latin typeface="Helvetica Neue"/>
              </a:rPr>
              <a:t>，而 </a:t>
            </a:r>
            <a:r>
              <a:rPr lang="en-US" altLang="zh-CN" b="0" i="0" dirty="0" err="1">
                <a:solidFill>
                  <a:srgbClr val="333333"/>
                </a:solidFill>
                <a:effectLst/>
                <a:latin typeface="Helvetica Neue"/>
              </a:rPr>
              <a:t>re.search</a:t>
            </a:r>
            <a:r>
              <a:rPr lang="en-US" altLang="zh-CN" b="0" i="0" dirty="0">
                <a:solidFill>
                  <a:srgbClr val="333333"/>
                </a:solidFill>
                <a:effectLst/>
                <a:latin typeface="Helvetica Neue"/>
              </a:rPr>
              <a:t> </a:t>
            </a:r>
            <a:r>
              <a:rPr lang="zh-CN" altLang="en-US" b="0" i="0" dirty="0">
                <a:solidFill>
                  <a:srgbClr val="333333"/>
                </a:solidFill>
                <a:effectLst/>
                <a:latin typeface="Helvetica Neue"/>
              </a:rPr>
              <a:t>匹配整个字符串，直到找到一个匹配。</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61</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err="1">
                <a:solidFill>
                  <a:srgbClr val="333333"/>
                </a:solidFill>
                <a:effectLst/>
                <a:latin typeface="Helvetica Neue"/>
              </a:rPr>
              <a:t>re.match</a:t>
            </a:r>
            <a:r>
              <a:rPr lang="en-US" altLang="zh-CN" b="0" i="0" dirty="0">
                <a:solidFill>
                  <a:srgbClr val="333333"/>
                </a:solidFill>
                <a:effectLst/>
                <a:latin typeface="Helvetica Neue"/>
              </a:rPr>
              <a:t> </a:t>
            </a:r>
            <a:r>
              <a:rPr lang="zh-CN" altLang="en-US" b="0" i="0" dirty="0">
                <a:solidFill>
                  <a:srgbClr val="333333"/>
                </a:solidFill>
                <a:effectLst/>
                <a:latin typeface="Helvetica Neue"/>
              </a:rPr>
              <a:t>只匹配字符串的开始，如果字符串开始不符合正则表达式，则匹配失败，函数返回 </a:t>
            </a:r>
            <a:r>
              <a:rPr lang="en-US" altLang="zh-CN" b="0" i="0" dirty="0">
                <a:solidFill>
                  <a:srgbClr val="333333"/>
                </a:solidFill>
                <a:effectLst/>
                <a:latin typeface="Helvetica Neue"/>
              </a:rPr>
              <a:t>None</a:t>
            </a:r>
            <a:r>
              <a:rPr lang="zh-CN" altLang="en-US" b="0" i="0" dirty="0">
                <a:solidFill>
                  <a:srgbClr val="333333"/>
                </a:solidFill>
                <a:effectLst/>
                <a:latin typeface="Helvetica Neue"/>
              </a:rPr>
              <a:t>，而 </a:t>
            </a:r>
            <a:r>
              <a:rPr lang="en-US" altLang="zh-CN" b="0" i="0" dirty="0" err="1">
                <a:solidFill>
                  <a:srgbClr val="333333"/>
                </a:solidFill>
                <a:effectLst/>
                <a:latin typeface="Helvetica Neue"/>
              </a:rPr>
              <a:t>re.search</a:t>
            </a:r>
            <a:r>
              <a:rPr lang="en-US" altLang="zh-CN" b="0" i="0" dirty="0">
                <a:solidFill>
                  <a:srgbClr val="333333"/>
                </a:solidFill>
                <a:effectLst/>
                <a:latin typeface="Helvetica Neue"/>
              </a:rPr>
              <a:t> </a:t>
            </a:r>
            <a:r>
              <a:rPr lang="zh-CN" altLang="en-US" b="0" i="0" dirty="0">
                <a:solidFill>
                  <a:srgbClr val="333333"/>
                </a:solidFill>
                <a:effectLst/>
                <a:latin typeface="Helvetica Neue"/>
              </a:rPr>
              <a:t>匹配整个字符串，直到找到一个匹配。</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62</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63</a:t>
            </a:fld>
            <a:endParaRPr lang="zh-CN" altLang="en-US"/>
          </a:p>
        </p:txBody>
      </p:sp>
    </p:spTree>
    <p:extLst>
      <p:ext uri="{BB962C8B-B14F-4D97-AF65-F5344CB8AC3E}">
        <p14:creationId xmlns:p14="http://schemas.microsoft.com/office/powerpoint/2010/main" val="3085153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64</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err="1">
                <a:solidFill>
                  <a:srgbClr val="333333"/>
                </a:solidFill>
                <a:effectLst/>
                <a:latin typeface="Helvetica Neue"/>
              </a:rPr>
              <a:t>re.match</a:t>
            </a:r>
            <a:r>
              <a:rPr lang="en-US" altLang="zh-CN" b="0" i="0" dirty="0">
                <a:solidFill>
                  <a:srgbClr val="333333"/>
                </a:solidFill>
                <a:effectLst/>
                <a:latin typeface="Helvetica Neue"/>
              </a:rPr>
              <a:t> </a:t>
            </a:r>
            <a:r>
              <a:rPr lang="zh-CN" altLang="en-US" b="0" i="0" dirty="0">
                <a:solidFill>
                  <a:srgbClr val="333333"/>
                </a:solidFill>
                <a:effectLst/>
                <a:latin typeface="Helvetica Neue"/>
              </a:rPr>
              <a:t>只匹配字符串的开始，如果字符串开始不符合正则表达式，则匹配失败，函数返回 </a:t>
            </a:r>
            <a:r>
              <a:rPr lang="en-US" altLang="zh-CN" b="0" i="0" dirty="0">
                <a:solidFill>
                  <a:srgbClr val="333333"/>
                </a:solidFill>
                <a:effectLst/>
                <a:latin typeface="Helvetica Neue"/>
              </a:rPr>
              <a:t>None</a:t>
            </a:r>
            <a:r>
              <a:rPr lang="zh-CN" altLang="en-US" b="0" i="0" dirty="0">
                <a:solidFill>
                  <a:srgbClr val="333333"/>
                </a:solidFill>
                <a:effectLst/>
                <a:latin typeface="Helvetica Neue"/>
              </a:rPr>
              <a:t>，而 </a:t>
            </a:r>
            <a:r>
              <a:rPr lang="en-US" altLang="zh-CN" b="0" i="0" dirty="0" err="1">
                <a:solidFill>
                  <a:srgbClr val="333333"/>
                </a:solidFill>
                <a:effectLst/>
                <a:latin typeface="Helvetica Neue"/>
              </a:rPr>
              <a:t>re.search</a:t>
            </a:r>
            <a:r>
              <a:rPr lang="en-US" altLang="zh-CN" b="0" i="0" dirty="0">
                <a:solidFill>
                  <a:srgbClr val="333333"/>
                </a:solidFill>
                <a:effectLst/>
                <a:latin typeface="Helvetica Neue"/>
              </a:rPr>
              <a:t> </a:t>
            </a:r>
            <a:r>
              <a:rPr lang="zh-CN" altLang="en-US" b="0" i="0" dirty="0">
                <a:solidFill>
                  <a:srgbClr val="333333"/>
                </a:solidFill>
                <a:effectLst/>
                <a:latin typeface="Helvetica Neue"/>
              </a:rPr>
              <a:t>匹配整个字符串，直到找到一个匹配。</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65</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err="1">
                <a:solidFill>
                  <a:srgbClr val="333333"/>
                </a:solidFill>
                <a:effectLst/>
                <a:latin typeface="Helvetica Neue"/>
              </a:rPr>
              <a:t>re.match</a:t>
            </a:r>
            <a:r>
              <a:rPr lang="en-US" altLang="zh-CN" b="0" i="0" dirty="0">
                <a:solidFill>
                  <a:srgbClr val="333333"/>
                </a:solidFill>
                <a:effectLst/>
                <a:latin typeface="Helvetica Neue"/>
              </a:rPr>
              <a:t> </a:t>
            </a:r>
            <a:r>
              <a:rPr lang="zh-CN" altLang="en-US" b="0" i="0" dirty="0">
                <a:solidFill>
                  <a:srgbClr val="333333"/>
                </a:solidFill>
                <a:effectLst/>
                <a:latin typeface="Helvetica Neue"/>
              </a:rPr>
              <a:t>只匹配字符串的开始，如果字符串开始不符合正则表达式，则匹配失败，函数返回 </a:t>
            </a:r>
            <a:r>
              <a:rPr lang="en-US" altLang="zh-CN" b="0" i="0" dirty="0">
                <a:solidFill>
                  <a:srgbClr val="333333"/>
                </a:solidFill>
                <a:effectLst/>
                <a:latin typeface="Helvetica Neue"/>
              </a:rPr>
              <a:t>None</a:t>
            </a:r>
            <a:r>
              <a:rPr lang="zh-CN" altLang="en-US" b="0" i="0" dirty="0">
                <a:solidFill>
                  <a:srgbClr val="333333"/>
                </a:solidFill>
                <a:effectLst/>
                <a:latin typeface="Helvetica Neue"/>
              </a:rPr>
              <a:t>，而 </a:t>
            </a:r>
            <a:r>
              <a:rPr lang="en-US" altLang="zh-CN" b="0" i="0" dirty="0" err="1">
                <a:solidFill>
                  <a:srgbClr val="333333"/>
                </a:solidFill>
                <a:effectLst/>
                <a:latin typeface="Helvetica Neue"/>
              </a:rPr>
              <a:t>re.search</a:t>
            </a:r>
            <a:r>
              <a:rPr lang="en-US" altLang="zh-CN" b="0" i="0" dirty="0">
                <a:solidFill>
                  <a:srgbClr val="333333"/>
                </a:solidFill>
                <a:effectLst/>
                <a:latin typeface="Helvetica Neue"/>
              </a:rPr>
              <a:t> </a:t>
            </a:r>
            <a:r>
              <a:rPr lang="zh-CN" altLang="en-US" b="0" i="0" dirty="0">
                <a:solidFill>
                  <a:srgbClr val="333333"/>
                </a:solidFill>
                <a:effectLst/>
                <a:latin typeface="Helvetica Neue"/>
              </a:rPr>
              <a:t>匹配整个字符串，直到找到一个匹配。</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66</a:t>
            </a:fld>
            <a:endParaRPr lang="zh-CN" altLang="en-US"/>
          </a:p>
        </p:txBody>
      </p:sp>
    </p:spTree>
    <p:extLst>
      <p:ext uri="{BB962C8B-B14F-4D97-AF65-F5344CB8AC3E}">
        <p14:creationId xmlns:p14="http://schemas.microsoft.com/office/powerpoint/2010/main" val="4233232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err="1">
                <a:solidFill>
                  <a:srgbClr val="333333"/>
                </a:solidFill>
                <a:effectLst/>
                <a:latin typeface="Helvetica Neue"/>
              </a:rPr>
              <a:t>re.match</a:t>
            </a:r>
            <a:r>
              <a:rPr lang="en-US" altLang="zh-CN" b="0" i="0" dirty="0">
                <a:solidFill>
                  <a:srgbClr val="333333"/>
                </a:solidFill>
                <a:effectLst/>
                <a:latin typeface="Helvetica Neue"/>
              </a:rPr>
              <a:t> </a:t>
            </a:r>
            <a:r>
              <a:rPr lang="zh-CN" altLang="en-US" b="0" i="0" dirty="0">
                <a:solidFill>
                  <a:srgbClr val="333333"/>
                </a:solidFill>
                <a:effectLst/>
                <a:latin typeface="Helvetica Neue"/>
              </a:rPr>
              <a:t>只匹配字符串的开始，如果字符串开始不符合正则表达式，则匹配失败，函数返回 </a:t>
            </a:r>
            <a:r>
              <a:rPr lang="en-US" altLang="zh-CN" b="0" i="0" dirty="0">
                <a:solidFill>
                  <a:srgbClr val="333333"/>
                </a:solidFill>
                <a:effectLst/>
                <a:latin typeface="Helvetica Neue"/>
              </a:rPr>
              <a:t>None</a:t>
            </a:r>
            <a:r>
              <a:rPr lang="zh-CN" altLang="en-US" b="0" i="0" dirty="0">
                <a:solidFill>
                  <a:srgbClr val="333333"/>
                </a:solidFill>
                <a:effectLst/>
                <a:latin typeface="Helvetica Neue"/>
              </a:rPr>
              <a:t>，而 </a:t>
            </a:r>
            <a:r>
              <a:rPr lang="en-US" altLang="zh-CN" b="0" i="0" dirty="0" err="1">
                <a:solidFill>
                  <a:srgbClr val="333333"/>
                </a:solidFill>
                <a:effectLst/>
                <a:latin typeface="Helvetica Neue"/>
              </a:rPr>
              <a:t>re.search</a:t>
            </a:r>
            <a:r>
              <a:rPr lang="en-US" altLang="zh-CN" b="0" i="0" dirty="0">
                <a:solidFill>
                  <a:srgbClr val="333333"/>
                </a:solidFill>
                <a:effectLst/>
                <a:latin typeface="Helvetica Neue"/>
              </a:rPr>
              <a:t> </a:t>
            </a:r>
            <a:r>
              <a:rPr lang="zh-CN" altLang="en-US" b="0" i="0" dirty="0">
                <a:solidFill>
                  <a:srgbClr val="333333"/>
                </a:solidFill>
                <a:effectLst/>
                <a:latin typeface="Helvetica Neue"/>
              </a:rPr>
              <a:t>匹配整个字符串，直到找到一个匹配。</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68</a:t>
            </a:fld>
            <a:endParaRPr lang="zh-CN" altLang="en-US"/>
          </a:p>
        </p:txBody>
      </p:sp>
    </p:spTree>
    <p:extLst>
      <p:ext uri="{BB962C8B-B14F-4D97-AF65-F5344CB8AC3E}">
        <p14:creationId xmlns:p14="http://schemas.microsoft.com/office/powerpoint/2010/main" val="19233915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69</a:t>
            </a:fld>
            <a:endParaRPr lang="zh-CN" altLang="en-US"/>
          </a:p>
        </p:txBody>
      </p:sp>
    </p:spTree>
    <p:extLst>
      <p:ext uri="{BB962C8B-B14F-4D97-AF65-F5344CB8AC3E}">
        <p14:creationId xmlns:p14="http://schemas.microsoft.com/office/powerpoint/2010/main" val="20433988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类似于 所有子模式的 最后一次匹配值的 输出     模式</a:t>
            </a:r>
            <a:r>
              <a:rPr lang="en-US" altLang="zh-CN" dirty="0"/>
              <a:t>1</a:t>
            </a:r>
            <a:r>
              <a:rPr lang="zh-CN" altLang="en-US" dirty="0"/>
              <a:t>对应分组 </a:t>
            </a:r>
            <a:r>
              <a:rPr lang="en-US" altLang="zh-CN" dirty="0"/>
              <a:t>ab134  ab98723jafjweoruiag abLdd332addg</a:t>
            </a:r>
            <a:r>
              <a:rPr lang="zh-CN" altLang="en-US" dirty="0"/>
              <a:t>   </a:t>
            </a:r>
            <a:r>
              <a:rPr lang="en-US" altLang="zh-CN" dirty="0"/>
              <a:t> </a:t>
            </a:r>
            <a:r>
              <a:rPr lang="en-US" altLang="zh-CN" baseline="0" dirty="0"/>
              <a:t> </a:t>
            </a:r>
            <a:r>
              <a:rPr lang="zh-CN" altLang="en-US" baseline="0" dirty="0"/>
              <a:t>模式</a:t>
            </a:r>
            <a:r>
              <a:rPr lang="en-US" altLang="zh-CN" baseline="0" dirty="0"/>
              <a:t>2</a:t>
            </a:r>
            <a:r>
              <a:rPr lang="zh-CN" altLang="en-US" baseline="0" dirty="0"/>
              <a:t>对应分组 </a:t>
            </a:r>
            <a:r>
              <a:rPr lang="en-US" altLang="zh-CN" baseline="0" dirty="0" err="1"/>
              <a:t>ab</a:t>
            </a:r>
            <a:r>
              <a:rPr lang="en-US" altLang="zh-CN" baseline="0" dirty="0"/>
              <a:t>  </a:t>
            </a:r>
            <a:r>
              <a:rPr lang="en-US" altLang="zh-CN" baseline="0" dirty="0" err="1"/>
              <a:t>ab</a:t>
            </a:r>
            <a:r>
              <a:rPr lang="en-US" altLang="zh-CN" baseline="0" dirty="0"/>
              <a:t>  </a:t>
            </a:r>
            <a:r>
              <a:rPr lang="en-US" altLang="zh-CN" baseline="0" dirty="0" err="1"/>
              <a:t>ab</a:t>
            </a:r>
            <a:r>
              <a:rPr lang="zh-CN" altLang="en-US" baseline="0" dirty="0"/>
              <a:t>     </a:t>
            </a:r>
            <a:r>
              <a:rPr lang="en-US" altLang="zh-CN" baseline="0" dirty="0"/>
              <a:t> </a:t>
            </a:r>
            <a:r>
              <a:rPr lang="zh-CN" altLang="en-US" baseline="0" dirty="0"/>
              <a:t>模式</a:t>
            </a:r>
            <a:r>
              <a:rPr lang="en-US" altLang="zh-CN" baseline="0" dirty="0"/>
              <a:t>3</a:t>
            </a:r>
            <a:r>
              <a:rPr lang="zh-CN" altLang="en-US" baseline="0" dirty="0"/>
              <a:t>对应分组  </a:t>
            </a:r>
            <a:r>
              <a:rPr lang="en-US" altLang="zh-CN" baseline="0" dirty="0" err="1"/>
              <a:t>ab</a:t>
            </a:r>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t>72</a:t>
            </a:fld>
            <a:endParaRPr lang="zh-CN" altLang="en-US"/>
          </a:p>
        </p:txBody>
      </p:sp>
    </p:spTree>
    <p:extLst>
      <p:ext uri="{BB962C8B-B14F-4D97-AF65-F5344CB8AC3E}">
        <p14:creationId xmlns:p14="http://schemas.microsoft.com/office/powerpoint/2010/main" val="15821122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类似于 所有子模式的 最后一次匹配值的 输出     模式</a:t>
            </a:r>
            <a:r>
              <a:rPr lang="en-US" altLang="zh-CN" dirty="0"/>
              <a:t>1</a:t>
            </a:r>
            <a:r>
              <a:rPr lang="zh-CN" altLang="en-US" dirty="0"/>
              <a:t>对应分组 </a:t>
            </a:r>
            <a:r>
              <a:rPr lang="en-US" altLang="zh-CN" dirty="0"/>
              <a:t>ab134  ab98723jafjweoruiag abLdd332addg</a:t>
            </a:r>
            <a:r>
              <a:rPr lang="zh-CN" altLang="en-US" dirty="0"/>
              <a:t>   </a:t>
            </a:r>
            <a:r>
              <a:rPr lang="en-US" altLang="zh-CN" dirty="0"/>
              <a:t> </a:t>
            </a:r>
            <a:r>
              <a:rPr lang="en-US" altLang="zh-CN" baseline="0" dirty="0"/>
              <a:t> </a:t>
            </a:r>
            <a:r>
              <a:rPr lang="zh-CN" altLang="en-US" baseline="0" dirty="0"/>
              <a:t>模式</a:t>
            </a:r>
            <a:r>
              <a:rPr lang="en-US" altLang="zh-CN" baseline="0" dirty="0"/>
              <a:t>2</a:t>
            </a:r>
            <a:r>
              <a:rPr lang="zh-CN" altLang="en-US" baseline="0" dirty="0"/>
              <a:t>对应分组 </a:t>
            </a:r>
            <a:r>
              <a:rPr lang="en-US" altLang="zh-CN" baseline="0" dirty="0" err="1"/>
              <a:t>ab</a:t>
            </a:r>
            <a:r>
              <a:rPr lang="en-US" altLang="zh-CN" baseline="0" dirty="0"/>
              <a:t>  </a:t>
            </a:r>
            <a:r>
              <a:rPr lang="en-US" altLang="zh-CN" baseline="0" dirty="0" err="1"/>
              <a:t>ab</a:t>
            </a:r>
            <a:r>
              <a:rPr lang="en-US" altLang="zh-CN" baseline="0" dirty="0"/>
              <a:t>  </a:t>
            </a:r>
            <a:r>
              <a:rPr lang="en-US" altLang="zh-CN" baseline="0" dirty="0" err="1"/>
              <a:t>ab</a:t>
            </a:r>
            <a:r>
              <a:rPr lang="zh-CN" altLang="en-US" baseline="0" dirty="0"/>
              <a:t>     </a:t>
            </a:r>
            <a:r>
              <a:rPr lang="en-US" altLang="zh-CN" baseline="0" dirty="0"/>
              <a:t> </a:t>
            </a:r>
            <a:r>
              <a:rPr lang="zh-CN" altLang="en-US" baseline="0" dirty="0"/>
              <a:t>模式</a:t>
            </a:r>
            <a:r>
              <a:rPr lang="en-US" altLang="zh-CN" baseline="0" dirty="0"/>
              <a:t>3</a:t>
            </a:r>
            <a:r>
              <a:rPr lang="zh-CN" altLang="en-US" baseline="0" dirty="0"/>
              <a:t>对应分组  </a:t>
            </a:r>
            <a:r>
              <a:rPr lang="en-US" altLang="zh-CN" baseline="0" dirty="0" err="1"/>
              <a:t>ab</a:t>
            </a:r>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t>73</a:t>
            </a:fld>
            <a:endParaRPr lang="zh-CN" altLang="en-US"/>
          </a:p>
        </p:txBody>
      </p:sp>
    </p:spTree>
    <p:extLst>
      <p:ext uri="{BB962C8B-B14F-4D97-AF65-F5344CB8AC3E}">
        <p14:creationId xmlns:p14="http://schemas.microsoft.com/office/powerpoint/2010/main" val="14372662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https://blog.mimvp.com/article/28284.html</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82</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85</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注意</a:t>
            </a:r>
            <a:r>
              <a:rPr lang="en-US" altLang="zh-CN" dirty="0"/>
              <a:t>match</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87</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补充</a:t>
            </a:r>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89</a:t>
            </a:fld>
            <a:endParaRPr lang="zh-CN" altLang="en-US"/>
          </a:p>
        </p:txBody>
      </p:sp>
    </p:spTree>
    <p:extLst>
      <p:ext uri="{BB962C8B-B14F-4D97-AF65-F5344CB8AC3E}">
        <p14:creationId xmlns:p14="http://schemas.microsoft.com/office/powerpoint/2010/main" val="10117058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err="1">
                <a:solidFill>
                  <a:srgbClr val="333333"/>
                </a:solidFill>
                <a:effectLst/>
                <a:latin typeface="Helvetica Neue"/>
              </a:rPr>
              <a:t>re.match</a:t>
            </a:r>
            <a:r>
              <a:rPr lang="en-US" altLang="zh-CN" b="0" i="0" dirty="0">
                <a:solidFill>
                  <a:srgbClr val="333333"/>
                </a:solidFill>
                <a:effectLst/>
                <a:latin typeface="Helvetica Neue"/>
              </a:rPr>
              <a:t> </a:t>
            </a:r>
            <a:r>
              <a:rPr lang="zh-CN" altLang="en-US" b="0" i="0" dirty="0">
                <a:solidFill>
                  <a:srgbClr val="333333"/>
                </a:solidFill>
                <a:effectLst/>
                <a:latin typeface="Helvetica Neue"/>
              </a:rPr>
              <a:t>尝试从字符串的起始位置匹配一个模式，如果不是起始位置匹配成功的话，</a:t>
            </a:r>
            <a:r>
              <a:rPr lang="en-US" altLang="zh-CN" b="0" i="0" dirty="0">
                <a:solidFill>
                  <a:srgbClr val="333333"/>
                </a:solidFill>
                <a:effectLst/>
                <a:latin typeface="Helvetica Neue"/>
              </a:rPr>
              <a:t>match()</a:t>
            </a:r>
            <a:r>
              <a:rPr lang="zh-CN" altLang="en-US" b="0" i="0" dirty="0">
                <a:solidFill>
                  <a:srgbClr val="333333"/>
                </a:solidFill>
                <a:effectLst/>
                <a:latin typeface="Helvetica Neue"/>
              </a:rPr>
              <a:t>就返回</a:t>
            </a:r>
            <a:r>
              <a:rPr lang="en-US" altLang="zh-CN" b="0" i="0" dirty="0">
                <a:solidFill>
                  <a:srgbClr val="333333"/>
                </a:solidFill>
                <a:effectLst/>
                <a:latin typeface="Helvetica Neue"/>
              </a:rPr>
              <a:t>none</a:t>
            </a:r>
            <a:r>
              <a:rPr lang="zh-CN" altLang="en-US" b="0" i="0" dirty="0">
                <a:solidFill>
                  <a:srgbClr val="333333"/>
                </a:solidFill>
                <a:effectLst/>
                <a:latin typeface="Helvetica Neue"/>
              </a:rPr>
              <a:t>。</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91</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P107</a:t>
            </a:r>
            <a:r>
              <a:rPr lang="zh-CN" altLang="en-US" dirty="0"/>
              <a:t>最上面，</a:t>
            </a:r>
            <a:r>
              <a:rPr lang="en-US" altLang="zh-CN" dirty="0"/>
              <a:t>P112 </a:t>
            </a:r>
            <a:r>
              <a:rPr lang="zh-CN" altLang="en-US" dirty="0"/>
              <a:t>（？</a:t>
            </a:r>
            <a:r>
              <a:rPr lang="en-US" altLang="zh-CN" dirty="0" err="1"/>
              <a:t>iLmsux</a:t>
            </a:r>
            <a:r>
              <a:rPr lang="zh-CN" altLang="en-US" dirty="0"/>
              <a:t>）</a:t>
            </a:r>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96</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&gt;&gt;&gt; from datetime import datetime &gt;&gt;&gt; now = </a:t>
            </a:r>
            <a:r>
              <a:rPr lang="en-US" altLang="zh-CN" dirty="0" err="1"/>
              <a:t>datetime.now</a:t>
            </a:r>
            <a:r>
              <a:rPr lang="en-US" altLang="zh-CN" dirty="0"/>
              <a:t>() &gt;&gt;&gt; print(str(now)) 2017-04-22 15:41:33.012917 &gt;&gt;&gt; print(</a:t>
            </a:r>
            <a:r>
              <a:rPr lang="en-US" altLang="zh-CN" dirty="0" err="1"/>
              <a:t>repr</a:t>
            </a:r>
            <a:r>
              <a:rPr lang="en-US" altLang="zh-CN" dirty="0"/>
              <a:t>(now)) </a:t>
            </a:r>
            <a:r>
              <a:rPr lang="en-US" altLang="zh-CN" dirty="0" err="1"/>
              <a:t>datetime.datetime</a:t>
            </a:r>
            <a:r>
              <a:rPr lang="en-US" altLang="zh-CN" dirty="0"/>
              <a:t>(2017, 4, 22, 15, 41, 33, 12917)</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t>103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Picture 3"/>
          <p:cNvPicPr>
            <a:picLocks noChangeAspect="1" noChangeArrowheads="1"/>
          </p:cNvPicPr>
          <p:nvPr userDrawn="1"/>
        </p:nvPicPr>
        <p:blipFill>
          <a:blip r:embed="rId2" cstate="print"/>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12"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t>‹#›</a:t>
            </a:fld>
            <a:endParaRPr lang="zh-CN" altLang="en-US" dirty="0"/>
          </a:p>
        </p:txBody>
      </p:sp>
      <p:sp>
        <p:nvSpPr>
          <p:cNvPr id="13"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4"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7775294E-DD0B-4ADA-B2CE-1CB153928A16}" type="datetime1">
              <a:rPr lang="zh-CN" altLang="en-US" smtClean="0"/>
              <a:t>2024/11/19</a:t>
            </a:fld>
            <a:endParaRPr lang="zh-CN" altLang="en-US" dirty="0"/>
          </a:p>
        </p:txBody>
      </p:sp>
    </p:spTree>
  </p:cSld>
  <p:clrMapOvr>
    <a:masterClrMapping/>
  </p:clrMapOvr>
  <p:transition spd="slow" advClick="0">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3" name="内容占位符 2"/>
          <p:cNvSpPr>
            <a:spLocks noGrp="1"/>
          </p:cNvSpPr>
          <p:nvPr>
            <p:ph idx="1"/>
          </p:nvPr>
        </p:nvSpPr>
        <p:spPr>
          <a:xfrm>
            <a:off x="457200" y="1414845"/>
            <a:ext cx="8229600" cy="467845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1C72BF6F-5A02-4831-9FA0-009308AEA2AB}" type="datetime1">
              <a:rPr lang="zh-CN" altLang="en-US" smtClean="0"/>
              <a:t>2024/11/19</a:t>
            </a:fld>
            <a:endParaRPr lang="zh-CN" altLang="en-US" dirty="0"/>
          </a:p>
        </p:txBody>
      </p:sp>
      <p:sp>
        <p:nvSpPr>
          <p:cNvPr id="8"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9"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t>‹#›</a:t>
            </a:fld>
            <a:endParaRPr lang="zh-CN" altLang="en-US" dirty="0"/>
          </a:p>
        </p:txBody>
      </p:sp>
    </p:spTree>
  </p:cSld>
  <p:clrMapOvr>
    <a:masterClrMapping/>
  </p:clrMapOvr>
  <p:transition spd="slow" advClick="0">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9" name="灯片编号占位符 5"/>
          <p:cNvSpPr>
            <a:spLocks noGrp="1"/>
          </p:cNvSpPr>
          <p:nvPr>
            <p:ph type="sldNum" sz="quarter" idx="4"/>
          </p:nvPr>
        </p:nvSpPr>
        <p:spPr>
          <a:xfrm>
            <a:off x="6588224" y="6561732"/>
            <a:ext cx="2133600" cy="296268"/>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t>‹#›</a:t>
            </a:fld>
            <a:endParaRPr lang="zh-CN" altLang="en-US" dirty="0"/>
          </a:p>
        </p:txBody>
      </p:sp>
      <p:sp>
        <p:nvSpPr>
          <p:cNvPr id="10"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A1D426B4-1F25-492E-895D-2E88D5A0EA76}" type="datetime1">
              <a:rPr lang="zh-CN" altLang="en-US" smtClean="0"/>
              <a:t>2024/11/19</a:t>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Tree>
  </p:cSld>
  <p:clrMapOvr>
    <a:masterClrMapping/>
  </p:clrMapOvr>
  <p:transition spd="slow" advClick="0">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6F1D7779-2E5A-4E69-9A41-55C20F0D6C84}" type="datetime1">
              <a:rPr lang="zh-CN" altLang="en-US" smtClean="0"/>
              <a:t>2024/11/19</a:t>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p>
        </p:txBody>
      </p:sp>
      <p:sp>
        <p:nvSpPr>
          <p:cNvPr id="10" name="灯片编号占位符 5"/>
          <p:cNvSpPr>
            <a:spLocks noGrp="1"/>
          </p:cNvSpPr>
          <p:nvPr>
            <p:ph type="sldNum" sz="quarter" idx="4"/>
          </p:nvPr>
        </p:nvSpPr>
        <p:spPr>
          <a:xfrm>
            <a:off x="6588224" y="6525344"/>
            <a:ext cx="2133600" cy="357854"/>
          </a:xfrm>
          <a:prstGeom prst="rect">
            <a:avLst/>
          </a:prstGeom>
        </p:spPr>
        <p:txBody>
          <a:bodyPr vert="horz" lIns="91440" tIns="45720" rIns="91440" bIns="45720" rtlCol="0" anchor="ctr"/>
          <a:lstStyle>
            <a:lvl1pPr algn="r" fontAlgn="auto">
              <a:spcBef>
                <a:spcPts val="0"/>
              </a:spcBef>
              <a:spcAft>
                <a:spcPts val="0"/>
              </a:spcAft>
              <a:defRPr sz="1200" baseline="0" smtClean="0">
                <a:solidFill>
                  <a:schemeClr val="bg1"/>
                </a:solidFill>
                <a:latin typeface="+mn-lt"/>
                <a:ea typeface="+mn-ea"/>
              </a:defRPr>
            </a:lvl1pPr>
          </a:lstStyle>
          <a:p>
            <a:pPr>
              <a:defRPr/>
            </a:pPr>
            <a:fld id="{6EA7BA5E-4115-4796-A8C9-4698036AB88B}" type="slidenum">
              <a:rPr lang="zh-CN" altLang="en-US" smtClean="0"/>
              <a:t>‹#›</a:t>
            </a:fld>
            <a:endParaRPr lang="zh-CN" altLang="en-US" dirty="0"/>
          </a:p>
        </p:txBody>
      </p:sp>
    </p:spTree>
  </p:cSld>
  <p:clrMapOvr>
    <a:masterClrMapping/>
  </p:clrMapOvr>
  <p:transition spd="slow" advClick="0">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81B78A00-4E32-4070-A0D6-3EA0A7FC5736}" type="datetime1">
              <a:rPr lang="zh-CN" altLang="en-US" smtClean="0"/>
              <a:t>2024/11/19</a:t>
            </a:fld>
            <a:endParaRPr lang="zh-CN" altLang="en-US" dirty="0"/>
          </a:p>
        </p:txBody>
      </p:sp>
      <p:sp>
        <p:nvSpPr>
          <p:cNvPr id="11" name="页脚占位符 4"/>
          <p:cNvSpPr>
            <a:spLocks noGrp="1"/>
          </p:cNvSpPr>
          <p:nvPr>
            <p:ph type="ftr" sz="quarter" idx="11"/>
          </p:nvPr>
        </p:nvSpPr>
        <p:spPr>
          <a:xfrm>
            <a:off x="2915816" y="6525344"/>
            <a:ext cx="3456384" cy="328825"/>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2" name="灯片编号占位符 5"/>
          <p:cNvSpPr>
            <a:spLocks noGrp="1"/>
          </p:cNvSpPr>
          <p:nvPr>
            <p:ph type="sldNum" sz="quarter" idx="12"/>
          </p:nvPr>
        </p:nvSpPr>
        <p:spPr>
          <a:xfrm>
            <a:off x="6660232" y="6525344"/>
            <a:ext cx="2133600" cy="299797"/>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t>‹#›</a:t>
            </a:fld>
            <a:endParaRPr lang="zh-CN" altLang="en-US" dirty="0"/>
          </a:p>
        </p:txBody>
      </p:sp>
    </p:spTree>
  </p:cSld>
  <p:clrMapOvr>
    <a:masterClrMapping/>
  </p:clrMapOvr>
  <p:transition spd="slow" advClick="0">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日期占位符 3"/>
          <p:cNvSpPr>
            <a:spLocks noGrp="1"/>
          </p:cNvSpPr>
          <p:nvPr>
            <p:ph type="dt" sz="half" idx="10"/>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5082C15C-15ED-4FE8-8379-DE4D565199F6}" type="datetime1">
              <a:rPr lang="zh-CN" altLang="en-US" smtClean="0"/>
              <a:t>2024/11/19</a:t>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3"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t>‹#›</a:t>
            </a:fld>
            <a:endParaRPr lang="zh-CN" altLang="en-US" dirty="0"/>
          </a:p>
        </p:txBody>
      </p:sp>
    </p:spTree>
  </p:cSld>
  <p:clrMapOvr>
    <a:masterClrMapping/>
  </p:clrMapOvr>
  <p:transition spd="slow" advClick="0">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D3DDD7E9-E98D-4A5C-AACB-CCD0B19EDE16}" type="datetime1">
              <a:rPr lang="zh-CN" altLang="en-US" smtClean="0"/>
              <a:t>2024/11/19</a:t>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p>
        </p:txBody>
      </p:sp>
      <p:sp>
        <p:nvSpPr>
          <p:cNvPr id="10" name="灯片编号占位符 5"/>
          <p:cNvSpPr>
            <a:spLocks noGrp="1"/>
          </p:cNvSpPr>
          <p:nvPr>
            <p:ph type="sldNum" sz="quarter" idx="4"/>
          </p:nvPr>
        </p:nvSpPr>
        <p:spPr>
          <a:xfrm>
            <a:off x="6588224" y="6525344"/>
            <a:ext cx="2133600" cy="314311"/>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t>‹#›</a:t>
            </a:fld>
            <a:endParaRPr lang="zh-CN" altLang="en-US" dirty="0"/>
          </a:p>
        </p:txBody>
      </p:sp>
    </p:spTree>
  </p:cSld>
  <p:clrMapOvr>
    <a:masterClrMapping/>
  </p:clrMapOvr>
  <p:transition spd="slow" advClick="0">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2"/>
          </p:nvPr>
        </p:nvSpPr>
        <p:spPr>
          <a:xfrm>
            <a:off x="395536" y="6525344"/>
            <a:ext cx="2133600" cy="314311"/>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287177B7-0B30-4C6E-9665-BE663F5CA5CA}" type="datetime1">
              <a:rPr lang="zh-CN" altLang="en-US" smtClean="0"/>
              <a:t>2024/11/19</a:t>
            </a:fld>
            <a:endParaRPr lang="zh-CN" altLang="en-US" dirty="0"/>
          </a:p>
        </p:txBody>
      </p:sp>
      <p:sp>
        <p:nvSpPr>
          <p:cNvPr id="8" name="页脚占位符 4"/>
          <p:cNvSpPr>
            <a:spLocks noGrp="1"/>
          </p:cNvSpPr>
          <p:nvPr>
            <p:ph type="ftr" sz="quarter" idx="3"/>
          </p:nvPr>
        </p:nvSpPr>
        <p:spPr>
          <a:xfrm>
            <a:off x="2843808" y="6525344"/>
            <a:ext cx="3456384" cy="300360"/>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a:t>特征选择研究</a:t>
            </a:r>
            <a:endParaRPr lang="zh-CN" altLang="en-US" dirty="0"/>
          </a:p>
        </p:txBody>
      </p:sp>
      <p:sp>
        <p:nvSpPr>
          <p:cNvPr id="9" name="灯片编号占位符 5"/>
          <p:cNvSpPr>
            <a:spLocks noGrp="1"/>
          </p:cNvSpPr>
          <p:nvPr>
            <p:ph type="sldNum" sz="quarter" idx="4"/>
          </p:nvPr>
        </p:nvSpPr>
        <p:spPr>
          <a:xfrm>
            <a:off x="6660232" y="6525344"/>
            <a:ext cx="2133600" cy="332656"/>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t>‹#›</a:t>
            </a:fld>
            <a:endParaRPr lang="zh-CN" altLang="en-US" dirty="0"/>
          </a:p>
        </p:txBody>
      </p:sp>
    </p:spTree>
  </p:cSld>
  <p:clrMapOvr>
    <a:masterClrMapping/>
  </p:clrMapOvr>
  <p:transition spd="slow" advClick="0">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87BCA0E-3945-47E9-A9AA-27ACE9347398}" type="datetimeFigureOut">
              <a:rPr lang="zh-CN" altLang="en-US" smtClean="0"/>
              <a:t>2024/11/19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B217210-6342-4CBD-AECC-FD7487F24651}" type="slidenum">
              <a:rPr lang="zh-CN" altLang="en-US" smtClean="0"/>
              <a:t>‹#›</a:t>
            </a:fld>
            <a:endParaRPr lang="zh-CN" altLang="en-US"/>
          </a:p>
        </p:txBody>
      </p:sp>
    </p:spTree>
    <p:extLst>
      <p:ext uri="{BB962C8B-B14F-4D97-AF65-F5344CB8AC3E}">
        <p14:creationId xmlns:p14="http://schemas.microsoft.com/office/powerpoint/2010/main" val="3098575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031" name="图片 2"/>
          <p:cNvPicPr>
            <a:picLocks noChangeAspect="1"/>
          </p:cNvPicPr>
          <p:nvPr userDrawn="1"/>
        </p:nvPicPr>
        <p:blipFill>
          <a:blip r:embed="rId11" cstate="print"/>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p>
        </p:txBody>
      </p:sp>
      <p:pic>
        <p:nvPicPr>
          <p:cNvPr id="2" name="图片 1"/>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03D94200-E123-495C-A0D6-9DE4BD160323}" type="datetime1">
              <a:rPr lang="zh-CN" altLang="en-US" smtClean="0"/>
              <a:t>2024/11/19</a:t>
            </a:fld>
            <a:endParaRPr lang="zh-CN" altLang="en-US" dirty="0"/>
          </a:p>
        </p:txBody>
      </p:sp>
      <p:sp>
        <p:nvSpPr>
          <p:cNvPr id="14"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5"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slow" advClick="0">
    <p:pull dir="d"/>
  </p:transition>
  <p:hf hdr="0" ftr="0" dt="0"/>
  <p:txStyles>
    <p:titleStyle>
      <a:lvl1pPr algn="l" rtl="0" fontAlgn="base">
        <a:spcBef>
          <a:spcPct val="0"/>
        </a:spcBef>
        <a:spcAft>
          <a:spcPct val="0"/>
        </a:spcAft>
        <a:defRPr sz="3600" b="1" kern="1200" baseline="0">
          <a:solidFill>
            <a:schemeClr val="tx1"/>
          </a:solidFill>
          <a:latin typeface="Times New Roman" panose="02020603050405020304" pitchFamily="18" charset="0"/>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 Target="slide103.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image" Target="../media/image33.tmp"/><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slideLayout" Target="../slideLayouts/slideLayout9.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s>
</file>

<file path=ppt/slides/_rels/slide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tags" Target="../tags/tag24.xml"/><Relationship Id="rId18" Type="http://schemas.openxmlformats.org/officeDocument/2006/relationships/tags" Target="../tags/tag29.xml"/><Relationship Id="rId3" Type="http://schemas.openxmlformats.org/officeDocument/2006/relationships/tags" Target="../tags/tag14.xml"/><Relationship Id="rId21" Type="http://schemas.openxmlformats.org/officeDocument/2006/relationships/image" Target="../media/image33.tmp"/><Relationship Id="rId7" Type="http://schemas.openxmlformats.org/officeDocument/2006/relationships/tags" Target="../tags/tag18.xml"/><Relationship Id="rId12" Type="http://schemas.openxmlformats.org/officeDocument/2006/relationships/tags" Target="../tags/tag23.xml"/><Relationship Id="rId17" Type="http://schemas.openxmlformats.org/officeDocument/2006/relationships/tags" Target="../tags/tag28.xml"/><Relationship Id="rId2" Type="http://schemas.openxmlformats.org/officeDocument/2006/relationships/tags" Target="../tags/tag13.xml"/><Relationship Id="rId16" Type="http://schemas.openxmlformats.org/officeDocument/2006/relationships/tags" Target="../tags/tag27.xml"/><Relationship Id="rId20" Type="http://schemas.openxmlformats.org/officeDocument/2006/relationships/slideLayout" Target="../slideLayouts/slideLayout9.xml"/><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tags" Target="../tags/tag22.xml"/><Relationship Id="rId5" Type="http://schemas.openxmlformats.org/officeDocument/2006/relationships/tags" Target="../tags/tag16.xml"/><Relationship Id="rId15" Type="http://schemas.openxmlformats.org/officeDocument/2006/relationships/tags" Target="../tags/tag26.xml"/><Relationship Id="rId10" Type="http://schemas.openxmlformats.org/officeDocument/2006/relationships/tags" Target="../tags/tag21.xml"/><Relationship Id="rId19" Type="http://schemas.openxmlformats.org/officeDocument/2006/relationships/tags" Target="../tags/tag30.xml"/><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tags" Target="../tags/tag25.xml"/></Relationships>
</file>

<file path=ppt/slides/_rels/slide5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3.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20.xml"/><Relationship Id="rId1" Type="http://schemas.openxmlformats.org/officeDocument/2006/relationships/slideLayout" Target="../slideLayouts/slideLayout9.xml"/><Relationship Id="rId4" Type="http://schemas.openxmlformats.org/officeDocument/2006/relationships/image" Target="../media/image10.jpe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image" Target="../media/image10.jpeg"/></Relationships>
</file>

<file path=ppt/slides/_rels/slide55.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slideLayout" Target="../slideLayouts/slideLayout9.xml"/><Relationship Id="rId3" Type="http://schemas.openxmlformats.org/officeDocument/2006/relationships/tags" Target="../tags/tag35.xml"/><Relationship Id="rId7" Type="http://schemas.openxmlformats.org/officeDocument/2006/relationships/tags" Target="../tags/tag39.xml"/><Relationship Id="rId12" Type="http://schemas.openxmlformats.org/officeDocument/2006/relationships/tags" Target="../tags/tag44.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tags" Target="../tags/tag43.xml"/><Relationship Id="rId5" Type="http://schemas.openxmlformats.org/officeDocument/2006/relationships/tags" Target="../tags/tag37.xml"/><Relationship Id="rId10" Type="http://schemas.openxmlformats.org/officeDocument/2006/relationships/tags" Target="../tags/tag42.xml"/><Relationship Id="rId4" Type="http://schemas.openxmlformats.org/officeDocument/2006/relationships/tags" Target="../tags/tag36.xml"/><Relationship Id="rId9" Type="http://schemas.openxmlformats.org/officeDocument/2006/relationships/tags" Target="../tags/tag41.xml"/><Relationship Id="rId14" Type="http://schemas.openxmlformats.org/officeDocument/2006/relationships/image" Target="../media/image10.jpeg"/></Relationships>
</file>

<file path=ppt/slides/_rels/slide5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9.xml"/><Relationship Id="rId1" Type="http://schemas.openxmlformats.org/officeDocument/2006/relationships/tags" Target="../tags/tag45.xml"/></Relationships>
</file>

<file path=ppt/slides/_rels/slide57.xml.rels><?xml version="1.0" encoding="UTF-8" standalone="yes"?>
<Relationships xmlns="http://schemas.openxmlformats.org/package/2006/relationships"><Relationship Id="rId3" Type="http://schemas.openxmlformats.org/officeDocument/2006/relationships/hyperlink" Target="http://)/?(www\.)?python\.org"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5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6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6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6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hyperlink" Target="file:///\\1" TargetMode="External"/></Relationships>
</file>

<file path=ppt/slides/_rels/slide6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6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69.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61.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7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7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0.jpeg"/><Relationship Id="rId7" Type="http://schemas.openxmlformats.org/officeDocument/2006/relationships/image" Target="../media/image72.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86.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6.png"/><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2.png"/><Relationship Id="rId4" Type="http://schemas.openxmlformats.org/officeDocument/2006/relationships/image" Target="../media/image74.png"/></Relationships>
</file>

<file path=ppt/slides/_rels/slide8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8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9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9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9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hyperlink" Target="https://docs.python.org/zh-cn/3.9/library/stdtypes.html#textseq"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104.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image" Target="../media/image85.jpeg"/><Relationship Id="rId1" Type="http://schemas.openxmlformats.org/officeDocument/2006/relationships/slideLayout" Target="../slideLayouts/slideLayout3.xml"/><Relationship Id="rId4" Type="http://schemas.openxmlformats.org/officeDocument/2006/relationships/image" Target="../media/image8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85279" y="43542"/>
            <a:ext cx="1423266" cy="612000"/>
          </a:xfrm>
          <a:prstGeom prst="rect">
            <a:avLst/>
          </a:prstGeom>
        </p:spPr>
      </p:pic>
      <p:sp>
        <p:nvSpPr>
          <p:cNvPr id="7" name="矩形 6"/>
          <p:cNvSpPr/>
          <p:nvPr/>
        </p:nvSpPr>
        <p:spPr>
          <a:xfrm>
            <a:off x="971600" y="1052736"/>
            <a:ext cx="7560840" cy="5858014"/>
          </a:xfrm>
          <a:prstGeom prst="rect">
            <a:avLst/>
          </a:prstGeom>
        </p:spPr>
        <p:txBody>
          <a:bodyPr wrap="square">
            <a:spAutoFit/>
          </a:bodyPr>
          <a:lstStyle/>
          <a:p>
            <a:pPr algn="ctr" eaLnBrk="1" hangingPunct="1">
              <a:buFont typeface="Wingdings" panose="05000000000000000000" pitchFamily="2" charset="2"/>
              <a:buNone/>
            </a:pPr>
            <a:r>
              <a:rPr lang="en-US" altLang="zh-CN" sz="3600" b="1" dirty="0">
                <a:latin typeface="Comic Sans MS" panose="030F0702030302020204" pitchFamily="66" charset="0"/>
              </a:rPr>
              <a:t>Python</a:t>
            </a:r>
            <a:r>
              <a:rPr lang="zh-CN" altLang="en-US" sz="3600" b="1" dirty="0">
                <a:latin typeface="Comic Sans MS" panose="030F0702030302020204" pitchFamily="66" charset="0"/>
              </a:rPr>
              <a:t>语言与系统设计</a:t>
            </a:r>
          </a:p>
          <a:p>
            <a:pPr algn="ctr" eaLnBrk="1" hangingPunct="1">
              <a:buFont typeface="Wingdings" panose="05000000000000000000" pitchFamily="2" charset="2"/>
              <a:buNone/>
            </a:pPr>
            <a:r>
              <a:rPr lang="zh-CN" altLang="en-US" sz="1400" b="1" dirty="0">
                <a:latin typeface="Comic Sans MS" panose="030F0702030302020204" pitchFamily="66" charset="0"/>
              </a:rPr>
              <a:t>（</a:t>
            </a:r>
            <a:r>
              <a:rPr lang="zh-CN" altLang="en-US" sz="1400" b="1" dirty="0">
                <a:solidFill>
                  <a:schemeClr val="accent2"/>
                </a:solidFill>
                <a:latin typeface="Comic Sans MS" panose="030F0702030302020204" pitchFamily="66" charset="0"/>
              </a:rPr>
              <a:t>字符串与正则表达式</a:t>
            </a:r>
            <a:r>
              <a:rPr lang="zh-CN" altLang="en-US" sz="1400" b="1" dirty="0">
                <a:latin typeface="Comic Sans MS" panose="030F0702030302020204" pitchFamily="66" charset="0"/>
              </a:rPr>
              <a:t>）</a:t>
            </a:r>
          </a:p>
          <a:p>
            <a:pPr algn="ctr" eaLnBrk="1" hangingPunct="1">
              <a:buFont typeface="Wingdings" panose="05000000000000000000" pitchFamily="2" charset="2"/>
              <a:buNone/>
            </a:pPr>
            <a:r>
              <a:rPr lang="en-US" altLang="zh-CN" sz="3200" dirty="0">
                <a:latin typeface="Comic Sans MS" panose="030F0702030302020204" pitchFamily="66" charset="0"/>
                <a:ea typeface="MS PMincho" panose="02020600040205080304" pitchFamily="18" charset="-128"/>
              </a:rPr>
              <a:t> </a:t>
            </a:r>
            <a:r>
              <a:rPr lang="en-US" altLang="zh-CN" sz="3200" b="1" dirty="0">
                <a:solidFill>
                  <a:schemeClr val="tx2"/>
                </a:solidFill>
                <a:latin typeface="Garamond" panose="02020404030301010803" pitchFamily="18" charset="0"/>
                <a:ea typeface="方正舒体" panose="02010601030101010101" pitchFamily="2" charset="-122"/>
              </a:rPr>
              <a:t>Python Language &amp; System Design</a:t>
            </a: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r>
              <a:rPr lang="zh-CN" altLang="en-US" sz="3200" b="1" dirty="0">
                <a:solidFill>
                  <a:srgbClr val="FF0000"/>
                </a:solidFill>
                <a:latin typeface="Comic Sans MS" panose="030F0702030302020204" pitchFamily="66" charset="0"/>
              </a:rPr>
              <a:t>第</a:t>
            </a:r>
            <a:r>
              <a:rPr lang="en-US" altLang="zh-CN" sz="3200" b="1" dirty="0">
                <a:solidFill>
                  <a:srgbClr val="FF0000"/>
                </a:solidFill>
                <a:latin typeface="Comic Sans MS" panose="030F0702030302020204" pitchFamily="66" charset="0"/>
              </a:rPr>
              <a:t>4</a:t>
            </a:r>
            <a:r>
              <a:rPr lang="zh-CN" altLang="en-US" sz="3200" b="1" dirty="0">
                <a:solidFill>
                  <a:srgbClr val="FF0000"/>
                </a:solidFill>
                <a:latin typeface="Comic Sans MS" panose="030F0702030302020204" pitchFamily="66" charset="0"/>
              </a:rPr>
              <a:t>章 字符串与正则表达式</a:t>
            </a:r>
            <a:endParaRPr lang="en-US" altLang="zh-CN" sz="3200" b="1" dirty="0">
              <a:solidFill>
                <a:srgbClr val="FF0000"/>
              </a:solidFill>
              <a:latin typeface="Comic Sans MS" panose="030F0702030302020204" pitchFamily="66" charset="0"/>
            </a:endParaRPr>
          </a:p>
          <a:p>
            <a:pPr algn="ctr" eaLnBrk="1" hangingPunct="1">
              <a:buFont typeface="Wingdings" panose="05000000000000000000" pitchFamily="2" charset="2"/>
              <a:buNone/>
            </a:pPr>
            <a:r>
              <a:rPr lang="en-US" altLang="zh-CN" sz="3200" b="1" dirty="0">
                <a:solidFill>
                  <a:srgbClr val="FF0000"/>
                </a:solidFill>
                <a:latin typeface="Comic Sans MS" panose="030F0702030302020204" pitchFamily="66" charset="0"/>
              </a:rPr>
              <a:t>(String &amp; Regular Expression)</a:t>
            </a: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zh-CN" altLang="en-US"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a:solidFill>
                  <a:schemeClr val="tx2"/>
                </a:solidFill>
                <a:latin typeface="宋体" panose="02010600030101010101" pitchFamily="2" charset="-122"/>
              </a:rPr>
              <a:t>Python</a:t>
            </a:r>
            <a:r>
              <a:rPr lang="zh-CN" altLang="en-US" sz="2600" b="1" dirty="0">
                <a:solidFill>
                  <a:schemeClr val="tx2"/>
                </a:solidFill>
                <a:latin typeface="宋体" panose="02010600030101010101" pitchFamily="2" charset="-122"/>
              </a:rPr>
              <a:t>语言与系统设计课程组</a:t>
            </a: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rgbClr val="0000FF"/>
                </a:solidFill>
                <a:latin typeface="宋体" panose="02010600030101010101" pitchFamily="2" charset="-122"/>
              </a:rPr>
              <a:t>李培培 马学森 李俊照</a:t>
            </a:r>
            <a:endParaRPr lang="en-US" altLang="zh-CN" sz="2600" b="1" dirty="0">
              <a:solidFill>
                <a:srgbClr val="0000FF"/>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 </a:t>
            </a:r>
          </a:p>
          <a:p>
            <a:pPr algn="ctr">
              <a:lnSpc>
                <a:spcPts val="2000"/>
              </a:lnSpc>
            </a:pPr>
            <a:r>
              <a:rPr lang="zh-CN" altLang="en-US" sz="2600" b="1" dirty="0">
                <a:solidFill>
                  <a:schemeClr val="tx2"/>
                </a:solidFill>
                <a:latin typeface="宋体" panose="02010600030101010101" pitchFamily="2" charset="-122"/>
              </a:rPr>
              <a:t>合肥工业大学 计算机与信息学院  </a:t>
            </a: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p:txBody>
      </p:sp>
      <p:pic>
        <p:nvPicPr>
          <p:cNvPr id="10" name="图片 307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6256" y="3789040"/>
            <a:ext cx="2049462"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0950153"/>
      </p:ext>
    </p:extLst>
  </p:cSld>
  <p:clrMapOvr>
    <a:masterClrMapping/>
  </p:clrMapOvr>
  <p:transition spd="slow" advClick="0" advTm="515">
    <p:pull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引言</a:t>
            </a:r>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2</a:t>
            </a:fld>
            <a:endParaRPr lang="zh-CN" altLang="en-US" dirty="0"/>
          </a:p>
        </p:txBody>
      </p:sp>
      <p:sp>
        <p:nvSpPr>
          <p:cNvPr id="7" name="矩形 6"/>
          <p:cNvSpPr/>
          <p:nvPr/>
        </p:nvSpPr>
        <p:spPr>
          <a:xfrm>
            <a:off x="1331640" y="1183525"/>
            <a:ext cx="7056784" cy="369332"/>
          </a:xfrm>
          <a:prstGeom prst="rect">
            <a:avLst/>
          </a:prstGeom>
        </p:spPr>
        <p:txBody>
          <a:bodyPr wrap="square">
            <a:spAutoFit/>
          </a:bodyPr>
          <a:lstStyle/>
          <a:p>
            <a:r>
              <a:rPr lang="zh-CN" altLang="en-US" kern="0" dirty="0">
                <a:solidFill>
                  <a:srgbClr val="3333FF"/>
                </a:solidFill>
                <a:ea typeface="微软雅黑" panose="020B0503020204020204" pitchFamily="34" charset="-122"/>
                <a:cs typeface="宋体" panose="02010600030101010101" pitchFamily="2" charset="-122"/>
              </a:rPr>
              <a:t>给定一篇文本</a:t>
            </a:r>
            <a:r>
              <a:rPr lang="zh-CN" altLang="zh-CN" kern="0" dirty="0">
                <a:solidFill>
                  <a:srgbClr val="3333FF"/>
                </a:solidFill>
                <a:ea typeface="微软雅黑" panose="020B0503020204020204" pitchFamily="34" charset="-122"/>
                <a:cs typeface="宋体" panose="02010600030101010101" pitchFamily="2" charset="-122"/>
              </a:rPr>
              <a:t>，统计每个字符出现的次数</a:t>
            </a:r>
            <a:r>
              <a:rPr lang="zh-CN" altLang="en-US" kern="0" dirty="0">
                <a:solidFill>
                  <a:srgbClr val="3333FF"/>
                </a:solidFill>
                <a:ea typeface="微软雅黑" panose="020B0503020204020204" pitchFamily="34" charset="-122"/>
                <a:cs typeface="宋体" panose="02010600030101010101" pitchFamily="2" charset="-122"/>
              </a:rPr>
              <a:t>？</a:t>
            </a:r>
            <a:endParaRPr lang="en-US" altLang="zh-CN" kern="0" dirty="0">
              <a:solidFill>
                <a:srgbClr val="3333FF"/>
              </a:solidFill>
              <a:ea typeface="微软雅黑" panose="020B0503020204020204" pitchFamily="34" charset="-122"/>
              <a:cs typeface="宋体" panose="02010600030101010101" pitchFamily="2" charset="-122"/>
            </a:endParaRPr>
          </a:p>
        </p:txBody>
      </p:sp>
      <p:pic>
        <p:nvPicPr>
          <p:cNvPr id="8" name="图片 1"/>
          <p:cNvPicPr>
            <a:picLocks noChangeAspect="1" noChangeArrowheads="1"/>
          </p:cNvPicPr>
          <p:nvPr/>
        </p:nvPicPr>
        <p:blipFill>
          <a:blip r:embed="rId3" cstate="print">
            <a:clrChange>
              <a:clrFrom>
                <a:srgbClr val="FDFDFD"/>
              </a:clrFrom>
              <a:clrTo>
                <a:srgbClr val="FDFDFD">
                  <a:alpha val="0"/>
                </a:srgbClr>
              </a:clrTo>
            </a:clrChange>
          </a:blip>
          <a:srcRect/>
          <a:stretch>
            <a:fillRect/>
          </a:stretch>
        </p:blipFill>
        <p:spPr bwMode="auto">
          <a:xfrm>
            <a:off x="808299" y="1056807"/>
            <a:ext cx="513022" cy="596609"/>
          </a:xfrm>
          <a:prstGeom prst="rect">
            <a:avLst/>
          </a:prstGeom>
          <a:noFill/>
          <a:ln w="9525">
            <a:noFill/>
            <a:miter lim="800000"/>
            <a:headEnd/>
            <a:tailEnd/>
          </a:ln>
        </p:spPr>
      </p:pic>
      <p:sp>
        <p:nvSpPr>
          <p:cNvPr id="10" name="矩形 9"/>
          <p:cNvSpPr/>
          <p:nvPr/>
        </p:nvSpPr>
        <p:spPr>
          <a:xfrm>
            <a:off x="2411760" y="1628020"/>
            <a:ext cx="2723823" cy="646331"/>
          </a:xfrm>
          <a:prstGeom prst="rect">
            <a:avLst/>
          </a:prstGeom>
        </p:spPr>
        <p:txBody>
          <a:bodyPr wrap="none">
            <a:spAutoFit/>
          </a:bodyPr>
          <a:lstStyle/>
          <a:p>
            <a:r>
              <a:rPr lang="zh-CN" altLang="en-US" dirty="0">
                <a:solidFill>
                  <a:srgbClr val="FF0000"/>
                </a:solidFill>
                <a:latin typeface="宋体" panose="02010600030101010101" pitchFamily="2" charset="-122"/>
                <a:ea typeface="宋体" panose="02010600030101010101" pitchFamily="2" charset="-122"/>
              </a:rPr>
              <a:t>勤奋、严谨、求实、创新</a:t>
            </a:r>
            <a:endParaRPr lang="zh-CN" altLang="en-US" dirty="0">
              <a:solidFill>
                <a:srgbClr val="FF0000"/>
              </a:solidFill>
            </a:endParaRPr>
          </a:p>
          <a:p>
            <a:r>
              <a:rPr lang="zh-CN" altLang="en-US" dirty="0">
                <a:solidFill>
                  <a:srgbClr val="FF0000"/>
                </a:solidFill>
                <a:latin typeface="宋体" panose="02010600030101010101" pitchFamily="2" charset="-122"/>
                <a:ea typeface="宋体" panose="02010600030101010101" pitchFamily="2" charset="-122"/>
              </a:rPr>
              <a:t>厚德、笃学、崇实、尚新</a:t>
            </a:r>
            <a:endParaRPr lang="zh-CN" altLang="en-US" dirty="0">
              <a:solidFill>
                <a:srgbClr val="FF0000"/>
              </a:solidFill>
            </a:endParaRPr>
          </a:p>
        </p:txBody>
      </p:sp>
      <p:grpSp>
        <p:nvGrpSpPr>
          <p:cNvPr id="14" name="组合 13"/>
          <p:cNvGrpSpPr/>
          <p:nvPr/>
        </p:nvGrpSpPr>
        <p:grpSpPr>
          <a:xfrm>
            <a:off x="278168" y="2492896"/>
            <a:ext cx="8408632" cy="3785652"/>
            <a:chOff x="278168" y="2492896"/>
            <a:chExt cx="8408632" cy="3785652"/>
          </a:xfrm>
        </p:grpSpPr>
        <p:sp>
          <p:nvSpPr>
            <p:cNvPr id="12" name="矩形 11"/>
            <p:cNvSpPr/>
            <p:nvPr/>
          </p:nvSpPr>
          <p:spPr>
            <a:xfrm>
              <a:off x="1843971" y="2492896"/>
              <a:ext cx="6842829" cy="3785652"/>
            </a:xfrm>
            <a:prstGeom prst="rect">
              <a:avLst/>
            </a:prstGeom>
          </p:spPr>
          <p:txBody>
            <a:bodyPr wrap="square">
              <a:spAutoFit/>
            </a:bodyPr>
            <a:lstStyle/>
            <a:p>
              <a:pPr algn="just">
                <a:lnSpc>
                  <a:spcPct val="150000"/>
                </a:lnSpc>
              </a:pPr>
              <a:r>
                <a:rPr lang="zh-CN" altLang="en-US" sz="1600" b="1" dirty="0" smtClean="0"/>
                <a:t>       中国</a:t>
              </a:r>
              <a:r>
                <a:rPr lang="zh-CN" altLang="en-US" sz="1600" b="1" dirty="0"/>
                <a:t>梦</a:t>
              </a:r>
              <a:r>
                <a:rPr lang="zh-CN" altLang="en-US" sz="1600" dirty="0"/>
                <a:t>，是中国共产党第十八次全国代表大会召开</a:t>
              </a:r>
              <a:r>
                <a:rPr lang="zh-CN" altLang="en-US" sz="1600" dirty="0" smtClean="0"/>
                <a:t>以来，</a:t>
              </a:r>
              <a:r>
                <a:rPr lang="zh-CN" altLang="en-US" sz="1600" dirty="0"/>
                <a:t>习近平总书记所提出的重要指导思想和重要执政理念，正式提出于</a:t>
              </a:r>
              <a:r>
                <a:rPr lang="en-US" altLang="zh-CN" sz="1600" dirty="0"/>
                <a:t>2012</a:t>
              </a:r>
              <a:r>
                <a:rPr lang="zh-CN" altLang="en-US" sz="1600" dirty="0"/>
                <a:t>年</a:t>
              </a:r>
              <a:r>
                <a:rPr lang="en-US" altLang="zh-CN" sz="1600" dirty="0"/>
                <a:t>11</a:t>
              </a:r>
              <a:r>
                <a:rPr lang="zh-CN" altLang="en-US" sz="1600" dirty="0"/>
                <a:t>月</a:t>
              </a:r>
              <a:r>
                <a:rPr lang="en-US" altLang="zh-CN" sz="1600" dirty="0"/>
                <a:t>29</a:t>
              </a:r>
              <a:r>
                <a:rPr lang="zh-CN" altLang="en-US" sz="1600" dirty="0" smtClean="0"/>
                <a:t>日。</a:t>
              </a:r>
              <a:endParaRPr lang="en-US" altLang="zh-CN" sz="1600" dirty="0" smtClean="0"/>
            </a:p>
            <a:p>
              <a:pPr algn="just">
                <a:lnSpc>
                  <a:spcPct val="150000"/>
                </a:lnSpc>
              </a:pPr>
              <a:r>
                <a:rPr lang="zh-CN" altLang="en-US" sz="1600" dirty="0" smtClean="0"/>
                <a:t>       习</a:t>
              </a:r>
              <a:r>
                <a:rPr lang="zh-CN" altLang="en-US" sz="1600" dirty="0"/>
                <a:t>总书记把“中国梦”定义为“实现中华民族伟大复兴，就是中华民族近代以来最伟大梦想”，并且表示这个梦“一定能实现”</a:t>
              </a:r>
              <a:r>
                <a:rPr lang="zh-CN" altLang="en-US" sz="1600" dirty="0" smtClean="0"/>
                <a:t>。</a:t>
              </a:r>
              <a:endParaRPr lang="en-US" altLang="zh-CN" sz="1600" dirty="0" smtClean="0"/>
            </a:p>
            <a:p>
              <a:pPr algn="just">
                <a:lnSpc>
                  <a:spcPct val="150000"/>
                </a:lnSpc>
              </a:pPr>
              <a:r>
                <a:rPr lang="zh-CN" altLang="en-US" sz="1600" dirty="0" smtClean="0"/>
                <a:t>     “中国梦”</a:t>
              </a:r>
              <a:r>
                <a:rPr lang="zh-CN" altLang="en-US" sz="1600" dirty="0"/>
                <a:t>的核心目标也可以概括为“两个一百年”的目标，也就是：到</a:t>
              </a:r>
              <a:r>
                <a:rPr lang="en-US" altLang="zh-CN" sz="1600" dirty="0"/>
                <a:t>2021</a:t>
              </a:r>
              <a:r>
                <a:rPr lang="zh-CN" altLang="en-US" sz="1600" dirty="0"/>
                <a:t>年中国共产党成立</a:t>
              </a:r>
              <a:r>
                <a:rPr lang="en-US" altLang="zh-CN" sz="1600" dirty="0"/>
                <a:t>100</a:t>
              </a:r>
              <a:r>
                <a:rPr lang="zh-CN" altLang="en-US" sz="1600" dirty="0"/>
                <a:t>周年和</a:t>
              </a:r>
              <a:r>
                <a:rPr lang="en-US" altLang="zh-CN" sz="1600" dirty="0"/>
                <a:t>2049</a:t>
              </a:r>
              <a:r>
                <a:rPr lang="zh-CN" altLang="en-US" sz="1600" dirty="0"/>
                <a:t>年中华人民共和国成立</a:t>
              </a:r>
              <a:r>
                <a:rPr lang="en-US" altLang="zh-CN" sz="1600" dirty="0"/>
                <a:t>100</a:t>
              </a:r>
              <a:r>
                <a:rPr lang="zh-CN" altLang="en-US" sz="1600" dirty="0"/>
                <a:t>周年时，逐步并最终顺利实现中华民族的伟大复兴，具体表现是国家富强、民族振兴、人民幸福，实现途径是走中国特色的社会主义道路、坚持中国特色社会主义理论体系、弘扬民族精神、凝聚中国力量，实施手段是政治、经济、文化、社会、生态文明五位一体建设。</a:t>
              </a:r>
            </a:p>
          </p:txBody>
        </p:sp>
        <p:pic>
          <p:nvPicPr>
            <p:cNvPr id="13" name="图片 12"/>
            <p:cNvPicPr>
              <a:picLocks noChangeAspect="1"/>
            </p:cNvPicPr>
            <p:nvPr/>
          </p:nvPicPr>
          <p:blipFill>
            <a:blip r:embed="rId4"/>
            <a:stretch>
              <a:fillRect/>
            </a:stretch>
          </p:blipFill>
          <p:spPr>
            <a:xfrm>
              <a:off x="278168" y="2564904"/>
              <a:ext cx="1573283" cy="1109164"/>
            </a:xfrm>
            <a:prstGeom prst="rect">
              <a:avLst/>
            </a:prstGeom>
          </p:spPr>
        </p:pic>
      </p:grpSp>
    </p:spTree>
    <p:extLst>
      <p:ext uri="{BB962C8B-B14F-4D97-AF65-F5344CB8AC3E}">
        <p14:creationId xmlns:p14="http://schemas.microsoft.com/office/powerpoint/2010/main" val="3799267399"/>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标题 4097"/>
          <p:cNvSpPr>
            <a:spLocks noGrp="1" noChangeArrowheads="1"/>
          </p:cNvSpPr>
          <p:nvPr>
            <p:ph type="title"/>
          </p:nvPr>
        </p:nvSpPr>
        <p:spPr/>
        <p:txBody>
          <a:bodyPr>
            <a:normAutofit/>
          </a:bodyPr>
          <a:lstStyle/>
          <a:p>
            <a:pPr eaLnBrk="1" hangingPunct="1"/>
            <a:r>
              <a:rPr lang="zh-CN" altLang="en-US" b="1" dirty="0"/>
              <a:t>第</a:t>
            </a:r>
            <a:r>
              <a:rPr lang="en-US" altLang="zh-CN" b="1" dirty="0"/>
              <a:t>4</a:t>
            </a:r>
            <a:r>
              <a:rPr lang="zh-CN" altLang="en-US" b="1" dirty="0"/>
              <a:t>章 </a:t>
            </a:r>
            <a:r>
              <a:rPr lang="zh-CN" altLang="en-US" dirty="0"/>
              <a:t>字符串与正则表达式 </a:t>
            </a:r>
            <a:endParaRPr lang="zh-CN" altLang="en-US" b="1" dirty="0"/>
          </a:p>
        </p:txBody>
      </p:sp>
      <p:sp>
        <p:nvSpPr>
          <p:cNvPr id="4100" name="灯片编号占位符 2"/>
          <p:cNvSpPr>
            <a:spLocks noGrp="1" noChangeArrowheads="1"/>
          </p:cNvSpPr>
          <p:nvPr>
            <p:ph type="sldNum" sz="quarter" idx="429496729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defRPr/>
            </a:pPr>
            <a:fld id="{56DC911D-46DE-485C-8777-064FD0BC3DF5}" type="slidenum">
              <a:rPr lang="zh-CN" altLang="en-US" sz="1200" dirty="0" smtClean="0"/>
              <a:t>3</a:t>
            </a:fld>
            <a:endParaRPr lang="zh-CN" altLang="en-US" sz="1200" dirty="0"/>
          </a:p>
        </p:txBody>
      </p:sp>
      <p:grpSp>
        <p:nvGrpSpPr>
          <p:cNvPr id="5" name="组合 107"/>
          <p:cNvGrpSpPr/>
          <p:nvPr/>
        </p:nvGrpSpPr>
        <p:grpSpPr>
          <a:xfrm>
            <a:off x="1322678" y="5040561"/>
            <a:ext cx="3964280" cy="684275"/>
            <a:chOff x="939802" y="5062184"/>
            <a:chExt cx="3964280" cy="684275"/>
          </a:xfrm>
        </p:grpSpPr>
        <p:grpSp>
          <p:nvGrpSpPr>
            <p:cNvPr id="6" name="组合 33"/>
            <p:cNvGrpSpPr/>
            <p:nvPr/>
          </p:nvGrpSpPr>
          <p:grpSpPr>
            <a:xfrm>
              <a:off x="939802" y="5098728"/>
              <a:ext cx="813499" cy="647731"/>
              <a:chOff x="6068613" y="2138334"/>
              <a:chExt cx="412166" cy="348468"/>
            </a:xfrm>
          </p:grpSpPr>
          <p:sp>
            <p:nvSpPr>
              <p:cNvPr id="8" name="Freeform 5"/>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KSO_Shape"/>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anose="020B0503020204020204" pitchFamily="34" charset="-122"/>
                </a:endParaRPr>
              </a:p>
            </p:txBody>
          </p:sp>
        </p:grpSp>
        <p:sp>
          <p:nvSpPr>
            <p:cNvPr id="7" name="TextBox 6"/>
            <p:cNvSpPr txBox="1">
              <a:spLocks noChangeArrowheads="1"/>
            </p:cNvSpPr>
            <p:nvPr/>
          </p:nvSpPr>
          <p:spPr bwMode="auto">
            <a:xfrm>
              <a:off x="1396842"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 4.5 </a:t>
              </a:r>
              <a:r>
                <a:rPr lang="zh-CN" altLang="en-US" sz="3600" b="1" dirty="0">
                  <a:latin typeface="Times New Roman" panose="02020603050405020304" pitchFamily="18" charset="0"/>
                  <a:ea typeface="黑体" panose="02010609060101010101" pitchFamily="49" charset="-122"/>
                </a:rPr>
                <a:t>本章小结</a:t>
              </a:r>
            </a:p>
          </p:txBody>
        </p:sp>
      </p:grpSp>
      <p:grpSp>
        <p:nvGrpSpPr>
          <p:cNvPr id="14" name="组合 114"/>
          <p:cNvGrpSpPr/>
          <p:nvPr/>
        </p:nvGrpSpPr>
        <p:grpSpPr>
          <a:xfrm>
            <a:off x="219168" y="1078520"/>
            <a:ext cx="6225040" cy="662730"/>
            <a:chOff x="-158619" y="3380765"/>
            <a:chExt cx="6225040" cy="662730"/>
          </a:xfrm>
        </p:grpSpPr>
        <p:grpSp>
          <p:nvGrpSpPr>
            <p:cNvPr id="15" name="组合 105"/>
            <p:cNvGrpSpPr/>
            <p:nvPr/>
          </p:nvGrpSpPr>
          <p:grpSpPr>
            <a:xfrm>
              <a:off x="-158619" y="3380765"/>
              <a:ext cx="6225040" cy="662730"/>
              <a:chOff x="-158619" y="3380765"/>
              <a:chExt cx="6225040" cy="662730"/>
            </a:xfrm>
          </p:grpSpPr>
          <p:sp>
            <p:nvSpPr>
              <p:cNvPr id="1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158619"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16" name="图片 15" descr="12.jpg"/>
            <p:cNvPicPr>
              <a:picLocks noChangeAspect="1"/>
            </p:cNvPicPr>
            <p:nvPr/>
          </p:nvPicPr>
          <p:blipFill>
            <a:blip r:embed="rId2" cstate="print"/>
            <a:stretch>
              <a:fillRect/>
            </a:stretch>
          </p:blipFill>
          <p:spPr>
            <a:xfrm>
              <a:off x="1115929" y="3530600"/>
              <a:ext cx="446172" cy="431048"/>
            </a:xfrm>
            <a:prstGeom prst="rect">
              <a:avLst/>
            </a:prstGeom>
          </p:spPr>
        </p:pic>
      </p:grpSp>
      <p:grpSp>
        <p:nvGrpSpPr>
          <p:cNvPr id="19" name="组合 67"/>
          <p:cNvGrpSpPr/>
          <p:nvPr/>
        </p:nvGrpSpPr>
        <p:grpSpPr>
          <a:xfrm>
            <a:off x="1311674" y="2066943"/>
            <a:ext cx="8228878" cy="727935"/>
            <a:chOff x="936625" y="4149796"/>
            <a:chExt cx="8228878" cy="727935"/>
          </a:xfrm>
        </p:grpSpPr>
        <p:grpSp>
          <p:nvGrpSpPr>
            <p:cNvPr id="20" name="组合 106"/>
            <p:cNvGrpSpPr/>
            <p:nvPr/>
          </p:nvGrpSpPr>
          <p:grpSpPr>
            <a:xfrm>
              <a:off x="936625" y="4149796"/>
              <a:ext cx="8228878" cy="727935"/>
              <a:chOff x="927100" y="4149796"/>
              <a:chExt cx="8228878" cy="727935"/>
            </a:xfrm>
          </p:grpSpPr>
          <p:sp>
            <p:nvSpPr>
              <p:cNvPr id="2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3" name="TextBox 6"/>
              <p:cNvSpPr txBox="1">
                <a:spLocks noChangeArrowheads="1"/>
              </p:cNvSpPr>
              <p:nvPr/>
            </p:nvSpPr>
            <p:spPr bwMode="auto">
              <a:xfrm>
                <a:off x="1838738" y="4149796"/>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anose="02020603050405020304" pitchFamily="18" charset="0"/>
                    <a:ea typeface="黑体" panose="02010609060101010101" pitchFamily="49" charset="-122"/>
                  </a:rPr>
                  <a:t>4.2 </a:t>
                </a:r>
                <a:r>
                  <a:rPr lang="zh-CN" altLang="en-US" sz="3600" b="1" dirty="0">
                    <a:latin typeface="Times New Roman" panose="02020603050405020304" pitchFamily="18" charset="0"/>
                    <a:ea typeface="黑体" panose="02010609060101010101" pitchFamily="49" charset="-122"/>
                  </a:rPr>
                  <a:t>字符串的应用</a:t>
                </a:r>
                <a:endParaRPr lang="zh-CN" altLang="en-US" sz="3600" b="1" dirty="0">
                  <a:latin typeface="黑体" panose="02010609060101010101" pitchFamily="49" charset="-122"/>
                  <a:ea typeface="黑体" panose="02010609060101010101" pitchFamily="49" charset="-122"/>
                </a:endParaRPr>
              </a:p>
            </p:txBody>
          </p:sp>
        </p:grpSp>
        <p:pic>
          <p:nvPicPr>
            <p:cNvPr id="21" name="图片 20" descr="无标题.png"/>
            <p:cNvPicPr>
              <a:picLocks noChangeAspect="1"/>
            </p:cNvPicPr>
            <p:nvPr/>
          </p:nvPicPr>
          <p:blipFill>
            <a:blip r:embed="rId3" cstate="print"/>
            <a:stretch>
              <a:fillRect/>
            </a:stretch>
          </p:blipFill>
          <p:spPr>
            <a:xfrm>
              <a:off x="1137949" y="4364064"/>
              <a:ext cx="433676" cy="330989"/>
            </a:xfrm>
            <a:prstGeom prst="rect">
              <a:avLst/>
            </a:prstGeom>
          </p:spPr>
        </p:pic>
      </p:grpSp>
      <p:grpSp>
        <p:nvGrpSpPr>
          <p:cNvPr id="24" name="组合 109"/>
          <p:cNvGrpSpPr/>
          <p:nvPr/>
        </p:nvGrpSpPr>
        <p:grpSpPr>
          <a:xfrm>
            <a:off x="1323364" y="3061144"/>
            <a:ext cx="4616788" cy="727896"/>
            <a:chOff x="956926" y="4523612"/>
            <a:chExt cx="4616788" cy="727896"/>
          </a:xfrm>
        </p:grpSpPr>
        <p:sp>
          <p:nvSpPr>
            <p:cNvPr id="25"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6" name="图片 25" descr="u=714968970,2342735455&amp;fm=27&amp;gp=0.jpg"/>
            <p:cNvPicPr/>
            <p:nvPr/>
          </p:nvPicPr>
          <p:blipFill>
            <a:blip r:embed="rId4"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1253234" y="4523612"/>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grpSp>
        <p:nvGrpSpPr>
          <p:cNvPr id="28" name="组合 27"/>
          <p:cNvGrpSpPr/>
          <p:nvPr/>
        </p:nvGrpSpPr>
        <p:grpSpPr>
          <a:xfrm>
            <a:off x="1322678" y="4089626"/>
            <a:ext cx="6201650" cy="651944"/>
            <a:chOff x="541440" y="96425"/>
            <a:chExt cx="6201650" cy="651944"/>
          </a:xfrm>
        </p:grpSpPr>
        <p:sp>
          <p:nvSpPr>
            <p:cNvPr id="29" name="TextBox 6"/>
            <p:cNvSpPr txBox="1">
              <a:spLocks noChangeArrowheads="1"/>
            </p:cNvSpPr>
            <p:nvPr/>
          </p:nvSpPr>
          <p:spPr bwMode="auto">
            <a:xfrm>
              <a:off x="621813"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4.4 </a:t>
              </a:r>
              <a:r>
                <a:rPr lang="zh-CN" altLang="en-US" sz="3600" b="1" dirty="0">
                  <a:latin typeface="Times New Roman" panose="02020603050405020304" pitchFamily="18" charset="0"/>
                  <a:ea typeface="黑体" panose="02010609060101010101" pitchFamily="49" charset="-122"/>
                </a:rPr>
                <a:t>正则表达式的应用</a:t>
              </a:r>
            </a:p>
          </p:txBody>
        </p:sp>
        <p:grpSp>
          <p:nvGrpSpPr>
            <p:cNvPr id="30" name="组合 29"/>
            <p:cNvGrpSpPr/>
            <p:nvPr/>
          </p:nvGrpSpPr>
          <p:grpSpPr>
            <a:xfrm>
              <a:off x="541440" y="96425"/>
              <a:ext cx="792093" cy="651756"/>
              <a:chOff x="541440" y="96425"/>
              <a:chExt cx="792093" cy="651756"/>
            </a:xfrm>
          </p:grpSpPr>
          <p:sp>
            <p:nvSpPr>
              <p:cNvPr id="31" name="Freeform 5"/>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32" name="图片 31"/>
              <p:cNvPicPr>
                <a:picLocks noChangeAspect="1"/>
              </p:cNvPicPr>
              <p:nvPr/>
            </p:nvPicPr>
            <p:blipFill>
              <a:blip r:embed="rId5"/>
              <a:stretch>
                <a:fillRect/>
              </a:stretch>
            </p:blipFill>
            <p:spPr>
              <a:xfrm>
                <a:off x="734178" y="272894"/>
                <a:ext cx="404824" cy="335225"/>
              </a:xfrm>
              <a:prstGeom prst="rect">
                <a:avLst/>
              </a:prstGeom>
            </p:spPr>
          </p:pic>
        </p:grpSp>
      </p:grpSp>
    </p:spTree>
    <p:extLst>
      <p:ext uri="{BB962C8B-B14F-4D97-AF65-F5344CB8AC3E}">
        <p14:creationId xmlns:p14="http://schemas.microsoft.com/office/powerpoint/2010/main" val="42901507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ox(in)">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ox(in)">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ox(in)">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ox(in)">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4</a:t>
            </a:fld>
            <a:endParaRPr lang="zh-CN" altLang="en-US" dirty="0"/>
          </a:p>
        </p:txBody>
      </p:sp>
      <p:sp>
        <p:nvSpPr>
          <p:cNvPr id="13" name="文本占位符 20482"/>
          <p:cNvSpPr>
            <a:spLocks noGrp="1"/>
          </p:cNvSpPr>
          <p:nvPr>
            <p:ph idx="1"/>
          </p:nvPr>
        </p:nvSpPr>
        <p:spPr>
          <a:xfrm>
            <a:off x="462582" y="1561905"/>
            <a:ext cx="8499251" cy="1161814"/>
          </a:xfrm>
        </p:spPr>
        <p:txBody>
          <a:bodyPr anchor="t"/>
          <a:lstStyle/>
          <a:p>
            <a:pPr>
              <a:lnSpc>
                <a:spcPct val="120000"/>
              </a:lnSpc>
              <a:spcBef>
                <a:spcPts val="600"/>
              </a:spcBef>
              <a:spcAft>
                <a:spcPts val="600"/>
              </a:spcAft>
              <a:buClr>
                <a:srgbClr val="FF0000"/>
              </a:buClr>
              <a:buSzPct val="70000"/>
              <a:buFont typeface="Wingdings" panose="05000000000000000000" charset="0"/>
              <a:buChar char=""/>
            </a:pPr>
            <a:r>
              <a:rPr lang="zh-CN" altLang="en-US" sz="2000" b="1" dirty="0">
                <a:latin typeface="宋体" panose="02010600030101010101" pitchFamily="2" charset="-122"/>
              </a:rPr>
              <a:t>最早的字符串编码是美国标准信息交换码</a:t>
            </a:r>
            <a:r>
              <a:rPr lang="zh-CN" altLang="en-US" sz="2000" b="1" dirty="0">
                <a:solidFill>
                  <a:srgbClr val="FF0000"/>
                </a:solidFill>
                <a:latin typeface="宋体" panose="02010600030101010101" pitchFamily="2" charset="-122"/>
              </a:rPr>
              <a:t>ASCII</a:t>
            </a:r>
            <a:r>
              <a:rPr lang="zh-CN" altLang="en-US" sz="2000" b="1" dirty="0">
                <a:latin typeface="宋体" panose="02010600030101010101" pitchFamily="2" charset="-122"/>
              </a:rPr>
              <a:t>，仅对10个数字、26个大写英文字母、26个小写英文字母及一些其他符号进行了编码。ASCII码采用</a:t>
            </a:r>
            <a:r>
              <a:rPr lang="zh-CN" altLang="en-US" sz="2000" b="1" dirty="0">
                <a:solidFill>
                  <a:srgbClr val="FF0000"/>
                </a:solidFill>
                <a:latin typeface="宋体" panose="02010600030101010101" pitchFamily="2" charset="-122"/>
              </a:rPr>
              <a:t>1个字节</a:t>
            </a:r>
            <a:r>
              <a:rPr lang="zh-CN" altLang="en-US" sz="2000" b="1" dirty="0">
                <a:latin typeface="宋体" panose="02010600030101010101" pitchFamily="2" charset="-122"/>
              </a:rPr>
              <a:t>来对字符进行编码，最多只能表示256个符号；</a:t>
            </a:r>
          </a:p>
        </p:txBody>
      </p:sp>
      <p:sp>
        <p:nvSpPr>
          <p:cNvPr id="14" name="文本占位符 21506"/>
          <p:cNvSpPr txBox="1"/>
          <p:nvPr/>
        </p:nvSpPr>
        <p:spPr bwMode="auto">
          <a:xfrm>
            <a:off x="462582" y="2824607"/>
            <a:ext cx="8382902"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20000"/>
              </a:lnSpc>
              <a:spcBef>
                <a:spcPts val="600"/>
              </a:spcBef>
              <a:spcAft>
                <a:spcPts val="600"/>
              </a:spcAft>
              <a:buClr>
                <a:srgbClr val="FF0000"/>
              </a:buClr>
              <a:buSzPct val="70000"/>
              <a:buFont typeface="Wingdings" panose="05000000000000000000" charset="0"/>
              <a:buChar char=""/>
            </a:pPr>
            <a:r>
              <a:rPr lang="zh-CN" altLang="en-US" sz="2000" b="1" dirty="0">
                <a:latin typeface="宋体" panose="02010600030101010101" pitchFamily="2" charset="-122"/>
              </a:rPr>
              <a:t>多种不同的编码格式，常见的主要有UTF-8、UTF-16、UTF-32、GB2312、GBK、CP936、base64、CP437等；</a:t>
            </a:r>
            <a:endParaRPr lang="en-US" altLang="zh-CN" sz="2000" b="1" dirty="0">
              <a:latin typeface="宋体" panose="02010600030101010101" pitchFamily="2" charset="-122"/>
            </a:endParaRPr>
          </a:p>
          <a:p>
            <a:pPr>
              <a:lnSpc>
                <a:spcPct val="120000"/>
              </a:lnSpc>
              <a:spcBef>
                <a:spcPts val="600"/>
              </a:spcBef>
              <a:spcAft>
                <a:spcPts val="600"/>
              </a:spcAft>
              <a:buClr>
                <a:srgbClr val="FF0000"/>
              </a:buClr>
              <a:buSzPct val="70000"/>
              <a:buFont typeface="Wingdings" panose="05000000000000000000" charset="0"/>
              <a:buChar char=""/>
            </a:pPr>
            <a:r>
              <a:rPr lang="zh-CN" altLang="en-US" sz="2000" b="1" dirty="0">
                <a:solidFill>
                  <a:srgbClr val="FF0000"/>
                </a:solidFill>
                <a:latin typeface="宋体" panose="02010600030101010101" pitchFamily="2" charset="-122"/>
              </a:rPr>
              <a:t>GB2312</a:t>
            </a:r>
            <a:r>
              <a:rPr lang="zh-CN" altLang="en-US" sz="2000" b="1" dirty="0">
                <a:latin typeface="宋体" panose="02010600030101010101" pitchFamily="2" charset="-122"/>
              </a:rPr>
              <a:t>是我国制定的中文编码，使用1个字节表示英语，2个字节表示中文；GBK是GB2312的扩充，而CP936是微软在GBK基础上开发的编码方式。</a:t>
            </a:r>
            <a:r>
              <a:rPr lang="zh-CN" altLang="en-US" sz="2000" b="1" dirty="0">
                <a:solidFill>
                  <a:srgbClr val="FF0000"/>
                </a:solidFill>
                <a:latin typeface="宋体" panose="02010600030101010101" pitchFamily="2" charset="-122"/>
              </a:rPr>
              <a:t>GB2312、GBK和CP936都是使用2个字节表示中文；</a:t>
            </a:r>
            <a:endParaRPr lang="en-US" altLang="zh-CN" sz="2000" b="1" dirty="0">
              <a:solidFill>
                <a:srgbClr val="FF0000"/>
              </a:solidFill>
              <a:latin typeface="宋体" panose="02010600030101010101" pitchFamily="2" charset="-122"/>
            </a:endParaRPr>
          </a:p>
          <a:p>
            <a:pPr>
              <a:lnSpc>
                <a:spcPct val="120000"/>
              </a:lnSpc>
              <a:spcBef>
                <a:spcPts val="600"/>
              </a:spcBef>
              <a:spcAft>
                <a:spcPts val="600"/>
              </a:spcAft>
              <a:buClr>
                <a:srgbClr val="FF0000"/>
              </a:buClr>
              <a:buSzPct val="70000"/>
              <a:buFont typeface="Wingdings" panose="05000000000000000000" charset="0"/>
              <a:buChar char=""/>
            </a:pPr>
            <a:r>
              <a:rPr lang="zh-CN" altLang="en-US" sz="2000" b="1" dirty="0">
                <a:solidFill>
                  <a:srgbClr val="FF0000"/>
                </a:solidFill>
                <a:latin typeface="宋体" panose="02010600030101010101" pitchFamily="2" charset="-122"/>
              </a:rPr>
              <a:t>UTF-8</a:t>
            </a:r>
            <a:r>
              <a:rPr lang="zh-CN" altLang="en-US" sz="2000" b="1" dirty="0">
                <a:latin typeface="宋体" panose="02010600030101010101" pitchFamily="2" charset="-122"/>
              </a:rPr>
              <a:t>对全世界所有国家需要用到的字符进行了编码，以1个字节表示英语字符(兼容ASCII)，以</a:t>
            </a:r>
            <a:r>
              <a:rPr lang="zh-CN" altLang="en-US" sz="2000" b="1" dirty="0">
                <a:solidFill>
                  <a:srgbClr val="FF0000"/>
                </a:solidFill>
                <a:latin typeface="宋体" panose="02010600030101010101" pitchFamily="2" charset="-122"/>
              </a:rPr>
              <a:t>3个字节表示常见汉字</a:t>
            </a:r>
            <a:r>
              <a:rPr lang="zh-CN" altLang="en-US" sz="2000" b="1" dirty="0">
                <a:latin typeface="宋体" panose="02010600030101010101" pitchFamily="2" charset="-122"/>
              </a:rPr>
              <a:t>，还有些语言的符号使用2个字节（例如俄语和希腊语符号）或4个字节。</a:t>
            </a:r>
            <a:endParaRPr lang="en-US" altLang="zh-CN" sz="2000" b="1" dirty="0">
              <a:latin typeface="宋体" panose="02010600030101010101" pitchFamily="2" charset="-122"/>
            </a:endParaRPr>
          </a:p>
          <a:p>
            <a:pPr marL="0" indent="0">
              <a:spcBef>
                <a:spcPts val="600"/>
              </a:spcBef>
              <a:buClr>
                <a:srgbClr val="FF0000"/>
              </a:buClr>
              <a:buSzPct val="70000"/>
              <a:buNone/>
            </a:pPr>
            <a:endParaRPr lang="zh-CN" altLang="en-US" sz="1600" dirty="0">
              <a:latin typeface="宋体" panose="02010600030101010101" pitchFamily="2" charset="-122"/>
            </a:endParaRPr>
          </a:p>
        </p:txBody>
      </p:sp>
      <p:grpSp>
        <p:nvGrpSpPr>
          <p:cNvPr id="15" name="组合 114"/>
          <p:cNvGrpSpPr/>
          <p:nvPr/>
        </p:nvGrpSpPr>
        <p:grpSpPr>
          <a:xfrm>
            <a:off x="-540568" y="116632"/>
            <a:ext cx="6225040" cy="662730"/>
            <a:chOff x="-198275" y="3380765"/>
            <a:chExt cx="6225040" cy="662730"/>
          </a:xfrm>
        </p:grpSpPr>
        <p:grpSp>
          <p:nvGrpSpPr>
            <p:cNvPr id="16" name="组合 105"/>
            <p:cNvGrpSpPr/>
            <p:nvPr/>
          </p:nvGrpSpPr>
          <p:grpSpPr>
            <a:xfrm>
              <a:off x="-198275" y="3380765"/>
              <a:ext cx="6225040" cy="662730"/>
              <a:chOff x="-198275" y="3380765"/>
              <a:chExt cx="6225040" cy="662730"/>
            </a:xfrm>
          </p:grpSpPr>
          <p:sp>
            <p:nvSpPr>
              <p:cNvPr id="1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9"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17" name="图片 16"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2" name="矩形 1"/>
          <p:cNvSpPr/>
          <p:nvPr/>
        </p:nvSpPr>
        <p:spPr>
          <a:xfrm>
            <a:off x="462582" y="943899"/>
            <a:ext cx="3084499" cy="523220"/>
          </a:xfrm>
          <a:prstGeom prst="rect">
            <a:avLst/>
          </a:prstGeom>
        </p:spPr>
        <p:txBody>
          <a:bodyPr wrap="none">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4.1.1 </a:t>
            </a:r>
            <a:r>
              <a:rPr lang="zh-CN" altLang="en-US" sz="2800" b="1" dirty="0">
                <a:latin typeface="Times New Roman" panose="02020603050405020304" pitchFamily="18" charset="0"/>
                <a:ea typeface="仿宋" panose="02010609060101010101" pitchFamily="49" charset="-122"/>
              </a:rPr>
              <a:t>字符串概述</a:t>
            </a:r>
            <a:endParaRPr lang="en-US" altLang="zh-CN" sz="2800" b="1" dirty="0">
              <a:latin typeface="Times New Roman" panose="02020603050405020304" pitchFamily="18" charset="0"/>
              <a:ea typeface="仿宋" panose="02010609060101010101" pitchFamily="49" charset="-122"/>
            </a:endParaRPr>
          </a:p>
        </p:txBody>
      </p:sp>
      <p:sp>
        <p:nvSpPr>
          <p:cNvPr id="11" name="文本框 10"/>
          <p:cNvSpPr txBox="1"/>
          <p:nvPr/>
        </p:nvSpPr>
        <p:spPr>
          <a:xfrm>
            <a:off x="-2160" y="6317828"/>
            <a:ext cx="8460007" cy="461665"/>
          </a:xfrm>
          <a:prstGeom prst="rect">
            <a:avLst/>
          </a:prstGeom>
          <a:noFill/>
        </p:spPr>
        <p:txBody>
          <a:bodyPr wrap="square" rtlCol="0">
            <a:spAutoFit/>
          </a:bodyPr>
          <a:lstStyle/>
          <a:p>
            <a:r>
              <a:rPr lang="zh-CN" altLang="en-US" sz="1200" dirty="0">
                <a:solidFill>
                  <a:srgbClr val="0000FF"/>
                </a:solidFill>
              </a:rPr>
              <a:t>注：</a:t>
            </a:r>
            <a:r>
              <a:rPr lang="en-US" altLang="zh-CN" sz="1200" dirty="0">
                <a:solidFill>
                  <a:srgbClr val="0000FF"/>
                </a:solidFill>
              </a:rPr>
              <a:t>slides</a:t>
            </a:r>
            <a:r>
              <a:rPr lang="zh-CN" altLang="en-US" sz="1200" dirty="0">
                <a:solidFill>
                  <a:srgbClr val="0000FF"/>
                </a:solidFill>
              </a:rPr>
              <a:t>参考：</a:t>
            </a:r>
            <a:r>
              <a:rPr lang="zh-CN" altLang="zh-CN" sz="1200" dirty="0">
                <a:solidFill>
                  <a:srgbClr val="0000FF"/>
                </a:solidFill>
              </a:rPr>
              <a:t>董付国</a:t>
            </a:r>
            <a:r>
              <a:rPr lang="en-US" altLang="zh-CN" sz="1200" dirty="0">
                <a:solidFill>
                  <a:srgbClr val="0000FF"/>
                </a:solidFill>
              </a:rPr>
              <a:t>. </a:t>
            </a:r>
            <a:r>
              <a:rPr lang="zh-CN" altLang="zh-CN" sz="1200" dirty="0">
                <a:solidFill>
                  <a:srgbClr val="0000FF"/>
                </a:solidFill>
              </a:rPr>
              <a:t>《</a:t>
            </a:r>
            <a:r>
              <a:rPr lang="en-US" altLang="zh-CN" sz="1200" dirty="0">
                <a:solidFill>
                  <a:srgbClr val="0000FF"/>
                </a:solidFill>
              </a:rPr>
              <a:t>Python</a:t>
            </a:r>
            <a:r>
              <a:rPr lang="zh-CN" altLang="zh-CN" sz="1200" dirty="0">
                <a:solidFill>
                  <a:srgbClr val="0000FF"/>
                </a:solidFill>
              </a:rPr>
              <a:t>程序设计》</a:t>
            </a:r>
            <a:r>
              <a:rPr lang="en-US" altLang="zh-CN" sz="1200" dirty="0">
                <a:solidFill>
                  <a:srgbClr val="0000FF"/>
                </a:solidFill>
              </a:rPr>
              <a:t>(</a:t>
            </a:r>
            <a:r>
              <a:rPr lang="zh-CN" altLang="zh-CN" sz="1200" dirty="0">
                <a:solidFill>
                  <a:srgbClr val="0000FF"/>
                </a:solidFill>
              </a:rPr>
              <a:t>第</a:t>
            </a:r>
            <a:r>
              <a:rPr lang="en-US" altLang="zh-CN" sz="1200" dirty="0">
                <a:solidFill>
                  <a:srgbClr val="0000FF"/>
                </a:solidFill>
              </a:rPr>
              <a:t>2</a:t>
            </a:r>
            <a:r>
              <a:rPr lang="zh-CN" altLang="zh-CN" sz="1200" dirty="0">
                <a:solidFill>
                  <a:srgbClr val="0000FF"/>
                </a:solidFill>
              </a:rPr>
              <a:t>版</a:t>
            </a:r>
            <a:r>
              <a:rPr lang="en-US" altLang="zh-CN" sz="1200" dirty="0">
                <a:solidFill>
                  <a:srgbClr val="0000FF"/>
                </a:solidFill>
              </a:rPr>
              <a:t>). </a:t>
            </a:r>
            <a:r>
              <a:rPr lang="zh-CN" altLang="zh-CN" sz="1200" dirty="0">
                <a:solidFill>
                  <a:srgbClr val="0000FF"/>
                </a:solidFill>
              </a:rPr>
              <a:t>清华大学出版社</a:t>
            </a:r>
            <a:r>
              <a:rPr lang="en-US" altLang="zh-CN" sz="1200" dirty="0">
                <a:solidFill>
                  <a:srgbClr val="0000FF"/>
                </a:solidFill>
              </a:rPr>
              <a:t>, 2018.</a:t>
            </a:r>
            <a:endParaRPr lang="zh-CN" altLang="zh-CN" sz="1200" dirty="0">
              <a:solidFill>
                <a:srgbClr val="0000FF"/>
              </a:solidFill>
            </a:endParaRPr>
          </a:p>
          <a:p>
            <a:endParaRPr lang="zh-CN" altLang="en-US" sz="1200" dirty="0">
              <a:solidFill>
                <a:srgbClr val="0000FF"/>
              </a:solidFill>
            </a:endParaRPr>
          </a:p>
        </p:txBody>
      </p:sp>
    </p:spTree>
    <p:extLst>
      <p:ext uri="{BB962C8B-B14F-4D97-AF65-F5344CB8AC3E}">
        <p14:creationId xmlns:p14="http://schemas.microsoft.com/office/powerpoint/2010/main" val="3165930990"/>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889887"/>
            <a:ext cx="8229600" cy="660930"/>
          </a:xfrm>
        </p:spPr>
        <p:txBody>
          <a:bodyPr>
            <a:normAutofit/>
          </a:bodyPr>
          <a:lstStyle/>
          <a:p>
            <a:r>
              <a:rPr lang="en-US" altLang="zh-CN" sz="2800" dirty="0" err="1"/>
              <a:t>ASCⅡ</a:t>
            </a:r>
            <a:r>
              <a:rPr lang="en-US" altLang="zh-CN" sz="2800" dirty="0"/>
              <a:t> UTF-8 GB2312(GBK) CP936 Unicode</a:t>
            </a:r>
            <a:endParaRPr lang="zh-CN" altLang="en-US" sz="2800" dirty="0"/>
          </a:p>
        </p:txBody>
      </p:sp>
      <p:graphicFrame>
        <p:nvGraphicFramePr>
          <p:cNvPr id="5" name="表格 5"/>
          <p:cNvGraphicFramePr>
            <a:graphicFrameLocks noGrp="1"/>
          </p:cNvGraphicFramePr>
          <p:nvPr>
            <p:ph idx="1"/>
            <p:extLst/>
          </p:nvPr>
        </p:nvGraphicFramePr>
        <p:xfrm>
          <a:off x="388900" y="1607959"/>
          <a:ext cx="5983299" cy="2743200"/>
        </p:xfrm>
        <a:graphic>
          <a:graphicData uri="http://schemas.openxmlformats.org/drawingml/2006/table">
            <a:tbl>
              <a:tblPr firstRow="1" bandRow="1">
                <a:tableStyleId>{5C22544A-7EE6-4342-B048-85BDC9FD1C3A}</a:tableStyleId>
              </a:tblPr>
              <a:tblGrid>
                <a:gridCol w="1027108">
                  <a:extLst>
                    <a:ext uri="{9D8B030D-6E8A-4147-A177-3AD203B41FA5}">
                      <a16:colId xmlns:a16="http://schemas.microsoft.com/office/drawing/2014/main" val="20000"/>
                    </a:ext>
                  </a:extLst>
                </a:gridCol>
                <a:gridCol w="1211776">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2736303">
                  <a:extLst>
                    <a:ext uri="{9D8B030D-6E8A-4147-A177-3AD203B41FA5}">
                      <a16:colId xmlns:a16="http://schemas.microsoft.com/office/drawing/2014/main" val="20003"/>
                    </a:ext>
                  </a:extLst>
                </a:gridCol>
              </a:tblGrid>
              <a:tr h="370840">
                <a:tc>
                  <a:txBody>
                    <a:bodyPr/>
                    <a:lstStyle/>
                    <a:p>
                      <a:endParaRPr lang="zh-CN" altLang="en-US" sz="1600" baseline="0" dirty="0">
                        <a:latin typeface="Times New Roman" panose="02020603050405020304" pitchFamily="18" charset="0"/>
                        <a:ea typeface="宋体" panose="02010600030101010101" pitchFamily="2" charset="-122"/>
                      </a:endParaRPr>
                    </a:p>
                  </a:txBody>
                  <a:tcPr/>
                </a:tc>
                <a:tc>
                  <a:txBody>
                    <a:bodyPr/>
                    <a:lstStyle/>
                    <a:p>
                      <a:pPr algn="ctr"/>
                      <a:r>
                        <a:rPr lang="zh-CN" altLang="en-US" sz="1600" baseline="0" dirty="0">
                          <a:latin typeface="Times New Roman" panose="02020603050405020304" pitchFamily="18" charset="0"/>
                          <a:ea typeface="宋体" panose="02010600030101010101" pitchFamily="2" charset="-122"/>
                        </a:rPr>
                        <a:t>单个英文 </a:t>
                      </a:r>
                    </a:p>
                  </a:txBody>
                  <a:tcPr anchor="ctr"/>
                </a:tc>
                <a:tc>
                  <a:txBody>
                    <a:bodyPr/>
                    <a:lstStyle/>
                    <a:p>
                      <a:pPr algn="ctr"/>
                      <a:r>
                        <a:rPr lang="zh-CN" altLang="en-US" sz="1600" baseline="0" dirty="0">
                          <a:latin typeface="Times New Roman" panose="02020603050405020304" pitchFamily="18" charset="0"/>
                          <a:ea typeface="宋体" panose="02010600030101010101" pitchFamily="2" charset="-122"/>
                        </a:rPr>
                        <a:t>单个汉字 </a:t>
                      </a:r>
                    </a:p>
                  </a:txBody>
                  <a:tcPr anchor="ctr"/>
                </a:tc>
                <a:tc>
                  <a:txBody>
                    <a:bodyPr/>
                    <a:lstStyle/>
                    <a:p>
                      <a:pPr algn="ctr"/>
                      <a:r>
                        <a:rPr lang="zh-CN" altLang="en-US" sz="1600" baseline="0" dirty="0">
                          <a:latin typeface="Times New Roman" panose="02020603050405020304" pitchFamily="18" charset="0"/>
                          <a:ea typeface="宋体" panose="02010600030101010101" pitchFamily="2" charset="-122"/>
                        </a:rPr>
                        <a:t>备注</a:t>
                      </a:r>
                    </a:p>
                  </a:txBody>
                  <a:tcPr anchor="ctr"/>
                </a:tc>
                <a:extLst>
                  <a:ext uri="{0D108BD9-81ED-4DB2-BD59-A6C34878D82A}">
                    <a16:rowId xmlns:a16="http://schemas.microsoft.com/office/drawing/2014/main" val="10000"/>
                  </a:ext>
                </a:extLst>
              </a:tr>
              <a:tr h="370840">
                <a:tc>
                  <a:txBody>
                    <a:bodyPr/>
                    <a:lstStyle/>
                    <a:p>
                      <a:r>
                        <a:rPr lang="en-US" altLang="zh-CN" sz="1600" baseline="0" dirty="0" err="1">
                          <a:latin typeface="Times New Roman" panose="02020603050405020304" pitchFamily="18" charset="0"/>
                          <a:ea typeface="宋体" panose="02010600030101010101" pitchFamily="2" charset="-122"/>
                        </a:rPr>
                        <a:t>ASCⅡ</a:t>
                      </a:r>
                      <a:endParaRPr lang="zh-CN" altLang="en-US" sz="1600" baseline="0" dirty="0">
                        <a:latin typeface="Times New Roman" panose="02020603050405020304" pitchFamily="18" charset="0"/>
                        <a:ea typeface="宋体" panose="02010600030101010101" pitchFamily="2" charset="-122"/>
                      </a:endParaRPr>
                    </a:p>
                  </a:txBody>
                  <a:tcPr/>
                </a:tc>
                <a:tc>
                  <a:txBody>
                    <a:bodyPr/>
                    <a:lstStyle/>
                    <a:p>
                      <a:pPr algn="ctr"/>
                      <a:r>
                        <a:rPr lang="en-US" altLang="zh-CN" sz="1600" baseline="0" dirty="0">
                          <a:latin typeface="Times New Roman" panose="02020603050405020304" pitchFamily="18" charset="0"/>
                          <a:ea typeface="宋体" panose="02010600030101010101" pitchFamily="2" charset="-122"/>
                        </a:rPr>
                        <a:t>1</a:t>
                      </a:r>
                      <a:r>
                        <a:rPr lang="zh-CN" altLang="en-US" sz="1600" baseline="0" dirty="0">
                          <a:latin typeface="Times New Roman" panose="02020603050405020304" pitchFamily="18" charset="0"/>
                          <a:ea typeface="宋体" panose="02010600030101010101" pitchFamily="2" charset="-122"/>
                        </a:rPr>
                        <a:t>字节</a:t>
                      </a:r>
                    </a:p>
                  </a:txBody>
                  <a:tcPr anchor="ctr"/>
                </a:tc>
                <a:tc>
                  <a:txBody>
                    <a:bodyPr/>
                    <a:lstStyle/>
                    <a:p>
                      <a:pPr algn="ctr"/>
                      <a:r>
                        <a:rPr lang="zh-CN" altLang="en-US" sz="1600" baseline="0" dirty="0">
                          <a:solidFill>
                            <a:srgbClr val="FF0000"/>
                          </a:solidFill>
                          <a:latin typeface="Times New Roman" panose="02020603050405020304" pitchFamily="18" charset="0"/>
                          <a:ea typeface="宋体" panose="02010600030101010101" pitchFamily="2" charset="-122"/>
                        </a:rPr>
                        <a:t>不支持</a:t>
                      </a:r>
                    </a:p>
                  </a:txBody>
                  <a:tcPr anchor="ctr"/>
                </a:tc>
                <a:tc>
                  <a:txBody>
                    <a:bodyPr/>
                    <a:lstStyle/>
                    <a:p>
                      <a:pPr algn="ctr"/>
                      <a:r>
                        <a:rPr lang="zh-CN" altLang="en-US" sz="1400" baseline="0" dirty="0">
                          <a:latin typeface="Times New Roman" panose="02020603050405020304" pitchFamily="18" charset="0"/>
                          <a:ea typeface="宋体" panose="02010600030101010101" pitchFamily="2" charset="-122"/>
                        </a:rPr>
                        <a:t>美国</a:t>
                      </a:r>
                    </a:p>
                  </a:txBody>
                  <a:tcPr anchor="ctr"/>
                </a:tc>
                <a:extLst>
                  <a:ext uri="{0D108BD9-81ED-4DB2-BD59-A6C34878D82A}">
                    <a16:rowId xmlns:a16="http://schemas.microsoft.com/office/drawing/2014/main" val="10001"/>
                  </a:ext>
                </a:extLst>
              </a:tr>
              <a:tr h="370840">
                <a:tc>
                  <a:txBody>
                    <a:bodyPr/>
                    <a:lstStyle/>
                    <a:p>
                      <a:r>
                        <a:rPr lang="en-US" altLang="zh-CN" sz="1600" baseline="0" dirty="0">
                          <a:latin typeface="Times New Roman" panose="02020603050405020304" pitchFamily="18" charset="0"/>
                          <a:ea typeface="宋体" panose="02010600030101010101" pitchFamily="2" charset="-122"/>
                        </a:rPr>
                        <a:t>GB2312</a:t>
                      </a:r>
                      <a:endParaRPr lang="zh-CN" altLang="en-US" sz="1600" baseline="0" dirty="0">
                        <a:latin typeface="Times New Roman" panose="02020603050405020304" pitchFamily="18" charset="0"/>
                        <a:ea typeface="宋体" panose="02010600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aseline="0" dirty="0">
                          <a:latin typeface="Times New Roman" panose="02020603050405020304" pitchFamily="18" charset="0"/>
                          <a:ea typeface="宋体" panose="02010600030101010101" pitchFamily="2" charset="-122"/>
                        </a:rPr>
                        <a:t>1</a:t>
                      </a:r>
                      <a:r>
                        <a:rPr lang="zh-CN" altLang="en-US" sz="1600" baseline="0" dirty="0">
                          <a:latin typeface="Times New Roman" panose="02020603050405020304" pitchFamily="18" charset="0"/>
                          <a:ea typeface="宋体" panose="02010600030101010101" pitchFamily="2" charset="-122"/>
                        </a:rPr>
                        <a:t>字节</a:t>
                      </a:r>
                    </a:p>
                  </a:txBody>
                  <a:tcPr anchor="ctr"/>
                </a:tc>
                <a:tc>
                  <a:txBody>
                    <a:bodyPr/>
                    <a:lstStyle/>
                    <a:p>
                      <a:pPr algn="ctr"/>
                      <a:r>
                        <a:rPr lang="en-US" altLang="zh-CN" sz="1600" baseline="0" dirty="0">
                          <a:latin typeface="Times New Roman" panose="02020603050405020304" pitchFamily="18" charset="0"/>
                          <a:ea typeface="宋体" panose="02010600030101010101" pitchFamily="2" charset="-122"/>
                        </a:rPr>
                        <a:t>2</a:t>
                      </a:r>
                      <a:r>
                        <a:rPr lang="zh-CN" altLang="en-US" sz="1600" baseline="0" dirty="0">
                          <a:latin typeface="Times New Roman" panose="02020603050405020304" pitchFamily="18" charset="0"/>
                          <a:ea typeface="宋体" panose="02010600030101010101" pitchFamily="2" charset="-122"/>
                        </a:rPr>
                        <a:t>字节</a:t>
                      </a:r>
                    </a:p>
                  </a:txBody>
                  <a:tcPr anchor="ctr"/>
                </a:tc>
                <a:tc>
                  <a:txBody>
                    <a:bodyPr/>
                    <a:lstStyle/>
                    <a:p>
                      <a:pPr algn="ctr"/>
                      <a:r>
                        <a:rPr lang="zh-CN" altLang="en-US" sz="1400" baseline="0" dirty="0">
                          <a:latin typeface="Times New Roman" panose="02020603050405020304" pitchFamily="18" charset="0"/>
                          <a:ea typeface="宋体" panose="02010600030101010101" pitchFamily="2" charset="-122"/>
                        </a:rPr>
                        <a:t>中国</a:t>
                      </a:r>
                    </a:p>
                  </a:txBody>
                  <a:tcPr anchor="ctr"/>
                </a:tc>
                <a:extLst>
                  <a:ext uri="{0D108BD9-81ED-4DB2-BD59-A6C34878D82A}">
                    <a16:rowId xmlns:a16="http://schemas.microsoft.com/office/drawing/2014/main" val="10002"/>
                  </a:ext>
                </a:extLst>
              </a:tr>
              <a:tr h="370840">
                <a:tc>
                  <a:txBody>
                    <a:bodyPr/>
                    <a:lstStyle/>
                    <a:p>
                      <a:r>
                        <a:rPr lang="en-US" altLang="zh-CN" sz="1600" baseline="0" dirty="0">
                          <a:latin typeface="Times New Roman" panose="02020603050405020304" pitchFamily="18" charset="0"/>
                          <a:ea typeface="宋体" panose="02010600030101010101" pitchFamily="2" charset="-122"/>
                        </a:rPr>
                        <a:t>GBK</a:t>
                      </a:r>
                      <a:endParaRPr lang="zh-CN" altLang="en-US" sz="1600" baseline="0" dirty="0">
                        <a:latin typeface="Times New Roman" panose="02020603050405020304" pitchFamily="18" charset="0"/>
                        <a:ea typeface="宋体" panose="02010600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aseline="0" dirty="0">
                          <a:latin typeface="Times New Roman" panose="02020603050405020304" pitchFamily="18" charset="0"/>
                          <a:ea typeface="宋体" panose="02010600030101010101" pitchFamily="2" charset="-122"/>
                        </a:rPr>
                        <a:t>1</a:t>
                      </a:r>
                      <a:r>
                        <a:rPr lang="zh-CN" altLang="en-US" sz="1600" baseline="0" dirty="0">
                          <a:latin typeface="Times New Roman" panose="02020603050405020304" pitchFamily="18" charset="0"/>
                          <a:ea typeface="宋体" panose="02010600030101010101" pitchFamily="2" charset="-122"/>
                        </a:rPr>
                        <a:t>字节</a:t>
                      </a:r>
                    </a:p>
                  </a:txBody>
                  <a:tcPr anchor="ctr"/>
                </a:tc>
                <a:tc>
                  <a:txBody>
                    <a:bodyPr/>
                    <a:lstStyle/>
                    <a:p>
                      <a:pPr algn="ctr"/>
                      <a:r>
                        <a:rPr lang="en-US" altLang="zh-CN" sz="1600" baseline="0" dirty="0">
                          <a:latin typeface="Times New Roman" panose="02020603050405020304" pitchFamily="18" charset="0"/>
                          <a:ea typeface="宋体" panose="02010600030101010101" pitchFamily="2" charset="-122"/>
                        </a:rPr>
                        <a:t>2</a:t>
                      </a:r>
                      <a:r>
                        <a:rPr lang="zh-CN" altLang="en-US" sz="1600" baseline="0" dirty="0">
                          <a:latin typeface="Times New Roman" panose="02020603050405020304" pitchFamily="18" charset="0"/>
                          <a:ea typeface="宋体" panose="02010600030101010101" pitchFamily="2" charset="-122"/>
                        </a:rPr>
                        <a:t>字节</a:t>
                      </a:r>
                    </a:p>
                  </a:txBody>
                  <a:tcPr anchor="ctr"/>
                </a:tc>
                <a:tc>
                  <a:txBody>
                    <a:bodyPr/>
                    <a:lstStyle/>
                    <a:p>
                      <a:pPr algn="ctr"/>
                      <a:r>
                        <a:rPr lang="zh-CN" altLang="en-US" sz="1400" baseline="0" dirty="0">
                          <a:latin typeface="Times New Roman" panose="02020603050405020304" pitchFamily="18" charset="0"/>
                          <a:ea typeface="宋体" panose="02010600030101010101" pitchFamily="2" charset="-122"/>
                        </a:rPr>
                        <a:t>扩展</a:t>
                      </a:r>
                      <a:r>
                        <a:rPr lang="en-US" altLang="zh-CN" sz="1400" baseline="0" dirty="0">
                          <a:latin typeface="Times New Roman" panose="02020603050405020304" pitchFamily="18" charset="0"/>
                          <a:ea typeface="宋体" panose="02010600030101010101" pitchFamily="2" charset="-122"/>
                        </a:rPr>
                        <a:t>GB2312</a:t>
                      </a:r>
                      <a:endParaRPr lang="zh-CN" altLang="en-US" sz="1400" baseline="0" dirty="0">
                        <a:latin typeface="Times New Roman" panose="02020603050405020304" pitchFamily="18" charset="0"/>
                        <a:ea typeface="宋体" panose="02010600030101010101" pitchFamily="2" charset="-122"/>
                      </a:endParaRPr>
                    </a:p>
                  </a:txBody>
                  <a:tcPr anchor="ctr"/>
                </a:tc>
                <a:extLst>
                  <a:ext uri="{0D108BD9-81ED-4DB2-BD59-A6C34878D82A}">
                    <a16:rowId xmlns:a16="http://schemas.microsoft.com/office/drawing/2014/main" val="10003"/>
                  </a:ext>
                </a:extLst>
              </a:tr>
              <a:tr h="370840">
                <a:tc>
                  <a:txBody>
                    <a:bodyPr/>
                    <a:lstStyle/>
                    <a:p>
                      <a:r>
                        <a:rPr lang="en-US" altLang="zh-CN" sz="1600" baseline="0" dirty="0">
                          <a:latin typeface="Times New Roman" panose="02020603050405020304" pitchFamily="18" charset="0"/>
                          <a:ea typeface="宋体" panose="02010600030101010101" pitchFamily="2" charset="-122"/>
                        </a:rPr>
                        <a:t>CP936</a:t>
                      </a:r>
                      <a:endParaRPr lang="zh-CN" altLang="en-US" sz="1600" baseline="0" dirty="0">
                        <a:latin typeface="Times New Roman" panose="02020603050405020304" pitchFamily="18" charset="0"/>
                        <a:ea typeface="宋体" panose="02010600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aseline="0" dirty="0">
                          <a:latin typeface="Times New Roman" panose="02020603050405020304" pitchFamily="18" charset="0"/>
                          <a:ea typeface="宋体" panose="02010600030101010101" pitchFamily="2" charset="-122"/>
                        </a:rPr>
                        <a:t>1</a:t>
                      </a:r>
                      <a:r>
                        <a:rPr lang="zh-CN" altLang="en-US" sz="1600" baseline="0" dirty="0">
                          <a:latin typeface="Times New Roman" panose="02020603050405020304" pitchFamily="18" charset="0"/>
                          <a:ea typeface="宋体" panose="02010600030101010101" pitchFamily="2" charset="-122"/>
                        </a:rPr>
                        <a:t>字节</a:t>
                      </a:r>
                    </a:p>
                  </a:txBody>
                  <a:tcPr anchor="ctr"/>
                </a:tc>
                <a:tc>
                  <a:txBody>
                    <a:bodyPr/>
                    <a:lstStyle/>
                    <a:p>
                      <a:pPr algn="ctr"/>
                      <a:r>
                        <a:rPr lang="en-US" altLang="zh-CN" sz="1600" baseline="0" dirty="0">
                          <a:latin typeface="Times New Roman" panose="02020603050405020304" pitchFamily="18" charset="0"/>
                          <a:ea typeface="宋体" panose="02010600030101010101" pitchFamily="2" charset="-122"/>
                        </a:rPr>
                        <a:t>2</a:t>
                      </a:r>
                      <a:r>
                        <a:rPr lang="zh-CN" altLang="en-US" sz="1600" baseline="0" dirty="0">
                          <a:latin typeface="Times New Roman" panose="02020603050405020304" pitchFamily="18" charset="0"/>
                          <a:ea typeface="宋体" panose="02010600030101010101" pitchFamily="2" charset="-122"/>
                        </a:rPr>
                        <a:t>字节</a:t>
                      </a:r>
                    </a:p>
                  </a:txBody>
                  <a:tcPr anchor="ctr"/>
                </a:tc>
                <a:tc>
                  <a:txBody>
                    <a:bodyPr/>
                    <a:lstStyle/>
                    <a:p>
                      <a:pPr algn="ctr"/>
                      <a:r>
                        <a:rPr lang="zh-CN" altLang="en-US" sz="1400" baseline="0">
                          <a:latin typeface="Times New Roman" panose="02020603050405020304" pitchFamily="18" charset="0"/>
                          <a:ea typeface="宋体" panose="02010600030101010101" pitchFamily="2" charset="-122"/>
                        </a:rPr>
                        <a:t>微软</a:t>
                      </a:r>
                      <a:r>
                        <a:rPr lang="en-US" altLang="zh-CN" sz="1400" baseline="0">
                          <a:latin typeface="Times New Roman" panose="02020603050405020304" pitchFamily="18" charset="0"/>
                          <a:ea typeface="宋体" panose="02010600030101010101" pitchFamily="2" charset="-122"/>
                        </a:rPr>
                        <a:t>GBK</a:t>
                      </a:r>
                      <a:endParaRPr lang="zh-CN" altLang="en-US" sz="1400" baseline="0" dirty="0">
                        <a:latin typeface="Times New Roman" panose="02020603050405020304" pitchFamily="18" charset="0"/>
                        <a:ea typeface="宋体" panose="02010600030101010101" pitchFamily="2" charset="-122"/>
                      </a:endParaRPr>
                    </a:p>
                  </a:txBody>
                  <a:tcPr anchor="ctr"/>
                </a:tc>
                <a:extLst>
                  <a:ext uri="{0D108BD9-81ED-4DB2-BD59-A6C34878D82A}">
                    <a16:rowId xmlns:a16="http://schemas.microsoft.com/office/drawing/2014/main" val="10004"/>
                  </a:ext>
                </a:extLst>
              </a:tr>
              <a:tr h="370840">
                <a:tc>
                  <a:txBody>
                    <a:bodyPr/>
                    <a:lstStyle/>
                    <a:p>
                      <a:r>
                        <a:rPr lang="en-US" altLang="zh-CN" sz="1600" baseline="0" dirty="0">
                          <a:latin typeface="Times New Roman" panose="02020603050405020304" pitchFamily="18" charset="0"/>
                          <a:ea typeface="宋体" panose="02010600030101010101" pitchFamily="2" charset="-122"/>
                        </a:rPr>
                        <a:t>UTF-8</a:t>
                      </a:r>
                      <a:endParaRPr lang="zh-CN" altLang="en-US" sz="1600" baseline="0" dirty="0">
                        <a:latin typeface="Times New Roman" panose="02020603050405020304" pitchFamily="18" charset="0"/>
                        <a:ea typeface="宋体" panose="02010600030101010101" pitchFamily="2" charset="-122"/>
                      </a:endParaRPr>
                    </a:p>
                  </a:txBody>
                  <a:tcPr/>
                </a:tc>
                <a:tc>
                  <a:txBody>
                    <a:bodyPr/>
                    <a:lstStyle/>
                    <a:p>
                      <a:pPr algn="ctr"/>
                      <a:r>
                        <a:rPr lang="en-US" altLang="zh-CN" sz="1600" baseline="0" dirty="0">
                          <a:latin typeface="Times New Roman" panose="02020603050405020304" pitchFamily="18" charset="0"/>
                          <a:ea typeface="宋体" panose="02010600030101010101" pitchFamily="2" charset="-122"/>
                        </a:rPr>
                        <a:t>1</a:t>
                      </a:r>
                      <a:r>
                        <a:rPr lang="zh-CN" altLang="en-US" sz="1600" baseline="0" dirty="0">
                          <a:latin typeface="Times New Roman" panose="02020603050405020304" pitchFamily="18" charset="0"/>
                          <a:ea typeface="宋体" panose="02010600030101010101" pitchFamily="2" charset="-122"/>
                        </a:rPr>
                        <a:t>字节</a:t>
                      </a:r>
                    </a:p>
                  </a:txBody>
                  <a:tcPr anchor="ctr"/>
                </a:tc>
                <a:tc>
                  <a:txBody>
                    <a:bodyPr/>
                    <a:lstStyle/>
                    <a:p>
                      <a:pPr algn="ctr"/>
                      <a:r>
                        <a:rPr lang="en-US" altLang="zh-CN" sz="1600" baseline="0" dirty="0">
                          <a:latin typeface="Times New Roman" panose="02020603050405020304" pitchFamily="18" charset="0"/>
                          <a:ea typeface="宋体" panose="02010600030101010101" pitchFamily="2" charset="-122"/>
                        </a:rPr>
                        <a:t>3</a:t>
                      </a:r>
                      <a:r>
                        <a:rPr lang="zh-CN" altLang="en-US" sz="1600" baseline="0" dirty="0">
                          <a:latin typeface="Times New Roman" panose="02020603050405020304" pitchFamily="18" charset="0"/>
                          <a:ea typeface="宋体" panose="02010600030101010101" pitchFamily="2" charset="-122"/>
                        </a:rPr>
                        <a:t>字节</a:t>
                      </a:r>
                    </a:p>
                  </a:txBody>
                  <a:tcPr anchor="ctr"/>
                </a:tc>
                <a:tc>
                  <a:txBody>
                    <a:bodyPr/>
                    <a:lstStyle/>
                    <a:p>
                      <a:pPr algn="ctr"/>
                      <a:r>
                        <a:rPr lang="en-US" altLang="zh-CN" sz="1400" baseline="0" dirty="0">
                          <a:latin typeface="Times New Roman" panose="02020603050405020304" pitchFamily="18" charset="0"/>
                          <a:ea typeface="宋体" panose="02010600030101010101" pitchFamily="2" charset="-122"/>
                        </a:rPr>
                        <a:t>Unicode </a:t>
                      </a:r>
                      <a:r>
                        <a:rPr lang="zh-CN" altLang="en-US" sz="1400" baseline="0" dirty="0">
                          <a:latin typeface="Times New Roman" panose="02020603050405020304" pitchFamily="18" charset="0"/>
                          <a:ea typeface="宋体" panose="02010600030101010101" pitchFamily="2" charset="-122"/>
                        </a:rPr>
                        <a:t>变长的模式</a:t>
                      </a:r>
                    </a:p>
                  </a:txBody>
                  <a:tcPr anchor="ctr"/>
                </a:tc>
                <a:extLst>
                  <a:ext uri="{0D108BD9-81ED-4DB2-BD59-A6C34878D82A}">
                    <a16:rowId xmlns:a16="http://schemas.microsoft.com/office/drawing/2014/main" val="10005"/>
                  </a:ext>
                </a:extLst>
              </a:tr>
              <a:tr h="370840">
                <a:tc>
                  <a:txBody>
                    <a:bodyPr/>
                    <a:lstStyle/>
                    <a:p>
                      <a:r>
                        <a:rPr lang="en-US" altLang="zh-CN" sz="1600" baseline="0" dirty="0">
                          <a:latin typeface="Times New Roman" panose="02020603050405020304" pitchFamily="18" charset="0"/>
                          <a:ea typeface="宋体" panose="02010600030101010101" pitchFamily="2" charset="-122"/>
                        </a:rPr>
                        <a:t>Unicode</a:t>
                      </a:r>
                      <a:endParaRPr lang="zh-CN" altLang="en-US" sz="1600" baseline="0" dirty="0">
                        <a:latin typeface="Times New Roman" panose="02020603050405020304" pitchFamily="18" charset="0"/>
                        <a:ea typeface="宋体" panose="02010600030101010101" pitchFamily="2"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aseline="0" dirty="0">
                          <a:latin typeface="Times New Roman" panose="02020603050405020304" pitchFamily="18" charset="0"/>
                          <a:ea typeface="宋体" panose="02010600030101010101" pitchFamily="2" charset="-122"/>
                        </a:rPr>
                        <a:t>1</a:t>
                      </a:r>
                      <a:r>
                        <a:rPr lang="zh-CN" altLang="en-US" sz="1600" baseline="0" dirty="0">
                          <a:latin typeface="Times New Roman" panose="02020603050405020304" pitchFamily="18" charset="0"/>
                          <a:ea typeface="宋体" panose="02010600030101010101" pitchFamily="2" charset="-122"/>
                        </a:rPr>
                        <a:t>字节</a:t>
                      </a:r>
                    </a:p>
                  </a:txBody>
                  <a:tcPr anchor="ctr"/>
                </a:tc>
                <a:tc>
                  <a:txBody>
                    <a:bodyPr/>
                    <a:lstStyle/>
                    <a:p>
                      <a:pPr algn="ctr"/>
                      <a:r>
                        <a:rPr lang="en-US" altLang="zh-CN" sz="1600" baseline="0" dirty="0">
                          <a:latin typeface="Times New Roman" panose="02020603050405020304" pitchFamily="18" charset="0"/>
                          <a:ea typeface="宋体" panose="02010600030101010101" pitchFamily="2" charset="-122"/>
                        </a:rPr>
                        <a:t>2</a:t>
                      </a:r>
                      <a:r>
                        <a:rPr lang="zh-CN" altLang="en-US" sz="1600" baseline="0" dirty="0">
                          <a:latin typeface="Times New Roman" panose="02020603050405020304" pitchFamily="18" charset="0"/>
                          <a:ea typeface="宋体" panose="02010600030101010101" pitchFamily="2" charset="-122"/>
                        </a:rPr>
                        <a:t>字节</a:t>
                      </a:r>
                    </a:p>
                  </a:txBody>
                  <a:tcPr anchor="ctr"/>
                </a:tc>
                <a:tc>
                  <a:txBody>
                    <a:bodyPr/>
                    <a:lstStyle/>
                    <a:p>
                      <a:pPr algn="ctr"/>
                      <a:r>
                        <a:rPr lang="zh-CN" altLang="en-US" sz="1400" kern="1200" baseline="0" dirty="0">
                          <a:solidFill>
                            <a:schemeClr val="dk1"/>
                          </a:solidFill>
                          <a:latin typeface="Times New Roman" panose="02020603050405020304" pitchFamily="18" charset="0"/>
                          <a:ea typeface="宋体" panose="02010600030101010101" pitchFamily="2" charset="-122"/>
                          <a:cs typeface="+mn-cs"/>
                        </a:rPr>
                        <a:t>常见：</a:t>
                      </a:r>
                      <a:r>
                        <a:rPr lang="en-US" altLang="zh-CN" sz="1400" kern="1200" baseline="0" dirty="0">
                          <a:solidFill>
                            <a:schemeClr val="dk1"/>
                          </a:solidFill>
                          <a:latin typeface="Times New Roman" panose="02020603050405020304" pitchFamily="18" charset="0"/>
                          <a:ea typeface="宋体" panose="02010600030101010101" pitchFamily="2" charset="-122"/>
                          <a:cs typeface="+mn-cs"/>
                        </a:rPr>
                        <a:t>UCS-16</a:t>
                      </a:r>
                      <a:r>
                        <a:rPr lang="zh-CN" altLang="en-US" sz="1400" kern="1200" baseline="0" dirty="0">
                          <a:solidFill>
                            <a:schemeClr val="dk1"/>
                          </a:solidFill>
                          <a:latin typeface="Times New Roman" panose="02020603050405020304" pitchFamily="18" charset="0"/>
                          <a:ea typeface="宋体" panose="02010600030101010101" pitchFamily="2" charset="-122"/>
                          <a:cs typeface="+mn-cs"/>
                        </a:rPr>
                        <a:t>编码，等长</a:t>
                      </a:r>
                      <a:endParaRPr lang="en-US" altLang="zh-CN" sz="1400" kern="1200" baseline="0" dirty="0">
                        <a:solidFill>
                          <a:schemeClr val="dk1"/>
                        </a:solidFill>
                        <a:latin typeface="Times New Roman" panose="02020603050405020304" pitchFamily="18" charset="0"/>
                        <a:ea typeface="宋体" panose="02010600030101010101" pitchFamily="2" charset="-122"/>
                        <a:cs typeface="+mn-cs"/>
                      </a:endParaRPr>
                    </a:p>
                    <a:p>
                      <a:pPr algn="ctr"/>
                      <a:r>
                        <a:rPr lang="zh-CN" altLang="en-US" sz="1400" kern="1200" baseline="0" dirty="0">
                          <a:solidFill>
                            <a:schemeClr val="dk1"/>
                          </a:solidFill>
                          <a:latin typeface="Times New Roman" panose="02020603050405020304" pitchFamily="18" charset="0"/>
                          <a:ea typeface="宋体" panose="02010600030101010101" pitchFamily="2" charset="-122"/>
                          <a:cs typeface="+mn-cs"/>
                        </a:rPr>
                        <a:t>存储、传输不划算</a:t>
                      </a:r>
                    </a:p>
                  </a:txBody>
                  <a:tcPr anchor="ctr"/>
                </a:tc>
                <a:extLst>
                  <a:ext uri="{0D108BD9-81ED-4DB2-BD59-A6C34878D82A}">
                    <a16:rowId xmlns:a16="http://schemas.microsoft.com/office/drawing/2014/main" val="10006"/>
                  </a:ext>
                </a:extLst>
              </a:tr>
            </a:tbl>
          </a:graphicData>
        </a:graphic>
      </p:graphicFrame>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5</a:t>
            </a:fld>
            <a:endParaRPr lang="zh-CN" altLang="en-US" dirty="0"/>
          </a:p>
        </p:txBody>
      </p:sp>
      <p:pic>
        <p:nvPicPr>
          <p:cNvPr id="7" name="图片 6"/>
          <p:cNvPicPr>
            <a:picLocks noChangeAspect="1"/>
          </p:cNvPicPr>
          <p:nvPr/>
        </p:nvPicPr>
        <p:blipFill>
          <a:blip r:embed="rId3"/>
          <a:stretch>
            <a:fillRect/>
          </a:stretch>
        </p:blipFill>
        <p:spPr>
          <a:xfrm>
            <a:off x="377253" y="4315539"/>
            <a:ext cx="5551251" cy="841653"/>
          </a:xfrm>
          <a:prstGeom prst="rect">
            <a:avLst/>
          </a:prstGeom>
        </p:spPr>
      </p:pic>
      <p:pic>
        <p:nvPicPr>
          <p:cNvPr id="11266" name="Picture 2" descr="rw-file-utf-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2199" y="3923424"/>
            <a:ext cx="2709888" cy="2453905"/>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8363634" y="4015929"/>
            <a:ext cx="646331" cy="369332"/>
          </a:xfrm>
          <a:prstGeom prst="rect">
            <a:avLst/>
          </a:prstGeom>
          <a:solidFill>
            <a:srgbClr val="FF0000"/>
          </a:solidFill>
        </p:spPr>
        <p:txBody>
          <a:bodyPr wrap="none" rtlCol="0">
            <a:spAutoFit/>
          </a:bodyPr>
          <a:lstStyle/>
          <a:p>
            <a:r>
              <a:rPr lang="zh-CN" altLang="en-US" dirty="0"/>
              <a:t>内存</a:t>
            </a:r>
          </a:p>
        </p:txBody>
      </p:sp>
      <p:grpSp>
        <p:nvGrpSpPr>
          <p:cNvPr id="10" name="组合 114"/>
          <p:cNvGrpSpPr/>
          <p:nvPr/>
        </p:nvGrpSpPr>
        <p:grpSpPr>
          <a:xfrm>
            <a:off x="-540568" y="116632"/>
            <a:ext cx="6225040" cy="662730"/>
            <a:chOff x="-198275" y="3380765"/>
            <a:chExt cx="6225040" cy="662730"/>
          </a:xfrm>
        </p:grpSpPr>
        <p:grpSp>
          <p:nvGrpSpPr>
            <p:cNvPr id="11" name="组合 105"/>
            <p:cNvGrpSpPr/>
            <p:nvPr/>
          </p:nvGrpSpPr>
          <p:grpSpPr>
            <a:xfrm>
              <a:off x="-198275" y="3380765"/>
              <a:ext cx="6225040" cy="662730"/>
              <a:chOff x="-198275" y="3380765"/>
              <a:chExt cx="6225040" cy="662730"/>
            </a:xfrm>
          </p:grpSpPr>
          <p:sp>
            <p:nvSpPr>
              <p:cNvPr id="13"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4"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12" name="图片 11" descr="12.jpg"/>
            <p:cNvPicPr>
              <a:picLocks noChangeAspect="1"/>
            </p:cNvPicPr>
            <p:nvPr/>
          </p:nvPicPr>
          <p:blipFill>
            <a:blip r:embed="rId5" cstate="print"/>
            <a:stretch>
              <a:fillRect/>
            </a:stretch>
          </p:blipFill>
          <p:spPr>
            <a:xfrm>
              <a:off x="1115929" y="3530600"/>
              <a:ext cx="446172" cy="431048"/>
            </a:xfrm>
            <a:prstGeom prst="rect">
              <a:avLst/>
            </a:prstGeom>
          </p:spPr>
        </p:pic>
      </p:grpSp>
    </p:spTree>
    <p:extLst>
      <p:ext uri="{BB962C8B-B14F-4D97-AF65-F5344CB8AC3E}">
        <p14:creationId xmlns:p14="http://schemas.microsoft.com/office/powerpoint/2010/main" val="3200373910"/>
      </p:ext>
    </p:extLst>
  </p:cSld>
  <p:clrMapOvr>
    <a:masterClrMapping/>
  </p:clrMapOvr>
  <p:transition spd="slow" advClick="0">
    <p:pull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6</a:t>
            </a:fld>
            <a:endParaRPr lang="zh-CN" altLang="en-US" dirty="0"/>
          </a:p>
        </p:txBody>
      </p:sp>
      <p:sp>
        <p:nvSpPr>
          <p:cNvPr id="5" name="文本占位符 23554"/>
          <p:cNvSpPr>
            <a:spLocks noGrp="1"/>
          </p:cNvSpPr>
          <p:nvPr>
            <p:ph idx="1"/>
          </p:nvPr>
        </p:nvSpPr>
        <p:spPr>
          <a:xfrm>
            <a:off x="323528" y="1052736"/>
            <a:ext cx="8229600" cy="4678451"/>
          </a:xfrm>
        </p:spPr>
        <p:txBody>
          <a:bodyPr anchor="t"/>
          <a:lstStyle/>
          <a:p>
            <a:pPr>
              <a:spcBef>
                <a:spcPts val="600"/>
              </a:spcBef>
              <a:buClr>
                <a:srgbClr val="FF0000"/>
              </a:buClr>
              <a:buSzPct val="70000"/>
              <a:buFont typeface="Wingdings" panose="05000000000000000000" charset="0"/>
              <a:buChar char=""/>
            </a:pPr>
            <a:r>
              <a:rPr lang="zh-CN" altLang="en-US" sz="2000" b="1" dirty="0">
                <a:latin typeface="宋体" panose="02010600030101010101" pitchFamily="2" charset="-122"/>
              </a:rPr>
              <a:t>Python 3.x完全支持中文字符，</a:t>
            </a:r>
            <a:r>
              <a:rPr lang="zh-CN" altLang="en-US" sz="2000" b="1" dirty="0">
                <a:solidFill>
                  <a:srgbClr val="FF0000"/>
                </a:solidFill>
                <a:latin typeface="宋体" panose="02010600030101010101" pitchFamily="2" charset="-122"/>
              </a:rPr>
              <a:t>默认使用UTF8编码格式</a:t>
            </a:r>
            <a:r>
              <a:rPr lang="zh-CN" altLang="en-US" sz="2000" b="1" dirty="0">
                <a:latin typeface="宋体" panose="02010600030101010101" pitchFamily="2" charset="-122"/>
              </a:rPr>
              <a:t>，无论是一个数字、英文字母，还是一个汉字，</a:t>
            </a:r>
            <a:r>
              <a:rPr lang="zh-CN" altLang="en-US" sz="2000" b="1" dirty="0">
                <a:solidFill>
                  <a:srgbClr val="FF0000"/>
                </a:solidFill>
                <a:latin typeface="宋体" panose="02010600030101010101" pitchFamily="2" charset="-122"/>
              </a:rPr>
              <a:t>在统计字符串长度时都按一个字符对待和处理</a:t>
            </a:r>
            <a:r>
              <a:rPr lang="zh-CN" altLang="en-US" sz="2000" b="1" dirty="0">
                <a:latin typeface="宋体" panose="02010600030101010101" pitchFamily="2" charset="-122"/>
              </a:rPr>
              <a:t>。</a:t>
            </a:r>
          </a:p>
          <a:p>
            <a:pPr>
              <a:lnSpc>
                <a:spcPct val="80000"/>
              </a:lnSpc>
              <a:buSzPct val="70000"/>
              <a:buNone/>
            </a:pPr>
            <a:endParaRPr lang="zh-CN" altLang="en-US" sz="1350" dirty="0">
              <a:latin typeface="宋体" panose="02010600030101010101" pitchFamily="2" charset="-122"/>
            </a:endParaRPr>
          </a:p>
          <a:p>
            <a:pPr>
              <a:spcBef>
                <a:spcPct val="0"/>
              </a:spcBef>
              <a:buSzPct val="70000"/>
              <a:buNone/>
            </a:pPr>
            <a:r>
              <a:rPr lang="zh-CN" altLang="en-US" sz="1600" dirty="0">
                <a:latin typeface="Consolas" panose="020B0609020204030204" charset="0"/>
              </a:rPr>
              <a:t>&gt;&gt;&gt; s = '合肥工业大学'</a:t>
            </a:r>
          </a:p>
          <a:p>
            <a:pPr>
              <a:spcBef>
                <a:spcPct val="0"/>
              </a:spcBef>
              <a:buSzPct val="70000"/>
              <a:buNone/>
            </a:pPr>
            <a:r>
              <a:rPr lang="zh-CN" altLang="en-US" sz="1600" dirty="0">
                <a:latin typeface="Consolas" panose="020B0609020204030204" charset="0"/>
              </a:rPr>
              <a:t>&gt;&gt;&gt; len(s)                   #字符串长度，或者包含的字符个数</a:t>
            </a:r>
          </a:p>
          <a:p>
            <a:pPr>
              <a:spcBef>
                <a:spcPct val="0"/>
              </a:spcBef>
              <a:buSzPct val="70000"/>
              <a:buNone/>
            </a:pPr>
            <a:r>
              <a:rPr lang="zh-CN" altLang="en-US" sz="1600" dirty="0">
                <a:solidFill>
                  <a:srgbClr val="0000FF"/>
                </a:solidFill>
                <a:latin typeface="Consolas" panose="020B0609020204030204" charset="0"/>
              </a:rPr>
              <a:t>6</a:t>
            </a:r>
            <a:endParaRPr lang="en-US" altLang="zh-CN" sz="1600" dirty="0">
              <a:solidFill>
                <a:srgbClr val="0000FF"/>
              </a:solidFill>
              <a:latin typeface="Consolas" panose="020B0609020204030204" charset="0"/>
            </a:endParaRPr>
          </a:p>
          <a:p>
            <a:pPr>
              <a:spcBef>
                <a:spcPct val="0"/>
              </a:spcBef>
              <a:buSzPct val="70000"/>
              <a:buNone/>
            </a:pPr>
            <a:endParaRPr lang="zh-CN" altLang="en-US" sz="1600" dirty="0">
              <a:solidFill>
                <a:srgbClr val="0000FF"/>
              </a:solidFill>
              <a:latin typeface="Consolas" panose="020B0609020204030204" charset="0"/>
            </a:endParaRPr>
          </a:p>
          <a:p>
            <a:pPr>
              <a:spcBef>
                <a:spcPct val="0"/>
              </a:spcBef>
              <a:buSzPct val="70000"/>
              <a:buNone/>
            </a:pPr>
            <a:r>
              <a:rPr lang="zh-CN" altLang="en-US" sz="1600" dirty="0">
                <a:latin typeface="Consolas" panose="020B0609020204030204" charset="0"/>
              </a:rPr>
              <a:t>&gt;&gt;&gt; s = '合肥工业大学</a:t>
            </a:r>
            <a:r>
              <a:rPr lang="en-US" altLang="zh-CN" sz="1600" dirty="0">
                <a:latin typeface="Consolas" panose="020B0609020204030204" charset="0"/>
              </a:rPr>
              <a:t>HFUT</a:t>
            </a:r>
            <a:r>
              <a:rPr lang="zh-CN" altLang="en-US" sz="1600" dirty="0">
                <a:latin typeface="Consolas" panose="020B0609020204030204" charset="0"/>
              </a:rPr>
              <a:t>'   #中文与英文字符同样对待，都算一个字符</a:t>
            </a:r>
          </a:p>
          <a:p>
            <a:pPr>
              <a:spcBef>
                <a:spcPct val="0"/>
              </a:spcBef>
              <a:buSzPct val="70000"/>
              <a:buNone/>
            </a:pPr>
            <a:r>
              <a:rPr lang="zh-CN" altLang="en-US" sz="1600" dirty="0">
                <a:latin typeface="Consolas" panose="020B0609020204030204" charset="0"/>
              </a:rPr>
              <a:t>&gt;&gt;&gt; len(s)</a:t>
            </a:r>
          </a:p>
          <a:p>
            <a:pPr>
              <a:spcBef>
                <a:spcPct val="0"/>
              </a:spcBef>
              <a:buSzPct val="70000"/>
              <a:buNone/>
            </a:pPr>
            <a:r>
              <a:rPr lang="zh-CN" altLang="en-US" sz="1600" dirty="0">
                <a:solidFill>
                  <a:srgbClr val="0000FF"/>
                </a:solidFill>
                <a:latin typeface="Consolas" panose="020B0609020204030204" charset="0"/>
              </a:rPr>
              <a:t>1</a:t>
            </a:r>
            <a:r>
              <a:rPr lang="en-US" altLang="zh-CN" sz="1600" dirty="0">
                <a:solidFill>
                  <a:srgbClr val="0000FF"/>
                </a:solidFill>
                <a:latin typeface="Consolas" panose="020B0609020204030204" charset="0"/>
              </a:rPr>
              <a:t>0</a:t>
            </a:r>
          </a:p>
          <a:p>
            <a:pPr>
              <a:spcBef>
                <a:spcPct val="0"/>
              </a:spcBef>
              <a:buSzPct val="70000"/>
              <a:buNone/>
            </a:pPr>
            <a:endParaRPr lang="en-US" altLang="zh-CN" sz="1600" dirty="0">
              <a:solidFill>
                <a:srgbClr val="0000FF"/>
              </a:solidFill>
              <a:latin typeface="Consolas" panose="020B0609020204030204" charset="0"/>
            </a:endParaRPr>
          </a:p>
          <a:p>
            <a:pPr>
              <a:spcBef>
                <a:spcPct val="0"/>
              </a:spcBef>
              <a:buSzPct val="70000"/>
              <a:buNone/>
            </a:pPr>
            <a:r>
              <a:rPr lang="zh-CN" altLang="en-US" sz="1600" dirty="0">
                <a:latin typeface="Consolas" panose="020B0609020204030204" charset="0"/>
              </a:rPr>
              <a:t>&gt;&gt;&gt; 姓名 = '张三'             #使用中文作为变量名</a:t>
            </a:r>
          </a:p>
          <a:p>
            <a:pPr>
              <a:spcBef>
                <a:spcPct val="0"/>
              </a:spcBef>
              <a:buSzPct val="70000"/>
              <a:buNone/>
            </a:pPr>
            <a:r>
              <a:rPr lang="zh-CN" altLang="en-US" sz="1600" dirty="0">
                <a:latin typeface="Consolas" panose="020B0609020204030204" charset="0"/>
              </a:rPr>
              <a:t>&gt;&gt;&gt; print(姓名)               #输出变量的值</a:t>
            </a:r>
          </a:p>
          <a:p>
            <a:pPr>
              <a:spcBef>
                <a:spcPct val="0"/>
              </a:spcBef>
              <a:buSzPct val="70000"/>
              <a:buNone/>
            </a:pPr>
            <a:r>
              <a:rPr lang="zh-CN" altLang="en-US" sz="1600" dirty="0">
                <a:solidFill>
                  <a:srgbClr val="0000FF"/>
                </a:solidFill>
                <a:latin typeface="Consolas" panose="020B0609020204030204" charset="0"/>
              </a:rPr>
              <a:t>张三</a:t>
            </a:r>
          </a:p>
        </p:txBody>
      </p:sp>
      <p:grpSp>
        <p:nvGrpSpPr>
          <p:cNvPr id="6" name="组合 114"/>
          <p:cNvGrpSpPr/>
          <p:nvPr/>
        </p:nvGrpSpPr>
        <p:grpSpPr>
          <a:xfrm>
            <a:off x="-540568" y="116632"/>
            <a:ext cx="6225040" cy="662730"/>
            <a:chOff x="-198275" y="3380765"/>
            <a:chExt cx="6225040" cy="662730"/>
          </a:xfrm>
        </p:grpSpPr>
        <p:grpSp>
          <p:nvGrpSpPr>
            <p:cNvPr id="7" name="组合 105"/>
            <p:cNvGrpSpPr/>
            <p:nvPr/>
          </p:nvGrpSpPr>
          <p:grpSpPr>
            <a:xfrm>
              <a:off x="-198275" y="3380765"/>
              <a:ext cx="6225040" cy="662730"/>
              <a:chOff x="-198275"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Tree>
    <p:extLst>
      <p:ext uri="{BB962C8B-B14F-4D97-AF65-F5344CB8AC3E}">
        <p14:creationId xmlns:p14="http://schemas.microsoft.com/office/powerpoint/2010/main" val="179989245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7</a:t>
            </a:fld>
            <a:endParaRPr lang="zh-CN" altLang="en-US" dirty="0"/>
          </a:p>
        </p:txBody>
      </p:sp>
      <p:grpSp>
        <p:nvGrpSpPr>
          <p:cNvPr id="14" name="组合 114"/>
          <p:cNvGrpSpPr/>
          <p:nvPr/>
        </p:nvGrpSpPr>
        <p:grpSpPr>
          <a:xfrm>
            <a:off x="-540568" y="116632"/>
            <a:ext cx="6225040" cy="662730"/>
            <a:chOff x="-198275" y="3380765"/>
            <a:chExt cx="6225040" cy="662730"/>
          </a:xfrm>
        </p:grpSpPr>
        <p:grpSp>
          <p:nvGrpSpPr>
            <p:cNvPr id="15" name="组合 105"/>
            <p:cNvGrpSpPr/>
            <p:nvPr/>
          </p:nvGrpSpPr>
          <p:grpSpPr>
            <a:xfrm>
              <a:off x="-198275" y="3380765"/>
              <a:ext cx="6225040" cy="662730"/>
              <a:chOff x="-198275" y="3380765"/>
              <a:chExt cx="6225040" cy="662730"/>
            </a:xfrm>
          </p:grpSpPr>
          <p:sp>
            <p:nvSpPr>
              <p:cNvPr id="1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16" name="图片 15"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21" name="文本框 20"/>
          <p:cNvSpPr txBox="1"/>
          <p:nvPr/>
        </p:nvSpPr>
        <p:spPr>
          <a:xfrm>
            <a:off x="251520" y="972479"/>
            <a:ext cx="8892480" cy="1384995"/>
          </a:xfrm>
          <a:prstGeom prst="rect">
            <a:avLst/>
          </a:prstGeom>
          <a:solidFill>
            <a:schemeClr val="accent3">
              <a:lumMod val="40000"/>
              <a:lumOff val="60000"/>
            </a:schemeClr>
          </a:solidFill>
        </p:spPr>
        <p:txBody>
          <a:bodyPr wrap="square">
            <a:spAutoFit/>
          </a:bodyPr>
          <a:lstStyle/>
          <a:p>
            <a:r>
              <a:rPr lang="zh-CN" altLang="en-US" sz="1400" dirty="0">
                <a:latin typeface="Times New Roman" panose="02020603050405020304" pitchFamily="18" charset="0"/>
              </a:rPr>
              <a:t>语法：</a:t>
            </a:r>
            <a:endParaRPr lang="en-US" altLang="zh-CN" sz="1400" dirty="0">
              <a:latin typeface="Times New Roman" panose="02020603050405020304" pitchFamily="18" charset="0"/>
            </a:endParaRPr>
          </a:p>
          <a:p>
            <a:r>
              <a:rPr lang="en-US" altLang="zh-CN" sz="1400" dirty="0">
                <a:latin typeface="Times New Roman" panose="02020603050405020304" pitchFamily="18" charset="0"/>
              </a:rPr>
              <a:t>    </a:t>
            </a:r>
            <a:r>
              <a:rPr lang="zh-CN" altLang="en-US" sz="1400" dirty="0">
                <a:latin typeface="Times New Roman" panose="02020603050405020304" pitchFamily="18" charset="0"/>
              </a:rPr>
              <a:t>str.encode(encoding=‘UTF-8’,errors=‘strict’) </a:t>
            </a:r>
            <a:r>
              <a:rPr lang="zh-CN" altLang="en-US" sz="1400" b="0" i="0" dirty="0">
                <a:solidFill>
                  <a:srgbClr val="333333"/>
                </a:solidFill>
                <a:effectLst/>
                <a:latin typeface="Helvetica Neue"/>
              </a:rPr>
              <a:t>以指定的编码格式编码字符串</a:t>
            </a:r>
            <a:endParaRPr lang="en-US" altLang="zh-CN" sz="1400" b="0" i="0" dirty="0">
              <a:solidFill>
                <a:srgbClr val="333333"/>
              </a:solidFill>
              <a:effectLst/>
              <a:latin typeface="Helvetica Neue"/>
            </a:endParaRPr>
          </a:p>
          <a:p>
            <a:r>
              <a:rPr lang="en-US" altLang="zh-CN" sz="1400" b="0" i="0" dirty="0">
                <a:solidFill>
                  <a:srgbClr val="333333"/>
                </a:solidFill>
                <a:effectLst/>
                <a:latin typeface="Times New Roman" panose="02020603050405020304" pitchFamily="18" charset="0"/>
              </a:rPr>
              <a:t>    </a:t>
            </a:r>
            <a:r>
              <a:rPr lang="en-US" altLang="zh-CN" sz="1400" b="0" i="0" dirty="0" err="1">
                <a:solidFill>
                  <a:srgbClr val="333333"/>
                </a:solidFill>
                <a:effectLst/>
                <a:latin typeface="Times New Roman" panose="02020603050405020304" pitchFamily="18" charset="0"/>
              </a:rPr>
              <a:t>bytes.decode</a:t>
            </a:r>
            <a:r>
              <a:rPr lang="en-US" altLang="zh-CN" sz="1400" b="0" i="0" dirty="0">
                <a:solidFill>
                  <a:srgbClr val="333333"/>
                </a:solidFill>
                <a:effectLst/>
                <a:latin typeface="Times New Roman" panose="02020603050405020304" pitchFamily="18" charset="0"/>
              </a:rPr>
              <a:t>(encoding="utf-8", errors="strict")        </a:t>
            </a:r>
            <a:r>
              <a:rPr lang="zh-CN" altLang="en-US" sz="1400" b="0" i="0" dirty="0">
                <a:solidFill>
                  <a:srgbClr val="333333"/>
                </a:solidFill>
                <a:effectLst/>
                <a:latin typeface="Times New Roman" panose="02020603050405020304" pitchFamily="18" charset="0"/>
              </a:rPr>
              <a:t>以指定的编码格式解码 </a:t>
            </a:r>
            <a:r>
              <a:rPr lang="en-US" altLang="zh-CN" sz="1400" b="0" i="0" dirty="0">
                <a:solidFill>
                  <a:srgbClr val="333333"/>
                </a:solidFill>
                <a:effectLst/>
                <a:latin typeface="Times New Roman" panose="02020603050405020304" pitchFamily="18" charset="0"/>
              </a:rPr>
              <a:t>bytes </a:t>
            </a:r>
            <a:r>
              <a:rPr lang="zh-CN" altLang="en-US" sz="1400" b="0" i="0" dirty="0">
                <a:solidFill>
                  <a:srgbClr val="333333"/>
                </a:solidFill>
                <a:effectLst/>
                <a:latin typeface="Times New Roman" panose="02020603050405020304" pitchFamily="18" charset="0"/>
              </a:rPr>
              <a:t>对象。</a:t>
            </a:r>
            <a:r>
              <a:rPr lang="zh-CN" altLang="en-US" sz="1400" b="0" i="0" dirty="0">
                <a:solidFill>
                  <a:srgbClr val="FF0000"/>
                </a:solidFill>
                <a:effectLst/>
                <a:latin typeface="Times New Roman" panose="02020603050405020304" pitchFamily="18" charset="0"/>
              </a:rPr>
              <a:t>默认编码为 </a:t>
            </a:r>
            <a:r>
              <a:rPr lang="en-US" altLang="zh-CN" sz="1400" b="0" i="0" dirty="0">
                <a:solidFill>
                  <a:srgbClr val="FF0000"/>
                </a:solidFill>
                <a:effectLst/>
                <a:latin typeface="Times New Roman" panose="02020603050405020304" pitchFamily="18" charset="0"/>
              </a:rPr>
              <a:t>'utf-8</a:t>
            </a:r>
            <a:r>
              <a:rPr lang="en-US" altLang="zh-CN" sz="1400" b="0" i="0" dirty="0">
                <a:solidFill>
                  <a:srgbClr val="333333"/>
                </a:solidFill>
                <a:effectLst/>
                <a:latin typeface="Times New Roman" panose="02020603050405020304" pitchFamily="18" charset="0"/>
              </a:rPr>
              <a:t>’</a:t>
            </a:r>
            <a:endParaRPr lang="en-US" altLang="zh-CN" sz="1400" dirty="0">
              <a:latin typeface="Times New Roman" panose="02020603050405020304" pitchFamily="18" charset="0"/>
            </a:endParaRPr>
          </a:p>
          <a:p>
            <a:pPr marL="285750" indent="-285750">
              <a:buFont typeface="Arial" panose="020B0604020202020204" pitchFamily="34" charset="0"/>
              <a:buChar char="•"/>
            </a:pPr>
            <a:r>
              <a:rPr lang="en-US" altLang="zh-CN" sz="1400" dirty="0">
                <a:latin typeface="Times New Roman" panose="02020603050405020304" pitchFamily="18" charset="0"/>
              </a:rPr>
              <a:t>encoding -- </a:t>
            </a:r>
            <a:r>
              <a:rPr lang="zh-CN" altLang="en-US" sz="1400" dirty="0">
                <a:latin typeface="Times New Roman" panose="02020603050405020304" pitchFamily="18" charset="0"/>
              </a:rPr>
              <a:t>要使用的编码，如</a:t>
            </a:r>
            <a:r>
              <a:rPr lang="en-US" altLang="zh-CN" sz="1400" dirty="0">
                <a:latin typeface="Times New Roman" panose="02020603050405020304" pitchFamily="18" charset="0"/>
              </a:rPr>
              <a:t>: UTF-8</a:t>
            </a:r>
            <a:r>
              <a:rPr lang="zh-CN" altLang="en-US" sz="1400" dirty="0">
                <a:latin typeface="Times New Roman" panose="02020603050405020304" pitchFamily="18" charset="0"/>
              </a:rPr>
              <a:t>。</a:t>
            </a:r>
          </a:p>
          <a:p>
            <a:pPr marL="285750" indent="-285750">
              <a:buFont typeface="Arial" panose="020B0604020202020204" pitchFamily="34" charset="0"/>
              <a:buChar char="•"/>
            </a:pPr>
            <a:r>
              <a:rPr lang="en-US" altLang="zh-CN" sz="1400" dirty="0">
                <a:latin typeface="Times New Roman" panose="02020603050405020304" pitchFamily="18" charset="0"/>
              </a:rPr>
              <a:t>errors -- </a:t>
            </a:r>
            <a:r>
              <a:rPr lang="zh-CN" altLang="en-US" sz="1400" dirty="0">
                <a:latin typeface="Times New Roman" panose="02020603050405020304" pitchFamily="18" charset="0"/>
              </a:rPr>
              <a:t>设置不同错误的处理方案。默认为 </a:t>
            </a:r>
            <a:r>
              <a:rPr lang="en-US" altLang="zh-CN" sz="1400" dirty="0">
                <a:latin typeface="Times New Roman" panose="02020603050405020304" pitchFamily="18" charset="0"/>
              </a:rPr>
              <a:t>'strict',</a:t>
            </a:r>
            <a:r>
              <a:rPr lang="zh-CN" altLang="en-US" sz="1400" dirty="0">
                <a:latin typeface="Times New Roman" panose="02020603050405020304" pitchFamily="18" charset="0"/>
              </a:rPr>
              <a:t>意为编码错误引起一个</a:t>
            </a:r>
            <a:r>
              <a:rPr lang="en-US" altLang="zh-CN" sz="1400" dirty="0" err="1">
                <a:latin typeface="Times New Roman" panose="02020603050405020304" pitchFamily="18" charset="0"/>
              </a:rPr>
              <a:t>UnicodeError</a:t>
            </a:r>
            <a:r>
              <a:rPr lang="zh-CN" altLang="en-US" sz="1400" dirty="0">
                <a:latin typeface="Times New Roman" panose="02020603050405020304" pitchFamily="18" charset="0"/>
              </a:rPr>
              <a:t>。 其他可能得值有 </a:t>
            </a:r>
            <a:r>
              <a:rPr lang="en-US" altLang="zh-CN" sz="1400" dirty="0">
                <a:latin typeface="Times New Roman" panose="02020603050405020304" pitchFamily="18" charset="0"/>
              </a:rPr>
              <a:t>'ignore', 'replace', '</a:t>
            </a:r>
            <a:r>
              <a:rPr lang="en-US" altLang="zh-CN" sz="1400" dirty="0" err="1">
                <a:latin typeface="Times New Roman" panose="02020603050405020304" pitchFamily="18" charset="0"/>
              </a:rPr>
              <a:t>xmlcharrefreplace</a:t>
            </a:r>
            <a:r>
              <a:rPr lang="en-US" altLang="zh-CN" sz="1400" dirty="0">
                <a:latin typeface="Times New Roman" panose="02020603050405020304" pitchFamily="18" charset="0"/>
              </a:rPr>
              <a:t>', '</a:t>
            </a:r>
            <a:r>
              <a:rPr lang="en-US" altLang="zh-CN" sz="1400" dirty="0" err="1">
                <a:latin typeface="Times New Roman" panose="02020603050405020304" pitchFamily="18" charset="0"/>
              </a:rPr>
              <a:t>backslashreplace</a:t>
            </a:r>
            <a:r>
              <a:rPr lang="en-US" altLang="zh-CN" sz="1400" dirty="0">
                <a:latin typeface="Times New Roman" panose="02020603050405020304" pitchFamily="18" charset="0"/>
              </a:rPr>
              <a:t>' </a:t>
            </a:r>
            <a:r>
              <a:rPr lang="zh-CN" altLang="en-US" sz="1400" dirty="0">
                <a:latin typeface="Times New Roman" panose="02020603050405020304" pitchFamily="18" charset="0"/>
              </a:rPr>
              <a:t>以及通过 </a:t>
            </a:r>
            <a:r>
              <a:rPr lang="en-US" altLang="zh-CN" sz="1400" dirty="0" err="1">
                <a:latin typeface="Times New Roman" panose="02020603050405020304" pitchFamily="18" charset="0"/>
              </a:rPr>
              <a:t>codecs.register_error</a:t>
            </a:r>
            <a:r>
              <a:rPr lang="en-US" altLang="zh-CN" sz="1400" dirty="0">
                <a:latin typeface="Times New Roman" panose="02020603050405020304" pitchFamily="18" charset="0"/>
              </a:rPr>
              <a:t>() </a:t>
            </a:r>
            <a:r>
              <a:rPr lang="zh-CN" altLang="en-US" sz="1400" dirty="0">
                <a:latin typeface="Times New Roman" panose="02020603050405020304" pitchFamily="18" charset="0"/>
              </a:rPr>
              <a:t>注册的任何值。</a:t>
            </a:r>
          </a:p>
        </p:txBody>
      </p:sp>
      <p:pic>
        <p:nvPicPr>
          <p:cNvPr id="27" name="图片 26"/>
          <p:cNvPicPr>
            <a:picLocks noChangeAspect="1"/>
          </p:cNvPicPr>
          <p:nvPr/>
        </p:nvPicPr>
        <p:blipFill>
          <a:blip r:embed="rId3"/>
          <a:stretch>
            <a:fillRect/>
          </a:stretch>
        </p:blipFill>
        <p:spPr>
          <a:xfrm>
            <a:off x="217701" y="2355689"/>
            <a:ext cx="7657590" cy="4235843"/>
          </a:xfrm>
          <a:prstGeom prst="rect">
            <a:avLst/>
          </a:prstGeom>
        </p:spPr>
      </p:pic>
    </p:spTree>
    <p:extLst>
      <p:ext uri="{BB962C8B-B14F-4D97-AF65-F5344CB8AC3E}">
        <p14:creationId xmlns:p14="http://schemas.microsoft.com/office/powerpoint/2010/main" val="3186191481"/>
      </p:ext>
    </p:extLst>
  </p:cSld>
  <p:clrMapOvr>
    <a:masterClrMapping/>
  </p:clrMapOvr>
  <p:transition spd="slow" advClick="0">
    <p:pull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8</a:t>
            </a:fld>
            <a:endParaRPr lang="zh-CN" altLang="en-US" dirty="0"/>
          </a:p>
        </p:txBody>
      </p:sp>
      <p:sp>
        <p:nvSpPr>
          <p:cNvPr id="5" name="文本占位符 24578"/>
          <p:cNvSpPr>
            <a:spLocks noGrp="1"/>
          </p:cNvSpPr>
          <p:nvPr>
            <p:ph idx="1"/>
          </p:nvPr>
        </p:nvSpPr>
        <p:spPr>
          <a:xfrm>
            <a:off x="395536" y="1484784"/>
            <a:ext cx="8229600" cy="4968552"/>
          </a:xfrm>
        </p:spPr>
        <p:txBody>
          <a:bodyPr anchor="t"/>
          <a:lstStyle/>
          <a:p>
            <a:pPr>
              <a:spcBef>
                <a:spcPts val="600"/>
              </a:spcBef>
              <a:buClr>
                <a:srgbClr val="FF0000"/>
              </a:buClr>
              <a:buSzPct val="70000"/>
              <a:buFont typeface="Wingdings" panose="05000000000000000000" charset="0"/>
              <a:buChar char=""/>
            </a:pPr>
            <a:r>
              <a:rPr lang="zh-CN" altLang="en-US" sz="2000" b="1" dirty="0">
                <a:latin typeface="宋体" panose="02010600030101010101" pitchFamily="2" charset="-122"/>
              </a:rPr>
              <a:t>在</a:t>
            </a:r>
            <a:r>
              <a:rPr lang="en-US" altLang="zh-CN" sz="2000" b="1" dirty="0">
                <a:latin typeface="宋体" panose="02010600030101010101" pitchFamily="2" charset="-122"/>
              </a:rPr>
              <a:t>Python</a:t>
            </a:r>
            <a:r>
              <a:rPr lang="zh-CN" altLang="en-US" sz="2000" b="1" dirty="0">
                <a:latin typeface="宋体" panose="02010600030101010101" pitchFamily="2" charset="-122"/>
              </a:rPr>
              <a:t>中，字符串属于</a:t>
            </a:r>
            <a:r>
              <a:rPr lang="zh-CN" altLang="en-US" sz="2000" b="1" dirty="0">
                <a:solidFill>
                  <a:srgbClr val="FF0000"/>
                </a:solidFill>
                <a:latin typeface="宋体" panose="02010600030101010101" pitchFamily="2" charset="-122"/>
              </a:rPr>
              <a:t>不可变</a:t>
            </a:r>
            <a:r>
              <a:rPr lang="zh-CN" altLang="en-US" sz="2000" b="1" dirty="0">
                <a:latin typeface="宋体" panose="02010600030101010101" pitchFamily="2" charset="-122"/>
              </a:rPr>
              <a:t>序列类型，除了支持序列通用方法（包括分片操作）以外，还支持特有的字符串操作方法。</a:t>
            </a:r>
          </a:p>
        </p:txBody>
      </p:sp>
      <p:pic>
        <p:nvPicPr>
          <p:cNvPr id="6" name="图片 24579"/>
          <p:cNvPicPr>
            <a:picLocks noChangeAspect="1"/>
          </p:cNvPicPr>
          <p:nvPr/>
        </p:nvPicPr>
        <p:blipFill>
          <a:blip r:embed="rId2"/>
          <a:stretch>
            <a:fillRect/>
          </a:stretch>
        </p:blipFill>
        <p:spPr>
          <a:xfrm>
            <a:off x="1259632" y="2636912"/>
            <a:ext cx="5468306" cy="2213759"/>
          </a:xfrm>
          <a:prstGeom prst="rect">
            <a:avLst/>
          </a:prstGeom>
          <a:noFill/>
          <a:ln w="9525">
            <a:noFill/>
          </a:ln>
        </p:spPr>
      </p:pic>
      <p:sp>
        <p:nvSpPr>
          <p:cNvPr id="7" name="文本占位符 25602"/>
          <p:cNvSpPr txBox="1"/>
          <p:nvPr/>
        </p:nvSpPr>
        <p:spPr bwMode="auto">
          <a:xfrm>
            <a:off x="624014" y="5083783"/>
            <a:ext cx="8229600" cy="1152128"/>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600"/>
              </a:spcBef>
              <a:spcAft>
                <a:spcPts val="600"/>
              </a:spcAft>
              <a:buClr>
                <a:srgbClr val="FF0000"/>
              </a:buClr>
              <a:buSzPct val="70000"/>
              <a:buFont typeface="Wingdings" panose="05000000000000000000" charset="0"/>
              <a:buChar char=""/>
            </a:pPr>
            <a:r>
              <a:rPr lang="en-US" altLang="zh-CN" sz="2000" b="1" dirty="0">
                <a:latin typeface="宋体" panose="02010600030101010101" pitchFamily="2" charset="-122"/>
              </a:rPr>
              <a:t>Python</a:t>
            </a:r>
            <a:r>
              <a:rPr lang="zh-CN" altLang="en-US" sz="2000" b="1" dirty="0">
                <a:latin typeface="宋体" panose="02010600030101010101" pitchFamily="2" charset="-122"/>
              </a:rPr>
              <a:t>字符串驻留机制：对于</a:t>
            </a:r>
            <a:r>
              <a:rPr lang="zh-CN" altLang="en-US" sz="2000" b="1" dirty="0">
                <a:solidFill>
                  <a:srgbClr val="FF0000"/>
                </a:solidFill>
                <a:latin typeface="宋体" panose="02010600030101010101" pitchFamily="2" charset="-122"/>
              </a:rPr>
              <a:t>短字符串</a:t>
            </a:r>
            <a:r>
              <a:rPr lang="zh-CN" altLang="en-US" sz="2000" b="1" dirty="0">
                <a:latin typeface="宋体" panose="02010600030101010101" pitchFamily="2" charset="-122"/>
              </a:rPr>
              <a:t>，将其赋值给多个不同的对象时，</a:t>
            </a:r>
            <a:r>
              <a:rPr lang="zh-CN" altLang="en-US" sz="2000" b="1" dirty="0">
                <a:solidFill>
                  <a:srgbClr val="FF0000"/>
                </a:solidFill>
                <a:latin typeface="宋体" panose="02010600030101010101" pitchFamily="2" charset="-122"/>
              </a:rPr>
              <a:t>内存中只有一个副本</a:t>
            </a:r>
            <a:r>
              <a:rPr lang="zh-CN" altLang="en-US" sz="2000" b="1" dirty="0">
                <a:latin typeface="宋体" panose="02010600030101010101" pitchFamily="2" charset="-122"/>
              </a:rPr>
              <a:t>，多个对象共享该副本。长字符串不遵守驻留机制。</a:t>
            </a:r>
          </a:p>
        </p:txBody>
      </p:sp>
      <p:grpSp>
        <p:nvGrpSpPr>
          <p:cNvPr id="8" name="组合 114"/>
          <p:cNvGrpSpPr/>
          <p:nvPr/>
        </p:nvGrpSpPr>
        <p:grpSpPr>
          <a:xfrm>
            <a:off x="-540568" y="116632"/>
            <a:ext cx="6225040" cy="662730"/>
            <a:chOff x="-198275" y="3380765"/>
            <a:chExt cx="6225040" cy="662730"/>
          </a:xfrm>
        </p:grpSpPr>
        <p:grpSp>
          <p:nvGrpSpPr>
            <p:cNvPr id="9" name="组合 105"/>
            <p:cNvGrpSpPr/>
            <p:nvPr/>
          </p:nvGrpSpPr>
          <p:grpSpPr>
            <a:xfrm>
              <a:off x="-198275" y="3380765"/>
              <a:ext cx="6225040" cy="662730"/>
              <a:chOff x="-198275" y="3380765"/>
              <a:chExt cx="6225040" cy="662730"/>
            </a:xfrm>
          </p:grpSpPr>
          <p:sp>
            <p:nvSpPr>
              <p:cNvPr id="11"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2"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10" name="图片 9"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3" name="矩形 12"/>
          <p:cNvSpPr/>
          <p:nvPr/>
        </p:nvSpPr>
        <p:spPr>
          <a:xfrm>
            <a:off x="462582" y="943899"/>
            <a:ext cx="3084499" cy="523220"/>
          </a:xfrm>
          <a:prstGeom prst="rect">
            <a:avLst/>
          </a:prstGeom>
        </p:spPr>
        <p:txBody>
          <a:bodyPr wrap="none">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4.1.1 </a:t>
            </a:r>
            <a:r>
              <a:rPr lang="zh-CN" altLang="en-US" sz="2800" b="1" dirty="0">
                <a:latin typeface="Times New Roman" panose="02020603050405020304" pitchFamily="18" charset="0"/>
                <a:ea typeface="仿宋" panose="02010609060101010101" pitchFamily="49" charset="-122"/>
              </a:rPr>
              <a:t>字符串概述</a:t>
            </a:r>
            <a:endParaRPr lang="en-US" altLang="zh-CN" sz="2800" b="1" dirty="0">
              <a:latin typeface="Times New Roman" panose="02020603050405020304" pitchFamily="18" charset="0"/>
              <a:ea typeface="仿宋" panose="02010609060101010101" pitchFamily="49" charset="-122"/>
            </a:endParaRPr>
          </a:p>
        </p:txBody>
      </p:sp>
    </p:spTree>
    <p:extLst>
      <p:ext uri="{BB962C8B-B14F-4D97-AF65-F5344CB8AC3E}">
        <p14:creationId xmlns:p14="http://schemas.microsoft.com/office/powerpoint/2010/main" val="189577125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9</a:t>
            </a:fld>
            <a:endParaRPr lang="zh-CN" altLang="en-US" dirty="0"/>
          </a:p>
        </p:txBody>
      </p:sp>
      <p:sp>
        <p:nvSpPr>
          <p:cNvPr id="14" name="文本框 13"/>
          <p:cNvSpPr txBox="1"/>
          <p:nvPr/>
        </p:nvSpPr>
        <p:spPr>
          <a:xfrm>
            <a:off x="323528" y="1124744"/>
            <a:ext cx="5652628" cy="954107"/>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4.1.2 </a:t>
            </a:r>
            <a:r>
              <a:rPr lang="zh-CN" altLang="en-US" sz="2800" b="1" dirty="0">
                <a:latin typeface="Times New Roman" panose="02020603050405020304" pitchFamily="18" charset="0"/>
                <a:ea typeface="仿宋" panose="02010609060101010101" pitchFamily="49" charset="-122"/>
              </a:rPr>
              <a:t>字符串格式化</a:t>
            </a:r>
            <a:endParaRPr lang="en-US" altLang="zh-CN" sz="2800" b="1" dirty="0">
              <a:latin typeface="Times New Roman" panose="02020603050405020304" pitchFamily="18" charset="0"/>
              <a:ea typeface="仿宋" panose="02010609060101010101" pitchFamily="49" charset="-122"/>
            </a:endParaRPr>
          </a:p>
          <a:p>
            <a:pPr marL="914400" lvl="1" indent="-457200">
              <a:buClr>
                <a:srgbClr val="FF0000"/>
              </a:buClr>
              <a:buFont typeface="Wingdings" panose="05000000000000000000" pitchFamily="2" charset="2"/>
              <a:buChar char="n"/>
            </a:pPr>
            <a:r>
              <a:rPr lang="en-US" altLang="zh-CN" sz="2800" b="1" dirty="0">
                <a:solidFill>
                  <a:srgbClr val="FF0000"/>
                </a:solidFill>
                <a:latin typeface="Times New Roman" panose="02020603050405020304" pitchFamily="18" charset="0"/>
                <a:ea typeface="仿宋" panose="02010609060101010101" pitchFamily="49" charset="-122"/>
              </a:rPr>
              <a:t>%</a:t>
            </a:r>
            <a:r>
              <a:rPr lang="zh-CN" altLang="en-US" sz="2800" b="1" dirty="0" smtClean="0">
                <a:solidFill>
                  <a:srgbClr val="FF0000"/>
                </a:solidFill>
                <a:latin typeface="Times New Roman" panose="02020603050405020304" pitchFamily="18" charset="0"/>
                <a:ea typeface="仿宋" panose="02010609060101010101" pitchFamily="49" charset="-122"/>
              </a:rPr>
              <a:t>格式</a:t>
            </a:r>
            <a:endParaRPr lang="en-US" altLang="zh-CN" sz="2800" b="1" dirty="0" smtClean="0">
              <a:latin typeface="Times New Roman" panose="02020603050405020304" pitchFamily="18" charset="0"/>
            </a:endParaRPr>
          </a:p>
        </p:txBody>
      </p:sp>
      <p:grpSp>
        <p:nvGrpSpPr>
          <p:cNvPr id="15" name="组合 114"/>
          <p:cNvGrpSpPr/>
          <p:nvPr/>
        </p:nvGrpSpPr>
        <p:grpSpPr>
          <a:xfrm>
            <a:off x="-540568" y="116632"/>
            <a:ext cx="6225040" cy="662730"/>
            <a:chOff x="-198275" y="3380765"/>
            <a:chExt cx="6225040" cy="662730"/>
          </a:xfrm>
        </p:grpSpPr>
        <p:grpSp>
          <p:nvGrpSpPr>
            <p:cNvPr id="17" name="组合 105"/>
            <p:cNvGrpSpPr/>
            <p:nvPr/>
          </p:nvGrpSpPr>
          <p:grpSpPr>
            <a:xfrm>
              <a:off x="-198275" y="3380765"/>
              <a:ext cx="6225040" cy="662730"/>
              <a:chOff x="-198275" y="3380765"/>
              <a:chExt cx="6225040" cy="662730"/>
            </a:xfrm>
          </p:grpSpPr>
          <p:sp>
            <p:nvSpPr>
              <p:cNvPr id="2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1"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18" name="图片 1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2" name="矩形 1"/>
          <p:cNvSpPr/>
          <p:nvPr/>
        </p:nvSpPr>
        <p:spPr>
          <a:xfrm>
            <a:off x="971600" y="2430179"/>
            <a:ext cx="5832648" cy="369332"/>
          </a:xfrm>
          <a:prstGeom prst="rect">
            <a:avLst/>
          </a:prstGeom>
        </p:spPr>
        <p:txBody>
          <a:bodyPr wrap="square">
            <a:spAutoFit/>
          </a:bodyPr>
          <a:lstStyle/>
          <a:p>
            <a:pPr>
              <a:buClr>
                <a:srgbClr val="FF0000"/>
              </a:buClr>
            </a:pPr>
            <a:r>
              <a:rPr lang="en-US" altLang="zh-CN" b="1" dirty="0">
                <a:latin typeface="Times New Roman" panose="02020603050405020304" pitchFamily="18" charset="0"/>
              </a:rPr>
              <a:t>‘% </a:t>
            </a:r>
            <a:r>
              <a:rPr lang="en-US" altLang="zh-CN" b="1" dirty="0" smtClean="0">
                <a:latin typeface="Times New Roman" panose="02020603050405020304" pitchFamily="18" charset="0"/>
              </a:rPr>
              <a:t> [-]  [+]  [</a:t>
            </a:r>
            <a:r>
              <a:rPr lang="en-US" altLang="zh-CN" b="1" dirty="0">
                <a:latin typeface="Times New Roman" panose="02020603050405020304" pitchFamily="18" charset="0"/>
              </a:rPr>
              <a:t>0</a:t>
            </a:r>
            <a:r>
              <a:rPr lang="en-US" altLang="zh-CN" b="1" dirty="0" smtClean="0">
                <a:latin typeface="Times New Roman" panose="02020603050405020304" pitchFamily="18" charset="0"/>
              </a:rPr>
              <a:t>] [</a:t>
            </a:r>
            <a:r>
              <a:rPr lang="en-US" altLang="zh-CN" b="1" dirty="0">
                <a:latin typeface="Times New Roman" panose="02020603050405020304" pitchFamily="18" charset="0"/>
              </a:rPr>
              <a:t>m</a:t>
            </a:r>
            <a:r>
              <a:rPr lang="en-US" altLang="zh-CN" b="1" dirty="0" smtClean="0">
                <a:latin typeface="Times New Roman" panose="02020603050405020304" pitchFamily="18" charset="0"/>
              </a:rPr>
              <a:t>] [.</a:t>
            </a:r>
            <a:r>
              <a:rPr lang="en-US" altLang="zh-CN" b="1" dirty="0">
                <a:latin typeface="Times New Roman" panose="02020603050405020304" pitchFamily="18" charset="0"/>
              </a:rPr>
              <a:t>n] </a:t>
            </a:r>
            <a:r>
              <a:rPr lang="en-US" altLang="zh-CN" b="1" dirty="0" smtClean="0">
                <a:latin typeface="Times New Roman" panose="02020603050405020304" pitchFamily="18" charset="0"/>
              </a:rPr>
              <a:t> </a:t>
            </a:r>
            <a:r>
              <a:rPr lang="zh-CN" altLang="en-US" b="1" dirty="0" smtClean="0">
                <a:latin typeface="Times New Roman" panose="02020603050405020304" pitchFamily="18" charset="0"/>
              </a:rPr>
              <a:t>格式符号</a:t>
            </a:r>
            <a:r>
              <a:rPr lang="en-US" altLang="zh-CN" b="1" dirty="0" smtClean="0">
                <a:latin typeface="Times New Roman" panose="02020603050405020304" pitchFamily="18" charset="0"/>
              </a:rPr>
              <a:t>’  % </a:t>
            </a:r>
            <a:r>
              <a:rPr lang="en-US" altLang="zh-CN" b="1" dirty="0">
                <a:latin typeface="Times New Roman" panose="02020603050405020304" pitchFamily="18" charset="0"/>
              </a:rPr>
              <a:t>x</a:t>
            </a:r>
            <a:endParaRPr lang="zh-CN" altLang="en-US" b="1" dirty="0">
              <a:latin typeface="Times New Roman" panose="02020603050405020304" pitchFamily="18" charset="0"/>
            </a:endParaRPr>
          </a:p>
        </p:txBody>
      </p:sp>
      <p:cxnSp>
        <p:nvCxnSpPr>
          <p:cNvPr id="12" name="直接箭头连接符 11"/>
          <p:cNvCxnSpPr/>
          <p:nvPr/>
        </p:nvCxnSpPr>
        <p:spPr>
          <a:xfrm flipV="1">
            <a:off x="4932040" y="2708920"/>
            <a:ext cx="0" cy="216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2040" y="2924944"/>
            <a:ext cx="216024"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5094554" y="2748915"/>
            <a:ext cx="2232248" cy="307777"/>
          </a:xfrm>
          <a:prstGeom prst="rect">
            <a:avLst/>
          </a:prstGeom>
          <a:noFill/>
        </p:spPr>
        <p:txBody>
          <a:bodyPr wrap="square" rtlCol="0">
            <a:spAutoFit/>
          </a:bodyPr>
          <a:lstStyle/>
          <a:p>
            <a:r>
              <a:rPr lang="en-US" altLang="zh-CN" sz="1400" dirty="0" smtClean="0"/>
              <a:t>(1) </a:t>
            </a:r>
            <a:r>
              <a:rPr lang="zh-CN" altLang="en-US" sz="1400" dirty="0" smtClean="0"/>
              <a:t>待转换的表达式</a:t>
            </a:r>
            <a:endParaRPr lang="zh-CN" altLang="en-US" sz="1400" dirty="0"/>
          </a:p>
        </p:txBody>
      </p:sp>
      <p:cxnSp>
        <p:nvCxnSpPr>
          <p:cNvPr id="25" name="直接箭头连接符 24"/>
          <p:cNvCxnSpPr/>
          <p:nvPr/>
        </p:nvCxnSpPr>
        <p:spPr>
          <a:xfrm flipV="1">
            <a:off x="4716016" y="2709502"/>
            <a:ext cx="0" cy="495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5116830" y="3034578"/>
            <a:ext cx="2232248" cy="307777"/>
          </a:xfrm>
          <a:prstGeom prst="rect">
            <a:avLst/>
          </a:prstGeom>
          <a:noFill/>
        </p:spPr>
        <p:txBody>
          <a:bodyPr wrap="square" rtlCol="0">
            <a:spAutoFit/>
          </a:bodyPr>
          <a:lstStyle/>
          <a:p>
            <a:r>
              <a:rPr lang="en-US" altLang="zh-CN" sz="1400" dirty="0" smtClean="0"/>
              <a:t>(2) </a:t>
            </a:r>
            <a:r>
              <a:rPr lang="zh-CN" altLang="en-US" sz="1400" dirty="0" smtClean="0"/>
              <a:t>格式运算符</a:t>
            </a:r>
            <a:endParaRPr lang="zh-CN" altLang="en-US" sz="1400" dirty="0"/>
          </a:p>
        </p:txBody>
      </p:sp>
      <p:cxnSp>
        <p:nvCxnSpPr>
          <p:cNvPr id="32" name="直接连接符 31"/>
          <p:cNvCxnSpPr/>
          <p:nvPr/>
        </p:nvCxnSpPr>
        <p:spPr>
          <a:xfrm>
            <a:off x="4716016" y="3212976"/>
            <a:ext cx="3780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flipV="1">
            <a:off x="3995936" y="2709502"/>
            <a:ext cx="0" cy="7915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3995936" y="3501008"/>
            <a:ext cx="11521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flipV="1">
            <a:off x="3203848" y="2708920"/>
            <a:ext cx="0" cy="1080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3203848" y="3789040"/>
            <a:ext cx="19442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flipV="1">
            <a:off x="2843808" y="2708920"/>
            <a:ext cx="0" cy="13681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2843808" y="4077072"/>
            <a:ext cx="230425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flipV="1">
            <a:off x="2483768" y="2708920"/>
            <a:ext cx="0" cy="1656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2483768" y="4365104"/>
            <a:ext cx="26642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flipV="1">
            <a:off x="2051720" y="2722002"/>
            <a:ext cx="0" cy="19311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2051720" y="4653136"/>
            <a:ext cx="30963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flipV="1">
            <a:off x="1655676" y="2722002"/>
            <a:ext cx="0" cy="22191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1655676" y="4941168"/>
            <a:ext cx="34923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flipV="1">
            <a:off x="1241339" y="2722622"/>
            <a:ext cx="0" cy="2506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1241339" y="5229200"/>
            <a:ext cx="3906725" cy="0"/>
          </a:xfrm>
          <a:prstGeom prst="line">
            <a:avLst/>
          </a:prstGeom>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a:xfrm>
            <a:off x="5080335" y="3336667"/>
            <a:ext cx="1844833" cy="307777"/>
          </a:xfrm>
          <a:prstGeom prst="rect">
            <a:avLst/>
          </a:prstGeom>
          <a:noFill/>
        </p:spPr>
        <p:txBody>
          <a:bodyPr wrap="square" rtlCol="0">
            <a:spAutoFit/>
          </a:bodyPr>
          <a:lstStyle/>
          <a:p>
            <a:r>
              <a:rPr lang="en-US" altLang="zh-CN" sz="1400" dirty="0" smtClean="0"/>
              <a:t> (3) </a:t>
            </a:r>
            <a:r>
              <a:rPr lang="zh-CN" altLang="en-US" sz="1400" dirty="0" smtClean="0"/>
              <a:t>指定类型</a:t>
            </a:r>
            <a:endParaRPr lang="zh-CN" altLang="en-US" sz="1400" dirty="0"/>
          </a:p>
        </p:txBody>
      </p:sp>
      <p:sp>
        <p:nvSpPr>
          <p:cNvPr id="77" name="文本框 76"/>
          <p:cNvSpPr txBox="1"/>
          <p:nvPr/>
        </p:nvSpPr>
        <p:spPr>
          <a:xfrm>
            <a:off x="5116830" y="3622492"/>
            <a:ext cx="2232248" cy="307777"/>
          </a:xfrm>
          <a:prstGeom prst="rect">
            <a:avLst/>
          </a:prstGeom>
          <a:noFill/>
        </p:spPr>
        <p:txBody>
          <a:bodyPr wrap="square" rtlCol="0">
            <a:spAutoFit/>
          </a:bodyPr>
          <a:lstStyle/>
          <a:p>
            <a:r>
              <a:rPr lang="en-US" altLang="zh-CN" sz="1400" dirty="0" smtClean="0"/>
              <a:t>(4) </a:t>
            </a:r>
            <a:r>
              <a:rPr lang="zh-CN" altLang="en-US" sz="1400" dirty="0" smtClean="0"/>
              <a:t>指定精度</a:t>
            </a:r>
            <a:endParaRPr lang="zh-CN" altLang="en-US" sz="1400" dirty="0"/>
          </a:p>
        </p:txBody>
      </p:sp>
      <p:sp>
        <p:nvSpPr>
          <p:cNvPr id="78" name="文本框 77"/>
          <p:cNvSpPr txBox="1"/>
          <p:nvPr/>
        </p:nvSpPr>
        <p:spPr>
          <a:xfrm>
            <a:off x="5116830" y="3897863"/>
            <a:ext cx="2232248" cy="307777"/>
          </a:xfrm>
          <a:prstGeom prst="rect">
            <a:avLst/>
          </a:prstGeom>
          <a:noFill/>
        </p:spPr>
        <p:txBody>
          <a:bodyPr wrap="square" rtlCol="0">
            <a:spAutoFit/>
          </a:bodyPr>
          <a:lstStyle/>
          <a:p>
            <a:r>
              <a:rPr lang="en-US" altLang="zh-CN" sz="1400" dirty="0" smtClean="0"/>
              <a:t>(5) </a:t>
            </a:r>
            <a:r>
              <a:rPr lang="zh-CN" altLang="en-US" sz="1400" dirty="0" smtClean="0"/>
              <a:t>指定最小宽度</a:t>
            </a:r>
            <a:endParaRPr lang="zh-CN" altLang="en-US" sz="1400" dirty="0"/>
          </a:p>
        </p:txBody>
      </p:sp>
      <p:sp>
        <p:nvSpPr>
          <p:cNvPr id="79" name="文本框 78"/>
          <p:cNvSpPr txBox="1"/>
          <p:nvPr/>
        </p:nvSpPr>
        <p:spPr>
          <a:xfrm>
            <a:off x="5116830" y="4198554"/>
            <a:ext cx="2232248" cy="307777"/>
          </a:xfrm>
          <a:prstGeom prst="rect">
            <a:avLst/>
          </a:prstGeom>
          <a:noFill/>
        </p:spPr>
        <p:txBody>
          <a:bodyPr wrap="square" rtlCol="0">
            <a:spAutoFit/>
          </a:bodyPr>
          <a:lstStyle/>
          <a:p>
            <a:r>
              <a:rPr lang="en-US" altLang="zh-CN" sz="1400" dirty="0" smtClean="0"/>
              <a:t>(6) </a:t>
            </a:r>
            <a:r>
              <a:rPr lang="zh-CN" altLang="en-US" sz="1400" dirty="0" smtClean="0"/>
              <a:t>指定空位填</a:t>
            </a:r>
            <a:r>
              <a:rPr lang="en-US" altLang="zh-CN" sz="1400" dirty="0" smtClean="0"/>
              <a:t>0</a:t>
            </a:r>
            <a:endParaRPr lang="zh-CN" altLang="en-US" sz="1400" dirty="0"/>
          </a:p>
        </p:txBody>
      </p:sp>
      <p:sp>
        <p:nvSpPr>
          <p:cNvPr id="80" name="文本框 79"/>
          <p:cNvSpPr txBox="1"/>
          <p:nvPr/>
        </p:nvSpPr>
        <p:spPr>
          <a:xfrm>
            <a:off x="5053739" y="4500816"/>
            <a:ext cx="1844833" cy="307777"/>
          </a:xfrm>
          <a:prstGeom prst="rect">
            <a:avLst/>
          </a:prstGeom>
          <a:noFill/>
        </p:spPr>
        <p:txBody>
          <a:bodyPr wrap="square" rtlCol="0">
            <a:spAutoFit/>
          </a:bodyPr>
          <a:lstStyle/>
          <a:p>
            <a:r>
              <a:rPr lang="en-US" altLang="zh-CN" sz="1400" dirty="0" smtClean="0"/>
              <a:t> (7) </a:t>
            </a:r>
            <a:r>
              <a:rPr lang="zh-CN" altLang="en-US" sz="1400" dirty="0" smtClean="0"/>
              <a:t>对正数加正号</a:t>
            </a:r>
            <a:endParaRPr lang="zh-CN" altLang="en-US" sz="1400" dirty="0"/>
          </a:p>
        </p:txBody>
      </p:sp>
      <p:sp>
        <p:nvSpPr>
          <p:cNvPr id="81" name="文本框 80"/>
          <p:cNvSpPr txBox="1"/>
          <p:nvPr/>
        </p:nvSpPr>
        <p:spPr>
          <a:xfrm>
            <a:off x="5094554" y="4774616"/>
            <a:ext cx="2232248" cy="307777"/>
          </a:xfrm>
          <a:prstGeom prst="rect">
            <a:avLst/>
          </a:prstGeom>
          <a:noFill/>
        </p:spPr>
        <p:txBody>
          <a:bodyPr wrap="square" rtlCol="0">
            <a:spAutoFit/>
          </a:bodyPr>
          <a:lstStyle/>
          <a:p>
            <a:r>
              <a:rPr lang="en-US" altLang="zh-CN" sz="1400" dirty="0" smtClean="0"/>
              <a:t>(8) </a:t>
            </a:r>
            <a:r>
              <a:rPr lang="zh-CN" altLang="en-US" sz="1400" dirty="0" smtClean="0"/>
              <a:t>指定左对齐输出</a:t>
            </a:r>
            <a:endParaRPr lang="zh-CN" altLang="en-US" sz="1400" dirty="0"/>
          </a:p>
        </p:txBody>
      </p:sp>
      <p:sp>
        <p:nvSpPr>
          <p:cNvPr id="82" name="文本框 81"/>
          <p:cNvSpPr txBox="1"/>
          <p:nvPr/>
        </p:nvSpPr>
        <p:spPr>
          <a:xfrm>
            <a:off x="5100053" y="5061079"/>
            <a:ext cx="2519947" cy="307777"/>
          </a:xfrm>
          <a:prstGeom prst="rect">
            <a:avLst/>
          </a:prstGeom>
          <a:noFill/>
        </p:spPr>
        <p:txBody>
          <a:bodyPr wrap="square" rtlCol="0">
            <a:spAutoFit/>
          </a:bodyPr>
          <a:lstStyle/>
          <a:p>
            <a:r>
              <a:rPr lang="en-US" altLang="zh-CN" sz="1400" dirty="0" smtClean="0"/>
              <a:t>(9) </a:t>
            </a:r>
            <a:r>
              <a:rPr lang="zh-CN" altLang="en-US" sz="1400" dirty="0" smtClean="0"/>
              <a:t>格式标志，表示格式开始</a:t>
            </a:r>
            <a:endParaRPr lang="zh-CN" altLang="en-US" sz="1400" dirty="0"/>
          </a:p>
        </p:txBody>
      </p:sp>
    </p:spTree>
    <p:extLst>
      <p:ext uri="{BB962C8B-B14F-4D97-AF65-F5344CB8AC3E}">
        <p14:creationId xmlns:p14="http://schemas.microsoft.com/office/powerpoint/2010/main" val="3095140302"/>
      </p:ext>
    </p:extLst>
  </p:cSld>
  <p:clrMapOvr>
    <a:masterClrMapping/>
  </p:clrMapOvr>
  <p:transition spd="slow" advClick="0">
    <p:pull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nvGraphicFramePr>
        <p:xfrm>
          <a:off x="251520" y="1801272"/>
          <a:ext cx="4216424" cy="3164442"/>
        </p:xfrm>
        <a:graphic>
          <a:graphicData uri="http://schemas.openxmlformats.org/drawingml/2006/table">
            <a:tbl>
              <a:tblPr firstRow="1" bandRow="1">
                <a:tableStyleId>{5940675A-B579-460E-94D1-54222C63F5DA}</a:tableStyleId>
              </a:tblPr>
              <a:tblGrid>
                <a:gridCol w="957054">
                  <a:extLst>
                    <a:ext uri="{9D8B030D-6E8A-4147-A177-3AD203B41FA5}">
                      <a16:colId xmlns:a16="http://schemas.microsoft.com/office/drawing/2014/main" val="20000"/>
                    </a:ext>
                  </a:extLst>
                </a:gridCol>
                <a:gridCol w="3259370">
                  <a:extLst>
                    <a:ext uri="{9D8B030D-6E8A-4147-A177-3AD203B41FA5}">
                      <a16:colId xmlns:a16="http://schemas.microsoft.com/office/drawing/2014/main" val="20001"/>
                    </a:ext>
                  </a:extLst>
                </a:gridCol>
              </a:tblGrid>
              <a:tr h="228579">
                <a:tc>
                  <a:txBody>
                    <a:bodyPr/>
                    <a:lstStyle/>
                    <a:p>
                      <a:pPr marL="0" indent="0" algn="ctr">
                        <a:buNone/>
                      </a:pPr>
                      <a:r>
                        <a:rPr lang="zh-CN" altLang="en-US" sz="1200" b="1" u="none" dirty="0">
                          <a:latin typeface="宋体" panose="02010600030101010101" pitchFamily="2" charset="-122"/>
                          <a:ea typeface="宋体" panose="02010600030101010101" pitchFamily="2" charset="-122"/>
                          <a:cs typeface="宋体" panose="02010600030101010101" pitchFamily="2" charset="-122"/>
                        </a:rPr>
                        <a:t>格式字符</a:t>
                      </a: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200" b="1" u="none">
                          <a:latin typeface="宋体" panose="02010600030101010101" pitchFamily="2" charset="-122"/>
                          <a:ea typeface="宋体" panose="02010600030101010101" pitchFamily="2" charset="-122"/>
                          <a:cs typeface="宋体" panose="02010600030101010101" pitchFamily="2" charset="-122"/>
                        </a:rPr>
                        <a:t>说明</a:t>
                      </a:r>
                    </a:p>
                  </a:txBody>
                  <a:tcPr marL="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2231">
                <a:tc>
                  <a:txBody>
                    <a:bodyPr/>
                    <a:lstStyle/>
                    <a:p>
                      <a:pPr marL="0" indent="0" algn="l">
                        <a:buNone/>
                      </a:pPr>
                      <a:r>
                        <a:rPr lang="en-US" altLang="zh-CN" sz="1200" b="0" u="none" dirty="0">
                          <a:latin typeface="宋体" panose="02010600030101010101" pitchFamily="2" charset="-122"/>
                          <a:ea typeface="宋体" panose="02010600030101010101" pitchFamily="2" charset="-122"/>
                          <a:cs typeface="宋体" panose="02010600030101010101" pitchFamily="2" charset="-122"/>
                        </a:rPr>
                        <a:t>%s</a:t>
                      </a:r>
                    </a:p>
                  </a:txBody>
                  <a:tcPr marL="38057"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字符串 </a:t>
                      </a:r>
                      <a:r>
                        <a:rPr lang="en-US" altLang="zh-CN" sz="1200" b="0" u="none">
                          <a:latin typeface="宋体" panose="02010600030101010101" pitchFamily="2" charset="-122"/>
                          <a:ea typeface="宋体" panose="02010600030101010101" pitchFamily="2" charset="-122"/>
                          <a:cs typeface="宋体" panose="02010600030101010101" pitchFamily="2" charset="-122"/>
                        </a:rPr>
                        <a:t>(</a:t>
                      </a:r>
                      <a:r>
                        <a:rPr lang="zh-CN" altLang="en-US" sz="1200" b="0" u="none">
                          <a:latin typeface="宋体" panose="02010600030101010101" pitchFamily="2" charset="-122"/>
                          <a:ea typeface="宋体" panose="02010600030101010101" pitchFamily="2" charset="-122"/>
                          <a:cs typeface="宋体" panose="02010600030101010101" pitchFamily="2" charset="-122"/>
                        </a:rPr>
                        <a:t>采用</a:t>
                      </a:r>
                      <a:r>
                        <a:rPr lang="en-US" altLang="zh-CN" sz="1200" b="0" u="none">
                          <a:latin typeface="宋体" panose="02010600030101010101" pitchFamily="2" charset="-122"/>
                          <a:ea typeface="宋体" panose="02010600030101010101" pitchFamily="2" charset="-122"/>
                          <a:cs typeface="宋体" panose="02010600030101010101" pitchFamily="2" charset="-122"/>
                        </a:rPr>
                        <a:t>str()</a:t>
                      </a:r>
                      <a:r>
                        <a:rPr lang="zh-CN" altLang="en-US" sz="1200" b="0" u="none">
                          <a:latin typeface="宋体" panose="02010600030101010101" pitchFamily="2" charset="-122"/>
                          <a:ea typeface="宋体" panose="02010600030101010101" pitchFamily="2" charset="-122"/>
                          <a:cs typeface="宋体" panose="02010600030101010101" pitchFamily="2" charset="-122"/>
                        </a:rPr>
                        <a:t>的显示</a:t>
                      </a:r>
                      <a:r>
                        <a:rPr lang="en-US" altLang="zh-CN" sz="1200" b="0" u="none">
                          <a:latin typeface="宋体" panose="02010600030101010101" pitchFamily="2" charset="-122"/>
                          <a:ea typeface="宋体" panose="02010600030101010101" pitchFamily="2" charset="-122"/>
                          <a:cs typeface="宋体" panose="02010600030101010101" pitchFamily="2" charset="-122"/>
                        </a:rPr>
                        <a:t>)</a:t>
                      </a:r>
                    </a:p>
                  </a:txBody>
                  <a:tcPr marL="38057"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9374">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%r</a:t>
                      </a:r>
                    </a:p>
                  </a:txBody>
                  <a:tcPr marL="38057"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字符串 </a:t>
                      </a: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r>
                        <a:rPr lang="zh-CN" altLang="en-US" sz="1200" b="0" u="none" dirty="0">
                          <a:latin typeface="宋体" panose="02010600030101010101" pitchFamily="2" charset="-122"/>
                          <a:ea typeface="宋体" panose="02010600030101010101" pitchFamily="2" charset="-122"/>
                          <a:cs typeface="宋体" panose="02010600030101010101" pitchFamily="2" charset="-122"/>
                        </a:rPr>
                        <a:t>采用</a:t>
                      </a:r>
                      <a:r>
                        <a:rPr lang="en-US" altLang="zh-CN" sz="1200" b="0" u="none" dirty="0" err="1">
                          <a:latin typeface="宋体" panose="02010600030101010101" pitchFamily="2" charset="-122"/>
                          <a:ea typeface="宋体" panose="02010600030101010101" pitchFamily="2" charset="-122"/>
                          <a:cs typeface="宋体" panose="02010600030101010101" pitchFamily="2" charset="-122"/>
                        </a:rPr>
                        <a:t>repr</a:t>
                      </a: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r>
                        <a:rPr lang="zh-CN" altLang="en-US" sz="1200" b="0" u="none" dirty="0">
                          <a:latin typeface="宋体" panose="02010600030101010101" pitchFamily="2" charset="-122"/>
                          <a:ea typeface="宋体" panose="02010600030101010101" pitchFamily="2" charset="-122"/>
                          <a:cs typeface="宋体" panose="02010600030101010101" pitchFamily="2" charset="-122"/>
                        </a:rPr>
                        <a:t>的显示</a:t>
                      </a: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r>
                        <a:rPr lang="zh-CN" altLang="en-US" sz="1200" b="0" u="none" dirty="0">
                          <a:latin typeface="宋体" panose="02010600030101010101" pitchFamily="2" charset="-122"/>
                          <a:ea typeface="宋体" panose="02010600030101010101" pitchFamily="2" charset="-122"/>
                          <a:cs typeface="宋体" panose="02010600030101010101" pitchFamily="2" charset="-122"/>
                        </a:rPr>
                        <a:t>详细 </a:t>
                      </a:r>
                      <a:r>
                        <a:rPr lang="zh-CN" altLang="en-US" sz="1200" b="0" u="none" dirty="0">
                          <a:latin typeface="宋体" panose="02010600030101010101" pitchFamily="2" charset="-122"/>
                          <a:ea typeface="宋体" panose="02010600030101010101" pitchFamily="2" charset="-122"/>
                          <a:cs typeface="宋体" panose="02010600030101010101" pitchFamily="2" charset="-122"/>
                          <a:hlinkClick r:id="rId3" action="ppaction://hlinksldjump"/>
                        </a:rPr>
                        <a:t>见倒数第</a:t>
                      </a:r>
                      <a:r>
                        <a:rPr lang="en-US" altLang="zh-CN" sz="1200" b="0" u="none" dirty="0">
                          <a:latin typeface="宋体" panose="02010600030101010101" pitchFamily="2" charset="-122"/>
                          <a:ea typeface="宋体" panose="02010600030101010101" pitchFamily="2" charset="-122"/>
                          <a:cs typeface="宋体" panose="02010600030101010101" pitchFamily="2" charset="-122"/>
                          <a:hlinkClick r:id="rId3" action="ppaction://hlinksldjump"/>
                        </a:rPr>
                        <a:t>2</a:t>
                      </a:r>
                      <a:r>
                        <a:rPr lang="zh-CN" altLang="en-US" sz="1200" b="0" u="none" dirty="0">
                          <a:latin typeface="宋体" panose="02010600030101010101" pitchFamily="2" charset="-122"/>
                          <a:ea typeface="宋体" panose="02010600030101010101" pitchFamily="2" charset="-122"/>
                          <a:cs typeface="宋体" panose="02010600030101010101" pitchFamily="2" charset="-122"/>
                          <a:hlinkClick r:id="rId3" action="ppaction://hlinksldjump"/>
                        </a:rPr>
                        <a:t>页</a:t>
                      </a:r>
                      <a:r>
                        <a:rPr lang="en-US" altLang="zh-CN" sz="1200" b="0" u="none" dirty="0">
                          <a:latin typeface="宋体" panose="02010600030101010101" pitchFamily="2" charset="-122"/>
                          <a:ea typeface="宋体" panose="02010600030101010101" pitchFamily="2" charset="-122"/>
                          <a:cs typeface="宋体" panose="02010600030101010101" pitchFamily="2" charset="-122"/>
                          <a:hlinkClick r:id="rId3" action="ppaction://hlinksldjump"/>
                        </a:rPr>
                        <a:t>PPT</a:t>
                      </a:r>
                      <a:endParaRPr lang="en-US" altLang="zh-CN" sz="1200" b="0" u="none" dirty="0">
                        <a:latin typeface="宋体" panose="02010600030101010101" pitchFamily="2" charset="-122"/>
                        <a:ea typeface="宋体" panose="02010600030101010101" pitchFamily="2" charset="-122"/>
                        <a:cs typeface="宋体" panose="02010600030101010101" pitchFamily="2" charset="-122"/>
                      </a:endParaRPr>
                    </a:p>
                  </a:txBody>
                  <a:tcPr marL="38057"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6552">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%c</a:t>
                      </a:r>
                    </a:p>
                  </a:txBody>
                  <a:tcPr marL="38057"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单个字符</a:t>
                      </a:r>
                    </a:p>
                  </a:txBody>
                  <a:tcPr marL="38057"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6552">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%d</a:t>
                      </a:r>
                    </a:p>
                  </a:txBody>
                  <a:tcPr marL="38057"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十进制整数</a:t>
                      </a:r>
                    </a:p>
                  </a:txBody>
                  <a:tcPr marL="38057"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6552">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%i</a:t>
                      </a:r>
                    </a:p>
                  </a:txBody>
                  <a:tcPr marL="38057"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十进制整数</a:t>
                      </a:r>
                    </a:p>
                  </a:txBody>
                  <a:tcPr marL="38057"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06552">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%o</a:t>
                      </a:r>
                    </a:p>
                  </a:txBody>
                  <a:tcPr marL="38057"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八进制整数</a:t>
                      </a:r>
                    </a:p>
                  </a:txBody>
                  <a:tcPr marL="38057"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06552">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%x</a:t>
                      </a:r>
                    </a:p>
                  </a:txBody>
                  <a:tcPr marL="38057"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十六进制整数</a:t>
                      </a:r>
                    </a:p>
                  </a:txBody>
                  <a:tcPr marL="38057"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06552">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%e</a:t>
                      </a:r>
                    </a:p>
                  </a:txBody>
                  <a:tcPr marL="38057"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指数 </a:t>
                      </a: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r>
                        <a:rPr lang="zh-CN" altLang="en-US" sz="1200" b="0" u="none" dirty="0">
                          <a:latin typeface="宋体" panose="02010600030101010101" pitchFamily="2" charset="-122"/>
                          <a:ea typeface="宋体" panose="02010600030101010101" pitchFamily="2" charset="-122"/>
                          <a:cs typeface="宋体" panose="02010600030101010101" pitchFamily="2" charset="-122"/>
                        </a:rPr>
                        <a:t>基底写为</a:t>
                      </a:r>
                      <a:r>
                        <a:rPr lang="en-US" altLang="zh-CN" sz="1200" b="0" u="none" dirty="0">
                          <a:latin typeface="宋体" panose="02010600030101010101" pitchFamily="2" charset="-122"/>
                          <a:ea typeface="宋体" panose="02010600030101010101" pitchFamily="2" charset="-122"/>
                          <a:cs typeface="宋体" panose="02010600030101010101" pitchFamily="2" charset="-122"/>
                        </a:rPr>
                        <a:t>e)</a:t>
                      </a:r>
                    </a:p>
                  </a:txBody>
                  <a:tcPr marL="38057"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06552">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%E</a:t>
                      </a:r>
                    </a:p>
                  </a:txBody>
                  <a:tcPr marL="38057"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指数 </a:t>
                      </a: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r>
                        <a:rPr lang="zh-CN" altLang="en-US" sz="1200" b="0" u="none" dirty="0">
                          <a:latin typeface="宋体" panose="02010600030101010101" pitchFamily="2" charset="-122"/>
                          <a:ea typeface="宋体" panose="02010600030101010101" pitchFamily="2" charset="-122"/>
                          <a:cs typeface="宋体" panose="02010600030101010101" pitchFamily="2" charset="-122"/>
                        </a:rPr>
                        <a:t>基底写为</a:t>
                      </a:r>
                      <a:r>
                        <a:rPr lang="en-US" altLang="zh-CN" sz="1200" b="0" u="none" dirty="0">
                          <a:latin typeface="宋体" panose="02010600030101010101" pitchFamily="2" charset="-122"/>
                          <a:ea typeface="宋体" panose="02010600030101010101" pitchFamily="2" charset="-122"/>
                          <a:cs typeface="宋体" panose="02010600030101010101" pitchFamily="2" charset="-122"/>
                        </a:rPr>
                        <a:t>E)</a:t>
                      </a:r>
                    </a:p>
                  </a:txBody>
                  <a:tcPr marL="38057"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06552">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%f</a:t>
                      </a:r>
                      <a:r>
                        <a:rPr lang="zh-CN" altLang="en-US"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宋体" panose="02010600030101010101" pitchFamily="2" charset="-122"/>
                          <a:ea typeface="宋体" panose="02010600030101010101" pitchFamily="2" charset="-122"/>
                          <a:cs typeface="宋体" panose="02010600030101010101" pitchFamily="2" charset="-122"/>
                        </a:rPr>
                        <a:t>%F</a:t>
                      </a:r>
                    </a:p>
                  </a:txBody>
                  <a:tcPr marL="38057"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浮点数</a:t>
                      </a:r>
                    </a:p>
                  </a:txBody>
                  <a:tcPr marL="38057"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40643">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%g</a:t>
                      </a:r>
                    </a:p>
                  </a:txBody>
                  <a:tcPr marL="38057"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指数</a:t>
                      </a:r>
                      <a:r>
                        <a:rPr lang="en-US" altLang="zh-CN" sz="1200" b="0" u="none" dirty="0">
                          <a:latin typeface="宋体" panose="02010600030101010101" pitchFamily="2" charset="-122"/>
                          <a:ea typeface="宋体" panose="02010600030101010101" pitchFamily="2" charset="-122"/>
                          <a:cs typeface="宋体" panose="02010600030101010101" pitchFamily="2" charset="-122"/>
                        </a:rPr>
                        <a:t>(e)</a:t>
                      </a:r>
                      <a:r>
                        <a:rPr lang="zh-CN" altLang="en-US" sz="1200" b="0" u="none" dirty="0">
                          <a:latin typeface="宋体" panose="02010600030101010101" pitchFamily="2" charset="-122"/>
                          <a:ea typeface="宋体" panose="02010600030101010101" pitchFamily="2" charset="-122"/>
                          <a:cs typeface="宋体" panose="02010600030101010101" pitchFamily="2" charset="-122"/>
                        </a:rPr>
                        <a:t>或浮点数 </a:t>
                      </a: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r>
                        <a:rPr lang="zh-CN" altLang="en-US" sz="1200" b="0" u="none" dirty="0">
                          <a:latin typeface="宋体" panose="02010600030101010101" pitchFamily="2" charset="-122"/>
                          <a:ea typeface="宋体" panose="02010600030101010101" pitchFamily="2" charset="-122"/>
                          <a:cs typeface="宋体" panose="02010600030101010101" pitchFamily="2" charset="-122"/>
                        </a:rPr>
                        <a:t>根据显示长度</a:t>
                      </a: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p>
                  </a:txBody>
                  <a:tcPr marL="38057"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08261">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%G</a:t>
                      </a:r>
                    </a:p>
                  </a:txBody>
                  <a:tcPr marL="38057"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指数</a:t>
                      </a:r>
                      <a:r>
                        <a:rPr lang="en-US" altLang="zh-CN" sz="1200" b="0" u="none" dirty="0">
                          <a:latin typeface="宋体" panose="02010600030101010101" pitchFamily="2" charset="-122"/>
                          <a:ea typeface="宋体" panose="02010600030101010101" pitchFamily="2" charset="-122"/>
                          <a:cs typeface="宋体" panose="02010600030101010101" pitchFamily="2" charset="-122"/>
                        </a:rPr>
                        <a:t>(E)</a:t>
                      </a:r>
                      <a:r>
                        <a:rPr lang="zh-CN" altLang="en-US" sz="1200" b="0" u="none" dirty="0">
                          <a:latin typeface="宋体" panose="02010600030101010101" pitchFamily="2" charset="-122"/>
                          <a:ea typeface="宋体" panose="02010600030101010101" pitchFamily="2" charset="-122"/>
                          <a:cs typeface="宋体" panose="02010600030101010101" pitchFamily="2" charset="-122"/>
                        </a:rPr>
                        <a:t>或浮点数 </a:t>
                      </a: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r>
                        <a:rPr lang="zh-CN" altLang="en-US" sz="1200" b="0" u="none" dirty="0">
                          <a:latin typeface="宋体" panose="02010600030101010101" pitchFamily="2" charset="-122"/>
                          <a:ea typeface="宋体" panose="02010600030101010101" pitchFamily="2" charset="-122"/>
                          <a:cs typeface="宋体" panose="02010600030101010101" pitchFamily="2" charset="-122"/>
                        </a:rPr>
                        <a:t>根据显示长度</a:t>
                      </a: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p>
                  </a:txBody>
                  <a:tcPr marL="38057"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06552">
                <a:tc>
                  <a:txBody>
                    <a:bodyPr/>
                    <a:lstStyle/>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t>
                      </a:r>
                    </a:p>
                  </a:txBody>
                  <a:tcPr marL="38057"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一个字符</a:t>
                      </a: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p>
                  </a:txBody>
                  <a:tcPr marL="38057"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30770"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solidFill>
                  <a:schemeClr val="bg1"/>
                </a:solidFill>
              </a:rPr>
              <a:t>10</a:t>
            </a:fld>
            <a:endParaRPr lang="zh-CN" altLang="en-US" sz="1050" dirty="0">
              <a:solidFill>
                <a:schemeClr val="bg1"/>
              </a:solidFill>
            </a:endParaRPr>
          </a:p>
        </p:txBody>
      </p:sp>
      <p:sp>
        <p:nvSpPr>
          <p:cNvPr id="14" name="文本框 13"/>
          <p:cNvSpPr txBox="1"/>
          <p:nvPr/>
        </p:nvSpPr>
        <p:spPr>
          <a:xfrm>
            <a:off x="323528" y="908720"/>
            <a:ext cx="5652628" cy="892552"/>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4.1.2 </a:t>
            </a:r>
            <a:r>
              <a:rPr lang="zh-CN" altLang="en-US" sz="2800" b="1" dirty="0">
                <a:latin typeface="Times New Roman" panose="02020603050405020304" pitchFamily="18" charset="0"/>
                <a:ea typeface="仿宋" panose="02010609060101010101" pitchFamily="49" charset="-122"/>
              </a:rPr>
              <a:t>字符串格式化</a:t>
            </a:r>
            <a:endParaRPr lang="en-US" altLang="zh-CN" sz="2800" b="1" dirty="0">
              <a:latin typeface="Times New Roman" panose="02020603050405020304" pitchFamily="18" charset="0"/>
              <a:ea typeface="仿宋" panose="02010609060101010101" pitchFamily="49" charset="-122"/>
            </a:endParaRPr>
          </a:p>
          <a:p>
            <a:pPr marL="914400" lvl="1" indent="-457200">
              <a:buClr>
                <a:srgbClr val="FF0000"/>
              </a:buClr>
              <a:buFont typeface="Wingdings" panose="05000000000000000000" pitchFamily="2" charset="2"/>
              <a:buChar char="n"/>
            </a:pPr>
            <a:r>
              <a:rPr lang="zh-CN" altLang="en-US" sz="2400" b="1" dirty="0">
                <a:latin typeface="Times New Roman" panose="02020603050405020304" pitchFamily="18" charset="0"/>
                <a:ea typeface="仿宋" panose="02010609060101010101" pitchFamily="49" charset="-122"/>
              </a:rPr>
              <a:t>常用格式字符</a:t>
            </a:r>
            <a:endParaRPr lang="en-US" altLang="zh-CN" sz="2400" b="1" dirty="0">
              <a:solidFill>
                <a:srgbClr val="FF0000"/>
              </a:solidFill>
              <a:latin typeface="Times New Roman" panose="02020603050405020304" pitchFamily="18" charset="0"/>
              <a:ea typeface="仿宋" panose="02010609060101010101" pitchFamily="49" charset="-122"/>
            </a:endParaRPr>
          </a:p>
        </p:txBody>
      </p:sp>
      <p:grpSp>
        <p:nvGrpSpPr>
          <p:cNvPr id="15" name="组合 114"/>
          <p:cNvGrpSpPr/>
          <p:nvPr/>
        </p:nvGrpSpPr>
        <p:grpSpPr>
          <a:xfrm>
            <a:off x="-540568" y="116632"/>
            <a:ext cx="6225040" cy="662730"/>
            <a:chOff x="-198275" y="3380765"/>
            <a:chExt cx="6225040" cy="662730"/>
          </a:xfrm>
        </p:grpSpPr>
        <p:grpSp>
          <p:nvGrpSpPr>
            <p:cNvPr id="16" name="组合 105"/>
            <p:cNvGrpSpPr/>
            <p:nvPr/>
          </p:nvGrpSpPr>
          <p:grpSpPr>
            <a:xfrm>
              <a:off x="-198275" y="3380765"/>
              <a:ext cx="6225040" cy="662730"/>
              <a:chOff x="-198275" y="3380765"/>
              <a:chExt cx="6225040" cy="662730"/>
            </a:xfrm>
          </p:grpSpPr>
          <p:sp>
            <p:nvSpPr>
              <p:cNvPr id="1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9"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17" name="图片 16" descr="12.jpg"/>
            <p:cNvPicPr>
              <a:picLocks noChangeAspect="1"/>
            </p:cNvPicPr>
            <p:nvPr/>
          </p:nvPicPr>
          <p:blipFill>
            <a:blip r:embed="rId4" cstate="print"/>
            <a:stretch>
              <a:fillRect/>
            </a:stretch>
          </p:blipFill>
          <p:spPr>
            <a:xfrm>
              <a:off x="1115929" y="3530600"/>
              <a:ext cx="446172" cy="431048"/>
            </a:xfrm>
            <a:prstGeom prst="rect">
              <a:avLst/>
            </a:prstGeom>
          </p:spPr>
        </p:pic>
      </p:grpSp>
      <p:pic>
        <p:nvPicPr>
          <p:cNvPr id="4" name="图片 3"/>
          <p:cNvPicPr>
            <a:picLocks noChangeAspect="1"/>
          </p:cNvPicPr>
          <p:nvPr/>
        </p:nvPicPr>
        <p:blipFill>
          <a:blip r:embed="rId5"/>
          <a:stretch>
            <a:fillRect/>
          </a:stretch>
        </p:blipFill>
        <p:spPr>
          <a:xfrm>
            <a:off x="4500971" y="1801272"/>
            <a:ext cx="4533461" cy="2419816"/>
          </a:xfrm>
          <a:prstGeom prst="rect">
            <a:avLst/>
          </a:prstGeom>
        </p:spPr>
      </p:pic>
    </p:spTree>
    <p:extLst>
      <p:ext uri="{BB962C8B-B14F-4D97-AF65-F5344CB8AC3E}">
        <p14:creationId xmlns:p14="http://schemas.microsoft.com/office/powerpoint/2010/main" val="144062557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文本占位符 28674"/>
          <p:cNvSpPr>
            <a:spLocks noGrp="1"/>
          </p:cNvSpPr>
          <p:nvPr>
            <p:ph idx="1"/>
          </p:nvPr>
        </p:nvSpPr>
        <p:spPr>
          <a:xfrm>
            <a:off x="1219808" y="1595838"/>
            <a:ext cx="5333392" cy="4678451"/>
          </a:xfrm>
        </p:spPr>
        <p:txBody>
          <a:bodyPr anchor="t"/>
          <a:lstStyle/>
          <a:p>
            <a:pPr>
              <a:spcBef>
                <a:spcPct val="0"/>
              </a:spcBef>
              <a:buSzPct val="70000"/>
              <a:buNone/>
            </a:pPr>
            <a:r>
              <a:rPr lang="zh-CN" altLang="en-US" sz="1350" dirty="0">
                <a:latin typeface="Consolas" panose="020B0609020204030204" charset="0"/>
              </a:rPr>
              <a:t>&gt;&gt;&gt; x = 1235</a:t>
            </a:r>
          </a:p>
          <a:p>
            <a:pPr>
              <a:spcBef>
                <a:spcPct val="0"/>
              </a:spcBef>
              <a:buSzPct val="70000"/>
              <a:buNone/>
            </a:pPr>
            <a:r>
              <a:rPr lang="zh-CN" altLang="en-US" sz="1350" dirty="0">
                <a:latin typeface="Consolas" panose="020B0609020204030204" charset="0"/>
              </a:rPr>
              <a:t>&gt;&gt;&gt; so = </a:t>
            </a:r>
            <a:r>
              <a:rPr lang="zh-CN" altLang="en-US" sz="1350" dirty="0" smtClean="0">
                <a:latin typeface="Consolas" panose="020B0609020204030204" charset="0"/>
              </a:rPr>
              <a:t>“%o” </a:t>
            </a:r>
            <a:r>
              <a:rPr lang="zh-CN" altLang="en-US" sz="1350" dirty="0">
                <a:latin typeface="Consolas" panose="020B0609020204030204" charset="0"/>
              </a:rPr>
              <a:t>% </a:t>
            </a:r>
            <a:r>
              <a:rPr lang="zh-CN" altLang="en-US" sz="1350" dirty="0" smtClean="0">
                <a:latin typeface="Consolas" panose="020B0609020204030204" charset="0"/>
              </a:rPr>
              <a:t>x             </a:t>
            </a:r>
            <a:r>
              <a:rPr lang="en-US" altLang="zh-CN" sz="1200" dirty="0"/>
              <a:t>#</a:t>
            </a:r>
            <a:r>
              <a:rPr lang="zh-CN" altLang="en-US" sz="1200" dirty="0" smtClean="0"/>
              <a:t>八进制</a:t>
            </a:r>
            <a:r>
              <a:rPr lang="zh-CN" altLang="en-US" sz="1350" dirty="0" smtClean="0">
                <a:latin typeface="Consolas" panose="020B0609020204030204" charset="0"/>
              </a:rPr>
              <a:t> </a:t>
            </a:r>
            <a:endParaRPr lang="zh-CN" altLang="en-US" sz="1350" dirty="0">
              <a:latin typeface="Consolas" panose="020B0609020204030204" charset="0"/>
            </a:endParaRPr>
          </a:p>
          <a:p>
            <a:pPr>
              <a:spcBef>
                <a:spcPct val="0"/>
              </a:spcBef>
              <a:buSzPct val="70000"/>
              <a:buNone/>
            </a:pPr>
            <a:r>
              <a:rPr lang="zh-CN" altLang="en-US" sz="1350" dirty="0">
                <a:latin typeface="Consolas" panose="020B0609020204030204" charset="0"/>
              </a:rPr>
              <a:t>&gt;&gt;&gt; so</a:t>
            </a:r>
          </a:p>
          <a:p>
            <a:pPr>
              <a:spcBef>
                <a:spcPct val="0"/>
              </a:spcBef>
              <a:buSzPct val="70000"/>
              <a:buNone/>
            </a:pPr>
            <a:r>
              <a:rPr lang="zh-CN" altLang="en-US" sz="1350" dirty="0">
                <a:solidFill>
                  <a:srgbClr val="0000FF"/>
                </a:solidFill>
                <a:latin typeface="Consolas" panose="020B0609020204030204" charset="0"/>
              </a:rPr>
              <a:t>"2323"</a:t>
            </a:r>
          </a:p>
          <a:p>
            <a:pPr>
              <a:spcBef>
                <a:spcPct val="0"/>
              </a:spcBef>
              <a:buSzPct val="70000"/>
              <a:buNone/>
            </a:pPr>
            <a:r>
              <a:rPr lang="zh-CN" altLang="en-US" sz="1350" dirty="0">
                <a:latin typeface="Consolas" panose="020B0609020204030204" charset="0"/>
              </a:rPr>
              <a:t>&gt;&gt;&gt; sh = </a:t>
            </a:r>
            <a:r>
              <a:rPr lang="zh-CN" altLang="en-US" sz="1350" dirty="0" smtClean="0">
                <a:latin typeface="Consolas" panose="020B0609020204030204" charset="0"/>
              </a:rPr>
              <a:t>“%x” </a:t>
            </a:r>
            <a:r>
              <a:rPr lang="zh-CN" altLang="en-US" sz="1350" dirty="0">
                <a:latin typeface="Consolas" panose="020B0609020204030204" charset="0"/>
              </a:rPr>
              <a:t>% </a:t>
            </a:r>
            <a:r>
              <a:rPr lang="zh-CN" altLang="en-US" sz="1350" dirty="0" smtClean="0">
                <a:latin typeface="Consolas" panose="020B0609020204030204" charset="0"/>
              </a:rPr>
              <a:t>x            </a:t>
            </a:r>
            <a:r>
              <a:rPr lang="en-US" altLang="zh-CN" sz="1200" dirty="0"/>
              <a:t>#</a:t>
            </a:r>
            <a:r>
              <a:rPr lang="zh-CN" altLang="en-US" sz="1200" dirty="0" smtClean="0"/>
              <a:t>十六进制</a:t>
            </a:r>
            <a:endParaRPr lang="zh-CN" altLang="en-US" sz="1350" dirty="0">
              <a:latin typeface="Consolas" panose="020B0609020204030204" charset="0"/>
            </a:endParaRPr>
          </a:p>
          <a:p>
            <a:pPr>
              <a:spcBef>
                <a:spcPct val="0"/>
              </a:spcBef>
              <a:buSzPct val="70000"/>
              <a:buNone/>
            </a:pPr>
            <a:r>
              <a:rPr lang="zh-CN" altLang="en-US" sz="1350" dirty="0">
                <a:latin typeface="Consolas" panose="020B0609020204030204" charset="0"/>
              </a:rPr>
              <a:t>&gt;&gt;&gt; sh</a:t>
            </a:r>
          </a:p>
          <a:p>
            <a:pPr>
              <a:spcBef>
                <a:spcPct val="0"/>
              </a:spcBef>
              <a:buSzPct val="70000"/>
              <a:buNone/>
            </a:pPr>
            <a:r>
              <a:rPr lang="zh-CN" altLang="en-US" sz="1350" dirty="0">
                <a:solidFill>
                  <a:srgbClr val="0000FF"/>
                </a:solidFill>
                <a:latin typeface="Consolas" panose="020B0609020204030204" charset="0"/>
              </a:rPr>
              <a:t>"4d3"</a:t>
            </a:r>
          </a:p>
          <a:p>
            <a:pPr>
              <a:spcBef>
                <a:spcPct val="0"/>
              </a:spcBef>
              <a:buSzPct val="70000"/>
              <a:buNone/>
            </a:pPr>
            <a:r>
              <a:rPr lang="zh-CN" altLang="en-US" sz="1350" dirty="0">
                <a:latin typeface="Consolas" panose="020B0609020204030204" charset="0"/>
              </a:rPr>
              <a:t>&gt;&gt;&gt; se = </a:t>
            </a:r>
            <a:r>
              <a:rPr lang="zh-CN" altLang="en-US" sz="1350" dirty="0" smtClean="0">
                <a:latin typeface="Consolas" panose="020B0609020204030204" charset="0"/>
              </a:rPr>
              <a:t>“%e” </a:t>
            </a:r>
            <a:r>
              <a:rPr lang="zh-CN" altLang="en-US" sz="1350" dirty="0">
                <a:latin typeface="Consolas" panose="020B0609020204030204" charset="0"/>
              </a:rPr>
              <a:t>% </a:t>
            </a:r>
            <a:r>
              <a:rPr lang="zh-CN" altLang="en-US" sz="1350" dirty="0" smtClean="0">
                <a:latin typeface="Consolas" panose="020B0609020204030204" charset="0"/>
              </a:rPr>
              <a:t>x            </a:t>
            </a:r>
            <a:r>
              <a:rPr lang="en-US" altLang="zh-CN" sz="1200" dirty="0"/>
              <a:t>#</a:t>
            </a:r>
            <a:r>
              <a:rPr lang="zh-CN" altLang="en-US" sz="1200" dirty="0"/>
              <a:t>指数</a:t>
            </a:r>
            <a:endParaRPr lang="en-US" altLang="zh-CN" sz="1200" dirty="0"/>
          </a:p>
          <a:p>
            <a:pPr>
              <a:spcBef>
                <a:spcPct val="0"/>
              </a:spcBef>
              <a:buSzPct val="70000"/>
              <a:buNone/>
            </a:pPr>
            <a:r>
              <a:rPr lang="zh-CN" altLang="en-US" sz="1350" dirty="0" smtClean="0">
                <a:latin typeface="Consolas" panose="020B0609020204030204" charset="0"/>
              </a:rPr>
              <a:t>&gt;&gt;&gt; </a:t>
            </a:r>
            <a:r>
              <a:rPr lang="zh-CN" altLang="en-US" sz="1350" dirty="0">
                <a:latin typeface="Consolas" panose="020B0609020204030204" charset="0"/>
              </a:rPr>
              <a:t>se</a:t>
            </a:r>
          </a:p>
          <a:p>
            <a:pPr>
              <a:spcBef>
                <a:spcPct val="0"/>
              </a:spcBef>
              <a:buSzPct val="70000"/>
              <a:buNone/>
            </a:pPr>
            <a:r>
              <a:rPr lang="zh-CN" altLang="en-US" sz="1350" dirty="0">
                <a:solidFill>
                  <a:srgbClr val="0000FF"/>
                </a:solidFill>
                <a:latin typeface="Consolas" panose="020B0609020204030204" charset="0"/>
              </a:rPr>
              <a:t>"1.235000e+03"</a:t>
            </a:r>
          </a:p>
          <a:p>
            <a:pPr>
              <a:spcBef>
                <a:spcPct val="0"/>
              </a:spcBef>
              <a:buSzPct val="70000"/>
              <a:buNone/>
            </a:pPr>
            <a:r>
              <a:rPr lang="zh-CN" altLang="en-US" sz="1350" dirty="0">
                <a:latin typeface="Consolas" panose="020B0609020204030204" charset="0"/>
              </a:rPr>
              <a:t>&gt;&gt;&gt; chr(ord</a:t>
            </a:r>
            <a:r>
              <a:rPr lang="zh-CN" altLang="en-US" sz="1350" dirty="0" smtClean="0">
                <a:latin typeface="Consolas" panose="020B0609020204030204" charset="0"/>
              </a:rPr>
              <a:t>(“3”)+</a:t>
            </a:r>
            <a:r>
              <a:rPr lang="zh-CN" altLang="en-US" sz="1350" dirty="0">
                <a:latin typeface="Consolas" panose="020B0609020204030204" charset="0"/>
              </a:rPr>
              <a:t>1</a:t>
            </a:r>
            <a:r>
              <a:rPr lang="zh-CN" altLang="en-US" sz="1350" dirty="0" smtClean="0">
                <a:latin typeface="Consolas" panose="020B0609020204030204" charset="0"/>
              </a:rPr>
              <a:t>) </a:t>
            </a:r>
            <a:endParaRPr lang="zh-CN" altLang="en-US" sz="1350" dirty="0">
              <a:latin typeface="Consolas" panose="020B0609020204030204" charset="0"/>
            </a:endParaRPr>
          </a:p>
          <a:p>
            <a:pPr>
              <a:spcBef>
                <a:spcPct val="0"/>
              </a:spcBef>
              <a:buSzPct val="70000"/>
              <a:buNone/>
            </a:pPr>
            <a:r>
              <a:rPr lang="zh-CN" altLang="en-US" sz="1350" dirty="0">
                <a:solidFill>
                  <a:srgbClr val="0000FF"/>
                </a:solidFill>
                <a:latin typeface="Consolas" panose="020B0609020204030204" charset="0"/>
              </a:rPr>
              <a:t>"4"</a:t>
            </a:r>
          </a:p>
          <a:p>
            <a:pPr>
              <a:spcBef>
                <a:spcPct val="0"/>
              </a:spcBef>
              <a:buSzPct val="70000"/>
              <a:buNone/>
            </a:pPr>
            <a:r>
              <a:rPr lang="zh-CN" altLang="en-US" sz="1350" dirty="0">
                <a:latin typeface="Consolas" panose="020B0609020204030204" charset="0"/>
              </a:rPr>
              <a:t>&gt;&gt;&gt; "%s" % 65</a:t>
            </a:r>
          </a:p>
          <a:p>
            <a:pPr>
              <a:spcBef>
                <a:spcPct val="0"/>
              </a:spcBef>
              <a:buSzPct val="70000"/>
              <a:buNone/>
            </a:pPr>
            <a:r>
              <a:rPr lang="zh-CN" altLang="en-US" sz="1350" dirty="0">
                <a:solidFill>
                  <a:srgbClr val="0000FF"/>
                </a:solidFill>
                <a:latin typeface="Consolas" panose="020B0609020204030204" charset="0"/>
              </a:rPr>
              <a:t>"65"</a:t>
            </a:r>
          </a:p>
          <a:p>
            <a:pPr>
              <a:spcBef>
                <a:spcPct val="0"/>
              </a:spcBef>
              <a:buSzPct val="70000"/>
              <a:buNone/>
            </a:pPr>
            <a:r>
              <a:rPr lang="zh-CN" altLang="en-US" sz="1350" dirty="0">
                <a:latin typeface="Consolas" panose="020B0609020204030204" charset="0"/>
              </a:rPr>
              <a:t>&gt;&gt;&gt; "%s" % 65333</a:t>
            </a:r>
          </a:p>
          <a:p>
            <a:pPr>
              <a:spcBef>
                <a:spcPct val="0"/>
              </a:spcBef>
              <a:buSzPct val="70000"/>
              <a:buNone/>
            </a:pPr>
            <a:r>
              <a:rPr lang="zh-CN" altLang="en-US" sz="1350" dirty="0">
                <a:solidFill>
                  <a:srgbClr val="0000FF"/>
                </a:solidFill>
                <a:latin typeface="Consolas" panose="020B0609020204030204" charset="0"/>
              </a:rPr>
              <a:t>"65333"</a:t>
            </a:r>
          </a:p>
          <a:p>
            <a:pPr>
              <a:spcBef>
                <a:spcPct val="0"/>
              </a:spcBef>
              <a:buSzPct val="70000"/>
              <a:buNone/>
            </a:pPr>
            <a:r>
              <a:rPr lang="zh-CN" altLang="en-US" sz="1350" dirty="0">
                <a:latin typeface="Consolas" panose="020B0609020204030204" charset="0"/>
              </a:rPr>
              <a:t>&gt;&gt;&gt; "%d" % "555"</a:t>
            </a:r>
          </a:p>
          <a:p>
            <a:pPr>
              <a:spcBef>
                <a:spcPct val="0"/>
              </a:spcBef>
              <a:buSzPct val="70000"/>
              <a:buNone/>
            </a:pPr>
            <a:r>
              <a:rPr lang="zh-CN" altLang="en-US" sz="1350" dirty="0">
                <a:solidFill>
                  <a:srgbClr val="FF0000"/>
                </a:solidFill>
                <a:latin typeface="Consolas" panose="020B0609020204030204" charset="0"/>
              </a:rPr>
              <a:t>TypeError: %d format: a number is required, not str</a:t>
            </a:r>
            <a:endParaRPr lang="en-US" altLang="zh-CN" sz="1350" dirty="0">
              <a:solidFill>
                <a:srgbClr val="FF0000"/>
              </a:solidFill>
              <a:latin typeface="Consolas" panose="020B0609020204030204" charset="0"/>
            </a:endParaRPr>
          </a:p>
          <a:p>
            <a:pPr>
              <a:spcBef>
                <a:spcPct val="0"/>
              </a:spcBef>
              <a:buSzPct val="70000"/>
              <a:buNone/>
            </a:pPr>
            <a:r>
              <a:rPr lang="en-US" altLang="zh-CN" sz="1350" dirty="0">
                <a:latin typeface="Consolas" panose="020B0609020204030204" charset="0"/>
              </a:rPr>
              <a:t>&gt;&gt;&gt; “%d” % 0xF</a:t>
            </a:r>
          </a:p>
          <a:p>
            <a:pPr>
              <a:spcBef>
                <a:spcPct val="0"/>
              </a:spcBef>
              <a:buSzPct val="70000"/>
              <a:buNone/>
            </a:pPr>
            <a:r>
              <a:rPr lang="en-US" altLang="zh-CN" sz="1350" dirty="0">
                <a:latin typeface="Consolas" panose="020B0609020204030204" charset="0"/>
              </a:rPr>
              <a:t>‘15’</a:t>
            </a:r>
          </a:p>
        </p:txBody>
      </p:sp>
      <p:sp>
        <p:nvSpPr>
          <p:cNvPr id="31747"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solidFill>
                  <a:schemeClr val="bg1"/>
                </a:solidFill>
              </a:rPr>
              <a:t>11</a:t>
            </a:fld>
            <a:endParaRPr lang="zh-CN" altLang="en-US" sz="1050" dirty="0">
              <a:solidFill>
                <a:schemeClr val="bg1"/>
              </a:solidFill>
            </a:endParaRPr>
          </a:p>
        </p:txBody>
      </p:sp>
      <p:sp>
        <p:nvSpPr>
          <p:cNvPr id="6" name="文本框 5"/>
          <p:cNvSpPr txBox="1"/>
          <p:nvPr/>
        </p:nvSpPr>
        <p:spPr>
          <a:xfrm>
            <a:off x="12075" y="925990"/>
            <a:ext cx="5652628" cy="523220"/>
          </a:xfrm>
          <a:prstGeom prst="rect">
            <a:avLst/>
          </a:prstGeom>
          <a:noFill/>
        </p:spPr>
        <p:txBody>
          <a:bodyPr wrap="square" rtlCol="0">
            <a:spAutoFit/>
          </a:bodyPr>
          <a:lstStyle/>
          <a:p>
            <a:pPr marL="914400" lvl="1" indent="-45720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4.1.2 </a:t>
            </a:r>
            <a:r>
              <a:rPr lang="zh-CN" altLang="en-US" sz="2800" b="1" dirty="0">
                <a:latin typeface="Times New Roman" panose="02020603050405020304" pitchFamily="18" charset="0"/>
                <a:ea typeface="仿宋" panose="02010609060101010101" pitchFamily="49" charset="-122"/>
              </a:rPr>
              <a:t>字符</a:t>
            </a:r>
            <a:r>
              <a:rPr lang="zh-CN" altLang="en-US" sz="2800" b="1" dirty="0">
                <a:ea typeface="仿宋" panose="02010609060101010101" pitchFamily="49" charset="-122"/>
              </a:rPr>
              <a:t>串格式化</a:t>
            </a:r>
            <a:r>
              <a:rPr lang="en-US" altLang="zh-CN" sz="2800" b="1" dirty="0">
                <a:ea typeface="仿宋" panose="02010609060101010101" pitchFamily="49" charset="-122"/>
              </a:rPr>
              <a:t>-</a:t>
            </a:r>
            <a:r>
              <a:rPr lang="en-US" altLang="zh-CN" sz="2800" b="1" dirty="0">
                <a:solidFill>
                  <a:srgbClr val="FF0000"/>
                </a:solidFill>
                <a:ea typeface="仿宋" panose="02010609060101010101" pitchFamily="49" charset="-122"/>
              </a:rPr>
              <a:t>%</a:t>
            </a:r>
            <a:r>
              <a:rPr lang="zh-CN" altLang="en-US" sz="2800" b="1" dirty="0">
                <a:solidFill>
                  <a:srgbClr val="FF0000"/>
                </a:solidFill>
                <a:ea typeface="仿宋" panose="02010609060101010101" pitchFamily="49" charset="-122"/>
              </a:rPr>
              <a:t>格式</a:t>
            </a:r>
            <a:endParaRPr lang="en-US" altLang="zh-CN" sz="2800" b="1" dirty="0">
              <a:solidFill>
                <a:srgbClr val="FF0000"/>
              </a:solidFill>
              <a:ea typeface="仿宋" panose="02010609060101010101" pitchFamily="49" charset="-122"/>
            </a:endParaRPr>
          </a:p>
        </p:txBody>
      </p:sp>
      <p:grpSp>
        <p:nvGrpSpPr>
          <p:cNvPr id="7" name="组合 114"/>
          <p:cNvGrpSpPr/>
          <p:nvPr/>
        </p:nvGrpSpPr>
        <p:grpSpPr>
          <a:xfrm>
            <a:off x="-540568" y="116632"/>
            <a:ext cx="6225040" cy="662730"/>
            <a:chOff x="-198275" y="3380765"/>
            <a:chExt cx="6225040" cy="662730"/>
          </a:xfrm>
        </p:grpSpPr>
        <p:grpSp>
          <p:nvGrpSpPr>
            <p:cNvPr id="8" name="组合 105"/>
            <p:cNvGrpSpPr/>
            <p:nvPr/>
          </p:nvGrpSpPr>
          <p:grpSpPr>
            <a:xfrm>
              <a:off x="-198275" y="3380765"/>
              <a:ext cx="6225040" cy="662730"/>
              <a:chOff x="-198275" y="3380765"/>
              <a:chExt cx="6225040" cy="662730"/>
            </a:xfrm>
          </p:grpSpPr>
          <p:sp>
            <p:nvSpPr>
              <p:cNvPr id="1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9" name="图片 8"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2" name="文本框 1"/>
          <p:cNvSpPr txBox="1"/>
          <p:nvPr/>
        </p:nvSpPr>
        <p:spPr>
          <a:xfrm>
            <a:off x="4067944" y="3532801"/>
            <a:ext cx="4896544" cy="830997"/>
          </a:xfrm>
          <a:prstGeom prst="rect">
            <a:avLst/>
          </a:prstGeom>
          <a:noFill/>
        </p:spPr>
        <p:txBody>
          <a:bodyPr wrap="square" rtlCol="0">
            <a:spAutoFit/>
          </a:bodyPr>
          <a:lstStyle/>
          <a:p>
            <a:r>
              <a:rPr lang="en-US" altLang="zh-CN" sz="1200" dirty="0" smtClean="0">
                <a:latin typeface="Times New Roman" panose="02020603050405020304" pitchFamily="18" charset="0"/>
              </a:rPr>
              <a:t>#</a:t>
            </a:r>
            <a:r>
              <a:rPr lang="en-US" altLang="zh-CN" sz="1200" b="0" i="0" dirty="0">
                <a:solidFill>
                  <a:srgbClr val="333333"/>
                </a:solidFill>
                <a:effectLst/>
                <a:latin typeface="Times New Roman" panose="02020603050405020304" pitchFamily="18" charset="0"/>
              </a:rPr>
              <a:t>ord() </a:t>
            </a:r>
            <a:r>
              <a:rPr lang="zh-CN" altLang="en-US" sz="1200" b="0" i="0" dirty="0">
                <a:solidFill>
                  <a:srgbClr val="333333"/>
                </a:solidFill>
                <a:effectLst/>
                <a:latin typeface="Times New Roman" panose="02020603050405020304" pitchFamily="18" charset="0"/>
              </a:rPr>
              <a:t>函数是 </a:t>
            </a:r>
            <a:r>
              <a:rPr lang="en-US" altLang="zh-CN" sz="1200" b="0" i="0" dirty="0">
                <a:solidFill>
                  <a:srgbClr val="333333"/>
                </a:solidFill>
                <a:effectLst/>
                <a:latin typeface="Times New Roman" panose="02020603050405020304" pitchFamily="18" charset="0"/>
              </a:rPr>
              <a:t>chr() </a:t>
            </a:r>
            <a:r>
              <a:rPr lang="zh-CN" altLang="en-US" sz="1200" b="0" i="0" dirty="0">
                <a:solidFill>
                  <a:srgbClr val="333333"/>
                </a:solidFill>
                <a:effectLst/>
                <a:latin typeface="Times New Roman" panose="02020603050405020304" pitchFamily="18" charset="0"/>
              </a:rPr>
              <a:t>函数（对于 </a:t>
            </a:r>
            <a:r>
              <a:rPr lang="en-US" altLang="zh-CN" sz="1200" b="0" i="0" dirty="0">
                <a:solidFill>
                  <a:srgbClr val="333333"/>
                </a:solidFill>
                <a:effectLst/>
                <a:latin typeface="Times New Roman" panose="02020603050405020304" pitchFamily="18" charset="0"/>
              </a:rPr>
              <a:t>8 </a:t>
            </a:r>
            <a:r>
              <a:rPr lang="zh-CN" altLang="en-US" sz="1200" b="0" i="0" dirty="0">
                <a:solidFill>
                  <a:srgbClr val="333333"/>
                </a:solidFill>
                <a:effectLst/>
                <a:latin typeface="Times New Roman" panose="02020603050405020304" pitchFamily="18" charset="0"/>
              </a:rPr>
              <a:t>位的 </a:t>
            </a:r>
            <a:r>
              <a:rPr lang="en-US" altLang="zh-CN" sz="1200" b="0" i="0" dirty="0">
                <a:solidFill>
                  <a:srgbClr val="333333"/>
                </a:solidFill>
                <a:effectLst/>
                <a:latin typeface="Times New Roman" panose="02020603050405020304" pitchFamily="18" charset="0"/>
              </a:rPr>
              <a:t>ASCII </a:t>
            </a:r>
            <a:r>
              <a:rPr lang="zh-CN" altLang="en-US" sz="1200" b="0" i="0" dirty="0">
                <a:solidFill>
                  <a:srgbClr val="333333"/>
                </a:solidFill>
                <a:effectLst/>
                <a:latin typeface="Times New Roman" panose="02020603050405020304" pitchFamily="18" charset="0"/>
              </a:rPr>
              <a:t>字符串）的配对函数，它以一个字符串（</a:t>
            </a:r>
            <a:r>
              <a:rPr lang="en-US" altLang="zh-CN" sz="1200" b="0" i="0" dirty="0">
                <a:solidFill>
                  <a:srgbClr val="333333"/>
                </a:solidFill>
                <a:effectLst/>
                <a:latin typeface="Times New Roman" panose="02020603050405020304" pitchFamily="18" charset="0"/>
              </a:rPr>
              <a:t>Unicode </a:t>
            </a:r>
            <a:r>
              <a:rPr lang="zh-CN" altLang="en-US" sz="1200" b="0" i="0" dirty="0">
                <a:solidFill>
                  <a:srgbClr val="333333"/>
                </a:solidFill>
                <a:effectLst/>
                <a:latin typeface="Times New Roman" panose="02020603050405020304" pitchFamily="18" charset="0"/>
              </a:rPr>
              <a:t>字符）作为参数，返回对应的 </a:t>
            </a:r>
            <a:r>
              <a:rPr lang="en-US" altLang="zh-CN" sz="1200" b="0" i="0" dirty="0">
                <a:solidFill>
                  <a:srgbClr val="333333"/>
                </a:solidFill>
                <a:effectLst/>
                <a:latin typeface="Times New Roman" panose="02020603050405020304" pitchFamily="18" charset="0"/>
              </a:rPr>
              <a:t>ASCII </a:t>
            </a:r>
            <a:r>
              <a:rPr lang="zh-CN" altLang="en-US" sz="1200" b="0" i="0" dirty="0">
                <a:solidFill>
                  <a:srgbClr val="333333"/>
                </a:solidFill>
                <a:effectLst/>
                <a:latin typeface="Times New Roman" panose="02020603050405020304" pitchFamily="18" charset="0"/>
              </a:rPr>
              <a:t>数值，或者 </a:t>
            </a:r>
            <a:r>
              <a:rPr lang="en-US" altLang="zh-CN" sz="1200" b="0" i="0" dirty="0">
                <a:solidFill>
                  <a:srgbClr val="333333"/>
                </a:solidFill>
                <a:effectLst/>
                <a:latin typeface="Times New Roman" panose="02020603050405020304" pitchFamily="18" charset="0"/>
              </a:rPr>
              <a:t>Unicode </a:t>
            </a:r>
            <a:r>
              <a:rPr lang="zh-CN" altLang="en-US" sz="1200" b="0" i="0" dirty="0">
                <a:solidFill>
                  <a:srgbClr val="333333"/>
                </a:solidFill>
                <a:effectLst/>
                <a:latin typeface="Times New Roman" panose="02020603050405020304" pitchFamily="18" charset="0"/>
              </a:rPr>
              <a:t>数值。</a:t>
            </a:r>
            <a:endParaRPr lang="en-US" altLang="zh-CN" sz="1200" b="0" i="0" dirty="0">
              <a:solidFill>
                <a:srgbClr val="333333"/>
              </a:solidFill>
              <a:effectLst/>
              <a:latin typeface="Times New Roman" panose="02020603050405020304" pitchFamily="18" charset="0"/>
            </a:endParaRPr>
          </a:p>
          <a:p>
            <a:endParaRPr lang="en-US" altLang="zh-CN" sz="1200" b="0" i="0" dirty="0">
              <a:solidFill>
                <a:srgbClr val="333333"/>
              </a:solidFill>
              <a:effectLst/>
              <a:latin typeface="Times New Roman" panose="02020603050405020304" pitchFamily="18" charset="0"/>
            </a:endParaRPr>
          </a:p>
        </p:txBody>
      </p:sp>
      <p:sp>
        <p:nvSpPr>
          <p:cNvPr id="3" name="矩形 2"/>
          <p:cNvSpPr/>
          <p:nvPr/>
        </p:nvSpPr>
        <p:spPr>
          <a:xfrm>
            <a:off x="4067944" y="4437112"/>
            <a:ext cx="4572000" cy="646331"/>
          </a:xfrm>
          <a:prstGeom prst="rect">
            <a:avLst/>
          </a:prstGeom>
        </p:spPr>
        <p:txBody>
          <a:bodyPr>
            <a:spAutoFit/>
          </a:bodyPr>
          <a:lstStyle/>
          <a:p>
            <a:r>
              <a:rPr lang="en-US" altLang="zh-CN" sz="1200" dirty="0">
                <a:solidFill>
                  <a:srgbClr val="333333"/>
                </a:solidFill>
                <a:latin typeface="Times New Roman" panose="02020603050405020304" pitchFamily="18" charset="0"/>
              </a:rPr>
              <a:t>#</a:t>
            </a:r>
            <a:r>
              <a:rPr lang="en-US" altLang="zh-CN" sz="1200" dirty="0" err="1">
                <a:solidFill>
                  <a:srgbClr val="333333"/>
                </a:solidFill>
                <a:latin typeface="Times New Roman" panose="02020603050405020304" pitchFamily="18" charset="0"/>
              </a:rPr>
              <a:t>chr</a:t>
            </a:r>
            <a:r>
              <a:rPr lang="en-US" altLang="zh-CN" sz="1200" dirty="0">
                <a:solidFill>
                  <a:srgbClr val="333333"/>
                </a:solidFill>
                <a:latin typeface="Times New Roman" panose="02020603050405020304" pitchFamily="18" charset="0"/>
              </a:rPr>
              <a:t>() </a:t>
            </a:r>
            <a:r>
              <a:rPr lang="zh-CN" altLang="en-US" sz="1200" dirty="0">
                <a:solidFill>
                  <a:srgbClr val="333333"/>
                </a:solidFill>
                <a:latin typeface="Times New Roman" panose="02020603050405020304" pitchFamily="18" charset="0"/>
              </a:rPr>
              <a:t>用一个整数作参数，返回一个对应的字符。</a:t>
            </a:r>
            <a:endParaRPr lang="en-US" altLang="zh-CN" sz="1200" dirty="0">
              <a:solidFill>
                <a:srgbClr val="333333"/>
              </a:solidFill>
              <a:latin typeface="Times New Roman" panose="02020603050405020304" pitchFamily="18" charset="0"/>
            </a:endParaRPr>
          </a:p>
          <a:p>
            <a:r>
              <a:rPr lang="en-US" altLang="zh-CN" sz="1200" dirty="0">
                <a:solidFill>
                  <a:srgbClr val="333333"/>
                </a:solidFill>
                <a:latin typeface="Times New Roman" panose="02020603050405020304" pitchFamily="18" charset="0"/>
              </a:rPr>
              <a:t>#%s </a:t>
            </a:r>
            <a:r>
              <a:rPr lang="zh-CN" altLang="en-US" sz="1200" dirty="0">
                <a:solidFill>
                  <a:srgbClr val="333333"/>
                </a:solidFill>
                <a:latin typeface="Helvetica Neue"/>
              </a:rPr>
              <a:t>返回一个对象的</a:t>
            </a:r>
            <a:r>
              <a:rPr lang="en-US" altLang="zh-CN" sz="1200" dirty="0">
                <a:solidFill>
                  <a:srgbClr val="333333"/>
                </a:solidFill>
                <a:latin typeface="Helvetica Neue"/>
              </a:rPr>
              <a:t>string</a:t>
            </a:r>
            <a:r>
              <a:rPr lang="zh-CN" altLang="en-US" sz="1200" dirty="0">
                <a:solidFill>
                  <a:srgbClr val="333333"/>
                </a:solidFill>
                <a:latin typeface="Helvetica Neue"/>
              </a:rPr>
              <a:t>格式，效果同</a:t>
            </a:r>
            <a:r>
              <a:rPr lang="en-US" altLang="zh-CN" sz="1200" dirty="0" err="1">
                <a:solidFill>
                  <a:srgbClr val="333333"/>
                </a:solidFill>
                <a:latin typeface="Helvetica Neue"/>
              </a:rPr>
              <a:t>str</a:t>
            </a:r>
            <a:r>
              <a:rPr lang="en-US" altLang="zh-CN" sz="1200" dirty="0">
                <a:solidFill>
                  <a:srgbClr val="333333"/>
                </a:solidFill>
                <a:latin typeface="Helvetica Neue"/>
              </a:rPr>
              <a:t>()</a:t>
            </a:r>
          </a:p>
          <a:p>
            <a:r>
              <a:rPr lang="en-US" altLang="zh-CN" sz="1200" dirty="0">
                <a:solidFill>
                  <a:srgbClr val="333333"/>
                </a:solidFill>
                <a:latin typeface="Helvetica Neue"/>
              </a:rPr>
              <a:t># %d </a:t>
            </a:r>
            <a:r>
              <a:rPr lang="zh-CN" altLang="en-US" sz="1200" dirty="0">
                <a:solidFill>
                  <a:srgbClr val="333333"/>
                </a:solidFill>
                <a:latin typeface="Helvetica Neue"/>
              </a:rPr>
              <a:t>十进制整数</a:t>
            </a:r>
            <a:endParaRPr lang="zh-CN" altLang="en-US" sz="1200" dirty="0">
              <a:latin typeface="Times New Roman" panose="02020603050405020304" pitchFamily="18" charset="0"/>
            </a:endParaRPr>
          </a:p>
        </p:txBody>
      </p:sp>
    </p:spTree>
    <p:extLst>
      <p:ext uri="{BB962C8B-B14F-4D97-AF65-F5344CB8AC3E}">
        <p14:creationId xmlns:p14="http://schemas.microsoft.com/office/powerpoint/2010/main" val="61348811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6">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746">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746">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74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1746">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746">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746">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1746">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1746">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746">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1746">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1746">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1746">
                                            <p:txEl>
                                              <p:pRg st="12" end="1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746">
                                            <p:txEl>
                                              <p:pRg st="13" end="13"/>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1746">
                                            <p:txEl>
                                              <p:pRg st="14" end="14"/>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1746">
                                            <p:txEl>
                                              <p:pRg st="15" end="1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1746">
                                            <p:txEl>
                                              <p:pRg st="16" end="16"/>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1746">
                                            <p:txEl>
                                              <p:pRg st="17" end="17"/>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1746">
                                            <p:txEl>
                                              <p:pRg st="18" end="18"/>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1746">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12</a:t>
            </a:fld>
            <a:endParaRPr lang="zh-CN" altLang="en-US" dirty="0"/>
          </a:p>
        </p:txBody>
      </p:sp>
      <p:sp>
        <p:nvSpPr>
          <p:cNvPr id="5" name="内容占位符 2"/>
          <p:cNvSpPr>
            <a:spLocks noGrp="1"/>
          </p:cNvSpPr>
          <p:nvPr>
            <p:ph idx="1"/>
          </p:nvPr>
        </p:nvSpPr>
        <p:spPr>
          <a:xfrm>
            <a:off x="914400" y="1412776"/>
            <a:ext cx="8229600" cy="4678451"/>
          </a:xfrm>
        </p:spPr>
        <p:txBody>
          <a:bodyPr anchor="t"/>
          <a:lstStyle/>
          <a:p>
            <a:pPr marL="0" indent="0">
              <a:buSzPct val="70000"/>
              <a:buNone/>
            </a:pPr>
            <a:r>
              <a:rPr lang="zh-CN" altLang="en-US" sz="1200" dirty="0">
                <a:latin typeface="Consolas" panose="020B0609020204030204" charset="0"/>
              </a:rPr>
              <a:t>&gt;&gt;&gt; int('555') </a:t>
            </a:r>
          </a:p>
          <a:p>
            <a:pPr marL="0" indent="0">
              <a:buSzPct val="70000"/>
              <a:buNone/>
            </a:pPr>
            <a:r>
              <a:rPr lang="zh-CN" altLang="en-US" sz="1200" dirty="0">
                <a:solidFill>
                  <a:srgbClr val="0000FF"/>
                </a:solidFill>
                <a:latin typeface="Consolas" panose="020B0609020204030204" charset="0"/>
              </a:rPr>
              <a:t>555</a:t>
            </a:r>
          </a:p>
          <a:p>
            <a:pPr marL="0" indent="0">
              <a:buSzPct val="70000"/>
              <a:buNone/>
            </a:pPr>
            <a:r>
              <a:rPr lang="zh-CN" altLang="en-US" sz="1200" dirty="0">
                <a:latin typeface="Consolas" panose="020B0609020204030204" charset="0"/>
              </a:rPr>
              <a:t>&gt;&gt;&gt; '%s'%[1, 2, 3]        </a:t>
            </a:r>
            <a:r>
              <a:rPr lang="en-US" altLang="zh-CN" sz="1200" dirty="0">
                <a:latin typeface="Consolas" panose="020B0609020204030204" charset="0"/>
              </a:rPr>
              <a:t>#</a:t>
            </a:r>
            <a:r>
              <a:rPr lang="zh-CN" altLang="en-US" sz="1200" dirty="0">
                <a:latin typeface="Consolas" panose="020B0609020204030204" charset="0"/>
              </a:rPr>
              <a:t>直接把对象转换成字符串</a:t>
            </a:r>
          </a:p>
          <a:p>
            <a:pPr marL="0" indent="0">
              <a:buSzPct val="70000"/>
              <a:buNone/>
            </a:pPr>
            <a:r>
              <a:rPr lang="zh-CN" altLang="en-US" sz="1200" dirty="0">
                <a:solidFill>
                  <a:srgbClr val="0000FF"/>
                </a:solidFill>
                <a:latin typeface="Consolas" panose="020B0609020204030204" charset="0"/>
              </a:rPr>
              <a:t>'[1, 2, 3]'</a:t>
            </a:r>
          </a:p>
          <a:p>
            <a:pPr marL="0" indent="0">
              <a:buSzPct val="70000"/>
              <a:buNone/>
            </a:pPr>
            <a:r>
              <a:rPr lang="zh-CN" altLang="en-US" sz="1200" dirty="0">
                <a:latin typeface="Consolas" panose="020B0609020204030204" charset="0"/>
              </a:rPr>
              <a:t>&gt;&gt;&gt; str((1,2,3))          </a:t>
            </a:r>
            <a:r>
              <a:rPr lang="en-US" altLang="zh-CN" sz="1200" dirty="0">
                <a:latin typeface="Consolas" panose="020B0609020204030204" charset="0"/>
              </a:rPr>
              <a:t>#</a:t>
            </a:r>
            <a:r>
              <a:rPr lang="zh-CN" altLang="en-US" sz="1200" dirty="0">
                <a:latin typeface="Consolas" panose="020B0609020204030204" charset="0"/>
              </a:rPr>
              <a:t>直接把对象转换成字符串</a:t>
            </a:r>
          </a:p>
          <a:p>
            <a:pPr marL="0" indent="0">
              <a:buSzPct val="70000"/>
              <a:buNone/>
            </a:pPr>
            <a:r>
              <a:rPr lang="zh-CN" altLang="en-US" sz="1200" dirty="0">
                <a:solidFill>
                  <a:srgbClr val="0000FF"/>
                </a:solidFill>
                <a:latin typeface="Consolas" panose="020B0609020204030204" charset="0"/>
              </a:rPr>
              <a:t>'(1, 2, 3)'</a:t>
            </a:r>
          </a:p>
          <a:p>
            <a:pPr marL="0" indent="0">
              <a:buSzPct val="70000"/>
              <a:buNone/>
            </a:pPr>
            <a:r>
              <a:rPr lang="zh-CN" altLang="en-US" sz="1200" dirty="0">
                <a:latin typeface="Consolas" panose="020B0609020204030204" charset="0"/>
              </a:rPr>
              <a:t>&gt;&gt;&gt; str([1,2,3])</a:t>
            </a:r>
          </a:p>
          <a:p>
            <a:pPr marL="0" indent="0">
              <a:buSzPct val="70000"/>
              <a:buNone/>
            </a:pPr>
            <a:r>
              <a:rPr lang="zh-CN" altLang="en-US" sz="1200" dirty="0">
                <a:solidFill>
                  <a:srgbClr val="0000FF"/>
                </a:solidFill>
                <a:latin typeface="Consolas" panose="020B0609020204030204" charset="0"/>
              </a:rPr>
              <a:t>'[1, 2, 3]'</a:t>
            </a:r>
          </a:p>
          <a:p>
            <a:pPr marL="0" indent="0">
              <a:buSzPct val="70000"/>
              <a:buNone/>
            </a:pPr>
            <a:r>
              <a:rPr lang="zh-CN" altLang="en-US" sz="1200" dirty="0">
                <a:latin typeface="Consolas" panose="020B0609020204030204" charset="0"/>
              </a:rPr>
              <a:t>&gt;&gt;&gt; </a:t>
            </a:r>
            <a:r>
              <a:rPr lang="zh-CN" altLang="en-US" sz="1200" dirty="0">
                <a:solidFill>
                  <a:srgbClr val="FF0000"/>
                </a:solidFill>
                <a:latin typeface="Consolas" panose="020B0609020204030204" charset="0"/>
              </a:rPr>
              <a:t>list(str([1, 2, 3]))  </a:t>
            </a:r>
            <a:r>
              <a:rPr lang="en-US" altLang="zh-CN" sz="1200" dirty="0">
                <a:latin typeface="Consolas" panose="020B0609020204030204" charset="0"/>
              </a:rPr>
              <a:t>#</a:t>
            </a:r>
            <a:r>
              <a:rPr lang="zh-CN" altLang="en-US" sz="1200" dirty="0">
                <a:latin typeface="Consolas" panose="020B0609020204030204" charset="0"/>
              </a:rPr>
              <a:t>字符串中的每个字符都成为列表的元素</a:t>
            </a:r>
            <a:r>
              <a:rPr lang="zh-CN" altLang="en-US" sz="1200" dirty="0">
                <a:solidFill>
                  <a:srgbClr val="FF0000"/>
                </a:solidFill>
                <a:latin typeface="Consolas" panose="020B0609020204030204" charset="0"/>
              </a:rPr>
              <a:t>（特别注意相关符号以及空格）</a:t>
            </a:r>
          </a:p>
          <a:p>
            <a:pPr marL="0" indent="0">
              <a:buSzPct val="70000"/>
              <a:buNone/>
            </a:pPr>
            <a:r>
              <a:rPr lang="zh-CN" altLang="en-US" sz="1200" dirty="0">
                <a:solidFill>
                  <a:srgbClr val="0000FF"/>
                </a:solidFill>
                <a:latin typeface="Consolas" panose="020B0609020204030204" charset="0"/>
              </a:rPr>
              <a:t>['[', '1', ',', ' ', '2', ',', ' ', '3', ']']</a:t>
            </a:r>
          </a:p>
          <a:p>
            <a:pPr marL="0" indent="0">
              <a:buSzPct val="70000"/>
              <a:buNone/>
            </a:pPr>
            <a:r>
              <a:rPr lang="zh-CN" altLang="en-US" sz="1200" dirty="0">
                <a:latin typeface="Consolas" panose="020B0609020204030204" charset="0"/>
              </a:rPr>
              <a:t>&gt;&gt;&gt; eval(str([1, 2, 3]))  </a:t>
            </a:r>
            <a:r>
              <a:rPr lang="en-US" altLang="zh-CN" sz="1200" dirty="0">
                <a:latin typeface="Consolas" panose="020B0609020204030204" charset="0"/>
              </a:rPr>
              <a:t>#eval() </a:t>
            </a:r>
            <a:r>
              <a:rPr lang="zh-CN" altLang="en-US" sz="1200" dirty="0">
                <a:latin typeface="Consolas" panose="020B0609020204030204" charset="0"/>
              </a:rPr>
              <a:t>函数用来执行一个字符串表达式，并返回表达式的值。</a:t>
            </a:r>
          </a:p>
          <a:p>
            <a:pPr marL="0" indent="0">
              <a:buSzPct val="70000"/>
              <a:buNone/>
            </a:pPr>
            <a:r>
              <a:rPr lang="zh-CN" altLang="en-US" sz="1200" dirty="0">
                <a:solidFill>
                  <a:srgbClr val="0000FF"/>
                </a:solidFill>
                <a:latin typeface="Consolas" panose="020B0609020204030204" charset="0"/>
              </a:rPr>
              <a:t>[1, 2, 3]</a:t>
            </a:r>
            <a:endParaRPr lang="en-US" altLang="zh-CN" sz="1200" dirty="0">
              <a:solidFill>
                <a:srgbClr val="0000FF"/>
              </a:solidFill>
              <a:latin typeface="Consolas" panose="020B0609020204030204" charset="0"/>
            </a:endParaRPr>
          </a:p>
          <a:p>
            <a:pPr marL="0" indent="0">
              <a:buSzPct val="70000"/>
              <a:buNone/>
            </a:pPr>
            <a:r>
              <a:rPr lang="pt-BR" altLang="zh-CN" sz="1200" dirty="0">
                <a:latin typeface="Consolas" panose="020B0609020204030204" charset="0"/>
              </a:rPr>
              <a:t>&gt;&gt;&gt;x = 7 </a:t>
            </a:r>
          </a:p>
          <a:p>
            <a:pPr marL="0" indent="0">
              <a:buSzPct val="70000"/>
              <a:buNone/>
            </a:pPr>
            <a:r>
              <a:rPr lang="pt-BR" altLang="zh-CN" sz="1200" dirty="0">
                <a:latin typeface="Consolas" panose="020B0609020204030204" charset="0"/>
              </a:rPr>
              <a:t>&gt;&gt;&gt; eval('3 * x') </a:t>
            </a:r>
          </a:p>
          <a:p>
            <a:pPr marL="0" indent="0">
              <a:buSzPct val="70000"/>
              <a:buNone/>
            </a:pPr>
            <a:r>
              <a:rPr lang="pt-BR" altLang="zh-CN" sz="1200" dirty="0">
                <a:solidFill>
                  <a:srgbClr val="0000FF"/>
                </a:solidFill>
                <a:latin typeface="Consolas" panose="020B0609020204030204" charset="0"/>
              </a:rPr>
              <a:t>21 </a:t>
            </a:r>
          </a:p>
          <a:p>
            <a:pPr marL="0" indent="0">
              <a:buSzPct val="70000"/>
              <a:buNone/>
            </a:pPr>
            <a:r>
              <a:rPr lang="pt-BR" altLang="zh-CN" sz="1200" dirty="0">
                <a:latin typeface="Consolas" panose="020B0609020204030204" charset="0"/>
              </a:rPr>
              <a:t>&gt;&gt;&gt; eval('pow(2,2)') </a:t>
            </a:r>
          </a:p>
          <a:p>
            <a:pPr marL="0" indent="0">
              <a:buSzPct val="70000"/>
              <a:buNone/>
            </a:pPr>
            <a:r>
              <a:rPr lang="pt-BR" altLang="zh-CN" sz="1200" dirty="0">
                <a:solidFill>
                  <a:srgbClr val="0000FF"/>
                </a:solidFill>
                <a:latin typeface="Consolas" panose="020B0609020204030204" charset="0"/>
              </a:rPr>
              <a:t>4 </a:t>
            </a:r>
          </a:p>
          <a:p>
            <a:pPr marL="0" indent="0">
              <a:buSzPct val="70000"/>
              <a:buNone/>
            </a:pPr>
            <a:r>
              <a:rPr lang="pt-BR" altLang="zh-CN" sz="1200" dirty="0">
                <a:latin typeface="Consolas" panose="020B0609020204030204" charset="0"/>
              </a:rPr>
              <a:t>&gt;&gt;&gt; eval('2 + 2’)</a:t>
            </a:r>
          </a:p>
          <a:p>
            <a:pPr marL="0" indent="0">
              <a:buSzPct val="70000"/>
              <a:buNone/>
            </a:pPr>
            <a:r>
              <a:rPr lang="pt-BR" altLang="zh-CN" sz="1200" dirty="0">
                <a:latin typeface="Consolas" panose="020B0609020204030204" charset="0"/>
              </a:rPr>
              <a:t>&gt;&gt;&gt; 4 </a:t>
            </a:r>
          </a:p>
          <a:p>
            <a:pPr marL="0" indent="0">
              <a:buSzPct val="70000"/>
              <a:buNone/>
            </a:pPr>
            <a:r>
              <a:rPr lang="pt-BR" altLang="zh-CN" sz="1200" dirty="0">
                <a:latin typeface="Consolas" panose="020B0609020204030204" charset="0"/>
              </a:rPr>
              <a:t>&gt;&gt;&gt; n=81 </a:t>
            </a:r>
          </a:p>
          <a:p>
            <a:pPr marL="0" indent="0">
              <a:buSzPct val="70000"/>
              <a:buNone/>
            </a:pPr>
            <a:r>
              <a:rPr lang="pt-BR" altLang="zh-CN" sz="1200" dirty="0">
                <a:latin typeface="Consolas" panose="020B0609020204030204" charset="0"/>
              </a:rPr>
              <a:t>&gt;&gt;&gt; eval("n + 4") </a:t>
            </a:r>
          </a:p>
          <a:p>
            <a:pPr marL="0" indent="0">
              <a:buSzPct val="70000"/>
              <a:buNone/>
            </a:pPr>
            <a:r>
              <a:rPr lang="pt-BR" altLang="zh-CN" sz="1200" dirty="0">
                <a:solidFill>
                  <a:srgbClr val="0000FF"/>
                </a:solidFill>
                <a:latin typeface="Consolas" panose="020B0609020204030204" charset="0"/>
              </a:rPr>
              <a:t>85</a:t>
            </a:r>
            <a:endParaRPr lang="zh-CN" altLang="en-US" sz="1200" dirty="0">
              <a:solidFill>
                <a:srgbClr val="0000FF"/>
              </a:solidFill>
              <a:latin typeface="Consolas" panose="020B0609020204030204" charset="0"/>
            </a:endParaRPr>
          </a:p>
        </p:txBody>
      </p:sp>
      <p:sp>
        <p:nvSpPr>
          <p:cNvPr id="6" name="文本框 5"/>
          <p:cNvSpPr txBox="1"/>
          <p:nvPr/>
        </p:nvSpPr>
        <p:spPr>
          <a:xfrm>
            <a:off x="12075" y="925990"/>
            <a:ext cx="5652628" cy="523220"/>
          </a:xfrm>
          <a:prstGeom prst="rect">
            <a:avLst/>
          </a:prstGeom>
          <a:noFill/>
        </p:spPr>
        <p:txBody>
          <a:bodyPr wrap="square" rtlCol="0">
            <a:spAutoFit/>
          </a:bodyPr>
          <a:lstStyle/>
          <a:p>
            <a:pPr marL="914400" lvl="1" indent="-45720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4.1.2 </a:t>
            </a:r>
            <a:r>
              <a:rPr lang="zh-CN" altLang="en-US" sz="2800" b="1" dirty="0">
                <a:latin typeface="Times New Roman" panose="02020603050405020304" pitchFamily="18" charset="0"/>
                <a:ea typeface="仿宋" panose="02010609060101010101" pitchFamily="49" charset="-122"/>
              </a:rPr>
              <a:t>字符</a:t>
            </a:r>
            <a:r>
              <a:rPr lang="zh-CN" altLang="en-US" sz="2800" b="1" dirty="0">
                <a:ea typeface="仿宋" panose="02010609060101010101" pitchFamily="49" charset="-122"/>
              </a:rPr>
              <a:t>串格式化</a:t>
            </a:r>
            <a:r>
              <a:rPr lang="en-US" altLang="zh-CN" sz="2800" b="1" dirty="0">
                <a:ea typeface="仿宋" panose="02010609060101010101" pitchFamily="49" charset="-122"/>
              </a:rPr>
              <a:t>-</a:t>
            </a:r>
            <a:r>
              <a:rPr lang="en-US" altLang="zh-CN" sz="2800" b="1" dirty="0">
                <a:solidFill>
                  <a:srgbClr val="FF0000"/>
                </a:solidFill>
                <a:ea typeface="仿宋" panose="02010609060101010101" pitchFamily="49" charset="-122"/>
              </a:rPr>
              <a:t>%</a:t>
            </a:r>
            <a:r>
              <a:rPr lang="zh-CN" altLang="en-US" sz="2800" b="1" dirty="0">
                <a:solidFill>
                  <a:srgbClr val="FF0000"/>
                </a:solidFill>
                <a:ea typeface="仿宋" panose="02010609060101010101" pitchFamily="49" charset="-122"/>
              </a:rPr>
              <a:t>格式</a:t>
            </a:r>
            <a:endParaRPr lang="en-US" altLang="zh-CN" sz="2800" b="1" dirty="0">
              <a:solidFill>
                <a:srgbClr val="FF0000"/>
              </a:solidFill>
              <a:ea typeface="仿宋" panose="02010609060101010101" pitchFamily="49" charset="-122"/>
            </a:endParaRPr>
          </a:p>
        </p:txBody>
      </p:sp>
      <p:grpSp>
        <p:nvGrpSpPr>
          <p:cNvPr id="7" name="组合 114"/>
          <p:cNvGrpSpPr/>
          <p:nvPr/>
        </p:nvGrpSpPr>
        <p:grpSpPr>
          <a:xfrm>
            <a:off x="-540568" y="116632"/>
            <a:ext cx="6225040" cy="662730"/>
            <a:chOff x="-198275" y="3380765"/>
            <a:chExt cx="6225040" cy="662730"/>
          </a:xfrm>
        </p:grpSpPr>
        <p:grpSp>
          <p:nvGrpSpPr>
            <p:cNvPr id="8" name="组合 105"/>
            <p:cNvGrpSpPr/>
            <p:nvPr/>
          </p:nvGrpSpPr>
          <p:grpSpPr>
            <a:xfrm>
              <a:off x="-198275" y="3380765"/>
              <a:ext cx="6225040" cy="662730"/>
              <a:chOff x="-198275" y="3380765"/>
              <a:chExt cx="6225040" cy="662730"/>
            </a:xfrm>
          </p:grpSpPr>
          <p:sp>
            <p:nvSpPr>
              <p:cNvPr id="1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9" name="图片 8"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3" name="文本框 2"/>
          <p:cNvSpPr txBox="1"/>
          <p:nvPr/>
        </p:nvSpPr>
        <p:spPr>
          <a:xfrm>
            <a:off x="4427984" y="1449210"/>
            <a:ext cx="4842024" cy="523220"/>
          </a:xfrm>
          <a:prstGeom prst="rect">
            <a:avLst/>
          </a:prstGeom>
          <a:noFill/>
        </p:spPr>
        <p:txBody>
          <a:bodyPr wrap="square">
            <a:spAutoFit/>
          </a:bodyPr>
          <a:lstStyle/>
          <a:p>
            <a:r>
              <a:rPr lang="en-US" altLang="zh-CN" sz="1400" b="0" i="0" dirty="0">
                <a:solidFill>
                  <a:srgbClr val="333333"/>
                </a:solidFill>
                <a:effectLst/>
                <a:latin typeface="Helvetica Neue"/>
              </a:rPr>
              <a:t>int() </a:t>
            </a:r>
            <a:r>
              <a:rPr lang="zh-CN" altLang="en-US" sz="1400" b="0" i="0" dirty="0">
                <a:solidFill>
                  <a:srgbClr val="333333"/>
                </a:solidFill>
                <a:effectLst/>
                <a:latin typeface="Helvetica Neue"/>
              </a:rPr>
              <a:t>函数用于将一个字符串或数字转换为整型。</a:t>
            </a:r>
            <a:endParaRPr lang="en-US" altLang="zh-CN" sz="1400" b="0" i="0" dirty="0">
              <a:solidFill>
                <a:srgbClr val="333333"/>
              </a:solidFill>
              <a:effectLst/>
              <a:latin typeface="Helvetica Neue"/>
            </a:endParaRPr>
          </a:p>
          <a:p>
            <a:endParaRPr lang="zh-CN" altLang="en-US" sz="1400" dirty="0"/>
          </a:p>
        </p:txBody>
      </p:sp>
      <p:sp>
        <p:nvSpPr>
          <p:cNvPr id="14" name="Rectangle 4"/>
          <p:cNvSpPr>
            <a:spLocks noChangeArrowheads="1"/>
          </p:cNvSpPr>
          <p:nvPr/>
        </p:nvSpPr>
        <p:spPr bwMode="auto">
          <a:xfrm>
            <a:off x="6553200" y="1647263"/>
            <a:ext cx="2160240" cy="361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57132" rIns="91440" bIns="57132"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rgbClr val="000088"/>
                </a:solidFill>
                <a:effectLst/>
                <a:latin typeface="Arial Unicode MS" panose="020B0604020202020204" pitchFamily="34" charset="-122"/>
                <a:ea typeface="Menlo"/>
              </a:rPr>
              <a:t>class</a:t>
            </a:r>
            <a:r>
              <a:rPr kumimoji="0" lang="zh-CN" altLang="zh-CN" sz="1600" b="0" i="0" u="none" strike="noStrike" cap="none" normalizeH="0" baseline="0" dirty="0">
                <a:ln>
                  <a:noFill/>
                </a:ln>
                <a:solidFill>
                  <a:srgbClr val="000000"/>
                </a:solidFill>
                <a:effectLst/>
                <a:latin typeface="Arial Unicode MS" panose="020B0604020202020204" pitchFamily="34" charset="-122"/>
                <a:ea typeface="Menlo"/>
              </a:rPr>
              <a:t> </a:t>
            </a:r>
            <a:r>
              <a:rPr kumimoji="0" lang="zh-CN" altLang="zh-CN" sz="1600" b="0" i="0" u="none" strike="noStrike" cap="none" normalizeH="0" baseline="0" dirty="0">
                <a:ln>
                  <a:noFill/>
                </a:ln>
                <a:solidFill>
                  <a:srgbClr val="000088"/>
                </a:solidFill>
                <a:effectLst/>
                <a:latin typeface="Arial Unicode MS" panose="020B0604020202020204" pitchFamily="34" charset="-122"/>
                <a:ea typeface="Menlo"/>
              </a:rPr>
              <a:t>int</a:t>
            </a:r>
            <a:r>
              <a:rPr kumimoji="0" lang="zh-CN" altLang="zh-CN" sz="1600" b="0" i="0" u="none" strike="noStrike" cap="none" normalizeH="0" baseline="0" dirty="0">
                <a:ln>
                  <a:noFill/>
                </a:ln>
                <a:solidFill>
                  <a:srgbClr val="666600"/>
                </a:solidFill>
                <a:effectLst/>
                <a:latin typeface="Arial Unicode MS" panose="020B0604020202020204" pitchFamily="34" charset="-122"/>
                <a:ea typeface="Menlo"/>
              </a:rPr>
              <a:t>(</a:t>
            </a:r>
            <a:r>
              <a:rPr kumimoji="0" lang="zh-CN" altLang="zh-CN" sz="1600" b="0" i="0" u="none" strike="noStrike" cap="none" normalizeH="0" baseline="0" dirty="0">
                <a:ln>
                  <a:noFill/>
                </a:ln>
                <a:solidFill>
                  <a:srgbClr val="000000"/>
                </a:solidFill>
                <a:effectLst/>
                <a:latin typeface="Arial Unicode MS" panose="020B0604020202020204" pitchFamily="34" charset="-122"/>
                <a:ea typeface="Menlo"/>
              </a:rPr>
              <a:t>x</a:t>
            </a:r>
            <a:r>
              <a:rPr kumimoji="0" lang="zh-CN" altLang="zh-CN" sz="1600" b="0" i="0" u="none" strike="noStrike" cap="none" normalizeH="0" baseline="0" dirty="0">
                <a:ln>
                  <a:noFill/>
                </a:ln>
                <a:solidFill>
                  <a:srgbClr val="666600"/>
                </a:solidFill>
                <a:effectLst/>
                <a:latin typeface="Arial Unicode MS" panose="020B0604020202020204" pitchFamily="34" charset="-122"/>
                <a:ea typeface="Menlo"/>
              </a:rPr>
              <a:t>,</a:t>
            </a:r>
            <a:r>
              <a:rPr kumimoji="0" lang="zh-CN" altLang="zh-CN" sz="1600" b="0" i="0" u="none" strike="noStrike" cap="none" normalizeH="0" baseline="0" dirty="0">
                <a:ln>
                  <a:noFill/>
                </a:ln>
                <a:solidFill>
                  <a:srgbClr val="000000"/>
                </a:solidFill>
                <a:effectLst/>
                <a:latin typeface="Arial Unicode MS" panose="020B0604020202020204" pitchFamily="34" charset="-122"/>
                <a:ea typeface="Menlo"/>
              </a:rPr>
              <a:t> </a:t>
            </a:r>
            <a:r>
              <a:rPr kumimoji="0" lang="zh-CN" altLang="zh-CN" sz="1600" b="0" i="0" u="none" strike="noStrike" cap="none" normalizeH="0" baseline="0" dirty="0">
                <a:ln>
                  <a:noFill/>
                </a:ln>
                <a:solidFill>
                  <a:srgbClr val="000088"/>
                </a:solidFill>
                <a:effectLst/>
                <a:latin typeface="Arial Unicode MS" panose="020B0604020202020204" pitchFamily="34" charset="-122"/>
                <a:ea typeface="Menlo"/>
              </a:rPr>
              <a:t>base</a:t>
            </a:r>
            <a:r>
              <a:rPr kumimoji="0" lang="zh-CN" altLang="zh-CN" sz="1600" b="0" i="0" u="none" strike="noStrike" cap="none" normalizeH="0" baseline="0" dirty="0">
                <a:ln>
                  <a:noFill/>
                </a:ln>
                <a:solidFill>
                  <a:srgbClr val="666600"/>
                </a:solidFill>
                <a:effectLst/>
                <a:latin typeface="Arial Unicode MS" panose="020B0604020202020204" pitchFamily="34" charset="-122"/>
                <a:ea typeface="Menlo"/>
              </a:rPr>
              <a:t>=</a:t>
            </a:r>
            <a:r>
              <a:rPr kumimoji="0" lang="zh-CN" altLang="zh-CN" sz="1600" b="0" i="0" u="none" strike="noStrike" cap="none" normalizeH="0" baseline="0" dirty="0">
                <a:ln>
                  <a:noFill/>
                </a:ln>
                <a:solidFill>
                  <a:srgbClr val="006666"/>
                </a:solidFill>
                <a:effectLst/>
                <a:latin typeface="Arial Unicode MS" panose="020B0604020202020204" pitchFamily="34" charset="-122"/>
                <a:ea typeface="Menlo"/>
              </a:rPr>
              <a:t>10</a:t>
            </a:r>
            <a:r>
              <a:rPr kumimoji="0" lang="zh-CN" altLang="zh-CN" sz="1600" b="0" i="0" u="none" strike="noStrike" cap="none" normalizeH="0" baseline="0" dirty="0">
                <a:ln>
                  <a:noFill/>
                </a:ln>
                <a:solidFill>
                  <a:srgbClr val="666600"/>
                </a:solidFill>
                <a:effectLst/>
                <a:latin typeface="Arial Unicode MS" panose="020B0604020202020204" pitchFamily="34" charset="-122"/>
                <a:ea typeface="Menlo"/>
              </a:rPr>
              <a:t>)</a:t>
            </a:r>
            <a:r>
              <a:rPr kumimoji="0" lang="zh-CN" altLang="zh-CN" sz="1600" b="0" i="0" u="none" strike="noStrike" cap="none" normalizeH="0" baseline="0" dirty="0">
                <a:ln>
                  <a:noFill/>
                </a:ln>
                <a:solidFill>
                  <a:schemeClr val="tx1"/>
                </a:solidFill>
                <a:effectLst/>
              </a:rPr>
              <a:t> </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9157983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
                                            <p:txEl>
                                              <p:pRg st="11" end="11"/>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
                                            <p:txEl>
                                              <p:pRg st="12" end="12"/>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
                                            <p:txEl>
                                              <p:pRg st="13" end="13"/>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
                                            <p:txEl>
                                              <p:pRg st="14" end="14"/>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
                                            <p:txEl>
                                              <p:pRg st="15" end="15"/>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
                                            <p:txEl>
                                              <p:pRg st="16" end="16"/>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
                                            <p:txEl>
                                              <p:pRg st="17" end="17"/>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
                                            <p:txEl>
                                              <p:pRg st="18" end="18"/>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
                                            <p:txEl>
                                              <p:pRg st="19" end="19"/>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
                                            <p:txEl>
                                              <p:pRg st="20" end="20"/>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
                                            <p:txEl>
                                              <p:pRg st="21" end="2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13</a:t>
            </a:fld>
            <a:endParaRPr lang="zh-CN" altLang="en-US" dirty="0"/>
          </a:p>
        </p:txBody>
      </p:sp>
      <p:sp>
        <p:nvSpPr>
          <p:cNvPr id="5" name="TextBox 2"/>
          <p:cNvSpPr txBox="1">
            <a:spLocks noChangeArrowheads="1"/>
          </p:cNvSpPr>
          <p:nvPr/>
        </p:nvSpPr>
        <p:spPr bwMode="auto">
          <a:xfrm>
            <a:off x="756731" y="1373759"/>
            <a:ext cx="6114944" cy="46166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rgbClr val="FF0000"/>
              </a:buClr>
              <a:buFont typeface="Wingdings" panose="05000000000000000000" pitchFamily="2" charset="2"/>
              <a:buChar char="n"/>
              <a:defRPr/>
            </a:pPr>
            <a:r>
              <a:rPr lang="en-US" altLang="zh-CN" sz="2400" dirty="0"/>
              <a:t> </a:t>
            </a:r>
            <a:r>
              <a:rPr lang="zh-CN" altLang="en-US" sz="2400" b="1" dirty="0">
                <a:latin typeface="Times New Roman" panose="02020603050405020304" pitchFamily="18" charset="0"/>
                <a:ea typeface="仿宋" panose="02010609060101010101" pitchFamily="49" charset="-122"/>
              </a:rPr>
              <a:t>新格式化方法</a:t>
            </a:r>
            <a:r>
              <a:rPr lang="en-US" altLang="zh-CN" sz="2400" b="1" dirty="0">
                <a:latin typeface="Times New Roman" panose="02020603050405020304" pitchFamily="18" charset="0"/>
                <a:ea typeface="仿宋" panose="02010609060101010101" pitchFamily="49" charset="-122"/>
              </a:rPr>
              <a:t>---</a:t>
            </a:r>
            <a:r>
              <a:rPr lang="en-US" altLang="zh-CN" sz="2400" b="1" dirty="0">
                <a:solidFill>
                  <a:srgbClr val="FF0000"/>
                </a:solidFill>
                <a:latin typeface="Times New Roman" panose="02020603050405020304" pitchFamily="18" charset="0"/>
                <a:ea typeface="仿宋" panose="02010609060101010101" pitchFamily="49" charset="-122"/>
              </a:rPr>
              <a:t>format()</a:t>
            </a:r>
            <a:r>
              <a:rPr lang="zh-CN" altLang="zh-CN" sz="2400" b="1" dirty="0">
                <a:solidFill>
                  <a:srgbClr val="FF0000"/>
                </a:solidFill>
                <a:latin typeface="Times New Roman" panose="02020603050405020304" pitchFamily="18" charset="0"/>
                <a:ea typeface="仿宋" panose="02010609060101010101" pitchFamily="49" charset="-122"/>
              </a:rPr>
              <a:t>方法</a:t>
            </a:r>
            <a:r>
              <a:rPr lang="zh-CN" altLang="zh-CN" sz="2400" b="1" dirty="0">
                <a:solidFill>
                  <a:srgbClr val="262626"/>
                </a:solidFill>
                <a:latin typeface="Times New Roman" panose="02020603050405020304" pitchFamily="18" charset="0"/>
                <a:ea typeface="仿宋" panose="02010609060101010101" pitchFamily="49" charset="-122"/>
              </a:rPr>
              <a:t>的基本使用</a:t>
            </a:r>
            <a:endParaRPr lang="zh-CN" altLang="en-US" sz="2400" b="1" dirty="0">
              <a:solidFill>
                <a:srgbClr val="262626"/>
              </a:solidFill>
              <a:latin typeface="Times New Roman" panose="02020603050405020304" pitchFamily="18" charset="0"/>
              <a:ea typeface="仿宋" panose="02010609060101010101" pitchFamily="49" charset="-122"/>
            </a:endParaRPr>
          </a:p>
        </p:txBody>
      </p:sp>
      <p:sp>
        <p:nvSpPr>
          <p:cNvPr id="6" name="矩形 1"/>
          <p:cNvSpPr>
            <a:spLocks noChangeArrowheads="1"/>
          </p:cNvSpPr>
          <p:nvPr/>
        </p:nvSpPr>
        <p:spPr bwMode="auto">
          <a:xfrm>
            <a:off x="1043608" y="1896979"/>
            <a:ext cx="7488238" cy="784830"/>
          </a:xfrm>
          <a:prstGeom prst="rect">
            <a:avLst/>
          </a:prstGeom>
          <a:noFill/>
          <a:ln w="9525">
            <a:noFill/>
            <a:miter lim="800000"/>
          </a:ln>
        </p:spPr>
        <p:txBody>
          <a:bodyPr>
            <a:spAutoFit/>
          </a:bodyPr>
          <a:lstStyle/>
          <a:p>
            <a:pPr>
              <a:spcBef>
                <a:spcPts val="600"/>
              </a:spcBef>
            </a:pPr>
            <a:r>
              <a:rPr lang="zh-CN" altLang="zh-CN" sz="2000" dirty="0"/>
              <a:t>字符串</a:t>
            </a:r>
            <a:r>
              <a:rPr lang="en-US" altLang="zh-CN" sz="2000" dirty="0"/>
              <a:t>format()</a:t>
            </a:r>
            <a:r>
              <a:rPr lang="zh-CN" altLang="zh-CN" sz="2000" dirty="0"/>
              <a:t>方法的基本使用格式是：</a:t>
            </a:r>
            <a:endParaRPr lang="zh-CN" altLang="en-US" sz="2000" dirty="0"/>
          </a:p>
          <a:p>
            <a:pPr>
              <a:spcBef>
                <a:spcPts val="600"/>
              </a:spcBef>
            </a:pPr>
            <a:r>
              <a:rPr lang="en-US" altLang="zh-CN" sz="2000" dirty="0"/>
              <a:t>          </a:t>
            </a:r>
            <a:r>
              <a:rPr lang="en-US" altLang="zh-CN" sz="2000" b="1" dirty="0"/>
              <a:t>&lt;</a:t>
            </a:r>
            <a:r>
              <a:rPr lang="zh-CN" altLang="zh-CN" sz="2000" b="1" dirty="0"/>
              <a:t>模板字符串</a:t>
            </a:r>
            <a:r>
              <a:rPr lang="en-US" altLang="zh-CN" sz="2000" b="1" dirty="0"/>
              <a:t>&gt;.format(&lt;</a:t>
            </a:r>
            <a:r>
              <a:rPr lang="zh-CN" altLang="zh-CN" sz="2000" b="1" dirty="0"/>
              <a:t>逗号分隔的参数</a:t>
            </a:r>
            <a:r>
              <a:rPr lang="en-US" altLang="zh-CN" sz="2000" b="1" dirty="0"/>
              <a:t>&gt;)</a:t>
            </a:r>
            <a:endParaRPr lang="zh-CN" altLang="zh-CN" sz="2000" b="1" dirty="0"/>
          </a:p>
        </p:txBody>
      </p:sp>
      <p:pic>
        <p:nvPicPr>
          <p:cNvPr id="7" name="图片 5"/>
          <p:cNvPicPr>
            <a:picLocks noChangeAspect="1" noChangeArrowheads="1"/>
          </p:cNvPicPr>
          <p:nvPr/>
        </p:nvPicPr>
        <p:blipFill>
          <a:blip r:embed="rId2" cstate="print"/>
          <a:srcRect/>
          <a:stretch>
            <a:fillRect/>
          </a:stretch>
        </p:blipFill>
        <p:spPr bwMode="auto">
          <a:xfrm>
            <a:off x="678156" y="2913201"/>
            <a:ext cx="7364412" cy="1822450"/>
          </a:xfrm>
          <a:prstGeom prst="rect">
            <a:avLst/>
          </a:prstGeom>
          <a:noFill/>
          <a:ln w="9525">
            <a:noFill/>
            <a:miter lim="800000"/>
            <a:headEnd/>
            <a:tailEnd/>
          </a:ln>
        </p:spPr>
      </p:pic>
      <p:pic>
        <p:nvPicPr>
          <p:cNvPr id="8" name="图片 6"/>
          <p:cNvPicPr>
            <a:picLocks noChangeAspect="1" noChangeArrowheads="1"/>
          </p:cNvPicPr>
          <p:nvPr/>
        </p:nvPicPr>
        <p:blipFill>
          <a:blip r:embed="rId3" cstate="print"/>
          <a:srcRect/>
          <a:stretch>
            <a:fillRect/>
          </a:stretch>
        </p:blipFill>
        <p:spPr bwMode="auto">
          <a:xfrm>
            <a:off x="555407" y="4809575"/>
            <a:ext cx="7343775" cy="1625600"/>
          </a:xfrm>
          <a:prstGeom prst="rect">
            <a:avLst/>
          </a:prstGeom>
          <a:noFill/>
          <a:ln w="9525">
            <a:noFill/>
            <a:miter lim="800000"/>
            <a:headEnd/>
            <a:tailEnd/>
          </a:ln>
        </p:spPr>
      </p:pic>
      <p:sp>
        <p:nvSpPr>
          <p:cNvPr id="15" name="文本框 14"/>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4.1.2 </a:t>
            </a:r>
            <a:r>
              <a:rPr lang="zh-CN" altLang="en-US" sz="2800" b="1" dirty="0">
                <a:latin typeface="Times New Roman" panose="02020603050405020304" pitchFamily="18" charset="0"/>
                <a:ea typeface="仿宋" panose="02010609060101010101" pitchFamily="49" charset="-122"/>
              </a:rPr>
              <a:t>字符</a:t>
            </a:r>
            <a:r>
              <a:rPr lang="zh-CN" altLang="en-US" sz="2800" b="1" dirty="0">
                <a:ea typeface="仿宋" panose="02010609060101010101" pitchFamily="49" charset="-122"/>
              </a:rPr>
              <a:t>串格式化</a:t>
            </a:r>
            <a:endParaRPr lang="en-US" altLang="zh-CN" sz="2800" b="1" dirty="0">
              <a:ea typeface="仿宋" panose="02010609060101010101" pitchFamily="49" charset="-122"/>
            </a:endParaRPr>
          </a:p>
        </p:txBody>
      </p:sp>
      <p:grpSp>
        <p:nvGrpSpPr>
          <p:cNvPr id="16" name="组合 114"/>
          <p:cNvGrpSpPr/>
          <p:nvPr/>
        </p:nvGrpSpPr>
        <p:grpSpPr>
          <a:xfrm>
            <a:off x="-540568" y="116632"/>
            <a:ext cx="6225040" cy="662730"/>
            <a:chOff x="-198275" y="3380765"/>
            <a:chExt cx="6225040" cy="662730"/>
          </a:xfrm>
        </p:grpSpPr>
        <p:grpSp>
          <p:nvGrpSpPr>
            <p:cNvPr id="17" name="组合 105"/>
            <p:cNvGrpSpPr/>
            <p:nvPr/>
          </p:nvGrpSpPr>
          <p:grpSpPr>
            <a:xfrm>
              <a:off x="-198275" y="3380765"/>
              <a:ext cx="6225040" cy="662730"/>
              <a:chOff x="-198275" y="3380765"/>
              <a:chExt cx="6225040" cy="662730"/>
            </a:xfrm>
          </p:grpSpPr>
          <p:sp>
            <p:nvSpPr>
              <p:cNvPr id="1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0"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18" name="图片 17" descr="12.jpg"/>
            <p:cNvPicPr>
              <a:picLocks noChangeAspect="1"/>
            </p:cNvPicPr>
            <p:nvPr/>
          </p:nvPicPr>
          <p:blipFill>
            <a:blip r:embed="rId4" cstate="print"/>
            <a:stretch>
              <a:fillRect/>
            </a:stretch>
          </p:blipFill>
          <p:spPr>
            <a:xfrm>
              <a:off x="1115929" y="3530600"/>
              <a:ext cx="446172" cy="431048"/>
            </a:xfrm>
            <a:prstGeom prst="rect">
              <a:avLst/>
            </a:prstGeom>
          </p:spPr>
        </p:pic>
      </p:grpSp>
    </p:spTree>
    <p:extLst>
      <p:ext uri="{BB962C8B-B14F-4D97-AF65-F5344CB8AC3E}">
        <p14:creationId xmlns:p14="http://schemas.microsoft.com/office/powerpoint/2010/main" val="329093409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7"/>
          <p:cNvPicPr>
            <a:picLocks noChangeAspect="1" noChangeArrowheads="1"/>
          </p:cNvPicPr>
          <p:nvPr/>
        </p:nvPicPr>
        <p:blipFill>
          <a:blip r:embed="rId3" cstate="print"/>
          <a:srcRect/>
          <a:stretch>
            <a:fillRect/>
          </a:stretch>
        </p:blipFill>
        <p:spPr bwMode="auto">
          <a:xfrm>
            <a:off x="545138" y="3250915"/>
            <a:ext cx="8213769" cy="2372639"/>
          </a:xfrm>
          <a:prstGeom prst="rect">
            <a:avLst/>
          </a:prstGeom>
          <a:noFill/>
          <a:ln w="9525">
            <a:noFill/>
            <a:miter lim="800000"/>
            <a:headEnd/>
            <a:tailEnd/>
          </a:ln>
        </p:spPr>
      </p:pic>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14</a:t>
            </a:fld>
            <a:endParaRPr lang="zh-CN" altLang="en-US" dirty="0"/>
          </a:p>
        </p:txBody>
      </p:sp>
      <p:sp>
        <p:nvSpPr>
          <p:cNvPr id="5" name="矩形 1"/>
          <p:cNvSpPr>
            <a:spLocks noChangeArrowheads="1"/>
          </p:cNvSpPr>
          <p:nvPr/>
        </p:nvSpPr>
        <p:spPr bwMode="auto">
          <a:xfrm>
            <a:off x="527973" y="1552316"/>
            <a:ext cx="8064500" cy="2575064"/>
          </a:xfrm>
          <a:prstGeom prst="rect">
            <a:avLst/>
          </a:prstGeom>
          <a:noFill/>
          <a:ln w="9525">
            <a:noFill/>
            <a:miter lim="800000"/>
          </a:ln>
        </p:spPr>
        <p:txBody>
          <a:bodyPr>
            <a:spAutoFit/>
          </a:bodyPr>
          <a:lstStyle/>
          <a:p>
            <a:pPr marL="342900" indent="-342900">
              <a:buClr>
                <a:srgbClr val="FF0000"/>
              </a:buClr>
              <a:buFont typeface="Wingdings" panose="05000000000000000000" pitchFamily="2" charset="2"/>
              <a:buChar char="n"/>
            </a:pPr>
            <a:r>
              <a:rPr lang="en-US" altLang="zh-CN" sz="2000" dirty="0"/>
              <a:t>format()</a:t>
            </a:r>
            <a:r>
              <a:rPr lang="zh-CN" altLang="zh-CN" sz="2000" dirty="0"/>
              <a:t>方法中模板字符串的槽除了包括参数序号，还可以包括格式控制信息。</a:t>
            </a:r>
            <a:endParaRPr lang="en-US" altLang="zh-CN" sz="2000" dirty="0"/>
          </a:p>
          <a:p>
            <a:pPr marL="742950" lvl="1" indent="-285750">
              <a:buClr>
                <a:srgbClr val="FF0000"/>
              </a:buClr>
              <a:buFontTx/>
              <a:buChar char="•"/>
            </a:pPr>
            <a:r>
              <a:rPr lang="zh-CN" altLang="zh-CN" sz="2000" b="1" dirty="0"/>
              <a:t>槽的内部样式：</a:t>
            </a:r>
            <a:r>
              <a:rPr lang="en-US" altLang="zh-CN" sz="2000" b="1" dirty="0"/>
              <a:t>{&lt;</a:t>
            </a:r>
            <a:r>
              <a:rPr lang="zh-CN" altLang="zh-CN" sz="2000" b="1" dirty="0"/>
              <a:t>参数序号</a:t>
            </a:r>
            <a:r>
              <a:rPr lang="en-US" altLang="zh-CN" sz="2000" b="1" dirty="0"/>
              <a:t>&gt;: &lt;</a:t>
            </a:r>
            <a:r>
              <a:rPr lang="zh-CN" altLang="zh-CN" sz="2000" b="1" dirty="0"/>
              <a:t>格式控制标记</a:t>
            </a:r>
            <a:r>
              <a:rPr lang="en-US" altLang="zh-CN" sz="2000" b="1" dirty="0"/>
              <a:t>&gt;}  </a:t>
            </a:r>
            <a:endParaRPr lang="zh-CN" altLang="en-US" sz="2000" b="1" dirty="0"/>
          </a:p>
          <a:p>
            <a:pPr marL="285750" indent="-285750">
              <a:lnSpc>
                <a:spcPts val="1600"/>
              </a:lnSpc>
              <a:buClr>
                <a:srgbClr val="FF0000"/>
              </a:buClr>
            </a:pPr>
            <a:endParaRPr lang="zh-CN" altLang="en-US" sz="2000" dirty="0"/>
          </a:p>
          <a:p>
            <a:pPr marL="342900" indent="-342900">
              <a:buClr>
                <a:srgbClr val="FF0000"/>
              </a:buClr>
              <a:buFont typeface="Wingdings" panose="05000000000000000000" pitchFamily="2" charset="2"/>
              <a:buChar char="n"/>
            </a:pPr>
            <a:r>
              <a:rPr lang="zh-CN" altLang="zh-CN" sz="2000" dirty="0"/>
              <a:t>格式控制标记用来控制参数显示时的格式</a:t>
            </a:r>
            <a:r>
              <a:rPr lang="zh-CN" altLang="en-US" sz="2000" dirty="0"/>
              <a:t>：</a:t>
            </a:r>
            <a:endParaRPr lang="en-US" altLang="zh-CN" sz="2000" dirty="0"/>
          </a:p>
          <a:p>
            <a:pPr marL="800100" lvl="1" indent="-342900">
              <a:buClr>
                <a:srgbClr val="FF0000"/>
              </a:buClr>
              <a:buFont typeface="Arial" panose="020B0604020202020204" pitchFamily="34" charset="0"/>
              <a:buChar char="•"/>
            </a:pPr>
            <a:r>
              <a:rPr lang="en-US" altLang="zh-CN" sz="2000" b="1" dirty="0">
                <a:solidFill>
                  <a:srgbClr val="0000FF"/>
                </a:solidFill>
              </a:rPr>
              <a:t>&lt;</a:t>
            </a:r>
            <a:r>
              <a:rPr lang="zh-CN" altLang="zh-CN" sz="2000" b="1" dirty="0">
                <a:solidFill>
                  <a:srgbClr val="0000FF"/>
                </a:solidFill>
              </a:rPr>
              <a:t>填充</a:t>
            </a:r>
            <a:r>
              <a:rPr lang="en-US" altLang="zh-CN" sz="2000" b="1" dirty="0">
                <a:solidFill>
                  <a:srgbClr val="0000FF"/>
                </a:solidFill>
              </a:rPr>
              <a:t>&gt;&lt;</a:t>
            </a:r>
            <a:r>
              <a:rPr lang="zh-CN" altLang="zh-CN" sz="2000" b="1" dirty="0">
                <a:solidFill>
                  <a:srgbClr val="0000FF"/>
                </a:solidFill>
              </a:rPr>
              <a:t>对齐</a:t>
            </a:r>
            <a:r>
              <a:rPr lang="en-US" altLang="zh-CN" sz="2000" b="1" dirty="0">
                <a:solidFill>
                  <a:srgbClr val="0000FF"/>
                </a:solidFill>
              </a:rPr>
              <a:t>&gt;&lt;</a:t>
            </a:r>
            <a:r>
              <a:rPr lang="zh-CN" altLang="zh-CN" sz="2000" b="1" dirty="0">
                <a:solidFill>
                  <a:srgbClr val="0000FF"/>
                </a:solidFill>
              </a:rPr>
              <a:t>宽度</a:t>
            </a:r>
            <a:r>
              <a:rPr lang="en-US" altLang="zh-CN" sz="2000" b="1" dirty="0">
                <a:solidFill>
                  <a:srgbClr val="0000FF"/>
                </a:solidFill>
              </a:rPr>
              <a:t>&gt;,&lt;.</a:t>
            </a:r>
            <a:r>
              <a:rPr lang="zh-CN" altLang="zh-CN" sz="2000" b="1" dirty="0">
                <a:solidFill>
                  <a:srgbClr val="0000FF"/>
                </a:solidFill>
              </a:rPr>
              <a:t>精度</a:t>
            </a:r>
            <a:r>
              <a:rPr lang="en-US" altLang="zh-CN" sz="2000" b="1" dirty="0">
                <a:solidFill>
                  <a:srgbClr val="0000FF"/>
                </a:solidFill>
              </a:rPr>
              <a:t>&gt;&lt;</a:t>
            </a:r>
            <a:r>
              <a:rPr lang="zh-CN" altLang="zh-CN" sz="2000" b="1" dirty="0">
                <a:solidFill>
                  <a:srgbClr val="0000FF"/>
                </a:solidFill>
              </a:rPr>
              <a:t>类型</a:t>
            </a:r>
            <a:r>
              <a:rPr lang="en-US" altLang="zh-CN" sz="2000" b="1" dirty="0">
                <a:solidFill>
                  <a:srgbClr val="0000FF"/>
                </a:solidFill>
              </a:rPr>
              <a:t>&gt;6</a:t>
            </a:r>
            <a:r>
              <a:rPr lang="zh-CN" altLang="zh-CN" sz="2000" b="1" dirty="0">
                <a:solidFill>
                  <a:srgbClr val="0000FF"/>
                </a:solidFill>
              </a:rPr>
              <a:t>个字段</a:t>
            </a:r>
            <a:endParaRPr lang="zh-CN" altLang="en-US" sz="2000" b="1" dirty="0">
              <a:solidFill>
                <a:srgbClr val="0000FF"/>
              </a:solidFill>
            </a:endParaRPr>
          </a:p>
          <a:p>
            <a:pPr marL="285750" indent="-285750">
              <a:buFontTx/>
              <a:buChar char="•"/>
            </a:pPr>
            <a:endParaRPr lang="zh-CN" altLang="zh-CN" sz="2400" dirty="0"/>
          </a:p>
          <a:p>
            <a:pPr marL="285750" indent="-285750"/>
            <a:endParaRPr lang="zh-CN" altLang="zh-CN" sz="2400" dirty="0"/>
          </a:p>
        </p:txBody>
      </p:sp>
      <p:pic>
        <p:nvPicPr>
          <p:cNvPr id="15" name="图片 14"/>
          <p:cNvPicPr>
            <a:picLocks noChangeAspect="1"/>
          </p:cNvPicPr>
          <p:nvPr/>
        </p:nvPicPr>
        <p:blipFill>
          <a:blip r:embed="rId4"/>
          <a:stretch>
            <a:fillRect/>
          </a:stretch>
        </p:blipFill>
        <p:spPr>
          <a:xfrm>
            <a:off x="561427" y="5949280"/>
            <a:ext cx="8075364" cy="571500"/>
          </a:xfrm>
          <a:prstGeom prst="rect">
            <a:avLst/>
          </a:prstGeom>
        </p:spPr>
      </p:pic>
      <p:pic>
        <p:nvPicPr>
          <p:cNvPr id="16" name="图片 1"/>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129164" y="5543343"/>
            <a:ext cx="436562" cy="554037"/>
          </a:xfrm>
          <a:prstGeom prst="rect">
            <a:avLst/>
          </a:prstGeom>
          <a:noFill/>
          <a:ln w="9525">
            <a:noFill/>
            <a:miter lim="800000"/>
            <a:headEnd/>
            <a:tailEnd/>
          </a:ln>
        </p:spPr>
      </p:pic>
      <p:pic>
        <p:nvPicPr>
          <p:cNvPr id="17" name="图片 16"/>
          <p:cNvPicPr>
            <a:picLocks noChangeAspect="1"/>
          </p:cNvPicPr>
          <p:nvPr/>
        </p:nvPicPr>
        <p:blipFill>
          <a:blip r:embed="rId6"/>
          <a:stretch>
            <a:fillRect/>
          </a:stretch>
        </p:blipFill>
        <p:spPr>
          <a:xfrm>
            <a:off x="565726" y="5661248"/>
            <a:ext cx="8439150" cy="266700"/>
          </a:xfrm>
          <a:prstGeom prst="rect">
            <a:avLst/>
          </a:prstGeom>
        </p:spPr>
      </p:pic>
      <p:grpSp>
        <p:nvGrpSpPr>
          <p:cNvPr id="14" name="组合 114"/>
          <p:cNvGrpSpPr/>
          <p:nvPr/>
        </p:nvGrpSpPr>
        <p:grpSpPr>
          <a:xfrm>
            <a:off x="-540568" y="116632"/>
            <a:ext cx="6225040" cy="662730"/>
            <a:chOff x="-198275" y="3380765"/>
            <a:chExt cx="6225040" cy="662730"/>
          </a:xfrm>
        </p:grpSpPr>
        <p:grpSp>
          <p:nvGrpSpPr>
            <p:cNvPr id="18" name="组合 105"/>
            <p:cNvGrpSpPr/>
            <p:nvPr/>
          </p:nvGrpSpPr>
          <p:grpSpPr>
            <a:xfrm>
              <a:off x="-198275" y="3380765"/>
              <a:ext cx="6225040" cy="662730"/>
              <a:chOff x="-198275" y="3380765"/>
              <a:chExt cx="6225040" cy="662730"/>
            </a:xfrm>
          </p:grpSpPr>
          <p:sp>
            <p:nvSpPr>
              <p:cNvPr id="2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1"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19" name="图片 18" descr="12.jpg"/>
            <p:cNvPicPr>
              <a:picLocks noChangeAspect="1"/>
            </p:cNvPicPr>
            <p:nvPr/>
          </p:nvPicPr>
          <p:blipFill>
            <a:blip r:embed="rId7" cstate="print"/>
            <a:stretch>
              <a:fillRect/>
            </a:stretch>
          </p:blipFill>
          <p:spPr>
            <a:xfrm>
              <a:off x="1115929" y="3530600"/>
              <a:ext cx="446172" cy="431048"/>
            </a:xfrm>
            <a:prstGeom prst="rect">
              <a:avLst/>
            </a:prstGeom>
          </p:spPr>
        </p:pic>
      </p:grpSp>
      <p:sp>
        <p:nvSpPr>
          <p:cNvPr id="22" name="文本框 21"/>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4.1.2 </a:t>
            </a:r>
            <a:r>
              <a:rPr lang="zh-CN" altLang="en-US" sz="2800" b="1" dirty="0">
                <a:latin typeface="Times New Roman" panose="02020603050405020304" pitchFamily="18" charset="0"/>
                <a:ea typeface="仿宋" panose="02010609060101010101" pitchFamily="49" charset="-122"/>
              </a:rPr>
              <a:t>字符</a:t>
            </a:r>
            <a:r>
              <a:rPr lang="zh-CN" altLang="en-US" sz="2800" b="1" dirty="0">
                <a:ea typeface="仿宋" panose="02010609060101010101" pitchFamily="49" charset="-122"/>
              </a:rPr>
              <a:t>串格式化</a:t>
            </a:r>
            <a:endParaRPr lang="en-US" altLang="zh-CN" sz="2800" b="1" dirty="0">
              <a:ea typeface="仿宋" panose="02010609060101010101" pitchFamily="49" charset="-122"/>
            </a:endParaRPr>
          </a:p>
        </p:txBody>
      </p:sp>
    </p:spTree>
    <p:extLst>
      <p:ext uri="{BB962C8B-B14F-4D97-AF65-F5344CB8AC3E}">
        <p14:creationId xmlns:p14="http://schemas.microsoft.com/office/powerpoint/2010/main" val="55170194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fill="hold"/>
                                        <p:tgtEl>
                                          <p:spTgt spid="16"/>
                                        </p:tgtEl>
                                        <p:attrNameLst>
                                          <p:attrName>ppt_x</p:attrName>
                                        </p:attrNameLst>
                                      </p:cBhvr>
                                      <p:tavLst>
                                        <p:tav tm="0">
                                          <p:val>
                                            <p:strVal val="#ppt_x"/>
                                          </p:val>
                                        </p:tav>
                                        <p:tav tm="100000">
                                          <p:val>
                                            <p:strVal val="#ppt_x"/>
                                          </p:val>
                                        </p:tav>
                                      </p:tavLst>
                                    </p:anim>
                                    <p:anim calcmode="lin" valueType="num">
                                      <p:cBhvr additive="base">
                                        <p:cTn id="3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ppt_x"/>
                                          </p:val>
                                        </p:tav>
                                        <p:tav tm="100000">
                                          <p:val>
                                            <p:strVal val="#ppt_x"/>
                                          </p:val>
                                        </p:tav>
                                      </p:tavLst>
                                    </p:anim>
                                    <p:anim calcmode="lin" valueType="num">
                                      <p:cBhvr additive="base">
                                        <p:cTn id="3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str.format</a:t>
            </a:r>
            <a:r>
              <a:rPr lang="en-US" altLang="zh-CN" dirty="0"/>
              <a:t>()</a:t>
            </a:r>
            <a:endParaRPr lang="zh-CN" altLang="en-US" dirty="0"/>
          </a:p>
        </p:txBody>
      </p:sp>
      <p:sp>
        <p:nvSpPr>
          <p:cNvPr id="3" name="内容占位符 2"/>
          <p:cNvSpPr>
            <a:spLocks noGrp="1"/>
          </p:cNvSpPr>
          <p:nvPr>
            <p:ph idx="1"/>
          </p:nvPr>
        </p:nvSpPr>
        <p:spPr>
          <a:xfrm>
            <a:off x="15366" y="1052736"/>
            <a:ext cx="8229600" cy="5040560"/>
          </a:xfrm>
        </p:spPr>
        <p:txBody>
          <a:bodyPr/>
          <a:lstStyle/>
          <a:p>
            <a:pPr marL="457200" lvl="1" indent="0" latinLnBrk="1">
              <a:buNone/>
            </a:pPr>
            <a:r>
              <a:rPr lang="zh-CN" altLang="en-US" sz="1200" b="0" i="0" dirty="0">
                <a:solidFill>
                  <a:srgbClr val="333333"/>
                </a:solidFill>
                <a:effectLst/>
                <a:latin typeface="Helvetica Neue"/>
              </a:rPr>
              <a:t>基本语法是通过 </a:t>
            </a:r>
            <a:r>
              <a:rPr lang="en-US" altLang="zh-CN" sz="1200" b="1" i="0" dirty="0">
                <a:solidFill>
                  <a:srgbClr val="333333"/>
                </a:solidFill>
                <a:effectLst/>
                <a:latin typeface="SFMono-Regular"/>
              </a:rPr>
              <a:t>{}</a:t>
            </a:r>
            <a:r>
              <a:rPr lang="zh-CN" altLang="en-US" sz="1200" b="0" i="0" dirty="0">
                <a:solidFill>
                  <a:srgbClr val="333333"/>
                </a:solidFill>
                <a:effectLst/>
                <a:latin typeface="Helvetica Neue"/>
              </a:rPr>
              <a:t> 和 </a:t>
            </a:r>
            <a:r>
              <a:rPr lang="en-US" altLang="zh-CN" sz="1200" b="1" i="0" dirty="0">
                <a:solidFill>
                  <a:srgbClr val="333333"/>
                </a:solidFill>
                <a:effectLst/>
                <a:latin typeface="SFMono-Regular"/>
              </a:rPr>
              <a:t>:</a:t>
            </a:r>
            <a:r>
              <a:rPr lang="zh-CN" altLang="en-US" sz="1200" b="0" i="0" dirty="0">
                <a:solidFill>
                  <a:srgbClr val="333333"/>
                </a:solidFill>
                <a:effectLst/>
                <a:latin typeface="Helvetica Neue"/>
              </a:rPr>
              <a:t> 来代替以前的 </a:t>
            </a:r>
            <a:r>
              <a:rPr lang="en-US" altLang="zh-CN" sz="1200" b="1" i="0" dirty="0">
                <a:solidFill>
                  <a:srgbClr val="333333"/>
                </a:solidFill>
                <a:effectLst/>
                <a:latin typeface="SFMono-Regular"/>
              </a:rPr>
              <a:t>%</a:t>
            </a:r>
            <a:r>
              <a:rPr lang="zh-CN" altLang="en-US" sz="1200" b="0" i="0" dirty="0">
                <a:solidFill>
                  <a:srgbClr val="333333"/>
                </a:solidFill>
                <a:effectLst/>
                <a:latin typeface="Helvetica Neue"/>
              </a:rPr>
              <a:t> 。</a:t>
            </a:r>
          </a:p>
          <a:p>
            <a:pPr marL="457200" lvl="1" indent="0" latinLnBrk="1">
              <a:buNone/>
            </a:pPr>
            <a:r>
              <a:rPr lang="en-US" altLang="zh-CN" sz="1200" b="0" i="0" dirty="0">
                <a:solidFill>
                  <a:srgbClr val="333333"/>
                </a:solidFill>
                <a:effectLst/>
                <a:latin typeface="Helvetica Neue"/>
              </a:rPr>
              <a:t>format </a:t>
            </a:r>
            <a:r>
              <a:rPr lang="zh-CN" altLang="en-US" sz="1200" b="0" i="0" dirty="0">
                <a:solidFill>
                  <a:srgbClr val="333333"/>
                </a:solidFill>
                <a:effectLst/>
                <a:latin typeface="Helvetica Neue"/>
              </a:rPr>
              <a:t>函数可以接受不限个参数，位置可以不按顺序。</a:t>
            </a:r>
            <a:endParaRPr lang="en-US" altLang="zh-CN" sz="1200" b="0" i="0" dirty="0">
              <a:solidFill>
                <a:srgbClr val="333333"/>
              </a:solidFill>
              <a:effectLst/>
              <a:latin typeface="Helvetica Neue"/>
            </a:endParaRPr>
          </a:p>
          <a:p>
            <a:pPr marL="457200" lvl="1" indent="0" latinLnBrk="1">
              <a:buNone/>
            </a:pPr>
            <a:r>
              <a:rPr lang="en-US" altLang="zh-CN" sz="1600" b="0" i="0" dirty="0">
                <a:solidFill>
                  <a:srgbClr val="808080"/>
                </a:solidFill>
                <a:effectLst/>
                <a:latin typeface="Menlo"/>
              </a:rPr>
              <a:t>&gt;&gt;&gt;</a:t>
            </a:r>
            <a:r>
              <a:rPr lang="en-US" altLang="zh-CN" sz="1600" b="0" i="0" dirty="0">
                <a:solidFill>
                  <a:srgbClr val="8B0000"/>
                </a:solidFill>
                <a:effectLst/>
                <a:latin typeface="Menlo"/>
              </a:rPr>
              <a:t>"</a:t>
            </a:r>
            <a:r>
              <a:rPr lang="en-US" altLang="zh-CN" sz="1600" b="0" i="0" dirty="0">
                <a:solidFill>
                  <a:srgbClr val="AA1111"/>
                </a:solidFill>
                <a:effectLst/>
                <a:latin typeface="Menlo"/>
              </a:rPr>
              <a:t>{} {}</a:t>
            </a:r>
            <a:r>
              <a:rPr lang="en-US" altLang="zh-CN" sz="1600" b="0" i="0" dirty="0">
                <a:solidFill>
                  <a:srgbClr val="8B0000"/>
                </a:solidFill>
                <a:effectLst/>
                <a:latin typeface="Menlo"/>
              </a:rPr>
              <a:t>"</a:t>
            </a:r>
            <a:r>
              <a:rPr lang="en-US" altLang="zh-CN" sz="1600" b="0" i="0" dirty="0">
                <a:solidFill>
                  <a:srgbClr val="808080"/>
                </a:solidFill>
                <a:effectLst/>
                <a:latin typeface="Menlo"/>
              </a:rPr>
              <a:t>.</a:t>
            </a:r>
            <a:r>
              <a:rPr lang="en-US" altLang="zh-CN" sz="1600" b="0" i="0" dirty="0">
                <a:solidFill>
                  <a:srgbClr val="0055AA"/>
                </a:solidFill>
                <a:effectLst/>
                <a:latin typeface="Menlo"/>
              </a:rPr>
              <a:t>format</a:t>
            </a:r>
            <a:r>
              <a:rPr lang="en-US" altLang="zh-CN" sz="1600" b="0" i="0" dirty="0">
                <a:solidFill>
                  <a:srgbClr val="808000"/>
                </a:solidFill>
                <a:effectLst/>
                <a:latin typeface="Menlo"/>
              </a:rPr>
              <a:t>(</a:t>
            </a:r>
            <a:r>
              <a:rPr lang="en-US" altLang="zh-CN" sz="1600" b="0" i="0" dirty="0">
                <a:solidFill>
                  <a:srgbClr val="8B0000"/>
                </a:solidFill>
                <a:effectLst/>
                <a:latin typeface="Menlo"/>
              </a:rPr>
              <a:t>"</a:t>
            </a:r>
            <a:r>
              <a:rPr lang="en-US" altLang="zh-CN" sz="1600" b="0" i="0" dirty="0">
                <a:solidFill>
                  <a:srgbClr val="AA1111"/>
                </a:solidFill>
                <a:effectLst/>
                <a:latin typeface="Menlo"/>
              </a:rPr>
              <a:t>hello</a:t>
            </a:r>
            <a:r>
              <a:rPr lang="en-US" altLang="zh-CN" sz="1600" b="0" i="0" dirty="0">
                <a:solidFill>
                  <a:srgbClr val="8B0000"/>
                </a:solidFill>
                <a:effectLst/>
                <a:latin typeface="Menlo"/>
              </a:rPr>
              <a:t>"</a:t>
            </a:r>
            <a:r>
              <a:rPr lang="en-US" altLang="zh-CN" sz="1600" b="0" i="0" dirty="0">
                <a:solidFill>
                  <a:srgbClr val="808080"/>
                </a:solidFill>
                <a:effectLst/>
                <a:latin typeface="Menlo"/>
              </a:rPr>
              <a:t>, </a:t>
            </a:r>
            <a:r>
              <a:rPr lang="en-US" altLang="zh-CN" sz="1600" b="0" i="0" dirty="0">
                <a:solidFill>
                  <a:srgbClr val="8B0000"/>
                </a:solidFill>
                <a:effectLst/>
                <a:latin typeface="Menlo"/>
              </a:rPr>
              <a:t>"</a:t>
            </a:r>
            <a:r>
              <a:rPr lang="en-US" altLang="zh-CN" sz="1600" b="0" i="0" dirty="0">
                <a:solidFill>
                  <a:srgbClr val="AA1111"/>
                </a:solidFill>
                <a:effectLst/>
                <a:latin typeface="Menlo"/>
              </a:rPr>
              <a:t>world</a:t>
            </a:r>
            <a:r>
              <a:rPr lang="en-US" altLang="zh-CN" sz="1600" b="0" i="0" dirty="0">
                <a:solidFill>
                  <a:srgbClr val="8B0000"/>
                </a:solidFill>
                <a:effectLst/>
                <a:latin typeface="Menlo"/>
              </a:rPr>
              <a:t>"</a:t>
            </a:r>
            <a:r>
              <a:rPr lang="en-US" altLang="zh-CN" sz="1600" b="0" i="0" dirty="0">
                <a:solidFill>
                  <a:srgbClr val="808000"/>
                </a:solidFill>
                <a:effectLst/>
                <a:latin typeface="Menlo"/>
              </a:rPr>
              <a:t>)</a:t>
            </a:r>
            <a:r>
              <a:rPr lang="en-US" altLang="zh-CN" sz="1600" b="0" i="0" dirty="0">
                <a:solidFill>
                  <a:srgbClr val="808080"/>
                </a:solidFill>
                <a:effectLst/>
                <a:latin typeface="Menlo"/>
              </a:rPr>
              <a:t> </a:t>
            </a:r>
            <a:r>
              <a:rPr lang="en-US" altLang="zh-CN" sz="1600" b="0" i="0" dirty="0">
                <a:solidFill>
                  <a:srgbClr val="AA5500"/>
                </a:solidFill>
                <a:effectLst/>
                <a:latin typeface="Menlo"/>
              </a:rPr>
              <a:t># </a:t>
            </a:r>
            <a:r>
              <a:rPr lang="zh-CN" altLang="en-US" sz="1600" b="0" i="0" dirty="0">
                <a:solidFill>
                  <a:srgbClr val="AA5500"/>
                </a:solidFill>
                <a:effectLst/>
                <a:latin typeface="Menlo"/>
              </a:rPr>
              <a:t>不设置指定位置，按默认顺序</a:t>
            </a:r>
            <a:r>
              <a:rPr lang="zh-CN" altLang="en-US" sz="1600" b="0" i="0" dirty="0">
                <a:solidFill>
                  <a:srgbClr val="808080"/>
                </a:solidFill>
                <a:effectLst/>
                <a:latin typeface="Menlo"/>
              </a:rPr>
              <a:t> </a:t>
            </a:r>
            <a:endParaRPr lang="en-US" altLang="zh-CN" sz="1600" b="0" i="0" dirty="0">
              <a:solidFill>
                <a:srgbClr val="808080"/>
              </a:solidFill>
              <a:effectLst/>
              <a:latin typeface="Menlo"/>
            </a:endParaRPr>
          </a:p>
          <a:p>
            <a:pPr marL="457200" lvl="1" indent="0" latinLnBrk="1">
              <a:buNone/>
            </a:pPr>
            <a:r>
              <a:rPr lang="en-US" altLang="zh-CN" sz="1600" b="0" i="0" dirty="0">
                <a:solidFill>
                  <a:srgbClr val="0000FF"/>
                </a:solidFill>
                <a:effectLst/>
                <a:latin typeface="Menlo"/>
              </a:rPr>
              <a:t>'hello world’ </a:t>
            </a:r>
          </a:p>
          <a:p>
            <a:pPr marL="457200" lvl="1" indent="0" latinLnBrk="1">
              <a:buNone/>
            </a:pPr>
            <a:r>
              <a:rPr lang="en-US" altLang="zh-CN" sz="1600" b="0" i="0" dirty="0">
                <a:solidFill>
                  <a:srgbClr val="808080"/>
                </a:solidFill>
                <a:effectLst/>
                <a:latin typeface="Menlo"/>
              </a:rPr>
              <a:t>&gt;&gt;&gt; </a:t>
            </a:r>
            <a:r>
              <a:rPr lang="en-US" altLang="zh-CN" sz="1600" b="0" i="0" dirty="0">
                <a:solidFill>
                  <a:srgbClr val="8B0000"/>
                </a:solidFill>
                <a:effectLst/>
                <a:latin typeface="Menlo"/>
              </a:rPr>
              <a:t>"</a:t>
            </a:r>
            <a:r>
              <a:rPr lang="en-US" altLang="zh-CN" sz="1600" b="0" i="0" dirty="0">
                <a:solidFill>
                  <a:srgbClr val="AA1111"/>
                </a:solidFill>
                <a:effectLst/>
                <a:latin typeface="Menlo"/>
              </a:rPr>
              <a:t>{0} {1}</a:t>
            </a:r>
            <a:r>
              <a:rPr lang="en-US" altLang="zh-CN" sz="1600" b="0" i="0" dirty="0">
                <a:solidFill>
                  <a:srgbClr val="8B0000"/>
                </a:solidFill>
                <a:effectLst/>
                <a:latin typeface="Menlo"/>
              </a:rPr>
              <a:t>"</a:t>
            </a:r>
            <a:r>
              <a:rPr lang="en-US" altLang="zh-CN" sz="1600" b="0" i="0" dirty="0">
                <a:solidFill>
                  <a:srgbClr val="808080"/>
                </a:solidFill>
                <a:effectLst/>
                <a:latin typeface="Menlo"/>
              </a:rPr>
              <a:t>.</a:t>
            </a:r>
            <a:r>
              <a:rPr lang="en-US" altLang="zh-CN" sz="1600" b="0" i="0" dirty="0">
                <a:solidFill>
                  <a:srgbClr val="0055AA"/>
                </a:solidFill>
                <a:effectLst/>
                <a:latin typeface="Menlo"/>
              </a:rPr>
              <a:t>format</a:t>
            </a:r>
            <a:r>
              <a:rPr lang="en-US" altLang="zh-CN" sz="1600" b="0" i="0" dirty="0">
                <a:solidFill>
                  <a:srgbClr val="808000"/>
                </a:solidFill>
                <a:effectLst/>
                <a:latin typeface="Menlo"/>
              </a:rPr>
              <a:t>(</a:t>
            </a:r>
            <a:r>
              <a:rPr lang="en-US" altLang="zh-CN" sz="1600" b="0" i="0" dirty="0">
                <a:solidFill>
                  <a:srgbClr val="8B0000"/>
                </a:solidFill>
                <a:effectLst/>
                <a:latin typeface="Menlo"/>
              </a:rPr>
              <a:t>"</a:t>
            </a:r>
            <a:r>
              <a:rPr lang="en-US" altLang="zh-CN" sz="1600" b="0" i="0" dirty="0">
                <a:solidFill>
                  <a:srgbClr val="AA1111"/>
                </a:solidFill>
                <a:effectLst/>
                <a:latin typeface="Menlo"/>
              </a:rPr>
              <a:t>hello</a:t>
            </a:r>
            <a:r>
              <a:rPr lang="en-US" altLang="zh-CN" sz="1600" b="0" i="0" dirty="0">
                <a:solidFill>
                  <a:srgbClr val="8B0000"/>
                </a:solidFill>
                <a:effectLst/>
                <a:latin typeface="Menlo"/>
              </a:rPr>
              <a:t>"</a:t>
            </a:r>
            <a:r>
              <a:rPr lang="en-US" altLang="zh-CN" sz="1600" b="0" i="0" dirty="0">
                <a:solidFill>
                  <a:srgbClr val="808080"/>
                </a:solidFill>
                <a:effectLst/>
                <a:latin typeface="Menlo"/>
              </a:rPr>
              <a:t>, </a:t>
            </a:r>
            <a:r>
              <a:rPr lang="en-US" altLang="zh-CN" sz="1600" b="0" i="0" dirty="0">
                <a:solidFill>
                  <a:srgbClr val="8B0000"/>
                </a:solidFill>
                <a:effectLst/>
                <a:latin typeface="Menlo"/>
              </a:rPr>
              <a:t>"</a:t>
            </a:r>
            <a:r>
              <a:rPr lang="en-US" altLang="zh-CN" sz="1600" b="0" i="0" dirty="0">
                <a:solidFill>
                  <a:srgbClr val="AA1111"/>
                </a:solidFill>
                <a:effectLst/>
                <a:latin typeface="Menlo"/>
              </a:rPr>
              <a:t>world</a:t>
            </a:r>
            <a:r>
              <a:rPr lang="en-US" altLang="zh-CN" sz="1600" b="0" i="0" dirty="0">
                <a:solidFill>
                  <a:srgbClr val="8B0000"/>
                </a:solidFill>
                <a:effectLst/>
                <a:latin typeface="Menlo"/>
              </a:rPr>
              <a:t>"</a:t>
            </a:r>
            <a:r>
              <a:rPr lang="en-US" altLang="zh-CN" sz="1600" b="0" i="0" dirty="0">
                <a:solidFill>
                  <a:srgbClr val="808000"/>
                </a:solidFill>
                <a:effectLst/>
                <a:latin typeface="Menlo"/>
              </a:rPr>
              <a:t>)</a:t>
            </a:r>
            <a:r>
              <a:rPr lang="en-US" altLang="zh-CN" sz="1600" b="0" i="0" dirty="0">
                <a:solidFill>
                  <a:srgbClr val="808080"/>
                </a:solidFill>
                <a:effectLst/>
                <a:latin typeface="Menlo"/>
              </a:rPr>
              <a:t> </a:t>
            </a:r>
            <a:r>
              <a:rPr lang="en-US" altLang="zh-CN" sz="1600" b="0" i="0" dirty="0">
                <a:solidFill>
                  <a:srgbClr val="AA5500"/>
                </a:solidFill>
                <a:effectLst/>
                <a:latin typeface="Menlo"/>
              </a:rPr>
              <a:t># </a:t>
            </a:r>
            <a:r>
              <a:rPr lang="zh-CN" altLang="en-US" sz="1600" b="0" i="0" dirty="0">
                <a:solidFill>
                  <a:srgbClr val="AA5500"/>
                </a:solidFill>
                <a:effectLst/>
                <a:latin typeface="Menlo"/>
              </a:rPr>
              <a:t>设置指定位置</a:t>
            </a:r>
            <a:r>
              <a:rPr lang="zh-CN" altLang="en-US" sz="1600" b="0" i="0" dirty="0">
                <a:solidFill>
                  <a:srgbClr val="808080"/>
                </a:solidFill>
                <a:effectLst/>
                <a:latin typeface="Menlo"/>
              </a:rPr>
              <a:t> </a:t>
            </a:r>
            <a:endParaRPr lang="en-US" altLang="zh-CN" sz="1600" b="0" i="0" dirty="0">
              <a:solidFill>
                <a:srgbClr val="808080"/>
              </a:solidFill>
              <a:effectLst/>
              <a:latin typeface="Menlo"/>
            </a:endParaRPr>
          </a:p>
          <a:p>
            <a:pPr marL="457200" lvl="1" indent="0" latinLnBrk="1">
              <a:buNone/>
            </a:pPr>
            <a:r>
              <a:rPr lang="en-US" altLang="zh-CN" sz="1600" dirty="0">
                <a:solidFill>
                  <a:srgbClr val="0000FF"/>
                </a:solidFill>
                <a:latin typeface="Menlo"/>
              </a:rPr>
              <a:t>'hello world’ </a:t>
            </a:r>
          </a:p>
          <a:p>
            <a:pPr marL="457200" lvl="1" indent="0" latinLnBrk="1">
              <a:buNone/>
            </a:pPr>
            <a:r>
              <a:rPr lang="en-US" altLang="zh-CN" sz="1600" b="0" i="0" dirty="0">
                <a:solidFill>
                  <a:srgbClr val="808080"/>
                </a:solidFill>
                <a:effectLst/>
                <a:latin typeface="Menlo"/>
              </a:rPr>
              <a:t>&gt;&gt;&gt; </a:t>
            </a:r>
            <a:r>
              <a:rPr lang="en-US" altLang="zh-CN" sz="1600" b="0" i="0" dirty="0">
                <a:solidFill>
                  <a:srgbClr val="8B0000"/>
                </a:solidFill>
                <a:effectLst/>
                <a:latin typeface="Menlo"/>
              </a:rPr>
              <a:t>"</a:t>
            </a:r>
            <a:r>
              <a:rPr lang="en-US" altLang="zh-CN" sz="1600" b="0" i="0" dirty="0">
                <a:solidFill>
                  <a:srgbClr val="AA1111"/>
                </a:solidFill>
                <a:effectLst/>
                <a:latin typeface="Menlo"/>
              </a:rPr>
              <a:t>{1} {0} {1}</a:t>
            </a:r>
            <a:r>
              <a:rPr lang="en-US" altLang="zh-CN" sz="1600" b="0" i="0" dirty="0">
                <a:solidFill>
                  <a:srgbClr val="8B0000"/>
                </a:solidFill>
                <a:effectLst/>
                <a:latin typeface="Menlo"/>
              </a:rPr>
              <a:t>"</a:t>
            </a:r>
            <a:r>
              <a:rPr lang="en-US" altLang="zh-CN" sz="1600" b="0" i="0" dirty="0">
                <a:solidFill>
                  <a:srgbClr val="808080"/>
                </a:solidFill>
                <a:effectLst/>
                <a:latin typeface="Menlo"/>
              </a:rPr>
              <a:t>.</a:t>
            </a:r>
            <a:r>
              <a:rPr lang="en-US" altLang="zh-CN" sz="1600" b="0" i="0" dirty="0">
                <a:solidFill>
                  <a:srgbClr val="0055AA"/>
                </a:solidFill>
                <a:effectLst/>
                <a:latin typeface="Menlo"/>
              </a:rPr>
              <a:t>format</a:t>
            </a:r>
            <a:r>
              <a:rPr lang="en-US" altLang="zh-CN" sz="1600" b="0" i="0" dirty="0">
                <a:solidFill>
                  <a:srgbClr val="808000"/>
                </a:solidFill>
                <a:effectLst/>
                <a:latin typeface="Menlo"/>
              </a:rPr>
              <a:t>(</a:t>
            </a:r>
            <a:r>
              <a:rPr lang="en-US" altLang="zh-CN" sz="1600" b="0" i="0" dirty="0">
                <a:solidFill>
                  <a:srgbClr val="8B0000"/>
                </a:solidFill>
                <a:effectLst/>
                <a:latin typeface="Menlo"/>
              </a:rPr>
              <a:t>"</a:t>
            </a:r>
            <a:r>
              <a:rPr lang="en-US" altLang="zh-CN" sz="1600" b="0" i="0" dirty="0">
                <a:solidFill>
                  <a:srgbClr val="AA1111"/>
                </a:solidFill>
                <a:effectLst/>
                <a:latin typeface="Menlo"/>
              </a:rPr>
              <a:t>hello</a:t>
            </a:r>
            <a:r>
              <a:rPr lang="en-US" altLang="zh-CN" sz="1600" b="0" i="0" dirty="0">
                <a:solidFill>
                  <a:srgbClr val="8B0000"/>
                </a:solidFill>
                <a:effectLst/>
                <a:latin typeface="Menlo"/>
              </a:rPr>
              <a:t>"</a:t>
            </a:r>
            <a:r>
              <a:rPr lang="en-US" altLang="zh-CN" sz="1600" b="0" i="0" dirty="0">
                <a:solidFill>
                  <a:srgbClr val="808080"/>
                </a:solidFill>
                <a:effectLst/>
                <a:latin typeface="Menlo"/>
              </a:rPr>
              <a:t>, </a:t>
            </a:r>
            <a:r>
              <a:rPr lang="en-US" altLang="zh-CN" sz="1600" b="0" i="0" dirty="0">
                <a:solidFill>
                  <a:srgbClr val="8B0000"/>
                </a:solidFill>
                <a:effectLst/>
                <a:latin typeface="Menlo"/>
              </a:rPr>
              <a:t>"</a:t>
            </a:r>
            <a:r>
              <a:rPr lang="en-US" altLang="zh-CN" sz="1600" b="0" i="0" dirty="0">
                <a:solidFill>
                  <a:srgbClr val="AA1111"/>
                </a:solidFill>
                <a:effectLst/>
                <a:latin typeface="Menlo"/>
              </a:rPr>
              <a:t>world</a:t>
            </a:r>
            <a:r>
              <a:rPr lang="en-US" altLang="zh-CN" sz="1600" b="0" i="0" dirty="0">
                <a:solidFill>
                  <a:srgbClr val="8B0000"/>
                </a:solidFill>
                <a:effectLst/>
                <a:latin typeface="Menlo"/>
              </a:rPr>
              <a:t>"</a:t>
            </a:r>
            <a:r>
              <a:rPr lang="en-US" altLang="zh-CN" sz="1600" b="0" i="0" dirty="0">
                <a:solidFill>
                  <a:srgbClr val="808000"/>
                </a:solidFill>
                <a:effectLst/>
                <a:latin typeface="Menlo"/>
              </a:rPr>
              <a:t>)</a:t>
            </a:r>
            <a:r>
              <a:rPr lang="en-US" altLang="zh-CN" sz="1600" b="0" i="0" dirty="0">
                <a:solidFill>
                  <a:srgbClr val="808080"/>
                </a:solidFill>
                <a:effectLst/>
                <a:latin typeface="Menlo"/>
              </a:rPr>
              <a:t> </a:t>
            </a:r>
            <a:r>
              <a:rPr lang="en-US" altLang="zh-CN" sz="1600" b="0" i="0" dirty="0">
                <a:solidFill>
                  <a:srgbClr val="AA5500"/>
                </a:solidFill>
                <a:effectLst/>
                <a:latin typeface="Menlo"/>
              </a:rPr>
              <a:t># </a:t>
            </a:r>
            <a:r>
              <a:rPr lang="zh-CN" altLang="en-US" sz="1600" b="0" i="0" dirty="0">
                <a:solidFill>
                  <a:srgbClr val="AA5500"/>
                </a:solidFill>
                <a:effectLst/>
                <a:latin typeface="Menlo"/>
              </a:rPr>
              <a:t>设置指定位置</a:t>
            </a:r>
            <a:r>
              <a:rPr lang="zh-CN" altLang="en-US" sz="1600" b="0" i="0" dirty="0">
                <a:solidFill>
                  <a:srgbClr val="808080"/>
                </a:solidFill>
                <a:effectLst/>
                <a:latin typeface="Menlo"/>
              </a:rPr>
              <a:t> </a:t>
            </a:r>
            <a:endParaRPr lang="en-US" altLang="zh-CN" sz="1600" b="0" i="0" dirty="0">
              <a:solidFill>
                <a:srgbClr val="808080"/>
              </a:solidFill>
              <a:effectLst/>
              <a:latin typeface="Menlo"/>
            </a:endParaRPr>
          </a:p>
          <a:p>
            <a:pPr marL="457200" lvl="1" indent="0" latinLnBrk="1">
              <a:buNone/>
            </a:pPr>
            <a:r>
              <a:rPr lang="en-US" altLang="zh-CN" sz="1600" b="0" i="0" dirty="0">
                <a:solidFill>
                  <a:srgbClr val="0000FF"/>
                </a:solidFill>
                <a:effectLst/>
                <a:latin typeface="Menlo"/>
              </a:rPr>
              <a:t>'world hello world’</a:t>
            </a:r>
          </a:p>
          <a:p>
            <a:endParaRPr lang="zh-CN" altLang="en-US" dirty="0"/>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15</a:t>
            </a:fld>
            <a:endParaRPr lang="zh-CN" altLang="en-US" dirty="0"/>
          </a:p>
        </p:txBody>
      </p:sp>
    </p:spTree>
    <p:extLst>
      <p:ext uri="{BB962C8B-B14F-4D97-AF65-F5344CB8AC3E}">
        <p14:creationId xmlns:p14="http://schemas.microsoft.com/office/powerpoint/2010/main" val="858216583"/>
      </p:ext>
    </p:extLst>
  </p:cSld>
  <p:clrMapOvr>
    <a:masterClrMapping/>
  </p:clrMapOvr>
  <p:transition spd="slow" advClick="0">
    <p:pull di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str.format</a:t>
            </a:r>
            <a:r>
              <a:rPr lang="en-US" altLang="zh-CN" dirty="0"/>
              <a:t>()</a:t>
            </a:r>
            <a:endParaRPr lang="zh-CN" altLang="en-US" dirty="0"/>
          </a:p>
        </p:txBody>
      </p:sp>
      <p:sp>
        <p:nvSpPr>
          <p:cNvPr id="3" name="内容占位符 2"/>
          <p:cNvSpPr>
            <a:spLocks noGrp="1"/>
          </p:cNvSpPr>
          <p:nvPr>
            <p:ph idx="1"/>
          </p:nvPr>
        </p:nvSpPr>
        <p:spPr>
          <a:xfrm>
            <a:off x="-396552" y="980728"/>
            <a:ext cx="8229600" cy="5040560"/>
          </a:xfrm>
        </p:spPr>
        <p:txBody>
          <a:bodyPr/>
          <a:lstStyle/>
          <a:p>
            <a:pPr marL="457200" lvl="1" indent="0" latinLnBrk="1">
              <a:buNone/>
            </a:pPr>
            <a:r>
              <a:rPr lang="zh-CN" altLang="en-US" sz="1600" dirty="0" smtClean="0">
                <a:solidFill>
                  <a:srgbClr val="FF0000"/>
                </a:solidFill>
                <a:latin typeface="Helvetica Neue"/>
              </a:rPr>
              <a:t>数字格式</a:t>
            </a:r>
            <a:r>
              <a:rPr lang="zh-CN" altLang="en-US" sz="1600" dirty="0">
                <a:solidFill>
                  <a:srgbClr val="FF0000"/>
                </a:solidFill>
                <a:latin typeface="Helvetica Neue"/>
              </a:rPr>
              <a:t>化：</a:t>
            </a:r>
            <a:endParaRPr lang="en-US" altLang="zh-CN" sz="1600" b="0" i="0" dirty="0">
              <a:solidFill>
                <a:srgbClr val="FF0000"/>
              </a:solidFill>
              <a:effectLst/>
              <a:latin typeface="Helvetica Neue"/>
            </a:endParaRPr>
          </a:p>
          <a:p>
            <a:pPr marL="457200" lvl="1" indent="0" latinLnBrk="1">
              <a:buNone/>
            </a:pPr>
            <a:r>
              <a:rPr lang="en-US" altLang="zh-CN" sz="1400" b="0" i="0" dirty="0">
                <a:solidFill>
                  <a:srgbClr val="FF0000"/>
                </a:solidFill>
                <a:effectLst/>
                <a:latin typeface="Helvetica Neue"/>
              </a:rPr>
              <a:t>&gt;&gt;&gt; print("{:.2f}".format(3.1415926));</a:t>
            </a:r>
          </a:p>
          <a:p>
            <a:pPr marL="457200" lvl="1" indent="0" latinLnBrk="1">
              <a:buNone/>
            </a:pPr>
            <a:r>
              <a:rPr lang="en-US" altLang="zh-CN" sz="1400" b="0" i="0" dirty="0">
                <a:solidFill>
                  <a:srgbClr val="FF0000"/>
                </a:solidFill>
                <a:effectLst/>
                <a:latin typeface="Helvetica Neue"/>
              </a:rPr>
              <a:t>3.14</a:t>
            </a:r>
            <a:endParaRPr lang="zh-CN" altLang="en-US" sz="1400" b="0" i="0" dirty="0">
              <a:solidFill>
                <a:srgbClr val="FF0000"/>
              </a:solidFill>
              <a:effectLst/>
              <a:latin typeface="Helvetica Neue"/>
            </a:endParaRPr>
          </a:p>
          <a:p>
            <a:pPr lvl="1"/>
            <a:r>
              <a:rPr lang="zh-CN" altLang="en-US" sz="1400" dirty="0">
                <a:solidFill>
                  <a:srgbClr val="FF0000"/>
                </a:solidFill>
              </a:rPr>
              <a:t>超过约定槽位</a:t>
            </a:r>
            <a:r>
              <a:rPr lang="zh-CN" altLang="en-US" sz="1400" dirty="0" smtClean="0">
                <a:solidFill>
                  <a:srgbClr val="FF0000"/>
                </a:solidFill>
              </a:rPr>
              <a:t>宽度</a:t>
            </a:r>
            <a:endParaRPr lang="en-US" altLang="zh-CN" sz="1400" dirty="0" smtClean="0">
              <a:solidFill>
                <a:srgbClr val="FF0000"/>
              </a:solidFill>
            </a:endParaRPr>
          </a:p>
          <a:p>
            <a:pPr lvl="1"/>
            <a:endParaRPr lang="en-US" altLang="zh-CN" sz="1400" dirty="0">
              <a:solidFill>
                <a:srgbClr val="FF0000"/>
              </a:solidFill>
            </a:endParaRPr>
          </a:p>
          <a:p>
            <a:pPr marL="457200" lvl="1" indent="0">
              <a:buNone/>
            </a:pPr>
            <a:endParaRPr lang="en-US" altLang="zh-CN" sz="1400" dirty="0" smtClean="0">
              <a:solidFill>
                <a:srgbClr val="FF0000"/>
              </a:solidFill>
            </a:endParaRPr>
          </a:p>
          <a:p>
            <a:pPr marL="457200" lvl="1" indent="0">
              <a:buNone/>
            </a:pPr>
            <a:endParaRPr lang="en-US" altLang="zh-CN" sz="1400" dirty="0">
              <a:solidFill>
                <a:srgbClr val="FF0000"/>
              </a:solidFill>
            </a:endParaRPr>
          </a:p>
          <a:p>
            <a:pPr marL="457200" lvl="1" indent="0">
              <a:buNone/>
            </a:pPr>
            <a:endParaRPr lang="en-US" altLang="zh-CN" sz="1400" dirty="0" smtClean="0">
              <a:solidFill>
                <a:srgbClr val="FF0000"/>
              </a:solidFill>
            </a:endParaRPr>
          </a:p>
          <a:p>
            <a:pPr marL="457200" lvl="1" indent="0">
              <a:buNone/>
            </a:pPr>
            <a:endParaRPr lang="en-US" altLang="zh-CN" sz="1400" dirty="0">
              <a:solidFill>
                <a:srgbClr val="FF0000"/>
              </a:solidFill>
            </a:endParaRPr>
          </a:p>
          <a:p>
            <a:pPr lvl="1"/>
            <a:r>
              <a:rPr lang="zh-CN" altLang="en-US" sz="1400" dirty="0">
                <a:solidFill>
                  <a:srgbClr val="FF0000"/>
                </a:solidFill>
              </a:rPr>
              <a:t>挤爆，无约束作用！</a:t>
            </a:r>
            <a:endParaRPr lang="en-US" altLang="zh-CN" sz="1400" dirty="0">
              <a:solidFill>
                <a:srgbClr val="FF0000"/>
              </a:solidFill>
            </a:endParaRPr>
          </a:p>
          <a:p>
            <a:pPr lvl="1"/>
            <a:endParaRPr lang="en-US" altLang="zh-CN" sz="1400" dirty="0" smtClean="0">
              <a:solidFill>
                <a:srgbClr val="FF0000"/>
              </a:solidFill>
            </a:endParaRPr>
          </a:p>
          <a:p>
            <a:pPr lvl="1"/>
            <a:r>
              <a:rPr lang="zh-CN" altLang="en-US" sz="1400" dirty="0" smtClean="0">
                <a:solidFill>
                  <a:srgbClr val="FF0000"/>
                </a:solidFill>
              </a:rPr>
              <a:t>在</a:t>
            </a:r>
            <a:r>
              <a:rPr lang="zh-CN" altLang="en-US" sz="1400" dirty="0">
                <a:solidFill>
                  <a:srgbClr val="FF0000"/>
                </a:solidFill>
              </a:rPr>
              <a:t>剩余槽宽不对称，占位符如何布局</a:t>
            </a:r>
            <a:r>
              <a:rPr lang="zh-CN" altLang="en-US" sz="1400" dirty="0" smtClean="0">
                <a:solidFill>
                  <a:srgbClr val="FF0000"/>
                </a:solidFill>
              </a:rPr>
              <a:t>？</a:t>
            </a:r>
            <a:endParaRPr lang="en-US" altLang="zh-CN" sz="1400" dirty="0">
              <a:solidFill>
                <a:srgbClr val="FF0000"/>
              </a:solidFill>
            </a:endParaRPr>
          </a:p>
          <a:p>
            <a:endParaRPr lang="zh-CN" altLang="en-US" dirty="0"/>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16</a:t>
            </a:fld>
            <a:endParaRPr lang="zh-CN" altLang="en-US" dirty="0"/>
          </a:p>
        </p:txBody>
      </p:sp>
      <p:pic>
        <p:nvPicPr>
          <p:cNvPr id="8" name="图片 7"/>
          <p:cNvPicPr>
            <a:picLocks noChangeAspect="1"/>
          </p:cNvPicPr>
          <p:nvPr/>
        </p:nvPicPr>
        <p:blipFill>
          <a:blip r:embed="rId3"/>
          <a:stretch>
            <a:fillRect/>
          </a:stretch>
        </p:blipFill>
        <p:spPr>
          <a:xfrm>
            <a:off x="3563888" y="980728"/>
            <a:ext cx="5554911" cy="5322626"/>
          </a:xfrm>
          <a:prstGeom prst="rect">
            <a:avLst/>
          </a:prstGeom>
        </p:spPr>
      </p:pic>
      <p:pic>
        <p:nvPicPr>
          <p:cNvPr id="6" name="图片 5"/>
          <p:cNvPicPr>
            <a:picLocks noChangeAspect="1"/>
          </p:cNvPicPr>
          <p:nvPr/>
        </p:nvPicPr>
        <p:blipFill>
          <a:blip r:embed="rId4"/>
          <a:stretch>
            <a:fillRect/>
          </a:stretch>
        </p:blipFill>
        <p:spPr>
          <a:xfrm>
            <a:off x="323528" y="2132856"/>
            <a:ext cx="1810516" cy="1060706"/>
          </a:xfrm>
          <a:prstGeom prst="rect">
            <a:avLst/>
          </a:prstGeom>
        </p:spPr>
      </p:pic>
      <p:pic>
        <p:nvPicPr>
          <p:cNvPr id="9" name="图片 8"/>
          <p:cNvPicPr>
            <a:picLocks noChangeAspect="1"/>
          </p:cNvPicPr>
          <p:nvPr/>
        </p:nvPicPr>
        <p:blipFill>
          <a:blip r:embed="rId5"/>
          <a:stretch>
            <a:fillRect/>
          </a:stretch>
        </p:blipFill>
        <p:spPr>
          <a:xfrm>
            <a:off x="395536" y="4206326"/>
            <a:ext cx="2350013" cy="2097028"/>
          </a:xfrm>
          <a:prstGeom prst="rect">
            <a:avLst/>
          </a:prstGeom>
        </p:spPr>
      </p:pic>
    </p:spTree>
    <p:extLst>
      <p:ext uri="{BB962C8B-B14F-4D97-AF65-F5344CB8AC3E}">
        <p14:creationId xmlns:p14="http://schemas.microsoft.com/office/powerpoint/2010/main" val="193710481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 calcmode="lin" valueType="num">
                                      <p:cBhvr additive="base">
                                        <p:cTn id="3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anim calcmode="lin" valueType="num">
                                      <p:cBhvr additive="base">
                                        <p:cTn id="4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nodeType="click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additive="base">
                                        <p:cTn id="51" dur="500" fill="hold"/>
                                        <p:tgtEl>
                                          <p:spTgt spid="9"/>
                                        </p:tgtEl>
                                        <p:attrNameLst>
                                          <p:attrName>ppt_x</p:attrName>
                                        </p:attrNameLst>
                                      </p:cBhvr>
                                      <p:tavLst>
                                        <p:tav tm="0">
                                          <p:val>
                                            <p:strVal val="1+#ppt_w/2"/>
                                          </p:val>
                                        </p:tav>
                                        <p:tav tm="100000">
                                          <p:val>
                                            <p:strVal val="#ppt_x"/>
                                          </p:val>
                                        </p:tav>
                                      </p:tavLst>
                                    </p:anim>
                                    <p:anim calcmode="lin" valueType="num">
                                      <p:cBhvr additive="base">
                                        <p:cTn id="52"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17</a:t>
            </a:fld>
            <a:endParaRPr lang="zh-CN" altLang="en-US" dirty="0"/>
          </a:p>
        </p:txBody>
      </p:sp>
      <p:sp>
        <p:nvSpPr>
          <p:cNvPr id="5" name="文本占位符 29698"/>
          <p:cNvSpPr>
            <a:spLocks noGrp="1"/>
          </p:cNvSpPr>
          <p:nvPr>
            <p:ph idx="1"/>
          </p:nvPr>
        </p:nvSpPr>
        <p:spPr>
          <a:xfrm>
            <a:off x="683568" y="1425605"/>
            <a:ext cx="8229600" cy="4678451"/>
          </a:xfrm>
        </p:spPr>
        <p:txBody>
          <a:bodyPr anchor="t"/>
          <a:lstStyle/>
          <a:p>
            <a:pPr>
              <a:lnSpc>
                <a:spcPct val="80000"/>
              </a:lnSpc>
              <a:buClr>
                <a:srgbClr val="FF0000"/>
              </a:buClr>
              <a:buSzPct val="70000"/>
              <a:buFont typeface="Wingdings" panose="05000000000000000000" charset="0"/>
              <a:buChar char=""/>
            </a:pPr>
            <a:r>
              <a:rPr lang="zh-CN" altLang="en-US" sz="2400" b="1" dirty="0">
                <a:latin typeface="宋体" panose="02010600030101010101" pitchFamily="2" charset="-122"/>
              </a:rPr>
              <a:t>使用format方法进行</a:t>
            </a:r>
            <a:r>
              <a:rPr lang="zh-CN" altLang="en-US" sz="2400" b="1" dirty="0" smtClean="0">
                <a:latin typeface="宋体" panose="02010600030101010101" pitchFamily="2" charset="-122"/>
              </a:rPr>
              <a:t>格式化</a:t>
            </a:r>
            <a:endParaRPr lang="en-US" altLang="zh-CN" sz="1350" dirty="0">
              <a:latin typeface="Consolas" panose="020B0609020204030204" charset="0"/>
            </a:endParaRPr>
          </a:p>
          <a:p>
            <a:pPr>
              <a:spcBef>
                <a:spcPct val="0"/>
              </a:spcBef>
              <a:buSzPct val="70000"/>
              <a:buNone/>
            </a:pPr>
            <a:r>
              <a:rPr lang="zh-CN" altLang="zh-CN" sz="1350" dirty="0">
                <a:latin typeface="Consolas" panose="020B0609020204030204" charset="0"/>
              </a:rPr>
              <a:t>&gt;&gt;&gt; print("The number {0:,} in hex is: {0:#x}, the number {1} in oct is {1:#o}".format(5555,55))</a:t>
            </a:r>
          </a:p>
          <a:p>
            <a:pPr>
              <a:spcBef>
                <a:spcPts val="300"/>
              </a:spcBef>
              <a:buSzPct val="70000"/>
              <a:buNone/>
            </a:pPr>
            <a:r>
              <a:rPr lang="zh-CN" altLang="zh-CN" sz="1350" dirty="0">
                <a:solidFill>
                  <a:srgbClr val="0000FF"/>
                </a:solidFill>
                <a:latin typeface="Consolas" panose="020B0609020204030204" charset="0"/>
              </a:rPr>
              <a:t>The number 5,555 in hex is: 0x15b3, the number 55 in oct is 0o67</a:t>
            </a:r>
          </a:p>
          <a:p>
            <a:pPr>
              <a:spcBef>
                <a:spcPts val="300"/>
              </a:spcBef>
              <a:buSzPct val="70000"/>
              <a:buNone/>
            </a:pPr>
            <a:r>
              <a:rPr lang="zh-CN" altLang="zh-CN" sz="1350" dirty="0">
                <a:latin typeface="Consolas" panose="020B0609020204030204" charset="0"/>
              </a:rPr>
              <a:t>&gt;&gt;&gt; print("The number {1:,} in hex is: {1:#x}, the number {0} in oct is {0:o}".format(5555,55))</a:t>
            </a:r>
          </a:p>
          <a:p>
            <a:pPr>
              <a:spcBef>
                <a:spcPts val="300"/>
              </a:spcBef>
              <a:buSzPct val="70000"/>
              <a:buNone/>
            </a:pPr>
            <a:r>
              <a:rPr lang="zh-CN" altLang="zh-CN" sz="1350" dirty="0">
                <a:solidFill>
                  <a:srgbClr val="0000FF"/>
                </a:solidFill>
                <a:latin typeface="Consolas" panose="020B0609020204030204" charset="0"/>
              </a:rPr>
              <a:t>The number 55 in hex is: 0x37, the number 5555 in oct is 12663</a:t>
            </a:r>
          </a:p>
          <a:p>
            <a:pPr>
              <a:spcBef>
                <a:spcPts val="300"/>
              </a:spcBef>
              <a:buSzPct val="70000"/>
              <a:buNone/>
            </a:pPr>
            <a:r>
              <a:rPr lang="zh-CN" altLang="zh-CN" sz="1350" dirty="0">
                <a:latin typeface="Consolas" panose="020B0609020204030204" charset="0"/>
              </a:rPr>
              <a:t>&gt;&gt;&gt; position = (5, 8, 13)</a:t>
            </a:r>
          </a:p>
          <a:p>
            <a:pPr>
              <a:spcBef>
                <a:spcPts val="300"/>
              </a:spcBef>
              <a:buSzPct val="70000"/>
              <a:buNone/>
            </a:pPr>
            <a:r>
              <a:rPr lang="zh-CN" altLang="zh-CN" sz="1350" dirty="0">
                <a:latin typeface="Consolas" panose="020B0609020204030204" charset="0"/>
              </a:rPr>
              <a:t>&gt;&gt;&gt; print("X:{0[0]};Y:{0[1]};Z:{0[2]}".format(position))</a:t>
            </a:r>
          </a:p>
          <a:p>
            <a:pPr>
              <a:spcBef>
                <a:spcPts val="300"/>
              </a:spcBef>
              <a:buSzPct val="70000"/>
              <a:buNone/>
            </a:pPr>
            <a:r>
              <a:rPr lang="zh-CN" altLang="zh-CN" sz="1350" dirty="0">
                <a:solidFill>
                  <a:srgbClr val="0000FF"/>
                </a:solidFill>
                <a:latin typeface="Consolas" panose="020B0609020204030204" charset="0"/>
              </a:rPr>
              <a:t>X:5;Y:8;Z:13</a:t>
            </a:r>
          </a:p>
          <a:p>
            <a:pPr>
              <a:spcBef>
                <a:spcPts val="300"/>
              </a:spcBef>
              <a:buSzPct val="70000"/>
              <a:buNone/>
            </a:pPr>
            <a:r>
              <a:rPr lang="zh-CN" altLang="zh-CN" sz="1350" dirty="0">
                <a:latin typeface="Consolas" panose="020B0609020204030204" charset="0"/>
              </a:rPr>
              <a:t>&gt;&gt;&gt; '{0:&lt;8d},{0:^8d},{0:&gt;8d}'.format(65) </a:t>
            </a:r>
            <a:r>
              <a:rPr lang="en-US" altLang="zh-CN" sz="1350" dirty="0">
                <a:latin typeface="Consolas" panose="020B0609020204030204" charset="0"/>
              </a:rPr>
              <a:t>#</a:t>
            </a:r>
            <a:r>
              <a:rPr lang="zh-CN" altLang="en-US" sz="1350" dirty="0">
                <a:latin typeface="Consolas" panose="020B0609020204030204" charset="0"/>
              </a:rPr>
              <a:t>设置对齐方式</a:t>
            </a:r>
          </a:p>
          <a:p>
            <a:pPr>
              <a:spcBef>
                <a:spcPts val="300"/>
              </a:spcBef>
              <a:buSzPct val="70000"/>
              <a:buNone/>
            </a:pPr>
            <a:r>
              <a:rPr lang="zh-CN" altLang="zh-CN" sz="1350" dirty="0">
                <a:solidFill>
                  <a:srgbClr val="0000FF"/>
                </a:solidFill>
                <a:latin typeface="Consolas" panose="020B0609020204030204" charset="0"/>
              </a:rPr>
              <a:t>'65      ,   65   ,      65'</a:t>
            </a:r>
          </a:p>
        </p:txBody>
      </p:sp>
      <p:grpSp>
        <p:nvGrpSpPr>
          <p:cNvPr id="7" name="组合 114"/>
          <p:cNvGrpSpPr/>
          <p:nvPr/>
        </p:nvGrpSpPr>
        <p:grpSpPr>
          <a:xfrm>
            <a:off x="-540568" y="116632"/>
            <a:ext cx="6225040" cy="662730"/>
            <a:chOff x="-198275" y="3380765"/>
            <a:chExt cx="6225040" cy="662730"/>
          </a:xfrm>
        </p:grpSpPr>
        <p:grpSp>
          <p:nvGrpSpPr>
            <p:cNvPr id="8" name="组合 105"/>
            <p:cNvGrpSpPr/>
            <p:nvPr/>
          </p:nvGrpSpPr>
          <p:grpSpPr>
            <a:xfrm>
              <a:off x="-198275" y="3380765"/>
              <a:ext cx="6225040" cy="662730"/>
              <a:chOff x="-198275" y="3380765"/>
              <a:chExt cx="6225040" cy="662730"/>
            </a:xfrm>
          </p:grpSpPr>
          <p:sp>
            <p:nvSpPr>
              <p:cNvPr id="1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9" name="图片 8"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2" name="文本框 11"/>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4.1.2 </a:t>
            </a:r>
            <a:r>
              <a:rPr lang="zh-CN" altLang="en-US" sz="2800" b="1" dirty="0">
                <a:latin typeface="Times New Roman" panose="02020603050405020304" pitchFamily="18" charset="0"/>
                <a:ea typeface="仿宋" panose="02010609060101010101" pitchFamily="49" charset="-122"/>
              </a:rPr>
              <a:t>字符</a:t>
            </a:r>
            <a:r>
              <a:rPr lang="zh-CN" altLang="en-US" sz="2800" b="1" dirty="0">
                <a:ea typeface="仿宋" panose="02010609060101010101" pitchFamily="49" charset="-122"/>
              </a:rPr>
              <a:t>串格式化</a:t>
            </a:r>
            <a:endParaRPr lang="en-US" altLang="zh-CN" sz="2800" b="1" dirty="0">
              <a:ea typeface="仿宋" panose="02010609060101010101" pitchFamily="49" charset="-122"/>
            </a:endParaRPr>
          </a:p>
        </p:txBody>
      </p:sp>
      <p:pic>
        <p:nvPicPr>
          <p:cNvPr id="2" name="图片 1"/>
          <p:cNvPicPr>
            <a:picLocks noChangeAspect="1"/>
          </p:cNvPicPr>
          <p:nvPr/>
        </p:nvPicPr>
        <p:blipFill>
          <a:blip r:embed="rId3"/>
          <a:stretch>
            <a:fillRect/>
          </a:stretch>
        </p:blipFill>
        <p:spPr>
          <a:xfrm>
            <a:off x="773637" y="4404257"/>
            <a:ext cx="5779563" cy="2160240"/>
          </a:xfrm>
          <a:prstGeom prst="rect">
            <a:avLst/>
          </a:prstGeom>
        </p:spPr>
      </p:pic>
    </p:spTree>
    <p:extLst>
      <p:ext uri="{BB962C8B-B14F-4D97-AF65-F5344CB8AC3E}">
        <p14:creationId xmlns:p14="http://schemas.microsoft.com/office/powerpoint/2010/main" val="85323625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18</a:t>
            </a:fld>
            <a:endParaRPr lang="zh-CN" altLang="en-US" dirty="0"/>
          </a:p>
        </p:txBody>
      </p:sp>
      <p:sp>
        <p:nvSpPr>
          <p:cNvPr id="5" name="内容占位符 2"/>
          <p:cNvSpPr>
            <a:spLocks noGrp="1"/>
          </p:cNvSpPr>
          <p:nvPr>
            <p:ph idx="1"/>
          </p:nvPr>
        </p:nvSpPr>
        <p:spPr>
          <a:xfrm>
            <a:off x="773636" y="1413027"/>
            <a:ext cx="8229600" cy="4678451"/>
          </a:xfrm>
        </p:spPr>
        <p:txBody>
          <a:bodyPr anchor="t"/>
          <a:lstStyle/>
          <a:p>
            <a:pPr marL="0" indent="0">
              <a:spcBef>
                <a:spcPts val="300"/>
              </a:spcBef>
              <a:buSzPct val="70000"/>
              <a:buNone/>
            </a:pPr>
            <a:r>
              <a:rPr lang="zh-CN" altLang="en-US" sz="1350" dirty="0">
                <a:latin typeface="Consolas" panose="020B0609020204030204" charset="0"/>
                <a:sym typeface="宋体" panose="02010600030101010101" pitchFamily="2" charset="-122"/>
              </a:rPr>
              <a:t>weather = [("Monday","rain</a:t>
            </a:r>
            <a:r>
              <a:rPr lang="en-US" altLang="zh-CN" sz="1350" dirty="0">
                <a:latin typeface="Consolas" panose="020B0609020204030204" charset="0"/>
                <a:sym typeface="宋体" panose="02010600030101010101" pitchFamily="2" charset="-122"/>
              </a:rPr>
              <a:t>y</a:t>
            </a:r>
            <a:r>
              <a:rPr lang="zh-CN" altLang="en-US" sz="1350" dirty="0">
                <a:latin typeface="Consolas" panose="020B0609020204030204" charset="0"/>
                <a:sym typeface="宋体" panose="02010600030101010101" pitchFamily="2" charset="-122"/>
              </a:rPr>
              <a:t>"),("Tuesday","sunny"),</a:t>
            </a:r>
          </a:p>
          <a:p>
            <a:pPr marL="0" indent="0">
              <a:spcBef>
                <a:spcPts val="300"/>
              </a:spcBef>
              <a:buSzPct val="70000"/>
              <a:buNone/>
            </a:pPr>
            <a:r>
              <a:rPr lang="zh-CN" altLang="en-US" sz="1350" dirty="0">
                <a:latin typeface="Consolas" panose="020B0609020204030204" charset="0"/>
                <a:sym typeface="宋体" panose="02010600030101010101" pitchFamily="2" charset="-122"/>
              </a:rPr>
              <a:t>           ("Wednesday", "sunny"),("Thursday","rain</a:t>
            </a:r>
            <a:r>
              <a:rPr lang="en-US" altLang="zh-CN" sz="1350" dirty="0">
                <a:latin typeface="Consolas" panose="020B0609020204030204" charset="0"/>
                <a:sym typeface="宋体" panose="02010600030101010101" pitchFamily="2" charset="-122"/>
              </a:rPr>
              <a:t>y</a:t>
            </a:r>
            <a:r>
              <a:rPr lang="zh-CN" altLang="en-US" sz="1350" dirty="0">
                <a:latin typeface="Consolas" panose="020B0609020204030204" charset="0"/>
                <a:sym typeface="宋体" panose="02010600030101010101" pitchFamily="2" charset="-122"/>
              </a:rPr>
              <a:t>"),</a:t>
            </a:r>
          </a:p>
          <a:p>
            <a:pPr marL="0" indent="0">
              <a:spcBef>
                <a:spcPts val="300"/>
              </a:spcBef>
              <a:buSzPct val="70000"/>
              <a:buNone/>
            </a:pPr>
            <a:r>
              <a:rPr lang="zh-CN" altLang="en-US" sz="1350" dirty="0">
                <a:latin typeface="Consolas" panose="020B0609020204030204" charset="0"/>
                <a:sym typeface="宋体" panose="02010600030101010101" pitchFamily="2" charset="-122"/>
              </a:rPr>
              <a:t>           ("Friday","</a:t>
            </a:r>
            <a:r>
              <a:rPr lang="en-US" altLang="zh-CN" sz="1350" dirty="0">
                <a:latin typeface="Consolas" panose="020B0609020204030204" charset="0"/>
                <a:sym typeface="宋体" panose="02010600030101010101" pitchFamily="2" charset="-122"/>
              </a:rPr>
              <a:t>c</a:t>
            </a:r>
            <a:r>
              <a:rPr lang="zh-CN" altLang="en-US" sz="1350" dirty="0">
                <a:latin typeface="Consolas" panose="020B0609020204030204" charset="0"/>
                <a:sym typeface="宋体" panose="02010600030101010101" pitchFamily="2" charset="-122"/>
              </a:rPr>
              <a:t>loudy")]</a:t>
            </a:r>
            <a:endParaRPr lang="zh-CN" altLang="en-US" sz="1350" dirty="0">
              <a:latin typeface="Consolas" panose="020B0609020204030204" charset="0"/>
            </a:endParaRPr>
          </a:p>
          <a:p>
            <a:pPr marL="0" indent="0">
              <a:spcBef>
                <a:spcPts val="300"/>
              </a:spcBef>
              <a:buSzPct val="70000"/>
              <a:buNone/>
            </a:pPr>
            <a:r>
              <a:rPr lang="zh-CN" altLang="en-US" sz="1350" dirty="0">
                <a:latin typeface="Consolas" panose="020B0609020204030204" charset="0"/>
                <a:sym typeface="宋体" panose="02010600030101010101" pitchFamily="2" charset="-122"/>
              </a:rPr>
              <a:t>formatter = "Weather of '{0[0]}' is '{0[1]}'".format</a:t>
            </a:r>
            <a:endParaRPr lang="zh-CN" altLang="en-US" sz="1350" dirty="0">
              <a:latin typeface="Consolas" panose="020B0609020204030204" charset="0"/>
            </a:endParaRPr>
          </a:p>
          <a:p>
            <a:pPr marL="0" indent="0">
              <a:spcBef>
                <a:spcPts val="300"/>
              </a:spcBef>
              <a:buSzPct val="70000"/>
              <a:buNone/>
            </a:pPr>
            <a:r>
              <a:rPr lang="zh-CN" altLang="en-US" sz="1350" dirty="0">
                <a:latin typeface="Consolas" panose="020B0609020204030204" charset="0"/>
                <a:sym typeface="宋体" panose="02010600030101010101" pitchFamily="2" charset="-122"/>
              </a:rPr>
              <a:t>for item in map(formatter,weather):</a:t>
            </a:r>
            <a:endParaRPr lang="zh-CN" altLang="en-US" sz="1350" dirty="0">
              <a:latin typeface="Consolas" panose="020B0609020204030204" charset="0"/>
            </a:endParaRPr>
          </a:p>
          <a:p>
            <a:pPr marL="0" indent="0">
              <a:spcBef>
                <a:spcPts val="300"/>
              </a:spcBef>
              <a:buSzPct val="70000"/>
              <a:buNone/>
            </a:pPr>
            <a:r>
              <a:rPr lang="zh-CN" altLang="en-US" sz="1350" dirty="0">
                <a:latin typeface="Consolas" panose="020B0609020204030204" charset="0"/>
                <a:sym typeface="宋体" panose="02010600030101010101" pitchFamily="2" charset="-122"/>
              </a:rPr>
              <a:t>    print</a:t>
            </a:r>
            <a:r>
              <a:rPr lang="en-US" altLang="zh-CN" sz="1350" dirty="0">
                <a:latin typeface="Consolas" panose="020B0609020204030204" charset="0"/>
                <a:sym typeface="宋体" panose="02010600030101010101" pitchFamily="2" charset="-122"/>
              </a:rPr>
              <a:t>(</a:t>
            </a:r>
            <a:r>
              <a:rPr lang="zh-CN" altLang="en-US" sz="1350" dirty="0">
                <a:latin typeface="Consolas" panose="020B0609020204030204" charset="0"/>
                <a:sym typeface="宋体" panose="02010600030101010101" pitchFamily="2" charset="-122"/>
              </a:rPr>
              <a:t>item</a:t>
            </a:r>
            <a:r>
              <a:rPr lang="en-US" altLang="zh-CN" sz="1350" dirty="0">
                <a:latin typeface="Consolas" panose="020B0609020204030204" charset="0"/>
                <a:sym typeface="宋体" panose="02010600030101010101" pitchFamily="2" charset="-122"/>
              </a:rPr>
              <a:t>)</a:t>
            </a:r>
            <a:endParaRPr lang="en-US" altLang="zh-CN" sz="1350" dirty="0">
              <a:latin typeface="Consolas" panose="020B0609020204030204" charset="0"/>
            </a:endParaRPr>
          </a:p>
          <a:p>
            <a:pPr marL="0" indent="0">
              <a:spcBef>
                <a:spcPts val="300"/>
              </a:spcBef>
              <a:buNone/>
            </a:pPr>
            <a:r>
              <a:rPr lang="en-US" altLang="zh-CN" sz="1350" dirty="0">
                <a:latin typeface="Consolas" panose="020B0609020204030204" charset="0"/>
              </a:rPr>
              <a:t>for item in weather:</a:t>
            </a:r>
          </a:p>
          <a:p>
            <a:pPr marL="0" indent="0">
              <a:spcBef>
                <a:spcPts val="300"/>
              </a:spcBef>
              <a:buNone/>
            </a:pPr>
            <a:r>
              <a:rPr lang="en-US" altLang="zh-CN" sz="1350" dirty="0">
                <a:latin typeface="Consolas" panose="020B0609020204030204" charset="0"/>
              </a:rPr>
              <a:t>    print(formatter(item))</a:t>
            </a:r>
          </a:p>
          <a:p>
            <a:pPr marL="0" indent="0">
              <a:spcBef>
                <a:spcPts val="300"/>
              </a:spcBef>
              <a:buNone/>
            </a:pPr>
            <a:endParaRPr lang="en-US" altLang="zh-CN" sz="1350" dirty="0">
              <a:latin typeface="Consolas" panose="020B0609020204030204" charset="0"/>
            </a:endParaRPr>
          </a:p>
          <a:p>
            <a:pPr marL="0" indent="0">
              <a:spcBef>
                <a:spcPts val="300"/>
              </a:spcBef>
              <a:buNone/>
            </a:pPr>
            <a:r>
              <a:rPr lang="zh-CN" altLang="en-US" sz="1350" b="1" dirty="0">
                <a:latin typeface="Consolas" panose="020B0609020204030204" charset="0"/>
              </a:rPr>
              <a:t>运行结果：</a:t>
            </a:r>
          </a:p>
          <a:p>
            <a:pPr marL="0" indent="0">
              <a:spcBef>
                <a:spcPts val="300"/>
              </a:spcBef>
              <a:buNone/>
            </a:pPr>
            <a:r>
              <a:rPr lang="en-US" altLang="zh-CN" sz="1350" dirty="0">
                <a:solidFill>
                  <a:srgbClr val="0000FF"/>
                </a:solidFill>
                <a:latin typeface="Consolas" panose="020B0609020204030204" charset="0"/>
              </a:rPr>
              <a:t>Weather of 'Monday' is 'rainy'</a:t>
            </a:r>
          </a:p>
          <a:p>
            <a:pPr marL="0" indent="0">
              <a:spcBef>
                <a:spcPts val="300"/>
              </a:spcBef>
              <a:buNone/>
            </a:pPr>
            <a:r>
              <a:rPr lang="en-US" altLang="zh-CN" sz="1350" dirty="0">
                <a:solidFill>
                  <a:srgbClr val="0000FF"/>
                </a:solidFill>
                <a:latin typeface="Consolas" panose="020B0609020204030204" charset="0"/>
              </a:rPr>
              <a:t>Weather of 'Tuesday' is 'sunny'</a:t>
            </a:r>
          </a:p>
          <a:p>
            <a:pPr marL="0" indent="0">
              <a:spcBef>
                <a:spcPts val="300"/>
              </a:spcBef>
              <a:buNone/>
            </a:pPr>
            <a:r>
              <a:rPr lang="en-US" altLang="zh-CN" sz="1350" dirty="0">
                <a:solidFill>
                  <a:srgbClr val="0000FF"/>
                </a:solidFill>
                <a:latin typeface="Consolas" panose="020B0609020204030204" charset="0"/>
              </a:rPr>
              <a:t>Weather of 'Wednesday' is 'sunny'</a:t>
            </a:r>
          </a:p>
          <a:p>
            <a:pPr marL="0" indent="0">
              <a:spcBef>
                <a:spcPts val="300"/>
              </a:spcBef>
              <a:buNone/>
            </a:pPr>
            <a:r>
              <a:rPr lang="en-US" altLang="zh-CN" sz="1350" dirty="0">
                <a:solidFill>
                  <a:srgbClr val="0000FF"/>
                </a:solidFill>
                <a:latin typeface="Consolas" panose="020B0609020204030204" charset="0"/>
              </a:rPr>
              <a:t>Weather of 'Thursday' is 'rainy'</a:t>
            </a:r>
          </a:p>
          <a:p>
            <a:pPr marL="0" indent="0">
              <a:spcBef>
                <a:spcPts val="300"/>
              </a:spcBef>
              <a:buNone/>
            </a:pPr>
            <a:r>
              <a:rPr lang="en-US" altLang="zh-CN" sz="1350" dirty="0">
                <a:solidFill>
                  <a:srgbClr val="0000FF"/>
                </a:solidFill>
                <a:latin typeface="Consolas" panose="020B0609020204030204" charset="0"/>
              </a:rPr>
              <a:t>Weather of 'Friday' is 'cloudy'</a:t>
            </a:r>
          </a:p>
        </p:txBody>
      </p:sp>
      <p:grpSp>
        <p:nvGrpSpPr>
          <p:cNvPr id="2" name="组合 1"/>
          <p:cNvGrpSpPr/>
          <p:nvPr/>
        </p:nvGrpSpPr>
        <p:grpSpPr>
          <a:xfrm>
            <a:off x="3550791" y="2481991"/>
            <a:ext cx="3694196" cy="883427"/>
            <a:chOff x="3550791" y="2481991"/>
            <a:chExt cx="3694196" cy="883427"/>
          </a:xfrm>
        </p:grpSpPr>
        <p:sp>
          <p:nvSpPr>
            <p:cNvPr id="6" name="右大括号 5"/>
            <p:cNvSpPr/>
            <p:nvPr/>
          </p:nvSpPr>
          <p:spPr>
            <a:xfrm>
              <a:off x="4355009" y="2481991"/>
              <a:ext cx="145282" cy="344151"/>
            </a:xfrm>
            <a:prstGeom prst="rightBrace">
              <a:avLst/>
            </a:prstGeom>
            <a:ln w="317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fontAlgn="base"/>
              <a:endParaRPr lang="zh-CN" altLang="en-US" sz="100" noProof="1"/>
            </a:p>
          </p:txBody>
        </p:sp>
        <p:sp>
          <p:nvSpPr>
            <p:cNvPr id="7" name="右大括号 6"/>
            <p:cNvSpPr/>
            <p:nvPr/>
          </p:nvSpPr>
          <p:spPr>
            <a:xfrm>
              <a:off x="3550791" y="3022458"/>
              <a:ext cx="145282" cy="342960"/>
            </a:xfrm>
            <a:prstGeom prst="rightBrace">
              <a:avLst/>
            </a:prstGeom>
            <a:ln w="317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fontAlgn="base"/>
              <a:endParaRPr lang="zh-CN" altLang="en-US" sz="100" noProof="1"/>
            </a:p>
          </p:txBody>
        </p:sp>
        <p:sp>
          <p:nvSpPr>
            <p:cNvPr id="8" name="文本框 4"/>
            <p:cNvSpPr txBox="1"/>
            <p:nvPr/>
          </p:nvSpPr>
          <p:spPr>
            <a:xfrm>
              <a:off x="6401877" y="2868782"/>
              <a:ext cx="843110" cy="306705"/>
            </a:xfrm>
            <a:prstGeom prst="rect">
              <a:avLst/>
            </a:prstGeom>
            <a:noFill/>
            <a:ln w="41275" cap="flat" cmpd="sng">
              <a:solidFill>
                <a:schemeClr val="accent1"/>
              </a:solidFill>
              <a:prstDash val="solid"/>
              <a:round/>
              <a:headEnd type="none" w="med" len="med"/>
              <a:tailEnd type="none" w="med" len="med"/>
            </a:ln>
          </p:spPr>
          <p:txBody>
            <a:bodyPr wrap="square" anchor="t">
              <a:spAutoFit/>
            </a:bodyPr>
            <a:lstStyle/>
            <a:p>
              <a:r>
                <a:rPr lang="zh-CN" altLang="en-US" sz="1400">
                  <a:latin typeface="Arial" panose="020B0604020202020204" pitchFamily="34" charset="0"/>
                  <a:ea typeface="宋体" panose="02010600030101010101" pitchFamily="2" charset="-122"/>
                </a:rPr>
                <a:t>等价</a:t>
              </a:r>
            </a:p>
          </p:txBody>
        </p:sp>
        <p:cxnSp>
          <p:nvCxnSpPr>
            <p:cNvPr id="9" name="直接箭头连接符 8"/>
            <p:cNvCxnSpPr>
              <a:stCxn id="8" idx="1"/>
              <a:endCxn id="6" idx="1"/>
            </p:cNvCxnSpPr>
            <p:nvPr/>
          </p:nvCxnSpPr>
          <p:spPr>
            <a:xfrm flipH="1" flipV="1">
              <a:off x="4499992" y="2654201"/>
              <a:ext cx="1901825" cy="368300"/>
            </a:xfrm>
            <a:prstGeom prst="straightConnector1">
              <a:avLst/>
            </a:prstGeom>
            <a:ln w="41275">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stCxn id="8" idx="1"/>
              <a:endCxn id="7" idx="1"/>
            </p:cNvCxnSpPr>
            <p:nvPr/>
          </p:nvCxnSpPr>
          <p:spPr>
            <a:xfrm flipH="1">
              <a:off x="3696082" y="3022501"/>
              <a:ext cx="2705735" cy="171450"/>
            </a:xfrm>
            <a:prstGeom prst="straightConnector1">
              <a:avLst/>
            </a:prstGeom>
            <a:ln w="41275">
              <a:tailEnd type="arrow"/>
            </a:ln>
          </p:spPr>
          <p:style>
            <a:lnRef idx="1">
              <a:schemeClr val="accent1"/>
            </a:lnRef>
            <a:fillRef idx="0">
              <a:schemeClr val="accent1"/>
            </a:fillRef>
            <a:effectRef idx="0">
              <a:schemeClr val="accent1"/>
            </a:effectRef>
            <a:fontRef idx="minor">
              <a:schemeClr val="tx1"/>
            </a:fontRef>
          </p:style>
        </p:cxnSp>
      </p:grpSp>
      <p:grpSp>
        <p:nvGrpSpPr>
          <p:cNvPr id="12" name="组合 114"/>
          <p:cNvGrpSpPr/>
          <p:nvPr/>
        </p:nvGrpSpPr>
        <p:grpSpPr>
          <a:xfrm>
            <a:off x="-540568" y="116632"/>
            <a:ext cx="6225040" cy="662730"/>
            <a:chOff x="-198275" y="3380765"/>
            <a:chExt cx="6225040" cy="662730"/>
          </a:xfrm>
        </p:grpSpPr>
        <p:grpSp>
          <p:nvGrpSpPr>
            <p:cNvPr id="13" name="组合 105"/>
            <p:cNvGrpSpPr/>
            <p:nvPr/>
          </p:nvGrpSpPr>
          <p:grpSpPr>
            <a:xfrm>
              <a:off x="-198275" y="3380765"/>
              <a:ext cx="6225040" cy="662730"/>
              <a:chOff x="-198275" y="3380765"/>
              <a:chExt cx="6225040" cy="662730"/>
            </a:xfrm>
          </p:grpSpPr>
          <p:sp>
            <p:nvSpPr>
              <p:cNvPr id="15"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6"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14" name="图片 13"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7" name="文本框 16"/>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4.1.2 </a:t>
            </a:r>
            <a:r>
              <a:rPr lang="zh-CN" altLang="en-US" sz="2800" b="1" dirty="0">
                <a:latin typeface="Times New Roman" panose="02020603050405020304" pitchFamily="18" charset="0"/>
                <a:ea typeface="仿宋" panose="02010609060101010101" pitchFamily="49" charset="-122"/>
              </a:rPr>
              <a:t>字符</a:t>
            </a:r>
            <a:r>
              <a:rPr lang="zh-CN" altLang="en-US" sz="2800" b="1" dirty="0">
                <a:ea typeface="仿宋" panose="02010609060101010101" pitchFamily="49" charset="-122"/>
              </a:rPr>
              <a:t>串格式化</a:t>
            </a:r>
            <a:endParaRPr lang="en-US" altLang="zh-CN" sz="2800" b="1" dirty="0">
              <a:ea typeface="仿宋" panose="02010609060101010101" pitchFamily="49" charset="-122"/>
            </a:endParaRPr>
          </a:p>
        </p:txBody>
      </p:sp>
    </p:spTree>
    <p:extLst>
      <p:ext uri="{BB962C8B-B14F-4D97-AF65-F5344CB8AC3E}">
        <p14:creationId xmlns:p14="http://schemas.microsoft.com/office/powerpoint/2010/main" val="1464116635"/>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11" end="1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xEl>
                                              <p:pRg st="12" end="1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
                                            <p:txEl>
                                              <p:pRg st="13" end="1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19</a:t>
            </a:fld>
            <a:endParaRPr lang="zh-CN" altLang="en-US" dirty="0"/>
          </a:p>
        </p:txBody>
      </p:sp>
      <p:sp>
        <p:nvSpPr>
          <p:cNvPr id="5" name="Content Placeholder 2"/>
          <p:cNvSpPr txBox="1"/>
          <p:nvPr/>
        </p:nvSpPr>
        <p:spPr bwMode="auto">
          <a:xfrm>
            <a:off x="591594" y="1561298"/>
            <a:ext cx="8757920" cy="339534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600"/>
              </a:spcBef>
              <a:buClr>
                <a:srgbClr val="FF0000"/>
              </a:buClr>
              <a:buFont typeface="Wingdings" panose="05000000000000000000" charset="0"/>
              <a:buChar char=""/>
            </a:pPr>
            <a:r>
              <a:rPr lang="en-US" sz="2000" noProof="1">
                <a:latin typeface="+mn-ea"/>
              </a:rPr>
              <a:t>从Python 3.6.x开始支持一种新的字符串格式化方式，官方叫做</a:t>
            </a:r>
            <a:r>
              <a:rPr lang="en-US" sz="2000" noProof="1">
                <a:solidFill>
                  <a:srgbClr val="FF0000"/>
                </a:solidFill>
                <a:latin typeface="+mn-ea"/>
              </a:rPr>
              <a:t>Formatted String Literals</a:t>
            </a:r>
            <a:r>
              <a:rPr lang="en-US" sz="2000" noProof="1">
                <a:latin typeface="+mn-ea"/>
              </a:rPr>
              <a:t>，</a:t>
            </a:r>
            <a:r>
              <a:rPr lang="zh-CN" altLang="en-US" sz="2000" noProof="1">
                <a:latin typeface="+mn-ea"/>
              </a:rPr>
              <a:t>在</a:t>
            </a:r>
            <a:r>
              <a:rPr lang="zh-CN" altLang="en-US" sz="2000" noProof="1">
                <a:solidFill>
                  <a:srgbClr val="FF0000"/>
                </a:solidFill>
                <a:latin typeface="+mn-ea"/>
              </a:rPr>
              <a:t>字符串前加字母</a:t>
            </a:r>
            <a:r>
              <a:rPr lang="en-US" altLang="zh-CN" sz="2000" noProof="1">
                <a:solidFill>
                  <a:srgbClr val="FF0000"/>
                </a:solidFill>
                <a:latin typeface="+mn-ea"/>
              </a:rPr>
              <a:t>f</a:t>
            </a:r>
            <a:r>
              <a:rPr lang="zh-CN" altLang="en-US" sz="2000" noProof="1">
                <a:latin typeface="+mn-ea"/>
              </a:rPr>
              <a:t>，</a:t>
            </a:r>
            <a:r>
              <a:rPr lang="en-US" sz="2000" noProof="1">
                <a:latin typeface="+mn-ea"/>
              </a:rPr>
              <a:t>含义与字符串对象format()方法类似</a:t>
            </a:r>
          </a:p>
          <a:p>
            <a:pPr marL="0" indent="0">
              <a:buFont typeface="Arial" panose="020B0604020202020204" pitchFamily="34" charset="0"/>
              <a:buNone/>
            </a:pPr>
            <a:r>
              <a:rPr lang="en-US" sz="1350" noProof="1">
                <a:latin typeface="Consolas" panose="020B0609020204030204" charset="0"/>
              </a:rPr>
              <a:t>&gt;&gt;&gt; name = '</a:t>
            </a:r>
            <a:r>
              <a:rPr lang="en-US" altLang="zh-CN" sz="1350" noProof="1">
                <a:latin typeface="Consolas" panose="020B0609020204030204" charset="0"/>
              </a:rPr>
              <a:t>Python</a:t>
            </a:r>
            <a:r>
              <a:rPr lang="en-US" sz="1350" noProof="1">
                <a:latin typeface="Consolas" panose="020B0609020204030204" charset="0"/>
              </a:rPr>
              <a:t>'</a:t>
            </a:r>
          </a:p>
          <a:p>
            <a:pPr marL="0" indent="0">
              <a:buFont typeface="Arial" panose="020B0604020202020204" pitchFamily="34" charset="0"/>
              <a:buNone/>
            </a:pPr>
            <a:r>
              <a:rPr lang="en-US" sz="1350" noProof="1">
                <a:latin typeface="Consolas" panose="020B0609020204030204" charset="0"/>
              </a:rPr>
              <a:t>&gt;&gt;&gt; age = </a:t>
            </a:r>
            <a:r>
              <a:rPr lang="en-US" altLang="zh-CN" sz="1350" noProof="1">
                <a:latin typeface="Consolas" panose="020B0609020204030204" charset="0"/>
              </a:rPr>
              <a:t>1</a:t>
            </a:r>
          </a:p>
          <a:p>
            <a:pPr marL="0" indent="0">
              <a:buFont typeface="Arial" panose="020B0604020202020204" pitchFamily="34" charset="0"/>
              <a:buNone/>
            </a:pPr>
            <a:r>
              <a:rPr lang="en-US" sz="1350" noProof="1">
                <a:latin typeface="Consolas" panose="020B0609020204030204" charset="0"/>
              </a:rPr>
              <a:t>&gt;&gt;&gt; f'My name is {name}, and I am {age} years old.'</a:t>
            </a:r>
          </a:p>
          <a:p>
            <a:pPr marL="0" indent="0">
              <a:buFont typeface="Arial" panose="020B0604020202020204" pitchFamily="34" charset="0"/>
              <a:buNone/>
            </a:pPr>
            <a:r>
              <a:rPr lang="en-US" sz="1350" noProof="1">
                <a:solidFill>
                  <a:srgbClr val="0000FF"/>
                </a:solidFill>
                <a:latin typeface="Consolas" panose="020B0609020204030204" charset="0"/>
              </a:rPr>
              <a:t>'My name is </a:t>
            </a:r>
            <a:r>
              <a:rPr lang="en-US" altLang="zh-CN" sz="1350" noProof="1">
                <a:solidFill>
                  <a:srgbClr val="0000FF"/>
                </a:solidFill>
                <a:latin typeface="Consolas" panose="020B0609020204030204" charset="0"/>
              </a:rPr>
              <a:t>Python</a:t>
            </a:r>
            <a:r>
              <a:rPr lang="en-US" sz="1350" noProof="1">
                <a:solidFill>
                  <a:srgbClr val="0000FF"/>
                </a:solidFill>
                <a:latin typeface="Consolas" panose="020B0609020204030204" charset="0"/>
              </a:rPr>
              <a:t>, and I am </a:t>
            </a:r>
            <a:r>
              <a:rPr lang="en-US" altLang="zh-CN" sz="1350" noProof="1">
                <a:solidFill>
                  <a:srgbClr val="0000FF"/>
                </a:solidFill>
                <a:latin typeface="Consolas" panose="020B0609020204030204" charset="0"/>
              </a:rPr>
              <a:t>1</a:t>
            </a:r>
            <a:r>
              <a:rPr lang="en-US" sz="1350" noProof="1">
                <a:solidFill>
                  <a:srgbClr val="0000FF"/>
                </a:solidFill>
                <a:latin typeface="Consolas" panose="020B0609020204030204" charset="0"/>
              </a:rPr>
              <a:t> years old.'</a:t>
            </a:r>
          </a:p>
          <a:p>
            <a:pPr marL="0" indent="0">
              <a:buFont typeface="Arial" panose="020B0604020202020204" pitchFamily="34" charset="0"/>
              <a:buNone/>
            </a:pPr>
            <a:r>
              <a:rPr lang="en-US" sz="1350" noProof="1">
                <a:latin typeface="Consolas" panose="020B0609020204030204" charset="0"/>
              </a:rPr>
              <a:t>&gt;&gt;&gt; width = 10</a:t>
            </a:r>
          </a:p>
          <a:p>
            <a:pPr marL="0" indent="0">
              <a:buFont typeface="Arial" panose="020B0604020202020204" pitchFamily="34" charset="0"/>
              <a:buNone/>
            </a:pPr>
            <a:r>
              <a:rPr lang="en-US" sz="1350" noProof="1">
                <a:latin typeface="Consolas" panose="020B0609020204030204" charset="0"/>
              </a:rPr>
              <a:t>&gt;&gt;&gt; precision = 4</a:t>
            </a:r>
          </a:p>
          <a:p>
            <a:pPr marL="0" indent="0">
              <a:buFont typeface="Arial" panose="020B0604020202020204" pitchFamily="34" charset="0"/>
              <a:buNone/>
            </a:pPr>
            <a:r>
              <a:rPr lang="en-US" sz="1350" noProof="1">
                <a:latin typeface="Consolas" panose="020B0609020204030204" charset="0"/>
              </a:rPr>
              <a:t>&gt;&gt;&gt; value = 11/3</a:t>
            </a:r>
          </a:p>
          <a:p>
            <a:pPr marL="0" indent="0">
              <a:buFont typeface="Arial" panose="020B0604020202020204" pitchFamily="34" charset="0"/>
              <a:buNone/>
            </a:pPr>
            <a:r>
              <a:rPr lang="en-US" sz="1350" noProof="1">
                <a:latin typeface="Consolas" panose="020B0609020204030204" charset="0"/>
              </a:rPr>
              <a:t>&gt;&gt;&gt; f'result:{value:{width}.{precision}}'</a:t>
            </a:r>
          </a:p>
          <a:p>
            <a:pPr marL="0" indent="0">
              <a:buFont typeface="Arial" panose="020B0604020202020204" pitchFamily="34" charset="0"/>
              <a:buNone/>
            </a:pPr>
            <a:r>
              <a:rPr lang="en-US" sz="1350" noProof="1">
                <a:solidFill>
                  <a:srgbClr val="0000FF"/>
                </a:solidFill>
                <a:latin typeface="Consolas" panose="020B0609020204030204" charset="0"/>
              </a:rPr>
              <a:t>'result:     3.667' </a:t>
            </a:r>
          </a:p>
        </p:txBody>
      </p:sp>
      <p:grpSp>
        <p:nvGrpSpPr>
          <p:cNvPr id="6" name="组合 114"/>
          <p:cNvGrpSpPr/>
          <p:nvPr/>
        </p:nvGrpSpPr>
        <p:grpSpPr>
          <a:xfrm>
            <a:off x="-540568" y="116632"/>
            <a:ext cx="6225040" cy="662730"/>
            <a:chOff x="-198275" y="3380765"/>
            <a:chExt cx="6225040" cy="662730"/>
          </a:xfrm>
        </p:grpSpPr>
        <p:grpSp>
          <p:nvGrpSpPr>
            <p:cNvPr id="7" name="组合 105"/>
            <p:cNvGrpSpPr/>
            <p:nvPr/>
          </p:nvGrpSpPr>
          <p:grpSpPr>
            <a:xfrm>
              <a:off x="-198275" y="3380765"/>
              <a:ext cx="6225040" cy="662730"/>
              <a:chOff x="-198275"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1" name="文本框 10"/>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4.1.2 </a:t>
            </a:r>
            <a:r>
              <a:rPr lang="zh-CN" altLang="en-US" sz="2800" b="1" dirty="0">
                <a:latin typeface="Times New Roman" panose="02020603050405020304" pitchFamily="18" charset="0"/>
                <a:ea typeface="仿宋" panose="02010609060101010101" pitchFamily="49" charset="-122"/>
              </a:rPr>
              <a:t>字符</a:t>
            </a:r>
            <a:r>
              <a:rPr lang="zh-CN" altLang="en-US" sz="2800" b="1" dirty="0">
                <a:ea typeface="仿宋" panose="02010609060101010101" pitchFamily="49" charset="-122"/>
              </a:rPr>
              <a:t>串格式化</a:t>
            </a:r>
            <a:endParaRPr lang="en-US" altLang="zh-CN" sz="2800" b="1" dirty="0">
              <a:ea typeface="仿宋" panose="02010609060101010101" pitchFamily="49" charset="-122"/>
            </a:endParaRPr>
          </a:p>
        </p:txBody>
      </p:sp>
      <p:sp>
        <p:nvSpPr>
          <p:cNvPr id="2" name="文本框 1"/>
          <p:cNvSpPr txBox="1"/>
          <p:nvPr/>
        </p:nvSpPr>
        <p:spPr>
          <a:xfrm>
            <a:off x="5828583" y="2492896"/>
            <a:ext cx="2723823" cy="369332"/>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r>
              <a:rPr lang="zh-CN" altLang="en-US" dirty="0"/>
              <a:t>不能受</a:t>
            </a:r>
            <a:r>
              <a:rPr lang="en-US" altLang="zh-CN" dirty="0"/>
              <a:t>precision</a:t>
            </a:r>
            <a:r>
              <a:rPr lang="zh-CN" altLang="en-US" dirty="0"/>
              <a:t>单词影响</a:t>
            </a:r>
          </a:p>
        </p:txBody>
      </p:sp>
      <p:pic>
        <p:nvPicPr>
          <p:cNvPr id="12" name="图片 11"/>
          <p:cNvPicPr>
            <a:picLocks noChangeAspect="1"/>
          </p:cNvPicPr>
          <p:nvPr/>
        </p:nvPicPr>
        <p:blipFill>
          <a:blip r:embed="rId4"/>
          <a:stretch>
            <a:fillRect/>
          </a:stretch>
        </p:blipFill>
        <p:spPr>
          <a:xfrm>
            <a:off x="5508104" y="3140968"/>
            <a:ext cx="3240360" cy="3106342"/>
          </a:xfrm>
          <a:prstGeom prst="rect">
            <a:avLst/>
          </a:prstGeom>
        </p:spPr>
      </p:pic>
      <p:pic>
        <p:nvPicPr>
          <p:cNvPr id="14" name="图片 13"/>
          <p:cNvPicPr>
            <a:picLocks noChangeAspect="1"/>
          </p:cNvPicPr>
          <p:nvPr/>
        </p:nvPicPr>
        <p:blipFill>
          <a:blip r:embed="rId5"/>
          <a:stretch>
            <a:fillRect/>
          </a:stretch>
        </p:blipFill>
        <p:spPr>
          <a:xfrm>
            <a:off x="682504" y="4483189"/>
            <a:ext cx="3025399" cy="2096855"/>
          </a:xfrm>
          <a:prstGeom prst="rect">
            <a:avLst/>
          </a:prstGeom>
        </p:spPr>
      </p:pic>
      <p:grpSp>
        <p:nvGrpSpPr>
          <p:cNvPr id="3" name="组合 2"/>
          <p:cNvGrpSpPr/>
          <p:nvPr/>
        </p:nvGrpSpPr>
        <p:grpSpPr>
          <a:xfrm>
            <a:off x="2536827" y="3236228"/>
            <a:ext cx="2852251" cy="695087"/>
            <a:chOff x="2536827" y="3236228"/>
            <a:chExt cx="2852251" cy="695087"/>
          </a:xfrm>
        </p:grpSpPr>
        <p:sp>
          <p:nvSpPr>
            <p:cNvPr id="15" name="文本框 14"/>
            <p:cNvSpPr txBox="1"/>
            <p:nvPr/>
          </p:nvSpPr>
          <p:spPr>
            <a:xfrm>
              <a:off x="3059832" y="3284984"/>
              <a:ext cx="2329246" cy="646331"/>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dirty="0"/>
                <a:t>为啥不显示为</a:t>
              </a:r>
              <a:r>
                <a:rPr lang="en-US" altLang="zh-CN" dirty="0"/>
                <a:t>3.6667 </a:t>
              </a:r>
              <a:r>
                <a:rPr lang="zh-CN" altLang="en-US" dirty="0"/>
                <a:t>而是 </a:t>
              </a:r>
              <a:r>
                <a:rPr lang="en-US" altLang="zh-CN" dirty="0"/>
                <a:t>3.667       </a:t>
              </a:r>
              <a:r>
                <a:rPr lang="zh-CN" altLang="en-US" dirty="0"/>
                <a:t>？</a:t>
              </a:r>
            </a:p>
          </p:txBody>
        </p:sp>
        <p:pic>
          <p:nvPicPr>
            <p:cNvPr id="16" name="图片 1"/>
            <p:cNvPicPr>
              <a:picLocks noChangeAspect="1" noChangeArrowheads="1"/>
            </p:cNvPicPr>
            <p:nvPr/>
          </p:nvPicPr>
          <p:blipFill>
            <a:blip r:embed="rId6" cstate="print">
              <a:clrChange>
                <a:clrFrom>
                  <a:srgbClr val="FDFDFD"/>
                </a:clrFrom>
                <a:clrTo>
                  <a:srgbClr val="FDFDFD">
                    <a:alpha val="0"/>
                  </a:srgbClr>
                </a:clrTo>
              </a:clrChange>
            </a:blip>
            <a:srcRect/>
            <a:stretch>
              <a:fillRect/>
            </a:stretch>
          </p:blipFill>
          <p:spPr bwMode="auto">
            <a:xfrm>
              <a:off x="2536827" y="3236228"/>
              <a:ext cx="513022" cy="596609"/>
            </a:xfrm>
            <a:prstGeom prst="rect">
              <a:avLst/>
            </a:prstGeom>
            <a:noFill/>
            <a:ln w="9525">
              <a:noFill/>
              <a:miter lim="800000"/>
              <a:headEnd/>
              <a:tailEnd/>
            </a:ln>
          </p:spPr>
        </p:pic>
      </p:grpSp>
    </p:spTree>
    <p:extLst>
      <p:ext uri="{BB962C8B-B14F-4D97-AF65-F5344CB8AC3E}">
        <p14:creationId xmlns:p14="http://schemas.microsoft.com/office/powerpoint/2010/main" val="49783012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anim calcmode="lin" valueType="num">
                                      <p:cBhvr additive="base">
                                        <p:cTn id="3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20</a:t>
            </a:fld>
            <a:endParaRPr lang="zh-CN" altLang="en-US" dirty="0"/>
          </a:p>
        </p:txBody>
      </p:sp>
      <p:graphicFrame>
        <p:nvGraphicFramePr>
          <p:cNvPr id="5" name="表格 4"/>
          <p:cNvGraphicFramePr>
            <a:graphicFrameLocks noGrp="1"/>
          </p:cNvGraphicFramePr>
          <p:nvPr>
            <p:extLst/>
          </p:nvPr>
        </p:nvGraphicFramePr>
        <p:xfrm>
          <a:off x="773636" y="1431126"/>
          <a:ext cx="7454016" cy="4810986"/>
        </p:xfrm>
        <a:graphic>
          <a:graphicData uri="http://schemas.openxmlformats.org/drawingml/2006/table">
            <a:tbl>
              <a:tblPr/>
              <a:tblGrid>
                <a:gridCol w="3408838">
                  <a:extLst>
                    <a:ext uri="{9D8B030D-6E8A-4147-A177-3AD203B41FA5}">
                      <a16:colId xmlns:a16="http://schemas.microsoft.com/office/drawing/2014/main" val="20000"/>
                    </a:ext>
                  </a:extLst>
                </a:gridCol>
                <a:gridCol w="4045178">
                  <a:extLst>
                    <a:ext uri="{9D8B030D-6E8A-4147-A177-3AD203B41FA5}">
                      <a16:colId xmlns:a16="http://schemas.microsoft.com/office/drawing/2014/main" val="20001"/>
                    </a:ext>
                  </a:extLst>
                </a:gridCol>
              </a:tblGrid>
              <a:tr h="33480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rPr>
                        <a:t>操作</a:t>
                      </a:r>
                    </a:p>
                  </a:txBody>
                  <a:tcPr marL="91444" marR="91444" marT="45707" marB="45707" horzOverflow="overflow">
                    <a:lnL>
                      <a:noFill/>
                    </a:lnL>
                    <a:lnR>
                      <a:noFill/>
                    </a:lnR>
                    <a:lnT>
                      <a:noFill/>
                    </a:lnT>
                    <a:lnB>
                      <a:noFill/>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rPr>
                        <a:t>含义</a:t>
                      </a:r>
                    </a:p>
                  </a:txBody>
                  <a:tcPr marL="91444" marR="91444" marT="45707" marB="45707" horzOverflow="overflow">
                    <a:lnL>
                      <a:noFill/>
                    </a:lnL>
                    <a:lnR>
                      <a:noFill/>
                    </a:lnR>
                    <a:lnT>
                      <a:noFill/>
                    </a:lnT>
                    <a:lnB>
                      <a:noFill/>
                    </a:lnB>
                    <a:lnTlToBr>
                      <a:noFill/>
                    </a:lnTlToBr>
                    <a:lnBlToTr>
                      <a:noFill/>
                    </a:lnBlToTr>
                    <a:solidFill>
                      <a:schemeClr val="accent2"/>
                    </a:solid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a:t>
                      </a:r>
                    </a:p>
                  </a:txBody>
                  <a:tcPr marL="91444" marR="91444" marT="45707" marB="45707" horzOverflow="overflow">
                    <a:lnL>
                      <a:noFill/>
                    </a:lnL>
                    <a:lnR>
                      <a:noFill/>
                    </a:lnR>
                    <a:lnT>
                      <a:noFill/>
                    </a:lnT>
                    <a:lnB>
                      <a:noFill/>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连接</a:t>
                      </a:r>
                    </a:p>
                  </a:txBody>
                  <a:tcPr marL="91444" marR="91444" marT="45707" marB="45707" horzOverflow="overflow">
                    <a:lnL>
                      <a:noFill/>
                    </a:lnL>
                    <a:lnR>
                      <a:noFill/>
                    </a:lnR>
                    <a:lnT>
                      <a:noFill/>
                    </a:lnT>
                    <a:lnB>
                      <a:noFill/>
                    </a:lnB>
                    <a:lnTlToBr>
                      <a:noFill/>
                    </a:lnTlToBr>
                    <a:lnBlToTr>
                      <a:noFill/>
                    </a:lnBlToTr>
                    <a:solidFill>
                      <a:srgbClr val="E7F3F4"/>
                    </a:solidFill>
                  </a:tcPr>
                </a:tc>
                <a:extLst>
                  <a:ext uri="{0D108BD9-81ED-4DB2-BD59-A6C34878D82A}">
                    <a16:rowId xmlns:a16="http://schemas.microsoft.com/office/drawing/2014/main" val="10001"/>
                  </a:ext>
                </a:extLst>
              </a:tr>
              <a:tr h="27900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a:t>
                      </a:r>
                    </a:p>
                  </a:txBody>
                  <a:tcPr marL="91444" marR="91444" marT="45707" marB="45707" horzOverflow="overflow">
                    <a:lnL>
                      <a:noFill/>
                    </a:lnL>
                    <a:lnR>
                      <a:noFill/>
                    </a:lnR>
                    <a:lnT>
                      <a:noFill/>
                    </a:lnT>
                    <a:lnB>
                      <a:noFill/>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重复</a:t>
                      </a:r>
                    </a:p>
                  </a:txBody>
                  <a:tcPr marL="91444" marR="91444" marT="45707" marB="45707" horzOverflow="overflow">
                    <a:lnL>
                      <a:noFill/>
                    </a:lnL>
                    <a:lnR>
                      <a:noFill/>
                    </a:lnR>
                    <a:lnT>
                      <a:noFill/>
                    </a:lnT>
                    <a:lnB>
                      <a:noFill/>
                    </a:lnB>
                    <a:lnTlToBr>
                      <a:noFill/>
                    </a:lnTlToBr>
                    <a:lnBlToTr>
                      <a:noFill/>
                    </a:lnBlToTr>
                    <a:solidFill>
                      <a:srgbClr val="F3F9FA"/>
                    </a:solidFill>
                  </a:tcPr>
                </a:tc>
                <a:extLst>
                  <a:ext uri="{0D108BD9-81ED-4DB2-BD59-A6C34878D82A}">
                    <a16:rowId xmlns:a16="http://schemas.microsoft.com/office/drawing/2014/main" val="10002"/>
                  </a:ext>
                </a:extLst>
              </a:tr>
              <a:tr h="27900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&lt;string&gt;[ ]</a:t>
                      </a:r>
                      <a:r>
                        <a:rPr kumimoji="0" lang="zh-CN" altLang="en-US"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a:t>
                      </a:r>
                      <a:r>
                        <a:rPr kumimoji="0" lang="en-US" altLang="zh-CN"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index(), </a:t>
                      </a:r>
                      <a:r>
                        <a:rPr kumimoji="0" lang="en-US" altLang="zh-CN" sz="1200" b="1" i="0" u="none" strike="noStrike" cap="none" normalizeH="0" baseline="0" dirty="0" err="1">
                          <a:ln>
                            <a:noFill/>
                          </a:ln>
                          <a:solidFill>
                            <a:srgbClr val="000000"/>
                          </a:solidFill>
                          <a:effectLst/>
                          <a:latin typeface="微软雅黑" panose="020B0503020204020204" pitchFamily="34" charset="-122"/>
                          <a:ea typeface="微软雅黑" panose="020B0503020204020204" pitchFamily="34" charset="-122"/>
                        </a:rPr>
                        <a:t>rindex</a:t>
                      </a:r>
                      <a:r>
                        <a:rPr kumimoji="0" lang="en-US" altLang="zh-CN"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a:t>
                      </a:r>
                    </a:p>
                  </a:txBody>
                  <a:tcPr marL="91444" marR="91444" marT="45707" marB="45707" horzOverflow="overflow">
                    <a:lnL>
                      <a:noFill/>
                    </a:lnL>
                    <a:lnR>
                      <a:noFill/>
                    </a:lnR>
                    <a:lnT>
                      <a:noFill/>
                    </a:lnT>
                    <a:lnB>
                      <a:noFill/>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索引</a:t>
                      </a:r>
                    </a:p>
                  </a:txBody>
                  <a:tcPr marL="91444" marR="91444" marT="45707" marB="45707" horzOverflow="overflow">
                    <a:lnL>
                      <a:noFill/>
                    </a:lnL>
                    <a:lnR>
                      <a:noFill/>
                    </a:lnR>
                    <a:lnT>
                      <a:noFill/>
                    </a:lnT>
                    <a:lnB>
                      <a:noFill/>
                    </a:lnB>
                    <a:lnTlToBr>
                      <a:noFill/>
                    </a:lnTlToBr>
                    <a:lnBlToTr>
                      <a:noFill/>
                    </a:lnBlToTr>
                    <a:solidFill>
                      <a:srgbClr val="E7F3F4"/>
                    </a:solidFill>
                  </a:tcPr>
                </a:tc>
                <a:extLst>
                  <a:ext uri="{0D108BD9-81ED-4DB2-BD59-A6C34878D82A}">
                    <a16:rowId xmlns:a16="http://schemas.microsoft.com/office/drawing/2014/main" val="10003"/>
                  </a:ext>
                </a:extLst>
              </a:tr>
              <a:tr h="27900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&lt;string&gt;[ : ]</a:t>
                      </a:r>
                    </a:p>
                  </a:txBody>
                  <a:tcPr marL="91444" marR="91444" marT="45707" marB="45707" horzOverflow="overflow">
                    <a:lnL>
                      <a:noFill/>
                    </a:lnL>
                    <a:lnR>
                      <a:noFill/>
                    </a:lnR>
                    <a:lnT>
                      <a:noFill/>
                    </a:lnT>
                    <a:lnB>
                      <a:noFill/>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剪切</a:t>
                      </a:r>
                    </a:p>
                  </a:txBody>
                  <a:tcPr marL="91444" marR="91444" marT="45707" marB="45707" horzOverflow="overflow">
                    <a:lnL>
                      <a:noFill/>
                    </a:lnL>
                    <a:lnR>
                      <a:noFill/>
                    </a:lnR>
                    <a:lnT>
                      <a:noFill/>
                    </a:lnT>
                    <a:lnB>
                      <a:noFill/>
                    </a:lnB>
                    <a:lnTlToBr>
                      <a:noFill/>
                    </a:lnTlToBr>
                    <a:lnBlToTr>
                      <a:noFill/>
                    </a:lnBlToTr>
                    <a:solidFill>
                      <a:srgbClr val="F3F9FA"/>
                    </a:solidFill>
                  </a:tcPr>
                </a:tc>
                <a:extLst>
                  <a:ext uri="{0D108BD9-81ED-4DB2-BD59-A6C34878D82A}">
                    <a16:rowId xmlns:a16="http://schemas.microsoft.com/office/drawing/2014/main" val="10004"/>
                  </a:ext>
                </a:extLst>
              </a:tr>
              <a:tr h="27900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err="1">
                          <a:ln>
                            <a:noFill/>
                          </a:ln>
                          <a:solidFill>
                            <a:srgbClr val="000000"/>
                          </a:solidFill>
                          <a:effectLst/>
                          <a:latin typeface="微软雅黑" panose="020B0503020204020204" pitchFamily="34" charset="-122"/>
                          <a:ea typeface="微软雅黑" panose="020B0503020204020204" pitchFamily="34" charset="-122"/>
                        </a:rPr>
                        <a:t>len</a:t>
                      </a:r>
                      <a:r>
                        <a:rPr kumimoji="0" lang="en-US" altLang="zh-CN"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(&lt;string&gt;)</a:t>
                      </a:r>
                    </a:p>
                  </a:txBody>
                  <a:tcPr marL="91444" marR="91444" marT="45707" marB="45707" horzOverflow="overflow">
                    <a:lnL>
                      <a:noFill/>
                    </a:lnL>
                    <a:lnR>
                      <a:noFill/>
                    </a:lnR>
                    <a:lnT>
                      <a:noFill/>
                    </a:lnT>
                    <a:lnB>
                      <a:noFill/>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长度</a:t>
                      </a:r>
                    </a:p>
                  </a:txBody>
                  <a:tcPr marL="91444" marR="91444" marT="45707" marB="45707" horzOverflow="overflow">
                    <a:lnL>
                      <a:noFill/>
                    </a:lnL>
                    <a:lnR>
                      <a:noFill/>
                    </a:lnR>
                    <a:lnT>
                      <a:noFill/>
                    </a:lnT>
                    <a:lnB>
                      <a:noFill/>
                    </a:lnB>
                    <a:lnTlToBr>
                      <a:noFill/>
                    </a:lnTlToBr>
                    <a:lnBlToTr>
                      <a:noFill/>
                    </a:lnBlToTr>
                    <a:solidFill>
                      <a:srgbClr val="E7F3F4"/>
                    </a:solidFill>
                  </a:tcPr>
                </a:tc>
                <a:extLst>
                  <a:ext uri="{0D108BD9-81ED-4DB2-BD59-A6C34878D82A}">
                    <a16:rowId xmlns:a16="http://schemas.microsoft.com/office/drawing/2014/main" val="10005"/>
                  </a:ext>
                </a:extLst>
              </a:tr>
              <a:tr h="27900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upper(), lower()</a:t>
                      </a:r>
                    </a:p>
                  </a:txBody>
                  <a:tcPr marL="91444" marR="91444" marT="45707" marB="45707" horzOverflow="overflow">
                    <a:lnL>
                      <a:noFill/>
                    </a:lnL>
                    <a:lnR>
                      <a:noFill/>
                    </a:lnR>
                    <a:lnT>
                      <a:noFill/>
                    </a:lnT>
                    <a:lnB>
                      <a:noFill/>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字符串中字母大</a:t>
                      </a:r>
                      <a:r>
                        <a:rPr kumimoji="0" lang="en-US" altLang="zh-CN"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a:t>
                      </a:r>
                      <a:r>
                        <a:rPr kumimoji="0" lang="zh-CN" altLang="en-US"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小写</a:t>
                      </a:r>
                    </a:p>
                  </a:txBody>
                  <a:tcPr marL="91444" marR="91444" marT="45707" marB="45707" horzOverflow="overflow">
                    <a:lnL>
                      <a:noFill/>
                    </a:lnL>
                    <a:lnR>
                      <a:noFill/>
                    </a:lnR>
                    <a:lnT>
                      <a:noFill/>
                    </a:lnT>
                    <a:lnB>
                      <a:noFill/>
                    </a:lnB>
                    <a:lnTlToBr>
                      <a:noFill/>
                    </a:lnTlToBr>
                    <a:lnBlToTr>
                      <a:noFill/>
                    </a:lnBlToTr>
                    <a:solidFill>
                      <a:srgbClr val="F3F9FA"/>
                    </a:solidFill>
                  </a:tcPr>
                </a:tc>
                <a:extLst>
                  <a:ext uri="{0D108BD9-81ED-4DB2-BD59-A6C34878D82A}">
                    <a16:rowId xmlns:a16="http://schemas.microsoft.com/office/drawing/2014/main" val="10006"/>
                  </a:ext>
                </a:extLst>
              </a:tr>
              <a:tr h="279002">
                <a:tc>
                  <a:txBody>
                    <a:bodyPr/>
                    <a:lstStyle/>
                    <a:p>
                      <a:pPr algn="l">
                        <a:lnSpc>
                          <a:spcPct val="80000"/>
                        </a:lnSpc>
                        <a:buClr>
                          <a:srgbClr val="FF0000"/>
                        </a:buClr>
                        <a:buSzPct val="70000"/>
                        <a:buFont typeface="Wingdings" panose="05000000000000000000" charset="0"/>
                        <a:buNone/>
                      </a:pPr>
                      <a:r>
                        <a:rPr kumimoji="0" lang="zh-CN" altLang="en-US" sz="1200" b="1" i="0" u="none" strike="noStrike" kern="1200" cap="none" normalizeH="0" baseline="0" dirty="0">
                          <a:ln>
                            <a:noFill/>
                          </a:ln>
                          <a:solidFill>
                            <a:srgbClr val="000000"/>
                          </a:solidFill>
                          <a:effectLst/>
                          <a:latin typeface="微软雅黑" panose="020B0503020204020204" pitchFamily="34" charset="-122"/>
                          <a:ea typeface="微软雅黑" panose="020B0503020204020204" pitchFamily="34" charset="-122"/>
                          <a:cs typeface="+mn-cs"/>
                        </a:rPr>
                        <a:t>capitalize()、title()、swapcase()</a:t>
                      </a:r>
                    </a:p>
                  </a:txBody>
                  <a:tcPr marL="91444" marR="91444" marT="45707" marB="45707" horzOverflow="overflow">
                    <a:lnL>
                      <a:noFill/>
                    </a:lnL>
                    <a:lnR>
                      <a:noFill/>
                    </a:lnR>
                    <a:lnT>
                      <a:noFill/>
                    </a:lnT>
                    <a:lnB>
                      <a:noFill/>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首字母大写，每个单词首字母大写，大小写交换</a:t>
                      </a:r>
                    </a:p>
                  </a:txBody>
                  <a:tcPr marL="91444" marR="91444" marT="45707" marB="45707" horzOverflow="overflow">
                    <a:lnL>
                      <a:noFill/>
                    </a:lnL>
                    <a:lnR>
                      <a:noFill/>
                    </a:lnR>
                    <a:lnT>
                      <a:noFill/>
                    </a:lnT>
                    <a:lnB>
                      <a:noFill/>
                    </a:lnB>
                    <a:lnTlToBr>
                      <a:noFill/>
                    </a:lnTlToBr>
                    <a:lnBlToTr>
                      <a:noFill/>
                    </a:lnBlToTr>
                    <a:solidFill>
                      <a:srgbClr val="E7F3F4"/>
                    </a:solidFill>
                  </a:tcPr>
                </a:tc>
                <a:extLst>
                  <a:ext uri="{0D108BD9-81ED-4DB2-BD59-A6C34878D82A}">
                    <a16:rowId xmlns:a16="http://schemas.microsoft.com/office/drawing/2014/main" val="10007"/>
                  </a:ext>
                </a:extLst>
              </a:tr>
              <a:tr h="27900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strip()</a:t>
                      </a:r>
                    </a:p>
                  </a:txBody>
                  <a:tcPr marL="91444" marR="91444" marT="45707" marB="45707" horzOverflow="overflow">
                    <a:lnL>
                      <a:noFill/>
                    </a:lnL>
                    <a:lnR>
                      <a:noFill/>
                    </a:lnR>
                    <a:lnT>
                      <a:noFill/>
                    </a:lnT>
                    <a:lnB>
                      <a:noFill/>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去两边空格及去指定字符</a:t>
                      </a:r>
                    </a:p>
                  </a:txBody>
                  <a:tcPr marL="91444" marR="91444" marT="45707" marB="45707" horzOverflow="overflow">
                    <a:lnL>
                      <a:noFill/>
                    </a:lnL>
                    <a:lnR>
                      <a:noFill/>
                    </a:lnR>
                    <a:lnT>
                      <a:noFill/>
                    </a:lnT>
                    <a:lnB>
                      <a:noFill/>
                    </a:lnB>
                    <a:lnTlToBr>
                      <a:noFill/>
                    </a:lnTlToBr>
                    <a:lnBlToTr>
                      <a:noFill/>
                    </a:lnBlToTr>
                    <a:solidFill>
                      <a:srgbClr val="F3F9FA"/>
                    </a:solidFill>
                  </a:tcPr>
                </a:tc>
                <a:extLst>
                  <a:ext uri="{0D108BD9-81ED-4DB2-BD59-A6C34878D82A}">
                    <a16:rowId xmlns:a16="http://schemas.microsoft.com/office/drawing/2014/main" val="10008"/>
                  </a:ext>
                </a:extLst>
              </a:tr>
              <a:tr h="27900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split(), </a:t>
                      </a:r>
                      <a:r>
                        <a:rPr kumimoji="0" lang="en-US" altLang="zh-CN" sz="1200" b="1" i="0" u="none" strike="noStrike" cap="none" normalizeH="0" baseline="0" dirty="0" err="1">
                          <a:ln>
                            <a:noFill/>
                          </a:ln>
                          <a:solidFill>
                            <a:srgbClr val="000000"/>
                          </a:solidFill>
                          <a:effectLst/>
                          <a:latin typeface="微软雅黑" panose="020B0503020204020204" pitchFamily="34" charset="-122"/>
                          <a:ea typeface="微软雅黑" panose="020B0503020204020204" pitchFamily="34" charset="-122"/>
                        </a:rPr>
                        <a:t>rsplit</a:t>
                      </a:r>
                      <a:r>
                        <a:rPr kumimoji="0" lang="en-US" altLang="zh-CN"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 </a:t>
                      </a:r>
                      <a:r>
                        <a:rPr kumimoji="0" lang="en-US" altLang="zh-CN" sz="1200" b="1" i="0" u="none" strike="noStrike" cap="none" normalizeH="0" baseline="0" dirty="0" err="1">
                          <a:ln>
                            <a:noFill/>
                          </a:ln>
                          <a:solidFill>
                            <a:srgbClr val="000000"/>
                          </a:solidFill>
                          <a:effectLst/>
                          <a:latin typeface="微软雅黑" panose="020B0503020204020204" pitchFamily="34" charset="-122"/>
                          <a:ea typeface="微软雅黑" panose="020B0503020204020204" pitchFamily="34" charset="-122"/>
                        </a:rPr>
                        <a:t>lstrip</a:t>
                      </a:r>
                      <a:r>
                        <a:rPr kumimoji="0" lang="en-US" altLang="zh-CN"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a:t>
                      </a:r>
                    </a:p>
                  </a:txBody>
                  <a:tcPr marL="91444" marR="91444" marT="45707" marB="45707" horzOverflow="overflow">
                    <a:lnL>
                      <a:noFill/>
                    </a:lnL>
                    <a:lnR>
                      <a:noFill/>
                    </a:lnR>
                    <a:lnT>
                      <a:noFill/>
                    </a:lnT>
                    <a:lnB>
                      <a:noFill/>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按指定字符分割字符串为数组</a:t>
                      </a:r>
                    </a:p>
                  </a:txBody>
                  <a:tcPr marL="91444" marR="91444" marT="45707" marB="45707" horzOverflow="overflow">
                    <a:lnL>
                      <a:noFill/>
                    </a:lnL>
                    <a:lnR>
                      <a:noFill/>
                    </a:lnR>
                    <a:lnT>
                      <a:noFill/>
                    </a:lnT>
                    <a:lnB>
                      <a:noFill/>
                    </a:lnB>
                    <a:lnTlToBr>
                      <a:noFill/>
                    </a:lnTlToBr>
                    <a:lnBlToTr>
                      <a:noFill/>
                    </a:lnBlToTr>
                    <a:solidFill>
                      <a:srgbClr val="E7F3F4"/>
                    </a:solidFill>
                  </a:tcPr>
                </a:tc>
                <a:extLst>
                  <a:ext uri="{0D108BD9-81ED-4DB2-BD59-A6C34878D82A}">
                    <a16:rowId xmlns:a16="http://schemas.microsoft.com/office/drawing/2014/main" val="10009"/>
                  </a:ext>
                </a:extLst>
              </a:tr>
              <a:tr h="27900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join()</a:t>
                      </a:r>
                    </a:p>
                  </a:txBody>
                  <a:tcPr marL="91444" marR="91444" marT="45707" marB="45707" horzOverflow="overflow">
                    <a:lnL>
                      <a:noFill/>
                    </a:lnL>
                    <a:lnR>
                      <a:noFill/>
                    </a:lnR>
                    <a:lnT>
                      <a:noFill/>
                    </a:lnT>
                    <a:lnB>
                      <a:noFill/>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连接两个字符串序列</a:t>
                      </a:r>
                    </a:p>
                  </a:txBody>
                  <a:tcPr marL="91444" marR="91444" marT="45707" marB="45707" horzOverflow="overflow">
                    <a:lnL>
                      <a:noFill/>
                    </a:lnL>
                    <a:lnR>
                      <a:noFill/>
                    </a:lnR>
                    <a:lnT>
                      <a:noFill/>
                    </a:lnT>
                    <a:lnB>
                      <a:noFill/>
                    </a:lnB>
                    <a:lnTlToBr>
                      <a:noFill/>
                    </a:lnTlToBr>
                    <a:lnBlToTr>
                      <a:noFill/>
                    </a:lnBlToTr>
                    <a:solidFill>
                      <a:srgbClr val="F3F9FA"/>
                    </a:solidFill>
                  </a:tcPr>
                </a:tc>
                <a:extLst>
                  <a:ext uri="{0D108BD9-81ED-4DB2-BD59-A6C34878D82A}">
                    <a16:rowId xmlns:a16="http://schemas.microsoft.com/office/drawing/2014/main" val="10010"/>
                  </a:ext>
                </a:extLst>
              </a:tr>
              <a:tr h="27900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find(), </a:t>
                      </a:r>
                      <a:r>
                        <a:rPr kumimoji="0" lang="en-US" altLang="zh-CN" sz="1200" b="1" i="0" u="none" strike="noStrike" cap="none" normalizeH="0" baseline="0" dirty="0" err="1">
                          <a:ln>
                            <a:noFill/>
                          </a:ln>
                          <a:solidFill>
                            <a:srgbClr val="000000"/>
                          </a:solidFill>
                          <a:effectLst/>
                          <a:latin typeface="微软雅黑" panose="020B0503020204020204" pitchFamily="34" charset="-122"/>
                          <a:ea typeface="微软雅黑" panose="020B0503020204020204" pitchFamily="34" charset="-122"/>
                        </a:rPr>
                        <a:t>rfind</a:t>
                      </a:r>
                      <a:r>
                        <a:rPr kumimoji="0" lang="en-US" altLang="zh-CN"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a:t>
                      </a:r>
                    </a:p>
                  </a:txBody>
                  <a:tcPr marL="91444" marR="91444" marT="45707" marB="45707" horzOverflow="overflow">
                    <a:lnL>
                      <a:noFill/>
                    </a:lnL>
                    <a:lnR>
                      <a:noFill/>
                    </a:lnR>
                    <a:lnT>
                      <a:noFill/>
                    </a:lnT>
                    <a:lnB>
                      <a:noFill/>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搜索指定字符串</a:t>
                      </a:r>
                    </a:p>
                  </a:txBody>
                  <a:tcPr marL="91444" marR="91444" marT="45707" marB="45707" horzOverflow="overflow">
                    <a:lnL>
                      <a:noFill/>
                    </a:lnL>
                    <a:lnR>
                      <a:noFill/>
                    </a:lnR>
                    <a:lnT>
                      <a:noFill/>
                    </a:lnT>
                    <a:lnB>
                      <a:noFill/>
                    </a:lnB>
                    <a:lnTlToBr>
                      <a:noFill/>
                    </a:lnTlToBr>
                    <a:lnBlToTr>
                      <a:noFill/>
                    </a:lnBlToTr>
                    <a:solidFill>
                      <a:srgbClr val="E7F3F4"/>
                    </a:solidFill>
                  </a:tcPr>
                </a:tc>
                <a:extLst>
                  <a:ext uri="{0D108BD9-81ED-4DB2-BD59-A6C34878D82A}">
                    <a16:rowId xmlns:a16="http://schemas.microsoft.com/office/drawing/2014/main" val="10011"/>
                  </a:ext>
                </a:extLst>
              </a:tr>
              <a:tr h="27900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replace()</a:t>
                      </a:r>
                    </a:p>
                  </a:txBody>
                  <a:tcPr marL="91444" marR="91444" marT="45707" marB="45707" horzOverflow="overflow">
                    <a:lnL>
                      <a:noFill/>
                    </a:lnL>
                    <a:lnR>
                      <a:noFill/>
                    </a:lnR>
                    <a:lnT>
                      <a:noFill/>
                    </a:lnT>
                    <a:lnB>
                      <a:noFill/>
                    </a:lnB>
                    <a:lnTlToBr>
                      <a:noFill/>
                    </a:lnTlToBr>
                    <a:lnBlToTr>
                      <a:noFill/>
                    </a:lnBlToTr>
                    <a:solidFill>
                      <a:srgbClr val="F3F9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字符串替换</a:t>
                      </a:r>
                    </a:p>
                  </a:txBody>
                  <a:tcPr marL="91444" marR="91444" marT="45707" marB="45707" horzOverflow="overflow">
                    <a:lnL>
                      <a:noFill/>
                    </a:lnL>
                    <a:lnR>
                      <a:noFill/>
                    </a:lnR>
                    <a:lnT>
                      <a:noFill/>
                    </a:lnT>
                    <a:lnB>
                      <a:noFill/>
                    </a:lnB>
                    <a:lnTlToBr>
                      <a:noFill/>
                    </a:lnTlToBr>
                    <a:lnBlToTr>
                      <a:noFill/>
                    </a:lnBlToTr>
                    <a:solidFill>
                      <a:srgbClr val="F3F9FA"/>
                    </a:solidFill>
                  </a:tcPr>
                </a:tc>
                <a:extLst>
                  <a:ext uri="{0D108BD9-81ED-4DB2-BD59-A6C34878D82A}">
                    <a16:rowId xmlns:a16="http://schemas.microsoft.com/office/drawing/2014/main" val="10012"/>
                  </a:ext>
                </a:extLst>
              </a:tr>
              <a:tr h="27900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for &lt;</a:t>
                      </a:r>
                      <a:r>
                        <a:rPr kumimoji="0" lang="en-US" altLang="zh-CN" sz="1200" b="1" i="0" u="none" strike="noStrike" cap="none" normalizeH="0" baseline="0" dirty="0" err="1">
                          <a:ln>
                            <a:noFill/>
                          </a:ln>
                          <a:solidFill>
                            <a:srgbClr val="000000"/>
                          </a:solidFill>
                          <a:effectLst/>
                          <a:latin typeface="微软雅黑" panose="020B0503020204020204" pitchFamily="34" charset="-122"/>
                          <a:ea typeface="微软雅黑" panose="020B0503020204020204" pitchFamily="34" charset="-122"/>
                        </a:rPr>
                        <a:t>var</a:t>
                      </a:r>
                      <a:r>
                        <a:rPr kumimoji="0" lang="en-US" altLang="zh-CN"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&gt; in &lt;string&gt;</a:t>
                      </a:r>
                    </a:p>
                  </a:txBody>
                  <a:tcPr marL="91444" marR="91444" marT="45707" marB="45707" horzOverflow="overflow">
                    <a:lnL>
                      <a:noFill/>
                    </a:lnL>
                    <a:lnR>
                      <a:noFill/>
                    </a:lnR>
                    <a:lnT>
                      <a:noFill/>
                    </a:lnT>
                    <a:lnB>
                      <a:noFill/>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字符串迭代</a:t>
                      </a:r>
                    </a:p>
                  </a:txBody>
                  <a:tcPr marL="91444" marR="91444" marT="45707" marB="45707" horzOverflow="overflow">
                    <a:lnL>
                      <a:noFill/>
                    </a:lnL>
                    <a:lnR>
                      <a:noFill/>
                    </a:lnR>
                    <a:lnT>
                      <a:noFill/>
                    </a:lnT>
                    <a:lnB>
                      <a:noFill/>
                    </a:lnB>
                    <a:lnTlToBr>
                      <a:noFill/>
                    </a:lnTlToBr>
                    <a:lnBlToTr>
                      <a:noFill/>
                    </a:lnBlToTr>
                    <a:solidFill>
                      <a:srgbClr val="E7F3F4"/>
                    </a:solidFill>
                  </a:tcPr>
                </a:tc>
                <a:extLst>
                  <a:ext uri="{0D108BD9-81ED-4DB2-BD59-A6C34878D82A}">
                    <a16:rowId xmlns:a16="http://schemas.microsoft.com/office/drawing/2014/main" val="10013"/>
                  </a:ext>
                </a:extLst>
              </a:tr>
              <a:tr h="687690">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normalizeH="0" baseline="0" dirty="0">
                          <a:ln>
                            <a:noFill/>
                          </a:ln>
                          <a:solidFill>
                            <a:srgbClr val="000000"/>
                          </a:solidFill>
                          <a:effectLst/>
                          <a:latin typeface="微软雅黑" panose="020B0503020204020204" pitchFamily="34" charset="-122"/>
                          <a:ea typeface="微软雅黑" panose="020B0503020204020204" pitchFamily="34" charset="-122"/>
                          <a:cs typeface="+mn-cs"/>
                          <a:sym typeface="Arial" panose="020B0604020202020204" pitchFamily="34" charset="0"/>
                        </a:rPr>
                        <a:t>start</a:t>
                      </a:r>
                      <a:r>
                        <a:rPr kumimoji="0" lang="zh-CN" altLang="en-US" sz="1200" b="1" i="0" u="none" strike="noStrike" kern="1200" cap="none" normalizeH="0" baseline="0" dirty="0">
                          <a:ln>
                            <a:noFill/>
                          </a:ln>
                          <a:solidFill>
                            <a:srgbClr val="000000"/>
                          </a:solidFill>
                          <a:effectLst/>
                          <a:latin typeface="微软雅黑" panose="020B0503020204020204" pitchFamily="34" charset="-122"/>
                          <a:ea typeface="微软雅黑" panose="020B0503020204020204" pitchFamily="34" charset="-122"/>
                          <a:cs typeface="+mn-cs"/>
                          <a:sym typeface="Arial" panose="020B0604020202020204" pitchFamily="34" charset="0"/>
                        </a:rPr>
                        <a:t>s</a:t>
                      </a:r>
                      <a:r>
                        <a:rPr kumimoji="0" lang="en-US" altLang="zh-CN" sz="1200" b="1" i="0" u="none" strike="noStrike" kern="1200" cap="none" normalizeH="0" baseline="0" dirty="0">
                          <a:ln>
                            <a:noFill/>
                          </a:ln>
                          <a:solidFill>
                            <a:srgbClr val="000000"/>
                          </a:solidFill>
                          <a:effectLst/>
                          <a:latin typeface="微软雅黑" panose="020B0503020204020204" pitchFamily="34" charset="-122"/>
                          <a:ea typeface="微软雅黑" panose="020B0503020204020204" pitchFamily="34" charset="-122"/>
                          <a:cs typeface="+mn-cs"/>
                          <a:sym typeface="Arial" panose="020B0604020202020204" pitchFamily="34" charset="0"/>
                        </a:rPr>
                        <a:t>with(),</a:t>
                      </a:r>
                      <a:r>
                        <a:rPr kumimoji="0" lang="en-US" altLang="zh-CN" sz="1200" b="1" i="0" u="none" strike="noStrike" kern="1200" cap="none" normalizeH="0" baseline="0" dirty="0" err="1">
                          <a:ln>
                            <a:noFill/>
                          </a:ln>
                          <a:solidFill>
                            <a:srgbClr val="000000"/>
                          </a:solidFill>
                          <a:effectLst/>
                          <a:latin typeface="微软雅黑" panose="020B0503020204020204" pitchFamily="34" charset="-122"/>
                          <a:ea typeface="微软雅黑" panose="020B0503020204020204" pitchFamily="34" charset="-122"/>
                          <a:cs typeface="+mn-cs"/>
                          <a:sym typeface="Arial" panose="020B0604020202020204" pitchFamily="34" charset="0"/>
                        </a:rPr>
                        <a:t>endswith</a:t>
                      </a:r>
                      <a:r>
                        <a:rPr kumimoji="0" lang="en-US" altLang="zh-CN" sz="1200" b="1" i="0" u="none" strike="noStrike" kern="1200" cap="none" normalizeH="0" baseline="0" dirty="0">
                          <a:ln>
                            <a:noFill/>
                          </a:ln>
                          <a:solidFill>
                            <a:srgbClr val="000000"/>
                          </a:solidFill>
                          <a:effectLst/>
                          <a:latin typeface="微软雅黑" panose="020B0503020204020204" pitchFamily="34" charset="-122"/>
                          <a:ea typeface="微软雅黑" panose="020B0503020204020204" pitchFamily="34" charset="-122"/>
                          <a:cs typeface="+mn-cs"/>
                          <a:sym typeface="Arial" panose="020B0604020202020204" pitchFamily="34" charset="0"/>
                        </a:rPr>
                        <a:t>()</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normalizeH="0" baseline="0" noProof="1">
                          <a:ln>
                            <a:noFill/>
                          </a:ln>
                          <a:solidFill>
                            <a:srgbClr val="000000"/>
                          </a:solidFill>
                          <a:effectLst/>
                          <a:latin typeface="微软雅黑" panose="020B0503020204020204" pitchFamily="34" charset="-122"/>
                          <a:ea typeface="微软雅黑" panose="020B0503020204020204" pitchFamily="34" charset="-122"/>
                          <a:cs typeface="+mn-cs"/>
                        </a:rPr>
                        <a:t>center()</a:t>
                      </a:r>
                      <a:r>
                        <a:rPr kumimoji="0" lang="zh-CN" altLang="en-US" sz="1200" b="1" i="0" u="none" strike="noStrike" kern="1200" cap="none" normalizeH="0" baseline="0" noProof="1">
                          <a:ln>
                            <a:noFill/>
                          </a:ln>
                          <a:solidFill>
                            <a:srgbClr val="000000"/>
                          </a:solidFill>
                          <a:effectLst/>
                          <a:latin typeface="微软雅黑" panose="020B0503020204020204" pitchFamily="34" charset="-122"/>
                          <a:ea typeface="微软雅黑" panose="020B0503020204020204" pitchFamily="34" charset="-122"/>
                          <a:cs typeface="+mn-cs"/>
                        </a:rPr>
                        <a:t>、</a:t>
                      </a:r>
                      <a:r>
                        <a:rPr kumimoji="0" lang="en-US" altLang="zh-CN" sz="1200" b="1" i="0" u="none" strike="noStrike" kern="1200" cap="none" normalizeH="0" baseline="0" noProof="1">
                          <a:ln>
                            <a:noFill/>
                          </a:ln>
                          <a:solidFill>
                            <a:srgbClr val="000000"/>
                          </a:solidFill>
                          <a:effectLst/>
                          <a:latin typeface="微软雅黑" panose="020B0503020204020204" pitchFamily="34" charset="-122"/>
                          <a:ea typeface="微软雅黑" panose="020B0503020204020204" pitchFamily="34" charset="-122"/>
                          <a:cs typeface="+mn-cs"/>
                        </a:rPr>
                        <a:t>ljust()</a:t>
                      </a:r>
                      <a:r>
                        <a:rPr kumimoji="0" lang="zh-CN" altLang="en-US" sz="1200" b="1" i="0" u="none" strike="noStrike" kern="1200" cap="none" normalizeH="0" baseline="0" noProof="1">
                          <a:ln>
                            <a:noFill/>
                          </a:ln>
                          <a:solidFill>
                            <a:srgbClr val="000000"/>
                          </a:solidFill>
                          <a:effectLst/>
                          <a:latin typeface="微软雅黑" panose="020B0503020204020204" pitchFamily="34" charset="-122"/>
                          <a:ea typeface="微软雅黑" panose="020B0503020204020204" pitchFamily="34" charset="-122"/>
                          <a:cs typeface="+mn-cs"/>
                        </a:rPr>
                        <a:t>、</a:t>
                      </a:r>
                      <a:r>
                        <a:rPr kumimoji="0" lang="en-US" altLang="zh-CN" sz="1200" b="1" i="0" u="none" strike="noStrike" kern="1200" cap="none" normalizeH="0" baseline="0" noProof="1">
                          <a:ln>
                            <a:noFill/>
                          </a:ln>
                          <a:solidFill>
                            <a:srgbClr val="000000"/>
                          </a:solidFill>
                          <a:effectLst/>
                          <a:latin typeface="微软雅黑" panose="020B0503020204020204" pitchFamily="34" charset="-122"/>
                          <a:ea typeface="微软雅黑" panose="020B0503020204020204" pitchFamily="34" charset="-122"/>
                          <a:cs typeface="+mn-cs"/>
                        </a:rPr>
                        <a:t>rjust()</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normalizeH="0" baseline="0" noProof="1">
                          <a:ln>
                            <a:noFill/>
                          </a:ln>
                          <a:solidFill>
                            <a:srgbClr val="000000"/>
                          </a:solidFill>
                          <a:effectLst/>
                          <a:latin typeface="微软雅黑" panose="020B0503020204020204" pitchFamily="34" charset="-122"/>
                          <a:ea typeface="微软雅黑" panose="020B0503020204020204" pitchFamily="34" charset="-122"/>
                          <a:cs typeface="+mn-cs"/>
                        </a:rPr>
                        <a:t>zfill()</a:t>
                      </a: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normalizeH="0" baseline="0" noProof="1">
                          <a:ln>
                            <a:noFill/>
                          </a:ln>
                          <a:solidFill>
                            <a:srgbClr val="000000"/>
                          </a:solidFill>
                          <a:effectLst/>
                          <a:latin typeface="微软雅黑" panose="020B0503020204020204" pitchFamily="34" charset="-122"/>
                          <a:ea typeface="微软雅黑" panose="020B0503020204020204" pitchFamily="34" charset="-122"/>
                          <a:cs typeface="+mn-cs"/>
                        </a:rPr>
                        <a:t>isalnum() 等</a:t>
                      </a:r>
                      <a:endParaRPr kumimoji="0" lang="zh-CN" altLang="en-US" sz="1200" b="1" i="0" u="none" strike="noStrike" kern="1200" cap="none" normalizeH="0" baseline="0" dirty="0">
                        <a:ln>
                          <a:noFill/>
                        </a:ln>
                        <a:solidFill>
                          <a:srgbClr val="000000"/>
                        </a:solidFill>
                        <a:effectLst/>
                        <a:latin typeface="微软雅黑" panose="020B0503020204020204" pitchFamily="34" charset="-122"/>
                        <a:ea typeface="微软雅黑" panose="020B0503020204020204" pitchFamily="34" charset="-122"/>
                        <a:cs typeface="+mn-cs"/>
                      </a:endParaRPr>
                    </a:p>
                  </a:txBody>
                  <a:tcPr marL="91444" marR="91444" marT="45707" marB="45707" horzOverflow="overflow">
                    <a:lnL>
                      <a:noFill/>
                    </a:lnL>
                    <a:lnR>
                      <a:noFill/>
                    </a:lnR>
                    <a:lnT>
                      <a:noFill/>
                    </a:lnT>
                    <a:lnB>
                      <a:noFill/>
                    </a:lnB>
                    <a:lnTlToBr>
                      <a:noFill/>
                    </a:lnTlToBr>
                    <a:lnBlToTr>
                      <a:noFill/>
                    </a:lnBlToTr>
                    <a:solidFill>
                      <a:srgbClr val="E7F3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normalizeH="0" baseline="0" dirty="0">
                          <a:ln>
                            <a:noFill/>
                          </a:ln>
                          <a:solidFill>
                            <a:srgbClr val="000000"/>
                          </a:solidFill>
                          <a:effectLst/>
                          <a:latin typeface="微软雅黑" panose="020B0503020204020204" pitchFamily="34" charset="-122"/>
                          <a:ea typeface="微软雅黑" panose="020B0503020204020204" pitchFamily="34" charset="-122"/>
                          <a:cs typeface="+mn-cs"/>
                          <a:sym typeface="Arial" panose="020B0604020202020204" pitchFamily="34" charset="0"/>
                        </a:rPr>
                        <a:t>字符串是否以指定字符串开始或结束</a:t>
                      </a:r>
                      <a:endParaRPr kumimoji="0" lang="en-US" altLang="zh-CN" sz="1200" b="1" i="0" u="none" strike="noStrike" kern="1200" cap="none" normalizeH="0" baseline="0" dirty="0">
                        <a:ln>
                          <a:noFill/>
                        </a:ln>
                        <a:solidFill>
                          <a:srgbClr val="000000"/>
                        </a:solidFill>
                        <a:effectLst/>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normalizeH="0" baseline="0" noProof="1">
                          <a:ln>
                            <a:noFill/>
                          </a:ln>
                          <a:solidFill>
                            <a:srgbClr val="000000"/>
                          </a:solidFill>
                          <a:effectLst/>
                          <a:latin typeface="微软雅黑" panose="020B0503020204020204" pitchFamily="34" charset="-122"/>
                          <a:ea typeface="微软雅黑" panose="020B0503020204020204" pitchFamily="34" charset="-122"/>
                          <a:cs typeface="+mn-cs"/>
                        </a:rPr>
                        <a:t>居中、左对齐或右对齐</a:t>
                      </a:r>
                      <a:endParaRPr kumimoji="0" lang="en-US" altLang="zh-CN" sz="1200" b="1" i="0" u="none" strike="noStrike" kern="1200" cap="none" normalizeH="0" baseline="0" noProof="1">
                        <a:ln>
                          <a:noFill/>
                        </a:ln>
                        <a:solidFill>
                          <a:srgbClr val="000000"/>
                        </a:solidFill>
                        <a:effectLst/>
                        <a:latin typeface="微软雅黑" panose="020B0503020204020204" pitchFamily="34" charset="-122"/>
                        <a:ea typeface="微软雅黑" panose="020B0503020204020204" pitchFamily="34"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normalizeH="0" baseline="0" noProof="1">
                          <a:ln>
                            <a:noFill/>
                          </a:ln>
                          <a:solidFill>
                            <a:srgbClr val="000000"/>
                          </a:solidFill>
                          <a:effectLst/>
                          <a:latin typeface="微软雅黑" panose="020B0503020204020204" pitchFamily="34" charset="-122"/>
                          <a:ea typeface="微软雅黑" panose="020B0503020204020204" pitchFamily="34" charset="-122"/>
                          <a:cs typeface="+mn-cs"/>
                        </a:rPr>
                        <a:t>返回指定宽度的字符串，在左侧以字符0进行填充</a:t>
                      </a: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normalizeH="0" baseline="0" noProof="1">
                          <a:ln>
                            <a:noFill/>
                          </a:ln>
                          <a:solidFill>
                            <a:srgbClr val="000000"/>
                          </a:solidFill>
                          <a:effectLst/>
                          <a:latin typeface="微软雅黑" panose="020B0503020204020204" pitchFamily="34" charset="-122"/>
                          <a:ea typeface="微软雅黑" panose="020B0503020204020204" pitchFamily="34" charset="-122"/>
                          <a:cs typeface="+mn-cs"/>
                        </a:rPr>
                        <a:t>字符串是否为数字、字母</a:t>
                      </a:r>
                      <a:endParaRPr kumimoji="0" lang="en-US" altLang="zh-CN" sz="1200" b="1" i="0" u="none" strike="noStrike" kern="1200" cap="none" normalizeH="0" baseline="0" noProof="1">
                        <a:ln>
                          <a:noFill/>
                        </a:ln>
                        <a:solidFill>
                          <a:srgbClr val="000000"/>
                        </a:solidFill>
                        <a:effectLst/>
                        <a:latin typeface="微软雅黑" panose="020B0503020204020204" pitchFamily="34" charset="-122"/>
                        <a:ea typeface="微软雅黑" panose="020B0503020204020204" pitchFamily="34" charset="-122"/>
                        <a:cs typeface="+mn-cs"/>
                      </a:endParaRPr>
                    </a:p>
                  </a:txBody>
                  <a:tcPr marL="91444" marR="91444" marT="45707" marB="45707" horzOverflow="overflow">
                    <a:lnL>
                      <a:noFill/>
                    </a:lnL>
                    <a:lnR>
                      <a:noFill/>
                    </a:lnR>
                    <a:lnT>
                      <a:noFill/>
                    </a:lnT>
                    <a:lnB>
                      <a:noFill/>
                    </a:lnB>
                    <a:lnTlToBr>
                      <a:noFill/>
                    </a:lnTlToBr>
                    <a:lnBlToTr>
                      <a:noFill/>
                    </a:lnBlToTr>
                    <a:solidFill>
                      <a:srgbClr val="E7F3F4"/>
                    </a:solidFill>
                  </a:tcPr>
                </a:tc>
                <a:extLst>
                  <a:ext uri="{0D108BD9-81ED-4DB2-BD59-A6C34878D82A}">
                    <a16:rowId xmlns:a16="http://schemas.microsoft.com/office/drawing/2014/main" val="10014"/>
                  </a:ext>
                </a:extLst>
              </a:tr>
            </a:tbl>
          </a:graphicData>
        </a:graphic>
      </p:graphicFrame>
      <p:grpSp>
        <p:nvGrpSpPr>
          <p:cNvPr id="6" name="组合 114"/>
          <p:cNvGrpSpPr/>
          <p:nvPr/>
        </p:nvGrpSpPr>
        <p:grpSpPr>
          <a:xfrm>
            <a:off x="-540568" y="116632"/>
            <a:ext cx="6225040" cy="662730"/>
            <a:chOff x="-198275" y="3380765"/>
            <a:chExt cx="6225040" cy="662730"/>
          </a:xfrm>
        </p:grpSpPr>
        <p:grpSp>
          <p:nvGrpSpPr>
            <p:cNvPr id="7" name="组合 105"/>
            <p:cNvGrpSpPr/>
            <p:nvPr/>
          </p:nvGrpSpPr>
          <p:grpSpPr>
            <a:xfrm>
              <a:off x="-198275" y="3380765"/>
              <a:ext cx="6225040" cy="662730"/>
              <a:chOff x="-198275"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1" name="文本框 10"/>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4.1.3 </a:t>
            </a:r>
            <a:r>
              <a:rPr lang="zh-CN" altLang="en-US" sz="2800" b="1" dirty="0">
                <a:latin typeface="Times New Roman" panose="02020603050405020304" pitchFamily="18" charset="0"/>
                <a:ea typeface="仿宋" panose="02010609060101010101" pitchFamily="49" charset="-122"/>
              </a:rPr>
              <a:t>字符串常用方法</a:t>
            </a:r>
            <a:endParaRPr lang="en-US" altLang="zh-CN" sz="2800" b="1" dirty="0">
              <a:ea typeface="仿宋" panose="02010609060101010101" pitchFamily="49" charset="-122"/>
            </a:endParaRPr>
          </a:p>
        </p:txBody>
      </p:sp>
    </p:spTree>
    <p:extLst>
      <p:ext uri="{BB962C8B-B14F-4D97-AF65-F5344CB8AC3E}">
        <p14:creationId xmlns:p14="http://schemas.microsoft.com/office/powerpoint/2010/main" val="632132966"/>
      </p:ext>
    </p:extLst>
  </p:cSld>
  <p:clrMapOvr>
    <a:masterClrMapping/>
  </p:clrMapOvr>
  <p:transition spd="slow" advClick="0">
    <p:pull di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21</a:t>
            </a:fld>
            <a:endParaRPr lang="zh-CN" altLang="en-US" dirty="0"/>
          </a:p>
        </p:txBody>
      </p:sp>
      <p:grpSp>
        <p:nvGrpSpPr>
          <p:cNvPr id="5" name="组合 114"/>
          <p:cNvGrpSpPr/>
          <p:nvPr/>
        </p:nvGrpSpPr>
        <p:grpSpPr>
          <a:xfrm>
            <a:off x="-540568" y="116632"/>
            <a:ext cx="6225040" cy="662730"/>
            <a:chOff x="-198275" y="3380765"/>
            <a:chExt cx="6225040" cy="662730"/>
          </a:xfrm>
        </p:grpSpPr>
        <p:grpSp>
          <p:nvGrpSpPr>
            <p:cNvPr id="6" name="组合 105"/>
            <p:cNvGrpSpPr/>
            <p:nvPr/>
          </p:nvGrpSpPr>
          <p:grpSpPr>
            <a:xfrm>
              <a:off x="-198275" y="3380765"/>
              <a:ext cx="6225040" cy="662730"/>
              <a:chOff x="-198275"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1" name="文本占位符 30722"/>
          <p:cNvSpPr>
            <a:spLocks noGrp="1"/>
          </p:cNvSpPr>
          <p:nvPr>
            <p:ph idx="1"/>
          </p:nvPr>
        </p:nvSpPr>
        <p:spPr>
          <a:xfrm>
            <a:off x="683568" y="1431940"/>
            <a:ext cx="8229600" cy="4678451"/>
          </a:xfrm>
          <a:ln>
            <a:miter/>
          </a:ln>
        </p:spPr>
        <p:txBody>
          <a:bodyPr anchor="t"/>
          <a:lstStyle/>
          <a:p>
            <a:pPr fontAlgn="base">
              <a:buClr>
                <a:srgbClr val="FF0000"/>
              </a:buClr>
              <a:buFont typeface="Wingdings" panose="05000000000000000000" charset="0"/>
              <a:buChar char=""/>
            </a:pPr>
            <a:r>
              <a:rPr lang="en-US" altLang="zh-CN" sz="1800" b="1" noProof="1">
                <a:latin typeface="宋体" panose="02010600030101010101" pitchFamily="2" charset="-122"/>
              </a:rPr>
              <a:t>find()</a:t>
            </a:r>
            <a:r>
              <a:rPr lang="zh-CN" altLang="en-US" sz="1800" b="1" noProof="1">
                <a:latin typeface="宋体" panose="02010600030101010101" pitchFamily="2" charset="-122"/>
              </a:rPr>
              <a:t>、</a:t>
            </a:r>
            <a:r>
              <a:rPr lang="en-US" altLang="zh-CN" sz="1800" b="1" noProof="1">
                <a:latin typeface="宋体" panose="02010600030101010101" pitchFamily="2" charset="-122"/>
              </a:rPr>
              <a:t>rfind()</a:t>
            </a:r>
            <a:r>
              <a:rPr lang="zh-CN" altLang="en-US" sz="1800" b="1" noProof="1">
                <a:latin typeface="宋体" panose="02010600030101010101" pitchFamily="2" charset="-122"/>
              </a:rPr>
              <a:t>、</a:t>
            </a:r>
            <a:r>
              <a:rPr lang="en-US" altLang="zh-CN" sz="1800" b="1" noProof="1">
                <a:latin typeface="宋体" panose="02010600030101010101" pitchFamily="2" charset="-122"/>
              </a:rPr>
              <a:t>index()</a:t>
            </a:r>
            <a:r>
              <a:rPr lang="zh-CN" altLang="en-US" sz="1800" b="1" noProof="1">
                <a:latin typeface="宋体" panose="02010600030101010101" pitchFamily="2" charset="-122"/>
              </a:rPr>
              <a:t>、</a:t>
            </a:r>
            <a:r>
              <a:rPr lang="en-US" altLang="zh-CN" sz="1800" b="1" noProof="1">
                <a:latin typeface="宋体" panose="02010600030101010101" pitchFamily="2" charset="-122"/>
              </a:rPr>
              <a:t>rindex()</a:t>
            </a:r>
            <a:r>
              <a:rPr lang="zh-CN" altLang="en-US" sz="1800" b="1" noProof="1">
                <a:latin typeface="宋体" panose="02010600030101010101" pitchFamily="2" charset="-122"/>
              </a:rPr>
              <a:t>、</a:t>
            </a:r>
            <a:r>
              <a:rPr lang="en-US" altLang="zh-CN" sz="1800" b="1" noProof="1">
                <a:latin typeface="宋体" panose="02010600030101010101" pitchFamily="2" charset="-122"/>
              </a:rPr>
              <a:t>count()</a:t>
            </a:r>
          </a:p>
          <a:p>
            <a:pPr marL="1905" indent="-344805">
              <a:spcBef>
                <a:spcPts val="600"/>
              </a:spcBef>
              <a:spcAft>
                <a:spcPts val="600"/>
              </a:spcAft>
              <a:buClr>
                <a:srgbClr val="FF0000"/>
              </a:buClr>
              <a:buFont typeface="Wingdings" panose="05000000000000000000" charset="0"/>
              <a:buChar char="ü"/>
            </a:pPr>
            <a:r>
              <a:rPr lang="en-US" altLang="zh-CN" sz="1800" noProof="1">
                <a:latin typeface="宋体" panose="02010600030101010101" pitchFamily="2" charset="-122"/>
              </a:rPr>
              <a:t>find()</a:t>
            </a:r>
            <a:r>
              <a:rPr lang="zh-CN" altLang="en-US" sz="1800" noProof="1">
                <a:latin typeface="宋体" panose="02010600030101010101" pitchFamily="2" charset="-122"/>
              </a:rPr>
              <a:t>和</a:t>
            </a:r>
            <a:r>
              <a:rPr lang="en-US" altLang="zh-CN" sz="1800" noProof="1">
                <a:latin typeface="宋体" panose="02010600030101010101" pitchFamily="2" charset="-122"/>
              </a:rPr>
              <a:t>rfind</a:t>
            </a:r>
            <a:r>
              <a:rPr lang="zh-CN" altLang="en-US" sz="1800" noProof="1">
                <a:latin typeface="宋体" panose="02010600030101010101" pitchFamily="2" charset="-122"/>
              </a:rPr>
              <a:t>方法分别用来查找一个字符串在另一个字符串指定范围（默认是整个字符串）中</a:t>
            </a:r>
            <a:r>
              <a:rPr lang="zh-CN" altLang="en-US" sz="1800" noProof="1">
                <a:solidFill>
                  <a:srgbClr val="FF0000"/>
                </a:solidFill>
                <a:latin typeface="宋体" panose="02010600030101010101" pitchFamily="2" charset="-122"/>
              </a:rPr>
              <a:t>首次</a:t>
            </a:r>
            <a:r>
              <a:rPr lang="zh-CN" altLang="en-US" sz="1800" noProof="1">
                <a:latin typeface="宋体" panose="02010600030101010101" pitchFamily="2" charset="-122"/>
              </a:rPr>
              <a:t>和</a:t>
            </a:r>
            <a:r>
              <a:rPr lang="zh-CN" altLang="en-US" sz="1800" noProof="1">
                <a:solidFill>
                  <a:srgbClr val="FF0000"/>
                </a:solidFill>
                <a:latin typeface="宋体" panose="02010600030101010101" pitchFamily="2" charset="-122"/>
              </a:rPr>
              <a:t>最后一次</a:t>
            </a:r>
            <a:r>
              <a:rPr lang="zh-CN" altLang="en-US" sz="1800" noProof="1">
                <a:latin typeface="宋体" panose="02010600030101010101" pitchFamily="2" charset="-122"/>
              </a:rPr>
              <a:t>出现的位置，如果</a:t>
            </a:r>
            <a:r>
              <a:rPr lang="zh-CN" altLang="en-US" sz="1800" b="1" noProof="1">
                <a:solidFill>
                  <a:srgbClr val="0000FF"/>
                </a:solidFill>
                <a:latin typeface="宋体" panose="02010600030101010101" pitchFamily="2" charset="-122"/>
              </a:rPr>
              <a:t>不存在则返回</a:t>
            </a:r>
            <a:r>
              <a:rPr lang="en-US" altLang="zh-CN" sz="1800" b="1" noProof="1">
                <a:solidFill>
                  <a:srgbClr val="0000FF"/>
                </a:solidFill>
                <a:latin typeface="宋体" panose="02010600030101010101" pitchFamily="2" charset="-122"/>
              </a:rPr>
              <a:t>-1</a:t>
            </a:r>
            <a:r>
              <a:rPr lang="zh-CN" altLang="en-US" sz="1800" noProof="1">
                <a:latin typeface="宋体" panose="02010600030101010101" pitchFamily="2" charset="-122"/>
              </a:rPr>
              <a:t>；</a:t>
            </a:r>
          </a:p>
          <a:p>
            <a:pPr marL="1905" indent="-344805">
              <a:spcBef>
                <a:spcPts val="600"/>
              </a:spcBef>
              <a:spcAft>
                <a:spcPts val="600"/>
              </a:spcAft>
              <a:buClr>
                <a:srgbClr val="FF0000"/>
              </a:buClr>
              <a:buFont typeface="Wingdings" panose="05000000000000000000" charset="0"/>
              <a:buChar char="ü"/>
            </a:pPr>
            <a:r>
              <a:rPr lang="en-US" altLang="zh-CN" sz="1800" noProof="1">
                <a:latin typeface="宋体" panose="02010600030101010101" pitchFamily="2" charset="-122"/>
              </a:rPr>
              <a:t>index()</a:t>
            </a:r>
            <a:r>
              <a:rPr lang="zh-CN" altLang="en-US" sz="1800" noProof="1">
                <a:latin typeface="宋体" panose="02010600030101010101" pitchFamily="2" charset="-122"/>
              </a:rPr>
              <a:t>和</a:t>
            </a:r>
            <a:r>
              <a:rPr lang="en-US" altLang="zh-CN" sz="1800" noProof="1">
                <a:latin typeface="宋体" panose="02010600030101010101" pitchFamily="2" charset="-122"/>
              </a:rPr>
              <a:t>rindex()</a:t>
            </a:r>
            <a:r>
              <a:rPr lang="zh-CN" altLang="en-US" sz="1800" noProof="1">
                <a:latin typeface="宋体" panose="02010600030101010101" pitchFamily="2" charset="-122"/>
              </a:rPr>
              <a:t>方法用来返回一个字符串在另一个字符串指定范围中</a:t>
            </a:r>
            <a:r>
              <a:rPr lang="zh-CN" altLang="en-US" sz="1800" noProof="1">
                <a:solidFill>
                  <a:srgbClr val="FF0000"/>
                </a:solidFill>
                <a:latin typeface="宋体" panose="02010600030101010101" pitchFamily="2" charset="-122"/>
              </a:rPr>
              <a:t>首次</a:t>
            </a:r>
            <a:r>
              <a:rPr lang="zh-CN" altLang="en-US" sz="1800" noProof="1">
                <a:latin typeface="宋体" panose="02010600030101010101" pitchFamily="2" charset="-122"/>
              </a:rPr>
              <a:t>和</a:t>
            </a:r>
            <a:r>
              <a:rPr lang="zh-CN" altLang="en-US" sz="1800" noProof="1">
                <a:solidFill>
                  <a:srgbClr val="FF0000"/>
                </a:solidFill>
                <a:latin typeface="宋体" panose="02010600030101010101" pitchFamily="2" charset="-122"/>
              </a:rPr>
              <a:t>最后一次</a:t>
            </a:r>
            <a:r>
              <a:rPr lang="zh-CN" altLang="en-US" sz="1800" noProof="1">
                <a:latin typeface="宋体" panose="02010600030101010101" pitchFamily="2" charset="-122"/>
              </a:rPr>
              <a:t>出现的位置，如果</a:t>
            </a:r>
            <a:r>
              <a:rPr lang="zh-CN" altLang="en-US" sz="1800" b="1" noProof="1">
                <a:solidFill>
                  <a:srgbClr val="FF0000"/>
                </a:solidFill>
                <a:latin typeface="宋体" panose="02010600030101010101" pitchFamily="2" charset="-122"/>
              </a:rPr>
              <a:t>不存在则抛出异常</a:t>
            </a:r>
            <a:r>
              <a:rPr lang="zh-CN" altLang="en-US" sz="1800" noProof="1">
                <a:latin typeface="宋体" panose="02010600030101010101" pitchFamily="2" charset="-122"/>
              </a:rPr>
              <a:t>；</a:t>
            </a:r>
          </a:p>
          <a:p>
            <a:pPr marL="1905" indent="-344805">
              <a:spcBef>
                <a:spcPts val="600"/>
              </a:spcBef>
              <a:spcAft>
                <a:spcPts val="600"/>
              </a:spcAft>
              <a:buClr>
                <a:srgbClr val="FF0000"/>
              </a:buClr>
              <a:buFont typeface="Wingdings" panose="05000000000000000000" charset="0"/>
              <a:buChar char="ü"/>
            </a:pPr>
            <a:r>
              <a:rPr lang="en-US" altLang="zh-CN" sz="1800" noProof="1">
                <a:latin typeface="宋体" panose="02010600030101010101" pitchFamily="2" charset="-122"/>
              </a:rPr>
              <a:t>count()</a:t>
            </a:r>
            <a:r>
              <a:rPr lang="zh-CN" altLang="en-US" sz="1800" noProof="1">
                <a:latin typeface="宋体" panose="02010600030101010101" pitchFamily="2" charset="-122"/>
              </a:rPr>
              <a:t>方法用来返回一个字符串在当前字符串中出现的</a:t>
            </a:r>
            <a:r>
              <a:rPr lang="zh-CN" altLang="en-US" sz="1800" noProof="1">
                <a:solidFill>
                  <a:srgbClr val="FF0000"/>
                </a:solidFill>
                <a:latin typeface="宋体" panose="02010600030101010101" pitchFamily="2" charset="-122"/>
              </a:rPr>
              <a:t>次数</a:t>
            </a:r>
            <a:r>
              <a:rPr lang="zh-CN" altLang="en-US" sz="1800" noProof="1">
                <a:latin typeface="宋体" panose="02010600030101010101" pitchFamily="2" charset="-122"/>
              </a:rPr>
              <a:t>。</a:t>
            </a:r>
          </a:p>
        </p:txBody>
      </p:sp>
      <p:sp>
        <p:nvSpPr>
          <p:cNvPr id="12" name="文本占位符 31746"/>
          <p:cNvSpPr txBox="1"/>
          <p:nvPr/>
        </p:nvSpPr>
        <p:spPr bwMode="auto">
          <a:xfrm>
            <a:off x="1331640" y="3573016"/>
            <a:ext cx="3254547" cy="2664296"/>
          </a:xfrm>
          <a:prstGeom prst="rect">
            <a:avLst/>
          </a:prstGeom>
          <a:noFill/>
          <a:ln w="22225">
            <a:solidFill>
              <a:schemeClr val="accent1"/>
            </a:solid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905" indent="-344805">
              <a:spcBef>
                <a:spcPct val="0"/>
              </a:spcBef>
              <a:buSzPct val="70000"/>
              <a:buFont typeface="Arial" panose="020B0604020202020204" pitchFamily="34" charset="0"/>
              <a:buNone/>
            </a:pPr>
            <a:r>
              <a:rPr lang="en-US" altLang="zh-CN" sz="1200" dirty="0">
                <a:latin typeface="Consolas" panose="020B0609020204030204" charset="0"/>
              </a:rPr>
              <a:t>&gt;&gt;&gt; s="</a:t>
            </a:r>
            <a:r>
              <a:rPr lang="en-US" altLang="zh-CN" sz="1200" dirty="0" err="1">
                <a:latin typeface="Consolas" panose="020B0609020204030204" charset="0"/>
              </a:rPr>
              <a:t>apple,peach,banana,peach,pear</a:t>
            </a:r>
            <a:r>
              <a:rPr lang="en-US" altLang="zh-CN" sz="1200" dirty="0">
                <a:latin typeface="Consolas" panose="020B0609020204030204" charset="0"/>
              </a:rPr>
              <a:t>"</a:t>
            </a:r>
          </a:p>
          <a:p>
            <a:pPr marL="1905" indent="-344805">
              <a:spcBef>
                <a:spcPct val="0"/>
              </a:spcBef>
              <a:buSzPct val="70000"/>
              <a:buFont typeface="Arial" panose="020B0604020202020204" pitchFamily="34" charset="0"/>
              <a:buNone/>
            </a:pPr>
            <a:r>
              <a:rPr lang="en-US" altLang="zh-CN" sz="1200" dirty="0">
                <a:latin typeface="Consolas" panose="020B0609020204030204" charset="0"/>
              </a:rPr>
              <a:t>&gt;&gt;&gt; </a:t>
            </a:r>
            <a:r>
              <a:rPr lang="en-US" altLang="zh-CN" sz="1200" dirty="0" err="1">
                <a:latin typeface="Consolas" panose="020B0609020204030204" charset="0"/>
              </a:rPr>
              <a:t>s.find</a:t>
            </a:r>
            <a:r>
              <a:rPr lang="en-US" altLang="zh-CN" sz="1200" dirty="0">
                <a:latin typeface="Consolas" panose="020B0609020204030204" charset="0"/>
              </a:rPr>
              <a:t>("peach")</a:t>
            </a:r>
          </a:p>
          <a:p>
            <a:pPr marL="1905" indent="-344805">
              <a:spcBef>
                <a:spcPct val="0"/>
              </a:spcBef>
              <a:buSzPct val="70000"/>
              <a:buFont typeface="Arial" panose="020B0604020202020204" pitchFamily="34" charset="0"/>
              <a:buNone/>
            </a:pPr>
            <a:r>
              <a:rPr lang="en-US" altLang="zh-CN" sz="1200" dirty="0">
                <a:solidFill>
                  <a:srgbClr val="0000FF"/>
                </a:solidFill>
                <a:latin typeface="Consolas" panose="020B0609020204030204" charset="0"/>
              </a:rPr>
              <a:t>6</a:t>
            </a:r>
          </a:p>
          <a:p>
            <a:pPr marL="1905" indent="-344805">
              <a:spcBef>
                <a:spcPct val="0"/>
              </a:spcBef>
              <a:buSzPct val="70000"/>
              <a:buFont typeface="Arial" panose="020B0604020202020204" pitchFamily="34" charset="0"/>
              <a:buNone/>
            </a:pPr>
            <a:r>
              <a:rPr lang="en-US" altLang="zh-CN" sz="1200" dirty="0">
                <a:latin typeface="Consolas" panose="020B0609020204030204" charset="0"/>
              </a:rPr>
              <a:t>&gt;&gt;&gt; </a:t>
            </a:r>
            <a:r>
              <a:rPr lang="en-US" altLang="zh-CN" sz="1200" dirty="0" err="1">
                <a:latin typeface="Consolas" panose="020B0609020204030204" charset="0"/>
              </a:rPr>
              <a:t>s.find</a:t>
            </a:r>
            <a:r>
              <a:rPr lang="en-US" altLang="zh-CN" sz="1200" dirty="0">
                <a:latin typeface="Consolas" panose="020B0609020204030204" charset="0"/>
              </a:rPr>
              <a:t>("peach",7)</a:t>
            </a:r>
          </a:p>
          <a:p>
            <a:pPr marL="1905" indent="-344805">
              <a:spcBef>
                <a:spcPct val="0"/>
              </a:spcBef>
              <a:buSzPct val="70000"/>
              <a:buFont typeface="Arial" panose="020B0604020202020204" pitchFamily="34" charset="0"/>
              <a:buNone/>
            </a:pPr>
            <a:r>
              <a:rPr lang="en-US" altLang="zh-CN" sz="1200" dirty="0">
                <a:solidFill>
                  <a:srgbClr val="0000FF"/>
                </a:solidFill>
                <a:latin typeface="Consolas" panose="020B0609020204030204" charset="0"/>
              </a:rPr>
              <a:t>19</a:t>
            </a:r>
          </a:p>
          <a:p>
            <a:pPr marL="1905" indent="-344805">
              <a:spcBef>
                <a:spcPct val="0"/>
              </a:spcBef>
              <a:buSzPct val="70000"/>
              <a:buFont typeface="Arial" panose="020B0604020202020204" pitchFamily="34" charset="0"/>
              <a:buNone/>
            </a:pPr>
            <a:r>
              <a:rPr lang="en-US" altLang="zh-CN" sz="1200" dirty="0">
                <a:latin typeface="Consolas" panose="020B0609020204030204" charset="0"/>
              </a:rPr>
              <a:t>&gt;&gt;&gt; </a:t>
            </a:r>
            <a:r>
              <a:rPr lang="en-US" altLang="zh-CN" sz="1200" dirty="0" err="1">
                <a:latin typeface="Consolas" panose="020B0609020204030204" charset="0"/>
              </a:rPr>
              <a:t>s.find</a:t>
            </a:r>
            <a:r>
              <a:rPr lang="en-US" altLang="zh-CN" sz="1200" dirty="0">
                <a:latin typeface="Consolas" panose="020B0609020204030204" charset="0"/>
              </a:rPr>
              <a:t>("peach",7,20)</a:t>
            </a:r>
          </a:p>
          <a:p>
            <a:pPr marL="1905" indent="-344805">
              <a:spcBef>
                <a:spcPct val="0"/>
              </a:spcBef>
              <a:buSzPct val="70000"/>
              <a:buFont typeface="Arial" panose="020B0604020202020204" pitchFamily="34" charset="0"/>
              <a:buNone/>
            </a:pPr>
            <a:r>
              <a:rPr lang="en-US" altLang="zh-CN" sz="1200" dirty="0">
                <a:solidFill>
                  <a:srgbClr val="0000FF"/>
                </a:solidFill>
                <a:latin typeface="Consolas" panose="020B0609020204030204" charset="0"/>
              </a:rPr>
              <a:t>-1</a:t>
            </a:r>
          </a:p>
          <a:p>
            <a:pPr marL="1905" indent="-344805">
              <a:spcBef>
                <a:spcPct val="0"/>
              </a:spcBef>
              <a:buSzPct val="70000"/>
              <a:buFont typeface="Arial" panose="020B0604020202020204" pitchFamily="34" charset="0"/>
              <a:buNone/>
            </a:pPr>
            <a:r>
              <a:rPr lang="en-US" altLang="zh-CN" sz="1200" dirty="0">
                <a:latin typeface="Consolas" panose="020B0609020204030204" charset="0"/>
              </a:rPr>
              <a:t>&gt;&gt;&gt; </a:t>
            </a:r>
            <a:r>
              <a:rPr lang="en-US" altLang="zh-CN" sz="1200" dirty="0" err="1">
                <a:latin typeface="Consolas" panose="020B0609020204030204" charset="0"/>
              </a:rPr>
              <a:t>s.rfind</a:t>
            </a:r>
            <a:r>
              <a:rPr lang="en-US" altLang="zh-CN" sz="1200" dirty="0">
                <a:latin typeface="Consolas" panose="020B0609020204030204" charset="0"/>
              </a:rPr>
              <a:t>('p')</a:t>
            </a:r>
          </a:p>
          <a:p>
            <a:pPr marL="1905" indent="-344805">
              <a:spcBef>
                <a:spcPct val="0"/>
              </a:spcBef>
              <a:buSzPct val="70000"/>
              <a:buFont typeface="Arial" panose="020B0604020202020204" pitchFamily="34" charset="0"/>
              <a:buNone/>
            </a:pPr>
            <a:r>
              <a:rPr lang="en-US" altLang="zh-CN" sz="1200" dirty="0">
                <a:solidFill>
                  <a:srgbClr val="0000FF"/>
                </a:solidFill>
                <a:latin typeface="Consolas" panose="020B0609020204030204" charset="0"/>
              </a:rPr>
              <a:t>25</a:t>
            </a:r>
          </a:p>
          <a:p>
            <a:pPr marL="1905" indent="-344805">
              <a:spcBef>
                <a:spcPct val="0"/>
              </a:spcBef>
              <a:buSzPct val="70000"/>
              <a:buFont typeface="Arial" panose="020B0604020202020204" pitchFamily="34" charset="0"/>
              <a:buNone/>
            </a:pPr>
            <a:r>
              <a:rPr lang="en-US" altLang="zh-CN" sz="1200" dirty="0">
                <a:latin typeface="Consolas" panose="020B0609020204030204" charset="0"/>
              </a:rPr>
              <a:t>&gt;&gt;&gt; </a:t>
            </a:r>
            <a:r>
              <a:rPr lang="en-US" altLang="zh-CN" sz="1200" dirty="0" err="1">
                <a:latin typeface="Consolas" panose="020B0609020204030204" charset="0"/>
              </a:rPr>
              <a:t>s.index</a:t>
            </a:r>
            <a:r>
              <a:rPr lang="en-US" altLang="zh-CN" sz="1200" dirty="0">
                <a:latin typeface="Consolas" panose="020B0609020204030204" charset="0"/>
              </a:rPr>
              <a:t>('p')</a:t>
            </a:r>
          </a:p>
          <a:p>
            <a:pPr marL="1905" indent="-344805">
              <a:spcBef>
                <a:spcPct val="0"/>
              </a:spcBef>
              <a:buSzPct val="70000"/>
              <a:buFont typeface="Arial" panose="020B0604020202020204" pitchFamily="34" charset="0"/>
              <a:buNone/>
            </a:pPr>
            <a:r>
              <a:rPr lang="en-US" altLang="zh-CN" sz="1200" dirty="0">
                <a:solidFill>
                  <a:srgbClr val="0000FF"/>
                </a:solidFill>
                <a:latin typeface="Consolas" panose="020B0609020204030204" charset="0"/>
              </a:rPr>
              <a:t>1</a:t>
            </a:r>
          </a:p>
          <a:p>
            <a:pPr marL="1905" indent="-344805">
              <a:spcBef>
                <a:spcPct val="0"/>
              </a:spcBef>
              <a:buSzPct val="70000"/>
              <a:buFont typeface="Arial" panose="020B0604020202020204" pitchFamily="34" charset="0"/>
              <a:buNone/>
            </a:pPr>
            <a:r>
              <a:rPr lang="en-US" altLang="zh-CN" sz="1200" dirty="0">
                <a:latin typeface="Consolas" panose="020B0609020204030204" charset="0"/>
              </a:rPr>
              <a:t>&gt;&gt;&gt; </a:t>
            </a:r>
            <a:r>
              <a:rPr lang="en-US" altLang="zh-CN" sz="1200" dirty="0" err="1">
                <a:latin typeface="Consolas" panose="020B0609020204030204" charset="0"/>
              </a:rPr>
              <a:t>s.index</a:t>
            </a:r>
            <a:r>
              <a:rPr lang="en-US" altLang="zh-CN" sz="1200" dirty="0">
                <a:latin typeface="Consolas" panose="020B0609020204030204" charset="0"/>
              </a:rPr>
              <a:t>('</a:t>
            </a:r>
            <a:r>
              <a:rPr lang="en-US" altLang="zh-CN" sz="1200" dirty="0" err="1">
                <a:latin typeface="Consolas" panose="020B0609020204030204" charset="0"/>
              </a:rPr>
              <a:t>pe</a:t>
            </a:r>
            <a:r>
              <a:rPr lang="en-US" altLang="zh-CN" sz="1200" dirty="0">
                <a:latin typeface="Consolas" panose="020B0609020204030204" charset="0"/>
              </a:rPr>
              <a:t>')</a:t>
            </a:r>
          </a:p>
          <a:p>
            <a:pPr marL="1905" indent="-344805">
              <a:spcBef>
                <a:spcPct val="0"/>
              </a:spcBef>
              <a:buSzPct val="70000"/>
              <a:buFont typeface="Arial" panose="020B0604020202020204" pitchFamily="34" charset="0"/>
              <a:buNone/>
            </a:pPr>
            <a:r>
              <a:rPr lang="en-US" altLang="zh-CN" sz="1200" dirty="0">
                <a:solidFill>
                  <a:srgbClr val="0000FF"/>
                </a:solidFill>
                <a:latin typeface="Consolas" panose="020B0609020204030204" charset="0"/>
              </a:rPr>
              <a:t>6</a:t>
            </a:r>
          </a:p>
          <a:p>
            <a:pPr marL="1905" indent="-344805">
              <a:spcBef>
                <a:spcPct val="0"/>
              </a:spcBef>
              <a:buSzPct val="70000"/>
              <a:buFont typeface="Arial" panose="020B0604020202020204" pitchFamily="34" charset="0"/>
              <a:buNone/>
            </a:pPr>
            <a:endParaRPr lang="en-US" altLang="zh-CN" sz="1200" dirty="0">
              <a:latin typeface="Consolas" panose="020B0609020204030204" charset="0"/>
            </a:endParaRPr>
          </a:p>
        </p:txBody>
      </p:sp>
      <p:sp>
        <p:nvSpPr>
          <p:cNvPr id="13" name="文本框 1"/>
          <p:cNvSpPr txBox="1"/>
          <p:nvPr/>
        </p:nvSpPr>
        <p:spPr>
          <a:xfrm>
            <a:off x="5098880" y="3572540"/>
            <a:ext cx="2963984" cy="2676525"/>
          </a:xfrm>
          <a:prstGeom prst="rect">
            <a:avLst/>
          </a:prstGeom>
          <a:noFill/>
          <a:ln w="22225" cap="flat" cmpd="sng">
            <a:solidFill>
              <a:schemeClr val="accent1"/>
            </a:solidFill>
            <a:prstDash val="solid"/>
            <a:round/>
            <a:headEnd type="none" w="med" len="med"/>
            <a:tailEnd type="none" w="med" len="med"/>
          </a:ln>
        </p:spPr>
        <p:txBody>
          <a:bodyPr wrap="square" anchor="t">
            <a:spAutoFit/>
          </a:bodyPr>
          <a:lstStyle/>
          <a:p>
            <a:pPr marL="1905"/>
            <a:r>
              <a:rPr lang="en-US" altLang="zh-CN" sz="1200" dirty="0">
                <a:latin typeface="Consolas" panose="020B0609020204030204" charset="0"/>
                <a:ea typeface="宋体" panose="02010600030101010101" pitchFamily="2" charset="-122"/>
                <a:sym typeface="宋体" panose="02010600030101010101" pitchFamily="2" charset="-122"/>
              </a:rPr>
              <a:t>&gt;&gt;&gt; </a:t>
            </a:r>
            <a:r>
              <a:rPr lang="en-US" altLang="zh-CN" sz="1200" dirty="0" err="1">
                <a:latin typeface="Consolas" panose="020B0609020204030204" charset="0"/>
                <a:ea typeface="宋体" panose="02010600030101010101" pitchFamily="2" charset="-122"/>
                <a:sym typeface="宋体" panose="02010600030101010101" pitchFamily="2" charset="-122"/>
              </a:rPr>
              <a:t>s.index</a:t>
            </a:r>
            <a:r>
              <a:rPr lang="en-US" altLang="zh-CN" sz="1200" dirty="0">
                <a:latin typeface="Consolas" panose="020B0609020204030204" charset="0"/>
                <a:ea typeface="宋体" panose="02010600030101010101" pitchFamily="2" charset="-122"/>
                <a:sym typeface="宋体" panose="02010600030101010101" pitchFamily="2" charset="-122"/>
              </a:rPr>
              <a:t>('pear')</a:t>
            </a:r>
            <a:endParaRPr lang="en-US" altLang="zh-CN" sz="1200" dirty="0">
              <a:latin typeface="Consolas" panose="020B0609020204030204" charset="0"/>
              <a:ea typeface="宋体" panose="02010600030101010101" pitchFamily="2" charset="-122"/>
            </a:endParaRPr>
          </a:p>
          <a:p>
            <a:pPr marL="1905"/>
            <a:r>
              <a:rPr lang="en-US" altLang="zh-CN" sz="1200" dirty="0">
                <a:solidFill>
                  <a:srgbClr val="0000FF"/>
                </a:solidFill>
                <a:latin typeface="Consolas" panose="020B0609020204030204" charset="0"/>
                <a:ea typeface="宋体" panose="02010600030101010101" pitchFamily="2" charset="-122"/>
                <a:sym typeface="宋体" panose="02010600030101010101" pitchFamily="2" charset="-122"/>
              </a:rPr>
              <a:t>25</a:t>
            </a:r>
            <a:endParaRPr lang="en-US" altLang="zh-CN" sz="1200" dirty="0">
              <a:solidFill>
                <a:srgbClr val="0000FF"/>
              </a:solidFill>
              <a:latin typeface="Consolas" panose="020B0609020204030204" charset="0"/>
              <a:ea typeface="宋体" panose="02010600030101010101" pitchFamily="2" charset="-122"/>
            </a:endParaRPr>
          </a:p>
          <a:p>
            <a:pPr marL="1905"/>
            <a:r>
              <a:rPr lang="en-US" altLang="zh-CN" sz="1200" dirty="0">
                <a:latin typeface="Consolas" panose="020B0609020204030204" charset="0"/>
                <a:ea typeface="宋体" panose="02010600030101010101" pitchFamily="2" charset="-122"/>
                <a:sym typeface="宋体" panose="02010600030101010101" pitchFamily="2" charset="-122"/>
              </a:rPr>
              <a:t>&gt;&gt;&gt; </a:t>
            </a:r>
            <a:r>
              <a:rPr lang="en-US" altLang="zh-CN" sz="1200" dirty="0" err="1">
                <a:latin typeface="Consolas" panose="020B0609020204030204" charset="0"/>
                <a:ea typeface="宋体" panose="02010600030101010101" pitchFamily="2" charset="-122"/>
                <a:sym typeface="宋体" panose="02010600030101010101" pitchFamily="2" charset="-122"/>
              </a:rPr>
              <a:t>s.index</a:t>
            </a:r>
            <a:r>
              <a:rPr lang="en-US" altLang="zh-CN" sz="1200" dirty="0">
                <a:latin typeface="Consolas" panose="020B0609020204030204" charset="0"/>
                <a:ea typeface="宋体" panose="02010600030101010101" pitchFamily="2" charset="-122"/>
                <a:sym typeface="宋体" panose="02010600030101010101" pitchFamily="2" charset="-122"/>
              </a:rPr>
              <a:t>('</a:t>
            </a:r>
            <a:r>
              <a:rPr lang="en-US" altLang="zh-CN" sz="1200" dirty="0" err="1">
                <a:latin typeface="Consolas" panose="020B0609020204030204" charset="0"/>
                <a:ea typeface="宋体" panose="02010600030101010101" pitchFamily="2" charset="-122"/>
                <a:sym typeface="宋体" panose="02010600030101010101" pitchFamily="2" charset="-122"/>
              </a:rPr>
              <a:t>ppp</a:t>
            </a:r>
            <a:r>
              <a:rPr lang="en-US" altLang="zh-CN" sz="1200" dirty="0">
                <a:latin typeface="Consolas" panose="020B0609020204030204" charset="0"/>
                <a:ea typeface="宋体" panose="02010600030101010101" pitchFamily="2" charset="-122"/>
                <a:sym typeface="宋体" panose="02010600030101010101" pitchFamily="2" charset="-122"/>
              </a:rPr>
              <a:t>')</a:t>
            </a:r>
            <a:endParaRPr lang="en-US" altLang="zh-CN" sz="1200" dirty="0">
              <a:latin typeface="Consolas" panose="020B0609020204030204" charset="0"/>
              <a:ea typeface="宋体" panose="02010600030101010101" pitchFamily="2" charset="-122"/>
            </a:endParaRPr>
          </a:p>
          <a:p>
            <a:pPr marL="1905"/>
            <a:r>
              <a:rPr lang="en-US" altLang="zh-CN" sz="1200" dirty="0" err="1">
                <a:solidFill>
                  <a:srgbClr val="FF0000"/>
                </a:solidFill>
                <a:latin typeface="Consolas" panose="020B0609020204030204" charset="0"/>
                <a:ea typeface="宋体" panose="02010600030101010101" pitchFamily="2" charset="-122"/>
                <a:sym typeface="宋体" panose="02010600030101010101" pitchFamily="2" charset="-122"/>
              </a:rPr>
              <a:t>Traceback</a:t>
            </a:r>
            <a:r>
              <a:rPr lang="en-US" altLang="zh-CN" sz="1200" dirty="0">
                <a:solidFill>
                  <a:srgbClr val="FF0000"/>
                </a:solidFill>
                <a:latin typeface="Consolas" panose="020B0609020204030204" charset="0"/>
                <a:ea typeface="宋体" panose="02010600030101010101" pitchFamily="2" charset="-122"/>
                <a:sym typeface="宋体" panose="02010600030101010101" pitchFamily="2" charset="-122"/>
              </a:rPr>
              <a:t> (most recent call last):</a:t>
            </a:r>
          </a:p>
          <a:p>
            <a:pPr marL="1905"/>
            <a:r>
              <a:rPr lang="en-US" altLang="zh-CN" sz="1200" dirty="0">
                <a:solidFill>
                  <a:srgbClr val="FF0000"/>
                </a:solidFill>
                <a:latin typeface="Consolas" panose="020B0609020204030204" charset="0"/>
                <a:ea typeface="宋体" panose="02010600030101010101" pitchFamily="2" charset="-122"/>
                <a:sym typeface="宋体" panose="02010600030101010101" pitchFamily="2" charset="-122"/>
              </a:rPr>
              <a:t>  File "&lt;pyshell#11&gt;", line 1, in &lt;module&gt;</a:t>
            </a:r>
          </a:p>
          <a:p>
            <a:pPr marL="1905"/>
            <a:r>
              <a:rPr lang="en-US" altLang="zh-CN" sz="1200" dirty="0">
                <a:solidFill>
                  <a:srgbClr val="FF0000"/>
                </a:solidFill>
                <a:latin typeface="Consolas" panose="020B0609020204030204" charset="0"/>
                <a:ea typeface="宋体" panose="02010600030101010101" pitchFamily="2" charset="-122"/>
                <a:sym typeface="宋体" panose="02010600030101010101" pitchFamily="2" charset="-122"/>
              </a:rPr>
              <a:t>    </a:t>
            </a:r>
            <a:r>
              <a:rPr lang="en-US" altLang="zh-CN" sz="1200" dirty="0" err="1">
                <a:solidFill>
                  <a:srgbClr val="FF0000"/>
                </a:solidFill>
                <a:latin typeface="Consolas" panose="020B0609020204030204" charset="0"/>
                <a:ea typeface="宋体" panose="02010600030101010101" pitchFamily="2" charset="-122"/>
                <a:sym typeface="宋体" panose="02010600030101010101" pitchFamily="2" charset="-122"/>
              </a:rPr>
              <a:t>s.index</a:t>
            </a:r>
            <a:r>
              <a:rPr lang="en-US" altLang="zh-CN" sz="1200" dirty="0">
                <a:solidFill>
                  <a:srgbClr val="FF0000"/>
                </a:solidFill>
                <a:latin typeface="Consolas" panose="020B0609020204030204" charset="0"/>
                <a:ea typeface="宋体" panose="02010600030101010101" pitchFamily="2" charset="-122"/>
                <a:sym typeface="宋体" panose="02010600030101010101" pitchFamily="2" charset="-122"/>
              </a:rPr>
              <a:t>('</a:t>
            </a:r>
            <a:r>
              <a:rPr lang="en-US" altLang="zh-CN" sz="1200" dirty="0" err="1">
                <a:solidFill>
                  <a:srgbClr val="FF0000"/>
                </a:solidFill>
                <a:latin typeface="Consolas" panose="020B0609020204030204" charset="0"/>
                <a:ea typeface="宋体" panose="02010600030101010101" pitchFamily="2" charset="-122"/>
                <a:sym typeface="宋体" panose="02010600030101010101" pitchFamily="2" charset="-122"/>
              </a:rPr>
              <a:t>ppp</a:t>
            </a:r>
            <a:r>
              <a:rPr lang="en-US" altLang="zh-CN" sz="1200" dirty="0">
                <a:solidFill>
                  <a:srgbClr val="FF0000"/>
                </a:solidFill>
                <a:latin typeface="Consolas" panose="020B0609020204030204" charset="0"/>
                <a:ea typeface="宋体" panose="02010600030101010101" pitchFamily="2" charset="-122"/>
                <a:sym typeface="宋体" panose="02010600030101010101" pitchFamily="2" charset="-122"/>
              </a:rPr>
              <a:t>')</a:t>
            </a:r>
          </a:p>
          <a:p>
            <a:pPr marL="1905"/>
            <a:r>
              <a:rPr lang="en-US" altLang="zh-CN" sz="1200" dirty="0" err="1">
                <a:solidFill>
                  <a:srgbClr val="FF0000"/>
                </a:solidFill>
                <a:latin typeface="Consolas" panose="020B0609020204030204" charset="0"/>
                <a:ea typeface="宋体" panose="02010600030101010101" pitchFamily="2" charset="-122"/>
                <a:sym typeface="宋体" panose="02010600030101010101" pitchFamily="2" charset="-122"/>
              </a:rPr>
              <a:t>ValueError</a:t>
            </a:r>
            <a:r>
              <a:rPr lang="en-US" altLang="zh-CN" sz="1200" dirty="0">
                <a:solidFill>
                  <a:srgbClr val="FF0000"/>
                </a:solidFill>
                <a:latin typeface="Consolas" panose="020B0609020204030204" charset="0"/>
                <a:ea typeface="宋体" panose="02010600030101010101" pitchFamily="2" charset="-122"/>
                <a:sym typeface="宋体" panose="02010600030101010101" pitchFamily="2" charset="-122"/>
              </a:rPr>
              <a:t>: substring not found</a:t>
            </a:r>
          </a:p>
          <a:p>
            <a:pPr marL="1905"/>
            <a:r>
              <a:rPr lang="en-US" altLang="zh-CN" sz="1200" dirty="0">
                <a:latin typeface="Consolas" panose="020B0609020204030204" charset="0"/>
                <a:ea typeface="宋体" panose="02010600030101010101" pitchFamily="2" charset="-122"/>
                <a:sym typeface="宋体" panose="02010600030101010101" pitchFamily="2" charset="-122"/>
              </a:rPr>
              <a:t>&gt;&gt;&gt; </a:t>
            </a:r>
            <a:r>
              <a:rPr lang="en-US" altLang="zh-CN" sz="1200" dirty="0" err="1">
                <a:latin typeface="Consolas" panose="020B0609020204030204" charset="0"/>
                <a:ea typeface="宋体" panose="02010600030101010101" pitchFamily="2" charset="-122"/>
                <a:sym typeface="宋体" panose="02010600030101010101" pitchFamily="2" charset="-122"/>
              </a:rPr>
              <a:t>s.count</a:t>
            </a:r>
            <a:r>
              <a:rPr lang="en-US" altLang="zh-CN" sz="1200" dirty="0">
                <a:latin typeface="Consolas" panose="020B0609020204030204" charset="0"/>
                <a:ea typeface="宋体" panose="02010600030101010101" pitchFamily="2" charset="-122"/>
                <a:sym typeface="宋体" panose="02010600030101010101" pitchFamily="2" charset="-122"/>
              </a:rPr>
              <a:t>('p')</a:t>
            </a:r>
            <a:endParaRPr lang="en-US" altLang="zh-CN" sz="1200" dirty="0">
              <a:latin typeface="Consolas" panose="020B0609020204030204" charset="0"/>
              <a:ea typeface="宋体" panose="02010600030101010101" pitchFamily="2" charset="-122"/>
            </a:endParaRPr>
          </a:p>
          <a:p>
            <a:pPr marL="1905"/>
            <a:r>
              <a:rPr lang="en-US" altLang="zh-CN" sz="1200" dirty="0">
                <a:solidFill>
                  <a:srgbClr val="0000FF"/>
                </a:solidFill>
                <a:latin typeface="Consolas" panose="020B0609020204030204" charset="0"/>
                <a:ea typeface="宋体" panose="02010600030101010101" pitchFamily="2" charset="-122"/>
                <a:sym typeface="宋体" panose="02010600030101010101" pitchFamily="2" charset="-122"/>
              </a:rPr>
              <a:t>5</a:t>
            </a:r>
          </a:p>
          <a:p>
            <a:pPr marL="1905"/>
            <a:r>
              <a:rPr lang="en-US" altLang="zh-CN" sz="1200" dirty="0">
                <a:latin typeface="Consolas" panose="020B0609020204030204" charset="0"/>
                <a:ea typeface="宋体" panose="02010600030101010101" pitchFamily="2" charset="-122"/>
                <a:sym typeface="宋体" panose="02010600030101010101" pitchFamily="2" charset="-122"/>
              </a:rPr>
              <a:t>&gt;&gt;&gt; </a:t>
            </a:r>
            <a:r>
              <a:rPr lang="en-US" altLang="zh-CN" sz="1200" dirty="0" err="1">
                <a:latin typeface="Consolas" panose="020B0609020204030204" charset="0"/>
                <a:ea typeface="宋体" panose="02010600030101010101" pitchFamily="2" charset="-122"/>
                <a:sym typeface="宋体" panose="02010600030101010101" pitchFamily="2" charset="-122"/>
              </a:rPr>
              <a:t>s.count</a:t>
            </a:r>
            <a:r>
              <a:rPr lang="en-US" altLang="zh-CN" sz="1200" dirty="0">
                <a:latin typeface="Consolas" panose="020B0609020204030204" charset="0"/>
                <a:ea typeface="宋体" panose="02010600030101010101" pitchFamily="2" charset="-122"/>
                <a:sym typeface="宋体" panose="02010600030101010101" pitchFamily="2" charset="-122"/>
              </a:rPr>
              <a:t>('pp')</a:t>
            </a:r>
            <a:endParaRPr lang="en-US" altLang="zh-CN" sz="1200" dirty="0">
              <a:latin typeface="Consolas" panose="020B0609020204030204" charset="0"/>
              <a:ea typeface="宋体" panose="02010600030101010101" pitchFamily="2" charset="-122"/>
            </a:endParaRPr>
          </a:p>
          <a:p>
            <a:pPr marL="1905"/>
            <a:r>
              <a:rPr lang="en-US" altLang="zh-CN" sz="1200" dirty="0">
                <a:solidFill>
                  <a:srgbClr val="0000FF"/>
                </a:solidFill>
                <a:latin typeface="Consolas" panose="020B0609020204030204" charset="0"/>
                <a:ea typeface="宋体" panose="02010600030101010101" pitchFamily="2" charset="-122"/>
                <a:sym typeface="宋体" panose="02010600030101010101" pitchFamily="2" charset="-122"/>
              </a:rPr>
              <a:t>1</a:t>
            </a:r>
          </a:p>
          <a:p>
            <a:pPr marL="1905"/>
            <a:r>
              <a:rPr lang="en-US" altLang="zh-CN" sz="1200" dirty="0">
                <a:latin typeface="Consolas" panose="020B0609020204030204" charset="0"/>
                <a:ea typeface="宋体" panose="02010600030101010101" pitchFamily="2" charset="-122"/>
                <a:sym typeface="宋体" panose="02010600030101010101" pitchFamily="2" charset="-122"/>
              </a:rPr>
              <a:t>&gt;&gt;&gt; </a:t>
            </a:r>
            <a:r>
              <a:rPr lang="en-US" altLang="zh-CN" sz="1200" dirty="0" err="1">
                <a:latin typeface="Consolas" panose="020B0609020204030204" charset="0"/>
                <a:ea typeface="宋体" panose="02010600030101010101" pitchFamily="2" charset="-122"/>
                <a:sym typeface="宋体" panose="02010600030101010101" pitchFamily="2" charset="-122"/>
              </a:rPr>
              <a:t>s.count</a:t>
            </a:r>
            <a:r>
              <a:rPr lang="en-US" altLang="zh-CN" sz="1200" dirty="0">
                <a:latin typeface="Consolas" panose="020B0609020204030204" charset="0"/>
                <a:ea typeface="宋体" panose="02010600030101010101" pitchFamily="2" charset="-122"/>
                <a:sym typeface="宋体" panose="02010600030101010101" pitchFamily="2" charset="-122"/>
              </a:rPr>
              <a:t>('</a:t>
            </a:r>
            <a:r>
              <a:rPr lang="en-US" altLang="zh-CN" sz="1200" dirty="0" err="1">
                <a:latin typeface="Consolas" panose="020B0609020204030204" charset="0"/>
                <a:ea typeface="宋体" panose="02010600030101010101" pitchFamily="2" charset="-122"/>
                <a:sym typeface="宋体" panose="02010600030101010101" pitchFamily="2" charset="-122"/>
              </a:rPr>
              <a:t>ppp</a:t>
            </a:r>
            <a:r>
              <a:rPr lang="en-US" altLang="zh-CN" sz="1200" dirty="0">
                <a:latin typeface="Consolas" panose="020B0609020204030204" charset="0"/>
                <a:ea typeface="宋体" panose="02010600030101010101" pitchFamily="2" charset="-122"/>
                <a:sym typeface="宋体" panose="02010600030101010101" pitchFamily="2" charset="-122"/>
              </a:rPr>
              <a:t>')</a:t>
            </a:r>
          </a:p>
          <a:p>
            <a:pPr marL="1905"/>
            <a:r>
              <a:rPr lang="en-US" altLang="zh-CN" sz="1200" dirty="0">
                <a:solidFill>
                  <a:srgbClr val="0000FF"/>
                </a:solidFill>
                <a:latin typeface="Consolas" panose="020B0609020204030204" charset="0"/>
                <a:ea typeface="宋体" panose="02010600030101010101" pitchFamily="2" charset="-122"/>
                <a:sym typeface="宋体" panose="02010600030101010101" pitchFamily="2" charset="-122"/>
              </a:rPr>
              <a:t>0</a:t>
            </a:r>
          </a:p>
        </p:txBody>
      </p:sp>
      <p:sp>
        <p:nvSpPr>
          <p:cNvPr id="14" name="文本框 13"/>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4.1.3 </a:t>
            </a:r>
            <a:r>
              <a:rPr lang="zh-CN" altLang="en-US" sz="2800" b="1" dirty="0">
                <a:latin typeface="Times New Roman" panose="02020603050405020304" pitchFamily="18" charset="0"/>
                <a:ea typeface="仿宋" panose="02010609060101010101" pitchFamily="49" charset="-122"/>
              </a:rPr>
              <a:t>字符串常用方法</a:t>
            </a:r>
            <a:endParaRPr lang="en-US" altLang="zh-CN" sz="2800" b="1" dirty="0">
              <a:ea typeface="仿宋" panose="02010609060101010101" pitchFamily="49" charset="-122"/>
            </a:endParaRPr>
          </a:p>
        </p:txBody>
      </p:sp>
      <p:pic>
        <p:nvPicPr>
          <p:cNvPr id="3" name="图片 2"/>
          <p:cNvPicPr>
            <a:picLocks noChangeAspect="1"/>
          </p:cNvPicPr>
          <p:nvPr/>
        </p:nvPicPr>
        <p:blipFill>
          <a:blip r:embed="rId4"/>
          <a:stretch>
            <a:fillRect/>
          </a:stretch>
        </p:blipFill>
        <p:spPr>
          <a:xfrm>
            <a:off x="782180" y="1742666"/>
            <a:ext cx="7968046" cy="1484390"/>
          </a:xfrm>
          <a:prstGeom prst="rect">
            <a:avLst/>
          </a:prstGeom>
        </p:spPr>
      </p:pic>
    </p:spTree>
    <p:extLst>
      <p:ext uri="{BB962C8B-B14F-4D97-AF65-F5344CB8AC3E}">
        <p14:creationId xmlns:p14="http://schemas.microsoft.com/office/powerpoint/2010/main" val="322576678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ppt_x"/>
                                          </p:val>
                                        </p:tav>
                                        <p:tav tm="100000">
                                          <p:val>
                                            <p:strVal val="#ppt_x"/>
                                          </p:val>
                                        </p:tav>
                                      </p:tavLst>
                                    </p:anim>
                                    <p:anim calcmode="lin" valueType="num">
                                      <p:cBhvr additive="base">
                                        <p:cTn id="3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22</a:t>
            </a:fld>
            <a:endParaRPr lang="zh-CN" altLang="en-US" dirty="0"/>
          </a:p>
        </p:txBody>
      </p:sp>
      <p:sp>
        <p:nvSpPr>
          <p:cNvPr id="5" name="内容占位符 2"/>
          <p:cNvSpPr>
            <a:spLocks noGrp="1"/>
          </p:cNvSpPr>
          <p:nvPr>
            <p:ph idx="1"/>
          </p:nvPr>
        </p:nvSpPr>
        <p:spPr>
          <a:xfrm>
            <a:off x="457200" y="1052736"/>
            <a:ext cx="8229600" cy="4678451"/>
          </a:xfrm>
        </p:spPr>
        <p:txBody>
          <a:bodyPr/>
          <a:lstStyle/>
          <a:p>
            <a:pPr fontAlgn="base">
              <a:buClr>
                <a:srgbClr val="FF0000"/>
              </a:buClr>
              <a:buFont typeface="Wingdings" panose="05000000000000000000" pitchFamily="2" charset="2"/>
              <a:buChar char="ü"/>
            </a:pPr>
            <a:r>
              <a:rPr lang="zh-CN" altLang="en-US" sz="2400" b="1" noProof="1"/>
              <a:t>应用：</a:t>
            </a:r>
            <a:r>
              <a:rPr lang="zh-CN" altLang="en-US" sz="2400" noProof="1"/>
              <a:t>查找字符串中每个字符的第一次出现位置：</a:t>
            </a:r>
          </a:p>
          <a:p>
            <a:pPr marL="0" indent="0">
              <a:buNone/>
            </a:pPr>
            <a:r>
              <a:rPr lang="zh-CN" altLang="en-US" sz="1500" noProof="1">
                <a:latin typeface="Consolas" panose="020B0609020204030204" charset="0"/>
                <a:cs typeface="Consolas" panose="020B0609020204030204" charset="0"/>
              </a:rPr>
              <a:t>text = '''</a:t>
            </a:r>
          </a:p>
          <a:p>
            <a:pPr marL="0" indent="0">
              <a:buNone/>
            </a:pPr>
            <a:r>
              <a:rPr lang="zh-CN" altLang="en-US" sz="1500" noProof="1">
                <a:solidFill>
                  <a:srgbClr val="00B050"/>
                </a:solidFill>
                <a:latin typeface="Consolas" panose="020B0609020204030204" charset="0"/>
                <a:cs typeface="Consolas" panose="020B0609020204030204" charset="0"/>
              </a:rPr>
              <a:t>东边来个小朋友叫小松，手里拿着一捆葱。</a:t>
            </a:r>
          </a:p>
          <a:p>
            <a:pPr marL="0" indent="0">
              <a:buNone/>
            </a:pPr>
            <a:r>
              <a:rPr lang="zh-CN" altLang="en-US" sz="1500" noProof="1">
                <a:solidFill>
                  <a:srgbClr val="00B050"/>
                </a:solidFill>
                <a:latin typeface="Consolas" panose="020B0609020204030204" charset="0"/>
                <a:cs typeface="Consolas" panose="020B0609020204030204" charset="0"/>
              </a:rPr>
              <a:t>西边来个小朋友叫小丛，手里拿着小闹钟。</a:t>
            </a:r>
          </a:p>
          <a:p>
            <a:pPr marL="0" indent="0">
              <a:buNone/>
            </a:pPr>
            <a:r>
              <a:rPr lang="zh-CN" altLang="en-US" sz="1500" noProof="1">
                <a:solidFill>
                  <a:srgbClr val="00B050"/>
                </a:solidFill>
                <a:latin typeface="Consolas" panose="020B0609020204030204" charset="0"/>
                <a:cs typeface="Consolas" panose="020B0609020204030204" charset="0"/>
              </a:rPr>
              <a:t>小松手里葱捆得松，掉在地上一些葱。</a:t>
            </a:r>
          </a:p>
          <a:p>
            <a:pPr marL="0" indent="0">
              <a:buNone/>
            </a:pPr>
            <a:r>
              <a:rPr lang="zh-CN" altLang="en-US" sz="1500" noProof="1">
                <a:solidFill>
                  <a:srgbClr val="00B050"/>
                </a:solidFill>
                <a:latin typeface="Consolas" panose="020B0609020204030204" charset="0"/>
                <a:cs typeface="Consolas" panose="020B0609020204030204" charset="0"/>
              </a:rPr>
              <a:t>小丛忙放闹钟去拾葱，帮助小松捆紧葱.</a:t>
            </a:r>
          </a:p>
          <a:p>
            <a:pPr marL="0" indent="0">
              <a:buNone/>
            </a:pPr>
            <a:r>
              <a:rPr lang="zh-CN" altLang="en-US" sz="1500" noProof="1">
                <a:solidFill>
                  <a:srgbClr val="00B050"/>
                </a:solidFill>
                <a:latin typeface="Consolas" panose="020B0609020204030204" charset="0"/>
                <a:cs typeface="Consolas" panose="020B0609020204030204" charset="0"/>
              </a:rPr>
              <a:t>小松夸小丛像雷锋，小丛说小松爱劳动。</a:t>
            </a:r>
          </a:p>
          <a:p>
            <a:pPr marL="0" indent="0">
              <a:buNone/>
            </a:pPr>
            <a:r>
              <a:rPr lang="zh-CN" altLang="en-US" sz="1500" noProof="1">
                <a:latin typeface="Consolas" panose="020B0609020204030204" charset="0"/>
                <a:cs typeface="Consolas" panose="020B0609020204030204" charset="0"/>
              </a:rPr>
              <a:t>'''</a:t>
            </a:r>
          </a:p>
          <a:p>
            <a:pPr marL="0" indent="0">
              <a:buNone/>
            </a:pPr>
            <a:endParaRPr lang="zh-CN" altLang="en-US" sz="1500" noProof="1">
              <a:latin typeface="Consolas" panose="020B0609020204030204" charset="0"/>
              <a:cs typeface="Consolas" panose="020B0609020204030204" charset="0"/>
            </a:endParaRPr>
          </a:p>
          <a:p>
            <a:pPr marL="0" indent="0">
              <a:buNone/>
            </a:pPr>
            <a:r>
              <a:rPr lang="zh-CN" altLang="en-US" sz="1500" noProof="1">
                <a:solidFill>
                  <a:srgbClr val="0000FF"/>
                </a:solidFill>
                <a:latin typeface="Consolas" panose="020B0609020204030204" charset="0"/>
                <a:cs typeface="Consolas" panose="020B0609020204030204" charset="0"/>
              </a:rPr>
              <a:t>for</a:t>
            </a:r>
            <a:r>
              <a:rPr lang="zh-CN" altLang="en-US" sz="1500" noProof="1">
                <a:latin typeface="Consolas" panose="020B0609020204030204" charset="0"/>
                <a:cs typeface="Consolas" panose="020B0609020204030204" charset="0"/>
              </a:rPr>
              <a:t> index, ch in enumerate(text):</a:t>
            </a:r>
          </a:p>
          <a:p>
            <a:pPr marL="0" indent="0">
              <a:buNone/>
            </a:pPr>
            <a:r>
              <a:rPr lang="zh-CN" altLang="en-US" sz="1500" noProof="1">
                <a:latin typeface="Consolas" panose="020B0609020204030204" charset="0"/>
                <a:cs typeface="Consolas" panose="020B0609020204030204" charset="0"/>
              </a:rPr>
              <a:t>    </a:t>
            </a:r>
            <a:r>
              <a:rPr lang="zh-CN" altLang="en-US" sz="1500" noProof="1">
                <a:solidFill>
                  <a:srgbClr val="0000FF"/>
                </a:solidFill>
                <a:latin typeface="Consolas" panose="020B0609020204030204" charset="0"/>
                <a:cs typeface="Consolas" panose="020B0609020204030204" charset="0"/>
              </a:rPr>
              <a:t>if</a:t>
            </a:r>
            <a:r>
              <a:rPr lang="zh-CN" altLang="en-US" sz="1500" noProof="1">
                <a:latin typeface="Consolas" panose="020B0609020204030204" charset="0"/>
                <a:cs typeface="Consolas" panose="020B0609020204030204" charset="0"/>
              </a:rPr>
              <a:t> index == text.index(ch):</a:t>
            </a:r>
          </a:p>
          <a:p>
            <a:pPr marL="0" indent="0">
              <a:buNone/>
            </a:pPr>
            <a:r>
              <a:rPr lang="zh-CN" altLang="en-US" sz="1500" noProof="1">
                <a:latin typeface="Consolas" panose="020B0609020204030204" charset="0"/>
                <a:cs typeface="Consolas" panose="020B0609020204030204" charset="0"/>
              </a:rPr>
              <a:t>        </a:t>
            </a:r>
            <a:r>
              <a:rPr lang="zh-CN" altLang="en-US" sz="1500" noProof="1">
                <a:solidFill>
                  <a:srgbClr val="0000FF"/>
                </a:solidFill>
                <a:latin typeface="Consolas" panose="020B0609020204030204" charset="0"/>
                <a:cs typeface="Consolas" panose="020B0609020204030204" charset="0"/>
              </a:rPr>
              <a:t>print</a:t>
            </a:r>
            <a:r>
              <a:rPr lang="zh-CN" altLang="en-US" sz="1500" noProof="1">
                <a:latin typeface="Consolas" panose="020B0609020204030204" charset="0"/>
                <a:cs typeface="Consolas" panose="020B0609020204030204" charset="0"/>
              </a:rPr>
              <a:t>((index, ch), end= '')</a:t>
            </a:r>
          </a:p>
        </p:txBody>
      </p:sp>
      <p:grpSp>
        <p:nvGrpSpPr>
          <p:cNvPr id="6" name="组合 114"/>
          <p:cNvGrpSpPr/>
          <p:nvPr/>
        </p:nvGrpSpPr>
        <p:grpSpPr>
          <a:xfrm>
            <a:off x="-540568" y="116632"/>
            <a:ext cx="6225040" cy="662730"/>
            <a:chOff x="-198275" y="3380765"/>
            <a:chExt cx="6225040" cy="662730"/>
          </a:xfrm>
        </p:grpSpPr>
        <p:grpSp>
          <p:nvGrpSpPr>
            <p:cNvPr id="7" name="组合 105"/>
            <p:cNvGrpSpPr/>
            <p:nvPr/>
          </p:nvGrpSpPr>
          <p:grpSpPr>
            <a:xfrm>
              <a:off x="-198275" y="3380765"/>
              <a:ext cx="6225040" cy="662730"/>
              <a:chOff x="-198275"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2" name="矩形 1"/>
          <p:cNvSpPr/>
          <p:nvPr/>
        </p:nvSpPr>
        <p:spPr>
          <a:xfrm>
            <a:off x="4355976" y="4562430"/>
            <a:ext cx="4572000" cy="1600438"/>
          </a:xfrm>
          <a:prstGeom prst="rect">
            <a:avLst/>
          </a:prstGeom>
        </p:spPr>
        <p:txBody>
          <a:bodyPr>
            <a:spAutoFit/>
          </a:bodyPr>
          <a:lstStyle/>
          <a:p>
            <a:r>
              <a:rPr lang="zh-CN" altLang="en-US" sz="1400" dirty="0">
                <a:solidFill>
                  <a:srgbClr val="0000FF"/>
                </a:solidFill>
                <a:latin typeface="Times New Roman" panose="02020603050405020304" pitchFamily="18" charset="0"/>
                <a:ea typeface="仿宋" panose="02010609060101010101" pitchFamily="49" charset="-122"/>
              </a:rPr>
              <a:t>(0, '\n')(1, '东')(2, '边')(3, '来')(4, '个')(5, '小')(6, '朋')(7, '友')(8, '叫')(10, '松')(11, '，')(12, '手')(13, '里')(14, '拿')(15, '着')(16, '一')(17, '捆')(18, '葱')(19, '。')(21, '西')(30, '丛')(37, '闹')(38, '钟')(47, '得')(50, '掉')(51, '在')(52, '地')(53, '上')(55, '些')(61, '忙')(62, '放')(65, '去')(66, '拾')(69, '帮')(70, '助')(74, '紧')(76, '.')(80, '夸')(83, '像')(84, '雷')(85, '锋')(89, '说')(92, '爱')(93, '劳')(94, '动')</a:t>
            </a:r>
          </a:p>
        </p:txBody>
      </p:sp>
      <p:pic>
        <p:nvPicPr>
          <p:cNvPr id="11" name="图片 10"/>
          <p:cNvPicPr>
            <a:picLocks noChangeAspect="1"/>
          </p:cNvPicPr>
          <p:nvPr/>
        </p:nvPicPr>
        <p:blipFill>
          <a:blip r:embed="rId3"/>
          <a:stretch>
            <a:fillRect/>
          </a:stretch>
        </p:blipFill>
        <p:spPr>
          <a:xfrm>
            <a:off x="3203848" y="1082792"/>
            <a:ext cx="5847533" cy="5397393"/>
          </a:xfrm>
          <a:prstGeom prst="rect">
            <a:avLst/>
          </a:prstGeom>
        </p:spPr>
      </p:pic>
    </p:spTree>
    <p:extLst>
      <p:ext uri="{BB962C8B-B14F-4D97-AF65-F5344CB8AC3E}">
        <p14:creationId xmlns:p14="http://schemas.microsoft.com/office/powerpoint/2010/main" val="3721266899"/>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ppt_x"/>
                                          </p:val>
                                        </p:tav>
                                        <p:tav tm="100000">
                                          <p:val>
                                            <p:strVal val="#ppt_x"/>
                                          </p:val>
                                        </p:tav>
                                      </p:tavLst>
                                    </p:anim>
                                    <p:anim calcmode="lin" valueType="num">
                                      <p:cBhvr additive="base">
                                        <p:cTn id="3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down)">
                                      <p:cBhvr>
                                        <p:cTn id="41" dur="580">
                                          <p:stCondLst>
                                            <p:cond delay="0"/>
                                          </p:stCondLst>
                                        </p:cTn>
                                        <p:tgtEl>
                                          <p:spTgt spid="11"/>
                                        </p:tgtEl>
                                      </p:cBhvr>
                                    </p:animEffect>
                                    <p:anim calcmode="lin" valueType="num">
                                      <p:cBhvr>
                                        <p:cTn id="42"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47" dur="26">
                                          <p:stCondLst>
                                            <p:cond delay="650"/>
                                          </p:stCondLst>
                                        </p:cTn>
                                        <p:tgtEl>
                                          <p:spTgt spid="11"/>
                                        </p:tgtEl>
                                      </p:cBhvr>
                                      <p:to x="100000" y="60000"/>
                                    </p:animScale>
                                    <p:animScale>
                                      <p:cBhvr>
                                        <p:cTn id="48" dur="166" decel="50000">
                                          <p:stCondLst>
                                            <p:cond delay="676"/>
                                          </p:stCondLst>
                                        </p:cTn>
                                        <p:tgtEl>
                                          <p:spTgt spid="11"/>
                                        </p:tgtEl>
                                      </p:cBhvr>
                                      <p:to x="100000" y="100000"/>
                                    </p:animScale>
                                    <p:animScale>
                                      <p:cBhvr>
                                        <p:cTn id="49" dur="26">
                                          <p:stCondLst>
                                            <p:cond delay="1312"/>
                                          </p:stCondLst>
                                        </p:cTn>
                                        <p:tgtEl>
                                          <p:spTgt spid="11"/>
                                        </p:tgtEl>
                                      </p:cBhvr>
                                      <p:to x="100000" y="80000"/>
                                    </p:animScale>
                                    <p:animScale>
                                      <p:cBhvr>
                                        <p:cTn id="50" dur="166" decel="50000">
                                          <p:stCondLst>
                                            <p:cond delay="1338"/>
                                          </p:stCondLst>
                                        </p:cTn>
                                        <p:tgtEl>
                                          <p:spTgt spid="11"/>
                                        </p:tgtEl>
                                      </p:cBhvr>
                                      <p:to x="100000" y="100000"/>
                                    </p:animScale>
                                    <p:animScale>
                                      <p:cBhvr>
                                        <p:cTn id="51" dur="26">
                                          <p:stCondLst>
                                            <p:cond delay="1642"/>
                                          </p:stCondLst>
                                        </p:cTn>
                                        <p:tgtEl>
                                          <p:spTgt spid="11"/>
                                        </p:tgtEl>
                                      </p:cBhvr>
                                      <p:to x="100000" y="90000"/>
                                    </p:animScale>
                                    <p:animScale>
                                      <p:cBhvr>
                                        <p:cTn id="52" dur="166" decel="50000">
                                          <p:stCondLst>
                                            <p:cond delay="1668"/>
                                          </p:stCondLst>
                                        </p:cTn>
                                        <p:tgtEl>
                                          <p:spTgt spid="11"/>
                                        </p:tgtEl>
                                      </p:cBhvr>
                                      <p:to x="100000" y="100000"/>
                                    </p:animScale>
                                    <p:animScale>
                                      <p:cBhvr>
                                        <p:cTn id="53" dur="26">
                                          <p:stCondLst>
                                            <p:cond delay="1808"/>
                                          </p:stCondLst>
                                        </p:cTn>
                                        <p:tgtEl>
                                          <p:spTgt spid="11"/>
                                        </p:tgtEl>
                                      </p:cBhvr>
                                      <p:to x="100000" y="95000"/>
                                    </p:animScale>
                                    <p:animScale>
                                      <p:cBhvr>
                                        <p:cTn id="54" dur="166" decel="50000">
                                          <p:stCondLst>
                                            <p:cond delay="1834"/>
                                          </p:stCondLst>
                                        </p:cTn>
                                        <p:tgtEl>
                                          <p:spTgt spid="1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23</a:t>
            </a:fld>
            <a:endParaRPr lang="zh-CN" altLang="en-US" dirty="0"/>
          </a:p>
        </p:txBody>
      </p:sp>
      <p:grpSp>
        <p:nvGrpSpPr>
          <p:cNvPr id="5" name="组合 114"/>
          <p:cNvGrpSpPr/>
          <p:nvPr/>
        </p:nvGrpSpPr>
        <p:grpSpPr>
          <a:xfrm>
            <a:off x="-540568" y="116632"/>
            <a:ext cx="6225040" cy="662730"/>
            <a:chOff x="-198275" y="3380765"/>
            <a:chExt cx="6225040" cy="662730"/>
          </a:xfrm>
        </p:grpSpPr>
        <p:grpSp>
          <p:nvGrpSpPr>
            <p:cNvPr id="6" name="组合 105"/>
            <p:cNvGrpSpPr/>
            <p:nvPr/>
          </p:nvGrpSpPr>
          <p:grpSpPr>
            <a:xfrm>
              <a:off x="-198275" y="3380765"/>
              <a:ext cx="6225040" cy="662730"/>
              <a:chOff x="-198275"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1" name="文本占位符 32770"/>
          <p:cNvSpPr>
            <a:spLocks noGrp="1"/>
          </p:cNvSpPr>
          <p:nvPr>
            <p:ph idx="1"/>
          </p:nvPr>
        </p:nvSpPr>
        <p:spPr>
          <a:xfrm>
            <a:off x="591594" y="1340768"/>
            <a:ext cx="8229600" cy="4678451"/>
          </a:xfrm>
        </p:spPr>
        <p:txBody>
          <a:bodyPr anchor="t"/>
          <a:lstStyle/>
          <a:p>
            <a:pPr>
              <a:buClr>
                <a:srgbClr val="FF0000"/>
              </a:buClr>
              <a:buFont typeface="Wingdings" panose="05000000000000000000" pitchFamily="2" charset="2"/>
              <a:buChar char="n"/>
            </a:pPr>
            <a:r>
              <a:rPr lang="en-US" altLang="zh-CN" sz="2000" dirty="0"/>
              <a:t>split()</a:t>
            </a:r>
            <a:r>
              <a:rPr lang="zh-CN" altLang="en-US" sz="2000" dirty="0"/>
              <a:t>、</a:t>
            </a:r>
            <a:r>
              <a:rPr lang="en-US" altLang="zh-CN" sz="2000" dirty="0" err="1"/>
              <a:t>rsplit</a:t>
            </a:r>
            <a:r>
              <a:rPr lang="en-US" altLang="zh-CN" sz="2000" dirty="0"/>
              <a:t>()</a:t>
            </a:r>
            <a:r>
              <a:rPr lang="zh-CN" altLang="en-US" sz="2000" dirty="0"/>
              <a:t>、</a:t>
            </a:r>
            <a:r>
              <a:rPr lang="en-US" altLang="zh-CN" sz="2000" dirty="0"/>
              <a:t>partition()</a:t>
            </a:r>
            <a:r>
              <a:rPr lang="zh-CN" altLang="en-US" sz="2000" dirty="0"/>
              <a:t>、</a:t>
            </a:r>
            <a:r>
              <a:rPr lang="en-US" altLang="zh-CN" sz="2000" dirty="0" err="1"/>
              <a:t>rpartition</a:t>
            </a:r>
            <a:r>
              <a:rPr lang="en-US" altLang="zh-CN" sz="2000" dirty="0"/>
              <a:t>()</a:t>
            </a:r>
          </a:p>
          <a:p>
            <a:pPr>
              <a:spcBef>
                <a:spcPts val="600"/>
              </a:spcBef>
              <a:spcAft>
                <a:spcPts val="600"/>
              </a:spcAft>
              <a:buClr>
                <a:srgbClr val="FF0000"/>
              </a:buClr>
              <a:buFont typeface="Wingdings" panose="05000000000000000000" charset="0"/>
              <a:buChar char="ü"/>
            </a:pPr>
            <a:r>
              <a:rPr lang="en-US" altLang="zh-CN" sz="1800" b="1" dirty="0"/>
              <a:t>split()</a:t>
            </a:r>
            <a:r>
              <a:rPr lang="zh-CN" altLang="en-US" sz="1800" b="1" dirty="0"/>
              <a:t>和</a:t>
            </a:r>
            <a:r>
              <a:rPr lang="en-US" altLang="zh-CN" sz="1800" b="1" dirty="0" err="1"/>
              <a:t>rsplit</a:t>
            </a:r>
            <a:r>
              <a:rPr lang="en-US" altLang="zh-CN" sz="1800" b="1" dirty="0"/>
              <a:t>()</a:t>
            </a:r>
            <a:r>
              <a:rPr lang="zh-CN" altLang="en-US" sz="1800" b="1" dirty="0"/>
              <a:t>方法分别用来</a:t>
            </a:r>
            <a:r>
              <a:rPr lang="zh-CN" altLang="en-US" sz="1800" b="1" dirty="0">
                <a:solidFill>
                  <a:srgbClr val="FF0000"/>
                </a:solidFill>
              </a:rPr>
              <a:t>以指定字符为分隔符</a:t>
            </a:r>
            <a:r>
              <a:rPr lang="zh-CN" altLang="en-US" sz="1800" b="1" dirty="0"/>
              <a:t>，把当前字符串</a:t>
            </a:r>
            <a:r>
              <a:rPr lang="zh-CN" altLang="en-US" sz="1800" b="1" dirty="0">
                <a:solidFill>
                  <a:srgbClr val="FF0000"/>
                </a:solidFill>
              </a:rPr>
              <a:t>从左往右</a:t>
            </a:r>
            <a:r>
              <a:rPr lang="zh-CN" altLang="en-US" sz="1800" b="1" dirty="0"/>
              <a:t>或</a:t>
            </a:r>
            <a:r>
              <a:rPr lang="zh-CN" altLang="en-US" sz="1800" b="1" dirty="0">
                <a:solidFill>
                  <a:srgbClr val="FF0000"/>
                </a:solidFill>
              </a:rPr>
              <a:t>从右往左</a:t>
            </a:r>
            <a:r>
              <a:rPr lang="zh-CN" altLang="en-US" sz="1800" b="1" dirty="0"/>
              <a:t>分隔成</a:t>
            </a:r>
            <a:r>
              <a:rPr lang="zh-CN" altLang="en-US" sz="1800" b="1" dirty="0">
                <a:solidFill>
                  <a:srgbClr val="FF0000"/>
                </a:solidFill>
              </a:rPr>
              <a:t>多个</a:t>
            </a:r>
            <a:r>
              <a:rPr lang="zh-CN" altLang="en-US" sz="1800" b="1" dirty="0"/>
              <a:t>字符串，并返回包含分隔结果的列表；</a:t>
            </a:r>
          </a:p>
          <a:p>
            <a:pPr>
              <a:spcBef>
                <a:spcPts val="600"/>
              </a:spcBef>
              <a:spcAft>
                <a:spcPts val="600"/>
              </a:spcAft>
              <a:buClr>
                <a:srgbClr val="FF0000"/>
              </a:buClr>
              <a:buFont typeface="Wingdings" panose="05000000000000000000" charset="0"/>
              <a:buChar char="ü"/>
            </a:pPr>
            <a:r>
              <a:rPr lang="en-US" altLang="zh-CN" sz="1800" b="1" dirty="0"/>
              <a:t>partition()</a:t>
            </a:r>
            <a:r>
              <a:rPr lang="zh-CN" altLang="en-US" sz="1800" b="1" dirty="0"/>
              <a:t>和</a:t>
            </a:r>
            <a:r>
              <a:rPr lang="en-US" altLang="zh-CN" sz="1800" b="1" dirty="0" err="1"/>
              <a:t>rpartition</a:t>
            </a:r>
            <a:r>
              <a:rPr lang="en-US" altLang="zh-CN" sz="1800" b="1" dirty="0"/>
              <a:t>()</a:t>
            </a:r>
            <a:r>
              <a:rPr lang="zh-CN" altLang="en-US" sz="1800" b="1" dirty="0"/>
              <a:t>用来</a:t>
            </a:r>
            <a:r>
              <a:rPr lang="zh-CN" altLang="en-US" sz="1800" b="1" dirty="0">
                <a:solidFill>
                  <a:srgbClr val="FF0000"/>
                </a:solidFill>
              </a:rPr>
              <a:t>以指定字符串为分隔符</a:t>
            </a:r>
            <a:r>
              <a:rPr lang="zh-CN" altLang="en-US" sz="1800" b="1" dirty="0"/>
              <a:t>将原字符串分隔为</a:t>
            </a:r>
            <a:r>
              <a:rPr lang="en-US" altLang="zh-CN" sz="1800" b="1" dirty="0">
                <a:solidFill>
                  <a:srgbClr val="FF0000"/>
                </a:solidFill>
              </a:rPr>
              <a:t>3</a:t>
            </a:r>
            <a:r>
              <a:rPr lang="zh-CN" altLang="en-US" sz="1800" b="1" dirty="0">
                <a:solidFill>
                  <a:srgbClr val="FF0000"/>
                </a:solidFill>
              </a:rPr>
              <a:t>部分</a:t>
            </a:r>
            <a:r>
              <a:rPr lang="zh-CN" altLang="en-US" sz="1800" b="1" dirty="0"/>
              <a:t>，即分隔符前的字符串、分隔符字符串、分隔符后的字符串，</a:t>
            </a:r>
            <a:r>
              <a:rPr lang="zh-CN" altLang="en-US" sz="1800" b="1" dirty="0">
                <a:solidFill>
                  <a:srgbClr val="FF0000"/>
                </a:solidFill>
              </a:rPr>
              <a:t>如果指定的分隔符不在原字符串中，则返回原字符串和两个空字符串</a:t>
            </a:r>
            <a:r>
              <a:rPr lang="zh-CN" altLang="en-US" sz="1800" b="1" dirty="0"/>
              <a:t>。</a:t>
            </a:r>
            <a:endParaRPr lang="zh-CN" altLang="en-US" sz="4400" b="1" dirty="0"/>
          </a:p>
        </p:txBody>
      </p:sp>
      <p:sp>
        <p:nvSpPr>
          <p:cNvPr id="12" name="文本占位符 33794"/>
          <p:cNvSpPr txBox="1"/>
          <p:nvPr/>
        </p:nvSpPr>
        <p:spPr bwMode="auto">
          <a:xfrm>
            <a:off x="1393296" y="3356992"/>
            <a:ext cx="8229600" cy="3237557"/>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905" indent="-344805">
              <a:spcBef>
                <a:spcPts val="0"/>
              </a:spcBef>
              <a:buSzPct val="70000"/>
              <a:buFont typeface="Arial" panose="020B0604020202020204" pitchFamily="34" charset="0"/>
              <a:buNone/>
            </a:pPr>
            <a:r>
              <a:rPr lang="en-US" altLang="zh-CN" sz="1350" dirty="0">
                <a:latin typeface="Consolas" panose="020B0609020204030204" charset="0"/>
              </a:rPr>
              <a:t>&gt;&gt;&gt; s = "</a:t>
            </a:r>
            <a:r>
              <a:rPr lang="en-US" altLang="zh-CN" sz="1350" dirty="0" err="1">
                <a:latin typeface="Consolas" panose="020B0609020204030204" charset="0"/>
              </a:rPr>
              <a:t>apple,peach,banana,pear</a:t>
            </a:r>
            <a:r>
              <a:rPr lang="en-US" altLang="zh-CN" sz="1350" dirty="0">
                <a:latin typeface="Consolas" panose="020B0609020204030204" charset="0"/>
              </a:rPr>
              <a:t>"</a:t>
            </a:r>
          </a:p>
          <a:p>
            <a:pPr marL="1905" indent="-344805">
              <a:spcBef>
                <a:spcPts val="0"/>
              </a:spcBef>
              <a:buSzPct val="70000"/>
              <a:buFont typeface="Arial" panose="020B0604020202020204" pitchFamily="34" charset="0"/>
              <a:buNone/>
            </a:pPr>
            <a:r>
              <a:rPr lang="en-US" altLang="zh-CN" sz="1350" dirty="0">
                <a:latin typeface="Consolas" panose="020B0609020204030204" charset="0"/>
              </a:rPr>
              <a:t>&gt;&gt;&gt; </a:t>
            </a:r>
            <a:r>
              <a:rPr lang="en-US" altLang="zh-CN" sz="1350" dirty="0" err="1">
                <a:latin typeface="Consolas" panose="020B0609020204030204" charset="0"/>
              </a:rPr>
              <a:t>s.split</a:t>
            </a:r>
            <a:r>
              <a:rPr lang="en-US" altLang="zh-CN" sz="1350" dirty="0">
                <a:latin typeface="Consolas" panose="020B0609020204030204" charset="0"/>
              </a:rPr>
              <a:t>(",")</a:t>
            </a:r>
          </a:p>
          <a:p>
            <a:pPr marL="1905" indent="-344805">
              <a:spcBef>
                <a:spcPts val="0"/>
              </a:spcBef>
              <a:buSzPct val="70000"/>
              <a:buFont typeface="Arial" panose="020B0604020202020204" pitchFamily="34" charset="0"/>
              <a:buNone/>
            </a:pPr>
            <a:r>
              <a:rPr lang="en-US" altLang="zh-CN" sz="1350" dirty="0">
                <a:solidFill>
                  <a:srgbClr val="0000FF"/>
                </a:solidFill>
                <a:latin typeface="Consolas" panose="020B0609020204030204" charset="0"/>
              </a:rPr>
              <a:t>["apple", "peach", "banana", "pear"]</a:t>
            </a:r>
          </a:p>
          <a:p>
            <a:pPr marL="1905" indent="-344805">
              <a:spcBef>
                <a:spcPts val="0"/>
              </a:spcBef>
              <a:buSzPct val="70000"/>
              <a:buFont typeface="Arial" panose="020B0604020202020204" pitchFamily="34" charset="0"/>
              <a:buNone/>
            </a:pPr>
            <a:r>
              <a:rPr lang="en-US" altLang="zh-CN" sz="1350" dirty="0">
                <a:latin typeface="Consolas" panose="020B0609020204030204" charset="0"/>
              </a:rPr>
              <a:t>&gt;&gt;&gt; </a:t>
            </a:r>
            <a:r>
              <a:rPr lang="en-US" altLang="zh-CN" sz="1350" dirty="0" err="1">
                <a:latin typeface="Consolas" panose="020B0609020204030204" charset="0"/>
              </a:rPr>
              <a:t>s.partition</a:t>
            </a:r>
            <a:r>
              <a:rPr lang="en-US" altLang="zh-CN" sz="1350" dirty="0">
                <a:latin typeface="Consolas" panose="020B0609020204030204" charset="0"/>
              </a:rPr>
              <a:t>(',')</a:t>
            </a:r>
          </a:p>
          <a:p>
            <a:pPr marL="1905" indent="-344805">
              <a:spcBef>
                <a:spcPts val="0"/>
              </a:spcBef>
              <a:buSzPct val="70000"/>
              <a:buFont typeface="Arial" panose="020B0604020202020204" pitchFamily="34" charset="0"/>
              <a:buNone/>
            </a:pPr>
            <a:r>
              <a:rPr lang="en-US" altLang="zh-CN" sz="1350" dirty="0">
                <a:solidFill>
                  <a:srgbClr val="0000FF"/>
                </a:solidFill>
                <a:latin typeface="Consolas" panose="020B0609020204030204" charset="0"/>
              </a:rPr>
              <a:t>('apple', ',', '</a:t>
            </a:r>
            <a:r>
              <a:rPr lang="en-US" altLang="zh-CN" sz="1350" dirty="0" err="1">
                <a:solidFill>
                  <a:srgbClr val="0000FF"/>
                </a:solidFill>
                <a:latin typeface="Consolas" panose="020B0609020204030204" charset="0"/>
              </a:rPr>
              <a:t>peach,banana,pear</a:t>
            </a:r>
            <a:r>
              <a:rPr lang="en-US" altLang="zh-CN" sz="1350" dirty="0">
                <a:solidFill>
                  <a:srgbClr val="0000FF"/>
                </a:solidFill>
                <a:latin typeface="Consolas" panose="020B0609020204030204" charset="0"/>
              </a:rPr>
              <a:t>')</a:t>
            </a:r>
          </a:p>
          <a:p>
            <a:pPr marL="1905" indent="-344805">
              <a:spcBef>
                <a:spcPts val="0"/>
              </a:spcBef>
              <a:buSzPct val="70000"/>
              <a:buFont typeface="Arial" panose="020B0604020202020204" pitchFamily="34" charset="0"/>
              <a:buNone/>
            </a:pPr>
            <a:r>
              <a:rPr lang="en-US" altLang="zh-CN" sz="1350" dirty="0">
                <a:latin typeface="Consolas" panose="020B0609020204030204" charset="0"/>
              </a:rPr>
              <a:t>&gt;&gt;&gt; </a:t>
            </a:r>
            <a:r>
              <a:rPr lang="en-US" altLang="zh-CN" sz="1350" dirty="0" err="1">
                <a:latin typeface="Consolas" panose="020B0609020204030204" charset="0"/>
              </a:rPr>
              <a:t>s.rpartition</a:t>
            </a:r>
            <a:r>
              <a:rPr lang="en-US" altLang="zh-CN" sz="1350" dirty="0">
                <a:latin typeface="Consolas" panose="020B0609020204030204" charset="0"/>
              </a:rPr>
              <a:t>(',')</a:t>
            </a:r>
          </a:p>
          <a:p>
            <a:pPr marL="1905" indent="-344805">
              <a:spcBef>
                <a:spcPts val="0"/>
              </a:spcBef>
              <a:buSzPct val="70000"/>
              <a:buFont typeface="Arial" panose="020B0604020202020204" pitchFamily="34" charset="0"/>
              <a:buNone/>
            </a:pPr>
            <a:r>
              <a:rPr lang="en-US" altLang="zh-CN" sz="1350" dirty="0">
                <a:solidFill>
                  <a:srgbClr val="0000FF"/>
                </a:solidFill>
                <a:latin typeface="Consolas" panose="020B0609020204030204" charset="0"/>
              </a:rPr>
              <a:t>('</a:t>
            </a:r>
            <a:r>
              <a:rPr lang="en-US" altLang="zh-CN" sz="1350" dirty="0" err="1">
                <a:solidFill>
                  <a:srgbClr val="0000FF"/>
                </a:solidFill>
                <a:latin typeface="Consolas" panose="020B0609020204030204" charset="0"/>
              </a:rPr>
              <a:t>apple,peach,banana</a:t>
            </a:r>
            <a:r>
              <a:rPr lang="en-US" altLang="zh-CN" sz="1350" dirty="0">
                <a:solidFill>
                  <a:srgbClr val="0000FF"/>
                </a:solidFill>
                <a:latin typeface="Consolas" panose="020B0609020204030204" charset="0"/>
              </a:rPr>
              <a:t>', ',', 'pear')</a:t>
            </a:r>
          </a:p>
          <a:p>
            <a:pPr marL="1905" indent="-344805">
              <a:spcBef>
                <a:spcPts val="0"/>
              </a:spcBef>
              <a:buSzPct val="70000"/>
              <a:buFont typeface="Arial" panose="020B0604020202020204" pitchFamily="34" charset="0"/>
              <a:buNone/>
            </a:pPr>
            <a:r>
              <a:rPr lang="en-US" altLang="zh-CN" sz="1350" dirty="0">
                <a:latin typeface="Consolas" panose="020B0609020204030204" charset="0"/>
              </a:rPr>
              <a:t>&gt;&gt;&gt; </a:t>
            </a:r>
            <a:r>
              <a:rPr lang="en-US" altLang="zh-CN" sz="1350" dirty="0" err="1">
                <a:latin typeface="Consolas" panose="020B0609020204030204" charset="0"/>
              </a:rPr>
              <a:t>s.rpartition</a:t>
            </a:r>
            <a:r>
              <a:rPr lang="en-US" altLang="zh-CN" sz="1350" dirty="0">
                <a:latin typeface="Consolas" panose="020B0609020204030204" charset="0"/>
              </a:rPr>
              <a:t>('banana')</a:t>
            </a:r>
          </a:p>
          <a:p>
            <a:pPr marL="1905" indent="-344805">
              <a:spcBef>
                <a:spcPts val="0"/>
              </a:spcBef>
              <a:buSzPct val="70000"/>
              <a:buFont typeface="Arial" panose="020B0604020202020204" pitchFamily="34" charset="0"/>
              <a:buNone/>
            </a:pPr>
            <a:r>
              <a:rPr lang="en-US" altLang="zh-CN" sz="1350" dirty="0">
                <a:solidFill>
                  <a:srgbClr val="0000FF"/>
                </a:solidFill>
                <a:latin typeface="Consolas" panose="020B0609020204030204" charset="0"/>
              </a:rPr>
              <a:t>('</a:t>
            </a:r>
            <a:r>
              <a:rPr lang="en-US" altLang="zh-CN" sz="1350" dirty="0" err="1">
                <a:solidFill>
                  <a:srgbClr val="0000FF"/>
                </a:solidFill>
                <a:latin typeface="Consolas" panose="020B0609020204030204" charset="0"/>
              </a:rPr>
              <a:t>apple,peach</a:t>
            </a:r>
            <a:r>
              <a:rPr lang="en-US" altLang="zh-CN" sz="1350" dirty="0">
                <a:solidFill>
                  <a:srgbClr val="0000FF"/>
                </a:solidFill>
                <a:latin typeface="Consolas" panose="020B0609020204030204" charset="0"/>
              </a:rPr>
              <a:t>,', 'banana', ',pear')</a:t>
            </a:r>
          </a:p>
          <a:p>
            <a:pPr marL="1905" indent="-344805">
              <a:spcBef>
                <a:spcPts val="0"/>
              </a:spcBef>
              <a:buSzPct val="70000"/>
              <a:buFont typeface="Arial" panose="020B0604020202020204" pitchFamily="34" charset="0"/>
              <a:buNone/>
            </a:pPr>
            <a:r>
              <a:rPr lang="en-US" altLang="zh-CN" sz="1350" dirty="0">
                <a:latin typeface="Consolas" panose="020B0609020204030204" charset="0"/>
              </a:rPr>
              <a:t>&gt;&gt;&gt; s = "2020-5-20"</a:t>
            </a:r>
          </a:p>
          <a:p>
            <a:pPr marL="1905" indent="-344805">
              <a:spcBef>
                <a:spcPts val="0"/>
              </a:spcBef>
              <a:buSzPct val="70000"/>
              <a:buFont typeface="Arial" panose="020B0604020202020204" pitchFamily="34" charset="0"/>
              <a:buNone/>
            </a:pPr>
            <a:r>
              <a:rPr lang="en-US" altLang="zh-CN" sz="1350" dirty="0">
                <a:latin typeface="Consolas" panose="020B0609020204030204" charset="0"/>
              </a:rPr>
              <a:t>&gt;&gt;&gt; t = </a:t>
            </a:r>
            <a:r>
              <a:rPr lang="en-US" altLang="zh-CN" sz="1350" dirty="0" err="1">
                <a:latin typeface="Consolas" panose="020B0609020204030204" charset="0"/>
              </a:rPr>
              <a:t>s.split</a:t>
            </a:r>
            <a:r>
              <a:rPr lang="en-US" altLang="zh-CN" sz="1350" dirty="0">
                <a:latin typeface="Consolas" panose="020B0609020204030204" charset="0"/>
              </a:rPr>
              <a:t>("-")</a:t>
            </a:r>
          </a:p>
          <a:p>
            <a:pPr marL="1905" indent="-344805">
              <a:spcBef>
                <a:spcPts val="0"/>
              </a:spcBef>
              <a:buSzPct val="70000"/>
              <a:buFont typeface="Arial" panose="020B0604020202020204" pitchFamily="34" charset="0"/>
              <a:buNone/>
            </a:pPr>
            <a:r>
              <a:rPr lang="en-US" altLang="zh-CN" sz="1350" dirty="0">
                <a:latin typeface="Consolas" panose="020B0609020204030204" charset="0"/>
              </a:rPr>
              <a:t>&gt;&gt;&gt; print(t)</a:t>
            </a:r>
          </a:p>
          <a:p>
            <a:pPr marL="1905" indent="-344805">
              <a:spcBef>
                <a:spcPts val="0"/>
              </a:spcBef>
              <a:buSzPct val="70000"/>
              <a:buFont typeface="Arial" panose="020B0604020202020204" pitchFamily="34" charset="0"/>
              <a:buNone/>
            </a:pPr>
            <a:r>
              <a:rPr lang="en-US" altLang="zh-CN" sz="1350" dirty="0">
                <a:solidFill>
                  <a:srgbClr val="0000FF"/>
                </a:solidFill>
                <a:latin typeface="Consolas" panose="020B0609020204030204" charset="0"/>
              </a:rPr>
              <a:t>['2020', ‘5', ‘20']</a:t>
            </a:r>
          </a:p>
          <a:p>
            <a:pPr marL="1905" indent="-344805">
              <a:spcBef>
                <a:spcPts val="0"/>
              </a:spcBef>
              <a:buSzPct val="70000"/>
              <a:buFont typeface="Arial" panose="020B0604020202020204" pitchFamily="34" charset="0"/>
              <a:buNone/>
            </a:pPr>
            <a:r>
              <a:rPr lang="en-US" altLang="zh-CN" sz="1350" dirty="0">
                <a:latin typeface="Consolas" panose="020B0609020204030204" charset="0"/>
              </a:rPr>
              <a:t>&gt;&gt;&gt; print(list(map(</a:t>
            </a:r>
            <a:r>
              <a:rPr lang="en-US" altLang="zh-CN" sz="1350" dirty="0" err="1">
                <a:latin typeface="Consolas" panose="020B0609020204030204" charset="0"/>
              </a:rPr>
              <a:t>int</a:t>
            </a:r>
            <a:r>
              <a:rPr lang="en-US" altLang="zh-CN" sz="1350" dirty="0">
                <a:latin typeface="Consolas" panose="020B0609020204030204" charset="0"/>
              </a:rPr>
              <a:t>, t)))</a:t>
            </a:r>
          </a:p>
          <a:p>
            <a:pPr marL="1905" indent="-344805">
              <a:spcBef>
                <a:spcPts val="0"/>
              </a:spcBef>
              <a:buSzPct val="70000"/>
              <a:buFont typeface="Arial" panose="020B0604020202020204" pitchFamily="34" charset="0"/>
              <a:buNone/>
            </a:pPr>
            <a:r>
              <a:rPr lang="en-US" altLang="zh-CN" sz="1350" dirty="0">
                <a:solidFill>
                  <a:srgbClr val="0000FF"/>
                </a:solidFill>
                <a:latin typeface="Consolas" panose="020B0609020204030204" charset="0"/>
              </a:rPr>
              <a:t>[2020, 5, 20]</a:t>
            </a:r>
          </a:p>
        </p:txBody>
      </p:sp>
      <p:sp>
        <p:nvSpPr>
          <p:cNvPr id="13" name="线形标注 2 12"/>
          <p:cNvSpPr/>
          <p:nvPr/>
        </p:nvSpPr>
        <p:spPr>
          <a:xfrm>
            <a:off x="6372200" y="3933056"/>
            <a:ext cx="1045552" cy="329861"/>
          </a:xfrm>
          <a:prstGeom prst="borderCallout2">
            <a:avLst>
              <a:gd name="adj1" fmla="val 59740"/>
              <a:gd name="adj2" fmla="val 592"/>
              <a:gd name="adj3" fmla="val 56709"/>
              <a:gd name="adj4" fmla="val -16674"/>
              <a:gd name="adj5" fmla="val 56072"/>
              <a:gd name="adj6" fmla="val -288235"/>
            </a:avLst>
          </a:prstGeom>
          <a:solidFill>
            <a:srgbClr val="FFFF00"/>
          </a:solidFill>
          <a:ln>
            <a:solidFill>
              <a:srgbClr val="FF000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1400" noProof="1">
                <a:solidFill>
                  <a:srgbClr val="FF0000"/>
                </a:solidFill>
              </a:rPr>
              <a:t>分隔符</a:t>
            </a:r>
          </a:p>
        </p:txBody>
      </p:sp>
      <p:sp>
        <p:nvSpPr>
          <p:cNvPr id="14" name="文本框 13"/>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4.1.3 </a:t>
            </a:r>
            <a:r>
              <a:rPr lang="zh-CN" altLang="en-US" sz="2800" b="1" dirty="0">
                <a:latin typeface="Times New Roman" panose="02020603050405020304" pitchFamily="18" charset="0"/>
                <a:ea typeface="仿宋" panose="02010609060101010101" pitchFamily="49" charset="-122"/>
              </a:rPr>
              <a:t>字符串常用方法</a:t>
            </a:r>
            <a:endParaRPr lang="en-US" altLang="zh-CN" sz="2800" b="1" dirty="0">
              <a:ea typeface="仿宋" panose="02010609060101010101" pitchFamily="49" charset="-122"/>
            </a:endParaRPr>
          </a:p>
        </p:txBody>
      </p:sp>
      <p:pic>
        <p:nvPicPr>
          <p:cNvPr id="10" name="图片 9"/>
          <p:cNvPicPr>
            <a:picLocks noChangeAspect="1"/>
          </p:cNvPicPr>
          <p:nvPr/>
        </p:nvPicPr>
        <p:blipFill>
          <a:blip r:embed="rId4"/>
          <a:stretch>
            <a:fillRect/>
          </a:stretch>
        </p:blipFill>
        <p:spPr>
          <a:xfrm>
            <a:off x="5508096" y="3933056"/>
            <a:ext cx="3588867" cy="2664296"/>
          </a:xfrm>
          <a:prstGeom prst="rect">
            <a:avLst/>
          </a:prstGeom>
        </p:spPr>
      </p:pic>
    </p:spTree>
    <p:extLst>
      <p:ext uri="{BB962C8B-B14F-4D97-AF65-F5344CB8AC3E}">
        <p14:creationId xmlns:p14="http://schemas.microsoft.com/office/powerpoint/2010/main" val="146658355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ppt_x"/>
                                          </p:val>
                                        </p:tav>
                                        <p:tav tm="100000">
                                          <p:val>
                                            <p:strVal val="#ppt_x"/>
                                          </p:val>
                                        </p:tav>
                                      </p:tavLst>
                                    </p:anim>
                                    <p:anim calcmode="lin" valueType="num">
                                      <p:cBhvr additive="base">
                                        <p:cTn id="3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5" end="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
                                            <p:txEl>
                                              <p:pRg st="7" end="7"/>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9" end="9"/>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2">
                                            <p:txEl>
                                              <p:pRg st="10" end="10"/>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xEl>
                                              <p:pRg st="13" end="13"/>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2">
                                            <p:txEl>
                                              <p:pRg st="14" end="14"/>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10"/>
                                        </p:tgtEl>
                                        <p:attrNameLst>
                                          <p:attrName>style.visibility</p:attrName>
                                        </p:attrNameLst>
                                      </p:cBhvr>
                                      <p:to>
                                        <p:strVal val="visible"/>
                                      </p:to>
                                    </p:set>
                                    <p:anim calcmode="lin" valueType="num">
                                      <p:cBhvr additive="base">
                                        <p:cTn id="69" dur="500" fill="hold"/>
                                        <p:tgtEl>
                                          <p:spTgt spid="10"/>
                                        </p:tgtEl>
                                        <p:attrNameLst>
                                          <p:attrName>ppt_x</p:attrName>
                                        </p:attrNameLst>
                                      </p:cBhvr>
                                      <p:tavLst>
                                        <p:tav tm="0">
                                          <p:val>
                                            <p:strVal val="#ppt_x"/>
                                          </p:val>
                                        </p:tav>
                                        <p:tav tm="100000">
                                          <p:val>
                                            <p:strVal val="#ppt_x"/>
                                          </p:val>
                                        </p:tav>
                                      </p:tavLst>
                                    </p:anim>
                                    <p:anim calcmode="lin" valueType="num">
                                      <p:cBhvr additive="base">
                                        <p:cTn id="7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24</a:t>
            </a:fld>
            <a:endParaRPr lang="zh-CN" altLang="en-US" dirty="0"/>
          </a:p>
        </p:txBody>
      </p:sp>
      <p:grpSp>
        <p:nvGrpSpPr>
          <p:cNvPr id="5" name="组合 114"/>
          <p:cNvGrpSpPr/>
          <p:nvPr/>
        </p:nvGrpSpPr>
        <p:grpSpPr>
          <a:xfrm>
            <a:off x="-540568" y="116632"/>
            <a:ext cx="6225040" cy="662730"/>
            <a:chOff x="-198275" y="3380765"/>
            <a:chExt cx="6225040" cy="662730"/>
          </a:xfrm>
        </p:grpSpPr>
        <p:grpSp>
          <p:nvGrpSpPr>
            <p:cNvPr id="6" name="组合 105"/>
            <p:cNvGrpSpPr/>
            <p:nvPr/>
          </p:nvGrpSpPr>
          <p:grpSpPr>
            <a:xfrm>
              <a:off x="-198275" y="3380765"/>
              <a:ext cx="6225040" cy="662730"/>
              <a:chOff x="-198275" y="3380765"/>
              <a:chExt cx="6225040" cy="662730"/>
            </a:xfrm>
          </p:grpSpPr>
          <p:sp>
            <p:nvSpPr>
              <p:cNvPr id="8"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7" name="图片 6"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1" name="文本占位符 35842"/>
          <p:cNvSpPr>
            <a:spLocks noGrp="1"/>
          </p:cNvSpPr>
          <p:nvPr>
            <p:ph idx="1"/>
          </p:nvPr>
        </p:nvSpPr>
        <p:spPr>
          <a:xfrm>
            <a:off x="179512" y="1466880"/>
            <a:ext cx="8229600" cy="4678451"/>
          </a:xfrm>
        </p:spPr>
        <p:txBody>
          <a:bodyPr anchor="t"/>
          <a:lstStyle/>
          <a:p>
            <a:pPr>
              <a:lnSpc>
                <a:spcPct val="80000"/>
              </a:lnSpc>
              <a:buClr>
                <a:srgbClr val="FF0000"/>
              </a:buClr>
              <a:buSzPct val="70000"/>
              <a:buFont typeface="Wingdings" panose="05000000000000000000" charset="0"/>
              <a:buChar char=""/>
            </a:pPr>
            <a:r>
              <a:rPr lang="en-US" altLang="zh-CN" sz="1200" noProof="1"/>
              <a:t>split()</a:t>
            </a:r>
            <a:r>
              <a:rPr lang="zh-CN" altLang="en-US" sz="1200" noProof="1"/>
              <a:t>和</a:t>
            </a:r>
            <a:r>
              <a:rPr lang="en-US" altLang="zh-CN" sz="1200" noProof="1"/>
              <a:t>rsplit()</a:t>
            </a:r>
            <a:r>
              <a:rPr lang="zh-CN" altLang="en-US" sz="1200" noProof="1"/>
              <a:t>方法如果不指定分隔符，则字符串中的</a:t>
            </a:r>
            <a:r>
              <a:rPr lang="zh-CN" altLang="en-US" sz="1200" noProof="1">
                <a:solidFill>
                  <a:srgbClr val="FF0000"/>
                </a:solidFill>
              </a:rPr>
              <a:t>任何空白符号（包括空格、换行符、制表符等）</a:t>
            </a:r>
            <a:r>
              <a:rPr lang="zh-CN" altLang="en-US" sz="1200" noProof="1"/>
              <a:t>都被认为是分隔符，返回包含最终分隔符的列表</a:t>
            </a:r>
            <a:endParaRPr lang="en-US" altLang="zh-CN" sz="1200" noProof="1"/>
          </a:p>
          <a:p>
            <a:pPr>
              <a:lnSpc>
                <a:spcPct val="80000"/>
              </a:lnSpc>
              <a:buClr>
                <a:srgbClr val="FF0000"/>
              </a:buClr>
              <a:buSzPct val="70000"/>
              <a:buFont typeface="Wingdings" panose="05000000000000000000" charset="0"/>
              <a:buChar char=""/>
            </a:pPr>
            <a:r>
              <a:rPr lang="en-US" altLang="zh-CN" sz="1200" noProof="1"/>
              <a:t>split()</a:t>
            </a:r>
            <a:r>
              <a:rPr lang="zh-CN" altLang="en-US" sz="1200" noProof="1"/>
              <a:t>和</a:t>
            </a:r>
            <a:r>
              <a:rPr lang="en-US" altLang="zh-CN" sz="1200" noProof="1"/>
              <a:t>rsplit()</a:t>
            </a:r>
            <a:r>
              <a:rPr lang="zh-CN" altLang="en-US" sz="1200" noProof="1"/>
              <a:t>方法还允许指定最大分割次数。第二个参数</a:t>
            </a:r>
            <a:r>
              <a:rPr lang="zh-CN" altLang="en-US" sz="1200" dirty="0">
                <a:solidFill>
                  <a:srgbClr val="333333"/>
                </a:solidFill>
                <a:latin typeface="Helvetica Neue"/>
              </a:rPr>
              <a:t>默认为 </a:t>
            </a:r>
            <a:r>
              <a:rPr lang="en-US" altLang="zh-CN" sz="1200" dirty="0">
                <a:solidFill>
                  <a:srgbClr val="333333"/>
                </a:solidFill>
                <a:latin typeface="Helvetica Neue"/>
              </a:rPr>
              <a:t>-1, </a:t>
            </a:r>
            <a:r>
              <a:rPr lang="zh-CN" altLang="en-US" sz="1200" dirty="0">
                <a:solidFill>
                  <a:srgbClr val="333333"/>
                </a:solidFill>
                <a:latin typeface="Helvetica Neue"/>
              </a:rPr>
              <a:t>即分隔所有。</a:t>
            </a:r>
            <a:r>
              <a:rPr lang="en-US" altLang="zh-CN" sz="1200" dirty="0">
                <a:solidFill>
                  <a:srgbClr val="333333"/>
                </a:solidFill>
                <a:latin typeface="Helvetica Neue"/>
              </a:rPr>
              <a:t>0,1,2</a:t>
            </a:r>
            <a:r>
              <a:rPr lang="zh-CN" altLang="en-US" sz="1200" dirty="0">
                <a:solidFill>
                  <a:srgbClr val="333333"/>
                </a:solidFill>
                <a:latin typeface="Helvetica Neue"/>
              </a:rPr>
              <a:t>，</a:t>
            </a:r>
            <a:r>
              <a:rPr lang="en-US" altLang="zh-CN" sz="1200" dirty="0">
                <a:solidFill>
                  <a:srgbClr val="333333"/>
                </a:solidFill>
                <a:latin typeface="Helvetica Neue"/>
              </a:rPr>
              <a:t>~ </a:t>
            </a:r>
            <a:r>
              <a:rPr lang="en-US" altLang="zh-CN" sz="1200" dirty="0" err="1">
                <a:solidFill>
                  <a:srgbClr val="333333"/>
                </a:solidFill>
                <a:latin typeface="Helvetica Neue"/>
              </a:rPr>
              <a:t>string.count</a:t>
            </a:r>
            <a:r>
              <a:rPr lang="en-US" altLang="zh-CN" sz="1200" dirty="0">
                <a:solidFill>
                  <a:srgbClr val="333333"/>
                </a:solidFill>
                <a:latin typeface="Helvetica Neue"/>
              </a:rPr>
              <a:t>(str)</a:t>
            </a:r>
            <a:endParaRPr lang="zh-CN" altLang="en-US" sz="1200" noProof="1"/>
          </a:p>
          <a:p>
            <a:pPr marL="1905" indent="-344805">
              <a:lnSpc>
                <a:spcPct val="80000"/>
              </a:lnSpc>
              <a:buSzPct val="70000"/>
              <a:buNone/>
            </a:pPr>
            <a:endParaRPr lang="en-US" altLang="zh-CN" sz="1200" noProof="1">
              <a:latin typeface="Consolas" panose="020B0609020204030204" charset="0"/>
              <a:ea typeface="+mn-ea"/>
            </a:endParaRPr>
          </a:p>
          <a:p>
            <a:pPr marL="1905" indent="-344805">
              <a:lnSpc>
                <a:spcPct val="80000"/>
              </a:lnSpc>
              <a:buSzPct val="70000"/>
              <a:buNone/>
            </a:pPr>
            <a:r>
              <a:rPr lang="en-US" altLang="zh-CN" sz="1200" noProof="1">
                <a:latin typeface="Consolas" panose="020B0609020204030204" charset="0"/>
                <a:ea typeface="+mn-ea"/>
              </a:rPr>
              <a:t>&gt;&gt;&gt; s = '\n\nhello\t\t world \n\n\n My name is Python   '</a:t>
            </a:r>
          </a:p>
          <a:p>
            <a:pPr marL="1905" indent="-344805">
              <a:lnSpc>
                <a:spcPct val="80000"/>
              </a:lnSpc>
              <a:buSzPct val="70000"/>
              <a:buNone/>
            </a:pPr>
            <a:r>
              <a:rPr lang="en-US" altLang="zh-CN" sz="1200" noProof="1">
                <a:latin typeface="Consolas" panose="020B0609020204030204" charset="0"/>
                <a:ea typeface="+mn-ea"/>
              </a:rPr>
              <a:t>&gt;&gt;&gt; s.split(None, 1)</a:t>
            </a:r>
          </a:p>
          <a:p>
            <a:pPr marL="1905" indent="-344805">
              <a:lnSpc>
                <a:spcPct val="80000"/>
              </a:lnSpc>
              <a:buSzPct val="70000"/>
              <a:buNone/>
            </a:pPr>
            <a:r>
              <a:rPr lang="en-US" altLang="zh-CN" sz="1200" noProof="1">
                <a:solidFill>
                  <a:srgbClr val="0000FF"/>
                </a:solidFill>
                <a:latin typeface="Consolas" panose="020B0609020204030204" charset="0"/>
                <a:ea typeface="+mn-ea"/>
              </a:rPr>
              <a:t>['hello', 'world \n\n\n My name is </a:t>
            </a:r>
            <a:r>
              <a:rPr lang="en-US" altLang="zh-CN" sz="1200" noProof="1">
                <a:latin typeface="Consolas" panose="020B0609020204030204" charset="0"/>
              </a:rPr>
              <a:t>Python</a:t>
            </a:r>
            <a:r>
              <a:rPr lang="en-US" altLang="zh-CN" sz="1200" noProof="1">
                <a:solidFill>
                  <a:srgbClr val="0000FF"/>
                </a:solidFill>
                <a:latin typeface="Consolas" panose="020B0609020204030204" charset="0"/>
                <a:ea typeface="+mn-ea"/>
              </a:rPr>
              <a:t>   ']</a:t>
            </a:r>
          </a:p>
          <a:p>
            <a:pPr marL="1905" indent="-344805">
              <a:lnSpc>
                <a:spcPct val="80000"/>
              </a:lnSpc>
              <a:buSzPct val="70000"/>
              <a:buNone/>
            </a:pPr>
            <a:r>
              <a:rPr lang="en-US" altLang="zh-CN" sz="1200" noProof="1">
                <a:latin typeface="Consolas" panose="020B0609020204030204" charset="0"/>
                <a:ea typeface="+mn-ea"/>
              </a:rPr>
              <a:t>&gt;&gt;&gt; s.rsplit(None, 1)</a:t>
            </a:r>
          </a:p>
          <a:p>
            <a:pPr marL="1905" indent="-344805">
              <a:lnSpc>
                <a:spcPct val="80000"/>
              </a:lnSpc>
              <a:buSzPct val="70000"/>
              <a:buNone/>
            </a:pPr>
            <a:r>
              <a:rPr lang="en-US" altLang="zh-CN" sz="1200" noProof="1">
                <a:solidFill>
                  <a:srgbClr val="0000FF"/>
                </a:solidFill>
                <a:latin typeface="Consolas" panose="020B0609020204030204" charset="0"/>
                <a:ea typeface="+mn-ea"/>
              </a:rPr>
              <a:t>['\n\nhello\t\t world \n\n\n My name is', </a:t>
            </a:r>
            <a:r>
              <a:rPr lang="en-US" altLang="zh-CN" sz="1200" noProof="1">
                <a:solidFill>
                  <a:srgbClr val="0000FF"/>
                </a:solidFill>
                <a:latin typeface="Consolas" panose="020B0609020204030204" charset="0"/>
              </a:rPr>
              <a:t>'Python</a:t>
            </a:r>
            <a:r>
              <a:rPr lang="en-US" altLang="zh-CN" sz="1200" noProof="1">
                <a:solidFill>
                  <a:srgbClr val="0000FF"/>
                </a:solidFill>
                <a:latin typeface="Consolas" panose="020B0609020204030204" charset="0"/>
                <a:ea typeface="+mn-ea"/>
              </a:rPr>
              <a:t>']</a:t>
            </a:r>
          </a:p>
          <a:p>
            <a:pPr marL="1905" indent="-344805">
              <a:lnSpc>
                <a:spcPct val="80000"/>
              </a:lnSpc>
              <a:buSzPct val="70000"/>
              <a:buNone/>
            </a:pPr>
            <a:r>
              <a:rPr lang="en-US" altLang="zh-CN" sz="1200" noProof="1">
                <a:latin typeface="Consolas" panose="020B0609020204030204" charset="0"/>
                <a:ea typeface="+mn-ea"/>
              </a:rPr>
              <a:t>&gt;&gt;&gt; s.split(None, 2)</a:t>
            </a:r>
          </a:p>
          <a:p>
            <a:pPr marL="1905" indent="-344805">
              <a:lnSpc>
                <a:spcPct val="80000"/>
              </a:lnSpc>
              <a:buSzPct val="70000"/>
              <a:buNone/>
            </a:pPr>
            <a:r>
              <a:rPr lang="en-US" altLang="zh-CN" sz="1200" noProof="1">
                <a:solidFill>
                  <a:srgbClr val="0000FF"/>
                </a:solidFill>
                <a:latin typeface="Consolas" panose="020B0609020204030204" charset="0"/>
                <a:ea typeface="+mn-ea"/>
              </a:rPr>
              <a:t>['hello', 'world', 'My name is </a:t>
            </a:r>
            <a:r>
              <a:rPr lang="en-US" altLang="zh-CN" sz="1200" noProof="1">
                <a:solidFill>
                  <a:srgbClr val="0000FF"/>
                </a:solidFill>
                <a:latin typeface="Consolas" panose="020B0609020204030204" charset="0"/>
              </a:rPr>
              <a:t>Python</a:t>
            </a:r>
            <a:r>
              <a:rPr lang="en-US" altLang="zh-CN" sz="1200" noProof="1">
                <a:solidFill>
                  <a:srgbClr val="0000FF"/>
                </a:solidFill>
                <a:latin typeface="Consolas" panose="020B0609020204030204" charset="0"/>
                <a:ea typeface="+mn-ea"/>
              </a:rPr>
              <a:t>   ']</a:t>
            </a:r>
          </a:p>
          <a:p>
            <a:pPr marL="1905" indent="-344805">
              <a:lnSpc>
                <a:spcPct val="80000"/>
              </a:lnSpc>
              <a:buSzPct val="70000"/>
              <a:buNone/>
            </a:pPr>
            <a:r>
              <a:rPr lang="en-US" altLang="zh-CN" sz="1200" noProof="1">
                <a:latin typeface="Consolas" panose="020B0609020204030204" charset="0"/>
                <a:ea typeface="+mn-ea"/>
              </a:rPr>
              <a:t>&gt;&gt;&gt; s.rsplit(None, 2)</a:t>
            </a:r>
          </a:p>
          <a:p>
            <a:pPr marL="1905" indent="-344805">
              <a:lnSpc>
                <a:spcPct val="80000"/>
              </a:lnSpc>
              <a:buSzPct val="70000"/>
              <a:buNone/>
            </a:pPr>
            <a:r>
              <a:rPr lang="en-US" altLang="zh-CN" sz="1200" noProof="1">
                <a:solidFill>
                  <a:srgbClr val="0000FF"/>
                </a:solidFill>
                <a:latin typeface="Consolas" panose="020B0609020204030204" charset="0"/>
                <a:ea typeface="+mn-ea"/>
              </a:rPr>
              <a:t>['\n\nhello\t\t world \n\n\n My name', 'is', </a:t>
            </a:r>
            <a:r>
              <a:rPr lang="en-US" altLang="zh-CN" sz="1200" noProof="1">
                <a:solidFill>
                  <a:srgbClr val="0000FF"/>
                </a:solidFill>
                <a:latin typeface="Consolas" panose="020B0609020204030204" charset="0"/>
              </a:rPr>
              <a:t>'Python</a:t>
            </a:r>
            <a:r>
              <a:rPr lang="en-US" altLang="zh-CN" sz="1200" noProof="1">
                <a:solidFill>
                  <a:srgbClr val="0000FF"/>
                </a:solidFill>
                <a:latin typeface="Consolas" panose="020B0609020204030204" charset="0"/>
                <a:ea typeface="+mn-ea"/>
              </a:rPr>
              <a:t>']</a:t>
            </a:r>
          </a:p>
          <a:p>
            <a:pPr marL="1905" indent="-344805">
              <a:lnSpc>
                <a:spcPct val="80000"/>
              </a:lnSpc>
              <a:buSzPct val="70000"/>
              <a:buNone/>
            </a:pPr>
            <a:r>
              <a:rPr lang="en-US" altLang="zh-CN" sz="1200" noProof="1">
                <a:latin typeface="Consolas" panose="020B0609020204030204" charset="0"/>
                <a:ea typeface="+mn-ea"/>
              </a:rPr>
              <a:t>&gt;&gt;&gt; s.split(maxsplit=6)</a:t>
            </a:r>
          </a:p>
          <a:p>
            <a:pPr marL="1905" indent="-344805">
              <a:lnSpc>
                <a:spcPct val="80000"/>
              </a:lnSpc>
              <a:buSzPct val="70000"/>
              <a:buNone/>
            </a:pPr>
            <a:r>
              <a:rPr lang="en-US" altLang="zh-CN" sz="1200" noProof="1">
                <a:solidFill>
                  <a:srgbClr val="0000FF"/>
                </a:solidFill>
                <a:latin typeface="Consolas" panose="020B0609020204030204" charset="0"/>
                <a:ea typeface="+mn-ea"/>
              </a:rPr>
              <a:t>['hello', 'world', 'My', 'name', 'is', </a:t>
            </a:r>
            <a:r>
              <a:rPr lang="en-US" altLang="zh-CN" sz="1200" noProof="1">
                <a:solidFill>
                  <a:srgbClr val="0000FF"/>
                </a:solidFill>
                <a:latin typeface="Consolas" panose="020B0609020204030204" charset="0"/>
              </a:rPr>
              <a:t>'Python</a:t>
            </a:r>
            <a:r>
              <a:rPr lang="en-US" altLang="zh-CN" sz="1200" noProof="1">
                <a:solidFill>
                  <a:srgbClr val="0000FF"/>
                </a:solidFill>
                <a:latin typeface="Consolas" panose="020B0609020204030204" charset="0"/>
                <a:ea typeface="+mn-ea"/>
              </a:rPr>
              <a:t>']</a:t>
            </a:r>
          </a:p>
          <a:p>
            <a:pPr marL="1905" indent="-344805">
              <a:lnSpc>
                <a:spcPct val="80000"/>
              </a:lnSpc>
              <a:buSzPct val="70000"/>
              <a:buNone/>
            </a:pPr>
            <a:r>
              <a:rPr lang="en-US" altLang="zh-CN" sz="1200" noProof="1">
                <a:latin typeface="Consolas" panose="020B0609020204030204" charset="0"/>
                <a:ea typeface="+mn-ea"/>
              </a:rPr>
              <a:t>&gt;&gt;&gt; s.split(maxsplit=100)   #</a:t>
            </a:r>
            <a:r>
              <a:rPr lang="zh-CN" altLang="en-US" sz="1200" noProof="1">
                <a:latin typeface="Consolas" panose="020B0609020204030204" charset="0"/>
                <a:ea typeface="+mn-ea"/>
              </a:rPr>
              <a:t>最大分隔次数大于可分隔次数时无效</a:t>
            </a:r>
          </a:p>
          <a:p>
            <a:pPr marL="1905" indent="-344805">
              <a:lnSpc>
                <a:spcPct val="80000"/>
              </a:lnSpc>
              <a:buSzPct val="70000"/>
              <a:buNone/>
            </a:pPr>
            <a:r>
              <a:rPr lang="en-US" altLang="zh-CN" sz="1200" noProof="1">
                <a:solidFill>
                  <a:srgbClr val="0000FF"/>
                </a:solidFill>
                <a:latin typeface="Consolas" panose="020B0609020204030204" charset="0"/>
                <a:ea typeface="+mn-ea"/>
              </a:rPr>
              <a:t>['hello', 'world', 'My', 'name', 'is', </a:t>
            </a:r>
            <a:r>
              <a:rPr lang="en-US" altLang="zh-CN" sz="1200" noProof="1">
                <a:solidFill>
                  <a:srgbClr val="0000FF"/>
                </a:solidFill>
                <a:latin typeface="Consolas" panose="020B0609020204030204" charset="0"/>
              </a:rPr>
              <a:t>'Python</a:t>
            </a:r>
            <a:r>
              <a:rPr lang="en-US" altLang="zh-CN" sz="1200" noProof="1">
                <a:solidFill>
                  <a:srgbClr val="0000FF"/>
                </a:solidFill>
                <a:latin typeface="Consolas" panose="020B0609020204030204" charset="0"/>
                <a:ea typeface="+mn-ea"/>
              </a:rPr>
              <a:t>']</a:t>
            </a:r>
          </a:p>
        </p:txBody>
      </p:sp>
      <p:sp>
        <p:nvSpPr>
          <p:cNvPr id="12" name="文本框 11"/>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4.1.3 </a:t>
            </a:r>
            <a:r>
              <a:rPr lang="zh-CN" altLang="en-US" sz="2800" b="1" dirty="0">
                <a:latin typeface="Times New Roman" panose="02020603050405020304" pitchFamily="18" charset="0"/>
                <a:ea typeface="仿宋" panose="02010609060101010101" pitchFamily="49" charset="-122"/>
              </a:rPr>
              <a:t>字符串常用方法</a:t>
            </a:r>
            <a:endParaRPr lang="en-US" altLang="zh-CN" sz="2800" b="1" dirty="0">
              <a:ea typeface="仿宋" panose="02010609060101010101" pitchFamily="49" charset="-122"/>
            </a:endParaRPr>
          </a:p>
        </p:txBody>
      </p:sp>
      <p:pic>
        <p:nvPicPr>
          <p:cNvPr id="10" name="图片 9"/>
          <p:cNvPicPr>
            <a:picLocks noChangeAspect="1"/>
          </p:cNvPicPr>
          <p:nvPr/>
        </p:nvPicPr>
        <p:blipFill>
          <a:blip r:embed="rId4"/>
          <a:stretch>
            <a:fillRect/>
          </a:stretch>
        </p:blipFill>
        <p:spPr>
          <a:xfrm>
            <a:off x="5244425" y="2123464"/>
            <a:ext cx="3889256" cy="2246381"/>
          </a:xfrm>
          <a:prstGeom prst="rect">
            <a:avLst/>
          </a:prstGeom>
        </p:spPr>
      </p:pic>
    </p:spTree>
    <p:extLst>
      <p:ext uri="{BB962C8B-B14F-4D97-AF65-F5344CB8AC3E}">
        <p14:creationId xmlns:p14="http://schemas.microsoft.com/office/powerpoint/2010/main" val="3811526065"/>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
                                            <p:txEl>
                                              <p:pRg st="12" end="1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xEl>
                                              <p:pRg st="14" end="14"/>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
                                            <p:txEl>
                                              <p:pRg st="15" end="1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additive="base">
                                        <p:cTn id="53" dur="500" fill="hold"/>
                                        <p:tgtEl>
                                          <p:spTgt spid="10"/>
                                        </p:tgtEl>
                                        <p:attrNameLst>
                                          <p:attrName>ppt_x</p:attrName>
                                        </p:attrNameLst>
                                      </p:cBhvr>
                                      <p:tavLst>
                                        <p:tav tm="0">
                                          <p:val>
                                            <p:strVal val="#ppt_x"/>
                                          </p:val>
                                        </p:tav>
                                        <p:tav tm="100000">
                                          <p:val>
                                            <p:strVal val="#ppt_x"/>
                                          </p:val>
                                        </p:tav>
                                      </p:tavLst>
                                    </p:anim>
                                    <p:anim calcmode="lin" valueType="num">
                                      <p:cBhvr additive="base">
                                        <p:cTn id="5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25</a:t>
            </a:fld>
            <a:endParaRPr lang="zh-CN" altLang="en-US" dirty="0"/>
          </a:p>
        </p:txBody>
      </p:sp>
      <p:sp>
        <p:nvSpPr>
          <p:cNvPr id="5" name="文本占位符 34818"/>
          <p:cNvSpPr>
            <a:spLocks noGrp="1"/>
          </p:cNvSpPr>
          <p:nvPr>
            <p:ph idx="1"/>
          </p:nvPr>
        </p:nvSpPr>
        <p:spPr>
          <a:xfrm>
            <a:off x="620938" y="1430948"/>
            <a:ext cx="8303895" cy="3395345"/>
          </a:xfrm>
        </p:spPr>
        <p:txBody>
          <a:bodyPr anchor="t"/>
          <a:lstStyle/>
          <a:p>
            <a:pPr>
              <a:spcBef>
                <a:spcPts val="600"/>
              </a:spcBef>
              <a:buClr>
                <a:srgbClr val="FF0000"/>
              </a:buClr>
              <a:buSzPct val="70000"/>
              <a:buFont typeface="Wingdings" panose="05000000000000000000" pitchFamily="2" charset="2"/>
              <a:buChar char="n"/>
            </a:pPr>
            <a:r>
              <a:rPr lang="zh-CN" altLang="en-US" sz="2000" b="1" noProof="1"/>
              <a:t>对于</a:t>
            </a:r>
            <a:r>
              <a:rPr lang="en-US" altLang="zh-CN" sz="2000" b="1" noProof="1"/>
              <a:t>split()</a:t>
            </a:r>
            <a:r>
              <a:rPr lang="zh-CN" altLang="en-US" sz="2000" b="1" noProof="1"/>
              <a:t>和</a:t>
            </a:r>
            <a:r>
              <a:rPr lang="en-US" altLang="zh-CN" sz="2000" b="1" noProof="1"/>
              <a:t>rsplit()</a:t>
            </a:r>
            <a:r>
              <a:rPr lang="zh-CN" altLang="en-US" sz="2000" b="1" noProof="1"/>
              <a:t>方法，如果</a:t>
            </a:r>
            <a:r>
              <a:rPr lang="zh-CN" altLang="en-US" sz="2000" b="1" noProof="1">
                <a:solidFill>
                  <a:srgbClr val="FF0000"/>
                </a:solidFill>
              </a:rPr>
              <a:t>不指定分隔符</a:t>
            </a:r>
            <a:r>
              <a:rPr lang="zh-CN" altLang="en-US" sz="2000" b="1" noProof="1"/>
              <a:t>，则字符串中的任何空白符号（空格、换行符、制表符等）都将被认为是分隔符，</a:t>
            </a:r>
            <a:r>
              <a:rPr lang="zh-CN" altLang="en-US" sz="2000" b="1" noProof="1">
                <a:sym typeface="+mn-ea"/>
              </a:rPr>
              <a:t>把</a:t>
            </a:r>
            <a:r>
              <a:rPr lang="zh-CN" altLang="en-US" sz="2000" b="1" noProof="1">
                <a:solidFill>
                  <a:srgbClr val="FF0000"/>
                </a:solidFill>
                <a:sym typeface="+mn-ea"/>
              </a:rPr>
              <a:t>连续多个 </a:t>
            </a:r>
            <a:r>
              <a:rPr lang="en-US" altLang="zh-CN" sz="2000" b="1" noProof="1">
                <a:solidFill>
                  <a:srgbClr val="FF0000"/>
                </a:solidFill>
                <a:sym typeface="+mn-ea"/>
              </a:rPr>
              <a:t>(</a:t>
            </a:r>
            <a:r>
              <a:rPr lang="zh-CN" altLang="en-US" sz="2000" b="1" noProof="1">
                <a:solidFill>
                  <a:srgbClr val="FF0000"/>
                </a:solidFill>
                <a:sym typeface="+mn-ea"/>
              </a:rPr>
              <a:t>空白字符等</a:t>
            </a:r>
            <a:r>
              <a:rPr lang="en-US" altLang="zh-CN" sz="2000" b="1" noProof="1">
                <a:solidFill>
                  <a:srgbClr val="FF0000"/>
                </a:solidFill>
                <a:sym typeface="+mn-ea"/>
              </a:rPr>
              <a:t>)</a:t>
            </a:r>
            <a:r>
              <a:rPr lang="zh-CN" altLang="en-US" sz="2000" b="1" noProof="1">
                <a:solidFill>
                  <a:srgbClr val="FF0000"/>
                </a:solidFill>
                <a:sym typeface="+mn-ea"/>
              </a:rPr>
              <a:t>看作一个分隔符</a:t>
            </a:r>
            <a:r>
              <a:rPr lang="zh-CN" altLang="en-US" sz="2000" b="1" noProof="1"/>
              <a:t>。</a:t>
            </a:r>
          </a:p>
          <a:p>
            <a:pPr marL="1905" indent="-344805">
              <a:lnSpc>
                <a:spcPct val="80000"/>
              </a:lnSpc>
              <a:buSzPct val="70000"/>
              <a:buNone/>
            </a:pPr>
            <a:endParaRPr lang="en-US" altLang="zh-CN" sz="1350" noProof="1">
              <a:latin typeface="Consolas" panose="020B0609020204030204" charset="0"/>
              <a:ea typeface="+mn-ea"/>
            </a:endParaRPr>
          </a:p>
          <a:p>
            <a:pPr marL="1905" indent="-344805">
              <a:lnSpc>
                <a:spcPct val="80000"/>
              </a:lnSpc>
              <a:buSzPct val="70000"/>
              <a:buNone/>
            </a:pPr>
            <a:r>
              <a:rPr lang="en-US" altLang="zh-CN" sz="1350" noProof="1">
                <a:latin typeface="Consolas" panose="020B0609020204030204" charset="0"/>
                <a:ea typeface="+mn-ea"/>
              </a:rPr>
              <a:t>&gt;&gt;&gt; s = '\n\nhello\t\t world \n\n\n My name\t is Python   '</a:t>
            </a:r>
          </a:p>
          <a:p>
            <a:pPr marL="1905" indent="-344805">
              <a:lnSpc>
                <a:spcPct val="80000"/>
              </a:lnSpc>
              <a:buSzPct val="70000"/>
              <a:buNone/>
            </a:pPr>
            <a:r>
              <a:rPr lang="en-US" altLang="zh-CN" sz="1350" noProof="1">
                <a:latin typeface="Consolas" panose="020B0609020204030204" charset="0"/>
                <a:ea typeface="+mn-ea"/>
              </a:rPr>
              <a:t>&gt;&gt;&gt; s.split()</a:t>
            </a:r>
          </a:p>
          <a:p>
            <a:pPr marL="1905" indent="-344805">
              <a:lnSpc>
                <a:spcPct val="80000"/>
              </a:lnSpc>
              <a:buSzPct val="70000"/>
              <a:buNone/>
            </a:pPr>
            <a:r>
              <a:rPr lang="en-US" altLang="zh-CN" sz="1350" noProof="1">
                <a:solidFill>
                  <a:srgbClr val="0000FF"/>
                </a:solidFill>
                <a:latin typeface="Consolas" panose="020B0609020204030204" charset="0"/>
                <a:ea typeface="+mn-ea"/>
              </a:rPr>
              <a:t>['hello', 'world', 'My', 'name', 'is', 'Python']</a:t>
            </a:r>
          </a:p>
        </p:txBody>
      </p:sp>
      <p:grpSp>
        <p:nvGrpSpPr>
          <p:cNvPr id="6" name="组合 114"/>
          <p:cNvGrpSpPr/>
          <p:nvPr/>
        </p:nvGrpSpPr>
        <p:grpSpPr>
          <a:xfrm>
            <a:off x="-540568" y="116632"/>
            <a:ext cx="6225040" cy="662730"/>
            <a:chOff x="-198275" y="3380765"/>
            <a:chExt cx="6225040" cy="662730"/>
          </a:xfrm>
        </p:grpSpPr>
        <p:grpSp>
          <p:nvGrpSpPr>
            <p:cNvPr id="7" name="组合 105"/>
            <p:cNvGrpSpPr/>
            <p:nvPr/>
          </p:nvGrpSpPr>
          <p:grpSpPr>
            <a:xfrm>
              <a:off x="-198275" y="3380765"/>
              <a:ext cx="6225040" cy="662730"/>
              <a:chOff x="-198275"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2" name="内容占位符 2"/>
          <p:cNvSpPr txBox="1"/>
          <p:nvPr/>
        </p:nvSpPr>
        <p:spPr bwMode="auto">
          <a:xfrm>
            <a:off x="763290" y="3462655"/>
            <a:ext cx="8378825" cy="339534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spcBef>
                <a:spcPts val="600"/>
              </a:spcBef>
              <a:buClr>
                <a:srgbClr val="FF0000"/>
              </a:buClr>
              <a:buSzPct val="70000"/>
              <a:buFont typeface="Wingdings" panose="05000000000000000000" pitchFamily="2" charset="2"/>
              <a:buChar char="n"/>
            </a:pPr>
            <a:r>
              <a:rPr lang="zh-CN" altLang="en-US" sz="2000" b="1" noProof="1"/>
              <a:t>然而，明确传递参数指定split()使用的分隔符时，情况是不一样的。</a:t>
            </a:r>
          </a:p>
          <a:p>
            <a:pPr marL="0" indent="0">
              <a:spcBef>
                <a:spcPts val="0"/>
              </a:spcBef>
              <a:buFont typeface="Arial" panose="020B0604020202020204" pitchFamily="34" charset="0"/>
              <a:buNone/>
            </a:pPr>
            <a:endParaRPr lang="zh-CN" altLang="en-US" sz="1500" noProof="1"/>
          </a:p>
          <a:p>
            <a:pPr marL="0" indent="0">
              <a:buFont typeface="Arial" panose="020B0604020202020204" pitchFamily="34" charset="0"/>
              <a:buNone/>
            </a:pPr>
            <a:r>
              <a:rPr lang="zh-CN" altLang="en-US" sz="1350" noProof="1">
                <a:latin typeface="Consolas" panose="020B0609020204030204" charset="0"/>
              </a:rPr>
              <a:t>&gt;&gt;&gt; 'a,,,bb,,ccc'.split(',')</a:t>
            </a:r>
          </a:p>
          <a:p>
            <a:pPr marL="0" indent="0">
              <a:buNone/>
            </a:pPr>
            <a:r>
              <a:rPr lang="zh-CN" altLang="en-US" sz="1350" noProof="1">
                <a:solidFill>
                  <a:srgbClr val="0000FF"/>
                </a:solidFill>
                <a:latin typeface="Consolas" panose="020B0609020204030204" charset="0"/>
              </a:rPr>
              <a:t>['a', '', '', 'bb', '', 'ccc']  </a:t>
            </a:r>
            <a:r>
              <a:rPr lang="zh-CN" altLang="en-US" sz="1350" noProof="1">
                <a:latin typeface="Consolas" panose="020B0609020204030204" charset="0"/>
              </a:rPr>
              <a:t>   #每个逗号都被作为独立的分隔符</a:t>
            </a:r>
            <a:endParaRPr lang="zh-CN" altLang="en-US" sz="1350" noProof="1">
              <a:solidFill>
                <a:srgbClr val="0000FF"/>
              </a:solidFill>
              <a:latin typeface="Consolas" panose="020B0609020204030204" charset="0"/>
            </a:endParaRPr>
          </a:p>
          <a:p>
            <a:pPr marL="0" indent="0">
              <a:buFont typeface="Arial" panose="020B0604020202020204" pitchFamily="34" charset="0"/>
              <a:buNone/>
            </a:pPr>
            <a:r>
              <a:rPr lang="zh-CN" altLang="en-US" sz="1350" noProof="1">
                <a:latin typeface="Consolas" panose="020B0609020204030204" charset="0"/>
              </a:rPr>
              <a:t>&gt;&gt;&gt; 'a\t\t\tbb\t\tccc'.split('\t') #每个制表符都被作为独立的分隔符</a:t>
            </a:r>
          </a:p>
          <a:p>
            <a:pPr marL="0" indent="0">
              <a:buFont typeface="Arial" panose="020B0604020202020204" pitchFamily="34" charset="0"/>
              <a:buNone/>
            </a:pPr>
            <a:r>
              <a:rPr lang="zh-CN" altLang="en-US" sz="1350" noProof="1">
                <a:solidFill>
                  <a:srgbClr val="0000FF"/>
                </a:solidFill>
                <a:latin typeface="Consolas" panose="020B0609020204030204" charset="0"/>
              </a:rPr>
              <a:t>['a', '', '', 'bb', '', 'ccc']</a:t>
            </a:r>
          </a:p>
          <a:p>
            <a:pPr marL="0" indent="0">
              <a:buFont typeface="Arial" panose="020B0604020202020204" pitchFamily="34" charset="0"/>
              <a:buNone/>
            </a:pPr>
            <a:r>
              <a:rPr lang="zh-CN" altLang="en-US" sz="1350" noProof="1">
                <a:latin typeface="Consolas" panose="020B0609020204030204" charset="0"/>
              </a:rPr>
              <a:t>&gt;&gt;&gt; 'a\t\t\tbb\t\tccc'.split()     #连续多个制表符被作为一个分隔符</a:t>
            </a:r>
          </a:p>
          <a:p>
            <a:pPr marL="0" indent="0">
              <a:buFont typeface="Arial" panose="020B0604020202020204" pitchFamily="34" charset="0"/>
              <a:buNone/>
            </a:pPr>
            <a:r>
              <a:rPr lang="zh-CN" altLang="en-US" sz="1350" noProof="1">
                <a:solidFill>
                  <a:srgbClr val="0000FF"/>
                </a:solidFill>
                <a:latin typeface="Consolas" panose="020B0609020204030204" charset="0"/>
              </a:rPr>
              <a:t>['a', 'bb', 'ccc']</a:t>
            </a:r>
          </a:p>
        </p:txBody>
      </p:sp>
      <p:sp>
        <p:nvSpPr>
          <p:cNvPr id="13" name="文本框 12"/>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4.1.3 </a:t>
            </a:r>
            <a:r>
              <a:rPr lang="zh-CN" altLang="en-US" sz="2800" b="1" dirty="0">
                <a:latin typeface="Times New Roman" panose="02020603050405020304" pitchFamily="18" charset="0"/>
                <a:ea typeface="仿宋" panose="02010609060101010101" pitchFamily="49" charset="-122"/>
              </a:rPr>
              <a:t>字符串常用方法</a:t>
            </a:r>
            <a:endParaRPr lang="en-US" altLang="zh-CN" sz="2800" b="1" dirty="0">
              <a:ea typeface="仿宋" panose="02010609060101010101" pitchFamily="49" charset="-122"/>
            </a:endParaRPr>
          </a:p>
        </p:txBody>
      </p:sp>
    </p:spTree>
    <p:extLst>
      <p:ext uri="{BB962C8B-B14F-4D97-AF65-F5344CB8AC3E}">
        <p14:creationId xmlns:p14="http://schemas.microsoft.com/office/powerpoint/2010/main" val="2359967110"/>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26</a:t>
            </a:fld>
            <a:endParaRPr lang="zh-CN" altLang="en-US" dirty="0"/>
          </a:p>
        </p:txBody>
      </p:sp>
      <p:sp>
        <p:nvSpPr>
          <p:cNvPr id="5" name="内容占位符 2"/>
          <p:cNvSpPr>
            <a:spLocks noGrp="1"/>
          </p:cNvSpPr>
          <p:nvPr>
            <p:ph idx="1"/>
          </p:nvPr>
        </p:nvSpPr>
        <p:spPr>
          <a:xfrm>
            <a:off x="591594" y="1052736"/>
            <a:ext cx="8229600" cy="4678451"/>
          </a:xfrm>
        </p:spPr>
        <p:txBody>
          <a:bodyPr/>
          <a:lstStyle/>
          <a:p>
            <a:pPr fontAlgn="base">
              <a:buFont typeface="Wingdings" panose="05000000000000000000" charset="0"/>
              <a:buChar char=""/>
            </a:pPr>
            <a:r>
              <a:rPr lang="zh-CN" altLang="en-US" sz="2400" b="1" noProof="1">
                <a:solidFill>
                  <a:srgbClr val="FF0000"/>
                </a:solidFill>
                <a:latin typeface="宋体" panose="02010600030101010101" pitchFamily="2" charset="-122"/>
                <a:sym typeface="+mn-ea"/>
              </a:rPr>
              <a:t>不推荐使用</a:t>
            </a:r>
            <a:r>
              <a:rPr lang="en-US" altLang="x-none" sz="2400" b="1" noProof="1">
                <a:solidFill>
                  <a:srgbClr val="FF0000"/>
                </a:solidFill>
                <a:latin typeface="宋体" panose="02010600030101010101" pitchFamily="2" charset="-122"/>
                <a:sym typeface="+mn-ea"/>
              </a:rPr>
              <a:t>+</a:t>
            </a:r>
            <a:r>
              <a:rPr lang="zh-CN" altLang="en-US" sz="2400" b="1" noProof="1">
                <a:solidFill>
                  <a:srgbClr val="FF0000"/>
                </a:solidFill>
                <a:latin typeface="宋体" panose="02010600030101010101" pitchFamily="2" charset="-122"/>
                <a:sym typeface="+mn-ea"/>
              </a:rPr>
              <a:t>运算符连接字符串</a:t>
            </a:r>
            <a:r>
              <a:rPr lang="zh-CN" altLang="en-US" sz="2400" b="1" noProof="1">
                <a:latin typeface="宋体" panose="02010600030101010101" pitchFamily="2" charset="-122"/>
                <a:sym typeface="+mn-ea"/>
              </a:rPr>
              <a:t>，优先使用</a:t>
            </a:r>
            <a:r>
              <a:rPr lang="en-US" altLang="x-none" sz="2400" b="1" noProof="1">
                <a:latin typeface="宋体" panose="02010600030101010101" pitchFamily="2" charset="-122"/>
                <a:sym typeface="+mn-ea"/>
              </a:rPr>
              <a:t>join()</a:t>
            </a:r>
            <a:r>
              <a:rPr lang="zh-CN" altLang="en-US" sz="2400" b="1" noProof="1">
                <a:latin typeface="宋体" panose="02010600030101010101" pitchFamily="2" charset="-122"/>
                <a:sym typeface="+mn-ea"/>
              </a:rPr>
              <a:t>方法。</a:t>
            </a:r>
          </a:p>
          <a:p>
            <a:pPr marL="0" indent="0">
              <a:buNone/>
            </a:pPr>
            <a:endParaRPr lang="en-US" altLang="zh-CN" sz="1350" noProof="1">
              <a:latin typeface="Consolas" panose="020B0609020204030204" charset="0"/>
            </a:endParaRPr>
          </a:p>
          <a:p>
            <a:pPr marL="0" indent="0">
              <a:buNone/>
            </a:pPr>
            <a:r>
              <a:rPr lang="zh-CN" altLang="en-US" sz="1350" noProof="1">
                <a:solidFill>
                  <a:srgbClr val="0000FF"/>
                </a:solidFill>
                <a:latin typeface="Consolas" panose="020B0609020204030204" charset="0"/>
              </a:rPr>
              <a:t>import</a:t>
            </a:r>
            <a:r>
              <a:rPr lang="zh-CN" altLang="en-US" sz="1350" noProof="1">
                <a:latin typeface="Consolas" panose="020B0609020204030204" charset="0"/>
              </a:rPr>
              <a:t> timeit</a:t>
            </a:r>
          </a:p>
          <a:p>
            <a:pPr marL="0" indent="0">
              <a:buNone/>
            </a:pPr>
            <a:r>
              <a:rPr lang="zh-CN" altLang="en-US" sz="1350" noProof="1">
                <a:latin typeface="Consolas" panose="020B0609020204030204" charset="0"/>
              </a:rPr>
              <a:t>#使用列表推导式生成10000个字符串</a:t>
            </a:r>
          </a:p>
          <a:p>
            <a:pPr marL="0" indent="0">
              <a:buNone/>
            </a:pPr>
            <a:r>
              <a:rPr lang="zh-CN" altLang="en-US" sz="1350" noProof="1">
                <a:latin typeface="Consolas" panose="020B0609020204030204" charset="0"/>
              </a:rPr>
              <a:t>strlist = ['This is a long string that will not keep in memory.' </a:t>
            </a:r>
          </a:p>
          <a:p>
            <a:pPr marL="0" indent="0">
              <a:buNone/>
            </a:pPr>
            <a:r>
              <a:rPr lang="zh-CN" altLang="en-US" sz="1350" noProof="1">
                <a:latin typeface="Consolas" panose="020B0609020204030204" charset="0"/>
              </a:rPr>
              <a:t>           for n in range(10000)]</a:t>
            </a:r>
          </a:p>
          <a:p>
            <a:pPr marL="0" indent="0">
              <a:buNone/>
            </a:pPr>
            <a:r>
              <a:rPr lang="zh-CN" altLang="en-US" sz="1350" noProof="1">
                <a:latin typeface="Consolas" panose="020B0609020204030204" charset="0"/>
              </a:rPr>
              <a:t>#使用字符串对象的join()方法连接多个字符串</a:t>
            </a:r>
          </a:p>
          <a:p>
            <a:pPr marL="0" indent="0">
              <a:buNone/>
            </a:pPr>
            <a:r>
              <a:rPr lang="zh-CN" altLang="en-US" sz="1350" noProof="1">
                <a:solidFill>
                  <a:srgbClr val="0000FF"/>
                </a:solidFill>
                <a:latin typeface="Consolas" panose="020B0609020204030204" charset="0"/>
              </a:rPr>
              <a:t>def</a:t>
            </a:r>
            <a:r>
              <a:rPr lang="zh-CN" altLang="en-US" sz="1350" noProof="1">
                <a:latin typeface="Consolas" panose="020B0609020204030204" charset="0"/>
              </a:rPr>
              <a:t> use_join():</a:t>
            </a:r>
          </a:p>
          <a:p>
            <a:pPr marL="0" indent="0">
              <a:buNone/>
            </a:pPr>
            <a:r>
              <a:rPr lang="zh-CN" altLang="en-US" sz="1350" noProof="1">
                <a:latin typeface="Consolas" panose="020B0609020204030204" charset="0"/>
              </a:rPr>
              <a:t>    return ''.join(strlist)</a:t>
            </a:r>
          </a:p>
          <a:p>
            <a:pPr marL="0" indent="0">
              <a:buNone/>
            </a:pPr>
            <a:r>
              <a:rPr lang="zh-CN" altLang="en-US" sz="1350" noProof="1">
                <a:latin typeface="Consolas" panose="020B0609020204030204" charset="0"/>
              </a:rPr>
              <a:t>#使用运算符+连接多个字符串</a:t>
            </a:r>
          </a:p>
          <a:p>
            <a:pPr marL="0" indent="0">
              <a:buNone/>
            </a:pPr>
            <a:r>
              <a:rPr lang="zh-CN" altLang="en-US" sz="1350" noProof="1">
                <a:solidFill>
                  <a:srgbClr val="0000FF"/>
                </a:solidFill>
                <a:latin typeface="Consolas" panose="020B0609020204030204" charset="0"/>
              </a:rPr>
              <a:t>def</a:t>
            </a:r>
            <a:r>
              <a:rPr lang="zh-CN" altLang="en-US" sz="1350" noProof="1">
                <a:latin typeface="Consolas" panose="020B0609020204030204" charset="0"/>
              </a:rPr>
              <a:t> use_plus():</a:t>
            </a:r>
          </a:p>
          <a:p>
            <a:pPr marL="0" indent="0">
              <a:buNone/>
            </a:pPr>
            <a:r>
              <a:rPr lang="zh-CN" altLang="en-US" sz="1350" noProof="1">
                <a:latin typeface="Consolas" panose="020B0609020204030204" charset="0"/>
              </a:rPr>
              <a:t>    result = ''</a:t>
            </a:r>
          </a:p>
          <a:p>
            <a:pPr marL="0" indent="0">
              <a:buNone/>
            </a:pPr>
            <a:r>
              <a:rPr lang="zh-CN" altLang="en-US" sz="1350" noProof="1">
                <a:latin typeface="Consolas" panose="020B0609020204030204" charset="0"/>
              </a:rPr>
              <a:t>    for strtemp in strlist:</a:t>
            </a:r>
          </a:p>
          <a:p>
            <a:pPr marL="0" indent="0">
              <a:buNone/>
            </a:pPr>
            <a:r>
              <a:rPr lang="zh-CN" altLang="en-US" sz="1350" noProof="1">
                <a:latin typeface="Consolas" panose="020B0609020204030204" charset="0"/>
              </a:rPr>
              <a:t>        result = result+strtemp</a:t>
            </a:r>
          </a:p>
          <a:p>
            <a:pPr marL="0" indent="0">
              <a:buNone/>
            </a:pPr>
            <a:r>
              <a:rPr lang="zh-CN" altLang="en-US" sz="1350" noProof="1">
                <a:latin typeface="Consolas" panose="020B0609020204030204" charset="0"/>
              </a:rPr>
              <a:t>    return result</a:t>
            </a:r>
          </a:p>
        </p:txBody>
      </p:sp>
      <p:grpSp>
        <p:nvGrpSpPr>
          <p:cNvPr id="6" name="组合 114"/>
          <p:cNvGrpSpPr/>
          <p:nvPr/>
        </p:nvGrpSpPr>
        <p:grpSpPr>
          <a:xfrm>
            <a:off x="-540568" y="116632"/>
            <a:ext cx="6225040" cy="662730"/>
            <a:chOff x="-198275" y="3380765"/>
            <a:chExt cx="6225040" cy="662730"/>
          </a:xfrm>
        </p:grpSpPr>
        <p:grpSp>
          <p:nvGrpSpPr>
            <p:cNvPr id="7" name="组合 105"/>
            <p:cNvGrpSpPr/>
            <p:nvPr/>
          </p:nvGrpSpPr>
          <p:grpSpPr>
            <a:xfrm>
              <a:off x="-198275" y="3380765"/>
              <a:ext cx="6225040" cy="662730"/>
              <a:chOff x="-198275"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1" name="内容占位符 2"/>
          <p:cNvSpPr txBox="1"/>
          <p:nvPr/>
        </p:nvSpPr>
        <p:spPr bwMode="auto">
          <a:xfrm>
            <a:off x="564830" y="5010233"/>
            <a:ext cx="7345045" cy="339534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SzPct val="70000"/>
              <a:buFont typeface="Arial" panose="020B0604020202020204" pitchFamily="34" charset="0"/>
              <a:buNone/>
            </a:pPr>
            <a:r>
              <a:rPr lang="zh-CN" altLang="en-US" sz="1200" dirty="0">
                <a:solidFill>
                  <a:srgbClr val="0000FF"/>
                </a:solidFill>
                <a:latin typeface="Consolas" panose="020B0609020204030204" charset="0"/>
              </a:rPr>
              <a:t>if</a:t>
            </a:r>
            <a:r>
              <a:rPr lang="zh-CN" altLang="en-US" sz="1200" dirty="0">
                <a:latin typeface="Consolas" panose="020B0609020204030204" charset="0"/>
              </a:rPr>
              <a:t> __name__ == '__main__':</a:t>
            </a:r>
          </a:p>
          <a:p>
            <a:pPr marL="0" indent="0">
              <a:buSzPct val="70000"/>
              <a:buFont typeface="Arial" panose="020B0604020202020204" pitchFamily="34" charset="0"/>
              <a:buNone/>
            </a:pPr>
            <a:r>
              <a:rPr lang="zh-CN" altLang="en-US" sz="1200" dirty="0">
                <a:latin typeface="Consolas" panose="020B0609020204030204" charset="0"/>
              </a:rPr>
              <a:t>    times = 1000</a:t>
            </a:r>
          </a:p>
          <a:p>
            <a:pPr marL="0" indent="0">
              <a:buSzPct val="70000"/>
              <a:buFont typeface="Arial" panose="020B0604020202020204" pitchFamily="34" charset="0"/>
              <a:buNone/>
            </a:pPr>
            <a:r>
              <a:rPr lang="zh-CN" altLang="en-US" sz="1200" dirty="0">
                <a:latin typeface="Consolas" panose="020B0609020204030204" charset="0"/>
              </a:rPr>
              <a:t>    jointimer = timeit.Timer('use_join()', 'from __main__ import use_join')</a:t>
            </a:r>
          </a:p>
          <a:p>
            <a:pPr marL="0" indent="0">
              <a:buSzPct val="70000"/>
              <a:buFont typeface="Arial" panose="020B0604020202020204" pitchFamily="34" charset="0"/>
              <a:buNone/>
            </a:pPr>
            <a:r>
              <a:rPr lang="zh-CN" altLang="en-US" sz="1200" dirty="0">
                <a:latin typeface="Consolas" panose="020B0609020204030204" charset="0"/>
              </a:rPr>
              <a:t>    print('time for join:', jointimer.timeit(number=times))</a:t>
            </a:r>
          </a:p>
          <a:p>
            <a:pPr marL="0" indent="0">
              <a:buSzPct val="70000"/>
              <a:buFont typeface="Arial" panose="020B0604020202020204" pitchFamily="34" charset="0"/>
              <a:buNone/>
            </a:pPr>
            <a:r>
              <a:rPr lang="zh-CN" altLang="en-US" sz="1200" dirty="0">
                <a:latin typeface="Consolas" panose="020B0609020204030204" charset="0"/>
              </a:rPr>
              <a:t>    plustimer = timeit.Timer('use_plus()', 'from __main__ import use_plus')</a:t>
            </a:r>
          </a:p>
          <a:p>
            <a:pPr marL="0" indent="0">
              <a:buSzPct val="70000"/>
              <a:buFont typeface="Arial" panose="020B0604020202020204" pitchFamily="34" charset="0"/>
              <a:buNone/>
            </a:pPr>
            <a:r>
              <a:rPr lang="zh-CN" altLang="en-US" sz="1200" dirty="0">
                <a:latin typeface="Consolas" panose="020B0609020204030204" charset="0"/>
              </a:rPr>
              <a:t>    print('time for plus:', plustimer.timeit(number=times))</a:t>
            </a:r>
          </a:p>
        </p:txBody>
      </p:sp>
      <p:sp>
        <p:nvSpPr>
          <p:cNvPr id="2" name="矩形 1"/>
          <p:cNvSpPr/>
          <p:nvPr/>
        </p:nvSpPr>
        <p:spPr>
          <a:xfrm>
            <a:off x="4572000" y="3391961"/>
            <a:ext cx="4572000" cy="646331"/>
          </a:xfrm>
          <a:prstGeom prst="rect">
            <a:avLst/>
          </a:prstGeom>
        </p:spPr>
        <p:txBody>
          <a:bodyPr>
            <a:spAutoFit/>
          </a:bodyPr>
          <a:lstStyle/>
          <a:p>
            <a:r>
              <a:rPr lang="zh-CN" altLang="en-US" dirty="0">
                <a:solidFill>
                  <a:srgbClr val="0000FF"/>
                </a:solidFill>
                <a:latin typeface="Times New Roman" panose="02020603050405020304" pitchFamily="18" charset="0"/>
                <a:ea typeface="仿宋" panose="02010609060101010101" pitchFamily="49" charset="-122"/>
              </a:rPr>
              <a:t>time for join: 0.10216611442409469</a:t>
            </a:r>
          </a:p>
          <a:p>
            <a:r>
              <a:rPr lang="zh-CN" altLang="en-US" dirty="0">
                <a:solidFill>
                  <a:srgbClr val="0000FF"/>
                </a:solidFill>
                <a:latin typeface="Times New Roman" panose="02020603050405020304" pitchFamily="18" charset="0"/>
                <a:ea typeface="仿宋" panose="02010609060101010101" pitchFamily="49" charset="-122"/>
              </a:rPr>
              <a:t>time for plus: 1.414725147403292</a:t>
            </a:r>
          </a:p>
        </p:txBody>
      </p:sp>
    </p:spTree>
    <p:extLst>
      <p:ext uri="{BB962C8B-B14F-4D97-AF65-F5344CB8AC3E}">
        <p14:creationId xmlns:p14="http://schemas.microsoft.com/office/powerpoint/2010/main" val="160757357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additive="base">
                                        <p:cTn id="43" dur="500" fill="hold"/>
                                        <p:tgtEl>
                                          <p:spTgt spid="2"/>
                                        </p:tgtEl>
                                        <p:attrNameLst>
                                          <p:attrName>ppt_x</p:attrName>
                                        </p:attrNameLst>
                                      </p:cBhvr>
                                      <p:tavLst>
                                        <p:tav tm="0">
                                          <p:val>
                                            <p:strVal val="#ppt_x"/>
                                          </p:val>
                                        </p:tav>
                                        <p:tav tm="100000">
                                          <p:val>
                                            <p:strVal val="#ppt_x"/>
                                          </p:val>
                                        </p:tav>
                                      </p:tavLst>
                                    </p:anim>
                                    <p:anim calcmode="lin" valueType="num">
                                      <p:cBhvr additive="base">
                                        <p:cTn id="4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1" grpId="0"/>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27</a:t>
            </a:fld>
            <a:endParaRPr lang="zh-CN" altLang="en-US" dirty="0"/>
          </a:p>
        </p:txBody>
      </p:sp>
      <p:sp>
        <p:nvSpPr>
          <p:cNvPr id="7" name="文本占位符 36866"/>
          <p:cNvSpPr txBox="1"/>
          <p:nvPr/>
        </p:nvSpPr>
        <p:spPr bwMode="auto">
          <a:xfrm>
            <a:off x="591594" y="1484784"/>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rgbClr val="FF0000"/>
              </a:buClr>
              <a:buSzPct val="70000"/>
              <a:buFont typeface="Wingdings" panose="05000000000000000000" charset="0"/>
              <a:buChar char=""/>
            </a:pPr>
            <a:r>
              <a:rPr lang="zh-CN" altLang="en-US" sz="2400" b="1" dirty="0"/>
              <a:t>字符串连接join()</a:t>
            </a:r>
          </a:p>
          <a:p>
            <a:pPr>
              <a:buSzPct val="70000"/>
              <a:buFont typeface="Arial" panose="020B0604020202020204" pitchFamily="34" charset="0"/>
              <a:buNone/>
            </a:pPr>
            <a:endParaRPr lang="zh-CN" altLang="en-US" sz="1350" dirty="0">
              <a:latin typeface="Consolas" panose="020B0609020204030204" charset="0"/>
            </a:endParaRPr>
          </a:p>
          <a:p>
            <a:pPr>
              <a:buSzPct val="70000"/>
              <a:buFont typeface="Arial" panose="020B0604020202020204" pitchFamily="34" charset="0"/>
              <a:buNone/>
            </a:pPr>
            <a:r>
              <a:rPr lang="zh-CN" altLang="en-US" sz="1350" dirty="0">
                <a:latin typeface="Consolas" panose="020B0609020204030204" charset="0"/>
              </a:rPr>
              <a:t>&gt;&gt;&gt; li = ["apple", "peach", "banana", "pear"]</a:t>
            </a:r>
          </a:p>
          <a:p>
            <a:pPr>
              <a:buSzPct val="70000"/>
              <a:buFont typeface="Arial" panose="020B0604020202020204" pitchFamily="34" charset="0"/>
              <a:buNone/>
            </a:pPr>
            <a:r>
              <a:rPr lang="zh-CN" altLang="en-US" sz="1350" dirty="0">
                <a:latin typeface="Consolas" panose="020B0609020204030204" charset="0"/>
              </a:rPr>
              <a:t>&gt;&gt;&gt; ','.join(li)</a:t>
            </a:r>
          </a:p>
          <a:p>
            <a:pPr>
              <a:buSzPct val="70000"/>
              <a:buFont typeface="Arial" panose="020B0604020202020204" pitchFamily="34" charset="0"/>
              <a:buNone/>
            </a:pPr>
            <a:r>
              <a:rPr lang="zh-CN" altLang="en-US" sz="1350" dirty="0">
                <a:solidFill>
                  <a:srgbClr val="0000FF"/>
                </a:solidFill>
                <a:latin typeface="Consolas" panose="020B0609020204030204" charset="0"/>
              </a:rPr>
              <a:t>'apple,peach,banana,pear'</a:t>
            </a:r>
          </a:p>
          <a:p>
            <a:pPr>
              <a:buSzPct val="70000"/>
              <a:buFont typeface="Arial" panose="020B0604020202020204" pitchFamily="34" charset="0"/>
              <a:buNone/>
            </a:pPr>
            <a:r>
              <a:rPr lang="zh-CN" altLang="en-US" sz="1350" dirty="0">
                <a:latin typeface="Consolas" panose="020B0609020204030204" charset="0"/>
              </a:rPr>
              <a:t>&gt;&gt;&gt; '::'.join(li)</a:t>
            </a:r>
          </a:p>
          <a:p>
            <a:pPr>
              <a:buSzPct val="70000"/>
              <a:buFont typeface="Arial" panose="020B0604020202020204" pitchFamily="34" charset="0"/>
              <a:buNone/>
            </a:pPr>
            <a:r>
              <a:rPr lang="zh-CN" altLang="en-US" sz="1350" dirty="0">
                <a:solidFill>
                  <a:srgbClr val="0000FF"/>
                </a:solidFill>
                <a:latin typeface="Consolas" panose="020B0609020204030204" charset="0"/>
              </a:rPr>
              <a:t>'apple::peach::banana::pear'</a:t>
            </a:r>
          </a:p>
        </p:txBody>
      </p:sp>
      <p:sp>
        <p:nvSpPr>
          <p:cNvPr id="8" name="线形标注 1 7"/>
          <p:cNvSpPr/>
          <p:nvPr/>
        </p:nvSpPr>
        <p:spPr>
          <a:xfrm>
            <a:off x="5508104" y="2429428"/>
            <a:ext cx="853827" cy="342960"/>
          </a:xfrm>
          <a:prstGeom prst="borderCallout1">
            <a:avLst>
              <a:gd name="adj1" fmla="val 36893"/>
              <a:gd name="adj2" fmla="val -947"/>
              <a:gd name="adj3" fmla="val 54384"/>
              <a:gd name="adj4" fmla="val -501833"/>
            </a:avLst>
          </a:prstGeom>
          <a:solidFill>
            <a:srgbClr val="FFFF00"/>
          </a:solidFill>
          <a:ln>
            <a:solidFill>
              <a:srgbClr val="FF0000"/>
            </a:solidFill>
            <a:headEnd type="none"/>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1400" noProof="1">
                <a:solidFill>
                  <a:srgbClr val="FF0000"/>
                </a:solidFill>
              </a:rPr>
              <a:t>连接符</a:t>
            </a:r>
          </a:p>
        </p:txBody>
      </p:sp>
      <p:grpSp>
        <p:nvGrpSpPr>
          <p:cNvPr id="9" name="组合 114"/>
          <p:cNvGrpSpPr/>
          <p:nvPr/>
        </p:nvGrpSpPr>
        <p:grpSpPr>
          <a:xfrm>
            <a:off x="-540568" y="116632"/>
            <a:ext cx="6225040" cy="662730"/>
            <a:chOff x="-198275" y="3380765"/>
            <a:chExt cx="6225040" cy="662730"/>
          </a:xfrm>
        </p:grpSpPr>
        <p:grpSp>
          <p:nvGrpSpPr>
            <p:cNvPr id="10" name="组合 105"/>
            <p:cNvGrpSpPr/>
            <p:nvPr/>
          </p:nvGrpSpPr>
          <p:grpSpPr>
            <a:xfrm>
              <a:off x="-198275" y="3380765"/>
              <a:ext cx="6225040" cy="662730"/>
              <a:chOff x="-198275" y="3380765"/>
              <a:chExt cx="6225040" cy="662730"/>
            </a:xfrm>
          </p:grpSpPr>
          <p:sp>
            <p:nvSpPr>
              <p:cNvPr id="12"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3"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11" name="图片 10"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4" name="Content Placeholder 2"/>
          <p:cNvSpPr>
            <a:spLocks noGrp="1"/>
          </p:cNvSpPr>
          <p:nvPr>
            <p:ph idx="1"/>
          </p:nvPr>
        </p:nvSpPr>
        <p:spPr>
          <a:xfrm>
            <a:off x="591594" y="3717032"/>
            <a:ext cx="8229600" cy="4678451"/>
          </a:xfrm>
        </p:spPr>
        <p:txBody>
          <a:bodyPr/>
          <a:lstStyle/>
          <a:p>
            <a:pPr fontAlgn="base">
              <a:buClr>
                <a:srgbClr val="FF0000"/>
              </a:buClr>
              <a:buFont typeface="Wingdings" panose="05000000000000000000" pitchFamily="2" charset="2"/>
              <a:buChar char="n"/>
            </a:pPr>
            <a:r>
              <a:rPr lang="zh-CN" altLang="en-US" sz="1800" b="1" noProof="1"/>
              <a:t>应用：</a:t>
            </a:r>
            <a:r>
              <a:rPr lang="zh-CN" altLang="en-US" sz="1800" noProof="1"/>
              <a:t>将字符串重复指定次数，并使用指定的分隔符进行连接，结果字符串最后不带分隔符。</a:t>
            </a:r>
            <a:endParaRPr lang="en-US" altLang="zh-CN" sz="1800" noProof="1"/>
          </a:p>
          <a:p>
            <a:pPr fontAlgn="base">
              <a:buClr>
                <a:srgbClr val="FF0000"/>
              </a:buClr>
              <a:buFont typeface="Wingdings" panose="05000000000000000000" pitchFamily="2" charset="2"/>
              <a:buChar char="ü"/>
            </a:pPr>
            <a:r>
              <a:rPr lang="zh-CN" altLang="en-US" sz="1800" noProof="1"/>
              <a:t>例如，</a:t>
            </a:r>
            <a:r>
              <a:rPr lang="en-US" altLang="zh-CN" sz="1800" noProof="1"/>
              <a:t>concat('good', 5, ',')的返回结果为'good,good,good,good,good'</a:t>
            </a:r>
          </a:p>
          <a:p>
            <a:pPr marL="0" indent="0">
              <a:buNone/>
            </a:pPr>
            <a:endParaRPr lang="zh-CN" altLang="en-US" sz="1500" noProof="1">
              <a:latin typeface="Consolas" panose="020B0609020204030204" charset="0"/>
            </a:endParaRPr>
          </a:p>
          <a:p>
            <a:pPr marL="0" indent="0">
              <a:buNone/>
            </a:pPr>
            <a:r>
              <a:rPr lang="zh-CN" altLang="en-US" sz="1500" noProof="1">
                <a:solidFill>
                  <a:srgbClr val="0000FF"/>
                </a:solidFill>
                <a:latin typeface="Consolas" panose="020B0609020204030204" charset="0"/>
              </a:rPr>
              <a:t>def</a:t>
            </a:r>
            <a:r>
              <a:rPr lang="zh-CN" altLang="en-US" sz="1500" noProof="1">
                <a:latin typeface="Consolas" panose="020B0609020204030204" charset="0"/>
              </a:rPr>
              <a:t> concat(s, n, separator):</a:t>
            </a:r>
          </a:p>
          <a:p>
            <a:pPr marL="0" indent="0">
              <a:buNone/>
            </a:pPr>
            <a:r>
              <a:rPr lang="zh-CN" altLang="en-US" sz="1500" noProof="1">
                <a:latin typeface="Consolas" panose="020B0609020204030204" charset="0"/>
              </a:rPr>
              <a:t>    return separator.join([s]*n)</a:t>
            </a:r>
          </a:p>
          <a:p>
            <a:pPr marL="0" indent="0">
              <a:buNone/>
            </a:pPr>
            <a:endParaRPr lang="zh-CN" altLang="en-US" sz="1500" noProof="1">
              <a:latin typeface="Consolas" panose="020B0609020204030204" charset="0"/>
            </a:endParaRPr>
          </a:p>
          <a:p>
            <a:pPr marL="0" indent="0">
              <a:buNone/>
            </a:pPr>
            <a:r>
              <a:rPr lang="zh-CN" altLang="en-US" sz="1500" noProof="1">
                <a:solidFill>
                  <a:srgbClr val="0000FF"/>
                </a:solidFill>
                <a:latin typeface="Consolas" panose="020B0609020204030204" charset="0"/>
              </a:rPr>
              <a:t>print</a:t>
            </a:r>
            <a:r>
              <a:rPr lang="zh-CN" altLang="en-US" sz="1500" noProof="1">
                <a:latin typeface="Consolas" panose="020B0609020204030204" charset="0"/>
              </a:rPr>
              <a:t>(concat('good', 5, ','))</a:t>
            </a:r>
          </a:p>
        </p:txBody>
      </p:sp>
      <p:sp>
        <p:nvSpPr>
          <p:cNvPr id="15" name="文本框 14"/>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4.1.3 </a:t>
            </a:r>
            <a:r>
              <a:rPr lang="zh-CN" altLang="en-US" sz="2800" b="1" dirty="0">
                <a:latin typeface="Times New Roman" panose="02020603050405020304" pitchFamily="18" charset="0"/>
                <a:ea typeface="仿宋" panose="02010609060101010101" pitchFamily="49" charset="-122"/>
              </a:rPr>
              <a:t>字符串常用方法</a:t>
            </a:r>
            <a:endParaRPr lang="en-US" altLang="zh-CN" sz="2800" b="1" dirty="0">
              <a:ea typeface="仿宋" panose="02010609060101010101" pitchFamily="49" charset="-122"/>
            </a:endParaRPr>
          </a:p>
        </p:txBody>
      </p:sp>
      <p:sp>
        <p:nvSpPr>
          <p:cNvPr id="16" name="线形标注 1 7"/>
          <p:cNvSpPr/>
          <p:nvPr/>
        </p:nvSpPr>
        <p:spPr>
          <a:xfrm>
            <a:off x="5496609" y="2998394"/>
            <a:ext cx="853827" cy="342960"/>
          </a:xfrm>
          <a:prstGeom prst="borderCallout1">
            <a:avLst>
              <a:gd name="adj1" fmla="val 36893"/>
              <a:gd name="adj2" fmla="val -947"/>
              <a:gd name="adj3" fmla="val 54384"/>
              <a:gd name="adj4" fmla="val -501833"/>
            </a:avLst>
          </a:prstGeom>
          <a:solidFill>
            <a:srgbClr val="FFFF00"/>
          </a:solidFill>
          <a:ln>
            <a:solidFill>
              <a:srgbClr val="FF0000"/>
            </a:solidFill>
            <a:headEnd type="none"/>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1400" noProof="1">
                <a:solidFill>
                  <a:srgbClr val="FF0000"/>
                </a:solidFill>
              </a:rPr>
              <a:t>连接符</a:t>
            </a:r>
          </a:p>
        </p:txBody>
      </p:sp>
    </p:spTree>
    <p:extLst>
      <p:ext uri="{BB962C8B-B14F-4D97-AF65-F5344CB8AC3E}">
        <p14:creationId xmlns:p14="http://schemas.microsoft.com/office/powerpoint/2010/main" val="18842521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fill="hold"/>
                                        <p:tgtEl>
                                          <p:spTgt spid="16"/>
                                        </p:tgtEl>
                                        <p:attrNameLst>
                                          <p:attrName>ppt_x</p:attrName>
                                        </p:attrNameLst>
                                      </p:cBhvr>
                                      <p:tavLst>
                                        <p:tav tm="0">
                                          <p:val>
                                            <p:strVal val="#ppt_x"/>
                                          </p:val>
                                        </p:tav>
                                        <p:tav tm="100000">
                                          <p:val>
                                            <p:strVal val="#ppt_x"/>
                                          </p:val>
                                        </p:tav>
                                      </p:tavLst>
                                    </p:anim>
                                    <p:anim calcmode="lin" valueType="num">
                                      <p:cBhvr additive="base">
                                        <p:cTn id="3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xEl>
                                              <p:pRg st="3" end="3"/>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4" grpId="0" uiExpand="1" build="p"/>
      <p:bldP spid="1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28</a:t>
            </a:fld>
            <a:endParaRPr lang="zh-CN" altLang="en-US" dirty="0"/>
          </a:p>
        </p:txBody>
      </p:sp>
      <p:sp>
        <p:nvSpPr>
          <p:cNvPr id="5" name="内容占位符 2"/>
          <p:cNvSpPr>
            <a:spLocks noGrp="1"/>
          </p:cNvSpPr>
          <p:nvPr>
            <p:ph idx="1"/>
          </p:nvPr>
        </p:nvSpPr>
        <p:spPr>
          <a:xfrm>
            <a:off x="467544" y="1052736"/>
            <a:ext cx="8091170" cy="3395345"/>
          </a:xfrm>
        </p:spPr>
        <p:txBody>
          <a:bodyPr/>
          <a:lstStyle/>
          <a:p>
            <a:pPr>
              <a:lnSpc>
                <a:spcPct val="150000"/>
              </a:lnSpc>
              <a:spcBef>
                <a:spcPts val="0"/>
              </a:spcBef>
              <a:buClr>
                <a:srgbClr val="FF0000"/>
              </a:buClr>
              <a:buFont typeface="Wingdings" panose="05000000000000000000" charset="0"/>
              <a:buChar char=""/>
            </a:pPr>
            <a:r>
              <a:rPr lang="zh-CN" altLang="en-US" sz="1800" noProof="1"/>
              <a:t>timeit模块还支持下面代码演示的用法，从运行结果可以看出，当需要对大量数据进行类型转换时，</a:t>
            </a:r>
            <a:r>
              <a:rPr lang="zh-CN" altLang="en-US" sz="1800" noProof="1">
                <a:solidFill>
                  <a:srgbClr val="FF0000"/>
                </a:solidFill>
              </a:rPr>
              <a:t>内置函数map()可以提供非常高的效率</a:t>
            </a:r>
            <a:r>
              <a:rPr lang="zh-CN" altLang="en-US" sz="1800" noProof="1"/>
              <a:t>。</a:t>
            </a:r>
          </a:p>
          <a:p>
            <a:pPr marL="0" indent="0">
              <a:buNone/>
            </a:pPr>
            <a:endParaRPr lang="zh-CN" altLang="en-US" sz="1350" noProof="1">
              <a:latin typeface="Times New Roman" panose="02020603050405020304" pitchFamily="18" charset="0"/>
            </a:endParaRPr>
          </a:p>
          <a:p>
            <a:pPr marL="0" indent="0">
              <a:buNone/>
            </a:pPr>
            <a:r>
              <a:rPr lang="zh-CN" altLang="en-US" sz="1350" noProof="1">
                <a:latin typeface="Times New Roman" panose="02020603050405020304" pitchFamily="18" charset="0"/>
              </a:rPr>
              <a:t>&gt;&gt;&gt; import timeit</a:t>
            </a:r>
          </a:p>
          <a:p>
            <a:pPr marL="0" indent="0">
              <a:buNone/>
            </a:pPr>
            <a:r>
              <a:rPr lang="zh-CN" altLang="en-US" sz="1350" noProof="1">
                <a:latin typeface="Times New Roman" panose="02020603050405020304" pitchFamily="18" charset="0"/>
              </a:rPr>
              <a:t>&gt;&gt;&gt; timeit.timeit(‘"-".join(str(n) for n in range(100))’, number=10000)  #运行10000次</a:t>
            </a:r>
          </a:p>
          <a:p>
            <a:pPr marL="0" indent="0">
              <a:buNone/>
            </a:pPr>
            <a:r>
              <a:rPr lang="zh-CN" altLang="en-US" sz="1350" noProof="1">
                <a:solidFill>
                  <a:srgbClr val="0000FF"/>
                </a:solidFill>
                <a:latin typeface="Times New Roman" panose="02020603050405020304" pitchFamily="18" charset="0"/>
              </a:rPr>
              <a:t>0.3063435900577929</a:t>
            </a:r>
          </a:p>
          <a:p>
            <a:pPr marL="0" indent="0">
              <a:buNone/>
            </a:pPr>
            <a:r>
              <a:rPr lang="zh-CN" altLang="en-US" sz="1350" noProof="1">
                <a:latin typeface="Times New Roman" panose="02020603050405020304" pitchFamily="18" charset="0"/>
              </a:rPr>
              <a:t>&gt;&gt;&gt; timeit.timeit(‘“-".join([str(n) for n in range(100)])', number=10000) </a:t>
            </a:r>
          </a:p>
          <a:p>
            <a:pPr marL="0" indent="0">
              <a:buNone/>
            </a:pPr>
            <a:r>
              <a:rPr lang="zh-CN" altLang="en-US" sz="1350" noProof="1">
                <a:solidFill>
                  <a:srgbClr val="0000FF"/>
                </a:solidFill>
                <a:latin typeface="Times New Roman" panose="02020603050405020304" pitchFamily="18" charset="0"/>
              </a:rPr>
              <a:t>0.27191914957273866</a:t>
            </a:r>
          </a:p>
          <a:p>
            <a:pPr marL="0" indent="0">
              <a:buNone/>
            </a:pPr>
            <a:r>
              <a:rPr lang="zh-CN" altLang="en-US" sz="1350" noProof="1">
                <a:latin typeface="Times New Roman" panose="02020603050405020304" pitchFamily="18" charset="0"/>
              </a:rPr>
              <a:t>&gt;&gt;&gt; timeit.timeit('"-".join(map(str, range(100)))', number=10000)</a:t>
            </a:r>
          </a:p>
          <a:p>
            <a:pPr marL="0" indent="0">
              <a:buNone/>
            </a:pPr>
            <a:r>
              <a:rPr lang="zh-CN" altLang="en-US" sz="1350" noProof="1">
                <a:solidFill>
                  <a:srgbClr val="0000FF"/>
                </a:solidFill>
                <a:latin typeface="Times New Roman" panose="02020603050405020304" pitchFamily="18" charset="0"/>
              </a:rPr>
              <a:t>0.21119518171659024</a:t>
            </a:r>
          </a:p>
        </p:txBody>
      </p:sp>
      <p:grpSp>
        <p:nvGrpSpPr>
          <p:cNvPr id="6" name="组合 114"/>
          <p:cNvGrpSpPr/>
          <p:nvPr/>
        </p:nvGrpSpPr>
        <p:grpSpPr>
          <a:xfrm>
            <a:off x="-540568" y="116632"/>
            <a:ext cx="6225040" cy="662730"/>
            <a:chOff x="-198275" y="3380765"/>
            <a:chExt cx="6225040" cy="662730"/>
          </a:xfrm>
        </p:grpSpPr>
        <p:grpSp>
          <p:nvGrpSpPr>
            <p:cNvPr id="7" name="组合 105"/>
            <p:cNvGrpSpPr/>
            <p:nvPr/>
          </p:nvGrpSpPr>
          <p:grpSpPr>
            <a:xfrm>
              <a:off x="-198275" y="3380765"/>
              <a:ext cx="6225040" cy="662730"/>
              <a:chOff x="-198275"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2" name="文本框 1"/>
          <p:cNvSpPr txBox="1"/>
          <p:nvPr/>
        </p:nvSpPr>
        <p:spPr>
          <a:xfrm>
            <a:off x="7164288" y="2411529"/>
            <a:ext cx="543739" cy="307777"/>
          </a:xfrm>
          <a:prstGeom prst="rect">
            <a:avLst/>
          </a:prstGeom>
          <a:noFill/>
        </p:spPr>
        <p:txBody>
          <a:bodyPr wrap="none" rtlCol="0">
            <a:spAutoFit/>
          </a:bodyPr>
          <a:lstStyle/>
          <a:p>
            <a:r>
              <a:rPr lang="zh-CN" altLang="en-US" sz="1400" dirty="0"/>
              <a:t>元组</a:t>
            </a:r>
          </a:p>
        </p:txBody>
      </p:sp>
      <p:sp>
        <p:nvSpPr>
          <p:cNvPr id="11" name="文本框 10"/>
          <p:cNvSpPr txBox="1"/>
          <p:nvPr/>
        </p:nvSpPr>
        <p:spPr>
          <a:xfrm>
            <a:off x="7169040" y="2924944"/>
            <a:ext cx="543739" cy="307777"/>
          </a:xfrm>
          <a:prstGeom prst="rect">
            <a:avLst/>
          </a:prstGeom>
          <a:noFill/>
        </p:spPr>
        <p:txBody>
          <a:bodyPr wrap="none" rtlCol="0">
            <a:spAutoFit/>
          </a:bodyPr>
          <a:lstStyle/>
          <a:p>
            <a:r>
              <a:rPr lang="zh-CN" altLang="en-US" sz="1400" dirty="0"/>
              <a:t>列表</a:t>
            </a:r>
          </a:p>
        </p:txBody>
      </p:sp>
      <p:sp>
        <p:nvSpPr>
          <p:cNvPr id="12" name="文本框 11"/>
          <p:cNvSpPr txBox="1"/>
          <p:nvPr/>
        </p:nvSpPr>
        <p:spPr>
          <a:xfrm>
            <a:off x="7164288" y="3365422"/>
            <a:ext cx="1838965" cy="307777"/>
          </a:xfrm>
          <a:prstGeom prst="rect">
            <a:avLst/>
          </a:prstGeom>
          <a:noFill/>
        </p:spPr>
        <p:txBody>
          <a:bodyPr wrap="none" rtlCol="0">
            <a:spAutoFit/>
          </a:bodyPr>
          <a:lstStyle/>
          <a:p>
            <a:r>
              <a:rPr lang="en-US" altLang="zh-CN" sz="1400" dirty="0"/>
              <a:t>Map </a:t>
            </a:r>
            <a:r>
              <a:rPr lang="zh-CN" altLang="en-US" sz="1400" dirty="0"/>
              <a:t>映射到迭代对象</a:t>
            </a:r>
          </a:p>
        </p:txBody>
      </p:sp>
      <p:pic>
        <p:nvPicPr>
          <p:cNvPr id="15" name="图片 14"/>
          <p:cNvPicPr>
            <a:picLocks noChangeAspect="1"/>
          </p:cNvPicPr>
          <p:nvPr/>
        </p:nvPicPr>
        <p:blipFill>
          <a:blip r:embed="rId3"/>
          <a:stretch>
            <a:fillRect/>
          </a:stretch>
        </p:blipFill>
        <p:spPr>
          <a:xfrm>
            <a:off x="555198" y="4009147"/>
            <a:ext cx="5343750" cy="1512168"/>
          </a:xfrm>
          <a:prstGeom prst="rect">
            <a:avLst/>
          </a:prstGeom>
        </p:spPr>
      </p:pic>
    </p:spTree>
    <p:extLst>
      <p:ext uri="{BB962C8B-B14F-4D97-AF65-F5344CB8AC3E}">
        <p14:creationId xmlns:p14="http://schemas.microsoft.com/office/powerpoint/2010/main" val="91432948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29</a:t>
            </a:fld>
            <a:endParaRPr lang="zh-CN" altLang="en-US" dirty="0"/>
          </a:p>
        </p:txBody>
      </p:sp>
      <p:sp>
        <p:nvSpPr>
          <p:cNvPr id="5" name="文本占位符 37890"/>
          <p:cNvSpPr>
            <a:spLocks noGrp="1"/>
          </p:cNvSpPr>
          <p:nvPr>
            <p:ph idx="1"/>
          </p:nvPr>
        </p:nvSpPr>
        <p:spPr>
          <a:xfrm>
            <a:off x="539552" y="1484784"/>
            <a:ext cx="8604448" cy="3395345"/>
          </a:xfrm>
        </p:spPr>
        <p:txBody>
          <a:bodyPr anchor="t"/>
          <a:lstStyle/>
          <a:p>
            <a:pPr>
              <a:lnSpc>
                <a:spcPct val="80000"/>
              </a:lnSpc>
              <a:buClr>
                <a:srgbClr val="FF0000"/>
              </a:buClr>
              <a:buSzPct val="70000"/>
              <a:buFont typeface="Wingdings" panose="05000000000000000000" charset="0"/>
              <a:buChar char=""/>
            </a:pPr>
            <a:r>
              <a:rPr lang="zh-CN" altLang="en-US" sz="2400" dirty="0"/>
              <a:t>lower()、upper()、capitalize()、title()、swapcase()</a:t>
            </a:r>
          </a:p>
          <a:p>
            <a:pPr>
              <a:lnSpc>
                <a:spcPct val="80000"/>
              </a:lnSpc>
              <a:buSzPct val="70000"/>
              <a:buNone/>
            </a:pPr>
            <a:endParaRPr lang="zh-CN" altLang="en-US" sz="1500" dirty="0">
              <a:latin typeface="宋体" panose="02010600030101010101" pitchFamily="2" charset="-122"/>
            </a:endParaRPr>
          </a:p>
          <a:p>
            <a:pPr>
              <a:lnSpc>
                <a:spcPct val="80000"/>
              </a:lnSpc>
              <a:buSzPct val="70000"/>
              <a:buNone/>
            </a:pPr>
            <a:r>
              <a:rPr lang="zh-CN" altLang="en-US" sz="1350" dirty="0">
                <a:latin typeface="Consolas" panose="020B0609020204030204" charset="0"/>
              </a:rPr>
              <a:t>&gt;&gt;&gt; s = "What is Your Name?"</a:t>
            </a:r>
          </a:p>
          <a:p>
            <a:pPr>
              <a:lnSpc>
                <a:spcPct val="80000"/>
              </a:lnSpc>
              <a:buSzPct val="70000"/>
              <a:buNone/>
            </a:pPr>
            <a:r>
              <a:rPr lang="zh-CN" altLang="en-US" sz="1350" dirty="0">
                <a:latin typeface="Consolas" panose="020B0609020204030204" charset="0"/>
              </a:rPr>
              <a:t>&gt;&gt;&gt; s.lower()                   #返回小写字符串</a:t>
            </a:r>
          </a:p>
          <a:p>
            <a:pPr>
              <a:lnSpc>
                <a:spcPct val="80000"/>
              </a:lnSpc>
              <a:buSzPct val="70000"/>
              <a:buNone/>
            </a:pPr>
            <a:r>
              <a:rPr lang="zh-CN" altLang="en-US" sz="1350" dirty="0">
                <a:solidFill>
                  <a:srgbClr val="0000FF"/>
                </a:solidFill>
                <a:latin typeface="Consolas" panose="020B0609020204030204" charset="0"/>
              </a:rPr>
              <a:t>'what is your name?'</a:t>
            </a:r>
          </a:p>
          <a:p>
            <a:pPr>
              <a:lnSpc>
                <a:spcPct val="80000"/>
              </a:lnSpc>
              <a:buSzPct val="70000"/>
              <a:buNone/>
            </a:pPr>
            <a:r>
              <a:rPr lang="zh-CN" altLang="en-US" sz="1350" dirty="0">
                <a:latin typeface="Consolas" panose="020B0609020204030204" charset="0"/>
              </a:rPr>
              <a:t>&gt;&gt;&gt; s.upper()                   #返回大写字符串</a:t>
            </a:r>
          </a:p>
          <a:p>
            <a:pPr>
              <a:lnSpc>
                <a:spcPct val="80000"/>
              </a:lnSpc>
              <a:buSzPct val="70000"/>
              <a:buNone/>
            </a:pPr>
            <a:r>
              <a:rPr lang="zh-CN" altLang="en-US" sz="1350" dirty="0">
                <a:solidFill>
                  <a:srgbClr val="0000FF"/>
                </a:solidFill>
                <a:latin typeface="Consolas" panose="020B0609020204030204" charset="0"/>
              </a:rPr>
              <a:t>'WHAT IS YOUR NAME?'</a:t>
            </a:r>
          </a:p>
          <a:p>
            <a:pPr>
              <a:lnSpc>
                <a:spcPct val="80000"/>
              </a:lnSpc>
              <a:buSzPct val="70000"/>
              <a:buNone/>
            </a:pPr>
            <a:r>
              <a:rPr lang="zh-CN" altLang="en-US" sz="1350" dirty="0">
                <a:latin typeface="Consolas" panose="020B0609020204030204" charset="0"/>
              </a:rPr>
              <a:t>&gt;&gt;&gt; s.capitalize()              #字符串首字符大写</a:t>
            </a:r>
          </a:p>
          <a:p>
            <a:pPr>
              <a:lnSpc>
                <a:spcPct val="80000"/>
              </a:lnSpc>
              <a:buSzPct val="70000"/>
              <a:buNone/>
            </a:pPr>
            <a:r>
              <a:rPr lang="zh-CN" altLang="en-US" sz="1350" dirty="0">
                <a:solidFill>
                  <a:srgbClr val="0000FF"/>
                </a:solidFill>
                <a:latin typeface="Consolas" panose="020B0609020204030204" charset="0"/>
              </a:rPr>
              <a:t>'What is your name?'</a:t>
            </a:r>
          </a:p>
          <a:p>
            <a:pPr>
              <a:lnSpc>
                <a:spcPct val="80000"/>
              </a:lnSpc>
              <a:buSzPct val="70000"/>
              <a:buNone/>
            </a:pPr>
            <a:r>
              <a:rPr lang="zh-CN" altLang="en-US" sz="1350" dirty="0">
                <a:latin typeface="Consolas" panose="020B0609020204030204" charset="0"/>
              </a:rPr>
              <a:t>&gt;&gt;&gt; s.title()                   #每个单词的首字母大写</a:t>
            </a:r>
          </a:p>
          <a:p>
            <a:pPr>
              <a:lnSpc>
                <a:spcPct val="80000"/>
              </a:lnSpc>
              <a:buSzPct val="70000"/>
              <a:buNone/>
            </a:pPr>
            <a:r>
              <a:rPr lang="zh-CN" altLang="en-US" sz="1350" dirty="0">
                <a:solidFill>
                  <a:srgbClr val="0000FF"/>
                </a:solidFill>
                <a:latin typeface="Consolas" panose="020B0609020204030204" charset="0"/>
              </a:rPr>
              <a:t>'What Is Your Name?'</a:t>
            </a:r>
          </a:p>
          <a:p>
            <a:pPr>
              <a:lnSpc>
                <a:spcPct val="80000"/>
              </a:lnSpc>
              <a:buSzPct val="70000"/>
              <a:buNone/>
            </a:pPr>
            <a:r>
              <a:rPr lang="zh-CN" altLang="en-US" sz="1350" dirty="0">
                <a:latin typeface="Consolas" panose="020B0609020204030204" charset="0"/>
              </a:rPr>
              <a:t>&gt;&gt;&gt; s.swapcase()                #大小写互换</a:t>
            </a:r>
          </a:p>
          <a:p>
            <a:pPr>
              <a:lnSpc>
                <a:spcPct val="80000"/>
              </a:lnSpc>
              <a:buSzPct val="70000"/>
              <a:buNone/>
            </a:pPr>
            <a:r>
              <a:rPr lang="zh-CN" altLang="en-US" sz="1350" dirty="0">
                <a:solidFill>
                  <a:srgbClr val="0000FF"/>
                </a:solidFill>
                <a:latin typeface="Consolas" panose="020B0609020204030204" charset="0"/>
              </a:rPr>
              <a:t>'wHAT IS yOUR nAME?'</a:t>
            </a:r>
          </a:p>
        </p:txBody>
      </p:sp>
      <p:sp>
        <p:nvSpPr>
          <p:cNvPr id="6" name="文本占位符 38914"/>
          <p:cNvSpPr txBox="1"/>
          <p:nvPr/>
        </p:nvSpPr>
        <p:spPr bwMode="auto">
          <a:xfrm>
            <a:off x="539552" y="4365104"/>
            <a:ext cx="7476490" cy="339534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rgbClr val="FF0000"/>
              </a:buClr>
              <a:buSzPct val="70000"/>
              <a:buFont typeface="Wingdings" panose="05000000000000000000" charset="0"/>
              <a:buChar char=""/>
            </a:pPr>
            <a:r>
              <a:rPr lang="zh-CN" altLang="en-US" sz="2400" dirty="0"/>
              <a:t>查找替换replace()，类似于</a:t>
            </a:r>
            <a:r>
              <a:rPr lang="en-US" altLang="zh-CN" sz="2400" dirty="0"/>
              <a:t>Word</a:t>
            </a:r>
            <a:r>
              <a:rPr lang="zh-CN" altLang="en-US" sz="2400" dirty="0"/>
              <a:t>中的</a:t>
            </a:r>
            <a:r>
              <a:rPr lang="en-US" altLang="zh-CN" sz="2400" dirty="0"/>
              <a:t>“</a:t>
            </a:r>
            <a:r>
              <a:rPr lang="zh-CN" altLang="en-US" sz="2400" dirty="0"/>
              <a:t>全部替换</a:t>
            </a:r>
            <a:r>
              <a:rPr lang="en-US" altLang="zh-CN" sz="2400" dirty="0"/>
              <a:t>”</a:t>
            </a:r>
            <a:r>
              <a:rPr lang="zh-CN" altLang="en-US" sz="2400" dirty="0"/>
              <a:t>功能</a:t>
            </a:r>
            <a:r>
              <a:rPr lang="zh-CN" altLang="en-US" sz="1800" dirty="0">
                <a:latin typeface="宋体" panose="02010600030101010101" pitchFamily="2" charset="-122"/>
              </a:rPr>
              <a:t>。</a:t>
            </a:r>
          </a:p>
          <a:p>
            <a:pPr>
              <a:buSzPct val="70000"/>
              <a:buFont typeface="Arial" panose="020B0604020202020204" pitchFamily="34" charset="0"/>
              <a:buNone/>
            </a:pPr>
            <a:endParaRPr lang="zh-CN" altLang="en-US" sz="1500" dirty="0">
              <a:latin typeface="宋体" panose="02010600030101010101" pitchFamily="2" charset="-122"/>
            </a:endParaRPr>
          </a:p>
          <a:p>
            <a:pPr>
              <a:buSzPct val="70000"/>
              <a:buFont typeface="Arial" panose="020B0604020202020204" pitchFamily="34" charset="0"/>
              <a:buNone/>
            </a:pPr>
            <a:r>
              <a:rPr lang="zh-CN" altLang="en-US" sz="1350" dirty="0">
                <a:latin typeface="Consolas" panose="020B0609020204030204" charset="0"/>
              </a:rPr>
              <a:t>&gt;&gt;&gt; s = "中国，中国"</a:t>
            </a:r>
          </a:p>
          <a:p>
            <a:pPr>
              <a:buSzPct val="70000"/>
              <a:buFont typeface="Arial" panose="020B0604020202020204" pitchFamily="34" charset="0"/>
              <a:buNone/>
            </a:pPr>
            <a:r>
              <a:rPr lang="zh-CN" altLang="en-US" sz="1350" dirty="0">
                <a:latin typeface="Consolas" panose="020B0609020204030204" charset="0"/>
              </a:rPr>
              <a:t>&gt;&gt;&gt; </a:t>
            </a:r>
            <a:r>
              <a:rPr lang="en-US" altLang="zh-CN" sz="1350" dirty="0">
                <a:latin typeface="Consolas" panose="020B0609020204030204" charset="0"/>
              </a:rPr>
              <a:t>print(</a:t>
            </a:r>
            <a:r>
              <a:rPr lang="zh-CN" altLang="en-US" sz="1350" dirty="0">
                <a:latin typeface="Consolas" panose="020B0609020204030204" charset="0"/>
              </a:rPr>
              <a:t>s</a:t>
            </a:r>
            <a:r>
              <a:rPr lang="en-US" altLang="zh-CN" sz="1350" dirty="0">
                <a:latin typeface="Consolas" panose="020B0609020204030204" charset="0"/>
              </a:rPr>
              <a:t>)</a:t>
            </a:r>
          </a:p>
          <a:p>
            <a:pPr>
              <a:buSzPct val="70000"/>
              <a:buFont typeface="Arial" panose="020B0604020202020204" pitchFamily="34" charset="0"/>
              <a:buNone/>
            </a:pPr>
            <a:r>
              <a:rPr lang="zh-CN" altLang="en-US" sz="1350" dirty="0">
                <a:solidFill>
                  <a:srgbClr val="0000FF"/>
                </a:solidFill>
                <a:latin typeface="Consolas" panose="020B0609020204030204" charset="0"/>
                <a:sym typeface="+mn-ea"/>
              </a:rPr>
              <a:t>'</a:t>
            </a:r>
            <a:r>
              <a:rPr lang="zh-CN" altLang="en-US" sz="1350" dirty="0">
                <a:solidFill>
                  <a:srgbClr val="0000FF"/>
                </a:solidFill>
                <a:latin typeface="Consolas" panose="020B0609020204030204" charset="0"/>
              </a:rPr>
              <a:t>中国，中国</a:t>
            </a:r>
            <a:r>
              <a:rPr lang="zh-CN" altLang="en-US" sz="1350" dirty="0">
                <a:solidFill>
                  <a:srgbClr val="0000FF"/>
                </a:solidFill>
                <a:latin typeface="Consolas" panose="020B0609020204030204" charset="0"/>
                <a:sym typeface="+mn-ea"/>
              </a:rPr>
              <a:t>'</a:t>
            </a:r>
            <a:endParaRPr lang="zh-CN" altLang="en-US" sz="1350" dirty="0">
              <a:solidFill>
                <a:srgbClr val="0000FF"/>
              </a:solidFill>
              <a:latin typeface="Consolas" panose="020B0609020204030204" charset="0"/>
            </a:endParaRPr>
          </a:p>
          <a:p>
            <a:pPr>
              <a:buSzPct val="70000"/>
              <a:buFont typeface="Arial" panose="020B0604020202020204" pitchFamily="34" charset="0"/>
              <a:buNone/>
            </a:pPr>
            <a:r>
              <a:rPr lang="zh-CN" altLang="en-US" sz="1350" dirty="0">
                <a:latin typeface="Consolas" panose="020B0609020204030204" charset="0"/>
              </a:rPr>
              <a:t>&gt;&gt;&gt; s2 = s.replace("中国", "中华人民共和国")  </a:t>
            </a:r>
            <a:r>
              <a:rPr lang="en-US" altLang="zh-CN" sz="1350" dirty="0">
                <a:latin typeface="Consolas" panose="020B0609020204030204" charset="0"/>
              </a:rPr>
              <a:t>#</a:t>
            </a:r>
            <a:r>
              <a:rPr lang="zh-CN" altLang="en-US" sz="1350" dirty="0">
                <a:latin typeface="Consolas" panose="020B0609020204030204" charset="0"/>
              </a:rPr>
              <a:t>两个参数都作为一个整体</a:t>
            </a:r>
          </a:p>
          <a:p>
            <a:pPr>
              <a:buSzPct val="70000"/>
              <a:buFont typeface="Arial" panose="020B0604020202020204" pitchFamily="34" charset="0"/>
              <a:buNone/>
            </a:pPr>
            <a:r>
              <a:rPr lang="zh-CN" altLang="en-US" sz="1350" dirty="0">
                <a:latin typeface="Consolas" panose="020B0609020204030204" charset="0"/>
              </a:rPr>
              <a:t>&gt;&gt;&gt; </a:t>
            </a:r>
            <a:r>
              <a:rPr lang="en-US" altLang="zh-CN" sz="1350" dirty="0">
                <a:latin typeface="Consolas" panose="020B0609020204030204" charset="0"/>
              </a:rPr>
              <a:t>print(</a:t>
            </a:r>
            <a:r>
              <a:rPr lang="zh-CN" altLang="en-US" sz="1350" dirty="0">
                <a:latin typeface="Consolas" panose="020B0609020204030204" charset="0"/>
              </a:rPr>
              <a:t>s2</a:t>
            </a:r>
            <a:r>
              <a:rPr lang="en-US" altLang="zh-CN" sz="1350" dirty="0">
                <a:latin typeface="Consolas" panose="020B0609020204030204" charset="0"/>
              </a:rPr>
              <a:t>)</a:t>
            </a:r>
          </a:p>
          <a:p>
            <a:pPr>
              <a:buSzPct val="70000"/>
              <a:buFont typeface="Arial" panose="020B0604020202020204" pitchFamily="34" charset="0"/>
              <a:buNone/>
            </a:pPr>
            <a:r>
              <a:rPr lang="zh-CN" altLang="en-US" sz="1350" dirty="0">
                <a:solidFill>
                  <a:srgbClr val="0000FF"/>
                </a:solidFill>
                <a:latin typeface="Consolas" panose="020B0609020204030204" charset="0"/>
                <a:sym typeface="+mn-ea"/>
              </a:rPr>
              <a:t>'</a:t>
            </a:r>
            <a:r>
              <a:rPr lang="zh-CN" altLang="en-US" sz="1350" dirty="0">
                <a:solidFill>
                  <a:srgbClr val="0000FF"/>
                </a:solidFill>
                <a:latin typeface="Consolas" panose="020B0609020204030204" charset="0"/>
              </a:rPr>
              <a:t>中华人民共和国，中华人民共和国</a:t>
            </a:r>
            <a:r>
              <a:rPr lang="zh-CN" altLang="en-US" sz="1350" dirty="0">
                <a:solidFill>
                  <a:srgbClr val="0000FF"/>
                </a:solidFill>
                <a:latin typeface="Consolas" panose="020B0609020204030204" charset="0"/>
                <a:sym typeface="+mn-ea"/>
              </a:rPr>
              <a:t>'</a:t>
            </a:r>
            <a:endParaRPr lang="zh-CN" altLang="en-US" sz="1350" dirty="0">
              <a:solidFill>
                <a:srgbClr val="0000FF"/>
              </a:solidFill>
              <a:latin typeface="Consolas" panose="020B0609020204030204" charset="0"/>
            </a:endParaRPr>
          </a:p>
        </p:txBody>
      </p:sp>
      <p:grpSp>
        <p:nvGrpSpPr>
          <p:cNvPr id="7" name="组合 114"/>
          <p:cNvGrpSpPr/>
          <p:nvPr/>
        </p:nvGrpSpPr>
        <p:grpSpPr>
          <a:xfrm>
            <a:off x="-540568" y="116632"/>
            <a:ext cx="6225040" cy="662730"/>
            <a:chOff x="-198275" y="3380765"/>
            <a:chExt cx="6225040" cy="662730"/>
          </a:xfrm>
        </p:grpSpPr>
        <p:grpSp>
          <p:nvGrpSpPr>
            <p:cNvPr id="8" name="组合 105"/>
            <p:cNvGrpSpPr/>
            <p:nvPr/>
          </p:nvGrpSpPr>
          <p:grpSpPr>
            <a:xfrm>
              <a:off x="-198275" y="3380765"/>
              <a:ext cx="6225040" cy="662730"/>
              <a:chOff x="-198275" y="3380765"/>
              <a:chExt cx="6225040" cy="662730"/>
            </a:xfrm>
          </p:grpSpPr>
          <p:sp>
            <p:nvSpPr>
              <p:cNvPr id="1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9" name="图片 8"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3" name="文本框 12"/>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4.1.3 </a:t>
            </a:r>
            <a:r>
              <a:rPr lang="zh-CN" altLang="en-US" sz="2800" b="1" dirty="0">
                <a:latin typeface="Times New Roman" panose="02020603050405020304" pitchFamily="18" charset="0"/>
                <a:ea typeface="仿宋" panose="02010609060101010101" pitchFamily="49" charset="-122"/>
              </a:rPr>
              <a:t>字符串常用方法</a:t>
            </a:r>
            <a:endParaRPr lang="en-US" altLang="zh-CN" sz="2800" b="1" dirty="0">
              <a:ea typeface="仿宋" panose="02010609060101010101" pitchFamily="49" charset="-122"/>
            </a:endParaRPr>
          </a:p>
        </p:txBody>
      </p:sp>
    </p:spTree>
    <p:extLst>
      <p:ext uri="{BB962C8B-B14F-4D97-AF65-F5344CB8AC3E}">
        <p14:creationId xmlns:p14="http://schemas.microsoft.com/office/powerpoint/2010/main" val="174751905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2" end="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3" end="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4" end="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5" end="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
                                            <p:txEl>
                                              <p:pRg st="6" end="6"/>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pPr>
              <a:defRPr/>
            </a:pPr>
            <a:fld id="{6EA7BA5E-4115-4796-A8C9-4698036AB88B}" type="slidenum">
              <a:rPr lang="zh-CN" altLang="en-US" smtClean="0"/>
              <a:t>30</a:t>
            </a:fld>
            <a:endParaRPr lang="zh-CN" altLang="en-US" dirty="0"/>
          </a:p>
        </p:txBody>
      </p:sp>
      <p:sp>
        <p:nvSpPr>
          <p:cNvPr id="6" name="文本框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a:spcBef>
                <a:spcPts val="600"/>
              </a:spcBef>
              <a:buClr>
                <a:srgbClr val="FF0000"/>
              </a:buClr>
              <a:buFont typeface="Wingdings" panose="05000000000000000000" pitchFamily="2" charset="2"/>
              <a:buChar char="ü"/>
            </a:pPr>
            <a:r>
              <a:rPr lang="zh-CN" altLang="en-US" sz="2800" b="1" noProof="1"/>
              <a:t>编写程序</a:t>
            </a:r>
            <a:r>
              <a:rPr lang="zh-CN" altLang="en-US" sz="2800" b="1" noProof="1" smtClean="0"/>
              <a:t>，任意字符串倒置</a:t>
            </a:r>
            <a:endParaRPr lang="en-US" altLang="zh-CN" sz="2800" b="1" noProof="1" smtClean="0"/>
          </a:p>
          <a:p>
            <a:pPr>
              <a:spcBef>
                <a:spcPts val="600"/>
              </a:spcBef>
              <a:buClr>
                <a:srgbClr val="FF0000"/>
              </a:buClr>
            </a:pPr>
            <a:r>
              <a:rPr lang="en-US" altLang="zh-CN" sz="2800" b="1" noProof="1"/>
              <a:t> </a:t>
            </a:r>
            <a:r>
              <a:rPr lang="en-US" altLang="zh-CN" sz="2800" b="1" noProof="1" smtClean="0"/>
              <a:t> </a:t>
            </a:r>
            <a:r>
              <a:rPr lang="zh-CN" altLang="en-US" sz="2800" b="1" noProof="1" smtClean="0"/>
              <a:t>例如 ：</a:t>
            </a:r>
            <a:r>
              <a:rPr lang="en-US" altLang="zh-CN" sz="2800" b="1" noProof="1" smtClean="0"/>
              <a:t>python</a:t>
            </a:r>
            <a:r>
              <a:rPr lang="zh-CN" altLang="en-US" sz="2800" b="1" noProof="1" smtClean="0"/>
              <a:t> </a:t>
            </a:r>
            <a:r>
              <a:rPr lang="en-US" altLang="zh-CN" sz="2800" b="1" noProof="1" smtClean="0"/>
              <a:t>-&gt;nohtyp</a:t>
            </a:r>
            <a:endParaRPr lang="zh-CN" altLang="en-US" sz="2800" b="1" noProof="1"/>
          </a:p>
        </p:txBody>
      </p:sp>
      <p:sp>
        <p:nvSpPr>
          <p:cNvPr id="7" name="圆角矩形 6"/>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endPar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2" name="组合 11"/>
          <p:cNvGrpSpPr/>
          <p:nvPr>
            <p:custDataLst>
              <p:tags r:id="rId5"/>
            </p:custDataLst>
          </p:nvPr>
        </p:nvGrpSpPr>
        <p:grpSpPr>
          <a:xfrm>
            <a:off x="0" y="0"/>
            <a:ext cx="9144000" cy="635000"/>
            <a:chOff x="0" y="0"/>
            <a:chExt cx="9144000" cy="635000"/>
          </a:xfrm>
        </p:grpSpPr>
        <p:sp>
          <p:nvSpPr>
            <p:cNvPr id="8" name="TitleBackground"/>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993741096"/>
      </p:ext>
    </p:extLst>
  </p:cSld>
  <p:clrMapOvr>
    <a:masterClrMapping/>
  </p:clrMapOvr>
  <p:transition spd="slow" advClick="0">
    <p:pull dir="d"/>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31</a:t>
            </a:fld>
            <a:endParaRPr lang="zh-CN" altLang="en-US" dirty="0"/>
          </a:p>
        </p:txBody>
      </p:sp>
      <p:sp>
        <p:nvSpPr>
          <p:cNvPr id="5" name="Content Placeholder 2"/>
          <p:cNvSpPr>
            <a:spLocks noGrp="1"/>
          </p:cNvSpPr>
          <p:nvPr>
            <p:ph idx="1"/>
          </p:nvPr>
        </p:nvSpPr>
        <p:spPr>
          <a:xfrm>
            <a:off x="371475" y="1052736"/>
            <a:ext cx="8315325" cy="3395345"/>
          </a:xfrm>
        </p:spPr>
        <p:txBody>
          <a:bodyPr/>
          <a:lstStyle/>
          <a:p>
            <a:pPr>
              <a:spcBef>
                <a:spcPts val="0"/>
              </a:spcBef>
              <a:buClr>
                <a:srgbClr val="FF0000"/>
              </a:buClr>
              <a:buFont typeface="Wingdings" panose="05000000000000000000" pitchFamily="2" charset="2"/>
              <a:buChar char="n"/>
            </a:pPr>
            <a:r>
              <a:rPr lang="zh-CN" altLang="en-US" sz="2400" b="1" noProof="1"/>
              <a:t>应用：</a:t>
            </a:r>
            <a:r>
              <a:rPr lang="en-US" sz="2400" noProof="1"/>
              <a:t>测试用户输入中是否有敏感词，如果有的话就把敏感词替换为3个星号***。</a:t>
            </a:r>
          </a:p>
          <a:p>
            <a:pPr marL="0" indent="0">
              <a:buNone/>
            </a:pPr>
            <a:endParaRPr lang="en-US" sz="2400" noProof="1"/>
          </a:p>
          <a:p>
            <a:pPr marL="0" indent="0">
              <a:buNone/>
            </a:pPr>
            <a:r>
              <a:rPr lang="en-US" sz="1350" noProof="1">
                <a:latin typeface="Consolas" panose="020B0609020204030204" charset="0"/>
              </a:rPr>
              <a:t>&gt;&gt;&gt; words = ('测试', '非法', '暴力', '话')</a:t>
            </a:r>
          </a:p>
          <a:p>
            <a:pPr marL="0" indent="0">
              <a:buNone/>
            </a:pPr>
            <a:r>
              <a:rPr lang="en-US" sz="1350" noProof="1">
                <a:latin typeface="Consolas" panose="020B0609020204030204" charset="0"/>
              </a:rPr>
              <a:t>&gt;&gt;&gt; text = '这句话里含有非法内容'</a:t>
            </a:r>
          </a:p>
          <a:p>
            <a:pPr marL="0" indent="0">
              <a:buNone/>
            </a:pPr>
            <a:r>
              <a:rPr lang="en-US" sz="1350" noProof="1">
                <a:latin typeface="Consolas" panose="020B0609020204030204" charset="0"/>
              </a:rPr>
              <a:t>&gt;&gt;&gt; for word in words:</a:t>
            </a:r>
          </a:p>
          <a:p>
            <a:pPr marL="0" indent="0">
              <a:buNone/>
            </a:pPr>
            <a:r>
              <a:rPr lang="en-US" sz="1350" noProof="1">
                <a:latin typeface="Consolas" panose="020B0609020204030204" charset="0"/>
              </a:rPr>
              <a:t>    if word in text:</a:t>
            </a:r>
          </a:p>
          <a:p>
            <a:pPr marL="0" indent="0">
              <a:buNone/>
            </a:pPr>
            <a:r>
              <a:rPr lang="en-US" sz="1350" noProof="1">
                <a:latin typeface="Consolas" panose="020B0609020204030204" charset="0"/>
                <a:sym typeface="+mn-ea"/>
              </a:rPr>
              <a:t>        </a:t>
            </a:r>
            <a:r>
              <a:rPr lang="en-US" sz="1350" noProof="1">
                <a:latin typeface="Consolas" panose="020B0609020204030204" charset="0"/>
              </a:rPr>
              <a:t>text = text.replace(word, '***')		</a:t>
            </a:r>
          </a:p>
          <a:p>
            <a:pPr marL="0" indent="0">
              <a:buNone/>
            </a:pPr>
            <a:r>
              <a:rPr lang="en-US" sz="1350" noProof="1">
                <a:latin typeface="Consolas" panose="020B0609020204030204" charset="0"/>
              </a:rPr>
              <a:t>&gt;&gt;&gt; text</a:t>
            </a:r>
          </a:p>
          <a:p>
            <a:pPr marL="0" indent="0">
              <a:buNone/>
            </a:pPr>
            <a:r>
              <a:rPr lang="en-US" sz="1350" noProof="1">
                <a:solidFill>
                  <a:srgbClr val="0000FF"/>
                </a:solidFill>
                <a:latin typeface="Consolas" panose="020B0609020204030204" charset="0"/>
              </a:rPr>
              <a:t>'这句***里含有***内容'</a:t>
            </a:r>
          </a:p>
        </p:txBody>
      </p:sp>
      <p:grpSp>
        <p:nvGrpSpPr>
          <p:cNvPr id="6" name="组合 114"/>
          <p:cNvGrpSpPr/>
          <p:nvPr/>
        </p:nvGrpSpPr>
        <p:grpSpPr>
          <a:xfrm>
            <a:off x="-540568" y="116632"/>
            <a:ext cx="6225040" cy="662730"/>
            <a:chOff x="-198275" y="3380765"/>
            <a:chExt cx="6225040" cy="662730"/>
          </a:xfrm>
        </p:grpSpPr>
        <p:grpSp>
          <p:nvGrpSpPr>
            <p:cNvPr id="7" name="组合 105"/>
            <p:cNvGrpSpPr/>
            <p:nvPr/>
          </p:nvGrpSpPr>
          <p:grpSpPr>
            <a:xfrm>
              <a:off x="-198275" y="3380765"/>
              <a:ext cx="6225040" cy="662730"/>
              <a:chOff x="-198275"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Tree>
    <p:extLst>
      <p:ext uri="{BB962C8B-B14F-4D97-AF65-F5344CB8AC3E}">
        <p14:creationId xmlns:p14="http://schemas.microsoft.com/office/powerpoint/2010/main" val="3770742165"/>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32</a:t>
            </a:fld>
            <a:endParaRPr lang="zh-CN" altLang="en-US" dirty="0"/>
          </a:p>
        </p:txBody>
      </p:sp>
      <p:sp>
        <p:nvSpPr>
          <p:cNvPr id="5" name="文本占位符 39938"/>
          <p:cNvSpPr>
            <a:spLocks noGrp="1"/>
          </p:cNvSpPr>
          <p:nvPr>
            <p:ph idx="1"/>
          </p:nvPr>
        </p:nvSpPr>
        <p:spPr>
          <a:xfrm>
            <a:off x="683835" y="1340768"/>
            <a:ext cx="8208645" cy="3395345"/>
          </a:xfrm>
        </p:spPr>
        <p:txBody>
          <a:bodyPr anchor="t"/>
          <a:lstStyle/>
          <a:p>
            <a:pPr>
              <a:spcBef>
                <a:spcPts val="600"/>
              </a:spcBef>
              <a:buClr>
                <a:srgbClr val="FF0000"/>
              </a:buClr>
              <a:buSzPct val="70000"/>
              <a:buFont typeface="Wingdings" panose="05000000000000000000" charset="0"/>
              <a:buChar char=""/>
            </a:pPr>
            <a:r>
              <a:rPr sz="1800" noProof="1">
                <a:latin typeface="宋体" panose="02010600030101010101" pitchFamily="2" charset="-122"/>
                <a:ea typeface="+mn-ea"/>
              </a:rPr>
              <a:t>字符串对象的</a:t>
            </a:r>
            <a:r>
              <a:rPr sz="1800" noProof="1">
                <a:solidFill>
                  <a:srgbClr val="FF0000"/>
                </a:solidFill>
                <a:latin typeface="宋体" panose="02010600030101010101" pitchFamily="2" charset="-122"/>
                <a:ea typeface="+mn-ea"/>
              </a:rPr>
              <a:t>maketrans()</a:t>
            </a:r>
            <a:r>
              <a:rPr sz="1800" noProof="1">
                <a:latin typeface="宋体" panose="02010600030101010101" pitchFamily="2" charset="-122"/>
                <a:ea typeface="+mn-ea"/>
              </a:rPr>
              <a:t>方法用来生成字符映射表</a:t>
            </a:r>
            <a:r>
              <a:rPr lang="zh-CN" altLang="en-US" sz="1800" noProof="1">
                <a:latin typeface="宋体" panose="02010600030101010101" pitchFamily="2" charset="-122"/>
                <a:ea typeface="+mn-ea"/>
              </a:rPr>
              <a:t>字典</a:t>
            </a:r>
            <a:r>
              <a:rPr sz="1800" noProof="1">
                <a:latin typeface="宋体" panose="02010600030101010101" pitchFamily="2" charset="-122"/>
                <a:ea typeface="+mn-ea"/>
              </a:rPr>
              <a:t>，而</a:t>
            </a:r>
            <a:r>
              <a:rPr sz="1800" noProof="1">
                <a:solidFill>
                  <a:srgbClr val="FF0000"/>
                </a:solidFill>
                <a:latin typeface="宋体" panose="02010600030101010101" pitchFamily="2" charset="-122"/>
                <a:ea typeface="+mn-ea"/>
              </a:rPr>
              <a:t>translate()</a:t>
            </a:r>
            <a:r>
              <a:rPr sz="1800" noProof="1">
                <a:latin typeface="宋体" panose="02010600030101010101" pitchFamily="2" charset="-122"/>
                <a:ea typeface="+mn-ea"/>
              </a:rPr>
              <a:t>方法用来根据映射表中定义的对应关系转换字符串并替换其中的字符，使用这两个方法的组合</a:t>
            </a:r>
            <a:r>
              <a:rPr sz="1800" noProof="1">
                <a:solidFill>
                  <a:srgbClr val="FF0000"/>
                </a:solidFill>
                <a:latin typeface="宋体" panose="02010600030101010101" pitchFamily="2" charset="-122"/>
                <a:ea typeface="+mn-ea"/>
              </a:rPr>
              <a:t>可以同时处理多个字符</a:t>
            </a:r>
            <a:r>
              <a:rPr sz="1800" noProof="1">
                <a:latin typeface="宋体" panose="02010600030101010101" pitchFamily="2" charset="-122"/>
                <a:ea typeface="+mn-ea"/>
              </a:rPr>
              <a:t>。</a:t>
            </a:r>
          </a:p>
          <a:p>
            <a:pPr marL="0" indent="0">
              <a:buSzPct val="70000"/>
              <a:buNone/>
            </a:pPr>
            <a:r>
              <a:rPr sz="1600" noProof="1">
                <a:latin typeface="Consolas" panose="020B0609020204030204" charset="0"/>
                <a:ea typeface="+mn-ea"/>
              </a:rPr>
              <a:t>#创建映射表，将字符"abcdef123"一一对应地转换为"uvwxyz@#$"</a:t>
            </a:r>
          </a:p>
          <a:p>
            <a:pPr>
              <a:buSzPct val="70000"/>
              <a:buNone/>
            </a:pPr>
            <a:r>
              <a:rPr sz="1600" noProof="1">
                <a:latin typeface="Consolas" panose="020B0609020204030204" charset="0"/>
                <a:ea typeface="+mn-ea"/>
              </a:rPr>
              <a:t>&gt;&gt;&gt; table = ''.maketrans('abcdef123', 'uvwxyz@#$’)</a:t>
            </a:r>
            <a:endParaRPr lang="en-US" sz="1600" noProof="1">
              <a:latin typeface="Consolas" panose="020B0609020204030204" charset="0"/>
              <a:ea typeface="+mn-ea"/>
            </a:endParaRPr>
          </a:p>
          <a:p>
            <a:pPr>
              <a:buSzPct val="70000"/>
              <a:buNone/>
            </a:pPr>
            <a:r>
              <a:rPr lang="en-US" sz="1600" noProof="1">
                <a:latin typeface="Consolas" panose="020B0609020204030204" charset="0"/>
                <a:ea typeface="+mn-ea"/>
              </a:rPr>
              <a:t>&gt;&gt;&gt; talbe</a:t>
            </a:r>
          </a:p>
          <a:p>
            <a:pPr>
              <a:buSzPct val="70000"/>
              <a:buNone/>
            </a:pPr>
            <a:r>
              <a:rPr lang="en-US" altLang="zh-CN" sz="1600" noProof="1">
                <a:solidFill>
                  <a:srgbClr val="0000FF"/>
                </a:solidFill>
                <a:latin typeface="Consolas" panose="020B0609020204030204" charset="0"/>
                <a:ea typeface="+mn-ea"/>
              </a:rPr>
              <a:t>{97: 117, 98: 118, 99: 119, 100: 120, 101: 121, 102: 122, 49: 64, 50: 35, 51: 36}</a:t>
            </a:r>
            <a:endParaRPr sz="1600" noProof="1">
              <a:solidFill>
                <a:srgbClr val="0000FF"/>
              </a:solidFill>
              <a:latin typeface="Consolas" panose="020B0609020204030204" charset="0"/>
              <a:ea typeface="+mn-ea"/>
            </a:endParaRPr>
          </a:p>
          <a:p>
            <a:pPr>
              <a:buSzPct val="70000"/>
              <a:buNone/>
            </a:pPr>
            <a:r>
              <a:rPr sz="1600" noProof="1">
                <a:latin typeface="Consolas" panose="020B0609020204030204" charset="0"/>
                <a:ea typeface="+mn-ea"/>
              </a:rPr>
              <a:t>&gt;&gt;&gt; s = "Python is </a:t>
            </a:r>
            <a:r>
              <a:rPr sz="1600" noProof="1">
                <a:solidFill>
                  <a:srgbClr val="FF0000"/>
                </a:solidFill>
                <a:latin typeface="Consolas" panose="020B0609020204030204" charset="0"/>
                <a:ea typeface="+mn-ea"/>
              </a:rPr>
              <a:t>a</a:t>
            </a:r>
            <a:r>
              <a:rPr sz="1600" noProof="1">
                <a:latin typeface="Consolas" panose="020B0609020204030204" charset="0"/>
                <a:ea typeface="+mn-ea"/>
              </a:rPr>
              <a:t> gr</a:t>
            </a:r>
            <a:r>
              <a:rPr sz="1600" noProof="1">
                <a:solidFill>
                  <a:srgbClr val="FF0000"/>
                </a:solidFill>
                <a:latin typeface="Consolas" panose="020B0609020204030204" charset="0"/>
                <a:ea typeface="+mn-ea"/>
              </a:rPr>
              <a:t>ea</a:t>
            </a:r>
            <a:r>
              <a:rPr sz="1600" noProof="1">
                <a:latin typeface="Consolas" panose="020B0609020204030204" charset="0"/>
                <a:ea typeface="+mn-ea"/>
              </a:rPr>
              <a:t>t</a:t>
            </a:r>
            <a:r>
              <a:rPr sz="1600" noProof="1">
                <a:solidFill>
                  <a:srgbClr val="FF0000"/>
                </a:solidFill>
                <a:latin typeface="Consolas" panose="020B0609020204030204" charset="0"/>
                <a:ea typeface="+mn-ea"/>
              </a:rPr>
              <a:t>e</a:t>
            </a:r>
            <a:r>
              <a:rPr sz="1600" noProof="1">
                <a:latin typeface="Consolas" panose="020B0609020204030204" charset="0"/>
                <a:ea typeface="+mn-ea"/>
              </a:rPr>
              <a:t> progr</a:t>
            </a:r>
            <a:r>
              <a:rPr sz="1600" noProof="1">
                <a:solidFill>
                  <a:srgbClr val="FF0000"/>
                </a:solidFill>
                <a:latin typeface="Consolas" panose="020B0609020204030204" charset="0"/>
                <a:ea typeface="+mn-ea"/>
              </a:rPr>
              <a:t>a</a:t>
            </a:r>
            <a:r>
              <a:rPr sz="1600" noProof="1">
                <a:latin typeface="Consolas" panose="020B0609020204030204" charset="0"/>
                <a:ea typeface="+mn-ea"/>
              </a:rPr>
              <a:t>mming l</a:t>
            </a:r>
            <a:r>
              <a:rPr sz="1600" noProof="1">
                <a:solidFill>
                  <a:srgbClr val="FF0000"/>
                </a:solidFill>
                <a:latin typeface="Consolas" panose="020B0609020204030204" charset="0"/>
                <a:ea typeface="+mn-ea"/>
              </a:rPr>
              <a:t>a</a:t>
            </a:r>
            <a:r>
              <a:rPr sz="1600" noProof="1">
                <a:latin typeface="Consolas" panose="020B0609020204030204" charset="0"/>
                <a:ea typeface="+mn-ea"/>
              </a:rPr>
              <a:t>ngu</a:t>
            </a:r>
            <a:r>
              <a:rPr sz="1600" noProof="1">
                <a:solidFill>
                  <a:srgbClr val="FF0000"/>
                </a:solidFill>
                <a:latin typeface="Consolas" panose="020B0609020204030204" charset="0"/>
                <a:ea typeface="+mn-ea"/>
              </a:rPr>
              <a:t>a</a:t>
            </a:r>
            <a:r>
              <a:rPr sz="1600" noProof="1">
                <a:latin typeface="Consolas" panose="020B0609020204030204" charset="0"/>
                <a:ea typeface="+mn-ea"/>
              </a:rPr>
              <a:t>g</a:t>
            </a:r>
            <a:r>
              <a:rPr sz="1600" noProof="1">
                <a:solidFill>
                  <a:srgbClr val="FF0000"/>
                </a:solidFill>
                <a:latin typeface="Consolas" panose="020B0609020204030204" charset="0"/>
                <a:ea typeface="+mn-ea"/>
              </a:rPr>
              <a:t>e</a:t>
            </a:r>
            <a:r>
              <a:rPr sz="1600" noProof="1">
                <a:latin typeface="Consolas" panose="020B0609020204030204" charset="0"/>
                <a:ea typeface="+mn-ea"/>
              </a:rPr>
              <a:t>. I lik</a:t>
            </a:r>
            <a:r>
              <a:rPr sz="1600" noProof="1">
                <a:solidFill>
                  <a:srgbClr val="FF0000"/>
                </a:solidFill>
                <a:latin typeface="Consolas" panose="020B0609020204030204" charset="0"/>
                <a:ea typeface="+mn-ea"/>
              </a:rPr>
              <a:t>e</a:t>
            </a:r>
            <a:r>
              <a:rPr sz="1600" noProof="1">
                <a:latin typeface="Consolas" panose="020B0609020204030204" charset="0"/>
                <a:ea typeface="+mn-ea"/>
              </a:rPr>
              <a:t> it!"</a:t>
            </a:r>
          </a:p>
          <a:p>
            <a:pPr>
              <a:buSzPct val="70000"/>
              <a:buNone/>
            </a:pPr>
            <a:r>
              <a:rPr sz="1600" noProof="1">
                <a:latin typeface="Consolas" panose="020B0609020204030204" charset="0"/>
                <a:ea typeface="+mn-ea"/>
              </a:rPr>
              <a:t>#按映射表进行替换</a:t>
            </a:r>
          </a:p>
          <a:p>
            <a:pPr>
              <a:buSzPct val="70000"/>
              <a:buNone/>
            </a:pPr>
            <a:r>
              <a:rPr sz="1600" noProof="1">
                <a:latin typeface="Consolas" panose="020B0609020204030204" charset="0"/>
                <a:ea typeface="+mn-ea"/>
              </a:rPr>
              <a:t>&gt;&gt;&gt; s.translate(table)</a:t>
            </a:r>
          </a:p>
          <a:p>
            <a:pPr>
              <a:buSzPct val="70000"/>
              <a:buNone/>
            </a:pPr>
            <a:r>
              <a:rPr sz="1600" noProof="1">
                <a:solidFill>
                  <a:srgbClr val="0000FF"/>
                </a:solidFill>
                <a:latin typeface="Consolas" panose="020B0609020204030204" charset="0"/>
                <a:ea typeface="+mn-ea"/>
              </a:rPr>
              <a:t>'Python is </a:t>
            </a:r>
            <a:r>
              <a:rPr sz="1600" noProof="1">
                <a:solidFill>
                  <a:srgbClr val="FF0000"/>
                </a:solidFill>
                <a:latin typeface="Consolas" panose="020B0609020204030204" charset="0"/>
                <a:ea typeface="+mn-ea"/>
              </a:rPr>
              <a:t>u</a:t>
            </a:r>
            <a:r>
              <a:rPr sz="1600" noProof="1">
                <a:solidFill>
                  <a:srgbClr val="0000FF"/>
                </a:solidFill>
                <a:latin typeface="Consolas" panose="020B0609020204030204" charset="0"/>
                <a:ea typeface="+mn-ea"/>
              </a:rPr>
              <a:t> gr</a:t>
            </a:r>
            <a:r>
              <a:rPr sz="1600" noProof="1">
                <a:solidFill>
                  <a:srgbClr val="FF0000"/>
                </a:solidFill>
                <a:latin typeface="Consolas" panose="020B0609020204030204" charset="0"/>
                <a:ea typeface="+mn-ea"/>
              </a:rPr>
              <a:t>yu</a:t>
            </a:r>
            <a:r>
              <a:rPr sz="1600" noProof="1">
                <a:solidFill>
                  <a:srgbClr val="0000FF"/>
                </a:solidFill>
                <a:latin typeface="Consolas" panose="020B0609020204030204" charset="0"/>
                <a:ea typeface="+mn-ea"/>
              </a:rPr>
              <a:t>t</a:t>
            </a:r>
            <a:r>
              <a:rPr sz="1600" noProof="1">
                <a:solidFill>
                  <a:srgbClr val="FF0000"/>
                </a:solidFill>
                <a:latin typeface="Consolas" panose="020B0609020204030204" charset="0"/>
                <a:ea typeface="+mn-ea"/>
              </a:rPr>
              <a:t>y</a:t>
            </a:r>
            <a:r>
              <a:rPr sz="1600" noProof="1">
                <a:solidFill>
                  <a:srgbClr val="0000FF"/>
                </a:solidFill>
                <a:latin typeface="Consolas" panose="020B0609020204030204" charset="0"/>
                <a:ea typeface="+mn-ea"/>
              </a:rPr>
              <a:t> progr</a:t>
            </a:r>
            <a:r>
              <a:rPr sz="1600" noProof="1">
                <a:solidFill>
                  <a:srgbClr val="FF0000"/>
                </a:solidFill>
                <a:latin typeface="Consolas" panose="020B0609020204030204" charset="0"/>
                <a:ea typeface="+mn-ea"/>
              </a:rPr>
              <a:t>u</a:t>
            </a:r>
            <a:r>
              <a:rPr sz="1600" noProof="1">
                <a:solidFill>
                  <a:srgbClr val="0000FF"/>
                </a:solidFill>
                <a:latin typeface="Consolas" panose="020B0609020204030204" charset="0"/>
                <a:ea typeface="+mn-ea"/>
              </a:rPr>
              <a:t>mming l</a:t>
            </a:r>
            <a:r>
              <a:rPr sz="1600" noProof="1">
                <a:solidFill>
                  <a:srgbClr val="FF0000"/>
                </a:solidFill>
                <a:latin typeface="Consolas" panose="020B0609020204030204" charset="0"/>
                <a:ea typeface="+mn-ea"/>
              </a:rPr>
              <a:t>u</a:t>
            </a:r>
            <a:r>
              <a:rPr sz="1600" noProof="1">
                <a:solidFill>
                  <a:srgbClr val="0000FF"/>
                </a:solidFill>
                <a:latin typeface="Consolas" panose="020B0609020204030204" charset="0"/>
                <a:ea typeface="+mn-ea"/>
              </a:rPr>
              <a:t>ng</a:t>
            </a:r>
            <a:r>
              <a:rPr sz="1600" noProof="1">
                <a:solidFill>
                  <a:srgbClr val="92D050"/>
                </a:solidFill>
                <a:latin typeface="Consolas" panose="020B0609020204030204" charset="0"/>
                <a:ea typeface="+mn-ea"/>
              </a:rPr>
              <a:t>u</a:t>
            </a:r>
            <a:r>
              <a:rPr sz="1600" noProof="1">
                <a:solidFill>
                  <a:srgbClr val="FF0000"/>
                </a:solidFill>
                <a:latin typeface="Consolas" panose="020B0609020204030204" charset="0"/>
                <a:ea typeface="+mn-ea"/>
              </a:rPr>
              <a:t>u</a:t>
            </a:r>
            <a:r>
              <a:rPr sz="1600" noProof="1">
                <a:solidFill>
                  <a:srgbClr val="0000FF"/>
                </a:solidFill>
                <a:latin typeface="Consolas" panose="020B0609020204030204" charset="0"/>
                <a:ea typeface="+mn-ea"/>
              </a:rPr>
              <a:t>g</a:t>
            </a:r>
            <a:r>
              <a:rPr sz="1600" noProof="1">
                <a:solidFill>
                  <a:srgbClr val="FF0000"/>
                </a:solidFill>
                <a:latin typeface="Consolas" panose="020B0609020204030204" charset="0"/>
                <a:ea typeface="+mn-ea"/>
              </a:rPr>
              <a:t>y</a:t>
            </a:r>
            <a:r>
              <a:rPr sz="1600" noProof="1">
                <a:solidFill>
                  <a:srgbClr val="0000FF"/>
                </a:solidFill>
                <a:latin typeface="Consolas" panose="020B0609020204030204" charset="0"/>
                <a:ea typeface="+mn-ea"/>
              </a:rPr>
              <a:t>. I lik</a:t>
            </a:r>
            <a:r>
              <a:rPr sz="1600" noProof="1">
                <a:solidFill>
                  <a:srgbClr val="FF0000"/>
                </a:solidFill>
                <a:latin typeface="Consolas" panose="020B0609020204030204" charset="0"/>
                <a:ea typeface="+mn-ea"/>
              </a:rPr>
              <a:t>y</a:t>
            </a:r>
            <a:r>
              <a:rPr sz="1600" noProof="1">
                <a:solidFill>
                  <a:srgbClr val="0000FF"/>
                </a:solidFill>
                <a:latin typeface="Consolas" panose="020B0609020204030204" charset="0"/>
                <a:ea typeface="+mn-ea"/>
              </a:rPr>
              <a:t> it!'</a:t>
            </a:r>
          </a:p>
        </p:txBody>
      </p:sp>
      <p:sp>
        <p:nvSpPr>
          <p:cNvPr id="6" name="线形标注 1 5"/>
          <p:cNvSpPr/>
          <p:nvPr/>
        </p:nvSpPr>
        <p:spPr>
          <a:xfrm>
            <a:off x="3923928" y="1889267"/>
            <a:ext cx="1604052" cy="457280"/>
          </a:xfrm>
          <a:prstGeom prst="borderCallout1">
            <a:avLst>
              <a:gd name="adj1" fmla="val 98335"/>
              <a:gd name="adj2" fmla="val 50757"/>
              <a:gd name="adj3" fmla="val 164828"/>
              <a:gd name="adj4" fmla="val 16186"/>
            </a:avLst>
          </a:prstGeom>
          <a:solidFill>
            <a:srgbClr val="FFFF00"/>
          </a:solidFill>
          <a:ln>
            <a:solidFill>
              <a:srgbClr val="0000FF"/>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1200" noProof="1">
                <a:solidFill>
                  <a:srgbClr val="FF0000"/>
                </a:solidFill>
              </a:rPr>
              <a:t>这两个参数不是作为整体进行处理的</a:t>
            </a:r>
          </a:p>
        </p:txBody>
      </p:sp>
      <p:cxnSp>
        <p:nvCxnSpPr>
          <p:cNvPr id="7" name="直接箭头连接符 6"/>
          <p:cNvCxnSpPr>
            <a:stCxn id="6" idx="1"/>
          </p:cNvCxnSpPr>
          <p:nvPr/>
        </p:nvCxnSpPr>
        <p:spPr>
          <a:xfrm>
            <a:off x="4725915" y="2345913"/>
            <a:ext cx="521585" cy="281037"/>
          </a:xfrm>
          <a:prstGeom prst="straightConnector1">
            <a:avLst/>
          </a:prstGeom>
          <a:ln w="41275">
            <a:solidFill>
              <a:srgbClr val="0000FF"/>
            </a:solidFill>
            <a:tailEnd type="arrow"/>
          </a:ln>
        </p:spPr>
        <p:style>
          <a:lnRef idx="1">
            <a:schemeClr val="accent1"/>
          </a:lnRef>
          <a:fillRef idx="0">
            <a:schemeClr val="accent1"/>
          </a:fillRef>
          <a:effectRef idx="0">
            <a:schemeClr val="accent1"/>
          </a:effectRef>
          <a:fontRef idx="minor">
            <a:schemeClr val="tx1"/>
          </a:fontRef>
        </p:style>
      </p:cxnSp>
      <p:grpSp>
        <p:nvGrpSpPr>
          <p:cNvPr id="9" name="组合 114"/>
          <p:cNvGrpSpPr/>
          <p:nvPr/>
        </p:nvGrpSpPr>
        <p:grpSpPr>
          <a:xfrm>
            <a:off x="-540568" y="116632"/>
            <a:ext cx="6225040" cy="662730"/>
            <a:chOff x="-198275" y="3380765"/>
            <a:chExt cx="6225040" cy="662730"/>
          </a:xfrm>
        </p:grpSpPr>
        <p:grpSp>
          <p:nvGrpSpPr>
            <p:cNvPr id="10" name="组合 105"/>
            <p:cNvGrpSpPr/>
            <p:nvPr/>
          </p:nvGrpSpPr>
          <p:grpSpPr>
            <a:xfrm>
              <a:off x="-198275" y="3380765"/>
              <a:ext cx="6225040" cy="662730"/>
              <a:chOff x="-198275" y="3380765"/>
              <a:chExt cx="6225040" cy="662730"/>
            </a:xfrm>
          </p:grpSpPr>
          <p:sp>
            <p:nvSpPr>
              <p:cNvPr id="12"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3"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11" name="图片 10"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5" name="文本框 14"/>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4.1.3 </a:t>
            </a:r>
            <a:r>
              <a:rPr lang="zh-CN" altLang="en-US" sz="2800" b="1" dirty="0">
                <a:latin typeface="Times New Roman" panose="02020603050405020304" pitchFamily="18" charset="0"/>
                <a:ea typeface="仿宋" panose="02010609060101010101" pitchFamily="49" charset="-122"/>
              </a:rPr>
              <a:t>字符串常用方法</a:t>
            </a:r>
            <a:endParaRPr lang="en-US" altLang="zh-CN" sz="2800" b="1" dirty="0">
              <a:ea typeface="仿宋" panose="02010609060101010101" pitchFamily="49" charset="-122"/>
            </a:endParaRPr>
          </a:p>
        </p:txBody>
      </p:sp>
      <p:sp>
        <p:nvSpPr>
          <p:cNvPr id="3" name="文本框 2"/>
          <p:cNvSpPr txBox="1"/>
          <p:nvPr/>
        </p:nvSpPr>
        <p:spPr>
          <a:xfrm>
            <a:off x="591594" y="5021873"/>
            <a:ext cx="8208646" cy="1384995"/>
          </a:xfrm>
          <a:prstGeom prst="rect">
            <a:avLst/>
          </a:prstGeom>
          <a:solidFill>
            <a:schemeClr val="accent3">
              <a:lumMod val="40000"/>
              <a:lumOff val="60000"/>
            </a:schemeClr>
          </a:solidFill>
        </p:spPr>
        <p:txBody>
          <a:bodyPr wrap="square" rtlCol="0">
            <a:spAutoFit/>
          </a:bodyPr>
          <a:lstStyle/>
          <a:p>
            <a:pPr algn="l" latinLnBrk="1"/>
            <a:r>
              <a:rPr lang="zh-CN" altLang="en-US" sz="1400" b="0" i="0" dirty="0">
                <a:solidFill>
                  <a:srgbClr val="333333"/>
                </a:solidFill>
                <a:effectLst/>
                <a:latin typeface="Helvetica Neue"/>
              </a:rPr>
              <a:t>语法： </a:t>
            </a:r>
            <a:r>
              <a:rPr lang="en-US" altLang="zh-CN" sz="1400" b="0" i="0" dirty="0" err="1">
                <a:solidFill>
                  <a:srgbClr val="333333"/>
                </a:solidFill>
                <a:effectLst/>
                <a:latin typeface="Helvetica Neue"/>
              </a:rPr>
              <a:t>str.maketrans</a:t>
            </a:r>
            <a:r>
              <a:rPr lang="en-US" altLang="zh-CN" sz="1400" b="0" i="0" dirty="0">
                <a:solidFill>
                  <a:srgbClr val="333333"/>
                </a:solidFill>
                <a:effectLst/>
                <a:latin typeface="Helvetica Neue"/>
              </a:rPr>
              <a:t>(</a:t>
            </a:r>
            <a:r>
              <a:rPr lang="en-US" altLang="zh-CN" sz="1400" b="0" i="0" dirty="0" err="1">
                <a:solidFill>
                  <a:srgbClr val="333333"/>
                </a:solidFill>
                <a:effectLst/>
                <a:latin typeface="Helvetica Neue"/>
              </a:rPr>
              <a:t>intab</a:t>
            </a:r>
            <a:r>
              <a:rPr lang="en-US" altLang="zh-CN" sz="1400" b="0" i="0" dirty="0">
                <a:solidFill>
                  <a:srgbClr val="333333"/>
                </a:solidFill>
                <a:effectLst/>
                <a:latin typeface="Helvetica Neue"/>
              </a:rPr>
              <a:t>, </a:t>
            </a:r>
            <a:r>
              <a:rPr lang="en-US" altLang="zh-CN" sz="1400" b="0" i="0" dirty="0" err="1">
                <a:solidFill>
                  <a:srgbClr val="333333"/>
                </a:solidFill>
                <a:effectLst/>
                <a:latin typeface="Helvetica Neue"/>
              </a:rPr>
              <a:t>outtab</a:t>
            </a:r>
            <a:r>
              <a:rPr lang="en-US" altLang="zh-CN" sz="1400" b="0" i="0" dirty="0">
                <a:solidFill>
                  <a:srgbClr val="333333"/>
                </a:solidFill>
                <a:effectLst/>
                <a:latin typeface="Helvetica Neue"/>
              </a:rPr>
              <a:t>)      </a:t>
            </a:r>
            <a:r>
              <a:rPr lang="zh-CN" altLang="en-US" sz="1400" b="0" i="0" dirty="0">
                <a:solidFill>
                  <a:srgbClr val="333333"/>
                </a:solidFill>
                <a:effectLst/>
                <a:latin typeface="Helvetica Neue"/>
              </a:rPr>
              <a:t>返回结果是运行的 字符映射表 </a:t>
            </a:r>
            <a:r>
              <a:rPr lang="en-US" altLang="zh-CN" sz="1400" dirty="0" err="1">
                <a:solidFill>
                  <a:srgbClr val="333333"/>
                </a:solidFill>
                <a:latin typeface="Helvetica Neue"/>
              </a:rPr>
              <a:t>ord</a:t>
            </a:r>
            <a:r>
              <a:rPr lang="en-US" altLang="zh-CN" sz="1400" dirty="0">
                <a:solidFill>
                  <a:srgbClr val="333333"/>
                </a:solidFill>
                <a:latin typeface="Helvetica Neue"/>
              </a:rPr>
              <a:t>():</a:t>
            </a:r>
            <a:r>
              <a:rPr lang="en-US" altLang="zh-CN" sz="1400" dirty="0" err="1">
                <a:solidFill>
                  <a:srgbClr val="333333"/>
                </a:solidFill>
                <a:latin typeface="Helvetica Neue"/>
              </a:rPr>
              <a:t>ord</a:t>
            </a:r>
            <a:r>
              <a:rPr lang="en-US" altLang="zh-CN" sz="1400" dirty="0">
                <a:solidFill>
                  <a:srgbClr val="333333"/>
                </a:solidFill>
                <a:latin typeface="Helvetica Neue"/>
              </a:rPr>
              <a:t>()</a:t>
            </a:r>
            <a:r>
              <a:rPr lang="zh-CN" altLang="en-US" sz="1400" b="0" i="0" dirty="0">
                <a:solidFill>
                  <a:srgbClr val="333333"/>
                </a:solidFill>
                <a:effectLst/>
                <a:latin typeface="Helvetica Neue"/>
              </a:rPr>
              <a:t>字典 </a:t>
            </a:r>
            <a:endParaRPr lang="en-US" altLang="zh-CN" sz="1400" b="0" i="0" dirty="0">
              <a:solidFill>
                <a:srgbClr val="333333"/>
              </a:solidFill>
              <a:effectLst/>
              <a:latin typeface="Helvetica Neue"/>
            </a:endParaRPr>
          </a:p>
          <a:p>
            <a:pPr algn="l" latinLnBrk="1">
              <a:buFont typeface="Arial" panose="020B0604020202020204" pitchFamily="34" charset="0"/>
              <a:buChar char="•"/>
            </a:pPr>
            <a:r>
              <a:rPr lang="en-US" altLang="zh-CN" sz="1400" b="0" i="0" dirty="0" err="1">
                <a:solidFill>
                  <a:srgbClr val="333333"/>
                </a:solidFill>
                <a:effectLst/>
                <a:latin typeface="Helvetica Neue"/>
              </a:rPr>
              <a:t>intab</a:t>
            </a:r>
            <a:r>
              <a:rPr lang="en-US" altLang="zh-CN" sz="1400" b="0" i="0" dirty="0">
                <a:solidFill>
                  <a:srgbClr val="333333"/>
                </a:solidFill>
                <a:effectLst/>
                <a:latin typeface="Helvetica Neue"/>
              </a:rPr>
              <a:t> -- </a:t>
            </a:r>
            <a:r>
              <a:rPr lang="zh-CN" altLang="en-US" sz="1400" b="0" i="0" dirty="0">
                <a:solidFill>
                  <a:srgbClr val="333333"/>
                </a:solidFill>
                <a:effectLst/>
                <a:latin typeface="Helvetica Neue"/>
              </a:rPr>
              <a:t>字符串中要替代的字符组成的字符串；</a:t>
            </a:r>
            <a:r>
              <a:rPr lang="en-US" altLang="zh-CN" sz="1400" b="0" i="0" dirty="0" err="1">
                <a:solidFill>
                  <a:srgbClr val="333333"/>
                </a:solidFill>
                <a:effectLst/>
                <a:latin typeface="Helvetica Neue"/>
              </a:rPr>
              <a:t>outtab</a:t>
            </a:r>
            <a:r>
              <a:rPr lang="en-US" altLang="zh-CN" sz="1400" b="0" i="0" dirty="0">
                <a:solidFill>
                  <a:srgbClr val="333333"/>
                </a:solidFill>
                <a:effectLst/>
                <a:latin typeface="Helvetica Neue"/>
              </a:rPr>
              <a:t> -- </a:t>
            </a:r>
            <a:r>
              <a:rPr lang="zh-CN" altLang="en-US" sz="1400" b="0" i="0" dirty="0">
                <a:solidFill>
                  <a:srgbClr val="333333"/>
                </a:solidFill>
                <a:effectLst/>
                <a:latin typeface="Helvetica Neue"/>
              </a:rPr>
              <a:t>相应的映射字符的字符串。</a:t>
            </a:r>
            <a:endParaRPr lang="en-US" altLang="zh-CN" sz="1400" b="0" i="0" dirty="0">
              <a:solidFill>
                <a:srgbClr val="333333"/>
              </a:solidFill>
              <a:effectLst/>
              <a:latin typeface="Helvetica Neue"/>
            </a:endParaRPr>
          </a:p>
          <a:p>
            <a:pPr algn="l" latinLnBrk="1"/>
            <a:r>
              <a:rPr lang="en-US" altLang="zh-CN" sz="1400" b="0" i="0" dirty="0" err="1">
                <a:solidFill>
                  <a:srgbClr val="333333"/>
                </a:solidFill>
                <a:effectLst/>
                <a:latin typeface="Helvetica Neue"/>
              </a:rPr>
              <a:t>maketrans</a:t>
            </a:r>
            <a:r>
              <a:rPr lang="en-US" altLang="zh-CN" sz="1400" b="0" i="0" dirty="0">
                <a:solidFill>
                  <a:srgbClr val="333333"/>
                </a:solidFill>
                <a:effectLst/>
                <a:latin typeface="Helvetica Neue"/>
              </a:rPr>
              <a:t>() </a:t>
            </a:r>
            <a:r>
              <a:rPr lang="zh-CN" altLang="en-US" sz="1400" b="0" i="0" dirty="0">
                <a:solidFill>
                  <a:srgbClr val="333333"/>
                </a:solidFill>
                <a:effectLst/>
                <a:latin typeface="Helvetica Neue"/>
              </a:rPr>
              <a:t>方法用于创建字符映射的转换表，</a:t>
            </a:r>
            <a:endParaRPr lang="en-US" altLang="zh-CN" sz="1400" b="0" i="0" dirty="0">
              <a:solidFill>
                <a:srgbClr val="333333"/>
              </a:solidFill>
              <a:effectLst/>
              <a:latin typeface="Helvetica Neue"/>
            </a:endParaRPr>
          </a:p>
          <a:p>
            <a:pPr algn="l" latinLnBrk="1"/>
            <a:r>
              <a:rPr lang="zh-CN" altLang="en-US" sz="1400" b="0" i="0" dirty="0">
                <a:solidFill>
                  <a:srgbClr val="333333"/>
                </a:solidFill>
                <a:effectLst/>
                <a:latin typeface="Helvetica Neue"/>
              </a:rPr>
              <a:t>第一个参数是字符串，表示需要转换的字符，</a:t>
            </a:r>
            <a:endParaRPr lang="en-US" altLang="zh-CN" sz="1400" b="0" i="0" dirty="0">
              <a:solidFill>
                <a:srgbClr val="333333"/>
              </a:solidFill>
              <a:effectLst/>
              <a:latin typeface="Helvetica Neue"/>
            </a:endParaRPr>
          </a:p>
          <a:p>
            <a:pPr algn="l" latinLnBrk="1"/>
            <a:r>
              <a:rPr lang="zh-CN" altLang="en-US" sz="1400" b="0" i="0" dirty="0">
                <a:solidFill>
                  <a:srgbClr val="333333"/>
                </a:solidFill>
                <a:effectLst/>
                <a:latin typeface="Helvetica Neue"/>
              </a:rPr>
              <a:t>第二个参数也是字符串表示转换的目标。</a:t>
            </a:r>
          </a:p>
          <a:p>
            <a:pPr algn="l" latinLnBrk="1"/>
            <a:r>
              <a:rPr lang="zh-CN" altLang="en-US" sz="1400" b="0" i="0" dirty="0">
                <a:solidFill>
                  <a:srgbClr val="333333"/>
                </a:solidFill>
                <a:effectLst/>
                <a:latin typeface="Helvetica Neue"/>
              </a:rPr>
              <a:t>两个字符串的长度必须相同，为一一对应的关系。</a:t>
            </a:r>
            <a:endParaRPr lang="zh-CN" altLang="en-US" sz="1400" dirty="0"/>
          </a:p>
        </p:txBody>
      </p:sp>
      <p:sp>
        <p:nvSpPr>
          <p:cNvPr id="2" name="文本框 1"/>
          <p:cNvSpPr txBox="1"/>
          <p:nvPr/>
        </p:nvSpPr>
        <p:spPr>
          <a:xfrm>
            <a:off x="6017136" y="2852936"/>
            <a:ext cx="2765501" cy="307777"/>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zh-CN" altLang="en-US" sz="1400" dirty="0"/>
              <a:t>大家别忘了</a:t>
            </a:r>
            <a:r>
              <a:rPr lang="en-US" altLang="zh-CN" sz="1400" dirty="0"/>
              <a:t>zip</a:t>
            </a:r>
            <a:r>
              <a:rPr lang="zh-CN" altLang="en-US" sz="1400" dirty="0"/>
              <a:t>（）</a:t>
            </a:r>
            <a:r>
              <a:rPr lang="en-US" altLang="zh-CN" sz="1400" dirty="0"/>
              <a:t> </a:t>
            </a:r>
            <a:r>
              <a:rPr lang="zh-CN" altLang="en-US" sz="1400" dirty="0"/>
              <a:t>建立对应关系</a:t>
            </a:r>
          </a:p>
        </p:txBody>
      </p:sp>
    </p:spTree>
    <p:extLst>
      <p:ext uri="{BB962C8B-B14F-4D97-AF65-F5344CB8AC3E}">
        <p14:creationId xmlns:p14="http://schemas.microsoft.com/office/powerpoint/2010/main" val="384712650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arn(inVertical)">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3"/>
                                        </p:tgtEl>
                                        <p:attrNameLst>
                                          <p:attrName>style.visibility</p:attrName>
                                        </p:attrNameLst>
                                      </p:cBhvr>
                                      <p:to>
                                        <p:strVal val="visible"/>
                                      </p:to>
                                    </p:set>
                                    <p:anim calcmode="lin" valueType="num">
                                      <p:cBhvr additive="base">
                                        <p:cTn id="58" dur="500" fill="hold"/>
                                        <p:tgtEl>
                                          <p:spTgt spid="3"/>
                                        </p:tgtEl>
                                        <p:attrNameLst>
                                          <p:attrName>ppt_x</p:attrName>
                                        </p:attrNameLst>
                                      </p:cBhvr>
                                      <p:tavLst>
                                        <p:tav tm="0">
                                          <p:val>
                                            <p:strVal val="#ppt_x"/>
                                          </p:val>
                                        </p:tav>
                                        <p:tav tm="100000">
                                          <p:val>
                                            <p:strVal val="#ppt_x"/>
                                          </p:val>
                                        </p:tav>
                                      </p:tavLst>
                                    </p:anim>
                                    <p:anim calcmode="lin" valueType="num">
                                      <p:cBhvr additive="base">
                                        <p:cTn id="5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animBg="1"/>
      <p:bldP spid="3" grpId="0" animBg="1"/>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33</a:t>
            </a:fld>
            <a:endParaRPr lang="zh-CN" altLang="en-US" dirty="0"/>
          </a:p>
        </p:txBody>
      </p:sp>
      <p:sp>
        <p:nvSpPr>
          <p:cNvPr id="5" name="文本占位符 39938"/>
          <p:cNvSpPr>
            <a:spLocks noGrp="1"/>
          </p:cNvSpPr>
          <p:nvPr>
            <p:ph idx="1"/>
          </p:nvPr>
        </p:nvSpPr>
        <p:spPr>
          <a:xfrm>
            <a:off x="773636" y="1700808"/>
            <a:ext cx="8208645" cy="3395345"/>
          </a:xfrm>
        </p:spPr>
        <p:txBody>
          <a:bodyPr anchor="t"/>
          <a:lstStyle/>
          <a:p>
            <a:r>
              <a:rPr lang="zh-CN" altLang="en-US" sz="2400" dirty="0"/>
              <a:t>尼古拉斯 凯奇</a:t>
            </a:r>
            <a:endParaRPr lang="en-US" altLang="zh-CN" sz="2400" dirty="0"/>
          </a:p>
          <a:p>
            <a:endParaRPr lang="en-US" altLang="zh-CN" sz="1600" dirty="0"/>
          </a:p>
          <a:p>
            <a:endParaRPr lang="en-US" altLang="zh-CN" sz="1600" dirty="0" smtClean="0"/>
          </a:p>
          <a:p>
            <a:endParaRPr lang="en-US" altLang="zh-CN" sz="1600" dirty="0"/>
          </a:p>
          <a:p>
            <a:endParaRPr lang="en-US" altLang="zh-CN" sz="1600" dirty="0"/>
          </a:p>
          <a:p>
            <a:r>
              <a:rPr lang="zh-CN" altLang="en-US" sz="2000" dirty="0">
                <a:latin typeface="hiragino sans gb"/>
              </a:rPr>
              <a:t>在第二次世界大战期间的太平洋战场上，日军总能用各种方法破译美军的密电码，这令美军在战场上吃尽了苦头。为了改变这种局面，</a:t>
            </a:r>
            <a:r>
              <a:rPr lang="en-US" altLang="zh-CN" sz="2000" dirty="0">
                <a:latin typeface="hiragino sans gb"/>
              </a:rPr>
              <a:t>1942</a:t>
            </a:r>
            <a:r>
              <a:rPr lang="zh-CN" altLang="en-US" sz="2000" dirty="0">
                <a:latin typeface="hiragino sans gb"/>
              </a:rPr>
              <a:t>年，几百名纳瓦霍族人被征召入伍，因为他们的语言没有外族人能够听懂，所以美军将他们训练成了专门的译电员，人称“风语者”。</a:t>
            </a:r>
            <a:endParaRPr lang="en-US" altLang="zh-CN" sz="2000" dirty="0">
              <a:latin typeface="hiragino sans gb"/>
            </a:endParaRPr>
          </a:p>
          <a:p>
            <a:r>
              <a:rPr lang="zh-CN" altLang="en-US" sz="2000" dirty="0">
                <a:latin typeface="hiragino sans gb"/>
              </a:rPr>
              <a:t>作为美国海军的秘密武器，每个“风语者”都肩负着美军的至高机密，因此，他们也受到了特别的“照顾”</a:t>
            </a:r>
            <a:r>
              <a:rPr lang="en-US" altLang="zh-CN" sz="2000" dirty="0">
                <a:latin typeface="hiragino sans gb"/>
              </a:rPr>
              <a:t>.</a:t>
            </a:r>
          </a:p>
          <a:p>
            <a:r>
              <a:rPr lang="zh-CN" altLang="en-US" sz="2000" dirty="0">
                <a:latin typeface="hiragino sans gb"/>
              </a:rPr>
              <a:t>每个纳瓦霍译电员都由一名海军士兵贴身保护，一方面确保其人身安全，另一方面，如果译电员即将被日军俘获，保护者必须杀死他以保证密码不外泄</a:t>
            </a:r>
            <a:r>
              <a:rPr lang="zh-CN" altLang="en-US" sz="2400" dirty="0">
                <a:latin typeface="hiragino sans gb"/>
              </a:rPr>
              <a:t>。</a:t>
            </a:r>
            <a:r>
              <a:rPr lang="zh-CN" altLang="en-US" sz="2400" dirty="0"/>
              <a:t/>
            </a:r>
            <a:br>
              <a:rPr lang="zh-CN" altLang="en-US" sz="2400" dirty="0"/>
            </a:br>
            <a:endParaRPr lang="zh-CN" altLang="en-US" sz="2400" dirty="0"/>
          </a:p>
          <a:p>
            <a:pPr>
              <a:spcBef>
                <a:spcPts val="600"/>
              </a:spcBef>
              <a:buClr>
                <a:srgbClr val="FF0000"/>
              </a:buClr>
              <a:buSzPct val="70000"/>
              <a:buFont typeface="Wingdings" panose="05000000000000000000" charset="0"/>
              <a:buChar char=""/>
            </a:pPr>
            <a:endParaRPr sz="1600" noProof="1">
              <a:solidFill>
                <a:srgbClr val="0000FF"/>
              </a:solidFill>
              <a:latin typeface="Consolas" panose="020B0609020204030204" charset="0"/>
              <a:ea typeface="+mn-ea"/>
            </a:endParaRPr>
          </a:p>
        </p:txBody>
      </p:sp>
      <p:grpSp>
        <p:nvGrpSpPr>
          <p:cNvPr id="9" name="组合 114"/>
          <p:cNvGrpSpPr/>
          <p:nvPr/>
        </p:nvGrpSpPr>
        <p:grpSpPr>
          <a:xfrm>
            <a:off x="-540568" y="116632"/>
            <a:ext cx="6225040" cy="662730"/>
            <a:chOff x="-198275" y="3380765"/>
            <a:chExt cx="6225040" cy="662730"/>
          </a:xfrm>
        </p:grpSpPr>
        <p:grpSp>
          <p:nvGrpSpPr>
            <p:cNvPr id="10" name="组合 105"/>
            <p:cNvGrpSpPr/>
            <p:nvPr/>
          </p:nvGrpSpPr>
          <p:grpSpPr>
            <a:xfrm>
              <a:off x="-198275" y="3380765"/>
              <a:ext cx="6225040" cy="662730"/>
              <a:chOff x="-198275" y="3380765"/>
              <a:chExt cx="6225040" cy="662730"/>
            </a:xfrm>
          </p:grpSpPr>
          <p:sp>
            <p:nvSpPr>
              <p:cNvPr id="12"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3"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11" name="图片 10"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5" name="文本框 14"/>
          <p:cNvSpPr txBox="1"/>
          <p:nvPr/>
        </p:nvSpPr>
        <p:spPr>
          <a:xfrm>
            <a:off x="271946" y="910534"/>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4.1.3 </a:t>
            </a:r>
            <a:r>
              <a:rPr lang="zh-CN" altLang="en-US" sz="2800" b="1" dirty="0">
                <a:latin typeface="Times New Roman" panose="02020603050405020304" pitchFamily="18" charset="0"/>
                <a:ea typeface="仿宋" panose="02010609060101010101" pitchFamily="49" charset="-122"/>
              </a:rPr>
              <a:t>字符串常用方法</a:t>
            </a:r>
            <a:endParaRPr lang="en-US" altLang="zh-CN" sz="2800" b="1" dirty="0">
              <a:ea typeface="仿宋" panose="02010609060101010101" pitchFamily="49" charset="-122"/>
            </a:endParaRPr>
          </a:p>
        </p:txBody>
      </p:sp>
      <p:pic>
        <p:nvPicPr>
          <p:cNvPr id="18" name="图片 17"/>
          <p:cNvPicPr>
            <a:picLocks noChangeAspect="1"/>
          </p:cNvPicPr>
          <p:nvPr/>
        </p:nvPicPr>
        <p:blipFill>
          <a:blip r:embed="rId4"/>
          <a:stretch>
            <a:fillRect/>
          </a:stretch>
        </p:blipFill>
        <p:spPr>
          <a:xfrm>
            <a:off x="6880967" y="880322"/>
            <a:ext cx="1622814" cy="2160240"/>
          </a:xfrm>
          <a:prstGeom prst="rect">
            <a:avLst/>
          </a:prstGeom>
        </p:spPr>
      </p:pic>
      <p:sp>
        <p:nvSpPr>
          <p:cNvPr id="8" name="文本框 7"/>
          <p:cNvSpPr txBox="1"/>
          <p:nvPr/>
        </p:nvSpPr>
        <p:spPr>
          <a:xfrm>
            <a:off x="6261307" y="2949871"/>
            <a:ext cx="2706757"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zh-CN" altLang="en-US" b="1" dirty="0"/>
              <a:t>风语者</a:t>
            </a:r>
            <a:r>
              <a:rPr lang="en-US" altLang="zh-CN" b="1" dirty="0"/>
              <a:t>/</a:t>
            </a:r>
            <a:r>
              <a:rPr lang="zh-CN" altLang="en-US" b="1" dirty="0"/>
              <a:t>风语战士</a:t>
            </a:r>
          </a:p>
        </p:txBody>
      </p:sp>
    </p:spTree>
    <p:extLst>
      <p:ext uri="{BB962C8B-B14F-4D97-AF65-F5344CB8AC3E}">
        <p14:creationId xmlns:p14="http://schemas.microsoft.com/office/powerpoint/2010/main" val="3914385289"/>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34</a:t>
            </a:fld>
            <a:endParaRPr lang="zh-CN" altLang="en-US" dirty="0"/>
          </a:p>
        </p:txBody>
      </p:sp>
      <p:sp>
        <p:nvSpPr>
          <p:cNvPr id="5" name="文本占位符 40962"/>
          <p:cNvSpPr>
            <a:spLocks noGrp="1"/>
          </p:cNvSpPr>
          <p:nvPr>
            <p:ph idx="1"/>
          </p:nvPr>
        </p:nvSpPr>
        <p:spPr>
          <a:xfrm>
            <a:off x="591594" y="1377980"/>
            <a:ext cx="8229600" cy="4678451"/>
          </a:xfrm>
        </p:spPr>
        <p:txBody>
          <a:bodyPr anchor="t"/>
          <a:lstStyle/>
          <a:p>
            <a:pPr>
              <a:lnSpc>
                <a:spcPct val="80000"/>
              </a:lnSpc>
              <a:buClr>
                <a:srgbClr val="FF0000"/>
              </a:buClr>
              <a:buSzPct val="70000"/>
              <a:buFont typeface="Wingdings" panose="05000000000000000000" charset="0"/>
              <a:buChar char=""/>
            </a:pPr>
            <a:r>
              <a:rPr lang="en-US" altLang="zh-CN" sz="2400" dirty="0"/>
              <a:t>strip()</a:t>
            </a:r>
            <a:r>
              <a:rPr lang="zh-CN" altLang="en-US" sz="2400" dirty="0"/>
              <a:t>、</a:t>
            </a:r>
            <a:r>
              <a:rPr lang="en-US" altLang="zh-CN" sz="2400" dirty="0" err="1"/>
              <a:t>rstrip</a:t>
            </a:r>
            <a:r>
              <a:rPr lang="en-US" altLang="zh-CN" sz="2400" dirty="0"/>
              <a:t>()</a:t>
            </a:r>
            <a:r>
              <a:rPr lang="zh-CN" altLang="en-US" sz="2400" dirty="0"/>
              <a:t>、</a:t>
            </a:r>
            <a:r>
              <a:rPr lang="en-US" altLang="zh-CN" sz="2400" dirty="0" err="1"/>
              <a:t>lstrip</a:t>
            </a:r>
            <a:r>
              <a:rPr lang="en-US" altLang="zh-CN" sz="2400" dirty="0"/>
              <a:t>()</a:t>
            </a:r>
          </a:p>
          <a:p>
            <a:pPr>
              <a:lnSpc>
                <a:spcPct val="80000"/>
              </a:lnSpc>
              <a:buSzPct val="70000"/>
              <a:buNone/>
            </a:pPr>
            <a:endParaRPr lang="en-US" altLang="zh-CN" sz="1350" dirty="0">
              <a:latin typeface="Consolas" panose="020B0609020204030204" charset="0"/>
            </a:endParaRPr>
          </a:p>
          <a:p>
            <a:pPr>
              <a:lnSpc>
                <a:spcPct val="80000"/>
              </a:lnSpc>
              <a:buSzPct val="70000"/>
              <a:buNone/>
            </a:pPr>
            <a:r>
              <a:rPr lang="en-US" altLang="zh-CN" sz="1350" dirty="0">
                <a:latin typeface="Consolas" panose="020B0609020204030204" charset="0"/>
              </a:rPr>
              <a:t>&gt;&gt;&gt; '\n\</a:t>
            </a:r>
            <a:r>
              <a:rPr lang="en-US" altLang="zh-CN" sz="1350" dirty="0" err="1">
                <a:latin typeface="Consolas" panose="020B0609020204030204" charset="0"/>
              </a:rPr>
              <a:t>nhello</a:t>
            </a:r>
            <a:r>
              <a:rPr lang="en-US" altLang="zh-CN" sz="1350" dirty="0">
                <a:latin typeface="Consolas" panose="020B0609020204030204" charset="0"/>
              </a:rPr>
              <a:t> world   \n\</a:t>
            </a:r>
            <a:r>
              <a:rPr lang="en-US" altLang="zh-CN" sz="1350" dirty="0" err="1">
                <a:latin typeface="Consolas" panose="020B0609020204030204" charset="0"/>
              </a:rPr>
              <a:t>n'.strip</a:t>
            </a:r>
            <a:r>
              <a:rPr lang="en-US" altLang="zh-CN" sz="1350" dirty="0">
                <a:latin typeface="Consolas" panose="020B0609020204030204" charset="0"/>
              </a:rPr>
              <a:t>()      #</a:t>
            </a:r>
            <a:r>
              <a:rPr lang="en-US" altLang="zh-CN" sz="1350" dirty="0" err="1">
                <a:latin typeface="Consolas" panose="020B0609020204030204" charset="0"/>
              </a:rPr>
              <a:t>删除空白字符</a:t>
            </a:r>
            <a:endParaRPr lang="en-US" altLang="zh-CN" sz="1350" dirty="0">
              <a:latin typeface="Consolas" panose="020B0609020204030204" charset="0"/>
            </a:endParaRPr>
          </a:p>
          <a:p>
            <a:pPr>
              <a:lnSpc>
                <a:spcPct val="80000"/>
              </a:lnSpc>
              <a:buSzPct val="70000"/>
              <a:buNone/>
            </a:pPr>
            <a:r>
              <a:rPr lang="en-US" altLang="zh-CN" sz="1350" dirty="0">
                <a:solidFill>
                  <a:srgbClr val="0000FF"/>
                </a:solidFill>
                <a:latin typeface="Consolas" panose="020B0609020204030204" charset="0"/>
              </a:rPr>
              <a:t>'hello world'</a:t>
            </a:r>
          </a:p>
          <a:p>
            <a:pPr>
              <a:lnSpc>
                <a:spcPct val="80000"/>
              </a:lnSpc>
              <a:buSzPct val="70000"/>
              <a:buNone/>
            </a:pPr>
            <a:r>
              <a:rPr lang="en-US" altLang="zh-CN" sz="1350" dirty="0">
                <a:latin typeface="Consolas" panose="020B0609020204030204" charset="0"/>
              </a:rPr>
              <a:t>&gt;&gt;&gt; "</a:t>
            </a:r>
            <a:r>
              <a:rPr lang="en-US" altLang="zh-CN" sz="1350" dirty="0" err="1">
                <a:latin typeface="Consolas" panose="020B0609020204030204" charset="0"/>
              </a:rPr>
              <a:t>aaaassddf</a:t>
            </a:r>
            <a:r>
              <a:rPr lang="en-US" altLang="zh-CN" sz="1350" dirty="0">
                <a:latin typeface="Consolas" panose="020B0609020204030204" charset="0"/>
              </a:rPr>
              <a:t>".strip("a")                #</a:t>
            </a:r>
            <a:r>
              <a:rPr lang="en-US" altLang="zh-CN" sz="1350" dirty="0" err="1">
                <a:latin typeface="Consolas" panose="020B0609020204030204" charset="0"/>
              </a:rPr>
              <a:t>删除指定字符</a:t>
            </a:r>
            <a:endParaRPr lang="en-US" altLang="zh-CN" sz="1350" dirty="0">
              <a:latin typeface="Consolas" panose="020B0609020204030204" charset="0"/>
            </a:endParaRPr>
          </a:p>
          <a:p>
            <a:pPr>
              <a:lnSpc>
                <a:spcPct val="80000"/>
              </a:lnSpc>
              <a:buSzPct val="70000"/>
              <a:buNone/>
            </a:pPr>
            <a:r>
              <a:rPr lang="en-US" altLang="zh-CN" sz="1350" dirty="0">
                <a:solidFill>
                  <a:srgbClr val="0000FF"/>
                </a:solidFill>
                <a:latin typeface="Consolas" panose="020B0609020204030204" charset="0"/>
                <a:sym typeface="宋体" panose="02010600030101010101" pitchFamily="2" charset="-122"/>
              </a:rPr>
              <a:t>'</a:t>
            </a:r>
            <a:r>
              <a:rPr lang="en-US" altLang="zh-CN" sz="1350" dirty="0" err="1">
                <a:solidFill>
                  <a:srgbClr val="0000FF"/>
                </a:solidFill>
                <a:latin typeface="Consolas" panose="020B0609020204030204" charset="0"/>
              </a:rPr>
              <a:t>ssddf</a:t>
            </a:r>
            <a:r>
              <a:rPr lang="en-US" altLang="zh-CN" sz="1350" dirty="0">
                <a:solidFill>
                  <a:srgbClr val="0000FF"/>
                </a:solidFill>
                <a:latin typeface="Consolas" panose="020B0609020204030204" charset="0"/>
                <a:sym typeface="宋体" panose="02010600030101010101" pitchFamily="2" charset="-122"/>
              </a:rPr>
              <a:t>'</a:t>
            </a:r>
            <a:endParaRPr lang="en-US" altLang="zh-CN" sz="1350" dirty="0">
              <a:solidFill>
                <a:srgbClr val="0000FF"/>
              </a:solidFill>
              <a:latin typeface="Consolas" panose="020B0609020204030204" charset="0"/>
            </a:endParaRPr>
          </a:p>
          <a:p>
            <a:pPr>
              <a:lnSpc>
                <a:spcPct val="80000"/>
              </a:lnSpc>
              <a:buSzPct val="70000"/>
              <a:buNone/>
            </a:pPr>
            <a:r>
              <a:rPr lang="en-US" altLang="zh-CN" sz="1350" dirty="0">
                <a:latin typeface="Consolas" panose="020B0609020204030204" charset="0"/>
              </a:rPr>
              <a:t>&gt;&gt;&gt; "</a:t>
            </a:r>
            <a:r>
              <a:rPr lang="en-US" altLang="zh-CN" sz="1350" dirty="0" err="1">
                <a:latin typeface="Consolas" panose="020B0609020204030204" charset="0"/>
              </a:rPr>
              <a:t>aaaassddfaaa</a:t>
            </a:r>
            <a:r>
              <a:rPr lang="en-US" altLang="zh-CN" sz="1350" dirty="0">
                <a:latin typeface="Consolas" panose="020B0609020204030204" charset="0"/>
              </a:rPr>
              <a:t>".</a:t>
            </a:r>
            <a:r>
              <a:rPr lang="en-US" altLang="zh-CN" sz="1350" dirty="0" err="1">
                <a:latin typeface="Consolas" panose="020B0609020204030204" charset="0"/>
              </a:rPr>
              <a:t>rstrip</a:t>
            </a:r>
            <a:r>
              <a:rPr lang="en-US" altLang="zh-CN" sz="1350" dirty="0">
                <a:latin typeface="Consolas" panose="020B0609020204030204" charset="0"/>
              </a:rPr>
              <a:t>("a")            #</a:t>
            </a:r>
            <a:r>
              <a:rPr lang="en-US" altLang="zh-CN" sz="1350" dirty="0" err="1">
                <a:latin typeface="Consolas" panose="020B0609020204030204" charset="0"/>
              </a:rPr>
              <a:t>删除字符串右端指定字符</a:t>
            </a:r>
            <a:endParaRPr lang="en-US" altLang="zh-CN" sz="1350" dirty="0">
              <a:latin typeface="Consolas" panose="020B0609020204030204" charset="0"/>
            </a:endParaRPr>
          </a:p>
          <a:p>
            <a:pPr>
              <a:lnSpc>
                <a:spcPct val="80000"/>
              </a:lnSpc>
              <a:buSzPct val="70000"/>
              <a:buNone/>
            </a:pPr>
            <a:r>
              <a:rPr lang="en-US" altLang="zh-CN" sz="1350" dirty="0">
                <a:solidFill>
                  <a:srgbClr val="0000FF"/>
                </a:solidFill>
                <a:latin typeface="Consolas" panose="020B0609020204030204" charset="0"/>
              </a:rPr>
              <a:t>'</a:t>
            </a:r>
            <a:r>
              <a:rPr lang="en-US" altLang="zh-CN" sz="1350" dirty="0" err="1">
                <a:solidFill>
                  <a:srgbClr val="0000FF"/>
                </a:solidFill>
                <a:latin typeface="Consolas" panose="020B0609020204030204" charset="0"/>
              </a:rPr>
              <a:t>aaaassddf</a:t>
            </a:r>
            <a:r>
              <a:rPr lang="en-US" altLang="zh-CN" sz="1350" dirty="0">
                <a:solidFill>
                  <a:srgbClr val="0000FF"/>
                </a:solidFill>
                <a:latin typeface="Consolas" panose="020B0609020204030204" charset="0"/>
              </a:rPr>
              <a:t>'</a:t>
            </a:r>
          </a:p>
          <a:p>
            <a:pPr>
              <a:lnSpc>
                <a:spcPct val="80000"/>
              </a:lnSpc>
              <a:buSzPct val="70000"/>
              <a:buNone/>
            </a:pPr>
            <a:r>
              <a:rPr lang="en-US" altLang="zh-CN" sz="1350" dirty="0">
                <a:latin typeface="Consolas" panose="020B0609020204030204" charset="0"/>
              </a:rPr>
              <a:t>&gt;&gt;&gt; "</a:t>
            </a:r>
            <a:r>
              <a:rPr lang="en-US" altLang="zh-CN" sz="1350" dirty="0" err="1">
                <a:latin typeface="Consolas" panose="020B0609020204030204" charset="0"/>
              </a:rPr>
              <a:t>aaaassddfaaa</a:t>
            </a:r>
            <a:r>
              <a:rPr lang="en-US" altLang="zh-CN" sz="1350" dirty="0">
                <a:latin typeface="Consolas" panose="020B0609020204030204" charset="0"/>
              </a:rPr>
              <a:t>".</a:t>
            </a:r>
            <a:r>
              <a:rPr lang="en-US" altLang="zh-CN" sz="1350" dirty="0" err="1">
                <a:latin typeface="Consolas" panose="020B0609020204030204" charset="0"/>
              </a:rPr>
              <a:t>lstrip</a:t>
            </a:r>
            <a:r>
              <a:rPr lang="en-US" altLang="zh-CN" sz="1350" dirty="0">
                <a:latin typeface="Consolas" panose="020B0609020204030204" charset="0"/>
              </a:rPr>
              <a:t>("a")            #</a:t>
            </a:r>
            <a:r>
              <a:rPr lang="en-US" altLang="zh-CN" sz="1350" dirty="0" err="1">
                <a:latin typeface="Consolas" panose="020B0609020204030204" charset="0"/>
              </a:rPr>
              <a:t>删除字符串左端指定字符</a:t>
            </a:r>
            <a:endParaRPr lang="en-US" altLang="zh-CN" sz="1350" dirty="0">
              <a:latin typeface="Consolas" panose="020B0609020204030204" charset="0"/>
            </a:endParaRPr>
          </a:p>
          <a:p>
            <a:pPr>
              <a:lnSpc>
                <a:spcPct val="80000"/>
              </a:lnSpc>
              <a:buSzPct val="70000"/>
              <a:buNone/>
            </a:pPr>
            <a:r>
              <a:rPr lang="en-US" altLang="zh-CN" sz="1350" dirty="0">
                <a:solidFill>
                  <a:srgbClr val="0000FF"/>
                </a:solidFill>
                <a:latin typeface="Consolas" panose="020B0609020204030204" charset="0"/>
              </a:rPr>
              <a:t>'</a:t>
            </a:r>
            <a:r>
              <a:rPr lang="en-US" altLang="zh-CN" sz="1350" dirty="0" err="1">
                <a:solidFill>
                  <a:srgbClr val="0000FF"/>
                </a:solidFill>
                <a:latin typeface="Consolas" panose="020B0609020204030204" charset="0"/>
              </a:rPr>
              <a:t>ssddfaaa</a:t>
            </a:r>
            <a:r>
              <a:rPr lang="en-US" altLang="zh-CN" sz="1350" dirty="0">
                <a:solidFill>
                  <a:srgbClr val="0000FF"/>
                </a:solidFill>
                <a:latin typeface="Consolas" panose="020B0609020204030204" charset="0"/>
              </a:rPr>
              <a:t>'</a:t>
            </a:r>
          </a:p>
        </p:txBody>
      </p:sp>
      <p:sp>
        <p:nvSpPr>
          <p:cNvPr id="6" name="内容占位符 2"/>
          <p:cNvSpPr txBox="1"/>
          <p:nvPr/>
        </p:nvSpPr>
        <p:spPr bwMode="auto">
          <a:xfrm>
            <a:off x="585914" y="3573016"/>
            <a:ext cx="8521238" cy="339534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0"/>
              </a:spcBef>
              <a:buClr>
                <a:srgbClr val="FF0000"/>
              </a:buClr>
              <a:buFont typeface="Wingdings" panose="05000000000000000000" charset="0"/>
              <a:buChar char=""/>
            </a:pPr>
            <a:r>
              <a:rPr lang="zh-CN" altLang="en-US" sz="1800" noProof="1"/>
              <a:t>这三个函数的</a:t>
            </a:r>
            <a:r>
              <a:rPr lang="zh-CN" altLang="en-US" sz="1800" noProof="1">
                <a:solidFill>
                  <a:srgbClr val="FF0000"/>
                </a:solidFill>
              </a:rPr>
              <a:t>参数指定的字符串并不作为一个整体对待</a:t>
            </a:r>
            <a:r>
              <a:rPr lang="zh-CN" altLang="en-US" sz="1800" noProof="1"/>
              <a:t>，而是</a:t>
            </a:r>
            <a:r>
              <a:rPr lang="zh-CN" altLang="en-US" sz="1800" noProof="1">
                <a:solidFill>
                  <a:schemeClr val="accent5">
                    <a:lumMod val="75000"/>
                  </a:schemeClr>
                </a:solidFill>
              </a:rPr>
              <a:t>在原字符串的两侧、右侧、左侧删除参数字符串中包含的所有字符</a:t>
            </a:r>
            <a:r>
              <a:rPr lang="zh-CN" altLang="en-US" sz="1800" noProof="1"/>
              <a:t>，</a:t>
            </a:r>
            <a:r>
              <a:rPr lang="zh-CN" altLang="en-US" sz="1800" noProof="1">
                <a:solidFill>
                  <a:srgbClr val="FF0000"/>
                </a:solidFill>
              </a:rPr>
              <a:t>一层一层地从外往里扒</a:t>
            </a:r>
            <a:r>
              <a:rPr lang="zh-CN" altLang="en-US" sz="1800" noProof="1"/>
              <a:t>。</a:t>
            </a:r>
          </a:p>
          <a:p>
            <a:pPr marL="0" indent="0">
              <a:buFont typeface="Arial" panose="020B0604020202020204" pitchFamily="34" charset="0"/>
              <a:buNone/>
            </a:pPr>
            <a:r>
              <a:rPr lang="zh-CN" altLang="en-US" sz="1350" noProof="1">
                <a:latin typeface="Consolas" panose="020B0609020204030204" charset="0"/>
              </a:rPr>
              <a:t>&gt;&gt;&gt; 'aabbccddeeeffg'.strip('af')  #字母f不在字符串两侧，所以不删除</a:t>
            </a:r>
          </a:p>
          <a:p>
            <a:pPr marL="0" indent="0">
              <a:buFont typeface="Arial" panose="020B0604020202020204" pitchFamily="34" charset="0"/>
              <a:buNone/>
            </a:pPr>
            <a:r>
              <a:rPr lang="zh-CN" altLang="en-US" sz="1350" noProof="1">
                <a:solidFill>
                  <a:srgbClr val="0000FF"/>
                </a:solidFill>
                <a:latin typeface="Consolas" panose="020B0609020204030204" charset="0"/>
              </a:rPr>
              <a:t>'bbccddeeeffg'</a:t>
            </a:r>
          </a:p>
          <a:p>
            <a:pPr marL="0" indent="0">
              <a:buFont typeface="Arial" panose="020B0604020202020204" pitchFamily="34" charset="0"/>
              <a:buNone/>
            </a:pPr>
            <a:r>
              <a:rPr lang="zh-CN" altLang="en-US" sz="1350" noProof="1">
                <a:latin typeface="Consolas" panose="020B0609020204030204" charset="0"/>
              </a:rPr>
              <a:t>&gt;&gt;&gt; 'aabbccddeeeffg'.strip('gaf')</a:t>
            </a:r>
          </a:p>
          <a:p>
            <a:pPr marL="0" indent="0">
              <a:buFont typeface="Arial" panose="020B0604020202020204" pitchFamily="34" charset="0"/>
              <a:buNone/>
            </a:pPr>
            <a:r>
              <a:rPr lang="zh-CN" altLang="en-US" sz="1350" noProof="1">
                <a:solidFill>
                  <a:srgbClr val="0000FF"/>
                </a:solidFill>
                <a:latin typeface="Consolas" panose="020B0609020204030204" charset="0"/>
              </a:rPr>
              <a:t>'bbccddeee'</a:t>
            </a:r>
          </a:p>
          <a:p>
            <a:pPr marL="0" indent="0">
              <a:buFont typeface="Arial" panose="020B0604020202020204" pitchFamily="34" charset="0"/>
              <a:buNone/>
            </a:pPr>
            <a:r>
              <a:rPr lang="zh-CN" altLang="en-US" sz="1350" noProof="1">
                <a:latin typeface="Consolas" panose="020B0609020204030204" charset="0"/>
              </a:rPr>
              <a:t>&gt;&gt;&gt; 'aabbccddeeeffg'.strip('gaef')</a:t>
            </a:r>
          </a:p>
          <a:p>
            <a:pPr marL="0" indent="0">
              <a:buFont typeface="Arial" panose="020B0604020202020204" pitchFamily="34" charset="0"/>
              <a:buNone/>
            </a:pPr>
            <a:r>
              <a:rPr lang="zh-CN" altLang="en-US" sz="1350" noProof="1">
                <a:solidFill>
                  <a:srgbClr val="0000FF"/>
                </a:solidFill>
                <a:latin typeface="Consolas" panose="020B0609020204030204" charset="0"/>
              </a:rPr>
              <a:t>'bbccdd'</a:t>
            </a:r>
          </a:p>
          <a:p>
            <a:pPr marL="0" indent="0">
              <a:buFont typeface="Arial" panose="020B0604020202020204" pitchFamily="34" charset="0"/>
              <a:buNone/>
            </a:pPr>
            <a:r>
              <a:rPr lang="zh-CN" altLang="en-US" sz="1350" noProof="1">
                <a:latin typeface="Consolas" panose="020B0609020204030204" charset="0"/>
              </a:rPr>
              <a:t>&gt;&gt;&gt; 'aabbccddeeeffg'.strip('gbaef')</a:t>
            </a:r>
          </a:p>
          <a:p>
            <a:pPr marL="0" indent="0">
              <a:buFont typeface="Arial" panose="020B0604020202020204" pitchFamily="34" charset="0"/>
              <a:buNone/>
            </a:pPr>
            <a:r>
              <a:rPr lang="zh-CN" altLang="en-US" sz="1350" noProof="1">
                <a:solidFill>
                  <a:srgbClr val="0000FF"/>
                </a:solidFill>
                <a:latin typeface="Consolas" panose="020B0609020204030204" charset="0"/>
              </a:rPr>
              <a:t>'ccdd'</a:t>
            </a:r>
          </a:p>
          <a:p>
            <a:pPr marL="0" indent="0">
              <a:buFont typeface="Arial" panose="020B0604020202020204" pitchFamily="34" charset="0"/>
              <a:buNone/>
            </a:pPr>
            <a:r>
              <a:rPr lang="zh-CN" altLang="en-US" sz="1350" noProof="1">
                <a:latin typeface="Consolas" panose="020B0609020204030204" charset="0"/>
              </a:rPr>
              <a:t>&gt;&gt;&gt; 'aabbccddeeeffg'.strip('gbaefcd')</a:t>
            </a:r>
          </a:p>
          <a:p>
            <a:pPr marL="0" indent="0">
              <a:buFont typeface="Arial" panose="020B0604020202020204" pitchFamily="34" charset="0"/>
              <a:buNone/>
            </a:pPr>
            <a:r>
              <a:rPr lang="zh-CN" altLang="en-US" sz="1350" noProof="1">
                <a:solidFill>
                  <a:srgbClr val="0000FF"/>
                </a:solidFill>
                <a:latin typeface="Consolas" panose="020B0609020204030204" charset="0"/>
              </a:rPr>
              <a:t>''</a:t>
            </a:r>
          </a:p>
        </p:txBody>
      </p:sp>
      <p:grpSp>
        <p:nvGrpSpPr>
          <p:cNvPr id="7" name="组合 114"/>
          <p:cNvGrpSpPr/>
          <p:nvPr/>
        </p:nvGrpSpPr>
        <p:grpSpPr>
          <a:xfrm>
            <a:off x="-540568" y="116632"/>
            <a:ext cx="6225040" cy="662730"/>
            <a:chOff x="-198275" y="3380765"/>
            <a:chExt cx="6225040" cy="662730"/>
          </a:xfrm>
        </p:grpSpPr>
        <p:grpSp>
          <p:nvGrpSpPr>
            <p:cNvPr id="8" name="组合 105"/>
            <p:cNvGrpSpPr/>
            <p:nvPr/>
          </p:nvGrpSpPr>
          <p:grpSpPr>
            <a:xfrm>
              <a:off x="-198275" y="3380765"/>
              <a:ext cx="6225040" cy="662730"/>
              <a:chOff x="-198275" y="3380765"/>
              <a:chExt cx="6225040" cy="662730"/>
            </a:xfrm>
          </p:grpSpPr>
          <p:sp>
            <p:nvSpPr>
              <p:cNvPr id="1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9" name="图片 8"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3" name="文本框 12"/>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4.1.3 </a:t>
            </a:r>
            <a:r>
              <a:rPr lang="zh-CN" altLang="en-US" sz="2800" b="1" dirty="0">
                <a:latin typeface="Times New Roman" panose="02020603050405020304" pitchFamily="18" charset="0"/>
                <a:ea typeface="仿宋" panose="02010609060101010101" pitchFamily="49" charset="-122"/>
              </a:rPr>
              <a:t>字符串常用方法</a:t>
            </a:r>
            <a:endParaRPr lang="en-US" altLang="zh-CN" sz="2800" b="1" dirty="0">
              <a:ea typeface="仿宋" panose="02010609060101010101" pitchFamily="49" charset="-122"/>
            </a:endParaRPr>
          </a:p>
        </p:txBody>
      </p:sp>
      <p:pic>
        <p:nvPicPr>
          <p:cNvPr id="3" name="图片 2"/>
          <p:cNvPicPr>
            <a:picLocks noChangeAspect="1"/>
          </p:cNvPicPr>
          <p:nvPr/>
        </p:nvPicPr>
        <p:blipFill>
          <a:blip r:embed="rId4"/>
          <a:stretch>
            <a:fillRect/>
          </a:stretch>
        </p:blipFill>
        <p:spPr>
          <a:xfrm>
            <a:off x="4842489" y="4509120"/>
            <a:ext cx="3578070" cy="720080"/>
          </a:xfrm>
          <a:prstGeom prst="rect">
            <a:avLst/>
          </a:prstGeom>
        </p:spPr>
      </p:pic>
      <p:sp>
        <p:nvSpPr>
          <p:cNvPr id="16" name="文本框 15"/>
          <p:cNvSpPr txBox="1"/>
          <p:nvPr/>
        </p:nvSpPr>
        <p:spPr>
          <a:xfrm>
            <a:off x="4510311" y="5668483"/>
            <a:ext cx="4176464"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zh-CN" altLang="en-US" sz="1400" noProof="1">
                <a:solidFill>
                  <a:srgbClr val="FF0000"/>
                </a:solidFill>
              </a:rPr>
              <a:t>从原字符串从外往里，一个一个字符，看是否包含在 </a:t>
            </a:r>
            <a:r>
              <a:rPr lang="en-US" altLang="zh-CN" sz="1400" noProof="1">
                <a:solidFill>
                  <a:srgbClr val="FF0000"/>
                </a:solidFill>
              </a:rPr>
              <a:t>strip(‘XXX’)</a:t>
            </a:r>
            <a:r>
              <a:rPr lang="zh-CN" altLang="en-US" sz="1400" noProof="1">
                <a:solidFill>
                  <a:srgbClr val="FF0000"/>
                </a:solidFill>
              </a:rPr>
              <a:t>的 </a:t>
            </a:r>
            <a:r>
              <a:rPr lang="en-US" altLang="zh-CN" sz="1400" noProof="1">
                <a:solidFill>
                  <a:srgbClr val="FF0000"/>
                </a:solidFill>
              </a:rPr>
              <a:t>‘XXX’</a:t>
            </a:r>
            <a:r>
              <a:rPr lang="zh-CN" altLang="en-US" sz="1400" noProof="1">
                <a:solidFill>
                  <a:srgbClr val="FF0000"/>
                </a:solidFill>
              </a:rPr>
              <a:t>中，如果包含，则剥掉！</a:t>
            </a:r>
            <a:endParaRPr lang="zh-CN" altLang="en-US" sz="1400" dirty="0"/>
          </a:p>
        </p:txBody>
      </p:sp>
      <p:pic>
        <p:nvPicPr>
          <p:cNvPr id="17" name="图片 16"/>
          <p:cNvPicPr>
            <a:picLocks noChangeAspect="1"/>
          </p:cNvPicPr>
          <p:nvPr/>
        </p:nvPicPr>
        <p:blipFill>
          <a:blip r:embed="rId5"/>
          <a:stretch>
            <a:fillRect/>
          </a:stretch>
        </p:blipFill>
        <p:spPr>
          <a:xfrm>
            <a:off x="6821425" y="1037270"/>
            <a:ext cx="2142748" cy="2115316"/>
          </a:xfrm>
          <a:prstGeom prst="rect">
            <a:avLst/>
          </a:prstGeom>
        </p:spPr>
      </p:pic>
      <p:sp>
        <p:nvSpPr>
          <p:cNvPr id="18" name="文本框 17"/>
          <p:cNvSpPr txBox="1"/>
          <p:nvPr/>
        </p:nvSpPr>
        <p:spPr>
          <a:xfrm>
            <a:off x="7454217" y="3239219"/>
            <a:ext cx="877163" cy="369332"/>
          </a:xfrm>
          <a:prstGeom prst="rect">
            <a:avLst/>
          </a:prstGeom>
        </p:spPr>
        <p:style>
          <a:lnRef idx="0">
            <a:schemeClr val="accent2"/>
          </a:lnRef>
          <a:fillRef idx="3">
            <a:schemeClr val="accent2"/>
          </a:fillRef>
          <a:effectRef idx="3">
            <a:schemeClr val="accent2"/>
          </a:effectRef>
          <a:fontRef idx="minor">
            <a:schemeClr val="lt1"/>
          </a:fontRef>
        </p:style>
        <p:txBody>
          <a:bodyPr wrap="none" rtlCol="0">
            <a:spAutoFit/>
          </a:bodyPr>
          <a:lstStyle/>
          <a:p>
            <a:r>
              <a:rPr lang="zh-CN" altLang="en-US" dirty="0"/>
              <a:t>剥玉米</a:t>
            </a:r>
          </a:p>
        </p:txBody>
      </p:sp>
    </p:spTree>
    <p:extLst>
      <p:ext uri="{BB962C8B-B14F-4D97-AF65-F5344CB8AC3E}">
        <p14:creationId xmlns:p14="http://schemas.microsoft.com/office/powerpoint/2010/main" val="260525992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ppt_x"/>
                                          </p:val>
                                        </p:tav>
                                        <p:tav tm="100000">
                                          <p:val>
                                            <p:strVal val="#ppt_x"/>
                                          </p:val>
                                        </p:tav>
                                      </p:tavLst>
                                    </p:anim>
                                    <p:anim calcmode="lin" valueType="num">
                                      <p:cBhvr additive="base">
                                        <p:cTn id="5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nodeType="clickEffect">
                                  <p:stCondLst>
                                    <p:cond delay="0"/>
                                  </p:stCondLst>
                                  <p:childTnLst>
                                    <p:set>
                                      <p:cBhvr>
                                        <p:cTn id="100" dur="1" fill="hold">
                                          <p:stCondLst>
                                            <p:cond delay="0"/>
                                          </p:stCondLst>
                                        </p:cTn>
                                        <p:tgtEl>
                                          <p:spTgt spid="3"/>
                                        </p:tgtEl>
                                        <p:attrNameLst>
                                          <p:attrName>style.visibility</p:attrName>
                                        </p:attrNameLst>
                                      </p:cBhvr>
                                      <p:to>
                                        <p:strVal val="visible"/>
                                      </p:to>
                                    </p:set>
                                    <p:anim calcmode="lin" valueType="num">
                                      <p:cBhvr additive="base">
                                        <p:cTn id="101" dur="500" fill="hold"/>
                                        <p:tgtEl>
                                          <p:spTgt spid="3"/>
                                        </p:tgtEl>
                                        <p:attrNameLst>
                                          <p:attrName>ppt_x</p:attrName>
                                        </p:attrNameLst>
                                      </p:cBhvr>
                                      <p:tavLst>
                                        <p:tav tm="0">
                                          <p:val>
                                            <p:strVal val="#ppt_x"/>
                                          </p:val>
                                        </p:tav>
                                        <p:tav tm="100000">
                                          <p:val>
                                            <p:strVal val="#ppt_x"/>
                                          </p:val>
                                        </p:tav>
                                      </p:tavLst>
                                    </p:anim>
                                    <p:anim calcmode="lin" valueType="num">
                                      <p:cBhvr additive="base">
                                        <p:cTn id="10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16" presetClass="entr" presetSubtype="21" fill="hold" grpId="0" nodeType="clickEffect">
                                  <p:stCondLst>
                                    <p:cond delay="0"/>
                                  </p:stCondLst>
                                  <p:childTnLst>
                                    <p:set>
                                      <p:cBhvr>
                                        <p:cTn id="106" dur="1" fill="hold">
                                          <p:stCondLst>
                                            <p:cond delay="0"/>
                                          </p:stCondLst>
                                        </p:cTn>
                                        <p:tgtEl>
                                          <p:spTgt spid="16"/>
                                        </p:tgtEl>
                                        <p:attrNameLst>
                                          <p:attrName>style.visibility</p:attrName>
                                        </p:attrNameLst>
                                      </p:cBhvr>
                                      <p:to>
                                        <p:strVal val="visible"/>
                                      </p:to>
                                    </p:set>
                                    <p:animEffect transition="in" filter="barn(inVertical)">
                                      <p:cBhvr>
                                        <p:cTn id="10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P spid="16" grpId="0" animBg="1"/>
      <p:bldP spid="1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35</a:t>
            </a:fld>
            <a:endParaRPr lang="zh-CN" altLang="en-US" dirty="0"/>
          </a:p>
        </p:txBody>
      </p:sp>
      <p:sp>
        <p:nvSpPr>
          <p:cNvPr id="5" name="Content Placeholder 2"/>
          <p:cNvSpPr>
            <a:spLocks noGrp="1"/>
          </p:cNvSpPr>
          <p:nvPr>
            <p:ph idx="1"/>
          </p:nvPr>
        </p:nvSpPr>
        <p:spPr>
          <a:xfrm>
            <a:off x="597299" y="1431940"/>
            <a:ext cx="8229600" cy="4678451"/>
          </a:xfrm>
        </p:spPr>
        <p:txBody>
          <a:bodyPr/>
          <a:lstStyle/>
          <a:p>
            <a:pPr>
              <a:spcBef>
                <a:spcPts val="0"/>
              </a:spcBef>
              <a:buClr>
                <a:srgbClr val="FF0000"/>
              </a:buClr>
              <a:buFont typeface="Wingdings" panose="05000000000000000000" pitchFamily="2" charset="2"/>
              <a:buChar char="ü"/>
            </a:pPr>
            <a:r>
              <a:rPr lang="zh-CN" altLang="en-US" sz="2400" b="1" noProof="1"/>
              <a:t>文本规范化</a:t>
            </a:r>
          </a:p>
          <a:p>
            <a:pPr marL="0" indent="0">
              <a:spcBef>
                <a:spcPts val="0"/>
              </a:spcBef>
              <a:buNone/>
            </a:pPr>
            <a:endParaRPr lang="en-US" altLang="zh-CN" sz="1350" noProof="1">
              <a:latin typeface="Consolas" panose="020B0609020204030204" charset="0"/>
            </a:endParaRPr>
          </a:p>
          <a:p>
            <a:pPr marL="0" indent="0">
              <a:spcBef>
                <a:spcPts val="0"/>
              </a:spcBef>
              <a:buNone/>
            </a:pPr>
            <a:r>
              <a:rPr lang="zh-CN" altLang="en-US" sz="1350" noProof="1">
                <a:latin typeface="Consolas" panose="020B0609020204030204" charset="0"/>
              </a:rPr>
              <a:t>&gt;&gt;&gt; text = '''</a:t>
            </a:r>
            <a:r>
              <a:rPr lang="zh-CN" altLang="en-US" sz="1350" noProof="1">
                <a:solidFill>
                  <a:srgbClr val="00B050"/>
                </a:solidFill>
                <a:latin typeface="Consolas" panose="020B0609020204030204" charset="0"/>
              </a:rPr>
              <a:t>姓名：张三</a:t>
            </a:r>
          </a:p>
          <a:p>
            <a:pPr marL="0" indent="0">
              <a:spcBef>
                <a:spcPts val="0"/>
              </a:spcBef>
              <a:buNone/>
            </a:pPr>
            <a:r>
              <a:rPr lang="zh-CN" altLang="en-US" sz="1350" noProof="1">
                <a:solidFill>
                  <a:srgbClr val="00B050"/>
                </a:solidFill>
                <a:latin typeface="Consolas" panose="020B0609020204030204" charset="0"/>
              </a:rPr>
              <a:t>年龄：39</a:t>
            </a:r>
          </a:p>
          <a:p>
            <a:pPr marL="0" indent="0">
              <a:spcBef>
                <a:spcPts val="0"/>
              </a:spcBef>
              <a:buNone/>
            </a:pPr>
            <a:r>
              <a:rPr lang="zh-CN" altLang="en-US" sz="1350" noProof="1">
                <a:solidFill>
                  <a:srgbClr val="00B050"/>
                </a:solidFill>
                <a:latin typeface="Consolas" panose="020B0609020204030204" charset="0"/>
              </a:rPr>
              <a:t>性别男</a:t>
            </a:r>
          </a:p>
          <a:p>
            <a:pPr marL="0" indent="0">
              <a:spcBef>
                <a:spcPts val="0"/>
              </a:spcBef>
              <a:buNone/>
            </a:pPr>
            <a:r>
              <a:rPr lang="zh-CN" altLang="en-US" sz="1350" noProof="1">
                <a:solidFill>
                  <a:srgbClr val="00B050"/>
                </a:solidFill>
                <a:latin typeface="Consolas" panose="020B0609020204030204" charset="0"/>
              </a:rPr>
              <a:t>职业  学生</a:t>
            </a:r>
          </a:p>
          <a:p>
            <a:pPr marL="0" indent="0">
              <a:spcBef>
                <a:spcPts val="0"/>
              </a:spcBef>
              <a:buNone/>
            </a:pPr>
            <a:r>
              <a:rPr lang="zh-CN" altLang="en-US" sz="1350" noProof="1">
                <a:solidFill>
                  <a:srgbClr val="00B050"/>
                </a:solidFill>
                <a:latin typeface="Consolas" panose="020B0609020204030204" charset="0"/>
              </a:rPr>
              <a:t>籍贯：  地球</a:t>
            </a:r>
            <a:r>
              <a:rPr lang="zh-CN" altLang="en-US" sz="1350" noProof="1">
                <a:latin typeface="Consolas" panose="020B0609020204030204" charset="0"/>
              </a:rPr>
              <a:t>'''</a:t>
            </a:r>
          </a:p>
          <a:p>
            <a:pPr marL="0" indent="0">
              <a:spcBef>
                <a:spcPts val="0"/>
              </a:spcBef>
              <a:buNone/>
            </a:pPr>
            <a:r>
              <a:rPr lang="zh-CN" altLang="en-US" sz="1350" noProof="1">
                <a:latin typeface="Consolas" panose="020B0609020204030204" charset="0"/>
              </a:rPr>
              <a:t>&gt;&gt;&gt; infomation = text.split('\n')</a:t>
            </a:r>
          </a:p>
          <a:p>
            <a:pPr marL="0" indent="0">
              <a:spcBef>
                <a:spcPts val="0"/>
              </a:spcBef>
              <a:buNone/>
            </a:pPr>
            <a:r>
              <a:rPr lang="zh-CN" altLang="en-US" sz="1350" noProof="1">
                <a:latin typeface="Consolas" panose="020B0609020204030204" charset="0"/>
              </a:rPr>
              <a:t>&gt;&gt;&gt; infomation</a:t>
            </a:r>
          </a:p>
          <a:p>
            <a:pPr marL="0" indent="0">
              <a:spcBef>
                <a:spcPts val="0"/>
              </a:spcBef>
              <a:buNone/>
            </a:pPr>
            <a:r>
              <a:rPr lang="zh-CN" altLang="en-US" sz="1350" noProof="1">
                <a:solidFill>
                  <a:srgbClr val="0000FF"/>
                </a:solidFill>
                <a:latin typeface="Consolas" panose="020B0609020204030204" charset="0"/>
              </a:rPr>
              <a:t>['姓名：张三', '年龄：39', '性别男', '职业  学生', '籍贯：  地球']</a:t>
            </a:r>
          </a:p>
          <a:p>
            <a:pPr marL="0" indent="0">
              <a:spcBef>
                <a:spcPts val="0"/>
              </a:spcBef>
              <a:buNone/>
            </a:pPr>
            <a:r>
              <a:rPr lang="zh-CN" altLang="en-US" sz="1350" noProof="1">
                <a:latin typeface="Consolas" panose="020B0609020204030204" charset="0"/>
              </a:rPr>
              <a:t>&gt;&gt;&gt; for item in infomation:</a:t>
            </a:r>
          </a:p>
          <a:p>
            <a:pPr marL="0" indent="0">
              <a:spcBef>
                <a:spcPts val="0"/>
              </a:spcBef>
              <a:buNone/>
            </a:pPr>
            <a:r>
              <a:rPr lang="zh-CN" altLang="en-US" sz="1350" noProof="1">
                <a:latin typeface="Consolas" panose="020B0609020204030204" charset="0"/>
              </a:rPr>
              <a:t>    print(item[:2], item[2:].strip('： '), sep='：')</a:t>
            </a:r>
          </a:p>
          <a:p>
            <a:pPr marL="0" indent="0">
              <a:spcBef>
                <a:spcPts val="0"/>
              </a:spcBef>
              <a:buNone/>
            </a:pPr>
            <a:r>
              <a:rPr lang="zh-CN" altLang="en-US" sz="1350" noProof="1">
                <a:solidFill>
                  <a:srgbClr val="0000FF"/>
                </a:solidFill>
                <a:latin typeface="Consolas" panose="020B0609020204030204" charset="0"/>
              </a:rPr>
              <a:t>	</a:t>
            </a:r>
          </a:p>
          <a:p>
            <a:pPr marL="0" indent="0">
              <a:spcBef>
                <a:spcPts val="0"/>
              </a:spcBef>
              <a:buNone/>
            </a:pPr>
            <a:r>
              <a:rPr lang="zh-CN" altLang="en-US" sz="1350" noProof="1">
                <a:solidFill>
                  <a:srgbClr val="0000FF"/>
                </a:solidFill>
                <a:latin typeface="Consolas" panose="020B0609020204030204" charset="0"/>
              </a:rPr>
              <a:t>姓名：张三</a:t>
            </a:r>
          </a:p>
          <a:p>
            <a:pPr marL="0" indent="0">
              <a:spcBef>
                <a:spcPts val="0"/>
              </a:spcBef>
              <a:buNone/>
            </a:pPr>
            <a:r>
              <a:rPr lang="zh-CN" altLang="en-US" sz="1350" noProof="1">
                <a:solidFill>
                  <a:srgbClr val="0000FF"/>
                </a:solidFill>
                <a:latin typeface="Consolas" panose="020B0609020204030204" charset="0"/>
              </a:rPr>
              <a:t>年龄：39</a:t>
            </a:r>
          </a:p>
          <a:p>
            <a:pPr marL="0" indent="0">
              <a:spcBef>
                <a:spcPts val="0"/>
              </a:spcBef>
              <a:buNone/>
            </a:pPr>
            <a:r>
              <a:rPr lang="zh-CN" altLang="en-US" sz="1350" noProof="1">
                <a:solidFill>
                  <a:srgbClr val="0000FF"/>
                </a:solidFill>
                <a:latin typeface="Consolas" panose="020B0609020204030204" charset="0"/>
              </a:rPr>
              <a:t>性别：男</a:t>
            </a:r>
          </a:p>
          <a:p>
            <a:pPr marL="0" indent="0">
              <a:spcBef>
                <a:spcPts val="0"/>
              </a:spcBef>
              <a:buNone/>
            </a:pPr>
            <a:r>
              <a:rPr lang="zh-CN" altLang="en-US" sz="1350" noProof="1">
                <a:solidFill>
                  <a:srgbClr val="0000FF"/>
                </a:solidFill>
                <a:latin typeface="Consolas" panose="020B0609020204030204" charset="0"/>
              </a:rPr>
              <a:t>职业：学生</a:t>
            </a:r>
          </a:p>
          <a:p>
            <a:pPr marL="0" indent="0">
              <a:spcBef>
                <a:spcPts val="0"/>
              </a:spcBef>
              <a:buNone/>
            </a:pPr>
            <a:r>
              <a:rPr lang="zh-CN" altLang="en-US" sz="1350" noProof="1">
                <a:solidFill>
                  <a:srgbClr val="0000FF"/>
                </a:solidFill>
                <a:latin typeface="Consolas" panose="020B0609020204030204" charset="0"/>
              </a:rPr>
              <a:t>籍贯：地球</a:t>
            </a:r>
          </a:p>
        </p:txBody>
      </p:sp>
      <p:grpSp>
        <p:nvGrpSpPr>
          <p:cNvPr id="6" name="组合 114"/>
          <p:cNvGrpSpPr/>
          <p:nvPr/>
        </p:nvGrpSpPr>
        <p:grpSpPr>
          <a:xfrm>
            <a:off x="-540568" y="116632"/>
            <a:ext cx="6225040" cy="662730"/>
            <a:chOff x="-198275" y="3380765"/>
            <a:chExt cx="6225040" cy="662730"/>
          </a:xfrm>
        </p:grpSpPr>
        <p:grpSp>
          <p:nvGrpSpPr>
            <p:cNvPr id="7" name="组合 105"/>
            <p:cNvGrpSpPr/>
            <p:nvPr/>
          </p:nvGrpSpPr>
          <p:grpSpPr>
            <a:xfrm>
              <a:off x="-198275" y="3380765"/>
              <a:ext cx="6225040" cy="662730"/>
              <a:chOff x="-198275"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1" name="文本框 10"/>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4.1.3 </a:t>
            </a:r>
            <a:r>
              <a:rPr lang="zh-CN" altLang="en-US" sz="2800" b="1" dirty="0">
                <a:latin typeface="Times New Roman" panose="02020603050405020304" pitchFamily="18" charset="0"/>
                <a:ea typeface="仿宋" panose="02010609060101010101" pitchFamily="49" charset="-122"/>
              </a:rPr>
              <a:t>字符串常用方法</a:t>
            </a:r>
            <a:endParaRPr lang="en-US" altLang="zh-CN" sz="2800" b="1" dirty="0">
              <a:ea typeface="仿宋" panose="02010609060101010101" pitchFamily="49" charset="-122"/>
            </a:endParaRPr>
          </a:p>
        </p:txBody>
      </p:sp>
    </p:spTree>
    <p:extLst>
      <p:ext uri="{BB962C8B-B14F-4D97-AF65-F5344CB8AC3E}">
        <p14:creationId xmlns:p14="http://schemas.microsoft.com/office/powerpoint/2010/main" val="276377251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xEl>
                                              <p:pRg st="14" end="1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
                                            <p:txEl>
                                              <p:pRg st="15" end="15"/>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
                                            <p:txEl>
                                              <p:pRg st="16" end="16"/>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36</a:t>
            </a:fld>
            <a:endParaRPr lang="zh-CN" altLang="en-US" dirty="0"/>
          </a:p>
        </p:txBody>
      </p:sp>
      <p:sp>
        <p:nvSpPr>
          <p:cNvPr id="5" name="Content Placeholder 2"/>
          <p:cNvSpPr>
            <a:spLocks noGrp="1"/>
          </p:cNvSpPr>
          <p:nvPr>
            <p:ph idx="1"/>
          </p:nvPr>
        </p:nvSpPr>
        <p:spPr>
          <a:xfrm>
            <a:off x="613827" y="1431940"/>
            <a:ext cx="8090535" cy="3395345"/>
          </a:xfrm>
        </p:spPr>
        <p:txBody>
          <a:bodyPr/>
          <a:lstStyle/>
          <a:p>
            <a:pPr>
              <a:spcBef>
                <a:spcPts val="600"/>
              </a:spcBef>
              <a:buClr>
                <a:srgbClr val="FF0000"/>
              </a:buClr>
              <a:buFont typeface="Wingdings" panose="05000000000000000000" charset="0"/>
              <a:buChar char=""/>
            </a:pPr>
            <a:r>
              <a:rPr lang="en-US" sz="2200" b="1" noProof="1"/>
              <a:t>Python字符串支持与</a:t>
            </a:r>
            <a:r>
              <a:rPr lang="en-US" sz="2200" b="1" noProof="1">
                <a:solidFill>
                  <a:srgbClr val="FF0000"/>
                </a:solidFill>
              </a:rPr>
              <a:t>整数</a:t>
            </a:r>
            <a:r>
              <a:rPr lang="en-US" sz="2200" b="1" noProof="1"/>
              <a:t>的乘法运算，表示序列重复，也就是</a:t>
            </a:r>
            <a:r>
              <a:rPr lang="en-US" sz="2200" b="1" noProof="1">
                <a:solidFill>
                  <a:srgbClr val="FF0000"/>
                </a:solidFill>
              </a:rPr>
              <a:t>字符串内容的重复</a:t>
            </a:r>
            <a:r>
              <a:rPr lang="zh-CN" altLang="en-US" sz="2200" b="1" noProof="1">
                <a:solidFill>
                  <a:srgbClr val="FF0000"/>
                </a:solidFill>
              </a:rPr>
              <a:t>，得到新字符串</a:t>
            </a:r>
            <a:r>
              <a:rPr lang="en-US" sz="2200" b="1" noProof="1"/>
              <a:t>。</a:t>
            </a:r>
          </a:p>
          <a:p>
            <a:pPr marL="0" indent="0">
              <a:buNone/>
            </a:pPr>
            <a:endParaRPr lang="en-US" sz="1350" noProof="1">
              <a:latin typeface="Consolas" panose="020B0609020204030204" charset="0"/>
            </a:endParaRPr>
          </a:p>
          <a:p>
            <a:pPr marL="0" indent="0">
              <a:buNone/>
            </a:pPr>
            <a:r>
              <a:rPr lang="en-US" sz="1350" noProof="1">
                <a:latin typeface="Consolas" panose="020B0609020204030204" charset="0"/>
              </a:rPr>
              <a:t>&gt;&gt;&gt; 'abcd' * 3</a:t>
            </a:r>
          </a:p>
          <a:p>
            <a:pPr marL="0" indent="0">
              <a:buNone/>
            </a:pPr>
            <a:r>
              <a:rPr lang="en-US" sz="1350" noProof="1">
                <a:solidFill>
                  <a:srgbClr val="0000FF"/>
                </a:solidFill>
                <a:latin typeface="Consolas" panose="020B0609020204030204" charset="0"/>
              </a:rPr>
              <a:t>'abcdabcdabcd'</a:t>
            </a:r>
          </a:p>
        </p:txBody>
      </p:sp>
      <p:sp>
        <p:nvSpPr>
          <p:cNvPr id="6" name="内容占位符 2"/>
          <p:cNvSpPr txBox="1"/>
          <p:nvPr/>
        </p:nvSpPr>
        <p:spPr bwMode="auto">
          <a:xfrm>
            <a:off x="613827" y="2924944"/>
            <a:ext cx="8265160" cy="339534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600"/>
              </a:spcBef>
              <a:buClr>
                <a:srgbClr val="FF0000"/>
              </a:buClr>
              <a:buSzPct val="70000"/>
              <a:buFont typeface="Wingdings" panose="05000000000000000000" charset="0"/>
              <a:buChar char=""/>
            </a:pPr>
            <a:r>
              <a:rPr lang="en-US" altLang="zh-CN" sz="2200" b="1" dirty="0">
                <a:sym typeface="Arial" panose="020B0604020202020204" pitchFamily="34" charset="0"/>
              </a:rPr>
              <a:t>s.start</a:t>
            </a:r>
            <a:r>
              <a:rPr lang="zh-CN" altLang="en-US" sz="2200" b="1" dirty="0">
                <a:sym typeface="Arial" panose="020B0604020202020204" pitchFamily="34" charset="0"/>
              </a:rPr>
              <a:t>s</a:t>
            </a:r>
            <a:r>
              <a:rPr lang="en-US" altLang="zh-CN" sz="2200" b="1" dirty="0">
                <a:sym typeface="Arial" panose="020B0604020202020204" pitchFamily="34" charset="0"/>
              </a:rPr>
              <a:t>with(t)</a:t>
            </a:r>
            <a:r>
              <a:rPr lang="zh-CN" altLang="en-US" sz="2200" b="1" dirty="0">
                <a:sym typeface="Arial" panose="020B0604020202020204" pitchFamily="34" charset="0"/>
              </a:rPr>
              <a:t>、</a:t>
            </a:r>
            <a:r>
              <a:rPr lang="en-US" altLang="zh-CN" sz="2200" b="1" dirty="0" err="1">
                <a:sym typeface="Arial" panose="020B0604020202020204" pitchFamily="34" charset="0"/>
              </a:rPr>
              <a:t>s.endswith</a:t>
            </a:r>
            <a:r>
              <a:rPr lang="en-US" altLang="zh-CN" sz="2200" b="1" dirty="0">
                <a:sym typeface="Arial" panose="020B0604020202020204" pitchFamily="34" charset="0"/>
              </a:rPr>
              <a:t>(t)</a:t>
            </a:r>
            <a:r>
              <a:rPr lang="zh-CN" altLang="en-US" sz="2200" b="1" dirty="0">
                <a:sym typeface="Arial" panose="020B0604020202020204" pitchFamily="34" charset="0"/>
              </a:rPr>
              <a:t>，判断字符串是否以指定字符串开始或结束</a:t>
            </a:r>
            <a:endParaRPr lang="zh-CN" altLang="en-US" sz="2200" b="1" dirty="0"/>
          </a:p>
          <a:p>
            <a:pPr>
              <a:spcBef>
                <a:spcPct val="0"/>
              </a:spcBef>
              <a:buSzPct val="70000"/>
              <a:buFont typeface="Arial" panose="020B0604020202020204" pitchFamily="34" charset="0"/>
              <a:buNone/>
            </a:pPr>
            <a:endParaRPr lang="zh-CN" altLang="en-US" sz="1350" dirty="0">
              <a:latin typeface="Times New Roman" panose="02020603050405020304" pitchFamily="18" charset="0"/>
              <a:sym typeface="Arial" panose="020B0604020202020204" pitchFamily="34" charset="0"/>
            </a:endParaRPr>
          </a:p>
          <a:p>
            <a:pPr>
              <a:spcBef>
                <a:spcPct val="0"/>
              </a:spcBef>
              <a:buSzPct val="70000"/>
              <a:buFont typeface="Arial" panose="020B0604020202020204" pitchFamily="34" charset="0"/>
              <a:buNone/>
            </a:pPr>
            <a:r>
              <a:rPr lang="zh-CN" altLang="en-US" sz="1350" dirty="0">
                <a:latin typeface="Times New Roman" panose="02020603050405020304" pitchFamily="18" charset="0"/>
                <a:sym typeface="Arial" panose="020B0604020202020204" pitchFamily="34" charset="0"/>
              </a:rPr>
              <a:t>&gt;&gt;&gt; s = 'Beautiful is better than ugly.'</a:t>
            </a:r>
          </a:p>
          <a:p>
            <a:pPr>
              <a:spcBef>
                <a:spcPct val="0"/>
              </a:spcBef>
              <a:buSzPct val="70000"/>
              <a:buFont typeface="Arial" panose="020B0604020202020204" pitchFamily="34" charset="0"/>
              <a:buNone/>
            </a:pPr>
            <a:r>
              <a:rPr lang="zh-CN" altLang="en-US" sz="1350" dirty="0">
                <a:latin typeface="Times New Roman" panose="02020603050405020304" pitchFamily="18" charset="0"/>
                <a:sym typeface="Arial" panose="020B0604020202020204" pitchFamily="34" charset="0"/>
              </a:rPr>
              <a:t>&gt;&gt;&gt; s.startswith('Be')             #检测整个字符串</a:t>
            </a:r>
          </a:p>
          <a:p>
            <a:pPr>
              <a:spcBef>
                <a:spcPct val="0"/>
              </a:spcBef>
              <a:buSzPct val="70000"/>
              <a:buFont typeface="Arial" panose="020B0604020202020204" pitchFamily="34" charset="0"/>
              <a:buNone/>
            </a:pPr>
            <a:r>
              <a:rPr lang="zh-CN" altLang="en-US" sz="1350" dirty="0">
                <a:solidFill>
                  <a:srgbClr val="0000FF"/>
                </a:solidFill>
                <a:latin typeface="Times New Roman" panose="02020603050405020304" pitchFamily="18" charset="0"/>
                <a:sym typeface="Arial" panose="020B0604020202020204" pitchFamily="34" charset="0"/>
              </a:rPr>
              <a:t>True</a:t>
            </a:r>
          </a:p>
          <a:p>
            <a:pPr>
              <a:spcBef>
                <a:spcPct val="0"/>
              </a:spcBef>
              <a:buSzPct val="70000"/>
              <a:buFont typeface="Arial" panose="020B0604020202020204" pitchFamily="34" charset="0"/>
              <a:buNone/>
            </a:pPr>
            <a:r>
              <a:rPr lang="zh-CN" altLang="en-US" sz="1350" dirty="0">
                <a:latin typeface="Times New Roman" panose="02020603050405020304" pitchFamily="18" charset="0"/>
                <a:sym typeface="Arial" panose="020B0604020202020204" pitchFamily="34" charset="0"/>
              </a:rPr>
              <a:t>&gt;&gt;&gt; s.startswith('Be', 5)         #指定检测范围起始位置</a:t>
            </a:r>
          </a:p>
          <a:p>
            <a:pPr>
              <a:spcBef>
                <a:spcPct val="0"/>
              </a:spcBef>
              <a:buSzPct val="70000"/>
              <a:buFont typeface="Arial" panose="020B0604020202020204" pitchFamily="34" charset="0"/>
              <a:buNone/>
            </a:pPr>
            <a:r>
              <a:rPr lang="zh-CN" altLang="en-US" sz="1350" dirty="0">
                <a:solidFill>
                  <a:srgbClr val="0000FF"/>
                </a:solidFill>
                <a:latin typeface="Times New Roman" panose="02020603050405020304" pitchFamily="18" charset="0"/>
                <a:sym typeface="Arial" panose="020B0604020202020204" pitchFamily="34" charset="0"/>
              </a:rPr>
              <a:t>False</a:t>
            </a:r>
          </a:p>
          <a:p>
            <a:pPr>
              <a:spcBef>
                <a:spcPct val="0"/>
              </a:spcBef>
              <a:buSzPct val="70000"/>
              <a:buFont typeface="Arial" panose="020B0604020202020204" pitchFamily="34" charset="0"/>
              <a:buNone/>
            </a:pPr>
            <a:r>
              <a:rPr lang="zh-CN" altLang="en-US" sz="1350" dirty="0">
                <a:latin typeface="Times New Roman" panose="02020603050405020304" pitchFamily="18" charset="0"/>
                <a:sym typeface="Arial" panose="020B0604020202020204" pitchFamily="34" charset="0"/>
              </a:rPr>
              <a:t>&gt;&gt;&gt; s.startswith('Be', 0, 5)     #指定检测范围起始和结束位置</a:t>
            </a:r>
          </a:p>
          <a:p>
            <a:pPr>
              <a:spcBef>
                <a:spcPct val="0"/>
              </a:spcBef>
              <a:buSzPct val="70000"/>
              <a:buFont typeface="Arial" panose="020B0604020202020204" pitchFamily="34" charset="0"/>
              <a:buNone/>
            </a:pPr>
            <a:r>
              <a:rPr lang="zh-CN" altLang="en-US" sz="1350" dirty="0">
                <a:solidFill>
                  <a:srgbClr val="0000FF"/>
                </a:solidFill>
                <a:latin typeface="Times New Roman" panose="02020603050405020304" pitchFamily="18" charset="0"/>
                <a:sym typeface="Arial" panose="020B0604020202020204" pitchFamily="34" charset="0"/>
              </a:rPr>
              <a:t>True</a:t>
            </a:r>
          </a:p>
          <a:p>
            <a:pPr>
              <a:spcBef>
                <a:spcPct val="0"/>
              </a:spcBef>
              <a:buSzPct val="70000"/>
              <a:buFont typeface="Arial" panose="020B0604020202020204" pitchFamily="34" charset="0"/>
              <a:buNone/>
            </a:pPr>
            <a:r>
              <a:rPr lang="zh-CN" altLang="en-US" sz="1350" dirty="0">
                <a:latin typeface="Times New Roman" panose="02020603050405020304" pitchFamily="18" charset="0"/>
                <a:sym typeface="Arial" panose="020B0604020202020204" pitchFamily="34" charset="0"/>
              </a:rPr>
              <a:t>&gt;&gt;&gt; import os</a:t>
            </a:r>
            <a:endParaRPr lang="zh-CN" altLang="en-US" sz="1350" dirty="0">
              <a:latin typeface="Times New Roman" panose="02020603050405020304" pitchFamily="18" charset="0"/>
            </a:endParaRPr>
          </a:p>
          <a:p>
            <a:pPr>
              <a:spcBef>
                <a:spcPct val="0"/>
              </a:spcBef>
              <a:buSzPct val="70000"/>
              <a:buFont typeface="Arial" panose="020B0604020202020204" pitchFamily="34" charset="0"/>
              <a:buNone/>
            </a:pPr>
            <a:r>
              <a:rPr lang="zh-CN" altLang="en-US" sz="1350" dirty="0">
                <a:latin typeface="Times New Roman" panose="02020603050405020304" pitchFamily="18" charset="0"/>
                <a:sym typeface="Arial" panose="020B0604020202020204" pitchFamily="34" charset="0"/>
              </a:rPr>
              <a:t>&gt;&gt;&gt; [filename</a:t>
            </a:r>
          </a:p>
          <a:p>
            <a:pPr>
              <a:spcBef>
                <a:spcPct val="0"/>
              </a:spcBef>
              <a:buSzPct val="70000"/>
              <a:buFont typeface="Arial" panose="020B0604020202020204" pitchFamily="34" charset="0"/>
              <a:buNone/>
            </a:pPr>
            <a:r>
              <a:rPr lang="zh-CN" altLang="en-US" sz="1350" dirty="0">
                <a:latin typeface="Times New Roman" panose="02020603050405020304" pitchFamily="18" charset="0"/>
                <a:sym typeface="Arial" panose="020B0604020202020204" pitchFamily="34" charset="0"/>
              </a:rPr>
              <a:t>         for filename in os.listdir(r'c:\\')</a:t>
            </a:r>
          </a:p>
          <a:p>
            <a:pPr>
              <a:spcBef>
                <a:spcPct val="0"/>
              </a:spcBef>
              <a:buSzPct val="70000"/>
              <a:buFont typeface="Arial" panose="020B0604020202020204" pitchFamily="34" charset="0"/>
              <a:buNone/>
            </a:pPr>
            <a:r>
              <a:rPr lang="zh-CN" altLang="en-US" sz="1350" dirty="0">
                <a:latin typeface="Times New Roman" panose="02020603050405020304" pitchFamily="18" charset="0"/>
                <a:sym typeface="Arial" panose="020B0604020202020204" pitchFamily="34" charset="0"/>
              </a:rPr>
              <a:t>         if filename.endswith(('.bmp','.jpg','.gif'))]</a:t>
            </a:r>
            <a:endParaRPr lang="zh-CN" altLang="en-US" sz="1350" dirty="0">
              <a:latin typeface="Times New Roman" panose="02020603050405020304" pitchFamily="18" charset="0"/>
            </a:endParaRPr>
          </a:p>
        </p:txBody>
      </p:sp>
      <p:grpSp>
        <p:nvGrpSpPr>
          <p:cNvPr id="7" name="组合 114"/>
          <p:cNvGrpSpPr/>
          <p:nvPr/>
        </p:nvGrpSpPr>
        <p:grpSpPr>
          <a:xfrm>
            <a:off x="-540568" y="116632"/>
            <a:ext cx="6225040" cy="662730"/>
            <a:chOff x="-198275" y="3380765"/>
            <a:chExt cx="6225040" cy="662730"/>
          </a:xfrm>
        </p:grpSpPr>
        <p:grpSp>
          <p:nvGrpSpPr>
            <p:cNvPr id="8" name="组合 105"/>
            <p:cNvGrpSpPr/>
            <p:nvPr/>
          </p:nvGrpSpPr>
          <p:grpSpPr>
            <a:xfrm>
              <a:off x="-198275" y="3380765"/>
              <a:ext cx="6225040" cy="662730"/>
              <a:chOff x="-198275" y="3380765"/>
              <a:chExt cx="6225040" cy="662730"/>
            </a:xfrm>
          </p:grpSpPr>
          <p:sp>
            <p:nvSpPr>
              <p:cNvPr id="1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9" name="图片 8"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3" name="文本框 12"/>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4.1.3 </a:t>
            </a:r>
            <a:r>
              <a:rPr lang="zh-CN" altLang="en-US" sz="2800" b="1" dirty="0">
                <a:latin typeface="Times New Roman" panose="02020603050405020304" pitchFamily="18" charset="0"/>
                <a:ea typeface="仿宋" panose="02010609060101010101" pitchFamily="49" charset="-122"/>
              </a:rPr>
              <a:t>字符串常用方法</a:t>
            </a:r>
            <a:endParaRPr lang="en-US" altLang="zh-CN" sz="2800" b="1" dirty="0">
              <a:ea typeface="仿宋" panose="02010609060101010101" pitchFamily="49" charset="-122"/>
            </a:endParaRPr>
          </a:p>
        </p:txBody>
      </p:sp>
    </p:spTree>
    <p:extLst>
      <p:ext uri="{BB962C8B-B14F-4D97-AF65-F5344CB8AC3E}">
        <p14:creationId xmlns:p14="http://schemas.microsoft.com/office/powerpoint/2010/main" val="403636677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37</a:t>
            </a:fld>
            <a:endParaRPr lang="zh-CN" altLang="en-US" dirty="0"/>
          </a:p>
        </p:txBody>
      </p:sp>
      <p:sp>
        <p:nvSpPr>
          <p:cNvPr id="5" name="文本占位符 45058"/>
          <p:cNvSpPr>
            <a:spLocks noGrp="1"/>
          </p:cNvSpPr>
          <p:nvPr>
            <p:ph idx="1"/>
          </p:nvPr>
        </p:nvSpPr>
        <p:spPr>
          <a:xfrm>
            <a:off x="557530" y="1439208"/>
            <a:ext cx="8430260" cy="3395345"/>
          </a:xfrm>
          <a:ln>
            <a:miter/>
          </a:ln>
        </p:spPr>
        <p:txBody>
          <a:bodyPr anchor="t"/>
          <a:lstStyle/>
          <a:p>
            <a:pPr>
              <a:spcBef>
                <a:spcPts val="600"/>
              </a:spcBef>
              <a:buClr>
                <a:srgbClr val="FF0000"/>
              </a:buClr>
              <a:buFont typeface="Wingdings" panose="05000000000000000000" pitchFamily="2" charset="2"/>
              <a:buChar char="n"/>
            </a:pPr>
            <a:r>
              <a:rPr lang="en-US" altLang="zh-CN" sz="2000" noProof="1"/>
              <a:t>center()</a:t>
            </a:r>
            <a:r>
              <a:rPr lang="zh-CN" altLang="en-US" sz="2000" noProof="1"/>
              <a:t>、</a:t>
            </a:r>
            <a:r>
              <a:rPr lang="en-US" altLang="zh-CN" sz="2000" noProof="1"/>
              <a:t>ljust()</a:t>
            </a:r>
            <a:r>
              <a:rPr lang="zh-CN" altLang="en-US" sz="2000" noProof="1"/>
              <a:t>、</a:t>
            </a:r>
            <a:r>
              <a:rPr lang="en-US" altLang="zh-CN" sz="2000" noProof="1"/>
              <a:t>rjust()</a:t>
            </a:r>
            <a:r>
              <a:rPr lang="zh-CN" altLang="en-US" sz="2000" noProof="1"/>
              <a:t>，返回指定宽度的新字符串，原字符串</a:t>
            </a:r>
            <a:r>
              <a:rPr lang="zh-CN" altLang="en-US" sz="2000" noProof="1">
                <a:solidFill>
                  <a:srgbClr val="FF0000"/>
                </a:solidFill>
              </a:rPr>
              <a:t>居中</a:t>
            </a:r>
            <a:r>
              <a:rPr lang="zh-CN" altLang="en-US" sz="2000" noProof="1"/>
              <a:t>、</a:t>
            </a:r>
            <a:r>
              <a:rPr lang="zh-CN" altLang="en-US" sz="2000" noProof="1">
                <a:solidFill>
                  <a:srgbClr val="FF0000"/>
                </a:solidFill>
              </a:rPr>
              <a:t>左对齐</a:t>
            </a:r>
            <a:r>
              <a:rPr lang="zh-CN" altLang="en-US" sz="2000" noProof="1"/>
              <a:t>或</a:t>
            </a:r>
            <a:r>
              <a:rPr lang="zh-CN" altLang="en-US" sz="2000" noProof="1">
                <a:solidFill>
                  <a:srgbClr val="FF0000"/>
                </a:solidFill>
              </a:rPr>
              <a:t>右对齐</a:t>
            </a:r>
            <a:r>
              <a:rPr lang="zh-CN" altLang="en-US" sz="2000" noProof="1"/>
              <a:t>出现在新字符串中，如果指定宽度大于字符串长度，则使用指定的字符（默认为空格）进行填充。</a:t>
            </a:r>
          </a:p>
          <a:p>
            <a:pPr marL="1905" indent="-344805">
              <a:lnSpc>
                <a:spcPct val="80000"/>
              </a:lnSpc>
              <a:buNone/>
            </a:pPr>
            <a:endParaRPr lang="en-US" altLang="zh-CN" sz="1350" noProof="1">
              <a:latin typeface="Consolas" panose="020B0609020204030204" charset="0"/>
            </a:endParaRPr>
          </a:p>
          <a:p>
            <a:pPr marL="1905" indent="-344805">
              <a:lnSpc>
                <a:spcPct val="80000"/>
              </a:lnSpc>
              <a:buNone/>
            </a:pPr>
            <a:r>
              <a:rPr lang="en-US" altLang="zh-CN" sz="1350" noProof="1">
                <a:latin typeface="Consolas" panose="020B0609020204030204" charset="0"/>
              </a:rPr>
              <a:t>&gt;&gt;&gt; 'Hello world!'.center(20)        #居中对齐，以空格进行填充</a:t>
            </a:r>
          </a:p>
          <a:p>
            <a:pPr marL="1905" indent="-344805">
              <a:lnSpc>
                <a:spcPct val="80000"/>
              </a:lnSpc>
              <a:buNone/>
            </a:pPr>
            <a:r>
              <a:rPr lang="en-US" altLang="zh-CN" sz="1350" noProof="1">
                <a:solidFill>
                  <a:srgbClr val="0000FF"/>
                </a:solidFill>
                <a:latin typeface="Consolas" panose="020B0609020204030204" charset="0"/>
              </a:rPr>
              <a:t>'    Hello world!    '</a:t>
            </a:r>
          </a:p>
          <a:p>
            <a:pPr marL="1905" indent="-344805">
              <a:lnSpc>
                <a:spcPct val="80000"/>
              </a:lnSpc>
              <a:buNone/>
            </a:pPr>
            <a:r>
              <a:rPr lang="en-US" altLang="zh-CN" sz="1350" noProof="1">
                <a:latin typeface="Consolas" panose="020B0609020204030204" charset="0"/>
              </a:rPr>
              <a:t>&gt;&gt;&gt; 'Hello world!'.center(20, '=')   #居中对齐，以字符=进行填充</a:t>
            </a:r>
          </a:p>
          <a:p>
            <a:pPr marL="1905" indent="-344805">
              <a:lnSpc>
                <a:spcPct val="80000"/>
              </a:lnSpc>
              <a:buNone/>
            </a:pPr>
            <a:r>
              <a:rPr lang="en-US" altLang="zh-CN" sz="1350" noProof="1">
                <a:solidFill>
                  <a:srgbClr val="0000FF"/>
                </a:solidFill>
                <a:latin typeface="Consolas" panose="020B0609020204030204" charset="0"/>
              </a:rPr>
              <a:t>'====Hello world!===='</a:t>
            </a:r>
          </a:p>
          <a:p>
            <a:pPr marL="1905" indent="-344805">
              <a:lnSpc>
                <a:spcPct val="80000"/>
              </a:lnSpc>
              <a:buNone/>
            </a:pPr>
            <a:r>
              <a:rPr lang="en-US" altLang="zh-CN" sz="1350" noProof="1">
                <a:latin typeface="Consolas" panose="020B0609020204030204" charset="0"/>
              </a:rPr>
              <a:t>&gt;&gt;&gt; 'Hello world!'.ljust(20, '=')    #左对齐</a:t>
            </a:r>
          </a:p>
          <a:p>
            <a:pPr marL="1905" indent="-344805">
              <a:lnSpc>
                <a:spcPct val="80000"/>
              </a:lnSpc>
              <a:buNone/>
            </a:pPr>
            <a:r>
              <a:rPr lang="en-US" altLang="zh-CN" sz="1350" noProof="1">
                <a:solidFill>
                  <a:srgbClr val="0000FF"/>
                </a:solidFill>
                <a:latin typeface="Consolas" panose="020B0609020204030204" charset="0"/>
              </a:rPr>
              <a:t>'Hello world!========'</a:t>
            </a:r>
          </a:p>
          <a:p>
            <a:pPr marL="1905" indent="-344805">
              <a:lnSpc>
                <a:spcPct val="80000"/>
              </a:lnSpc>
              <a:buNone/>
            </a:pPr>
            <a:r>
              <a:rPr lang="en-US" altLang="zh-CN" sz="1350" noProof="1">
                <a:latin typeface="Consolas" panose="020B0609020204030204" charset="0"/>
              </a:rPr>
              <a:t>&gt;&gt;&gt; 'Hello world!'.rjust(20, '=')    #右对齐</a:t>
            </a:r>
          </a:p>
          <a:p>
            <a:pPr marL="1905" indent="-344805">
              <a:lnSpc>
                <a:spcPct val="80000"/>
              </a:lnSpc>
              <a:buNone/>
            </a:pPr>
            <a:r>
              <a:rPr lang="en-US" altLang="zh-CN" sz="1350" noProof="1">
                <a:solidFill>
                  <a:srgbClr val="0000FF"/>
                </a:solidFill>
                <a:latin typeface="Consolas" panose="020B0609020204030204" charset="0"/>
              </a:rPr>
              <a:t>'========Hello world!'</a:t>
            </a:r>
          </a:p>
        </p:txBody>
      </p:sp>
      <p:sp>
        <p:nvSpPr>
          <p:cNvPr id="6" name="Content Placeholder 2"/>
          <p:cNvSpPr txBox="1"/>
          <p:nvPr/>
        </p:nvSpPr>
        <p:spPr bwMode="auto">
          <a:xfrm>
            <a:off x="657860" y="4368680"/>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rgbClr val="FF0000"/>
              </a:buClr>
              <a:buFont typeface="Wingdings" panose="05000000000000000000" charset="0"/>
              <a:buChar char=""/>
            </a:pPr>
            <a:r>
              <a:rPr lang="en-US" sz="2000" b="1" noProof="1">
                <a:latin typeface="+mn-ea"/>
              </a:rPr>
              <a:t>zfill()返回指定宽度的字符串，在</a:t>
            </a:r>
            <a:r>
              <a:rPr lang="en-US" sz="2000" b="1" noProof="1">
                <a:solidFill>
                  <a:srgbClr val="FF0000"/>
                </a:solidFill>
                <a:latin typeface="+mn-ea"/>
              </a:rPr>
              <a:t>左侧</a:t>
            </a:r>
            <a:r>
              <a:rPr lang="en-US" sz="2000" b="1" noProof="1">
                <a:latin typeface="+mn-ea"/>
              </a:rPr>
              <a:t>以字符0进行填充。</a:t>
            </a:r>
          </a:p>
          <a:p>
            <a:pPr marL="0" indent="0">
              <a:buFont typeface="Arial" panose="020B0604020202020204" pitchFamily="34" charset="0"/>
              <a:buNone/>
            </a:pPr>
            <a:r>
              <a:rPr lang="en-US" sz="1350" noProof="1">
                <a:latin typeface="Consolas" panose="020B0609020204030204" charset="0"/>
              </a:rPr>
              <a:t>&gt;&gt;&gt; 'abc'.zfill(5)        #在左侧填充数字字符0</a:t>
            </a:r>
          </a:p>
          <a:p>
            <a:pPr marL="0" indent="0">
              <a:buFont typeface="Arial" panose="020B0604020202020204" pitchFamily="34" charset="0"/>
              <a:buNone/>
            </a:pPr>
            <a:r>
              <a:rPr lang="en-US" sz="1350" noProof="1">
                <a:solidFill>
                  <a:srgbClr val="0000FF"/>
                </a:solidFill>
                <a:latin typeface="Consolas" panose="020B0609020204030204" charset="0"/>
              </a:rPr>
              <a:t>'00abc'</a:t>
            </a:r>
          </a:p>
          <a:p>
            <a:pPr marL="0" indent="0">
              <a:buFont typeface="Arial" panose="020B0604020202020204" pitchFamily="34" charset="0"/>
              <a:buNone/>
            </a:pPr>
            <a:r>
              <a:rPr lang="en-US" sz="1350" noProof="1">
                <a:latin typeface="Consolas" panose="020B0609020204030204" charset="0"/>
              </a:rPr>
              <a:t>&gt;&gt;&gt; 'abc'.zfill(2)        #指定宽度小于字符串长度时，返回字符串本身</a:t>
            </a:r>
          </a:p>
          <a:p>
            <a:pPr marL="0" indent="0">
              <a:buFont typeface="Arial" panose="020B0604020202020204" pitchFamily="34" charset="0"/>
              <a:buNone/>
            </a:pPr>
            <a:r>
              <a:rPr lang="en-US" sz="1350" noProof="1">
                <a:solidFill>
                  <a:srgbClr val="0000FF"/>
                </a:solidFill>
                <a:latin typeface="Consolas" panose="020B0609020204030204" charset="0"/>
              </a:rPr>
              <a:t>'abc'</a:t>
            </a:r>
          </a:p>
          <a:p>
            <a:pPr marL="0" indent="0">
              <a:buFont typeface="Arial" panose="020B0604020202020204" pitchFamily="34" charset="0"/>
              <a:buNone/>
            </a:pPr>
            <a:r>
              <a:rPr lang="en-US" sz="1350" noProof="1">
                <a:latin typeface="Consolas" panose="020B0609020204030204" charset="0"/>
              </a:rPr>
              <a:t>&gt;&gt;&gt; 'uio'.zfill(20)</a:t>
            </a:r>
          </a:p>
          <a:p>
            <a:pPr marL="0" indent="0">
              <a:buFont typeface="Arial" panose="020B0604020202020204" pitchFamily="34" charset="0"/>
              <a:buNone/>
            </a:pPr>
            <a:r>
              <a:rPr lang="en-US" sz="1350" noProof="1">
                <a:solidFill>
                  <a:srgbClr val="0000FF"/>
                </a:solidFill>
                <a:latin typeface="Consolas" panose="020B0609020204030204" charset="0"/>
              </a:rPr>
              <a:t>'00000000000000000uio'</a:t>
            </a:r>
          </a:p>
        </p:txBody>
      </p:sp>
      <p:grpSp>
        <p:nvGrpSpPr>
          <p:cNvPr id="7" name="组合 114"/>
          <p:cNvGrpSpPr/>
          <p:nvPr/>
        </p:nvGrpSpPr>
        <p:grpSpPr>
          <a:xfrm>
            <a:off x="-540568" y="116632"/>
            <a:ext cx="6225040" cy="662730"/>
            <a:chOff x="-198275" y="3380765"/>
            <a:chExt cx="6225040" cy="662730"/>
          </a:xfrm>
        </p:grpSpPr>
        <p:grpSp>
          <p:nvGrpSpPr>
            <p:cNvPr id="8" name="组合 105"/>
            <p:cNvGrpSpPr/>
            <p:nvPr/>
          </p:nvGrpSpPr>
          <p:grpSpPr>
            <a:xfrm>
              <a:off x="-198275" y="3380765"/>
              <a:ext cx="6225040" cy="662730"/>
              <a:chOff x="-198275" y="3380765"/>
              <a:chExt cx="6225040" cy="662730"/>
            </a:xfrm>
          </p:grpSpPr>
          <p:sp>
            <p:nvSpPr>
              <p:cNvPr id="1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9" name="图片 8"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3" name="文本框 12"/>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4.1.3 </a:t>
            </a:r>
            <a:r>
              <a:rPr lang="zh-CN" altLang="en-US" sz="2800" b="1" dirty="0">
                <a:latin typeface="Times New Roman" panose="02020603050405020304" pitchFamily="18" charset="0"/>
                <a:ea typeface="仿宋" panose="02010609060101010101" pitchFamily="49" charset="-122"/>
              </a:rPr>
              <a:t>字符串常用方法</a:t>
            </a:r>
            <a:endParaRPr lang="en-US" altLang="zh-CN" sz="2800" b="1" dirty="0">
              <a:ea typeface="仿宋" panose="02010609060101010101" pitchFamily="49" charset="-122"/>
            </a:endParaRPr>
          </a:p>
        </p:txBody>
      </p:sp>
      <p:pic>
        <p:nvPicPr>
          <p:cNvPr id="3" name="图片 2"/>
          <p:cNvPicPr>
            <a:picLocks noChangeAspect="1"/>
          </p:cNvPicPr>
          <p:nvPr/>
        </p:nvPicPr>
        <p:blipFill>
          <a:blip r:embed="rId3"/>
          <a:stretch>
            <a:fillRect/>
          </a:stretch>
        </p:blipFill>
        <p:spPr>
          <a:xfrm>
            <a:off x="6553200" y="2556073"/>
            <a:ext cx="1907232" cy="657666"/>
          </a:xfrm>
          <a:prstGeom prst="rect">
            <a:avLst/>
          </a:prstGeom>
        </p:spPr>
      </p:pic>
    </p:spTree>
    <p:extLst>
      <p:ext uri="{BB962C8B-B14F-4D97-AF65-F5344CB8AC3E}">
        <p14:creationId xmlns:p14="http://schemas.microsoft.com/office/powerpoint/2010/main" val="3545204925"/>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1594" y="1471489"/>
            <a:ext cx="8317230" cy="3395345"/>
          </a:xfrm>
        </p:spPr>
        <p:txBody>
          <a:bodyPr/>
          <a:lstStyle/>
          <a:p>
            <a:pPr marL="285750" indent="-285750">
              <a:spcBef>
                <a:spcPts val="600"/>
              </a:spcBef>
              <a:buClr>
                <a:srgbClr val="FF0000"/>
              </a:buClr>
              <a:buFont typeface="Wingdings" panose="05000000000000000000" charset="0"/>
              <a:buChar char="n"/>
            </a:pPr>
            <a:r>
              <a:rPr lang="zh-CN" altLang="en-US" sz="2000" b="1" noProof="1"/>
              <a:t>isalnum()、isalpha()、</a:t>
            </a:r>
            <a:r>
              <a:rPr lang="zh-CN" altLang="en-US" sz="2000" b="1" noProof="1">
                <a:solidFill>
                  <a:srgbClr val="0000FF"/>
                </a:solidFill>
              </a:rPr>
              <a:t>isdigit()、isdecimal()、isnumeric()</a:t>
            </a:r>
            <a:r>
              <a:rPr lang="zh-CN" altLang="en-US" sz="2000" b="1" noProof="1"/>
              <a:t>、isspace()、isupper()、islower()，</a:t>
            </a:r>
            <a:r>
              <a:rPr lang="zh-CN" altLang="en-US" sz="2000" noProof="1"/>
              <a:t>用来测试字符串是否为数字或字母、是否为字母、</a:t>
            </a:r>
            <a:r>
              <a:rPr lang="zh-CN" altLang="en-US" sz="2000" noProof="1">
                <a:solidFill>
                  <a:srgbClr val="0000FF"/>
                </a:solidFill>
              </a:rPr>
              <a:t>是否为数字字符</a:t>
            </a:r>
            <a:r>
              <a:rPr lang="zh-CN" altLang="en-US" sz="2000" noProof="1"/>
              <a:t>、是否为空白字符、是否为大写字母以及是否为小写字母。</a:t>
            </a:r>
          </a:p>
          <a:p>
            <a:pPr marL="0" indent="0">
              <a:spcBef>
                <a:spcPts val="0"/>
              </a:spcBef>
              <a:buNone/>
            </a:pPr>
            <a:endParaRPr lang="en-US" altLang="zh-CN" sz="1350" noProof="1">
              <a:latin typeface="Consolas" panose="020B0609020204030204" charset="0"/>
            </a:endParaRPr>
          </a:p>
          <a:p>
            <a:pPr marL="0" indent="0">
              <a:spcBef>
                <a:spcPts val="0"/>
              </a:spcBef>
              <a:buNone/>
            </a:pPr>
            <a:r>
              <a:rPr lang="zh-CN" altLang="en-US" sz="1350" noProof="1">
                <a:latin typeface="Consolas" panose="020B0609020204030204" charset="0"/>
              </a:rPr>
              <a:t>&gt;&gt;&gt; '1234abcd'.isalnum()</a:t>
            </a:r>
          </a:p>
          <a:p>
            <a:pPr marL="0" indent="0">
              <a:spcBef>
                <a:spcPts val="0"/>
              </a:spcBef>
              <a:buNone/>
            </a:pPr>
            <a:r>
              <a:rPr lang="zh-CN" altLang="en-US" sz="1350" noProof="1">
                <a:solidFill>
                  <a:srgbClr val="0000FF"/>
                </a:solidFill>
                <a:latin typeface="Consolas" panose="020B0609020204030204" charset="0"/>
              </a:rPr>
              <a:t>True</a:t>
            </a:r>
          </a:p>
          <a:p>
            <a:pPr marL="0" indent="0">
              <a:spcBef>
                <a:spcPts val="0"/>
              </a:spcBef>
              <a:buNone/>
            </a:pPr>
            <a:r>
              <a:rPr lang="zh-CN" altLang="en-US" sz="1350" noProof="1">
                <a:latin typeface="Consolas" panose="020B0609020204030204" charset="0"/>
              </a:rPr>
              <a:t>&gt;&gt;&gt; '1234abcd'.isalpha() </a:t>
            </a:r>
            <a:endParaRPr lang="en-US" altLang="zh-CN" sz="1350" noProof="1">
              <a:latin typeface="Consolas" panose="020B0609020204030204" charset="0"/>
            </a:endParaRPr>
          </a:p>
          <a:p>
            <a:pPr marL="0" indent="0">
              <a:spcBef>
                <a:spcPts val="0"/>
              </a:spcBef>
              <a:buNone/>
            </a:pPr>
            <a:r>
              <a:rPr lang="zh-CN" altLang="en-US" sz="1350" noProof="1">
                <a:solidFill>
                  <a:srgbClr val="0000FF"/>
                </a:solidFill>
                <a:latin typeface="Consolas" panose="020B0609020204030204" charset="0"/>
              </a:rPr>
              <a:t>False</a:t>
            </a:r>
          </a:p>
          <a:p>
            <a:pPr marL="0" indent="0">
              <a:spcBef>
                <a:spcPts val="0"/>
              </a:spcBef>
              <a:buNone/>
            </a:pPr>
            <a:r>
              <a:rPr lang="zh-CN" altLang="en-US" sz="1350" noProof="1">
                <a:latin typeface="Consolas" panose="020B0609020204030204" charset="0"/>
              </a:rPr>
              <a:t>&gt;&gt;&gt; '1234abcd'.isdigit() </a:t>
            </a:r>
            <a:endParaRPr lang="en-US" altLang="zh-CN" sz="1350" noProof="1">
              <a:latin typeface="Consolas" panose="020B0609020204030204" charset="0"/>
            </a:endParaRPr>
          </a:p>
          <a:p>
            <a:pPr marL="0" indent="0">
              <a:spcBef>
                <a:spcPts val="0"/>
              </a:spcBef>
              <a:buNone/>
            </a:pPr>
            <a:r>
              <a:rPr lang="zh-CN" altLang="en-US" sz="1350" noProof="1">
                <a:solidFill>
                  <a:srgbClr val="0000FF"/>
                </a:solidFill>
                <a:latin typeface="Consolas" panose="020B0609020204030204" charset="0"/>
              </a:rPr>
              <a:t>False</a:t>
            </a:r>
          </a:p>
          <a:p>
            <a:pPr marL="0" indent="0">
              <a:spcBef>
                <a:spcPts val="0"/>
              </a:spcBef>
              <a:buNone/>
            </a:pPr>
            <a:r>
              <a:rPr lang="zh-CN" altLang="en-US" sz="1350" noProof="1">
                <a:latin typeface="Consolas" panose="020B0609020204030204" charset="0"/>
              </a:rPr>
              <a:t>&gt;&gt;&gt; 'abcd'.isalpha()</a:t>
            </a:r>
          </a:p>
          <a:p>
            <a:pPr marL="0" indent="0">
              <a:spcBef>
                <a:spcPts val="0"/>
              </a:spcBef>
              <a:buNone/>
            </a:pPr>
            <a:r>
              <a:rPr lang="zh-CN" altLang="en-US" sz="1350" noProof="1">
                <a:solidFill>
                  <a:srgbClr val="0000FF"/>
                </a:solidFill>
                <a:latin typeface="Consolas" panose="020B0609020204030204" charset="0"/>
              </a:rPr>
              <a:t>True</a:t>
            </a:r>
          </a:p>
          <a:p>
            <a:pPr marL="0" indent="0">
              <a:spcBef>
                <a:spcPts val="0"/>
              </a:spcBef>
              <a:buNone/>
            </a:pPr>
            <a:r>
              <a:rPr lang="zh-CN" altLang="en-US" sz="1350" noProof="1">
                <a:latin typeface="Consolas" panose="020B0609020204030204" charset="0"/>
              </a:rPr>
              <a:t>&gt;&gt;&gt; '1234.0'.isdigit()</a:t>
            </a:r>
          </a:p>
          <a:p>
            <a:pPr marL="0" indent="0">
              <a:spcBef>
                <a:spcPts val="0"/>
              </a:spcBef>
              <a:buNone/>
            </a:pPr>
            <a:r>
              <a:rPr lang="zh-CN" altLang="en-US" sz="1350" noProof="1">
                <a:solidFill>
                  <a:srgbClr val="0000FF"/>
                </a:solidFill>
                <a:latin typeface="Consolas" panose="020B0609020204030204" charset="0"/>
              </a:rPr>
              <a:t>False</a:t>
            </a:r>
          </a:p>
        </p:txBody>
      </p:sp>
      <p:sp>
        <p:nvSpPr>
          <p:cNvPr id="67587"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38</a:t>
            </a:fld>
            <a:endParaRPr lang="zh-CN" altLang="en-US" sz="1050" dirty="0"/>
          </a:p>
        </p:txBody>
      </p:sp>
      <p:grpSp>
        <p:nvGrpSpPr>
          <p:cNvPr id="6" name="组合 114"/>
          <p:cNvGrpSpPr/>
          <p:nvPr/>
        </p:nvGrpSpPr>
        <p:grpSpPr>
          <a:xfrm>
            <a:off x="-540568" y="116632"/>
            <a:ext cx="6225040" cy="662730"/>
            <a:chOff x="-198275" y="3380765"/>
            <a:chExt cx="6225040" cy="662730"/>
          </a:xfrm>
        </p:grpSpPr>
        <p:grpSp>
          <p:nvGrpSpPr>
            <p:cNvPr id="7" name="组合 105"/>
            <p:cNvGrpSpPr/>
            <p:nvPr/>
          </p:nvGrpSpPr>
          <p:grpSpPr>
            <a:xfrm>
              <a:off x="-198275" y="3380765"/>
              <a:ext cx="6225040" cy="662730"/>
              <a:chOff x="-198275"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2" name="内容占位符 2"/>
          <p:cNvSpPr txBox="1"/>
          <p:nvPr/>
        </p:nvSpPr>
        <p:spPr bwMode="auto">
          <a:xfrm>
            <a:off x="3059832" y="2924944"/>
            <a:ext cx="7295515" cy="358203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SzPct val="70000"/>
              <a:buFont typeface="Arial" panose="020B0604020202020204" pitchFamily="34" charset="0"/>
              <a:buNone/>
            </a:pPr>
            <a:r>
              <a:rPr lang="zh-CN" altLang="en-US" sz="1350" dirty="0">
                <a:latin typeface="Consolas" panose="020B0609020204030204" charset="0"/>
                <a:sym typeface="Arial" panose="020B0604020202020204" pitchFamily="34" charset="0"/>
              </a:rPr>
              <a:t>&gt;&gt;&gt; '1234'.isdigit()</a:t>
            </a:r>
            <a:endParaRPr lang="zh-CN" altLang="en-US" sz="1350" dirty="0">
              <a:latin typeface="Consolas" panose="020B0609020204030204" charset="0"/>
            </a:endParaRPr>
          </a:p>
          <a:p>
            <a:pPr marL="0" indent="0">
              <a:buSzPct val="70000"/>
              <a:buFont typeface="Arial" panose="020B0604020202020204" pitchFamily="34" charset="0"/>
              <a:buNone/>
            </a:pPr>
            <a:r>
              <a:rPr lang="zh-CN" altLang="en-US" sz="1350" dirty="0">
                <a:solidFill>
                  <a:srgbClr val="0000FF"/>
                </a:solidFill>
                <a:latin typeface="Consolas" panose="020B0609020204030204" charset="0"/>
                <a:sym typeface="Arial" panose="020B0604020202020204" pitchFamily="34" charset="0"/>
              </a:rPr>
              <a:t>True</a:t>
            </a:r>
          </a:p>
          <a:p>
            <a:pPr marL="0" indent="0">
              <a:buSzPct val="70000"/>
              <a:buFont typeface="Arial" panose="020B0604020202020204" pitchFamily="34" charset="0"/>
              <a:buNone/>
            </a:pPr>
            <a:r>
              <a:rPr lang="zh-CN" altLang="en-US" sz="1350" dirty="0">
                <a:latin typeface="Consolas" panose="020B0609020204030204" charset="0"/>
                <a:sym typeface="Arial" panose="020B0604020202020204" pitchFamily="34" charset="0"/>
              </a:rPr>
              <a:t>&gt;&gt;&gt; ‘九’.isnumeric() #isnumeric()方法支持汉字数字，人民币：贰、仟 </a:t>
            </a:r>
            <a:endParaRPr lang="zh-CN" altLang="en-US" sz="1350" dirty="0">
              <a:latin typeface="Consolas" panose="020B0609020204030204" charset="0"/>
            </a:endParaRPr>
          </a:p>
          <a:p>
            <a:pPr marL="0" indent="0">
              <a:buSzPct val="70000"/>
              <a:buFont typeface="Arial" panose="020B0604020202020204" pitchFamily="34" charset="0"/>
              <a:buNone/>
            </a:pPr>
            <a:r>
              <a:rPr lang="zh-CN" altLang="en-US" sz="1350" dirty="0">
                <a:solidFill>
                  <a:srgbClr val="0000FF"/>
                </a:solidFill>
                <a:latin typeface="Consolas" panose="020B0609020204030204" charset="0"/>
                <a:sym typeface="Arial" panose="020B0604020202020204" pitchFamily="34" charset="0"/>
              </a:rPr>
              <a:t>True</a:t>
            </a:r>
          </a:p>
          <a:p>
            <a:pPr marL="0" indent="0">
              <a:buSzPct val="70000"/>
              <a:buFont typeface="Arial" panose="020B0604020202020204" pitchFamily="34" charset="0"/>
              <a:buNone/>
            </a:pPr>
            <a:r>
              <a:rPr lang="zh-CN" altLang="en-US" sz="1350" dirty="0">
                <a:latin typeface="Consolas" panose="020B0609020204030204" charset="0"/>
                <a:sym typeface="Arial" panose="020B0604020202020204" pitchFamily="34" charset="0"/>
              </a:rPr>
              <a:t>&gt;&gt;&gt; '九'.isdigit()</a:t>
            </a:r>
            <a:endParaRPr lang="zh-CN" altLang="en-US" sz="1350" dirty="0">
              <a:latin typeface="Consolas" panose="020B0609020204030204" charset="0"/>
            </a:endParaRPr>
          </a:p>
          <a:p>
            <a:pPr marL="0" indent="0">
              <a:buSzPct val="70000"/>
              <a:buFont typeface="Arial" panose="020B0604020202020204" pitchFamily="34" charset="0"/>
              <a:buNone/>
            </a:pPr>
            <a:r>
              <a:rPr lang="zh-CN" altLang="en-US" sz="1350" dirty="0">
                <a:solidFill>
                  <a:srgbClr val="0000FF"/>
                </a:solidFill>
                <a:latin typeface="Consolas" panose="020B0609020204030204" charset="0"/>
                <a:sym typeface="Arial" panose="020B0604020202020204" pitchFamily="34" charset="0"/>
              </a:rPr>
              <a:t>False</a:t>
            </a:r>
          </a:p>
          <a:p>
            <a:pPr marL="0" indent="0">
              <a:buSzPct val="70000"/>
              <a:buNone/>
            </a:pPr>
            <a:r>
              <a:rPr lang="zh-CN" altLang="en-US" sz="1350" dirty="0">
                <a:latin typeface="Consolas" panose="020B0609020204030204" charset="0"/>
                <a:sym typeface="Arial" panose="020B0604020202020204" pitchFamily="34" charset="0"/>
              </a:rPr>
              <a:t>&gt;&gt;&gt; '九'.isdecimal()  </a:t>
            </a:r>
            <a:endParaRPr lang="zh-CN" altLang="en-US" sz="1350" dirty="0">
              <a:latin typeface="Consolas" panose="020B0609020204030204" charset="0"/>
            </a:endParaRPr>
          </a:p>
          <a:p>
            <a:pPr marL="0" indent="0">
              <a:buSzPct val="70000"/>
              <a:buFont typeface="Arial" panose="020B0604020202020204" pitchFamily="34" charset="0"/>
              <a:buNone/>
            </a:pPr>
            <a:r>
              <a:rPr lang="zh-CN" altLang="en-US" sz="1350" dirty="0">
                <a:solidFill>
                  <a:srgbClr val="0000FF"/>
                </a:solidFill>
                <a:latin typeface="Consolas" panose="020B0609020204030204" charset="0"/>
                <a:sym typeface="Arial" panose="020B0604020202020204" pitchFamily="34" charset="0"/>
              </a:rPr>
              <a:t>False</a:t>
            </a:r>
          </a:p>
          <a:p>
            <a:pPr marL="0" indent="0">
              <a:buSzPct val="70000"/>
              <a:buFont typeface="Arial" panose="020B0604020202020204" pitchFamily="34" charset="0"/>
              <a:buNone/>
            </a:pPr>
            <a:r>
              <a:rPr lang="zh-CN" altLang="en-US" sz="1350" dirty="0">
                <a:latin typeface="Consolas" panose="020B0609020204030204" charset="0"/>
                <a:sym typeface="Arial" panose="020B0604020202020204" pitchFamily="34" charset="0"/>
              </a:rPr>
              <a:t>&gt;&gt;&gt; 'ⅣⅢⅩ'.isdecimal()</a:t>
            </a:r>
            <a:endParaRPr lang="zh-CN" altLang="en-US" sz="1350" dirty="0">
              <a:latin typeface="Consolas" panose="020B0609020204030204" charset="0"/>
            </a:endParaRPr>
          </a:p>
          <a:p>
            <a:pPr marL="0" indent="0">
              <a:buSzPct val="70000"/>
              <a:buFont typeface="Arial" panose="020B0604020202020204" pitchFamily="34" charset="0"/>
              <a:buNone/>
            </a:pPr>
            <a:r>
              <a:rPr lang="zh-CN" altLang="en-US" sz="1350" dirty="0">
                <a:solidFill>
                  <a:srgbClr val="0000FF"/>
                </a:solidFill>
                <a:latin typeface="Consolas" panose="020B0609020204030204" charset="0"/>
                <a:sym typeface="Arial" panose="020B0604020202020204" pitchFamily="34" charset="0"/>
              </a:rPr>
              <a:t>False</a:t>
            </a:r>
          </a:p>
          <a:p>
            <a:pPr marL="0" indent="0">
              <a:buSzPct val="70000"/>
              <a:buFont typeface="Arial" panose="020B0604020202020204" pitchFamily="34" charset="0"/>
              <a:buNone/>
            </a:pPr>
            <a:r>
              <a:rPr lang="zh-CN" altLang="en-US" sz="1350" dirty="0">
                <a:latin typeface="Consolas" panose="020B0609020204030204" charset="0"/>
                <a:sym typeface="Arial" panose="020B0604020202020204" pitchFamily="34" charset="0"/>
              </a:rPr>
              <a:t>&gt;&gt;&gt; 'ⅣⅢⅩ'.isdigit()</a:t>
            </a:r>
            <a:endParaRPr lang="zh-CN" altLang="en-US" sz="1350" dirty="0">
              <a:latin typeface="Consolas" panose="020B0609020204030204" charset="0"/>
            </a:endParaRPr>
          </a:p>
          <a:p>
            <a:pPr marL="0" indent="0">
              <a:buSzPct val="70000"/>
              <a:buFont typeface="Arial" panose="020B0604020202020204" pitchFamily="34" charset="0"/>
              <a:buNone/>
            </a:pPr>
            <a:r>
              <a:rPr lang="zh-CN" altLang="en-US" sz="1350" dirty="0">
                <a:solidFill>
                  <a:srgbClr val="0000FF"/>
                </a:solidFill>
                <a:latin typeface="Consolas" panose="020B0609020204030204" charset="0"/>
                <a:sym typeface="Arial" panose="020B0604020202020204" pitchFamily="34" charset="0"/>
              </a:rPr>
              <a:t>False</a:t>
            </a:r>
          </a:p>
          <a:p>
            <a:pPr marL="0" indent="0">
              <a:buSzPct val="70000"/>
              <a:buFont typeface="Arial" panose="020B0604020202020204" pitchFamily="34" charset="0"/>
              <a:buNone/>
            </a:pPr>
            <a:r>
              <a:rPr lang="zh-CN" altLang="en-US" sz="1350" dirty="0">
                <a:latin typeface="Consolas" panose="020B0609020204030204" charset="0"/>
                <a:sym typeface="Arial" panose="020B0604020202020204" pitchFamily="34" charset="0"/>
              </a:rPr>
              <a:t>&gt;&gt;&gt; 'ⅣⅢⅩ'.isnumeric()         #支持罗马数字</a:t>
            </a:r>
            <a:endParaRPr lang="zh-CN" altLang="en-US" sz="1350" dirty="0">
              <a:latin typeface="Consolas" panose="020B0609020204030204" charset="0"/>
            </a:endParaRPr>
          </a:p>
          <a:p>
            <a:pPr marL="0" indent="0">
              <a:buSzPct val="70000"/>
              <a:buFont typeface="Arial" panose="020B0604020202020204" pitchFamily="34" charset="0"/>
              <a:buNone/>
            </a:pPr>
            <a:r>
              <a:rPr lang="zh-CN" altLang="en-US" sz="1350" dirty="0">
                <a:solidFill>
                  <a:srgbClr val="0000FF"/>
                </a:solidFill>
                <a:latin typeface="Consolas" panose="020B0609020204030204" charset="0"/>
                <a:sym typeface="Arial" panose="020B0604020202020204" pitchFamily="34" charset="0"/>
              </a:rPr>
              <a:t>True</a:t>
            </a:r>
          </a:p>
        </p:txBody>
      </p:sp>
      <p:sp>
        <p:nvSpPr>
          <p:cNvPr id="13" name="文本框 12"/>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4.1.3 </a:t>
            </a:r>
            <a:r>
              <a:rPr lang="zh-CN" altLang="en-US" sz="2800" b="1" dirty="0">
                <a:latin typeface="Times New Roman" panose="02020603050405020304" pitchFamily="18" charset="0"/>
                <a:ea typeface="仿宋" panose="02010609060101010101" pitchFamily="49" charset="-122"/>
              </a:rPr>
              <a:t>字符串常用方法</a:t>
            </a:r>
            <a:endParaRPr lang="en-US" altLang="zh-CN" sz="2800" b="1" dirty="0">
              <a:ea typeface="仿宋" panose="02010609060101010101" pitchFamily="49" charset="-122"/>
            </a:endParaRPr>
          </a:p>
        </p:txBody>
      </p:sp>
      <p:sp>
        <p:nvSpPr>
          <p:cNvPr id="2" name="文本框 1"/>
          <p:cNvSpPr txBox="1"/>
          <p:nvPr/>
        </p:nvSpPr>
        <p:spPr>
          <a:xfrm>
            <a:off x="5358962" y="3717032"/>
            <a:ext cx="3749541" cy="1938992"/>
          </a:xfrm>
          <a:prstGeom prst="rect">
            <a:avLst/>
          </a:prstGeom>
          <a:noFill/>
        </p:spPr>
        <p:txBody>
          <a:bodyPr wrap="square" rtlCol="0">
            <a:spAutoFit/>
          </a:bodyPr>
          <a:lstStyle/>
          <a:p>
            <a:pPr algn="l" latinLnBrk="1">
              <a:buFont typeface="Arial" panose="020B0604020202020204" pitchFamily="34" charset="0"/>
              <a:buChar char="•"/>
            </a:pPr>
            <a:r>
              <a:rPr lang="en-US" altLang="zh-CN" sz="1200" b="0" i="0" dirty="0" err="1">
                <a:solidFill>
                  <a:srgbClr val="333333"/>
                </a:solidFill>
                <a:effectLst/>
                <a:latin typeface="Helvetica Neue"/>
              </a:rPr>
              <a:t>isdecimal</a:t>
            </a:r>
            <a:r>
              <a:rPr lang="en-US" altLang="zh-CN" sz="1200" b="0" i="0" dirty="0">
                <a:solidFill>
                  <a:srgbClr val="333333"/>
                </a:solidFill>
                <a:effectLst/>
                <a:latin typeface="Helvetica Neue"/>
              </a:rPr>
              <a:t>() </a:t>
            </a:r>
            <a:r>
              <a:rPr lang="zh-CN" altLang="en-US" sz="1200" b="0" i="0" dirty="0">
                <a:solidFill>
                  <a:srgbClr val="333333"/>
                </a:solidFill>
                <a:effectLst/>
                <a:latin typeface="Helvetica Neue"/>
              </a:rPr>
              <a:t>方法检查字符串是否只包含十进制字符。这种方法只存在于</a:t>
            </a:r>
            <a:r>
              <a:rPr lang="en-US" altLang="zh-CN" sz="1200" b="0" i="0" dirty="0" err="1">
                <a:solidFill>
                  <a:srgbClr val="333333"/>
                </a:solidFill>
                <a:effectLst/>
                <a:latin typeface="Helvetica Neue"/>
              </a:rPr>
              <a:t>unicode</a:t>
            </a:r>
            <a:r>
              <a:rPr lang="zh-CN" altLang="en-US" sz="1200" b="0" i="0" dirty="0">
                <a:solidFill>
                  <a:srgbClr val="333333"/>
                </a:solidFill>
                <a:effectLst/>
                <a:latin typeface="Helvetica Neue"/>
              </a:rPr>
              <a:t>对象。</a:t>
            </a:r>
            <a:r>
              <a:rPr lang="en-US" altLang="zh-CN" sz="1200" b="1" i="0" dirty="0">
                <a:solidFill>
                  <a:srgbClr val="333333"/>
                </a:solidFill>
                <a:effectLst/>
                <a:latin typeface="Helvetica Neue"/>
              </a:rPr>
              <a:t> True</a:t>
            </a:r>
            <a:r>
              <a:rPr lang="en-US" altLang="zh-CN" sz="1200" b="0" i="0" dirty="0">
                <a:solidFill>
                  <a:srgbClr val="333333"/>
                </a:solidFill>
                <a:effectLst/>
                <a:latin typeface="Helvetica Neue"/>
              </a:rPr>
              <a:t> - </a:t>
            </a:r>
            <a:r>
              <a:rPr lang="zh-CN" altLang="en-US" sz="1200" b="0" i="0" dirty="0">
                <a:solidFill>
                  <a:srgbClr val="333333"/>
                </a:solidFill>
                <a:effectLst/>
                <a:latin typeface="Helvetica Neue"/>
              </a:rPr>
              <a:t>如果字符串中的所有字符都是十进制字符。</a:t>
            </a:r>
            <a:r>
              <a:rPr lang="en-US" altLang="zh-CN" sz="1200" b="1" i="0" dirty="0">
                <a:solidFill>
                  <a:srgbClr val="333333"/>
                </a:solidFill>
                <a:effectLst/>
                <a:latin typeface="Helvetica Neue"/>
              </a:rPr>
              <a:t>False</a:t>
            </a:r>
            <a:r>
              <a:rPr lang="en-US" altLang="zh-CN" sz="1200" b="0" i="0" dirty="0">
                <a:solidFill>
                  <a:srgbClr val="333333"/>
                </a:solidFill>
                <a:effectLst/>
                <a:latin typeface="Helvetica Neue"/>
              </a:rPr>
              <a:t> - </a:t>
            </a:r>
            <a:r>
              <a:rPr lang="zh-CN" altLang="en-US" sz="1200" b="0" i="0" dirty="0">
                <a:solidFill>
                  <a:srgbClr val="333333"/>
                </a:solidFill>
                <a:effectLst/>
                <a:latin typeface="Helvetica Neue"/>
              </a:rPr>
              <a:t>至少一个字符不是十进制字符。</a:t>
            </a:r>
          </a:p>
          <a:p>
            <a:endParaRPr lang="en-US" altLang="zh-CN" sz="1200" b="0" i="0" dirty="0">
              <a:solidFill>
                <a:srgbClr val="333333"/>
              </a:solidFill>
              <a:effectLst/>
              <a:latin typeface="Helvetica Neue"/>
            </a:endParaRPr>
          </a:p>
          <a:p>
            <a:endParaRPr lang="en-US" altLang="zh-CN" sz="1200" dirty="0">
              <a:solidFill>
                <a:srgbClr val="333333"/>
              </a:solidFill>
              <a:latin typeface="Helvetica Neue"/>
            </a:endParaRPr>
          </a:p>
          <a:p>
            <a:endParaRPr lang="en-US" altLang="zh-CN" sz="1200" b="0" i="0" dirty="0">
              <a:solidFill>
                <a:srgbClr val="333333"/>
              </a:solidFill>
              <a:effectLst/>
              <a:latin typeface="Helvetica Neue"/>
            </a:endParaRPr>
          </a:p>
          <a:p>
            <a:endParaRPr lang="en-US" altLang="zh-CN" sz="1200" dirty="0">
              <a:solidFill>
                <a:srgbClr val="333333"/>
              </a:solidFill>
              <a:latin typeface="Helvetica Neue"/>
            </a:endParaRPr>
          </a:p>
          <a:p>
            <a:endParaRPr lang="en-US" altLang="zh-CN" sz="1200" b="0" i="0" dirty="0">
              <a:solidFill>
                <a:srgbClr val="333333"/>
              </a:solidFill>
              <a:effectLst/>
              <a:latin typeface="Helvetica Neue"/>
            </a:endParaRPr>
          </a:p>
          <a:p>
            <a:r>
              <a:rPr lang="en-US" altLang="zh-CN" sz="1200" b="0" i="0" dirty="0" err="1">
                <a:solidFill>
                  <a:srgbClr val="333333"/>
                </a:solidFill>
                <a:effectLst/>
                <a:latin typeface="Helvetica Neue"/>
              </a:rPr>
              <a:t>isdigit</a:t>
            </a:r>
            <a:r>
              <a:rPr lang="en-US" altLang="zh-CN" sz="1200" b="0" i="0" dirty="0">
                <a:solidFill>
                  <a:srgbClr val="333333"/>
                </a:solidFill>
                <a:effectLst/>
                <a:latin typeface="Helvetica Neue"/>
              </a:rPr>
              <a:t>() </a:t>
            </a:r>
            <a:r>
              <a:rPr lang="zh-CN" altLang="en-US" sz="1200" b="0" i="0" dirty="0">
                <a:solidFill>
                  <a:srgbClr val="333333"/>
                </a:solidFill>
                <a:effectLst/>
                <a:latin typeface="Helvetica Neue"/>
              </a:rPr>
              <a:t>方法检测字符串是否只由数字组成。</a:t>
            </a:r>
            <a:endParaRPr lang="zh-CN" altLang="en-US" sz="1200" dirty="0"/>
          </a:p>
        </p:txBody>
      </p:sp>
      <p:pic>
        <p:nvPicPr>
          <p:cNvPr id="5" name="图片 4"/>
          <p:cNvPicPr>
            <a:picLocks noChangeAspect="1"/>
          </p:cNvPicPr>
          <p:nvPr/>
        </p:nvPicPr>
        <p:blipFill>
          <a:blip r:embed="rId4"/>
          <a:stretch>
            <a:fillRect/>
          </a:stretch>
        </p:blipFill>
        <p:spPr>
          <a:xfrm>
            <a:off x="6948264" y="4365104"/>
            <a:ext cx="1331827" cy="459679"/>
          </a:xfrm>
          <a:prstGeom prst="rect">
            <a:avLst/>
          </a:prstGeom>
        </p:spPr>
      </p:pic>
    </p:spTree>
    <p:extLst>
      <p:ext uri="{BB962C8B-B14F-4D97-AF65-F5344CB8AC3E}">
        <p14:creationId xmlns:p14="http://schemas.microsoft.com/office/powerpoint/2010/main" val="949527600"/>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 grpId="0"/>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0865" y="1052736"/>
            <a:ext cx="8115935" cy="3395345"/>
          </a:xfrm>
        </p:spPr>
        <p:txBody>
          <a:bodyPr/>
          <a:lstStyle/>
          <a:p>
            <a:pPr>
              <a:spcBef>
                <a:spcPts val="600"/>
              </a:spcBef>
              <a:buClr>
                <a:srgbClr val="FF0000"/>
              </a:buClr>
              <a:buFont typeface="Wingdings" panose="05000000000000000000" charset="0"/>
              <a:buChar char="n"/>
            </a:pPr>
            <a:r>
              <a:rPr lang="zh-CN" altLang="en-US" sz="2000" b="1" noProof="1"/>
              <a:t>除了字符串对象提供的方法以外，很多Python内置函数也可以对字符串进行操作</a:t>
            </a:r>
          </a:p>
          <a:p>
            <a:pPr marL="0" indent="0">
              <a:spcBef>
                <a:spcPts val="0"/>
              </a:spcBef>
              <a:buNone/>
            </a:pPr>
            <a:endParaRPr lang="en-US" altLang="zh-CN" sz="1350" noProof="1">
              <a:latin typeface="Consolas" panose="020B0609020204030204" charset="0"/>
            </a:endParaRPr>
          </a:p>
          <a:p>
            <a:pPr marL="0" indent="0">
              <a:spcBef>
                <a:spcPts val="0"/>
              </a:spcBef>
              <a:buNone/>
            </a:pPr>
            <a:r>
              <a:rPr lang="zh-CN" altLang="en-US" sz="1350" noProof="1">
                <a:latin typeface="Consolas" panose="020B0609020204030204" charset="0"/>
              </a:rPr>
              <a:t>&gt;&gt;&gt; x = 'Hello world.'</a:t>
            </a:r>
          </a:p>
          <a:p>
            <a:pPr marL="0" indent="0">
              <a:spcBef>
                <a:spcPts val="0"/>
              </a:spcBef>
              <a:buNone/>
            </a:pPr>
            <a:r>
              <a:rPr lang="zh-CN" altLang="en-US" sz="1350" noProof="1">
                <a:latin typeface="Consolas" panose="020B0609020204030204" charset="0"/>
              </a:rPr>
              <a:t>&gt;&gt;&gt; len(x)                    #字符串长度</a:t>
            </a:r>
          </a:p>
          <a:p>
            <a:pPr marL="0" indent="0">
              <a:spcBef>
                <a:spcPts val="0"/>
              </a:spcBef>
              <a:buNone/>
            </a:pPr>
            <a:r>
              <a:rPr lang="zh-CN" altLang="en-US" sz="1350" noProof="1">
                <a:solidFill>
                  <a:srgbClr val="0000FF"/>
                </a:solidFill>
                <a:latin typeface="Consolas" panose="020B0609020204030204" charset="0"/>
              </a:rPr>
              <a:t>12</a:t>
            </a:r>
          </a:p>
          <a:p>
            <a:pPr marL="0" indent="0">
              <a:spcBef>
                <a:spcPts val="0"/>
              </a:spcBef>
              <a:buNone/>
            </a:pPr>
            <a:r>
              <a:rPr lang="zh-CN" altLang="en-US" sz="1350" noProof="1">
                <a:latin typeface="Consolas" panose="020B0609020204030204" charset="0"/>
              </a:rPr>
              <a:t>&gt;&gt;&gt; max(x)                    #最大字符</a:t>
            </a:r>
          </a:p>
          <a:p>
            <a:pPr marL="0" indent="0">
              <a:spcBef>
                <a:spcPts val="0"/>
              </a:spcBef>
              <a:buNone/>
            </a:pPr>
            <a:r>
              <a:rPr lang="zh-CN" altLang="en-US" sz="1350" noProof="1">
                <a:solidFill>
                  <a:srgbClr val="0000FF"/>
                </a:solidFill>
                <a:latin typeface="Consolas" panose="020B0609020204030204" charset="0"/>
              </a:rPr>
              <a:t>'w'</a:t>
            </a:r>
          </a:p>
          <a:p>
            <a:pPr marL="0" indent="0">
              <a:spcBef>
                <a:spcPts val="0"/>
              </a:spcBef>
              <a:buNone/>
            </a:pPr>
            <a:r>
              <a:rPr lang="zh-CN" altLang="en-US" sz="1350" noProof="1">
                <a:latin typeface="Consolas" panose="020B0609020204030204" charset="0"/>
              </a:rPr>
              <a:t>&gt;&gt;&gt; min(x)</a:t>
            </a:r>
          </a:p>
          <a:p>
            <a:pPr marL="0" indent="0">
              <a:spcBef>
                <a:spcPts val="0"/>
              </a:spcBef>
              <a:buNone/>
            </a:pPr>
            <a:r>
              <a:rPr lang="zh-CN" altLang="en-US" sz="1350" noProof="1">
                <a:solidFill>
                  <a:srgbClr val="0000FF"/>
                </a:solidFill>
                <a:latin typeface="Consolas" panose="020B0609020204030204" charset="0"/>
              </a:rPr>
              <a:t>' '</a:t>
            </a:r>
          </a:p>
          <a:p>
            <a:pPr marL="0" indent="0">
              <a:spcBef>
                <a:spcPts val="0"/>
              </a:spcBef>
              <a:buNone/>
            </a:pPr>
            <a:r>
              <a:rPr lang="zh-CN" altLang="en-US" sz="1350" noProof="1">
                <a:latin typeface="Consolas" panose="020B0609020204030204" charset="0"/>
              </a:rPr>
              <a:t>&gt;&gt;&gt; list(zip(x,x))            #zip()也可以作用于字符串</a:t>
            </a:r>
          </a:p>
          <a:p>
            <a:pPr marL="0" indent="0">
              <a:spcBef>
                <a:spcPts val="0"/>
              </a:spcBef>
              <a:buNone/>
            </a:pPr>
            <a:r>
              <a:rPr lang="zh-CN" altLang="en-US" sz="1350" noProof="1">
                <a:solidFill>
                  <a:srgbClr val="0000FF"/>
                </a:solidFill>
                <a:latin typeface="Consolas" panose="020B0609020204030204" charset="0"/>
              </a:rPr>
              <a:t>[('H', 'H'), ('e', 'e'), ('l', 'l'), ('l', 'l'), ('o', 'o'), (' ', ' '), ('w', 'w'), ('o', 'o'), ('r', 'r'), ('l', 'l'), ('d', 'd'), ('.', '.')]</a:t>
            </a:r>
          </a:p>
          <a:p>
            <a:pPr marL="0" indent="0">
              <a:spcBef>
                <a:spcPts val="0"/>
              </a:spcBef>
              <a:buNone/>
            </a:pPr>
            <a:r>
              <a:rPr lang="zh-CN" altLang="en-US" sz="1350" noProof="1">
                <a:latin typeface="Consolas" panose="020B0609020204030204" charset="0"/>
              </a:rPr>
              <a:t>&gt;&gt;&gt; max(['abc', 'ABD'], key=</a:t>
            </a:r>
            <a:r>
              <a:rPr lang="en-US" altLang="zh-CN" sz="1350" noProof="1">
                <a:latin typeface="Consolas" panose="020B0609020204030204" charset="0"/>
              </a:rPr>
              <a:t>lambda item:item.</a:t>
            </a:r>
            <a:r>
              <a:rPr lang="zh-CN" altLang="en-US" sz="1350" noProof="1">
                <a:latin typeface="Consolas" panose="020B0609020204030204" charset="0"/>
              </a:rPr>
              <a:t>upper</a:t>
            </a:r>
            <a:r>
              <a:rPr lang="en-US" altLang="zh-CN" sz="1350" noProof="1">
                <a:latin typeface="Consolas" panose="020B0609020204030204" charset="0"/>
              </a:rPr>
              <a:t>()</a:t>
            </a:r>
            <a:r>
              <a:rPr lang="zh-CN" altLang="en-US" sz="1350" noProof="1">
                <a:latin typeface="Consolas" panose="020B0609020204030204" charset="0"/>
              </a:rPr>
              <a:t>) </a:t>
            </a:r>
            <a:r>
              <a:rPr lang="en-US" altLang="zh-CN" sz="1350" noProof="1">
                <a:latin typeface="Consolas" panose="020B0609020204030204" charset="0"/>
              </a:rPr>
              <a:t>#</a:t>
            </a:r>
            <a:r>
              <a:rPr lang="zh-CN" altLang="en-US" sz="1350" noProof="1">
                <a:latin typeface="Consolas" panose="020B0609020204030204" charset="0"/>
              </a:rPr>
              <a:t>忽略大小写</a:t>
            </a:r>
          </a:p>
          <a:p>
            <a:pPr marL="0" indent="0">
              <a:spcBef>
                <a:spcPts val="0"/>
              </a:spcBef>
              <a:buNone/>
            </a:pPr>
            <a:r>
              <a:rPr lang="zh-CN" altLang="en-US" sz="1350" noProof="1">
                <a:solidFill>
                  <a:srgbClr val="0000FF"/>
                </a:solidFill>
                <a:latin typeface="Consolas" panose="020B0609020204030204" charset="0"/>
              </a:rPr>
              <a:t>'ABD'</a:t>
            </a:r>
          </a:p>
        </p:txBody>
      </p:sp>
      <p:sp>
        <p:nvSpPr>
          <p:cNvPr id="69635"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39</a:t>
            </a:fld>
            <a:endParaRPr lang="zh-CN" altLang="en-US" sz="1050" dirty="0"/>
          </a:p>
        </p:txBody>
      </p:sp>
      <p:grpSp>
        <p:nvGrpSpPr>
          <p:cNvPr id="6" name="组合 114"/>
          <p:cNvGrpSpPr/>
          <p:nvPr/>
        </p:nvGrpSpPr>
        <p:grpSpPr>
          <a:xfrm>
            <a:off x="-540568" y="116632"/>
            <a:ext cx="6225040" cy="662730"/>
            <a:chOff x="-198275" y="3380765"/>
            <a:chExt cx="6225040" cy="662730"/>
          </a:xfrm>
        </p:grpSpPr>
        <p:grpSp>
          <p:nvGrpSpPr>
            <p:cNvPr id="7" name="组合 105"/>
            <p:cNvGrpSpPr/>
            <p:nvPr/>
          </p:nvGrpSpPr>
          <p:grpSpPr>
            <a:xfrm>
              <a:off x="-198275" y="3380765"/>
              <a:ext cx="6225040" cy="662730"/>
              <a:chOff x="-198275"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1" name="内容占位符 2"/>
          <p:cNvSpPr txBox="1"/>
          <p:nvPr/>
        </p:nvSpPr>
        <p:spPr bwMode="auto">
          <a:xfrm>
            <a:off x="570865" y="4448081"/>
            <a:ext cx="8001000" cy="339534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spcBef>
                <a:spcPts val="0"/>
              </a:spcBef>
              <a:buFont typeface="Wingdings" panose="05000000000000000000" charset="0"/>
              <a:buChar char="n"/>
            </a:pPr>
            <a:r>
              <a:rPr lang="zh-CN" altLang="en-US" sz="1800" b="1" noProof="1">
                <a:solidFill>
                  <a:srgbClr val="FF0000"/>
                </a:solidFill>
              </a:rPr>
              <a:t>切片</a:t>
            </a:r>
            <a:r>
              <a:rPr lang="zh-CN" altLang="en-US" sz="1800" b="1" noProof="1"/>
              <a:t>也适用于字符串，但</a:t>
            </a:r>
            <a:r>
              <a:rPr lang="zh-CN" altLang="en-US" sz="1800" b="1" noProof="1">
                <a:solidFill>
                  <a:srgbClr val="FF0000"/>
                </a:solidFill>
              </a:rPr>
              <a:t>仅限于读取</a:t>
            </a:r>
            <a:r>
              <a:rPr lang="zh-CN" altLang="en-US" sz="1800" b="1" noProof="1"/>
              <a:t>其中的元素，不支持字符串修改。</a:t>
            </a:r>
          </a:p>
          <a:p>
            <a:pPr marL="0" indent="0">
              <a:buFont typeface="Arial" panose="020B0604020202020204" pitchFamily="34" charset="0"/>
              <a:buNone/>
            </a:pPr>
            <a:endParaRPr lang="zh-CN" altLang="en-US" sz="1500" noProof="1"/>
          </a:p>
          <a:p>
            <a:pPr marL="0" indent="0">
              <a:buFont typeface="Arial" panose="020B0604020202020204" pitchFamily="34" charset="0"/>
              <a:buNone/>
            </a:pPr>
            <a:r>
              <a:rPr lang="zh-CN" altLang="en-US" sz="1350" noProof="1">
                <a:latin typeface="Consolas" panose="020B0609020204030204" charset="0"/>
              </a:rPr>
              <a:t>&gt;&gt;&gt; 'Explicit is better than implicit.'[:8]</a:t>
            </a:r>
          </a:p>
          <a:p>
            <a:pPr marL="0" indent="0">
              <a:buFont typeface="Arial" panose="020B0604020202020204" pitchFamily="34" charset="0"/>
              <a:buNone/>
            </a:pPr>
            <a:r>
              <a:rPr lang="zh-CN" altLang="en-US" sz="1350" noProof="1">
                <a:solidFill>
                  <a:srgbClr val="0000FF"/>
                </a:solidFill>
                <a:latin typeface="Consolas" panose="020B0609020204030204" charset="0"/>
              </a:rPr>
              <a:t>'Explicit'</a:t>
            </a:r>
          </a:p>
          <a:p>
            <a:pPr marL="0" indent="0">
              <a:buFont typeface="Arial" panose="020B0604020202020204" pitchFamily="34" charset="0"/>
              <a:buNone/>
            </a:pPr>
            <a:r>
              <a:rPr lang="zh-CN" altLang="en-US" sz="1350" noProof="1">
                <a:latin typeface="Consolas" panose="020B0609020204030204" charset="0"/>
              </a:rPr>
              <a:t>&gt;&gt;&gt; 'Explicit is better than implicit.'[9:23]</a:t>
            </a:r>
          </a:p>
          <a:p>
            <a:pPr marL="0" indent="0">
              <a:buFont typeface="Arial" panose="020B0604020202020204" pitchFamily="34" charset="0"/>
              <a:buNone/>
            </a:pPr>
            <a:r>
              <a:rPr lang="zh-CN" altLang="en-US" sz="1350" noProof="1">
                <a:solidFill>
                  <a:srgbClr val="0000FF"/>
                </a:solidFill>
                <a:latin typeface="Consolas" panose="020B0609020204030204" charset="0"/>
              </a:rPr>
              <a:t>'is better than'</a:t>
            </a:r>
          </a:p>
        </p:txBody>
      </p:sp>
    </p:spTree>
    <p:extLst>
      <p:ext uri="{BB962C8B-B14F-4D97-AF65-F5344CB8AC3E}">
        <p14:creationId xmlns:p14="http://schemas.microsoft.com/office/powerpoint/2010/main" val="1680896870"/>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40</a:t>
            </a:fld>
            <a:endParaRPr lang="zh-CN" altLang="en-US" dirty="0"/>
          </a:p>
        </p:txBody>
      </p:sp>
      <p:sp>
        <p:nvSpPr>
          <p:cNvPr id="5" name="文本占位符 41986"/>
          <p:cNvSpPr txBox="1"/>
          <p:nvPr/>
        </p:nvSpPr>
        <p:spPr bwMode="auto">
          <a:xfrm>
            <a:off x="683568" y="1052736"/>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80000"/>
              </a:lnSpc>
              <a:buClr>
                <a:srgbClr val="FF0000"/>
              </a:buClr>
              <a:buFont typeface="Wingdings" panose="05000000000000000000" pitchFamily="2" charset="2"/>
              <a:buChar char="n"/>
            </a:pPr>
            <a:r>
              <a:rPr lang="zh-CN" altLang="en-US" sz="2200" b="1" noProof="1">
                <a:latin typeface="宋体" panose="02010600030101010101" pitchFamily="2" charset="-122"/>
              </a:rPr>
              <a:t>内置函数eval()</a:t>
            </a:r>
          </a:p>
          <a:p>
            <a:pPr marL="1905" indent="-344805">
              <a:lnSpc>
                <a:spcPct val="80000"/>
              </a:lnSpc>
              <a:buFont typeface="Arial" panose="020B0604020202020204" pitchFamily="34" charset="0"/>
              <a:buNone/>
            </a:pPr>
            <a:endParaRPr lang="zh-CN" altLang="en-US" sz="1350" noProof="1">
              <a:latin typeface="Consolas" panose="020B0609020204030204" charset="0"/>
            </a:endParaRPr>
          </a:p>
          <a:p>
            <a:pPr marL="1905" indent="-344805">
              <a:lnSpc>
                <a:spcPct val="80000"/>
              </a:lnSpc>
              <a:buFont typeface="Arial" panose="020B0604020202020204" pitchFamily="34" charset="0"/>
              <a:buNone/>
            </a:pPr>
            <a:r>
              <a:rPr lang="zh-CN" altLang="en-US" sz="1350" noProof="1">
                <a:latin typeface="Consolas" panose="020B0609020204030204" charset="0"/>
              </a:rPr>
              <a:t>&gt;&gt;&gt; eval("3+4")</a:t>
            </a:r>
          </a:p>
          <a:p>
            <a:pPr marL="1905" indent="-344805">
              <a:lnSpc>
                <a:spcPct val="80000"/>
              </a:lnSpc>
              <a:buFont typeface="Arial" panose="020B0604020202020204" pitchFamily="34" charset="0"/>
              <a:buNone/>
            </a:pPr>
            <a:r>
              <a:rPr lang="zh-CN" altLang="en-US" sz="1350" noProof="1">
                <a:solidFill>
                  <a:srgbClr val="0000FF"/>
                </a:solidFill>
                <a:latin typeface="Consolas" panose="020B0609020204030204" charset="0"/>
              </a:rPr>
              <a:t>7</a:t>
            </a:r>
          </a:p>
          <a:p>
            <a:pPr marL="1905" indent="-344805">
              <a:lnSpc>
                <a:spcPct val="80000"/>
              </a:lnSpc>
              <a:buFont typeface="Arial" panose="020B0604020202020204" pitchFamily="34" charset="0"/>
              <a:buNone/>
            </a:pPr>
            <a:r>
              <a:rPr lang="zh-CN" altLang="en-US" sz="1350" noProof="1">
                <a:latin typeface="Consolas" panose="020B0609020204030204" charset="0"/>
              </a:rPr>
              <a:t>&gt;&gt;&gt; a = 3</a:t>
            </a:r>
          </a:p>
          <a:p>
            <a:pPr marL="1905" indent="-344805">
              <a:lnSpc>
                <a:spcPct val="80000"/>
              </a:lnSpc>
              <a:buFont typeface="Arial" panose="020B0604020202020204" pitchFamily="34" charset="0"/>
              <a:buNone/>
            </a:pPr>
            <a:r>
              <a:rPr lang="zh-CN" altLang="en-US" sz="1350" noProof="1">
                <a:latin typeface="Consolas" panose="020B0609020204030204" charset="0"/>
              </a:rPr>
              <a:t>&gt;&gt;&gt; b = 5</a:t>
            </a:r>
          </a:p>
          <a:p>
            <a:pPr marL="1905" indent="-344805">
              <a:lnSpc>
                <a:spcPct val="80000"/>
              </a:lnSpc>
              <a:buFont typeface="Arial" panose="020B0604020202020204" pitchFamily="34" charset="0"/>
              <a:buNone/>
            </a:pPr>
            <a:r>
              <a:rPr lang="zh-CN" altLang="en-US" sz="1350" noProof="1">
                <a:latin typeface="Consolas" panose="020B0609020204030204" charset="0"/>
              </a:rPr>
              <a:t>&gt;&gt;&gt; eval('a+b')</a:t>
            </a:r>
          </a:p>
          <a:p>
            <a:pPr marL="1905" indent="-344805">
              <a:lnSpc>
                <a:spcPct val="80000"/>
              </a:lnSpc>
              <a:buFont typeface="Arial" panose="020B0604020202020204" pitchFamily="34" charset="0"/>
              <a:buNone/>
            </a:pPr>
            <a:r>
              <a:rPr lang="zh-CN" altLang="en-US" sz="1350" noProof="1">
                <a:solidFill>
                  <a:srgbClr val="0000FF"/>
                </a:solidFill>
                <a:latin typeface="Consolas" panose="020B0609020204030204" charset="0"/>
              </a:rPr>
              <a:t>8</a:t>
            </a:r>
          </a:p>
          <a:p>
            <a:pPr marL="1905" indent="-344805">
              <a:lnSpc>
                <a:spcPct val="80000"/>
              </a:lnSpc>
              <a:buFont typeface="Arial" panose="020B0604020202020204" pitchFamily="34" charset="0"/>
              <a:buNone/>
            </a:pPr>
            <a:r>
              <a:rPr lang="zh-CN" altLang="en-US" sz="1350" noProof="1">
                <a:latin typeface="Consolas" panose="020B0609020204030204" charset="0"/>
              </a:rPr>
              <a:t>&gt;&gt;&gt; import math</a:t>
            </a:r>
          </a:p>
          <a:p>
            <a:pPr marL="1905" indent="-344805">
              <a:lnSpc>
                <a:spcPct val="80000"/>
              </a:lnSpc>
              <a:buFont typeface="Arial" panose="020B0604020202020204" pitchFamily="34" charset="0"/>
              <a:buNone/>
            </a:pPr>
            <a:r>
              <a:rPr lang="zh-CN" altLang="en-US" sz="1350" noProof="1">
                <a:latin typeface="Consolas" panose="020B0609020204030204" charset="0"/>
              </a:rPr>
              <a:t>&gt;&gt;&gt; eval('math.sqrt(3)')</a:t>
            </a:r>
          </a:p>
          <a:p>
            <a:pPr marL="1905" indent="-344805">
              <a:lnSpc>
                <a:spcPct val="80000"/>
              </a:lnSpc>
              <a:buFont typeface="Arial" panose="020B0604020202020204" pitchFamily="34" charset="0"/>
              <a:buNone/>
            </a:pPr>
            <a:r>
              <a:rPr lang="zh-CN" altLang="en-US" sz="1350" noProof="1">
                <a:solidFill>
                  <a:srgbClr val="0000FF"/>
                </a:solidFill>
                <a:latin typeface="Consolas" panose="020B0609020204030204" charset="0"/>
              </a:rPr>
              <a:t>1.7320508075688772</a:t>
            </a:r>
          </a:p>
          <a:p>
            <a:pPr marL="1905" indent="-344805">
              <a:lnSpc>
                <a:spcPct val="80000"/>
              </a:lnSpc>
              <a:buFont typeface="Arial" panose="020B0604020202020204" pitchFamily="34" charset="0"/>
              <a:buNone/>
            </a:pPr>
            <a:r>
              <a:rPr lang="zh-CN" altLang="en-US" sz="1350" noProof="1">
                <a:latin typeface="Consolas" panose="020B0609020204030204" charset="0"/>
              </a:rPr>
              <a:t>&gt;&gt;&gt; eval('aa')        </a:t>
            </a:r>
            <a:r>
              <a:rPr lang="en-US" altLang="zh-CN" sz="1350" noProof="1">
                <a:latin typeface="Consolas" panose="020B0609020204030204" charset="0"/>
              </a:rPr>
              <a:t>#</a:t>
            </a:r>
            <a:r>
              <a:rPr lang="zh-CN" altLang="en-US" sz="1350" noProof="1">
                <a:latin typeface="Consolas" panose="020B0609020204030204" charset="0"/>
              </a:rPr>
              <a:t>当前上下文中不存在对象</a:t>
            </a:r>
            <a:r>
              <a:rPr lang="en-US" altLang="zh-CN" sz="1350" noProof="1">
                <a:latin typeface="Consolas" panose="020B0609020204030204" charset="0"/>
              </a:rPr>
              <a:t>aa</a:t>
            </a:r>
          </a:p>
          <a:p>
            <a:pPr marL="1905" indent="-344805">
              <a:lnSpc>
                <a:spcPct val="80000"/>
              </a:lnSpc>
              <a:buFont typeface="Arial" panose="020B0604020202020204" pitchFamily="34" charset="0"/>
              <a:buNone/>
            </a:pPr>
            <a:r>
              <a:rPr lang="zh-CN" altLang="en-US" sz="1350" noProof="1">
                <a:solidFill>
                  <a:srgbClr val="FF0000"/>
                </a:solidFill>
                <a:latin typeface="Consolas" panose="020B0609020204030204" charset="0"/>
              </a:rPr>
              <a:t>NameError: name 'aa' is not defined</a:t>
            </a:r>
          </a:p>
          <a:p>
            <a:pPr marL="1905" indent="-344805">
              <a:lnSpc>
                <a:spcPct val="80000"/>
              </a:lnSpc>
              <a:buFont typeface="Arial" panose="020B0604020202020204" pitchFamily="34" charset="0"/>
              <a:buNone/>
            </a:pPr>
            <a:r>
              <a:rPr lang="zh-CN" altLang="en-US" sz="1350" noProof="1">
                <a:latin typeface="Consolas" panose="020B0609020204030204" charset="0"/>
              </a:rPr>
              <a:t>&gt;&gt;&gt; eval('*'.join(map(str, range(1, 6))))   </a:t>
            </a:r>
            <a:r>
              <a:rPr lang="en-US" altLang="zh-CN" sz="1350" noProof="1">
                <a:latin typeface="Consolas" panose="020B0609020204030204" charset="0"/>
              </a:rPr>
              <a:t>#5</a:t>
            </a:r>
            <a:r>
              <a:rPr lang="zh-CN" altLang="en-US" sz="1350" noProof="1">
                <a:latin typeface="Consolas" panose="020B0609020204030204" charset="0"/>
              </a:rPr>
              <a:t>的阶乘</a:t>
            </a:r>
          </a:p>
          <a:p>
            <a:pPr marL="1905" indent="-344805">
              <a:lnSpc>
                <a:spcPct val="80000"/>
              </a:lnSpc>
              <a:buFont typeface="Arial" panose="020B0604020202020204" pitchFamily="34" charset="0"/>
              <a:buNone/>
            </a:pPr>
            <a:r>
              <a:rPr lang="zh-CN" altLang="en-US" sz="1350" noProof="1">
                <a:solidFill>
                  <a:srgbClr val="0000FF"/>
                </a:solidFill>
                <a:latin typeface="Consolas" panose="020B0609020204030204" charset="0"/>
              </a:rPr>
              <a:t>120</a:t>
            </a:r>
          </a:p>
        </p:txBody>
      </p:sp>
      <p:sp>
        <p:nvSpPr>
          <p:cNvPr id="6" name="文本占位符 43010"/>
          <p:cNvSpPr>
            <a:spLocks noGrp="1"/>
          </p:cNvSpPr>
          <p:nvPr>
            <p:ph idx="1"/>
          </p:nvPr>
        </p:nvSpPr>
        <p:spPr>
          <a:xfrm>
            <a:off x="718667" y="4437112"/>
            <a:ext cx="8229600" cy="1790546"/>
          </a:xfrm>
        </p:spPr>
        <p:txBody>
          <a:bodyPr anchor="t"/>
          <a:lstStyle/>
          <a:p>
            <a:pPr>
              <a:lnSpc>
                <a:spcPct val="80000"/>
              </a:lnSpc>
              <a:buClr>
                <a:srgbClr val="FF0000"/>
              </a:buClr>
              <a:buSzPct val="70000"/>
              <a:buFont typeface="Wingdings" panose="05000000000000000000" pitchFamily="2" charset="2"/>
              <a:buChar char="n"/>
            </a:pPr>
            <a:r>
              <a:rPr lang="en-US" altLang="zh-CN" sz="2200" b="1" noProof="1">
                <a:latin typeface="宋体" panose="02010600030101010101" pitchFamily="2" charset="-122"/>
              </a:rPr>
              <a:t>eval()</a:t>
            </a:r>
            <a:r>
              <a:rPr lang="zh-CN" altLang="en-US" sz="2200" b="1" noProof="1">
                <a:latin typeface="宋体" panose="02010600030101010101" pitchFamily="2" charset="-122"/>
              </a:rPr>
              <a:t>函数是非常</a:t>
            </a:r>
            <a:r>
              <a:rPr lang="zh-CN" altLang="en-US" sz="2200" b="1" noProof="1">
                <a:solidFill>
                  <a:srgbClr val="FF0000"/>
                </a:solidFill>
                <a:latin typeface="宋体" panose="02010600030101010101" pitchFamily="2" charset="-122"/>
              </a:rPr>
              <a:t>危险</a:t>
            </a:r>
            <a:r>
              <a:rPr lang="zh-CN" altLang="en-US" sz="2200" b="1" noProof="1">
                <a:latin typeface="宋体" panose="02010600030101010101" pitchFamily="2" charset="-122"/>
              </a:rPr>
              <a:t>的</a:t>
            </a:r>
          </a:p>
          <a:p>
            <a:pPr marL="1905" indent="-344805">
              <a:buSzPct val="70000"/>
              <a:buNone/>
            </a:pPr>
            <a:endParaRPr lang="en-US" altLang="zh-CN" sz="1350" noProof="1">
              <a:latin typeface="Times New Roman" panose="02020603050405020304" pitchFamily="18" charset="0"/>
              <a:ea typeface="+mn-ea"/>
            </a:endParaRPr>
          </a:p>
          <a:p>
            <a:pPr marL="1905" indent="-344805">
              <a:lnSpc>
                <a:spcPct val="80000"/>
              </a:lnSpc>
              <a:buSzPct val="70000"/>
              <a:buNone/>
            </a:pPr>
            <a:r>
              <a:rPr lang="en-US" altLang="zh-CN" sz="1350" noProof="1">
                <a:latin typeface="Consolas" panose="020B0609020204030204" charset="0"/>
              </a:rPr>
              <a:t>&gt;&gt;&gt; a = input("Please input:")</a:t>
            </a:r>
          </a:p>
          <a:p>
            <a:pPr marL="1905" indent="-344805">
              <a:lnSpc>
                <a:spcPct val="80000"/>
              </a:lnSpc>
              <a:buSzPct val="70000"/>
              <a:buNone/>
            </a:pPr>
            <a:r>
              <a:rPr lang="en-US" altLang="zh-CN" sz="1350" noProof="1">
                <a:latin typeface="Consolas" panose="020B0609020204030204" charset="0"/>
              </a:rPr>
              <a:t>&gt;&gt;&gt; eval(a) </a:t>
            </a:r>
          </a:p>
          <a:p>
            <a:pPr marL="1905" indent="-344805">
              <a:lnSpc>
                <a:spcPct val="80000"/>
              </a:lnSpc>
              <a:buSzPct val="70000"/>
              <a:buNone/>
            </a:pPr>
            <a:r>
              <a:rPr lang="en-US" altLang="zh-CN" sz="1350" noProof="1">
                <a:solidFill>
                  <a:srgbClr val="0000FF"/>
                </a:solidFill>
                <a:latin typeface="Consolas" panose="020B0609020204030204" charset="0"/>
              </a:rPr>
              <a:t>Please input:__import__('os').startfile(r'C:\Windows\notepad.exe')</a:t>
            </a:r>
          </a:p>
          <a:p>
            <a:pPr marL="1905" indent="-344805">
              <a:lnSpc>
                <a:spcPct val="80000"/>
              </a:lnSpc>
              <a:buSzPct val="70000"/>
              <a:buNone/>
            </a:pPr>
            <a:endParaRPr lang="en-US" altLang="zh-CN" sz="1350" noProof="1">
              <a:latin typeface="Consolas" panose="020B0609020204030204" charset="0"/>
            </a:endParaRPr>
          </a:p>
          <a:p>
            <a:pPr marL="1905" indent="-344805">
              <a:lnSpc>
                <a:spcPct val="80000"/>
              </a:lnSpc>
              <a:buSzPct val="70000"/>
              <a:buNone/>
            </a:pPr>
            <a:r>
              <a:rPr lang="en-US" altLang="zh-CN" sz="1350" noProof="1">
                <a:latin typeface="Consolas" panose="020B0609020204030204" charset="0"/>
              </a:rPr>
              <a:t>&gt;&gt;&gt; eval("__import__('os').system('md testtest')")</a:t>
            </a:r>
          </a:p>
        </p:txBody>
      </p:sp>
      <p:grpSp>
        <p:nvGrpSpPr>
          <p:cNvPr id="7" name="组合 114"/>
          <p:cNvGrpSpPr/>
          <p:nvPr/>
        </p:nvGrpSpPr>
        <p:grpSpPr>
          <a:xfrm>
            <a:off x="-540568" y="116632"/>
            <a:ext cx="6225040" cy="662730"/>
            <a:chOff x="-198275" y="3380765"/>
            <a:chExt cx="6225040" cy="662730"/>
          </a:xfrm>
        </p:grpSpPr>
        <p:grpSp>
          <p:nvGrpSpPr>
            <p:cNvPr id="8" name="组合 105"/>
            <p:cNvGrpSpPr/>
            <p:nvPr/>
          </p:nvGrpSpPr>
          <p:grpSpPr>
            <a:xfrm>
              <a:off x="-198275" y="3380765"/>
              <a:ext cx="6225040" cy="662730"/>
              <a:chOff x="-198275" y="3380765"/>
              <a:chExt cx="6225040" cy="662730"/>
            </a:xfrm>
          </p:grpSpPr>
          <p:sp>
            <p:nvSpPr>
              <p:cNvPr id="1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9" name="图片 8" descr="12.jpg"/>
            <p:cNvPicPr>
              <a:picLocks noChangeAspect="1"/>
            </p:cNvPicPr>
            <p:nvPr/>
          </p:nvPicPr>
          <p:blipFill>
            <a:blip r:embed="rId2" cstate="print"/>
            <a:stretch>
              <a:fillRect/>
            </a:stretch>
          </p:blipFill>
          <p:spPr>
            <a:xfrm>
              <a:off x="1115929" y="3530600"/>
              <a:ext cx="446172" cy="431048"/>
            </a:xfrm>
            <a:prstGeom prst="rect">
              <a:avLst/>
            </a:prstGeom>
          </p:spPr>
        </p:pic>
      </p:grpSp>
      <p:pic>
        <p:nvPicPr>
          <p:cNvPr id="3" name="图片 2"/>
          <p:cNvPicPr>
            <a:picLocks noChangeAspect="1"/>
          </p:cNvPicPr>
          <p:nvPr/>
        </p:nvPicPr>
        <p:blipFill>
          <a:blip r:embed="rId3"/>
          <a:stretch>
            <a:fillRect/>
          </a:stretch>
        </p:blipFill>
        <p:spPr>
          <a:xfrm>
            <a:off x="5718831" y="3861048"/>
            <a:ext cx="3419872" cy="1152128"/>
          </a:xfrm>
          <a:prstGeom prst="rect">
            <a:avLst/>
          </a:prstGeom>
        </p:spPr>
      </p:pic>
    </p:spTree>
    <p:extLst>
      <p:ext uri="{BB962C8B-B14F-4D97-AF65-F5344CB8AC3E}">
        <p14:creationId xmlns:p14="http://schemas.microsoft.com/office/powerpoint/2010/main" val="368010804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3"/>
                                        </p:tgtEl>
                                        <p:attrNameLst>
                                          <p:attrName>style.visibility</p:attrName>
                                        </p:attrNameLst>
                                      </p:cBhvr>
                                      <p:to>
                                        <p:strVal val="visible"/>
                                      </p:to>
                                    </p:set>
                                    <p:anim calcmode="lin" valueType="num">
                                      <p:cBhvr additive="base">
                                        <p:cTn id="63" dur="500" fill="hold"/>
                                        <p:tgtEl>
                                          <p:spTgt spid="3"/>
                                        </p:tgtEl>
                                        <p:attrNameLst>
                                          <p:attrName>ppt_x</p:attrName>
                                        </p:attrNameLst>
                                      </p:cBhvr>
                                      <p:tavLst>
                                        <p:tav tm="0">
                                          <p:val>
                                            <p:strVal val="#ppt_x"/>
                                          </p:val>
                                        </p:tav>
                                        <p:tav tm="100000">
                                          <p:val>
                                            <p:strVal val="#ppt_x"/>
                                          </p:val>
                                        </p:tav>
                                      </p:tavLst>
                                    </p:anim>
                                    <p:anim calcmode="lin" valueType="num">
                                      <p:cBhvr additive="base">
                                        <p:cTn id="6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1594" y="1431940"/>
            <a:ext cx="8324215" cy="5021396"/>
          </a:xfrm>
        </p:spPr>
        <p:txBody>
          <a:bodyPr/>
          <a:lstStyle/>
          <a:p>
            <a:pPr>
              <a:spcBef>
                <a:spcPts val="600"/>
              </a:spcBef>
              <a:buClr>
                <a:srgbClr val="FF0000"/>
              </a:buClr>
              <a:buFont typeface="Wingdings" panose="05000000000000000000" charset="0"/>
              <a:buChar char=""/>
            </a:pPr>
            <a:r>
              <a:rPr lang="en-US" sz="1800" noProof="1"/>
              <a:t>Pytho标准库zlib中提供的compress()和decompress()函数可以用于</a:t>
            </a:r>
            <a:r>
              <a:rPr lang="zh-CN" altLang="en-US" sz="1800" noProof="1">
                <a:solidFill>
                  <a:srgbClr val="FF0000"/>
                </a:solidFill>
              </a:rPr>
              <a:t>字节串</a:t>
            </a:r>
            <a:r>
              <a:rPr lang="en-US" sz="1800" noProof="1">
                <a:solidFill>
                  <a:srgbClr val="FF0000"/>
                </a:solidFill>
              </a:rPr>
              <a:t>的压缩和解压缩</a:t>
            </a:r>
            <a:r>
              <a:rPr lang="en-US" sz="1800" noProof="1"/>
              <a:t>。</a:t>
            </a:r>
          </a:p>
          <a:p>
            <a:pPr marL="0" indent="0">
              <a:buNone/>
            </a:pPr>
            <a:endParaRPr lang="en-US" sz="1200" noProof="1"/>
          </a:p>
          <a:p>
            <a:pPr marL="0" indent="0">
              <a:buNone/>
            </a:pPr>
            <a:r>
              <a:rPr lang="en-US" sz="1600" noProof="1">
                <a:latin typeface="Consolas" panose="020B0609020204030204" charset="0"/>
              </a:rPr>
              <a:t>&gt;&gt;&gt; import zlib</a:t>
            </a:r>
          </a:p>
          <a:p>
            <a:pPr marL="0" indent="0">
              <a:buNone/>
            </a:pPr>
            <a:r>
              <a:rPr lang="en-US" sz="1600" noProof="1">
                <a:latin typeface="Consolas" panose="020B0609020204030204" charset="0"/>
              </a:rPr>
              <a:t>&gt;&gt;&gt; x = 'Python程序设计系列图书，董付国编著，清华大学出版社'.encode()</a:t>
            </a:r>
          </a:p>
          <a:p>
            <a:pPr marL="0" indent="0">
              <a:buNone/>
            </a:pPr>
            <a:r>
              <a:rPr lang="en-US" sz="1600" noProof="1">
                <a:latin typeface="Consolas" panose="020B0609020204030204" charset="0"/>
              </a:rPr>
              <a:t>&gt;&gt;&gt; len(x)</a:t>
            </a:r>
          </a:p>
          <a:p>
            <a:pPr marL="0" indent="0">
              <a:buNone/>
            </a:pPr>
            <a:r>
              <a:rPr lang="en-US" sz="1600" noProof="1">
                <a:solidFill>
                  <a:srgbClr val="0000FF"/>
                </a:solidFill>
                <a:latin typeface="Consolas" panose="020B0609020204030204" charset="0"/>
              </a:rPr>
              <a:t>72</a:t>
            </a:r>
          </a:p>
          <a:p>
            <a:pPr marL="0" indent="0">
              <a:buNone/>
            </a:pPr>
            <a:r>
              <a:rPr lang="en-US" sz="1600" noProof="1">
                <a:latin typeface="Consolas" panose="020B0609020204030204" charset="0"/>
              </a:rPr>
              <a:t>&gt;&gt;&gt; y = zlib.compress(x)</a:t>
            </a:r>
          </a:p>
          <a:p>
            <a:pPr marL="0" indent="0">
              <a:buNone/>
            </a:pPr>
            <a:r>
              <a:rPr lang="en-US" sz="1600" noProof="1">
                <a:latin typeface="Consolas" panose="020B0609020204030204" charset="0"/>
              </a:rPr>
              <a:t>&gt;&gt;&gt; len(y)                           #对于重复度比较小的信息，压缩比小</a:t>
            </a:r>
          </a:p>
          <a:p>
            <a:pPr marL="0" indent="0">
              <a:buNone/>
            </a:pPr>
            <a:r>
              <a:rPr lang="en-US" sz="1600" noProof="1">
                <a:solidFill>
                  <a:srgbClr val="0000FF"/>
                </a:solidFill>
                <a:latin typeface="Consolas" panose="020B0609020204030204" charset="0"/>
              </a:rPr>
              <a:t>83</a:t>
            </a:r>
          </a:p>
          <a:p>
            <a:pPr marL="0" indent="0">
              <a:buNone/>
            </a:pPr>
            <a:r>
              <a:rPr lang="en-US" sz="1600" noProof="1">
                <a:latin typeface="Consolas" panose="020B0609020204030204" charset="0"/>
              </a:rPr>
              <a:t>&gt;&gt;&gt; x = ('Python系列图书'*3).encode()</a:t>
            </a:r>
          </a:p>
          <a:p>
            <a:pPr marL="0" indent="0">
              <a:buNone/>
            </a:pPr>
            <a:r>
              <a:rPr lang="en-US" sz="1600" noProof="1">
                <a:latin typeface="Consolas" panose="020B0609020204030204" charset="0"/>
              </a:rPr>
              <a:t>&gt;&gt;&gt; len(x)</a:t>
            </a:r>
          </a:p>
          <a:p>
            <a:pPr marL="0" indent="0">
              <a:buNone/>
            </a:pPr>
            <a:r>
              <a:rPr lang="en-US" sz="1600" noProof="1">
                <a:solidFill>
                  <a:srgbClr val="0000FF"/>
                </a:solidFill>
                <a:latin typeface="Consolas" panose="020B0609020204030204" charset="0"/>
              </a:rPr>
              <a:t>54</a:t>
            </a:r>
          </a:p>
          <a:p>
            <a:pPr marL="0" indent="0">
              <a:buNone/>
            </a:pPr>
            <a:r>
              <a:rPr lang="pl-PL" sz="1600" noProof="1">
                <a:latin typeface="Consolas" panose="020B0609020204030204" charset="0"/>
              </a:rPr>
              <a:t>&gt;&gt;&gt; w=zlib.compress(x)</a:t>
            </a:r>
          </a:p>
          <a:p>
            <a:pPr marL="0" indent="0">
              <a:buNone/>
            </a:pPr>
            <a:r>
              <a:rPr lang="pl-PL" sz="1600" noProof="1">
                <a:latin typeface="Consolas" panose="020B0609020204030204" charset="0"/>
              </a:rPr>
              <a:t>&gt;&gt;&gt; len(w)</a:t>
            </a:r>
          </a:p>
          <a:p>
            <a:pPr marL="0" indent="0">
              <a:buNone/>
            </a:pPr>
            <a:r>
              <a:rPr lang="pl-PL" sz="1600" noProof="1">
                <a:solidFill>
                  <a:srgbClr val="0000FF"/>
                </a:solidFill>
                <a:latin typeface="Consolas" panose="020B0609020204030204" charset="0"/>
              </a:rPr>
              <a:t>30</a:t>
            </a:r>
            <a:endParaRPr lang="en-US" sz="1600" noProof="1">
              <a:solidFill>
                <a:srgbClr val="0000FF"/>
              </a:solidFill>
              <a:latin typeface="Consolas" panose="020B0609020204030204" charset="0"/>
            </a:endParaRPr>
          </a:p>
          <a:p>
            <a:pPr marL="0" indent="0">
              <a:buNone/>
            </a:pPr>
            <a:endParaRPr lang="en-US" sz="1600" noProof="1">
              <a:solidFill>
                <a:srgbClr val="0000FF"/>
              </a:solidFill>
              <a:latin typeface="Consolas" panose="020B0609020204030204" charset="0"/>
            </a:endParaRPr>
          </a:p>
          <a:p>
            <a:pPr marL="0" indent="0">
              <a:buNone/>
            </a:pPr>
            <a:endParaRPr lang="en-US" sz="1600" noProof="1">
              <a:solidFill>
                <a:srgbClr val="0000FF"/>
              </a:solidFill>
              <a:latin typeface="Consolas" panose="020B0609020204030204" charset="0"/>
            </a:endParaRPr>
          </a:p>
        </p:txBody>
      </p:sp>
      <p:sp>
        <p:nvSpPr>
          <p:cNvPr id="7168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41</a:t>
            </a:fld>
            <a:endParaRPr lang="zh-CN" altLang="en-US" sz="1050" dirty="0"/>
          </a:p>
        </p:txBody>
      </p:sp>
      <p:grpSp>
        <p:nvGrpSpPr>
          <p:cNvPr id="6" name="组合 114"/>
          <p:cNvGrpSpPr/>
          <p:nvPr/>
        </p:nvGrpSpPr>
        <p:grpSpPr>
          <a:xfrm>
            <a:off x="-540568" y="116632"/>
            <a:ext cx="6225040" cy="662730"/>
            <a:chOff x="-198275" y="3380765"/>
            <a:chExt cx="6225040" cy="662730"/>
          </a:xfrm>
        </p:grpSpPr>
        <p:grpSp>
          <p:nvGrpSpPr>
            <p:cNvPr id="7" name="组合 105"/>
            <p:cNvGrpSpPr/>
            <p:nvPr/>
          </p:nvGrpSpPr>
          <p:grpSpPr>
            <a:xfrm>
              <a:off x="-198275" y="3380765"/>
              <a:ext cx="6225040" cy="662730"/>
              <a:chOff x="-198275"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1" name="文本框 10"/>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4.1.4 </a:t>
            </a:r>
            <a:r>
              <a:rPr lang="zh-CN" altLang="en-US" sz="2800" b="1" dirty="0">
                <a:latin typeface="Times New Roman" panose="02020603050405020304" pitchFamily="18" charset="0"/>
                <a:ea typeface="仿宋" panose="02010609060101010101" pitchFamily="49" charset="-122"/>
              </a:rPr>
              <a:t>与字符串处理相关的标准库</a:t>
            </a:r>
            <a:endParaRPr lang="en-US" altLang="zh-CN" sz="2800" b="1" dirty="0">
              <a:ea typeface="仿宋" panose="02010609060101010101" pitchFamily="49" charset="-122"/>
            </a:endParaRPr>
          </a:p>
        </p:txBody>
      </p:sp>
      <p:pic>
        <p:nvPicPr>
          <p:cNvPr id="4" name="图片 3"/>
          <p:cNvPicPr>
            <a:picLocks noChangeAspect="1"/>
          </p:cNvPicPr>
          <p:nvPr/>
        </p:nvPicPr>
        <p:blipFill>
          <a:blip r:embed="rId3"/>
          <a:stretch>
            <a:fillRect/>
          </a:stretch>
        </p:blipFill>
        <p:spPr>
          <a:xfrm>
            <a:off x="683568" y="2060848"/>
            <a:ext cx="7538273" cy="4464496"/>
          </a:xfrm>
          <a:prstGeom prst="rect">
            <a:avLst/>
          </a:prstGeom>
        </p:spPr>
      </p:pic>
    </p:spTree>
    <p:extLst>
      <p:ext uri="{BB962C8B-B14F-4D97-AF65-F5344CB8AC3E}">
        <p14:creationId xmlns:p14="http://schemas.microsoft.com/office/powerpoint/2010/main" val="412049479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4"/>
                                        </p:tgtEl>
                                        <p:attrNameLst>
                                          <p:attrName>style.visibility</p:attrName>
                                        </p:attrNameLst>
                                      </p:cBhvr>
                                      <p:to>
                                        <p:strVal val="visible"/>
                                      </p:to>
                                    </p:set>
                                    <p:anim calcmode="lin" valueType="num">
                                      <p:cBhvr additive="base">
                                        <p:cTn id="63" dur="500" fill="hold"/>
                                        <p:tgtEl>
                                          <p:spTgt spid="4"/>
                                        </p:tgtEl>
                                        <p:attrNameLst>
                                          <p:attrName>ppt_x</p:attrName>
                                        </p:attrNameLst>
                                      </p:cBhvr>
                                      <p:tavLst>
                                        <p:tav tm="0">
                                          <p:val>
                                            <p:strVal val="#ppt_x"/>
                                          </p:val>
                                        </p:tav>
                                        <p:tav tm="100000">
                                          <p:val>
                                            <p:strVal val="#ppt_x"/>
                                          </p:val>
                                        </p:tav>
                                      </p:tavLst>
                                    </p:anim>
                                    <p:anim calcmode="lin" valueType="num">
                                      <p:cBhvr additive="base">
                                        <p:cTn id="6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文本占位符 46082"/>
          <p:cNvSpPr>
            <a:spLocks noGrp="1"/>
          </p:cNvSpPr>
          <p:nvPr>
            <p:ph idx="1"/>
          </p:nvPr>
        </p:nvSpPr>
        <p:spPr>
          <a:xfrm>
            <a:off x="773636" y="1455207"/>
            <a:ext cx="8211820" cy="3395345"/>
          </a:xfrm>
        </p:spPr>
        <p:txBody>
          <a:bodyPr anchor="t"/>
          <a:lstStyle/>
          <a:p>
            <a:pPr>
              <a:spcBef>
                <a:spcPts val="600"/>
              </a:spcBef>
              <a:buClr>
                <a:srgbClr val="FF0000"/>
              </a:buClr>
              <a:buSzPct val="70000"/>
              <a:buFont typeface="Wingdings" panose="05000000000000000000" charset="0"/>
              <a:buChar char=""/>
            </a:pPr>
            <a:r>
              <a:rPr lang="en-US" altLang="zh-CN" sz="2200" b="1" dirty="0">
                <a:latin typeface="宋体" panose="02010600030101010101" pitchFamily="2" charset="-122"/>
              </a:rPr>
              <a:t>Python</a:t>
            </a:r>
            <a:r>
              <a:rPr lang="zh-CN" altLang="en-US" sz="2200" b="1" dirty="0">
                <a:latin typeface="宋体" panose="02010600030101010101" pitchFamily="2" charset="-122"/>
              </a:rPr>
              <a:t>标准库</a:t>
            </a:r>
            <a:r>
              <a:rPr lang="en-US" altLang="zh-CN" sz="2200" b="1" dirty="0">
                <a:latin typeface="宋体" panose="02010600030101010101" pitchFamily="2" charset="-122"/>
              </a:rPr>
              <a:t>string</a:t>
            </a:r>
            <a:r>
              <a:rPr lang="zh-CN" altLang="en-US" sz="2200" b="1" dirty="0">
                <a:latin typeface="宋体" panose="02010600030101010101" pitchFamily="2" charset="-122"/>
              </a:rPr>
              <a:t>中定义数字字符、标点符号、英文字母、大写字母、小写字母等常量。</a:t>
            </a:r>
            <a:endParaRPr lang="en-US" altLang="zh-CN" sz="2200" b="1" dirty="0">
              <a:latin typeface="宋体" panose="02010600030101010101" pitchFamily="2" charset="-122"/>
            </a:endParaRPr>
          </a:p>
          <a:p>
            <a:pPr>
              <a:spcBef>
                <a:spcPts val="600"/>
              </a:spcBef>
              <a:buClr>
                <a:srgbClr val="FF0000"/>
              </a:buClr>
              <a:buSzPct val="70000"/>
              <a:buFont typeface="Wingdings" panose="05000000000000000000" charset="0"/>
              <a:buChar char=""/>
            </a:pPr>
            <a:endParaRPr lang="zh-CN" altLang="en-US" sz="2200" b="1" dirty="0">
              <a:latin typeface="宋体" panose="02010600030101010101" pitchFamily="2" charset="-122"/>
            </a:endParaRPr>
          </a:p>
          <a:p>
            <a:pPr>
              <a:spcBef>
                <a:spcPct val="0"/>
              </a:spcBef>
              <a:buSzPct val="70000"/>
              <a:buNone/>
            </a:pPr>
            <a:r>
              <a:rPr lang="en-US" altLang="zh-CN" sz="1350" dirty="0">
                <a:latin typeface="Consolas" panose="020B0609020204030204" charset="0"/>
              </a:rPr>
              <a:t>&gt;&gt;&gt; import string</a:t>
            </a:r>
          </a:p>
          <a:p>
            <a:pPr>
              <a:spcBef>
                <a:spcPts val="600"/>
              </a:spcBef>
              <a:buSzPct val="70000"/>
              <a:buNone/>
            </a:pPr>
            <a:r>
              <a:rPr lang="en-US" altLang="zh-CN" sz="1350" dirty="0">
                <a:latin typeface="Consolas" panose="020B0609020204030204" charset="0"/>
              </a:rPr>
              <a:t>&gt;&gt;&gt; </a:t>
            </a:r>
            <a:r>
              <a:rPr lang="en-US" altLang="zh-CN" sz="1350" dirty="0" err="1">
                <a:latin typeface="Consolas" panose="020B0609020204030204" charset="0"/>
              </a:rPr>
              <a:t>string.digits</a:t>
            </a:r>
            <a:endParaRPr lang="en-US" altLang="zh-CN" sz="1350" dirty="0">
              <a:latin typeface="Consolas" panose="020B0609020204030204" charset="0"/>
            </a:endParaRPr>
          </a:p>
          <a:p>
            <a:pPr>
              <a:spcBef>
                <a:spcPts val="600"/>
              </a:spcBef>
              <a:buSzPct val="70000"/>
              <a:buNone/>
            </a:pPr>
            <a:r>
              <a:rPr lang="en-US" altLang="zh-CN" sz="1350" dirty="0">
                <a:solidFill>
                  <a:srgbClr val="0000FF"/>
                </a:solidFill>
                <a:latin typeface="Consolas" panose="020B0609020204030204" charset="0"/>
              </a:rPr>
              <a:t>'0123456789'</a:t>
            </a:r>
          </a:p>
          <a:p>
            <a:pPr>
              <a:spcBef>
                <a:spcPts val="600"/>
              </a:spcBef>
              <a:buSzPct val="70000"/>
              <a:buNone/>
            </a:pPr>
            <a:r>
              <a:rPr lang="en-US" altLang="zh-CN" sz="1350" dirty="0">
                <a:latin typeface="Consolas" panose="020B0609020204030204" charset="0"/>
              </a:rPr>
              <a:t>&gt;&gt;&gt; </a:t>
            </a:r>
            <a:r>
              <a:rPr lang="en-US" altLang="zh-CN" sz="1350" dirty="0" err="1">
                <a:latin typeface="Consolas" panose="020B0609020204030204" charset="0"/>
              </a:rPr>
              <a:t>string.punctuation</a:t>
            </a:r>
            <a:endParaRPr lang="en-US" altLang="zh-CN" sz="1350" dirty="0">
              <a:latin typeface="Consolas" panose="020B0609020204030204" charset="0"/>
            </a:endParaRPr>
          </a:p>
          <a:p>
            <a:pPr>
              <a:spcBef>
                <a:spcPts val="600"/>
              </a:spcBef>
              <a:buSzPct val="70000"/>
              <a:buNone/>
            </a:pPr>
            <a:r>
              <a:rPr lang="en-US" altLang="zh-CN" sz="1350" dirty="0">
                <a:solidFill>
                  <a:srgbClr val="0000FF"/>
                </a:solidFill>
                <a:latin typeface="Consolas" panose="020B0609020204030204" charset="0"/>
              </a:rPr>
              <a:t>'!"#$%&amp;\'()*+,-./:;&lt;=&gt;?@[\\]^_`{|}~'</a:t>
            </a:r>
          </a:p>
          <a:p>
            <a:pPr>
              <a:spcBef>
                <a:spcPts val="600"/>
              </a:spcBef>
              <a:buSzPct val="70000"/>
              <a:buNone/>
            </a:pPr>
            <a:r>
              <a:rPr lang="en-US" altLang="zh-CN" sz="1350" dirty="0">
                <a:latin typeface="Consolas" panose="020B0609020204030204" charset="0"/>
              </a:rPr>
              <a:t>&gt;&gt;&gt; </a:t>
            </a:r>
            <a:r>
              <a:rPr lang="en-US" altLang="zh-CN" sz="1350" dirty="0" err="1">
                <a:latin typeface="Consolas" panose="020B0609020204030204" charset="0"/>
              </a:rPr>
              <a:t>string.ascii_letters</a:t>
            </a:r>
            <a:endParaRPr lang="en-US" altLang="zh-CN" sz="1350" dirty="0">
              <a:latin typeface="Consolas" panose="020B0609020204030204" charset="0"/>
            </a:endParaRPr>
          </a:p>
          <a:p>
            <a:pPr>
              <a:spcBef>
                <a:spcPts val="600"/>
              </a:spcBef>
              <a:buSzPct val="70000"/>
              <a:buNone/>
            </a:pPr>
            <a:r>
              <a:rPr lang="en-US" altLang="zh-CN" sz="1350" dirty="0">
                <a:solidFill>
                  <a:srgbClr val="0000FF"/>
                </a:solidFill>
                <a:latin typeface="Consolas" panose="020B0609020204030204" charset="0"/>
              </a:rPr>
              <a:t>'</a:t>
            </a:r>
            <a:r>
              <a:rPr lang="en-US" altLang="zh-CN" sz="1350" dirty="0" err="1">
                <a:solidFill>
                  <a:srgbClr val="0000FF"/>
                </a:solidFill>
                <a:latin typeface="Consolas" panose="020B0609020204030204" charset="0"/>
              </a:rPr>
              <a:t>abcdefghijklmnopqrstuvwxyzABCDEFGHIJKLMNOPQRSTUVWXYZ</a:t>
            </a:r>
            <a:r>
              <a:rPr lang="en-US" altLang="zh-CN" sz="1350" dirty="0">
                <a:solidFill>
                  <a:srgbClr val="0000FF"/>
                </a:solidFill>
                <a:latin typeface="Consolas" panose="020B0609020204030204" charset="0"/>
              </a:rPr>
              <a:t>'</a:t>
            </a:r>
          </a:p>
          <a:p>
            <a:pPr>
              <a:spcBef>
                <a:spcPts val="600"/>
              </a:spcBef>
              <a:buSzPct val="70000"/>
              <a:buNone/>
            </a:pPr>
            <a:r>
              <a:rPr lang="en-US" altLang="zh-CN" sz="1350" dirty="0">
                <a:latin typeface="Consolas" panose="020B0609020204030204" charset="0"/>
              </a:rPr>
              <a:t>&gt;&gt;&gt; </a:t>
            </a:r>
            <a:r>
              <a:rPr lang="en-US" altLang="zh-CN" sz="1350" dirty="0" err="1">
                <a:latin typeface="Consolas" panose="020B0609020204030204" charset="0"/>
              </a:rPr>
              <a:t>string.ascii_lowercase</a:t>
            </a:r>
            <a:endParaRPr lang="en-US" altLang="zh-CN" sz="1350" dirty="0">
              <a:latin typeface="Consolas" panose="020B0609020204030204" charset="0"/>
            </a:endParaRPr>
          </a:p>
          <a:p>
            <a:pPr>
              <a:spcBef>
                <a:spcPts val="600"/>
              </a:spcBef>
              <a:buSzPct val="70000"/>
              <a:buNone/>
            </a:pPr>
            <a:r>
              <a:rPr lang="en-US" altLang="zh-CN" sz="1350" dirty="0">
                <a:solidFill>
                  <a:srgbClr val="0000FF"/>
                </a:solidFill>
                <a:latin typeface="Consolas" panose="020B0609020204030204" charset="0"/>
              </a:rPr>
              <a:t>'</a:t>
            </a:r>
            <a:r>
              <a:rPr lang="en-US" altLang="zh-CN" sz="1350" dirty="0" err="1">
                <a:solidFill>
                  <a:srgbClr val="0000FF"/>
                </a:solidFill>
                <a:latin typeface="Consolas" panose="020B0609020204030204" charset="0"/>
              </a:rPr>
              <a:t>abcdefghijklmnopqrstuvwxyz</a:t>
            </a:r>
            <a:r>
              <a:rPr lang="en-US" altLang="zh-CN" sz="1350" dirty="0">
                <a:solidFill>
                  <a:srgbClr val="0000FF"/>
                </a:solidFill>
                <a:latin typeface="Consolas" panose="020B0609020204030204" charset="0"/>
              </a:rPr>
              <a:t>'</a:t>
            </a:r>
          </a:p>
          <a:p>
            <a:pPr>
              <a:spcBef>
                <a:spcPts val="600"/>
              </a:spcBef>
              <a:buSzPct val="70000"/>
              <a:buNone/>
            </a:pPr>
            <a:r>
              <a:rPr lang="en-US" altLang="zh-CN" sz="1350" dirty="0">
                <a:latin typeface="Consolas" panose="020B0609020204030204" charset="0"/>
              </a:rPr>
              <a:t>&gt;&gt;&gt; </a:t>
            </a:r>
            <a:r>
              <a:rPr lang="en-US" altLang="zh-CN" sz="1350" dirty="0" err="1">
                <a:latin typeface="Consolas" panose="020B0609020204030204" charset="0"/>
              </a:rPr>
              <a:t>string.ascii_uppercase</a:t>
            </a:r>
            <a:endParaRPr lang="en-US" altLang="zh-CN" sz="1350" dirty="0">
              <a:latin typeface="Consolas" panose="020B0609020204030204" charset="0"/>
            </a:endParaRPr>
          </a:p>
          <a:p>
            <a:pPr>
              <a:spcBef>
                <a:spcPts val="600"/>
              </a:spcBef>
              <a:buSzPct val="70000"/>
              <a:buNone/>
            </a:pPr>
            <a:r>
              <a:rPr lang="en-US" altLang="zh-CN" sz="1350" dirty="0">
                <a:solidFill>
                  <a:srgbClr val="0000FF"/>
                </a:solidFill>
                <a:latin typeface="Consolas" panose="020B0609020204030204" charset="0"/>
              </a:rPr>
              <a:t>'ABCDEFGHIJKLMNOPQRSTUVWXYZ'</a:t>
            </a:r>
          </a:p>
        </p:txBody>
      </p:sp>
      <p:sp>
        <p:nvSpPr>
          <p:cNvPr id="74755"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42</a:t>
            </a:fld>
            <a:endParaRPr lang="zh-CN" altLang="en-US" sz="1050" dirty="0"/>
          </a:p>
        </p:txBody>
      </p:sp>
      <p:grpSp>
        <p:nvGrpSpPr>
          <p:cNvPr id="6" name="组合 114"/>
          <p:cNvGrpSpPr/>
          <p:nvPr/>
        </p:nvGrpSpPr>
        <p:grpSpPr>
          <a:xfrm>
            <a:off x="-540568" y="116632"/>
            <a:ext cx="6225040" cy="662730"/>
            <a:chOff x="-198275" y="3380765"/>
            <a:chExt cx="6225040" cy="662730"/>
          </a:xfrm>
        </p:grpSpPr>
        <p:grpSp>
          <p:nvGrpSpPr>
            <p:cNvPr id="7" name="组合 105"/>
            <p:cNvGrpSpPr/>
            <p:nvPr/>
          </p:nvGrpSpPr>
          <p:grpSpPr>
            <a:xfrm>
              <a:off x="-198275" y="3380765"/>
              <a:ext cx="6225040" cy="662730"/>
              <a:chOff x="-198275"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2" name="文本框 11"/>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4.1.4 </a:t>
            </a:r>
            <a:r>
              <a:rPr lang="zh-CN" altLang="en-US" sz="2800" b="1" dirty="0">
                <a:latin typeface="Times New Roman" panose="02020603050405020304" pitchFamily="18" charset="0"/>
                <a:ea typeface="仿宋" panose="02010609060101010101" pitchFamily="49" charset="-122"/>
              </a:rPr>
              <a:t>与字符串处理相关的标准库</a:t>
            </a:r>
            <a:endParaRPr lang="en-US" altLang="zh-CN" sz="2800" b="1" dirty="0">
              <a:ea typeface="仿宋" panose="02010609060101010101" pitchFamily="49" charset="-122"/>
            </a:endParaRPr>
          </a:p>
        </p:txBody>
      </p:sp>
    </p:spTree>
    <p:extLst>
      <p:ext uri="{BB962C8B-B14F-4D97-AF65-F5344CB8AC3E}">
        <p14:creationId xmlns:p14="http://schemas.microsoft.com/office/powerpoint/2010/main" val="4045822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7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475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475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475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4754">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4754">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4754">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4754">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4754">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4754">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4754">
                                            <p:txEl>
                                              <p:pRg st="11" end="1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475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73636" y="1561298"/>
            <a:ext cx="8229600" cy="4678451"/>
          </a:xfrm>
          <a:ln>
            <a:miter/>
          </a:ln>
        </p:spPr>
        <p:txBody>
          <a:bodyPr anchor="t"/>
          <a:lstStyle/>
          <a:p>
            <a:pPr fontAlgn="base">
              <a:buClr>
                <a:srgbClr val="FF0000"/>
              </a:buClr>
              <a:buFont typeface="Wingdings" panose="05000000000000000000" pitchFamily="2" charset="2"/>
              <a:buChar char="ü"/>
            </a:pPr>
            <a:r>
              <a:rPr lang="zh-CN" altLang="zh-CN" sz="2000" noProof="1"/>
              <a:t>应用：随机密码生成原理。</a:t>
            </a:r>
          </a:p>
          <a:p>
            <a:pPr marL="0" indent="0">
              <a:buNone/>
            </a:pPr>
            <a:endParaRPr lang="zh-CN" altLang="en-US" sz="1350" noProof="1">
              <a:latin typeface="Consolas" panose="020B0609020204030204" charset="0"/>
            </a:endParaRPr>
          </a:p>
          <a:p>
            <a:pPr marL="0" indent="0">
              <a:buNone/>
            </a:pPr>
            <a:r>
              <a:rPr lang="zh-CN" altLang="en-US" sz="1350" noProof="1">
                <a:latin typeface="Consolas" panose="020B0609020204030204" charset="0"/>
              </a:rPr>
              <a:t>&gt;&gt;&gt; import string</a:t>
            </a:r>
          </a:p>
          <a:p>
            <a:pPr marL="0" indent="0">
              <a:buNone/>
            </a:pPr>
            <a:r>
              <a:rPr lang="zh-CN" altLang="en-US" sz="1350" noProof="1">
                <a:latin typeface="Consolas" panose="020B0609020204030204" charset="0"/>
              </a:rPr>
              <a:t>&gt;&gt;&gt; characters = string.digits + string.ascii_letters</a:t>
            </a:r>
          </a:p>
          <a:p>
            <a:pPr marL="0" indent="0">
              <a:buNone/>
            </a:pPr>
            <a:r>
              <a:rPr lang="zh-CN" altLang="en-US" sz="1350" noProof="1">
                <a:latin typeface="Consolas" panose="020B0609020204030204" charset="0"/>
              </a:rPr>
              <a:t>&gt;&gt;&gt; import random</a:t>
            </a:r>
          </a:p>
          <a:p>
            <a:pPr marL="0" indent="0">
              <a:buNone/>
            </a:pPr>
            <a:r>
              <a:rPr lang="zh-CN" altLang="en-US" sz="1350" noProof="1">
                <a:latin typeface="Consolas" panose="020B0609020204030204" charset="0"/>
              </a:rPr>
              <a:t>&gt;&gt;&gt; ''.join([random.choice(characters) for i in range(8)])</a:t>
            </a:r>
          </a:p>
          <a:p>
            <a:pPr marL="0" indent="0">
              <a:buNone/>
            </a:pPr>
            <a:r>
              <a:rPr lang="zh-CN" altLang="en-US" sz="1350" noProof="1">
                <a:solidFill>
                  <a:srgbClr val="0000FF"/>
                </a:solidFill>
                <a:latin typeface="Consolas" panose="020B0609020204030204" charset="0"/>
              </a:rPr>
              <a:t>'J5Cuofhy'</a:t>
            </a:r>
          </a:p>
          <a:p>
            <a:pPr marL="0" indent="0">
              <a:buNone/>
            </a:pPr>
            <a:r>
              <a:rPr lang="zh-CN" altLang="en-US" sz="1350" noProof="1">
                <a:latin typeface="Consolas" panose="020B0609020204030204" charset="0"/>
              </a:rPr>
              <a:t>&gt;&gt;&gt; ''.join([random.choice(characters) for i in range(10)])</a:t>
            </a:r>
          </a:p>
          <a:p>
            <a:pPr marL="0" indent="0">
              <a:buNone/>
            </a:pPr>
            <a:r>
              <a:rPr lang="zh-CN" altLang="en-US" sz="1350" noProof="1">
                <a:solidFill>
                  <a:srgbClr val="0000FF"/>
                </a:solidFill>
                <a:latin typeface="Consolas" panose="020B0609020204030204" charset="0"/>
              </a:rPr>
              <a:t>'RkHA3K3tNl'</a:t>
            </a:r>
          </a:p>
          <a:p>
            <a:pPr marL="0" indent="0">
              <a:buNone/>
            </a:pPr>
            <a:r>
              <a:rPr lang="zh-CN" altLang="en-US" sz="1350" noProof="1">
                <a:latin typeface="Consolas" panose="020B0609020204030204" charset="0"/>
              </a:rPr>
              <a:t>&gt;&gt;&gt; ''.join([random.choice(characters) for i in range(16)])</a:t>
            </a:r>
          </a:p>
          <a:p>
            <a:pPr marL="0" indent="0">
              <a:buNone/>
            </a:pPr>
            <a:r>
              <a:rPr lang="zh-CN" altLang="en-US" sz="1350" noProof="1">
                <a:solidFill>
                  <a:srgbClr val="0000FF"/>
                </a:solidFill>
                <a:latin typeface="Consolas" panose="020B0609020204030204" charset="0"/>
              </a:rPr>
              <a:t>'zSabpGltJ0X4CCjh'</a:t>
            </a:r>
          </a:p>
        </p:txBody>
      </p:sp>
      <p:sp>
        <p:nvSpPr>
          <p:cNvPr id="75779"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43</a:t>
            </a:fld>
            <a:endParaRPr lang="zh-CN" altLang="en-US" sz="1050" dirty="0"/>
          </a:p>
        </p:txBody>
      </p:sp>
      <p:grpSp>
        <p:nvGrpSpPr>
          <p:cNvPr id="6" name="组合 114"/>
          <p:cNvGrpSpPr/>
          <p:nvPr/>
        </p:nvGrpSpPr>
        <p:grpSpPr>
          <a:xfrm>
            <a:off x="-540568" y="116632"/>
            <a:ext cx="6225040" cy="662730"/>
            <a:chOff x="-198275" y="3380765"/>
            <a:chExt cx="6225040" cy="662730"/>
          </a:xfrm>
        </p:grpSpPr>
        <p:grpSp>
          <p:nvGrpSpPr>
            <p:cNvPr id="7" name="组合 105"/>
            <p:cNvGrpSpPr/>
            <p:nvPr/>
          </p:nvGrpSpPr>
          <p:grpSpPr>
            <a:xfrm>
              <a:off x="-198275" y="3380765"/>
              <a:ext cx="6225040" cy="662730"/>
              <a:chOff x="-198275"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2" name="文本框 11"/>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4.1.4 </a:t>
            </a:r>
            <a:r>
              <a:rPr lang="zh-CN" altLang="en-US" sz="2800" b="1" dirty="0">
                <a:latin typeface="Times New Roman" panose="02020603050405020304" pitchFamily="18" charset="0"/>
                <a:ea typeface="仿宋" panose="02010609060101010101" pitchFamily="49" charset="-122"/>
              </a:rPr>
              <a:t>与字符串处理相关的标准库</a:t>
            </a:r>
            <a:endParaRPr lang="en-US" altLang="zh-CN" sz="2800" b="1" dirty="0">
              <a:ea typeface="仿宋" panose="02010609060101010101" pitchFamily="49" charset="-122"/>
            </a:endParaRPr>
          </a:p>
        </p:txBody>
      </p:sp>
    </p:spTree>
    <p:extLst>
      <p:ext uri="{BB962C8B-B14F-4D97-AF65-F5344CB8AC3E}">
        <p14:creationId xmlns:p14="http://schemas.microsoft.com/office/powerpoint/2010/main" val="413270114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1594" y="1453297"/>
            <a:ext cx="8211820" cy="3395345"/>
          </a:xfrm>
          <a:ln>
            <a:miter/>
          </a:ln>
        </p:spPr>
        <p:txBody>
          <a:bodyPr anchor="t"/>
          <a:lstStyle/>
          <a:p>
            <a:pPr>
              <a:spcBef>
                <a:spcPts val="600"/>
              </a:spcBef>
              <a:buClr>
                <a:srgbClr val="FF0000"/>
              </a:buClr>
              <a:buFont typeface="Wingdings" panose="05000000000000000000" charset="0"/>
              <a:buChar char=""/>
            </a:pPr>
            <a:r>
              <a:rPr lang="zh-CN" altLang="en-US" sz="2000" b="1" noProof="1"/>
              <a:t>在Python中，</a:t>
            </a:r>
            <a:r>
              <a:rPr lang="zh-CN" altLang="en-US" sz="2000" b="1" noProof="1">
                <a:solidFill>
                  <a:srgbClr val="FF0000"/>
                </a:solidFill>
              </a:rPr>
              <a:t>字符串属于不可变对象，不支持原地修改</a:t>
            </a:r>
            <a:r>
              <a:rPr lang="zh-CN" altLang="en-US" sz="2000" b="1" noProof="1"/>
              <a:t>，如果需要修改其中的值，只能重新创建一个新的字符串对象。然而，如果确实需要一个支持原地修改的unicode数据对象，可以使用io.StringIO对象或array模块。</a:t>
            </a:r>
          </a:p>
          <a:p>
            <a:pPr marL="0" indent="0">
              <a:buNone/>
            </a:pPr>
            <a:endParaRPr lang="en-US" altLang="zh-CN" sz="1200" noProof="1">
              <a:latin typeface="Consolas" panose="020B0609020204030204" charset="0"/>
            </a:endParaRPr>
          </a:p>
          <a:p>
            <a:pPr marL="0" indent="0">
              <a:buNone/>
            </a:pPr>
            <a:r>
              <a:rPr lang="zh-CN" altLang="en-US" sz="1600" noProof="1">
                <a:latin typeface="Consolas" panose="020B0609020204030204" charset="0"/>
              </a:rPr>
              <a:t>&gt;&gt;&gt; import io</a:t>
            </a:r>
          </a:p>
          <a:p>
            <a:pPr marL="0" indent="0">
              <a:buNone/>
            </a:pPr>
            <a:r>
              <a:rPr lang="zh-CN" altLang="en-US" sz="1600" noProof="1">
                <a:latin typeface="Consolas" panose="020B0609020204030204" charset="0"/>
              </a:rPr>
              <a:t>&gt;&gt;&gt; s = “Hello, world”</a:t>
            </a:r>
          </a:p>
          <a:p>
            <a:pPr marL="0" indent="0">
              <a:buNone/>
            </a:pPr>
            <a:r>
              <a:rPr lang="zh-CN" altLang="en-US" sz="1600" noProof="1">
                <a:latin typeface="Consolas" panose="020B0609020204030204" charset="0"/>
              </a:rPr>
              <a:t>&gt;&gt;&gt; sio = io.StringIO(s)</a:t>
            </a:r>
          </a:p>
          <a:p>
            <a:pPr marL="0" indent="0">
              <a:buNone/>
            </a:pPr>
            <a:r>
              <a:rPr lang="zh-CN" altLang="en-US" sz="1600" noProof="1">
                <a:latin typeface="Consolas" panose="020B0609020204030204" charset="0"/>
              </a:rPr>
              <a:t>&gt;&gt;&gt; sio.getvalue()</a:t>
            </a:r>
          </a:p>
          <a:p>
            <a:pPr marL="0" indent="0">
              <a:buNone/>
            </a:pPr>
            <a:r>
              <a:rPr lang="zh-CN" altLang="en-US" sz="1600" noProof="1">
                <a:solidFill>
                  <a:srgbClr val="0000FF"/>
                </a:solidFill>
                <a:latin typeface="Consolas" panose="020B0609020204030204" charset="0"/>
              </a:rPr>
              <a:t>'Hello, world'</a:t>
            </a:r>
          </a:p>
          <a:p>
            <a:pPr marL="0" indent="0">
              <a:buNone/>
            </a:pPr>
            <a:r>
              <a:rPr lang="zh-CN" altLang="en-US" sz="1600" noProof="1">
                <a:latin typeface="Consolas" panose="020B0609020204030204" charset="0"/>
              </a:rPr>
              <a:t>&gt;&gt;&gt; sio.seek(7)</a:t>
            </a:r>
          </a:p>
          <a:p>
            <a:pPr marL="0" indent="0">
              <a:buNone/>
            </a:pPr>
            <a:r>
              <a:rPr lang="zh-CN" altLang="en-US" sz="1600" noProof="1">
                <a:solidFill>
                  <a:srgbClr val="0000FF"/>
                </a:solidFill>
                <a:latin typeface="Consolas" panose="020B0609020204030204" charset="0"/>
              </a:rPr>
              <a:t>7</a:t>
            </a:r>
          </a:p>
          <a:p>
            <a:pPr marL="0" indent="0">
              <a:buNone/>
            </a:pPr>
            <a:r>
              <a:rPr lang="zh-CN" altLang="en-US" sz="1600" noProof="1">
                <a:latin typeface="Consolas" panose="020B0609020204030204" charset="0"/>
              </a:rPr>
              <a:t>&gt;&gt;&gt; sio.write("there!")</a:t>
            </a:r>
          </a:p>
          <a:p>
            <a:pPr marL="0" indent="0">
              <a:buNone/>
            </a:pPr>
            <a:r>
              <a:rPr lang="zh-CN" altLang="en-US" sz="1600" noProof="1">
                <a:solidFill>
                  <a:srgbClr val="0000FF"/>
                </a:solidFill>
                <a:latin typeface="Consolas" panose="020B0609020204030204" charset="0"/>
              </a:rPr>
              <a:t>6</a:t>
            </a:r>
          </a:p>
        </p:txBody>
      </p:sp>
      <p:sp>
        <p:nvSpPr>
          <p:cNvPr id="7680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44</a:t>
            </a:fld>
            <a:endParaRPr lang="zh-CN" altLang="en-US" sz="1050" dirty="0"/>
          </a:p>
        </p:txBody>
      </p:sp>
      <p:grpSp>
        <p:nvGrpSpPr>
          <p:cNvPr id="6" name="组合 114"/>
          <p:cNvGrpSpPr/>
          <p:nvPr/>
        </p:nvGrpSpPr>
        <p:grpSpPr>
          <a:xfrm>
            <a:off x="-540568" y="116632"/>
            <a:ext cx="6225040" cy="662730"/>
            <a:chOff x="-198275" y="3380765"/>
            <a:chExt cx="6225040" cy="662730"/>
          </a:xfrm>
        </p:grpSpPr>
        <p:grpSp>
          <p:nvGrpSpPr>
            <p:cNvPr id="7" name="组合 105"/>
            <p:cNvGrpSpPr/>
            <p:nvPr/>
          </p:nvGrpSpPr>
          <p:grpSpPr>
            <a:xfrm>
              <a:off x="-198275" y="3380765"/>
              <a:ext cx="6225040" cy="662730"/>
              <a:chOff x="-198275" y="3380765"/>
              <a:chExt cx="6225040" cy="662730"/>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98275"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4.1 </a:t>
                </a:r>
                <a:r>
                  <a:rPr lang="zh-CN" altLang="en-US" sz="3600" b="1" dirty="0">
                    <a:latin typeface="Times New Roman" panose="02020603050405020304" pitchFamily="18" charset="0"/>
                    <a:ea typeface="黑体" panose="02010609060101010101" pitchFamily="49" charset="-122"/>
                  </a:rPr>
                  <a:t>字符串</a:t>
                </a:r>
                <a:endParaRPr lang="zh-CN" altLang="en-US" sz="3600" b="1" dirty="0">
                  <a:latin typeface="黑体" panose="02010609060101010101" pitchFamily="49" charset="-122"/>
                  <a:ea typeface="黑体" panose="02010609060101010101" pitchFamily="49" charset="-122"/>
                </a:endParaRPr>
              </a:p>
            </p:txBody>
          </p:sp>
        </p:grpSp>
        <p:pic>
          <p:nvPicPr>
            <p:cNvPr id="8" name="图片 7" descr="12.jpg"/>
            <p:cNvPicPr>
              <a:picLocks noChangeAspect="1"/>
            </p:cNvPicPr>
            <p:nvPr/>
          </p:nvPicPr>
          <p:blipFill>
            <a:blip r:embed="rId3" cstate="print"/>
            <a:stretch>
              <a:fillRect/>
            </a:stretch>
          </p:blipFill>
          <p:spPr>
            <a:xfrm>
              <a:off x="1115929" y="3530600"/>
              <a:ext cx="446172" cy="431048"/>
            </a:xfrm>
            <a:prstGeom prst="rect">
              <a:avLst/>
            </a:prstGeom>
          </p:spPr>
        </p:pic>
      </p:grpSp>
      <p:sp>
        <p:nvSpPr>
          <p:cNvPr id="12" name="文本框 11"/>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4.1.4 </a:t>
            </a:r>
            <a:r>
              <a:rPr lang="zh-CN" altLang="en-US" sz="2800" b="1" dirty="0">
                <a:latin typeface="Times New Roman" panose="02020603050405020304" pitchFamily="18" charset="0"/>
                <a:ea typeface="仿宋" panose="02010609060101010101" pitchFamily="49" charset="-122"/>
              </a:rPr>
              <a:t>与字符串处理相关的标准库</a:t>
            </a:r>
            <a:endParaRPr lang="en-US" altLang="zh-CN" sz="2800" b="1" dirty="0">
              <a:ea typeface="仿宋" panose="02010609060101010101" pitchFamily="49" charset="-122"/>
            </a:endParaRPr>
          </a:p>
        </p:txBody>
      </p:sp>
      <p:sp>
        <p:nvSpPr>
          <p:cNvPr id="13" name="内容占位符 2"/>
          <p:cNvSpPr txBox="1"/>
          <p:nvPr/>
        </p:nvSpPr>
        <p:spPr bwMode="auto">
          <a:xfrm>
            <a:off x="4355976" y="2924944"/>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1600" dirty="0">
                <a:latin typeface="Consolas" panose="020B0609020204030204" charset="0"/>
              </a:rPr>
              <a:t>&gt;&gt;&gt; sio.getvalue()</a:t>
            </a:r>
          </a:p>
          <a:p>
            <a:pPr marL="0" indent="0">
              <a:buFont typeface="Arial" panose="020B0604020202020204" pitchFamily="34" charset="0"/>
              <a:buNone/>
            </a:pPr>
            <a:r>
              <a:rPr lang="zh-CN" altLang="en-US" sz="1600" dirty="0">
                <a:solidFill>
                  <a:srgbClr val="0000FF"/>
                </a:solidFill>
                <a:latin typeface="Consolas" panose="020B0609020204030204" charset="0"/>
              </a:rPr>
              <a:t>'Hello, there!'</a:t>
            </a:r>
          </a:p>
          <a:p>
            <a:pPr marL="0" indent="0">
              <a:buSzPct val="70000"/>
              <a:buFont typeface="Arial" panose="020B0604020202020204" pitchFamily="34" charset="0"/>
              <a:buNone/>
            </a:pPr>
            <a:r>
              <a:rPr lang="zh-CN" altLang="en-US" sz="1600" dirty="0">
                <a:latin typeface="Consolas" panose="020B0609020204030204" charset="0"/>
              </a:rPr>
              <a:t>&gt;&gt;&gt; import array</a:t>
            </a:r>
          </a:p>
          <a:p>
            <a:pPr marL="0" indent="0">
              <a:buSzPct val="70000"/>
              <a:buNone/>
            </a:pPr>
            <a:r>
              <a:rPr lang="zh-CN" altLang="en-US" sz="1600" dirty="0">
                <a:latin typeface="Consolas" panose="020B0609020204030204" charset="0"/>
              </a:rPr>
              <a:t>&gt;&gt;&gt; a</a:t>
            </a:r>
            <a:r>
              <a:rPr lang="en-US" altLang="zh-CN" sz="1600" dirty="0" err="1">
                <a:latin typeface="Consolas" panose="020B0609020204030204" charset="0"/>
              </a:rPr>
              <a:t>rr</a:t>
            </a:r>
            <a:r>
              <a:rPr lang="zh-CN" altLang="en-US" sz="1600" dirty="0">
                <a:latin typeface="Consolas" panose="020B0609020204030204" charset="0"/>
              </a:rPr>
              <a:t> = arr</a:t>
            </a:r>
            <a:r>
              <a:rPr lang="zh-CN" altLang="en-US" sz="1600" dirty="0">
                <a:solidFill>
                  <a:srgbClr val="000000"/>
                </a:solidFill>
                <a:latin typeface="Consolas" panose="020B0609020204030204" charset="0"/>
              </a:rPr>
              <a:t>ay.array('u', '</a:t>
            </a:r>
            <a:r>
              <a:rPr lang="en-US" altLang="zh-CN" sz="1600" dirty="0">
                <a:solidFill>
                  <a:srgbClr val="000000"/>
                </a:solidFill>
                <a:latin typeface="Consolas" panose="020B0609020204030204" charset="0"/>
              </a:rPr>
              <a:t>123456abc</a:t>
            </a:r>
            <a:r>
              <a:rPr lang="zh-CN" altLang="en-US" sz="1600" dirty="0">
                <a:solidFill>
                  <a:srgbClr val="000000"/>
                </a:solidFill>
                <a:latin typeface="Consolas" panose="020B0609020204030204" charset="0"/>
              </a:rPr>
              <a:t>')</a:t>
            </a:r>
          </a:p>
          <a:p>
            <a:pPr marL="0" indent="0">
              <a:buSzPct val="70000"/>
              <a:buFont typeface="Arial" panose="020B0604020202020204" pitchFamily="34" charset="0"/>
              <a:buNone/>
            </a:pPr>
            <a:r>
              <a:rPr lang="zh-CN" altLang="en-US" sz="1600" dirty="0">
                <a:latin typeface="Consolas" panose="020B0609020204030204" charset="0"/>
              </a:rPr>
              <a:t>&gt;&gt;&gt; print(a</a:t>
            </a:r>
            <a:r>
              <a:rPr lang="en-US" altLang="zh-CN" sz="1600" dirty="0" err="1">
                <a:latin typeface="Consolas" panose="020B0609020204030204" charset="0"/>
              </a:rPr>
              <a:t>rr</a:t>
            </a:r>
            <a:r>
              <a:rPr lang="zh-CN" altLang="en-US" sz="1600" dirty="0">
                <a:latin typeface="Consolas" panose="020B0609020204030204" charset="0"/>
              </a:rPr>
              <a:t>)</a:t>
            </a:r>
          </a:p>
          <a:p>
            <a:pPr marL="0" indent="0">
              <a:buSzPct val="70000"/>
              <a:buFont typeface="Arial" panose="020B0604020202020204" pitchFamily="34" charset="0"/>
              <a:buNone/>
            </a:pPr>
            <a:r>
              <a:rPr lang="zh-CN" altLang="en-US" sz="1600" dirty="0">
                <a:solidFill>
                  <a:srgbClr val="0000FF"/>
                </a:solidFill>
                <a:latin typeface="Consolas" panose="020B0609020204030204" charset="0"/>
              </a:rPr>
              <a:t>array('u', ‘</a:t>
            </a:r>
            <a:r>
              <a:rPr lang="en-US" altLang="zh-CN" sz="1600" dirty="0">
                <a:solidFill>
                  <a:srgbClr val="0000FF"/>
                </a:solidFill>
                <a:latin typeface="Consolas" panose="020B0609020204030204" charset="0"/>
              </a:rPr>
              <a:t>123456abc</a:t>
            </a:r>
            <a:r>
              <a:rPr lang="zh-CN" altLang="en-US" sz="1600" dirty="0">
                <a:solidFill>
                  <a:srgbClr val="0000FF"/>
                </a:solidFill>
                <a:latin typeface="Consolas" panose="020B0609020204030204" charset="0"/>
              </a:rPr>
              <a:t>')</a:t>
            </a:r>
          </a:p>
          <a:p>
            <a:pPr marL="0" indent="0">
              <a:buSzPct val="70000"/>
              <a:buFont typeface="Arial" panose="020B0604020202020204" pitchFamily="34" charset="0"/>
              <a:buNone/>
            </a:pPr>
            <a:r>
              <a:rPr lang="zh-CN" altLang="en-US" sz="1600" dirty="0">
                <a:latin typeface="Consolas" panose="020B0609020204030204" charset="0"/>
              </a:rPr>
              <a:t>&gt;&gt;&gt; a</a:t>
            </a:r>
            <a:r>
              <a:rPr lang="en-US" altLang="zh-CN" sz="1600" dirty="0" err="1">
                <a:latin typeface="Consolas" panose="020B0609020204030204" charset="0"/>
              </a:rPr>
              <a:t>rr</a:t>
            </a:r>
            <a:r>
              <a:rPr lang="zh-CN" altLang="en-US" sz="1600" dirty="0">
                <a:latin typeface="Consolas" panose="020B0609020204030204" charset="0"/>
              </a:rPr>
              <a:t>[0] = 'y'</a:t>
            </a:r>
          </a:p>
          <a:p>
            <a:pPr marL="0" indent="0">
              <a:buSzPct val="70000"/>
              <a:buFont typeface="Arial" panose="020B0604020202020204" pitchFamily="34" charset="0"/>
              <a:buNone/>
            </a:pPr>
            <a:r>
              <a:rPr lang="zh-CN" altLang="en-US" sz="1600" dirty="0">
                <a:latin typeface="Consolas" panose="020B0609020204030204" charset="0"/>
              </a:rPr>
              <a:t>&gt;&gt;&gt; print(a</a:t>
            </a:r>
            <a:r>
              <a:rPr lang="en-US" altLang="zh-CN" sz="1600" dirty="0" err="1">
                <a:latin typeface="Consolas" panose="020B0609020204030204" charset="0"/>
              </a:rPr>
              <a:t>rr</a:t>
            </a:r>
            <a:r>
              <a:rPr lang="zh-CN" altLang="en-US" sz="1600" dirty="0">
                <a:latin typeface="Consolas" panose="020B0609020204030204" charset="0"/>
              </a:rPr>
              <a:t>)</a:t>
            </a:r>
          </a:p>
          <a:p>
            <a:pPr marL="0" indent="0">
              <a:buSzPct val="70000"/>
              <a:buNone/>
            </a:pPr>
            <a:r>
              <a:rPr lang="zh-CN" altLang="en-US" sz="1600" dirty="0">
                <a:solidFill>
                  <a:srgbClr val="0000FF"/>
                </a:solidFill>
                <a:latin typeface="Consolas" panose="020B0609020204030204" charset="0"/>
              </a:rPr>
              <a:t>array('u', '</a:t>
            </a:r>
            <a:r>
              <a:rPr lang="en-US" altLang="zh-CN" sz="1600" dirty="0">
                <a:solidFill>
                  <a:srgbClr val="0000FF"/>
                </a:solidFill>
                <a:latin typeface="Consolas" panose="020B0609020204030204" charset="0"/>
              </a:rPr>
              <a:t>y23456abc</a:t>
            </a:r>
            <a:r>
              <a:rPr lang="zh-CN" altLang="en-US" sz="1600" dirty="0">
                <a:solidFill>
                  <a:srgbClr val="0000FF"/>
                </a:solidFill>
                <a:latin typeface="Consolas" panose="020B0609020204030204" charset="0"/>
              </a:rPr>
              <a:t>')</a:t>
            </a:r>
          </a:p>
          <a:p>
            <a:pPr marL="0" indent="0">
              <a:buSzPct val="70000"/>
              <a:buFont typeface="Arial" panose="020B0604020202020204" pitchFamily="34" charset="0"/>
              <a:buNone/>
            </a:pPr>
            <a:r>
              <a:rPr lang="zh-CN" altLang="en-US" sz="1600" dirty="0">
                <a:latin typeface="Consolas" panose="020B0609020204030204" charset="0"/>
              </a:rPr>
              <a:t>&gt;&gt;&gt; a</a:t>
            </a:r>
            <a:r>
              <a:rPr lang="en-US" altLang="zh-CN" sz="1600" dirty="0" err="1">
                <a:latin typeface="Consolas" panose="020B0609020204030204" charset="0"/>
              </a:rPr>
              <a:t>rr</a:t>
            </a:r>
            <a:r>
              <a:rPr lang="zh-CN" altLang="en-US" sz="1600" dirty="0">
                <a:latin typeface="Consolas" panose="020B0609020204030204" charset="0"/>
              </a:rPr>
              <a:t>.tounicode()</a:t>
            </a:r>
          </a:p>
          <a:p>
            <a:pPr marL="0" indent="0">
              <a:buSzPct val="70000"/>
              <a:buNone/>
            </a:pPr>
            <a:r>
              <a:rPr lang="zh-CN" altLang="en-US" sz="1600" dirty="0">
                <a:solidFill>
                  <a:srgbClr val="0000FF"/>
                </a:solidFill>
                <a:latin typeface="Consolas" panose="020B0609020204030204" charset="0"/>
              </a:rPr>
              <a:t>'</a:t>
            </a:r>
            <a:r>
              <a:rPr lang="en-US" altLang="zh-CN" sz="1600" dirty="0">
                <a:solidFill>
                  <a:srgbClr val="0000FF"/>
                </a:solidFill>
                <a:latin typeface="Consolas" panose="020B0609020204030204" charset="0"/>
              </a:rPr>
              <a:t>y23456abc</a:t>
            </a:r>
            <a:r>
              <a:rPr lang="zh-CN" altLang="en-US" sz="1600" dirty="0">
                <a:solidFill>
                  <a:srgbClr val="0000FF"/>
                </a:solidFill>
                <a:latin typeface="Consolas" panose="020B0609020204030204" charset="0"/>
              </a:rPr>
              <a:t>'</a:t>
            </a:r>
          </a:p>
        </p:txBody>
      </p:sp>
      <p:pic>
        <p:nvPicPr>
          <p:cNvPr id="4" name="图片 3"/>
          <p:cNvPicPr>
            <a:picLocks noChangeAspect="1"/>
          </p:cNvPicPr>
          <p:nvPr/>
        </p:nvPicPr>
        <p:blipFill>
          <a:blip r:embed="rId4"/>
          <a:stretch>
            <a:fillRect/>
          </a:stretch>
        </p:blipFill>
        <p:spPr>
          <a:xfrm>
            <a:off x="251520" y="2780928"/>
            <a:ext cx="3810517" cy="3744416"/>
          </a:xfrm>
          <a:prstGeom prst="rect">
            <a:avLst/>
          </a:prstGeom>
        </p:spPr>
      </p:pic>
      <p:pic>
        <p:nvPicPr>
          <p:cNvPr id="1331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33477" y="836712"/>
            <a:ext cx="4680520" cy="2992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552575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3314"/>
                                        </p:tgtEl>
                                        <p:attrNameLst>
                                          <p:attrName>style.visibility</p:attrName>
                                        </p:attrNameLst>
                                      </p:cBhvr>
                                      <p:to>
                                        <p:strVal val="visible"/>
                                      </p:to>
                                    </p:set>
                                    <p:animEffect transition="in" filter="fade">
                                      <p:cBhvr>
                                        <p:cTn id="41" dur="1000"/>
                                        <p:tgtEl>
                                          <p:spTgt spid="13314"/>
                                        </p:tgtEl>
                                      </p:cBhvr>
                                    </p:animEffect>
                                    <p:anim calcmode="lin" valueType="num">
                                      <p:cBhvr>
                                        <p:cTn id="42" dur="1000" fill="hold"/>
                                        <p:tgtEl>
                                          <p:spTgt spid="13314"/>
                                        </p:tgtEl>
                                        <p:attrNameLst>
                                          <p:attrName>ppt_x</p:attrName>
                                        </p:attrNameLst>
                                      </p:cBhvr>
                                      <p:tavLst>
                                        <p:tav tm="0">
                                          <p:val>
                                            <p:strVal val="#ppt_x"/>
                                          </p:val>
                                        </p:tav>
                                        <p:tav tm="100000">
                                          <p:val>
                                            <p:strVal val="#ppt_x"/>
                                          </p:val>
                                        </p:tav>
                                      </p:tavLst>
                                    </p:anim>
                                    <p:anim calcmode="lin" valueType="num">
                                      <p:cBhvr>
                                        <p:cTn id="43" dur="1000" fill="hold"/>
                                        <p:tgtEl>
                                          <p:spTgt spid="133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p:cNvSpPr>
            <a:spLocks noGrp="1"/>
          </p:cNvSpPr>
          <p:nvPr>
            <p:ph idx="1"/>
          </p:nvPr>
        </p:nvSpPr>
        <p:spPr>
          <a:xfrm>
            <a:off x="611560" y="1444655"/>
            <a:ext cx="8229600" cy="4678451"/>
          </a:xfrm>
        </p:spPr>
        <p:txBody>
          <a:bodyPr anchor="t"/>
          <a:lstStyle/>
          <a:p>
            <a:pPr marL="0" indent="0">
              <a:spcBef>
                <a:spcPct val="0"/>
              </a:spcBef>
              <a:buNone/>
            </a:pPr>
            <a:r>
              <a:rPr lang="en-US" altLang="zh-CN" sz="1400" dirty="0">
                <a:latin typeface="Consolas" panose="020B0609020204030204" charset="0"/>
              </a:rPr>
              <a:t>&gt;&gt;&gt; import </a:t>
            </a:r>
            <a:r>
              <a:rPr lang="en-US" altLang="zh-CN" sz="1400" dirty="0" err="1">
                <a:latin typeface="Consolas" panose="020B0609020204030204" charset="0"/>
              </a:rPr>
              <a:t>jieba</a:t>
            </a:r>
            <a:r>
              <a:rPr lang="en-US" altLang="zh-CN" sz="1400" dirty="0">
                <a:latin typeface="Consolas" panose="020B0609020204030204" charset="0"/>
              </a:rPr>
              <a:t>                     #</a:t>
            </a:r>
            <a:r>
              <a:rPr lang="en-US" altLang="zh-CN" sz="1400" dirty="0" err="1">
                <a:latin typeface="Consolas" panose="020B0609020204030204" charset="0"/>
              </a:rPr>
              <a:t>导入jieba模块</a:t>
            </a:r>
            <a:endParaRPr lang="en-US" altLang="zh-CN" sz="1400" dirty="0">
              <a:latin typeface="Consolas" panose="020B0609020204030204" charset="0"/>
            </a:endParaRPr>
          </a:p>
          <a:p>
            <a:pPr marL="0" indent="0">
              <a:spcBef>
                <a:spcPct val="0"/>
              </a:spcBef>
              <a:buNone/>
            </a:pPr>
            <a:r>
              <a:rPr lang="en-US" altLang="zh-CN" sz="1400" dirty="0">
                <a:latin typeface="Consolas" panose="020B0609020204030204" charset="0"/>
              </a:rPr>
              <a:t>&gt;&gt;&gt; x = '</a:t>
            </a:r>
            <a:r>
              <a:rPr lang="en-US" altLang="zh-CN" sz="1400" dirty="0" err="1">
                <a:latin typeface="Consolas" panose="020B0609020204030204" charset="0"/>
              </a:rPr>
              <a:t>分词的准确度直接影响了后续文本处理和挖掘算法的最终效果</a:t>
            </a:r>
            <a:r>
              <a:rPr lang="en-US" altLang="zh-CN" sz="1400" dirty="0">
                <a:latin typeface="Consolas" panose="020B0609020204030204" charset="0"/>
              </a:rPr>
              <a:t>。'</a:t>
            </a:r>
          </a:p>
          <a:p>
            <a:pPr marL="0" indent="0">
              <a:spcBef>
                <a:spcPct val="0"/>
              </a:spcBef>
              <a:buNone/>
            </a:pPr>
            <a:r>
              <a:rPr lang="en-US" altLang="zh-CN" sz="1400" dirty="0">
                <a:latin typeface="Consolas" panose="020B0609020204030204" charset="0"/>
              </a:rPr>
              <a:t>&gt;&gt;&gt; </a:t>
            </a:r>
            <a:r>
              <a:rPr lang="en-US" altLang="zh-CN" sz="1400" dirty="0" err="1">
                <a:latin typeface="Consolas" panose="020B0609020204030204" charset="0"/>
              </a:rPr>
              <a:t>jieba.cut</a:t>
            </a:r>
            <a:r>
              <a:rPr lang="en-US" altLang="zh-CN" sz="1400" dirty="0">
                <a:latin typeface="Consolas" panose="020B0609020204030204" charset="0"/>
              </a:rPr>
              <a:t>(x)                     #</a:t>
            </a:r>
            <a:r>
              <a:rPr lang="en-US" altLang="zh-CN" sz="1400" dirty="0" err="1">
                <a:latin typeface="Consolas" panose="020B0609020204030204" charset="0"/>
              </a:rPr>
              <a:t>使用默认词库进行分词</a:t>
            </a:r>
            <a:endParaRPr lang="en-US" altLang="zh-CN" sz="1400" dirty="0">
              <a:latin typeface="Consolas" panose="020B0609020204030204" charset="0"/>
            </a:endParaRPr>
          </a:p>
          <a:p>
            <a:pPr marL="0" indent="0">
              <a:spcBef>
                <a:spcPct val="0"/>
              </a:spcBef>
              <a:buNone/>
            </a:pPr>
            <a:r>
              <a:rPr lang="en-US" altLang="zh-CN" sz="1400" dirty="0">
                <a:solidFill>
                  <a:srgbClr val="0000FF"/>
                </a:solidFill>
                <a:latin typeface="Consolas" panose="020B0609020204030204" charset="0"/>
              </a:rPr>
              <a:t>&lt;generator object </a:t>
            </a:r>
            <a:r>
              <a:rPr lang="en-US" altLang="zh-CN" sz="1400" dirty="0" err="1">
                <a:solidFill>
                  <a:srgbClr val="0000FF"/>
                </a:solidFill>
                <a:latin typeface="Consolas" panose="020B0609020204030204" charset="0"/>
              </a:rPr>
              <a:t>Tokenizer.cut</a:t>
            </a:r>
            <a:r>
              <a:rPr lang="en-US" altLang="zh-CN" sz="1400" dirty="0">
                <a:solidFill>
                  <a:srgbClr val="0000FF"/>
                </a:solidFill>
                <a:latin typeface="Consolas" panose="020B0609020204030204" charset="0"/>
              </a:rPr>
              <a:t> at 0x000000000342C990&gt;</a:t>
            </a:r>
          </a:p>
          <a:p>
            <a:pPr marL="0" indent="0">
              <a:spcBef>
                <a:spcPct val="0"/>
              </a:spcBef>
              <a:buNone/>
            </a:pPr>
            <a:r>
              <a:rPr lang="en-US" altLang="zh-CN" sz="1400" dirty="0">
                <a:latin typeface="Consolas" panose="020B0609020204030204" charset="0"/>
              </a:rPr>
              <a:t>&gt;&gt;&gt; list(_)</a:t>
            </a:r>
          </a:p>
          <a:p>
            <a:pPr marL="0" indent="0">
              <a:spcBef>
                <a:spcPct val="0"/>
              </a:spcBef>
              <a:buNone/>
            </a:pPr>
            <a:r>
              <a:rPr lang="en-US" altLang="zh-CN" sz="1400" dirty="0">
                <a:solidFill>
                  <a:srgbClr val="0000FF"/>
                </a:solidFill>
                <a:latin typeface="Consolas" panose="020B0609020204030204" charset="0"/>
              </a:rPr>
              <a:t>['</a:t>
            </a:r>
            <a:r>
              <a:rPr lang="en-US" altLang="zh-CN" sz="1400" dirty="0" err="1">
                <a:solidFill>
                  <a:srgbClr val="0000FF"/>
                </a:solidFill>
                <a:latin typeface="Consolas" panose="020B0609020204030204" charset="0"/>
              </a:rPr>
              <a:t>分词</a:t>
            </a:r>
            <a:r>
              <a:rPr lang="en-US" altLang="zh-CN" sz="1400" dirty="0">
                <a:solidFill>
                  <a:srgbClr val="0000FF"/>
                </a:solidFill>
                <a:latin typeface="Consolas" panose="020B0609020204030204" charset="0"/>
              </a:rPr>
              <a:t>', '的', '</a:t>
            </a:r>
            <a:r>
              <a:rPr lang="en-US" altLang="zh-CN" sz="1400" dirty="0" err="1">
                <a:solidFill>
                  <a:srgbClr val="0000FF"/>
                </a:solidFill>
                <a:latin typeface="Consolas" panose="020B0609020204030204" charset="0"/>
              </a:rPr>
              <a:t>准确度</a:t>
            </a:r>
            <a:r>
              <a:rPr lang="en-US" altLang="zh-CN" sz="1400" dirty="0">
                <a:solidFill>
                  <a:srgbClr val="0000FF"/>
                </a:solidFill>
                <a:latin typeface="Consolas" panose="020B0609020204030204" charset="0"/>
              </a:rPr>
              <a:t>', '</a:t>
            </a:r>
            <a:r>
              <a:rPr lang="en-US" altLang="zh-CN" sz="1400" dirty="0" err="1">
                <a:solidFill>
                  <a:srgbClr val="0000FF"/>
                </a:solidFill>
                <a:latin typeface="Consolas" panose="020B0609020204030204" charset="0"/>
              </a:rPr>
              <a:t>直接</a:t>
            </a:r>
            <a:r>
              <a:rPr lang="en-US" altLang="zh-CN" sz="1400" dirty="0">
                <a:solidFill>
                  <a:srgbClr val="0000FF"/>
                </a:solidFill>
                <a:latin typeface="Consolas" panose="020B0609020204030204" charset="0"/>
              </a:rPr>
              <a:t>', '</a:t>
            </a:r>
            <a:r>
              <a:rPr lang="en-US" altLang="zh-CN" sz="1400" dirty="0" err="1">
                <a:solidFill>
                  <a:srgbClr val="0000FF"/>
                </a:solidFill>
                <a:latin typeface="Consolas" panose="020B0609020204030204" charset="0"/>
              </a:rPr>
              <a:t>影响</a:t>
            </a:r>
            <a:r>
              <a:rPr lang="en-US" altLang="zh-CN" sz="1400" dirty="0">
                <a:solidFill>
                  <a:srgbClr val="0000FF"/>
                </a:solidFill>
                <a:latin typeface="Consolas" panose="020B0609020204030204" charset="0"/>
              </a:rPr>
              <a:t>', '了', '</a:t>
            </a:r>
            <a:r>
              <a:rPr lang="en-US" altLang="zh-CN" sz="1400" dirty="0" err="1">
                <a:solidFill>
                  <a:srgbClr val="0000FF"/>
                </a:solidFill>
                <a:latin typeface="Consolas" panose="020B0609020204030204" charset="0"/>
              </a:rPr>
              <a:t>后续</a:t>
            </a:r>
            <a:r>
              <a:rPr lang="en-US" altLang="zh-CN" sz="1400" dirty="0">
                <a:solidFill>
                  <a:srgbClr val="0000FF"/>
                </a:solidFill>
                <a:latin typeface="Consolas" panose="020B0609020204030204" charset="0"/>
              </a:rPr>
              <a:t>', '</a:t>
            </a:r>
            <a:r>
              <a:rPr lang="en-US" altLang="zh-CN" sz="1400" dirty="0" err="1">
                <a:solidFill>
                  <a:srgbClr val="0000FF"/>
                </a:solidFill>
                <a:latin typeface="Consolas" panose="020B0609020204030204" charset="0"/>
              </a:rPr>
              <a:t>文本处理</a:t>
            </a:r>
            <a:r>
              <a:rPr lang="en-US" altLang="zh-CN" sz="1400" dirty="0">
                <a:solidFill>
                  <a:srgbClr val="0000FF"/>
                </a:solidFill>
                <a:latin typeface="Consolas" panose="020B0609020204030204" charset="0"/>
              </a:rPr>
              <a:t>', '和', '</a:t>
            </a:r>
            <a:r>
              <a:rPr lang="en-US" altLang="zh-CN" sz="1400" dirty="0" err="1">
                <a:solidFill>
                  <a:srgbClr val="0000FF"/>
                </a:solidFill>
                <a:latin typeface="Consolas" panose="020B0609020204030204" charset="0"/>
              </a:rPr>
              <a:t>挖掘</a:t>
            </a:r>
            <a:r>
              <a:rPr lang="en-US" altLang="zh-CN" sz="1400" dirty="0">
                <a:solidFill>
                  <a:srgbClr val="0000FF"/>
                </a:solidFill>
                <a:latin typeface="Consolas" panose="020B0609020204030204" charset="0"/>
              </a:rPr>
              <a:t>', '</a:t>
            </a:r>
            <a:r>
              <a:rPr lang="en-US" altLang="zh-CN" sz="1400" dirty="0" err="1">
                <a:solidFill>
                  <a:srgbClr val="0000FF"/>
                </a:solidFill>
                <a:latin typeface="Consolas" panose="020B0609020204030204" charset="0"/>
              </a:rPr>
              <a:t>算法</a:t>
            </a:r>
            <a:r>
              <a:rPr lang="en-US" altLang="zh-CN" sz="1400" dirty="0">
                <a:solidFill>
                  <a:srgbClr val="0000FF"/>
                </a:solidFill>
                <a:latin typeface="Consolas" panose="020B0609020204030204" charset="0"/>
              </a:rPr>
              <a:t>', '的', '</a:t>
            </a:r>
            <a:r>
              <a:rPr lang="en-US" altLang="zh-CN" sz="1400" dirty="0" err="1">
                <a:solidFill>
                  <a:srgbClr val="0000FF"/>
                </a:solidFill>
                <a:latin typeface="Consolas" panose="020B0609020204030204" charset="0"/>
              </a:rPr>
              <a:t>最终</a:t>
            </a:r>
            <a:r>
              <a:rPr lang="en-US" altLang="zh-CN" sz="1400" dirty="0">
                <a:solidFill>
                  <a:srgbClr val="0000FF"/>
                </a:solidFill>
                <a:latin typeface="Consolas" panose="020B0609020204030204" charset="0"/>
              </a:rPr>
              <a:t>', '</a:t>
            </a:r>
            <a:r>
              <a:rPr lang="en-US" altLang="zh-CN" sz="1400" dirty="0" err="1">
                <a:solidFill>
                  <a:srgbClr val="0000FF"/>
                </a:solidFill>
                <a:latin typeface="Consolas" panose="020B0609020204030204" charset="0"/>
              </a:rPr>
              <a:t>效果</a:t>
            </a:r>
            <a:r>
              <a:rPr lang="en-US" altLang="zh-CN" sz="1400" dirty="0">
                <a:solidFill>
                  <a:srgbClr val="0000FF"/>
                </a:solidFill>
                <a:latin typeface="Consolas" panose="020B0609020204030204" charset="0"/>
              </a:rPr>
              <a:t>', '。']</a:t>
            </a:r>
          </a:p>
          <a:p>
            <a:pPr marL="0" indent="0">
              <a:spcBef>
                <a:spcPct val="0"/>
              </a:spcBef>
              <a:buNone/>
            </a:pPr>
            <a:r>
              <a:rPr lang="en-US" altLang="zh-CN" sz="1400" dirty="0">
                <a:solidFill>
                  <a:srgbClr val="002060"/>
                </a:solidFill>
                <a:latin typeface="Consolas" panose="020B0609020204030204" charset="0"/>
              </a:rPr>
              <a:t>&gt;&gt;&gt; </a:t>
            </a:r>
            <a:r>
              <a:rPr lang="en-US" altLang="zh-CN" sz="1400" dirty="0" err="1">
                <a:solidFill>
                  <a:srgbClr val="002060"/>
                </a:solidFill>
                <a:latin typeface="Consolas" panose="020B0609020204030204" charset="0"/>
              </a:rPr>
              <a:t>jieba.lcut</a:t>
            </a:r>
            <a:r>
              <a:rPr lang="en-US" altLang="zh-CN" sz="1400" dirty="0">
                <a:solidFill>
                  <a:srgbClr val="002060"/>
                </a:solidFill>
                <a:latin typeface="Consolas" panose="020B0609020204030204" charset="0"/>
              </a:rPr>
              <a:t>('</a:t>
            </a:r>
            <a:r>
              <a:rPr lang="en-US" altLang="zh-CN" sz="1400" dirty="0" err="1">
                <a:solidFill>
                  <a:srgbClr val="002060"/>
                </a:solidFill>
                <a:latin typeface="Consolas" panose="020B0609020204030204" charset="0"/>
              </a:rPr>
              <a:t>Python可以这样学，Python程序设计开发宝典</a:t>
            </a:r>
            <a:r>
              <a:rPr lang="en-US" altLang="zh-CN" sz="1400" dirty="0">
                <a:solidFill>
                  <a:srgbClr val="002060"/>
                </a:solidFill>
                <a:latin typeface="Consolas" panose="020B0609020204030204" charset="0"/>
              </a:rPr>
              <a:t>') #</a:t>
            </a:r>
            <a:r>
              <a:rPr lang="zh-CN" altLang="en-US" sz="1400" dirty="0">
                <a:solidFill>
                  <a:srgbClr val="002060"/>
                </a:solidFill>
                <a:latin typeface="Consolas" panose="020B0609020204030204" charset="0"/>
              </a:rPr>
              <a:t>直接给出列表</a:t>
            </a:r>
          </a:p>
          <a:p>
            <a:pPr marL="0" indent="0">
              <a:spcBef>
                <a:spcPct val="0"/>
              </a:spcBef>
              <a:buNone/>
            </a:pPr>
            <a:r>
              <a:rPr lang="en-US" altLang="zh-CN" sz="1400" dirty="0">
                <a:solidFill>
                  <a:srgbClr val="0000FF"/>
                </a:solidFill>
                <a:latin typeface="Consolas" panose="020B0609020204030204" charset="0"/>
              </a:rPr>
              <a:t>Dumping model to file cache C:\Users\d\AppData\Local\Temp\jieba.cache</a:t>
            </a:r>
          </a:p>
          <a:p>
            <a:pPr marL="0" indent="0">
              <a:spcBef>
                <a:spcPct val="0"/>
              </a:spcBef>
              <a:buNone/>
            </a:pPr>
            <a:r>
              <a:rPr lang="en-US" altLang="zh-CN" sz="1400" dirty="0">
                <a:solidFill>
                  <a:srgbClr val="0000FF"/>
                </a:solidFill>
                <a:latin typeface="Consolas" panose="020B0609020204030204" charset="0"/>
              </a:rPr>
              <a:t>['Python', '</a:t>
            </a:r>
            <a:r>
              <a:rPr lang="en-US" altLang="zh-CN" sz="1400" dirty="0" err="1">
                <a:solidFill>
                  <a:srgbClr val="0000FF"/>
                </a:solidFill>
                <a:latin typeface="Consolas" panose="020B0609020204030204" charset="0"/>
              </a:rPr>
              <a:t>可以</a:t>
            </a:r>
            <a:r>
              <a:rPr lang="en-US" altLang="zh-CN" sz="1400" dirty="0">
                <a:solidFill>
                  <a:srgbClr val="0000FF"/>
                </a:solidFill>
                <a:latin typeface="Consolas" panose="020B0609020204030204" charset="0"/>
              </a:rPr>
              <a:t>', '</a:t>
            </a:r>
            <a:r>
              <a:rPr lang="en-US" altLang="zh-CN" sz="1400" dirty="0" err="1">
                <a:solidFill>
                  <a:srgbClr val="0000FF"/>
                </a:solidFill>
                <a:latin typeface="Consolas" panose="020B0609020204030204" charset="0"/>
              </a:rPr>
              <a:t>这样</a:t>
            </a:r>
            <a:r>
              <a:rPr lang="en-US" altLang="zh-CN" sz="1400" dirty="0">
                <a:solidFill>
                  <a:srgbClr val="0000FF"/>
                </a:solidFill>
                <a:latin typeface="Consolas" panose="020B0609020204030204" charset="0"/>
              </a:rPr>
              <a:t>', '学', '，', 'Python', '</a:t>
            </a:r>
            <a:r>
              <a:rPr lang="en-US" altLang="zh-CN" sz="1400" dirty="0" err="1">
                <a:solidFill>
                  <a:srgbClr val="0000FF"/>
                </a:solidFill>
                <a:latin typeface="Consolas" panose="020B0609020204030204" charset="0"/>
              </a:rPr>
              <a:t>程序设计</a:t>
            </a:r>
            <a:r>
              <a:rPr lang="en-US" altLang="zh-CN" sz="1400" dirty="0">
                <a:solidFill>
                  <a:srgbClr val="0000FF"/>
                </a:solidFill>
                <a:latin typeface="Consolas" panose="020B0609020204030204" charset="0"/>
              </a:rPr>
              <a:t>', '</a:t>
            </a:r>
            <a:r>
              <a:rPr lang="en-US" altLang="zh-CN" sz="1400" dirty="0" err="1">
                <a:solidFill>
                  <a:srgbClr val="0000FF"/>
                </a:solidFill>
                <a:latin typeface="Consolas" panose="020B0609020204030204" charset="0"/>
              </a:rPr>
              <a:t>开发</a:t>
            </a:r>
            <a:r>
              <a:rPr lang="en-US" altLang="zh-CN" sz="1400" dirty="0">
                <a:solidFill>
                  <a:srgbClr val="0000FF"/>
                </a:solidFill>
                <a:latin typeface="Consolas" panose="020B0609020204030204" charset="0"/>
              </a:rPr>
              <a:t>', '</a:t>
            </a:r>
            <a:r>
              <a:rPr lang="en-US" altLang="zh-CN" sz="1400" dirty="0" err="1">
                <a:solidFill>
                  <a:srgbClr val="0000FF"/>
                </a:solidFill>
                <a:latin typeface="Consolas" panose="020B0609020204030204" charset="0"/>
              </a:rPr>
              <a:t>宝典</a:t>
            </a:r>
            <a:r>
              <a:rPr lang="en-US" altLang="zh-CN" sz="1400" dirty="0">
                <a:solidFill>
                  <a:srgbClr val="0000FF"/>
                </a:solidFill>
                <a:latin typeface="Consolas" panose="020B0609020204030204" charset="0"/>
              </a:rPr>
              <a:t>']</a:t>
            </a:r>
          </a:p>
          <a:p>
            <a:pPr marL="0" indent="0">
              <a:spcBef>
                <a:spcPct val="0"/>
              </a:spcBef>
              <a:buNone/>
            </a:pPr>
            <a:r>
              <a:rPr lang="en-US" altLang="zh-CN" sz="1400" dirty="0">
                <a:latin typeface="Consolas" panose="020B0609020204030204" charset="0"/>
              </a:rPr>
              <a:t>&gt;&gt;&gt; list(</a:t>
            </a:r>
            <a:r>
              <a:rPr lang="en-US" altLang="zh-CN" sz="1400" dirty="0" err="1">
                <a:latin typeface="Consolas" panose="020B0609020204030204" charset="0"/>
              </a:rPr>
              <a:t>jieba.cut</a:t>
            </a:r>
            <a:r>
              <a:rPr lang="en-US" altLang="zh-CN" sz="1400" dirty="0">
                <a:latin typeface="Consolas" panose="020B0609020204030204" charset="0"/>
              </a:rPr>
              <a:t>('</a:t>
            </a:r>
            <a:r>
              <a:rPr lang="en-US" altLang="zh-CN" sz="1400" dirty="0" err="1">
                <a:latin typeface="Consolas" panose="020B0609020204030204" charset="0"/>
              </a:rPr>
              <a:t>花纸杯</a:t>
            </a:r>
            <a:r>
              <a:rPr lang="en-US" altLang="zh-CN" sz="1400" dirty="0">
                <a:latin typeface="Consolas" panose="020B0609020204030204" charset="0"/>
              </a:rPr>
              <a:t>'))</a:t>
            </a:r>
          </a:p>
          <a:p>
            <a:pPr marL="0" indent="0">
              <a:spcBef>
                <a:spcPct val="0"/>
              </a:spcBef>
              <a:buNone/>
            </a:pPr>
            <a:r>
              <a:rPr lang="en-US" altLang="zh-CN" sz="1400" dirty="0">
                <a:solidFill>
                  <a:srgbClr val="0000FF"/>
                </a:solidFill>
                <a:latin typeface="Consolas" panose="020B0609020204030204" charset="0"/>
              </a:rPr>
              <a:t>['花', '</a:t>
            </a:r>
            <a:r>
              <a:rPr lang="en-US" altLang="zh-CN" sz="1400" dirty="0" err="1">
                <a:solidFill>
                  <a:srgbClr val="0000FF"/>
                </a:solidFill>
                <a:latin typeface="Consolas" panose="020B0609020204030204" charset="0"/>
              </a:rPr>
              <a:t>纸杯</a:t>
            </a:r>
            <a:r>
              <a:rPr lang="en-US" altLang="zh-CN" sz="1400" dirty="0">
                <a:solidFill>
                  <a:srgbClr val="0000FF"/>
                </a:solidFill>
                <a:latin typeface="Consolas" panose="020B0609020204030204" charset="0"/>
              </a:rPr>
              <a:t>']</a:t>
            </a:r>
          </a:p>
          <a:p>
            <a:pPr marL="0" indent="0">
              <a:spcBef>
                <a:spcPct val="0"/>
              </a:spcBef>
              <a:buNone/>
            </a:pPr>
            <a:r>
              <a:rPr lang="en-US" altLang="zh-CN" sz="1400" dirty="0">
                <a:latin typeface="Consolas" panose="020B0609020204030204" charset="0"/>
              </a:rPr>
              <a:t>&gt;&gt;&gt; </a:t>
            </a:r>
            <a:r>
              <a:rPr lang="en-US" altLang="zh-CN" sz="1400" dirty="0" err="1">
                <a:latin typeface="Consolas" panose="020B0609020204030204" charset="0"/>
              </a:rPr>
              <a:t>jieba.add_word</a:t>
            </a:r>
            <a:r>
              <a:rPr lang="en-US" altLang="zh-CN" sz="1400" dirty="0">
                <a:latin typeface="Consolas" panose="020B0609020204030204" charset="0"/>
              </a:rPr>
              <a:t>('</a:t>
            </a:r>
            <a:r>
              <a:rPr lang="en-US" altLang="zh-CN" sz="1400" dirty="0" err="1">
                <a:latin typeface="Consolas" panose="020B0609020204030204" charset="0"/>
              </a:rPr>
              <a:t>花纸杯</a:t>
            </a:r>
            <a:r>
              <a:rPr lang="en-US" altLang="zh-CN" sz="1400" dirty="0">
                <a:latin typeface="Consolas" panose="020B0609020204030204" charset="0"/>
              </a:rPr>
              <a:t>')           #</a:t>
            </a:r>
            <a:r>
              <a:rPr lang="en-US" altLang="zh-CN" sz="1400" dirty="0" err="1">
                <a:latin typeface="Consolas" panose="020B0609020204030204" charset="0"/>
              </a:rPr>
              <a:t>增加词条</a:t>
            </a:r>
            <a:endParaRPr lang="en-US" altLang="zh-CN" sz="1400" dirty="0">
              <a:latin typeface="Consolas" panose="020B0609020204030204" charset="0"/>
            </a:endParaRPr>
          </a:p>
          <a:p>
            <a:pPr marL="0" indent="0">
              <a:spcBef>
                <a:spcPct val="0"/>
              </a:spcBef>
              <a:buNone/>
            </a:pPr>
            <a:r>
              <a:rPr lang="en-US" altLang="zh-CN" sz="1400" dirty="0">
                <a:latin typeface="Consolas" panose="020B0609020204030204" charset="0"/>
              </a:rPr>
              <a:t>&gt;&gt;&gt; list(</a:t>
            </a:r>
            <a:r>
              <a:rPr lang="en-US" altLang="zh-CN" sz="1400" dirty="0" err="1">
                <a:latin typeface="Consolas" panose="020B0609020204030204" charset="0"/>
              </a:rPr>
              <a:t>jieba.cut</a:t>
            </a:r>
            <a:r>
              <a:rPr lang="en-US" altLang="zh-CN" sz="1400" dirty="0">
                <a:latin typeface="Consolas" panose="020B0609020204030204" charset="0"/>
              </a:rPr>
              <a:t>('</a:t>
            </a:r>
            <a:r>
              <a:rPr lang="en-US" altLang="zh-CN" sz="1400" dirty="0" err="1">
                <a:latin typeface="Consolas" panose="020B0609020204030204" charset="0"/>
              </a:rPr>
              <a:t>花纸杯</a:t>
            </a:r>
            <a:r>
              <a:rPr lang="en-US" altLang="zh-CN" sz="1400" dirty="0">
                <a:latin typeface="Consolas" panose="020B0609020204030204" charset="0"/>
              </a:rPr>
              <a:t>'))          #</a:t>
            </a:r>
            <a:r>
              <a:rPr lang="en-US" altLang="zh-CN" sz="1400" dirty="0" err="1">
                <a:latin typeface="Consolas" panose="020B0609020204030204" charset="0"/>
              </a:rPr>
              <a:t>使用新题库进行分词</a:t>
            </a:r>
            <a:endParaRPr lang="en-US" altLang="zh-CN" sz="1400" dirty="0">
              <a:latin typeface="Consolas" panose="020B0609020204030204" charset="0"/>
            </a:endParaRPr>
          </a:p>
          <a:p>
            <a:pPr marL="0" indent="0">
              <a:spcBef>
                <a:spcPct val="0"/>
              </a:spcBef>
              <a:buNone/>
            </a:pPr>
            <a:r>
              <a:rPr lang="en-US" altLang="zh-CN" sz="1400" dirty="0">
                <a:solidFill>
                  <a:srgbClr val="0000FF"/>
                </a:solidFill>
                <a:latin typeface="Consolas" panose="020B0609020204030204" charset="0"/>
              </a:rPr>
              <a:t>['</a:t>
            </a:r>
            <a:r>
              <a:rPr lang="en-US" altLang="zh-CN" sz="1400" dirty="0" err="1">
                <a:solidFill>
                  <a:srgbClr val="0000FF"/>
                </a:solidFill>
                <a:latin typeface="Consolas" panose="020B0609020204030204" charset="0"/>
              </a:rPr>
              <a:t>花纸杯</a:t>
            </a:r>
            <a:r>
              <a:rPr lang="en-US" altLang="zh-CN" sz="1400" dirty="0">
                <a:solidFill>
                  <a:srgbClr val="0000FF"/>
                </a:solidFill>
                <a:latin typeface="Consolas" panose="020B0609020204030204" charset="0"/>
              </a:rPr>
              <a:t>']</a:t>
            </a:r>
          </a:p>
          <a:p>
            <a:pPr marL="0" indent="0">
              <a:spcBef>
                <a:spcPct val="0"/>
              </a:spcBef>
              <a:buNone/>
            </a:pPr>
            <a:endParaRPr lang="en-US" altLang="zh-CN" sz="1400" dirty="0">
              <a:solidFill>
                <a:srgbClr val="00B0F0"/>
              </a:solidFill>
              <a:latin typeface="Consolas" panose="020B0609020204030204" charset="0"/>
            </a:endParaRPr>
          </a:p>
        </p:txBody>
      </p:sp>
      <p:sp>
        <p:nvSpPr>
          <p:cNvPr id="78851" name="Slide Number Placeholder 3"/>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45</a:t>
            </a:fld>
            <a:endParaRPr lang="zh-CN" altLang="en-US" sz="1050" dirty="0"/>
          </a:p>
        </p:txBody>
      </p:sp>
      <p:grpSp>
        <p:nvGrpSpPr>
          <p:cNvPr id="5" name="组合 67"/>
          <p:cNvGrpSpPr/>
          <p:nvPr/>
        </p:nvGrpSpPr>
        <p:grpSpPr>
          <a:xfrm>
            <a:off x="611560" y="118397"/>
            <a:ext cx="8109328" cy="681854"/>
            <a:chOff x="936625" y="4195877"/>
            <a:chExt cx="8109328" cy="681854"/>
          </a:xfrm>
        </p:grpSpPr>
        <p:grpSp>
          <p:nvGrpSpPr>
            <p:cNvPr id="6" name="组合 106"/>
            <p:cNvGrpSpPr/>
            <p:nvPr/>
          </p:nvGrpSpPr>
          <p:grpSpPr>
            <a:xfrm>
              <a:off x="936625" y="4195877"/>
              <a:ext cx="8109328" cy="681854"/>
              <a:chOff x="927100" y="4195877"/>
              <a:chExt cx="8109328" cy="681854"/>
            </a:xfrm>
          </p:grpSpPr>
          <p:sp>
            <p:nvSpPr>
              <p:cNvPr id="8"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1719188" y="4195877"/>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anose="02020603050405020304" pitchFamily="18" charset="0"/>
                    <a:ea typeface="黑体" panose="02010609060101010101" pitchFamily="49" charset="-122"/>
                  </a:rPr>
                  <a:t>4.2 </a:t>
                </a:r>
                <a:r>
                  <a:rPr lang="zh-CN" altLang="en-US" sz="3600" b="1" dirty="0">
                    <a:latin typeface="Times New Roman" panose="02020603050405020304" pitchFamily="18" charset="0"/>
                    <a:ea typeface="黑体" panose="02010609060101010101" pitchFamily="49" charset="-122"/>
                  </a:rPr>
                  <a:t>字符串的应用</a:t>
                </a:r>
                <a:endParaRPr lang="zh-CN" altLang="en-US" sz="3600" b="1" dirty="0">
                  <a:latin typeface="黑体" panose="02010609060101010101" pitchFamily="49" charset="-122"/>
                  <a:ea typeface="黑体" panose="02010609060101010101" pitchFamily="49" charset="-122"/>
                </a:endParaRP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1" name="文本框 10"/>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中英文分词</a:t>
            </a:r>
            <a:endParaRPr lang="en-US" altLang="zh-CN" sz="2800" b="1" dirty="0">
              <a:ea typeface="仿宋" panose="02010609060101010101" pitchFamily="49" charset="-122"/>
            </a:endParaRPr>
          </a:p>
        </p:txBody>
      </p:sp>
      <p:pic>
        <p:nvPicPr>
          <p:cNvPr id="3" name="图片 2"/>
          <p:cNvPicPr>
            <a:picLocks noChangeAspect="1"/>
          </p:cNvPicPr>
          <p:nvPr/>
        </p:nvPicPr>
        <p:blipFill>
          <a:blip r:embed="rId3"/>
          <a:stretch>
            <a:fillRect/>
          </a:stretch>
        </p:blipFill>
        <p:spPr>
          <a:xfrm>
            <a:off x="683568" y="4869160"/>
            <a:ext cx="4657353" cy="893066"/>
          </a:xfrm>
          <a:prstGeom prst="rect">
            <a:avLst/>
          </a:prstGeom>
        </p:spPr>
      </p:pic>
    </p:spTree>
    <p:extLst>
      <p:ext uri="{BB962C8B-B14F-4D97-AF65-F5344CB8AC3E}">
        <p14:creationId xmlns:p14="http://schemas.microsoft.com/office/powerpoint/2010/main" val="222242517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8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88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885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885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885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885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885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885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885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885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885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8850">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8850">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8850">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3"/>
                                        </p:tgtEl>
                                        <p:attrNameLst>
                                          <p:attrName>style.visibility</p:attrName>
                                        </p:attrNameLst>
                                      </p:cBhvr>
                                      <p:to>
                                        <p:strVal val="visible"/>
                                      </p:to>
                                    </p:set>
                                    <p:anim calcmode="lin" valueType="num">
                                      <p:cBhvr additive="base">
                                        <p:cTn id="63" dur="500" fill="hold"/>
                                        <p:tgtEl>
                                          <p:spTgt spid="3"/>
                                        </p:tgtEl>
                                        <p:attrNameLst>
                                          <p:attrName>ppt_x</p:attrName>
                                        </p:attrNameLst>
                                      </p:cBhvr>
                                      <p:tavLst>
                                        <p:tav tm="0">
                                          <p:val>
                                            <p:strVal val="#ppt_x"/>
                                          </p:val>
                                        </p:tav>
                                        <p:tav tm="100000">
                                          <p:val>
                                            <p:strVal val="#ppt_x"/>
                                          </p:val>
                                        </p:tav>
                                      </p:tavLst>
                                    </p:anim>
                                    <p:anim calcmode="lin" valueType="num">
                                      <p:cBhvr additive="base">
                                        <p:cTn id="6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ntent Placeholder 2"/>
          <p:cNvSpPr>
            <a:spLocks noGrp="1"/>
          </p:cNvSpPr>
          <p:nvPr>
            <p:ph idx="1"/>
          </p:nvPr>
        </p:nvSpPr>
        <p:spPr>
          <a:xfrm>
            <a:off x="683568" y="1495974"/>
            <a:ext cx="8229600" cy="4678451"/>
          </a:xfrm>
        </p:spPr>
        <p:txBody>
          <a:bodyPr anchor="t"/>
          <a:lstStyle/>
          <a:p>
            <a:pPr marL="0" indent="0">
              <a:spcBef>
                <a:spcPct val="0"/>
              </a:spcBef>
              <a:buNone/>
            </a:pPr>
            <a:r>
              <a:rPr lang="en-US" altLang="zh-CN" sz="1600" dirty="0">
                <a:latin typeface="Consolas" panose="020B0609020204030204" charset="0"/>
              </a:rPr>
              <a:t>&gt;&gt;&gt; from </a:t>
            </a:r>
            <a:r>
              <a:rPr lang="en-US" altLang="zh-CN" sz="1600" dirty="0" err="1">
                <a:latin typeface="Consolas" panose="020B0609020204030204" charset="0"/>
              </a:rPr>
              <a:t>jieba</a:t>
            </a:r>
            <a:r>
              <a:rPr lang="en-US" altLang="zh-CN" sz="1600" dirty="0">
                <a:latin typeface="Consolas" panose="020B0609020204030204" charset="0"/>
              </a:rPr>
              <a:t> import </a:t>
            </a:r>
            <a:r>
              <a:rPr lang="en-US" altLang="zh-CN" sz="1600" dirty="0" err="1">
                <a:latin typeface="Consolas" panose="020B0609020204030204" charset="0"/>
              </a:rPr>
              <a:t>posseg</a:t>
            </a:r>
            <a:endParaRPr lang="en-US" altLang="zh-CN" sz="1600" dirty="0">
              <a:latin typeface="Consolas" panose="020B0609020204030204" charset="0"/>
            </a:endParaRPr>
          </a:p>
          <a:p>
            <a:pPr marL="0" indent="0">
              <a:spcBef>
                <a:spcPct val="0"/>
              </a:spcBef>
              <a:buNone/>
            </a:pPr>
            <a:r>
              <a:rPr lang="en-US" altLang="zh-CN" sz="1600" dirty="0">
                <a:latin typeface="Consolas" panose="020B0609020204030204" charset="0"/>
              </a:rPr>
              <a:t>&gt;&gt;&gt; text = '</a:t>
            </a:r>
            <a:r>
              <a:rPr lang="en-US" altLang="zh-CN" sz="1600" dirty="0" err="1">
                <a:latin typeface="Consolas" panose="020B0609020204030204" charset="0"/>
              </a:rPr>
              <a:t>分词的准确度直接影响了后续文本处理和挖掘算法的最终效果</a:t>
            </a:r>
            <a:r>
              <a:rPr lang="en-US" altLang="zh-CN" sz="1600" dirty="0">
                <a:latin typeface="Consolas" panose="020B0609020204030204" charset="0"/>
              </a:rPr>
              <a:t>。'</a:t>
            </a:r>
          </a:p>
          <a:p>
            <a:pPr marL="0" indent="0">
              <a:spcBef>
                <a:spcPct val="0"/>
              </a:spcBef>
              <a:buNone/>
            </a:pPr>
            <a:r>
              <a:rPr lang="en-US" altLang="zh-CN" sz="1600" dirty="0">
                <a:latin typeface="Consolas" panose="020B0609020204030204" charset="0"/>
              </a:rPr>
              <a:t>&gt;&gt;&gt; for word, tag in </a:t>
            </a:r>
            <a:r>
              <a:rPr lang="en-US" altLang="zh-CN" sz="1600" dirty="0" err="1">
                <a:latin typeface="Consolas" panose="020B0609020204030204" charset="0"/>
              </a:rPr>
              <a:t>posseg.cut</a:t>
            </a:r>
            <a:r>
              <a:rPr lang="en-US" altLang="zh-CN" sz="1600" dirty="0">
                <a:latin typeface="Consolas" panose="020B0609020204030204" charset="0"/>
              </a:rPr>
              <a:t>(text):  # </a:t>
            </a:r>
            <a:r>
              <a:rPr lang="zh-CN" altLang="en-US" sz="1600" dirty="0">
                <a:latin typeface="Consolas" panose="020B0609020204030204" charset="0"/>
              </a:rPr>
              <a:t>得到分词及其词性</a:t>
            </a:r>
          </a:p>
          <a:p>
            <a:pPr marL="0" indent="0">
              <a:spcBef>
                <a:spcPct val="0"/>
              </a:spcBef>
              <a:buNone/>
            </a:pPr>
            <a:r>
              <a:rPr lang="en-US" altLang="zh-CN" sz="1600" dirty="0">
                <a:latin typeface="Consolas" panose="020B0609020204030204" charset="0"/>
              </a:rPr>
              <a:t>    print(word, tag, </a:t>
            </a:r>
            <a:r>
              <a:rPr lang="en-US" altLang="zh-CN" sz="1600" dirty="0" err="1">
                <a:latin typeface="Consolas" panose="020B0609020204030204" charset="0"/>
              </a:rPr>
              <a:t>sep</a:t>
            </a:r>
            <a:r>
              <a:rPr lang="en-US" altLang="zh-CN" sz="1600" dirty="0">
                <a:latin typeface="Consolas" panose="020B0609020204030204" charset="0"/>
              </a:rPr>
              <a:t>=':’)</a:t>
            </a:r>
          </a:p>
          <a:p>
            <a:pPr marL="0" indent="0">
              <a:spcBef>
                <a:spcPct val="0"/>
              </a:spcBef>
              <a:buNone/>
            </a:pPr>
            <a:r>
              <a:rPr lang="en-US" altLang="zh-CN" sz="1600" dirty="0">
                <a:latin typeface="Consolas" panose="020B0609020204030204" charset="0"/>
              </a:rPr>
              <a:t>	</a:t>
            </a:r>
          </a:p>
          <a:p>
            <a:pPr marL="0" indent="0">
              <a:spcBef>
                <a:spcPct val="0"/>
              </a:spcBef>
              <a:buNone/>
            </a:pPr>
            <a:r>
              <a:rPr lang="en-US" altLang="zh-CN" sz="1600" dirty="0" err="1">
                <a:solidFill>
                  <a:srgbClr val="0000FF"/>
                </a:solidFill>
                <a:latin typeface="Consolas" panose="020B0609020204030204" charset="0"/>
              </a:rPr>
              <a:t>分词:n</a:t>
            </a:r>
            <a:r>
              <a:rPr lang="en-US" altLang="zh-CN" sz="1600" dirty="0">
                <a:solidFill>
                  <a:srgbClr val="0000FF"/>
                </a:solidFill>
                <a:latin typeface="Consolas" panose="020B0609020204030204" charset="0"/>
              </a:rPr>
              <a:t>                        	#</a:t>
            </a:r>
            <a:r>
              <a:rPr lang="zh-CN" altLang="en-US" sz="1600" dirty="0">
                <a:solidFill>
                  <a:srgbClr val="0000FF"/>
                </a:solidFill>
                <a:latin typeface="Consolas" panose="020B0609020204030204" charset="0"/>
              </a:rPr>
              <a:t>名词</a:t>
            </a:r>
            <a:endParaRPr lang="en-US" altLang="zh-CN" sz="1600" dirty="0">
              <a:solidFill>
                <a:srgbClr val="0000FF"/>
              </a:solidFill>
              <a:latin typeface="Consolas" panose="020B0609020204030204" charset="0"/>
            </a:endParaRPr>
          </a:p>
          <a:p>
            <a:pPr marL="0" indent="0">
              <a:spcBef>
                <a:spcPct val="0"/>
              </a:spcBef>
              <a:buNone/>
            </a:pPr>
            <a:r>
              <a:rPr lang="en-US" altLang="zh-CN" sz="1600" dirty="0">
                <a:solidFill>
                  <a:srgbClr val="0000FF"/>
                </a:solidFill>
                <a:latin typeface="Consolas" panose="020B0609020204030204" charset="0"/>
              </a:rPr>
              <a:t>的:uj                        	#</a:t>
            </a:r>
            <a:r>
              <a:rPr lang="zh-CN" altLang="en-US" sz="1600" dirty="0">
                <a:solidFill>
                  <a:srgbClr val="0000FF"/>
                </a:solidFill>
                <a:latin typeface="Consolas" panose="020B0609020204030204" charset="0"/>
              </a:rPr>
              <a:t>助词</a:t>
            </a:r>
            <a:r>
              <a:rPr lang="en-US" altLang="zh-CN" sz="1600" dirty="0">
                <a:solidFill>
                  <a:srgbClr val="0000FF"/>
                </a:solidFill>
                <a:latin typeface="Consolas" panose="020B0609020204030204" charset="0"/>
              </a:rPr>
              <a:t>,</a:t>
            </a:r>
            <a:r>
              <a:rPr lang="zh-CN" altLang="en-US" sz="1600" dirty="0">
                <a:solidFill>
                  <a:srgbClr val="0000FF"/>
                </a:solidFill>
                <a:latin typeface="Consolas" panose="020B0609020204030204" charset="0"/>
              </a:rPr>
              <a:t>简称略语</a:t>
            </a:r>
            <a:r>
              <a:rPr lang="en-US" altLang="zh-CN" sz="1600" dirty="0">
                <a:solidFill>
                  <a:srgbClr val="0000FF"/>
                </a:solidFill>
                <a:latin typeface="Consolas" panose="020B0609020204030204" charset="0"/>
              </a:rPr>
              <a:t> </a:t>
            </a:r>
          </a:p>
          <a:p>
            <a:pPr marL="0" indent="0">
              <a:spcBef>
                <a:spcPct val="0"/>
              </a:spcBef>
              <a:buNone/>
            </a:pPr>
            <a:r>
              <a:rPr lang="en-US" altLang="zh-CN" sz="1600" dirty="0" err="1">
                <a:solidFill>
                  <a:srgbClr val="0000FF"/>
                </a:solidFill>
                <a:latin typeface="Consolas" panose="020B0609020204030204" charset="0"/>
              </a:rPr>
              <a:t>准确度:n</a:t>
            </a:r>
            <a:endParaRPr lang="en-US" altLang="zh-CN" sz="1600" dirty="0">
              <a:solidFill>
                <a:srgbClr val="0000FF"/>
              </a:solidFill>
              <a:latin typeface="Consolas" panose="020B0609020204030204" charset="0"/>
            </a:endParaRPr>
          </a:p>
          <a:p>
            <a:pPr marL="0" indent="0">
              <a:spcBef>
                <a:spcPct val="0"/>
              </a:spcBef>
              <a:buNone/>
            </a:pPr>
            <a:r>
              <a:rPr lang="en-US" altLang="zh-CN" sz="1600" dirty="0" err="1">
                <a:solidFill>
                  <a:srgbClr val="0000FF"/>
                </a:solidFill>
                <a:latin typeface="Consolas" panose="020B0609020204030204" charset="0"/>
              </a:rPr>
              <a:t>直接:ad</a:t>
            </a:r>
            <a:r>
              <a:rPr lang="en-US" altLang="zh-CN" sz="1600" dirty="0">
                <a:solidFill>
                  <a:srgbClr val="0000FF"/>
                </a:solidFill>
                <a:latin typeface="Consolas" panose="020B0609020204030204" charset="0"/>
              </a:rPr>
              <a:t>				#</a:t>
            </a:r>
            <a:r>
              <a:rPr lang="zh-CN" altLang="en-US" sz="1600" dirty="0">
                <a:solidFill>
                  <a:srgbClr val="0000FF"/>
                </a:solidFill>
                <a:latin typeface="Consolas" panose="020B0609020204030204" charset="0"/>
              </a:rPr>
              <a:t>副形词</a:t>
            </a:r>
            <a:endParaRPr lang="en-US" altLang="zh-CN" sz="1600" dirty="0">
              <a:solidFill>
                <a:srgbClr val="0000FF"/>
              </a:solidFill>
              <a:latin typeface="Consolas" panose="020B0609020204030204" charset="0"/>
            </a:endParaRPr>
          </a:p>
          <a:p>
            <a:pPr marL="0" indent="0">
              <a:spcBef>
                <a:spcPct val="0"/>
              </a:spcBef>
              <a:buNone/>
            </a:pPr>
            <a:r>
              <a:rPr lang="en-US" altLang="zh-CN" sz="1600" dirty="0" err="1">
                <a:solidFill>
                  <a:srgbClr val="0000FF"/>
                </a:solidFill>
                <a:latin typeface="Consolas" panose="020B0609020204030204" charset="0"/>
              </a:rPr>
              <a:t>影响:vn</a:t>
            </a:r>
            <a:r>
              <a:rPr lang="en-US" altLang="zh-CN" sz="1600" dirty="0">
                <a:solidFill>
                  <a:srgbClr val="0000FF"/>
                </a:solidFill>
                <a:latin typeface="Consolas" panose="020B0609020204030204" charset="0"/>
              </a:rPr>
              <a:t>				#</a:t>
            </a:r>
            <a:r>
              <a:rPr lang="zh-CN" altLang="en-US" sz="1600" dirty="0">
                <a:solidFill>
                  <a:srgbClr val="0000FF"/>
                </a:solidFill>
                <a:latin typeface="Consolas" panose="020B0609020204030204" charset="0"/>
              </a:rPr>
              <a:t>名动词</a:t>
            </a:r>
            <a:endParaRPr lang="en-US" altLang="zh-CN" sz="1600" dirty="0">
              <a:solidFill>
                <a:srgbClr val="0000FF"/>
              </a:solidFill>
              <a:latin typeface="Consolas" panose="020B0609020204030204" charset="0"/>
            </a:endParaRPr>
          </a:p>
          <a:p>
            <a:pPr marL="0" indent="0">
              <a:spcBef>
                <a:spcPct val="0"/>
              </a:spcBef>
              <a:buNone/>
            </a:pPr>
            <a:r>
              <a:rPr lang="en-US" altLang="zh-CN" sz="1600" dirty="0">
                <a:solidFill>
                  <a:srgbClr val="0000FF"/>
                </a:solidFill>
                <a:latin typeface="Consolas" panose="020B0609020204030204" charset="0"/>
              </a:rPr>
              <a:t>了:ul				#</a:t>
            </a:r>
            <a:r>
              <a:rPr lang="zh-CN" altLang="en-US" sz="1600" dirty="0">
                <a:solidFill>
                  <a:srgbClr val="0000FF"/>
                </a:solidFill>
                <a:latin typeface="Consolas" panose="020B0609020204030204" charset="0"/>
              </a:rPr>
              <a:t>助词，习用语</a:t>
            </a:r>
            <a:endParaRPr lang="en-US" altLang="zh-CN" sz="1600" dirty="0">
              <a:solidFill>
                <a:srgbClr val="0000FF"/>
              </a:solidFill>
              <a:latin typeface="Consolas" panose="020B0609020204030204" charset="0"/>
            </a:endParaRPr>
          </a:p>
          <a:p>
            <a:pPr marL="0" indent="0">
              <a:spcBef>
                <a:spcPct val="0"/>
              </a:spcBef>
              <a:buNone/>
            </a:pPr>
            <a:r>
              <a:rPr lang="en-US" altLang="zh-CN" sz="1600" dirty="0" err="1">
                <a:solidFill>
                  <a:srgbClr val="0000FF"/>
                </a:solidFill>
                <a:latin typeface="Consolas" panose="020B0609020204030204" charset="0"/>
              </a:rPr>
              <a:t>后续:v</a:t>
            </a:r>
            <a:r>
              <a:rPr lang="en-US" altLang="zh-CN" sz="1600" dirty="0">
                <a:solidFill>
                  <a:srgbClr val="0000FF"/>
                </a:solidFill>
                <a:latin typeface="Consolas" panose="020B0609020204030204" charset="0"/>
              </a:rPr>
              <a:t>				#</a:t>
            </a:r>
            <a:r>
              <a:rPr lang="zh-CN" altLang="en-US" sz="1600" dirty="0">
                <a:solidFill>
                  <a:srgbClr val="0000FF"/>
                </a:solidFill>
                <a:latin typeface="Consolas" panose="020B0609020204030204" charset="0"/>
              </a:rPr>
              <a:t>动词</a:t>
            </a:r>
            <a:endParaRPr lang="en-US" altLang="zh-CN" sz="1600" dirty="0">
              <a:solidFill>
                <a:srgbClr val="0000FF"/>
              </a:solidFill>
              <a:latin typeface="Consolas" panose="020B0609020204030204" charset="0"/>
            </a:endParaRPr>
          </a:p>
          <a:p>
            <a:pPr marL="0" indent="0">
              <a:spcBef>
                <a:spcPct val="0"/>
              </a:spcBef>
              <a:buNone/>
            </a:pPr>
            <a:r>
              <a:rPr lang="en-US" altLang="zh-CN" sz="1600" dirty="0" err="1">
                <a:solidFill>
                  <a:srgbClr val="0000FF"/>
                </a:solidFill>
                <a:latin typeface="Consolas" panose="020B0609020204030204" charset="0"/>
              </a:rPr>
              <a:t>文本处理:n</a:t>
            </a:r>
            <a:r>
              <a:rPr lang="en-US" altLang="zh-CN" sz="1600" dirty="0">
                <a:solidFill>
                  <a:srgbClr val="0000FF"/>
                </a:solidFill>
                <a:latin typeface="Consolas" panose="020B0609020204030204" charset="0"/>
              </a:rPr>
              <a:t>			</a:t>
            </a:r>
          </a:p>
          <a:p>
            <a:pPr marL="0" indent="0">
              <a:spcBef>
                <a:spcPct val="0"/>
              </a:spcBef>
              <a:buNone/>
            </a:pPr>
            <a:r>
              <a:rPr lang="en-US" altLang="zh-CN" sz="1600" dirty="0">
                <a:solidFill>
                  <a:srgbClr val="0000FF"/>
                </a:solidFill>
                <a:latin typeface="Consolas" panose="020B0609020204030204" charset="0"/>
              </a:rPr>
              <a:t>和:c				#</a:t>
            </a:r>
            <a:r>
              <a:rPr lang="zh-CN" altLang="en-US" sz="1600" dirty="0">
                <a:solidFill>
                  <a:srgbClr val="0000FF"/>
                </a:solidFill>
                <a:latin typeface="Consolas" panose="020B0609020204030204" charset="0"/>
              </a:rPr>
              <a:t>连词</a:t>
            </a:r>
            <a:endParaRPr lang="en-US" altLang="zh-CN" sz="1600" dirty="0">
              <a:solidFill>
                <a:srgbClr val="0000FF"/>
              </a:solidFill>
              <a:latin typeface="Consolas" panose="020B0609020204030204" charset="0"/>
            </a:endParaRPr>
          </a:p>
          <a:p>
            <a:pPr marL="0" indent="0">
              <a:spcBef>
                <a:spcPct val="0"/>
              </a:spcBef>
              <a:buNone/>
            </a:pPr>
            <a:r>
              <a:rPr lang="en-US" altLang="zh-CN" sz="1600" dirty="0" err="1">
                <a:solidFill>
                  <a:srgbClr val="0000FF"/>
                </a:solidFill>
                <a:latin typeface="Consolas" panose="020B0609020204030204" charset="0"/>
              </a:rPr>
              <a:t>挖掘:v</a:t>
            </a:r>
            <a:endParaRPr lang="en-US" altLang="zh-CN" sz="1600" dirty="0">
              <a:solidFill>
                <a:srgbClr val="0000FF"/>
              </a:solidFill>
              <a:latin typeface="Consolas" panose="020B0609020204030204" charset="0"/>
            </a:endParaRPr>
          </a:p>
          <a:p>
            <a:pPr marL="0" indent="0">
              <a:spcBef>
                <a:spcPct val="0"/>
              </a:spcBef>
              <a:buNone/>
            </a:pPr>
            <a:r>
              <a:rPr lang="en-US" altLang="zh-CN" sz="1600" dirty="0" err="1">
                <a:solidFill>
                  <a:srgbClr val="0000FF"/>
                </a:solidFill>
                <a:latin typeface="Consolas" panose="020B0609020204030204" charset="0"/>
              </a:rPr>
              <a:t>算法:n</a:t>
            </a:r>
            <a:endParaRPr lang="en-US" altLang="zh-CN" sz="1600" dirty="0">
              <a:solidFill>
                <a:srgbClr val="0000FF"/>
              </a:solidFill>
              <a:latin typeface="Consolas" panose="020B0609020204030204" charset="0"/>
            </a:endParaRPr>
          </a:p>
          <a:p>
            <a:pPr marL="0" indent="0">
              <a:spcBef>
                <a:spcPct val="0"/>
              </a:spcBef>
              <a:buNone/>
            </a:pPr>
            <a:r>
              <a:rPr lang="en-US" altLang="zh-CN" sz="1600" dirty="0">
                <a:solidFill>
                  <a:srgbClr val="0000FF"/>
                </a:solidFill>
                <a:latin typeface="Consolas" panose="020B0609020204030204" charset="0"/>
              </a:rPr>
              <a:t>的:uj</a:t>
            </a:r>
          </a:p>
          <a:p>
            <a:pPr marL="0" indent="0">
              <a:spcBef>
                <a:spcPct val="0"/>
              </a:spcBef>
              <a:buNone/>
            </a:pPr>
            <a:r>
              <a:rPr lang="en-US" altLang="zh-CN" sz="1600" dirty="0" err="1">
                <a:solidFill>
                  <a:srgbClr val="0000FF"/>
                </a:solidFill>
                <a:latin typeface="Consolas" panose="020B0609020204030204" charset="0"/>
              </a:rPr>
              <a:t>最终:d</a:t>
            </a:r>
            <a:endParaRPr lang="en-US" altLang="zh-CN" sz="1600" dirty="0">
              <a:solidFill>
                <a:srgbClr val="0000FF"/>
              </a:solidFill>
              <a:latin typeface="Consolas" panose="020B0609020204030204" charset="0"/>
            </a:endParaRPr>
          </a:p>
          <a:p>
            <a:pPr marL="0" indent="0">
              <a:spcBef>
                <a:spcPct val="0"/>
              </a:spcBef>
              <a:buNone/>
            </a:pPr>
            <a:r>
              <a:rPr lang="en-US" altLang="zh-CN" sz="1600" dirty="0" err="1">
                <a:solidFill>
                  <a:srgbClr val="0000FF"/>
                </a:solidFill>
                <a:latin typeface="Consolas" panose="020B0609020204030204" charset="0"/>
              </a:rPr>
              <a:t>效果:n</a:t>
            </a:r>
            <a:endParaRPr lang="en-US" altLang="zh-CN" sz="1600" dirty="0">
              <a:solidFill>
                <a:srgbClr val="0000FF"/>
              </a:solidFill>
              <a:latin typeface="Consolas" panose="020B0609020204030204" charset="0"/>
            </a:endParaRPr>
          </a:p>
          <a:p>
            <a:pPr marL="0" indent="0">
              <a:spcBef>
                <a:spcPct val="0"/>
              </a:spcBef>
              <a:buNone/>
            </a:pPr>
            <a:r>
              <a:rPr lang="en-US" altLang="zh-CN" sz="1600" dirty="0">
                <a:solidFill>
                  <a:srgbClr val="0000FF"/>
                </a:solidFill>
                <a:latin typeface="Consolas" panose="020B0609020204030204" charset="0"/>
              </a:rPr>
              <a:t>。:x				#</a:t>
            </a:r>
            <a:r>
              <a:rPr lang="zh-CN" altLang="en-US" sz="1600" dirty="0">
                <a:solidFill>
                  <a:srgbClr val="0000FF"/>
                </a:solidFill>
                <a:latin typeface="Consolas" panose="020B0609020204030204" charset="0"/>
              </a:rPr>
              <a:t>非语素字，</a:t>
            </a:r>
            <a:r>
              <a:rPr lang="zh-CN" altLang="en-US" sz="1050" b="0" i="0" dirty="0">
                <a:solidFill>
                  <a:srgbClr val="4F4F4F"/>
                </a:solidFill>
                <a:effectLst/>
                <a:latin typeface="Verdana" panose="020B0604030504040204" pitchFamily="34" charset="0"/>
              </a:rPr>
              <a:t>只是一个符号，字母 </a:t>
            </a:r>
            <a:r>
              <a:rPr lang="en-US" altLang="zh-CN" sz="1050" b="0" i="0" dirty="0">
                <a:solidFill>
                  <a:srgbClr val="4F4F4F"/>
                </a:solidFill>
                <a:effectLst/>
                <a:latin typeface="Verdana" panose="020B0604030504040204" pitchFamily="34" charset="0"/>
              </a:rPr>
              <a:t>x</a:t>
            </a:r>
            <a:r>
              <a:rPr lang="zh-CN" altLang="en-US" sz="1050" b="0" i="0" dirty="0">
                <a:solidFill>
                  <a:srgbClr val="4F4F4F"/>
                </a:solidFill>
                <a:effectLst/>
                <a:latin typeface="Verdana" panose="020B0604030504040204" pitchFamily="34" charset="0"/>
              </a:rPr>
              <a:t>通常用于代表未知数、符号。</a:t>
            </a:r>
            <a:endParaRPr lang="en-US" altLang="zh-CN" sz="1600" dirty="0">
              <a:solidFill>
                <a:srgbClr val="0000FF"/>
              </a:solidFill>
              <a:latin typeface="Consolas" panose="020B0609020204030204" charset="0"/>
            </a:endParaRPr>
          </a:p>
        </p:txBody>
      </p:sp>
      <p:sp>
        <p:nvSpPr>
          <p:cNvPr id="79875" name="Slide Number Placeholder 3"/>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46</a:t>
            </a:fld>
            <a:endParaRPr lang="zh-CN" altLang="en-US" sz="1050" dirty="0"/>
          </a:p>
        </p:txBody>
      </p:sp>
      <p:grpSp>
        <p:nvGrpSpPr>
          <p:cNvPr id="6" name="组合 67"/>
          <p:cNvGrpSpPr/>
          <p:nvPr/>
        </p:nvGrpSpPr>
        <p:grpSpPr>
          <a:xfrm>
            <a:off x="611560" y="118397"/>
            <a:ext cx="8109328" cy="681854"/>
            <a:chOff x="936625" y="4195877"/>
            <a:chExt cx="8109328" cy="681854"/>
          </a:xfrm>
        </p:grpSpPr>
        <p:grpSp>
          <p:nvGrpSpPr>
            <p:cNvPr id="7" name="组合 106"/>
            <p:cNvGrpSpPr/>
            <p:nvPr/>
          </p:nvGrpSpPr>
          <p:grpSpPr>
            <a:xfrm>
              <a:off x="936625" y="4195877"/>
              <a:ext cx="8109328" cy="681854"/>
              <a:chOff x="927100" y="4195877"/>
              <a:chExt cx="8109328" cy="681854"/>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719188" y="4195877"/>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anose="02020603050405020304" pitchFamily="18" charset="0"/>
                    <a:ea typeface="黑体" panose="02010609060101010101" pitchFamily="49" charset="-122"/>
                  </a:rPr>
                  <a:t>4.2 </a:t>
                </a:r>
                <a:r>
                  <a:rPr lang="zh-CN" altLang="en-US" sz="3600" b="1" dirty="0">
                    <a:latin typeface="Times New Roman" panose="02020603050405020304" pitchFamily="18" charset="0"/>
                    <a:ea typeface="黑体" panose="02010609060101010101" pitchFamily="49" charset="-122"/>
                  </a:rPr>
                  <a:t>字符串的应用</a:t>
                </a:r>
                <a:endParaRPr lang="zh-CN" altLang="en-US" sz="3600" b="1" dirty="0">
                  <a:latin typeface="黑体" panose="02010609060101010101" pitchFamily="49" charset="-122"/>
                  <a:ea typeface="黑体" panose="02010609060101010101" pitchFamily="49" charset="-122"/>
                </a:endParaRP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1" name="文本框 10"/>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中英文分词</a:t>
            </a:r>
            <a:endParaRPr lang="en-US" altLang="zh-CN" sz="2800" b="1" dirty="0">
              <a:ea typeface="仿宋" panose="02010609060101010101" pitchFamily="49" charset="-122"/>
            </a:endParaRPr>
          </a:p>
        </p:txBody>
      </p:sp>
      <p:sp>
        <p:nvSpPr>
          <p:cNvPr id="12" name="文本框 11"/>
          <p:cNvSpPr txBox="1"/>
          <p:nvPr/>
        </p:nvSpPr>
        <p:spPr>
          <a:xfrm>
            <a:off x="4325794" y="5383257"/>
            <a:ext cx="4572000" cy="369332"/>
          </a:xfrm>
          <a:prstGeom prst="rect">
            <a:avLst/>
          </a:prstGeom>
          <a:solidFill>
            <a:schemeClr val="tx2">
              <a:lumMod val="60000"/>
              <a:lumOff val="40000"/>
            </a:schemeClr>
          </a:solidFill>
        </p:spPr>
        <p:txBody>
          <a:bodyPr wrap="square">
            <a:spAutoFit/>
          </a:bodyPr>
          <a:lstStyle/>
          <a:p>
            <a:pPr marL="285750" indent="-285750">
              <a:spcBef>
                <a:spcPct val="0"/>
              </a:spcBef>
              <a:buFont typeface="Wingdings" panose="05000000000000000000" pitchFamily="2" charset="2"/>
              <a:buChar char="Ø"/>
            </a:pPr>
            <a:r>
              <a:rPr lang="en-US" altLang="zh-CN" sz="1800" b="1" i="0" dirty="0" err="1">
                <a:solidFill>
                  <a:schemeClr val="bg1"/>
                </a:solidFill>
                <a:effectLst/>
                <a:latin typeface="PingFang SC"/>
              </a:rPr>
              <a:t>jieba</a:t>
            </a:r>
            <a:r>
              <a:rPr lang="zh-CN" altLang="en-US" sz="1800" b="1" i="0" dirty="0">
                <a:solidFill>
                  <a:schemeClr val="bg1"/>
                </a:solidFill>
                <a:effectLst/>
                <a:latin typeface="PingFang SC"/>
              </a:rPr>
              <a:t>（结巴）分词种词性</a:t>
            </a:r>
            <a:r>
              <a:rPr lang="zh-CN" altLang="en-US" b="1" dirty="0">
                <a:solidFill>
                  <a:schemeClr val="bg1"/>
                </a:solidFill>
                <a:latin typeface="PingFang SC"/>
              </a:rPr>
              <a:t> 请互联网查询</a:t>
            </a:r>
            <a:endParaRPr lang="zh-CN" altLang="en-US" sz="1800" b="1" i="0" dirty="0">
              <a:solidFill>
                <a:schemeClr val="bg1"/>
              </a:solidFill>
              <a:effectLst/>
              <a:latin typeface="PingFang SC"/>
            </a:endParaRPr>
          </a:p>
        </p:txBody>
      </p:sp>
    </p:spTree>
    <p:extLst>
      <p:ext uri="{BB962C8B-B14F-4D97-AF65-F5344CB8AC3E}">
        <p14:creationId xmlns:p14="http://schemas.microsoft.com/office/powerpoint/2010/main" val="1757344225"/>
      </p:ext>
    </p:extLst>
  </p:cSld>
  <p:clrMapOvr>
    <a:masterClrMapping/>
  </p:clrMapOvr>
  <p:transition spd="slow" advClick="0">
    <p:pull dir="d"/>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2"/>
          <p:cNvSpPr>
            <a:spLocks noGrp="1"/>
          </p:cNvSpPr>
          <p:nvPr>
            <p:ph idx="1"/>
          </p:nvPr>
        </p:nvSpPr>
        <p:spPr>
          <a:xfrm>
            <a:off x="611560" y="1454180"/>
            <a:ext cx="8229600" cy="4678451"/>
          </a:xfrm>
        </p:spPr>
        <p:txBody>
          <a:bodyPr anchor="t"/>
          <a:lstStyle/>
          <a:p>
            <a:pPr marL="0" indent="0">
              <a:spcBef>
                <a:spcPct val="0"/>
              </a:spcBef>
              <a:buNone/>
            </a:pPr>
            <a:r>
              <a:rPr lang="en-US" altLang="zh-CN" sz="1600" dirty="0">
                <a:latin typeface="Consolas" panose="020B0609020204030204" charset="0"/>
              </a:rPr>
              <a:t>&gt;&gt;&gt; import </a:t>
            </a:r>
            <a:r>
              <a:rPr lang="en-US" altLang="zh-CN" sz="1600" dirty="0" err="1">
                <a:latin typeface="Consolas" panose="020B0609020204030204" charset="0"/>
              </a:rPr>
              <a:t>snownlp</a:t>
            </a:r>
            <a:r>
              <a:rPr lang="en-US" altLang="zh-CN" sz="1600" dirty="0">
                <a:latin typeface="Consolas" panose="020B0609020204030204" charset="0"/>
              </a:rPr>
              <a:t>                     #导入snowNLP模块</a:t>
            </a:r>
          </a:p>
          <a:p>
            <a:pPr marL="0" indent="0">
              <a:spcBef>
                <a:spcPct val="0"/>
              </a:spcBef>
              <a:buNone/>
            </a:pPr>
            <a:r>
              <a:rPr lang="en-US" altLang="zh-CN" sz="1600" dirty="0">
                <a:latin typeface="Consolas" panose="020B0609020204030204" charset="0"/>
              </a:rPr>
              <a:t>&gt;&gt;&gt; </a:t>
            </a:r>
            <a:r>
              <a:rPr lang="en-US" altLang="zh-CN" sz="1600" dirty="0" err="1">
                <a:latin typeface="Consolas" panose="020B0609020204030204" charset="0"/>
              </a:rPr>
              <a:t>snownlp.SnowNLP</a:t>
            </a:r>
            <a:r>
              <a:rPr lang="en-US" altLang="zh-CN" sz="1600" dirty="0">
                <a:latin typeface="Consolas" panose="020B0609020204030204" charset="0"/>
              </a:rPr>
              <a:t>('</a:t>
            </a:r>
            <a:r>
              <a:rPr lang="en-US" altLang="zh-CN" sz="1600" dirty="0" err="1">
                <a:latin typeface="Consolas" panose="020B0609020204030204" charset="0"/>
              </a:rPr>
              <a:t>学而时习之，不亦说乎</a:t>
            </a:r>
            <a:r>
              <a:rPr lang="en-US" altLang="zh-CN" sz="1600" dirty="0">
                <a:latin typeface="Consolas" panose="020B0609020204030204" charset="0"/>
              </a:rPr>
              <a:t>').words</a:t>
            </a:r>
          </a:p>
          <a:p>
            <a:pPr marL="0" indent="0">
              <a:spcBef>
                <a:spcPct val="0"/>
              </a:spcBef>
              <a:buNone/>
            </a:pPr>
            <a:r>
              <a:rPr lang="en-US" altLang="zh-CN" sz="1600" dirty="0">
                <a:solidFill>
                  <a:srgbClr val="0000FF"/>
                </a:solidFill>
                <a:latin typeface="Consolas" panose="020B0609020204030204" charset="0"/>
              </a:rPr>
              <a:t>['</a:t>
            </a:r>
            <a:r>
              <a:rPr lang="en-US" altLang="zh-CN" sz="1600" dirty="0" err="1">
                <a:solidFill>
                  <a:srgbClr val="0000FF"/>
                </a:solidFill>
                <a:latin typeface="Consolas" panose="020B0609020204030204" charset="0"/>
              </a:rPr>
              <a:t>学而</a:t>
            </a:r>
            <a:r>
              <a:rPr lang="en-US" altLang="zh-CN" sz="1600" dirty="0">
                <a:solidFill>
                  <a:srgbClr val="0000FF"/>
                </a:solidFill>
                <a:latin typeface="Consolas" panose="020B0609020204030204" charset="0"/>
              </a:rPr>
              <a:t>', '</a:t>
            </a:r>
            <a:r>
              <a:rPr lang="en-US" altLang="zh-CN" sz="1600" dirty="0" err="1">
                <a:solidFill>
                  <a:srgbClr val="0000FF"/>
                </a:solidFill>
                <a:latin typeface="Consolas" panose="020B0609020204030204" charset="0"/>
              </a:rPr>
              <a:t>时习</a:t>
            </a:r>
            <a:r>
              <a:rPr lang="en-US" altLang="zh-CN" sz="1600" dirty="0">
                <a:solidFill>
                  <a:srgbClr val="0000FF"/>
                </a:solidFill>
                <a:latin typeface="Consolas" panose="020B0609020204030204" charset="0"/>
              </a:rPr>
              <a:t>', '之', '，', '</a:t>
            </a:r>
            <a:r>
              <a:rPr lang="en-US" altLang="zh-CN" sz="1600" dirty="0" err="1">
                <a:solidFill>
                  <a:srgbClr val="0000FF"/>
                </a:solidFill>
                <a:latin typeface="Consolas" panose="020B0609020204030204" charset="0"/>
              </a:rPr>
              <a:t>不亦</a:t>
            </a:r>
            <a:r>
              <a:rPr lang="en-US" altLang="zh-CN" sz="1600" dirty="0">
                <a:solidFill>
                  <a:srgbClr val="0000FF"/>
                </a:solidFill>
                <a:latin typeface="Consolas" panose="020B0609020204030204" charset="0"/>
              </a:rPr>
              <a:t>', '</a:t>
            </a:r>
            <a:r>
              <a:rPr lang="en-US" altLang="zh-CN" sz="1600" dirty="0" err="1">
                <a:solidFill>
                  <a:srgbClr val="0000FF"/>
                </a:solidFill>
                <a:latin typeface="Consolas" panose="020B0609020204030204" charset="0"/>
              </a:rPr>
              <a:t>说乎</a:t>
            </a:r>
            <a:r>
              <a:rPr lang="en-US" altLang="zh-CN" sz="1600" dirty="0">
                <a:solidFill>
                  <a:srgbClr val="0000FF"/>
                </a:solidFill>
                <a:latin typeface="Consolas" panose="020B0609020204030204" charset="0"/>
              </a:rPr>
              <a:t>']</a:t>
            </a:r>
          </a:p>
          <a:p>
            <a:pPr marL="0" indent="0">
              <a:spcBef>
                <a:spcPct val="0"/>
              </a:spcBef>
              <a:buNone/>
            </a:pPr>
            <a:r>
              <a:rPr lang="en-US" altLang="zh-CN" sz="1600" dirty="0">
                <a:latin typeface="Consolas" panose="020B0609020204030204" charset="0"/>
              </a:rPr>
              <a:t>&gt;&gt;&gt; </a:t>
            </a:r>
            <a:r>
              <a:rPr lang="en-US" altLang="zh-CN" sz="1600" dirty="0" err="1">
                <a:latin typeface="Consolas" panose="020B0609020204030204" charset="0"/>
              </a:rPr>
              <a:t>snownlp.SnowNLP</a:t>
            </a:r>
            <a:r>
              <a:rPr lang="en-US" altLang="zh-CN" sz="1600" dirty="0">
                <a:latin typeface="Consolas" panose="020B0609020204030204" charset="0"/>
              </a:rPr>
              <a:t>(x).words</a:t>
            </a:r>
          </a:p>
          <a:p>
            <a:pPr marL="0" indent="0">
              <a:spcBef>
                <a:spcPct val="0"/>
              </a:spcBef>
              <a:buNone/>
            </a:pPr>
            <a:r>
              <a:rPr lang="en-US" altLang="zh-CN" sz="1600" dirty="0">
                <a:solidFill>
                  <a:srgbClr val="0000FF"/>
                </a:solidFill>
                <a:latin typeface="Consolas" panose="020B0609020204030204" charset="0"/>
              </a:rPr>
              <a:t>['</a:t>
            </a:r>
            <a:r>
              <a:rPr lang="en-US" altLang="zh-CN" sz="1600" dirty="0" err="1">
                <a:solidFill>
                  <a:srgbClr val="0000FF"/>
                </a:solidFill>
                <a:latin typeface="Consolas" panose="020B0609020204030204" charset="0"/>
              </a:rPr>
              <a:t>分词</a:t>
            </a:r>
            <a:r>
              <a:rPr lang="en-US" altLang="zh-CN" sz="1600" dirty="0">
                <a:solidFill>
                  <a:srgbClr val="0000FF"/>
                </a:solidFill>
                <a:latin typeface="Consolas" panose="020B0609020204030204" charset="0"/>
              </a:rPr>
              <a:t>', '的', '</a:t>
            </a:r>
            <a:r>
              <a:rPr lang="en-US" altLang="zh-CN" sz="1600" dirty="0" err="1">
                <a:solidFill>
                  <a:srgbClr val="0000FF"/>
                </a:solidFill>
                <a:latin typeface="Consolas" panose="020B0609020204030204" charset="0"/>
              </a:rPr>
              <a:t>准确度</a:t>
            </a:r>
            <a:r>
              <a:rPr lang="en-US" altLang="zh-CN" sz="1600" dirty="0">
                <a:solidFill>
                  <a:srgbClr val="0000FF"/>
                </a:solidFill>
                <a:latin typeface="Consolas" panose="020B0609020204030204" charset="0"/>
              </a:rPr>
              <a:t>', '</a:t>
            </a:r>
            <a:r>
              <a:rPr lang="en-US" altLang="zh-CN" sz="1600" dirty="0" err="1">
                <a:solidFill>
                  <a:srgbClr val="0000FF"/>
                </a:solidFill>
                <a:latin typeface="Consolas" panose="020B0609020204030204" charset="0"/>
              </a:rPr>
              <a:t>直接</a:t>
            </a:r>
            <a:r>
              <a:rPr lang="en-US" altLang="zh-CN" sz="1600" dirty="0">
                <a:solidFill>
                  <a:srgbClr val="0000FF"/>
                </a:solidFill>
                <a:latin typeface="Consolas" panose="020B0609020204030204" charset="0"/>
              </a:rPr>
              <a:t>', '</a:t>
            </a:r>
            <a:r>
              <a:rPr lang="en-US" altLang="zh-CN" sz="1600" dirty="0" err="1">
                <a:solidFill>
                  <a:srgbClr val="0000FF"/>
                </a:solidFill>
                <a:latin typeface="Consolas" panose="020B0609020204030204" charset="0"/>
              </a:rPr>
              <a:t>影响</a:t>
            </a:r>
            <a:r>
              <a:rPr lang="en-US" altLang="zh-CN" sz="1600" dirty="0">
                <a:solidFill>
                  <a:srgbClr val="0000FF"/>
                </a:solidFill>
                <a:latin typeface="Consolas" panose="020B0609020204030204" charset="0"/>
              </a:rPr>
              <a:t>', '了', '</a:t>
            </a:r>
            <a:r>
              <a:rPr lang="en-US" altLang="zh-CN" sz="1600" dirty="0" err="1">
                <a:solidFill>
                  <a:srgbClr val="0000FF"/>
                </a:solidFill>
                <a:latin typeface="Consolas" panose="020B0609020204030204" charset="0"/>
              </a:rPr>
              <a:t>后续</a:t>
            </a:r>
            <a:r>
              <a:rPr lang="en-US" altLang="zh-CN" sz="1600" dirty="0">
                <a:solidFill>
                  <a:srgbClr val="0000FF"/>
                </a:solidFill>
                <a:latin typeface="Consolas" panose="020B0609020204030204" charset="0"/>
              </a:rPr>
              <a:t>', '</a:t>
            </a:r>
            <a:r>
              <a:rPr lang="en-US" altLang="zh-CN" sz="1600" dirty="0" err="1">
                <a:solidFill>
                  <a:srgbClr val="0000FF"/>
                </a:solidFill>
                <a:latin typeface="Consolas" panose="020B0609020204030204" charset="0"/>
              </a:rPr>
              <a:t>文本</a:t>
            </a:r>
            <a:r>
              <a:rPr lang="en-US" altLang="zh-CN" sz="1600" dirty="0">
                <a:solidFill>
                  <a:srgbClr val="0000FF"/>
                </a:solidFill>
                <a:latin typeface="Consolas" panose="020B0609020204030204" charset="0"/>
              </a:rPr>
              <a:t>', '</a:t>
            </a:r>
            <a:r>
              <a:rPr lang="en-US" altLang="zh-CN" sz="1600" dirty="0" err="1">
                <a:solidFill>
                  <a:srgbClr val="0000FF"/>
                </a:solidFill>
                <a:latin typeface="Consolas" panose="020B0609020204030204" charset="0"/>
              </a:rPr>
              <a:t>处理</a:t>
            </a:r>
            <a:r>
              <a:rPr lang="en-US" altLang="zh-CN" sz="1600" dirty="0">
                <a:solidFill>
                  <a:srgbClr val="0000FF"/>
                </a:solidFill>
                <a:latin typeface="Consolas" panose="020B0609020204030204" charset="0"/>
              </a:rPr>
              <a:t>', '和', '</a:t>
            </a:r>
            <a:r>
              <a:rPr lang="en-US" altLang="zh-CN" sz="1600" dirty="0" err="1">
                <a:solidFill>
                  <a:srgbClr val="0000FF"/>
                </a:solidFill>
                <a:latin typeface="Consolas" panose="020B0609020204030204" charset="0"/>
              </a:rPr>
              <a:t>挖掘</a:t>
            </a:r>
            <a:r>
              <a:rPr lang="en-US" altLang="zh-CN" sz="1600" dirty="0">
                <a:solidFill>
                  <a:srgbClr val="0000FF"/>
                </a:solidFill>
                <a:latin typeface="Consolas" panose="020B0609020204030204" charset="0"/>
              </a:rPr>
              <a:t>', '</a:t>
            </a:r>
            <a:r>
              <a:rPr lang="en-US" altLang="zh-CN" sz="1600" dirty="0" err="1">
                <a:solidFill>
                  <a:srgbClr val="0000FF"/>
                </a:solidFill>
                <a:latin typeface="Consolas" panose="020B0609020204030204" charset="0"/>
              </a:rPr>
              <a:t>算法</a:t>
            </a:r>
            <a:r>
              <a:rPr lang="en-US" altLang="zh-CN" sz="1600" dirty="0">
                <a:solidFill>
                  <a:srgbClr val="0000FF"/>
                </a:solidFill>
                <a:latin typeface="Consolas" panose="020B0609020204030204" charset="0"/>
              </a:rPr>
              <a:t>', '的', '</a:t>
            </a:r>
            <a:r>
              <a:rPr lang="en-US" altLang="zh-CN" sz="1600" dirty="0" err="1">
                <a:solidFill>
                  <a:srgbClr val="0000FF"/>
                </a:solidFill>
                <a:latin typeface="Consolas" panose="020B0609020204030204" charset="0"/>
              </a:rPr>
              <a:t>最终</a:t>
            </a:r>
            <a:r>
              <a:rPr lang="en-US" altLang="zh-CN" sz="1600" dirty="0">
                <a:solidFill>
                  <a:srgbClr val="0000FF"/>
                </a:solidFill>
                <a:latin typeface="Consolas" panose="020B0609020204030204" charset="0"/>
              </a:rPr>
              <a:t>', '</a:t>
            </a:r>
            <a:r>
              <a:rPr lang="en-US" altLang="zh-CN" sz="1600" dirty="0" err="1">
                <a:solidFill>
                  <a:srgbClr val="0000FF"/>
                </a:solidFill>
                <a:latin typeface="Consolas" panose="020B0609020204030204" charset="0"/>
              </a:rPr>
              <a:t>效果</a:t>
            </a:r>
            <a:r>
              <a:rPr lang="en-US" altLang="zh-CN" sz="1600" dirty="0">
                <a:solidFill>
                  <a:srgbClr val="0000FF"/>
                </a:solidFill>
                <a:latin typeface="Consolas" panose="020B0609020204030204" charset="0"/>
              </a:rPr>
              <a:t>', '。']</a:t>
            </a:r>
          </a:p>
          <a:p>
            <a:pPr marL="0" indent="0">
              <a:buNone/>
            </a:pPr>
            <a:endParaRPr lang="en-US" altLang="zh-CN" sz="1600" dirty="0"/>
          </a:p>
        </p:txBody>
      </p:sp>
      <p:sp>
        <p:nvSpPr>
          <p:cNvPr id="80899" name="Slide Number Placeholder 3"/>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47</a:t>
            </a:fld>
            <a:endParaRPr lang="zh-CN" altLang="en-US" sz="1050" dirty="0"/>
          </a:p>
        </p:txBody>
      </p:sp>
      <p:grpSp>
        <p:nvGrpSpPr>
          <p:cNvPr id="6" name="组合 67"/>
          <p:cNvGrpSpPr/>
          <p:nvPr/>
        </p:nvGrpSpPr>
        <p:grpSpPr>
          <a:xfrm>
            <a:off x="611560" y="118397"/>
            <a:ext cx="8109328" cy="681854"/>
            <a:chOff x="936625" y="4195877"/>
            <a:chExt cx="8109328" cy="681854"/>
          </a:xfrm>
        </p:grpSpPr>
        <p:grpSp>
          <p:nvGrpSpPr>
            <p:cNvPr id="7" name="组合 106"/>
            <p:cNvGrpSpPr/>
            <p:nvPr/>
          </p:nvGrpSpPr>
          <p:grpSpPr>
            <a:xfrm>
              <a:off x="936625" y="4195877"/>
              <a:ext cx="8109328" cy="681854"/>
              <a:chOff x="927100" y="4195877"/>
              <a:chExt cx="8109328" cy="681854"/>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719188" y="4195877"/>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anose="02020603050405020304" pitchFamily="18" charset="0"/>
                    <a:ea typeface="黑体" panose="02010609060101010101" pitchFamily="49" charset="-122"/>
                  </a:rPr>
                  <a:t>4.2 </a:t>
                </a:r>
                <a:r>
                  <a:rPr lang="zh-CN" altLang="en-US" sz="3600" b="1" dirty="0">
                    <a:latin typeface="Times New Roman" panose="02020603050405020304" pitchFamily="18" charset="0"/>
                    <a:ea typeface="黑体" panose="02010609060101010101" pitchFamily="49" charset="-122"/>
                  </a:rPr>
                  <a:t>字符串的应用</a:t>
                </a:r>
                <a:endParaRPr lang="zh-CN" altLang="en-US" sz="3600" b="1" dirty="0">
                  <a:latin typeface="黑体" panose="02010609060101010101" pitchFamily="49" charset="-122"/>
                  <a:ea typeface="黑体" panose="02010609060101010101" pitchFamily="49" charset="-122"/>
                </a:endParaRPr>
              </a:p>
            </p:txBody>
          </p:sp>
        </p:grpSp>
        <p:pic>
          <p:nvPicPr>
            <p:cNvPr id="8" name="图片 7" descr="无标题.png"/>
            <p:cNvPicPr>
              <a:picLocks noChangeAspect="1"/>
            </p:cNvPicPr>
            <p:nvPr/>
          </p:nvPicPr>
          <p:blipFill>
            <a:blip r:embed="rId3" cstate="print"/>
            <a:stretch>
              <a:fillRect/>
            </a:stretch>
          </p:blipFill>
          <p:spPr>
            <a:xfrm>
              <a:off x="1137949" y="4364064"/>
              <a:ext cx="433676" cy="330989"/>
            </a:xfrm>
            <a:prstGeom prst="rect">
              <a:avLst/>
            </a:prstGeom>
          </p:spPr>
        </p:pic>
      </p:grpSp>
      <p:sp>
        <p:nvSpPr>
          <p:cNvPr id="11" name="文本框 10"/>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中英文分词</a:t>
            </a:r>
            <a:endParaRPr lang="en-US" altLang="zh-CN" sz="2800" b="1" dirty="0">
              <a:ea typeface="仿宋" panose="02010609060101010101" pitchFamily="49" charset="-122"/>
            </a:endParaRPr>
          </a:p>
        </p:txBody>
      </p:sp>
    </p:spTree>
    <p:extLst>
      <p:ext uri="{BB962C8B-B14F-4D97-AF65-F5344CB8AC3E}">
        <p14:creationId xmlns:p14="http://schemas.microsoft.com/office/powerpoint/2010/main" val="866633659"/>
      </p:ext>
    </p:extLst>
  </p:cSld>
  <p:clrMapOvr>
    <a:masterClrMapping/>
  </p:clrMapOvr>
  <p:transition spd="slow" advClick="0">
    <p:pull dir="d"/>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052736"/>
            <a:ext cx="8121650" cy="3686404"/>
          </a:xfrm>
        </p:spPr>
        <p:txBody>
          <a:bodyPr/>
          <a:lstStyle/>
          <a:p>
            <a:pPr>
              <a:spcBef>
                <a:spcPts val="600"/>
              </a:spcBef>
              <a:buClr>
                <a:srgbClr val="FF0000"/>
              </a:buClr>
              <a:buFont typeface="Wingdings" panose="05000000000000000000" pitchFamily="2" charset="2"/>
              <a:buChar char="ü"/>
            </a:pPr>
            <a:r>
              <a:rPr lang="zh-CN" altLang="en-US" sz="2000" b="1" noProof="1"/>
              <a:t>编写程序，把一个英文句子中的单词倒置，标点符号不倒置，例如 I like </a:t>
            </a:r>
            <a:r>
              <a:rPr lang="en-US" altLang="zh-CN" sz="2000" b="1" noProof="1"/>
              <a:t>python</a:t>
            </a:r>
            <a:r>
              <a:rPr lang="zh-CN" altLang="en-US" sz="2000" b="1" noProof="1"/>
              <a:t>. 经过函数后变为：</a:t>
            </a:r>
            <a:r>
              <a:rPr lang="en-US" altLang="zh-CN" sz="2000" b="1" noProof="1"/>
              <a:t>python</a:t>
            </a:r>
            <a:r>
              <a:rPr lang="zh-CN" altLang="en-US" sz="2000" b="1" noProof="1"/>
              <a:t>. like I</a:t>
            </a:r>
          </a:p>
          <a:p>
            <a:pPr marL="0" indent="0">
              <a:buNone/>
            </a:pPr>
            <a:endParaRPr lang="en-US" sz="1600" noProof="1">
              <a:latin typeface="Consolas" panose="020B0609020204030204" charset="0"/>
            </a:endParaRPr>
          </a:p>
          <a:p>
            <a:pPr marL="0" indent="0">
              <a:buNone/>
            </a:pPr>
            <a:r>
              <a:rPr lang="en-US" sz="1600" noProof="1">
                <a:solidFill>
                  <a:srgbClr val="0000FF"/>
                </a:solidFill>
                <a:latin typeface="Consolas" panose="020B0609020204030204" charset="0"/>
              </a:rPr>
              <a:t>def</a:t>
            </a:r>
            <a:r>
              <a:rPr lang="en-US" sz="1600" noProof="1">
                <a:latin typeface="Consolas" panose="020B0609020204030204" charset="0"/>
              </a:rPr>
              <a:t> rev1(s):</a:t>
            </a:r>
          </a:p>
          <a:p>
            <a:pPr marL="0" indent="0">
              <a:spcBef>
                <a:spcPts val="0"/>
              </a:spcBef>
              <a:buNone/>
            </a:pPr>
            <a:r>
              <a:rPr lang="en-US" sz="1600" noProof="1">
                <a:latin typeface="Consolas" panose="020B0609020204030204" charset="0"/>
              </a:rPr>
              <a:t>    return ' '.join(reversed(s.split()))</a:t>
            </a:r>
          </a:p>
          <a:p>
            <a:pPr marL="0" indent="0">
              <a:spcBef>
                <a:spcPts val="0"/>
              </a:spcBef>
              <a:buNone/>
            </a:pPr>
            <a:endParaRPr lang="en-US" sz="1600" noProof="1">
              <a:latin typeface="Consolas" panose="020B0609020204030204" charset="0"/>
            </a:endParaRPr>
          </a:p>
          <a:p>
            <a:pPr marL="0" indent="0">
              <a:spcBef>
                <a:spcPts val="0"/>
              </a:spcBef>
              <a:buNone/>
            </a:pPr>
            <a:r>
              <a:rPr lang="en-US" sz="1600" noProof="1">
                <a:solidFill>
                  <a:srgbClr val="0000FF"/>
                </a:solidFill>
                <a:latin typeface="Consolas" panose="020B0609020204030204" charset="0"/>
              </a:rPr>
              <a:t>def</a:t>
            </a:r>
            <a:r>
              <a:rPr lang="en-US" sz="1600" noProof="1">
                <a:latin typeface="Consolas" panose="020B0609020204030204" charset="0"/>
              </a:rPr>
              <a:t> rev2(s):</a:t>
            </a:r>
          </a:p>
          <a:p>
            <a:pPr marL="0" indent="0">
              <a:spcBef>
                <a:spcPts val="0"/>
              </a:spcBef>
              <a:buNone/>
            </a:pPr>
            <a:r>
              <a:rPr lang="en-US" sz="1600" noProof="1">
                <a:latin typeface="Consolas" panose="020B0609020204030204" charset="0"/>
              </a:rPr>
              <a:t>    t = s.split()</a:t>
            </a:r>
          </a:p>
          <a:p>
            <a:pPr marL="0" indent="0">
              <a:spcBef>
                <a:spcPts val="0"/>
              </a:spcBef>
              <a:buNone/>
            </a:pPr>
            <a:r>
              <a:rPr lang="en-US" sz="1600" noProof="1">
                <a:latin typeface="Consolas" panose="020B0609020204030204" charset="0"/>
              </a:rPr>
              <a:t>    t.reverse()</a:t>
            </a:r>
          </a:p>
          <a:p>
            <a:pPr marL="0" indent="0">
              <a:spcBef>
                <a:spcPts val="0"/>
              </a:spcBef>
              <a:buNone/>
            </a:pPr>
            <a:r>
              <a:rPr lang="en-US" sz="1600" noProof="1">
                <a:latin typeface="Consolas" panose="020B0609020204030204" charset="0"/>
              </a:rPr>
              <a:t>    return ' '.join(t)</a:t>
            </a:r>
          </a:p>
          <a:p>
            <a:pPr marL="0" indent="0">
              <a:spcBef>
                <a:spcPts val="0"/>
              </a:spcBef>
              <a:buNone/>
            </a:pPr>
            <a:endParaRPr lang="en-US" sz="1600" noProof="1">
              <a:latin typeface="Consolas" panose="020B0609020204030204" charset="0"/>
            </a:endParaRPr>
          </a:p>
          <a:p>
            <a:pPr marL="0" indent="0">
              <a:spcBef>
                <a:spcPts val="0"/>
              </a:spcBef>
              <a:buNone/>
            </a:pPr>
            <a:r>
              <a:rPr lang="en-US" sz="1600" noProof="1">
                <a:solidFill>
                  <a:srgbClr val="0000FF"/>
                </a:solidFill>
                <a:latin typeface="Consolas" panose="020B0609020204030204" charset="0"/>
              </a:rPr>
              <a:t>def</a:t>
            </a:r>
            <a:r>
              <a:rPr lang="en-US" sz="1600" noProof="1">
                <a:latin typeface="Consolas" panose="020B0609020204030204" charset="0"/>
              </a:rPr>
              <a:t> rev5(s):</a:t>
            </a:r>
          </a:p>
          <a:p>
            <a:pPr marL="0" indent="0">
              <a:spcBef>
                <a:spcPts val="0"/>
              </a:spcBef>
              <a:buNone/>
            </a:pPr>
            <a:r>
              <a:rPr lang="en-US" sz="1600" noProof="1">
                <a:latin typeface="Consolas" panose="020B0609020204030204" charset="0"/>
              </a:rPr>
              <a:t>    '''字符串整体逆序，分隔，再各单词逆序'''</a:t>
            </a:r>
          </a:p>
          <a:p>
            <a:pPr marL="0" indent="0">
              <a:spcBef>
                <a:spcPts val="0"/>
              </a:spcBef>
              <a:buNone/>
            </a:pPr>
            <a:r>
              <a:rPr lang="en-US" sz="1600" noProof="1">
                <a:latin typeface="Consolas" panose="020B0609020204030204" charset="0"/>
              </a:rPr>
              <a:t>    t = ''.join(reversed(s)).split()</a:t>
            </a:r>
          </a:p>
          <a:p>
            <a:pPr marL="0" indent="0">
              <a:spcBef>
                <a:spcPts val="0"/>
              </a:spcBef>
              <a:buNone/>
            </a:pPr>
            <a:r>
              <a:rPr lang="en-US" sz="1600" noProof="1">
                <a:latin typeface="Consolas" panose="020B0609020204030204" charset="0"/>
              </a:rPr>
              <a:t>    t = map(lambda x:''.join(reversed(x)), t)</a:t>
            </a:r>
          </a:p>
          <a:p>
            <a:pPr marL="0" indent="0">
              <a:spcBef>
                <a:spcPts val="0"/>
              </a:spcBef>
              <a:buNone/>
            </a:pPr>
            <a:r>
              <a:rPr lang="en-US" sz="1600" noProof="1">
                <a:latin typeface="Consolas" panose="020B0609020204030204" charset="0"/>
              </a:rPr>
              <a:t>    return ' '.join(t)</a:t>
            </a:r>
          </a:p>
        </p:txBody>
      </p:sp>
      <p:sp>
        <p:nvSpPr>
          <p:cNvPr id="9728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48</a:t>
            </a:fld>
            <a:endParaRPr lang="zh-CN" altLang="en-US" sz="1050" dirty="0"/>
          </a:p>
        </p:txBody>
      </p:sp>
      <p:grpSp>
        <p:nvGrpSpPr>
          <p:cNvPr id="6" name="组合 67"/>
          <p:cNvGrpSpPr/>
          <p:nvPr/>
        </p:nvGrpSpPr>
        <p:grpSpPr>
          <a:xfrm>
            <a:off x="611560" y="118397"/>
            <a:ext cx="8109328" cy="681854"/>
            <a:chOff x="936625" y="4195877"/>
            <a:chExt cx="8109328" cy="681854"/>
          </a:xfrm>
        </p:grpSpPr>
        <p:grpSp>
          <p:nvGrpSpPr>
            <p:cNvPr id="7" name="组合 106"/>
            <p:cNvGrpSpPr/>
            <p:nvPr/>
          </p:nvGrpSpPr>
          <p:grpSpPr>
            <a:xfrm>
              <a:off x="936625" y="4195877"/>
              <a:ext cx="8109328" cy="681854"/>
              <a:chOff x="927100" y="4195877"/>
              <a:chExt cx="8109328" cy="681854"/>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719188" y="4195877"/>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anose="02020603050405020304" pitchFamily="18" charset="0"/>
                    <a:ea typeface="黑体" panose="02010609060101010101" pitchFamily="49" charset="-122"/>
                  </a:rPr>
                  <a:t>4.2 </a:t>
                </a:r>
                <a:r>
                  <a:rPr lang="zh-CN" altLang="en-US" sz="3600" b="1" dirty="0">
                    <a:latin typeface="Times New Roman" panose="02020603050405020304" pitchFamily="18" charset="0"/>
                    <a:ea typeface="黑体" panose="02010609060101010101" pitchFamily="49" charset="-122"/>
                  </a:rPr>
                  <a:t>字符串的应用</a:t>
                </a:r>
                <a:endParaRPr lang="zh-CN" altLang="en-US" sz="3600" b="1" dirty="0">
                  <a:latin typeface="黑体" panose="02010609060101010101" pitchFamily="49" charset="-122"/>
                  <a:ea typeface="黑体" panose="02010609060101010101" pitchFamily="49" charset="-122"/>
                </a:endParaRP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6629884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124744"/>
            <a:ext cx="8208912" cy="3395345"/>
          </a:xfrm>
        </p:spPr>
        <p:txBody>
          <a:bodyPr/>
          <a:lstStyle/>
          <a:p>
            <a:pPr fontAlgn="base">
              <a:buClr>
                <a:srgbClr val="FF0000"/>
              </a:buClr>
              <a:buFont typeface="Wingdings" panose="05000000000000000000" pitchFamily="2" charset="2"/>
              <a:buChar char="ü"/>
            </a:pPr>
            <a:r>
              <a:rPr lang="zh-CN" altLang="en-US" sz="2200" b="1" noProof="1"/>
              <a:t>例：</a:t>
            </a:r>
            <a:r>
              <a:rPr lang="en-US" altLang="zh-CN" sz="2200" b="1" noProof="1"/>
              <a:t> </a:t>
            </a:r>
            <a:r>
              <a:rPr lang="zh-CN" altLang="en-US" sz="2200" b="1" noProof="1"/>
              <a:t>编写程序，查找一个字符串中最长的数字子串。</a:t>
            </a:r>
          </a:p>
          <a:p>
            <a:pPr marL="0" indent="0">
              <a:spcBef>
                <a:spcPts val="0"/>
              </a:spcBef>
              <a:buNone/>
            </a:pPr>
            <a:endParaRPr lang="zh-CN" altLang="en-US" sz="1200" noProof="1">
              <a:latin typeface="Consolas" panose="020B0609020204030204" charset="0"/>
            </a:endParaRPr>
          </a:p>
          <a:p>
            <a:pPr marL="0" indent="0">
              <a:spcBef>
                <a:spcPts val="0"/>
              </a:spcBef>
              <a:buNone/>
            </a:pPr>
            <a:r>
              <a:rPr lang="zh-CN" altLang="en-US" sz="1600" noProof="1">
                <a:latin typeface="Consolas" panose="020B0609020204030204" charset="0"/>
              </a:rPr>
              <a:t>    </a:t>
            </a:r>
            <a:r>
              <a:rPr lang="en-US" altLang="zh-CN" sz="1600" noProof="1">
                <a:latin typeface="Consolas" panose="020B0609020204030204" charset="0"/>
              </a:rPr>
              <a:t>s = input(“input string:”)</a:t>
            </a:r>
          </a:p>
          <a:p>
            <a:pPr marL="0" indent="0">
              <a:spcBef>
                <a:spcPts val="0"/>
              </a:spcBef>
              <a:buNone/>
            </a:pPr>
            <a:r>
              <a:rPr lang="en-US" altLang="zh-CN" sz="1600" noProof="1">
                <a:latin typeface="Consolas" panose="020B0609020204030204" charset="0"/>
              </a:rPr>
              <a:t>    </a:t>
            </a:r>
            <a:r>
              <a:rPr lang="zh-CN" altLang="en-US" sz="1600" noProof="1">
                <a:latin typeface="Consolas" panose="020B0609020204030204" charset="0"/>
              </a:rPr>
              <a:t>result = []</a:t>
            </a:r>
          </a:p>
          <a:p>
            <a:pPr marL="0" indent="0">
              <a:spcBef>
                <a:spcPts val="0"/>
              </a:spcBef>
              <a:buNone/>
            </a:pPr>
            <a:r>
              <a:rPr lang="zh-CN" altLang="en-US" sz="1600" noProof="1">
                <a:latin typeface="Consolas" panose="020B0609020204030204" charset="0"/>
              </a:rPr>
              <a:t>    t = []</a:t>
            </a:r>
          </a:p>
          <a:p>
            <a:pPr marL="0" indent="0">
              <a:spcBef>
                <a:spcPts val="0"/>
              </a:spcBef>
              <a:buNone/>
            </a:pPr>
            <a:r>
              <a:rPr lang="zh-CN" altLang="en-US" sz="1600" noProof="1">
                <a:latin typeface="Consolas" panose="020B0609020204030204" charset="0"/>
              </a:rPr>
              <a:t>    for ch in s:                      </a:t>
            </a:r>
            <a:r>
              <a:rPr lang="zh-CN" altLang="en-US" sz="1600" noProof="1">
                <a:latin typeface="Consolas" panose="020B0609020204030204" charset="0"/>
                <a:sym typeface="+mn-ea"/>
              </a:rPr>
              <a:t># 遍历字符串中所有字符</a:t>
            </a:r>
            <a:endParaRPr lang="zh-CN" altLang="en-US" sz="1600" noProof="1">
              <a:latin typeface="Consolas" panose="020B0609020204030204" charset="0"/>
            </a:endParaRPr>
          </a:p>
          <a:p>
            <a:pPr marL="0" indent="0">
              <a:spcBef>
                <a:spcPts val="0"/>
              </a:spcBef>
              <a:buNone/>
            </a:pPr>
            <a:r>
              <a:rPr lang="zh-CN" altLang="en-US" sz="1600" noProof="1">
                <a:latin typeface="Consolas" panose="020B0609020204030204" charset="0"/>
              </a:rPr>
              <a:t>        if '0'&lt;=ch&lt;='9':</a:t>
            </a:r>
            <a:r>
              <a:rPr lang="zh-CN" altLang="en-US" sz="1600" noProof="1">
                <a:latin typeface="Consolas" panose="020B0609020204030204" charset="0"/>
                <a:sym typeface="+mn-ea"/>
              </a:rPr>
              <a:t>              # 遇到数字，记录到临时变量</a:t>
            </a:r>
            <a:endParaRPr lang="zh-CN" altLang="en-US" sz="1600" noProof="1">
              <a:latin typeface="Consolas" panose="020B0609020204030204" charset="0"/>
            </a:endParaRPr>
          </a:p>
          <a:p>
            <a:pPr marL="0" indent="0">
              <a:spcBef>
                <a:spcPts val="0"/>
              </a:spcBef>
              <a:buNone/>
            </a:pPr>
            <a:r>
              <a:rPr lang="zh-CN" altLang="en-US" sz="1600" noProof="1">
                <a:latin typeface="Consolas" panose="020B0609020204030204" charset="0"/>
              </a:rPr>
              <a:t>            t.append(ch)</a:t>
            </a:r>
          </a:p>
          <a:p>
            <a:pPr marL="0" indent="0">
              <a:spcBef>
                <a:spcPts val="0"/>
              </a:spcBef>
              <a:buNone/>
            </a:pPr>
            <a:r>
              <a:rPr lang="zh-CN" altLang="en-US" sz="1600" noProof="1">
                <a:latin typeface="Consolas" panose="020B0609020204030204" charset="0"/>
              </a:rPr>
              <a:t>        elif t:</a:t>
            </a:r>
          </a:p>
          <a:p>
            <a:pPr marL="0" indent="0">
              <a:spcBef>
                <a:spcPts val="0"/>
              </a:spcBef>
              <a:buNone/>
            </a:pPr>
            <a:r>
              <a:rPr lang="zh-CN" altLang="en-US" sz="1600" noProof="1">
                <a:latin typeface="Consolas" panose="020B0609020204030204" charset="0"/>
              </a:rPr>
              <a:t>            result.append(''.join(t)) </a:t>
            </a:r>
            <a:r>
              <a:rPr lang="zh-CN" altLang="en-US" sz="1600" noProof="1">
                <a:latin typeface="Consolas" panose="020B0609020204030204" charset="0"/>
                <a:sym typeface="+mn-ea"/>
              </a:rPr>
              <a:t>#遇到非数字，把临时的连续数字记下来</a:t>
            </a:r>
            <a:endParaRPr lang="zh-CN" altLang="en-US" sz="1600" noProof="1">
              <a:latin typeface="Consolas" panose="020B0609020204030204" charset="0"/>
            </a:endParaRPr>
          </a:p>
          <a:p>
            <a:pPr marL="0" indent="0">
              <a:spcBef>
                <a:spcPts val="0"/>
              </a:spcBef>
              <a:buNone/>
            </a:pPr>
            <a:r>
              <a:rPr lang="zh-CN" altLang="en-US" sz="1600" noProof="1">
                <a:latin typeface="Consolas" panose="020B0609020204030204" charset="0"/>
              </a:rPr>
              <a:t>            t = []</a:t>
            </a:r>
          </a:p>
          <a:p>
            <a:pPr marL="0" indent="0">
              <a:spcBef>
                <a:spcPts val="0"/>
              </a:spcBef>
              <a:buNone/>
            </a:pPr>
            <a:r>
              <a:rPr lang="zh-CN" altLang="en-US" sz="1600" noProof="1">
                <a:latin typeface="Consolas" panose="020B0609020204030204" charset="0"/>
              </a:rPr>
              <a:t>    if t:                   </a:t>
            </a:r>
            <a:r>
              <a:rPr lang="zh-CN" altLang="en-US" sz="1600" noProof="1">
                <a:latin typeface="Consolas" panose="020B0609020204030204" charset="0"/>
                <a:sym typeface="+mn-ea"/>
              </a:rPr>
              <a:t>          # 考虑原字符串以数字结束的情况</a:t>
            </a:r>
            <a:endParaRPr lang="zh-CN" altLang="en-US" sz="1600" noProof="1">
              <a:latin typeface="Consolas" panose="020B0609020204030204" charset="0"/>
            </a:endParaRPr>
          </a:p>
          <a:p>
            <a:pPr marL="0" indent="0">
              <a:spcBef>
                <a:spcPts val="0"/>
              </a:spcBef>
              <a:buNone/>
            </a:pPr>
            <a:r>
              <a:rPr lang="zh-CN" altLang="en-US" sz="1600" noProof="1">
                <a:latin typeface="Consolas" panose="020B0609020204030204" charset="0"/>
              </a:rPr>
              <a:t>        result.append(''.join(t))</a:t>
            </a:r>
          </a:p>
          <a:p>
            <a:pPr marL="0" indent="0">
              <a:spcBef>
                <a:spcPts val="0"/>
              </a:spcBef>
              <a:buNone/>
            </a:pPr>
            <a:r>
              <a:rPr lang="zh-CN" altLang="en-US" sz="1600" noProof="1">
                <a:latin typeface="Consolas" panose="020B0609020204030204" charset="0"/>
              </a:rPr>
              <a:t>        </a:t>
            </a:r>
          </a:p>
          <a:p>
            <a:pPr marL="0" indent="0">
              <a:spcBef>
                <a:spcPts val="0"/>
              </a:spcBef>
              <a:buNone/>
            </a:pPr>
            <a:r>
              <a:rPr lang="zh-CN" altLang="en-US" sz="1600" noProof="1">
                <a:latin typeface="Consolas" panose="020B0609020204030204" charset="0"/>
              </a:rPr>
              <a:t>    if result:</a:t>
            </a:r>
          </a:p>
          <a:p>
            <a:pPr marL="0" indent="0">
              <a:spcBef>
                <a:spcPts val="0"/>
              </a:spcBef>
              <a:buNone/>
            </a:pPr>
            <a:r>
              <a:rPr lang="zh-CN" altLang="en-US" sz="1600" noProof="1">
                <a:latin typeface="Consolas" panose="020B0609020204030204" charset="0"/>
              </a:rPr>
              <a:t>        </a:t>
            </a:r>
            <a:r>
              <a:rPr lang="en-US" altLang="zh-CN" sz="1600" noProof="1">
                <a:latin typeface="Consolas" panose="020B0609020204030204" charset="0"/>
              </a:rPr>
              <a:t>print(</a:t>
            </a:r>
            <a:r>
              <a:rPr lang="zh-CN" altLang="en-US" sz="1600" noProof="1">
                <a:latin typeface="Consolas" panose="020B0609020204030204" charset="0"/>
              </a:rPr>
              <a:t>max(result, key=len)</a:t>
            </a:r>
            <a:r>
              <a:rPr lang="en-US" altLang="zh-CN" sz="1600" noProof="1">
                <a:latin typeface="Consolas" panose="020B0609020204030204" charset="0"/>
              </a:rPr>
              <a:t>)</a:t>
            </a:r>
            <a:endParaRPr lang="zh-CN" altLang="en-US" sz="1600" noProof="1">
              <a:latin typeface="Consolas" panose="020B0609020204030204" charset="0"/>
            </a:endParaRPr>
          </a:p>
          <a:p>
            <a:pPr marL="0" indent="0">
              <a:spcBef>
                <a:spcPts val="0"/>
              </a:spcBef>
              <a:buNone/>
            </a:pPr>
            <a:r>
              <a:rPr lang="zh-CN" altLang="en-US" sz="1600" noProof="1">
                <a:latin typeface="Consolas" panose="020B0609020204030204" charset="0"/>
              </a:rPr>
              <a:t>    </a:t>
            </a:r>
            <a:r>
              <a:rPr lang="en-US" altLang="zh-CN" sz="1600" noProof="1">
                <a:latin typeface="Consolas" panose="020B0609020204030204" charset="0"/>
              </a:rPr>
              <a:t>else:</a:t>
            </a:r>
          </a:p>
          <a:p>
            <a:pPr marL="0" indent="0">
              <a:spcBef>
                <a:spcPts val="0"/>
              </a:spcBef>
              <a:buNone/>
            </a:pPr>
            <a:r>
              <a:rPr lang="en-US" altLang="zh-CN" sz="1600" noProof="1">
                <a:latin typeface="Consolas" panose="020B0609020204030204" charset="0"/>
              </a:rPr>
              <a:t>        print(</a:t>
            </a:r>
            <a:r>
              <a:rPr lang="zh-CN" altLang="en-US" sz="1600" noProof="1">
                <a:latin typeface="Consolas" panose="020B0609020204030204" charset="0"/>
              </a:rPr>
              <a:t>'No '</a:t>
            </a:r>
            <a:r>
              <a:rPr lang="en-US" altLang="zh-CN" sz="1600" noProof="1">
                <a:latin typeface="Consolas" panose="020B0609020204030204" charset="0"/>
              </a:rPr>
              <a:t>)</a:t>
            </a:r>
            <a:endParaRPr lang="zh-CN" altLang="en-US" sz="1600" noProof="1">
              <a:latin typeface="Consolas" panose="020B0609020204030204" charset="0"/>
            </a:endParaRPr>
          </a:p>
        </p:txBody>
      </p:sp>
      <p:sp>
        <p:nvSpPr>
          <p:cNvPr id="98307"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49</a:t>
            </a:fld>
            <a:endParaRPr lang="zh-CN" altLang="en-US" sz="1050" dirty="0"/>
          </a:p>
        </p:txBody>
      </p:sp>
      <p:grpSp>
        <p:nvGrpSpPr>
          <p:cNvPr id="6" name="组合 67"/>
          <p:cNvGrpSpPr/>
          <p:nvPr/>
        </p:nvGrpSpPr>
        <p:grpSpPr>
          <a:xfrm>
            <a:off x="611560" y="118397"/>
            <a:ext cx="8109328" cy="681854"/>
            <a:chOff x="936625" y="4195877"/>
            <a:chExt cx="8109328" cy="681854"/>
          </a:xfrm>
        </p:grpSpPr>
        <p:grpSp>
          <p:nvGrpSpPr>
            <p:cNvPr id="7" name="组合 106"/>
            <p:cNvGrpSpPr/>
            <p:nvPr/>
          </p:nvGrpSpPr>
          <p:grpSpPr>
            <a:xfrm>
              <a:off x="936625" y="4195877"/>
              <a:ext cx="8109328" cy="681854"/>
              <a:chOff x="927100" y="4195877"/>
              <a:chExt cx="8109328" cy="681854"/>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719188" y="4195877"/>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anose="02020603050405020304" pitchFamily="18" charset="0"/>
                    <a:ea typeface="黑体" panose="02010609060101010101" pitchFamily="49" charset="-122"/>
                  </a:rPr>
                  <a:t>4.2 </a:t>
                </a:r>
                <a:r>
                  <a:rPr lang="zh-CN" altLang="en-US" sz="3600" b="1" dirty="0">
                    <a:latin typeface="Times New Roman" panose="02020603050405020304" pitchFamily="18" charset="0"/>
                    <a:ea typeface="黑体" panose="02010609060101010101" pitchFamily="49" charset="-122"/>
                  </a:rPr>
                  <a:t>字符串的应用</a:t>
                </a:r>
                <a:endParaRPr lang="zh-CN" altLang="en-US" sz="3600" b="1" dirty="0">
                  <a:latin typeface="黑体" panose="02010609060101010101" pitchFamily="49" charset="-122"/>
                  <a:ea typeface="黑体" panose="02010609060101010101" pitchFamily="49" charset="-122"/>
                </a:endParaRPr>
              </a:p>
            </p:txBody>
          </p:sp>
        </p:grpSp>
        <p:pic>
          <p:nvPicPr>
            <p:cNvPr id="8" name="图片 7"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4" name="矩形 3"/>
          <p:cNvSpPr/>
          <p:nvPr/>
        </p:nvSpPr>
        <p:spPr>
          <a:xfrm>
            <a:off x="4499992" y="5372653"/>
            <a:ext cx="3958135" cy="369332"/>
          </a:xfrm>
          <a:prstGeom prst="rect">
            <a:avLst/>
          </a:prstGeom>
        </p:spPr>
        <p:txBody>
          <a:bodyPr wrap="none">
            <a:spAutoFit/>
          </a:bodyPr>
          <a:lstStyle/>
          <a:p>
            <a:r>
              <a:rPr lang="zh-CN" altLang="en-US" dirty="0"/>
              <a:t>s = "</a:t>
            </a:r>
            <a:r>
              <a:rPr lang="zh-CN" altLang="en-US" dirty="0">
                <a:solidFill>
                  <a:srgbClr val="00B050"/>
                </a:solidFill>
              </a:rPr>
              <a:t>324fasafkda349349304230fsda</a:t>
            </a:r>
            <a:r>
              <a:rPr lang="zh-CN" altLang="en-US" dirty="0"/>
              <a:t>"</a:t>
            </a:r>
          </a:p>
        </p:txBody>
      </p:sp>
      <p:pic>
        <p:nvPicPr>
          <p:cNvPr id="16" name="图片 15"/>
          <p:cNvPicPr>
            <a:picLocks noChangeAspect="1"/>
          </p:cNvPicPr>
          <p:nvPr/>
        </p:nvPicPr>
        <p:blipFill>
          <a:blip r:embed="rId3"/>
          <a:stretch>
            <a:fillRect/>
          </a:stretch>
        </p:blipFill>
        <p:spPr>
          <a:xfrm>
            <a:off x="827584" y="1484784"/>
            <a:ext cx="5132842" cy="4986538"/>
          </a:xfrm>
          <a:prstGeom prst="rect">
            <a:avLst/>
          </a:prstGeom>
        </p:spPr>
      </p:pic>
    </p:spTree>
    <p:extLst>
      <p:ext uri="{BB962C8B-B14F-4D97-AF65-F5344CB8AC3E}">
        <p14:creationId xmlns:p14="http://schemas.microsoft.com/office/powerpoint/2010/main" val="285529676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 calcmode="lin" valueType="num">
                                      <p:cBhvr additive="base">
                                        <p:cTn id="4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 calcmode="lin" valueType="num">
                                      <p:cBhvr additive="base">
                                        <p:cTn id="5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anim calcmode="lin" valueType="num">
                                      <p:cBhvr additive="base">
                                        <p:cTn id="5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anim calcmode="lin" valueType="num">
                                      <p:cBhvr additive="base">
                                        <p:cTn id="5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anim calcmode="lin" valueType="num">
                                      <p:cBhvr additive="base">
                                        <p:cTn id="6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anim calcmode="lin" valueType="num">
                                      <p:cBhvr additive="base">
                                        <p:cTn id="6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3">
                                            <p:txEl>
                                              <p:pRg st="15" end="15"/>
                                            </p:txEl>
                                          </p:spTgt>
                                        </p:tgtEl>
                                        <p:attrNameLst>
                                          <p:attrName>style.visibility</p:attrName>
                                        </p:attrNameLst>
                                      </p:cBhvr>
                                      <p:to>
                                        <p:strVal val="visible"/>
                                      </p:to>
                                    </p:set>
                                    <p:anim calcmode="lin" valueType="num">
                                      <p:cBhvr additive="base">
                                        <p:cTn id="7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3">
                                            <p:txEl>
                                              <p:pRg st="16" end="16"/>
                                            </p:txEl>
                                          </p:spTgt>
                                        </p:tgtEl>
                                        <p:attrNameLst>
                                          <p:attrName>style.visibility</p:attrName>
                                        </p:attrNameLst>
                                      </p:cBhvr>
                                      <p:to>
                                        <p:strVal val="visible"/>
                                      </p:to>
                                    </p:set>
                                    <p:anim calcmode="lin" valueType="num">
                                      <p:cBhvr additive="base">
                                        <p:cTn id="7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3">
                                            <p:txEl>
                                              <p:pRg st="17" end="17"/>
                                            </p:txEl>
                                          </p:spTgt>
                                        </p:tgtEl>
                                        <p:attrNameLst>
                                          <p:attrName>style.visibility</p:attrName>
                                        </p:attrNameLst>
                                      </p:cBhvr>
                                      <p:to>
                                        <p:strVal val="visible"/>
                                      </p:to>
                                    </p:set>
                                    <p:anim calcmode="lin" valueType="num">
                                      <p:cBhvr additive="base">
                                        <p:cTn id="7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16"/>
                                        </p:tgtEl>
                                        <p:attrNameLst>
                                          <p:attrName>style.visibility</p:attrName>
                                        </p:attrNameLst>
                                      </p:cBhvr>
                                      <p:to>
                                        <p:strVal val="visible"/>
                                      </p:to>
                                    </p:set>
                                    <p:anim calcmode="lin" valueType="num">
                                      <p:cBhvr additive="base">
                                        <p:cTn id="85" dur="500" fill="hold"/>
                                        <p:tgtEl>
                                          <p:spTgt spid="16"/>
                                        </p:tgtEl>
                                        <p:attrNameLst>
                                          <p:attrName>ppt_x</p:attrName>
                                        </p:attrNameLst>
                                      </p:cBhvr>
                                      <p:tavLst>
                                        <p:tav tm="0">
                                          <p:val>
                                            <p:strVal val="#ppt_x"/>
                                          </p:val>
                                        </p:tav>
                                        <p:tav tm="100000">
                                          <p:val>
                                            <p:strVal val="#ppt_x"/>
                                          </p:val>
                                        </p:tav>
                                      </p:tavLst>
                                    </p:anim>
                                    <p:anim calcmode="lin" valueType="num">
                                      <p:cBhvr additive="base">
                                        <p:cTn id="8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Content Placeholder 2"/>
          <p:cNvSpPr>
            <a:spLocks noGrp="1"/>
          </p:cNvSpPr>
          <p:nvPr>
            <p:ph idx="1"/>
          </p:nvPr>
        </p:nvSpPr>
        <p:spPr>
          <a:xfrm>
            <a:off x="611560" y="977083"/>
            <a:ext cx="8229600" cy="4678451"/>
          </a:xfrm>
        </p:spPr>
        <p:txBody>
          <a:bodyPr anchor="t"/>
          <a:lstStyle/>
          <a:p>
            <a:pPr marL="0" indent="0">
              <a:buNone/>
            </a:pPr>
            <a:r>
              <a:rPr lang="en-US" altLang="zh-CN" sz="1600" dirty="0">
                <a:solidFill>
                  <a:srgbClr val="0000FF"/>
                </a:solidFill>
                <a:latin typeface="Consolas" panose="020B0609020204030204" charset="0"/>
              </a:rPr>
              <a:t># </a:t>
            </a:r>
            <a:r>
              <a:rPr lang="zh-CN" altLang="en-US" sz="1600" dirty="0">
                <a:solidFill>
                  <a:srgbClr val="0000FF"/>
                </a:solidFill>
                <a:latin typeface="Consolas" panose="020B0609020204030204" charset="0"/>
              </a:rPr>
              <a:t>选择法</a:t>
            </a:r>
          </a:p>
          <a:p>
            <a:pPr marL="0" indent="0">
              <a:spcBef>
                <a:spcPct val="0"/>
              </a:spcBef>
              <a:buNone/>
            </a:pPr>
            <a:r>
              <a:rPr lang="en-US" altLang="zh-CN" sz="1600" dirty="0" err="1">
                <a:solidFill>
                  <a:srgbClr val="0000FF"/>
                </a:solidFill>
                <a:latin typeface="Consolas" panose="020B0609020204030204" charset="0"/>
              </a:rPr>
              <a:t>def</a:t>
            </a:r>
            <a:r>
              <a:rPr lang="en-US" altLang="zh-CN" sz="1600" dirty="0">
                <a:latin typeface="Consolas" panose="020B0609020204030204" charset="0"/>
              </a:rPr>
              <a:t> longest(s):</a:t>
            </a:r>
          </a:p>
          <a:p>
            <a:pPr marL="0" indent="0">
              <a:spcBef>
                <a:spcPct val="0"/>
              </a:spcBef>
              <a:buNone/>
            </a:pPr>
            <a:r>
              <a:rPr lang="en-US" altLang="zh-CN" sz="1600" dirty="0">
                <a:latin typeface="Consolas" panose="020B0609020204030204" charset="0"/>
              </a:rPr>
              <a:t>    length = </a:t>
            </a:r>
            <a:r>
              <a:rPr lang="en-US" altLang="zh-CN" sz="1600" dirty="0" err="1">
                <a:latin typeface="Consolas" panose="020B0609020204030204" charset="0"/>
              </a:rPr>
              <a:t>len</a:t>
            </a:r>
            <a:r>
              <a:rPr lang="en-US" altLang="zh-CN" sz="1600" dirty="0">
                <a:latin typeface="Consolas" panose="020B0609020204030204" charset="0"/>
              </a:rPr>
              <a:t>(s)</a:t>
            </a:r>
          </a:p>
          <a:p>
            <a:pPr marL="0" indent="0">
              <a:spcBef>
                <a:spcPct val="0"/>
              </a:spcBef>
              <a:buNone/>
            </a:pPr>
            <a:r>
              <a:rPr lang="en-US" altLang="zh-CN" sz="1600" dirty="0">
                <a:latin typeface="Consolas" panose="020B0609020204030204" charset="0"/>
              </a:rPr>
              <a:t>    start = 0</a:t>
            </a:r>
          </a:p>
          <a:p>
            <a:pPr marL="0" indent="0">
              <a:spcBef>
                <a:spcPct val="0"/>
              </a:spcBef>
              <a:buNone/>
            </a:pPr>
            <a:r>
              <a:rPr lang="en-US" altLang="zh-CN" sz="1600" dirty="0">
                <a:latin typeface="Consolas" panose="020B0609020204030204" charset="0"/>
              </a:rPr>
              <a:t>    span = (0, 0)</a:t>
            </a:r>
          </a:p>
          <a:p>
            <a:pPr marL="0" indent="0">
              <a:spcBef>
                <a:spcPct val="0"/>
              </a:spcBef>
              <a:buNone/>
            </a:pPr>
            <a:r>
              <a:rPr lang="en-US" altLang="zh-CN" sz="1600" dirty="0">
                <a:latin typeface="Consolas" panose="020B0609020204030204" charset="0"/>
              </a:rPr>
              <a:t>    for pos in range(length):                     </a:t>
            </a:r>
            <a:r>
              <a:rPr lang="en-US" altLang="zh-CN" sz="1600" dirty="0">
                <a:solidFill>
                  <a:srgbClr val="FF0000"/>
                </a:solidFill>
                <a:latin typeface="Consolas" panose="020B0609020204030204" charset="0"/>
              </a:rPr>
              <a:t>#’1234567a’ </a:t>
            </a:r>
          </a:p>
          <a:p>
            <a:pPr marL="0" indent="0">
              <a:spcBef>
                <a:spcPct val="0"/>
              </a:spcBef>
              <a:buNone/>
            </a:pPr>
            <a:r>
              <a:rPr lang="en-US" altLang="zh-CN" sz="1600" dirty="0">
                <a:latin typeface="Consolas" panose="020B0609020204030204" charset="0"/>
              </a:rPr>
              <a:t>        if s[</a:t>
            </a:r>
            <a:r>
              <a:rPr lang="en-US" altLang="zh-CN" sz="1600" dirty="0" err="1">
                <a:latin typeface="Consolas" panose="020B0609020204030204" charset="0"/>
              </a:rPr>
              <a:t>pos</a:t>
            </a:r>
            <a:r>
              <a:rPr lang="en-US" altLang="zh-CN" sz="1600" dirty="0">
                <a:latin typeface="Consolas" panose="020B0609020204030204" charset="0"/>
              </a:rPr>
              <a:t>].</a:t>
            </a:r>
            <a:r>
              <a:rPr lang="en-US" altLang="zh-CN" sz="1600" dirty="0" err="1">
                <a:latin typeface="Consolas" panose="020B0609020204030204" charset="0"/>
              </a:rPr>
              <a:t>isdigit</a:t>
            </a:r>
            <a:r>
              <a:rPr lang="en-US" altLang="zh-CN" sz="1600" dirty="0">
                <a:latin typeface="Consolas" panose="020B0609020204030204" charset="0"/>
              </a:rPr>
              <a:t>() and (</a:t>
            </a:r>
            <a:r>
              <a:rPr lang="en-US" altLang="zh-CN" sz="1600" dirty="0" err="1">
                <a:latin typeface="Consolas" panose="020B0609020204030204" charset="0"/>
              </a:rPr>
              <a:t>pos</a:t>
            </a:r>
            <a:r>
              <a:rPr lang="en-US" altLang="zh-CN" sz="1600" dirty="0">
                <a:latin typeface="Consolas" panose="020B0609020204030204" charset="0"/>
              </a:rPr>
              <a:t>==0 or not s[pos-1].</a:t>
            </a:r>
            <a:r>
              <a:rPr lang="en-US" altLang="zh-CN" sz="1600" dirty="0" err="1">
                <a:latin typeface="Consolas" panose="020B0609020204030204" charset="0"/>
              </a:rPr>
              <a:t>isdigit</a:t>
            </a:r>
            <a:r>
              <a:rPr lang="en-US" altLang="zh-CN" sz="1600" dirty="0">
                <a:latin typeface="Consolas" panose="020B0609020204030204" charset="0"/>
              </a:rPr>
              <a:t>()):</a:t>
            </a:r>
          </a:p>
          <a:p>
            <a:pPr marL="0" indent="0">
              <a:spcBef>
                <a:spcPct val="0"/>
              </a:spcBef>
              <a:buNone/>
            </a:pPr>
            <a:r>
              <a:rPr lang="en-US" altLang="zh-CN" sz="1600" dirty="0">
                <a:latin typeface="Consolas" panose="020B0609020204030204" charset="0"/>
              </a:rPr>
              <a:t>            start = </a:t>
            </a:r>
            <a:r>
              <a:rPr lang="en-US" altLang="zh-CN" sz="1600" dirty="0" err="1">
                <a:latin typeface="Consolas" panose="020B0609020204030204" charset="0"/>
              </a:rPr>
              <a:t>pos</a:t>
            </a:r>
            <a:endParaRPr lang="en-US" altLang="zh-CN" sz="1600" dirty="0">
              <a:latin typeface="Consolas" panose="020B0609020204030204" charset="0"/>
            </a:endParaRPr>
          </a:p>
          <a:p>
            <a:pPr marL="0" indent="0">
              <a:spcBef>
                <a:spcPct val="0"/>
              </a:spcBef>
              <a:buNone/>
            </a:pPr>
            <a:r>
              <a:rPr lang="en-US" altLang="zh-CN" sz="1600" dirty="0">
                <a:latin typeface="Consolas" panose="020B0609020204030204" charset="0"/>
              </a:rPr>
              <a:t>        </a:t>
            </a:r>
            <a:r>
              <a:rPr lang="en-US" altLang="zh-CN" sz="1600" dirty="0" err="1">
                <a:latin typeface="Consolas" panose="020B0609020204030204" charset="0"/>
              </a:rPr>
              <a:t>elif</a:t>
            </a:r>
            <a:r>
              <a:rPr lang="en-US" altLang="zh-CN" sz="1600" dirty="0">
                <a:latin typeface="Consolas" panose="020B0609020204030204" charset="0"/>
              </a:rPr>
              <a:t> ((not s[</a:t>
            </a:r>
            <a:r>
              <a:rPr lang="en-US" altLang="zh-CN" sz="1600" dirty="0" err="1">
                <a:latin typeface="Consolas" panose="020B0609020204030204" charset="0"/>
              </a:rPr>
              <a:t>pos</a:t>
            </a:r>
            <a:r>
              <a:rPr lang="en-US" altLang="zh-CN" sz="1600" dirty="0">
                <a:latin typeface="Consolas" panose="020B0609020204030204" charset="0"/>
              </a:rPr>
              <a:t>].</a:t>
            </a:r>
            <a:r>
              <a:rPr lang="en-US" altLang="zh-CN" sz="1600" dirty="0" err="1">
                <a:latin typeface="Consolas" panose="020B0609020204030204" charset="0"/>
              </a:rPr>
              <a:t>isdigit</a:t>
            </a:r>
            <a:r>
              <a:rPr lang="en-US" altLang="zh-CN" sz="1600" dirty="0">
                <a:latin typeface="Consolas" panose="020B0609020204030204" charset="0"/>
              </a:rPr>
              <a:t>()) and s[pos-1].</a:t>
            </a:r>
            <a:r>
              <a:rPr lang="en-US" altLang="zh-CN" sz="1600" dirty="0" err="1">
                <a:latin typeface="Consolas" panose="020B0609020204030204" charset="0"/>
              </a:rPr>
              <a:t>isdigit</a:t>
            </a:r>
            <a:r>
              <a:rPr lang="en-US" altLang="zh-CN" sz="1600" dirty="0">
                <a:latin typeface="Consolas" panose="020B0609020204030204" charset="0"/>
              </a:rPr>
              <a:t>()</a:t>
            </a:r>
          </a:p>
          <a:p>
            <a:pPr marL="0" indent="0">
              <a:spcBef>
                <a:spcPct val="0"/>
              </a:spcBef>
              <a:buNone/>
            </a:pPr>
            <a:r>
              <a:rPr lang="en-US" altLang="zh-CN" sz="1600" dirty="0">
                <a:latin typeface="Consolas" panose="020B0609020204030204" charset="0"/>
              </a:rPr>
              <a:t>              and </a:t>
            </a:r>
            <a:r>
              <a:rPr lang="en-US" altLang="zh-CN" sz="1600" dirty="0" err="1">
                <a:latin typeface="Consolas" panose="020B0609020204030204" charset="0"/>
              </a:rPr>
              <a:t>pos</a:t>
            </a:r>
            <a:r>
              <a:rPr lang="en-US" altLang="zh-CN" sz="1600" dirty="0">
                <a:latin typeface="Consolas" panose="020B0609020204030204" charset="0"/>
              </a:rPr>
              <a:t>-start&gt;span[1]-span[0]):</a:t>
            </a:r>
          </a:p>
          <a:p>
            <a:pPr marL="0" indent="0">
              <a:spcBef>
                <a:spcPct val="0"/>
              </a:spcBef>
              <a:buNone/>
            </a:pPr>
            <a:r>
              <a:rPr lang="en-US" altLang="zh-CN" sz="1600" dirty="0">
                <a:latin typeface="Consolas" panose="020B0609020204030204" charset="0"/>
              </a:rPr>
              <a:t>            span = (start, pos-1)</a:t>
            </a:r>
          </a:p>
          <a:p>
            <a:pPr marL="0" indent="0">
              <a:spcBef>
                <a:spcPct val="0"/>
              </a:spcBef>
              <a:buNone/>
            </a:pPr>
            <a:r>
              <a:rPr lang="en-US" altLang="zh-CN" sz="1600" dirty="0">
                <a:latin typeface="Consolas" panose="020B0609020204030204" charset="0"/>
              </a:rPr>
              <a:t>    </a:t>
            </a:r>
            <a:r>
              <a:rPr lang="en-US" altLang="zh-CN" sz="1600" dirty="0">
                <a:solidFill>
                  <a:srgbClr val="0000FF"/>
                </a:solidFill>
                <a:latin typeface="Consolas" panose="020B0609020204030204" charset="0"/>
              </a:rPr>
              <a:t>#字符串以数字结束的情况  ‘987654320’,  ‘ab98765’</a:t>
            </a:r>
          </a:p>
          <a:p>
            <a:pPr marL="0" indent="0">
              <a:spcBef>
                <a:spcPct val="0"/>
              </a:spcBef>
              <a:buNone/>
            </a:pPr>
            <a:r>
              <a:rPr lang="en-US" altLang="zh-CN" sz="1600" dirty="0">
                <a:latin typeface="Consolas" panose="020B0609020204030204" charset="0"/>
              </a:rPr>
              <a:t>    if s[</a:t>
            </a:r>
            <a:r>
              <a:rPr lang="en-US" altLang="zh-CN" sz="1600" dirty="0" err="1">
                <a:latin typeface="Consolas" panose="020B0609020204030204" charset="0"/>
              </a:rPr>
              <a:t>pos</a:t>
            </a:r>
            <a:r>
              <a:rPr lang="en-US" altLang="zh-CN" sz="1600" dirty="0">
                <a:latin typeface="Consolas" panose="020B0609020204030204" charset="0"/>
              </a:rPr>
              <a:t>].</a:t>
            </a:r>
            <a:r>
              <a:rPr lang="en-US" altLang="zh-CN" sz="1600" dirty="0" err="1">
                <a:latin typeface="Consolas" panose="020B0609020204030204" charset="0"/>
              </a:rPr>
              <a:t>isdigit</a:t>
            </a:r>
            <a:r>
              <a:rPr lang="en-US" altLang="zh-CN" sz="1600" dirty="0">
                <a:latin typeface="Consolas" panose="020B0609020204030204" charset="0"/>
              </a:rPr>
              <a:t>() and </a:t>
            </a:r>
            <a:r>
              <a:rPr lang="en-US" altLang="zh-CN" sz="1600" dirty="0" err="1">
                <a:latin typeface="Consolas" panose="020B0609020204030204" charset="0"/>
              </a:rPr>
              <a:t>pos</a:t>
            </a:r>
            <a:r>
              <a:rPr lang="en-US" altLang="zh-CN" sz="1600" dirty="0">
                <a:latin typeface="Consolas" panose="020B0609020204030204" charset="0"/>
              </a:rPr>
              <a:t>-start&gt;=span[1]-span[0]:</a:t>
            </a:r>
          </a:p>
          <a:p>
            <a:pPr marL="0" indent="0">
              <a:spcBef>
                <a:spcPct val="0"/>
              </a:spcBef>
              <a:buNone/>
            </a:pPr>
            <a:r>
              <a:rPr lang="en-US" altLang="zh-CN" sz="1600" dirty="0">
                <a:latin typeface="Consolas" panose="020B0609020204030204" charset="0"/>
              </a:rPr>
              <a:t>        span = (start, </a:t>
            </a:r>
            <a:r>
              <a:rPr lang="en-US" altLang="zh-CN" sz="1600" dirty="0" err="1">
                <a:latin typeface="Consolas" panose="020B0609020204030204" charset="0"/>
              </a:rPr>
              <a:t>pos</a:t>
            </a:r>
            <a:r>
              <a:rPr lang="en-US" altLang="zh-CN" sz="1600" dirty="0">
                <a:latin typeface="Consolas" panose="020B0609020204030204" charset="0"/>
              </a:rPr>
              <a:t>)</a:t>
            </a:r>
          </a:p>
          <a:p>
            <a:pPr marL="0" indent="0">
              <a:spcBef>
                <a:spcPct val="0"/>
              </a:spcBef>
              <a:buNone/>
            </a:pPr>
            <a:r>
              <a:rPr lang="en-US" altLang="zh-CN" sz="1600" dirty="0">
                <a:latin typeface="Consolas" panose="020B0609020204030204" charset="0"/>
              </a:rPr>
              <a:t>    return s[span[0]:span[1]+1]</a:t>
            </a:r>
          </a:p>
          <a:p>
            <a:pPr marL="0" indent="0">
              <a:spcBef>
                <a:spcPct val="0"/>
              </a:spcBef>
              <a:buNone/>
            </a:pPr>
            <a:endParaRPr lang="en-US" altLang="zh-CN" sz="1600" dirty="0">
              <a:latin typeface="Consolas" panose="020B0609020204030204" charset="0"/>
            </a:endParaRPr>
          </a:p>
          <a:p>
            <a:pPr marL="0" indent="0">
              <a:spcBef>
                <a:spcPct val="0"/>
              </a:spcBef>
              <a:buNone/>
            </a:pPr>
            <a:r>
              <a:rPr lang="en-US" altLang="zh-CN" sz="1600" dirty="0" err="1">
                <a:latin typeface="Consolas" panose="020B0609020204030204" charset="0"/>
              </a:rPr>
              <a:t>ss</a:t>
            </a:r>
            <a:r>
              <a:rPr lang="en-US" altLang="zh-CN" sz="1600" dirty="0">
                <a:latin typeface="Consolas" panose="020B0609020204030204" charset="0"/>
              </a:rPr>
              <a:t> = ('111abc2d3', 'abc111111d', 'a2bc11111111')</a:t>
            </a:r>
          </a:p>
          <a:p>
            <a:pPr marL="0" indent="0">
              <a:spcBef>
                <a:spcPct val="0"/>
              </a:spcBef>
              <a:buNone/>
            </a:pPr>
            <a:r>
              <a:rPr lang="en-US" altLang="zh-CN" sz="1600" dirty="0">
                <a:solidFill>
                  <a:srgbClr val="0000FF"/>
                </a:solidFill>
                <a:latin typeface="Consolas" panose="020B0609020204030204" charset="0"/>
              </a:rPr>
              <a:t>for</a:t>
            </a:r>
            <a:r>
              <a:rPr lang="en-US" altLang="zh-CN" sz="1600" dirty="0">
                <a:latin typeface="Consolas" panose="020B0609020204030204" charset="0"/>
              </a:rPr>
              <a:t> s in </a:t>
            </a:r>
            <a:r>
              <a:rPr lang="en-US" altLang="zh-CN" sz="1600" dirty="0" err="1">
                <a:latin typeface="Consolas" panose="020B0609020204030204" charset="0"/>
              </a:rPr>
              <a:t>ss</a:t>
            </a:r>
            <a:r>
              <a:rPr lang="en-US" altLang="zh-CN" sz="1600" dirty="0">
                <a:latin typeface="Consolas" panose="020B0609020204030204" charset="0"/>
              </a:rPr>
              <a:t>:</a:t>
            </a:r>
          </a:p>
          <a:p>
            <a:pPr marL="0" indent="0">
              <a:spcBef>
                <a:spcPct val="0"/>
              </a:spcBef>
              <a:buNone/>
            </a:pPr>
            <a:r>
              <a:rPr lang="en-US" altLang="zh-CN" sz="1600" dirty="0">
                <a:latin typeface="Consolas" panose="020B0609020204030204" charset="0"/>
              </a:rPr>
              <a:t>    print(s, longest(s), </a:t>
            </a:r>
            <a:r>
              <a:rPr lang="en-US" altLang="zh-CN" sz="1600" dirty="0" err="1">
                <a:latin typeface="Consolas" panose="020B0609020204030204" charset="0"/>
              </a:rPr>
              <a:t>sep</a:t>
            </a:r>
            <a:r>
              <a:rPr lang="en-US" altLang="zh-CN" sz="1600" dirty="0">
                <a:latin typeface="Consolas" panose="020B0609020204030204" charset="0"/>
              </a:rPr>
              <a:t>=':')</a:t>
            </a:r>
          </a:p>
        </p:txBody>
      </p:sp>
      <p:sp>
        <p:nvSpPr>
          <p:cNvPr id="99331" name="Slide Number Placeholder 3"/>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50</a:t>
            </a:fld>
            <a:endParaRPr lang="zh-CN" altLang="en-US" sz="1050" dirty="0"/>
          </a:p>
        </p:txBody>
      </p:sp>
      <p:grpSp>
        <p:nvGrpSpPr>
          <p:cNvPr id="6" name="组合 67"/>
          <p:cNvGrpSpPr/>
          <p:nvPr/>
        </p:nvGrpSpPr>
        <p:grpSpPr>
          <a:xfrm>
            <a:off x="611560" y="118397"/>
            <a:ext cx="8109328" cy="681854"/>
            <a:chOff x="936625" y="4195877"/>
            <a:chExt cx="8109328" cy="681854"/>
          </a:xfrm>
        </p:grpSpPr>
        <p:grpSp>
          <p:nvGrpSpPr>
            <p:cNvPr id="7" name="组合 106"/>
            <p:cNvGrpSpPr/>
            <p:nvPr/>
          </p:nvGrpSpPr>
          <p:grpSpPr>
            <a:xfrm>
              <a:off x="936625" y="4195877"/>
              <a:ext cx="8109328" cy="681854"/>
              <a:chOff x="927100" y="4195877"/>
              <a:chExt cx="8109328" cy="681854"/>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719188" y="4195877"/>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anose="02020603050405020304" pitchFamily="18" charset="0"/>
                    <a:ea typeface="黑体" panose="02010609060101010101" pitchFamily="49" charset="-122"/>
                  </a:rPr>
                  <a:t>4.2 </a:t>
                </a:r>
                <a:r>
                  <a:rPr lang="zh-CN" altLang="en-US" sz="3600" b="1" dirty="0">
                    <a:latin typeface="Times New Roman" panose="02020603050405020304" pitchFamily="18" charset="0"/>
                    <a:ea typeface="黑体" panose="02010609060101010101" pitchFamily="49" charset="-122"/>
                  </a:rPr>
                  <a:t>字符串的应用</a:t>
                </a:r>
                <a:endParaRPr lang="zh-CN" altLang="en-US" sz="3600" b="1" dirty="0">
                  <a:latin typeface="黑体" panose="02010609060101010101" pitchFamily="49" charset="-122"/>
                  <a:ea typeface="黑体" panose="02010609060101010101" pitchFamily="49" charset="-122"/>
                </a:endParaRPr>
              </a:p>
            </p:txBody>
          </p:sp>
        </p:grpSp>
        <p:pic>
          <p:nvPicPr>
            <p:cNvPr id="8" name="图片 7" descr="无标题.png"/>
            <p:cNvPicPr>
              <a:picLocks noChangeAspect="1"/>
            </p:cNvPicPr>
            <p:nvPr/>
          </p:nvPicPr>
          <p:blipFill>
            <a:blip r:embed="rId3"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3701076365"/>
      </p:ext>
    </p:extLst>
  </p:cSld>
  <p:clrMapOvr>
    <a:masterClrMapping/>
  </p:clrMapOvr>
  <p:transition spd="slow" advClick="0">
    <p:pull dir="d"/>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4" name="灯片编号占位符 3"/>
          <p:cNvSpPr>
            <a:spLocks noGrp="1"/>
          </p:cNvSpPr>
          <p:nvPr>
            <p:ph type="sldNum" sz="quarter" idx="12"/>
          </p:nvPr>
        </p:nvSpPr>
        <p:spPr>
          <a:prstGeom prst="rect">
            <a:avLst/>
          </a:prstGeom>
        </p:spPr>
        <p:txBody>
          <a:bodyPr/>
          <a:lstStyle/>
          <a:p>
            <a:pPr>
              <a:defRPr/>
            </a:pPr>
            <a:fld id="{6EA7BA5E-4115-4796-A8C9-4698036AB88B}" type="slidenum">
              <a:rPr lang="zh-CN" altLang="en-US" smtClean="0"/>
              <a:t>51</a:t>
            </a:fld>
            <a:endParaRPr lang="zh-CN" altLang="en-US" dirty="0"/>
          </a:p>
        </p:txBody>
      </p:sp>
      <p:sp>
        <p:nvSpPr>
          <p:cNvPr id="7" name="圆角矩形 6"/>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endPar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矩形 13"/>
          <p:cNvSpPr/>
          <p:nvPr/>
        </p:nvSpPr>
        <p:spPr>
          <a:xfrm>
            <a:off x="1403648" y="1268760"/>
            <a:ext cx="7056784" cy="369332"/>
          </a:xfrm>
          <a:prstGeom prst="rect">
            <a:avLst/>
          </a:prstGeom>
        </p:spPr>
        <p:txBody>
          <a:bodyPr wrap="square">
            <a:spAutoFit/>
          </a:bodyPr>
          <a:lstStyle/>
          <a:p>
            <a:r>
              <a:rPr lang="zh-CN" altLang="en-US" kern="0" dirty="0">
                <a:solidFill>
                  <a:srgbClr val="3333FF"/>
                </a:solidFill>
                <a:ea typeface="微软雅黑" panose="020B0503020204020204" pitchFamily="34" charset="-122"/>
                <a:cs typeface="宋体" panose="02010600030101010101" pitchFamily="2" charset="-122"/>
              </a:rPr>
              <a:t>给定一篇文本</a:t>
            </a:r>
            <a:r>
              <a:rPr lang="zh-CN" altLang="zh-CN" kern="0" dirty="0">
                <a:solidFill>
                  <a:srgbClr val="3333FF"/>
                </a:solidFill>
                <a:ea typeface="微软雅黑" panose="020B0503020204020204" pitchFamily="34" charset="-122"/>
                <a:cs typeface="宋体" panose="02010600030101010101" pitchFamily="2" charset="-122"/>
              </a:rPr>
              <a:t>，统计</a:t>
            </a:r>
            <a:r>
              <a:rPr lang="zh-CN" altLang="zh-CN" kern="0" dirty="0" smtClean="0">
                <a:solidFill>
                  <a:srgbClr val="3333FF"/>
                </a:solidFill>
                <a:ea typeface="微软雅黑" panose="020B0503020204020204" pitchFamily="34" charset="-122"/>
                <a:cs typeface="宋体" panose="02010600030101010101" pitchFamily="2" charset="-122"/>
              </a:rPr>
              <a:t>每</a:t>
            </a:r>
            <a:r>
              <a:rPr lang="zh-CN" altLang="en-US" kern="0" dirty="0" smtClean="0">
                <a:solidFill>
                  <a:srgbClr val="3333FF"/>
                </a:solidFill>
                <a:ea typeface="微软雅黑" panose="020B0503020204020204" pitchFamily="34" charset="-122"/>
                <a:cs typeface="宋体" panose="02010600030101010101" pitchFamily="2" charset="-122"/>
              </a:rPr>
              <a:t>个字符</a:t>
            </a:r>
            <a:r>
              <a:rPr lang="zh-CN" altLang="zh-CN" kern="0" dirty="0" smtClean="0">
                <a:solidFill>
                  <a:srgbClr val="3333FF"/>
                </a:solidFill>
                <a:ea typeface="微软雅黑" panose="020B0503020204020204" pitchFamily="34" charset="-122"/>
                <a:cs typeface="宋体" panose="02010600030101010101" pitchFamily="2" charset="-122"/>
              </a:rPr>
              <a:t>出现</a:t>
            </a:r>
            <a:r>
              <a:rPr lang="zh-CN" altLang="zh-CN" kern="0" dirty="0">
                <a:solidFill>
                  <a:srgbClr val="3333FF"/>
                </a:solidFill>
                <a:ea typeface="微软雅黑" panose="020B0503020204020204" pitchFamily="34" charset="-122"/>
                <a:cs typeface="宋体" panose="02010600030101010101" pitchFamily="2" charset="-122"/>
              </a:rPr>
              <a:t>的次数</a:t>
            </a:r>
            <a:r>
              <a:rPr lang="zh-CN" altLang="en-US" kern="0" dirty="0">
                <a:solidFill>
                  <a:srgbClr val="3333FF"/>
                </a:solidFill>
                <a:ea typeface="微软雅黑" panose="020B0503020204020204" pitchFamily="34" charset="-122"/>
                <a:cs typeface="宋体" panose="02010600030101010101" pitchFamily="2" charset="-122"/>
              </a:rPr>
              <a:t>？</a:t>
            </a:r>
            <a:endParaRPr lang="en-US" altLang="zh-CN" kern="0" dirty="0">
              <a:solidFill>
                <a:srgbClr val="3333FF"/>
              </a:solidFill>
              <a:ea typeface="微软雅黑" panose="020B0503020204020204" pitchFamily="34" charset="-122"/>
              <a:cs typeface="宋体" panose="02010600030101010101" pitchFamily="2" charset="-122"/>
            </a:endParaRPr>
          </a:p>
        </p:txBody>
      </p:sp>
      <p:sp>
        <p:nvSpPr>
          <p:cNvPr id="15" name="矩形 14"/>
          <p:cNvSpPr/>
          <p:nvPr/>
        </p:nvSpPr>
        <p:spPr>
          <a:xfrm>
            <a:off x="2411760" y="1795946"/>
            <a:ext cx="2723823" cy="646331"/>
          </a:xfrm>
          <a:prstGeom prst="rect">
            <a:avLst/>
          </a:prstGeom>
        </p:spPr>
        <p:txBody>
          <a:bodyPr wrap="none">
            <a:spAutoFit/>
          </a:bodyPr>
          <a:lstStyle/>
          <a:p>
            <a:r>
              <a:rPr lang="zh-CN" altLang="en-US" dirty="0">
                <a:solidFill>
                  <a:srgbClr val="FF0000"/>
                </a:solidFill>
                <a:latin typeface="宋体" panose="02010600030101010101" pitchFamily="2" charset="-122"/>
                <a:ea typeface="宋体" panose="02010600030101010101" pitchFamily="2" charset="-122"/>
              </a:rPr>
              <a:t>勤奋、严谨、求实、创新</a:t>
            </a:r>
            <a:endParaRPr lang="zh-CN" altLang="en-US" dirty="0">
              <a:solidFill>
                <a:srgbClr val="FF0000"/>
              </a:solidFill>
            </a:endParaRPr>
          </a:p>
          <a:p>
            <a:r>
              <a:rPr lang="zh-CN" altLang="en-US" dirty="0">
                <a:solidFill>
                  <a:srgbClr val="FF0000"/>
                </a:solidFill>
                <a:latin typeface="宋体" panose="02010600030101010101" pitchFamily="2" charset="-122"/>
                <a:ea typeface="宋体" panose="02010600030101010101" pitchFamily="2" charset="-122"/>
              </a:rPr>
              <a:t>厚德、笃学、崇实、尚新</a:t>
            </a:r>
            <a:endParaRPr lang="zh-CN" altLang="en-US" dirty="0">
              <a:solidFill>
                <a:srgbClr val="FF0000"/>
              </a:solidFill>
            </a:endParaRPr>
          </a:p>
        </p:txBody>
      </p:sp>
      <p:sp>
        <p:nvSpPr>
          <p:cNvPr id="19" name="文本框 18"/>
          <p:cNvSpPr txBox="1"/>
          <p:nvPr>
            <p:custDataLst>
              <p:tags r:id="rId5"/>
            </p:custDataLst>
          </p:nvPr>
        </p:nvSpPr>
        <p:spPr>
          <a:xfrm>
            <a:off x="9613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endPar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0" name="文本框 19"/>
          <p:cNvSpPr txBox="1"/>
          <p:nvPr>
            <p:custDataLst>
              <p:tags r:id="rId6"/>
            </p:custDataLst>
          </p:nvPr>
        </p:nvSpPr>
        <p:spPr>
          <a:xfrm>
            <a:off x="9828584" y="635000"/>
            <a:ext cx="3332480" cy="5324535"/>
          </a:xfrm>
          <a:prstGeom prst="rect">
            <a:avLst/>
          </a:prstGeom>
          <a:noFill/>
        </p:spPr>
        <p:txBody>
          <a:bodyPr vert="horz" rtlCol="0" anchor="t" anchorCtr="0">
            <a:spAutoFit/>
          </a:bodyPr>
          <a:lstStyle/>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collections import Counter</a:t>
            </a: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text ='''</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勤奋、严谨、求实、创新</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 \</a:t>
            </a:r>
          </a:p>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厚德、笃学、崇实、尚新</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a:t>
            </a: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text = </a:t>
            </a:r>
            <a:r>
              <a:rPr lang="en-US" altLang="zh-CN" sz="20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text.replace</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a:t>
            </a: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text = </a:t>
            </a:r>
            <a:r>
              <a:rPr lang="en-US" altLang="zh-CN" sz="20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text.replace</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20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tlist</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 </a:t>
            </a:r>
            <a:r>
              <a:rPr lang="en-US" altLang="zh-CN" sz="20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text.split</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print(text)</a:t>
            </a: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print(</a:t>
            </a:r>
            <a:r>
              <a:rPr lang="en-US" altLang="zh-CN" sz="20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tlist</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 = ''.join(</a:t>
            </a:r>
            <a:r>
              <a:rPr lang="en-US" altLang="zh-CN" sz="20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tlist</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print(s)</a:t>
            </a:r>
          </a:p>
          <a:p>
            <a:r>
              <a:rPr lang="en-US" altLang="zh-CN" sz="20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cnt</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 Counter()</a:t>
            </a: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for c in s:</a:t>
            </a: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0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cnt</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 += 1</a:t>
            </a:r>
          </a:p>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print(</a:t>
            </a:r>
            <a:r>
              <a:rPr lang="en-US" altLang="zh-CN" sz="20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cnt</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p:cNvGrpSpPr/>
          <p:nvPr>
            <p:custDataLst>
              <p:tags r:id="rId7"/>
            </p:custDataLst>
          </p:nvPr>
        </p:nvGrpSpPr>
        <p:grpSpPr>
          <a:xfrm>
            <a:off x="9537700" y="0"/>
            <a:ext cx="3815080" cy="647700"/>
            <a:chOff x="9537700" y="0"/>
            <a:chExt cx="3815080" cy="647700"/>
          </a:xfrm>
        </p:grpSpPr>
        <p:sp>
          <p:nvSpPr>
            <p:cNvPr id="3" name="RemarkBack"/>
            <p:cNvSpPr/>
            <p:nvPr>
              <p:custDataLst>
                <p:tags r:id="rId17"/>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markBlock"/>
            <p:cNvSpPr/>
            <p:nvPr>
              <p:custDataLst>
                <p:tags r:id="rId18"/>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RemarkTitleText"/>
            <p:cNvSpPr txBox="1"/>
            <p:nvPr>
              <p:custDataLst>
                <p:tags r:id="rId19"/>
              </p:custDataLst>
            </p:nvPr>
          </p:nvSpPr>
          <p:spPr>
            <a:xfrm>
              <a:off x="9779000" y="0"/>
              <a:ext cx="1905000" cy="635000"/>
            </a:xfrm>
            <a:prstGeom prst="rect">
              <a:avLst/>
            </a:prstGeom>
            <a:noFill/>
          </p:spPr>
          <p:txBody>
            <a:bodyPr vert="horz" wrap="none" rtlCol="0" anchor="ctr" anchorCtr="0">
              <a:noAutofit/>
            </a:bodyPr>
            <a:lstStyle/>
            <a:p>
              <a:r>
                <a:rPr lang="zh-CN" altLang="en-US"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endPar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sp>
        <p:nvSpPr>
          <p:cNvPr id="6" name="RemarkBack"/>
          <p:cNvSpPr/>
          <p:nvPr>
            <p:custDataLst>
              <p:tags r:id="rId8"/>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markBlock"/>
          <p:cNvSpPr/>
          <p:nvPr>
            <p:custDataLst>
              <p:tags r:id="rId9"/>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markTitleText"/>
          <p:cNvSpPr txBox="1"/>
          <p:nvPr>
            <p:custDataLst>
              <p:tags r:id="rId10"/>
            </p:custDataLst>
          </p:nvPr>
        </p:nvSpPr>
        <p:spPr>
          <a:xfrm>
            <a:off x="9779000" y="0"/>
            <a:ext cx="1905000" cy="635000"/>
          </a:xfrm>
          <a:prstGeom prst="rect">
            <a:avLst/>
          </a:prstGeom>
          <a:noFill/>
        </p:spPr>
        <p:txBody>
          <a:bodyPr vert="horz" wrap="none" rtlCol="0" anchor="ctr" anchorCtr="0">
            <a:noAutofit/>
          </a:bodyPr>
          <a:lstStyle/>
          <a:p>
            <a:r>
              <a:rPr lang="zh-CN" altLang="en-US"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endPar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2" name="组合 11"/>
          <p:cNvGrpSpPr/>
          <p:nvPr>
            <p:custDataLst>
              <p:tags r:id="rId11"/>
            </p:custDataLst>
          </p:nvPr>
        </p:nvGrpSpPr>
        <p:grpSpPr>
          <a:xfrm>
            <a:off x="0" y="0"/>
            <a:ext cx="9144000" cy="635000"/>
            <a:chOff x="0" y="0"/>
            <a:chExt cx="9144000" cy="635000"/>
          </a:xfrm>
        </p:grpSpPr>
        <p:sp>
          <p:nvSpPr>
            <p:cNvPr id="8" name="TitleBackground"/>
            <p:cNvSpPr/>
            <p:nvPr>
              <p:custDataLst>
                <p:tags r:id="rId13"/>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14"/>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15"/>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TipText"/>
            <p:cNvSpPr txBox="1"/>
            <p:nvPr>
              <p:custDataLst>
                <p:tags r:id="rId16"/>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p:cNvPicPr>
            <a:picLocks/>
          </p:cNvPicPr>
          <p:nvPr>
            <p:custDataLst>
              <p:tags r:id="rId12"/>
            </p:custDataLst>
          </p:nvPr>
        </p:nvPicPr>
        <p:blipFill>
          <a:blip r:embed="rId2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87341246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文本占位符 47106"/>
          <p:cNvSpPr>
            <a:spLocks noGrp="1"/>
          </p:cNvSpPr>
          <p:nvPr>
            <p:ph idx="1"/>
          </p:nvPr>
        </p:nvSpPr>
        <p:spPr>
          <a:xfrm>
            <a:off x="508670" y="980728"/>
            <a:ext cx="8229600" cy="4678451"/>
          </a:xfrm>
        </p:spPr>
        <p:txBody>
          <a:bodyPr anchor="t"/>
          <a:lstStyle/>
          <a:p>
            <a:pPr>
              <a:spcBef>
                <a:spcPts val="1200"/>
              </a:spcBef>
              <a:spcAft>
                <a:spcPts val="1200"/>
              </a:spcAft>
              <a:buClr>
                <a:srgbClr val="FF0000"/>
              </a:buClr>
              <a:buSzPct val="70000"/>
              <a:buFont typeface="Wingdings" panose="05000000000000000000" charset="0"/>
              <a:buChar char=""/>
            </a:pPr>
            <a:r>
              <a:rPr lang="zh-CN" altLang="en-US" sz="2400" b="1" dirty="0">
                <a:latin typeface="宋体" panose="02010600030101010101" pitchFamily="2" charset="-122"/>
              </a:rPr>
              <a:t>正则表达式使用某种</a:t>
            </a:r>
            <a:r>
              <a:rPr lang="zh-CN" altLang="en-US" sz="2400" b="1" dirty="0">
                <a:solidFill>
                  <a:srgbClr val="FF0000"/>
                </a:solidFill>
                <a:latin typeface="宋体" panose="02010600030101010101" pitchFamily="2" charset="-122"/>
              </a:rPr>
              <a:t>预定义的模式</a:t>
            </a:r>
            <a:r>
              <a:rPr lang="zh-CN" altLang="en-US" sz="2400" b="1" dirty="0">
                <a:latin typeface="宋体" panose="02010600030101010101" pitchFamily="2" charset="-122"/>
              </a:rPr>
              <a:t>去匹配一类具有共同特征的字符串，</a:t>
            </a:r>
            <a:endParaRPr lang="en-US" altLang="zh-CN" sz="2400" b="1" dirty="0">
              <a:latin typeface="宋体" panose="02010600030101010101" pitchFamily="2" charset="-122"/>
            </a:endParaRPr>
          </a:p>
          <a:p>
            <a:pPr lvl="1">
              <a:spcBef>
                <a:spcPts val="0"/>
              </a:spcBef>
              <a:spcAft>
                <a:spcPts val="0"/>
              </a:spcAft>
              <a:buClr>
                <a:srgbClr val="FF0000"/>
              </a:buClr>
              <a:buSzPct val="70000"/>
              <a:buFont typeface="Wingdings" panose="05000000000000000000" pitchFamily="2" charset="2"/>
              <a:buChar char="l"/>
            </a:pPr>
            <a:r>
              <a:rPr lang="zh-CN" altLang="en-US" sz="2000" b="1" dirty="0">
                <a:latin typeface="宋体" panose="02010600030101010101" pitchFamily="2" charset="-122"/>
              </a:rPr>
              <a:t>主要用于处理字符串，可以快速、准确地完成复杂的</a:t>
            </a:r>
            <a:r>
              <a:rPr lang="zh-CN" altLang="en-US" sz="2000" b="1" dirty="0">
                <a:solidFill>
                  <a:srgbClr val="FF0000"/>
                </a:solidFill>
                <a:latin typeface="宋体" panose="02010600030101010101" pitchFamily="2" charset="-122"/>
              </a:rPr>
              <a:t>查找</a:t>
            </a:r>
            <a:r>
              <a:rPr lang="zh-CN" altLang="en-US" sz="2000" b="1" dirty="0">
                <a:latin typeface="宋体" panose="02010600030101010101" pitchFamily="2" charset="-122"/>
              </a:rPr>
              <a:t>、</a:t>
            </a:r>
            <a:r>
              <a:rPr lang="zh-CN" altLang="en-US" sz="2000" b="1" dirty="0">
                <a:solidFill>
                  <a:srgbClr val="FF0000"/>
                </a:solidFill>
                <a:latin typeface="宋体" panose="02010600030101010101" pitchFamily="2" charset="-122"/>
              </a:rPr>
              <a:t>替换</a:t>
            </a:r>
            <a:r>
              <a:rPr lang="zh-CN" altLang="en-US" sz="2000" b="1" dirty="0">
                <a:latin typeface="宋体" panose="02010600030101010101" pitchFamily="2" charset="-122"/>
              </a:rPr>
              <a:t>等处理要求</a:t>
            </a:r>
            <a:endParaRPr lang="en-US" altLang="zh-CN" sz="2000" b="1" dirty="0">
              <a:latin typeface="宋体" panose="02010600030101010101" pitchFamily="2" charset="-122"/>
            </a:endParaRPr>
          </a:p>
          <a:p>
            <a:pPr lvl="1">
              <a:spcBef>
                <a:spcPts val="0"/>
              </a:spcBef>
              <a:spcAft>
                <a:spcPts val="0"/>
              </a:spcAft>
              <a:buClr>
                <a:srgbClr val="FF0000"/>
              </a:buClr>
              <a:buSzPct val="70000"/>
              <a:buFont typeface="Wingdings" panose="05000000000000000000" pitchFamily="2" charset="2"/>
              <a:buChar char="l"/>
            </a:pPr>
            <a:r>
              <a:rPr lang="zh-CN" altLang="en-US" sz="2000" b="1" dirty="0">
                <a:latin typeface="宋体" panose="02010600030101010101" pitchFamily="2" charset="-122"/>
              </a:rPr>
              <a:t>在</a:t>
            </a:r>
            <a:r>
              <a:rPr lang="zh-CN" altLang="en-US" sz="2000" b="1" dirty="0">
                <a:solidFill>
                  <a:srgbClr val="FF0000"/>
                </a:solidFill>
                <a:latin typeface="宋体" panose="02010600030101010101" pitchFamily="2" charset="-122"/>
              </a:rPr>
              <a:t>文本编辑与处理</a:t>
            </a:r>
            <a:r>
              <a:rPr lang="zh-CN" altLang="en-US" sz="2000" b="1" dirty="0">
                <a:latin typeface="宋体" panose="02010600030101010101" pitchFamily="2" charset="-122"/>
              </a:rPr>
              <a:t>、</a:t>
            </a:r>
            <a:r>
              <a:rPr lang="zh-CN" altLang="en-US" sz="2000" b="1" dirty="0">
                <a:solidFill>
                  <a:srgbClr val="FF0000"/>
                </a:solidFill>
                <a:latin typeface="宋体" panose="02010600030101010101" pitchFamily="2" charset="-122"/>
              </a:rPr>
              <a:t>网页爬虫</a:t>
            </a:r>
            <a:r>
              <a:rPr lang="zh-CN" altLang="en-US" sz="2000" b="1" dirty="0">
                <a:latin typeface="宋体" panose="02010600030101010101" pitchFamily="2" charset="-122"/>
              </a:rPr>
              <a:t>之类的场合中有重要应用。</a:t>
            </a:r>
          </a:p>
          <a:p>
            <a:pPr>
              <a:spcBef>
                <a:spcPts val="1200"/>
              </a:spcBef>
              <a:spcAft>
                <a:spcPts val="1200"/>
              </a:spcAft>
              <a:buClr>
                <a:srgbClr val="FF0000"/>
              </a:buClr>
              <a:buSzPct val="70000"/>
              <a:buFont typeface="Wingdings" panose="05000000000000000000" charset="0"/>
              <a:buChar char=""/>
            </a:pPr>
            <a:r>
              <a:rPr lang="en-US" altLang="zh-CN" sz="2400" b="1" dirty="0">
                <a:latin typeface="宋体" panose="02010600030101010101" pitchFamily="2" charset="-122"/>
              </a:rPr>
              <a:t>Python</a:t>
            </a:r>
            <a:r>
              <a:rPr lang="zh-CN" altLang="en-US" sz="2400" b="1" dirty="0">
                <a:latin typeface="宋体" panose="02010600030101010101" pitchFamily="2" charset="-122"/>
              </a:rPr>
              <a:t>中，</a:t>
            </a:r>
            <a:r>
              <a:rPr lang="en-US" altLang="zh-CN" sz="2400" b="1" dirty="0">
                <a:solidFill>
                  <a:srgbClr val="0000FF"/>
                </a:solidFill>
                <a:latin typeface="宋体" panose="02010600030101010101" pitchFamily="2" charset="-122"/>
              </a:rPr>
              <a:t>re</a:t>
            </a:r>
            <a:r>
              <a:rPr lang="zh-CN" altLang="en-US" sz="2400" b="1" dirty="0">
                <a:solidFill>
                  <a:srgbClr val="0000FF"/>
                </a:solidFill>
                <a:latin typeface="宋体" panose="02010600030101010101" pitchFamily="2" charset="-122"/>
              </a:rPr>
              <a:t>模块</a:t>
            </a:r>
            <a:r>
              <a:rPr lang="zh-CN" altLang="en-US" sz="2400" b="1" dirty="0">
                <a:latin typeface="宋体" panose="02010600030101010101" pitchFamily="2" charset="-122"/>
              </a:rPr>
              <a:t>提供了正则表达式操作所需要的功能。</a:t>
            </a:r>
            <a:endParaRPr lang="en-US" altLang="zh-CN" sz="2400" b="1" dirty="0">
              <a:latin typeface="宋体" panose="02010600030101010101" pitchFamily="2" charset="-122"/>
            </a:endParaRPr>
          </a:p>
          <a:p>
            <a:pPr>
              <a:spcBef>
                <a:spcPts val="0"/>
              </a:spcBef>
              <a:spcAft>
                <a:spcPts val="0"/>
              </a:spcAft>
              <a:buClr>
                <a:srgbClr val="FF0000"/>
              </a:buClr>
              <a:buSzPct val="70000"/>
              <a:buFont typeface="Wingdings" panose="05000000000000000000" charset="0"/>
              <a:buChar char=""/>
            </a:pPr>
            <a:r>
              <a:rPr lang="en-US" altLang="zh-CN" sz="1000" b="1" dirty="0">
                <a:solidFill>
                  <a:srgbClr val="0000FF"/>
                </a:solidFill>
                <a:latin typeface="宋体" panose="02010600030101010101" pitchFamily="2" charset="-122"/>
              </a:rPr>
              <a:t>https://docs.python.org/zh-cn/3/library/re.html#module-re</a:t>
            </a:r>
            <a:endParaRPr lang="zh-CN" altLang="en-US" sz="1000" b="1" dirty="0">
              <a:solidFill>
                <a:srgbClr val="0000FF"/>
              </a:solidFill>
              <a:latin typeface="宋体" panose="02010600030101010101" pitchFamily="2" charset="-122"/>
            </a:endParaRPr>
          </a:p>
        </p:txBody>
      </p:sp>
      <p:sp>
        <p:nvSpPr>
          <p:cNvPr id="110595"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52</a:t>
            </a:fld>
            <a:endParaRPr lang="zh-CN" altLang="en-US" sz="1050" dirty="0"/>
          </a:p>
        </p:txBody>
      </p:sp>
      <p:grpSp>
        <p:nvGrpSpPr>
          <p:cNvPr id="6" name="组合 109"/>
          <p:cNvGrpSpPr/>
          <p:nvPr/>
        </p:nvGrpSpPr>
        <p:grpSpPr>
          <a:xfrm>
            <a:off x="489223" y="44624"/>
            <a:ext cx="4514825" cy="684413"/>
            <a:chOff x="956926" y="4567095"/>
            <a:chExt cx="4514825" cy="684413"/>
          </a:xfrm>
        </p:grpSpPr>
        <p:sp>
          <p:nvSpPr>
            <p:cNvPr id="7"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151271" y="4567095"/>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pic>
        <p:nvPicPr>
          <p:cNvPr id="3" name="图片 2"/>
          <p:cNvPicPr>
            <a:picLocks noChangeAspect="1"/>
          </p:cNvPicPr>
          <p:nvPr/>
        </p:nvPicPr>
        <p:blipFill>
          <a:blip r:embed="rId4"/>
          <a:stretch>
            <a:fillRect/>
          </a:stretch>
        </p:blipFill>
        <p:spPr>
          <a:xfrm>
            <a:off x="508670" y="980728"/>
            <a:ext cx="8106353" cy="5292151"/>
          </a:xfrm>
          <a:prstGeom prst="rect">
            <a:avLst/>
          </a:prstGeom>
        </p:spPr>
      </p:pic>
    </p:spTree>
    <p:extLst>
      <p:ext uri="{BB962C8B-B14F-4D97-AF65-F5344CB8AC3E}">
        <p14:creationId xmlns:p14="http://schemas.microsoft.com/office/powerpoint/2010/main" val="307814573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5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059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059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059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059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菱形 27"/>
          <p:cNvSpPr/>
          <p:nvPr/>
        </p:nvSpPr>
        <p:spPr>
          <a:xfrm>
            <a:off x="524828" y="1176338"/>
            <a:ext cx="348615" cy="297656"/>
          </a:xfrm>
          <a:prstGeom prst="diamond">
            <a:avLst/>
          </a:prstGeom>
          <a:solidFill>
            <a:schemeClr val="bg1">
              <a:lumMod val="75000"/>
            </a:schemeClr>
          </a:solidFill>
          <a:ln>
            <a:solidFill>
              <a:srgbClr val="5C30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63454" y="1129189"/>
            <a:ext cx="3891439" cy="415498"/>
          </a:xfrm>
          <a:prstGeom prst="rect">
            <a:avLst/>
          </a:prstGeom>
          <a:solidFill>
            <a:srgbClr val="5C307D"/>
          </a:solidFill>
        </p:spPr>
        <p:txBody>
          <a:bodyPr wrap="square" rtlCol="0">
            <a:spAutoFit/>
          </a:bodyPr>
          <a:lstStyle/>
          <a:p>
            <a:pPr algn="ctr"/>
            <a:r>
              <a:rPr lang="zh-CN" altLang="en-US" sz="2100" dirty="0">
                <a:solidFill>
                  <a:schemeClr val="bg1"/>
                </a:solidFill>
                <a:latin typeface="微软雅黑" panose="020B0503020204020204" pitchFamily="34" charset="-122"/>
                <a:ea typeface="微软雅黑" panose="020B0503020204020204" pitchFamily="34" charset="-122"/>
                <a:sym typeface="+mn-ea"/>
              </a:rPr>
              <a:t>正则表达式及常见的基本符号</a:t>
            </a:r>
          </a:p>
        </p:txBody>
      </p:sp>
      <p:sp>
        <p:nvSpPr>
          <p:cNvPr id="100" name="文本框 99"/>
          <p:cNvSpPr txBox="1"/>
          <p:nvPr/>
        </p:nvSpPr>
        <p:spPr>
          <a:xfrm>
            <a:off x="827584" y="1595657"/>
            <a:ext cx="7084219" cy="1643527"/>
          </a:xfrm>
          <a:prstGeom prst="rect">
            <a:avLst/>
          </a:prstGeom>
          <a:noFill/>
          <a:ln w="9525">
            <a:noFill/>
          </a:ln>
        </p:spPr>
        <p:txBody>
          <a:bodyPr wrap="square">
            <a:spAutoFit/>
          </a:bodyPr>
          <a:lstStyle/>
          <a:p>
            <a:pPr indent="200025">
              <a:lnSpc>
                <a:spcPct val="140000"/>
              </a:lnSpc>
            </a:pPr>
            <a:r>
              <a:rPr b="1" dirty="0">
                <a:latin typeface="微软雅黑" panose="020B0503020204020204" pitchFamily="34" charset="-122"/>
                <a:ea typeface="微软雅黑" panose="020B0503020204020204" pitchFamily="34" charset="-122"/>
                <a:cs typeface="微软雅黑" panose="020B0503020204020204" pitchFamily="34" charset="-122"/>
              </a:rPr>
              <a:t>1.字符组：[</a:t>
            </a:r>
            <a:r>
              <a:rPr b="1" dirty="0" err="1">
                <a:latin typeface="微软雅黑" panose="020B0503020204020204" pitchFamily="34" charset="-122"/>
                <a:ea typeface="微软雅黑" panose="020B0503020204020204" pitchFamily="34" charset="-122"/>
                <a:cs typeface="微软雅黑" panose="020B0503020204020204" pitchFamily="34" charset="-122"/>
              </a:rPr>
              <a:t>字符组</a:t>
            </a:r>
            <a:r>
              <a:rPr b="1" dirty="0">
                <a:latin typeface="微软雅黑" panose="020B0503020204020204" pitchFamily="34" charset="-122"/>
                <a:ea typeface="微软雅黑" panose="020B0503020204020204" pitchFamily="34" charset="-122"/>
                <a:cs typeface="微软雅黑" panose="020B0503020204020204" pitchFamily="34" charset="-122"/>
              </a:rPr>
              <a:t>]</a:t>
            </a:r>
            <a:endParaRPr dirty="0">
              <a:latin typeface="微软雅黑" panose="020B0503020204020204" pitchFamily="34" charset="-122"/>
              <a:ea typeface="微软雅黑" panose="020B0503020204020204" pitchFamily="34" charset="-122"/>
              <a:cs typeface="微软雅黑" panose="020B0503020204020204" pitchFamily="34" charset="-122"/>
            </a:endParaRPr>
          </a:p>
          <a:p>
            <a:pPr indent="200025">
              <a:lnSpc>
                <a:spcPct val="140000"/>
              </a:lnSpc>
            </a:pPr>
            <a:r>
              <a:rPr dirty="0" err="1">
                <a:latin typeface="楷体" panose="02010609060101010101" charset="-122"/>
                <a:ea typeface="楷体" panose="02010609060101010101" charset="-122"/>
                <a:cs typeface="楷体" panose="02010609060101010101" charset="-122"/>
              </a:rPr>
              <a:t>要考虑的是在同一个位置上可以出现的字符的范围。在同一个位置可能出现的各种字符组成了一个字符组，在正则表达式中用</a:t>
            </a:r>
            <a:r>
              <a:rPr dirty="0">
                <a:solidFill>
                  <a:srgbClr val="FF0000"/>
                </a:solidFill>
                <a:latin typeface="楷体" panose="02010609060101010101" charset="-122"/>
                <a:ea typeface="楷体" panose="02010609060101010101" charset="-122"/>
                <a:cs typeface="楷体" panose="02010609060101010101" charset="-122"/>
              </a:rPr>
              <a:t>[]</a:t>
            </a:r>
            <a:r>
              <a:rPr dirty="0" err="1">
                <a:latin typeface="楷体" panose="02010609060101010101" charset="-122"/>
                <a:ea typeface="楷体" panose="02010609060101010101" charset="-122"/>
                <a:cs typeface="楷体" panose="02010609060101010101" charset="-122"/>
              </a:rPr>
              <a:t>表示。字符分为很多类，比如数字、字母、标点等等。应用如表所示</a:t>
            </a:r>
            <a:r>
              <a:rPr dirty="0">
                <a:latin typeface="楷体" panose="02010609060101010101" charset="-122"/>
                <a:ea typeface="楷体" panose="02010609060101010101" charset="-122"/>
                <a:cs typeface="楷体" panose="02010609060101010101" charset="-122"/>
              </a:rPr>
              <a:t>。</a:t>
            </a:r>
          </a:p>
        </p:txBody>
      </p:sp>
      <p:pic>
        <p:nvPicPr>
          <p:cNvPr id="4" name="图片 3"/>
          <p:cNvPicPr>
            <a:picLocks noChangeAspect="1"/>
          </p:cNvPicPr>
          <p:nvPr/>
        </p:nvPicPr>
        <p:blipFill>
          <a:blip r:embed="rId3"/>
          <a:stretch>
            <a:fillRect/>
          </a:stretch>
        </p:blipFill>
        <p:spPr>
          <a:xfrm>
            <a:off x="1713566" y="3222126"/>
            <a:ext cx="6580964" cy="2975582"/>
          </a:xfrm>
          <a:prstGeom prst="rect">
            <a:avLst/>
          </a:prstGeom>
        </p:spPr>
      </p:pic>
      <p:grpSp>
        <p:nvGrpSpPr>
          <p:cNvPr id="12" name="组合 109"/>
          <p:cNvGrpSpPr/>
          <p:nvPr/>
        </p:nvGrpSpPr>
        <p:grpSpPr>
          <a:xfrm>
            <a:off x="489223" y="44624"/>
            <a:ext cx="4514825" cy="684413"/>
            <a:chOff x="956926" y="4567095"/>
            <a:chExt cx="4514825" cy="684413"/>
          </a:xfrm>
        </p:grpSpPr>
        <p:sp>
          <p:nvSpPr>
            <p:cNvPr id="13"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4" name="图片 13" descr="u=714968970,2342735455&amp;fm=27&amp;gp=0.jpg"/>
            <p:cNvPicPr/>
            <p:nvPr/>
          </p:nvPicPr>
          <p:blipFill>
            <a:blip r:embed="rId4"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5" name="TextBox 6"/>
            <p:cNvSpPr txBox="1">
              <a:spLocks noChangeArrowheads="1"/>
            </p:cNvSpPr>
            <p:nvPr/>
          </p:nvSpPr>
          <p:spPr bwMode="auto">
            <a:xfrm>
              <a:off x="1151271" y="4567095"/>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2" name="文本框 1"/>
          <p:cNvSpPr txBox="1"/>
          <p:nvPr/>
        </p:nvSpPr>
        <p:spPr>
          <a:xfrm>
            <a:off x="179512" y="6381328"/>
            <a:ext cx="3384376" cy="200055"/>
          </a:xfrm>
          <a:prstGeom prst="rect">
            <a:avLst/>
          </a:prstGeom>
          <a:noFill/>
        </p:spPr>
        <p:txBody>
          <a:bodyPr wrap="square" rtlCol="0">
            <a:spAutoFit/>
          </a:bodyPr>
          <a:lstStyle/>
          <a:p>
            <a:r>
              <a:rPr lang="zh-CN" altLang="en-US" sz="700" dirty="0" smtClean="0"/>
              <a:t>参考李辉等</a:t>
            </a:r>
            <a:r>
              <a:rPr lang="en-US" altLang="zh-CN" sz="700" dirty="0" smtClean="0"/>
              <a:t>《Python</a:t>
            </a:r>
            <a:r>
              <a:rPr lang="zh-CN" altLang="en-US" sz="700" dirty="0" smtClean="0"/>
              <a:t>程序设计</a:t>
            </a:r>
            <a:r>
              <a:rPr lang="en-US" altLang="zh-CN" sz="700" dirty="0" smtClean="0"/>
              <a:t>》</a:t>
            </a:r>
            <a:r>
              <a:rPr lang="zh-CN" altLang="en-US" sz="700" dirty="0" smtClean="0"/>
              <a:t>部分课件</a:t>
            </a:r>
            <a:endParaRPr lang="zh-CN" altLang="en-US" sz="700" dirty="0"/>
          </a:p>
        </p:txBody>
      </p:sp>
    </p:spTree>
    <p:extLst>
      <p:ext uri="{BB962C8B-B14F-4D97-AF65-F5344CB8AC3E}">
        <p14:creationId xmlns:p14="http://schemas.microsoft.com/office/powerpoint/2010/main" val="352494347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79512" y="980728"/>
            <a:ext cx="7496175" cy="1366528"/>
          </a:xfrm>
          <a:prstGeom prst="rect">
            <a:avLst/>
          </a:prstGeom>
          <a:noFill/>
          <a:ln w="9525">
            <a:noFill/>
          </a:ln>
        </p:spPr>
        <p:txBody>
          <a:bodyPr wrap="square">
            <a:spAutoFit/>
          </a:bodyPr>
          <a:lstStyle/>
          <a:p>
            <a:pPr indent="200025">
              <a:lnSpc>
                <a:spcPct val="110000"/>
              </a:lnSpc>
            </a:pPr>
            <a:r>
              <a:rPr b="1" dirty="0">
                <a:latin typeface="微软雅黑" panose="020B0503020204020204" pitchFamily="34" charset="-122"/>
                <a:ea typeface="微软雅黑" panose="020B0503020204020204" pitchFamily="34" charset="-122"/>
                <a:cs typeface="微软雅黑" panose="020B0503020204020204" pitchFamily="34" charset="-122"/>
              </a:rPr>
              <a:t>2</a:t>
            </a:r>
            <a:r>
              <a:rPr b="1"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b="1" dirty="0" smtClean="0">
                <a:latin typeface="微软雅黑" panose="020B0503020204020204" pitchFamily="34" charset="-122"/>
                <a:ea typeface="微软雅黑" panose="020B0503020204020204" pitchFamily="34" charset="-122"/>
                <a:cs typeface="微软雅黑" panose="020B0503020204020204" pitchFamily="34" charset="-122"/>
              </a:rPr>
              <a:t> </a:t>
            </a:r>
            <a:r>
              <a:rPr b="1" dirty="0" err="1" smtClean="0">
                <a:latin typeface="微软雅黑" panose="020B0503020204020204" pitchFamily="34" charset="-122"/>
                <a:ea typeface="微软雅黑" panose="020B0503020204020204" pitchFamily="34" charset="-122"/>
                <a:cs typeface="微软雅黑" panose="020B0503020204020204" pitchFamily="34" charset="-122"/>
              </a:rPr>
              <a:t>元字符</a:t>
            </a:r>
            <a:endParaRPr b="1" dirty="0">
              <a:latin typeface="微软雅黑" panose="020B0503020204020204" pitchFamily="34" charset="-122"/>
              <a:ea typeface="微软雅黑" panose="020B0503020204020204" pitchFamily="34" charset="-122"/>
              <a:cs typeface="微软雅黑" panose="020B0503020204020204" pitchFamily="34" charset="-122"/>
            </a:endParaRPr>
          </a:p>
          <a:p>
            <a:pPr indent="200025"/>
            <a:r>
              <a:rPr dirty="0">
                <a:latin typeface="微软雅黑" panose="020B0503020204020204" pitchFamily="34" charset="-122"/>
                <a:ea typeface="微软雅黑" panose="020B0503020204020204" pitchFamily="34" charset="-122"/>
                <a:cs typeface="微软雅黑" panose="020B0503020204020204" pitchFamily="34" charset="-122"/>
              </a:rPr>
              <a:t> </a:t>
            </a:r>
            <a:r>
              <a:rPr sz="1500" dirty="0">
                <a:latin typeface="楷体" panose="02010609060101010101" charset="-122"/>
                <a:ea typeface="楷体" panose="02010609060101010101" charset="-122"/>
                <a:cs typeface="楷体" panose="02010609060101010101" charset="-122"/>
              </a:rPr>
              <a:t> 正则表达式语言由两种基本字符类型组成：原义（正常）文本字符和元字符。元字符使正则表达式具有处理能力。所谓元字符就是指那些在正则表达式中</a:t>
            </a:r>
            <a:r>
              <a:rPr sz="1500" dirty="0">
                <a:solidFill>
                  <a:srgbClr val="FF0000"/>
                </a:solidFill>
                <a:latin typeface="楷体" panose="02010609060101010101" charset="-122"/>
                <a:ea typeface="楷体" panose="02010609060101010101" charset="-122"/>
                <a:cs typeface="楷体" panose="02010609060101010101" charset="-122"/>
              </a:rPr>
              <a:t>具有特殊意义的专用字符</a:t>
            </a:r>
            <a:r>
              <a:rPr sz="1500" dirty="0">
                <a:latin typeface="楷体" panose="02010609060101010101" charset="-122"/>
                <a:ea typeface="楷体" panose="02010609060101010101" charset="-122"/>
                <a:cs typeface="楷体" panose="02010609060101010101" charset="-122"/>
              </a:rPr>
              <a:t>，可以用来规定其前导字符（即位于元字符前面的字符）在目标对象中的出现模式。</a:t>
            </a:r>
          </a:p>
        </p:txBody>
      </p:sp>
      <p:grpSp>
        <p:nvGrpSpPr>
          <p:cNvPr id="12" name="组合 109"/>
          <p:cNvGrpSpPr/>
          <p:nvPr/>
        </p:nvGrpSpPr>
        <p:grpSpPr>
          <a:xfrm>
            <a:off x="489223" y="44624"/>
            <a:ext cx="4514825" cy="684413"/>
            <a:chOff x="956926" y="4567095"/>
            <a:chExt cx="4514825" cy="684413"/>
          </a:xfrm>
        </p:grpSpPr>
        <p:sp>
          <p:nvSpPr>
            <p:cNvPr id="13"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4" name="图片 13" descr="u=714968970,2342735455&amp;fm=27&amp;gp=0.jpg"/>
            <p:cNvPicPr/>
            <p:nvPr/>
          </p:nvPicPr>
          <p:blipFill>
            <a:blip r:embed="rId4"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5" name="TextBox 6"/>
            <p:cNvSpPr txBox="1">
              <a:spLocks noChangeArrowheads="1"/>
            </p:cNvSpPr>
            <p:nvPr/>
          </p:nvSpPr>
          <p:spPr bwMode="auto">
            <a:xfrm>
              <a:off x="1151271" y="4567095"/>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graphicFrame>
        <p:nvGraphicFramePr>
          <p:cNvPr id="11" name="表格 -1"/>
          <p:cNvGraphicFramePr/>
          <p:nvPr>
            <p:custDataLst>
              <p:tags r:id="rId1"/>
            </p:custDataLst>
            <p:extLst>
              <p:ext uri="{D42A27DB-BD31-4B8C-83A1-F6EECF244321}">
                <p14:modId xmlns:p14="http://schemas.microsoft.com/office/powerpoint/2010/main" val="2235604475"/>
              </p:ext>
            </p:extLst>
          </p:nvPr>
        </p:nvGraphicFramePr>
        <p:xfrm>
          <a:off x="323528" y="2305405"/>
          <a:ext cx="3960440" cy="3437890"/>
        </p:xfrm>
        <a:graphic>
          <a:graphicData uri="http://schemas.openxmlformats.org/drawingml/2006/table">
            <a:tbl>
              <a:tblPr firstRow="1" bandRow="1">
                <a:tableStyleId>{5940675A-B579-460E-94D1-54222C63F5DA}</a:tableStyleId>
              </a:tblPr>
              <a:tblGrid>
                <a:gridCol w="510121">
                  <a:extLst>
                    <a:ext uri="{9D8B030D-6E8A-4147-A177-3AD203B41FA5}">
                      <a16:colId xmlns:a16="http://schemas.microsoft.com/office/drawing/2014/main" val="20000"/>
                    </a:ext>
                  </a:extLst>
                </a:gridCol>
                <a:gridCol w="3450319">
                  <a:extLst>
                    <a:ext uri="{9D8B030D-6E8A-4147-A177-3AD203B41FA5}">
                      <a16:colId xmlns:a16="http://schemas.microsoft.com/office/drawing/2014/main" val="20001"/>
                    </a:ext>
                  </a:extLst>
                </a:gridCol>
              </a:tblGrid>
              <a:tr h="228600">
                <a:tc>
                  <a:txBody>
                    <a:bodyPr/>
                    <a:lstStyle/>
                    <a:p>
                      <a:pPr marL="0" indent="0" algn="ctr">
                        <a:buNone/>
                      </a:pPr>
                      <a:r>
                        <a:rPr lang="zh-CN" altLang="en-US" sz="1200" b="1" u="none" dirty="0">
                          <a:latin typeface="宋体" panose="02010600030101010101" pitchFamily="2" charset="-122"/>
                          <a:ea typeface="宋体" panose="02010600030101010101" pitchFamily="2" charset="-122"/>
                          <a:cs typeface="宋体" panose="02010600030101010101" pitchFamily="2" charset="-122"/>
                        </a:rPr>
                        <a:t>元字符</a:t>
                      </a: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200" b="1" u="none" dirty="0">
                          <a:latin typeface="宋体" panose="02010600030101010101" pitchFamily="2" charset="-122"/>
                          <a:ea typeface="宋体" panose="02010600030101010101" pitchFamily="2" charset="-122"/>
                          <a:cs typeface="宋体" panose="02010600030101010101" pitchFamily="2" charset="-122"/>
                        </a:rPr>
                        <a:t>功能说明</a:t>
                      </a:r>
                    </a:p>
                  </a:txBody>
                  <a:tcPr marL="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2090">
                <a:tc>
                  <a:txBody>
                    <a:bodyPr/>
                    <a:lstStyle/>
                    <a:p>
                      <a:pPr marL="0" indent="0" algn="ctr">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t>
                      </a: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匹配除换行符以外的任意单个字符</a:t>
                      </a: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3680">
                <a:tc>
                  <a:txBody>
                    <a:bodyPr/>
                    <a:lstStyle/>
                    <a:p>
                      <a:pPr marL="0" indent="0" algn="ctr">
                        <a:buNone/>
                      </a:pP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在</a:t>
                      </a: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r>
                        <a:rPr lang="zh-CN" altLang="en-US" sz="1200" b="0" u="none" dirty="0">
                          <a:latin typeface="宋体" panose="02010600030101010101" pitchFamily="2" charset="-122"/>
                          <a:ea typeface="宋体" panose="02010600030101010101" pitchFamily="2" charset="-122"/>
                          <a:cs typeface="宋体" panose="02010600030101010101" pitchFamily="2" charset="-122"/>
                        </a:rPr>
                        <a:t>之内用来表示范围</a:t>
                      </a:r>
                    </a:p>
                  </a:txBody>
                  <a:tcPr marL="53825"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3680">
                <a:tc>
                  <a:txBody>
                    <a:bodyPr/>
                    <a:lstStyle/>
                    <a:p>
                      <a:pPr marL="0" indent="0" algn="ctr">
                        <a:buNone/>
                      </a:pP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匹配位于</a:t>
                      </a: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r>
                        <a:rPr lang="zh-CN" altLang="en-US" sz="1200" b="0" u="none" dirty="0">
                          <a:latin typeface="宋体" panose="02010600030101010101" pitchFamily="2" charset="-122"/>
                          <a:ea typeface="宋体" panose="02010600030101010101" pitchFamily="2" charset="-122"/>
                          <a:cs typeface="宋体" panose="02010600030101010101" pitchFamily="2" charset="-122"/>
                        </a:rPr>
                        <a:t>之前或之后的字符</a:t>
                      </a:r>
                    </a:p>
                  </a:txBody>
                  <a:tcPr marL="53825" marR="0" marT="0" marB="0">
                    <a:lnL w="635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4173187857"/>
                  </a:ext>
                </a:extLst>
              </a:tr>
              <a:tr h="233680">
                <a:tc>
                  <a:txBody>
                    <a:bodyPr/>
                    <a:lstStyle/>
                    <a:p>
                      <a:pPr marL="0" indent="0" algn="ctr">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匹配行首，匹配以</a:t>
                      </a: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r>
                        <a:rPr lang="zh-CN" altLang="en-US" sz="1200" b="0" u="none" dirty="0">
                          <a:latin typeface="宋体" panose="02010600030101010101" pitchFamily="2" charset="-122"/>
                          <a:ea typeface="宋体" panose="02010600030101010101" pitchFamily="2" charset="-122"/>
                          <a:cs typeface="宋体" panose="02010600030101010101" pitchFamily="2" charset="-122"/>
                        </a:rPr>
                        <a:t>后面的字符开头的字符串</a:t>
                      </a:r>
                    </a:p>
                  </a:txBody>
                  <a:tcPr marL="53825" marR="0" marT="0" marB="0">
                    <a:lnL w="635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375422503"/>
                  </a:ext>
                </a:extLst>
              </a:tr>
              <a:tr h="116840">
                <a:tc>
                  <a:txBody>
                    <a:bodyPr/>
                    <a:lstStyle/>
                    <a:p>
                      <a:pPr marL="0" indent="0" algn="ctr">
                        <a:buNone/>
                      </a:pP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匹配行尾，</a:t>
                      </a:r>
                      <a:r>
                        <a:rPr lang="zh-CN" altLang="en-US" sz="12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匹配以</a:t>
                      </a:r>
                      <a:r>
                        <a:rPr lang="en-US" altLang="zh-CN" sz="12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zh-CN" altLang="en-US" sz="12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之前的字符</a:t>
                      </a:r>
                      <a:r>
                        <a:rPr lang="zh-CN" altLang="en-US" sz="1200" b="0" u="none" dirty="0">
                          <a:latin typeface="宋体" panose="02010600030101010101" pitchFamily="2" charset="-122"/>
                          <a:ea typeface="宋体" panose="02010600030101010101" pitchFamily="2" charset="-122"/>
                          <a:cs typeface="宋体" panose="02010600030101010101" pitchFamily="2" charset="-122"/>
                        </a:rPr>
                        <a:t>结束的字符串</a:t>
                      </a:r>
                    </a:p>
                  </a:txBody>
                  <a:tcPr marL="53825" marR="0" marT="0" marB="0">
                    <a:lnL w="635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72058257"/>
                  </a:ext>
                </a:extLst>
              </a:tr>
              <a:tr h="0">
                <a:tc>
                  <a:txBody>
                    <a:bodyPr/>
                    <a:lstStyle/>
                    <a:p>
                      <a:pPr marL="0" indent="0" algn="ctr">
                        <a:buNone/>
                      </a:pPr>
                      <a:r>
                        <a:rPr lang="en-US" altLang="zh-CN" sz="1200" b="0" u="none" dirty="0" smtClean="0">
                          <a:latin typeface="宋体" panose="02010600030101010101" pitchFamily="2" charset="-122"/>
                          <a:ea typeface="宋体" panose="02010600030101010101" pitchFamily="2" charset="-122"/>
                          <a:cs typeface="宋体" panose="02010600030101010101" pitchFamily="2" charset="-122"/>
                        </a:rPr>
                        <a:t>?</a:t>
                      </a:r>
                      <a:endParaRPr lang="en-US" altLang="zh-CN" sz="12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smtClean="0">
                          <a:latin typeface="宋体" panose="02010600030101010101" pitchFamily="2" charset="-122"/>
                          <a:ea typeface="宋体" panose="02010600030101010101" pitchFamily="2" charset="-122"/>
                          <a:cs typeface="宋体" panose="02010600030101010101" pitchFamily="2" charset="-122"/>
                        </a:rPr>
                        <a:t>重复</a:t>
                      </a:r>
                      <a:r>
                        <a:rPr lang="en-US" altLang="zh-CN" sz="1200" b="0" u="none" dirty="0" smtClean="0">
                          <a:latin typeface="宋体" panose="02010600030101010101" pitchFamily="2" charset="-122"/>
                          <a:ea typeface="宋体" panose="02010600030101010101" pitchFamily="2" charset="-122"/>
                          <a:cs typeface="宋体" panose="02010600030101010101" pitchFamily="2" charset="-122"/>
                        </a:rPr>
                        <a:t>0</a:t>
                      </a:r>
                      <a:r>
                        <a:rPr lang="zh-CN" altLang="en-US" sz="1200" b="0" u="none" dirty="0" smtClean="0">
                          <a:latin typeface="宋体" panose="02010600030101010101" pitchFamily="2" charset="-122"/>
                          <a:ea typeface="宋体" panose="02010600030101010101" pitchFamily="2" charset="-122"/>
                          <a:cs typeface="宋体" panose="02010600030101010101" pitchFamily="2" charset="-122"/>
                        </a:rPr>
                        <a:t>次或</a:t>
                      </a:r>
                      <a:r>
                        <a:rPr lang="en-US" altLang="zh-CN" sz="1200" b="0" u="none" dirty="0" smtClean="0">
                          <a:latin typeface="宋体" panose="02010600030101010101" pitchFamily="2" charset="-122"/>
                          <a:ea typeface="宋体" panose="02010600030101010101" pitchFamily="2" charset="-122"/>
                          <a:cs typeface="宋体" panose="02010600030101010101" pitchFamily="2" charset="-122"/>
                        </a:rPr>
                        <a:t>1</a:t>
                      </a:r>
                      <a:r>
                        <a:rPr lang="zh-CN" altLang="en-US" sz="1200" b="0" u="none" dirty="0" smtClean="0">
                          <a:latin typeface="宋体" panose="02010600030101010101" pitchFamily="2" charset="-122"/>
                          <a:ea typeface="宋体" panose="02010600030101010101" pitchFamily="2" charset="-122"/>
                          <a:cs typeface="宋体" panose="02010600030101010101" pitchFamily="2" charset="-122"/>
                        </a:rPr>
                        <a:t>次</a:t>
                      </a:r>
                      <a:endParaRPr lang="zh-CN" altLang="en-US" sz="1200" b="0" u="none" dirty="0">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3416350647"/>
                  </a:ext>
                </a:extLst>
              </a:tr>
              <a:tr h="233680">
                <a:tc>
                  <a:txBody>
                    <a:bodyPr/>
                    <a:lstStyle/>
                    <a:p>
                      <a:pPr marL="0" indent="0" algn="ctr">
                        <a:buNone/>
                      </a:pP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将位于</a:t>
                      </a: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r>
                        <a:rPr lang="zh-CN" altLang="en-US" sz="1200" b="0" u="none" dirty="0">
                          <a:latin typeface="宋体" panose="02010600030101010101" pitchFamily="2" charset="-122"/>
                          <a:ea typeface="宋体" panose="02010600030101010101" pitchFamily="2" charset="-122"/>
                          <a:cs typeface="宋体" panose="02010600030101010101" pitchFamily="2" charset="-122"/>
                        </a:rPr>
                        <a:t>内的内容作为一个整体来对待</a:t>
                      </a:r>
                      <a:r>
                        <a:rPr lang="en-US" altLang="zh-CN" sz="1200" b="0" u="none" dirty="0" smtClean="0">
                          <a:latin typeface="宋体" panose="02010600030101010101" pitchFamily="2" charset="-122"/>
                          <a:ea typeface="宋体" panose="02010600030101010101" pitchFamily="2" charset="-122"/>
                          <a:cs typeface="宋体" panose="02010600030101010101" pitchFamily="2" charset="-122"/>
                        </a:rPr>
                        <a:t>.</a:t>
                      </a:r>
                    </a:p>
                    <a:p>
                      <a:pPr marL="0" indent="0" algn="l">
                        <a:buNone/>
                      </a:pPr>
                      <a:r>
                        <a:rPr lang="zh-CN" altLang="en-US" sz="1200" b="0" i="0" kern="1200" dirty="0" smtClean="0">
                          <a:solidFill>
                            <a:srgbClr val="FF0000"/>
                          </a:solidFill>
                          <a:effectLst/>
                          <a:latin typeface="+mn-lt"/>
                          <a:ea typeface="+mn-ea"/>
                          <a:cs typeface="+mn-cs"/>
                        </a:rPr>
                        <a:t>匹配</a:t>
                      </a:r>
                      <a:r>
                        <a:rPr lang="zh-CN" altLang="en-US" sz="1200" b="0" i="0" kern="1200" dirty="0">
                          <a:solidFill>
                            <a:srgbClr val="FF0000"/>
                          </a:solidFill>
                          <a:effectLst/>
                          <a:latin typeface="+mn-lt"/>
                          <a:ea typeface="+mn-ea"/>
                          <a:cs typeface="+mn-cs"/>
                        </a:rPr>
                        <a:t>括号内的表达式，一般来说表示为 子模式</a:t>
                      </a:r>
                      <a:endParaRPr lang="zh-CN" altLang="en-US" sz="1200" b="0" u="none"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707907679"/>
                  </a:ext>
                </a:extLst>
              </a:tr>
              <a:tr h="233680">
                <a:tc>
                  <a:txBody>
                    <a:bodyPr/>
                    <a:lstStyle/>
                    <a:p>
                      <a:pPr marL="0" indent="0" algn="ctr">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表示位于</a:t>
                      </a:r>
                      <a:r>
                        <a:rPr lang="en-US" altLang="zh-CN" sz="1200" b="0" u="none" dirty="0">
                          <a:latin typeface="宋体" panose="02010600030101010101" pitchFamily="2" charset="-122"/>
                          <a:ea typeface="宋体" panose="02010600030101010101" pitchFamily="2" charset="-122"/>
                          <a:cs typeface="宋体" panose="02010600030101010101" pitchFamily="2" charset="-122"/>
                        </a:rPr>
                        <a:t>\</a:t>
                      </a:r>
                      <a:r>
                        <a:rPr lang="zh-CN" altLang="en-US" sz="1200" b="0" u="none" dirty="0">
                          <a:latin typeface="宋体" panose="02010600030101010101" pitchFamily="2" charset="-122"/>
                          <a:ea typeface="宋体" panose="02010600030101010101" pitchFamily="2" charset="-122"/>
                          <a:cs typeface="宋体" panose="02010600030101010101" pitchFamily="2" charset="-122"/>
                        </a:rPr>
                        <a:t>之后的为转义字符</a:t>
                      </a:r>
                    </a:p>
                  </a:txBody>
                  <a:tcPr marL="53825" marR="0" marT="0" marB="0">
                    <a:lnL w="635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2715162118"/>
                  </a:ext>
                </a:extLst>
              </a:tr>
              <a:tr h="233680">
                <a:tc>
                  <a:txBody>
                    <a:bodyPr/>
                    <a:lstStyle/>
                    <a:p>
                      <a:pPr marL="0" indent="0" algn="ctr">
                        <a:buNone/>
                      </a:pPr>
                      <a:r>
                        <a:rPr lang="en-US" altLang="zh-CN" sz="1200" b="0" u="none">
                          <a:latin typeface="宋体" panose="02010600030101010101" pitchFamily="2" charset="-122"/>
                          <a:ea typeface="宋体" panose="02010600030101010101" pitchFamily="2" charset="-122"/>
                          <a:cs typeface="宋体" panose="02010600030101010101" pitchFamily="2" charset="-122"/>
                        </a:rPr>
                        <a:t>\num</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此处的</a:t>
                      </a:r>
                      <a:r>
                        <a:rPr lang="en-US" altLang="zh-CN" sz="1200" b="0" u="none" dirty="0" err="1">
                          <a:latin typeface="宋体" panose="02010600030101010101" pitchFamily="2" charset="-122"/>
                          <a:ea typeface="宋体" panose="02010600030101010101" pitchFamily="2" charset="-122"/>
                          <a:cs typeface="宋体" panose="02010600030101010101" pitchFamily="2" charset="-122"/>
                        </a:rPr>
                        <a:t>num</a:t>
                      </a:r>
                      <a:r>
                        <a:rPr lang="zh-CN" altLang="en-US" sz="1200" b="0" u="none" dirty="0">
                          <a:latin typeface="宋体" panose="02010600030101010101" pitchFamily="2" charset="-122"/>
                          <a:ea typeface="宋体" panose="02010600030101010101" pitchFamily="2" charset="-122"/>
                          <a:cs typeface="宋体" panose="02010600030101010101" pitchFamily="2" charset="-122"/>
                        </a:rPr>
                        <a:t>是一个正整数，表示</a:t>
                      </a:r>
                      <a:r>
                        <a:rPr lang="zh-CN" altLang="en-US" sz="12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子模式编号</a:t>
                      </a:r>
                      <a:r>
                        <a:rPr lang="zh-CN" altLang="en-US" sz="1200" b="0" u="none" dirty="0">
                          <a:latin typeface="宋体" panose="02010600030101010101" pitchFamily="2" charset="-122"/>
                          <a:ea typeface="宋体" panose="02010600030101010101" pitchFamily="2" charset="-122"/>
                          <a:cs typeface="宋体" panose="02010600030101010101" pitchFamily="2" charset="-122"/>
                        </a:rPr>
                        <a:t>。</a:t>
                      </a:r>
                      <a:r>
                        <a:rPr lang="zh-CN" altLang="en-US" sz="1200" b="0" i="0" kern="1200" dirty="0">
                          <a:solidFill>
                            <a:srgbClr val="FF0000"/>
                          </a:solidFill>
                          <a:effectLst/>
                          <a:latin typeface="+mn-lt"/>
                          <a:ea typeface="+mn-ea"/>
                          <a:cs typeface="+mn-cs"/>
                        </a:rPr>
                        <a:t>匹配第</a:t>
                      </a:r>
                      <a:r>
                        <a:rPr lang="en-US" altLang="zh-CN" sz="1200" b="0" i="0" kern="1200" dirty="0">
                          <a:solidFill>
                            <a:srgbClr val="FF0000"/>
                          </a:solidFill>
                          <a:effectLst/>
                          <a:latin typeface="+mn-lt"/>
                          <a:ea typeface="+mn-ea"/>
                          <a:cs typeface="+mn-cs"/>
                        </a:rPr>
                        <a:t>n</a:t>
                      </a:r>
                      <a:r>
                        <a:rPr lang="zh-CN" altLang="en-US" sz="1200" b="0" i="0" kern="1200" dirty="0">
                          <a:solidFill>
                            <a:srgbClr val="FF0000"/>
                          </a:solidFill>
                          <a:effectLst/>
                          <a:latin typeface="+mn-lt"/>
                          <a:ea typeface="+mn-ea"/>
                          <a:cs typeface="+mn-cs"/>
                        </a:rPr>
                        <a:t>个子模式的内容</a:t>
                      </a:r>
                      <a:endParaRPr lang="zh-CN" altLang="en-US" sz="1200" b="0" u="none" dirty="0">
                        <a:solidFill>
                          <a:srgbClr val="FF0000"/>
                        </a:solidFill>
                        <a:latin typeface="宋体" panose="02010600030101010101" pitchFamily="2" charset="-122"/>
                        <a:ea typeface="宋体" panose="02010600030101010101" pitchFamily="2" charset="-122"/>
                        <a:cs typeface="宋体" panose="02010600030101010101" pitchFamily="2" charset="-122"/>
                      </a:endParaRPr>
                    </a:p>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例如，</a:t>
                      </a:r>
                      <a:r>
                        <a:rPr lang="zh-CN" altLang="en-US" sz="12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12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(.)\\1” </a:t>
                      </a:r>
                      <a:r>
                        <a:rPr lang="zh-CN" altLang="en-US" sz="12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匹配两个连续的相同字符</a:t>
                      </a:r>
                      <a:r>
                        <a:rPr lang="en-US" altLang="zh-CN" sz="12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en-US" sz="12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多个连续重复字符应该是</a:t>
                      </a:r>
                      <a:r>
                        <a:rPr lang="en-US" altLang="zh-CN" sz="12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(.)\1+   </a:t>
                      </a:r>
                      <a:endParaRPr lang="zh-CN" altLang="en-US" sz="1200" b="0" u="none"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993211656"/>
                  </a:ext>
                </a:extLst>
              </a:tr>
              <a:tr h="233680">
                <a:tc>
                  <a:txBody>
                    <a:bodyPr/>
                    <a:lstStyle/>
                    <a:p>
                      <a:pPr marL="0" indent="0" algn="ctr">
                        <a:buNone/>
                      </a:pPr>
                      <a:r>
                        <a:rPr lang="en-US" altLang="zh-CN" sz="1200" b="0" u="none" dirty="0">
                          <a:latin typeface="宋体" panose="02010600030101010101" pitchFamily="2" charset="-122"/>
                          <a:ea typeface="宋体" panose="02010600030101010101" pitchFamily="2" charset="-122"/>
                          <a:cs typeface="宋体" panose="02010600030101010101" pitchFamily="2" charset="-122"/>
                        </a:rPr>
                        <a:t>\f</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换页符匹配</a:t>
                      </a:r>
                    </a:p>
                  </a:txBody>
                  <a:tcPr marL="53825" marR="0" marT="0" marB="0" anchor="ctr">
                    <a:lnL w="635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4143377113"/>
                  </a:ext>
                </a:extLst>
              </a:tr>
              <a:tr h="106045">
                <a:tc>
                  <a:txBody>
                    <a:bodyPr/>
                    <a:lstStyle/>
                    <a:p>
                      <a:pPr marL="0" indent="0" algn="ctr">
                        <a:buNone/>
                      </a:pPr>
                      <a:r>
                        <a:rPr lang="en-US" altLang="zh-CN" sz="1200" b="0" u="none" dirty="0">
                          <a:latin typeface="宋体" panose="02010600030101010101" pitchFamily="2" charset="-122"/>
                          <a:ea typeface="宋体" panose="02010600030101010101" pitchFamily="2" charset="-122"/>
                          <a:cs typeface="宋体" panose="02010600030101010101" pitchFamily="2" charset="-122"/>
                        </a:rPr>
                        <a:t>\n</a:t>
                      </a: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换行符</a:t>
                      </a:r>
                      <a:r>
                        <a:rPr lang="zh-CN" altLang="en-US" sz="1200" b="0" u="none" dirty="0" smtClean="0">
                          <a:latin typeface="宋体" panose="02010600030101010101" pitchFamily="2" charset="-122"/>
                          <a:ea typeface="宋体" panose="02010600030101010101" pitchFamily="2" charset="-122"/>
                          <a:cs typeface="宋体" panose="02010600030101010101" pitchFamily="2" charset="-122"/>
                        </a:rPr>
                        <a:t>匹配</a:t>
                      </a:r>
                      <a:endParaRPr lang="zh-CN" altLang="en-US" sz="1200" b="0" u="none" dirty="0">
                        <a:latin typeface="宋体" panose="02010600030101010101" pitchFamily="2" charset="-122"/>
                        <a:ea typeface="宋体" panose="02010600030101010101" pitchFamily="2" charset="-122"/>
                        <a:cs typeface="宋体" panose="02010600030101010101" pitchFamily="2" charset="-122"/>
                      </a:endParaRPr>
                    </a:p>
                  </a:txBody>
                  <a:tcPr marL="53825" marR="0" marT="0" marB="0"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0">
                <a:tc>
                  <a:txBody>
                    <a:bodyPr/>
                    <a:lstStyle/>
                    <a:p>
                      <a:pPr marL="0" indent="0" algn="ctr">
                        <a:buNone/>
                      </a:pPr>
                      <a:r>
                        <a:rPr lang="en-US" altLang="zh-CN" sz="1200" b="0" u="none" dirty="0">
                          <a:latin typeface="宋体" panose="02010600030101010101" pitchFamily="2" charset="-122"/>
                          <a:ea typeface="宋体" panose="02010600030101010101" pitchFamily="2" charset="-122"/>
                          <a:cs typeface="宋体" panose="02010600030101010101" pitchFamily="2" charset="-122"/>
                        </a:rPr>
                        <a:t>\r</a:t>
                      </a:r>
                    </a:p>
                  </a:txBody>
                  <a:tcPr marL="0" marR="0" marT="0" marB="0">
                    <a:lnL w="6350" cap="flat" cmpd="sng" algn="ctr">
                      <a:solidFill>
                        <a:srgbClr val="080000"/>
                      </a:solidFill>
                      <a:prstDash val="solid"/>
                      <a:roun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匹配一个回车符</a:t>
                      </a:r>
                    </a:p>
                  </a:txBody>
                  <a:tcPr marL="53825" marR="0" marT="0" marB="0" anchor="ctr">
                    <a:lnL w="635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2633328421"/>
                  </a:ext>
                </a:extLst>
              </a:tr>
            </a:tbl>
          </a:graphicData>
        </a:graphic>
      </p:graphicFrame>
      <p:sp>
        <p:nvSpPr>
          <p:cNvPr id="16" name="文本框 15"/>
          <p:cNvSpPr txBox="1"/>
          <p:nvPr/>
        </p:nvSpPr>
        <p:spPr>
          <a:xfrm>
            <a:off x="464543" y="5750828"/>
            <a:ext cx="7211144" cy="738664"/>
          </a:xfrm>
          <a:prstGeom prst="rect">
            <a:avLst/>
          </a:prstGeom>
          <a:noFill/>
        </p:spPr>
        <p:txBody>
          <a:bodyPr wrap="square" rtlCol="0">
            <a:spAutoFit/>
          </a:bodyPr>
          <a:lstStyle/>
          <a:p>
            <a:pPr algn="l"/>
            <a:r>
              <a:rPr lang="zh-CN" altLang="en-US" sz="1400" b="1" i="0" dirty="0">
                <a:solidFill>
                  <a:srgbClr val="0000FF"/>
                </a:solidFill>
                <a:effectLst/>
                <a:latin typeface="-apple-system"/>
              </a:rPr>
              <a:t>正则表达式中的小括号</a:t>
            </a:r>
            <a:r>
              <a:rPr lang="en-US" altLang="zh-CN" sz="1400" b="1" i="0" dirty="0">
                <a:solidFill>
                  <a:srgbClr val="0000FF"/>
                </a:solidFill>
                <a:effectLst/>
                <a:latin typeface="-apple-system"/>
              </a:rPr>
              <a:t>“()”</a:t>
            </a:r>
            <a:r>
              <a:rPr lang="zh-CN" altLang="en-US" sz="1400" b="1" i="0" dirty="0">
                <a:solidFill>
                  <a:srgbClr val="0000FF"/>
                </a:solidFill>
                <a:effectLst/>
                <a:latin typeface="-apple-system"/>
              </a:rPr>
              <a:t>。是代表子模式的意思。 如果</a:t>
            </a:r>
            <a:r>
              <a:rPr lang="zh-CN" altLang="en-US" sz="1400" b="1" dirty="0">
                <a:solidFill>
                  <a:srgbClr val="0000FF"/>
                </a:solidFill>
                <a:latin typeface="-apple-system"/>
              </a:rPr>
              <a:t>在</a:t>
            </a:r>
            <a:r>
              <a:rPr lang="zh-CN" altLang="en-US" sz="1400" b="1" i="0" dirty="0">
                <a:solidFill>
                  <a:srgbClr val="0000FF"/>
                </a:solidFill>
                <a:effectLst/>
                <a:latin typeface="-apple-system"/>
              </a:rPr>
              <a:t>其后面出现</a:t>
            </a:r>
            <a:r>
              <a:rPr lang="en-US" altLang="zh-CN" sz="1400" b="1" i="0" dirty="0">
                <a:solidFill>
                  <a:srgbClr val="0000FF"/>
                </a:solidFill>
                <a:effectLst/>
                <a:latin typeface="-apple-system"/>
              </a:rPr>
              <a:t>\1</a:t>
            </a:r>
            <a:r>
              <a:rPr lang="zh-CN" altLang="en-US" sz="1400" b="1" i="0" dirty="0">
                <a:solidFill>
                  <a:srgbClr val="0000FF"/>
                </a:solidFill>
                <a:effectLst/>
                <a:latin typeface="-apple-system"/>
              </a:rPr>
              <a:t>则是代表与第一个小括号中要匹配的内容相同，即引用。</a:t>
            </a:r>
            <a:endParaRPr lang="zh-CN" altLang="en-US" sz="1400" b="0" i="0" dirty="0">
              <a:solidFill>
                <a:srgbClr val="0000FF"/>
              </a:solidFill>
              <a:effectLst/>
              <a:latin typeface="-apple-system"/>
            </a:endParaRPr>
          </a:p>
          <a:p>
            <a:endParaRPr lang="zh-CN" altLang="en-US" sz="1400" dirty="0">
              <a:solidFill>
                <a:srgbClr val="0000FF"/>
              </a:solidFill>
            </a:endParaRPr>
          </a:p>
        </p:txBody>
      </p:sp>
      <p:graphicFrame>
        <p:nvGraphicFramePr>
          <p:cNvPr id="17" name="表格 -1"/>
          <p:cNvGraphicFramePr/>
          <p:nvPr>
            <p:custDataLst>
              <p:tags r:id="rId2"/>
            </p:custDataLst>
            <p:extLst>
              <p:ext uri="{D42A27DB-BD31-4B8C-83A1-F6EECF244321}">
                <p14:modId xmlns:p14="http://schemas.microsoft.com/office/powerpoint/2010/main" val="3856073339"/>
              </p:ext>
            </p:extLst>
          </p:nvPr>
        </p:nvGraphicFramePr>
        <p:xfrm>
          <a:off x="4355976" y="2314266"/>
          <a:ext cx="4378384" cy="3329940"/>
        </p:xfrm>
        <a:graphic>
          <a:graphicData uri="http://schemas.openxmlformats.org/drawingml/2006/table">
            <a:tbl>
              <a:tblPr firstRow="1" bandRow="1">
                <a:tableStyleId>{5940675A-B579-460E-94D1-54222C63F5DA}</a:tableStyleId>
              </a:tblPr>
              <a:tblGrid>
                <a:gridCol w="479608">
                  <a:extLst>
                    <a:ext uri="{9D8B030D-6E8A-4147-A177-3AD203B41FA5}">
                      <a16:colId xmlns:a16="http://schemas.microsoft.com/office/drawing/2014/main" val="20000"/>
                    </a:ext>
                  </a:extLst>
                </a:gridCol>
                <a:gridCol w="3898776">
                  <a:extLst>
                    <a:ext uri="{9D8B030D-6E8A-4147-A177-3AD203B41FA5}">
                      <a16:colId xmlns:a16="http://schemas.microsoft.com/office/drawing/2014/main" val="20001"/>
                    </a:ext>
                  </a:extLst>
                </a:gridCol>
              </a:tblGrid>
              <a:tr h="228600">
                <a:tc>
                  <a:txBody>
                    <a:bodyPr/>
                    <a:lstStyle/>
                    <a:p>
                      <a:pPr marL="0" indent="0" algn="ctr">
                        <a:buNone/>
                      </a:pPr>
                      <a:r>
                        <a:rPr lang="zh-CN" altLang="en-US" sz="1200" b="1" u="none" dirty="0">
                          <a:latin typeface="宋体" panose="02010600030101010101" pitchFamily="2" charset="-122"/>
                          <a:ea typeface="宋体" panose="02010600030101010101" pitchFamily="2" charset="-122"/>
                          <a:cs typeface="宋体" panose="02010600030101010101" pitchFamily="2" charset="-122"/>
                        </a:rPr>
                        <a:t>元字符</a:t>
                      </a: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ctr">
                        <a:buNone/>
                      </a:pPr>
                      <a:r>
                        <a:rPr lang="zh-CN" altLang="en-US" sz="1200" b="1" u="none" dirty="0">
                          <a:latin typeface="宋体" panose="02010600030101010101" pitchFamily="2" charset="-122"/>
                          <a:ea typeface="宋体" panose="02010600030101010101" pitchFamily="2" charset="-122"/>
                          <a:cs typeface="宋体" panose="02010600030101010101" pitchFamily="2" charset="-122"/>
                        </a:rPr>
                        <a:t>功能说明</a:t>
                      </a:r>
                    </a:p>
                  </a:txBody>
                  <a:tcPr marL="0" marR="0" marT="0" marB="0">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7645">
                <a:tc>
                  <a:txBody>
                    <a:bodyPr/>
                    <a:lstStyle/>
                    <a:p>
                      <a:pPr marL="0" indent="0" algn="ctr">
                        <a:buNone/>
                      </a:pPr>
                      <a:r>
                        <a:rPr lang="en-US" altLang="zh-CN" sz="1200" b="0" u="none" dirty="0">
                          <a:latin typeface="宋体" panose="02010600030101010101" pitchFamily="2" charset="-122"/>
                          <a:ea typeface="宋体" panose="02010600030101010101" pitchFamily="2" charset="-122"/>
                          <a:cs typeface="宋体" panose="02010600030101010101" pitchFamily="2" charset="-122"/>
                        </a:rPr>
                        <a:t>\b</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匹配</a:t>
                      </a:r>
                      <a:r>
                        <a:rPr lang="zh-CN" altLang="en-US" sz="12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单词头</a:t>
                      </a:r>
                      <a:r>
                        <a:rPr lang="zh-CN" altLang="en-US" sz="1200" b="0" u="none" dirty="0">
                          <a:latin typeface="宋体" panose="02010600030101010101" pitchFamily="2" charset="-122"/>
                          <a:ea typeface="宋体" panose="02010600030101010101" pitchFamily="2" charset="-122"/>
                          <a:cs typeface="宋体" panose="02010600030101010101" pitchFamily="2" charset="-122"/>
                        </a:rPr>
                        <a:t>或</a:t>
                      </a:r>
                      <a:r>
                        <a:rPr lang="zh-CN" altLang="en-US" sz="12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单词尾 找单词时一般成对出现</a:t>
                      </a:r>
                      <a:endParaRPr lang="en-US" altLang="zh-CN" sz="1200" b="0" u="none" dirty="0">
                        <a:solidFill>
                          <a:srgbClr val="FF0000"/>
                        </a:solidFill>
                        <a:latin typeface="宋体" panose="02010600030101010101" pitchFamily="2" charset="-122"/>
                        <a:ea typeface="宋体" panose="02010600030101010101" pitchFamily="2" charset="-122"/>
                        <a:cs typeface="宋体" panose="02010600030101010101" pitchFamily="2" charset="-122"/>
                      </a:endParaRPr>
                    </a:p>
                    <a:p>
                      <a:pPr marL="0" indent="0" algn="l">
                        <a:buNone/>
                      </a:pPr>
                      <a:r>
                        <a:rPr lang="zh-CN" altLang="en-US" sz="1200" b="0" i="0" kern="1200" dirty="0">
                          <a:solidFill>
                            <a:srgbClr val="FF0000"/>
                          </a:solidFill>
                          <a:effectLst/>
                          <a:latin typeface="+mn-lt"/>
                          <a:ea typeface="+mn-ea"/>
                          <a:cs typeface="+mn-cs"/>
                        </a:rPr>
                        <a:t>匹配一个单词边界，也就是指单词和空格间的位置。例如， </a:t>
                      </a:r>
                      <a:r>
                        <a:rPr lang="en-US" altLang="zh-CN" sz="1200" b="0" i="0" kern="1200" dirty="0">
                          <a:solidFill>
                            <a:srgbClr val="FF0000"/>
                          </a:solidFill>
                          <a:effectLst/>
                          <a:latin typeface="+mn-lt"/>
                          <a:ea typeface="+mn-ea"/>
                          <a:cs typeface="+mn-cs"/>
                        </a:rPr>
                        <a:t>'er\b' </a:t>
                      </a:r>
                      <a:r>
                        <a:rPr lang="zh-CN" altLang="en-US" sz="1200" b="0" i="0" kern="1200" dirty="0">
                          <a:solidFill>
                            <a:srgbClr val="FF0000"/>
                          </a:solidFill>
                          <a:effectLst/>
                          <a:latin typeface="+mn-lt"/>
                          <a:ea typeface="+mn-ea"/>
                          <a:cs typeface="+mn-cs"/>
                        </a:rPr>
                        <a:t>可以匹配</a:t>
                      </a:r>
                      <a:r>
                        <a:rPr lang="en-US" altLang="zh-CN" sz="1200" b="0" i="0" kern="1200" dirty="0">
                          <a:solidFill>
                            <a:srgbClr val="FF0000"/>
                          </a:solidFill>
                          <a:effectLst/>
                          <a:latin typeface="+mn-lt"/>
                          <a:ea typeface="+mn-ea"/>
                          <a:cs typeface="+mn-cs"/>
                        </a:rPr>
                        <a:t>"never" </a:t>
                      </a:r>
                      <a:r>
                        <a:rPr lang="zh-CN" altLang="en-US" sz="1200" b="0" i="0" kern="1200" dirty="0">
                          <a:solidFill>
                            <a:srgbClr val="FF0000"/>
                          </a:solidFill>
                          <a:effectLst/>
                          <a:latin typeface="+mn-lt"/>
                          <a:ea typeface="+mn-ea"/>
                          <a:cs typeface="+mn-cs"/>
                        </a:rPr>
                        <a:t>中的 </a:t>
                      </a:r>
                      <a:r>
                        <a:rPr lang="en-US" altLang="zh-CN" sz="1200" b="0" i="0" kern="1200" dirty="0">
                          <a:solidFill>
                            <a:srgbClr val="FF0000"/>
                          </a:solidFill>
                          <a:effectLst/>
                          <a:latin typeface="+mn-lt"/>
                          <a:ea typeface="+mn-ea"/>
                          <a:cs typeface="+mn-cs"/>
                        </a:rPr>
                        <a:t>'er'</a:t>
                      </a:r>
                      <a:r>
                        <a:rPr lang="zh-CN" altLang="en-US" sz="1200" b="0" i="0" kern="1200" dirty="0">
                          <a:solidFill>
                            <a:srgbClr val="FF0000"/>
                          </a:solidFill>
                          <a:effectLst/>
                          <a:latin typeface="+mn-lt"/>
                          <a:ea typeface="+mn-ea"/>
                          <a:cs typeface="+mn-cs"/>
                        </a:rPr>
                        <a:t>，但不能匹配 </a:t>
                      </a:r>
                      <a:r>
                        <a:rPr lang="en-US" altLang="zh-CN" sz="1200" b="0" i="0" kern="1200" dirty="0">
                          <a:solidFill>
                            <a:srgbClr val="FF0000"/>
                          </a:solidFill>
                          <a:effectLst/>
                          <a:latin typeface="+mn-lt"/>
                          <a:ea typeface="+mn-ea"/>
                          <a:cs typeface="+mn-cs"/>
                        </a:rPr>
                        <a:t>"verb" </a:t>
                      </a:r>
                      <a:r>
                        <a:rPr lang="zh-CN" altLang="en-US" sz="1200" b="0" i="0" kern="1200" dirty="0">
                          <a:solidFill>
                            <a:srgbClr val="FF0000"/>
                          </a:solidFill>
                          <a:effectLst/>
                          <a:latin typeface="+mn-lt"/>
                          <a:ea typeface="+mn-ea"/>
                          <a:cs typeface="+mn-cs"/>
                        </a:rPr>
                        <a:t>中的 </a:t>
                      </a:r>
                      <a:r>
                        <a:rPr lang="en-US" altLang="zh-CN" sz="1200" b="0" i="0" kern="1200" dirty="0">
                          <a:solidFill>
                            <a:srgbClr val="FF0000"/>
                          </a:solidFill>
                          <a:effectLst/>
                          <a:latin typeface="+mn-lt"/>
                          <a:ea typeface="+mn-ea"/>
                          <a:cs typeface="+mn-cs"/>
                        </a:rPr>
                        <a:t>'er’</a:t>
                      </a:r>
                      <a:r>
                        <a:rPr lang="zh-CN" altLang="en-US" sz="1200" b="0" i="0" kern="1200" dirty="0">
                          <a:solidFill>
                            <a:srgbClr val="FF0000"/>
                          </a:solidFill>
                          <a:effectLst/>
                          <a:latin typeface="+mn-lt"/>
                          <a:ea typeface="+mn-ea"/>
                          <a:cs typeface="+mn-cs"/>
                        </a:rPr>
                        <a:t>。</a:t>
                      </a:r>
                      <a:endParaRPr lang="en-US" altLang="zh-CN" sz="1200" b="0" i="0" kern="1200" dirty="0">
                        <a:solidFill>
                          <a:srgbClr val="FF0000"/>
                        </a:solidFill>
                        <a:effectLst/>
                        <a:latin typeface="+mn-lt"/>
                        <a:ea typeface="+mn-ea"/>
                        <a:cs typeface="+mn-cs"/>
                      </a:endParaRPr>
                    </a:p>
                  </a:txBody>
                  <a:tcPr marL="53825" marR="0" marT="0" marB="0">
                    <a:lnL w="635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2153535624"/>
                  </a:ext>
                </a:extLst>
              </a:tr>
              <a:tr h="207645">
                <a:tc>
                  <a:txBody>
                    <a:bodyPr/>
                    <a:lstStyle/>
                    <a:p>
                      <a:pPr marL="0" indent="0" algn="ctr">
                        <a:buNone/>
                      </a:pPr>
                      <a:r>
                        <a:rPr lang="en-US" altLang="zh-CN" sz="1200" b="0" u="none">
                          <a:latin typeface="宋体" panose="02010600030101010101" pitchFamily="2" charset="-122"/>
                          <a:ea typeface="宋体" panose="02010600030101010101" pitchFamily="2" charset="-122"/>
                          <a:cs typeface="宋体" panose="02010600030101010101" pitchFamily="2" charset="-122"/>
                        </a:rPr>
                        <a:t>\B</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与</a:t>
                      </a:r>
                      <a:r>
                        <a:rPr lang="en-US" altLang="zh-CN" sz="1200" b="0" u="none" dirty="0">
                          <a:latin typeface="宋体" panose="02010600030101010101" pitchFamily="2" charset="-122"/>
                          <a:ea typeface="宋体" panose="02010600030101010101" pitchFamily="2" charset="-122"/>
                          <a:cs typeface="宋体" panose="02010600030101010101" pitchFamily="2" charset="-122"/>
                        </a:rPr>
                        <a:t>\b</a:t>
                      </a:r>
                      <a:r>
                        <a:rPr lang="zh-CN" altLang="en-US" sz="1200" b="0" u="none" dirty="0">
                          <a:latin typeface="宋体" panose="02010600030101010101" pitchFamily="2" charset="-122"/>
                          <a:ea typeface="宋体" panose="02010600030101010101" pitchFamily="2" charset="-122"/>
                          <a:cs typeface="宋体" panose="02010600030101010101" pitchFamily="2" charset="-122"/>
                        </a:rPr>
                        <a:t>含义相反</a:t>
                      </a:r>
                      <a:endParaRPr lang="en-US" altLang="zh-CN" sz="1200" b="0" u="none" dirty="0">
                        <a:latin typeface="宋体" panose="02010600030101010101" pitchFamily="2" charset="-122"/>
                        <a:ea typeface="宋体" panose="02010600030101010101" pitchFamily="2" charset="-122"/>
                        <a:cs typeface="宋体" panose="02010600030101010101" pitchFamily="2" charset="-122"/>
                      </a:endParaRPr>
                    </a:p>
                    <a:p>
                      <a:pPr marL="0" indent="0" algn="l">
                        <a:buNone/>
                      </a:pPr>
                      <a:r>
                        <a:rPr lang="zh-CN" altLang="en-US" sz="1200" b="0" i="0" kern="1200" dirty="0">
                          <a:solidFill>
                            <a:srgbClr val="FF0000"/>
                          </a:solidFill>
                          <a:effectLst/>
                          <a:latin typeface="+mn-lt"/>
                          <a:ea typeface="+mn-ea"/>
                          <a:cs typeface="+mn-cs"/>
                        </a:rPr>
                        <a:t>匹配非单词边界。</a:t>
                      </a:r>
                      <a:r>
                        <a:rPr lang="en-US" altLang="zh-CN" sz="1200" b="0" i="0" kern="1200" dirty="0">
                          <a:solidFill>
                            <a:srgbClr val="FF0000"/>
                          </a:solidFill>
                          <a:effectLst/>
                          <a:latin typeface="+mn-lt"/>
                          <a:ea typeface="+mn-ea"/>
                          <a:cs typeface="+mn-cs"/>
                        </a:rPr>
                        <a:t>'er\B' </a:t>
                      </a:r>
                      <a:r>
                        <a:rPr lang="zh-CN" altLang="en-US" sz="1200" b="0" i="0" kern="1200" dirty="0">
                          <a:solidFill>
                            <a:srgbClr val="FF0000"/>
                          </a:solidFill>
                          <a:effectLst/>
                          <a:latin typeface="+mn-lt"/>
                          <a:ea typeface="+mn-ea"/>
                          <a:cs typeface="+mn-cs"/>
                        </a:rPr>
                        <a:t>能匹配 </a:t>
                      </a:r>
                      <a:r>
                        <a:rPr lang="en-US" altLang="zh-CN" sz="1200" b="0" i="0" kern="1200" dirty="0">
                          <a:solidFill>
                            <a:srgbClr val="FF0000"/>
                          </a:solidFill>
                          <a:effectLst/>
                          <a:latin typeface="+mn-lt"/>
                          <a:ea typeface="+mn-ea"/>
                          <a:cs typeface="+mn-cs"/>
                        </a:rPr>
                        <a:t>"verb" </a:t>
                      </a:r>
                      <a:r>
                        <a:rPr lang="zh-CN" altLang="en-US" sz="1200" b="0" i="0" kern="1200" dirty="0">
                          <a:solidFill>
                            <a:srgbClr val="FF0000"/>
                          </a:solidFill>
                          <a:effectLst/>
                          <a:latin typeface="+mn-lt"/>
                          <a:ea typeface="+mn-ea"/>
                          <a:cs typeface="+mn-cs"/>
                        </a:rPr>
                        <a:t>中的 </a:t>
                      </a:r>
                      <a:r>
                        <a:rPr lang="en-US" altLang="zh-CN" sz="1200" b="0" i="0" kern="1200" dirty="0">
                          <a:solidFill>
                            <a:srgbClr val="FF0000"/>
                          </a:solidFill>
                          <a:effectLst/>
                          <a:latin typeface="+mn-lt"/>
                          <a:ea typeface="+mn-ea"/>
                          <a:cs typeface="+mn-cs"/>
                        </a:rPr>
                        <a:t>'er'</a:t>
                      </a:r>
                      <a:r>
                        <a:rPr lang="zh-CN" altLang="en-US" sz="1200" b="0" i="0" kern="1200" dirty="0">
                          <a:solidFill>
                            <a:srgbClr val="FF0000"/>
                          </a:solidFill>
                          <a:effectLst/>
                          <a:latin typeface="+mn-lt"/>
                          <a:ea typeface="+mn-ea"/>
                          <a:cs typeface="+mn-cs"/>
                        </a:rPr>
                        <a:t>，但不能匹配 </a:t>
                      </a:r>
                      <a:r>
                        <a:rPr lang="en-US" altLang="zh-CN" sz="1200" b="0" i="0" kern="1200" dirty="0">
                          <a:solidFill>
                            <a:srgbClr val="FF0000"/>
                          </a:solidFill>
                          <a:effectLst/>
                          <a:latin typeface="+mn-lt"/>
                          <a:ea typeface="+mn-ea"/>
                          <a:cs typeface="+mn-cs"/>
                        </a:rPr>
                        <a:t>"never" </a:t>
                      </a:r>
                      <a:r>
                        <a:rPr lang="zh-CN" altLang="en-US" sz="1200" b="0" i="0" kern="1200" dirty="0">
                          <a:solidFill>
                            <a:srgbClr val="FF0000"/>
                          </a:solidFill>
                          <a:effectLst/>
                          <a:latin typeface="+mn-lt"/>
                          <a:ea typeface="+mn-ea"/>
                          <a:cs typeface="+mn-cs"/>
                        </a:rPr>
                        <a:t>中的 </a:t>
                      </a:r>
                      <a:r>
                        <a:rPr lang="en-US" altLang="zh-CN" sz="1200" b="0" i="0" kern="1200" dirty="0">
                          <a:solidFill>
                            <a:srgbClr val="FF0000"/>
                          </a:solidFill>
                          <a:effectLst/>
                          <a:latin typeface="+mn-lt"/>
                          <a:ea typeface="+mn-ea"/>
                          <a:cs typeface="+mn-cs"/>
                        </a:rPr>
                        <a:t>'er'</a:t>
                      </a:r>
                      <a:r>
                        <a:rPr lang="zh-CN" altLang="en-US" sz="1200" b="0" i="0" kern="1200" dirty="0">
                          <a:solidFill>
                            <a:srgbClr val="FF0000"/>
                          </a:solidFill>
                          <a:effectLst/>
                          <a:latin typeface="+mn-lt"/>
                          <a:ea typeface="+mn-ea"/>
                          <a:cs typeface="+mn-cs"/>
                        </a:rPr>
                        <a:t>。</a:t>
                      </a:r>
                      <a:endParaRPr lang="zh-CN" altLang="en-US" sz="1200" b="0" u="none"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53825" marR="0" marT="0" marB="0">
                    <a:lnL w="635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3358712131"/>
                  </a:ext>
                </a:extLst>
              </a:tr>
              <a:tr h="207645">
                <a:tc>
                  <a:txBody>
                    <a:bodyPr/>
                    <a:lstStyle/>
                    <a:p>
                      <a:pPr marL="0" indent="0" algn="ctr">
                        <a:buNone/>
                      </a:pPr>
                      <a:r>
                        <a:rPr lang="en-US" altLang="zh-CN" sz="1200" b="0" u="none">
                          <a:latin typeface="宋体" panose="02010600030101010101" pitchFamily="2" charset="-122"/>
                          <a:ea typeface="宋体" panose="02010600030101010101" pitchFamily="2" charset="-122"/>
                          <a:cs typeface="宋体" panose="02010600030101010101" pitchFamily="2" charset="-122"/>
                        </a:rPr>
                        <a:t>\d</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匹配任何数字，相当于</a:t>
                      </a:r>
                      <a:r>
                        <a:rPr lang="en-US" altLang="zh-CN" sz="1200" b="0" u="none" dirty="0">
                          <a:latin typeface="宋体" panose="02010600030101010101" pitchFamily="2" charset="-122"/>
                          <a:ea typeface="宋体" panose="02010600030101010101" pitchFamily="2" charset="-122"/>
                          <a:cs typeface="宋体" panose="02010600030101010101" pitchFamily="2" charset="-122"/>
                        </a:rPr>
                        <a:t>[0-9]</a:t>
                      </a:r>
                    </a:p>
                  </a:txBody>
                  <a:tcPr marL="53825" marR="0" marT="0" marB="0">
                    <a:lnL w="635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4232788593"/>
                  </a:ext>
                </a:extLst>
              </a:tr>
              <a:tr h="207645">
                <a:tc>
                  <a:txBody>
                    <a:bodyPr/>
                    <a:lstStyle/>
                    <a:p>
                      <a:pPr marL="0" indent="0" algn="ctr">
                        <a:buNone/>
                      </a:pPr>
                      <a:r>
                        <a:rPr lang="en-US" altLang="zh-CN" sz="1200" b="0" u="none">
                          <a:latin typeface="宋体" panose="02010600030101010101" pitchFamily="2" charset="-122"/>
                          <a:ea typeface="宋体" panose="02010600030101010101" pitchFamily="2" charset="-122"/>
                          <a:cs typeface="宋体" panose="02010600030101010101" pitchFamily="2" charset="-122"/>
                        </a:rPr>
                        <a:t>\D</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与</a:t>
                      </a:r>
                      <a:r>
                        <a:rPr lang="en-US" altLang="zh-CN" sz="1200" b="0" u="none" dirty="0">
                          <a:latin typeface="宋体" panose="02010600030101010101" pitchFamily="2" charset="-122"/>
                          <a:ea typeface="宋体" panose="02010600030101010101" pitchFamily="2" charset="-122"/>
                          <a:cs typeface="宋体" panose="02010600030101010101" pitchFamily="2" charset="-122"/>
                        </a:rPr>
                        <a:t>\d</a:t>
                      </a:r>
                      <a:r>
                        <a:rPr lang="zh-CN" altLang="en-US" sz="1200" b="0" u="none" dirty="0">
                          <a:latin typeface="宋体" panose="02010600030101010101" pitchFamily="2" charset="-122"/>
                          <a:ea typeface="宋体" panose="02010600030101010101" pitchFamily="2" charset="-122"/>
                          <a:cs typeface="宋体" panose="02010600030101010101" pitchFamily="2" charset="-122"/>
                        </a:rPr>
                        <a:t>含义相反，等效于</a:t>
                      </a:r>
                      <a:r>
                        <a:rPr lang="en-US" altLang="zh-CN" sz="1200" b="0" u="none" dirty="0">
                          <a:latin typeface="宋体" panose="02010600030101010101" pitchFamily="2" charset="-122"/>
                          <a:ea typeface="宋体" panose="02010600030101010101" pitchFamily="2" charset="-122"/>
                          <a:cs typeface="宋体" panose="02010600030101010101" pitchFamily="2" charset="-122"/>
                        </a:rPr>
                        <a:t>[^0-9]</a:t>
                      </a:r>
                    </a:p>
                  </a:txBody>
                  <a:tcPr marL="53825" marR="0" marT="0" marB="0">
                    <a:lnL w="635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623508420"/>
                  </a:ext>
                </a:extLst>
              </a:tr>
              <a:tr h="207645">
                <a:tc>
                  <a:txBody>
                    <a:bodyPr/>
                    <a:lstStyle/>
                    <a:p>
                      <a:pPr marL="0" indent="0" algn="ctr">
                        <a:buNone/>
                      </a:pPr>
                      <a:r>
                        <a:rPr lang="en-US" altLang="zh-CN" sz="1200" b="0" u="none">
                          <a:latin typeface="宋体" panose="02010600030101010101" pitchFamily="2" charset="-122"/>
                          <a:ea typeface="宋体" panose="02010600030101010101" pitchFamily="2" charset="-122"/>
                          <a:cs typeface="宋体" panose="02010600030101010101" pitchFamily="2" charset="-122"/>
                        </a:rPr>
                        <a:t>\s</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匹配任何空白字符，包括空格、制表符、换页符，与 </a:t>
                      </a:r>
                      <a:r>
                        <a:rPr lang="en-US" altLang="zh-CN" sz="1200" b="0" u="none" dirty="0">
                          <a:latin typeface="宋体" panose="02010600030101010101" pitchFamily="2" charset="-122"/>
                          <a:ea typeface="宋体" panose="02010600030101010101" pitchFamily="2" charset="-122"/>
                          <a:cs typeface="宋体" panose="02010600030101010101" pitchFamily="2" charset="-122"/>
                        </a:rPr>
                        <a:t>[ \f\n\r\t\v] </a:t>
                      </a:r>
                      <a:r>
                        <a:rPr lang="zh-CN" altLang="en-US" sz="1200" b="0" u="none" dirty="0">
                          <a:latin typeface="宋体" panose="02010600030101010101" pitchFamily="2" charset="-122"/>
                          <a:ea typeface="宋体" panose="02010600030101010101" pitchFamily="2" charset="-122"/>
                          <a:cs typeface="宋体" panose="02010600030101010101" pitchFamily="2" charset="-122"/>
                        </a:rPr>
                        <a:t>等效</a:t>
                      </a:r>
                    </a:p>
                  </a:txBody>
                  <a:tcPr marL="53825" marR="0" marT="0" marB="0">
                    <a:lnL w="635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3554857718"/>
                  </a:ext>
                </a:extLst>
              </a:tr>
              <a:tr h="207645">
                <a:tc>
                  <a:txBody>
                    <a:bodyPr/>
                    <a:lstStyle/>
                    <a:p>
                      <a:pPr marL="0" indent="0" algn="ctr">
                        <a:buNone/>
                      </a:pPr>
                      <a:r>
                        <a:rPr lang="en-US" altLang="zh-CN" sz="1200" b="0" u="none">
                          <a:latin typeface="宋体" panose="02010600030101010101" pitchFamily="2" charset="-122"/>
                          <a:ea typeface="宋体" panose="02010600030101010101" pitchFamily="2" charset="-122"/>
                          <a:cs typeface="宋体" panose="02010600030101010101" pitchFamily="2" charset="-122"/>
                        </a:rPr>
                        <a:t>\S</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与</a:t>
                      </a:r>
                      <a:r>
                        <a:rPr lang="en-US" altLang="zh-CN" sz="1200" b="0" u="none" dirty="0">
                          <a:latin typeface="宋体" panose="02010600030101010101" pitchFamily="2" charset="-122"/>
                          <a:ea typeface="宋体" panose="02010600030101010101" pitchFamily="2" charset="-122"/>
                          <a:cs typeface="宋体" panose="02010600030101010101" pitchFamily="2" charset="-122"/>
                        </a:rPr>
                        <a:t>\s</a:t>
                      </a:r>
                      <a:r>
                        <a:rPr lang="zh-CN" altLang="en-US" sz="1200" b="0" u="none" dirty="0">
                          <a:latin typeface="宋体" panose="02010600030101010101" pitchFamily="2" charset="-122"/>
                          <a:ea typeface="宋体" panose="02010600030101010101" pitchFamily="2" charset="-122"/>
                          <a:cs typeface="宋体" panose="02010600030101010101" pitchFamily="2" charset="-122"/>
                        </a:rPr>
                        <a:t>含义相反</a:t>
                      </a:r>
                    </a:p>
                  </a:txBody>
                  <a:tcPr marL="53825" marR="0" marT="0" marB="0">
                    <a:lnL w="635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441808004"/>
                  </a:ext>
                </a:extLst>
              </a:tr>
              <a:tr h="207645">
                <a:tc>
                  <a:txBody>
                    <a:bodyPr/>
                    <a:lstStyle/>
                    <a:p>
                      <a:pPr marL="0" indent="0" algn="ctr">
                        <a:buNone/>
                      </a:pPr>
                      <a:r>
                        <a:rPr lang="en-US" altLang="zh-CN" sz="1200" b="0" u="none">
                          <a:latin typeface="宋体" panose="02010600030101010101" pitchFamily="2" charset="-122"/>
                          <a:ea typeface="宋体" panose="02010600030101010101" pitchFamily="2" charset="-122"/>
                          <a:cs typeface="宋体" panose="02010600030101010101" pitchFamily="2" charset="-122"/>
                        </a:rPr>
                        <a:t>\w</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匹配任何字母、数字以及下划线，相当于</a:t>
                      </a:r>
                      <a:r>
                        <a:rPr lang="en-US" altLang="zh-CN" sz="1200" b="0" u="none" dirty="0">
                          <a:latin typeface="宋体" panose="02010600030101010101" pitchFamily="2" charset="-122"/>
                          <a:ea typeface="宋体" panose="02010600030101010101" pitchFamily="2" charset="-122"/>
                          <a:cs typeface="宋体" panose="02010600030101010101" pitchFamily="2" charset="-122"/>
                        </a:rPr>
                        <a:t>[a-zA-Z0-9_]</a:t>
                      </a:r>
                    </a:p>
                  </a:txBody>
                  <a:tcPr marL="53825" marR="0" marT="0" marB="0">
                    <a:lnL w="635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638974823"/>
                  </a:ext>
                </a:extLst>
              </a:tr>
              <a:tr h="207645">
                <a:tc>
                  <a:txBody>
                    <a:bodyPr/>
                    <a:lstStyle/>
                    <a:p>
                      <a:pPr marL="0" indent="0" algn="ctr">
                        <a:buNone/>
                      </a:pPr>
                      <a:r>
                        <a:rPr lang="en-US" altLang="zh-CN" sz="1200" b="0" u="none">
                          <a:latin typeface="宋体" panose="02010600030101010101" pitchFamily="2" charset="-122"/>
                          <a:ea typeface="宋体" panose="02010600030101010101" pitchFamily="2" charset="-122"/>
                          <a:cs typeface="宋体" panose="02010600030101010101" pitchFamily="2" charset="-122"/>
                        </a:rPr>
                        <a:t>\W</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a:latin typeface="宋体" panose="02010600030101010101" pitchFamily="2" charset="-122"/>
                          <a:ea typeface="宋体" panose="02010600030101010101" pitchFamily="2" charset="-122"/>
                          <a:cs typeface="宋体" panose="02010600030101010101" pitchFamily="2" charset="-122"/>
                        </a:rPr>
                        <a:t>与</a:t>
                      </a:r>
                      <a:r>
                        <a:rPr lang="en-US" altLang="zh-CN" sz="1200" b="0" u="none" dirty="0">
                          <a:latin typeface="宋体" panose="02010600030101010101" pitchFamily="2" charset="-122"/>
                          <a:ea typeface="宋体" panose="02010600030101010101" pitchFamily="2" charset="-122"/>
                          <a:cs typeface="宋体" panose="02010600030101010101" pitchFamily="2" charset="-122"/>
                        </a:rPr>
                        <a:t>\w</a:t>
                      </a:r>
                      <a:r>
                        <a:rPr lang="zh-CN" altLang="en-US" sz="1200" b="0" u="none" dirty="0">
                          <a:latin typeface="宋体" panose="02010600030101010101" pitchFamily="2" charset="-122"/>
                          <a:ea typeface="宋体" panose="02010600030101010101" pitchFamily="2" charset="-122"/>
                          <a:cs typeface="宋体" panose="02010600030101010101" pitchFamily="2" charset="-122"/>
                        </a:rPr>
                        <a:t>含义相反</a:t>
                      </a:r>
                      <a:r>
                        <a:rPr lang="en-US" altLang="zh-CN" sz="1200" b="0" u="none" dirty="0">
                          <a:latin typeface="宋体" panose="02010600030101010101" pitchFamily="2" charset="-122"/>
                          <a:ea typeface="宋体" panose="02010600030101010101" pitchFamily="2" charset="-122"/>
                          <a:cs typeface="宋体" panose="02010600030101010101" pitchFamily="2" charset="-122"/>
                        </a:rPr>
                        <a:t>\w</a:t>
                      </a:r>
                      <a:r>
                        <a:rPr lang="zh-CN" altLang="en-US" sz="1200" b="0" u="none" dirty="0">
                          <a:latin typeface="宋体" panose="02010600030101010101" pitchFamily="2" charset="-122"/>
                          <a:ea typeface="宋体" panose="02010600030101010101" pitchFamily="2" charset="-122"/>
                          <a:cs typeface="宋体" panose="02010600030101010101" pitchFamily="2" charset="-122"/>
                        </a:rPr>
                        <a:t>含义相反，与“</a:t>
                      </a:r>
                      <a:r>
                        <a:rPr lang="en-US" altLang="zh-CN" sz="1200" b="0" u="none" dirty="0">
                          <a:latin typeface="宋体" panose="02010600030101010101" pitchFamily="2" charset="-122"/>
                          <a:ea typeface="宋体" panose="02010600030101010101" pitchFamily="2" charset="-122"/>
                          <a:cs typeface="宋体" panose="02010600030101010101" pitchFamily="2" charset="-122"/>
                        </a:rPr>
                        <a:t>[^A-Za-z0-9_]”</a:t>
                      </a:r>
                      <a:r>
                        <a:rPr lang="zh-CN" altLang="en-US" sz="1200" b="0" u="none" dirty="0">
                          <a:latin typeface="宋体" panose="02010600030101010101" pitchFamily="2" charset="-122"/>
                          <a:ea typeface="宋体" panose="02010600030101010101" pitchFamily="2" charset="-122"/>
                          <a:cs typeface="宋体" panose="02010600030101010101" pitchFamily="2" charset="-122"/>
                        </a:rPr>
                        <a:t>等效</a:t>
                      </a:r>
                    </a:p>
                  </a:txBody>
                  <a:tcPr marL="53825" marR="0" marT="0" marB="0">
                    <a:lnL w="635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3336334477"/>
                  </a:ext>
                </a:extLst>
              </a:tr>
              <a:tr h="208915">
                <a:tc>
                  <a:txBody>
                    <a:bodyPr/>
                    <a:lstStyle/>
                    <a:p>
                      <a:pPr marL="0" indent="0" algn="ctr">
                        <a:buNone/>
                      </a:pPr>
                      <a:r>
                        <a:rPr lang="en-US" altLang="zh-CN" sz="1200" b="0" u="none" dirty="0" smtClean="0">
                          <a:latin typeface="宋体" panose="02010600030101010101" pitchFamily="2" charset="-122"/>
                          <a:ea typeface="宋体" panose="02010600030101010101" pitchFamily="2" charset="-122"/>
                          <a:cs typeface="宋体" panose="02010600030101010101" pitchFamily="2" charset="-122"/>
                        </a:rPr>
                        <a:t>[…]</a:t>
                      </a:r>
                      <a:endParaRPr lang="en-US" altLang="zh-CN" sz="12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200" b="0" u="none" dirty="0" smtClean="0">
                          <a:latin typeface="宋体" panose="02010600030101010101" pitchFamily="2" charset="-122"/>
                          <a:ea typeface="宋体" panose="02010600030101010101" pitchFamily="2" charset="-122"/>
                          <a:cs typeface="宋体" panose="02010600030101010101" pitchFamily="2" charset="-122"/>
                        </a:rPr>
                        <a:t>匹配字符组中的</a:t>
                      </a:r>
                      <a:r>
                        <a:rPr lang="zh-CN" altLang="en-US" sz="1200" b="0" u="none" dirty="0">
                          <a:latin typeface="宋体" panose="02010600030101010101" pitchFamily="2" charset="-122"/>
                          <a:ea typeface="宋体" panose="02010600030101010101" pitchFamily="2" charset="-122"/>
                          <a:cs typeface="宋体" panose="02010600030101010101" pitchFamily="2" charset="-122"/>
                        </a:rPr>
                        <a:t>任何字符</a:t>
                      </a:r>
                    </a:p>
                  </a:txBody>
                  <a:tcPr marL="53825" marR="0" marT="0" marB="0"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08280">
                <a:tc>
                  <a:txBody>
                    <a:bodyPr/>
                    <a:lstStyle/>
                    <a:p>
                      <a:pPr marL="0" indent="0" algn="ctr">
                        <a:buNone/>
                      </a:pPr>
                      <a:r>
                        <a:rPr lang="en-US" altLang="zh-CN" sz="1200" b="0" u="none" dirty="0" smtClean="0">
                          <a:latin typeface="宋体" panose="02010600030101010101" pitchFamily="2" charset="-122"/>
                          <a:ea typeface="宋体" panose="02010600030101010101" pitchFamily="2" charset="-122"/>
                          <a:cs typeface="宋体" panose="02010600030101010101" pitchFamily="2" charset="-122"/>
                        </a:rPr>
                        <a:t>[^…]</a:t>
                      </a:r>
                      <a:endParaRPr lang="en-US" altLang="zh-CN" sz="12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u="none" dirty="0">
                          <a:latin typeface="宋体" panose="02010600030101010101" pitchFamily="2" charset="-122"/>
                          <a:ea typeface="宋体" panose="02010600030101010101" pitchFamily="2" charset="-122"/>
                          <a:cs typeface="宋体" panose="02010600030101010101" pitchFamily="2" charset="-122"/>
                        </a:rPr>
                        <a:t>反向范围字符，</a:t>
                      </a:r>
                      <a:r>
                        <a:rPr lang="zh-CN" altLang="en-US" sz="1200" b="0" u="none" dirty="0" smtClean="0">
                          <a:latin typeface="宋体" panose="02010600030101010101" pitchFamily="2" charset="-122"/>
                          <a:ea typeface="+mn-ea"/>
                          <a:cs typeface="宋体" panose="02010600030101010101" pitchFamily="2" charset="-122"/>
                        </a:rPr>
                        <a:t>匹配除了字符组中的任何字符</a:t>
                      </a:r>
                    </a:p>
                  </a:txBody>
                  <a:tcPr marL="53825" marR="0" marT="0" marB="0"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18" name="文本框 17"/>
          <p:cNvSpPr txBox="1"/>
          <p:nvPr/>
        </p:nvSpPr>
        <p:spPr>
          <a:xfrm>
            <a:off x="517719" y="6237312"/>
            <a:ext cx="4572000" cy="307777"/>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sz="1400" dirty="0"/>
              <a:t>注意 </a:t>
            </a:r>
            <a:r>
              <a:rPr lang="en-US" altLang="zh-CN" sz="1400" dirty="0"/>
              <a:t> ^[a-z] </a:t>
            </a:r>
            <a:r>
              <a:rPr lang="zh-CN" altLang="en-US" sz="1400" dirty="0"/>
              <a:t>与 </a:t>
            </a:r>
            <a:r>
              <a:rPr lang="en-US" altLang="zh-CN" sz="1400" dirty="0"/>
              <a:t>[^a-z] </a:t>
            </a:r>
            <a:r>
              <a:rPr lang="zh-CN" altLang="en-US" sz="1400" dirty="0"/>
              <a:t>含义</a:t>
            </a:r>
          </a:p>
        </p:txBody>
      </p:sp>
    </p:spTree>
    <p:extLst>
      <p:ext uri="{BB962C8B-B14F-4D97-AF65-F5344CB8AC3E}">
        <p14:creationId xmlns:p14="http://schemas.microsoft.com/office/powerpoint/2010/main" val="876417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663558" y="1073360"/>
            <a:ext cx="6681311" cy="757130"/>
          </a:xfrm>
          <a:prstGeom prst="rect">
            <a:avLst/>
          </a:prstGeom>
          <a:noFill/>
          <a:ln w="9525">
            <a:noFill/>
          </a:ln>
        </p:spPr>
        <p:txBody>
          <a:bodyPr wrap="square">
            <a:spAutoFit/>
          </a:bodyPr>
          <a:lstStyle/>
          <a:p>
            <a:pPr indent="200025">
              <a:lnSpc>
                <a:spcPct val="110000"/>
              </a:lnSpc>
            </a:pPr>
            <a:r>
              <a:rPr b="1" dirty="0">
                <a:latin typeface="微软雅黑" panose="020B0503020204020204" pitchFamily="34" charset="-122"/>
                <a:ea typeface="微软雅黑" panose="020B0503020204020204" pitchFamily="34" charset="-122"/>
                <a:cs typeface="微软雅黑" panose="020B0503020204020204" pitchFamily="34" charset="-122"/>
              </a:rPr>
              <a:t>3</a:t>
            </a:r>
            <a:r>
              <a:rPr b="1"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b="1" dirty="0" smtClean="0">
                <a:latin typeface="微软雅黑" panose="020B0503020204020204" pitchFamily="34" charset="-122"/>
                <a:ea typeface="微软雅黑" panose="020B0503020204020204" pitchFamily="34" charset="-122"/>
                <a:cs typeface="微软雅黑" panose="020B0503020204020204" pitchFamily="34" charset="-122"/>
              </a:rPr>
              <a:t> </a:t>
            </a:r>
            <a:r>
              <a:rPr b="1" dirty="0" err="1" smtClean="0">
                <a:latin typeface="微软雅黑" panose="020B0503020204020204" pitchFamily="34" charset="-122"/>
                <a:ea typeface="微软雅黑" panose="020B0503020204020204" pitchFamily="34" charset="-122"/>
                <a:cs typeface="微软雅黑" panose="020B0503020204020204" pitchFamily="34" charset="-122"/>
              </a:rPr>
              <a:t>量词</a:t>
            </a:r>
            <a:endParaRPr b="1" dirty="0">
              <a:latin typeface="微软雅黑" panose="020B0503020204020204" pitchFamily="34" charset="-122"/>
              <a:ea typeface="微软雅黑" panose="020B0503020204020204" pitchFamily="34" charset="-122"/>
              <a:cs typeface="微软雅黑" panose="020B0503020204020204" pitchFamily="34" charset="-122"/>
            </a:endParaRPr>
          </a:p>
          <a:p>
            <a:pPr indent="200025">
              <a:lnSpc>
                <a:spcPct val="130000"/>
              </a:lnSpc>
            </a:pPr>
            <a:r>
              <a:rPr dirty="0" err="1">
                <a:latin typeface="楷体" panose="02010609060101010101" charset="-122"/>
                <a:ea typeface="楷体" panose="02010609060101010101" charset="-122"/>
                <a:cs typeface="楷体" panose="02010609060101010101" charset="-122"/>
              </a:rPr>
              <a:t>正则表达式的量词分别式贪婪，惰性，支配性</a:t>
            </a:r>
            <a:r>
              <a:rPr dirty="0">
                <a:latin typeface="楷体" panose="02010609060101010101" charset="-122"/>
                <a:ea typeface="楷体" panose="02010609060101010101" charset="-122"/>
                <a:cs typeface="楷体" panose="02010609060101010101" charset="-122"/>
              </a:rPr>
              <a:t>。 </a:t>
            </a:r>
          </a:p>
        </p:txBody>
      </p:sp>
      <p:sp>
        <p:nvSpPr>
          <p:cNvPr id="19" name="对角圆角矩形 3"/>
          <p:cNvSpPr/>
          <p:nvPr>
            <p:custDataLst>
              <p:tags r:id="rId1"/>
            </p:custDataLst>
          </p:nvPr>
        </p:nvSpPr>
        <p:spPr>
          <a:xfrm>
            <a:off x="1403648" y="1855394"/>
            <a:ext cx="5040561" cy="1112444"/>
          </a:xfrm>
          <a:prstGeom prst="round2DiagRect">
            <a:avLst>
              <a:gd name="adj1" fmla="val 0"/>
              <a:gd name="adj2" fmla="val 0"/>
            </a:avLst>
          </a:prstGeom>
          <a:noFill/>
          <a:ln w="25400">
            <a:solidFill>
              <a:srgbClr val="8590CA"/>
            </a:solidFill>
          </a:ln>
          <a:effectLst/>
        </p:spPr>
        <p:txBody>
          <a:bodyPr rot="0" spcFirstLastPara="0" vertOverflow="overflow" horzOverflow="overflow" vert="horz" wrap="square" lIns="68580" tIns="34290" rIns="68580" bIns="34290" numCol="1" spcCol="0" rtlCol="0" fromWordArt="0" anchor="ctr" anchorCtr="0" forceAA="0" compatLnSpc="1">
            <a:noAutofit/>
          </a:bodyPr>
          <a:lstStyle/>
          <a:p>
            <a:pPr algn="just">
              <a:lnSpc>
                <a:spcPct val="120000"/>
              </a:lnSpc>
            </a:pPr>
            <a:endParaRPr lang="da-DK" altLang="zh-CN" dirty="0">
              <a:solidFill>
                <a:srgbClr val="8590CA">
                  <a:lumMod val="50000"/>
                </a:srgb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0" name="文本框 19"/>
          <p:cNvSpPr txBox="1"/>
          <p:nvPr>
            <p:custDataLst>
              <p:tags r:id="rId2"/>
            </p:custDataLst>
          </p:nvPr>
        </p:nvSpPr>
        <p:spPr>
          <a:xfrm>
            <a:off x="2024566" y="1956359"/>
            <a:ext cx="4209643" cy="946131"/>
          </a:xfrm>
          <a:prstGeom prst="rect">
            <a:avLst/>
          </a:prstGeom>
          <a:noFill/>
        </p:spPr>
        <p:txBody>
          <a:bodyPr wrap="square" rtlCol="0">
            <a:normAutofit/>
          </a:bodyPr>
          <a:lstStyle/>
          <a:p>
            <a:pPr>
              <a:lnSpc>
                <a:spcPct val="120000"/>
              </a:lnSpc>
            </a:pPr>
            <a:r>
              <a:rPr lang="zh-CN" altLang="en-US" sz="1200" b="1" spc="113" dirty="0">
                <a:solidFill>
                  <a:sysClr val="windowText" lastClr="000000">
                    <a:lumMod val="75000"/>
                    <a:lumOff val="25000"/>
                  </a:sysClr>
                </a:solidFill>
                <a:ea typeface="微软雅黑" panose="020B0503020204020204" pitchFamily="34" charset="-122"/>
                <a:sym typeface="Arial" panose="020B0604020202020204" pitchFamily="34" charset="0"/>
              </a:rPr>
              <a:t>贪婪量词</a:t>
            </a:r>
            <a:r>
              <a:rPr lang="zh-CN" altLang="en-US" sz="1200" spc="113" dirty="0">
                <a:solidFill>
                  <a:sysClr val="windowText" lastClr="000000">
                    <a:lumMod val="75000"/>
                    <a:lumOff val="25000"/>
                  </a:sysClr>
                </a:solidFill>
                <a:ea typeface="微软雅黑" panose="020B0503020204020204" pitchFamily="34" charset="-122"/>
                <a:sym typeface="Arial" panose="020B0604020202020204" pitchFamily="34" charset="0"/>
              </a:rPr>
              <a:t>：先看整个字符串是不是一个匹配。如果没有发现匹配，它去掉最后字符串中的最后一个字符，并再次尝试。 </a:t>
            </a:r>
          </a:p>
        </p:txBody>
      </p:sp>
      <p:sp>
        <p:nvSpPr>
          <p:cNvPr id="24" name="矩形 23"/>
          <p:cNvSpPr/>
          <p:nvPr>
            <p:custDataLst>
              <p:tags r:id="rId3"/>
            </p:custDataLst>
          </p:nvPr>
        </p:nvSpPr>
        <p:spPr>
          <a:xfrm>
            <a:off x="1472352" y="2011360"/>
            <a:ext cx="434536" cy="440353"/>
          </a:xfrm>
          <a:prstGeom prst="rect">
            <a:avLst/>
          </a:prstGeom>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 name="矩形 1"/>
          <p:cNvSpPr/>
          <p:nvPr>
            <p:custDataLst>
              <p:tags r:id="rId4"/>
            </p:custDataLst>
          </p:nvPr>
        </p:nvSpPr>
        <p:spPr>
          <a:xfrm>
            <a:off x="1472797" y="2031633"/>
            <a:ext cx="433588" cy="395335"/>
          </a:xfrm>
          <a:prstGeom prst="rect">
            <a:avLst/>
          </a:prstGeom>
        </p:spPr>
        <p:txBody>
          <a:bodyPr wrap="square" anchor="ctr">
            <a:normAutofit fontScale="80000" lnSpcReduction="10000"/>
          </a:bodyPr>
          <a:lstStyle/>
          <a:p>
            <a:pPr algn="ctr">
              <a:lnSpc>
                <a:spcPct val="120000"/>
              </a:lnSpc>
            </a:pPr>
            <a:r>
              <a:rPr lang="en-US" altLang="zh-CN" b="1" spc="113" dirty="0">
                <a:solidFill>
                  <a:sysClr val="window" lastClr="FFFFFF"/>
                </a:solidFill>
                <a:ea typeface="微软雅黑" panose="020B0503020204020204" pitchFamily="34" charset="-122"/>
                <a:sym typeface="Arial" panose="020B0604020202020204" pitchFamily="34" charset="0"/>
              </a:rPr>
              <a:t>01</a:t>
            </a:r>
            <a:endParaRPr lang="zh-CN" altLang="en-US" b="1" spc="113" dirty="0">
              <a:solidFill>
                <a:sysClr val="window" lastClr="FFFFFF"/>
              </a:solidFill>
              <a:ea typeface="微软雅黑" panose="020B0503020204020204" pitchFamily="34" charset="-122"/>
              <a:sym typeface="Arial" panose="020B0604020202020204" pitchFamily="34" charset="0"/>
            </a:endParaRPr>
          </a:p>
        </p:txBody>
      </p:sp>
      <p:sp>
        <p:nvSpPr>
          <p:cNvPr id="30" name="对角圆角矩形 3"/>
          <p:cNvSpPr/>
          <p:nvPr>
            <p:custDataLst>
              <p:tags r:id="rId5"/>
            </p:custDataLst>
          </p:nvPr>
        </p:nvSpPr>
        <p:spPr>
          <a:xfrm>
            <a:off x="1403648" y="2965899"/>
            <a:ext cx="5040561" cy="1322579"/>
          </a:xfrm>
          <a:prstGeom prst="round2DiagRect">
            <a:avLst>
              <a:gd name="adj1" fmla="val 0"/>
              <a:gd name="adj2" fmla="val 0"/>
            </a:avLst>
          </a:prstGeom>
          <a:noFill/>
          <a:ln w="25400">
            <a:solidFill>
              <a:srgbClr val="8EAADC"/>
            </a:solidFill>
          </a:ln>
          <a:effectLst/>
        </p:spPr>
        <p:txBody>
          <a:bodyPr rot="0" spcFirstLastPara="0" vertOverflow="overflow" horzOverflow="overflow" vert="horz" wrap="square" lIns="68580" tIns="34290" rIns="68580" bIns="34290" numCol="1" spcCol="0" rtlCol="0" fromWordArt="0" anchor="ctr" anchorCtr="0" forceAA="0" compatLnSpc="1">
            <a:noAutofit/>
          </a:bodyPr>
          <a:lstStyle/>
          <a:p>
            <a:pPr algn="just">
              <a:lnSpc>
                <a:spcPct val="120000"/>
              </a:lnSpc>
            </a:pPr>
            <a:endParaRPr lang="da-DK" altLang="zh-CN" dirty="0">
              <a:solidFill>
                <a:srgbClr val="8590CA">
                  <a:lumMod val="50000"/>
                </a:srgb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1" name="文本框 30"/>
          <p:cNvSpPr txBox="1"/>
          <p:nvPr>
            <p:custDataLst>
              <p:tags r:id="rId6"/>
            </p:custDataLst>
          </p:nvPr>
        </p:nvSpPr>
        <p:spPr>
          <a:xfrm>
            <a:off x="2024566" y="3066865"/>
            <a:ext cx="4209643" cy="1156424"/>
          </a:xfrm>
          <a:prstGeom prst="rect">
            <a:avLst/>
          </a:prstGeom>
          <a:noFill/>
        </p:spPr>
        <p:txBody>
          <a:bodyPr wrap="square" rtlCol="0"/>
          <a:lstStyle/>
          <a:p>
            <a:pPr>
              <a:lnSpc>
                <a:spcPct val="120000"/>
              </a:lnSpc>
            </a:pPr>
            <a:r>
              <a:rPr lang="zh-CN" altLang="en-US" sz="1100" b="1" spc="113" dirty="0">
                <a:solidFill>
                  <a:sysClr val="windowText" lastClr="000000">
                    <a:lumMod val="75000"/>
                    <a:lumOff val="25000"/>
                  </a:sysClr>
                </a:solidFill>
                <a:ea typeface="微软雅黑" panose="020B0503020204020204" pitchFamily="34" charset="-122"/>
                <a:sym typeface="Arial" panose="020B0604020202020204" pitchFamily="34" charset="0"/>
              </a:rPr>
              <a:t>惰性量词</a:t>
            </a:r>
            <a:r>
              <a:rPr lang="zh-CN" altLang="en-US" sz="1100" spc="113" dirty="0">
                <a:solidFill>
                  <a:sysClr val="windowText" lastClr="000000">
                    <a:lumMod val="75000"/>
                    <a:lumOff val="25000"/>
                  </a:sysClr>
                </a:solidFill>
                <a:ea typeface="微软雅黑" panose="020B0503020204020204" pitchFamily="34" charset="-122"/>
                <a:sym typeface="Arial" panose="020B0604020202020204" pitchFamily="34" charset="0"/>
              </a:rPr>
              <a:t>: 先看字符串中的第一个字母是不是一个匹配。如果单独这一个字符还不够，就读入下一个字符，组成两个字符的字符串。如果还是没有发现匹配，惰性量词继续从字符串添加字符直到发现一个匹配或者整个字符串都检查过也没有匹配。 </a:t>
            </a:r>
          </a:p>
        </p:txBody>
      </p:sp>
      <p:sp>
        <p:nvSpPr>
          <p:cNvPr id="33" name="矩形 32"/>
          <p:cNvSpPr/>
          <p:nvPr>
            <p:custDataLst>
              <p:tags r:id="rId7"/>
            </p:custDataLst>
          </p:nvPr>
        </p:nvSpPr>
        <p:spPr>
          <a:xfrm>
            <a:off x="1472352" y="3121866"/>
            <a:ext cx="434536" cy="440353"/>
          </a:xfrm>
          <a:prstGeom prst="rect">
            <a:avLst/>
          </a:prstGeom>
          <a:solidFill>
            <a:srgbClr val="8EAADC"/>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34" name="矩形 33"/>
          <p:cNvSpPr/>
          <p:nvPr>
            <p:custDataLst>
              <p:tags r:id="rId8"/>
            </p:custDataLst>
          </p:nvPr>
        </p:nvSpPr>
        <p:spPr>
          <a:xfrm>
            <a:off x="1472797" y="3142139"/>
            <a:ext cx="433588" cy="395335"/>
          </a:xfrm>
          <a:prstGeom prst="rect">
            <a:avLst/>
          </a:prstGeom>
        </p:spPr>
        <p:txBody>
          <a:bodyPr wrap="square" anchor="ctr">
            <a:normAutofit fontScale="80000" lnSpcReduction="10000"/>
          </a:bodyPr>
          <a:lstStyle/>
          <a:p>
            <a:pPr algn="ctr">
              <a:lnSpc>
                <a:spcPct val="120000"/>
              </a:lnSpc>
            </a:pPr>
            <a:r>
              <a:rPr lang="en-US" altLang="zh-CN" b="1" spc="113" dirty="0">
                <a:solidFill>
                  <a:sysClr val="window" lastClr="FFFFFF"/>
                </a:solidFill>
                <a:ea typeface="微软雅黑" panose="020B0503020204020204" pitchFamily="34" charset="-122"/>
                <a:sym typeface="Arial" panose="020B0604020202020204" pitchFamily="34" charset="0"/>
              </a:rPr>
              <a:t>02</a:t>
            </a:r>
            <a:endParaRPr lang="zh-CN" altLang="en-US" b="1" spc="113" dirty="0">
              <a:solidFill>
                <a:sysClr val="window" lastClr="FFFFFF"/>
              </a:solidFill>
              <a:ea typeface="微软雅黑" panose="020B0503020204020204" pitchFamily="34" charset="-122"/>
              <a:sym typeface="Arial" panose="020B0604020202020204" pitchFamily="34" charset="0"/>
            </a:endParaRPr>
          </a:p>
        </p:txBody>
      </p:sp>
      <p:sp>
        <p:nvSpPr>
          <p:cNvPr id="36" name="对角圆角矩形 3"/>
          <p:cNvSpPr/>
          <p:nvPr>
            <p:custDataLst>
              <p:tags r:id="rId9"/>
            </p:custDataLst>
          </p:nvPr>
        </p:nvSpPr>
        <p:spPr>
          <a:xfrm>
            <a:off x="1403647" y="4292115"/>
            <a:ext cx="5040561" cy="1112444"/>
          </a:xfrm>
          <a:prstGeom prst="round2DiagRect">
            <a:avLst>
              <a:gd name="adj1" fmla="val 0"/>
              <a:gd name="adj2" fmla="val 0"/>
            </a:avLst>
          </a:prstGeom>
          <a:noFill/>
          <a:ln w="25400">
            <a:solidFill>
              <a:srgbClr val="79B6D3"/>
            </a:solidFill>
          </a:ln>
          <a:effectLst/>
        </p:spPr>
        <p:txBody>
          <a:bodyPr rot="0" spcFirstLastPara="0" vertOverflow="overflow" horzOverflow="overflow" vert="horz" wrap="square" lIns="68580" tIns="34290" rIns="68580" bIns="34290" numCol="1" spcCol="0" rtlCol="0" fromWordArt="0" anchor="ctr" anchorCtr="0" forceAA="0" compatLnSpc="1">
            <a:noAutofit/>
          </a:bodyPr>
          <a:lstStyle/>
          <a:p>
            <a:pPr algn="just">
              <a:lnSpc>
                <a:spcPct val="120000"/>
              </a:lnSpc>
            </a:pPr>
            <a:endParaRPr lang="da-DK" altLang="zh-CN" dirty="0">
              <a:solidFill>
                <a:srgbClr val="8590CA">
                  <a:lumMod val="50000"/>
                </a:srgb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7" name="文本框 36"/>
          <p:cNvSpPr txBox="1"/>
          <p:nvPr>
            <p:custDataLst>
              <p:tags r:id="rId10"/>
            </p:custDataLst>
          </p:nvPr>
        </p:nvSpPr>
        <p:spPr>
          <a:xfrm>
            <a:off x="1972466" y="4292114"/>
            <a:ext cx="4209643" cy="946131"/>
          </a:xfrm>
          <a:prstGeom prst="rect">
            <a:avLst/>
          </a:prstGeom>
          <a:noFill/>
        </p:spPr>
        <p:txBody>
          <a:bodyPr wrap="square" rtlCol="0">
            <a:normAutofit/>
          </a:bodyPr>
          <a:lstStyle/>
          <a:p>
            <a:pPr>
              <a:lnSpc>
                <a:spcPct val="120000"/>
              </a:lnSpc>
            </a:pPr>
            <a:r>
              <a:rPr lang="zh-CN" altLang="en-US" sz="1200" b="1" spc="113" dirty="0" smtClean="0">
                <a:solidFill>
                  <a:sysClr val="windowText" lastClr="000000">
                    <a:lumMod val="75000"/>
                    <a:lumOff val="25000"/>
                  </a:sysClr>
                </a:solidFill>
                <a:ea typeface="微软雅黑" panose="020B0503020204020204" pitchFamily="34" charset="-122"/>
                <a:sym typeface="Arial" panose="020B0604020202020204" pitchFamily="34" charset="0"/>
              </a:rPr>
              <a:t>支配</a:t>
            </a:r>
            <a:r>
              <a:rPr lang="zh-CN" altLang="en-US" sz="1200" b="1" spc="113" dirty="0">
                <a:solidFill>
                  <a:sysClr val="windowText" lastClr="000000">
                    <a:lumMod val="75000"/>
                    <a:lumOff val="25000"/>
                  </a:sysClr>
                </a:solidFill>
                <a:ea typeface="微软雅黑" panose="020B0503020204020204" pitchFamily="34" charset="-122"/>
                <a:sym typeface="Arial" panose="020B0604020202020204" pitchFamily="34" charset="0"/>
              </a:rPr>
              <a:t>量词</a:t>
            </a:r>
            <a:r>
              <a:rPr lang="zh-CN" altLang="en-US" sz="1200" spc="113" dirty="0">
                <a:solidFill>
                  <a:sysClr val="windowText" lastClr="000000">
                    <a:lumMod val="75000"/>
                    <a:lumOff val="25000"/>
                  </a:sysClr>
                </a:solidFill>
                <a:ea typeface="微软雅黑" panose="020B0503020204020204" pitchFamily="34" charset="-122"/>
                <a:sym typeface="Arial" panose="020B0604020202020204" pitchFamily="34" charset="0"/>
              </a:rPr>
              <a:t>：只尝试匹配整个字符串。如果整个字符串不能产生匹配，不</a:t>
            </a:r>
            <a:r>
              <a:rPr lang="zh-CN" altLang="en-US" sz="1200" spc="113" dirty="0" smtClean="0">
                <a:solidFill>
                  <a:sysClr val="windowText" lastClr="000000">
                    <a:lumMod val="75000"/>
                    <a:lumOff val="25000"/>
                  </a:sysClr>
                </a:solidFill>
                <a:ea typeface="微软雅黑" panose="020B0503020204020204" pitchFamily="34" charset="-122"/>
                <a:sym typeface="Arial" panose="020B0604020202020204" pitchFamily="34" charset="0"/>
              </a:rPr>
              <a:t>做进一步</a:t>
            </a:r>
            <a:r>
              <a:rPr lang="zh-CN" altLang="en-US" sz="1200" spc="113" dirty="0">
                <a:solidFill>
                  <a:sysClr val="windowText" lastClr="000000">
                    <a:lumMod val="75000"/>
                    <a:lumOff val="25000"/>
                  </a:sysClr>
                </a:solidFill>
                <a:ea typeface="微软雅黑" panose="020B0503020204020204" pitchFamily="34" charset="-122"/>
                <a:sym typeface="Arial" panose="020B0604020202020204" pitchFamily="34" charset="0"/>
              </a:rPr>
              <a:t>尝试，支配量词其实简单的说，就是一刀切。</a:t>
            </a:r>
          </a:p>
        </p:txBody>
      </p:sp>
      <p:sp>
        <p:nvSpPr>
          <p:cNvPr id="39" name="矩形 38"/>
          <p:cNvSpPr/>
          <p:nvPr>
            <p:custDataLst>
              <p:tags r:id="rId11"/>
            </p:custDataLst>
          </p:nvPr>
        </p:nvSpPr>
        <p:spPr>
          <a:xfrm>
            <a:off x="1472352" y="4232372"/>
            <a:ext cx="434536" cy="440353"/>
          </a:xfrm>
          <a:prstGeom prst="rect">
            <a:avLst/>
          </a:prstGeom>
          <a:solidFill>
            <a:srgbClr val="79B6D3"/>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lstStyle/>
          <a:p>
            <a:pPr algn="ctr">
              <a:lnSpc>
                <a:spcPct val="120000"/>
              </a:lnSpc>
            </a:pP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0" name="矩形 39"/>
          <p:cNvSpPr/>
          <p:nvPr>
            <p:custDataLst>
              <p:tags r:id="rId12"/>
            </p:custDataLst>
          </p:nvPr>
        </p:nvSpPr>
        <p:spPr>
          <a:xfrm>
            <a:off x="1472797" y="4252645"/>
            <a:ext cx="433588" cy="395335"/>
          </a:xfrm>
          <a:prstGeom prst="rect">
            <a:avLst/>
          </a:prstGeom>
        </p:spPr>
        <p:txBody>
          <a:bodyPr wrap="square" anchor="ctr">
            <a:normAutofit fontScale="80000" lnSpcReduction="10000"/>
          </a:bodyPr>
          <a:lstStyle/>
          <a:p>
            <a:pPr algn="ctr">
              <a:lnSpc>
                <a:spcPct val="120000"/>
              </a:lnSpc>
            </a:pPr>
            <a:r>
              <a:rPr lang="en-US" altLang="zh-CN" b="1" spc="113" dirty="0">
                <a:solidFill>
                  <a:sysClr val="window" lastClr="FFFFFF"/>
                </a:solidFill>
                <a:ea typeface="微软雅黑" panose="020B0503020204020204" pitchFamily="34" charset="-122"/>
                <a:sym typeface="Arial" panose="020B0604020202020204" pitchFamily="34" charset="0"/>
              </a:rPr>
              <a:t>03</a:t>
            </a:r>
            <a:endParaRPr lang="zh-CN" altLang="en-US" b="1" spc="113" dirty="0">
              <a:solidFill>
                <a:sysClr val="window" lastClr="FFFFFF"/>
              </a:solidFill>
              <a:ea typeface="微软雅黑" panose="020B0503020204020204" pitchFamily="34" charset="-122"/>
              <a:sym typeface="Arial" panose="020B0604020202020204" pitchFamily="34" charset="0"/>
            </a:endParaRPr>
          </a:p>
        </p:txBody>
      </p:sp>
      <p:grpSp>
        <p:nvGrpSpPr>
          <p:cNvPr id="23" name="组合 109"/>
          <p:cNvGrpSpPr/>
          <p:nvPr/>
        </p:nvGrpSpPr>
        <p:grpSpPr>
          <a:xfrm>
            <a:off x="489223" y="44624"/>
            <a:ext cx="4514825" cy="684413"/>
            <a:chOff x="956926" y="4567095"/>
            <a:chExt cx="4514825" cy="684413"/>
          </a:xfrm>
        </p:grpSpPr>
        <p:sp>
          <p:nvSpPr>
            <p:cNvPr id="26"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7" name="图片 26" descr="u=714968970,2342735455&amp;fm=27&amp;gp=0.jpg"/>
            <p:cNvPicPr/>
            <p:nvPr/>
          </p:nvPicPr>
          <p:blipFill>
            <a:blip r:embed="rId14"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9" name="TextBox 6"/>
            <p:cNvSpPr txBox="1">
              <a:spLocks noChangeArrowheads="1"/>
            </p:cNvSpPr>
            <p:nvPr/>
          </p:nvSpPr>
          <p:spPr bwMode="auto">
            <a:xfrm>
              <a:off x="1151271" y="4567095"/>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Tree>
    <p:extLst>
      <p:ext uri="{BB962C8B-B14F-4D97-AF65-F5344CB8AC3E}">
        <p14:creationId xmlns:p14="http://schemas.microsoft.com/office/powerpoint/2010/main" val="54403914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79512" y="1124744"/>
            <a:ext cx="6681311" cy="375809"/>
          </a:xfrm>
          <a:prstGeom prst="rect">
            <a:avLst/>
          </a:prstGeom>
          <a:noFill/>
          <a:ln w="9525">
            <a:noFill/>
          </a:ln>
        </p:spPr>
        <p:txBody>
          <a:bodyPr wrap="square">
            <a:spAutoFit/>
          </a:bodyPr>
          <a:lstStyle/>
          <a:p>
            <a:pPr indent="200025">
              <a:lnSpc>
                <a:spcPct val="110000"/>
              </a:lnSpc>
            </a:pPr>
            <a:r>
              <a:rPr b="1" dirty="0">
                <a:latin typeface="微软雅黑" panose="020B0503020204020204" pitchFamily="34" charset="-122"/>
                <a:ea typeface="微软雅黑" panose="020B0503020204020204" pitchFamily="34" charset="-122"/>
                <a:cs typeface="微软雅黑" panose="020B0503020204020204" pitchFamily="34" charset="-122"/>
              </a:rPr>
              <a:t>3</a:t>
            </a:r>
            <a:r>
              <a:rPr b="1"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b="1" dirty="0" smtClean="0">
                <a:latin typeface="微软雅黑" panose="020B0503020204020204" pitchFamily="34" charset="-122"/>
                <a:ea typeface="微软雅黑" panose="020B0503020204020204" pitchFamily="34" charset="-122"/>
                <a:cs typeface="微软雅黑" panose="020B0503020204020204" pitchFamily="34" charset="-122"/>
              </a:rPr>
              <a:t> </a:t>
            </a:r>
            <a:r>
              <a:rPr b="1" dirty="0" err="1" smtClean="0">
                <a:latin typeface="微软雅黑" panose="020B0503020204020204" pitchFamily="34" charset="-122"/>
                <a:ea typeface="微软雅黑" panose="020B0503020204020204" pitchFamily="34" charset="-122"/>
                <a:cs typeface="微软雅黑" panose="020B0503020204020204" pitchFamily="34" charset="-122"/>
              </a:rPr>
              <a:t>量词</a:t>
            </a:r>
            <a:endParaRPr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3" name="组合 109"/>
          <p:cNvGrpSpPr/>
          <p:nvPr/>
        </p:nvGrpSpPr>
        <p:grpSpPr>
          <a:xfrm>
            <a:off x="489223" y="44624"/>
            <a:ext cx="4514825" cy="684413"/>
            <a:chOff x="956926" y="4567095"/>
            <a:chExt cx="4514825" cy="684413"/>
          </a:xfrm>
        </p:grpSpPr>
        <p:sp>
          <p:nvSpPr>
            <p:cNvPr id="26"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7" name="图片 26"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9" name="TextBox 6"/>
            <p:cNvSpPr txBox="1">
              <a:spLocks noChangeArrowheads="1"/>
            </p:cNvSpPr>
            <p:nvPr/>
          </p:nvSpPr>
          <p:spPr bwMode="auto">
            <a:xfrm>
              <a:off x="1151271" y="4567095"/>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graphicFrame>
        <p:nvGraphicFramePr>
          <p:cNvPr id="32" name="表格 -1"/>
          <p:cNvGraphicFramePr/>
          <p:nvPr>
            <p:custDataLst>
              <p:tags r:id="rId1"/>
            </p:custDataLst>
            <p:extLst>
              <p:ext uri="{D42A27DB-BD31-4B8C-83A1-F6EECF244321}">
                <p14:modId xmlns:p14="http://schemas.microsoft.com/office/powerpoint/2010/main" val="2641118314"/>
              </p:ext>
            </p:extLst>
          </p:nvPr>
        </p:nvGraphicFramePr>
        <p:xfrm>
          <a:off x="891603" y="1666968"/>
          <a:ext cx="6813916" cy="3391085"/>
        </p:xfrm>
        <a:graphic>
          <a:graphicData uri="http://schemas.openxmlformats.org/drawingml/2006/table">
            <a:tbl>
              <a:tblPr firstRow="1" bandRow="1">
                <a:tableStyleId>{5940675A-B579-460E-94D1-54222C63F5DA}</a:tableStyleId>
              </a:tblPr>
              <a:tblGrid>
                <a:gridCol w="720081">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806185">
                  <a:extLst>
                    <a:ext uri="{9D8B030D-6E8A-4147-A177-3AD203B41FA5}">
                      <a16:colId xmlns:a16="http://schemas.microsoft.com/office/drawing/2014/main" val="2220389152"/>
                    </a:ext>
                  </a:extLst>
                </a:gridCol>
                <a:gridCol w="4567570">
                  <a:extLst>
                    <a:ext uri="{9D8B030D-6E8A-4147-A177-3AD203B41FA5}">
                      <a16:colId xmlns:a16="http://schemas.microsoft.com/office/drawing/2014/main" val="1994583870"/>
                    </a:ext>
                  </a:extLst>
                </a:gridCol>
              </a:tblGrid>
              <a:tr h="234062">
                <a:tc>
                  <a:txBody>
                    <a:bodyPr/>
                    <a:lstStyle/>
                    <a:p>
                      <a:pPr marL="0" indent="0" algn="ctr">
                        <a:buNone/>
                      </a:pPr>
                      <a:r>
                        <a:rPr lang="zh-CN" altLang="en-US" sz="1200" b="1" u="none" kern="1200" baseline="0" dirty="0" smtClean="0">
                          <a:solidFill>
                            <a:schemeClr val="tx1"/>
                          </a:solidFill>
                          <a:latin typeface="Times New Roman" panose="02020603050405020304" pitchFamily="18" charset="0"/>
                          <a:ea typeface="宋体" panose="02010600030101010101" pitchFamily="2" charset="-122"/>
                          <a:cs typeface="宋体" panose="02010600030101010101" pitchFamily="2" charset="-122"/>
                        </a:rPr>
                        <a:t>贪婪量词 </a:t>
                      </a:r>
                      <a:endParaRPr lang="zh-CN" altLang="en-US" sz="1200" b="1" u="none" kern="1200" baseline="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ctr">
                        <a:buNone/>
                      </a:pPr>
                      <a:r>
                        <a:rPr lang="zh-CN" altLang="en-US" sz="1200" b="1" u="none" kern="1200" baseline="0" dirty="0" smtClean="0">
                          <a:solidFill>
                            <a:schemeClr val="tx1"/>
                          </a:solidFill>
                          <a:latin typeface="Times New Roman" panose="02020603050405020304" pitchFamily="18" charset="0"/>
                          <a:ea typeface="宋体" panose="02010600030101010101" pitchFamily="2" charset="-122"/>
                          <a:cs typeface="宋体" panose="02010600030101010101" pitchFamily="2" charset="-122"/>
                        </a:rPr>
                        <a:t>惰性量词</a:t>
                      </a:r>
                      <a:endParaRPr lang="zh-CN" altLang="en-US" sz="1200" b="1" u="none" kern="1200" baseline="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9525" cap="flat" cmpd="sng" algn="ctr">
                      <a:solidFill>
                        <a:srgbClr val="000000"/>
                      </a:solidFill>
                      <a:prstDash val="solid"/>
                      <a:round/>
                      <a:headEnd type="none" w="med" len="med"/>
                      <a:tailEnd type="none" w="med" len="med"/>
                    </a:lnR>
                    <a:lnT w="6350" cap="flat" cmpd="sng">
                      <a:solidFill>
                        <a:srgbClr val="080000"/>
                      </a:solidFill>
                      <a:prstDash val="soli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ctr">
                        <a:buNone/>
                      </a:pPr>
                      <a:r>
                        <a:rPr lang="zh-CN" altLang="en-US" sz="1200" b="1" u="none" kern="1200" baseline="0" dirty="0" smtClean="0">
                          <a:solidFill>
                            <a:schemeClr val="tx1"/>
                          </a:solidFill>
                          <a:latin typeface="Times New Roman" panose="02020603050405020304" pitchFamily="18" charset="0"/>
                          <a:ea typeface="宋体" panose="02010600030101010101" pitchFamily="2" charset="-122"/>
                          <a:cs typeface="宋体" panose="02010600030101010101" pitchFamily="2" charset="-122"/>
                        </a:rPr>
                        <a:t>支配量词</a:t>
                      </a:r>
                      <a:endParaRPr lang="zh-CN" altLang="en-US" sz="1200" b="1" u="none" kern="1200" baseline="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txBody>
                  <a:tcPr marL="0" marR="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b="1" u="none" baseline="0" dirty="0" smtClean="0">
                          <a:latin typeface="Times New Roman" panose="02020603050405020304" pitchFamily="18" charset="0"/>
                          <a:ea typeface="+mn-ea"/>
                          <a:cs typeface="宋体" panose="02010600030101010101" pitchFamily="2" charset="-122"/>
                        </a:rPr>
                        <a:t>功能说明</a:t>
                      </a:r>
                    </a:p>
                  </a:txBody>
                  <a:tcPr marL="0" marR="0" marT="0" marB="0">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4499">
                <a:tc>
                  <a:txBody>
                    <a:bodyPr/>
                    <a:lstStyle/>
                    <a:p>
                      <a:pPr marL="0" indent="0" algn="ctr">
                        <a:buNone/>
                      </a:pP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dirty="0" smtClean="0">
                          <a:latin typeface="Times New Roman" panose="02020603050405020304" pitchFamily="18" charset="0"/>
                          <a:ea typeface="宋体" panose="02010600030101010101" pitchFamily="2" charset="-122"/>
                          <a:cs typeface="宋体" panose="02010600030101010101" pitchFamily="2" charset="-122"/>
                        </a:rPr>
                        <a:t>*</a:t>
                      </a:r>
                      <a:r>
                        <a:rPr lang="zh-CN" altLang="en-US" sz="1200" b="0" u="none" baseline="0" dirty="0" smtClean="0">
                          <a:latin typeface="Times New Roman" panose="02020603050405020304" pitchFamily="18" charset="0"/>
                          <a:ea typeface="宋体" panose="02010600030101010101" pitchFamily="2" charset="-122"/>
                          <a:cs typeface="宋体" panose="02010600030101010101" pitchFamily="2" charset="-122"/>
                        </a:rPr>
                        <a:t>？</a:t>
                      </a:r>
                      <a:endPar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9525" cap="flat" cmpd="sng" algn="ctr">
                      <a:solidFill>
                        <a:srgbClr val="000000"/>
                      </a:solidFill>
                      <a:prstDash val="solid"/>
                      <a:roun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dirty="0" smtClean="0">
                          <a:latin typeface="Times New Roman" panose="02020603050405020304" pitchFamily="18" charset="0"/>
                          <a:ea typeface="宋体" panose="02010600030101010101" pitchFamily="2" charset="-122"/>
                          <a:cs typeface="宋体" panose="02010600030101010101" pitchFamily="2" charset="-122"/>
                        </a:rPr>
                        <a:t>*+</a:t>
                      </a:r>
                      <a:endPar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u="none" baseline="0" dirty="0" smtClean="0">
                          <a:latin typeface="Times New Roman" panose="02020603050405020304" pitchFamily="18" charset="0"/>
                          <a:ea typeface="+mn-ea"/>
                          <a:cs typeface="宋体" panose="02010600030101010101" pitchFamily="2" charset="-122"/>
                        </a:rPr>
                        <a:t>匹配位于</a:t>
                      </a:r>
                      <a:r>
                        <a:rPr lang="en-US" altLang="zh-CN" sz="1200" b="0" u="none" baseline="0" dirty="0" smtClean="0">
                          <a:latin typeface="Times New Roman" panose="02020603050405020304" pitchFamily="18" charset="0"/>
                          <a:ea typeface="+mn-ea"/>
                          <a:cs typeface="宋体" panose="02010600030101010101" pitchFamily="2" charset="-122"/>
                        </a:rPr>
                        <a:t>*</a:t>
                      </a:r>
                      <a:r>
                        <a:rPr lang="zh-CN" altLang="en-US" sz="1200" b="0" u="none" baseline="0" dirty="0" smtClean="0">
                          <a:latin typeface="Times New Roman" panose="02020603050405020304" pitchFamily="18" charset="0"/>
                          <a:ea typeface="+mn-ea"/>
                          <a:cs typeface="宋体" panose="02010600030101010101" pitchFamily="2" charset="-122"/>
                        </a:rPr>
                        <a:t>之前的字符或子模式的</a:t>
                      </a:r>
                      <a:r>
                        <a:rPr lang="en-US" altLang="zh-CN" sz="1200" b="0" u="none" baseline="0" dirty="0" smtClean="0">
                          <a:latin typeface="Times New Roman" panose="02020603050405020304" pitchFamily="18" charset="0"/>
                          <a:ea typeface="+mn-ea"/>
                          <a:cs typeface="宋体" panose="02010600030101010101" pitchFamily="2" charset="-122"/>
                        </a:rPr>
                        <a:t>0</a:t>
                      </a:r>
                      <a:r>
                        <a:rPr lang="zh-CN" altLang="en-US" sz="1200" b="0" u="none" baseline="0" dirty="0" smtClean="0">
                          <a:latin typeface="Times New Roman" panose="02020603050405020304" pitchFamily="18" charset="0"/>
                          <a:ea typeface="+mn-ea"/>
                          <a:cs typeface="宋体" panose="02010600030101010101" pitchFamily="2" charset="-122"/>
                        </a:rPr>
                        <a:t>次或多次出现，等价于</a:t>
                      </a:r>
                      <a:r>
                        <a:rPr lang="en-US" altLang="zh-CN" sz="1200" b="0" u="none" baseline="0" dirty="0" smtClean="0">
                          <a:latin typeface="Times New Roman" panose="02020603050405020304" pitchFamily="18" charset="0"/>
                          <a:ea typeface="+mn-ea"/>
                          <a:cs typeface="宋体" panose="02010600030101010101" pitchFamily="2" charset="-122"/>
                        </a:rPr>
                        <a:t>{0</a:t>
                      </a:r>
                      <a:r>
                        <a:rPr lang="zh-CN" altLang="en-US" sz="1200" b="0" u="none" baseline="0" dirty="0" smtClean="0">
                          <a:latin typeface="Times New Roman" panose="02020603050405020304" pitchFamily="18" charset="0"/>
                          <a:ea typeface="+mn-ea"/>
                          <a:cs typeface="宋体" panose="02010600030101010101" pitchFamily="2" charset="-122"/>
                        </a:rPr>
                        <a:t>，</a:t>
                      </a:r>
                      <a:r>
                        <a:rPr lang="en-US" altLang="zh-CN" sz="1200" b="0" u="none" baseline="0" dirty="0" smtClean="0">
                          <a:latin typeface="Times New Roman" panose="02020603050405020304" pitchFamily="18" charset="0"/>
                          <a:ea typeface="+mn-ea"/>
                          <a:cs typeface="宋体" panose="02010600030101010101" pitchFamily="2" charset="-122"/>
                        </a:rPr>
                        <a:t>}</a:t>
                      </a:r>
                      <a:endParaRPr lang="zh-CN" altLang="en-US" sz="1200" b="0" u="none" baseline="0" dirty="0" smtClean="0">
                        <a:latin typeface="Times New Roman" panose="02020603050405020304" pitchFamily="18" charset="0"/>
                        <a:ea typeface="+mn-ea"/>
                        <a:cs typeface="宋体" panose="02010600030101010101" pitchFamily="2" charset="-122"/>
                      </a:endParaRPr>
                    </a:p>
                    <a:p>
                      <a:pPr marL="0" indent="0" algn="l">
                        <a:buNone/>
                      </a:pPr>
                      <a:endParaRPr lang="zh-CN" altLang="en-US"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53825" marR="0" marT="0" marB="0">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4499">
                <a:tc>
                  <a:txBody>
                    <a:bodyPr/>
                    <a:lstStyle/>
                    <a:p>
                      <a:pPr marL="0" indent="0" algn="ctr">
                        <a:buNone/>
                      </a:pP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dirty="0" smtClean="0">
                          <a:latin typeface="Times New Roman" panose="02020603050405020304" pitchFamily="18" charset="0"/>
                          <a:ea typeface="宋体" panose="02010600030101010101" pitchFamily="2" charset="-122"/>
                          <a:cs typeface="宋体" panose="02010600030101010101" pitchFamily="2" charset="-122"/>
                        </a:rPr>
                        <a:t>+?</a:t>
                      </a:r>
                      <a:endPar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0">
                    <a:lnL w="635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dirty="0" smtClean="0">
                          <a:latin typeface="Times New Roman" panose="02020603050405020304" pitchFamily="18" charset="0"/>
                          <a:ea typeface="宋体" panose="02010600030101010101" pitchFamily="2" charset="-122"/>
                          <a:cs typeface="宋体" panose="02010600030101010101" pitchFamily="2" charset="-122"/>
                        </a:rPr>
                        <a:t>++</a:t>
                      </a:r>
                      <a:endPar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u="none" baseline="0" dirty="0" smtClean="0">
                          <a:latin typeface="Times New Roman" panose="02020603050405020304" pitchFamily="18" charset="0"/>
                          <a:ea typeface="+mn-ea"/>
                          <a:cs typeface="宋体" panose="02010600030101010101" pitchFamily="2" charset="-122"/>
                        </a:rPr>
                        <a:t>匹配位于</a:t>
                      </a:r>
                      <a:r>
                        <a:rPr lang="en-US" altLang="zh-CN" sz="1200" b="0" u="none" baseline="0" dirty="0" smtClean="0">
                          <a:latin typeface="Times New Roman" panose="02020603050405020304" pitchFamily="18" charset="0"/>
                          <a:ea typeface="+mn-ea"/>
                          <a:cs typeface="宋体" panose="02010600030101010101" pitchFamily="2" charset="-122"/>
                        </a:rPr>
                        <a:t>+</a:t>
                      </a:r>
                      <a:r>
                        <a:rPr lang="zh-CN" altLang="en-US" sz="1200" b="0" u="none" baseline="0" dirty="0" smtClean="0">
                          <a:latin typeface="Times New Roman" panose="02020603050405020304" pitchFamily="18" charset="0"/>
                          <a:ea typeface="+mn-ea"/>
                          <a:cs typeface="宋体" panose="02010600030101010101" pitchFamily="2" charset="-122"/>
                        </a:rPr>
                        <a:t>之前的字符或子模式的</a:t>
                      </a:r>
                      <a:r>
                        <a:rPr lang="en-US" altLang="zh-CN" sz="1200" b="0" u="none" baseline="0" dirty="0" smtClean="0">
                          <a:latin typeface="Times New Roman" panose="02020603050405020304" pitchFamily="18" charset="0"/>
                          <a:ea typeface="+mn-ea"/>
                          <a:cs typeface="宋体" panose="02010600030101010101" pitchFamily="2" charset="-122"/>
                        </a:rPr>
                        <a:t>1</a:t>
                      </a:r>
                      <a:r>
                        <a:rPr lang="zh-CN" altLang="en-US" sz="1200" b="0" u="none" baseline="0" dirty="0" smtClean="0">
                          <a:latin typeface="Times New Roman" panose="02020603050405020304" pitchFamily="18" charset="0"/>
                          <a:ea typeface="+mn-ea"/>
                          <a:cs typeface="宋体" panose="02010600030101010101" pitchFamily="2" charset="-122"/>
                        </a:rPr>
                        <a:t>次或多次出现，等价于</a:t>
                      </a:r>
                      <a:r>
                        <a:rPr lang="en-US" altLang="zh-CN" sz="1200" b="0" u="none" baseline="0" dirty="0" smtClean="0">
                          <a:latin typeface="Times New Roman" panose="02020603050405020304" pitchFamily="18" charset="0"/>
                          <a:ea typeface="+mn-ea"/>
                          <a:cs typeface="宋体" panose="02010600030101010101" pitchFamily="2" charset="-122"/>
                        </a:rPr>
                        <a:t>{1</a:t>
                      </a:r>
                      <a:r>
                        <a:rPr lang="zh-CN" altLang="en-US" sz="1200" b="0" u="none" baseline="0" dirty="0" smtClean="0">
                          <a:latin typeface="Times New Roman" panose="02020603050405020304" pitchFamily="18" charset="0"/>
                          <a:ea typeface="+mn-ea"/>
                          <a:cs typeface="宋体" panose="02010600030101010101" pitchFamily="2" charset="-122"/>
                        </a:rPr>
                        <a:t>，</a:t>
                      </a:r>
                      <a:r>
                        <a:rPr lang="en-US" altLang="zh-CN" sz="1200" b="0" u="none" baseline="0" dirty="0" smtClean="0">
                          <a:latin typeface="Times New Roman" panose="02020603050405020304" pitchFamily="18" charset="0"/>
                          <a:ea typeface="+mn-ea"/>
                          <a:cs typeface="宋体" panose="02010600030101010101" pitchFamily="2" charset="-122"/>
                        </a:rPr>
                        <a:t>}</a:t>
                      </a:r>
                      <a:endParaRPr lang="zh-CN" altLang="en-US" sz="1200" b="0" u="none" baseline="0" dirty="0" smtClean="0">
                        <a:latin typeface="Times New Roman" panose="02020603050405020304" pitchFamily="18" charset="0"/>
                        <a:ea typeface="+mn-ea"/>
                        <a:cs typeface="宋体" panose="02010600030101010101" pitchFamily="2" charset="-122"/>
                      </a:endParaRPr>
                    </a:p>
                    <a:p>
                      <a:pPr marL="0" marR="0" indent="0" algn="l" defTabSz="914400" rtl="0" eaLnBrk="1" fontAlgn="auto" latinLnBrk="0" hangingPunct="1">
                        <a:lnSpc>
                          <a:spcPct val="100000"/>
                        </a:lnSpc>
                        <a:spcBef>
                          <a:spcPts val="0"/>
                        </a:spcBef>
                        <a:spcAft>
                          <a:spcPts val="0"/>
                        </a:spcAft>
                        <a:buClrTx/>
                        <a:buSzTx/>
                        <a:buFontTx/>
                        <a:buNone/>
                        <a:defRPr/>
                      </a:pPr>
                      <a:endParaRPr lang="zh-CN" altLang="en-US"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53825" marR="0" marT="0" marB="0">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310745">
                <a:tc>
                  <a:txBody>
                    <a:bodyPr/>
                    <a:lstStyle/>
                    <a:p>
                      <a:pPr marL="0" indent="0" algn="ctr">
                        <a:buNone/>
                      </a:pP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dirty="0" smtClean="0">
                          <a:latin typeface="Times New Roman" panose="02020603050405020304" pitchFamily="18" charset="0"/>
                          <a:ea typeface="宋体" panose="02010600030101010101" pitchFamily="2" charset="-122"/>
                          <a:cs typeface="宋体" panose="02010600030101010101" pitchFamily="2" charset="-122"/>
                        </a:rPr>
                        <a:t>??</a:t>
                      </a:r>
                      <a:endPar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9525" cap="flat" cmpd="sng" algn="ctr">
                      <a:solidFill>
                        <a:srgbClr val="000000"/>
                      </a:solidFill>
                      <a:prstDash val="solid"/>
                      <a:roun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dirty="0" smtClean="0">
                          <a:latin typeface="Times New Roman" panose="02020603050405020304" pitchFamily="18" charset="0"/>
                          <a:ea typeface="宋体" panose="02010600030101010101" pitchFamily="2" charset="-122"/>
                          <a:cs typeface="宋体" panose="02010600030101010101" pitchFamily="2" charset="-122"/>
                        </a:rPr>
                        <a:t>?+</a:t>
                      </a:r>
                      <a:endPar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u="none" baseline="0" dirty="0" smtClean="0">
                          <a:latin typeface="Times New Roman" panose="02020603050405020304" pitchFamily="18" charset="0"/>
                          <a:ea typeface="+mn-ea"/>
                          <a:cs typeface="宋体" panose="02010600030101010101" pitchFamily="2" charset="-122"/>
                        </a:rPr>
                        <a:t>匹配位于</a:t>
                      </a:r>
                      <a:r>
                        <a:rPr lang="en-US" altLang="zh-CN" sz="1200" b="0" u="none" baseline="0" dirty="0" smtClean="0">
                          <a:latin typeface="Times New Roman" panose="02020603050405020304" pitchFamily="18" charset="0"/>
                          <a:ea typeface="+mn-ea"/>
                          <a:cs typeface="宋体" panose="02010600030101010101" pitchFamily="2" charset="-122"/>
                        </a:rPr>
                        <a:t>?</a:t>
                      </a:r>
                      <a:r>
                        <a:rPr lang="zh-CN" altLang="en-US" sz="1200" b="0" u="none" baseline="0" dirty="0" smtClean="0">
                          <a:latin typeface="Times New Roman" panose="02020603050405020304" pitchFamily="18" charset="0"/>
                          <a:ea typeface="+mn-ea"/>
                          <a:cs typeface="宋体" panose="02010600030101010101" pitchFamily="2" charset="-122"/>
                        </a:rPr>
                        <a:t>之前的</a:t>
                      </a:r>
                      <a:r>
                        <a:rPr lang="en-US" altLang="zh-CN" sz="1200" b="0" u="none" baseline="0" dirty="0" smtClean="0">
                          <a:latin typeface="Times New Roman" panose="02020603050405020304" pitchFamily="18" charset="0"/>
                          <a:ea typeface="+mn-ea"/>
                          <a:cs typeface="宋体" panose="02010600030101010101" pitchFamily="2" charset="-122"/>
                        </a:rPr>
                        <a:t>0</a:t>
                      </a:r>
                      <a:r>
                        <a:rPr lang="zh-CN" altLang="en-US" sz="1200" b="0" u="none" baseline="0" dirty="0" smtClean="0">
                          <a:latin typeface="Times New Roman" panose="02020603050405020304" pitchFamily="18" charset="0"/>
                          <a:ea typeface="+mn-ea"/>
                          <a:cs typeface="宋体" panose="02010600030101010101" pitchFamily="2" charset="-122"/>
                        </a:rPr>
                        <a:t>个或</a:t>
                      </a:r>
                      <a:r>
                        <a:rPr lang="en-US" altLang="zh-CN" sz="1200" b="0" u="none" baseline="0" dirty="0" smtClean="0">
                          <a:latin typeface="Times New Roman" panose="02020603050405020304" pitchFamily="18" charset="0"/>
                          <a:ea typeface="+mn-ea"/>
                          <a:cs typeface="宋体" panose="02010600030101010101" pitchFamily="2" charset="-122"/>
                        </a:rPr>
                        <a:t>1</a:t>
                      </a:r>
                      <a:r>
                        <a:rPr lang="zh-CN" altLang="en-US" sz="1200" b="0" u="none" baseline="0" dirty="0" smtClean="0">
                          <a:latin typeface="Times New Roman" panose="02020603050405020304" pitchFamily="18" charset="0"/>
                          <a:ea typeface="+mn-ea"/>
                          <a:cs typeface="宋体" panose="02010600030101010101" pitchFamily="2" charset="-122"/>
                        </a:rPr>
                        <a:t>个字符，等价于</a:t>
                      </a:r>
                      <a:r>
                        <a:rPr lang="en-US" altLang="zh-CN" sz="1200" b="0" u="none" baseline="0" dirty="0" smtClean="0">
                          <a:latin typeface="Times New Roman" panose="02020603050405020304" pitchFamily="18" charset="0"/>
                          <a:ea typeface="+mn-ea"/>
                          <a:cs typeface="宋体" panose="02010600030101010101" pitchFamily="2" charset="-122"/>
                        </a:rPr>
                        <a:t>{0</a:t>
                      </a:r>
                      <a:r>
                        <a:rPr lang="zh-CN" altLang="en-US" sz="1200" b="0" u="none" baseline="0" dirty="0" smtClean="0">
                          <a:latin typeface="Times New Roman" panose="02020603050405020304" pitchFamily="18" charset="0"/>
                          <a:ea typeface="+mn-ea"/>
                          <a:cs typeface="宋体" panose="02010600030101010101" pitchFamily="2" charset="-122"/>
                        </a:rPr>
                        <a:t>，</a:t>
                      </a:r>
                      <a:r>
                        <a:rPr lang="en-US" altLang="zh-CN" sz="1200" b="0" u="none" baseline="0" dirty="0" smtClean="0">
                          <a:latin typeface="Times New Roman" panose="02020603050405020304" pitchFamily="18" charset="0"/>
                          <a:ea typeface="+mn-ea"/>
                          <a:cs typeface="宋体" panose="02010600030101010101" pitchFamily="2" charset="-122"/>
                        </a:rPr>
                        <a:t>1}</a:t>
                      </a:r>
                      <a:r>
                        <a:rPr lang="zh-CN" altLang="en-US" sz="1200" b="0" u="none" baseline="0" dirty="0" smtClean="0">
                          <a:latin typeface="Times New Roman" panose="02020603050405020304" pitchFamily="18" charset="0"/>
                          <a:ea typeface="+mn-ea"/>
                          <a:cs typeface="宋体" panose="02010600030101010101" pitchFamily="2" charset="-122"/>
                        </a:rPr>
                        <a:t>。</a:t>
                      </a:r>
                      <a:r>
                        <a:rPr lang="zh-CN" altLang="en-US" sz="1200" b="1" u="none" baseline="0" dirty="0" smtClean="0">
                          <a:latin typeface="Times New Roman" panose="02020603050405020304" pitchFamily="18" charset="0"/>
                          <a:ea typeface="+mn-ea"/>
                          <a:cs typeface="宋体" panose="02010600030101010101" pitchFamily="2" charset="-122"/>
                        </a:rPr>
                        <a:t>当此字符紧随任何其他限定符（</a:t>
                      </a:r>
                      <a:r>
                        <a:rPr lang="en-US" altLang="zh-CN" sz="1200" b="1" u="none" baseline="0" dirty="0" smtClean="0">
                          <a:latin typeface="Times New Roman" panose="02020603050405020304" pitchFamily="18" charset="0"/>
                          <a:ea typeface="+mn-ea"/>
                          <a:cs typeface="宋体" panose="02010600030101010101" pitchFamily="2" charset="-122"/>
                        </a:rPr>
                        <a:t>*</a:t>
                      </a:r>
                      <a:r>
                        <a:rPr lang="zh-CN" altLang="en-US" sz="1200" b="1" u="none" baseline="0" dirty="0" smtClean="0">
                          <a:latin typeface="Times New Roman" panose="02020603050405020304" pitchFamily="18" charset="0"/>
                          <a:ea typeface="+mn-ea"/>
                          <a:cs typeface="宋体" panose="02010600030101010101" pitchFamily="2" charset="-122"/>
                        </a:rPr>
                        <a:t>、</a:t>
                      </a:r>
                      <a:r>
                        <a:rPr lang="en-US" altLang="zh-CN" sz="1200" b="1" u="none" baseline="0" dirty="0" smtClean="0">
                          <a:latin typeface="Times New Roman" panose="02020603050405020304" pitchFamily="18" charset="0"/>
                          <a:ea typeface="+mn-ea"/>
                          <a:cs typeface="宋体" panose="02010600030101010101" pitchFamily="2" charset="-122"/>
                        </a:rPr>
                        <a:t>+</a:t>
                      </a:r>
                      <a:r>
                        <a:rPr lang="zh-CN" altLang="en-US" sz="1200" b="1" u="none" baseline="0" dirty="0" smtClean="0">
                          <a:latin typeface="Times New Roman" panose="02020603050405020304" pitchFamily="18" charset="0"/>
                          <a:ea typeface="+mn-ea"/>
                          <a:cs typeface="宋体" panose="02010600030101010101" pitchFamily="2" charset="-122"/>
                        </a:rPr>
                        <a:t>、</a:t>
                      </a:r>
                      <a:r>
                        <a:rPr lang="en-US" altLang="zh-CN" sz="1200" b="1" u="none" baseline="0" dirty="0" smtClean="0">
                          <a:latin typeface="Times New Roman" panose="02020603050405020304" pitchFamily="18" charset="0"/>
                          <a:ea typeface="+mn-ea"/>
                          <a:cs typeface="宋体" panose="02010600030101010101" pitchFamily="2" charset="-122"/>
                        </a:rPr>
                        <a:t>?</a:t>
                      </a:r>
                      <a:r>
                        <a:rPr lang="zh-CN" altLang="en-US" sz="1200" b="1" u="none" baseline="0" dirty="0" smtClean="0">
                          <a:latin typeface="Times New Roman" panose="02020603050405020304" pitchFamily="18" charset="0"/>
                          <a:ea typeface="+mn-ea"/>
                          <a:cs typeface="宋体" panose="02010600030101010101" pitchFamily="2" charset="-122"/>
                        </a:rPr>
                        <a:t>、</a:t>
                      </a:r>
                      <a:r>
                        <a:rPr lang="en-US" altLang="zh-CN" sz="1200" b="1" u="none" baseline="0" dirty="0" smtClean="0">
                          <a:latin typeface="Times New Roman" panose="02020603050405020304" pitchFamily="18" charset="0"/>
                          <a:ea typeface="+mn-ea"/>
                          <a:cs typeface="宋体" panose="02010600030101010101" pitchFamily="2" charset="-122"/>
                        </a:rPr>
                        <a:t>{n}</a:t>
                      </a:r>
                      <a:r>
                        <a:rPr lang="zh-CN" altLang="en-US" sz="1200" b="1" u="none" baseline="0" dirty="0" smtClean="0">
                          <a:latin typeface="Times New Roman" panose="02020603050405020304" pitchFamily="18" charset="0"/>
                          <a:ea typeface="+mn-ea"/>
                          <a:cs typeface="宋体" panose="02010600030101010101" pitchFamily="2" charset="-122"/>
                        </a:rPr>
                        <a:t>、</a:t>
                      </a:r>
                      <a:r>
                        <a:rPr lang="en-US" altLang="zh-CN" sz="1200" b="1" u="none" baseline="0" dirty="0" smtClean="0">
                          <a:latin typeface="Times New Roman" panose="02020603050405020304" pitchFamily="18" charset="0"/>
                          <a:ea typeface="+mn-ea"/>
                          <a:cs typeface="宋体" panose="02010600030101010101" pitchFamily="2" charset="-122"/>
                        </a:rPr>
                        <a:t>{n,}</a:t>
                      </a:r>
                      <a:r>
                        <a:rPr lang="zh-CN" altLang="en-US" sz="1200" b="1" u="none" baseline="0" dirty="0" smtClean="0">
                          <a:latin typeface="Times New Roman" panose="02020603050405020304" pitchFamily="18" charset="0"/>
                          <a:ea typeface="+mn-ea"/>
                          <a:cs typeface="宋体" panose="02010600030101010101" pitchFamily="2" charset="-122"/>
                        </a:rPr>
                        <a:t>、</a:t>
                      </a:r>
                      <a:r>
                        <a:rPr lang="en-US" altLang="zh-CN" sz="1200" b="1" u="none" baseline="0" dirty="0" smtClean="0">
                          <a:latin typeface="Times New Roman" panose="02020603050405020304" pitchFamily="18" charset="0"/>
                          <a:ea typeface="+mn-ea"/>
                          <a:cs typeface="宋体" panose="02010600030101010101" pitchFamily="2" charset="-122"/>
                        </a:rPr>
                        <a:t>{</a:t>
                      </a:r>
                      <a:r>
                        <a:rPr lang="en-US" altLang="zh-CN" sz="1200" b="1" u="none" baseline="0" dirty="0" err="1" smtClean="0">
                          <a:latin typeface="Times New Roman" panose="02020603050405020304" pitchFamily="18" charset="0"/>
                          <a:ea typeface="+mn-ea"/>
                          <a:cs typeface="宋体" panose="02010600030101010101" pitchFamily="2" charset="-122"/>
                        </a:rPr>
                        <a:t>n,m</a:t>
                      </a:r>
                      <a:r>
                        <a:rPr lang="en-US" altLang="zh-CN" sz="1200" b="1" u="none" baseline="0" dirty="0" smtClean="0">
                          <a:latin typeface="Times New Roman" panose="02020603050405020304" pitchFamily="18" charset="0"/>
                          <a:ea typeface="+mn-ea"/>
                          <a:cs typeface="宋体" panose="02010600030101010101" pitchFamily="2" charset="-122"/>
                        </a:rPr>
                        <a:t>}</a:t>
                      </a:r>
                      <a:r>
                        <a:rPr lang="zh-CN" altLang="en-US" sz="1200" b="1" u="none" baseline="0" dirty="0" smtClean="0">
                          <a:latin typeface="Times New Roman" panose="02020603050405020304" pitchFamily="18" charset="0"/>
                          <a:ea typeface="+mn-ea"/>
                          <a:cs typeface="宋体" panose="02010600030101010101" pitchFamily="2" charset="-122"/>
                        </a:rPr>
                        <a:t>）之后时，匹配模式是“非贪心的”（惰性匹配）</a:t>
                      </a:r>
                      <a:r>
                        <a:rPr lang="zh-CN" altLang="en-US" sz="1200" b="0" u="none" baseline="0" dirty="0" smtClean="0">
                          <a:latin typeface="Times New Roman" panose="02020603050405020304" pitchFamily="18" charset="0"/>
                          <a:ea typeface="+mn-ea"/>
                          <a:cs typeface="宋体" panose="02010600030101010101" pitchFamily="2" charset="-122"/>
                        </a:rPr>
                        <a:t>。</a:t>
                      </a:r>
                      <a:r>
                        <a:rPr lang="zh-CN" altLang="en-US" sz="1200" b="0" u="none" baseline="0" dirty="0" smtClean="0">
                          <a:solidFill>
                            <a:srgbClr val="FF0000"/>
                          </a:solidFill>
                          <a:latin typeface="Times New Roman" panose="02020603050405020304" pitchFamily="18" charset="0"/>
                          <a:ea typeface="+mn-ea"/>
                          <a:cs typeface="宋体" panose="02010600030101010101" pitchFamily="2" charset="-122"/>
                        </a:rPr>
                        <a:t>“非贪心的”模式匹配搜索到的、尽可能短的字符串</a:t>
                      </a:r>
                      <a:r>
                        <a:rPr lang="zh-CN" altLang="en-US" sz="1200" b="0" u="none" baseline="0" dirty="0" smtClean="0">
                          <a:latin typeface="Times New Roman" panose="02020603050405020304" pitchFamily="18" charset="0"/>
                          <a:ea typeface="+mn-ea"/>
                          <a:cs typeface="宋体" panose="02010600030101010101" pitchFamily="2" charset="-122"/>
                        </a:rPr>
                        <a:t>，而默认的“贪心的”模式匹配搜索到的、尽可能长的字符串</a:t>
                      </a:r>
                      <a:r>
                        <a:rPr lang="zh-CN" altLang="en-US" sz="1200" b="0" u="none" baseline="0" dirty="0" smtClean="0">
                          <a:solidFill>
                            <a:srgbClr val="FF0000"/>
                          </a:solidFill>
                          <a:latin typeface="Times New Roman" panose="02020603050405020304" pitchFamily="18" charset="0"/>
                          <a:ea typeface="+mn-ea"/>
                          <a:cs typeface="宋体" panose="02010600030101010101" pitchFamily="2" charset="-122"/>
                        </a:rPr>
                        <a:t>（贪婪匹配）</a:t>
                      </a:r>
                      <a:r>
                        <a:rPr lang="zh-CN" altLang="en-US" sz="1200" b="0" u="none" baseline="0" dirty="0" smtClean="0">
                          <a:latin typeface="Times New Roman" panose="02020603050405020304" pitchFamily="18" charset="0"/>
                          <a:ea typeface="+mn-ea"/>
                          <a:cs typeface="宋体" panose="02010600030101010101" pitchFamily="2" charset="-122"/>
                        </a:rPr>
                        <a:t>。例如，在字符串“</a:t>
                      </a:r>
                      <a:r>
                        <a:rPr lang="en-US" altLang="zh-CN" sz="1200" b="0" u="none" baseline="0" dirty="0" err="1" smtClean="0">
                          <a:latin typeface="Times New Roman" panose="02020603050405020304" pitchFamily="18" charset="0"/>
                          <a:ea typeface="+mn-ea"/>
                          <a:cs typeface="宋体" panose="02010600030101010101" pitchFamily="2" charset="-122"/>
                        </a:rPr>
                        <a:t>oooo</a:t>
                      </a:r>
                      <a:r>
                        <a:rPr lang="en-US" altLang="zh-CN" sz="1200" b="0" u="none" baseline="0" dirty="0" smtClean="0">
                          <a:latin typeface="Times New Roman" panose="02020603050405020304" pitchFamily="18" charset="0"/>
                          <a:ea typeface="+mn-ea"/>
                          <a:cs typeface="宋体" panose="02010600030101010101" pitchFamily="2" charset="-122"/>
                        </a:rPr>
                        <a:t>”</a:t>
                      </a:r>
                      <a:r>
                        <a:rPr lang="zh-CN" altLang="en-US" sz="1200" b="0" u="none" baseline="0" dirty="0" smtClean="0">
                          <a:latin typeface="Times New Roman" panose="02020603050405020304" pitchFamily="18" charset="0"/>
                          <a:ea typeface="+mn-ea"/>
                          <a:cs typeface="宋体" panose="02010600030101010101" pitchFamily="2" charset="-122"/>
                        </a:rPr>
                        <a:t>中，“</a:t>
                      </a:r>
                      <a:r>
                        <a:rPr lang="en-US" altLang="zh-CN" sz="1200" b="0" u="none" baseline="0" dirty="0" smtClean="0">
                          <a:latin typeface="Times New Roman" panose="02020603050405020304" pitchFamily="18" charset="0"/>
                          <a:ea typeface="+mn-ea"/>
                          <a:cs typeface="宋体" panose="02010600030101010101" pitchFamily="2" charset="-122"/>
                        </a:rPr>
                        <a:t>o+?”</a:t>
                      </a:r>
                      <a:r>
                        <a:rPr lang="zh-CN" altLang="en-US" sz="1200" b="0" u="none" baseline="0" dirty="0" smtClean="0">
                          <a:latin typeface="Times New Roman" panose="02020603050405020304" pitchFamily="18" charset="0"/>
                          <a:ea typeface="+mn-ea"/>
                          <a:cs typeface="宋体" panose="02010600030101010101" pitchFamily="2" charset="-122"/>
                        </a:rPr>
                        <a:t>只匹配单个“</a:t>
                      </a:r>
                      <a:r>
                        <a:rPr lang="en-US" altLang="zh-CN" sz="1200" b="0" u="none" baseline="0" dirty="0" smtClean="0">
                          <a:latin typeface="Times New Roman" panose="02020603050405020304" pitchFamily="18" charset="0"/>
                          <a:ea typeface="+mn-ea"/>
                          <a:cs typeface="宋体" panose="02010600030101010101" pitchFamily="2" charset="-122"/>
                        </a:rPr>
                        <a:t>o”</a:t>
                      </a:r>
                      <a:r>
                        <a:rPr lang="zh-CN" altLang="en-US" sz="1200" b="0" u="none" baseline="0" dirty="0" smtClean="0">
                          <a:latin typeface="Times New Roman" panose="02020603050405020304" pitchFamily="18" charset="0"/>
                          <a:ea typeface="+mn-ea"/>
                          <a:cs typeface="宋体" panose="02010600030101010101" pitchFamily="2" charset="-122"/>
                        </a:rPr>
                        <a:t>，而“</a:t>
                      </a:r>
                      <a:r>
                        <a:rPr lang="en-US" altLang="zh-CN" sz="1200" b="0" u="none" baseline="0" dirty="0" smtClean="0">
                          <a:latin typeface="Times New Roman" panose="02020603050405020304" pitchFamily="18" charset="0"/>
                          <a:ea typeface="+mn-ea"/>
                          <a:cs typeface="宋体" panose="02010600030101010101" pitchFamily="2" charset="-122"/>
                        </a:rPr>
                        <a:t>o+”</a:t>
                      </a:r>
                      <a:r>
                        <a:rPr lang="zh-CN" altLang="en-US" sz="1200" b="0" u="none" baseline="0" dirty="0" smtClean="0">
                          <a:latin typeface="Times New Roman" panose="02020603050405020304" pitchFamily="18" charset="0"/>
                          <a:ea typeface="+mn-ea"/>
                          <a:cs typeface="宋体" panose="02010600030101010101" pitchFamily="2" charset="-122"/>
                        </a:rPr>
                        <a:t>匹配所有“</a:t>
                      </a:r>
                      <a:r>
                        <a:rPr lang="en-US" altLang="zh-CN" sz="1200" b="0" u="none" baseline="0" dirty="0" smtClean="0">
                          <a:latin typeface="Times New Roman" panose="02020603050405020304" pitchFamily="18" charset="0"/>
                          <a:ea typeface="+mn-ea"/>
                          <a:cs typeface="宋体" panose="02010600030101010101" pitchFamily="2" charset="-122"/>
                        </a:rPr>
                        <a:t>o”</a:t>
                      </a:r>
                    </a:p>
                    <a:p>
                      <a:pPr marL="0" marR="0" indent="0" algn="l" defTabSz="914400" rtl="0" eaLnBrk="1" fontAlgn="auto" latinLnBrk="0" hangingPunct="1">
                        <a:lnSpc>
                          <a:spcPct val="100000"/>
                        </a:lnSpc>
                        <a:spcBef>
                          <a:spcPts val="0"/>
                        </a:spcBef>
                        <a:spcAft>
                          <a:spcPts val="0"/>
                        </a:spcAft>
                        <a:buClrTx/>
                        <a:buSzTx/>
                        <a:buFontTx/>
                        <a:buNone/>
                        <a:defRPr/>
                      </a:pPr>
                      <a:endPar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53825" marR="0" marT="0" marB="0">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63304">
                <a:tc>
                  <a:txBody>
                    <a:bodyPr/>
                    <a:lstStyle/>
                    <a:p>
                      <a:pPr marL="0" indent="0" algn="ctr">
                        <a:buNone/>
                      </a:pP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a:t>
                      </a:r>
                      <a:r>
                        <a:rPr lang="en-US" altLang="zh-CN" sz="1200" b="0" u="none" baseline="0" dirty="0" smtClean="0">
                          <a:latin typeface="Times New Roman" panose="02020603050405020304" pitchFamily="18" charset="0"/>
                          <a:ea typeface="宋体" panose="02010600030101010101" pitchFamily="2" charset="-122"/>
                          <a:cs typeface="宋体" panose="02010600030101010101" pitchFamily="2" charset="-122"/>
                        </a:rPr>
                        <a:t>m}</a:t>
                      </a:r>
                      <a:endPar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a:t>
                      </a:r>
                      <a:r>
                        <a:rPr lang="en-US" altLang="zh-CN" sz="1200" b="0" u="none" baseline="0" dirty="0" smtClean="0">
                          <a:latin typeface="Times New Roman" panose="02020603050405020304" pitchFamily="18" charset="0"/>
                          <a:ea typeface="宋体" panose="02010600030101010101" pitchFamily="2" charset="-122"/>
                          <a:cs typeface="宋体" panose="02010600030101010101" pitchFamily="2" charset="-122"/>
                        </a:rPr>
                        <a:t>m}?</a:t>
                      </a:r>
                      <a:endPar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9525" cap="flat" cmpd="sng" algn="ctr">
                      <a:solidFill>
                        <a:srgbClr val="000000"/>
                      </a:solidFill>
                      <a:prstDash val="solid"/>
                      <a:roun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a:t>
                      </a:r>
                      <a:r>
                        <a:rPr lang="en-US" altLang="zh-CN" sz="1200" b="0" u="none" baseline="0" dirty="0" smtClean="0">
                          <a:latin typeface="Times New Roman" panose="02020603050405020304" pitchFamily="18" charset="0"/>
                          <a:ea typeface="宋体" panose="02010600030101010101" pitchFamily="2" charset="-122"/>
                          <a:cs typeface="宋体" panose="02010600030101010101" pitchFamily="2" charset="-122"/>
                        </a:rPr>
                        <a:t>m}+</a:t>
                      </a:r>
                      <a:endPar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u="none" baseline="0" dirty="0" smtClean="0">
                          <a:latin typeface="Times New Roman" panose="02020603050405020304" pitchFamily="18" charset="0"/>
                          <a:ea typeface="+mn-ea"/>
                          <a:cs typeface="宋体" panose="02010600030101010101" pitchFamily="2" charset="-122"/>
                        </a:rPr>
                        <a:t>{}</a:t>
                      </a:r>
                      <a:r>
                        <a:rPr lang="zh-CN" altLang="en-US" sz="1200" b="0" u="none" baseline="0" dirty="0" smtClean="0">
                          <a:latin typeface="Times New Roman" panose="02020603050405020304" pitchFamily="18" charset="0"/>
                          <a:ea typeface="+mn-ea"/>
                          <a:cs typeface="宋体" panose="02010600030101010101" pitchFamily="2" charset="-122"/>
                        </a:rPr>
                        <a:t>前的字符或子模式重复</a:t>
                      </a:r>
                      <a:r>
                        <a:rPr lang="en-US" altLang="zh-CN" sz="1200" b="0" u="none" baseline="0" dirty="0" smtClean="0">
                          <a:latin typeface="Times New Roman" panose="02020603050405020304" pitchFamily="18" charset="0"/>
                          <a:ea typeface="+mn-ea"/>
                          <a:cs typeface="宋体" panose="02010600030101010101" pitchFamily="2" charset="-122"/>
                        </a:rPr>
                        <a:t>m</a:t>
                      </a:r>
                      <a:r>
                        <a:rPr lang="zh-CN" altLang="en-US" sz="1200" b="0" u="none" baseline="0" dirty="0" smtClean="0">
                          <a:latin typeface="Times New Roman" panose="02020603050405020304" pitchFamily="18" charset="0"/>
                          <a:ea typeface="+mn-ea"/>
                          <a:cs typeface="宋体" panose="02010600030101010101" pitchFamily="2" charset="-122"/>
                        </a:rPr>
                        <a:t>次</a:t>
                      </a:r>
                    </a:p>
                    <a:p>
                      <a:pPr marL="0" indent="0" algn="l">
                        <a:buNone/>
                      </a:pPr>
                      <a:endParaRPr lang="zh-CN" altLang="en-US"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53825" marR="0" marT="0" marB="0">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17157">
                <a:tc>
                  <a:txBody>
                    <a:bodyPr/>
                    <a:lstStyle/>
                    <a:p>
                      <a:pPr marL="0" indent="0" algn="ctr">
                        <a:buNone/>
                      </a:pP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{m</a:t>
                      </a:r>
                      <a:r>
                        <a:rPr lang="en-US" altLang="zh-CN" sz="1200" b="0" u="none" baseline="0" dirty="0" smtClean="0">
                          <a:latin typeface="Times New Roman" panose="02020603050405020304" pitchFamily="18" charset="0"/>
                          <a:ea typeface="宋体" panose="02010600030101010101" pitchFamily="2" charset="-122"/>
                          <a:cs typeface="宋体" panose="02010600030101010101" pitchFamily="2" charset="-122"/>
                        </a:rPr>
                        <a:t>,}</a:t>
                      </a:r>
                      <a:endPar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{m</a:t>
                      </a:r>
                      <a:r>
                        <a:rPr lang="en-US" altLang="zh-CN" sz="1200" b="0" u="none" baseline="0" dirty="0" smtClean="0">
                          <a:latin typeface="Times New Roman" panose="02020603050405020304" pitchFamily="18" charset="0"/>
                          <a:ea typeface="宋体" panose="02010600030101010101" pitchFamily="2" charset="-122"/>
                          <a:cs typeface="宋体" panose="02010600030101010101" pitchFamily="2" charset="-122"/>
                        </a:rPr>
                        <a:t>,}?</a:t>
                      </a:r>
                      <a:endPar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9525" cap="flat" cmpd="sng" algn="ctr">
                      <a:solidFill>
                        <a:srgbClr val="000000"/>
                      </a:solidFill>
                      <a:prstDash val="solid"/>
                      <a:roun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{m</a:t>
                      </a:r>
                      <a:r>
                        <a:rPr lang="en-US" altLang="zh-CN" sz="1200" b="0" u="none" baseline="0" dirty="0" smtClean="0">
                          <a:latin typeface="Times New Roman" panose="02020603050405020304" pitchFamily="18" charset="0"/>
                          <a:ea typeface="宋体" panose="02010600030101010101" pitchFamily="2" charset="-122"/>
                          <a:cs typeface="宋体" panose="02010600030101010101" pitchFamily="2" charset="-122"/>
                        </a:rPr>
                        <a:t>,}+</a:t>
                      </a:r>
                      <a:endPar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u="none" baseline="0" dirty="0" smtClean="0">
                          <a:latin typeface="Times New Roman" panose="02020603050405020304" pitchFamily="18" charset="0"/>
                          <a:ea typeface="+mn-ea"/>
                          <a:cs typeface="宋体" panose="02010600030101010101" pitchFamily="2" charset="-122"/>
                        </a:rPr>
                        <a:t>{}</a:t>
                      </a:r>
                      <a:r>
                        <a:rPr lang="zh-CN" altLang="en-US" sz="1200" b="0" u="none" baseline="0" dirty="0" smtClean="0">
                          <a:latin typeface="Times New Roman" panose="02020603050405020304" pitchFamily="18" charset="0"/>
                          <a:ea typeface="+mn-ea"/>
                          <a:cs typeface="宋体" panose="02010600030101010101" pitchFamily="2" charset="-122"/>
                        </a:rPr>
                        <a:t>前的字符或子模式重复至少</a:t>
                      </a:r>
                      <a:r>
                        <a:rPr lang="en-US" altLang="zh-CN" sz="1200" b="0" u="none" baseline="0" dirty="0" smtClean="0">
                          <a:latin typeface="Times New Roman" panose="02020603050405020304" pitchFamily="18" charset="0"/>
                          <a:ea typeface="+mn-ea"/>
                          <a:cs typeface="宋体" panose="02010600030101010101" pitchFamily="2" charset="-122"/>
                        </a:rPr>
                        <a:t>m</a:t>
                      </a:r>
                      <a:r>
                        <a:rPr lang="zh-CN" altLang="en-US" sz="1200" b="0" u="none" baseline="0" dirty="0" smtClean="0">
                          <a:latin typeface="Times New Roman" panose="02020603050405020304" pitchFamily="18" charset="0"/>
                          <a:ea typeface="+mn-ea"/>
                          <a:cs typeface="宋体" panose="02010600030101010101" pitchFamily="2" charset="-122"/>
                        </a:rPr>
                        <a:t>次</a:t>
                      </a:r>
                    </a:p>
                    <a:p>
                      <a:pPr marL="0" indent="0" algn="l">
                        <a:buNone/>
                      </a:pPr>
                      <a:endParaRPr lang="zh-CN" altLang="en-US"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53825" marR="0" marT="0" marB="0">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69171">
                <a:tc>
                  <a:txBody>
                    <a:bodyPr/>
                    <a:lstStyle/>
                    <a:p>
                      <a:pPr marL="0" indent="0" algn="ctr">
                        <a:buNone/>
                      </a:pP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a:t>
                      </a:r>
                      <a:r>
                        <a:rPr lang="en-US" altLang="zh-CN" sz="1200" b="0" u="none" baseline="0" dirty="0" err="1">
                          <a:latin typeface="Times New Roman" panose="02020603050405020304" pitchFamily="18" charset="0"/>
                          <a:ea typeface="宋体" panose="02010600030101010101" pitchFamily="2" charset="-122"/>
                          <a:cs typeface="宋体" panose="02010600030101010101" pitchFamily="2" charset="-122"/>
                        </a:rPr>
                        <a:t>m,n</a:t>
                      </a: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a:t>
                      </a:r>
                    </a:p>
                  </a:txBody>
                  <a:tcPr marL="0" marR="0" marT="0" marB="0">
                    <a:lnL w="6350" cap="flat" cmpd="sng">
                      <a:solidFill>
                        <a:srgbClr val="080000"/>
                      </a:solidFill>
                      <a:prstDash val="solid"/>
                      <a:headEnd type="none" w="med" len="med"/>
                      <a:tailEnd type="none" w="med" len="med"/>
                    </a:lnL>
                    <a:lnR w="6350" cap="flat" cmpd="sng" algn="ctr">
                      <a:solidFill>
                        <a:srgbClr val="080000"/>
                      </a:solidFill>
                      <a:prstDash val="solid"/>
                      <a:roun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a:t>
                      </a:r>
                      <a:r>
                        <a:rPr lang="en-US" altLang="zh-CN" sz="1200" b="0" u="none" baseline="0" dirty="0" err="1">
                          <a:latin typeface="Times New Roman" panose="02020603050405020304" pitchFamily="18" charset="0"/>
                          <a:ea typeface="宋体" panose="02010600030101010101" pitchFamily="2" charset="-122"/>
                          <a:cs typeface="宋体" panose="02010600030101010101" pitchFamily="2" charset="-122"/>
                        </a:rPr>
                        <a:t>m,n</a:t>
                      </a:r>
                      <a:r>
                        <a:rPr lang="en-US" altLang="zh-CN" sz="1200" b="0" u="none" baseline="0" dirty="0" smtClean="0">
                          <a:latin typeface="Times New Roman" panose="02020603050405020304" pitchFamily="18" charset="0"/>
                          <a:ea typeface="宋体" panose="02010600030101010101" pitchFamily="2" charset="-122"/>
                          <a:cs typeface="宋体" panose="02010600030101010101" pitchFamily="2" charset="-122"/>
                        </a:rPr>
                        <a:t>}?</a:t>
                      </a:r>
                      <a:endPar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0">
                    <a:lnL w="6350" cap="flat" cmpd="sng">
                      <a:solidFill>
                        <a:srgbClr val="080000"/>
                      </a:solidFill>
                      <a:prstDash val="solid"/>
                      <a:headEnd type="none" w="med" len="med"/>
                      <a:tailEnd type="none" w="med" len="med"/>
                    </a:lnL>
                    <a:lnR w="9525" cap="flat" cmpd="sng" algn="ctr">
                      <a:solidFill>
                        <a:srgbClr val="000000"/>
                      </a:solidFill>
                      <a:prstDash val="solid"/>
                      <a:roun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rPr>
                        <a:t>{</a:t>
                      </a:r>
                      <a:r>
                        <a:rPr lang="en-US" altLang="zh-CN" sz="1200" b="0" u="none" baseline="0" dirty="0" err="1">
                          <a:latin typeface="Times New Roman" panose="02020603050405020304" pitchFamily="18" charset="0"/>
                          <a:ea typeface="宋体" panose="02010600030101010101" pitchFamily="2" charset="-122"/>
                          <a:cs typeface="宋体" panose="02010600030101010101" pitchFamily="2" charset="-122"/>
                        </a:rPr>
                        <a:t>m,n</a:t>
                      </a:r>
                      <a:r>
                        <a:rPr lang="en-US" altLang="zh-CN" sz="1200" b="0" u="none" baseline="0" dirty="0" smtClean="0">
                          <a:latin typeface="Times New Roman" panose="02020603050405020304" pitchFamily="18" charset="0"/>
                          <a:ea typeface="宋体" panose="02010600030101010101" pitchFamily="2" charset="-122"/>
                          <a:cs typeface="宋体" panose="02010600030101010101" pitchFamily="2" charset="-122"/>
                        </a:rPr>
                        <a:t>}+</a:t>
                      </a:r>
                      <a:endParaRPr lang="en-US" altLang="zh-CN"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0" marR="0" marT="0" marB="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u="none" baseline="0" dirty="0" smtClean="0">
                          <a:latin typeface="Times New Roman" panose="02020603050405020304" pitchFamily="18" charset="0"/>
                          <a:ea typeface="+mn-ea"/>
                          <a:cs typeface="宋体" panose="02010600030101010101" pitchFamily="2" charset="-122"/>
                        </a:rPr>
                        <a:t>{}</a:t>
                      </a:r>
                      <a:r>
                        <a:rPr lang="zh-CN" altLang="en-US" sz="1200" b="0" u="none" baseline="0" dirty="0" smtClean="0">
                          <a:latin typeface="Times New Roman" panose="02020603050405020304" pitchFamily="18" charset="0"/>
                          <a:ea typeface="+mn-ea"/>
                          <a:cs typeface="宋体" panose="02010600030101010101" pitchFamily="2" charset="-122"/>
                        </a:rPr>
                        <a:t>前的字符或子模式重复至少</a:t>
                      </a:r>
                      <a:r>
                        <a:rPr lang="en-US" altLang="zh-CN" sz="1200" b="0" u="none" baseline="0" dirty="0" smtClean="0">
                          <a:latin typeface="Times New Roman" panose="02020603050405020304" pitchFamily="18" charset="0"/>
                          <a:ea typeface="+mn-ea"/>
                          <a:cs typeface="宋体" panose="02010600030101010101" pitchFamily="2" charset="-122"/>
                        </a:rPr>
                        <a:t>m</a:t>
                      </a:r>
                      <a:r>
                        <a:rPr lang="zh-CN" altLang="en-US" sz="1200" b="0" u="none" baseline="0" dirty="0" smtClean="0">
                          <a:latin typeface="Times New Roman" panose="02020603050405020304" pitchFamily="18" charset="0"/>
                          <a:ea typeface="+mn-ea"/>
                          <a:cs typeface="宋体" panose="02010600030101010101" pitchFamily="2" charset="-122"/>
                        </a:rPr>
                        <a:t>次，至多</a:t>
                      </a:r>
                      <a:r>
                        <a:rPr lang="en-US" altLang="zh-CN" sz="1200" b="0" u="none" baseline="0" dirty="0" smtClean="0">
                          <a:latin typeface="Times New Roman" panose="02020603050405020304" pitchFamily="18" charset="0"/>
                          <a:ea typeface="+mn-ea"/>
                          <a:cs typeface="宋体" panose="02010600030101010101" pitchFamily="2" charset="-122"/>
                        </a:rPr>
                        <a:t>n</a:t>
                      </a:r>
                      <a:r>
                        <a:rPr lang="zh-CN" altLang="en-US" sz="1200" b="0" u="none" baseline="0" dirty="0" smtClean="0">
                          <a:latin typeface="Times New Roman" panose="02020603050405020304" pitchFamily="18" charset="0"/>
                          <a:ea typeface="+mn-ea"/>
                          <a:cs typeface="宋体" panose="02010600030101010101" pitchFamily="2" charset="-122"/>
                        </a:rPr>
                        <a:t>次</a:t>
                      </a:r>
                    </a:p>
                    <a:p>
                      <a:pPr marL="0" indent="0" algn="l">
                        <a:buNone/>
                      </a:pPr>
                      <a:endParaRPr lang="zh-CN" altLang="en-US" sz="1200" b="0" u="none" baseline="0" dirty="0">
                        <a:latin typeface="Times New Roman" panose="02020603050405020304" pitchFamily="18" charset="0"/>
                        <a:ea typeface="宋体" panose="02010600030101010101" pitchFamily="2" charset="-122"/>
                        <a:cs typeface="宋体" panose="02010600030101010101" pitchFamily="2" charset="-122"/>
                      </a:endParaRPr>
                    </a:p>
                  </a:txBody>
                  <a:tcPr marL="53825" marR="0" marT="0" marB="0">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6350" cap="flat" cmpd="sng" algn="ctr">
                      <a:solidFill>
                        <a:srgbClr val="080000"/>
                      </a:solidFill>
                      <a:prstDash val="solid"/>
                      <a:round/>
                      <a:headEnd type="none" w="med" len="med"/>
                      <a:tailEnd type="none" w="med" len="med"/>
                    </a:lnT>
                    <a:lnB w="635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3" name="矩形 2"/>
          <p:cNvSpPr/>
          <p:nvPr/>
        </p:nvSpPr>
        <p:spPr>
          <a:xfrm>
            <a:off x="1403648" y="5203036"/>
            <a:ext cx="7272808" cy="890693"/>
          </a:xfrm>
          <a:prstGeom prst="rect">
            <a:avLst/>
          </a:prstGeom>
        </p:spPr>
        <p:txBody>
          <a:bodyPr wrap="square">
            <a:spAutoFit/>
          </a:bodyPr>
          <a:lstStyle/>
          <a:p>
            <a:pPr>
              <a:lnSpc>
                <a:spcPct val="150000"/>
              </a:lnSpc>
              <a:buFont typeface="Arial" panose="020B0604020202020204" pitchFamily="34" charset="0"/>
              <a:buChar char="•"/>
            </a:pPr>
            <a:r>
              <a:rPr lang="zh-CN" altLang="en-US" sz="1200" dirty="0">
                <a:solidFill>
                  <a:srgbClr val="333333"/>
                </a:solidFill>
                <a:latin typeface="Microsoft Yahei" panose="020B0503020204020204" pitchFamily="34" charset="-122"/>
                <a:ea typeface="Microsoft Yahei" panose="020B0503020204020204" pitchFamily="34" charset="-122"/>
              </a:rPr>
              <a:t>贪婪匹配：如果符合要求就一直往后匹配，一直到无法匹配为止。</a:t>
            </a:r>
          </a:p>
          <a:p>
            <a:pPr>
              <a:lnSpc>
                <a:spcPct val="150000"/>
              </a:lnSpc>
              <a:buFont typeface="Arial" panose="020B0604020202020204" pitchFamily="34" charset="0"/>
              <a:buChar char="•"/>
            </a:pPr>
            <a:r>
              <a:rPr lang="zh-CN" altLang="en-US" sz="1200" dirty="0">
                <a:solidFill>
                  <a:srgbClr val="333333"/>
                </a:solidFill>
                <a:latin typeface="Microsoft Yahei" panose="020B0503020204020204" pitchFamily="34" charset="-122"/>
                <a:ea typeface="Microsoft Yahei" panose="020B0503020204020204" pitchFamily="34" charset="-122"/>
              </a:rPr>
              <a:t>惰性匹配：一旦匹配到合适的就结束，不在继续匹配下去了。</a:t>
            </a:r>
          </a:p>
          <a:p>
            <a:pPr>
              <a:lnSpc>
                <a:spcPct val="150000"/>
              </a:lnSpc>
              <a:buFont typeface="Arial" panose="020B0604020202020204" pitchFamily="34" charset="0"/>
              <a:buChar char="•"/>
            </a:pPr>
            <a:r>
              <a:rPr lang="zh-CN" altLang="en-US" sz="1200" dirty="0">
                <a:solidFill>
                  <a:srgbClr val="333333"/>
                </a:solidFill>
                <a:latin typeface="Microsoft Yahei" panose="020B0503020204020204" pitchFamily="34" charset="-122"/>
                <a:ea typeface="Microsoft Yahei" panose="020B0503020204020204" pitchFamily="34" charset="-122"/>
              </a:rPr>
              <a:t>支配匹配：只尝试匹配整个字符串。如果整个字符串不匹配，则不做进一步。</a:t>
            </a:r>
            <a:endParaRPr lang="zh-CN" altLang="en-US" sz="1200" b="0" i="0" dirty="0">
              <a:solidFill>
                <a:srgbClr val="333333"/>
              </a:solidFill>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93280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文本占位符 50178"/>
          <p:cNvSpPr>
            <a:spLocks noGrp="1"/>
          </p:cNvSpPr>
          <p:nvPr>
            <p:ph idx="1"/>
          </p:nvPr>
        </p:nvSpPr>
        <p:spPr>
          <a:xfrm>
            <a:off x="683568" y="1443369"/>
            <a:ext cx="7424420" cy="3395345"/>
          </a:xfrm>
        </p:spPr>
        <p:txBody>
          <a:bodyPr anchor="t"/>
          <a:lstStyle/>
          <a:p>
            <a:pPr indent="-263525">
              <a:lnSpc>
                <a:spcPct val="130000"/>
              </a:lnSpc>
              <a:spcBef>
                <a:spcPts val="600"/>
              </a:spcBef>
              <a:buClr>
                <a:srgbClr val="FF0000"/>
              </a:buClr>
              <a:buSzPct val="70000"/>
              <a:buFont typeface="Wingdings" panose="05000000000000000000" charset="0"/>
              <a:buChar char="ü"/>
            </a:pPr>
            <a:r>
              <a:rPr lang="zh-CN" altLang="en-US" sz="1800" b="1" dirty="0">
                <a:latin typeface="Times New Roman" panose="02020603050405020304" pitchFamily="18" charset="0"/>
              </a:rPr>
              <a:t>最简单的正则表达式是普通字符串，可以匹配自身</a:t>
            </a:r>
          </a:p>
          <a:p>
            <a:pPr indent="-263525">
              <a:lnSpc>
                <a:spcPct val="130000"/>
              </a:lnSpc>
              <a:spcBef>
                <a:spcPts val="600"/>
              </a:spcBef>
              <a:buClr>
                <a:srgbClr val="FF0000"/>
              </a:buClr>
              <a:buSzPct val="70000"/>
              <a:buFont typeface="Wingdings" panose="05000000000000000000" charset="0"/>
              <a:buChar char="ü"/>
            </a:pPr>
            <a:r>
              <a:rPr lang="zh-CN" altLang="en-US" sz="1800" b="1" dirty="0">
                <a:latin typeface="Times New Roman" panose="02020603050405020304" pitchFamily="18" charset="0"/>
              </a:rPr>
              <a:t>'[pjc]ython'可以匹配'python'、'jython'、'cython'</a:t>
            </a:r>
          </a:p>
          <a:p>
            <a:pPr indent="-263525">
              <a:lnSpc>
                <a:spcPct val="130000"/>
              </a:lnSpc>
              <a:spcBef>
                <a:spcPts val="600"/>
              </a:spcBef>
              <a:buClr>
                <a:srgbClr val="FF0000"/>
              </a:buClr>
              <a:buSzPct val="70000"/>
              <a:buFont typeface="Wingdings" panose="05000000000000000000" charset="0"/>
              <a:buChar char="ü"/>
            </a:pPr>
            <a:r>
              <a:rPr lang="zh-CN" altLang="en-US" sz="1800" b="1" dirty="0">
                <a:latin typeface="Times New Roman" panose="02020603050405020304" pitchFamily="18" charset="0"/>
              </a:rPr>
              <a:t>'[a-zA-Z0-9]'可以匹配一个任意大小写字母或数字</a:t>
            </a:r>
          </a:p>
          <a:p>
            <a:pPr indent="-263525">
              <a:lnSpc>
                <a:spcPct val="130000"/>
              </a:lnSpc>
              <a:spcBef>
                <a:spcPts val="600"/>
              </a:spcBef>
              <a:buClr>
                <a:srgbClr val="FF0000"/>
              </a:buClr>
              <a:buSzPct val="70000"/>
              <a:buFont typeface="Wingdings" panose="05000000000000000000" charset="0"/>
              <a:buChar char="ü"/>
            </a:pPr>
            <a:r>
              <a:rPr lang="zh-CN" altLang="en-US" sz="1800" b="1" dirty="0">
                <a:latin typeface="Times New Roman" panose="02020603050405020304" pitchFamily="18" charset="0"/>
              </a:rPr>
              <a:t>'[^abc]'可以一个匹配任意除'a'、'b'、'c'之外的字符</a:t>
            </a:r>
          </a:p>
          <a:p>
            <a:pPr indent="-263525">
              <a:lnSpc>
                <a:spcPct val="130000"/>
              </a:lnSpc>
              <a:spcBef>
                <a:spcPts val="600"/>
              </a:spcBef>
              <a:buClr>
                <a:srgbClr val="FF0000"/>
              </a:buClr>
              <a:buSzPct val="70000"/>
              <a:buFont typeface="Wingdings" panose="05000000000000000000" charset="0"/>
              <a:buChar char="ü"/>
            </a:pPr>
            <a:r>
              <a:rPr lang="zh-CN" altLang="en-US" sz="1800" b="1" dirty="0">
                <a:latin typeface="Times New Roman" panose="02020603050405020304" pitchFamily="18" charset="0"/>
              </a:rPr>
              <a:t>'python|perl'或'p(ython|erl)'都可以匹配'python'或'perl'</a:t>
            </a:r>
          </a:p>
          <a:p>
            <a:pPr indent="-263525">
              <a:lnSpc>
                <a:spcPct val="130000"/>
              </a:lnSpc>
              <a:spcBef>
                <a:spcPts val="600"/>
              </a:spcBef>
              <a:buClr>
                <a:srgbClr val="FF0000"/>
              </a:buClr>
              <a:buSzPct val="70000"/>
              <a:buFont typeface="Wingdings" panose="05000000000000000000" charset="0"/>
              <a:buChar char="ü"/>
            </a:pPr>
            <a:r>
              <a:rPr lang="zh-CN" altLang="en-US" sz="1800" b="1" dirty="0">
                <a:latin typeface="Times New Roman" panose="02020603050405020304" pitchFamily="18" charset="0"/>
              </a:rPr>
              <a:t>子模式后面加上问号表示可选。r'(</a:t>
            </a:r>
            <a:r>
              <a:rPr lang="zh-CN" altLang="en-US" sz="1800" b="1" dirty="0">
                <a:latin typeface="Times New Roman" panose="02020603050405020304" pitchFamily="18" charset="0"/>
                <a:hlinkClick r:id="rId3"/>
              </a:rPr>
              <a:t>http://)?(www\.)?python\.org</a:t>
            </a:r>
            <a:r>
              <a:rPr lang="zh-CN" altLang="en-US" sz="1800" b="1" dirty="0">
                <a:latin typeface="Times New Roman" panose="02020603050405020304" pitchFamily="18" charset="0"/>
              </a:rPr>
              <a:t>'</a:t>
            </a:r>
            <a:endParaRPr lang="en-US" altLang="zh-CN" sz="1800" b="1" dirty="0">
              <a:latin typeface="Times New Roman" panose="02020603050405020304" pitchFamily="18" charset="0"/>
            </a:endParaRPr>
          </a:p>
          <a:p>
            <a:pPr marL="765175" lvl="1">
              <a:lnSpc>
                <a:spcPct val="130000"/>
              </a:lnSpc>
              <a:spcBef>
                <a:spcPts val="600"/>
              </a:spcBef>
              <a:buClr>
                <a:srgbClr val="FF0000"/>
              </a:buClr>
              <a:buSzPct val="70000"/>
              <a:buFont typeface="Arial" panose="020B0604020202020204" pitchFamily="34" charset="0"/>
              <a:buChar char="•"/>
            </a:pPr>
            <a:r>
              <a:rPr lang="zh-CN" altLang="en-US" sz="1400" b="1" dirty="0">
                <a:latin typeface="Times New Roman" panose="02020603050405020304" pitchFamily="18" charset="0"/>
              </a:rPr>
              <a:t>只能匹配'http://www.python.org'、'http://python.org'、'www.python.org'和'python.org' </a:t>
            </a:r>
          </a:p>
          <a:p>
            <a:pPr indent="-263525">
              <a:lnSpc>
                <a:spcPct val="130000"/>
              </a:lnSpc>
              <a:spcBef>
                <a:spcPts val="600"/>
              </a:spcBef>
              <a:buClr>
                <a:srgbClr val="FF0000"/>
              </a:buClr>
              <a:buSzPct val="70000"/>
              <a:buFont typeface="Wingdings" panose="05000000000000000000" charset="0"/>
              <a:buChar char="ü"/>
            </a:pPr>
            <a:r>
              <a:rPr lang="zh-CN" altLang="en-US" sz="1800" b="1" dirty="0">
                <a:latin typeface="Times New Roman" panose="02020603050405020304" pitchFamily="18" charset="0"/>
              </a:rPr>
              <a:t>'^http'只能匹配所有以'http'开头的字符串</a:t>
            </a:r>
          </a:p>
          <a:p>
            <a:pPr indent="-263525">
              <a:lnSpc>
                <a:spcPct val="130000"/>
              </a:lnSpc>
              <a:spcBef>
                <a:spcPts val="600"/>
              </a:spcBef>
              <a:buClr>
                <a:srgbClr val="FF0000"/>
              </a:buClr>
              <a:buSzPct val="70000"/>
              <a:buFont typeface="Wingdings" panose="05000000000000000000" charset="0"/>
              <a:buChar char="ü"/>
            </a:pPr>
            <a:r>
              <a:rPr lang="zh-CN" altLang="en-US" sz="1800" b="1" dirty="0">
                <a:latin typeface="Times New Roman" panose="02020603050405020304" pitchFamily="18" charset="0"/>
              </a:rPr>
              <a:t>(pattern)*：允许模式重复0次或多次</a:t>
            </a:r>
          </a:p>
          <a:p>
            <a:pPr indent="-263525">
              <a:lnSpc>
                <a:spcPct val="130000"/>
              </a:lnSpc>
              <a:spcBef>
                <a:spcPts val="600"/>
              </a:spcBef>
              <a:buClr>
                <a:srgbClr val="FF0000"/>
              </a:buClr>
              <a:buSzPct val="70000"/>
              <a:buFont typeface="Wingdings" panose="05000000000000000000" charset="0"/>
              <a:buChar char="ü"/>
            </a:pPr>
            <a:r>
              <a:rPr lang="zh-CN" altLang="en-US" sz="1800" b="1" dirty="0">
                <a:latin typeface="Times New Roman" panose="02020603050405020304" pitchFamily="18" charset="0"/>
              </a:rPr>
              <a:t>(pattern)+：允许模式重复1次或多次</a:t>
            </a:r>
          </a:p>
          <a:p>
            <a:pPr indent="-263525">
              <a:lnSpc>
                <a:spcPct val="130000"/>
              </a:lnSpc>
              <a:spcBef>
                <a:spcPts val="600"/>
              </a:spcBef>
              <a:buClr>
                <a:srgbClr val="FF0000"/>
              </a:buClr>
              <a:buSzPct val="70000"/>
              <a:buFont typeface="Wingdings" panose="05000000000000000000" charset="0"/>
              <a:buChar char="ü"/>
            </a:pPr>
            <a:r>
              <a:rPr lang="zh-CN" altLang="en-US" sz="1800" b="1" dirty="0">
                <a:latin typeface="Times New Roman" panose="02020603050405020304" pitchFamily="18" charset="0"/>
              </a:rPr>
              <a:t>(pattern){m,n}：允许模式重复m~n次</a:t>
            </a:r>
          </a:p>
        </p:txBody>
      </p:sp>
      <p:sp>
        <p:nvSpPr>
          <p:cNvPr id="113667"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57</a:t>
            </a:fld>
            <a:endParaRPr lang="zh-CN" altLang="en-US" sz="1050" dirty="0"/>
          </a:p>
        </p:txBody>
      </p:sp>
      <p:grpSp>
        <p:nvGrpSpPr>
          <p:cNvPr id="6" name="组合 109"/>
          <p:cNvGrpSpPr/>
          <p:nvPr/>
        </p:nvGrpSpPr>
        <p:grpSpPr>
          <a:xfrm>
            <a:off x="489223" y="44624"/>
            <a:ext cx="4514825" cy="684413"/>
            <a:chOff x="956926" y="4567095"/>
            <a:chExt cx="4514825" cy="684413"/>
          </a:xfrm>
        </p:grpSpPr>
        <p:sp>
          <p:nvSpPr>
            <p:cNvPr id="7"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4"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151271" y="4567095"/>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11" name="文本框 10"/>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4.3.1 </a:t>
            </a:r>
            <a:r>
              <a:rPr lang="zh-CN" altLang="en-US" sz="2800" b="1" dirty="0">
                <a:latin typeface="Times New Roman" panose="02020603050405020304" pitchFamily="18" charset="0"/>
                <a:ea typeface="仿宋" panose="02010609060101010101" pitchFamily="49" charset="-122"/>
              </a:rPr>
              <a:t>正则表达式语法</a:t>
            </a:r>
            <a:endParaRPr lang="en-US" altLang="zh-CN" sz="2800" b="1" dirty="0">
              <a:ea typeface="仿宋" panose="02010609060101010101" pitchFamily="49" charset="-122"/>
            </a:endParaRPr>
          </a:p>
        </p:txBody>
      </p:sp>
      <p:sp>
        <p:nvSpPr>
          <p:cNvPr id="2" name="文本框 1"/>
          <p:cNvSpPr txBox="1"/>
          <p:nvPr/>
        </p:nvSpPr>
        <p:spPr>
          <a:xfrm>
            <a:off x="5508104" y="4365104"/>
            <a:ext cx="1385829" cy="369332"/>
          </a:xfrm>
          <a:prstGeom prst="rect">
            <a:avLst/>
          </a:prstGeom>
          <a:noFill/>
        </p:spPr>
        <p:txBody>
          <a:bodyPr wrap="none" rtlCol="0">
            <a:spAutoFit/>
          </a:bodyPr>
          <a:lstStyle/>
          <a:p>
            <a:r>
              <a:rPr lang="en-US" altLang="zh-CN" dirty="0">
                <a:solidFill>
                  <a:srgbClr val="FF0000"/>
                </a:solidFill>
              </a:rPr>
              <a:t>00,01,10,11</a:t>
            </a:r>
            <a:endParaRPr lang="zh-CN" altLang="en-US" dirty="0">
              <a:solidFill>
                <a:srgbClr val="FF0000"/>
              </a:solidFill>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6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366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366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366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366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366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366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366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366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366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366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内容占位符 2"/>
          <p:cNvSpPr>
            <a:spLocks noGrp="1"/>
          </p:cNvSpPr>
          <p:nvPr>
            <p:ph idx="1"/>
          </p:nvPr>
        </p:nvSpPr>
        <p:spPr>
          <a:xfrm>
            <a:off x="680672" y="1484784"/>
            <a:ext cx="7808595" cy="3395345"/>
          </a:xfrm>
        </p:spPr>
        <p:txBody>
          <a:bodyPr anchor="t"/>
          <a:lstStyle/>
          <a:p>
            <a:pPr>
              <a:lnSpc>
                <a:spcPct val="130000"/>
              </a:lnSpc>
              <a:spcBef>
                <a:spcPts val="600"/>
              </a:spcBef>
              <a:buClr>
                <a:srgbClr val="FF0000"/>
              </a:buClr>
              <a:buSzPct val="70000"/>
              <a:buFont typeface="Wingdings" panose="05000000000000000000" charset="0"/>
              <a:buChar char="ü"/>
            </a:pPr>
            <a:r>
              <a:rPr lang="zh-CN" altLang="en-US" sz="1600" b="1" dirty="0">
                <a:latin typeface="Times New Roman" panose="02020603050405020304" pitchFamily="18" charset="0"/>
              </a:rPr>
              <a:t>'(a|b)*c'：匹配多个（包含0个）a或b，后面紧跟一个字母c。</a:t>
            </a:r>
          </a:p>
          <a:p>
            <a:pPr>
              <a:lnSpc>
                <a:spcPct val="130000"/>
              </a:lnSpc>
              <a:spcBef>
                <a:spcPts val="600"/>
              </a:spcBef>
              <a:buClr>
                <a:srgbClr val="FF0000"/>
              </a:buClr>
              <a:buSzPct val="70000"/>
              <a:buFont typeface="Wingdings" panose="05000000000000000000" charset="0"/>
              <a:buChar char="ü"/>
            </a:pPr>
            <a:r>
              <a:rPr lang="zh-CN" altLang="en-US" sz="1600" b="1" dirty="0">
                <a:latin typeface="Times New Roman" panose="02020603050405020304" pitchFamily="18" charset="0"/>
              </a:rPr>
              <a:t>'ab{1,}'：等价于'ab+'，匹配以字母a开头后面带1个至多个字母b的字符串。</a:t>
            </a:r>
          </a:p>
          <a:p>
            <a:pPr>
              <a:lnSpc>
                <a:spcPct val="130000"/>
              </a:lnSpc>
              <a:spcBef>
                <a:spcPts val="600"/>
              </a:spcBef>
              <a:buClr>
                <a:srgbClr val="FF0000"/>
              </a:buClr>
              <a:buSzPct val="70000"/>
              <a:buFont typeface="Wingdings" panose="05000000000000000000" charset="0"/>
              <a:buChar char="ü"/>
            </a:pPr>
            <a:r>
              <a:rPr lang="zh-CN" altLang="en-US" sz="1600" b="1" dirty="0">
                <a:latin typeface="Times New Roman" panose="02020603050405020304" pitchFamily="18" charset="0"/>
              </a:rPr>
              <a:t>'^[a-zA-Z]{1}([a-zA-Z0-9._]){4,19}$'：匹配长度为5-20的字符串，必须以字母开头并且可带字母、数字、“_”、“.”的字符串。</a:t>
            </a:r>
          </a:p>
          <a:p>
            <a:pPr>
              <a:lnSpc>
                <a:spcPct val="130000"/>
              </a:lnSpc>
              <a:spcBef>
                <a:spcPts val="600"/>
              </a:spcBef>
              <a:buClr>
                <a:srgbClr val="FF0000"/>
              </a:buClr>
              <a:buSzPct val="70000"/>
              <a:buFont typeface="Wingdings" panose="05000000000000000000" charset="0"/>
              <a:buChar char="ü"/>
            </a:pPr>
            <a:r>
              <a:rPr lang="zh-CN" altLang="en-US" sz="1600" b="1" dirty="0">
                <a:latin typeface="Times New Roman" panose="02020603050405020304" pitchFamily="18" charset="0"/>
              </a:rPr>
              <a:t>'^(\w){6,20}$'：匹配长度为6-20的字符串，可以包含字母、数字、下划线。</a:t>
            </a:r>
          </a:p>
          <a:p>
            <a:pPr>
              <a:lnSpc>
                <a:spcPct val="130000"/>
              </a:lnSpc>
              <a:spcBef>
                <a:spcPts val="600"/>
              </a:spcBef>
              <a:buClr>
                <a:srgbClr val="FF0000"/>
              </a:buClr>
              <a:buSzPct val="70000"/>
              <a:buFont typeface="Wingdings" panose="05000000000000000000" charset="0"/>
              <a:buChar char="ü"/>
            </a:pPr>
            <a:r>
              <a:rPr lang="zh-CN" altLang="en-US" sz="1600" b="1" dirty="0">
                <a:latin typeface="Times New Roman" panose="02020603050405020304" pitchFamily="18" charset="0"/>
              </a:rPr>
              <a:t>'^\d{1,3}\.\d{1,3}\.\d{1,3}\.\d{1,3}$'：检查给定字符串是否为合法IP地址。</a:t>
            </a:r>
          </a:p>
          <a:p>
            <a:pPr>
              <a:lnSpc>
                <a:spcPct val="130000"/>
              </a:lnSpc>
              <a:spcBef>
                <a:spcPts val="600"/>
              </a:spcBef>
              <a:buClr>
                <a:srgbClr val="FF0000"/>
              </a:buClr>
              <a:buSzPct val="70000"/>
              <a:buFont typeface="Wingdings" panose="05000000000000000000" charset="0"/>
              <a:buChar char="ü"/>
            </a:pPr>
            <a:r>
              <a:rPr lang="zh-CN" altLang="en-US" sz="1600" b="1" dirty="0">
                <a:latin typeface="Times New Roman" panose="02020603050405020304" pitchFamily="18" charset="0"/>
              </a:rPr>
              <a:t>r'^(13[0-9]|15[012356789]|17[678]|18[0-9]|14[57])[0-9]{8}$'：检查给定字符串是否为手机号码。</a:t>
            </a:r>
          </a:p>
          <a:p>
            <a:pPr>
              <a:lnSpc>
                <a:spcPct val="130000"/>
              </a:lnSpc>
              <a:spcBef>
                <a:spcPts val="600"/>
              </a:spcBef>
              <a:buClr>
                <a:srgbClr val="FF0000"/>
              </a:buClr>
              <a:buSzPct val="70000"/>
              <a:buFont typeface="Wingdings" panose="05000000000000000000" charset="0"/>
              <a:buChar char="ü"/>
            </a:pPr>
            <a:r>
              <a:rPr lang="zh-CN" altLang="en-US" sz="1600" b="1" dirty="0">
                <a:latin typeface="Times New Roman" panose="02020603050405020304" pitchFamily="18" charset="0"/>
              </a:rPr>
              <a:t>'^[a-zA-Z]+$'：检查给定字符串是否只包含英文字母大小写。</a:t>
            </a:r>
          </a:p>
          <a:p>
            <a:pPr>
              <a:lnSpc>
                <a:spcPct val="130000"/>
              </a:lnSpc>
              <a:spcBef>
                <a:spcPts val="600"/>
              </a:spcBef>
              <a:buClr>
                <a:srgbClr val="FF0000"/>
              </a:buClr>
              <a:buSzPct val="70000"/>
              <a:buFont typeface="Wingdings" panose="05000000000000000000" charset="0"/>
              <a:buChar char="ü"/>
            </a:pPr>
            <a:r>
              <a:rPr lang="zh-CN" altLang="en-US" sz="1600" b="1" dirty="0">
                <a:latin typeface="Times New Roman" panose="02020603050405020304" pitchFamily="18" charset="0"/>
              </a:rPr>
              <a:t>'^\w+@(\w+\.)+\w+$'：检查给定字符串是否为合法电子邮件地址</a:t>
            </a:r>
            <a:r>
              <a:rPr lang="zh-CN" altLang="en-US" sz="1600" b="1" dirty="0" smtClean="0">
                <a:latin typeface="Times New Roman" panose="02020603050405020304" pitchFamily="18" charset="0"/>
              </a:rPr>
              <a:t>。</a:t>
            </a:r>
            <a:endParaRPr lang="zh-CN" altLang="en-US" sz="1600" b="1" dirty="0">
              <a:latin typeface="Times New Roman" panose="02020603050405020304" pitchFamily="18" charset="0"/>
            </a:endParaRPr>
          </a:p>
        </p:txBody>
      </p:sp>
      <p:sp>
        <p:nvSpPr>
          <p:cNvPr id="114691"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58</a:t>
            </a:fld>
            <a:endParaRPr lang="zh-CN" altLang="en-US" sz="1050" dirty="0"/>
          </a:p>
        </p:txBody>
      </p:sp>
      <p:grpSp>
        <p:nvGrpSpPr>
          <p:cNvPr id="6" name="组合 109"/>
          <p:cNvGrpSpPr/>
          <p:nvPr/>
        </p:nvGrpSpPr>
        <p:grpSpPr>
          <a:xfrm>
            <a:off x="489223" y="44624"/>
            <a:ext cx="4514825" cy="684413"/>
            <a:chOff x="956926" y="4567095"/>
            <a:chExt cx="4514825" cy="684413"/>
          </a:xfrm>
        </p:grpSpPr>
        <p:sp>
          <p:nvSpPr>
            <p:cNvPr id="7"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151271" y="4567095"/>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11" name="文本框 10"/>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4.3.1 </a:t>
            </a:r>
            <a:r>
              <a:rPr lang="zh-CN" altLang="en-US" sz="2800" b="1" dirty="0">
                <a:latin typeface="Times New Roman" panose="02020603050405020304" pitchFamily="18" charset="0"/>
                <a:ea typeface="仿宋" panose="02010609060101010101" pitchFamily="49" charset="-122"/>
              </a:rPr>
              <a:t>正则表达式语法</a:t>
            </a:r>
            <a:endParaRPr lang="en-US" altLang="zh-CN" sz="2800" b="1" dirty="0">
              <a:ea typeface="仿宋" panose="02010609060101010101" pitchFamily="49" charset="-122"/>
            </a:endParaRPr>
          </a:p>
        </p:txBody>
      </p:sp>
      <p:sp>
        <p:nvSpPr>
          <p:cNvPr id="2" name="文本框 1"/>
          <p:cNvSpPr txBox="1"/>
          <p:nvPr/>
        </p:nvSpPr>
        <p:spPr>
          <a:xfrm>
            <a:off x="611560" y="5805264"/>
            <a:ext cx="7540077" cy="646331"/>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pPr algn="l" latinLnBrk="1"/>
            <a:r>
              <a:rPr lang="zh-CN" altLang="en-US" b="0" i="0" dirty="0">
                <a:solidFill>
                  <a:schemeClr val="tx1"/>
                </a:solidFill>
                <a:effectLst/>
                <a:latin typeface="黑体" panose="02010609060101010101" pitchFamily="49" charset="-122"/>
                <a:ea typeface="黑体" panose="02010609060101010101" pitchFamily="49" charset="-122"/>
              </a:rPr>
              <a:t>由于正则表达式通常都包含反斜杠，</a:t>
            </a:r>
            <a:r>
              <a:rPr lang="zh-CN" altLang="en-US" b="0" i="0" dirty="0" smtClean="0">
                <a:solidFill>
                  <a:schemeClr val="tx1"/>
                </a:solidFill>
                <a:effectLst/>
                <a:latin typeface="黑体" panose="02010609060101010101" pitchFamily="49" charset="-122"/>
                <a:ea typeface="黑体" panose="02010609060101010101" pitchFamily="49" charset="-122"/>
              </a:rPr>
              <a:t>所以最好</a:t>
            </a:r>
            <a:r>
              <a:rPr lang="zh-CN" altLang="en-US" b="0" i="0" dirty="0">
                <a:solidFill>
                  <a:schemeClr val="tx1"/>
                </a:solidFill>
                <a:effectLst/>
                <a:latin typeface="黑体" panose="02010609060101010101" pitchFamily="49" charset="-122"/>
                <a:ea typeface="黑体" panose="02010609060101010101" pitchFamily="49" charset="-122"/>
              </a:rPr>
              <a:t>使用</a:t>
            </a:r>
            <a:r>
              <a:rPr lang="zh-CN" altLang="en-US" b="0" i="0" dirty="0">
                <a:solidFill>
                  <a:srgbClr val="FF0000"/>
                </a:solidFill>
                <a:effectLst/>
                <a:latin typeface="黑体" panose="02010609060101010101" pitchFamily="49" charset="-122"/>
                <a:ea typeface="黑体" panose="02010609060101010101" pitchFamily="49" charset="-122"/>
              </a:rPr>
              <a:t>原始字符串</a:t>
            </a:r>
            <a:r>
              <a:rPr lang="zh-CN" altLang="en-US" b="0" i="0" dirty="0">
                <a:solidFill>
                  <a:schemeClr val="tx1"/>
                </a:solidFill>
                <a:effectLst/>
                <a:latin typeface="黑体" panose="02010609060101010101" pitchFamily="49" charset="-122"/>
                <a:ea typeface="黑体" panose="02010609060101010101" pitchFamily="49" charset="-122"/>
              </a:rPr>
              <a:t>来表示它们。</a:t>
            </a:r>
            <a:endParaRPr lang="en-US" altLang="zh-CN" b="0" i="0" dirty="0">
              <a:solidFill>
                <a:schemeClr val="tx1"/>
              </a:solidFill>
              <a:effectLst/>
              <a:latin typeface="黑体" panose="02010609060101010101" pitchFamily="49" charset="-122"/>
              <a:ea typeface="黑体" panose="02010609060101010101" pitchFamily="49" charset="-122"/>
            </a:endParaRPr>
          </a:p>
          <a:p>
            <a:pPr algn="l" latinLnBrk="1"/>
            <a:r>
              <a:rPr lang="zh-CN" altLang="en-US" b="0" i="0" dirty="0">
                <a:solidFill>
                  <a:schemeClr val="tx1"/>
                </a:solidFill>
                <a:effectLst/>
                <a:latin typeface="黑体" panose="02010609060101010101" pitchFamily="49" charset="-122"/>
                <a:ea typeface="黑体" panose="02010609060101010101" pitchFamily="49" charset="-122"/>
              </a:rPr>
              <a:t>模式元素</a:t>
            </a:r>
            <a:r>
              <a:rPr lang="en-US" altLang="zh-CN" b="0" i="0" dirty="0">
                <a:solidFill>
                  <a:schemeClr val="tx1"/>
                </a:solidFill>
                <a:effectLst/>
                <a:latin typeface="黑体" panose="02010609060101010101" pitchFamily="49" charset="-122"/>
                <a:ea typeface="黑体" panose="02010609060101010101" pitchFamily="49" charset="-122"/>
              </a:rPr>
              <a:t>(</a:t>
            </a:r>
            <a:r>
              <a:rPr lang="zh-CN" altLang="en-US" b="0" i="0" dirty="0">
                <a:solidFill>
                  <a:schemeClr val="tx1"/>
                </a:solidFill>
                <a:effectLst/>
                <a:latin typeface="黑体" panose="02010609060101010101" pitchFamily="49" charset="-122"/>
                <a:ea typeface="黑体" panose="02010609060101010101" pitchFamily="49" charset="-122"/>
              </a:rPr>
              <a:t>如 </a:t>
            </a:r>
            <a:r>
              <a:rPr lang="en-US" altLang="zh-CN" b="1" i="0" dirty="0">
                <a:solidFill>
                  <a:schemeClr val="tx1"/>
                </a:solidFill>
                <a:effectLst/>
                <a:latin typeface="黑体" panose="02010609060101010101" pitchFamily="49" charset="-122"/>
                <a:ea typeface="黑体" panose="02010609060101010101" pitchFamily="49" charset="-122"/>
              </a:rPr>
              <a:t>r'\t'</a:t>
            </a:r>
            <a:r>
              <a:rPr lang="zh-CN" altLang="en-US" b="0" i="0" dirty="0">
                <a:solidFill>
                  <a:schemeClr val="tx1"/>
                </a:solidFill>
                <a:effectLst/>
                <a:latin typeface="黑体" panose="02010609060101010101" pitchFamily="49" charset="-122"/>
                <a:ea typeface="黑体" panose="02010609060101010101" pitchFamily="49" charset="-122"/>
              </a:rPr>
              <a:t>，等价于 </a:t>
            </a:r>
            <a:r>
              <a:rPr lang="en-US" altLang="zh-CN" b="1" i="0" dirty="0">
                <a:solidFill>
                  <a:schemeClr val="tx1"/>
                </a:solidFill>
                <a:effectLst/>
                <a:latin typeface="黑体" panose="02010609060101010101" pitchFamily="49" charset="-122"/>
                <a:ea typeface="黑体" panose="02010609060101010101" pitchFamily="49" charset="-122"/>
              </a:rPr>
              <a:t>\\t</a:t>
            </a:r>
            <a:r>
              <a:rPr lang="zh-CN" altLang="en-US" b="0" i="0" dirty="0">
                <a:solidFill>
                  <a:schemeClr val="tx1"/>
                </a:solidFill>
                <a:effectLst/>
                <a:latin typeface="黑体" panose="02010609060101010101" pitchFamily="49" charset="-122"/>
                <a:ea typeface="黑体" panose="02010609060101010101" pitchFamily="49" charset="-122"/>
              </a:rPr>
              <a:t> </a:t>
            </a:r>
            <a:r>
              <a:rPr lang="en-US" altLang="zh-CN" b="0" i="0" dirty="0">
                <a:solidFill>
                  <a:schemeClr val="tx1"/>
                </a:solidFill>
                <a:effectLst/>
                <a:latin typeface="黑体" panose="02010609060101010101" pitchFamily="49" charset="-122"/>
                <a:ea typeface="黑体" panose="02010609060101010101" pitchFamily="49" charset="-122"/>
              </a:rPr>
              <a:t>)</a:t>
            </a:r>
            <a:r>
              <a:rPr lang="zh-CN" altLang="en-US" b="0" i="0" dirty="0">
                <a:solidFill>
                  <a:schemeClr val="tx1"/>
                </a:solidFill>
                <a:effectLst/>
                <a:latin typeface="黑体" panose="02010609060101010101" pitchFamily="49" charset="-122"/>
                <a:ea typeface="黑体" panose="02010609060101010101" pitchFamily="49" charset="-122"/>
              </a:rPr>
              <a:t>匹配相应的特殊字符。</a:t>
            </a:r>
            <a:endParaRPr lang="zh-CN" altLang="en-US"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6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469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469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469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469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469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469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469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nvPr>
        </p:nvGraphicFramePr>
        <p:xfrm>
          <a:off x="539552" y="1424319"/>
          <a:ext cx="8424936" cy="5410042"/>
        </p:xfrm>
        <a:graphic>
          <a:graphicData uri="http://schemas.openxmlformats.org/drawingml/2006/table">
            <a:tbl>
              <a:tblPr firstRow="1" bandRow="1">
                <a:tableStyleId>{5940675A-B579-460E-94D1-54222C63F5DA}</a:tableStyleId>
              </a:tblPr>
              <a:tblGrid>
                <a:gridCol w="2838784">
                  <a:extLst>
                    <a:ext uri="{9D8B030D-6E8A-4147-A177-3AD203B41FA5}">
                      <a16:colId xmlns:a16="http://schemas.microsoft.com/office/drawing/2014/main" val="20000"/>
                    </a:ext>
                  </a:extLst>
                </a:gridCol>
                <a:gridCol w="5586152">
                  <a:extLst>
                    <a:ext uri="{9D8B030D-6E8A-4147-A177-3AD203B41FA5}">
                      <a16:colId xmlns:a16="http://schemas.microsoft.com/office/drawing/2014/main" val="20001"/>
                    </a:ext>
                  </a:extLst>
                </a:gridCol>
              </a:tblGrid>
              <a:tr h="228592">
                <a:tc>
                  <a:txBody>
                    <a:bodyPr/>
                    <a:lstStyle/>
                    <a:p>
                      <a:pPr marL="0" indent="0" algn="ctr">
                        <a:buNone/>
                      </a:pPr>
                      <a:r>
                        <a:rPr lang="zh-CN" altLang="en-US" sz="1400" b="1" u="none" dirty="0">
                          <a:solidFill>
                            <a:srgbClr val="0000FF"/>
                          </a:solidFill>
                          <a:latin typeface="宋体" panose="02010600030101010101" pitchFamily="2" charset="-122"/>
                          <a:ea typeface="宋体" panose="02010600030101010101" pitchFamily="2" charset="-122"/>
                          <a:cs typeface="宋体" panose="02010600030101010101" pitchFamily="2" charset="-122"/>
                        </a:rPr>
                        <a:t>方法</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dirty="0">
                          <a:solidFill>
                            <a:srgbClr val="0000FF"/>
                          </a:solidFill>
                          <a:latin typeface="宋体" panose="02010600030101010101" pitchFamily="2" charset="-122"/>
                          <a:ea typeface="宋体" panose="02010600030101010101" pitchFamily="2" charset="-122"/>
                          <a:cs typeface="宋体" panose="02010600030101010101" pitchFamily="2" charset="-122"/>
                        </a:rPr>
                        <a:t>功能说明</a:t>
                      </a: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8592">
                <a:tc>
                  <a:txBody>
                    <a:bodyPr/>
                    <a:lstStyle/>
                    <a:p>
                      <a:pPr marL="0" indent="0" algn="l">
                        <a:buNone/>
                      </a:pPr>
                      <a:r>
                        <a:rPr lang="en-US" altLang="zh-CN" sz="1400" b="0" u="none">
                          <a:latin typeface="Times New Roman" panose="02020603050405020304" pitchFamily="18" charset="0"/>
                          <a:ea typeface="宋体" panose="02010600030101010101" pitchFamily="2" charset="-122"/>
                          <a:cs typeface="宋体" panose="02010600030101010101" pitchFamily="2" charset="-122"/>
                        </a:rPr>
                        <a:t>compile(pattern[, flags])</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dirty="0">
                          <a:latin typeface="宋体" panose="02010600030101010101" pitchFamily="2" charset="-122"/>
                          <a:ea typeface="宋体" panose="02010600030101010101" pitchFamily="2" charset="-122"/>
                          <a:cs typeface="宋体" panose="02010600030101010101" pitchFamily="2" charset="-122"/>
                        </a:rPr>
                        <a:t>创建模式对象。</a:t>
                      </a:r>
                      <a:r>
                        <a:rPr lang="zh-CN" altLang="en-US" sz="1400" b="0" u="none" kern="1200" dirty="0">
                          <a:solidFill>
                            <a:schemeClr val="tx1"/>
                          </a:solidFill>
                          <a:latin typeface="宋体" panose="02010600030101010101" pitchFamily="2" charset="-122"/>
                          <a:ea typeface="宋体" panose="02010600030101010101" pitchFamily="2" charset="-122"/>
                          <a:cs typeface="+mn-cs"/>
                        </a:rPr>
                        <a:t>函数用于编译正则表达式，生成一个正则表达式（ </a:t>
                      </a:r>
                      <a:r>
                        <a:rPr lang="en-US" altLang="zh-CN" sz="1400" b="0" u="none" kern="1200" dirty="0">
                          <a:solidFill>
                            <a:schemeClr val="tx1"/>
                          </a:solidFill>
                          <a:latin typeface="宋体" panose="02010600030101010101" pitchFamily="2" charset="-122"/>
                          <a:ea typeface="宋体" panose="02010600030101010101" pitchFamily="2" charset="-122"/>
                          <a:cs typeface="+mn-cs"/>
                        </a:rPr>
                        <a:t>Pattern </a:t>
                      </a:r>
                      <a:r>
                        <a:rPr lang="zh-CN" altLang="en-US" sz="1400" b="0" u="none" kern="1200" dirty="0">
                          <a:solidFill>
                            <a:schemeClr val="tx1"/>
                          </a:solidFill>
                          <a:latin typeface="宋体" panose="02010600030101010101" pitchFamily="2" charset="-122"/>
                          <a:ea typeface="宋体" panose="02010600030101010101" pitchFamily="2" charset="-122"/>
                          <a:cs typeface="+mn-cs"/>
                        </a:rPr>
                        <a:t>）对象，供 </a:t>
                      </a:r>
                      <a:r>
                        <a:rPr lang="en-US" altLang="zh-CN" sz="1400" b="0" u="none" kern="1200" dirty="0">
                          <a:solidFill>
                            <a:schemeClr val="tx1"/>
                          </a:solidFill>
                          <a:latin typeface="宋体" panose="02010600030101010101" pitchFamily="2" charset="-122"/>
                          <a:ea typeface="宋体" panose="02010600030101010101" pitchFamily="2" charset="-122"/>
                          <a:cs typeface="+mn-cs"/>
                        </a:rPr>
                        <a:t>match() </a:t>
                      </a:r>
                      <a:r>
                        <a:rPr lang="zh-CN" altLang="en-US" sz="1400" b="0" u="none" kern="1200" dirty="0">
                          <a:solidFill>
                            <a:schemeClr val="tx1"/>
                          </a:solidFill>
                          <a:latin typeface="宋体" panose="02010600030101010101" pitchFamily="2" charset="-122"/>
                          <a:ea typeface="宋体" panose="02010600030101010101" pitchFamily="2" charset="-122"/>
                          <a:cs typeface="+mn-cs"/>
                        </a:rPr>
                        <a:t>和 </a:t>
                      </a:r>
                      <a:r>
                        <a:rPr lang="en-US" altLang="zh-CN" sz="1400" b="0" u="none" kern="1200" dirty="0">
                          <a:solidFill>
                            <a:schemeClr val="tx1"/>
                          </a:solidFill>
                          <a:latin typeface="宋体" panose="02010600030101010101" pitchFamily="2" charset="-122"/>
                          <a:ea typeface="宋体" panose="02010600030101010101" pitchFamily="2" charset="-122"/>
                          <a:cs typeface="+mn-cs"/>
                        </a:rPr>
                        <a:t>search() </a:t>
                      </a:r>
                      <a:r>
                        <a:rPr lang="zh-CN" altLang="en-US" sz="1400" b="0" u="none" kern="1200" dirty="0">
                          <a:solidFill>
                            <a:schemeClr val="tx1"/>
                          </a:solidFill>
                          <a:latin typeface="宋体" panose="02010600030101010101" pitchFamily="2" charset="-122"/>
                          <a:ea typeface="宋体" panose="02010600030101010101" pitchFamily="2" charset="-122"/>
                          <a:cs typeface="+mn-cs"/>
                        </a:rPr>
                        <a:t>这两个函数使用。</a:t>
                      </a:r>
                      <a:endParaRPr lang="zh-CN" altLang="en-US" sz="1400" b="0" u="none" kern="1200" dirty="0">
                        <a:solidFill>
                          <a:schemeClr val="tx1"/>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592">
                <a:tc>
                  <a:txBody>
                    <a:bodyPr/>
                    <a:lstStyle/>
                    <a:p>
                      <a:pPr marL="0" indent="0" algn="l">
                        <a:buNone/>
                      </a:pPr>
                      <a:r>
                        <a:rPr lang="en-US" altLang="zh-CN" sz="1400" b="0" u="none">
                          <a:latin typeface="Times New Roman" panose="02020603050405020304" pitchFamily="18" charset="0"/>
                          <a:ea typeface="宋体" panose="02010600030101010101" pitchFamily="2" charset="-122"/>
                          <a:cs typeface="宋体" panose="02010600030101010101" pitchFamily="2" charset="-122"/>
                        </a:rPr>
                        <a:t>escape(string)</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将字符串中所有特殊正则表达式字符转义</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183">
                <a:tc>
                  <a:txBody>
                    <a:bodyPr/>
                    <a:lstStyle/>
                    <a:p>
                      <a:pPr marL="0" indent="0" algn="l">
                        <a:buNone/>
                      </a:pPr>
                      <a:r>
                        <a:rPr lang="en-US" altLang="zh-CN" sz="1400" b="0" u="none" dirty="0" err="1">
                          <a:latin typeface="Times New Roman" panose="02020603050405020304" pitchFamily="18" charset="0"/>
                          <a:ea typeface="宋体" panose="02010600030101010101" pitchFamily="2" charset="-122"/>
                          <a:cs typeface="宋体" panose="02010600030101010101" pitchFamily="2" charset="-122"/>
                        </a:rPr>
                        <a:t>findall</a:t>
                      </a:r>
                      <a:r>
                        <a:rPr lang="en-US" altLang="zh-CN" sz="1400" b="0" u="none" dirty="0">
                          <a:latin typeface="Times New Roman" panose="02020603050405020304" pitchFamily="18" charset="0"/>
                          <a:ea typeface="宋体" panose="02010600030101010101" pitchFamily="2" charset="-122"/>
                          <a:cs typeface="宋体" panose="02010600030101010101" pitchFamily="2" charset="-122"/>
                        </a:rPr>
                        <a:t>(pattern, string[, flags])</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dirty="0">
                          <a:latin typeface="宋体" panose="02010600030101010101" pitchFamily="2" charset="-122"/>
                          <a:ea typeface="宋体" panose="02010600030101010101" pitchFamily="2" charset="-122"/>
                          <a:cs typeface="宋体" panose="02010600030101010101" pitchFamily="2" charset="-122"/>
                        </a:rPr>
                        <a:t>返回包含字符串中所有与给定模式匹配的项的</a:t>
                      </a:r>
                      <a:r>
                        <a:rPr lang="zh-CN" altLang="en-US"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列表</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183">
                <a:tc>
                  <a:txBody>
                    <a:bodyPr/>
                    <a:lstStyle/>
                    <a:p>
                      <a:pPr marL="0" indent="0" algn="l">
                        <a:buNone/>
                      </a:pPr>
                      <a:r>
                        <a:rPr lang="en-US" altLang="zh-CN" sz="1400" b="0" u="none" dirty="0" err="1">
                          <a:solidFill>
                            <a:srgbClr val="0000FF"/>
                          </a:solidFill>
                          <a:latin typeface="Times New Roman" panose="02020603050405020304" pitchFamily="18" charset="0"/>
                          <a:ea typeface="宋体" panose="02010600030101010101" pitchFamily="2" charset="-122"/>
                          <a:cs typeface="宋体" panose="02010600030101010101" pitchFamily="2" charset="-122"/>
                        </a:rPr>
                        <a:t>finditer</a:t>
                      </a:r>
                      <a:r>
                        <a:rPr lang="en-US" altLang="zh-CN" sz="1400" b="0" u="none" dirty="0">
                          <a:latin typeface="Times New Roman" panose="02020603050405020304" pitchFamily="18" charset="0"/>
                          <a:ea typeface="宋体" panose="02010600030101010101" pitchFamily="2" charset="-122"/>
                          <a:cs typeface="宋体" panose="02010600030101010101" pitchFamily="2" charset="-122"/>
                        </a:rPr>
                        <a:t>(pattern, string, flags=0)</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dirty="0">
                          <a:latin typeface="宋体" panose="02010600030101010101" pitchFamily="2" charset="-122"/>
                          <a:ea typeface="宋体" panose="02010600030101010101" pitchFamily="2" charset="-122"/>
                          <a:cs typeface="宋体" panose="02010600030101010101" pitchFamily="2" charset="-122"/>
                        </a:rPr>
                        <a:t>返回包含所有匹配项的</a:t>
                      </a:r>
                      <a:r>
                        <a:rPr lang="zh-CN" altLang="en-US"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迭代对象</a:t>
                      </a:r>
                      <a:r>
                        <a:rPr lang="zh-CN" altLang="en-US" sz="1400" b="0" u="none" dirty="0">
                          <a:latin typeface="宋体" panose="02010600030101010101" pitchFamily="2" charset="-122"/>
                          <a:ea typeface="宋体" panose="02010600030101010101" pitchFamily="2" charset="-122"/>
                          <a:cs typeface="宋体" panose="02010600030101010101" pitchFamily="2" charset="-122"/>
                        </a:rPr>
                        <a:t>，其中每个匹配项都是</a:t>
                      </a:r>
                      <a:r>
                        <a:rPr lang="en-US" altLang="zh-CN" sz="1400" b="0" u="none" dirty="0">
                          <a:latin typeface="宋体" panose="02010600030101010101" pitchFamily="2" charset="-122"/>
                          <a:ea typeface="宋体" panose="02010600030101010101" pitchFamily="2" charset="-122"/>
                          <a:cs typeface="宋体" panose="02010600030101010101" pitchFamily="2" charset="-122"/>
                        </a:rPr>
                        <a:t>match</a:t>
                      </a:r>
                      <a:r>
                        <a:rPr lang="zh-CN" altLang="en-US" sz="1400" b="0" u="none" dirty="0">
                          <a:latin typeface="宋体" panose="02010600030101010101" pitchFamily="2" charset="-122"/>
                          <a:ea typeface="宋体" panose="02010600030101010101" pitchFamily="2" charset="-122"/>
                          <a:cs typeface="宋体" panose="02010600030101010101" pitchFamily="2" charset="-122"/>
                        </a:rPr>
                        <a:t>对象</a:t>
                      </a:r>
                      <a:endParaRPr lang="en-US" sz="1400" b="0" u="none" dirty="0">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183">
                <a:tc>
                  <a:txBody>
                    <a:bodyPr/>
                    <a:lstStyle/>
                    <a:p>
                      <a:pPr marL="0" indent="0" algn="l">
                        <a:buNone/>
                      </a:pPr>
                      <a:r>
                        <a:rPr lang="en-US" altLang="zh-CN" sz="1400" b="0" u="none">
                          <a:latin typeface="Times New Roman" panose="02020603050405020304" pitchFamily="18" charset="0"/>
                          <a:ea typeface="宋体" panose="02010600030101010101" pitchFamily="2" charset="-122"/>
                          <a:cs typeface="宋体" panose="02010600030101010101" pitchFamily="2" charset="-122"/>
                        </a:rPr>
                        <a:t>fullmatch(pattern, string, flags=0)</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dirty="0">
                          <a:latin typeface="宋体" panose="02010600030101010101" pitchFamily="2" charset="-122"/>
                          <a:ea typeface="宋体" panose="02010600030101010101" pitchFamily="2" charset="-122"/>
                          <a:cs typeface="宋体" panose="02010600030101010101" pitchFamily="2" charset="-122"/>
                        </a:rPr>
                        <a:t>尝试把模式作用于整个字符串，</a:t>
                      </a:r>
                      <a:r>
                        <a:rPr lang="zh-CN" altLang="en-US"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返回</a:t>
                      </a:r>
                      <a:r>
                        <a:rPr lang="en-US" altLang="zh-CN"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match</a:t>
                      </a:r>
                      <a:r>
                        <a:rPr lang="zh-CN" altLang="en-US"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对象或</a:t>
                      </a:r>
                      <a:r>
                        <a:rPr lang="en-US" altLang="zh-CN"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None</a:t>
                      </a:r>
                      <a:endParaRPr lang="en-US" sz="1400" b="0" u="none"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8592">
                <a:tc>
                  <a:txBody>
                    <a:bodyPr/>
                    <a:lstStyle/>
                    <a:p>
                      <a:pPr marL="0" indent="0" algn="l">
                        <a:buNone/>
                      </a:pPr>
                      <a:r>
                        <a:rPr lang="en-US" altLang="zh-CN" sz="1400" b="0" u="none">
                          <a:latin typeface="Times New Roman" panose="02020603050405020304" pitchFamily="18" charset="0"/>
                          <a:ea typeface="宋体" panose="02010600030101010101" pitchFamily="2" charset="-122"/>
                          <a:cs typeface="宋体" panose="02010600030101010101" pitchFamily="2" charset="-122"/>
                        </a:rPr>
                        <a:t>match(pattern, string[, flags])</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dirty="0">
                          <a:latin typeface="宋体" panose="02010600030101010101" pitchFamily="2" charset="-122"/>
                          <a:ea typeface="宋体" panose="02010600030101010101" pitchFamily="2" charset="-122"/>
                          <a:cs typeface="宋体" panose="02010600030101010101" pitchFamily="2" charset="-122"/>
                        </a:rPr>
                        <a:t>从字符串的</a:t>
                      </a:r>
                      <a:r>
                        <a:rPr lang="zh-CN" altLang="en-US"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开始处</a:t>
                      </a:r>
                      <a:r>
                        <a:rPr lang="zh-CN" altLang="en-US" sz="1400" b="0" u="none" dirty="0">
                          <a:latin typeface="宋体" panose="02010600030101010101" pitchFamily="2" charset="-122"/>
                          <a:ea typeface="宋体" panose="02010600030101010101" pitchFamily="2" charset="-122"/>
                          <a:cs typeface="宋体" panose="02010600030101010101" pitchFamily="2" charset="-122"/>
                        </a:rPr>
                        <a:t>匹配模式，</a:t>
                      </a:r>
                      <a:r>
                        <a:rPr lang="zh-CN" altLang="en-US"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返回</a:t>
                      </a:r>
                      <a:r>
                        <a:rPr lang="en-US" altLang="zh-CN"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match</a:t>
                      </a:r>
                      <a:r>
                        <a:rPr lang="zh-CN" altLang="en-US"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对象或</a:t>
                      </a:r>
                      <a:r>
                        <a:rPr lang="en-US" altLang="zh-CN"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None</a:t>
                      </a:r>
                      <a:endParaRPr lang="en-US" sz="1400" b="0" u="none"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28592">
                <a:tc>
                  <a:txBody>
                    <a:bodyPr/>
                    <a:lstStyle/>
                    <a:p>
                      <a:pPr marL="0" indent="0" algn="l">
                        <a:buNone/>
                      </a:pPr>
                      <a:r>
                        <a:rPr lang="en-US" altLang="zh-CN" sz="1400" b="0" u="none">
                          <a:latin typeface="Times New Roman" panose="02020603050405020304" pitchFamily="18" charset="0"/>
                          <a:ea typeface="宋体" panose="02010600030101010101" pitchFamily="2" charset="-122"/>
                          <a:cs typeface="宋体" panose="02010600030101010101" pitchFamily="2" charset="-122"/>
                        </a:rPr>
                        <a:t>purge()</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dirty="0">
                          <a:latin typeface="宋体" panose="02010600030101010101" pitchFamily="2" charset="-122"/>
                          <a:ea typeface="宋体" panose="02010600030101010101" pitchFamily="2" charset="-122"/>
                          <a:cs typeface="宋体" panose="02010600030101010101" pitchFamily="2" charset="-122"/>
                        </a:rPr>
                        <a:t>清空正则表达式缓存</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7183">
                <a:tc>
                  <a:txBody>
                    <a:bodyPr/>
                    <a:lstStyle/>
                    <a:p>
                      <a:pPr marL="0" indent="0" algn="l">
                        <a:buNone/>
                      </a:pPr>
                      <a:r>
                        <a:rPr lang="en-US" altLang="zh-CN" sz="1400" b="0" u="none">
                          <a:latin typeface="Times New Roman" panose="02020603050405020304" pitchFamily="18" charset="0"/>
                          <a:ea typeface="宋体" panose="02010600030101010101" pitchFamily="2" charset="-122"/>
                          <a:cs typeface="宋体" panose="02010600030101010101" pitchFamily="2" charset="-122"/>
                        </a:rPr>
                        <a:t>search(pattern, string[, flags])</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dirty="0">
                          <a:latin typeface="宋体" panose="02010600030101010101" pitchFamily="2" charset="-122"/>
                          <a:ea typeface="宋体" panose="02010600030101010101" pitchFamily="2" charset="-122"/>
                          <a:cs typeface="宋体" panose="02010600030101010101" pitchFamily="2" charset="-122"/>
                        </a:rPr>
                        <a:t>在</a:t>
                      </a:r>
                      <a:r>
                        <a:rPr lang="zh-CN" altLang="en-US"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整个字符串</a:t>
                      </a:r>
                      <a:r>
                        <a:rPr lang="zh-CN" altLang="en-US" sz="1400" b="0" u="none" dirty="0">
                          <a:latin typeface="宋体" panose="02010600030101010101" pitchFamily="2" charset="-122"/>
                          <a:ea typeface="宋体" panose="02010600030101010101" pitchFamily="2" charset="-122"/>
                          <a:cs typeface="宋体" panose="02010600030101010101" pitchFamily="2" charset="-122"/>
                        </a:rPr>
                        <a:t>中寻找模式，</a:t>
                      </a:r>
                      <a:r>
                        <a:rPr lang="zh-CN" altLang="en-US"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返回</a:t>
                      </a:r>
                      <a:r>
                        <a:rPr lang="en-US" altLang="zh-CN"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match</a:t>
                      </a:r>
                      <a:r>
                        <a:rPr lang="zh-CN" altLang="en-US"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对象或</a:t>
                      </a:r>
                      <a:r>
                        <a:rPr lang="en-US" altLang="zh-CN"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None</a:t>
                      </a:r>
                    </a:p>
                    <a:p>
                      <a:pPr marL="0" indent="0" algn="l">
                        <a:buNone/>
                      </a:pPr>
                      <a:r>
                        <a:rPr lang="zh-CN" altLang="en-US" sz="1400" b="0" i="0" kern="1200" dirty="0">
                          <a:solidFill>
                            <a:srgbClr val="00B050"/>
                          </a:solidFill>
                          <a:effectLst/>
                          <a:latin typeface="+mn-lt"/>
                          <a:ea typeface="+mn-ea"/>
                          <a:cs typeface="+mn-cs"/>
                        </a:rPr>
                        <a:t>扫描整个字符串并返回第一个成功的匹配</a:t>
                      </a:r>
                      <a:endParaRPr lang="en-US" sz="1400" b="0" u="none" dirty="0">
                        <a:solidFill>
                          <a:srgbClr val="00B05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57183">
                <a:tc>
                  <a:txBody>
                    <a:bodyPr/>
                    <a:lstStyle/>
                    <a:p>
                      <a:pPr marL="0" indent="0" algn="l">
                        <a:buNone/>
                      </a:pPr>
                      <a:r>
                        <a:rPr lang="en-US" altLang="zh-CN" sz="1400" b="0" u="none">
                          <a:latin typeface="Times New Roman" panose="02020603050405020304" pitchFamily="18" charset="0"/>
                          <a:ea typeface="宋体" panose="02010600030101010101" pitchFamily="2" charset="-122"/>
                          <a:cs typeface="宋体" panose="02010600030101010101" pitchFamily="2" charset="-122"/>
                        </a:rPr>
                        <a:t>split(pattern, string[, maxsplit=0])</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dirty="0">
                          <a:latin typeface="宋体" panose="02010600030101010101" pitchFamily="2" charset="-122"/>
                          <a:ea typeface="宋体" panose="02010600030101010101" pitchFamily="2" charset="-122"/>
                          <a:cs typeface="宋体" panose="02010600030101010101" pitchFamily="2" charset="-122"/>
                        </a:rPr>
                        <a:t>根据模式匹配项分隔字符串。</a:t>
                      </a:r>
                      <a:endParaRPr lang="en-US" altLang="zh-CN" sz="1400" b="0" u="none" dirty="0">
                        <a:latin typeface="宋体" panose="02010600030101010101" pitchFamily="2" charset="-122"/>
                        <a:ea typeface="宋体" panose="02010600030101010101" pitchFamily="2" charset="-122"/>
                        <a:cs typeface="宋体" panose="02010600030101010101" pitchFamily="2" charset="-122"/>
                      </a:endParaRPr>
                    </a:p>
                    <a:p>
                      <a:pPr marL="0" indent="0" algn="l">
                        <a:buNone/>
                      </a:pPr>
                      <a:r>
                        <a:rPr lang="en-US" altLang="zh-CN" sz="1400" b="0" i="0" kern="1200" dirty="0">
                          <a:solidFill>
                            <a:srgbClr val="FF0000"/>
                          </a:solidFill>
                          <a:effectLst/>
                          <a:latin typeface="+mn-lt"/>
                          <a:ea typeface="+mn-ea"/>
                          <a:cs typeface="+mn-cs"/>
                        </a:rPr>
                        <a:t>split </a:t>
                      </a:r>
                      <a:r>
                        <a:rPr lang="zh-CN" altLang="en-US" sz="1400" b="0" i="0" kern="1200" dirty="0">
                          <a:solidFill>
                            <a:srgbClr val="FF0000"/>
                          </a:solidFill>
                          <a:effectLst/>
                          <a:latin typeface="+mn-lt"/>
                          <a:ea typeface="+mn-ea"/>
                          <a:cs typeface="+mn-cs"/>
                        </a:rPr>
                        <a:t>方法按照能够匹配的子串将字符串分割后返回列表</a:t>
                      </a:r>
                      <a:endParaRPr lang="en-US" altLang="zh-CN" sz="1400" b="0" i="0" kern="1200" dirty="0">
                        <a:solidFill>
                          <a:srgbClr val="FF0000"/>
                        </a:solidFill>
                        <a:effectLst/>
                        <a:latin typeface="+mn-lt"/>
                        <a:ea typeface="+mn-ea"/>
                        <a:cs typeface="+mn-cs"/>
                      </a:endParaRPr>
                    </a:p>
                    <a:p>
                      <a:pPr marL="0" indent="0" algn="l">
                        <a:buNone/>
                      </a:pPr>
                      <a:r>
                        <a:rPr lang="zh-CN" altLang="en-US" sz="1400" b="0" i="0" kern="1200" dirty="0">
                          <a:solidFill>
                            <a:srgbClr val="FF0000"/>
                          </a:solidFill>
                          <a:effectLst/>
                          <a:latin typeface="+mn-lt"/>
                          <a:ea typeface="+mn-ea"/>
                          <a:cs typeface="+mn-cs"/>
                        </a:rPr>
                        <a:t>分割次数，</a:t>
                      </a:r>
                      <a:r>
                        <a:rPr lang="en-US" altLang="zh-CN" sz="1400" b="0" i="0" kern="1200" dirty="0" err="1">
                          <a:solidFill>
                            <a:srgbClr val="FF0000"/>
                          </a:solidFill>
                          <a:effectLst/>
                          <a:latin typeface="+mn-lt"/>
                          <a:ea typeface="+mn-ea"/>
                          <a:cs typeface="+mn-cs"/>
                        </a:rPr>
                        <a:t>maxsplit</a:t>
                      </a:r>
                      <a:r>
                        <a:rPr lang="en-US" altLang="zh-CN" sz="1400" b="0" i="0" kern="1200" dirty="0">
                          <a:solidFill>
                            <a:srgbClr val="FF0000"/>
                          </a:solidFill>
                          <a:effectLst/>
                          <a:latin typeface="+mn-lt"/>
                          <a:ea typeface="+mn-ea"/>
                          <a:cs typeface="+mn-cs"/>
                        </a:rPr>
                        <a:t>=1 </a:t>
                      </a:r>
                      <a:r>
                        <a:rPr lang="zh-CN" altLang="en-US" sz="1400" b="0" i="0" kern="1200" dirty="0">
                          <a:solidFill>
                            <a:srgbClr val="FF0000"/>
                          </a:solidFill>
                          <a:effectLst/>
                          <a:latin typeface="+mn-lt"/>
                          <a:ea typeface="+mn-ea"/>
                          <a:cs typeface="+mn-cs"/>
                        </a:rPr>
                        <a:t>分割一次，默认为 </a:t>
                      </a:r>
                      <a:r>
                        <a:rPr lang="en-US" altLang="zh-CN" sz="1400" b="0" i="0" kern="1200" dirty="0">
                          <a:solidFill>
                            <a:srgbClr val="FF0000"/>
                          </a:solidFill>
                          <a:effectLst/>
                          <a:latin typeface="+mn-lt"/>
                          <a:ea typeface="+mn-ea"/>
                          <a:cs typeface="+mn-cs"/>
                        </a:rPr>
                        <a:t>0</a:t>
                      </a:r>
                      <a:r>
                        <a:rPr lang="zh-CN" altLang="en-US" sz="1400" b="0" i="0" kern="1200" dirty="0">
                          <a:solidFill>
                            <a:srgbClr val="FF0000"/>
                          </a:solidFill>
                          <a:effectLst/>
                          <a:latin typeface="+mn-lt"/>
                          <a:ea typeface="+mn-ea"/>
                          <a:cs typeface="+mn-cs"/>
                        </a:rPr>
                        <a:t>，不限制次数</a:t>
                      </a:r>
                      <a:endParaRPr lang="en-US" altLang="zh-CN" sz="1400" b="0" i="0" kern="1200" dirty="0">
                        <a:solidFill>
                          <a:srgbClr val="FF0000"/>
                        </a:solidFill>
                        <a:effectLst/>
                        <a:latin typeface="+mn-lt"/>
                        <a:ea typeface="+mn-ea"/>
                        <a:cs typeface="+mn-cs"/>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685775">
                <a:tc>
                  <a:txBody>
                    <a:bodyPr/>
                    <a:lstStyle/>
                    <a:p>
                      <a:pPr marL="0" indent="0" algn="l">
                        <a:buNone/>
                      </a:pPr>
                      <a:r>
                        <a:rPr lang="en-US" altLang="zh-CN" sz="1400" b="0" u="none">
                          <a:solidFill>
                            <a:srgbClr val="FF0000"/>
                          </a:solidFill>
                          <a:latin typeface="Times New Roman" panose="02020603050405020304" pitchFamily="18" charset="0"/>
                          <a:ea typeface="宋体" panose="02010600030101010101" pitchFamily="2" charset="-122"/>
                          <a:cs typeface="宋体" panose="02010600030101010101" pitchFamily="2" charset="-122"/>
                        </a:rPr>
                        <a:t>sub(pat, repl, string[, count=0])</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将字符串中所有与</a:t>
                      </a:r>
                      <a:r>
                        <a:rPr lang="en-US" altLang="zh-CN"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pat</a:t>
                      </a:r>
                      <a:r>
                        <a:rPr lang="zh-CN" altLang="en-US"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匹配的项用</a:t>
                      </a:r>
                      <a:r>
                        <a:rPr lang="en-US" altLang="zh-CN" sz="1400" b="0" u="none" dirty="0" err="1">
                          <a:solidFill>
                            <a:srgbClr val="FF0000"/>
                          </a:solidFill>
                          <a:latin typeface="宋体" panose="02010600030101010101" pitchFamily="2" charset="-122"/>
                          <a:ea typeface="宋体" panose="02010600030101010101" pitchFamily="2" charset="-122"/>
                          <a:cs typeface="宋体" panose="02010600030101010101" pitchFamily="2" charset="-122"/>
                        </a:rPr>
                        <a:t>repl</a:t>
                      </a:r>
                      <a:r>
                        <a:rPr lang="zh-CN" altLang="en-US"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替换，返回新字符串，</a:t>
                      </a:r>
                      <a:r>
                        <a:rPr lang="en-US" altLang="zh-CN" sz="1400" b="0" u="none" dirty="0" err="1">
                          <a:solidFill>
                            <a:srgbClr val="FF0000"/>
                          </a:solidFill>
                          <a:latin typeface="宋体" panose="02010600030101010101" pitchFamily="2" charset="-122"/>
                          <a:ea typeface="宋体" panose="02010600030101010101" pitchFamily="2" charset="-122"/>
                          <a:cs typeface="宋体" panose="02010600030101010101" pitchFamily="2" charset="-122"/>
                        </a:rPr>
                        <a:t>repl</a:t>
                      </a:r>
                      <a:r>
                        <a:rPr lang="zh-CN" altLang="en-US"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可以是字符串或返回字符串的可调用对象，作用于每个匹配的</a:t>
                      </a:r>
                      <a:r>
                        <a:rPr lang="en-US" altLang="zh-CN"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match</a:t>
                      </a:r>
                      <a:r>
                        <a:rPr lang="zh-CN" altLang="en-US" sz="14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对象</a:t>
                      </a:r>
                      <a:endParaRPr lang="en-US" sz="1400" b="0" u="none"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914367">
                <a:tc>
                  <a:txBody>
                    <a:bodyPr/>
                    <a:lstStyle/>
                    <a:p>
                      <a:pPr marL="0" indent="0" algn="l">
                        <a:buNone/>
                      </a:pPr>
                      <a:r>
                        <a:rPr lang="en-US" altLang="zh-CN" sz="1400" b="0" u="none">
                          <a:latin typeface="Times New Roman" panose="02020603050405020304" pitchFamily="18" charset="0"/>
                          <a:ea typeface="宋体" panose="02010600030101010101" pitchFamily="2" charset="-122"/>
                          <a:cs typeface="宋体" panose="02010600030101010101" pitchFamily="2" charset="-122"/>
                        </a:rPr>
                        <a:t>subn(pat, repl, string[, count=0])</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dirty="0">
                          <a:latin typeface="宋体" panose="02010600030101010101" pitchFamily="2" charset="-122"/>
                          <a:ea typeface="宋体" panose="02010600030101010101" pitchFamily="2" charset="-122"/>
                          <a:cs typeface="宋体" panose="02010600030101010101" pitchFamily="2" charset="-122"/>
                        </a:rPr>
                        <a:t>将字符串中所有</a:t>
                      </a:r>
                      <a:r>
                        <a:rPr lang="en-US" altLang="zh-CN" sz="1400" b="0" u="none" dirty="0">
                          <a:latin typeface="宋体" panose="02010600030101010101" pitchFamily="2" charset="-122"/>
                          <a:ea typeface="宋体" panose="02010600030101010101" pitchFamily="2" charset="-122"/>
                          <a:cs typeface="宋体" panose="02010600030101010101" pitchFamily="2" charset="-122"/>
                        </a:rPr>
                        <a:t>pat</a:t>
                      </a:r>
                      <a:r>
                        <a:rPr lang="zh-CN" altLang="en-US" sz="1400" b="0" u="none" dirty="0">
                          <a:latin typeface="宋体" panose="02010600030101010101" pitchFamily="2" charset="-122"/>
                          <a:ea typeface="宋体" panose="02010600030101010101" pitchFamily="2" charset="-122"/>
                          <a:cs typeface="宋体" panose="02010600030101010101" pitchFamily="2" charset="-122"/>
                        </a:rPr>
                        <a:t>的匹配项用</a:t>
                      </a:r>
                      <a:r>
                        <a:rPr lang="en-US" altLang="zh-CN" sz="1400" b="0" u="none" dirty="0" err="1">
                          <a:latin typeface="宋体" panose="02010600030101010101" pitchFamily="2" charset="-122"/>
                          <a:ea typeface="宋体" panose="02010600030101010101" pitchFamily="2" charset="-122"/>
                          <a:cs typeface="宋体" panose="02010600030101010101" pitchFamily="2" charset="-122"/>
                        </a:rPr>
                        <a:t>repl</a:t>
                      </a:r>
                      <a:r>
                        <a:rPr lang="zh-CN" altLang="en-US" sz="1400" b="0" u="none" dirty="0">
                          <a:latin typeface="宋体" panose="02010600030101010101" pitchFamily="2" charset="-122"/>
                          <a:ea typeface="宋体" panose="02010600030101010101" pitchFamily="2" charset="-122"/>
                          <a:cs typeface="宋体" panose="02010600030101010101" pitchFamily="2" charset="-122"/>
                        </a:rPr>
                        <a:t>替换，返回包含新字符串和替换次数的二元元组，</a:t>
                      </a:r>
                      <a:r>
                        <a:rPr lang="en-US" altLang="zh-CN" sz="1400" b="0" u="none" dirty="0" err="1">
                          <a:latin typeface="宋体" panose="02010600030101010101" pitchFamily="2" charset="-122"/>
                          <a:ea typeface="宋体" panose="02010600030101010101" pitchFamily="2" charset="-122"/>
                          <a:cs typeface="宋体" panose="02010600030101010101" pitchFamily="2" charset="-122"/>
                        </a:rPr>
                        <a:t>repl</a:t>
                      </a:r>
                      <a:r>
                        <a:rPr lang="zh-CN" altLang="en-US" sz="1400" b="0" u="none" dirty="0">
                          <a:latin typeface="宋体" panose="02010600030101010101" pitchFamily="2" charset="-122"/>
                          <a:ea typeface="宋体" panose="02010600030101010101" pitchFamily="2" charset="-122"/>
                          <a:cs typeface="宋体" panose="02010600030101010101" pitchFamily="2" charset="-122"/>
                        </a:rPr>
                        <a:t>可以是字符串或返回字符串的可调用对象，</a:t>
                      </a:r>
                    </a:p>
                    <a:p>
                      <a:pPr marL="0" indent="0" algn="l">
                        <a:buNone/>
                      </a:pPr>
                      <a:r>
                        <a:rPr lang="zh-CN" altLang="en-US" sz="1400" b="0" u="none" dirty="0">
                          <a:latin typeface="宋体" panose="02010600030101010101" pitchFamily="2" charset="-122"/>
                          <a:ea typeface="宋体" panose="02010600030101010101" pitchFamily="2" charset="-122"/>
                          <a:cs typeface="宋体" panose="02010600030101010101" pitchFamily="2" charset="-122"/>
                        </a:rPr>
                        <a:t>作用于每个匹配的</a:t>
                      </a:r>
                      <a:r>
                        <a:rPr lang="en-US" altLang="zh-CN" sz="1400" b="0" u="none" dirty="0">
                          <a:latin typeface="宋体" panose="02010600030101010101" pitchFamily="2" charset="-122"/>
                          <a:ea typeface="宋体" panose="02010600030101010101" pitchFamily="2" charset="-122"/>
                          <a:cs typeface="宋体" panose="02010600030101010101" pitchFamily="2" charset="-122"/>
                        </a:rPr>
                        <a:t>match</a:t>
                      </a:r>
                      <a:r>
                        <a:rPr lang="zh-CN" altLang="en-US" sz="1400" b="0" u="none" dirty="0">
                          <a:latin typeface="宋体" panose="02010600030101010101" pitchFamily="2" charset="-122"/>
                          <a:ea typeface="宋体" panose="02010600030101010101" pitchFamily="2" charset="-122"/>
                          <a:cs typeface="宋体" panose="02010600030101010101" pitchFamily="2" charset="-122"/>
                        </a:rPr>
                        <a:t>对象</a:t>
                      </a:r>
                      <a:endParaRPr lang="en-US" sz="1400" b="0" u="none" dirty="0">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11780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59</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4.3.2 re</a:t>
            </a:r>
            <a:r>
              <a:rPr lang="zh-CN" altLang="en-US" sz="2800" b="1" dirty="0">
                <a:latin typeface="Times New Roman" panose="02020603050405020304" pitchFamily="18" charset="0"/>
                <a:ea typeface="仿宋" panose="02010609060101010101" pitchFamily="49" charset="-122"/>
              </a:rPr>
              <a:t>模块的主要方法与使用</a:t>
            </a:r>
            <a:endParaRPr lang="en-US" altLang="zh-CN" sz="2800" b="1" dirty="0">
              <a:ea typeface="仿宋" panose="02010609060101010101" pitchFamily="49" charset="-122"/>
            </a:endParaRPr>
          </a:p>
        </p:txBody>
      </p:sp>
      <p:grpSp>
        <p:nvGrpSpPr>
          <p:cNvPr id="7" name="组合 109"/>
          <p:cNvGrpSpPr/>
          <p:nvPr/>
        </p:nvGrpSpPr>
        <p:grpSpPr>
          <a:xfrm>
            <a:off x="489223" y="44624"/>
            <a:ext cx="4514825" cy="684413"/>
            <a:chOff x="956926" y="4567095"/>
            <a:chExt cx="4514825" cy="684413"/>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567095"/>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文本占位符 59394"/>
          <p:cNvSpPr>
            <a:spLocks noGrp="1"/>
          </p:cNvSpPr>
          <p:nvPr>
            <p:ph idx="1"/>
          </p:nvPr>
        </p:nvSpPr>
        <p:spPr>
          <a:xfrm>
            <a:off x="683568" y="1575956"/>
            <a:ext cx="8229600" cy="4678451"/>
          </a:xfrm>
        </p:spPr>
        <p:txBody>
          <a:bodyPr anchor="t"/>
          <a:lstStyle/>
          <a:p>
            <a:pPr>
              <a:lnSpc>
                <a:spcPct val="130000"/>
              </a:lnSpc>
              <a:spcBef>
                <a:spcPct val="0"/>
              </a:spcBef>
              <a:spcAft>
                <a:spcPts val="600"/>
              </a:spcAft>
              <a:buClr>
                <a:srgbClr val="FF0000"/>
              </a:buClr>
              <a:buSzPct val="70000"/>
              <a:buFont typeface="Wingdings" panose="05000000000000000000" pitchFamily="2" charset="2"/>
              <a:buChar char="n"/>
            </a:pPr>
            <a:r>
              <a:rPr lang="zh-CN" altLang="en-US" sz="1800" dirty="0">
                <a:latin typeface="宋体" panose="02010600030101010101" pitchFamily="2" charset="-122"/>
              </a:rPr>
              <a:t>首先使用re模块的compile()方法将正则表达式编译生成正则表达式对象，然后再使用正则表达式对象提供的方法进行字符串处理。</a:t>
            </a:r>
          </a:p>
          <a:p>
            <a:pPr>
              <a:lnSpc>
                <a:spcPct val="130000"/>
              </a:lnSpc>
              <a:spcBef>
                <a:spcPct val="0"/>
              </a:spcBef>
              <a:spcAft>
                <a:spcPts val="600"/>
              </a:spcAft>
              <a:buClr>
                <a:srgbClr val="FF0000"/>
              </a:buClr>
              <a:buSzPct val="70000"/>
              <a:buFont typeface="Wingdings" panose="05000000000000000000" pitchFamily="2" charset="2"/>
              <a:buChar char="n"/>
            </a:pPr>
            <a:r>
              <a:rPr lang="zh-CN" altLang="en-US" sz="1800" dirty="0">
                <a:latin typeface="宋体" panose="02010600030101010101" pitchFamily="2" charset="-122"/>
              </a:rPr>
              <a:t>使用编译后的正则表达式对象可以</a:t>
            </a:r>
            <a:r>
              <a:rPr lang="zh-CN" altLang="en-US" sz="1800" dirty="0">
                <a:solidFill>
                  <a:srgbClr val="FF0000"/>
                </a:solidFill>
                <a:latin typeface="宋体" panose="02010600030101010101" pitchFamily="2" charset="-122"/>
              </a:rPr>
              <a:t>提高字符串处理速度</a:t>
            </a:r>
            <a:r>
              <a:rPr lang="zh-CN" altLang="en-US" sz="1800" dirty="0">
                <a:latin typeface="宋体" panose="02010600030101010101" pitchFamily="2" charset="-122"/>
              </a:rPr>
              <a:t>，</a:t>
            </a:r>
            <a:r>
              <a:rPr lang="zh-CN" altLang="en-US" sz="1800" dirty="0">
                <a:solidFill>
                  <a:srgbClr val="FF0000"/>
                </a:solidFill>
                <a:latin typeface="宋体" panose="02010600030101010101" pitchFamily="2" charset="-122"/>
              </a:rPr>
              <a:t>也提供了更强大的文本处理功能</a:t>
            </a:r>
            <a:r>
              <a:rPr lang="zh-CN" altLang="en-US" sz="1800" dirty="0">
                <a:latin typeface="宋体" panose="02010600030101010101" pitchFamily="2" charset="-122"/>
              </a:rPr>
              <a:t>。</a:t>
            </a:r>
          </a:p>
          <a:p>
            <a:pPr>
              <a:lnSpc>
                <a:spcPct val="130000"/>
              </a:lnSpc>
              <a:spcBef>
                <a:spcPct val="0"/>
              </a:spcBef>
              <a:spcAft>
                <a:spcPts val="600"/>
              </a:spcAft>
              <a:buClr>
                <a:srgbClr val="FF0000"/>
              </a:buClr>
              <a:buSzPct val="70000"/>
              <a:buFont typeface="Wingdings" panose="05000000000000000000" pitchFamily="2" charset="2"/>
              <a:buChar char="n"/>
            </a:pPr>
            <a:r>
              <a:rPr lang="zh-CN" altLang="en-US" sz="1800" dirty="0">
                <a:latin typeface="宋体" panose="02010600030101010101" pitchFamily="2" charset="-122"/>
              </a:rPr>
              <a:t>正则表达式对象的match(string[, pos[, endpos]])方法用于在字符串开头或指定位置进行搜索，</a:t>
            </a:r>
            <a:r>
              <a:rPr lang="zh-CN" altLang="en-US" sz="1800" dirty="0">
                <a:solidFill>
                  <a:srgbClr val="FF0000"/>
                </a:solidFill>
                <a:latin typeface="宋体" panose="02010600030101010101" pitchFamily="2" charset="-122"/>
              </a:rPr>
              <a:t>模式必须出现在字符串开头或指定位置</a:t>
            </a:r>
            <a:r>
              <a:rPr lang="zh-CN" altLang="en-US" sz="1800" dirty="0">
                <a:latin typeface="宋体" panose="02010600030101010101" pitchFamily="2" charset="-122"/>
              </a:rPr>
              <a:t>；</a:t>
            </a:r>
          </a:p>
          <a:p>
            <a:pPr>
              <a:lnSpc>
                <a:spcPct val="130000"/>
              </a:lnSpc>
              <a:spcBef>
                <a:spcPct val="0"/>
              </a:spcBef>
              <a:spcAft>
                <a:spcPts val="600"/>
              </a:spcAft>
              <a:buClr>
                <a:srgbClr val="FF0000"/>
              </a:buClr>
              <a:buSzPct val="70000"/>
              <a:buFont typeface="Wingdings" panose="05000000000000000000" pitchFamily="2" charset="2"/>
              <a:buChar char="n"/>
            </a:pPr>
            <a:r>
              <a:rPr lang="zh-CN" altLang="en-US" sz="1800" dirty="0">
                <a:latin typeface="宋体" panose="02010600030101010101" pitchFamily="2" charset="-122"/>
              </a:rPr>
              <a:t>正则表达式对象的search(string[, pos[, endpos]])方法用于</a:t>
            </a:r>
            <a:r>
              <a:rPr lang="zh-CN" altLang="en-US" sz="1800" dirty="0">
                <a:solidFill>
                  <a:srgbClr val="FF0000"/>
                </a:solidFill>
                <a:latin typeface="宋体" panose="02010600030101010101" pitchFamily="2" charset="-122"/>
              </a:rPr>
              <a:t>在整个字符串中进行搜索</a:t>
            </a:r>
            <a:r>
              <a:rPr lang="zh-CN" altLang="en-US" sz="1800" dirty="0">
                <a:latin typeface="宋体" panose="02010600030101010101" pitchFamily="2" charset="-122"/>
              </a:rPr>
              <a:t>；</a:t>
            </a:r>
          </a:p>
          <a:p>
            <a:pPr>
              <a:lnSpc>
                <a:spcPct val="130000"/>
              </a:lnSpc>
              <a:spcBef>
                <a:spcPct val="0"/>
              </a:spcBef>
              <a:spcAft>
                <a:spcPts val="600"/>
              </a:spcAft>
              <a:buClr>
                <a:srgbClr val="FF0000"/>
              </a:buClr>
              <a:buSzPct val="70000"/>
              <a:buFont typeface="Wingdings" panose="05000000000000000000" pitchFamily="2" charset="2"/>
              <a:buChar char="n"/>
            </a:pPr>
            <a:r>
              <a:rPr lang="zh-CN" altLang="en-US" sz="1800" dirty="0">
                <a:latin typeface="宋体" panose="02010600030101010101" pitchFamily="2" charset="-122"/>
              </a:rPr>
              <a:t>正则表达式对象的findall(string[, pos[, endpos]])方法用于在字符串中</a:t>
            </a:r>
            <a:r>
              <a:rPr lang="zh-CN" altLang="en-US" sz="1800" dirty="0">
                <a:solidFill>
                  <a:srgbClr val="FF0000"/>
                </a:solidFill>
                <a:latin typeface="宋体" panose="02010600030101010101" pitchFamily="2" charset="-122"/>
              </a:rPr>
              <a:t>查找所有符合正则表达式的字符串并返回列表</a:t>
            </a:r>
            <a:r>
              <a:rPr lang="zh-CN" altLang="en-US" sz="1800" dirty="0">
                <a:latin typeface="宋体" panose="02010600030101010101" pitchFamily="2" charset="-122"/>
              </a:rPr>
              <a:t>。</a:t>
            </a:r>
          </a:p>
        </p:txBody>
      </p:sp>
      <p:sp>
        <p:nvSpPr>
          <p:cNvPr id="125955"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60</a:t>
            </a:fld>
            <a:endParaRPr lang="zh-CN" altLang="en-US" sz="1050" dirty="0"/>
          </a:p>
        </p:txBody>
      </p:sp>
      <p:sp>
        <p:nvSpPr>
          <p:cNvPr id="5" name="文本框 4"/>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800" b="1" dirty="0" smtClean="0">
                <a:latin typeface="Times New Roman" panose="02020603050405020304" pitchFamily="18" charset="0"/>
                <a:ea typeface="仿宋" panose="02010609060101010101" pitchFamily="49" charset="-122"/>
              </a:rPr>
              <a:t>使用</a:t>
            </a:r>
            <a:r>
              <a:rPr lang="zh-CN" altLang="en-US" sz="2800" b="1" dirty="0">
                <a:latin typeface="Times New Roman" panose="02020603050405020304" pitchFamily="18" charset="0"/>
                <a:ea typeface="仿宋" panose="02010609060101010101" pitchFamily="49" charset="-122"/>
              </a:rPr>
              <a:t>正则表达式对象</a:t>
            </a:r>
            <a:endParaRPr lang="en-US" altLang="zh-CN" sz="2800" b="1" dirty="0">
              <a:ea typeface="仿宋" panose="02010609060101010101" pitchFamily="49" charset="-122"/>
            </a:endParaRPr>
          </a:p>
        </p:txBody>
      </p:sp>
      <p:grpSp>
        <p:nvGrpSpPr>
          <p:cNvPr id="6" name="组合 109"/>
          <p:cNvGrpSpPr/>
          <p:nvPr/>
        </p:nvGrpSpPr>
        <p:grpSpPr>
          <a:xfrm>
            <a:off x="489223" y="78400"/>
            <a:ext cx="4514825" cy="686304"/>
            <a:chOff x="956926" y="4600871"/>
            <a:chExt cx="4514825" cy="686304"/>
          </a:xfrm>
        </p:grpSpPr>
        <p:sp>
          <p:nvSpPr>
            <p:cNvPr id="7"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Tree>
    <p:extLst>
      <p:ext uri="{BB962C8B-B14F-4D97-AF65-F5344CB8AC3E}">
        <p14:creationId xmlns:p14="http://schemas.microsoft.com/office/powerpoint/2010/main" val="259882040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595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595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595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595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595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80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61</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4.3.2 re</a:t>
            </a:r>
            <a:r>
              <a:rPr lang="zh-CN" altLang="en-US" sz="2800" b="1" dirty="0">
                <a:latin typeface="Times New Roman" panose="02020603050405020304" pitchFamily="18" charset="0"/>
                <a:ea typeface="仿宋" panose="02010609060101010101" pitchFamily="49" charset="-122"/>
              </a:rPr>
              <a:t>模块的主要方法与使用</a:t>
            </a:r>
            <a:endParaRPr lang="en-US" altLang="zh-CN" sz="2800" b="1" dirty="0">
              <a:ea typeface="仿宋" panose="02010609060101010101" pitchFamily="49" charset="-122"/>
            </a:endParaRPr>
          </a:p>
        </p:txBody>
      </p:sp>
      <p:grpSp>
        <p:nvGrpSpPr>
          <p:cNvPr id="7" name="组合 109"/>
          <p:cNvGrpSpPr/>
          <p:nvPr/>
        </p:nvGrpSpPr>
        <p:grpSpPr>
          <a:xfrm>
            <a:off x="489223" y="44624"/>
            <a:ext cx="4514825" cy="684413"/>
            <a:chOff x="956926" y="4567095"/>
            <a:chExt cx="4514825" cy="684413"/>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567095"/>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4" name="内容占位符 3"/>
          <p:cNvSpPr>
            <a:spLocks noGrp="1"/>
          </p:cNvSpPr>
          <p:nvPr>
            <p:ph idx="1"/>
          </p:nvPr>
        </p:nvSpPr>
        <p:spPr>
          <a:xfrm>
            <a:off x="457200" y="1268760"/>
            <a:ext cx="8229600" cy="4678451"/>
          </a:xfrm>
        </p:spPr>
        <p:txBody>
          <a:bodyPr/>
          <a:lstStyle/>
          <a:p>
            <a:pPr algn="l"/>
            <a:r>
              <a:rPr lang="en-US" altLang="zh-CN" sz="1600" b="1" dirty="0" err="1">
                <a:solidFill>
                  <a:schemeClr val="accent6"/>
                </a:solidFill>
                <a:latin typeface="Helvetica Neue"/>
              </a:rPr>
              <a:t>re.search</a:t>
            </a:r>
            <a:r>
              <a:rPr lang="zh-CN" altLang="en-US" sz="1600" b="1" dirty="0">
                <a:solidFill>
                  <a:schemeClr val="accent6"/>
                </a:solidFill>
                <a:latin typeface="Helvetica Neue"/>
              </a:rPr>
              <a:t>方法</a:t>
            </a:r>
          </a:p>
          <a:p>
            <a:pPr marL="0" indent="0" algn="l" latinLnBrk="1">
              <a:buNone/>
            </a:pPr>
            <a:r>
              <a:rPr lang="en-US" altLang="zh-CN" sz="1600" dirty="0">
                <a:solidFill>
                  <a:srgbClr val="333333"/>
                </a:solidFill>
                <a:latin typeface="Helvetica Neue"/>
              </a:rPr>
              <a:t>      </a:t>
            </a:r>
            <a:r>
              <a:rPr lang="en-US" altLang="zh-CN" sz="1600" dirty="0" err="1">
                <a:solidFill>
                  <a:srgbClr val="333333"/>
                </a:solidFill>
                <a:latin typeface="Helvetica Neue"/>
              </a:rPr>
              <a:t>re.search</a:t>
            </a:r>
            <a:r>
              <a:rPr lang="en-US" altLang="zh-CN" sz="1600" dirty="0">
                <a:solidFill>
                  <a:srgbClr val="333333"/>
                </a:solidFill>
                <a:latin typeface="Helvetica Neue"/>
              </a:rPr>
              <a:t> </a:t>
            </a:r>
            <a:r>
              <a:rPr lang="zh-CN" altLang="en-US" sz="1600" dirty="0">
                <a:solidFill>
                  <a:srgbClr val="333333"/>
                </a:solidFill>
                <a:latin typeface="Helvetica Neue"/>
              </a:rPr>
              <a:t>扫描整个字符串并返回</a:t>
            </a:r>
            <a:r>
              <a:rPr lang="zh-CN" altLang="en-US" sz="1600" dirty="0">
                <a:solidFill>
                  <a:srgbClr val="FF0000"/>
                </a:solidFill>
                <a:latin typeface="Helvetica Neue"/>
              </a:rPr>
              <a:t>第一个成功</a:t>
            </a:r>
            <a:r>
              <a:rPr lang="zh-CN" altLang="en-US" sz="1600" dirty="0">
                <a:solidFill>
                  <a:srgbClr val="333333"/>
                </a:solidFill>
                <a:latin typeface="Helvetica Neue"/>
              </a:rPr>
              <a:t>的匹配。</a:t>
            </a:r>
            <a:r>
              <a:rPr lang="zh-CN" altLang="en-US" sz="16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返回</a:t>
            </a:r>
            <a:r>
              <a:rPr lang="en-US" altLang="zh-CN" sz="16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match</a:t>
            </a:r>
            <a:r>
              <a:rPr lang="zh-CN" altLang="en-US" sz="16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对象或</a:t>
            </a:r>
            <a:r>
              <a:rPr lang="en-US" altLang="zh-CN" sz="1600" b="0" u="none" dirty="0">
                <a:solidFill>
                  <a:srgbClr val="FF0000"/>
                </a:solidFill>
                <a:latin typeface="宋体" panose="02010600030101010101" pitchFamily="2" charset="-122"/>
                <a:ea typeface="宋体" panose="02010600030101010101" pitchFamily="2" charset="-122"/>
                <a:cs typeface="宋体" panose="02010600030101010101" pitchFamily="2" charset="-122"/>
              </a:rPr>
              <a:t>None</a:t>
            </a:r>
          </a:p>
          <a:p>
            <a:pPr marL="0" indent="0" algn="l" latinLnBrk="1">
              <a:buNone/>
            </a:pPr>
            <a:r>
              <a:rPr lang="zh-CN" altLang="en-US" sz="1600" dirty="0">
                <a:solidFill>
                  <a:srgbClr val="333333"/>
                </a:solidFill>
                <a:latin typeface="Helvetica Neue"/>
              </a:rPr>
              <a:t>     语法格式：</a:t>
            </a:r>
            <a:r>
              <a:rPr lang="sv-SE" altLang="zh-CN" sz="1600" dirty="0"/>
              <a:t>re.search(pattern, string, flags=0)</a:t>
            </a:r>
            <a:endParaRPr lang="zh-CN" altLang="en-US" sz="1600" dirty="0"/>
          </a:p>
          <a:p>
            <a:pPr marL="0" indent="0">
              <a:buNone/>
            </a:pPr>
            <a:r>
              <a:rPr lang="zh-CN" altLang="en-US" dirty="0"/>
              <a:t/>
            </a:r>
            <a:br>
              <a:rPr lang="zh-CN" altLang="en-US" dirty="0"/>
            </a:br>
            <a:endParaRPr lang="zh-CN" altLang="en-US" dirty="0"/>
          </a:p>
        </p:txBody>
      </p:sp>
      <p:pic>
        <p:nvPicPr>
          <p:cNvPr id="3" name="图片 2"/>
          <p:cNvPicPr>
            <a:picLocks noChangeAspect="1"/>
          </p:cNvPicPr>
          <p:nvPr/>
        </p:nvPicPr>
        <p:blipFill>
          <a:blip r:embed="rId4"/>
          <a:stretch>
            <a:fillRect/>
          </a:stretch>
        </p:blipFill>
        <p:spPr>
          <a:xfrm>
            <a:off x="323528" y="2138648"/>
            <a:ext cx="5178113" cy="2476174"/>
          </a:xfrm>
          <a:prstGeom prst="rect">
            <a:avLst/>
          </a:prstGeom>
        </p:spPr>
      </p:pic>
      <p:pic>
        <p:nvPicPr>
          <p:cNvPr id="2" name="图片 1"/>
          <p:cNvPicPr>
            <a:picLocks noChangeAspect="1"/>
          </p:cNvPicPr>
          <p:nvPr/>
        </p:nvPicPr>
        <p:blipFill>
          <a:blip r:embed="rId5"/>
          <a:stretch>
            <a:fillRect/>
          </a:stretch>
        </p:blipFill>
        <p:spPr>
          <a:xfrm>
            <a:off x="4499992" y="4142964"/>
            <a:ext cx="4474455" cy="2451585"/>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80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62</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4.3.2 re</a:t>
            </a:r>
            <a:r>
              <a:rPr lang="zh-CN" altLang="en-US" sz="2800" b="1" dirty="0">
                <a:latin typeface="Times New Roman" panose="02020603050405020304" pitchFamily="18" charset="0"/>
                <a:ea typeface="仿宋" panose="02010609060101010101" pitchFamily="49" charset="-122"/>
              </a:rPr>
              <a:t>模块的主要方法与使用</a:t>
            </a:r>
            <a:endParaRPr lang="en-US" altLang="zh-CN" sz="2800" b="1" dirty="0">
              <a:ea typeface="仿宋" panose="02010609060101010101" pitchFamily="49" charset="-122"/>
            </a:endParaRPr>
          </a:p>
        </p:txBody>
      </p:sp>
      <p:grpSp>
        <p:nvGrpSpPr>
          <p:cNvPr id="7" name="组合 109"/>
          <p:cNvGrpSpPr/>
          <p:nvPr/>
        </p:nvGrpSpPr>
        <p:grpSpPr>
          <a:xfrm>
            <a:off x="489223" y="44624"/>
            <a:ext cx="4514825" cy="684413"/>
            <a:chOff x="956926" y="4567095"/>
            <a:chExt cx="4514825" cy="684413"/>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567095"/>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4" name="内容占位符 3"/>
          <p:cNvSpPr>
            <a:spLocks noGrp="1"/>
          </p:cNvSpPr>
          <p:nvPr>
            <p:ph idx="1"/>
          </p:nvPr>
        </p:nvSpPr>
        <p:spPr/>
        <p:txBody>
          <a:bodyPr/>
          <a:lstStyle/>
          <a:p>
            <a:pPr algn="l"/>
            <a:r>
              <a:rPr lang="en-US" altLang="zh-CN" sz="1600" b="1" dirty="0" err="1">
                <a:solidFill>
                  <a:schemeClr val="accent6"/>
                </a:solidFill>
                <a:latin typeface="Helvetica Neue"/>
              </a:rPr>
              <a:t>re.search</a:t>
            </a:r>
            <a:r>
              <a:rPr lang="zh-CN" altLang="en-US" sz="1600" b="1" dirty="0">
                <a:solidFill>
                  <a:schemeClr val="accent6"/>
                </a:solidFill>
                <a:latin typeface="Helvetica Neue"/>
              </a:rPr>
              <a:t>方法</a:t>
            </a:r>
          </a:p>
          <a:p>
            <a:pPr marL="0" indent="0" algn="l" latinLnBrk="1">
              <a:buNone/>
            </a:pPr>
            <a:r>
              <a:rPr lang="en-US" altLang="zh-CN" sz="1600" dirty="0">
                <a:solidFill>
                  <a:srgbClr val="333333"/>
                </a:solidFill>
                <a:latin typeface="Helvetica Neue"/>
              </a:rPr>
              <a:t>      </a:t>
            </a:r>
            <a:r>
              <a:rPr lang="en-US" altLang="zh-CN" sz="1600" dirty="0" err="1">
                <a:solidFill>
                  <a:srgbClr val="333333"/>
                </a:solidFill>
                <a:latin typeface="Helvetica Neue"/>
              </a:rPr>
              <a:t>re.search</a:t>
            </a:r>
            <a:r>
              <a:rPr lang="en-US" altLang="zh-CN" sz="1600" dirty="0">
                <a:solidFill>
                  <a:srgbClr val="333333"/>
                </a:solidFill>
                <a:latin typeface="Helvetica Neue"/>
              </a:rPr>
              <a:t> </a:t>
            </a:r>
            <a:r>
              <a:rPr lang="zh-CN" altLang="en-US" sz="1600" dirty="0">
                <a:solidFill>
                  <a:srgbClr val="333333"/>
                </a:solidFill>
                <a:latin typeface="Helvetica Neue"/>
              </a:rPr>
              <a:t>扫描整个字符串并返回</a:t>
            </a:r>
            <a:r>
              <a:rPr lang="zh-CN" altLang="en-US" sz="1600" dirty="0">
                <a:solidFill>
                  <a:srgbClr val="FF0000"/>
                </a:solidFill>
                <a:latin typeface="Helvetica Neue"/>
              </a:rPr>
              <a:t>第一个成功</a:t>
            </a:r>
            <a:r>
              <a:rPr lang="zh-CN" altLang="en-US" sz="1600" dirty="0">
                <a:solidFill>
                  <a:srgbClr val="333333"/>
                </a:solidFill>
                <a:latin typeface="Helvetica Neue"/>
              </a:rPr>
              <a:t>的匹配。</a:t>
            </a:r>
            <a:endParaRPr lang="en-US" altLang="zh-CN" sz="1600" b="0" u="none" dirty="0">
              <a:solidFill>
                <a:srgbClr val="FF0000"/>
              </a:solidFill>
              <a:latin typeface="宋体" panose="02010600030101010101" pitchFamily="2" charset="-122"/>
              <a:ea typeface="宋体" panose="02010600030101010101" pitchFamily="2" charset="-122"/>
              <a:cs typeface="宋体" panose="02010600030101010101" pitchFamily="2" charset="-122"/>
            </a:endParaRPr>
          </a:p>
          <a:p>
            <a:pPr marL="0" indent="0" algn="l" latinLnBrk="1">
              <a:buNone/>
            </a:pPr>
            <a:r>
              <a:rPr lang="zh-CN" altLang="en-US" sz="1600" dirty="0">
                <a:solidFill>
                  <a:srgbClr val="333333"/>
                </a:solidFill>
                <a:latin typeface="Helvetica Neue"/>
              </a:rPr>
              <a:t>     语法格式：</a:t>
            </a:r>
            <a:r>
              <a:rPr lang="sv-SE" altLang="zh-CN" sz="1600" dirty="0"/>
              <a:t>re.search(pattern, string, flags=0)</a:t>
            </a:r>
            <a:endParaRPr lang="zh-CN" altLang="en-US" sz="1600" dirty="0"/>
          </a:p>
          <a:p>
            <a:pPr marL="0" indent="0">
              <a:buNone/>
            </a:pPr>
            <a:r>
              <a:rPr lang="zh-CN" altLang="en-US" dirty="0"/>
              <a:t/>
            </a:r>
            <a:br>
              <a:rPr lang="zh-CN" altLang="en-US" dirty="0"/>
            </a:br>
            <a:endParaRPr lang="zh-CN" altLang="en-US" dirty="0"/>
          </a:p>
        </p:txBody>
      </p:sp>
      <p:sp>
        <p:nvSpPr>
          <p:cNvPr id="19" name="文本框 18"/>
          <p:cNvSpPr txBox="1"/>
          <p:nvPr/>
        </p:nvSpPr>
        <p:spPr>
          <a:xfrm>
            <a:off x="570384" y="5294060"/>
            <a:ext cx="7931224" cy="1168400"/>
          </a:xfrm>
          <a:prstGeom prst="rect">
            <a:avLst/>
          </a:prstGeom>
          <a:noFill/>
        </p:spPr>
        <p:txBody>
          <a:bodyPr wrap="square">
            <a:spAutoFit/>
          </a:bodyPr>
          <a:lstStyle/>
          <a:p>
            <a:pPr marL="0" indent="0" algn="l" latinLnBrk="1">
              <a:buNone/>
            </a:pPr>
            <a:r>
              <a:rPr lang="en-US" altLang="zh-CN" sz="1400" dirty="0">
                <a:latin typeface="Helvetica Neue"/>
              </a:rPr>
              <a:t>group()= =</a:t>
            </a:r>
            <a:r>
              <a:rPr lang="en-US" altLang="zh-CN" sz="1400" dirty="0">
                <a:latin typeface="Helvetica Neue"/>
                <a:sym typeface="+mn-ea"/>
              </a:rPr>
              <a:t>group(0)</a:t>
            </a:r>
            <a:r>
              <a:rPr lang="en-US" altLang="zh-CN" sz="1400" dirty="0">
                <a:latin typeface="Helvetica Neue"/>
              </a:rPr>
              <a:t>, </a:t>
            </a:r>
            <a:r>
              <a:rPr lang="en-US" altLang="zh-CN" sz="1400" dirty="0">
                <a:latin typeface="Helvetica Neue"/>
                <a:sym typeface="+mn-ea"/>
              </a:rPr>
              <a:t>groups()</a:t>
            </a:r>
            <a:r>
              <a:rPr lang="zh-CN" altLang="en-US" sz="1400" dirty="0">
                <a:latin typeface="Helvetica Neue"/>
              </a:rPr>
              <a:t>始终有意义</a:t>
            </a:r>
            <a:endParaRPr lang="en-US" altLang="zh-CN" sz="1400" dirty="0">
              <a:latin typeface="Helvetica Neue"/>
            </a:endParaRPr>
          </a:p>
          <a:p>
            <a:pPr marL="0" indent="0" algn="l" latinLnBrk="1">
              <a:buNone/>
            </a:pPr>
            <a:endParaRPr lang="en-US" altLang="zh-CN" sz="1400" dirty="0">
              <a:latin typeface="Helvetica Neue"/>
            </a:endParaRPr>
          </a:p>
          <a:p>
            <a:pPr marL="0" indent="0" algn="l" latinLnBrk="1">
              <a:buNone/>
            </a:pPr>
            <a:r>
              <a:rPr lang="en-US" altLang="zh-CN" sz="1400" dirty="0">
                <a:latin typeface="Helvetica Neue"/>
                <a:sym typeface="+mn-ea"/>
              </a:rPr>
              <a:t>pattern</a:t>
            </a:r>
            <a:r>
              <a:rPr lang="zh-CN" altLang="en-US" sz="1400" dirty="0">
                <a:latin typeface="Helvetica Neue"/>
                <a:sym typeface="+mn-ea"/>
              </a:rPr>
              <a:t>中不含子模式</a:t>
            </a:r>
            <a:r>
              <a:rPr lang="en-US" altLang="zh-CN" sz="1400" dirty="0">
                <a:latin typeface="Helvetica Neue"/>
                <a:sym typeface="+mn-ea"/>
              </a:rPr>
              <a:t> </a:t>
            </a:r>
            <a:r>
              <a:rPr lang="en-US" altLang="zh-CN" sz="1400" dirty="0">
                <a:latin typeface="Helvetica Neue"/>
              </a:rPr>
              <a:t>groups()</a:t>
            </a:r>
            <a:r>
              <a:rPr lang="zh-CN" altLang="en-US" sz="1400" dirty="0">
                <a:latin typeface="Helvetica Neue"/>
              </a:rPr>
              <a:t>：则为（）</a:t>
            </a:r>
            <a:endParaRPr lang="en-US" altLang="zh-CN" sz="1400" dirty="0">
              <a:latin typeface="Helvetica Neue"/>
            </a:endParaRPr>
          </a:p>
          <a:p>
            <a:pPr marL="0" indent="0" algn="l" latinLnBrk="1">
              <a:buNone/>
            </a:pPr>
            <a:endParaRPr lang="en-US" altLang="zh-CN" sz="1400" dirty="0">
              <a:latin typeface="Helvetica Neue"/>
            </a:endParaRPr>
          </a:p>
          <a:p>
            <a:pPr marL="0" indent="0" algn="l" latinLnBrk="1">
              <a:buNone/>
            </a:pPr>
            <a:r>
              <a:rPr lang="en-US" altLang="zh-CN" sz="1400" dirty="0">
                <a:latin typeface="Helvetica Neue"/>
                <a:sym typeface="+mn-ea"/>
              </a:rPr>
              <a:t>pattern</a:t>
            </a:r>
            <a:r>
              <a:rPr lang="zh-CN" altLang="en-US" sz="1400" dirty="0">
                <a:latin typeface="Helvetica Neue"/>
                <a:sym typeface="+mn-ea"/>
              </a:rPr>
              <a:t>中含多个子模式，一般情况下</a:t>
            </a:r>
            <a:r>
              <a:rPr lang="en-US" altLang="zh-CN" sz="1400" dirty="0">
                <a:latin typeface="Helvetica Neue"/>
                <a:sym typeface="+mn-ea"/>
              </a:rPr>
              <a:t>groups </a:t>
            </a:r>
            <a:r>
              <a:rPr lang="zh-CN" altLang="en-US" sz="1400" dirty="0">
                <a:latin typeface="Helvetica Neue"/>
                <a:sym typeface="+mn-ea"/>
              </a:rPr>
              <a:t>样式为（</a:t>
            </a:r>
            <a:r>
              <a:rPr lang="en-US" altLang="zh-CN" sz="1400" dirty="0">
                <a:latin typeface="Helvetica Neue"/>
              </a:rPr>
              <a:t>group(1),group(2) </a:t>
            </a:r>
            <a:r>
              <a:rPr lang="zh-CN" altLang="en-US" sz="1400" dirty="0">
                <a:latin typeface="Helvetica Neue"/>
              </a:rPr>
              <a:t>，</a:t>
            </a:r>
            <a:r>
              <a:rPr lang="en-US" altLang="zh-CN" sz="1400" dirty="0">
                <a:latin typeface="Helvetica Neue"/>
              </a:rPr>
              <a:t>....</a:t>
            </a:r>
            <a:r>
              <a:rPr lang="zh-CN" altLang="en-US" sz="1400" dirty="0">
                <a:latin typeface="Helvetica Neue"/>
              </a:rPr>
              <a:t>） </a:t>
            </a:r>
          </a:p>
        </p:txBody>
      </p:sp>
      <p:sp>
        <p:nvSpPr>
          <p:cNvPr id="5" name="文本框 4"/>
          <p:cNvSpPr txBox="1"/>
          <p:nvPr/>
        </p:nvSpPr>
        <p:spPr>
          <a:xfrm>
            <a:off x="570384" y="3663828"/>
            <a:ext cx="8003232" cy="1477328"/>
          </a:xfrm>
          <a:prstGeom prst="rect">
            <a:avLst/>
          </a:prstGeom>
          <a:noFill/>
        </p:spPr>
        <p:txBody>
          <a:bodyPr wrap="square">
            <a:spAutoFit/>
          </a:bodyPr>
          <a:lstStyle/>
          <a:p>
            <a:pPr marL="0" indent="0" algn="l" latinLnBrk="1">
              <a:buNone/>
            </a:pPr>
            <a:r>
              <a:rPr lang="zh-CN" altLang="en-US" sz="1500" dirty="0">
                <a:solidFill>
                  <a:srgbClr val="333333"/>
                </a:solidFill>
                <a:latin typeface="Helvetica Neue"/>
              </a:rPr>
              <a:t>没有匹配项，则返回</a:t>
            </a:r>
            <a:r>
              <a:rPr lang="en-US" altLang="zh-CN" sz="1500" dirty="0">
                <a:solidFill>
                  <a:srgbClr val="333333"/>
                </a:solidFill>
                <a:latin typeface="Helvetica Neue"/>
              </a:rPr>
              <a:t>None</a:t>
            </a:r>
            <a:r>
              <a:rPr lang="zh-CN" altLang="en-US" sz="1500" dirty="0">
                <a:solidFill>
                  <a:srgbClr val="333333"/>
                </a:solidFill>
                <a:latin typeface="Helvetica Neue"/>
              </a:rPr>
              <a:t>。否则，返回匹配结果，为</a:t>
            </a:r>
            <a:r>
              <a:rPr lang="en-US" altLang="zh-CN" sz="1500" dirty="0">
                <a:solidFill>
                  <a:srgbClr val="333333"/>
                </a:solidFill>
                <a:latin typeface="Helvetica Neue"/>
              </a:rPr>
              <a:t>Match</a:t>
            </a:r>
            <a:r>
              <a:rPr lang="zh-CN" altLang="en-US" sz="1500" dirty="0">
                <a:solidFill>
                  <a:srgbClr val="333333"/>
                </a:solidFill>
                <a:latin typeface="Helvetica Neue"/>
              </a:rPr>
              <a:t>对象。这时又分两种情况：</a:t>
            </a:r>
            <a:endParaRPr lang="en-US" altLang="zh-CN" sz="1500" dirty="0">
              <a:solidFill>
                <a:srgbClr val="333333"/>
              </a:solidFill>
              <a:latin typeface="Helvetica Neue"/>
            </a:endParaRPr>
          </a:p>
          <a:p>
            <a:pPr marL="0" indent="0" algn="l" latinLnBrk="1">
              <a:buNone/>
            </a:pPr>
            <a:r>
              <a:rPr lang="zh-CN" altLang="en-US" sz="1500" dirty="0">
                <a:solidFill>
                  <a:srgbClr val="333333"/>
                </a:solidFill>
                <a:latin typeface="Helvetica Neue"/>
              </a:rPr>
              <a:t>（</a:t>
            </a:r>
            <a:r>
              <a:rPr lang="en-US" altLang="zh-CN" sz="1500" dirty="0">
                <a:solidFill>
                  <a:srgbClr val="333333"/>
                </a:solidFill>
                <a:latin typeface="Helvetica Neue"/>
              </a:rPr>
              <a:t>1</a:t>
            </a:r>
            <a:r>
              <a:rPr lang="zh-CN" altLang="en-US" sz="1500" dirty="0">
                <a:solidFill>
                  <a:srgbClr val="333333"/>
                </a:solidFill>
                <a:latin typeface="Helvetica Neue"/>
              </a:rPr>
              <a:t>）若</a:t>
            </a:r>
            <a:r>
              <a:rPr lang="en-US" altLang="zh-CN" sz="1500" dirty="0">
                <a:solidFill>
                  <a:srgbClr val="333333"/>
                </a:solidFill>
                <a:latin typeface="Helvetica Neue"/>
              </a:rPr>
              <a:t>pattern</a:t>
            </a:r>
            <a:r>
              <a:rPr lang="zh-CN" altLang="en-US" sz="1500" dirty="0">
                <a:solidFill>
                  <a:srgbClr val="333333"/>
                </a:solidFill>
                <a:latin typeface="Helvetica Neue"/>
                <a:sym typeface="+mn-ea"/>
              </a:rPr>
              <a:t>匹配</a:t>
            </a:r>
            <a:r>
              <a:rPr lang="zh-CN" altLang="en-US" sz="1500" dirty="0">
                <a:solidFill>
                  <a:srgbClr val="333333"/>
                </a:solidFill>
                <a:latin typeface="Helvetica Neue"/>
              </a:rPr>
              <a:t>正则表达式中无 即</a:t>
            </a:r>
            <a:r>
              <a:rPr lang="en-US" altLang="zh-CN" sz="1500" dirty="0">
                <a:solidFill>
                  <a:srgbClr val="333333"/>
                </a:solidFill>
                <a:latin typeface="Helvetica Neue"/>
              </a:rPr>
              <a:t>0</a:t>
            </a:r>
            <a:r>
              <a:rPr lang="zh-CN" altLang="en-US" sz="1500" dirty="0">
                <a:solidFill>
                  <a:srgbClr val="333333"/>
                </a:solidFill>
                <a:latin typeface="Helvetica Neue"/>
              </a:rPr>
              <a:t>个“子模式”，</a:t>
            </a:r>
            <a:r>
              <a:rPr lang="zh-CN" altLang="en-US" sz="1500" b="0" i="0" dirty="0">
                <a:solidFill>
                  <a:srgbClr val="333333"/>
                </a:solidFill>
                <a:effectLst/>
                <a:latin typeface="Helvetica Neue"/>
              </a:rPr>
              <a:t> </a:t>
            </a:r>
            <a:r>
              <a:rPr lang="en-US" altLang="zh-CN" sz="1500" dirty="0" err="1">
                <a:solidFill>
                  <a:srgbClr val="333333"/>
                </a:solidFill>
                <a:latin typeface="Helvetica Neue"/>
              </a:rPr>
              <a:t>group</a:t>
            </a:r>
            <a:r>
              <a:rPr lang="en-US" altLang="zh-CN" sz="1500" dirty="0">
                <a:solidFill>
                  <a:srgbClr val="333333"/>
                </a:solidFill>
                <a:latin typeface="Helvetica Neue"/>
              </a:rPr>
              <a:t>(0)</a:t>
            </a:r>
            <a:r>
              <a:rPr lang="zh-CN" altLang="en-US" sz="1500" dirty="0">
                <a:solidFill>
                  <a:srgbClr val="333333"/>
                </a:solidFill>
                <a:latin typeface="Helvetica Neue"/>
              </a:rPr>
              <a:t>即为整个</a:t>
            </a:r>
            <a:r>
              <a:rPr lang="en-US" altLang="zh-CN" sz="1500" dirty="0">
                <a:solidFill>
                  <a:srgbClr val="333333"/>
                </a:solidFill>
                <a:latin typeface="Helvetica Neue"/>
              </a:rPr>
              <a:t>pattern</a:t>
            </a:r>
            <a:r>
              <a:rPr lang="zh-CN" altLang="en-US" sz="1500" dirty="0">
                <a:solidFill>
                  <a:srgbClr val="333333"/>
                </a:solidFill>
                <a:latin typeface="Helvetica Neue"/>
              </a:rPr>
              <a:t>模式匹配的结果字符串。</a:t>
            </a:r>
            <a:r>
              <a:rPr lang="en-US" altLang="zh-CN" sz="1500" dirty="0">
                <a:solidFill>
                  <a:srgbClr val="333333"/>
                </a:solidFill>
                <a:latin typeface="Helvetica Neue"/>
              </a:rPr>
              <a:t>groups </a:t>
            </a:r>
            <a:r>
              <a:rPr lang="zh-CN" altLang="en-US" sz="1500" dirty="0">
                <a:solidFill>
                  <a:srgbClr val="333333"/>
                </a:solidFill>
                <a:latin typeface="Helvetica Neue"/>
              </a:rPr>
              <a:t>为</a:t>
            </a:r>
            <a:r>
              <a:rPr lang="en-US" altLang="zh-CN" sz="1500" dirty="0">
                <a:solidFill>
                  <a:srgbClr val="333333"/>
                </a:solidFill>
                <a:latin typeface="Helvetica Neue"/>
              </a:rPr>
              <a:t> </a:t>
            </a:r>
            <a:r>
              <a:rPr lang="zh-CN" altLang="en-US" sz="1500" dirty="0">
                <a:solidFill>
                  <a:srgbClr val="333333"/>
                </a:solidFill>
                <a:latin typeface="Helvetica Neue"/>
              </a:rPr>
              <a:t>空</a:t>
            </a:r>
            <a:r>
              <a:rPr lang="en-US" altLang="zh-CN" sz="1500" dirty="0">
                <a:solidFill>
                  <a:srgbClr val="333333"/>
                </a:solidFill>
                <a:latin typeface="Helvetica Neue"/>
              </a:rPr>
              <a:t>()</a:t>
            </a:r>
            <a:r>
              <a:rPr lang="zh-CN" altLang="en-US" sz="1500" dirty="0">
                <a:solidFill>
                  <a:srgbClr val="333333"/>
                </a:solidFill>
                <a:latin typeface="Helvetica Neue"/>
              </a:rPr>
              <a:t>。</a:t>
            </a:r>
            <a:endParaRPr lang="en-US" altLang="zh-CN" sz="1500" b="0" i="0" dirty="0">
              <a:solidFill>
                <a:srgbClr val="333333"/>
              </a:solidFill>
              <a:effectLst/>
              <a:latin typeface="Helvetica Neue"/>
            </a:endParaRPr>
          </a:p>
          <a:p>
            <a:pPr marL="0" indent="0" algn="l" latinLnBrk="1">
              <a:buNone/>
            </a:pPr>
            <a:r>
              <a:rPr lang="zh-CN" altLang="en-US" sz="1500" dirty="0">
                <a:solidFill>
                  <a:srgbClr val="333333"/>
                </a:solidFill>
                <a:latin typeface="Helvetica Neue"/>
              </a:rPr>
              <a:t>（</a:t>
            </a:r>
            <a:r>
              <a:rPr lang="en-US" altLang="zh-CN" sz="1500" dirty="0">
                <a:solidFill>
                  <a:srgbClr val="333333"/>
                </a:solidFill>
                <a:latin typeface="Helvetica Neue"/>
              </a:rPr>
              <a:t>2</a:t>
            </a:r>
            <a:r>
              <a:rPr lang="zh-CN" altLang="en-US" sz="1500" dirty="0">
                <a:solidFill>
                  <a:srgbClr val="333333"/>
                </a:solidFill>
                <a:latin typeface="Helvetica Neue"/>
              </a:rPr>
              <a:t>）若</a:t>
            </a:r>
            <a:r>
              <a:rPr lang="en-US" altLang="zh-CN" sz="1500" dirty="0">
                <a:solidFill>
                  <a:srgbClr val="333333"/>
                </a:solidFill>
                <a:latin typeface="Helvetica Neue"/>
              </a:rPr>
              <a:t>pattern</a:t>
            </a:r>
            <a:r>
              <a:rPr lang="zh-CN" altLang="en-US" sz="1500" dirty="0">
                <a:solidFill>
                  <a:srgbClr val="333333"/>
                </a:solidFill>
                <a:latin typeface="Helvetica Neue"/>
              </a:rPr>
              <a:t>正则表达式中含有≥</a:t>
            </a:r>
            <a:r>
              <a:rPr lang="en-US" altLang="zh-CN" sz="1500" dirty="0">
                <a:solidFill>
                  <a:srgbClr val="333333"/>
                </a:solidFill>
                <a:latin typeface="Helvetica Neue"/>
              </a:rPr>
              <a:t>1</a:t>
            </a:r>
            <a:r>
              <a:rPr lang="zh-CN" altLang="en-US" sz="1500" dirty="0">
                <a:solidFill>
                  <a:srgbClr val="333333"/>
                </a:solidFill>
                <a:latin typeface="Helvetica Neue"/>
              </a:rPr>
              <a:t>个子模式，</a:t>
            </a:r>
            <a:r>
              <a:rPr lang="en-US" altLang="zh-CN" sz="1500" dirty="0">
                <a:solidFill>
                  <a:srgbClr val="333333"/>
                </a:solidFill>
                <a:latin typeface="Helvetica Neue"/>
              </a:rPr>
              <a:t>group(0)</a:t>
            </a:r>
            <a:r>
              <a:rPr lang="zh-CN" altLang="en-US" sz="1500" dirty="0">
                <a:solidFill>
                  <a:srgbClr val="333333"/>
                </a:solidFill>
                <a:latin typeface="Helvetica Neue"/>
              </a:rPr>
              <a:t>为</a:t>
            </a:r>
            <a:r>
              <a:rPr lang="en-US" altLang="zh-CN" sz="1500" dirty="0">
                <a:solidFill>
                  <a:srgbClr val="333333"/>
                </a:solidFill>
                <a:latin typeface="Helvetica Neue"/>
              </a:rPr>
              <a:t>pattern</a:t>
            </a:r>
            <a:r>
              <a:rPr lang="zh-CN" altLang="en-US" sz="1500" dirty="0">
                <a:solidFill>
                  <a:srgbClr val="333333"/>
                </a:solidFill>
                <a:latin typeface="Helvetica Neue"/>
              </a:rPr>
              <a:t>匹配串，</a:t>
            </a:r>
            <a:r>
              <a:rPr lang="en-US" altLang="zh-CN" sz="1500" dirty="0">
                <a:solidFill>
                  <a:srgbClr val="333333"/>
                </a:solidFill>
                <a:latin typeface="Helvetica Neue"/>
              </a:rPr>
              <a:t>groups()</a:t>
            </a:r>
            <a:r>
              <a:rPr lang="zh-CN" altLang="en-US" sz="1500" dirty="0">
                <a:solidFill>
                  <a:srgbClr val="333333"/>
                </a:solidFill>
                <a:latin typeface="Helvetica Neue"/>
              </a:rPr>
              <a:t>为</a:t>
            </a:r>
            <a:r>
              <a:rPr lang="en-US" altLang="zh-CN" sz="1500" dirty="0">
                <a:solidFill>
                  <a:srgbClr val="333333"/>
                </a:solidFill>
                <a:latin typeface="Helvetica Neue"/>
              </a:rPr>
              <a:t>tuple(</a:t>
            </a:r>
            <a:r>
              <a:rPr lang="zh-CN" altLang="en-US" sz="1500" dirty="0">
                <a:solidFill>
                  <a:srgbClr val="333333"/>
                </a:solidFill>
                <a:latin typeface="Helvetica Neue"/>
              </a:rPr>
              <a:t>子模式</a:t>
            </a:r>
            <a:r>
              <a:rPr lang="en-US" altLang="zh-CN" sz="1500" dirty="0">
                <a:solidFill>
                  <a:srgbClr val="333333"/>
                </a:solidFill>
                <a:latin typeface="Helvetica Neue"/>
              </a:rPr>
              <a:t>1</a:t>
            </a:r>
            <a:r>
              <a:rPr lang="zh-CN" altLang="en-US" sz="1500" dirty="0">
                <a:solidFill>
                  <a:srgbClr val="333333"/>
                </a:solidFill>
                <a:latin typeface="Helvetica Neue"/>
              </a:rPr>
              <a:t>匹配的分组</a:t>
            </a:r>
            <a:r>
              <a:rPr lang="en-US" altLang="zh-CN" sz="1500" dirty="0">
                <a:solidFill>
                  <a:srgbClr val="333333"/>
                </a:solidFill>
                <a:latin typeface="Helvetica Neue"/>
              </a:rPr>
              <a:t>1,</a:t>
            </a:r>
            <a:r>
              <a:rPr lang="zh-CN" altLang="en-US" sz="1500" dirty="0">
                <a:solidFill>
                  <a:srgbClr val="333333"/>
                </a:solidFill>
                <a:latin typeface="Helvetica Neue"/>
                <a:sym typeface="+mn-ea"/>
              </a:rPr>
              <a:t>子模式</a:t>
            </a:r>
            <a:r>
              <a:rPr lang="en-US" altLang="zh-CN" sz="1500" dirty="0">
                <a:solidFill>
                  <a:srgbClr val="333333"/>
                </a:solidFill>
                <a:latin typeface="Helvetica Neue"/>
                <a:sym typeface="+mn-ea"/>
              </a:rPr>
              <a:t>2</a:t>
            </a:r>
            <a:r>
              <a:rPr lang="zh-CN" altLang="en-US" sz="1500" dirty="0">
                <a:solidFill>
                  <a:srgbClr val="333333"/>
                </a:solidFill>
                <a:latin typeface="Helvetica Neue"/>
                <a:sym typeface="+mn-ea"/>
              </a:rPr>
              <a:t>匹配的分组</a:t>
            </a:r>
            <a:r>
              <a:rPr lang="en-US" altLang="zh-CN" sz="1500" dirty="0">
                <a:solidFill>
                  <a:srgbClr val="333333"/>
                </a:solidFill>
                <a:latin typeface="Helvetica Neue"/>
                <a:sym typeface="+mn-ea"/>
              </a:rPr>
              <a:t>2</a:t>
            </a:r>
            <a:r>
              <a:rPr lang="en-US" altLang="zh-CN" sz="1500" dirty="0">
                <a:solidFill>
                  <a:srgbClr val="333333"/>
                </a:solidFill>
                <a:latin typeface="Helvetica Neue"/>
              </a:rPr>
              <a:t>,…)</a:t>
            </a:r>
            <a:r>
              <a:rPr lang="zh-CN" altLang="en-US" sz="1500" dirty="0">
                <a:solidFill>
                  <a:srgbClr val="333333"/>
                </a:solidFill>
                <a:latin typeface="Helvetica Neue"/>
              </a:rPr>
              <a:t> 。即：</a:t>
            </a:r>
            <a:r>
              <a:rPr lang="zh-CN" altLang="en-US" sz="1500" b="0" i="0" dirty="0">
                <a:solidFill>
                  <a:srgbClr val="FF0000"/>
                </a:solidFill>
                <a:effectLst/>
                <a:latin typeface="Helvetica Neue"/>
              </a:rPr>
              <a:t>返回</a:t>
            </a:r>
            <a:r>
              <a:rPr lang="zh-CN" altLang="en-US" sz="1500" dirty="0">
                <a:solidFill>
                  <a:srgbClr val="FF0000"/>
                </a:solidFill>
                <a:latin typeface="Helvetica Neue"/>
              </a:rPr>
              <a:t>由 与子</a:t>
            </a:r>
            <a:r>
              <a:rPr lang="zh-CN" altLang="en-US" sz="1500" b="0" i="0" dirty="0">
                <a:solidFill>
                  <a:srgbClr val="FF0000"/>
                </a:solidFill>
                <a:effectLst/>
                <a:latin typeface="Helvetica Neue"/>
              </a:rPr>
              <a:t>模式匹配的分组构成的 元组 </a:t>
            </a:r>
            <a:r>
              <a:rPr lang="en-US" altLang="zh-CN" sz="1500" dirty="0">
                <a:solidFill>
                  <a:srgbClr val="FF0000"/>
                </a:solidFill>
                <a:latin typeface="Helvetica Neue"/>
              </a:rPr>
              <a:t>( </a:t>
            </a:r>
            <a:r>
              <a:rPr lang="zh-CN" altLang="en-US" sz="1500" dirty="0">
                <a:solidFill>
                  <a:srgbClr val="FF0000"/>
                </a:solidFill>
                <a:latin typeface="Helvetica Neue"/>
              </a:rPr>
              <a:t>子模式</a:t>
            </a:r>
            <a:r>
              <a:rPr lang="en-US" altLang="zh-CN" sz="1500" dirty="0">
                <a:solidFill>
                  <a:srgbClr val="FF0000"/>
                </a:solidFill>
                <a:latin typeface="Helvetica Neue"/>
              </a:rPr>
              <a:t>1</a:t>
            </a:r>
            <a:r>
              <a:rPr lang="zh-CN" altLang="en-US" sz="1500" dirty="0">
                <a:solidFill>
                  <a:srgbClr val="FF0000"/>
                </a:solidFill>
                <a:latin typeface="Helvetica Neue"/>
              </a:rPr>
              <a:t>匹配分组</a:t>
            </a:r>
            <a:r>
              <a:rPr lang="en-US" altLang="zh-CN" sz="1500" dirty="0">
                <a:solidFill>
                  <a:srgbClr val="FF0000"/>
                </a:solidFill>
                <a:latin typeface="Helvetica Neue"/>
              </a:rPr>
              <a:t>1</a:t>
            </a:r>
            <a:r>
              <a:rPr lang="zh-CN" altLang="en-US" sz="1500" dirty="0">
                <a:solidFill>
                  <a:srgbClr val="FF0000"/>
                </a:solidFill>
                <a:latin typeface="Helvetica Neue"/>
              </a:rPr>
              <a:t>，模式</a:t>
            </a:r>
            <a:r>
              <a:rPr lang="en-US" altLang="zh-CN" sz="1500" dirty="0">
                <a:solidFill>
                  <a:srgbClr val="FF0000"/>
                </a:solidFill>
                <a:latin typeface="Helvetica Neue"/>
              </a:rPr>
              <a:t>2</a:t>
            </a:r>
            <a:r>
              <a:rPr lang="zh-CN" altLang="en-US" sz="1500" dirty="0">
                <a:solidFill>
                  <a:srgbClr val="FF0000"/>
                </a:solidFill>
                <a:latin typeface="Helvetica Neue"/>
              </a:rPr>
              <a:t>匹配分组</a:t>
            </a:r>
            <a:r>
              <a:rPr lang="en-US" altLang="zh-CN" sz="1500" dirty="0">
                <a:solidFill>
                  <a:srgbClr val="FF0000"/>
                </a:solidFill>
                <a:latin typeface="Helvetica Neue"/>
              </a:rPr>
              <a:t>2</a:t>
            </a:r>
            <a:r>
              <a:rPr lang="zh-CN" altLang="en-US" sz="1500" dirty="0">
                <a:solidFill>
                  <a:srgbClr val="FF0000"/>
                </a:solidFill>
                <a:latin typeface="Helvetica Neue"/>
              </a:rPr>
              <a:t>，</a:t>
            </a:r>
            <a:r>
              <a:rPr lang="en-US" altLang="zh-CN" sz="1500" dirty="0">
                <a:solidFill>
                  <a:srgbClr val="FF0000"/>
                </a:solidFill>
                <a:latin typeface="Helvetica Neue"/>
              </a:rPr>
              <a:t>… </a:t>
            </a:r>
            <a:r>
              <a:rPr lang="zh-CN" altLang="en-US" sz="1500" dirty="0">
                <a:solidFill>
                  <a:srgbClr val="FF0000"/>
                </a:solidFill>
                <a:latin typeface="Helvetica Neue"/>
              </a:rPr>
              <a:t>）。</a:t>
            </a:r>
            <a:endParaRPr lang="en-US" altLang="zh-CN" sz="1500" b="0" i="0" dirty="0">
              <a:solidFill>
                <a:srgbClr val="333333"/>
              </a:solidFill>
              <a:effectLst/>
              <a:latin typeface="Helvetica Neue"/>
            </a:endParaRPr>
          </a:p>
        </p:txBody>
      </p:sp>
      <p:pic>
        <p:nvPicPr>
          <p:cNvPr id="14" name="图片 13"/>
          <p:cNvPicPr>
            <a:picLocks noChangeAspect="1"/>
          </p:cNvPicPr>
          <p:nvPr/>
        </p:nvPicPr>
        <p:blipFill>
          <a:blip r:embed="rId4"/>
          <a:stretch>
            <a:fillRect/>
          </a:stretch>
        </p:blipFill>
        <p:spPr>
          <a:xfrm>
            <a:off x="817240" y="2402374"/>
            <a:ext cx="3394720" cy="1210900"/>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80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63</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4.3.2 re</a:t>
            </a:r>
            <a:r>
              <a:rPr lang="zh-CN" altLang="en-US" sz="2800" b="1" dirty="0">
                <a:latin typeface="Times New Roman" panose="02020603050405020304" pitchFamily="18" charset="0"/>
                <a:ea typeface="仿宋" panose="02010609060101010101" pitchFamily="49" charset="-122"/>
              </a:rPr>
              <a:t>模块的主要方法与使用</a:t>
            </a:r>
            <a:endParaRPr lang="en-US" altLang="zh-CN" sz="2800" b="1" dirty="0">
              <a:ea typeface="仿宋" panose="02010609060101010101" pitchFamily="49" charset="-122"/>
            </a:endParaRPr>
          </a:p>
        </p:txBody>
      </p:sp>
      <p:grpSp>
        <p:nvGrpSpPr>
          <p:cNvPr id="7" name="组合 109"/>
          <p:cNvGrpSpPr/>
          <p:nvPr/>
        </p:nvGrpSpPr>
        <p:grpSpPr>
          <a:xfrm>
            <a:off x="489223" y="44624"/>
            <a:ext cx="4514825" cy="684413"/>
            <a:chOff x="956926" y="4567095"/>
            <a:chExt cx="4514825" cy="684413"/>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567095"/>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4" name="内容占位符 3"/>
          <p:cNvSpPr>
            <a:spLocks noGrp="1"/>
          </p:cNvSpPr>
          <p:nvPr>
            <p:ph idx="1"/>
          </p:nvPr>
        </p:nvSpPr>
        <p:spPr>
          <a:xfrm>
            <a:off x="0" y="1426059"/>
            <a:ext cx="8229600" cy="4678451"/>
          </a:xfrm>
        </p:spPr>
        <p:txBody>
          <a:bodyPr/>
          <a:lstStyle/>
          <a:p>
            <a:pPr algn="l"/>
            <a:r>
              <a:rPr lang="en-US" altLang="zh-CN" sz="1600" b="1" dirty="0" err="1">
                <a:solidFill>
                  <a:schemeClr val="accent6"/>
                </a:solidFill>
                <a:latin typeface="Helvetica Neue"/>
              </a:rPr>
              <a:t>re.search</a:t>
            </a:r>
            <a:r>
              <a:rPr lang="zh-CN" altLang="en-US" sz="1600" b="1" dirty="0">
                <a:solidFill>
                  <a:schemeClr val="accent6"/>
                </a:solidFill>
                <a:latin typeface="Helvetica Neue"/>
              </a:rPr>
              <a:t>方法</a:t>
            </a:r>
          </a:p>
          <a:p>
            <a:pPr marL="0" indent="0" algn="l" latinLnBrk="1">
              <a:buNone/>
            </a:pPr>
            <a:r>
              <a:rPr lang="en-US" altLang="zh-CN" sz="1600" dirty="0">
                <a:solidFill>
                  <a:srgbClr val="333333"/>
                </a:solidFill>
                <a:latin typeface="Helvetica Neue"/>
              </a:rPr>
              <a:t>      </a:t>
            </a:r>
            <a:r>
              <a:rPr lang="en-US" altLang="zh-CN" sz="1600" dirty="0" err="1">
                <a:solidFill>
                  <a:srgbClr val="333333"/>
                </a:solidFill>
                <a:latin typeface="Helvetica Neue"/>
              </a:rPr>
              <a:t>re.search</a:t>
            </a:r>
            <a:r>
              <a:rPr lang="en-US" altLang="zh-CN" sz="1600" dirty="0">
                <a:solidFill>
                  <a:srgbClr val="333333"/>
                </a:solidFill>
                <a:latin typeface="Helvetica Neue"/>
              </a:rPr>
              <a:t> </a:t>
            </a:r>
            <a:r>
              <a:rPr lang="zh-CN" altLang="en-US" sz="1600" dirty="0">
                <a:solidFill>
                  <a:srgbClr val="333333"/>
                </a:solidFill>
                <a:latin typeface="Helvetica Neue"/>
              </a:rPr>
              <a:t>扫描整个字符串并返回</a:t>
            </a:r>
            <a:r>
              <a:rPr lang="zh-CN" altLang="en-US" sz="1600" dirty="0">
                <a:solidFill>
                  <a:srgbClr val="FF0000"/>
                </a:solidFill>
                <a:latin typeface="Helvetica Neue"/>
              </a:rPr>
              <a:t>第一个成功</a:t>
            </a:r>
            <a:r>
              <a:rPr lang="zh-CN" altLang="en-US" sz="1600" dirty="0">
                <a:solidFill>
                  <a:srgbClr val="333333"/>
                </a:solidFill>
                <a:latin typeface="Helvetica Neue"/>
              </a:rPr>
              <a:t>的匹配。</a:t>
            </a:r>
            <a:endParaRPr lang="en-US" altLang="zh-CN" sz="1600" b="0" u="none" dirty="0">
              <a:solidFill>
                <a:srgbClr val="FF0000"/>
              </a:solidFill>
              <a:latin typeface="宋体" panose="02010600030101010101" pitchFamily="2" charset="-122"/>
              <a:ea typeface="宋体" panose="02010600030101010101" pitchFamily="2" charset="-122"/>
              <a:cs typeface="宋体" panose="02010600030101010101" pitchFamily="2" charset="-122"/>
            </a:endParaRPr>
          </a:p>
          <a:p>
            <a:pPr marL="0" indent="0" algn="l" latinLnBrk="1">
              <a:buNone/>
            </a:pPr>
            <a:r>
              <a:rPr lang="zh-CN" altLang="en-US" sz="1600" dirty="0">
                <a:solidFill>
                  <a:srgbClr val="333333"/>
                </a:solidFill>
                <a:latin typeface="Helvetica Neue"/>
              </a:rPr>
              <a:t>     语法格式：</a:t>
            </a:r>
            <a:r>
              <a:rPr lang="sv-SE" altLang="zh-CN" sz="1600" dirty="0"/>
              <a:t>re.search(pattern, string, flags=0)</a:t>
            </a:r>
          </a:p>
          <a:p>
            <a:pPr marL="0" indent="0" algn="l" latinLnBrk="1">
              <a:buNone/>
            </a:pPr>
            <a:endParaRPr lang="sv-SE" altLang="zh-CN" sz="1600" dirty="0"/>
          </a:p>
          <a:p>
            <a:pPr marL="0" indent="0" algn="l" latinLnBrk="1">
              <a:buNone/>
            </a:pPr>
            <a:endParaRPr lang="zh-CN" altLang="en-US" sz="1600" dirty="0"/>
          </a:p>
          <a:p>
            <a:pPr marL="0" indent="0">
              <a:buNone/>
            </a:pPr>
            <a:endParaRPr lang="en-US" altLang="zh-CN" dirty="0"/>
          </a:p>
          <a:p>
            <a:pPr marL="0" indent="0">
              <a:buNone/>
            </a:pPr>
            <a:endParaRPr lang="en-US" altLang="zh-CN" dirty="0"/>
          </a:p>
          <a:p>
            <a:pPr marL="0" indent="0">
              <a:buNone/>
            </a:pPr>
            <a:r>
              <a:rPr lang="en-US" altLang="zh-CN" sz="1600" dirty="0">
                <a:solidFill>
                  <a:srgbClr val="FF0000"/>
                </a:solidFill>
              </a:rPr>
              <a:t/>
            </a:r>
            <a:br>
              <a:rPr lang="en-US" altLang="zh-CN" sz="1600" dirty="0">
                <a:solidFill>
                  <a:srgbClr val="FF0000"/>
                </a:solidFill>
              </a:rPr>
            </a:br>
            <a:r>
              <a:rPr lang="zh-CN" altLang="en-US" dirty="0"/>
              <a:t/>
            </a:r>
            <a:br>
              <a:rPr lang="zh-CN" altLang="en-US" dirty="0"/>
            </a:br>
            <a:endParaRPr lang="zh-CN" altLang="en-US" dirty="0"/>
          </a:p>
        </p:txBody>
      </p:sp>
      <p:graphicFrame>
        <p:nvGraphicFramePr>
          <p:cNvPr id="2" name="表格 1">
            <a:extLst>
              <a:ext uri="{FF2B5EF4-FFF2-40B4-BE49-F238E27FC236}">
                <a16:creationId xmlns:a16="http://schemas.microsoft.com/office/drawing/2014/main" id="{B0A70D52-A836-9399-69F1-1E3AB1EDB9FD}"/>
              </a:ext>
            </a:extLst>
          </p:cNvPr>
          <p:cNvGraphicFramePr>
            <a:graphicFrameLocks noGrp="1"/>
          </p:cNvGraphicFramePr>
          <p:nvPr>
            <p:extLst>
              <p:ext uri="{D42A27DB-BD31-4B8C-83A1-F6EECF244321}">
                <p14:modId xmlns:p14="http://schemas.microsoft.com/office/powerpoint/2010/main" val="2838789221"/>
              </p:ext>
            </p:extLst>
          </p:nvPr>
        </p:nvGraphicFramePr>
        <p:xfrm>
          <a:off x="489223" y="2390063"/>
          <a:ext cx="8434087" cy="2134944"/>
        </p:xfrm>
        <a:graphic>
          <a:graphicData uri="http://schemas.openxmlformats.org/drawingml/2006/table">
            <a:tbl>
              <a:tblPr firstRow="1" bandRow="1">
                <a:tableStyleId>{5C22544A-7EE6-4342-B048-85BDC9FD1C3A}</a:tableStyleId>
              </a:tblPr>
              <a:tblGrid>
                <a:gridCol w="1063954">
                  <a:extLst>
                    <a:ext uri="{9D8B030D-6E8A-4147-A177-3AD203B41FA5}">
                      <a16:colId xmlns:a16="http://schemas.microsoft.com/office/drawing/2014/main" val="2859598422"/>
                    </a:ext>
                  </a:extLst>
                </a:gridCol>
                <a:gridCol w="889412">
                  <a:extLst>
                    <a:ext uri="{9D8B030D-6E8A-4147-A177-3AD203B41FA5}">
                      <a16:colId xmlns:a16="http://schemas.microsoft.com/office/drawing/2014/main" val="2607177827"/>
                    </a:ext>
                  </a:extLst>
                </a:gridCol>
                <a:gridCol w="2376265">
                  <a:extLst>
                    <a:ext uri="{9D8B030D-6E8A-4147-A177-3AD203B41FA5}">
                      <a16:colId xmlns:a16="http://schemas.microsoft.com/office/drawing/2014/main" val="2823214742"/>
                    </a:ext>
                  </a:extLst>
                </a:gridCol>
                <a:gridCol w="1800200">
                  <a:extLst>
                    <a:ext uri="{9D8B030D-6E8A-4147-A177-3AD203B41FA5}">
                      <a16:colId xmlns:a16="http://schemas.microsoft.com/office/drawing/2014/main" val="1616585409"/>
                    </a:ext>
                  </a:extLst>
                </a:gridCol>
                <a:gridCol w="900100">
                  <a:extLst>
                    <a:ext uri="{9D8B030D-6E8A-4147-A177-3AD203B41FA5}">
                      <a16:colId xmlns:a16="http://schemas.microsoft.com/office/drawing/2014/main" val="1757871734"/>
                    </a:ext>
                  </a:extLst>
                </a:gridCol>
                <a:gridCol w="900100">
                  <a:extLst>
                    <a:ext uri="{9D8B030D-6E8A-4147-A177-3AD203B41FA5}">
                      <a16:colId xmlns:a16="http://schemas.microsoft.com/office/drawing/2014/main" val="250222280"/>
                    </a:ext>
                  </a:extLst>
                </a:gridCol>
                <a:gridCol w="504056">
                  <a:extLst>
                    <a:ext uri="{9D8B030D-6E8A-4147-A177-3AD203B41FA5}">
                      <a16:colId xmlns:a16="http://schemas.microsoft.com/office/drawing/2014/main" val="1425400261"/>
                    </a:ext>
                  </a:extLst>
                </a:gridCol>
              </a:tblGrid>
              <a:tr h="2994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solidFill>
                            <a:srgbClr val="FF0000"/>
                          </a:solidFill>
                        </a:rPr>
                        <a:t>匹配失败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p>
                      <a:pPr algn="ctr"/>
                      <a:r>
                        <a:rPr lang="zh-CN" altLang="en-US" sz="1400" dirty="0">
                          <a:solidFill>
                            <a:srgbClr val="FF0000"/>
                          </a:solidFill>
                        </a:rPr>
                        <a:t>返回 </a:t>
                      </a:r>
                      <a:r>
                        <a:rPr lang="en-US" altLang="zh-CN" sz="1400" dirty="0">
                          <a:solidFill>
                            <a:srgbClr val="FF0000"/>
                          </a:solidFill>
                        </a:rPr>
                        <a:t>None</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323898056"/>
                  </a:ext>
                </a:extLst>
              </a:tr>
              <a:tr h="396912">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匹配成功</a:t>
                      </a:r>
                      <a:endParaRPr lang="en-US" altLang="zh-CN" sz="14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 </a:t>
                      </a:r>
                      <a:endParaRPr lang="en-US" altLang="zh-CN" sz="14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返回</a:t>
                      </a:r>
                      <a:r>
                        <a:rPr lang="en-US" altLang="zh-CN" sz="1400" dirty="0"/>
                        <a:t>match </a:t>
                      </a:r>
                      <a:r>
                        <a:rPr lang="zh-CN" altLang="en-US" sz="1400" dirty="0"/>
                        <a:t>对象</a:t>
                      </a:r>
                    </a:p>
                    <a:p>
                      <a:pPr algn="ctr"/>
                      <a:r>
                        <a:rPr lang="en-US" altLang="zh-CN" sz="1400" dirty="0"/>
                        <a:t>Span()</a:t>
                      </a:r>
                    </a:p>
                    <a:p>
                      <a:pPr algn="ct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US" altLang="zh-CN" sz="1400" b="1" dirty="0">
                          <a:latin typeface="Abadi" panose="020F0502020204030204" pitchFamily="34" charset="0"/>
                        </a:rPr>
                        <a:t>pattern</a:t>
                      </a:r>
                      <a:endParaRPr lang="zh-CN" altLang="en-US" sz="1400" b="1" dirty="0">
                        <a:latin typeface="Abad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CN" sz="1400" b="1" dirty="0">
                          <a:latin typeface="Abadi" panose="020F0502020204030204" pitchFamily="34" charset="0"/>
                        </a:rPr>
                        <a:t>group(0)</a:t>
                      </a:r>
                      <a:endParaRPr lang="zh-CN" altLang="en-US" sz="1400" b="1" dirty="0">
                        <a:latin typeface="Abad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CN" sz="1400" b="1" dirty="0">
                          <a:latin typeface="Abadi" panose="020F0502020204030204" pitchFamily="34" charset="0"/>
                        </a:rPr>
                        <a:t>groups()</a:t>
                      </a:r>
                      <a:endParaRPr lang="zh-CN" altLang="en-US" sz="1400" b="1" dirty="0">
                        <a:latin typeface="Abad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CN" sz="1400" b="1" dirty="0">
                          <a:latin typeface="Abadi" panose="020F0502020204030204" pitchFamily="34" charset="0"/>
                        </a:rPr>
                        <a:t>group(1)</a:t>
                      </a:r>
                      <a:endParaRPr lang="zh-CN" altLang="en-US" sz="1400" b="1" dirty="0">
                        <a:latin typeface="Abad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CN" sz="1400" b="1" dirty="0">
                          <a:latin typeface="Abadi" panose="020F0502020204030204" pitchFamily="34" charset="0"/>
                        </a:rPr>
                        <a:t>group(2)</a:t>
                      </a:r>
                      <a:endParaRPr lang="zh-CN" altLang="en-US" sz="1400" b="1" dirty="0">
                        <a:latin typeface="Abad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altLang="zh-CN" sz="1400" b="1" dirty="0">
                          <a:latin typeface="Abadi" panose="020F0502020204030204" pitchFamily="34" charset="0"/>
                        </a:rPr>
                        <a:t>… ..</a:t>
                      </a:r>
                      <a:endParaRPr lang="zh-CN" altLang="en-US" sz="1400" b="1" dirty="0">
                        <a:latin typeface="Abad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298025478"/>
                  </a:ext>
                </a:extLst>
              </a:tr>
              <a:tr h="396912">
                <a:tc v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无子模式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dirty="0"/>
                        <a:t>与整个</a:t>
                      </a:r>
                      <a:r>
                        <a:rPr lang="en-US" altLang="zh-CN" sz="1400" dirty="0"/>
                        <a:t>pattern</a:t>
                      </a:r>
                      <a:r>
                        <a:rPr lang="zh-CN" altLang="en-US" sz="1400" dirty="0"/>
                        <a:t>匹配的字符串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dirty="0"/>
                        <a:t>空元组 </a:t>
                      </a:r>
                      <a:r>
                        <a:rPr lang="en-US" altLang="zh-CN" sz="1400" dirty="0"/>
                        <a:t>( )</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dirty="0">
                          <a:solidFill>
                            <a:srgbClr val="FF0000"/>
                          </a:solidFill>
                          <a:latin typeface="宋体" panose="02010600030101010101" pitchFamily="2" charset="-122"/>
                          <a:ea typeface="宋体" panose="02010600030101010101" pitchFamily="2" charset="-122"/>
                        </a:rPr>
                        <a:t>╳</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dirty="0">
                          <a:solidFill>
                            <a:srgbClr val="FF0000"/>
                          </a:solidFill>
                          <a:latin typeface="宋体" panose="02010600030101010101" pitchFamily="2" charset="-122"/>
                          <a:ea typeface="+mn-ea"/>
                        </a:rPr>
                        <a:t>╳</a:t>
                      </a:r>
                      <a:endParaRPr lang="zh-CN" alt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500641"/>
                  </a:ext>
                </a:extLst>
              </a:tr>
              <a:tr h="40609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匹配成功</a:t>
                      </a:r>
                      <a:r>
                        <a:rPr lang="en-US" altLang="zh-CN" dirty="0"/>
                        <a:t>,</a:t>
                      </a:r>
                      <a:r>
                        <a:rPr lang="zh-CN" altLang="en-US" dirty="0"/>
                        <a:t>返回</a:t>
                      </a:r>
                      <a:r>
                        <a:rPr lang="en-US" altLang="zh-CN" dirty="0"/>
                        <a:t>match </a:t>
                      </a:r>
                      <a:r>
                        <a:rPr lang="zh-CN" altLang="en-US" dirty="0"/>
                        <a:t>对象</a:t>
                      </a:r>
                    </a:p>
                    <a:p>
                      <a:pPr algn="ct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400" dirty="0"/>
                        <a:t>有子模式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与整个</a:t>
                      </a:r>
                      <a:r>
                        <a:rPr lang="en-US" altLang="zh-CN" sz="1400" dirty="0"/>
                        <a:t>pattern</a:t>
                      </a:r>
                      <a:r>
                        <a:rPr lang="zh-CN" altLang="en-US" sz="1400" dirty="0"/>
                        <a:t>匹配的字符串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a:t>(</a:t>
                      </a:r>
                      <a:r>
                        <a:rPr lang="zh-CN" altLang="en-US" sz="1400" dirty="0"/>
                        <a:t>分组</a:t>
                      </a:r>
                      <a:r>
                        <a:rPr lang="en-US" altLang="zh-CN" sz="1400" dirty="0"/>
                        <a:t>1</a:t>
                      </a:r>
                      <a:r>
                        <a:rPr lang="zh-CN" altLang="en-US" sz="1400" dirty="0"/>
                        <a:t>，分组</a:t>
                      </a:r>
                      <a:r>
                        <a:rPr lang="en-US" altLang="zh-CN" sz="1400" dirty="0"/>
                        <a:t>2</a:t>
                      </a:r>
                      <a:r>
                        <a:rPr lang="zh-CN" altLang="en-US" sz="1400" dirty="0"/>
                        <a:t>，</a:t>
                      </a:r>
                      <a:r>
                        <a:rPr lang="en-US" altLang="zh-CN" sz="1400" dirty="0"/>
                        <a:t>…)</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dirty="0"/>
                        <a:t>分组</a:t>
                      </a:r>
                      <a:r>
                        <a:rPr lang="en-US" altLang="zh-CN" sz="1400" dirty="0"/>
                        <a:t>1</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dirty="0"/>
                        <a:t>分组</a:t>
                      </a:r>
                      <a:r>
                        <a:rPr lang="en-US" altLang="zh-CN" sz="1400" dirty="0"/>
                        <a:t>2</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0532321"/>
                  </a:ext>
                </a:extLst>
              </a:tr>
              <a:tr h="396912">
                <a:tc>
                  <a:txBody>
                    <a:bodyPr/>
                    <a:lstStyle/>
                    <a:p>
                      <a:pPr algn="ct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4">
                  <a:txBody>
                    <a:bodyPr/>
                    <a:lstStyle/>
                    <a:p>
                      <a:pPr algn="ctr"/>
                      <a:r>
                        <a:rPr lang="en-US" altLang="zh-CN" sz="1400" dirty="0"/>
                        <a:t>group(1-N) </a:t>
                      </a:r>
                      <a:r>
                        <a:rPr lang="zh-CN" altLang="en-US" sz="1400" dirty="0"/>
                        <a:t>常用于 查找结果的 自我变形 引用！！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036790"/>
                  </a:ext>
                </a:extLst>
              </a:tr>
            </a:tbl>
          </a:graphicData>
        </a:graphic>
      </p:graphicFrame>
      <p:pic>
        <p:nvPicPr>
          <p:cNvPr id="16" name="图片 15">
            <a:extLst>
              <a:ext uri="{FF2B5EF4-FFF2-40B4-BE49-F238E27FC236}">
                <a16:creationId xmlns:a16="http://schemas.microsoft.com/office/drawing/2014/main" id="{A7826AE1-6160-57D1-FD0A-D0D4998CCEB1}"/>
              </a:ext>
            </a:extLst>
          </p:cNvPr>
          <p:cNvPicPr>
            <a:picLocks noChangeAspect="1"/>
          </p:cNvPicPr>
          <p:nvPr/>
        </p:nvPicPr>
        <p:blipFill>
          <a:blip r:embed="rId4"/>
          <a:stretch>
            <a:fillRect/>
          </a:stretch>
        </p:blipFill>
        <p:spPr>
          <a:xfrm>
            <a:off x="107505" y="4636789"/>
            <a:ext cx="3168351" cy="1349984"/>
          </a:xfrm>
          <a:prstGeom prst="rect">
            <a:avLst/>
          </a:prstGeom>
        </p:spPr>
      </p:pic>
      <p:sp>
        <p:nvSpPr>
          <p:cNvPr id="21" name="文本框 20">
            <a:extLst>
              <a:ext uri="{FF2B5EF4-FFF2-40B4-BE49-F238E27FC236}">
                <a16:creationId xmlns:a16="http://schemas.microsoft.com/office/drawing/2014/main" id="{D71FB078-AEB2-EFA6-5B55-73F12FA02E03}"/>
              </a:ext>
            </a:extLst>
          </p:cNvPr>
          <p:cNvSpPr txBox="1"/>
          <p:nvPr/>
        </p:nvSpPr>
        <p:spPr>
          <a:xfrm>
            <a:off x="4283968" y="2033884"/>
            <a:ext cx="4978896" cy="276999"/>
          </a:xfrm>
          <a:prstGeom prst="rect">
            <a:avLst/>
          </a:prstGeom>
          <a:noFill/>
        </p:spPr>
        <p:txBody>
          <a:bodyPr wrap="square">
            <a:spAutoFit/>
          </a:bodyPr>
          <a:lstStyle/>
          <a:p>
            <a:r>
              <a:rPr lang="zh-CN" altLang="en-US" sz="1200" dirty="0">
                <a:solidFill>
                  <a:srgbClr val="FF0000"/>
                </a:solidFill>
              </a:rPr>
              <a:t>注意：子模式 对应 结果中的 匹配分组，如子模式</a:t>
            </a:r>
            <a:r>
              <a:rPr lang="en-US" altLang="zh-CN" sz="1200" dirty="0">
                <a:solidFill>
                  <a:srgbClr val="FF0000"/>
                </a:solidFill>
              </a:rPr>
              <a:t>1</a:t>
            </a:r>
            <a:r>
              <a:rPr lang="zh-CN" altLang="en-US" sz="1200" dirty="0">
                <a:solidFill>
                  <a:srgbClr val="FF0000"/>
                </a:solidFill>
              </a:rPr>
              <a:t> 对应 分组</a:t>
            </a:r>
            <a:r>
              <a:rPr lang="en-US" altLang="zh-CN" sz="1200" dirty="0">
                <a:solidFill>
                  <a:srgbClr val="FF0000"/>
                </a:solidFill>
              </a:rPr>
              <a:t>1 </a:t>
            </a:r>
            <a:r>
              <a:rPr lang="zh-CN" altLang="en-US" sz="1200" dirty="0" smtClean="0">
                <a:solidFill>
                  <a:srgbClr val="FF0000"/>
                </a:solidFill>
              </a:rPr>
              <a:t>，</a:t>
            </a:r>
            <a:r>
              <a:rPr lang="en-US" altLang="zh-CN" sz="1200" dirty="0" smtClean="0">
                <a:solidFill>
                  <a:srgbClr val="FF0000"/>
                </a:solidFill>
              </a:rPr>
              <a:t>…</a:t>
            </a:r>
            <a:endParaRPr lang="zh-CN" altLang="en-US" sz="1200" dirty="0"/>
          </a:p>
        </p:txBody>
      </p:sp>
      <p:pic>
        <p:nvPicPr>
          <p:cNvPr id="3" name="图片 2"/>
          <p:cNvPicPr>
            <a:picLocks noChangeAspect="1"/>
          </p:cNvPicPr>
          <p:nvPr/>
        </p:nvPicPr>
        <p:blipFill>
          <a:blip r:embed="rId5"/>
          <a:stretch>
            <a:fillRect/>
          </a:stretch>
        </p:blipFill>
        <p:spPr>
          <a:xfrm>
            <a:off x="3363689" y="4604187"/>
            <a:ext cx="4580519" cy="1972092"/>
          </a:xfrm>
          <a:prstGeom prst="rect">
            <a:avLst/>
          </a:prstGeom>
        </p:spPr>
      </p:pic>
      <p:sp>
        <p:nvSpPr>
          <p:cNvPr id="22" name="文本框 21">
            <a:extLst>
              <a:ext uri="{FF2B5EF4-FFF2-40B4-BE49-F238E27FC236}">
                <a16:creationId xmlns:a16="http://schemas.microsoft.com/office/drawing/2014/main" id="{3E0AE3F2-0B30-902A-1988-721A7A52BC46}"/>
              </a:ext>
            </a:extLst>
          </p:cNvPr>
          <p:cNvSpPr txBox="1"/>
          <p:nvPr/>
        </p:nvSpPr>
        <p:spPr>
          <a:xfrm>
            <a:off x="5076056" y="6190962"/>
            <a:ext cx="3672408" cy="430887"/>
          </a:xfrm>
          <a:prstGeom prst="rect">
            <a:avLst/>
          </a:prstGeom>
          <a:noFill/>
        </p:spPr>
        <p:txBody>
          <a:bodyPr wrap="square">
            <a:spAutoFit/>
          </a:bodyPr>
          <a:lstStyle/>
          <a:p>
            <a:r>
              <a:rPr lang="en-US" altLang="zh-CN" sz="1100" dirty="0" err="1"/>
              <a:t>groupdict</a:t>
            </a:r>
            <a:r>
              <a:rPr lang="en-US" altLang="zh-CN" sz="1100" dirty="0"/>
              <a:t>()</a:t>
            </a:r>
            <a:r>
              <a:rPr lang="zh-CN" altLang="en-US" sz="1100" dirty="0"/>
              <a:t>：返回包含匹配的所有命名子模式内容的字典</a:t>
            </a:r>
          </a:p>
          <a:p>
            <a:r>
              <a:rPr lang="zh-CN" altLang="en-US" sz="1100" dirty="0" smtClean="0">
                <a:solidFill>
                  <a:srgbClr val="FF0000"/>
                </a:solidFill>
              </a:rPr>
              <a:t>非命</a:t>
            </a:r>
            <a:r>
              <a:rPr lang="zh-CN" altLang="en-US" sz="1100" dirty="0">
                <a:solidFill>
                  <a:srgbClr val="FF0000"/>
                </a:solidFill>
              </a:rPr>
              <a:t>名子模式的 对应的 </a:t>
            </a:r>
            <a:r>
              <a:rPr lang="en-US" altLang="zh-CN" sz="1100" dirty="0" err="1">
                <a:solidFill>
                  <a:srgbClr val="FF0000"/>
                </a:solidFill>
              </a:rPr>
              <a:t>groupdict</a:t>
            </a:r>
            <a:r>
              <a:rPr lang="en-US" altLang="zh-CN" sz="1100" dirty="0">
                <a:solidFill>
                  <a:srgbClr val="FF0000"/>
                </a:solidFill>
              </a:rPr>
              <a:t>() </a:t>
            </a:r>
            <a:r>
              <a:rPr lang="zh-CN" altLang="en-US" sz="1100" dirty="0">
                <a:solidFill>
                  <a:srgbClr val="FF0000"/>
                </a:solidFill>
              </a:rPr>
              <a:t>子模式为 </a:t>
            </a:r>
            <a:r>
              <a:rPr lang="en-US" altLang="zh-CN" sz="1100" dirty="0">
                <a:solidFill>
                  <a:srgbClr val="FF0000"/>
                </a:solidFill>
              </a:rPr>
              <a:t>{ </a:t>
            </a:r>
            <a:r>
              <a:rPr lang="en-US" altLang="zh-CN" sz="1100" dirty="0" smtClean="0">
                <a:solidFill>
                  <a:srgbClr val="FF0000"/>
                </a:solidFill>
              </a:rPr>
              <a:t>}.</a:t>
            </a:r>
          </a:p>
        </p:txBody>
      </p:sp>
      <p:sp>
        <p:nvSpPr>
          <p:cNvPr id="5" name="文本框 4"/>
          <p:cNvSpPr txBox="1"/>
          <p:nvPr/>
        </p:nvSpPr>
        <p:spPr>
          <a:xfrm>
            <a:off x="7503309" y="6005601"/>
            <a:ext cx="1691680" cy="276999"/>
          </a:xfrm>
          <a:prstGeom prst="rect">
            <a:avLst/>
          </a:prstGeom>
          <a:noFill/>
        </p:spPr>
        <p:txBody>
          <a:bodyPr wrap="square" rtlCol="0">
            <a:spAutoFit/>
          </a:bodyPr>
          <a:lstStyle/>
          <a:p>
            <a:r>
              <a:rPr lang="en-US" altLang="zh-CN" sz="1200" dirty="0" smtClean="0">
                <a:solidFill>
                  <a:srgbClr val="0000FF"/>
                </a:solidFill>
              </a:rPr>
              <a:t>(?P&lt;name&gt;pattern)</a:t>
            </a:r>
            <a:endParaRPr lang="zh-CN" altLang="en-US" sz="1200" dirty="0">
              <a:solidFill>
                <a:srgbClr val="0000FF"/>
              </a:solidFill>
            </a:endParaRPr>
          </a:p>
        </p:txBody>
      </p:sp>
    </p:spTree>
    <p:extLst>
      <p:ext uri="{BB962C8B-B14F-4D97-AF65-F5344CB8AC3E}">
        <p14:creationId xmlns:p14="http://schemas.microsoft.com/office/powerpoint/2010/main" val="58755305"/>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80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64</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4.3.2 re</a:t>
            </a:r>
            <a:r>
              <a:rPr lang="zh-CN" altLang="en-US" sz="2800" b="1" dirty="0">
                <a:latin typeface="Times New Roman" panose="02020603050405020304" pitchFamily="18" charset="0"/>
                <a:ea typeface="仿宋" panose="02010609060101010101" pitchFamily="49" charset="-122"/>
              </a:rPr>
              <a:t>模块的主要方法与使用</a:t>
            </a:r>
            <a:endParaRPr lang="en-US" altLang="zh-CN" sz="2800" b="1" dirty="0">
              <a:ea typeface="仿宋" panose="02010609060101010101" pitchFamily="49" charset="-122"/>
            </a:endParaRPr>
          </a:p>
        </p:txBody>
      </p:sp>
      <p:grpSp>
        <p:nvGrpSpPr>
          <p:cNvPr id="7" name="组合 109"/>
          <p:cNvGrpSpPr/>
          <p:nvPr/>
        </p:nvGrpSpPr>
        <p:grpSpPr>
          <a:xfrm>
            <a:off x="489223" y="44624"/>
            <a:ext cx="4514825" cy="684413"/>
            <a:chOff x="956926" y="4567095"/>
            <a:chExt cx="4514825" cy="684413"/>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567095"/>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4" name="内容占位符 3"/>
          <p:cNvSpPr>
            <a:spLocks noGrp="1"/>
          </p:cNvSpPr>
          <p:nvPr>
            <p:ph idx="1"/>
          </p:nvPr>
        </p:nvSpPr>
        <p:spPr/>
        <p:txBody>
          <a:bodyPr/>
          <a:lstStyle/>
          <a:p>
            <a:pPr marL="0" indent="0">
              <a:buNone/>
            </a:pPr>
            <a:r>
              <a:rPr lang="zh-CN" altLang="en-US" dirty="0"/>
              <a:t/>
            </a:r>
            <a:br>
              <a:rPr lang="zh-CN" altLang="en-US" dirty="0"/>
            </a:br>
            <a:endParaRPr lang="zh-CN" altLang="en-US" dirty="0"/>
          </a:p>
        </p:txBody>
      </p:sp>
      <p:sp>
        <p:nvSpPr>
          <p:cNvPr id="16" name="文本框 15">
            <a:extLst>
              <a:ext uri="{FF2B5EF4-FFF2-40B4-BE49-F238E27FC236}">
                <a16:creationId xmlns:a16="http://schemas.microsoft.com/office/drawing/2014/main" id="{77539E8E-16B9-A4B0-6566-85CD8E7979E1}"/>
              </a:ext>
            </a:extLst>
          </p:cNvPr>
          <p:cNvSpPr txBox="1"/>
          <p:nvPr/>
        </p:nvSpPr>
        <p:spPr>
          <a:xfrm>
            <a:off x="4067944" y="4725144"/>
            <a:ext cx="4910319" cy="523220"/>
          </a:xfrm>
          <a:prstGeom prst="rect">
            <a:avLst/>
          </a:prstGeom>
          <a:noFill/>
        </p:spPr>
        <p:txBody>
          <a:bodyPr wrap="none" rtlCol="0">
            <a:spAutoFit/>
          </a:bodyPr>
          <a:lstStyle/>
          <a:p>
            <a:r>
              <a:rPr lang="zh-CN" altLang="en-US" sz="1400" u="sng" dirty="0">
                <a:solidFill>
                  <a:srgbClr val="0000FF"/>
                </a:solidFill>
                <a:hlinkClick r:id="rId4" action="ppaction://hlinkfile">
                  <a:extLst>
                    <a:ext uri="{A12FA001-AC4F-418D-AE19-62706E023703}">
                      <ahyp:hlinkClr xmlns:ahyp="http://schemas.microsoft.com/office/drawing/2018/hyperlinkcolor" xmlns="" val="tx"/>
                    </a:ext>
                  </a:extLst>
                </a:hlinkClick>
              </a:rPr>
              <a:t>注意：</a:t>
            </a:r>
            <a:r>
              <a:rPr lang="en-US" altLang="zh-CN" sz="1400" u="sng" dirty="0">
                <a:solidFill>
                  <a:srgbClr val="0000FF"/>
                </a:solidFill>
                <a:hlinkClick r:id="rId4" action="ppaction://hlinkfile">
                  <a:extLst>
                    <a:ext uri="{A12FA001-AC4F-418D-AE19-62706E023703}">
                      <ahyp:hlinkClr xmlns:ahyp="http://schemas.microsoft.com/office/drawing/2018/hyperlinkcolor" xmlns="" val="tx"/>
                    </a:ext>
                  </a:extLst>
                </a:hlinkClick>
              </a:rPr>
              <a:t>\\1</a:t>
            </a:r>
            <a:r>
              <a:rPr lang="zh-CN" altLang="en-US" sz="1400" u="sng" dirty="0">
                <a:solidFill>
                  <a:srgbClr val="0000FF"/>
                </a:solidFill>
              </a:rPr>
              <a:t>对子模式的引用，只用于</a:t>
            </a:r>
            <a:r>
              <a:rPr lang="en-US" altLang="zh-CN" sz="1400" u="sng" dirty="0">
                <a:solidFill>
                  <a:srgbClr val="0000FF"/>
                </a:solidFill>
              </a:rPr>
              <a:t>Pattern</a:t>
            </a:r>
            <a:r>
              <a:rPr lang="zh-CN" altLang="en-US" sz="1400" u="sng" dirty="0">
                <a:solidFill>
                  <a:srgbClr val="0000FF"/>
                </a:solidFill>
              </a:rPr>
              <a:t>中的模式匹配要求</a:t>
            </a:r>
            <a:endParaRPr lang="en-US" altLang="zh-CN" sz="1400" u="sng" dirty="0">
              <a:solidFill>
                <a:srgbClr val="0000FF"/>
              </a:solidFill>
            </a:endParaRPr>
          </a:p>
          <a:p>
            <a:r>
              <a:rPr lang="zh-CN" altLang="en-US" sz="1400" u="sng" dirty="0">
                <a:solidFill>
                  <a:srgbClr val="0000FF"/>
                </a:solidFill>
              </a:rPr>
              <a:t>命名子模式的引用 与其 不是一回事！</a:t>
            </a:r>
          </a:p>
        </p:txBody>
      </p:sp>
      <p:grpSp>
        <p:nvGrpSpPr>
          <p:cNvPr id="11" name="组合 10"/>
          <p:cNvGrpSpPr/>
          <p:nvPr/>
        </p:nvGrpSpPr>
        <p:grpSpPr>
          <a:xfrm>
            <a:off x="871675" y="1593866"/>
            <a:ext cx="4968553" cy="2556075"/>
            <a:chOff x="323528" y="3825253"/>
            <a:chExt cx="4968553" cy="2556075"/>
          </a:xfrm>
        </p:grpSpPr>
        <p:pic>
          <p:nvPicPr>
            <p:cNvPr id="14" name="图片 13">
              <a:extLst>
                <a:ext uri="{FF2B5EF4-FFF2-40B4-BE49-F238E27FC236}">
                  <a16:creationId xmlns:a16="http://schemas.microsoft.com/office/drawing/2014/main" id="{3C4ED73F-FF18-3A21-EA21-7424FACF242A}"/>
                </a:ext>
              </a:extLst>
            </p:cNvPr>
            <p:cNvPicPr>
              <a:picLocks noChangeAspect="1"/>
            </p:cNvPicPr>
            <p:nvPr/>
          </p:nvPicPr>
          <p:blipFill>
            <a:blip r:embed="rId5"/>
            <a:stretch>
              <a:fillRect/>
            </a:stretch>
          </p:blipFill>
          <p:spPr>
            <a:xfrm>
              <a:off x="440721" y="4091788"/>
              <a:ext cx="4851360" cy="2289540"/>
            </a:xfrm>
            <a:prstGeom prst="rect">
              <a:avLst/>
            </a:prstGeom>
          </p:spPr>
        </p:pic>
        <p:sp>
          <p:nvSpPr>
            <p:cNvPr id="3" name="矩形 2"/>
            <p:cNvSpPr/>
            <p:nvPr/>
          </p:nvSpPr>
          <p:spPr>
            <a:xfrm>
              <a:off x="323528" y="4005064"/>
              <a:ext cx="3312368" cy="3600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391657" y="3825253"/>
              <a:ext cx="4572000" cy="584775"/>
            </a:xfrm>
            <a:prstGeom prst="rect">
              <a:avLst/>
            </a:prstGeom>
          </p:spPr>
          <p:txBody>
            <a:bodyPr>
              <a:spAutoFit/>
            </a:bodyPr>
            <a:lstStyle/>
            <a:p>
              <a:r>
                <a:rPr lang="zh-CN" altLang="en-US" sz="1600" dirty="0"/>
                <a:t>s = </a:t>
              </a:r>
              <a:r>
                <a:rPr lang="zh-CN" altLang="en-US" sz="1600" dirty="0">
                  <a:solidFill>
                    <a:srgbClr val="00B050"/>
                  </a:solidFill>
                </a:rPr>
                <a:t>"It's a very good good idea"</a:t>
              </a:r>
            </a:p>
            <a:p>
              <a:r>
                <a:rPr lang="zh-CN" altLang="en-US" sz="1600" dirty="0" smtClean="0"/>
                <a:t>m = re.search(</a:t>
              </a:r>
              <a:r>
                <a:rPr lang="zh-CN" altLang="en-US" sz="1600" dirty="0" smtClean="0">
                  <a:solidFill>
                    <a:srgbClr val="00B050"/>
                  </a:solidFill>
                </a:rPr>
                <a:t>r</a:t>
              </a:r>
              <a:r>
                <a:rPr lang="zh-CN" altLang="en-US" sz="1600" dirty="0">
                  <a:solidFill>
                    <a:srgbClr val="00B050"/>
                  </a:solidFill>
                </a:rPr>
                <a:t>' </a:t>
              </a:r>
              <a:r>
                <a:rPr lang="zh-CN" altLang="en-US" sz="1600" dirty="0" smtClean="0">
                  <a:solidFill>
                    <a:srgbClr val="00B050"/>
                  </a:solidFill>
                </a:rPr>
                <a:t>(</a:t>
              </a:r>
              <a:r>
                <a:rPr lang="zh-CN" altLang="en-US" sz="1600" dirty="0">
                  <a:solidFill>
                    <a:srgbClr val="00B050"/>
                  </a:solidFill>
                </a:rPr>
                <a:t>\b\w</a:t>
              </a:r>
              <a:r>
                <a:rPr lang="zh-CN" altLang="en-US" sz="1600" dirty="0" smtClean="0">
                  <a:solidFill>
                    <a:srgbClr val="00B050"/>
                  </a:solidFill>
                </a:rPr>
                <a:t>+) \</a:t>
              </a:r>
              <a:r>
                <a:rPr lang="zh-CN" altLang="en-US" sz="1600" dirty="0">
                  <a:solidFill>
                    <a:srgbClr val="00B050"/>
                  </a:solidFill>
                </a:rPr>
                <a:t>1</a:t>
              </a:r>
              <a:r>
                <a:rPr lang="zh-CN" altLang="en-US" sz="1600" dirty="0"/>
                <a:t>',s)</a:t>
              </a:r>
            </a:p>
          </p:txBody>
        </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80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65</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4.3.2 re</a:t>
            </a:r>
            <a:r>
              <a:rPr lang="zh-CN" altLang="en-US" sz="2800" b="1" dirty="0">
                <a:latin typeface="Times New Roman" panose="02020603050405020304" pitchFamily="18" charset="0"/>
                <a:ea typeface="仿宋" panose="02010609060101010101" pitchFamily="49" charset="-122"/>
              </a:rPr>
              <a:t>模块的主要方法与使用</a:t>
            </a:r>
            <a:endParaRPr lang="en-US" altLang="zh-CN" sz="2800" b="1" dirty="0">
              <a:ea typeface="仿宋" panose="02010609060101010101" pitchFamily="49" charset="-122"/>
            </a:endParaRPr>
          </a:p>
        </p:txBody>
      </p:sp>
      <p:grpSp>
        <p:nvGrpSpPr>
          <p:cNvPr id="7" name="组合 109"/>
          <p:cNvGrpSpPr/>
          <p:nvPr/>
        </p:nvGrpSpPr>
        <p:grpSpPr>
          <a:xfrm>
            <a:off x="489223" y="44624"/>
            <a:ext cx="4514825" cy="684413"/>
            <a:chOff x="956926" y="4567095"/>
            <a:chExt cx="4514825" cy="684413"/>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567095"/>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4" name="内容占位符 3"/>
          <p:cNvSpPr>
            <a:spLocks noGrp="1"/>
          </p:cNvSpPr>
          <p:nvPr>
            <p:ph idx="1"/>
          </p:nvPr>
        </p:nvSpPr>
        <p:spPr>
          <a:xfrm>
            <a:off x="539552" y="1543348"/>
            <a:ext cx="8229600" cy="4678451"/>
          </a:xfrm>
        </p:spPr>
        <p:txBody>
          <a:bodyPr/>
          <a:lstStyle/>
          <a:p>
            <a:pPr algn="l" latinLnBrk="1"/>
            <a:endParaRPr lang="zh-CN" altLang="en-US" sz="2400" b="0" i="0" dirty="0">
              <a:solidFill>
                <a:srgbClr val="333333"/>
              </a:solidFill>
              <a:effectLst/>
              <a:latin typeface="Helvetica Neue"/>
            </a:endParaRPr>
          </a:p>
          <a:p>
            <a:pPr marL="0" indent="0">
              <a:buNone/>
            </a:pPr>
            <a:r>
              <a:rPr lang="zh-CN" altLang="en-US" sz="1400" dirty="0"/>
              <a:t>        </a:t>
            </a:r>
            <a:endParaRPr lang="en-US" altLang="zh-CN" dirty="0"/>
          </a:p>
          <a:p>
            <a:pPr marL="0" indent="0">
              <a:buNone/>
            </a:pPr>
            <a:r>
              <a:rPr lang="zh-CN" altLang="en-US" dirty="0"/>
              <a:t/>
            </a:r>
            <a:br>
              <a:rPr lang="zh-CN" altLang="en-US" dirty="0"/>
            </a:br>
            <a:endParaRPr lang="zh-CN" altLang="en-US" b="1" dirty="0"/>
          </a:p>
        </p:txBody>
      </p:sp>
      <p:sp>
        <p:nvSpPr>
          <p:cNvPr id="13" name="文本框 12"/>
          <p:cNvSpPr txBox="1"/>
          <p:nvPr/>
        </p:nvSpPr>
        <p:spPr>
          <a:xfrm>
            <a:off x="1126205" y="4842060"/>
            <a:ext cx="5912645" cy="307777"/>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lgn="l" latinLnBrk="1"/>
            <a:r>
              <a:rPr lang="zh-CN" altLang="en-US" sz="1400" b="1" i="0" dirty="0">
                <a:solidFill>
                  <a:schemeClr val="bg1"/>
                </a:solidFill>
                <a:effectLst/>
                <a:latin typeface="Helvetica Neue"/>
              </a:rPr>
              <a:t>注意：</a:t>
            </a:r>
            <a:r>
              <a:rPr lang="zh-CN" altLang="en-US" sz="1400" b="0" i="0" dirty="0">
                <a:solidFill>
                  <a:schemeClr val="bg1"/>
                </a:solidFill>
                <a:effectLst/>
                <a:latin typeface="Helvetica Neue"/>
              </a:rPr>
              <a:t> </a:t>
            </a:r>
            <a:r>
              <a:rPr lang="en-US" altLang="zh-CN" sz="1400" b="0" i="0" dirty="0">
                <a:solidFill>
                  <a:schemeClr val="bg1"/>
                </a:solidFill>
                <a:effectLst/>
                <a:latin typeface="Helvetica Neue"/>
              </a:rPr>
              <a:t>match </a:t>
            </a:r>
            <a:r>
              <a:rPr lang="zh-CN" altLang="en-US" sz="1400" b="0" i="0" dirty="0">
                <a:solidFill>
                  <a:schemeClr val="bg1"/>
                </a:solidFill>
                <a:effectLst/>
                <a:latin typeface="Helvetica Neue"/>
              </a:rPr>
              <a:t>和 </a:t>
            </a:r>
            <a:r>
              <a:rPr lang="en-US" altLang="zh-CN" sz="1400" b="0" i="0" dirty="0">
                <a:solidFill>
                  <a:schemeClr val="bg1"/>
                </a:solidFill>
                <a:effectLst/>
                <a:latin typeface="Helvetica Neue"/>
              </a:rPr>
              <a:t>search </a:t>
            </a:r>
            <a:r>
              <a:rPr lang="zh-CN" altLang="en-US" sz="1400" b="0" i="0" dirty="0">
                <a:solidFill>
                  <a:schemeClr val="bg1"/>
                </a:solidFill>
                <a:effectLst/>
                <a:latin typeface="Helvetica Neue"/>
              </a:rPr>
              <a:t>是匹配一次， </a:t>
            </a:r>
            <a:r>
              <a:rPr lang="en-US" altLang="zh-CN" sz="1400" b="0" i="0" dirty="0" err="1">
                <a:solidFill>
                  <a:schemeClr val="bg1"/>
                </a:solidFill>
                <a:effectLst/>
                <a:latin typeface="Helvetica Neue"/>
              </a:rPr>
              <a:t>findall</a:t>
            </a:r>
            <a:r>
              <a:rPr lang="en-US" altLang="zh-CN" sz="1400" b="0" i="0" dirty="0">
                <a:solidFill>
                  <a:schemeClr val="bg1"/>
                </a:solidFill>
                <a:effectLst/>
                <a:latin typeface="Helvetica Neue"/>
              </a:rPr>
              <a:t> </a:t>
            </a:r>
            <a:r>
              <a:rPr lang="zh-CN" altLang="en-US" sz="1400" b="0" i="0" dirty="0">
                <a:solidFill>
                  <a:schemeClr val="bg1"/>
                </a:solidFill>
                <a:effectLst/>
                <a:latin typeface="Helvetica Neue"/>
              </a:rPr>
              <a:t>匹配所有。</a:t>
            </a:r>
          </a:p>
        </p:txBody>
      </p:sp>
      <p:sp>
        <p:nvSpPr>
          <p:cNvPr id="12" name="矩形 11"/>
          <p:cNvSpPr/>
          <p:nvPr/>
        </p:nvSpPr>
        <p:spPr>
          <a:xfrm>
            <a:off x="2282067" y="1693750"/>
            <a:ext cx="4572000" cy="1077218"/>
          </a:xfrm>
          <a:prstGeom prst="rect">
            <a:avLst/>
          </a:prstGeom>
        </p:spPr>
        <p:txBody>
          <a:bodyPr>
            <a:spAutoFit/>
          </a:bodyPr>
          <a:lstStyle/>
          <a:p>
            <a:pPr marL="0" indent="0">
              <a:buNone/>
            </a:pPr>
            <a:r>
              <a:rPr lang="zh-CN" altLang="en-US" sz="1400" dirty="0"/>
              <a:t>语法格式：</a:t>
            </a:r>
            <a:endParaRPr lang="en-US" altLang="zh-CN" sz="1400" dirty="0"/>
          </a:p>
          <a:p>
            <a:pPr lvl="1"/>
            <a:r>
              <a:rPr lang="en-US" altLang="zh-CN" sz="1600" dirty="0"/>
              <a:t>	</a:t>
            </a:r>
            <a:r>
              <a:rPr lang="en-US" altLang="zh-CN" sz="1600" dirty="0" err="1"/>
              <a:t>re.findall</a:t>
            </a:r>
            <a:r>
              <a:rPr lang="en-US" altLang="zh-CN" sz="1600" dirty="0"/>
              <a:t>(pattern, string, flags=0)</a:t>
            </a:r>
          </a:p>
          <a:p>
            <a:pPr lvl="1"/>
            <a:r>
              <a:rPr lang="en-US" altLang="zh-CN" sz="1600" dirty="0"/>
              <a:t>	</a:t>
            </a:r>
            <a:r>
              <a:rPr lang="en-US" altLang="zh-CN" sz="1600" dirty="0" err="1"/>
              <a:t>pattern.findall</a:t>
            </a:r>
            <a:r>
              <a:rPr lang="en-US" altLang="zh-CN" sz="1600" dirty="0"/>
              <a:t>(string[, </a:t>
            </a:r>
            <a:r>
              <a:rPr lang="en-US" altLang="zh-CN" sz="1600" dirty="0" err="1"/>
              <a:t>pos</a:t>
            </a:r>
            <a:r>
              <a:rPr lang="en-US" altLang="zh-CN" sz="1600" dirty="0"/>
              <a:t>[, </a:t>
            </a:r>
            <a:r>
              <a:rPr lang="en-US" altLang="zh-CN" sz="1600" dirty="0" err="1"/>
              <a:t>endpos</a:t>
            </a:r>
            <a:r>
              <a:rPr lang="en-US" altLang="zh-CN" sz="1600" dirty="0"/>
              <a:t>]])</a:t>
            </a:r>
            <a:r>
              <a:rPr lang="zh-CN" altLang="en-US" dirty="0"/>
              <a:t/>
            </a:r>
            <a:br>
              <a:rPr lang="zh-CN" altLang="en-US" dirty="0"/>
            </a:br>
            <a:endParaRPr lang="en-US" altLang="zh-CN" dirty="0"/>
          </a:p>
        </p:txBody>
      </p:sp>
      <p:sp>
        <p:nvSpPr>
          <p:cNvPr id="14" name="矩形 13"/>
          <p:cNvSpPr/>
          <p:nvPr/>
        </p:nvSpPr>
        <p:spPr>
          <a:xfrm>
            <a:off x="601180" y="2847952"/>
            <a:ext cx="8106343" cy="1600438"/>
          </a:xfrm>
          <a:prstGeom prst="rect">
            <a:avLst/>
          </a:prstGeom>
        </p:spPr>
        <p:txBody>
          <a:bodyPr wrap="square">
            <a:spAutoFit/>
          </a:bodyPr>
          <a:lstStyle/>
          <a:p>
            <a:r>
              <a:rPr lang="zh-CN" altLang="en-US" sz="1400" dirty="0" smtClean="0">
                <a:solidFill>
                  <a:srgbClr val="333333"/>
                </a:solidFill>
                <a:latin typeface="Helvetica Neue"/>
              </a:rPr>
              <a:t>如果</a:t>
            </a:r>
            <a:r>
              <a:rPr lang="zh-CN" altLang="en-US" sz="1400" dirty="0">
                <a:solidFill>
                  <a:srgbClr val="333333"/>
                </a:solidFill>
                <a:latin typeface="Helvetica Neue"/>
              </a:rPr>
              <a:t>没有找到匹配的，则</a:t>
            </a:r>
            <a:r>
              <a:rPr lang="zh-CN" altLang="en-US" sz="1400" dirty="0">
                <a:solidFill>
                  <a:srgbClr val="FF0000"/>
                </a:solidFill>
                <a:latin typeface="Helvetica Neue"/>
              </a:rPr>
              <a:t>返回空列表</a:t>
            </a:r>
            <a:r>
              <a:rPr lang="en-US" altLang="zh-CN" sz="1400" dirty="0">
                <a:solidFill>
                  <a:srgbClr val="FF0000"/>
                </a:solidFill>
                <a:latin typeface="Helvetica Neue"/>
              </a:rPr>
              <a:t>[ ]</a:t>
            </a:r>
            <a:r>
              <a:rPr lang="zh-CN" altLang="en-US" sz="1400" dirty="0">
                <a:solidFill>
                  <a:srgbClr val="333333"/>
                </a:solidFill>
                <a:latin typeface="Helvetica Neue"/>
              </a:rPr>
              <a:t>。</a:t>
            </a:r>
            <a:endParaRPr lang="en-US" altLang="zh-CN" sz="1400" b="1" dirty="0">
              <a:solidFill>
                <a:schemeClr val="accent6"/>
              </a:solidFill>
              <a:latin typeface="Helvetica Neue"/>
            </a:endParaRPr>
          </a:p>
          <a:p>
            <a:pPr marL="0" indent="0" latinLnBrk="1">
              <a:buNone/>
            </a:pPr>
            <a:r>
              <a:rPr lang="zh-CN" altLang="en-US" sz="1400" dirty="0">
                <a:solidFill>
                  <a:srgbClr val="333333"/>
                </a:solidFill>
                <a:latin typeface="Helvetica Neue"/>
                <a:sym typeface="Wingdings" panose="05000000000000000000" pitchFamily="2" charset="2"/>
              </a:rPr>
              <a:t>（</a:t>
            </a:r>
            <a:r>
              <a:rPr lang="en-US" altLang="zh-CN" sz="1400" dirty="0">
                <a:solidFill>
                  <a:srgbClr val="333333"/>
                </a:solidFill>
                <a:latin typeface="Helvetica Neue"/>
                <a:sym typeface="Wingdings" panose="05000000000000000000" pitchFamily="2" charset="2"/>
              </a:rPr>
              <a:t>1</a:t>
            </a:r>
            <a:r>
              <a:rPr lang="zh-CN" altLang="en-US" sz="1400" dirty="0">
                <a:solidFill>
                  <a:srgbClr val="333333"/>
                </a:solidFill>
                <a:latin typeface="Helvetica Neue"/>
                <a:sym typeface="Wingdings" panose="05000000000000000000" pitchFamily="2" charset="2"/>
              </a:rPr>
              <a:t>）</a:t>
            </a:r>
            <a:r>
              <a:rPr lang="zh-CN" altLang="en-US" sz="1400" dirty="0">
                <a:solidFill>
                  <a:srgbClr val="333333"/>
                </a:solidFill>
                <a:latin typeface="Helvetica Neue"/>
              </a:rPr>
              <a:t>若模式正则表达式中无子模式，返回</a:t>
            </a:r>
            <a:r>
              <a:rPr lang="en-US" altLang="zh-CN" sz="1400" dirty="0">
                <a:solidFill>
                  <a:srgbClr val="333333"/>
                </a:solidFill>
                <a:latin typeface="Helvetica Neue"/>
              </a:rPr>
              <a:t>[</a:t>
            </a:r>
            <a:r>
              <a:rPr lang="zh-CN" altLang="en-US" sz="1400" dirty="0">
                <a:solidFill>
                  <a:srgbClr val="333333"/>
                </a:solidFill>
                <a:latin typeface="Helvetica Neue"/>
              </a:rPr>
              <a:t>第</a:t>
            </a:r>
            <a:r>
              <a:rPr lang="en-US" altLang="zh-CN" sz="1400" dirty="0">
                <a:solidFill>
                  <a:srgbClr val="333333"/>
                </a:solidFill>
                <a:latin typeface="Helvetica Neue"/>
              </a:rPr>
              <a:t>1</a:t>
            </a:r>
            <a:r>
              <a:rPr lang="zh-CN" altLang="en-US" sz="1400" dirty="0">
                <a:solidFill>
                  <a:srgbClr val="333333"/>
                </a:solidFill>
                <a:latin typeface="Helvetica Neue"/>
              </a:rPr>
              <a:t>次</a:t>
            </a:r>
            <a:r>
              <a:rPr lang="en-US" altLang="zh-CN" sz="1400" dirty="0">
                <a:solidFill>
                  <a:srgbClr val="333333"/>
                </a:solidFill>
                <a:latin typeface="Helvetica Neue"/>
              </a:rPr>
              <a:t>search</a:t>
            </a:r>
            <a:r>
              <a:rPr lang="zh-CN" altLang="en-US" sz="1400" dirty="0">
                <a:solidFill>
                  <a:srgbClr val="333333"/>
                </a:solidFill>
                <a:latin typeface="Helvetica Neue"/>
              </a:rPr>
              <a:t>获得的匹配字符串</a:t>
            </a:r>
            <a:r>
              <a:rPr lang="en-US" altLang="zh-CN" sz="1400" dirty="0">
                <a:solidFill>
                  <a:srgbClr val="333333"/>
                </a:solidFill>
                <a:latin typeface="Helvetica Neue"/>
              </a:rPr>
              <a:t>,</a:t>
            </a:r>
            <a:r>
              <a:rPr lang="zh-CN" altLang="en-US" sz="1400" dirty="0">
                <a:solidFill>
                  <a:srgbClr val="333333"/>
                </a:solidFill>
                <a:latin typeface="Helvetica Neue"/>
              </a:rPr>
              <a:t>第</a:t>
            </a:r>
            <a:r>
              <a:rPr lang="en-US" altLang="zh-CN" sz="1400" dirty="0">
                <a:solidFill>
                  <a:srgbClr val="333333"/>
                </a:solidFill>
                <a:latin typeface="Helvetica Neue"/>
              </a:rPr>
              <a:t>2</a:t>
            </a:r>
            <a:r>
              <a:rPr lang="zh-CN" altLang="en-US" sz="1400" dirty="0">
                <a:solidFill>
                  <a:srgbClr val="333333"/>
                </a:solidFill>
                <a:latin typeface="Helvetica Neue"/>
              </a:rPr>
              <a:t>次</a:t>
            </a:r>
            <a:r>
              <a:rPr lang="en-US" altLang="zh-CN" sz="1400" dirty="0">
                <a:solidFill>
                  <a:srgbClr val="333333"/>
                </a:solidFill>
                <a:latin typeface="Helvetica Neue"/>
              </a:rPr>
              <a:t>search</a:t>
            </a:r>
            <a:r>
              <a:rPr lang="zh-CN" altLang="en-US" sz="1400" dirty="0">
                <a:solidFill>
                  <a:srgbClr val="333333"/>
                </a:solidFill>
                <a:latin typeface="Helvetica Neue"/>
              </a:rPr>
              <a:t>获得的匹配字符串，</a:t>
            </a:r>
            <a:r>
              <a:rPr lang="en-US" altLang="zh-CN" sz="1400" dirty="0">
                <a:latin typeface="Helvetica Neue"/>
              </a:rPr>
              <a:t>…</a:t>
            </a:r>
            <a:r>
              <a:rPr lang="en-US" altLang="zh-CN" sz="1400" dirty="0">
                <a:solidFill>
                  <a:srgbClr val="333333"/>
                </a:solidFill>
                <a:latin typeface="Helvetica Neue"/>
              </a:rPr>
              <a:t>”]</a:t>
            </a:r>
          </a:p>
          <a:p>
            <a:pPr latinLnBrk="1"/>
            <a:r>
              <a:rPr lang="zh-CN" altLang="en-US" sz="1400" dirty="0">
                <a:solidFill>
                  <a:srgbClr val="333333"/>
                </a:solidFill>
                <a:latin typeface="Helvetica Neue"/>
              </a:rPr>
              <a:t>（</a:t>
            </a:r>
            <a:r>
              <a:rPr lang="en-US" altLang="zh-CN" sz="1400" dirty="0">
                <a:solidFill>
                  <a:srgbClr val="333333"/>
                </a:solidFill>
                <a:latin typeface="Helvetica Neue"/>
              </a:rPr>
              <a:t>2</a:t>
            </a:r>
            <a:r>
              <a:rPr lang="zh-CN" altLang="en-US" sz="1400" dirty="0">
                <a:solidFill>
                  <a:srgbClr val="333333"/>
                </a:solidFill>
                <a:latin typeface="Helvetica Neue"/>
              </a:rPr>
              <a:t>）若模式正则表达式中有子模式，则</a:t>
            </a:r>
            <a:r>
              <a:rPr lang="zh-CN" altLang="en-US" sz="1400" dirty="0">
                <a:solidFill>
                  <a:srgbClr val="FF0000"/>
                </a:solidFill>
                <a:latin typeface="Helvetica Neue"/>
              </a:rPr>
              <a:t>返回元组列表，其</a:t>
            </a:r>
            <a:r>
              <a:rPr lang="en-US" altLang="zh-CN" sz="1400" dirty="0">
                <a:solidFill>
                  <a:srgbClr val="FF0000"/>
                </a:solidFill>
                <a:latin typeface="Helvetica Neue"/>
              </a:rPr>
              <a:t>Item</a:t>
            </a:r>
            <a:r>
              <a:rPr lang="zh-CN" altLang="en-US" sz="1400" dirty="0">
                <a:solidFill>
                  <a:srgbClr val="FF0000"/>
                </a:solidFill>
                <a:latin typeface="Helvetica Neue"/>
              </a:rPr>
              <a:t>项为元组：</a:t>
            </a:r>
            <a:r>
              <a:rPr lang="en-US" altLang="zh-CN" sz="1400" dirty="0">
                <a:solidFill>
                  <a:srgbClr val="FF0000"/>
                </a:solidFill>
                <a:latin typeface="Helvetica Neue"/>
              </a:rPr>
              <a:t>(</a:t>
            </a:r>
            <a:r>
              <a:rPr lang="zh-CN" altLang="en-US" sz="1400" dirty="0">
                <a:solidFill>
                  <a:srgbClr val="FF0000"/>
                </a:solidFill>
                <a:latin typeface="Helvetica Neue"/>
              </a:rPr>
              <a:t>模式</a:t>
            </a:r>
            <a:r>
              <a:rPr lang="en-US" altLang="zh-CN" sz="1400" dirty="0">
                <a:solidFill>
                  <a:srgbClr val="FF0000"/>
                </a:solidFill>
                <a:latin typeface="Helvetica Neue"/>
              </a:rPr>
              <a:t>1</a:t>
            </a:r>
            <a:r>
              <a:rPr lang="zh-CN" altLang="en-US" sz="1400" dirty="0">
                <a:solidFill>
                  <a:srgbClr val="FF0000"/>
                </a:solidFill>
                <a:latin typeface="Helvetica Neue"/>
              </a:rPr>
              <a:t>匹配子串即分组</a:t>
            </a:r>
            <a:r>
              <a:rPr lang="en-US" altLang="zh-CN" sz="1400" dirty="0">
                <a:solidFill>
                  <a:srgbClr val="FF0000"/>
                </a:solidFill>
                <a:latin typeface="Helvetica Neue"/>
              </a:rPr>
              <a:t>1</a:t>
            </a:r>
            <a:r>
              <a:rPr lang="zh-CN" altLang="en-US" sz="1400" dirty="0">
                <a:solidFill>
                  <a:srgbClr val="FF0000"/>
                </a:solidFill>
                <a:latin typeface="Helvetica Neue"/>
              </a:rPr>
              <a:t>，模式</a:t>
            </a:r>
            <a:r>
              <a:rPr lang="en-US" altLang="zh-CN" sz="1400" dirty="0">
                <a:solidFill>
                  <a:srgbClr val="FF0000"/>
                </a:solidFill>
                <a:latin typeface="Helvetica Neue"/>
              </a:rPr>
              <a:t>2</a:t>
            </a:r>
            <a:r>
              <a:rPr lang="zh-CN" altLang="en-US" sz="1400" dirty="0">
                <a:solidFill>
                  <a:srgbClr val="FF0000"/>
                </a:solidFill>
                <a:latin typeface="Helvetica Neue"/>
              </a:rPr>
              <a:t>匹配子串即分组</a:t>
            </a:r>
            <a:r>
              <a:rPr lang="en-US" altLang="zh-CN" sz="1400" dirty="0">
                <a:solidFill>
                  <a:srgbClr val="FF0000"/>
                </a:solidFill>
                <a:latin typeface="Helvetica Neue"/>
              </a:rPr>
              <a:t>2</a:t>
            </a:r>
            <a:r>
              <a:rPr lang="zh-CN" altLang="en-US" sz="1400" dirty="0">
                <a:solidFill>
                  <a:srgbClr val="FF0000"/>
                </a:solidFill>
                <a:latin typeface="Helvetica Neue"/>
              </a:rPr>
              <a:t>，</a:t>
            </a:r>
            <a:r>
              <a:rPr lang="en-US" altLang="zh-CN" sz="1400" dirty="0">
                <a:solidFill>
                  <a:srgbClr val="FF0000"/>
                </a:solidFill>
                <a:latin typeface="Helvetica Neue"/>
              </a:rPr>
              <a:t>…  )</a:t>
            </a:r>
            <a:r>
              <a:rPr lang="zh-CN" altLang="en-US" sz="1400" dirty="0">
                <a:solidFill>
                  <a:srgbClr val="FF0000"/>
                </a:solidFill>
                <a:latin typeface="Helvetica Neue"/>
              </a:rPr>
              <a:t>。</a:t>
            </a:r>
            <a:endParaRPr lang="en-US" altLang="zh-CN" sz="1400" dirty="0">
              <a:solidFill>
                <a:srgbClr val="FF0000"/>
              </a:solidFill>
              <a:latin typeface="Helvetica Neue"/>
            </a:endParaRPr>
          </a:p>
          <a:p>
            <a:pPr latinLnBrk="1"/>
            <a:r>
              <a:rPr lang="zh-CN" altLang="en-US" sz="1400" dirty="0">
                <a:solidFill>
                  <a:srgbClr val="FF0000"/>
                </a:solidFill>
                <a:latin typeface="Helvetica Neue"/>
              </a:rPr>
              <a:t>最终结果样式： </a:t>
            </a:r>
            <a:r>
              <a:rPr lang="en-US" altLang="zh-CN" sz="1400" dirty="0">
                <a:solidFill>
                  <a:srgbClr val="FF0000"/>
                </a:solidFill>
                <a:latin typeface="Helvetica Neue"/>
              </a:rPr>
              <a:t>[( </a:t>
            </a:r>
            <a:r>
              <a:rPr lang="zh-CN" altLang="en-US" sz="1400" dirty="0">
                <a:solidFill>
                  <a:srgbClr val="FF0000"/>
                </a:solidFill>
                <a:latin typeface="Helvetica Neue"/>
              </a:rPr>
              <a:t>模式</a:t>
            </a:r>
            <a:r>
              <a:rPr lang="en-US" altLang="zh-CN" sz="1400" dirty="0">
                <a:solidFill>
                  <a:srgbClr val="FF0000"/>
                </a:solidFill>
                <a:latin typeface="Helvetica Neue"/>
              </a:rPr>
              <a:t>1</a:t>
            </a:r>
            <a:r>
              <a:rPr lang="zh-CN" altLang="en-US" sz="1400" dirty="0">
                <a:solidFill>
                  <a:srgbClr val="FF0000"/>
                </a:solidFill>
                <a:latin typeface="Helvetica Neue"/>
              </a:rPr>
              <a:t>匹配子串，模式</a:t>
            </a:r>
            <a:r>
              <a:rPr lang="en-US" altLang="zh-CN" sz="1400" dirty="0">
                <a:solidFill>
                  <a:srgbClr val="FF0000"/>
                </a:solidFill>
                <a:latin typeface="Helvetica Neue"/>
              </a:rPr>
              <a:t>2</a:t>
            </a:r>
            <a:r>
              <a:rPr lang="zh-CN" altLang="en-US" sz="1400" dirty="0">
                <a:solidFill>
                  <a:srgbClr val="FF0000"/>
                </a:solidFill>
                <a:latin typeface="Helvetica Neue"/>
              </a:rPr>
              <a:t>匹配子串，</a:t>
            </a:r>
            <a:r>
              <a:rPr lang="en-US" altLang="zh-CN" sz="1400" dirty="0">
                <a:solidFill>
                  <a:srgbClr val="FF0000"/>
                </a:solidFill>
                <a:latin typeface="Helvetica Neue"/>
              </a:rPr>
              <a:t>…  ), ( </a:t>
            </a:r>
            <a:r>
              <a:rPr lang="zh-CN" altLang="en-US" sz="1400" dirty="0">
                <a:solidFill>
                  <a:srgbClr val="FF0000"/>
                </a:solidFill>
                <a:latin typeface="Helvetica Neue"/>
              </a:rPr>
              <a:t>模式</a:t>
            </a:r>
            <a:r>
              <a:rPr lang="en-US" altLang="zh-CN" sz="1400" dirty="0">
                <a:solidFill>
                  <a:srgbClr val="FF0000"/>
                </a:solidFill>
                <a:latin typeface="Helvetica Neue"/>
              </a:rPr>
              <a:t>1</a:t>
            </a:r>
            <a:r>
              <a:rPr lang="zh-CN" altLang="en-US" sz="1400" dirty="0">
                <a:solidFill>
                  <a:srgbClr val="FF0000"/>
                </a:solidFill>
                <a:latin typeface="Helvetica Neue"/>
              </a:rPr>
              <a:t>匹配子串，模式</a:t>
            </a:r>
            <a:r>
              <a:rPr lang="en-US" altLang="zh-CN" sz="1400" dirty="0">
                <a:solidFill>
                  <a:srgbClr val="FF0000"/>
                </a:solidFill>
                <a:latin typeface="Helvetica Neue"/>
              </a:rPr>
              <a:t>2</a:t>
            </a:r>
            <a:r>
              <a:rPr lang="zh-CN" altLang="en-US" sz="1400" dirty="0">
                <a:solidFill>
                  <a:srgbClr val="FF0000"/>
                </a:solidFill>
                <a:latin typeface="Helvetica Neue"/>
              </a:rPr>
              <a:t>匹配子串，</a:t>
            </a:r>
            <a:r>
              <a:rPr lang="en-US" altLang="zh-CN" sz="1400" dirty="0">
                <a:solidFill>
                  <a:srgbClr val="FF0000"/>
                </a:solidFill>
                <a:latin typeface="Helvetica Neue"/>
              </a:rPr>
              <a:t>…  ),( )] </a:t>
            </a:r>
            <a:r>
              <a:rPr lang="zh-CN" altLang="en-US" sz="1400" dirty="0">
                <a:solidFill>
                  <a:srgbClr val="FF0000"/>
                </a:solidFill>
                <a:latin typeface="Helvetica Neue"/>
              </a:rPr>
              <a:t>即 </a:t>
            </a:r>
            <a:r>
              <a:rPr lang="en-US" altLang="zh-CN" sz="1400" dirty="0">
                <a:solidFill>
                  <a:srgbClr val="FF0000"/>
                </a:solidFill>
                <a:latin typeface="Helvetica Neue"/>
              </a:rPr>
              <a:t>[</a:t>
            </a:r>
            <a:r>
              <a:rPr lang="zh-CN" altLang="en-US" sz="1400" dirty="0">
                <a:solidFill>
                  <a:srgbClr val="FF0000"/>
                </a:solidFill>
                <a:latin typeface="Helvetica Neue"/>
              </a:rPr>
              <a:t>第</a:t>
            </a:r>
            <a:r>
              <a:rPr lang="en-US" altLang="zh-CN" sz="1400" dirty="0">
                <a:solidFill>
                  <a:srgbClr val="FF0000"/>
                </a:solidFill>
                <a:latin typeface="Helvetica Neue"/>
              </a:rPr>
              <a:t>1</a:t>
            </a:r>
            <a:r>
              <a:rPr lang="zh-CN" altLang="en-US" sz="1400" dirty="0">
                <a:solidFill>
                  <a:srgbClr val="FF0000"/>
                </a:solidFill>
                <a:latin typeface="Helvetica Neue"/>
              </a:rPr>
              <a:t>次</a:t>
            </a:r>
            <a:r>
              <a:rPr lang="en-US" altLang="zh-CN" sz="1400" dirty="0" err="1">
                <a:solidFill>
                  <a:srgbClr val="FF0000"/>
                </a:solidFill>
                <a:latin typeface="Helvetica Neue"/>
              </a:rPr>
              <a:t>seach</a:t>
            </a:r>
            <a:r>
              <a:rPr lang="zh-CN" altLang="en-US" sz="1400" dirty="0">
                <a:solidFill>
                  <a:srgbClr val="FF0000"/>
                </a:solidFill>
                <a:latin typeface="Helvetica Neue"/>
              </a:rPr>
              <a:t>的</a:t>
            </a:r>
            <a:r>
              <a:rPr lang="en-US" altLang="zh-CN" sz="1400" dirty="0">
                <a:solidFill>
                  <a:srgbClr val="FF0000"/>
                </a:solidFill>
                <a:latin typeface="Helvetica Neue"/>
              </a:rPr>
              <a:t>groups(),</a:t>
            </a:r>
            <a:r>
              <a:rPr lang="zh-CN" altLang="en-US" sz="1400" dirty="0">
                <a:solidFill>
                  <a:srgbClr val="FF0000"/>
                </a:solidFill>
                <a:latin typeface="Helvetica Neue"/>
              </a:rPr>
              <a:t>接着第</a:t>
            </a:r>
            <a:r>
              <a:rPr lang="en-US" altLang="zh-CN" sz="1400" dirty="0">
                <a:solidFill>
                  <a:srgbClr val="FF0000"/>
                </a:solidFill>
                <a:latin typeface="Helvetica Neue"/>
              </a:rPr>
              <a:t>2</a:t>
            </a:r>
            <a:r>
              <a:rPr lang="zh-CN" altLang="en-US" sz="1400" dirty="0">
                <a:solidFill>
                  <a:srgbClr val="FF0000"/>
                </a:solidFill>
                <a:latin typeface="Helvetica Neue"/>
              </a:rPr>
              <a:t>次</a:t>
            </a:r>
            <a:r>
              <a:rPr lang="en-US" altLang="zh-CN" sz="1400" dirty="0" err="1">
                <a:solidFill>
                  <a:srgbClr val="FF0000"/>
                </a:solidFill>
                <a:latin typeface="Helvetica Neue"/>
              </a:rPr>
              <a:t>serch.groups</a:t>
            </a:r>
            <a:r>
              <a:rPr lang="en-US" altLang="zh-CN" sz="1400" dirty="0">
                <a:solidFill>
                  <a:srgbClr val="FF0000"/>
                </a:solidFill>
                <a:latin typeface="Helvetica Neue"/>
              </a:rPr>
              <a:t>(),</a:t>
            </a:r>
            <a:r>
              <a:rPr lang="zh-CN" altLang="en-US" sz="1400" dirty="0">
                <a:solidFill>
                  <a:srgbClr val="FF0000"/>
                </a:solidFill>
                <a:latin typeface="Helvetica Neue"/>
              </a:rPr>
              <a:t> </a:t>
            </a:r>
            <a:r>
              <a:rPr lang="en-US" altLang="zh-CN" sz="1400" dirty="0">
                <a:solidFill>
                  <a:srgbClr val="FF0000"/>
                </a:solidFill>
                <a:latin typeface="Helvetica Neue"/>
              </a:rPr>
              <a:t>…]</a:t>
            </a:r>
            <a:r>
              <a:rPr lang="zh-CN" altLang="en-US" sz="1400" dirty="0">
                <a:solidFill>
                  <a:srgbClr val="333333"/>
                </a:solidFill>
                <a:latin typeface="Helvetica Neue"/>
              </a:rPr>
              <a:t>，</a:t>
            </a:r>
            <a:endParaRPr lang="en-US" altLang="zh-CN" sz="1400" dirty="0">
              <a:solidFill>
                <a:srgbClr val="333333"/>
              </a:solidFill>
              <a:latin typeface="Helvetica Neue"/>
            </a:endParaRPr>
          </a:p>
        </p:txBody>
      </p:sp>
      <p:sp>
        <p:nvSpPr>
          <p:cNvPr id="17" name="矩形 16"/>
          <p:cNvSpPr/>
          <p:nvPr/>
        </p:nvSpPr>
        <p:spPr>
          <a:xfrm>
            <a:off x="611560" y="1384202"/>
            <a:ext cx="1936749" cy="369332"/>
          </a:xfrm>
          <a:prstGeom prst="rect">
            <a:avLst/>
          </a:prstGeom>
        </p:spPr>
        <p:txBody>
          <a:bodyPr wrap="none">
            <a:spAutoFit/>
          </a:bodyPr>
          <a:lstStyle/>
          <a:p>
            <a:r>
              <a:rPr lang="en-US" altLang="zh-CN" b="1" dirty="0" err="1">
                <a:solidFill>
                  <a:schemeClr val="accent6"/>
                </a:solidFill>
                <a:latin typeface="Helvetica Neue"/>
              </a:rPr>
              <a:t>re.findall</a:t>
            </a:r>
            <a:r>
              <a:rPr lang="zh-CN" altLang="en-US" b="1" dirty="0">
                <a:solidFill>
                  <a:schemeClr val="accent6"/>
                </a:solidFill>
                <a:latin typeface="Helvetica Neue"/>
              </a:rPr>
              <a:t>方法 </a:t>
            </a:r>
            <a:endParaRPr lang="en-US" altLang="zh-CN" b="1" dirty="0">
              <a:solidFill>
                <a:schemeClr val="accent6"/>
              </a:solidFill>
              <a:latin typeface="Helvetica Neue"/>
            </a:endParaRPr>
          </a:p>
        </p:txBody>
      </p:sp>
      <p:sp>
        <p:nvSpPr>
          <p:cNvPr id="18" name="矩形 17"/>
          <p:cNvSpPr/>
          <p:nvPr/>
        </p:nvSpPr>
        <p:spPr>
          <a:xfrm>
            <a:off x="2195736" y="2454479"/>
            <a:ext cx="6174432" cy="369332"/>
          </a:xfrm>
          <a:prstGeom prst="rect">
            <a:avLst/>
          </a:prstGeom>
        </p:spPr>
        <p:txBody>
          <a:bodyPr wrap="square">
            <a:spAutoFit/>
          </a:bodyPr>
          <a:lstStyle/>
          <a:p>
            <a:r>
              <a:rPr lang="zh-CN" altLang="en-US" dirty="0">
                <a:solidFill>
                  <a:srgbClr val="0000FF"/>
                </a:solidFill>
              </a:rPr>
              <a:t> Return a list of all non-overlapping matches in the string.</a:t>
            </a:r>
            <a:endParaRPr lang="zh-CN" altLang="en-US" dirty="0"/>
          </a:p>
        </p:txBody>
      </p:sp>
    </p:spTree>
  </p:cSld>
  <p:clrMapOvr>
    <a:masterClrMapping/>
  </p:clrMapOvr>
  <p:transition spd="slow" advClick="0">
    <p:pull dir="d"/>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80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66</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4.3.2 re</a:t>
            </a:r>
            <a:r>
              <a:rPr lang="zh-CN" altLang="en-US" sz="2800" b="1" dirty="0">
                <a:latin typeface="Times New Roman" panose="02020603050405020304" pitchFamily="18" charset="0"/>
                <a:ea typeface="仿宋" panose="02010609060101010101" pitchFamily="49" charset="-122"/>
              </a:rPr>
              <a:t>模块的主要方法与使用</a:t>
            </a:r>
            <a:endParaRPr lang="en-US" altLang="zh-CN" sz="2800" b="1" dirty="0">
              <a:ea typeface="仿宋" panose="02010609060101010101" pitchFamily="49" charset="-122"/>
            </a:endParaRPr>
          </a:p>
        </p:txBody>
      </p:sp>
      <p:grpSp>
        <p:nvGrpSpPr>
          <p:cNvPr id="7" name="组合 109"/>
          <p:cNvGrpSpPr/>
          <p:nvPr/>
        </p:nvGrpSpPr>
        <p:grpSpPr>
          <a:xfrm>
            <a:off x="489223" y="44624"/>
            <a:ext cx="4514825" cy="684413"/>
            <a:chOff x="956926" y="4567095"/>
            <a:chExt cx="4514825" cy="684413"/>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567095"/>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pic>
        <p:nvPicPr>
          <p:cNvPr id="15" name="图片 14"/>
          <p:cNvPicPr>
            <a:picLocks noChangeAspect="1"/>
          </p:cNvPicPr>
          <p:nvPr/>
        </p:nvPicPr>
        <p:blipFill>
          <a:blip r:embed="rId4"/>
          <a:stretch>
            <a:fillRect/>
          </a:stretch>
        </p:blipFill>
        <p:spPr>
          <a:xfrm>
            <a:off x="1403648" y="1831228"/>
            <a:ext cx="6112792" cy="866185"/>
          </a:xfrm>
          <a:prstGeom prst="rect">
            <a:avLst/>
          </a:prstGeom>
        </p:spPr>
      </p:pic>
      <p:pic>
        <p:nvPicPr>
          <p:cNvPr id="5" name="图片 4"/>
          <p:cNvPicPr>
            <a:picLocks noChangeAspect="1"/>
          </p:cNvPicPr>
          <p:nvPr/>
        </p:nvPicPr>
        <p:blipFill>
          <a:blip r:embed="rId5"/>
          <a:stretch>
            <a:fillRect/>
          </a:stretch>
        </p:blipFill>
        <p:spPr>
          <a:xfrm>
            <a:off x="1403648" y="4438736"/>
            <a:ext cx="6779579" cy="1282416"/>
          </a:xfrm>
          <a:prstGeom prst="rect">
            <a:avLst/>
          </a:prstGeom>
        </p:spPr>
      </p:pic>
      <p:pic>
        <p:nvPicPr>
          <p:cNvPr id="3" name="图片 2"/>
          <p:cNvPicPr>
            <a:picLocks noChangeAspect="1"/>
          </p:cNvPicPr>
          <p:nvPr/>
        </p:nvPicPr>
        <p:blipFill>
          <a:blip r:embed="rId6"/>
          <a:stretch>
            <a:fillRect/>
          </a:stretch>
        </p:blipFill>
        <p:spPr>
          <a:xfrm>
            <a:off x="1418093" y="2883447"/>
            <a:ext cx="7235851" cy="1427083"/>
          </a:xfrm>
          <a:prstGeom prst="rect">
            <a:avLst/>
          </a:prstGeom>
        </p:spPr>
      </p:pic>
      <p:sp>
        <p:nvSpPr>
          <p:cNvPr id="2" name="矩形 1"/>
          <p:cNvSpPr/>
          <p:nvPr/>
        </p:nvSpPr>
        <p:spPr>
          <a:xfrm>
            <a:off x="675864" y="1483838"/>
            <a:ext cx="6384522" cy="338554"/>
          </a:xfrm>
          <a:prstGeom prst="rect">
            <a:avLst/>
          </a:prstGeom>
        </p:spPr>
        <p:txBody>
          <a:bodyPr wrap="square">
            <a:spAutoFit/>
          </a:bodyPr>
          <a:lstStyle/>
          <a:p>
            <a:r>
              <a:rPr lang="en-US" altLang="zh-CN" sz="1600" dirty="0" smtClean="0">
                <a:solidFill>
                  <a:srgbClr val="0000FF"/>
                </a:solidFill>
              </a:rPr>
              <a:t>f</a:t>
            </a:r>
            <a:r>
              <a:rPr lang="zh-CN" altLang="en-US" sz="1600" dirty="0" smtClean="0">
                <a:solidFill>
                  <a:srgbClr val="0000FF"/>
                </a:solidFill>
              </a:rPr>
              <a:t>indall的案例</a:t>
            </a:r>
            <a:endParaRPr lang="zh-CN" altLang="en-US" sz="1600" dirty="0">
              <a:solidFill>
                <a:srgbClr val="0000FF"/>
              </a:solidFill>
            </a:endParaRPr>
          </a:p>
        </p:txBody>
      </p:sp>
    </p:spTree>
    <p:extLst>
      <p:ext uri="{BB962C8B-B14F-4D97-AF65-F5344CB8AC3E}">
        <p14:creationId xmlns:p14="http://schemas.microsoft.com/office/powerpoint/2010/main" val="328706693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Content Placeholder 2"/>
          <p:cNvSpPr>
            <a:spLocks noGrp="1"/>
          </p:cNvSpPr>
          <p:nvPr>
            <p:ph idx="1"/>
          </p:nvPr>
        </p:nvSpPr>
        <p:spPr/>
        <p:txBody>
          <a:bodyPr anchor="t"/>
          <a:lstStyle/>
          <a:p>
            <a:pPr marL="0" indent="0">
              <a:buNone/>
            </a:pPr>
            <a:r>
              <a:rPr lang="en-US" altLang="en-US" sz="1350" dirty="0">
                <a:latin typeface="Consolas" panose="020B0609020204030204" charset="0"/>
              </a:rPr>
              <a:t>&gt;&gt;&gt; example = 'Beautiful is better than ugly.'</a:t>
            </a:r>
          </a:p>
          <a:p>
            <a:pPr marL="0" indent="0">
              <a:buNone/>
            </a:pPr>
            <a:r>
              <a:rPr lang="en-US" altLang="en-US" sz="1350" dirty="0">
                <a:latin typeface="Consolas" panose="020B0609020204030204" charset="0"/>
              </a:rPr>
              <a:t>&gt;&gt;&gt; </a:t>
            </a:r>
            <a:r>
              <a:rPr lang="en-US" altLang="en-US" sz="1350" dirty="0" err="1">
                <a:latin typeface="Consolas" panose="020B0609020204030204" charset="0"/>
              </a:rPr>
              <a:t>re.findall</a:t>
            </a:r>
            <a:r>
              <a:rPr lang="en-US" altLang="en-US" sz="1350" dirty="0">
                <a:latin typeface="Consolas" panose="020B0609020204030204" charset="0"/>
              </a:rPr>
              <a:t>('\\bb.+?\\b', example)  #</a:t>
            </a:r>
            <a:r>
              <a:rPr lang="en-US" altLang="en-US" sz="1350" dirty="0" err="1">
                <a:latin typeface="Consolas" panose="020B0609020204030204" charset="0"/>
              </a:rPr>
              <a:t>以字母b开头的完整单词</a:t>
            </a:r>
            <a:endParaRPr lang="en-US" altLang="en-US" sz="1350" dirty="0">
              <a:latin typeface="Consolas" panose="020B0609020204030204" charset="0"/>
            </a:endParaRPr>
          </a:p>
          <a:p>
            <a:pPr marL="0" indent="0">
              <a:buNone/>
            </a:pPr>
            <a:r>
              <a:rPr lang="en-US" altLang="en-US" sz="1350" dirty="0">
                <a:latin typeface="Consolas" panose="020B0609020204030204" charset="0"/>
              </a:rPr>
              <a:t>                                       #此处问号?表示非贪心模式 .</a:t>
            </a:r>
            <a:r>
              <a:rPr lang="zh-CN" altLang="en-US" sz="1350" dirty="0">
                <a:latin typeface="Consolas" panose="020B0609020204030204" charset="0"/>
              </a:rPr>
              <a:t> 不包括在前面</a:t>
            </a:r>
            <a:endParaRPr lang="en-US" altLang="en-US" sz="1350" dirty="0">
              <a:latin typeface="Consolas" panose="020B0609020204030204" charset="0"/>
            </a:endParaRPr>
          </a:p>
          <a:p>
            <a:pPr marL="0" indent="0">
              <a:buNone/>
            </a:pPr>
            <a:r>
              <a:rPr lang="en-US" altLang="en-US" sz="1350" dirty="0">
                <a:solidFill>
                  <a:srgbClr val="0000FF"/>
                </a:solidFill>
                <a:latin typeface="Consolas" panose="020B0609020204030204" charset="0"/>
              </a:rPr>
              <a:t>['better']</a:t>
            </a:r>
          </a:p>
          <a:p>
            <a:pPr marL="0" indent="0">
              <a:buNone/>
            </a:pPr>
            <a:r>
              <a:rPr lang="en-US" altLang="en-US" sz="1350" dirty="0">
                <a:latin typeface="Consolas" panose="020B0609020204030204" charset="0"/>
              </a:rPr>
              <a:t>&gt;&gt;&gt; </a:t>
            </a:r>
            <a:r>
              <a:rPr lang="en-US" altLang="en-US" sz="1350" dirty="0" err="1">
                <a:latin typeface="Consolas" panose="020B0609020204030204" charset="0"/>
              </a:rPr>
              <a:t>re.findall</a:t>
            </a:r>
            <a:r>
              <a:rPr lang="en-US" altLang="en-US" sz="1350" dirty="0">
                <a:latin typeface="Consolas" panose="020B0609020204030204" charset="0"/>
              </a:rPr>
              <a:t>('\\bb.+\\b', example)   #</a:t>
            </a:r>
            <a:r>
              <a:rPr lang="en-US" altLang="en-US" sz="1350" dirty="0" err="1">
                <a:latin typeface="Consolas" panose="020B0609020204030204" charset="0"/>
              </a:rPr>
              <a:t>贪心模式的匹配结果</a:t>
            </a:r>
            <a:endParaRPr lang="en-US" altLang="en-US" sz="1350" dirty="0">
              <a:latin typeface="Consolas" panose="020B0609020204030204" charset="0"/>
            </a:endParaRPr>
          </a:p>
          <a:p>
            <a:pPr marL="0" indent="0">
              <a:buNone/>
            </a:pPr>
            <a:r>
              <a:rPr lang="en-US" altLang="en-US" sz="1350" dirty="0">
                <a:solidFill>
                  <a:srgbClr val="0000FF"/>
                </a:solidFill>
                <a:latin typeface="Consolas" panose="020B0609020204030204" charset="0"/>
              </a:rPr>
              <a:t>['better than ugly']</a:t>
            </a:r>
          </a:p>
          <a:p>
            <a:pPr marL="0" indent="0">
              <a:buNone/>
            </a:pPr>
            <a:r>
              <a:rPr lang="en-US" altLang="en-US" sz="1350" dirty="0">
                <a:latin typeface="Consolas" panose="020B0609020204030204" charset="0"/>
              </a:rPr>
              <a:t>&gt;&gt;&gt; </a:t>
            </a:r>
            <a:r>
              <a:rPr lang="en-US" altLang="en-US" sz="1350" dirty="0" err="1">
                <a:latin typeface="Consolas" panose="020B0609020204030204" charset="0"/>
              </a:rPr>
              <a:t>re.findall</a:t>
            </a:r>
            <a:r>
              <a:rPr lang="en-US" altLang="en-US" sz="1350" dirty="0">
                <a:latin typeface="Consolas" panose="020B0609020204030204" charset="0"/>
              </a:rPr>
              <a:t>('\\bb\w*\\b', example)</a:t>
            </a:r>
          </a:p>
          <a:p>
            <a:pPr marL="0" indent="0">
              <a:buNone/>
            </a:pPr>
            <a:r>
              <a:rPr lang="en-US" altLang="en-US" sz="1350" dirty="0">
                <a:solidFill>
                  <a:srgbClr val="0000FF"/>
                </a:solidFill>
                <a:latin typeface="Consolas" panose="020B0609020204030204" charset="0"/>
              </a:rPr>
              <a:t>['better']</a:t>
            </a:r>
          </a:p>
          <a:p>
            <a:pPr marL="0" indent="0">
              <a:buNone/>
            </a:pPr>
            <a:r>
              <a:rPr lang="en-US" altLang="en-US" sz="1350" dirty="0">
                <a:latin typeface="Consolas" panose="020B0609020204030204" charset="0"/>
              </a:rPr>
              <a:t>&gt;&gt;&gt; </a:t>
            </a:r>
            <a:r>
              <a:rPr lang="en-US" altLang="en-US" sz="1350" dirty="0" err="1">
                <a:latin typeface="Consolas" panose="020B0609020204030204" charset="0"/>
              </a:rPr>
              <a:t>re.findall</a:t>
            </a:r>
            <a:r>
              <a:rPr lang="en-US" altLang="en-US" sz="1350" dirty="0">
                <a:latin typeface="Consolas" panose="020B0609020204030204" charset="0"/>
              </a:rPr>
              <a:t>('\\</a:t>
            </a:r>
            <a:r>
              <a:rPr lang="en-US" altLang="en-US" sz="1350" dirty="0" err="1">
                <a:latin typeface="Consolas" panose="020B0609020204030204" charset="0"/>
              </a:rPr>
              <a:t>Bh</a:t>
            </a:r>
            <a:r>
              <a:rPr lang="en-US" altLang="en-US" sz="1350" dirty="0">
                <a:latin typeface="Consolas" panose="020B0609020204030204" charset="0"/>
              </a:rPr>
              <a:t>.+?\\b', example)</a:t>
            </a:r>
          </a:p>
          <a:p>
            <a:pPr marL="0" indent="0">
              <a:buNone/>
            </a:pPr>
            <a:r>
              <a:rPr lang="en-US" altLang="en-US" sz="1350" dirty="0">
                <a:latin typeface="Consolas" panose="020B0609020204030204" charset="0"/>
              </a:rPr>
              <a:t>                               #</a:t>
            </a:r>
            <a:r>
              <a:rPr lang="en-US" altLang="en-US" sz="1350" dirty="0" err="1">
                <a:latin typeface="Consolas" panose="020B0609020204030204" charset="0"/>
              </a:rPr>
              <a:t>不以h开头且含有h字母的单词剩余部分</a:t>
            </a:r>
            <a:endParaRPr lang="en-US" altLang="en-US" sz="1350" dirty="0">
              <a:latin typeface="Consolas" panose="020B0609020204030204" charset="0"/>
            </a:endParaRPr>
          </a:p>
          <a:p>
            <a:pPr marL="0" indent="0">
              <a:buNone/>
            </a:pPr>
            <a:r>
              <a:rPr lang="en-US" altLang="en-US" sz="1350" dirty="0">
                <a:solidFill>
                  <a:srgbClr val="0000FF"/>
                </a:solidFill>
                <a:latin typeface="Consolas" panose="020B0609020204030204" charset="0"/>
              </a:rPr>
              <a:t>['</a:t>
            </a:r>
            <a:r>
              <a:rPr lang="en-US" altLang="en-US" sz="1350" dirty="0" err="1">
                <a:solidFill>
                  <a:srgbClr val="0000FF"/>
                </a:solidFill>
                <a:latin typeface="Consolas" panose="020B0609020204030204" charset="0"/>
              </a:rPr>
              <a:t>han</a:t>
            </a:r>
            <a:r>
              <a:rPr lang="en-US" altLang="en-US" sz="1350" dirty="0">
                <a:solidFill>
                  <a:srgbClr val="0000FF"/>
                </a:solidFill>
                <a:latin typeface="Consolas" panose="020B0609020204030204" charset="0"/>
              </a:rPr>
              <a:t>']</a:t>
            </a:r>
          </a:p>
          <a:p>
            <a:pPr marL="0" indent="0">
              <a:buNone/>
            </a:pPr>
            <a:r>
              <a:rPr lang="en-US" altLang="en-US" sz="1350" dirty="0">
                <a:latin typeface="Consolas" panose="020B0609020204030204" charset="0"/>
              </a:rPr>
              <a:t>&gt;&gt;&gt; </a:t>
            </a:r>
            <a:r>
              <a:rPr lang="en-US" altLang="en-US" sz="1350" dirty="0" err="1">
                <a:latin typeface="Consolas" panose="020B0609020204030204" charset="0"/>
              </a:rPr>
              <a:t>re.findall</a:t>
            </a:r>
            <a:r>
              <a:rPr lang="en-US" altLang="en-US" sz="1350" dirty="0">
                <a:latin typeface="Consolas" panose="020B0609020204030204" charset="0"/>
              </a:rPr>
              <a:t>('\\b\w.+?\\b', example) #</a:t>
            </a:r>
            <a:r>
              <a:rPr lang="en-US" altLang="en-US" sz="1350" dirty="0" err="1">
                <a:latin typeface="Consolas" panose="020B0609020204030204" charset="0"/>
              </a:rPr>
              <a:t>所有单词</a:t>
            </a:r>
            <a:endParaRPr lang="en-US" altLang="en-US" sz="1350" dirty="0">
              <a:latin typeface="Consolas" panose="020B0609020204030204" charset="0"/>
            </a:endParaRPr>
          </a:p>
          <a:p>
            <a:pPr marL="0" indent="0">
              <a:buNone/>
            </a:pPr>
            <a:r>
              <a:rPr lang="en-US" altLang="en-US" sz="1350" dirty="0">
                <a:solidFill>
                  <a:srgbClr val="0000FF"/>
                </a:solidFill>
                <a:latin typeface="Consolas" panose="020B0609020204030204" charset="0"/>
              </a:rPr>
              <a:t>['Beautiful', 'is', 'better', 'than', 'ugly’]</a:t>
            </a:r>
          </a:p>
          <a:p>
            <a:pPr marL="0" indent="0">
              <a:buNone/>
            </a:pPr>
            <a:endParaRPr lang="en-US" altLang="en-US" sz="1350" dirty="0">
              <a:solidFill>
                <a:srgbClr val="0000FF"/>
              </a:solidFill>
              <a:latin typeface="Consolas" panose="020B0609020204030204" charset="0"/>
            </a:endParaRPr>
          </a:p>
          <a:p>
            <a:pPr marL="0" indent="0">
              <a:buNone/>
            </a:pPr>
            <a:r>
              <a:rPr lang="zh-CN" altLang="en-US" sz="1350" b="0" u="none" dirty="0">
                <a:latin typeface="宋体" panose="02010600030101010101" pitchFamily="2" charset="-122"/>
                <a:ea typeface="宋体" panose="02010600030101010101" pitchFamily="2" charset="-122"/>
                <a:cs typeface="宋体" panose="02010600030101010101" pitchFamily="2" charset="-122"/>
              </a:rPr>
              <a:t>匹配位于</a:t>
            </a:r>
            <a:r>
              <a:rPr lang="en-US" altLang="zh-CN" sz="1350" b="0" u="none" dirty="0">
                <a:latin typeface="宋体" panose="02010600030101010101" pitchFamily="2" charset="-122"/>
                <a:ea typeface="宋体" panose="02010600030101010101" pitchFamily="2" charset="-122"/>
                <a:cs typeface="宋体" panose="02010600030101010101" pitchFamily="2" charset="-122"/>
              </a:rPr>
              <a:t>?</a:t>
            </a:r>
            <a:r>
              <a:rPr lang="zh-CN" altLang="en-US" sz="1350" b="0" u="none" dirty="0">
                <a:latin typeface="宋体" panose="02010600030101010101" pitchFamily="2" charset="-122"/>
                <a:ea typeface="宋体" panose="02010600030101010101" pitchFamily="2" charset="-122"/>
                <a:cs typeface="宋体" panose="02010600030101010101" pitchFamily="2" charset="-122"/>
              </a:rPr>
              <a:t>之前的</a:t>
            </a:r>
            <a:r>
              <a:rPr lang="en-US" altLang="zh-CN" sz="1350" b="0" u="none" dirty="0">
                <a:latin typeface="宋体" panose="02010600030101010101" pitchFamily="2" charset="-122"/>
                <a:ea typeface="宋体" panose="02010600030101010101" pitchFamily="2" charset="-122"/>
                <a:cs typeface="宋体" panose="02010600030101010101" pitchFamily="2" charset="-122"/>
              </a:rPr>
              <a:t>0</a:t>
            </a:r>
            <a:r>
              <a:rPr lang="zh-CN" altLang="en-US" sz="1350" b="0" u="none" dirty="0">
                <a:latin typeface="宋体" panose="02010600030101010101" pitchFamily="2" charset="-122"/>
                <a:ea typeface="宋体" panose="02010600030101010101" pitchFamily="2" charset="-122"/>
                <a:cs typeface="宋体" panose="02010600030101010101" pitchFamily="2" charset="-122"/>
              </a:rPr>
              <a:t>个或</a:t>
            </a:r>
            <a:r>
              <a:rPr lang="en-US" altLang="zh-CN" sz="1350" b="0" u="none" dirty="0">
                <a:latin typeface="宋体" panose="02010600030101010101" pitchFamily="2" charset="-122"/>
                <a:ea typeface="宋体" panose="02010600030101010101" pitchFamily="2" charset="-122"/>
                <a:cs typeface="宋体" panose="02010600030101010101" pitchFamily="2" charset="-122"/>
              </a:rPr>
              <a:t>1</a:t>
            </a:r>
            <a:r>
              <a:rPr lang="zh-CN" altLang="en-US" sz="1350" b="0" u="none" dirty="0">
                <a:latin typeface="宋体" panose="02010600030101010101" pitchFamily="2" charset="-122"/>
                <a:ea typeface="宋体" panose="02010600030101010101" pitchFamily="2" charset="-122"/>
                <a:cs typeface="宋体" panose="02010600030101010101" pitchFamily="2" charset="-122"/>
              </a:rPr>
              <a:t>个字符，等价于</a:t>
            </a:r>
            <a:r>
              <a:rPr lang="en-US" altLang="zh-CN" sz="1350" b="0" u="none" dirty="0">
                <a:latin typeface="宋体" panose="02010600030101010101" pitchFamily="2" charset="-122"/>
                <a:ea typeface="宋体" panose="02010600030101010101" pitchFamily="2" charset="-122"/>
                <a:cs typeface="宋体" panose="02010600030101010101" pitchFamily="2" charset="-122"/>
              </a:rPr>
              <a:t>{0</a:t>
            </a:r>
            <a:r>
              <a:rPr lang="zh-CN" altLang="en-US" sz="1350" b="0" u="none" dirty="0">
                <a:latin typeface="宋体" panose="02010600030101010101" pitchFamily="2" charset="-122"/>
                <a:ea typeface="宋体" panose="02010600030101010101" pitchFamily="2" charset="-122"/>
                <a:cs typeface="宋体" panose="02010600030101010101" pitchFamily="2" charset="-122"/>
              </a:rPr>
              <a:t>，</a:t>
            </a:r>
            <a:r>
              <a:rPr lang="en-US" altLang="zh-CN" sz="1350" b="0" u="none" dirty="0">
                <a:latin typeface="宋体" panose="02010600030101010101" pitchFamily="2" charset="-122"/>
                <a:ea typeface="宋体" panose="02010600030101010101" pitchFamily="2" charset="-122"/>
                <a:cs typeface="宋体" panose="02010600030101010101" pitchFamily="2" charset="-122"/>
              </a:rPr>
              <a:t>1}</a:t>
            </a:r>
            <a:r>
              <a:rPr lang="zh-CN" altLang="en-US" sz="1350" b="0" u="none" dirty="0">
                <a:latin typeface="宋体" panose="02010600030101010101" pitchFamily="2" charset="-122"/>
                <a:ea typeface="宋体" panose="02010600030101010101" pitchFamily="2" charset="-122"/>
                <a:cs typeface="宋体" panose="02010600030101010101" pitchFamily="2" charset="-122"/>
              </a:rPr>
              <a:t>。当此字符紧随任何其他限定符（</a:t>
            </a:r>
            <a:r>
              <a:rPr lang="en-US" altLang="zh-CN" sz="1350" b="0" u="none" dirty="0">
                <a:latin typeface="宋体" panose="02010600030101010101" pitchFamily="2" charset="-122"/>
                <a:ea typeface="宋体" panose="02010600030101010101" pitchFamily="2" charset="-122"/>
                <a:cs typeface="宋体" panose="02010600030101010101" pitchFamily="2" charset="-122"/>
              </a:rPr>
              <a:t>*</a:t>
            </a:r>
            <a:r>
              <a:rPr lang="zh-CN" altLang="en-US" sz="1350" b="0" u="none" dirty="0">
                <a:latin typeface="宋体" panose="02010600030101010101" pitchFamily="2" charset="-122"/>
                <a:ea typeface="宋体" panose="02010600030101010101" pitchFamily="2" charset="-122"/>
                <a:cs typeface="宋体" panose="02010600030101010101" pitchFamily="2" charset="-122"/>
              </a:rPr>
              <a:t>、</a:t>
            </a:r>
            <a:r>
              <a:rPr lang="en-US" altLang="zh-CN" sz="1350" b="0" u="none" dirty="0">
                <a:latin typeface="宋体" panose="02010600030101010101" pitchFamily="2" charset="-122"/>
                <a:ea typeface="宋体" panose="02010600030101010101" pitchFamily="2" charset="-122"/>
                <a:cs typeface="宋体" panose="02010600030101010101" pitchFamily="2" charset="-122"/>
              </a:rPr>
              <a:t>+</a:t>
            </a:r>
            <a:r>
              <a:rPr lang="zh-CN" altLang="en-US" sz="1350" b="0" u="none" dirty="0">
                <a:latin typeface="宋体" panose="02010600030101010101" pitchFamily="2" charset="-122"/>
                <a:ea typeface="宋体" panose="02010600030101010101" pitchFamily="2" charset="-122"/>
                <a:cs typeface="宋体" panose="02010600030101010101" pitchFamily="2" charset="-122"/>
              </a:rPr>
              <a:t>、</a:t>
            </a:r>
            <a:r>
              <a:rPr lang="en-US" altLang="zh-CN" sz="1350" b="0" u="none" dirty="0">
                <a:latin typeface="宋体" panose="02010600030101010101" pitchFamily="2" charset="-122"/>
                <a:ea typeface="宋体" panose="02010600030101010101" pitchFamily="2" charset="-122"/>
                <a:cs typeface="宋体" panose="02010600030101010101" pitchFamily="2" charset="-122"/>
              </a:rPr>
              <a:t>?</a:t>
            </a:r>
            <a:r>
              <a:rPr lang="zh-CN" altLang="en-US" sz="1350" b="0" u="none" dirty="0">
                <a:latin typeface="宋体" panose="02010600030101010101" pitchFamily="2" charset="-122"/>
                <a:ea typeface="宋体" panose="02010600030101010101" pitchFamily="2" charset="-122"/>
                <a:cs typeface="宋体" panose="02010600030101010101" pitchFamily="2" charset="-122"/>
              </a:rPr>
              <a:t>、</a:t>
            </a:r>
            <a:r>
              <a:rPr lang="en-US" altLang="zh-CN" sz="1350" b="0" u="none" dirty="0">
                <a:latin typeface="宋体" panose="02010600030101010101" pitchFamily="2" charset="-122"/>
                <a:ea typeface="宋体" panose="02010600030101010101" pitchFamily="2" charset="-122"/>
                <a:cs typeface="宋体" panose="02010600030101010101" pitchFamily="2" charset="-122"/>
              </a:rPr>
              <a:t>{n}</a:t>
            </a:r>
            <a:r>
              <a:rPr lang="zh-CN" altLang="en-US" sz="1350" b="0" u="none" dirty="0">
                <a:latin typeface="宋体" panose="02010600030101010101" pitchFamily="2" charset="-122"/>
                <a:ea typeface="宋体" panose="02010600030101010101" pitchFamily="2" charset="-122"/>
                <a:cs typeface="宋体" panose="02010600030101010101" pitchFamily="2" charset="-122"/>
              </a:rPr>
              <a:t>、</a:t>
            </a:r>
            <a:r>
              <a:rPr lang="en-US" altLang="zh-CN" sz="1350" b="0" u="none" dirty="0">
                <a:latin typeface="宋体" panose="02010600030101010101" pitchFamily="2" charset="-122"/>
                <a:ea typeface="宋体" panose="02010600030101010101" pitchFamily="2" charset="-122"/>
                <a:cs typeface="宋体" panose="02010600030101010101" pitchFamily="2" charset="-122"/>
              </a:rPr>
              <a:t>{n,}</a:t>
            </a:r>
            <a:r>
              <a:rPr lang="zh-CN" altLang="en-US" sz="1350" b="0" u="none" dirty="0">
                <a:latin typeface="宋体" panose="02010600030101010101" pitchFamily="2" charset="-122"/>
                <a:ea typeface="宋体" panose="02010600030101010101" pitchFamily="2" charset="-122"/>
                <a:cs typeface="宋体" panose="02010600030101010101" pitchFamily="2" charset="-122"/>
              </a:rPr>
              <a:t>、</a:t>
            </a:r>
            <a:r>
              <a:rPr lang="en-US" altLang="zh-CN" sz="1350" b="0" u="none" dirty="0">
                <a:latin typeface="宋体" panose="02010600030101010101" pitchFamily="2" charset="-122"/>
                <a:ea typeface="宋体" panose="02010600030101010101" pitchFamily="2" charset="-122"/>
                <a:cs typeface="宋体" panose="02010600030101010101" pitchFamily="2" charset="-122"/>
              </a:rPr>
              <a:t>{</a:t>
            </a:r>
            <a:r>
              <a:rPr lang="en-US" altLang="zh-CN" sz="1350" b="0" u="none" dirty="0" err="1">
                <a:latin typeface="宋体" panose="02010600030101010101" pitchFamily="2" charset="-122"/>
                <a:ea typeface="宋体" panose="02010600030101010101" pitchFamily="2" charset="-122"/>
                <a:cs typeface="宋体" panose="02010600030101010101" pitchFamily="2" charset="-122"/>
              </a:rPr>
              <a:t>n,m</a:t>
            </a:r>
            <a:r>
              <a:rPr lang="en-US" altLang="zh-CN" sz="1350" b="0" u="none" dirty="0">
                <a:latin typeface="宋体" panose="02010600030101010101" pitchFamily="2" charset="-122"/>
                <a:ea typeface="宋体" panose="02010600030101010101" pitchFamily="2" charset="-122"/>
                <a:cs typeface="宋体" panose="02010600030101010101" pitchFamily="2" charset="-122"/>
              </a:rPr>
              <a:t>}</a:t>
            </a:r>
            <a:r>
              <a:rPr lang="zh-CN" altLang="en-US" sz="1350" b="0" u="none" dirty="0">
                <a:latin typeface="宋体" panose="02010600030101010101" pitchFamily="2" charset="-122"/>
                <a:ea typeface="宋体" panose="02010600030101010101" pitchFamily="2" charset="-122"/>
                <a:cs typeface="宋体" panose="02010600030101010101" pitchFamily="2" charset="-122"/>
              </a:rPr>
              <a:t>）之后时，匹配模式是“非贪心的”。</a:t>
            </a:r>
            <a:r>
              <a:rPr lang="zh-CN" altLang="en-US" sz="1350" b="0" u="none" dirty="0">
                <a:solidFill>
                  <a:srgbClr val="FF0000"/>
                </a:solidFill>
                <a:latin typeface="宋体" panose="02010600030101010101" pitchFamily="2" charset="-122"/>
                <a:ea typeface="宋体" panose="02010600030101010101" pitchFamily="2" charset="-122"/>
                <a:cs typeface="宋体" panose="02010600030101010101" pitchFamily="2" charset="-122"/>
              </a:rPr>
              <a:t>“非贪心的”模式匹配搜索到的、尽可能短的字符串</a:t>
            </a:r>
            <a:r>
              <a:rPr lang="zh-CN" altLang="en-US" sz="1350" b="0" u="none" dirty="0">
                <a:latin typeface="宋体" panose="02010600030101010101" pitchFamily="2" charset="-122"/>
                <a:ea typeface="宋体" panose="02010600030101010101" pitchFamily="2" charset="-122"/>
                <a:cs typeface="宋体" panose="02010600030101010101" pitchFamily="2" charset="-122"/>
              </a:rPr>
              <a:t>，而默认的“贪心的”模式匹配搜索到的、尽可能长的字符串。例如，在字符串“</a:t>
            </a:r>
            <a:r>
              <a:rPr lang="en-US" altLang="zh-CN" sz="1350" b="0" u="none" dirty="0" err="1">
                <a:latin typeface="宋体" panose="02010600030101010101" pitchFamily="2" charset="-122"/>
                <a:ea typeface="宋体" panose="02010600030101010101" pitchFamily="2" charset="-122"/>
                <a:cs typeface="宋体" panose="02010600030101010101" pitchFamily="2" charset="-122"/>
              </a:rPr>
              <a:t>oooo</a:t>
            </a:r>
            <a:r>
              <a:rPr lang="en-US" altLang="zh-CN" sz="1350" b="0" u="none" dirty="0">
                <a:latin typeface="宋体" panose="02010600030101010101" pitchFamily="2" charset="-122"/>
                <a:ea typeface="宋体" panose="02010600030101010101" pitchFamily="2" charset="-122"/>
                <a:cs typeface="宋体" panose="02010600030101010101" pitchFamily="2" charset="-122"/>
              </a:rPr>
              <a:t>”</a:t>
            </a:r>
            <a:r>
              <a:rPr lang="zh-CN" altLang="en-US" sz="1350" b="0" u="none" dirty="0">
                <a:latin typeface="宋体" panose="02010600030101010101" pitchFamily="2" charset="-122"/>
                <a:ea typeface="宋体" panose="02010600030101010101" pitchFamily="2" charset="-122"/>
                <a:cs typeface="宋体" panose="02010600030101010101" pitchFamily="2" charset="-122"/>
              </a:rPr>
              <a:t>中，“</a:t>
            </a:r>
            <a:r>
              <a:rPr lang="en-US" altLang="zh-CN" sz="1350" b="0" u="none" dirty="0">
                <a:latin typeface="宋体" panose="02010600030101010101" pitchFamily="2" charset="-122"/>
                <a:ea typeface="宋体" panose="02010600030101010101" pitchFamily="2" charset="-122"/>
                <a:cs typeface="宋体" panose="02010600030101010101" pitchFamily="2" charset="-122"/>
              </a:rPr>
              <a:t>o+?”</a:t>
            </a:r>
            <a:r>
              <a:rPr lang="zh-CN" altLang="en-US" sz="1350" b="0" u="none" dirty="0">
                <a:latin typeface="宋体" panose="02010600030101010101" pitchFamily="2" charset="-122"/>
                <a:ea typeface="宋体" panose="02010600030101010101" pitchFamily="2" charset="-122"/>
                <a:cs typeface="宋体" panose="02010600030101010101" pitchFamily="2" charset="-122"/>
              </a:rPr>
              <a:t>只匹配单个“</a:t>
            </a:r>
            <a:r>
              <a:rPr lang="en-US" altLang="zh-CN" sz="1350" b="0" u="none" dirty="0">
                <a:latin typeface="宋体" panose="02010600030101010101" pitchFamily="2" charset="-122"/>
                <a:ea typeface="宋体" panose="02010600030101010101" pitchFamily="2" charset="-122"/>
                <a:cs typeface="宋体" panose="02010600030101010101" pitchFamily="2" charset="-122"/>
              </a:rPr>
              <a:t>o”</a:t>
            </a:r>
            <a:r>
              <a:rPr lang="zh-CN" altLang="en-US" sz="1350" b="0" u="none" dirty="0">
                <a:latin typeface="宋体" panose="02010600030101010101" pitchFamily="2" charset="-122"/>
                <a:ea typeface="宋体" panose="02010600030101010101" pitchFamily="2" charset="-122"/>
                <a:cs typeface="宋体" panose="02010600030101010101" pitchFamily="2" charset="-122"/>
              </a:rPr>
              <a:t>，而“</a:t>
            </a:r>
            <a:r>
              <a:rPr lang="en-US" altLang="zh-CN" sz="1350" b="0" u="none" dirty="0">
                <a:latin typeface="宋体" panose="02010600030101010101" pitchFamily="2" charset="-122"/>
                <a:ea typeface="宋体" panose="02010600030101010101" pitchFamily="2" charset="-122"/>
                <a:cs typeface="宋体" panose="02010600030101010101" pitchFamily="2" charset="-122"/>
              </a:rPr>
              <a:t>o+”</a:t>
            </a:r>
            <a:r>
              <a:rPr lang="zh-CN" altLang="en-US" sz="1350" b="0" u="none" dirty="0">
                <a:latin typeface="宋体" panose="02010600030101010101" pitchFamily="2" charset="-122"/>
                <a:ea typeface="宋体" panose="02010600030101010101" pitchFamily="2" charset="-122"/>
                <a:cs typeface="宋体" panose="02010600030101010101" pitchFamily="2" charset="-122"/>
              </a:rPr>
              <a:t>匹配所有“</a:t>
            </a:r>
            <a:r>
              <a:rPr lang="en-US" altLang="zh-CN" sz="1350" b="0" u="none" dirty="0">
                <a:latin typeface="宋体" panose="02010600030101010101" pitchFamily="2" charset="-122"/>
                <a:ea typeface="宋体" panose="02010600030101010101" pitchFamily="2" charset="-122"/>
                <a:cs typeface="宋体" panose="02010600030101010101" pitchFamily="2" charset="-122"/>
              </a:rPr>
              <a:t>o”</a:t>
            </a:r>
            <a:r>
              <a:rPr lang="zh-CN" altLang="en-US" sz="1350" b="0" u="none" dirty="0">
                <a:solidFill>
                  <a:srgbClr val="0000FF"/>
                </a:solidFill>
                <a:latin typeface="Consolas" panose="020B0609020204030204" charset="0"/>
                <a:ea typeface="宋体" panose="02010600030101010101" pitchFamily="2" charset="-122"/>
                <a:cs typeface="宋体" panose="02010600030101010101" pitchFamily="2" charset="-122"/>
              </a:rPr>
              <a:t>。 这里面没有包括</a:t>
            </a:r>
            <a:r>
              <a:rPr lang="en-US" altLang="zh-CN" sz="1350" b="0" u="none">
                <a:solidFill>
                  <a:srgbClr val="0000FF"/>
                </a:solidFill>
                <a:latin typeface="Consolas" panose="020B0609020204030204" charset="0"/>
                <a:ea typeface="宋体" panose="02010600030101010101" pitchFamily="2" charset="-122"/>
                <a:cs typeface="宋体" panose="02010600030101010101" pitchFamily="2" charset="-122"/>
              </a:rPr>
              <a:t>.</a:t>
            </a:r>
            <a:endParaRPr lang="en-US" altLang="zh-CN" sz="1350" b="0" u="none">
              <a:latin typeface="宋体" panose="02010600030101010101" pitchFamily="2" charset="-122"/>
              <a:ea typeface="宋体" panose="02010600030101010101" pitchFamily="2" charset="-122"/>
              <a:cs typeface="宋体" panose="02010600030101010101" pitchFamily="2" charset="-122"/>
            </a:endParaRPr>
          </a:p>
        </p:txBody>
      </p:sp>
      <p:sp>
        <p:nvSpPr>
          <p:cNvPr id="121859"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67</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4.3.2 re</a:t>
            </a:r>
            <a:r>
              <a:rPr lang="zh-CN" altLang="en-US" sz="2800" b="1" dirty="0">
                <a:latin typeface="Times New Roman" panose="02020603050405020304" pitchFamily="18" charset="0"/>
                <a:ea typeface="仿宋" panose="02010609060101010101" pitchFamily="49" charset="-122"/>
              </a:rPr>
              <a:t>模块的主要方法与使用</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Tree>
    <p:extLst>
      <p:ext uri="{BB962C8B-B14F-4D97-AF65-F5344CB8AC3E}">
        <p14:creationId xmlns:p14="http://schemas.microsoft.com/office/powerpoint/2010/main" val="2502397196"/>
      </p:ext>
    </p:extLst>
  </p:cSld>
  <p:clrMapOvr>
    <a:masterClrMapping/>
  </p:clrMapOvr>
  <p:transition spd="slow" advClick="0">
    <p:pull dir="d"/>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80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68</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4.3.2 re</a:t>
            </a:r>
            <a:r>
              <a:rPr lang="zh-CN" altLang="en-US" sz="2800" b="1" dirty="0">
                <a:latin typeface="Times New Roman" panose="02020603050405020304" pitchFamily="18" charset="0"/>
                <a:ea typeface="仿宋" panose="02010609060101010101" pitchFamily="49" charset="-122"/>
              </a:rPr>
              <a:t>模块的主要方法与使用</a:t>
            </a:r>
            <a:endParaRPr lang="en-US" altLang="zh-CN" sz="2800" b="1" dirty="0">
              <a:ea typeface="仿宋" panose="02010609060101010101" pitchFamily="49" charset="-122"/>
            </a:endParaRPr>
          </a:p>
        </p:txBody>
      </p:sp>
      <p:grpSp>
        <p:nvGrpSpPr>
          <p:cNvPr id="7" name="组合 109"/>
          <p:cNvGrpSpPr/>
          <p:nvPr/>
        </p:nvGrpSpPr>
        <p:grpSpPr>
          <a:xfrm>
            <a:off x="489223" y="44624"/>
            <a:ext cx="4514825" cy="684413"/>
            <a:chOff x="956926" y="4567095"/>
            <a:chExt cx="4514825" cy="684413"/>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567095"/>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4" name="内容占位符 3"/>
          <p:cNvSpPr>
            <a:spLocks noGrp="1"/>
          </p:cNvSpPr>
          <p:nvPr>
            <p:ph idx="1"/>
          </p:nvPr>
        </p:nvSpPr>
        <p:spPr>
          <a:xfrm>
            <a:off x="457200" y="1316765"/>
            <a:ext cx="8229600" cy="4678451"/>
          </a:xfrm>
        </p:spPr>
        <p:txBody>
          <a:bodyPr/>
          <a:lstStyle/>
          <a:p>
            <a:pPr algn="l"/>
            <a:r>
              <a:rPr lang="en-US" altLang="zh-CN" sz="1600" b="1" i="0" dirty="0" err="1">
                <a:solidFill>
                  <a:schemeClr val="accent6"/>
                </a:solidFill>
                <a:effectLst/>
                <a:latin typeface="Helvetica Neue"/>
              </a:rPr>
              <a:t>re</a:t>
            </a:r>
            <a:r>
              <a:rPr lang="en-US" altLang="zh-CN" sz="1600" b="1" dirty="0" err="1">
                <a:solidFill>
                  <a:schemeClr val="accent6"/>
                </a:solidFill>
                <a:latin typeface="Helvetica Neue"/>
              </a:rPr>
              <a:t>.match</a:t>
            </a:r>
            <a:r>
              <a:rPr lang="zh-CN" altLang="en-US" sz="1600" b="1" i="0" dirty="0">
                <a:solidFill>
                  <a:schemeClr val="accent6"/>
                </a:solidFill>
                <a:effectLst/>
                <a:latin typeface="Helvetica Neue"/>
              </a:rPr>
              <a:t>方法</a:t>
            </a:r>
            <a:endParaRPr lang="en-US" altLang="zh-CN" sz="1600" b="1" i="0" dirty="0">
              <a:solidFill>
                <a:schemeClr val="accent6"/>
              </a:solidFill>
              <a:effectLst/>
              <a:latin typeface="Helvetica Neue"/>
            </a:endParaRPr>
          </a:p>
          <a:p>
            <a:pPr marL="0" indent="0" algn="l" latinLnBrk="1">
              <a:buNone/>
            </a:pPr>
            <a:r>
              <a:rPr lang="zh-CN" altLang="en-US" sz="1600" b="0" i="0" dirty="0">
                <a:solidFill>
                  <a:srgbClr val="333333"/>
                </a:solidFill>
                <a:effectLst/>
                <a:latin typeface="Helvetica Neue"/>
              </a:rPr>
              <a:t>      </a:t>
            </a:r>
            <a:r>
              <a:rPr lang="en-US" altLang="zh-CN" sz="1050" b="0" i="0" dirty="0" err="1">
                <a:solidFill>
                  <a:srgbClr val="333333"/>
                </a:solidFill>
                <a:effectLst/>
                <a:latin typeface="Helvetica Neue"/>
              </a:rPr>
              <a:t>re.match</a:t>
            </a:r>
            <a:r>
              <a:rPr lang="en-US" altLang="zh-CN" sz="1050" b="0" i="0" dirty="0">
                <a:solidFill>
                  <a:srgbClr val="333333"/>
                </a:solidFill>
                <a:effectLst/>
                <a:latin typeface="Helvetica Neue"/>
              </a:rPr>
              <a:t> </a:t>
            </a:r>
            <a:r>
              <a:rPr lang="zh-CN" altLang="en-US" sz="1050" b="0" i="0" dirty="0">
                <a:solidFill>
                  <a:srgbClr val="333333"/>
                </a:solidFill>
                <a:effectLst/>
                <a:latin typeface="Helvetica Neue"/>
              </a:rPr>
              <a:t>尝试从字符串的</a:t>
            </a:r>
            <a:r>
              <a:rPr lang="zh-CN" altLang="en-US" sz="1050" b="0" i="0" dirty="0">
                <a:solidFill>
                  <a:srgbClr val="FF0000"/>
                </a:solidFill>
                <a:effectLst/>
                <a:latin typeface="Helvetica Neue"/>
              </a:rPr>
              <a:t>起始位置</a:t>
            </a:r>
            <a:r>
              <a:rPr lang="zh-CN" altLang="en-US" sz="1050" b="0" i="0" dirty="0">
                <a:solidFill>
                  <a:srgbClr val="333333"/>
                </a:solidFill>
                <a:effectLst/>
                <a:latin typeface="Helvetica Neue"/>
              </a:rPr>
              <a:t>匹配一个模式，如果不是起始位置匹配成功的话，</a:t>
            </a:r>
            <a:r>
              <a:rPr lang="en-US" altLang="zh-CN" sz="1050" b="0" i="0" dirty="0">
                <a:solidFill>
                  <a:srgbClr val="333333"/>
                </a:solidFill>
                <a:effectLst/>
                <a:latin typeface="Helvetica Neue"/>
              </a:rPr>
              <a:t>match()</a:t>
            </a:r>
            <a:r>
              <a:rPr lang="zh-CN" altLang="en-US" sz="1050" b="0" i="0" dirty="0">
                <a:solidFill>
                  <a:srgbClr val="333333"/>
                </a:solidFill>
                <a:effectLst/>
                <a:latin typeface="Helvetica Neue"/>
              </a:rPr>
              <a:t>就返回</a:t>
            </a:r>
            <a:r>
              <a:rPr lang="en-US" altLang="zh-CN" sz="1050" b="0" i="0" dirty="0">
                <a:solidFill>
                  <a:srgbClr val="333333"/>
                </a:solidFill>
                <a:effectLst/>
                <a:latin typeface="Helvetica Neue"/>
              </a:rPr>
              <a:t>none</a:t>
            </a:r>
            <a:r>
              <a:rPr lang="zh-CN" altLang="en-US" sz="1050" b="0" i="0" dirty="0">
                <a:solidFill>
                  <a:srgbClr val="333333"/>
                </a:solidFill>
                <a:effectLst/>
                <a:latin typeface="Helvetica Neue"/>
              </a:rPr>
              <a:t>。</a:t>
            </a:r>
            <a:endParaRPr lang="zh-CN" altLang="en-US" sz="2400" b="0" i="0" dirty="0">
              <a:solidFill>
                <a:srgbClr val="333333"/>
              </a:solidFill>
              <a:effectLst/>
              <a:latin typeface="Helvetica Neue"/>
            </a:endParaRPr>
          </a:p>
          <a:p>
            <a:pPr marL="0" indent="0">
              <a:buNone/>
            </a:pPr>
            <a:r>
              <a:rPr lang="zh-CN" altLang="en-US" sz="1400" dirty="0"/>
              <a:t>        语法格式：</a:t>
            </a:r>
            <a:endParaRPr lang="en-US" altLang="zh-CN" sz="1400" dirty="0"/>
          </a:p>
          <a:p>
            <a:pPr marL="457200" lvl="1" indent="0">
              <a:buNone/>
            </a:pPr>
            <a:r>
              <a:rPr lang="sv-SE" altLang="zh-CN" sz="1600" dirty="0" smtClean="0"/>
              <a:t>re.match(pattern</a:t>
            </a:r>
            <a:r>
              <a:rPr lang="sv-SE" altLang="zh-CN" sz="1600" dirty="0"/>
              <a:t>, string, flags=0)</a:t>
            </a:r>
            <a:r>
              <a:rPr lang="zh-CN" altLang="en-US" dirty="0"/>
              <a:t/>
            </a:r>
            <a:br>
              <a:rPr lang="zh-CN" altLang="en-US" dirty="0"/>
            </a:br>
            <a:endParaRPr lang="en-US" altLang="zh-CN" dirty="0"/>
          </a:p>
          <a:p>
            <a:pPr lvl="1"/>
            <a:endParaRPr lang="en-US" altLang="zh-CN" dirty="0"/>
          </a:p>
          <a:p>
            <a:pPr marL="0" indent="0">
              <a:buNone/>
            </a:pPr>
            <a:r>
              <a:rPr lang="zh-CN" altLang="en-US" dirty="0"/>
              <a:t/>
            </a:r>
            <a:br>
              <a:rPr lang="zh-CN" altLang="en-US" dirty="0"/>
            </a:br>
            <a:endParaRPr lang="zh-CN" altLang="en-US" dirty="0"/>
          </a:p>
        </p:txBody>
      </p:sp>
      <p:sp>
        <p:nvSpPr>
          <p:cNvPr id="13" name="文本框 12"/>
          <p:cNvSpPr txBox="1"/>
          <p:nvPr/>
        </p:nvSpPr>
        <p:spPr>
          <a:xfrm>
            <a:off x="3851920" y="2107136"/>
            <a:ext cx="4896544" cy="307777"/>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lgn="l" latinLnBrk="1"/>
            <a:r>
              <a:rPr lang="zh-CN" altLang="en-US" sz="1400" b="1" i="0" dirty="0">
                <a:solidFill>
                  <a:schemeClr val="bg1"/>
                </a:solidFill>
                <a:effectLst/>
                <a:latin typeface="Helvetica Neue"/>
              </a:rPr>
              <a:t>注意：</a:t>
            </a:r>
            <a:r>
              <a:rPr lang="zh-CN" altLang="en-US" sz="1400" b="0" i="0" dirty="0">
                <a:solidFill>
                  <a:schemeClr val="bg1"/>
                </a:solidFill>
                <a:effectLst/>
                <a:latin typeface="Helvetica Neue"/>
              </a:rPr>
              <a:t> </a:t>
            </a:r>
            <a:r>
              <a:rPr lang="en-US" altLang="zh-CN" sz="1400" b="0" i="0" dirty="0">
                <a:solidFill>
                  <a:schemeClr val="bg1"/>
                </a:solidFill>
                <a:effectLst/>
                <a:latin typeface="Helvetica Neue"/>
              </a:rPr>
              <a:t>match </a:t>
            </a:r>
            <a:r>
              <a:rPr lang="zh-CN" altLang="en-US" sz="1400" b="0" i="0" dirty="0">
                <a:solidFill>
                  <a:schemeClr val="bg1"/>
                </a:solidFill>
                <a:effectLst/>
                <a:latin typeface="Helvetica Neue"/>
              </a:rPr>
              <a:t>和 </a:t>
            </a:r>
            <a:r>
              <a:rPr lang="en-US" altLang="zh-CN" sz="1400" b="0" i="0" dirty="0">
                <a:solidFill>
                  <a:schemeClr val="bg1"/>
                </a:solidFill>
                <a:effectLst/>
                <a:latin typeface="Helvetica Neue"/>
              </a:rPr>
              <a:t>search </a:t>
            </a:r>
            <a:r>
              <a:rPr lang="zh-CN" altLang="en-US" sz="1400" b="0" i="0" dirty="0">
                <a:solidFill>
                  <a:schemeClr val="bg1"/>
                </a:solidFill>
                <a:effectLst/>
                <a:latin typeface="Helvetica Neue"/>
              </a:rPr>
              <a:t>是匹配一次， </a:t>
            </a:r>
            <a:r>
              <a:rPr lang="en-US" altLang="zh-CN" sz="1400" b="0" i="0" dirty="0" err="1">
                <a:solidFill>
                  <a:schemeClr val="bg1"/>
                </a:solidFill>
                <a:effectLst/>
                <a:latin typeface="Helvetica Neue"/>
              </a:rPr>
              <a:t>findall</a:t>
            </a:r>
            <a:r>
              <a:rPr lang="en-US" altLang="zh-CN" sz="1400" b="0" i="0" dirty="0">
                <a:solidFill>
                  <a:schemeClr val="bg1"/>
                </a:solidFill>
                <a:effectLst/>
                <a:latin typeface="Helvetica Neue"/>
              </a:rPr>
              <a:t> </a:t>
            </a:r>
            <a:r>
              <a:rPr lang="zh-CN" altLang="en-US" sz="1400" b="0" i="0" dirty="0">
                <a:solidFill>
                  <a:schemeClr val="bg1"/>
                </a:solidFill>
                <a:effectLst/>
                <a:latin typeface="Helvetica Neue"/>
              </a:rPr>
              <a:t>匹配所有。</a:t>
            </a:r>
          </a:p>
        </p:txBody>
      </p:sp>
      <p:pic>
        <p:nvPicPr>
          <p:cNvPr id="3" name="图片 2"/>
          <p:cNvPicPr>
            <a:picLocks noChangeAspect="1"/>
          </p:cNvPicPr>
          <p:nvPr/>
        </p:nvPicPr>
        <p:blipFill>
          <a:blip r:embed="rId4"/>
          <a:stretch>
            <a:fillRect/>
          </a:stretch>
        </p:blipFill>
        <p:spPr>
          <a:xfrm>
            <a:off x="891603" y="2560634"/>
            <a:ext cx="6488709" cy="3081856"/>
          </a:xfrm>
          <a:prstGeom prst="rect">
            <a:avLst/>
          </a:prstGeom>
        </p:spPr>
      </p:pic>
      <p:pic>
        <p:nvPicPr>
          <p:cNvPr id="14" name="图片 13"/>
          <p:cNvPicPr>
            <a:picLocks noChangeAspect="1"/>
          </p:cNvPicPr>
          <p:nvPr/>
        </p:nvPicPr>
        <p:blipFill>
          <a:blip r:embed="rId5"/>
          <a:stretch>
            <a:fillRect/>
          </a:stretch>
        </p:blipFill>
        <p:spPr>
          <a:xfrm>
            <a:off x="927171" y="5740808"/>
            <a:ext cx="3888432" cy="648072"/>
          </a:xfrm>
          <a:prstGeom prst="rect">
            <a:avLst/>
          </a:prstGeom>
        </p:spPr>
      </p:pic>
    </p:spTree>
    <p:extLst>
      <p:ext uri="{BB962C8B-B14F-4D97-AF65-F5344CB8AC3E}">
        <p14:creationId xmlns:p14="http://schemas.microsoft.com/office/powerpoint/2010/main" val="1222726915"/>
      </p:ext>
    </p:extLst>
  </p:cSld>
  <p:clrMapOvr>
    <a:masterClrMapping/>
  </p:clrMapOvr>
  <p:transition spd="slow" advClick="0">
    <p:pull dir="d"/>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80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69</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4.3.2 re</a:t>
            </a:r>
            <a:r>
              <a:rPr lang="zh-CN" altLang="en-US" sz="2800" b="1" dirty="0">
                <a:latin typeface="Times New Roman" panose="02020603050405020304" pitchFamily="18" charset="0"/>
                <a:ea typeface="仿宋" panose="02010609060101010101" pitchFamily="49" charset="-122"/>
              </a:rPr>
              <a:t>模块的主要方法与使用</a:t>
            </a:r>
            <a:endParaRPr lang="en-US" altLang="zh-CN" sz="2800" b="1" dirty="0">
              <a:ea typeface="仿宋" panose="02010609060101010101" pitchFamily="49" charset="-122"/>
            </a:endParaRPr>
          </a:p>
        </p:txBody>
      </p:sp>
      <p:grpSp>
        <p:nvGrpSpPr>
          <p:cNvPr id="7" name="组合 109"/>
          <p:cNvGrpSpPr/>
          <p:nvPr/>
        </p:nvGrpSpPr>
        <p:grpSpPr>
          <a:xfrm>
            <a:off x="489223" y="44624"/>
            <a:ext cx="4514825" cy="684413"/>
            <a:chOff x="956926" y="4567095"/>
            <a:chExt cx="4514825" cy="684413"/>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567095"/>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4" name="内容占位符 3"/>
          <p:cNvSpPr>
            <a:spLocks noGrp="1"/>
          </p:cNvSpPr>
          <p:nvPr>
            <p:ph idx="1"/>
          </p:nvPr>
        </p:nvSpPr>
        <p:spPr/>
        <p:txBody>
          <a:bodyPr/>
          <a:lstStyle/>
          <a:p>
            <a:pPr marL="0" indent="0">
              <a:buNone/>
            </a:pPr>
            <a:r>
              <a:rPr lang="zh-CN" altLang="en-US" sz="1400" dirty="0"/>
              <a:t>        </a:t>
            </a:r>
            <a:endParaRPr lang="en-US" altLang="zh-CN" dirty="0"/>
          </a:p>
          <a:p>
            <a:pPr marL="0" indent="0">
              <a:buNone/>
            </a:pPr>
            <a:r>
              <a:rPr lang="zh-CN" altLang="en-US" dirty="0"/>
              <a:t/>
            </a:r>
            <a:br>
              <a:rPr lang="zh-CN" altLang="en-US" dirty="0"/>
            </a:br>
            <a:endParaRPr lang="zh-CN" altLang="en-US" dirty="0"/>
          </a:p>
        </p:txBody>
      </p:sp>
      <p:pic>
        <p:nvPicPr>
          <p:cNvPr id="11" name="图片 10"/>
          <p:cNvPicPr>
            <a:picLocks noChangeAspect="1"/>
          </p:cNvPicPr>
          <p:nvPr/>
        </p:nvPicPr>
        <p:blipFill>
          <a:blip r:embed="rId4"/>
          <a:stretch>
            <a:fillRect/>
          </a:stretch>
        </p:blipFill>
        <p:spPr>
          <a:xfrm>
            <a:off x="793856" y="3034918"/>
            <a:ext cx="5747756" cy="3355054"/>
          </a:xfrm>
          <a:prstGeom prst="rect">
            <a:avLst/>
          </a:prstGeom>
        </p:spPr>
      </p:pic>
      <p:sp>
        <p:nvSpPr>
          <p:cNvPr id="12" name="文本框 11"/>
          <p:cNvSpPr txBox="1"/>
          <p:nvPr/>
        </p:nvSpPr>
        <p:spPr>
          <a:xfrm>
            <a:off x="689978" y="2589716"/>
            <a:ext cx="7626438" cy="461665"/>
          </a:xfrm>
          <a:prstGeom prst="rect">
            <a:avLst/>
          </a:prstGeom>
          <a:noFill/>
        </p:spPr>
        <p:txBody>
          <a:bodyPr wrap="square">
            <a:spAutoFit/>
          </a:bodyPr>
          <a:lstStyle/>
          <a:p>
            <a:pPr marL="0" indent="0" algn="l" latinLnBrk="1">
              <a:buNone/>
            </a:pPr>
            <a:r>
              <a:rPr lang="zh-CN" altLang="en-US" sz="1200" dirty="0">
                <a:solidFill>
                  <a:srgbClr val="FF0000"/>
                </a:solidFill>
                <a:latin typeface="宋体" panose="02010600030101010101" pitchFamily="2" charset="-122"/>
              </a:rPr>
              <a:t>访问匹配对象方法：</a:t>
            </a:r>
            <a:r>
              <a:rPr lang="zh-CN" altLang="en-US" sz="1200" dirty="0">
                <a:solidFill>
                  <a:srgbClr val="FF0000"/>
                </a:solidFill>
                <a:latin typeface="宋体" panose="02010600030101010101" pitchFamily="2" charset="-122"/>
                <a:ea typeface="宋体" panose="02010600030101010101" pitchFamily="2" charset="-122"/>
              </a:rPr>
              <a:t>如果正则表达式中没有子模式，则匹配对象访问对应</a:t>
            </a:r>
            <a:r>
              <a:rPr lang="en-US" altLang="zh-CN" sz="1200" dirty="0">
                <a:solidFill>
                  <a:srgbClr val="FF0000"/>
                </a:solidFill>
                <a:latin typeface="宋体" panose="02010600030101010101" pitchFamily="2" charset="-122"/>
                <a:ea typeface="宋体" panose="02010600030101010101" pitchFamily="2" charset="-122"/>
              </a:rPr>
              <a:t>group(</a:t>
            </a:r>
            <a:r>
              <a:rPr lang="zh-CN" altLang="en-US" sz="1200" dirty="0">
                <a:solidFill>
                  <a:srgbClr val="FF0000"/>
                </a:solidFill>
                <a:latin typeface="宋体" panose="02010600030101010101" pitchFamily="2" charset="-122"/>
                <a:ea typeface="宋体" panose="02010600030101010101" pitchFamily="2" charset="-122"/>
              </a:rPr>
              <a:t>默认 </a:t>
            </a:r>
            <a:r>
              <a:rPr lang="en-US" altLang="zh-CN" sz="1200" dirty="0">
                <a:solidFill>
                  <a:srgbClr val="FF0000"/>
                </a:solidFill>
                <a:latin typeface="宋体" panose="02010600030101010101" pitchFamily="2" charset="-122"/>
                <a:ea typeface="宋体" panose="02010600030101010101" pitchFamily="2" charset="-122"/>
              </a:rPr>
              <a:t>num=0)</a:t>
            </a:r>
            <a:r>
              <a:rPr lang="zh-CN" altLang="en-US" sz="1200" dirty="0">
                <a:solidFill>
                  <a:srgbClr val="FF0000"/>
                </a:solidFill>
                <a:latin typeface="宋体" panose="02010600030101010101" pitchFamily="2" charset="-122"/>
                <a:ea typeface="宋体" panose="02010600030101010101" pitchFamily="2" charset="-122"/>
              </a:rPr>
              <a:t>，</a:t>
            </a:r>
            <a:endParaRPr lang="en-US" altLang="zh-CN" sz="1200" dirty="0">
              <a:solidFill>
                <a:srgbClr val="FF0000"/>
              </a:solidFill>
              <a:latin typeface="宋体" panose="02010600030101010101" pitchFamily="2" charset="-122"/>
              <a:ea typeface="宋体" panose="02010600030101010101" pitchFamily="2" charset="-122"/>
            </a:endParaRPr>
          </a:p>
          <a:p>
            <a:pPr marL="0" indent="0" algn="l" latinLnBrk="1">
              <a:buNone/>
            </a:pPr>
            <a:r>
              <a:rPr lang="zh-CN" altLang="en-US" sz="1200" dirty="0">
                <a:solidFill>
                  <a:srgbClr val="FF0000"/>
                </a:solidFill>
                <a:latin typeface="宋体" panose="02010600030101010101" pitchFamily="2" charset="-122"/>
                <a:ea typeface="宋体" panose="02010600030101010101" pitchFamily="2" charset="-122"/>
              </a:rPr>
              <a:t>否则对应</a:t>
            </a:r>
            <a:r>
              <a:rPr lang="en-US" altLang="zh-CN" sz="1200" dirty="0">
                <a:solidFill>
                  <a:srgbClr val="FF0000"/>
                </a:solidFill>
                <a:latin typeface="宋体" panose="02010600030101010101" pitchFamily="2" charset="-122"/>
                <a:ea typeface="宋体" panose="02010600030101010101" pitchFamily="2" charset="-122"/>
              </a:rPr>
              <a:t>groups()</a:t>
            </a:r>
            <a:r>
              <a:rPr lang="zh-CN" altLang="en-US" sz="1200" dirty="0">
                <a:solidFill>
                  <a:srgbClr val="FF0000"/>
                </a:solidFill>
                <a:latin typeface="宋体" panose="02010600030101010101" pitchFamily="2" charset="-122"/>
                <a:ea typeface="宋体" panose="02010600030101010101" pitchFamily="2" charset="-122"/>
              </a:rPr>
              <a:t>，</a:t>
            </a:r>
            <a:r>
              <a:rPr lang="en-US" altLang="zh-CN" sz="1200" dirty="0">
                <a:solidFill>
                  <a:srgbClr val="FF0000"/>
                </a:solidFill>
                <a:latin typeface="宋体" panose="02010600030101010101" pitchFamily="2" charset="-122"/>
                <a:ea typeface="宋体" panose="02010600030101010101" pitchFamily="2" charset="-122"/>
              </a:rPr>
              <a:t>group(1)..group(2)</a:t>
            </a:r>
            <a:endParaRPr lang="zh-CN" altLang="en-US" sz="1200" dirty="0">
              <a:solidFill>
                <a:srgbClr val="333333"/>
              </a:solidFill>
              <a:latin typeface="Helvetica Neue"/>
            </a:endParaRPr>
          </a:p>
        </p:txBody>
      </p:sp>
      <p:pic>
        <p:nvPicPr>
          <p:cNvPr id="15" name="图片 14"/>
          <p:cNvPicPr>
            <a:picLocks noChangeAspect="1"/>
          </p:cNvPicPr>
          <p:nvPr/>
        </p:nvPicPr>
        <p:blipFill>
          <a:blip r:embed="rId5"/>
          <a:stretch>
            <a:fillRect/>
          </a:stretch>
        </p:blipFill>
        <p:spPr>
          <a:xfrm>
            <a:off x="319594" y="1439228"/>
            <a:ext cx="5786036" cy="1185854"/>
          </a:xfrm>
          <a:prstGeom prst="rect">
            <a:avLst/>
          </a:prstGeom>
        </p:spPr>
      </p:pic>
      <p:pic>
        <p:nvPicPr>
          <p:cNvPr id="3" name="图片 2"/>
          <p:cNvPicPr>
            <a:picLocks noChangeAspect="1"/>
          </p:cNvPicPr>
          <p:nvPr/>
        </p:nvPicPr>
        <p:blipFill>
          <a:blip r:embed="rId6"/>
          <a:stretch>
            <a:fillRect/>
          </a:stretch>
        </p:blipFill>
        <p:spPr>
          <a:xfrm>
            <a:off x="4238666" y="3699489"/>
            <a:ext cx="4784790" cy="832348"/>
          </a:xfrm>
          <a:prstGeom prst="rect">
            <a:avLst/>
          </a:prstGeom>
        </p:spPr>
      </p:pic>
      <p:pic>
        <p:nvPicPr>
          <p:cNvPr id="14" name="图片 13"/>
          <p:cNvPicPr>
            <a:picLocks noChangeAspect="1"/>
          </p:cNvPicPr>
          <p:nvPr/>
        </p:nvPicPr>
        <p:blipFill>
          <a:blip r:embed="rId7"/>
          <a:stretch>
            <a:fillRect/>
          </a:stretch>
        </p:blipFill>
        <p:spPr>
          <a:xfrm>
            <a:off x="4908140" y="4696195"/>
            <a:ext cx="3871986" cy="1816755"/>
          </a:xfrm>
          <a:prstGeom prst="rect">
            <a:avLst/>
          </a:prstGeom>
        </p:spPr>
      </p:pic>
    </p:spTree>
    <p:extLst>
      <p:ext uri="{BB962C8B-B14F-4D97-AF65-F5344CB8AC3E}">
        <p14:creationId xmlns:p14="http://schemas.microsoft.com/office/powerpoint/2010/main" val="3602331985"/>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980728"/>
            <a:ext cx="8820472" cy="5146296"/>
          </a:xfrm>
        </p:spPr>
        <p:txBody>
          <a:bodyPr/>
          <a:lstStyle/>
          <a:p>
            <a:pPr fontAlgn="base">
              <a:buClr>
                <a:srgbClr val="FF0000"/>
              </a:buClr>
              <a:buFont typeface="Wingdings" panose="05000000000000000000" charset="0"/>
              <a:buChar char=""/>
            </a:pPr>
            <a:r>
              <a:rPr lang="en-US" sz="2400" noProof="1"/>
              <a:t>match()、search()、findall()</a:t>
            </a:r>
          </a:p>
          <a:p>
            <a:pPr marL="685800" lvl="1">
              <a:spcBef>
                <a:spcPts val="600"/>
              </a:spcBef>
              <a:spcAft>
                <a:spcPts val="0"/>
              </a:spcAft>
              <a:buClr>
                <a:srgbClr val="FF0000"/>
              </a:buClr>
              <a:buFont typeface="Wingdings" panose="05000000000000000000" charset="0"/>
              <a:buChar char="ü"/>
            </a:pPr>
            <a:r>
              <a:rPr lang="en-US" sz="1800" noProof="1"/>
              <a:t>match(string[, pos[, endpos]])方法在</a:t>
            </a:r>
            <a:r>
              <a:rPr lang="en-US" sz="1800" noProof="1">
                <a:solidFill>
                  <a:srgbClr val="00B050"/>
                </a:solidFill>
              </a:rPr>
              <a:t>字符串开头或指定位置</a:t>
            </a:r>
            <a:r>
              <a:rPr lang="en-US" sz="1800" noProof="1"/>
              <a:t>进行搜索，</a:t>
            </a:r>
          </a:p>
          <a:p>
            <a:pPr marL="400050" lvl="1" indent="0">
              <a:spcBef>
                <a:spcPts val="600"/>
              </a:spcBef>
              <a:spcAft>
                <a:spcPts val="0"/>
              </a:spcAft>
              <a:buClr>
                <a:srgbClr val="FF0000"/>
              </a:buClr>
              <a:buNone/>
            </a:pPr>
            <a:r>
              <a:rPr lang="en-US" sz="1800" noProof="1">
                <a:solidFill>
                  <a:srgbClr val="FF0000"/>
                </a:solidFill>
              </a:rPr>
              <a:t>    模式必须出现在字符串开头或指定位置</a:t>
            </a:r>
            <a:r>
              <a:rPr lang="en-US" sz="1800" noProof="1"/>
              <a:t>；</a:t>
            </a:r>
          </a:p>
          <a:p>
            <a:pPr marL="685800" lvl="1">
              <a:spcBef>
                <a:spcPts val="600"/>
              </a:spcBef>
              <a:spcAft>
                <a:spcPts val="0"/>
              </a:spcAft>
              <a:buClr>
                <a:srgbClr val="FF0000"/>
              </a:buClr>
              <a:buFont typeface="Wingdings" panose="05000000000000000000" charset="0"/>
              <a:buChar char="ü"/>
            </a:pPr>
            <a:r>
              <a:rPr lang="en-US" sz="1800" noProof="1"/>
              <a:t>search(string[, pos[, endpos]])方法在</a:t>
            </a:r>
            <a:r>
              <a:rPr lang="en-US" sz="1800" noProof="1">
                <a:solidFill>
                  <a:srgbClr val="FF0000"/>
                </a:solidFill>
              </a:rPr>
              <a:t>整个字符串或指定范围</a:t>
            </a:r>
            <a:r>
              <a:rPr lang="en-US" sz="1800" noProof="1"/>
              <a:t>中进行搜索；</a:t>
            </a:r>
          </a:p>
          <a:p>
            <a:pPr marL="685800" lvl="1">
              <a:spcBef>
                <a:spcPts val="600"/>
              </a:spcBef>
              <a:spcAft>
                <a:spcPts val="0"/>
              </a:spcAft>
              <a:buClr>
                <a:srgbClr val="FF0000"/>
              </a:buClr>
              <a:buFont typeface="Wingdings" panose="05000000000000000000" charset="0"/>
              <a:buChar char="ü"/>
            </a:pPr>
            <a:r>
              <a:rPr lang="en-US" sz="1800" noProof="1"/>
              <a:t>findall(string[, pos[, endpos]])方法</a:t>
            </a:r>
            <a:r>
              <a:rPr lang="zh-CN" altLang="en-US" sz="1800" noProof="1"/>
              <a:t>在</a:t>
            </a:r>
            <a:r>
              <a:rPr lang="en-US" sz="1800" noProof="1"/>
              <a:t>字符串</a:t>
            </a:r>
            <a:r>
              <a:rPr lang="zh-CN" altLang="en-US" sz="1800" noProof="1">
                <a:solidFill>
                  <a:srgbClr val="FF0000"/>
                </a:solidFill>
              </a:rPr>
              <a:t>指定范围</a:t>
            </a:r>
            <a:r>
              <a:rPr lang="en-US" sz="1800" noProof="1"/>
              <a:t>中</a:t>
            </a:r>
            <a:r>
              <a:rPr lang="en-US" sz="1800" noProof="1">
                <a:solidFill>
                  <a:srgbClr val="FF0000"/>
                </a:solidFill>
              </a:rPr>
              <a:t>查找所有</a:t>
            </a:r>
            <a:r>
              <a:rPr lang="en-US" sz="1800" noProof="1"/>
              <a:t>符合正则表达式的字符串并以列表形式返回。</a:t>
            </a:r>
          </a:p>
        </p:txBody>
      </p:sp>
      <p:sp>
        <p:nvSpPr>
          <p:cNvPr id="126979"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70</a:t>
            </a:fld>
            <a:endParaRPr lang="zh-CN" altLang="en-US" sz="1050" dirty="0"/>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Tree>
    <p:extLst>
      <p:ext uri="{BB962C8B-B14F-4D97-AF65-F5344CB8AC3E}">
        <p14:creationId xmlns:p14="http://schemas.microsoft.com/office/powerpoint/2010/main" val="94708868"/>
      </p:ext>
    </p:extLst>
  </p:cSld>
  <p:clrMapOvr>
    <a:masterClrMapping/>
  </p:clrMapOvr>
  <p:transition spd="slow" advClick="0">
    <p:pull dir="d"/>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71</a:t>
            </a:fld>
            <a:endParaRPr lang="zh-CN" altLang="en-US" dirty="0"/>
          </a:p>
        </p:txBody>
      </p:sp>
      <p:pic>
        <p:nvPicPr>
          <p:cNvPr id="5" name="图片 4"/>
          <p:cNvPicPr>
            <a:picLocks noChangeAspect="1"/>
          </p:cNvPicPr>
          <p:nvPr/>
        </p:nvPicPr>
        <p:blipFill>
          <a:blip r:embed="rId2"/>
          <a:stretch>
            <a:fillRect/>
          </a:stretch>
        </p:blipFill>
        <p:spPr>
          <a:xfrm>
            <a:off x="755576" y="1700808"/>
            <a:ext cx="7488193" cy="3744097"/>
          </a:xfrm>
          <a:prstGeom prst="rect">
            <a:avLst/>
          </a:prstGeom>
        </p:spPr>
      </p:pic>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800" b="1" dirty="0" smtClean="0">
                <a:latin typeface="Times New Roman" panose="02020603050405020304" pitchFamily="18" charset="0"/>
                <a:ea typeface="仿宋" panose="02010609060101010101" pitchFamily="49" charset="-122"/>
              </a:rPr>
              <a:t>使用</a:t>
            </a:r>
            <a:r>
              <a:rPr lang="zh-CN" altLang="en-US" sz="2800" b="1" dirty="0">
                <a:latin typeface="Times New Roman" panose="02020603050405020304" pitchFamily="18" charset="0"/>
                <a:ea typeface="仿宋" panose="02010609060101010101" pitchFamily="49" charset="-122"/>
              </a:rPr>
              <a:t>正则表达式对象</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Tree>
    <p:extLst>
      <p:ext uri="{BB962C8B-B14F-4D97-AF65-F5344CB8AC3E}">
        <p14:creationId xmlns:p14="http://schemas.microsoft.com/office/powerpoint/2010/main" val="405528065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72</a:t>
            </a:fld>
            <a:endParaRPr lang="zh-CN" altLang="en-US" sz="1050" dirty="0"/>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11" name="Content Placeholder 2"/>
          <p:cNvSpPr txBox="1"/>
          <p:nvPr/>
        </p:nvSpPr>
        <p:spPr bwMode="auto">
          <a:xfrm>
            <a:off x="827584" y="1340768"/>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ct val="0"/>
              </a:spcBef>
              <a:buFont typeface="Arial" panose="020B0604020202020204" pitchFamily="34" charset="0"/>
              <a:buNone/>
            </a:pPr>
            <a:r>
              <a:rPr lang="en-US" altLang="en-US" sz="1600" dirty="0">
                <a:latin typeface="Consolas" panose="020B0609020204030204" charset="0"/>
              </a:rPr>
              <a:t>&gt;&gt;&gt; import re</a:t>
            </a:r>
          </a:p>
          <a:p>
            <a:pPr marL="0" indent="0">
              <a:spcBef>
                <a:spcPct val="0"/>
              </a:spcBef>
              <a:buFont typeface="Arial" panose="020B0604020202020204" pitchFamily="34" charset="0"/>
              <a:buNone/>
            </a:pPr>
            <a:r>
              <a:rPr lang="en-US" altLang="en-US" sz="1600" dirty="0">
                <a:latin typeface="Consolas" panose="020B0609020204030204" charset="0"/>
              </a:rPr>
              <a:t>&gt;&gt;&gt; example = 'Hefei University of Technology'</a:t>
            </a:r>
          </a:p>
          <a:p>
            <a:pPr marL="0" indent="0">
              <a:spcBef>
                <a:spcPct val="0"/>
              </a:spcBef>
              <a:buFont typeface="Arial" panose="020B0604020202020204" pitchFamily="34" charset="0"/>
              <a:buNone/>
            </a:pPr>
            <a:r>
              <a:rPr lang="en-US" altLang="en-US" sz="1600" dirty="0">
                <a:latin typeface="Consolas" panose="020B0609020204030204" charset="0"/>
              </a:rPr>
              <a:t>&gt;&gt;&gt; pattern = </a:t>
            </a:r>
            <a:r>
              <a:rPr lang="en-US" altLang="en-US" sz="1600" dirty="0" err="1">
                <a:latin typeface="Consolas" panose="020B0609020204030204" charset="0"/>
              </a:rPr>
              <a:t>re.compile</a:t>
            </a:r>
            <a:r>
              <a:rPr lang="en-US" altLang="en-US" sz="1600" dirty="0">
                <a:latin typeface="Consolas" panose="020B0609020204030204" charset="0"/>
              </a:rPr>
              <a:t>(r'\</a:t>
            </a:r>
            <a:r>
              <a:rPr lang="en-US" altLang="en-US" sz="1600" dirty="0" err="1">
                <a:latin typeface="Consolas" panose="020B0609020204030204" charset="0"/>
              </a:rPr>
              <a:t>bH</a:t>
            </a:r>
            <a:r>
              <a:rPr lang="en-US" altLang="en-US" sz="1600" dirty="0">
                <a:latin typeface="Consolas" panose="020B0609020204030204" charset="0"/>
              </a:rPr>
              <a:t>\w+\b')  </a:t>
            </a:r>
          </a:p>
          <a:p>
            <a:pPr marL="0" indent="0">
              <a:spcBef>
                <a:spcPct val="0"/>
              </a:spcBef>
              <a:buFont typeface="Arial" panose="020B0604020202020204" pitchFamily="34" charset="0"/>
              <a:buNone/>
            </a:pPr>
            <a:r>
              <a:rPr lang="en-US" altLang="en-US" sz="1600" dirty="0">
                <a:latin typeface="Consolas" panose="020B0609020204030204" charset="0"/>
              </a:rPr>
              <a:t>&gt;&gt;&gt; </a:t>
            </a:r>
            <a:r>
              <a:rPr lang="en-US" altLang="en-US" sz="1600" dirty="0" err="1">
                <a:latin typeface="Consolas" panose="020B0609020204030204" charset="0"/>
              </a:rPr>
              <a:t>pattern.findall</a:t>
            </a:r>
            <a:r>
              <a:rPr lang="en-US" altLang="en-US" sz="1600" dirty="0">
                <a:latin typeface="Consolas" panose="020B0609020204030204" charset="0"/>
              </a:rPr>
              <a:t>(example) </a:t>
            </a:r>
          </a:p>
          <a:p>
            <a:pPr marL="0" indent="0">
              <a:spcBef>
                <a:spcPct val="0"/>
              </a:spcBef>
              <a:buFont typeface="Arial" panose="020B0604020202020204" pitchFamily="34" charset="0"/>
              <a:buNone/>
            </a:pPr>
            <a:r>
              <a:rPr lang="en-US" altLang="en-US" sz="1600" dirty="0">
                <a:solidFill>
                  <a:srgbClr val="0000FF"/>
                </a:solidFill>
                <a:latin typeface="Consolas" panose="020B0609020204030204" charset="0"/>
              </a:rPr>
              <a:t>[‘Hefei']</a:t>
            </a:r>
          </a:p>
          <a:p>
            <a:pPr marL="0" indent="0">
              <a:spcBef>
                <a:spcPct val="0"/>
              </a:spcBef>
              <a:buFont typeface="Arial" panose="020B0604020202020204" pitchFamily="34" charset="0"/>
              <a:buNone/>
            </a:pPr>
            <a:r>
              <a:rPr lang="en-US" altLang="en-US" sz="1600" dirty="0">
                <a:latin typeface="Consolas" panose="020B0609020204030204" charset="0"/>
              </a:rPr>
              <a:t>&gt;&gt;&gt; pattern = </a:t>
            </a:r>
            <a:r>
              <a:rPr lang="en-US" altLang="en-US" sz="1600" dirty="0" err="1">
                <a:latin typeface="Consolas" panose="020B0609020204030204" charset="0"/>
              </a:rPr>
              <a:t>re.compile</a:t>
            </a:r>
            <a:r>
              <a:rPr lang="en-US" altLang="en-US" sz="1600" dirty="0">
                <a:latin typeface="Consolas" panose="020B0609020204030204" charset="0"/>
              </a:rPr>
              <a:t>(r'\</a:t>
            </a:r>
            <a:r>
              <a:rPr lang="en-US" altLang="en-US" sz="1600" dirty="0" err="1">
                <a:latin typeface="Consolas" panose="020B0609020204030204" charset="0"/>
              </a:rPr>
              <a:t>w+y</a:t>
            </a:r>
            <a:r>
              <a:rPr lang="en-US" altLang="en-US" sz="1600" dirty="0">
                <a:latin typeface="Consolas" panose="020B0609020204030204" charset="0"/>
              </a:rPr>
              <a:t>\b')</a:t>
            </a:r>
          </a:p>
          <a:p>
            <a:pPr marL="0" indent="0">
              <a:spcBef>
                <a:spcPct val="0"/>
              </a:spcBef>
              <a:buFont typeface="Arial" panose="020B0604020202020204" pitchFamily="34" charset="0"/>
              <a:buNone/>
            </a:pPr>
            <a:r>
              <a:rPr lang="en-US" altLang="en-US" sz="1600" dirty="0">
                <a:latin typeface="Consolas" panose="020B0609020204030204" charset="0"/>
              </a:rPr>
              <a:t>&gt;&gt;&gt; </a:t>
            </a:r>
            <a:r>
              <a:rPr lang="en-US" altLang="en-US" sz="1600" dirty="0" err="1">
                <a:latin typeface="Consolas" panose="020B0609020204030204" charset="0"/>
              </a:rPr>
              <a:t>pattern.findall</a:t>
            </a:r>
            <a:r>
              <a:rPr lang="en-US" altLang="en-US" sz="1600" dirty="0">
                <a:latin typeface="Consolas" panose="020B0609020204030204" charset="0"/>
              </a:rPr>
              <a:t>(example)</a:t>
            </a:r>
          </a:p>
          <a:p>
            <a:pPr marL="0" indent="0">
              <a:spcBef>
                <a:spcPct val="0"/>
              </a:spcBef>
              <a:buFont typeface="Arial" panose="020B0604020202020204" pitchFamily="34" charset="0"/>
              <a:buNone/>
            </a:pPr>
            <a:r>
              <a:rPr lang="en-US" altLang="en-US" sz="1600" dirty="0">
                <a:solidFill>
                  <a:srgbClr val="0000FF"/>
                </a:solidFill>
                <a:latin typeface="Consolas" panose="020B0609020204030204" charset="0"/>
              </a:rPr>
              <a:t>[‘</a:t>
            </a:r>
            <a:r>
              <a:rPr lang="en-US" altLang="en-US" sz="1600" dirty="0" err="1">
                <a:solidFill>
                  <a:srgbClr val="0000FF"/>
                </a:solidFill>
                <a:latin typeface="Consolas" panose="020B0609020204030204" charset="0"/>
              </a:rPr>
              <a:t>University‘,’Technology</a:t>
            </a:r>
            <a:r>
              <a:rPr lang="en-US" altLang="en-US" sz="1600" dirty="0">
                <a:solidFill>
                  <a:srgbClr val="0000FF"/>
                </a:solidFill>
                <a:latin typeface="Consolas" panose="020B0609020204030204" charset="0"/>
              </a:rPr>
              <a:t>’]</a:t>
            </a:r>
          </a:p>
          <a:p>
            <a:pPr marL="0" indent="0">
              <a:spcBef>
                <a:spcPct val="0"/>
              </a:spcBef>
              <a:buFont typeface="Arial" panose="020B0604020202020204" pitchFamily="34" charset="0"/>
              <a:buNone/>
            </a:pPr>
            <a:r>
              <a:rPr lang="en-US" altLang="en-US" sz="1600" dirty="0">
                <a:latin typeface="Consolas" panose="020B0609020204030204" charset="0"/>
              </a:rPr>
              <a:t>&gt;&gt;&gt; pattern = </a:t>
            </a:r>
            <a:r>
              <a:rPr lang="en-US" altLang="en-US" sz="1600" dirty="0" err="1">
                <a:latin typeface="Consolas" panose="020B0609020204030204" charset="0"/>
              </a:rPr>
              <a:t>re.compile</a:t>
            </a:r>
            <a:r>
              <a:rPr lang="en-US" altLang="en-US" sz="1600" dirty="0">
                <a:latin typeface="Consolas" panose="020B0609020204030204" charset="0"/>
              </a:rPr>
              <a:t>(r'\b[a-</a:t>
            </a:r>
            <a:r>
              <a:rPr lang="en-US" altLang="en-US" sz="1600" dirty="0" err="1">
                <a:latin typeface="Consolas" panose="020B0609020204030204" charset="0"/>
              </a:rPr>
              <a:t>zA</a:t>
            </a:r>
            <a:r>
              <a:rPr lang="en-US" altLang="en-US" sz="1600" dirty="0">
                <a:latin typeface="Consolas" panose="020B0609020204030204" charset="0"/>
              </a:rPr>
              <a:t>-Z]{2}\b') #查找2个字母长的单词</a:t>
            </a:r>
          </a:p>
          <a:p>
            <a:pPr marL="0" indent="0">
              <a:spcBef>
                <a:spcPct val="0"/>
              </a:spcBef>
              <a:buFont typeface="Arial" panose="020B0604020202020204" pitchFamily="34" charset="0"/>
              <a:buNone/>
            </a:pPr>
            <a:r>
              <a:rPr lang="en-US" altLang="en-US" sz="1600" dirty="0">
                <a:latin typeface="Consolas" panose="020B0609020204030204" charset="0"/>
              </a:rPr>
              <a:t>&gt;&gt;&gt; </a:t>
            </a:r>
            <a:r>
              <a:rPr lang="en-US" altLang="en-US" sz="1600" dirty="0" err="1">
                <a:latin typeface="Consolas" panose="020B0609020204030204" charset="0"/>
              </a:rPr>
              <a:t>pattern.findall</a:t>
            </a:r>
            <a:r>
              <a:rPr lang="en-US" altLang="en-US" sz="1600" dirty="0">
                <a:latin typeface="Consolas" panose="020B0609020204030204" charset="0"/>
              </a:rPr>
              <a:t>(example)</a:t>
            </a:r>
          </a:p>
          <a:p>
            <a:pPr marL="0" indent="0">
              <a:spcBef>
                <a:spcPct val="0"/>
              </a:spcBef>
              <a:buFont typeface="Arial" panose="020B0604020202020204" pitchFamily="34" charset="0"/>
              <a:buNone/>
            </a:pPr>
            <a:r>
              <a:rPr lang="en-US" altLang="en-US" sz="1600" dirty="0">
                <a:solidFill>
                  <a:srgbClr val="0000FF"/>
                </a:solidFill>
                <a:latin typeface="Consolas" panose="020B0609020204030204" charset="0"/>
              </a:rPr>
              <a:t>[‘of']</a:t>
            </a:r>
          </a:p>
          <a:p>
            <a:pPr marL="0" indent="0">
              <a:spcBef>
                <a:spcPct val="0"/>
              </a:spcBef>
              <a:buFont typeface="Arial" panose="020B0604020202020204" pitchFamily="34" charset="0"/>
              <a:buNone/>
            </a:pPr>
            <a:r>
              <a:rPr lang="en-US" altLang="en-US" sz="1600" dirty="0">
                <a:latin typeface="Consolas" panose="020B0609020204030204" charset="0"/>
              </a:rPr>
              <a:t>&gt;&gt;&gt; s = '</a:t>
            </a:r>
            <a:r>
              <a:rPr lang="en-US" altLang="en-US" sz="1600" dirty="0">
                <a:solidFill>
                  <a:srgbClr val="FF0000"/>
                </a:solidFill>
                <a:latin typeface="Consolas" panose="020B0609020204030204" charset="0"/>
              </a:rPr>
              <a:t>ab</a:t>
            </a:r>
            <a:r>
              <a:rPr lang="en-US" altLang="en-US" sz="1600" dirty="0">
                <a:latin typeface="Consolas" panose="020B0609020204030204" charset="0"/>
              </a:rPr>
              <a:t>134</a:t>
            </a:r>
            <a:r>
              <a:rPr lang="en-US" altLang="en-US" sz="1600" dirty="0">
                <a:solidFill>
                  <a:srgbClr val="FF0000"/>
                </a:solidFill>
                <a:latin typeface="Consolas" panose="020B0609020204030204" charset="0"/>
              </a:rPr>
              <a:t>ab</a:t>
            </a:r>
            <a:r>
              <a:rPr lang="en-US" altLang="en-US" sz="1600" dirty="0">
                <a:latin typeface="Consolas" panose="020B0609020204030204" charset="0"/>
              </a:rPr>
              <a:t>98723jafjweoruiag</a:t>
            </a:r>
            <a:r>
              <a:rPr lang="en-US" altLang="en-US" sz="1600" dirty="0">
                <a:solidFill>
                  <a:srgbClr val="FF0000"/>
                </a:solidFill>
                <a:latin typeface="Consolas" panose="020B0609020204030204" charset="0"/>
              </a:rPr>
              <a:t>ab</a:t>
            </a:r>
            <a:r>
              <a:rPr lang="en-US" altLang="en-US" sz="1600" dirty="0">
                <a:latin typeface="Consolas" panose="020B0609020204030204" charset="0"/>
              </a:rPr>
              <a:t>'</a:t>
            </a:r>
          </a:p>
          <a:p>
            <a:pPr marL="0" indent="0">
              <a:spcBef>
                <a:spcPct val="0"/>
              </a:spcBef>
              <a:buFont typeface="Arial" panose="020B0604020202020204" pitchFamily="34" charset="0"/>
              <a:buNone/>
            </a:pPr>
            <a:r>
              <a:rPr lang="en-US" altLang="en-US" sz="1600" dirty="0">
                <a:latin typeface="Consolas" panose="020B0609020204030204" charset="0"/>
              </a:rPr>
              <a:t>&gt;&gt;&gt; m = </a:t>
            </a:r>
            <a:r>
              <a:rPr lang="en-US" altLang="en-US" sz="1600" dirty="0" err="1">
                <a:latin typeface="Consolas" panose="020B0609020204030204" charset="0"/>
              </a:rPr>
              <a:t>re.search</a:t>
            </a:r>
            <a:r>
              <a:rPr lang="en-US" altLang="en-US" sz="1600" dirty="0">
                <a:latin typeface="Consolas" panose="020B0609020204030204" charset="0"/>
              </a:rPr>
              <a:t>(r'((ab).*){2}.*(ab)', s)#</a:t>
            </a:r>
            <a:r>
              <a:rPr lang="zh-CN" altLang="en-US" sz="1600" dirty="0">
                <a:latin typeface="Consolas" panose="020B0609020204030204" charset="0"/>
              </a:rPr>
              <a:t>在</a:t>
            </a:r>
            <a:r>
              <a:rPr lang="en-US" altLang="zh-CN" sz="1600" dirty="0">
                <a:latin typeface="Consolas" panose="020B0609020204030204" charset="0"/>
              </a:rPr>
              <a:t>s</a:t>
            </a:r>
            <a:r>
              <a:rPr lang="zh-CN" altLang="en-US" sz="1600" dirty="0">
                <a:latin typeface="Consolas" panose="020B0609020204030204" charset="0"/>
              </a:rPr>
              <a:t>中查找</a:t>
            </a:r>
            <a:r>
              <a:rPr lang="en-US" altLang="zh-CN" sz="1600" dirty="0">
                <a:latin typeface="Consolas" panose="020B0609020204030204" charset="0"/>
              </a:rPr>
              <a:t>ab</a:t>
            </a:r>
            <a:r>
              <a:rPr lang="zh-CN" altLang="en-US" sz="1600" dirty="0">
                <a:latin typeface="Consolas" panose="020B0609020204030204" charset="0"/>
              </a:rPr>
              <a:t>的第</a:t>
            </a:r>
            <a:r>
              <a:rPr lang="en-US" altLang="zh-CN" sz="1600" dirty="0">
                <a:latin typeface="Consolas" panose="020B0609020204030204" charset="0"/>
              </a:rPr>
              <a:t>3</a:t>
            </a:r>
            <a:r>
              <a:rPr lang="zh-CN" altLang="en-US" sz="1600" dirty="0">
                <a:latin typeface="Consolas" panose="020B0609020204030204" charset="0"/>
              </a:rPr>
              <a:t>次出现</a:t>
            </a:r>
          </a:p>
          <a:p>
            <a:pPr marL="0" indent="0">
              <a:spcBef>
                <a:spcPct val="0"/>
              </a:spcBef>
              <a:buFont typeface="Arial" panose="020B0604020202020204" pitchFamily="34" charset="0"/>
              <a:buNone/>
            </a:pPr>
            <a:r>
              <a:rPr lang="en-US" altLang="en-US" sz="1600" dirty="0">
                <a:latin typeface="Consolas" panose="020B0609020204030204" charset="0"/>
              </a:rPr>
              <a:t>&gt;&gt;&gt; </a:t>
            </a:r>
            <a:r>
              <a:rPr lang="en-US" altLang="en-US" sz="1600" dirty="0" err="1">
                <a:latin typeface="Consolas" panose="020B0609020204030204" charset="0"/>
              </a:rPr>
              <a:t>m.group</a:t>
            </a:r>
            <a:r>
              <a:rPr lang="en-US" altLang="en-US" sz="1600" dirty="0">
                <a:latin typeface="Consolas" panose="020B0609020204030204" charset="0"/>
              </a:rPr>
              <a:t>(3)</a:t>
            </a:r>
          </a:p>
          <a:p>
            <a:pPr marL="0" indent="0">
              <a:spcBef>
                <a:spcPct val="0"/>
              </a:spcBef>
              <a:buFont typeface="Arial" panose="020B0604020202020204" pitchFamily="34" charset="0"/>
              <a:buNone/>
            </a:pPr>
            <a:r>
              <a:rPr lang="en-US" altLang="en-US" sz="1600" dirty="0">
                <a:solidFill>
                  <a:srgbClr val="0000FF"/>
                </a:solidFill>
                <a:latin typeface="Consolas" panose="020B0609020204030204" charset="0"/>
              </a:rPr>
              <a:t>'ab'</a:t>
            </a:r>
          </a:p>
          <a:p>
            <a:pPr marL="0" indent="0">
              <a:spcBef>
                <a:spcPct val="0"/>
              </a:spcBef>
              <a:buFont typeface="Arial" panose="020B0604020202020204" pitchFamily="34" charset="0"/>
              <a:buNone/>
            </a:pPr>
            <a:r>
              <a:rPr lang="en-US" altLang="en-US" sz="1600" dirty="0">
                <a:latin typeface="Consolas" panose="020B0609020204030204" charset="0"/>
              </a:rPr>
              <a:t>&gt;&gt;&gt; </a:t>
            </a:r>
            <a:r>
              <a:rPr lang="en-US" altLang="en-US" sz="1600" dirty="0" err="1">
                <a:latin typeface="Consolas" panose="020B0609020204030204" charset="0"/>
              </a:rPr>
              <a:t>m.span</a:t>
            </a:r>
            <a:r>
              <a:rPr lang="en-US" altLang="en-US" sz="1600" dirty="0">
                <a:latin typeface="Consolas" panose="020B0609020204030204" charset="0"/>
              </a:rPr>
              <a:t>(3)</a:t>
            </a:r>
          </a:p>
          <a:p>
            <a:pPr marL="0" indent="0">
              <a:spcBef>
                <a:spcPct val="0"/>
              </a:spcBef>
              <a:buFont typeface="Arial" panose="020B0604020202020204" pitchFamily="34" charset="0"/>
              <a:buNone/>
            </a:pPr>
            <a:r>
              <a:rPr lang="en-US" altLang="en-US" sz="1600" dirty="0">
                <a:solidFill>
                  <a:srgbClr val="0000FF"/>
                </a:solidFill>
                <a:latin typeface="Consolas" panose="020B0609020204030204" charset="0"/>
              </a:rPr>
              <a:t>(24, 26)</a:t>
            </a:r>
          </a:p>
          <a:p>
            <a:pPr marL="0" indent="0">
              <a:spcBef>
                <a:spcPct val="0"/>
              </a:spcBef>
              <a:buFont typeface="Arial" panose="020B0604020202020204" pitchFamily="34" charset="0"/>
              <a:buNone/>
            </a:pPr>
            <a:r>
              <a:rPr lang="en-US" altLang="en-US" sz="1600" dirty="0">
                <a:latin typeface="Consolas" panose="020B0609020204030204" charset="0"/>
              </a:rPr>
              <a:t>&gt;&gt;&gt; s[24:26]</a:t>
            </a:r>
          </a:p>
          <a:p>
            <a:pPr marL="0" indent="0">
              <a:spcBef>
                <a:spcPct val="0"/>
              </a:spcBef>
              <a:buFont typeface="Arial" panose="020B0604020202020204" pitchFamily="34" charset="0"/>
              <a:buNone/>
            </a:pPr>
            <a:r>
              <a:rPr lang="en-US" altLang="en-US" sz="1600" dirty="0">
                <a:solidFill>
                  <a:srgbClr val="0000FF"/>
                </a:solidFill>
                <a:latin typeface="Consolas" panose="020B0609020204030204" charset="0"/>
              </a:rPr>
              <a:t>'ab'</a:t>
            </a:r>
          </a:p>
        </p:txBody>
      </p:sp>
      <p:sp>
        <p:nvSpPr>
          <p:cNvPr id="2" name="矩形 1"/>
          <p:cNvSpPr/>
          <p:nvPr/>
        </p:nvSpPr>
        <p:spPr>
          <a:xfrm>
            <a:off x="0" y="6310098"/>
            <a:ext cx="9118848" cy="246221"/>
          </a:xfrm>
          <a:prstGeom prst="rect">
            <a:avLst/>
          </a:prstGeom>
        </p:spPr>
        <p:txBody>
          <a:bodyPr wrap="square">
            <a:spAutoFit/>
          </a:bodyPr>
          <a:lstStyle/>
          <a:p>
            <a:r>
              <a:rPr lang="zh-CN" altLang="en-US" sz="1000" dirty="0"/>
              <a:t>类似于 所有子模式的 最后一次匹配值的 输出     模式</a:t>
            </a:r>
            <a:r>
              <a:rPr lang="en-US" altLang="zh-CN" sz="1000" dirty="0"/>
              <a:t>1</a:t>
            </a:r>
            <a:r>
              <a:rPr lang="zh-CN" altLang="en-US" sz="1000" dirty="0"/>
              <a:t>对应分组 </a:t>
            </a:r>
            <a:r>
              <a:rPr lang="en-US" altLang="zh-CN" sz="1000" dirty="0"/>
              <a:t>ab134  ab98723jafjweoruiag </a:t>
            </a:r>
            <a:r>
              <a:rPr lang="en-US" altLang="zh-CN" sz="1000" dirty="0">
                <a:solidFill>
                  <a:srgbClr val="FF0000"/>
                </a:solidFill>
              </a:rPr>
              <a:t>abLdd332addg</a:t>
            </a:r>
            <a:r>
              <a:rPr lang="zh-CN" altLang="en-US" sz="1000" dirty="0"/>
              <a:t>   </a:t>
            </a:r>
            <a:r>
              <a:rPr lang="en-US" altLang="zh-CN" sz="1000" dirty="0"/>
              <a:t>  </a:t>
            </a:r>
            <a:r>
              <a:rPr lang="zh-CN" altLang="en-US" sz="1000" dirty="0"/>
              <a:t>模式</a:t>
            </a:r>
            <a:r>
              <a:rPr lang="en-US" altLang="zh-CN" sz="1000" dirty="0"/>
              <a:t>2</a:t>
            </a:r>
            <a:r>
              <a:rPr lang="zh-CN" altLang="en-US" sz="1000" dirty="0"/>
              <a:t>对应分组 </a:t>
            </a:r>
            <a:r>
              <a:rPr lang="en-US" altLang="zh-CN" sz="1000" dirty="0" err="1"/>
              <a:t>ab</a:t>
            </a:r>
            <a:r>
              <a:rPr lang="en-US" altLang="zh-CN" sz="1000" dirty="0"/>
              <a:t>  </a:t>
            </a:r>
            <a:r>
              <a:rPr lang="en-US" altLang="zh-CN" sz="1000" dirty="0" err="1"/>
              <a:t>ab</a:t>
            </a:r>
            <a:r>
              <a:rPr lang="en-US" altLang="zh-CN" sz="1000" dirty="0"/>
              <a:t>  </a:t>
            </a:r>
            <a:r>
              <a:rPr lang="en-US" altLang="zh-CN" sz="1000" dirty="0" err="1">
                <a:solidFill>
                  <a:srgbClr val="FF0000"/>
                </a:solidFill>
              </a:rPr>
              <a:t>ab</a:t>
            </a:r>
            <a:r>
              <a:rPr lang="zh-CN" altLang="en-US" sz="1000" dirty="0"/>
              <a:t>     </a:t>
            </a:r>
            <a:r>
              <a:rPr lang="en-US" altLang="zh-CN" sz="1000" dirty="0"/>
              <a:t> </a:t>
            </a:r>
            <a:r>
              <a:rPr lang="zh-CN" altLang="en-US" sz="1000" dirty="0"/>
              <a:t>模式</a:t>
            </a:r>
            <a:r>
              <a:rPr lang="en-US" altLang="zh-CN" sz="1000" dirty="0"/>
              <a:t>3</a:t>
            </a:r>
            <a:r>
              <a:rPr lang="zh-CN" altLang="en-US" sz="1000" dirty="0"/>
              <a:t>对应分组  </a:t>
            </a:r>
            <a:r>
              <a:rPr lang="en-US" altLang="zh-CN" sz="1000" dirty="0" err="1">
                <a:solidFill>
                  <a:srgbClr val="FF0000"/>
                </a:solidFill>
              </a:rPr>
              <a:t>ab</a:t>
            </a:r>
            <a:endParaRPr lang="zh-CN" altLang="en-US" sz="1000" dirty="0">
              <a:solidFill>
                <a:srgbClr val="FF0000"/>
              </a:solidFill>
            </a:endParaRPr>
          </a:p>
        </p:txBody>
      </p:sp>
      <p:sp>
        <p:nvSpPr>
          <p:cNvPr id="13" name="文本框 12"/>
          <p:cNvSpPr txBox="1"/>
          <p:nvPr/>
        </p:nvSpPr>
        <p:spPr>
          <a:xfrm>
            <a:off x="323528" y="897831"/>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800" b="1" dirty="0" smtClean="0">
                <a:latin typeface="Times New Roman" panose="02020603050405020304" pitchFamily="18" charset="0"/>
                <a:ea typeface="仿宋" panose="02010609060101010101" pitchFamily="49" charset="-122"/>
              </a:rPr>
              <a:t>使用</a:t>
            </a:r>
            <a:r>
              <a:rPr lang="zh-CN" altLang="en-US" sz="2800" b="1" dirty="0">
                <a:latin typeface="Times New Roman" panose="02020603050405020304" pitchFamily="18" charset="0"/>
                <a:ea typeface="仿宋" panose="02010609060101010101" pitchFamily="49" charset="-122"/>
              </a:rPr>
              <a:t>正则表达式对象</a:t>
            </a:r>
            <a:endParaRPr lang="en-US" altLang="zh-CN" sz="2800" b="1" dirty="0">
              <a:ea typeface="仿宋" panose="02010609060101010101" pitchFamily="49" charset="-122"/>
            </a:endParaRPr>
          </a:p>
        </p:txBody>
      </p:sp>
    </p:spTree>
    <p:extLst>
      <p:ext uri="{BB962C8B-B14F-4D97-AF65-F5344CB8AC3E}">
        <p14:creationId xmlns:p14="http://schemas.microsoft.com/office/powerpoint/2010/main" val="34570287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73</a:t>
            </a:fld>
            <a:endParaRPr lang="zh-CN" altLang="en-US" sz="1050" dirty="0"/>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pic>
        <p:nvPicPr>
          <p:cNvPr id="3" name="图片 2"/>
          <p:cNvPicPr>
            <a:picLocks noChangeAspect="1"/>
          </p:cNvPicPr>
          <p:nvPr/>
        </p:nvPicPr>
        <p:blipFill>
          <a:blip r:embed="rId4"/>
          <a:stretch>
            <a:fillRect/>
          </a:stretch>
        </p:blipFill>
        <p:spPr>
          <a:xfrm>
            <a:off x="1331640" y="2924944"/>
            <a:ext cx="5401067" cy="1075946"/>
          </a:xfrm>
          <a:prstGeom prst="rect">
            <a:avLst/>
          </a:prstGeom>
        </p:spPr>
      </p:pic>
      <p:pic>
        <p:nvPicPr>
          <p:cNvPr id="1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2512" y="4509120"/>
            <a:ext cx="4464496" cy="565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0896" y="1340715"/>
            <a:ext cx="7526303" cy="1306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0" y="6310098"/>
            <a:ext cx="9118848" cy="246221"/>
          </a:xfrm>
          <a:prstGeom prst="rect">
            <a:avLst/>
          </a:prstGeom>
        </p:spPr>
        <p:txBody>
          <a:bodyPr wrap="square">
            <a:spAutoFit/>
          </a:bodyPr>
          <a:lstStyle/>
          <a:p>
            <a:r>
              <a:rPr lang="zh-CN" altLang="en-US" sz="1000" dirty="0"/>
              <a:t>类似于 所有子模式的 最后一次匹配值的 输出     模式</a:t>
            </a:r>
            <a:r>
              <a:rPr lang="en-US" altLang="zh-CN" sz="1000" dirty="0"/>
              <a:t>1</a:t>
            </a:r>
            <a:r>
              <a:rPr lang="zh-CN" altLang="en-US" sz="1000" dirty="0"/>
              <a:t>对应分组 </a:t>
            </a:r>
            <a:r>
              <a:rPr lang="en-US" altLang="zh-CN" sz="1000" dirty="0"/>
              <a:t>ab134  ab98723jafjweoruiag </a:t>
            </a:r>
            <a:r>
              <a:rPr lang="en-US" altLang="zh-CN" sz="1000" dirty="0">
                <a:solidFill>
                  <a:srgbClr val="FF0000"/>
                </a:solidFill>
              </a:rPr>
              <a:t>abLdd332addg</a:t>
            </a:r>
            <a:r>
              <a:rPr lang="zh-CN" altLang="en-US" sz="1000" dirty="0"/>
              <a:t>   </a:t>
            </a:r>
            <a:r>
              <a:rPr lang="en-US" altLang="zh-CN" sz="1000" dirty="0"/>
              <a:t>  </a:t>
            </a:r>
            <a:r>
              <a:rPr lang="zh-CN" altLang="en-US" sz="1000" dirty="0"/>
              <a:t>模式</a:t>
            </a:r>
            <a:r>
              <a:rPr lang="en-US" altLang="zh-CN" sz="1000" dirty="0"/>
              <a:t>2</a:t>
            </a:r>
            <a:r>
              <a:rPr lang="zh-CN" altLang="en-US" sz="1000" dirty="0"/>
              <a:t>对应分组 </a:t>
            </a:r>
            <a:r>
              <a:rPr lang="en-US" altLang="zh-CN" sz="1000" dirty="0" err="1"/>
              <a:t>ab</a:t>
            </a:r>
            <a:r>
              <a:rPr lang="en-US" altLang="zh-CN" sz="1000" dirty="0"/>
              <a:t>  </a:t>
            </a:r>
            <a:r>
              <a:rPr lang="en-US" altLang="zh-CN" sz="1000" dirty="0" err="1"/>
              <a:t>ab</a:t>
            </a:r>
            <a:r>
              <a:rPr lang="en-US" altLang="zh-CN" sz="1000" dirty="0"/>
              <a:t>  </a:t>
            </a:r>
            <a:r>
              <a:rPr lang="en-US" altLang="zh-CN" sz="1000" dirty="0" err="1">
                <a:solidFill>
                  <a:srgbClr val="FF0000"/>
                </a:solidFill>
              </a:rPr>
              <a:t>ab</a:t>
            </a:r>
            <a:r>
              <a:rPr lang="zh-CN" altLang="en-US" sz="1000" dirty="0"/>
              <a:t>     </a:t>
            </a:r>
            <a:r>
              <a:rPr lang="en-US" altLang="zh-CN" sz="1000" dirty="0"/>
              <a:t> </a:t>
            </a:r>
            <a:r>
              <a:rPr lang="zh-CN" altLang="en-US" sz="1000" dirty="0"/>
              <a:t>模式</a:t>
            </a:r>
            <a:r>
              <a:rPr lang="en-US" altLang="zh-CN" sz="1000" dirty="0"/>
              <a:t>3</a:t>
            </a:r>
            <a:r>
              <a:rPr lang="zh-CN" altLang="en-US" sz="1000" dirty="0"/>
              <a:t>对应分组  </a:t>
            </a:r>
            <a:r>
              <a:rPr lang="en-US" altLang="zh-CN" sz="1000" dirty="0" err="1">
                <a:solidFill>
                  <a:srgbClr val="FF0000"/>
                </a:solidFill>
              </a:rPr>
              <a:t>ab</a:t>
            </a:r>
            <a:endParaRPr lang="zh-CN" altLang="en-US" sz="1000" dirty="0">
              <a:solidFill>
                <a:srgbClr val="FF0000"/>
              </a:solidFill>
            </a:endParaRPr>
          </a:p>
        </p:txBody>
      </p:sp>
      <p:sp>
        <p:nvSpPr>
          <p:cNvPr id="13" name="文本框 12"/>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800" b="1" dirty="0" smtClean="0">
                <a:latin typeface="Times New Roman" panose="02020603050405020304" pitchFamily="18" charset="0"/>
                <a:ea typeface="仿宋" panose="02010609060101010101" pitchFamily="49" charset="-122"/>
              </a:rPr>
              <a:t>使用</a:t>
            </a:r>
            <a:r>
              <a:rPr lang="zh-CN" altLang="en-US" sz="2800" b="1" dirty="0">
                <a:latin typeface="Times New Roman" panose="02020603050405020304" pitchFamily="18" charset="0"/>
                <a:ea typeface="仿宋" panose="02010609060101010101" pitchFamily="49" charset="-122"/>
              </a:rPr>
              <a:t>正则表达式对象</a:t>
            </a:r>
            <a:endParaRPr lang="en-US" altLang="zh-CN" sz="2800" b="1" dirty="0">
              <a:ea typeface="仿宋" panose="02010609060101010101" pitchFamily="49" charset="-122"/>
            </a:endParaRPr>
          </a:p>
        </p:txBody>
      </p:sp>
    </p:spTree>
    <p:extLst>
      <p:ext uri="{BB962C8B-B14F-4D97-AF65-F5344CB8AC3E}">
        <p14:creationId xmlns:p14="http://schemas.microsoft.com/office/powerpoint/2010/main" val="343931801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4"/>
                                        </p:tgtEl>
                                        <p:attrNameLst>
                                          <p:attrName>style.visibility</p:attrName>
                                        </p:attrNameLst>
                                      </p:cBhvr>
                                      <p:to>
                                        <p:strVal val="visible"/>
                                      </p:to>
                                    </p:set>
                                    <p:anim calcmode="lin" valueType="num">
                                      <p:cBhvr additive="base">
                                        <p:cTn id="13" dur="500" fill="hold"/>
                                        <p:tgtEl>
                                          <p:spTgt spid="3074"/>
                                        </p:tgtEl>
                                        <p:attrNameLst>
                                          <p:attrName>ppt_x</p:attrName>
                                        </p:attrNameLst>
                                      </p:cBhvr>
                                      <p:tavLst>
                                        <p:tav tm="0">
                                          <p:val>
                                            <p:strVal val="#ppt_x"/>
                                          </p:val>
                                        </p:tav>
                                        <p:tav tm="100000">
                                          <p:val>
                                            <p:strVal val="#ppt_x"/>
                                          </p:val>
                                        </p:tav>
                                      </p:tavLst>
                                    </p:anim>
                                    <p:anim calcmode="lin" valueType="num">
                                      <p:cBhvr additive="base">
                                        <p:cTn id="14"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Content Placeholder 2"/>
          <p:cNvSpPr>
            <a:spLocks noGrp="1"/>
          </p:cNvSpPr>
          <p:nvPr>
            <p:ph idx="1"/>
          </p:nvPr>
        </p:nvSpPr>
        <p:spPr/>
        <p:txBody>
          <a:bodyPr anchor="t"/>
          <a:lstStyle/>
          <a:p>
            <a:pPr marL="0" indent="0">
              <a:spcBef>
                <a:spcPct val="0"/>
              </a:spcBef>
              <a:buNone/>
            </a:pPr>
            <a:r>
              <a:rPr lang="en-US" altLang="en-US" sz="1400" dirty="0">
                <a:latin typeface="Consolas" panose="020B0609020204030204" charset="0"/>
              </a:rPr>
              <a:t>&gt;&gt;&gt; import re</a:t>
            </a:r>
          </a:p>
          <a:p>
            <a:pPr marL="0" indent="0">
              <a:spcBef>
                <a:spcPct val="0"/>
              </a:spcBef>
              <a:buNone/>
            </a:pPr>
            <a:r>
              <a:rPr lang="en-US" altLang="en-US" sz="1400" dirty="0">
                <a:latin typeface="Consolas" panose="020B0609020204030204" charset="0"/>
              </a:rPr>
              <a:t>&gt;&gt;&gt; example = 'Hefei University of Technology'</a:t>
            </a:r>
          </a:p>
          <a:p>
            <a:pPr marL="0" indent="0">
              <a:spcBef>
                <a:spcPct val="0"/>
              </a:spcBef>
              <a:buNone/>
            </a:pPr>
            <a:r>
              <a:rPr lang="en-US" altLang="en-US" sz="1400" dirty="0">
                <a:latin typeface="Consolas" panose="020B0609020204030204" charset="0"/>
              </a:rPr>
              <a:t>&gt;&gt;&gt; pattern = </a:t>
            </a:r>
            <a:r>
              <a:rPr lang="en-US" altLang="en-US" sz="1400" dirty="0" err="1">
                <a:latin typeface="Consolas" panose="020B0609020204030204" charset="0"/>
              </a:rPr>
              <a:t>re.compile</a:t>
            </a:r>
            <a:r>
              <a:rPr lang="en-US" altLang="en-US" sz="1400" dirty="0">
                <a:latin typeface="Consolas" panose="020B0609020204030204" charset="0"/>
              </a:rPr>
              <a:t>(r'\</a:t>
            </a:r>
            <a:r>
              <a:rPr lang="en-US" altLang="en-US" sz="1400" dirty="0" err="1">
                <a:latin typeface="Consolas" panose="020B0609020204030204" charset="0"/>
              </a:rPr>
              <a:t>bA</a:t>
            </a:r>
            <a:r>
              <a:rPr lang="en-US" altLang="en-US" sz="1400" dirty="0">
                <a:latin typeface="Consolas" panose="020B0609020204030204" charset="0"/>
              </a:rPr>
              <a:t>\w+\b')</a:t>
            </a:r>
          </a:p>
          <a:p>
            <a:pPr marL="0" indent="0">
              <a:buNone/>
            </a:pPr>
            <a:r>
              <a:rPr lang="en-US" altLang="en-US" sz="1350" dirty="0">
                <a:latin typeface="Consolas" panose="020B0609020204030204" charset="0"/>
              </a:rPr>
              <a:t>&gt;&gt;&gt; </a:t>
            </a:r>
            <a:r>
              <a:rPr lang="en-US" altLang="en-US" sz="1350" dirty="0" err="1">
                <a:latin typeface="Consolas" panose="020B0609020204030204" charset="0"/>
              </a:rPr>
              <a:t>pattern.match</a:t>
            </a:r>
            <a:r>
              <a:rPr lang="en-US" altLang="en-US" sz="1350" dirty="0">
                <a:latin typeface="Consolas" panose="020B0609020204030204" charset="0"/>
              </a:rPr>
              <a:t>(example)     #</a:t>
            </a:r>
            <a:r>
              <a:rPr lang="en-US" altLang="en-US" sz="1350" dirty="0" err="1">
                <a:latin typeface="Consolas" panose="020B0609020204030204" charset="0"/>
              </a:rPr>
              <a:t>从字符串开头开始匹配</a:t>
            </a:r>
            <a:r>
              <a:rPr lang="en-US" altLang="en-US" sz="1350" dirty="0">
                <a:latin typeface="Consolas" panose="020B0609020204030204" charset="0"/>
              </a:rPr>
              <a:t>, </a:t>
            </a:r>
            <a:r>
              <a:rPr lang="zh-CN" altLang="en-US" sz="1350" dirty="0">
                <a:latin typeface="Consolas" panose="020B0609020204030204" charset="0"/>
              </a:rPr>
              <a:t>未匹配返回</a:t>
            </a:r>
            <a:r>
              <a:rPr lang="en-US" altLang="zh-CN" sz="1350" dirty="0">
                <a:latin typeface="Consolas" panose="020B0609020204030204" charset="0"/>
              </a:rPr>
              <a:t>None</a:t>
            </a:r>
            <a:r>
              <a:rPr lang="zh-CN" altLang="en-US" sz="1350" dirty="0">
                <a:latin typeface="Consolas" panose="020B0609020204030204" charset="0"/>
              </a:rPr>
              <a:t>（不成功，无返回值）</a:t>
            </a:r>
            <a:endParaRPr lang="en-US" altLang="en-US" sz="1350" dirty="0">
              <a:latin typeface="Consolas" panose="020B0609020204030204" charset="0"/>
            </a:endParaRPr>
          </a:p>
          <a:p>
            <a:pPr marL="0" indent="0">
              <a:buNone/>
            </a:pPr>
            <a:r>
              <a:rPr lang="en-US" altLang="en-US" sz="1200" dirty="0">
                <a:latin typeface="Consolas" panose="020B0609020204030204" charset="0"/>
              </a:rPr>
              <a:t>&gt;&gt;&gt; pattern = </a:t>
            </a:r>
            <a:r>
              <a:rPr lang="en-US" altLang="en-US" sz="1200" dirty="0" err="1">
                <a:latin typeface="Consolas" panose="020B0609020204030204" charset="0"/>
              </a:rPr>
              <a:t>re.compile</a:t>
            </a:r>
            <a:r>
              <a:rPr lang="en-US" altLang="en-US" sz="1200" dirty="0">
                <a:latin typeface="Consolas" panose="020B0609020204030204" charset="0"/>
              </a:rPr>
              <a:t>(r'\</a:t>
            </a:r>
            <a:r>
              <a:rPr lang="en-US" altLang="en-US" sz="1200" dirty="0" err="1">
                <a:latin typeface="Consolas" panose="020B0609020204030204" charset="0"/>
              </a:rPr>
              <a:t>bH</a:t>
            </a:r>
            <a:r>
              <a:rPr lang="en-US" altLang="en-US" sz="1200" dirty="0">
                <a:latin typeface="Consolas" panose="020B0609020204030204" charset="0"/>
              </a:rPr>
              <a:t>\w+\b')</a:t>
            </a:r>
          </a:p>
          <a:p>
            <a:pPr marL="0" indent="0">
              <a:buNone/>
            </a:pPr>
            <a:r>
              <a:rPr lang="en-US" altLang="en-US" sz="1350" dirty="0">
                <a:latin typeface="Consolas" panose="020B0609020204030204" charset="0"/>
              </a:rPr>
              <a:t>&gt;&gt;&gt; </a:t>
            </a:r>
            <a:r>
              <a:rPr lang="en-US" altLang="en-US" sz="1350" dirty="0" err="1">
                <a:latin typeface="Consolas" panose="020B0609020204030204" charset="0"/>
              </a:rPr>
              <a:t>pattern.search</a:t>
            </a:r>
            <a:r>
              <a:rPr lang="en-US" altLang="en-US" sz="1350" dirty="0">
                <a:latin typeface="Consolas" panose="020B0609020204030204" charset="0"/>
              </a:rPr>
              <a:t>(example)    #</a:t>
            </a:r>
            <a:r>
              <a:rPr lang="en-US" altLang="en-US" sz="1350" dirty="0" err="1">
                <a:latin typeface="Consolas" panose="020B0609020204030204" charset="0"/>
              </a:rPr>
              <a:t>在整个字符串中搜索</a:t>
            </a:r>
            <a:endParaRPr lang="en-US" altLang="en-US" sz="1350" dirty="0">
              <a:latin typeface="Consolas" panose="020B0609020204030204" charset="0"/>
            </a:endParaRPr>
          </a:p>
          <a:p>
            <a:pPr marL="0" indent="0">
              <a:buNone/>
            </a:pPr>
            <a:r>
              <a:rPr lang="en-US" altLang="en-US" sz="1350" dirty="0">
                <a:solidFill>
                  <a:srgbClr val="0000FF"/>
                </a:solidFill>
                <a:latin typeface="Consolas" panose="020B0609020204030204" charset="0"/>
              </a:rPr>
              <a:t>&lt;_</a:t>
            </a:r>
            <a:r>
              <a:rPr lang="en-US" altLang="en-US" sz="1350" dirty="0" err="1">
                <a:solidFill>
                  <a:srgbClr val="0000FF"/>
                </a:solidFill>
                <a:latin typeface="Consolas" panose="020B0609020204030204" charset="0"/>
              </a:rPr>
              <a:t>sre.SRE_Match</a:t>
            </a:r>
            <a:r>
              <a:rPr lang="en-US" altLang="en-US" sz="1350" dirty="0">
                <a:solidFill>
                  <a:srgbClr val="0000FF"/>
                </a:solidFill>
                <a:latin typeface="Consolas" panose="020B0609020204030204" charset="0"/>
              </a:rPr>
              <a:t> object; span=(0, 5), match='Hefei'&gt;</a:t>
            </a:r>
          </a:p>
          <a:p>
            <a:pPr marL="0" indent="0">
              <a:buNone/>
            </a:pPr>
            <a:r>
              <a:rPr lang="en-US" altLang="en-US" sz="1350" dirty="0">
                <a:latin typeface="Consolas" panose="020B0609020204030204" charset="0"/>
              </a:rPr>
              <a:t>&gt;&gt;&gt; pattern = </a:t>
            </a:r>
            <a:r>
              <a:rPr lang="en-US" altLang="en-US" sz="1350" dirty="0" err="1">
                <a:latin typeface="Consolas" panose="020B0609020204030204" charset="0"/>
              </a:rPr>
              <a:t>re.compile</a:t>
            </a:r>
            <a:r>
              <a:rPr lang="en-US" altLang="en-US" sz="1350" dirty="0">
                <a:latin typeface="Consolas" panose="020B0609020204030204" charset="0"/>
              </a:rPr>
              <a:t>(r'\b\w*</a:t>
            </a:r>
            <a:r>
              <a:rPr lang="en-US" altLang="en-US" sz="1350" dirty="0" err="1">
                <a:latin typeface="Consolas" panose="020B0609020204030204" charset="0"/>
              </a:rPr>
              <a:t>i</a:t>
            </a:r>
            <a:r>
              <a:rPr lang="en-US" altLang="en-US" sz="1350" dirty="0">
                <a:latin typeface="Consolas" panose="020B0609020204030204" charset="0"/>
              </a:rPr>
              <a:t>\w*\b') #</a:t>
            </a:r>
            <a:r>
              <a:rPr lang="en-US" altLang="en-US" sz="1350" dirty="0" err="1">
                <a:latin typeface="Consolas" panose="020B0609020204030204" charset="0"/>
              </a:rPr>
              <a:t>查找所有含有字母i的单词</a:t>
            </a:r>
            <a:endParaRPr lang="en-US" altLang="en-US" sz="1350" dirty="0">
              <a:latin typeface="Consolas" panose="020B0609020204030204" charset="0"/>
            </a:endParaRPr>
          </a:p>
          <a:p>
            <a:pPr marL="0" indent="0">
              <a:buNone/>
            </a:pPr>
            <a:r>
              <a:rPr lang="en-US" altLang="en-US" sz="1350" dirty="0">
                <a:latin typeface="Consolas" panose="020B0609020204030204" charset="0"/>
              </a:rPr>
              <a:t>&gt;&gt;&gt; </a:t>
            </a:r>
            <a:r>
              <a:rPr lang="en-US" altLang="en-US" sz="1350" dirty="0" err="1">
                <a:latin typeface="Consolas" panose="020B0609020204030204" charset="0"/>
              </a:rPr>
              <a:t>pattern.findall</a:t>
            </a:r>
            <a:r>
              <a:rPr lang="en-US" altLang="en-US" sz="1350" dirty="0">
                <a:latin typeface="Consolas" panose="020B0609020204030204" charset="0"/>
              </a:rPr>
              <a:t>(example)</a:t>
            </a:r>
          </a:p>
          <a:p>
            <a:pPr marL="0" indent="0">
              <a:buNone/>
            </a:pPr>
            <a:r>
              <a:rPr lang="en-US" altLang="en-US" sz="1350" dirty="0">
                <a:solidFill>
                  <a:srgbClr val="0000FF"/>
                </a:solidFill>
                <a:latin typeface="Consolas" panose="020B0609020204030204" charset="0"/>
              </a:rPr>
              <a:t>[‘Hefei', ‘University']</a:t>
            </a:r>
          </a:p>
          <a:p>
            <a:pPr marL="0" indent="0">
              <a:buNone/>
            </a:pPr>
            <a:r>
              <a:rPr lang="en-US" altLang="en-US" sz="1350" dirty="0">
                <a:latin typeface="Consolas" panose="020B0609020204030204" charset="0"/>
              </a:rPr>
              <a:t>&gt;&gt;&gt; text = "He was carefully disguised but captured quickly by police."</a:t>
            </a:r>
          </a:p>
          <a:p>
            <a:pPr marL="0" indent="0">
              <a:buNone/>
            </a:pPr>
            <a:r>
              <a:rPr lang="en-US" altLang="en-US" sz="1350" dirty="0">
                <a:latin typeface="Consolas" panose="020B0609020204030204" charset="0"/>
              </a:rPr>
              <a:t>&gt;&gt;&gt; </a:t>
            </a:r>
            <a:r>
              <a:rPr lang="en-US" altLang="en-US" sz="1350" dirty="0" err="1">
                <a:latin typeface="Consolas" panose="020B0609020204030204" charset="0"/>
              </a:rPr>
              <a:t>re.findall</a:t>
            </a:r>
            <a:r>
              <a:rPr lang="en-US" altLang="en-US" sz="1350" dirty="0">
                <a:latin typeface="Consolas" panose="020B0609020204030204" charset="0"/>
              </a:rPr>
              <a:t>(r"\</a:t>
            </a:r>
            <a:r>
              <a:rPr lang="en-US" altLang="en-US" sz="1350" dirty="0" err="1">
                <a:latin typeface="Consolas" panose="020B0609020204030204" charset="0"/>
              </a:rPr>
              <a:t>w+ly</a:t>
            </a:r>
            <a:r>
              <a:rPr lang="en-US" altLang="en-US" sz="1350" dirty="0">
                <a:latin typeface="Consolas" panose="020B0609020204030204" charset="0"/>
              </a:rPr>
              <a:t>", text)</a:t>
            </a:r>
          </a:p>
          <a:p>
            <a:pPr marL="0" indent="0">
              <a:buNone/>
            </a:pPr>
            <a:r>
              <a:rPr lang="en-US" altLang="en-US" sz="1350" dirty="0">
                <a:solidFill>
                  <a:srgbClr val="0000FF"/>
                </a:solidFill>
                <a:latin typeface="Consolas" panose="020B0609020204030204" charset="0"/>
              </a:rPr>
              <a:t>['carefully', 'quickly']</a:t>
            </a:r>
          </a:p>
        </p:txBody>
      </p:sp>
      <p:sp>
        <p:nvSpPr>
          <p:cNvPr id="129027"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74</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800" b="1" dirty="0" smtClean="0">
                <a:latin typeface="Times New Roman" panose="02020603050405020304" pitchFamily="18" charset="0"/>
                <a:ea typeface="仿宋" panose="02010609060101010101" pitchFamily="49" charset="-122"/>
              </a:rPr>
              <a:t>使用</a:t>
            </a:r>
            <a:r>
              <a:rPr lang="zh-CN" altLang="en-US" sz="2800" b="1" dirty="0">
                <a:latin typeface="Times New Roman" panose="02020603050405020304" pitchFamily="18" charset="0"/>
                <a:ea typeface="仿宋" panose="02010609060101010101" pitchFamily="49" charset="-122"/>
              </a:rPr>
              <a:t>正则表达式对象</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Tree>
    <p:extLst>
      <p:ext uri="{BB962C8B-B14F-4D97-AF65-F5344CB8AC3E}">
        <p14:creationId xmlns:p14="http://schemas.microsoft.com/office/powerpoint/2010/main" val="172655376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Content Placeholder 2"/>
          <p:cNvSpPr>
            <a:spLocks noGrp="1"/>
          </p:cNvSpPr>
          <p:nvPr>
            <p:ph idx="1"/>
          </p:nvPr>
        </p:nvSpPr>
        <p:spPr>
          <a:xfrm>
            <a:off x="706002" y="1575956"/>
            <a:ext cx="8229600" cy="4678451"/>
          </a:xfrm>
        </p:spPr>
        <p:txBody>
          <a:bodyPr anchor="t"/>
          <a:lstStyle/>
          <a:p>
            <a:pPr marL="0" indent="0">
              <a:buNone/>
            </a:pPr>
            <a:r>
              <a:rPr lang="en-US" altLang="en-US" sz="1400" dirty="0">
                <a:latin typeface="Consolas" panose="020B0609020204030204" charset="0"/>
              </a:rPr>
              <a:t>&gt;&gt;&gt; </a:t>
            </a:r>
            <a:r>
              <a:rPr lang="en-US" altLang="en-US" sz="1400" dirty="0" err="1">
                <a:latin typeface="Consolas" panose="020B0609020204030204" charset="0"/>
              </a:rPr>
              <a:t>re.findall</a:t>
            </a:r>
            <a:r>
              <a:rPr lang="en-US" altLang="en-US" sz="1400" dirty="0">
                <a:latin typeface="Consolas" panose="020B0609020204030204" charset="0"/>
              </a:rPr>
              <a:t>('\d+\.\d+\.\d+', 'Python 2.7.13')</a:t>
            </a:r>
          </a:p>
          <a:p>
            <a:pPr marL="0" indent="0">
              <a:buNone/>
            </a:pPr>
            <a:r>
              <a:rPr lang="en-US" altLang="en-US" sz="1400" dirty="0">
                <a:latin typeface="Consolas" panose="020B0609020204030204" charset="0"/>
              </a:rPr>
              <a:t>                                   #</a:t>
            </a:r>
            <a:r>
              <a:rPr lang="en-US" altLang="en-US" sz="1400" dirty="0" err="1">
                <a:latin typeface="Consolas" panose="020B0609020204030204" charset="0"/>
              </a:rPr>
              <a:t>查找并返回x.x.x形式的数字</a:t>
            </a:r>
            <a:endParaRPr lang="en-US" altLang="en-US" sz="1400" dirty="0">
              <a:latin typeface="Consolas" panose="020B0609020204030204" charset="0"/>
            </a:endParaRPr>
          </a:p>
          <a:p>
            <a:pPr marL="0" indent="0">
              <a:buNone/>
            </a:pPr>
            <a:r>
              <a:rPr lang="en-US" altLang="en-US" sz="1400" dirty="0">
                <a:solidFill>
                  <a:srgbClr val="0000FF"/>
                </a:solidFill>
                <a:latin typeface="Consolas" panose="020B0609020204030204" charset="0"/>
              </a:rPr>
              <a:t>['2.7.13']</a:t>
            </a:r>
          </a:p>
          <a:p>
            <a:pPr marL="0" indent="0">
              <a:buNone/>
            </a:pPr>
            <a:r>
              <a:rPr lang="en-US" altLang="en-US" sz="1400" dirty="0">
                <a:latin typeface="Consolas" panose="020B0609020204030204" charset="0"/>
              </a:rPr>
              <a:t>&gt;&gt;&gt; </a:t>
            </a:r>
            <a:r>
              <a:rPr lang="en-US" altLang="en-US" sz="1400" dirty="0" err="1">
                <a:latin typeface="Consolas" panose="020B0609020204030204" charset="0"/>
              </a:rPr>
              <a:t>re.findall</a:t>
            </a:r>
            <a:r>
              <a:rPr lang="en-US" altLang="en-US" sz="1400" dirty="0">
                <a:latin typeface="Consolas" panose="020B0609020204030204" charset="0"/>
              </a:rPr>
              <a:t>('\d+\.\d+\.\d+', 'Python 2.7.13,Python 3.6.0')</a:t>
            </a:r>
          </a:p>
          <a:p>
            <a:pPr marL="0" indent="0">
              <a:buNone/>
            </a:pPr>
            <a:r>
              <a:rPr lang="en-US" altLang="en-US" sz="1400" dirty="0">
                <a:solidFill>
                  <a:srgbClr val="0000FF"/>
                </a:solidFill>
                <a:latin typeface="Consolas" panose="020B0609020204030204" charset="0"/>
              </a:rPr>
              <a:t>['2.7.13', '3.6.0']</a:t>
            </a:r>
          </a:p>
          <a:p>
            <a:pPr marL="0" indent="0">
              <a:buNone/>
            </a:pPr>
            <a:r>
              <a:rPr lang="en-US" altLang="en-US" sz="1400" dirty="0">
                <a:latin typeface="Consolas" panose="020B0609020204030204" charset="0"/>
              </a:rPr>
              <a:t>&gt;&gt;&gt; s = '&lt;html&gt;&lt;head&gt;This is head.&lt;/head&gt;&lt;body&gt;This is body.&lt;/body&gt;&lt;/html&gt;'</a:t>
            </a:r>
          </a:p>
          <a:p>
            <a:pPr marL="0" indent="0">
              <a:buNone/>
            </a:pPr>
            <a:r>
              <a:rPr lang="en-US" altLang="en-US" sz="1400" dirty="0">
                <a:latin typeface="Consolas" panose="020B0609020204030204" charset="0"/>
              </a:rPr>
              <a:t>&gt;&gt;&gt; pattern = r'&lt;html&gt;&lt;head&gt;(.+)&lt;/head&gt;&lt;body&gt;(.+)&lt;/body&gt;&lt;/html&gt;'</a:t>
            </a:r>
          </a:p>
          <a:p>
            <a:pPr marL="0" indent="0">
              <a:buNone/>
            </a:pPr>
            <a:r>
              <a:rPr lang="en-US" altLang="en-US" sz="1400" dirty="0">
                <a:latin typeface="Consolas" panose="020B0609020204030204" charset="0"/>
              </a:rPr>
              <a:t>&gt;&gt;&gt; result = </a:t>
            </a:r>
            <a:r>
              <a:rPr lang="en-US" altLang="en-US" sz="1400" dirty="0" err="1">
                <a:latin typeface="Consolas" panose="020B0609020204030204" charset="0"/>
              </a:rPr>
              <a:t>re.search</a:t>
            </a:r>
            <a:r>
              <a:rPr lang="en-US" altLang="en-US" sz="1400" dirty="0">
                <a:latin typeface="Consolas" panose="020B0609020204030204" charset="0"/>
              </a:rPr>
              <a:t>(pattern, s)</a:t>
            </a:r>
          </a:p>
          <a:p>
            <a:pPr marL="0" indent="0">
              <a:buNone/>
            </a:pPr>
            <a:r>
              <a:rPr lang="en-US" altLang="en-US" sz="1400" dirty="0">
                <a:latin typeface="Consolas" panose="020B0609020204030204" charset="0"/>
              </a:rPr>
              <a:t>&gt;&gt;&gt; </a:t>
            </a:r>
            <a:r>
              <a:rPr lang="en-US" altLang="en-US" sz="1400" dirty="0" err="1">
                <a:latin typeface="Consolas" panose="020B0609020204030204" charset="0"/>
              </a:rPr>
              <a:t>result.group</a:t>
            </a:r>
            <a:r>
              <a:rPr lang="en-US" altLang="en-US" sz="1400" dirty="0">
                <a:latin typeface="Consolas" panose="020B0609020204030204" charset="0"/>
              </a:rPr>
              <a:t>(1)                 #</a:t>
            </a:r>
            <a:r>
              <a:rPr lang="en-US" altLang="en-US" sz="1400" dirty="0" err="1">
                <a:latin typeface="Consolas" panose="020B0609020204030204" charset="0"/>
              </a:rPr>
              <a:t>第一个子模式</a:t>
            </a:r>
            <a:endParaRPr lang="en-US" altLang="en-US" sz="1400" dirty="0">
              <a:latin typeface="Consolas" panose="020B0609020204030204" charset="0"/>
            </a:endParaRPr>
          </a:p>
          <a:p>
            <a:pPr marL="0" indent="0">
              <a:buNone/>
            </a:pPr>
            <a:r>
              <a:rPr lang="en-US" altLang="en-US" sz="1400" dirty="0">
                <a:solidFill>
                  <a:srgbClr val="0000FF"/>
                </a:solidFill>
                <a:latin typeface="Consolas" panose="020B0609020204030204" charset="0"/>
              </a:rPr>
              <a:t>'This is head.'</a:t>
            </a:r>
          </a:p>
          <a:p>
            <a:pPr marL="0" indent="0">
              <a:buNone/>
            </a:pPr>
            <a:r>
              <a:rPr lang="en-US" altLang="en-US" sz="1400" dirty="0">
                <a:latin typeface="Consolas" panose="020B0609020204030204" charset="0"/>
              </a:rPr>
              <a:t>&gt;&gt;&gt; </a:t>
            </a:r>
            <a:r>
              <a:rPr lang="en-US" altLang="en-US" sz="1400" dirty="0" err="1">
                <a:latin typeface="Consolas" panose="020B0609020204030204" charset="0"/>
              </a:rPr>
              <a:t>result.group</a:t>
            </a:r>
            <a:r>
              <a:rPr lang="en-US" altLang="en-US" sz="1400" dirty="0">
                <a:latin typeface="Consolas" panose="020B0609020204030204" charset="0"/>
              </a:rPr>
              <a:t>(2)                 #</a:t>
            </a:r>
            <a:r>
              <a:rPr lang="en-US" altLang="en-US" sz="1400" dirty="0" err="1">
                <a:latin typeface="Consolas" panose="020B0609020204030204" charset="0"/>
              </a:rPr>
              <a:t>第二个子模式</a:t>
            </a:r>
            <a:endParaRPr lang="en-US" altLang="en-US" sz="1400" dirty="0">
              <a:latin typeface="Consolas" panose="020B0609020204030204" charset="0"/>
            </a:endParaRPr>
          </a:p>
          <a:p>
            <a:pPr marL="0" indent="0">
              <a:buNone/>
            </a:pPr>
            <a:r>
              <a:rPr lang="en-US" altLang="en-US" sz="1600" dirty="0">
                <a:solidFill>
                  <a:srgbClr val="0000FF"/>
                </a:solidFill>
                <a:latin typeface="Consolas" panose="020B0609020204030204" charset="0"/>
              </a:rPr>
              <a:t>'This is body.'</a:t>
            </a:r>
          </a:p>
        </p:txBody>
      </p:sp>
      <p:sp>
        <p:nvSpPr>
          <p:cNvPr id="12288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75</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4.3.2 re</a:t>
            </a:r>
            <a:r>
              <a:rPr lang="zh-CN" altLang="en-US" sz="2800" b="1" dirty="0">
                <a:latin typeface="Times New Roman" panose="02020603050405020304" pitchFamily="18" charset="0"/>
                <a:ea typeface="仿宋" panose="02010609060101010101" pitchFamily="49" charset="-122"/>
              </a:rPr>
              <a:t>模块的主要方法与使用</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Tree>
    <p:extLst>
      <p:ext uri="{BB962C8B-B14F-4D97-AF65-F5344CB8AC3E}">
        <p14:creationId xmlns:p14="http://schemas.microsoft.com/office/powerpoint/2010/main" val="4149606840"/>
      </p:ext>
    </p:extLst>
  </p:cSld>
  <p:clrMapOvr>
    <a:masterClrMapping/>
  </p:clrMapOvr>
  <p:transition spd="slow" advClick="0">
    <p:pull dir="d"/>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76</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4.3.2 re</a:t>
            </a:r>
            <a:r>
              <a:rPr lang="zh-CN" altLang="en-US" sz="2800" b="1" dirty="0">
                <a:latin typeface="Times New Roman" panose="02020603050405020304" pitchFamily="18" charset="0"/>
                <a:ea typeface="仿宋" panose="02010609060101010101" pitchFamily="49" charset="-122"/>
              </a:rPr>
              <a:t>模块的主要方法与使用</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pic>
        <p:nvPicPr>
          <p:cNvPr id="5" name="图片 4"/>
          <p:cNvPicPr>
            <a:picLocks noChangeAspect="1"/>
          </p:cNvPicPr>
          <p:nvPr/>
        </p:nvPicPr>
        <p:blipFill>
          <a:blip r:embed="rId3"/>
          <a:stretch>
            <a:fillRect/>
          </a:stretch>
        </p:blipFill>
        <p:spPr>
          <a:xfrm>
            <a:off x="395536" y="1340768"/>
            <a:ext cx="6678107" cy="5149430"/>
          </a:xfrm>
          <a:prstGeom prst="rect">
            <a:avLst/>
          </a:prstGeom>
        </p:spPr>
      </p:pic>
    </p:spTree>
  </p:cSld>
  <p:clrMapOvr>
    <a:masterClrMapping/>
  </p:clrMapOvr>
  <p:transition spd="slow" advClick="0">
    <p:pull dir="d"/>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文本占位符 53250"/>
          <p:cNvSpPr>
            <a:spLocks noGrp="1"/>
          </p:cNvSpPr>
          <p:nvPr>
            <p:ph idx="1"/>
          </p:nvPr>
        </p:nvSpPr>
        <p:spPr>
          <a:xfrm>
            <a:off x="891603" y="1661561"/>
            <a:ext cx="7237730" cy="3395345"/>
          </a:xfrm>
        </p:spPr>
        <p:txBody>
          <a:bodyPr anchor="t"/>
          <a:lstStyle/>
          <a:p>
            <a:pPr>
              <a:spcBef>
                <a:spcPct val="0"/>
              </a:spcBef>
              <a:buSzPct val="70000"/>
              <a:buNone/>
            </a:pPr>
            <a:r>
              <a:rPr lang="en-US" altLang="zh-CN" sz="1400" dirty="0">
                <a:latin typeface="Consolas" panose="020B0609020204030204" charset="0"/>
              </a:rPr>
              <a:t>&gt;&gt;&gt; import re                            #</a:t>
            </a:r>
            <a:r>
              <a:rPr lang="en-US" altLang="zh-CN" sz="1400" dirty="0" err="1">
                <a:latin typeface="Consolas" panose="020B0609020204030204" charset="0"/>
              </a:rPr>
              <a:t>导入re模块</a:t>
            </a:r>
            <a:endParaRPr lang="en-US" altLang="zh-CN" sz="1400" dirty="0">
              <a:latin typeface="Consolas" panose="020B0609020204030204" charset="0"/>
            </a:endParaRPr>
          </a:p>
          <a:p>
            <a:pPr>
              <a:spcBef>
                <a:spcPct val="0"/>
              </a:spcBef>
              <a:buSzPct val="70000"/>
              <a:buNone/>
            </a:pPr>
            <a:r>
              <a:rPr lang="en-US" altLang="zh-CN" sz="1400" dirty="0">
                <a:latin typeface="Consolas" panose="020B0609020204030204" charset="0"/>
              </a:rPr>
              <a:t>&gt;&gt;&gt; text = 'alpha. beta....gamma delta'  #</a:t>
            </a:r>
            <a:r>
              <a:rPr lang="en-US" altLang="zh-CN" sz="1400" dirty="0" err="1">
                <a:latin typeface="Consolas" panose="020B0609020204030204" charset="0"/>
              </a:rPr>
              <a:t>测试用的字符串</a:t>
            </a:r>
            <a:endParaRPr lang="en-US" altLang="zh-CN" sz="1400" dirty="0">
              <a:latin typeface="Consolas" panose="020B0609020204030204" charset="0"/>
            </a:endParaRPr>
          </a:p>
          <a:p>
            <a:pPr>
              <a:spcBef>
                <a:spcPct val="0"/>
              </a:spcBef>
              <a:buSzPct val="70000"/>
              <a:buNone/>
            </a:pPr>
            <a:r>
              <a:rPr lang="en-US" altLang="zh-CN" sz="1400" dirty="0">
                <a:latin typeface="Consolas" panose="020B0609020204030204" charset="0"/>
              </a:rPr>
              <a:t>&gt;&gt;&gt; </a:t>
            </a:r>
            <a:r>
              <a:rPr lang="en-US" altLang="zh-CN" sz="1400" dirty="0" err="1">
                <a:latin typeface="Consolas" panose="020B0609020204030204" charset="0"/>
              </a:rPr>
              <a:t>re.split</a:t>
            </a:r>
            <a:r>
              <a:rPr lang="en-US" altLang="zh-CN" sz="1400" dirty="0">
                <a:latin typeface="Consolas" panose="020B0609020204030204" charset="0"/>
              </a:rPr>
              <a:t>(‘[</a:t>
            </a:r>
            <a:r>
              <a:rPr lang="en-US" altLang="zh-CN" sz="1400" dirty="0">
                <a:solidFill>
                  <a:srgbClr val="FF0000"/>
                </a:solidFill>
                <a:latin typeface="Consolas" panose="020B0609020204030204" charset="0"/>
              </a:rPr>
              <a:t>\.</a:t>
            </a:r>
            <a:r>
              <a:rPr lang="en-US" altLang="zh-CN" sz="1400" dirty="0">
                <a:latin typeface="Consolas" panose="020B0609020204030204" charset="0"/>
              </a:rPr>
              <a:t> ]+’, text)  </a:t>
            </a:r>
            <a:r>
              <a:rPr lang="zh-CN" altLang="en-US" sz="1200" dirty="0">
                <a:solidFill>
                  <a:srgbClr val="FF0000"/>
                </a:solidFill>
                <a:latin typeface="Consolas" panose="020B0609020204030204" charset="0"/>
              </a:rPr>
              <a:t>不是元字符</a:t>
            </a:r>
            <a:r>
              <a:rPr lang="en-US" altLang="zh-CN" sz="1200" dirty="0">
                <a:solidFill>
                  <a:srgbClr val="FF0000"/>
                </a:solidFill>
                <a:latin typeface="Consolas" panose="020B0609020204030204" charset="0"/>
              </a:rPr>
              <a:t>.</a:t>
            </a:r>
            <a:r>
              <a:rPr lang="en-US" altLang="zh-CN" sz="1400" dirty="0">
                <a:latin typeface="Consolas" panose="020B0609020204030204" charset="0"/>
              </a:rPr>
              <a:t>    #</a:t>
            </a:r>
            <a:r>
              <a:rPr lang="en-US" altLang="zh-CN" sz="1400" dirty="0" err="1">
                <a:latin typeface="Consolas" panose="020B0609020204030204" charset="0"/>
              </a:rPr>
              <a:t>使用指定字符作为分隔符进行分隔</a:t>
            </a:r>
            <a:endParaRPr lang="en-US" altLang="zh-CN" sz="1400" dirty="0">
              <a:latin typeface="Consolas" panose="020B0609020204030204" charset="0"/>
            </a:endParaRPr>
          </a:p>
          <a:p>
            <a:pPr>
              <a:spcBef>
                <a:spcPct val="0"/>
              </a:spcBef>
              <a:buSzPct val="70000"/>
              <a:buNone/>
            </a:pPr>
            <a:r>
              <a:rPr lang="en-US" altLang="zh-CN" sz="1400" dirty="0">
                <a:solidFill>
                  <a:srgbClr val="0000FF"/>
                </a:solidFill>
                <a:latin typeface="Consolas" panose="020B0609020204030204" charset="0"/>
              </a:rPr>
              <a:t>['alpha', 'beta', 'gamma', 'delta']</a:t>
            </a:r>
          </a:p>
          <a:p>
            <a:pPr>
              <a:spcBef>
                <a:spcPct val="0"/>
              </a:spcBef>
              <a:buSzPct val="70000"/>
              <a:buNone/>
            </a:pPr>
            <a:r>
              <a:rPr lang="en-US" altLang="zh-CN" sz="1400" dirty="0">
                <a:latin typeface="Consolas" panose="020B0609020204030204" charset="0"/>
              </a:rPr>
              <a:t>&gt;&gt;&gt; </a:t>
            </a:r>
            <a:r>
              <a:rPr lang="en-US" altLang="zh-CN" sz="1400" dirty="0" err="1">
                <a:latin typeface="Consolas" panose="020B0609020204030204" charset="0"/>
              </a:rPr>
              <a:t>re.split</a:t>
            </a:r>
            <a:r>
              <a:rPr lang="en-US" altLang="zh-CN" sz="1400" dirty="0">
                <a:latin typeface="Consolas" panose="020B0609020204030204" charset="0"/>
              </a:rPr>
              <a:t>('[\. ]+', text, </a:t>
            </a:r>
            <a:r>
              <a:rPr lang="en-US" altLang="zh-CN" sz="1400" dirty="0" err="1">
                <a:latin typeface="Consolas" panose="020B0609020204030204" charset="0"/>
              </a:rPr>
              <a:t>maxsplit</a:t>
            </a:r>
            <a:r>
              <a:rPr lang="en-US" altLang="zh-CN" sz="1400" dirty="0">
                <a:latin typeface="Consolas" panose="020B0609020204030204" charset="0"/>
              </a:rPr>
              <a:t>=2) #最多分隔2次</a:t>
            </a:r>
          </a:p>
          <a:p>
            <a:pPr>
              <a:spcBef>
                <a:spcPct val="0"/>
              </a:spcBef>
              <a:buSzPct val="70000"/>
              <a:buNone/>
            </a:pPr>
            <a:r>
              <a:rPr lang="en-US" altLang="zh-CN" sz="1400" dirty="0">
                <a:solidFill>
                  <a:srgbClr val="0000FF"/>
                </a:solidFill>
                <a:latin typeface="Consolas" panose="020B0609020204030204" charset="0"/>
              </a:rPr>
              <a:t>['alpha', 'beta', 'gamma delta']</a:t>
            </a:r>
          </a:p>
          <a:p>
            <a:pPr>
              <a:spcBef>
                <a:spcPct val="0"/>
              </a:spcBef>
              <a:buSzPct val="70000"/>
              <a:buNone/>
            </a:pPr>
            <a:r>
              <a:rPr lang="en-US" altLang="zh-CN" sz="1400" dirty="0">
                <a:latin typeface="Consolas" panose="020B0609020204030204" charset="0"/>
              </a:rPr>
              <a:t>&gt;&gt;&gt; </a:t>
            </a:r>
            <a:r>
              <a:rPr lang="en-US" altLang="zh-CN" sz="1400" dirty="0" err="1">
                <a:latin typeface="Consolas" panose="020B0609020204030204" charset="0"/>
              </a:rPr>
              <a:t>re.split</a:t>
            </a:r>
            <a:r>
              <a:rPr lang="en-US" altLang="zh-CN" sz="1400" dirty="0">
                <a:latin typeface="Consolas" panose="020B0609020204030204" charset="0"/>
              </a:rPr>
              <a:t>('[\. ]+', text, </a:t>
            </a:r>
            <a:r>
              <a:rPr lang="en-US" altLang="zh-CN" sz="1400" dirty="0" err="1">
                <a:latin typeface="Consolas" panose="020B0609020204030204" charset="0"/>
              </a:rPr>
              <a:t>maxsplit</a:t>
            </a:r>
            <a:r>
              <a:rPr lang="en-US" altLang="zh-CN" sz="1400" dirty="0">
                <a:latin typeface="Consolas" panose="020B0609020204030204" charset="0"/>
              </a:rPr>
              <a:t>=1) #最多分隔1次</a:t>
            </a:r>
          </a:p>
          <a:p>
            <a:pPr>
              <a:spcBef>
                <a:spcPct val="0"/>
              </a:spcBef>
              <a:buSzPct val="70000"/>
              <a:buNone/>
            </a:pPr>
            <a:r>
              <a:rPr lang="en-US" altLang="zh-CN" sz="1400" dirty="0">
                <a:solidFill>
                  <a:srgbClr val="0000FF"/>
                </a:solidFill>
                <a:latin typeface="Consolas" panose="020B0609020204030204" charset="0"/>
              </a:rPr>
              <a:t>['alpha', 'beta....gamma delta']</a:t>
            </a:r>
          </a:p>
          <a:p>
            <a:pPr>
              <a:spcBef>
                <a:spcPct val="0"/>
              </a:spcBef>
              <a:buSzPct val="70000"/>
              <a:buNone/>
            </a:pPr>
            <a:r>
              <a:rPr lang="en-US" altLang="zh-CN" sz="1400" dirty="0">
                <a:latin typeface="Consolas" panose="020B0609020204030204" charset="0"/>
              </a:rPr>
              <a:t>&gt;&gt;&gt; pat = '[a-</a:t>
            </a:r>
            <a:r>
              <a:rPr lang="en-US" altLang="zh-CN" sz="1400" dirty="0" err="1">
                <a:latin typeface="Consolas" panose="020B0609020204030204" charset="0"/>
              </a:rPr>
              <a:t>zA</a:t>
            </a:r>
            <a:r>
              <a:rPr lang="en-US" altLang="zh-CN" sz="1400" dirty="0">
                <a:latin typeface="Consolas" panose="020B0609020204030204" charset="0"/>
              </a:rPr>
              <a:t>-Z]+'</a:t>
            </a:r>
          </a:p>
          <a:p>
            <a:pPr>
              <a:spcBef>
                <a:spcPct val="0"/>
              </a:spcBef>
              <a:buSzPct val="70000"/>
              <a:buNone/>
            </a:pPr>
            <a:r>
              <a:rPr lang="en-US" altLang="zh-CN" sz="1400" dirty="0">
                <a:latin typeface="Consolas" panose="020B0609020204030204" charset="0"/>
              </a:rPr>
              <a:t>&gt;&gt;&gt; </a:t>
            </a:r>
            <a:r>
              <a:rPr lang="en-US" altLang="zh-CN" sz="1400" dirty="0" err="1">
                <a:latin typeface="Consolas" panose="020B0609020204030204" charset="0"/>
              </a:rPr>
              <a:t>re.findall</a:t>
            </a:r>
            <a:r>
              <a:rPr lang="en-US" altLang="zh-CN" sz="1400" dirty="0">
                <a:latin typeface="Consolas" panose="020B0609020204030204" charset="0"/>
              </a:rPr>
              <a:t>(pat, text)                #</a:t>
            </a:r>
            <a:r>
              <a:rPr lang="en-US" altLang="zh-CN" sz="1400" dirty="0" err="1">
                <a:latin typeface="Consolas" panose="020B0609020204030204" charset="0"/>
              </a:rPr>
              <a:t>查找所有单词</a:t>
            </a:r>
            <a:endParaRPr lang="en-US" altLang="zh-CN" sz="1400" dirty="0">
              <a:latin typeface="Consolas" panose="020B0609020204030204" charset="0"/>
            </a:endParaRPr>
          </a:p>
          <a:p>
            <a:pPr>
              <a:spcBef>
                <a:spcPct val="0"/>
              </a:spcBef>
              <a:buSzPct val="70000"/>
              <a:buNone/>
            </a:pPr>
            <a:r>
              <a:rPr lang="en-US" altLang="zh-CN" sz="1400" dirty="0">
                <a:solidFill>
                  <a:srgbClr val="0000FF"/>
                </a:solidFill>
                <a:latin typeface="Consolas" panose="020B0609020204030204" charset="0"/>
              </a:rPr>
              <a:t>['alpha', 'beta', 'gamma', 'delta']</a:t>
            </a:r>
          </a:p>
          <a:p>
            <a:pPr>
              <a:spcBef>
                <a:spcPct val="0"/>
              </a:spcBef>
              <a:buSzPct val="70000"/>
              <a:buNone/>
            </a:pPr>
            <a:endParaRPr lang="en-US" altLang="zh-CN" sz="1400" dirty="0">
              <a:solidFill>
                <a:srgbClr val="0000FF"/>
              </a:solidFill>
              <a:latin typeface="Consolas" panose="020B0609020204030204" charset="0"/>
            </a:endParaRPr>
          </a:p>
          <a:p>
            <a:pPr>
              <a:spcBef>
                <a:spcPct val="0"/>
              </a:spcBef>
              <a:buClr>
                <a:srgbClr val="FF0000"/>
              </a:buClr>
              <a:buSzPct val="70000"/>
              <a:buFont typeface="Wingdings" panose="05000000000000000000" pitchFamily="2" charset="2"/>
              <a:buChar char="n"/>
            </a:pPr>
            <a:r>
              <a:rPr lang="zh-CN" altLang="en-US" sz="1600" dirty="0">
                <a:latin typeface="Consolas" panose="020B0609020204030204" charset="0"/>
              </a:rPr>
              <a:t>把单词中间误写作大写的字母改为小写：</a:t>
            </a:r>
          </a:p>
          <a:p>
            <a:pPr>
              <a:spcBef>
                <a:spcPct val="0"/>
              </a:spcBef>
              <a:buSzPct val="70000"/>
              <a:buNone/>
            </a:pPr>
            <a:r>
              <a:rPr lang="zh-CN" altLang="en-US" sz="1400" dirty="0">
                <a:latin typeface="Consolas" panose="020B0609020204030204" charset="0"/>
              </a:rPr>
              <a:t>import re</a:t>
            </a:r>
          </a:p>
          <a:p>
            <a:pPr>
              <a:spcBef>
                <a:spcPct val="0"/>
              </a:spcBef>
              <a:buSzPct val="70000"/>
              <a:buNone/>
            </a:pPr>
            <a:r>
              <a:rPr lang="zh-CN" altLang="en-US" sz="1400" dirty="0">
                <a:latin typeface="Consolas" panose="020B0609020204030204" charset="0"/>
              </a:rPr>
              <a:t>def checkModify(s):</a:t>
            </a:r>
          </a:p>
          <a:p>
            <a:pPr>
              <a:spcBef>
                <a:spcPct val="0"/>
              </a:spcBef>
              <a:buSzPct val="70000"/>
              <a:buNone/>
            </a:pPr>
            <a:r>
              <a:rPr lang="zh-CN" altLang="en-US" sz="1400" dirty="0">
                <a:latin typeface="Consolas" panose="020B0609020204030204" charset="0"/>
              </a:rPr>
              <a:t>    return re.sub(r'\b(\w)(\w+)(\w)\b',</a:t>
            </a:r>
          </a:p>
          <a:p>
            <a:pPr>
              <a:spcBef>
                <a:spcPct val="0"/>
              </a:spcBef>
              <a:buSzPct val="70000"/>
              <a:buNone/>
            </a:pPr>
            <a:r>
              <a:rPr lang="zh-CN" altLang="en-US" sz="1400" dirty="0">
                <a:latin typeface="Consolas" panose="020B0609020204030204" charset="0"/>
              </a:rPr>
              <a:t>                  lambda x: x.group(1)+x.group(2).lower()+x.group(3),</a:t>
            </a:r>
          </a:p>
          <a:p>
            <a:pPr>
              <a:spcBef>
                <a:spcPct val="0"/>
              </a:spcBef>
              <a:buSzPct val="70000"/>
              <a:buNone/>
            </a:pPr>
            <a:r>
              <a:rPr lang="zh-CN" altLang="en-US" sz="1400" dirty="0">
                <a:latin typeface="Consolas" panose="020B0609020204030204" charset="0"/>
              </a:rPr>
              <a:t>                  s)</a:t>
            </a:r>
          </a:p>
          <a:p>
            <a:pPr>
              <a:spcBef>
                <a:spcPct val="0"/>
              </a:spcBef>
              <a:buSzPct val="70000"/>
              <a:buNone/>
            </a:pPr>
            <a:r>
              <a:rPr lang="zh-CN" altLang="en-US" sz="1400" dirty="0">
                <a:latin typeface="Consolas" panose="020B0609020204030204" charset="0"/>
              </a:rPr>
              <a:t>print(checkModify('aBc ABBC D eeee fFFFfF'))</a:t>
            </a:r>
          </a:p>
        </p:txBody>
      </p:sp>
      <p:sp>
        <p:nvSpPr>
          <p:cNvPr id="118787"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77</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4.3.2 re</a:t>
            </a:r>
            <a:r>
              <a:rPr lang="zh-CN" altLang="en-US" sz="2800" b="1" dirty="0">
                <a:latin typeface="Times New Roman" panose="02020603050405020304" pitchFamily="18" charset="0"/>
                <a:ea typeface="仿宋" panose="02010609060101010101" pitchFamily="49" charset="-122"/>
              </a:rPr>
              <a:t>模块的主要方法与使用</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2" name="矩形 1"/>
          <p:cNvSpPr/>
          <p:nvPr/>
        </p:nvSpPr>
        <p:spPr>
          <a:xfrm>
            <a:off x="908091" y="5764614"/>
            <a:ext cx="2502032" cy="369332"/>
          </a:xfrm>
          <a:prstGeom prst="rect">
            <a:avLst/>
          </a:prstGeom>
        </p:spPr>
        <p:txBody>
          <a:bodyPr wrap="none">
            <a:spAutoFit/>
          </a:bodyPr>
          <a:lstStyle/>
          <a:p>
            <a:r>
              <a:rPr lang="zh-CN" altLang="en-US" dirty="0">
                <a:solidFill>
                  <a:srgbClr val="0000FF"/>
                </a:solidFill>
              </a:rPr>
              <a:t>abc AbbC D eeee fffffF</a:t>
            </a:r>
          </a:p>
        </p:txBody>
      </p:sp>
      <p:pic>
        <p:nvPicPr>
          <p:cNvPr id="14" name="图片 13"/>
          <p:cNvPicPr>
            <a:picLocks noChangeAspect="1"/>
          </p:cNvPicPr>
          <p:nvPr/>
        </p:nvPicPr>
        <p:blipFill>
          <a:blip r:embed="rId3"/>
          <a:stretch>
            <a:fillRect/>
          </a:stretch>
        </p:blipFill>
        <p:spPr>
          <a:xfrm>
            <a:off x="5148064" y="4096865"/>
            <a:ext cx="3154686" cy="652273"/>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8786">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878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8786">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8786">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8786">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8786">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8786">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8786">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8786">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8786">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8786">
                                            <p:txEl>
                                              <p:pRg st="10" end="1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18786">
                                            <p:txEl>
                                              <p:pRg st="12" end="12"/>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18786">
                                            <p:txEl>
                                              <p:pRg st="13" end="13"/>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18786">
                                            <p:txEl>
                                              <p:pRg st="14" end="14"/>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18786">
                                            <p:txEl>
                                              <p:pRg st="15" end="15"/>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18786">
                                            <p:txEl>
                                              <p:pRg st="16" end="16"/>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18786">
                                            <p:txEl>
                                              <p:pRg st="17" end="17"/>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18786">
                                            <p:txEl>
                                              <p:pRg st="18" end="18"/>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2"/>
                                        </p:tgtEl>
                                        <p:attrNameLst>
                                          <p:attrName>style.visibility</p:attrName>
                                        </p:attrNameLst>
                                      </p:cBhvr>
                                      <p:to>
                                        <p:strVal val="visible"/>
                                      </p:to>
                                    </p:set>
                                    <p:anim calcmode="lin" valueType="num">
                                      <p:cBhvr additive="base">
                                        <p:cTn id="85" dur="500" fill="hold"/>
                                        <p:tgtEl>
                                          <p:spTgt spid="2"/>
                                        </p:tgtEl>
                                        <p:attrNameLst>
                                          <p:attrName>ppt_x</p:attrName>
                                        </p:attrNameLst>
                                      </p:cBhvr>
                                      <p:tavLst>
                                        <p:tav tm="0">
                                          <p:val>
                                            <p:strVal val="#ppt_x"/>
                                          </p:val>
                                        </p:tav>
                                        <p:tav tm="100000">
                                          <p:val>
                                            <p:strVal val="#ppt_x"/>
                                          </p:val>
                                        </p:tav>
                                      </p:tavLst>
                                    </p:anim>
                                    <p:anim calcmode="lin" valueType="num">
                                      <p:cBhvr additive="base">
                                        <p:cTn id="8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uiExpand="1" build="p"/>
      <p:bldP spid="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9978" y="1431940"/>
            <a:ext cx="8346518" cy="3395345"/>
          </a:xfrm>
        </p:spPr>
        <p:txBody>
          <a:bodyPr/>
          <a:lstStyle/>
          <a:p>
            <a:pPr>
              <a:lnSpc>
                <a:spcPct val="150000"/>
              </a:lnSpc>
              <a:spcBef>
                <a:spcPts val="0"/>
              </a:spcBef>
              <a:buClr>
                <a:srgbClr val="FF0000"/>
              </a:buClr>
              <a:buFont typeface="Wingdings" panose="05000000000000000000" pitchFamily="2" charset="2"/>
              <a:buChar char="n"/>
            </a:pPr>
            <a:r>
              <a:rPr lang="en-US" sz="2000" noProof="1"/>
              <a:t>正则表达式对象的split(string[, maxsplit = 0])方法用来实现字符串分隔</a:t>
            </a:r>
            <a:endParaRPr lang="en-US" sz="1800" noProof="1"/>
          </a:p>
        </p:txBody>
      </p:sp>
      <p:sp>
        <p:nvSpPr>
          <p:cNvPr id="135171"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78</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4.3.3 </a:t>
            </a:r>
            <a:r>
              <a:rPr lang="zh-CN" altLang="en-US" sz="2800" b="1" dirty="0">
                <a:latin typeface="Times New Roman" panose="02020603050405020304" pitchFamily="18" charset="0"/>
                <a:ea typeface="仿宋" panose="02010609060101010101" pitchFamily="49" charset="-122"/>
              </a:rPr>
              <a:t>使用正则表达式对象</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4" name="矩形 3"/>
          <p:cNvSpPr/>
          <p:nvPr/>
        </p:nvSpPr>
        <p:spPr>
          <a:xfrm>
            <a:off x="287524" y="2132856"/>
            <a:ext cx="9433048" cy="3285515"/>
          </a:xfrm>
          <a:prstGeom prst="rect">
            <a:avLst/>
          </a:prstGeom>
        </p:spPr>
        <p:txBody>
          <a:bodyPr wrap="square">
            <a:spAutoFit/>
          </a:bodyPr>
          <a:lstStyle/>
          <a:p>
            <a:pPr marL="0" indent="0">
              <a:spcBef>
                <a:spcPts val="300"/>
              </a:spcBef>
              <a:buNone/>
            </a:pPr>
            <a:r>
              <a:rPr lang="en-US" altLang="zh-CN" sz="1500" noProof="1">
                <a:latin typeface="Consolas" panose="020B0609020204030204" charset="0"/>
              </a:rPr>
              <a:t>&gt;&gt;&gt; example = r'one,two,three.four/five\six?seven[eight]nine|ten'</a:t>
            </a:r>
          </a:p>
          <a:p>
            <a:pPr marL="0" indent="0">
              <a:spcBef>
                <a:spcPts val="300"/>
              </a:spcBef>
              <a:buNone/>
            </a:pPr>
            <a:r>
              <a:rPr lang="en-US" altLang="zh-CN" sz="1500" noProof="1">
                <a:latin typeface="Consolas" panose="020B0609020204030204" charset="0"/>
              </a:rPr>
              <a:t>&gt;&gt;&gt; pattern = re.compile(r'[,./\\?[\]\|]') </a:t>
            </a:r>
          </a:p>
          <a:p>
            <a:pPr marL="0" indent="0">
              <a:spcBef>
                <a:spcPts val="300"/>
              </a:spcBef>
              <a:buNone/>
            </a:pPr>
            <a:r>
              <a:rPr lang="en-US" altLang="zh-CN" sz="1500" noProof="1">
                <a:latin typeface="Consolas" panose="020B0609020204030204" charset="0"/>
              </a:rPr>
              <a:t>&gt;&gt;&gt; pattern.split(example)</a:t>
            </a:r>
          </a:p>
          <a:p>
            <a:pPr marL="0" indent="0">
              <a:spcBef>
                <a:spcPts val="300"/>
              </a:spcBef>
              <a:buNone/>
            </a:pPr>
            <a:r>
              <a:rPr lang="en-US" altLang="zh-CN" sz="1500" noProof="1">
                <a:solidFill>
                  <a:srgbClr val="0000FF"/>
                </a:solidFill>
                <a:latin typeface="Consolas" panose="020B0609020204030204" charset="0"/>
              </a:rPr>
              <a:t>['one', 'two', 'three', 'four', 'five', 'six', 'seven', 'eight', 'nine', 'ten']</a:t>
            </a:r>
          </a:p>
          <a:p>
            <a:pPr marL="0" indent="0">
              <a:spcBef>
                <a:spcPts val="300"/>
              </a:spcBef>
              <a:buNone/>
            </a:pPr>
            <a:r>
              <a:rPr lang="en-US" altLang="zh-CN" sz="1500" noProof="1">
                <a:latin typeface="Consolas" panose="020B0609020204030204" charset="0"/>
              </a:rPr>
              <a:t>&gt;&gt;&gt; example = r'one1two2three3four4five5six6seven7eight8nine9ten'</a:t>
            </a:r>
          </a:p>
          <a:p>
            <a:pPr marL="0" indent="0">
              <a:spcBef>
                <a:spcPts val="300"/>
              </a:spcBef>
              <a:buNone/>
            </a:pPr>
            <a:r>
              <a:rPr lang="en-US" altLang="zh-CN" sz="1500" noProof="1">
                <a:latin typeface="Consolas" panose="020B0609020204030204" charset="0"/>
              </a:rPr>
              <a:t>&gt;&gt;&gt; pattern = re.compile(r'\d+')</a:t>
            </a:r>
          </a:p>
          <a:p>
            <a:pPr marL="0" indent="0">
              <a:spcBef>
                <a:spcPts val="300"/>
              </a:spcBef>
              <a:buNone/>
            </a:pPr>
            <a:r>
              <a:rPr lang="en-US" altLang="zh-CN" sz="1500" noProof="1">
                <a:latin typeface="Consolas" panose="020B0609020204030204" charset="0"/>
              </a:rPr>
              <a:t>&gt;&gt;&gt; pattern.split(example)</a:t>
            </a:r>
          </a:p>
          <a:p>
            <a:pPr marL="0" indent="0">
              <a:spcBef>
                <a:spcPts val="300"/>
              </a:spcBef>
              <a:buNone/>
            </a:pPr>
            <a:r>
              <a:rPr lang="en-US" altLang="zh-CN" sz="1500" noProof="1">
                <a:solidFill>
                  <a:srgbClr val="0000FF"/>
                </a:solidFill>
                <a:latin typeface="Consolas" panose="020B0609020204030204" charset="0"/>
              </a:rPr>
              <a:t>['one', 'two', 'three', 'four', 'five', 'six', 'seven', 'eight', 'nine', 'ten']</a:t>
            </a:r>
          </a:p>
          <a:p>
            <a:pPr marL="0" indent="0">
              <a:spcBef>
                <a:spcPts val="300"/>
              </a:spcBef>
              <a:buNone/>
            </a:pPr>
            <a:r>
              <a:rPr lang="en-US" altLang="zh-CN" sz="1500" noProof="1">
                <a:latin typeface="Consolas" panose="020B0609020204030204" charset="0"/>
              </a:rPr>
              <a:t>&gt;&gt;&gt; example = r'one two    three  four,five.six.seven,eight,nine9ten'</a:t>
            </a:r>
          </a:p>
          <a:p>
            <a:pPr marL="0" indent="0">
              <a:spcBef>
                <a:spcPts val="300"/>
              </a:spcBef>
              <a:buNone/>
            </a:pPr>
            <a:r>
              <a:rPr lang="en-US" altLang="zh-CN" sz="1500" noProof="1">
                <a:latin typeface="Consolas" panose="020B0609020204030204" charset="0"/>
              </a:rPr>
              <a:t>&gt;&gt;&gt; pattern = re.compile(r'[\s,.\d]+')         #允许分隔符重复</a:t>
            </a:r>
          </a:p>
          <a:p>
            <a:pPr marL="0" indent="0">
              <a:spcBef>
                <a:spcPts val="300"/>
              </a:spcBef>
              <a:buNone/>
            </a:pPr>
            <a:r>
              <a:rPr lang="en-US" altLang="zh-CN" sz="1500" noProof="1">
                <a:latin typeface="Consolas" panose="020B0609020204030204" charset="0"/>
              </a:rPr>
              <a:t>&gt;&gt;&gt; pattern.split(example)</a:t>
            </a:r>
          </a:p>
          <a:p>
            <a:pPr marL="0" indent="0">
              <a:spcBef>
                <a:spcPts val="300"/>
              </a:spcBef>
              <a:buNone/>
            </a:pPr>
            <a:r>
              <a:rPr lang="en-US" altLang="zh-CN" sz="1500" noProof="1">
                <a:solidFill>
                  <a:srgbClr val="0000FF"/>
                </a:solidFill>
                <a:latin typeface="Consolas" panose="020B0609020204030204" charset="0"/>
              </a:rPr>
              <a:t>['one', 'two', 'three', 'four', 'five', 'six', 'seven', 'eight', 'nine', 'ten']</a:t>
            </a:r>
          </a:p>
        </p:txBody>
      </p:sp>
    </p:spTree>
    <p:extLst>
      <p:ext uri="{BB962C8B-B14F-4D97-AF65-F5344CB8AC3E}">
        <p14:creationId xmlns:p14="http://schemas.microsoft.com/office/powerpoint/2010/main" val="1720556939"/>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8959" y="1602646"/>
            <a:ext cx="8058150" cy="3395345"/>
          </a:xfrm>
        </p:spPr>
        <p:txBody>
          <a:bodyPr/>
          <a:lstStyle/>
          <a:p>
            <a:pPr>
              <a:spcBef>
                <a:spcPts val="600"/>
              </a:spcBef>
              <a:buClr>
                <a:srgbClr val="FF0000"/>
              </a:buClr>
              <a:buFont typeface="Wingdings" panose="05000000000000000000" pitchFamily="2" charset="2"/>
              <a:buChar char="ü"/>
            </a:pPr>
            <a:r>
              <a:rPr lang="zh-CN" altLang="en-US" sz="2000" b="1" noProof="1"/>
              <a:t>应用：</a:t>
            </a:r>
            <a:r>
              <a:rPr lang="zh-CN" altLang="en-US" sz="2000" noProof="1"/>
              <a:t>将一句话的单词进行倒置，标点不倒置。比如 I like </a:t>
            </a:r>
            <a:r>
              <a:rPr lang="en-US" altLang="zh-CN" sz="2000" noProof="1"/>
              <a:t>python</a:t>
            </a:r>
            <a:r>
              <a:rPr lang="zh-CN" altLang="en-US" sz="2000" noProof="1"/>
              <a:t>. 经过函数后变为：</a:t>
            </a:r>
            <a:r>
              <a:rPr lang="en-US" altLang="zh-CN" sz="2000" noProof="1"/>
              <a:t>python</a:t>
            </a:r>
            <a:r>
              <a:rPr lang="zh-CN" altLang="en-US" sz="2000" noProof="1"/>
              <a:t>. like I</a:t>
            </a:r>
            <a:endParaRPr lang="en-US" altLang="zh-CN" sz="2000" noProof="1"/>
          </a:p>
          <a:p>
            <a:pPr>
              <a:spcBef>
                <a:spcPts val="600"/>
              </a:spcBef>
              <a:buClr>
                <a:srgbClr val="FF0000"/>
              </a:buClr>
              <a:buFont typeface="Wingdings" panose="05000000000000000000" pitchFamily="2" charset="2"/>
              <a:buChar char="ü"/>
            </a:pPr>
            <a:endParaRPr lang="zh-CN" altLang="en-US" sz="2000" noProof="1"/>
          </a:p>
          <a:p>
            <a:pPr marL="0" indent="0">
              <a:spcBef>
                <a:spcPts val="0"/>
              </a:spcBef>
              <a:buNone/>
            </a:pPr>
            <a:r>
              <a:rPr lang="zh-CN" altLang="en-US" sz="1350" noProof="1">
                <a:latin typeface="Consolas" panose="020B0609020204030204" charset="0"/>
              </a:rPr>
              <a:t>    import re</a:t>
            </a:r>
            <a:endParaRPr lang="en-US" altLang="zh-CN" sz="1350" noProof="1">
              <a:latin typeface="Consolas" panose="020B0609020204030204" charset="0"/>
            </a:endParaRPr>
          </a:p>
          <a:p>
            <a:pPr marL="0" indent="0">
              <a:spcBef>
                <a:spcPts val="0"/>
              </a:spcBef>
              <a:buNone/>
            </a:pPr>
            <a:r>
              <a:rPr lang="en-US" altLang="zh-CN" sz="1350" noProof="1">
                <a:latin typeface="Consolas" panose="020B0609020204030204" charset="0"/>
              </a:rPr>
              <a:t>    s = “I like Python”</a:t>
            </a:r>
            <a:endParaRPr lang="zh-CN" altLang="en-US" sz="1350" noProof="1">
              <a:latin typeface="Consolas" panose="020B0609020204030204" charset="0"/>
            </a:endParaRPr>
          </a:p>
          <a:p>
            <a:pPr marL="0" indent="0">
              <a:spcBef>
                <a:spcPts val="0"/>
              </a:spcBef>
              <a:buNone/>
            </a:pPr>
            <a:r>
              <a:rPr lang="zh-CN" altLang="en-US" sz="1350" noProof="1">
                <a:latin typeface="Consolas" panose="020B0609020204030204" charset="0"/>
              </a:rPr>
              <a:t>    t = re.split(‘\s+’, s.strip()) </a:t>
            </a:r>
            <a:r>
              <a:rPr lang="en-US" altLang="zh-CN" sz="1350" noProof="1">
                <a:latin typeface="Consolas" panose="020B0609020204030204" charset="0"/>
              </a:rPr>
              <a:t>#</a:t>
            </a:r>
            <a:r>
              <a:rPr lang="zh-CN" altLang="en-US" sz="1350" noProof="1">
                <a:latin typeface="Consolas" panose="020B0609020204030204" charset="0"/>
              </a:rPr>
              <a:t> '''考虑开头或结束有空格的情况'''</a:t>
            </a:r>
          </a:p>
          <a:p>
            <a:pPr marL="0" indent="0">
              <a:spcBef>
                <a:spcPts val="0"/>
              </a:spcBef>
              <a:buNone/>
            </a:pPr>
            <a:r>
              <a:rPr lang="zh-CN" altLang="en-US" sz="1350" noProof="1">
                <a:latin typeface="Consolas" panose="020B0609020204030204" charset="0"/>
              </a:rPr>
              <a:t>    t.reverse()</a:t>
            </a:r>
          </a:p>
          <a:p>
            <a:pPr marL="0" indent="0">
              <a:spcBef>
                <a:spcPts val="0"/>
              </a:spcBef>
              <a:buNone/>
            </a:pPr>
            <a:r>
              <a:rPr lang="zh-CN" altLang="en-US" sz="1350" noProof="1">
                <a:latin typeface="Consolas" panose="020B0609020204030204" charset="0"/>
              </a:rPr>
              <a:t>    </a:t>
            </a:r>
            <a:r>
              <a:rPr lang="en-US" altLang="zh-CN" sz="1350" noProof="1">
                <a:latin typeface="Consolas" panose="020B0609020204030204" charset="0"/>
              </a:rPr>
              <a:t>print(</a:t>
            </a:r>
            <a:r>
              <a:rPr lang="zh-CN" altLang="en-US" sz="1350" noProof="1">
                <a:latin typeface="Consolas" panose="020B0609020204030204" charset="0"/>
              </a:rPr>
              <a:t>' '.join(t)</a:t>
            </a:r>
            <a:r>
              <a:rPr lang="en-US" altLang="zh-CN" sz="1350" noProof="1">
                <a:latin typeface="Consolas" panose="020B0609020204030204" charset="0"/>
              </a:rPr>
              <a:t>)</a:t>
            </a:r>
            <a:endParaRPr lang="zh-CN" altLang="en-US" sz="1350" noProof="1">
              <a:latin typeface="Consolas" panose="020B0609020204030204" charset="0"/>
            </a:endParaRPr>
          </a:p>
          <a:p>
            <a:pPr marL="0" indent="0">
              <a:spcBef>
                <a:spcPts val="0"/>
              </a:spcBef>
              <a:buNone/>
            </a:pPr>
            <a:endParaRPr lang="zh-CN" altLang="en-US" sz="1350" noProof="1">
              <a:latin typeface="Consolas" panose="020B0609020204030204" charset="0"/>
            </a:endParaRPr>
          </a:p>
          <a:p>
            <a:pPr marL="0" indent="0">
              <a:spcBef>
                <a:spcPts val="0"/>
              </a:spcBef>
              <a:buNone/>
            </a:pPr>
            <a:r>
              <a:rPr lang="zh-CN" altLang="en-US" sz="1350" noProof="1">
                <a:latin typeface="Consolas" panose="020B0609020204030204" charset="0"/>
              </a:rPr>
              <a:t>    import re</a:t>
            </a:r>
            <a:endParaRPr lang="en-US" altLang="zh-CN" sz="1350" noProof="1">
              <a:latin typeface="Consolas" panose="020B0609020204030204" charset="0"/>
            </a:endParaRPr>
          </a:p>
          <a:p>
            <a:pPr marL="0" indent="0">
              <a:spcBef>
                <a:spcPts val="0"/>
              </a:spcBef>
              <a:buNone/>
            </a:pPr>
            <a:r>
              <a:rPr lang="en-US" altLang="zh-CN" sz="1350" noProof="1">
                <a:latin typeface="Consolas" panose="020B0609020204030204" charset="0"/>
              </a:rPr>
              <a:t>    s = “I like Python”</a:t>
            </a:r>
            <a:endParaRPr lang="zh-CN" altLang="en-US" sz="1350" noProof="1">
              <a:latin typeface="Consolas" panose="020B0609020204030204" charset="0"/>
            </a:endParaRPr>
          </a:p>
          <a:p>
            <a:pPr marL="0" indent="0">
              <a:spcBef>
                <a:spcPts val="0"/>
              </a:spcBef>
              <a:buNone/>
            </a:pPr>
            <a:r>
              <a:rPr lang="zh-CN" altLang="en-US" sz="1350" noProof="1">
                <a:latin typeface="Consolas" panose="020B0609020204030204" charset="0"/>
              </a:rPr>
              <a:t>    t = re.split('\s+', s.strip())</a:t>
            </a:r>
          </a:p>
          <a:p>
            <a:pPr marL="0" indent="0">
              <a:spcBef>
                <a:spcPts val="0"/>
              </a:spcBef>
              <a:buNone/>
            </a:pPr>
            <a:r>
              <a:rPr lang="zh-CN" altLang="en-US" sz="1350" noProof="1">
                <a:latin typeface="Consolas" panose="020B0609020204030204" charset="0"/>
              </a:rPr>
              <a:t>    </a:t>
            </a:r>
            <a:r>
              <a:rPr lang="en-US" altLang="zh-CN" sz="1350" noProof="1">
                <a:latin typeface="Consolas" panose="020B0609020204030204" charset="0"/>
              </a:rPr>
              <a:t>print(</a:t>
            </a:r>
            <a:r>
              <a:rPr lang="zh-CN" altLang="en-US" sz="1350" noProof="1">
                <a:latin typeface="Consolas" panose="020B0609020204030204" charset="0"/>
              </a:rPr>
              <a:t>' '.join(reversed(t))</a:t>
            </a:r>
            <a:r>
              <a:rPr lang="en-US" altLang="zh-CN" sz="1350" noProof="1">
                <a:latin typeface="Consolas" panose="020B0609020204030204" charset="0"/>
              </a:rPr>
              <a:t>)</a:t>
            </a:r>
            <a:endParaRPr lang="zh-CN" altLang="en-US" sz="1350" noProof="1">
              <a:latin typeface="Consolas" panose="020B0609020204030204" charset="0"/>
            </a:endParaRPr>
          </a:p>
        </p:txBody>
      </p:sp>
      <p:sp>
        <p:nvSpPr>
          <p:cNvPr id="123907"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79</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4.3.2 re</a:t>
            </a:r>
            <a:r>
              <a:rPr lang="zh-CN" altLang="en-US" sz="2800" b="1" dirty="0">
                <a:latin typeface="Times New Roman" panose="02020603050405020304" pitchFamily="18" charset="0"/>
                <a:ea typeface="仿宋" panose="02010609060101010101" pitchFamily="49" charset="-122"/>
              </a:rPr>
              <a:t>模块的主要方法与使用</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Tree>
    <p:extLst>
      <p:ext uri="{BB962C8B-B14F-4D97-AF65-F5344CB8AC3E}">
        <p14:creationId xmlns:p14="http://schemas.microsoft.com/office/powerpoint/2010/main" val="1086995174"/>
      </p:ext>
    </p:extLst>
  </p:cSld>
  <p:clrMapOvr>
    <a:masterClrMapping/>
  </p:clrMapOvr>
  <p:transition spd="slow" advClick="0">
    <p:pull dir="d"/>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fontAlgn="base">
              <a:buClr>
                <a:srgbClr val="FF0000"/>
              </a:buClr>
              <a:buFont typeface="Wingdings" panose="05000000000000000000" pitchFamily="2" charset="2"/>
              <a:buChar char="ü"/>
            </a:pPr>
            <a:r>
              <a:rPr lang="zh-CN" altLang="en-US" sz="2400" b="1" noProof="1"/>
              <a:t>应用：</a:t>
            </a:r>
            <a:r>
              <a:rPr lang="zh-CN" altLang="en-US" sz="2400" noProof="1"/>
              <a:t>查找字符串中最长的数字子串</a:t>
            </a:r>
            <a:endParaRPr lang="en-US" altLang="zh-CN" sz="2400" noProof="1"/>
          </a:p>
          <a:p>
            <a:pPr marL="0" indent="0">
              <a:spcBef>
                <a:spcPts val="0"/>
              </a:spcBef>
              <a:buNone/>
            </a:pPr>
            <a:endParaRPr lang="en-US" altLang="zh-CN" sz="1350" noProof="1">
              <a:latin typeface="Consolas" panose="020B0609020204030204" charset="0"/>
            </a:endParaRPr>
          </a:p>
          <a:p>
            <a:pPr marL="0" indent="0">
              <a:spcBef>
                <a:spcPts val="0"/>
              </a:spcBef>
              <a:buNone/>
            </a:pPr>
            <a:r>
              <a:rPr lang="zh-CN" altLang="en-US" sz="1350" noProof="1">
                <a:latin typeface="Consolas" panose="020B0609020204030204" charset="0"/>
              </a:rPr>
              <a:t>    </a:t>
            </a:r>
          </a:p>
        </p:txBody>
      </p:sp>
      <p:sp>
        <p:nvSpPr>
          <p:cNvPr id="124931"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80</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4.3.2 re</a:t>
            </a:r>
            <a:r>
              <a:rPr lang="zh-CN" altLang="en-US" sz="2800" b="1" dirty="0">
                <a:latin typeface="Times New Roman" panose="02020603050405020304" pitchFamily="18" charset="0"/>
                <a:ea typeface="仿宋" panose="02010609060101010101" pitchFamily="49" charset="-122"/>
              </a:rPr>
              <a:t>模块的主要方法与使用</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4" name="矩形 3"/>
          <p:cNvSpPr/>
          <p:nvPr/>
        </p:nvSpPr>
        <p:spPr>
          <a:xfrm>
            <a:off x="4572000" y="1974047"/>
            <a:ext cx="4572000" cy="2031325"/>
          </a:xfrm>
          <a:prstGeom prst="rect">
            <a:avLst/>
          </a:prstGeom>
        </p:spPr>
        <p:txBody>
          <a:bodyPr>
            <a:spAutoFit/>
          </a:bodyPr>
          <a:lstStyle/>
          <a:p>
            <a:pPr marL="0" indent="0">
              <a:spcBef>
                <a:spcPts val="0"/>
              </a:spcBef>
              <a:buNone/>
            </a:pPr>
            <a:r>
              <a:rPr lang="zh-CN" altLang="en-US" noProof="1">
                <a:latin typeface="Consolas" panose="020B0609020204030204" charset="0"/>
              </a:rPr>
              <a:t> '''使用非数字作为分隔符'''</a:t>
            </a:r>
          </a:p>
          <a:p>
            <a:pPr marL="0" indent="0">
              <a:spcBef>
                <a:spcPts val="0"/>
              </a:spcBef>
              <a:buNone/>
            </a:pPr>
            <a:r>
              <a:rPr lang="zh-CN" altLang="en-US" noProof="1">
                <a:latin typeface="Consolas" panose="020B0609020204030204" charset="0"/>
              </a:rPr>
              <a:t>    import re</a:t>
            </a:r>
            <a:endParaRPr lang="en-US" altLang="zh-CN" noProof="1">
              <a:latin typeface="Consolas" panose="020B0609020204030204" charset="0"/>
            </a:endParaRPr>
          </a:p>
          <a:p>
            <a:pPr marL="0" indent="0">
              <a:spcBef>
                <a:spcPts val="0"/>
              </a:spcBef>
              <a:buNone/>
            </a:pPr>
            <a:r>
              <a:rPr lang="en-US" altLang="zh-CN" noProof="1">
                <a:latin typeface="Consolas" panose="020B0609020204030204" charset="0"/>
              </a:rPr>
              <a:t>    s = input(“str:”)</a:t>
            </a:r>
            <a:endParaRPr lang="zh-CN" altLang="en-US" noProof="1">
              <a:latin typeface="Consolas" panose="020B0609020204030204" charset="0"/>
            </a:endParaRPr>
          </a:p>
          <a:p>
            <a:pPr marL="0" indent="0">
              <a:spcBef>
                <a:spcPts val="0"/>
              </a:spcBef>
              <a:buNone/>
            </a:pPr>
            <a:r>
              <a:rPr lang="zh-CN" altLang="en-US" noProof="1">
                <a:latin typeface="Consolas" panose="020B0609020204030204" charset="0"/>
              </a:rPr>
              <a:t>    </a:t>
            </a:r>
            <a:r>
              <a:rPr lang="zh-CN" altLang="en-US" noProof="1">
                <a:solidFill>
                  <a:srgbClr val="0000FF"/>
                </a:solidFill>
                <a:latin typeface="Consolas" panose="020B0609020204030204" charset="0"/>
              </a:rPr>
              <a:t>t </a:t>
            </a:r>
            <a:r>
              <a:rPr lang="zh-CN" altLang="en-US" noProof="1">
                <a:latin typeface="Consolas" panose="020B0609020204030204" charset="0"/>
              </a:rPr>
              <a:t>= re.split('[^\d]+', s)</a:t>
            </a:r>
          </a:p>
          <a:p>
            <a:pPr marL="0" indent="0">
              <a:spcBef>
                <a:spcPts val="0"/>
              </a:spcBef>
              <a:buNone/>
            </a:pPr>
            <a:r>
              <a:rPr lang="zh-CN" altLang="en-US" noProof="1">
                <a:latin typeface="Consolas" panose="020B0609020204030204" charset="0"/>
              </a:rPr>
              <a:t>    if t:</a:t>
            </a:r>
          </a:p>
          <a:p>
            <a:pPr marL="0" indent="0">
              <a:spcBef>
                <a:spcPts val="0"/>
              </a:spcBef>
              <a:buNone/>
            </a:pPr>
            <a:r>
              <a:rPr lang="zh-CN" altLang="en-US" noProof="1">
                <a:latin typeface="Consolas" panose="020B0609020204030204" charset="0"/>
              </a:rPr>
              <a:t>        </a:t>
            </a:r>
            <a:r>
              <a:rPr lang="en-US" altLang="zh-CN" noProof="1">
                <a:latin typeface="Consolas" panose="020B0609020204030204" charset="0"/>
              </a:rPr>
              <a:t>print(</a:t>
            </a:r>
            <a:r>
              <a:rPr lang="zh-CN" altLang="en-US" noProof="1">
                <a:latin typeface="Consolas" panose="020B0609020204030204" charset="0"/>
              </a:rPr>
              <a:t>max(t, key=len)</a:t>
            </a:r>
            <a:r>
              <a:rPr lang="en-US" altLang="zh-CN" noProof="1">
                <a:latin typeface="Consolas" panose="020B0609020204030204" charset="0"/>
              </a:rPr>
              <a:t>)</a:t>
            </a:r>
            <a:endParaRPr lang="zh-CN" altLang="en-US" noProof="1">
              <a:latin typeface="Consolas" panose="020B0609020204030204" charset="0"/>
            </a:endParaRPr>
          </a:p>
          <a:p>
            <a:pPr marL="0" indent="0">
              <a:spcBef>
                <a:spcPts val="0"/>
              </a:spcBef>
              <a:buNone/>
            </a:pPr>
            <a:r>
              <a:rPr lang="zh-CN" altLang="en-US" noProof="1">
                <a:latin typeface="Consolas" panose="020B0609020204030204" charset="0"/>
              </a:rPr>
              <a:t>    </a:t>
            </a:r>
            <a:r>
              <a:rPr lang="en-US" altLang="zh-CN" noProof="1">
                <a:latin typeface="Consolas" panose="020B0609020204030204" charset="0"/>
              </a:rPr>
              <a:t>print(</a:t>
            </a:r>
            <a:r>
              <a:rPr lang="zh-CN" altLang="en-US" noProof="1">
                <a:latin typeface="Consolas" panose="020B0609020204030204" charset="0"/>
              </a:rPr>
              <a:t>'No '</a:t>
            </a:r>
            <a:r>
              <a:rPr lang="en-US" altLang="zh-CN" noProof="1">
                <a:latin typeface="Consolas" panose="020B0609020204030204" charset="0"/>
              </a:rPr>
              <a:t>)</a:t>
            </a:r>
            <a:endParaRPr lang="zh-CN" altLang="en-US" dirty="0"/>
          </a:p>
        </p:txBody>
      </p:sp>
      <p:sp>
        <p:nvSpPr>
          <p:cNvPr id="5" name="矩形 4"/>
          <p:cNvSpPr/>
          <p:nvPr/>
        </p:nvSpPr>
        <p:spPr>
          <a:xfrm>
            <a:off x="656531" y="2230423"/>
            <a:ext cx="4572000" cy="1754326"/>
          </a:xfrm>
          <a:prstGeom prst="rect">
            <a:avLst/>
          </a:prstGeom>
        </p:spPr>
        <p:txBody>
          <a:bodyPr>
            <a:spAutoFit/>
          </a:bodyPr>
          <a:lstStyle/>
          <a:p>
            <a:pPr marL="0" indent="0">
              <a:spcBef>
                <a:spcPts val="0"/>
              </a:spcBef>
              <a:buNone/>
            </a:pPr>
            <a:r>
              <a:rPr lang="zh-CN" altLang="en-US" noProof="1">
                <a:latin typeface="Consolas" panose="020B0609020204030204" charset="0"/>
              </a:rPr>
              <a:t>import re</a:t>
            </a:r>
            <a:endParaRPr lang="en-US" altLang="zh-CN" noProof="1">
              <a:latin typeface="Consolas" panose="020B0609020204030204" charset="0"/>
            </a:endParaRPr>
          </a:p>
          <a:p>
            <a:pPr marL="0" indent="0">
              <a:spcBef>
                <a:spcPts val="0"/>
              </a:spcBef>
              <a:buNone/>
            </a:pPr>
            <a:r>
              <a:rPr lang="en-US" altLang="zh-CN" noProof="1">
                <a:latin typeface="Consolas" panose="020B0609020204030204" charset="0"/>
              </a:rPr>
              <a:t>    s = input(“str:”)</a:t>
            </a:r>
            <a:endParaRPr lang="zh-CN" altLang="en-US" noProof="1">
              <a:latin typeface="Consolas" panose="020B0609020204030204" charset="0"/>
            </a:endParaRPr>
          </a:p>
          <a:p>
            <a:pPr marL="0" indent="0">
              <a:spcBef>
                <a:spcPts val="0"/>
              </a:spcBef>
              <a:buNone/>
            </a:pPr>
            <a:r>
              <a:rPr lang="zh-CN" altLang="en-US" noProof="1">
                <a:latin typeface="Consolas" panose="020B0609020204030204" charset="0"/>
              </a:rPr>
              <a:t>    </a:t>
            </a:r>
            <a:r>
              <a:rPr lang="zh-CN" altLang="en-US" noProof="1">
                <a:solidFill>
                  <a:srgbClr val="0000FF"/>
                </a:solidFill>
                <a:latin typeface="Consolas" panose="020B0609020204030204" charset="0"/>
              </a:rPr>
              <a:t>t</a:t>
            </a:r>
            <a:r>
              <a:rPr lang="zh-CN" altLang="en-US" noProof="1">
                <a:latin typeface="Consolas" panose="020B0609020204030204" charset="0"/>
              </a:rPr>
              <a:t> = re.findall('\d+', s)</a:t>
            </a:r>
          </a:p>
          <a:p>
            <a:pPr marL="0" indent="0">
              <a:spcBef>
                <a:spcPts val="0"/>
              </a:spcBef>
              <a:buNone/>
            </a:pPr>
            <a:r>
              <a:rPr lang="zh-CN" altLang="en-US" noProof="1">
                <a:latin typeface="Consolas" panose="020B0609020204030204" charset="0"/>
              </a:rPr>
              <a:t>    if t:</a:t>
            </a:r>
          </a:p>
          <a:p>
            <a:pPr marL="0" indent="0">
              <a:spcBef>
                <a:spcPts val="0"/>
              </a:spcBef>
              <a:buNone/>
            </a:pPr>
            <a:r>
              <a:rPr lang="zh-CN" altLang="en-US" noProof="1">
                <a:latin typeface="Consolas" panose="020B0609020204030204" charset="0"/>
              </a:rPr>
              <a:t>        </a:t>
            </a:r>
            <a:r>
              <a:rPr lang="en-US" altLang="zh-CN" noProof="1">
                <a:latin typeface="Consolas" panose="020B0609020204030204" charset="0"/>
              </a:rPr>
              <a:t>print(</a:t>
            </a:r>
            <a:r>
              <a:rPr lang="zh-CN" altLang="en-US" noProof="1">
                <a:latin typeface="Consolas" panose="020B0609020204030204" charset="0"/>
              </a:rPr>
              <a:t>max(t, key=len)</a:t>
            </a:r>
            <a:r>
              <a:rPr lang="en-US" altLang="zh-CN" noProof="1">
                <a:latin typeface="Consolas" panose="020B0609020204030204" charset="0"/>
              </a:rPr>
              <a:t>)</a:t>
            </a:r>
            <a:endParaRPr lang="zh-CN" altLang="en-US" noProof="1">
              <a:latin typeface="Consolas" panose="020B0609020204030204" charset="0"/>
            </a:endParaRPr>
          </a:p>
          <a:p>
            <a:pPr marL="0" indent="0">
              <a:spcBef>
                <a:spcPts val="0"/>
              </a:spcBef>
              <a:buNone/>
            </a:pPr>
            <a:r>
              <a:rPr lang="zh-CN" altLang="en-US" noProof="1">
                <a:latin typeface="Consolas" panose="020B0609020204030204" charset="0"/>
              </a:rPr>
              <a:t>    </a:t>
            </a:r>
            <a:r>
              <a:rPr lang="en-US" altLang="zh-CN" noProof="1">
                <a:latin typeface="Consolas" panose="020B0609020204030204" charset="0"/>
              </a:rPr>
              <a:t>print(</a:t>
            </a:r>
            <a:r>
              <a:rPr lang="zh-CN" altLang="en-US" noProof="1">
                <a:latin typeface="Consolas" panose="020B0609020204030204" charset="0"/>
              </a:rPr>
              <a:t>'No '</a:t>
            </a:r>
            <a:r>
              <a:rPr lang="en-US" altLang="zh-CN" noProof="1">
                <a:latin typeface="Consolas" panose="020B0609020204030204" charset="0"/>
              </a:rPr>
              <a:t>)</a:t>
            </a:r>
            <a:endParaRPr lang="zh-CN" altLang="en-US" noProof="1">
              <a:latin typeface="Consolas" panose="020B0609020204030204" charset="0"/>
            </a:endParaRPr>
          </a:p>
        </p:txBody>
      </p:sp>
    </p:spTree>
    <p:extLst>
      <p:ext uri="{BB962C8B-B14F-4D97-AF65-F5344CB8AC3E}">
        <p14:creationId xmlns:p14="http://schemas.microsoft.com/office/powerpoint/2010/main" val="94260825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6747" y="1431940"/>
            <a:ext cx="8229600" cy="4678451"/>
          </a:xfrm>
        </p:spPr>
        <p:txBody>
          <a:bodyPr/>
          <a:lstStyle/>
          <a:p>
            <a:pPr fontAlgn="base">
              <a:buClr>
                <a:srgbClr val="FF0000"/>
              </a:buClr>
              <a:buFont typeface="Wingdings" panose="05000000000000000000" charset="0"/>
              <a:buChar char=""/>
            </a:pPr>
            <a:r>
              <a:rPr lang="en-US" sz="2400" noProof="1"/>
              <a:t>sub()、subn()</a:t>
            </a:r>
          </a:p>
          <a:p>
            <a:pPr marL="285750" indent="-285750">
              <a:lnSpc>
                <a:spcPct val="150000"/>
              </a:lnSpc>
              <a:spcBef>
                <a:spcPts val="0"/>
              </a:spcBef>
              <a:buClr>
                <a:srgbClr val="FF0000"/>
              </a:buClr>
              <a:buFont typeface="Wingdings" panose="05000000000000000000" charset="0"/>
              <a:buChar char="ü"/>
            </a:pPr>
            <a:r>
              <a:rPr lang="en-US" sz="1800" b="1" noProof="1"/>
              <a:t>正则表达式对象的sub(repl, string[, count = 0])和subn(repl, string[, count = 0])方法用来实现字符串替换功能，其中</a:t>
            </a:r>
            <a:r>
              <a:rPr lang="en-US" sz="1800" b="1" noProof="1">
                <a:solidFill>
                  <a:srgbClr val="FF0000"/>
                </a:solidFill>
              </a:rPr>
              <a:t>参数repl可以为字符串或返回字符串的可调用对象</a:t>
            </a:r>
            <a:r>
              <a:rPr lang="en-US" sz="1350" noProof="1"/>
              <a:t>。</a:t>
            </a:r>
          </a:p>
          <a:p>
            <a:pPr marL="0" indent="0">
              <a:buNone/>
            </a:pPr>
            <a:endParaRPr lang="en-US" sz="1350" noProof="1"/>
          </a:p>
          <a:p>
            <a:pPr marL="0" indent="0">
              <a:buNone/>
            </a:pPr>
            <a:r>
              <a:rPr lang="en-US" sz="1350" noProof="1">
                <a:latin typeface="Consolas" panose="020B0609020204030204" charset="0"/>
              </a:rPr>
              <a:t>&gt;&gt;&gt; example = '''</a:t>
            </a:r>
            <a:r>
              <a:rPr lang="en-US" sz="1350" noProof="1">
                <a:solidFill>
                  <a:srgbClr val="00B050"/>
                </a:solidFill>
                <a:latin typeface="Consolas" panose="020B0609020204030204" charset="0"/>
              </a:rPr>
              <a:t>Beautiful is </a:t>
            </a:r>
          </a:p>
          <a:p>
            <a:pPr marL="0" indent="0">
              <a:buNone/>
            </a:pPr>
            <a:r>
              <a:rPr lang="en-US" sz="1350" noProof="1">
                <a:solidFill>
                  <a:srgbClr val="00B050"/>
                </a:solidFill>
                <a:latin typeface="Consolas" panose="020B0609020204030204" charset="0"/>
              </a:rPr>
              <a:t>better than ugly.</a:t>
            </a:r>
          </a:p>
          <a:p>
            <a:pPr marL="0" indent="0">
              <a:buNone/>
            </a:pPr>
            <a:r>
              <a:rPr lang="en-US" sz="1350" noProof="1">
                <a:solidFill>
                  <a:srgbClr val="00B050"/>
                </a:solidFill>
                <a:latin typeface="Consolas" panose="020B0609020204030204" charset="0"/>
              </a:rPr>
              <a:t>Explicit is better than implicit.</a:t>
            </a:r>
          </a:p>
          <a:p>
            <a:pPr marL="0" indent="0">
              <a:buNone/>
            </a:pPr>
            <a:r>
              <a:rPr lang="en-US" sz="1350" noProof="1">
                <a:solidFill>
                  <a:srgbClr val="00B050"/>
                </a:solidFill>
                <a:latin typeface="Consolas" panose="020B0609020204030204" charset="0"/>
              </a:rPr>
              <a:t>Simple is better than complex.</a:t>
            </a:r>
          </a:p>
          <a:p>
            <a:pPr marL="0" indent="0">
              <a:buNone/>
            </a:pPr>
            <a:r>
              <a:rPr lang="en-US" sz="1350" noProof="1">
                <a:solidFill>
                  <a:srgbClr val="00B050"/>
                </a:solidFill>
                <a:latin typeface="Consolas" panose="020B0609020204030204" charset="0"/>
              </a:rPr>
              <a:t>Complex is better than complicated.</a:t>
            </a:r>
          </a:p>
          <a:p>
            <a:pPr marL="0" indent="0">
              <a:buNone/>
            </a:pPr>
            <a:r>
              <a:rPr lang="en-US" sz="1350" noProof="1">
                <a:solidFill>
                  <a:srgbClr val="00B050"/>
                </a:solidFill>
                <a:latin typeface="Consolas" panose="020B0609020204030204" charset="0"/>
              </a:rPr>
              <a:t>Flat is better than nested.</a:t>
            </a:r>
          </a:p>
          <a:p>
            <a:pPr marL="0" indent="0">
              <a:buNone/>
            </a:pPr>
            <a:r>
              <a:rPr lang="en-US" sz="1350" noProof="1">
                <a:solidFill>
                  <a:srgbClr val="00B050"/>
                </a:solidFill>
                <a:latin typeface="Consolas" panose="020B0609020204030204" charset="0"/>
              </a:rPr>
              <a:t>Sparse is better than dense.</a:t>
            </a:r>
          </a:p>
          <a:p>
            <a:pPr marL="0" indent="0">
              <a:buNone/>
            </a:pPr>
            <a:r>
              <a:rPr lang="en-US" sz="1350" noProof="1">
                <a:solidFill>
                  <a:srgbClr val="00B050"/>
                </a:solidFill>
                <a:latin typeface="Consolas" panose="020B0609020204030204" charset="0"/>
              </a:rPr>
              <a:t>Readability counts</a:t>
            </a:r>
            <a:r>
              <a:rPr lang="en-US" sz="1350" noProof="1">
                <a:latin typeface="Consolas" panose="020B0609020204030204" charset="0"/>
              </a:rPr>
              <a:t>.'''</a:t>
            </a:r>
          </a:p>
        </p:txBody>
      </p:sp>
      <p:sp>
        <p:nvSpPr>
          <p:cNvPr id="130051"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81</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4.3.3 </a:t>
            </a:r>
            <a:r>
              <a:rPr lang="zh-CN" altLang="en-US" sz="2800" b="1" dirty="0">
                <a:latin typeface="Times New Roman" panose="02020603050405020304" pitchFamily="18" charset="0"/>
                <a:ea typeface="仿宋" panose="02010609060101010101" pitchFamily="49" charset="-122"/>
              </a:rPr>
              <a:t>使用正则表达式对象</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pic>
        <p:nvPicPr>
          <p:cNvPr id="5" name="图片 4"/>
          <p:cNvPicPr>
            <a:picLocks noChangeAspect="1"/>
          </p:cNvPicPr>
          <p:nvPr/>
        </p:nvPicPr>
        <p:blipFill>
          <a:blip r:embed="rId3"/>
          <a:stretch>
            <a:fillRect/>
          </a:stretch>
        </p:blipFill>
        <p:spPr>
          <a:xfrm>
            <a:off x="4055799" y="3123162"/>
            <a:ext cx="4888648" cy="2987229"/>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re.sub</a:t>
            </a:r>
            <a:r>
              <a:rPr lang="en-US" altLang="zh-CN" dirty="0"/>
              <a:t>()</a:t>
            </a:r>
            <a:r>
              <a:rPr lang="zh-CN" altLang="en-US" dirty="0"/>
              <a:t>使用详解</a:t>
            </a:r>
          </a:p>
        </p:txBody>
      </p:sp>
      <p:sp>
        <p:nvSpPr>
          <p:cNvPr id="3" name="内容占位符 2"/>
          <p:cNvSpPr>
            <a:spLocks noGrp="1"/>
          </p:cNvSpPr>
          <p:nvPr>
            <p:ph idx="1"/>
          </p:nvPr>
        </p:nvSpPr>
        <p:spPr>
          <a:xfrm>
            <a:off x="457200" y="980728"/>
            <a:ext cx="8229600" cy="6120680"/>
          </a:xfrm>
        </p:spPr>
        <p:txBody>
          <a:bodyPr/>
          <a:lstStyle/>
          <a:p>
            <a:pPr marL="0" indent="0" algn="l">
              <a:buNone/>
            </a:pPr>
            <a:r>
              <a:rPr lang="en-US" altLang="zh-CN" sz="1300" b="0" i="0" dirty="0" err="1">
                <a:solidFill>
                  <a:srgbClr val="333333"/>
                </a:solidFill>
                <a:effectLst/>
                <a:latin typeface="Verdana" panose="020B0604030504040204" pitchFamily="34" charset="0"/>
              </a:rPr>
              <a:t>re.sub</a:t>
            </a:r>
            <a:r>
              <a:rPr lang="en-US" altLang="zh-CN" sz="1300" b="0" i="0" dirty="0">
                <a:solidFill>
                  <a:srgbClr val="333333"/>
                </a:solidFill>
                <a:effectLst/>
                <a:latin typeface="Verdana" panose="020B0604030504040204" pitchFamily="34" charset="0"/>
              </a:rPr>
              <a:t> </a:t>
            </a:r>
            <a:r>
              <a:rPr lang="zh-CN" altLang="en-US" sz="1300" b="0" i="0" dirty="0">
                <a:solidFill>
                  <a:srgbClr val="333333"/>
                </a:solidFill>
                <a:effectLst/>
                <a:latin typeface="Verdana" panose="020B0604030504040204" pitchFamily="34" charset="0"/>
              </a:rPr>
              <a:t>语法：</a:t>
            </a:r>
            <a:r>
              <a:rPr lang="en-US" altLang="zh-CN" sz="1300" b="0" i="0" dirty="0" err="1">
                <a:solidFill>
                  <a:srgbClr val="FF0000"/>
                </a:solidFill>
                <a:effectLst/>
                <a:latin typeface="Verdana" panose="020B0604030504040204" pitchFamily="34" charset="0"/>
              </a:rPr>
              <a:t>re.sub</a:t>
            </a:r>
            <a:r>
              <a:rPr lang="en-US" altLang="zh-CN" sz="1300" b="0" i="0" dirty="0">
                <a:solidFill>
                  <a:srgbClr val="FF0000"/>
                </a:solidFill>
                <a:effectLst/>
                <a:latin typeface="Verdana" panose="020B0604030504040204" pitchFamily="34" charset="0"/>
              </a:rPr>
              <a:t>(pattern, </a:t>
            </a:r>
            <a:r>
              <a:rPr lang="en-US" altLang="zh-CN" sz="1300" b="0" i="0" dirty="0" err="1">
                <a:solidFill>
                  <a:srgbClr val="FF0000"/>
                </a:solidFill>
                <a:effectLst/>
                <a:latin typeface="Verdana" panose="020B0604030504040204" pitchFamily="34" charset="0"/>
              </a:rPr>
              <a:t>repl</a:t>
            </a:r>
            <a:r>
              <a:rPr lang="en-US" altLang="zh-CN" sz="1300" b="0" i="0" dirty="0">
                <a:solidFill>
                  <a:srgbClr val="FF0000"/>
                </a:solidFill>
                <a:effectLst/>
                <a:latin typeface="Verdana" panose="020B0604030504040204" pitchFamily="34" charset="0"/>
              </a:rPr>
              <a:t>, string, count=0, flags=0)</a:t>
            </a:r>
            <a:endParaRPr lang="en-US" altLang="zh-CN" sz="1300" b="0" i="0" dirty="0">
              <a:solidFill>
                <a:srgbClr val="333333"/>
              </a:solidFill>
              <a:effectLst/>
              <a:latin typeface="Verdana" panose="020B0604030504040204" pitchFamily="34" charset="0"/>
            </a:endParaRPr>
          </a:p>
          <a:p>
            <a:pPr marL="0" indent="0" algn="l">
              <a:buNone/>
            </a:pPr>
            <a:r>
              <a:rPr lang="zh-CN" altLang="en-US" sz="1300" b="0" i="0" dirty="0">
                <a:solidFill>
                  <a:srgbClr val="333333"/>
                </a:solidFill>
                <a:effectLst/>
                <a:latin typeface="Verdana" panose="020B0604030504040204" pitchFamily="34" charset="0"/>
              </a:rPr>
              <a:t>   前三个必选参数：</a:t>
            </a:r>
            <a:r>
              <a:rPr lang="en-US" altLang="zh-CN" sz="1300" b="0" i="0" dirty="0">
                <a:solidFill>
                  <a:srgbClr val="333333"/>
                </a:solidFill>
                <a:effectLst/>
                <a:latin typeface="Verdana" panose="020B0604030504040204" pitchFamily="34" charset="0"/>
              </a:rPr>
              <a:t>pattern, </a:t>
            </a:r>
            <a:r>
              <a:rPr lang="en-US" altLang="zh-CN" sz="1300" b="0" i="0" dirty="0" err="1">
                <a:solidFill>
                  <a:srgbClr val="333333"/>
                </a:solidFill>
                <a:effectLst/>
                <a:latin typeface="Verdana" panose="020B0604030504040204" pitchFamily="34" charset="0"/>
              </a:rPr>
              <a:t>repl</a:t>
            </a:r>
            <a:r>
              <a:rPr lang="en-US" altLang="zh-CN" sz="1300" b="0" i="0" dirty="0">
                <a:solidFill>
                  <a:srgbClr val="333333"/>
                </a:solidFill>
                <a:effectLst/>
                <a:latin typeface="Verdana" panose="020B0604030504040204" pitchFamily="34" charset="0"/>
              </a:rPr>
              <a:t>, string</a:t>
            </a:r>
            <a:r>
              <a:rPr lang="zh-CN" altLang="en-US" sz="1300" b="0" i="0" dirty="0">
                <a:solidFill>
                  <a:srgbClr val="333333"/>
                </a:solidFill>
                <a:effectLst/>
                <a:latin typeface="Verdana" panose="020B0604030504040204" pitchFamily="34" charset="0"/>
              </a:rPr>
              <a:t>，后两个可选参数：</a:t>
            </a:r>
            <a:r>
              <a:rPr lang="en-US" altLang="zh-CN" sz="1300" b="0" i="0" dirty="0">
                <a:solidFill>
                  <a:srgbClr val="333333"/>
                </a:solidFill>
                <a:effectLst/>
                <a:latin typeface="Verdana" panose="020B0604030504040204" pitchFamily="34" charset="0"/>
              </a:rPr>
              <a:t>count, flags</a:t>
            </a:r>
          </a:p>
          <a:p>
            <a:pPr marL="0" indent="0" algn="l">
              <a:buNone/>
            </a:pPr>
            <a:r>
              <a:rPr lang="en-US" altLang="zh-CN" sz="1400" b="1" i="0" dirty="0">
                <a:solidFill>
                  <a:srgbClr val="333333"/>
                </a:solidFill>
                <a:effectLst/>
                <a:latin typeface="Verdana" panose="020B0604030504040204" pitchFamily="34" charset="0"/>
              </a:rPr>
              <a:t>1</a:t>
            </a:r>
            <a:r>
              <a:rPr lang="zh-CN" altLang="en-US" sz="1400" b="1" i="0" dirty="0">
                <a:solidFill>
                  <a:srgbClr val="333333"/>
                </a:solidFill>
                <a:effectLst/>
                <a:latin typeface="Verdana" panose="020B0604030504040204" pitchFamily="34" charset="0"/>
              </a:rPr>
              <a:t>、</a:t>
            </a:r>
            <a:r>
              <a:rPr lang="en-US" altLang="zh-CN" sz="1400" b="1" i="0" dirty="0">
                <a:solidFill>
                  <a:srgbClr val="333333"/>
                </a:solidFill>
                <a:effectLst/>
                <a:latin typeface="Verdana" panose="020B0604030504040204" pitchFamily="34" charset="0"/>
              </a:rPr>
              <a:t>pattern</a:t>
            </a:r>
            <a:r>
              <a:rPr lang="zh-CN" altLang="en-US" sz="1400" b="1" i="0" dirty="0">
                <a:solidFill>
                  <a:srgbClr val="333333"/>
                </a:solidFill>
                <a:effectLst/>
                <a:latin typeface="Verdana" panose="020B0604030504040204" pitchFamily="34" charset="0"/>
              </a:rPr>
              <a:t>，表示正则中的模式字符串</a:t>
            </a:r>
            <a:endParaRPr lang="zh-CN" altLang="en-US" sz="1400" b="0" i="0" dirty="0">
              <a:solidFill>
                <a:srgbClr val="333333"/>
              </a:solidFill>
              <a:effectLst/>
              <a:latin typeface="Verdana" panose="020B0604030504040204" pitchFamily="34" charset="0"/>
            </a:endParaRPr>
          </a:p>
          <a:p>
            <a:pPr marL="0" indent="0" algn="l">
              <a:buNone/>
            </a:pPr>
            <a:r>
              <a:rPr lang="en-US" altLang="zh-CN" sz="1400" dirty="0">
                <a:solidFill>
                  <a:srgbClr val="333333"/>
                </a:solidFill>
                <a:latin typeface="Verdana" panose="020B0604030504040204" pitchFamily="34" charset="0"/>
              </a:rPr>
              <a:t>    </a:t>
            </a:r>
            <a:r>
              <a:rPr lang="zh-CN" altLang="en-US" sz="1400" b="0" i="0" dirty="0">
                <a:solidFill>
                  <a:srgbClr val="FF6600"/>
                </a:solidFill>
                <a:effectLst/>
                <a:latin typeface="Verdana" panose="020B0604030504040204" pitchFamily="34" charset="0"/>
              </a:rPr>
              <a:t>反斜杠加数字（</a:t>
            </a:r>
            <a:r>
              <a:rPr lang="en-US" altLang="zh-CN" sz="1400" b="0" i="0" dirty="0">
                <a:solidFill>
                  <a:srgbClr val="FF6600"/>
                </a:solidFill>
                <a:effectLst/>
                <a:latin typeface="Verdana" panose="020B0604030504040204" pitchFamily="34" charset="0"/>
              </a:rPr>
              <a:t>\n</a:t>
            </a:r>
            <a:r>
              <a:rPr lang="zh-CN" altLang="en-US" sz="1400" b="0" i="0" dirty="0">
                <a:solidFill>
                  <a:srgbClr val="FF6600"/>
                </a:solidFill>
                <a:effectLst/>
                <a:latin typeface="Verdana" panose="020B0604030504040204" pitchFamily="34" charset="0"/>
              </a:rPr>
              <a:t>）表示对应匹配的组，也就是用之前匹配到的字符串补充到这个位置，</a:t>
            </a:r>
          </a:p>
          <a:p>
            <a:pPr marL="0" indent="0" algn="l">
              <a:buNone/>
            </a:pPr>
            <a:r>
              <a:rPr lang="en-US" altLang="zh-CN" sz="1400" b="1" i="0" dirty="0">
                <a:solidFill>
                  <a:srgbClr val="333333"/>
                </a:solidFill>
                <a:effectLst/>
                <a:latin typeface="Verdana" panose="020B0604030504040204" pitchFamily="34" charset="0"/>
              </a:rPr>
              <a:t>2</a:t>
            </a:r>
            <a:r>
              <a:rPr lang="zh-CN" altLang="en-US" sz="1400" b="1" i="0" dirty="0">
                <a:solidFill>
                  <a:srgbClr val="333333"/>
                </a:solidFill>
                <a:effectLst/>
                <a:latin typeface="Verdana" panose="020B0604030504040204" pitchFamily="34" charset="0"/>
              </a:rPr>
              <a:t>、</a:t>
            </a:r>
            <a:r>
              <a:rPr lang="en-US" altLang="zh-CN" sz="1400" b="1" i="0" dirty="0" err="1">
                <a:solidFill>
                  <a:srgbClr val="333333"/>
                </a:solidFill>
                <a:effectLst/>
                <a:latin typeface="Verdana" panose="020B0604030504040204" pitchFamily="34" charset="0"/>
              </a:rPr>
              <a:t>repl</a:t>
            </a:r>
            <a:r>
              <a:rPr lang="zh-CN" altLang="en-US" sz="1400" b="1" i="0" dirty="0">
                <a:solidFill>
                  <a:srgbClr val="333333"/>
                </a:solidFill>
                <a:effectLst/>
                <a:latin typeface="Verdana" panose="020B0604030504040204" pitchFamily="34" charset="0"/>
              </a:rPr>
              <a:t>，表示要被替换的，可以是字符串也可以是函数</a:t>
            </a:r>
            <a:endParaRPr lang="zh-CN" altLang="en-US" sz="1400" b="0" i="0" dirty="0">
              <a:solidFill>
                <a:srgbClr val="333333"/>
              </a:solidFill>
              <a:effectLst/>
              <a:latin typeface="Verdana" panose="020B0604030504040204" pitchFamily="34" charset="0"/>
            </a:endParaRPr>
          </a:p>
          <a:p>
            <a:pPr marL="0" indent="0" algn="l">
              <a:buNone/>
            </a:pPr>
            <a:r>
              <a:rPr lang="zh-CN" altLang="en-US" sz="1400" dirty="0">
                <a:solidFill>
                  <a:srgbClr val="333333"/>
                </a:solidFill>
                <a:latin typeface="Verdana" panose="020B0604030504040204" pitchFamily="34" charset="0"/>
              </a:rPr>
              <a:t>    如果是字符串，则所有的反斜杠转义字符都会被处理</a:t>
            </a:r>
          </a:p>
          <a:p>
            <a:pPr marL="0" indent="0" algn="l">
              <a:buNone/>
            </a:pPr>
            <a:r>
              <a:rPr lang="en-US" altLang="zh-CN" sz="1400" dirty="0">
                <a:solidFill>
                  <a:srgbClr val="333333"/>
                </a:solidFill>
                <a:latin typeface="Verdana" panose="020B0604030504040204" pitchFamily="34" charset="0"/>
              </a:rPr>
              <a:t>    \n</a:t>
            </a:r>
            <a:r>
              <a:rPr lang="zh-CN" altLang="en-US" sz="1400" dirty="0">
                <a:solidFill>
                  <a:srgbClr val="333333"/>
                </a:solidFill>
                <a:latin typeface="Verdana" panose="020B0604030504040204" pitchFamily="34" charset="0"/>
              </a:rPr>
              <a:t>：处理换行符  </a:t>
            </a:r>
            <a:r>
              <a:rPr lang="en-US" altLang="zh-CN" sz="1400" dirty="0">
                <a:solidFill>
                  <a:srgbClr val="333333"/>
                </a:solidFill>
                <a:latin typeface="Verdana" panose="020B0604030504040204" pitchFamily="34" charset="0"/>
              </a:rPr>
              <a:t>\r </a:t>
            </a:r>
            <a:r>
              <a:rPr lang="zh-CN" altLang="en-US" sz="1400" dirty="0">
                <a:solidFill>
                  <a:srgbClr val="333333"/>
                </a:solidFill>
                <a:latin typeface="Verdana" panose="020B0604030504040204" pitchFamily="34" charset="0"/>
              </a:rPr>
              <a:t>：处理回车符</a:t>
            </a:r>
          </a:p>
          <a:p>
            <a:pPr marL="0" indent="0" algn="l">
              <a:buNone/>
            </a:pPr>
            <a:r>
              <a:rPr lang="zh-CN" altLang="en-US" sz="1400" dirty="0">
                <a:solidFill>
                  <a:srgbClr val="333333"/>
                </a:solidFill>
                <a:latin typeface="Verdana" panose="020B0604030504040204" pitchFamily="34" charset="0"/>
              </a:rPr>
              <a:t>    不能被识别的转义字符，则只是被识别为普通的字符，例如：</a:t>
            </a:r>
            <a:r>
              <a:rPr lang="en-US" altLang="zh-CN" sz="1400" dirty="0">
                <a:solidFill>
                  <a:srgbClr val="333333"/>
                </a:solidFill>
                <a:latin typeface="Verdana" panose="020B0604030504040204" pitchFamily="34" charset="0"/>
              </a:rPr>
              <a:t>\j</a:t>
            </a:r>
            <a:r>
              <a:rPr lang="zh-CN" altLang="en-US" sz="1400" dirty="0">
                <a:solidFill>
                  <a:srgbClr val="333333"/>
                </a:solidFill>
                <a:latin typeface="Verdana" panose="020B0604030504040204" pitchFamily="34" charset="0"/>
              </a:rPr>
              <a:t>被处理为</a:t>
            </a:r>
            <a:r>
              <a:rPr lang="en-US" altLang="zh-CN" sz="1400" dirty="0">
                <a:solidFill>
                  <a:srgbClr val="333333"/>
                </a:solidFill>
                <a:latin typeface="Verdana" panose="020B0604030504040204" pitchFamily="34" charset="0"/>
              </a:rPr>
              <a:t>j</a:t>
            </a:r>
            <a:r>
              <a:rPr lang="zh-CN" altLang="en-US" sz="1400" dirty="0">
                <a:solidFill>
                  <a:srgbClr val="333333"/>
                </a:solidFill>
                <a:latin typeface="Verdana" panose="020B0604030504040204" pitchFamily="34" charset="0"/>
              </a:rPr>
              <a:t>这个字母本身</a:t>
            </a:r>
          </a:p>
          <a:p>
            <a:pPr marL="0" indent="0" algn="l">
              <a:buNone/>
            </a:pPr>
            <a:r>
              <a:rPr lang="zh-CN" altLang="en-US" sz="1400" dirty="0">
                <a:solidFill>
                  <a:srgbClr val="333333"/>
                </a:solidFill>
                <a:latin typeface="Verdana" panose="020B0604030504040204" pitchFamily="34" charset="0"/>
              </a:rPr>
              <a:t>    反斜杠加</a:t>
            </a:r>
            <a:r>
              <a:rPr lang="en-US" altLang="zh-CN" sz="1400" dirty="0">
                <a:solidFill>
                  <a:srgbClr val="333333"/>
                </a:solidFill>
                <a:latin typeface="Verdana" panose="020B0604030504040204" pitchFamily="34" charset="0"/>
              </a:rPr>
              <a:t>g</a:t>
            </a:r>
            <a:r>
              <a:rPr lang="zh-CN" altLang="en-US" sz="1400" dirty="0">
                <a:solidFill>
                  <a:srgbClr val="333333"/>
                </a:solidFill>
                <a:latin typeface="Verdana" panose="020B0604030504040204" pitchFamily="34" charset="0"/>
              </a:rPr>
              <a:t>以及中括号内一个名字，即</a:t>
            </a:r>
            <a:r>
              <a:rPr lang="en-US" altLang="zh-CN" sz="1400" dirty="0">
                <a:solidFill>
                  <a:srgbClr val="333333"/>
                </a:solidFill>
                <a:latin typeface="Verdana" panose="020B0604030504040204" pitchFamily="34" charset="0"/>
              </a:rPr>
              <a:t>\g&lt;name&gt;</a:t>
            </a:r>
            <a:r>
              <a:rPr lang="zh-CN" altLang="en-US" sz="1400" dirty="0">
                <a:solidFill>
                  <a:srgbClr val="333333"/>
                </a:solidFill>
                <a:latin typeface="Verdana" panose="020B0604030504040204" pitchFamily="34" charset="0"/>
              </a:rPr>
              <a:t>对应命名了的组</a:t>
            </a:r>
            <a:endParaRPr lang="en-US" altLang="zh-CN" sz="1400" dirty="0">
              <a:solidFill>
                <a:srgbClr val="333333"/>
              </a:solidFill>
              <a:latin typeface="Verdana" panose="020B0604030504040204" pitchFamily="34" charset="0"/>
            </a:endParaRPr>
          </a:p>
          <a:p>
            <a:pPr marL="0" indent="0" algn="l">
              <a:buNone/>
            </a:pPr>
            <a:r>
              <a:rPr lang="en-US" altLang="zh-CN" sz="1400" b="0" i="0" dirty="0">
                <a:solidFill>
                  <a:srgbClr val="333333"/>
                </a:solidFill>
                <a:effectLst/>
                <a:latin typeface="Verdana" panose="020B0604030504040204" pitchFamily="34" charset="0"/>
              </a:rPr>
              <a:t>3</a:t>
            </a:r>
            <a:r>
              <a:rPr lang="zh-CN" altLang="en-US" sz="1400" b="0" i="0" dirty="0">
                <a:solidFill>
                  <a:srgbClr val="333333"/>
                </a:solidFill>
                <a:effectLst/>
                <a:latin typeface="Verdana" panose="020B0604030504040204" pitchFamily="34" charset="0"/>
              </a:rPr>
              <a:t>、</a:t>
            </a:r>
            <a:r>
              <a:rPr lang="en-US" altLang="zh-CN" sz="1400" b="0" i="0" dirty="0">
                <a:solidFill>
                  <a:srgbClr val="333333"/>
                </a:solidFill>
                <a:effectLst/>
                <a:latin typeface="Verdana" panose="020B0604030504040204" pitchFamily="34" charset="0"/>
              </a:rPr>
              <a:t>string</a:t>
            </a:r>
            <a:r>
              <a:rPr lang="zh-CN" altLang="en-US" sz="1400" b="0" i="0" dirty="0">
                <a:solidFill>
                  <a:srgbClr val="333333"/>
                </a:solidFill>
                <a:effectLst/>
                <a:latin typeface="Verdana" panose="020B0604030504040204" pitchFamily="34" charset="0"/>
              </a:rPr>
              <a:t>，要处理的字符串，即替换后的结果字符串，若过滤则设置为空 </a:t>
            </a:r>
            <a:r>
              <a:rPr lang="en-US" altLang="zh-CN" sz="1400" b="0" i="0" dirty="0">
                <a:solidFill>
                  <a:srgbClr val="333333"/>
                </a:solidFill>
                <a:effectLst/>
                <a:latin typeface="Verdana" panose="020B0604030504040204" pitchFamily="34" charset="0"/>
              </a:rPr>
              <a:t>''</a:t>
            </a:r>
          </a:p>
          <a:p>
            <a:pPr marL="0" indent="0" algn="l">
              <a:buNone/>
            </a:pPr>
            <a:r>
              <a:rPr lang="en-US" altLang="zh-CN" sz="1400" b="0" i="0" dirty="0">
                <a:solidFill>
                  <a:srgbClr val="333333"/>
                </a:solidFill>
                <a:effectLst/>
                <a:latin typeface="Verdana" panose="020B0604030504040204" pitchFamily="34" charset="0"/>
              </a:rPr>
              <a:t>4</a:t>
            </a:r>
            <a:r>
              <a:rPr lang="zh-CN" altLang="en-US" sz="1400" b="0" i="0" dirty="0">
                <a:solidFill>
                  <a:srgbClr val="333333"/>
                </a:solidFill>
                <a:effectLst/>
                <a:latin typeface="Verdana" panose="020B0604030504040204" pitchFamily="34" charset="0"/>
              </a:rPr>
              <a:t>、</a:t>
            </a:r>
            <a:r>
              <a:rPr lang="en-US" altLang="zh-CN" sz="1400" b="0" i="0" dirty="0">
                <a:solidFill>
                  <a:srgbClr val="333333"/>
                </a:solidFill>
                <a:effectLst/>
                <a:latin typeface="Verdana" panose="020B0604030504040204" pitchFamily="34" charset="0"/>
              </a:rPr>
              <a:t>count</a:t>
            </a:r>
            <a:r>
              <a:rPr lang="zh-CN" altLang="en-US" sz="1400" b="0" i="0" dirty="0">
                <a:solidFill>
                  <a:srgbClr val="333333"/>
                </a:solidFill>
                <a:effectLst/>
                <a:latin typeface="Verdana" panose="020B0604030504040204" pitchFamily="34" charset="0"/>
              </a:rPr>
              <a:t>，限定替换的个数，默认为空或</a:t>
            </a:r>
            <a:r>
              <a:rPr lang="en-US" altLang="zh-CN" sz="1400" b="0" i="0" dirty="0">
                <a:solidFill>
                  <a:srgbClr val="333333"/>
                </a:solidFill>
                <a:effectLst/>
                <a:latin typeface="Verdana" panose="020B0604030504040204" pitchFamily="34" charset="0"/>
              </a:rPr>
              <a:t>0</a:t>
            </a:r>
            <a:r>
              <a:rPr lang="zh-CN" altLang="en-US" sz="1400" b="0" i="0" dirty="0">
                <a:solidFill>
                  <a:srgbClr val="333333"/>
                </a:solidFill>
                <a:effectLst/>
                <a:latin typeface="Verdana" panose="020B0604030504040204" pitchFamily="34" charset="0"/>
              </a:rPr>
              <a:t>，表示替换所有</a:t>
            </a:r>
          </a:p>
          <a:p>
            <a:pPr marL="0" indent="0" algn="l">
              <a:buNone/>
            </a:pPr>
            <a:r>
              <a:rPr lang="en-US" altLang="zh-CN" sz="1400" b="1" i="0" dirty="0">
                <a:solidFill>
                  <a:srgbClr val="333333"/>
                </a:solidFill>
                <a:effectLst/>
                <a:latin typeface="Verdana" panose="020B0604030504040204" pitchFamily="34" charset="0"/>
              </a:rPr>
              <a:t>5</a:t>
            </a:r>
            <a:r>
              <a:rPr lang="zh-CN" altLang="en-US" sz="1400" b="1" i="0" dirty="0">
                <a:solidFill>
                  <a:srgbClr val="333333"/>
                </a:solidFill>
                <a:effectLst/>
                <a:latin typeface="Verdana" panose="020B0604030504040204" pitchFamily="34" charset="0"/>
              </a:rPr>
              <a:t>、</a:t>
            </a:r>
            <a:r>
              <a:rPr lang="en-US" altLang="zh-CN" sz="1400" b="1" i="0" dirty="0">
                <a:solidFill>
                  <a:srgbClr val="333333"/>
                </a:solidFill>
                <a:effectLst/>
                <a:latin typeface="Verdana" panose="020B0604030504040204" pitchFamily="34" charset="0"/>
              </a:rPr>
              <a:t>flags</a:t>
            </a:r>
            <a:r>
              <a:rPr lang="zh-CN" altLang="en-US" sz="1400" b="1" i="0" dirty="0">
                <a:solidFill>
                  <a:srgbClr val="333333"/>
                </a:solidFill>
                <a:effectLst/>
                <a:latin typeface="Verdana" panose="020B0604030504040204" pitchFamily="34" charset="0"/>
              </a:rPr>
              <a:t>，匹配模式</a:t>
            </a:r>
            <a:endParaRPr lang="zh-CN" altLang="en-US" sz="1400" b="0" i="0" dirty="0">
              <a:solidFill>
                <a:srgbClr val="333333"/>
              </a:solidFill>
              <a:effectLst/>
              <a:latin typeface="Verdana" panose="020B0604030504040204" pitchFamily="34" charset="0"/>
            </a:endParaRPr>
          </a:p>
          <a:p>
            <a:pPr marL="0" indent="0" algn="l">
              <a:buNone/>
            </a:pPr>
            <a:r>
              <a:rPr lang="zh-CN" altLang="en-US" sz="1400" dirty="0">
                <a:solidFill>
                  <a:srgbClr val="333333"/>
                </a:solidFill>
                <a:latin typeface="Verdana" panose="020B0604030504040204" pitchFamily="34" charset="0"/>
              </a:rPr>
              <a:t>    可以使用按位或‘</a:t>
            </a:r>
            <a:r>
              <a:rPr lang="en-US" altLang="zh-CN" sz="1400" dirty="0">
                <a:solidFill>
                  <a:srgbClr val="333333"/>
                </a:solidFill>
                <a:latin typeface="Verdana" panose="020B0604030504040204" pitchFamily="34" charset="0"/>
              </a:rPr>
              <a:t>|‘</a:t>
            </a:r>
            <a:r>
              <a:rPr lang="zh-CN" altLang="en-US" sz="1400" dirty="0">
                <a:solidFill>
                  <a:srgbClr val="333333"/>
                </a:solidFill>
                <a:latin typeface="Verdana" panose="020B0604030504040204" pitchFamily="34" charset="0"/>
              </a:rPr>
              <a:t>表示同时生效，也可以在正则表达式中指定。</a:t>
            </a:r>
          </a:p>
          <a:p>
            <a:pPr marL="0" indent="0" algn="l">
              <a:buNone/>
            </a:pPr>
            <a:r>
              <a:rPr lang="en-US" altLang="zh-CN" sz="1400" dirty="0">
                <a:solidFill>
                  <a:srgbClr val="333333"/>
                </a:solidFill>
                <a:latin typeface="Verdana" panose="020B0604030504040204" pitchFamily="34" charset="0"/>
              </a:rPr>
              <a:t>    </a:t>
            </a:r>
            <a:r>
              <a:rPr lang="en-US" altLang="zh-CN" sz="1400" dirty="0" err="1">
                <a:solidFill>
                  <a:srgbClr val="333333"/>
                </a:solidFill>
                <a:latin typeface="Verdana" panose="020B0604030504040204" pitchFamily="34" charset="0"/>
              </a:rPr>
              <a:t>re.I</a:t>
            </a:r>
            <a:r>
              <a:rPr lang="en-US" altLang="zh-CN" sz="1400" dirty="0">
                <a:solidFill>
                  <a:srgbClr val="333333"/>
                </a:solidFill>
                <a:latin typeface="Verdana" panose="020B0604030504040204" pitchFamily="34" charset="0"/>
              </a:rPr>
              <a:t> </a:t>
            </a:r>
            <a:r>
              <a:rPr lang="zh-CN" altLang="en-US" sz="1400" dirty="0">
                <a:solidFill>
                  <a:srgbClr val="333333"/>
                </a:solidFill>
                <a:latin typeface="Verdana" panose="020B0604030504040204" pitchFamily="34" charset="0"/>
              </a:rPr>
              <a:t>忽略大小写  </a:t>
            </a:r>
            <a:r>
              <a:rPr lang="en-US" altLang="zh-CN" sz="1400" dirty="0" err="1">
                <a:solidFill>
                  <a:srgbClr val="333333"/>
                </a:solidFill>
                <a:latin typeface="Verdana" panose="020B0604030504040204" pitchFamily="34" charset="0"/>
              </a:rPr>
              <a:t>re.L</a:t>
            </a:r>
            <a:r>
              <a:rPr lang="en-US" altLang="zh-CN" sz="1400" dirty="0">
                <a:solidFill>
                  <a:srgbClr val="333333"/>
                </a:solidFill>
                <a:latin typeface="Verdana" panose="020B0604030504040204" pitchFamily="34" charset="0"/>
              </a:rPr>
              <a:t> </a:t>
            </a:r>
            <a:r>
              <a:rPr lang="zh-CN" altLang="en-US" sz="1400" dirty="0">
                <a:solidFill>
                  <a:srgbClr val="333333"/>
                </a:solidFill>
                <a:latin typeface="Verdana" panose="020B0604030504040204" pitchFamily="34" charset="0"/>
              </a:rPr>
              <a:t>表示特殊字符集</a:t>
            </a:r>
            <a:r>
              <a:rPr lang="en-US" altLang="zh-CN" sz="1400" dirty="0">
                <a:solidFill>
                  <a:srgbClr val="333333"/>
                </a:solidFill>
                <a:latin typeface="Verdana" panose="020B0604030504040204" pitchFamily="34" charset="0"/>
              </a:rPr>
              <a:t>\w,\W,\b,\B,\s,\S   </a:t>
            </a:r>
            <a:r>
              <a:rPr lang="en-US" altLang="zh-CN" sz="1400" dirty="0" err="1">
                <a:solidFill>
                  <a:srgbClr val="333333"/>
                </a:solidFill>
                <a:latin typeface="Verdana" panose="020B0604030504040204" pitchFamily="34" charset="0"/>
              </a:rPr>
              <a:t>re.M</a:t>
            </a:r>
            <a:r>
              <a:rPr lang="en-US" altLang="zh-CN" sz="1400" dirty="0">
                <a:solidFill>
                  <a:srgbClr val="333333"/>
                </a:solidFill>
                <a:latin typeface="Verdana" panose="020B0604030504040204" pitchFamily="34" charset="0"/>
              </a:rPr>
              <a:t> </a:t>
            </a:r>
            <a:r>
              <a:rPr lang="zh-CN" altLang="en-US" sz="1400" dirty="0">
                <a:solidFill>
                  <a:srgbClr val="333333"/>
                </a:solidFill>
                <a:latin typeface="Verdana" panose="020B0604030504040204" pitchFamily="34" charset="0"/>
              </a:rPr>
              <a:t>表示多行模式 </a:t>
            </a:r>
            <a:r>
              <a:rPr lang="en-US" altLang="zh-CN" sz="1400" dirty="0" err="1">
                <a:solidFill>
                  <a:srgbClr val="333333"/>
                </a:solidFill>
                <a:latin typeface="Verdana" panose="020B0604030504040204" pitchFamily="34" charset="0"/>
              </a:rPr>
              <a:t>re.S</a:t>
            </a:r>
            <a:r>
              <a:rPr lang="en-US" altLang="zh-CN" sz="1400" dirty="0">
                <a:solidFill>
                  <a:srgbClr val="333333"/>
                </a:solidFill>
                <a:latin typeface="Verdana" panose="020B0604030504040204" pitchFamily="34" charset="0"/>
              </a:rPr>
              <a:t> ‘.’</a:t>
            </a:r>
            <a:r>
              <a:rPr lang="zh-CN" altLang="en-US" sz="1400" dirty="0">
                <a:solidFill>
                  <a:srgbClr val="333333"/>
                </a:solidFill>
                <a:latin typeface="Verdana" panose="020B0604030504040204" pitchFamily="34" charset="0"/>
              </a:rPr>
              <a:t>包括换行符在内的任意字符     </a:t>
            </a:r>
            <a:r>
              <a:rPr lang="en-US" altLang="zh-CN" sz="1400" dirty="0" err="1">
                <a:solidFill>
                  <a:srgbClr val="333333"/>
                </a:solidFill>
                <a:latin typeface="Verdana" panose="020B0604030504040204" pitchFamily="34" charset="0"/>
              </a:rPr>
              <a:t>re.U</a:t>
            </a:r>
            <a:r>
              <a:rPr lang="en-US" altLang="zh-CN" sz="1400" dirty="0">
                <a:solidFill>
                  <a:srgbClr val="333333"/>
                </a:solidFill>
                <a:latin typeface="Verdana" panose="020B0604030504040204" pitchFamily="34" charset="0"/>
              </a:rPr>
              <a:t> </a:t>
            </a:r>
            <a:r>
              <a:rPr lang="zh-CN" altLang="en-US" sz="1400" dirty="0">
                <a:solidFill>
                  <a:srgbClr val="333333"/>
                </a:solidFill>
                <a:latin typeface="Verdana" panose="020B0604030504040204" pitchFamily="34" charset="0"/>
              </a:rPr>
              <a:t>表示特殊字符集</a:t>
            </a:r>
            <a:r>
              <a:rPr lang="en-US" altLang="zh-CN" sz="1400" dirty="0">
                <a:solidFill>
                  <a:srgbClr val="333333"/>
                </a:solidFill>
                <a:latin typeface="Verdana" panose="020B0604030504040204" pitchFamily="34" charset="0"/>
              </a:rPr>
              <a:t>\w,\W,\b,\B,\d,\D,\s,\D</a:t>
            </a:r>
          </a:p>
          <a:p>
            <a:pPr marL="0" indent="0" algn="l">
              <a:buNone/>
            </a:pPr>
            <a:r>
              <a:rPr lang="zh-CN" altLang="en-US" sz="1300" b="1" i="0" dirty="0">
                <a:solidFill>
                  <a:srgbClr val="B22222"/>
                </a:solidFill>
                <a:effectLst/>
                <a:latin typeface="Verdana" panose="020B0604030504040204" pitchFamily="34" charset="0"/>
              </a:rPr>
              <a:t>注意参数顺序用法</a:t>
            </a:r>
            <a:endParaRPr lang="zh-CN" altLang="en-US" sz="1300" b="0" i="0" dirty="0">
              <a:solidFill>
                <a:srgbClr val="333333"/>
              </a:solidFill>
              <a:effectLst/>
              <a:latin typeface="Verdana" panose="020B0604030504040204" pitchFamily="34" charset="0"/>
            </a:endParaRPr>
          </a:p>
          <a:p>
            <a:pPr algn="l"/>
            <a:r>
              <a:rPr lang="zh-CN" altLang="en-US" sz="1300" b="0" i="0" dirty="0">
                <a:solidFill>
                  <a:srgbClr val="333333"/>
                </a:solidFill>
                <a:effectLst/>
                <a:latin typeface="Verdana" panose="020B0604030504040204" pitchFamily="34" charset="0"/>
              </a:rPr>
              <a:t>不要误把第五个参数</a:t>
            </a:r>
            <a:r>
              <a:rPr lang="en-US" altLang="zh-CN" sz="1300" b="0" i="0" dirty="0">
                <a:solidFill>
                  <a:srgbClr val="333333"/>
                </a:solidFill>
                <a:effectLst/>
                <a:latin typeface="Verdana" panose="020B0604030504040204" pitchFamily="34" charset="0"/>
              </a:rPr>
              <a:t>flag</a:t>
            </a:r>
            <a:r>
              <a:rPr lang="zh-CN" altLang="en-US" sz="1300" b="0" i="0" dirty="0">
                <a:solidFill>
                  <a:srgbClr val="333333"/>
                </a:solidFill>
                <a:effectLst/>
                <a:latin typeface="Verdana" panose="020B0604030504040204" pitchFamily="34" charset="0"/>
              </a:rPr>
              <a:t>的值，传递到第四个参数</a:t>
            </a:r>
            <a:r>
              <a:rPr lang="en-US" altLang="zh-CN" sz="1300" b="0" i="0" dirty="0">
                <a:solidFill>
                  <a:srgbClr val="333333"/>
                </a:solidFill>
                <a:effectLst/>
                <a:latin typeface="Verdana" panose="020B0604030504040204" pitchFamily="34" charset="0"/>
              </a:rPr>
              <a:t>count</a:t>
            </a:r>
            <a:r>
              <a:rPr lang="zh-CN" altLang="en-US" sz="1300" b="0" i="0" dirty="0">
                <a:solidFill>
                  <a:srgbClr val="333333"/>
                </a:solidFill>
                <a:effectLst/>
                <a:latin typeface="Verdana" panose="020B0604030504040204" pitchFamily="34" charset="0"/>
              </a:rPr>
              <a:t>中了，否则就会出错，部分替换或替换不完整。</a:t>
            </a:r>
          </a:p>
          <a:p>
            <a:pPr algn="l"/>
            <a:r>
              <a:rPr lang="en-US" altLang="zh-CN" sz="1300" b="0" i="0" dirty="0">
                <a:solidFill>
                  <a:srgbClr val="333333"/>
                </a:solidFill>
                <a:effectLst/>
                <a:latin typeface="Verdana" panose="020B0604030504040204" pitchFamily="34" charset="0"/>
              </a:rPr>
              <a:t>Python</a:t>
            </a:r>
            <a:r>
              <a:rPr lang="zh-CN" altLang="en-US" sz="1300" b="0" i="0" dirty="0">
                <a:solidFill>
                  <a:srgbClr val="333333"/>
                </a:solidFill>
                <a:effectLst/>
                <a:latin typeface="Verdana" panose="020B0604030504040204" pitchFamily="34" charset="0"/>
              </a:rPr>
              <a:t>中，（</a:t>
            </a:r>
            <a:r>
              <a:rPr lang="en-US" altLang="zh-CN" sz="1300" b="0" i="0" dirty="0">
                <a:solidFill>
                  <a:srgbClr val="333333"/>
                </a:solidFill>
                <a:effectLst/>
                <a:latin typeface="Verdana" panose="020B0604030504040204" pitchFamily="34" charset="0"/>
              </a:rPr>
              <a:t>1</a:t>
            </a:r>
            <a:r>
              <a:rPr lang="zh-CN" altLang="en-US" sz="1300" b="0" i="0" dirty="0">
                <a:solidFill>
                  <a:srgbClr val="333333"/>
                </a:solidFill>
                <a:effectLst/>
                <a:latin typeface="Verdana" panose="020B0604030504040204" pitchFamily="34" charset="0"/>
              </a:rPr>
              <a:t>）</a:t>
            </a:r>
            <a:r>
              <a:rPr lang="en-US" altLang="zh-CN" sz="1300" b="0" i="0" dirty="0" err="1">
                <a:solidFill>
                  <a:srgbClr val="333333"/>
                </a:solidFill>
                <a:effectLst/>
                <a:latin typeface="Verdana" panose="020B0604030504040204" pitchFamily="34" charset="0"/>
              </a:rPr>
              <a:t>re.compile</a:t>
            </a:r>
            <a:r>
              <a:rPr lang="zh-CN" altLang="en-US" sz="1300" b="0" i="0" dirty="0">
                <a:solidFill>
                  <a:srgbClr val="333333"/>
                </a:solidFill>
                <a:effectLst/>
                <a:latin typeface="Verdana" panose="020B0604030504040204" pitchFamily="34" charset="0"/>
              </a:rPr>
              <a:t>后再</a:t>
            </a:r>
            <a:r>
              <a:rPr lang="en-US" altLang="zh-CN" sz="1300" b="0" i="0" dirty="0">
                <a:solidFill>
                  <a:srgbClr val="333333"/>
                </a:solidFill>
                <a:effectLst/>
                <a:latin typeface="Verdana" panose="020B0604030504040204" pitchFamily="34" charset="0"/>
              </a:rPr>
              <a:t>sub</a:t>
            </a:r>
            <a:r>
              <a:rPr lang="zh-CN" altLang="en-US" sz="1300" b="0" i="0" dirty="0">
                <a:solidFill>
                  <a:srgbClr val="333333"/>
                </a:solidFill>
                <a:effectLst/>
                <a:latin typeface="Verdana" panose="020B0604030504040204" pitchFamily="34" charset="0"/>
              </a:rPr>
              <a:t>可以工作，但</a:t>
            </a:r>
            <a:r>
              <a:rPr lang="en-US" altLang="zh-CN" sz="1300" b="0" i="0" dirty="0" err="1">
                <a:solidFill>
                  <a:srgbClr val="333333"/>
                </a:solidFill>
                <a:effectLst/>
                <a:latin typeface="Verdana" panose="020B0604030504040204" pitchFamily="34" charset="0"/>
              </a:rPr>
              <a:t>re.sub</a:t>
            </a:r>
            <a:r>
              <a:rPr lang="zh-CN" altLang="en-US" sz="1300" b="0" i="0" dirty="0">
                <a:solidFill>
                  <a:srgbClr val="333333"/>
                </a:solidFill>
                <a:effectLst/>
                <a:latin typeface="Verdana" panose="020B0604030504040204" pitchFamily="34" charset="0"/>
              </a:rPr>
              <a:t>不工作，或者是（</a:t>
            </a:r>
            <a:r>
              <a:rPr lang="en-US" altLang="zh-CN" sz="1300" b="0" i="0" dirty="0">
                <a:solidFill>
                  <a:srgbClr val="333333"/>
                </a:solidFill>
                <a:effectLst/>
                <a:latin typeface="Verdana" panose="020B0604030504040204" pitchFamily="34" charset="0"/>
              </a:rPr>
              <a:t>2</a:t>
            </a:r>
            <a:r>
              <a:rPr lang="zh-CN" altLang="en-US" sz="1300" b="0" i="0" dirty="0">
                <a:solidFill>
                  <a:srgbClr val="333333"/>
                </a:solidFill>
                <a:effectLst/>
                <a:latin typeface="Verdana" panose="020B0604030504040204" pitchFamily="34" charset="0"/>
              </a:rPr>
              <a:t>）</a:t>
            </a:r>
            <a:r>
              <a:rPr lang="en-US" altLang="zh-CN" sz="1300" b="0" i="0" dirty="0" err="1">
                <a:solidFill>
                  <a:srgbClr val="333333"/>
                </a:solidFill>
                <a:effectLst/>
                <a:latin typeface="Verdana" panose="020B0604030504040204" pitchFamily="34" charset="0"/>
              </a:rPr>
              <a:t>re.search</a:t>
            </a:r>
            <a:r>
              <a:rPr lang="zh-CN" altLang="en-US" sz="1300" b="0" i="0" dirty="0">
                <a:solidFill>
                  <a:srgbClr val="333333"/>
                </a:solidFill>
                <a:effectLst/>
                <a:latin typeface="Verdana" panose="020B0604030504040204" pitchFamily="34" charset="0"/>
              </a:rPr>
              <a:t>后</a:t>
            </a:r>
            <a:r>
              <a:rPr lang="en-US" altLang="zh-CN" sz="1300" b="0" i="0" dirty="0">
                <a:solidFill>
                  <a:srgbClr val="333333"/>
                </a:solidFill>
                <a:effectLst/>
                <a:latin typeface="Verdana" panose="020B0604030504040204" pitchFamily="34" charset="0"/>
              </a:rPr>
              <a:t>replace</a:t>
            </a:r>
            <a:r>
              <a:rPr lang="zh-CN" altLang="en-US" sz="1300" b="0" i="0" dirty="0">
                <a:solidFill>
                  <a:srgbClr val="333333"/>
                </a:solidFill>
                <a:effectLst/>
                <a:latin typeface="Verdana" panose="020B0604030504040204" pitchFamily="34" charset="0"/>
              </a:rPr>
              <a:t>工作，但直接</a:t>
            </a:r>
            <a:r>
              <a:rPr lang="en-US" altLang="zh-CN" sz="1300" b="0" i="0" dirty="0" err="1">
                <a:solidFill>
                  <a:srgbClr val="333333"/>
                </a:solidFill>
                <a:effectLst/>
                <a:latin typeface="Verdana" panose="020B0604030504040204" pitchFamily="34" charset="0"/>
              </a:rPr>
              <a:t>re.sub</a:t>
            </a:r>
            <a:r>
              <a:rPr lang="zh-CN" altLang="en-US" sz="1300" b="0" i="0" dirty="0">
                <a:solidFill>
                  <a:srgbClr val="333333"/>
                </a:solidFill>
                <a:effectLst/>
                <a:latin typeface="Verdana" panose="020B0604030504040204" pitchFamily="34" charset="0"/>
              </a:rPr>
              <a:t>以及</a:t>
            </a:r>
            <a:r>
              <a:rPr lang="en-US" altLang="zh-CN" sz="1300" b="0" i="0" dirty="0" err="1">
                <a:solidFill>
                  <a:srgbClr val="333333"/>
                </a:solidFill>
                <a:effectLst/>
                <a:latin typeface="Verdana" panose="020B0604030504040204" pitchFamily="34" charset="0"/>
              </a:rPr>
              <a:t>re.compile</a:t>
            </a:r>
            <a:r>
              <a:rPr lang="zh-CN" altLang="en-US" sz="1300" b="0" i="0" dirty="0">
                <a:solidFill>
                  <a:srgbClr val="333333"/>
                </a:solidFill>
                <a:effectLst/>
                <a:latin typeface="Verdana" panose="020B0604030504040204" pitchFamily="34" charset="0"/>
              </a:rPr>
              <a:t>后再</a:t>
            </a:r>
            <a:r>
              <a:rPr lang="en-US" altLang="zh-CN" sz="1300" b="0" i="0" dirty="0" err="1">
                <a:solidFill>
                  <a:srgbClr val="333333"/>
                </a:solidFill>
                <a:effectLst/>
                <a:latin typeface="Verdana" panose="020B0604030504040204" pitchFamily="34" charset="0"/>
              </a:rPr>
              <a:t>re.sub</a:t>
            </a:r>
            <a:r>
              <a:rPr lang="zh-CN" altLang="en-US" sz="1300" b="0" i="0" dirty="0">
                <a:solidFill>
                  <a:srgbClr val="333333"/>
                </a:solidFill>
                <a:effectLst/>
                <a:latin typeface="Verdana" panose="020B0604030504040204" pitchFamily="34" charset="0"/>
              </a:rPr>
              <a:t>都不工作</a:t>
            </a:r>
          </a:p>
          <a:p>
            <a:pPr marL="0" indent="0" algn="l">
              <a:buNone/>
            </a:pPr>
            <a:r>
              <a:rPr lang="zh-CN" altLang="en-US" sz="1300" b="1" dirty="0">
                <a:solidFill>
                  <a:srgbClr val="B22222"/>
                </a:solidFill>
                <a:latin typeface="Verdana" panose="020B0604030504040204" pitchFamily="34" charset="0"/>
              </a:rPr>
              <a:t>遇到的问题：</a:t>
            </a:r>
          </a:p>
          <a:p>
            <a:pPr algn="l"/>
            <a:r>
              <a:rPr lang="zh-CN" altLang="en-US" sz="1300" b="0" i="0" dirty="0">
                <a:solidFill>
                  <a:srgbClr val="333333"/>
                </a:solidFill>
                <a:effectLst/>
                <a:latin typeface="Verdana" panose="020B0604030504040204" pitchFamily="34" charset="0"/>
              </a:rPr>
              <a:t>当传递第四个参数，原以为是</a:t>
            </a:r>
            <a:r>
              <a:rPr lang="en-US" altLang="zh-CN" sz="1300" b="0" i="0" dirty="0">
                <a:solidFill>
                  <a:srgbClr val="333333"/>
                </a:solidFill>
                <a:effectLst/>
                <a:latin typeface="Verdana" panose="020B0604030504040204" pitchFamily="34" charset="0"/>
              </a:rPr>
              <a:t>flag</a:t>
            </a:r>
            <a:r>
              <a:rPr lang="zh-CN" altLang="en-US" sz="1300" b="0" i="0" dirty="0">
                <a:solidFill>
                  <a:srgbClr val="333333"/>
                </a:solidFill>
                <a:effectLst/>
                <a:latin typeface="Verdana" panose="020B0604030504040204" pitchFamily="34" charset="0"/>
              </a:rPr>
              <a:t>的值，结果实际上是</a:t>
            </a:r>
            <a:r>
              <a:rPr lang="en-US" altLang="zh-CN" sz="1300" b="0" i="0" dirty="0">
                <a:solidFill>
                  <a:srgbClr val="333333"/>
                </a:solidFill>
                <a:effectLst/>
                <a:latin typeface="Verdana" panose="020B0604030504040204" pitchFamily="34" charset="0"/>
              </a:rPr>
              <a:t>count</a:t>
            </a:r>
            <a:r>
              <a:rPr lang="zh-CN" altLang="en-US" sz="1300" b="0" i="0" dirty="0">
                <a:solidFill>
                  <a:srgbClr val="333333"/>
                </a:solidFill>
                <a:effectLst/>
                <a:latin typeface="Verdana" panose="020B0604030504040204" pitchFamily="34" charset="0"/>
              </a:rPr>
              <a:t>值，所以导致</a:t>
            </a:r>
            <a:r>
              <a:rPr lang="en-US" altLang="zh-CN" sz="1300" b="0" i="0" dirty="0" err="1">
                <a:solidFill>
                  <a:srgbClr val="333333"/>
                </a:solidFill>
                <a:effectLst/>
                <a:latin typeface="Verdana" panose="020B0604030504040204" pitchFamily="34" charset="0"/>
              </a:rPr>
              <a:t>re.sub</a:t>
            </a:r>
            <a:r>
              <a:rPr lang="zh-CN" altLang="en-US" sz="1300" b="0" i="0" dirty="0">
                <a:solidFill>
                  <a:srgbClr val="333333"/>
                </a:solidFill>
                <a:effectLst/>
                <a:latin typeface="Verdana" panose="020B0604030504040204" pitchFamily="34" charset="0"/>
              </a:rPr>
              <a:t>部分替换或替换不完整。</a:t>
            </a:r>
          </a:p>
          <a:p>
            <a:pPr algn="l"/>
            <a:endParaRPr lang="en-US" altLang="zh-CN" sz="1300" b="0" i="0" dirty="0">
              <a:solidFill>
                <a:srgbClr val="333333"/>
              </a:solidFill>
              <a:effectLst/>
              <a:latin typeface="Verdana" panose="020B0604030504040204" pitchFamily="34" charset="0"/>
            </a:endParaRPr>
          </a:p>
          <a:p>
            <a:pPr algn="l">
              <a:buFont typeface="Arial" panose="020B0604020202020204" pitchFamily="34" charset="0"/>
              <a:buChar char="•"/>
            </a:pPr>
            <a:endParaRPr lang="zh-CN" altLang="en-US" sz="1300" b="0" i="0" dirty="0">
              <a:solidFill>
                <a:srgbClr val="333333"/>
              </a:solidFill>
              <a:effectLst/>
              <a:latin typeface="Verdana" panose="020B0604030504040204" pitchFamily="34" charset="0"/>
            </a:endParaRPr>
          </a:p>
          <a:p>
            <a:endParaRPr lang="zh-CN" altLang="en-US" sz="1300" dirty="0"/>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82</a:t>
            </a:fld>
            <a:endParaRPr lang="zh-CN" altLang="en-US" dirty="0"/>
          </a:p>
        </p:txBody>
      </p:sp>
    </p:spTree>
  </p:cSld>
  <p:clrMapOvr>
    <a:masterClrMapping/>
  </p:clrMapOvr>
  <p:transition spd="slow" advClick="0">
    <p:pull dir="d"/>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83</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4.3.3 </a:t>
            </a:r>
            <a:r>
              <a:rPr lang="zh-CN" altLang="en-US" sz="2800" b="1" dirty="0">
                <a:latin typeface="Times New Roman" panose="02020603050405020304" pitchFamily="18" charset="0"/>
                <a:ea typeface="仿宋" panose="02010609060101010101" pitchFamily="49" charset="-122"/>
              </a:rPr>
              <a:t>使用正则表达式对象</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12" name="Content Placeholder 2"/>
          <p:cNvSpPr>
            <a:spLocks noGrp="1"/>
          </p:cNvSpPr>
          <p:nvPr>
            <p:ph idx="1"/>
          </p:nvPr>
        </p:nvSpPr>
        <p:spPr>
          <a:xfrm>
            <a:off x="457200" y="4076338"/>
            <a:ext cx="8229600" cy="2518211"/>
          </a:xfrm>
        </p:spPr>
        <p:txBody>
          <a:bodyPr anchor="t"/>
          <a:lstStyle/>
          <a:p>
            <a:pPr marL="0" indent="0">
              <a:buNone/>
            </a:pPr>
            <a:r>
              <a:rPr lang="en-US" altLang="en-US" sz="1350" dirty="0">
                <a:latin typeface="Consolas" panose="020B0609020204030204" charset="0"/>
              </a:rPr>
              <a:t>&gt;&gt;&gt; print(</a:t>
            </a:r>
            <a:r>
              <a:rPr lang="en-US" altLang="en-US" sz="1350" dirty="0" err="1">
                <a:latin typeface="Consolas" panose="020B0609020204030204" charset="0"/>
              </a:rPr>
              <a:t>pattern.sub</a:t>
            </a:r>
            <a:r>
              <a:rPr lang="en-US" altLang="en-US" sz="1350" dirty="0">
                <a:latin typeface="Consolas" panose="020B0609020204030204" charset="0"/>
              </a:rPr>
              <a:t>(lambda x: </a:t>
            </a:r>
            <a:r>
              <a:rPr lang="en-US" altLang="en-US" sz="1350" dirty="0" err="1">
                <a:latin typeface="Consolas" panose="020B0609020204030204" charset="0"/>
              </a:rPr>
              <a:t>x.group</a:t>
            </a:r>
            <a:r>
              <a:rPr lang="en-US" altLang="en-US" sz="1350" dirty="0">
                <a:latin typeface="Consolas" panose="020B0609020204030204" charset="0"/>
              </a:rPr>
              <a:t>(0).upper(), example))</a:t>
            </a:r>
          </a:p>
          <a:p>
            <a:pPr marL="0" indent="0">
              <a:buNone/>
            </a:pPr>
            <a:r>
              <a:rPr lang="en-US" altLang="en-US" sz="1350" dirty="0">
                <a:latin typeface="Consolas" panose="020B0609020204030204" charset="0"/>
              </a:rPr>
              <a:t>                                     #</a:t>
            </a:r>
            <a:r>
              <a:rPr lang="en-US" altLang="en-US" sz="1350" dirty="0" err="1">
                <a:latin typeface="Consolas" panose="020B0609020204030204" charset="0"/>
              </a:rPr>
              <a:t>把所有匹配项都改为大写</a:t>
            </a:r>
            <a:endParaRPr lang="en-US" altLang="en-US" sz="1350" dirty="0">
              <a:latin typeface="Consolas" panose="020B0609020204030204" charset="0"/>
            </a:endParaRPr>
          </a:p>
          <a:p>
            <a:pPr marL="0" indent="0">
              <a:buNone/>
            </a:pPr>
            <a:endParaRPr lang="en-US" altLang="en-US" sz="1350" dirty="0">
              <a:latin typeface="Consolas" panose="020B0609020204030204" charset="0"/>
            </a:endParaRPr>
          </a:p>
          <a:p>
            <a:pPr marL="0" indent="0">
              <a:buNone/>
            </a:pPr>
            <a:r>
              <a:rPr lang="en-US" altLang="en-US" sz="1350" dirty="0">
                <a:solidFill>
                  <a:srgbClr val="0000FF"/>
                </a:solidFill>
                <a:latin typeface="Consolas" panose="020B0609020204030204" charset="0"/>
              </a:rPr>
              <a:t>BEAUTIFUL is BETTER than ugly.</a:t>
            </a:r>
          </a:p>
          <a:p>
            <a:pPr marL="0" indent="0">
              <a:buNone/>
            </a:pPr>
            <a:r>
              <a:rPr lang="en-US" altLang="en-US" sz="1350" dirty="0">
                <a:solidFill>
                  <a:srgbClr val="0000FF"/>
                </a:solidFill>
                <a:latin typeface="Consolas" panose="020B0609020204030204" charset="0"/>
              </a:rPr>
              <a:t>Explicit is BETTER than implicit.</a:t>
            </a:r>
          </a:p>
          <a:p>
            <a:pPr marL="0" indent="0">
              <a:buNone/>
            </a:pPr>
            <a:r>
              <a:rPr lang="en-US" altLang="en-US" sz="1350" dirty="0">
                <a:solidFill>
                  <a:srgbClr val="0000FF"/>
                </a:solidFill>
                <a:latin typeface="Consolas" panose="020B0609020204030204" charset="0"/>
              </a:rPr>
              <a:t>Simple is BETTER than complex.</a:t>
            </a:r>
          </a:p>
          <a:p>
            <a:pPr marL="0" indent="0">
              <a:buNone/>
            </a:pPr>
            <a:r>
              <a:rPr lang="en-US" altLang="en-US" sz="1350" dirty="0">
                <a:solidFill>
                  <a:srgbClr val="0000FF"/>
                </a:solidFill>
                <a:latin typeface="Consolas" panose="020B0609020204030204" charset="0"/>
              </a:rPr>
              <a:t>Complex is BETTER than complicated.</a:t>
            </a:r>
          </a:p>
          <a:p>
            <a:pPr marL="0" indent="0">
              <a:buNone/>
            </a:pPr>
            <a:r>
              <a:rPr lang="en-US" altLang="en-US" sz="1350" dirty="0">
                <a:solidFill>
                  <a:srgbClr val="0000FF"/>
                </a:solidFill>
                <a:latin typeface="Consolas" panose="020B0609020204030204" charset="0"/>
              </a:rPr>
              <a:t>Flat is BETTER than nested.</a:t>
            </a:r>
          </a:p>
          <a:p>
            <a:pPr marL="0" indent="0">
              <a:buNone/>
            </a:pPr>
            <a:r>
              <a:rPr lang="en-US" altLang="en-US" sz="1350" dirty="0">
                <a:solidFill>
                  <a:srgbClr val="0000FF"/>
                </a:solidFill>
                <a:latin typeface="Consolas" panose="020B0609020204030204" charset="0"/>
              </a:rPr>
              <a:t>Sparse is BETTER than dense.</a:t>
            </a:r>
          </a:p>
          <a:p>
            <a:pPr marL="0" indent="0">
              <a:buNone/>
            </a:pPr>
            <a:r>
              <a:rPr lang="en-US" altLang="en-US" sz="1350" dirty="0">
                <a:solidFill>
                  <a:srgbClr val="0000FF"/>
                </a:solidFill>
                <a:latin typeface="Consolas" panose="020B0609020204030204" charset="0"/>
              </a:rPr>
              <a:t>Readability counts.</a:t>
            </a:r>
          </a:p>
        </p:txBody>
      </p:sp>
      <p:sp>
        <p:nvSpPr>
          <p:cNvPr id="13" name="Content Placeholder 2"/>
          <p:cNvSpPr txBox="1"/>
          <p:nvPr/>
        </p:nvSpPr>
        <p:spPr bwMode="auto">
          <a:xfrm>
            <a:off x="489223" y="1510398"/>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altLang="en-US" sz="1350" dirty="0">
                <a:latin typeface="Consolas" panose="020B0609020204030204" charset="0"/>
              </a:rPr>
              <a:t>&gt;&gt;&gt; pattern = </a:t>
            </a:r>
            <a:r>
              <a:rPr lang="en-US" altLang="en-US" sz="1350" dirty="0" err="1">
                <a:latin typeface="Consolas" panose="020B0609020204030204" charset="0"/>
              </a:rPr>
              <a:t>re.compile</a:t>
            </a:r>
            <a:r>
              <a:rPr lang="en-US" altLang="en-US" sz="1350" dirty="0">
                <a:latin typeface="Consolas" panose="020B0609020204030204" charset="0"/>
              </a:rPr>
              <a:t>(r'\bb\w*\b', </a:t>
            </a:r>
            <a:r>
              <a:rPr lang="en-US" altLang="en-US" sz="1350" dirty="0" err="1">
                <a:latin typeface="Consolas" panose="020B0609020204030204" charset="0"/>
              </a:rPr>
              <a:t>re.I</a:t>
            </a:r>
            <a:r>
              <a:rPr lang="en-US" altLang="en-US" sz="1350" dirty="0">
                <a:latin typeface="Consolas" panose="020B0609020204030204" charset="0"/>
              </a:rPr>
              <a:t>) #</a:t>
            </a:r>
            <a:r>
              <a:rPr lang="en-US" altLang="en-US" sz="1350" dirty="0" err="1">
                <a:latin typeface="Consolas" panose="020B0609020204030204" charset="0"/>
              </a:rPr>
              <a:t>匹配以b或B开头的单词</a:t>
            </a:r>
            <a:endParaRPr lang="en-US" altLang="en-US" sz="1350" dirty="0">
              <a:latin typeface="Consolas" panose="020B0609020204030204" charset="0"/>
            </a:endParaRPr>
          </a:p>
          <a:p>
            <a:pPr marL="0" indent="0">
              <a:buFont typeface="Arial" panose="020B0604020202020204" pitchFamily="34" charset="0"/>
              <a:buNone/>
            </a:pPr>
            <a:r>
              <a:rPr lang="en-US" altLang="en-US" sz="1350" dirty="0">
                <a:latin typeface="Consolas" panose="020B0609020204030204" charset="0"/>
              </a:rPr>
              <a:t>&gt;&gt;&gt; print(</a:t>
            </a:r>
            <a:r>
              <a:rPr lang="en-US" altLang="en-US" sz="1350" dirty="0" err="1">
                <a:latin typeface="Consolas" panose="020B0609020204030204" charset="0"/>
              </a:rPr>
              <a:t>pattern.sub</a:t>
            </a:r>
            <a:r>
              <a:rPr lang="en-US" altLang="en-US" sz="1350" dirty="0">
                <a:latin typeface="Consolas" panose="020B0609020204030204" charset="0"/>
              </a:rPr>
              <a:t>('*', example))    #</a:t>
            </a:r>
            <a:r>
              <a:rPr lang="en-US" altLang="en-US" sz="1350" dirty="0" err="1">
                <a:latin typeface="Consolas" panose="020B0609020204030204" charset="0"/>
              </a:rPr>
              <a:t>将符合条件的单词替换为</a:t>
            </a:r>
            <a:r>
              <a:rPr lang="en-US" altLang="en-US" sz="1350" dirty="0">
                <a:latin typeface="Consolas" panose="020B0609020204030204" charset="0"/>
              </a:rPr>
              <a:t>*</a:t>
            </a:r>
          </a:p>
          <a:p>
            <a:pPr marL="0" indent="0">
              <a:buFont typeface="Arial" panose="020B0604020202020204" pitchFamily="34" charset="0"/>
              <a:buNone/>
            </a:pPr>
            <a:endParaRPr lang="en-US" altLang="en-US" sz="1350" dirty="0">
              <a:latin typeface="Consolas" panose="020B0609020204030204" charset="0"/>
            </a:endParaRPr>
          </a:p>
          <a:p>
            <a:pPr marL="0" indent="0">
              <a:buFont typeface="Arial" panose="020B0604020202020204" pitchFamily="34" charset="0"/>
              <a:buNone/>
            </a:pPr>
            <a:r>
              <a:rPr lang="en-US" altLang="en-US" sz="1350" dirty="0">
                <a:solidFill>
                  <a:srgbClr val="0000FF"/>
                </a:solidFill>
                <a:latin typeface="Consolas" panose="020B0609020204030204" charset="0"/>
              </a:rPr>
              <a:t>* is * than ugly.</a:t>
            </a:r>
          </a:p>
          <a:p>
            <a:pPr marL="0" indent="0">
              <a:buFont typeface="Arial" panose="020B0604020202020204" pitchFamily="34" charset="0"/>
              <a:buNone/>
            </a:pPr>
            <a:r>
              <a:rPr lang="en-US" altLang="en-US" sz="1350" dirty="0">
                <a:solidFill>
                  <a:srgbClr val="0000FF"/>
                </a:solidFill>
                <a:latin typeface="Consolas" panose="020B0609020204030204" charset="0"/>
              </a:rPr>
              <a:t>Explicit is * than implicit.</a:t>
            </a:r>
          </a:p>
          <a:p>
            <a:pPr marL="0" indent="0">
              <a:buFont typeface="Arial" panose="020B0604020202020204" pitchFamily="34" charset="0"/>
              <a:buNone/>
            </a:pPr>
            <a:r>
              <a:rPr lang="en-US" altLang="en-US" sz="1350" dirty="0">
                <a:solidFill>
                  <a:srgbClr val="0000FF"/>
                </a:solidFill>
                <a:latin typeface="Consolas" panose="020B0609020204030204" charset="0"/>
              </a:rPr>
              <a:t>Simple is * than complex.</a:t>
            </a:r>
          </a:p>
          <a:p>
            <a:pPr marL="0" indent="0">
              <a:buFont typeface="Arial" panose="020B0604020202020204" pitchFamily="34" charset="0"/>
              <a:buNone/>
            </a:pPr>
            <a:r>
              <a:rPr lang="en-US" altLang="en-US" sz="1350" dirty="0">
                <a:solidFill>
                  <a:srgbClr val="0000FF"/>
                </a:solidFill>
                <a:latin typeface="Consolas" panose="020B0609020204030204" charset="0"/>
              </a:rPr>
              <a:t>Complex is * than complicated.</a:t>
            </a:r>
          </a:p>
          <a:p>
            <a:pPr marL="0" indent="0">
              <a:buFont typeface="Arial" panose="020B0604020202020204" pitchFamily="34" charset="0"/>
              <a:buNone/>
            </a:pPr>
            <a:r>
              <a:rPr lang="en-US" altLang="en-US" sz="1350" dirty="0">
                <a:solidFill>
                  <a:srgbClr val="0000FF"/>
                </a:solidFill>
                <a:latin typeface="Consolas" panose="020B0609020204030204" charset="0"/>
              </a:rPr>
              <a:t>Flat is * than nested.</a:t>
            </a:r>
          </a:p>
          <a:p>
            <a:pPr marL="0" indent="0">
              <a:buFont typeface="Arial" panose="020B0604020202020204" pitchFamily="34" charset="0"/>
              <a:buNone/>
            </a:pPr>
            <a:r>
              <a:rPr lang="en-US" altLang="en-US" sz="1350" dirty="0">
                <a:solidFill>
                  <a:srgbClr val="0000FF"/>
                </a:solidFill>
                <a:latin typeface="Consolas" panose="020B0609020204030204" charset="0"/>
              </a:rPr>
              <a:t>Sparse is * than dense.</a:t>
            </a:r>
          </a:p>
          <a:p>
            <a:pPr marL="0" indent="0">
              <a:buFont typeface="Arial" panose="020B0604020202020204" pitchFamily="34" charset="0"/>
              <a:buNone/>
            </a:pPr>
            <a:r>
              <a:rPr lang="en-US" altLang="en-US" sz="1350" dirty="0">
                <a:solidFill>
                  <a:srgbClr val="0000FF"/>
                </a:solidFill>
                <a:latin typeface="Consolas" panose="020B0609020204030204" charset="0"/>
              </a:rPr>
              <a:t>Readability counts.</a:t>
            </a:r>
          </a:p>
          <a:p>
            <a:pPr marL="0" indent="0">
              <a:buFont typeface="Arial" panose="020B0604020202020204" pitchFamily="34" charset="0"/>
              <a:buNone/>
            </a:pPr>
            <a:endParaRPr lang="en-US" altLang="en-US" sz="1350" dirty="0">
              <a:latin typeface="Times New Roman" panose="02020603050405020304" pitchFamily="18" charset="0"/>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3" end="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5" end="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6" end="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xEl>
                                              <p:pRg st="7" end="7"/>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xEl>
                                              <p:pRg st="8" end="8"/>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Content Placeholder 2"/>
          <p:cNvSpPr>
            <a:spLocks noGrp="1"/>
          </p:cNvSpPr>
          <p:nvPr>
            <p:ph idx="1"/>
          </p:nvPr>
        </p:nvSpPr>
        <p:spPr/>
        <p:txBody>
          <a:bodyPr anchor="t"/>
          <a:lstStyle/>
          <a:p>
            <a:pPr marL="0" indent="0">
              <a:buNone/>
            </a:pPr>
            <a:r>
              <a:rPr lang="en-US" altLang="en-US" sz="1350" dirty="0">
                <a:latin typeface="Consolas" panose="020B0609020204030204" charset="0"/>
              </a:rPr>
              <a:t>&gt;&gt;&gt; print(</a:t>
            </a:r>
            <a:r>
              <a:rPr lang="en-US" altLang="en-US" sz="1350" dirty="0" err="1">
                <a:latin typeface="Consolas" panose="020B0609020204030204" charset="0"/>
              </a:rPr>
              <a:t>pattern.sub</a:t>
            </a:r>
            <a:r>
              <a:rPr lang="en-US" altLang="en-US" sz="1350" dirty="0">
                <a:latin typeface="Consolas" panose="020B0609020204030204" charset="0"/>
              </a:rPr>
              <a:t>('*', example, 1))      #只替换1次</a:t>
            </a:r>
          </a:p>
          <a:p>
            <a:pPr marL="0" indent="0">
              <a:buNone/>
            </a:pPr>
            <a:endParaRPr lang="en-US" altLang="en-US" sz="1350" dirty="0">
              <a:latin typeface="Consolas" panose="020B0609020204030204" charset="0"/>
            </a:endParaRPr>
          </a:p>
          <a:p>
            <a:pPr marL="0" indent="0">
              <a:buNone/>
            </a:pPr>
            <a:r>
              <a:rPr lang="en-US" altLang="en-US" sz="1350" dirty="0">
                <a:solidFill>
                  <a:srgbClr val="0000FF"/>
                </a:solidFill>
                <a:latin typeface="Consolas" panose="020B0609020204030204" charset="0"/>
              </a:rPr>
              <a:t>* is better than ugly.</a:t>
            </a:r>
          </a:p>
          <a:p>
            <a:pPr marL="0" indent="0">
              <a:buNone/>
            </a:pPr>
            <a:r>
              <a:rPr lang="en-US" altLang="en-US" sz="1350" dirty="0">
                <a:solidFill>
                  <a:srgbClr val="0000FF"/>
                </a:solidFill>
                <a:latin typeface="Consolas" panose="020B0609020204030204" charset="0"/>
              </a:rPr>
              <a:t>Explicit is better than implicit.</a:t>
            </a:r>
          </a:p>
          <a:p>
            <a:pPr marL="0" indent="0">
              <a:buNone/>
            </a:pPr>
            <a:r>
              <a:rPr lang="en-US" altLang="en-US" sz="1350" dirty="0">
                <a:solidFill>
                  <a:srgbClr val="0000FF"/>
                </a:solidFill>
                <a:latin typeface="Consolas" panose="020B0609020204030204" charset="0"/>
              </a:rPr>
              <a:t>Simple is better than complex.</a:t>
            </a:r>
          </a:p>
          <a:p>
            <a:pPr marL="0" indent="0">
              <a:buNone/>
            </a:pPr>
            <a:r>
              <a:rPr lang="en-US" altLang="en-US" sz="1350" dirty="0">
                <a:solidFill>
                  <a:srgbClr val="0000FF"/>
                </a:solidFill>
                <a:latin typeface="Consolas" panose="020B0609020204030204" charset="0"/>
              </a:rPr>
              <a:t>Complex is better than complicated.</a:t>
            </a:r>
          </a:p>
          <a:p>
            <a:pPr marL="0" indent="0">
              <a:buNone/>
            </a:pPr>
            <a:r>
              <a:rPr lang="en-US" altLang="en-US" sz="1350" dirty="0">
                <a:solidFill>
                  <a:srgbClr val="0000FF"/>
                </a:solidFill>
                <a:latin typeface="Consolas" panose="020B0609020204030204" charset="0"/>
              </a:rPr>
              <a:t>Flat is better than nested.</a:t>
            </a:r>
          </a:p>
          <a:p>
            <a:pPr marL="0" indent="0">
              <a:buNone/>
            </a:pPr>
            <a:r>
              <a:rPr lang="en-US" altLang="en-US" sz="1350" dirty="0">
                <a:solidFill>
                  <a:srgbClr val="0000FF"/>
                </a:solidFill>
                <a:latin typeface="Consolas" panose="020B0609020204030204" charset="0"/>
              </a:rPr>
              <a:t>Sparse is better than dense.</a:t>
            </a:r>
          </a:p>
          <a:p>
            <a:pPr marL="0" indent="0">
              <a:buNone/>
            </a:pPr>
            <a:r>
              <a:rPr lang="en-US" altLang="en-US" sz="1350" dirty="0">
                <a:solidFill>
                  <a:srgbClr val="0000FF"/>
                </a:solidFill>
                <a:latin typeface="Consolas" panose="020B0609020204030204" charset="0"/>
              </a:rPr>
              <a:t>Readability counts.</a:t>
            </a:r>
          </a:p>
        </p:txBody>
      </p:sp>
      <p:sp>
        <p:nvSpPr>
          <p:cNvPr id="13312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84</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4.3.3 </a:t>
            </a:r>
            <a:r>
              <a:rPr lang="zh-CN" altLang="en-US" sz="2800" b="1" dirty="0">
                <a:latin typeface="Times New Roman" panose="02020603050405020304" pitchFamily="18" charset="0"/>
                <a:ea typeface="仿宋" panose="02010609060101010101" pitchFamily="49" charset="-122"/>
              </a:rPr>
              <a:t>使用正则表达式对象</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11" name="Content Placeholder 2"/>
          <p:cNvSpPr txBox="1"/>
          <p:nvPr/>
        </p:nvSpPr>
        <p:spPr bwMode="auto">
          <a:xfrm>
            <a:off x="457200" y="3861048"/>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altLang="en-US" sz="1350" dirty="0">
                <a:latin typeface="Consolas" panose="020B0609020204030204" charset="0"/>
              </a:rPr>
              <a:t>&gt;&gt;&gt; pattern = </a:t>
            </a:r>
            <a:r>
              <a:rPr lang="en-US" altLang="en-US" sz="1350" dirty="0" err="1">
                <a:latin typeface="Consolas" panose="020B0609020204030204" charset="0"/>
              </a:rPr>
              <a:t>re.compile</a:t>
            </a:r>
            <a:r>
              <a:rPr lang="en-US" altLang="en-US" sz="1350" dirty="0">
                <a:latin typeface="Consolas" panose="020B0609020204030204" charset="0"/>
              </a:rPr>
              <a:t>(r'\bb\w*\b')   #</a:t>
            </a:r>
            <a:r>
              <a:rPr lang="en-US" altLang="en-US" sz="1350" dirty="0" err="1">
                <a:latin typeface="Consolas" panose="020B0609020204030204" charset="0"/>
              </a:rPr>
              <a:t>匹配以字母b开头的单词</a:t>
            </a:r>
            <a:endParaRPr lang="en-US" altLang="en-US" sz="1350" dirty="0">
              <a:latin typeface="Consolas" panose="020B0609020204030204" charset="0"/>
            </a:endParaRPr>
          </a:p>
          <a:p>
            <a:pPr marL="0" indent="0">
              <a:buFont typeface="Arial" panose="020B0604020202020204" pitchFamily="34" charset="0"/>
              <a:buNone/>
            </a:pPr>
            <a:r>
              <a:rPr lang="en-US" altLang="en-US" sz="1350" dirty="0">
                <a:latin typeface="Consolas" panose="020B0609020204030204" charset="0"/>
              </a:rPr>
              <a:t>&gt;&gt;&gt; print(</a:t>
            </a:r>
            <a:r>
              <a:rPr lang="en-US" altLang="en-US" sz="1350" dirty="0" err="1">
                <a:latin typeface="Consolas" panose="020B0609020204030204" charset="0"/>
              </a:rPr>
              <a:t>pattern.sub</a:t>
            </a:r>
            <a:r>
              <a:rPr lang="en-US" altLang="en-US" sz="1350" dirty="0">
                <a:latin typeface="Consolas" panose="020B0609020204030204" charset="0"/>
              </a:rPr>
              <a:t>('*', example, 1)) #</a:t>
            </a:r>
            <a:r>
              <a:rPr lang="en-US" altLang="en-US" sz="1350" dirty="0" err="1">
                <a:latin typeface="Consolas" panose="020B0609020204030204" charset="0"/>
              </a:rPr>
              <a:t>将符合条件的单词替换为</a:t>
            </a:r>
            <a:r>
              <a:rPr lang="en-US" altLang="en-US" sz="1350" dirty="0">
                <a:latin typeface="Consolas" panose="020B0609020204030204" charset="0"/>
              </a:rPr>
              <a:t>*</a:t>
            </a:r>
          </a:p>
          <a:p>
            <a:pPr marL="0" indent="0">
              <a:buFont typeface="Arial" panose="020B0604020202020204" pitchFamily="34" charset="0"/>
              <a:buNone/>
            </a:pPr>
            <a:r>
              <a:rPr lang="en-US" altLang="en-US" sz="1350" dirty="0">
                <a:latin typeface="Consolas" panose="020B0609020204030204" charset="0"/>
              </a:rPr>
              <a:t>                                        #只替换1次</a:t>
            </a:r>
          </a:p>
          <a:p>
            <a:pPr marL="0" indent="0">
              <a:buFont typeface="Arial" panose="020B0604020202020204" pitchFamily="34" charset="0"/>
              <a:buNone/>
            </a:pPr>
            <a:r>
              <a:rPr lang="en-US" altLang="en-US" sz="1350" dirty="0">
                <a:solidFill>
                  <a:srgbClr val="0000FF"/>
                </a:solidFill>
                <a:latin typeface="Consolas" panose="020B0609020204030204" charset="0"/>
              </a:rPr>
              <a:t>Beautiful is * than ugly.</a:t>
            </a:r>
          </a:p>
          <a:p>
            <a:pPr marL="0" indent="0">
              <a:buFont typeface="Arial" panose="020B0604020202020204" pitchFamily="34" charset="0"/>
              <a:buNone/>
            </a:pPr>
            <a:r>
              <a:rPr lang="en-US" altLang="en-US" sz="1350" dirty="0">
                <a:solidFill>
                  <a:srgbClr val="0000FF"/>
                </a:solidFill>
                <a:latin typeface="Consolas" panose="020B0609020204030204" charset="0"/>
              </a:rPr>
              <a:t>Explicit is better than implicit.</a:t>
            </a:r>
          </a:p>
          <a:p>
            <a:pPr marL="0" indent="0">
              <a:buFont typeface="Arial" panose="020B0604020202020204" pitchFamily="34" charset="0"/>
              <a:buNone/>
            </a:pPr>
            <a:r>
              <a:rPr lang="en-US" altLang="en-US" sz="1350" dirty="0">
                <a:solidFill>
                  <a:srgbClr val="0000FF"/>
                </a:solidFill>
                <a:latin typeface="Consolas" panose="020B0609020204030204" charset="0"/>
              </a:rPr>
              <a:t>Simple is better than complex.</a:t>
            </a:r>
          </a:p>
          <a:p>
            <a:pPr marL="0" indent="0">
              <a:buFont typeface="Arial" panose="020B0604020202020204" pitchFamily="34" charset="0"/>
              <a:buNone/>
            </a:pPr>
            <a:r>
              <a:rPr lang="en-US" altLang="en-US" sz="1350" dirty="0">
                <a:solidFill>
                  <a:srgbClr val="0000FF"/>
                </a:solidFill>
                <a:latin typeface="Consolas" panose="020B0609020204030204" charset="0"/>
              </a:rPr>
              <a:t>Complex is better than complicated.</a:t>
            </a:r>
          </a:p>
          <a:p>
            <a:pPr marL="0" indent="0">
              <a:buFont typeface="Arial" panose="020B0604020202020204" pitchFamily="34" charset="0"/>
              <a:buNone/>
            </a:pPr>
            <a:r>
              <a:rPr lang="en-US" altLang="en-US" sz="1350" dirty="0">
                <a:solidFill>
                  <a:srgbClr val="0000FF"/>
                </a:solidFill>
                <a:latin typeface="Consolas" panose="020B0609020204030204" charset="0"/>
              </a:rPr>
              <a:t>Flat is better than nested.</a:t>
            </a:r>
          </a:p>
          <a:p>
            <a:pPr marL="0" indent="0">
              <a:buFont typeface="Arial" panose="020B0604020202020204" pitchFamily="34" charset="0"/>
              <a:buNone/>
            </a:pPr>
            <a:r>
              <a:rPr lang="en-US" altLang="en-US" sz="1350" dirty="0">
                <a:solidFill>
                  <a:srgbClr val="0000FF"/>
                </a:solidFill>
                <a:latin typeface="Consolas" panose="020B0609020204030204" charset="0"/>
              </a:rPr>
              <a:t>Sparse is better than dense.</a:t>
            </a:r>
          </a:p>
          <a:p>
            <a:pPr marL="0" indent="0">
              <a:buFont typeface="Arial" panose="020B0604020202020204" pitchFamily="34" charset="0"/>
              <a:buNone/>
            </a:pPr>
            <a:r>
              <a:rPr lang="en-US" altLang="en-US" sz="1350" dirty="0">
                <a:solidFill>
                  <a:srgbClr val="0000FF"/>
                </a:solidFill>
                <a:latin typeface="Consolas" panose="020B0609020204030204" charset="0"/>
              </a:rPr>
              <a:t>Readability counts.</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21">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2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12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312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312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312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3121">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3121">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xEl>
                                              <p:pRg st="3" end="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xEl>
                                              <p:pRg st="5" end="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xEl>
                                              <p:pRg st="6" end="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xEl>
                                              <p:pRg st="7" end="7"/>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xEl>
                                              <p:pRg st="8" end="8"/>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文本占位符 54274"/>
          <p:cNvSpPr>
            <a:spLocks noGrp="1"/>
          </p:cNvSpPr>
          <p:nvPr>
            <p:ph idx="1"/>
          </p:nvPr>
        </p:nvSpPr>
        <p:spPr>
          <a:xfrm>
            <a:off x="360585" y="1408012"/>
            <a:ext cx="8229600" cy="4678451"/>
          </a:xfrm>
        </p:spPr>
        <p:txBody>
          <a:bodyPr anchor="t"/>
          <a:lstStyle/>
          <a:p>
            <a:pPr marL="1905" indent="-1905">
              <a:spcBef>
                <a:spcPts val="300"/>
              </a:spcBef>
              <a:buNone/>
            </a:pPr>
            <a:r>
              <a:rPr lang="en-US" altLang="zh-CN" sz="1350" dirty="0">
                <a:latin typeface="Consolas" panose="020B0609020204030204" charset="0"/>
              </a:rPr>
              <a:t>&gt;&gt;&gt; pat = </a:t>
            </a:r>
            <a:r>
              <a:rPr lang="en-US" altLang="zh-CN" sz="1350" dirty="0">
                <a:solidFill>
                  <a:srgbClr val="FF0000"/>
                </a:solidFill>
                <a:latin typeface="Consolas" panose="020B0609020204030204" charset="0"/>
              </a:rPr>
              <a:t>‘{name}‘  #</a:t>
            </a:r>
            <a:r>
              <a:rPr lang="zh-CN" altLang="en-US" sz="1350" dirty="0">
                <a:solidFill>
                  <a:srgbClr val="FF0000"/>
                </a:solidFill>
                <a:latin typeface="Consolas" panose="020B0609020204030204" charset="0"/>
              </a:rPr>
              <a:t>没有意义，只有</a:t>
            </a:r>
            <a:r>
              <a:rPr lang="en-US" altLang="zh-CN" sz="1350" dirty="0">
                <a:solidFill>
                  <a:srgbClr val="FF0000"/>
                </a:solidFill>
                <a:latin typeface="Consolas" panose="020B0609020204030204" charset="0"/>
              </a:rPr>
              <a:t>{</a:t>
            </a:r>
            <a:r>
              <a:rPr lang="en-US" altLang="zh-CN" sz="1350" dirty="0" err="1">
                <a:solidFill>
                  <a:srgbClr val="FF0000"/>
                </a:solidFill>
                <a:latin typeface="Consolas" panose="020B0609020204030204" charset="0"/>
              </a:rPr>
              <a:t>m,n</a:t>
            </a:r>
            <a:r>
              <a:rPr lang="en-US" altLang="zh-CN" sz="1350" dirty="0">
                <a:solidFill>
                  <a:srgbClr val="FF0000"/>
                </a:solidFill>
                <a:latin typeface="Consolas" panose="020B0609020204030204" charset="0"/>
              </a:rPr>
              <a:t>} </a:t>
            </a:r>
          </a:p>
          <a:p>
            <a:pPr marL="1905" indent="-1905">
              <a:spcBef>
                <a:spcPts val="300"/>
              </a:spcBef>
              <a:buNone/>
            </a:pPr>
            <a:r>
              <a:rPr lang="zh-CN" altLang="en-US" sz="1350" dirty="0">
                <a:solidFill>
                  <a:srgbClr val="FF0000"/>
                </a:solidFill>
                <a:latin typeface="Consolas" panose="020B0609020204030204" charset="0"/>
              </a:rPr>
              <a:t>才是正则表达式，这里是借用变量的序列解包样式而已</a:t>
            </a:r>
            <a:endParaRPr lang="en-US" altLang="zh-CN" sz="1350" dirty="0">
              <a:solidFill>
                <a:srgbClr val="FF0000"/>
              </a:solidFill>
              <a:latin typeface="Consolas" panose="020B0609020204030204" charset="0"/>
            </a:endParaRPr>
          </a:p>
          <a:p>
            <a:pPr marL="1905" indent="-1905">
              <a:spcBef>
                <a:spcPts val="300"/>
              </a:spcBef>
              <a:buNone/>
            </a:pPr>
            <a:r>
              <a:rPr lang="en-US" altLang="zh-CN" sz="1350" dirty="0">
                <a:latin typeface="Consolas" panose="020B0609020204030204" charset="0"/>
              </a:rPr>
              <a:t>&gt;&gt;&gt; text = 'Dear {name}...'</a:t>
            </a:r>
          </a:p>
          <a:p>
            <a:pPr marL="1905" indent="-1905">
              <a:spcBef>
                <a:spcPts val="300"/>
              </a:spcBef>
              <a:buNone/>
            </a:pPr>
            <a:r>
              <a:rPr lang="en-US" altLang="zh-CN" sz="1350" dirty="0">
                <a:latin typeface="Consolas" panose="020B0609020204030204" charset="0"/>
              </a:rPr>
              <a:t>&gt;&gt;&gt; </a:t>
            </a:r>
            <a:r>
              <a:rPr lang="en-US" altLang="zh-CN" sz="1350" dirty="0" err="1">
                <a:latin typeface="Consolas" panose="020B0609020204030204" charset="0"/>
              </a:rPr>
              <a:t>re.sub</a:t>
            </a:r>
            <a:r>
              <a:rPr lang="en-US" altLang="zh-CN" sz="1350" dirty="0">
                <a:latin typeface="Consolas" panose="020B0609020204030204" charset="0"/>
              </a:rPr>
              <a:t>(pat, '</a:t>
            </a:r>
            <a:r>
              <a:rPr lang="en-US" altLang="zh-CN" sz="1350" dirty="0" err="1">
                <a:latin typeface="Consolas" panose="020B0609020204030204" charset="0"/>
              </a:rPr>
              <a:t>Mr.Python</a:t>
            </a:r>
            <a:r>
              <a:rPr lang="en-US" altLang="zh-CN" sz="1350" dirty="0">
                <a:latin typeface="Consolas" panose="020B0609020204030204" charset="0"/>
              </a:rPr>
              <a:t>', text)  #字符串替换</a:t>
            </a:r>
          </a:p>
          <a:p>
            <a:pPr marL="1905" indent="-1905">
              <a:spcBef>
                <a:spcPts val="300"/>
              </a:spcBef>
              <a:buNone/>
            </a:pPr>
            <a:r>
              <a:rPr lang="en-US" altLang="zh-CN" sz="1350" dirty="0">
                <a:solidFill>
                  <a:srgbClr val="0000FF"/>
                </a:solidFill>
                <a:latin typeface="Consolas" panose="020B0609020204030204" charset="0"/>
              </a:rPr>
              <a:t>'Dear </a:t>
            </a:r>
            <a:r>
              <a:rPr lang="en-US" altLang="zh-CN" sz="1350" dirty="0" err="1">
                <a:solidFill>
                  <a:srgbClr val="0000FF"/>
                </a:solidFill>
                <a:latin typeface="Consolas" panose="020B0609020204030204" charset="0"/>
              </a:rPr>
              <a:t>Mr.Python</a:t>
            </a:r>
            <a:r>
              <a:rPr lang="en-US" altLang="zh-CN" sz="1350" dirty="0">
                <a:solidFill>
                  <a:srgbClr val="0000FF"/>
                </a:solidFill>
                <a:latin typeface="Consolas" panose="020B0609020204030204" charset="0"/>
              </a:rPr>
              <a:t>...'</a:t>
            </a:r>
          </a:p>
          <a:p>
            <a:pPr marL="1905" indent="-1905">
              <a:spcBef>
                <a:spcPts val="300"/>
              </a:spcBef>
              <a:buNone/>
            </a:pPr>
            <a:r>
              <a:rPr lang="en-US" altLang="zh-CN" sz="1350" dirty="0">
                <a:latin typeface="Consolas" panose="020B0609020204030204" charset="0"/>
              </a:rPr>
              <a:t>&gt;&gt;&gt; s = 'a s d'</a:t>
            </a:r>
          </a:p>
          <a:p>
            <a:pPr marL="1905" indent="-1905">
              <a:spcBef>
                <a:spcPts val="300"/>
              </a:spcBef>
              <a:buNone/>
            </a:pPr>
            <a:r>
              <a:rPr lang="en-US" altLang="zh-CN" sz="1350" dirty="0">
                <a:latin typeface="Consolas" panose="020B0609020204030204" charset="0"/>
              </a:rPr>
              <a:t>&gt;&gt;&gt; </a:t>
            </a:r>
            <a:r>
              <a:rPr lang="en-US" altLang="zh-CN" sz="1350" dirty="0" err="1">
                <a:latin typeface="Consolas" panose="020B0609020204030204" charset="0"/>
              </a:rPr>
              <a:t>re.sub</a:t>
            </a:r>
            <a:r>
              <a:rPr lang="en-US" altLang="zh-CN" sz="1350" dirty="0">
                <a:latin typeface="Consolas" panose="020B0609020204030204" charset="0"/>
              </a:rPr>
              <a:t>('</a:t>
            </a:r>
            <a:r>
              <a:rPr lang="en-US" altLang="zh-CN" sz="1350" dirty="0" err="1">
                <a:latin typeface="Consolas" panose="020B0609020204030204" charset="0"/>
              </a:rPr>
              <a:t>a|s|d</a:t>
            </a:r>
            <a:r>
              <a:rPr lang="en-US" altLang="zh-CN" sz="1350" dirty="0">
                <a:latin typeface="Consolas" panose="020B0609020204030204" charset="0"/>
              </a:rPr>
              <a:t>', 'good', s)  #字符串替换</a:t>
            </a:r>
          </a:p>
          <a:p>
            <a:pPr marL="1905" indent="-1905">
              <a:spcBef>
                <a:spcPts val="300"/>
              </a:spcBef>
              <a:buNone/>
            </a:pPr>
            <a:r>
              <a:rPr lang="en-US" altLang="zh-CN" sz="1350" dirty="0">
                <a:solidFill>
                  <a:srgbClr val="0000FF"/>
                </a:solidFill>
                <a:latin typeface="Consolas" panose="020B0609020204030204" charset="0"/>
              </a:rPr>
              <a:t>'good </a:t>
            </a:r>
            <a:r>
              <a:rPr lang="en-US" altLang="zh-CN" sz="1350" dirty="0" err="1">
                <a:solidFill>
                  <a:srgbClr val="0000FF"/>
                </a:solidFill>
                <a:latin typeface="Consolas" panose="020B0609020204030204" charset="0"/>
              </a:rPr>
              <a:t>good</a:t>
            </a:r>
            <a:r>
              <a:rPr lang="en-US" altLang="zh-CN" sz="1350" dirty="0">
                <a:solidFill>
                  <a:srgbClr val="0000FF"/>
                </a:solidFill>
                <a:latin typeface="Consolas" panose="020B0609020204030204" charset="0"/>
              </a:rPr>
              <a:t> </a:t>
            </a:r>
            <a:r>
              <a:rPr lang="en-US" altLang="zh-CN" sz="1350" dirty="0" err="1">
                <a:solidFill>
                  <a:srgbClr val="0000FF"/>
                </a:solidFill>
                <a:latin typeface="Consolas" panose="020B0609020204030204" charset="0"/>
              </a:rPr>
              <a:t>good</a:t>
            </a:r>
            <a:r>
              <a:rPr lang="en-US" altLang="zh-CN" sz="1350" dirty="0">
                <a:solidFill>
                  <a:srgbClr val="0000FF"/>
                </a:solidFill>
                <a:latin typeface="Consolas" panose="020B0609020204030204" charset="0"/>
              </a:rPr>
              <a:t>'</a:t>
            </a:r>
          </a:p>
          <a:p>
            <a:pPr marL="1905" indent="-1905">
              <a:spcBef>
                <a:spcPts val="300"/>
              </a:spcBef>
              <a:buNone/>
            </a:pPr>
            <a:r>
              <a:rPr lang="en-US" altLang="zh-CN" sz="1350" dirty="0">
                <a:latin typeface="Consolas" panose="020B0609020204030204" charset="0"/>
              </a:rPr>
              <a:t>&gt;&gt;&gt; s = "It's a very good </a:t>
            </a:r>
            <a:r>
              <a:rPr lang="en-US" altLang="zh-CN" sz="1350" dirty="0" err="1">
                <a:latin typeface="Consolas" panose="020B0609020204030204" charset="0"/>
              </a:rPr>
              <a:t>good</a:t>
            </a:r>
            <a:r>
              <a:rPr lang="en-US" altLang="zh-CN" sz="1350" dirty="0">
                <a:latin typeface="Consolas" panose="020B0609020204030204" charset="0"/>
              </a:rPr>
              <a:t> idea"</a:t>
            </a:r>
          </a:p>
          <a:p>
            <a:pPr marL="1905" indent="-1905">
              <a:spcBef>
                <a:spcPts val="300"/>
              </a:spcBef>
              <a:buNone/>
            </a:pPr>
            <a:r>
              <a:rPr lang="en-US" altLang="zh-CN" sz="1350" dirty="0">
                <a:latin typeface="Consolas" panose="020B0609020204030204" charset="0"/>
              </a:rPr>
              <a:t>&gt;&gt;&gt; </a:t>
            </a:r>
            <a:r>
              <a:rPr lang="en-US" altLang="zh-CN" sz="1350" dirty="0" err="1">
                <a:latin typeface="Consolas" panose="020B0609020204030204" charset="0"/>
              </a:rPr>
              <a:t>re.sub</a:t>
            </a:r>
            <a:r>
              <a:rPr lang="en-US" altLang="zh-CN" sz="1350" dirty="0">
                <a:latin typeface="Consolas" panose="020B0609020204030204" charset="0"/>
              </a:rPr>
              <a:t>(r'(\b\w+) \1', r'\1', s)     #处理连续的重复单词 </a:t>
            </a:r>
            <a:r>
              <a:rPr lang="zh-CN" altLang="en-US" sz="1350" dirty="0">
                <a:latin typeface="Consolas" panose="020B0609020204030204" charset="0"/>
              </a:rPr>
              <a:t>注意 </a:t>
            </a:r>
            <a:r>
              <a:rPr lang="en-US" altLang="zh-CN" sz="1350" dirty="0">
                <a:latin typeface="Consolas" panose="020B0609020204030204" charset="0"/>
              </a:rPr>
              <a:t>\w+)</a:t>
            </a:r>
            <a:r>
              <a:rPr lang="zh-CN" altLang="en-US" sz="1350" dirty="0">
                <a:latin typeface="Consolas" panose="020B0609020204030204" charset="0"/>
              </a:rPr>
              <a:t>后的空格</a:t>
            </a:r>
            <a:endParaRPr lang="en-US" altLang="zh-CN" sz="1350" dirty="0">
              <a:latin typeface="Consolas" panose="020B0609020204030204" charset="0"/>
            </a:endParaRPr>
          </a:p>
          <a:p>
            <a:pPr marL="1905" indent="-1905">
              <a:spcBef>
                <a:spcPts val="300"/>
              </a:spcBef>
              <a:buNone/>
            </a:pPr>
            <a:r>
              <a:rPr lang="en-US" altLang="zh-CN" sz="1350" dirty="0">
                <a:solidFill>
                  <a:srgbClr val="0000FF"/>
                </a:solidFill>
                <a:latin typeface="Consolas" panose="020B0609020204030204" charset="0"/>
              </a:rPr>
              <a:t>"It's a very good idea"</a:t>
            </a:r>
          </a:p>
          <a:p>
            <a:pPr marL="1905" indent="-1905">
              <a:spcBef>
                <a:spcPts val="300"/>
              </a:spcBef>
              <a:buNone/>
            </a:pPr>
            <a:r>
              <a:rPr lang="en-US" altLang="zh-CN" sz="1350" dirty="0">
                <a:latin typeface="Consolas" panose="020B0609020204030204" charset="0"/>
              </a:rPr>
              <a:t>&gt;&gt;&gt; </a:t>
            </a:r>
            <a:r>
              <a:rPr lang="en-US" altLang="zh-CN" sz="1350" dirty="0" err="1">
                <a:latin typeface="Consolas" panose="020B0609020204030204" charset="0"/>
              </a:rPr>
              <a:t>re.sub</a:t>
            </a:r>
            <a:r>
              <a:rPr lang="en-US" altLang="zh-CN" sz="1350" dirty="0">
                <a:latin typeface="Consolas" panose="020B0609020204030204" charset="0"/>
              </a:rPr>
              <a:t>(r'((\w+) )\1', r'\2', s)  #</a:t>
            </a:r>
            <a:r>
              <a:rPr lang="zh-CN" altLang="en-US" sz="1350" dirty="0">
                <a:latin typeface="Consolas" panose="020B0609020204030204" charset="0"/>
              </a:rPr>
              <a:t>分组</a:t>
            </a:r>
            <a:r>
              <a:rPr lang="en-US" altLang="zh-CN" sz="1350" dirty="0">
                <a:latin typeface="Consolas" panose="020B0609020204030204" charset="0"/>
              </a:rPr>
              <a:t>1</a:t>
            </a:r>
            <a:r>
              <a:rPr lang="zh-CN" altLang="en-US" sz="1350" dirty="0">
                <a:latin typeface="Consolas" panose="020B0609020204030204" charset="0"/>
              </a:rPr>
              <a:t>，分组</a:t>
            </a:r>
            <a:r>
              <a:rPr lang="en-US" altLang="zh-CN" sz="1350" dirty="0">
                <a:latin typeface="Consolas" panose="020B0609020204030204" charset="0"/>
              </a:rPr>
              <a:t>2</a:t>
            </a:r>
            <a:endParaRPr lang="en-US" altLang="zh-CN" sz="1350" dirty="0">
              <a:solidFill>
                <a:srgbClr val="FF6600"/>
              </a:solidFill>
              <a:latin typeface="Consolas" panose="020B0609020204030204" charset="0"/>
            </a:endParaRPr>
          </a:p>
          <a:p>
            <a:pPr marL="1905" indent="-1905">
              <a:spcBef>
                <a:spcPts val="300"/>
              </a:spcBef>
              <a:buNone/>
            </a:pPr>
            <a:r>
              <a:rPr lang="en-US" altLang="zh-CN" sz="1350" dirty="0">
                <a:solidFill>
                  <a:srgbClr val="0000FF"/>
                </a:solidFill>
                <a:latin typeface="Consolas" panose="020B0609020204030204" charset="0"/>
              </a:rPr>
              <a:t>"It's a very </a:t>
            </a:r>
            <a:r>
              <a:rPr lang="en-US" altLang="zh-CN" sz="1350" dirty="0" err="1">
                <a:solidFill>
                  <a:srgbClr val="0000FF"/>
                </a:solidFill>
                <a:latin typeface="Consolas" panose="020B0609020204030204" charset="0"/>
              </a:rPr>
              <a:t>goodidea</a:t>
            </a:r>
            <a:r>
              <a:rPr lang="en-US" altLang="zh-CN" sz="1350" dirty="0">
                <a:solidFill>
                  <a:srgbClr val="0000FF"/>
                </a:solidFill>
                <a:latin typeface="Consolas" panose="020B0609020204030204" charset="0"/>
              </a:rPr>
              <a:t>"</a:t>
            </a:r>
          </a:p>
          <a:p>
            <a:pPr marL="1905" indent="-1905">
              <a:spcBef>
                <a:spcPts val="300"/>
              </a:spcBef>
              <a:buNone/>
            </a:pPr>
            <a:r>
              <a:rPr lang="en-US" altLang="zh-CN" sz="1350" dirty="0">
                <a:latin typeface="Consolas" panose="020B0609020204030204" charset="0"/>
              </a:rPr>
              <a:t>&gt;&gt;&gt; </a:t>
            </a:r>
            <a:r>
              <a:rPr lang="en-US" altLang="zh-CN" sz="1350" dirty="0" err="1">
                <a:latin typeface="Consolas" panose="020B0609020204030204" charset="0"/>
              </a:rPr>
              <a:t>re.sub</a:t>
            </a:r>
            <a:r>
              <a:rPr lang="en-US" altLang="zh-CN" sz="1350" dirty="0">
                <a:latin typeface="Consolas" panose="020B0609020204030204" charset="0"/>
              </a:rPr>
              <a:t>('a', lambda x:x.group(0).upper(),</a:t>
            </a:r>
          </a:p>
          <a:p>
            <a:pPr marL="1905" indent="-1905">
              <a:spcBef>
                <a:spcPts val="300"/>
              </a:spcBef>
              <a:buNone/>
            </a:pPr>
            <a:r>
              <a:rPr lang="en-US" altLang="zh-CN" sz="1350" dirty="0">
                <a:latin typeface="Consolas" panose="020B0609020204030204" charset="0"/>
              </a:rPr>
              <a:t>           '</a:t>
            </a:r>
            <a:r>
              <a:rPr lang="en-US" altLang="zh-CN" sz="1350" dirty="0" err="1">
                <a:latin typeface="Consolas" panose="020B0609020204030204" charset="0"/>
              </a:rPr>
              <a:t>aaa</a:t>
            </a:r>
            <a:r>
              <a:rPr lang="en-US" altLang="zh-CN" sz="1350" dirty="0">
                <a:latin typeface="Consolas" panose="020B0609020204030204" charset="0"/>
              </a:rPr>
              <a:t> </a:t>
            </a:r>
            <a:r>
              <a:rPr lang="en-US" altLang="zh-CN" sz="1350" dirty="0" err="1">
                <a:latin typeface="Consolas" panose="020B0609020204030204" charset="0"/>
              </a:rPr>
              <a:t>abc</a:t>
            </a:r>
            <a:r>
              <a:rPr lang="en-US" altLang="zh-CN" sz="1350" dirty="0">
                <a:latin typeface="Consolas" panose="020B0609020204030204" charset="0"/>
              </a:rPr>
              <a:t> </a:t>
            </a:r>
            <a:r>
              <a:rPr lang="en-US" altLang="zh-CN" sz="1350" dirty="0" err="1">
                <a:latin typeface="Consolas" panose="020B0609020204030204" charset="0"/>
              </a:rPr>
              <a:t>abde</a:t>
            </a:r>
            <a:r>
              <a:rPr lang="en-US" altLang="zh-CN" sz="1350" dirty="0">
                <a:latin typeface="Consolas" panose="020B0609020204030204" charset="0"/>
              </a:rPr>
              <a:t>')     </a:t>
            </a:r>
          </a:p>
          <a:p>
            <a:pPr marL="1905" indent="-1905">
              <a:spcBef>
                <a:spcPts val="300"/>
              </a:spcBef>
              <a:buNone/>
            </a:pPr>
            <a:r>
              <a:rPr lang="en-US" altLang="zh-CN" sz="1350" dirty="0">
                <a:latin typeface="Consolas" panose="020B0609020204030204" charset="0"/>
              </a:rPr>
              <a:t>#repl为可调用对象</a:t>
            </a:r>
          </a:p>
          <a:p>
            <a:pPr marL="1905" indent="-1905">
              <a:spcBef>
                <a:spcPts val="300"/>
              </a:spcBef>
              <a:buNone/>
            </a:pPr>
            <a:r>
              <a:rPr lang="en-US" altLang="zh-CN" sz="1350" dirty="0">
                <a:solidFill>
                  <a:srgbClr val="0000FF"/>
                </a:solidFill>
                <a:latin typeface="Consolas" panose="020B0609020204030204" charset="0"/>
              </a:rPr>
              <a:t>'AAA </a:t>
            </a:r>
            <a:r>
              <a:rPr lang="en-US" altLang="zh-CN" sz="1350" dirty="0" err="1">
                <a:solidFill>
                  <a:srgbClr val="0000FF"/>
                </a:solidFill>
                <a:latin typeface="Consolas" panose="020B0609020204030204" charset="0"/>
              </a:rPr>
              <a:t>Abc</a:t>
            </a:r>
            <a:r>
              <a:rPr lang="en-US" altLang="zh-CN" sz="1350" dirty="0">
                <a:solidFill>
                  <a:srgbClr val="0000FF"/>
                </a:solidFill>
                <a:latin typeface="Consolas" panose="020B0609020204030204" charset="0"/>
              </a:rPr>
              <a:t> </a:t>
            </a:r>
            <a:r>
              <a:rPr lang="en-US" altLang="zh-CN" sz="1350" dirty="0" err="1">
                <a:solidFill>
                  <a:srgbClr val="0000FF"/>
                </a:solidFill>
                <a:latin typeface="Consolas" panose="020B0609020204030204" charset="0"/>
              </a:rPr>
              <a:t>Abde</a:t>
            </a:r>
            <a:r>
              <a:rPr lang="en-US" altLang="zh-CN" sz="1350" dirty="0">
                <a:solidFill>
                  <a:srgbClr val="0000FF"/>
                </a:solidFill>
                <a:latin typeface="Consolas" panose="020B0609020204030204" charset="0"/>
              </a:rPr>
              <a:t>’</a:t>
            </a:r>
          </a:p>
          <a:p>
            <a:pPr marL="1905" indent="-1905">
              <a:spcBef>
                <a:spcPts val="300"/>
              </a:spcBef>
              <a:buNone/>
            </a:pPr>
            <a:endParaRPr lang="en-US" altLang="zh-CN" sz="1350" dirty="0">
              <a:solidFill>
                <a:srgbClr val="0000FF"/>
              </a:solidFill>
              <a:latin typeface="Consolas" panose="020B0609020204030204" charset="0"/>
            </a:endParaRPr>
          </a:p>
          <a:p>
            <a:pPr marL="1905" indent="-1905">
              <a:spcBef>
                <a:spcPts val="300"/>
              </a:spcBef>
              <a:buNone/>
            </a:pPr>
            <a:endParaRPr lang="en-US" altLang="zh-CN" sz="1350" dirty="0">
              <a:solidFill>
                <a:srgbClr val="0000FF"/>
              </a:solidFill>
              <a:latin typeface="Consolas" panose="020B0609020204030204" charset="0"/>
            </a:endParaRPr>
          </a:p>
          <a:p>
            <a:pPr marL="1905" indent="-1905">
              <a:spcBef>
                <a:spcPts val="300"/>
              </a:spcBef>
              <a:buNone/>
            </a:pPr>
            <a:endParaRPr lang="en-US" altLang="zh-CN" sz="1350" dirty="0">
              <a:solidFill>
                <a:srgbClr val="0000FF"/>
              </a:solidFill>
              <a:latin typeface="Consolas" panose="020B0609020204030204" charset="0"/>
            </a:endParaRPr>
          </a:p>
        </p:txBody>
      </p:sp>
      <p:sp>
        <p:nvSpPr>
          <p:cNvPr id="119811"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85</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4.3.2 re</a:t>
            </a:r>
            <a:r>
              <a:rPr lang="zh-CN" altLang="en-US" sz="2800" b="1" dirty="0">
                <a:latin typeface="Times New Roman" panose="02020603050405020304" pitchFamily="18" charset="0"/>
                <a:ea typeface="仿宋" panose="02010609060101010101" pitchFamily="49" charset="-122"/>
              </a:rPr>
              <a:t>模块的主要方法与使用</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pic>
        <p:nvPicPr>
          <p:cNvPr id="5" name="图片 4"/>
          <p:cNvPicPr>
            <a:picLocks noChangeAspect="1"/>
          </p:cNvPicPr>
          <p:nvPr/>
        </p:nvPicPr>
        <p:blipFill>
          <a:blip r:embed="rId4"/>
          <a:stretch>
            <a:fillRect/>
          </a:stretch>
        </p:blipFill>
        <p:spPr>
          <a:xfrm>
            <a:off x="5580112" y="2080528"/>
            <a:ext cx="3335665" cy="1493936"/>
          </a:xfrm>
          <a:prstGeom prst="rect">
            <a:avLst/>
          </a:prstGeom>
        </p:spPr>
      </p:pic>
      <p:pic>
        <p:nvPicPr>
          <p:cNvPr id="3" name="图片 2"/>
          <p:cNvPicPr>
            <a:picLocks noChangeAspect="1"/>
          </p:cNvPicPr>
          <p:nvPr/>
        </p:nvPicPr>
        <p:blipFill>
          <a:blip r:embed="rId5"/>
          <a:stretch>
            <a:fillRect/>
          </a:stretch>
        </p:blipFill>
        <p:spPr>
          <a:xfrm>
            <a:off x="5879185" y="4721796"/>
            <a:ext cx="2924356" cy="1772007"/>
          </a:xfrm>
          <a:prstGeom prst="rect">
            <a:avLst/>
          </a:prstGeom>
        </p:spPr>
      </p:pic>
      <p:pic>
        <p:nvPicPr>
          <p:cNvPr id="4" name="图片 3"/>
          <p:cNvPicPr>
            <a:picLocks noChangeAspect="1"/>
          </p:cNvPicPr>
          <p:nvPr/>
        </p:nvPicPr>
        <p:blipFill>
          <a:blip r:embed="rId6"/>
          <a:stretch>
            <a:fillRect/>
          </a:stretch>
        </p:blipFill>
        <p:spPr>
          <a:xfrm>
            <a:off x="5538262" y="376118"/>
            <a:ext cx="3121390" cy="1368152"/>
          </a:xfrm>
          <a:prstGeom prst="rect">
            <a:avLst/>
          </a:prstGeom>
        </p:spPr>
      </p:pic>
      <p:pic>
        <p:nvPicPr>
          <p:cNvPr id="12" name="图片 11"/>
          <p:cNvPicPr>
            <a:picLocks noChangeAspect="1"/>
          </p:cNvPicPr>
          <p:nvPr/>
        </p:nvPicPr>
        <p:blipFill>
          <a:blip r:embed="rId7"/>
          <a:stretch>
            <a:fillRect/>
          </a:stretch>
        </p:blipFill>
        <p:spPr>
          <a:xfrm>
            <a:off x="2267744" y="5220541"/>
            <a:ext cx="3609151" cy="1341420"/>
          </a:xfrm>
          <a:prstGeom prst="rect">
            <a:avLst/>
          </a:prstGeom>
        </p:spPr>
      </p:pic>
      <p:pic>
        <p:nvPicPr>
          <p:cNvPr id="11" name="图片 10"/>
          <p:cNvPicPr>
            <a:picLocks noChangeAspect="1"/>
          </p:cNvPicPr>
          <p:nvPr/>
        </p:nvPicPr>
        <p:blipFill>
          <a:blip r:embed="rId8"/>
          <a:stretch>
            <a:fillRect/>
          </a:stretch>
        </p:blipFill>
        <p:spPr>
          <a:xfrm>
            <a:off x="323528" y="1393808"/>
            <a:ext cx="4561550" cy="2035192"/>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8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98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98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98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981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981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981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981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ppt_x"/>
                                          </p:val>
                                        </p:tav>
                                        <p:tav tm="100000">
                                          <p:val>
                                            <p:strVal val="#ppt_x"/>
                                          </p:val>
                                        </p:tav>
                                      </p:tavLst>
                                    </p:anim>
                                    <p:anim calcmode="lin" valueType="num">
                                      <p:cBhvr additive="base">
                                        <p:cTn id="4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9810">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additive="base">
                                        <p:cTn id="49" dur="500" fill="hold"/>
                                        <p:tgtEl>
                                          <p:spTgt spid="11"/>
                                        </p:tgtEl>
                                        <p:attrNameLst>
                                          <p:attrName>ppt_x</p:attrName>
                                        </p:attrNameLst>
                                      </p:cBhvr>
                                      <p:tavLst>
                                        <p:tav tm="0">
                                          <p:val>
                                            <p:strVal val="#ppt_x"/>
                                          </p:val>
                                        </p:tav>
                                        <p:tav tm="100000">
                                          <p:val>
                                            <p:strVal val="#ppt_x"/>
                                          </p:val>
                                        </p:tav>
                                      </p:tavLst>
                                    </p:anim>
                                    <p:anim calcmode="lin" valueType="num">
                                      <p:cBhvr additive="base">
                                        <p:cTn id="5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xit" presetSubtype="4" fill="hold" nodeType="clickEffect">
                                  <p:stCondLst>
                                    <p:cond delay="0"/>
                                  </p:stCondLst>
                                  <p:childTnLst>
                                    <p:anim calcmode="lin" valueType="num">
                                      <p:cBhvr additive="base">
                                        <p:cTn id="54" dur="500"/>
                                        <p:tgtEl>
                                          <p:spTgt spid="11"/>
                                        </p:tgtEl>
                                        <p:attrNameLst>
                                          <p:attrName>ppt_x</p:attrName>
                                        </p:attrNameLst>
                                      </p:cBhvr>
                                      <p:tavLst>
                                        <p:tav tm="0">
                                          <p:val>
                                            <p:strVal val="ppt_x"/>
                                          </p:val>
                                        </p:tav>
                                        <p:tav tm="100000">
                                          <p:val>
                                            <p:strVal val="ppt_x"/>
                                          </p:val>
                                        </p:tav>
                                      </p:tavLst>
                                    </p:anim>
                                    <p:anim calcmode="lin" valueType="num">
                                      <p:cBhvr additive="base">
                                        <p:cTn id="55" dur="500"/>
                                        <p:tgtEl>
                                          <p:spTgt spid="11"/>
                                        </p:tgtEl>
                                        <p:attrNameLst>
                                          <p:attrName>ppt_y</p:attrName>
                                        </p:attrNameLst>
                                      </p:cBhvr>
                                      <p:tavLst>
                                        <p:tav tm="0">
                                          <p:val>
                                            <p:strVal val="ppt_y"/>
                                          </p:val>
                                        </p:tav>
                                        <p:tav tm="100000">
                                          <p:val>
                                            <p:strVal val="1+ppt_h/2"/>
                                          </p:val>
                                        </p:tav>
                                      </p:tavLst>
                                    </p:anim>
                                    <p:set>
                                      <p:cBhvr>
                                        <p:cTn id="56" dur="1" fill="hold">
                                          <p:stCondLst>
                                            <p:cond delay="499"/>
                                          </p:stCondLst>
                                        </p:cTn>
                                        <p:tgtEl>
                                          <p:spTgt spid="11"/>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19810">
                                            <p:txEl>
                                              <p:pRg st="9" end="9"/>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19810">
                                            <p:txEl>
                                              <p:pRg st="10" end="1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19810">
                                            <p:txEl>
                                              <p:pRg st="11" end="11"/>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19810">
                                            <p:txEl>
                                              <p:pRg st="12" end="12"/>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19810">
                                            <p:txEl>
                                              <p:pRg st="13" end="13"/>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19810">
                                            <p:txEl>
                                              <p:pRg st="14" end="14"/>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19810">
                                            <p:txEl>
                                              <p:pRg st="15" end="15"/>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19810">
                                            <p:txEl>
                                              <p:pRg st="16" end="16"/>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12"/>
                                        </p:tgtEl>
                                        <p:attrNameLst>
                                          <p:attrName>style.visibility</p:attrName>
                                        </p:attrNameLst>
                                      </p:cBhvr>
                                      <p:to>
                                        <p:strVal val="visible"/>
                                      </p:to>
                                    </p:set>
                                    <p:animEffect transition="in" filter="fade">
                                      <p:cBhvr>
                                        <p:cTn id="93" dur="500"/>
                                        <p:tgtEl>
                                          <p:spTgt spid="12"/>
                                        </p:tgtEl>
                                      </p:cBhvr>
                                    </p:animEffect>
                                  </p:childTnLst>
                                </p:cTn>
                              </p:par>
                            </p:childTnLst>
                          </p:cTn>
                        </p:par>
                      </p:childTnLst>
                    </p:cTn>
                  </p:par>
                  <p:par>
                    <p:cTn id="94" fill="hold">
                      <p:stCondLst>
                        <p:cond delay="indefinite"/>
                      </p:stCondLst>
                      <p:childTnLst>
                        <p:par>
                          <p:cTn id="95" fill="hold">
                            <p:stCondLst>
                              <p:cond delay="0"/>
                            </p:stCondLst>
                            <p:childTnLst>
                              <p:par>
                                <p:cTn id="96" presetID="2" presetClass="entr" presetSubtype="4" fill="hold" nodeType="clickEffect">
                                  <p:stCondLst>
                                    <p:cond delay="0"/>
                                  </p:stCondLst>
                                  <p:childTnLst>
                                    <p:set>
                                      <p:cBhvr>
                                        <p:cTn id="97" dur="1" fill="hold">
                                          <p:stCondLst>
                                            <p:cond delay="0"/>
                                          </p:stCondLst>
                                        </p:cTn>
                                        <p:tgtEl>
                                          <p:spTgt spid="5"/>
                                        </p:tgtEl>
                                        <p:attrNameLst>
                                          <p:attrName>style.visibility</p:attrName>
                                        </p:attrNameLst>
                                      </p:cBhvr>
                                      <p:to>
                                        <p:strVal val="visible"/>
                                      </p:to>
                                    </p:set>
                                    <p:anim calcmode="lin" valueType="num">
                                      <p:cBhvr additive="base">
                                        <p:cTn id="98" dur="500" fill="hold"/>
                                        <p:tgtEl>
                                          <p:spTgt spid="5"/>
                                        </p:tgtEl>
                                        <p:attrNameLst>
                                          <p:attrName>ppt_x</p:attrName>
                                        </p:attrNameLst>
                                      </p:cBhvr>
                                      <p:tavLst>
                                        <p:tav tm="0">
                                          <p:val>
                                            <p:strVal val="#ppt_x"/>
                                          </p:val>
                                        </p:tav>
                                        <p:tav tm="100000">
                                          <p:val>
                                            <p:strVal val="#ppt_x"/>
                                          </p:val>
                                        </p:tav>
                                      </p:tavLst>
                                    </p:anim>
                                    <p:anim calcmode="lin" valueType="num">
                                      <p:cBhvr additive="base">
                                        <p:cTn id="9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2" presetClass="entr" presetSubtype="4" fill="hold" nodeType="clickEffect">
                                  <p:stCondLst>
                                    <p:cond delay="0"/>
                                  </p:stCondLst>
                                  <p:childTnLst>
                                    <p:set>
                                      <p:cBhvr>
                                        <p:cTn id="103" dur="1" fill="hold">
                                          <p:stCondLst>
                                            <p:cond delay="0"/>
                                          </p:stCondLst>
                                        </p:cTn>
                                        <p:tgtEl>
                                          <p:spTgt spid="3"/>
                                        </p:tgtEl>
                                        <p:attrNameLst>
                                          <p:attrName>style.visibility</p:attrName>
                                        </p:attrNameLst>
                                      </p:cBhvr>
                                      <p:to>
                                        <p:strVal val="visible"/>
                                      </p:to>
                                    </p:set>
                                    <p:anim calcmode="lin" valueType="num">
                                      <p:cBhvr additive="base">
                                        <p:cTn id="104" dur="500" fill="hold"/>
                                        <p:tgtEl>
                                          <p:spTgt spid="3"/>
                                        </p:tgtEl>
                                        <p:attrNameLst>
                                          <p:attrName>ppt_x</p:attrName>
                                        </p:attrNameLst>
                                      </p:cBhvr>
                                      <p:tavLst>
                                        <p:tav tm="0">
                                          <p:val>
                                            <p:strVal val="#ppt_x"/>
                                          </p:val>
                                        </p:tav>
                                        <p:tav tm="100000">
                                          <p:val>
                                            <p:strVal val="#ppt_x"/>
                                          </p:val>
                                        </p:tav>
                                      </p:tavLst>
                                    </p:anim>
                                    <p:anim calcmode="lin" valueType="num">
                                      <p:cBhvr additive="base">
                                        <p:cTn id="10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0" grpId="0" uiExpand="1"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文本占位符 55298"/>
          <p:cNvSpPr>
            <a:spLocks noGrp="1"/>
          </p:cNvSpPr>
          <p:nvPr>
            <p:ph idx="1"/>
          </p:nvPr>
        </p:nvSpPr>
        <p:spPr>
          <a:xfrm>
            <a:off x="689978" y="1633863"/>
            <a:ext cx="8229600" cy="4678451"/>
          </a:xfrm>
        </p:spPr>
        <p:txBody>
          <a:bodyPr anchor="t"/>
          <a:lstStyle/>
          <a:p>
            <a:pPr>
              <a:spcBef>
                <a:spcPct val="0"/>
              </a:spcBef>
              <a:buSzPct val="70000"/>
              <a:buNone/>
            </a:pPr>
            <a:r>
              <a:rPr lang="en-US" altLang="zh-CN" sz="1400" dirty="0">
                <a:latin typeface="Consolas" panose="020B0609020204030204" charset="0"/>
              </a:rPr>
              <a:t>&gt;&gt;&gt; re.sub('[a-z]', lambda x:x.group(0).upper(), 'aaa abc abde')</a:t>
            </a:r>
          </a:p>
          <a:p>
            <a:pPr>
              <a:spcBef>
                <a:spcPct val="0"/>
              </a:spcBef>
              <a:buSzPct val="70000"/>
              <a:buNone/>
            </a:pPr>
            <a:r>
              <a:rPr lang="en-US" altLang="zh-CN" sz="1400" dirty="0">
                <a:solidFill>
                  <a:srgbClr val="0000FF"/>
                </a:solidFill>
                <a:latin typeface="Consolas" panose="020B0609020204030204" charset="0"/>
              </a:rPr>
              <a:t>'AAA ABC ABDE'</a:t>
            </a:r>
          </a:p>
          <a:p>
            <a:pPr>
              <a:spcBef>
                <a:spcPct val="0"/>
              </a:spcBef>
              <a:buSzPct val="70000"/>
              <a:buNone/>
            </a:pPr>
            <a:r>
              <a:rPr lang="en-US" altLang="zh-CN" sz="1400" dirty="0">
                <a:latin typeface="Consolas" panose="020B0609020204030204" charset="0"/>
              </a:rPr>
              <a:t>&gt;&gt;&gt; re.sub('[a-zA-z]', lambda x:chr(ord(x.group(0))^32),</a:t>
            </a:r>
          </a:p>
          <a:p>
            <a:pPr>
              <a:spcBef>
                <a:spcPct val="0"/>
              </a:spcBef>
              <a:buSzPct val="70000"/>
              <a:buNone/>
            </a:pPr>
            <a:r>
              <a:rPr lang="en-US" altLang="zh-CN" sz="1400" dirty="0">
                <a:latin typeface="Consolas" panose="020B0609020204030204" charset="0"/>
              </a:rPr>
              <a:t>           'aaa aBc abde')              #英文字母大小写互换</a:t>
            </a:r>
          </a:p>
          <a:p>
            <a:pPr>
              <a:spcBef>
                <a:spcPct val="0"/>
              </a:spcBef>
              <a:buSzPct val="70000"/>
              <a:buNone/>
            </a:pPr>
            <a:r>
              <a:rPr lang="en-US" altLang="zh-CN" sz="1400" dirty="0">
                <a:solidFill>
                  <a:srgbClr val="0000FF"/>
                </a:solidFill>
                <a:latin typeface="Consolas" panose="020B0609020204030204" charset="0"/>
              </a:rPr>
              <a:t>'AAA </a:t>
            </a:r>
            <a:r>
              <a:rPr lang="en-US" altLang="zh-CN" sz="1400" dirty="0" err="1">
                <a:solidFill>
                  <a:srgbClr val="0000FF"/>
                </a:solidFill>
                <a:latin typeface="Consolas" panose="020B0609020204030204" charset="0"/>
              </a:rPr>
              <a:t>AbC</a:t>
            </a:r>
            <a:r>
              <a:rPr lang="en-US" altLang="zh-CN" sz="1400" dirty="0">
                <a:solidFill>
                  <a:srgbClr val="0000FF"/>
                </a:solidFill>
                <a:latin typeface="Consolas" panose="020B0609020204030204" charset="0"/>
              </a:rPr>
              <a:t> ABDE’</a:t>
            </a:r>
          </a:p>
          <a:p>
            <a:pPr>
              <a:spcBef>
                <a:spcPct val="0"/>
              </a:spcBef>
              <a:buSzPct val="70000"/>
              <a:buNone/>
            </a:pPr>
            <a:endParaRPr lang="en-US" altLang="zh-CN" sz="1400" dirty="0">
              <a:solidFill>
                <a:srgbClr val="0000FF"/>
              </a:solidFill>
              <a:latin typeface="Consolas" panose="020B0609020204030204" charset="0"/>
            </a:endParaRPr>
          </a:p>
          <a:p>
            <a:pPr>
              <a:spcBef>
                <a:spcPct val="0"/>
              </a:spcBef>
              <a:buSzPct val="70000"/>
              <a:buNone/>
            </a:pPr>
            <a:endParaRPr lang="en-US" altLang="zh-CN" sz="1400" dirty="0">
              <a:solidFill>
                <a:srgbClr val="0000FF"/>
              </a:solidFill>
              <a:latin typeface="Consolas" panose="020B0609020204030204" charset="0"/>
            </a:endParaRPr>
          </a:p>
          <a:p>
            <a:pPr>
              <a:spcBef>
                <a:spcPct val="0"/>
              </a:spcBef>
              <a:buSzPct val="70000"/>
              <a:buNone/>
            </a:pPr>
            <a:r>
              <a:rPr lang="en-US" altLang="zh-CN" sz="1400" dirty="0">
                <a:latin typeface="Consolas" panose="020B0609020204030204" charset="0"/>
              </a:rPr>
              <a:t>&gt;&gt;&gt; re.subn('a', 'dfg', 'aaa abc abde') #返回新字符串和替换次数</a:t>
            </a:r>
          </a:p>
          <a:p>
            <a:pPr>
              <a:spcBef>
                <a:spcPct val="0"/>
              </a:spcBef>
              <a:buSzPct val="70000"/>
              <a:buNone/>
            </a:pPr>
            <a:r>
              <a:rPr lang="en-US" altLang="zh-CN" sz="1400" dirty="0">
                <a:solidFill>
                  <a:srgbClr val="0000FF"/>
                </a:solidFill>
                <a:latin typeface="Consolas" panose="020B0609020204030204" charset="0"/>
              </a:rPr>
              <a:t>('dfgdfgdfg dfgbc dfgbde', 5)</a:t>
            </a:r>
          </a:p>
          <a:p>
            <a:pPr>
              <a:spcBef>
                <a:spcPct val="0"/>
              </a:spcBef>
              <a:buSzPct val="70000"/>
              <a:buNone/>
            </a:pPr>
            <a:r>
              <a:rPr lang="en-US" altLang="zh-CN" sz="1400" dirty="0">
                <a:latin typeface="Consolas" panose="020B0609020204030204" charset="0"/>
              </a:rPr>
              <a:t>&gt;&gt;&gt; re.sub('a', 'dfg', 'aaa abc abde')</a:t>
            </a:r>
          </a:p>
          <a:p>
            <a:pPr>
              <a:spcBef>
                <a:spcPct val="0"/>
              </a:spcBef>
              <a:buSzPct val="70000"/>
              <a:buNone/>
            </a:pPr>
            <a:r>
              <a:rPr lang="en-US" altLang="zh-CN" sz="1400" dirty="0">
                <a:solidFill>
                  <a:srgbClr val="0000FF"/>
                </a:solidFill>
                <a:latin typeface="Consolas" panose="020B0609020204030204" charset="0"/>
              </a:rPr>
              <a:t>'dfgdfgdfg dfgbc dfgbde'</a:t>
            </a:r>
          </a:p>
          <a:p>
            <a:pPr>
              <a:spcBef>
                <a:spcPct val="0"/>
              </a:spcBef>
              <a:buSzPct val="70000"/>
              <a:buNone/>
            </a:pPr>
            <a:r>
              <a:rPr lang="en-US" altLang="zh-CN" sz="1400" dirty="0">
                <a:latin typeface="Consolas" panose="020B0609020204030204" charset="0"/>
              </a:rPr>
              <a:t>&gt;&gt;&gt; re.escape('http://www.python.org')  #字符串转义</a:t>
            </a:r>
          </a:p>
          <a:p>
            <a:pPr>
              <a:spcBef>
                <a:spcPct val="0"/>
              </a:spcBef>
              <a:buSzPct val="70000"/>
              <a:buNone/>
            </a:pPr>
            <a:r>
              <a:rPr lang="en-US" altLang="zh-CN" sz="1400" dirty="0">
                <a:solidFill>
                  <a:srgbClr val="FF6600"/>
                </a:solidFill>
                <a:latin typeface="Consolas" panose="020B0609020204030204" charset="0"/>
              </a:rPr>
              <a:t>'http://www\\.python\\.org’ </a:t>
            </a:r>
          </a:p>
          <a:p>
            <a:pPr>
              <a:spcBef>
                <a:spcPct val="0"/>
              </a:spcBef>
              <a:buSzPct val="70000"/>
              <a:buNone/>
            </a:pPr>
            <a:r>
              <a:rPr lang="en-US" altLang="zh-CN" sz="1400" dirty="0">
                <a:latin typeface="Consolas" panose="020B0609020204030204" charset="0"/>
              </a:rPr>
              <a:t>&gt;&gt;&gt; from string import punctuation</a:t>
            </a:r>
          </a:p>
          <a:p>
            <a:pPr>
              <a:spcBef>
                <a:spcPct val="0"/>
              </a:spcBef>
              <a:buSzPct val="70000"/>
              <a:buNone/>
            </a:pPr>
            <a:r>
              <a:rPr lang="en-US" altLang="zh-CN" sz="1400" dirty="0">
                <a:latin typeface="Consolas" panose="020B0609020204030204" charset="0"/>
              </a:rPr>
              <a:t>&gt;&gt;&gt; re.sub('['+punctuation+']', '', 'abcd,.e!f/?') #</a:t>
            </a:r>
            <a:r>
              <a:rPr lang="zh-CN" altLang="en-US" sz="1400" dirty="0">
                <a:latin typeface="Consolas" panose="020B0609020204030204" charset="0"/>
              </a:rPr>
              <a:t>删除标点符号</a:t>
            </a:r>
          </a:p>
          <a:p>
            <a:pPr>
              <a:spcBef>
                <a:spcPct val="0"/>
              </a:spcBef>
              <a:buSzPct val="70000"/>
              <a:buNone/>
            </a:pPr>
            <a:r>
              <a:rPr lang="en-US" altLang="zh-CN" sz="1400" dirty="0">
                <a:solidFill>
                  <a:srgbClr val="0000FF"/>
                </a:solidFill>
                <a:latin typeface="Consolas" panose="020B0609020204030204" charset="0"/>
              </a:rPr>
              <a:t>'abcdef'</a:t>
            </a:r>
            <a:endParaRPr lang="zh-CN" altLang="en-US" sz="1400" dirty="0">
              <a:solidFill>
                <a:srgbClr val="0000FF"/>
              </a:solidFill>
              <a:latin typeface="Consolas" panose="020B0609020204030204" charset="0"/>
            </a:endParaRPr>
          </a:p>
        </p:txBody>
      </p:sp>
      <p:sp>
        <p:nvSpPr>
          <p:cNvPr id="120835"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86</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a:latin typeface="Times New Roman" panose="02020603050405020304" pitchFamily="18" charset="0"/>
                <a:ea typeface="仿宋" panose="02010609060101010101" pitchFamily="49" charset="-122"/>
              </a:rPr>
              <a:t>4.3.2 re</a:t>
            </a:r>
            <a:r>
              <a:rPr lang="zh-CN" altLang="en-US" sz="2800" b="1" dirty="0">
                <a:latin typeface="Times New Roman" panose="02020603050405020304" pitchFamily="18" charset="0"/>
                <a:ea typeface="仿宋" panose="02010609060101010101" pitchFamily="49" charset="-122"/>
              </a:rPr>
              <a:t>模块的主要方法与使用</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pic>
        <p:nvPicPr>
          <p:cNvPr id="3" name="图片 2"/>
          <p:cNvPicPr>
            <a:picLocks noChangeAspect="1"/>
          </p:cNvPicPr>
          <p:nvPr/>
        </p:nvPicPr>
        <p:blipFill>
          <a:blip r:embed="rId3"/>
          <a:stretch>
            <a:fillRect/>
          </a:stretch>
        </p:blipFill>
        <p:spPr>
          <a:xfrm>
            <a:off x="4644008" y="2636912"/>
            <a:ext cx="3432055" cy="429769"/>
          </a:xfrm>
          <a:prstGeom prst="rect">
            <a:avLst/>
          </a:prstGeom>
        </p:spPr>
      </p:pic>
      <p:pic>
        <p:nvPicPr>
          <p:cNvPr id="4" name="图片 3"/>
          <p:cNvPicPr>
            <a:picLocks noChangeAspect="1"/>
          </p:cNvPicPr>
          <p:nvPr/>
        </p:nvPicPr>
        <p:blipFill>
          <a:blip r:embed="rId4"/>
          <a:stretch>
            <a:fillRect/>
          </a:stretch>
        </p:blipFill>
        <p:spPr>
          <a:xfrm>
            <a:off x="3203848" y="5374733"/>
            <a:ext cx="4742552" cy="671050"/>
          </a:xfrm>
          <a:prstGeom prst="rect">
            <a:avLst/>
          </a:prstGeom>
        </p:spPr>
      </p:pic>
      <p:pic>
        <p:nvPicPr>
          <p:cNvPr id="5" name="图片 4"/>
          <p:cNvPicPr>
            <a:picLocks noChangeAspect="1"/>
          </p:cNvPicPr>
          <p:nvPr/>
        </p:nvPicPr>
        <p:blipFill>
          <a:blip r:embed="rId5"/>
          <a:stretch>
            <a:fillRect/>
          </a:stretch>
        </p:blipFill>
        <p:spPr>
          <a:xfrm>
            <a:off x="5868144" y="3438516"/>
            <a:ext cx="3211958" cy="1193794"/>
          </a:xfrm>
          <a:prstGeom prst="rect">
            <a:avLst/>
          </a:prstGeom>
        </p:spPr>
      </p:pic>
      <p:pic>
        <p:nvPicPr>
          <p:cNvPr id="11" name="图片 10"/>
          <p:cNvPicPr>
            <a:picLocks noChangeAspect="1"/>
          </p:cNvPicPr>
          <p:nvPr/>
        </p:nvPicPr>
        <p:blipFill>
          <a:blip r:embed="rId6"/>
          <a:stretch>
            <a:fillRect/>
          </a:stretch>
        </p:blipFill>
        <p:spPr>
          <a:xfrm>
            <a:off x="246923" y="5157192"/>
            <a:ext cx="1758564" cy="888591"/>
          </a:xfrm>
          <a:prstGeom prst="rect">
            <a:avLst/>
          </a:prstGeom>
        </p:spPr>
      </p:pic>
      <p:pic>
        <p:nvPicPr>
          <p:cNvPr id="12" name="图片 11"/>
          <p:cNvPicPr>
            <a:picLocks noChangeAspect="1"/>
          </p:cNvPicPr>
          <p:nvPr/>
        </p:nvPicPr>
        <p:blipFill>
          <a:blip r:embed="rId7"/>
          <a:stretch>
            <a:fillRect/>
          </a:stretch>
        </p:blipFill>
        <p:spPr>
          <a:xfrm>
            <a:off x="7497896" y="1316567"/>
            <a:ext cx="945672" cy="967923"/>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文本占位符 66562"/>
          <p:cNvSpPr>
            <a:spLocks noGrp="1"/>
          </p:cNvSpPr>
          <p:nvPr>
            <p:ph idx="1"/>
          </p:nvPr>
        </p:nvSpPr>
        <p:spPr>
          <a:xfrm>
            <a:off x="652339" y="1444144"/>
            <a:ext cx="8225790" cy="3395345"/>
          </a:xfrm>
        </p:spPr>
        <p:txBody>
          <a:bodyPr anchor="t"/>
          <a:lstStyle/>
          <a:p>
            <a:pPr>
              <a:spcBef>
                <a:spcPts val="300"/>
              </a:spcBef>
              <a:buClr>
                <a:srgbClr val="FF0000"/>
              </a:buClr>
              <a:buSzPct val="70000"/>
              <a:buFont typeface="Wingdings" panose="05000000000000000000" charset="0"/>
              <a:buChar char=""/>
            </a:pPr>
            <a:r>
              <a:rPr lang="zh-CN" altLang="en-US" sz="2400" b="1" dirty="0">
                <a:latin typeface="宋体" panose="02010600030101010101" pitchFamily="2" charset="-122"/>
              </a:rPr>
              <a:t>使用</a:t>
            </a:r>
            <a:r>
              <a:rPr lang="en-US" altLang="zh-CN" sz="2400" b="1" dirty="0">
                <a:latin typeface="宋体" panose="02010600030101010101" pitchFamily="2" charset="-122"/>
              </a:rPr>
              <a:t>()</a:t>
            </a:r>
            <a:r>
              <a:rPr lang="zh-CN" altLang="en-US" sz="2400" b="1" dirty="0">
                <a:latin typeface="宋体" panose="02010600030101010101" pitchFamily="2" charset="-122"/>
              </a:rPr>
              <a:t>表示一个子模式，</a:t>
            </a:r>
            <a:r>
              <a:rPr lang="zh-CN" altLang="en-US" sz="2400" b="1" dirty="0">
                <a:solidFill>
                  <a:srgbClr val="FF0000"/>
                </a:solidFill>
                <a:latin typeface="宋体" panose="02010600030101010101" pitchFamily="2" charset="-122"/>
              </a:rPr>
              <a:t>括号中的内容作为一个整体处理</a:t>
            </a:r>
            <a:endParaRPr lang="en-US" altLang="zh-CN" sz="2400" b="1" dirty="0">
              <a:latin typeface="宋体" panose="02010600030101010101" pitchFamily="2" charset="-122"/>
            </a:endParaRPr>
          </a:p>
          <a:p>
            <a:pPr lvl="1">
              <a:spcBef>
                <a:spcPts val="300"/>
              </a:spcBef>
              <a:buClr>
                <a:srgbClr val="FF0000"/>
              </a:buClr>
              <a:buSzPct val="70000"/>
              <a:buFont typeface="Wingdings" panose="05000000000000000000" pitchFamily="2" charset="2"/>
              <a:buChar char="ü"/>
            </a:pPr>
            <a:r>
              <a:rPr lang="zh-CN" altLang="en-US" sz="1800" b="1" dirty="0">
                <a:latin typeface="宋体" panose="02010600030101010101" pitchFamily="2" charset="-122"/>
              </a:rPr>
              <a:t>例</a:t>
            </a:r>
            <a:r>
              <a:rPr lang="en-US" altLang="zh-CN" sz="1800" b="1" dirty="0">
                <a:latin typeface="宋体" panose="02010600030101010101" pitchFamily="2" charset="-122"/>
              </a:rPr>
              <a:t>: ‘(red)+’</a:t>
            </a:r>
            <a:r>
              <a:rPr lang="zh-CN" altLang="en-US" sz="1800" b="1" dirty="0">
                <a:latin typeface="宋体" panose="02010600030101010101" pitchFamily="2" charset="-122"/>
              </a:rPr>
              <a:t>可以匹配</a:t>
            </a:r>
            <a:r>
              <a:rPr lang="en-US" altLang="zh-CN" sz="1800" b="1" dirty="0">
                <a:latin typeface="宋体" panose="02010600030101010101" pitchFamily="2" charset="-122"/>
              </a:rPr>
              <a:t>‘</a:t>
            </a:r>
            <a:r>
              <a:rPr lang="en-US" altLang="zh-CN" sz="1800" b="1" dirty="0" err="1">
                <a:latin typeface="宋体" panose="02010600030101010101" pitchFamily="2" charset="-122"/>
              </a:rPr>
              <a:t>redred</a:t>
            </a:r>
            <a:r>
              <a:rPr lang="en-US" altLang="zh-CN" sz="1800" b="1" dirty="0">
                <a:latin typeface="宋体" panose="02010600030101010101" pitchFamily="2" charset="-122"/>
              </a:rPr>
              <a:t>’</a:t>
            </a:r>
            <a:r>
              <a:rPr lang="zh-CN" altLang="en-US" sz="1800" b="1" dirty="0">
                <a:latin typeface="宋体" panose="02010600030101010101" pitchFamily="2" charset="-122"/>
              </a:rPr>
              <a:t>、</a:t>
            </a:r>
            <a:r>
              <a:rPr lang="en-US" altLang="zh-CN" sz="1800" b="1" dirty="0">
                <a:latin typeface="宋体" panose="02010600030101010101" pitchFamily="2" charset="-122"/>
              </a:rPr>
              <a:t>‘</a:t>
            </a:r>
            <a:r>
              <a:rPr lang="en-US" altLang="zh-CN" sz="1800" b="1" dirty="0" err="1">
                <a:latin typeface="宋体" panose="02010600030101010101" pitchFamily="2" charset="-122"/>
              </a:rPr>
              <a:t>redredred</a:t>
            </a:r>
            <a:r>
              <a:rPr lang="en-US" altLang="zh-CN" sz="1800" b="1" dirty="0">
                <a:latin typeface="宋体" panose="02010600030101010101" pitchFamily="2" charset="-122"/>
              </a:rPr>
              <a:t>’</a:t>
            </a:r>
            <a:r>
              <a:rPr lang="zh-CN" altLang="en-US" sz="1800" b="1" dirty="0">
                <a:latin typeface="宋体" panose="02010600030101010101" pitchFamily="2" charset="-122"/>
              </a:rPr>
              <a:t>等多个重复</a:t>
            </a:r>
            <a:r>
              <a:rPr lang="en-US" altLang="zh-CN" sz="1800" b="1" dirty="0">
                <a:latin typeface="宋体" panose="02010600030101010101" pitchFamily="2" charset="-122"/>
              </a:rPr>
              <a:t>‘red’</a:t>
            </a:r>
          </a:p>
          <a:p>
            <a:pPr marL="457200" lvl="1" indent="0">
              <a:spcBef>
                <a:spcPts val="300"/>
              </a:spcBef>
              <a:buClr>
                <a:srgbClr val="FF0000"/>
              </a:buClr>
              <a:buSzPct val="70000"/>
              <a:buNone/>
            </a:pPr>
            <a:r>
              <a:rPr lang="en-US" altLang="zh-CN" sz="1800" b="1" dirty="0">
                <a:latin typeface="宋体" panose="02010600030101010101" pitchFamily="2" charset="-122"/>
              </a:rPr>
              <a:t>        </a:t>
            </a:r>
            <a:r>
              <a:rPr lang="zh-CN" altLang="en-US" sz="1800" b="1" dirty="0">
                <a:latin typeface="宋体" panose="02010600030101010101" pitchFamily="2" charset="-122"/>
              </a:rPr>
              <a:t>的情况</a:t>
            </a:r>
          </a:p>
        </p:txBody>
      </p:sp>
      <p:sp>
        <p:nvSpPr>
          <p:cNvPr id="136195"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87</a:t>
            </a:fld>
            <a:endParaRPr lang="zh-CN" altLang="en-US" sz="1050" dirty="0"/>
          </a:p>
        </p:txBody>
      </p:sp>
      <p:sp>
        <p:nvSpPr>
          <p:cNvPr id="5" name="文本框 4"/>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smtClean="0">
                <a:latin typeface="Times New Roman" panose="02020603050405020304" pitchFamily="18" charset="0"/>
                <a:ea typeface="仿宋" panose="02010609060101010101" pitchFamily="49" charset="-122"/>
              </a:rPr>
              <a:t>4.3.3 </a:t>
            </a:r>
            <a:r>
              <a:rPr lang="zh-CN" altLang="en-US" sz="2800" b="1" dirty="0" smtClean="0">
                <a:latin typeface="Times New Roman" panose="02020603050405020304" pitchFamily="18" charset="0"/>
                <a:ea typeface="仿宋" panose="02010609060101010101" pitchFamily="49" charset="-122"/>
              </a:rPr>
              <a:t> </a:t>
            </a:r>
            <a:r>
              <a:rPr lang="zh-CN" altLang="en-US" sz="2800" b="1" dirty="0">
                <a:latin typeface="Times New Roman" panose="02020603050405020304" pitchFamily="18" charset="0"/>
                <a:ea typeface="仿宋" panose="02010609060101010101" pitchFamily="49" charset="-122"/>
              </a:rPr>
              <a:t>子模式与</a:t>
            </a:r>
            <a:r>
              <a:rPr lang="en-US" altLang="zh-CN" sz="2800" b="1" dirty="0">
                <a:latin typeface="Times New Roman" panose="02020603050405020304" pitchFamily="18" charset="0"/>
                <a:ea typeface="仿宋" panose="02010609060101010101" pitchFamily="49" charset="-122"/>
              </a:rPr>
              <a:t>match</a:t>
            </a:r>
            <a:r>
              <a:rPr lang="zh-CN" altLang="en-US" sz="2800" b="1" dirty="0">
                <a:latin typeface="Times New Roman" panose="02020603050405020304" pitchFamily="18" charset="0"/>
                <a:ea typeface="仿宋" panose="02010609060101010101" pitchFamily="49" charset="-122"/>
              </a:rPr>
              <a:t>对象</a:t>
            </a:r>
            <a:endParaRPr lang="en-US" altLang="zh-CN" sz="2800" b="1" dirty="0">
              <a:ea typeface="仿宋" panose="02010609060101010101" pitchFamily="49" charset="-122"/>
            </a:endParaRPr>
          </a:p>
        </p:txBody>
      </p:sp>
      <p:grpSp>
        <p:nvGrpSpPr>
          <p:cNvPr id="6" name="组合 109"/>
          <p:cNvGrpSpPr/>
          <p:nvPr/>
        </p:nvGrpSpPr>
        <p:grpSpPr>
          <a:xfrm>
            <a:off x="489223" y="78400"/>
            <a:ext cx="4514825" cy="686304"/>
            <a:chOff x="956926" y="4600871"/>
            <a:chExt cx="4514825" cy="686304"/>
          </a:xfrm>
        </p:grpSpPr>
        <p:sp>
          <p:nvSpPr>
            <p:cNvPr id="7"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3" name="矩形 2"/>
          <p:cNvSpPr/>
          <p:nvPr/>
        </p:nvSpPr>
        <p:spPr>
          <a:xfrm>
            <a:off x="613134" y="2852936"/>
            <a:ext cx="8781828" cy="1785104"/>
          </a:xfrm>
          <a:prstGeom prst="rect">
            <a:avLst/>
          </a:prstGeom>
        </p:spPr>
        <p:txBody>
          <a:bodyPr wrap="square">
            <a:spAutoFit/>
          </a:bodyPr>
          <a:lstStyle/>
          <a:p>
            <a:pPr>
              <a:spcBef>
                <a:spcPts val="600"/>
              </a:spcBef>
              <a:buSzPct val="70000"/>
              <a:buNone/>
            </a:pPr>
            <a:r>
              <a:rPr lang="en-US" altLang="zh-CN" dirty="0">
                <a:latin typeface="Consolas" panose="020B0609020204030204" charset="0"/>
              </a:rPr>
              <a:t>&gt;&gt;&gt; </a:t>
            </a:r>
            <a:r>
              <a:rPr lang="en-US" altLang="zh-CN" dirty="0" err="1">
                <a:latin typeface="Consolas" panose="020B0609020204030204" charset="0"/>
              </a:rPr>
              <a:t>telNumber</a:t>
            </a:r>
            <a:r>
              <a:rPr lang="en-US" altLang="zh-CN" dirty="0">
                <a:latin typeface="Consolas" panose="020B0609020204030204" charset="0"/>
              </a:rPr>
              <a:t> = '''Suppose my Phone No. is 0551-1234567,</a:t>
            </a:r>
          </a:p>
          <a:p>
            <a:pPr>
              <a:spcBef>
                <a:spcPts val="600"/>
              </a:spcBef>
              <a:buSzPct val="70000"/>
              <a:buNone/>
            </a:pPr>
            <a:r>
              <a:rPr lang="en-US" altLang="zh-CN" dirty="0">
                <a:latin typeface="Consolas" panose="020B0609020204030204" charset="0"/>
              </a:rPr>
              <a:t>yours is 010-12345678, his is 025-87654321.'''</a:t>
            </a:r>
          </a:p>
          <a:p>
            <a:pPr>
              <a:spcBef>
                <a:spcPts val="600"/>
              </a:spcBef>
              <a:buSzPct val="70000"/>
              <a:buNone/>
            </a:pPr>
            <a:r>
              <a:rPr lang="en-US" altLang="zh-CN" dirty="0">
                <a:latin typeface="Consolas" panose="020B0609020204030204" charset="0"/>
              </a:rPr>
              <a:t>&gt;&gt;&gt; pattern = </a:t>
            </a:r>
            <a:r>
              <a:rPr lang="en-US" altLang="zh-CN" dirty="0" err="1">
                <a:latin typeface="Consolas" panose="020B0609020204030204" charset="0"/>
              </a:rPr>
              <a:t>re.compile</a:t>
            </a:r>
            <a:r>
              <a:rPr lang="en-US" altLang="zh-CN" dirty="0">
                <a:latin typeface="Consolas" panose="020B0609020204030204" charset="0"/>
              </a:rPr>
              <a:t>(r'(\d{3,4})-(\d{7,8})')</a:t>
            </a:r>
          </a:p>
          <a:p>
            <a:pPr>
              <a:spcBef>
                <a:spcPts val="600"/>
              </a:spcBef>
              <a:buSzPct val="70000"/>
              <a:buNone/>
            </a:pPr>
            <a:r>
              <a:rPr lang="en-US" altLang="zh-CN" dirty="0">
                <a:latin typeface="Consolas" panose="020B0609020204030204" charset="0"/>
              </a:rPr>
              <a:t>&gt;&gt;&gt; </a:t>
            </a:r>
            <a:r>
              <a:rPr lang="en-US" altLang="zh-CN" dirty="0" err="1">
                <a:latin typeface="Consolas" panose="020B0609020204030204" charset="0"/>
              </a:rPr>
              <a:t>pattern.findall</a:t>
            </a:r>
            <a:r>
              <a:rPr lang="en-US" altLang="zh-CN" dirty="0">
                <a:latin typeface="Consolas" panose="020B0609020204030204" charset="0"/>
              </a:rPr>
              <a:t>(</a:t>
            </a:r>
            <a:r>
              <a:rPr lang="en-US" altLang="zh-CN" dirty="0" err="1">
                <a:latin typeface="Consolas" panose="020B0609020204030204" charset="0"/>
              </a:rPr>
              <a:t>telNumber</a:t>
            </a:r>
            <a:r>
              <a:rPr lang="en-US" altLang="zh-CN" dirty="0">
                <a:latin typeface="Consolas" panose="020B0609020204030204" charset="0"/>
              </a:rPr>
              <a:t>)</a:t>
            </a:r>
          </a:p>
          <a:p>
            <a:pPr>
              <a:spcBef>
                <a:spcPts val="600"/>
              </a:spcBef>
              <a:buSzPct val="70000"/>
              <a:buNone/>
            </a:pPr>
            <a:r>
              <a:rPr lang="en-US" altLang="zh-CN" dirty="0">
                <a:solidFill>
                  <a:srgbClr val="0000FF"/>
                </a:solidFill>
                <a:latin typeface="Consolas" panose="020B0609020204030204" charset="0"/>
              </a:rPr>
              <a:t>[('0535', '1234567'), ('010', '12345678'), ('025', '87654321')]</a:t>
            </a:r>
          </a:p>
        </p:txBody>
      </p:sp>
      <p:pic>
        <p:nvPicPr>
          <p:cNvPr id="4" name="图片 3"/>
          <p:cNvPicPr>
            <a:picLocks noChangeAspect="1"/>
          </p:cNvPicPr>
          <p:nvPr/>
        </p:nvPicPr>
        <p:blipFill>
          <a:blip r:embed="rId4"/>
          <a:stretch>
            <a:fillRect/>
          </a:stretch>
        </p:blipFill>
        <p:spPr>
          <a:xfrm>
            <a:off x="629220" y="4725144"/>
            <a:ext cx="4139192" cy="1731268"/>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619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619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619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88</a:t>
            </a:fld>
            <a:endParaRPr lang="zh-CN" altLang="en-US" sz="1050" dirty="0"/>
          </a:p>
        </p:txBody>
      </p:sp>
      <p:sp>
        <p:nvSpPr>
          <p:cNvPr id="7" name="文本占位符 69634"/>
          <p:cNvSpPr txBox="1"/>
          <p:nvPr/>
        </p:nvSpPr>
        <p:spPr bwMode="auto">
          <a:xfrm>
            <a:off x="678632" y="1573699"/>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80000"/>
              </a:lnSpc>
              <a:buClr>
                <a:srgbClr val="FF0000"/>
              </a:buClr>
              <a:buSzPct val="70000"/>
              <a:buFont typeface="Wingdings" panose="05000000000000000000" charset="0"/>
              <a:buChar char=""/>
            </a:pPr>
            <a:r>
              <a:rPr lang="zh-CN" altLang="en-US" sz="2400" b="1" dirty="0">
                <a:latin typeface="宋体" panose="02010600030101010101" pitchFamily="2" charset="-122"/>
              </a:rPr>
              <a:t>子模式扩展语法：</a:t>
            </a:r>
          </a:p>
          <a:p>
            <a:pPr>
              <a:spcBef>
                <a:spcPts val="600"/>
              </a:spcBef>
              <a:buClr>
                <a:srgbClr val="FF0000"/>
              </a:buClr>
              <a:buSzPct val="70000"/>
              <a:buFont typeface="Wingdings" panose="05000000000000000000" charset="0"/>
              <a:buChar char="ü"/>
            </a:pPr>
            <a:r>
              <a:rPr lang="en-US" altLang="zh-CN" sz="1800" b="1" dirty="0">
                <a:latin typeface="宋体" panose="02010600030101010101" pitchFamily="2" charset="-122"/>
              </a:rPr>
              <a:t>(?P&lt;</a:t>
            </a:r>
            <a:r>
              <a:rPr lang="en-US" altLang="zh-CN" sz="1800" b="1" dirty="0" err="1">
                <a:latin typeface="宋体" panose="02010600030101010101" pitchFamily="2" charset="-122"/>
              </a:rPr>
              <a:t>groupname</a:t>
            </a:r>
            <a:r>
              <a:rPr lang="en-US" altLang="zh-CN" sz="1800" b="1" dirty="0">
                <a:latin typeface="宋体" panose="02010600030101010101" pitchFamily="2" charset="-122"/>
              </a:rPr>
              <a:t>&gt;)</a:t>
            </a:r>
            <a:r>
              <a:rPr lang="zh-CN" altLang="en-US" sz="1800" b="1" dirty="0">
                <a:latin typeface="宋体" panose="02010600030101010101" pitchFamily="2" charset="-122"/>
              </a:rPr>
              <a:t>：为子模式命名</a:t>
            </a:r>
          </a:p>
          <a:p>
            <a:pPr>
              <a:spcBef>
                <a:spcPts val="600"/>
              </a:spcBef>
              <a:buClr>
                <a:srgbClr val="FF0000"/>
              </a:buClr>
              <a:buSzPct val="70000"/>
              <a:buFont typeface="Wingdings" panose="05000000000000000000" charset="0"/>
              <a:buChar char="ü"/>
            </a:pPr>
            <a:r>
              <a:rPr lang="en-US" altLang="zh-CN" sz="1800" b="1" dirty="0">
                <a:latin typeface="宋体" panose="02010600030101010101" pitchFamily="2" charset="-122"/>
              </a:rPr>
              <a:t>(?</a:t>
            </a:r>
            <a:r>
              <a:rPr lang="en-US" altLang="zh-CN" sz="1800" b="1" dirty="0" err="1">
                <a:latin typeface="宋体" panose="02010600030101010101" pitchFamily="2" charset="-122"/>
              </a:rPr>
              <a:t>iLmsux</a:t>
            </a:r>
            <a:r>
              <a:rPr lang="en-US" altLang="zh-CN" sz="1800" b="1" dirty="0">
                <a:latin typeface="宋体" panose="02010600030101010101" pitchFamily="2" charset="-122"/>
              </a:rPr>
              <a:t>)</a:t>
            </a:r>
            <a:r>
              <a:rPr lang="zh-CN" altLang="en-US" sz="1800" b="1" dirty="0">
                <a:latin typeface="宋体" panose="02010600030101010101" pitchFamily="2" charset="-122"/>
              </a:rPr>
              <a:t>：设置匹配标志，可以是几个字母的组合，每个字母含义与编译标志相同</a:t>
            </a:r>
          </a:p>
          <a:p>
            <a:pPr>
              <a:spcBef>
                <a:spcPts val="600"/>
              </a:spcBef>
              <a:buClr>
                <a:srgbClr val="FF0000"/>
              </a:buClr>
              <a:buSzPct val="70000"/>
              <a:buFont typeface="Wingdings" panose="05000000000000000000" charset="0"/>
              <a:buChar char="ü"/>
            </a:pPr>
            <a:r>
              <a:rPr lang="en-US" altLang="zh-CN" sz="1800" b="1" dirty="0">
                <a:latin typeface="宋体" panose="02010600030101010101" pitchFamily="2" charset="-122"/>
              </a:rPr>
              <a:t>(?:...)</a:t>
            </a:r>
            <a:r>
              <a:rPr lang="zh-CN" altLang="en-US" sz="1800" b="1" dirty="0">
                <a:latin typeface="宋体" panose="02010600030101010101" pitchFamily="2" charset="-122"/>
              </a:rPr>
              <a:t>：匹配但不捕获该匹配的子表达式</a:t>
            </a:r>
          </a:p>
          <a:p>
            <a:pPr>
              <a:spcBef>
                <a:spcPts val="600"/>
              </a:spcBef>
              <a:buClr>
                <a:srgbClr val="FF0000"/>
              </a:buClr>
              <a:buSzPct val="70000"/>
              <a:buFont typeface="Wingdings" panose="05000000000000000000" charset="0"/>
              <a:buChar char="ü"/>
            </a:pPr>
            <a:r>
              <a:rPr lang="en-US" altLang="zh-CN" sz="1800" b="1" dirty="0">
                <a:latin typeface="宋体" panose="02010600030101010101" pitchFamily="2" charset="-122"/>
              </a:rPr>
              <a:t>(?P=</a:t>
            </a:r>
            <a:r>
              <a:rPr lang="en-US" altLang="zh-CN" sz="1800" b="1" dirty="0" err="1">
                <a:latin typeface="宋体" panose="02010600030101010101" pitchFamily="2" charset="-122"/>
              </a:rPr>
              <a:t>groupname</a:t>
            </a:r>
            <a:r>
              <a:rPr lang="en-US" altLang="zh-CN" sz="1800" b="1" dirty="0">
                <a:latin typeface="宋体" panose="02010600030101010101" pitchFamily="2" charset="-122"/>
              </a:rPr>
              <a:t>)</a:t>
            </a:r>
            <a:r>
              <a:rPr lang="zh-CN" altLang="en-US" sz="1800" b="1" dirty="0">
                <a:latin typeface="宋体" panose="02010600030101010101" pitchFamily="2" charset="-122"/>
              </a:rPr>
              <a:t>：表示在此之前的命名为</a:t>
            </a:r>
            <a:r>
              <a:rPr lang="en-US" altLang="zh-CN" sz="1800" b="1" dirty="0" err="1">
                <a:latin typeface="宋体" panose="02010600030101010101" pitchFamily="2" charset="-122"/>
              </a:rPr>
              <a:t>groupname</a:t>
            </a:r>
            <a:r>
              <a:rPr lang="zh-CN" altLang="en-US" sz="1800" b="1" dirty="0">
                <a:latin typeface="宋体" panose="02010600030101010101" pitchFamily="2" charset="-122"/>
              </a:rPr>
              <a:t>的子模式</a:t>
            </a:r>
          </a:p>
          <a:p>
            <a:pPr>
              <a:spcBef>
                <a:spcPts val="600"/>
              </a:spcBef>
              <a:buClr>
                <a:srgbClr val="FF0000"/>
              </a:buClr>
              <a:buSzPct val="70000"/>
              <a:buFont typeface="Wingdings" panose="05000000000000000000" charset="0"/>
              <a:buChar char="ü"/>
            </a:pPr>
            <a:r>
              <a:rPr lang="en-US" altLang="zh-CN" sz="1800" b="1" dirty="0">
                <a:latin typeface="宋体" panose="02010600030101010101" pitchFamily="2" charset="-122"/>
              </a:rPr>
              <a:t>(?#...)</a:t>
            </a:r>
            <a:r>
              <a:rPr lang="zh-CN" altLang="en-US" sz="1800" b="1" dirty="0">
                <a:latin typeface="宋体" panose="02010600030101010101" pitchFamily="2" charset="-122"/>
              </a:rPr>
              <a:t>：表示注释</a:t>
            </a:r>
          </a:p>
          <a:p>
            <a:pPr>
              <a:spcBef>
                <a:spcPts val="600"/>
              </a:spcBef>
              <a:buClr>
                <a:srgbClr val="FF0000"/>
              </a:buClr>
              <a:buSzPct val="70000"/>
              <a:buFont typeface="Wingdings" panose="05000000000000000000" charset="0"/>
              <a:buChar char="ü"/>
            </a:pPr>
            <a:r>
              <a:rPr lang="en-US" altLang="zh-CN" sz="1800" b="1" dirty="0">
                <a:latin typeface="宋体" panose="02010600030101010101" pitchFamily="2" charset="-122"/>
              </a:rPr>
              <a:t>(?=…)</a:t>
            </a:r>
            <a:r>
              <a:rPr lang="zh-CN" altLang="en-US" sz="1800" b="1" dirty="0">
                <a:latin typeface="宋体" panose="02010600030101010101" pitchFamily="2" charset="-122"/>
              </a:rPr>
              <a:t>：用于正则表达式之后，表示如果</a:t>
            </a:r>
            <a:r>
              <a:rPr lang="en-US" altLang="zh-CN" sz="1800" b="1" dirty="0">
                <a:latin typeface="宋体" panose="02010600030101010101" pitchFamily="2" charset="-122"/>
              </a:rPr>
              <a:t>=</a:t>
            </a:r>
            <a:r>
              <a:rPr lang="zh-CN" altLang="en-US" sz="1800" b="1" dirty="0">
                <a:latin typeface="宋体" panose="02010600030101010101" pitchFamily="2" charset="-122"/>
              </a:rPr>
              <a:t>后的内容在字符串中出现则匹配，</a:t>
            </a:r>
            <a:r>
              <a:rPr lang="zh-CN" altLang="en-US" sz="1800" b="1" dirty="0">
                <a:solidFill>
                  <a:srgbClr val="FF0000"/>
                </a:solidFill>
                <a:latin typeface="宋体" panose="02010600030101010101" pitchFamily="2" charset="-122"/>
              </a:rPr>
              <a:t>但不返回</a:t>
            </a:r>
            <a:r>
              <a:rPr lang="en-US" altLang="zh-CN" sz="1800" b="1" dirty="0">
                <a:solidFill>
                  <a:srgbClr val="FF0000"/>
                </a:solidFill>
                <a:latin typeface="宋体" panose="02010600030101010101" pitchFamily="2" charset="-122"/>
              </a:rPr>
              <a:t>=</a:t>
            </a:r>
            <a:r>
              <a:rPr lang="zh-CN" altLang="en-US" sz="1800" b="1" dirty="0">
                <a:solidFill>
                  <a:srgbClr val="FF0000"/>
                </a:solidFill>
                <a:latin typeface="宋体" panose="02010600030101010101" pitchFamily="2" charset="-122"/>
              </a:rPr>
              <a:t>之后的内容（即不返回对应分组值</a:t>
            </a:r>
            <a:r>
              <a:rPr lang="en-US" altLang="zh-CN" sz="1800" b="1" dirty="0">
                <a:solidFill>
                  <a:srgbClr val="FF0000"/>
                </a:solidFill>
                <a:latin typeface="宋体" panose="02010600030101010101" pitchFamily="2" charset="-122"/>
              </a:rPr>
              <a:t>,group(0)</a:t>
            </a:r>
            <a:r>
              <a:rPr lang="zh-CN" altLang="en-US" sz="1800" b="1" dirty="0">
                <a:solidFill>
                  <a:srgbClr val="FF0000"/>
                </a:solidFill>
                <a:latin typeface="宋体" panose="02010600030101010101" pitchFamily="2" charset="-122"/>
              </a:rPr>
              <a:t>不受影响） </a:t>
            </a:r>
          </a:p>
          <a:p>
            <a:pPr>
              <a:spcBef>
                <a:spcPts val="600"/>
              </a:spcBef>
              <a:buClr>
                <a:srgbClr val="FF0000"/>
              </a:buClr>
              <a:buSzPct val="70000"/>
              <a:buFont typeface="Wingdings" panose="05000000000000000000" charset="0"/>
              <a:buChar char="ü"/>
            </a:pPr>
            <a:r>
              <a:rPr lang="en-US" altLang="zh-CN" sz="1800" b="1" dirty="0">
                <a:latin typeface="宋体" panose="02010600030101010101" pitchFamily="2" charset="-122"/>
              </a:rPr>
              <a:t>(?!...)</a:t>
            </a:r>
            <a:r>
              <a:rPr lang="zh-CN" altLang="en-US" sz="1800" b="1" dirty="0">
                <a:latin typeface="宋体" panose="02010600030101010101" pitchFamily="2" charset="-122"/>
              </a:rPr>
              <a:t>：用于正则表达式之后，表示如果</a:t>
            </a:r>
            <a:r>
              <a:rPr lang="en-US" altLang="zh-CN" sz="1800" b="1" dirty="0">
                <a:latin typeface="宋体" panose="02010600030101010101" pitchFamily="2" charset="-122"/>
              </a:rPr>
              <a:t>!</a:t>
            </a:r>
            <a:r>
              <a:rPr lang="zh-CN" altLang="en-US" sz="1800" b="1" dirty="0">
                <a:latin typeface="宋体" panose="02010600030101010101" pitchFamily="2" charset="-122"/>
              </a:rPr>
              <a:t>后的内容在字符串中不出现则匹配，</a:t>
            </a:r>
            <a:r>
              <a:rPr lang="zh-CN" altLang="en-US" sz="1800" b="1" dirty="0">
                <a:solidFill>
                  <a:srgbClr val="FF0000"/>
                </a:solidFill>
                <a:latin typeface="宋体" panose="02010600030101010101" pitchFamily="2" charset="-122"/>
              </a:rPr>
              <a:t>但不返回</a:t>
            </a:r>
            <a:r>
              <a:rPr lang="en-US" altLang="zh-CN" sz="1800" b="1" dirty="0">
                <a:solidFill>
                  <a:srgbClr val="FF0000"/>
                </a:solidFill>
                <a:latin typeface="宋体" panose="02010600030101010101" pitchFamily="2" charset="-122"/>
              </a:rPr>
              <a:t>!</a:t>
            </a:r>
            <a:r>
              <a:rPr lang="zh-CN" altLang="en-US" sz="1800" b="1" dirty="0">
                <a:solidFill>
                  <a:srgbClr val="FF0000"/>
                </a:solidFill>
                <a:latin typeface="宋体" panose="02010600030101010101" pitchFamily="2" charset="-122"/>
              </a:rPr>
              <a:t>之后的内容（即不返回对应分组值，</a:t>
            </a:r>
            <a:r>
              <a:rPr lang="en-US" altLang="zh-CN" sz="1800" b="1" dirty="0">
                <a:solidFill>
                  <a:srgbClr val="FF0000"/>
                </a:solidFill>
                <a:latin typeface="宋体" panose="02010600030101010101" pitchFamily="2" charset="-122"/>
              </a:rPr>
              <a:t>group(0)</a:t>
            </a:r>
            <a:r>
              <a:rPr lang="zh-CN" altLang="en-US" sz="1800" b="1" dirty="0">
                <a:solidFill>
                  <a:srgbClr val="FF0000"/>
                </a:solidFill>
                <a:latin typeface="宋体" panose="02010600030101010101" pitchFamily="2" charset="-122"/>
              </a:rPr>
              <a:t>不受影响）</a:t>
            </a:r>
          </a:p>
          <a:p>
            <a:pPr>
              <a:spcBef>
                <a:spcPts val="600"/>
              </a:spcBef>
              <a:buClr>
                <a:srgbClr val="FF0000"/>
              </a:buClr>
              <a:buSzPct val="70000"/>
              <a:buFont typeface="Wingdings" panose="05000000000000000000" charset="0"/>
              <a:buChar char="ü"/>
            </a:pPr>
            <a:r>
              <a:rPr lang="en-US" altLang="zh-CN" sz="1800" b="1" dirty="0">
                <a:latin typeface="宋体" panose="02010600030101010101" pitchFamily="2" charset="-122"/>
              </a:rPr>
              <a:t>(?&lt;=…)</a:t>
            </a:r>
            <a:r>
              <a:rPr lang="zh-CN" altLang="en-US" sz="1800" b="1" dirty="0">
                <a:latin typeface="宋体" panose="02010600030101010101" pitchFamily="2" charset="-122"/>
              </a:rPr>
              <a:t>：用于正则表达式之前，与</a:t>
            </a:r>
            <a:r>
              <a:rPr lang="en-US" altLang="zh-CN" sz="1800" b="1" dirty="0">
                <a:latin typeface="宋体" panose="02010600030101010101" pitchFamily="2" charset="-122"/>
              </a:rPr>
              <a:t>(?=…)</a:t>
            </a:r>
            <a:r>
              <a:rPr lang="zh-CN" altLang="en-US" sz="1800" b="1" dirty="0">
                <a:latin typeface="宋体" panose="02010600030101010101" pitchFamily="2" charset="-122"/>
              </a:rPr>
              <a:t>含义相同</a:t>
            </a:r>
          </a:p>
          <a:p>
            <a:pPr>
              <a:spcBef>
                <a:spcPts val="600"/>
              </a:spcBef>
              <a:buClr>
                <a:srgbClr val="FF0000"/>
              </a:buClr>
              <a:buSzPct val="70000"/>
              <a:buFont typeface="Wingdings" panose="05000000000000000000" charset="0"/>
              <a:buChar char="ü"/>
            </a:pPr>
            <a:r>
              <a:rPr lang="en-US" altLang="zh-CN" sz="1800" b="1" dirty="0">
                <a:latin typeface="宋体" panose="02010600030101010101" pitchFamily="2" charset="-122"/>
              </a:rPr>
              <a:t>(?&lt;!...)</a:t>
            </a:r>
            <a:r>
              <a:rPr lang="zh-CN" altLang="en-US" sz="1800" b="1" dirty="0">
                <a:latin typeface="宋体" panose="02010600030101010101" pitchFamily="2" charset="-122"/>
              </a:rPr>
              <a:t>：用于正则表达式之前，与</a:t>
            </a:r>
            <a:r>
              <a:rPr lang="en-US" altLang="zh-CN" sz="1800" b="1" dirty="0">
                <a:latin typeface="宋体" panose="02010600030101010101" pitchFamily="2" charset="-122"/>
              </a:rPr>
              <a:t>(?!...)</a:t>
            </a:r>
            <a:r>
              <a:rPr lang="zh-CN" altLang="en-US" sz="1800" b="1" dirty="0">
                <a:latin typeface="宋体" panose="02010600030101010101" pitchFamily="2" charset="-122"/>
              </a:rPr>
              <a:t>含义相同</a:t>
            </a:r>
          </a:p>
        </p:txBody>
      </p:sp>
      <p:sp>
        <p:nvSpPr>
          <p:cNvPr id="8" name="文本框 7"/>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smtClean="0">
                <a:latin typeface="Times New Roman" panose="02020603050405020304" pitchFamily="18" charset="0"/>
                <a:ea typeface="仿宋" panose="02010609060101010101" pitchFamily="49" charset="-122"/>
              </a:rPr>
              <a:t>4.3.3 </a:t>
            </a:r>
            <a:r>
              <a:rPr lang="zh-CN" altLang="en-US" sz="2800" b="1" dirty="0" smtClean="0">
                <a:latin typeface="Times New Roman" panose="02020603050405020304" pitchFamily="18" charset="0"/>
                <a:ea typeface="仿宋" panose="02010609060101010101" pitchFamily="49" charset="-122"/>
              </a:rPr>
              <a:t> </a:t>
            </a:r>
            <a:r>
              <a:rPr lang="zh-CN" altLang="en-US" sz="2800" b="1" dirty="0">
                <a:latin typeface="Times New Roman" panose="02020603050405020304" pitchFamily="18" charset="0"/>
                <a:ea typeface="仿宋" panose="02010609060101010101" pitchFamily="49" charset="-122"/>
              </a:rPr>
              <a:t>子模式与</a:t>
            </a:r>
            <a:r>
              <a:rPr lang="en-US" altLang="zh-CN" sz="2800" b="1" dirty="0">
                <a:latin typeface="Times New Roman" panose="02020603050405020304" pitchFamily="18" charset="0"/>
                <a:ea typeface="仿宋" panose="02010609060101010101" pitchFamily="49" charset="-122"/>
              </a:rPr>
              <a:t>match</a:t>
            </a:r>
            <a:r>
              <a:rPr lang="zh-CN" altLang="en-US" sz="2800" b="1" dirty="0">
                <a:latin typeface="Times New Roman" panose="02020603050405020304" pitchFamily="18" charset="0"/>
                <a:ea typeface="仿宋" panose="02010609060101010101" pitchFamily="49" charset="-122"/>
              </a:rPr>
              <a:t>对象</a:t>
            </a:r>
            <a:endParaRPr lang="en-US" altLang="zh-CN" sz="2800" b="1" dirty="0">
              <a:ea typeface="仿宋" panose="02010609060101010101" pitchFamily="49" charset="-122"/>
            </a:endParaRPr>
          </a:p>
        </p:txBody>
      </p:sp>
      <p:grpSp>
        <p:nvGrpSpPr>
          <p:cNvPr id="9" name="组合 109"/>
          <p:cNvGrpSpPr/>
          <p:nvPr/>
        </p:nvGrpSpPr>
        <p:grpSpPr>
          <a:xfrm>
            <a:off x="489223" y="78400"/>
            <a:ext cx="4514825" cy="686304"/>
            <a:chOff x="956926" y="4600871"/>
            <a:chExt cx="4514825" cy="686304"/>
          </a:xfrm>
        </p:grpSpPr>
        <p:sp>
          <p:nvSpPr>
            <p:cNvPr id="10"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1" name="图片 10"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2"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5"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89</a:t>
            </a:fld>
            <a:endParaRPr lang="zh-CN" altLang="en-US" sz="1050" dirty="0"/>
          </a:p>
        </p:txBody>
      </p:sp>
      <p:grpSp>
        <p:nvGrpSpPr>
          <p:cNvPr id="6" name="组合 109"/>
          <p:cNvGrpSpPr/>
          <p:nvPr/>
        </p:nvGrpSpPr>
        <p:grpSpPr>
          <a:xfrm>
            <a:off x="489223" y="44624"/>
            <a:ext cx="4514825" cy="684413"/>
            <a:chOff x="956926" y="4567095"/>
            <a:chExt cx="4514825" cy="684413"/>
          </a:xfrm>
        </p:grpSpPr>
        <p:sp>
          <p:nvSpPr>
            <p:cNvPr id="7"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151271" y="4567095"/>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pic>
        <p:nvPicPr>
          <p:cNvPr id="5" name="图片 4"/>
          <p:cNvPicPr>
            <a:picLocks noChangeAspect="1"/>
          </p:cNvPicPr>
          <p:nvPr/>
        </p:nvPicPr>
        <p:blipFill>
          <a:blip r:embed="rId4"/>
          <a:stretch>
            <a:fillRect/>
          </a:stretch>
        </p:blipFill>
        <p:spPr>
          <a:xfrm>
            <a:off x="323528" y="980728"/>
            <a:ext cx="4223154" cy="3744416"/>
          </a:xfrm>
          <a:prstGeom prst="rect">
            <a:avLst/>
          </a:prstGeom>
        </p:spPr>
      </p:pic>
      <p:pic>
        <p:nvPicPr>
          <p:cNvPr id="12" name="图片 11"/>
          <p:cNvPicPr>
            <a:picLocks noChangeAspect="1"/>
          </p:cNvPicPr>
          <p:nvPr/>
        </p:nvPicPr>
        <p:blipFill>
          <a:blip r:embed="rId5"/>
          <a:stretch>
            <a:fillRect/>
          </a:stretch>
        </p:blipFill>
        <p:spPr>
          <a:xfrm>
            <a:off x="4581692" y="996691"/>
            <a:ext cx="4238779" cy="5460122"/>
          </a:xfrm>
          <a:prstGeom prst="rect">
            <a:avLst/>
          </a:prstGeom>
        </p:spPr>
      </p:pic>
      <p:pic>
        <p:nvPicPr>
          <p:cNvPr id="14" name="图片 13"/>
          <p:cNvPicPr>
            <a:picLocks noChangeAspect="1"/>
          </p:cNvPicPr>
          <p:nvPr/>
        </p:nvPicPr>
        <p:blipFill>
          <a:blip r:embed="rId6"/>
          <a:stretch>
            <a:fillRect/>
          </a:stretch>
        </p:blipFill>
        <p:spPr>
          <a:xfrm>
            <a:off x="508471" y="4941168"/>
            <a:ext cx="3749048" cy="1350267"/>
          </a:xfrm>
          <a:prstGeom prst="rect">
            <a:avLst/>
          </a:prstGeom>
        </p:spPr>
      </p:pic>
    </p:spTree>
    <p:extLst>
      <p:ext uri="{BB962C8B-B14F-4D97-AF65-F5344CB8AC3E}">
        <p14:creationId xmlns:p14="http://schemas.microsoft.com/office/powerpoint/2010/main" val="1500615332"/>
      </p:ext>
    </p:extLst>
  </p:cSld>
  <p:clrMapOvr>
    <a:masterClrMapping/>
  </p:clrMapOvr>
  <p:transition spd="slow" advClick="0">
    <p:pull dir="d"/>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文本占位符 67586"/>
          <p:cNvSpPr>
            <a:spLocks noGrp="1"/>
          </p:cNvSpPr>
          <p:nvPr>
            <p:ph idx="1"/>
          </p:nvPr>
        </p:nvSpPr>
        <p:spPr>
          <a:xfrm>
            <a:off x="489223" y="1454180"/>
            <a:ext cx="8454022" cy="4229308"/>
          </a:xfrm>
        </p:spPr>
        <p:txBody>
          <a:bodyPr anchor="t"/>
          <a:lstStyle/>
          <a:p>
            <a:pPr>
              <a:spcBef>
                <a:spcPts val="600"/>
              </a:spcBef>
              <a:spcAft>
                <a:spcPts val="600"/>
              </a:spcAft>
              <a:buClr>
                <a:srgbClr val="FF0000"/>
              </a:buClr>
              <a:buSzPct val="70000"/>
              <a:buFont typeface="Wingdings" panose="05000000000000000000" charset="0"/>
              <a:buChar char="n"/>
            </a:pPr>
            <a:r>
              <a:rPr lang="zh-CN" altLang="en-US" sz="2400" b="1" dirty="0">
                <a:latin typeface="宋体" panose="02010600030101010101" pitchFamily="2" charset="-122"/>
              </a:rPr>
              <a:t>正则表达式对象的</a:t>
            </a:r>
            <a:r>
              <a:rPr lang="en-US" altLang="zh-CN" sz="2400" b="1" dirty="0">
                <a:latin typeface="宋体" panose="02010600030101010101" pitchFamily="2" charset="-122"/>
              </a:rPr>
              <a:t>match</a:t>
            </a:r>
            <a:r>
              <a:rPr lang="zh-CN" altLang="en-US" sz="2400" b="1" dirty="0">
                <a:latin typeface="宋体" panose="02010600030101010101" pitchFamily="2" charset="-122"/>
              </a:rPr>
              <a:t>方法和</a:t>
            </a:r>
            <a:r>
              <a:rPr lang="en-US" altLang="zh-CN" sz="2400" b="1" dirty="0">
                <a:latin typeface="宋体" panose="02010600030101010101" pitchFamily="2" charset="-122"/>
              </a:rPr>
              <a:t>search</a:t>
            </a:r>
            <a:r>
              <a:rPr lang="zh-CN" altLang="en-US" sz="2400" b="1" dirty="0">
                <a:latin typeface="宋体" panose="02010600030101010101" pitchFamily="2" charset="-122"/>
              </a:rPr>
              <a:t>方法匹配成功后返回</a:t>
            </a:r>
            <a:r>
              <a:rPr lang="en-US" altLang="zh-CN" sz="2400" b="1" dirty="0">
                <a:solidFill>
                  <a:srgbClr val="FF0000"/>
                </a:solidFill>
                <a:latin typeface="宋体" panose="02010600030101010101" pitchFamily="2" charset="-122"/>
              </a:rPr>
              <a:t>match</a:t>
            </a:r>
            <a:r>
              <a:rPr lang="zh-CN" altLang="en-US" sz="2400" b="1" dirty="0">
                <a:solidFill>
                  <a:srgbClr val="FF0000"/>
                </a:solidFill>
                <a:latin typeface="宋体" panose="02010600030101010101" pitchFamily="2" charset="-122"/>
              </a:rPr>
              <a:t>对象</a:t>
            </a:r>
            <a:r>
              <a:rPr lang="zh-CN" altLang="en-US" sz="2400" b="1" dirty="0">
                <a:latin typeface="宋体" panose="02010600030101010101" pitchFamily="2" charset="-122"/>
              </a:rPr>
              <a:t>。</a:t>
            </a:r>
            <a:endParaRPr lang="en-US" altLang="zh-CN" sz="2400" b="1" dirty="0">
              <a:latin typeface="宋体" panose="02010600030101010101" pitchFamily="2" charset="-122"/>
            </a:endParaRPr>
          </a:p>
          <a:p>
            <a:pPr>
              <a:lnSpc>
                <a:spcPct val="150000"/>
              </a:lnSpc>
              <a:spcBef>
                <a:spcPts val="600"/>
              </a:spcBef>
              <a:spcAft>
                <a:spcPts val="600"/>
              </a:spcAft>
              <a:buClr>
                <a:srgbClr val="FF0000"/>
              </a:buClr>
              <a:buSzPct val="70000"/>
              <a:buFont typeface="Wingdings" panose="05000000000000000000" charset="0"/>
              <a:buChar char="n"/>
            </a:pPr>
            <a:r>
              <a:rPr lang="zh-CN" altLang="en-US" sz="2400" dirty="0">
                <a:latin typeface="宋体" panose="02010600030101010101" pitchFamily="2" charset="-122"/>
              </a:rPr>
              <a:t>match对象的主要方法有：</a:t>
            </a:r>
          </a:p>
          <a:p>
            <a:pPr>
              <a:spcBef>
                <a:spcPts val="600"/>
              </a:spcBef>
              <a:spcAft>
                <a:spcPts val="600"/>
              </a:spcAft>
              <a:buClr>
                <a:srgbClr val="FF0000"/>
              </a:buClr>
              <a:buSzPct val="70000"/>
              <a:buFont typeface="Wingdings" panose="05000000000000000000" charset="0"/>
              <a:buChar char="ü"/>
            </a:pPr>
            <a:r>
              <a:rPr lang="zh-CN" altLang="en-US" sz="1800" b="1" dirty="0">
                <a:latin typeface="宋体" panose="02010600030101010101" pitchFamily="2" charset="-122"/>
              </a:rPr>
              <a:t>group()：返回匹配的一个或多个子模式内容</a:t>
            </a:r>
          </a:p>
          <a:p>
            <a:pPr>
              <a:spcBef>
                <a:spcPts val="600"/>
              </a:spcBef>
              <a:spcAft>
                <a:spcPts val="600"/>
              </a:spcAft>
              <a:buClr>
                <a:srgbClr val="FF0000"/>
              </a:buClr>
              <a:buSzPct val="70000"/>
              <a:buFont typeface="Wingdings" panose="05000000000000000000" charset="0"/>
              <a:buChar char="ü"/>
            </a:pPr>
            <a:r>
              <a:rPr lang="zh-CN" altLang="en-US" sz="1800" b="1" dirty="0">
                <a:latin typeface="宋体" panose="02010600030101010101" pitchFamily="2" charset="-122"/>
              </a:rPr>
              <a:t>groups()：返回一个包含匹配的所有子模式内容的元组</a:t>
            </a:r>
          </a:p>
          <a:p>
            <a:pPr>
              <a:spcBef>
                <a:spcPts val="600"/>
              </a:spcBef>
              <a:spcAft>
                <a:spcPts val="600"/>
              </a:spcAft>
              <a:buClr>
                <a:srgbClr val="FF0000"/>
              </a:buClr>
              <a:buSzPct val="70000"/>
              <a:buFont typeface="Wingdings" panose="05000000000000000000" charset="0"/>
              <a:buChar char="ü"/>
            </a:pPr>
            <a:r>
              <a:rPr lang="zh-CN" altLang="en-US" sz="1800" b="1" dirty="0">
                <a:latin typeface="宋体" panose="02010600030101010101" pitchFamily="2" charset="-122"/>
              </a:rPr>
              <a:t>groupdict()：返回包含匹配的</a:t>
            </a:r>
            <a:r>
              <a:rPr lang="zh-CN" altLang="en-US" sz="1800" b="1" dirty="0">
                <a:solidFill>
                  <a:srgbClr val="FF0000"/>
                </a:solidFill>
                <a:latin typeface="宋体" panose="02010600030101010101" pitchFamily="2" charset="-122"/>
              </a:rPr>
              <a:t>所有命名子模式</a:t>
            </a:r>
            <a:r>
              <a:rPr lang="zh-CN" altLang="en-US" sz="1800" b="1" dirty="0">
                <a:latin typeface="宋体" panose="02010600030101010101" pitchFamily="2" charset="-122"/>
              </a:rPr>
              <a:t>内容的字典</a:t>
            </a:r>
          </a:p>
          <a:p>
            <a:pPr>
              <a:spcBef>
                <a:spcPts val="600"/>
              </a:spcBef>
              <a:spcAft>
                <a:spcPts val="600"/>
              </a:spcAft>
              <a:buClr>
                <a:srgbClr val="FF0000"/>
              </a:buClr>
              <a:buSzPct val="70000"/>
              <a:buFont typeface="Wingdings" panose="05000000000000000000" charset="0"/>
              <a:buChar char="ü"/>
            </a:pPr>
            <a:r>
              <a:rPr lang="zh-CN" altLang="en-US" sz="1800" b="1" dirty="0">
                <a:latin typeface="宋体" panose="02010600030101010101" pitchFamily="2" charset="-122"/>
              </a:rPr>
              <a:t>start()：返回指定子模式内容的起始位置</a:t>
            </a:r>
          </a:p>
          <a:p>
            <a:pPr>
              <a:spcBef>
                <a:spcPts val="600"/>
              </a:spcBef>
              <a:spcAft>
                <a:spcPts val="600"/>
              </a:spcAft>
              <a:buClr>
                <a:srgbClr val="FF0000"/>
              </a:buClr>
              <a:buSzPct val="70000"/>
              <a:buFont typeface="Wingdings" panose="05000000000000000000" charset="0"/>
              <a:buChar char="ü"/>
            </a:pPr>
            <a:r>
              <a:rPr lang="zh-CN" altLang="en-US" sz="1800" b="1" dirty="0">
                <a:latin typeface="宋体" panose="02010600030101010101" pitchFamily="2" charset="-122"/>
              </a:rPr>
              <a:t>end()：返回指定子模式内容的结束位置的前一个位置</a:t>
            </a:r>
          </a:p>
          <a:p>
            <a:pPr>
              <a:spcBef>
                <a:spcPts val="600"/>
              </a:spcBef>
              <a:spcAft>
                <a:spcPts val="600"/>
              </a:spcAft>
              <a:buClr>
                <a:srgbClr val="FF0000"/>
              </a:buClr>
              <a:buSzPct val="70000"/>
              <a:buFont typeface="Wingdings" panose="05000000000000000000" charset="0"/>
              <a:buChar char="ü"/>
            </a:pPr>
            <a:r>
              <a:rPr lang="zh-CN" altLang="en-US" sz="1800" b="1" dirty="0">
                <a:latin typeface="宋体" panose="02010600030101010101" pitchFamily="2" charset="-122"/>
              </a:rPr>
              <a:t>span()：返回一个包含指定子模式内容起始位置和结束位置前一个位置的元组。</a:t>
            </a:r>
          </a:p>
        </p:txBody>
      </p:sp>
      <p:sp>
        <p:nvSpPr>
          <p:cNvPr id="13824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90</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smtClean="0">
                <a:latin typeface="Times New Roman" panose="02020603050405020304" pitchFamily="18" charset="0"/>
                <a:ea typeface="仿宋" panose="02010609060101010101" pitchFamily="49" charset="-122"/>
              </a:rPr>
              <a:t>4.3.3 </a:t>
            </a:r>
            <a:r>
              <a:rPr lang="zh-CN" altLang="en-US" sz="2800" b="1" dirty="0" smtClean="0">
                <a:latin typeface="Times New Roman" panose="02020603050405020304" pitchFamily="18" charset="0"/>
                <a:ea typeface="仿宋" panose="02010609060101010101" pitchFamily="49" charset="-122"/>
              </a:rPr>
              <a:t> </a:t>
            </a:r>
            <a:r>
              <a:rPr lang="zh-CN" altLang="en-US" sz="2800" b="1" dirty="0">
                <a:latin typeface="Times New Roman" panose="02020603050405020304" pitchFamily="18" charset="0"/>
                <a:ea typeface="仿宋" panose="02010609060101010101" pitchFamily="49" charset="-122"/>
              </a:rPr>
              <a:t>子模式与</a:t>
            </a:r>
            <a:r>
              <a:rPr lang="en-US" altLang="zh-CN" sz="2800" b="1" dirty="0">
                <a:latin typeface="Times New Roman" panose="02020603050405020304" pitchFamily="18" charset="0"/>
                <a:ea typeface="仿宋" panose="02010609060101010101" pitchFamily="49" charset="-122"/>
              </a:rPr>
              <a:t>match</a:t>
            </a:r>
            <a:r>
              <a:rPr lang="zh-CN" altLang="en-US" sz="2800" b="1" dirty="0">
                <a:latin typeface="Times New Roman" panose="02020603050405020304" pitchFamily="18" charset="0"/>
                <a:ea typeface="仿宋" panose="02010609060101010101" pitchFamily="49" charset="-122"/>
              </a:rPr>
              <a:t>对象</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24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824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824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824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824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824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824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824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431940"/>
            <a:ext cx="8229600" cy="4678451"/>
          </a:xfrm>
        </p:spPr>
        <p:txBody>
          <a:bodyPr/>
          <a:lstStyle/>
          <a:p>
            <a:pPr fontAlgn="base">
              <a:buClr>
                <a:srgbClr val="FF0000"/>
              </a:buClr>
              <a:buFont typeface="Wingdings" panose="05000000000000000000" charset="0"/>
              <a:buChar char="n"/>
            </a:pPr>
            <a:r>
              <a:rPr lang="zh-CN" altLang="en-US" sz="2400" b="1" noProof="1"/>
              <a:t>match对象的用法</a:t>
            </a:r>
          </a:p>
          <a:p>
            <a:pPr marL="0" indent="0">
              <a:buNone/>
            </a:pPr>
            <a:endParaRPr lang="zh-CN" altLang="en-US" sz="1350" noProof="1">
              <a:latin typeface="Consolas" panose="020B0609020204030204" charset="0"/>
            </a:endParaRPr>
          </a:p>
          <a:p>
            <a:pPr marL="0" indent="0">
              <a:buNone/>
            </a:pPr>
            <a:r>
              <a:rPr lang="zh-CN" altLang="en-US" sz="1400" noProof="1">
                <a:latin typeface="Consolas" panose="020B0609020204030204" charset="0"/>
              </a:rPr>
              <a:t>&gt;&gt;&gt; m = re.match(r"(\w+) (\w+)", "Isaac Newton, physicist")</a:t>
            </a:r>
          </a:p>
          <a:p>
            <a:pPr marL="0" indent="0">
              <a:buNone/>
            </a:pPr>
            <a:r>
              <a:rPr lang="zh-CN" altLang="en-US" sz="1400" noProof="1">
                <a:latin typeface="Consolas" panose="020B0609020204030204" charset="0"/>
              </a:rPr>
              <a:t>&gt;&gt;&gt; m.group(0)                   #返回整个模式内容</a:t>
            </a:r>
          </a:p>
          <a:p>
            <a:pPr marL="0" indent="0">
              <a:buNone/>
            </a:pPr>
            <a:r>
              <a:rPr lang="zh-CN" altLang="en-US" sz="1400" noProof="1">
                <a:solidFill>
                  <a:srgbClr val="0000FF"/>
                </a:solidFill>
                <a:latin typeface="Consolas" panose="020B0609020204030204" charset="0"/>
              </a:rPr>
              <a:t>'Isaac Newton'</a:t>
            </a:r>
          </a:p>
          <a:p>
            <a:pPr marL="0" indent="0">
              <a:buNone/>
            </a:pPr>
            <a:r>
              <a:rPr lang="zh-CN" altLang="en-US" sz="1400" noProof="1">
                <a:latin typeface="Consolas" panose="020B0609020204030204" charset="0"/>
              </a:rPr>
              <a:t>&gt;&gt;&gt; m.group(1)                   #返回第1个子模式内容</a:t>
            </a:r>
          </a:p>
          <a:p>
            <a:pPr marL="0" indent="0">
              <a:buNone/>
            </a:pPr>
            <a:r>
              <a:rPr lang="zh-CN" altLang="en-US" sz="1400" noProof="1">
                <a:solidFill>
                  <a:srgbClr val="0000FF"/>
                </a:solidFill>
                <a:latin typeface="Consolas" panose="020B0609020204030204" charset="0"/>
              </a:rPr>
              <a:t>'Isaac'</a:t>
            </a:r>
          </a:p>
          <a:p>
            <a:pPr marL="0" indent="0">
              <a:buNone/>
            </a:pPr>
            <a:r>
              <a:rPr lang="zh-CN" altLang="en-US" sz="1400" noProof="1">
                <a:latin typeface="Consolas" panose="020B0609020204030204" charset="0"/>
              </a:rPr>
              <a:t>&gt;&gt;&gt; m.group(2)                   #返回第2个子模式内容.</a:t>
            </a:r>
          </a:p>
          <a:p>
            <a:pPr marL="0" indent="0">
              <a:buNone/>
            </a:pPr>
            <a:r>
              <a:rPr lang="zh-CN" altLang="en-US" sz="1400" noProof="1">
                <a:solidFill>
                  <a:srgbClr val="0000FF"/>
                </a:solidFill>
                <a:latin typeface="Consolas" panose="020B0609020204030204" charset="0"/>
              </a:rPr>
              <a:t>'Newton'</a:t>
            </a:r>
          </a:p>
          <a:p>
            <a:pPr marL="0" indent="0">
              <a:buNone/>
            </a:pPr>
            <a:r>
              <a:rPr lang="zh-CN" altLang="en-US" sz="1400" noProof="1">
                <a:latin typeface="Consolas" panose="020B0609020204030204" charset="0"/>
              </a:rPr>
              <a:t>&gt;&gt;&gt; m.group(1, 2)                #返回指定的多个子模式内容</a:t>
            </a:r>
          </a:p>
          <a:p>
            <a:pPr marL="0" indent="0">
              <a:buNone/>
            </a:pPr>
            <a:r>
              <a:rPr lang="zh-CN" altLang="en-US" sz="1400" noProof="1">
                <a:solidFill>
                  <a:srgbClr val="0000FF"/>
                </a:solidFill>
                <a:latin typeface="Consolas" panose="020B0609020204030204" charset="0"/>
              </a:rPr>
              <a:t>('Isaac', 'Newton’)</a:t>
            </a:r>
            <a:endParaRPr lang="en-US" altLang="zh-CN" sz="1400" noProof="1">
              <a:solidFill>
                <a:srgbClr val="0000FF"/>
              </a:solidFill>
              <a:latin typeface="Consolas" panose="020B0609020204030204" charset="0"/>
            </a:endParaRPr>
          </a:p>
          <a:p>
            <a:pPr marL="0" indent="0">
              <a:buNone/>
            </a:pPr>
            <a:r>
              <a:rPr lang="zh-CN" altLang="en-US" sz="1400" noProof="1">
                <a:latin typeface="Consolas" panose="020B0609020204030204" charset="0"/>
              </a:rPr>
              <a:t>&gt;&gt;&gt; m.group</a:t>
            </a:r>
            <a:r>
              <a:rPr lang="en-US" altLang="zh-CN" sz="1400" noProof="1">
                <a:latin typeface="Consolas" panose="020B0609020204030204" charset="0"/>
              </a:rPr>
              <a:t>s</a:t>
            </a:r>
            <a:r>
              <a:rPr lang="zh-CN" altLang="en-US" sz="1400" noProof="1">
                <a:latin typeface="Consolas" panose="020B0609020204030204" charset="0"/>
              </a:rPr>
              <a:t>()                #返回指定的多个子模式内容</a:t>
            </a:r>
          </a:p>
          <a:p>
            <a:pPr marL="0" indent="0">
              <a:buNone/>
            </a:pPr>
            <a:r>
              <a:rPr lang="zh-CN" altLang="en-US" sz="1400" noProof="1">
                <a:solidFill>
                  <a:srgbClr val="0000FF"/>
                </a:solidFill>
                <a:latin typeface="Consolas" panose="020B0609020204030204" charset="0"/>
              </a:rPr>
              <a:t>('Isaac', 'Newton’)</a:t>
            </a:r>
            <a:endParaRPr lang="en-US" altLang="zh-CN" sz="1400" noProof="1">
              <a:solidFill>
                <a:srgbClr val="0000FF"/>
              </a:solidFill>
              <a:latin typeface="Consolas" panose="020B0609020204030204" charset="0"/>
            </a:endParaRPr>
          </a:p>
          <a:p>
            <a:pPr marL="0" indent="0">
              <a:buNone/>
            </a:pPr>
            <a:endParaRPr lang="zh-CN" altLang="en-US" sz="1400" noProof="1">
              <a:solidFill>
                <a:srgbClr val="0000FF"/>
              </a:solidFill>
              <a:latin typeface="Consolas" panose="020B0609020204030204" charset="0"/>
            </a:endParaRPr>
          </a:p>
        </p:txBody>
      </p:sp>
      <p:sp>
        <p:nvSpPr>
          <p:cNvPr id="139267"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91</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smtClean="0">
                <a:latin typeface="Times New Roman" panose="02020603050405020304" pitchFamily="18" charset="0"/>
                <a:ea typeface="仿宋" panose="02010609060101010101" pitchFamily="49" charset="-122"/>
              </a:rPr>
              <a:t>4.3.3 </a:t>
            </a:r>
            <a:r>
              <a:rPr lang="zh-CN" altLang="en-US" sz="2800" b="1" dirty="0" smtClean="0">
                <a:latin typeface="Times New Roman" panose="02020603050405020304" pitchFamily="18" charset="0"/>
                <a:ea typeface="仿宋" panose="02010609060101010101" pitchFamily="49" charset="-122"/>
              </a:rPr>
              <a:t> </a:t>
            </a:r>
            <a:r>
              <a:rPr lang="zh-CN" altLang="en-US" sz="2800" b="1" dirty="0">
                <a:latin typeface="Times New Roman" panose="02020603050405020304" pitchFamily="18" charset="0"/>
                <a:ea typeface="仿宋" panose="02010609060101010101" pitchFamily="49" charset="-122"/>
              </a:rPr>
              <a:t>子模式与</a:t>
            </a:r>
            <a:r>
              <a:rPr lang="en-US" altLang="zh-CN" sz="2800" b="1" dirty="0">
                <a:latin typeface="Times New Roman" panose="02020603050405020304" pitchFamily="18" charset="0"/>
                <a:ea typeface="仿宋" panose="02010609060101010101" pitchFamily="49" charset="-122"/>
              </a:rPr>
              <a:t>match</a:t>
            </a:r>
            <a:r>
              <a:rPr lang="zh-CN" altLang="en-US" sz="2800" b="1" dirty="0">
                <a:latin typeface="Times New Roman" panose="02020603050405020304" pitchFamily="18" charset="0"/>
                <a:ea typeface="仿宋" panose="02010609060101010101" pitchFamily="49" charset="-122"/>
              </a:rPr>
              <a:t>对象</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pic>
        <p:nvPicPr>
          <p:cNvPr id="4" name="图片 3"/>
          <p:cNvPicPr>
            <a:picLocks noChangeAspect="1"/>
          </p:cNvPicPr>
          <p:nvPr/>
        </p:nvPicPr>
        <p:blipFill>
          <a:blip r:embed="rId4"/>
          <a:stretch>
            <a:fillRect/>
          </a:stretch>
        </p:blipFill>
        <p:spPr>
          <a:xfrm>
            <a:off x="3923927" y="4221088"/>
            <a:ext cx="4644017" cy="2304256"/>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内容占位符 2"/>
          <p:cNvSpPr>
            <a:spLocks noGrp="1"/>
          </p:cNvSpPr>
          <p:nvPr>
            <p:ph idx="1"/>
          </p:nvPr>
        </p:nvSpPr>
        <p:spPr>
          <a:xfrm>
            <a:off x="539552" y="1431940"/>
            <a:ext cx="8229600" cy="4678451"/>
          </a:xfrm>
        </p:spPr>
        <p:txBody>
          <a:bodyPr anchor="t"/>
          <a:lstStyle/>
          <a:p>
            <a:pPr marL="0" indent="0">
              <a:buSzPct val="70000"/>
              <a:buNone/>
            </a:pPr>
            <a:r>
              <a:rPr lang="zh-CN" altLang="en-US" sz="1400" dirty="0">
                <a:latin typeface="Times New Roman" panose="02020603050405020304" pitchFamily="18" charset="0"/>
              </a:rPr>
              <a:t>&gt;&gt;&gt; exampleString = '''There should be one-- and preferably only one --obvious way to do it.</a:t>
            </a:r>
          </a:p>
          <a:p>
            <a:pPr marL="0" indent="0">
              <a:buSzPct val="70000"/>
              <a:buNone/>
            </a:pPr>
            <a:r>
              <a:rPr lang="zh-CN" altLang="en-US" sz="1400" dirty="0">
                <a:latin typeface="Times New Roman" panose="02020603050405020304" pitchFamily="18" charset="0"/>
              </a:rPr>
              <a:t>Although that way may not be obvious at first unless you're Dutch.</a:t>
            </a:r>
          </a:p>
          <a:p>
            <a:pPr marL="0" indent="0">
              <a:buSzPct val="70000"/>
              <a:buNone/>
            </a:pPr>
            <a:r>
              <a:rPr lang="zh-CN" altLang="en-US" sz="1400" dirty="0">
                <a:latin typeface="Times New Roman" panose="02020603050405020304" pitchFamily="18" charset="0"/>
              </a:rPr>
              <a:t>Now </a:t>
            </a:r>
            <a:r>
              <a:rPr lang="zh-CN" altLang="en-US" sz="1400" dirty="0">
                <a:solidFill>
                  <a:srgbClr val="FF0000"/>
                </a:solidFill>
                <a:latin typeface="Times New Roman" panose="02020603050405020304" pitchFamily="18" charset="0"/>
              </a:rPr>
              <a:t>is better than </a:t>
            </a:r>
            <a:r>
              <a:rPr lang="zh-CN" altLang="en-US" sz="1400" dirty="0">
                <a:latin typeface="Times New Roman" panose="02020603050405020304" pitchFamily="18" charset="0"/>
              </a:rPr>
              <a:t>never.</a:t>
            </a:r>
          </a:p>
          <a:p>
            <a:pPr marL="0" indent="0">
              <a:buSzPct val="70000"/>
              <a:buNone/>
            </a:pPr>
            <a:r>
              <a:rPr lang="zh-CN" altLang="en-US" sz="1400" dirty="0">
                <a:latin typeface="Times New Roman" panose="02020603050405020304" pitchFamily="18" charset="0"/>
              </a:rPr>
              <a:t>Although never </a:t>
            </a:r>
            <a:r>
              <a:rPr lang="zh-CN" altLang="en-US" sz="1400" dirty="0">
                <a:solidFill>
                  <a:schemeClr val="tx2">
                    <a:lumMod val="60000"/>
                    <a:lumOff val="40000"/>
                  </a:schemeClr>
                </a:solidFill>
                <a:latin typeface="Times New Roman" panose="02020603050405020304" pitchFamily="18" charset="0"/>
              </a:rPr>
              <a:t>is often better than </a:t>
            </a:r>
            <a:r>
              <a:rPr lang="zh-CN" altLang="en-US" sz="1400" dirty="0">
                <a:latin typeface="Times New Roman" panose="02020603050405020304" pitchFamily="18" charset="0"/>
              </a:rPr>
              <a:t>right now.'''</a:t>
            </a:r>
            <a:endParaRPr lang="zh-CN" altLang="en-US" sz="1400" dirty="0">
              <a:latin typeface="Consolas" panose="020B0609020204030204" charset="0"/>
            </a:endParaRPr>
          </a:p>
          <a:p>
            <a:pPr marL="0" indent="0">
              <a:buSzPct val="70000"/>
              <a:buNone/>
            </a:pPr>
            <a:r>
              <a:rPr lang="zh-CN" altLang="en-US" sz="1400" dirty="0">
                <a:latin typeface="Consolas" panose="020B0609020204030204" charset="0"/>
              </a:rPr>
              <a:t>&gt;&gt;&gt; pattern = re.compile(r'(?&lt;=\w\s)never')    </a:t>
            </a:r>
            <a:r>
              <a:rPr lang="zh-CN" altLang="en-US" sz="1400" dirty="0">
                <a:solidFill>
                  <a:srgbClr val="0000FF"/>
                </a:solidFill>
                <a:latin typeface="Consolas" panose="020B0609020204030204" charset="0"/>
              </a:rPr>
              <a:t>#查找不是第一个单词的</a:t>
            </a:r>
            <a:r>
              <a:rPr lang="en-US" altLang="zh-CN" sz="1400" dirty="0">
                <a:solidFill>
                  <a:srgbClr val="0000FF"/>
                </a:solidFill>
                <a:latin typeface="Consolas" panose="020B0609020204030204" charset="0"/>
              </a:rPr>
              <a:t>never</a:t>
            </a:r>
          </a:p>
          <a:p>
            <a:pPr marL="0" indent="0">
              <a:buSzPct val="70000"/>
              <a:buNone/>
            </a:pPr>
            <a:r>
              <a:rPr lang="zh-CN" altLang="en-US" sz="1400" dirty="0">
                <a:latin typeface="Consolas" panose="020B0609020204030204" charset="0"/>
              </a:rPr>
              <a:t>&gt;&gt;&gt; matchResult = pattern.search(exampleString)</a:t>
            </a:r>
          </a:p>
          <a:p>
            <a:pPr marL="0" indent="0">
              <a:buSzPct val="70000"/>
              <a:buNone/>
            </a:pPr>
            <a:r>
              <a:rPr lang="zh-CN" altLang="en-US" sz="1400" dirty="0">
                <a:latin typeface="Consolas" panose="020B0609020204030204" charset="0"/>
              </a:rPr>
              <a:t>&gt;&gt;&gt; matchResult.span()</a:t>
            </a:r>
          </a:p>
          <a:p>
            <a:pPr marL="0" indent="0">
              <a:buSzPct val="70000"/>
              <a:buNone/>
            </a:pPr>
            <a:r>
              <a:rPr lang="zh-CN" altLang="en-US" sz="1400" dirty="0">
                <a:solidFill>
                  <a:srgbClr val="0000FF"/>
                </a:solidFill>
                <a:latin typeface="Consolas" panose="020B0609020204030204" charset="0"/>
              </a:rPr>
              <a:t>(156, 161)</a:t>
            </a:r>
          </a:p>
          <a:p>
            <a:pPr marL="0" indent="0">
              <a:buSzPct val="70000"/>
              <a:buNone/>
            </a:pPr>
            <a:r>
              <a:rPr lang="zh-CN" altLang="en-US" sz="1400" dirty="0">
                <a:latin typeface="Consolas" panose="020B0609020204030204" charset="0"/>
              </a:rPr>
              <a:t>&gt;&gt;&gt; pattern = re.compile(r'(?:is\s)better(\sthan)')</a:t>
            </a:r>
          </a:p>
          <a:p>
            <a:pPr marL="0" indent="0">
              <a:buSzPct val="70000"/>
              <a:buNone/>
            </a:pPr>
            <a:r>
              <a:rPr lang="zh-CN" altLang="en-US" sz="1400" dirty="0">
                <a:latin typeface="Consolas" panose="020B0609020204030204" charset="0"/>
              </a:rPr>
              <a:t>                                          </a:t>
            </a:r>
            <a:r>
              <a:rPr lang="zh-CN" altLang="en-US" sz="1400" dirty="0">
                <a:solidFill>
                  <a:srgbClr val="0000FF"/>
                </a:solidFill>
                <a:latin typeface="Consolas" panose="020B0609020204030204" charset="0"/>
              </a:rPr>
              <a:t>#查找前面是is的better than组合</a:t>
            </a:r>
          </a:p>
          <a:p>
            <a:pPr marL="0" indent="0">
              <a:buSzPct val="70000"/>
              <a:buNone/>
            </a:pPr>
            <a:r>
              <a:rPr lang="zh-CN" altLang="en-US" sz="1400" dirty="0">
                <a:latin typeface="Consolas" panose="020B0609020204030204" charset="0"/>
              </a:rPr>
              <a:t>&gt;&gt;&gt; matchResult = pattern.search(exampleString)</a:t>
            </a:r>
          </a:p>
          <a:p>
            <a:pPr marL="0" indent="0">
              <a:buSzPct val="70000"/>
              <a:buNone/>
            </a:pPr>
            <a:r>
              <a:rPr lang="zh-CN" altLang="en-US" sz="1400" dirty="0">
                <a:latin typeface="Consolas" panose="020B0609020204030204" charset="0"/>
              </a:rPr>
              <a:t>&gt;&gt;&gt; matchResult.span()</a:t>
            </a:r>
          </a:p>
          <a:p>
            <a:pPr marL="0" indent="0">
              <a:buSzPct val="70000"/>
              <a:buNone/>
            </a:pPr>
            <a:r>
              <a:rPr lang="zh-CN" altLang="en-US" sz="1400" dirty="0">
                <a:solidFill>
                  <a:srgbClr val="0000FF"/>
                </a:solidFill>
                <a:latin typeface="Consolas" panose="020B0609020204030204" charset="0"/>
              </a:rPr>
              <a:t>(141, 155)</a:t>
            </a:r>
          </a:p>
          <a:p>
            <a:pPr marL="0" indent="0">
              <a:buSzPct val="70000"/>
              <a:buNone/>
            </a:pPr>
            <a:r>
              <a:rPr lang="zh-CN" altLang="en-US" sz="1400" dirty="0">
                <a:latin typeface="Consolas" panose="020B0609020204030204" charset="0"/>
              </a:rPr>
              <a:t>&gt;&gt;&gt; matchResult.group(0)                  #组0表示整个模式   匹配的整个模式</a:t>
            </a:r>
          </a:p>
          <a:p>
            <a:pPr marL="0" indent="0">
              <a:buSzPct val="70000"/>
              <a:buNone/>
            </a:pPr>
            <a:r>
              <a:rPr lang="zh-CN" altLang="en-US" sz="1400" dirty="0">
                <a:solidFill>
                  <a:srgbClr val="0000FF"/>
                </a:solidFill>
                <a:latin typeface="Consolas" panose="020B0609020204030204" charset="0"/>
              </a:rPr>
              <a:t>‘</a:t>
            </a:r>
            <a:r>
              <a:rPr lang="zh-CN" altLang="en-US" sz="1400" dirty="0">
                <a:solidFill>
                  <a:srgbClr val="FF0000"/>
                </a:solidFill>
                <a:latin typeface="Consolas" panose="020B0609020204030204" charset="0"/>
              </a:rPr>
              <a:t>is </a:t>
            </a:r>
            <a:r>
              <a:rPr lang="zh-CN" altLang="en-US" sz="1400" dirty="0">
                <a:solidFill>
                  <a:srgbClr val="0000FF"/>
                </a:solidFill>
                <a:latin typeface="Consolas" panose="020B0609020204030204" charset="0"/>
              </a:rPr>
              <a:t>better than’                         </a:t>
            </a:r>
            <a:r>
              <a:rPr lang="en-US" altLang="zh-CN" sz="1400" dirty="0">
                <a:solidFill>
                  <a:srgbClr val="FF0000"/>
                </a:solidFill>
                <a:latin typeface="Consolas" panose="020B0609020204030204" charset="0"/>
              </a:rPr>
              <a:t>#</a:t>
            </a:r>
            <a:r>
              <a:rPr lang="zh-CN" altLang="en-US" sz="1400" dirty="0">
                <a:solidFill>
                  <a:srgbClr val="FF0000"/>
                </a:solidFill>
                <a:latin typeface="Consolas" panose="020B0609020204030204" charset="0"/>
              </a:rPr>
              <a:t>仔细体会</a:t>
            </a:r>
            <a:r>
              <a:rPr lang="zh-CN" altLang="en-US" sz="1400" dirty="0">
                <a:solidFill>
                  <a:srgbClr val="0000FF"/>
                </a:solidFill>
                <a:latin typeface="Consolas" panose="020B0609020204030204" charset="0"/>
              </a:rPr>
              <a:t>，表</a:t>
            </a:r>
            <a:r>
              <a:rPr lang="en-US" altLang="zh-CN" sz="1400" dirty="0">
                <a:solidFill>
                  <a:srgbClr val="0000FF"/>
                </a:solidFill>
                <a:latin typeface="Consolas" panose="020B0609020204030204" charset="0"/>
              </a:rPr>
              <a:t>4-4 (?....</a:t>
            </a:r>
            <a:r>
              <a:rPr lang="en-US" altLang="zh-CN" sz="1400" dirty="0">
                <a:solidFill>
                  <a:srgbClr val="0000FF"/>
                </a:solidFill>
                <a:latin typeface="Consolas" panose="020B0609020204030204" charset="0"/>
                <a:sym typeface="Wingdings" panose="05000000000000000000" pitchFamily="2" charset="2"/>
              </a:rPr>
              <a:t>)</a:t>
            </a:r>
            <a:r>
              <a:rPr lang="zh-CN" altLang="en-US" sz="1400" dirty="0">
                <a:solidFill>
                  <a:srgbClr val="0000FF"/>
                </a:solidFill>
                <a:latin typeface="Consolas" panose="020B0609020204030204" charset="0"/>
                <a:sym typeface="Wingdings" panose="05000000000000000000" pitchFamily="2" charset="2"/>
              </a:rPr>
              <a:t> 子模式扩展</a:t>
            </a:r>
            <a:endParaRPr lang="en-US" altLang="zh-CN" sz="1400" dirty="0">
              <a:solidFill>
                <a:srgbClr val="0000FF"/>
              </a:solidFill>
              <a:latin typeface="Consolas" panose="020B0609020204030204" charset="0"/>
            </a:endParaRPr>
          </a:p>
          <a:p>
            <a:pPr marL="0" indent="0">
              <a:buSzPct val="70000"/>
              <a:buNone/>
            </a:pPr>
            <a:r>
              <a:rPr lang="zh-CN" altLang="en-US" sz="1400" dirty="0">
                <a:latin typeface="Consolas" panose="020B0609020204030204" charset="0"/>
              </a:rPr>
              <a:t>&gt;&gt;&gt; matchResult.group</a:t>
            </a:r>
            <a:r>
              <a:rPr lang="en-US" altLang="zh-CN" sz="1400" dirty="0">
                <a:latin typeface="Consolas" panose="020B0609020204030204" charset="0"/>
              </a:rPr>
              <a:t>s</a:t>
            </a:r>
            <a:r>
              <a:rPr lang="zh-CN" altLang="en-US" sz="1400" dirty="0">
                <a:latin typeface="Consolas" panose="020B0609020204030204" charset="0"/>
              </a:rPr>
              <a:t>()</a:t>
            </a:r>
            <a:endParaRPr lang="en-US" altLang="zh-CN" sz="1400" dirty="0">
              <a:latin typeface="Consolas" panose="020B0609020204030204" charset="0"/>
            </a:endParaRPr>
          </a:p>
          <a:p>
            <a:pPr marL="0" indent="0">
              <a:buSzPct val="70000"/>
              <a:buNone/>
            </a:pPr>
            <a:r>
              <a:rPr lang="en-US" altLang="zh-CN" sz="1400" dirty="0">
                <a:solidFill>
                  <a:srgbClr val="0000FF"/>
                </a:solidFill>
                <a:latin typeface="Consolas" panose="020B0609020204030204" charset="0"/>
              </a:rPr>
              <a:t> </a:t>
            </a:r>
            <a:r>
              <a:rPr lang="zh-CN" altLang="en-US" sz="1400" dirty="0">
                <a:solidFill>
                  <a:srgbClr val="0000FF"/>
                </a:solidFill>
                <a:latin typeface="Consolas" panose="020B0609020204030204" charset="0"/>
              </a:rPr>
              <a:t>（</a:t>
            </a:r>
            <a:r>
              <a:rPr lang="en-US" altLang="zh-CN" sz="1400" dirty="0">
                <a:solidFill>
                  <a:srgbClr val="0000FF"/>
                </a:solidFill>
                <a:latin typeface="Consolas" panose="020B0609020204030204" charset="0"/>
              </a:rPr>
              <a:t>’ than’, </a:t>
            </a:r>
            <a:r>
              <a:rPr lang="zh-CN" altLang="en-US" sz="1400" dirty="0">
                <a:solidFill>
                  <a:srgbClr val="0000FF"/>
                </a:solidFill>
                <a:latin typeface="Consolas" panose="020B0609020204030204" charset="0"/>
              </a:rPr>
              <a:t>）                   </a:t>
            </a:r>
            <a:r>
              <a:rPr lang="en-US" altLang="zh-CN" sz="1400" dirty="0">
                <a:solidFill>
                  <a:srgbClr val="FF0000"/>
                </a:solidFill>
                <a:latin typeface="Consolas" panose="020B0609020204030204" charset="0"/>
              </a:rPr>
              <a:t>#</a:t>
            </a:r>
            <a:r>
              <a:rPr lang="zh-CN" altLang="en-US" sz="1400" dirty="0">
                <a:solidFill>
                  <a:srgbClr val="FF0000"/>
                </a:solidFill>
                <a:latin typeface="Consolas" panose="020B0609020204030204" charset="0"/>
              </a:rPr>
              <a:t>仔细体会，</a:t>
            </a:r>
            <a:r>
              <a:rPr lang="zh-CN" altLang="en-US" sz="1400" dirty="0">
                <a:solidFill>
                  <a:srgbClr val="0000FF"/>
                </a:solidFill>
                <a:latin typeface="Consolas" panose="020B0609020204030204" charset="0"/>
              </a:rPr>
              <a:t>表</a:t>
            </a:r>
            <a:r>
              <a:rPr lang="en-US" altLang="zh-CN" sz="1400" dirty="0">
                <a:solidFill>
                  <a:srgbClr val="0000FF"/>
                </a:solidFill>
                <a:latin typeface="Consolas" panose="020B0609020204030204" charset="0"/>
              </a:rPr>
              <a:t>4-4 (?....</a:t>
            </a:r>
            <a:r>
              <a:rPr lang="en-US" altLang="zh-CN" sz="1400" dirty="0">
                <a:solidFill>
                  <a:srgbClr val="0000FF"/>
                </a:solidFill>
                <a:latin typeface="Consolas" panose="020B0609020204030204" charset="0"/>
                <a:sym typeface="Wingdings" panose="05000000000000000000" pitchFamily="2" charset="2"/>
              </a:rPr>
              <a:t>)</a:t>
            </a:r>
            <a:r>
              <a:rPr lang="zh-CN" altLang="en-US" sz="1400" dirty="0">
                <a:solidFill>
                  <a:srgbClr val="0000FF"/>
                </a:solidFill>
                <a:latin typeface="Consolas" panose="020B0609020204030204" charset="0"/>
                <a:sym typeface="Wingdings" panose="05000000000000000000" pitchFamily="2" charset="2"/>
              </a:rPr>
              <a:t>“匹配但不返回（？</a:t>
            </a:r>
            <a:r>
              <a:rPr lang="en-US" altLang="zh-CN" sz="1400" dirty="0">
                <a:solidFill>
                  <a:srgbClr val="0000FF"/>
                </a:solidFill>
                <a:latin typeface="Consolas" panose="020B0609020204030204" charset="0"/>
                <a:sym typeface="Wingdings" panose="05000000000000000000" pitchFamily="2" charset="2"/>
              </a:rPr>
              <a:t>:…</a:t>
            </a:r>
            <a:r>
              <a:rPr lang="zh-CN" altLang="en-US" sz="1400" dirty="0">
                <a:solidFill>
                  <a:srgbClr val="0000FF"/>
                </a:solidFill>
                <a:latin typeface="Consolas" panose="020B0609020204030204" charset="0"/>
                <a:sym typeface="Wingdings" panose="05000000000000000000" pitchFamily="2" charset="2"/>
              </a:rPr>
              <a:t>）分组”</a:t>
            </a:r>
            <a:endParaRPr lang="zh-CN" altLang="en-US" sz="1400" dirty="0">
              <a:solidFill>
                <a:srgbClr val="0000FF"/>
              </a:solidFill>
              <a:latin typeface="Consolas" panose="020B0609020204030204" charset="0"/>
            </a:endParaRPr>
          </a:p>
          <a:p>
            <a:pPr marL="0" indent="0">
              <a:buSzPct val="70000"/>
              <a:buNone/>
            </a:pPr>
            <a:r>
              <a:rPr lang="zh-CN" altLang="en-US" sz="1400" dirty="0">
                <a:latin typeface="Consolas" panose="020B0609020204030204" charset="0"/>
              </a:rPr>
              <a:t>&gt;&gt;&gt; matchResult.group(1)</a:t>
            </a:r>
          </a:p>
          <a:p>
            <a:pPr marL="0" indent="0">
              <a:buSzPct val="70000"/>
              <a:buNone/>
            </a:pPr>
            <a:r>
              <a:rPr lang="zh-CN" altLang="en-US" sz="1400" dirty="0">
                <a:solidFill>
                  <a:srgbClr val="0000FF"/>
                </a:solidFill>
                <a:latin typeface="Consolas" panose="020B0609020204030204" charset="0"/>
              </a:rPr>
              <a:t>‘ than‘                             </a:t>
            </a:r>
            <a:r>
              <a:rPr lang="en-US" altLang="zh-CN" sz="1400" dirty="0">
                <a:solidFill>
                  <a:srgbClr val="FF0000"/>
                </a:solidFill>
                <a:latin typeface="Consolas" panose="020B0609020204030204" charset="0"/>
              </a:rPr>
              <a:t>#</a:t>
            </a:r>
            <a:r>
              <a:rPr lang="zh-CN" altLang="en-US" sz="1400" dirty="0">
                <a:solidFill>
                  <a:srgbClr val="FF0000"/>
                </a:solidFill>
                <a:latin typeface="Consolas" panose="020B0609020204030204" charset="0"/>
              </a:rPr>
              <a:t>注意 </a:t>
            </a:r>
            <a:r>
              <a:rPr lang="zh-CN" altLang="en-US" sz="1400" dirty="0">
                <a:solidFill>
                  <a:srgbClr val="0000FF"/>
                </a:solidFill>
                <a:latin typeface="Consolas" panose="020B0609020204030204" charset="0"/>
              </a:rPr>
              <a:t>这里</a:t>
            </a:r>
            <a:r>
              <a:rPr lang="en-US" altLang="zh-CN" sz="1400" dirty="0">
                <a:solidFill>
                  <a:srgbClr val="0000FF"/>
                </a:solidFill>
                <a:latin typeface="Consolas" panose="020B0609020204030204" charset="0"/>
              </a:rPr>
              <a:t>group(1)</a:t>
            </a:r>
            <a:r>
              <a:rPr lang="zh-CN" altLang="en-US" sz="1400" dirty="0">
                <a:solidFill>
                  <a:srgbClr val="0000FF"/>
                </a:solidFill>
                <a:latin typeface="Consolas" panose="020B0609020204030204" charset="0"/>
              </a:rPr>
              <a:t>返回的是 </a:t>
            </a:r>
            <a:r>
              <a:rPr lang="en-US" altLang="zh-CN" sz="1400" dirty="0">
                <a:solidFill>
                  <a:srgbClr val="0000FF"/>
                </a:solidFill>
                <a:latin typeface="Consolas" panose="020B0609020204030204" charset="0"/>
              </a:rPr>
              <a:t>‘ than’,</a:t>
            </a:r>
            <a:r>
              <a:rPr lang="zh-CN" altLang="en-US" sz="1400" dirty="0">
                <a:solidFill>
                  <a:srgbClr val="0000FF"/>
                </a:solidFill>
                <a:latin typeface="Consolas" panose="020B0609020204030204" charset="0"/>
              </a:rPr>
              <a:t>不是 </a:t>
            </a:r>
            <a:r>
              <a:rPr lang="en-US" altLang="zh-CN" sz="1400" dirty="0">
                <a:solidFill>
                  <a:srgbClr val="0000FF"/>
                </a:solidFill>
                <a:latin typeface="Consolas" panose="020B0609020204030204" charset="0"/>
              </a:rPr>
              <a:t>‘ is’</a:t>
            </a:r>
            <a:endParaRPr lang="zh-CN" altLang="en-US" sz="1400" dirty="0">
              <a:solidFill>
                <a:srgbClr val="0000FF"/>
              </a:solidFill>
              <a:latin typeface="Consolas" panose="020B0609020204030204" charset="0"/>
            </a:endParaRPr>
          </a:p>
        </p:txBody>
      </p:sp>
      <p:sp>
        <p:nvSpPr>
          <p:cNvPr id="140291"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92</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smtClean="0">
                <a:latin typeface="Times New Roman" panose="02020603050405020304" pitchFamily="18" charset="0"/>
                <a:ea typeface="仿宋" panose="02010609060101010101" pitchFamily="49" charset="-122"/>
              </a:rPr>
              <a:t>4.3.3 </a:t>
            </a:r>
            <a:r>
              <a:rPr lang="zh-CN" altLang="en-US" sz="2800" b="1" dirty="0" smtClean="0">
                <a:latin typeface="Times New Roman" panose="02020603050405020304" pitchFamily="18" charset="0"/>
                <a:ea typeface="仿宋" panose="02010609060101010101" pitchFamily="49" charset="-122"/>
              </a:rPr>
              <a:t> </a:t>
            </a:r>
            <a:r>
              <a:rPr lang="zh-CN" altLang="en-US" sz="2800" b="1" dirty="0">
                <a:latin typeface="Times New Roman" panose="02020603050405020304" pitchFamily="18" charset="0"/>
                <a:ea typeface="仿宋" panose="02010609060101010101" pitchFamily="49" charset="-122"/>
              </a:rPr>
              <a:t>子模式与</a:t>
            </a:r>
            <a:r>
              <a:rPr lang="en-US" altLang="zh-CN" sz="2800" b="1" dirty="0">
                <a:latin typeface="Times New Roman" panose="02020603050405020304" pitchFamily="18" charset="0"/>
                <a:ea typeface="仿宋" panose="02010609060101010101" pitchFamily="49" charset="-122"/>
              </a:rPr>
              <a:t>match</a:t>
            </a:r>
            <a:r>
              <a:rPr lang="zh-CN" altLang="en-US" sz="2800" b="1" dirty="0">
                <a:latin typeface="Times New Roman" panose="02020603050405020304" pitchFamily="18" charset="0"/>
                <a:ea typeface="仿宋" panose="02010609060101010101" pitchFamily="49" charset="-122"/>
              </a:rPr>
              <a:t>对象</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文本占位符 68610"/>
          <p:cNvSpPr>
            <a:spLocks noGrp="1"/>
          </p:cNvSpPr>
          <p:nvPr>
            <p:ph idx="1"/>
          </p:nvPr>
        </p:nvSpPr>
        <p:spPr>
          <a:xfrm>
            <a:off x="689978" y="1575956"/>
            <a:ext cx="7388860" cy="3869268"/>
          </a:xfrm>
        </p:spPr>
        <p:txBody>
          <a:bodyPr anchor="t"/>
          <a:lstStyle/>
          <a:p>
            <a:pPr>
              <a:lnSpc>
                <a:spcPct val="80000"/>
              </a:lnSpc>
              <a:spcBef>
                <a:spcPct val="0"/>
              </a:spcBef>
              <a:buClr>
                <a:srgbClr val="FF0000"/>
              </a:buClr>
              <a:buSzPct val="70000"/>
              <a:buFont typeface="Wingdings" panose="05000000000000000000" pitchFamily="2" charset="2"/>
              <a:buChar char="ü"/>
            </a:pPr>
            <a:r>
              <a:rPr lang="zh-CN" altLang="en-US" sz="2000" b="1" noProof="1">
                <a:latin typeface="宋体" panose="02010600030101010101" pitchFamily="2" charset="-122"/>
              </a:rPr>
              <a:t>应用：</a:t>
            </a:r>
            <a:r>
              <a:rPr lang="zh-CN" altLang="en-US" sz="2000" noProof="1">
                <a:latin typeface="宋体" panose="02010600030101010101" pitchFamily="2" charset="-122"/>
              </a:rPr>
              <a:t>使用正则表达式提取字符串中的电话号码（方法一）</a:t>
            </a:r>
          </a:p>
          <a:p>
            <a:pPr>
              <a:spcBef>
                <a:spcPct val="0"/>
              </a:spcBef>
              <a:buSzPct val="70000"/>
              <a:buNone/>
            </a:pPr>
            <a:endParaRPr lang="en-US" altLang="x-none" sz="1125" noProof="1">
              <a:latin typeface="Consolas" panose="020B0609020204030204" charset="0"/>
            </a:endParaRPr>
          </a:p>
          <a:p>
            <a:pPr>
              <a:spcBef>
                <a:spcPct val="0"/>
              </a:spcBef>
              <a:buSzPct val="70000"/>
              <a:buNone/>
            </a:pPr>
            <a:r>
              <a:rPr lang="en-US" altLang="x-none" sz="1400" noProof="1">
                <a:latin typeface="Consolas" panose="020B0609020204030204" charset="0"/>
              </a:rPr>
              <a:t>import re</a:t>
            </a:r>
          </a:p>
          <a:p>
            <a:pPr>
              <a:spcBef>
                <a:spcPct val="0"/>
              </a:spcBef>
              <a:buSzPct val="70000"/>
              <a:buNone/>
            </a:pPr>
            <a:endParaRPr lang="en-US" altLang="x-none" sz="1400" noProof="1">
              <a:latin typeface="Consolas" panose="020B0609020204030204" charset="0"/>
            </a:endParaRPr>
          </a:p>
          <a:p>
            <a:pPr marL="0" indent="0">
              <a:spcBef>
                <a:spcPct val="0"/>
              </a:spcBef>
              <a:buSzPct val="70000"/>
              <a:buNone/>
            </a:pPr>
            <a:r>
              <a:rPr lang="en-US" altLang="x-none" sz="1400" noProof="1">
                <a:latin typeface="Consolas" panose="020B0609020204030204" charset="0"/>
              </a:rPr>
              <a:t>telNumber = '''Suppose my Phone No. is 0551-1234567, yours is 010-12345678, his is 025-87654321.'''</a:t>
            </a:r>
          </a:p>
          <a:p>
            <a:pPr>
              <a:spcBef>
                <a:spcPct val="0"/>
              </a:spcBef>
              <a:buSzPct val="70000"/>
              <a:buNone/>
            </a:pPr>
            <a:r>
              <a:rPr lang="en-US" altLang="x-none" sz="1400" noProof="1">
                <a:latin typeface="Consolas" panose="020B0609020204030204" charset="0"/>
              </a:rPr>
              <a:t>pattern = re.compile(r'(\d{3,4})-(\d{7,8})')</a:t>
            </a:r>
          </a:p>
          <a:p>
            <a:pPr>
              <a:spcBef>
                <a:spcPct val="0"/>
              </a:spcBef>
              <a:buSzPct val="70000"/>
              <a:buNone/>
            </a:pPr>
            <a:r>
              <a:rPr lang="en-US" altLang="x-none" sz="1400" noProof="1">
                <a:latin typeface="Consolas" panose="020B0609020204030204" charset="0"/>
              </a:rPr>
              <a:t>index = 0</a:t>
            </a:r>
          </a:p>
          <a:p>
            <a:pPr>
              <a:spcBef>
                <a:spcPct val="0"/>
              </a:spcBef>
              <a:buSzPct val="70000"/>
              <a:buNone/>
            </a:pPr>
            <a:r>
              <a:rPr lang="en-US" altLang="x-none" sz="1400" noProof="1">
                <a:latin typeface="Consolas" panose="020B0609020204030204" charset="0"/>
              </a:rPr>
              <a:t>while True:</a:t>
            </a:r>
          </a:p>
          <a:p>
            <a:pPr>
              <a:spcBef>
                <a:spcPct val="0"/>
              </a:spcBef>
              <a:buSzPct val="70000"/>
              <a:buNone/>
            </a:pPr>
            <a:r>
              <a:rPr lang="en-US" altLang="x-none" sz="1400" noProof="1">
                <a:latin typeface="Consolas" panose="020B0609020204030204" charset="0"/>
              </a:rPr>
              <a:t>    matchResult = pattern.search(telNumber, index)  #从指定位置开始匹配</a:t>
            </a:r>
          </a:p>
          <a:p>
            <a:pPr>
              <a:spcBef>
                <a:spcPct val="0"/>
              </a:spcBef>
              <a:buSzPct val="70000"/>
              <a:buNone/>
            </a:pPr>
            <a:r>
              <a:rPr lang="en-US" altLang="x-none" sz="1400" noProof="1">
                <a:latin typeface="Consolas" panose="020B0609020204030204" charset="0"/>
              </a:rPr>
              <a:t>    if not matchResult:</a:t>
            </a:r>
          </a:p>
          <a:p>
            <a:pPr>
              <a:spcBef>
                <a:spcPct val="0"/>
              </a:spcBef>
              <a:buSzPct val="70000"/>
              <a:buNone/>
            </a:pPr>
            <a:r>
              <a:rPr lang="en-US" altLang="x-none" sz="1400" noProof="1">
                <a:latin typeface="Consolas" panose="020B0609020204030204" charset="0"/>
              </a:rPr>
              <a:t>        break</a:t>
            </a:r>
          </a:p>
          <a:p>
            <a:pPr>
              <a:spcBef>
                <a:spcPct val="0"/>
              </a:spcBef>
              <a:buSzPct val="70000"/>
              <a:buNone/>
            </a:pPr>
            <a:r>
              <a:rPr lang="en-US" altLang="x-none" sz="1400" noProof="1">
                <a:latin typeface="Consolas" panose="020B0609020204030204" charset="0"/>
              </a:rPr>
              <a:t>    print('-'*30)</a:t>
            </a:r>
          </a:p>
          <a:p>
            <a:pPr>
              <a:spcBef>
                <a:spcPct val="0"/>
              </a:spcBef>
              <a:buSzPct val="70000"/>
              <a:buNone/>
            </a:pPr>
            <a:r>
              <a:rPr lang="en-US" altLang="x-none" sz="1400" noProof="1">
                <a:latin typeface="Consolas" panose="020B0609020204030204" charset="0"/>
              </a:rPr>
              <a:t>    print('Success:')</a:t>
            </a:r>
          </a:p>
          <a:p>
            <a:pPr>
              <a:spcBef>
                <a:spcPct val="0"/>
              </a:spcBef>
              <a:buSzPct val="70000"/>
              <a:buNone/>
            </a:pPr>
            <a:r>
              <a:rPr lang="en-US" altLang="x-none" sz="1400" noProof="1">
                <a:latin typeface="Consolas" panose="020B0609020204030204" charset="0"/>
              </a:rPr>
              <a:t>    for i in range(3):</a:t>
            </a:r>
          </a:p>
          <a:p>
            <a:pPr>
              <a:spcBef>
                <a:spcPct val="0"/>
              </a:spcBef>
              <a:buSzPct val="70000"/>
              <a:buNone/>
            </a:pPr>
            <a:r>
              <a:rPr lang="en-US" altLang="x-none" sz="1400" noProof="1">
                <a:latin typeface="Consolas" panose="020B0609020204030204" charset="0"/>
              </a:rPr>
              <a:t>        print('Searched content:', matchResult.group(i), ' Start from:',</a:t>
            </a:r>
          </a:p>
          <a:p>
            <a:pPr>
              <a:spcBef>
                <a:spcPct val="0"/>
              </a:spcBef>
              <a:buSzPct val="70000"/>
              <a:buNone/>
            </a:pPr>
            <a:r>
              <a:rPr lang="en-US" altLang="x-none" sz="1400" noProof="1">
                <a:latin typeface="Consolas" panose="020B0609020204030204" charset="0"/>
              </a:rPr>
              <a:t>               matchResult.start(i), 'End at:', matchResult.end(i),</a:t>
            </a:r>
          </a:p>
          <a:p>
            <a:pPr>
              <a:spcBef>
                <a:spcPct val="0"/>
              </a:spcBef>
              <a:buSzPct val="70000"/>
              <a:buNone/>
            </a:pPr>
            <a:r>
              <a:rPr lang="en-US" altLang="x-none" sz="1400" noProof="1">
                <a:latin typeface="Consolas" panose="020B0609020204030204" charset="0"/>
              </a:rPr>
              <a:t>               ' Its span is:', matchResult.span(i))</a:t>
            </a:r>
          </a:p>
          <a:p>
            <a:pPr>
              <a:spcBef>
                <a:spcPct val="0"/>
              </a:spcBef>
              <a:buSzPct val="70000"/>
              <a:buNone/>
            </a:pPr>
            <a:r>
              <a:rPr lang="en-US" altLang="x-none" sz="1400" noProof="1">
                <a:latin typeface="Consolas" panose="020B0609020204030204" charset="0"/>
              </a:rPr>
              <a:t>    index = matchResult.end(2)               #指定下次匹配的开始位置</a:t>
            </a:r>
          </a:p>
        </p:txBody>
      </p:sp>
      <p:sp>
        <p:nvSpPr>
          <p:cNvPr id="141315"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93</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smtClean="0">
                <a:latin typeface="Times New Roman" panose="02020603050405020304" pitchFamily="18" charset="0"/>
                <a:ea typeface="仿宋" panose="02010609060101010101" pitchFamily="49" charset="-122"/>
              </a:rPr>
              <a:t>4.3.3 </a:t>
            </a:r>
            <a:r>
              <a:rPr lang="zh-CN" altLang="en-US" sz="2800" b="1" dirty="0" smtClean="0">
                <a:latin typeface="Times New Roman" panose="02020603050405020304" pitchFamily="18" charset="0"/>
                <a:ea typeface="仿宋" panose="02010609060101010101" pitchFamily="49" charset="-122"/>
              </a:rPr>
              <a:t> </a:t>
            </a:r>
            <a:r>
              <a:rPr lang="zh-CN" altLang="en-US" sz="2800" b="1" dirty="0">
                <a:latin typeface="Times New Roman" panose="02020603050405020304" pitchFamily="18" charset="0"/>
                <a:ea typeface="仿宋" panose="02010609060101010101" pitchFamily="49" charset="-122"/>
              </a:rPr>
              <a:t>子模式与</a:t>
            </a:r>
            <a:r>
              <a:rPr lang="en-US" altLang="zh-CN" sz="2800" b="1" dirty="0">
                <a:latin typeface="Times New Roman" panose="02020603050405020304" pitchFamily="18" charset="0"/>
                <a:ea typeface="仿宋" panose="02010609060101010101" pitchFamily="49" charset="-122"/>
              </a:rPr>
              <a:t>match</a:t>
            </a:r>
            <a:r>
              <a:rPr lang="zh-CN" altLang="en-US" sz="2800" b="1" dirty="0">
                <a:latin typeface="Times New Roman" panose="02020603050405020304" pitchFamily="18" charset="0"/>
                <a:ea typeface="仿宋" panose="02010609060101010101" pitchFamily="49" charset="-122"/>
              </a:rPr>
              <a:t>对象</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4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4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2642">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2642">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2642">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2642">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2642">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2642">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2642">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2642">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2642">
                                            <p:txEl>
                                              <p:pRg st="12" end="1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2642">
                                            <p:txEl>
                                              <p:pRg st="13" end="13"/>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2642">
                                            <p:txEl>
                                              <p:pRg st="14" end="14"/>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2642">
                                            <p:txEl>
                                              <p:pRg st="15" end="15"/>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2642">
                                            <p:txEl>
                                              <p:pRg st="16" end="16"/>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2642">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build="p"/>
      <p:bldP spid="6"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8087" y="1483896"/>
            <a:ext cx="8229600" cy="4678451"/>
          </a:xfrm>
        </p:spPr>
        <p:txBody>
          <a:bodyPr/>
          <a:lstStyle/>
          <a:p>
            <a:pPr fontAlgn="base">
              <a:buClr>
                <a:srgbClr val="FF0000"/>
              </a:buClr>
              <a:buFont typeface="Wingdings" panose="05000000000000000000" pitchFamily="2" charset="2"/>
              <a:buChar char="ü"/>
            </a:pPr>
            <a:r>
              <a:rPr lang="zh-CN" altLang="en-US" sz="2000" b="1" noProof="1">
                <a:latin typeface="宋体" panose="02010600030101010101" pitchFamily="2" charset="-122"/>
                <a:sym typeface="+mn-ea"/>
              </a:rPr>
              <a:t>应用：</a:t>
            </a:r>
            <a:r>
              <a:rPr lang="zh-CN" altLang="en-US" sz="2000" noProof="1">
                <a:latin typeface="宋体" panose="02010600030101010101" pitchFamily="2" charset="-122"/>
                <a:sym typeface="+mn-ea"/>
              </a:rPr>
              <a:t>使用正则表达式提取字符串中的电话号码（方法二）</a:t>
            </a:r>
          </a:p>
        </p:txBody>
      </p:sp>
      <p:sp>
        <p:nvSpPr>
          <p:cNvPr id="142339" name="Slide Number Placeholder 3"/>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94</a:t>
            </a:fld>
            <a:endParaRPr lang="zh-CN" altLang="en-US" sz="1050" dirty="0"/>
          </a:p>
        </p:txBody>
      </p:sp>
      <p:sp>
        <p:nvSpPr>
          <p:cNvPr id="6" name="文本框 5"/>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smtClean="0">
                <a:latin typeface="Times New Roman" panose="02020603050405020304" pitchFamily="18" charset="0"/>
                <a:ea typeface="仿宋" panose="02010609060101010101" pitchFamily="49" charset="-122"/>
              </a:rPr>
              <a:t>4.3.3 </a:t>
            </a:r>
            <a:r>
              <a:rPr lang="zh-CN" altLang="en-US" sz="2800" b="1" dirty="0" smtClean="0">
                <a:latin typeface="Times New Roman" panose="02020603050405020304" pitchFamily="18" charset="0"/>
                <a:ea typeface="仿宋" panose="02010609060101010101" pitchFamily="49" charset="-122"/>
              </a:rPr>
              <a:t> </a:t>
            </a:r>
            <a:r>
              <a:rPr lang="zh-CN" altLang="en-US" sz="2800" b="1" dirty="0">
                <a:latin typeface="Times New Roman" panose="02020603050405020304" pitchFamily="18" charset="0"/>
                <a:ea typeface="仿宋" panose="02010609060101010101" pitchFamily="49" charset="-122"/>
              </a:rPr>
              <a:t>子模式与</a:t>
            </a:r>
            <a:r>
              <a:rPr lang="en-US" altLang="zh-CN" sz="2800" b="1" dirty="0">
                <a:latin typeface="Times New Roman" panose="02020603050405020304" pitchFamily="18" charset="0"/>
                <a:ea typeface="仿宋" panose="02010609060101010101" pitchFamily="49" charset="-122"/>
              </a:rPr>
              <a:t>match</a:t>
            </a:r>
            <a:r>
              <a:rPr lang="zh-CN" altLang="en-US" sz="2800" b="1" dirty="0">
                <a:latin typeface="Times New Roman" panose="02020603050405020304" pitchFamily="18" charset="0"/>
                <a:ea typeface="仿宋" panose="02010609060101010101" pitchFamily="49" charset="-122"/>
              </a:rPr>
              <a:t>对象</a:t>
            </a:r>
            <a:endParaRPr lang="en-US" altLang="zh-CN" sz="2800" b="1" dirty="0">
              <a:ea typeface="仿宋" panose="02010609060101010101" pitchFamily="49" charset="-122"/>
            </a:endParaRPr>
          </a:p>
        </p:txBody>
      </p:sp>
      <p:grpSp>
        <p:nvGrpSpPr>
          <p:cNvPr id="7" name="组合 109"/>
          <p:cNvGrpSpPr/>
          <p:nvPr/>
        </p:nvGrpSpPr>
        <p:grpSpPr>
          <a:xfrm>
            <a:off x="489223" y="78400"/>
            <a:ext cx="4514825" cy="686304"/>
            <a:chOff x="956926" y="4600871"/>
            <a:chExt cx="4514825" cy="68630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4" name="矩形 3"/>
          <p:cNvSpPr/>
          <p:nvPr/>
        </p:nvSpPr>
        <p:spPr>
          <a:xfrm>
            <a:off x="1052028" y="1830433"/>
            <a:ext cx="7183960" cy="1600438"/>
          </a:xfrm>
          <a:prstGeom prst="rect">
            <a:avLst/>
          </a:prstGeom>
        </p:spPr>
        <p:txBody>
          <a:bodyPr wrap="square">
            <a:spAutoFit/>
          </a:bodyPr>
          <a:lstStyle/>
          <a:p>
            <a:pPr marL="0" indent="0">
              <a:buNone/>
            </a:pPr>
            <a:r>
              <a:rPr lang="en-US" altLang="zh-CN" sz="1400" noProof="1">
                <a:latin typeface="Consolas" panose="020B0609020204030204" charset="0"/>
              </a:rPr>
              <a:t>import re</a:t>
            </a:r>
          </a:p>
          <a:p>
            <a:pPr marL="0" indent="0">
              <a:buNone/>
            </a:pPr>
            <a:r>
              <a:rPr lang="en-US" altLang="zh-CN" sz="1400" noProof="1">
                <a:latin typeface="Consolas" panose="020B0609020204030204" charset="0"/>
              </a:rPr>
              <a:t>text = '''</a:t>
            </a:r>
            <a:r>
              <a:rPr lang="en-US" altLang="zh-CN" sz="1400" noProof="1">
                <a:solidFill>
                  <a:srgbClr val="00B050"/>
                </a:solidFill>
                <a:latin typeface="Consolas" panose="020B0609020204030204" charset="0"/>
              </a:rPr>
              <a:t>Suppose my Phone No. is 0551-1234567,</a:t>
            </a:r>
          </a:p>
          <a:p>
            <a:pPr marL="0" indent="0">
              <a:buNone/>
            </a:pPr>
            <a:r>
              <a:rPr lang="en-US" altLang="zh-CN" sz="1400" noProof="1">
                <a:solidFill>
                  <a:srgbClr val="00B050"/>
                </a:solidFill>
                <a:latin typeface="Consolas" panose="020B0609020204030204" charset="0"/>
              </a:rPr>
              <a:t>yours is 010-12345678,</a:t>
            </a:r>
          </a:p>
          <a:p>
            <a:pPr marL="0" indent="0">
              <a:buNone/>
            </a:pPr>
            <a:r>
              <a:rPr lang="en-US" altLang="zh-CN" sz="1400" noProof="1">
                <a:solidFill>
                  <a:srgbClr val="00B050"/>
                </a:solidFill>
                <a:latin typeface="Consolas" panose="020B0609020204030204" charset="0"/>
              </a:rPr>
              <a:t>his is 025-87654321.</a:t>
            </a:r>
            <a:r>
              <a:rPr lang="en-US" altLang="zh-CN" sz="1400" noProof="1">
                <a:latin typeface="Consolas" panose="020B0609020204030204" charset="0"/>
              </a:rPr>
              <a:t>'''</a:t>
            </a:r>
          </a:p>
          <a:p>
            <a:pPr marL="0" indent="0">
              <a:buNone/>
            </a:pPr>
            <a:r>
              <a:rPr lang="en-US" altLang="zh-CN" sz="1400" noProof="1">
                <a:latin typeface="Consolas" panose="020B0609020204030204" charset="0"/>
              </a:rPr>
              <a:t>matchResult = re.findall(r'(\d{3,4})-(\d{7,8})', text)</a:t>
            </a:r>
          </a:p>
          <a:p>
            <a:pPr marL="0" indent="0">
              <a:buNone/>
            </a:pPr>
            <a:r>
              <a:rPr lang="en-US" altLang="zh-CN" sz="1400" noProof="1">
                <a:latin typeface="Consolas" panose="020B0609020204030204" charset="0"/>
              </a:rPr>
              <a:t>for item in matchResult:</a:t>
            </a:r>
          </a:p>
          <a:p>
            <a:pPr marL="0" indent="0">
              <a:buNone/>
            </a:pPr>
            <a:r>
              <a:rPr lang="en-US" altLang="zh-CN" sz="1400" noProof="1">
                <a:latin typeface="Consolas" panose="020B0609020204030204" charset="0"/>
              </a:rPr>
              <a:t>    print(item[0], item[1], sep='-')</a:t>
            </a:r>
          </a:p>
        </p:txBody>
      </p:sp>
      <p:sp>
        <p:nvSpPr>
          <p:cNvPr id="5" name="矩形 4"/>
          <p:cNvSpPr/>
          <p:nvPr/>
        </p:nvSpPr>
        <p:spPr>
          <a:xfrm>
            <a:off x="1052028" y="3372747"/>
            <a:ext cx="4572000" cy="738664"/>
          </a:xfrm>
          <a:prstGeom prst="rect">
            <a:avLst/>
          </a:prstGeom>
        </p:spPr>
        <p:txBody>
          <a:bodyPr>
            <a:spAutoFit/>
          </a:bodyPr>
          <a:lstStyle/>
          <a:p>
            <a:r>
              <a:rPr lang="zh-CN" altLang="en-US" sz="1400" dirty="0">
                <a:solidFill>
                  <a:srgbClr val="0000FF"/>
                </a:solidFill>
              </a:rPr>
              <a:t>0551-1234567</a:t>
            </a:r>
          </a:p>
          <a:p>
            <a:r>
              <a:rPr lang="zh-CN" altLang="en-US" sz="1400" dirty="0">
                <a:solidFill>
                  <a:srgbClr val="0000FF"/>
                </a:solidFill>
              </a:rPr>
              <a:t>010-12345678</a:t>
            </a:r>
          </a:p>
          <a:p>
            <a:r>
              <a:rPr lang="zh-CN" altLang="en-US" sz="1400" dirty="0">
                <a:solidFill>
                  <a:srgbClr val="0000FF"/>
                </a:solidFill>
              </a:rPr>
              <a:t>025-87654321</a:t>
            </a:r>
          </a:p>
        </p:txBody>
      </p:sp>
      <p:pic>
        <p:nvPicPr>
          <p:cNvPr id="11" name="图片 10"/>
          <p:cNvPicPr>
            <a:picLocks noChangeAspect="1"/>
          </p:cNvPicPr>
          <p:nvPr/>
        </p:nvPicPr>
        <p:blipFill>
          <a:blip r:embed="rId3"/>
          <a:stretch>
            <a:fillRect/>
          </a:stretch>
        </p:blipFill>
        <p:spPr>
          <a:xfrm>
            <a:off x="1011996" y="1830433"/>
            <a:ext cx="6949972" cy="2983802"/>
          </a:xfrm>
          <a:prstGeom prst="rect">
            <a:avLst/>
          </a:prstGeom>
        </p:spPr>
      </p:pic>
      <p:pic>
        <p:nvPicPr>
          <p:cNvPr id="12" name="图片 11">
            <a:extLst>
              <a:ext uri="{FF2B5EF4-FFF2-40B4-BE49-F238E27FC236}">
                <a16:creationId xmlns:a16="http://schemas.microsoft.com/office/drawing/2014/main" id="{881D967F-6D07-4BF3-028A-425650C44B4D}"/>
              </a:ext>
            </a:extLst>
          </p:cNvPr>
          <p:cNvPicPr>
            <a:picLocks noChangeAspect="1"/>
          </p:cNvPicPr>
          <p:nvPr/>
        </p:nvPicPr>
        <p:blipFill>
          <a:blip r:embed="rId4"/>
          <a:stretch>
            <a:fillRect/>
          </a:stretch>
        </p:blipFill>
        <p:spPr>
          <a:xfrm>
            <a:off x="908091" y="5246437"/>
            <a:ext cx="5966075" cy="1275763"/>
          </a:xfrm>
          <a:prstGeom prst="rect">
            <a:avLst/>
          </a:prstGeom>
        </p:spPr>
      </p:pic>
      <p:sp>
        <p:nvSpPr>
          <p:cNvPr id="13" name="文本框 12">
            <a:extLst>
              <a:ext uri="{FF2B5EF4-FFF2-40B4-BE49-F238E27FC236}">
                <a16:creationId xmlns:a16="http://schemas.microsoft.com/office/drawing/2014/main" id="{64B7CECE-D865-0900-5779-D16CDBF9F659}"/>
              </a:ext>
            </a:extLst>
          </p:cNvPr>
          <p:cNvSpPr txBox="1"/>
          <p:nvPr/>
        </p:nvSpPr>
        <p:spPr>
          <a:xfrm>
            <a:off x="821524" y="4825149"/>
            <a:ext cx="5737468" cy="338554"/>
          </a:xfrm>
          <a:prstGeom prst="rect">
            <a:avLst/>
          </a:prstGeom>
          <a:noFill/>
        </p:spPr>
        <p:txBody>
          <a:bodyPr wrap="none" rtlCol="0">
            <a:spAutoFit/>
          </a:bodyPr>
          <a:lstStyle/>
          <a:p>
            <a:r>
              <a:rPr lang="zh-CN" altLang="en-US" sz="1600" dirty="0">
                <a:solidFill>
                  <a:srgbClr val="FF0000"/>
                </a:solidFill>
              </a:rPr>
              <a:t>命名子模式的</a:t>
            </a:r>
            <a:r>
              <a:rPr lang="en-US" altLang="zh-CN" sz="1600" dirty="0" err="1">
                <a:solidFill>
                  <a:srgbClr val="FF0000"/>
                </a:solidFill>
              </a:rPr>
              <a:t>groupdict</a:t>
            </a:r>
            <a:r>
              <a:rPr lang="en-US" altLang="zh-CN" sz="1600" dirty="0">
                <a:solidFill>
                  <a:srgbClr val="FF0000"/>
                </a:solidFill>
              </a:rPr>
              <a:t>().</a:t>
            </a:r>
            <a:r>
              <a:rPr lang="zh-CN" altLang="en-US" sz="1600" dirty="0">
                <a:solidFill>
                  <a:srgbClr val="FF0000"/>
                </a:solidFill>
              </a:rPr>
              <a:t>注意：之前的非命名分组输出不影响</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内容占位符 2"/>
          <p:cNvSpPr>
            <a:spLocks noGrp="1"/>
          </p:cNvSpPr>
          <p:nvPr>
            <p:ph idx="1"/>
          </p:nvPr>
        </p:nvSpPr>
        <p:spPr>
          <a:xfrm>
            <a:off x="689978" y="1431940"/>
            <a:ext cx="8229600" cy="4678451"/>
          </a:xfrm>
        </p:spPr>
        <p:txBody>
          <a:bodyPr anchor="t"/>
          <a:lstStyle/>
          <a:p>
            <a:pPr marL="0" indent="0">
              <a:buSzPct val="70000"/>
              <a:buNone/>
            </a:pPr>
            <a:r>
              <a:rPr lang="zh-CN" altLang="en-US" sz="1300" dirty="0">
                <a:latin typeface="Consolas" panose="020B0609020204030204" charset="0"/>
              </a:rPr>
              <a:t>&gt;&gt;&gt; m = re.match(r"(?P&lt;first_name&gt;\w+) (?P&lt;last_name&gt;\w+)", "Malcolm Reynolds")</a:t>
            </a:r>
          </a:p>
          <a:p>
            <a:pPr marL="0" indent="0">
              <a:buSzPct val="70000"/>
              <a:buNone/>
            </a:pPr>
            <a:r>
              <a:rPr lang="zh-CN" altLang="en-US" sz="1300" dirty="0">
                <a:latin typeface="Consolas" panose="020B0609020204030204" charset="0"/>
              </a:rPr>
              <a:t>&gt;&gt;&gt; m.group('first_name')      </a:t>
            </a:r>
            <a:r>
              <a:rPr lang="zh-CN" altLang="en-US" sz="1300" dirty="0">
                <a:solidFill>
                  <a:srgbClr val="0000FF"/>
                </a:solidFill>
                <a:latin typeface="Consolas" panose="020B0609020204030204" charset="0"/>
              </a:rPr>
              <a:t>#使用命名的子模式</a:t>
            </a:r>
          </a:p>
          <a:p>
            <a:pPr marL="0" indent="0">
              <a:buSzPct val="70000"/>
              <a:buNone/>
            </a:pPr>
            <a:r>
              <a:rPr lang="zh-CN" altLang="en-US" sz="1300" dirty="0">
                <a:solidFill>
                  <a:srgbClr val="0000FF"/>
                </a:solidFill>
                <a:latin typeface="Consolas" panose="020B0609020204030204" charset="0"/>
              </a:rPr>
              <a:t>'Malcolm'</a:t>
            </a:r>
          </a:p>
          <a:p>
            <a:pPr marL="0" indent="0">
              <a:buSzPct val="70000"/>
              <a:buNone/>
            </a:pPr>
            <a:r>
              <a:rPr lang="zh-CN" altLang="en-US" sz="1300" dirty="0">
                <a:latin typeface="Consolas" panose="020B0609020204030204" charset="0"/>
              </a:rPr>
              <a:t>&gt;&gt;&gt; m.group('last_name')</a:t>
            </a:r>
          </a:p>
          <a:p>
            <a:pPr marL="0" indent="0">
              <a:buSzPct val="70000"/>
              <a:buNone/>
            </a:pPr>
            <a:r>
              <a:rPr lang="zh-CN" altLang="en-US" sz="1300" dirty="0">
                <a:solidFill>
                  <a:srgbClr val="0000FF"/>
                </a:solidFill>
                <a:latin typeface="Consolas" panose="020B0609020204030204" charset="0"/>
              </a:rPr>
              <a:t>'Reynolds'</a:t>
            </a:r>
          </a:p>
          <a:p>
            <a:pPr marL="0" indent="0">
              <a:buSzPct val="70000"/>
              <a:buNone/>
            </a:pPr>
            <a:r>
              <a:rPr lang="zh-CN" altLang="en-US" sz="1300" dirty="0">
                <a:latin typeface="Consolas" panose="020B0609020204030204" charset="0"/>
              </a:rPr>
              <a:t>&gt;&gt;&gt; m = re.match(r"(\d+)\.(\d+)", "24.1632")</a:t>
            </a:r>
          </a:p>
          <a:p>
            <a:pPr marL="0" indent="0">
              <a:buSzPct val="70000"/>
              <a:buNone/>
            </a:pPr>
            <a:r>
              <a:rPr lang="zh-CN" altLang="en-US" sz="1300" dirty="0">
                <a:latin typeface="Consolas" panose="020B0609020204030204" charset="0"/>
              </a:rPr>
              <a:t>&gt;&gt;&gt; m.groups()                #</a:t>
            </a:r>
            <a:r>
              <a:rPr lang="zh-CN" altLang="en-US" sz="1300" dirty="0">
                <a:solidFill>
                  <a:srgbClr val="FF0000"/>
                </a:solidFill>
                <a:latin typeface="Consolas" panose="020B0609020204030204" charset="0"/>
              </a:rPr>
              <a:t>返回所有匹配的子模式</a:t>
            </a:r>
            <a:r>
              <a:rPr lang="en-US" altLang="zh-CN" sz="1300" dirty="0">
                <a:solidFill>
                  <a:srgbClr val="FF0000"/>
                </a:solidFill>
                <a:latin typeface="Consolas" panose="020B0609020204030204" charset="0"/>
              </a:rPr>
              <a:t>.</a:t>
            </a:r>
            <a:r>
              <a:rPr lang="zh-CN" altLang="en-US" sz="1300" dirty="0">
                <a:solidFill>
                  <a:srgbClr val="FF0000"/>
                </a:solidFill>
                <a:latin typeface="Consolas" panose="020B0609020204030204" charset="0"/>
              </a:rPr>
              <a:t>即，以</a:t>
            </a:r>
            <a:r>
              <a:rPr lang="en-US" altLang="zh-CN" sz="1300" dirty="0">
                <a:solidFill>
                  <a:srgbClr val="FF0000"/>
                </a:solidFill>
                <a:latin typeface="Consolas" panose="020B0609020204030204" charset="0"/>
              </a:rPr>
              <a:t>tuple</a:t>
            </a:r>
            <a:r>
              <a:rPr lang="zh-CN" altLang="en-US" sz="1300" dirty="0">
                <a:solidFill>
                  <a:srgbClr val="FF0000"/>
                </a:solidFill>
                <a:latin typeface="Consolas" panose="020B0609020204030204" charset="0"/>
              </a:rPr>
              <a:t>形式返回分组</a:t>
            </a:r>
            <a:r>
              <a:rPr lang="en-US" altLang="zh-CN" sz="1300" dirty="0">
                <a:solidFill>
                  <a:srgbClr val="FF0000"/>
                </a:solidFill>
                <a:latin typeface="Consolas" panose="020B0609020204030204" charset="0"/>
              </a:rPr>
              <a:t>1</a:t>
            </a:r>
            <a:r>
              <a:rPr lang="zh-CN" altLang="en-US" sz="1300" dirty="0">
                <a:solidFill>
                  <a:srgbClr val="FF0000"/>
                </a:solidFill>
                <a:latin typeface="Consolas" panose="020B0609020204030204" charset="0"/>
              </a:rPr>
              <a:t>、分组</a:t>
            </a:r>
            <a:r>
              <a:rPr lang="en-US" altLang="zh-CN" sz="1300" dirty="0">
                <a:solidFill>
                  <a:srgbClr val="FF0000"/>
                </a:solidFill>
                <a:latin typeface="Consolas" panose="020B0609020204030204" charset="0"/>
              </a:rPr>
              <a:t>2</a:t>
            </a:r>
            <a:r>
              <a:rPr lang="zh-CN" altLang="en-US" sz="1300" dirty="0">
                <a:solidFill>
                  <a:srgbClr val="FF0000"/>
                </a:solidFill>
                <a:latin typeface="Consolas" panose="020B0609020204030204" charset="0"/>
              </a:rPr>
              <a:t>，如</a:t>
            </a:r>
            <a:r>
              <a:rPr lang="en-US" altLang="zh-CN" sz="1300" dirty="0">
                <a:solidFill>
                  <a:srgbClr val="FF0000"/>
                </a:solidFill>
                <a:latin typeface="Consolas" panose="020B0609020204030204" charset="0"/>
              </a:rPr>
              <a:t>(</a:t>
            </a:r>
            <a:r>
              <a:rPr lang="en-US" altLang="zh-CN" sz="1300" dirty="0" err="1">
                <a:solidFill>
                  <a:srgbClr val="FF0000"/>
                </a:solidFill>
                <a:latin typeface="Consolas" panose="020B0609020204030204" charset="0"/>
              </a:rPr>
              <a:t>m.group</a:t>
            </a:r>
            <a:r>
              <a:rPr lang="en-US" altLang="zh-CN" sz="1300" dirty="0">
                <a:solidFill>
                  <a:srgbClr val="FF0000"/>
                </a:solidFill>
                <a:latin typeface="Consolas" panose="020B0609020204030204" charset="0"/>
              </a:rPr>
              <a:t>(1),</a:t>
            </a:r>
            <a:r>
              <a:rPr lang="en-US" altLang="zh-CN" sz="1300" dirty="0" err="1">
                <a:solidFill>
                  <a:srgbClr val="FF0000"/>
                </a:solidFill>
                <a:latin typeface="Consolas" panose="020B0609020204030204" charset="0"/>
              </a:rPr>
              <a:t>m.group</a:t>
            </a:r>
            <a:r>
              <a:rPr lang="en-US" altLang="zh-CN" sz="1300" dirty="0">
                <a:solidFill>
                  <a:srgbClr val="FF0000"/>
                </a:solidFill>
                <a:latin typeface="Consolas" panose="020B0609020204030204" charset="0"/>
              </a:rPr>
              <a:t>(2),……)</a:t>
            </a:r>
            <a:r>
              <a:rPr lang="zh-CN" altLang="en-US" sz="1300" dirty="0">
                <a:solidFill>
                  <a:srgbClr val="FF0000"/>
                </a:solidFill>
                <a:latin typeface="Consolas" panose="020B0609020204030204" charset="0"/>
              </a:rPr>
              <a:t> </a:t>
            </a:r>
            <a:r>
              <a:rPr lang="en-US" altLang="zh-CN" sz="1300" dirty="0" err="1">
                <a:solidFill>
                  <a:srgbClr val="FF0000"/>
                </a:solidFill>
                <a:latin typeface="Consolas" panose="020B0609020204030204" charset="0"/>
              </a:rPr>
              <a:t>m.group</a:t>
            </a:r>
            <a:r>
              <a:rPr lang="en-US" altLang="zh-CN" sz="1300" dirty="0">
                <a:solidFill>
                  <a:srgbClr val="FF0000"/>
                </a:solidFill>
                <a:latin typeface="Consolas" panose="020B0609020204030204" charset="0"/>
              </a:rPr>
              <a:t> (0) </a:t>
            </a:r>
            <a:r>
              <a:rPr lang="zh-CN" altLang="en-US" sz="1300" dirty="0">
                <a:solidFill>
                  <a:srgbClr val="FF0000"/>
                </a:solidFill>
                <a:latin typeface="Consolas" panose="020B0609020204030204" charset="0"/>
              </a:rPr>
              <a:t>为 </a:t>
            </a:r>
            <a:r>
              <a:rPr lang="en-US" altLang="zh-CN" sz="1300" dirty="0">
                <a:solidFill>
                  <a:srgbClr val="FF0000"/>
                </a:solidFill>
                <a:latin typeface="Consolas" panose="020B0609020204030204" charset="0"/>
              </a:rPr>
              <a:t>“24.1632”.  group</a:t>
            </a:r>
            <a:r>
              <a:rPr lang="zh-CN" altLang="en-US" sz="1300" dirty="0">
                <a:solidFill>
                  <a:srgbClr val="FF0000"/>
                </a:solidFill>
                <a:latin typeface="Consolas" panose="020B0609020204030204" charset="0"/>
              </a:rPr>
              <a:t>（</a:t>
            </a:r>
            <a:r>
              <a:rPr lang="en-US" altLang="zh-CN" sz="1300" dirty="0">
                <a:solidFill>
                  <a:srgbClr val="FF0000"/>
                </a:solidFill>
                <a:latin typeface="Consolas" panose="020B0609020204030204" charset="0"/>
              </a:rPr>
              <a:t>0</a:t>
            </a:r>
            <a:r>
              <a:rPr lang="zh-CN" altLang="en-US" sz="1300" dirty="0">
                <a:solidFill>
                  <a:srgbClr val="FF0000"/>
                </a:solidFill>
                <a:latin typeface="Consolas" panose="020B0609020204030204" charset="0"/>
              </a:rPr>
              <a:t>）为返回匹配整个</a:t>
            </a:r>
            <a:r>
              <a:rPr lang="en-US" altLang="zh-CN" sz="1300" dirty="0">
                <a:solidFill>
                  <a:srgbClr val="FF0000"/>
                </a:solidFill>
                <a:latin typeface="Consolas" panose="020B0609020204030204" charset="0"/>
              </a:rPr>
              <a:t>pattern</a:t>
            </a:r>
            <a:r>
              <a:rPr lang="zh-CN" altLang="en-US" sz="1300" dirty="0">
                <a:solidFill>
                  <a:srgbClr val="FF0000"/>
                </a:solidFill>
                <a:latin typeface="Consolas" panose="020B0609020204030204" charset="0"/>
              </a:rPr>
              <a:t>的结果</a:t>
            </a:r>
          </a:p>
          <a:p>
            <a:pPr marL="0" indent="0">
              <a:buSzPct val="70000"/>
              <a:buNone/>
            </a:pPr>
            <a:r>
              <a:rPr lang="zh-CN" altLang="en-US" sz="1300" dirty="0">
                <a:solidFill>
                  <a:srgbClr val="0000FF"/>
                </a:solidFill>
                <a:latin typeface="Consolas" panose="020B0609020204030204" charset="0"/>
              </a:rPr>
              <a:t>('24', '1632')</a:t>
            </a:r>
          </a:p>
        </p:txBody>
      </p:sp>
      <p:sp>
        <p:nvSpPr>
          <p:cNvPr id="143363"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95</a:t>
            </a:fld>
            <a:endParaRPr lang="zh-CN" altLang="en-US" sz="1050" dirty="0"/>
          </a:p>
        </p:txBody>
      </p:sp>
      <p:grpSp>
        <p:nvGrpSpPr>
          <p:cNvPr id="6" name="组合 109"/>
          <p:cNvGrpSpPr/>
          <p:nvPr/>
        </p:nvGrpSpPr>
        <p:grpSpPr>
          <a:xfrm>
            <a:off x="489223" y="78400"/>
            <a:ext cx="4514825" cy="686304"/>
            <a:chOff x="956926" y="4600871"/>
            <a:chExt cx="4514825" cy="686304"/>
          </a:xfrm>
        </p:grpSpPr>
        <p:sp>
          <p:nvSpPr>
            <p:cNvPr id="7"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10" name="文本框 9"/>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smtClean="0">
                <a:latin typeface="Times New Roman" panose="02020603050405020304" pitchFamily="18" charset="0"/>
                <a:ea typeface="仿宋" panose="02010609060101010101" pitchFamily="49" charset="-122"/>
              </a:rPr>
              <a:t>4.3.3 </a:t>
            </a:r>
            <a:r>
              <a:rPr lang="zh-CN" altLang="en-US" sz="2800" b="1" dirty="0" smtClean="0">
                <a:latin typeface="Times New Roman" panose="02020603050405020304" pitchFamily="18" charset="0"/>
                <a:ea typeface="仿宋" panose="02010609060101010101" pitchFamily="49" charset="-122"/>
              </a:rPr>
              <a:t> </a:t>
            </a:r>
            <a:r>
              <a:rPr lang="zh-CN" altLang="en-US" sz="2800" b="1" dirty="0">
                <a:latin typeface="Times New Roman" panose="02020603050405020304" pitchFamily="18" charset="0"/>
                <a:ea typeface="仿宋" panose="02010609060101010101" pitchFamily="49" charset="-122"/>
              </a:rPr>
              <a:t>子模式与</a:t>
            </a:r>
            <a:r>
              <a:rPr lang="en-US" altLang="zh-CN" sz="2800" b="1" dirty="0">
                <a:latin typeface="Times New Roman" panose="02020603050405020304" pitchFamily="18" charset="0"/>
                <a:ea typeface="仿宋" panose="02010609060101010101" pitchFamily="49" charset="-122"/>
              </a:rPr>
              <a:t>match</a:t>
            </a:r>
            <a:r>
              <a:rPr lang="zh-CN" altLang="en-US" sz="2800" b="1" dirty="0">
                <a:latin typeface="Times New Roman" panose="02020603050405020304" pitchFamily="18" charset="0"/>
                <a:ea typeface="仿宋" panose="02010609060101010101" pitchFamily="49" charset="-122"/>
              </a:rPr>
              <a:t>对象</a:t>
            </a:r>
            <a:endParaRPr lang="en-US" altLang="zh-CN" sz="2800" b="1" dirty="0">
              <a:ea typeface="仿宋" panose="02010609060101010101" pitchFamily="49" charset="-122"/>
            </a:endParaRPr>
          </a:p>
        </p:txBody>
      </p:sp>
      <p:sp>
        <p:nvSpPr>
          <p:cNvPr id="11" name="内容占位符 2"/>
          <p:cNvSpPr txBox="1"/>
          <p:nvPr/>
        </p:nvSpPr>
        <p:spPr bwMode="auto">
          <a:xfrm>
            <a:off x="611505" y="3789045"/>
            <a:ext cx="8229600" cy="280543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SzPct val="70000"/>
              <a:buFont typeface="Arial" panose="020B0604020202020204" pitchFamily="34" charset="0"/>
              <a:buNone/>
            </a:pPr>
            <a:r>
              <a:rPr lang="zh-CN" altLang="en-US" sz="1300" dirty="0">
                <a:latin typeface="Consolas" panose="020B0609020204030204" charset="0"/>
              </a:rPr>
              <a:t>&gt;&gt;&gt; m = re.match(r"(?P&lt;first_name&gt;\w+) (?P&lt;last_name&gt;\w+)", "Malcolm Reynolds")</a:t>
            </a:r>
          </a:p>
          <a:p>
            <a:pPr marL="0" indent="0">
              <a:buSzPct val="70000"/>
              <a:buFont typeface="Arial" panose="020B0604020202020204" pitchFamily="34" charset="0"/>
              <a:buNone/>
            </a:pPr>
            <a:r>
              <a:rPr lang="zh-CN" altLang="en-US" sz="1300" dirty="0">
                <a:latin typeface="Consolas" panose="020B0609020204030204" charset="0"/>
              </a:rPr>
              <a:t>&gt;&gt;&gt; m.groupdict()                #以字典形式返回匹配的结果</a:t>
            </a:r>
          </a:p>
          <a:p>
            <a:pPr marL="0" indent="0">
              <a:buSzPct val="70000"/>
              <a:buFont typeface="Arial" panose="020B0604020202020204" pitchFamily="34" charset="0"/>
              <a:buNone/>
            </a:pPr>
            <a:r>
              <a:rPr lang="zh-CN" altLang="en-US" sz="1300" dirty="0">
                <a:solidFill>
                  <a:srgbClr val="0000FF"/>
                </a:solidFill>
                <a:latin typeface="Consolas" panose="020B0609020204030204" charset="0"/>
              </a:rPr>
              <a:t>{'first_name': 'Malcolm', 'last_name': 'Reynolds'}</a:t>
            </a:r>
          </a:p>
          <a:p>
            <a:pPr marL="0" indent="0">
              <a:buSzPct val="70000"/>
              <a:buFont typeface="Arial" panose="020B0604020202020204" pitchFamily="34" charset="0"/>
              <a:buNone/>
            </a:pPr>
            <a:r>
              <a:rPr lang="zh-CN" altLang="en-US" sz="1300" dirty="0">
                <a:latin typeface="Consolas" panose="020B0609020204030204" charset="0"/>
              </a:rPr>
              <a:t>&gt;&gt;&gt; exampleString = '''</a:t>
            </a:r>
            <a:r>
              <a:rPr lang="zh-CN" altLang="en-US" sz="1300" dirty="0">
                <a:solidFill>
                  <a:srgbClr val="00B050"/>
                </a:solidFill>
                <a:latin typeface="Consolas" panose="020B0609020204030204" charset="0"/>
              </a:rPr>
              <a:t>There should be one-- and preferably only one --obvious way to do it.</a:t>
            </a:r>
          </a:p>
          <a:p>
            <a:pPr marL="0" indent="0">
              <a:buSzPct val="70000"/>
              <a:buFont typeface="Arial" panose="020B0604020202020204" pitchFamily="34" charset="0"/>
              <a:buNone/>
            </a:pPr>
            <a:r>
              <a:rPr lang="zh-CN" altLang="en-US" sz="1300" dirty="0">
                <a:solidFill>
                  <a:srgbClr val="00B050"/>
                </a:solidFill>
                <a:latin typeface="Consolas" panose="020B0609020204030204" charset="0"/>
              </a:rPr>
              <a:t>Although that way may not be obvious at first unless you're Dutch.</a:t>
            </a:r>
          </a:p>
          <a:p>
            <a:pPr marL="0" indent="0">
              <a:buSzPct val="70000"/>
              <a:buFont typeface="Arial" panose="020B0604020202020204" pitchFamily="34" charset="0"/>
              <a:buNone/>
            </a:pPr>
            <a:r>
              <a:rPr lang="zh-CN" altLang="en-US" sz="1300" dirty="0">
                <a:solidFill>
                  <a:srgbClr val="00B050"/>
                </a:solidFill>
                <a:latin typeface="Consolas" panose="020B0609020204030204" charset="0"/>
              </a:rPr>
              <a:t>Now is better than </a:t>
            </a:r>
            <a:r>
              <a:rPr lang="zh-CN" altLang="en-US" sz="1300" dirty="0">
                <a:solidFill>
                  <a:srgbClr val="FF0000"/>
                </a:solidFill>
                <a:latin typeface="Consolas" panose="020B0609020204030204" charset="0"/>
              </a:rPr>
              <a:t>never</a:t>
            </a:r>
            <a:r>
              <a:rPr lang="zh-CN" altLang="en-US" sz="1300" dirty="0">
                <a:solidFill>
                  <a:srgbClr val="00B050"/>
                </a:solidFill>
                <a:latin typeface="Consolas" panose="020B0609020204030204" charset="0"/>
              </a:rPr>
              <a:t>.</a:t>
            </a:r>
          </a:p>
          <a:p>
            <a:pPr marL="0" indent="0">
              <a:buSzPct val="70000"/>
              <a:buFont typeface="Arial" panose="020B0604020202020204" pitchFamily="34" charset="0"/>
              <a:buNone/>
            </a:pPr>
            <a:r>
              <a:rPr lang="zh-CN" altLang="en-US" sz="1300" dirty="0">
                <a:solidFill>
                  <a:srgbClr val="00B050"/>
                </a:solidFill>
                <a:latin typeface="Consolas" panose="020B0609020204030204" charset="0"/>
              </a:rPr>
              <a:t>Although </a:t>
            </a:r>
            <a:r>
              <a:rPr lang="zh-CN" altLang="en-US" sz="1300" dirty="0">
                <a:solidFill>
                  <a:srgbClr val="0000FF"/>
                </a:solidFill>
                <a:latin typeface="Consolas" panose="020B0609020204030204" charset="0"/>
              </a:rPr>
              <a:t>never</a:t>
            </a:r>
            <a:r>
              <a:rPr lang="zh-CN" altLang="en-US" sz="1300" dirty="0">
                <a:solidFill>
                  <a:srgbClr val="00B050"/>
                </a:solidFill>
                <a:latin typeface="Consolas" panose="020B0609020204030204" charset="0"/>
              </a:rPr>
              <a:t> is often better than right now.</a:t>
            </a:r>
            <a:r>
              <a:rPr lang="zh-CN" altLang="en-US" sz="1300" dirty="0">
                <a:latin typeface="Consolas" panose="020B0609020204030204" charset="0"/>
              </a:rPr>
              <a:t>'''</a:t>
            </a:r>
          </a:p>
          <a:p>
            <a:pPr marL="0" indent="0">
              <a:buSzPct val="70000"/>
              <a:buNone/>
            </a:pPr>
            <a:r>
              <a:rPr lang="zh-CN" altLang="en-US" sz="1300" dirty="0">
                <a:latin typeface="Consolas" panose="020B0609020204030204" charset="0"/>
              </a:rPr>
              <a:t>&gt;&gt;&gt; pattern = re.compile(r</a:t>
            </a:r>
            <a:r>
              <a:rPr lang="en-US" altLang="zh-CN" sz="1300" dirty="0">
                <a:latin typeface="Consolas" panose="020B0609020204030204" charset="0"/>
              </a:rPr>
              <a:t>’</a:t>
            </a:r>
            <a:r>
              <a:rPr lang="zh-CN" altLang="en-US" sz="1300" dirty="0">
                <a:latin typeface="Consolas" panose="020B0609020204030204" charset="0"/>
              </a:rPr>
              <a:t>(?&lt;=\w\s)never(?=\s\w)</a:t>
            </a:r>
            <a:r>
              <a:rPr lang="en-US" altLang="zh-CN" sz="1300" dirty="0">
                <a:latin typeface="Consolas" panose="020B0609020204030204" charset="0"/>
              </a:rPr>
              <a:t>’</a:t>
            </a:r>
            <a:r>
              <a:rPr lang="zh-CN" altLang="en-US" sz="1300" dirty="0">
                <a:latin typeface="Consolas" panose="020B0609020204030204" charset="0"/>
              </a:rPr>
              <a:t>) </a:t>
            </a:r>
            <a:r>
              <a:rPr lang="zh-CN" altLang="en-US" sz="1300" dirty="0">
                <a:solidFill>
                  <a:srgbClr val="0000FF"/>
                </a:solidFill>
                <a:latin typeface="Consolas" panose="020B0609020204030204" charset="0"/>
              </a:rPr>
              <a:t>#查找不在句子开头和结尾的never</a:t>
            </a:r>
          </a:p>
          <a:p>
            <a:pPr marL="0" indent="0">
              <a:buSzPct val="70000"/>
              <a:buFont typeface="Arial" panose="020B0604020202020204" pitchFamily="34" charset="0"/>
              <a:buNone/>
            </a:pPr>
            <a:r>
              <a:rPr lang="zh-CN" altLang="en-US" sz="1300" dirty="0">
                <a:latin typeface="Consolas" panose="020B0609020204030204" charset="0"/>
              </a:rPr>
              <a:t>&gt;&gt;&gt; matchResult = pattern.search(exampleString)</a:t>
            </a:r>
          </a:p>
          <a:p>
            <a:pPr marL="0" indent="0">
              <a:buSzPct val="70000"/>
              <a:buFont typeface="Arial" panose="020B0604020202020204" pitchFamily="34" charset="0"/>
              <a:buNone/>
            </a:pPr>
            <a:r>
              <a:rPr lang="zh-CN" altLang="en-US" sz="1300" dirty="0">
                <a:latin typeface="Consolas" panose="020B0609020204030204" charset="0"/>
              </a:rPr>
              <a:t>&gt;&gt;&gt; matchResult.span()</a:t>
            </a:r>
          </a:p>
          <a:p>
            <a:pPr marL="0" indent="0">
              <a:buSzPct val="70000"/>
              <a:buFont typeface="Arial" panose="020B0604020202020204" pitchFamily="34" charset="0"/>
              <a:buNone/>
            </a:pPr>
            <a:r>
              <a:rPr lang="zh-CN" altLang="en-US" sz="1300" dirty="0">
                <a:solidFill>
                  <a:srgbClr val="0000FF"/>
                </a:solidFill>
                <a:latin typeface="Consolas" panose="020B0609020204030204" charset="0"/>
              </a:rPr>
              <a:t>(172, 177)</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36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3362">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36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336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336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336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3362">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336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xEl>
                                              <p:pRg st="4" end="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xEl>
                                              <p:pRg st="5" end="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
                                            <p:txEl>
                                              <p:pRg st="7" end="7"/>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
                                            <p:txEl>
                                              <p:pRg st="8" end="8"/>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内容占位符 2"/>
          <p:cNvSpPr>
            <a:spLocks noGrp="1"/>
          </p:cNvSpPr>
          <p:nvPr>
            <p:ph idx="1"/>
          </p:nvPr>
        </p:nvSpPr>
        <p:spPr>
          <a:xfrm>
            <a:off x="683568" y="1463705"/>
            <a:ext cx="8229600" cy="4678451"/>
          </a:xfrm>
        </p:spPr>
        <p:txBody>
          <a:bodyPr anchor="t"/>
          <a:lstStyle/>
          <a:p>
            <a:pPr marL="0" indent="0">
              <a:spcBef>
                <a:spcPct val="0"/>
              </a:spcBef>
              <a:buSzPct val="70000"/>
              <a:buNone/>
            </a:pPr>
            <a:r>
              <a:rPr lang="zh-CN" altLang="en-US" sz="1350" dirty="0">
                <a:latin typeface="Consolas" panose="020B0609020204030204" charset="0"/>
              </a:rPr>
              <a:t>&gt;&gt;&gt; pattern = re.compile(r'\b(?i)n\w+\b') </a:t>
            </a:r>
          </a:p>
          <a:p>
            <a:pPr marL="0" indent="0">
              <a:spcBef>
                <a:spcPct val="0"/>
              </a:spcBef>
              <a:buSzPct val="70000"/>
              <a:buNone/>
            </a:pPr>
            <a:r>
              <a:rPr lang="zh-CN" altLang="en-US" sz="1350" dirty="0">
                <a:latin typeface="Consolas" panose="020B0609020204030204" charset="0"/>
              </a:rPr>
              <a:t>&gt;&gt;&gt; index = 0</a:t>
            </a:r>
          </a:p>
          <a:p>
            <a:pPr marL="0" indent="0">
              <a:spcBef>
                <a:spcPct val="0"/>
              </a:spcBef>
              <a:buSzPct val="70000"/>
              <a:buNone/>
            </a:pPr>
            <a:r>
              <a:rPr lang="zh-CN" altLang="en-US" sz="1350" dirty="0">
                <a:latin typeface="Consolas" panose="020B0609020204030204" charset="0"/>
              </a:rPr>
              <a:t>&gt;&gt;&gt; while True:</a:t>
            </a:r>
          </a:p>
          <a:p>
            <a:pPr marL="0" indent="0">
              <a:spcBef>
                <a:spcPct val="0"/>
              </a:spcBef>
              <a:buSzPct val="70000"/>
              <a:buNone/>
            </a:pPr>
            <a:r>
              <a:rPr lang="zh-CN" altLang="en-US" sz="1350" dirty="0">
                <a:latin typeface="Consolas" panose="020B0609020204030204" charset="0"/>
              </a:rPr>
              <a:t>    matchResult = pattern.search(exampleString, index)</a:t>
            </a:r>
          </a:p>
          <a:p>
            <a:pPr marL="0" indent="0">
              <a:spcBef>
                <a:spcPct val="0"/>
              </a:spcBef>
              <a:buSzPct val="70000"/>
              <a:buNone/>
            </a:pPr>
            <a:r>
              <a:rPr lang="zh-CN" altLang="en-US" sz="1350" dirty="0">
                <a:latin typeface="Consolas" panose="020B0609020204030204" charset="0"/>
              </a:rPr>
              <a:t>    if not matchResult:</a:t>
            </a:r>
          </a:p>
          <a:p>
            <a:pPr marL="0" indent="0">
              <a:spcBef>
                <a:spcPct val="0"/>
              </a:spcBef>
              <a:buSzPct val="70000"/>
              <a:buNone/>
            </a:pPr>
            <a:r>
              <a:rPr lang="zh-CN" altLang="en-US" sz="1350" dirty="0">
                <a:latin typeface="Consolas" panose="020B0609020204030204" charset="0"/>
              </a:rPr>
              <a:t>        break</a:t>
            </a:r>
          </a:p>
          <a:p>
            <a:pPr marL="0" indent="0">
              <a:spcBef>
                <a:spcPct val="0"/>
              </a:spcBef>
              <a:buSzPct val="70000"/>
              <a:buNone/>
            </a:pPr>
            <a:r>
              <a:rPr lang="zh-CN" altLang="en-US" sz="1350" dirty="0">
                <a:latin typeface="Consolas" panose="020B0609020204030204" charset="0"/>
              </a:rPr>
              <a:t>    print(matchResult.group(0), ':', matchResult.span(0))</a:t>
            </a:r>
          </a:p>
          <a:p>
            <a:pPr marL="0" indent="0">
              <a:spcBef>
                <a:spcPct val="0"/>
              </a:spcBef>
              <a:buSzPct val="70000"/>
              <a:buNone/>
            </a:pPr>
            <a:r>
              <a:rPr lang="zh-CN" altLang="en-US" sz="1350" dirty="0">
                <a:latin typeface="Consolas" panose="020B0609020204030204" charset="0"/>
              </a:rPr>
              <a:t>    index = matchResult.end(0)</a:t>
            </a:r>
          </a:p>
          <a:p>
            <a:pPr marL="0" indent="0">
              <a:spcBef>
                <a:spcPct val="0"/>
              </a:spcBef>
              <a:buSzPct val="70000"/>
              <a:buNone/>
            </a:pPr>
            <a:endParaRPr lang="zh-CN" altLang="en-US" sz="1350" dirty="0">
              <a:latin typeface="Consolas" panose="020B0609020204030204" charset="0"/>
            </a:endParaRPr>
          </a:p>
          <a:p>
            <a:pPr marL="0" indent="0">
              <a:spcBef>
                <a:spcPct val="0"/>
              </a:spcBef>
              <a:buSzPct val="70000"/>
              <a:buNone/>
            </a:pPr>
            <a:r>
              <a:rPr lang="zh-CN" altLang="en-US" sz="1350" dirty="0">
                <a:solidFill>
                  <a:srgbClr val="0000FF"/>
                </a:solidFill>
                <a:latin typeface="Consolas" panose="020B0609020204030204" charset="0"/>
              </a:rPr>
              <a:t>not : (92, 95)</a:t>
            </a:r>
          </a:p>
          <a:p>
            <a:pPr marL="0" indent="0">
              <a:spcBef>
                <a:spcPct val="0"/>
              </a:spcBef>
              <a:buSzPct val="70000"/>
              <a:buNone/>
            </a:pPr>
            <a:r>
              <a:rPr lang="zh-CN" altLang="en-US" sz="1350" dirty="0">
                <a:solidFill>
                  <a:srgbClr val="0000FF"/>
                </a:solidFill>
                <a:latin typeface="Consolas" panose="020B0609020204030204" charset="0"/>
              </a:rPr>
              <a:t>Now : (137, 140)</a:t>
            </a:r>
          </a:p>
          <a:p>
            <a:pPr marL="0" indent="0">
              <a:spcBef>
                <a:spcPct val="0"/>
              </a:spcBef>
              <a:buSzPct val="70000"/>
              <a:buNone/>
            </a:pPr>
            <a:r>
              <a:rPr lang="zh-CN" altLang="en-US" sz="1350" dirty="0">
                <a:solidFill>
                  <a:srgbClr val="0000FF"/>
                </a:solidFill>
                <a:latin typeface="Consolas" panose="020B0609020204030204" charset="0"/>
              </a:rPr>
              <a:t>never : (156, 161)</a:t>
            </a:r>
          </a:p>
          <a:p>
            <a:pPr marL="0" indent="0">
              <a:spcBef>
                <a:spcPct val="0"/>
              </a:spcBef>
              <a:buSzPct val="70000"/>
              <a:buNone/>
            </a:pPr>
            <a:r>
              <a:rPr lang="zh-CN" altLang="en-US" sz="1350" dirty="0">
                <a:solidFill>
                  <a:srgbClr val="0000FF"/>
                </a:solidFill>
                <a:latin typeface="Consolas" panose="020B0609020204030204" charset="0"/>
              </a:rPr>
              <a:t>never : (172, 177)</a:t>
            </a:r>
          </a:p>
          <a:p>
            <a:pPr marL="0" indent="0">
              <a:spcBef>
                <a:spcPct val="0"/>
              </a:spcBef>
              <a:buSzPct val="70000"/>
              <a:buNone/>
            </a:pPr>
            <a:r>
              <a:rPr lang="zh-CN" altLang="en-US" sz="1350" dirty="0">
                <a:solidFill>
                  <a:srgbClr val="0000FF"/>
                </a:solidFill>
                <a:latin typeface="Consolas" panose="020B0609020204030204" charset="0"/>
              </a:rPr>
              <a:t>now : (205, 208)</a:t>
            </a:r>
          </a:p>
        </p:txBody>
      </p:sp>
      <p:sp>
        <p:nvSpPr>
          <p:cNvPr id="145411"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96</a:t>
            </a:fld>
            <a:endParaRPr lang="zh-CN" altLang="en-US" sz="1050" dirty="0"/>
          </a:p>
        </p:txBody>
      </p:sp>
      <p:grpSp>
        <p:nvGrpSpPr>
          <p:cNvPr id="6" name="组合 109"/>
          <p:cNvGrpSpPr/>
          <p:nvPr/>
        </p:nvGrpSpPr>
        <p:grpSpPr>
          <a:xfrm>
            <a:off x="489223" y="78400"/>
            <a:ext cx="4514825" cy="686304"/>
            <a:chOff x="956926" y="4600871"/>
            <a:chExt cx="4514825" cy="686304"/>
          </a:xfrm>
        </p:grpSpPr>
        <p:sp>
          <p:nvSpPr>
            <p:cNvPr id="7"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10" name="文本框 9"/>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smtClean="0">
                <a:latin typeface="Times New Roman" panose="02020603050405020304" pitchFamily="18" charset="0"/>
                <a:ea typeface="仿宋" panose="02010609060101010101" pitchFamily="49" charset="-122"/>
              </a:rPr>
              <a:t>4.3.3 </a:t>
            </a:r>
            <a:r>
              <a:rPr lang="zh-CN" altLang="en-US" sz="2800" b="1" dirty="0" smtClean="0">
                <a:latin typeface="Times New Roman" panose="02020603050405020304" pitchFamily="18" charset="0"/>
                <a:ea typeface="仿宋" panose="02010609060101010101" pitchFamily="49" charset="-122"/>
              </a:rPr>
              <a:t> </a:t>
            </a:r>
            <a:r>
              <a:rPr lang="zh-CN" altLang="en-US" sz="2800" b="1" dirty="0">
                <a:latin typeface="Times New Roman" panose="02020603050405020304" pitchFamily="18" charset="0"/>
                <a:ea typeface="仿宋" panose="02010609060101010101" pitchFamily="49" charset="-122"/>
              </a:rPr>
              <a:t>子模式与</a:t>
            </a:r>
            <a:r>
              <a:rPr lang="en-US" altLang="zh-CN" sz="2800" b="1" dirty="0">
                <a:latin typeface="Times New Roman" panose="02020603050405020304" pitchFamily="18" charset="0"/>
                <a:ea typeface="仿宋" panose="02010609060101010101" pitchFamily="49" charset="-122"/>
              </a:rPr>
              <a:t>match</a:t>
            </a:r>
            <a:r>
              <a:rPr lang="zh-CN" altLang="en-US" sz="2800" b="1" dirty="0">
                <a:latin typeface="Times New Roman" panose="02020603050405020304" pitchFamily="18" charset="0"/>
                <a:ea typeface="仿宋" panose="02010609060101010101" pitchFamily="49" charset="-122"/>
              </a:rPr>
              <a:t>对象</a:t>
            </a:r>
            <a:endParaRPr lang="en-US" altLang="zh-CN" sz="2800" b="1" dirty="0">
              <a:ea typeface="仿宋" panose="02010609060101010101" pitchFamily="49" charset="-122"/>
            </a:endParaRPr>
          </a:p>
        </p:txBody>
      </p:sp>
      <p:sp>
        <p:nvSpPr>
          <p:cNvPr id="12" name="矩形 11"/>
          <p:cNvSpPr/>
          <p:nvPr/>
        </p:nvSpPr>
        <p:spPr>
          <a:xfrm>
            <a:off x="5856375" y="1504865"/>
            <a:ext cx="2459328" cy="338554"/>
          </a:xfrm>
          <a:prstGeom prst="rect">
            <a:avLst/>
          </a:prstGeom>
        </p:spPr>
        <p:txBody>
          <a:bodyPr wrap="none">
            <a:spAutoFit/>
          </a:bodyPr>
          <a:lstStyle/>
          <a:p>
            <a:r>
              <a:rPr lang="zh-CN" altLang="en-US" sz="1600" b="1" dirty="0">
                <a:solidFill>
                  <a:srgbClr val="FF0000"/>
                </a:solidFill>
                <a:latin typeface="仿宋" panose="02010609060101010101" pitchFamily="49" charset="-122"/>
                <a:ea typeface="仿宋" panose="02010609060101010101" pitchFamily="49" charset="-122"/>
              </a:rPr>
              <a:t>表示匹配时不区分大小写</a:t>
            </a:r>
          </a:p>
        </p:txBody>
      </p:sp>
      <p:grpSp>
        <p:nvGrpSpPr>
          <p:cNvPr id="15" name="组合 14"/>
          <p:cNvGrpSpPr/>
          <p:nvPr/>
        </p:nvGrpSpPr>
        <p:grpSpPr>
          <a:xfrm>
            <a:off x="3491880" y="1078614"/>
            <a:ext cx="4956071" cy="694202"/>
            <a:chOff x="3491880" y="1078614"/>
            <a:chExt cx="4956071" cy="694202"/>
          </a:xfrm>
        </p:grpSpPr>
        <p:grpSp>
          <p:nvGrpSpPr>
            <p:cNvPr id="11" name="组合 10"/>
            <p:cNvGrpSpPr/>
            <p:nvPr/>
          </p:nvGrpSpPr>
          <p:grpSpPr>
            <a:xfrm>
              <a:off x="3882039" y="1078614"/>
              <a:ext cx="4565912" cy="401097"/>
              <a:chOff x="3882039" y="1078614"/>
              <a:chExt cx="4565912" cy="401097"/>
            </a:xfrm>
          </p:grpSpPr>
          <p:sp>
            <p:nvSpPr>
              <p:cNvPr id="3" name="矩形 2"/>
              <p:cNvSpPr/>
              <p:nvPr/>
            </p:nvSpPr>
            <p:spPr>
              <a:xfrm>
                <a:off x="5724128" y="1078614"/>
                <a:ext cx="2723823" cy="369332"/>
              </a:xfrm>
              <a:prstGeom prst="rect">
                <a:avLst/>
              </a:prstGeom>
              <a:ln>
                <a:solidFill>
                  <a:srgbClr val="FF0000"/>
                </a:solidFill>
              </a:ln>
            </p:spPr>
            <p:txBody>
              <a:bodyPr wrap="none">
                <a:spAutoFit/>
              </a:bodyPr>
              <a:lstStyle/>
              <a:p>
                <a:r>
                  <a:rPr lang="zh-CN" altLang="en-US" b="1" dirty="0">
                    <a:solidFill>
                      <a:srgbClr val="333333"/>
                    </a:solidFill>
                    <a:latin typeface="仿宋" panose="02010609060101010101" pitchFamily="49" charset="-122"/>
                    <a:ea typeface="仿宋" panose="02010609060101010101" pitchFamily="49" charset="-122"/>
                  </a:rPr>
                  <a:t>正则表达式的模式修饰符</a:t>
                </a:r>
                <a:endParaRPr lang="zh-CN" altLang="en-US" b="1" dirty="0">
                  <a:latin typeface="仿宋" panose="02010609060101010101" pitchFamily="49" charset="-122"/>
                  <a:ea typeface="仿宋" panose="02010609060101010101" pitchFamily="49" charset="-122"/>
                </a:endParaRPr>
              </a:p>
            </p:txBody>
          </p:sp>
          <p:cxnSp>
            <p:nvCxnSpPr>
              <p:cNvPr id="5" name="直接箭头连接符 4"/>
              <p:cNvCxnSpPr/>
              <p:nvPr/>
            </p:nvCxnSpPr>
            <p:spPr>
              <a:xfrm flipH="1">
                <a:off x="3882039" y="1263157"/>
                <a:ext cx="1842089" cy="2165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矩形 12"/>
            <p:cNvSpPr/>
            <p:nvPr/>
          </p:nvSpPr>
          <p:spPr>
            <a:xfrm>
              <a:off x="3491880" y="1463705"/>
              <a:ext cx="360040" cy="30911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5410">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5410">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5410">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5410">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5410">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5410">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par>
                                <p:cTn id="27" presetID="1" presetClass="entr" presetSubtype="0" fill="hold" nodeType="withEffect">
                                  <p:stCondLst>
                                    <p:cond delay="0"/>
                                  </p:stCondLst>
                                  <p:childTnLst>
                                    <p:set>
                                      <p:cBhvr>
                                        <p:cTn id="28" dur="1" fill="hold">
                                          <p:stCondLst>
                                            <p:cond delay="0"/>
                                          </p:stCondLst>
                                        </p:cTn>
                                        <p:tgtEl>
                                          <p:spTgt spid="145410">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5410">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5410">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5410">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5410">
                                            <p:txEl>
                                              <p:pRg st="11" end="1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45410">
                                            <p:txEl>
                                              <p:pRg st="12" end="1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45410">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内容占位符 2"/>
          <p:cNvSpPr>
            <a:spLocks noGrp="1"/>
          </p:cNvSpPr>
          <p:nvPr>
            <p:ph idx="1"/>
          </p:nvPr>
        </p:nvSpPr>
        <p:spPr>
          <a:xfrm>
            <a:off x="683568" y="1803450"/>
            <a:ext cx="8229600" cy="4678451"/>
          </a:xfrm>
        </p:spPr>
        <p:txBody>
          <a:bodyPr anchor="t"/>
          <a:lstStyle/>
          <a:p>
            <a:pPr marL="0" indent="0">
              <a:spcBef>
                <a:spcPct val="0"/>
              </a:spcBef>
              <a:buSzPct val="70000"/>
              <a:buNone/>
            </a:pPr>
            <a:r>
              <a:rPr lang="zh-CN" altLang="en-US" sz="1600" dirty="0">
                <a:latin typeface="Consolas" panose="020B0609020204030204" charset="0"/>
              </a:rPr>
              <a:t>&gt;&gt;&gt; pattern = re.compile(r'(?&lt;!not\s)be\b')</a:t>
            </a:r>
          </a:p>
          <a:p>
            <a:pPr marL="0" indent="0">
              <a:spcBef>
                <a:spcPct val="0"/>
              </a:spcBef>
              <a:buSzPct val="70000"/>
              <a:buNone/>
            </a:pPr>
            <a:r>
              <a:rPr lang="zh-CN" altLang="en-US" sz="1600" dirty="0">
                <a:latin typeface="Consolas" panose="020B0609020204030204" charset="0"/>
              </a:rPr>
              <a:t>&gt;&gt;&gt; index = 0</a:t>
            </a:r>
          </a:p>
          <a:p>
            <a:pPr marL="0" indent="0">
              <a:spcBef>
                <a:spcPct val="0"/>
              </a:spcBef>
              <a:buSzPct val="70000"/>
              <a:buNone/>
            </a:pPr>
            <a:r>
              <a:rPr lang="zh-CN" altLang="en-US" sz="1600" dirty="0">
                <a:latin typeface="Consolas" panose="020B0609020204030204" charset="0"/>
              </a:rPr>
              <a:t>&gt;&gt;&gt; while True:</a:t>
            </a:r>
          </a:p>
          <a:p>
            <a:pPr marL="0" indent="0">
              <a:spcBef>
                <a:spcPct val="0"/>
              </a:spcBef>
              <a:buSzPct val="70000"/>
              <a:buNone/>
            </a:pPr>
            <a:r>
              <a:rPr lang="zh-CN" altLang="en-US" sz="1600" dirty="0">
                <a:latin typeface="Consolas" panose="020B0609020204030204" charset="0"/>
              </a:rPr>
              <a:t>    matchResult = pattern.search(exampleString, index)</a:t>
            </a:r>
          </a:p>
          <a:p>
            <a:pPr marL="0" indent="0">
              <a:spcBef>
                <a:spcPct val="0"/>
              </a:spcBef>
              <a:buSzPct val="70000"/>
              <a:buNone/>
            </a:pPr>
            <a:r>
              <a:rPr lang="zh-CN" altLang="en-US" sz="1600" dirty="0">
                <a:latin typeface="Consolas" panose="020B0609020204030204" charset="0"/>
              </a:rPr>
              <a:t>    if not matchResult:</a:t>
            </a:r>
          </a:p>
          <a:p>
            <a:pPr marL="0" indent="0">
              <a:spcBef>
                <a:spcPct val="0"/>
              </a:spcBef>
              <a:buSzPct val="70000"/>
              <a:buNone/>
            </a:pPr>
            <a:r>
              <a:rPr lang="zh-CN" altLang="en-US" sz="1600" dirty="0">
                <a:latin typeface="Consolas" panose="020B0609020204030204" charset="0"/>
              </a:rPr>
              <a:t>        break</a:t>
            </a:r>
          </a:p>
          <a:p>
            <a:pPr marL="0" indent="0">
              <a:spcBef>
                <a:spcPct val="0"/>
              </a:spcBef>
              <a:buSzPct val="70000"/>
              <a:buNone/>
            </a:pPr>
            <a:r>
              <a:rPr lang="zh-CN" altLang="en-US" sz="1600" dirty="0">
                <a:latin typeface="Consolas" panose="020B0609020204030204" charset="0"/>
              </a:rPr>
              <a:t>    print(matchResult.group(0), ':', matchResult.span(0))</a:t>
            </a:r>
          </a:p>
          <a:p>
            <a:pPr marL="0" indent="0">
              <a:spcBef>
                <a:spcPct val="0"/>
              </a:spcBef>
              <a:buSzPct val="70000"/>
              <a:buNone/>
            </a:pPr>
            <a:r>
              <a:rPr lang="zh-CN" altLang="en-US" sz="1600" dirty="0">
                <a:latin typeface="Consolas" panose="020B0609020204030204" charset="0"/>
              </a:rPr>
              <a:t>    index = matchResult.end(0)</a:t>
            </a:r>
          </a:p>
          <a:p>
            <a:pPr marL="0" indent="0">
              <a:spcBef>
                <a:spcPct val="0"/>
              </a:spcBef>
              <a:buSzPct val="70000"/>
              <a:buNone/>
            </a:pPr>
            <a:endParaRPr lang="zh-CN" altLang="en-US" sz="1600" dirty="0">
              <a:latin typeface="Consolas" panose="020B0609020204030204" charset="0"/>
            </a:endParaRPr>
          </a:p>
          <a:p>
            <a:pPr marL="0" indent="0">
              <a:spcBef>
                <a:spcPct val="0"/>
              </a:spcBef>
              <a:buSzPct val="70000"/>
              <a:buNone/>
            </a:pPr>
            <a:r>
              <a:rPr lang="zh-CN" altLang="en-US" sz="1600" dirty="0">
                <a:solidFill>
                  <a:srgbClr val="0000FF"/>
                </a:solidFill>
                <a:latin typeface="Consolas" panose="020B0609020204030204" charset="0"/>
              </a:rPr>
              <a:t>be : (13, 15)</a:t>
            </a:r>
          </a:p>
          <a:p>
            <a:pPr marL="0" indent="0">
              <a:spcBef>
                <a:spcPct val="0"/>
              </a:spcBef>
              <a:buSzPct val="70000"/>
              <a:buNone/>
            </a:pPr>
            <a:r>
              <a:rPr lang="zh-CN" altLang="en-US" sz="1600" dirty="0">
                <a:latin typeface="Consolas" panose="020B0609020204030204" charset="0"/>
              </a:rPr>
              <a:t>&gt;&gt;&gt; exampleString[13:20]</a:t>
            </a:r>
          </a:p>
          <a:p>
            <a:pPr marL="0" indent="0">
              <a:spcBef>
                <a:spcPct val="0"/>
              </a:spcBef>
              <a:buSzPct val="70000"/>
              <a:buNone/>
            </a:pPr>
            <a:r>
              <a:rPr lang="zh-CN" altLang="en-US" sz="1600" dirty="0">
                <a:solidFill>
                  <a:srgbClr val="0000FF"/>
                </a:solidFill>
                <a:latin typeface="Consolas" panose="020B0609020204030204" charset="0"/>
              </a:rPr>
              <a:t>'be one-'</a:t>
            </a:r>
          </a:p>
        </p:txBody>
      </p:sp>
      <p:sp>
        <p:nvSpPr>
          <p:cNvPr id="146435"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97</a:t>
            </a:fld>
            <a:endParaRPr lang="zh-CN" altLang="en-US" sz="1050" dirty="0"/>
          </a:p>
        </p:txBody>
      </p:sp>
      <p:grpSp>
        <p:nvGrpSpPr>
          <p:cNvPr id="6" name="组合 109"/>
          <p:cNvGrpSpPr/>
          <p:nvPr/>
        </p:nvGrpSpPr>
        <p:grpSpPr>
          <a:xfrm>
            <a:off x="489223" y="78400"/>
            <a:ext cx="4514825" cy="686304"/>
            <a:chOff x="956926" y="4600871"/>
            <a:chExt cx="4514825" cy="686304"/>
          </a:xfrm>
        </p:grpSpPr>
        <p:sp>
          <p:nvSpPr>
            <p:cNvPr id="7"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10" name="文本框 9"/>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smtClean="0">
                <a:latin typeface="Times New Roman" panose="02020603050405020304" pitchFamily="18" charset="0"/>
                <a:ea typeface="仿宋" panose="02010609060101010101" pitchFamily="49" charset="-122"/>
              </a:rPr>
              <a:t>4.3.3 </a:t>
            </a:r>
            <a:r>
              <a:rPr lang="zh-CN" altLang="en-US" sz="2800" b="1" dirty="0" smtClean="0">
                <a:latin typeface="Times New Roman" panose="02020603050405020304" pitchFamily="18" charset="0"/>
                <a:ea typeface="仿宋" panose="02010609060101010101" pitchFamily="49" charset="-122"/>
              </a:rPr>
              <a:t> </a:t>
            </a:r>
            <a:r>
              <a:rPr lang="zh-CN" altLang="en-US" sz="2800" b="1" dirty="0">
                <a:latin typeface="Times New Roman" panose="02020603050405020304" pitchFamily="18" charset="0"/>
                <a:ea typeface="仿宋" panose="02010609060101010101" pitchFamily="49" charset="-122"/>
              </a:rPr>
              <a:t>子模式与</a:t>
            </a:r>
            <a:r>
              <a:rPr lang="en-US" altLang="zh-CN" sz="2800" b="1" dirty="0">
                <a:latin typeface="Times New Roman" panose="02020603050405020304" pitchFamily="18" charset="0"/>
                <a:ea typeface="仿宋" panose="02010609060101010101" pitchFamily="49" charset="-122"/>
              </a:rPr>
              <a:t>match</a:t>
            </a:r>
            <a:r>
              <a:rPr lang="zh-CN" altLang="en-US" sz="2800" b="1" dirty="0">
                <a:latin typeface="Times New Roman" panose="02020603050405020304" pitchFamily="18" charset="0"/>
                <a:ea typeface="仿宋" panose="02010609060101010101" pitchFamily="49" charset="-122"/>
              </a:rPr>
              <a:t>对象</a:t>
            </a:r>
            <a:endParaRPr lang="en-US" altLang="zh-CN" sz="2800" b="1" dirty="0">
              <a:ea typeface="仿宋" panose="02010609060101010101" pitchFamily="49" charset="-122"/>
            </a:endParaRPr>
          </a:p>
        </p:txBody>
      </p:sp>
      <p:sp>
        <p:nvSpPr>
          <p:cNvPr id="3" name="矩形 2"/>
          <p:cNvSpPr/>
          <p:nvPr/>
        </p:nvSpPr>
        <p:spPr>
          <a:xfrm>
            <a:off x="5203154" y="1391290"/>
            <a:ext cx="3483646" cy="369332"/>
          </a:xfrm>
          <a:prstGeom prst="rect">
            <a:avLst/>
          </a:prstGeom>
        </p:spPr>
        <p:txBody>
          <a:bodyPr wrap="none">
            <a:spAutoFit/>
          </a:bodyPr>
          <a:lstStyle/>
          <a:p>
            <a:pPr>
              <a:buSzPct val="70000"/>
            </a:pPr>
            <a:r>
              <a:rPr lang="zh-CN" altLang="en-US" dirty="0">
                <a:solidFill>
                  <a:srgbClr val="0000FF"/>
                </a:solidFill>
                <a:latin typeface="Consolas" panose="020B0609020204030204" charset="0"/>
              </a:rPr>
              <a:t>#查找前面没有单词not的单词be</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6434">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6434">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643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643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643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6434">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6434">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6434">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643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6434">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643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4" grpId="0" build="p"/>
      <p:bldP spid="10" grpId="0"/>
      <p:bldP spid="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内容占位符 2"/>
          <p:cNvSpPr>
            <a:spLocks noGrp="1"/>
          </p:cNvSpPr>
          <p:nvPr>
            <p:ph idx="1"/>
          </p:nvPr>
        </p:nvSpPr>
        <p:spPr>
          <a:xfrm>
            <a:off x="755576" y="1575956"/>
            <a:ext cx="7360920" cy="3395345"/>
          </a:xfrm>
        </p:spPr>
        <p:txBody>
          <a:bodyPr anchor="t"/>
          <a:lstStyle/>
          <a:p>
            <a:pPr marL="0" indent="0">
              <a:buSzPct val="70000"/>
              <a:buNone/>
            </a:pPr>
            <a:r>
              <a:rPr lang="zh-CN" altLang="en-US" sz="1600" dirty="0">
                <a:latin typeface="Consolas" panose="020B0609020204030204" charset="0"/>
              </a:rPr>
              <a:t>&gt;&gt;&gt; pattern = re.compile(r'(\b\w*</a:t>
            </a:r>
            <a:r>
              <a:rPr lang="zh-CN" altLang="en-US" sz="1600" dirty="0">
                <a:solidFill>
                  <a:srgbClr val="FF0000"/>
                </a:solidFill>
                <a:latin typeface="Consolas" panose="020B0609020204030204" charset="0"/>
              </a:rPr>
              <a:t>(?P&lt;f&gt;\w+)(?P=f)</a:t>
            </a:r>
            <a:r>
              <a:rPr lang="zh-CN" altLang="en-US" sz="1600" dirty="0">
                <a:latin typeface="Consolas" panose="020B0609020204030204" charset="0"/>
              </a:rPr>
              <a:t>\w*\b)')</a:t>
            </a:r>
          </a:p>
          <a:p>
            <a:pPr marL="0" indent="0">
              <a:buSzPct val="70000"/>
              <a:buNone/>
            </a:pPr>
            <a:r>
              <a:rPr lang="zh-CN" altLang="en-US" sz="1600" dirty="0">
                <a:latin typeface="Consolas" panose="020B0609020204030204" charset="0"/>
              </a:rPr>
              <a:t>&gt;&gt;&gt; index = 0</a:t>
            </a:r>
          </a:p>
          <a:p>
            <a:pPr marL="0" indent="0">
              <a:buSzPct val="70000"/>
              <a:buNone/>
            </a:pPr>
            <a:r>
              <a:rPr lang="zh-CN" altLang="en-US" sz="1600" dirty="0">
                <a:latin typeface="Consolas" panose="020B0609020204030204" charset="0"/>
              </a:rPr>
              <a:t>&gt;&gt;&gt; while True:</a:t>
            </a:r>
          </a:p>
          <a:p>
            <a:pPr marL="0" indent="0">
              <a:buSzPct val="70000"/>
              <a:buNone/>
            </a:pPr>
            <a:r>
              <a:rPr lang="zh-CN" altLang="en-US" sz="1600" dirty="0">
                <a:latin typeface="Consolas" panose="020B0609020204030204" charset="0"/>
              </a:rPr>
              <a:t>    matchResult = pattern.search(exampleString, index)</a:t>
            </a:r>
          </a:p>
          <a:p>
            <a:pPr marL="0" indent="0">
              <a:buSzPct val="70000"/>
              <a:buNone/>
            </a:pPr>
            <a:r>
              <a:rPr lang="zh-CN" altLang="en-US" sz="1600" dirty="0">
                <a:latin typeface="Consolas" panose="020B0609020204030204" charset="0"/>
              </a:rPr>
              <a:t>    if not matchResult:</a:t>
            </a:r>
          </a:p>
          <a:p>
            <a:pPr marL="0" indent="0">
              <a:buSzPct val="70000"/>
              <a:buNone/>
            </a:pPr>
            <a:r>
              <a:rPr lang="zh-CN" altLang="en-US" sz="1600" dirty="0">
                <a:latin typeface="Consolas" panose="020B0609020204030204" charset="0"/>
              </a:rPr>
              <a:t>        break</a:t>
            </a:r>
          </a:p>
          <a:p>
            <a:pPr marL="0" indent="0">
              <a:buSzPct val="70000"/>
              <a:buNone/>
            </a:pPr>
            <a:r>
              <a:rPr lang="zh-CN" altLang="en-US" sz="1600" dirty="0">
                <a:latin typeface="Consolas" panose="020B0609020204030204" charset="0"/>
              </a:rPr>
              <a:t>    print(matchResult.group(0), ':', matchResult.group(2))</a:t>
            </a:r>
          </a:p>
          <a:p>
            <a:pPr marL="0" indent="0">
              <a:buSzPct val="70000"/>
              <a:buNone/>
            </a:pPr>
            <a:r>
              <a:rPr lang="zh-CN" altLang="en-US" sz="1600" dirty="0">
                <a:latin typeface="Consolas" panose="020B0609020204030204" charset="0"/>
              </a:rPr>
              <a:t>    index = matchResult.end(0) + 1</a:t>
            </a:r>
          </a:p>
          <a:p>
            <a:pPr marL="0" indent="0">
              <a:buSzPct val="70000"/>
              <a:buNone/>
            </a:pPr>
            <a:r>
              <a:rPr lang="zh-CN" altLang="en-US" sz="1600" dirty="0">
                <a:solidFill>
                  <a:srgbClr val="0000FF"/>
                </a:solidFill>
                <a:latin typeface="Consolas" panose="020B0609020204030204" charset="0"/>
              </a:rPr>
              <a:t>unless : s</a:t>
            </a:r>
          </a:p>
          <a:p>
            <a:pPr marL="0" indent="0">
              <a:buSzPct val="70000"/>
              <a:buNone/>
            </a:pPr>
            <a:r>
              <a:rPr lang="zh-CN" altLang="en-US" sz="1600" dirty="0">
                <a:solidFill>
                  <a:srgbClr val="0000FF"/>
                </a:solidFill>
                <a:latin typeface="Consolas" panose="020B0609020204030204" charset="0"/>
              </a:rPr>
              <a:t>better : t</a:t>
            </a:r>
          </a:p>
          <a:p>
            <a:pPr marL="0" indent="0">
              <a:buSzPct val="70000"/>
              <a:buNone/>
            </a:pPr>
            <a:r>
              <a:rPr lang="zh-CN" altLang="en-US" sz="1600" dirty="0">
                <a:solidFill>
                  <a:srgbClr val="0000FF"/>
                </a:solidFill>
                <a:latin typeface="Consolas" panose="020B0609020204030204" charset="0"/>
              </a:rPr>
              <a:t>better : t</a:t>
            </a:r>
          </a:p>
          <a:p>
            <a:pPr marL="0" indent="0">
              <a:buSzPct val="70000"/>
              <a:buNone/>
            </a:pPr>
            <a:r>
              <a:rPr lang="zh-CN" altLang="en-US" sz="1600" dirty="0">
                <a:latin typeface="Consolas" panose="020B0609020204030204" charset="0"/>
              </a:rPr>
              <a:t>&gt;&gt;&gt; s </a:t>
            </a:r>
            <a:r>
              <a:rPr lang="en-US" altLang="zh-CN" sz="1600" dirty="0">
                <a:latin typeface="Consolas" panose="020B0609020204030204" charset="0"/>
              </a:rPr>
              <a:t>= </a:t>
            </a:r>
            <a:r>
              <a:rPr lang="zh-CN" altLang="en-US" sz="1600" dirty="0">
                <a:latin typeface="Consolas" panose="020B0609020204030204" charset="0"/>
              </a:rPr>
              <a:t>'aabc abcd abbcd abccd abcdd'</a:t>
            </a:r>
          </a:p>
          <a:p>
            <a:pPr marL="0" indent="0">
              <a:buSzPct val="70000"/>
              <a:buNone/>
            </a:pPr>
            <a:r>
              <a:rPr lang="zh-CN" altLang="en-US" sz="1600" dirty="0">
                <a:latin typeface="Consolas" panose="020B0609020204030204" charset="0"/>
              </a:rPr>
              <a:t>&gt;&gt;&gt; p</a:t>
            </a:r>
            <a:r>
              <a:rPr lang="en-US" altLang="zh-CN" sz="1600" dirty="0" err="1">
                <a:latin typeface="Consolas" panose="020B0609020204030204" charset="0"/>
              </a:rPr>
              <a:t>attern</a:t>
            </a:r>
            <a:r>
              <a:rPr lang="zh-CN" altLang="en-US" sz="1600" dirty="0">
                <a:latin typeface="Consolas" panose="020B0609020204030204" charset="0"/>
              </a:rPr>
              <a:t>.findall(s)</a:t>
            </a:r>
          </a:p>
          <a:p>
            <a:pPr marL="0" indent="0">
              <a:buSzPct val="70000"/>
              <a:buNone/>
            </a:pPr>
            <a:r>
              <a:rPr lang="zh-CN" altLang="en-US" sz="1600" dirty="0">
                <a:solidFill>
                  <a:srgbClr val="0000FF"/>
                </a:solidFill>
                <a:latin typeface="Consolas" panose="020B0609020204030204" charset="0"/>
              </a:rPr>
              <a:t>[('aabc', 'a'), ('abbcd', 'b'), ('abccd', 'c'), ('abcdd', 'd')]</a:t>
            </a:r>
          </a:p>
        </p:txBody>
      </p:sp>
      <p:sp>
        <p:nvSpPr>
          <p:cNvPr id="147459" name="Slide Number Placeholder 1"/>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98</a:t>
            </a:fld>
            <a:endParaRPr lang="zh-CN" altLang="en-US" sz="1050" dirty="0"/>
          </a:p>
        </p:txBody>
      </p:sp>
      <p:grpSp>
        <p:nvGrpSpPr>
          <p:cNvPr id="6" name="组合 109"/>
          <p:cNvGrpSpPr/>
          <p:nvPr/>
        </p:nvGrpSpPr>
        <p:grpSpPr>
          <a:xfrm>
            <a:off x="489223" y="78400"/>
            <a:ext cx="4514825" cy="686304"/>
            <a:chOff x="956926" y="4600871"/>
            <a:chExt cx="4514825" cy="686304"/>
          </a:xfrm>
        </p:grpSpPr>
        <p:sp>
          <p:nvSpPr>
            <p:cNvPr id="7"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151271" y="4640868"/>
              <a:ext cx="432048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4.3 </a:t>
              </a:r>
              <a:r>
                <a:rPr lang="zh-CN" altLang="en-US" sz="3600" b="1" dirty="0">
                  <a:latin typeface="Times New Roman" panose="02020603050405020304" pitchFamily="18" charset="0"/>
                  <a:ea typeface="黑体" panose="02010609060101010101" pitchFamily="49" charset="-122"/>
                </a:rPr>
                <a:t>正则表达式 </a:t>
              </a:r>
            </a:p>
          </p:txBody>
        </p:sp>
      </p:grpSp>
      <p:sp>
        <p:nvSpPr>
          <p:cNvPr id="10" name="文本框 9"/>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en-US" altLang="zh-CN" sz="2800" b="1" dirty="0" smtClean="0">
                <a:latin typeface="Times New Roman" panose="02020603050405020304" pitchFamily="18" charset="0"/>
                <a:ea typeface="仿宋" panose="02010609060101010101" pitchFamily="49" charset="-122"/>
              </a:rPr>
              <a:t>4.3.3 </a:t>
            </a:r>
            <a:r>
              <a:rPr lang="zh-CN" altLang="en-US" sz="2800" b="1" dirty="0" smtClean="0">
                <a:latin typeface="Times New Roman" panose="02020603050405020304" pitchFamily="18" charset="0"/>
                <a:ea typeface="仿宋" panose="02010609060101010101" pitchFamily="49" charset="-122"/>
              </a:rPr>
              <a:t> </a:t>
            </a:r>
            <a:r>
              <a:rPr lang="zh-CN" altLang="en-US" sz="2800" b="1" dirty="0">
                <a:latin typeface="Times New Roman" panose="02020603050405020304" pitchFamily="18" charset="0"/>
                <a:ea typeface="仿宋" panose="02010609060101010101" pitchFamily="49" charset="-122"/>
              </a:rPr>
              <a:t>子模式与</a:t>
            </a:r>
            <a:r>
              <a:rPr lang="en-US" altLang="zh-CN" sz="2800" b="1" dirty="0">
                <a:latin typeface="Times New Roman" panose="02020603050405020304" pitchFamily="18" charset="0"/>
                <a:ea typeface="仿宋" panose="02010609060101010101" pitchFamily="49" charset="-122"/>
              </a:rPr>
              <a:t>match</a:t>
            </a:r>
            <a:r>
              <a:rPr lang="zh-CN" altLang="en-US" sz="2800" b="1" dirty="0">
                <a:latin typeface="Times New Roman" panose="02020603050405020304" pitchFamily="18" charset="0"/>
                <a:ea typeface="仿宋" panose="02010609060101010101" pitchFamily="49" charset="-122"/>
              </a:rPr>
              <a:t>对象</a:t>
            </a:r>
            <a:endParaRPr lang="en-US" altLang="zh-CN" sz="2800" b="1" dirty="0">
              <a:ea typeface="仿宋" panose="02010609060101010101" pitchFamily="49" charset="-122"/>
            </a:endParaRPr>
          </a:p>
        </p:txBody>
      </p:sp>
      <p:sp>
        <p:nvSpPr>
          <p:cNvPr id="3" name="矩形 2"/>
          <p:cNvSpPr/>
          <p:nvPr/>
        </p:nvSpPr>
        <p:spPr>
          <a:xfrm>
            <a:off x="6156176" y="1916832"/>
            <a:ext cx="2619628" cy="369332"/>
          </a:xfrm>
          <a:prstGeom prst="rect">
            <a:avLst/>
          </a:prstGeom>
        </p:spPr>
        <p:txBody>
          <a:bodyPr wrap="none">
            <a:spAutoFit/>
          </a:bodyPr>
          <a:lstStyle/>
          <a:p>
            <a:pPr marL="0" indent="0">
              <a:buSzPct val="70000"/>
              <a:buNone/>
            </a:pPr>
            <a:r>
              <a:rPr lang="zh-CN" altLang="en-US" dirty="0">
                <a:solidFill>
                  <a:srgbClr val="0000FF"/>
                </a:solidFill>
                <a:latin typeface="Consolas" panose="020B0609020204030204" charset="0"/>
              </a:rPr>
              <a:t>#有连续相同字母的单词</a:t>
            </a: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7458">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745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7458">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7458">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7458">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7458">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7458">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7458">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7458">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7458">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7458">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7458">
                                            <p:txEl>
                                              <p:pRg st="11" end="1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47458">
                                            <p:txEl>
                                              <p:pRg st="12" end="12"/>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47458">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spcBef>
                <a:spcPts val="0"/>
              </a:spcBef>
              <a:buClr>
                <a:srgbClr val="FF0000"/>
              </a:buClr>
              <a:buFont typeface="Wingdings" panose="05000000000000000000" pitchFamily="2" charset="2"/>
              <a:buChar char="ü"/>
            </a:pPr>
            <a:r>
              <a:rPr lang="zh-CN" altLang="en-US" sz="2000" b="1" noProof="1">
                <a:latin typeface="Consolas" panose="020B0609020204030204" charset="0"/>
              </a:rPr>
              <a:t>例：使用正则表达式批量检查被嵌入iframe框架的网页文件名称。</a:t>
            </a:r>
          </a:p>
        </p:txBody>
      </p:sp>
      <p:sp>
        <p:nvSpPr>
          <p:cNvPr id="150531" name="灯片编号占位符 3"/>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99</a:t>
            </a:fld>
            <a:endParaRPr lang="zh-CN" altLang="en-US" sz="1050" dirty="0"/>
          </a:p>
        </p:txBody>
      </p:sp>
      <p:sp>
        <p:nvSpPr>
          <p:cNvPr id="11" name="文本框 10"/>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正则表达式的应用案例</a:t>
            </a:r>
            <a:endParaRPr lang="en-US" altLang="zh-CN" sz="2800" b="1" dirty="0">
              <a:ea typeface="仿宋" panose="02010609060101010101" pitchFamily="49" charset="-122"/>
            </a:endParaRPr>
          </a:p>
        </p:txBody>
      </p:sp>
      <p:grpSp>
        <p:nvGrpSpPr>
          <p:cNvPr id="13" name="组合 12"/>
          <p:cNvGrpSpPr/>
          <p:nvPr/>
        </p:nvGrpSpPr>
        <p:grpSpPr>
          <a:xfrm>
            <a:off x="495300" y="81495"/>
            <a:ext cx="6201650" cy="651944"/>
            <a:chOff x="541440" y="96425"/>
            <a:chExt cx="6201650" cy="651944"/>
          </a:xfrm>
        </p:grpSpPr>
        <p:sp>
          <p:nvSpPr>
            <p:cNvPr id="14" name="TextBox 6"/>
            <p:cNvSpPr txBox="1">
              <a:spLocks noChangeArrowheads="1"/>
            </p:cNvSpPr>
            <p:nvPr/>
          </p:nvSpPr>
          <p:spPr bwMode="auto">
            <a:xfrm>
              <a:off x="621813"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4.4 </a:t>
              </a:r>
              <a:r>
                <a:rPr lang="zh-CN" altLang="en-US" sz="3600" b="1" dirty="0">
                  <a:latin typeface="Times New Roman" panose="02020603050405020304" pitchFamily="18" charset="0"/>
                  <a:ea typeface="黑体" panose="02010609060101010101" pitchFamily="49" charset="-122"/>
                </a:rPr>
                <a:t>正则表达式的应用</a:t>
              </a:r>
            </a:p>
          </p:txBody>
        </p:sp>
        <p:grpSp>
          <p:nvGrpSpPr>
            <p:cNvPr id="15" name="组合 14"/>
            <p:cNvGrpSpPr/>
            <p:nvPr/>
          </p:nvGrpSpPr>
          <p:grpSpPr>
            <a:xfrm>
              <a:off x="541440" y="96425"/>
              <a:ext cx="792093" cy="651756"/>
              <a:chOff x="541440" y="96425"/>
              <a:chExt cx="792093" cy="651756"/>
            </a:xfrm>
          </p:grpSpPr>
          <p:sp>
            <p:nvSpPr>
              <p:cNvPr id="16" name="Freeform 5"/>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7" name="图片 16"/>
              <p:cNvPicPr>
                <a:picLocks noChangeAspect="1"/>
              </p:cNvPicPr>
              <p:nvPr/>
            </p:nvPicPr>
            <p:blipFill>
              <a:blip r:embed="rId2"/>
              <a:stretch>
                <a:fillRect/>
              </a:stretch>
            </p:blipFill>
            <p:spPr>
              <a:xfrm>
                <a:off x="734178" y="272894"/>
                <a:ext cx="404824" cy="335225"/>
              </a:xfrm>
              <a:prstGeom prst="rect">
                <a:avLst/>
              </a:prstGeom>
            </p:spPr>
          </p:pic>
        </p:grpSp>
      </p:grpSp>
      <p:sp>
        <p:nvSpPr>
          <p:cNvPr id="5" name="矩形 4"/>
          <p:cNvSpPr/>
          <p:nvPr/>
        </p:nvSpPr>
        <p:spPr>
          <a:xfrm>
            <a:off x="1403648" y="1844824"/>
            <a:ext cx="7542584" cy="4647426"/>
          </a:xfrm>
          <a:prstGeom prst="rect">
            <a:avLst/>
          </a:prstGeom>
        </p:spPr>
        <p:txBody>
          <a:bodyPr wrap="square">
            <a:spAutoFit/>
          </a:bodyPr>
          <a:lstStyle/>
          <a:p>
            <a:pPr marL="0" indent="0">
              <a:spcBef>
                <a:spcPts val="0"/>
              </a:spcBef>
              <a:buNone/>
            </a:pPr>
            <a:r>
              <a:rPr lang="zh-CN" altLang="en-US" sz="1600" noProof="1">
                <a:solidFill>
                  <a:srgbClr val="0000FF"/>
                </a:solidFill>
                <a:latin typeface="Consolas" panose="020B0609020204030204" charset="0"/>
              </a:rPr>
              <a:t>import</a:t>
            </a:r>
            <a:r>
              <a:rPr lang="zh-CN" altLang="en-US" sz="1600" noProof="1">
                <a:latin typeface="Consolas" panose="020B0609020204030204" charset="0"/>
              </a:rPr>
              <a:t> os</a:t>
            </a:r>
          </a:p>
          <a:p>
            <a:pPr marL="0" indent="0">
              <a:spcBef>
                <a:spcPts val="0"/>
              </a:spcBef>
              <a:buNone/>
            </a:pPr>
            <a:r>
              <a:rPr lang="zh-CN" altLang="en-US" sz="1600" noProof="1">
                <a:solidFill>
                  <a:srgbClr val="0000FF"/>
                </a:solidFill>
                <a:latin typeface="Consolas" panose="020B0609020204030204" charset="0"/>
              </a:rPr>
              <a:t>import</a:t>
            </a:r>
            <a:r>
              <a:rPr lang="zh-CN" altLang="en-US" sz="1600" noProof="1">
                <a:latin typeface="Consolas" panose="020B0609020204030204" charset="0"/>
              </a:rPr>
              <a:t> re</a:t>
            </a:r>
          </a:p>
          <a:p>
            <a:pPr marL="0" indent="0">
              <a:spcBef>
                <a:spcPts val="0"/>
              </a:spcBef>
              <a:buNone/>
            </a:pPr>
            <a:endParaRPr lang="zh-CN" altLang="en-US" sz="1600" noProof="1">
              <a:latin typeface="Consolas" panose="020B0609020204030204" charset="0"/>
            </a:endParaRPr>
          </a:p>
          <a:p>
            <a:pPr marL="0" indent="0">
              <a:spcBef>
                <a:spcPts val="0"/>
              </a:spcBef>
              <a:buNone/>
            </a:pPr>
            <a:r>
              <a:rPr lang="zh-CN" altLang="en-US" sz="1600" noProof="1">
                <a:solidFill>
                  <a:srgbClr val="0000FF"/>
                </a:solidFill>
                <a:latin typeface="Consolas" panose="020B0609020204030204" charset="0"/>
              </a:rPr>
              <a:t>def</a:t>
            </a:r>
            <a:r>
              <a:rPr lang="zh-CN" altLang="en-US" sz="1600" noProof="1">
                <a:latin typeface="Consolas" panose="020B0609020204030204" charset="0"/>
              </a:rPr>
              <a:t> detectIframe(fn):</a:t>
            </a:r>
          </a:p>
          <a:p>
            <a:pPr marL="0" indent="0">
              <a:spcBef>
                <a:spcPts val="0"/>
              </a:spcBef>
              <a:buNone/>
            </a:pPr>
            <a:r>
              <a:rPr lang="zh-CN" altLang="en-US" sz="1600" noProof="1">
                <a:latin typeface="Consolas" panose="020B0609020204030204" charset="0"/>
              </a:rPr>
              <a:t>    #存放网页文件内容的列表</a:t>
            </a:r>
          </a:p>
          <a:p>
            <a:pPr marL="0" indent="0">
              <a:spcBef>
                <a:spcPts val="0"/>
              </a:spcBef>
              <a:buNone/>
            </a:pPr>
            <a:r>
              <a:rPr lang="zh-CN" altLang="en-US" sz="1600" noProof="1">
                <a:latin typeface="Consolas" panose="020B0609020204030204" charset="0"/>
              </a:rPr>
              <a:t>    content = []</a:t>
            </a:r>
          </a:p>
          <a:p>
            <a:pPr marL="0" indent="0">
              <a:spcBef>
                <a:spcPts val="0"/>
              </a:spcBef>
              <a:buNone/>
            </a:pPr>
            <a:r>
              <a:rPr lang="zh-CN" altLang="en-US" sz="1600" noProof="1">
                <a:latin typeface="Consolas" panose="020B0609020204030204" charset="0"/>
              </a:rPr>
              <a:t>    </a:t>
            </a:r>
            <a:r>
              <a:rPr lang="zh-CN" altLang="en-US" sz="1600" noProof="1">
                <a:solidFill>
                  <a:srgbClr val="0000FF"/>
                </a:solidFill>
                <a:latin typeface="Consolas" panose="020B0609020204030204" charset="0"/>
              </a:rPr>
              <a:t>with</a:t>
            </a:r>
            <a:r>
              <a:rPr lang="zh-CN" altLang="en-US" sz="1600" noProof="1">
                <a:latin typeface="Consolas" panose="020B0609020204030204" charset="0"/>
              </a:rPr>
              <a:t> </a:t>
            </a:r>
            <a:r>
              <a:rPr lang="zh-CN" altLang="en-US" sz="1600" noProof="1">
                <a:solidFill>
                  <a:srgbClr val="0000FF"/>
                </a:solidFill>
                <a:latin typeface="Consolas" panose="020B0609020204030204" charset="0"/>
              </a:rPr>
              <a:t>open</a:t>
            </a:r>
            <a:r>
              <a:rPr lang="zh-CN" altLang="en-US" sz="1600" noProof="1">
                <a:latin typeface="Consolas" panose="020B0609020204030204" charset="0"/>
              </a:rPr>
              <a:t>(fn, encoding='utf8') </a:t>
            </a:r>
            <a:r>
              <a:rPr lang="zh-CN" altLang="en-US" sz="1600" noProof="1">
                <a:solidFill>
                  <a:srgbClr val="0000FF"/>
                </a:solidFill>
                <a:latin typeface="Consolas" panose="020B0609020204030204" charset="0"/>
              </a:rPr>
              <a:t>as</a:t>
            </a:r>
            <a:r>
              <a:rPr lang="zh-CN" altLang="en-US" sz="1600" noProof="1">
                <a:latin typeface="Consolas" panose="020B0609020204030204" charset="0"/>
              </a:rPr>
              <a:t> fp:</a:t>
            </a:r>
          </a:p>
          <a:p>
            <a:pPr marL="0" indent="0">
              <a:spcBef>
                <a:spcPts val="0"/>
              </a:spcBef>
              <a:buNone/>
            </a:pPr>
            <a:r>
              <a:rPr lang="zh-CN" altLang="en-US" sz="1600" noProof="1">
                <a:latin typeface="Consolas" panose="020B0609020204030204" charset="0"/>
              </a:rPr>
              <a:t>        #读取文件所有行，删除两侧的空白字符，然后添加到列表中</a:t>
            </a:r>
          </a:p>
          <a:p>
            <a:pPr marL="0" indent="0">
              <a:spcBef>
                <a:spcPts val="0"/>
              </a:spcBef>
              <a:buNone/>
            </a:pPr>
            <a:r>
              <a:rPr lang="zh-CN" altLang="en-US" sz="1600" noProof="1">
                <a:latin typeface="Consolas" panose="020B0609020204030204" charset="0"/>
              </a:rPr>
              <a:t>        </a:t>
            </a:r>
            <a:r>
              <a:rPr lang="zh-CN" altLang="en-US" sz="1600" noProof="1">
                <a:solidFill>
                  <a:srgbClr val="0000FF"/>
                </a:solidFill>
                <a:latin typeface="Consolas" panose="020B0609020204030204" charset="0"/>
              </a:rPr>
              <a:t>for</a:t>
            </a:r>
            <a:r>
              <a:rPr lang="zh-CN" altLang="en-US" sz="1600" noProof="1">
                <a:latin typeface="Consolas" panose="020B0609020204030204" charset="0"/>
              </a:rPr>
              <a:t> line </a:t>
            </a:r>
            <a:r>
              <a:rPr lang="zh-CN" altLang="en-US" sz="1600" noProof="1">
                <a:solidFill>
                  <a:srgbClr val="0000FF"/>
                </a:solidFill>
                <a:latin typeface="Consolas" panose="020B0609020204030204" charset="0"/>
              </a:rPr>
              <a:t>in</a:t>
            </a:r>
            <a:r>
              <a:rPr lang="zh-CN" altLang="en-US" sz="1600" noProof="1">
                <a:latin typeface="Consolas" panose="020B0609020204030204" charset="0"/>
              </a:rPr>
              <a:t> fp:</a:t>
            </a:r>
          </a:p>
          <a:p>
            <a:pPr marL="0" indent="0">
              <a:spcBef>
                <a:spcPts val="0"/>
              </a:spcBef>
              <a:buNone/>
            </a:pPr>
            <a:r>
              <a:rPr lang="zh-CN" altLang="en-US" sz="1600" noProof="1">
                <a:latin typeface="Consolas" panose="020B0609020204030204" charset="0"/>
              </a:rPr>
              <a:t>            content.append(line.strip())</a:t>
            </a:r>
          </a:p>
          <a:p>
            <a:pPr marL="0" indent="0">
              <a:spcBef>
                <a:spcPts val="0"/>
              </a:spcBef>
              <a:buNone/>
            </a:pPr>
            <a:r>
              <a:rPr lang="zh-CN" altLang="en-US" sz="1600" noProof="1">
                <a:latin typeface="Consolas" panose="020B0609020204030204" charset="0"/>
              </a:rPr>
              <a:t>    #把所有内容连接成字符串</a:t>
            </a:r>
          </a:p>
          <a:p>
            <a:pPr marL="0" indent="0">
              <a:spcBef>
                <a:spcPts val="0"/>
              </a:spcBef>
              <a:buNone/>
            </a:pPr>
            <a:r>
              <a:rPr lang="zh-CN" altLang="en-US" sz="1600" noProof="1">
                <a:latin typeface="Consolas" panose="020B0609020204030204" charset="0"/>
              </a:rPr>
              <a:t>    content = ' '.join(content)</a:t>
            </a:r>
          </a:p>
          <a:p>
            <a:pPr marL="0" indent="0">
              <a:spcBef>
                <a:spcPts val="0"/>
              </a:spcBef>
              <a:buNone/>
            </a:pPr>
            <a:r>
              <a:rPr lang="zh-CN" altLang="en-US" sz="1600" noProof="1">
                <a:latin typeface="Consolas" panose="020B0609020204030204" charset="0"/>
              </a:rPr>
              <a:t>    #正则表达式</a:t>
            </a:r>
          </a:p>
          <a:p>
            <a:pPr marL="0" indent="0">
              <a:spcBef>
                <a:spcPts val="0"/>
              </a:spcBef>
              <a:buNone/>
            </a:pPr>
            <a:r>
              <a:rPr lang="zh-CN" altLang="en-US" sz="1600" noProof="1">
                <a:latin typeface="Consolas" panose="020B0609020204030204" charset="0"/>
              </a:rPr>
              <a:t>    m = re.findall(r'&lt;iframe\s+src=.*?&gt;&lt;/iframe&gt;', content)</a:t>
            </a:r>
          </a:p>
          <a:p>
            <a:pPr marL="0" indent="0">
              <a:spcBef>
                <a:spcPts val="0"/>
              </a:spcBef>
              <a:buNone/>
            </a:pPr>
            <a:r>
              <a:rPr lang="zh-CN" altLang="en-US" sz="1600" noProof="1">
                <a:latin typeface="Consolas" panose="020B0609020204030204" charset="0"/>
              </a:rPr>
              <a:t>    </a:t>
            </a:r>
            <a:r>
              <a:rPr lang="zh-CN" altLang="en-US" sz="1600" noProof="1">
                <a:solidFill>
                  <a:srgbClr val="0000FF"/>
                </a:solidFill>
                <a:latin typeface="Consolas" panose="020B0609020204030204" charset="0"/>
              </a:rPr>
              <a:t>if</a:t>
            </a:r>
            <a:r>
              <a:rPr lang="zh-CN" altLang="en-US" sz="1600" noProof="1">
                <a:latin typeface="Consolas" panose="020B0609020204030204" charset="0"/>
              </a:rPr>
              <a:t> m:</a:t>
            </a:r>
          </a:p>
          <a:p>
            <a:pPr marL="0" indent="0">
              <a:spcBef>
                <a:spcPts val="0"/>
              </a:spcBef>
              <a:buNone/>
            </a:pPr>
            <a:r>
              <a:rPr lang="zh-CN" altLang="en-US" sz="1600" noProof="1">
                <a:latin typeface="Consolas" panose="020B0609020204030204" charset="0"/>
              </a:rPr>
              <a:t>        #返回文件名和被嵌入的框架</a:t>
            </a:r>
          </a:p>
          <a:p>
            <a:pPr marL="0" indent="0">
              <a:spcBef>
                <a:spcPts val="0"/>
              </a:spcBef>
              <a:buNone/>
            </a:pPr>
            <a:r>
              <a:rPr lang="zh-CN" altLang="en-US" sz="1600" noProof="1">
                <a:latin typeface="Consolas" panose="020B0609020204030204" charset="0"/>
              </a:rPr>
              <a:t>        </a:t>
            </a:r>
            <a:r>
              <a:rPr lang="zh-CN" altLang="en-US" sz="1600" noProof="1">
                <a:solidFill>
                  <a:srgbClr val="0000FF"/>
                </a:solidFill>
                <a:latin typeface="Consolas" panose="020B0609020204030204" charset="0"/>
              </a:rPr>
              <a:t>return</a:t>
            </a:r>
            <a:r>
              <a:rPr lang="zh-CN" altLang="en-US" sz="1600" noProof="1">
                <a:latin typeface="Consolas" panose="020B0609020204030204" charset="0"/>
              </a:rPr>
              <a:t> {fn:m}</a:t>
            </a:r>
          </a:p>
          <a:p>
            <a:pPr marL="0" indent="0">
              <a:spcBef>
                <a:spcPts val="0"/>
              </a:spcBef>
              <a:buNone/>
            </a:pPr>
            <a:r>
              <a:rPr lang="zh-CN" altLang="en-US" sz="1600" noProof="1">
                <a:latin typeface="Consolas" panose="020B0609020204030204" charset="0"/>
              </a:rPr>
              <a:t>    </a:t>
            </a:r>
            <a:r>
              <a:rPr lang="zh-CN" altLang="en-US" sz="1600" noProof="1">
                <a:solidFill>
                  <a:srgbClr val="0000FF"/>
                </a:solidFill>
                <a:latin typeface="Consolas" panose="020B0609020204030204" charset="0"/>
              </a:rPr>
              <a:t>return</a:t>
            </a:r>
            <a:r>
              <a:rPr lang="zh-CN" altLang="en-US" sz="1600" noProof="1">
                <a:latin typeface="Consolas" panose="020B0609020204030204" charset="0"/>
              </a:rPr>
              <a:t> False</a:t>
            </a:r>
          </a:p>
        </p:txBody>
      </p:sp>
      <p:pic>
        <p:nvPicPr>
          <p:cNvPr id="6" name="图片 5"/>
          <p:cNvPicPr>
            <a:picLocks noChangeAspect="1"/>
          </p:cNvPicPr>
          <p:nvPr/>
        </p:nvPicPr>
        <p:blipFill>
          <a:blip r:embed="rId3"/>
          <a:stretch>
            <a:fillRect/>
          </a:stretch>
        </p:blipFill>
        <p:spPr>
          <a:xfrm>
            <a:off x="5246683" y="1938064"/>
            <a:ext cx="3296845" cy="1202903"/>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10" end="1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xEl>
                                              <p:pRg st="11" end="1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
                                            <p:txEl>
                                              <p:pRg st="12" end="1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
                                            <p:txEl>
                                              <p:pRg st="13" end="1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
                                            <p:txEl>
                                              <p:pRg st="14" end="14"/>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
                                            <p:txEl>
                                              <p:pRg st="15" end="15"/>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
                                            <p:txEl>
                                              <p:pRg st="16" end="16"/>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内容占位符 2"/>
          <p:cNvSpPr>
            <a:spLocks noGrp="1"/>
          </p:cNvSpPr>
          <p:nvPr>
            <p:ph idx="1"/>
          </p:nvPr>
        </p:nvSpPr>
        <p:spPr>
          <a:xfrm>
            <a:off x="687691" y="1454180"/>
            <a:ext cx="8229600" cy="4678451"/>
          </a:xfrm>
        </p:spPr>
        <p:txBody>
          <a:bodyPr anchor="t"/>
          <a:lstStyle/>
          <a:p>
            <a:pPr marL="0" indent="0">
              <a:buNone/>
            </a:pPr>
            <a:r>
              <a:rPr lang="zh-CN" altLang="en-US" sz="2000" b="1" dirty="0">
                <a:latin typeface="Consolas" panose="020B0609020204030204" charset="0"/>
              </a:rPr>
              <a:t>#遍历当前文件夹中所有html和htm文件并检查是否被嵌入框架</a:t>
            </a:r>
          </a:p>
          <a:p>
            <a:pPr marL="0" indent="0">
              <a:buNone/>
            </a:pPr>
            <a:r>
              <a:rPr lang="zh-CN" altLang="en-US" sz="1600" dirty="0">
                <a:solidFill>
                  <a:srgbClr val="0000FF"/>
                </a:solidFill>
                <a:latin typeface="Consolas" panose="020B0609020204030204" charset="0"/>
              </a:rPr>
              <a:t>for</a:t>
            </a:r>
            <a:r>
              <a:rPr lang="zh-CN" altLang="en-US" sz="1600" dirty="0">
                <a:latin typeface="Consolas" panose="020B0609020204030204" charset="0"/>
              </a:rPr>
              <a:t> fn </a:t>
            </a:r>
            <a:r>
              <a:rPr lang="zh-CN" altLang="en-US" sz="1600" dirty="0">
                <a:solidFill>
                  <a:srgbClr val="0000FF"/>
                </a:solidFill>
                <a:latin typeface="Consolas" panose="020B0609020204030204" charset="0"/>
              </a:rPr>
              <a:t>in</a:t>
            </a:r>
            <a:r>
              <a:rPr lang="zh-CN" altLang="en-US" sz="1600" dirty="0">
                <a:latin typeface="Consolas" panose="020B0609020204030204" charset="0"/>
              </a:rPr>
              <a:t> (f </a:t>
            </a:r>
            <a:r>
              <a:rPr lang="zh-CN" altLang="en-US" sz="1600" dirty="0">
                <a:solidFill>
                  <a:srgbClr val="0000FF"/>
                </a:solidFill>
                <a:latin typeface="Consolas" panose="020B0609020204030204" charset="0"/>
              </a:rPr>
              <a:t>for</a:t>
            </a:r>
            <a:r>
              <a:rPr lang="zh-CN" altLang="en-US" sz="1600" dirty="0">
                <a:latin typeface="Consolas" panose="020B0609020204030204" charset="0"/>
              </a:rPr>
              <a:t> f </a:t>
            </a:r>
            <a:r>
              <a:rPr lang="zh-CN" altLang="en-US" sz="1600" dirty="0">
                <a:solidFill>
                  <a:srgbClr val="0000FF"/>
                </a:solidFill>
                <a:latin typeface="Consolas" panose="020B0609020204030204" charset="0"/>
              </a:rPr>
              <a:t>in</a:t>
            </a:r>
            <a:r>
              <a:rPr lang="zh-CN" altLang="en-US" sz="1600" dirty="0">
                <a:latin typeface="Consolas" panose="020B0609020204030204" charset="0"/>
              </a:rPr>
              <a:t> os.listdir('.') </a:t>
            </a:r>
            <a:r>
              <a:rPr lang="zh-CN" altLang="en-US" sz="1600" dirty="0">
                <a:solidFill>
                  <a:srgbClr val="0000FF"/>
                </a:solidFill>
                <a:latin typeface="Consolas" panose="020B0609020204030204" charset="0"/>
              </a:rPr>
              <a:t>if</a:t>
            </a:r>
            <a:r>
              <a:rPr lang="zh-CN" altLang="en-US" sz="1600" dirty="0">
                <a:latin typeface="Consolas" panose="020B0609020204030204" charset="0"/>
              </a:rPr>
              <a:t> f.endswith(('.html','.htm'))):</a:t>
            </a:r>
          </a:p>
          <a:p>
            <a:pPr marL="0" indent="0">
              <a:buNone/>
            </a:pPr>
            <a:r>
              <a:rPr lang="zh-CN" altLang="en-US" sz="1600" dirty="0">
                <a:latin typeface="Consolas" panose="020B0609020204030204" charset="0"/>
              </a:rPr>
              <a:t>    r = detectIframe(fn)</a:t>
            </a:r>
          </a:p>
          <a:p>
            <a:pPr marL="0" indent="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if</a:t>
            </a:r>
            <a:r>
              <a:rPr lang="zh-CN" altLang="en-US" sz="1600" dirty="0">
                <a:latin typeface="Consolas" panose="020B0609020204030204" charset="0"/>
              </a:rPr>
              <a:t> </a:t>
            </a:r>
            <a:r>
              <a:rPr lang="zh-CN" altLang="en-US" sz="1600" dirty="0">
                <a:solidFill>
                  <a:srgbClr val="0000FF"/>
                </a:solidFill>
                <a:latin typeface="Consolas" panose="020B0609020204030204" charset="0"/>
              </a:rPr>
              <a:t>not</a:t>
            </a:r>
            <a:r>
              <a:rPr lang="zh-CN" altLang="en-US" sz="1600" dirty="0">
                <a:latin typeface="Consolas" panose="020B0609020204030204" charset="0"/>
              </a:rPr>
              <a:t> r:</a:t>
            </a:r>
          </a:p>
          <a:p>
            <a:pPr marL="0" indent="0">
              <a:buNone/>
            </a:pPr>
            <a:r>
              <a:rPr lang="zh-CN" altLang="en-US" sz="1600" dirty="0">
                <a:latin typeface="Consolas" panose="020B0609020204030204" charset="0"/>
              </a:rPr>
              <a:t>        continue</a:t>
            </a:r>
          </a:p>
          <a:p>
            <a:pPr marL="0" indent="0">
              <a:buNone/>
            </a:pPr>
            <a:r>
              <a:rPr lang="zh-CN" altLang="en-US" sz="1600" dirty="0">
                <a:latin typeface="Consolas" panose="020B0609020204030204" charset="0"/>
              </a:rPr>
              <a:t>    #输出检查结果</a:t>
            </a:r>
          </a:p>
          <a:p>
            <a:pPr marL="0" indent="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for</a:t>
            </a:r>
            <a:r>
              <a:rPr lang="zh-CN" altLang="en-US" sz="1600" dirty="0">
                <a:latin typeface="Consolas" panose="020B0609020204030204" charset="0"/>
              </a:rPr>
              <a:t> k, v </a:t>
            </a:r>
            <a:r>
              <a:rPr lang="zh-CN" altLang="en-US" sz="1600" dirty="0">
                <a:solidFill>
                  <a:srgbClr val="0000FF"/>
                </a:solidFill>
                <a:latin typeface="Consolas" panose="020B0609020204030204" charset="0"/>
              </a:rPr>
              <a:t>in</a:t>
            </a:r>
            <a:r>
              <a:rPr lang="zh-CN" altLang="en-US" sz="1600" dirty="0">
                <a:latin typeface="Consolas" panose="020B0609020204030204" charset="0"/>
              </a:rPr>
              <a:t> r.items():</a:t>
            </a:r>
          </a:p>
          <a:p>
            <a:pPr marL="0" indent="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print</a:t>
            </a:r>
            <a:r>
              <a:rPr lang="zh-CN" altLang="en-US" sz="1600" dirty="0">
                <a:latin typeface="Consolas" panose="020B0609020204030204" charset="0"/>
              </a:rPr>
              <a:t>(k)</a:t>
            </a:r>
          </a:p>
          <a:p>
            <a:pPr marL="0" indent="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for</a:t>
            </a:r>
            <a:r>
              <a:rPr lang="zh-CN" altLang="en-US" sz="1600" dirty="0">
                <a:latin typeface="Consolas" panose="020B0609020204030204" charset="0"/>
              </a:rPr>
              <a:t> vv </a:t>
            </a:r>
            <a:r>
              <a:rPr lang="zh-CN" altLang="en-US" sz="1600" dirty="0">
                <a:solidFill>
                  <a:srgbClr val="0000FF"/>
                </a:solidFill>
                <a:latin typeface="Consolas" panose="020B0609020204030204" charset="0"/>
              </a:rPr>
              <a:t>in</a:t>
            </a:r>
            <a:r>
              <a:rPr lang="zh-CN" altLang="en-US" sz="1600" dirty="0">
                <a:latin typeface="Consolas" panose="020B0609020204030204" charset="0"/>
              </a:rPr>
              <a:t> v:</a:t>
            </a:r>
          </a:p>
          <a:p>
            <a:pPr marL="0" indent="0">
              <a:buNone/>
            </a:pPr>
            <a:r>
              <a:rPr lang="zh-CN" altLang="en-US" sz="1600" dirty="0">
                <a:latin typeface="Consolas" panose="020B0609020204030204" charset="0"/>
              </a:rPr>
              <a:t>            </a:t>
            </a:r>
            <a:r>
              <a:rPr lang="zh-CN" altLang="en-US" sz="1600" dirty="0">
                <a:solidFill>
                  <a:srgbClr val="0000FF"/>
                </a:solidFill>
                <a:latin typeface="Consolas" panose="020B0609020204030204" charset="0"/>
              </a:rPr>
              <a:t>print</a:t>
            </a:r>
            <a:r>
              <a:rPr lang="zh-CN" altLang="en-US" sz="1600" dirty="0">
                <a:latin typeface="Consolas" panose="020B0609020204030204" charset="0"/>
              </a:rPr>
              <a:t>('\t', vv)</a:t>
            </a:r>
          </a:p>
        </p:txBody>
      </p:sp>
      <p:sp>
        <p:nvSpPr>
          <p:cNvPr id="151555" name="灯片编号占位符 3"/>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100</a:t>
            </a:fld>
            <a:endParaRPr lang="zh-CN" altLang="en-US" sz="1050" dirty="0"/>
          </a:p>
        </p:txBody>
      </p:sp>
      <p:sp>
        <p:nvSpPr>
          <p:cNvPr id="12" name="文本框 11"/>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正则表达式的应用案例</a:t>
            </a:r>
            <a:endParaRPr lang="en-US" altLang="zh-CN" sz="2800" b="1" dirty="0">
              <a:ea typeface="仿宋" panose="02010609060101010101" pitchFamily="49" charset="-122"/>
            </a:endParaRPr>
          </a:p>
        </p:txBody>
      </p:sp>
      <p:grpSp>
        <p:nvGrpSpPr>
          <p:cNvPr id="13" name="组合 12"/>
          <p:cNvGrpSpPr/>
          <p:nvPr/>
        </p:nvGrpSpPr>
        <p:grpSpPr>
          <a:xfrm>
            <a:off x="495300" y="81495"/>
            <a:ext cx="6201650" cy="651944"/>
            <a:chOff x="541440" y="96425"/>
            <a:chExt cx="6201650" cy="651944"/>
          </a:xfrm>
        </p:grpSpPr>
        <p:sp>
          <p:nvSpPr>
            <p:cNvPr id="14" name="TextBox 6"/>
            <p:cNvSpPr txBox="1">
              <a:spLocks noChangeArrowheads="1"/>
            </p:cNvSpPr>
            <p:nvPr/>
          </p:nvSpPr>
          <p:spPr bwMode="auto">
            <a:xfrm>
              <a:off x="621813"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4.4 </a:t>
              </a:r>
              <a:r>
                <a:rPr lang="zh-CN" altLang="en-US" sz="3600" b="1" dirty="0">
                  <a:latin typeface="Times New Roman" panose="02020603050405020304" pitchFamily="18" charset="0"/>
                  <a:ea typeface="黑体" panose="02010609060101010101" pitchFamily="49" charset="-122"/>
                </a:rPr>
                <a:t>正则表达式的应用</a:t>
              </a:r>
            </a:p>
          </p:txBody>
        </p:sp>
        <p:grpSp>
          <p:nvGrpSpPr>
            <p:cNvPr id="15" name="组合 14"/>
            <p:cNvGrpSpPr/>
            <p:nvPr/>
          </p:nvGrpSpPr>
          <p:grpSpPr>
            <a:xfrm>
              <a:off x="541440" y="96425"/>
              <a:ext cx="792093" cy="651756"/>
              <a:chOff x="541440" y="96425"/>
              <a:chExt cx="792093" cy="651756"/>
            </a:xfrm>
          </p:grpSpPr>
          <p:sp>
            <p:nvSpPr>
              <p:cNvPr id="16" name="Freeform 5"/>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7" name="图片 16"/>
              <p:cNvPicPr>
                <a:picLocks noChangeAspect="1"/>
              </p:cNvPicPr>
              <p:nvPr/>
            </p:nvPicPr>
            <p:blipFill>
              <a:blip r:embed="rId2"/>
              <a:stretch>
                <a:fillRect/>
              </a:stretch>
            </p:blipFill>
            <p:spPr>
              <a:xfrm>
                <a:off x="734178" y="272894"/>
                <a:ext cx="404824" cy="335225"/>
              </a:xfrm>
              <a:prstGeom prst="rect">
                <a:avLst/>
              </a:prstGeom>
            </p:spPr>
          </p:pic>
        </p:gr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155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155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155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155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155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155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155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155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155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155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4" grpId="0" build="p"/>
      <p:bldP spid="12"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Content Placeholder 2"/>
          <p:cNvSpPr>
            <a:spLocks noGrp="1"/>
          </p:cNvSpPr>
          <p:nvPr>
            <p:ph idx="1"/>
          </p:nvPr>
        </p:nvSpPr>
        <p:spPr>
          <a:xfrm>
            <a:off x="457200" y="1414845"/>
            <a:ext cx="8363272" cy="1294075"/>
          </a:xfrm>
        </p:spPr>
        <p:txBody>
          <a:bodyPr anchor="t"/>
          <a:lstStyle/>
          <a:p>
            <a:pPr>
              <a:spcBef>
                <a:spcPct val="0"/>
              </a:spcBef>
              <a:buClr>
                <a:srgbClr val="FF0000"/>
              </a:buClr>
              <a:buFont typeface="Wingdings" panose="05000000000000000000" pitchFamily="2" charset="2"/>
              <a:buChar char="n"/>
            </a:pPr>
            <a:r>
              <a:rPr lang="zh-CN" altLang="en-US" sz="2000" b="1" dirty="0"/>
              <a:t>查找字符串中每个字符的首次出现：</a:t>
            </a:r>
            <a:r>
              <a:rPr lang="zh-CN" altLang="en-US" sz="2000" dirty="0"/>
              <a:t>给定一个任意字符串，要求得到一个新字符串，重复字符只保留一个，并且新字符串中的字符保持在原字符串中首次出现的先后顺序。</a:t>
            </a:r>
            <a:endParaRPr lang="en-US" altLang="zh-CN" sz="2000" dirty="0"/>
          </a:p>
          <a:p>
            <a:pPr>
              <a:spcBef>
                <a:spcPct val="0"/>
              </a:spcBef>
              <a:buClr>
                <a:srgbClr val="FF0000"/>
              </a:buClr>
              <a:buFont typeface="Wingdings" panose="05000000000000000000" pitchFamily="2" charset="2"/>
              <a:buChar char="ü"/>
            </a:pPr>
            <a:r>
              <a:rPr lang="zh-CN" altLang="en-US" sz="2000" dirty="0"/>
              <a:t>例如，abcdaaabe处理后应得到abcde。</a:t>
            </a:r>
          </a:p>
        </p:txBody>
      </p:sp>
      <p:sp>
        <p:nvSpPr>
          <p:cNvPr id="152579" name="Slide Number Placeholder 3"/>
          <p:cNvSpPr>
            <a:spLocks noGrp="1"/>
          </p:cNvSpPr>
          <p:nvPr>
            <p:ph type="sldNum" sz="quarter" idx="4294967295"/>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a:fld id="{9A0DB2DC-4C9A-4742-B13C-FB6460FD3503}" type="slidenum">
              <a:rPr lang="zh-CN" altLang="en-US" sz="1050" dirty="0"/>
              <a:t>101</a:t>
            </a:fld>
            <a:endParaRPr lang="zh-CN" altLang="en-US" sz="1050" dirty="0"/>
          </a:p>
        </p:txBody>
      </p:sp>
      <p:sp>
        <p:nvSpPr>
          <p:cNvPr id="9" name="文本框 8"/>
          <p:cNvSpPr txBox="1"/>
          <p:nvPr/>
        </p:nvSpPr>
        <p:spPr>
          <a:xfrm>
            <a:off x="323528" y="908720"/>
            <a:ext cx="5652628"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800" b="1" dirty="0" smtClean="0">
                <a:latin typeface="Times New Roman" panose="02020603050405020304" pitchFamily="18" charset="0"/>
                <a:ea typeface="仿宋" panose="02010609060101010101" pitchFamily="49" charset="-122"/>
              </a:rPr>
              <a:t>正则表达式</a:t>
            </a:r>
            <a:r>
              <a:rPr lang="zh-CN" altLang="en-US" sz="2800" b="1" dirty="0">
                <a:latin typeface="Times New Roman" panose="02020603050405020304" pitchFamily="18" charset="0"/>
                <a:ea typeface="仿宋" panose="02010609060101010101" pitchFamily="49" charset="-122"/>
              </a:rPr>
              <a:t>的应用案例</a:t>
            </a:r>
            <a:endParaRPr lang="en-US" altLang="zh-CN" sz="2800" b="1" dirty="0">
              <a:ea typeface="仿宋" panose="02010609060101010101" pitchFamily="49" charset="-122"/>
            </a:endParaRPr>
          </a:p>
        </p:txBody>
      </p:sp>
      <p:sp>
        <p:nvSpPr>
          <p:cNvPr id="11" name="Content Placeholder 2"/>
          <p:cNvSpPr txBox="1"/>
          <p:nvPr/>
        </p:nvSpPr>
        <p:spPr bwMode="auto">
          <a:xfrm>
            <a:off x="1619672" y="2708920"/>
            <a:ext cx="822960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ct val="0"/>
              </a:spcBef>
              <a:buFont typeface="Arial" panose="020B0604020202020204" pitchFamily="34" charset="0"/>
              <a:buNone/>
            </a:pPr>
            <a:r>
              <a:rPr lang="en-US" altLang="zh-CN" sz="1050" b="1" dirty="0">
                <a:solidFill>
                  <a:srgbClr val="0000FF"/>
                </a:solidFill>
                <a:latin typeface="Consolas" panose="020B0609020204030204" charset="0"/>
              </a:rPr>
              <a:t>from</a:t>
            </a:r>
            <a:r>
              <a:rPr lang="en-US" altLang="zh-CN" sz="1050" b="1" dirty="0">
                <a:latin typeface="Consolas" panose="020B0609020204030204" charset="0"/>
              </a:rPr>
              <a:t> re </a:t>
            </a:r>
            <a:r>
              <a:rPr lang="en-US" altLang="zh-CN" sz="1050" b="1" dirty="0">
                <a:solidFill>
                  <a:srgbClr val="0000FF"/>
                </a:solidFill>
                <a:latin typeface="Consolas" panose="020B0609020204030204" charset="0"/>
              </a:rPr>
              <a:t>import</a:t>
            </a:r>
            <a:r>
              <a:rPr lang="en-US" altLang="zh-CN" sz="1050" b="1" dirty="0">
                <a:latin typeface="Consolas" panose="020B0609020204030204" charset="0"/>
              </a:rPr>
              <a:t> </a:t>
            </a:r>
            <a:r>
              <a:rPr lang="en-US" altLang="zh-CN" sz="1050" b="1" dirty="0" err="1">
                <a:latin typeface="Consolas" panose="020B0609020204030204" charset="0"/>
              </a:rPr>
              <a:t>findall</a:t>
            </a:r>
            <a:endParaRPr lang="en-US" altLang="zh-CN" sz="1050" b="1" dirty="0">
              <a:latin typeface="Consolas" panose="020B0609020204030204" charset="0"/>
            </a:endParaRPr>
          </a:p>
          <a:p>
            <a:pPr marL="0" indent="0">
              <a:spcBef>
                <a:spcPct val="0"/>
              </a:spcBef>
              <a:buFont typeface="Arial" panose="020B0604020202020204" pitchFamily="34" charset="0"/>
              <a:buNone/>
            </a:pPr>
            <a:r>
              <a:rPr lang="en-US" altLang="zh-CN" sz="1050" b="1" dirty="0">
                <a:solidFill>
                  <a:srgbClr val="0000FF"/>
                </a:solidFill>
                <a:latin typeface="Consolas" panose="020B0609020204030204" charset="0"/>
              </a:rPr>
              <a:t>from</a:t>
            </a:r>
            <a:r>
              <a:rPr lang="en-US" altLang="zh-CN" sz="1050" b="1" dirty="0">
                <a:latin typeface="Consolas" panose="020B0609020204030204" charset="0"/>
              </a:rPr>
              <a:t> random </a:t>
            </a:r>
            <a:r>
              <a:rPr lang="en-US" altLang="zh-CN" sz="1050" b="1" dirty="0">
                <a:solidFill>
                  <a:srgbClr val="0000FF"/>
                </a:solidFill>
                <a:latin typeface="Consolas" panose="020B0609020204030204" charset="0"/>
              </a:rPr>
              <a:t>import</a:t>
            </a:r>
            <a:r>
              <a:rPr lang="en-US" altLang="zh-CN" sz="1050" b="1" dirty="0">
                <a:latin typeface="Consolas" panose="020B0609020204030204" charset="0"/>
              </a:rPr>
              <a:t> choice</a:t>
            </a:r>
          </a:p>
          <a:p>
            <a:pPr marL="0" indent="0">
              <a:spcBef>
                <a:spcPct val="0"/>
              </a:spcBef>
              <a:buFont typeface="Arial" panose="020B0604020202020204" pitchFamily="34" charset="0"/>
              <a:buNone/>
            </a:pPr>
            <a:r>
              <a:rPr lang="en-US" altLang="zh-CN" sz="1050" b="1" dirty="0">
                <a:solidFill>
                  <a:srgbClr val="0000FF"/>
                </a:solidFill>
                <a:latin typeface="Consolas" panose="020B0609020204030204" charset="0"/>
              </a:rPr>
              <a:t>from</a:t>
            </a:r>
            <a:r>
              <a:rPr lang="en-US" altLang="zh-CN" sz="1050" b="1" dirty="0">
                <a:latin typeface="Consolas" panose="020B0609020204030204" charset="0"/>
              </a:rPr>
              <a:t> string </a:t>
            </a:r>
            <a:r>
              <a:rPr lang="en-US" altLang="zh-CN" sz="1050" b="1" dirty="0">
                <a:solidFill>
                  <a:srgbClr val="0000FF"/>
                </a:solidFill>
                <a:latin typeface="Consolas" panose="020B0609020204030204" charset="0"/>
              </a:rPr>
              <a:t>import</a:t>
            </a:r>
            <a:r>
              <a:rPr lang="en-US" altLang="zh-CN" sz="1050" b="1" dirty="0">
                <a:latin typeface="Consolas" panose="020B0609020204030204" charset="0"/>
              </a:rPr>
              <a:t> digits</a:t>
            </a:r>
          </a:p>
          <a:p>
            <a:pPr marL="0" indent="0">
              <a:spcBef>
                <a:spcPct val="0"/>
              </a:spcBef>
              <a:buFont typeface="Arial" panose="020B0604020202020204" pitchFamily="34" charset="0"/>
              <a:buNone/>
            </a:pPr>
            <a:endParaRPr lang="en-US" altLang="zh-CN" sz="1050" b="1" dirty="0">
              <a:latin typeface="Consolas" panose="020B0609020204030204" charset="0"/>
            </a:endParaRPr>
          </a:p>
          <a:p>
            <a:pPr marL="0" indent="0">
              <a:spcBef>
                <a:spcPct val="0"/>
              </a:spcBef>
              <a:buFont typeface="Arial" panose="020B0604020202020204" pitchFamily="34" charset="0"/>
              <a:buNone/>
            </a:pPr>
            <a:r>
              <a:rPr lang="en-US" altLang="zh-CN" sz="1050" b="1" dirty="0" err="1">
                <a:solidFill>
                  <a:srgbClr val="0000FF"/>
                </a:solidFill>
                <a:latin typeface="Consolas" panose="020B0609020204030204" charset="0"/>
              </a:rPr>
              <a:t>def</a:t>
            </a:r>
            <a:r>
              <a:rPr lang="en-US" altLang="zh-CN" sz="1050" b="1" dirty="0">
                <a:latin typeface="Consolas" panose="020B0609020204030204" charset="0"/>
              </a:rPr>
              <a:t> func1(text):</a:t>
            </a:r>
          </a:p>
          <a:p>
            <a:pPr marL="0" indent="0">
              <a:spcBef>
                <a:spcPct val="0"/>
              </a:spcBef>
              <a:buFont typeface="Arial" panose="020B0604020202020204" pitchFamily="34" charset="0"/>
              <a:buNone/>
            </a:pPr>
            <a:r>
              <a:rPr lang="en-US" altLang="zh-CN" sz="1050" b="1" dirty="0">
                <a:latin typeface="Consolas" panose="020B0609020204030204" charset="0"/>
              </a:rPr>
              <a:t>    result = set(text)</a:t>
            </a:r>
          </a:p>
          <a:p>
            <a:pPr marL="0" indent="0">
              <a:spcBef>
                <a:spcPct val="0"/>
              </a:spcBef>
              <a:buFont typeface="Arial" panose="020B0604020202020204" pitchFamily="34" charset="0"/>
              <a:buNone/>
            </a:pPr>
            <a:r>
              <a:rPr lang="en-US" altLang="zh-CN" sz="1050" b="1" dirty="0">
                <a:latin typeface="Consolas" panose="020B0609020204030204" charset="0"/>
              </a:rPr>
              <a:t>    result = ''.join(sorted(result, key=lambda </a:t>
            </a:r>
            <a:r>
              <a:rPr lang="en-US" altLang="zh-CN" sz="1050" b="1" dirty="0" err="1">
                <a:latin typeface="Consolas" panose="020B0609020204030204" charset="0"/>
              </a:rPr>
              <a:t>ch:text.index</a:t>
            </a:r>
            <a:r>
              <a:rPr lang="en-US" altLang="zh-CN" sz="1050" b="1" dirty="0">
                <a:latin typeface="Consolas" panose="020B0609020204030204" charset="0"/>
              </a:rPr>
              <a:t>(</a:t>
            </a:r>
            <a:r>
              <a:rPr lang="en-US" altLang="zh-CN" sz="1050" b="1" dirty="0" err="1">
                <a:latin typeface="Consolas" panose="020B0609020204030204" charset="0"/>
              </a:rPr>
              <a:t>ch</a:t>
            </a:r>
            <a:r>
              <a:rPr lang="en-US" altLang="zh-CN" sz="1050" b="1" dirty="0">
                <a:latin typeface="Consolas" panose="020B0609020204030204" charset="0"/>
              </a:rPr>
              <a:t>)))</a:t>
            </a:r>
          </a:p>
          <a:p>
            <a:pPr marL="0" indent="0">
              <a:spcBef>
                <a:spcPct val="0"/>
              </a:spcBef>
              <a:buFont typeface="Arial" panose="020B0604020202020204" pitchFamily="34" charset="0"/>
              <a:buNone/>
            </a:pPr>
            <a:r>
              <a:rPr lang="en-US" altLang="zh-CN" sz="1050" b="1" dirty="0">
                <a:latin typeface="Consolas" panose="020B0609020204030204" charset="0"/>
              </a:rPr>
              <a:t>    </a:t>
            </a:r>
            <a:r>
              <a:rPr lang="en-US" altLang="zh-CN" sz="1050" b="1" dirty="0">
                <a:solidFill>
                  <a:srgbClr val="0000FF"/>
                </a:solidFill>
                <a:latin typeface="Consolas" panose="020B0609020204030204" charset="0"/>
              </a:rPr>
              <a:t>return</a:t>
            </a:r>
            <a:r>
              <a:rPr lang="en-US" altLang="zh-CN" sz="1050" b="1" dirty="0">
                <a:latin typeface="Consolas" panose="020B0609020204030204" charset="0"/>
              </a:rPr>
              <a:t> result</a:t>
            </a:r>
          </a:p>
          <a:p>
            <a:pPr marL="0" indent="0">
              <a:spcBef>
                <a:spcPct val="0"/>
              </a:spcBef>
              <a:buFont typeface="Arial" panose="020B0604020202020204" pitchFamily="34" charset="0"/>
              <a:buNone/>
            </a:pPr>
            <a:endParaRPr lang="en-US" altLang="zh-CN" sz="1050" b="1" dirty="0">
              <a:latin typeface="Consolas" panose="020B0609020204030204" charset="0"/>
            </a:endParaRPr>
          </a:p>
          <a:p>
            <a:pPr marL="0" indent="0">
              <a:spcBef>
                <a:spcPct val="0"/>
              </a:spcBef>
              <a:buFont typeface="Arial" panose="020B0604020202020204" pitchFamily="34" charset="0"/>
              <a:buNone/>
            </a:pPr>
            <a:r>
              <a:rPr lang="en-US" altLang="zh-CN" sz="1050" b="1" dirty="0" err="1">
                <a:solidFill>
                  <a:srgbClr val="0000FF"/>
                </a:solidFill>
                <a:latin typeface="Consolas" panose="020B0609020204030204" charset="0"/>
              </a:rPr>
              <a:t>def</a:t>
            </a:r>
            <a:r>
              <a:rPr lang="en-US" altLang="zh-CN" sz="1050" b="1" dirty="0">
                <a:latin typeface="Consolas" panose="020B0609020204030204" charset="0"/>
              </a:rPr>
              <a:t> func2(text):</a:t>
            </a:r>
          </a:p>
          <a:p>
            <a:pPr marL="0" indent="0">
              <a:spcBef>
                <a:spcPct val="0"/>
              </a:spcBef>
              <a:buFont typeface="Arial" panose="020B0604020202020204" pitchFamily="34" charset="0"/>
              <a:buNone/>
            </a:pPr>
            <a:r>
              <a:rPr lang="en-US" altLang="zh-CN" sz="1050" b="1" dirty="0">
                <a:latin typeface="Consolas" panose="020B0609020204030204" charset="0"/>
              </a:rPr>
              <a:t>    result = []</a:t>
            </a:r>
          </a:p>
          <a:p>
            <a:pPr marL="0" indent="0">
              <a:spcBef>
                <a:spcPct val="0"/>
              </a:spcBef>
              <a:buFont typeface="Arial" panose="020B0604020202020204" pitchFamily="34" charset="0"/>
              <a:buNone/>
            </a:pPr>
            <a:r>
              <a:rPr lang="en-US" altLang="zh-CN" sz="1050" b="1" dirty="0">
                <a:latin typeface="Consolas" panose="020B0609020204030204" charset="0"/>
              </a:rPr>
              <a:t>    for </a:t>
            </a:r>
            <a:r>
              <a:rPr lang="en-US" altLang="zh-CN" sz="1050" b="1" dirty="0" err="1">
                <a:latin typeface="Consolas" panose="020B0609020204030204" charset="0"/>
              </a:rPr>
              <a:t>ch</a:t>
            </a:r>
            <a:r>
              <a:rPr lang="en-US" altLang="zh-CN" sz="1050" b="1" dirty="0">
                <a:latin typeface="Consolas" panose="020B0609020204030204" charset="0"/>
              </a:rPr>
              <a:t> in text:</a:t>
            </a:r>
          </a:p>
          <a:p>
            <a:pPr marL="0" indent="0">
              <a:spcBef>
                <a:spcPct val="0"/>
              </a:spcBef>
              <a:buFont typeface="Arial" panose="020B0604020202020204" pitchFamily="34" charset="0"/>
              <a:buNone/>
            </a:pPr>
            <a:r>
              <a:rPr lang="en-US" altLang="zh-CN" sz="1050" b="1" dirty="0">
                <a:latin typeface="Consolas" panose="020B0609020204030204" charset="0"/>
              </a:rPr>
              <a:t>        if </a:t>
            </a:r>
            <a:r>
              <a:rPr lang="en-US" altLang="zh-CN" sz="1050" b="1" dirty="0" err="1">
                <a:latin typeface="Consolas" panose="020B0609020204030204" charset="0"/>
              </a:rPr>
              <a:t>ch</a:t>
            </a:r>
            <a:r>
              <a:rPr lang="en-US" altLang="zh-CN" sz="1050" b="1" dirty="0">
                <a:latin typeface="Consolas" panose="020B0609020204030204" charset="0"/>
              </a:rPr>
              <a:t> not in result:</a:t>
            </a:r>
          </a:p>
          <a:p>
            <a:pPr marL="0" indent="0">
              <a:spcBef>
                <a:spcPct val="0"/>
              </a:spcBef>
              <a:buFont typeface="Arial" panose="020B0604020202020204" pitchFamily="34" charset="0"/>
              <a:buNone/>
            </a:pPr>
            <a:r>
              <a:rPr lang="en-US" altLang="zh-CN" sz="1050" b="1" dirty="0">
                <a:latin typeface="Consolas" panose="020B0609020204030204" charset="0"/>
              </a:rPr>
              <a:t>            </a:t>
            </a:r>
            <a:r>
              <a:rPr lang="en-US" altLang="zh-CN" sz="1050" b="1" dirty="0" err="1">
                <a:latin typeface="Consolas" panose="020B0609020204030204" charset="0"/>
              </a:rPr>
              <a:t>result.append</a:t>
            </a:r>
            <a:r>
              <a:rPr lang="en-US" altLang="zh-CN" sz="1050" b="1" dirty="0">
                <a:latin typeface="Consolas" panose="020B0609020204030204" charset="0"/>
              </a:rPr>
              <a:t>(</a:t>
            </a:r>
            <a:r>
              <a:rPr lang="en-US" altLang="zh-CN" sz="1050" b="1" dirty="0" err="1">
                <a:latin typeface="Consolas" panose="020B0609020204030204" charset="0"/>
              </a:rPr>
              <a:t>ch</a:t>
            </a:r>
            <a:r>
              <a:rPr lang="en-US" altLang="zh-CN" sz="1050" b="1" dirty="0">
                <a:latin typeface="Consolas" panose="020B0609020204030204" charset="0"/>
              </a:rPr>
              <a:t>)</a:t>
            </a:r>
          </a:p>
          <a:p>
            <a:pPr marL="0" indent="0">
              <a:spcBef>
                <a:spcPct val="0"/>
              </a:spcBef>
              <a:buFont typeface="Arial" panose="020B0604020202020204" pitchFamily="34" charset="0"/>
              <a:buNone/>
            </a:pPr>
            <a:r>
              <a:rPr lang="en-US" altLang="zh-CN" sz="1050" b="1" dirty="0">
                <a:latin typeface="Consolas" panose="020B0609020204030204" charset="0"/>
              </a:rPr>
              <a:t>    </a:t>
            </a:r>
            <a:r>
              <a:rPr lang="en-US" altLang="zh-CN" sz="1050" b="1" dirty="0">
                <a:solidFill>
                  <a:srgbClr val="0000FF"/>
                </a:solidFill>
                <a:latin typeface="Consolas" panose="020B0609020204030204" charset="0"/>
              </a:rPr>
              <a:t>return</a:t>
            </a:r>
            <a:r>
              <a:rPr lang="en-US" altLang="zh-CN" sz="1050" b="1" dirty="0">
                <a:latin typeface="Consolas" panose="020B0609020204030204" charset="0"/>
              </a:rPr>
              <a:t> ''.join(result)</a:t>
            </a:r>
          </a:p>
          <a:p>
            <a:pPr marL="0" indent="0">
              <a:spcBef>
                <a:spcPct val="0"/>
              </a:spcBef>
              <a:buFont typeface="Arial" panose="020B0604020202020204" pitchFamily="34" charset="0"/>
              <a:buNone/>
            </a:pPr>
            <a:endParaRPr lang="en-US" altLang="zh-CN" sz="1050" b="1" dirty="0">
              <a:latin typeface="Consolas" panose="020B0609020204030204" charset="0"/>
            </a:endParaRPr>
          </a:p>
          <a:p>
            <a:pPr marL="0" indent="0">
              <a:spcBef>
                <a:spcPct val="0"/>
              </a:spcBef>
              <a:buFont typeface="Arial" panose="020B0604020202020204" pitchFamily="34" charset="0"/>
              <a:buNone/>
            </a:pPr>
            <a:r>
              <a:rPr lang="en-US" altLang="zh-CN" sz="1050" b="1" dirty="0" err="1">
                <a:solidFill>
                  <a:srgbClr val="0000FF"/>
                </a:solidFill>
                <a:latin typeface="Consolas" panose="020B0609020204030204" charset="0"/>
              </a:rPr>
              <a:t>def</a:t>
            </a:r>
            <a:r>
              <a:rPr lang="en-US" altLang="zh-CN" sz="1050" b="1" dirty="0">
                <a:latin typeface="Consolas" panose="020B0609020204030204" charset="0"/>
              </a:rPr>
              <a:t> func3(text):</a:t>
            </a:r>
          </a:p>
          <a:p>
            <a:pPr marL="0" indent="0">
              <a:spcBef>
                <a:spcPct val="0"/>
              </a:spcBef>
              <a:buFont typeface="Arial" panose="020B0604020202020204" pitchFamily="34" charset="0"/>
              <a:buNone/>
            </a:pPr>
            <a:r>
              <a:rPr lang="en-US" altLang="zh-CN" sz="1050" b="1" dirty="0">
                <a:latin typeface="Consolas" panose="020B0609020204030204" charset="0"/>
              </a:rPr>
              <a:t>    </a:t>
            </a:r>
            <a:r>
              <a:rPr lang="en-US" altLang="zh-CN" sz="1050" b="1" dirty="0">
                <a:solidFill>
                  <a:srgbClr val="0000FF"/>
                </a:solidFill>
                <a:latin typeface="Consolas" panose="020B0609020204030204" charset="0"/>
              </a:rPr>
              <a:t>return</a:t>
            </a:r>
            <a:r>
              <a:rPr lang="en-US" altLang="zh-CN" sz="1050" b="1" dirty="0">
                <a:latin typeface="Consolas" panose="020B0609020204030204" charset="0"/>
              </a:rPr>
              <a:t> ''.join(</a:t>
            </a:r>
            <a:r>
              <a:rPr lang="en-US" altLang="zh-CN" sz="1050" b="1" dirty="0" err="1">
                <a:latin typeface="Consolas" panose="020B0609020204030204" charset="0"/>
              </a:rPr>
              <a:t>findall</a:t>
            </a:r>
            <a:r>
              <a:rPr lang="en-US" altLang="zh-CN" sz="1050" b="1" dirty="0">
                <a:latin typeface="Consolas" panose="020B0609020204030204" charset="0"/>
              </a:rPr>
              <a:t>(r'(\w)(?!.*\1)', text[::-1]))[::-1]</a:t>
            </a:r>
          </a:p>
          <a:p>
            <a:pPr marL="0" indent="0">
              <a:spcBef>
                <a:spcPct val="0"/>
              </a:spcBef>
              <a:buFont typeface="Arial" panose="020B0604020202020204" pitchFamily="34" charset="0"/>
              <a:buNone/>
            </a:pPr>
            <a:endParaRPr lang="en-US" altLang="zh-CN" sz="1050" b="1" dirty="0">
              <a:latin typeface="Consolas" panose="020B0609020204030204" charset="0"/>
            </a:endParaRPr>
          </a:p>
          <a:p>
            <a:pPr marL="0" indent="0">
              <a:spcBef>
                <a:spcPct val="0"/>
              </a:spcBef>
              <a:buFont typeface="Arial" panose="020B0604020202020204" pitchFamily="34" charset="0"/>
              <a:buNone/>
            </a:pPr>
            <a:r>
              <a:rPr lang="en-US" altLang="zh-CN" sz="1050" b="1" dirty="0">
                <a:latin typeface="Consolas" panose="020B0609020204030204" charset="0"/>
              </a:rPr>
              <a:t>text = ''.join(choice(digits) for _ in range(30))</a:t>
            </a:r>
          </a:p>
          <a:p>
            <a:pPr marL="0" indent="0">
              <a:spcBef>
                <a:spcPct val="0"/>
              </a:spcBef>
              <a:buFont typeface="Arial" panose="020B0604020202020204" pitchFamily="34" charset="0"/>
              <a:buNone/>
            </a:pPr>
            <a:r>
              <a:rPr lang="en-US" altLang="zh-CN" sz="1050" b="1" dirty="0">
                <a:solidFill>
                  <a:srgbClr val="0000FF"/>
                </a:solidFill>
                <a:latin typeface="Consolas" panose="020B0609020204030204" charset="0"/>
              </a:rPr>
              <a:t>print</a:t>
            </a:r>
            <a:r>
              <a:rPr lang="en-US" altLang="zh-CN" sz="1050" b="1" dirty="0">
                <a:latin typeface="Consolas" panose="020B0609020204030204" charset="0"/>
              </a:rPr>
              <a:t>(text)</a:t>
            </a:r>
          </a:p>
          <a:p>
            <a:pPr marL="0" indent="0">
              <a:spcBef>
                <a:spcPct val="0"/>
              </a:spcBef>
              <a:buFont typeface="Arial" panose="020B0604020202020204" pitchFamily="34" charset="0"/>
              <a:buNone/>
            </a:pPr>
            <a:r>
              <a:rPr lang="en-US" altLang="zh-CN" sz="1050" b="1" dirty="0">
                <a:solidFill>
                  <a:srgbClr val="0000FF"/>
                </a:solidFill>
                <a:latin typeface="Consolas" panose="020B0609020204030204" charset="0"/>
              </a:rPr>
              <a:t>print</a:t>
            </a:r>
            <a:r>
              <a:rPr lang="en-US" altLang="zh-CN" sz="1050" b="1" dirty="0">
                <a:latin typeface="Consolas" panose="020B0609020204030204" charset="0"/>
              </a:rPr>
              <a:t>(func1(text))</a:t>
            </a:r>
          </a:p>
          <a:p>
            <a:pPr marL="0" indent="0">
              <a:spcBef>
                <a:spcPct val="0"/>
              </a:spcBef>
              <a:buFont typeface="Arial" panose="020B0604020202020204" pitchFamily="34" charset="0"/>
              <a:buNone/>
            </a:pPr>
            <a:r>
              <a:rPr lang="en-US" altLang="zh-CN" sz="1050" b="1" dirty="0">
                <a:solidFill>
                  <a:srgbClr val="0000FF"/>
                </a:solidFill>
                <a:latin typeface="Consolas" panose="020B0609020204030204" charset="0"/>
              </a:rPr>
              <a:t>print</a:t>
            </a:r>
            <a:r>
              <a:rPr lang="en-US" altLang="zh-CN" sz="1050" b="1" dirty="0">
                <a:latin typeface="Consolas" panose="020B0609020204030204" charset="0"/>
              </a:rPr>
              <a:t>(func2(text))</a:t>
            </a:r>
          </a:p>
          <a:p>
            <a:pPr marL="0" indent="0">
              <a:spcBef>
                <a:spcPct val="0"/>
              </a:spcBef>
              <a:buFont typeface="Arial" panose="020B0604020202020204" pitchFamily="34" charset="0"/>
              <a:buNone/>
            </a:pPr>
            <a:r>
              <a:rPr lang="en-US" altLang="zh-CN" sz="1050" dirty="0">
                <a:latin typeface="Consolas" panose="020B0609020204030204" charset="0"/>
              </a:rPr>
              <a:t>print(func3(text))</a:t>
            </a:r>
          </a:p>
        </p:txBody>
      </p:sp>
      <p:grpSp>
        <p:nvGrpSpPr>
          <p:cNvPr id="12" name="组合 11"/>
          <p:cNvGrpSpPr/>
          <p:nvPr/>
        </p:nvGrpSpPr>
        <p:grpSpPr>
          <a:xfrm>
            <a:off x="495300" y="81495"/>
            <a:ext cx="6201650" cy="651944"/>
            <a:chOff x="541440" y="96425"/>
            <a:chExt cx="6201650" cy="651944"/>
          </a:xfrm>
        </p:grpSpPr>
        <p:sp>
          <p:nvSpPr>
            <p:cNvPr id="13" name="TextBox 6"/>
            <p:cNvSpPr txBox="1">
              <a:spLocks noChangeArrowheads="1"/>
            </p:cNvSpPr>
            <p:nvPr/>
          </p:nvSpPr>
          <p:spPr bwMode="auto">
            <a:xfrm>
              <a:off x="621813" y="102062"/>
              <a:ext cx="6121277"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4.4 </a:t>
              </a:r>
              <a:r>
                <a:rPr lang="zh-CN" altLang="en-US" sz="3600" b="1" dirty="0">
                  <a:latin typeface="Times New Roman" panose="02020603050405020304" pitchFamily="18" charset="0"/>
                  <a:ea typeface="黑体" panose="02010609060101010101" pitchFamily="49" charset="-122"/>
                </a:rPr>
                <a:t>正则表达式的应用</a:t>
              </a:r>
            </a:p>
          </p:txBody>
        </p:sp>
        <p:grpSp>
          <p:nvGrpSpPr>
            <p:cNvPr id="14" name="组合 13"/>
            <p:cNvGrpSpPr/>
            <p:nvPr/>
          </p:nvGrpSpPr>
          <p:grpSpPr>
            <a:xfrm>
              <a:off x="541440" y="96425"/>
              <a:ext cx="792093" cy="651756"/>
              <a:chOff x="541440" y="96425"/>
              <a:chExt cx="792093" cy="651756"/>
            </a:xfrm>
          </p:grpSpPr>
          <p:sp>
            <p:nvSpPr>
              <p:cNvPr id="15" name="Freeform 5"/>
              <p:cNvSpPr/>
              <p:nvPr/>
            </p:nvSpPr>
            <p:spPr bwMode="auto">
              <a:xfrm>
                <a:off x="541440" y="96425"/>
                <a:ext cx="792093" cy="65175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6" name="图片 15"/>
              <p:cNvPicPr>
                <a:picLocks noChangeAspect="1"/>
              </p:cNvPicPr>
              <p:nvPr/>
            </p:nvPicPr>
            <p:blipFill>
              <a:blip r:embed="rId2"/>
              <a:stretch>
                <a:fillRect/>
              </a:stretch>
            </p:blipFill>
            <p:spPr>
              <a:xfrm>
                <a:off x="734178" y="272894"/>
                <a:ext cx="404824" cy="335225"/>
              </a:xfrm>
              <a:prstGeom prst="rect">
                <a:avLst/>
              </a:prstGeom>
            </p:spPr>
          </p:pic>
        </p:gr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257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257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xEl>
                                              <p:pRg st="11" end="1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xEl>
                                              <p:pRg st="12" end="1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xEl>
                                              <p:pRg st="13" end="1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
                                            <p:txEl>
                                              <p:pRg st="14" end="1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
                                            <p:txEl>
                                              <p:pRg st="16" end="16"/>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
                                            <p:txEl>
                                              <p:pRg st="17" end="1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
                                            <p:txEl>
                                              <p:pRg st="19" end="1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
                                            <p:txEl>
                                              <p:pRg st="20" end="2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
                                            <p:txEl>
                                              <p:pRg st="21" end="21"/>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1">
                                            <p:txEl>
                                              <p:pRg st="22" end="22"/>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1">
                                            <p:txEl>
                                              <p:pRg st="23" end="2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07"/>
          <p:cNvGrpSpPr/>
          <p:nvPr/>
        </p:nvGrpSpPr>
        <p:grpSpPr>
          <a:xfrm>
            <a:off x="543012" y="93590"/>
            <a:ext cx="4087592" cy="684275"/>
            <a:chOff x="939802" y="5062184"/>
            <a:chExt cx="4087592" cy="684275"/>
          </a:xfrm>
        </p:grpSpPr>
        <p:grpSp>
          <p:nvGrpSpPr>
            <p:cNvPr id="5" name="组合 33"/>
            <p:cNvGrpSpPr/>
            <p:nvPr/>
          </p:nvGrpSpPr>
          <p:grpSpPr>
            <a:xfrm>
              <a:off x="939802" y="5098728"/>
              <a:ext cx="813499" cy="647731"/>
              <a:chOff x="6068613" y="2138334"/>
              <a:chExt cx="412166" cy="348468"/>
            </a:xfrm>
          </p:grpSpPr>
          <p:sp>
            <p:nvSpPr>
              <p:cNvPr id="7" name="Freeform 5"/>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dirty="0">
                  <a:ea typeface="微软雅黑" panose="020B0503020204020204" pitchFamily="34" charset="-122"/>
                </a:endParaRPr>
              </a:p>
            </p:txBody>
          </p:sp>
          <p:sp>
            <p:nvSpPr>
              <p:cNvPr id="8" name="KSO_Shape"/>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dirty="0">
                  <a:solidFill>
                    <a:srgbClr val="FFFFFF"/>
                  </a:solidFill>
                  <a:ea typeface="微软雅黑" panose="020B0503020204020204" pitchFamily="34" charset="-122"/>
                </a:endParaRPr>
              </a:p>
            </p:txBody>
          </p:sp>
        </p:grpSp>
        <p:sp>
          <p:nvSpPr>
            <p:cNvPr id="6" name="TextBox 6"/>
            <p:cNvSpPr txBox="1">
              <a:spLocks noChangeArrowheads="1"/>
            </p:cNvSpPr>
            <p:nvPr/>
          </p:nvSpPr>
          <p:spPr bwMode="auto">
            <a:xfrm>
              <a:off x="1520154"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dirty="0">
                  <a:latin typeface="Times New Roman" panose="02020603050405020304" pitchFamily="18" charset="0"/>
                  <a:ea typeface="黑体" panose="02010609060101010101" pitchFamily="49" charset="-122"/>
                </a:rPr>
                <a:t>4.5  </a:t>
              </a:r>
              <a:r>
                <a:rPr lang="zh-CN" altLang="en-US" sz="3600" dirty="0">
                  <a:latin typeface="Times New Roman" panose="02020603050405020304" pitchFamily="18" charset="0"/>
                  <a:ea typeface="黑体" panose="02010609060101010101" pitchFamily="49" charset="-122"/>
                </a:rPr>
                <a:t>本章小结</a:t>
              </a:r>
            </a:p>
          </p:txBody>
        </p:sp>
      </p:grpSp>
      <p:grpSp>
        <p:nvGrpSpPr>
          <p:cNvPr id="9" name="组合 8"/>
          <p:cNvGrpSpPr/>
          <p:nvPr/>
        </p:nvGrpSpPr>
        <p:grpSpPr>
          <a:xfrm>
            <a:off x="921980" y="1088583"/>
            <a:ext cx="2378140" cy="668910"/>
            <a:chOff x="927100" y="1197990"/>
            <a:chExt cx="2378140" cy="668910"/>
          </a:xfrm>
        </p:grpSpPr>
        <p:sp>
          <p:nvSpPr>
            <p:cNvPr id="10" name="矩形 9"/>
            <p:cNvSpPr/>
            <p:nvPr/>
          </p:nvSpPr>
          <p:spPr>
            <a:xfrm>
              <a:off x="1472687" y="1197990"/>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内容回顾</a:t>
              </a:r>
            </a:p>
          </p:txBody>
        </p:sp>
        <p:grpSp>
          <p:nvGrpSpPr>
            <p:cNvPr id="11" name="组合 99"/>
            <p:cNvGrpSpPr/>
            <p:nvPr/>
          </p:nvGrpSpPr>
          <p:grpSpPr>
            <a:xfrm>
              <a:off x="927100" y="1214339"/>
              <a:ext cx="643729" cy="652561"/>
              <a:chOff x="5547069" y="765931"/>
              <a:chExt cx="1482696" cy="1322356"/>
            </a:xfrm>
          </p:grpSpPr>
          <p:grpSp>
            <p:nvGrpSpPr>
              <p:cNvPr id="12" name="组合 38"/>
              <p:cNvGrpSpPr/>
              <p:nvPr/>
            </p:nvGrpSpPr>
            <p:grpSpPr>
              <a:xfrm>
                <a:off x="5547069" y="765931"/>
                <a:ext cx="1482696" cy="1322356"/>
                <a:chOff x="3337529" y="1161598"/>
                <a:chExt cx="2138277" cy="1907040"/>
              </a:xfrm>
            </p:grpSpPr>
            <p:sp>
              <p:nvSpPr>
                <p:cNvPr id="16" name="任意多边形 15"/>
                <p:cNvSpPr/>
                <p:nvPr/>
              </p:nvSpPr>
              <p:spPr bwMode="auto">
                <a:xfrm rot="10800000">
                  <a:off x="3342359" y="1161598"/>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solidFill>
                  <a:srgbClr val="00AF92"/>
                </a:solidFill>
                <a:ln w="19050">
                  <a:noFill/>
                </a:ln>
                <a:effectLst>
                  <a:innerShdw blurRad="63500" dist="63500" dir="2700000">
                    <a:prstClr val="black">
                      <a:alpha val="50000"/>
                    </a:prstClr>
                  </a:innerShdw>
                </a:effectLst>
              </p:spPr>
              <p:txBody>
                <a:bodyPr vert="horz" wrap="square" lIns="68580" tIns="34290" rIns="68580" bIns="34290" numCol="1" anchor="t" anchorCtr="0" compatLnSpc="1">
                  <a:noAutofit/>
                </a:bodyPr>
                <a:lstStyle/>
                <a:p>
                  <a:endParaRPr lang="zh-CN" altLang="en-US" sz="1015">
                    <a:solidFill>
                      <a:prstClr val="black"/>
                    </a:solidFill>
                  </a:endParaRPr>
                </a:p>
              </p:txBody>
            </p:sp>
            <p:sp>
              <p:nvSpPr>
                <p:cNvPr id="17" name="Freeform 5"/>
                <p:cNvSpPr/>
                <p:nvPr/>
              </p:nvSpPr>
              <p:spPr bwMode="auto">
                <a:xfrm rot="10800000">
                  <a:off x="3337529" y="1173504"/>
                  <a:ext cx="2138277" cy="18951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chemeClr val="bg1"/>
                      </a:gs>
                      <a:gs pos="100000">
                        <a:srgbClr val="B4B4B4"/>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sp>
              <p:nvSpPr>
                <p:cNvPr id="18" name="Freeform 5"/>
                <p:cNvSpPr/>
                <p:nvPr/>
              </p:nvSpPr>
              <p:spPr bwMode="auto">
                <a:xfrm rot="10800000">
                  <a:off x="3656172" y="1456206"/>
                  <a:ext cx="1495486" cy="13254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75000"/>
                        </a:schemeClr>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grpSp>
          <p:grpSp>
            <p:nvGrpSpPr>
              <p:cNvPr id="13" name="Group 17"/>
              <p:cNvGrpSpPr>
                <a:grpSpLocks noChangeAspect="1"/>
              </p:cNvGrpSpPr>
              <p:nvPr/>
            </p:nvGrpSpPr>
            <p:grpSpPr bwMode="auto">
              <a:xfrm>
                <a:off x="6087464" y="1170184"/>
                <a:ext cx="457188" cy="490764"/>
                <a:chOff x="231" y="1205"/>
                <a:chExt cx="640" cy="687"/>
              </a:xfrm>
              <a:solidFill>
                <a:srgbClr val="00AF92"/>
              </a:solidFill>
            </p:grpSpPr>
            <p:sp>
              <p:nvSpPr>
                <p:cNvPr id="14" name="Freeform 18"/>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sp>
              <p:nvSpPr>
                <p:cNvPr id="15"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grpSp>
        </p:grpSp>
      </p:grpSp>
      <p:sp>
        <p:nvSpPr>
          <p:cNvPr id="21" name="矩形 20"/>
          <p:cNvSpPr/>
          <p:nvPr/>
        </p:nvSpPr>
        <p:spPr>
          <a:xfrm>
            <a:off x="1465147" y="1796617"/>
            <a:ext cx="6393097" cy="984885"/>
          </a:xfrm>
          <a:prstGeom prst="rect">
            <a:avLst/>
          </a:prstGeom>
        </p:spPr>
        <p:txBody>
          <a:bodyPr wrap="none">
            <a:spAutoFit/>
          </a:bodyPr>
          <a:lstStyle/>
          <a:p>
            <a:pPr>
              <a:spcBef>
                <a:spcPts val="600"/>
              </a:spcBef>
              <a:spcAft>
                <a:spcPts val="600"/>
              </a:spcAft>
              <a:buClr>
                <a:srgbClr val="FF0000"/>
              </a:buClr>
              <a:buFont typeface="Wingdings" panose="05000000000000000000" pitchFamily="2" charset="2"/>
              <a:buChar char="Ø"/>
            </a:pPr>
            <a:r>
              <a:rPr lang="zh-CN" altLang="en-US" sz="2400" b="1" dirty="0"/>
              <a:t> </a:t>
            </a:r>
            <a:r>
              <a:rPr lang="zh-CN" altLang="en-US" sz="2400" b="1" dirty="0">
                <a:latin typeface="Times New Roman" panose="02020603050405020304" pitchFamily="18" charset="0"/>
                <a:ea typeface="仿宋" panose="02010609060101010101" pitchFamily="49" charset="-122"/>
              </a:rPr>
              <a:t>字符串的相关概念：</a:t>
            </a:r>
            <a:r>
              <a:rPr lang="zh-CN" altLang="en-US" sz="2400" b="1" dirty="0">
                <a:solidFill>
                  <a:srgbClr val="FF0000"/>
                </a:solidFill>
                <a:latin typeface="Times New Roman" panose="02020603050405020304" pitchFamily="18" charset="0"/>
                <a:ea typeface="仿宋" panose="02010609060101010101" pitchFamily="49" charset="-122"/>
              </a:rPr>
              <a:t>格式化方法、常用方法</a:t>
            </a:r>
            <a:endParaRPr lang="en-US" altLang="zh-CN" sz="2400" b="1" dirty="0">
              <a:solidFill>
                <a:srgbClr val="FF0000"/>
              </a:solidFill>
              <a:latin typeface="Times New Roman" panose="02020603050405020304" pitchFamily="18" charset="0"/>
              <a:ea typeface="仿宋" panose="02010609060101010101" pitchFamily="49" charset="-122"/>
            </a:endParaRPr>
          </a:p>
          <a:p>
            <a:pPr>
              <a:spcBef>
                <a:spcPts val="600"/>
              </a:spcBef>
              <a:spcAft>
                <a:spcPts val="600"/>
              </a:spcAft>
              <a:buClr>
                <a:srgbClr val="FF0000"/>
              </a:buClr>
              <a:buFont typeface="Wingdings" panose="05000000000000000000" pitchFamily="2" charset="2"/>
              <a:buChar char="Ø"/>
            </a:pPr>
            <a:r>
              <a:rPr lang="zh-CN" altLang="en-US" sz="2400" b="1" dirty="0">
                <a:latin typeface="Times New Roman" panose="02020603050405020304" pitchFamily="18" charset="0"/>
                <a:ea typeface="仿宋" panose="02010609060101010101" pitchFamily="49" charset="-122"/>
              </a:rPr>
              <a:t> 正则表达式的规则</a:t>
            </a:r>
            <a:endParaRPr lang="zh-CN" altLang="en-US" sz="2400" b="1" dirty="0">
              <a:solidFill>
                <a:srgbClr val="FF0000"/>
              </a:solidFill>
              <a:latin typeface="Times New Roman" panose="02020603050405020304" pitchFamily="18" charset="0"/>
              <a:ea typeface="仿宋" panose="02010609060101010101" pitchFamily="49" charset="-122"/>
            </a:endParaRPr>
          </a:p>
        </p:txBody>
      </p:sp>
      <p:grpSp>
        <p:nvGrpSpPr>
          <p:cNvPr id="29" name="组合 28"/>
          <p:cNvGrpSpPr/>
          <p:nvPr/>
        </p:nvGrpSpPr>
        <p:grpSpPr>
          <a:xfrm>
            <a:off x="1040589" y="4405599"/>
            <a:ext cx="1433167" cy="607216"/>
            <a:chOff x="1064237" y="3704725"/>
            <a:chExt cx="1433167" cy="607216"/>
          </a:xfrm>
        </p:grpSpPr>
        <p:sp>
          <p:nvSpPr>
            <p:cNvPr id="30" name="矩形 29"/>
            <p:cNvSpPr/>
            <p:nvPr/>
          </p:nvSpPr>
          <p:spPr>
            <a:xfrm>
              <a:off x="1488795" y="3704725"/>
              <a:ext cx="1008609"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思考</a:t>
              </a:r>
            </a:p>
          </p:txBody>
        </p:sp>
        <p:pic>
          <p:nvPicPr>
            <p:cNvPr id="31" name="图片 1"/>
            <p:cNvPicPr>
              <a:picLocks noChangeAspect="1" noChangeArrowheads="1"/>
            </p:cNvPicPr>
            <p:nvPr/>
          </p:nvPicPr>
          <p:blipFill>
            <a:blip r:embed="rId2" cstate="print">
              <a:clrChange>
                <a:clrFrom>
                  <a:srgbClr val="FDFDFD"/>
                </a:clrFrom>
                <a:clrTo>
                  <a:srgbClr val="FDFDFD">
                    <a:alpha val="0"/>
                  </a:srgbClr>
                </a:clrTo>
              </a:clrChange>
            </a:blip>
            <a:srcRect/>
            <a:stretch>
              <a:fillRect/>
            </a:stretch>
          </p:blipFill>
          <p:spPr bwMode="auto">
            <a:xfrm>
              <a:off x="1064237" y="3715332"/>
              <a:ext cx="513022" cy="596609"/>
            </a:xfrm>
            <a:prstGeom prst="rect">
              <a:avLst/>
            </a:prstGeom>
            <a:noFill/>
            <a:ln w="9525">
              <a:noFill/>
              <a:miter lim="800000"/>
              <a:headEnd/>
              <a:tailEnd/>
            </a:ln>
          </p:spPr>
        </p:pic>
      </p:grpSp>
      <p:sp>
        <p:nvSpPr>
          <p:cNvPr id="38" name="矩形 37"/>
          <p:cNvSpPr/>
          <p:nvPr/>
        </p:nvSpPr>
        <p:spPr>
          <a:xfrm>
            <a:off x="1533750" y="5229200"/>
            <a:ext cx="3902346" cy="430887"/>
          </a:xfrm>
          <a:prstGeom prst="rect">
            <a:avLst/>
          </a:prstGeom>
        </p:spPr>
        <p:txBody>
          <a:bodyPr wrap="square">
            <a:spAutoFit/>
          </a:bodyPr>
          <a:lstStyle/>
          <a:p>
            <a:pPr marL="342900" indent="-342900">
              <a:spcBef>
                <a:spcPts val="1200"/>
              </a:spcBef>
              <a:buClr>
                <a:srgbClr val="FF0000"/>
              </a:buClr>
              <a:buFont typeface="Wingdings" panose="05000000000000000000" pitchFamily="2" charset="2"/>
              <a:buChar char="Ø"/>
            </a:pPr>
            <a:r>
              <a:rPr lang="zh-CN" altLang="en-US" sz="2200" b="1" dirty="0">
                <a:latin typeface="Times New Roman" panose="02020603050405020304" pitchFamily="18" charset="0"/>
                <a:ea typeface="仿宋" panose="02010609060101010101" pitchFamily="49" charset="-122"/>
              </a:rPr>
              <a:t>正则表达式的应用</a:t>
            </a:r>
            <a:endParaRPr lang="en-US" altLang="zh-CN" sz="2200" b="1" dirty="0">
              <a:latin typeface="Times New Roman" panose="02020603050405020304" pitchFamily="18" charset="0"/>
              <a:ea typeface="仿宋" panose="02010609060101010101" pitchFamily="49" charset="-122"/>
            </a:endParaRP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t>102</a:t>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box(in)">
                                      <p:cBhvr>
                                        <p:cTn id="2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8"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str() </a:t>
            </a:r>
            <a:r>
              <a:rPr lang="en-US" altLang="zh-CN" dirty="0" err="1"/>
              <a:t>repr</a:t>
            </a:r>
            <a:r>
              <a:rPr lang="en-US" altLang="zh-CN" dirty="0"/>
              <a:t>() eval()</a:t>
            </a:r>
            <a:endParaRPr lang="zh-CN" altLang="en-US" dirty="0"/>
          </a:p>
        </p:txBody>
      </p:sp>
      <p:sp>
        <p:nvSpPr>
          <p:cNvPr id="3" name="内容占位符 2"/>
          <p:cNvSpPr>
            <a:spLocks noGrp="1"/>
          </p:cNvSpPr>
          <p:nvPr>
            <p:ph idx="1"/>
          </p:nvPr>
        </p:nvSpPr>
        <p:spPr/>
        <p:txBody>
          <a:bodyPr/>
          <a:lstStyle/>
          <a:p>
            <a:r>
              <a:rPr lang="en-US" altLang="zh-CN" sz="1200" b="1" i="0" dirty="0">
                <a:solidFill>
                  <a:srgbClr val="333333"/>
                </a:solidFill>
                <a:effectLst/>
                <a:latin typeface="Helvetica Neue"/>
              </a:rPr>
              <a:t>str()</a:t>
            </a:r>
            <a:r>
              <a:rPr lang="zh-CN" altLang="en-US" sz="1200" b="1" i="0" dirty="0">
                <a:solidFill>
                  <a:srgbClr val="333333"/>
                </a:solidFill>
                <a:effectLst/>
                <a:latin typeface="Helvetica Neue"/>
              </a:rPr>
              <a:t>：</a:t>
            </a:r>
            <a:r>
              <a:rPr lang="zh-CN" altLang="en-US" sz="1200" b="0" i="0" dirty="0">
                <a:solidFill>
                  <a:srgbClr val="333333"/>
                </a:solidFill>
                <a:effectLst/>
                <a:latin typeface="Helvetica Neue"/>
              </a:rPr>
              <a:t> 函数返回一个用户易读的表达形式。</a:t>
            </a:r>
            <a:r>
              <a:rPr lang="zh-CN" altLang="en-US" sz="1200" b="0" i="0" dirty="0">
                <a:solidFill>
                  <a:srgbClr val="222222"/>
                </a:solidFill>
                <a:effectLst/>
                <a:latin typeface="Lucida Grande"/>
              </a:rPr>
              <a:t>返回 </a:t>
            </a:r>
            <a:r>
              <a:rPr lang="en-US" altLang="zh-CN" sz="1200" b="0" i="1" dirty="0">
                <a:solidFill>
                  <a:srgbClr val="222222"/>
                </a:solidFill>
                <a:effectLst/>
                <a:latin typeface="Lucida Grande"/>
              </a:rPr>
              <a:t>object</a:t>
            </a:r>
            <a:r>
              <a:rPr lang="en-US" altLang="zh-CN" sz="1200" b="0" i="0" dirty="0">
                <a:solidFill>
                  <a:srgbClr val="222222"/>
                </a:solidFill>
                <a:effectLst/>
                <a:latin typeface="Lucida Grande"/>
              </a:rPr>
              <a:t> </a:t>
            </a:r>
            <a:r>
              <a:rPr lang="zh-CN" altLang="en-US" sz="1200" b="0" i="0" dirty="0">
                <a:solidFill>
                  <a:srgbClr val="222222"/>
                </a:solidFill>
                <a:effectLst/>
                <a:latin typeface="Lucida Grande"/>
              </a:rPr>
              <a:t>的 </a:t>
            </a:r>
            <a:r>
              <a:rPr lang="zh-CN" altLang="en-US" sz="1200" b="0" i="0" u="none" strike="noStrike" dirty="0">
                <a:solidFill>
                  <a:srgbClr val="0072AA"/>
                </a:solidFill>
                <a:effectLst/>
                <a:latin typeface="Lucida Grande"/>
                <a:hlinkClick r:id="rId3"/>
              </a:rPr>
              <a:t>字符串</a:t>
            </a:r>
            <a:r>
              <a:rPr lang="zh-CN" altLang="en-US" sz="1200" b="0" i="0" dirty="0">
                <a:solidFill>
                  <a:srgbClr val="222222"/>
                </a:solidFill>
                <a:effectLst/>
                <a:latin typeface="Lucida Grande"/>
              </a:rPr>
              <a:t> 版本。 如果未提供 </a:t>
            </a:r>
            <a:r>
              <a:rPr lang="en-US" altLang="zh-CN" sz="1200" b="0" i="1" dirty="0">
                <a:solidFill>
                  <a:srgbClr val="222222"/>
                </a:solidFill>
                <a:effectLst/>
                <a:latin typeface="Lucida Grande"/>
              </a:rPr>
              <a:t>object</a:t>
            </a:r>
            <a:r>
              <a:rPr lang="en-US" altLang="zh-CN" sz="1200" b="0" i="0" dirty="0">
                <a:solidFill>
                  <a:srgbClr val="222222"/>
                </a:solidFill>
                <a:effectLst/>
                <a:latin typeface="Lucida Grande"/>
              </a:rPr>
              <a:t> </a:t>
            </a:r>
            <a:r>
              <a:rPr lang="zh-CN" altLang="en-US" sz="1200" b="0" i="0" dirty="0">
                <a:solidFill>
                  <a:srgbClr val="222222"/>
                </a:solidFill>
                <a:effectLst/>
                <a:latin typeface="Lucida Grande"/>
              </a:rPr>
              <a:t>则返回空字符串。</a:t>
            </a:r>
            <a:endParaRPr lang="zh-CN" altLang="en-US" sz="1200" b="0" i="0" dirty="0">
              <a:solidFill>
                <a:srgbClr val="333333"/>
              </a:solidFill>
              <a:effectLst/>
              <a:latin typeface="Helvetica Neue"/>
            </a:endParaRPr>
          </a:p>
          <a:p>
            <a:r>
              <a:rPr lang="en-US" altLang="zh-CN" sz="1200" b="1" i="0" dirty="0" err="1">
                <a:solidFill>
                  <a:srgbClr val="333333"/>
                </a:solidFill>
                <a:effectLst/>
                <a:latin typeface="Helvetica Neue"/>
              </a:rPr>
              <a:t>repr</a:t>
            </a:r>
            <a:r>
              <a:rPr lang="en-US" altLang="zh-CN" sz="1200" b="1" i="0" dirty="0">
                <a:solidFill>
                  <a:srgbClr val="333333"/>
                </a:solidFill>
                <a:effectLst/>
                <a:latin typeface="Helvetica Neue"/>
              </a:rPr>
              <a:t>()</a:t>
            </a:r>
            <a:r>
              <a:rPr lang="zh-CN" altLang="en-US" sz="1200" b="1" i="0" dirty="0">
                <a:solidFill>
                  <a:srgbClr val="333333"/>
                </a:solidFill>
                <a:effectLst/>
                <a:latin typeface="Helvetica Neue"/>
              </a:rPr>
              <a:t>：</a:t>
            </a:r>
            <a:r>
              <a:rPr lang="zh-CN" altLang="en-US" sz="1200" b="0" i="0" dirty="0">
                <a:solidFill>
                  <a:srgbClr val="333333"/>
                </a:solidFill>
                <a:effectLst/>
                <a:latin typeface="Helvetica Neue"/>
              </a:rPr>
              <a:t> 产生一个解释器易读的表达形式。</a:t>
            </a:r>
            <a:r>
              <a:rPr lang="zh-CN" altLang="en-US" sz="1200" b="0" i="0" dirty="0">
                <a:solidFill>
                  <a:srgbClr val="222222"/>
                </a:solidFill>
                <a:effectLst/>
                <a:latin typeface="Lucida Grande"/>
              </a:rPr>
              <a:t>返回包含一个对象的可打印表示形式的字符串。</a:t>
            </a:r>
            <a:endParaRPr lang="en-US" altLang="zh-CN" sz="1200" b="0" i="0" dirty="0">
              <a:solidFill>
                <a:srgbClr val="222222"/>
              </a:solidFill>
              <a:effectLst/>
              <a:latin typeface="Lucida Grande"/>
            </a:endParaRPr>
          </a:p>
          <a:p>
            <a:r>
              <a:rPr lang="en-US" altLang="zh-CN" sz="1200" dirty="0">
                <a:solidFill>
                  <a:srgbClr val="333333"/>
                </a:solidFill>
                <a:latin typeface="Helvetica Neue"/>
              </a:rPr>
              <a:t>Eval():</a:t>
            </a:r>
            <a:r>
              <a:rPr lang="zh-CN" altLang="en-US" sz="1200" dirty="0">
                <a:solidFill>
                  <a:srgbClr val="333333"/>
                </a:solidFill>
                <a:latin typeface="Helvetica Neue"/>
              </a:rPr>
              <a:t> </a:t>
            </a:r>
            <a:r>
              <a:rPr lang="en-US" altLang="zh-CN" sz="1200" dirty="0">
                <a:solidFill>
                  <a:srgbClr val="333333"/>
                </a:solidFill>
                <a:latin typeface="Helvetica Neue"/>
              </a:rPr>
              <a:t>eval() </a:t>
            </a:r>
            <a:r>
              <a:rPr lang="zh-CN" altLang="en-US" sz="1200" dirty="0">
                <a:solidFill>
                  <a:srgbClr val="333333"/>
                </a:solidFill>
                <a:latin typeface="Helvetica Neue"/>
              </a:rPr>
              <a:t>函数用来执行一个字符串表达式，并返回表达式的值。</a:t>
            </a:r>
            <a:endParaRPr lang="en-US" altLang="zh-CN" sz="1200" dirty="0">
              <a:solidFill>
                <a:srgbClr val="333333"/>
              </a:solidFill>
              <a:latin typeface="Helvetica Neue"/>
            </a:endParaRPr>
          </a:p>
          <a:p>
            <a:r>
              <a:rPr lang="en-US" altLang="zh-CN" sz="1400" b="0" i="0" dirty="0">
                <a:solidFill>
                  <a:srgbClr val="808080"/>
                </a:solidFill>
                <a:effectLst/>
                <a:latin typeface="Menlo"/>
              </a:rPr>
              <a:t>&gt;&gt;&gt;</a:t>
            </a:r>
            <a:r>
              <a:rPr lang="en-US" altLang="zh-CN" sz="1400" b="0" i="0" dirty="0">
                <a:solidFill>
                  <a:srgbClr val="000000"/>
                </a:solidFill>
                <a:effectLst/>
                <a:latin typeface="Menlo"/>
              </a:rPr>
              <a:t> s </a:t>
            </a:r>
            <a:r>
              <a:rPr lang="en-US" altLang="zh-CN" sz="1400" b="0" i="0" dirty="0">
                <a:solidFill>
                  <a:srgbClr val="808080"/>
                </a:solidFill>
                <a:effectLst/>
                <a:latin typeface="Menlo"/>
              </a:rPr>
              <a:t>=</a:t>
            </a:r>
            <a:r>
              <a:rPr lang="en-US" altLang="zh-CN" sz="1400" b="0" i="0" dirty="0">
                <a:solidFill>
                  <a:srgbClr val="000000"/>
                </a:solidFill>
                <a:effectLst/>
                <a:latin typeface="Menlo"/>
              </a:rPr>
              <a:t> </a:t>
            </a:r>
            <a:r>
              <a:rPr lang="en-US" altLang="zh-CN" sz="1400" b="0" i="0" dirty="0">
                <a:solidFill>
                  <a:srgbClr val="AA1111"/>
                </a:solidFill>
                <a:effectLst/>
                <a:latin typeface="Menlo"/>
              </a:rPr>
              <a:t>'Hello, HFUT'</a:t>
            </a:r>
            <a:r>
              <a:rPr lang="en-US" altLang="zh-CN" sz="1400" dirty="0"/>
              <a:t/>
            </a:r>
            <a:br>
              <a:rPr lang="en-US" altLang="zh-CN" sz="1400" dirty="0"/>
            </a:br>
            <a:r>
              <a:rPr lang="en-US" altLang="zh-CN" sz="1400" b="0" i="0" dirty="0">
                <a:solidFill>
                  <a:srgbClr val="808080"/>
                </a:solidFill>
                <a:effectLst/>
                <a:latin typeface="Menlo"/>
              </a:rPr>
              <a:t>&gt;&gt;&gt;</a:t>
            </a:r>
            <a:r>
              <a:rPr lang="en-US" altLang="zh-CN" sz="1400" b="0" i="0" dirty="0">
                <a:solidFill>
                  <a:srgbClr val="000000"/>
                </a:solidFill>
                <a:effectLst/>
                <a:latin typeface="Menlo"/>
              </a:rPr>
              <a:t> </a:t>
            </a:r>
            <a:r>
              <a:rPr lang="en-US" altLang="zh-CN" sz="1400" b="0" i="0" dirty="0">
                <a:solidFill>
                  <a:srgbClr val="008080"/>
                </a:solidFill>
                <a:effectLst/>
                <a:latin typeface="Menlo"/>
              </a:rPr>
              <a:t>str</a:t>
            </a:r>
            <a:r>
              <a:rPr lang="en-US" altLang="zh-CN" sz="1400" b="0" i="0" dirty="0">
                <a:solidFill>
                  <a:srgbClr val="808000"/>
                </a:solidFill>
                <a:effectLst/>
                <a:latin typeface="Menlo"/>
              </a:rPr>
              <a:t>(</a:t>
            </a:r>
            <a:r>
              <a:rPr lang="en-US" altLang="zh-CN" sz="1400" b="0" i="0" dirty="0">
                <a:solidFill>
                  <a:srgbClr val="000000"/>
                </a:solidFill>
                <a:effectLst/>
                <a:latin typeface="Menlo"/>
              </a:rPr>
              <a:t>s</a:t>
            </a:r>
            <a:r>
              <a:rPr lang="en-US" altLang="zh-CN" sz="1400" b="0" i="0" dirty="0">
                <a:solidFill>
                  <a:srgbClr val="808000"/>
                </a:solidFill>
                <a:effectLst/>
                <a:latin typeface="Menlo"/>
              </a:rPr>
              <a:t>)</a:t>
            </a:r>
            <a:r>
              <a:rPr lang="en-US" altLang="zh-CN" sz="1400" dirty="0"/>
              <a:t/>
            </a:r>
            <a:br>
              <a:rPr lang="en-US" altLang="zh-CN" sz="1400" dirty="0"/>
            </a:br>
            <a:r>
              <a:rPr lang="en-US" altLang="zh-CN" sz="1400" b="0" i="0" dirty="0">
                <a:solidFill>
                  <a:srgbClr val="0000FF"/>
                </a:solidFill>
                <a:effectLst/>
                <a:latin typeface="Menlo"/>
              </a:rPr>
              <a:t>'Hello, HFUT'</a:t>
            </a:r>
            <a:r>
              <a:rPr lang="en-US" altLang="zh-CN" sz="1400" dirty="0"/>
              <a:t/>
            </a:r>
            <a:br>
              <a:rPr lang="en-US" altLang="zh-CN" sz="1400" dirty="0"/>
            </a:br>
            <a:r>
              <a:rPr lang="en-US" altLang="zh-CN" sz="1400" b="0" i="0" dirty="0">
                <a:solidFill>
                  <a:srgbClr val="808080"/>
                </a:solidFill>
                <a:effectLst/>
                <a:latin typeface="Menlo"/>
              </a:rPr>
              <a:t>&gt;&gt;&gt;</a:t>
            </a:r>
            <a:r>
              <a:rPr lang="en-US" altLang="zh-CN" sz="1400" b="0" i="0" dirty="0">
                <a:solidFill>
                  <a:srgbClr val="000000"/>
                </a:solidFill>
                <a:effectLst/>
                <a:latin typeface="Menlo"/>
              </a:rPr>
              <a:t> </a:t>
            </a:r>
            <a:r>
              <a:rPr lang="en-US" altLang="zh-CN" sz="1400" b="0" i="0" dirty="0" err="1">
                <a:solidFill>
                  <a:srgbClr val="0055AA"/>
                </a:solidFill>
                <a:effectLst/>
                <a:latin typeface="Menlo"/>
              </a:rPr>
              <a:t>repr</a:t>
            </a:r>
            <a:r>
              <a:rPr lang="en-US" altLang="zh-CN" sz="1400" b="0" i="0" dirty="0">
                <a:solidFill>
                  <a:srgbClr val="808000"/>
                </a:solidFill>
                <a:effectLst/>
                <a:latin typeface="Menlo"/>
              </a:rPr>
              <a:t>(</a:t>
            </a:r>
            <a:r>
              <a:rPr lang="en-US" altLang="zh-CN" sz="1400" b="0" i="0" dirty="0">
                <a:solidFill>
                  <a:srgbClr val="000000"/>
                </a:solidFill>
                <a:effectLst/>
                <a:latin typeface="Menlo"/>
              </a:rPr>
              <a:t>s</a:t>
            </a:r>
            <a:r>
              <a:rPr lang="en-US" altLang="zh-CN" sz="1400" b="0" i="0" dirty="0">
                <a:solidFill>
                  <a:srgbClr val="808000"/>
                </a:solidFill>
                <a:effectLst/>
                <a:latin typeface="Menlo"/>
              </a:rPr>
              <a:t>)</a:t>
            </a:r>
            <a:r>
              <a:rPr lang="en-US" altLang="zh-CN" sz="1400" dirty="0"/>
              <a:t/>
            </a:r>
            <a:br>
              <a:rPr lang="en-US" altLang="zh-CN" sz="1400" dirty="0"/>
            </a:br>
            <a:r>
              <a:rPr lang="en-US" altLang="zh-CN" sz="1400" dirty="0">
                <a:solidFill>
                  <a:srgbClr val="0000FF"/>
                </a:solidFill>
                <a:latin typeface="Menlo"/>
              </a:rPr>
              <a:t>"'Hello, HFUT'"</a:t>
            </a:r>
            <a:r>
              <a:rPr lang="en-US" altLang="zh-CN" sz="1400" dirty="0"/>
              <a:t/>
            </a:r>
            <a:br>
              <a:rPr lang="en-US" altLang="zh-CN" sz="1400" dirty="0"/>
            </a:br>
            <a:r>
              <a:rPr lang="en-US" altLang="zh-CN" sz="1400" b="0" i="0" dirty="0">
                <a:solidFill>
                  <a:srgbClr val="808080"/>
                </a:solidFill>
                <a:effectLst/>
                <a:latin typeface="Menlo"/>
              </a:rPr>
              <a:t>&gt;&gt;&gt;</a:t>
            </a:r>
            <a:r>
              <a:rPr lang="en-US" altLang="zh-CN" sz="1400" b="0" i="0" dirty="0">
                <a:solidFill>
                  <a:srgbClr val="000000"/>
                </a:solidFill>
                <a:effectLst/>
                <a:latin typeface="Menlo"/>
              </a:rPr>
              <a:t> </a:t>
            </a:r>
            <a:r>
              <a:rPr lang="en-US" altLang="zh-CN" sz="1400" b="0" i="0" dirty="0">
                <a:solidFill>
                  <a:srgbClr val="008080"/>
                </a:solidFill>
                <a:effectLst/>
                <a:latin typeface="Menlo"/>
              </a:rPr>
              <a:t>str</a:t>
            </a:r>
            <a:r>
              <a:rPr lang="en-US" altLang="zh-CN" sz="1400" b="0" i="0" dirty="0">
                <a:solidFill>
                  <a:srgbClr val="808000"/>
                </a:solidFill>
                <a:effectLst/>
                <a:latin typeface="Menlo"/>
              </a:rPr>
              <a:t>(</a:t>
            </a:r>
            <a:r>
              <a:rPr lang="en-US" altLang="zh-CN" sz="1400" b="0" i="0" dirty="0">
                <a:solidFill>
                  <a:srgbClr val="800000"/>
                </a:solidFill>
                <a:effectLst/>
                <a:latin typeface="Menlo"/>
              </a:rPr>
              <a:t>1</a:t>
            </a:r>
            <a:r>
              <a:rPr lang="en-US" altLang="zh-CN" sz="1400" b="0" i="0" dirty="0">
                <a:solidFill>
                  <a:srgbClr val="000000"/>
                </a:solidFill>
                <a:effectLst/>
                <a:latin typeface="Menlo"/>
              </a:rPr>
              <a:t>/</a:t>
            </a:r>
            <a:r>
              <a:rPr lang="en-US" altLang="zh-CN" sz="1400" b="0" i="0" dirty="0">
                <a:solidFill>
                  <a:srgbClr val="800000"/>
                </a:solidFill>
                <a:effectLst/>
                <a:latin typeface="Menlo"/>
              </a:rPr>
              <a:t>7</a:t>
            </a:r>
            <a:r>
              <a:rPr lang="en-US" altLang="zh-CN" sz="1400" b="0" i="0" dirty="0">
                <a:solidFill>
                  <a:srgbClr val="808000"/>
                </a:solidFill>
                <a:effectLst/>
                <a:latin typeface="Menlo"/>
              </a:rPr>
              <a:t>)</a:t>
            </a:r>
            <a:r>
              <a:rPr lang="en-US" altLang="zh-CN" sz="1400" dirty="0"/>
              <a:t/>
            </a:r>
            <a:br>
              <a:rPr lang="en-US" altLang="zh-CN" sz="1400" dirty="0"/>
            </a:br>
            <a:r>
              <a:rPr lang="en-US" altLang="zh-CN" sz="1400" dirty="0">
                <a:solidFill>
                  <a:srgbClr val="0000FF"/>
                </a:solidFill>
                <a:latin typeface="Menlo"/>
              </a:rPr>
              <a:t>'0.14285714285714285'</a:t>
            </a:r>
            <a:r>
              <a:rPr lang="en-US" altLang="zh-CN" sz="1400" dirty="0"/>
              <a:t/>
            </a:r>
            <a:br>
              <a:rPr lang="en-US" altLang="zh-CN" sz="1400" dirty="0"/>
            </a:br>
            <a:r>
              <a:rPr lang="en-US" altLang="zh-CN" sz="1400" b="0" i="0" dirty="0">
                <a:solidFill>
                  <a:srgbClr val="808080"/>
                </a:solidFill>
                <a:effectLst/>
                <a:latin typeface="Menlo"/>
              </a:rPr>
              <a:t>&gt;&gt;&gt;</a:t>
            </a:r>
            <a:r>
              <a:rPr lang="en-US" altLang="zh-CN" sz="1400" b="0" i="0" dirty="0">
                <a:solidFill>
                  <a:srgbClr val="000000"/>
                </a:solidFill>
                <a:effectLst/>
                <a:latin typeface="Menlo"/>
              </a:rPr>
              <a:t> x </a:t>
            </a:r>
            <a:r>
              <a:rPr lang="en-US" altLang="zh-CN" sz="1400" b="0" i="0" dirty="0">
                <a:solidFill>
                  <a:srgbClr val="808080"/>
                </a:solidFill>
                <a:effectLst/>
                <a:latin typeface="Menlo"/>
              </a:rPr>
              <a:t>=</a:t>
            </a:r>
            <a:r>
              <a:rPr lang="en-US" altLang="zh-CN" sz="1400" b="0" i="0" dirty="0">
                <a:solidFill>
                  <a:srgbClr val="000000"/>
                </a:solidFill>
                <a:effectLst/>
                <a:latin typeface="Menlo"/>
              </a:rPr>
              <a:t> </a:t>
            </a:r>
            <a:r>
              <a:rPr lang="en-US" altLang="zh-CN" sz="1400" b="0" i="0" dirty="0">
                <a:solidFill>
                  <a:srgbClr val="800000"/>
                </a:solidFill>
                <a:effectLst/>
                <a:latin typeface="Menlo"/>
              </a:rPr>
              <a:t>10</a:t>
            </a:r>
            <a:r>
              <a:rPr lang="en-US" altLang="zh-CN" sz="1400" b="0" i="0" dirty="0">
                <a:solidFill>
                  <a:srgbClr val="000000"/>
                </a:solidFill>
                <a:effectLst/>
                <a:latin typeface="Menlo"/>
              </a:rPr>
              <a:t> * </a:t>
            </a:r>
            <a:r>
              <a:rPr lang="en-US" altLang="zh-CN" sz="1400" b="0" i="0" dirty="0">
                <a:solidFill>
                  <a:srgbClr val="800000"/>
                </a:solidFill>
                <a:effectLst/>
                <a:latin typeface="Menlo"/>
              </a:rPr>
              <a:t>3.25</a:t>
            </a:r>
            <a:r>
              <a:rPr lang="en-US" altLang="zh-CN" sz="1400" dirty="0"/>
              <a:t/>
            </a:r>
            <a:br>
              <a:rPr lang="en-US" altLang="zh-CN" sz="1400" dirty="0"/>
            </a:br>
            <a:r>
              <a:rPr lang="en-US" altLang="zh-CN" sz="1400" b="0" i="0" dirty="0">
                <a:solidFill>
                  <a:srgbClr val="808080"/>
                </a:solidFill>
                <a:effectLst/>
                <a:latin typeface="Menlo"/>
              </a:rPr>
              <a:t>&gt;&gt;&gt;</a:t>
            </a:r>
            <a:r>
              <a:rPr lang="en-US" altLang="zh-CN" sz="1400" b="0" i="0" dirty="0">
                <a:solidFill>
                  <a:srgbClr val="000000"/>
                </a:solidFill>
                <a:effectLst/>
                <a:latin typeface="Menlo"/>
              </a:rPr>
              <a:t> y </a:t>
            </a:r>
            <a:r>
              <a:rPr lang="en-US" altLang="zh-CN" sz="1400" b="0" i="0" dirty="0">
                <a:solidFill>
                  <a:srgbClr val="808080"/>
                </a:solidFill>
                <a:effectLst/>
                <a:latin typeface="Menlo"/>
              </a:rPr>
              <a:t>=</a:t>
            </a:r>
            <a:r>
              <a:rPr lang="en-US" altLang="zh-CN" sz="1400" b="0" i="0" dirty="0">
                <a:solidFill>
                  <a:srgbClr val="000000"/>
                </a:solidFill>
                <a:effectLst/>
                <a:latin typeface="Menlo"/>
              </a:rPr>
              <a:t> </a:t>
            </a:r>
            <a:r>
              <a:rPr lang="en-US" altLang="zh-CN" sz="1400" b="0" i="0" dirty="0">
                <a:solidFill>
                  <a:srgbClr val="800000"/>
                </a:solidFill>
                <a:effectLst/>
                <a:latin typeface="Menlo"/>
              </a:rPr>
              <a:t>200</a:t>
            </a:r>
            <a:r>
              <a:rPr lang="en-US" altLang="zh-CN" sz="1400" b="0" i="0" dirty="0">
                <a:solidFill>
                  <a:srgbClr val="000000"/>
                </a:solidFill>
                <a:effectLst/>
                <a:latin typeface="Menlo"/>
              </a:rPr>
              <a:t> * </a:t>
            </a:r>
            <a:r>
              <a:rPr lang="en-US" altLang="zh-CN" sz="1400" b="0" i="0" dirty="0">
                <a:solidFill>
                  <a:srgbClr val="800000"/>
                </a:solidFill>
                <a:effectLst/>
                <a:latin typeface="Menlo"/>
              </a:rPr>
              <a:t>200</a:t>
            </a:r>
            <a:r>
              <a:rPr lang="en-US" altLang="zh-CN" sz="1400" dirty="0"/>
              <a:t/>
            </a:r>
            <a:br>
              <a:rPr lang="en-US" altLang="zh-CN" sz="1400" dirty="0"/>
            </a:br>
            <a:r>
              <a:rPr lang="en-US" altLang="zh-CN" sz="1400" b="0" i="0" dirty="0">
                <a:solidFill>
                  <a:srgbClr val="808080"/>
                </a:solidFill>
                <a:effectLst/>
                <a:latin typeface="Menlo"/>
              </a:rPr>
              <a:t>&gt;&gt;&gt;</a:t>
            </a:r>
            <a:r>
              <a:rPr lang="en-US" altLang="zh-CN" sz="1400" b="0" i="0" dirty="0">
                <a:solidFill>
                  <a:srgbClr val="000000"/>
                </a:solidFill>
                <a:effectLst/>
                <a:latin typeface="Menlo"/>
              </a:rPr>
              <a:t> s </a:t>
            </a:r>
            <a:r>
              <a:rPr lang="en-US" altLang="zh-CN" sz="1400" b="0" i="0" dirty="0">
                <a:solidFill>
                  <a:srgbClr val="808080"/>
                </a:solidFill>
                <a:effectLst/>
                <a:latin typeface="Menlo"/>
              </a:rPr>
              <a:t>=</a:t>
            </a:r>
            <a:r>
              <a:rPr lang="en-US" altLang="zh-CN" sz="1400" b="0" i="0" dirty="0">
                <a:solidFill>
                  <a:srgbClr val="000000"/>
                </a:solidFill>
                <a:effectLst/>
                <a:latin typeface="Menlo"/>
              </a:rPr>
              <a:t> </a:t>
            </a:r>
            <a:r>
              <a:rPr lang="en-US" altLang="zh-CN" sz="1400" b="0" i="0" dirty="0">
                <a:solidFill>
                  <a:srgbClr val="AA1111"/>
                </a:solidFill>
                <a:effectLst/>
                <a:latin typeface="Menlo"/>
              </a:rPr>
              <a:t>'x </a:t>
            </a:r>
            <a:r>
              <a:rPr lang="zh-CN" altLang="en-US" sz="1400" b="0" i="0" dirty="0">
                <a:solidFill>
                  <a:srgbClr val="AA1111"/>
                </a:solidFill>
                <a:effectLst/>
                <a:latin typeface="Menlo"/>
              </a:rPr>
              <a:t>的值为： </a:t>
            </a:r>
            <a:r>
              <a:rPr lang="en-US" altLang="zh-CN" sz="1400" b="0" i="0" dirty="0">
                <a:solidFill>
                  <a:srgbClr val="AA1111"/>
                </a:solidFill>
                <a:effectLst/>
                <a:latin typeface="Menlo"/>
              </a:rPr>
              <a:t>'</a:t>
            </a:r>
            <a:r>
              <a:rPr lang="zh-CN" altLang="en-US" sz="1400" b="0" i="0" dirty="0">
                <a:solidFill>
                  <a:srgbClr val="000000"/>
                </a:solidFill>
                <a:effectLst/>
                <a:latin typeface="Menlo"/>
              </a:rPr>
              <a:t> </a:t>
            </a:r>
            <a:r>
              <a:rPr lang="en-US" altLang="zh-CN" sz="1400" b="0" i="0" dirty="0">
                <a:solidFill>
                  <a:srgbClr val="000000"/>
                </a:solidFill>
                <a:effectLst/>
                <a:latin typeface="Menlo"/>
              </a:rPr>
              <a:t>+ </a:t>
            </a:r>
            <a:r>
              <a:rPr lang="en-US" altLang="zh-CN" sz="1400" b="0" i="0" dirty="0" err="1">
                <a:solidFill>
                  <a:srgbClr val="0055AA"/>
                </a:solidFill>
                <a:effectLst/>
                <a:latin typeface="Menlo"/>
              </a:rPr>
              <a:t>repr</a:t>
            </a:r>
            <a:r>
              <a:rPr lang="en-US" altLang="zh-CN" sz="1400" b="0" i="0" dirty="0">
                <a:solidFill>
                  <a:srgbClr val="808000"/>
                </a:solidFill>
                <a:effectLst/>
                <a:latin typeface="Menlo"/>
              </a:rPr>
              <a:t>(</a:t>
            </a:r>
            <a:r>
              <a:rPr lang="en-US" altLang="zh-CN" sz="1400" b="0" i="0" dirty="0">
                <a:solidFill>
                  <a:srgbClr val="000000"/>
                </a:solidFill>
                <a:effectLst/>
                <a:latin typeface="Menlo"/>
              </a:rPr>
              <a:t>x</a:t>
            </a:r>
            <a:r>
              <a:rPr lang="en-US" altLang="zh-CN" sz="1400" b="0" i="0" dirty="0">
                <a:solidFill>
                  <a:srgbClr val="808000"/>
                </a:solidFill>
                <a:effectLst/>
                <a:latin typeface="Menlo"/>
              </a:rPr>
              <a:t>)</a:t>
            </a:r>
            <a:r>
              <a:rPr lang="en-US" altLang="zh-CN" sz="1400" b="0" i="0" dirty="0">
                <a:solidFill>
                  <a:srgbClr val="000000"/>
                </a:solidFill>
                <a:effectLst/>
                <a:latin typeface="Menlo"/>
              </a:rPr>
              <a:t> + </a:t>
            </a:r>
            <a:r>
              <a:rPr lang="en-US" altLang="zh-CN" sz="1400" b="0" i="0" dirty="0">
                <a:solidFill>
                  <a:srgbClr val="AA1111"/>
                </a:solidFill>
                <a:effectLst/>
                <a:latin typeface="Menlo"/>
              </a:rPr>
              <a:t>',  y </a:t>
            </a:r>
            <a:r>
              <a:rPr lang="zh-CN" altLang="en-US" sz="1400" b="0" i="0" dirty="0">
                <a:solidFill>
                  <a:srgbClr val="AA1111"/>
                </a:solidFill>
                <a:effectLst/>
                <a:latin typeface="Menlo"/>
              </a:rPr>
              <a:t>的值为：</a:t>
            </a:r>
            <a:r>
              <a:rPr lang="en-US" altLang="zh-CN" sz="1400" b="0" i="0" dirty="0">
                <a:solidFill>
                  <a:srgbClr val="AA1111"/>
                </a:solidFill>
                <a:effectLst/>
                <a:latin typeface="Menlo"/>
              </a:rPr>
              <a:t>'</a:t>
            </a:r>
            <a:r>
              <a:rPr lang="zh-CN" altLang="en-US" sz="1400" b="0" i="0" dirty="0">
                <a:solidFill>
                  <a:srgbClr val="000000"/>
                </a:solidFill>
                <a:effectLst/>
                <a:latin typeface="Menlo"/>
              </a:rPr>
              <a:t> </a:t>
            </a:r>
            <a:r>
              <a:rPr lang="en-US" altLang="zh-CN" sz="1400" b="0" i="0" dirty="0">
                <a:solidFill>
                  <a:srgbClr val="000000"/>
                </a:solidFill>
                <a:effectLst/>
                <a:latin typeface="Menlo"/>
              </a:rPr>
              <a:t>+ </a:t>
            </a:r>
            <a:r>
              <a:rPr lang="en-US" altLang="zh-CN" sz="1400" b="0" i="0" dirty="0" err="1">
                <a:solidFill>
                  <a:srgbClr val="0055AA"/>
                </a:solidFill>
                <a:effectLst/>
                <a:latin typeface="Menlo"/>
              </a:rPr>
              <a:t>repr</a:t>
            </a:r>
            <a:r>
              <a:rPr lang="en-US" altLang="zh-CN" sz="1400" b="0" i="0" dirty="0">
                <a:solidFill>
                  <a:srgbClr val="808000"/>
                </a:solidFill>
                <a:effectLst/>
                <a:latin typeface="Menlo"/>
              </a:rPr>
              <a:t>(</a:t>
            </a:r>
            <a:r>
              <a:rPr lang="en-US" altLang="zh-CN" sz="1400" b="0" i="0" dirty="0">
                <a:solidFill>
                  <a:srgbClr val="000000"/>
                </a:solidFill>
                <a:effectLst/>
                <a:latin typeface="Menlo"/>
              </a:rPr>
              <a:t>y</a:t>
            </a:r>
            <a:r>
              <a:rPr lang="en-US" altLang="zh-CN" sz="1400" b="0" i="0" dirty="0">
                <a:solidFill>
                  <a:srgbClr val="808000"/>
                </a:solidFill>
                <a:effectLst/>
                <a:latin typeface="Menlo"/>
              </a:rPr>
              <a:t>)</a:t>
            </a:r>
            <a:r>
              <a:rPr lang="en-US" altLang="zh-CN" sz="1400" b="0" i="0" dirty="0">
                <a:solidFill>
                  <a:srgbClr val="000000"/>
                </a:solidFill>
                <a:effectLst/>
                <a:latin typeface="Menlo"/>
              </a:rPr>
              <a:t> + </a:t>
            </a:r>
            <a:r>
              <a:rPr lang="en-US" altLang="zh-CN" sz="1400" b="0" i="0" dirty="0">
                <a:solidFill>
                  <a:srgbClr val="AA1111"/>
                </a:solidFill>
                <a:effectLst/>
                <a:latin typeface="Menlo"/>
              </a:rPr>
              <a:t>'...'</a:t>
            </a:r>
            <a:r>
              <a:rPr lang="en-US" altLang="zh-CN" sz="1400" dirty="0"/>
              <a:t/>
            </a:r>
            <a:br>
              <a:rPr lang="en-US" altLang="zh-CN" sz="1400" dirty="0"/>
            </a:br>
            <a:r>
              <a:rPr lang="en-US" altLang="zh-CN" sz="1400" b="0" i="0" dirty="0">
                <a:solidFill>
                  <a:srgbClr val="808080"/>
                </a:solidFill>
                <a:effectLst/>
                <a:latin typeface="Menlo"/>
              </a:rPr>
              <a:t>&gt;&gt;&gt;</a:t>
            </a:r>
            <a:r>
              <a:rPr lang="en-US" altLang="zh-CN" sz="1400" b="0" i="0" dirty="0">
                <a:solidFill>
                  <a:srgbClr val="000000"/>
                </a:solidFill>
                <a:effectLst/>
                <a:latin typeface="Menlo"/>
              </a:rPr>
              <a:t> </a:t>
            </a:r>
            <a:r>
              <a:rPr lang="en-US" altLang="zh-CN" sz="1400" b="1" i="0" dirty="0">
                <a:solidFill>
                  <a:srgbClr val="008000"/>
                </a:solidFill>
                <a:effectLst/>
                <a:latin typeface="Menlo"/>
              </a:rPr>
              <a:t>print</a:t>
            </a:r>
            <a:r>
              <a:rPr lang="en-US" altLang="zh-CN" sz="1400" b="0" i="0" dirty="0">
                <a:solidFill>
                  <a:srgbClr val="808000"/>
                </a:solidFill>
                <a:effectLst/>
                <a:latin typeface="Menlo"/>
              </a:rPr>
              <a:t>(</a:t>
            </a:r>
            <a:r>
              <a:rPr lang="en-US" altLang="zh-CN" sz="1400" b="0" i="0" dirty="0">
                <a:solidFill>
                  <a:srgbClr val="000000"/>
                </a:solidFill>
                <a:effectLst/>
                <a:latin typeface="Menlo"/>
              </a:rPr>
              <a:t>s</a:t>
            </a:r>
            <a:r>
              <a:rPr lang="en-US" altLang="zh-CN" sz="1400" b="0" i="0" dirty="0">
                <a:solidFill>
                  <a:srgbClr val="808000"/>
                </a:solidFill>
                <a:effectLst/>
                <a:latin typeface="Menlo"/>
              </a:rPr>
              <a:t>)</a:t>
            </a:r>
            <a:r>
              <a:rPr lang="en-US" altLang="zh-CN" sz="1400" dirty="0"/>
              <a:t/>
            </a:r>
            <a:br>
              <a:rPr lang="en-US" altLang="zh-CN" sz="1400" dirty="0"/>
            </a:br>
            <a:r>
              <a:rPr lang="en-US" altLang="zh-CN" sz="1400" dirty="0">
                <a:solidFill>
                  <a:srgbClr val="0000FF"/>
                </a:solidFill>
                <a:latin typeface="Menlo"/>
              </a:rPr>
              <a:t>x </a:t>
            </a:r>
            <a:r>
              <a:rPr lang="zh-CN" altLang="en-US" sz="1400" dirty="0">
                <a:solidFill>
                  <a:srgbClr val="0000FF"/>
                </a:solidFill>
                <a:latin typeface="Menlo"/>
              </a:rPr>
              <a:t>的值为： </a:t>
            </a:r>
            <a:r>
              <a:rPr lang="en-US" altLang="zh-CN" sz="1400" dirty="0">
                <a:solidFill>
                  <a:srgbClr val="0000FF"/>
                </a:solidFill>
                <a:latin typeface="Menlo"/>
              </a:rPr>
              <a:t>32.5,</a:t>
            </a:r>
            <a:r>
              <a:rPr lang="zh-CN" altLang="en-US" sz="1400" dirty="0">
                <a:solidFill>
                  <a:srgbClr val="0000FF"/>
                </a:solidFill>
                <a:latin typeface="Menlo"/>
              </a:rPr>
              <a:t>  </a:t>
            </a:r>
            <a:r>
              <a:rPr lang="en-US" altLang="zh-CN" sz="1400" dirty="0">
                <a:solidFill>
                  <a:srgbClr val="0000FF"/>
                </a:solidFill>
                <a:latin typeface="Menlo"/>
              </a:rPr>
              <a:t>y </a:t>
            </a:r>
            <a:r>
              <a:rPr lang="zh-CN" altLang="en-US" sz="1400" dirty="0">
                <a:solidFill>
                  <a:srgbClr val="0000FF"/>
                </a:solidFill>
                <a:latin typeface="Menlo"/>
              </a:rPr>
              <a:t>的值为：</a:t>
            </a:r>
            <a:r>
              <a:rPr lang="en-US" altLang="zh-CN" sz="1400" dirty="0">
                <a:solidFill>
                  <a:srgbClr val="0000FF"/>
                </a:solidFill>
                <a:latin typeface="Menlo"/>
              </a:rPr>
              <a:t>40000...</a:t>
            </a:r>
            <a:r>
              <a:rPr lang="zh-CN" altLang="en-US" sz="1400" dirty="0"/>
              <a:t/>
            </a:r>
            <a:br>
              <a:rPr lang="zh-CN" altLang="en-US" sz="1400" dirty="0"/>
            </a:br>
            <a:r>
              <a:rPr lang="en-US" altLang="zh-CN" sz="1400" b="0" i="0" dirty="0">
                <a:solidFill>
                  <a:srgbClr val="808080"/>
                </a:solidFill>
                <a:effectLst/>
                <a:latin typeface="Menlo"/>
              </a:rPr>
              <a:t>&gt;&gt;&gt;</a:t>
            </a:r>
            <a:r>
              <a:rPr lang="zh-CN" altLang="en-US" sz="1400" b="0" i="0" dirty="0">
                <a:solidFill>
                  <a:srgbClr val="000000"/>
                </a:solidFill>
                <a:effectLst/>
                <a:latin typeface="Menlo"/>
              </a:rPr>
              <a:t> </a:t>
            </a:r>
            <a:r>
              <a:rPr lang="en-US" altLang="zh-CN" sz="1400" b="0" i="0" dirty="0">
                <a:solidFill>
                  <a:srgbClr val="AA5500"/>
                </a:solidFill>
                <a:effectLst/>
                <a:latin typeface="Menlo"/>
              </a:rPr>
              <a:t>#  </a:t>
            </a:r>
            <a:r>
              <a:rPr lang="en-US" altLang="zh-CN" sz="1400" b="0" i="0" dirty="0" err="1">
                <a:solidFill>
                  <a:srgbClr val="AA5500"/>
                </a:solidFill>
                <a:effectLst/>
                <a:latin typeface="Menlo"/>
              </a:rPr>
              <a:t>repr</a:t>
            </a:r>
            <a:r>
              <a:rPr lang="en-US" altLang="zh-CN" sz="1400" b="0" i="0" dirty="0">
                <a:solidFill>
                  <a:srgbClr val="AA5500"/>
                </a:solidFill>
                <a:effectLst/>
                <a:latin typeface="Menlo"/>
              </a:rPr>
              <a:t>() </a:t>
            </a:r>
            <a:r>
              <a:rPr lang="zh-CN" altLang="en-US" sz="1400" b="0" i="0" dirty="0">
                <a:solidFill>
                  <a:srgbClr val="AA5500"/>
                </a:solidFill>
                <a:effectLst/>
                <a:latin typeface="Menlo"/>
              </a:rPr>
              <a:t>函数可以转义字符串中的特殊字符</a:t>
            </a:r>
            <a:r>
              <a:rPr lang="zh-CN" altLang="en-US" sz="1400" dirty="0"/>
              <a:t/>
            </a:r>
            <a:br>
              <a:rPr lang="zh-CN" altLang="en-US" sz="1400" dirty="0"/>
            </a:br>
            <a:r>
              <a:rPr lang="en-US" altLang="zh-CN" sz="1400" dirty="0">
                <a:solidFill>
                  <a:srgbClr val="0000FF"/>
                </a:solidFill>
                <a:latin typeface="Menlo"/>
              </a:rPr>
              <a:t>... hello = 'hello, HFUT\n'</a:t>
            </a:r>
            <a:br>
              <a:rPr lang="en-US" altLang="zh-CN" sz="1400" dirty="0">
                <a:solidFill>
                  <a:srgbClr val="0000FF"/>
                </a:solidFill>
                <a:latin typeface="Menlo"/>
              </a:rPr>
            </a:br>
            <a:r>
              <a:rPr lang="en-US" altLang="zh-CN" sz="1400" b="0" i="0" dirty="0">
                <a:solidFill>
                  <a:srgbClr val="808080"/>
                </a:solidFill>
                <a:effectLst/>
                <a:latin typeface="Menlo"/>
              </a:rPr>
              <a:t>&gt;&gt;&gt;</a:t>
            </a:r>
            <a:r>
              <a:rPr lang="en-US" altLang="zh-CN" sz="1400" b="0" i="0" dirty="0">
                <a:solidFill>
                  <a:srgbClr val="000000"/>
                </a:solidFill>
                <a:effectLst/>
                <a:latin typeface="Menlo"/>
              </a:rPr>
              <a:t> hellos </a:t>
            </a:r>
            <a:r>
              <a:rPr lang="en-US" altLang="zh-CN" sz="1400" b="0" i="0" dirty="0">
                <a:solidFill>
                  <a:srgbClr val="808080"/>
                </a:solidFill>
                <a:effectLst/>
                <a:latin typeface="Menlo"/>
              </a:rPr>
              <a:t>=</a:t>
            </a:r>
            <a:r>
              <a:rPr lang="en-US" altLang="zh-CN" sz="1400" b="0" i="0" dirty="0">
                <a:solidFill>
                  <a:srgbClr val="000000"/>
                </a:solidFill>
                <a:effectLst/>
                <a:latin typeface="Menlo"/>
              </a:rPr>
              <a:t> </a:t>
            </a:r>
            <a:r>
              <a:rPr lang="en-US" altLang="zh-CN" sz="1400" b="0" i="0" dirty="0" err="1">
                <a:solidFill>
                  <a:srgbClr val="0055AA"/>
                </a:solidFill>
                <a:effectLst/>
                <a:latin typeface="Menlo"/>
              </a:rPr>
              <a:t>repr</a:t>
            </a:r>
            <a:r>
              <a:rPr lang="en-US" altLang="zh-CN" sz="1400" b="0" i="0" dirty="0">
                <a:solidFill>
                  <a:srgbClr val="808000"/>
                </a:solidFill>
                <a:effectLst/>
                <a:latin typeface="Menlo"/>
              </a:rPr>
              <a:t>(</a:t>
            </a:r>
            <a:r>
              <a:rPr lang="en-US" altLang="zh-CN" sz="1400" b="0" i="0" dirty="0">
                <a:solidFill>
                  <a:srgbClr val="000000"/>
                </a:solidFill>
                <a:effectLst/>
                <a:latin typeface="Menlo"/>
              </a:rPr>
              <a:t>hello</a:t>
            </a:r>
            <a:r>
              <a:rPr lang="en-US" altLang="zh-CN" sz="1400" b="0" i="0" dirty="0">
                <a:solidFill>
                  <a:srgbClr val="808000"/>
                </a:solidFill>
                <a:effectLst/>
                <a:latin typeface="Menlo"/>
              </a:rPr>
              <a:t>)</a:t>
            </a:r>
            <a:r>
              <a:rPr lang="en-US" altLang="zh-CN" sz="1400" dirty="0"/>
              <a:t/>
            </a:r>
            <a:br>
              <a:rPr lang="en-US" altLang="zh-CN" sz="1400" dirty="0"/>
            </a:br>
            <a:r>
              <a:rPr lang="en-US" altLang="zh-CN" sz="1400" b="0" i="0" dirty="0">
                <a:solidFill>
                  <a:srgbClr val="808080"/>
                </a:solidFill>
                <a:effectLst/>
                <a:latin typeface="Menlo"/>
              </a:rPr>
              <a:t>&gt;&gt;&gt;</a:t>
            </a:r>
            <a:r>
              <a:rPr lang="en-US" altLang="zh-CN" sz="1400" b="0" i="0" dirty="0">
                <a:solidFill>
                  <a:srgbClr val="000000"/>
                </a:solidFill>
                <a:effectLst/>
                <a:latin typeface="Menlo"/>
              </a:rPr>
              <a:t> </a:t>
            </a:r>
            <a:r>
              <a:rPr lang="en-US" altLang="zh-CN" sz="1400" b="1" i="0" dirty="0">
                <a:solidFill>
                  <a:srgbClr val="008000"/>
                </a:solidFill>
                <a:effectLst/>
                <a:latin typeface="Menlo"/>
              </a:rPr>
              <a:t>print</a:t>
            </a:r>
            <a:r>
              <a:rPr lang="en-US" altLang="zh-CN" sz="1400" b="0" i="0" dirty="0">
                <a:solidFill>
                  <a:srgbClr val="808000"/>
                </a:solidFill>
                <a:effectLst/>
                <a:latin typeface="Menlo"/>
              </a:rPr>
              <a:t>(</a:t>
            </a:r>
            <a:r>
              <a:rPr lang="en-US" altLang="zh-CN" sz="1400" b="0" i="0" dirty="0">
                <a:solidFill>
                  <a:srgbClr val="000000"/>
                </a:solidFill>
                <a:effectLst/>
                <a:latin typeface="Menlo"/>
              </a:rPr>
              <a:t>hellos</a:t>
            </a:r>
            <a:r>
              <a:rPr lang="en-US" altLang="zh-CN" sz="1400" b="0" i="0" dirty="0">
                <a:solidFill>
                  <a:srgbClr val="808000"/>
                </a:solidFill>
                <a:effectLst/>
                <a:latin typeface="Menlo"/>
              </a:rPr>
              <a:t>)</a:t>
            </a:r>
            <a:r>
              <a:rPr lang="en-US" altLang="zh-CN" sz="1400" dirty="0"/>
              <a:t/>
            </a:r>
            <a:br>
              <a:rPr lang="en-US" altLang="zh-CN" sz="1400" dirty="0"/>
            </a:br>
            <a:r>
              <a:rPr lang="en-US" altLang="zh-CN" sz="1400" dirty="0">
                <a:solidFill>
                  <a:srgbClr val="0000FF"/>
                </a:solidFill>
                <a:latin typeface="Menlo"/>
              </a:rPr>
              <a:t>'hello, HFUT\n'</a:t>
            </a:r>
            <a:br>
              <a:rPr lang="en-US" altLang="zh-CN" sz="1400" dirty="0">
                <a:solidFill>
                  <a:srgbClr val="0000FF"/>
                </a:solidFill>
                <a:latin typeface="Menlo"/>
              </a:rPr>
            </a:br>
            <a:r>
              <a:rPr lang="en-US" altLang="zh-CN" sz="1400" b="0" i="0" dirty="0">
                <a:solidFill>
                  <a:srgbClr val="808080"/>
                </a:solidFill>
                <a:effectLst/>
                <a:latin typeface="Menlo"/>
              </a:rPr>
              <a:t>&gt;&gt;&gt;</a:t>
            </a:r>
            <a:r>
              <a:rPr lang="en-US" altLang="zh-CN" sz="1400" b="0" i="0" dirty="0">
                <a:solidFill>
                  <a:srgbClr val="000000"/>
                </a:solidFill>
                <a:effectLst/>
                <a:latin typeface="Menlo"/>
              </a:rPr>
              <a:t> </a:t>
            </a:r>
            <a:r>
              <a:rPr lang="en-US" altLang="zh-CN" sz="1400" b="0" i="0" dirty="0">
                <a:solidFill>
                  <a:srgbClr val="AA5500"/>
                </a:solidFill>
                <a:effectLst/>
                <a:latin typeface="Menlo"/>
              </a:rPr>
              <a:t># </a:t>
            </a:r>
            <a:r>
              <a:rPr lang="en-US" altLang="zh-CN" sz="1400" b="0" i="0" dirty="0" err="1">
                <a:solidFill>
                  <a:srgbClr val="AA5500"/>
                </a:solidFill>
                <a:effectLst/>
                <a:latin typeface="Menlo"/>
              </a:rPr>
              <a:t>repr</a:t>
            </a:r>
            <a:r>
              <a:rPr lang="en-US" altLang="zh-CN" sz="1400" b="0" i="0" dirty="0">
                <a:solidFill>
                  <a:srgbClr val="AA5500"/>
                </a:solidFill>
                <a:effectLst/>
                <a:latin typeface="Menlo"/>
              </a:rPr>
              <a:t>() </a:t>
            </a:r>
            <a:r>
              <a:rPr lang="zh-CN" altLang="en-US" sz="1400" b="0" i="0" dirty="0">
                <a:solidFill>
                  <a:srgbClr val="AA5500"/>
                </a:solidFill>
                <a:effectLst/>
                <a:latin typeface="Menlo"/>
              </a:rPr>
              <a:t>的参数可以是 </a:t>
            </a:r>
            <a:r>
              <a:rPr lang="en-US" altLang="zh-CN" sz="1400" b="0" i="0" dirty="0">
                <a:solidFill>
                  <a:srgbClr val="AA5500"/>
                </a:solidFill>
                <a:effectLst/>
                <a:latin typeface="Menlo"/>
              </a:rPr>
              <a:t>Python </a:t>
            </a:r>
            <a:r>
              <a:rPr lang="zh-CN" altLang="en-US" sz="1400" b="0" i="0" dirty="0">
                <a:solidFill>
                  <a:srgbClr val="AA5500"/>
                </a:solidFill>
                <a:effectLst/>
                <a:latin typeface="Menlo"/>
              </a:rPr>
              <a:t>的任何对象</a:t>
            </a:r>
            <a:r>
              <a:rPr lang="zh-CN" altLang="en-US" sz="1400" dirty="0"/>
              <a:t/>
            </a:r>
            <a:br>
              <a:rPr lang="zh-CN" altLang="en-US" sz="1400" dirty="0"/>
            </a:br>
            <a:r>
              <a:rPr lang="en-US" altLang="zh-CN" sz="1400" b="0" i="0" dirty="0">
                <a:solidFill>
                  <a:srgbClr val="000000"/>
                </a:solidFill>
                <a:effectLst/>
                <a:latin typeface="Menlo"/>
              </a:rPr>
              <a:t>... </a:t>
            </a:r>
            <a:r>
              <a:rPr lang="en-US" altLang="zh-CN" sz="1400" b="0" i="0" dirty="0" err="1">
                <a:solidFill>
                  <a:srgbClr val="0055AA"/>
                </a:solidFill>
                <a:effectLst/>
                <a:latin typeface="Menlo"/>
              </a:rPr>
              <a:t>repr</a:t>
            </a:r>
            <a:r>
              <a:rPr lang="en-US" altLang="zh-CN" sz="1400" b="0" i="0" dirty="0">
                <a:solidFill>
                  <a:srgbClr val="808000"/>
                </a:solidFill>
                <a:effectLst/>
                <a:latin typeface="Menlo"/>
              </a:rPr>
              <a:t>((</a:t>
            </a:r>
            <a:r>
              <a:rPr lang="en-US" altLang="zh-CN" sz="1400" b="0" i="0" dirty="0">
                <a:solidFill>
                  <a:srgbClr val="000000"/>
                </a:solidFill>
                <a:effectLst/>
                <a:latin typeface="Menlo"/>
              </a:rPr>
              <a:t>x</a:t>
            </a:r>
            <a:r>
              <a:rPr lang="en-US" altLang="zh-CN" sz="1400" b="0" i="0" dirty="0">
                <a:solidFill>
                  <a:srgbClr val="808080"/>
                </a:solidFill>
                <a:effectLst/>
                <a:latin typeface="Menlo"/>
              </a:rPr>
              <a:t>,</a:t>
            </a:r>
            <a:r>
              <a:rPr lang="en-US" altLang="zh-CN" sz="1400" b="0" i="0" dirty="0">
                <a:solidFill>
                  <a:srgbClr val="000000"/>
                </a:solidFill>
                <a:effectLst/>
                <a:latin typeface="Menlo"/>
              </a:rPr>
              <a:t> y</a:t>
            </a:r>
            <a:r>
              <a:rPr lang="en-US" altLang="zh-CN" sz="1400" b="0" i="0" dirty="0">
                <a:solidFill>
                  <a:srgbClr val="808080"/>
                </a:solidFill>
                <a:effectLst/>
                <a:latin typeface="Menlo"/>
              </a:rPr>
              <a:t>,</a:t>
            </a:r>
            <a:r>
              <a:rPr lang="en-US" altLang="zh-CN" sz="1400" b="0" i="0" dirty="0">
                <a:solidFill>
                  <a:srgbClr val="000000"/>
                </a:solidFill>
                <a:effectLst/>
                <a:latin typeface="Menlo"/>
              </a:rPr>
              <a:t> </a:t>
            </a:r>
            <a:r>
              <a:rPr lang="en-US" altLang="zh-CN" sz="1400" b="0" i="0" dirty="0">
                <a:solidFill>
                  <a:srgbClr val="808000"/>
                </a:solidFill>
                <a:effectLst/>
                <a:latin typeface="Menlo"/>
              </a:rPr>
              <a:t>(</a:t>
            </a:r>
            <a:r>
              <a:rPr lang="en-US" altLang="zh-CN" sz="1400" b="0" i="0" dirty="0">
                <a:solidFill>
                  <a:srgbClr val="AA1111"/>
                </a:solidFill>
                <a:effectLst/>
                <a:latin typeface="Menlo"/>
              </a:rPr>
              <a:t>'Google'</a:t>
            </a:r>
            <a:r>
              <a:rPr lang="en-US" altLang="zh-CN" sz="1400" b="0" i="0" dirty="0">
                <a:solidFill>
                  <a:srgbClr val="808080"/>
                </a:solidFill>
                <a:effectLst/>
                <a:latin typeface="Menlo"/>
              </a:rPr>
              <a:t>,</a:t>
            </a:r>
            <a:r>
              <a:rPr lang="en-US" altLang="zh-CN" sz="1400" b="0" i="0" dirty="0">
                <a:solidFill>
                  <a:srgbClr val="000000"/>
                </a:solidFill>
                <a:effectLst/>
                <a:latin typeface="Menlo"/>
              </a:rPr>
              <a:t> </a:t>
            </a:r>
            <a:r>
              <a:rPr lang="en-US" altLang="zh-CN" sz="1400" b="0" i="0" dirty="0">
                <a:solidFill>
                  <a:srgbClr val="AA1111"/>
                </a:solidFill>
                <a:effectLst/>
                <a:latin typeface="Menlo"/>
              </a:rPr>
              <a:t>'HFUT'</a:t>
            </a:r>
            <a:r>
              <a:rPr lang="en-US" altLang="zh-CN" sz="1400" b="0" i="0" dirty="0">
                <a:solidFill>
                  <a:srgbClr val="808000"/>
                </a:solidFill>
                <a:effectLst/>
                <a:latin typeface="Menlo"/>
              </a:rPr>
              <a:t>)))</a:t>
            </a:r>
            <a:r>
              <a:rPr lang="en-US" altLang="zh-CN" sz="1400" dirty="0"/>
              <a:t/>
            </a:r>
            <a:br>
              <a:rPr lang="en-US" altLang="zh-CN" sz="1400" dirty="0"/>
            </a:br>
            <a:r>
              <a:rPr lang="en-US" altLang="zh-CN" sz="1400" dirty="0">
                <a:solidFill>
                  <a:srgbClr val="0000FF"/>
                </a:solidFill>
                <a:latin typeface="Menlo"/>
              </a:rPr>
              <a:t>"(32.5, 40000, ('Google', 'HFUT'))"</a:t>
            </a:r>
            <a:endParaRPr lang="zh-CN" altLang="en-US" sz="1400" dirty="0">
              <a:solidFill>
                <a:srgbClr val="0000FF"/>
              </a:solidFill>
              <a:latin typeface="Menlo"/>
            </a:endParaRPr>
          </a:p>
          <a:p>
            <a:endParaRPr lang="zh-CN" altLang="en-US" dirty="0"/>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103</a:t>
            </a:fld>
            <a:endParaRPr lang="zh-CN" altLang="en-US" dirty="0"/>
          </a:p>
        </p:txBody>
      </p:sp>
      <p:sp>
        <p:nvSpPr>
          <p:cNvPr id="5" name="文本框 4"/>
          <p:cNvSpPr txBox="1"/>
          <p:nvPr/>
        </p:nvSpPr>
        <p:spPr>
          <a:xfrm>
            <a:off x="3203848" y="2420888"/>
            <a:ext cx="571829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rgbClr val="0000FF"/>
                </a:solidFill>
              </a:rPr>
              <a:t>引申阅读 </a:t>
            </a:r>
            <a:r>
              <a:rPr lang="en-US" altLang="zh-CN" dirty="0">
                <a:solidFill>
                  <a:srgbClr val="0000FF"/>
                </a:solidFill>
              </a:rPr>
              <a:t>https://www.jianshu.com/p/2a41315ca47e</a:t>
            </a:r>
            <a:endParaRPr lang="zh-CN" altLang="en-US" dirty="0">
              <a:solidFill>
                <a:srgbClr val="0000FF"/>
              </a:solidFill>
            </a:endParaRPr>
          </a:p>
        </p:txBody>
      </p:sp>
      <p:sp>
        <p:nvSpPr>
          <p:cNvPr id="6" name="文本框 5"/>
          <p:cNvSpPr txBox="1"/>
          <p:nvPr/>
        </p:nvSpPr>
        <p:spPr>
          <a:xfrm>
            <a:off x="7452320" y="6093296"/>
            <a:ext cx="646331" cy="369332"/>
          </a:xfrm>
          <a:prstGeom prst="rect">
            <a:avLst/>
          </a:prstGeom>
          <a:noFill/>
        </p:spPr>
        <p:txBody>
          <a:bodyPr wrap="none" rtlCol="0">
            <a:spAutoFit/>
          </a:bodyPr>
          <a:lstStyle/>
          <a:p>
            <a:r>
              <a:rPr lang="zh-CN" altLang="en-US" dirty="0">
                <a:hlinkClick r:id="rId4" action="ppaction://hlinksldjump"/>
              </a:rPr>
              <a:t>返回</a:t>
            </a:r>
            <a:endParaRPr lang="zh-CN" altLang="en-US" dirty="0"/>
          </a:p>
        </p:txBody>
      </p:sp>
    </p:spTree>
  </p:cSld>
  <p:clrMapOvr>
    <a:masterClrMapping/>
  </p:clrMapOvr>
  <p:transition spd="slow" advClick="0">
    <p:pull dir="d"/>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微信图片_20191019182251.jpg"/>
          <p:cNvPicPr>
            <a:picLocks noChangeAspect="1"/>
          </p:cNvPicPr>
          <p:nvPr/>
        </p:nvPicPr>
        <p:blipFill>
          <a:blip r:embed="rId2" cstate="print"/>
          <a:stretch>
            <a:fillRect/>
          </a:stretch>
        </p:blipFill>
        <p:spPr>
          <a:xfrm>
            <a:off x="6588224" y="4210514"/>
            <a:ext cx="1179998" cy="1179998"/>
          </a:xfrm>
          <a:prstGeom prst="rect">
            <a:avLst/>
          </a:prstGeom>
        </p:spPr>
      </p:pic>
      <p:sp>
        <p:nvSpPr>
          <p:cNvPr id="4" name="灯片编号占位符 3"/>
          <p:cNvSpPr>
            <a:spLocks noGrp="1"/>
          </p:cNvSpPr>
          <p:nvPr>
            <p:ph type="sldNum" sz="quarter" idx="4"/>
          </p:nvPr>
        </p:nvSpPr>
        <p:spPr/>
        <p:txBody>
          <a:bodyPr/>
          <a:lstStyle/>
          <a:p>
            <a:pPr>
              <a:defRPr/>
            </a:pPr>
            <a:fld id="{6EA7BA5E-4115-4796-A8C9-4698036AB88B}" type="slidenum">
              <a:rPr lang="zh-CN" altLang="en-US" smtClean="0"/>
              <a:t>104</a:t>
            </a:fld>
            <a:endParaRPr lang="zh-CN" altLang="en-US" dirty="0"/>
          </a:p>
        </p:txBody>
      </p:sp>
      <p:grpSp>
        <p:nvGrpSpPr>
          <p:cNvPr id="5" name="组合 4"/>
          <p:cNvGrpSpPr/>
          <p:nvPr/>
        </p:nvGrpSpPr>
        <p:grpSpPr>
          <a:xfrm>
            <a:off x="1074990" y="3814720"/>
            <a:ext cx="6388100" cy="2708434"/>
            <a:chOff x="1520825" y="4834037"/>
            <a:chExt cx="6388100" cy="2708434"/>
          </a:xfrm>
        </p:grpSpPr>
        <p:sp>
          <p:nvSpPr>
            <p:cNvPr id="6" name="矩形 5"/>
            <p:cNvSpPr/>
            <p:nvPr/>
          </p:nvSpPr>
          <p:spPr>
            <a:xfrm>
              <a:off x="1520825" y="4834037"/>
              <a:ext cx="6388100" cy="2708434"/>
            </a:xfrm>
            <a:prstGeom prst="rect">
              <a:avLst/>
            </a:prstGeom>
          </p:spPr>
          <p:txBody>
            <a:bodyPr wrap="square">
              <a:spAutoFit/>
            </a:bodyPr>
            <a:lstStyle/>
            <a:p>
              <a:pPr algn="ctr" eaLnBrk="0" hangingPunct="0">
                <a:lnSpc>
                  <a:spcPct val="125000"/>
                </a:lnSpc>
              </a:pPr>
              <a:r>
                <a:rPr lang="zh-CN" altLang="en-US" sz="2000" b="1" dirty="0">
                  <a:latin typeface="Times New Roman" panose="02020603050405020304" pitchFamily="18" charset="0"/>
                  <a:ea typeface="黑体" panose="02010609060101010101" pitchFamily="49" charset="-122"/>
                </a:rPr>
                <a:t>李培培</a:t>
              </a:r>
              <a:endParaRPr lang="en-US" altLang="zh-CN" sz="2000" b="1" dirty="0">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QQ</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123452644</a:t>
              </a:r>
              <a:r>
                <a:rPr lang="zh-CN" altLang="en-US" sz="2000" b="1" dirty="0">
                  <a:latin typeface="Times New Roman" panose="02020603050405020304" pitchFamily="18" charset="0"/>
                  <a:ea typeface="黑体" panose="02010609060101010101" pitchFamily="49" charset="-122"/>
                </a:rPr>
                <a:t>，</a:t>
              </a:r>
              <a:r>
                <a:rPr lang="zh-CN" altLang="en-US" sz="2000" b="1" dirty="0">
                  <a:solidFill>
                    <a:srgbClr val="FF0000"/>
                  </a:solidFill>
                  <a:latin typeface="Times New Roman" panose="02020603050405020304" pitchFamily="18" charset="0"/>
                  <a:ea typeface="黑体" panose="02010609060101010101" pitchFamily="49" charset="-122"/>
                </a:rPr>
                <a:t> 微信：</a:t>
              </a:r>
              <a:r>
                <a:rPr lang="en-US" altLang="zh-CN" sz="2000" b="1" dirty="0">
                  <a:solidFill>
                    <a:srgbClr val="FF0000"/>
                  </a:solidFill>
                  <a:latin typeface="Times New Roman" panose="02020603050405020304" pitchFamily="18" charset="0"/>
                  <a:ea typeface="黑体" panose="02010609060101010101" pitchFamily="49" charset="-122"/>
                </a:rPr>
                <a:t>li123452644</a:t>
              </a: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Email</a:t>
              </a:r>
              <a:r>
                <a:rPr lang="en-US" altLang="zh-CN" sz="2000" b="1" dirty="0">
                  <a:latin typeface="Times New Roman" panose="02020603050405020304" pitchFamily="18" charset="0"/>
                  <a:ea typeface="黑体" panose="02010609060101010101" pitchFamily="49" charset="-122"/>
                </a:rPr>
                <a:t>: </a:t>
              </a:r>
              <a:r>
                <a:rPr lang="en-US" altLang="zh-CN" sz="2000" b="1" dirty="0">
                  <a:solidFill>
                    <a:srgbClr val="0000FF"/>
                  </a:solidFill>
                  <a:latin typeface="Times New Roman" panose="02020603050405020304" pitchFamily="18" charset="0"/>
                  <a:ea typeface="黑体" panose="02010609060101010101" pitchFamily="49" charset="-122"/>
                </a:rPr>
                <a:t>peipeili@hfut.edu.cn</a:t>
              </a:r>
            </a:p>
            <a:p>
              <a:pPr algn="ctr" eaLnBrk="0" hangingPunct="0">
                <a:lnSpc>
                  <a:spcPct val="125000"/>
                </a:lnSpc>
              </a:pPr>
              <a:r>
                <a:rPr lang="zh-CN" altLang="en-US" sz="2000" b="1" dirty="0">
                  <a:solidFill>
                    <a:srgbClr val="FF0000"/>
                  </a:solidFill>
                  <a:latin typeface="Times New Roman" panose="02020603050405020304" pitchFamily="18" charset="0"/>
                  <a:ea typeface="黑体" panose="02010609060101010101" pitchFamily="49" charset="-122"/>
                </a:rPr>
                <a:t>手机号</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13956043016</a:t>
              </a:r>
            </a:p>
            <a:p>
              <a:pPr marL="0" lvl="1" algn="ctr" eaLnBrk="0" hangingPunct="0">
                <a:lnSpc>
                  <a:spcPct val="125000"/>
                </a:lnSpc>
              </a:pPr>
              <a:r>
                <a:rPr lang="zh-CN" altLang="en-US" sz="2000" b="1" dirty="0">
                  <a:latin typeface="Times New Roman" panose="02020603050405020304" pitchFamily="18" charset="0"/>
                  <a:ea typeface="黑体" panose="02010609060101010101" pitchFamily="49" charset="-122"/>
                </a:rPr>
                <a:t>         合肥工业大学智能计算与数据挖掘千人团队 </a:t>
              </a:r>
              <a:r>
                <a:rPr lang="en-US" altLang="zh-CN" sz="2000" u="sng" dirty="0">
                  <a:solidFill>
                    <a:srgbClr val="0000FF"/>
                  </a:solidFill>
                </a:rPr>
                <a:t>http://dmic.bigke.org/</a:t>
              </a:r>
              <a:endParaRPr lang="en-US" altLang="zh-CN" sz="2000" b="1" u="sng" dirty="0">
                <a:solidFill>
                  <a:srgbClr val="0000FF"/>
                </a:solidFill>
                <a:latin typeface="Times New Roman" panose="02020603050405020304" pitchFamily="18" charset="0"/>
                <a:ea typeface="黑体" panose="02010609060101010101" pitchFamily="49" charset="-122"/>
              </a:endParaRPr>
            </a:p>
            <a:p>
              <a:pPr algn="ctr" eaLnBrk="0" hangingPunct="0"/>
              <a:r>
                <a:rPr lang="zh-CN" altLang="en-US" sz="2000" b="1" dirty="0">
                  <a:latin typeface="Times New Roman" panose="02020603050405020304" pitchFamily="18" charset="0"/>
                  <a:ea typeface="黑体" panose="02010609060101010101" pitchFamily="49" charset="-122"/>
                </a:rPr>
                <a:t> </a:t>
              </a: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80865" y="6418213"/>
              <a:ext cx="666651" cy="286658"/>
            </a:xfrm>
            <a:prstGeom prst="rect">
              <a:avLst/>
            </a:prstGeom>
          </p:spPr>
        </p:pic>
      </p:grpSp>
      <p:grpSp>
        <p:nvGrpSpPr>
          <p:cNvPr id="8" name="组合 7"/>
          <p:cNvGrpSpPr/>
          <p:nvPr/>
        </p:nvGrpSpPr>
        <p:grpSpPr>
          <a:xfrm>
            <a:off x="323528" y="3356992"/>
            <a:ext cx="2143084" cy="551837"/>
            <a:chOff x="728936" y="4175538"/>
            <a:chExt cx="2204016" cy="584775"/>
          </a:xfrm>
        </p:grpSpPr>
        <p:sp>
          <p:nvSpPr>
            <p:cNvPr id="9" name="矩形 8"/>
            <p:cNvSpPr/>
            <p:nvPr/>
          </p:nvSpPr>
          <p:spPr>
            <a:xfrm>
              <a:off x="1100399" y="4175538"/>
              <a:ext cx="1832553" cy="584775"/>
            </a:xfrm>
            <a:prstGeom prst="rect">
              <a:avLst/>
            </a:prstGeom>
          </p:spPr>
          <p:txBody>
            <a:bodyPr wrap="none">
              <a:spAutoFit/>
            </a:bodyPr>
            <a:lstStyle/>
            <a:p>
              <a:pPr>
                <a:buClr>
                  <a:srgbClr val="FF0000"/>
                </a:buClr>
              </a:pPr>
              <a:r>
                <a:rPr lang="zh-CN" altLang="en-US" sz="3000" b="1" dirty="0">
                  <a:latin typeface="Verdana" panose="020B0604030504040204" pitchFamily="34" charset="0"/>
                  <a:ea typeface="黑体" panose="02010609060101010101" pitchFamily="49" charset="-122"/>
                </a:rPr>
                <a:t>联系方式</a:t>
              </a:r>
            </a:p>
          </p:txBody>
        </p:sp>
        <p:pic>
          <p:nvPicPr>
            <p:cNvPr id="10" name="图片 1"/>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728936" y="4235450"/>
              <a:ext cx="401364" cy="434022"/>
            </a:xfrm>
            <a:prstGeom prst="rect">
              <a:avLst/>
            </a:prstGeom>
            <a:noFill/>
            <a:ln w="9525">
              <a:noFill/>
              <a:miter lim="800000"/>
              <a:headEnd/>
              <a:tailEnd/>
            </a:ln>
          </p:spPr>
        </p:pic>
      </p:grpSp>
      <p:sp>
        <p:nvSpPr>
          <p:cNvPr id="12" name="矩形 11"/>
          <p:cNvSpPr/>
          <p:nvPr/>
        </p:nvSpPr>
        <p:spPr>
          <a:xfrm>
            <a:off x="3707904" y="1916832"/>
            <a:ext cx="1574470" cy="646331"/>
          </a:xfrm>
          <a:prstGeom prst="rect">
            <a:avLst/>
          </a:prstGeom>
        </p:spPr>
        <p:txBody>
          <a:bodyPr wrap="none">
            <a:spAutoFit/>
          </a:bodyPr>
          <a:lstStyle/>
          <a:p>
            <a:pPr marL="514350" indent="-514350">
              <a:buClr>
                <a:srgbClr val="FF0000"/>
              </a:buClr>
            </a:pPr>
            <a:r>
              <a:rPr lang="zh-CN" altLang="en-US" sz="3600" b="1" dirty="0"/>
              <a:t>谢谢！</a:t>
            </a:r>
            <a:endParaRPr lang="zh-CN" altLang="zh-CN" sz="3600" b="1" dirty="0"/>
          </a:p>
        </p:txBody>
      </p:sp>
    </p:spTree>
  </p:cSld>
  <p:clrMapOvr>
    <a:masterClrMapping/>
  </p:clrMapOvr>
  <p:transition spd="slow" advClick="0" advTm="1622">
    <p:pull dir="d"/>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jM5OGJkZGRjZTM1NWMyMzE2ZmQyYmZlOTUwZjJlZWYifQ=="/>
  <p:tag name="KSO_WPP_MARK_KEY" val="df32318d-7a40-40f3-ad16-7884d3bb34f3"/>
</p:tagLst>
</file>

<file path=ppt/tags/tag2.xml><?xml version="1.0" encoding="utf-8"?>
<p:tagLst xmlns:a="http://schemas.openxmlformats.org/drawingml/2006/main" xmlns:r="http://schemas.openxmlformats.org/officeDocument/2006/relationships" xmlns:p="http://schemas.openxmlformats.org/presentationml/2006/main">
  <p:tag name="RAINPROBLEM" val="ShortAnswer"/>
  <p:tag name="PROBLEMSCORE" val="1.0"/>
  <p:tag name="PROBLEMVOICEALLOWED" val="False"/>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 val="ShortAnswer"/>
  <p:tag name="PROBLEMSCORE" val="1.0"/>
  <p:tag name="PROBLEMHASREMARK" val="True"/>
  <p:tag name="PROBLEMREMARK" val="from collections import Counter&#10;text ='''勤奋、严谨、求实、创新\n \&#10;厚德、笃学、崇实、尚新\n&#10;'''&#10;text = text.replace(&quot;\n&quot;,&quot;&quot;)&#10;text = text.replace(&quot; &quot;,&quot;、&quot;)&#10;tlist = text.split(&quot;、&quot;)&#10;print(text)&#10;print(tlist)&#10;s = ''.join(tlist)&#10;print(s)&#10;cnt = Counter()&#10;for c in s:&#10;    cnt[c] += 1&#10;print(cnt)"/>
  <p:tag name="PROBLEMVOICEALLOWED" val="False"/>
</p:tagLst>
</file>

<file path=ppt/tags/tag13.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5.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6.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7.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1.xml><?xml version="1.0" encoding="utf-8"?>
<p:tagLst xmlns:a="http://schemas.openxmlformats.org/drawingml/2006/main" xmlns:r="http://schemas.openxmlformats.org/officeDocument/2006/relationships" xmlns:p="http://schemas.openxmlformats.org/presentationml/2006/main">
  <p:tag name="KSO_WM_UNIT_TABLE_BEAUTIFY" val="smartTable{f34e75ae-c629-4df9-885a-19e2c2f21a8e}"/>
</p:tagLst>
</file>

<file path=ppt/tags/tag32.xml><?xml version="1.0" encoding="utf-8"?>
<p:tagLst xmlns:a="http://schemas.openxmlformats.org/drawingml/2006/main" xmlns:r="http://schemas.openxmlformats.org/officeDocument/2006/relationships" xmlns:p="http://schemas.openxmlformats.org/presentationml/2006/main">
  <p:tag name="KSO_WM_UNIT_TABLE_BEAUTIFY" val="smartTable{619779d8-d5c7-4f8e-8fb8-b69f75e84ee2}"/>
</p:tagLst>
</file>

<file path=ppt/tags/tag33.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71_3*l_h_i*1_1_2"/>
  <p:tag name="KSO_WM_TEMPLATE_CATEGORY" val="diagram"/>
  <p:tag name="KSO_WM_TEMPLATE_INDEX" val="71"/>
  <p:tag name="KSO_WM_UNIT_LAYERLEVEL" val="1_1_1"/>
  <p:tag name="KSO_WM_TAG_VERSION" val="1.0"/>
  <p:tag name="KSO_WM_BEAUTIFY_FLAG" val="#wm#"/>
  <p:tag name="KSO_WM_UNIT_LINE_FORE_SCHEMECOLOR_INDEX" val="5"/>
  <p:tag name="KSO_WM_UNIT_LINE_FILL_TYPE" val="2"/>
  <p:tag name="KSO_WM_UNIT_TEXT_FILL_FORE_SCHEMECOLOR_INDEX" val="5"/>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NOCLEAR" val="0"/>
  <p:tag name="KSO_WM_UNIT_VALUE" val="7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71_3*l_h_f*1_1_1"/>
  <p:tag name="KSO_WM_TEMPLATE_CATEGORY" val="diagram"/>
  <p:tag name="KSO_WM_TEMPLATE_INDEX" val="71"/>
  <p:tag name="KSO_WM_UNIT_LAYERLEVEL" val="1_1_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71_3*l_h_i*1_1_1"/>
  <p:tag name="KSO_WM_TEMPLATE_CATEGORY" val="diagram"/>
  <p:tag name="KSO_WM_TEMPLATE_INDEX" val="71"/>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71_3*l_h_i*1_1_1"/>
  <p:tag name="KSO_WM_TEMPLATE_CATEGORY" val="diagram"/>
  <p:tag name="KSO_WM_TEMPLATE_INDEX" val="71"/>
  <p:tag name="KSO_WM_UNIT_LAYERLEVEL" val="1_1_1"/>
  <p:tag name="KSO_WM_TAG_VERSION" val="1.0"/>
  <p:tag name="KSO_WM_BEAUTIFY_FLAG" val="#wm#"/>
  <p:tag name="KSO_WM_UNIT_TEXT_FILL_FORE_SCHEMECOLOR_INDEX" val="14"/>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71_3*l_h_i*1_2_2"/>
  <p:tag name="KSO_WM_TEMPLATE_CATEGORY" val="diagram"/>
  <p:tag name="KSO_WM_TEMPLATE_INDEX" val="71"/>
  <p:tag name="KSO_WM_UNIT_LAYERLEVEL" val="1_1_1"/>
  <p:tag name="KSO_WM_TAG_VERSION" val="1.0"/>
  <p:tag name="KSO_WM_BEAUTIFY_FLAG" val="#wm#"/>
  <p:tag name="KSO_WM_UNIT_LINE_FORE_SCHEMECOLOR_INDEX" val="6"/>
  <p:tag name="KSO_WM_UNIT_LINE_FILL_TYPE" val="2"/>
  <p:tag name="KSO_WM_UNIT_TEXT_FILL_FORE_SCHEMECOLOR_INDEX" val="5"/>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NOCLEAR" val="0"/>
  <p:tag name="KSO_WM_UNIT_VALUE" val="7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71_3*l_h_f*1_2_1"/>
  <p:tag name="KSO_WM_TEMPLATE_CATEGORY" val="diagram"/>
  <p:tag name="KSO_WM_TEMPLATE_INDEX" val="71"/>
  <p:tag name="KSO_WM_UNIT_LAYERLEVEL" val="1_1_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71_3*l_h_i*1_2_1"/>
  <p:tag name="KSO_WM_TEMPLATE_CATEGORY" val="diagram"/>
  <p:tag name="KSO_WM_TEMPLATE_INDEX" val="71"/>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71_3*l_h_i*1_2_1"/>
  <p:tag name="KSO_WM_TEMPLATE_CATEGORY" val="diagram"/>
  <p:tag name="KSO_WM_TEMPLATE_INDEX" val="71"/>
  <p:tag name="KSO_WM_UNIT_LAYERLEVEL" val="1_1_1"/>
  <p:tag name="KSO_WM_TAG_VERSION" val="1.0"/>
  <p:tag name="KSO_WM_BEAUTIFY_FLAG" val="#wm#"/>
  <p:tag name="KSO_WM_UNIT_TEXT_FILL_FORE_SCHEMECOLOR_INDEX" val="14"/>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71_3*l_h_i*1_3_2"/>
  <p:tag name="KSO_WM_TEMPLATE_CATEGORY" val="diagram"/>
  <p:tag name="KSO_WM_TEMPLATE_INDEX" val="71"/>
  <p:tag name="KSO_WM_UNIT_LAYERLEVEL" val="1_1_1"/>
  <p:tag name="KSO_WM_TAG_VERSION" val="1.0"/>
  <p:tag name="KSO_WM_BEAUTIFY_FLAG" val="#wm#"/>
  <p:tag name="KSO_WM_UNIT_LINE_FORE_SCHEMECOLOR_INDEX" val="7"/>
  <p:tag name="KSO_WM_UNIT_LINE_FILL_TYPE" val="2"/>
  <p:tag name="KSO_WM_UNIT_TEXT_FILL_FORE_SCHEMECOLOR_INDEX" val="5"/>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NOCLEAR" val="0"/>
  <p:tag name="KSO_WM_UNIT_VALUE" val="78"/>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71_3*l_h_f*1_3_1"/>
  <p:tag name="KSO_WM_TEMPLATE_CATEGORY" val="diagram"/>
  <p:tag name="KSO_WM_TEMPLATE_INDEX" val="71"/>
  <p:tag name="KSO_WM_UNIT_LAYERLEVEL" val="1_1_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71_3*l_h_i*1_3_1"/>
  <p:tag name="KSO_WM_TEMPLATE_CATEGORY" val="diagram"/>
  <p:tag name="KSO_WM_TEMPLATE_INDEX" val="71"/>
  <p:tag name="KSO_WM_UNIT_LAYERLEVEL" val="1_1_1"/>
  <p:tag name="KSO_WM_TAG_VERSION" val="1.0"/>
  <p:tag name="KSO_WM_BEAUTIFY_FLAG" val="#wm#"/>
  <p:tag name="KSO_WM_UNIT_FILL_FORE_SCHEMECOLOR_INDEX" val="7"/>
  <p:tag name="KSO_WM_UNIT_FILL_TYPE" val="1"/>
  <p:tag name="KSO_WM_UNIT_TEXT_FILL_FORE_SCHEMECOLOR_INDEX" val="2"/>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71_3*l_h_i*1_3_1"/>
  <p:tag name="KSO_WM_TEMPLATE_CATEGORY" val="diagram"/>
  <p:tag name="KSO_WM_TEMPLATE_INDEX" val="71"/>
  <p:tag name="KSO_WM_UNIT_LAYERLEVEL" val="1_1_1"/>
  <p:tag name="KSO_WM_TAG_VERSION" val="1.0"/>
  <p:tag name="KSO_WM_BEAUTIFY_FLAG" val="#wm#"/>
  <p:tag name="KSO_WM_UNIT_TEXT_FILL_FORE_SCHEMECOLOR_INDEX" val="14"/>
  <p:tag name="KSO_WM_UNIT_TEXT_FILL_TYPE" val="1"/>
</p:tagLst>
</file>

<file path=ppt/tags/tag45.xml><?xml version="1.0" encoding="utf-8"?>
<p:tagLst xmlns:a="http://schemas.openxmlformats.org/drawingml/2006/main" xmlns:r="http://schemas.openxmlformats.org/officeDocument/2006/relationships" xmlns:p="http://schemas.openxmlformats.org/presentationml/2006/main">
  <p:tag name="KSO_WM_UNIT_TABLE_BEAUTIFY" val="smartTable{f34e75ae-c629-4df9-885a-19e2c2f21a8e}"/>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1856</TotalTime>
  <Words>15482</Words>
  <Application>Microsoft Office PowerPoint</Application>
  <PresentationFormat>全屏显示(4:3)</PresentationFormat>
  <Paragraphs>1859</Paragraphs>
  <Slides>104</Slides>
  <Notes>39</Notes>
  <HiddenSlides>0</HiddenSlides>
  <MMClips>0</MMClips>
  <ScaleCrop>false</ScaleCrop>
  <HeadingPairs>
    <vt:vector size="6" baseType="variant">
      <vt:variant>
        <vt:lpstr>已用的字体</vt:lpstr>
      </vt:variant>
      <vt:variant>
        <vt:i4>26</vt:i4>
      </vt:variant>
      <vt:variant>
        <vt:lpstr>主题</vt:lpstr>
      </vt:variant>
      <vt:variant>
        <vt:i4>1</vt:i4>
      </vt:variant>
      <vt:variant>
        <vt:lpstr>幻灯片标题</vt:lpstr>
      </vt:variant>
      <vt:variant>
        <vt:i4>104</vt:i4>
      </vt:variant>
    </vt:vector>
  </HeadingPairs>
  <TitlesOfParts>
    <vt:vector size="131" baseType="lpstr">
      <vt:lpstr>Abadi</vt:lpstr>
      <vt:lpstr>-apple-system</vt:lpstr>
      <vt:lpstr>Arial Unicode MS</vt:lpstr>
      <vt:lpstr>Helvetica Neue</vt:lpstr>
      <vt:lpstr>hiragino sans gb</vt:lpstr>
      <vt:lpstr>Lucida Grande</vt:lpstr>
      <vt:lpstr>Menlo</vt:lpstr>
      <vt:lpstr>Microsoft Yahei</vt:lpstr>
      <vt:lpstr>MS PMincho</vt:lpstr>
      <vt:lpstr>PingFang SC</vt:lpstr>
      <vt:lpstr>SFMono-Regular</vt:lpstr>
      <vt:lpstr>方正舒体</vt:lpstr>
      <vt:lpstr>仿宋</vt:lpstr>
      <vt:lpstr>黑体</vt:lpstr>
      <vt:lpstr>楷体</vt:lpstr>
      <vt:lpstr>宋体</vt:lpstr>
      <vt:lpstr>微软雅黑</vt:lpstr>
      <vt:lpstr>Arial</vt:lpstr>
      <vt:lpstr>Calibri</vt:lpstr>
      <vt:lpstr>Comic Sans MS</vt:lpstr>
      <vt:lpstr>Consolas</vt:lpstr>
      <vt:lpstr>Courier New</vt:lpstr>
      <vt:lpstr>Garamond</vt:lpstr>
      <vt:lpstr>Times New Roman</vt:lpstr>
      <vt:lpstr>Verdana</vt:lpstr>
      <vt:lpstr>Wingdings</vt:lpstr>
      <vt:lpstr>Office 主题</vt:lpstr>
      <vt:lpstr>PowerPoint 演示文稿</vt:lpstr>
      <vt:lpstr>引言</vt:lpstr>
      <vt:lpstr>第4章 字符串与正则表达式 </vt:lpstr>
      <vt:lpstr>PowerPoint 演示文稿</vt:lpstr>
      <vt:lpstr>ASCⅡ UTF-8 GB2312(GBK) CP936 Unicode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str.format()</vt:lpstr>
      <vt:lpstr>str.format()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re.sub()使用详解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str() repr() eval()</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 究方向：多源海量动态信息处理 团队带头人：吴信东 所 在  学 校：合肥工业大学</dc:title>
  <dc:creator>Peipei Li</dc:creator>
  <cp:lastModifiedBy>wsco</cp:lastModifiedBy>
  <cp:revision>2519</cp:revision>
  <cp:lastPrinted>2023-11-14T09:29:26Z</cp:lastPrinted>
  <dcterms:created xsi:type="dcterms:W3CDTF">2012-10-13T08:41:00Z</dcterms:created>
  <dcterms:modified xsi:type="dcterms:W3CDTF">2024-11-19T01:50:44Z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607C06B43A6841439510A7004A42A198</vt:lpwstr>
  </property>
  <property fmtid="{D5CDD505-2E9C-101B-9397-08002B2CF9AE}" pid="3" name="KSOProductBuildVer">
    <vt:lpwstr>2052-12.1.0.15374</vt:lpwstr>
  </property>
</Properties>
</file>