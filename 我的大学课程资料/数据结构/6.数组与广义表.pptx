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9" showSpecialPlsOnTitleSld="0">
  <p:sldMasterIdLst>
    <p:sldMasterId id="2147483648" r:id="rId1"/>
  </p:sldMasterIdLst>
  <p:notesMasterIdLst>
    <p:notesMasterId r:id="rId4"/>
  </p:notesMasterIdLst>
  <p:handoutMasterIdLst>
    <p:handoutMasterId r:id="rId37"/>
  </p:handoutMasterIdLst>
  <p:sldIdLst>
    <p:sldId id="256" r:id="rId3"/>
    <p:sldId id="481" r:id="rId5"/>
    <p:sldId id="700" r:id="rId6"/>
    <p:sldId id="701" r:id="rId7"/>
    <p:sldId id="705" r:id="rId8"/>
    <p:sldId id="676" r:id="rId9"/>
    <p:sldId id="677" r:id="rId10"/>
    <p:sldId id="678" r:id="rId11"/>
    <p:sldId id="679" r:id="rId12"/>
    <p:sldId id="680" r:id="rId13"/>
    <p:sldId id="681" r:id="rId14"/>
    <p:sldId id="682" r:id="rId15"/>
    <p:sldId id="683" r:id="rId16"/>
    <p:sldId id="684" r:id="rId17"/>
    <p:sldId id="685" r:id="rId18"/>
    <p:sldId id="686" r:id="rId19"/>
    <p:sldId id="687" r:id="rId20"/>
    <p:sldId id="688" r:id="rId21"/>
    <p:sldId id="707" r:id="rId22"/>
    <p:sldId id="689" r:id="rId23"/>
    <p:sldId id="702" r:id="rId24"/>
    <p:sldId id="690" r:id="rId25"/>
    <p:sldId id="691" r:id="rId26"/>
    <p:sldId id="706" r:id="rId27"/>
    <p:sldId id="692" r:id="rId28"/>
    <p:sldId id="693" r:id="rId29"/>
    <p:sldId id="694" r:id="rId30"/>
    <p:sldId id="695" r:id="rId31"/>
    <p:sldId id="696" r:id="rId32"/>
    <p:sldId id="664" r:id="rId33"/>
    <p:sldId id="703" r:id="rId34"/>
    <p:sldId id="704" r:id="rId35"/>
    <p:sldId id="666" r:id="rId36"/>
  </p:sldIdLst>
  <p:sldSz cx="9144000" cy="6858000" type="screen4x3"/>
  <p:notesSz cx="6797675" cy="9928225"/>
  <p:custDataLst>
    <p:tags r:id="rId41"/>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99"/>
    <a:srgbClr val="FF6600"/>
    <a:srgbClr val="964396"/>
    <a:srgbClr val="8A3CC4"/>
    <a:srgbClr val="FFFFFF"/>
    <a:srgbClr val="8D42C6"/>
    <a:srgbClr val="FFFF66"/>
    <a:srgbClr val="000000"/>
    <a:srgbClr val="5E88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505" autoAdjust="0"/>
    <p:restoredTop sz="95940" autoAdjust="0"/>
  </p:normalViewPr>
  <p:slideViewPr>
    <p:cSldViewPr showGuides="1">
      <p:cViewPr varScale="1">
        <p:scale>
          <a:sx n="109" d="100"/>
          <a:sy n="109" d="100"/>
        </p:scale>
        <p:origin x="-1002"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gs" Target="tags/tag1.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smtClean="0"/>
              <a:t>单击此处编辑母版副标题样式</a:t>
            </a:r>
            <a:endParaRPr lang="zh-CN" altLang="en-US" dirty="0"/>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C8FC05D0-6A5A-47E9-894E-5558F78F5CE9}" type="datetime10">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57200" y="1414845"/>
            <a:ext cx="8229600" cy="4678451"/>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DC686E1B-6616-4F5E-AFEC-694A703DDFE4}" type="datetime10">
              <a:rPr lang="zh-CN" altLang="en-US" smtClean="0"/>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5A4B035E-B635-4A45-83D5-191DF31066A8}" type="datetime10">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CFD0519B-B268-45CB-8BF6-DEBB4205427B}" type="datetime10">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smtClean="0"/>
              <a:t>特征选择研究</a:t>
            </a:r>
            <a:endParaRPr lang="zh-CN" altLang="en-US" dirty="0"/>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FD2BE1DA-1D66-4A3E-B3BF-7FE83673DB63}" type="datetime10">
              <a:rPr lang="zh-CN" altLang="en-US" smtClean="0"/>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DE7F5B6B-3426-478C-B042-CBFE71C52543}" type="datetime10">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9FB4F5F9-ED74-48C2-83CC-E3EDA2410013}" type="datetime10">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smtClean="0"/>
              <a:t>特征选择研究</a:t>
            </a:r>
            <a:endParaRPr lang="zh-CN" altLang="en-US" dirty="0"/>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1E3274E3-B823-4F15-8685-ACBE222365C8}" type="datetime10">
              <a:rPr lang="zh-CN" altLang="en-US" smtClean="0"/>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smtClean="0"/>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3.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pic>
        <p:nvPicPr>
          <p:cNvPr id="1031" name="图片 2"/>
          <p:cNvPicPr>
            <a:picLocks noChangeAspect="1"/>
          </p:cNvPicPr>
          <p:nvPr userDrawn="1"/>
        </p:nvPicPr>
        <p:blipFill>
          <a:blip r:embed="rId9"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ln>
        </p:spPr>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pic>
        <p:nvPicPr>
          <p:cNvPr id="2" name="图片 1"/>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D3255199-A4C2-4E19-BE10-AA7347FD5E52}" type="datetime10">
              <a:rPr lang="zh-CN" altLang="en-US" smtClean="0"/>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smtClean="0"/>
              <a:t>特征选择研究</a:t>
            </a:r>
            <a:endParaRPr lang="zh-CN" altLang="en-US" dirty="0"/>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ransition spd="slow" advClick="0">
    <p:pull dir="d"/>
  </p:transition>
  <p:timing>
    <p:tnLst>
      <p:par>
        <p:cTn id="1" dur="indefinite" restart="never" nodeType="tmRoot"/>
      </p:par>
    </p:tnLst>
  </p:timing>
  <p:hf hdr="0" ftr="0" dt="0"/>
  <p:txStyles>
    <p:titleStyle>
      <a:lvl1pPr algn="l" rtl="0" fontAlgn="base">
        <a:spcBef>
          <a:spcPct val="0"/>
        </a:spcBef>
        <a:spcAft>
          <a:spcPct val="0"/>
        </a:spcAft>
        <a:defRPr sz="3600" b="1" kern="1200" baseline="0">
          <a:solidFill>
            <a:schemeClr val="tx1"/>
          </a:solidFill>
          <a:latin typeface="Times New Roman" panose="02020603050405020304" pitchFamily="18" charset="0"/>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wmf"/><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image" Target="../media/image9.jpe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jpeg"/><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15.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baike.baidu.com/item/%E4%BA%BA%E5%B7%A5%E6%99%BA%E8%83%BD%E8%AF%AD%E8%A8%80/10888845" TargetMode="External"/><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611560" y="836712"/>
            <a:ext cx="7560840" cy="5226050"/>
          </a:xfrm>
          <a:prstGeom prst="rect">
            <a:avLst/>
          </a:prstGeom>
        </p:spPr>
        <p:txBody>
          <a:bodyPr wrap="square">
            <a:spAutoFit/>
          </a:bodyPr>
          <a:lstStyle/>
          <a:p>
            <a:pPr algn="ctr" eaLnBrk="1" hangingPunct="1">
              <a:buFont typeface="Wingdings" panose="05000000000000000000" pitchFamily="2" charset="2"/>
              <a:buNone/>
            </a:pPr>
            <a:r>
              <a:rPr lang="zh-CN" altLang="en-US" sz="3600" b="1" dirty="0">
                <a:latin typeface="Comic Sans MS" panose="030F0702030302020204" pitchFamily="66" charset="0"/>
              </a:rPr>
              <a:t>数 据 结 构</a:t>
            </a:r>
            <a:endParaRPr lang="zh-CN" altLang="en-US" sz="3600" b="1" dirty="0">
              <a:latin typeface="Comic Sans MS" panose="030F0702030302020204" pitchFamily="66" charset="0"/>
            </a:endParaRPr>
          </a:p>
          <a:p>
            <a:pPr algn="ctr" eaLnBrk="1" hangingPunct="1">
              <a:buFont typeface="Wingdings" panose="05000000000000000000" pitchFamily="2" charset="2"/>
              <a:buNone/>
            </a:pPr>
            <a:endParaRPr lang="zh-CN" altLang="en-US" sz="1400" b="1" dirty="0">
              <a:latin typeface="Comic Sans MS" panose="030F0702030302020204" pitchFamily="66" charset="0"/>
            </a:endParaRPr>
          </a:p>
          <a:p>
            <a:pPr algn="ctr" eaLnBrk="1" hangingPunct="1">
              <a:buFont typeface="Wingdings" panose="05000000000000000000" pitchFamily="2" charset="2"/>
              <a:buNone/>
            </a:pPr>
            <a:r>
              <a:rPr lang="en-US" altLang="zh-CN" sz="4000" dirty="0" smtClean="0">
                <a:latin typeface="Comic Sans MS" panose="030F0702030302020204" pitchFamily="66" charset="0"/>
                <a:ea typeface="MS PMincho" panose="02020600040205080304" pitchFamily="18" charset="-128"/>
              </a:rPr>
              <a:t> </a:t>
            </a:r>
            <a:r>
              <a:rPr lang="en-US" altLang="zh-CN" sz="4000" b="1" dirty="0">
                <a:solidFill>
                  <a:schemeClr val="tx2"/>
                </a:solidFill>
                <a:latin typeface="Garamond" panose="02020404030301010803" pitchFamily="18" charset="0"/>
                <a:ea typeface="方正舒体" panose="02010601030101010101" pitchFamily="2" charset="-122"/>
              </a:rPr>
              <a:t>Data </a:t>
            </a:r>
            <a:r>
              <a:rPr lang="en-US" altLang="zh-CN" sz="4000" b="1" dirty="0" smtClean="0">
                <a:solidFill>
                  <a:schemeClr val="tx2"/>
                </a:solidFill>
                <a:latin typeface="Garamond" panose="02020404030301010803" pitchFamily="18" charset="0"/>
                <a:ea typeface="方正舒体" panose="02010601030101010101" pitchFamily="2" charset="-122"/>
              </a:rPr>
              <a:t>Structures</a:t>
            </a:r>
            <a:endParaRPr lang="en-US" altLang="zh-CN" sz="4000" b="1" dirty="0" smtClean="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en-US" altLang="zh-CN" sz="4000" b="1" dirty="0" smtClean="0">
              <a:solidFill>
                <a:schemeClr val="tx2"/>
              </a:solidFill>
              <a:latin typeface="Garamond" panose="02020404030301010803" pitchFamily="18" charset="0"/>
              <a:ea typeface="方正舒体" panose="02010601030101010101" pitchFamily="2" charset="-122"/>
            </a:endParaRPr>
          </a:p>
          <a:p>
            <a:pPr algn="ctr" eaLnBrk="1" hangingPunct="1">
              <a:spcBef>
                <a:spcPts val="300"/>
              </a:spcBef>
              <a:buFont typeface="Wingdings" panose="05000000000000000000" pitchFamily="2" charset="2"/>
              <a:buNone/>
            </a:pPr>
            <a:r>
              <a:rPr lang="zh-CN" altLang="en-US" sz="3200" b="1" dirty="0" smtClean="0">
                <a:solidFill>
                  <a:srgbClr val="FF0000"/>
                </a:solidFill>
                <a:latin typeface="Comic Sans MS" panose="030F0702030302020204" pitchFamily="66" charset="0"/>
              </a:rPr>
              <a:t>第</a:t>
            </a:r>
            <a:r>
              <a:rPr lang="en-US" altLang="zh-CN" sz="3200" b="1" dirty="0" smtClean="0">
                <a:solidFill>
                  <a:srgbClr val="FF0000"/>
                </a:solidFill>
                <a:latin typeface="Comic Sans MS" panose="030F0702030302020204" pitchFamily="66" charset="0"/>
              </a:rPr>
              <a:t>6</a:t>
            </a:r>
            <a:r>
              <a:rPr lang="zh-CN" altLang="en-US" sz="3200" b="1" dirty="0" smtClean="0">
                <a:solidFill>
                  <a:srgbClr val="FF0000"/>
                </a:solidFill>
                <a:latin typeface="Comic Sans MS" panose="030F0702030302020204" pitchFamily="66" charset="0"/>
              </a:rPr>
              <a:t>章 数组与广义表</a:t>
            </a:r>
            <a:endParaRPr lang="en-US" altLang="zh-CN" sz="3200" b="1" dirty="0" smtClean="0">
              <a:solidFill>
                <a:srgbClr val="FF0000"/>
              </a:solidFill>
              <a:latin typeface="Comic Sans MS" panose="030F0702030302020204" pitchFamily="66" charset="0"/>
            </a:endParaRPr>
          </a:p>
          <a:p>
            <a:pPr algn="ctr" eaLnBrk="1" hangingPunct="1">
              <a:spcBef>
                <a:spcPts val="300"/>
              </a:spcBef>
              <a:buFont typeface="Wingdings" panose="05000000000000000000" pitchFamily="2" charset="2"/>
              <a:buNone/>
            </a:pPr>
            <a:r>
              <a:rPr lang="en-US" altLang="zh-CN" sz="3200" b="1" dirty="0" smtClean="0">
                <a:solidFill>
                  <a:srgbClr val="FF0000"/>
                </a:solidFill>
                <a:latin typeface="Comic Sans MS" panose="030F0702030302020204" pitchFamily="66" charset="0"/>
              </a:rPr>
              <a:t>(Array &amp; Generalized List)</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smtClean="0">
                <a:solidFill>
                  <a:schemeClr val="tx2"/>
                </a:solidFill>
                <a:latin typeface="宋体" panose="02010600030101010101" pitchFamily="2" charset="-122"/>
              </a:rPr>
              <a:t>数据结构</a:t>
            </a:r>
            <a:r>
              <a:rPr lang="zh-CN" altLang="en-US" sz="2600" b="1" dirty="0">
                <a:solidFill>
                  <a:schemeClr val="tx2"/>
                </a:solidFill>
                <a:latin typeface="宋体" panose="02010600030101010101" pitchFamily="2" charset="-122"/>
              </a:rPr>
              <a:t>课程</a:t>
            </a:r>
            <a:r>
              <a:rPr lang="zh-CN" altLang="en-US" sz="2600" b="1" dirty="0" smtClean="0">
                <a:solidFill>
                  <a:schemeClr val="tx2"/>
                </a:solidFill>
                <a:latin typeface="宋体" panose="02010600030101010101" pitchFamily="2" charset="-122"/>
              </a:rPr>
              <a:t>组</a:t>
            </a:r>
            <a:endParaRPr lang="en-US" altLang="zh-CN" sz="2600" b="1" dirty="0" smtClean="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smtClean="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smtClean="0">
                <a:solidFill>
                  <a:schemeClr val="tx2"/>
                </a:solidFill>
                <a:latin typeface="宋体" panose="02010600030101010101" pitchFamily="2" charset="-122"/>
              </a:rPr>
              <a:t>胡学钢  </a:t>
            </a:r>
            <a:r>
              <a:rPr lang="zh-CN" altLang="en-US" sz="2600" b="1" dirty="0">
                <a:solidFill>
                  <a:schemeClr val="tx2"/>
                </a:solidFill>
                <a:latin typeface="宋体" panose="02010600030101010101" pitchFamily="2" charset="-122"/>
              </a:rPr>
              <a:t>张 晶  张玉红 </a:t>
            </a:r>
            <a:r>
              <a:rPr lang="zh-CN" altLang="en-US" sz="2600" b="1" dirty="0">
                <a:solidFill>
                  <a:srgbClr val="0000FF"/>
                </a:solidFill>
                <a:latin typeface="宋体" panose="02010600030101010101" pitchFamily="2" charset="-122"/>
              </a:rPr>
              <a:t>李</a:t>
            </a:r>
            <a:r>
              <a:rPr lang="zh-CN" altLang="en-US" sz="2600" b="1" dirty="0" smtClean="0">
                <a:solidFill>
                  <a:srgbClr val="0000FF"/>
                </a:solidFill>
                <a:latin typeface="宋体" panose="02010600030101010101" pitchFamily="2" charset="-122"/>
              </a:rPr>
              <a:t>培培</a:t>
            </a:r>
            <a:endParaRPr lang="en-US" altLang="zh-CN" sz="2600" b="1" dirty="0" smtClean="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smtClean="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a:p>
            <a:pPr algn="ctr">
              <a:lnSpc>
                <a:spcPts val="2000"/>
              </a:lnSpc>
            </a:pPr>
            <a:r>
              <a:rPr lang="zh-CN" altLang="en-US" sz="2600" b="1" dirty="0">
                <a:solidFill>
                  <a:schemeClr val="tx2"/>
                </a:solidFill>
                <a:latin typeface="宋体" panose="02010600030101010101" pitchFamily="2" charset="-122"/>
              </a:rPr>
              <a:t>合肥工业大学 计算机与信息学院  </a:t>
            </a:r>
            <a:endParaRPr lang="zh-CN" altLang="en-US"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smtClean="0">
                <a:solidFill>
                  <a:schemeClr val="tx2"/>
                </a:solidFill>
                <a:latin typeface="宋体" panose="02010600030101010101" pitchFamily="2" charset="-122"/>
              </a:rPr>
              <a:t>2024</a:t>
            </a:r>
            <a:r>
              <a:rPr lang="zh-CN" altLang="en-US" sz="2600" b="1" dirty="0" smtClean="0">
                <a:solidFill>
                  <a:schemeClr val="tx2"/>
                </a:solidFill>
                <a:latin typeface="宋体" panose="02010600030101010101" pitchFamily="2" charset="-122"/>
              </a:rPr>
              <a:t>年</a:t>
            </a:r>
            <a:r>
              <a:rPr lang="en-US" altLang="zh-CN" sz="2600" b="1" dirty="0" smtClean="0">
                <a:solidFill>
                  <a:schemeClr val="tx2"/>
                </a:solidFill>
                <a:latin typeface="宋体" panose="02010600030101010101" pitchFamily="2" charset="-122"/>
              </a:rPr>
              <a:t>3</a:t>
            </a:r>
            <a:r>
              <a:rPr lang="zh-CN" altLang="en-US" sz="2600" b="1" dirty="0" smtClean="0">
                <a:solidFill>
                  <a:schemeClr val="tx2"/>
                </a:solidFill>
                <a:latin typeface="宋体" panose="02010600030101010101" pitchFamily="2" charset="-122"/>
              </a:rPr>
              <a:t>月</a:t>
            </a:r>
            <a:r>
              <a:rPr lang="en-US" altLang="zh-CN" sz="2600" b="1" dirty="0" smtClean="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248"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515">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a:xfrm>
            <a:off x="395536" y="124266"/>
            <a:ext cx="8928992" cy="660930"/>
          </a:xfrm>
        </p:spPr>
        <p:txBody>
          <a:bodyPr>
            <a:normAutofit/>
          </a:bodyPr>
          <a:lstStyle/>
          <a:p>
            <a:pPr eaLnBrk="1" hangingPunct="1"/>
            <a:r>
              <a:rPr lang="zh-CN" altLang="en-US" b="1" dirty="0" smtClean="0"/>
              <a:t>第</a:t>
            </a:r>
            <a:r>
              <a:rPr lang="en-US" altLang="zh-CN" b="1" dirty="0" smtClean="0"/>
              <a:t>6</a:t>
            </a:r>
            <a:r>
              <a:rPr lang="zh-CN" altLang="en-US" dirty="0" smtClean="0"/>
              <a:t>章 数组与广义表</a:t>
            </a:r>
            <a:endParaRPr lang="zh-CN" altLang="en-US" sz="3100" b="1" dirty="0" smtClean="0"/>
          </a:p>
        </p:txBody>
      </p:sp>
      <p:grpSp>
        <p:nvGrpSpPr>
          <p:cNvPr id="14" name="组合 114"/>
          <p:cNvGrpSpPr/>
          <p:nvPr/>
        </p:nvGrpSpPr>
        <p:grpSpPr>
          <a:xfrm>
            <a:off x="-324544" y="2420888"/>
            <a:ext cx="6225040" cy="704383"/>
            <a:chOff x="-378567" y="3339112"/>
            <a:chExt cx="6225040" cy="704383"/>
          </a:xfrm>
        </p:grpSpPr>
        <p:grpSp>
          <p:nvGrpSpPr>
            <p:cNvPr id="15" name="组合 105"/>
            <p:cNvGrpSpPr/>
            <p:nvPr/>
          </p:nvGrpSpPr>
          <p:grpSpPr>
            <a:xfrm>
              <a:off x="-378567" y="3339112"/>
              <a:ext cx="6225040" cy="704383"/>
              <a:chOff x="-378567" y="3339112"/>
              <a:chExt cx="6225040" cy="704383"/>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378567" y="333911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6.2 </a:t>
                </a:r>
                <a:r>
                  <a:rPr lang="zh-CN" altLang="en-US" sz="3600" b="1" dirty="0" smtClean="0">
                    <a:latin typeface="Times New Roman" panose="02020603050405020304" pitchFamily="18" charset="0"/>
                    <a:ea typeface="黑体" panose="02010609060101010101" pitchFamily="49" charset="-122"/>
                  </a:rPr>
                  <a:t>数组</a:t>
                </a:r>
                <a:endParaRPr lang="zh-CN" altLang="en-US" sz="3600" b="1" dirty="0">
                  <a:latin typeface="Times New Roman" panose="02020603050405020304" pitchFamily="18" charset="0"/>
                  <a:ea typeface="黑体" panose="02010609060101010101" pitchFamily="49" charset="-122"/>
                </a:endParaRPr>
              </a:p>
            </p:txBody>
          </p:sp>
        </p:grpSp>
        <p:pic>
          <p:nvPicPr>
            <p:cNvPr id="16" name="图片 15"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1" name="组合 50"/>
          <p:cNvGrpSpPr/>
          <p:nvPr/>
        </p:nvGrpSpPr>
        <p:grpSpPr>
          <a:xfrm>
            <a:off x="990894" y="4299414"/>
            <a:ext cx="3960520" cy="699300"/>
            <a:chOff x="989571" y="5768550"/>
            <a:chExt cx="3960520" cy="699300"/>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 name="TextBox 6"/>
            <p:cNvSpPr txBox="1">
              <a:spLocks noChangeArrowheads="1"/>
            </p:cNvSpPr>
            <p:nvPr/>
          </p:nvSpPr>
          <p:spPr bwMode="auto">
            <a:xfrm>
              <a:off x="1442851" y="5768550"/>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6.4 </a:t>
              </a:r>
              <a:r>
                <a:rPr lang="zh-CN" altLang="en-US" sz="3600" b="1" dirty="0" smtClean="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sp>
          <p:nvSpPr>
            <p:cNvPr id="34" name="KSO_Shape"/>
            <p:cNvSpPr/>
            <p:nvPr/>
          </p:nvSpPr>
          <p:spPr bwMode="auto">
            <a:xfrm>
              <a:off x="1187624" y="5942836"/>
              <a:ext cx="458076" cy="366692"/>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anose="020B0503020204020204" pitchFamily="34" charset="-122"/>
              </a:endParaRPr>
            </a:p>
          </p:txBody>
        </p:sp>
      </p:grpSp>
      <p:grpSp>
        <p:nvGrpSpPr>
          <p:cNvPr id="50" name="组合 49"/>
          <p:cNvGrpSpPr/>
          <p:nvPr/>
        </p:nvGrpSpPr>
        <p:grpSpPr>
          <a:xfrm>
            <a:off x="996557" y="3371778"/>
            <a:ext cx="3757930" cy="664430"/>
            <a:chOff x="999690" y="5025490"/>
            <a:chExt cx="3757930" cy="664430"/>
          </a:xfrm>
        </p:grpSpPr>
        <p:sp>
          <p:nvSpPr>
            <p:cNvPr id="31"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0" name="TextBox 6"/>
            <p:cNvSpPr txBox="1">
              <a:spLocks noChangeArrowheads="1"/>
            </p:cNvSpPr>
            <p:nvPr/>
          </p:nvSpPr>
          <p:spPr bwMode="auto">
            <a:xfrm>
              <a:off x="1250380" y="5025490"/>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6.3 </a:t>
              </a:r>
              <a:r>
                <a:rPr lang="zh-CN" altLang="en-US" sz="3600" b="1" dirty="0" smtClean="0">
                  <a:latin typeface="Times New Roman" panose="02020603050405020304" pitchFamily="18" charset="0"/>
                  <a:ea typeface="黑体" panose="02010609060101010101" pitchFamily="49" charset="-122"/>
                </a:rPr>
                <a:t>广义表</a:t>
              </a:r>
              <a:endParaRPr lang="zh-CN" altLang="en-US" sz="3600" b="1" dirty="0">
                <a:latin typeface="Times New Roman" panose="02020603050405020304" pitchFamily="18" charset="0"/>
                <a:ea typeface="黑体" panose="02010609060101010101" pitchFamily="49" charset="-122"/>
              </a:endParaRPr>
            </a:p>
          </p:txBody>
        </p:sp>
        <p:pic>
          <p:nvPicPr>
            <p:cNvPr id="48" name="图片 47"/>
            <p:cNvPicPr>
              <a:picLocks noChangeAspect="1"/>
            </p:cNvPicPr>
            <p:nvPr/>
          </p:nvPicPr>
          <p:blipFill>
            <a:blip r:embed="rId2" cstate="print"/>
            <a:stretch>
              <a:fillRect/>
            </a:stretch>
          </p:blipFill>
          <p:spPr>
            <a:xfrm>
              <a:off x="1199659" y="5205012"/>
              <a:ext cx="420013" cy="322083"/>
            </a:xfrm>
            <a:prstGeom prst="rect">
              <a:avLst/>
            </a:prstGeom>
          </p:spPr>
        </p:pic>
      </p:grpSp>
      <p:grpSp>
        <p:nvGrpSpPr>
          <p:cNvPr id="32" name="组合 31"/>
          <p:cNvGrpSpPr/>
          <p:nvPr/>
        </p:nvGrpSpPr>
        <p:grpSpPr>
          <a:xfrm>
            <a:off x="683568" y="1521588"/>
            <a:ext cx="3973950" cy="677247"/>
            <a:chOff x="611560" y="1326432"/>
            <a:chExt cx="4231148" cy="639771"/>
          </a:xfrm>
        </p:grpSpPr>
        <p:sp>
          <p:nvSpPr>
            <p:cNvPr id="33" name="TextBox 6"/>
            <p:cNvSpPr txBox="1">
              <a:spLocks noChangeArrowheads="1"/>
            </p:cNvSpPr>
            <p:nvPr/>
          </p:nvSpPr>
          <p:spPr bwMode="auto">
            <a:xfrm>
              <a:off x="611560" y="1326432"/>
              <a:ext cx="4231148" cy="610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  6.1 </a:t>
              </a:r>
              <a:r>
                <a:rPr lang="zh-CN" altLang="en-US" sz="3600" b="1" dirty="0">
                  <a:latin typeface="Times New Roman" panose="02020603050405020304" pitchFamily="18" charset="0"/>
                  <a:ea typeface="黑体" panose="02010609060101010101" pitchFamily="49" charset="-122"/>
                </a:rPr>
                <a:t>引言</a:t>
              </a:r>
              <a:endParaRPr lang="zh-CN" altLang="en-US" sz="3600" b="1" dirty="0">
                <a:latin typeface="Times New Roman" panose="02020603050405020304" pitchFamily="18" charset="0"/>
                <a:ea typeface="黑体" panose="02010609060101010101" pitchFamily="49" charset="-122"/>
              </a:endParaRPr>
            </a:p>
          </p:txBody>
        </p:sp>
        <p:grpSp>
          <p:nvGrpSpPr>
            <p:cNvPr id="35" name="组合 34"/>
            <p:cNvGrpSpPr/>
            <p:nvPr/>
          </p:nvGrpSpPr>
          <p:grpSpPr>
            <a:xfrm>
              <a:off x="944806" y="1326432"/>
              <a:ext cx="913661" cy="639771"/>
              <a:chOff x="944806" y="1326432"/>
              <a:chExt cx="913661" cy="639771"/>
            </a:xfrm>
          </p:grpSpPr>
          <p:sp>
            <p:nvSpPr>
              <p:cNvPr id="36" name="Freeform 5"/>
              <p:cNvSpPr/>
              <p:nvPr/>
            </p:nvSpPr>
            <p:spPr bwMode="auto">
              <a:xfrm>
                <a:off x="944806" y="1326432"/>
                <a:ext cx="913661" cy="63977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39" name="图片 38" descr="1.jpg"/>
              <p:cNvPicPr>
                <a:picLocks noChangeAspect="1"/>
              </p:cNvPicPr>
              <p:nvPr/>
            </p:nvPicPr>
            <p:blipFill>
              <a:blip r:embed="rId3" cstate="print"/>
              <a:stretch>
                <a:fillRect/>
              </a:stretch>
            </p:blipFill>
            <p:spPr>
              <a:xfrm>
                <a:off x="1189071" y="1467621"/>
                <a:ext cx="377680" cy="419801"/>
              </a:xfrm>
              <a:prstGeom prst="rect">
                <a:avLst/>
              </a:prstGeom>
            </p:spPr>
          </p:pic>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ox(i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上文回顾</a:t>
            </a:r>
            <a:endParaRPr lang="zh-CN" altLang="en-US" dirty="0"/>
          </a:p>
        </p:txBody>
      </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023045"/>
            <a:ext cx="1224136" cy="1047837"/>
          </a:xfrm>
          <a:prstGeom prst="rect">
            <a:avLst/>
          </a:prstGeom>
        </p:spPr>
      </p:pic>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pic>
        <p:nvPicPr>
          <p:cNvPr id="14" name="图片 13"/>
          <p:cNvPicPr>
            <a:picLocks noChangeAspect="1"/>
          </p:cNvPicPr>
          <p:nvPr/>
        </p:nvPicPr>
        <p:blipFill>
          <a:blip r:embed="rId2"/>
          <a:stretch>
            <a:fillRect/>
          </a:stretch>
        </p:blipFill>
        <p:spPr>
          <a:xfrm>
            <a:off x="1644395" y="724057"/>
            <a:ext cx="6468923" cy="6133943"/>
          </a:xfrm>
          <a:prstGeom prst="rect">
            <a:avLst/>
          </a:prstGeom>
        </p:spPr>
      </p:pic>
      <p:sp>
        <p:nvSpPr>
          <p:cNvPr id="4" name="文本框 3"/>
          <p:cNvSpPr txBox="1"/>
          <p:nvPr/>
        </p:nvSpPr>
        <p:spPr>
          <a:xfrm>
            <a:off x="611560" y="4653136"/>
            <a:ext cx="2448272" cy="369332"/>
          </a:xfrm>
          <a:prstGeom prst="rect">
            <a:avLst/>
          </a:prstGeom>
          <a:noFill/>
        </p:spPr>
        <p:txBody>
          <a:bodyPr wrap="square" rtlCol="0">
            <a:spAutoFit/>
          </a:bodyPr>
          <a:lstStyle/>
          <a:p>
            <a:r>
              <a:rPr lang="zh-CN" altLang="en-US" b="1" dirty="0" smtClean="0"/>
              <a:t>线性数据结构的</a:t>
            </a:r>
            <a:r>
              <a:rPr lang="zh-CN" altLang="en-US" b="1" dirty="0"/>
              <a:t>扩展</a:t>
            </a:r>
            <a:endParaRPr lang="zh-CN" altLang="en-US" b="1" dirty="0"/>
          </a:p>
        </p:txBody>
      </p:sp>
      <p:sp>
        <p:nvSpPr>
          <p:cNvPr id="8" name="文本框 7"/>
          <p:cNvSpPr txBox="1"/>
          <p:nvPr/>
        </p:nvSpPr>
        <p:spPr>
          <a:xfrm>
            <a:off x="971600" y="5157192"/>
            <a:ext cx="2448272" cy="369332"/>
          </a:xfrm>
          <a:prstGeom prst="rect">
            <a:avLst/>
          </a:prstGeom>
          <a:noFill/>
        </p:spPr>
        <p:txBody>
          <a:bodyPr wrap="square" rtlCol="0">
            <a:spAutoFit/>
          </a:bodyPr>
          <a:lstStyle/>
          <a:p>
            <a:r>
              <a:rPr lang="zh-CN" altLang="en-US" b="1" dirty="0" smtClean="0">
                <a:solidFill>
                  <a:srgbClr val="0000FF"/>
                </a:solidFill>
              </a:rPr>
              <a:t>数组与广义表</a:t>
            </a:r>
            <a:endParaRPr lang="zh-CN" altLang="en-US" b="1" dirty="0">
              <a:solidFill>
                <a:srgbClr val="0000FF"/>
              </a:solidFill>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7" name="组合 6"/>
          <p:cNvGrpSpPr/>
          <p:nvPr/>
        </p:nvGrpSpPr>
        <p:grpSpPr>
          <a:xfrm>
            <a:off x="196836" y="95357"/>
            <a:ext cx="4231148" cy="684042"/>
            <a:chOff x="611560" y="1326432"/>
            <a:chExt cx="4231148" cy="684042"/>
          </a:xfrm>
        </p:grpSpPr>
        <p:sp>
          <p:nvSpPr>
            <p:cNvPr id="8"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6.1 </a:t>
              </a:r>
              <a:r>
                <a:rPr lang="zh-CN" altLang="en-US" sz="3600" b="1" dirty="0" smtClean="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9" name="组合 8"/>
            <p:cNvGrpSpPr/>
            <p:nvPr/>
          </p:nvGrpSpPr>
          <p:grpSpPr>
            <a:xfrm>
              <a:off x="958665" y="1327471"/>
              <a:ext cx="842977" cy="683003"/>
              <a:chOff x="958665" y="1327471"/>
              <a:chExt cx="842977" cy="683003"/>
            </a:xfrm>
          </p:grpSpPr>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1" name="图片 10" descr="1.jpg"/>
              <p:cNvPicPr>
                <a:picLocks noChangeAspect="1"/>
              </p:cNvPicPr>
              <p:nvPr/>
            </p:nvPicPr>
            <p:blipFill>
              <a:blip r:embed="rId1" cstate="print"/>
              <a:stretch>
                <a:fillRect/>
              </a:stretch>
            </p:blipFill>
            <p:spPr>
              <a:xfrm>
                <a:off x="1189071" y="1467621"/>
                <a:ext cx="377680" cy="419801"/>
              </a:xfrm>
              <a:prstGeom prst="rect">
                <a:avLst/>
              </a:prstGeom>
            </p:spPr>
          </p:pic>
        </p:grpSp>
      </p:grpSp>
      <p:sp>
        <p:nvSpPr>
          <p:cNvPr id="13" name="内容占位符 2"/>
          <p:cNvSpPr>
            <a:spLocks noGrp="1"/>
          </p:cNvSpPr>
          <p:nvPr>
            <p:ph idx="1"/>
          </p:nvPr>
        </p:nvSpPr>
        <p:spPr>
          <a:xfrm>
            <a:off x="189112" y="918979"/>
            <a:ext cx="8229600" cy="5040560"/>
          </a:xfrm>
        </p:spPr>
        <p:txBody>
          <a:bodyPr/>
          <a:lstStyle/>
          <a:p>
            <a:pPr lvl="1">
              <a:buClr>
                <a:srgbClr val="FF0000"/>
              </a:buClr>
              <a:buNone/>
            </a:pPr>
            <a:r>
              <a:rPr lang="zh-CN" altLang="en-US" sz="2200" b="1" dirty="0" smtClean="0">
                <a:solidFill>
                  <a:srgbClr val="FF0000"/>
                </a:solidFill>
              </a:rPr>
              <a:t>实际案例：</a:t>
            </a:r>
            <a:endParaRPr lang="zh-CN" altLang="en-US" sz="2200" b="1" dirty="0">
              <a:solidFill>
                <a:srgbClr val="FF0000"/>
              </a:solidFill>
            </a:endParaRPr>
          </a:p>
          <a:p>
            <a:pPr>
              <a:buFont typeface="Wingdings" panose="05000000000000000000" pitchFamily="2" charset="2"/>
              <a:buNone/>
            </a:pPr>
            <a:r>
              <a:rPr lang="zh-CN" altLang="en-US" sz="2000" b="1" dirty="0"/>
              <a:t>    </a:t>
            </a:r>
            <a:r>
              <a:rPr lang="zh-CN" altLang="en-US" sz="2000" b="1" dirty="0" smtClean="0"/>
              <a:t>（</a:t>
            </a:r>
            <a:r>
              <a:rPr lang="en-US" altLang="zh-CN" sz="2000" b="1" dirty="0" smtClean="0"/>
              <a:t>1</a:t>
            </a:r>
            <a:r>
              <a:rPr lang="zh-CN" altLang="en-US" sz="2000" b="1" dirty="0" smtClean="0"/>
              <a:t>）“丢手绢问题”</a:t>
            </a:r>
            <a:endParaRPr lang="en-US" altLang="zh-CN" sz="2000" b="1" dirty="0" smtClean="0"/>
          </a:p>
          <a:p>
            <a:pPr>
              <a:buFont typeface="Wingdings" panose="05000000000000000000" pitchFamily="2" charset="2"/>
              <a:buNone/>
            </a:pPr>
            <a:r>
              <a:rPr lang="en-US" altLang="zh-CN" sz="2000" b="1" dirty="0" smtClean="0">
                <a:solidFill>
                  <a:srgbClr val="FF0000"/>
                </a:solidFill>
              </a:rPr>
              <a:t>    </a:t>
            </a:r>
            <a:endParaRPr lang="zh-CN" altLang="en-US" sz="2000" dirty="0"/>
          </a:p>
        </p:txBody>
      </p:sp>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3187" y="1751194"/>
            <a:ext cx="2652338" cy="1856637"/>
          </a:xfrm>
          <a:prstGeom prst="rect">
            <a:avLst/>
          </a:prstGeom>
        </p:spPr>
      </p:pic>
      <p:pic>
        <p:nvPicPr>
          <p:cNvPr id="15" name="图片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7362" y="1678305"/>
            <a:ext cx="2088232" cy="1929526"/>
          </a:xfrm>
          <a:prstGeom prst="rect">
            <a:avLst/>
          </a:prstGeom>
        </p:spPr>
      </p:pic>
      <p:sp>
        <p:nvSpPr>
          <p:cNvPr id="3" name="矩形 2"/>
          <p:cNvSpPr/>
          <p:nvPr/>
        </p:nvSpPr>
        <p:spPr>
          <a:xfrm>
            <a:off x="3914407" y="1308973"/>
            <a:ext cx="2584362" cy="369332"/>
          </a:xfrm>
          <a:prstGeom prst="rect">
            <a:avLst/>
          </a:prstGeom>
        </p:spPr>
        <p:txBody>
          <a:bodyPr wrap="none">
            <a:spAutoFit/>
          </a:bodyPr>
          <a:lstStyle/>
          <a:p>
            <a:pPr>
              <a:buFont typeface="Wingdings" panose="05000000000000000000" pitchFamily="2" charset="2"/>
              <a:buNone/>
            </a:pPr>
            <a:r>
              <a:rPr lang="zh-CN" altLang="en-US" b="1" dirty="0"/>
              <a:t>（</a:t>
            </a:r>
            <a:r>
              <a:rPr lang="en-US" altLang="zh-CN" b="1" dirty="0"/>
              <a:t>2</a:t>
            </a:r>
            <a:r>
              <a:rPr lang="zh-CN" altLang="en-US" b="1" dirty="0"/>
              <a:t>）</a:t>
            </a:r>
            <a:r>
              <a:rPr lang="en-US" altLang="zh-CN" b="1" dirty="0"/>
              <a:t> “</a:t>
            </a:r>
            <a:r>
              <a:rPr lang="zh-CN" altLang="en-US" b="1" dirty="0"/>
              <a:t>约瑟夫环问题”</a:t>
            </a:r>
            <a:endParaRPr lang="zh-CN" altLang="en-US" dirty="0"/>
          </a:p>
        </p:txBody>
      </p:sp>
      <p:sp>
        <p:nvSpPr>
          <p:cNvPr id="6" name="矩形 5"/>
          <p:cNvSpPr/>
          <p:nvPr/>
        </p:nvSpPr>
        <p:spPr>
          <a:xfrm>
            <a:off x="6297014" y="1814371"/>
            <a:ext cx="1402948" cy="369332"/>
          </a:xfrm>
          <a:prstGeom prst="rect">
            <a:avLst/>
          </a:prstGeom>
        </p:spPr>
        <p:txBody>
          <a:bodyPr wrap="none">
            <a:spAutoFit/>
          </a:bodyPr>
          <a:lstStyle/>
          <a:p>
            <a:pPr marL="285750" indent="-285750">
              <a:buClr>
                <a:srgbClr val="FF0000"/>
              </a:buClr>
              <a:buFont typeface="Arial" panose="020B0604020202020204" pitchFamily="34" charset="0"/>
              <a:buChar char="•"/>
            </a:pPr>
            <a:r>
              <a:rPr lang="zh-CN" altLang="en-US" b="1" dirty="0">
                <a:solidFill>
                  <a:srgbClr val="0000FF"/>
                </a:solidFill>
              </a:rPr>
              <a:t>循环</a:t>
            </a:r>
            <a:r>
              <a:rPr lang="zh-CN" altLang="en-US" b="1" dirty="0" smtClean="0">
                <a:solidFill>
                  <a:srgbClr val="0000FF"/>
                </a:solidFill>
              </a:rPr>
              <a:t>队列</a:t>
            </a:r>
            <a:endParaRPr lang="zh-CN" altLang="en-US" dirty="0">
              <a:solidFill>
                <a:srgbClr val="0000FF"/>
              </a:solidFill>
            </a:endParaRPr>
          </a:p>
        </p:txBody>
      </p:sp>
      <p:pic>
        <p:nvPicPr>
          <p:cNvPr id="17" name="图片 16"/>
          <p:cNvPicPr>
            <a:picLocks noChangeAspect="1"/>
          </p:cNvPicPr>
          <p:nvPr/>
        </p:nvPicPr>
        <p:blipFill>
          <a:blip r:embed="rId4"/>
          <a:stretch>
            <a:fillRect/>
          </a:stretch>
        </p:blipFill>
        <p:spPr>
          <a:xfrm>
            <a:off x="4788024" y="4030486"/>
            <a:ext cx="4090789" cy="2106368"/>
          </a:xfrm>
          <a:prstGeom prst="rect">
            <a:avLst/>
          </a:prstGeom>
        </p:spPr>
      </p:pic>
      <p:sp>
        <p:nvSpPr>
          <p:cNvPr id="18" name="矩形 17"/>
          <p:cNvSpPr/>
          <p:nvPr/>
        </p:nvSpPr>
        <p:spPr>
          <a:xfrm>
            <a:off x="6289265" y="2375700"/>
            <a:ext cx="2797561" cy="369332"/>
          </a:xfrm>
          <a:prstGeom prst="rect">
            <a:avLst/>
          </a:prstGeom>
        </p:spPr>
        <p:txBody>
          <a:bodyPr wrap="none">
            <a:spAutoFit/>
          </a:bodyPr>
          <a:lstStyle/>
          <a:p>
            <a:pPr marL="285750" indent="-285750">
              <a:buClr>
                <a:srgbClr val="FF0000"/>
              </a:buClr>
              <a:buFont typeface="Arial" panose="020B0604020202020204" pitchFamily="34" charset="0"/>
              <a:buChar char="•"/>
            </a:pPr>
            <a:r>
              <a:rPr lang="zh-CN" altLang="en-US" b="1" dirty="0">
                <a:solidFill>
                  <a:srgbClr val="0000FF"/>
                </a:solidFill>
              </a:rPr>
              <a:t>不带头结点的循环链表</a:t>
            </a:r>
            <a:endParaRPr lang="zh-CN" altLang="en-US" dirty="0">
              <a:solidFill>
                <a:srgbClr val="0000FF"/>
              </a:solidFill>
            </a:endParaRPr>
          </a:p>
        </p:txBody>
      </p:sp>
      <p:sp>
        <p:nvSpPr>
          <p:cNvPr id="20" name="矩形 19"/>
          <p:cNvSpPr/>
          <p:nvPr/>
        </p:nvSpPr>
        <p:spPr>
          <a:xfrm>
            <a:off x="323528" y="4057847"/>
            <a:ext cx="2933816" cy="369332"/>
          </a:xfrm>
          <a:prstGeom prst="rect">
            <a:avLst/>
          </a:prstGeom>
        </p:spPr>
        <p:txBody>
          <a:bodyPr wrap="none">
            <a:spAutoFit/>
          </a:bodyPr>
          <a:lstStyle/>
          <a:p>
            <a:r>
              <a:rPr lang="zh-CN" altLang="en-US" b="1" dirty="0"/>
              <a:t> </a:t>
            </a:r>
            <a:r>
              <a:rPr lang="zh-CN" altLang="en-US" b="1" dirty="0" smtClean="0">
                <a:solidFill>
                  <a:srgbClr val="FF0000"/>
                </a:solidFill>
              </a:rPr>
              <a:t>（</a:t>
            </a:r>
            <a:r>
              <a:rPr lang="en-US" altLang="zh-CN" b="1" dirty="0" smtClean="0">
                <a:solidFill>
                  <a:srgbClr val="FF0000"/>
                </a:solidFill>
              </a:rPr>
              <a:t>3</a:t>
            </a:r>
            <a:r>
              <a:rPr lang="zh-CN" altLang="en-US" b="1" dirty="0" smtClean="0">
                <a:solidFill>
                  <a:srgbClr val="FF0000"/>
                </a:solidFill>
              </a:rPr>
              <a:t>）“猴子选大王问题”</a:t>
            </a:r>
            <a:endParaRPr lang="zh-CN" altLang="en-US" dirty="0"/>
          </a:p>
        </p:txBody>
      </p:sp>
      <p:sp>
        <p:nvSpPr>
          <p:cNvPr id="21" name="文本框 20"/>
          <p:cNvSpPr txBox="1"/>
          <p:nvPr/>
        </p:nvSpPr>
        <p:spPr>
          <a:xfrm>
            <a:off x="56472" y="6344724"/>
            <a:ext cx="2664296" cy="276999"/>
          </a:xfrm>
          <a:prstGeom prst="rect">
            <a:avLst/>
          </a:prstGeom>
          <a:noFill/>
        </p:spPr>
        <p:txBody>
          <a:bodyPr wrap="square" rtlCol="0">
            <a:spAutoFit/>
          </a:bodyPr>
          <a:lstStyle/>
          <a:p>
            <a:r>
              <a:rPr lang="zh-CN" altLang="en-US" sz="1200" dirty="0" smtClean="0"/>
              <a:t>注</a:t>
            </a:r>
            <a:r>
              <a:rPr lang="en-US" altLang="zh-CN" sz="1200" dirty="0" smtClean="0"/>
              <a:t>: </a:t>
            </a:r>
            <a:r>
              <a:rPr lang="zh-CN" altLang="en-US" sz="1200" dirty="0" smtClean="0"/>
              <a:t>图片来自百度图片</a:t>
            </a:r>
            <a:endParaRPr lang="zh-CN" altLang="en-US" sz="1200" dirty="0"/>
          </a:p>
        </p:txBody>
      </p:sp>
      <p:sp>
        <p:nvSpPr>
          <p:cNvPr id="22" name="矩形 21"/>
          <p:cNvSpPr/>
          <p:nvPr/>
        </p:nvSpPr>
        <p:spPr>
          <a:xfrm>
            <a:off x="296282" y="4488701"/>
            <a:ext cx="4572000" cy="1384995"/>
          </a:xfrm>
          <a:prstGeom prst="rect">
            <a:avLst/>
          </a:prstGeom>
        </p:spPr>
        <p:txBody>
          <a:bodyPr>
            <a:spAutoFit/>
          </a:bodyPr>
          <a:lstStyle/>
          <a:p>
            <a:pPr>
              <a:lnSpc>
                <a:spcPct val="120000"/>
              </a:lnSpc>
              <a:spcBef>
                <a:spcPts val="0"/>
              </a:spcBef>
            </a:pPr>
            <a:r>
              <a:rPr lang="zh-CN" altLang="en-US" sz="1400" dirty="0" smtClean="0">
                <a:solidFill>
                  <a:srgbClr val="4D4D4D"/>
                </a:solidFill>
                <a:latin typeface="Times New Roman" panose="02020603050405020304" pitchFamily="18" charset="0"/>
                <a:ea typeface="微软雅黑" panose="020B0503020204020204" pitchFamily="34" charset="-122"/>
              </a:rPr>
              <a:t>编号</a:t>
            </a:r>
            <a:r>
              <a:rPr lang="zh-CN" altLang="en-US" sz="1400" dirty="0">
                <a:solidFill>
                  <a:srgbClr val="4D4D4D"/>
                </a:solidFill>
                <a:latin typeface="Times New Roman" panose="02020603050405020304" pitchFamily="18" charset="0"/>
                <a:ea typeface="微软雅黑" panose="020B0503020204020204" pitchFamily="34" charset="-122"/>
              </a:rPr>
              <a:t>是</a:t>
            </a:r>
            <a:r>
              <a:rPr lang="en-US" altLang="zh-CN" sz="1400" dirty="0">
                <a:solidFill>
                  <a:srgbClr val="4D4D4D"/>
                </a:solidFill>
                <a:latin typeface="Times New Roman" panose="02020603050405020304" pitchFamily="18" charset="0"/>
                <a:ea typeface="微软雅黑" panose="020B0503020204020204" pitchFamily="34" charset="-122"/>
              </a:rPr>
              <a:t>1</a:t>
            </a:r>
            <a:r>
              <a:rPr lang="zh-CN" altLang="en-US" sz="1400" dirty="0">
                <a:solidFill>
                  <a:srgbClr val="4D4D4D"/>
                </a:solidFill>
                <a:latin typeface="Times New Roman" panose="02020603050405020304" pitchFamily="18" charset="0"/>
                <a:ea typeface="微软雅黑" panose="020B0503020204020204" pitchFamily="34" charset="-122"/>
              </a:rPr>
              <a:t>，</a:t>
            </a:r>
            <a:r>
              <a:rPr lang="en-US" altLang="zh-CN" sz="1400" dirty="0">
                <a:solidFill>
                  <a:srgbClr val="4D4D4D"/>
                </a:solidFill>
                <a:latin typeface="Times New Roman" panose="02020603050405020304" pitchFamily="18" charset="0"/>
                <a:ea typeface="微软雅黑" panose="020B0503020204020204" pitchFamily="34" charset="-122"/>
              </a:rPr>
              <a:t>2</a:t>
            </a:r>
            <a:r>
              <a:rPr lang="zh-CN" altLang="en-US" sz="1400" dirty="0">
                <a:solidFill>
                  <a:srgbClr val="4D4D4D"/>
                </a:solidFill>
                <a:latin typeface="Times New Roman" panose="02020603050405020304" pitchFamily="18" charset="0"/>
                <a:ea typeface="微软雅黑" panose="020B0503020204020204" pitchFamily="34" charset="-122"/>
              </a:rPr>
              <a:t>，</a:t>
            </a:r>
            <a:r>
              <a:rPr lang="en-US" altLang="zh-CN" sz="1400" dirty="0" smtClean="0">
                <a:solidFill>
                  <a:srgbClr val="4D4D4D"/>
                </a:solidFill>
                <a:latin typeface="Times New Roman" panose="02020603050405020304" pitchFamily="18" charset="0"/>
                <a:ea typeface="微软雅黑" panose="020B0503020204020204" pitchFamily="34" charset="-122"/>
              </a:rPr>
              <a:t>3, …, </a:t>
            </a:r>
            <a:r>
              <a:rPr lang="en-US" altLang="zh-CN" sz="1400" i="1" dirty="0" smtClean="0">
                <a:solidFill>
                  <a:srgbClr val="4D4D4D"/>
                </a:solidFill>
                <a:latin typeface="Times New Roman" panose="02020603050405020304" pitchFamily="18" charset="0"/>
                <a:ea typeface="微软雅黑" panose="020B0503020204020204" pitchFamily="34" charset="-122"/>
              </a:rPr>
              <a:t>m</a:t>
            </a:r>
            <a:r>
              <a:rPr lang="zh-CN" altLang="en-US" sz="1400" dirty="0" smtClean="0">
                <a:solidFill>
                  <a:srgbClr val="4D4D4D"/>
                </a:solidFill>
                <a:latin typeface="Times New Roman" panose="02020603050405020304" pitchFamily="18" charset="0"/>
                <a:ea typeface="微软雅黑" panose="020B0503020204020204" pitchFamily="34" charset="-122"/>
              </a:rPr>
              <a:t>的</a:t>
            </a:r>
            <a:r>
              <a:rPr lang="zh-CN" altLang="en-US" sz="1400" dirty="0">
                <a:solidFill>
                  <a:srgbClr val="4D4D4D"/>
                </a:solidFill>
                <a:latin typeface="Times New Roman" panose="02020603050405020304" pitchFamily="18" charset="0"/>
                <a:ea typeface="微软雅黑" panose="020B0503020204020204" pitchFamily="34" charset="-122"/>
              </a:rPr>
              <a:t>一群</a:t>
            </a:r>
            <a:r>
              <a:rPr lang="zh-CN" altLang="en-US" sz="1400" dirty="0" smtClean="0">
                <a:solidFill>
                  <a:srgbClr val="4D4D4D"/>
                </a:solidFill>
                <a:latin typeface="Times New Roman" panose="02020603050405020304" pitchFamily="18" charset="0"/>
                <a:ea typeface="微软雅黑" panose="020B0503020204020204" pitchFamily="34" charset="-122"/>
              </a:rPr>
              <a:t>猴子，按照</a:t>
            </a:r>
            <a:r>
              <a:rPr lang="en-US" altLang="zh-CN" sz="1400" dirty="0" smtClean="0">
                <a:solidFill>
                  <a:srgbClr val="4D4D4D"/>
                </a:solidFill>
                <a:latin typeface="Times New Roman" panose="02020603050405020304" pitchFamily="18" charset="0"/>
                <a:ea typeface="微软雅黑" panose="020B0503020204020204" pitchFamily="34" charset="-122"/>
              </a:rPr>
              <a:t>1~</a:t>
            </a:r>
            <a:r>
              <a:rPr lang="en-US" altLang="zh-CN" sz="1400" i="1" dirty="0" smtClean="0">
                <a:solidFill>
                  <a:srgbClr val="4D4D4D"/>
                </a:solidFill>
                <a:latin typeface="Times New Roman" panose="02020603050405020304" pitchFamily="18" charset="0"/>
                <a:ea typeface="微软雅黑" panose="020B0503020204020204" pitchFamily="34" charset="-122"/>
              </a:rPr>
              <a:t>m</a:t>
            </a:r>
            <a:r>
              <a:rPr lang="zh-CN" altLang="en-US" sz="1400" dirty="0">
                <a:solidFill>
                  <a:srgbClr val="4D4D4D"/>
                </a:solidFill>
                <a:latin typeface="Times New Roman" panose="02020603050405020304" pitchFamily="18" charset="0"/>
                <a:ea typeface="微软雅黑" panose="020B0503020204020204" pitchFamily="34" charset="-122"/>
              </a:rPr>
              <a:t>的顺序围坐一圈。从第</a:t>
            </a:r>
            <a:r>
              <a:rPr lang="en-US" altLang="zh-CN" sz="1400" dirty="0">
                <a:solidFill>
                  <a:srgbClr val="4D4D4D"/>
                </a:solidFill>
                <a:latin typeface="Times New Roman" panose="02020603050405020304" pitchFamily="18" charset="0"/>
                <a:ea typeface="微软雅黑" panose="020B0503020204020204" pitchFamily="34" charset="-122"/>
              </a:rPr>
              <a:t>1</a:t>
            </a:r>
            <a:r>
              <a:rPr lang="zh-CN" altLang="en-US" sz="1400" dirty="0">
                <a:solidFill>
                  <a:srgbClr val="4D4D4D"/>
                </a:solidFill>
                <a:latin typeface="Times New Roman" panose="02020603050405020304" pitchFamily="18" charset="0"/>
                <a:ea typeface="微软雅黑" panose="020B0503020204020204" pitchFamily="34" charset="-122"/>
              </a:rPr>
              <a:t>只开始数，每数到第</a:t>
            </a:r>
            <a:r>
              <a:rPr lang="en-US" altLang="zh-CN" sz="1400" i="1" dirty="0">
                <a:solidFill>
                  <a:srgbClr val="4D4D4D"/>
                </a:solidFill>
                <a:latin typeface="Times New Roman" panose="02020603050405020304" pitchFamily="18" charset="0"/>
                <a:ea typeface="微软雅黑" panose="020B0503020204020204" pitchFamily="34" charset="-122"/>
              </a:rPr>
              <a:t>n</a:t>
            </a:r>
            <a:r>
              <a:rPr lang="zh-CN" altLang="en-US" sz="1400" dirty="0">
                <a:solidFill>
                  <a:srgbClr val="4D4D4D"/>
                </a:solidFill>
                <a:latin typeface="Times New Roman" panose="02020603050405020304" pitchFamily="18" charset="0"/>
                <a:ea typeface="微软雅黑" panose="020B0503020204020204" pitchFamily="34" charset="-122"/>
              </a:rPr>
              <a:t>个，该猴子就要离开此圈</a:t>
            </a:r>
            <a:r>
              <a:rPr lang="zh-CN" altLang="en-US" sz="1400" dirty="0" smtClean="0">
                <a:solidFill>
                  <a:srgbClr val="4D4D4D"/>
                </a:solidFill>
                <a:latin typeface="Times New Roman" panose="02020603050405020304" pitchFamily="18" charset="0"/>
                <a:ea typeface="微软雅黑" panose="020B0503020204020204" pitchFamily="34" charset="-122"/>
              </a:rPr>
              <a:t>，依次类推，</a:t>
            </a:r>
            <a:r>
              <a:rPr lang="zh-CN" altLang="en-US" sz="1400" dirty="0">
                <a:solidFill>
                  <a:srgbClr val="4D4D4D"/>
                </a:solidFill>
                <a:latin typeface="Times New Roman" panose="02020603050405020304" pitchFamily="18" charset="0"/>
                <a:ea typeface="微软雅黑" panose="020B0503020204020204" pitchFamily="34" charset="-122"/>
              </a:rPr>
              <a:t>最后一只出圈的猴子为大王</a:t>
            </a:r>
            <a:r>
              <a:rPr lang="zh-CN" altLang="en-US" sz="1400" dirty="0" smtClean="0">
                <a:solidFill>
                  <a:srgbClr val="4D4D4D"/>
                </a:solidFill>
                <a:latin typeface="Times New Roman" panose="02020603050405020304" pitchFamily="18" charset="0"/>
                <a:ea typeface="微软雅黑" panose="020B0503020204020204" pitchFamily="34" charset="-122"/>
              </a:rPr>
              <a:t>。</a:t>
            </a:r>
            <a:endParaRPr lang="en-US" altLang="zh-CN" sz="1400" dirty="0" smtClean="0">
              <a:solidFill>
                <a:srgbClr val="4D4D4D"/>
              </a:solidFill>
              <a:latin typeface="Times New Roman" panose="02020603050405020304" pitchFamily="18" charset="0"/>
              <a:ea typeface="微软雅黑" panose="020B0503020204020204" pitchFamily="34" charset="-122"/>
            </a:endParaRPr>
          </a:p>
          <a:p>
            <a:pPr>
              <a:lnSpc>
                <a:spcPct val="120000"/>
              </a:lnSpc>
              <a:spcBef>
                <a:spcPts val="0"/>
              </a:spcBef>
            </a:pPr>
            <a:r>
              <a:rPr lang="zh-CN" altLang="en-US" sz="1400" dirty="0" smtClean="0">
                <a:solidFill>
                  <a:srgbClr val="FF0000"/>
                </a:solidFill>
                <a:latin typeface="Times New Roman" panose="02020603050405020304" pitchFamily="18" charset="0"/>
                <a:ea typeface="微软雅黑" panose="020B0503020204020204" pitchFamily="34" charset="-122"/>
              </a:rPr>
              <a:t>问题：</a:t>
            </a:r>
            <a:r>
              <a:rPr lang="zh-CN" altLang="en-US" sz="1400" dirty="0" smtClean="0">
                <a:solidFill>
                  <a:srgbClr val="4D4D4D"/>
                </a:solidFill>
                <a:latin typeface="Times New Roman" panose="02020603050405020304" pitchFamily="18" charset="0"/>
                <a:ea typeface="微软雅黑" panose="020B0503020204020204" pitchFamily="34" charset="-122"/>
              </a:rPr>
              <a:t>输出</a:t>
            </a:r>
            <a:r>
              <a:rPr lang="zh-CN" altLang="en-US" sz="1400" dirty="0">
                <a:solidFill>
                  <a:srgbClr val="4D4D4D"/>
                </a:solidFill>
                <a:latin typeface="Times New Roman" panose="02020603050405020304" pitchFamily="18" charset="0"/>
                <a:ea typeface="微软雅黑" panose="020B0503020204020204" pitchFamily="34" charset="-122"/>
              </a:rPr>
              <a:t>猴子离开圈子的顺序</a:t>
            </a:r>
            <a:r>
              <a:rPr lang="zh-CN" altLang="en-US" sz="1400" dirty="0" smtClean="0">
                <a:solidFill>
                  <a:srgbClr val="4D4D4D"/>
                </a:solidFill>
                <a:latin typeface="Times New Roman" panose="02020603050405020304" pitchFamily="18" charset="0"/>
                <a:ea typeface="微软雅黑" panose="020B0503020204020204" pitchFamily="34" charset="-122"/>
              </a:rPr>
              <a:t>，并输出最后成为大王</a:t>
            </a:r>
            <a:endParaRPr lang="en-US" altLang="zh-CN" sz="1400" dirty="0" smtClean="0">
              <a:solidFill>
                <a:srgbClr val="4D4D4D"/>
              </a:solidFill>
              <a:latin typeface="Times New Roman" panose="02020603050405020304" pitchFamily="18" charset="0"/>
              <a:ea typeface="微软雅黑" panose="020B0503020204020204" pitchFamily="34" charset="-122"/>
            </a:endParaRPr>
          </a:p>
          <a:p>
            <a:pPr>
              <a:lnSpc>
                <a:spcPct val="120000"/>
              </a:lnSpc>
              <a:spcBef>
                <a:spcPts val="0"/>
              </a:spcBef>
            </a:pPr>
            <a:r>
              <a:rPr lang="en-US" altLang="zh-CN" sz="1400" dirty="0">
                <a:solidFill>
                  <a:srgbClr val="4D4D4D"/>
                </a:solidFill>
                <a:latin typeface="Times New Roman" panose="02020603050405020304" pitchFamily="18" charset="0"/>
                <a:ea typeface="微软雅黑" panose="020B0503020204020204" pitchFamily="34" charset="-122"/>
              </a:rPr>
              <a:t> </a:t>
            </a:r>
            <a:r>
              <a:rPr lang="en-US" altLang="zh-CN" sz="1400" dirty="0" smtClean="0">
                <a:solidFill>
                  <a:srgbClr val="4D4D4D"/>
                </a:solidFill>
                <a:latin typeface="Times New Roman" panose="02020603050405020304" pitchFamily="18" charset="0"/>
                <a:ea typeface="微软雅黑" panose="020B0503020204020204" pitchFamily="34" charset="-122"/>
              </a:rPr>
              <a:t>           </a:t>
            </a:r>
            <a:r>
              <a:rPr lang="zh-CN" altLang="en-US" sz="1400" dirty="0" smtClean="0">
                <a:solidFill>
                  <a:srgbClr val="4D4D4D"/>
                </a:solidFill>
                <a:latin typeface="Times New Roman" panose="02020603050405020304" pitchFamily="18" charset="0"/>
                <a:ea typeface="微软雅黑" panose="020B0503020204020204" pitchFamily="34" charset="-122"/>
              </a:rPr>
              <a:t>的猴子的编号？</a:t>
            </a:r>
            <a:endParaRPr lang="zh-CN" altLang="en-US" sz="1400" dirty="0">
              <a:latin typeface="Times New Roman" panose="02020603050405020304" pitchFamily="18" charset="0"/>
            </a:endParaRPr>
          </a:p>
        </p:txBody>
      </p:sp>
      <p:sp>
        <p:nvSpPr>
          <p:cNvPr id="23" name="矩形 22"/>
          <p:cNvSpPr/>
          <p:nvPr/>
        </p:nvSpPr>
        <p:spPr>
          <a:xfrm>
            <a:off x="285486" y="5829077"/>
            <a:ext cx="2435282" cy="307777"/>
          </a:xfrm>
          <a:prstGeom prst="rect">
            <a:avLst/>
          </a:prstGeom>
        </p:spPr>
        <p:txBody>
          <a:bodyPr wrap="none">
            <a:spAutoFit/>
          </a:bodyPr>
          <a:lstStyle/>
          <a:p>
            <a:r>
              <a:rPr lang="zh-CN" altLang="en-US" sz="1400" dirty="0" smtClean="0">
                <a:solidFill>
                  <a:srgbClr val="FF0000"/>
                </a:solidFill>
                <a:latin typeface="微软雅黑" panose="020B0503020204020204" pitchFamily="34" charset="-122"/>
                <a:ea typeface="微软雅黑" panose="020B0503020204020204" pitchFamily="34" charset="-122"/>
              </a:rPr>
              <a:t>要求</a:t>
            </a:r>
            <a:r>
              <a:rPr lang="en-US" altLang="zh-CN" sz="1400" dirty="0" smtClean="0">
                <a:solidFill>
                  <a:srgbClr val="FF0000"/>
                </a:solidFill>
                <a:latin typeface="微软雅黑" panose="020B0503020204020204" pitchFamily="34" charset="-122"/>
                <a:ea typeface="微软雅黑" panose="020B0503020204020204" pitchFamily="34" charset="-122"/>
              </a:rPr>
              <a:t>: </a:t>
            </a:r>
            <a:r>
              <a:rPr lang="zh-CN" altLang="en-US" sz="1400" dirty="0" smtClean="0">
                <a:solidFill>
                  <a:srgbClr val="4D4D4D"/>
                </a:solidFill>
                <a:latin typeface="微软雅黑" panose="020B0503020204020204" pitchFamily="34" charset="-122"/>
                <a:ea typeface="微软雅黑" panose="020B0503020204020204" pitchFamily="34" charset="-122"/>
              </a:rPr>
              <a:t>采用</a:t>
            </a:r>
            <a:r>
              <a:rPr lang="zh-CN" altLang="en-US" sz="1400" b="1" dirty="0">
                <a:solidFill>
                  <a:srgbClr val="0000FF"/>
                </a:solidFill>
                <a:latin typeface="微软雅黑" panose="020B0503020204020204" pitchFamily="34" charset="-122"/>
                <a:ea typeface="微软雅黑" panose="020B0503020204020204" pitchFamily="34" charset="-122"/>
              </a:rPr>
              <a:t>数组</a:t>
            </a:r>
            <a:r>
              <a:rPr lang="zh-CN" altLang="en-US" sz="1400" dirty="0">
                <a:solidFill>
                  <a:srgbClr val="4D4D4D"/>
                </a:solidFill>
                <a:latin typeface="微软雅黑" panose="020B0503020204020204" pitchFamily="34" charset="-122"/>
                <a:ea typeface="微软雅黑" panose="020B0503020204020204" pitchFamily="34" charset="-122"/>
              </a:rPr>
              <a:t>作为存储结构</a:t>
            </a:r>
            <a:endParaRPr lang="zh-CN" altLang="en-US" sz="1400" dirty="0"/>
          </a:p>
        </p:txBody>
      </p:sp>
      <p:sp>
        <p:nvSpPr>
          <p:cNvPr id="24" name="矩形 23"/>
          <p:cNvSpPr/>
          <p:nvPr/>
        </p:nvSpPr>
        <p:spPr>
          <a:xfrm>
            <a:off x="2914688" y="5822943"/>
            <a:ext cx="1107996" cy="369332"/>
          </a:xfrm>
          <a:prstGeom prst="rect">
            <a:avLst/>
          </a:prstGeom>
        </p:spPr>
        <p:txBody>
          <a:bodyPr wrap="none">
            <a:spAutoFit/>
          </a:bodyPr>
          <a:lstStyle/>
          <a:p>
            <a:r>
              <a:rPr lang="zh-CN" altLang="en-US" b="1" dirty="0">
                <a:solidFill>
                  <a:srgbClr val="FF0000"/>
                </a:solidFill>
              </a:rPr>
              <a:t>一维数组</a:t>
            </a:r>
            <a:endParaRPr lang="zh-CN" altLang="en-US" b="1" dirty="0">
              <a:solidFill>
                <a:srgbClr val="FF0000"/>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ppt_x"/>
                                          </p:val>
                                        </p:tav>
                                        <p:tav tm="100000">
                                          <p:val>
                                            <p:strVal val="#ppt_x"/>
                                          </p:val>
                                        </p:tav>
                                      </p:tavLst>
                                    </p:anim>
                                    <p:anim calcmode="lin" valueType="num">
                                      <p:cBhvr additive="base">
                                        <p:cTn id="3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8" grpId="0"/>
      <p:bldP spid="20" grpId="0"/>
      <p:bldP spid="22" grpId="0"/>
      <p:bldP spid="23" grpId="0"/>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7" name="组合 6"/>
          <p:cNvGrpSpPr/>
          <p:nvPr/>
        </p:nvGrpSpPr>
        <p:grpSpPr>
          <a:xfrm>
            <a:off x="196836" y="95357"/>
            <a:ext cx="4231148" cy="684042"/>
            <a:chOff x="611560" y="1326432"/>
            <a:chExt cx="4231148" cy="684042"/>
          </a:xfrm>
        </p:grpSpPr>
        <p:sp>
          <p:nvSpPr>
            <p:cNvPr id="8"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6.1 </a:t>
              </a:r>
              <a:r>
                <a:rPr lang="zh-CN" altLang="en-US" sz="3600" b="1" dirty="0" smtClean="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9" name="组合 8"/>
            <p:cNvGrpSpPr/>
            <p:nvPr/>
          </p:nvGrpSpPr>
          <p:grpSpPr>
            <a:xfrm>
              <a:off x="958665" y="1327471"/>
              <a:ext cx="842977" cy="683003"/>
              <a:chOff x="958665" y="1327471"/>
              <a:chExt cx="842977" cy="683003"/>
            </a:xfrm>
          </p:grpSpPr>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1" name="图片 10" descr="1.jpg"/>
              <p:cNvPicPr>
                <a:picLocks noChangeAspect="1"/>
              </p:cNvPicPr>
              <p:nvPr/>
            </p:nvPicPr>
            <p:blipFill>
              <a:blip r:embed="rId1" cstate="print"/>
              <a:stretch>
                <a:fillRect/>
              </a:stretch>
            </p:blipFill>
            <p:spPr>
              <a:xfrm>
                <a:off x="1189071" y="1467621"/>
                <a:ext cx="377680" cy="419801"/>
              </a:xfrm>
              <a:prstGeom prst="rect">
                <a:avLst/>
              </a:prstGeom>
            </p:spPr>
          </p:pic>
        </p:grpSp>
      </p:grpSp>
      <p:sp>
        <p:nvSpPr>
          <p:cNvPr id="13" name="内容占位符 2"/>
          <p:cNvSpPr>
            <a:spLocks noGrp="1"/>
          </p:cNvSpPr>
          <p:nvPr>
            <p:ph idx="1"/>
          </p:nvPr>
        </p:nvSpPr>
        <p:spPr>
          <a:xfrm>
            <a:off x="189112" y="918979"/>
            <a:ext cx="8229600" cy="5040560"/>
          </a:xfrm>
        </p:spPr>
        <p:txBody>
          <a:bodyPr/>
          <a:lstStyle/>
          <a:p>
            <a:pPr>
              <a:buClr>
                <a:srgbClr val="FF0000"/>
              </a:buClr>
              <a:buNone/>
            </a:pPr>
            <a:r>
              <a:rPr lang="zh-CN" altLang="en-US" sz="2600" b="1" dirty="0" smtClean="0">
                <a:solidFill>
                  <a:srgbClr val="FF0000"/>
                </a:solidFill>
              </a:rPr>
              <a:t>实际案例：</a:t>
            </a:r>
            <a:endParaRPr lang="zh-CN" altLang="en-US" sz="2600" b="1" dirty="0">
              <a:solidFill>
                <a:srgbClr val="FF0000"/>
              </a:solidFill>
            </a:endParaRPr>
          </a:p>
          <a:p>
            <a:pPr>
              <a:buFont typeface="Wingdings" panose="05000000000000000000" pitchFamily="2" charset="2"/>
              <a:buNone/>
            </a:pPr>
            <a:r>
              <a:rPr lang="zh-CN" altLang="en-US" sz="2400" b="1" dirty="0">
                <a:solidFill>
                  <a:srgbClr val="FF0000"/>
                </a:solidFill>
              </a:rPr>
              <a:t>    </a:t>
            </a:r>
            <a:r>
              <a:rPr lang="zh-CN" altLang="en-US" sz="2400" b="1" dirty="0" smtClean="0">
                <a:solidFill>
                  <a:srgbClr val="FF0000"/>
                </a:solidFill>
              </a:rPr>
              <a:t>（</a:t>
            </a:r>
            <a:r>
              <a:rPr lang="en-US" altLang="zh-CN" sz="2400" b="1" dirty="0" smtClean="0">
                <a:solidFill>
                  <a:srgbClr val="FF0000"/>
                </a:solidFill>
              </a:rPr>
              <a:t>1</a:t>
            </a:r>
            <a:r>
              <a:rPr lang="zh-CN" altLang="en-US" sz="2400" b="1" dirty="0" smtClean="0">
                <a:solidFill>
                  <a:srgbClr val="FF0000"/>
                </a:solidFill>
              </a:rPr>
              <a:t>）本科导师制</a:t>
            </a:r>
            <a:endParaRPr lang="en-US" altLang="zh-CN" sz="2400" b="1" dirty="0" smtClean="0">
              <a:solidFill>
                <a:srgbClr val="FF0000"/>
              </a:solidFill>
            </a:endParaRPr>
          </a:p>
          <a:p>
            <a:pPr>
              <a:buFont typeface="Wingdings" panose="05000000000000000000" pitchFamily="2" charset="2"/>
              <a:buNone/>
            </a:pPr>
            <a:r>
              <a:rPr lang="en-US" altLang="zh-CN" sz="2000" b="1" dirty="0" smtClean="0">
                <a:solidFill>
                  <a:srgbClr val="FF0000"/>
                </a:solidFill>
              </a:rPr>
              <a:t>     </a:t>
            </a:r>
            <a:endParaRPr lang="zh-CN" altLang="en-US" sz="2000" dirty="0"/>
          </a:p>
        </p:txBody>
      </p:sp>
      <p:sp>
        <p:nvSpPr>
          <p:cNvPr id="21" name="文本框 20"/>
          <p:cNvSpPr txBox="1"/>
          <p:nvPr/>
        </p:nvSpPr>
        <p:spPr>
          <a:xfrm>
            <a:off x="56472" y="6344724"/>
            <a:ext cx="2664296" cy="276999"/>
          </a:xfrm>
          <a:prstGeom prst="rect">
            <a:avLst/>
          </a:prstGeom>
          <a:noFill/>
        </p:spPr>
        <p:txBody>
          <a:bodyPr wrap="square" rtlCol="0">
            <a:spAutoFit/>
          </a:bodyPr>
          <a:lstStyle/>
          <a:p>
            <a:r>
              <a:rPr lang="zh-CN" altLang="en-US" sz="1200" dirty="0" smtClean="0"/>
              <a:t>注</a:t>
            </a:r>
            <a:r>
              <a:rPr lang="en-US" altLang="zh-CN" sz="1200" dirty="0" smtClean="0"/>
              <a:t>: </a:t>
            </a:r>
            <a:r>
              <a:rPr lang="zh-CN" altLang="en-US" sz="1200" dirty="0" smtClean="0"/>
              <a:t>图片来自百度图片</a:t>
            </a:r>
            <a:endParaRPr lang="zh-CN" altLang="en-US" sz="1200" dirty="0"/>
          </a:p>
        </p:txBody>
      </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20769" y="4076706"/>
            <a:ext cx="4371512" cy="2421818"/>
          </a:xfrm>
          <a:prstGeom prst="rect">
            <a:avLst/>
          </a:prstGeom>
        </p:spPr>
      </p:pic>
      <p:sp>
        <p:nvSpPr>
          <p:cNvPr id="5" name="矩形 4"/>
          <p:cNvSpPr/>
          <p:nvPr/>
        </p:nvSpPr>
        <p:spPr>
          <a:xfrm>
            <a:off x="683568" y="1844824"/>
            <a:ext cx="9918333" cy="2569934"/>
          </a:xfrm>
          <a:prstGeom prst="rect">
            <a:avLst/>
          </a:prstGeom>
        </p:spPr>
        <p:txBody>
          <a:bodyPr wrap="square">
            <a:spAutoFit/>
          </a:bodyPr>
          <a:lstStyle/>
          <a:p>
            <a:pPr>
              <a:spcBef>
                <a:spcPts val="600"/>
              </a:spcBef>
            </a:pPr>
            <a:r>
              <a:rPr lang="zh-CN" altLang="en-US" sz="2000" b="1" dirty="0">
                <a:solidFill>
                  <a:srgbClr val="0000FF"/>
                </a:solidFill>
                <a:latin typeface="Times New Roman" panose="02020603050405020304" pitchFamily="18" charset="0"/>
              </a:rPr>
              <a:t>问题描述</a:t>
            </a:r>
            <a:r>
              <a:rPr lang="zh-CN" altLang="en-US" sz="2000" b="1" dirty="0" smtClean="0">
                <a:solidFill>
                  <a:srgbClr val="333333"/>
                </a:solidFill>
                <a:latin typeface="Times New Roman" panose="02020603050405020304" pitchFamily="18" charset="0"/>
              </a:rPr>
              <a:t>：本科生</a:t>
            </a:r>
            <a:r>
              <a:rPr lang="zh-CN" altLang="en-US" sz="2000" b="1" dirty="0">
                <a:solidFill>
                  <a:srgbClr val="333333"/>
                </a:solidFill>
                <a:latin typeface="Times New Roman" panose="02020603050405020304" pitchFamily="18" charset="0"/>
              </a:rPr>
              <a:t>导师</a:t>
            </a:r>
            <a:r>
              <a:rPr lang="zh-CN" altLang="en-US" sz="2000" b="1" dirty="0" smtClean="0">
                <a:solidFill>
                  <a:srgbClr val="333333"/>
                </a:solidFill>
                <a:latin typeface="Times New Roman" panose="02020603050405020304" pitchFamily="18" charset="0"/>
              </a:rPr>
              <a:t>制</a:t>
            </a:r>
            <a:r>
              <a:rPr lang="en-US" altLang="zh-CN" sz="2000" b="1" dirty="0" smtClean="0">
                <a:solidFill>
                  <a:srgbClr val="333333"/>
                </a:solidFill>
                <a:latin typeface="Times New Roman" panose="02020603050405020304" pitchFamily="18" charset="0"/>
              </a:rPr>
              <a:t>(</a:t>
            </a:r>
            <a:r>
              <a:rPr lang="zh-CN" altLang="en-US" sz="2000" b="1" dirty="0" smtClean="0">
                <a:solidFill>
                  <a:srgbClr val="333333"/>
                </a:solidFill>
                <a:latin typeface="Times New Roman" panose="02020603050405020304" pitchFamily="18" charset="0"/>
              </a:rPr>
              <a:t>老师指导本科生</a:t>
            </a:r>
            <a:r>
              <a:rPr lang="en-US" altLang="zh-CN" sz="2000" b="1" dirty="0" smtClean="0">
                <a:solidFill>
                  <a:srgbClr val="333333"/>
                </a:solidFill>
                <a:latin typeface="Times New Roman" panose="02020603050405020304" pitchFamily="18" charset="0"/>
              </a:rPr>
              <a:t>):</a:t>
            </a:r>
            <a:r>
              <a:rPr lang="zh-CN" altLang="en-US" sz="2000" b="1" dirty="0" smtClean="0">
                <a:solidFill>
                  <a:srgbClr val="333333"/>
                </a:solidFill>
                <a:latin typeface="Times New Roman" panose="02020603050405020304" pitchFamily="18" charset="0"/>
              </a:rPr>
              <a:t> 每个</a:t>
            </a:r>
            <a:r>
              <a:rPr lang="zh-CN" altLang="en-US" sz="2000" b="1" dirty="0">
                <a:solidFill>
                  <a:srgbClr val="333333"/>
                </a:solidFill>
                <a:latin typeface="Times New Roman" panose="02020603050405020304" pitchFamily="18" charset="0"/>
              </a:rPr>
              <a:t>老师指导</a:t>
            </a:r>
            <a:r>
              <a:rPr lang="en-US" altLang="zh-CN" sz="2000" b="1" i="1" dirty="0">
                <a:solidFill>
                  <a:srgbClr val="333333"/>
                </a:solidFill>
                <a:latin typeface="Times New Roman" panose="02020603050405020304" pitchFamily="18" charset="0"/>
              </a:rPr>
              <a:t>n</a:t>
            </a:r>
            <a:r>
              <a:rPr lang="zh-CN" altLang="en-US" sz="2000" b="1" dirty="0">
                <a:solidFill>
                  <a:srgbClr val="333333"/>
                </a:solidFill>
                <a:latin typeface="Times New Roman" panose="02020603050405020304" pitchFamily="18" charset="0"/>
              </a:rPr>
              <a:t>个学生，</a:t>
            </a:r>
            <a:endParaRPr lang="en-US" altLang="zh-CN" sz="2000" b="1" dirty="0" smtClean="0">
              <a:solidFill>
                <a:srgbClr val="333333"/>
              </a:solidFill>
              <a:latin typeface="Times New Roman" panose="02020603050405020304" pitchFamily="18" charset="0"/>
            </a:endParaRPr>
          </a:p>
          <a:p>
            <a:pPr>
              <a:spcBef>
                <a:spcPts val="600"/>
              </a:spcBef>
            </a:pPr>
            <a:r>
              <a:rPr lang="zh-CN" altLang="en-US" sz="2000" b="1" dirty="0" smtClean="0">
                <a:solidFill>
                  <a:srgbClr val="333333"/>
                </a:solidFill>
                <a:latin typeface="Times New Roman" panose="02020603050405020304" pitchFamily="18" charset="0"/>
              </a:rPr>
              <a:t>                    老师带的研究生也</a:t>
            </a:r>
            <a:r>
              <a:rPr lang="zh-CN" altLang="en-US" sz="2000" b="1" dirty="0">
                <a:solidFill>
                  <a:srgbClr val="333333"/>
                </a:solidFill>
                <a:latin typeface="Times New Roman" panose="02020603050405020304" pitchFamily="18" charset="0"/>
              </a:rPr>
              <a:t>可直接负责本科生</a:t>
            </a:r>
            <a:r>
              <a:rPr lang="zh-CN" altLang="en-US" sz="2000" b="1" dirty="0" smtClean="0">
                <a:solidFill>
                  <a:srgbClr val="333333"/>
                </a:solidFill>
                <a:latin typeface="Times New Roman" panose="02020603050405020304" pitchFamily="18" charset="0"/>
              </a:rPr>
              <a:t>。</a:t>
            </a:r>
            <a:br>
              <a:rPr lang="zh-CN" altLang="en-US" sz="2000" b="1" dirty="0">
                <a:latin typeface="Times New Roman" panose="02020603050405020304" pitchFamily="18" charset="0"/>
              </a:rPr>
            </a:br>
            <a:r>
              <a:rPr lang="zh-CN" altLang="en-US" sz="2000" b="1" dirty="0" smtClean="0">
                <a:latin typeface="Times New Roman" panose="02020603050405020304" pitchFamily="18" charset="0"/>
              </a:rPr>
              <a:t>                    </a:t>
            </a:r>
            <a:r>
              <a:rPr lang="zh-CN" altLang="en-US" sz="2000" b="1" dirty="0" smtClean="0">
                <a:solidFill>
                  <a:srgbClr val="333333"/>
                </a:solidFill>
                <a:latin typeface="Times New Roman" panose="02020603050405020304" pitchFamily="18" charset="0"/>
              </a:rPr>
              <a:t>数据</a:t>
            </a:r>
            <a:r>
              <a:rPr lang="zh-CN" altLang="en-US" sz="2000" b="1" dirty="0">
                <a:solidFill>
                  <a:srgbClr val="333333"/>
                </a:solidFill>
                <a:latin typeface="Times New Roman" panose="02020603050405020304" pitchFamily="18" charset="0"/>
              </a:rPr>
              <a:t>元素具有如下形式：</a:t>
            </a:r>
            <a:br>
              <a:rPr lang="zh-CN" altLang="en-US" sz="2000" b="1" dirty="0">
                <a:latin typeface="Times New Roman" panose="02020603050405020304" pitchFamily="18" charset="0"/>
              </a:rPr>
            </a:br>
            <a:r>
              <a:rPr lang="zh-CN" altLang="en-US" sz="2000" b="1" dirty="0" smtClean="0">
                <a:latin typeface="Times New Roman" panose="02020603050405020304" pitchFamily="18" charset="0"/>
              </a:rPr>
              <a:t>               </a:t>
            </a:r>
            <a:r>
              <a:rPr lang="zh-CN" altLang="en-US" sz="2000" b="1" dirty="0" smtClean="0">
                <a:solidFill>
                  <a:srgbClr val="333333"/>
                </a:solidFill>
                <a:latin typeface="Times New Roman" panose="02020603050405020304" pitchFamily="18" charset="0"/>
              </a:rPr>
              <a:t>⑴ </a:t>
            </a:r>
            <a:r>
              <a:rPr lang="en-US" altLang="zh-CN" sz="2000" b="1" dirty="0">
                <a:solidFill>
                  <a:srgbClr val="333333"/>
                </a:solidFill>
                <a:latin typeface="Times New Roman" panose="02020603050405020304" pitchFamily="18" charset="0"/>
              </a:rPr>
              <a:t>(</a:t>
            </a:r>
            <a:r>
              <a:rPr lang="zh-CN" altLang="en-US" sz="2000" b="1" dirty="0" smtClean="0">
                <a:solidFill>
                  <a:srgbClr val="333333"/>
                </a:solidFill>
                <a:latin typeface="Times New Roman" panose="02020603050405020304" pitchFamily="18" charset="0"/>
              </a:rPr>
              <a:t>老师</a:t>
            </a:r>
            <a:r>
              <a:rPr lang="en-US" altLang="zh-CN" sz="2000" b="1" dirty="0" smtClean="0">
                <a:solidFill>
                  <a:srgbClr val="333333"/>
                </a:solidFill>
                <a:latin typeface="Times New Roman" panose="02020603050405020304" pitchFamily="18" charset="0"/>
              </a:rPr>
              <a:t>, ((</a:t>
            </a:r>
            <a:r>
              <a:rPr lang="zh-CN" altLang="en-US" sz="2000" b="1" dirty="0">
                <a:solidFill>
                  <a:srgbClr val="333333"/>
                </a:solidFill>
                <a:latin typeface="Times New Roman" panose="02020603050405020304" pitchFamily="18" charset="0"/>
              </a:rPr>
              <a:t>研究生</a:t>
            </a:r>
            <a:r>
              <a:rPr lang="en-US" altLang="zh-CN" sz="2000" b="1" dirty="0">
                <a:solidFill>
                  <a:srgbClr val="333333"/>
                </a:solidFill>
                <a:latin typeface="Times New Roman" panose="02020603050405020304" pitchFamily="18" charset="0"/>
              </a:rPr>
              <a:t>1,(</a:t>
            </a:r>
            <a:r>
              <a:rPr lang="zh-CN" altLang="en-US" sz="2000" b="1" dirty="0">
                <a:solidFill>
                  <a:srgbClr val="333333"/>
                </a:solidFill>
                <a:latin typeface="Times New Roman" panose="02020603050405020304" pitchFamily="18" charset="0"/>
              </a:rPr>
              <a:t>本科生</a:t>
            </a:r>
            <a:r>
              <a:rPr lang="en-US" altLang="zh-CN" sz="2000" b="1" dirty="0">
                <a:solidFill>
                  <a:srgbClr val="333333"/>
                </a:solidFill>
                <a:latin typeface="Times New Roman" panose="02020603050405020304" pitchFamily="18" charset="0"/>
              </a:rPr>
              <a:t>1, …, </a:t>
            </a:r>
            <a:r>
              <a:rPr lang="zh-CN" altLang="en-US" sz="2000" b="1" dirty="0">
                <a:solidFill>
                  <a:srgbClr val="333333"/>
                </a:solidFill>
                <a:latin typeface="Times New Roman" panose="02020603050405020304" pitchFamily="18" charset="0"/>
              </a:rPr>
              <a:t>本科生</a:t>
            </a:r>
            <a:r>
              <a:rPr lang="en-US" altLang="zh-CN" sz="2000" b="1" i="1" dirty="0">
                <a:solidFill>
                  <a:srgbClr val="333333"/>
                </a:solidFill>
                <a:latin typeface="Times New Roman" panose="02020603050405020304" pitchFamily="18" charset="0"/>
              </a:rPr>
              <a:t>m</a:t>
            </a:r>
            <a:r>
              <a:rPr lang="en-US" altLang="zh-CN" sz="2000" b="1" dirty="0">
                <a:solidFill>
                  <a:srgbClr val="333333"/>
                </a:solidFill>
                <a:latin typeface="Times New Roman" panose="02020603050405020304" pitchFamily="18" charset="0"/>
              </a:rPr>
              <a:t>)), … ))</a:t>
            </a:r>
            <a:br>
              <a:rPr lang="zh-CN" altLang="en-US" sz="2000" b="1" dirty="0">
                <a:latin typeface="Times New Roman" panose="02020603050405020304" pitchFamily="18" charset="0"/>
              </a:rPr>
            </a:br>
            <a:r>
              <a:rPr lang="zh-CN" altLang="en-US" sz="2000" b="1" dirty="0" smtClean="0">
                <a:latin typeface="Times New Roman" panose="02020603050405020304" pitchFamily="18" charset="0"/>
              </a:rPr>
              <a:t>               </a:t>
            </a:r>
            <a:r>
              <a:rPr lang="zh-CN" altLang="en-US" sz="2000" b="1" dirty="0" smtClean="0">
                <a:solidFill>
                  <a:srgbClr val="333333"/>
                </a:solidFill>
                <a:latin typeface="Times New Roman" panose="02020603050405020304" pitchFamily="18" charset="0"/>
              </a:rPr>
              <a:t>⑵ </a:t>
            </a:r>
            <a:r>
              <a:rPr lang="en-US" altLang="zh-CN" sz="2000" b="1" dirty="0" smtClean="0">
                <a:solidFill>
                  <a:srgbClr val="333333"/>
                </a:solidFill>
                <a:latin typeface="Times New Roman" panose="02020603050405020304" pitchFamily="18" charset="0"/>
              </a:rPr>
              <a:t>(</a:t>
            </a:r>
            <a:r>
              <a:rPr lang="zh-CN" altLang="en-US" sz="2000" b="1" dirty="0" smtClean="0">
                <a:solidFill>
                  <a:srgbClr val="333333"/>
                </a:solidFill>
                <a:latin typeface="Times New Roman" panose="02020603050405020304" pitchFamily="18" charset="0"/>
              </a:rPr>
              <a:t>老师</a:t>
            </a:r>
            <a:r>
              <a:rPr lang="en-US" altLang="zh-CN" sz="2000" b="1" dirty="0" smtClean="0">
                <a:solidFill>
                  <a:srgbClr val="333333"/>
                </a:solidFill>
                <a:latin typeface="Times New Roman" panose="02020603050405020304" pitchFamily="18" charset="0"/>
              </a:rPr>
              <a:t>, (</a:t>
            </a:r>
            <a:r>
              <a:rPr lang="zh-CN" altLang="en-US" sz="2000" b="1" dirty="0" smtClean="0">
                <a:solidFill>
                  <a:srgbClr val="333333"/>
                </a:solidFill>
                <a:latin typeface="Times New Roman" panose="02020603050405020304" pitchFamily="18" charset="0"/>
              </a:rPr>
              <a:t>本科生</a:t>
            </a:r>
            <a:r>
              <a:rPr lang="en-US" altLang="zh-CN" sz="2000" b="1" dirty="0" smtClean="0">
                <a:solidFill>
                  <a:srgbClr val="333333"/>
                </a:solidFill>
                <a:latin typeface="Times New Roman" panose="02020603050405020304" pitchFamily="18" charset="0"/>
              </a:rPr>
              <a:t>1, …, </a:t>
            </a:r>
            <a:r>
              <a:rPr lang="zh-CN" altLang="en-US" sz="2000" b="1" dirty="0" smtClean="0">
                <a:solidFill>
                  <a:srgbClr val="333333"/>
                </a:solidFill>
                <a:latin typeface="Times New Roman" panose="02020603050405020304" pitchFamily="18" charset="0"/>
              </a:rPr>
              <a:t>本科生</a:t>
            </a:r>
            <a:r>
              <a:rPr lang="en-US" altLang="zh-CN" sz="2000" b="1" i="1" dirty="0">
                <a:solidFill>
                  <a:srgbClr val="333333"/>
                </a:solidFill>
                <a:latin typeface="Times New Roman" panose="02020603050405020304" pitchFamily="18" charset="0"/>
              </a:rPr>
              <a:t>m</a:t>
            </a:r>
            <a:r>
              <a:rPr lang="en-US" altLang="zh-CN" sz="2000" b="1" dirty="0" smtClean="0">
                <a:solidFill>
                  <a:srgbClr val="333333"/>
                </a:solidFill>
                <a:latin typeface="Times New Roman" panose="02020603050405020304" pitchFamily="18" charset="0"/>
              </a:rPr>
              <a:t>))</a:t>
            </a:r>
            <a:endParaRPr lang="en-US" altLang="zh-CN" sz="2000" b="1" dirty="0" smtClean="0">
              <a:latin typeface="Times New Roman" panose="02020603050405020304" pitchFamily="18" charset="0"/>
            </a:endParaRPr>
          </a:p>
          <a:p>
            <a:pPr>
              <a:buClr>
                <a:srgbClr val="FF0000"/>
              </a:buClr>
            </a:pPr>
            <a:endParaRPr lang="en-US" altLang="zh-CN" b="1" dirty="0" smtClean="0">
              <a:solidFill>
                <a:srgbClr val="0000FF"/>
              </a:solidFill>
              <a:latin typeface="Times New Roman" panose="02020603050405020304" pitchFamily="18" charset="0"/>
            </a:endParaRPr>
          </a:p>
          <a:p>
            <a:pPr>
              <a:buClr>
                <a:srgbClr val="FF0000"/>
              </a:buClr>
            </a:pPr>
            <a:r>
              <a:rPr lang="zh-CN" altLang="en-US" sz="2000" b="1" dirty="0" smtClean="0">
                <a:solidFill>
                  <a:srgbClr val="0000FF"/>
                </a:solidFill>
                <a:latin typeface="Times New Roman" panose="02020603050405020304" pitchFamily="18" charset="0"/>
              </a:rPr>
              <a:t>功能</a:t>
            </a:r>
            <a:r>
              <a:rPr lang="zh-CN" altLang="en-US" sz="2000" b="1" dirty="0">
                <a:solidFill>
                  <a:srgbClr val="0000FF"/>
                </a:solidFill>
                <a:latin typeface="Times New Roman" panose="02020603050405020304" pitchFamily="18" charset="0"/>
              </a:rPr>
              <a:t>要求</a:t>
            </a:r>
            <a:r>
              <a:rPr lang="zh-CN" altLang="en-US" sz="2000" b="1" dirty="0" smtClean="0">
                <a:solidFill>
                  <a:srgbClr val="333333"/>
                </a:solidFill>
                <a:latin typeface="Times New Roman" panose="02020603050405020304" pitchFamily="18" charset="0"/>
              </a:rPr>
              <a:t>：插入、删除、查询、输出</a:t>
            </a:r>
            <a:br>
              <a:rPr lang="zh-CN" altLang="en-US" dirty="0">
                <a:latin typeface="Times New Roman" panose="02020603050405020304" pitchFamily="18" charset="0"/>
              </a:rPr>
            </a:br>
            <a:endParaRPr lang="zh-CN" altLang="en-US" dirty="0">
              <a:latin typeface="Times New Roman" panose="02020603050405020304" pitchFamily="18" charset="0"/>
            </a:endParaRPr>
          </a:p>
        </p:txBody>
      </p:sp>
      <p:sp>
        <p:nvSpPr>
          <p:cNvPr id="25" name="矩形 24"/>
          <p:cNvSpPr/>
          <p:nvPr/>
        </p:nvSpPr>
        <p:spPr>
          <a:xfrm>
            <a:off x="683568" y="5102949"/>
            <a:ext cx="881973" cy="369332"/>
          </a:xfrm>
          <a:prstGeom prst="rect">
            <a:avLst/>
          </a:prstGeom>
        </p:spPr>
        <p:txBody>
          <a:bodyPr wrap="none">
            <a:spAutoFit/>
          </a:bodyPr>
          <a:lstStyle/>
          <a:p>
            <a:r>
              <a:rPr lang="zh-CN" altLang="en-US" b="1" dirty="0" smtClean="0">
                <a:solidFill>
                  <a:srgbClr val="FF0000"/>
                </a:solidFill>
              </a:rPr>
              <a:t>广义表</a:t>
            </a:r>
            <a:endParaRPr lang="zh-CN" altLang="en-US" b="1" dirty="0">
              <a:solidFill>
                <a:srgbClr val="FF0000"/>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5122"/>
          <p:cNvSpPr>
            <a:spLocks noGrp="1"/>
          </p:cNvSpPr>
          <p:nvPr>
            <p:ph idx="1"/>
          </p:nvPr>
        </p:nvSpPr>
        <p:spPr>
          <a:xfrm>
            <a:off x="511216" y="980728"/>
            <a:ext cx="8525280" cy="4967287"/>
          </a:xfrm>
        </p:spPr>
        <p:txBody>
          <a:bodyPr anchor="t"/>
          <a:lstStyle/>
          <a:p>
            <a:pPr>
              <a:lnSpc>
                <a:spcPct val="90000"/>
              </a:lnSpc>
              <a:buClr>
                <a:srgbClr val="FF0000"/>
              </a:buClr>
              <a:buNone/>
            </a:pPr>
            <a:r>
              <a:rPr lang="zh-CN" altLang="en-US" b="1" dirty="0" smtClean="0">
                <a:solidFill>
                  <a:srgbClr val="FF0000"/>
                </a:solidFill>
              </a:rPr>
              <a:t>数组</a:t>
            </a:r>
            <a:r>
              <a:rPr lang="en-US" altLang="zh-CN" b="1" dirty="0" smtClean="0">
                <a:solidFill>
                  <a:srgbClr val="FF0000"/>
                </a:solidFill>
              </a:rPr>
              <a:t>(Array): </a:t>
            </a:r>
            <a:endParaRPr lang="en-US" altLang="zh-CN" b="1" dirty="0">
              <a:solidFill>
                <a:srgbClr val="FF0000"/>
              </a:solidFill>
            </a:endParaRPr>
          </a:p>
          <a:p>
            <a:pPr lvl="1">
              <a:lnSpc>
                <a:spcPct val="90000"/>
              </a:lnSpc>
              <a:buClr>
                <a:srgbClr val="FF0000"/>
              </a:buClr>
              <a:buFont typeface="Wingdings" panose="05000000000000000000" pitchFamily="2" charset="2"/>
              <a:buChar char="p"/>
            </a:pPr>
            <a:r>
              <a:rPr lang="zh-CN" altLang="en-US" sz="2400" b="1" dirty="0" smtClean="0"/>
              <a:t>可以</a:t>
            </a:r>
            <a:r>
              <a:rPr lang="zh-CN" altLang="en-US" sz="2400" b="1" dirty="0"/>
              <a:t>看成是前面所介绍的线性表的</a:t>
            </a:r>
            <a:r>
              <a:rPr lang="zh-CN" altLang="en-US" sz="2400" b="1" dirty="0" smtClean="0"/>
              <a:t>推广</a:t>
            </a:r>
            <a:r>
              <a:rPr lang="en-US" altLang="zh-CN" sz="2400" b="1" dirty="0" smtClean="0"/>
              <a:t>;</a:t>
            </a:r>
            <a:endParaRPr lang="en-US" altLang="zh-CN" sz="2400" b="1" dirty="0"/>
          </a:p>
          <a:p>
            <a:pPr lvl="1">
              <a:lnSpc>
                <a:spcPct val="90000"/>
              </a:lnSpc>
              <a:buClr>
                <a:srgbClr val="FF0000"/>
              </a:buClr>
              <a:buFont typeface="Wingdings" panose="05000000000000000000" pitchFamily="2" charset="2"/>
              <a:buChar char="p"/>
            </a:pPr>
            <a:r>
              <a:rPr lang="zh-CN" altLang="en-US" sz="2400" b="1" dirty="0" smtClean="0"/>
              <a:t>其</a:t>
            </a:r>
            <a:r>
              <a:rPr lang="zh-CN" altLang="en-US" sz="2400" b="1" dirty="0"/>
              <a:t>元素本身也是一个</a:t>
            </a:r>
            <a:r>
              <a:rPr lang="zh-CN" altLang="en-US" sz="2400" b="1" dirty="0" smtClean="0"/>
              <a:t>数据结构</a:t>
            </a:r>
            <a:r>
              <a:rPr lang="en-US" altLang="zh-CN" sz="2400" b="1" dirty="0" smtClean="0"/>
              <a:t>;</a:t>
            </a:r>
            <a:endParaRPr lang="zh-CN" altLang="en-US" sz="2400" b="1" dirty="0"/>
          </a:p>
          <a:p>
            <a:pPr lvl="1">
              <a:lnSpc>
                <a:spcPct val="90000"/>
              </a:lnSpc>
              <a:buClr>
                <a:srgbClr val="FF0000"/>
              </a:buClr>
              <a:buFont typeface="Wingdings" panose="05000000000000000000" pitchFamily="2" charset="2"/>
              <a:buChar char="p"/>
            </a:pPr>
            <a:r>
              <a:rPr lang="zh-CN" altLang="en-US" sz="2400" b="1" dirty="0" smtClean="0"/>
              <a:t> 数组</a:t>
            </a:r>
            <a:r>
              <a:rPr lang="zh-CN" altLang="en-US" sz="2400" b="1" dirty="0"/>
              <a:t>是软件设计中应用最多的</a:t>
            </a:r>
            <a:r>
              <a:rPr lang="zh-CN" altLang="en-US" sz="2400" b="1" dirty="0" smtClean="0"/>
              <a:t>结构</a:t>
            </a:r>
            <a:r>
              <a:rPr lang="zh-CN" altLang="en-US" sz="2400" b="1" dirty="0"/>
              <a:t>。</a:t>
            </a:r>
            <a:endParaRPr lang="en-US" altLang="zh-CN" sz="2400" b="1" dirty="0"/>
          </a:p>
          <a:p>
            <a:pPr lvl="1">
              <a:lnSpc>
                <a:spcPct val="90000"/>
              </a:lnSpc>
              <a:buClr>
                <a:srgbClr val="FF0000"/>
              </a:buClr>
              <a:buFont typeface="Wingdings" panose="05000000000000000000" pitchFamily="2" charset="2"/>
              <a:buChar char="p"/>
            </a:pPr>
            <a:r>
              <a:rPr lang="zh-CN" altLang="en-US" b="1" dirty="0" smtClean="0"/>
              <a:t> </a:t>
            </a:r>
            <a:r>
              <a:rPr lang="zh-CN" altLang="en-US" b="1" dirty="0" smtClean="0">
                <a:solidFill>
                  <a:srgbClr val="0000FF"/>
                </a:solidFill>
              </a:rPr>
              <a:t>在</a:t>
            </a:r>
            <a:r>
              <a:rPr lang="zh-CN" altLang="en-US" b="1" dirty="0">
                <a:solidFill>
                  <a:srgbClr val="0000FF"/>
                </a:solidFill>
              </a:rPr>
              <a:t>工程领域中有广泛的应用</a:t>
            </a:r>
            <a:r>
              <a:rPr lang="zh-CN" altLang="en-US" b="1" dirty="0" smtClean="0"/>
              <a:t>，</a:t>
            </a:r>
            <a:endParaRPr lang="en-US" altLang="zh-CN" b="1" dirty="0" smtClean="0"/>
          </a:p>
          <a:p>
            <a:pPr lvl="1">
              <a:lnSpc>
                <a:spcPct val="90000"/>
              </a:lnSpc>
              <a:buClr>
                <a:srgbClr val="FF0000"/>
              </a:buClr>
              <a:buFont typeface="Wingdings" panose="05000000000000000000" pitchFamily="2" charset="2"/>
              <a:buChar char="p"/>
            </a:pPr>
            <a:r>
              <a:rPr lang="zh-CN" altLang="en-US" b="1" dirty="0" smtClean="0"/>
              <a:t>由此引出一些</a:t>
            </a:r>
            <a:r>
              <a:rPr lang="zh-CN" altLang="en-US" b="1" dirty="0">
                <a:solidFill>
                  <a:srgbClr val="FF0000"/>
                </a:solidFill>
              </a:rPr>
              <a:t>特殊形式</a:t>
            </a:r>
            <a:r>
              <a:rPr lang="zh-CN" altLang="en-US" b="1" dirty="0"/>
              <a:t>的数组</a:t>
            </a:r>
            <a:r>
              <a:rPr lang="zh-CN" altLang="en-US" b="1" dirty="0" smtClean="0"/>
              <a:t>形式</a:t>
            </a:r>
            <a:r>
              <a:rPr lang="en-US" altLang="zh-CN" b="1" dirty="0" smtClean="0"/>
              <a:t>—</a:t>
            </a:r>
            <a:r>
              <a:rPr lang="zh-CN" altLang="en-US" b="1" dirty="0" smtClean="0"/>
              <a:t>矩阵</a:t>
            </a:r>
            <a:r>
              <a:rPr lang="en-US" altLang="zh-CN" b="1" dirty="0" smtClean="0">
                <a:solidFill>
                  <a:srgbClr val="0000FF"/>
                </a:solidFill>
              </a:rPr>
              <a:t>(Matrix)</a:t>
            </a:r>
            <a:r>
              <a:rPr lang="zh-CN" altLang="en-US" b="1" dirty="0" smtClean="0"/>
              <a:t>。</a:t>
            </a:r>
            <a:endParaRPr lang="en-US" altLang="zh-CN" b="1" dirty="0"/>
          </a:p>
          <a:p>
            <a:pPr marL="0" indent="0">
              <a:lnSpc>
                <a:spcPct val="90000"/>
              </a:lnSpc>
              <a:buClr>
                <a:srgbClr val="FF0000"/>
              </a:buClr>
              <a:buNone/>
            </a:pPr>
            <a:endParaRPr lang="zh-CN" altLang="en-US" b="1" dirty="0"/>
          </a:p>
        </p:txBody>
      </p:sp>
      <p:sp>
        <p:nvSpPr>
          <p:cNvPr id="5124" name="灯片编号占位符 2"/>
          <p:cNvSpPr>
            <a:spLocks noGrp="1"/>
          </p:cNvSpPr>
          <p:nvPr>
            <p:ph type="sldNum" sz="quarter" idx="4294967295"/>
          </p:nvPr>
        </p:nvSpPr>
        <p:spPr/>
        <p:txBody>
          <a:bodyPr anchor="t"/>
          <a:lstStyle/>
          <a:p>
            <a:pPr indent="0"/>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grpSp>
        <p:nvGrpSpPr>
          <p:cNvPr id="7" name="组合 114"/>
          <p:cNvGrpSpPr/>
          <p:nvPr/>
        </p:nvGrpSpPr>
        <p:grpSpPr>
          <a:xfrm>
            <a:off x="-900608" y="86277"/>
            <a:ext cx="6225040" cy="662730"/>
            <a:chOff x="-522583" y="3380765"/>
            <a:chExt cx="6225040" cy="662730"/>
          </a:xfrm>
        </p:grpSpPr>
        <p:grpSp>
          <p:nvGrpSpPr>
            <p:cNvPr id="8" name="组合 105"/>
            <p:cNvGrpSpPr/>
            <p:nvPr/>
          </p:nvGrpSpPr>
          <p:grpSpPr>
            <a:xfrm>
              <a:off x="-522583" y="3380765"/>
              <a:ext cx="6225040" cy="662730"/>
              <a:chOff x="-522583" y="3380765"/>
              <a:chExt cx="6225040" cy="662730"/>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22583" y="3395196"/>
                <a:ext cx="6225040" cy="53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6.2 </a:t>
                </a:r>
                <a:r>
                  <a:rPr lang="zh-CN" altLang="en-US" sz="3600" b="1" dirty="0" smtClean="0">
                    <a:latin typeface="Times New Roman" panose="02020603050405020304" pitchFamily="18" charset="0"/>
                    <a:ea typeface="黑体" panose="02010609060101010101" pitchFamily="49" charset="-122"/>
                  </a:rPr>
                  <a:t>数组</a:t>
                </a:r>
                <a:endParaRPr lang="zh-CN" altLang="en-US" sz="3600" b="1" dirty="0">
                  <a:latin typeface="Times New Roman" panose="02020603050405020304" pitchFamily="18" charset="0"/>
                  <a:ea typeface="黑体" panose="02010609060101010101" pitchFamily="49" charset="-122"/>
                </a:endParaRPr>
              </a:p>
            </p:txBody>
          </p:sp>
        </p:grpSp>
        <p:pic>
          <p:nvPicPr>
            <p:cNvPr id="9" name="图片 8"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blinds(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blinds(horizontal)">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blinds(horizontal)">
                                      <p:cBhvr>
                                        <p:cTn id="17" dur="500"/>
                                        <p:tgtEl>
                                          <p:spTgt spid="5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123">
                                            <p:txEl>
                                              <p:pRg st="3" end="3"/>
                                            </p:txEl>
                                          </p:spTgt>
                                        </p:tgtEl>
                                        <p:attrNameLst>
                                          <p:attrName>style.visibility</p:attrName>
                                        </p:attrNameLst>
                                      </p:cBhvr>
                                      <p:to>
                                        <p:strVal val="visible"/>
                                      </p:to>
                                    </p:set>
                                    <p:animEffect transition="in" filter="blinds(horizontal)">
                                      <p:cBhvr>
                                        <p:cTn id="22" dur="500"/>
                                        <p:tgtEl>
                                          <p:spTgt spid="51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123">
                                            <p:txEl>
                                              <p:pRg st="4" end="4"/>
                                            </p:txEl>
                                          </p:spTgt>
                                        </p:tgtEl>
                                        <p:attrNameLst>
                                          <p:attrName>style.visibility</p:attrName>
                                        </p:attrNameLst>
                                      </p:cBhvr>
                                      <p:to>
                                        <p:strVal val="visible"/>
                                      </p:to>
                                    </p:set>
                                    <p:animEffect transition="in" filter="blinds(horizontal)">
                                      <p:cBhvr>
                                        <p:cTn id="27" dur="500"/>
                                        <p:tgtEl>
                                          <p:spTgt spid="51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123">
                                            <p:txEl>
                                              <p:pRg st="5" end="5"/>
                                            </p:txEl>
                                          </p:spTgt>
                                        </p:tgtEl>
                                        <p:attrNameLst>
                                          <p:attrName>style.visibility</p:attrName>
                                        </p:attrNameLst>
                                      </p:cBhvr>
                                      <p:to>
                                        <p:strVal val="visible"/>
                                      </p:to>
                                    </p:set>
                                    <p:animEffect transition="in" filter="blinds(horizontal)">
                                      <p:cBhvr>
                                        <p:cTn id="32" dur="500"/>
                                        <p:tgtEl>
                                          <p:spTgt spid="51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801067"/>
            <a:ext cx="8229600" cy="660930"/>
          </a:xfrm>
        </p:spPr>
        <p:txBody>
          <a:bodyPr>
            <a:normAutofit/>
          </a:bodyPr>
          <a:lstStyle/>
          <a:p>
            <a:pPr marL="457200" indent="-457200">
              <a:buClr>
                <a:srgbClr val="FF0000"/>
              </a:buClr>
            </a:pPr>
            <a:r>
              <a:rPr lang="en-US" altLang="zh-CN" sz="2800" b="1" dirty="0">
                <a:solidFill>
                  <a:srgbClr val="FF0000"/>
                </a:solidFill>
                <a:latin typeface="Times New Roman" panose="02020603050405020304" pitchFamily="18" charset="0"/>
                <a:sym typeface="+mn-ea"/>
              </a:rPr>
              <a:t>6</a:t>
            </a:r>
            <a:r>
              <a:rPr lang="zh-CN" altLang="en-US" sz="2800" b="1" dirty="0" smtClean="0">
                <a:solidFill>
                  <a:srgbClr val="FF0000"/>
                </a:solidFill>
                <a:latin typeface="Times New Roman" panose="02020603050405020304" pitchFamily="18" charset="0"/>
                <a:sym typeface="+mn-ea"/>
              </a:rPr>
              <a:t>.</a:t>
            </a:r>
            <a:r>
              <a:rPr lang="en-US" altLang="zh-CN" sz="2800" b="1" dirty="0" smtClean="0">
                <a:solidFill>
                  <a:srgbClr val="FF0000"/>
                </a:solidFill>
                <a:latin typeface="Times New Roman" panose="02020603050405020304" pitchFamily="18" charset="0"/>
                <a:sym typeface="+mn-ea"/>
              </a:rPr>
              <a:t>2</a:t>
            </a:r>
            <a:r>
              <a:rPr lang="zh-CN" altLang="en-US" sz="2800" b="1" dirty="0" smtClean="0">
                <a:solidFill>
                  <a:srgbClr val="FF0000"/>
                </a:solidFill>
                <a:latin typeface="Times New Roman" panose="02020603050405020304" pitchFamily="18" charset="0"/>
                <a:sym typeface="+mn-ea"/>
              </a:rPr>
              <a:t>.</a:t>
            </a:r>
            <a:r>
              <a:rPr lang="zh-CN" altLang="en-US" sz="2800" b="1" dirty="0">
                <a:solidFill>
                  <a:srgbClr val="FF0000"/>
                </a:solidFill>
                <a:latin typeface="Times New Roman" panose="02020603050405020304" pitchFamily="18" charset="0"/>
                <a:sym typeface="+mn-ea"/>
              </a:rPr>
              <a:t>1 数组的定义和运算</a:t>
            </a:r>
            <a:endParaRPr lang="zh-CN" altLang="en-US" sz="2800" dirty="0">
              <a:solidFill>
                <a:srgbClr val="FF0000"/>
              </a:solidFill>
              <a:latin typeface="Times New Roman" panose="02020603050405020304" pitchFamily="18" charset="0"/>
            </a:endParaRPr>
          </a:p>
        </p:txBody>
      </p:sp>
      <p:sp>
        <p:nvSpPr>
          <p:cNvPr id="3" name="内容占位符 2"/>
          <p:cNvSpPr>
            <a:spLocks noGrp="1"/>
          </p:cNvSpPr>
          <p:nvPr>
            <p:ph idx="1"/>
          </p:nvPr>
        </p:nvSpPr>
        <p:spPr>
          <a:xfrm>
            <a:off x="555862" y="1461997"/>
            <a:ext cx="8264610" cy="4679850"/>
          </a:xfrm>
        </p:spPr>
        <p:txBody>
          <a:bodyPr/>
          <a:lstStyle/>
          <a:p>
            <a:pPr>
              <a:lnSpc>
                <a:spcPct val="90000"/>
              </a:lnSpc>
              <a:buClr>
                <a:srgbClr val="FF0000"/>
              </a:buClr>
              <a:buFont typeface="Wingdings" panose="05000000000000000000" pitchFamily="2" charset="2"/>
              <a:buChar char="p"/>
            </a:pPr>
            <a:r>
              <a:rPr lang="zh-CN" altLang="en-US" sz="2400" b="1" dirty="0">
                <a:sym typeface="+mn-ea"/>
              </a:rPr>
              <a:t>数组是计算机程序设计语言中常见的一种类型，</a:t>
            </a:r>
            <a:endParaRPr lang="en-US" altLang="zh-CN" sz="2400" b="1" dirty="0">
              <a:sym typeface="+mn-ea"/>
            </a:endParaRPr>
          </a:p>
          <a:p>
            <a:pPr marL="0" indent="0">
              <a:lnSpc>
                <a:spcPct val="90000"/>
              </a:lnSpc>
              <a:buClr>
                <a:srgbClr val="FF0000"/>
              </a:buClr>
              <a:buFont typeface="Wingdings" panose="05000000000000000000" pitchFamily="2" charset="2"/>
              <a:buChar char="p"/>
            </a:pPr>
            <a:r>
              <a:rPr lang="en-US" altLang="zh-CN" sz="2400" b="1" dirty="0">
                <a:sym typeface="+mn-ea"/>
              </a:rPr>
              <a:t>     </a:t>
            </a:r>
            <a:r>
              <a:rPr lang="zh-CN" altLang="en-US" sz="2400" b="1" dirty="0">
                <a:sym typeface="+mn-ea"/>
              </a:rPr>
              <a:t>几乎所有高级程序设计语言中都有数组类型。</a:t>
            </a:r>
            <a:endParaRPr lang="zh-CN" altLang="en-US" sz="2400" b="1" dirty="0"/>
          </a:p>
          <a:p>
            <a:pPr>
              <a:lnSpc>
                <a:spcPct val="90000"/>
              </a:lnSpc>
              <a:buClr>
                <a:srgbClr val="FF0000"/>
              </a:buClr>
              <a:buFont typeface="Wingdings" panose="05000000000000000000" pitchFamily="2" charset="2"/>
              <a:buChar char="p"/>
            </a:pPr>
            <a:r>
              <a:rPr lang="zh-CN" altLang="en-US" sz="2400" b="1" dirty="0">
                <a:solidFill>
                  <a:srgbClr val="FF0000"/>
                </a:solidFill>
                <a:sym typeface="+mn-ea"/>
              </a:rPr>
              <a:t>定义</a:t>
            </a:r>
            <a:r>
              <a:rPr lang="zh-CN" altLang="en-US" sz="2400" b="1" dirty="0">
                <a:sym typeface="+mn-ea"/>
              </a:rPr>
              <a:t>：</a:t>
            </a:r>
            <a:r>
              <a:rPr lang="zh-CN" altLang="en-US" sz="2400" b="1" dirty="0">
                <a:solidFill>
                  <a:srgbClr val="FF0000"/>
                </a:solidFill>
                <a:sym typeface="+mn-ea"/>
              </a:rPr>
              <a:t>一维数组</a:t>
            </a:r>
            <a:r>
              <a:rPr lang="zh-CN" altLang="en-US" sz="2400" b="1" dirty="0" smtClean="0">
                <a:sym typeface="+mn-ea"/>
              </a:rPr>
              <a:t>(</a:t>
            </a:r>
            <a:r>
              <a:rPr lang="en-US" altLang="zh-CN" sz="2400" b="1" dirty="0" smtClean="0">
                <a:solidFill>
                  <a:srgbClr val="0000FF"/>
                </a:solidFill>
                <a:sym typeface="+mn-ea"/>
              </a:rPr>
              <a:t>One-dimensional A</a:t>
            </a:r>
            <a:r>
              <a:rPr lang="zh-CN" altLang="en-US" sz="2400" b="1" dirty="0" smtClean="0">
                <a:solidFill>
                  <a:srgbClr val="0000FF"/>
                </a:solidFill>
                <a:sym typeface="+mn-ea"/>
              </a:rPr>
              <a:t>rray</a:t>
            </a:r>
            <a:r>
              <a:rPr lang="zh-CN" altLang="en-US" sz="2400" b="1" dirty="0">
                <a:sym typeface="+mn-ea"/>
              </a:rPr>
              <a:t>)是有限个具有相同类型的变量组成的序列。</a:t>
            </a:r>
            <a:endParaRPr lang="zh-CN" altLang="en-US" sz="2400" b="1" dirty="0">
              <a:sym typeface="+mn-ea"/>
            </a:endParaRPr>
          </a:p>
          <a:p>
            <a:pPr>
              <a:lnSpc>
                <a:spcPct val="90000"/>
              </a:lnSpc>
              <a:buClr>
                <a:srgbClr val="FF0000"/>
              </a:buClr>
              <a:buFont typeface="Wingdings" panose="05000000000000000000" pitchFamily="2" charset="2"/>
              <a:buChar char="p"/>
            </a:pPr>
            <a:r>
              <a:rPr lang="zh-CN" altLang="en-US" sz="2400" b="1" dirty="0">
                <a:sym typeface="+mn-ea"/>
              </a:rPr>
              <a:t>若其中每个变量本身是</a:t>
            </a:r>
            <a:r>
              <a:rPr lang="zh-CN" altLang="en-US" sz="2400" b="1" dirty="0">
                <a:solidFill>
                  <a:srgbClr val="FF0000"/>
                </a:solidFill>
                <a:sym typeface="+mn-ea"/>
              </a:rPr>
              <a:t>一维数组</a:t>
            </a:r>
            <a:r>
              <a:rPr lang="zh-CN" altLang="en-US" sz="2400" b="1" dirty="0">
                <a:sym typeface="+mn-ea"/>
              </a:rPr>
              <a:t>，则构成</a:t>
            </a:r>
            <a:r>
              <a:rPr lang="zh-CN" altLang="en-US" sz="2400" b="1" dirty="0">
                <a:solidFill>
                  <a:srgbClr val="FF0000"/>
                </a:solidFill>
                <a:sym typeface="+mn-ea"/>
              </a:rPr>
              <a:t>二维数</a:t>
            </a:r>
            <a:r>
              <a:rPr lang="zh-CN" altLang="en-US" sz="2400" b="1" dirty="0" smtClean="0">
                <a:solidFill>
                  <a:srgbClr val="FF0000"/>
                </a:solidFill>
                <a:sym typeface="+mn-ea"/>
              </a:rPr>
              <a:t>组</a:t>
            </a:r>
            <a:r>
              <a:rPr lang="en-US" altLang="zh-CN" sz="2400" b="1" dirty="0" smtClean="0">
                <a:solidFill>
                  <a:srgbClr val="0000FF"/>
                </a:solidFill>
                <a:sym typeface="+mn-ea"/>
              </a:rPr>
              <a:t>(Two-dimensional </a:t>
            </a:r>
            <a:r>
              <a:rPr lang="en-US" altLang="zh-CN" sz="2400" b="1" dirty="0">
                <a:solidFill>
                  <a:srgbClr val="0000FF"/>
                </a:solidFill>
                <a:sym typeface="+mn-ea"/>
              </a:rPr>
              <a:t>Array) </a:t>
            </a:r>
            <a:r>
              <a:rPr lang="zh-CN" altLang="en-US" sz="2400" b="1" dirty="0" smtClean="0">
                <a:sym typeface="+mn-ea"/>
              </a:rPr>
              <a:t>。</a:t>
            </a:r>
            <a:endParaRPr lang="zh-CN" altLang="en-US" sz="2400" b="1" dirty="0">
              <a:sym typeface="+mn-ea"/>
            </a:endParaRPr>
          </a:p>
          <a:p>
            <a:pPr>
              <a:lnSpc>
                <a:spcPct val="90000"/>
              </a:lnSpc>
              <a:buClr>
                <a:srgbClr val="FF0000"/>
              </a:buClr>
              <a:buFont typeface="Wingdings" panose="05000000000000000000" pitchFamily="2" charset="2"/>
              <a:buChar char="p"/>
            </a:pPr>
            <a:r>
              <a:rPr lang="zh-CN" altLang="en-US" sz="2400" b="1" dirty="0">
                <a:sym typeface="+mn-ea"/>
              </a:rPr>
              <a:t>类似地，若每个变量本身为(</a:t>
            </a:r>
            <a:r>
              <a:rPr lang="zh-CN" altLang="en-US" sz="2400" b="1" i="1" dirty="0">
                <a:sym typeface="+mn-ea"/>
              </a:rPr>
              <a:t>n</a:t>
            </a:r>
            <a:r>
              <a:rPr lang="zh-CN" altLang="en-US" sz="2400" b="1" dirty="0">
                <a:sym typeface="+mn-ea"/>
              </a:rPr>
              <a:t>-1)维数组，则构成</a:t>
            </a:r>
            <a:r>
              <a:rPr lang="zh-CN" altLang="en-US" sz="2400" b="1" i="1" dirty="0">
                <a:solidFill>
                  <a:srgbClr val="FF0000"/>
                </a:solidFill>
                <a:sym typeface="+mn-ea"/>
              </a:rPr>
              <a:t>n</a:t>
            </a:r>
            <a:r>
              <a:rPr lang="zh-CN" altLang="en-US" sz="2400" b="1" dirty="0">
                <a:solidFill>
                  <a:srgbClr val="FF0000"/>
                </a:solidFill>
                <a:sym typeface="+mn-ea"/>
              </a:rPr>
              <a:t>维数</a:t>
            </a:r>
            <a:r>
              <a:rPr lang="zh-CN" altLang="en-US" sz="2400" b="1" dirty="0" smtClean="0">
                <a:solidFill>
                  <a:srgbClr val="FF0000"/>
                </a:solidFill>
                <a:sym typeface="+mn-ea"/>
              </a:rPr>
              <a:t>组</a:t>
            </a:r>
            <a:r>
              <a:rPr lang="en-US" altLang="zh-CN" sz="2400" b="1" dirty="0" smtClean="0">
                <a:solidFill>
                  <a:srgbClr val="0000FF"/>
                </a:solidFill>
                <a:sym typeface="+mn-ea"/>
              </a:rPr>
              <a:t>(</a:t>
            </a:r>
            <a:r>
              <a:rPr lang="en-US" altLang="zh-CN" sz="2400" b="1" i="1" dirty="0" smtClean="0">
                <a:solidFill>
                  <a:srgbClr val="0000FF"/>
                </a:solidFill>
                <a:sym typeface="+mn-ea"/>
              </a:rPr>
              <a:t>n</a:t>
            </a:r>
            <a:r>
              <a:rPr lang="en-US" altLang="zh-CN" sz="2400" b="1" dirty="0" smtClean="0">
                <a:solidFill>
                  <a:srgbClr val="0000FF"/>
                </a:solidFill>
                <a:sym typeface="+mn-ea"/>
              </a:rPr>
              <a:t>-dimensional Array)</a:t>
            </a:r>
            <a:r>
              <a:rPr lang="zh-CN" altLang="en-US" sz="2400" b="1" dirty="0" smtClean="0">
                <a:sym typeface="+mn-ea"/>
              </a:rPr>
              <a:t>。</a:t>
            </a:r>
            <a:endParaRPr lang="zh-CN" altLang="en-US" sz="2400" b="1" dirty="0"/>
          </a:p>
          <a:p>
            <a:pPr>
              <a:lnSpc>
                <a:spcPct val="90000"/>
              </a:lnSpc>
              <a:buClr>
                <a:srgbClr val="FF0000"/>
              </a:buClr>
              <a:buFont typeface="Wingdings" panose="05000000000000000000" pitchFamily="2" charset="2"/>
              <a:buChar char="p"/>
            </a:pPr>
            <a:r>
              <a:rPr lang="zh-CN" altLang="en-US" sz="2400" b="1" dirty="0">
                <a:sym typeface="+mn-ea"/>
              </a:rPr>
              <a:t>例如，下面是一维数组示意图，其中共有</a:t>
            </a:r>
            <a:r>
              <a:rPr lang="zh-CN" altLang="en-US" sz="2400" b="1" i="1" dirty="0">
                <a:sym typeface="+mn-ea"/>
              </a:rPr>
              <a:t>n</a:t>
            </a:r>
            <a:r>
              <a:rPr lang="zh-CN" altLang="en-US" sz="2400" b="1" dirty="0">
                <a:sym typeface="+mn-ea"/>
              </a:rPr>
              <a:t>个元素。</a:t>
            </a:r>
            <a:endParaRPr lang="zh-CN" altLang="en-US" sz="2400" b="1" dirty="0"/>
          </a:p>
          <a:p>
            <a:pPr>
              <a:lnSpc>
                <a:spcPct val="90000"/>
              </a:lnSpc>
            </a:pPr>
            <a:endParaRPr lang="zh-CN" altLang="en-US" sz="2400" b="1" dirty="0"/>
          </a:p>
          <a:p>
            <a:pPr marL="0" indent="0" algn="ctr">
              <a:lnSpc>
                <a:spcPct val="90000"/>
              </a:lnSpc>
              <a:buNone/>
            </a:pPr>
            <a:endParaRPr lang="en-US" altLang="zh-CN" sz="2400" b="1" dirty="0">
              <a:sym typeface="+mn-ea"/>
            </a:endParaRPr>
          </a:p>
          <a:p>
            <a:pPr marL="0" indent="0" algn="ctr">
              <a:lnSpc>
                <a:spcPct val="90000"/>
              </a:lnSpc>
              <a:buNone/>
            </a:pPr>
            <a:endParaRPr lang="en-US" altLang="zh-CN" sz="2400" b="1" dirty="0" smtClean="0">
              <a:sym typeface="+mn-ea"/>
            </a:endParaRPr>
          </a:p>
          <a:p>
            <a:endParaRPr lang="zh-CN" altLang="en-US" sz="2400" dirty="0"/>
          </a:p>
        </p:txBody>
      </p:sp>
      <p:sp>
        <p:nvSpPr>
          <p:cNvPr id="1073742863" name="文本框 1073742862"/>
          <p:cNvSpPr txBox="1"/>
          <p:nvPr/>
        </p:nvSpPr>
        <p:spPr>
          <a:xfrm>
            <a:off x="2945727" y="5068608"/>
            <a:ext cx="3484880" cy="371475"/>
          </a:xfrm>
          <a:prstGeom prst="rect">
            <a:avLst/>
          </a:prstGeom>
          <a:solidFill>
            <a:srgbClr val="FFFFFF"/>
          </a:solidFill>
          <a:ln w="9525">
            <a:noFill/>
          </a:ln>
        </p:spPr>
        <p:txBody>
          <a:bodyPr wrap="square"/>
          <a:lstStyle/>
          <a:p>
            <a:r>
              <a:rPr lang="zh-CN" altLang="en-US" dirty="0" smtClean="0"/>
              <a:t>(</a:t>
            </a:r>
            <a:r>
              <a:rPr lang="en-US" altLang="zh-CN" i="1" dirty="0" smtClean="0">
                <a:latin typeface="Times New Roman" panose="02020603050405020304" pitchFamily="18" charset="0"/>
              </a:rPr>
              <a:t>a</a:t>
            </a:r>
            <a:r>
              <a:rPr lang="zh-CN" altLang="en-US" baseline="-25000" dirty="0" smtClean="0">
                <a:latin typeface="Times New Roman" panose="02020603050405020304" pitchFamily="18" charset="0"/>
                <a:ea typeface="+mn-ea"/>
              </a:rPr>
              <a:t>1</a:t>
            </a:r>
            <a:r>
              <a:rPr lang="zh-CN" altLang="en-US" dirty="0" smtClean="0">
                <a:latin typeface="Times New Roman" panose="02020603050405020304" pitchFamily="18" charset="0"/>
              </a:rPr>
              <a:t>，</a:t>
            </a:r>
            <a:r>
              <a:rPr lang="zh-CN" altLang="en-US" i="1" dirty="0" smtClean="0">
                <a:latin typeface="Times New Roman" panose="02020603050405020304" pitchFamily="18" charset="0"/>
              </a:rPr>
              <a:t>a</a:t>
            </a:r>
            <a:r>
              <a:rPr lang="zh-CN" altLang="en-US" baseline="-25000" dirty="0" smtClean="0">
                <a:latin typeface="Times New Roman" panose="02020603050405020304" pitchFamily="18" charset="0"/>
                <a:ea typeface="+mn-ea"/>
              </a:rPr>
              <a:t>2</a:t>
            </a:r>
            <a:r>
              <a:rPr lang="zh-CN" altLang="en-US" dirty="0" smtClean="0">
                <a:latin typeface="Times New Roman" panose="02020603050405020304" pitchFamily="18" charset="0"/>
              </a:rPr>
              <a:t>，</a:t>
            </a:r>
            <a:r>
              <a:rPr lang="zh-CN" altLang="en-US" i="1" dirty="0" smtClean="0">
                <a:latin typeface="Times New Roman" panose="02020603050405020304" pitchFamily="18" charset="0"/>
              </a:rPr>
              <a:t>a</a:t>
            </a:r>
            <a:r>
              <a:rPr lang="zh-CN" altLang="en-US" baseline="-25000" dirty="0" smtClean="0">
                <a:latin typeface="Times New Roman" panose="02020603050405020304" pitchFamily="18" charset="0"/>
                <a:ea typeface="+mn-ea"/>
              </a:rPr>
              <a:t>3</a:t>
            </a:r>
            <a:r>
              <a:rPr lang="zh-CN" altLang="en-US" dirty="0" smtClean="0">
                <a:latin typeface="Times New Roman" panose="02020603050405020304" pitchFamily="18" charset="0"/>
              </a:rPr>
              <a:t>，…</a:t>
            </a:r>
            <a:r>
              <a:rPr lang="zh-CN" altLang="en-US" dirty="0">
                <a:latin typeface="Times New Roman" panose="02020603050405020304" pitchFamily="18" charset="0"/>
              </a:rPr>
              <a:t>，</a:t>
            </a:r>
            <a:r>
              <a:rPr lang="zh-CN" altLang="en-US" i="1" dirty="0">
                <a:latin typeface="Times New Roman" panose="02020603050405020304" pitchFamily="18" charset="0"/>
              </a:rPr>
              <a:t>a</a:t>
            </a:r>
            <a:r>
              <a:rPr lang="zh-CN" altLang="en-US" i="1" baseline="-25000" dirty="0">
                <a:latin typeface="Times New Roman" panose="02020603050405020304" pitchFamily="18" charset="0"/>
                <a:ea typeface="+mn-ea"/>
              </a:rPr>
              <a:t>n</a:t>
            </a:r>
            <a:r>
              <a:rPr lang="zh-CN" altLang="en-US" dirty="0"/>
              <a:t>)</a:t>
            </a:r>
            <a:endParaRPr lang="zh-CN" altLang="en-US" dirty="0"/>
          </a:p>
          <a:p>
            <a:endParaRPr lang="en-US" altLang="zh-CN" dirty="0" smtClean="0"/>
          </a:p>
          <a:p>
            <a:endParaRPr lang="zh-CN" altLang="en-US" dirty="0"/>
          </a:p>
        </p:txBody>
      </p:sp>
      <p:sp>
        <p:nvSpPr>
          <p:cNvPr id="6" name="灯片编号占位符 5"/>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grpSp>
        <p:nvGrpSpPr>
          <p:cNvPr id="7" name="组合 114"/>
          <p:cNvGrpSpPr/>
          <p:nvPr/>
        </p:nvGrpSpPr>
        <p:grpSpPr>
          <a:xfrm>
            <a:off x="-900608" y="86081"/>
            <a:ext cx="6225040" cy="710938"/>
            <a:chOff x="-522583" y="3380569"/>
            <a:chExt cx="6225040" cy="710938"/>
          </a:xfrm>
        </p:grpSpPr>
        <p:grpSp>
          <p:nvGrpSpPr>
            <p:cNvPr id="8" name="组合 105"/>
            <p:cNvGrpSpPr/>
            <p:nvPr/>
          </p:nvGrpSpPr>
          <p:grpSpPr>
            <a:xfrm>
              <a:off x="-522583" y="3380569"/>
              <a:ext cx="6225040" cy="710938"/>
              <a:chOff x="-522583" y="3380569"/>
              <a:chExt cx="6225040" cy="710938"/>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22583" y="3380569"/>
                <a:ext cx="6225040" cy="71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6.2 </a:t>
                </a:r>
                <a:r>
                  <a:rPr lang="zh-CN" altLang="en-US" sz="3600" b="1" dirty="0" smtClean="0">
                    <a:latin typeface="Times New Roman" panose="02020603050405020304" pitchFamily="18" charset="0"/>
                    <a:ea typeface="黑体" panose="02010609060101010101" pitchFamily="49" charset="-122"/>
                  </a:rPr>
                  <a:t>数组</a:t>
                </a:r>
                <a:endParaRPr lang="zh-CN" altLang="en-US" sz="3600" b="1" dirty="0">
                  <a:latin typeface="Times New Roman" panose="02020603050405020304" pitchFamily="18" charset="0"/>
                  <a:ea typeface="黑体" panose="02010609060101010101" pitchFamily="49" charset="-122"/>
                </a:endParaRPr>
              </a:p>
            </p:txBody>
          </p:sp>
        </p:grpSp>
        <p:pic>
          <p:nvPicPr>
            <p:cNvPr id="9" name="图片 8"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39" name="矩形 38"/>
          <p:cNvSpPr/>
          <p:nvPr/>
        </p:nvSpPr>
        <p:spPr>
          <a:xfrm>
            <a:off x="764677" y="5691090"/>
            <a:ext cx="7846980" cy="677108"/>
          </a:xfrm>
          <a:prstGeom prst="rect">
            <a:avLst/>
          </a:prstGeom>
        </p:spPr>
        <p:txBody>
          <a:bodyPr wrap="square">
            <a:spAutoFit/>
          </a:bodyPr>
          <a:lstStyle/>
          <a:p>
            <a:pPr marL="285750" indent="-285750">
              <a:buClr>
                <a:srgbClr val="FF0000"/>
              </a:buClr>
              <a:buFont typeface="Wingdings" panose="05000000000000000000" pitchFamily="2" charset="2"/>
              <a:buChar char="p"/>
            </a:pPr>
            <a:r>
              <a:rPr lang="zh-CN" altLang="en-US" dirty="0"/>
              <a:t>在一维数组中，每个元素对应一个下标以标识该元素</a:t>
            </a:r>
            <a:r>
              <a:rPr lang="zh-CN" altLang="en-US" dirty="0" smtClean="0"/>
              <a:t>。</a:t>
            </a:r>
            <a:endParaRPr lang="en-US" altLang="zh-CN" dirty="0" smtClean="0"/>
          </a:p>
          <a:p>
            <a:pPr marL="285750" indent="-285750">
              <a:buClr>
                <a:srgbClr val="FF0000"/>
              </a:buClr>
              <a:buFont typeface="Wingdings" panose="05000000000000000000" pitchFamily="2" charset="2"/>
              <a:buChar char="p"/>
            </a:pPr>
            <a:r>
              <a:rPr lang="zh-CN" altLang="en-US" dirty="0" smtClean="0"/>
              <a:t>例如</a:t>
            </a:r>
            <a:r>
              <a:rPr lang="zh-CN" altLang="en-US" dirty="0"/>
              <a:t>，上图中一维数组的第一个</a:t>
            </a:r>
            <a:r>
              <a:rPr lang="zh-CN" altLang="en-US" dirty="0" smtClean="0"/>
              <a:t>元素</a:t>
            </a:r>
            <a:r>
              <a:rPr lang="en-US" altLang="zh-CN" sz="2000" i="1" dirty="0" smtClean="0">
                <a:latin typeface="Times New Roman" panose="02020603050405020304" pitchFamily="18" charset="0"/>
                <a:cs typeface="Times New Roman" panose="02020603050405020304" pitchFamily="18" charset="0"/>
              </a:rPr>
              <a:t>a</a:t>
            </a:r>
            <a:r>
              <a:rPr lang="zh-CN" altLang="en-US" baseline="-25000" dirty="0" smtClean="0"/>
              <a:t>1</a:t>
            </a:r>
            <a:r>
              <a:rPr lang="zh-CN" altLang="en-US" dirty="0"/>
              <a:t>的下标</a:t>
            </a:r>
            <a:r>
              <a:rPr lang="zh-CN" altLang="en-US" dirty="0" smtClean="0"/>
              <a:t>为</a:t>
            </a:r>
            <a:r>
              <a:rPr lang="en-US" altLang="zh-CN" dirty="0" smtClean="0">
                <a:solidFill>
                  <a:srgbClr val="0000FF"/>
                </a:solidFill>
              </a:rPr>
              <a:t>1</a:t>
            </a:r>
            <a:r>
              <a:rPr lang="zh-CN" altLang="en-US" dirty="0" smtClean="0"/>
              <a:t>。</a:t>
            </a: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7374286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374286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3225" y="1384227"/>
            <a:ext cx="7992745" cy="5118824"/>
          </a:xfrm>
        </p:spPr>
        <p:txBody>
          <a:bodyPr/>
          <a:lstStyle/>
          <a:p>
            <a:pPr>
              <a:buClr>
                <a:srgbClr val="FF0000"/>
              </a:buClr>
              <a:buFont typeface="Wingdings" panose="05000000000000000000" pitchFamily="2" charset="2"/>
              <a:buChar char="p"/>
            </a:pPr>
            <a:r>
              <a:rPr lang="zh-CN" altLang="en-US" sz="2000" b="1" dirty="0" smtClean="0"/>
              <a:t>下</a:t>
            </a:r>
            <a:r>
              <a:rPr lang="zh-CN" altLang="en-US" sz="2000" b="1" dirty="0"/>
              <a:t>图是</a:t>
            </a:r>
            <a:r>
              <a:rPr lang="zh-CN" altLang="en-US" sz="2000" b="1" dirty="0">
                <a:solidFill>
                  <a:srgbClr val="FF0000"/>
                </a:solidFill>
              </a:rPr>
              <a:t>二维数组</a:t>
            </a:r>
            <a:r>
              <a:rPr lang="zh-CN" altLang="en-US" sz="2000" b="1" dirty="0"/>
              <a:t>示意图，其中共有</a:t>
            </a:r>
            <a:r>
              <a:rPr lang="zh-CN" altLang="en-US" sz="2000" b="1" i="1" dirty="0"/>
              <a:t>m</a:t>
            </a:r>
            <a:r>
              <a:rPr lang="zh-CN" altLang="en-US" sz="2000" b="1" dirty="0"/>
              <a:t>×</a:t>
            </a:r>
            <a:r>
              <a:rPr lang="zh-CN" altLang="en-US" sz="2000" b="1" i="1" dirty="0"/>
              <a:t>n</a:t>
            </a:r>
            <a:r>
              <a:rPr lang="zh-CN" altLang="en-US" sz="2000" b="1" dirty="0"/>
              <a:t>个元素，分布于</a:t>
            </a:r>
            <a:r>
              <a:rPr lang="zh-CN" altLang="en-US" sz="2000" b="1" i="1" dirty="0"/>
              <a:t>m</a:t>
            </a:r>
            <a:r>
              <a:rPr lang="zh-CN" altLang="en-US" sz="2000" b="1" dirty="0"/>
              <a:t>行、</a:t>
            </a:r>
            <a:r>
              <a:rPr lang="zh-CN" altLang="en-US" sz="2000" b="1" i="1" dirty="0"/>
              <a:t>n</a:t>
            </a:r>
            <a:r>
              <a:rPr lang="zh-CN" altLang="en-US" sz="2000" b="1" dirty="0"/>
              <a:t>列中，每个元素属于其中的某一行、某一列。</a:t>
            </a:r>
            <a:endParaRPr lang="en-US" altLang="zh-CN" sz="2000" b="1" dirty="0"/>
          </a:p>
          <a:p>
            <a:pPr marL="0" indent="0" algn="ctr">
              <a:buNone/>
            </a:pPr>
            <a:r>
              <a:rPr lang="zh-CN" altLang="en-US" sz="2000" b="1" i="1" dirty="0"/>
              <a:t>a</a:t>
            </a:r>
            <a:r>
              <a:rPr lang="zh-CN" altLang="en-US" sz="2000" b="1" baseline="-25000" dirty="0"/>
              <a:t>11</a:t>
            </a:r>
            <a:r>
              <a:rPr lang="zh-CN" altLang="en-US" sz="2000" b="1" dirty="0"/>
              <a:t>  </a:t>
            </a:r>
            <a:r>
              <a:rPr lang="zh-CN" altLang="en-US" sz="2000" b="1" i="1" dirty="0"/>
              <a:t>a</a:t>
            </a:r>
            <a:r>
              <a:rPr lang="zh-CN" altLang="en-US" sz="2000" b="1" baseline="-25000" dirty="0"/>
              <a:t>12</a:t>
            </a:r>
            <a:r>
              <a:rPr lang="zh-CN" altLang="en-US" sz="2000" b="1" dirty="0"/>
              <a:t>   </a:t>
            </a:r>
            <a:r>
              <a:rPr lang="zh-CN" altLang="en-US" sz="2000" b="1" i="1" dirty="0"/>
              <a:t>a</a:t>
            </a:r>
            <a:r>
              <a:rPr lang="zh-CN" altLang="en-US" sz="2000" b="1" baseline="-25000" dirty="0"/>
              <a:t>13</a:t>
            </a:r>
            <a:r>
              <a:rPr lang="zh-CN" altLang="en-US" sz="2000" b="1" dirty="0"/>
              <a:t>    …     </a:t>
            </a:r>
            <a:r>
              <a:rPr lang="zh-CN" altLang="en-US" sz="2000" b="1" i="1" dirty="0"/>
              <a:t>a</a:t>
            </a:r>
            <a:r>
              <a:rPr lang="zh-CN" altLang="en-US" sz="2000" b="1" baseline="-25000" dirty="0"/>
              <a:t>1</a:t>
            </a:r>
            <a:r>
              <a:rPr lang="zh-CN" altLang="en-US" sz="2000" b="1" i="1" baseline="-25000" dirty="0"/>
              <a:t>n</a:t>
            </a:r>
            <a:endParaRPr lang="zh-CN" altLang="en-US" sz="2000" b="1" i="1" dirty="0"/>
          </a:p>
          <a:p>
            <a:pPr marL="0" indent="0" algn="ctr">
              <a:buNone/>
            </a:pPr>
            <a:r>
              <a:rPr lang="zh-CN" altLang="en-US" sz="2000" b="1" i="1" dirty="0"/>
              <a:t>a</a:t>
            </a:r>
            <a:r>
              <a:rPr lang="zh-CN" altLang="en-US" sz="2000" b="1" baseline="-25000" dirty="0"/>
              <a:t>21</a:t>
            </a:r>
            <a:r>
              <a:rPr lang="zh-CN" altLang="en-US" sz="2000" b="1" dirty="0"/>
              <a:t>  </a:t>
            </a:r>
            <a:r>
              <a:rPr lang="zh-CN" altLang="en-US" sz="2000" b="1" i="1" dirty="0"/>
              <a:t>a</a:t>
            </a:r>
            <a:r>
              <a:rPr lang="zh-CN" altLang="en-US" sz="2000" b="1" baseline="-25000" dirty="0"/>
              <a:t>22</a:t>
            </a:r>
            <a:r>
              <a:rPr lang="zh-CN" altLang="en-US" sz="2000" b="1" dirty="0"/>
              <a:t>   </a:t>
            </a:r>
            <a:r>
              <a:rPr lang="zh-CN" altLang="en-US" sz="2000" b="1" i="1" dirty="0"/>
              <a:t>a</a:t>
            </a:r>
            <a:r>
              <a:rPr lang="zh-CN" altLang="en-US" sz="2000" b="1" baseline="-25000" dirty="0"/>
              <a:t>23</a:t>
            </a:r>
            <a:r>
              <a:rPr lang="zh-CN" altLang="en-US" sz="2000" b="1" dirty="0"/>
              <a:t>    …     </a:t>
            </a:r>
            <a:r>
              <a:rPr lang="zh-CN" altLang="en-US" sz="2000" b="1" i="1" dirty="0"/>
              <a:t>a</a:t>
            </a:r>
            <a:r>
              <a:rPr lang="zh-CN" altLang="en-US" sz="2000" b="1" baseline="-25000" dirty="0"/>
              <a:t>2</a:t>
            </a:r>
            <a:r>
              <a:rPr lang="zh-CN" altLang="en-US" sz="2000" b="1" i="1" baseline="-25000" dirty="0"/>
              <a:t>n</a:t>
            </a:r>
            <a:endParaRPr lang="zh-CN" altLang="en-US" sz="2000" b="1" i="1" dirty="0"/>
          </a:p>
          <a:p>
            <a:pPr marL="0" indent="0" algn="ctr">
              <a:buNone/>
            </a:pPr>
            <a:r>
              <a:rPr lang="zh-CN" altLang="en-US" sz="2000" b="1" i="1" dirty="0"/>
              <a:t>a</a:t>
            </a:r>
            <a:r>
              <a:rPr lang="zh-CN" altLang="en-US" sz="2000" b="1" baseline="-25000" dirty="0"/>
              <a:t>31</a:t>
            </a:r>
            <a:r>
              <a:rPr lang="zh-CN" altLang="en-US" sz="2000" b="1" dirty="0"/>
              <a:t>  </a:t>
            </a:r>
            <a:r>
              <a:rPr lang="zh-CN" altLang="en-US" sz="2000" b="1" i="1" dirty="0"/>
              <a:t>a</a:t>
            </a:r>
            <a:r>
              <a:rPr lang="zh-CN" altLang="en-US" sz="2000" b="1" baseline="-25000" dirty="0"/>
              <a:t>32</a:t>
            </a:r>
            <a:r>
              <a:rPr lang="zh-CN" altLang="en-US" sz="2000" b="1" dirty="0"/>
              <a:t>   </a:t>
            </a:r>
            <a:r>
              <a:rPr lang="zh-CN" altLang="en-US" sz="2000" b="1" i="1" dirty="0"/>
              <a:t>a</a:t>
            </a:r>
            <a:r>
              <a:rPr lang="zh-CN" altLang="en-US" sz="2000" b="1" baseline="-25000" dirty="0"/>
              <a:t>33</a:t>
            </a:r>
            <a:r>
              <a:rPr lang="zh-CN" altLang="en-US" sz="2000" b="1" dirty="0"/>
              <a:t>    …     </a:t>
            </a:r>
            <a:r>
              <a:rPr lang="zh-CN" altLang="en-US" sz="2000" b="1" i="1" dirty="0"/>
              <a:t>a</a:t>
            </a:r>
            <a:r>
              <a:rPr lang="zh-CN" altLang="en-US" sz="2000" b="1" baseline="-25000" dirty="0"/>
              <a:t>3</a:t>
            </a:r>
            <a:r>
              <a:rPr lang="zh-CN" altLang="en-US" sz="2000" b="1" i="1" baseline="-25000" dirty="0" smtClean="0"/>
              <a:t>n</a:t>
            </a:r>
            <a:endParaRPr lang="en-US" altLang="zh-CN" sz="2000" b="1" i="1" dirty="0"/>
          </a:p>
          <a:p>
            <a:pPr marL="0" indent="0">
              <a:buNone/>
            </a:pPr>
            <a:r>
              <a:rPr lang="zh-CN" altLang="en-US" sz="2000" b="1" dirty="0" smtClean="0"/>
              <a:t>                                            …  …    …    …     …</a:t>
            </a:r>
            <a:endParaRPr lang="zh-CN" altLang="en-US" sz="2000" b="1" dirty="0" smtClean="0"/>
          </a:p>
          <a:p>
            <a:pPr marL="0" indent="0" algn="ctr">
              <a:buNone/>
            </a:pPr>
            <a:r>
              <a:rPr lang="zh-CN" altLang="en-US" sz="2000" b="1" i="1" dirty="0" smtClean="0"/>
              <a:t> a</a:t>
            </a:r>
            <a:r>
              <a:rPr lang="zh-CN" altLang="en-US" sz="2000" b="1" i="1" baseline="-25000" dirty="0" smtClean="0"/>
              <a:t>m</a:t>
            </a:r>
            <a:r>
              <a:rPr lang="zh-CN" altLang="en-US" sz="2000" b="1" baseline="-25000" dirty="0"/>
              <a:t>1</a:t>
            </a:r>
            <a:r>
              <a:rPr lang="zh-CN" altLang="en-US" sz="2000" b="1" dirty="0"/>
              <a:t>  </a:t>
            </a:r>
            <a:r>
              <a:rPr lang="zh-CN" altLang="en-US" sz="2000" b="1" i="1" dirty="0"/>
              <a:t>a</a:t>
            </a:r>
            <a:r>
              <a:rPr lang="zh-CN" altLang="en-US" sz="2000" b="1" i="1" baseline="-25000" dirty="0"/>
              <a:t>m</a:t>
            </a:r>
            <a:r>
              <a:rPr lang="zh-CN" altLang="en-US" sz="2000" b="1" baseline="-25000" dirty="0"/>
              <a:t>2</a:t>
            </a:r>
            <a:r>
              <a:rPr lang="zh-CN" altLang="en-US" sz="2000" b="1" dirty="0"/>
              <a:t>   </a:t>
            </a:r>
            <a:r>
              <a:rPr lang="zh-CN" altLang="en-US" sz="2000" b="1" i="1" dirty="0"/>
              <a:t>a</a:t>
            </a:r>
            <a:r>
              <a:rPr lang="zh-CN" altLang="en-US" sz="2000" b="1" i="1" baseline="-25000" dirty="0"/>
              <a:t>m</a:t>
            </a:r>
            <a:r>
              <a:rPr lang="zh-CN" altLang="en-US" sz="2000" b="1" baseline="-25000" dirty="0"/>
              <a:t>3</a:t>
            </a:r>
            <a:r>
              <a:rPr lang="zh-CN" altLang="en-US" sz="2000" b="1" dirty="0"/>
              <a:t> </a:t>
            </a:r>
            <a:r>
              <a:rPr lang="zh-CN" altLang="en-US" sz="2000" b="1" dirty="0" smtClean="0"/>
              <a:t> </a:t>
            </a:r>
            <a:r>
              <a:rPr lang="zh-CN" altLang="en-US" sz="2000" b="1" dirty="0"/>
              <a:t>…     </a:t>
            </a:r>
            <a:r>
              <a:rPr lang="zh-CN" altLang="en-US" sz="2000" b="1" i="1" dirty="0"/>
              <a:t>a</a:t>
            </a:r>
            <a:r>
              <a:rPr lang="zh-CN" altLang="en-US" sz="2000" b="1" i="1" baseline="-25000" dirty="0"/>
              <a:t>mn</a:t>
            </a:r>
            <a:endParaRPr lang="zh-CN" altLang="en-US" sz="2000" b="1" i="1" dirty="0"/>
          </a:p>
          <a:p>
            <a:pPr marL="0" indent="0" algn="ctr">
              <a:buNone/>
            </a:pPr>
            <a:r>
              <a:rPr lang="zh-CN" altLang="en-US" sz="1800" b="1" dirty="0">
                <a:solidFill>
                  <a:srgbClr val="0000FF"/>
                </a:solidFill>
              </a:rPr>
              <a:t>二维数组示意图</a:t>
            </a:r>
            <a:endParaRPr lang="zh-CN" altLang="en-US" sz="1800" b="1" dirty="0">
              <a:solidFill>
                <a:srgbClr val="0000FF"/>
              </a:solidFill>
            </a:endParaRPr>
          </a:p>
          <a:p>
            <a:pPr>
              <a:buClr>
                <a:srgbClr val="FF0000"/>
              </a:buClr>
              <a:buFont typeface="Wingdings" panose="05000000000000000000" pitchFamily="2" charset="2"/>
              <a:buChar char="p"/>
            </a:pPr>
            <a:r>
              <a:rPr lang="zh-CN" altLang="en-US" sz="2000" b="1" dirty="0"/>
              <a:t>若将其中的</a:t>
            </a:r>
            <a:r>
              <a:rPr lang="zh-CN" altLang="en-US" sz="2000" b="1" dirty="0">
                <a:solidFill>
                  <a:srgbClr val="FF0000"/>
                </a:solidFill>
              </a:rPr>
              <a:t>每行当作一个元素</a:t>
            </a:r>
            <a:r>
              <a:rPr lang="zh-CN" altLang="en-US" sz="2000" b="1" dirty="0"/>
              <a:t>，则此二维数组也可看作是由</a:t>
            </a:r>
            <a:r>
              <a:rPr lang="zh-CN" altLang="en-US" sz="2000" b="1" i="1" dirty="0"/>
              <a:t>m</a:t>
            </a:r>
            <a:r>
              <a:rPr lang="zh-CN" altLang="en-US" sz="2000" b="1" dirty="0"/>
              <a:t>个元素组成的一维数组，只不过其元素本身是一个一维数组。</a:t>
            </a:r>
            <a:endParaRPr lang="en-US" altLang="zh-CN" sz="2000" b="1" dirty="0"/>
          </a:p>
          <a:p>
            <a:pPr>
              <a:buClr>
                <a:srgbClr val="FF0000"/>
              </a:buClr>
              <a:buFont typeface="Wingdings" panose="05000000000000000000" pitchFamily="2" charset="2"/>
              <a:buChar char="p"/>
            </a:pPr>
            <a:r>
              <a:rPr lang="zh-CN" altLang="en-US" sz="2000" b="1" dirty="0"/>
              <a:t>与一维数组类似，二维数组中</a:t>
            </a:r>
            <a:r>
              <a:rPr lang="zh-CN" altLang="en-US" sz="2000" b="1" dirty="0">
                <a:solidFill>
                  <a:srgbClr val="FF0000"/>
                </a:solidFill>
              </a:rPr>
              <a:t>每个元素</a:t>
            </a:r>
            <a:r>
              <a:rPr lang="zh-CN" altLang="en-US" sz="2000" b="1" dirty="0"/>
              <a:t>对应</a:t>
            </a:r>
            <a:r>
              <a:rPr lang="zh-CN" altLang="en-US" sz="2000" b="1" dirty="0">
                <a:solidFill>
                  <a:srgbClr val="FF0000"/>
                </a:solidFill>
              </a:rPr>
              <a:t>两个方向的下标</a:t>
            </a:r>
            <a:r>
              <a:rPr lang="zh-CN" altLang="en-US" sz="2000" b="1" dirty="0"/>
              <a:t>以标识该元素。</a:t>
            </a:r>
            <a:endParaRPr lang="en-US" altLang="zh-CN" sz="2000" b="1" dirty="0"/>
          </a:p>
          <a:p>
            <a:pPr lvl="1">
              <a:buClr>
                <a:srgbClr val="FF0000"/>
              </a:buClr>
              <a:buFont typeface="Wingdings" panose="05000000000000000000" pitchFamily="2" charset="2"/>
              <a:buChar char="n"/>
            </a:pPr>
            <a:r>
              <a:rPr lang="zh-CN" altLang="en-US" sz="1600" b="1" dirty="0" smtClean="0"/>
              <a:t>例如</a:t>
            </a:r>
            <a:r>
              <a:rPr lang="en-US" altLang="zh-CN" sz="1600" b="1" dirty="0" smtClean="0"/>
              <a:t>: </a:t>
            </a:r>
            <a:r>
              <a:rPr lang="zh-CN" altLang="en-US" sz="1600" b="1" dirty="0" smtClean="0"/>
              <a:t>图</a:t>
            </a:r>
            <a:r>
              <a:rPr lang="zh-CN" altLang="en-US" sz="1600" b="1" dirty="0"/>
              <a:t>中二维数组的第二行第三列的元素</a:t>
            </a:r>
            <a:r>
              <a:rPr lang="zh-CN" altLang="en-US" sz="2000" b="1" i="1" dirty="0"/>
              <a:t>a</a:t>
            </a:r>
            <a:r>
              <a:rPr lang="zh-CN" altLang="en-US" sz="1600" b="1" baseline="-25000" dirty="0"/>
              <a:t>23</a:t>
            </a:r>
            <a:r>
              <a:rPr lang="zh-CN" altLang="en-US" sz="1600" b="1" dirty="0"/>
              <a:t>的下标为有行列两个下标，</a:t>
            </a:r>
            <a:r>
              <a:rPr lang="zh-CN" altLang="en-US" sz="1600" b="1" dirty="0" smtClean="0"/>
              <a:t>分别</a:t>
            </a:r>
            <a:endParaRPr lang="en-US" altLang="zh-CN" sz="1600" b="1" dirty="0" smtClean="0"/>
          </a:p>
          <a:p>
            <a:pPr marL="457200" lvl="1" indent="0">
              <a:buClr>
                <a:srgbClr val="FF0000"/>
              </a:buClr>
              <a:buNone/>
            </a:pPr>
            <a:r>
              <a:rPr lang="en-US" altLang="zh-CN" sz="1600" b="1" dirty="0"/>
              <a:t> </a:t>
            </a:r>
            <a:r>
              <a:rPr lang="en-US" altLang="zh-CN" sz="1600" b="1" dirty="0" smtClean="0"/>
              <a:t>               </a:t>
            </a:r>
            <a:r>
              <a:rPr lang="zh-CN" altLang="en-US" sz="1600" b="1" dirty="0" smtClean="0"/>
              <a:t>为</a:t>
            </a:r>
            <a:r>
              <a:rPr lang="zh-CN" altLang="en-US" sz="1600" b="1" dirty="0"/>
              <a:t>2和3。</a:t>
            </a:r>
            <a:endParaRPr lang="zh-CN" altLang="en-US" sz="1600" b="1" dirty="0"/>
          </a:p>
          <a:p>
            <a:pPr>
              <a:buClr>
                <a:srgbClr val="FF0000"/>
              </a:buClr>
              <a:buFont typeface="Wingdings" panose="05000000000000000000" pitchFamily="2" charset="2"/>
              <a:buChar char="p"/>
            </a:pPr>
            <a:r>
              <a:rPr lang="zh-CN" altLang="en-US" sz="2000" b="1" dirty="0"/>
              <a:t>类似地，在</a:t>
            </a:r>
            <a:r>
              <a:rPr lang="zh-CN" altLang="en-US" sz="2000" b="1" i="1" dirty="0"/>
              <a:t>n</a:t>
            </a:r>
            <a:r>
              <a:rPr lang="zh-CN" altLang="en-US" sz="2000" b="1" dirty="0"/>
              <a:t>维数组中，每个元素对应</a:t>
            </a:r>
            <a:r>
              <a:rPr lang="zh-CN" altLang="en-US" sz="2000" b="1" i="1" dirty="0"/>
              <a:t>n</a:t>
            </a:r>
            <a:r>
              <a:rPr lang="zh-CN" altLang="en-US" sz="2000" b="1" dirty="0"/>
              <a:t>个方向的下标以标识该元素</a:t>
            </a:r>
            <a:r>
              <a:rPr lang="zh-CN" altLang="en-US" sz="2000" dirty="0"/>
              <a:t>。</a:t>
            </a:r>
            <a:endParaRPr lang="zh-CN" altLang="en-US" sz="2000" dirty="0"/>
          </a:p>
        </p:txBody>
      </p:sp>
      <p:sp>
        <p:nvSpPr>
          <p:cNvPr id="5" name="双括号 4"/>
          <p:cNvSpPr/>
          <p:nvPr/>
        </p:nvSpPr>
        <p:spPr>
          <a:xfrm>
            <a:off x="3275964" y="2348880"/>
            <a:ext cx="3024228" cy="1511935"/>
          </a:xfrm>
          <a:prstGeom prst="bracketPair">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灯片编号占位符 6"/>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sp>
        <p:nvSpPr>
          <p:cNvPr id="8" name="标题 1"/>
          <p:cNvSpPr txBox="1"/>
          <p:nvPr/>
        </p:nvSpPr>
        <p:spPr bwMode="auto">
          <a:xfrm>
            <a:off x="457200" y="801067"/>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457200" indent="-457200">
              <a:buClr>
                <a:srgbClr val="FF0000"/>
              </a:buClr>
            </a:pPr>
            <a:r>
              <a:rPr lang="en-US" altLang="zh-CN" sz="2800" dirty="0" smtClean="0">
                <a:solidFill>
                  <a:srgbClr val="FF0000"/>
                </a:solidFill>
                <a:latin typeface="Times New Roman" panose="02020603050405020304" pitchFamily="18" charset="0"/>
                <a:sym typeface="+mn-ea"/>
              </a:rPr>
              <a:t>6</a:t>
            </a:r>
            <a:r>
              <a:rPr lang="zh-CN" altLang="en-US" sz="2800" dirty="0" smtClean="0">
                <a:solidFill>
                  <a:srgbClr val="FF0000"/>
                </a:solidFill>
                <a:latin typeface="Times New Roman" panose="02020603050405020304" pitchFamily="18" charset="0"/>
                <a:sym typeface="+mn-ea"/>
              </a:rPr>
              <a:t>.</a:t>
            </a:r>
            <a:r>
              <a:rPr lang="en-US" altLang="zh-CN" sz="2800" dirty="0" smtClean="0">
                <a:solidFill>
                  <a:srgbClr val="FF0000"/>
                </a:solidFill>
                <a:latin typeface="Times New Roman" panose="02020603050405020304" pitchFamily="18" charset="0"/>
                <a:sym typeface="+mn-ea"/>
              </a:rPr>
              <a:t>2</a:t>
            </a:r>
            <a:r>
              <a:rPr lang="zh-CN" altLang="en-US" sz="2800" dirty="0" smtClean="0">
                <a:solidFill>
                  <a:srgbClr val="FF0000"/>
                </a:solidFill>
                <a:latin typeface="Times New Roman" panose="02020603050405020304" pitchFamily="18" charset="0"/>
                <a:sym typeface="+mn-ea"/>
              </a:rPr>
              <a:t>.1 数组的定义和运算</a:t>
            </a:r>
            <a:endParaRPr lang="zh-CN" altLang="en-US" sz="2800" dirty="0">
              <a:solidFill>
                <a:srgbClr val="FF0000"/>
              </a:solidFill>
              <a:latin typeface="Times New Roman" panose="02020603050405020304" pitchFamily="18" charset="0"/>
            </a:endParaRPr>
          </a:p>
        </p:txBody>
      </p:sp>
      <p:grpSp>
        <p:nvGrpSpPr>
          <p:cNvPr id="9" name="组合 114"/>
          <p:cNvGrpSpPr/>
          <p:nvPr/>
        </p:nvGrpSpPr>
        <p:grpSpPr>
          <a:xfrm>
            <a:off x="-900608" y="86081"/>
            <a:ext cx="6225040" cy="710938"/>
            <a:chOff x="-522583" y="3380569"/>
            <a:chExt cx="6225040" cy="710938"/>
          </a:xfrm>
        </p:grpSpPr>
        <p:grpSp>
          <p:nvGrpSpPr>
            <p:cNvPr id="10" name="组合 105"/>
            <p:cNvGrpSpPr/>
            <p:nvPr/>
          </p:nvGrpSpPr>
          <p:grpSpPr>
            <a:xfrm>
              <a:off x="-522583" y="3380569"/>
              <a:ext cx="6225040" cy="710938"/>
              <a:chOff x="-522583" y="3380569"/>
              <a:chExt cx="6225040" cy="710938"/>
            </a:xfrm>
          </p:grpSpPr>
          <p:sp>
            <p:nvSpPr>
              <p:cNvPr id="12"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522583" y="3380569"/>
                <a:ext cx="6225040" cy="71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6.2 </a:t>
                </a:r>
                <a:r>
                  <a:rPr lang="zh-CN" altLang="en-US" sz="3600" b="1" dirty="0" smtClean="0">
                    <a:latin typeface="Times New Roman" panose="02020603050405020304" pitchFamily="18" charset="0"/>
                    <a:ea typeface="黑体" panose="02010609060101010101" pitchFamily="49" charset="-122"/>
                  </a:rPr>
                  <a:t>数组</a:t>
                </a:r>
                <a:endParaRPr lang="zh-CN" altLang="en-US" sz="3600" b="1" dirty="0">
                  <a:latin typeface="Times New Roman" panose="02020603050405020304" pitchFamily="18" charset="0"/>
                  <a:ea typeface="黑体" panose="02010609060101010101" pitchFamily="49" charset="-122"/>
                </a:endParaRPr>
              </a:p>
            </p:txBody>
          </p:sp>
        </p:grpSp>
        <p:pic>
          <p:nvPicPr>
            <p:cNvPr id="11" name="图片 10"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linds(horizontal)">
                                      <p:cBhvr>
                                        <p:cTn id="11" dur="500"/>
                                        <p:tgtEl>
                                          <p:spTgt spid="3">
                                            <p:txEl>
                                              <p:pRg st="0" end="0"/>
                                            </p:txEl>
                                          </p:spTgt>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blinds(horizontal)">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blinds(horizontal)">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blinds(horizontal)">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blinds(horizontal)">
                                      <p:cBhvr>
                                        <p:cTn id="38" dur="5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blinds(horizontal)">
                                      <p:cBhvr>
                                        <p:cTn id="43" dur="500"/>
                                        <p:tgtEl>
                                          <p:spTgt spid="3">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blinds(horizontal)">
                                      <p:cBhvr>
                                        <p:cTn id="48" dur="500"/>
                                        <p:tgtEl>
                                          <p:spTgt spid="3">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blinds(horizontal)">
                                      <p:cBhvr>
                                        <p:cTn id="53" dur="500"/>
                                        <p:tgtEl>
                                          <p:spTgt spid="3">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Effect transition="in" filter="blinds(horizontal)">
                                      <p:cBhvr>
                                        <p:cTn id="58" dur="500"/>
                                        <p:tgtEl>
                                          <p:spTgt spid="3">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Effect transition="in" filter="blinds(horizontal)">
                                      <p:cBhvr>
                                        <p:cTn id="63" dur="500"/>
                                        <p:tgtEl>
                                          <p:spTgt spid="3">
                                            <p:txEl>
                                              <p:pRg st="10" end="1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3">
                                            <p:txEl>
                                              <p:pRg st="11" end="11"/>
                                            </p:txEl>
                                          </p:spTgt>
                                        </p:tgtEl>
                                        <p:attrNameLst>
                                          <p:attrName>style.visibility</p:attrName>
                                        </p:attrNameLst>
                                      </p:cBhvr>
                                      <p:to>
                                        <p:strVal val="visible"/>
                                      </p:to>
                                    </p:set>
                                    <p:animEffect transition="in" filter="blinds(horizontal)">
                                      <p:cBhvr>
                                        <p:cTn id="6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539181"/>
            <a:ext cx="7992745" cy="4390390"/>
          </a:xfrm>
        </p:spPr>
        <p:txBody>
          <a:bodyPr/>
          <a:lstStyle/>
          <a:p>
            <a:pPr>
              <a:spcBef>
                <a:spcPts val="800"/>
              </a:spcBef>
              <a:buClr>
                <a:srgbClr val="FF0000"/>
              </a:buClr>
              <a:buFont typeface="Wingdings" panose="05000000000000000000" pitchFamily="2" charset="2"/>
              <a:buChar char="p"/>
            </a:pPr>
            <a:r>
              <a:rPr lang="zh-CN" altLang="en-US" sz="2000" b="1" dirty="0"/>
              <a:t>由于一维数组的线性关系，因此，一维数组中的每个元素最多有</a:t>
            </a:r>
            <a:r>
              <a:rPr lang="zh-CN" altLang="en-US" sz="2000" b="1" dirty="0">
                <a:solidFill>
                  <a:srgbClr val="FF0000"/>
                </a:solidFill>
              </a:rPr>
              <a:t>一个</a:t>
            </a:r>
            <a:r>
              <a:rPr lang="zh-CN" altLang="en-US" sz="2000" b="1" dirty="0"/>
              <a:t>直接</a:t>
            </a:r>
            <a:r>
              <a:rPr lang="zh-CN" altLang="en-US" sz="2000" b="1" dirty="0">
                <a:solidFill>
                  <a:srgbClr val="FF0000"/>
                </a:solidFill>
              </a:rPr>
              <a:t>前驱</a:t>
            </a:r>
            <a:r>
              <a:rPr lang="zh-CN" altLang="en-US" sz="2000" b="1" dirty="0"/>
              <a:t>和</a:t>
            </a:r>
            <a:r>
              <a:rPr lang="zh-CN" altLang="en-US" sz="2000" b="1" dirty="0">
                <a:solidFill>
                  <a:srgbClr val="FF0000"/>
                </a:solidFill>
              </a:rPr>
              <a:t>一个</a:t>
            </a:r>
            <a:r>
              <a:rPr lang="zh-CN" altLang="en-US" sz="2000" b="1" dirty="0"/>
              <a:t>直接</a:t>
            </a:r>
            <a:r>
              <a:rPr lang="zh-CN" altLang="en-US" sz="2000" b="1" dirty="0">
                <a:solidFill>
                  <a:srgbClr val="FF0000"/>
                </a:solidFill>
              </a:rPr>
              <a:t>后继</a:t>
            </a:r>
            <a:r>
              <a:rPr lang="zh-CN" altLang="en-US" sz="2000" b="1" dirty="0"/>
              <a:t>。</a:t>
            </a:r>
            <a:endParaRPr lang="zh-CN" altLang="en-US" sz="2000" b="1" dirty="0"/>
          </a:p>
          <a:p>
            <a:pPr>
              <a:spcBef>
                <a:spcPts val="800"/>
              </a:spcBef>
              <a:buClr>
                <a:srgbClr val="FF0000"/>
              </a:buClr>
              <a:buFont typeface="Wingdings" panose="05000000000000000000" pitchFamily="2" charset="2"/>
              <a:buChar char="p"/>
            </a:pPr>
            <a:r>
              <a:rPr lang="zh-CN" altLang="en-US" sz="2000" b="1" dirty="0"/>
              <a:t>而在二维数组中，每个元素分别属于两个向量（即行向量和列向量），因此，每个元素最多有</a:t>
            </a:r>
            <a:r>
              <a:rPr lang="zh-CN" altLang="en-US" sz="2000" b="1" dirty="0">
                <a:solidFill>
                  <a:srgbClr val="FF0000"/>
                </a:solidFill>
              </a:rPr>
              <a:t>两个直接前驱</a:t>
            </a:r>
            <a:r>
              <a:rPr lang="zh-CN" altLang="en-US" sz="2000" b="1" dirty="0"/>
              <a:t>和</a:t>
            </a:r>
            <a:r>
              <a:rPr lang="zh-CN" altLang="en-US" sz="2000" b="1" dirty="0">
                <a:solidFill>
                  <a:srgbClr val="FF0000"/>
                </a:solidFill>
              </a:rPr>
              <a:t>两个直接后继</a:t>
            </a:r>
            <a:r>
              <a:rPr lang="zh-CN" altLang="en-US" sz="2000" b="1" dirty="0"/>
              <a:t>。</a:t>
            </a:r>
            <a:endParaRPr lang="zh-CN" altLang="en-US" sz="2000" b="1" dirty="0"/>
          </a:p>
          <a:p>
            <a:pPr>
              <a:spcBef>
                <a:spcPts val="800"/>
              </a:spcBef>
              <a:buClr>
                <a:srgbClr val="FF0000"/>
              </a:buClr>
              <a:buFont typeface="Wingdings" panose="05000000000000000000" pitchFamily="2" charset="2"/>
              <a:buChar char="p"/>
            </a:pPr>
            <a:r>
              <a:rPr lang="zh-CN" altLang="en-US" sz="2000" b="1" dirty="0"/>
              <a:t>类似地，在</a:t>
            </a:r>
            <a:r>
              <a:rPr lang="zh-CN" altLang="en-US" sz="2000" b="1" i="1" dirty="0"/>
              <a:t>n</a:t>
            </a:r>
            <a:r>
              <a:rPr lang="zh-CN" altLang="en-US" sz="2000" b="1" dirty="0"/>
              <a:t>维数组中，每个元素最多有</a:t>
            </a:r>
            <a:r>
              <a:rPr lang="zh-CN" altLang="en-US" sz="2000" b="1" i="1" dirty="0"/>
              <a:t>n</a:t>
            </a:r>
            <a:r>
              <a:rPr lang="zh-CN" altLang="en-US" sz="2000" b="1" dirty="0"/>
              <a:t>个直接前驱和直接后继。</a:t>
            </a:r>
            <a:endParaRPr lang="zh-CN" altLang="en-US" sz="2000" b="1" dirty="0"/>
          </a:p>
          <a:p>
            <a:pPr>
              <a:spcBef>
                <a:spcPts val="800"/>
              </a:spcBef>
              <a:buClr>
                <a:srgbClr val="FF0000"/>
              </a:buClr>
              <a:buFont typeface="Wingdings" panose="05000000000000000000" pitchFamily="2" charset="2"/>
              <a:buChar char="p"/>
            </a:pPr>
            <a:r>
              <a:rPr lang="zh-CN" altLang="en-US" sz="2000" b="1" dirty="0"/>
              <a:t>对</a:t>
            </a:r>
            <a:r>
              <a:rPr lang="zh-CN" altLang="en-US" sz="2000" b="1" dirty="0">
                <a:solidFill>
                  <a:srgbClr val="FF0000"/>
                </a:solidFill>
              </a:rPr>
              <a:t>数组的运算</a:t>
            </a:r>
            <a:r>
              <a:rPr lang="zh-CN" altLang="en-US" sz="2000" b="1" dirty="0"/>
              <a:t>，通常有如下两个：</a:t>
            </a:r>
            <a:endParaRPr lang="zh-CN" altLang="en-US" sz="2000" b="1" dirty="0"/>
          </a:p>
          <a:p>
            <a:pPr lvl="1">
              <a:spcBef>
                <a:spcPts val="800"/>
              </a:spcBef>
              <a:buClr>
                <a:srgbClr val="FF0000"/>
              </a:buClr>
              <a:buFont typeface="Wingdings" panose="05000000000000000000" pitchFamily="2" charset="2"/>
              <a:buChar char="n"/>
            </a:pPr>
            <a:r>
              <a:rPr lang="zh-CN" altLang="en-US" sz="1845" b="1" dirty="0"/>
              <a:t>(1)给定一组下标，</a:t>
            </a:r>
            <a:r>
              <a:rPr lang="zh-CN" altLang="en-US" sz="1845" b="1" dirty="0">
                <a:solidFill>
                  <a:srgbClr val="FF0000"/>
                </a:solidFill>
              </a:rPr>
              <a:t>存取</a:t>
            </a:r>
            <a:r>
              <a:rPr lang="zh-CN" altLang="en-US" sz="1845" b="1" dirty="0"/>
              <a:t>相应的数组元素；</a:t>
            </a:r>
            <a:endParaRPr lang="zh-CN" altLang="en-US" sz="1845" b="1" dirty="0"/>
          </a:p>
          <a:p>
            <a:pPr lvl="1">
              <a:spcBef>
                <a:spcPts val="800"/>
              </a:spcBef>
              <a:buClr>
                <a:srgbClr val="FF0000"/>
              </a:buClr>
              <a:buFont typeface="Wingdings" panose="05000000000000000000" pitchFamily="2" charset="2"/>
              <a:buChar char="n"/>
            </a:pPr>
            <a:r>
              <a:rPr lang="zh-CN" altLang="en-US" sz="1845" b="1" dirty="0"/>
              <a:t>(2)给定一组下标，</a:t>
            </a:r>
            <a:r>
              <a:rPr lang="zh-CN" altLang="en-US" sz="1845" b="1" dirty="0">
                <a:solidFill>
                  <a:srgbClr val="FF0000"/>
                </a:solidFill>
              </a:rPr>
              <a:t>修改</a:t>
            </a:r>
            <a:r>
              <a:rPr lang="zh-CN" altLang="en-US" sz="1845" b="1" dirty="0"/>
              <a:t>相应的元素值。</a:t>
            </a:r>
            <a:endParaRPr lang="zh-CN" altLang="en-US" sz="1845" b="1" dirty="0"/>
          </a:p>
          <a:p>
            <a:pPr>
              <a:spcBef>
                <a:spcPts val="800"/>
              </a:spcBef>
              <a:buClr>
                <a:srgbClr val="FF0000"/>
              </a:buClr>
              <a:buFont typeface="Wingdings" panose="05000000000000000000" pitchFamily="2" charset="2"/>
              <a:buChar char="p"/>
            </a:pPr>
            <a:r>
              <a:rPr lang="zh-CN" altLang="en-US" sz="2000" b="1" dirty="0"/>
              <a:t>由于这两个运算在内部实现时都需要计算出给定元素的实际存储地址，因此，</a:t>
            </a:r>
            <a:r>
              <a:rPr lang="zh-CN" altLang="en-US" sz="2000" b="1" dirty="0">
                <a:solidFill>
                  <a:srgbClr val="FF0000"/>
                </a:solidFill>
              </a:rPr>
              <a:t>计算数组元素地址</a:t>
            </a:r>
            <a:r>
              <a:rPr lang="zh-CN" altLang="en-US" sz="2000" b="1" dirty="0"/>
              <a:t>这一运算就成了数组中最基本的运算，在采用特定的存储结构存储数组时，都需要能实现。 </a:t>
            </a:r>
            <a:endParaRPr lang="zh-CN" altLang="en-US" sz="2000" b="1" dirty="0"/>
          </a:p>
        </p:txBody>
      </p:sp>
      <p:sp>
        <p:nvSpPr>
          <p:cNvPr id="6" name="灯片编号占位符 5"/>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sp>
        <p:nvSpPr>
          <p:cNvPr id="24" name="标题 1"/>
          <p:cNvSpPr txBox="1"/>
          <p:nvPr/>
        </p:nvSpPr>
        <p:spPr bwMode="auto">
          <a:xfrm>
            <a:off x="457200" y="801067"/>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457200" indent="-457200">
              <a:buClr>
                <a:srgbClr val="FF0000"/>
              </a:buClr>
            </a:pPr>
            <a:r>
              <a:rPr lang="en-US" altLang="zh-CN" sz="2800" dirty="0" smtClean="0">
                <a:solidFill>
                  <a:srgbClr val="FF0000"/>
                </a:solidFill>
                <a:latin typeface="Times New Roman" panose="02020603050405020304" pitchFamily="18" charset="0"/>
                <a:sym typeface="+mn-ea"/>
              </a:rPr>
              <a:t>6</a:t>
            </a:r>
            <a:r>
              <a:rPr lang="zh-CN" altLang="en-US" sz="2800" dirty="0" smtClean="0">
                <a:solidFill>
                  <a:srgbClr val="FF0000"/>
                </a:solidFill>
                <a:latin typeface="Times New Roman" panose="02020603050405020304" pitchFamily="18" charset="0"/>
                <a:sym typeface="+mn-ea"/>
              </a:rPr>
              <a:t>.</a:t>
            </a:r>
            <a:r>
              <a:rPr lang="en-US" altLang="zh-CN" sz="2800" dirty="0" smtClean="0">
                <a:solidFill>
                  <a:srgbClr val="FF0000"/>
                </a:solidFill>
                <a:latin typeface="Times New Roman" panose="02020603050405020304" pitchFamily="18" charset="0"/>
                <a:sym typeface="+mn-ea"/>
              </a:rPr>
              <a:t>2</a:t>
            </a:r>
            <a:r>
              <a:rPr lang="zh-CN" altLang="en-US" sz="2800" dirty="0" smtClean="0">
                <a:solidFill>
                  <a:srgbClr val="FF0000"/>
                </a:solidFill>
                <a:latin typeface="Times New Roman" panose="02020603050405020304" pitchFamily="18" charset="0"/>
                <a:sym typeface="+mn-ea"/>
              </a:rPr>
              <a:t>.1 数组的定义和运算</a:t>
            </a:r>
            <a:endParaRPr lang="zh-CN" altLang="en-US" sz="2800" dirty="0">
              <a:solidFill>
                <a:srgbClr val="FF0000"/>
              </a:solidFill>
              <a:latin typeface="Times New Roman" panose="02020603050405020304" pitchFamily="18" charset="0"/>
            </a:endParaRPr>
          </a:p>
        </p:txBody>
      </p:sp>
      <p:grpSp>
        <p:nvGrpSpPr>
          <p:cNvPr id="25" name="组合 114"/>
          <p:cNvGrpSpPr/>
          <p:nvPr/>
        </p:nvGrpSpPr>
        <p:grpSpPr>
          <a:xfrm>
            <a:off x="-900608" y="86081"/>
            <a:ext cx="6225040" cy="710938"/>
            <a:chOff x="-522583" y="3380569"/>
            <a:chExt cx="6225040" cy="710938"/>
          </a:xfrm>
        </p:grpSpPr>
        <p:grpSp>
          <p:nvGrpSpPr>
            <p:cNvPr id="26" name="组合 105"/>
            <p:cNvGrpSpPr/>
            <p:nvPr/>
          </p:nvGrpSpPr>
          <p:grpSpPr>
            <a:xfrm>
              <a:off x="-522583" y="3380569"/>
              <a:ext cx="6225040" cy="710938"/>
              <a:chOff x="-522583" y="3380569"/>
              <a:chExt cx="6225040" cy="710938"/>
            </a:xfrm>
          </p:grpSpPr>
          <p:sp>
            <p:nvSpPr>
              <p:cNvPr id="2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9" name="TextBox 6"/>
              <p:cNvSpPr txBox="1">
                <a:spLocks noChangeArrowheads="1"/>
              </p:cNvSpPr>
              <p:nvPr/>
            </p:nvSpPr>
            <p:spPr bwMode="auto">
              <a:xfrm>
                <a:off x="-522583" y="3380569"/>
                <a:ext cx="6225040" cy="71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6.2 </a:t>
                </a:r>
                <a:r>
                  <a:rPr lang="zh-CN" altLang="en-US" sz="3600" b="1" dirty="0" smtClean="0">
                    <a:latin typeface="Times New Roman" panose="02020603050405020304" pitchFamily="18" charset="0"/>
                    <a:ea typeface="黑体" panose="02010609060101010101" pitchFamily="49" charset="-122"/>
                  </a:rPr>
                  <a:t>数组</a:t>
                </a:r>
                <a:endParaRPr lang="zh-CN" altLang="en-US" sz="3600" b="1" dirty="0">
                  <a:latin typeface="Times New Roman" panose="02020603050405020304" pitchFamily="18" charset="0"/>
                  <a:ea typeface="黑体" panose="02010609060101010101" pitchFamily="49" charset="-122"/>
                </a:endParaRPr>
              </a:p>
            </p:txBody>
          </p:sp>
        </p:grpSp>
        <p:pic>
          <p:nvPicPr>
            <p:cNvPr id="27" name="图片 26"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linds(horizontal)">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linds(horizont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linds(horizontal)">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linds(horizontal)">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linds(horizontal)">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linds(horizontal)">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blinds(horizontal)">
                                      <p:cBhvr>
                                        <p:cTn id="4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739" y="774977"/>
            <a:ext cx="8229600" cy="660930"/>
          </a:xfrm>
        </p:spPr>
        <p:txBody>
          <a:bodyPr>
            <a:normAutofit/>
          </a:bodyPr>
          <a:lstStyle/>
          <a:p>
            <a:pPr marL="457200" indent="-457200">
              <a:buClr>
                <a:srgbClr val="FF0000"/>
              </a:buClr>
            </a:pPr>
            <a:r>
              <a:rPr lang="en-US" altLang="zh-CN" sz="2800" dirty="0">
                <a:solidFill>
                  <a:srgbClr val="FF0000"/>
                </a:solidFill>
                <a:latin typeface="Times New Roman" panose="02020603050405020304" pitchFamily="18" charset="0"/>
                <a:sym typeface="+mn-ea"/>
              </a:rPr>
              <a:t>6</a:t>
            </a:r>
            <a:r>
              <a:rPr lang="zh-CN" altLang="en-US" sz="2800" dirty="0" smtClean="0">
                <a:solidFill>
                  <a:srgbClr val="FF0000"/>
                </a:solidFill>
                <a:latin typeface="Times New Roman" panose="02020603050405020304" pitchFamily="18" charset="0"/>
                <a:sym typeface="+mn-ea"/>
              </a:rPr>
              <a:t>.</a:t>
            </a:r>
            <a:r>
              <a:rPr lang="en-US" altLang="zh-CN" sz="2800" dirty="0" smtClean="0">
                <a:solidFill>
                  <a:srgbClr val="FF0000"/>
                </a:solidFill>
                <a:latin typeface="Times New Roman" panose="02020603050405020304" pitchFamily="18" charset="0"/>
                <a:sym typeface="+mn-ea"/>
              </a:rPr>
              <a:t>2</a:t>
            </a:r>
            <a:r>
              <a:rPr lang="zh-CN" altLang="en-US" sz="2800" dirty="0" smtClean="0">
                <a:solidFill>
                  <a:srgbClr val="FF0000"/>
                </a:solidFill>
                <a:latin typeface="Times New Roman" panose="02020603050405020304" pitchFamily="18" charset="0"/>
                <a:sym typeface="+mn-ea"/>
              </a:rPr>
              <a:t>.</a:t>
            </a:r>
            <a:r>
              <a:rPr lang="zh-CN" altLang="en-US" sz="2800" dirty="0">
                <a:solidFill>
                  <a:srgbClr val="FF0000"/>
                </a:solidFill>
                <a:latin typeface="Times New Roman" panose="02020603050405020304" pitchFamily="18" charset="0"/>
                <a:sym typeface="+mn-ea"/>
              </a:rPr>
              <a:t>2 数组的顺序存储</a:t>
            </a:r>
            <a:endParaRPr lang="zh-CN" altLang="en-US" sz="2800" dirty="0">
              <a:solidFill>
                <a:srgbClr val="FF0000"/>
              </a:solidFill>
              <a:latin typeface="Times New Roman" panose="02020603050405020304" pitchFamily="18" charset="0"/>
            </a:endParaRPr>
          </a:p>
        </p:txBody>
      </p:sp>
      <p:sp>
        <p:nvSpPr>
          <p:cNvPr id="3" name="内容占位符 2"/>
          <p:cNvSpPr>
            <a:spLocks noGrp="1"/>
          </p:cNvSpPr>
          <p:nvPr>
            <p:ph idx="1"/>
          </p:nvPr>
        </p:nvSpPr>
        <p:spPr>
          <a:xfrm>
            <a:off x="555862" y="1357548"/>
            <a:ext cx="8353930" cy="4514215"/>
          </a:xfrm>
        </p:spPr>
        <p:txBody>
          <a:bodyPr/>
          <a:lstStyle/>
          <a:p>
            <a:pPr>
              <a:buClr>
                <a:srgbClr val="FF0000"/>
              </a:buClr>
              <a:buFont typeface="Wingdings" panose="05000000000000000000" pitchFamily="2" charset="2"/>
              <a:buChar char="p"/>
            </a:pPr>
            <a:r>
              <a:rPr lang="zh-CN" altLang="en-US" sz="2000" b="1" dirty="0"/>
              <a:t>由于对数组没有给出插入和删除运算</a:t>
            </a:r>
            <a:r>
              <a:rPr lang="zh-CN" altLang="en-US" sz="2000" dirty="0"/>
              <a:t>，因此，</a:t>
            </a:r>
            <a:r>
              <a:rPr lang="zh-CN" altLang="en-US" sz="2000" b="1" dirty="0">
                <a:solidFill>
                  <a:srgbClr val="0000FF"/>
                </a:solidFill>
              </a:rPr>
              <a:t>采用顺序结构是理想的</a:t>
            </a:r>
            <a:r>
              <a:rPr lang="zh-CN" altLang="en-US" sz="2000" dirty="0" smtClean="0"/>
              <a:t>。</a:t>
            </a:r>
            <a:endParaRPr lang="en-US" altLang="zh-CN" sz="2000" dirty="0" smtClean="0"/>
          </a:p>
          <a:p>
            <a:pPr marL="0" indent="0">
              <a:buClr>
                <a:srgbClr val="FF0000"/>
              </a:buClr>
              <a:buNone/>
            </a:pPr>
            <a:r>
              <a:rPr lang="zh-CN" altLang="en-US" sz="2000" dirty="0" smtClean="0"/>
              <a:t>            </a:t>
            </a:r>
            <a:r>
              <a:rPr lang="zh-CN" altLang="en-US" sz="2000" b="1" dirty="0" smtClean="0">
                <a:solidFill>
                  <a:srgbClr val="FF0000"/>
                </a:solidFill>
              </a:rPr>
              <a:t>以</a:t>
            </a:r>
            <a:r>
              <a:rPr lang="zh-CN" altLang="en-US" sz="2000" b="1" dirty="0">
                <a:solidFill>
                  <a:srgbClr val="FF0000"/>
                </a:solidFill>
              </a:rPr>
              <a:t>什么顺序来存储各元素的值?</a:t>
            </a:r>
            <a:endParaRPr lang="zh-CN" altLang="en-US" sz="2000" b="1" dirty="0">
              <a:solidFill>
                <a:srgbClr val="FF0000"/>
              </a:solidFill>
            </a:endParaRPr>
          </a:p>
          <a:p>
            <a:pPr lvl="2">
              <a:buClr>
                <a:srgbClr val="FF0000"/>
              </a:buClr>
              <a:buFont typeface="Wingdings" panose="05000000000000000000" pitchFamily="2" charset="2"/>
              <a:buChar char="n"/>
            </a:pPr>
            <a:r>
              <a:rPr lang="zh-CN" altLang="en-US" sz="2000" dirty="0" smtClean="0"/>
              <a:t>一</a:t>
            </a:r>
            <a:r>
              <a:rPr lang="zh-CN" altLang="en-US" sz="2000" dirty="0"/>
              <a:t>维数组与存储结构有一致的结构，因此存储</a:t>
            </a:r>
            <a:r>
              <a:rPr lang="zh-CN" altLang="en-US" sz="2000" dirty="0" smtClean="0"/>
              <a:t>起来较方便</a:t>
            </a:r>
            <a:r>
              <a:rPr lang="zh-CN" altLang="en-US" sz="2000" dirty="0"/>
              <a:t>；</a:t>
            </a:r>
            <a:endParaRPr lang="en-US" altLang="zh-CN" sz="2000" dirty="0"/>
          </a:p>
          <a:p>
            <a:pPr lvl="2">
              <a:buClr>
                <a:srgbClr val="FF0000"/>
              </a:buClr>
              <a:buFont typeface="Wingdings" panose="05000000000000000000" pitchFamily="2" charset="2"/>
              <a:buChar char="n"/>
            </a:pPr>
            <a:r>
              <a:rPr lang="zh-CN" altLang="en-US" sz="2000" dirty="0" smtClean="0"/>
              <a:t>多维数组呢</a:t>
            </a:r>
            <a:r>
              <a:rPr lang="en-US" altLang="zh-CN" sz="2000" dirty="0" smtClean="0"/>
              <a:t>?</a:t>
            </a:r>
            <a:endParaRPr lang="en-US" altLang="zh-CN" sz="2000" dirty="0" smtClean="0"/>
          </a:p>
          <a:p>
            <a:pPr>
              <a:buClr>
                <a:srgbClr val="FF0000"/>
              </a:buClr>
              <a:buFont typeface="Wingdings" panose="05000000000000000000" pitchFamily="2" charset="2"/>
              <a:buChar char="p"/>
            </a:pPr>
            <a:r>
              <a:rPr lang="zh-CN" altLang="en-US" sz="2000" b="1" dirty="0" smtClean="0">
                <a:solidFill>
                  <a:srgbClr val="FF0000"/>
                </a:solidFill>
              </a:rPr>
              <a:t>一般</a:t>
            </a:r>
            <a:r>
              <a:rPr lang="zh-CN" altLang="en-US" sz="2000" b="1" dirty="0">
                <a:solidFill>
                  <a:srgbClr val="FF0000"/>
                </a:solidFill>
              </a:rPr>
              <a:t>有两种存储方式</a:t>
            </a:r>
            <a:r>
              <a:rPr lang="zh-CN" altLang="en-US" sz="2000" dirty="0"/>
              <a:t>，下面</a:t>
            </a:r>
            <a:r>
              <a:rPr lang="zh-CN" altLang="en-US" sz="2000" b="1" dirty="0">
                <a:solidFill>
                  <a:srgbClr val="0000FF"/>
                </a:solidFill>
              </a:rPr>
              <a:t>以二维数组为例</a:t>
            </a:r>
            <a:r>
              <a:rPr lang="zh-CN" altLang="en-US" sz="2000" dirty="0"/>
              <a:t>来</a:t>
            </a:r>
            <a:r>
              <a:rPr lang="zh-CN" altLang="en-US" sz="2000" dirty="0" smtClean="0"/>
              <a:t>说明</a:t>
            </a:r>
            <a:r>
              <a:rPr lang="zh-CN" altLang="en-US" sz="2000" dirty="0"/>
              <a:t>。</a:t>
            </a:r>
            <a:endParaRPr lang="zh-CN" altLang="en-US" sz="2000" dirty="0"/>
          </a:p>
          <a:p>
            <a:pPr marL="0" indent="0">
              <a:buNone/>
            </a:pPr>
            <a:r>
              <a:rPr lang="zh-CN" altLang="en-US" sz="2000" b="1" dirty="0">
                <a:solidFill>
                  <a:srgbClr val="0000FF"/>
                </a:solidFill>
              </a:rPr>
              <a:t>    </a:t>
            </a:r>
            <a:r>
              <a:rPr lang="zh-CN" altLang="en-US" sz="2000" b="1" dirty="0" smtClean="0">
                <a:solidFill>
                  <a:srgbClr val="0000FF"/>
                </a:solidFill>
              </a:rPr>
              <a:t> (</a:t>
            </a:r>
            <a:r>
              <a:rPr lang="zh-CN" altLang="en-US" sz="2000" b="1" dirty="0">
                <a:solidFill>
                  <a:srgbClr val="0000FF"/>
                </a:solidFill>
              </a:rPr>
              <a:t>1</a:t>
            </a:r>
            <a:r>
              <a:rPr lang="zh-CN" altLang="en-US" sz="2000" b="1" dirty="0" smtClean="0">
                <a:solidFill>
                  <a:srgbClr val="0000FF"/>
                </a:solidFill>
              </a:rPr>
              <a:t>) 以</a:t>
            </a:r>
            <a:r>
              <a:rPr lang="zh-CN" altLang="en-US" sz="2000" b="1" dirty="0">
                <a:solidFill>
                  <a:srgbClr val="0000FF"/>
                </a:solidFill>
              </a:rPr>
              <a:t>行序为主序的存储（即</a:t>
            </a:r>
            <a:r>
              <a:rPr lang="zh-CN" altLang="en-US" sz="2000" b="1" dirty="0">
                <a:solidFill>
                  <a:srgbClr val="FF0000"/>
                </a:solidFill>
              </a:rPr>
              <a:t>行</a:t>
            </a:r>
            <a:r>
              <a:rPr lang="zh-CN" altLang="en-US" sz="2000" b="1" dirty="0" smtClean="0">
                <a:solidFill>
                  <a:srgbClr val="FF0000"/>
                </a:solidFill>
              </a:rPr>
              <a:t>优先次序</a:t>
            </a:r>
            <a:r>
              <a:rPr lang="en-US" altLang="zh-CN" sz="2000" b="1" dirty="0">
                <a:solidFill>
                  <a:srgbClr val="0000FF"/>
                </a:solidFill>
              </a:rPr>
              <a:t>(Row Major Order)</a:t>
            </a:r>
            <a:r>
              <a:rPr lang="zh-CN" altLang="en-US" sz="2000" b="1" dirty="0" smtClean="0">
                <a:solidFill>
                  <a:srgbClr val="0000FF"/>
                </a:solidFill>
              </a:rPr>
              <a:t>）</a:t>
            </a:r>
            <a:r>
              <a:rPr lang="zh-CN" altLang="en-US" sz="2000" b="1" dirty="0">
                <a:solidFill>
                  <a:srgbClr val="0000FF"/>
                </a:solidFill>
              </a:rPr>
              <a:t>：</a:t>
            </a:r>
            <a:endParaRPr lang="zh-CN" altLang="en-US" sz="2000" b="1" dirty="0">
              <a:solidFill>
                <a:srgbClr val="0000FF"/>
              </a:solidFill>
            </a:endParaRPr>
          </a:p>
          <a:p>
            <a:pPr marL="0" indent="0">
              <a:buNone/>
            </a:pPr>
            <a:r>
              <a:rPr lang="zh-CN" altLang="en-US" sz="2000" dirty="0" smtClean="0">
                <a:solidFill>
                  <a:srgbClr val="FF0000"/>
                </a:solidFill>
              </a:rPr>
              <a:t>            </a:t>
            </a:r>
            <a:r>
              <a:rPr lang="zh-CN" altLang="en-US" sz="2000" b="1" dirty="0" smtClean="0">
                <a:solidFill>
                  <a:srgbClr val="FF0000"/>
                </a:solidFill>
              </a:rPr>
              <a:t>存储</a:t>
            </a:r>
            <a:r>
              <a:rPr lang="zh-CN" altLang="en-US" sz="2000" b="1" dirty="0">
                <a:solidFill>
                  <a:srgbClr val="FF0000"/>
                </a:solidFill>
              </a:rPr>
              <a:t>方式</a:t>
            </a:r>
            <a:r>
              <a:rPr lang="zh-CN" altLang="en-US" sz="2000" dirty="0"/>
              <a:t>：逐行地顺序存储各元素，如图所示</a:t>
            </a:r>
            <a:r>
              <a:rPr lang="zh-CN" altLang="en-US" sz="2000" dirty="0" smtClean="0"/>
              <a:t>。</a:t>
            </a:r>
            <a:endParaRPr lang="en-US" altLang="zh-CN" sz="2000" dirty="0" smtClean="0"/>
          </a:p>
          <a:p>
            <a:pPr marL="0" indent="0" algn="ctr">
              <a:buNone/>
            </a:pPr>
            <a:r>
              <a:rPr lang="zh-CN" altLang="en-US" sz="2000" i="1" dirty="0" smtClean="0">
                <a:sym typeface="+mn-ea"/>
              </a:rPr>
              <a:t>a</a:t>
            </a:r>
            <a:r>
              <a:rPr lang="zh-CN" altLang="en-US" sz="2000" baseline="-25000" dirty="0" smtClean="0">
                <a:sym typeface="+mn-ea"/>
              </a:rPr>
              <a:t>11</a:t>
            </a:r>
            <a:r>
              <a:rPr lang="zh-CN" altLang="en-US" sz="2000" dirty="0" smtClean="0">
                <a:sym typeface="+mn-ea"/>
              </a:rPr>
              <a:t>  </a:t>
            </a:r>
            <a:r>
              <a:rPr lang="zh-CN" altLang="en-US" sz="2000" i="1" dirty="0" smtClean="0">
                <a:sym typeface="+mn-ea"/>
              </a:rPr>
              <a:t>a</a:t>
            </a:r>
            <a:r>
              <a:rPr lang="zh-CN" altLang="en-US" sz="2000" baseline="-25000" dirty="0" smtClean="0">
                <a:sym typeface="+mn-ea"/>
              </a:rPr>
              <a:t>12</a:t>
            </a:r>
            <a:r>
              <a:rPr lang="zh-CN" altLang="en-US" sz="2000" dirty="0" smtClean="0">
                <a:sym typeface="+mn-ea"/>
              </a:rPr>
              <a:t>   </a:t>
            </a:r>
            <a:r>
              <a:rPr lang="zh-CN" altLang="en-US" sz="2000" i="1" dirty="0" smtClean="0">
                <a:sym typeface="+mn-ea"/>
              </a:rPr>
              <a:t>a</a:t>
            </a:r>
            <a:r>
              <a:rPr lang="zh-CN" altLang="en-US" sz="2000" baseline="-25000" dirty="0" smtClean="0">
                <a:sym typeface="+mn-ea"/>
              </a:rPr>
              <a:t>13</a:t>
            </a:r>
            <a:r>
              <a:rPr lang="zh-CN" altLang="en-US" sz="2000" dirty="0" smtClean="0">
                <a:sym typeface="+mn-ea"/>
              </a:rPr>
              <a:t>    …     </a:t>
            </a:r>
            <a:r>
              <a:rPr lang="zh-CN" altLang="en-US" sz="2000" i="1" dirty="0" smtClean="0">
                <a:sym typeface="+mn-ea"/>
              </a:rPr>
              <a:t>a</a:t>
            </a:r>
            <a:r>
              <a:rPr lang="zh-CN" altLang="en-US" sz="2000" baseline="-25000" dirty="0" smtClean="0">
                <a:sym typeface="+mn-ea"/>
              </a:rPr>
              <a:t>1</a:t>
            </a:r>
            <a:r>
              <a:rPr lang="zh-CN" altLang="en-US" sz="2000" i="1" baseline="-25000" dirty="0" smtClean="0">
                <a:sym typeface="+mn-ea"/>
              </a:rPr>
              <a:t>n</a:t>
            </a:r>
            <a:endParaRPr lang="zh-CN" altLang="en-US" sz="2000" i="1" dirty="0" smtClean="0"/>
          </a:p>
          <a:p>
            <a:pPr marL="0" indent="0" algn="ctr">
              <a:buNone/>
            </a:pPr>
            <a:r>
              <a:rPr lang="zh-CN" altLang="en-US" sz="2000" i="1" dirty="0" smtClean="0">
                <a:sym typeface="+mn-ea"/>
              </a:rPr>
              <a:t>a</a:t>
            </a:r>
            <a:r>
              <a:rPr lang="zh-CN" altLang="en-US" sz="2000" baseline="-25000" dirty="0">
                <a:sym typeface="+mn-ea"/>
              </a:rPr>
              <a:t>21</a:t>
            </a:r>
            <a:r>
              <a:rPr lang="zh-CN" altLang="en-US" sz="2000" dirty="0">
                <a:sym typeface="+mn-ea"/>
              </a:rPr>
              <a:t>  </a:t>
            </a:r>
            <a:r>
              <a:rPr lang="zh-CN" altLang="en-US" sz="2000" i="1" dirty="0">
                <a:sym typeface="+mn-ea"/>
              </a:rPr>
              <a:t>a</a:t>
            </a:r>
            <a:r>
              <a:rPr lang="zh-CN" altLang="en-US" sz="2000" baseline="-25000" dirty="0">
                <a:sym typeface="+mn-ea"/>
              </a:rPr>
              <a:t>22</a:t>
            </a:r>
            <a:r>
              <a:rPr lang="zh-CN" altLang="en-US" sz="2000" dirty="0">
                <a:sym typeface="+mn-ea"/>
              </a:rPr>
              <a:t>   </a:t>
            </a:r>
            <a:r>
              <a:rPr lang="zh-CN" altLang="en-US" sz="2000" i="1" dirty="0">
                <a:sym typeface="+mn-ea"/>
              </a:rPr>
              <a:t>a</a:t>
            </a:r>
            <a:r>
              <a:rPr lang="zh-CN" altLang="en-US" sz="2000" baseline="-25000" dirty="0">
                <a:sym typeface="+mn-ea"/>
              </a:rPr>
              <a:t>23</a:t>
            </a:r>
            <a:r>
              <a:rPr lang="zh-CN" altLang="en-US" sz="2000" dirty="0">
                <a:sym typeface="+mn-ea"/>
              </a:rPr>
              <a:t>    …     </a:t>
            </a:r>
            <a:r>
              <a:rPr lang="zh-CN" altLang="en-US" sz="2000" i="1" dirty="0">
                <a:sym typeface="+mn-ea"/>
              </a:rPr>
              <a:t>a</a:t>
            </a:r>
            <a:r>
              <a:rPr lang="zh-CN" altLang="en-US" sz="2000" baseline="-25000" dirty="0">
                <a:sym typeface="+mn-ea"/>
              </a:rPr>
              <a:t>2</a:t>
            </a:r>
            <a:r>
              <a:rPr lang="zh-CN" altLang="en-US" sz="2000" i="1" baseline="-25000" dirty="0">
                <a:sym typeface="+mn-ea"/>
              </a:rPr>
              <a:t>n</a:t>
            </a:r>
            <a:endParaRPr lang="zh-CN" altLang="en-US" sz="2000" i="1" dirty="0"/>
          </a:p>
          <a:p>
            <a:pPr marL="0" indent="0" algn="ctr">
              <a:buNone/>
            </a:pPr>
            <a:r>
              <a:rPr lang="zh-CN" altLang="en-US" sz="2000" i="1" dirty="0">
                <a:sym typeface="+mn-ea"/>
              </a:rPr>
              <a:t>a</a:t>
            </a:r>
            <a:r>
              <a:rPr lang="zh-CN" altLang="en-US" sz="2000" baseline="-25000" dirty="0">
                <a:sym typeface="+mn-ea"/>
              </a:rPr>
              <a:t>31</a:t>
            </a:r>
            <a:r>
              <a:rPr lang="zh-CN" altLang="en-US" sz="2000" dirty="0">
                <a:sym typeface="+mn-ea"/>
              </a:rPr>
              <a:t>  </a:t>
            </a:r>
            <a:r>
              <a:rPr lang="zh-CN" altLang="en-US" sz="2000" i="1" dirty="0">
                <a:sym typeface="+mn-ea"/>
              </a:rPr>
              <a:t>a</a:t>
            </a:r>
            <a:r>
              <a:rPr lang="zh-CN" altLang="en-US" sz="2000" baseline="-25000" dirty="0">
                <a:sym typeface="+mn-ea"/>
              </a:rPr>
              <a:t>32</a:t>
            </a:r>
            <a:r>
              <a:rPr lang="zh-CN" altLang="en-US" sz="2000" dirty="0">
                <a:sym typeface="+mn-ea"/>
              </a:rPr>
              <a:t>   </a:t>
            </a:r>
            <a:r>
              <a:rPr lang="zh-CN" altLang="en-US" sz="2000" i="1" dirty="0">
                <a:sym typeface="+mn-ea"/>
              </a:rPr>
              <a:t>a</a:t>
            </a:r>
            <a:r>
              <a:rPr lang="zh-CN" altLang="en-US" sz="2000" baseline="-25000" dirty="0">
                <a:sym typeface="+mn-ea"/>
              </a:rPr>
              <a:t>33</a:t>
            </a:r>
            <a:r>
              <a:rPr lang="zh-CN" altLang="en-US" sz="2000" dirty="0">
                <a:sym typeface="+mn-ea"/>
              </a:rPr>
              <a:t>    …     </a:t>
            </a:r>
            <a:r>
              <a:rPr lang="zh-CN" altLang="en-US" sz="2000" i="1" dirty="0">
                <a:sym typeface="+mn-ea"/>
              </a:rPr>
              <a:t>a</a:t>
            </a:r>
            <a:r>
              <a:rPr lang="zh-CN" altLang="en-US" sz="2000" baseline="-25000" dirty="0">
                <a:sym typeface="+mn-ea"/>
              </a:rPr>
              <a:t>3</a:t>
            </a:r>
            <a:r>
              <a:rPr lang="zh-CN" altLang="en-US" sz="2000" i="1" baseline="-25000" dirty="0">
                <a:sym typeface="+mn-ea"/>
              </a:rPr>
              <a:t>n</a:t>
            </a:r>
            <a:endParaRPr lang="zh-CN" altLang="en-US" sz="2000" i="1" dirty="0"/>
          </a:p>
          <a:p>
            <a:pPr marL="0" indent="0" algn="ctr">
              <a:buNone/>
            </a:pPr>
            <a:r>
              <a:rPr lang="zh-CN" altLang="en-US" sz="2000" dirty="0">
                <a:sym typeface="+mn-ea"/>
              </a:rPr>
              <a:t>…       …  …  …   …</a:t>
            </a:r>
            <a:endParaRPr lang="zh-CN" altLang="en-US" sz="2000" dirty="0"/>
          </a:p>
          <a:p>
            <a:pPr marL="0" indent="0" algn="ctr">
              <a:buNone/>
            </a:pPr>
            <a:r>
              <a:rPr lang="zh-CN" altLang="en-US" sz="2000" i="1" dirty="0">
                <a:sym typeface="+mn-ea"/>
              </a:rPr>
              <a:t>a</a:t>
            </a:r>
            <a:r>
              <a:rPr lang="zh-CN" altLang="en-US" sz="2000" i="1" baseline="-25000" dirty="0">
                <a:sym typeface="+mn-ea"/>
              </a:rPr>
              <a:t>m</a:t>
            </a:r>
            <a:r>
              <a:rPr lang="zh-CN" altLang="en-US" sz="2000" baseline="-25000" dirty="0">
                <a:sym typeface="+mn-ea"/>
              </a:rPr>
              <a:t>1</a:t>
            </a:r>
            <a:r>
              <a:rPr lang="zh-CN" altLang="en-US" sz="2000" dirty="0">
                <a:sym typeface="+mn-ea"/>
              </a:rPr>
              <a:t>  </a:t>
            </a:r>
            <a:r>
              <a:rPr lang="zh-CN" altLang="en-US" sz="2000" i="1" dirty="0">
                <a:sym typeface="+mn-ea"/>
              </a:rPr>
              <a:t>a</a:t>
            </a:r>
            <a:r>
              <a:rPr lang="zh-CN" altLang="en-US" sz="2000" i="1" baseline="-25000" dirty="0">
                <a:sym typeface="+mn-ea"/>
              </a:rPr>
              <a:t>m</a:t>
            </a:r>
            <a:r>
              <a:rPr lang="zh-CN" altLang="en-US" sz="2000" baseline="-25000" dirty="0">
                <a:sym typeface="+mn-ea"/>
              </a:rPr>
              <a:t>2</a:t>
            </a:r>
            <a:r>
              <a:rPr lang="zh-CN" altLang="en-US" sz="2000" dirty="0">
                <a:sym typeface="+mn-ea"/>
              </a:rPr>
              <a:t>   </a:t>
            </a:r>
            <a:r>
              <a:rPr lang="zh-CN" altLang="en-US" sz="2000" i="1" dirty="0">
                <a:sym typeface="+mn-ea"/>
              </a:rPr>
              <a:t>a</a:t>
            </a:r>
            <a:r>
              <a:rPr lang="zh-CN" altLang="en-US" sz="2000" i="1" baseline="-25000" dirty="0">
                <a:sym typeface="+mn-ea"/>
              </a:rPr>
              <a:t>m</a:t>
            </a:r>
            <a:r>
              <a:rPr lang="zh-CN" altLang="en-US" sz="2000" baseline="-25000" dirty="0">
                <a:sym typeface="+mn-ea"/>
              </a:rPr>
              <a:t>3</a:t>
            </a:r>
            <a:r>
              <a:rPr lang="zh-CN" altLang="en-US" sz="2000" dirty="0">
                <a:sym typeface="+mn-ea"/>
              </a:rPr>
              <a:t>    …     </a:t>
            </a:r>
            <a:r>
              <a:rPr lang="zh-CN" altLang="en-US" sz="2000" i="1" dirty="0">
                <a:sym typeface="+mn-ea"/>
              </a:rPr>
              <a:t>a</a:t>
            </a:r>
            <a:r>
              <a:rPr lang="zh-CN" altLang="en-US" sz="2000" i="1" baseline="-25000" dirty="0">
                <a:sym typeface="+mn-ea"/>
              </a:rPr>
              <a:t>mn</a:t>
            </a:r>
            <a:endParaRPr lang="zh-CN" altLang="en-US" sz="2000" i="1" dirty="0"/>
          </a:p>
          <a:p>
            <a:endParaRPr lang="en-US" altLang="zh-CN" sz="2000" dirty="0"/>
          </a:p>
          <a:p>
            <a:pPr>
              <a:spcBef>
                <a:spcPts val="1200"/>
              </a:spcBef>
              <a:buClr>
                <a:srgbClr val="FF0000"/>
              </a:buClr>
              <a:buFont typeface="Arial" panose="020B0604020202020204" pitchFamily="34" charset="0"/>
              <a:buChar char="•"/>
            </a:pPr>
            <a:r>
              <a:rPr lang="zh-CN" altLang="en-US" sz="2000" b="1" dirty="0" smtClean="0"/>
              <a:t>在</a:t>
            </a:r>
            <a:r>
              <a:rPr lang="zh-CN" altLang="en-US" sz="2000" b="1" dirty="0"/>
              <a:t>PASCAL，C，COBOL，PL/1等语言中，均采用这种存储方式</a:t>
            </a:r>
            <a:r>
              <a:rPr lang="zh-CN" altLang="en-US" sz="1800" b="1" dirty="0"/>
              <a:t>。</a:t>
            </a:r>
            <a:endParaRPr lang="zh-CN" altLang="en-US" sz="1800" b="1" dirty="0"/>
          </a:p>
          <a:p>
            <a:endParaRPr lang="zh-CN" altLang="en-US" sz="2000" dirty="0"/>
          </a:p>
        </p:txBody>
      </p:sp>
      <p:sp>
        <p:nvSpPr>
          <p:cNvPr id="14" name="双括号 13"/>
          <p:cNvSpPr/>
          <p:nvPr/>
        </p:nvSpPr>
        <p:spPr>
          <a:xfrm>
            <a:off x="3071829" y="4223954"/>
            <a:ext cx="3149405" cy="1511935"/>
          </a:xfrm>
          <a:prstGeom prst="bracketPair">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5" name="表格 -1"/>
          <p:cNvGraphicFramePr/>
          <p:nvPr/>
        </p:nvGraphicFramePr>
        <p:xfrm>
          <a:off x="227051" y="5892464"/>
          <a:ext cx="8279130" cy="344848"/>
        </p:xfrm>
        <a:graphic>
          <a:graphicData uri="http://schemas.openxmlformats.org/drawingml/2006/table">
            <a:tbl>
              <a:tblPr firstRow="1" bandRow="1">
                <a:tableStyleId>{5940675A-B579-460E-94D1-54222C63F5DA}</a:tableStyleId>
              </a:tblPr>
              <a:tblGrid>
                <a:gridCol w="1798320"/>
                <a:gridCol w="1831340"/>
                <a:gridCol w="1609725"/>
                <a:gridCol w="1491615"/>
                <a:gridCol w="1548130"/>
              </a:tblGrid>
              <a:tr h="344848">
                <a:tc>
                  <a:txBody>
                    <a:bodyPr/>
                    <a:lstStyle/>
                    <a:p>
                      <a:pPr marL="0" indent="0" algn="l">
                        <a:buNone/>
                      </a:pPr>
                      <a:r>
                        <a:rPr lang="en-US" altLang="zh-CN" sz="1800" b="0" i="1" u="none" dirty="0" smtClean="0">
                          <a:latin typeface="Times New Roman" panose="02020603050405020304" pitchFamily="18" charset="0"/>
                          <a:ea typeface="宋体" panose="02010600030101010101" pitchFamily="2" charset="-122"/>
                          <a:cs typeface="宋体" panose="02010600030101010101" pitchFamily="2" charset="-122"/>
                        </a:rPr>
                        <a:t>  a</a:t>
                      </a:r>
                      <a:r>
                        <a:rPr lang="en-US" altLang="zh-CN" sz="1800" b="0" u="none" baseline="-25000" dirty="0" smtClean="0">
                          <a:latin typeface="Times New Roman" panose="02020603050405020304" pitchFamily="18" charset="0"/>
                          <a:ea typeface="宋体" panose="02010600030101010101" pitchFamily="2" charset="-122"/>
                          <a:cs typeface="宋体" panose="02010600030101010101" pitchFamily="2" charset="-122"/>
                        </a:rPr>
                        <a:t>11 </a:t>
                      </a:r>
                      <a:r>
                        <a:rPr lang="en-US" altLang="zh-CN" sz="1800" b="0" i="1" u="none" dirty="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a:latin typeface="Times New Roman" panose="02020603050405020304" pitchFamily="18" charset="0"/>
                          <a:ea typeface="宋体" panose="02010600030101010101" pitchFamily="2" charset="-122"/>
                          <a:cs typeface="宋体" panose="02010600030101010101" pitchFamily="2" charset="-122"/>
                        </a:rPr>
                        <a:t>12</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u="none" dirty="0">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i="1" u="none" dirty="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a:latin typeface="Times New Roman" panose="02020603050405020304" pitchFamily="18" charset="0"/>
                          <a:ea typeface="宋体" panose="02010600030101010101" pitchFamily="2" charset="-122"/>
                          <a:cs typeface="宋体" panose="02010600030101010101" pitchFamily="2" charset="-122"/>
                        </a:rPr>
                        <a:t>1</a:t>
                      </a:r>
                      <a:r>
                        <a:rPr lang="en-US" altLang="zh-CN" sz="1800" b="0" i="1" u="none" baseline="-25000" dirty="0">
                          <a:latin typeface="Times New Roman" panose="02020603050405020304" pitchFamily="18" charset="0"/>
                          <a:ea typeface="宋体" panose="02010600030101010101" pitchFamily="2" charset="-122"/>
                          <a:cs typeface="宋体" panose="02010600030101010101" pitchFamily="2" charset="-122"/>
                        </a:rPr>
                        <a:t>n</a:t>
                      </a:r>
                      <a:endParaRPr lang="en-US" altLang="zh-CN" sz="1800" b="0" i="1" u="none"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dirty="0" smtClean="0">
                          <a:latin typeface="Times New Roman" panose="02020603050405020304" pitchFamily="18" charset="0"/>
                          <a:ea typeface="宋体" panose="02010600030101010101" pitchFamily="2" charset="-122"/>
                          <a:cs typeface="宋体" panose="02010600030101010101" pitchFamily="2" charset="-122"/>
                        </a:rPr>
                        <a:t>   </a:t>
                      </a:r>
                      <a:r>
                        <a:rPr lang="en-US" altLang="zh-CN" sz="1800" b="0" i="1" u="none" dirty="0" smtClean="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smtClean="0">
                          <a:latin typeface="Times New Roman" panose="02020603050405020304" pitchFamily="18" charset="0"/>
                          <a:ea typeface="宋体" panose="02010600030101010101" pitchFamily="2" charset="-122"/>
                          <a:cs typeface="宋体" panose="02010600030101010101" pitchFamily="2" charset="-122"/>
                        </a:rPr>
                        <a:t>21 </a:t>
                      </a:r>
                      <a:r>
                        <a:rPr lang="en-US" altLang="zh-CN" sz="1800" b="0" i="1" u="none" dirty="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a:latin typeface="Times New Roman" panose="02020603050405020304" pitchFamily="18" charset="0"/>
                          <a:ea typeface="宋体" panose="02010600030101010101" pitchFamily="2" charset="-122"/>
                          <a:cs typeface="宋体" panose="02010600030101010101" pitchFamily="2" charset="-122"/>
                        </a:rPr>
                        <a:t>22</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u="none" dirty="0">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2000" i="1" kern="1200" baseline="0" dirty="0">
                          <a:solidFill>
                            <a:schemeClr val="tx1"/>
                          </a:solidFill>
                          <a:latin typeface="Times New Roman" panose="02020603050405020304" pitchFamily="18" charset="0"/>
                          <a:ea typeface="仿宋" panose="02010609060101010101" pitchFamily="49" charset="-122"/>
                          <a:cs typeface="+mn-cs"/>
                        </a:rPr>
                        <a:t> </a:t>
                      </a:r>
                      <a:r>
                        <a:rPr lang="en-US" altLang="zh-CN" sz="1800" b="0" i="1" u="none" dirty="0" smtClean="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smtClean="0">
                          <a:latin typeface="Times New Roman" panose="02020603050405020304" pitchFamily="18" charset="0"/>
                          <a:ea typeface="宋体" panose="02010600030101010101" pitchFamily="2" charset="-122"/>
                          <a:cs typeface="宋体" panose="02010600030101010101" pitchFamily="2" charset="-122"/>
                        </a:rPr>
                        <a:t>2</a:t>
                      </a:r>
                      <a:r>
                        <a:rPr lang="en-US" altLang="zh-CN" sz="1800" b="0" i="1" u="none" baseline="-25000" dirty="0" smtClean="0">
                          <a:latin typeface="Times New Roman" panose="02020603050405020304" pitchFamily="18" charset="0"/>
                          <a:ea typeface="宋体" panose="02010600030101010101" pitchFamily="2" charset="-122"/>
                          <a:cs typeface="宋体" panose="02010600030101010101" pitchFamily="2" charset="-122"/>
                        </a:rPr>
                        <a:t>n</a:t>
                      </a:r>
                      <a:endParaRPr lang="en-US" altLang="zh-CN" sz="1800" b="0" i="1" u="none"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dirty="0" smtClean="0">
                          <a:latin typeface="Times New Roman" panose="02020603050405020304" pitchFamily="18" charset="0"/>
                          <a:ea typeface="宋体" panose="02010600030101010101" pitchFamily="2" charset="-122"/>
                          <a:cs typeface="宋体" panose="02010600030101010101" pitchFamily="2" charset="-122"/>
                        </a:rPr>
                        <a:t>   </a:t>
                      </a:r>
                      <a:r>
                        <a:rPr lang="en-US" altLang="zh-CN" sz="1800" b="0" i="1" u="none" dirty="0" smtClean="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smtClean="0">
                          <a:latin typeface="Times New Roman" panose="02020603050405020304" pitchFamily="18" charset="0"/>
                          <a:ea typeface="宋体" panose="02010600030101010101" pitchFamily="2" charset="-122"/>
                          <a:cs typeface="宋体" panose="02010600030101010101" pitchFamily="2" charset="-122"/>
                        </a:rPr>
                        <a:t>31 </a:t>
                      </a:r>
                      <a:r>
                        <a:rPr lang="en-US" altLang="zh-CN" sz="1800" b="0" i="1" u="none" dirty="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a:latin typeface="Times New Roman" panose="02020603050405020304" pitchFamily="18" charset="0"/>
                          <a:ea typeface="宋体" panose="02010600030101010101" pitchFamily="2" charset="-122"/>
                          <a:cs typeface="宋体" panose="02010600030101010101" pitchFamily="2" charset="-122"/>
                        </a:rPr>
                        <a:t>32</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u="none" dirty="0">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i="1" u="none" dirty="0" smtClean="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smtClean="0">
                          <a:latin typeface="Times New Roman" panose="02020603050405020304" pitchFamily="18" charset="0"/>
                          <a:ea typeface="宋体" panose="02010600030101010101" pitchFamily="2" charset="-122"/>
                          <a:cs typeface="宋体" panose="02010600030101010101" pitchFamily="2" charset="-122"/>
                        </a:rPr>
                        <a:t>2</a:t>
                      </a:r>
                      <a:r>
                        <a:rPr lang="en-US" altLang="zh-CN" sz="1800" b="0" i="1" u="none" baseline="-25000" dirty="0" smtClean="0">
                          <a:latin typeface="Times New Roman" panose="02020603050405020304" pitchFamily="18" charset="0"/>
                          <a:ea typeface="宋体" panose="02010600030101010101" pitchFamily="2" charset="-122"/>
                          <a:cs typeface="宋体" panose="02010600030101010101" pitchFamily="2" charset="-122"/>
                        </a:rPr>
                        <a:t>n</a:t>
                      </a:r>
                      <a:endParaRPr lang="en-US" altLang="zh-CN" sz="1800" b="0" i="1" u="none"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dirty="0" smtClean="0">
                          <a:latin typeface="Times New Roman" panose="02020603050405020304" pitchFamily="18" charset="0"/>
                          <a:ea typeface="宋体" panose="02010600030101010101" pitchFamily="2" charset="-122"/>
                          <a:cs typeface="宋体" panose="02010600030101010101" pitchFamily="2" charset="-122"/>
                        </a:rPr>
                        <a:t>    …  </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  </a:t>
                      </a:r>
                      <a:endParaRPr lang="en-US" altLang="zh-CN" sz="1800" b="0" u="none"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dirty="0" smtClean="0">
                          <a:latin typeface="Times New Roman" panose="02020603050405020304" pitchFamily="18" charset="0"/>
                          <a:ea typeface="宋体" panose="02010600030101010101" pitchFamily="2" charset="-122"/>
                          <a:cs typeface="宋体" panose="02010600030101010101" pitchFamily="2" charset="-122"/>
                        </a:rPr>
                        <a:t>  </a:t>
                      </a:r>
                      <a:r>
                        <a:rPr lang="en-US" altLang="zh-CN" sz="1800" b="0" i="1" u="none" dirty="0" smtClean="0">
                          <a:latin typeface="Times New Roman" panose="02020603050405020304" pitchFamily="18" charset="0"/>
                          <a:ea typeface="宋体" panose="02010600030101010101" pitchFamily="2" charset="-122"/>
                          <a:cs typeface="宋体" panose="02010600030101010101" pitchFamily="2" charset="-122"/>
                        </a:rPr>
                        <a:t>a</a:t>
                      </a:r>
                      <a:r>
                        <a:rPr lang="en-US" altLang="zh-CN" sz="1800" b="0" i="1" u="none" baseline="-25000" dirty="0" smtClean="0">
                          <a:latin typeface="Times New Roman" panose="02020603050405020304" pitchFamily="18" charset="0"/>
                          <a:ea typeface="宋体" panose="02010600030101010101" pitchFamily="2" charset="-122"/>
                          <a:cs typeface="宋体" panose="02010600030101010101" pitchFamily="2" charset="-122"/>
                        </a:rPr>
                        <a:t>m</a:t>
                      </a:r>
                      <a:r>
                        <a:rPr lang="en-US" altLang="zh-CN" sz="1800" b="0" u="none" baseline="-25000" dirty="0" smtClean="0">
                          <a:latin typeface="Times New Roman" panose="02020603050405020304" pitchFamily="18" charset="0"/>
                          <a:ea typeface="宋体" panose="02010600030101010101" pitchFamily="2" charset="-122"/>
                          <a:cs typeface="宋体" panose="02010600030101010101" pitchFamily="2" charset="-122"/>
                        </a:rPr>
                        <a:t>1 </a:t>
                      </a:r>
                      <a:r>
                        <a:rPr lang="en-US" altLang="zh-CN" sz="1800" b="0" i="1" u="none" dirty="0">
                          <a:latin typeface="Times New Roman" panose="02020603050405020304" pitchFamily="18" charset="0"/>
                          <a:ea typeface="宋体" panose="02010600030101010101" pitchFamily="2" charset="-122"/>
                          <a:cs typeface="宋体" panose="02010600030101010101" pitchFamily="2" charset="-122"/>
                        </a:rPr>
                        <a:t>a</a:t>
                      </a:r>
                      <a:r>
                        <a:rPr lang="en-US" altLang="zh-CN" sz="1800" b="0" i="1" u="none" baseline="-25000" dirty="0">
                          <a:latin typeface="Times New Roman" panose="02020603050405020304" pitchFamily="18" charset="0"/>
                          <a:ea typeface="宋体" panose="02010600030101010101" pitchFamily="2" charset="-122"/>
                          <a:cs typeface="宋体" panose="02010600030101010101" pitchFamily="2" charset="-122"/>
                        </a:rPr>
                        <a:t>m</a:t>
                      </a:r>
                      <a:r>
                        <a:rPr lang="en-US" altLang="zh-CN" sz="1800" b="0" u="none" baseline="-25000" dirty="0">
                          <a:latin typeface="Times New Roman" panose="02020603050405020304" pitchFamily="18" charset="0"/>
                          <a:ea typeface="宋体" panose="02010600030101010101" pitchFamily="2" charset="-122"/>
                          <a:cs typeface="宋体" panose="02010600030101010101" pitchFamily="2" charset="-122"/>
                        </a:rPr>
                        <a:t>2</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u="none" dirty="0">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i="1" u="none" dirty="0" err="1">
                          <a:latin typeface="Times New Roman" panose="02020603050405020304" pitchFamily="18" charset="0"/>
                          <a:ea typeface="宋体" panose="02010600030101010101" pitchFamily="2" charset="-122"/>
                          <a:cs typeface="宋体" panose="02010600030101010101" pitchFamily="2" charset="-122"/>
                        </a:rPr>
                        <a:t>a</a:t>
                      </a:r>
                      <a:r>
                        <a:rPr lang="en-US" altLang="zh-CN" sz="1800" b="0" i="1" u="none" baseline="-25000" dirty="0" err="1">
                          <a:latin typeface="Times New Roman" panose="02020603050405020304" pitchFamily="18" charset="0"/>
                          <a:ea typeface="宋体" panose="02010600030101010101" pitchFamily="2" charset="-122"/>
                          <a:cs typeface="宋体" panose="02010600030101010101" pitchFamily="2" charset="-122"/>
                        </a:rPr>
                        <a:t>mn</a:t>
                      </a:r>
                      <a:endParaRPr lang="en-US" altLang="zh-CN" sz="1800" b="0" i="1" u="none"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8" name="灯片编号占位符 7"/>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sp>
        <p:nvSpPr>
          <p:cNvPr id="10" name="椭圆 9"/>
          <p:cNvSpPr/>
          <p:nvPr/>
        </p:nvSpPr>
        <p:spPr>
          <a:xfrm>
            <a:off x="3343021" y="4024315"/>
            <a:ext cx="2701720" cy="35153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p:cNvCxnSpPr>
            <a:stCxn id="10" idx="2"/>
            <a:endCxn id="12" idx="7"/>
          </p:cNvCxnSpPr>
          <p:nvPr/>
        </p:nvCxnSpPr>
        <p:spPr>
          <a:xfrm flipH="1">
            <a:off x="1725811" y="4200082"/>
            <a:ext cx="1617210" cy="175863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227051" y="5916539"/>
            <a:ext cx="1755907" cy="2880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3302123" y="5441181"/>
            <a:ext cx="2701720" cy="39171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p:cNvCxnSpPr>
            <a:stCxn id="20" idx="6"/>
            <a:endCxn id="22" idx="2"/>
          </p:cNvCxnSpPr>
          <p:nvPr/>
        </p:nvCxnSpPr>
        <p:spPr>
          <a:xfrm>
            <a:off x="6003843" y="5637038"/>
            <a:ext cx="961872" cy="4175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a:off x="6965715" y="5904682"/>
            <a:ext cx="1583032" cy="29971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65051" y="1688109"/>
            <a:ext cx="327521" cy="436694"/>
          </a:xfrm>
          <a:prstGeom prst="rect">
            <a:avLst/>
          </a:prstGeom>
        </p:spPr>
      </p:pic>
      <p:grpSp>
        <p:nvGrpSpPr>
          <p:cNvPr id="23" name="组合 114"/>
          <p:cNvGrpSpPr/>
          <p:nvPr/>
        </p:nvGrpSpPr>
        <p:grpSpPr>
          <a:xfrm>
            <a:off x="-900608" y="86081"/>
            <a:ext cx="6225040" cy="710938"/>
            <a:chOff x="-522583" y="3380569"/>
            <a:chExt cx="6225040" cy="710938"/>
          </a:xfrm>
        </p:grpSpPr>
        <p:grpSp>
          <p:nvGrpSpPr>
            <p:cNvPr id="24" name="组合 105"/>
            <p:cNvGrpSpPr/>
            <p:nvPr/>
          </p:nvGrpSpPr>
          <p:grpSpPr>
            <a:xfrm>
              <a:off x="-522583" y="3380569"/>
              <a:ext cx="6225040" cy="710938"/>
              <a:chOff x="-522583" y="3380569"/>
              <a:chExt cx="6225040" cy="710938"/>
            </a:xfrm>
          </p:grpSpPr>
          <p:sp>
            <p:nvSpPr>
              <p:cNvPr id="26"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7" name="TextBox 6"/>
              <p:cNvSpPr txBox="1">
                <a:spLocks noChangeArrowheads="1"/>
              </p:cNvSpPr>
              <p:nvPr/>
            </p:nvSpPr>
            <p:spPr bwMode="auto">
              <a:xfrm>
                <a:off x="-522583" y="3380569"/>
                <a:ext cx="6225040" cy="71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6.2 </a:t>
                </a:r>
                <a:r>
                  <a:rPr lang="zh-CN" altLang="en-US" sz="3600" b="1" dirty="0" smtClean="0">
                    <a:latin typeface="Times New Roman" panose="02020603050405020304" pitchFamily="18" charset="0"/>
                    <a:ea typeface="黑体" panose="02010609060101010101" pitchFamily="49" charset="-122"/>
                  </a:rPr>
                  <a:t>数组</a:t>
                </a:r>
                <a:endParaRPr lang="zh-CN" altLang="en-US" sz="3600" b="1" dirty="0">
                  <a:latin typeface="Times New Roman" panose="02020603050405020304" pitchFamily="18" charset="0"/>
                  <a:ea typeface="黑体" panose="02010609060101010101" pitchFamily="49" charset="-122"/>
                </a:endParaRPr>
              </a:p>
            </p:txBody>
          </p:sp>
        </p:grpSp>
        <p:pic>
          <p:nvPicPr>
            <p:cNvPr id="25" name="图片 24" descr="12.jpg"/>
            <p:cNvPicPr>
              <a:picLocks noChangeAspect="1"/>
            </p:cNvPicPr>
            <p:nvPr/>
          </p:nvPicPr>
          <p:blipFill>
            <a:blip r:embed="rId2"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linds(horizontal)">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linds(horizontal)">
                                      <p:cBhvr>
                                        <p:cTn id="16" dur="500"/>
                                        <p:tgtEl>
                                          <p:spTgt spid="3">
                                            <p:txEl>
                                              <p:pRg st="1" end="1"/>
                                            </p:txEl>
                                          </p:spTgt>
                                        </p:tgtEl>
                                      </p:cBhvr>
                                    </p:animEffec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linds(horizontal)">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blinds(horizontal)">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blinds(horizontal)">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blinds(horizontal)">
                                      <p:cBhvr>
                                        <p:cTn id="38" dur="5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blinds(horizontal)">
                                      <p:cBhvr>
                                        <p:cTn id="43" dur="500"/>
                                        <p:tgtEl>
                                          <p:spTgt spid="3">
                                            <p:txEl>
                                              <p:pRg st="6" end="6"/>
                                            </p:txEl>
                                          </p:spTgt>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childTnLst>
                                </p:cTn>
                              </p:par>
                              <p:par>
                                <p:cTn id="46" presetID="3" presetClass="entr" presetSubtype="10" fill="hold" grpId="0" nodeType="with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blinds(horizontal)">
                                      <p:cBhvr>
                                        <p:cTn id="48" dur="500"/>
                                        <p:tgtEl>
                                          <p:spTgt spid="3">
                                            <p:txEl>
                                              <p:pRg st="7" end="7"/>
                                            </p:txEl>
                                          </p:spTgt>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blinds(horizontal)">
                                      <p:cBhvr>
                                        <p:cTn id="51" dur="500"/>
                                        <p:tgtEl>
                                          <p:spTgt spid="3">
                                            <p:txEl>
                                              <p:pRg st="8" end="8"/>
                                            </p:txEl>
                                          </p:spTgt>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Effect transition="in" filter="blinds(horizontal)">
                                      <p:cBhvr>
                                        <p:cTn id="54" dur="500"/>
                                        <p:tgtEl>
                                          <p:spTgt spid="3">
                                            <p:txEl>
                                              <p:pRg st="9" end="9"/>
                                            </p:txEl>
                                          </p:spTgt>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Effect transition="in" filter="blinds(horizontal)">
                                      <p:cBhvr>
                                        <p:cTn id="60" dur="500"/>
                                        <p:tgtEl>
                                          <p:spTgt spid="3">
                                            <p:txEl>
                                              <p:pRg st="11" end="1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3">
                                            <p:txEl>
                                              <p:pRg st="13" end="13"/>
                                            </p:txEl>
                                          </p:spTgt>
                                        </p:tgtEl>
                                        <p:attrNameLst>
                                          <p:attrName>style.visibility</p:attrName>
                                        </p:attrNameLst>
                                      </p:cBhvr>
                                      <p:to>
                                        <p:strVal val="visible"/>
                                      </p:to>
                                    </p:set>
                                    <p:animEffect transition="in" filter="blinds(horizontal)">
                                      <p:cBhvr>
                                        <p:cTn id="83"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14" grpId="0" animBg="1"/>
      <p:bldP spid="10" grpId="0" animBg="1"/>
      <p:bldP spid="12" grpId="0" animBg="1"/>
      <p:bldP spid="20" grpId="0" animBg="1"/>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14845"/>
            <a:ext cx="8579296" cy="4678451"/>
          </a:xfrm>
        </p:spPr>
        <p:txBody>
          <a:bodyPr/>
          <a:lstStyle/>
          <a:p>
            <a:pPr marL="0" indent="0">
              <a:buNone/>
            </a:pPr>
            <a:r>
              <a:rPr lang="zh-CN" altLang="en-US" sz="2400" b="1" dirty="0" smtClean="0">
                <a:solidFill>
                  <a:srgbClr val="0000FF"/>
                </a:solidFill>
              </a:rPr>
              <a:t>     (</a:t>
            </a:r>
            <a:r>
              <a:rPr lang="zh-CN" altLang="en-US" sz="2400" b="1" dirty="0">
                <a:solidFill>
                  <a:srgbClr val="0000FF"/>
                </a:solidFill>
              </a:rPr>
              <a:t>2</a:t>
            </a:r>
            <a:r>
              <a:rPr lang="zh-CN" altLang="en-US" sz="2400" b="1" dirty="0" smtClean="0">
                <a:solidFill>
                  <a:srgbClr val="0000FF"/>
                </a:solidFill>
              </a:rPr>
              <a:t>)  以</a:t>
            </a:r>
            <a:r>
              <a:rPr lang="zh-CN" altLang="en-US" sz="2400" b="1" dirty="0">
                <a:solidFill>
                  <a:srgbClr val="0000FF"/>
                </a:solidFill>
              </a:rPr>
              <a:t>列序为主序的存储</a:t>
            </a:r>
            <a:r>
              <a:rPr lang="zh-CN" altLang="en-US" sz="2400" b="1" dirty="0" smtClean="0">
                <a:solidFill>
                  <a:srgbClr val="0000FF"/>
                </a:solidFill>
              </a:rPr>
              <a:t>(即</a:t>
            </a:r>
            <a:r>
              <a:rPr lang="zh-CN" altLang="en-US" sz="2400" b="1" dirty="0" smtClean="0">
                <a:solidFill>
                  <a:srgbClr val="FF0000"/>
                </a:solidFill>
              </a:rPr>
              <a:t>列优先次序</a:t>
            </a:r>
            <a:r>
              <a:rPr lang="en-US" altLang="zh-CN" sz="2000" b="1" dirty="0" smtClean="0">
                <a:solidFill>
                  <a:srgbClr val="0000FF"/>
                </a:solidFill>
              </a:rPr>
              <a:t>(Column </a:t>
            </a:r>
            <a:r>
              <a:rPr lang="en-US" altLang="zh-CN" sz="2000" b="1" dirty="0">
                <a:solidFill>
                  <a:srgbClr val="0000FF"/>
                </a:solidFill>
              </a:rPr>
              <a:t>Major Order)</a:t>
            </a:r>
            <a:r>
              <a:rPr lang="zh-CN" altLang="en-US" sz="2400" b="1" dirty="0" smtClean="0">
                <a:solidFill>
                  <a:srgbClr val="0000FF"/>
                </a:solidFill>
              </a:rPr>
              <a:t>)</a:t>
            </a:r>
            <a:r>
              <a:rPr lang="zh-CN" altLang="en-US" sz="2400" b="1" dirty="0">
                <a:solidFill>
                  <a:srgbClr val="0000FF"/>
                </a:solidFill>
              </a:rPr>
              <a:t>：</a:t>
            </a:r>
            <a:endParaRPr lang="zh-CN" altLang="en-US" sz="2400" b="1" dirty="0">
              <a:solidFill>
                <a:srgbClr val="0000FF"/>
              </a:solidFill>
            </a:endParaRPr>
          </a:p>
          <a:p>
            <a:pPr lvl="1">
              <a:buFont typeface="Wingdings" panose="05000000000000000000" pitchFamily="2" charset="2"/>
              <a:buChar char="p"/>
            </a:pPr>
            <a:r>
              <a:rPr lang="zh-CN" altLang="en-US" sz="2000" b="1" dirty="0">
                <a:solidFill>
                  <a:srgbClr val="FF0000"/>
                </a:solidFill>
              </a:rPr>
              <a:t>存储方式</a:t>
            </a:r>
            <a:r>
              <a:rPr lang="zh-CN" altLang="en-US" sz="2000" b="1" dirty="0"/>
              <a:t>：逐列地顺序存储各元素，如图所示。</a:t>
            </a:r>
            <a:endParaRPr lang="en-US" altLang="zh-CN" sz="2000" b="1" dirty="0"/>
          </a:p>
          <a:p>
            <a:pPr marL="0" indent="0" algn="ctr">
              <a:buNone/>
            </a:pPr>
            <a:endParaRPr lang="en-US" altLang="zh-CN" sz="2000" i="1" dirty="0">
              <a:sym typeface="+mn-ea"/>
            </a:endParaRPr>
          </a:p>
          <a:p>
            <a:pPr marL="0" indent="0" algn="ctr">
              <a:buNone/>
            </a:pPr>
            <a:r>
              <a:rPr lang="zh-CN" altLang="en-US" sz="2000" i="1" dirty="0" smtClean="0">
                <a:sym typeface="+mn-ea"/>
              </a:rPr>
              <a:t>a</a:t>
            </a:r>
            <a:r>
              <a:rPr lang="zh-CN" altLang="en-US" sz="2000" baseline="-25000" dirty="0">
                <a:sym typeface="+mn-ea"/>
              </a:rPr>
              <a:t>11</a:t>
            </a:r>
            <a:r>
              <a:rPr lang="zh-CN" altLang="en-US" sz="2000" dirty="0">
                <a:sym typeface="+mn-ea"/>
              </a:rPr>
              <a:t>  </a:t>
            </a:r>
            <a:r>
              <a:rPr lang="zh-CN" altLang="en-US" sz="2000" i="1" dirty="0">
                <a:sym typeface="+mn-ea"/>
              </a:rPr>
              <a:t>a</a:t>
            </a:r>
            <a:r>
              <a:rPr lang="zh-CN" altLang="en-US" sz="2000" baseline="-25000" dirty="0">
                <a:sym typeface="+mn-ea"/>
              </a:rPr>
              <a:t>12</a:t>
            </a:r>
            <a:r>
              <a:rPr lang="zh-CN" altLang="en-US" sz="2000" dirty="0">
                <a:sym typeface="+mn-ea"/>
              </a:rPr>
              <a:t>   </a:t>
            </a:r>
            <a:r>
              <a:rPr lang="zh-CN" altLang="en-US" sz="2000" i="1" dirty="0">
                <a:sym typeface="+mn-ea"/>
              </a:rPr>
              <a:t>a</a:t>
            </a:r>
            <a:r>
              <a:rPr lang="zh-CN" altLang="en-US" sz="2000" baseline="-25000" dirty="0">
                <a:sym typeface="+mn-ea"/>
              </a:rPr>
              <a:t>13</a:t>
            </a:r>
            <a:r>
              <a:rPr lang="zh-CN" altLang="en-US" sz="2000" dirty="0">
                <a:sym typeface="+mn-ea"/>
              </a:rPr>
              <a:t>    …     </a:t>
            </a:r>
            <a:r>
              <a:rPr lang="zh-CN" altLang="en-US" sz="2000" i="1" dirty="0">
                <a:sym typeface="+mn-ea"/>
              </a:rPr>
              <a:t>a</a:t>
            </a:r>
            <a:r>
              <a:rPr lang="zh-CN" altLang="en-US" sz="2000" baseline="-25000" dirty="0">
                <a:sym typeface="+mn-ea"/>
              </a:rPr>
              <a:t>1</a:t>
            </a:r>
            <a:r>
              <a:rPr lang="zh-CN" altLang="en-US" sz="2000" i="1" baseline="-25000" dirty="0">
                <a:sym typeface="+mn-ea"/>
              </a:rPr>
              <a:t>n</a:t>
            </a:r>
            <a:endParaRPr lang="zh-CN" altLang="en-US" sz="2000" i="1" dirty="0"/>
          </a:p>
          <a:p>
            <a:pPr marL="0" indent="0" algn="ctr">
              <a:buNone/>
            </a:pPr>
            <a:r>
              <a:rPr lang="zh-CN" altLang="en-US" sz="2000" i="1" dirty="0">
                <a:sym typeface="+mn-ea"/>
              </a:rPr>
              <a:t>a</a:t>
            </a:r>
            <a:r>
              <a:rPr lang="zh-CN" altLang="en-US" sz="2000" baseline="-25000" dirty="0">
                <a:sym typeface="+mn-ea"/>
              </a:rPr>
              <a:t>21</a:t>
            </a:r>
            <a:r>
              <a:rPr lang="zh-CN" altLang="en-US" sz="2000" dirty="0">
                <a:sym typeface="+mn-ea"/>
              </a:rPr>
              <a:t>  </a:t>
            </a:r>
            <a:r>
              <a:rPr lang="zh-CN" altLang="en-US" sz="2000" i="1" dirty="0">
                <a:sym typeface="+mn-ea"/>
              </a:rPr>
              <a:t>a</a:t>
            </a:r>
            <a:r>
              <a:rPr lang="zh-CN" altLang="en-US" sz="2000" baseline="-25000" dirty="0">
                <a:sym typeface="+mn-ea"/>
              </a:rPr>
              <a:t>22</a:t>
            </a:r>
            <a:r>
              <a:rPr lang="zh-CN" altLang="en-US" sz="2000" dirty="0">
                <a:sym typeface="+mn-ea"/>
              </a:rPr>
              <a:t>   </a:t>
            </a:r>
            <a:r>
              <a:rPr lang="zh-CN" altLang="en-US" sz="2000" i="1" dirty="0">
                <a:sym typeface="+mn-ea"/>
              </a:rPr>
              <a:t>a</a:t>
            </a:r>
            <a:r>
              <a:rPr lang="zh-CN" altLang="en-US" sz="2000" baseline="-25000" dirty="0">
                <a:sym typeface="+mn-ea"/>
              </a:rPr>
              <a:t>23</a:t>
            </a:r>
            <a:r>
              <a:rPr lang="zh-CN" altLang="en-US" sz="2000" dirty="0">
                <a:sym typeface="+mn-ea"/>
              </a:rPr>
              <a:t>    …     </a:t>
            </a:r>
            <a:r>
              <a:rPr lang="zh-CN" altLang="en-US" sz="2000" i="1" dirty="0">
                <a:sym typeface="+mn-ea"/>
              </a:rPr>
              <a:t>a</a:t>
            </a:r>
            <a:r>
              <a:rPr lang="zh-CN" altLang="en-US" sz="2000" baseline="-25000" dirty="0">
                <a:sym typeface="+mn-ea"/>
              </a:rPr>
              <a:t>2</a:t>
            </a:r>
            <a:r>
              <a:rPr lang="zh-CN" altLang="en-US" sz="2000" i="1" baseline="-25000" dirty="0">
                <a:sym typeface="+mn-ea"/>
              </a:rPr>
              <a:t>n</a:t>
            </a:r>
            <a:endParaRPr lang="zh-CN" altLang="en-US" sz="2000" i="1" dirty="0"/>
          </a:p>
          <a:p>
            <a:pPr marL="0" indent="0" algn="ctr">
              <a:buNone/>
            </a:pPr>
            <a:r>
              <a:rPr lang="zh-CN" altLang="en-US" sz="2000" i="1" dirty="0">
                <a:sym typeface="+mn-ea"/>
              </a:rPr>
              <a:t>a</a:t>
            </a:r>
            <a:r>
              <a:rPr lang="zh-CN" altLang="en-US" sz="2000" baseline="-25000" dirty="0">
                <a:sym typeface="+mn-ea"/>
              </a:rPr>
              <a:t>31</a:t>
            </a:r>
            <a:r>
              <a:rPr lang="zh-CN" altLang="en-US" sz="2000" dirty="0">
                <a:sym typeface="+mn-ea"/>
              </a:rPr>
              <a:t>  </a:t>
            </a:r>
            <a:r>
              <a:rPr lang="zh-CN" altLang="en-US" sz="2000" i="1" dirty="0">
                <a:sym typeface="+mn-ea"/>
              </a:rPr>
              <a:t>a</a:t>
            </a:r>
            <a:r>
              <a:rPr lang="zh-CN" altLang="en-US" sz="2000" baseline="-25000" dirty="0">
                <a:sym typeface="+mn-ea"/>
              </a:rPr>
              <a:t>32</a:t>
            </a:r>
            <a:r>
              <a:rPr lang="zh-CN" altLang="en-US" sz="2000" dirty="0">
                <a:sym typeface="+mn-ea"/>
              </a:rPr>
              <a:t>   </a:t>
            </a:r>
            <a:r>
              <a:rPr lang="zh-CN" altLang="en-US" sz="2000" i="1" dirty="0">
                <a:sym typeface="+mn-ea"/>
              </a:rPr>
              <a:t>a</a:t>
            </a:r>
            <a:r>
              <a:rPr lang="zh-CN" altLang="en-US" sz="2000" baseline="-25000" dirty="0">
                <a:sym typeface="+mn-ea"/>
              </a:rPr>
              <a:t>33</a:t>
            </a:r>
            <a:r>
              <a:rPr lang="zh-CN" altLang="en-US" sz="2000" dirty="0">
                <a:sym typeface="+mn-ea"/>
              </a:rPr>
              <a:t>    …     </a:t>
            </a:r>
            <a:r>
              <a:rPr lang="zh-CN" altLang="en-US" sz="2000" i="1" dirty="0">
                <a:sym typeface="+mn-ea"/>
              </a:rPr>
              <a:t>a</a:t>
            </a:r>
            <a:r>
              <a:rPr lang="zh-CN" altLang="en-US" sz="2000" baseline="-25000" dirty="0">
                <a:sym typeface="+mn-ea"/>
              </a:rPr>
              <a:t>3</a:t>
            </a:r>
            <a:r>
              <a:rPr lang="zh-CN" altLang="en-US" sz="2000" i="1" baseline="-25000" dirty="0">
                <a:sym typeface="+mn-ea"/>
              </a:rPr>
              <a:t>n</a:t>
            </a:r>
            <a:endParaRPr lang="zh-CN" altLang="en-US" sz="2000" i="1" dirty="0"/>
          </a:p>
          <a:p>
            <a:pPr marL="0" indent="0" algn="ctr">
              <a:buNone/>
            </a:pPr>
            <a:r>
              <a:rPr lang="zh-CN" altLang="en-US" sz="2000" dirty="0">
                <a:sym typeface="+mn-ea"/>
              </a:rPr>
              <a:t>…       …  …  …   …</a:t>
            </a:r>
            <a:endParaRPr lang="zh-CN" altLang="en-US" sz="2000" dirty="0"/>
          </a:p>
          <a:p>
            <a:pPr marL="0" indent="0" algn="ctr">
              <a:buNone/>
            </a:pPr>
            <a:r>
              <a:rPr lang="zh-CN" altLang="en-US" sz="2000" i="1" dirty="0" smtClean="0">
                <a:sym typeface="+mn-ea"/>
              </a:rPr>
              <a:t> a</a:t>
            </a:r>
            <a:r>
              <a:rPr lang="zh-CN" altLang="en-US" sz="2000" i="1" baseline="-25000" dirty="0" smtClean="0">
                <a:sym typeface="+mn-ea"/>
              </a:rPr>
              <a:t>m</a:t>
            </a:r>
            <a:r>
              <a:rPr lang="zh-CN" altLang="en-US" sz="2000" baseline="-25000" dirty="0">
                <a:sym typeface="+mn-ea"/>
              </a:rPr>
              <a:t>1</a:t>
            </a:r>
            <a:r>
              <a:rPr lang="zh-CN" altLang="en-US" sz="2000" dirty="0">
                <a:sym typeface="+mn-ea"/>
              </a:rPr>
              <a:t>  </a:t>
            </a:r>
            <a:r>
              <a:rPr lang="zh-CN" altLang="en-US" sz="2000" i="1" dirty="0">
                <a:sym typeface="+mn-ea"/>
              </a:rPr>
              <a:t>a</a:t>
            </a:r>
            <a:r>
              <a:rPr lang="zh-CN" altLang="en-US" sz="2000" i="1" baseline="-25000" dirty="0">
                <a:sym typeface="+mn-ea"/>
              </a:rPr>
              <a:t>m</a:t>
            </a:r>
            <a:r>
              <a:rPr lang="zh-CN" altLang="en-US" sz="2000" baseline="-25000" dirty="0">
                <a:sym typeface="+mn-ea"/>
              </a:rPr>
              <a:t>2</a:t>
            </a:r>
            <a:r>
              <a:rPr lang="zh-CN" altLang="en-US" sz="2000" dirty="0">
                <a:sym typeface="+mn-ea"/>
              </a:rPr>
              <a:t>   </a:t>
            </a:r>
            <a:r>
              <a:rPr lang="zh-CN" altLang="en-US" sz="2000" i="1" dirty="0">
                <a:sym typeface="+mn-ea"/>
              </a:rPr>
              <a:t>a</a:t>
            </a:r>
            <a:r>
              <a:rPr lang="zh-CN" altLang="en-US" sz="2000" i="1" baseline="-25000" dirty="0">
                <a:sym typeface="+mn-ea"/>
              </a:rPr>
              <a:t>m</a:t>
            </a:r>
            <a:r>
              <a:rPr lang="zh-CN" altLang="en-US" sz="2000" baseline="-25000" dirty="0">
                <a:sym typeface="+mn-ea"/>
              </a:rPr>
              <a:t>3</a:t>
            </a:r>
            <a:r>
              <a:rPr lang="zh-CN" altLang="en-US" sz="2000" dirty="0">
                <a:sym typeface="+mn-ea"/>
              </a:rPr>
              <a:t>    …  </a:t>
            </a:r>
            <a:r>
              <a:rPr lang="zh-CN" altLang="en-US" sz="2000" dirty="0" smtClean="0">
                <a:sym typeface="+mn-ea"/>
              </a:rPr>
              <a:t> </a:t>
            </a:r>
            <a:r>
              <a:rPr lang="zh-CN" altLang="en-US" sz="2000" i="1" dirty="0">
                <a:sym typeface="+mn-ea"/>
              </a:rPr>
              <a:t>a</a:t>
            </a:r>
            <a:r>
              <a:rPr lang="zh-CN" altLang="en-US" sz="2000" i="1" baseline="-25000" dirty="0">
                <a:sym typeface="+mn-ea"/>
              </a:rPr>
              <a:t>mn</a:t>
            </a:r>
            <a:endParaRPr lang="zh-CN" altLang="en-US" sz="2000" i="1" dirty="0"/>
          </a:p>
          <a:p>
            <a:pPr marL="0" indent="0" algn="ctr">
              <a:buNone/>
            </a:pPr>
            <a:endParaRPr lang="en-US" altLang="zh-CN" sz="2000" dirty="0">
              <a:sym typeface="+mn-ea"/>
            </a:endParaRPr>
          </a:p>
          <a:p>
            <a:pPr marL="0" indent="0" algn="ctr">
              <a:buNone/>
            </a:pPr>
            <a:endParaRPr lang="en-US" altLang="zh-CN" sz="2000" dirty="0">
              <a:sym typeface="+mn-ea"/>
            </a:endParaRPr>
          </a:p>
          <a:p>
            <a:pPr algn="just"/>
            <a:endParaRPr lang="en-US" altLang="zh-CN" sz="2000" dirty="0"/>
          </a:p>
          <a:p>
            <a:pPr algn="just">
              <a:buClr>
                <a:srgbClr val="FF0000"/>
              </a:buClr>
              <a:buFont typeface="Wingdings" panose="05000000000000000000" pitchFamily="2" charset="2"/>
              <a:buChar char="p"/>
            </a:pPr>
            <a:r>
              <a:rPr lang="zh-CN" altLang="en-US" sz="2000" dirty="0" smtClean="0"/>
              <a:t>FORTRAN</a:t>
            </a:r>
            <a:r>
              <a:rPr lang="zh-CN" altLang="en-US" sz="2000" dirty="0"/>
              <a:t>语言中采用的是这种方法。</a:t>
            </a:r>
            <a:endParaRPr lang="zh-CN" altLang="en-US" sz="2000" dirty="0"/>
          </a:p>
        </p:txBody>
      </p:sp>
      <p:sp>
        <p:nvSpPr>
          <p:cNvPr id="14" name="双括号 13"/>
          <p:cNvSpPr/>
          <p:nvPr/>
        </p:nvSpPr>
        <p:spPr>
          <a:xfrm>
            <a:off x="3208548" y="2713449"/>
            <a:ext cx="2979062" cy="1511935"/>
          </a:xfrm>
          <a:prstGeom prst="bracketPair">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灯片编号占位符 7"/>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sp>
        <p:nvSpPr>
          <p:cNvPr id="10" name="椭圆 9"/>
          <p:cNvSpPr/>
          <p:nvPr/>
        </p:nvSpPr>
        <p:spPr>
          <a:xfrm>
            <a:off x="3462704" y="2574667"/>
            <a:ext cx="536441" cy="190377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p:cNvCxnSpPr>
            <a:stCxn id="10" idx="2"/>
          </p:cNvCxnSpPr>
          <p:nvPr/>
        </p:nvCxnSpPr>
        <p:spPr>
          <a:xfrm flipH="1">
            <a:off x="2069600" y="3526556"/>
            <a:ext cx="1393104" cy="117575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410748" y="4606730"/>
            <a:ext cx="1772946" cy="3845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5488608" y="2527408"/>
            <a:ext cx="504056" cy="18874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p:cNvCxnSpPr/>
          <p:nvPr/>
        </p:nvCxnSpPr>
        <p:spPr>
          <a:xfrm>
            <a:off x="5983228" y="3483495"/>
            <a:ext cx="1646827" cy="112198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7129644" y="4606730"/>
            <a:ext cx="1583850" cy="38450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 1"/>
          <p:cNvSpPr>
            <a:spLocks noGrp="1"/>
          </p:cNvSpPr>
          <p:nvPr>
            <p:ph type="title"/>
          </p:nvPr>
        </p:nvSpPr>
        <p:spPr>
          <a:xfrm>
            <a:off x="457739" y="774977"/>
            <a:ext cx="8229600" cy="660930"/>
          </a:xfrm>
        </p:spPr>
        <p:txBody>
          <a:bodyPr>
            <a:normAutofit/>
          </a:bodyPr>
          <a:lstStyle/>
          <a:p>
            <a:pPr marL="457200" indent="-457200">
              <a:buClr>
                <a:srgbClr val="FF0000"/>
              </a:buClr>
            </a:pPr>
            <a:r>
              <a:rPr lang="en-US" altLang="zh-CN" sz="2800" dirty="0">
                <a:solidFill>
                  <a:srgbClr val="FF0000"/>
                </a:solidFill>
                <a:latin typeface="Times New Roman" panose="02020603050405020304" pitchFamily="18" charset="0"/>
                <a:sym typeface="+mn-ea"/>
              </a:rPr>
              <a:t>6</a:t>
            </a:r>
            <a:r>
              <a:rPr lang="zh-CN" altLang="en-US" sz="2800" dirty="0" smtClean="0">
                <a:solidFill>
                  <a:srgbClr val="FF0000"/>
                </a:solidFill>
                <a:latin typeface="Times New Roman" panose="02020603050405020304" pitchFamily="18" charset="0"/>
                <a:sym typeface="+mn-ea"/>
              </a:rPr>
              <a:t>.</a:t>
            </a:r>
            <a:r>
              <a:rPr lang="en-US" altLang="zh-CN" sz="2800" dirty="0" smtClean="0">
                <a:solidFill>
                  <a:srgbClr val="FF0000"/>
                </a:solidFill>
                <a:latin typeface="Times New Roman" panose="02020603050405020304" pitchFamily="18" charset="0"/>
                <a:sym typeface="+mn-ea"/>
              </a:rPr>
              <a:t>2</a:t>
            </a:r>
            <a:r>
              <a:rPr lang="zh-CN" altLang="en-US" sz="2800" dirty="0" smtClean="0">
                <a:solidFill>
                  <a:srgbClr val="FF0000"/>
                </a:solidFill>
                <a:latin typeface="Times New Roman" panose="02020603050405020304" pitchFamily="18" charset="0"/>
                <a:sym typeface="+mn-ea"/>
              </a:rPr>
              <a:t>.</a:t>
            </a:r>
            <a:r>
              <a:rPr lang="zh-CN" altLang="en-US" sz="2800" dirty="0">
                <a:solidFill>
                  <a:srgbClr val="FF0000"/>
                </a:solidFill>
                <a:latin typeface="Times New Roman" panose="02020603050405020304" pitchFamily="18" charset="0"/>
                <a:sym typeface="+mn-ea"/>
              </a:rPr>
              <a:t>2 数组的顺序</a:t>
            </a:r>
            <a:r>
              <a:rPr lang="zh-CN" altLang="en-US" sz="2800" dirty="0" smtClean="0">
                <a:solidFill>
                  <a:srgbClr val="FF0000"/>
                </a:solidFill>
                <a:latin typeface="Times New Roman" panose="02020603050405020304" pitchFamily="18" charset="0"/>
                <a:sym typeface="+mn-ea"/>
              </a:rPr>
              <a:t>存储</a:t>
            </a:r>
            <a:r>
              <a:rPr lang="en-US" altLang="zh-CN" sz="2800" dirty="0" smtClean="0">
                <a:solidFill>
                  <a:srgbClr val="FF0000"/>
                </a:solidFill>
                <a:latin typeface="Times New Roman" panose="02020603050405020304" pitchFamily="18" charset="0"/>
                <a:sym typeface="+mn-ea"/>
              </a:rPr>
              <a:t>(Sequence Storage)</a:t>
            </a:r>
            <a:endParaRPr lang="zh-CN" altLang="en-US" sz="2800" dirty="0">
              <a:solidFill>
                <a:srgbClr val="FF0000"/>
              </a:solidFill>
              <a:latin typeface="Times New Roman" panose="02020603050405020304" pitchFamily="18" charset="0"/>
            </a:endParaRPr>
          </a:p>
        </p:txBody>
      </p:sp>
      <p:grpSp>
        <p:nvGrpSpPr>
          <p:cNvPr id="19" name="组合 114"/>
          <p:cNvGrpSpPr/>
          <p:nvPr/>
        </p:nvGrpSpPr>
        <p:grpSpPr>
          <a:xfrm>
            <a:off x="-900608" y="86081"/>
            <a:ext cx="6225040" cy="710938"/>
            <a:chOff x="-522583" y="3380569"/>
            <a:chExt cx="6225040" cy="710938"/>
          </a:xfrm>
        </p:grpSpPr>
        <p:grpSp>
          <p:nvGrpSpPr>
            <p:cNvPr id="20" name="组合 105"/>
            <p:cNvGrpSpPr/>
            <p:nvPr/>
          </p:nvGrpSpPr>
          <p:grpSpPr>
            <a:xfrm>
              <a:off x="-522583" y="3380569"/>
              <a:ext cx="6225040" cy="710938"/>
              <a:chOff x="-522583" y="3380569"/>
              <a:chExt cx="6225040" cy="710938"/>
            </a:xfrm>
          </p:grpSpPr>
          <p:sp>
            <p:nvSpPr>
              <p:cNvPr id="22"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522583" y="3380569"/>
                <a:ext cx="6225040" cy="71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6.2 </a:t>
                </a:r>
                <a:r>
                  <a:rPr lang="zh-CN" altLang="en-US" sz="3600" b="1" dirty="0" smtClean="0">
                    <a:latin typeface="Times New Roman" panose="02020603050405020304" pitchFamily="18" charset="0"/>
                    <a:ea typeface="黑体" panose="02010609060101010101" pitchFamily="49" charset="-122"/>
                  </a:rPr>
                  <a:t>数组</a:t>
                </a:r>
                <a:endParaRPr lang="zh-CN" altLang="en-US" sz="3600" b="1" dirty="0">
                  <a:latin typeface="Times New Roman" panose="02020603050405020304" pitchFamily="18" charset="0"/>
                  <a:ea typeface="黑体" panose="02010609060101010101" pitchFamily="49" charset="-122"/>
                </a:endParaRPr>
              </a:p>
            </p:txBody>
          </p:sp>
        </p:grpSp>
        <p:pic>
          <p:nvPicPr>
            <p:cNvPr id="21" name="图片 20" descr="12.jpg"/>
            <p:cNvPicPr>
              <a:picLocks noChangeAspect="1"/>
            </p:cNvPicPr>
            <p:nvPr/>
          </p:nvPicPr>
          <p:blipFill>
            <a:blip r:embed="rId1" cstate="print"/>
            <a:stretch>
              <a:fillRect/>
            </a:stretch>
          </p:blipFill>
          <p:spPr>
            <a:xfrm>
              <a:off x="1115929" y="3530600"/>
              <a:ext cx="446172" cy="431048"/>
            </a:xfrm>
            <a:prstGeom prst="rect">
              <a:avLst/>
            </a:prstGeom>
          </p:spPr>
        </p:pic>
      </p:grpSp>
      <p:graphicFrame>
        <p:nvGraphicFramePr>
          <p:cNvPr id="24" name="表格 -1"/>
          <p:cNvGraphicFramePr/>
          <p:nvPr/>
        </p:nvGraphicFramePr>
        <p:xfrm>
          <a:off x="422556" y="4606730"/>
          <a:ext cx="8279130" cy="344848"/>
        </p:xfrm>
        <a:graphic>
          <a:graphicData uri="http://schemas.openxmlformats.org/drawingml/2006/table">
            <a:tbl>
              <a:tblPr firstRow="1" bandRow="1">
                <a:tableStyleId>{5940675A-B579-460E-94D1-54222C63F5DA}</a:tableStyleId>
              </a:tblPr>
              <a:tblGrid>
                <a:gridCol w="1798320"/>
                <a:gridCol w="1831340"/>
                <a:gridCol w="1609725"/>
                <a:gridCol w="1491615"/>
                <a:gridCol w="1548130"/>
              </a:tblGrid>
              <a:tr h="344848">
                <a:tc>
                  <a:txBody>
                    <a:bodyPr/>
                    <a:lstStyle/>
                    <a:p>
                      <a:pPr marL="0" indent="0" algn="l">
                        <a:buNone/>
                      </a:pPr>
                      <a:r>
                        <a:rPr lang="en-US" altLang="zh-CN" sz="1800" b="0" i="1" u="none" dirty="0" smtClean="0">
                          <a:latin typeface="Times New Roman" panose="02020603050405020304" pitchFamily="18" charset="0"/>
                          <a:ea typeface="宋体" panose="02010600030101010101" pitchFamily="2" charset="-122"/>
                          <a:cs typeface="宋体" panose="02010600030101010101" pitchFamily="2" charset="-122"/>
                        </a:rPr>
                        <a:t>  a</a:t>
                      </a:r>
                      <a:r>
                        <a:rPr lang="en-US" altLang="zh-CN" sz="1800" b="0" u="none" baseline="-25000" dirty="0" smtClean="0">
                          <a:latin typeface="Times New Roman" panose="02020603050405020304" pitchFamily="18" charset="0"/>
                          <a:ea typeface="宋体" panose="02010600030101010101" pitchFamily="2" charset="-122"/>
                          <a:cs typeface="宋体" panose="02010600030101010101" pitchFamily="2" charset="-122"/>
                        </a:rPr>
                        <a:t>11 </a:t>
                      </a:r>
                      <a:r>
                        <a:rPr lang="en-US" altLang="zh-CN" sz="1800" b="0" i="1" u="none" dirty="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a:latin typeface="Times New Roman" panose="02020603050405020304" pitchFamily="18" charset="0"/>
                          <a:ea typeface="宋体" panose="02010600030101010101" pitchFamily="2" charset="-122"/>
                          <a:cs typeface="宋体" panose="02010600030101010101" pitchFamily="2" charset="-122"/>
                        </a:rPr>
                        <a:t>12</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u="none" dirty="0">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i="1" u="none" dirty="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a:latin typeface="Times New Roman" panose="02020603050405020304" pitchFamily="18" charset="0"/>
                          <a:ea typeface="宋体" panose="02010600030101010101" pitchFamily="2" charset="-122"/>
                          <a:cs typeface="宋体" panose="02010600030101010101" pitchFamily="2" charset="-122"/>
                        </a:rPr>
                        <a:t>1</a:t>
                      </a:r>
                      <a:r>
                        <a:rPr lang="en-US" altLang="zh-CN" sz="1800" b="0" i="1" u="none" baseline="-25000" dirty="0">
                          <a:latin typeface="Times New Roman" panose="02020603050405020304" pitchFamily="18" charset="0"/>
                          <a:ea typeface="宋体" panose="02010600030101010101" pitchFamily="2" charset="-122"/>
                          <a:cs typeface="宋体" panose="02010600030101010101" pitchFamily="2" charset="-122"/>
                        </a:rPr>
                        <a:t>n</a:t>
                      </a:r>
                      <a:endParaRPr lang="en-US" altLang="zh-CN" sz="1800" b="0" i="1" u="none"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dirty="0" smtClean="0">
                          <a:latin typeface="Times New Roman" panose="02020603050405020304" pitchFamily="18" charset="0"/>
                          <a:ea typeface="宋体" panose="02010600030101010101" pitchFamily="2" charset="-122"/>
                          <a:cs typeface="宋体" panose="02010600030101010101" pitchFamily="2" charset="-122"/>
                        </a:rPr>
                        <a:t>   </a:t>
                      </a:r>
                      <a:r>
                        <a:rPr lang="en-US" altLang="zh-CN" sz="1800" b="0" i="1" u="none" dirty="0" smtClean="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smtClean="0">
                          <a:latin typeface="Times New Roman" panose="02020603050405020304" pitchFamily="18" charset="0"/>
                          <a:ea typeface="宋体" panose="02010600030101010101" pitchFamily="2" charset="-122"/>
                          <a:cs typeface="宋体" panose="02010600030101010101" pitchFamily="2" charset="-122"/>
                        </a:rPr>
                        <a:t>21 </a:t>
                      </a:r>
                      <a:r>
                        <a:rPr lang="en-US" altLang="zh-CN" sz="1800" b="0" i="1" u="none" dirty="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a:latin typeface="Times New Roman" panose="02020603050405020304" pitchFamily="18" charset="0"/>
                          <a:ea typeface="宋体" panose="02010600030101010101" pitchFamily="2" charset="-122"/>
                          <a:cs typeface="宋体" panose="02010600030101010101" pitchFamily="2" charset="-122"/>
                        </a:rPr>
                        <a:t>22</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u="none" dirty="0">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2000" i="1" kern="1200" baseline="0" dirty="0">
                          <a:solidFill>
                            <a:schemeClr val="tx1"/>
                          </a:solidFill>
                          <a:latin typeface="Times New Roman" panose="02020603050405020304" pitchFamily="18" charset="0"/>
                          <a:ea typeface="仿宋" panose="02010609060101010101" pitchFamily="49" charset="-122"/>
                          <a:cs typeface="+mn-cs"/>
                        </a:rPr>
                        <a:t> </a:t>
                      </a:r>
                      <a:r>
                        <a:rPr lang="en-US" altLang="zh-CN" sz="1800" b="0" i="1" u="none" dirty="0" smtClean="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smtClean="0">
                          <a:latin typeface="Times New Roman" panose="02020603050405020304" pitchFamily="18" charset="0"/>
                          <a:ea typeface="宋体" panose="02010600030101010101" pitchFamily="2" charset="-122"/>
                          <a:cs typeface="宋体" panose="02010600030101010101" pitchFamily="2" charset="-122"/>
                        </a:rPr>
                        <a:t>2</a:t>
                      </a:r>
                      <a:r>
                        <a:rPr lang="en-US" altLang="zh-CN" sz="1800" b="0" i="1" u="none" baseline="-25000" dirty="0" smtClean="0">
                          <a:latin typeface="Times New Roman" panose="02020603050405020304" pitchFamily="18" charset="0"/>
                          <a:ea typeface="宋体" panose="02010600030101010101" pitchFamily="2" charset="-122"/>
                          <a:cs typeface="宋体" panose="02010600030101010101" pitchFamily="2" charset="-122"/>
                        </a:rPr>
                        <a:t>n</a:t>
                      </a:r>
                      <a:endParaRPr lang="en-US" altLang="zh-CN" sz="1800" b="0" i="1" u="none"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dirty="0" smtClean="0">
                          <a:latin typeface="Times New Roman" panose="02020603050405020304" pitchFamily="18" charset="0"/>
                          <a:ea typeface="宋体" panose="02010600030101010101" pitchFamily="2" charset="-122"/>
                          <a:cs typeface="宋体" panose="02010600030101010101" pitchFamily="2" charset="-122"/>
                        </a:rPr>
                        <a:t>   </a:t>
                      </a:r>
                      <a:r>
                        <a:rPr lang="en-US" altLang="zh-CN" sz="1800" b="0" i="1" u="none" dirty="0" smtClean="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smtClean="0">
                          <a:latin typeface="Times New Roman" panose="02020603050405020304" pitchFamily="18" charset="0"/>
                          <a:ea typeface="宋体" panose="02010600030101010101" pitchFamily="2" charset="-122"/>
                          <a:cs typeface="宋体" panose="02010600030101010101" pitchFamily="2" charset="-122"/>
                        </a:rPr>
                        <a:t>31 </a:t>
                      </a:r>
                      <a:r>
                        <a:rPr lang="en-US" altLang="zh-CN" sz="1800" b="0" i="1" u="none" dirty="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a:latin typeface="Times New Roman" panose="02020603050405020304" pitchFamily="18" charset="0"/>
                          <a:ea typeface="宋体" panose="02010600030101010101" pitchFamily="2" charset="-122"/>
                          <a:cs typeface="宋体" panose="02010600030101010101" pitchFamily="2" charset="-122"/>
                        </a:rPr>
                        <a:t>32</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u="none" dirty="0">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i="1" u="none" dirty="0" smtClean="0">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25000" dirty="0" smtClean="0">
                          <a:latin typeface="Times New Roman" panose="02020603050405020304" pitchFamily="18" charset="0"/>
                          <a:ea typeface="宋体" panose="02010600030101010101" pitchFamily="2" charset="-122"/>
                          <a:cs typeface="宋体" panose="02010600030101010101" pitchFamily="2" charset="-122"/>
                        </a:rPr>
                        <a:t>2</a:t>
                      </a:r>
                      <a:r>
                        <a:rPr lang="en-US" altLang="zh-CN" sz="1800" b="0" i="1" u="none" baseline="-25000" dirty="0" smtClean="0">
                          <a:latin typeface="Times New Roman" panose="02020603050405020304" pitchFamily="18" charset="0"/>
                          <a:ea typeface="宋体" panose="02010600030101010101" pitchFamily="2" charset="-122"/>
                          <a:cs typeface="宋体" panose="02010600030101010101" pitchFamily="2" charset="-122"/>
                        </a:rPr>
                        <a:t>n</a:t>
                      </a:r>
                      <a:endParaRPr lang="en-US" altLang="zh-CN" sz="1800" b="0" i="1" u="none"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dirty="0" smtClean="0">
                          <a:latin typeface="Times New Roman" panose="02020603050405020304" pitchFamily="18" charset="0"/>
                          <a:ea typeface="宋体" panose="02010600030101010101" pitchFamily="2" charset="-122"/>
                          <a:cs typeface="宋体" panose="02010600030101010101" pitchFamily="2" charset="-122"/>
                        </a:rPr>
                        <a:t>    …  </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  </a:t>
                      </a:r>
                      <a:endParaRPr lang="en-US" altLang="zh-CN" sz="1800" b="0" u="none"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en-US" altLang="zh-CN" sz="1800" b="0" u="none" dirty="0" smtClean="0">
                          <a:latin typeface="Times New Roman" panose="02020603050405020304" pitchFamily="18" charset="0"/>
                          <a:ea typeface="宋体" panose="02010600030101010101" pitchFamily="2" charset="-122"/>
                          <a:cs typeface="宋体" panose="02010600030101010101" pitchFamily="2" charset="-122"/>
                        </a:rPr>
                        <a:t>  </a:t>
                      </a:r>
                      <a:r>
                        <a:rPr lang="en-US" altLang="zh-CN" sz="1800" b="0" i="1" u="none" dirty="0" smtClean="0">
                          <a:latin typeface="Times New Roman" panose="02020603050405020304" pitchFamily="18" charset="0"/>
                          <a:ea typeface="宋体" panose="02010600030101010101" pitchFamily="2" charset="-122"/>
                          <a:cs typeface="宋体" panose="02010600030101010101" pitchFamily="2" charset="-122"/>
                        </a:rPr>
                        <a:t>a</a:t>
                      </a:r>
                      <a:r>
                        <a:rPr lang="en-US" altLang="zh-CN" sz="1800" b="0" i="1" u="none" baseline="-25000" dirty="0" smtClean="0">
                          <a:latin typeface="Times New Roman" panose="02020603050405020304" pitchFamily="18" charset="0"/>
                          <a:ea typeface="宋体" panose="02010600030101010101" pitchFamily="2" charset="-122"/>
                          <a:cs typeface="宋体" panose="02010600030101010101" pitchFamily="2" charset="-122"/>
                        </a:rPr>
                        <a:t>m</a:t>
                      </a:r>
                      <a:r>
                        <a:rPr lang="en-US" altLang="zh-CN" sz="1800" b="0" u="none" baseline="-25000" dirty="0" smtClean="0">
                          <a:latin typeface="Times New Roman" panose="02020603050405020304" pitchFamily="18" charset="0"/>
                          <a:ea typeface="宋体" panose="02010600030101010101" pitchFamily="2" charset="-122"/>
                          <a:cs typeface="宋体" panose="02010600030101010101" pitchFamily="2" charset="-122"/>
                        </a:rPr>
                        <a:t>1 </a:t>
                      </a:r>
                      <a:r>
                        <a:rPr lang="en-US" altLang="zh-CN" sz="1800" b="0" i="1" u="none" dirty="0">
                          <a:latin typeface="Times New Roman" panose="02020603050405020304" pitchFamily="18" charset="0"/>
                          <a:ea typeface="宋体" panose="02010600030101010101" pitchFamily="2" charset="-122"/>
                          <a:cs typeface="宋体" panose="02010600030101010101" pitchFamily="2" charset="-122"/>
                        </a:rPr>
                        <a:t>a</a:t>
                      </a:r>
                      <a:r>
                        <a:rPr lang="en-US" altLang="zh-CN" sz="1800" b="0" i="1" u="none" baseline="-25000" dirty="0">
                          <a:latin typeface="Times New Roman" panose="02020603050405020304" pitchFamily="18" charset="0"/>
                          <a:ea typeface="宋体" panose="02010600030101010101" pitchFamily="2" charset="-122"/>
                          <a:cs typeface="宋体" panose="02010600030101010101" pitchFamily="2" charset="-122"/>
                        </a:rPr>
                        <a:t>m</a:t>
                      </a:r>
                      <a:r>
                        <a:rPr lang="en-US" altLang="zh-CN" sz="1800" b="0" u="none" baseline="-25000" dirty="0">
                          <a:latin typeface="Times New Roman" panose="02020603050405020304" pitchFamily="18" charset="0"/>
                          <a:ea typeface="宋体" panose="02010600030101010101" pitchFamily="2" charset="-122"/>
                          <a:cs typeface="宋体" panose="02010600030101010101" pitchFamily="2" charset="-122"/>
                        </a:rPr>
                        <a:t>2</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u="none" dirty="0">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800" b="0" u="none" dirty="0">
                          <a:latin typeface="Times New Roman" panose="02020603050405020304" pitchFamily="18" charset="0"/>
                          <a:ea typeface="宋体" panose="02010600030101010101" pitchFamily="2" charset="-122"/>
                          <a:cs typeface="宋体" panose="02010600030101010101" pitchFamily="2" charset="-122"/>
                        </a:rPr>
                        <a:t> </a:t>
                      </a:r>
                      <a:r>
                        <a:rPr lang="en-US" altLang="zh-CN" sz="1800" b="0" i="1" u="none" dirty="0" err="1">
                          <a:latin typeface="Times New Roman" panose="02020603050405020304" pitchFamily="18" charset="0"/>
                          <a:ea typeface="宋体" panose="02010600030101010101" pitchFamily="2" charset="-122"/>
                          <a:cs typeface="宋体" panose="02010600030101010101" pitchFamily="2" charset="-122"/>
                        </a:rPr>
                        <a:t>a</a:t>
                      </a:r>
                      <a:r>
                        <a:rPr lang="en-US" altLang="zh-CN" sz="1800" b="0" i="1" u="none" baseline="-25000" dirty="0" err="1">
                          <a:latin typeface="Times New Roman" panose="02020603050405020304" pitchFamily="18" charset="0"/>
                          <a:ea typeface="宋体" panose="02010600030101010101" pitchFamily="2" charset="-122"/>
                          <a:cs typeface="宋体" panose="02010600030101010101" pitchFamily="2" charset="-122"/>
                        </a:rPr>
                        <a:t>mn</a:t>
                      </a:r>
                      <a:endParaRPr lang="en-US" altLang="zh-CN" sz="1800" b="0" i="1" u="none"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linds(horizontal)">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linds(horizont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Effect transition="in" filter="blinds(horizontal)">
                                      <p:cBhvr>
                                        <p:cTn id="55"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 grpId="0" animBg="1"/>
      <p:bldP spid="10" grpId="0" animBg="1"/>
      <p:bldP spid="12" grpId="0" animBg="1"/>
      <p:bldP spid="15" grpId="0" animBg="1"/>
      <p:bldP spid="17" grpId="0" animBg="1"/>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785926"/>
            <a:ext cx="8298592" cy="4335257"/>
          </a:xfrm>
        </p:spPr>
        <p:txBody>
          <a:bodyPr/>
          <a:lstStyle/>
          <a:p>
            <a:pPr>
              <a:buClr>
                <a:srgbClr val="FF0000"/>
              </a:buClr>
              <a:buFont typeface="Wingdings" panose="05000000000000000000" pitchFamily="2" charset="2"/>
              <a:buChar char="p"/>
            </a:pPr>
            <a:r>
              <a:rPr lang="zh-CN" altLang="en-US" sz="2000" b="1" dirty="0" smtClean="0"/>
              <a:t>由于</a:t>
            </a:r>
            <a:r>
              <a:rPr lang="zh-CN" altLang="en-US" sz="2000" b="1" dirty="0"/>
              <a:t>顺序存储方式的规律性，较易实现数组元素的</a:t>
            </a:r>
            <a:r>
              <a:rPr lang="zh-CN" altLang="en-US" sz="2000" b="1" dirty="0" smtClean="0"/>
              <a:t>地址求解：</a:t>
            </a:r>
            <a:endParaRPr lang="zh-CN" altLang="en-US" sz="2000" b="1" dirty="0"/>
          </a:p>
          <a:p>
            <a:pPr>
              <a:buClr>
                <a:srgbClr val="FF0000"/>
              </a:buClr>
              <a:buFont typeface="Wingdings" panose="05000000000000000000" pitchFamily="2" charset="2"/>
              <a:buChar char="p"/>
            </a:pPr>
            <a:r>
              <a:rPr lang="zh-CN" altLang="en-US" sz="2000" b="1" dirty="0"/>
              <a:t>对给定的二维数组的元素</a:t>
            </a:r>
            <a:r>
              <a:rPr lang="zh-CN" altLang="en-US" sz="2000" b="1" dirty="0" smtClean="0"/>
              <a:t>A</a:t>
            </a:r>
            <a:r>
              <a:rPr lang="en-US" altLang="zh-CN" sz="2000" b="1" dirty="0" smtClean="0"/>
              <a:t>[</a:t>
            </a:r>
            <a:r>
              <a:rPr lang="zh-CN" altLang="en-US" sz="2000" b="1" i="1" dirty="0" smtClean="0"/>
              <a:t>i</a:t>
            </a:r>
            <a:r>
              <a:rPr lang="zh-CN" altLang="en-US" sz="2000" b="1" dirty="0" smtClean="0"/>
              <a:t>, </a:t>
            </a:r>
            <a:r>
              <a:rPr lang="zh-CN" altLang="en-US" sz="2000" b="1" i="1" dirty="0" smtClean="0"/>
              <a:t>j</a:t>
            </a:r>
            <a:r>
              <a:rPr lang="en-US" altLang="zh-CN" sz="2000" b="1" dirty="0"/>
              <a:t>]</a:t>
            </a:r>
            <a:r>
              <a:rPr lang="zh-CN" altLang="en-US" sz="2000" b="1" dirty="0" smtClean="0"/>
              <a:t>，</a:t>
            </a:r>
            <a:endParaRPr lang="en-US" altLang="zh-CN" sz="2000" b="1" dirty="0"/>
          </a:p>
          <a:p>
            <a:pPr>
              <a:buClr>
                <a:srgbClr val="FF0000"/>
              </a:buClr>
              <a:buFont typeface="Wingdings" panose="05000000000000000000" pitchFamily="2" charset="2"/>
              <a:buChar char="p"/>
            </a:pPr>
            <a:r>
              <a:rPr lang="zh-CN" altLang="en-US" sz="2000" b="1" dirty="0">
                <a:solidFill>
                  <a:srgbClr val="FF0000"/>
                </a:solidFill>
              </a:rPr>
              <a:t>行优先存储方式</a:t>
            </a:r>
            <a:r>
              <a:rPr lang="zh-CN" altLang="en-US" sz="2000" b="1" dirty="0"/>
              <a:t>中，该元素的</a:t>
            </a:r>
            <a:r>
              <a:rPr lang="zh-CN" altLang="en-US" sz="2000" b="1" dirty="0">
                <a:solidFill>
                  <a:srgbClr val="FF0000"/>
                </a:solidFill>
              </a:rPr>
              <a:t>序号</a:t>
            </a:r>
            <a:r>
              <a:rPr lang="zh-CN" altLang="en-US" sz="2000" b="1" dirty="0"/>
              <a:t>为：</a:t>
            </a:r>
            <a:endParaRPr lang="en-US" altLang="zh-CN" sz="2000" b="1" dirty="0"/>
          </a:p>
          <a:p>
            <a:pPr lvl="1">
              <a:buClr>
                <a:srgbClr val="FF0000"/>
              </a:buClr>
              <a:buFont typeface="Wingdings" panose="05000000000000000000" pitchFamily="2" charset="2"/>
              <a:buChar char="p"/>
            </a:pPr>
            <a:r>
              <a:rPr lang="zh-CN" altLang="en-US" sz="1800" b="1" dirty="0"/>
              <a:t>Num(</a:t>
            </a:r>
            <a:r>
              <a:rPr lang="zh-CN" altLang="en-US" sz="1800" b="1" i="1" dirty="0"/>
              <a:t>i</a:t>
            </a:r>
            <a:r>
              <a:rPr lang="zh-CN" altLang="en-US" sz="1800" b="1" dirty="0" smtClean="0"/>
              <a:t>, </a:t>
            </a:r>
            <a:r>
              <a:rPr lang="zh-CN" altLang="en-US" sz="1800" b="1" i="1" dirty="0" smtClean="0"/>
              <a:t>j</a:t>
            </a:r>
            <a:r>
              <a:rPr lang="zh-CN" altLang="en-US" sz="1800" b="1" dirty="0"/>
              <a:t>)=(</a:t>
            </a:r>
            <a:r>
              <a:rPr lang="zh-CN" altLang="en-US" sz="1800" b="1" i="1" dirty="0"/>
              <a:t>i</a:t>
            </a:r>
            <a:r>
              <a:rPr lang="zh-CN" altLang="en-US" sz="1800" b="1" dirty="0"/>
              <a:t>-1)*</a:t>
            </a:r>
            <a:r>
              <a:rPr lang="zh-CN" altLang="en-US" sz="1800" b="1" i="1" dirty="0"/>
              <a:t>n</a:t>
            </a:r>
            <a:r>
              <a:rPr lang="zh-CN" altLang="en-US" sz="1800" b="1" dirty="0"/>
              <a:t>+</a:t>
            </a:r>
            <a:r>
              <a:rPr lang="zh-CN" altLang="en-US" sz="1800" b="1" i="1" dirty="0"/>
              <a:t>j</a:t>
            </a:r>
            <a:r>
              <a:rPr lang="zh-CN" altLang="en-US" sz="1800" b="1" dirty="0"/>
              <a:t>，</a:t>
            </a:r>
            <a:endParaRPr lang="en-US" altLang="zh-CN" sz="1800" b="1" dirty="0"/>
          </a:p>
          <a:p>
            <a:pPr>
              <a:buFont typeface="Wingdings" panose="05000000000000000000" pitchFamily="2" charset="2"/>
              <a:buChar char="p"/>
            </a:pPr>
            <a:r>
              <a:rPr lang="zh-CN" altLang="en-US" sz="2000" b="1" dirty="0">
                <a:solidFill>
                  <a:srgbClr val="FF0000"/>
                </a:solidFill>
              </a:rPr>
              <a:t>列优先存储方式</a:t>
            </a:r>
            <a:r>
              <a:rPr lang="zh-CN" altLang="en-US" sz="2000" b="1" dirty="0"/>
              <a:t>中，该元素的</a:t>
            </a:r>
            <a:r>
              <a:rPr lang="zh-CN" altLang="en-US" sz="2000" b="1" dirty="0">
                <a:solidFill>
                  <a:srgbClr val="FF0000"/>
                </a:solidFill>
              </a:rPr>
              <a:t>序号</a:t>
            </a:r>
            <a:r>
              <a:rPr lang="zh-CN" altLang="en-US" sz="2000" b="1" dirty="0"/>
              <a:t>为：</a:t>
            </a:r>
            <a:endParaRPr lang="en-US" altLang="zh-CN" sz="2000" b="1" dirty="0"/>
          </a:p>
          <a:p>
            <a:pPr lvl="1">
              <a:buClr>
                <a:srgbClr val="FF0000"/>
              </a:buClr>
              <a:buFont typeface="Wingdings" panose="05000000000000000000" pitchFamily="2" charset="2"/>
              <a:buChar char="p"/>
            </a:pPr>
            <a:r>
              <a:rPr lang="zh-CN" altLang="en-US" sz="1800" b="1" dirty="0"/>
              <a:t>Num(</a:t>
            </a:r>
            <a:r>
              <a:rPr lang="zh-CN" altLang="en-US" sz="1800" b="1" i="1" dirty="0"/>
              <a:t>i</a:t>
            </a:r>
            <a:r>
              <a:rPr lang="zh-CN" altLang="en-US" sz="1800" b="1" dirty="0" smtClean="0"/>
              <a:t>, </a:t>
            </a:r>
            <a:r>
              <a:rPr lang="zh-CN" altLang="en-US" sz="1800" b="1" i="1" dirty="0" smtClean="0"/>
              <a:t>j</a:t>
            </a:r>
            <a:r>
              <a:rPr lang="zh-CN" altLang="en-US" sz="1800" b="1" dirty="0"/>
              <a:t>)=(</a:t>
            </a:r>
            <a:r>
              <a:rPr lang="zh-CN" altLang="en-US" sz="1800" b="1" i="1" dirty="0"/>
              <a:t>j</a:t>
            </a:r>
            <a:r>
              <a:rPr lang="zh-CN" altLang="en-US" sz="1800" b="1" dirty="0"/>
              <a:t>-1)*</a:t>
            </a:r>
            <a:r>
              <a:rPr lang="zh-CN" altLang="en-US" sz="1800" b="1" i="1" dirty="0"/>
              <a:t>m</a:t>
            </a:r>
            <a:r>
              <a:rPr lang="zh-CN" altLang="en-US" sz="1800" b="1" dirty="0"/>
              <a:t>+</a:t>
            </a:r>
            <a:r>
              <a:rPr lang="zh-CN" altLang="en-US" sz="1800" b="1" i="1" dirty="0"/>
              <a:t>i</a:t>
            </a:r>
            <a:r>
              <a:rPr lang="zh-CN" altLang="en-US" sz="1800" b="1" dirty="0"/>
              <a:t>。</a:t>
            </a:r>
            <a:endParaRPr lang="zh-CN" altLang="en-US" sz="1800" b="1" dirty="0"/>
          </a:p>
          <a:p>
            <a:pPr>
              <a:buClr>
                <a:srgbClr val="FF0000"/>
              </a:buClr>
              <a:buFont typeface="Wingdings" panose="05000000000000000000" pitchFamily="2" charset="2"/>
              <a:buChar char="p"/>
            </a:pPr>
            <a:r>
              <a:rPr lang="zh-CN" altLang="en-US" sz="2000" b="1" dirty="0"/>
              <a:t>若给定存储区的起始地址为</a:t>
            </a:r>
            <a:r>
              <a:rPr lang="zh-CN" altLang="en-US" sz="2000" b="1" i="1" dirty="0"/>
              <a:t>Addr0</a:t>
            </a:r>
            <a:r>
              <a:rPr lang="zh-CN" altLang="en-US" sz="2000" b="1" dirty="0"/>
              <a:t>,每个元素占</a:t>
            </a:r>
            <a:r>
              <a:rPr lang="zh-CN" altLang="en-US" sz="2000" b="1" i="1" dirty="0"/>
              <a:t>c</a:t>
            </a:r>
            <a:r>
              <a:rPr lang="zh-CN" altLang="en-US" sz="2000" b="1" dirty="0"/>
              <a:t>个单元，</a:t>
            </a:r>
            <a:endParaRPr lang="en-US" altLang="zh-CN" sz="2000" b="1" dirty="0"/>
          </a:p>
          <a:p>
            <a:pPr>
              <a:buClr>
                <a:srgbClr val="FF0000"/>
              </a:buClr>
              <a:buFont typeface="Wingdings" panose="05000000000000000000" pitchFamily="2" charset="2"/>
              <a:buChar char="p"/>
            </a:pPr>
            <a:r>
              <a:rPr lang="zh-CN" altLang="en-US" sz="2000" b="1" dirty="0"/>
              <a:t>则</a:t>
            </a:r>
            <a:r>
              <a:rPr lang="zh-CN" altLang="en-US" sz="2000" b="1" dirty="0" smtClean="0"/>
              <a:t>元素</a:t>
            </a:r>
            <a:r>
              <a:rPr lang="zh-CN" altLang="en-US" sz="2000" b="1" dirty="0"/>
              <a:t>A</a:t>
            </a:r>
            <a:r>
              <a:rPr lang="en-US" altLang="zh-CN" sz="2000" b="1" dirty="0"/>
              <a:t>[</a:t>
            </a:r>
            <a:r>
              <a:rPr lang="zh-CN" altLang="en-US" sz="2000" b="1" i="1" dirty="0"/>
              <a:t>i</a:t>
            </a:r>
            <a:r>
              <a:rPr lang="zh-CN" altLang="en-US" sz="2000" b="1" dirty="0"/>
              <a:t>, </a:t>
            </a:r>
            <a:r>
              <a:rPr lang="zh-CN" altLang="en-US" sz="2000" b="1" i="1" dirty="0"/>
              <a:t>j</a:t>
            </a:r>
            <a:r>
              <a:rPr lang="en-US" altLang="zh-CN" sz="2000" b="1" dirty="0"/>
              <a:t>]</a:t>
            </a:r>
            <a:r>
              <a:rPr lang="zh-CN" altLang="en-US" sz="2000" b="1" dirty="0" smtClean="0"/>
              <a:t>在</a:t>
            </a:r>
            <a:r>
              <a:rPr lang="zh-CN" altLang="en-US" sz="2000" b="1" dirty="0"/>
              <a:t>内存中的</a:t>
            </a:r>
            <a:r>
              <a:rPr lang="zh-CN" altLang="en-US" sz="2000" b="1" dirty="0">
                <a:solidFill>
                  <a:srgbClr val="FF0000"/>
                </a:solidFill>
              </a:rPr>
              <a:t>地址</a:t>
            </a:r>
            <a:r>
              <a:rPr lang="zh-CN" altLang="en-US" sz="2000" b="1" dirty="0"/>
              <a:t>为：Loc</a:t>
            </a:r>
            <a:r>
              <a:rPr lang="zh-CN" altLang="en-US" sz="2000" b="1" dirty="0" smtClean="0"/>
              <a:t>(</a:t>
            </a:r>
            <a:r>
              <a:rPr lang="zh-CN" altLang="en-US" sz="2000" b="1" i="1" dirty="0"/>
              <a:t>i</a:t>
            </a:r>
            <a:r>
              <a:rPr lang="zh-CN" altLang="en-US" sz="2000" b="1" dirty="0"/>
              <a:t>, </a:t>
            </a:r>
            <a:r>
              <a:rPr lang="zh-CN" altLang="en-US" sz="2000" b="1" i="1" dirty="0"/>
              <a:t>j</a:t>
            </a:r>
            <a:r>
              <a:rPr lang="zh-CN" altLang="en-US" sz="2000" b="1" dirty="0" smtClean="0"/>
              <a:t>)=</a:t>
            </a:r>
            <a:r>
              <a:rPr lang="zh-CN" altLang="en-US" sz="2000" b="1" i="1" dirty="0"/>
              <a:t>Addr0</a:t>
            </a:r>
            <a:r>
              <a:rPr lang="zh-CN" altLang="en-US" sz="2000" b="1" dirty="0"/>
              <a:t>+(Num</a:t>
            </a:r>
            <a:r>
              <a:rPr lang="zh-CN" altLang="en-US" sz="2000" b="1" dirty="0" smtClean="0"/>
              <a:t>(</a:t>
            </a:r>
            <a:r>
              <a:rPr lang="zh-CN" altLang="en-US" sz="2000" b="1" i="1" dirty="0"/>
              <a:t>i</a:t>
            </a:r>
            <a:r>
              <a:rPr lang="zh-CN" altLang="en-US" sz="2000" b="1" dirty="0"/>
              <a:t>, </a:t>
            </a:r>
            <a:r>
              <a:rPr lang="zh-CN" altLang="en-US" sz="2000" b="1" i="1" dirty="0"/>
              <a:t>j</a:t>
            </a:r>
            <a:r>
              <a:rPr lang="zh-CN" altLang="en-US" sz="2000" b="1" dirty="0" smtClean="0"/>
              <a:t>)-</a:t>
            </a:r>
            <a:r>
              <a:rPr lang="zh-CN" altLang="en-US" sz="2000" b="1" dirty="0"/>
              <a:t>1)*</a:t>
            </a:r>
            <a:r>
              <a:rPr lang="zh-CN" altLang="en-US" sz="2000" b="1" i="1" dirty="0"/>
              <a:t>c</a:t>
            </a:r>
            <a:r>
              <a:rPr lang="zh-CN" altLang="en-US" sz="2000" b="1" dirty="0"/>
              <a:t>。</a:t>
            </a:r>
            <a:endParaRPr lang="zh-CN" altLang="en-US" sz="2000" b="1" dirty="0"/>
          </a:p>
          <a:p>
            <a:pPr>
              <a:buClr>
                <a:srgbClr val="FF0000"/>
              </a:buClr>
              <a:buFont typeface="Wingdings" panose="05000000000000000000" pitchFamily="2" charset="2"/>
              <a:buChar char="p"/>
            </a:pPr>
            <a:r>
              <a:rPr lang="zh-CN" altLang="en-US" sz="2000" b="1" dirty="0">
                <a:solidFill>
                  <a:srgbClr val="FF0000"/>
                </a:solidFill>
              </a:rPr>
              <a:t>需要说明的是</a:t>
            </a:r>
            <a:r>
              <a:rPr lang="zh-CN" altLang="en-US" sz="2000" b="1" dirty="0"/>
              <a:t>：此处所给出的数组的行、列下标是按序号从1 开始的，然而，</a:t>
            </a:r>
            <a:r>
              <a:rPr lang="zh-CN" altLang="en-US" sz="2000" b="1" dirty="0">
                <a:solidFill>
                  <a:srgbClr val="0000FF"/>
                </a:solidFill>
              </a:rPr>
              <a:t>在</a:t>
            </a:r>
            <a:r>
              <a:rPr lang="zh-CN" altLang="en-US" sz="2000" b="1" dirty="0" smtClean="0">
                <a:solidFill>
                  <a:srgbClr val="0000FF"/>
                </a:solidFill>
              </a:rPr>
              <a:t>C</a:t>
            </a:r>
            <a:r>
              <a:rPr lang="en-US" altLang="zh-CN" sz="2000" b="1" dirty="0" smtClean="0">
                <a:solidFill>
                  <a:srgbClr val="0000FF"/>
                </a:solidFill>
              </a:rPr>
              <a:t>/</a:t>
            </a:r>
            <a:r>
              <a:rPr lang="zh-CN" altLang="en-US" sz="2000" b="1" dirty="0" smtClean="0">
                <a:solidFill>
                  <a:srgbClr val="0000FF"/>
                </a:solidFill>
              </a:rPr>
              <a:t>C</a:t>
            </a:r>
            <a:r>
              <a:rPr lang="zh-CN" altLang="en-US" sz="2000" b="1" dirty="0">
                <a:solidFill>
                  <a:srgbClr val="0000FF"/>
                </a:solidFill>
              </a:rPr>
              <a:t>++中，下标是从0 开始的，故计算</a:t>
            </a:r>
            <a:r>
              <a:rPr lang="zh-CN" altLang="en-US" sz="2000" b="1" dirty="0" smtClean="0">
                <a:solidFill>
                  <a:srgbClr val="0000FF"/>
                </a:solidFill>
              </a:rPr>
              <a:t>公式要略有变动。</a:t>
            </a:r>
            <a:endParaRPr lang="en-US" altLang="zh-CN" sz="2000" b="1" dirty="0" smtClean="0">
              <a:solidFill>
                <a:srgbClr val="0000FF"/>
              </a:solidFill>
            </a:endParaRPr>
          </a:p>
          <a:p>
            <a:pPr>
              <a:buClr>
                <a:srgbClr val="FF0000"/>
              </a:buClr>
              <a:buFont typeface="Wingdings" panose="05000000000000000000" pitchFamily="2" charset="2"/>
              <a:buChar char="p"/>
            </a:pPr>
            <a:r>
              <a:rPr lang="zh-CN" altLang="en-US" sz="2000" b="1" dirty="0" smtClean="0"/>
              <a:t>例如</a:t>
            </a:r>
            <a:r>
              <a:rPr lang="zh-CN" altLang="en-US" sz="2000" b="1" dirty="0"/>
              <a:t>，如果行列语言和数不变，但均是从0开始，则采用行优先时的序号计算公式变成 </a:t>
            </a:r>
            <a:r>
              <a:rPr lang="zh-CN" altLang="en-US" sz="2000" b="1" dirty="0">
                <a:solidFill>
                  <a:srgbClr val="FF0000"/>
                </a:solidFill>
              </a:rPr>
              <a:t>Num</a:t>
            </a:r>
            <a:r>
              <a:rPr lang="zh-CN" altLang="en-US" sz="2000" b="1" dirty="0" smtClean="0">
                <a:solidFill>
                  <a:srgbClr val="FF0000"/>
                </a:solidFill>
              </a:rPr>
              <a:t>(</a:t>
            </a:r>
            <a:r>
              <a:rPr lang="zh-CN" altLang="en-US" sz="2000" b="1" i="1" dirty="0">
                <a:solidFill>
                  <a:srgbClr val="FF0000"/>
                </a:solidFill>
              </a:rPr>
              <a:t>i</a:t>
            </a:r>
            <a:r>
              <a:rPr lang="zh-CN" altLang="en-US" sz="2000" b="1" dirty="0">
                <a:solidFill>
                  <a:srgbClr val="FF0000"/>
                </a:solidFill>
              </a:rPr>
              <a:t>, </a:t>
            </a:r>
            <a:r>
              <a:rPr lang="zh-CN" altLang="en-US" sz="2000" b="1" i="1" dirty="0">
                <a:solidFill>
                  <a:srgbClr val="FF0000"/>
                </a:solidFill>
              </a:rPr>
              <a:t>j</a:t>
            </a:r>
            <a:r>
              <a:rPr lang="zh-CN" altLang="en-US" sz="2000" b="1" dirty="0" smtClean="0">
                <a:solidFill>
                  <a:srgbClr val="FF0000"/>
                </a:solidFill>
              </a:rPr>
              <a:t>)=</a:t>
            </a:r>
            <a:r>
              <a:rPr lang="zh-CN" altLang="en-US" sz="2000" b="1" i="1" dirty="0">
                <a:solidFill>
                  <a:srgbClr val="FF0000"/>
                </a:solidFill>
              </a:rPr>
              <a:t>i</a:t>
            </a:r>
            <a:r>
              <a:rPr lang="zh-CN" altLang="en-US" sz="2000" b="1" dirty="0">
                <a:solidFill>
                  <a:srgbClr val="FF0000"/>
                </a:solidFill>
              </a:rPr>
              <a:t>*</a:t>
            </a:r>
            <a:r>
              <a:rPr lang="zh-CN" altLang="en-US" sz="2000" b="1" i="1" dirty="0">
                <a:solidFill>
                  <a:srgbClr val="FF0000"/>
                </a:solidFill>
              </a:rPr>
              <a:t>n</a:t>
            </a:r>
            <a:r>
              <a:rPr lang="zh-CN" altLang="en-US" sz="2000" b="1" dirty="0">
                <a:solidFill>
                  <a:srgbClr val="FF0000"/>
                </a:solidFill>
              </a:rPr>
              <a:t>+</a:t>
            </a:r>
            <a:r>
              <a:rPr lang="zh-CN" altLang="en-US" sz="2000" b="1" i="1" dirty="0">
                <a:solidFill>
                  <a:srgbClr val="FF0000"/>
                </a:solidFill>
              </a:rPr>
              <a:t>j</a:t>
            </a:r>
            <a:r>
              <a:rPr lang="zh-CN" altLang="en-US" sz="2000" b="1" dirty="0">
                <a:solidFill>
                  <a:srgbClr val="FF0000"/>
                </a:solidFill>
              </a:rPr>
              <a:t>+1</a:t>
            </a:r>
            <a:r>
              <a:rPr lang="zh-CN" altLang="en-US" sz="2000" b="1" dirty="0"/>
              <a:t>。</a:t>
            </a:r>
            <a:endParaRPr lang="zh-CN" altLang="en-US" sz="2000" b="1" dirty="0"/>
          </a:p>
        </p:txBody>
      </p:sp>
      <p:sp>
        <p:nvSpPr>
          <p:cNvPr id="6" name="灯片编号占位符 5"/>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sp>
        <p:nvSpPr>
          <p:cNvPr id="4" name="矩形 3"/>
          <p:cNvSpPr/>
          <p:nvPr/>
        </p:nvSpPr>
        <p:spPr>
          <a:xfrm>
            <a:off x="720463" y="1396482"/>
            <a:ext cx="3449983" cy="461665"/>
          </a:xfrm>
          <a:prstGeom prst="rect">
            <a:avLst/>
          </a:prstGeom>
        </p:spPr>
        <p:txBody>
          <a:bodyPr wrap="none">
            <a:spAutoFit/>
          </a:bodyPr>
          <a:lstStyle/>
          <a:p>
            <a:pPr marL="0" indent="0">
              <a:buNone/>
            </a:pPr>
            <a:r>
              <a:rPr lang="zh-CN" altLang="en-US" sz="2400" b="1" dirty="0">
                <a:solidFill>
                  <a:srgbClr val="0000FF"/>
                </a:solidFill>
              </a:rPr>
              <a:t>（</a:t>
            </a:r>
            <a:r>
              <a:rPr lang="en-US" altLang="zh-CN" sz="2400" b="1" dirty="0">
                <a:solidFill>
                  <a:srgbClr val="0000FF"/>
                </a:solidFill>
              </a:rPr>
              <a:t>3</a:t>
            </a:r>
            <a:r>
              <a:rPr lang="zh-CN" altLang="en-US" sz="2400" b="1" dirty="0">
                <a:solidFill>
                  <a:srgbClr val="0000FF"/>
                </a:solidFill>
              </a:rPr>
              <a:t>）元素存储地址计算</a:t>
            </a:r>
            <a:endParaRPr lang="en-US" altLang="zh-CN" sz="2400" b="1" dirty="0">
              <a:solidFill>
                <a:srgbClr val="0000FF"/>
              </a:solidFill>
            </a:endParaRPr>
          </a:p>
        </p:txBody>
      </p:sp>
      <p:sp>
        <p:nvSpPr>
          <p:cNvPr id="7" name="标题 1"/>
          <p:cNvSpPr txBox="1"/>
          <p:nvPr/>
        </p:nvSpPr>
        <p:spPr bwMode="auto">
          <a:xfrm>
            <a:off x="457739" y="774977"/>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457200" indent="-457200">
              <a:buClr>
                <a:srgbClr val="FF0000"/>
              </a:buClr>
            </a:pPr>
            <a:r>
              <a:rPr lang="en-US" altLang="zh-CN" sz="2800" dirty="0" smtClean="0">
                <a:solidFill>
                  <a:srgbClr val="FF0000"/>
                </a:solidFill>
                <a:latin typeface="Times New Roman" panose="02020603050405020304" pitchFamily="18" charset="0"/>
                <a:sym typeface="+mn-ea"/>
              </a:rPr>
              <a:t>6</a:t>
            </a:r>
            <a:r>
              <a:rPr lang="zh-CN" altLang="en-US" sz="2800" dirty="0" smtClean="0">
                <a:solidFill>
                  <a:srgbClr val="FF0000"/>
                </a:solidFill>
                <a:latin typeface="Times New Roman" panose="02020603050405020304" pitchFamily="18" charset="0"/>
                <a:sym typeface="+mn-ea"/>
              </a:rPr>
              <a:t>.</a:t>
            </a:r>
            <a:r>
              <a:rPr lang="en-US" altLang="zh-CN" sz="2800" dirty="0" smtClean="0">
                <a:solidFill>
                  <a:srgbClr val="FF0000"/>
                </a:solidFill>
                <a:latin typeface="Times New Roman" panose="02020603050405020304" pitchFamily="18" charset="0"/>
                <a:sym typeface="+mn-ea"/>
              </a:rPr>
              <a:t>2</a:t>
            </a:r>
            <a:r>
              <a:rPr lang="zh-CN" altLang="en-US" sz="2800" dirty="0" smtClean="0">
                <a:solidFill>
                  <a:srgbClr val="FF0000"/>
                </a:solidFill>
                <a:latin typeface="Times New Roman" panose="02020603050405020304" pitchFamily="18" charset="0"/>
                <a:sym typeface="+mn-ea"/>
              </a:rPr>
              <a:t>.2 数组的顺序存储</a:t>
            </a:r>
            <a:endParaRPr lang="zh-CN" altLang="en-US" sz="2800" dirty="0">
              <a:solidFill>
                <a:srgbClr val="FF0000"/>
              </a:solidFill>
              <a:latin typeface="Times New Roman" panose="02020603050405020304" pitchFamily="18" charset="0"/>
            </a:endParaRPr>
          </a:p>
        </p:txBody>
      </p:sp>
      <p:grpSp>
        <p:nvGrpSpPr>
          <p:cNvPr id="8" name="组合 114"/>
          <p:cNvGrpSpPr/>
          <p:nvPr/>
        </p:nvGrpSpPr>
        <p:grpSpPr>
          <a:xfrm>
            <a:off x="-900608" y="86081"/>
            <a:ext cx="6225040" cy="710938"/>
            <a:chOff x="-522583" y="3380569"/>
            <a:chExt cx="6225040" cy="710938"/>
          </a:xfrm>
        </p:grpSpPr>
        <p:grpSp>
          <p:nvGrpSpPr>
            <p:cNvPr id="9" name="组合 105"/>
            <p:cNvGrpSpPr/>
            <p:nvPr/>
          </p:nvGrpSpPr>
          <p:grpSpPr>
            <a:xfrm>
              <a:off x="-522583" y="3380569"/>
              <a:ext cx="6225040" cy="710938"/>
              <a:chOff x="-522583" y="3380569"/>
              <a:chExt cx="6225040" cy="710938"/>
            </a:xfrm>
          </p:grpSpPr>
          <p:sp>
            <p:nvSpPr>
              <p:cNvPr id="11"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2" name="TextBox 6"/>
              <p:cNvSpPr txBox="1">
                <a:spLocks noChangeArrowheads="1"/>
              </p:cNvSpPr>
              <p:nvPr/>
            </p:nvSpPr>
            <p:spPr bwMode="auto">
              <a:xfrm>
                <a:off x="-522583" y="3380569"/>
                <a:ext cx="6225040" cy="71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6.2 </a:t>
                </a:r>
                <a:r>
                  <a:rPr lang="zh-CN" altLang="en-US" sz="3600" b="1" dirty="0" smtClean="0">
                    <a:latin typeface="Times New Roman" panose="02020603050405020304" pitchFamily="18" charset="0"/>
                    <a:ea typeface="黑体" panose="02010609060101010101" pitchFamily="49" charset="-122"/>
                  </a:rPr>
                  <a:t>数组</a:t>
                </a:r>
                <a:endParaRPr lang="zh-CN" altLang="en-US" sz="3600" b="1" dirty="0">
                  <a:latin typeface="Times New Roman" panose="02020603050405020304" pitchFamily="18" charset="0"/>
                  <a:ea typeface="黑体" panose="02010609060101010101" pitchFamily="49" charset="-122"/>
                </a:endParaRPr>
              </a:p>
            </p:txBody>
          </p:sp>
        </p:grpSp>
        <p:pic>
          <p:nvPicPr>
            <p:cNvPr id="10" name="图片 9"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blinds(horizontal)">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blinds(horizontal)">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blinds(horizontal)">
                                      <p:cBhvr>
                                        <p:cTn id="25" dur="500"/>
                                        <p:tgtEl>
                                          <p:spTgt spid="3">
                                            <p:txEl>
                                              <p:pRg st="2" end="2"/>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blinds(horizontal)">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blinds(horizontal)">
                                      <p:cBhvr>
                                        <p:cTn id="33" dur="500"/>
                                        <p:tgtEl>
                                          <p:spTgt spid="3">
                                            <p:txEl>
                                              <p:pRg st="4" end="4"/>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linds(horizontal)">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blinds(horizontal)">
                                      <p:cBhvr>
                                        <p:cTn id="41" dur="500"/>
                                        <p:tgtEl>
                                          <p:spTgt spid="3">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blinds(horizontal)">
                                      <p:cBhvr>
                                        <p:cTn id="46" dur="500"/>
                                        <p:tgtEl>
                                          <p:spTgt spid="3">
                                            <p:txEl>
                                              <p:pRg st="7" end="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blinds(horizontal)">
                                      <p:cBhvr>
                                        <p:cTn id="51" dur="500"/>
                                        <p:tgtEl>
                                          <p:spTgt spid="3">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Effect transition="in" filter="blinds(horizontal)">
                                      <p:cBhvr>
                                        <p:cTn id="5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9817" y="1408435"/>
            <a:ext cx="8162663" cy="4949825"/>
          </a:xfrm>
        </p:spPr>
        <p:txBody>
          <a:bodyPr/>
          <a:lstStyle/>
          <a:p>
            <a:pPr marL="0" indent="0">
              <a:buNone/>
            </a:pPr>
            <a:r>
              <a:rPr lang="zh-CN" altLang="en-US" sz="2400" b="1" dirty="0">
                <a:solidFill>
                  <a:srgbClr val="0000FF"/>
                </a:solidFill>
              </a:rPr>
              <a:t>（</a:t>
            </a:r>
            <a:r>
              <a:rPr lang="en-US" altLang="zh-CN" sz="2400" b="1" dirty="0">
                <a:solidFill>
                  <a:srgbClr val="0000FF"/>
                </a:solidFill>
              </a:rPr>
              <a:t>4</a:t>
            </a:r>
            <a:r>
              <a:rPr lang="zh-CN" altLang="en-US" sz="2400" b="1" dirty="0">
                <a:solidFill>
                  <a:srgbClr val="0000FF"/>
                </a:solidFill>
              </a:rPr>
              <a:t>）多维</a:t>
            </a:r>
            <a:r>
              <a:rPr lang="zh-CN" altLang="en-US" sz="2400" b="1" dirty="0" smtClean="0">
                <a:solidFill>
                  <a:srgbClr val="0000FF"/>
                </a:solidFill>
              </a:rPr>
              <a:t>数组</a:t>
            </a:r>
            <a:r>
              <a:rPr lang="en-US" altLang="zh-CN" sz="2400" b="1" dirty="0" smtClean="0">
                <a:solidFill>
                  <a:srgbClr val="0000FF"/>
                </a:solidFill>
              </a:rPr>
              <a:t>(Multi-dimensional Array)</a:t>
            </a:r>
            <a:r>
              <a:rPr lang="zh-CN" altLang="en-US" sz="2400" b="1" dirty="0" smtClean="0">
                <a:solidFill>
                  <a:srgbClr val="0000FF"/>
                </a:solidFill>
              </a:rPr>
              <a:t>元素</a:t>
            </a:r>
            <a:r>
              <a:rPr lang="zh-CN" altLang="en-US" sz="2400" b="1" dirty="0">
                <a:solidFill>
                  <a:srgbClr val="0000FF"/>
                </a:solidFill>
              </a:rPr>
              <a:t>存储次序</a:t>
            </a:r>
            <a:endParaRPr lang="en-US" altLang="zh-CN" sz="2400" b="1" dirty="0">
              <a:solidFill>
                <a:srgbClr val="0000FF"/>
              </a:solidFill>
            </a:endParaRPr>
          </a:p>
          <a:p>
            <a:pPr>
              <a:spcBef>
                <a:spcPts val="600"/>
              </a:spcBef>
              <a:buClr>
                <a:srgbClr val="FF0000"/>
              </a:buClr>
              <a:buFont typeface="Wingdings" panose="05000000000000000000" pitchFamily="2" charset="2"/>
              <a:buChar char="p"/>
            </a:pPr>
            <a:r>
              <a:rPr lang="zh-CN" altLang="en-US" sz="1800" b="1" dirty="0"/>
              <a:t>可以将此地址计算公式</a:t>
            </a:r>
            <a:r>
              <a:rPr lang="zh-CN" altLang="en-US" sz="1800" b="1" dirty="0">
                <a:solidFill>
                  <a:srgbClr val="FF0000"/>
                </a:solidFill>
              </a:rPr>
              <a:t>推广到多维数组</a:t>
            </a:r>
            <a:r>
              <a:rPr lang="zh-CN" altLang="en-US" sz="1800" b="1" dirty="0"/>
              <a:t>。</a:t>
            </a:r>
            <a:endParaRPr lang="en-US" altLang="zh-CN" sz="1800" b="1" dirty="0"/>
          </a:p>
          <a:p>
            <a:pPr>
              <a:spcBef>
                <a:spcPts val="600"/>
              </a:spcBef>
              <a:buClr>
                <a:srgbClr val="FF0000"/>
              </a:buClr>
              <a:buFont typeface="Wingdings" panose="05000000000000000000" pitchFamily="2" charset="2"/>
              <a:buChar char="p"/>
            </a:pPr>
            <a:r>
              <a:rPr lang="zh-CN" altLang="en-US" sz="1800" b="1" dirty="0"/>
              <a:t>为此，首先要知道相应数组分别在行优先和列优先时的元素下标的变化规律。先从二维数组存储时的</a:t>
            </a:r>
            <a:r>
              <a:rPr lang="zh-CN" altLang="en-US" sz="1800" b="1" dirty="0">
                <a:solidFill>
                  <a:srgbClr val="FF0000"/>
                </a:solidFill>
              </a:rPr>
              <a:t>下标变化规律</a:t>
            </a:r>
            <a:r>
              <a:rPr lang="zh-CN" altLang="en-US" sz="1800" b="1" dirty="0"/>
              <a:t>开始：</a:t>
            </a:r>
            <a:endParaRPr lang="zh-CN" altLang="en-US" sz="1800" b="1" dirty="0"/>
          </a:p>
          <a:p>
            <a:pPr>
              <a:spcBef>
                <a:spcPts val="600"/>
              </a:spcBef>
              <a:buClr>
                <a:srgbClr val="FF0000"/>
              </a:buClr>
              <a:buFont typeface="Wingdings" panose="05000000000000000000" pitchFamily="2" charset="2"/>
              <a:buChar char="p"/>
            </a:pPr>
            <a:r>
              <a:rPr lang="zh-CN" altLang="en-US" sz="1800" b="1" dirty="0"/>
              <a:t>在二维数组以</a:t>
            </a:r>
            <a:r>
              <a:rPr lang="zh-CN" altLang="en-US" sz="1800" b="1" dirty="0">
                <a:solidFill>
                  <a:srgbClr val="FF0000"/>
                </a:solidFill>
              </a:rPr>
              <a:t>行序</a:t>
            </a:r>
            <a:r>
              <a:rPr lang="zh-CN" altLang="en-US" sz="1800" b="1" dirty="0"/>
              <a:t>为主序的存储方式中，</a:t>
            </a:r>
            <a:r>
              <a:rPr lang="zh-CN" altLang="en-US" sz="1800" b="1" dirty="0">
                <a:solidFill>
                  <a:srgbClr val="FF0000"/>
                </a:solidFill>
              </a:rPr>
              <a:t>列下标</a:t>
            </a:r>
            <a:r>
              <a:rPr lang="zh-CN" altLang="en-US" sz="1800" b="1" dirty="0"/>
              <a:t>变化速度最快。</a:t>
            </a:r>
            <a:endParaRPr lang="en-US" altLang="zh-CN" sz="1800" b="1" dirty="0"/>
          </a:p>
          <a:p>
            <a:pPr marL="0" indent="0">
              <a:spcBef>
                <a:spcPts val="600"/>
              </a:spcBef>
              <a:buNone/>
            </a:pPr>
            <a:r>
              <a:rPr lang="en-US" altLang="zh-CN" sz="1800" b="1" dirty="0"/>
              <a:t>                  </a:t>
            </a:r>
            <a:r>
              <a:rPr lang="zh-CN" altLang="en-US" sz="1800" b="1" dirty="0"/>
              <a:t>而在以</a:t>
            </a:r>
            <a:r>
              <a:rPr lang="zh-CN" altLang="en-US" sz="1800" b="1" dirty="0">
                <a:solidFill>
                  <a:srgbClr val="FF0000"/>
                </a:solidFill>
              </a:rPr>
              <a:t>列序</a:t>
            </a:r>
            <a:r>
              <a:rPr lang="zh-CN" altLang="en-US" sz="1800" b="1" dirty="0"/>
              <a:t>为主序的存储方式中，</a:t>
            </a:r>
            <a:r>
              <a:rPr lang="zh-CN" altLang="en-US" sz="1800" b="1" dirty="0">
                <a:solidFill>
                  <a:srgbClr val="FF0000"/>
                </a:solidFill>
              </a:rPr>
              <a:t>行下标</a:t>
            </a:r>
            <a:r>
              <a:rPr lang="zh-CN" altLang="en-US" sz="1800" b="1" dirty="0"/>
              <a:t>变化速度最快。</a:t>
            </a:r>
            <a:endParaRPr lang="en-US" altLang="zh-CN" sz="1800" b="1" dirty="0"/>
          </a:p>
          <a:p>
            <a:pPr>
              <a:spcBef>
                <a:spcPts val="600"/>
              </a:spcBef>
              <a:buClr>
                <a:srgbClr val="FF0000"/>
              </a:buClr>
              <a:buFont typeface="Wingdings" panose="05000000000000000000" pitchFamily="2" charset="2"/>
              <a:buChar char="p"/>
            </a:pPr>
            <a:r>
              <a:rPr lang="zh-CN" altLang="en-US" sz="1800" b="1" dirty="0"/>
              <a:t>同理，在</a:t>
            </a:r>
            <a:r>
              <a:rPr lang="zh-CN" altLang="en-US" sz="1800" b="1" i="1" dirty="0"/>
              <a:t>n</a:t>
            </a:r>
            <a:r>
              <a:rPr lang="zh-CN" altLang="en-US" sz="1800" b="1" dirty="0"/>
              <a:t>维数组中，两种存储方式下的下标变化速度也具有这样的规律。</a:t>
            </a:r>
            <a:endParaRPr lang="zh-CN" altLang="en-US" sz="1800" b="1" dirty="0"/>
          </a:p>
          <a:p>
            <a:pPr>
              <a:spcBef>
                <a:spcPts val="600"/>
              </a:spcBef>
              <a:buClr>
                <a:srgbClr val="FF0000"/>
              </a:buClr>
              <a:buFont typeface="Wingdings" panose="05000000000000000000" pitchFamily="2" charset="2"/>
              <a:buChar char="p"/>
            </a:pPr>
            <a:r>
              <a:rPr lang="zh-CN" altLang="en-US" sz="1800" b="1" dirty="0" smtClean="0"/>
              <a:t>例如</a:t>
            </a:r>
            <a:r>
              <a:rPr lang="en-US" altLang="zh-CN" sz="1800" b="1" dirty="0" smtClean="0"/>
              <a:t>: </a:t>
            </a:r>
            <a:r>
              <a:rPr lang="zh-CN" altLang="en-US" sz="1800" b="1" dirty="0" smtClean="0"/>
              <a:t>三维</a:t>
            </a:r>
            <a:r>
              <a:rPr lang="zh-CN" altLang="en-US" sz="1800" b="1" dirty="0"/>
              <a:t>数组A[1..3,1..3,1..3</a:t>
            </a:r>
            <a:r>
              <a:rPr lang="zh-CN" altLang="en-US" sz="1800" b="1" dirty="0" smtClean="0"/>
              <a:t>]中按行</a:t>
            </a:r>
            <a:r>
              <a:rPr lang="zh-CN" altLang="en-US" sz="1800" b="1" dirty="0"/>
              <a:t>优先和列优先存储</a:t>
            </a:r>
            <a:r>
              <a:rPr lang="zh-CN" altLang="en-US" sz="1800" b="1" dirty="0" smtClean="0"/>
              <a:t>时，其元素序列如下</a:t>
            </a:r>
            <a:r>
              <a:rPr lang="zh-CN" altLang="en-US" sz="1800" b="1" dirty="0"/>
              <a:t>：</a:t>
            </a:r>
            <a:endParaRPr lang="zh-CN" altLang="en-US" sz="1800" b="1" dirty="0"/>
          </a:p>
          <a:p>
            <a:pPr lvl="1">
              <a:spcBef>
                <a:spcPts val="600"/>
              </a:spcBef>
              <a:buFont typeface="Wingdings" panose="05000000000000000000" pitchFamily="2" charset="2"/>
              <a:buChar char="n"/>
            </a:pPr>
            <a:r>
              <a:rPr lang="zh-CN" altLang="en-US" sz="1800" b="1" dirty="0">
                <a:solidFill>
                  <a:srgbClr val="FF0000"/>
                </a:solidFill>
              </a:rPr>
              <a:t>行优先</a:t>
            </a:r>
            <a:r>
              <a:rPr lang="zh-CN" altLang="en-US" sz="1800" b="1" dirty="0"/>
              <a:t>：</a:t>
            </a:r>
            <a:r>
              <a:rPr lang="zh-CN" altLang="en-US" sz="1800" b="1" i="1" dirty="0"/>
              <a:t>a</a:t>
            </a:r>
            <a:r>
              <a:rPr lang="zh-CN" altLang="en-US" sz="1800" b="1" baseline="-25000" dirty="0"/>
              <a:t>111</a:t>
            </a:r>
            <a:r>
              <a:rPr lang="zh-CN" altLang="en-US" sz="1800" b="1" dirty="0"/>
              <a:t>, </a:t>
            </a:r>
            <a:r>
              <a:rPr lang="zh-CN" altLang="en-US" sz="1800" b="1" i="1" dirty="0" smtClean="0"/>
              <a:t>a</a:t>
            </a:r>
            <a:r>
              <a:rPr lang="zh-CN" altLang="en-US" sz="1800" b="1" baseline="-25000" dirty="0" smtClean="0"/>
              <a:t>112</a:t>
            </a:r>
            <a:r>
              <a:rPr lang="zh-CN" altLang="en-US" sz="1800" b="1" baseline="-25000" dirty="0"/>
              <a:t>,</a:t>
            </a:r>
            <a:r>
              <a:rPr lang="zh-CN" altLang="en-US" sz="1800" b="1" dirty="0"/>
              <a:t> </a:t>
            </a:r>
            <a:r>
              <a:rPr lang="zh-CN" altLang="en-US" sz="1800" b="1" i="1" dirty="0" smtClean="0"/>
              <a:t>a</a:t>
            </a:r>
            <a:r>
              <a:rPr lang="zh-CN" altLang="en-US" sz="1800" b="1" baseline="-25000" dirty="0" smtClean="0"/>
              <a:t>113</a:t>
            </a:r>
            <a:r>
              <a:rPr lang="zh-CN" altLang="en-US" sz="1800" b="1" dirty="0"/>
              <a:t>, </a:t>
            </a:r>
            <a:r>
              <a:rPr lang="zh-CN" altLang="en-US" sz="1800" b="1" i="1" dirty="0" smtClean="0"/>
              <a:t>a</a:t>
            </a:r>
            <a:r>
              <a:rPr lang="zh-CN" altLang="en-US" sz="1800" b="1" baseline="-25000" dirty="0" smtClean="0"/>
              <a:t>121</a:t>
            </a:r>
            <a:r>
              <a:rPr lang="zh-CN" altLang="en-US" sz="1800" b="1" dirty="0"/>
              <a:t>, </a:t>
            </a:r>
            <a:r>
              <a:rPr lang="zh-CN" altLang="en-US" sz="1800" b="1" i="1" dirty="0" smtClean="0"/>
              <a:t>a</a:t>
            </a:r>
            <a:r>
              <a:rPr lang="zh-CN" altLang="en-US" sz="1800" b="1" baseline="-25000" dirty="0" smtClean="0"/>
              <a:t>122</a:t>
            </a:r>
            <a:r>
              <a:rPr lang="zh-CN" altLang="en-US" sz="1800" b="1" dirty="0"/>
              <a:t>, </a:t>
            </a:r>
            <a:r>
              <a:rPr lang="zh-CN" altLang="en-US" sz="1800" b="1" i="1" dirty="0"/>
              <a:t>a</a:t>
            </a:r>
            <a:r>
              <a:rPr lang="zh-CN" altLang="en-US" sz="1800" b="1" baseline="-25000" dirty="0"/>
              <a:t>123</a:t>
            </a:r>
            <a:r>
              <a:rPr lang="zh-CN" altLang="en-US" sz="1800" b="1" dirty="0"/>
              <a:t>, </a:t>
            </a:r>
            <a:r>
              <a:rPr lang="zh-CN" altLang="en-US" sz="1800" b="1" i="1" dirty="0"/>
              <a:t>a</a:t>
            </a:r>
            <a:r>
              <a:rPr lang="zh-CN" altLang="en-US" sz="1800" b="1" baseline="-25000" dirty="0"/>
              <a:t>131</a:t>
            </a:r>
            <a:r>
              <a:rPr lang="zh-CN" altLang="en-US" sz="1800" b="1" dirty="0"/>
              <a:t>, </a:t>
            </a:r>
            <a:r>
              <a:rPr lang="zh-CN" altLang="en-US" sz="1800" b="1" i="1" dirty="0"/>
              <a:t>a</a:t>
            </a:r>
            <a:r>
              <a:rPr lang="zh-CN" altLang="en-US" sz="1800" b="1" baseline="-25000" dirty="0"/>
              <a:t>132</a:t>
            </a:r>
            <a:r>
              <a:rPr lang="zh-CN" altLang="en-US" sz="1800" b="1" dirty="0"/>
              <a:t>, </a:t>
            </a:r>
            <a:r>
              <a:rPr lang="zh-CN" altLang="en-US" sz="1800" b="1" i="1" dirty="0"/>
              <a:t>a</a:t>
            </a:r>
            <a:r>
              <a:rPr lang="zh-CN" altLang="en-US" sz="1800" b="1" baseline="-25000" dirty="0"/>
              <a:t>133</a:t>
            </a:r>
            <a:r>
              <a:rPr lang="zh-CN" altLang="en-US" sz="1800" b="1" dirty="0"/>
              <a:t>, </a:t>
            </a:r>
            <a:endParaRPr lang="zh-CN" altLang="en-US" sz="1800" b="1" dirty="0"/>
          </a:p>
          <a:p>
            <a:pPr marL="0" indent="0">
              <a:spcBef>
                <a:spcPts val="600"/>
              </a:spcBef>
              <a:buNone/>
            </a:pPr>
            <a:r>
              <a:rPr lang="zh-CN" altLang="en-US" sz="1800" b="1" dirty="0"/>
              <a:t>                    </a:t>
            </a:r>
            <a:r>
              <a:rPr lang="zh-CN" altLang="en-US" sz="1800" b="1" dirty="0" smtClean="0"/>
              <a:t>         </a:t>
            </a:r>
            <a:r>
              <a:rPr lang="zh-CN" altLang="en-US" sz="1800" b="1" i="1" dirty="0" smtClean="0"/>
              <a:t>a</a:t>
            </a:r>
            <a:r>
              <a:rPr lang="zh-CN" altLang="en-US" sz="1800" b="1" baseline="-25000" dirty="0"/>
              <a:t>211</a:t>
            </a:r>
            <a:r>
              <a:rPr lang="zh-CN" altLang="en-US" sz="1800" b="1" dirty="0"/>
              <a:t>, </a:t>
            </a:r>
            <a:r>
              <a:rPr lang="zh-CN" altLang="en-US" sz="1800" b="1" i="1" dirty="0"/>
              <a:t>a</a:t>
            </a:r>
            <a:r>
              <a:rPr lang="zh-CN" altLang="en-US" sz="1800" b="1" baseline="-25000" dirty="0"/>
              <a:t>212</a:t>
            </a:r>
            <a:r>
              <a:rPr lang="zh-CN" altLang="en-US" sz="1800" b="1" dirty="0"/>
              <a:t>, </a:t>
            </a:r>
            <a:r>
              <a:rPr lang="zh-CN" altLang="en-US" sz="1800" b="1" i="1" dirty="0"/>
              <a:t>a</a:t>
            </a:r>
            <a:r>
              <a:rPr lang="zh-CN" altLang="en-US" sz="1800" b="1" baseline="-25000" dirty="0"/>
              <a:t>213</a:t>
            </a:r>
            <a:r>
              <a:rPr lang="zh-CN" altLang="en-US" sz="1800" b="1" dirty="0"/>
              <a:t>, </a:t>
            </a:r>
            <a:r>
              <a:rPr lang="zh-CN" altLang="en-US" sz="1800" b="1" i="1" dirty="0"/>
              <a:t>a</a:t>
            </a:r>
            <a:r>
              <a:rPr lang="zh-CN" altLang="en-US" sz="1800" b="1" baseline="-25000" dirty="0"/>
              <a:t>221</a:t>
            </a:r>
            <a:r>
              <a:rPr lang="zh-CN" altLang="en-US" sz="1800" b="1" dirty="0"/>
              <a:t>,  </a:t>
            </a:r>
            <a:r>
              <a:rPr lang="zh-CN" altLang="en-US" sz="1800" b="1" i="1" dirty="0"/>
              <a:t>a</a:t>
            </a:r>
            <a:r>
              <a:rPr lang="zh-CN" altLang="en-US" sz="1800" b="1" baseline="-25000" dirty="0"/>
              <a:t>222</a:t>
            </a:r>
            <a:r>
              <a:rPr lang="zh-CN" altLang="en-US" sz="1800" b="1" dirty="0"/>
              <a:t>, </a:t>
            </a:r>
            <a:r>
              <a:rPr lang="zh-CN" altLang="en-US" sz="1800" b="1" i="1" dirty="0"/>
              <a:t>a</a:t>
            </a:r>
            <a:r>
              <a:rPr lang="zh-CN" altLang="en-US" sz="1800" b="1" baseline="-25000" dirty="0"/>
              <a:t>223</a:t>
            </a:r>
            <a:r>
              <a:rPr lang="zh-CN" altLang="en-US" sz="1800" b="1" dirty="0"/>
              <a:t>, </a:t>
            </a:r>
            <a:r>
              <a:rPr lang="zh-CN" altLang="en-US" sz="1800" b="1" i="1" dirty="0"/>
              <a:t>a</a:t>
            </a:r>
            <a:r>
              <a:rPr lang="zh-CN" altLang="en-US" sz="1800" b="1" baseline="-25000" dirty="0"/>
              <a:t>231</a:t>
            </a:r>
            <a:r>
              <a:rPr lang="zh-CN" altLang="en-US" sz="1800" b="1" dirty="0"/>
              <a:t>, </a:t>
            </a:r>
            <a:r>
              <a:rPr lang="zh-CN" altLang="en-US" sz="1800" b="1" i="1" dirty="0"/>
              <a:t>a</a:t>
            </a:r>
            <a:r>
              <a:rPr lang="zh-CN" altLang="en-US" sz="1800" b="1" baseline="-25000" dirty="0"/>
              <a:t>232</a:t>
            </a:r>
            <a:r>
              <a:rPr lang="zh-CN" altLang="en-US" sz="1800" b="1" dirty="0"/>
              <a:t>, </a:t>
            </a:r>
            <a:r>
              <a:rPr lang="zh-CN" altLang="en-US" sz="1800" b="1" i="1" dirty="0"/>
              <a:t>a</a:t>
            </a:r>
            <a:r>
              <a:rPr lang="zh-CN" altLang="en-US" sz="1800" b="1" baseline="-25000" dirty="0"/>
              <a:t>233</a:t>
            </a:r>
            <a:r>
              <a:rPr lang="zh-CN" altLang="en-US" sz="1800" b="1" dirty="0"/>
              <a:t>, </a:t>
            </a:r>
            <a:endParaRPr lang="zh-CN" altLang="en-US" sz="1800" b="1" dirty="0"/>
          </a:p>
          <a:p>
            <a:pPr marL="0" indent="0">
              <a:spcBef>
                <a:spcPts val="600"/>
              </a:spcBef>
              <a:buNone/>
            </a:pPr>
            <a:r>
              <a:rPr lang="zh-CN" altLang="en-US" sz="1800" b="1" dirty="0"/>
              <a:t>                     </a:t>
            </a:r>
            <a:r>
              <a:rPr lang="zh-CN" altLang="en-US" sz="1800" b="1" dirty="0" smtClean="0"/>
              <a:t>        </a:t>
            </a:r>
            <a:r>
              <a:rPr lang="zh-CN" altLang="en-US" sz="1800" b="1" i="1" dirty="0" smtClean="0"/>
              <a:t>a</a:t>
            </a:r>
            <a:r>
              <a:rPr lang="zh-CN" altLang="en-US" sz="1800" b="1" baseline="-25000" dirty="0"/>
              <a:t>311</a:t>
            </a:r>
            <a:r>
              <a:rPr lang="zh-CN" altLang="en-US" sz="1800" b="1" dirty="0"/>
              <a:t>, </a:t>
            </a:r>
            <a:r>
              <a:rPr lang="zh-CN" altLang="en-US" sz="1800" b="1" i="1" dirty="0"/>
              <a:t>a</a:t>
            </a:r>
            <a:r>
              <a:rPr lang="zh-CN" altLang="en-US" sz="1800" b="1" baseline="-25000" dirty="0"/>
              <a:t>312</a:t>
            </a:r>
            <a:r>
              <a:rPr lang="zh-CN" altLang="en-US" sz="1800" b="1" dirty="0"/>
              <a:t>, </a:t>
            </a:r>
            <a:r>
              <a:rPr lang="zh-CN" altLang="en-US" sz="1800" b="1" i="1" dirty="0"/>
              <a:t>a</a:t>
            </a:r>
            <a:r>
              <a:rPr lang="zh-CN" altLang="en-US" sz="1800" b="1" baseline="-25000" dirty="0"/>
              <a:t>313</a:t>
            </a:r>
            <a:r>
              <a:rPr lang="zh-CN" altLang="en-US" sz="1800" b="1" dirty="0"/>
              <a:t>, </a:t>
            </a:r>
            <a:r>
              <a:rPr lang="zh-CN" altLang="en-US" sz="1800" b="1" i="1" dirty="0"/>
              <a:t>a</a:t>
            </a:r>
            <a:r>
              <a:rPr lang="zh-CN" altLang="en-US" sz="1800" b="1" baseline="-25000" dirty="0"/>
              <a:t>321</a:t>
            </a:r>
            <a:r>
              <a:rPr lang="zh-CN" altLang="en-US" sz="1800" b="1" dirty="0"/>
              <a:t>, </a:t>
            </a:r>
            <a:r>
              <a:rPr lang="zh-CN" altLang="en-US" sz="1800" b="1" i="1" dirty="0"/>
              <a:t>a</a:t>
            </a:r>
            <a:r>
              <a:rPr lang="zh-CN" altLang="en-US" sz="1800" b="1" baseline="-25000" dirty="0"/>
              <a:t>322</a:t>
            </a:r>
            <a:r>
              <a:rPr lang="zh-CN" altLang="en-US" sz="1800" b="1" dirty="0"/>
              <a:t>, </a:t>
            </a:r>
            <a:r>
              <a:rPr lang="zh-CN" altLang="en-US" sz="1800" b="1" i="1" dirty="0"/>
              <a:t>a</a:t>
            </a:r>
            <a:r>
              <a:rPr lang="zh-CN" altLang="en-US" sz="1800" b="1" baseline="-25000" dirty="0"/>
              <a:t>323</a:t>
            </a:r>
            <a:r>
              <a:rPr lang="zh-CN" altLang="en-US" sz="1800" b="1" dirty="0"/>
              <a:t>, </a:t>
            </a:r>
            <a:r>
              <a:rPr lang="zh-CN" altLang="en-US" sz="1800" b="1" i="1" dirty="0"/>
              <a:t>a</a:t>
            </a:r>
            <a:r>
              <a:rPr lang="zh-CN" altLang="en-US" sz="1800" b="1" baseline="-25000" dirty="0"/>
              <a:t>331</a:t>
            </a:r>
            <a:r>
              <a:rPr lang="zh-CN" altLang="en-US" sz="1800" b="1" dirty="0"/>
              <a:t>, </a:t>
            </a:r>
            <a:r>
              <a:rPr lang="zh-CN" altLang="en-US" sz="1800" b="1" i="1" dirty="0"/>
              <a:t>a</a:t>
            </a:r>
            <a:r>
              <a:rPr lang="zh-CN" altLang="en-US" sz="1800" b="1" baseline="-25000" dirty="0"/>
              <a:t>332</a:t>
            </a:r>
            <a:r>
              <a:rPr lang="zh-CN" altLang="en-US" sz="1800" b="1" dirty="0"/>
              <a:t>, </a:t>
            </a:r>
            <a:r>
              <a:rPr lang="zh-CN" altLang="en-US" sz="1800" b="1" i="1" dirty="0"/>
              <a:t>a</a:t>
            </a:r>
            <a:r>
              <a:rPr lang="zh-CN" altLang="en-US" sz="1800" b="1" baseline="-25000" dirty="0"/>
              <a:t>333</a:t>
            </a:r>
            <a:endParaRPr lang="zh-CN" altLang="en-US" sz="1800" b="1" dirty="0"/>
          </a:p>
          <a:p>
            <a:pPr lvl="1">
              <a:spcBef>
                <a:spcPts val="600"/>
              </a:spcBef>
              <a:buFont typeface="Wingdings" panose="05000000000000000000" pitchFamily="2" charset="2"/>
              <a:buChar char="n"/>
            </a:pPr>
            <a:r>
              <a:rPr lang="zh-CN" altLang="en-US" sz="1800" b="1" dirty="0">
                <a:solidFill>
                  <a:srgbClr val="FF0000"/>
                </a:solidFill>
              </a:rPr>
              <a:t>列优先</a:t>
            </a:r>
            <a:r>
              <a:rPr lang="zh-CN" altLang="en-US" sz="1800" b="1" dirty="0"/>
              <a:t>：</a:t>
            </a:r>
            <a:r>
              <a:rPr lang="zh-CN" altLang="en-US" sz="1800" b="1" i="1" dirty="0"/>
              <a:t>a</a:t>
            </a:r>
            <a:r>
              <a:rPr lang="zh-CN" altLang="en-US" sz="1800" b="1" baseline="-25000" dirty="0"/>
              <a:t>111,</a:t>
            </a:r>
            <a:r>
              <a:rPr lang="zh-CN" altLang="en-US" sz="1800" b="1" dirty="0"/>
              <a:t> </a:t>
            </a:r>
            <a:r>
              <a:rPr lang="zh-CN" altLang="en-US" sz="1800" b="1" i="1" dirty="0"/>
              <a:t>a</a:t>
            </a:r>
            <a:r>
              <a:rPr lang="zh-CN" altLang="en-US" sz="1800" b="1" baseline="-25000" dirty="0"/>
              <a:t>211,</a:t>
            </a:r>
            <a:r>
              <a:rPr lang="zh-CN" altLang="en-US" sz="1800" b="1" dirty="0"/>
              <a:t> </a:t>
            </a:r>
            <a:r>
              <a:rPr lang="zh-CN" altLang="en-US" sz="1800" b="1" i="1" dirty="0"/>
              <a:t>a</a:t>
            </a:r>
            <a:r>
              <a:rPr lang="zh-CN" altLang="en-US" sz="1800" b="1" baseline="-25000" dirty="0"/>
              <a:t>311</a:t>
            </a:r>
            <a:r>
              <a:rPr lang="zh-CN" altLang="en-US" sz="1800" b="1" dirty="0"/>
              <a:t>, a</a:t>
            </a:r>
            <a:r>
              <a:rPr lang="zh-CN" altLang="en-US" sz="1800" b="1" baseline="-25000" dirty="0"/>
              <a:t>121</a:t>
            </a:r>
            <a:r>
              <a:rPr lang="zh-CN" altLang="en-US" sz="1800" b="1" dirty="0"/>
              <a:t>, </a:t>
            </a:r>
            <a:r>
              <a:rPr lang="zh-CN" altLang="en-US" sz="1800" b="1" i="1" dirty="0"/>
              <a:t>a</a:t>
            </a:r>
            <a:r>
              <a:rPr lang="zh-CN" altLang="en-US" sz="1800" b="1" baseline="-25000" dirty="0"/>
              <a:t>221</a:t>
            </a:r>
            <a:r>
              <a:rPr lang="zh-CN" altLang="en-US" sz="1800" b="1" dirty="0"/>
              <a:t>, </a:t>
            </a:r>
            <a:r>
              <a:rPr lang="zh-CN" altLang="en-US" sz="1800" b="1" i="1" dirty="0"/>
              <a:t>a</a:t>
            </a:r>
            <a:r>
              <a:rPr lang="zh-CN" altLang="en-US" sz="1800" b="1" baseline="-25000" dirty="0"/>
              <a:t>321</a:t>
            </a:r>
            <a:r>
              <a:rPr lang="zh-CN" altLang="en-US" sz="1800" b="1" dirty="0"/>
              <a:t>, </a:t>
            </a:r>
            <a:r>
              <a:rPr lang="zh-CN" altLang="en-US" sz="1800" b="1" i="1" dirty="0"/>
              <a:t>a</a:t>
            </a:r>
            <a:r>
              <a:rPr lang="zh-CN" altLang="en-US" sz="1800" b="1" baseline="-25000" dirty="0"/>
              <a:t>131</a:t>
            </a:r>
            <a:r>
              <a:rPr lang="zh-CN" altLang="en-US" sz="1800" b="1" dirty="0"/>
              <a:t>, </a:t>
            </a:r>
            <a:r>
              <a:rPr lang="zh-CN" altLang="en-US" sz="1800" b="1" i="1" dirty="0"/>
              <a:t>a</a:t>
            </a:r>
            <a:r>
              <a:rPr lang="zh-CN" altLang="en-US" sz="1800" b="1" baseline="-25000" dirty="0"/>
              <a:t>231</a:t>
            </a:r>
            <a:r>
              <a:rPr lang="zh-CN" altLang="en-US" sz="1800" b="1" dirty="0"/>
              <a:t>, </a:t>
            </a:r>
            <a:r>
              <a:rPr lang="zh-CN" altLang="en-US" sz="1800" b="1" i="1" dirty="0"/>
              <a:t>a</a:t>
            </a:r>
            <a:r>
              <a:rPr lang="zh-CN" altLang="en-US" sz="1800" b="1" baseline="-25000" dirty="0"/>
              <a:t>331</a:t>
            </a:r>
            <a:r>
              <a:rPr lang="zh-CN" altLang="en-US" sz="1800" b="1" dirty="0"/>
              <a:t>, </a:t>
            </a:r>
            <a:endParaRPr lang="zh-CN" altLang="en-US" sz="1800" b="1" dirty="0"/>
          </a:p>
          <a:p>
            <a:pPr marL="0" indent="0">
              <a:spcBef>
                <a:spcPts val="600"/>
              </a:spcBef>
              <a:buNone/>
            </a:pPr>
            <a:r>
              <a:rPr lang="zh-CN" altLang="en-US" sz="1800" b="1" dirty="0"/>
              <a:t>                    </a:t>
            </a:r>
            <a:r>
              <a:rPr lang="zh-CN" altLang="en-US" sz="1800" b="1" dirty="0" smtClean="0"/>
              <a:t>         </a:t>
            </a:r>
            <a:r>
              <a:rPr lang="zh-CN" altLang="en-US" sz="1800" b="1" i="1" dirty="0"/>
              <a:t>a</a:t>
            </a:r>
            <a:r>
              <a:rPr lang="zh-CN" altLang="en-US" sz="1800" b="1" baseline="-25000" dirty="0"/>
              <a:t>112</a:t>
            </a:r>
            <a:r>
              <a:rPr lang="zh-CN" altLang="en-US" sz="1800" b="1" dirty="0"/>
              <a:t>, </a:t>
            </a:r>
            <a:r>
              <a:rPr lang="zh-CN" altLang="en-US" sz="1800" b="1" i="1" dirty="0"/>
              <a:t>a</a:t>
            </a:r>
            <a:r>
              <a:rPr lang="zh-CN" altLang="en-US" sz="1800" b="1" baseline="-25000" dirty="0"/>
              <a:t>212</a:t>
            </a:r>
            <a:r>
              <a:rPr lang="zh-CN" altLang="en-US" sz="1800" b="1" dirty="0"/>
              <a:t>, </a:t>
            </a:r>
            <a:r>
              <a:rPr lang="zh-CN" altLang="en-US" sz="1800" b="1" i="1" dirty="0"/>
              <a:t>a</a:t>
            </a:r>
            <a:r>
              <a:rPr lang="zh-CN" altLang="en-US" sz="1800" b="1" baseline="-25000" dirty="0"/>
              <a:t>312</a:t>
            </a:r>
            <a:r>
              <a:rPr lang="zh-CN" altLang="en-US" sz="1800" b="1" dirty="0"/>
              <a:t>, </a:t>
            </a:r>
            <a:r>
              <a:rPr lang="zh-CN" altLang="en-US" sz="1800" b="1" i="1" dirty="0"/>
              <a:t>a</a:t>
            </a:r>
            <a:r>
              <a:rPr lang="zh-CN" altLang="en-US" sz="1800" b="1" baseline="-25000" dirty="0"/>
              <a:t>122</a:t>
            </a:r>
            <a:r>
              <a:rPr lang="zh-CN" altLang="en-US" sz="1800" b="1" dirty="0"/>
              <a:t>,  </a:t>
            </a:r>
            <a:r>
              <a:rPr lang="zh-CN" altLang="en-US" sz="1800" b="1" i="1" dirty="0"/>
              <a:t>a</a:t>
            </a:r>
            <a:r>
              <a:rPr lang="zh-CN" altLang="en-US" sz="1800" b="1" baseline="-25000" dirty="0"/>
              <a:t>222</a:t>
            </a:r>
            <a:r>
              <a:rPr lang="zh-CN" altLang="en-US" sz="1800" b="1" dirty="0"/>
              <a:t>, </a:t>
            </a:r>
            <a:r>
              <a:rPr lang="zh-CN" altLang="en-US" sz="1800" b="1" i="1" dirty="0"/>
              <a:t>a</a:t>
            </a:r>
            <a:r>
              <a:rPr lang="zh-CN" altLang="en-US" sz="1800" b="1" baseline="-25000" dirty="0"/>
              <a:t>322</a:t>
            </a:r>
            <a:r>
              <a:rPr lang="zh-CN" altLang="en-US" sz="1800" b="1" dirty="0"/>
              <a:t>, </a:t>
            </a:r>
            <a:r>
              <a:rPr lang="zh-CN" altLang="en-US" sz="1800" b="1" i="1" dirty="0"/>
              <a:t>a</a:t>
            </a:r>
            <a:r>
              <a:rPr lang="zh-CN" altLang="en-US" sz="1800" b="1" baseline="-25000" dirty="0"/>
              <a:t>132</a:t>
            </a:r>
            <a:r>
              <a:rPr lang="zh-CN" altLang="en-US" sz="1800" b="1" dirty="0"/>
              <a:t>, </a:t>
            </a:r>
            <a:r>
              <a:rPr lang="zh-CN" altLang="en-US" sz="1800" b="1" i="1" dirty="0"/>
              <a:t>a</a:t>
            </a:r>
            <a:r>
              <a:rPr lang="zh-CN" altLang="en-US" sz="1800" b="1" baseline="-25000" dirty="0"/>
              <a:t>232</a:t>
            </a:r>
            <a:r>
              <a:rPr lang="zh-CN" altLang="en-US" sz="1800" b="1" dirty="0"/>
              <a:t>, </a:t>
            </a:r>
            <a:r>
              <a:rPr lang="zh-CN" altLang="en-US" sz="1800" b="1" i="1" dirty="0"/>
              <a:t>a</a:t>
            </a:r>
            <a:r>
              <a:rPr lang="zh-CN" altLang="en-US" sz="1800" b="1" baseline="-25000" dirty="0"/>
              <a:t>332</a:t>
            </a:r>
            <a:r>
              <a:rPr lang="zh-CN" altLang="en-US" sz="1800" b="1" dirty="0"/>
              <a:t>, </a:t>
            </a:r>
            <a:endParaRPr lang="zh-CN" altLang="en-US" sz="1800" b="1" dirty="0"/>
          </a:p>
          <a:p>
            <a:pPr marL="0" indent="0">
              <a:spcBef>
                <a:spcPts val="600"/>
              </a:spcBef>
              <a:buNone/>
            </a:pPr>
            <a:r>
              <a:rPr lang="zh-CN" altLang="en-US" sz="1800" b="1" dirty="0"/>
              <a:t>                     </a:t>
            </a:r>
            <a:r>
              <a:rPr lang="zh-CN" altLang="en-US" sz="1800" b="1" dirty="0" smtClean="0"/>
              <a:t>        </a:t>
            </a:r>
            <a:r>
              <a:rPr lang="zh-CN" altLang="en-US" sz="1800" b="1" i="1" dirty="0" smtClean="0"/>
              <a:t>a</a:t>
            </a:r>
            <a:r>
              <a:rPr lang="zh-CN" altLang="en-US" sz="1800" b="1" baseline="-25000" dirty="0"/>
              <a:t>113</a:t>
            </a:r>
            <a:r>
              <a:rPr lang="zh-CN" altLang="en-US" sz="1800" b="1" dirty="0"/>
              <a:t>, </a:t>
            </a:r>
            <a:r>
              <a:rPr lang="zh-CN" altLang="en-US" sz="1800" b="1" i="1" dirty="0"/>
              <a:t>a</a:t>
            </a:r>
            <a:r>
              <a:rPr lang="zh-CN" altLang="en-US" sz="1800" b="1" baseline="-25000" dirty="0"/>
              <a:t>213</a:t>
            </a:r>
            <a:r>
              <a:rPr lang="zh-CN" altLang="en-US" sz="1800" b="1" dirty="0"/>
              <a:t>, </a:t>
            </a:r>
            <a:r>
              <a:rPr lang="zh-CN" altLang="en-US" sz="1800" b="1" i="1" dirty="0"/>
              <a:t>a</a:t>
            </a:r>
            <a:r>
              <a:rPr lang="zh-CN" altLang="en-US" sz="1800" b="1" baseline="-25000" dirty="0"/>
              <a:t>313</a:t>
            </a:r>
            <a:r>
              <a:rPr lang="zh-CN" altLang="en-US" sz="1800" b="1" dirty="0"/>
              <a:t>,  </a:t>
            </a:r>
            <a:r>
              <a:rPr lang="zh-CN" altLang="en-US" sz="1800" b="1" i="1" dirty="0"/>
              <a:t>a</a:t>
            </a:r>
            <a:r>
              <a:rPr lang="zh-CN" altLang="en-US" sz="1800" b="1" baseline="-25000" dirty="0"/>
              <a:t>123</a:t>
            </a:r>
            <a:r>
              <a:rPr lang="zh-CN" altLang="en-US" sz="1800" b="1" dirty="0"/>
              <a:t>, </a:t>
            </a:r>
            <a:r>
              <a:rPr lang="zh-CN" altLang="en-US" sz="1800" b="1" i="1" dirty="0"/>
              <a:t>a</a:t>
            </a:r>
            <a:r>
              <a:rPr lang="zh-CN" altLang="en-US" sz="1800" b="1" baseline="-25000" dirty="0"/>
              <a:t>223</a:t>
            </a:r>
            <a:r>
              <a:rPr lang="zh-CN" altLang="en-US" sz="1800" b="1" dirty="0"/>
              <a:t>, a</a:t>
            </a:r>
            <a:r>
              <a:rPr lang="zh-CN" altLang="en-US" sz="1800" b="1" baseline="-25000" dirty="0"/>
              <a:t>323</a:t>
            </a:r>
            <a:r>
              <a:rPr lang="zh-CN" altLang="en-US" sz="1800" b="1" dirty="0"/>
              <a:t>, </a:t>
            </a:r>
            <a:r>
              <a:rPr lang="zh-CN" altLang="en-US" sz="1800" b="1" i="1" dirty="0"/>
              <a:t>a</a:t>
            </a:r>
            <a:r>
              <a:rPr lang="zh-CN" altLang="en-US" sz="1800" b="1" baseline="-25000" dirty="0"/>
              <a:t>133</a:t>
            </a:r>
            <a:r>
              <a:rPr lang="zh-CN" altLang="en-US" sz="1800" b="1" dirty="0"/>
              <a:t>, </a:t>
            </a:r>
            <a:r>
              <a:rPr lang="zh-CN" altLang="en-US" sz="1800" b="1" i="1" dirty="0"/>
              <a:t>a</a:t>
            </a:r>
            <a:r>
              <a:rPr lang="zh-CN" altLang="en-US" sz="1800" b="1" baseline="-25000" dirty="0"/>
              <a:t>233</a:t>
            </a:r>
            <a:r>
              <a:rPr lang="zh-CN" altLang="en-US" sz="1800" b="1" dirty="0"/>
              <a:t>, </a:t>
            </a:r>
            <a:r>
              <a:rPr lang="zh-CN" altLang="en-US" sz="1800" b="1" i="1" dirty="0"/>
              <a:t>a</a:t>
            </a:r>
            <a:r>
              <a:rPr lang="zh-CN" altLang="en-US" sz="1800" b="1" baseline="-25000" dirty="0"/>
              <a:t>333</a:t>
            </a:r>
            <a:endParaRPr lang="zh-CN" altLang="en-US" sz="1800" b="1" dirty="0"/>
          </a:p>
        </p:txBody>
      </p:sp>
      <p:sp>
        <p:nvSpPr>
          <p:cNvPr id="6" name="灯片编号占位符 5"/>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sp>
        <p:nvSpPr>
          <p:cNvPr id="7" name="标题 1"/>
          <p:cNvSpPr txBox="1"/>
          <p:nvPr/>
        </p:nvSpPr>
        <p:spPr bwMode="auto">
          <a:xfrm>
            <a:off x="457739" y="774977"/>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457200" indent="-457200">
              <a:buClr>
                <a:srgbClr val="FF0000"/>
              </a:buClr>
            </a:pPr>
            <a:r>
              <a:rPr lang="en-US" altLang="zh-CN" sz="2800" dirty="0" smtClean="0">
                <a:solidFill>
                  <a:srgbClr val="FF0000"/>
                </a:solidFill>
                <a:latin typeface="Times New Roman" panose="02020603050405020304" pitchFamily="18" charset="0"/>
                <a:sym typeface="+mn-ea"/>
              </a:rPr>
              <a:t>6</a:t>
            </a:r>
            <a:r>
              <a:rPr lang="zh-CN" altLang="en-US" sz="2800" dirty="0" smtClean="0">
                <a:solidFill>
                  <a:srgbClr val="FF0000"/>
                </a:solidFill>
                <a:latin typeface="Times New Roman" panose="02020603050405020304" pitchFamily="18" charset="0"/>
                <a:sym typeface="+mn-ea"/>
              </a:rPr>
              <a:t>.</a:t>
            </a:r>
            <a:r>
              <a:rPr lang="en-US" altLang="zh-CN" sz="2800" dirty="0" smtClean="0">
                <a:solidFill>
                  <a:srgbClr val="FF0000"/>
                </a:solidFill>
                <a:latin typeface="Times New Roman" panose="02020603050405020304" pitchFamily="18" charset="0"/>
                <a:sym typeface="+mn-ea"/>
              </a:rPr>
              <a:t>2</a:t>
            </a:r>
            <a:r>
              <a:rPr lang="zh-CN" altLang="en-US" sz="2800" dirty="0" smtClean="0">
                <a:solidFill>
                  <a:srgbClr val="FF0000"/>
                </a:solidFill>
                <a:latin typeface="Times New Roman" panose="02020603050405020304" pitchFamily="18" charset="0"/>
                <a:sym typeface="+mn-ea"/>
              </a:rPr>
              <a:t>.2 数组的顺序存储</a:t>
            </a:r>
            <a:endParaRPr lang="zh-CN" altLang="en-US" sz="2800" dirty="0">
              <a:solidFill>
                <a:srgbClr val="FF0000"/>
              </a:solidFill>
              <a:latin typeface="Times New Roman" panose="02020603050405020304" pitchFamily="18" charset="0"/>
            </a:endParaRPr>
          </a:p>
        </p:txBody>
      </p:sp>
      <p:grpSp>
        <p:nvGrpSpPr>
          <p:cNvPr id="8" name="组合 114"/>
          <p:cNvGrpSpPr/>
          <p:nvPr/>
        </p:nvGrpSpPr>
        <p:grpSpPr>
          <a:xfrm>
            <a:off x="-900608" y="86081"/>
            <a:ext cx="6225040" cy="710938"/>
            <a:chOff x="-522583" y="3380569"/>
            <a:chExt cx="6225040" cy="710938"/>
          </a:xfrm>
        </p:grpSpPr>
        <p:grpSp>
          <p:nvGrpSpPr>
            <p:cNvPr id="9" name="组合 105"/>
            <p:cNvGrpSpPr/>
            <p:nvPr/>
          </p:nvGrpSpPr>
          <p:grpSpPr>
            <a:xfrm>
              <a:off x="-522583" y="3380569"/>
              <a:ext cx="6225040" cy="710938"/>
              <a:chOff x="-522583" y="3380569"/>
              <a:chExt cx="6225040" cy="710938"/>
            </a:xfrm>
          </p:grpSpPr>
          <p:sp>
            <p:nvSpPr>
              <p:cNvPr id="11"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2" name="TextBox 6"/>
              <p:cNvSpPr txBox="1">
                <a:spLocks noChangeArrowheads="1"/>
              </p:cNvSpPr>
              <p:nvPr/>
            </p:nvSpPr>
            <p:spPr bwMode="auto">
              <a:xfrm>
                <a:off x="-522583" y="3380569"/>
                <a:ext cx="6225040" cy="71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6.2 </a:t>
                </a:r>
                <a:r>
                  <a:rPr lang="zh-CN" altLang="en-US" sz="3600" b="1" dirty="0" smtClean="0">
                    <a:latin typeface="Times New Roman" panose="02020603050405020304" pitchFamily="18" charset="0"/>
                    <a:ea typeface="黑体" panose="02010609060101010101" pitchFamily="49" charset="-122"/>
                  </a:rPr>
                  <a:t>数组</a:t>
                </a:r>
                <a:endParaRPr lang="zh-CN" altLang="en-US" sz="3600" b="1" dirty="0">
                  <a:latin typeface="Times New Roman" panose="02020603050405020304" pitchFamily="18" charset="0"/>
                  <a:ea typeface="黑体" panose="02010609060101010101" pitchFamily="49" charset="-122"/>
                </a:endParaRPr>
              </a:p>
            </p:txBody>
          </p:sp>
        </p:grpSp>
        <p:pic>
          <p:nvPicPr>
            <p:cNvPr id="10" name="图片 9"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linds(horizontal)">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linds(horizont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linds(horizontal)">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linds(horizontal)">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linds(horizontal)">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linds(horizontal)">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blinds(horizontal)">
                                      <p:cBhvr>
                                        <p:cTn id="41" dur="500"/>
                                        <p:tgtEl>
                                          <p:spTgt spid="3">
                                            <p:txEl>
                                              <p:pRg st="6" end="6"/>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blinds(horizontal)">
                                      <p:cBhvr>
                                        <p:cTn id="44" dur="500"/>
                                        <p:tgtEl>
                                          <p:spTgt spid="3">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blinds(horizontal)">
                                      <p:cBhvr>
                                        <p:cTn id="49" dur="500"/>
                                        <p:tgtEl>
                                          <p:spTgt spid="3">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Effect transition="in" filter="blinds(horizontal)">
                                      <p:cBhvr>
                                        <p:cTn id="54" dur="500"/>
                                        <p:tgtEl>
                                          <p:spTgt spid="3">
                                            <p:txEl>
                                              <p:pRg st="9" end="9"/>
                                            </p:txEl>
                                          </p:spTgt>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blinds(horizontal)">
                                      <p:cBhvr>
                                        <p:cTn id="6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8931" y="836712"/>
            <a:ext cx="8229600" cy="660930"/>
          </a:xfrm>
        </p:spPr>
        <p:txBody>
          <a:bodyPr>
            <a:normAutofit/>
          </a:bodyPr>
          <a:lstStyle/>
          <a:p>
            <a:pPr marL="457200" indent="-457200">
              <a:buClr>
                <a:srgbClr val="FF0000"/>
              </a:buClr>
            </a:pPr>
            <a:r>
              <a:rPr lang="en-US" altLang="zh-CN" sz="2800" dirty="0">
                <a:solidFill>
                  <a:srgbClr val="FF0000"/>
                </a:solidFill>
                <a:latin typeface="Times New Roman" panose="02020603050405020304" pitchFamily="18" charset="0"/>
                <a:sym typeface="+mn-ea"/>
              </a:rPr>
              <a:t>6</a:t>
            </a:r>
            <a:r>
              <a:rPr lang="zh-CN" altLang="en-US" sz="2800" dirty="0" smtClean="0">
                <a:solidFill>
                  <a:srgbClr val="FF0000"/>
                </a:solidFill>
                <a:latin typeface="Times New Roman" panose="02020603050405020304" pitchFamily="18" charset="0"/>
                <a:sym typeface="+mn-ea"/>
              </a:rPr>
              <a:t>.</a:t>
            </a:r>
            <a:r>
              <a:rPr lang="en-US" altLang="zh-CN" sz="2800" dirty="0" smtClean="0">
                <a:solidFill>
                  <a:srgbClr val="FF0000"/>
                </a:solidFill>
                <a:latin typeface="Times New Roman" panose="02020603050405020304" pitchFamily="18" charset="0"/>
                <a:sym typeface="+mn-ea"/>
              </a:rPr>
              <a:t>2</a:t>
            </a:r>
            <a:r>
              <a:rPr lang="zh-CN" altLang="en-US" sz="2800" dirty="0" smtClean="0">
                <a:solidFill>
                  <a:srgbClr val="FF0000"/>
                </a:solidFill>
                <a:latin typeface="Times New Roman" panose="02020603050405020304" pitchFamily="18" charset="0"/>
                <a:sym typeface="+mn-ea"/>
              </a:rPr>
              <a:t>.</a:t>
            </a:r>
            <a:r>
              <a:rPr lang="zh-CN" altLang="en-US" sz="2800" dirty="0">
                <a:solidFill>
                  <a:srgbClr val="FF0000"/>
                </a:solidFill>
                <a:latin typeface="Times New Roman" panose="02020603050405020304" pitchFamily="18" charset="0"/>
                <a:sym typeface="+mn-ea"/>
              </a:rPr>
              <a:t>3  矩阵的压缩存储</a:t>
            </a:r>
            <a:endParaRPr lang="zh-CN" altLang="en-US" sz="2800" dirty="0">
              <a:solidFill>
                <a:srgbClr val="FF0000"/>
              </a:solidFill>
              <a:latin typeface="Times New Roman" panose="02020603050405020304" pitchFamily="18" charset="0"/>
            </a:endParaRPr>
          </a:p>
        </p:txBody>
      </p:sp>
      <p:sp>
        <p:nvSpPr>
          <p:cNvPr id="3" name="内容占位符 2"/>
          <p:cNvSpPr>
            <a:spLocks noGrp="1"/>
          </p:cNvSpPr>
          <p:nvPr>
            <p:ph idx="1"/>
          </p:nvPr>
        </p:nvSpPr>
        <p:spPr>
          <a:xfrm>
            <a:off x="939184" y="1478433"/>
            <a:ext cx="7993062" cy="4823866"/>
          </a:xfrm>
        </p:spPr>
        <p:txBody>
          <a:bodyPr/>
          <a:lstStyle/>
          <a:p>
            <a:pPr>
              <a:buFont typeface="Wingdings" panose="05000000000000000000" pitchFamily="2" charset="2"/>
              <a:buChar char="p"/>
            </a:pPr>
            <a:r>
              <a:rPr lang="zh-CN" altLang="en-US" sz="2200" b="1" dirty="0" smtClean="0">
                <a:solidFill>
                  <a:srgbClr val="FF0000"/>
                </a:solidFill>
              </a:rPr>
              <a:t>矩阵</a:t>
            </a:r>
            <a:r>
              <a:rPr lang="en-US" altLang="zh-CN" sz="2200" b="1" dirty="0" smtClean="0">
                <a:solidFill>
                  <a:srgbClr val="0000FF"/>
                </a:solidFill>
              </a:rPr>
              <a:t>(Matrix)</a:t>
            </a:r>
            <a:r>
              <a:rPr lang="zh-CN" altLang="en-US" sz="2200" b="1" dirty="0" smtClean="0"/>
              <a:t>是</a:t>
            </a:r>
            <a:r>
              <a:rPr lang="zh-CN" altLang="en-US" sz="2200" b="1" dirty="0"/>
              <a:t>许多科学、工程中研究和应用的数学对象。</a:t>
            </a:r>
            <a:endParaRPr lang="en-US" altLang="zh-CN" sz="2200" b="1" dirty="0"/>
          </a:p>
          <a:p>
            <a:pPr>
              <a:buClr>
                <a:srgbClr val="FF0000"/>
              </a:buClr>
              <a:buFont typeface="Wingdings" panose="05000000000000000000" pitchFamily="2" charset="2"/>
              <a:buChar char="p"/>
            </a:pPr>
            <a:r>
              <a:rPr lang="zh-CN" altLang="en-US" sz="2200" b="1" dirty="0"/>
              <a:t>在实际应用中经常会用到一些阶数较高的矩阵，因而要占用较大的存储空间。</a:t>
            </a:r>
            <a:endParaRPr lang="zh-CN" altLang="en-US" sz="2200" b="1" dirty="0"/>
          </a:p>
          <a:p>
            <a:pPr>
              <a:buClr>
                <a:srgbClr val="FF0000"/>
              </a:buClr>
              <a:buFont typeface="Wingdings" panose="05000000000000000000" pitchFamily="2" charset="2"/>
              <a:buChar char="p"/>
            </a:pPr>
            <a:r>
              <a:rPr lang="zh-CN" altLang="en-US" sz="2200" b="1" dirty="0"/>
              <a:t>然而，许多所涉及到的矩阵中有较多的元素的值为0，称这种矩阵为</a:t>
            </a:r>
            <a:r>
              <a:rPr lang="zh-CN" altLang="en-US" sz="2200" b="1" dirty="0" smtClean="0">
                <a:solidFill>
                  <a:srgbClr val="FF0000"/>
                </a:solidFill>
              </a:rPr>
              <a:t>稀疏矩阵</a:t>
            </a:r>
            <a:r>
              <a:rPr lang="en-US" altLang="zh-CN" sz="2200" b="1" dirty="0" smtClean="0">
                <a:solidFill>
                  <a:srgbClr val="0000FF"/>
                </a:solidFill>
              </a:rPr>
              <a:t>(Sparse Matrix)</a:t>
            </a:r>
            <a:r>
              <a:rPr lang="zh-CN" altLang="en-US" sz="2200" b="1" dirty="0" smtClean="0"/>
              <a:t>。</a:t>
            </a:r>
            <a:endParaRPr lang="zh-CN" altLang="en-US" sz="2200" b="1" dirty="0"/>
          </a:p>
          <a:p>
            <a:pPr>
              <a:buClr>
                <a:srgbClr val="FF0000"/>
              </a:buClr>
              <a:buFont typeface="Wingdings" panose="05000000000000000000" pitchFamily="2" charset="2"/>
              <a:buChar char="p"/>
            </a:pPr>
            <a:r>
              <a:rPr lang="zh-CN" altLang="en-US" sz="2200" b="1" dirty="0"/>
              <a:t>另外，还有一些矩阵的元素值的分布有一定规律，称这类矩阵为</a:t>
            </a:r>
            <a:r>
              <a:rPr lang="zh-CN" altLang="en-US" sz="2200" b="1" dirty="0">
                <a:solidFill>
                  <a:srgbClr val="FF0000"/>
                </a:solidFill>
              </a:rPr>
              <a:t>特殊</a:t>
            </a:r>
            <a:r>
              <a:rPr lang="zh-CN" altLang="en-US" sz="2200" b="1" dirty="0" smtClean="0">
                <a:solidFill>
                  <a:srgbClr val="FF0000"/>
                </a:solidFill>
              </a:rPr>
              <a:t>矩阵</a:t>
            </a:r>
            <a:r>
              <a:rPr lang="en-US" altLang="zh-CN" sz="2200" b="1" dirty="0" smtClean="0">
                <a:solidFill>
                  <a:srgbClr val="0000FF"/>
                </a:solidFill>
              </a:rPr>
              <a:t>(Special Matrix)</a:t>
            </a:r>
            <a:r>
              <a:rPr lang="zh-CN" altLang="en-US" sz="2200" b="1" dirty="0" smtClean="0"/>
              <a:t>。</a:t>
            </a:r>
            <a:endParaRPr lang="zh-CN" altLang="en-US" sz="2200" b="1" dirty="0"/>
          </a:p>
          <a:p>
            <a:pPr>
              <a:buClr>
                <a:srgbClr val="FF0000"/>
              </a:buClr>
              <a:buFont typeface="Wingdings" panose="05000000000000000000" pitchFamily="2" charset="2"/>
              <a:buChar char="p"/>
            </a:pPr>
            <a:r>
              <a:rPr lang="zh-CN" altLang="en-US" sz="2200" b="1" dirty="0"/>
              <a:t>为节省存储空间，可对此类矩阵采用“</a:t>
            </a:r>
            <a:r>
              <a:rPr lang="zh-CN" altLang="en-US" sz="2200" b="1" dirty="0">
                <a:solidFill>
                  <a:srgbClr val="FF0000"/>
                </a:solidFill>
              </a:rPr>
              <a:t>压缩</a:t>
            </a:r>
            <a:r>
              <a:rPr lang="zh-CN" altLang="en-US" sz="2200" b="1" dirty="0"/>
              <a:t>”方式来存储。</a:t>
            </a:r>
            <a:endParaRPr lang="en-US" altLang="zh-CN" sz="2200" b="1" dirty="0"/>
          </a:p>
          <a:p>
            <a:pPr>
              <a:buClr>
                <a:srgbClr val="FF0000"/>
              </a:buClr>
              <a:buFont typeface="Wingdings" panose="05000000000000000000" pitchFamily="2" charset="2"/>
              <a:buChar char="p"/>
            </a:pPr>
            <a:r>
              <a:rPr lang="zh-CN" altLang="en-US" sz="2200" b="1" dirty="0"/>
              <a:t>此处所谓</a:t>
            </a:r>
            <a:r>
              <a:rPr lang="zh-CN" altLang="en-US" sz="2200" b="1" dirty="0" smtClean="0">
                <a:solidFill>
                  <a:srgbClr val="FF0000"/>
                </a:solidFill>
              </a:rPr>
              <a:t>压缩</a:t>
            </a:r>
            <a:r>
              <a:rPr lang="en-US" altLang="zh-CN" sz="2200" b="1" dirty="0" smtClean="0">
                <a:solidFill>
                  <a:srgbClr val="0000FF"/>
                </a:solidFill>
              </a:rPr>
              <a:t>(Compression)</a:t>
            </a:r>
            <a:r>
              <a:rPr lang="zh-CN" altLang="en-US" sz="2200" b="1" dirty="0" smtClean="0"/>
              <a:t>是</a:t>
            </a:r>
            <a:r>
              <a:rPr lang="zh-CN" altLang="en-US" sz="2200" b="1" dirty="0"/>
              <a:t>指：在不影响完整性的前提下，用更少的存储空间存储其元素。</a:t>
            </a:r>
            <a:endParaRPr lang="zh-CN" altLang="en-US" sz="2200" b="1" dirty="0"/>
          </a:p>
          <a:p>
            <a:pPr>
              <a:buClr>
                <a:srgbClr val="FF0000"/>
              </a:buClr>
              <a:buFont typeface="Wingdings" panose="05000000000000000000" pitchFamily="2" charset="2"/>
              <a:buChar char="p"/>
            </a:pPr>
            <a:r>
              <a:rPr lang="zh-CN" altLang="en-US" sz="2200" b="1" dirty="0"/>
              <a:t>下面分别讨论这两类矩阵的压缩</a:t>
            </a:r>
            <a:r>
              <a:rPr lang="zh-CN" altLang="en-US" sz="2200" b="1" dirty="0" smtClean="0"/>
              <a:t>存储</a:t>
            </a:r>
            <a:r>
              <a:rPr lang="en-US" altLang="zh-CN" sz="2200" b="1" dirty="0" smtClean="0"/>
              <a:t>(</a:t>
            </a:r>
            <a:r>
              <a:rPr lang="en-US" altLang="zh-CN" sz="2200" b="1" dirty="0" smtClean="0">
                <a:solidFill>
                  <a:srgbClr val="0000FF"/>
                </a:solidFill>
              </a:rPr>
              <a:t>Compression Storage</a:t>
            </a:r>
            <a:r>
              <a:rPr lang="en-US" altLang="zh-CN" sz="2200" b="1" dirty="0" smtClean="0"/>
              <a:t>)</a:t>
            </a:r>
            <a:r>
              <a:rPr lang="zh-CN" altLang="en-US" sz="2200" b="1" dirty="0" smtClean="0"/>
              <a:t>。</a:t>
            </a:r>
            <a:endParaRPr lang="zh-CN" altLang="en-US" sz="2200" b="1" dirty="0"/>
          </a:p>
        </p:txBody>
      </p:sp>
      <p:sp>
        <p:nvSpPr>
          <p:cNvPr id="6" name="灯片编号占位符 5"/>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grpSp>
        <p:nvGrpSpPr>
          <p:cNvPr id="5" name="组合 114"/>
          <p:cNvGrpSpPr/>
          <p:nvPr/>
        </p:nvGrpSpPr>
        <p:grpSpPr>
          <a:xfrm>
            <a:off x="-900608" y="86081"/>
            <a:ext cx="6225040" cy="710938"/>
            <a:chOff x="-522583" y="3380569"/>
            <a:chExt cx="6225040" cy="710938"/>
          </a:xfrm>
        </p:grpSpPr>
        <p:grpSp>
          <p:nvGrpSpPr>
            <p:cNvPr id="7" name="组合 105"/>
            <p:cNvGrpSpPr/>
            <p:nvPr/>
          </p:nvGrpSpPr>
          <p:grpSpPr>
            <a:xfrm>
              <a:off x="-522583" y="3380569"/>
              <a:ext cx="6225040" cy="710938"/>
              <a:chOff x="-522583" y="3380569"/>
              <a:chExt cx="6225040" cy="71093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22583" y="3380569"/>
                <a:ext cx="6225040" cy="71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6.2 </a:t>
                </a:r>
                <a:r>
                  <a:rPr lang="zh-CN" altLang="en-US" sz="3600" b="1" dirty="0" smtClean="0">
                    <a:latin typeface="Times New Roman" panose="02020603050405020304" pitchFamily="18" charset="0"/>
                    <a:ea typeface="黑体" panose="02010609060101010101" pitchFamily="49" charset="-122"/>
                  </a:rPr>
                  <a:t>数组</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linds(horizontal)">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linds(horizont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linds(horizontal)">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linds(horizontal)">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linds(horizontal)">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linds(horizontal)">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blinds(horizontal)">
                                      <p:cBhvr>
                                        <p:cTn id="4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8931" y="702125"/>
            <a:ext cx="8229600" cy="660930"/>
          </a:xfrm>
        </p:spPr>
        <p:txBody>
          <a:bodyPr>
            <a:normAutofit/>
          </a:bodyPr>
          <a:lstStyle/>
          <a:p>
            <a:r>
              <a:rPr lang="zh-CN" altLang="en-US" sz="2400" b="1" dirty="0">
                <a:solidFill>
                  <a:srgbClr val="0000FF"/>
                </a:solidFill>
                <a:sym typeface="+mn-ea"/>
              </a:rPr>
              <a:t>（1）</a:t>
            </a:r>
            <a:r>
              <a:rPr lang="zh-CN" altLang="en-US" sz="2400" b="1" dirty="0" smtClean="0">
                <a:solidFill>
                  <a:srgbClr val="0000FF"/>
                </a:solidFill>
                <a:sym typeface="+mn-ea"/>
              </a:rPr>
              <a:t>对称矩阵和</a:t>
            </a:r>
            <a:r>
              <a:rPr lang="zh-CN" altLang="en-US" sz="2400" b="1" dirty="0">
                <a:solidFill>
                  <a:srgbClr val="0000FF"/>
                </a:solidFill>
                <a:sym typeface="+mn-ea"/>
              </a:rPr>
              <a:t>三角矩阵的压缩存储</a:t>
            </a:r>
            <a:endParaRPr lang="zh-CN" altLang="en-US" sz="2400" b="1" dirty="0">
              <a:solidFill>
                <a:srgbClr val="0000FF"/>
              </a:solidFill>
              <a:sym typeface="+mn-ea"/>
            </a:endParaRPr>
          </a:p>
        </p:txBody>
      </p:sp>
      <p:sp>
        <p:nvSpPr>
          <p:cNvPr id="3" name="内容占位符 2"/>
          <p:cNvSpPr>
            <a:spLocks noGrp="1"/>
          </p:cNvSpPr>
          <p:nvPr>
            <p:ph idx="1"/>
          </p:nvPr>
        </p:nvSpPr>
        <p:spPr>
          <a:xfrm>
            <a:off x="575468" y="1363055"/>
            <a:ext cx="8389020" cy="5012221"/>
          </a:xfrm>
        </p:spPr>
        <p:txBody>
          <a:bodyPr/>
          <a:lstStyle/>
          <a:p>
            <a:pPr>
              <a:spcBef>
                <a:spcPts val="500"/>
              </a:spcBef>
              <a:buClr>
                <a:srgbClr val="FF0000"/>
              </a:buClr>
              <a:buFont typeface="Wingdings" panose="05000000000000000000" pitchFamily="2" charset="2"/>
              <a:buChar char="p"/>
            </a:pPr>
            <a:r>
              <a:rPr lang="zh-CN" altLang="en-US" sz="2000" b="1" dirty="0"/>
              <a:t>若矩阵</a:t>
            </a:r>
            <a:r>
              <a:rPr lang="zh-CN" altLang="en-US" sz="2000" b="1" dirty="0" smtClean="0"/>
              <a:t>A</a:t>
            </a:r>
            <a:r>
              <a:rPr lang="zh-CN" altLang="en-US" sz="2000" b="1" i="1" baseline="-25000" dirty="0" smtClean="0"/>
              <a:t>n</a:t>
            </a:r>
            <a:r>
              <a:rPr lang="zh-CN" altLang="en-US" sz="2000" b="1" baseline="-25000" dirty="0"/>
              <a:t>×</a:t>
            </a:r>
            <a:r>
              <a:rPr lang="zh-CN" altLang="en-US" sz="2000" b="1" i="1" baseline="-25000" dirty="0"/>
              <a:t>n</a:t>
            </a:r>
            <a:r>
              <a:rPr lang="zh-CN" altLang="en-US" sz="2000" b="1" dirty="0"/>
              <a:t>满足</a:t>
            </a:r>
            <a:r>
              <a:rPr lang="zh-CN" altLang="en-US" sz="2000" b="1" i="1" dirty="0"/>
              <a:t>a</a:t>
            </a:r>
            <a:r>
              <a:rPr lang="zh-CN" altLang="en-US" sz="2000" b="1" i="1" baseline="-25000" dirty="0"/>
              <a:t>ij</a:t>
            </a:r>
            <a:r>
              <a:rPr lang="zh-CN" altLang="en-US" sz="2000" b="1" dirty="0"/>
              <a:t>=</a:t>
            </a:r>
            <a:r>
              <a:rPr lang="zh-CN" altLang="en-US" sz="2000" b="1" i="1" dirty="0"/>
              <a:t>a</a:t>
            </a:r>
            <a:r>
              <a:rPr lang="zh-CN" altLang="en-US" sz="2000" b="1" i="1" baseline="-25000" dirty="0"/>
              <a:t>ji</a:t>
            </a:r>
            <a:r>
              <a:rPr lang="zh-CN" altLang="en-US" sz="2000" b="1" dirty="0"/>
              <a:t>(1≤</a:t>
            </a:r>
            <a:r>
              <a:rPr lang="zh-CN" altLang="en-US" sz="2000" b="1" i="1" dirty="0"/>
              <a:t>i</a:t>
            </a:r>
            <a:r>
              <a:rPr lang="zh-CN" altLang="en-US" sz="2000" b="1" dirty="0" smtClean="0"/>
              <a:t>, </a:t>
            </a:r>
            <a:r>
              <a:rPr lang="zh-CN" altLang="en-US" sz="2000" b="1" i="1" dirty="0" smtClean="0"/>
              <a:t>j</a:t>
            </a:r>
            <a:r>
              <a:rPr lang="zh-CN" altLang="en-US" sz="2000" b="1" dirty="0"/>
              <a:t>≤</a:t>
            </a:r>
            <a:r>
              <a:rPr lang="zh-CN" altLang="en-US" sz="2000" b="1" i="1" dirty="0"/>
              <a:t>n</a:t>
            </a:r>
            <a:r>
              <a:rPr lang="zh-CN" altLang="en-US" sz="2000" b="1" dirty="0"/>
              <a:t>)，则称A为</a:t>
            </a:r>
            <a:r>
              <a:rPr lang="zh-CN" altLang="en-US" sz="2000" b="1" dirty="0" smtClean="0">
                <a:solidFill>
                  <a:srgbClr val="FF0000"/>
                </a:solidFill>
              </a:rPr>
              <a:t>对称矩阵</a:t>
            </a:r>
            <a:r>
              <a:rPr lang="en-US" altLang="zh-CN" sz="2000" b="1" dirty="0">
                <a:solidFill>
                  <a:srgbClr val="0000FF"/>
                </a:solidFill>
                <a:sym typeface="+mn-ea"/>
              </a:rPr>
              <a:t>(Symmetric Matrix</a:t>
            </a:r>
            <a:r>
              <a:rPr lang="en-US" altLang="zh-CN" sz="2000" b="1" dirty="0" smtClean="0">
                <a:solidFill>
                  <a:srgbClr val="0000FF"/>
                </a:solidFill>
                <a:sym typeface="+mn-ea"/>
              </a:rPr>
              <a:t>)</a:t>
            </a:r>
            <a:r>
              <a:rPr lang="zh-CN" altLang="en-US" sz="2000" b="1" dirty="0" smtClean="0"/>
              <a:t>。</a:t>
            </a:r>
            <a:endParaRPr lang="zh-CN" altLang="en-US" sz="2000" b="1" dirty="0"/>
          </a:p>
          <a:p>
            <a:pPr>
              <a:spcBef>
                <a:spcPts val="500"/>
              </a:spcBef>
              <a:buClr>
                <a:srgbClr val="FF0000"/>
              </a:buClr>
              <a:buFont typeface="Wingdings" panose="05000000000000000000" pitchFamily="2" charset="2"/>
              <a:buChar char="p"/>
            </a:pPr>
            <a:r>
              <a:rPr lang="zh-CN" altLang="en-US" sz="2000" b="1" dirty="0"/>
              <a:t>由于对称矩阵关于对角线对称，因此，</a:t>
            </a:r>
            <a:r>
              <a:rPr lang="zh-CN" altLang="en-US" sz="2000" b="1" dirty="0" smtClean="0"/>
              <a:t>只需存储矩阵</a:t>
            </a:r>
            <a:r>
              <a:rPr lang="zh-CN" altLang="en-US" sz="2000" b="1" dirty="0"/>
              <a:t>的下三角或上三角(包括对角线)部分的元素，另一部分不必存储，从而实现压缩存储。</a:t>
            </a:r>
            <a:endParaRPr lang="en-US" altLang="zh-CN" sz="2000" b="1" dirty="0"/>
          </a:p>
          <a:p>
            <a:pPr>
              <a:spcBef>
                <a:spcPts val="500"/>
              </a:spcBef>
              <a:buClr>
                <a:srgbClr val="FF0000"/>
              </a:buClr>
              <a:buFont typeface="Wingdings" panose="05000000000000000000" pitchFamily="2" charset="2"/>
              <a:buChar char="p"/>
            </a:pPr>
            <a:r>
              <a:rPr lang="zh-CN" altLang="en-US" sz="2000" b="1" dirty="0"/>
              <a:t>不失一般性</a:t>
            </a:r>
            <a:r>
              <a:rPr lang="zh-CN" altLang="en-US" sz="2000" b="1" dirty="0" smtClean="0"/>
              <a:t>，按</a:t>
            </a:r>
            <a:r>
              <a:rPr lang="zh-CN" altLang="en-US" sz="2000" b="1" dirty="0"/>
              <a:t>以行序为主序方式存储矩阵的下三角部分(共</a:t>
            </a:r>
            <a:r>
              <a:rPr lang="zh-CN" altLang="en-US" sz="2000" b="1" i="1" dirty="0"/>
              <a:t>n</a:t>
            </a:r>
            <a:r>
              <a:rPr lang="zh-CN" altLang="en-US" sz="2000" b="1" dirty="0"/>
              <a:t>(</a:t>
            </a:r>
            <a:r>
              <a:rPr lang="zh-CN" altLang="en-US" sz="2000" b="1" i="1" dirty="0"/>
              <a:t>n</a:t>
            </a:r>
            <a:r>
              <a:rPr lang="zh-CN" altLang="en-US" sz="2000" b="1" dirty="0"/>
              <a:t>+1)/2个元素)到数组</a:t>
            </a:r>
            <a:r>
              <a:rPr lang="zh-CN" altLang="en-US" sz="2000" b="1" dirty="0" smtClean="0"/>
              <a:t>SA</a:t>
            </a:r>
            <a:r>
              <a:rPr lang="en-US" altLang="zh-CN" sz="2000" b="1" dirty="0" smtClean="0"/>
              <a:t>[</a:t>
            </a:r>
            <a:r>
              <a:rPr lang="zh-CN" altLang="en-US" sz="2000" b="1" dirty="0" smtClean="0"/>
              <a:t>1</a:t>
            </a:r>
            <a:r>
              <a:rPr lang="en-US" altLang="zh-CN" sz="2000" b="1" dirty="0" smtClean="0"/>
              <a:t>.</a:t>
            </a:r>
            <a:r>
              <a:rPr lang="zh-CN" altLang="en-US" sz="2000" b="1" dirty="0" smtClean="0"/>
              <a:t>..</a:t>
            </a:r>
            <a:r>
              <a:rPr lang="zh-CN" altLang="en-US" sz="2000" b="1" i="1" dirty="0"/>
              <a:t>n</a:t>
            </a:r>
            <a:r>
              <a:rPr lang="zh-CN" altLang="en-US" sz="2000" b="1" dirty="0"/>
              <a:t>(</a:t>
            </a:r>
            <a:r>
              <a:rPr lang="zh-CN" altLang="en-US" sz="2000" b="1" i="1" dirty="0"/>
              <a:t>n</a:t>
            </a:r>
            <a:r>
              <a:rPr lang="zh-CN" altLang="en-US" sz="2000" b="1" dirty="0"/>
              <a:t>+1)/</a:t>
            </a:r>
            <a:r>
              <a:rPr lang="zh-CN" altLang="en-US" sz="2000" b="1" dirty="0" smtClean="0"/>
              <a:t>2</a:t>
            </a:r>
            <a:r>
              <a:rPr lang="en-US" altLang="zh-CN" sz="2000" b="1" dirty="0" smtClean="0"/>
              <a:t>]</a:t>
            </a:r>
            <a:r>
              <a:rPr lang="zh-CN" altLang="en-US" sz="2000" b="1" dirty="0" smtClean="0"/>
              <a:t>中</a:t>
            </a:r>
            <a:r>
              <a:rPr lang="zh-CN" altLang="en-US" sz="2000" b="1" dirty="0"/>
              <a:t>。如图所</a:t>
            </a:r>
            <a:r>
              <a:rPr lang="zh-CN" altLang="en-US" sz="2000" b="1" dirty="0" smtClean="0"/>
              <a:t>示：</a:t>
            </a:r>
            <a:endParaRPr lang="zh-CN" altLang="en-US" sz="2000" b="1" dirty="0"/>
          </a:p>
          <a:p>
            <a:pPr marL="0" indent="0" algn="ctr">
              <a:spcBef>
                <a:spcPts val="2200"/>
              </a:spcBef>
              <a:buNone/>
            </a:pPr>
            <a:r>
              <a:rPr lang="zh-CN" altLang="en-US" sz="2000" b="1" i="1" dirty="0" smtClean="0">
                <a:sym typeface="+mn-ea"/>
              </a:rPr>
              <a:t>a</a:t>
            </a:r>
            <a:r>
              <a:rPr lang="zh-CN" altLang="en-US" sz="2000" b="1" baseline="-25000" dirty="0">
                <a:sym typeface="+mn-ea"/>
              </a:rPr>
              <a:t>11</a:t>
            </a:r>
            <a:r>
              <a:rPr lang="zh-CN" altLang="en-US" sz="2000" b="1" dirty="0">
                <a:sym typeface="+mn-ea"/>
              </a:rPr>
              <a:t>  </a:t>
            </a:r>
            <a:r>
              <a:rPr lang="zh-CN" altLang="en-US" sz="2000" b="1" i="1" dirty="0">
                <a:sym typeface="+mn-ea"/>
              </a:rPr>
              <a:t>a</a:t>
            </a:r>
            <a:r>
              <a:rPr lang="zh-CN" altLang="en-US" sz="2000" b="1" baseline="-25000" dirty="0">
                <a:sym typeface="+mn-ea"/>
              </a:rPr>
              <a:t>12</a:t>
            </a:r>
            <a:r>
              <a:rPr lang="zh-CN" altLang="en-US" sz="2000" b="1" dirty="0">
                <a:sym typeface="+mn-ea"/>
              </a:rPr>
              <a:t>   </a:t>
            </a:r>
            <a:r>
              <a:rPr lang="zh-CN" altLang="en-US" sz="2000" b="1" i="1" dirty="0">
                <a:sym typeface="+mn-ea"/>
              </a:rPr>
              <a:t>a</a:t>
            </a:r>
            <a:r>
              <a:rPr lang="zh-CN" altLang="en-US" sz="2000" b="1" baseline="-25000" dirty="0">
                <a:sym typeface="+mn-ea"/>
              </a:rPr>
              <a:t>13</a:t>
            </a:r>
            <a:r>
              <a:rPr lang="zh-CN" altLang="en-US" sz="2000" b="1" dirty="0">
                <a:sym typeface="+mn-ea"/>
              </a:rPr>
              <a:t>    …     </a:t>
            </a:r>
            <a:r>
              <a:rPr lang="zh-CN" altLang="en-US" sz="2000" b="1" i="1" dirty="0">
                <a:sym typeface="+mn-ea"/>
              </a:rPr>
              <a:t>a</a:t>
            </a:r>
            <a:r>
              <a:rPr lang="zh-CN" altLang="en-US" sz="2000" b="1" baseline="-25000" dirty="0">
                <a:sym typeface="+mn-ea"/>
              </a:rPr>
              <a:t>1</a:t>
            </a:r>
            <a:r>
              <a:rPr lang="zh-CN" altLang="en-US" sz="2000" b="1" i="1" baseline="-25000" dirty="0">
                <a:sym typeface="+mn-ea"/>
              </a:rPr>
              <a:t>n</a:t>
            </a:r>
            <a:endParaRPr lang="zh-CN" altLang="en-US" sz="2000" b="1" i="1" dirty="0"/>
          </a:p>
          <a:p>
            <a:pPr marL="0" indent="0" algn="ctr">
              <a:buNone/>
            </a:pPr>
            <a:r>
              <a:rPr lang="zh-CN" altLang="en-US" sz="2000" b="1" i="1" dirty="0">
                <a:sym typeface="+mn-ea"/>
              </a:rPr>
              <a:t>a</a:t>
            </a:r>
            <a:r>
              <a:rPr lang="zh-CN" altLang="en-US" sz="2000" b="1" baseline="-25000" dirty="0">
                <a:sym typeface="+mn-ea"/>
              </a:rPr>
              <a:t>21</a:t>
            </a:r>
            <a:r>
              <a:rPr lang="zh-CN" altLang="en-US" sz="2000" b="1" dirty="0">
                <a:sym typeface="+mn-ea"/>
              </a:rPr>
              <a:t>  </a:t>
            </a:r>
            <a:r>
              <a:rPr lang="zh-CN" altLang="en-US" sz="2000" b="1" i="1" dirty="0">
                <a:sym typeface="+mn-ea"/>
              </a:rPr>
              <a:t>a</a:t>
            </a:r>
            <a:r>
              <a:rPr lang="zh-CN" altLang="en-US" sz="2000" b="1" baseline="-25000" dirty="0">
                <a:sym typeface="+mn-ea"/>
              </a:rPr>
              <a:t>22</a:t>
            </a:r>
            <a:r>
              <a:rPr lang="zh-CN" altLang="en-US" sz="2000" b="1" dirty="0">
                <a:sym typeface="+mn-ea"/>
              </a:rPr>
              <a:t>   </a:t>
            </a:r>
            <a:r>
              <a:rPr lang="zh-CN" altLang="en-US" sz="2000" b="1" i="1" dirty="0">
                <a:sym typeface="+mn-ea"/>
              </a:rPr>
              <a:t>a</a:t>
            </a:r>
            <a:r>
              <a:rPr lang="zh-CN" altLang="en-US" sz="2000" b="1" baseline="-25000" dirty="0">
                <a:sym typeface="+mn-ea"/>
              </a:rPr>
              <a:t>23</a:t>
            </a:r>
            <a:r>
              <a:rPr lang="zh-CN" altLang="en-US" sz="2000" b="1" dirty="0">
                <a:sym typeface="+mn-ea"/>
              </a:rPr>
              <a:t>    …     </a:t>
            </a:r>
            <a:r>
              <a:rPr lang="zh-CN" altLang="en-US" sz="2000" b="1" i="1" dirty="0">
                <a:sym typeface="+mn-ea"/>
              </a:rPr>
              <a:t>a</a:t>
            </a:r>
            <a:r>
              <a:rPr lang="zh-CN" altLang="en-US" sz="2000" b="1" baseline="-25000" dirty="0">
                <a:sym typeface="+mn-ea"/>
              </a:rPr>
              <a:t>2</a:t>
            </a:r>
            <a:r>
              <a:rPr lang="zh-CN" altLang="en-US" sz="2000" b="1" i="1" baseline="-25000" dirty="0">
                <a:sym typeface="+mn-ea"/>
              </a:rPr>
              <a:t>n</a:t>
            </a:r>
            <a:endParaRPr lang="zh-CN" altLang="en-US" sz="2000" b="1" i="1" dirty="0"/>
          </a:p>
          <a:p>
            <a:pPr marL="0" indent="0" algn="ctr">
              <a:buNone/>
            </a:pPr>
            <a:r>
              <a:rPr lang="zh-CN" altLang="en-US" sz="2000" b="1" i="1" dirty="0">
                <a:sym typeface="+mn-ea"/>
              </a:rPr>
              <a:t>a</a:t>
            </a:r>
            <a:r>
              <a:rPr lang="zh-CN" altLang="en-US" sz="2000" b="1" baseline="-25000" dirty="0">
                <a:sym typeface="+mn-ea"/>
              </a:rPr>
              <a:t>31</a:t>
            </a:r>
            <a:r>
              <a:rPr lang="zh-CN" altLang="en-US" sz="2000" b="1" dirty="0">
                <a:sym typeface="+mn-ea"/>
              </a:rPr>
              <a:t>  </a:t>
            </a:r>
            <a:r>
              <a:rPr lang="zh-CN" altLang="en-US" sz="2000" b="1" i="1" dirty="0">
                <a:sym typeface="+mn-ea"/>
              </a:rPr>
              <a:t>a</a:t>
            </a:r>
            <a:r>
              <a:rPr lang="zh-CN" altLang="en-US" sz="2000" b="1" baseline="-25000" dirty="0">
                <a:sym typeface="+mn-ea"/>
              </a:rPr>
              <a:t>32</a:t>
            </a:r>
            <a:r>
              <a:rPr lang="zh-CN" altLang="en-US" sz="2000" b="1" dirty="0">
                <a:sym typeface="+mn-ea"/>
              </a:rPr>
              <a:t>   </a:t>
            </a:r>
            <a:r>
              <a:rPr lang="zh-CN" altLang="en-US" sz="2000" b="1" i="1" dirty="0">
                <a:sym typeface="+mn-ea"/>
              </a:rPr>
              <a:t>a</a:t>
            </a:r>
            <a:r>
              <a:rPr lang="zh-CN" altLang="en-US" sz="2000" b="1" baseline="-25000" dirty="0">
                <a:sym typeface="+mn-ea"/>
              </a:rPr>
              <a:t>33</a:t>
            </a:r>
            <a:r>
              <a:rPr lang="zh-CN" altLang="en-US" sz="2000" b="1" dirty="0">
                <a:sym typeface="+mn-ea"/>
              </a:rPr>
              <a:t>    …     </a:t>
            </a:r>
            <a:r>
              <a:rPr lang="zh-CN" altLang="en-US" sz="2000" b="1" i="1" dirty="0">
                <a:sym typeface="+mn-ea"/>
              </a:rPr>
              <a:t>a</a:t>
            </a:r>
            <a:r>
              <a:rPr lang="zh-CN" altLang="en-US" sz="2000" b="1" baseline="-25000" dirty="0">
                <a:sym typeface="+mn-ea"/>
              </a:rPr>
              <a:t>3</a:t>
            </a:r>
            <a:r>
              <a:rPr lang="zh-CN" altLang="en-US" sz="2000" b="1" i="1" baseline="-25000" dirty="0">
                <a:sym typeface="+mn-ea"/>
              </a:rPr>
              <a:t>n</a:t>
            </a:r>
            <a:endParaRPr lang="zh-CN" altLang="en-US" sz="2000" b="1" i="1" dirty="0"/>
          </a:p>
          <a:p>
            <a:pPr marL="0" indent="0" algn="ctr">
              <a:buNone/>
            </a:pPr>
            <a:r>
              <a:rPr lang="zh-CN" altLang="en-US" sz="2000" b="1" dirty="0">
                <a:sym typeface="+mn-ea"/>
              </a:rPr>
              <a:t>…       …  …  …   …</a:t>
            </a:r>
            <a:endParaRPr lang="zh-CN" altLang="en-US" sz="2000" b="1" dirty="0"/>
          </a:p>
          <a:p>
            <a:pPr marL="0" indent="0" algn="ctr">
              <a:buNone/>
            </a:pPr>
            <a:r>
              <a:rPr lang="zh-CN" altLang="en-US" sz="2000" b="1" i="1" dirty="0">
                <a:sym typeface="+mn-ea"/>
              </a:rPr>
              <a:t>a</a:t>
            </a:r>
            <a:r>
              <a:rPr lang="zh-CN" altLang="en-US" sz="2000" b="1" i="1" baseline="-25000" dirty="0">
                <a:sym typeface="+mn-ea"/>
              </a:rPr>
              <a:t>m</a:t>
            </a:r>
            <a:r>
              <a:rPr lang="zh-CN" altLang="en-US" sz="2000" b="1" baseline="-25000" dirty="0">
                <a:sym typeface="+mn-ea"/>
              </a:rPr>
              <a:t>1</a:t>
            </a:r>
            <a:r>
              <a:rPr lang="zh-CN" altLang="en-US" sz="2000" b="1" dirty="0">
                <a:sym typeface="+mn-ea"/>
              </a:rPr>
              <a:t>  </a:t>
            </a:r>
            <a:r>
              <a:rPr lang="zh-CN" altLang="en-US" sz="2000" b="1" i="1" dirty="0">
                <a:sym typeface="+mn-ea"/>
              </a:rPr>
              <a:t>a</a:t>
            </a:r>
            <a:r>
              <a:rPr lang="zh-CN" altLang="en-US" sz="2000" b="1" i="1" baseline="-25000" dirty="0">
                <a:sym typeface="+mn-ea"/>
              </a:rPr>
              <a:t>m</a:t>
            </a:r>
            <a:r>
              <a:rPr lang="zh-CN" altLang="en-US" sz="2000" b="1" baseline="-25000" dirty="0">
                <a:sym typeface="+mn-ea"/>
              </a:rPr>
              <a:t>2</a:t>
            </a:r>
            <a:r>
              <a:rPr lang="zh-CN" altLang="en-US" sz="2000" b="1" dirty="0">
                <a:sym typeface="+mn-ea"/>
              </a:rPr>
              <a:t>   </a:t>
            </a:r>
            <a:r>
              <a:rPr lang="zh-CN" altLang="en-US" sz="2000" b="1" i="1" dirty="0">
                <a:sym typeface="+mn-ea"/>
              </a:rPr>
              <a:t>a</a:t>
            </a:r>
            <a:r>
              <a:rPr lang="zh-CN" altLang="en-US" sz="2000" b="1" i="1" baseline="-25000" dirty="0">
                <a:sym typeface="+mn-ea"/>
              </a:rPr>
              <a:t>m</a:t>
            </a:r>
            <a:r>
              <a:rPr lang="zh-CN" altLang="en-US" sz="2000" b="1" baseline="-25000" dirty="0">
                <a:sym typeface="+mn-ea"/>
              </a:rPr>
              <a:t>3</a:t>
            </a:r>
            <a:r>
              <a:rPr lang="zh-CN" altLang="en-US" sz="2000" b="1" dirty="0">
                <a:sym typeface="+mn-ea"/>
              </a:rPr>
              <a:t>    …   </a:t>
            </a:r>
            <a:r>
              <a:rPr lang="zh-CN" altLang="en-US" sz="2000" b="1" i="1" dirty="0">
                <a:sym typeface="+mn-ea"/>
              </a:rPr>
              <a:t>a</a:t>
            </a:r>
            <a:r>
              <a:rPr lang="zh-CN" altLang="en-US" sz="2000" b="1" i="1" baseline="-25000" dirty="0">
                <a:sym typeface="+mn-ea"/>
              </a:rPr>
              <a:t>m</a:t>
            </a:r>
            <a:r>
              <a:rPr lang="en-US" altLang="zh-CN" sz="2000" b="1" i="1" baseline="-25000" dirty="0">
                <a:sym typeface="+mn-ea"/>
              </a:rPr>
              <a:t>n</a:t>
            </a:r>
            <a:r>
              <a:rPr lang="zh-CN" altLang="en-US" sz="2000" b="1" i="1" dirty="0">
                <a:sym typeface="+mn-ea"/>
              </a:rPr>
              <a:t>   </a:t>
            </a:r>
            <a:endParaRPr lang="en-US" altLang="zh-CN" sz="2000" b="1" i="1" dirty="0">
              <a:sym typeface="+mn-ea"/>
            </a:endParaRPr>
          </a:p>
          <a:p>
            <a:pPr marL="0" indent="0" algn="ctr">
              <a:buNone/>
            </a:pPr>
            <a:endParaRPr lang="en-US" altLang="zh-CN" sz="2000" b="1" dirty="0">
              <a:sym typeface="+mn-ea"/>
            </a:endParaRPr>
          </a:p>
          <a:p>
            <a:pPr>
              <a:spcBef>
                <a:spcPts val="0"/>
              </a:spcBef>
              <a:buClr>
                <a:srgbClr val="FF0000"/>
              </a:buClr>
              <a:buFont typeface="Wingdings" panose="05000000000000000000" pitchFamily="2" charset="2"/>
              <a:buChar char="n"/>
            </a:pPr>
            <a:endParaRPr lang="en-US" altLang="zh-CN" sz="2000" b="1" dirty="0" smtClean="0"/>
          </a:p>
          <a:p>
            <a:pPr>
              <a:spcBef>
                <a:spcPts val="600"/>
              </a:spcBef>
              <a:buClr>
                <a:srgbClr val="FF0000"/>
              </a:buClr>
              <a:buFont typeface="Wingdings" panose="05000000000000000000" pitchFamily="2" charset="2"/>
              <a:buChar char="p"/>
            </a:pPr>
            <a:r>
              <a:rPr lang="zh-CN" altLang="zh-CN" sz="2000" b="1" dirty="0" smtClean="0"/>
              <a:t>元素</a:t>
            </a:r>
            <a:r>
              <a:rPr lang="en-US" altLang="zh-CN" sz="2000" b="1" i="1" dirty="0"/>
              <a:t>a</a:t>
            </a:r>
            <a:r>
              <a:rPr lang="en-US" altLang="zh-CN" sz="2000" b="1" i="1" baseline="-25000" dirty="0"/>
              <a:t>ij</a:t>
            </a:r>
            <a:r>
              <a:rPr lang="zh-CN" altLang="zh-CN" sz="2000" b="1" dirty="0"/>
              <a:t>在</a:t>
            </a:r>
            <a:r>
              <a:rPr lang="en-US" altLang="zh-CN" sz="2000" b="1" dirty="0"/>
              <a:t>SA</a:t>
            </a:r>
            <a:r>
              <a:rPr lang="zh-CN" altLang="zh-CN" sz="2000" b="1" dirty="0"/>
              <a:t>中的序号的计算公式为</a:t>
            </a:r>
            <a:endParaRPr lang="zh-CN" altLang="zh-CN" sz="2000" b="1" dirty="0"/>
          </a:p>
          <a:p>
            <a:pPr lvl="1"/>
            <a:r>
              <a:rPr lang="en-US" altLang="zh-CN" sz="1800" b="1" dirty="0" err="1"/>
              <a:t>num</a:t>
            </a:r>
            <a:r>
              <a:rPr lang="en-US" altLang="zh-CN" sz="1800" b="1" dirty="0"/>
              <a:t>(</a:t>
            </a:r>
            <a:r>
              <a:rPr lang="en-US" altLang="zh-CN" sz="1800" b="1" i="1" dirty="0" err="1"/>
              <a:t>i</a:t>
            </a:r>
            <a:r>
              <a:rPr lang="en-US" altLang="zh-CN" sz="1800" b="1" dirty="0" smtClean="0"/>
              <a:t>, </a:t>
            </a:r>
            <a:r>
              <a:rPr lang="en-US" altLang="zh-CN" sz="1800" b="1" i="1" dirty="0" smtClean="0"/>
              <a:t>j</a:t>
            </a:r>
            <a:r>
              <a:rPr lang="en-US" altLang="zh-CN" sz="1800" b="1" dirty="0"/>
              <a:t>)=1+2+3+…+(</a:t>
            </a:r>
            <a:r>
              <a:rPr lang="en-US" altLang="zh-CN" sz="1800" b="1" i="1" dirty="0"/>
              <a:t>i</a:t>
            </a:r>
            <a:r>
              <a:rPr lang="en-US" altLang="zh-CN" sz="1800" b="1" dirty="0"/>
              <a:t>-1)+</a:t>
            </a:r>
            <a:r>
              <a:rPr lang="en-US" altLang="zh-CN" sz="1800" b="1" i="1" dirty="0"/>
              <a:t>j</a:t>
            </a:r>
            <a:r>
              <a:rPr lang="en-US" altLang="zh-CN" sz="1800" b="1" dirty="0"/>
              <a:t>=</a:t>
            </a:r>
            <a:r>
              <a:rPr lang="en-US" altLang="zh-CN" sz="1800" b="1" i="1" dirty="0" err="1"/>
              <a:t>i</a:t>
            </a:r>
            <a:r>
              <a:rPr lang="en-US" altLang="zh-CN" sz="1800" b="1" dirty="0"/>
              <a:t>(</a:t>
            </a:r>
            <a:r>
              <a:rPr lang="en-US" altLang="zh-CN" sz="1800" b="1" i="1" dirty="0"/>
              <a:t>i</a:t>
            </a:r>
            <a:r>
              <a:rPr lang="en-US" altLang="zh-CN" sz="1800" b="1" dirty="0"/>
              <a:t>-1)/2+</a:t>
            </a:r>
            <a:r>
              <a:rPr lang="en-US" altLang="zh-CN" sz="1800" b="1" i="1" dirty="0"/>
              <a:t>j</a:t>
            </a:r>
            <a:r>
              <a:rPr lang="en-US" altLang="zh-CN" sz="1800" b="1" dirty="0"/>
              <a:t>   </a:t>
            </a:r>
            <a:r>
              <a:rPr lang="en-US" altLang="zh-CN" sz="1800" b="1" dirty="0" smtClean="0"/>
              <a:t>(</a:t>
            </a:r>
            <a:r>
              <a:rPr lang="en-US" altLang="zh-CN" sz="1800" b="1" i="1" dirty="0" err="1" smtClean="0"/>
              <a:t>i</a:t>
            </a:r>
            <a:r>
              <a:rPr lang="en-US" altLang="zh-CN" sz="1800" b="1" i="1" dirty="0" smtClean="0"/>
              <a:t> </a:t>
            </a:r>
            <a:r>
              <a:rPr lang="zh-CN" altLang="zh-CN" sz="1800" b="1" dirty="0" smtClean="0"/>
              <a:t>≥</a:t>
            </a:r>
            <a:r>
              <a:rPr lang="en-US" altLang="zh-CN" sz="1800" b="1" dirty="0" smtClean="0"/>
              <a:t> </a:t>
            </a:r>
            <a:r>
              <a:rPr lang="en-US" altLang="zh-CN" sz="1800" b="1" i="1" dirty="0" smtClean="0"/>
              <a:t>j</a:t>
            </a:r>
            <a:r>
              <a:rPr lang="en-US" altLang="zh-CN" sz="1800" b="1" dirty="0"/>
              <a:t>)</a:t>
            </a:r>
            <a:endParaRPr lang="zh-CN" altLang="zh-CN" sz="1800" b="1" dirty="0"/>
          </a:p>
          <a:p>
            <a:pPr marL="0" indent="0" algn="ctr">
              <a:buNone/>
            </a:pPr>
            <a:endParaRPr lang="zh-CN" altLang="en-US" sz="2000" dirty="0"/>
          </a:p>
        </p:txBody>
      </p:sp>
      <p:sp>
        <p:nvSpPr>
          <p:cNvPr id="14" name="双括号 13"/>
          <p:cNvSpPr/>
          <p:nvPr/>
        </p:nvSpPr>
        <p:spPr>
          <a:xfrm>
            <a:off x="3131372" y="3432489"/>
            <a:ext cx="3096812" cy="1720435"/>
          </a:xfrm>
          <a:prstGeom prst="bracketPair">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5" name="表格 5"/>
          <p:cNvGraphicFramePr>
            <a:graphicFrameLocks noGrp="1"/>
          </p:cNvGraphicFramePr>
          <p:nvPr/>
        </p:nvGraphicFramePr>
        <p:xfrm>
          <a:off x="1832153" y="5246675"/>
          <a:ext cx="5591946" cy="396240"/>
        </p:xfrm>
        <a:graphic>
          <a:graphicData uri="http://schemas.openxmlformats.org/drawingml/2006/table">
            <a:tbl>
              <a:tblPr firstRow="1" bandRow="1">
                <a:tableStyleId>{9D7B26C5-4107-4FEC-AEDC-1716B250A1EF}</a:tableStyleId>
              </a:tblPr>
              <a:tblGrid>
                <a:gridCol w="576064"/>
                <a:gridCol w="1008112"/>
                <a:gridCol w="1656184"/>
                <a:gridCol w="487604"/>
                <a:gridCol w="1863982"/>
              </a:tblGrid>
              <a:tr h="352562">
                <a:tc>
                  <a:txBody>
                    <a:bodyPr/>
                    <a:lstStyle/>
                    <a:p>
                      <a:pPr marL="0" marR="0" lvl="0" indent="0" algn="l" defTabSz="91440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2000" i="1" u="none" dirty="0">
                          <a:latin typeface="Times New Roman" panose="02020603050405020304" pitchFamily="18" charset="0"/>
                        </a:rPr>
                        <a:t>a</a:t>
                      </a:r>
                      <a:r>
                        <a:rPr lang="en-US" altLang="zh-CN" sz="2000" u="none" baseline="-25000" dirty="0">
                          <a:latin typeface="Times New Roman" panose="02020603050405020304" pitchFamily="18" charset="0"/>
                        </a:rPr>
                        <a:t>11</a:t>
                      </a:r>
                      <a:endParaRPr lang="zh-CN" altLang="en-US" sz="2000" b="1"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l" defTabSz="91440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2000" i="1" u="none" dirty="0">
                          <a:latin typeface="Times New Roman" panose="02020603050405020304" pitchFamily="18" charset="0"/>
                        </a:rPr>
                        <a:t>a</a:t>
                      </a:r>
                      <a:r>
                        <a:rPr lang="en-US" altLang="zh-CN" sz="2000" u="none" baseline="-25000" dirty="0">
                          <a:latin typeface="Times New Roman" panose="02020603050405020304" pitchFamily="18" charset="0"/>
                        </a:rPr>
                        <a:t>21 </a:t>
                      </a:r>
                      <a:r>
                        <a:rPr lang="en-US" altLang="zh-CN" sz="2000" i="1" u="none" dirty="0">
                          <a:latin typeface="Times New Roman" panose="02020603050405020304" pitchFamily="18" charset="0"/>
                        </a:rPr>
                        <a:t>a</a:t>
                      </a:r>
                      <a:r>
                        <a:rPr lang="en-US" altLang="zh-CN" sz="2000" u="none" baseline="-25000" dirty="0">
                          <a:latin typeface="Times New Roman" panose="02020603050405020304" pitchFamily="18" charset="0"/>
                        </a:rPr>
                        <a:t>22</a:t>
                      </a:r>
                      <a:endParaRPr lang="zh-CN" altLang="en-US" sz="2000" b="1"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l" defTabSz="914400" eaLnBrk="0" fontAlgn="base" latinLnBrk="0" hangingPunct="0">
                        <a:lnSpc>
                          <a:spcPct val="100000"/>
                        </a:lnSpc>
                        <a:spcBef>
                          <a:spcPct val="0"/>
                        </a:spcBef>
                        <a:spcAft>
                          <a:spcPct val="0"/>
                        </a:spcAft>
                        <a:buClrTx/>
                        <a:buSzTx/>
                        <a:buFont typeface="Arial" panose="020B0604020202020204" pitchFamily="34" charset="0"/>
                        <a:buNone/>
                        <a:defRPr/>
                      </a:pPr>
                      <a:r>
                        <a:rPr lang="zh-CN" altLang="en-US" sz="2000" i="1" u="none" kern="1200" baseline="0" dirty="0">
                          <a:latin typeface="Times New Roman" panose="02020603050405020304" pitchFamily="18" charset="0"/>
                          <a:sym typeface="+mn-ea"/>
                        </a:rPr>
                        <a:t>a</a:t>
                      </a:r>
                      <a:r>
                        <a:rPr lang="zh-CN" altLang="en-US" sz="2000" u="none" kern="1200" baseline="-25000" dirty="0">
                          <a:latin typeface="Times New Roman" panose="02020603050405020304" pitchFamily="18" charset="0"/>
                          <a:sym typeface="+mn-ea"/>
                        </a:rPr>
                        <a:t>31</a:t>
                      </a:r>
                      <a:r>
                        <a:rPr lang="zh-CN" altLang="en-US" sz="2000" u="none" kern="1200" baseline="0" dirty="0">
                          <a:latin typeface="Times New Roman" panose="02020603050405020304" pitchFamily="18" charset="0"/>
                          <a:sym typeface="+mn-ea"/>
                        </a:rPr>
                        <a:t>  </a:t>
                      </a:r>
                      <a:r>
                        <a:rPr lang="zh-CN" altLang="en-US" sz="2000" i="1" u="none" kern="1200" baseline="0" dirty="0">
                          <a:latin typeface="Times New Roman" panose="02020603050405020304" pitchFamily="18" charset="0"/>
                          <a:sym typeface="+mn-ea"/>
                        </a:rPr>
                        <a:t>a</a:t>
                      </a:r>
                      <a:r>
                        <a:rPr lang="zh-CN" altLang="en-US" sz="2000" u="none" kern="1200" baseline="-25000" dirty="0">
                          <a:latin typeface="Times New Roman" panose="02020603050405020304" pitchFamily="18" charset="0"/>
                          <a:sym typeface="+mn-ea"/>
                        </a:rPr>
                        <a:t>32 </a:t>
                      </a:r>
                      <a:r>
                        <a:rPr lang="zh-CN" altLang="en-US" sz="2000" u="none" kern="1200" baseline="0" dirty="0">
                          <a:latin typeface="Times New Roman" panose="02020603050405020304" pitchFamily="18" charset="0"/>
                          <a:sym typeface="+mn-ea"/>
                        </a:rPr>
                        <a:t>  </a:t>
                      </a:r>
                      <a:r>
                        <a:rPr lang="zh-CN" altLang="en-US" sz="2000" i="1" u="none" kern="1200" baseline="0" dirty="0">
                          <a:latin typeface="Times New Roman" panose="02020603050405020304" pitchFamily="18" charset="0"/>
                          <a:sym typeface="+mn-ea"/>
                        </a:rPr>
                        <a:t>a</a:t>
                      </a:r>
                      <a:r>
                        <a:rPr lang="zh-CN" altLang="en-US" sz="2000" u="none" kern="1200" baseline="-25000" dirty="0">
                          <a:latin typeface="Times New Roman" panose="02020603050405020304" pitchFamily="18" charset="0"/>
                          <a:sym typeface="+mn-ea"/>
                        </a:rPr>
                        <a:t>33</a:t>
                      </a:r>
                      <a:endParaRPr lang="zh-CN" altLang="en-US" sz="2000" b="1" i="0" u="none" kern="1200"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l" defTabSz="91440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2000" u="none" kern="1200" baseline="0" dirty="0">
                          <a:latin typeface="Times New Roman" panose="02020603050405020304" pitchFamily="18" charset="0"/>
                        </a:rPr>
                        <a:t>…</a:t>
                      </a:r>
                      <a:endParaRPr lang="zh-CN" altLang="en-US" sz="2000" b="1" i="0" u="none" kern="1200" baseline="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l" defTabSz="914400" eaLnBrk="0" fontAlgn="base" latinLnBrk="0" hangingPunct="0">
                        <a:lnSpc>
                          <a:spcPct val="100000"/>
                        </a:lnSpc>
                        <a:spcBef>
                          <a:spcPct val="0"/>
                        </a:spcBef>
                        <a:spcAft>
                          <a:spcPct val="0"/>
                        </a:spcAft>
                        <a:buClrTx/>
                        <a:buSzTx/>
                        <a:buFont typeface="Arial" panose="020B0604020202020204" pitchFamily="34" charset="0"/>
                        <a:buNone/>
                        <a:defRPr/>
                      </a:pPr>
                      <a:r>
                        <a:rPr lang="en-US" altLang="zh-CN" sz="2000" i="1" u="none" kern="1200" baseline="0" dirty="0" smtClean="0">
                          <a:latin typeface="Times New Roman" panose="02020603050405020304" pitchFamily="18" charset="0"/>
                        </a:rPr>
                        <a:t>a</a:t>
                      </a:r>
                      <a:r>
                        <a:rPr lang="en-US" altLang="zh-CN" sz="2000" i="1" u="none" kern="1200" baseline="-25000" dirty="0" smtClean="0">
                          <a:latin typeface="Times New Roman" panose="02020603050405020304" pitchFamily="18" charset="0"/>
                        </a:rPr>
                        <a:t>m</a:t>
                      </a:r>
                      <a:r>
                        <a:rPr lang="en-US" altLang="zh-CN" sz="2000" u="none" kern="1200" baseline="-25000" dirty="0" smtClean="0">
                          <a:latin typeface="Times New Roman" panose="02020603050405020304" pitchFamily="18" charset="0"/>
                        </a:rPr>
                        <a:t>1</a:t>
                      </a:r>
                      <a:r>
                        <a:rPr lang="en-US" altLang="zh-CN" sz="2000" u="none" kern="1200" baseline="0" dirty="0" smtClean="0">
                          <a:latin typeface="Times New Roman" panose="02020603050405020304" pitchFamily="18" charset="0"/>
                        </a:rPr>
                        <a:t> </a:t>
                      </a:r>
                      <a:r>
                        <a:rPr lang="en-US" altLang="zh-CN" sz="2000" i="1" u="none" kern="1200" baseline="0" dirty="0">
                          <a:latin typeface="Times New Roman" panose="02020603050405020304" pitchFamily="18" charset="0"/>
                        </a:rPr>
                        <a:t>a</a:t>
                      </a:r>
                      <a:r>
                        <a:rPr lang="en-US" altLang="zh-CN" sz="2000" i="1" u="none" kern="1200" baseline="-25000" dirty="0">
                          <a:latin typeface="Times New Roman" panose="02020603050405020304" pitchFamily="18" charset="0"/>
                        </a:rPr>
                        <a:t>m</a:t>
                      </a:r>
                      <a:r>
                        <a:rPr lang="en-US" altLang="zh-CN" sz="2000" u="none" kern="1200" baseline="-25000" dirty="0">
                          <a:latin typeface="Times New Roman" panose="02020603050405020304" pitchFamily="18" charset="0"/>
                        </a:rPr>
                        <a:t>2</a:t>
                      </a:r>
                      <a:r>
                        <a:rPr lang="en-US" altLang="zh-CN" sz="2000" u="none" kern="1200" baseline="0" dirty="0">
                          <a:latin typeface="Times New Roman" panose="02020603050405020304" pitchFamily="18" charset="0"/>
                        </a:rPr>
                        <a:t>  …</a:t>
                      </a:r>
                      <a:r>
                        <a:rPr lang="en-US" altLang="zh-CN" sz="2000" i="1" u="none" kern="1200" baseline="0" dirty="0" err="1">
                          <a:latin typeface="Times New Roman" panose="02020603050405020304" pitchFamily="18" charset="0"/>
                        </a:rPr>
                        <a:t>a</a:t>
                      </a:r>
                      <a:r>
                        <a:rPr lang="en-US" altLang="zh-CN" sz="2000" i="1" u="none" kern="1200" baseline="-25000" dirty="0" err="1">
                          <a:latin typeface="Times New Roman" panose="02020603050405020304" pitchFamily="18" charset="0"/>
                        </a:rPr>
                        <a:t>mn</a:t>
                      </a:r>
                      <a:endParaRPr lang="zh-CN" altLang="en-US" sz="2000" b="1" i="1" u="none" kern="1200"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r>
            </a:tbl>
          </a:graphicData>
        </a:graphic>
      </p:graphicFrame>
      <p:sp>
        <p:nvSpPr>
          <p:cNvPr id="9" name="灯片编号占位符 8"/>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sp>
        <p:nvSpPr>
          <p:cNvPr id="15" name="椭圆 14"/>
          <p:cNvSpPr/>
          <p:nvPr/>
        </p:nvSpPr>
        <p:spPr>
          <a:xfrm>
            <a:off x="3505191" y="3429000"/>
            <a:ext cx="490745" cy="2880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p:cNvCxnSpPr>
            <a:stCxn id="15" idx="2"/>
          </p:cNvCxnSpPr>
          <p:nvPr/>
        </p:nvCxnSpPr>
        <p:spPr>
          <a:xfrm flipH="1">
            <a:off x="2123729" y="3573016"/>
            <a:ext cx="1381462" cy="17250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1832153" y="5274798"/>
            <a:ext cx="510693" cy="36805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3477286" y="3806557"/>
            <a:ext cx="878690" cy="2880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箭头连接符 18"/>
          <p:cNvCxnSpPr>
            <a:stCxn id="18" idx="3"/>
          </p:cNvCxnSpPr>
          <p:nvPr/>
        </p:nvCxnSpPr>
        <p:spPr>
          <a:xfrm flipH="1">
            <a:off x="2841099" y="4052408"/>
            <a:ext cx="764868" cy="118391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2484933" y="5274798"/>
            <a:ext cx="730084" cy="386449"/>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3286900" y="4846425"/>
            <a:ext cx="2749503" cy="33400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箭头连接符 23"/>
          <p:cNvCxnSpPr>
            <a:stCxn id="23" idx="6"/>
            <a:endCxn id="25" idx="1"/>
          </p:cNvCxnSpPr>
          <p:nvPr/>
        </p:nvCxnSpPr>
        <p:spPr>
          <a:xfrm flipH="1">
            <a:off x="5826590" y="5013426"/>
            <a:ext cx="209813" cy="37426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5561391" y="5345506"/>
            <a:ext cx="1810892" cy="2880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1226947" y="5199583"/>
            <a:ext cx="606507" cy="461665"/>
          </a:xfrm>
          <a:prstGeom prst="rect">
            <a:avLst/>
          </a:prstGeom>
          <a:noFill/>
        </p:spPr>
        <p:txBody>
          <a:bodyPr wrap="square" rtlCol="0">
            <a:spAutoFit/>
          </a:bodyPr>
          <a:lstStyle/>
          <a:p>
            <a:r>
              <a:rPr lang="en-US" altLang="zh-CN" dirty="0"/>
              <a:t>SA</a:t>
            </a:r>
            <a:endParaRPr lang="zh-CN" altLang="en-US" dirty="0"/>
          </a:p>
        </p:txBody>
      </p:sp>
      <p:cxnSp>
        <p:nvCxnSpPr>
          <p:cNvPr id="29" name="直接箭头连接符 28"/>
          <p:cNvCxnSpPr/>
          <p:nvPr/>
        </p:nvCxnSpPr>
        <p:spPr>
          <a:xfrm>
            <a:off x="3830843" y="3681935"/>
            <a:ext cx="1965293" cy="1331241"/>
          </a:xfrm>
          <a:prstGeom prst="straightConnector1">
            <a:avLst/>
          </a:prstGeom>
          <a:ln w="28575">
            <a:solidFill>
              <a:srgbClr val="FF000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标题 1"/>
          <p:cNvSpPr txBox="1"/>
          <p:nvPr/>
        </p:nvSpPr>
        <p:spPr bwMode="auto">
          <a:xfrm>
            <a:off x="457200" y="119505"/>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457200" indent="-457200">
              <a:buClr>
                <a:srgbClr val="FF0000"/>
              </a:buClr>
              <a:buFont typeface="Wingdings" panose="05000000000000000000" pitchFamily="2" charset="2"/>
              <a:buChar char="Ø"/>
            </a:pPr>
            <a:r>
              <a:rPr lang="en-US" altLang="zh-CN" sz="2800" dirty="0" smtClean="0">
                <a:latin typeface="Times New Roman" panose="02020603050405020304" pitchFamily="18" charset="0"/>
                <a:sym typeface="+mn-ea"/>
              </a:rPr>
              <a:t>6</a:t>
            </a:r>
            <a:r>
              <a:rPr lang="zh-CN" altLang="en-US" sz="2800" dirty="0" smtClean="0">
                <a:latin typeface="Times New Roman" panose="02020603050405020304" pitchFamily="18" charset="0"/>
                <a:sym typeface="+mn-ea"/>
              </a:rPr>
              <a:t>.</a:t>
            </a:r>
            <a:r>
              <a:rPr lang="en-US" altLang="zh-CN" sz="2800" dirty="0" smtClean="0">
                <a:latin typeface="Times New Roman" panose="02020603050405020304" pitchFamily="18" charset="0"/>
                <a:sym typeface="+mn-ea"/>
              </a:rPr>
              <a:t>2</a:t>
            </a:r>
            <a:r>
              <a:rPr lang="zh-CN" altLang="en-US" sz="2800" dirty="0" smtClean="0">
                <a:latin typeface="Times New Roman" panose="02020603050405020304" pitchFamily="18" charset="0"/>
                <a:sym typeface="+mn-ea"/>
              </a:rPr>
              <a:t>.3  矩阵的压缩存储</a:t>
            </a:r>
            <a:endParaRPr lang="zh-CN" altLang="en-US" sz="2800" dirty="0">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linds(horizontal)">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linds(horizont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linds(horizontal)">
                                      <p:cBhvr>
                                        <p:cTn id="21" dur="500"/>
                                        <p:tgtEl>
                                          <p:spTgt spid="3">
                                            <p:txEl>
                                              <p:pRg st="2" end="2"/>
                                            </p:txEl>
                                          </p:spTgt>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par>
                                <p:cTn id="24" presetID="3" presetClass="entr" presetSubtype="1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linds(horizontal)">
                                      <p:cBhvr>
                                        <p:cTn id="26" dur="500"/>
                                        <p:tgtEl>
                                          <p:spTgt spid="3">
                                            <p:txEl>
                                              <p:pRg st="3" end="3"/>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blinds(horizontal)">
                                      <p:cBhvr>
                                        <p:cTn id="29" dur="500"/>
                                        <p:tgtEl>
                                          <p:spTgt spid="3">
                                            <p:txEl>
                                              <p:pRg st="4" end="4"/>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blinds(horizontal)">
                                      <p:cBhvr>
                                        <p:cTn id="35" dur="500"/>
                                        <p:tgtEl>
                                          <p:spTgt spid="3">
                                            <p:txEl>
                                              <p:pRg st="6" end="6"/>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blinds(horizontal)">
                                      <p:cBhvr>
                                        <p:cTn id="38" dur="500"/>
                                        <p:tgtEl>
                                          <p:spTgt spid="3">
                                            <p:txEl>
                                              <p:pRg st="7" end="7"/>
                                            </p:txEl>
                                          </p:spTgt>
                                        </p:tgtEl>
                                      </p:cBhvr>
                                    </p:animEffec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3">
                                            <p:txEl>
                                              <p:pRg st="10" end="10"/>
                                            </p:txEl>
                                          </p:spTgt>
                                        </p:tgtEl>
                                        <p:attrNameLst>
                                          <p:attrName>style.visibility</p:attrName>
                                        </p:attrNameLst>
                                      </p:cBhvr>
                                      <p:to>
                                        <p:strVal val="visible"/>
                                      </p:to>
                                    </p:set>
                                    <p:animEffect transition="in" filter="blinds(horizontal)">
                                      <p:cBhvr>
                                        <p:cTn id="75" dur="500"/>
                                        <p:tgtEl>
                                          <p:spTgt spid="3">
                                            <p:txEl>
                                              <p:pRg st="10" end="1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3">
                                            <p:txEl>
                                              <p:pRg st="11" end="11"/>
                                            </p:txEl>
                                          </p:spTgt>
                                        </p:tgtEl>
                                        <p:attrNameLst>
                                          <p:attrName>style.visibility</p:attrName>
                                        </p:attrNameLst>
                                      </p:cBhvr>
                                      <p:to>
                                        <p:strVal val="visible"/>
                                      </p:to>
                                    </p:set>
                                    <p:animEffect transition="in" filter="blinds(horizontal)">
                                      <p:cBhvr>
                                        <p:cTn id="8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14" grpId="0" animBg="1"/>
      <p:bldP spid="15" grpId="0" animBg="1"/>
      <p:bldP spid="17" grpId="0" animBg="1"/>
      <p:bldP spid="18" grpId="0" animBg="1"/>
      <p:bldP spid="20" grpId="0" animBg="1"/>
      <p:bldP spid="23" grpId="0" animBg="1"/>
      <p:bldP spid="25" grpId="0" animBg="1"/>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696613"/>
            <a:ext cx="8229600" cy="660930"/>
          </a:xfrm>
        </p:spPr>
        <p:txBody>
          <a:bodyPr>
            <a:normAutofit/>
          </a:bodyPr>
          <a:lstStyle/>
          <a:p>
            <a:r>
              <a:rPr lang="zh-CN" altLang="en-US" sz="2400" dirty="0">
                <a:solidFill>
                  <a:srgbClr val="0000FF"/>
                </a:solidFill>
                <a:sym typeface="+mn-ea"/>
              </a:rPr>
              <a:t>（2）</a:t>
            </a:r>
            <a:r>
              <a:rPr lang="zh-CN" altLang="en-US" sz="2400" dirty="0" smtClean="0">
                <a:solidFill>
                  <a:srgbClr val="0000FF"/>
                </a:solidFill>
                <a:sym typeface="+mn-ea"/>
              </a:rPr>
              <a:t>对角矩阵的</a:t>
            </a:r>
            <a:r>
              <a:rPr lang="zh-CN" altLang="en-US" sz="2400" dirty="0">
                <a:solidFill>
                  <a:srgbClr val="0000FF"/>
                </a:solidFill>
                <a:sym typeface="+mn-ea"/>
              </a:rPr>
              <a:t>压缩存储</a:t>
            </a:r>
            <a:endParaRPr lang="en-US" altLang="zh-CN" sz="2400" dirty="0">
              <a:solidFill>
                <a:srgbClr val="0000FF"/>
              </a:solidFill>
              <a:sym typeface="+mn-ea"/>
            </a:endParaRPr>
          </a:p>
        </p:txBody>
      </p:sp>
      <p:sp>
        <p:nvSpPr>
          <p:cNvPr id="3" name="内容占位符 2"/>
          <p:cNvSpPr>
            <a:spLocks noGrp="1"/>
          </p:cNvSpPr>
          <p:nvPr>
            <p:ph idx="1"/>
          </p:nvPr>
        </p:nvSpPr>
        <p:spPr>
          <a:xfrm>
            <a:off x="693738" y="1409534"/>
            <a:ext cx="7993062" cy="5120481"/>
          </a:xfrm>
        </p:spPr>
        <p:txBody>
          <a:bodyPr/>
          <a:lstStyle/>
          <a:p>
            <a:pPr>
              <a:spcBef>
                <a:spcPts val="0"/>
              </a:spcBef>
              <a:buClr>
                <a:srgbClr val="FF0000"/>
              </a:buClr>
              <a:buFont typeface="Wingdings" panose="05000000000000000000" pitchFamily="2" charset="2"/>
              <a:buChar char="p"/>
            </a:pPr>
            <a:r>
              <a:rPr lang="zh-CN" altLang="en-US" sz="1800" b="1" dirty="0"/>
              <a:t>所谓</a:t>
            </a:r>
            <a:r>
              <a:rPr lang="zh-CN" altLang="en-US" sz="1800" b="1" dirty="0" smtClean="0">
                <a:solidFill>
                  <a:srgbClr val="FF0000"/>
                </a:solidFill>
              </a:rPr>
              <a:t>对角矩阵</a:t>
            </a:r>
            <a:r>
              <a:rPr lang="en-US" altLang="zh-CN" sz="1800" b="1" dirty="0" smtClean="0">
                <a:solidFill>
                  <a:srgbClr val="0000FF"/>
                </a:solidFill>
              </a:rPr>
              <a:t>(Diagonal Matrix)</a:t>
            </a:r>
            <a:r>
              <a:rPr lang="zh-CN" altLang="en-US" sz="1800" b="1" dirty="0" smtClean="0"/>
              <a:t>，</a:t>
            </a:r>
            <a:r>
              <a:rPr lang="zh-CN" altLang="en-US" sz="1800" b="1" dirty="0"/>
              <a:t>是指除了主对角线和紧靠主对角线的上下若干条对角线外，其余元素全为0。</a:t>
            </a:r>
            <a:endParaRPr lang="zh-CN" altLang="en-US" sz="1800" b="1" dirty="0"/>
          </a:p>
          <a:p>
            <a:pPr lvl="1">
              <a:spcBef>
                <a:spcPts val="0"/>
              </a:spcBef>
              <a:buClr>
                <a:srgbClr val="FF0000"/>
              </a:buClr>
            </a:pPr>
            <a:r>
              <a:rPr lang="zh-CN" altLang="en-US" sz="1800" b="1" dirty="0" smtClean="0"/>
              <a:t>可按例如：以</a:t>
            </a:r>
            <a:r>
              <a:rPr lang="zh-CN" altLang="en-US" sz="1800" b="1" dirty="0"/>
              <a:t>逐行、逐列或以对角线的顺序将这几个对角上的元素存储到一维数组上，在此不妨</a:t>
            </a:r>
            <a:r>
              <a:rPr lang="zh-CN" altLang="en-US" sz="1800" b="1" dirty="0">
                <a:solidFill>
                  <a:srgbClr val="FF0000"/>
                </a:solidFill>
              </a:rPr>
              <a:t>讨论三对角矩阵的行优先方式的存储</a:t>
            </a:r>
            <a:r>
              <a:rPr lang="zh-CN" altLang="en-US" sz="1800" b="1" dirty="0"/>
              <a:t>。</a:t>
            </a:r>
            <a:endParaRPr lang="zh-CN" altLang="en-US" sz="1800" b="1" dirty="0"/>
          </a:p>
          <a:p>
            <a:pPr>
              <a:spcBef>
                <a:spcPts val="0"/>
              </a:spcBef>
              <a:buClr>
                <a:srgbClr val="FF0000"/>
              </a:buClr>
              <a:buFont typeface="Wingdings" panose="05000000000000000000" pitchFamily="2" charset="2"/>
              <a:buChar char="p"/>
            </a:pPr>
            <a:r>
              <a:rPr lang="zh-CN" altLang="en-US" sz="1800" b="1" dirty="0" smtClean="0"/>
              <a:t>所谓</a:t>
            </a:r>
            <a:r>
              <a:rPr lang="zh-CN" altLang="en-US" sz="1800" b="1" dirty="0" smtClean="0">
                <a:solidFill>
                  <a:srgbClr val="FF0000"/>
                </a:solidFill>
              </a:rPr>
              <a:t>三对角矩阵</a:t>
            </a:r>
            <a:r>
              <a:rPr lang="zh-CN" altLang="en-US" sz="1800" b="1" dirty="0"/>
              <a:t>，是指除了主对角线及其上下一条对角线上有非0元外，其余位置均为0的矩阵。</a:t>
            </a:r>
            <a:endParaRPr lang="en-US" altLang="zh-CN" sz="1800" b="1" dirty="0"/>
          </a:p>
          <a:p>
            <a:pPr lvl="1">
              <a:spcBef>
                <a:spcPts val="0"/>
              </a:spcBef>
              <a:buClr>
                <a:srgbClr val="FF0000"/>
              </a:buClr>
            </a:pPr>
            <a:r>
              <a:rPr lang="zh-CN" altLang="en-US" sz="1800" b="1" dirty="0"/>
              <a:t>其顺序存储形式如图所示。除第一行、最后一行外，每行存储</a:t>
            </a:r>
            <a:r>
              <a:rPr lang="en-US" altLang="zh-CN" sz="1800" b="1" dirty="0"/>
              <a:t>3</a:t>
            </a:r>
            <a:r>
              <a:rPr lang="zh-CN" altLang="en-US" sz="1800" b="1" dirty="0"/>
              <a:t>个元素</a:t>
            </a:r>
            <a:r>
              <a:rPr lang="zh-CN" altLang="en-US" sz="1800" b="1" dirty="0" smtClean="0"/>
              <a:t>。              </a:t>
            </a:r>
            <a:endParaRPr lang="en-US" altLang="zh-CN" sz="1800" b="1" dirty="0" smtClean="0"/>
          </a:p>
          <a:p>
            <a:pPr marL="457200" lvl="1" indent="0">
              <a:spcBef>
                <a:spcPts val="0"/>
              </a:spcBef>
              <a:buClr>
                <a:srgbClr val="FF0000"/>
              </a:buClr>
              <a:buNone/>
            </a:pPr>
            <a:r>
              <a:rPr lang="en-US" altLang="zh-CN" sz="1800" b="1" i="1" dirty="0"/>
              <a:t> </a:t>
            </a:r>
            <a:r>
              <a:rPr lang="en-US" altLang="zh-CN" sz="1800" b="1" i="1" dirty="0" smtClean="0"/>
              <a:t>                                </a:t>
            </a:r>
            <a:r>
              <a:rPr lang="zh-CN" altLang="en-US" sz="2000" b="1" i="1" dirty="0" smtClean="0"/>
              <a:t>a</a:t>
            </a:r>
            <a:r>
              <a:rPr lang="zh-CN" altLang="en-US" sz="2000" b="1" baseline="-25000" dirty="0"/>
              <a:t>11</a:t>
            </a:r>
            <a:r>
              <a:rPr lang="zh-CN" altLang="en-US" sz="2000" b="1" dirty="0"/>
              <a:t>  </a:t>
            </a:r>
            <a:r>
              <a:rPr lang="zh-CN" altLang="en-US" sz="2000" b="1" i="1" dirty="0"/>
              <a:t>a</a:t>
            </a:r>
            <a:r>
              <a:rPr lang="zh-CN" altLang="en-US" sz="2000" b="1" baseline="-25000" dirty="0"/>
              <a:t>12</a:t>
            </a:r>
            <a:r>
              <a:rPr lang="zh-CN" altLang="en-US" sz="2000" b="1" dirty="0"/>
              <a:t>    </a:t>
            </a:r>
            <a:endParaRPr lang="zh-CN" altLang="en-US" sz="2000" b="1" dirty="0"/>
          </a:p>
          <a:p>
            <a:pPr marL="0" indent="0">
              <a:spcBef>
                <a:spcPts val="0"/>
              </a:spcBef>
              <a:buNone/>
            </a:pPr>
            <a:r>
              <a:rPr lang="zh-CN" altLang="en-US" sz="2000" b="1" dirty="0"/>
              <a:t>                                     </a:t>
            </a:r>
            <a:r>
              <a:rPr lang="zh-CN" altLang="en-US" sz="2000" b="1" i="1" dirty="0"/>
              <a:t>a</a:t>
            </a:r>
            <a:r>
              <a:rPr lang="zh-CN" altLang="en-US" sz="2000" b="1" baseline="-25000" dirty="0"/>
              <a:t>21</a:t>
            </a:r>
            <a:r>
              <a:rPr lang="zh-CN" altLang="en-US" sz="2000" b="1" dirty="0"/>
              <a:t>  </a:t>
            </a:r>
            <a:r>
              <a:rPr lang="zh-CN" altLang="en-US" sz="2000" b="1" i="1" dirty="0"/>
              <a:t>a</a:t>
            </a:r>
            <a:r>
              <a:rPr lang="zh-CN" altLang="en-US" sz="2000" b="1" baseline="-25000" dirty="0"/>
              <a:t>22</a:t>
            </a:r>
            <a:r>
              <a:rPr lang="zh-CN" altLang="en-US" sz="2000" b="1" dirty="0"/>
              <a:t>  </a:t>
            </a:r>
            <a:r>
              <a:rPr lang="zh-CN" altLang="en-US" sz="2000" b="1" i="1" dirty="0"/>
              <a:t>a</a:t>
            </a:r>
            <a:r>
              <a:rPr lang="zh-CN" altLang="en-US" sz="2000" b="1" baseline="-25000" dirty="0"/>
              <a:t>23</a:t>
            </a:r>
            <a:r>
              <a:rPr lang="zh-CN" altLang="en-US" sz="2000" b="1" dirty="0"/>
              <a:t>     </a:t>
            </a:r>
            <a:endParaRPr lang="zh-CN" altLang="en-US" sz="2000" b="1" dirty="0"/>
          </a:p>
          <a:p>
            <a:pPr marL="0" indent="0">
              <a:spcBef>
                <a:spcPts val="0"/>
              </a:spcBef>
              <a:buNone/>
            </a:pPr>
            <a:r>
              <a:rPr lang="zh-CN" altLang="en-US" sz="2000" b="1" dirty="0"/>
              <a:t>                                             </a:t>
            </a:r>
            <a:r>
              <a:rPr lang="zh-CN" altLang="en-US" sz="2000" b="1" i="1" dirty="0"/>
              <a:t>a</a:t>
            </a:r>
            <a:r>
              <a:rPr lang="zh-CN" altLang="en-US" sz="2000" b="1" baseline="-25000" dirty="0"/>
              <a:t>32</a:t>
            </a:r>
            <a:r>
              <a:rPr lang="zh-CN" altLang="en-US" sz="2000" b="1" dirty="0"/>
              <a:t>  </a:t>
            </a:r>
            <a:r>
              <a:rPr lang="zh-CN" altLang="en-US" sz="2000" b="1" i="1" dirty="0"/>
              <a:t>a</a:t>
            </a:r>
            <a:r>
              <a:rPr lang="zh-CN" altLang="en-US" sz="2000" b="1" baseline="-25000" dirty="0"/>
              <a:t>33</a:t>
            </a:r>
            <a:r>
              <a:rPr lang="zh-CN" altLang="en-US" sz="2000" b="1" dirty="0"/>
              <a:t>  </a:t>
            </a:r>
            <a:r>
              <a:rPr lang="zh-CN" altLang="en-US" sz="2000" b="1" i="1" dirty="0"/>
              <a:t>a</a:t>
            </a:r>
            <a:r>
              <a:rPr lang="zh-CN" altLang="en-US" sz="2000" b="1" baseline="-25000" dirty="0"/>
              <a:t>34</a:t>
            </a:r>
            <a:r>
              <a:rPr lang="zh-CN" altLang="en-US" sz="2000" b="1" dirty="0"/>
              <a:t>     </a:t>
            </a:r>
            <a:endParaRPr lang="zh-CN" altLang="en-US" sz="2000" b="1" dirty="0"/>
          </a:p>
          <a:p>
            <a:pPr marL="0" indent="0">
              <a:spcBef>
                <a:spcPts val="0"/>
              </a:spcBef>
              <a:buNone/>
            </a:pPr>
            <a:r>
              <a:rPr lang="zh-CN" altLang="en-US" sz="2000" b="1" dirty="0"/>
              <a:t>                                                     </a:t>
            </a:r>
            <a:r>
              <a:rPr lang="zh-CN" altLang="en-US" sz="2000" b="1" i="1" dirty="0"/>
              <a:t>a</a:t>
            </a:r>
            <a:r>
              <a:rPr lang="zh-CN" altLang="en-US" sz="2000" b="1" baseline="-25000" dirty="0"/>
              <a:t>43</a:t>
            </a:r>
            <a:r>
              <a:rPr lang="zh-CN" altLang="en-US" sz="2000" b="1" dirty="0"/>
              <a:t>  </a:t>
            </a:r>
            <a:r>
              <a:rPr lang="zh-CN" altLang="en-US" sz="2000" b="1" i="1" dirty="0"/>
              <a:t>a</a:t>
            </a:r>
            <a:r>
              <a:rPr lang="zh-CN" altLang="en-US" sz="2000" b="1" baseline="-25000" dirty="0"/>
              <a:t>44</a:t>
            </a:r>
            <a:r>
              <a:rPr lang="zh-CN" altLang="en-US" sz="2000" b="1" dirty="0"/>
              <a:t>  </a:t>
            </a:r>
            <a:r>
              <a:rPr lang="zh-CN" altLang="en-US" sz="2000" b="1" i="1" dirty="0"/>
              <a:t>a</a:t>
            </a:r>
            <a:r>
              <a:rPr lang="zh-CN" altLang="en-US" sz="2000" b="1" baseline="-25000" dirty="0"/>
              <a:t>45</a:t>
            </a:r>
            <a:endParaRPr lang="zh-CN" altLang="en-US" sz="2000" b="1" baseline="-25000" dirty="0"/>
          </a:p>
          <a:p>
            <a:pPr marL="0" indent="0">
              <a:spcBef>
                <a:spcPts val="0"/>
              </a:spcBef>
              <a:buNone/>
            </a:pPr>
            <a:r>
              <a:rPr lang="zh-CN" altLang="en-US" sz="2000" b="1" baseline="-25000" dirty="0"/>
              <a:t>                                                                                                 </a:t>
            </a:r>
            <a:r>
              <a:rPr lang="zh-CN" altLang="en-US" sz="2000" b="1" dirty="0"/>
              <a:t>…  …</a:t>
            </a:r>
            <a:endParaRPr lang="zh-CN" altLang="en-US" sz="2000" b="1" dirty="0"/>
          </a:p>
          <a:p>
            <a:pPr marL="0" indent="0">
              <a:spcBef>
                <a:spcPts val="0"/>
              </a:spcBef>
              <a:buNone/>
            </a:pPr>
            <a:r>
              <a:rPr lang="zh-CN" altLang="en-US" sz="2000" b="1" dirty="0"/>
              <a:t>                                                                          </a:t>
            </a:r>
            <a:r>
              <a:rPr lang="zh-CN" altLang="en-US" sz="2000" b="1" i="1" dirty="0"/>
              <a:t>a</a:t>
            </a:r>
            <a:r>
              <a:rPr lang="zh-CN" altLang="en-US" sz="2000" b="1" i="1" baseline="-25000" dirty="0"/>
              <a:t>nn</a:t>
            </a:r>
            <a:r>
              <a:rPr lang="zh-CN" altLang="en-US" sz="2000" b="1" baseline="-25000" dirty="0"/>
              <a:t>-1</a:t>
            </a:r>
            <a:r>
              <a:rPr lang="zh-CN" altLang="en-US" sz="2000" b="1" dirty="0"/>
              <a:t>  </a:t>
            </a:r>
            <a:r>
              <a:rPr lang="zh-CN" altLang="en-US" sz="2000" b="1" i="1" dirty="0"/>
              <a:t>a</a:t>
            </a:r>
            <a:r>
              <a:rPr lang="zh-CN" altLang="en-US" sz="2000" b="1" i="1" baseline="-25000" dirty="0"/>
              <a:t>nn</a:t>
            </a:r>
            <a:endParaRPr lang="en-US" altLang="zh-CN" sz="2000" b="1" i="1" baseline="-25000" dirty="0"/>
          </a:p>
          <a:p>
            <a:pPr marL="0" indent="0">
              <a:spcBef>
                <a:spcPts val="0"/>
              </a:spcBef>
              <a:buNone/>
            </a:pPr>
            <a:endParaRPr lang="en-US" altLang="zh-CN" sz="2000" b="1" baseline="-25000" dirty="0"/>
          </a:p>
          <a:p>
            <a:pPr marL="0" indent="0">
              <a:spcBef>
                <a:spcPts val="0"/>
              </a:spcBef>
              <a:buNone/>
            </a:pPr>
            <a:endParaRPr lang="en-US" altLang="zh-CN" sz="2000" b="1" baseline="-25000" dirty="0"/>
          </a:p>
          <a:p>
            <a:pPr>
              <a:spcBef>
                <a:spcPts val="1200"/>
              </a:spcBef>
              <a:buClr>
                <a:srgbClr val="FF0000"/>
              </a:buClr>
              <a:buFont typeface="Wingdings" panose="05000000000000000000" pitchFamily="2" charset="2"/>
              <a:buChar char="p"/>
            </a:pPr>
            <a:r>
              <a:rPr lang="en-US" altLang="zh-CN" sz="1800" b="1" i="1" dirty="0"/>
              <a:t>a</a:t>
            </a:r>
            <a:r>
              <a:rPr lang="en-US" altLang="zh-CN" sz="1800" b="1" i="1" baseline="-25000" dirty="0"/>
              <a:t>ij</a:t>
            </a:r>
            <a:r>
              <a:rPr lang="zh-CN" altLang="zh-CN" sz="1800" b="1" dirty="0"/>
              <a:t>在</a:t>
            </a:r>
            <a:r>
              <a:rPr lang="en-US" altLang="zh-CN" sz="1800" b="1" dirty="0"/>
              <a:t>SA</a:t>
            </a:r>
            <a:r>
              <a:rPr lang="zh-CN" altLang="zh-CN" sz="1800" b="1" dirty="0"/>
              <a:t>中的序号</a:t>
            </a:r>
            <a:r>
              <a:rPr lang="en-US" altLang="zh-CN" sz="1800" b="1" dirty="0" err="1"/>
              <a:t>num</a:t>
            </a:r>
            <a:r>
              <a:rPr lang="en-US" altLang="zh-CN" sz="1800" b="1" dirty="0"/>
              <a:t>(</a:t>
            </a:r>
            <a:r>
              <a:rPr lang="en-US" altLang="zh-CN" sz="1800" b="1" i="1" dirty="0" err="1"/>
              <a:t>i</a:t>
            </a:r>
            <a:r>
              <a:rPr lang="en-US" altLang="zh-CN" sz="1800" b="1" dirty="0" smtClean="0"/>
              <a:t>, </a:t>
            </a:r>
            <a:r>
              <a:rPr lang="en-US" altLang="zh-CN" sz="1800" b="1" i="1" dirty="0" smtClean="0"/>
              <a:t>j</a:t>
            </a:r>
            <a:r>
              <a:rPr lang="en-US" altLang="zh-CN" sz="1800" b="1" dirty="0"/>
              <a:t>)</a:t>
            </a:r>
            <a:r>
              <a:rPr lang="zh-CN" altLang="zh-CN" sz="1800" b="1" dirty="0"/>
              <a:t>的计算公式：讨论过程从略，计算公式如下：</a:t>
            </a:r>
            <a:endParaRPr lang="zh-CN" altLang="zh-CN" sz="1800" b="1" dirty="0"/>
          </a:p>
          <a:p>
            <a:pPr lvl="1"/>
            <a:r>
              <a:rPr lang="en-US" altLang="zh-CN" sz="1600" b="1" dirty="0" err="1"/>
              <a:t>num</a:t>
            </a:r>
            <a:r>
              <a:rPr lang="en-US" altLang="zh-CN" sz="1600" b="1" dirty="0"/>
              <a:t>(</a:t>
            </a:r>
            <a:r>
              <a:rPr lang="en-US" altLang="zh-CN" sz="1600" b="1" i="1" dirty="0" err="1"/>
              <a:t>i</a:t>
            </a:r>
            <a:r>
              <a:rPr lang="en-US" altLang="zh-CN" sz="1600" b="1" dirty="0" smtClean="0"/>
              <a:t>, </a:t>
            </a:r>
            <a:r>
              <a:rPr lang="en-US" altLang="zh-CN" sz="1600" b="1" i="1" dirty="0" smtClean="0"/>
              <a:t>j</a:t>
            </a:r>
            <a:r>
              <a:rPr lang="en-US" altLang="zh-CN" sz="1600" b="1" dirty="0"/>
              <a:t>)=[3(</a:t>
            </a:r>
            <a:r>
              <a:rPr lang="en-US" altLang="zh-CN" sz="1600" b="1" i="1" dirty="0"/>
              <a:t>i</a:t>
            </a:r>
            <a:r>
              <a:rPr lang="en-US" altLang="zh-CN" sz="1600" b="1" dirty="0"/>
              <a:t>-1)-1]+[</a:t>
            </a:r>
            <a:r>
              <a:rPr lang="en-US" altLang="zh-CN" sz="1600" b="1" i="1" dirty="0"/>
              <a:t>j</a:t>
            </a:r>
            <a:r>
              <a:rPr lang="en-US" altLang="zh-CN" sz="1600" b="1" dirty="0"/>
              <a:t>-</a:t>
            </a:r>
            <a:r>
              <a:rPr lang="en-US" altLang="zh-CN" sz="1600" b="1" i="1" dirty="0"/>
              <a:t>i</a:t>
            </a:r>
            <a:r>
              <a:rPr lang="en-US" altLang="zh-CN" sz="1600" b="1" dirty="0"/>
              <a:t>+2]=2</a:t>
            </a:r>
            <a:r>
              <a:rPr lang="en-US" altLang="zh-CN" sz="1600" b="1" i="1" dirty="0"/>
              <a:t>i</a:t>
            </a:r>
            <a:r>
              <a:rPr lang="en-US" altLang="zh-CN" sz="1600" b="1" dirty="0"/>
              <a:t>+</a:t>
            </a:r>
            <a:r>
              <a:rPr lang="en-US" altLang="zh-CN" sz="1600" b="1" i="1" dirty="0"/>
              <a:t>j</a:t>
            </a:r>
            <a:r>
              <a:rPr lang="en-US" altLang="zh-CN" sz="1600" b="1" dirty="0"/>
              <a:t>-2        ( |</a:t>
            </a:r>
            <a:r>
              <a:rPr lang="en-US" altLang="zh-CN" sz="1600" b="1" i="1" dirty="0" err="1"/>
              <a:t>i</a:t>
            </a:r>
            <a:r>
              <a:rPr lang="en-US" altLang="zh-CN" sz="1600" b="1" dirty="0"/>
              <a:t>-</a:t>
            </a:r>
            <a:r>
              <a:rPr lang="en-US" altLang="zh-CN" sz="1600" b="1" i="1" dirty="0"/>
              <a:t>j</a:t>
            </a:r>
            <a:r>
              <a:rPr lang="en-US" altLang="zh-CN" sz="1600" b="1" dirty="0"/>
              <a:t>|&lt;=1)</a:t>
            </a:r>
            <a:endParaRPr lang="zh-CN" altLang="zh-CN" sz="1600" b="1" dirty="0"/>
          </a:p>
          <a:p>
            <a:pPr marL="0" indent="0">
              <a:spcBef>
                <a:spcPts val="0"/>
              </a:spcBef>
              <a:buNone/>
            </a:pPr>
            <a:endParaRPr lang="zh-CN" altLang="en-US" sz="2000" dirty="0"/>
          </a:p>
        </p:txBody>
      </p:sp>
      <p:sp>
        <p:nvSpPr>
          <p:cNvPr id="14" name="双括号 13"/>
          <p:cNvSpPr/>
          <p:nvPr/>
        </p:nvSpPr>
        <p:spPr>
          <a:xfrm>
            <a:off x="2737496" y="3541961"/>
            <a:ext cx="4199720" cy="1660067"/>
          </a:xfrm>
          <a:prstGeom prst="bracketPair">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5" name="表格 -1"/>
          <p:cNvGraphicFramePr/>
          <p:nvPr/>
        </p:nvGraphicFramePr>
        <p:xfrm>
          <a:off x="1378744" y="5301209"/>
          <a:ext cx="6623050" cy="363601"/>
        </p:xfrm>
        <a:graphic>
          <a:graphicData uri="http://schemas.openxmlformats.org/drawingml/2006/table">
            <a:tbl>
              <a:tblPr firstRow="1" bandRow="1">
                <a:tableStyleId>{5940675A-B579-460E-94D1-54222C63F5DA}</a:tableStyleId>
              </a:tblPr>
              <a:tblGrid>
                <a:gridCol w="991235"/>
                <a:gridCol w="1333500"/>
                <a:gridCol w="1333500"/>
                <a:gridCol w="1920875"/>
                <a:gridCol w="1043940"/>
              </a:tblGrid>
              <a:tr h="363601">
                <a:tc>
                  <a:txBody>
                    <a:bodyPr/>
                    <a:lstStyle/>
                    <a:p>
                      <a:pPr marL="0" indent="0" algn="ctr">
                        <a:buNone/>
                      </a:pPr>
                      <a:r>
                        <a:rPr lang="en-US" altLang="zh-CN" sz="1800" b="1" i="1" kern="1200" baseline="0" dirty="0">
                          <a:solidFill>
                            <a:schemeClr val="tx1"/>
                          </a:solidFill>
                          <a:latin typeface="Times New Roman" panose="02020603050405020304" pitchFamily="18" charset="0"/>
                          <a:ea typeface="仿宋" panose="02010609060101010101" pitchFamily="49" charset="-122"/>
                          <a:cs typeface="+mn-cs"/>
                        </a:rPr>
                        <a:t>a</a:t>
                      </a:r>
                      <a:r>
                        <a:rPr lang="en-US" altLang="zh-CN" sz="1600" b="1" u="none" baseline="-25000" dirty="0">
                          <a:latin typeface="Time new roman"/>
                          <a:ea typeface="宋体" panose="02010600030101010101" pitchFamily="2" charset="-122"/>
                          <a:cs typeface="宋体" panose="02010600030101010101" pitchFamily="2" charset="-122"/>
                        </a:rPr>
                        <a:t>11</a:t>
                      </a:r>
                      <a:r>
                        <a:rPr lang="en-US" altLang="zh-CN" sz="1600" b="1" u="none" dirty="0">
                          <a:latin typeface="Time new roman"/>
                          <a:ea typeface="宋体" panose="02010600030101010101" pitchFamily="2" charset="-122"/>
                          <a:cs typeface="宋体" panose="02010600030101010101" pitchFamily="2" charset="-122"/>
                        </a:rPr>
                        <a:t>  </a:t>
                      </a:r>
                      <a:r>
                        <a:rPr lang="en-US" altLang="zh-CN" sz="1800" b="1" i="1" kern="1200" baseline="0" dirty="0">
                          <a:solidFill>
                            <a:schemeClr val="tx1"/>
                          </a:solidFill>
                          <a:latin typeface="Times New Roman" panose="02020603050405020304" pitchFamily="18" charset="0"/>
                          <a:ea typeface="仿宋" panose="02010609060101010101" pitchFamily="49" charset="-122"/>
                          <a:cs typeface="+mn-cs"/>
                        </a:rPr>
                        <a:t>a</a:t>
                      </a:r>
                      <a:r>
                        <a:rPr lang="en-US" altLang="zh-CN" sz="1600" b="1" u="none" baseline="-25000" dirty="0">
                          <a:latin typeface="Time new roman"/>
                          <a:ea typeface="宋体" panose="02010600030101010101" pitchFamily="2" charset="-122"/>
                          <a:cs typeface="宋体" panose="02010600030101010101" pitchFamily="2" charset="-122"/>
                        </a:rPr>
                        <a:t>12</a:t>
                      </a:r>
                      <a:endParaRPr lang="en-US" altLang="zh-CN" sz="1800" b="1" u="none" dirty="0">
                        <a:latin typeface="Time new roman"/>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800" b="1" i="1" kern="1200" baseline="0" dirty="0">
                          <a:solidFill>
                            <a:schemeClr val="tx1"/>
                          </a:solidFill>
                          <a:latin typeface="Times New Roman" panose="02020603050405020304" pitchFamily="18" charset="0"/>
                          <a:ea typeface="仿宋" panose="02010609060101010101" pitchFamily="49" charset="-122"/>
                          <a:cs typeface="+mn-cs"/>
                        </a:rPr>
                        <a:t>a</a:t>
                      </a:r>
                      <a:r>
                        <a:rPr lang="en-US" altLang="zh-CN" sz="1600" b="1" u="none" baseline="-25000" dirty="0">
                          <a:latin typeface="Time new roman"/>
                          <a:ea typeface="宋体" panose="02010600030101010101" pitchFamily="2" charset="-122"/>
                          <a:cs typeface="宋体" panose="02010600030101010101" pitchFamily="2" charset="-122"/>
                        </a:rPr>
                        <a:t>21  </a:t>
                      </a:r>
                      <a:r>
                        <a:rPr lang="en-US" altLang="zh-CN" sz="1800" b="1" i="1" kern="1200" baseline="0" dirty="0">
                          <a:solidFill>
                            <a:schemeClr val="tx1"/>
                          </a:solidFill>
                          <a:latin typeface="Times New Roman" panose="02020603050405020304" pitchFamily="18" charset="0"/>
                          <a:ea typeface="仿宋" panose="02010609060101010101" pitchFamily="49" charset="-122"/>
                          <a:cs typeface="+mn-cs"/>
                        </a:rPr>
                        <a:t>a</a:t>
                      </a:r>
                      <a:r>
                        <a:rPr lang="en-US" altLang="zh-CN" sz="1600" b="1" u="none" baseline="-25000" dirty="0">
                          <a:latin typeface="Time new roman"/>
                          <a:ea typeface="宋体" panose="02010600030101010101" pitchFamily="2" charset="-122"/>
                          <a:cs typeface="宋体" panose="02010600030101010101" pitchFamily="2" charset="-122"/>
                        </a:rPr>
                        <a:t>22 </a:t>
                      </a:r>
                      <a:r>
                        <a:rPr lang="en-US" altLang="zh-CN" sz="1600" b="1" u="none" dirty="0">
                          <a:latin typeface="Time new roman"/>
                          <a:ea typeface="宋体" panose="02010600030101010101" pitchFamily="2" charset="-122"/>
                          <a:cs typeface="宋体" panose="02010600030101010101" pitchFamily="2" charset="-122"/>
                        </a:rPr>
                        <a:t> </a:t>
                      </a:r>
                      <a:r>
                        <a:rPr lang="en-US" altLang="zh-CN" sz="1800" b="1" i="1" kern="1200" baseline="0" dirty="0">
                          <a:solidFill>
                            <a:schemeClr val="tx1"/>
                          </a:solidFill>
                          <a:latin typeface="Times New Roman" panose="02020603050405020304" pitchFamily="18" charset="0"/>
                          <a:ea typeface="仿宋" panose="02010609060101010101" pitchFamily="49" charset="-122"/>
                          <a:cs typeface="+mn-cs"/>
                        </a:rPr>
                        <a:t>a</a:t>
                      </a:r>
                      <a:r>
                        <a:rPr lang="en-US" altLang="zh-CN" sz="1600" b="1" u="none" baseline="-25000" dirty="0">
                          <a:latin typeface="Time new roman"/>
                          <a:ea typeface="宋体" panose="02010600030101010101" pitchFamily="2" charset="-122"/>
                          <a:cs typeface="宋体" panose="02010600030101010101" pitchFamily="2" charset="-122"/>
                        </a:rPr>
                        <a:t>23</a:t>
                      </a:r>
                      <a:endParaRPr lang="en-US" altLang="zh-CN" sz="1600" b="1" u="none" dirty="0">
                        <a:latin typeface="Time new roman"/>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800" b="1" i="1" kern="1200" baseline="0" dirty="0">
                          <a:solidFill>
                            <a:schemeClr val="tx1"/>
                          </a:solidFill>
                          <a:latin typeface="Times New Roman" panose="02020603050405020304" pitchFamily="18" charset="0"/>
                          <a:ea typeface="仿宋" panose="02010609060101010101" pitchFamily="49" charset="-122"/>
                          <a:cs typeface="+mn-cs"/>
                        </a:rPr>
                        <a:t>a</a:t>
                      </a:r>
                      <a:r>
                        <a:rPr lang="en-US" altLang="zh-CN" sz="1600" b="1" u="none" baseline="-25000" dirty="0">
                          <a:latin typeface="Time new roman"/>
                          <a:ea typeface="宋体" panose="02010600030101010101" pitchFamily="2" charset="-122"/>
                          <a:cs typeface="宋体" panose="02010600030101010101" pitchFamily="2" charset="-122"/>
                        </a:rPr>
                        <a:t>32  </a:t>
                      </a:r>
                      <a:r>
                        <a:rPr lang="en-US" altLang="zh-CN" sz="1800" b="1" i="1" kern="1200" baseline="0" dirty="0">
                          <a:solidFill>
                            <a:schemeClr val="tx1"/>
                          </a:solidFill>
                          <a:latin typeface="Times New Roman" panose="02020603050405020304" pitchFamily="18" charset="0"/>
                          <a:ea typeface="仿宋" panose="02010609060101010101" pitchFamily="49" charset="-122"/>
                          <a:cs typeface="+mn-cs"/>
                        </a:rPr>
                        <a:t>a</a:t>
                      </a:r>
                      <a:r>
                        <a:rPr lang="en-US" altLang="zh-CN" sz="1600" b="1" u="none" baseline="-25000" dirty="0">
                          <a:latin typeface="Time new roman"/>
                          <a:ea typeface="宋体" panose="02010600030101010101" pitchFamily="2" charset="-122"/>
                          <a:cs typeface="宋体" panose="02010600030101010101" pitchFamily="2" charset="-122"/>
                        </a:rPr>
                        <a:t>33</a:t>
                      </a:r>
                      <a:r>
                        <a:rPr lang="en-US" altLang="zh-CN" sz="1600" b="1" u="none" dirty="0">
                          <a:latin typeface="Time new roman"/>
                          <a:ea typeface="宋体" panose="02010600030101010101" pitchFamily="2" charset="-122"/>
                          <a:cs typeface="宋体" panose="02010600030101010101" pitchFamily="2" charset="-122"/>
                        </a:rPr>
                        <a:t>  </a:t>
                      </a:r>
                      <a:r>
                        <a:rPr lang="en-US" altLang="zh-CN" sz="1800" b="1" i="1" kern="1200" baseline="0" dirty="0">
                          <a:solidFill>
                            <a:schemeClr val="tx1"/>
                          </a:solidFill>
                          <a:latin typeface="Times New Roman" panose="02020603050405020304" pitchFamily="18" charset="0"/>
                          <a:ea typeface="仿宋" panose="02010609060101010101" pitchFamily="49" charset="-122"/>
                          <a:cs typeface="+mn-cs"/>
                        </a:rPr>
                        <a:t>a</a:t>
                      </a:r>
                      <a:r>
                        <a:rPr lang="en-US" altLang="zh-CN" sz="1600" b="1" u="none" baseline="-25000" dirty="0">
                          <a:latin typeface="Time new roman"/>
                          <a:ea typeface="宋体" panose="02010600030101010101" pitchFamily="2" charset="-122"/>
                          <a:cs typeface="宋体" panose="02010600030101010101" pitchFamily="2" charset="-122"/>
                        </a:rPr>
                        <a:t>34</a:t>
                      </a:r>
                      <a:endParaRPr lang="en-US" altLang="zh-CN" sz="1600" b="1" u="none" dirty="0">
                        <a:latin typeface="Time new roman"/>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800" b="1" u="none" dirty="0">
                          <a:latin typeface="Time new roman"/>
                          <a:ea typeface="宋体" panose="02010600030101010101" pitchFamily="2" charset="-122"/>
                          <a:cs typeface="宋体" panose="02010600030101010101" pitchFamily="2" charset="-122"/>
                        </a:rPr>
                        <a:t>…  …</a:t>
                      </a:r>
                      <a:endParaRPr lang="en-US" altLang="zh-CN" sz="1800" b="1" u="none" dirty="0">
                        <a:latin typeface="Time new roman"/>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800" b="1" i="1" kern="1200" baseline="0" dirty="0">
                          <a:solidFill>
                            <a:schemeClr val="tx1"/>
                          </a:solidFill>
                          <a:latin typeface="Times New Roman" panose="02020603050405020304" pitchFamily="18" charset="0"/>
                          <a:ea typeface="仿宋" panose="02010609060101010101" pitchFamily="49" charset="-122"/>
                          <a:cs typeface="+mn-cs"/>
                        </a:rPr>
                        <a:t>a</a:t>
                      </a:r>
                      <a:r>
                        <a:rPr lang="en-US" altLang="zh-CN" sz="1600" b="1" i="1" u="none" baseline="-25000" dirty="0">
                          <a:latin typeface="Times New Roman" panose="02020603050405020304" pitchFamily="18" charset="0"/>
                          <a:ea typeface="宋体" panose="02010600030101010101" pitchFamily="2" charset="-122"/>
                          <a:cs typeface="Times New Roman" panose="02020603050405020304" pitchFamily="18" charset="0"/>
                        </a:rPr>
                        <a:t>nn</a:t>
                      </a:r>
                      <a:r>
                        <a:rPr lang="en-US" altLang="zh-CN" sz="1600" b="1" u="none" baseline="-25000" dirty="0">
                          <a:latin typeface="Time new roman"/>
                          <a:ea typeface="宋体" panose="02010600030101010101" pitchFamily="2" charset="-122"/>
                          <a:cs typeface="宋体" panose="02010600030101010101" pitchFamily="2" charset="-122"/>
                        </a:rPr>
                        <a:t>-1 </a:t>
                      </a:r>
                      <a:r>
                        <a:rPr lang="en-US" altLang="zh-CN" sz="1800" b="1" i="1" kern="1200" baseline="0" dirty="0" err="1" smtClean="0">
                          <a:solidFill>
                            <a:schemeClr val="tx1"/>
                          </a:solidFill>
                          <a:latin typeface="Times New Roman" panose="02020603050405020304" pitchFamily="18" charset="0"/>
                          <a:ea typeface="仿宋" panose="02010609060101010101" pitchFamily="49" charset="-122"/>
                          <a:cs typeface="+mn-cs"/>
                        </a:rPr>
                        <a:t>a</a:t>
                      </a:r>
                      <a:r>
                        <a:rPr lang="en-US" altLang="zh-CN" sz="1600" b="1" i="1" u="none" baseline="-25000" dirty="0" err="1" smtClean="0">
                          <a:latin typeface="Times New Roman" panose="02020603050405020304" pitchFamily="18" charset="0"/>
                          <a:ea typeface="+mn-ea"/>
                          <a:cs typeface="Times New Roman" panose="02020603050405020304" pitchFamily="18" charset="0"/>
                        </a:rPr>
                        <a:t>nn</a:t>
                      </a:r>
                      <a:endParaRPr lang="en-US" altLang="zh-CN" sz="1600" b="1" i="1" u="none" kern="1200"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7" name="灯片编号占位符 6"/>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sp>
        <p:nvSpPr>
          <p:cNvPr id="9" name="椭圆 8"/>
          <p:cNvSpPr/>
          <p:nvPr/>
        </p:nvSpPr>
        <p:spPr>
          <a:xfrm>
            <a:off x="3001807" y="3429000"/>
            <a:ext cx="1008112" cy="28803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a:stCxn id="9" idx="2"/>
          </p:cNvCxnSpPr>
          <p:nvPr/>
        </p:nvCxnSpPr>
        <p:spPr>
          <a:xfrm flipH="1">
            <a:off x="2065703" y="3573017"/>
            <a:ext cx="936104" cy="172819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1378744" y="5351157"/>
            <a:ext cx="961008" cy="30498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3539035" y="4053893"/>
            <a:ext cx="1368152" cy="28803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p:cNvCxnSpPr>
            <a:endCxn id="18" idx="1"/>
          </p:cNvCxnSpPr>
          <p:nvPr/>
        </p:nvCxnSpPr>
        <p:spPr>
          <a:xfrm flipH="1">
            <a:off x="3853100" y="4325975"/>
            <a:ext cx="80890" cy="106416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3652378" y="5347954"/>
            <a:ext cx="1370617" cy="28803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5280467" y="4963585"/>
            <a:ext cx="1368152" cy="28803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p:cNvCxnSpPr>
            <a:endCxn id="21" idx="2"/>
          </p:cNvCxnSpPr>
          <p:nvPr/>
        </p:nvCxnSpPr>
        <p:spPr>
          <a:xfrm>
            <a:off x="6569113" y="5177922"/>
            <a:ext cx="342593" cy="31725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6911706" y="5351157"/>
            <a:ext cx="1147887" cy="28803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标题 1"/>
          <p:cNvSpPr txBox="1"/>
          <p:nvPr/>
        </p:nvSpPr>
        <p:spPr bwMode="auto">
          <a:xfrm>
            <a:off x="457200" y="119505"/>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457200" indent="-457200">
              <a:buClr>
                <a:srgbClr val="FF0000"/>
              </a:buClr>
              <a:buFont typeface="Wingdings" panose="05000000000000000000" pitchFamily="2" charset="2"/>
              <a:buChar char="Ø"/>
            </a:pPr>
            <a:r>
              <a:rPr lang="en-US" altLang="zh-CN" sz="2800" dirty="0" smtClean="0">
                <a:latin typeface="Times New Roman" panose="02020603050405020304" pitchFamily="18" charset="0"/>
                <a:sym typeface="+mn-ea"/>
              </a:rPr>
              <a:t>6</a:t>
            </a:r>
            <a:r>
              <a:rPr lang="zh-CN" altLang="en-US" sz="2800" dirty="0" smtClean="0">
                <a:latin typeface="Times New Roman" panose="02020603050405020304" pitchFamily="18" charset="0"/>
                <a:sym typeface="+mn-ea"/>
              </a:rPr>
              <a:t>.</a:t>
            </a:r>
            <a:r>
              <a:rPr lang="en-US" altLang="zh-CN" sz="2800" dirty="0" smtClean="0">
                <a:latin typeface="Times New Roman" panose="02020603050405020304" pitchFamily="18" charset="0"/>
                <a:sym typeface="+mn-ea"/>
              </a:rPr>
              <a:t>2</a:t>
            </a:r>
            <a:r>
              <a:rPr lang="zh-CN" altLang="en-US" sz="2800" dirty="0" smtClean="0">
                <a:latin typeface="Times New Roman" panose="02020603050405020304" pitchFamily="18" charset="0"/>
                <a:sym typeface="+mn-ea"/>
              </a:rPr>
              <a:t>.3  矩阵的压缩存储</a:t>
            </a:r>
            <a:endParaRPr lang="zh-CN" altLang="en-US" sz="2800" dirty="0">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par>
                                <p:cTn id="26" presetID="3" presetClass="entr" presetSubtype="1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linds(horizontal)">
                                      <p:cBhvr>
                                        <p:cTn id="28" dur="500"/>
                                        <p:tgtEl>
                                          <p:spTgt spid="3">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linds(horizontal)">
                                      <p:cBhvr>
                                        <p:cTn id="31" dur="500"/>
                                        <p:tgtEl>
                                          <p:spTgt spid="3">
                                            <p:txEl>
                                              <p:pRg st="6" end="6"/>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linds(horizontal)">
                                      <p:cBhvr>
                                        <p:cTn id="34" dur="500"/>
                                        <p:tgtEl>
                                          <p:spTgt spid="3">
                                            <p:txEl>
                                              <p:pRg st="7" end="7"/>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linds(horizontal)">
                                      <p:cBhvr>
                                        <p:cTn id="37" dur="500"/>
                                        <p:tgtEl>
                                          <p:spTgt spid="3">
                                            <p:txEl>
                                              <p:pRg st="8" end="8"/>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blinds(horizontal)">
                                      <p:cBhvr>
                                        <p:cTn id="40" dur="500"/>
                                        <p:tgtEl>
                                          <p:spTgt spid="3">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3">
                                            <p:txEl>
                                              <p:pRg st="12" end="12"/>
                                            </p:txEl>
                                          </p:spTgt>
                                        </p:tgtEl>
                                        <p:attrNameLst>
                                          <p:attrName>style.visibility</p:attrName>
                                        </p:attrNameLst>
                                      </p:cBhvr>
                                      <p:to>
                                        <p:strVal val="visible"/>
                                      </p:to>
                                    </p:set>
                                    <p:animEffect transition="in" filter="blinds(horizontal)">
                                      <p:cBhvr>
                                        <p:cTn id="71" dur="500"/>
                                        <p:tgtEl>
                                          <p:spTgt spid="3">
                                            <p:txEl>
                                              <p:pRg st="12" end="12"/>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3">
                                            <p:txEl>
                                              <p:pRg st="13" end="13"/>
                                            </p:txEl>
                                          </p:spTgt>
                                        </p:tgtEl>
                                        <p:attrNameLst>
                                          <p:attrName>style.visibility</p:attrName>
                                        </p:attrNameLst>
                                      </p:cBhvr>
                                      <p:to>
                                        <p:strVal val="visible"/>
                                      </p:to>
                                    </p:set>
                                    <p:animEffect transition="in" filter="blinds(horizontal)">
                                      <p:cBhvr>
                                        <p:cTn id="76"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 grpId="0" animBg="1"/>
      <p:bldP spid="9" grpId="0" animBg="1"/>
      <p:bldP spid="11" grpId="0" animBg="1"/>
      <p:bldP spid="15" grpId="0" animBg="1"/>
      <p:bldP spid="18" grpId="0" animBg="1"/>
      <p:bldP spid="19"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692696"/>
            <a:ext cx="8229600" cy="660930"/>
          </a:xfrm>
        </p:spPr>
        <p:txBody>
          <a:bodyPr>
            <a:normAutofit/>
          </a:bodyPr>
          <a:lstStyle/>
          <a:p>
            <a:r>
              <a:rPr lang="zh-CN" altLang="en-US" sz="2400" dirty="0">
                <a:solidFill>
                  <a:srgbClr val="0000FF"/>
                </a:solidFill>
                <a:sym typeface="+mn-ea"/>
              </a:rPr>
              <a:t>（</a:t>
            </a:r>
            <a:r>
              <a:rPr lang="en-US" altLang="zh-CN" sz="2400" dirty="0">
                <a:solidFill>
                  <a:srgbClr val="0000FF"/>
                </a:solidFill>
                <a:sym typeface="+mn-ea"/>
              </a:rPr>
              <a:t>3</a:t>
            </a:r>
            <a:r>
              <a:rPr lang="zh-CN" altLang="en-US" sz="2400" dirty="0">
                <a:solidFill>
                  <a:srgbClr val="0000FF"/>
                </a:solidFill>
                <a:sym typeface="+mn-ea"/>
              </a:rPr>
              <a:t>）稀疏矩阵的压缩存储</a:t>
            </a:r>
            <a:endParaRPr lang="zh-CN" altLang="en-US" sz="2400" dirty="0">
              <a:solidFill>
                <a:srgbClr val="0000FF"/>
              </a:solidFill>
            </a:endParaRPr>
          </a:p>
        </p:txBody>
      </p:sp>
      <p:sp>
        <p:nvSpPr>
          <p:cNvPr id="3" name="内容占位符 2"/>
          <p:cNvSpPr>
            <a:spLocks noGrp="1"/>
          </p:cNvSpPr>
          <p:nvPr>
            <p:ph idx="1"/>
          </p:nvPr>
        </p:nvSpPr>
        <p:spPr>
          <a:xfrm>
            <a:off x="683568" y="1412776"/>
            <a:ext cx="8229600" cy="4678451"/>
          </a:xfrm>
        </p:spPr>
        <p:txBody>
          <a:bodyPr/>
          <a:lstStyle/>
          <a:p>
            <a:pPr>
              <a:buClr>
                <a:srgbClr val="FF0000"/>
              </a:buClr>
              <a:buFont typeface="Wingdings" panose="05000000000000000000" pitchFamily="2" charset="2"/>
              <a:buChar char="n"/>
            </a:pPr>
            <a:r>
              <a:rPr lang="zh-CN" altLang="en-US" sz="2400" b="1" dirty="0"/>
              <a:t>当数组中</a:t>
            </a:r>
            <a:r>
              <a:rPr lang="zh-CN" altLang="en-US" sz="2400" b="1" dirty="0">
                <a:solidFill>
                  <a:srgbClr val="FF0000"/>
                </a:solidFill>
              </a:rPr>
              <a:t>非零元个数非常少时</a:t>
            </a:r>
            <a:r>
              <a:rPr lang="zh-CN" altLang="en-US" sz="2400" b="1" dirty="0"/>
              <a:t>(这是一个模糊概念，一般只是凭直觉来判断)，称之为</a:t>
            </a:r>
            <a:r>
              <a:rPr lang="zh-CN" altLang="en-US" sz="2400" b="1" dirty="0" smtClean="0">
                <a:solidFill>
                  <a:srgbClr val="FF0000"/>
                </a:solidFill>
              </a:rPr>
              <a:t>稀疏矩阵</a:t>
            </a:r>
            <a:r>
              <a:rPr lang="en-US" altLang="zh-CN" sz="2400" b="1" dirty="0">
                <a:solidFill>
                  <a:srgbClr val="0000FF"/>
                </a:solidFill>
              </a:rPr>
              <a:t>(Sparse Matrix</a:t>
            </a:r>
            <a:r>
              <a:rPr lang="en-US" altLang="zh-CN" sz="2400" b="1" dirty="0" smtClean="0">
                <a:solidFill>
                  <a:srgbClr val="0000FF"/>
                </a:solidFill>
              </a:rPr>
              <a:t>)</a:t>
            </a:r>
            <a:r>
              <a:rPr lang="zh-CN" altLang="en-US" sz="2400" b="1" dirty="0" smtClean="0"/>
              <a:t>。</a:t>
            </a:r>
            <a:endParaRPr lang="zh-CN" altLang="en-US" sz="2400" b="1" dirty="0"/>
          </a:p>
          <a:p>
            <a:pPr>
              <a:buClr>
                <a:srgbClr val="FF0000"/>
              </a:buClr>
              <a:buFont typeface="Wingdings" panose="05000000000000000000" pitchFamily="2" charset="2"/>
              <a:buChar char="n"/>
            </a:pPr>
            <a:r>
              <a:rPr lang="zh-CN" altLang="en-US" sz="2400" b="1" dirty="0"/>
              <a:t>在对稀疏矩阵进行压缩存储时，除了要存储非零元素的</a:t>
            </a:r>
            <a:r>
              <a:rPr lang="zh-CN" altLang="en-US" sz="2400" b="1" dirty="0" smtClean="0"/>
              <a:t>值 </a:t>
            </a:r>
            <a:r>
              <a:rPr lang="zh-CN" altLang="en-US" sz="2400" b="1" i="1" dirty="0" smtClean="0"/>
              <a:t>v</a:t>
            </a:r>
            <a:r>
              <a:rPr lang="zh-CN" altLang="en-US" sz="2400" b="1" dirty="0" smtClean="0"/>
              <a:t>之外</a:t>
            </a:r>
            <a:r>
              <a:rPr lang="zh-CN" altLang="en-US" sz="2400" b="1" dirty="0"/>
              <a:t>，还要存储其行列号</a:t>
            </a:r>
            <a:r>
              <a:rPr lang="zh-CN" altLang="en-US" sz="2400" b="1" i="1" dirty="0"/>
              <a:t>i</a:t>
            </a:r>
            <a:r>
              <a:rPr lang="zh-CN" altLang="en-US" sz="2400" b="1" dirty="0"/>
              <a:t>和</a:t>
            </a:r>
            <a:r>
              <a:rPr lang="zh-CN" altLang="en-US" sz="2400" b="1" i="1" dirty="0"/>
              <a:t>j</a:t>
            </a:r>
            <a:r>
              <a:rPr lang="zh-CN" altLang="en-US" sz="2400" b="1" dirty="0"/>
              <a:t>，故每个非零元素需要用一个</a:t>
            </a:r>
            <a:r>
              <a:rPr lang="zh-CN" altLang="en-US" sz="2400" b="1" dirty="0" smtClean="0">
                <a:solidFill>
                  <a:srgbClr val="FF0000"/>
                </a:solidFill>
              </a:rPr>
              <a:t>三元组</a:t>
            </a:r>
            <a:r>
              <a:rPr lang="en-US" altLang="zh-CN" sz="2400" b="1" dirty="0" smtClean="0">
                <a:solidFill>
                  <a:srgbClr val="0000FF"/>
                </a:solidFill>
              </a:rPr>
              <a:t>(Triple)</a:t>
            </a:r>
            <a:r>
              <a:rPr lang="zh-CN" altLang="en-US" sz="2400" b="1" dirty="0" smtClean="0"/>
              <a:t>(</a:t>
            </a:r>
            <a:r>
              <a:rPr lang="zh-CN" altLang="en-US" sz="2400" b="1" i="1" dirty="0"/>
              <a:t>i</a:t>
            </a:r>
            <a:r>
              <a:rPr lang="zh-CN" altLang="en-US" sz="2400" b="1" dirty="0" smtClean="0"/>
              <a:t>, </a:t>
            </a:r>
            <a:r>
              <a:rPr lang="zh-CN" altLang="en-US" sz="2400" b="1" i="1" dirty="0" smtClean="0"/>
              <a:t>j</a:t>
            </a:r>
            <a:r>
              <a:rPr lang="zh-CN" altLang="en-US" sz="2400" b="1" dirty="0" smtClean="0"/>
              <a:t>, </a:t>
            </a:r>
            <a:r>
              <a:rPr lang="zh-CN" altLang="en-US" sz="2400" b="1" i="1" dirty="0" smtClean="0"/>
              <a:t>v</a:t>
            </a:r>
            <a:r>
              <a:rPr lang="zh-CN" altLang="en-US" sz="2400" b="1" dirty="0"/>
              <a:t>)来描述。</a:t>
            </a:r>
            <a:endParaRPr lang="zh-CN" altLang="en-US" sz="2400" b="1" dirty="0"/>
          </a:p>
          <a:p>
            <a:pPr lvl="1">
              <a:buClr>
                <a:srgbClr val="FF0000"/>
              </a:buClr>
              <a:buFont typeface="Wingdings" panose="05000000000000000000" pitchFamily="2" charset="2"/>
              <a:buChar char="l"/>
            </a:pPr>
            <a:r>
              <a:rPr lang="zh-CN" altLang="en-US" sz="2000" b="1" dirty="0"/>
              <a:t>因此，整个稀疏矩阵的压缩存储可通过存储这些</a:t>
            </a:r>
            <a:r>
              <a:rPr lang="zh-CN" altLang="en-US" sz="2000" b="1" dirty="0">
                <a:solidFill>
                  <a:srgbClr val="0000FF"/>
                </a:solidFill>
              </a:rPr>
              <a:t>三元组</a:t>
            </a:r>
            <a:r>
              <a:rPr lang="zh-CN" altLang="en-US" sz="2000" b="1" dirty="0"/>
              <a:t>来实现。</a:t>
            </a:r>
            <a:endParaRPr lang="zh-CN" altLang="en-US" sz="2000" b="1" dirty="0"/>
          </a:p>
          <a:p>
            <a:pPr>
              <a:buClr>
                <a:srgbClr val="FF0000"/>
              </a:buClr>
              <a:buFont typeface="Wingdings" panose="05000000000000000000" pitchFamily="2" charset="2"/>
              <a:buChar char="n"/>
            </a:pPr>
            <a:r>
              <a:rPr lang="zh-CN" altLang="en-US" sz="2400" b="1" dirty="0"/>
              <a:t>如果</a:t>
            </a:r>
            <a:r>
              <a:rPr lang="zh-CN" altLang="en-US" sz="2400" b="1" dirty="0">
                <a:solidFill>
                  <a:srgbClr val="0000FF"/>
                </a:solidFill>
              </a:rPr>
              <a:t>将这些三元组集合以线性表的形式组织起来</a:t>
            </a:r>
            <a:r>
              <a:rPr lang="zh-CN" altLang="en-US" sz="2400" b="1" dirty="0"/>
              <a:t>，则可构成</a:t>
            </a:r>
            <a:r>
              <a:rPr lang="zh-CN" altLang="en-US" sz="2400" b="1" dirty="0">
                <a:solidFill>
                  <a:srgbClr val="FF0000"/>
                </a:solidFill>
              </a:rPr>
              <a:t>三元组</a:t>
            </a:r>
            <a:r>
              <a:rPr lang="zh-CN" altLang="en-US" sz="2400" b="1" dirty="0" smtClean="0">
                <a:solidFill>
                  <a:srgbClr val="FF0000"/>
                </a:solidFill>
              </a:rPr>
              <a:t>表</a:t>
            </a:r>
            <a:r>
              <a:rPr lang="en-US" altLang="zh-CN" sz="2400" b="1" dirty="0" smtClean="0">
                <a:solidFill>
                  <a:srgbClr val="0000FF"/>
                </a:solidFill>
              </a:rPr>
              <a:t>(</a:t>
            </a:r>
            <a:r>
              <a:rPr lang="en-US" altLang="zh-CN" sz="2400" b="1" dirty="0">
                <a:solidFill>
                  <a:srgbClr val="0000FF"/>
                </a:solidFill>
              </a:rPr>
              <a:t>Triple</a:t>
            </a:r>
            <a:r>
              <a:rPr lang="en-US" altLang="zh-CN" sz="2400" b="1" dirty="0" smtClean="0">
                <a:solidFill>
                  <a:srgbClr val="0000FF"/>
                </a:solidFill>
              </a:rPr>
              <a:t> Table)</a:t>
            </a:r>
            <a:r>
              <a:rPr lang="zh-CN" altLang="en-US" sz="2400" b="1" dirty="0" smtClean="0"/>
              <a:t>。</a:t>
            </a:r>
            <a:endParaRPr lang="en-US" altLang="zh-CN" sz="2400" b="1" dirty="0"/>
          </a:p>
          <a:p>
            <a:pPr>
              <a:buClr>
                <a:srgbClr val="FF0000"/>
              </a:buClr>
              <a:buFont typeface="Wingdings" panose="05000000000000000000" pitchFamily="2" charset="2"/>
              <a:buChar char="n"/>
            </a:pPr>
            <a:r>
              <a:rPr lang="zh-CN" altLang="en-US" sz="2400" b="1" dirty="0"/>
              <a:t>考虑到与矩阵的对应关系，需要在三元组表中增设元素个数和行列数，以唯一确定一个稀疏矩阵。</a:t>
            </a:r>
            <a:endParaRPr lang="zh-CN" altLang="en-US" sz="2400" b="1" dirty="0"/>
          </a:p>
        </p:txBody>
      </p:sp>
      <p:sp>
        <p:nvSpPr>
          <p:cNvPr id="6" name="灯片编号占位符 5"/>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sp>
        <p:nvSpPr>
          <p:cNvPr id="5" name="标题 1"/>
          <p:cNvSpPr txBox="1"/>
          <p:nvPr/>
        </p:nvSpPr>
        <p:spPr bwMode="auto">
          <a:xfrm>
            <a:off x="457200" y="119505"/>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457200" indent="-457200">
              <a:buClr>
                <a:srgbClr val="FF0000"/>
              </a:buClr>
              <a:buFont typeface="Wingdings" panose="05000000000000000000" pitchFamily="2" charset="2"/>
              <a:buChar char="Ø"/>
            </a:pPr>
            <a:r>
              <a:rPr lang="en-US" altLang="zh-CN" sz="2800" dirty="0" smtClean="0">
                <a:latin typeface="Times New Roman" panose="02020603050405020304" pitchFamily="18" charset="0"/>
                <a:sym typeface="+mn-ea"/>
              </a:rPr>
              <a:t>6</a:t>
            </a:r>
            <a:r>
              <a:rPr lang="zh-CN" altLang="en-US" sz="2800" dirty="0" smtClean="0">
                <a:latin typeface="Times New Roman" panose="02020603050405020304" pitchFamily="18" charset="0"/>
                <a:sym typeface="+mn-ea"/>
              </a:rPr>
              <a:t>.</a:t>
            </a:r>
            <a:r>
              <a:rPr lang="en-US" altLang="zh-CN" sz="2800" dirty="0" smtClean="0">
                <a:latin typeface="Times New Roman" panose="02020603050405020304" pitchFamily="18" charset="0"/>
                <a:sym typeface="+mn-ea"/>
              </a:rPr>
              <a:t>2</a:t>
            </a:r>
            <a:r>
              <a:rPr lang="zh-CN" altLang="en-US" sz="2800" dirty="0" smtClean="0">
                <a:latin typeface="Times New Roman" panose="02020603050405020304" pitchFamily="18" charset="0"/>
                <a:sym typeface="+mn-ea"/>
              </a:rPr>
              <a:t>.3  矩阵的压缩存储</a:t>
            </a:r>
            <a:endParaRPr lang="zh-CN" altLang="en-US" sz="2800" dirty="0">
              <a:latin typeface="Times New Roman" panose="02020603050405020304" pitchFamily="18" charset="0"/>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blinds(horizontal)">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729760"/>
            <a:ext cx="8229600" cy="660930"/>
          </a:xfrm>
        </p:spPr>
        <p:txBody>
          <a:bodyPr>
            <a:normAutofit/>
          </a:bodyPr>
          <a:lstStyle/>
          <a:p>
            <a:r>
              <a:rPr lang="zh-CN" altLang="en-US" sz="2400" dirty="0">
                <a:solidFill>
                  <a:srgbClr val="0000FF"/>
                </a:solidFill>
                <a:sym typeface="+mn-ea"/>
              </a:rPr>
              <a:t>（</a:t>
            </a:r>
            <a:r>
              <a:rPr lang="en-US" altLang="zh-CN" sz="2400" dirty="0">
                <a:solidFill>
                  <a:srgbClr val="0000FF"/>
                </a:solidFill>
                <a:sym typeface="+mn-ea"/>
              </a:rPr>
              <a:t>3</a:t>
            </a:r>
            <a:r>
              <a:rPr lang="zh-CN" altLang="en-US" sz="2400" dirty="0">
                <a:solidFill>
                  <a:srgbClr val="0000FF"/>
                </a:solidFill>
                <a:sym typeface="+mn-ea"/>
              </a:rPr>
              <a:t>）稀疏矩阵的压缩存储</a:t>
            </a:r>
            <a:endParaRPr lang="zh-CN" altLang="en-US" sz="2400" dirty="0">
              <a:solidFill>
                <a:srgbClr val="0000FF"/>
              </a:solidFill>
            </a:endParaRPr>
          </a:p>
        </p:txBody>
      </p:sp>
      <p:sp>
        <p:nvSpPr>
          <p:cNvPr id="3" name="内容占位符 2"/>
          <p:cNvSpPr>
            <a:spLocks noGrp="1"/>
          </p:cNvSpPr>
          <p:nvPr>
            <p:ph idx="1"/>
          </p:nvPr>
        </p:nvSpPr>
        <p:spPr/>
        <p:txBody>
          <a:bodyPr/>
          <a:lstStyle/>
          <a:p>
            <a:pPr>
              <a:buClr>
                <a:srgbClr val="FF0000"/>
              </a:buClr>
              <a:buFont typeface="Wingdings" panose="05000000000000000000" pitchFamily="2" charset="2"/>
              <a:buChar char="ü"/>
            </a:pPr>
            <a:r>
              <a:rPr lang="zh-CN" altLang="en-US" sz="2200" b="1" dirty="0">
                <a:sym typeface="+mn-ea"/>
              </a:rPr>
              <a:t>下图为一稀疏矩阵和对应的三元组表。</a:t>
            </a:r>
            <a:endParaRPr lang="zh-CN" altLang="en-US" sz="2200" b="1" dirty="0"/>
          </a:p>
          <a:p>
            <a:endParaRPr lang="zh-CN" altLang="en-US" dirty="0"/>
          </a:p>
          <a:p>
            <a:pPr marL="0" indent="0">
              <a:buNone/>
            </a:pPr>
            <a:r>
              <a:rPr lang="zh-CN" altLang="en-US" sz="2000" dirty="0"/>
              <a:t>     </a:t>
            </a:r>
            <a:r>
              <a:rPr lang="zh-CN" altLang="en-US" dirty="0"/>
              <a:t>      </a:t>
            </a:r>
            <a:endParaRPr lang="zh-CN" altLang="en-US" sz="1800" dirty="0"/>
          </a:p>
        </p:txBody>
      </p:sp>
      <p:graphicFrame>
        <p:nvGraphicFramePr>
          <p:cNvPr id="7" name="表格 6"/>
          <p:cNvGraphicFramePr/>
          <p:nvPr/>
        </p:nvGraphicFramePr>
        <p:xfrm>
          <a:off x="3537828" y="2053111"/>
          <a:ext cx="1642072" cy="3181350"/>
        </p:xfrm>
        <a:graphic>
          <a:graphicData uri="http://schemas.openxmlformats.org/drawingml/2006/table">
            <a:tbl>
              <a:tblPr firstRow="1" bandRow="1">
                <a:tableStyleId>{5940675A-B579-460E-94D1-54222C63F5DA}</a:tableStyleId>
              </a:tblPr>
              <a:tblGrid>
                <a:gridCol w="311171"/>
                <a:gridCol w="313455"/>
                <a:gridCol w="311171"/>
                <a:gridCol w="312884"/>
                <a:gridCol w="393391"/>
              </a:tblGrid>
              <a:tr h="295769">
                <a:tc>
                  <a:txBody>
                    <a:bodyPr/>
                    <a:lstStyle/>
                    <a:p>
                      <a:pPr marL="0" indent="0" algn="ctr">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序</a:t>
                      </a:r>
                      <a:endParaRPr lang="zh-CN" altLang="en-US"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行</a:t>
                      </a:r>
                      <a:endParaRPr lang="zh-CN" altLang="en-US"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6350" cap="flat" cmpd="sng" algn="ctr">
                      <a:solidFill>
                        <a:srgbClr val="080000"/>
                      </a:solidFill>
                      <a:prstDash val="solid"/>
                      <a:round/>
                      <a:headEnd type="none" w="med" len="med"/>
                      <a:tailEnd type="none" w="med" len="med"/>
                    </a:lnB>
                    <a:solidFill>
                      <a:srgbClr val="FFFF99"/>
                    </a:solidFill>
                  </a:tcPr>
                </a:tc>
                <a:tc>
                  <a:txBody>
                    <a:bodyPr/>
                    <a:lstStyle/>
                    <a:p>
                      <a:pPr marL="0" indent="0" algn="ctr">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列</a:t>
                      </a:r>
                      <a:endParaRPr lang="zh-CN" altLang="en-US"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6350" cap="flat" cmpd="sng" algn="ctr">
                      <a:solidFill>
                        <a:srgbClr val="080000"/>
                      </a:solidFill>
                      <a:prstDash val="solid"/>
                      <a:round/>
                      <a:headEnd type="none" w="med" len="med"/>
                      <a:tailEnd type="none" w="med" len="med"/>
                    </a:lnB>
                    <a:solidFill>
                      <a:srgbClr val="FFFF99"/>
                    </a:solidFill>
                  </a:tcPr>
                </a:tc>
                <a:tc>
                  <a:txBody>
                    <a:bodyPr/>
                    <a:lstStyle/>
                    <a:p>
                      <a:pPr marL="0" indent="0" algn="ctr">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值</a:t>
                      </a:r>
                      <a:endParaRPr lang="zh-CN" altLang="en-US"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6350" cap="flat" cmpd="sng" algn="ctr">
                      <a:solidFill>
                        <a:srgbClr val="080000"/>
                      </a:solidFill>
                      <a:prstDash val="solid"/>
                      <a:round/>
                      <a:headEnd type="none" w="med" len="med"/>
                      <a:tailEnd type="none" w="med" len="med"/>
                    </a:lnB>
                    <a:solidFill>
                      <a:srgbClr val="FFFF99"/>
                    </a:solidFill>
                  </a:tcPr>
                </a:tc>
                <a:tc>
                  <a:txBody>
                    <a:bodyPr/>
                    <a:lstStyle/>
                    <a:p>
                      <a:pPr>
                        <a:buNone/>
                      </a:pPr>
                      <a:endParaRPr lang="zh-CN" altLang="en-US" dirty="0"/>
                    </a:p>
                  </a:txBody>
                  <a:tcPr>
                    <a:lnL w="9525" cap="flat" cmpd="sng" algn="ctr">
                      <a:solidFill>
                        <a:srgbClr val="000000"/>
                      </a:solidFill>
                      <a:prstDash val="solid"/>
                      <a:round/>
                      <a:headEnd type="none" w="med" len="med"/>
                      <a:tailEnd type="none" w="med" len="med"/>
                    </a:lnL>
                    <a:lnT w="9525" cap="flat" cmpd="sng">
                      <a:solidFill>
                        <a:srgbClr val="000000"/>
                      </a:solidFill>
                      <a:prstDash val="solid"/>
                      <a:headEnd type="none" w="med" len="med"/>
                      <a:tailEnd type="none" w="med" len="med"/>
                    </a:lnT>
                    <a:lnB w="9525" cap="flat" cmpd="sng" algn="ctr">
                      <a:solidFill>
                        <a:srgbClr val="000000"/>
                      </a:solidFill>
                      <a:prstDash val="solid"/>
                      <a:round/>
                      <a:headEnd type="none" w="med" len="med"/>
                      <a:tailEnd type="none" w="med" len="med"/>
                    </a:lnB>
                    <a:solidFill>
                      <a:srgbClr val="FFFF99"/>
                    </a:solidFill>
                  </a:tcPr>
                </a:tc>
              </a:tr>
              <a:tr h="312420">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1</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1</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2</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12</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rgbClr val="00B050"/>
                    </a:solidFill>
                  </a:tcPr>
                </a:tc>
                <a:tc>
                  <a:txBody>
                    <a:bodyPr/>
                    <a:lstStyle/>
                    <a:p>
                      <a:pPr marL="0" indent="0">
                        <a:buNone/>
                      </a:pPr>
                      <a:endParaRPr lang="zh-CN" altLang="en-US" sz="2000" b="0" u="none" dirty="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99"/>
                    </a:solidFill>
                  </a:tcPr>
                </a:tc>
              </a:tr>
              <a:tr h="313055">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2</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1</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6</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5</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rgbClr val="00B050"/>
                    </a:solidFill>
                  </a:tcPr>
                </a:tc>
                <a:tc>
                  <a:txBody>
                    <a:bodyPr/>
                    <a:lstStyle/>
                    <a:p>
                      <a:pPr marL="0" indent="0">
                        <a:buNone/>
                      </a:pPr>
                      <a:endParaRPr lang="zh-CN" altLang="en-US" sz="2000" b="0" u="none" dirty="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99"/>
                    </a:solidFill>
                  </a:tcPr>
                </a:tc>
              </a:tr>
              <a:tr h="313055">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3</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2</a:t>
                      </a: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4</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6</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rgbClr val="00B050"/>
                    </a:solidFill>
                  </a:tcPr>
                </a:tc>
                <a:tc>
                  <a:txBody>
                    <a:bodyPr/>
                    <a:lstStyle/>
                    <a:p>
                      <a:pPr marL="0" indent="0">
                        <a:buNone/>
                      </a:pPr>
                      <a:endParaRPr lang="zh-CN" altLang="en-US" sz="2000" b="0" u="none" dirty="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99"/>
                    </a:solidFill>
                  </a:tcPr>
                </a:tc>
              </a:tr>
              <a:tr h="313055">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4</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3</a:t>
                      </a: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2</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5</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rgbClr val="00B050"/>
                    </a:solidFill>
                  </a:tcPr>
                </a:tc>
                <a:tc>
                  <a:txBody>
                    <a:bodyPr/>
                    <a:lstStyle/>
                    <a:p>
                      <a:pPr marL="0" indent="0">
                        <a:buNone/>
                      </a:pPr>
                      <a:endParaRPr lang="zh-CN" altLang="en-US" sz="2000" b="0" u="none" dirty="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99"/>
                    </a:solidFill>
                  </a:tcPr>
                </a:tc>
              </a:tr>
              <a:tr h="312420">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5</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3</a:t>
                      </a: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5</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3</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rgbClr val="00B050"/>
                    </a:solidFill>
                  </a:tcPr>
                </a:tc>
                <a:tc>
                  <a:txBody>
                    <a:bodyPr/>
                    <a:lstStyle/>
                    <a:p>
                      <a:pPr marL="0" indent="0">
                        <a:buNone/>
                      </a:pPr>
                      <a:endParaRPr lang="zh-CN" altLang="en-US" sz="2000" b="0" u="none" dirty="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99"/>
                    </a:solidFill>
                  </a:tcPr>
                </a:tc>
              </a:tr>
              <a:tr h="313055">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6</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4</a:t>
                      </a: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1</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7</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rgbClr val="00B050"/>
                    </a:solidFill>
                  </a:tcPr>
                </a:tc>
                <a:tc>
                  <a:txBody>
                    <a:bodyPr/>
                    <a:lstStyle/>
                    <a:p>
                      <a:pPr marL="0" indent="0">
                        <a:buNone/>
                      </a:pPr>
                      <a:endParaRPr lang="zh-CN" altLang="en-US" sz="2000" b="0" u="none" dirty="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99"/>
                    </a:solidFill>
                  </a:tcPr>
                </a:tc>
              </a:tr>
              <a:tr h="313055">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7</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2000" b="0" u="none">
                          <a:latin typeface="宋体" panose="02010600030101010101" pitchFamily="2" charset="-122"/>
                          <a:ea typeface="宋体" panose="02010600030101010101" pitchFamily="2" charset="-122"/>
                          <a:cs typeface="宋体" panose="02010600030101010101" pitchFamily="2" charset="-122"/>
                        </a:rPr>
                        <a:t>4</a:t>
                      </a:r>
                      <a:endParaRPr lang="en-US" altLang="zh-CN" sz="2000" b="0" u="none">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4</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10</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rgbClr val="00B050"/>
                    </a:solidFill>
                  </a:tcPr>
                </a:tc>
                <a:tc>
                  <a:txBody>
                    <a:bodyPr/>
                    <a:lstStyle/>
                    <a:p>
                      <a:pPr marL="0" indent="0">
                        <a:buNone/>
                      </a:pPr>
                      <a:endParaRPr lang="zh-CN" altLang="en-US" sz="2000" b="0" u="none" dirty="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99"/>
                    </a:solidFill>
                  </a:tcPr>
                </a:tc>
              </a:tr>
              <a:tr h="312420">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8</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6</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3</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9</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solidFill>
                      <a:srgbClr val="00B050"/>
                    </a:solidFill>
                  </a:tcPr>
                </a:tc>
                <a:tc>
                  <a:txBody>
                    <a:bodyPr/>
                    <a:lstStyle/>
                    <a:p>
                      <a:pPr marL="0" indent="0">
                        <a:buNone/>
                      </a:pPr>
                      <a:endParaRPr lang="zh-CN" altLang="en-US" sz="2000" b="0" u="none" dirty="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99"/>
                    </a:solidFill>
                  </a:tcPr>
                </a:tc>
              </a:tr>
              <a:tr h="313055">
                <a:tc>
                  <a:txBody>
                    <a:bodyPr/>
                    <a:lstStyle/>
                    <a:p>
                      <a:pPr marL="0" indent="0">
                        <a:buNone/>
                      </a:pPr>
                      <a:endParaRPr lang="zh-CN" altLang="en-US" sz="2000" b="0" u="none" dirty="0">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FFFF99"/>
                    </a:solidFill>
                  </a:tcPr>
                </a:tc>
                <a:tc>
                  <a:txBody>
                    <a:bodyPr/>
                    <a:lstStyle/>
                    <a:p>
                      <a:pPr algn="ctr"/>
                      <a:r>
                        <a:rPr lang="en-US" altLang="zh-CN" sz="2000" b="0" u="none" dirty="0">
                          <a:latin typeface="宋体" panose="02010600030101010101" pitchFamily="2" charset="-122"/>
                          <a:ea typeface="宋体" panose="02010600030101010101" pitchFamily="2" charset="-122"/>
                          <a:cs typeface="宋体" panose="02010600030101010101" pitchFamily="2" charset="-122"/>
                        </a:rPr>
                        <a:t>7</a:t>
                      </a:r>
                      <a:endParaRPr lang="zh-CN" dirty="0"/>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chemeClr val="accent6">
                        <a:lumMod val="60000"/>
                        <a:lumOff val="4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6</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indent="0" algn="ctr">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8</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B050"/>
                    </a:solidFill>
                  </a:tcPr>
                </a:tc>
                <a:tc>
                  <a:txBody>
                    <a:bodyPr/>
                    <a:lstStyle/>
                    <a:p>
                      <a:pPr marL="0" indent="0" algn="l" defTabSz="914400" rtl="0" eaLnBrk="1" latinLnBrk="0" hangingPunct="1">
                        <a:buNone/>
                      </a:pPr>
                      <a:endParaRPr lang="zh-CN" sz="2000" b="0" u="none" kern="12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99"/>
                    </a:solidFill>
                  </a:tcPr>
                </a:tc>
              </a:tr>
            </a:tbl>
          </a:graphicData>
        </a:graphic>
      </p:graphicFrame>
      <p:sp>
        <p:nvSpPr>
          <p:cNvPr id="14" name="双括号 13"/>
          <p:cNvSpPr/>
          <p:nvPr/>
        </p:nvSpPr>
        <p:spPr>
          <a:xfrm>
            <a:off x="723796" y="2279607"/>
            <a:ext cx="2192020" cy="2373530"/>
          </a:xfrm>
          <a:prstGeom prst="bracketPair">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FF"/>
              </a:solidFill>
            </a:endParaRPr>
          </a:p>
        </p:txBody>
      </p:sp>
      <p:sp>
        <p:nvSpPr>
          <p:cNvPr id="21" name="文本框 20"/>
          <p:cNvSpPr txBox="1"/>
          <p:nvPr/>
        </p:nvSpPr>
        <p:spPr>
          <a:xfrm>
            <a:off x="5189818" y="1959045"/>
            <a:ext cx="3646991" cy="3801041"/>
          </a:xfrm>
          <a:prstGeom prst="rect">
            <a:avLst/>
          </a:prstGeom>
          <a:noFill/>
        </p:spPr>
        <p:txBody>
          <a:bodyPr wrap="square" rtlCol="0">
            <a:spAutoFit/>
          </a:bodyPr>
          <a:lstStyle/>
          <a:p>
            <a:pPr>
              <a:spcBef>
                <a:spcPts val="300"/>
              </a:spcBef>
            </a:pPr>
            <a:r>
              <a:rPr lang="zh-CN" altLang="en-US" sz="1800" dirty="0">
                <a:latin typeface="Times New Roman" panose="02020603050405020304" pitchFamily="18" charset="0"/>
              </a:rPr>
              <a:t>这种存储结构的描述需要由</a:t>
            </a:r>
            <a:r>
              <a:rPr lang="zh-CN" altLang="en-US" sz="1800" b="1" dirty="0">
                <a:solidFill>
                  <a:srgbClr val="FF0000"/>
                </a:solidFill>
                <a:latin typeface="Times New Roman" panose="02020603050405020304" pitchFamily="18" charset="0"/>
              </a:rPr>
              <a:t>三元组</a:t>
            </a:r>
            <a:r>
              <a:rPr lang="zh-CN" altLang="en-US" sz="1800" dirty="0">
                <a:latin typeface="Times New Roman" panose="02020603050405020304" pitchFamily="18" charset="0"/>
              </a:rPr>
              <a:t>和</a:t>
            </a:r>
            <a:r>
              <a:rPr lang="zh-CN" altLang="en-US" sz="1800" b="1" dirty="0">
                <a:solidFill>
                  <a:srgbClr val="FF0000"/>
                </a:solidFill>
                <a:latin typeface="Times New Roman" panose="02020603050405020304" pitchFamily="18" charset="0"/>
              </a:rPr>
              <a:t>整体结构</a:t>
            </a:r>
            <a:r>
              <a:rPr lang="zh-CN" altLang="en-US" sz="1800" dirty="0">
                <a:latin typeface="Times New Roman" panose="02020603050405020304" pitchFamily="18" charset="0"/>
              </a:rPr>
              <a:t>两部分来描述：</a:t>
            </a:r>
            <a:endParaRPr lang="zh-CN" altLang="en-US" sz="1800" dirty="0">
              <a:latin typeface="Times New Roman" panose="02020603050405020304" pitchFamily="18" charset="0"/>
            </a:endParaRPr>
          </a:p>
          <a:p>
            <a:pPr>
              <a:spcBef>
                <a:spcPts val="300"/>
              </a:spcBef>
            </a:pPr>
            <a:r>
              <a:rPr lang="zh-CN" altLang="en-US" dirty="0">
                <a:solidFill>
                  <a:srgbClr val="0000FF"/>
                </a:solidFill>
                <a:latin typeface="Times New Roman" panose="02020603050405020304" pitchFamily="18" charset="0"/>
              </a:rPr>
              <a:t>struct</a:t>
            </a:r>
            <a:r>
              <a:rPr lang="zh-CN" altLang="en-US" dirty="0">
                <a:latin typeface="Times New Roman" panose="02020603050405020304" pitchFamily="18" charset="0"/>
              </a:rPr>
              <a:t>   tuple </a:t>
            </a:r>
            <a:r>
              <a:rPr lang="zh-CN" altLang="en-US" sz="1800" dirty="0" smtClean="0">
                <a:latin typeface="Times New Roman" panose="02020603050405020304" pitchFamily="18" charset="0"/>
              </a:rPr>
              <a:t>// </a:t>
            </a:r>
            <a:r>
              <a:rPr lang="zh-CN" altLang="en-US" sz="1800" b="1" dirty="0">
                <a:solidFill>
                  <a:srgbClr val="FF0000"/>
                </a:solidFill>
                <a:latin typeface="Times New Roman" panose="02020603050405020304" pitchFamily="18" charset="0"/>
              </a:rPr>
              <a:t>三元组结构</a:t>
            </a:r>
            <a:endParaRPr lang="zh-CN" altLang="en-US" sz="1800" b="1" dirty="0">
              <a:solidFill>
                <a:srgbClr val="FF0000"/>
              </a:solidFill>
              <a:latin typeface="Times New Roman" panose="02020603050405020304" pitchFamily="18" charset="0"/>
            </a:endParaRPr>
          </a:p>
          <a:p>
            <a:pPr>
              <a:spcBef>
                <a:spcPts val="300"/>
              </a:spcBef>
            </a:pPr>
            <a:r>
              <a:rPr lang="zh-CN" altLang="en-US" sz="1800" dirty="0" smtClean="0">
                <a:latin typeface="Times New Roman" panose="02020603050405020304" pitchFamily="18" charset="0"/>
              </a:rPr>
              <a:t>{ </a:t>
            </a:r>
            <a:r>
              <a:rPr lang="zh-CN" altLang="en-US" sz="1800" dirty="0">
                <a:solidFill>
                  <a:srgbClr val="0000FF"/>
                </a:solidFill>
                <a:latin typeface="Times New Roman" panose="02020603050405020304" pitchFamily="18" charset="0"/>
              </a:rPr>
              <a:t>int</a:t>
            </a:r>
            <a:r>
              <a:rPr lang="zh-CN" altLang="en-US" sz="1800" dirty="0">
                <a:latin typeface="Times New Roman" panose="02020603050405020304" pitchFamily="18" charset="0"/>
              </a:rPr>
              <a:t> </a:t>
            </a:r>
            <a:r>
              <a:rPr lang="zh-CN" altLang="en-US" sz="1800" i="1" dirty="0">
                <a:latin typeface="Times New Roman" panose="02020603050405020304" pitchFamily="18" charset="0"/>
              </a:rPr>
              <a:t>i</a:t>
            </a:r>
            <a:r>
              <a:rPr lang="zh-CN" altLang="en-US" sz="1800" dirty="0" smtClean="0">
                <a:latin typeface="Times New Roman" panose="02020603050405020304" pitchFamily="18" charset="0"/>
              </a:rPr>
              <a:t>, </a:t>
            </a:r>
            <a:r>
              <a:rPr lang="zh-CN" altLang="en-US" sz="1800" i="1" dirty="0" smtClean="0">
                <a:latin typeface="Times New Roman" panose="02020603050405020304" pitchFamily="18" charset="0"/>
              </a:rPr>
              <a:t>j</a:t>
            </a:r>
            <a:r>
              <a:rPr lang="zh-CN" altLang="en-US" sz="1800" dirty="0">
                <a:latin typeface="Times New Roman" panose="02020603050405020304" pitchFamily="18" charset="0"/>
              </a:rPr>
              <a:t>;      </a:t>
            </a:r>
            <a:r>
              <a:rPr lang="zh-CN" altLang="en-US" sz="1800" dirty="0" smtClean="0">
                <a:latin typeface="Times New Roman" panose="02020603050405020304" pitchFamily="18" charset="0"/>
              </a:rPr>
              <a:t>   </a:t>
            </a:r>
            <a:r>
              <a:rPr lang="zh-CN" altLang="en-US" sz="1800" dirty="0">
                <a:latin typeface="Times New Roman" panose="02020603050405020304" pitchFamily="18" charset="0"/>
              </a:rPr>
              <a:t>// 元素的行、列下标</a:t>
            </a:r>
            <a:endParaRPr lang="zh-CN" altLang="en-US" sz="1800" dirty="0">
              <a:latin typeface="Times New Roman" panose="02020603050405020304" pitchFamily="18" charset="0"/>
            </a:endParaRPr>
          </a:p>
          <a:p>
            <a:pPr>
              <a:spcBef>
                <a:spcPts val="300"/>
              </a:spcBef>
            </a:pPr>
            <a:r>
              <a:rPr lang="zh-CN" altLang="en-US" sz="1800" dirty="0">
                <a:latin typeface="Times New Roman" panose="02020603050405020304" pitchFamily="18" charset="0"/>
              </a:rPr>
              <a:t>  </a:t>
            </a:r>
            <a:r>
              <a:rPr lang="zh-CN" altLang="en-US" sz="1800" dirty="0" smtClean="0">
                <a:solidFill>
                  <a:srgbClr val="0000FF"/>
                </a:solidFill>
                <a:latin typeface="Times New Roman" panose="02020603050405020304" pitchFamily="18" charset="0"/>
              </a:rPr>
              <a:t>elemen</a:t>
            </a:r>
            <a:r>
              <a:rPr lang="en-US" altLang="zh-CN" sz="1800" dirty="0" smtClean="0">
                <a:solidFill>
                  <a:srgbClr val="0000FF"/>
                </a:solidFill>
                <a:latin typeface="Times New Roman" panose="02020603050405020304" pitchFamily="18" charset="0"/>
              </a:rPr>
              <a:t>T</a:t>
            </a:r>
            <a:r>
              <a:rPr lang="zh-CN" altLang="en-US" sz="1800" dirty="0" smtClean="0">
                <a:solidFill>
                  <a:srgbClr val="0000FF"/>
                </a:solidFill>
                <a:latin typeface="Times New Roman" panose="02020603050405020304" pitchFamily="18" charset="0"/>
              </a:rPr>
              <a:t>ype</a:t>
            </a:r>
            <a:r>
              <a:rPr lang="zh-CN" altLang="en-US" sz="1800" dirty="0" smtClean="0">
                <a:latin typeface="Times New Roman" panose="02020603050405020304" pitchFamily="18" charset="0"/>
              </a:rPr>
              <a:t> </a:t>
            </a:r>
            <a:r>
              <a:rPr lang="zh-CN" altLang="en-US" sz="1800" i="1" dirty="0">
                <a:latin typeface="Times New Roman" panose="02020603050405020304" pitchFamily="18" charset="0"/>
              </a:rPr>
              <a:t>v</a:t>
            </a:r>
            <a:r>
              <a:rPr lang="zh-CN" altLang="en-US" sz="1800" dirty="0">
                <a:latin typeface="Times New Roman" panose="02020603050405020304" pitchFamily="18" charset="0"/>
              </a:rPr>
              <a:t>；           // 元素值</a:t>
            </a:r>
            <a:endParaRPr lang="zh-CN" altLang="en-US" sz="1800" dirty="0">
              <a:latin typeface="Times New Roman" panose="02020603050405020304" pitchFamily="18" charset="0"/>
            </a:endParaRPr>
          </a:p>
          <a:p>
            <a:pPr>
              <a:spcBef>
                <a:spcPts val="300"/>
              </a:spcBef>
            </a:pPr>
            <a:r>
              <a:rPr lang="zh-CN" altLang="en-US" sz="1800" dirty="0" smtClean="0">
                <a:latin typeface="Times New Roman" panose="02020603050405020304" pitchFamily="18" charset="0"/>
              </a:rPr>
              <a:t>};</a:t>
            </a:r>
            <a:endParaRPr lang="zh-CN" altLang="en-US" sz="1800" dirty="0">
              <a:latin typeface="Times New Roman" panose="02020603050405020304" pitchFamily="18" charset="0"/>
            </a:endParaRPr>
          </a:p>
          <a:p>
            <a:pPr>
              <a:spcBef>
                <a:spcPts val="300"/>
              </a:spcBef>
            </a:pPr>
            <a:r>
              <a:rPr lang="zh-CN" altLang="en-US" sz="1800" dirty="0" smtClean="0">
                <a:solidFill>
                  <a:srgbClr val="0000FF"/>
                </a:solidFill>
                <a:latin typeface="Times New Roman" panose="02020603050405020304" pitchFamily="18" charset="0"/>
              </a:rPr>
              <a:t>struct</a:t>
            </a:r>
            <a:r>
              <a:rPr lang="zh-CN" altLang="en-US" sz="1800" dirty="0" smtClean="0">
                <a:latin typeface="Times New Roman" panose="02020603050405020304" pitchFamily="18" charset="0"/>
              </a:rPr>
              <a:t>  </a:t>
            </a:r>
            <a:r>
              <a:rPr lang="zh-CN" altLang="en-US" dirty="0">
                <a:latin typeface="Times New Roman" panose="02020603050405020304" pitchFamily="18" charset="0"/>
              </a:rPr>
              <a:t>spmatrix  </a:t>
            </a:r>
            <a:r>
              <a:rPr lang="zh-CN" altLang="en-US" sz="1800" dirty="0" smtClean="0">
                <a:latin typeface="Times New Roman" panose="02020603050405020304" pitchFamily="18" charset="0"/>
              </a:rPr>
              <a:t>//</a:t>
            </a:r>
            <a:r>
              <a:rPr lang="zh-CN" altLang="en-US" sz="1800" b="1" dirty="0">
                <a:solidFill>
                  <a:srgbClr val="FF0000"/>
                </a:solidFill>
                <a:latin typeface="Times New Roman" panose="02020603050405020304" pitchFamily="18" charset="0"/>
              </a:rPr>
              <a:t>三元组表结构</a:t>
            </a:r>
            <a:endParaRPr lang="zh-CN" altLang="en-US" sz="1800" b="1" dirty="0">
              <a:solidFill>
                <a:srgbClr val="FF0000"/>
              </a:solidFill>
              <a:latin typeface="Times New Roman" panose="02020603050405020304" pitchFamily="18" charset="0"/>
            </a:endParaRPr>
          </a:p>
          <a:p>
            <a:pPr>
              <a:spcBef>
                <a:spcPts val="300"/>
              </a:spcBef>
            </a:pPr>
            <a:r>
              <a:rPr lang="zh-CN" altLang="en-US" sz="1800" dirty="0">
                <a:latin typeface="Times New Roman" panose="02020603050405020304" pitchFamily="18" charset="0"/>
              </a:rPr>
              <a:t> </a:t>
            </a:r>
            <a:r>
              <a:rPr lang="zh-CN" altLang="en-US" sz="1800" dirty="0" smtClean="0">
                <a:latin typeface="Times New Roman" panose="02020603050405020304" pitchFamily="18" charset="0"/>
              </a:rPr>
              <a:t>{ </a:t>
            </a:r>
            <a:r>
              <a:rPr lang="zh-CN" altLang="en-US" sz="1800" dirty="0">
                <a:solidFill>
                  <a:srgbClr val="0000FF"/>
                </a:solidFill>
                <a:latin typeface="Times New Roman" panose="02020603050405020304" pitchFamily="18" charset="0"/>
              </a:rPr>
              <a:t>int</a:t>
            </a:r>
            <a:r>
              <a:rPr lang="zh-CN" altLang="en-US" sz="1800" dirty="0">
                <a:latin typeface="Times New Roman" panose="02020603050405020304" pitchFamily="18" charset="0"/>
              </a:rPr>
              <a:t> mu,nu,tu; </a:t>
            </a:r>
            <a:r>
              <a:rPr lang="zh-CN" altLang="en-US" sz="1800" dirty="0" smtClean="0">
                <a:latin typeface="Times New Roman" panose="02020603050405020304" pitchFamily="18" charset="0"/>
              </a:rPr>
              <a:t>  </a:t>
            </a:r>
            <a:r>
              <a:rPr lang="zh-CN" altLang="en-US" dirty="0"/>
              <a:t>//行数、列数、非</a:t>
            </a:r>
            <a:endParaRPr lang="en-US" altLang="zh-CN" dirty="0"/>
          </a:p>
          <a:p>
            <a:pPr>
              <a:spcBef>
                <a:spcPts val="300"/>
              </a:spcBef>
            </a:pPr>
            <a:r>
              <a:rPr lang="en-US" altLang="zh-CN" dirty="0"/>
              <a:t>                           </a:t>
            </a:r>
            <a:r>
              <a:rPr lang="zh-CN" altLang="en-US" dirty="0" smtClean="0"/>
              <a:t>0</a:t>
            </a:r>
            <a:r>
              <a:rPr lang="zh-CN" altLang="en-US" dirty="0"/>
              <a:t>元个数</a:t>
            </a:r>
            <a:endParaRPr lang="zh-CN" altLang="en-US" dirty="0"/>
          </a:p>
          <a:p>
            <a:pPr>
              <a:spcBef>
                <a:spcPts val="300"/>
              </a:spcBef>
            </a:pPr>
            <a:r>
              <a:rPr lang="zh-CN" altLang="en-US" sz="1800" dirty="0" smtClean="0">
                <a:latin typeface="Times New Roman" panose="02020603050405020304" pitchFamily="18" charset="0"/>
              </a:rPr>
              <a:t>   </a:t>
            </a:r>
            <a:r>
              <a:rPr lang="zh-CN" altLang="en-US" sz="1800" dirty="0" smtClean="0">
                <a:solidFill>
                  <a:srgbClr val="0000FF"/>
                </a:solidFill>
                <a:latin typeface="Times New Roman" panose="02020603050405020304" pitchFamily="18" charset="0"/>
              </a:rPr>
              <a:t>tuple</a:t>
            </a:r>
            <a:r>
              <a:rPr lang="zh-CN" altLang="en-US" sz="1800" dirty="0" smtClean="0">
                <a:latin typeface="Times New Roman" panose="02020603050405020304" pitchFamily="18" charset="0"/>
              </a:rPr>
              <a:t> data</a:t>
            </a:r>
            <a:r>
              <a:rPr lang="en-US" altLang="zh-CN" sz="1800" dirty="0" smtClean="0">
                <a:latin typeface="Times New Roman" panose="02020603050405020304" pitchFamily="18" charset="0"/>
              </a:rPr>
              <a:t>[</a:t>
            </a:r>
            <a:r>
              <a:rPr lang="zh-CN" altLang="en-US" sz="1800" dirty="0" smtClean="0">
                <a:latin typeface="Times New Roman" panose="02020603050405020304" pitchFamily="18" charset="0"/>
              </a:rPr>
              <a:t>max</a:t>
            </a:r>
            <a:r>
              <a:rPr lang="en-US" altLang="zh-CN" sz="1800" dirty="0" smtClean="0">
                <a:latin typeface="Times New Roman" panose="02020603050405020304" pitchFamily="18" charset="0"/>
              </a:rPr>
              <a:t>N</a:t>
            </a:r>
            <a:r>
              <a:rPr lang="zh-CN" altLang="en-US" sz="1800" dirty="0" smtClean="0">
                <a:latin typeface="Times New Roman" panose="02020603050405020304" pitchFamily="18" charset="0"/>
              </a:rPr>
              <a:t>um</a:t>
            </a:r>
            <a:r>
              <a:rPr lang="en-US" altLang="zh-CN" sz="1800" dirty="0" smtClean="0">
                <a:latin typeface="Times New Roman" panose="02020603050405020304" pitchFamily="18" charset="0"/>
              </a:rPr>
              <a:t>]</a:t>
            </a:r>
            <a:r>
              <a:rPr lang="zh-CN" altLang="en-US" sz="1800" dirty="0" smtClean="0">
                <a:latin typeface="Times New Roman" panose="02020603050405020304" pitchFamily="18" charset="0"/>
              </a:rPr>
              <a:t>;</a:t>
            </a:r>
            <a:endParaRPr lang="zh-CN" altLang="en-US" sz="1800" dirty="0">
              <a:latin typeface="Times New Roman" panose="02020603050405020304" pitchFamily="18" charset="0"/>
            </a:endParaRPr>
          </a:p>
          <a:p>
            <a:pPr>
              <a:spcBef>
                <a:spcPts val="300"/>
              </a:spcBef>
            </a:pPr>
            <a:r>
              <a:rPr lang="zh-CN" altLang="en-US" sz="1800" dirty="0" smtClean="0">
                <a:latin typeface="Times New Roman" panose="02020603050405020304" pitchFamily="18" charset="0"/>
              </a:rPr>
              <a:t>};</a:t>
            </a:r>
            <a:endParaRPr lang="zh-CN" altLang="en-US" sz="1800" dirty="0">
              <a:latin typeface="Times New Roman" panose="02020603050405020304" pitchFamily="18" charset="0"/>
            </a:endParaRPr>
          </a:p>
          <a:p>
            <a:pPr>
              <a:spcBef>
                <a:spcPts val="300"/>
              </a:spcBef>
            </a:pPr>
            <a:r>
              <a:rPr lang="zh-CN" altLang="en-US" sz="1800" dirty="0">
                <a:latin typeface="Times New Roman" panose="02020603050405020304" pitchFamily="18" charset="0"/>
              </a:rPr>
              <a:t>其中</a:t>
            </a:r>
            <a:r>
              <a:rPr lang="zh-CN" altLang="en-US" sz="1800" dirty="0" smtClean="0">
                <a:latin typeface="Times New Roman" panose="02020603050405020304" pitchFamily="18" charset="0"/>
              </a:rPr>
              <a:t>max</a:t>
            </a:r>
            <a:r>
              <a:rPr lang="en-US" altLang="zh-CN" sz="1800" dirty="0" smtClean="0">
                <a:latin typeface="Times New Roman" panose="02020603050405020304" pitchFamily="18" charset="0"/>
              </a:rPr>
              <a:t>N</a:t>
            </a:r>
            <a:r>
              <a:rPr lang="zh-CN" altLang="en-US" sz="1800" dirty="0" smtClean="0">
                <a:latin typeface="Times New Roman" panose="02020603050405020304" pitchFamily="18" charset="0"/>
              </a:rPr>
              <a:t>um</a:t>
            </a:r>
            <a:r>
              <a:rPr lang="zh-CN" altLang="en-US" sz="1800" dirty="0">
                <a:latin typeface="Times New Roman" panose="02020603050405020304" pitchFamily="18" charset="0"/>
              </a:rPr>
              <a:t>为一个设定的常量。</a:t>
            </a:r>
            <a:endParaRPr lang="zh-CN" altLang="en-US" sz="1800" dirty="0">
              <a:latin typeface="Times New Roman" panose="02020603050405020304" pitchFamily="18" charset="0"/>
            </a:endParaRPr>
          </a:p>
        </p:txBody>
      </p:sp>
      <p:sp>
        <p:nvSpPr>
          <p:cNvPr id="5" name="标注: 线形 4"/>
          <p:cNvSpPr/>
          <p:nvPr/>
        </p:nvSpPr>
        <p:spPr>
          <a:xfrm>
            <a:off x="1979711" y="5050903"/>
            <a:ext cx="1454667" cy="694521"/>
          </a:xfrm>
          <a:prstGeom prst="borderCallout1">
            <a:avLst>
              <a:gd name="adj1" fmla="val 48336"/>
              <a:gd name="adj2" fmla="val 99320"/>
              <a:gd name="adj3" fmla="val 27338"/>
              <a:gd name="adj4" fmla="val 131656"/>
            </a:avLst>
          </a:prstGeom>
          <a:solidFill>
            <a:srgbClr val="FFFF00"/>
          </a:solid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zh-CN" sz="1800" dirty="0">
              <a:sym typeface="+mn-ea"/>
            </a:endParaRPr>
          </a:p>
          <a:p>
            <a:r>
              <a:rPr lang="zh-CN" altLang="en-US" sz="1800" dirty="0">
                <a:solidFill>
                  <a:schemeClr val="accent6">
                    <a:lumMod val="75000"/>
                  </a:schemeClr>
                </a:solidFill>
                <a:sym typeface="+mn-ea"/>
              </a:rPr>
              <a:t>行数</a:t>
            </a:r>
            <a:r>
              <a:rPr lang="zh-CN" altLang="en-US" sz="1800" dirty="0">
                <a:solidFill>
                  <a:schemeClr val="tx1"/>
                </a:solidFill>
                <a:sym typeface="+mn-ea"/>
              </a:rPr>
              <a:t>、</a:t>
            </a:r>
            <a:r>
              <a:rPr lang="zh-CN" altLang="en-US" sz="1800" dirty="0">
                <a:solidFill>
                  <a:srgbClr val="00B0F0"/>
                </a:solidFill>
                <a:sym typeface="+mn-ea"/>
              </a:rPr>
              <a:t>列数</a:t>
            </a:r>
            <a:r>
              <a:rPr lang="zh-CN" altLang="en-US" sz="1800" dirty="0">
                <a:solidFill>
                  <a:schemeClr val="tx1"/>
                </a:solidFill>
                <a:sym typeface="+mn-ea"/>
              </a:rPr>
              <a:t>、</a:t>
            </a:r>
            <a:endParaRPr lang="zh-CN" altLang="en-US" sz="1800" dirty="0">
              <a:solidFill>
                <a:schemeClr val="tx1"/>
              </a:solidFill>
              <a:sym typeface="+mn-ea"/>
            </a:endParaRPr>
          </a:p>
          <a:p>
            <a:r>
              <a:rPr lang="zh-CN" altLang="en-US" sz="1800" dirty="0">
                <a:solidFill>
                  <a:schemeClr val="tx1"/>
                </a:solidFill>
                <a:sym typeface="+mn-ea"/>
              </a:rPr>
              <a:t> </a:t>
            </a:r>
            <a:r>
              <a:rPr lang="zh-CN" altLang="en-US" sz="1800" dirty="0">
                <a:solidFill>
                  <a:srgbClr val="00B050"/>
                </a:solidFill>
                <a:sym typeface="+mn-ea"/>
              </a:rPr>
              <a:t>非零元个数</a:t>
            </a:r>
            <a:r>
              <a:rPr lang="zh-CN" altLang="en-US" sz="1800" dirty="0">
                <a:solidFill>
                  <a:srgbClr val="00B050"/>
                </a:solidFill>
              </a:rPr>
              <a:t>   </a:t>
            </a:r>
            <a:endParaRPr lang="zh-CN" altLang="en-US" sz="1800" dirty="0">
              <a:solidFill>
                <a:srgbClr val="00B050"/>
              </a:solidFill>
            </a:endParaRPr>
          </a:p>
          <a:p>
            <a:pPr algn="ctr"/>
            <a:endParaRPr lang="zh-CN" altLang="en-US" dirty="0"/>
          </a:p>
        </p:txBody>
      </p:sp>
      <p:sp>
        <p:nvSpPr>
          <p:cNvPr id="8" name="文本框 7"/>
          <p:cNvSpPr txBox="1"/>
          <p:nvPr/>
        </p:nvSpPr>
        <p:spPr>
          <a:xfrm>
            <a:off x="427990" y="2351653"/>
            <a:ext cx="2631842" cy="2246769"/>
          </a:xfrm>
          <a:prstGeom prst="rect">
            <a:avLst/>
          </a:prstGeom>
          <a:noFill/>
        </p:spPr>
        <p:txBody>
          <a:bodyPr wrap="square" rtlCol="0">
            <a:spAutoFit/>
          </a:bodyPr>
          <a:lstStyle/>
          <a:p>
            <a:r>
              <a:rPr lang="zh-CN" altLang="en-US" sz="2000" dirty="0"/>
              <a:t>     0  12   0   0   0   5</a:t>
            </a:r>
            <a:endParaRPr lang="zh-CN" altLang="en-US" sz="2000" dirty="0"/>
          </a:p>
          <a:p>
            <a:r>
              <a:rPr lang="zh-CN" altLang="en-US" sz="2000" dirty="0"/>
              <a:t>     0  0    0   6   0   0</a:t>
            </a:r>
            <a:endParaRPr lang="zh-CN" altLang="en-US" sz="2000" dirty="0"/>
          </a:p>
          <a:p>
            <a:r>
              <a:rPr lang="zh-CN" altLang="en-US" sz="2000" dirty="0"/>
              <a:t>     0  5    0   0   3   0</a:t>
            </a:r>
            <a:endParaRPr lang="zh-CN" altLang="en-US" sz="2000" dirty="0"/>
          </a:p>
          <a:p>
            <a:r>
              <a:rPr lang="zh-CN" altLang="en-US" sz="2000" dirty="0"/>
              <a:t>     7  0    0   10  0   0</a:t>
            </a:r>
            <a:endParaRPr lang="zh-CN" altLang="en-US" sz="2000" dirty="0"/>
          </a:p>
          <a:p>
            <a:r>
              <a:rPr lang="zh-CN" altLang="en-US" sz="2000" dirty="0"/>
              <a:t>     0  0    0   0   0   0</a:t>
            </a:r>
            <a:endParaRPr lang="zh-CN" altLang="en-US" sz="2000" dirty="0"/>
          </a:p>
          <a:p>
            <a:r>
              <a:rPr lang="zh-CN" altLang="en-US" sz="2000" dirty="0"/>
              <a:t>     0  0    9   0   0   0</a:t>
            </a:r>
            <a:endParaRPr lang="zh-CN" altLang="en-US" sz="2000" dirty="0"/>
          </a:p>
          <a:p>
            <a:r>
              <a:rPr lang="zh-CN" altLang="en-US" sz="2000" dirty="0"/>
              <a:t>     0  0    0   0   0   0</a:t>
            </a:r>
            <a:endParaRPr lang="zh-CN" altLang="en-US" dirty="0"/>
          </a:p>
        </p:txBody>
      </p:sp>
      <p:sp>
        <p:nvSpPr>
          <p:cNvPr id="9" name="箭头: 右 8"/>
          <p:cNvSpPr/>
          <p:nvPr/>
        </p:nvSpPr>
        <p:spPr>
          <a:xfrm>
            <a:off x="2951535" y="2710145"/>
            <a:ext cx="579065" cy="28803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152363" y="2411896"/>
            <a:ext cx="323293" cy="2880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3657389" y="2419516"/>
            <a:ext cx="1324924" cy="2880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a:stCxn id="10" idx="6"/>
            <a:endCxn id="15" idx="2"/>
          </p:cNvCxnSpPr>
          <p:nvPr/>
        </p:nvCxnSpPr>
        <p:spPr>
          <a:xfrm>
            <a:off x="1475656" y="2555912"/>
            <a:ext cx="2181733" cy="762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灯片编号占位符 16"/>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sp>
        <p:nvSpPr>
          <p:cNvPr id="18" name="箭头: 左右 17"/>
          <p:cNvSpPr/>
          <p:nvPr/>
        </p:nvSpPr>
        <p:spPr>
          <a:xfrm>
            <a:off x="2936546" y="3369389"/>
            <a:ext cx="590483" cy="320117"/>
          </a:xfrm>
          <a:prstGeom prst="lef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03695" y="5854152"/>
            <a:ext cx="8357235" cy="707886"/>
          </a:xfrm>
          <a:prstGeom prst="rect">
            <a:avLst/>
          </a:prstGeom>
          <a:noFill/>
        </p:spPr>
        <p:txBody>
          <a:bodyPr wrap="square" rtlCol="0">
            <a:spAutoFit/>
          </a:bodyPr>
          <a:lstStyle/>
          <a:p>
            <a:r>
              <a:rPr lang="zh-CN" altLang="en-US" sz="2000" dirty="0">
                <a:solidFill>
                  <a:srgbClr val="FF0000"/>
                </a:solidFill>
              </a:rPr>
              <a:t>对所存储的稀疏矩阵，如何设相关问题的求解算法</a:t>
            </a:r>
            <a:r>
              <a:rPr lang="zh-CN" altLang="en-US" sz="2000" dirty="0" smtClean="0">
                <a:solidFill>
                  <a:srgbClr val="FF0000"/>
                </a:solidFill>
              </a:rPr>
              <a:t>？</a:t>
            </a:r>
            <a:endParaRPr lang="en-US" altLang="zh-CN" sz="2000" dirty="0" smtClean="0">
              <a:solidFill>
                <a:srgbClr val="FF0000"/>
              </a:solidFill>
            </a:endParaRPr>
          </a:p>
          <a:p>
            <a:pPr marL="285750" indent="-285750">
              <a:buClr>
                <a:srgbClr val="FF0000"/>
              </a:buClr>
              <a:buFont typeface="Wingdings" panose="05000000000000000000" pitchFamily="2" charset="2"/>
              <a:buChar char="ü"/>
            </a:pPr>
            <a:r>
              <a:rPr lang="zh-CN" altLang="en-US" sz="2000" dirty="0" smtClean="0"/>
              <a:t>例如</a:t>
            </a:r>
            <a:r>
              <a:rPr lang="zh-CN" altLang="en-US" sz="2000" dirty="0"/>
              <a:t>，矩阵的相加、相乘。</a:t>
            </a:r>
            <a:endParaRPr lang="zh-CN" altLang="en-US" sz="2000" dirty="0"/>
          </a:p>
        </p:txBody>
      </p:sp>
      <p:sp>
        <p:nvSpPr>
          <p:cNvPr id="16" name="标题 1"/>
          <p:cNvSpPr txBox="1"/>
          <p:nvPr/>
        </p:nvSpPr>
        <p:spPr bwMode="auto">
          <a:xfrm>
            <a:off x="457200" y="119505"/>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457200" indent="-457200">
              <a:buClr>
                <a:srgbClr val="FF0000"/>
              </a:buClr>
              <a:buFont typeface="Wingdings" panose="05000000000000000000" pitchFamily="2" charset="2"/>
              <a:buChar char="Ø"/>
            </a:pPr>
            <a:r>
              <a:rPr lang="en-US" altLang="zh-CN" sz="2800" dirty="0" smtClean="0">
                <a:latin typeface="Times New Roman" panose="02020603050405020304" pitchFamily="18" charset="0"/>
                <a:sym typeface="+mn-ea"/>
              </a:rPr>
              <a:t>6</a:t>
            </a:r>
            <a:r>
              <a:rPr lang="zh-CN" altLang="en-US" sz="2800" dirty="0" smtClean="0">
                <a:latin typeface="Times New Roman" panose="02020603050405020304" pitchFamily="18" charset="0"/>
                <a:sym typeface="+mn-ea"/>
              </a:rPr>
              <a:t>.</a:t>
            </a:r>
            <a:r>
              <a:rPr lang="en-US" altLang="zh-CN" sz="2800" dirty="0" smtClean="0">
                <a:latin typeface="Times New Roman" panose="02020603050405020304" pitchFamily="18" charset="0"/>
                <a:sym typeface="+mn-ea"/>
              </a:rPr>
              <a:t>2</a:t>
            </a:r>
            <a:r>
              <a:rPr lang="zh-CN" altLang="en-US" sz="2800" dirty="0" smtClean="0">
                <a:latin typeface="Times New Roman" panose="02020603050405020304" pitchFamily="18" charset="0"/>
                <a:sym typeface="+mn-ea"/>
              </a:rPr>
              <a:t>.3  矩阵的压缩存储</a:t>
            </a:r>
            <a:endParaRPr lang="zh-CN" altLang="en-US" sz="2800" dirty="0">
              <a:latin typeface="Times New Roman" panose="02020603050405020304" pitchFamily="18" charset="0"/>
            </a:endParaRPr>
          </a:p>
        </p:txBody>
      </p:sp>
      <p:pic>
        <p:nvPicPr>
          <p:cNvPr id="20" name="图片 1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60035" y="5854152"/>
            <a:ext cx="327521" cy="436694"/>
          </a:xfrm>
          <a:prstGeom prst="rect">
            <a:avLst/>
          </a:prstGeom>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1">
                                            <p:txEl>
                                              <p:pRg st="1" end="1"/>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21">
                                            <p:txEl>
                                              <p:pRg st="2" end="2"/>
                                            </p:txEl>
                                          </p:spTgt>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21">
                                            <p:txEl>
                                              <p:pRg st="3" end="3"/>
                                            </p:txEl>
                                          </p:spTgt>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1">
                                            <p:txEl>
                                              <p:pRg st="5" end="5"/>
                                            </p:txEl>
                                          </p:spTgt>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21">
                                            <p:txEl>
                                              <p:pRg st="6" end="6"/>
                                            </p:txEl>
                                          </p:spTgt>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21">
                                            <p:txEl>
                                              <p:pRg st="7" end="7"/>
                                            </p:txEl>
                                          </p:spTgt>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21">
                                            <p:txEl>
                                              <p:pRg st="8" end="8"/>
                                            </p:txEl>
                                          </p:spTgt>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21">
                                            <p:txEl>
                                              <p:pRg st="9" end="9"/>
                                            </p:txEl>
                                          </p:spTgt>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21">
                                            <p:txEl>
                                              <p:pRg st="10" end="10"/>
                                            </p:txEl>
                                          </p:spTgt>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4" grpId="0" animBg="1"/>
      <p:bldP spid="5" grpId="0" animBg="1"/>
      <p:bldP spid="8" grpId="0"/>
      <p:bldP spid="9" grpId="0" animBg="1"/>
      <p:bldP spid="10" grpId="0" animBg="1"/>
      <p:bldP spid="15" grpId="0" animBg="1"/>
      <p:bldP spid="18" grpId="0" animBg="1"/>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endParaRPr lang="zh-CN" altLang="en-US" dirty="0"/>
          </a:p>
        </p:txBody>
      </p:sp>
      <p:sp>
        <p:nvSpPr>
          <p:cNvPr id="3" name="内容占位符 2"/>
          <p:cNvSpPr>
            <a:spLocks noGrp="1"/>
          </p:cNvSpPr>
          <p:nvPr>
            <p:ph idx="1"/>
          </p:nvPr>
        </p:nvSpPr>
        <p:spPr>
          <a:xfrm>
            <a:off x="457200" y="1196752"/>
            <a:ext cx="8229600" cy="4678451"/>
          </a:xfrm>
        </p:spPr>
        <p:txBody>
          <a:bodyPr/>
          <a:lstStyle/>
          <a:p>
            <a:pPr>
              <a:buClr>
                <a:srgbClr val="FF0000"/>
              </a:buClr>
              <a:buFont typeface="Wingdings" panose="05000000000000000000" pitchFamily="2" charset="2"/>
              <a:buChar char="n"/>
            </a:pPr>
            <a:r>
              <a:rPr lang="zh-CN" altLang="zh-CN" sz="2400" b="1" dirty="0"/>
              <a:t>设二维数组</a:t>
            </a:r>
            <a:r>
              <a:rPr lang="en-US" altLang="zh-CN" sz="2400" b="1" dirty="0"/>
              <a:t>A[</a:t>
            </a:r>
            <a:r>
              <a:rPr lang="en-US" altLang="zh-CN" sz="2400" b="1" i="1" dirty="0"/>
              <a:t>m</a:t>
            </a:r>
            <a:r>
              <a:rPr lang="en-US" altLang="zh-CN" sz="2400" b="1" dirty="0"/>
              <a:t>][</a:t>
            </a:r>
            <a:r>
              <a:rPr lang="en-US" altLang="zh-CN" sz="2400" b="1" i="1" dirty="0"/>
              <a:t>n</a:t>
            </a:r>
            <a:r>
              <a:rPr lang="en-US" altLang="zh-CN" sz="2400" b="1" dirty="0"/>
              <a:t>]</a:t>
            </a:r>
            <a:r>
              <a:rPr lang="zh-CN" altLang="zh-CN" sz="2400" b="1" dirty="0"/>
              <a:t>按行优先顺序存储在起始地址为</a:t>
            </a:r>
            <a:r>
              <a:rPr lang="en-US" altLang="zh-CN" sz="2400" b="1" i="1" dirty="0"/>
              <a:t>p</a:t>
            </a:r>
            <a:r>
              <a:rPr lang="zh-CN" altLang="zh-CN" sz="2400" b="1" dirty="0"/>
              <a:t>的内存中，每个元素占</a:t>
            </a:r>
            <a:r>
              <a:rPr lang="en-US" altLang="zh-CN" sz="2400" b="1" i="1" dirty="0"/>
              <a:t>k</a:t>
            </a:r>
            <a:r>
              <a:rPr lang="zh-CN" altLang="zh-CN" sz="2400" b="1" dirty="0"/>
              <a:t>个字节，则元素</a:t>
            </a:r>
            <a:r>
              <a:rPr lang="en-US" altLang="zh-CN" sz="2400" b="1" i="1" dirty="0"/>
              <a:t>a</a:t>
            </a:r>
            <a:r>
              <a:rPr lang="en-US" altLang="zh-CN" sz="2400" b="1" i="1" baseline="-25000" dirty="0"/>
              <a:t>ij </a:t>
            </a:r>
            <a:r>
              <a:rPr lang="en-US" altLang="zh-CN" sz="2400" b="1" dirty="0"/>
              <a:t>(0</a:t>
            </a:r>
            <a:r>
              <a:rPr lang="en-US" altLang="zh-CN" sz="2400" b="1" i="1" dirty="0"/>
              <a:t>≤i&lt;m</a:t>
            </a:r>
            <a:r>
              <a:rPr lang="en-US" altLang="zh-CN" sz="2400" b="1" dirty="0"/>
              <a:t>,</a:t>
            </a:r>
            <a:r>
              <a:rPr lang="en-US" altLang="zh-CN" sz="2400" b="1" i="1" dirty="0"/>
              <a:t> </a:t>
            </a:r>
            <a:r>
              <a:rPr lang="en-US" altLang="zh-CN" sz="2400" b="1" dirty="0"/>
              <a:t>0</a:t>
            </a:r>
            <a:r>
              <a:rPr lang="en-US" altLang="zh-CN" sz="2400" b="1" i="1" dirty="0" smtClean="0"/>
              <a:t>≤ j&lt;n</a:t>
            </a:r>
            <a:r>
              <a:rPr lang="en-US" altLang="zh-CN" sz="2400" b="1" dirty="0"/>
              <a:t>)</a:t>
            </a:r>
            <a:r>
              <a:rPr lang="zh-CN" altLang="zh-CN" sz="2400" b="1" dirty="0"/>
              <a:t>的地址为</a:t>
            </a:r>
            <a:r>
              <a:rPr lang="en-US" altLang="zh-CN" sz="2400" b="1" dirty="0"/>
              <a:t>________________________</a:t>
            </a:r>
            <a:r>
              <a:rPr lang="zh-CN" altLang="zh-CN" sz="2400" b="1" dirty="0" smtClean="0"/>
              <a:t>。</a:t>
            </a:r>
            <a:endParaRPr lang="en-US" altLang="zh-CN" sz="2400" b="1" dirty="0" smtClean="0"/>
          </a:p>
          <a:p>
            <a:pPr>
              <a:buClr>
                <a:srgbClr val="FF0000"/>
              </a:buClr>
              <a:buFont typeface="Wingdings" panose="05000000000000000000" pitchFamily="2" charset="2"/>
              <a:buChar char="n"/>
            </a:pPr>
            <a:endParaRPr lang="en-US" altLang="zh-CN" sz="2400" b="1" dirty="0" smtClean="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矩形 5"/>
          <p:cNvSpPr/>
          <p:nvPr/>
        </p:nvSpPr>
        <p:spPr>
          <a:xfrm>
            <a:off x="2051720" y="1916832"/>
            <a:ext cx="1507144" cy="400110"/>
          </a:xfrm>
          <a:prstGeom prst="rect">
            <a:avLst/>
          </a:prstGeom>
        </p:spPr>
        <p:txBody>
          <a:bodyPr wrap="none">
            <a:spAutoFit/>
          </a:bodyPr>
          <a:lstStyle/>
          <a:p>
            <a:r>
              <a:rPr lang="en-US" altLang="zh-CN" sz="2000" b="1" i="1" kern="100" dirty="0">
                <a:solidFill>
                  <a:srgbClr val="0000FF"/>
                </a:solidFill>
                <a:latin typeface="Times New Roman" panose="02020603050405020304" pitchFamily="18" charset="0"/>
                <a:ea typeface="宋体" panose="02010600030101010101" pitchFamily="2" charset="-122"/>
              </a:rPr>
              <a:t>p+</a:t>
            </a:r>
            <a:r>
              <a:rPr lang="en-US" altLang="zh-CN" sz="2000" b="1" kern="100" dirty="0">
                <a:solidFill>
                  <a:srgbClr val="0000FF"/>
                </a:solidFill>
                <a:latin typeface="Times New Roman" panose="02020603050405020304" pitchFamily="18" charset="0"/>
                <a:ea typeface="宋体" panose="02010600030101010101" pitchFamily="2" charset="-122"/>
              </a:rPr>
              <a:t>[</a:t>
            </a:r>
            <a:r>
              <a:rPr lang="en-US" altLang="zh-CN" sz="2000" b="1" i="1" kern="100" dirty="0" err="1">
                <a:solidFill>
                  <a:srgbClr val="0000FF"/>
                </a:solidFill>
                <a:latin typeface="Times New Roman" panose="02020603050405020304" pitchFamily="18" charset="0"/>
                <a:ea typeface="宋体" panose="02010600030101010101" pitchFamily="2" charset="-122"/>
              </a:rPr>
              <a:t>i</a:t>
            </a:r>
            <a:r>
              <a:rPr lang="en-US" altLang="zh-CN" sz="2000" b="1" i="1" kern="100" dirty="0">
                <a:solidFill>
                  <a:srgbClr val="0000FF"/>
                </a:solidFill>
                <a:latin typeface="Times New Roman" panose="02020603050405020304" pitchFamily="18" charset="0"/>
                <a:ea typeface="宋体" panose="02010600030101010101" pitchFamily="2" charset="-122"/>
              </a:rPr>
              <a:t>*</a:t>
            </a:r>
            <a:r>
              <a:rPr lang="en-US" altLang="zh-CN" sz="2000" b="1" i="1" kern="100" dirty="0" err="1">
                <a:solidFill>
                  <a:srgbClr val="0000FF"/>
                </a:solidFill>
                <a:latin typeface="Times New Roman" panose="02020603050405020304" pitchFamily="18" charset="0"/>
                <a:ea typeface="宋体" panose="02010600030101010101" pitchFamily="2" charset="-122"/>
              </a:rPr>
              <a:t>n+j</a:t>
            </a:r>
            <a:r>
              <a:rPr lang="en-US" altLang="zh-CN" sz="2000" b="1" kern="100" dirty="0">
                <a:solidFill>
                  <a:srgbClr val="0000FF"/>
                </a:solidFill>
                <a:latin typeface="Times New Roman" panose="02020603050405020304" pitchFamily="18" charset="0"/>
                <a:ea typeface="宋体" panose="02010600030101010101" pitchFamily="2" charset="-122"/>
              </a:rPr>
              <a:t>]</a:t>
            </a:r>
            <a:r>
              <a:rPr lang="en-US" altLang="zh-CN" sz="2000" b="1" i="1" kern="100" dirty="0">
                <a:solidFill>
                  <a:srgbClr val="0000FF"/>
                </a:solidFill>
                <a:latin typeface="Times New Roman" panose="02020603050405020304" pitchFamily="18" charset="0"/>
                <a:ea typeface="宋体" panose="02010600030101010101" pitchFamily="2" charset="-122"/>
              </a:rPr>
              <a:t>*k</a:t>
            </a:r>
            <a:r>
              <a:rPr lang="en-US" altLang="zh-CN" sz="2000" b="1" kern="100" dirty="0">
                <a:solidFill>
                  <a:srgbClr val="0000FF"/>
                </a:solidFill>
                <a:latin typeface="Times New Roman" panose="02020603050405020304" pitchFamily="18" charset="0"/>
                <a:ea typeface="宋体" panose="02010600030101010101" pitchFamily="2" charset="-122"/>
              </a:rPr>
              <a:t> </a:t>
            </a:r>
            <a:endParaRPr lang="zh-CN" altLang="en-US" sz="2000" b="1" dirty="0">
              <a:solidFill>
                <a:srgbClr val="0000FF"/>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3900" y="1398979"/>
            <a:ext cx="8420100" cy="5195570"/>
          </a:xfrm>
        </p:spPr>
        <p:txBody>
          <a:bodyPr/>
          <a:lstStyle/>
          <a:p>
            <a:pPr>
              <a:spcBef>
                <a:spcPts val="1200"/>
              </a:spcBef>
              <a:buClr>
                <a:srgbClr val="FF0000"/>
              </a:buClr>
              <a:buFont typeface="Wingdings" panose="05000000000000000000" pitchFamily="2" charset="2"/>
              <a:buChar char="n"/>
            </a:pPr>
            <a:r>
              <a:rPr lang="zh-CN" altLang="en-US" sz="2400" b="1" dirty="0" smtClean="0"/>
              <a:t>广义</a:t>
            </a:r>
            <a:r>
              <a:rPr lang="zh-CN" altLang="en-US" sz="2400" b="1" dirty="0"/>
              <a:t>表作为线性表的推广，在软件设计中有重要的作用。</a:t>
            </a:r>
            <a:endParaRPr lang="zh-CN" altLang="en-US" sz="2400" b="1" dirty="0"/>
          </a:p>
          <a:p>
            <a:pPr>
              <a:spcBef>
                <a:spcPts val="1200"/>
              </a:spcBef>
              <a:buClr>
                <a:srgbClr val="FF0000"/>
              </a:buClr>
              <a:buFont typeface="Wingdings" panose="05000000000000000000" pitchFamily="2" charset="2"/>
              <a:buChar char="n"/>
            </a:pPr>
            <a:r>
              <a:rPr lang="zh-CN" altLang="en-US" sz="2400" b="1" dirty="0">
                <a:solidFill>
                  <a:srgbClr val="FF0000"/>
                </a:solidFill>
              </a:rPr>
              <a:t>定义</a:t>
            </a:r>
            <a:r>
              <a:rPr lang="zh-CN" altLang="en-US" sz="2400" b="1" dirty="0"/>
              <a:t>：</a:t>
            </a:r>
            <a:r>
              <a:rPr lang="zh-CN" altLang="en-US" sz="2400" b="1" dirty="0">
                <a:solidFill>
                  <a:srgbClr val="FF0000"/>
                </a:solidFill>
              </a:rPr>
              <a:t>广义表</a:t>
            </a:r>
            <a:r>
              <a:rPr lang="zh-CN" altLang="en-US" sz="2400" b="1" i="1" dirty="0"/>
              <a:t>L</a:t>
            </a:r>
            <a:r>
              <a:rPr lang="zh-CN" altLang="en-US" sz="2400" b="1" dirty="0"/>
              <a:t>是</a:t>
            </a:r>
            <a:r>
              <a:rPr lang="zh-CN" altLang="en-US" sz="2400" b="1" i="1" dirty="0"/>
              <a:t>n</a:t>
            </a:r>
            <a:r>
              <a:rPr lang="zh-CN" altLang="en-US" sz="2400" b="1" dirty="0"/>
              <a:t>个元素</a:t>
            </a:r>
            <a:r>
              <a:rPr lang="zh-CN" altLang="en-US" sz="2400" b="1" i="1" dirty="0"/>
              <a:t>a</a:t>
            </a:r>
            <a:r>
              <a:rPr lang="zh-CN" altLang="en-US" sz="2400" b="1" baseline="-25000" dirty="0">
                <a:latin typeface="Times New Roman" panose="02020603050405020304" pitchFamily="18" charset="0"/>
              </a:rPr>
              <a:t>1</a:t>
            </a:r>
            <a:r>
              <a:rPr lang="zh-CN" altLang="en-US" sz="2400" b="1" dirty="0"/>
              <a:t>，</a:t>
            </a:r>
            <a:r>
              <a:rPr lang="zh-CN" altLang="en-US" sz="2400" b="1" i="1" dirty="0"/>
              <a:t>a</a:t>
            </a:r>
            <a:r>
              <a:rPr lang="zh-CN" altLang="en-US" sz="2400" b="1" baseline="-25000" dirty="0">
                <a:latin typeface="Times New Roman" panose="02020603050405020304" pitchFamily="18" charset="0"/>
              </a:rPr>
              <a:t>2</a:t>
            </a:r>
            <a:r>
              <a:rPr lang="zh-CN" altLang="en-US" sz="2400" b="1" dirty="0"/>
              <a:t>，…，</a:t>
            </a:r>
            <a:r>
              <a:rPr lang="zh-CN" altLang="en-US" sz="2400" b="1" i="1" dirty="0"/>
              <a:t>a</a:t>
            </a:r>
            <a:r>
              <a:rPr lang="zh-CN" altLang="en-US" sz="2400" b="1" i="1" baseline="-25000" dirty="0">
                <a:latin typeface="Times New Roman" panose="02020603050405020304" pitchFamily="18" charset="0"/>
              </a:rPr>
              <a:t>n</a:t>
            </a:r>
            <a:r>
              <a:rPr lang="zh-CN" altLang="en-US" sz="2400" b="1" dirty="0"/>
              <a:t>组成的有限序列</a:t>
            </a:r>
            <a:r>
              <a:rPr lang="zh-CN" altLang="en-US" sz="2400" b="1" dirty="0" smtClean="0"/>
              <a:t>，</a:t>
            </a:r>
            <a:endParaRPr lang="en-US" altLang="zh-CN" sz="2400" b="1" dirty="0" smtClean="0"/>
          </a:p>
          <a:p>
            <a:pPr lvl="1">
              <a:spcBef>
                <a:spcPts val="1200"/>
              </a:spcBef>
              <a:buClr>
                <a:srgbClr val="FF0000"/>
              </a:buClr>
              <a:buFont typeface="Wingdings" panose="05000000000000000000" pitchFamily="2" charset="2"/>
              <a:buChar char="u"/>
            </a:pPr>
            <a:r>
              <a:rPr lang="zh-CN" altLang="en-US" sz="2400" b="1" dirty="0" smtClean="0"/>
              <a:t>记</a:t>
            </a:r>
            <a:r>
              <a:rPr lang="zh-CN" altLang="en-US" sz="2400" b="1" dirty="0"/>
              <a:t>作</a:t>
            </a:r>
            <a:r>
              <a:rPr lang="zh-CN" altLang="en-US" sz="2400" b="1" i="1" dirty="0"/>
              <a:t>L</a:t>
            </a:r>
            <a:r>
              <a:rPr lang="zh-CN" altLang="en-US" sz="2400" b="1" dirty="0" smtClean="0"/>
              <a:t>=(</a:t>
            </a:r>
            <a:r>
              <a:rPr lang="zh-CN" altLang="en-US" sz="2400" b="1" i="1" dirty="0" smtClean="0"/>
              <a:t>a</a:t>
            </a:r>
            <a:r>
              <a:rPr lang="zh-CN" altLang="en-US" sz="2400" b="1" baseline="-25000" dirty="0" smtClean="0">
                <a:latin typeface="Times New Roman" panose="02020603050405020304" pitchFamily="18" charset="0"/>
              </a:rPr>
              <a:t>1</a:t>
            </a:r>
            <a:r>
              <a:rPr lang="en-US" altLang="zh-CN" sz="2400" b="1" dirty="0" smtClean="0"/>
              <a:t>, </a:t>
            </a:r>
            <a:r>
              <a:rPr lang="zh-CN" altLang="en-US" sz="2400" b="1" i="1" dirty="0" smtClean="0"/>
              <a:t> a</a:t>
            </a:r>
            <a:r>
              <a:rPr lang="zh-CN" altLang="en-US" sz="2400" b="1" baseline="-25000" dirty="0" smtClean="0">
                <a:latin typeface="Times New Roman" panose="02020603050405020304" pitchFamily="18" charset="0"/>
              </a:rPr>
              <a:t>2</a:t>
            </a:r>
            <a:r>
              <a:rPr lang="en-US" altLang="zh-CN" sz="2400" b="1" dirty="0" smtClean="0"/>
              <a:t>, </a:t>
            </a:r>
            <a:r>
              <a:rPr lang="zh-CN" altLang="en-US" sz="2400" b="1" dirty="0" smtClean="0"/>
              <a:t>…</a:t>
            </a:r>
            <a:r>
              <a:rPr lang="en-US" altLang="zh-CN" sz="2400" b="1" dirty="0" smtClean="0"/>
              <a:t>, </a:t>
            </a:r>
            <a:r>
              <a:rPr lang="zh-CN" altLang="en-US" sz="2400" b="1" i="1" dirty="0" smtClean="0"/>
              <a:t>a</a:t>
            </a:r>
            <a:r>
              <a:rPr lang="zh-CN" altLang="en-US" sz="2400" b="1" i="1" baseline="-25000" dirty="0" smtClean="0">
                <a:latin typeface="Times New Roman" panose="02020603050405020304" pitchFamily="18" charset="0"/>
              </a:rPr>
              <a:t>n</a:t>
            </a:r>
            <a:r>
              <a:rPr lang="zh-CN" altLang="en-US" sz="2400" b="1" dirty="0" smtClean="0"/>
              <a:t>)；</a:t>
            </a:r>
            <a:endParaRPr lang="en-US" altLang="zh-CN" sz="2400" b="1" dirty="0" smtClean="0"/>
          </a:p>
          <a:p>
            <a:pPr lvl="1">
              <a:spcBef>
                <a:spcPts val="1200"/>
              </a:spcBef>
              <a:buClr>
                <a:srgbClr val="FF0000"/>
              </a:buClr>
              <a:buFont typeface="Wingdings" panose="05000000000000000000" pitchFamily="2" charset="2"/>
              <a:buChar char="u"/>
            </a:pPr>
            <a:r>
              <a:rPr lang="zh-CN" altLang="en-US" sz="2400" b="1" dirty="0" smtClean="0"/>
              <a:t>其中每个元素</a:t>
            </a:r>
            <a:r>
              <a:rPr lang="zh-CN" altLang="en-US" sz="2400" b="1" i="1" dirty="0" smtClean="0"/>
              <a:t>a</a:t>
            </a:r>
            <a:r>
              <a:rPr lang="zh-CN" altLang="en-US" sz="2400" b="1" i="1" baseline="-25000" dirty="0" smtClean="0"/>
              <a:t>i</a:t>
            </a:r>
            <a:r>
              <a:rPr lang="zh-CN" altLang="en-US" sz="2400" b="1" dirty="0" smtClean="0"/>
              <a:t>可以是不可分割的</a:t>
            </a:r>
            <a:r>
              <a:rPr lang="zh-CN" altLang="en-US" sz="2400" b="1" dirty="0" smtClean="0">
                <a:solidFill>
                  <a:srgbClr val="FF0000"/>
                </a:solidFill>
              </a:rPr>
              <a:t>原子</a:t>
            </a:r>
            <a:r>
              <a:rPr lang="zh-CN" altLang="en-US" sz="2400" b="1" dirty="0" smtClean="0"/>
              <a:t>，也可以是</a:t>
            </a:r>
            <a:r>
              <a:rPr lang="zh-CN" altLang="en-US" sz="2400" b="1" dirty="0" smtClean="0">
                <a:solidFill>
                  <a:srgbClr val="FF0000"/>
                </a:solidFill>
              </a:rPr>
              <a:t>广义表</a:t>
            </a:r>
            <a:r>
              <a:rPr lang="zh-CN" altLang="en-US" sz="2400" b="1" dirty="0" smtClean="0"/>
              <a:t>（称为</a:t>
            </a:r>
            <a:r>
              <a:rPr lang="zh-CN" altLang="en-US" sz="2400" b="1" dirty="0" smtClean="0">
                <a:solidFill>
                  <a:srgbClr val="FF0000"/>
                </a:solidFill>
              </a:rPr>
              <a:t>子表</a:t>
            </a:r>
            <a:r>
              <a:rPr lang="zh-CN" altLang="en-US" sz="2400" b="1" dirty="0" smtClean="0"/>
              <a:t>）；</a:t>
            </a:r>
            <a:endParaRPr lang="en-US" altLang="zh-CN" sz="2400" b="1" dirty="0"/>
          </a:p>
          <a:p>
            <a:pPr lvl="1">
              <a:spcBef>
                <a:spcPts val="1200"/>
              </a:spcBef>
              <a:buClr>
                <a:srgbClr val="FF0000"/>
              </a:buClr>
              <a:buFont typeface="Wingdings" panose="05000000000000000000" pitchFamily="2" charset="2"/>
              <a:buChar char="u"/>
            </a:pPr>
            <a:r>
              <a:rPr lang="zh-CN" altLang="en-US" sz="2400" b="1" dirty="0" smtClean="0"/>
              <a:t>另外，称元素个数</a:t>
            </a:r>
            <a:r>
              <a:rPr lang="zh-CN" altLang="en-US" sz="2400" b="1" i="1" dirty="0" smtClean="0"/>
              <a:t>n    </a:t>
            </a:r>
            <a:r>
              <a:rPr lang="zh-CN" altLang="en-US" sz="2400" b="1" dirty="0" smtClean="0"/>
              <a:t>0为</a:t>
            </a:r>
            <a:r>
              <a:rPr lang="zh-CN" altLang="en-US" sz="2400" b="1" dirty="0" smtClean="0">
                <a:solidFill>
                  <a:srgbClr val="FF0000"/>
                </a:solidFill>
              </a:rPr>
              <a:t>表长度</a:t>
            </a:r>
            <a:r>
              <a:rPr lang="zh-CN" altLang="en-US" sz="2400" b="1" dirty="0" smtClean="0"/>
              <a:t>；</a:t>
            </a:r>
            <a:endParaRPr lang="en-US" altLang="zh-CN" sz="2400" b="1" dirty="0" smtClean="0"/>
          </a:p>
          <a:p>
            <a:pPr lvl="1">
              <a:spcBef>
                <a:spcPts val="1200"/>
              </a:spcBef>
              <a:buClr>
                <a:srgbClr val="FF0000"/>
              </a:buClr>
              <a:buFont typeface="Wingdings" panose="05000000000000000000" pitchFamily="2" charset="2"/>
              <a:buChar char="u"/>
            </a:pPr>
            <a:r>
              <a:rPr lang="zh-CN" altLang="en-US" sz="2400" b="1" dirty="0" smtClean="0"/>
              <a:t>当</a:t>
            </a:r>
            <a:r>
              <a:rPr lang="zh-CN" altLang="en-US" sz="2400" b="1" i="1" dirty="0" smtClean="0"/>
              <a:t>n </a:t>
            </a:r>
            <a:r>
              <a:rPr lang="zh-CN" altLang="en-US" sz="2400" b="1" dirty="0" smtClean="0"/>
              <a:t>= 0时为</a:t>
            </a:r>
            <a:r>
              <a:rPr lang="zh-CN" altLang="en-US" sz="2400" b="1" dirty="0" smtClean="0">
                <a:solidFill>
                  <a:srgbClr val="FF0000"/>
                </a:solidFill>
              </a:rPr>
              <a:t>空表</a:t>
            </a:r>
            <a:r>
              <a:rPr lang="zh-CN" altLang="en-US" sz="2400" b="1" dirty="0" smtClean="0"/>
              <a:t>，记作：</a:t>
            </a:r>
            <a:r>
              <a:rPr lang="zh-CN" altLang="en-US" sz="2400" b="1" i="1" dirty="0" smtClean="0"/>
              <a:t>L</a:t>
            </a:r>
            <a:r>
              <a:rPr lang="zh-CN" altLang="en-US" sz="2400" b="1" dirty="0" smtClean="0"/>
              <a:t>=</a:t>
            </a:r>
            <a:r>
              <a:rPr lang="en-US" altLang="zh-CN" sz="2400" b="1" dirty="0" smtClean="0"/>
              <a:t>( )</a:t>
            </a:r>
            <a:r>
              <a:rPr lang="zh-CN" altLang="en-US" sz="2400" b="1" dirty="0" smtClean="0"/>
              <a:t>。</a:t>
            </a:r>
            <a:endParaRPr lang="zh-CN" altLang="en-US" sz="2400" b="1" dirty="0" smtClean="0"/>
          </a:p>
          <a:p>
            <a:pPr>
              <a:spcBef>
                <a:spcPts val="1200"/>
              </a:spcBef>
              <a:buClr>
                <a:srgbClr val="FF0000"/>
              </a:buClr>
              <a:buFont typeface="Wingdings" panose="05000000000000000000" pitchFamily="2" charset="2"/>
              <a:buChar char="n"/>
            </a:pPr>
            <a:r>
              <a:rPr lang="zh-CN" altLang="en-US" sz="2400" b="1" dirty="0" smtClean="0">
                <a:solidFill>
                  <a:srgbClr val="FF0000"/>
                </a:solidFill>
              </a:rPr>
              <a:t>约定</a:t>
            </a:r>
            <a:r>
              <a:rPr lang="zh-CN" altLang="en-US" sz="2400" b="1" dirty="0"/>
              <a:t>：在书写时，一般用</a:t>
            </a:r>
            <a:r>
              <a:rPr lang="zh-CN" altLang="en-US" sz="2400" b="1" dirty="0">
                <a:solidFill>
                  <a:srgbClr val="FF0000"/>
                </a:solidFill>
              </a:rPr>
              <a:t>小写字母</a:t>
            </a:r>
            <a:r>
              <a:rPr lang="zh-CN" altLang="en-US" sz="2400" b="1" dirty="0"/>
              <a:t>表示原子，用</a:t>
            </a:r>
            <a:r>
              <a:rPr lang="zh-CN" altLang="en-US" sz="2400" b="1" dirty="0">
                <a:solidFill>
                  <a:srgbClr val="FF0000"/>
                </a:solidFill>
              </a:rPr>
              <a:t>大写字母</a:t>
            </a:r>
            <a:r>
              <a:rPr lang="zh-CN" altLang="en-US" sz="2400" b="1" dirty="0"/>
              <a:t>表示广义表</a:t>
            </a:r>
            <a:r>
              <a:rPr lang="zh-CN" altLang="en-US" sz="2400" b="1" dirty="0" smtClean="0"/>
              <a:t>。</a:t>
            </a:r>
            <a:endParaRPr lang="zh-CN" altLang="en-US" sz="2400" b="1" dirty="0"/>
          </a:p>
        </p:txBody>
      </p:sp>
      <p:sp>
        <p:nvSpPr>
          <p:cNvPr id="7" name="灯片编号占位符 6"/>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grpSp>
        <p:nvGrpSpPr>
          <p:cNvPr id="8" name="组合 7"/>
          <p:cNvGrpSpPr/>
          <p:nvPr/>
        </p:nvGrpSpPr>
        <p:grpSpPr>
          <a:xfrm>
            <a:off x="539552" y="116632"/>
            <a:ext cx="3757930" cy="664430"/>
            <a:chOff x="999690" y="5025490"/>
            <a:chExt cx="3757930" cy="664430"/>
          </a:xfrm>
        </p:grpSpPr>
        <p:sp>
          <p:nvSpPr>
            <p:cNvPr id="9"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250380" y="5025490"/>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6.3 </a:t>
              </a:r>
              <a:r>
                <a:rPr lang="zh-CN" altLang="en-US" sz="3600" b="1" dirty="0" smtClean="0">
                  <a:latin typeface="Times New Roman" panose="02020603050405020304" pitchFamily="18" charset="0"/>
                  <a:ea typeface="黑体" panose="02010609060101010101" pitchFamily="49" charset="-122"/>
                </a:rPr>
                <a:t>广义表</a:t>
              </a:r>
              <a:endParaRPr lang="zh-CN" altLang="en-US" sz="3600" b="1" dirty="0">
                <a:latin typeface="Times New Roman" panose="02020603050405020304" pitchFamily="18" charset="0"/>
                <a:ea typeface="黑体" panose="02010609060101010101" pitchFamily="49" charset="-122"/>
              </a:endParaRPr>
            </a:p>
          </p:txBody>
        </p:sp>
        <p:pic>
          <p:nvPicPr>
            <p:cNvPr id="11" name="图片 10"/>
            <p:cNvPicPr>
              <a:picLocks noChangeAspect="1"/>
            </p:cNvPicPr>
            <p:nvPr/>
          </p:nvPicPr>
          <p:blipFill>
            <a:blip r:embed="rId1" cstate="print"/>
            <a:stretch>
              <a:fillRect/>
            </a:stretch>
          </p:blipFill>
          <p:spPr>
            <a:xfrm>
              <a:off x="1199659" y="5205012"/>
              <a:ext cx="420013" cy="322083"/>
            </a:xfrm>
            <a:prstGeom prst="rect">
              <a:avLst/>
            </a:prstGeom>
          </p:spPr>
        </p:pic>
      </p:grpSp>
      <p:sp>
        <p:nvSpPr>
          <p:cNvPr id="6" name="矩形 5"/>
          <p:cNvSpPr/>
          <p:nvPr/>
        </p:nvSpPr>
        <p:spPr>
          <a:xfrm>
            <a:off x="407334" y="943885"/>
            <a:ext cx="7271542" cy="523220"/>
          </a:xfrm>
          <a:prstGeom prst="rect">
            <a:avLst/>
          </a:prstGeom>
        </p:spPr>
        <p:txBody>
          <a:bodyPr wrap="none">
            <a:spAutoFit/>
          </a:bodyPr>
          <a:lstStyle/>
          <a:p>
            <a:pPr>
              <a:buClr>
                <a:srgbClr val="FF0000"/>
              </a:buClr>
              <a:buFont typeface="Wingdings" panose="05000000000000000000" pitchFamily="2" charset="2"/>
              <a:buChar char="Ø"/>
            </a:pPr>
            <a:r>
              <a:rPr lang="en-US" altLang="zh-CN" sz="2800" b="1" dirty="0"/>
              <a:t>6</a:t>
            </a:r>
            <a:r>
              <a:rPr lang="zh-CN" altLang="en-US" sz="2800" b="1" dirty="0" smtClean="0"/>
              <a:t>.</a:t>
            </a:r>
            <a:r>
              <a:rPr lang="en-US" altLang="zh-CN" sz="2800" b="1" dirty="0" smtClean="0"/>
              <a:t>3</a:t>
            </a:r>
            <a:r>
              <a:rPr lang="zh-CN" altLang="en-US" sz="2800" b="1" dirty="0" smtClean="0"/>
              <a:t>.1 广义表</a:t>
            </a:r>
            <a:r>
              <a:rPr lang="en-US" altLang="zh-CN" sz="2800" b="1" dirty="0" smtClean="0"/>
              <a:t>(</a:t>
            </a:r>
            <a:r>
              <a:rPr lang="en-US" altLang="zh-CN" sz="2800" b="1" dirty="0" smtClean="0">
                <a:solidFill>
                  <a:srgbClr val="0000FF"/>
                </a:solidFill>
              </a:rPr>
              <a:t>Generalized List</a:t>
            </a:r>
            <a:r>
              <a:rPr lang="en-US" altLang="zh-CN" sz="2800" b="1" dirty="0" smtClean="0"/>
              <a:t>)</a:t>
            </a:r>
            <a:r>
              <a:rPr lang="zh-CN" altLang="en-US" sz="2800" b="1" dirty="0" smtClean="0"/>
              <a:t>的</a:t>
            </a:r>
            <a:r>
              <a:rPr lang="zh-CN" altLang="en-US" sz="2800" b="1" dirty="0"/>
              <a:t>基本概念</a:t>
            </a:r>
            <a:endParaRPr lang="zh-CN" altLang="en-US" sz="2800" b="1" dirty="0"/>
          </a:p>
        </p:txBody>
      </p:sp>
      <mc:AlternateContent xmlns:mc="http://schemas.openxmlformats.org/markup-compatibility/2006">
        <mc:Choice xmlns:a14="http://schemas.microsoft.com/office/drawing/2010/main" Requires="a14">
          <p:sp>
            <p:nvSpPr>
              <p:cNvPr id="12" name="矩形 11"/>
              <p:cNvSpPr/>
              <p:nvPr/>
            </p:nvSpPr>
            <p:spPr>
              <a:xfrm>
                <a:off x="4105577" y="3914239"/>
                <a:ext cx="421910"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oMath>
                  </m:oMathPara>
                </a14:m>
                <a:endParaRPr lang="zh-CN" altLang="en-US" dirty="0"/>
              </a:p>
            </p:txBody>
          </p:sp>
        </mc:Choice>
        <mc:Fallback>
          <p:sp>
            <p:nvSpPr>
              <p:cNvPr id="12" name="矩形 11"/>
              <p:cNvSpPr>
                <a:spLocks noRot="1" noChangeAspect="1" noMove="1" noResize="1" noEditPoints="1" noAdjustHandles="1" noChangeArrowheads="1" noChangeShapeType="1" noTextEdit="1"/>
              </p:cNvSpPr>
              <p:nvPr/>
            </p:nvSpPr>
            <p:spPr>
              <a:xfrm>
                <a:off x="4105577" y="3914239"/>
                <a:ext cx="421910" cy="369332"/>
              </a:xfrm>
              <a:prstGeom prst="rect">
                <a:avLst/>
              </a:prstGeom>
              <a:blipFill rotWithShape="1">
                <a:blip r:embed="rId2"/>
                <a:stretch>
                  <a:fillRect l="-72" t="-27" r="136" b="134"/>
                </a:stretch>
              </a:blipFill>
            </p:spPr>
            <p:txBody>
              <a:bodyPr/>
              <a:lstStyle/>
              <a:p>
                <a:r>
                  <a:rPr lang="zh-CN" altLang="en-US">
                    <a:noFill/>
                  </a:rPr>
                  <a:t> </a:t>
                </a:r>
              </a:p>
            </p:txBody>
          </p:sp>
        </mc:Fallback>
      </mc:AlternateContent>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linds(horizontal)">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linds(horizont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linds(horizontal)">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linds(horizontal)">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linds(horizontal)">
                                      <p:cBhvr>
                                        <p:cTn id="31" dur="500"/>
                                        <p:tgtEl>
                                          <p:spTgt spid="3">
                                            <p:txEl>
                                              <p:pRg st="4" end="4"/>
                                            </p:txEl>
                                          </p:spTgt>
                                        </p:tgtEl>
                                      </p:cBhvr>
                                    </p:animEffect>
                                  </p:childTnLst>
                                </p:cTn>
                              </p:par>
                              <p:par>
                                <p:cTn id="32" presetID="1"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blinds(horizontal)">
                                      <p:cBhvr>
                                        <p:cTn id="38" dur="5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blinds(horizontal)">
                                      <p:cBhvr>
                                        <p:cTn id="4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3900" y="1398979"/>
            <a:ext cx="8420100" cy="5195570"/>
          </a:xfrm>
        </p:spPr>
        <p:txBody>
          <a:bodyPr/>
          <a:lstStyle/>
          <a:p>
            <a:pPr>
              <a:buClr>
                <a:srgbClr val="FF0000"/>
              </a:buClr>
              <a:buFont typeface="Wingdings" panose="05000000000000000000" pitchFamily="2" charset="2"/>
              <a:buChar char="n"/>
            </a:pPr>
            <a:r>
              <a:rPr lang="zh-CN" altLang="en-US" sz="2400" b="1" dirty="0" smtClean="0"/>
              <a:t>由</a:t>
            </a:r>
            <a:r>
              <a:rPr lang="zh-CN" altLang="en-US" sz="2400" b="1" dirty="0"/>
              <a:t>定义可知，广义表是线性表的推广，然而，</a:t>
            </a:r>
            <a:r>
              <a:rPr lang="zh-CN" altLang="en-US" sz="2400" b="1" dirty="0">
                <a:solidFill>
                  <a:srgbClr val="FF0000"/>
                </a:solidFill>
              </a:rPr>
              <a:t>两者有明显的不同</a:t>
            </a:r>
            <a:r>
              <a:rPr lang="zh-CN" altLang="en-US" sz="2400" b="1" dirty="0"/>
              <a:t>：</a:t>
            </a:r>
            <a:endParaRPr lang="en-US" altLang="zh-CN" sz="2400" b="1" dirty="0"/>
          </a:p>
          <a:p>
            <a:pPr lvl="1">
              <a:buClr>
                <a:srgbClr val="FF0000"/>
              </a:buClr>
              <a:buFont typeface="Wingdings" panose="05000000000000000000" pitchFamily="2" charset="2"/>
              <a:buChar char="u"/>
            </a:pPr>
            <a:r>
              <a:rPr lang="zh-CN" altLang="en-US" sz="2400" b="1" dirty="0">
                <a:solidFill>
                  <a:srgbClr val="0000FF"/>
                </a:solidFill>
              </a:rPr>
              <a:t>线性表中每个元素的类型相同，</a:t>
            </a:r>
            <a:endParaRPr lang="en-US" altLang="zh-CN" sz="2400" b="1" dirty="0">
              <a:solidFill>
                <a:srgbClr val="0000FF"/>
              </a:solidFill>
            </a:endParaRPr>
          </a:p>
          <a:p>
            <a:pPr lvl="1">
              <a:buClr>
                <a:srgbClr val="FF0000"/>
              </a:buClr>
              <a:buFont typeface="Wingdings" panose="05000000000000000000" pitchFamily="2" charset="2"/>
              <a:buChar char="u"/>
            </a:pPr>
            <a:r>
              <a:rPr lang="zh-CN" altLang="en-US" sz="2400" b="1" dirty="0">
                <a:solidFill>
                  <a:srgbClr val="0000FF"/>
                </a:solidFill>
              </a:rPr>
              <a:t>而广义表中每个元素可以是原子又可以是广义表。</a:t>
            </a:r>
            <a:endParaRPr lang="zh-CN" altLang="en-US" sz="2400" b="1" dirty="0">
              <a:solidFill>
                <a:srgbClr val="0000FF"/>
              </a:solidFill>
            </a:endParaRPr>
          </a:p>
          <a:p>
            <a:pPr>
              <a:buClr>
                <a:srgbClr val="FF0000"/>
              </a:buClr>
              <a:buFont typeface="Wingdings" panose="05000000000000000000" pitchFamily="2" charset="2"/>
              <a:buChar char="n"/>
            </a:pPr>
            <a:r>
              <a:rPr lang="zh-CN" altLang="en-US" sz="2400" b="1" dirty="0"/>
              <a:t>下表是一些广义表的例子。</a:t>
            </a:r>
            <a:endParaRPr lang="zh-CN" altLang="en-US" sz="2400" b="1" dirty="0"/>
          </a:p>
          <a:p>
            <a:endParaRPr lang="zh-CN" altLang="en-US" sz="1800" dirty="0"/>
          </a:p>
        </p:txBody>
      </p:sp>
      <p:graphicFrame>
        <p:nvGraphicFramePr>
          <p:cNvPr id="5" name="表格 4"/>
          <p:cNvGraphicFramePr/>
          <p:nvPr/>
        </p:nvGraphicFramePr>
        <p:xfrm>
          <a:off x="790242" y="3861048"/>
          <a:ext cx="8001635" cy="2194567"/>
        </p:xfrm>
        <a:graphic>
          <a:graphicData uri="http://schemas.openxmlformats.org/drawingml/2006/table">
            <a:tbl>
              <a:tblPr firstRow="1" bandRow="1">
                <a:tableStyleId>{5940675A-B579-460E-94D1-54222C63F5DA}</a:tableStyleId>
              </a:tblPr>
              <a:tblGrid>
                <a:gridCol w="1873993"/>
                <a:gridCol w="6127642"/>
              </a:tblGrid>
              <a:tr h="274320">
                <a:tc>
                  <a:txBody>
                    <a:bodyPr/>
                    <a:lstStyle/>
                    <a:p>
                      <a:pPr marL="0" indent="0" algn="ctr">
                        <a:buNone/>
                      </a:pPr>
                      <a:r>
                        <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rPr>
                        <a:t>广义表</a:t>
                      </a:r>
                      <a:endPar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zh-CN" altLang="en-US" sz="1600" b="1" u="none" baseline="0" dirty="0">
                          <a:latin typeface="Times New Roman" panose="02020603050405020304" pitchFamily="18" charset="0"/>
                          <a:ea typeface="宋体" panose="02010600030101010101" pitchFamily="2" charset="-122"/>
                          <a:cs typeface="宋体" panose="02010600030101010101" pitchFamily="2" charset="-122"/>
                        </a:rPr>
                        <a:t>说明</a:t>
                      </a:r>
                      <a:endParaRPr lang="zh-CN" altLang="en-US" sz="1600" b="1"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99"/>
                    </a:solidFill>
                  </a:tcPr>
                </a:tc>
              </a:tr>
              <a:tr h="0">
                <a:tc>
                  <a:txBody>
                    <a:bodyPr/>
                    <a:lstStyle/>
                    <a:p>
                      <a:pPr marL="0" indent="0" algn="ctr">
                        <a:spcBef>
                          <a:spcPts val="600"/>
                        </a:spcBef>
                        <a:buNone/>
                      </a:pPr>
                      <a:r>
                        <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A=(</a:t>
                      </a:r>
                      <a:r>
                        <a:rPr lang="en-US" altLang="zh-CN" sz="1800" b="0" u="none" baseline="0" dirty="0" err="1">
                          <a:solidFill>
                            <a:srgbClr val="FF0000"/>
                          </a:solidFill>
                          <a:latin typeface="Times New Roman" panose="02020603050405020304" pitchFamily="18" charset="0"/>
                          <a:ea typeface="宋体" panose="02010600030101010101" pitchFamily="2" charset="-122"/>
                          <a:cs typeface="宋体" panose="02010600030101010101" pitchFamily="2" charset="-122"/>
                        </a:rPr>
                        <a:t>a,b,c</a:t>
                      </a:r>
                      <a:r>
                        <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marL="0" indent="0" algn="l">
                        <a:spcBef>
                          <a:spcPts val="600"/>
                        </a:spcBef>
                        <a:buNone/>
                      </a:pPr>
                      <a:r>
                        <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rPr>
                        <a:t>表</a:t>
                      </a:r>
                      <a:r>
                        <a:rPr lang="en-US" altLang="zh-CN" sz="1800" b="1" u="none" baseline="0" dirty="0">
                          <a:latin typeface="Times New Roman" panose="02020603050405020304" pitchFamily="18" charset="0"/>
                          <a:ea typeface="宋体" panose="02010600030101010101" pitchFamily="2" charset="-122"/>
                          <a:cs typeface="宋体" panose="02010600030101010101" pitchFamily="2" charset="-122"/>
                        </a:rPr>
                        <a:t>A</a:t>
                      </a:r>
                      <a:r>
                        <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rPr>
                        <a:t>有三个元素，每个元素是一个原子。</a:t>
                      </a:r>
                      <a:endPar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0">
                <a:tc>
                  <a:txBody>
                    <a:bodyPr/>
                    <a:lstStyle/>
                    <a:p>
                      <a:pPr marL="0" indent="0" algn="ctr">
                        <a:spcBef>
                          <a:spcPts val="600"/>
                        </a:spcBef>
                        <a:buNone/>
                      </a:pPr>
                      <a:r>
                        <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B=(</a:t>
                      </a:r>
                      <a:r>
                        <a:rPr lang="en-US" altLang="zh-CN" sz="1800" b="0" u="none" baseline="0" dirty="0" err="1">
                          <a:solidFill>
                            <a:srgbClr val="FF0000"/>
                          </a:solidFill>
                          <a:latin typeface="Times New Roman" panose="02020603050405020304" pitchFamily="18" charset="0"/>
                          <a:ea typeface="宋体" panose="02010600030101010101" pitchFamily="2" charset="-122"/>
                          <a:cs typeface="宋体" panose="02010600030101010101" pitchFamily="2" charset="-122"/>
                        </a:rPr>
                        <a:t>a,b</a:t>
                      </a:r>
                      <a:r>
                        <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a:t>
                      </a:r>
                      <a:r>
                        <a:rPr lang="en-US" altLang="zh-CN" sz="1800" b="0" u="none" baseline="0" dirty="0" err="1">
                          <a:solidFill>
                            <a:srgbClr val="FF0000"/>
                          </a:solidFill>
                          <a:latin typeface="Times New Roman" panose="02020603050405020304" pitchFamily="18" charset="0"/>
                          <a:ea typeface="宋体" panose="02010600030101010101" pitchFamily="2" charset="-122"/>
                          <a:cs typeface="宋体" panose="02010600030101010101" pitchFamily="2" charset="-122"/>
                        </a:rPr>
                        <a:t>a,d</a:t>
                      </a:r>
                      <a:r>
                        <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endParaRPr>
                    </a:p>
                  </a:txBody>
                  <a:tcPr marL="0" marR="-16510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marL="0" indent="0" algn="l">
                        <a:spcBef>
                          <a:spcPts val="600"/>
                        </a:spcBef>
                        <a:buNone/>
                      </a:pPr>
                      <a:r>
                        <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rPr>
                        <a:t>表</a:t>
                      </a:r>
                      <a:r>
                        <a:rPr lang="en-US" altLang="zh-CN" sz="1800" b="1" u="none" baseline="0" dirty="0">
                          <a:latin typeface="Times New Roman" panose="02020603050405020304" pitchFamily="18" charset="0"/>
                          <a:ea typeface="宋体" panose="02010600030101010101" pitchFamily="2" charset="-122"/>
                          <a:cs typeface="宋体" panose="02010600030101010101" pitchFamily="2" charset="-122"/>
                        </a:rPr>
                        <a:t>B</a:t>
                      </a:r>
                      <a:r>
                        <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rPr>
                        <a:t>有三个元素，第一、二个元素是原子，第三个元素是子表。</a:t>
                      </a:r>
                      <a:endPar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74320">
                <a:tc>
                  <a:txBody>
                    <a:bodyPr/>
                    <a:lstStyle/>
                    <a:p>
                      <a:pPr marL="0" indent="0" algn="ctr">
                        <a:spcBef>
                          <a:spcPts val="600"/>
                        </a:spcBef>
                        <a:buNone/>
                      </a:pPr>
                      <a:r>
                        <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C=(A,B)</a:t>
                      </a:r>
                      <a:endPar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marL="0" indent="0" algn="l">
                        <a:spcBef>
                          <a:spcPts val="600"/>
                        </a:spcBef>
                        <a:buNone/>
                      </a:pPr>
                      <a:r>
                        <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rPr>
                        <a:t>表</a:t>
                      </a:r>
                      <a:r>
                        <a:rPr lang="en-US" altLang="zh-CN" sz="1800" b="1" u="none" baseline="0" dirty="0">
                          <a:latin typeface="Times New Roman" panose="02020603050405020304" pitchFamily="18" charset="0"/>
                          <a:ea typeface="宋体" panose="02010600030101010101" pitchFamily="2" charset="-122"/>
                          <a:cs typeface="宋体" panose="02010600030101010101" pitchFamily="2" charset="-122"/>
                        </a:rPr>
                        <a:t>C</a:t>
                      </a:r>
                      <a:r>
                        <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rPr>
                        <a:t>的两个元素都是广义表。</a:t>
                      </a:r>
                      <a:endPar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0">
                <a:tc>
                  <a:txBody>
                    <a:bodyPr/>
                    <a:lstStyle/>
                    <a:p>
                      <a:pPr marL="0" indent="0" algn="ctr">
                        <a:spcBef>
                          <a:spcPts val="600"/>
                        </a:spcBef>
                        <a:buNone/>
                      </a:pPr>
                      <a:r>
                        <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D=(</a:t>
                      </a:r>
                      <a:r>
                        <a:rPr lang="en-US" altLang="zh-CN" sz="1800" b="0" u="none" baseline="0" dirty="0" err="1">
                          <a:solidFill>
                            <a:srgbClr val="FF0000"/>
                          </a:solidFill>
                          <a:latin typeface="Times New Roman" panose="02020603050405020304" pitchFamily="18" charset="0"/>
                          <a:ea typeface="宋体" panose="02010600030101010101" pitchFamily="2" charset="-122"/>
                          <a:cs typeface="宋体" panose="02010600030101010101" pitchFamily="2" charset="-122"/>
                        </a:rPr>
                        <a:t>d,D</a:t>
                      </a:r>
                      <a:r>
                        <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marL="0" indent="0" algn="l">
                        <a:spcBef>
                          <a:spcPts val="600"/>
                        </a:spcBef>
                        <a:buNone/>
                      </a:pPr>
                      <a:r>
                        <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rPr>
                        <a:t>表</a:t>
                      </a:r>
                      <a:r>
                        <a:rPr lang="en-US" altLang="zh-CN" sz="1800" b="1" u="none" baseline="0" dirty="0">
                          <a:latin typeface="Times New Roman" panose="02020603050405020304" pitchFamily="18" charset="0"/>
                          <a:ea typeface="宋体" panose="02010600030101010101" pitchFamily="2" charset="-122"/>
                          <a:cs typeface="宋体" panose="02010600030101010101" pitchFamily="2" charset="-122"/>
                        </a:rPr>
                        <a:t>D</a:t>
                      </a:r>
                      <a:r>
                        <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rPr>
                        <a:t>的两个元素分别是原子和子表，且子表就是自己。</a:t>
                      </a:r>
                      <a:endPar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74320">
                <a:tc>
                  <a:txBody>
                    <a:bodyPr/>
                    <a:lstStyle/>
                    <a:p>
                      <a:pPr marL="0" indent="0" algn="ctr">
                        <a:spcBef>
                          <a:spcPts val="600"/>
                        </a:spcBef>
                        <a:buNone/>
                      </a:pPr>
                      <a:r>
                        <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E=()</a:t>
                      </a:r>
                      <a:endPar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marL="0" indent="0" algn="l">
                        <a:spcBef>
                          <a:spcPts val="600"/>
                        </a:spcBef>
                        <a:buNone/>
                      </a:pPr>
                      <a:r>
                        <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rPr>
                        <a:t>表</a:t>
                      </a:r>
                      <a:r>
                        <a:rPr lang="en-US" altLang="zh-CN" sz="1800" b="1" u="none" baseline="0" dirty="0">
                          <a:latin typeface="Times New Roman" panose="02020603050405020304" pitchFamily="18" charset="0"/>
                          <a:ea typeface="宋体" panose="02010600030101010101" pitchFamily="2" charset="-122"/>
                          <a:cs typeface="宋体" panose="02010600030101010101" pitchFamily="2" charset="-122"/>
                        </a:rPr>
                        <a:t>E</a:t>
                      </a:r>
                      <a:r>
                        <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rPr>
                        <a:t>为空，没有元素。</a:t>
                      </a:r>
                      <a:endPar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0">
                <a:tc>
                  <a:txBody>
                    <a:bodyPr/>
                    <a:lstStyle/>
                    <a:p>
                      <a:pPr marL="0" indent="0" algn="ctr">
                        <a:spcBef>
                          <a:spcPts val="600"/>
                        </a:spcBef>
                        <a:buNone/>
                      </a:pPr>
                      <a:r>
                        <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F=((</a:t>
                      </a:r>
                      <a:r>
                        <a:rPr lang="en-US" altLang="zh-CN" sz="1800" b="0" u="none" baseline="0" dirty="0" err="1">
                          <a:solidFill>
                            <a:srgbClr val="FF0000"/>
                          </a:solidFill>
                          <a:latin typeface="Times New Roman" panose="02020603050405020304" pitchFamily="18" charset="0"/>
                          <a:ea typeface="宋体" panose="02010600030101010101" pitchFamily="2" charset="-122"/>
                          <a:cs typeface="宋体" panose="02010600030101010101" pitchFamily="2" charset="-122"/>
                        </a:rPr>
                        <a:t>a,b,c</a:t>
                      </a:r>
                      <a:r>
                        <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a:t>
                      </a:r>
                      <a:r>
                        <a:rPr lang="en-US" altLang="zh-CN" sz="1800" b="0" u="none" baseline="0" dirty="0" err="1">
                          <a:solidFill>
                            <a:srgbClr val="FF0000"/>
                          </a:solidFill>
                          <a:latin typeface="Times New Roman" panose="02020603050405020304" pitchFamily="18" charset="0"/>
                          <a:ea typeface="宋体" panose="02010600030101010101" pitchFamily="2" charset="-122"/>
                          <a:cs typeface="宋体" panose="02010600030101010101" pitchFamily="2" charset="-122"/>
                        </a:rPr>
                        <a:t>d,e,f</a:t>
                      </a:r>
                      <a:r>
                        <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1800" b="0" u="none" baseline="0" dirty="0">
                        <a:solidFill>
                          <a:srgbClr val="FF0000"/>
                        </a:solidFill>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a:txBody>
                    <a:bodyPr/>
                    <a:lstStyle/>
                    <a:p>
                      <a:pPr marL="0" indent="0" algn="l">
                        <a:spcBef>
                          <a:spcPts val="600"/>
                        </a:spcBef>
                        <a:buNone/>
                      </a:pPr>
                      <a:r>
                        <a:rPr lang="en-US" altLang="zh-CN" sz="1800" b="1" u="none" baseline="0" dirty="0">
                          <a:latin typeface="Times New Roman" panose="02020603050405020304" pitchFamily="18" charset="0"/>
                          <a:ea typeface="宋体" panose="02010600030101010101" pitchFamily="2" charset="-122"/>
                          <a:cs typeface="宋体" panose="02010600030101010101" pitchFamily="2" charset="-122"/>
                        </a:rPr>
                        <a:t>F</a:t>
                      </a:r>
                      <a:r>
                        <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rPr>
                        <a:t>的三个元素均为子表，其中第二个元素是一个空表。</a:t>
                      </a:r>
                      <a:endParaRPr lang="zh-CN" altLang="en-US" sz="1800" b="1"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7" name="灯片编号占位符 6"/>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grpSp>
        <p:nvGrpSpPr>
          <p:cNvPr id="8" name="组合 7"/>
          <p:cNvGrpSpPr/>
          <p:nvPr/>
        </p:nvGrpSpPr>
        <p:grpSpPr>
          <a:xfrm>
            <a:off x="539552" y="116632"/>
            <a:ext cx="3757930" cy="664430"/>
            <a:chOff x="999690" y="5025490"/>
            <a:chExt cx="3757930" cy="664430"/>
          </a:xfrm>
        </p:grpSpPr>
        <p:sp>
          <p:nvSpPr>
            <p:cNvPr id="9"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250380" y="5025490"/>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6.3 </a:t>
              </a:r>
              <a:r>
                <a:rPr lang="zh-CN" altLang="en-US" sz="3600" b="1" dirty="0" smtClean="0">
                  <a:latin typeface="Times New Roman" panose="02020603050405020304" pitchFamily="18" charset="0"/>
                  <a:ea typeface="黑体" panose="02010609060101010101" pitchFamily="49" charset="-122"/>
                </a:rPr>
                <a:t>广义表</a:t>
              </a:r>
              <a:endParaRPr lang="zh-CN" altLang="en-US" sz="3600" b="1" dirty="0">
                <a:latin typeface="Times New Roman" panose="02020603050405020304" pitchFamily="18" charset="0"/>
                <a:ea typeface="黑体" panose="02010609060101010101" pitchFamily="49" charset="-122"/>
              </a:endParaRPr>
            </a:p>
          </p:txBody>
        </p:sp>
        <p:pic>
          <p:nvPicPr>
            <p:cNvPr id="11" name="图片 10"/>
            <p:cNvPicPr>
              <a:picLocks noChangeAspect="1"/>
            </p:cNvPicPr>
            <p:nvPr/>
          </p:nvPicPr>
          <p:blipFill>
            <a:blip r:embed="rId1" cstate="print"/>
            <a:stretch>
              <a:fillRect/>
            </a:stretch>
          </p:blipFill>
          <p:spPr>
            <a:xfrm>
              <a:off x="1199659" y="5205012"/>
              <a:ext cx="420013" cy="322083"/>
            </a:xfrm>
            <a:prstGeom prst="rect">
              <a:avLst/>
            </a:prstGeom>
          </p:spPr>
        </p:pic>
      </p:grpSp>
      <p:sp>
        <p:nvSpPr>
          <p:cNvPr id="6" name="矩形 5"/>
          <p:cNvSpPr/>
          <p:nvPr/>
        </p:nvSpPr>
        <p:spPr>
          <a:xfrm>
            <a:off x="407334" y="943885"/>
            <a:ext cx="4254691" cy="523220"/>
          </a:xfrm>
          <a:prstGeom prst="rect">
            <a:avLst/>
          </a:prstGeom>
        </p:spPr>
        <p:txBody>
          <a:bodyPr wrap="none">
            <a:spAutoFit/>
          </a:bodyPr>
          <a:lstStyle/>
          <a:p>
            <a:pPr>
              <a:buClr>
                <a:srgbClr val="FF0000"/>
              </a:buClr>
              <a:buFont typeface="Wingdings" panose="05000000000000000000" pitchFamily="2" charset="2"/>
              <a:buChar char="Ø"/>
            </a:pPr>
            <a:r>
              <a:rPr lang="en-US" altLang="zh-CN" sz="2800" b="1" dirty="0"/>
              <a:t>6</a:t>
            </a:r>
            <a:r>
              <a:rPr lang="zh-CN" altLang="en-US" sz="2800" b="1" dirty="0" smtClean="0"/>
              <a:t>.</a:t>
            </a:r>
            <a:r>
              <a:rPr lang="en-US" altLang="zh-CN" sz="2800" b="1" dirty="0" smtClean="0"/>
              <a:t>3</a:t>
            </a:r>
            <a:r>
              <a:rPr lang="zh-CN" altLang="en-US" sz="2800" b="1" dirty="0" smtClean="0"/>
              <a:t>.1 广义</a:t>
            </a:r>
            <a:r>
              <a:rPr lang="zh-CN" altLang="en-US" sz="2800" b="1" dirty="0"/>
              <a:t>表的基本概念</a:t>
            </a:r>
            <a:endParaRPr lang="zh-CN" altLang="en-US" sz="2800" b="1"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414845"/>
            <a:ext cx="8329642" cy="4678451"/>
          </a:xfrm>
        </p:spPr>
        <p:txBody>
          <a:bodyPr/>
          <a:lstStyle/>
          <a:p>
            <a:pPr>
              <a:buClr>
                <a:srgbClr val="FF0000"/>
              </a:buClr>
              <a:buFont typeface="Wingdings" panose="05000000000000000000" pitchFamily="2" charset="2"/>
              <a:buChar char="n"/>
            </a:pPr>
            <a:r>
              <a:rPr lang="zh-CN" altLang="en-US" sz="2400" b="1" dirty="0"/>
              <a:t>采</a:t>
            </a:r>
            <a:r>
              <a:rPr lang="zh-CN" altLang="en-US" sz="2400" b="1" dirty="0" smtClean="0"/>
              <a:t>用</a:t>
            </a:r>
            <a:r>
              <a:rPr lang="zh-CN" altLang="en-US" sz="2400" b="1" dirty="0"/>
              <a:t>图的形式来直观地描述广义表，具体方法如下：</a:t>
            </a:r>
            <a:endParaRPr lang="zh-CN" altLang="en-US" sz="2400" b="1" dirty="0"/>
          </a:p>
          <a:p>
            <a:pPr lvl="1">
              <a:buClr>
                <a:srgbClr val="FF0000"/>
              </a:buClr>
              <a:buFont typeface="Wingdings" panose="05000000000000000000" pitchFamily="2" charset="2"/>
              <a:buChar char="u"/>
            </a:pPr>
            <a:r>
              <a:rPr lang="zh-CN" altLang="en-US" sz="2000" b="1" dirty="0"/>
              <a:t>用一个“点”代表一个广义表、子表及元素。</a:t>
            </a:r>
            <a:endParaRPr lang="zh-CN" altLang="en-US" sz="2000" b="1" dirty="0"/>
          </a:p>
          <a:p>
            <a:pPr lvl="1">
              <a:buClr>
                <a:srgbClr val="FF0000"/>
              </a:buClr>
              <a:buFont typeface="Wingdings" panose="05000000000000000000" pitchFamily="2" charset="2"/>
              <a:buChar char="u"/>
            </a:pPr>
            <a:r>
              <a:rPr lang="zh-CN" altLang="en-US" sz="2000" b="1" dirty="0"/>
              <a:t>将每个表或子表的元素标注</a:t>
            </a:r>
            <a:r>
              <a:rPr lang="zh-CN" altLang="en-US" sz="2000" b="1" dirty="0" smtClean="0"/>
              <a:t>在下面</a:t>
            </a:r>
            <a:r>
              <a:rPr lang="zh-CN" altLang="en-US" sz="2000" b="1" dirty="0"/>
              <a:t>，并分别用一个箭头指示其元素。</a:t>
            </a:r>
            <a:endParaRPr lang="zh-CN" altLang="en-US" sz="2000" b="1" dirty="0"/>
          </a:p>
          <a:p>
            <a:pPr marL="0" indent="0">
              <a:buNone/>
            </a:pPr>
            <a:r>
              <a:rPr lang="zh-CN" altLang="en-US" sz="2000" dirty="0"/>
              <a:t>                   </a:t>
            </a:r>
            <a:endParaRPr lang="en-US" altLang="zh-CN" sz="2000" dirty="0"/>
          </a:p>
          <a:p>
            <a:endParaRPr lang="en-US" altLang="zh-CN" sz="2000" dirty="0"/>
          </a:p>
          <a:p>
            <a:endParaRPr lang="en-US" altLang="zh-CN" sz="2000" dirty="0"/>
          </a:p>
          <a:p>
            <a:endParaRPr lang="en-US" altLang="zh-CN" sz="2000" dirty="0"/>
          </a:p>
          <a:p>
            <a:endParaRPr lang="zh-CN" altLang="en-US" sz="2000" dirty="0"/>
          </a:p>
        </p:txBody>
      </p:sp>
      <p:sp>
        <p:nvSpPr>
          <p:cNvPr id="6" name="文本框 5"/>
          <p:cNvSpPr txBox="1"/>
          <p:nvPr/>
        </p:nvSpPr>
        <p:spPr>
          <a:xfrm>
            <a:off x="491650" y="2989852"/>
            <a:ext cx="1334405" cy="369332"/>
          </a:xfrm>
          <a:prstGeom prst="rect">
            <a:avLst/>
          </a:prstGeom>
          <a:noFill/>
        </p:spPr>
        <p:txBody>
          <a:bodyPr wrap="square" rtlCol="0">
            <a:spAutoFit/>
          </a:bodyP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b="1" dirty="0" err="1">
                <a:latin typeface="Times New Roman" panose="02020603050405020304" pitchFamily="18" charset="0"/>
                <a:ea typeface="宋体" panose="02010600030101010101" pitchFamily="2" charset="-122"/>
                <a:cs typeface="Times New Roman" panose="02020603050405020304" pitchFamily="18" charset="0"/>
              </a:rPr>
              <a:t>a,b,c</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p:cNvSpPr txBox="1"/>
          <p:nvPr/>
        </p:nvSpPr>
        <p:spPr>
          <a:xfrm>
            <a:off x="1692163" y="2981333"/>
            <a:ext cx="1692309" cy="369332"/>
          </a:xfrm>
          <a:prstGeom prst="rect">
            <a:avLst/>
          </a:prstGeom>
          <a:noFill/>
        </p:spPr>
        <p:txBody>
          <a:bodyPr wrap="square" rtlCol="0">
            <a:spAutoFit/>
          </a:bodyP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1" dirty="0" err="1">
                <a:latin typeface="Times New Roman" panose="02020603050405020304" pitchFamily="18" charset="0"/>
                <a:ea typeface="宋体" panose="02010600030101010101" pitchFamily="2" charset="-122"/>
                <a:cs typeface="Times New Roman" panose="02020603050405020304" pitchFamily="18" charset="0"/>
              </a:rPr>
              <a:t>a,b</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dirty="0" err="1">
                <a:latin typeface="Times New Roman" panose="02020603050405020304" pitchFamily="18" charset="0"/>
                <a:ea typeface="宋体" panose="02010600030101010101" pitchFamily="2" charset="-122"/>
                <a:cs typeface="Times New Roman" panose="02020603050405020304" pitchFamily="18" charset="0"/>
              </a:rPr>
              <a:t>a,d</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p:cNvSpPr txBox="1"/>
          <p:nvPr/>
        </p:nvSpPr>
        <p:spPr>
          <a:xfrm>
            <a:off x="3916901" y="3026421"/>
            <a:ext cx="1044606" cy="369332"/>
          </a:xfrm>
          <a:prstGeom prst="rect">
            <a:avLst/>
          </a:prstGeom>
          <a:noFill/>
        </p:spPr>
        <p:txBody>
          <a:bodyPr wrap="square" rtlCol="0">
            <a:spAutoFit/>
          </a:bodyP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C=(A,B)</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p:nvPr/>
        </p:nvSpPr>
        <p:spPr>
          <a:xfrm>
            <a:off x="5778582" y="3024988"/>
            <a:ext cx="1112940" cy="369332"/>
          </a:xfrm>
          <a:prstGeom prst="rect">
            <a:avLst/>
          </a:prstGeom>
          <a:noFill/>
        </p:spPr>
        <p:txBody>
          <a:bodyPr wrap="square" rtlCol="0">
            <a:spAutoFit/>
          </a:bodyP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D=(</a:t>
            </a:r>
            <a:r>
              <a:rPr lang="en-US" altLang="zh-CN" sz="1800" b="1" dirty="0" err="1">
                <a:latin typeface="Times New Roman" panose="02020603050405020304" pitchFamily="18" charset="0"/>
                <a:ea typeface="宋体" panose="02010600030101010101" pitchFamily="2" charset="-122"/>
                <a:cs typeface="Times New Roman" panose="02020603050405020304" pitchFamily="18" charset="0"/>
              </a:rPr>
              <a:t>d,D</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文本框 9"/>
          <p:cNvSpPr txBox="1"/>
          <p:nvPr/>
        </p:nvSpPr>
        <p:spPr>
          <a:xfrm>
            <a:off x="7188418" y="3012321"/>
            <a:ext cx="628708" cy="369332"/>
          </a:xfrm>
          <a:prstGeom prst="rect">
            <a:avLst/>
          </a:prstGeom>
          <a:noFill/>
        </p:spPr>
        <p:txBody>
          <a:bodyPr wrap="square" rtlCol="0">
            <a:spAutoFit/>
          </a:bodyP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E=()</a:t>
            </a:r>
            <a:endParaRPr lang="en-US" altLang="zh-CN" sz="1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文本框 10"/>
          <p:cNvSpPr txBox="1"/>
          <p:nvPr/>
        </p:nvSpPr>
        <p:spPr>
          <a:xfrm>
            <a:off x="6197161" y="6100408"/>
            <a:ext cx="2731872" cy="369332"/>
          </a:xfrm>
          <a:prstGeom prst="rect">
            <a:avLst/>
          </a:prstGeom>
          <a:noFill/>
        </p:spPr>
        <p:txBody>
          <a:bodyPr wrap="square" rtlCol="0">
            <a:spAutoFit/>
          </a:bodyPr>
          <a:lstStyle/>
          <a:p>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1800" b="1" dirty="0" err="1">
                <a:latin typeface="Times New Roman" panose="02020603050405020304" pitchFamily="18" charset="0"/>
                <a:ea typeface="宋体" panose="02010600030101010101" pitchFamily="2" charset="-122"/>
                <a:cs typeface="Times New Roman" panose="02020603050405020304" pitchFamily="18" charset="0"/>
              </a:rPr>
              <a:t>a,b,c</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dirty="0" err="1">
                <a:latin typeface="Times New Roman" panose="02020603050405020304" pitchFamily="18" charset="0"/>
                <a:ea typeface="宋体" panose="02010600030101010101" pitchFamily="2" charset="-122"/>
                <a:cs typeface="Times New Roman" panose="02020603050405020304" pitchFamily="18" charset="0"/>
              </a:rPr>
              <a:t>d,e,f</a:t>
            </a:r>
            <a:r>
              <a:rPr lang="en-US" altLang="zh-CN" sz="1800" b="1"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sp>
        <p:nvSpPr>
          <p:cNvPr id="12" name="文本框 11"/>
          <p:cNvSpPr txBox="1"/>
          <p:nvPr/>
        </p:nvSpPr>
        <p:spPr>
          <a:xfrm>
            <a:off x="824082" y="3381475"/>
            <a:ext cx="471835" cy="461665"/>
          </a:xfrm>
          <a:prstGeom prst="rect">
            <a:avLst/>
          </a:prstGeom>
          <a:noFill/>
        </p:spPr>
        <p:txBody>
          <a:bodyPr wrap="square" rtlCol="0">
            <a:spAutoFit/>
          </a:bodyPr>
          <a:lstStyle/>
          <a:p>
            <a:r>
              <a:rPr lang="en-US" altLang="zh-CN" dirty="0"/>
              <a:t>A</a:t>
            </a:r>
            <a:endParaRPr lang="zh-CN" altLang="en-US" dirty="0"/>
          </a:p>
        </p:txBody>
      </p:sp>
      <p:sp>
        <p:nvSpPr>
          <p:cNvPr id="13" name="文本框 12"/>
          <p:cNvSpPr txBox="1"/>
          <p:nvPr/>
        </p:nvSpPr>
        <p:spPr>
          <a:xfrm>
            <a:off x="467544" y="4312453"/>
            <a:ext cx="304420" cy="461665"/>
          </a:xfrm>
          <a:prstGeom prst="rect">
            <a:avLst/>
          </a:prstGeom>
          <a:noFill/>
        </p:spPr>
        <p:txBody>
          <a:bodyPr wrap="square" rtlCol="0">
            <a:spAutoFit/>
          </a:bodyPr>
          <a:lstStyle/>
          <a:p>
            <a:r>
              <a:rPr lang="en-US" altLang="zh-CN" dirty="0"/>
              <a:t>a</a:t>
            </a:r>
            <a:endParaRPr lang="zh-CN" altLang="en-US" dirty="0"/>
          </a:p>
        </p:txBody>
      </p:sp>
      <p:sp>
        <p:nvSpPr>
          <p:cNvPr id="14" name="文本框 13"/>
          <p:cNvSpPr txBox="1"/>
          <p:nvPr/>
        </p:nvSpPr>
        <p:spPr>
          <a:xfrm>
            <a:off x="906102" y="4304055"/>
            <a:ext cx="471835" cy="461665"/>
          </a:xfrm>
          <a:prstGeom prst="rect">
            <a:avLst/>
          </a:prstGeom>
          <a:noFill/>
        </p:spPr>
        <p:txBody>
          <a:bodyPr wrap="square" rtlCol="0">
            <a:spAutoFit/>
          </a:bodyPr>
          <a:lstStyle/>
          <a:p>
            <a:r>
              <a:rPr lang="en-US" altLang="zh-CN" dirty="0"/>
              <a:t>b</a:t>
            </a:r>
            <a:endParaRPr lang="zh-CN" altLang="en-US" dirty="0"/>
          </a:p>
        </p:txBody>
      </p:sp>
      <p:sp>
        <p:nvSpPr>
          <p:cNvPr id="15" name="文本框 14"/>
          <p:cNvSpPr txBox="1"/>
          <p:nvPr/>
        </p:nvSpPr>
        <p:spPr>
          <a:xfrm>
            <a:off x="1288450" y="4294133"/>
            <a:ext cx="337943" cy="461665"/>
          </a:xfrm>
          <a:prstGeom prst="rect">
            <a:avLst/>
          </a:prstGeom>
          <a:noFill/>
        </p:spPr>
        <p:txBody>
          <a:bodyPr wrap="square" rtlCol="0">
            <a:spAutoFit/>
          </a:bodyPr>
          <a:lstStyle/>
          <a:p>
            <a:r>
              <a:rPr lang="en-US" altLang="zh-CN" dirty="0"/>
              <a:t>c</a:t>
            </a:r>
            <a:endParaRPr lang="zh-CN" altLang="en-US" dirty="0"/>
          </a:p>
        </p:txBody>
      </p:sp>
      <p:sp>
        <p:nvSpPr>
          <p:cNvPr id="26" name="文本框 25"/>
          <p:cNvSpPr txBox="1"/>
          <p:nvPr/>
        </p:nvSpPr>
        <p:spPr>
          <a:xfrm>
            <a:off x="2237351" y="3483100"/>
            <a:ext cx="471835" cy="461665"/>
          </a:xfrm>
          <a:prstGeom prst="rect">
            <a:avLst/>
          </a:prstGeom>
          <a:noFill/>
        </p:spPr>
        <p:txBody>
          <a:bodyPr wrap="square" rtlCol="0">
            <a:spAutoFit/>
          </a:bodyPr>
          <a:lstStyle/>
          <a:p>
            <a:r>
              <a:rPr lang="en-US" altLang="zh-CN" dirty="0"/>
              <a:t>B</a:t>
            </a:r>
            <a:endParaRPr lang="zh-CN" altLang="en-US" dirty="0"/>
          </a:p>
        </p:txBody>
      </p:sp>
      <p:sp>
        <p:nvSpPr>
          <p:cNvPr id="27" name="文本框 26"/>
          <p:cNvSpPr txBox="1"/>
          <p:nvPr/>
        </p:nvSpPr>
        <p:spPr>
          <a:xfrm>
            <a:off x="1807981" y="4275861"/>
            <a:ext cx="304420" cy="461665"/>
          </a:xfrm>
          <a:prstGeom prst="rect">
            <a:avLst/>
          </a:prstGeom>
          <a:noFill/>
        </p:spPr>
        <p:txBody>
          <a:bodyPr wrap="square" rtlCol="0">
            <a:spAutoFit/>
          </a:bodyPr>
          <a:lstStyle/>
          <a:p>
            <a:r>
              <a:rPr lang="en-US" altLang="zh-CN" dirty="0"/>
              <a:t>a</a:t>
            </a:r>
            <a:endParaRPr lang="zh-CN" altLang="en-US" dirty="0"/>
          </a:p>
        </p:txBody>
      </p:sp>
      <p:sp>
        <p:nvSpPr>
          <p:cNvPr id="28" name="文本框 27"/>
          <p:cNvSpPr txBox="1"/>
          <p:nvPr/>
        </p:nvSpPr>
        <p:spPr>
          <a:xfrm>
            <a:off x="2257585" y="4307178"/>
            <a:ext cx="471835" cy="461665"/>
          </a:xfrm>
          <a:prstGeom prst="rect">
            <a:avLst/>
          </a:prstGeom>
          <a:noFill/>
        </p:spPr>
        <p:txBody>
          <a:bodyPr wrap="square" rtlCol="0">
            <a:spAutoFit/>
          </a:bodyPr>
          <a:lstStyle/>
          <a:p>
            <a:r>
              <a:rPr lang="en-US" altLang="zh-CN" dirty="0"/>
              <a:t>b</a:t>
            </a:r>
            <a:endParaRPr lang="zh-CN" altLang="en-US" dirty="0"/>
          </a:p>
        </p:txBody>
      </p:sp>
      <p:cxnSp>
        <p:nvCxnSpPr>
          <p:cNvPr id="30" name="直接连接符 29"/>
          <p:cNvCxnSpPr/>
          <p:nvPr/>
        </p:nvCxnSpPr>
        <p:spPr>
          <a:xfrm flipH="1">
            <a:off x="2029126" y="3865932"/>
            <a:ext cx="356451" cy="543887"/>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31" name="直接连接符 30"/>
          <p:cNvCxnSpPr/>
          <p:nvPr/>
        </p:nvCxnSpPr>
        <p:spPr>
          <a:xfrm>
            <a:off x="2393411" y="3865932"/>
            <a:ext cx="0" cy="520158"/>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32" name="直接连接符 31"/>
          <p:cNvCxnSpPr/>
          <p:nvPr/>
        </p:nvCxnSpPr>
        <p:spPr>
          <a:xfrm>
            <a:off x="2393411" y="3856408"/>
            <a:ext cx="375440" cy="548652"/>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34" name="文本框 33"/>
          <p:cNvSpPr txBox="1"/>
          <p:nvPr/>
        </p:nvSpPr>
        <p:spPr>
          <a:xfrm>
            <a:off x="2164432" y="4913655"/>
            <a:ext cx="304420" cy="461665"/>
          </a:xfrm>
          <a:prstGeom prst="rect">
            <a:avLst/>
          </a:prstGeom>
          <a:noFill/>
        </p:spPr>
        <p:txBody>
          <a:bodyPr wrap="square" rtlCol="0">
            <a:spAutoFit/>
          </a:bodyPr>
          <a:lstStyle/>
          <a:p>
            <a:r>
              <a:rPr lang="en-US" altLang="zh-CN" dirty="0"/>
              <a:t>a</a:t>
            </a:r>
            <a:endParaRPr lang="zh-CN" altLang="en-US" dirty="0"/>
          </a:p>
        </p:txBody>
      </p:sp>
      <p:sp>
        <p:nvSpPr>
          <p:cNvPr id="36" name="文本框 35"/>
          <p:cNvSpPr txBox="1"/>
          <p:nvPr/>
        </p:nvSpPr>
        <p:spPr>
          <a:xfrm>
            <a:off x="3045322" y="4903603"/>
            <a:ext cx="337943" cy="461665"/>
          </a:xfrm>
          <a:prstGeom prst="rect">
            <a:avLst/>
          </a:prstGeom>
          <a:noFill/>
        </p:spPr>
        <p:txBody>
          <a:bodyPr wrap="square" rtlCol="0">
            <a:spAutoFit/>
          </a:bodyPr>
          <a:lstStyle/>
          <a:p>
            <a:r>
              <a:rPr lang="en-US" altLang="zh-CN" dirty="0"/>
              <a:t>d</a:t>
            </a:r>
            <a:endParaRPr lang="zh-CN" altLang="en-US" dirty="0"/>
          </a:p>
        </p:txBody>
      </p:sp>
      <p:cxnSp>
        <p:nvCxnSpPr>
          <p:cNvPr id="37" name="直接连接符 36"/>
          <p:cNvCxnSpPr/>
          <p:nvPr/>
        </p:nvCxnSpPr>
        <p:spPr>
          <a:xfrm flipH="1">
            <a:off x="2385577" y="4437514"/>
            <a:ext cx="350793" cy="622799"/>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39" name="直接连接符 38"/>
          <p:cNvCxnSpPr/>
          <p:nvPr/>
        </p:nvCxnSpPr>
        <p:spPr>
          <a:xfrm>
            <a:off x="2745361" y="4437514"/>
            <a:ext cx="379941" cy="618040"/>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42" name="文本框 41"/>
          <p:cNvSpPr txBox="1"/>
          <p:nvPr/>
        </p:nvSpPr>
        <p:spPr>
          <a:xfrm>
            <a:off x="3764479" y="4110499"/>
            <a:ext cx="471835" cy="461665"/>
          </a:xfrm>
          <a:prstGeom prst="rect">
            <a:avLst/>
          </a:prstGeom>
          <a:noFill/>
        </p:spPr>
        <p:txBody>
          <a:bodyPr wrap="square" rtlCol="0">
            <a:spAutoFit/>
          </a:bodyPr>
          <a:lstStyle/>
          <a:p>
            <a:r>
              <a:rPr lang="en-US" altLang="zh-CN" dirty="0"/>
              <a:t>A</a:t>
            </a:r>
            <a:endParaRPr lang="zh-CN" altLang="en-US" dirty="0"/>
          </a:p>
        </p:txBody>
      </p:sp>
      <p:sp>
        <p:nvSpPr>
          <p:cNvPr id="43" name="文本框 42"/>
          <p:cNvSpPr txBox="1"/>
          <p:nvPr/>
        </p:nvSpPr>
        <p:spPr>
          <a:xfrm>
            <a:off x="3335109" y="4903260"/>
            <a:ext cx="304420" cy="461665"/>
          </a:xfrm>
          <a:prstGeom prst="rect">
            <a:avLst/>
          </a:prstGeom>
          <a:noFill/>
        </p:spPr>
        <p:txBody>
          <a:bodyPr wrap="square" rtlCol="0">
            <a:spAutoFit/>
          </a:bodyPr>
          <a:lstStyle/>
          <a:p>
            <a:r>
              <a:rPr lang="en-US" altLang="zh-CN" dirty="0"/>
              <a:t>a</a:t>
            </a:r>
            <a:endParaRPr lang="zh-CN" altLang="en-US" dirty="0"/>
          </a:p>
        </p:txBody>
      </p:sp>
      <p:sp>
        <p:nvSpPr>
          <p:cNvPr id="44" name="文本框 43"/>
          <p:cNvSpPr txBox="1"/>
          <p:nvPr/>
        </p:nvSpPr>
        <p:spPr>
          <a:xfrm>
            <a:off x="3784713" y="4934577"/>
            <a:ext cx="471835" cy="461665"/>
          </a:xfrm>
          <a:prstGeom prst="rect">
            <a:avLst/>
          </a:prstGeom>
          <a:noFill/>
        </p:spPr>
        <p:txBody>
          <a:bodyPr wrap="square" rtlCol="0">
            <a:spAutoFit/>
          </a:bodyPr>
          <a:lstStyle/>
          <a:p>
            <a:r>
              <a:rPr lang="en-US" altLang="zh-CN" dirty="0"/>
              <a:t>b</a:t>
            </a:r>
            <a:endParaRPr lang="zh-CN" altLang="en-US" dirty="0"/>
          </a:p>
        </p:txBody>
      </p:sp>
      <p:sp>
        <p:nvSpPr>
          <p:cNvPr id="45" name="文本框 44"/>
          <p:cNvSpPr txBox="1"/>
          <p:nvPr/>
        </p:nvSpPr>
        <p:spPr>
          <a:xfrm>
            <a:off x="4215999" y="4918608"/>
            <a:ext cx="337943" cy="461665"/>
          </a:xfrm>
          <a:prstGeom prst="rect">
            <a:avLst/>
          </a:prstGeom>
          <a:noFill/>
        </p:spPr>
        <p:txBody>
          <a:bodyPr wrap="square" rtlCol="0">
            <a:spAutoFit/>
          </a:bodyPr>
          <a:lstStyle/>
          <a:p>
            <a:r>
              <a:rPr lang="en-US" altLang="zh-CN" dirty="0"/>
              <a:t>c</a:t>
            </a:r>
            <a:endParaRPr lang="zh-CN" altLang="en-US" dirty="0"/>
          </a:p>
        </p:txBody>
      </p:sp>
      <p:cxnSp>
        <p:nvCxnSpPr>
          <p:cNvPr id="46" name="直接连接符 45"/>
          <p:cNvCxnSpPr/>
          <p:nvPr/>
        </p:nvCxnSpPr>
        <p:spPr>
          <a:xfrm flipH="1">
            <a:off x="3556254" y="4474361"/>
            <a:ext cx="366588" cy="562857"/>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47" name="直接连接符 46"/>
          <p:cNvCxnSpPr/>
          <p:nvPr/>
        </p:nvCxnSpPr>
        <p:spPr>
          <a:xfrm>
            <a:off x="3929301" y="4464363"/>
            <a:ext cx="7052" cy="549126"/>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48" name="直接连接符 47"/>
          <p:cNvCxnSpPr/>
          <p:nvPr/>
        </p:nvCxnSpPr>
        <p:spPr>
          <a:xfrm>
            <a:off x="3924788" y="4464363"/>
            <a:ext cx="371191" cy="568096"/>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49" name="文本框 48"/>
          <p:cNvSpPr txBox="1"/>
          <p:nvPr/>
        </p:nvSpPr>
        <p:spPr>
          <a:xfrm>
            <a:off x="4941453" y="4091529"/>
            <a:ext cx="471835" cy="461665"/>
          </a:xfrm>
          <a:prstGeom prst="rect">
            <a:avLst/>
          </a:prstGeom>
          <a:noFill/>
        </p:spPr>
        <p:txBody>
          <a:bodyPr wrap="square" rtlCol="0">
            <a:spAutoFit/>
          </a:bodyPr>
          <a:lstStyle/>
          <a:p>
            <a:r>
              <a:rPr lang="en-US" altLang="zh-CN" dirty="0"/>
              <a:t>B</a:t>
            </a:r>
            <a:endParaRPr lang="zh-CN" altLang="en-US" dirty="0"/>
          </a:p>
        </p:txBody>
      </p:sp>
      <p:sp>
        <p:nvSpPr>
          <p:cNvPr id="50" name="文本框 49"/>
          <p:cNvSpPr txBox="1"/>
          <p:nvPr/>
        </p:nvSpPr>
        <p:spPr>
          <a:xfrm>
            <a:off x="4512083" y="4922390"/>
            <a:ext cx="304420" cy="461665"/>
          </a:xfrm>
          <a:prstGeom prst="rect">
            <a:avLst/>
          </a:prstGeom>
          <a:noFill/>
        </p:spPr>
        <p:txBody>
          <a:bodyPr wrap="square" rtlCol="0">
            <a:spAutoFit/>
          </a:bodyPr>
          <a:lstStyle/>
          <a:p>
            <a:r>
              <a:rPr lang="en-US" altLang="zh-CN" dirty="0"/>
              <a:t>a</a:t>
            </a:r>
            <a:endParaRPr lang="zh-CN" altLang="en-US" dirty="0"/>
          </a:p>
        </p:txBody>
      </p:sp>
      <p:sp>
        <p:nvSpPr>
          <p:cNvPr id="51" name="文本框 50"/>
          <p:cNvSpPr txBox="1"/>
          <p:nvPr/>
        </p:nvSpPr>
        <p:spPr>
          <a:xfrm>
            <a:off x="4961687" y="4915607"/>
            <a:ext cx="471835" cy="461665"/>
          </a:xfrm>
          <a:prstGeom prst="rect">
            <a:avLst/>
          </a:prstGeom>
          <a:noFill/>
        </p:spPr>
        <p:txBody>
          <a:bodyPr wrap="square" rtlCol="0">
            <a:spAutoFit/>
          </a:bodyPr>
          <a:lstStyle/>
          <a:p>
            <a:r>
              <a:rPr lang="en-US" altLang="zh-CN" dirty="0"/>
              <a:t>b</a:t>
            </a:r>
            <a:endParaRPr lang="zh-CN" altLang="en-US" dirty="0"/>
          </a:p>
        </p:txBody>
      </p:sp>
      <p:cxnSp>
        <p:nvCxnSpPr>
          <p:cNvPr id="52" name="直接连接符 51"/>
          <p:cNvCxnSpPr/>
          <p:nvPr/>
        </p:nvCxnSpPr>
        <p:spPr>
          <a:xfrm flipH="1">
            <a:off x="4733228" y="4458113"/>
            <a:ext cx="373047" cy="560135"/>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53" name="直接连接符 52"/>
          <p:cNvCxnSpPr/>
          <p:nvPr/>
        </p:nvCxnSpPr>
        <p:spPr>
          <a:xfrm>
            <a:off x="5106275" y="4445393"/>
            <a:ext cx="7052" cy="549126"/>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54" name="直接连接符 53"/>
          <p:cNvCxnSpPr/>
          <p:nvPr/>
        </p:nvCxnSpPr>
        <p:spPr>
          <a:xfrm>
            <a:off x="5110625" y="4452140"/>
            <a:ext cx="362328" cy="561349"/>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55" name="文本框 54"/>
          <p:cNvSpPr txBox="1"/>
          <p:nvPr/>
        </p:nvSpPr>
        <p:spPr>
          <a:xfrm>
            <a:off x="4922061" y="5535386"/>
            <a:ext cx="304420" cy="461665"/>
          </a:xfrm>
          <a:prstGeom prst="rect">
            <a:avLst/>
          </a:prstGeom>
          <a:noFill/>
        </p:spPr>
        <p:txBody>
          <a:bodyPr wrap="square" rtlCol="0">
            <a:spAutoFit/>
          </a:bodyPr>
          <a:lstStyle/>
          <a:p>
            <a:r>
              <a:rPr lang="en-US" altLang="zh-CN" dirty="0"/>
              <a:t>a</a:t>
            </a:r>
            <a:endParaRPr lang="zh-CN" altLang="en-US" dirty="0"/>
          </a:p>
        </p:txBody>
      </p:sp>
      <p:sp>
        <p:nvSpPr>
          <p:cNvPr id="56" name="文本框 55"/>
          <p:cNvSpPr txBox="1"/>
          <p:nvPr/>
        </p:nvSpPr>
        <p:spPr>
          <a:xfrm>
            <a:off x="5345722" y="5527273"/>
            <a:ext cx="444251" cy="369332"/>
          </a:xfrm>
          <a:prstGeom prst="rect">
            <a:avLst/>
          </a:prstGeom>
          <a:noFill/>
        </p:spPr>
        <p:txBody>
          <a:bodyPr wrap="square" rtlCol="0">
            <a:spAutoFit/>
          </a:bodyPr>
          <a:lstStyle/>
          <a:p>
            <a:r>
              <a:rPr lang="en-US" altLang="zh-CN" dirty="0"/>
              <a:t>b</a:t>
            </a:r>
            <a:endParaRPr lang="zh-CN" altLang="en-US" dirty="0"/>
          </a:p>
        </p:txBody>
      </p:sp>
      <p:sp>
        <p:nvSpPr>
          <p:cNvPr id="57" name="文本框 56"/>
          <p:cNvSpPr txBox="1"/>
          <p:nvPr/>
        </p:nvSpPr>
        <p:spPr>
          <a:xfrm>
            <a:off x="5749424" y="5512032"/>
            <a:ext cx="337943" cy="461665"/>
          </a:xfrm>
          <a:prstGeom prst="rect">
            <a:avLst/>
          </a:prstGeom>
          <a:noFill/>
        </p:spPr>
        <p:txBody>
          <a:bodyPr wrap="square" rtlCol="0">
            <a:spAutoFit/>
          </a:bodyPr>
          <a:lstStyle/>
          <a:p>
            <a:r>
              <a:rPr lang="en-US" altLang="zh-CN" dirty="0"/>
              <a:t>c</a:t>
            </a:r>
            <a:endParaRPr lang="zh-CN" altLang="en-US" dirty="0"/>
          </a:p>
        </p:txBody>
      </p:sp>
      <p:cxnSp>
        <p:nvCxnSpPr>
          <p:cNvPr id="58" name="直接连接符 57"/>
          <p:cNvCxnSpPr/>
          <p:nvPr/>
        </p:nvCxnSpPr>
        <p:spPr>
          <a:xfrm flipH="1">
            <a:off x="5106275" y="5045943"/>
            <a:ext cx="334198" cy="536197"/>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59" name="直接连接符 58"/>
          <p:cNvCxnSpPr/>
          <p:nvPr/>
        </p:nvCxnSpPr>
        <p:spPr>
          <a:xfrm>
            <a:off x="5442124" y="5060313"/>
            <a:ext cx="395882" cy="517543"/>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60" name="文本框 59"/>
          <p:cNvSpPr txBox="1"/>
          <p:nvPr/>
        </p:nvSpPr>
        <p:spPr>
          <a:xfrm>
            <a:off x="4344668" y="3413355"/>
            <a:ext cx="471835" cy="461665"/>
          </a:xfrm>
          <a:prstGeom prst="rect">
            <a:avLst/>
          </a:prstGeom>
          <a:noFill/>
        </p:spPr>
        <p:txBody>
          <a:bodyPr wrap="square" rtlCol="0">
            <a:spAutoFit/>
          </a:bodyPr>
          <a:lstStyle/>
          <a:p>
            <a:r>
              <a:rPr lang="en-US" altLang="zh-CN" dirty="0"/>
              <a:t>C</a:t>
            </a:r>
            <a:endParaRPr lang="zh-CN" altLang="en-US" dirty="0"/>
          </a:p>
        </p:txBody>
      </p:sp>
      <p:cxnSp>
        <p:nvCxnSpPr>
          <p:cNvPr id="64" name="直接连接符 63"/>
          <p:cNvCxnSpPr/>
          <p:nvPr/>
        </p:nvCxnSpPr>
        <p:spPr>
          <a:xfrm flipH="1">
            <a:off x="4080857" y="3746429"/>
            <a:ext cx="444823" cy="456291"/>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65" name="直接连接符 64"/>
          <p:cNvCxnSpPr/>
          <p:nvPr/>
        </p:nvCxnSpPr>
        <p:spPr>
          <a:xfrm>
            <a:off x="4525680" y="3742647"/>
            <a:ext cx="495064" cy="427393"/>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70" name="文本框 69"/>
          <p:cNvSpPr txBox="1"/>
          <p:nvPr/>
        </p:nvSpPr>
        <p:spPr>
          <a:xfrm>
            <a:off x="6151117" y="3367812"/>
            <a:ext cx="471835" cy="461665"/>
          </a:xfrm>
          <a:prstGeom prst="rect">
            <a:avLst/>
          </a:prstGeom>
          <a:noFill/>
        </p:spPr>
        <p:txBody>
          <a:bodyPr wrap="square" rtlCol="0">
            <a:spAutoFit/>
          </a:bodyPr>
          <a:lstStyle/>
          <a:p>
            <a:r>
              <a:rPr lang="en-US" altLang="zh-CN" dirty="0"/>
              <a:t>D</a:t>
            </a:r>
            <a:endParaRPr lang="zh-CN" altLang="en-US" dirty="0"/>
          </a:p>
        </p:txBody>
      </p:sp>
      <p:sp>
        <p:nvSpPr>
          <p:cNvPr id="71" name="文本框 70"/>
          <p:cNvSpPr txBox="1"/>
          <p:nvPr/>
        </p:nvSpPr>
        <p:spPr>
          <a:xfrm>
            <a:off x="5721747" y="4160573"/>
            <a:ext cx="304420" cy="461665"/>
          </a:xfrm>
          <a:prstGeom prst="rect">
            <a:avLst/>
          </a:prstGeom>
          <a:noFill/>
        </p:spPr>
        <p:txBody>
          <a:bodyPr wrap="square" rtlCol="0">
            <a:spAutoFit/>
          </a:bodyPr>
          <a:lstStyle/>
          <a:p>
            <a:r>
              <a:rPr lang="en-US" altLang="zh-CN" dirty="0"/>
              <a:t>d</a:t>
            </a:r>
            <a:endParaRPr lang="zh-CN" altLang="en-US" dirty="0"/>
          </a:p>
        </p:txBody>
      </p:sp>
      <p:cxnSp>
        <p:nvCxnSpPr>
          <p:cNvPr id="72" name="直接连接符 71"/>
          <p:cNvCxnSpPr/>
          <p:nvPr/>
        </p:nvCxnSpPr>
        <p:spPr>
          <a:xfrm flipH="1">
            <a:off x="5942892" y="3726836"/>
            <a:ext cx="311734" cy="567695"/>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79" name="Freeform 2"/>
          <p:cNvSpPr/>
          <p:nvPr/>
        </p:nvSpPr>
        <p:spPr bwMode="auto">
          <a:xfrm>
            <a:off x="6270584" y="3722069"/>
            <a:ext cx="606054" cy="542523"/>
          </a:xfrm>
          <a:custGeom>
            <a:avLst/>
            <a:gdLst>
              <a:gd name="T0" fmla="*/ 0 w 585"/>
              <a:gd name="T1" fmla="*/ 15 h 585"/>
              <a:gd name="T2" fmla="*/ 30 w 585"/>
              <a:gd name="T3" fmla="*/ 405 h 585"/>
              <a:gd name="T4" fmla="*/ 75 w 585"/>
              <a:gd name="T5" fmla="*/ 495 h 585"/>
              <a:gd name="T6" fmla="*/ 165 w 585"/>
              <a:gd name="T7" fmla="*/ 570 h 585"/>
              <a:gd name="T8" fmla="*/ 300 w 585"/>
              <a:gd name="T9" fmla="*/ 585 h 585"/>
              <a:gd name="T10" fmla="*/ 480 w 585"/>
              <a:gd name="T11" fmla="*/ 555 h 585"/>
              <a:gd name="T12" fmla="*/ 585 w 585"/>
              <a:gd name="T13" fmla="*/ 420 h 585"/>
              <a:gd name="T14" fmla="*/ 555 w 585"/>
              <a:gd name="T15" fmla="*/ 270 h 585"/>
              <a:gd name="T16" fmla="*/ 480 w 585"/>
              <a:gd name="T17" fmla="*/ 180 h 585"/>
              <a:gd name="T18" fmla="*/ 405 w 585"/>
              <a:gd name="T19" fmla="*/ 120 h 585"/>
              <a:gd name="T20" fmla="*/ 90 w 585"/>
              <a:gd name="T21" fmla="*/ 0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5" h="585">
                <a:moveTo>
                  <a:pt x="0" y="15"/>
                </a:moveTo>
                <a:lnTo>
                  <a:pt x="30" y="405"/>
                </a:lnTo>
                <a:lnTo>
                  <a:pt x="75" y="495"/>
                </a:lnTo>
                <a:lnTo>
                  <a:pt x="165" y="570"/>
                </a:lnTo>
                <a:lnTo>
                  <a:pt x="300" y="585"/>
                </a:lnTo>
                <a:lnTo>
                  <a:pt x="480" y="555"/>
                </a:lnTo>
                <a:lnTo>
                  <a:pt x="585" y="420"/>
                </a:lnTo>
                <a:lnTo>
                  <a:pt x="555" y="270"/>
                </a:lnTo>
                <a:lnTo>
                  <a:pt x="480" y="180"/>
                </a:lnTo>
                <a:lnTo>
                  <a:pt x="405" y="120"/>
                </a:lnTo>
                <a:lnTo>
                  <a:pt x="90" y="0"/>
                </a:lnTo>
              </a:path>
            </a:pathLst>
          </a:custGeom>
          <a:noFill/>
          <a:ln w="28575">
            <a:solidFill>
              <a:srgbClr val="FF0000"/>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cxnSp>
        <p:nvCxnSpPr>
          <p:cNvPr id="85" name="直接箭头连接符 84"/>
          <p:cNvCxnSpPr/>
          <p:nvPr/>
        </p:nvCxnSpPr>
        <p:spPr>
          <a:xfrm flipH="1">
            <a:off x="625540" y="3829477"/>
            <a:ext cx="408427" cy="55661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a:off x="1039876" y="3836964"/>
            <a:ext cx="9951" cy="54912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a:stCxn id="12" idx="2"/>
          </p:cNvCxnSpPr>
          <p:nvPr/>
        </p:nvCxnSpPr>
        <p:spPr>
          <a:xfrm>
            <a:off x="1060000" y="3843140"/>
            <a:ext cx="355437" cy="5418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3" name="文本框 92"/>
          <p:cNvSpPr txBox="1"/>
          <p:nvPr/>
        </p:nvSpPr>
        <p:spPr>
          <a:xfrm>
            <a:off x="6354740" y="5735961"/>
            <a:ext cx="304420" cy="558615"/>
          </a:xfrm>
          <a:prstGeom prst="rect">
            <a:avLst/>
          </a:prstGeom>
          <a:noFill/>
        </p:spPr>
        <p:txBody>
          <a:bodyPr wrap="square" rtlCol="0">
            <a:spAutoFit/>
          </a:bodyPr>
          <a:lstStyle/>
          <a:p>
            <a:r>
              <a:rPr lang="en-US" altLang="zh-CN" dirty="0"/>
              <a:t>a</a:t>
            </a:r>
            <a:endParaRPr lang="zh-CN" altLang="en-US" dirty="0"/>
          </a:p>
        </p:txBody>
      </p:sp>
      <p:sp>
        <p:nvSpPr>
          <p:cNvPr id="94" name="文本框 93"/>
          <p:cNvSpPr txBox="1"/>
          <p:nvPr/>
        </p:nvSpPr>
        <p:spPr>
          <a:xfrm>
            <a:off x="6835727" y="5747089"/>
            <a:ext cx="471835" cy="461665"/>
          </a:xfrm>
          <a:prstGeom prst="rect">
            <a:avLst/>
          </a:prstGeom>
          <a:noFill/>
        </p:spPr>
        <p:txBody>
          <a:bodyPr wrap="square" rtlCol="0">
            <a:spAutoFit/>
          </a:bodyPr>
          <a:lstStyle/>
          <a:p>
            <a:r>
              <a:rPr lang="en-US" altLang="zh-CN" dirty="0"/>
              <a:t>b</a:t>
            </a:r>
            <a:endParaRPr lang="zh-CN" altLang="en-US" dirty="0"/>
          </a:p>
        </p:txBody>
      </p:sp>
      <p:sp>
        <p:nvSpPr>
          <p:cNvPr id="95" name="文本框 94"/>
          <p:cNvSpPr txBox="1"/>
          <p:nvPr/>
        </p:nvSpPr>
        <p:spPr>
          <a:xfrm>
            <a:off x="7267013" y="5752563"/>
            <a:ext cx="337943" cy="507832"/>
          </a:xfrm>
          <a:prstGeom prst="rect">
            <a:avLst/>
          </a:prstGeom>
          <a:noFill/>
        </p:spPr>
        <p:txBody>
          <a:bodyPr wrap="square" rtlCol="0">
            <a:spAutoFit/>
          </a:bodyPr>
          <a:lstStyle/>
          <a:p>
            <a:r>
              <a:rPr lang="en-US" altLang="zh-CN" dirty="0"/>
              <a:t>c</a:t>
            </a:r>
            <a:endParaRPr lang="zh-CN" altLang="en-US" dirty="0"/>
          </a:p>
        </p:txBody>
      </p:sp>
      <p:cxnSp>
        <p:nvCxnSpPr>
          <p:cNvPr id="96" name="直接连接符 95"/>
          <p:cNvCxnSpPr/>
          <p:nvPr/>
        </p:nvCxnSpPr>
        <p:spPr>
          <a:xfrm flipH="1">
            <a:off x="6607269" y="5171231"/>
            <a:ext cx="426209" cy="678499"/>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97" name="直接连接符 96"/>
          <p:cNvCxnSpPr/>
          <p:nvPr/>
        </p:nvCxnSpPr>
        <p:spPr>
          <a:xfrm flipH="1">
            <a:off x="6987367" y="5171231"/>
            <a:ext cx="59389" cy="654770"/>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98" name="直接连接符 97"/>
          <p:cNvCxnSpPr/>
          <p:nvPr/>
        </p:nvCxnSpPr>
        <p:spPr>
          <a:xfrm>
            <a:off x="7051098" y="5178343"/>
            <a:ext cx="295895" cy="666628"/>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00" name="文本框 99"/>
          <p:cNvSpPr txBox="1"/>
          <p:nvPr/>
        </p:nvSpPr>
        <p:spPr>
          <a:xfrm>
            <a:off x="7563097" y="5736864"/>
            <a:ext cx="304420" cy="381541"/>
          </a:xfrm>
          <a:prstGeom prst="rect">
            <a:avLst/>
          </a:prstGeom>
          <a:noFill/>
        </p:spPr>
        <p:txBody>
          <a:bodyPr wrap="square" rtlCol="0">
            <a:spAutoFit/>
          </a:bodyPr>
          <a:lstStyle/>
          <a:p>
            <a:r>
              <a:rPr lang="en-US" altLang="zh-CN" dirty="0"/>
              <a:t>d</a:t>
            </a:r>
            <a:endParaRPr lang="zh-CN" altLang="en-US" dirty="0"/>
          </a:p>
        </p:txBody>
      </p:sp>
      <p:sp>
        <p:nvSpPr>
          <p:cNvPr id="101" name="文本框 100"/>
          <p:cNvSpPr txBox="1"/>
          <p:nvPr/>
        </p:nvSpPr>
        <p:spPr>
          <a:xfrm>
            <a:off x="8012701" y="5728119"/>
            <a:ext cx="471835" cy="461665"/>
          </a:xfrm>
          <a:prstGeom prst="rect">
            <a:avLst/>
          </a:prstGeom>
          <a:noFill/>
        </p:spPr>
        <p:txBody>
          <a:bodyPr wrap="square" rtlCol="0">
            <a:spAutoFit/>
          </a:bodyPr>
          <a:lstStyle/>
          <a:p>
            <a:r>
              <a:rPr lang="en-US" altLang="zh-CN" dirty="0"/>
              <a:t>e</a:t>
            </a:r>
            <a:endParaRPr lang="zh-CN" altLang="en-US" dirty="0"/>
          </a:p>
        </p:txBody>
      </p:sp>
      <p:cxnSp>
        <p:nvCxnSpPr>
          <p:cNvPr id="102" name="直接连接符 101"/>
          <p:cNvCxnSpPr/>
          <p:nvPr/>
        </p:nvCxnSpPr>
        <p:spPr>
          <a:xfrm flipH="1">
            <a:off x="7784244" y="5140679"/>
            <a:ext cx="373045" cy="690081"/>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03" name="直接连接符 102"/>
          <p:cNvCxnSpPr/>
          <p:nvPr/>
        </p:nvCxnSpPr>
        <p:spPr>
          <a:xfrm>
            <a:off x="8157289" y="5140679"/>
            <a:ext cx="7052" cy="666352"/>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04" name="直接连接符 103"/>
          <p:cNvCxnSpPr/>
          <p:nvPr/>
        </p:nvCxnSpPr>
        <p:spPr>
          <a:xfrm>
            <a:off x="8157289" y="5171231"/>
            <a:ext cx="366678" cy="654770"/>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10" name="文本框 109"/>
          <p:cNvSpPr txBox="1"/>
          <p:nvPr/>
        </p:nvSpPr>
        <p:spPr>
          <a:xfrm>
            <a:off x="7364299" y="4294531"/>
            <a:ext cx="471835" cy="461665"/>
          </a:xfrm>
          <a:prstGeom prst="rect">
            <a:avLst/>
          </a:prstGeom>
          <a:noFill/>
        </p:spPr>
        <p:txBody>
          <a:bodyPr wrap="square" rtlCol="0">
            <a:spAutoFit/>
          </a:bodyPr>
          <a:lstStyle/>
          <a:p>
            <a:r>
              <a:rPr lang="en-US" altLang="zh-CN" dirty="0"/>
              <a:t>F</a:t>
            </a:r>
            <a:endParaRPr lang="zh-CN" altLang="en-US" dirty="0"/>
          </a:p>
        </p:txBody>
      </p:sp>
      <p:cxnSp>
        <p:nvCxnSpPr>
          <p:cNvPr id="111" name="直接连接符 110"/>
          <p:cNvCxnSpPr/>
          <p:nvPr/>
        </p:nvCxnSpPr>
        <p:spPr>
          <a:xfrm flipH="1">
            <a:off x="7079587" y="4622238"/>
            <a:ext cx="476459" cy="511854"/>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12" name="直接连接符 111"/>
          <p:cNvCxnSpPr/>
          <p:nvPr/>
        </p:nvCxnSpPr>
        <p:spPr>
          <a:xfrm>
            <a:off x="7563097" y="4622238"/>
            <a:ext cx="557749" cy="469294"/>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13" name="直接连接符 112"/>
          <p:cNvCxnSpPr/>
          <p:nvPr/>
        </p:nvCxnSpPr>
        <p:spPr>
          <a:xfrm>
            <a:off x="7556045" y="4622238"/>
            <a:ext cx="7052" cy="518441"/>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14" name="文本框 113"/>
          <p:cNvSpPr txBox="1"/>
          <p:nvPr/>
        </p:nvSpPr>
        <p:spPr>
          <a:xfrm>
            <a:off x="8405277" y="5715772"/>
            <a:ext cx="471835" cy="461665"/>
          </a:xfrm>
          <a:prstGeom prst="rect">
            <a:avLst/>
          </a:prstGeom>
          <a:noFill/>
        </p:spPr>
        <p:txBody>
          <a:bodyPr wrap="square" rtlCol="0">
            <a:spAutoFit/>
          </a:bodyPr>
          <a:lstStyle/>
          <a:p>
            <a:r>
              <a:rPr lang="en-US" altLang="zh-CN" dirty="0"/>
              <a:t>f</a:t>
            </a:r>
            <a:endParaRPr lang="zh-CN" altLang="en-US" dirty="0"/>
          </a:p>
        </p:txBody>
      </p:sp>
      <p:sp>
        <p:nvSpPr>
          <p:cNvPr id="122" name="文本框 121"/>
          <p:cNvSpPr txBox="1"/>
          <p:nvPr/>
        </p:nvSpPr>
        <p:spPr>
          <a:xfrm>
            <a:off x="7399592" y="3359661"/>
            <a:ext cx="1012115" cy="369332"/>
          </a:xfrm>
          <a:prstGeom prst="rect">
            <a:avLst/>
          </a:prstGeom>
          <a:noFill/>
        </p:spPr>
        <p:txBody>
          <a:bodyPr wrap="square" rtlCol="0">
            <a:spAutoFit/>
          </a:bodyPr>
          <a:lstStyle/>
          <a:p>
            <a:r>
              <a:rPr lang="en-US" altLang="zh-CN" b="1" dirty="0">
                <a:latin typeface="Times New Roman" panose="02020603050405020304" pitchFamily="18" charset="0"/>
                <a:ea typeface="宋体" panose="02010600030101010101" pitchFamily="2" charset="-122"/>
                <a:cs typeface="Times New Roman" panose="02020603050405020304" pitchFamily="18" charset="0"/>
              </a:rPr>
              <a:t>E</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灯片编号占位符 15"/>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sp>
        <p:nvSpPr>
          <p:cNvPr id="73" name="矩形 72"/>
          <p:cNvSpPr/>
          <p:nvPr/>
        </p:nvSpPr>
        <p:spPr>
          <a:xfrm>
            <a:off x="407334" y="943885"/>
            <a:ext cx="3969356" cy="523220"/>
          </a:xfrm>
          <a:prstGeom prst="rect">
            <a:avLst/>
          </a:prstGeom>
        </p:spPr>
        <p:txBody>
          <a:bodyPr wrap="none">
            <a:spAutoFit/>
          </a:bodyPr>
          <a:lstStyle/>
          <a:p>
            <a:pPr>
              <a:buClr>
                <a:srgbClr val="FF0000"/>
              </a:buClr>
            </a:pPr>
            <a:r>
              <a:rPr lang="en-US" altLang="zh-CN" sz="2800" b="1" dirty="0">
                <a:solidFill>
                  <a:srgbClr val="FF0000"/>
                </a:solidFill>
              </a:rPr>
              <a:t>6</a:t>
            </a:r>
            <a:r>
              <a:rPr lang="zh-CN" altLang="en-US" sz="2800" b="1" dirty="0" smtClean="0">
                <a:solidFill>
                  <a:srgbClr val="FF0000"/>
                </a:solidFill>
              </a:rPr>
              <a:t>.</a:t>
            </a:r>
            <a:r>
              <a:rPr lang="en-US" altLang="zh-CN" sz="2800" b="1" dirty="0" smtClean="0">
                <a:solidFill>
                  <a:srgbClr val="FF0000"/>
                </a:solidFill>
              </a:rPr>
              <a:t>3</a:t>
            </a:r>
            <a:r>
              <a:rPr lang="zh-CN" altLang="en-US" sz="2800" b="1" dirty="0" smtClean="0">
                <a:solidFill>
                  <a:srgbClr val="FF0000"/>
                </a:solidFill>
              </a:rPr>
              <a:t>.1 广义</a:t>
            </a:r>
            <a:r>
              <a:rPr lang="zh-CN" altLang="en-US" sz="2800" b="1" dirty="0">
                <a:solidFill>
                  <a:srgbClr val="FF0000"/>
                </a:solidFill>
              </a:rPr>
              <a:t>表的基本概念</a:t>
            </a:r>
            <a:endParaRPr lang="zh-CN" altLang="en-US" sz="2800" b="1" dirty="0">
              <a:solidFill>
                <a:srgbClr val="FF0000"/>
              </a:solidFill>
            </a:endParaRPr>
          </a:p>
        </p:txBody>
      </p:sp>
      <p:grpSp>
        <p:nvGrpSpPr>
          <p:cNvPr id="74" name="组合 73"/>
          <p:cNvGrpSpPr/>
          <p:nvPr/>
        </p:nvGrpSpPr>
        <p:grpSpPr>
          <a:xfrm>
            <a:off x="539552" y="116632"/>
            <a:ext cx="3757930" cy="664430"/>
            <a:chOff x="999690" y="5025490"/>
            <a:chExt cx="3757930" cy="664430"/>
          </a:xfrm>
        </p:grpSpPr>
        <p:sp>
          <p:nvSpPr>
            <p:cNvPr id="75"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6" name="TextBox 6"/>
            <p:cNvSpPr txBox="1">
              <a:spLocks noChangeArrowheads="1"/>
            </p:cNvSpPr>
            <p:nvPr/>
          </p:nvSpPr>
          <p:spPr bwMode="auto">
            <a:xfrm>
              <a:off x="1250380" y="5025490"/>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6.3 </a:t>
              </a:r>
              <a:r>
                <a:rPr lang="zh-CN" altLang="en-US" sz="3600" b="1" dirty="0" smtClean="0">
                  <a:latin typeface="Times New Roman" panose="02020603050405020304" pitchFamily="18" charset="0"/>
                  <a:ea typeface="黑体" panose="02010609060101010101" pitchFamily="49" charset="-122"/>
                </a:rPr>
                <a:t>广义表</a:t>
              </a:r>
              <a:endParaRPr lang="zh-CN" altLang="en-US" sz="3600" b="1" dirty="0">
                <a:latin typeface="Times New Roman" panose="02020603050405020304" pitchFamily="18" charset="0"/>
                <a:ea typeface="黑体" panose="02010609060101010101" pitchFamily="49" charset="-122"/>
              </a:endParaRPr>
            </a:p>
          </p:txBody>
        </p:sp>
        <p:pic>
          <p:nvPicPr>
            <p:cNvPr id="77" name="图片 76"/>
            <p:cNvPicPr>
              <a:picLocks noChangeAspect="1"/>
            </p:cNvPicPr>
            <p:nvPr/>
          </p:nvPicPr>
          <p:blipFill>
            <a:blip r:embed="rId1" cstate="print"/>
            <a:stretch>
              <a:fillRect/>
            </a:stretch>
          </p:blipFill>
          <p:spPr>
            <a:xfrm>
              <a:off x="1199659" y="5205012"/>
              <a:ext cx="420013" cy="322083"/>
            </a:xfrm>
            <a:prstGeom prst="rect">
              <a:avLst/>
            </a:prstGeom>
          </p:spPr>
        </p:pic>
      </p:grpSp>
      <p:cxnSp>
        <p:nvCxnSpPr>
          <p:cNvPr id="92" name="直接连接符 91"/>
          <p:cNvCxnSpPr/>
          <p:nvPr/>
        </p:nvCxnSpPr>
        <p:spPr>
          <a:xfrm>
            <a:off x="5446214" y="5067610"/>
            <a:ext cx="7052" cy="549126"/>
          </a:xfrm>
          <a:prstGeom prst="line">
            <a:avLst/>
          </a:prstGeom>
          <a:ln w="28575">
            <a:solidFill>
              <a:srgbClr val="FF0000"/>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4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2"/>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5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57"/>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58"/>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5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64"/>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65"/>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9"/>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70"/>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72"/>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79"/>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7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0"/>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22"/>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1"/>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93"/>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94"/>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95"/>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96"/>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97"/>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9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00"/>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01"/>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102"/>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103"/>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104"/>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10"/>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111"/>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12"/>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113"/>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14"/>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7" grpId="0"/>
      <p:bldP spid="8" grpId="0"/>
      <p:bldP spid="9" grpId="0"/>
      <p:bldP spid="10" grpId="0"/>
      <p:bldP spid="11" grpId="0"/>
      <p:bldP spid="12" grpId="0"/>
      <p:bldP spid="13" grpId="0"/>
      <p:bldP spid="14" grpId="0"/>
      <p:bldP spid="15" grpId="0"/>
      <p:bldP spid="26" grpId="0"/>
      <p:bldP spid="27" grpId="0"/>
      <p:bldP spid="28" grpId="0"/>
      <p:bldP spid="34" grpId="0"/>
      <p:bldP spid="36" grpId="0"/>
      <p:bldP spid="42" grpId="0"/>
      <p:bldP spid="43" grpId="0"/>
      <p:bldP spid="44" grpId="0"/>
      <p:bldP spid="45" grpId="0"/>
      <p:bldP spid="49" grpId="0"/>
      <p:bldP spid="50" grpId="0"/>
      <p:bldP spid="51" grpId="0"/>
      <p:bldP spid="55" grpId="0"/>
      <p:bldP spid="56" grpId="0"/>
      <p:bldP spid="57" grpId="0"/>
      <p:bldP spid="60" grpId="0"/>
      <p:bldP spid="70" grpId="0"/>
      <p:bldP spid="71" grpId="0"/>
      <p:bldP spid="79" grpId="0" animBg="1"/>
      <p:bldP spid="93" grpId="0"/>
      <p:bldP spid="94" grpId="0"/>
      <p:bldP spid="95" grpId="0"/>
      <p:bldP spid="100" grpId="0"/>
      <p:bldP spid="101" grpId="0"/>
      <p:bldP spid="110" grpId="0"/>
      <p:bldP spid="114" grpId="0"/>
      <p:bldP spid="12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4905" y="764704"/>
            <a:ext cx="8229600" cy="660930"/>
          </a:xfrm>
        </p:spPr>
        <p:txBody>
          <a:bodyPr>
            <a:normAutofit/>
          </a:bodyPr>
          <a:lstStyle/>
          <a:p>
            <a:pPr marL="571500" indent="-571500">
              <a:buClr>
                <a:srgbClr val="FF0000"/>
              </a:buClr>
            </a:pPr>
            <a:r>
              <a:rPr lang="en-US" altLang="zh-CN" sz="2800" dirty="0" smtClean="0">
                <a:solidFill>
                  <a:srgbClr val="FF0000"/>
                </a:solidFill>
                <a:latin typeface="Arial" panose="020B0604020202020204" pitchFamily="34" charset="0"/>
                <a:ea typeface="宋体" panose="02010600030101010101" pitchFamily="2" charset="-122"/>
                <a:cs typeface="+mn-cs"/>
                <a:sym typeface="+mn-ea"/>
              </a:rPr>
              <a:t>6.2.2 </a:t>
            </a:r>
            <a:r>
              <a:rPr lang="zh-CN" altLang="en-US" sz="2800" dirty="0" smtClean="0">
                <a:solidFill>
                  <a:srgbClr val="FF0000"/>
                </a:solidFill>
                <a:latin typeface="Arial" panose="020B0604020202020204" pitchFamily="34" charset="0"/>
                <a:ea typeface="宋体" panose="02010600030101010101" pitchFamily="2" charset="-122"/>
                <a:cs typeface="+mn-cs"/>
                <a:sym typeface="+mn-ea"/>
              </a:rPr>
              <a:t>广义</a:t>
            </a:r>
            <a:r>
              <a:rPr lang="zh-CN" altLang="en-US" sz="2800" dirty="0">
                <a:solidFill>
                  <a:srgbClr val="FF0000"/>
                </a:solidFill>
                <a:latin typeface="Arial" panose="020B0604020202020204" pitchFamily="34" charset="0"/>
                <a:ea typeface="宋体" panose="02010600030101010101" pitchFamily="2" charset="-122"/>
                <a:cs typeface="+mn-cs"/>
                <a:sym typeface="+mn-ea"/>
              </a:rPr>
              <a:t>表的基本运算</a:t>
            </a:r>
            <a:endParaRPr lang="zh-CN" altLang="en-US" sz="2800" dirty="0">
              <a:solidFill>
                <a:srgbClr val="FF0000"/>
              </a:solidFill>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611188" y="1341438"/>
            <a:ext cx="7993062" cy="4751858"/>
          </a:xfrm>
        </p:spPr>
        <p:txBody>
          <a:bodyPr/>
          <a:lstStyle/>
          <a:p>
            <a:pPr>
              <a:buClr>
                <a:srgbClr val="FF0000"/>
              </a:buClr>
              <a:buFont typeface="Wingdings" panose="05000000000000000000" pitchFamily="2" charset="2"/>
              <a:buChar char="p"/>
            </a:pPr>
            <a:r>
              <a:rPr lang="zh-CN" altLang="en-US" sz="2000" b="1" dirty="0" smtClean="0">
                <a:latin typeface="仿宋" panose="02010609060101010101" pitchFamily="49" charset="-122"/>
                <a:cs typeface="宋体" panose="02010600030101010101" pitchFamily="2" charset="-122"/>
                <a:sym typeface="+mn-ea"/>
              </a:rPr>
              <a:t>例如：前</a:t>
            </a:r>
            <a:r>
              <a:rPr lang="zh-CN" altLang="en-US" sz="2000" b="1" dirty="0">
                <a:latin typeface="仿宋" panose="02010609060101010101" pitchFamily="49" charset="-122"/>
                <a:cs typeface="宋体" panose="02010600030101010101" pitchFamily="2" charset="-122"/>
                <a:sym typeface="+mn-ea"/>
              </a:rPr>
              <a:t>列表中各</a:t>
            </a:r>
            <a:r>
              <a:rPr lang="zh-CN" altLang="en-US" sz="2000" b="1" dirty="0" smtClean="0">
                <a:latin typeface="仿宋" panose="02010609060101010101" pitchFamily="49" charset="-122"/>
                <a:cs typeface="宋体" panose="02010600030101010101" pitchFamily="2" charset="-122"/>
                <a:sym typeface="+mn-ea"/>
              </a:rPr>
              <a:t>广义</a:t>
            </a:r>
            <a:r>
              <a:rPr lang="zh-CN" altLang="en-US" sz="2000" b="1" dirty="0">
                <a:cs typeface="宋体" panose="02010600030101010101" pitchFamily="2" charset="-122"/>
                <a:sym typeface="+mn-ea"/>
              </a:rPr>
              <a:t>对广义表的运算可以定义多个，其中有两个最基本的运算，即</a:t>
            </a:r>
            <a:r>
              <a:rPr lang="zh-CN" altLang="en-US" sz="2000" b="1" dirty="0">
                <a:solidFill>
                  <a:srgbClr val="0000FF"/>
                </a:solidFill>
                <a:cs typeface="黑体" panose="02010609060101010101" pitchFamily="49" charset="-122"/>
                <a:sym typeface="+mn-ea"/>
              </a:rPr>
              <a:t>取表头</a:t>
            </a:r>
            <a:r>
              <a:rPr lang="zh-CN" altLang="en-US" sz="2000" b="1" dirty="0">
                <a:cs typeface="宋体" panose="02010600030101010101" pitchFamily="2" charset="-122"/>
                <a:sym typeface="+mn-ea"/>
              </a:rPr>
              <a:t>和</a:t>
            </a:r>
            <a:r>
              <a:rPr lang="zh-CN" altLang="en-US" sz="2000" b="1" dirty="0">
                <a:solidFill>
                  <a:srgbClr val="0000FF"/>
                </a:solidFill>
                <a:cs typeface="黑体" panose="02010609060101010101" pitchFamily="49" charset="-122"/>
                <a:sym typeface="+mn-ea"/>
              </a:rPr>
              <a:t>取表尾</a:t>
            </a:r>
            <a:r>
              <a:rPr lang="zh-CN" altLang="en-US" sz="2000" b="1" dirty="0">
                <a:cs typeface="宋体" panose="02010600030101010101" pitchFamily="2" charset="-122"/>
                <a:sym typeface="+mn-ea"/>
              </a:rPr>
              <a:t>运算。</a:t>
            </a:r>
            <a:endParaRPr lang="zh-CN" altLang="en-US" sz="2000" b="1" dirty="0">
              <a:cs typeface="宋体" panose="02010600030101010101" pitchFamily="2" charset="-122"/>
              <a:sym typeface="+mn-ea"/>
            </a:endParaRPr>
          </a:p>
          <a:p>
            <a:pPr lvl="1">
              <a:buClr>
                <a:srgbClr val="FF0000"/>
              </a:buClr>
              <a:buFont typeface="Wingdings" panose="05000000000000000000" pitchFamily="2" charset="2"/>
              <a:buChar char="u"/>
            </a:pPr>
            <a:r>
              <a:rPr lang="en-US" altLang="zh-CN" sz="2000" b="1" dirty="0">
                <a:cs typeface="宋体" panose="02010600030101010101" pitchFamily="2" charset="-122"/>
                <a:sym typeface="+mn-ea"/>
              </a:rPr>
              <a:t>(1)</a:t>
            </a:r>
            <a:r>
              <a:rPr lang="zh-CN" altLang="en-US" sz="2000" b="1" dirty="0">
                <a:solidFill>
                  <a:srgbClr val="FF0000"/>
                </a:solidFill>
                <a:cs typeface="宋体" panose="02010600030101010101" pitchFamily="2" charset="-122"/>
                <a:sym typeface="+mn-ea"/>
              </a:rPr>
              <a:t>取表头</a:t>
            </a:r>
            <a:r>
              <a:rPr lang="zh-CN" altLang="en-US" sz="2000" b="1" dirty="0">
                <a:cs typeface="宋体" panose="02010600030101010101" pitchFamily="2" charset="-122"/>
                <a:sym typeface="+mn-ea"/>
              </a:rPr>
              <a:t>：可用函数</a:t>
            </a:r>
            <a:r>
              <a:rPr lang="en-US" altLang="zh-CN" sz="2000" b="1" dirty="0">
                <a:solidFill>
                  <a:srgbClr val="0000FF"/>
                </a:solidFill>
                <a:cs typeface="宋体" panose="02010600030101010101" pitchFamily="2" charset="-122"/>
                <a:sym typeface="+mn-ea"/>
              </a:rPr>
              <a:t>head(</a:t>
            </a:r>
            <a:r>
              <a:rPr lang="en-US" altLang="zh-CN" sz="2000" b="1" i="1" dirty="0">
                <a:solidFill>
                  <a:srgbClr val="0000FF"/>
                </a:solidFill>
                <a:cs typeface="宋体" panose="02010600030101010101" pitchFamily="2" charset="-122"/>
                <a:sym typeface="+mn-ea"/>
              </a:rPr>
              <a:t>L</a:t>
            </a:r>
            <a:r>
              <a:rPr lang="en-US" altLang="zh-CN" sz="2000" b="1" dirty="0">
                <a:solidFill>
                  <a:srgbClr val="0000FF"/>
                </a:solidFill>
                <a:cs typeface="宋体" panose="02010600030101010101" pitchFamily="2" charset="-122"/>
                <a:sym typeface="+mn-ea"/>
              </a:rPr>
              <a:t>)</a:t>
            </a:r>
            <a:r>
              <a:rPr lang="zh-CN" altLang="en-US" sz="2000" b="1" dirty="0">
                <a:cs typeface="宋体" panose="02010600030101010101" pitchFamily="2" charset="-122"/>
                <a:sym typeface="+mn-ea"/>
              </a:rPr>
              <a:t>表示</a:t>
            </a:r>
            <a:endParaRPr lang="en-US" altLang="zh-CN" sz="2000" b="1" dirty="0">
              <a:cs typeface="宋体" panose="02010600030101010101" pitchFamily="2" charset="-122"/>
              <a:sym typeface="+mn-ea"/>
            </a:endParaRPr>
          </a:p>
          <a:p>
            <a:pPr marL="0" indent="0">
              <a:buNone/>
            </a:pPr>
            <a:r>
              <a:rPr lang="zh-CN" altLang="en-US" sz="2000" b="1" dirty="0" smtClean="0">
                <a:cs typeface="宋体" panose="02010600030101010101" pitchFamily="2" charset="-122"/>
                <a:sym typeface="+mn-ea"/>
              </a:rPr>
              <a:t>                    </a:t>
            </a:r>
            <a:r>
              <a:rPr lang="zh-CN" altLang="en-US" sz="2000" b="1" dirty="0" smtClean="0">
                <a:solidFill>
                  <a:srgbClr val="FF0000"/>
                </a:solidFill>
                <a:cs typeface="宋体" panose="02010600030101010101" pitchFamily="2" charset="-122"/>
                <a:sym typeface="+mn-ea"/>
              </a:rPr>
              <a:t>功能</a:t>
            </a:r>
            <a:r>
              <a:rPr lang="zh-CN" altLang="en-US" sz="2000" b="1" dirty="0" smtClean="0">
                <a:cs typeface="宋体" panose="02010600030101010101" pitchFamily="2" charset="-122"/>
                <a:sym typeface="+mn-ea"/>
              </a:rPr>
              <a:t>：返回</a:t>
            </a:r>
            <a:r>
              <a:rPr lang="zh-CN" altLang="en-US" sz="2000" b="1" dirty="0">
                <a:cs typeface="宋体" panose="02010600030101010101" pitchFamily="2" charset="-122"/>
                <a:sym typeface="+mn-ea"/>
              </a:rPr>
              <a:t>广义表</a:t>
            </a:r>
            <a:r>
              <a:rPr lang="en-US" altLang="zh-CN" sz="2000" b="1" i="1" dirty="0">
                <a:cs typeface="CG Times" charset="0"/>
                <a:sym typeface="+mn-ea"/>
              </a:rPr>
              <a:t>L</a:t>
            </a:r>
            <a:r>
              <a:rPr lang="zh-CN" altLang="en-US" sz="2000" b="1" dirty="0">
                <a:cs typeface="宋体" panose="02010600030101010101" pitchFamily="2" charset="-122"/>
                <a:sym typeface="+mn-ea"/>
              </a:rPr>
              <a:t>的第一个</a:t>
            </a:r>
            <a:r>
              <a:rPr lang="zh-CN" altLang="en-US" sz="2000" b="1" dirty="0">
                <a:solidFill>
                  <a:srgbClr val="FF0000"/>
                </a:solidFill>
                <a:cs typeface="宋体" panose="02010600030101010101" pitchFamily="2" charset="-122"/>
                <a:sym typeface="+mn-ea"/>
              </a:rPr>
              <a:t>元素</a:t>
            </a:r>
            <a:r>
              <a:rPr lang="zh-CN" altLang="en-US" sz="2000" b="1" dirty="0">
                <a:cs typeface="宋体" panose="02010600030101010101" pitchFamily="2" charset="-122"/>
                <a:sym typeface="+mn-ea"/>
              </a:rPr>
              <a:t>。</a:t>
            </a:r>
            <a:endParaRPr lang="zh-CN" altLang="en-US" sz="2000" b="1" dirty="0">
              <a:cs typeface="宋体" panose="02010600030101010101" pitchFamily="2" charset="-122"/>
              <a:sym typeface="+mn-ea"/>
            </a:endParaRPr>
          </a:p>
          <a:p>
            <a:pPr lvl="1">
              <a:buClr>
                <a:srgbClr val="FF0000"/>
              </a:buClr>
              <a:buFont typeface="Wingdings" panose="05000000000000000000" pitchFamily="2" charset="2"/>
              <a:buChar char="u"/>
            </a:pPr>
            <a:r>
              <a:rPr lang="en-US" altLang="zh-CN" sz="2000" b="1" dirty="0">
                <a:cs typeface="宋体" panose="02010600030101010101" pitchFamily="2" charset="-122"/>
                <a:sym typeface="+mn-ea"/>
              </a:rPr>
              <a:t>(2)</a:t>
            </a:r>
            <a:r>
              <a:rPr lang="zh-CN" altLang="en-US" sz="2000" b="1" dirty="0">
                <a:solidFill>
                  <a:srgbClr val="FF0000"/>
                </a:solidFill>
                <a:cs typeface="宋体" panose="02010600030101010101" pitchFamily="2" charset="-122"/>
                <a:sym typeface="+mn-ea"/>
              </a:rPr>
              <a:t>取表尾</a:t>
            </a:r>
            <a:r>
              <a:rPr lang="zh-CN" altLang="en-US" sz="2000" b="1" dirty="0">
                <a:cs typeface="宋体" panose="02010600030101010101" pitchFamily="2" charset="-122"/>
                <a:sym typeface="+mn-ea"/>
              </a:rPr>
              <a:t>：可用函数</a:t>
            </a:r>
            <a:r>
              <a:rPr lang="en-US" altLang="zh-CN" sz="2000" b="1" dirty="0">
                <a:solidFill>
                  <a:srgbClr val="0000FF"/>
                </a:solidFill>
                <a:cs typeface="宋体" panose="02010600030101010101" pitchFamily="2" charset="-122"/>
                <a:sym typeface="+mn-ea"/>
              </a:rPr>
              <a:t>tail(</a:t>
            </a:r>
            <a:r>
              <a:rPr lang="en-US" altLang="zh-CN" sz="2000" b="1" i="1" dirty="0">
                <a:solidFill>
                  <a:srgbClr val="0000FF"/>
                </a:solidFill>
                <a:cs typeface="宋体" panose="02010600030101010101" pitchFamily="2" charset="-122"/>
                <a:sym typeface="+mn-ea"/>
              </a:rPr>
              <a:t>L</a:t>
            </a:r>
            <a:r>
              <a:rPr lang="en-US" altLang="zh-CN" sz="2000" b="1" dirty="0">
                <a:solidFill>
                  <a:srgbClr val="0000FF"/>
                </a:solidFill>
                <a:cs typeface="宋体" panose="02010600030101010101" pitchFamily="2" charset="-122"/>
                <a:sym typeface="+mn-ea"/>
              </a:rPr>
              <a:t>)</a:t>
            </a:r>
            <a:r>
              <a:rPr lang="zh-CN" altLang="en-US" sz="2000" b="1" dirty="0">
                <a:cs typeface="宋体" panose="02010600030101010101" pitchFamily="2" charset="-122"/>
                <a:sym typeface="+mn-ea"/>
              </a:rPr>
              <a:t>表示，</a:t>
            </a:r>
            <a:endParaRPr lang="en-US" altLang="zh-CN" sz="2000" b="1" dirty="0">
              <a:cs typeface="宋体" panose="02010600030101010101" pitchFamily="2" charset="-122"/>
              <a:sym typeface="+mn-ea"/>
            </a:endParaRPr>
          </a:p>
          <a:p>
            <a:pPr marL="471805" lvl="1" indent="0">
              <a:buNone/>
            </a:pPr>
            <a:r>
              <a:rPr lang="en-US" altLang="zh-CN" sz="2000" b="1" dirty="0">
                <a:cs typeface="宋体" panose="02010600030101010101" pitchFamily="2" charset="-122"/>
                <a:sym typeface="+mn-ea"/>
              </a:rPr>
              <a:t>       </a:t>
            </a:r>
            <a:r>
              <a:rPr lang="en-US" altLang="zh-CN" sz="2000" b="1" dirty="0" smtClean="0">
                <a:cs typeface="宋体" panose="02010600030101010101" pitchFamily="2" charset="-122"/>
                <a:sym typeface="+mn-ea"/>
              </a:rPr>
              <a:t>      </a:t>
            </a:r>
            <a:r>
              <a:rPr lang="zh-CN" altLang="en-US" sz="2000" b="1" dirty="0" smtClean="0">
                <a:solidFill>
                  <a:srgbClr val="FF0000"/>
                </a:solidFill>
                <a:cs typeface="宋体" panose="02010600030101010101" pitchFamily="2" charset="-122"/>
                <a:sym typeface="+mn-ea"/>
              </a:rPr>
              <a:t>功能</a:t>
            </a:r>
            <a:r>
              <a:rPr lang="zh-CN" altLang="en-US" sz="2000" b="1" dirty="0">
                <a:cs typeface="宋体" panose="02010600030101010101" pitchFamily="2" charset="-122"/>
                <a:sym typeface="+mn-ea"/>
              </a:rPr>
              <a:t>：返回从广义表</a:t>
            </a:r>
            <a:r>
              <a:rPr lang="en-US" altLang="zh-CN" sz="2000" b="1" i="1" dirty="0">
                <a:cs typeface="CG Times" charset="0"/>
                <a:sym typeface="+mn-ea"/>
              </a:rPr>
              <a:t>L</a:t>
            </a:r>
            <a:r>
              <a:rPr lang="zh-CN" altLang="en-US" sz="2000" b="1" dirty="0">
                <a:cs typeface="宋体" panose="02010600030101010101" pitchFamily="2" charset="-122"/>
                <a:sym typeface="+mn-ea"/>
              </a:rPr>
              <a:t>中删除第一个元素后所得到的</a:t>
            </a:r>
            <a:r>
              <a:rPr lang="zh-CN" altLang="en-US" sz="2000" b="1" dirty="0">
                <a:solidFill>
                  <a:srgbClr val="FF0000"/>
                </a:solidFill>
                <a:cs typeface="宋体" panose="02010600030101010101" pitchFamily="2" charset="-122"/>
                <a:sym typeface="+mn-ea"/>
              </a:rPr>
              <a:t>表</a:t>
            </a:r>
            <a:r>
              <a:rPr lang="zh-CN" altLang="en-US" sz="2000" b="1" dirty="0">
                <a:cs typeface="宋体" panose="02010600030101010101" pitchFamily="2" charset="-122"/>
                <a:sym typeface="+mn-ea"/>
              </a:rPr>
              <a:t>。</a:t>
            </a:r>
            <a:endParaRPr lang="zh-CN" altLang="en-US" sz="2000" b="1" dirty="0">
              <a:cs typeface="宋体" panose="02010600030101010101" pitchFamily="2" charset="-122"/>
              <a:sym typeface="+mn-ea"/>
            </a:endParaRPr>
          </a:p>
          <a:p>
            <a:pPr>
              <a:buClr>
                <a:srgbClr val="FF0000"/>
              </a:buClr>
              <a:buFont typeface="Wingdings" panose="05000000000000000000" pitchFamily="2" charset="2"/>
              <a:buChar char="p"/>
            </a:pPr>
            <a:r>
              <a:rPr lang="zh-CN" altLang="en-US" sz="2000" b="1" dirty="0" smtClean="0">
                <a:latin typeface="仿宋" panose="02010609060101010101" pitchFamily="49" charset="-122"/>
                <a:cs typeface="宋体" panose="02010600030101010101" pitchFamily="2" charset="-122"/>
                <a:sym typeface="+mn-ea"/>
              </a:rPr>
              <a:t>表</a:t>
            </a:r>
            <a:r>
              <a:rPr lang="zh-CN" altLang="en-US" sz="2000" b="1" dirty="0">
                <a:latin typeface="仿宋" panose="02010609060101010101" pitchFamily="49" charset="-122"/>
                <a:cs typeface="宋体" panose="02010600030101010101" pitchFamily="2" charset="-122"/>
                <a:sym typeface="+mn-ea"/>
              </a:rPr>
              <a:t>的取表头、取表尾运算的相应结果如下：</a:t>
            </a:r>
            <a:endParaRPr lang="zh-CN" altLang="en-US" sz="2000" b="1" dirty="0"/>
          </a:p>
          <a:p>
            <a:endParaRPr lang="zh-CN" altLang="en-US" sz="2000" dirty="0"/>
          </a:p>
        </p:txBody>
      </p:sp>
      <p:sp>
        <p:nvSpPr>
          <p:cNvPr id="7" name="文本框 6"/>
          <p:cNvSpPr txBox="1"/>
          <p:nvPr/>
        </p:nvSpPr>
        <p:spPr>
          <a:xfrm>
            <a:off x="3411539" y="3936901"/>
            <a:ext cx="5328592" cy="2599690"/>
          </a:xfrm>
          <a:prstGeom prst="rect">
            <a:avLst/>
          </a:prstGeom>
          <a:noFill/>
        </p:spPr>
        <p:txBody>
          <a:bodyPr wrap="square" rtlCol="0">
            <a:spAutoFit/>
          </a:bodyPr>
          <a:lstStyle/>
          <a:p>
            <a:pPr>
              <a:spcBef>
                <a:spcPts val="600"/>
              </a:spcBef>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head(A)=a;   tail(A)=(</a:t>
            </a:r>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b,c</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strike="sngStrike"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b,c</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head(B)=a;  tail(B)=(b,(</a:t>
            </a:r>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a,d</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strike="sngStrike"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a,d</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head(C)=A;      tail(C)=(B)</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head(D)=d;      tail(D)=(D)</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head(E)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和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tail(E)</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不能求解</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head(F)= (</a:t>
            </a:r>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a,b,c</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tail(F)= ((),(</a:t>
            </a:r>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d,e,f</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8" name="文本框 7"/>
          <p:cNvSpPr txBox="1"/>
          <p:nvPr/>
        </p:nvSpPr>
        <p:spPr>
          <a:xfrm>
            <a:off x="1035860" y="3883041"/>
            <a:ext cx="3016003" cy="2323713"/>
          </a:xfrm>
          <a:prstGeom prst="rect">
            <a:avLst/>
          </a:prstGeom>
          <a:noFill/>
        </p:spPr>
        <p:txBody>
          <a:bodyPr wrap="square" rtlCol="0">
            <a:spAutoFit/>
          </a:bodyPr>
          <a:lstStyle/>
          <a:p>
            <a:pPr>
              <a:spcBef>
                <a:spcPts val="600"/>
              </a:spcBef>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a,b,c</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a,b</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a,d</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C=(A,B)</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D=(</a:t>
            </a:r>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d,D</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E=()</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a,b,c</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err="1">
                <a:latin typeface="Times New Roman" panose="02020603050405020304" pitchFamily="18" charset="0"/>
                <a:ea typeface="宋体" panose="02010600030101010101" pitchFamily="2" charset="-122"/>
                <a:cs typeface="Times New Roman" panose="02020603050405020304" pitchFamily="18" charset="0"/>
              </a:rPr>
              <a:t>d,e,f</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sp>
        <p:nvSpPr>
          <p:cNvPr id="6" name="灯片编号占位符 5"/>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grpSp>
        <p:nvGrpSpPr>
          <p:cNvPr id="9" name="组合 8"/>
          <p:cNvGrpSpPr/>
          <p:nvPr/>
        </p:nvGrpSpPr>
        <p:grpSpPr>
          <a:xfrm>
            <a:off x="539552" y="116632"/>
            <a:ext cx="3757930" cy="664430"/>
            <a:chOff x="999690" y="5025490"/>
            <a:chExt cx="3757930" cy="664430"/>
          </a:xfrm>
        </p:grpSpPr>
        <p:sp>
          <p:nvSpPr>
            <p:cNvPr id="10"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1250380" y="5025490"/>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6.3 </a:t>
              </a:r>
              <a:r>
                <a:rPr lang="zh-CN" altLang="en-US" sz="3600" b="1" dirty="0" smtClean="0">
                  <a:latin typeface="Times New Roman" panose="02020603050405020304" pitchFamily="18" charset="0"/>
                  <a:ea typeface="黑体" panose="02010609060101010101" pitchFamily="49" charset="-122"/>
                </a:rPr>
                <a:t>广义表</a:t>
              </a:r>
              <a:endParaRPr lang="zh-CN" altLang="en-US" sz="3600" b="1" dirty="0">
                <a:latin typeface="Times New Roman" panose="02020603050405020304" pitchFamily="18" charset="0"/>
                <a:ea typeface="黑体" panose="02010609060101010101" pitchFamily="49" charset="-122"/>
              </a:endParaRPr>
            </a:p>
          </p:txBody>
        </p:sp>
        <p:pic>
          <p:nvPicPr>
            <p:cNvPr id="12" name="图片 11"/>
            <p:cNvPicPr>
              <a:picLocks noChangeAspect="1"/>
            </p:cNvPicPr>
            <p:nvPr/>
          </p:nvPicPr>
          <p:blipFill>
            <a:blip r:embed="rId1" cstate="print"/>
            <a:stretch>
              <a:fillRect/>
            </a:stretch>
          </p:blipFill>
          <p:spPr>
            <a:xfrm>
              <a:off x="1199659" y="5205012"/>
              <a:ext cx="420013" cy="322083"/>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endParaRPr lang="zh-CN" altLang="en-US" dirty="0"/>
          </a:p>
        </p:txBody>
      </p:sp>
      <p:sp>
        <p:nvSpPr>
          <p:cNvPr id="3" name="内容占位符 2"/>
          <p:cNvSpPr>
            <a:spLocks noGrp="1"/>
          </p:cNvSpPr>
          <p:nvPr>
            <p:ph idx="1"/>
          </p:nvPr>
        </p:nvSpPr>
        <p:spPr>
          <a:xfrm>
            <a:off x="457200" y="1073805"/>
            <a:ext cx="8229600" cy="4678451"/>
          </a:xfrm>
        </p:spPr>
        <p:txBody>
          <a:bodyPr/>
          <a:lstStyle/>
          <a:p>
            <a:pPr>
              <a:buClr>
                <a:srgbClr val="FF0000"/>
              </a:buClr>
              <a:buFont typeface="Wingdings" panose="05000000000000000000" pitchFamily="2" charset="2"/>
              <a:buChar char="n"/>
            </a:pPr>
            <a:r>
              <a:rPr lang="zh-CN" altLang="zh-CN" sz="2400" b="1" dirty="0" smtClean="0"/>
              <a:t>取出广义表</a:t>
            </a:r>
            <a:r>
              <a:rPr lang="en-US" altLang="zh-CN" sz="2400" b="1" dirty="0" smtClean="0"/>
              <a:t>A==(((</a:t>
            </a:r>
            <a:r>
              <a:rPr lang="en-US" altLang="zh-CN" sz="2400" b="1" dirty="0" err="1" smtClean="0"/>
              <a:t>a,b</a:t>
            </a:r>
            <a:r>
              <a:rPr lang="en-US" altLang="zh-CN" sz="2400" b="1" dirty="0" smtClean="0"/>
              <a:t>), (</a:t>
            </a:r>
            <a:r>
              <a:rPr lang="en-US" altLang="zh-CN" sz="2400" b="1" dirty="0" err="1" smtClean="0"/>
              <a:t>c,d</a:t>
            </a:r>
            <a:r>
              <a:rPr lang="en-US" altLang="zh-CN" sz="2400" b="1" dirty="0" smtClean="0"/>
              <a:t>)), (e,(</a:t>
            </a:r>
            <a:r>
              <a:rPr lang="en-US" altLang="zh-CN" sz="2400" b="1" dirty="0" err="1" smtClean="0"/>
              <a:t>f,g</a:t>
            </a:r>
            <a:r>
              <a:rPr lang="en-US" altLang="zh-CN" sz="2400" b="1" dirty="0" smtClean="0"/>
              <a:t>)))</a:t>
            </a:r>
            <a:r>
              <a:rPr lang="zh-CN" altLang="zh-CN" sz="2400" b="1" dirty="0" smtClean="0"/>
              <a:t>中原子</a:t>
            </a:r>
            <a:r>
              <a:rPr lang="en-US" altLang="zh-CN" sz="2400" b="1" dirty="0" smtClean="0"/>
              <a:t>d</a:t>
            </a:r>
            <a:r>
              <a:rPr lang="zh-CN" altLang="zh-CN" sz="2400" b="1" dirty="0" smtClean="0"/>
              <a:t>的函数是</a:t>
            </a:r>
            <a:r>
              <a:rPr lang="en-US" altLang="zh-CN" sz="2400" b="1" dirty="0" smtClean="0"/>
              <a:t>________________________</a:t>
            </a:r>
            <a:r>
              <a:rPr lang="zh-CN" altLang="zh-CN" b="1" dirty="0" smtClean="0"/>
              <a:t>。</a:t>
            </a:r>
            <a:endParaRPr lang="zh-CN" altLang="en-US" b="1"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5" name="矩形 4"/>
          <p:cNvSpPr/>
          <p:nvPr/>
        </p:nvSpPr>
        <p:spPr>
          <a:xfrm>
            <a:off x="971600" y="1556792"/>
            <a:ext cx="3425938" cy="400110"/>
          </a:xfrm>
          <a:prstGeom prst="rect">
            <a:avLst/>
          </a:prstGeom>
        </p:spPr>
        <p:txBody>
          <a:bodyPr wrap="none">
            <a:spAutoFit/>
          </a:bodyPr>
          <a:lstStyle/>
          <a:p>
            <a:r>
              <a:rPr lang="en-US" altLang="zh-CN" sz="2000" b="1" kern="100" dirty="0">
                <a:solidFill>
                  <a:srgbClr val="0000FF"/>
                </a:solidFill>
                <a:latin typeface="Times New Roman" panose="02020603050405020304" pitchFamily="18" charset="0"/>
                <a:ea typeface="宋体" panose="02010600030101010101" pitchFamily="2" charset="-122"/>
              </a:rPr>
              <a:t>head(tail(head(tail(head(A))))</a:t>
            </a:r>
            <a:endParaRPr lang="zh-CN" altLang="en-US" sz="2000" b="1" dirty="0">
              <a:solidFill>
                <a:srgbClr val="0000FF"/>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4650" y="764704"/>
            <a:ext cx="8229600" cy="660930"/>
          </a:xfrm>
        </p:spPr>
        <p:txBody>
          <a:bodyPr>
            <a:normAutofit/>
          </a:bodyPr>
          <a:lstStyle/>
          <a:p>
            <a:pPr marL="457200" indent="-457200">
              <a:buClr>
                <a:srgbClr val="FF0000"/>
              </a:buClr>
            </a:pPr>
            <a:r>
              <a:rPr lang="en-US" altLang="zh-CN" sz="2800" dirty="0">
                <a:solidFill>
                  <a:srgbClr val="FF0000"/>
                </a:solidFill>
                <a:latin typeface="Arial" panose="020B0604020202020204" pitchFamily="34" charset="0"/>
                <a:ea typeface="宋体" panose="02010600030101010101" pitchFamily="2" charset="-122"/>
                <a:cs typeface="+mn-cs"/>
                <a:sym typeface="+mn-ea"/>
              </a:rPr>
              <a:t>6</a:t>
            </a:r>
            <a:r>
              <a:rPr lang="zh-CN" altLang="en-US" sz="2800" dirty="0" smtClean="0">
                <a:solidFill>
                  <a:srgbClr val="FF0000"/>
                </a:solidFill>
                <a:latin typeface="Arial" panose="020B0604020202020204" pitchFamily="34" charset="0"/>
                <a:ea typeface="宋体" panose="02010600030101010101" pitchFamily="2" charset="-122"/>
                <a:cs typeface="+mn-cs"/>
                <a:sym typeface="+mn-ea"/>
              </a:rPr>
              <a:t>.</a:t>
            </a:r>
            <a:r>
              <a:rPr lang="en-US" altLang="zh-CN" sz="2800" dirty="0" smtClean="0">
                <a:solidFill>
                  <a:srgbClr val="FF0000"/>
                </a:solidFill>
                <a:latin typeface="Arial" panose="020B0604020202020204" pitchFamily="34" charset="0"/>
                <a:ea typeface="宋体" panose="02010600030101010101" pitchFamily="2" charset="-122"/>
                <a:cs typeface="+mn-cs"/>
                <a:sym typeface="+mn-ea"/>
              </a:rPr>
              <a:t>3</a:t>
            </a:r>
            <a:r>
              <a:rPr lang="zh-CN" altLang="en-US" sz="2800" dirty="0" smtClean="0">
                <a:solidFill>
                  <a:srgbClr val="FF0000"/>
                </a:solidFill>
                <a:latin typeface="Arial" panose="020B0604020202020204" pitchFamily="34" charset="0"/>
                <a:ea typeface="宋体" panose="02010600030101010101" pitchFamily="2" charset="-122"/>
                <a:cs typeface="+mn-cs"/>
                <a:sym typeface="+mn-ea"/>
              </a:rPr>
              <a:t>.3 广义</a:t>
            </a:r>
            <a:r>
              <a:rPr lang="zh-CN" altLang="en-US" sz="2800" dirty="0">
                <a:solidFill>
                  <a:srgbClr val="FF0000"/>
                </a:solidFill>
                <a:latin typeface="Arial" panose="020B0604020202020204" pitchFamily="34" charset="0"/>
                <a:ea typeface="宋体" panose="02010600030101010101" pitchFamily="2" charset="-122"/>
                <a:cs typeface="+mn-cs"/>
                <a:sym typeface="+mn-ea"/>
              </a:rPr>
              <a:t>表的存储</a:t>
            </a:r>
            <a:endParaRPr lang="zh-CN" altLang="en-US" sz="2800" dirty="0">
              <a:solidFill>
                <a:srgbClr val="FF0000"/>
              </a:solidFill>
              <a:latin typeface="Arial" panose="020B0604020202020204" pitchFamily="34" charset="0"/>
              <a:ea typeface="宋体" panose="02010600030101010101" pitchFamily="2" charset="-122"/>
              <a:cs typeface="+mn-cs"/>
            </a:endParaRPr>
          </a:p>
        </p:txBody>
      </p:sp>
      <p:sp>
        <p:nvSpPr>
          <p:cNvPr id="3" name="内容占位符 2"/>
          <p:cNvSpPr>
            <a:spLocks noGrp="1"/>
          </p:cNvSpPr>
          <p:nvPr>
            <p:ph idx="1"/>
          </p:nvPr>
        </p:nvSpPr>
        <p:spPr>
          <a:xfrm>
            <a:off x="611188" y="1341438"/>
            <a:ext cx="8281292" cy="4607842"/>
          </a:xfrm>
        </p:spPr>
        <p:txBody>
          <a:bodyPr/>
          <a:lstStyle/>
          <a:p>
            <a:pPr>
              <a:buClr>
                <a:srgbClr val="FF0000"/>
              </a:buClr>
              <a:buFont typeface="Wingdings" panose="05000000000000000000" pitchFamily="2" charset="2"/>
              <a:buChar char="n"/>
            </a:pPr>
            <a:r>
              <a:rPr lang="zh-CN" altLang="en-US" sz="2000" b="1" dirty="0"/>
              <a:t>广义表的存储结构显然要比线性表复杂得多，原因是每个元素的类型可能是原子，也可能是一个表。</a:t>
            </a:r>
            <a:endParaRPr lang="en-US" altLang="zh-CN" sz="2000" b="1" dirty="0"/>
          </a:p>
          <a:p>
            <a:pPr lvl="1">
              <a:buClr>
                <a:srgbClr val="FF0000"/>
              </a:buClr>
              <a:buFont typeface="Wingdings" panose="05000000000000000000" pitchFamily="2" charset="2"/>
              <a:buChar char="u"/>
            </a:pPr>
            <a:r>
              <a:rPr lang="zh-CN" altLang="en-US" sz="2000" b="1" dirty="0"/>
              <a:t>为此，需要为每个元素设置</a:t>
            </a:r>
            <a:r>
              <a:rPr lang="zh-CN" altLang="en-US" sz="2000" b="1" dirty="0">
                <a:solidFill>
                  <a:srgbClr val="FF0000"/>
                </a:solidFill>
              </a:rPr>
              <a:t>区分标志</a:t>
            </a:r>
            <a:r>
              <a:rPr lang="zh-CN" altLang="en-US" sz="2000" b="1" dirty="0"/>
              <a:t>，以</a:t>
            </a:r>
            <a:r>
              <a:rPr lang="zh-CN" altLang="en-US" sz="2000" b="1" dirty="0">
                <a:solidFill>
                  <a:srgbClr val="FF0000"/>
                </a:solidFill>
              </a:rPr>
              <a:t>区分原子和子表</a:t>
            </a:r>
            <a:r>
              <a:rPr lang="zh-CN" altLang="en-US" sz="2000" b="1" dirty="0"/>
              <a:t>。</a:t>
            </a:r>
            <a:endParaRPr lang="en-US" altLang="zh-CN" sz="2000" b="1" dirty="0"/>
          </a:p>
          <a:p>
            <a:pPr>
              <a:buClr>
                <a:srgbClr val="FF0000"/>
              </a:buClr>
              <a:buFont typeface="Wingdings" panose="05000000000000000000" pitchFamily="2" charset="2"/>
              <a:buChar char="n"/>
            </a:pPr>
            <a:r>
              <a:rPr lang="zh-CN" altLang="en-US" sz="2000" b="1" dirty="0"/>
              <a:t>广义表的存储形式有多种，下面介绍两种最简单的存储形式。</a:t>
            </a:r>
            <a:endParaRPr lang="zh-CN" altLang="en-US" sz="2000" b="1" dirty="0"/>
          </a:p>
          <a:p>
            <a:pPr marL="0" indent="0">
              <a:buNone/>
            </a:pPr>
            <a:r>
              <a:rPr lang="zh-CN" altLang="en-US" sz="2000" b="1" dirty="0">
                <a:solidFill>
                  <a:srgbClr val="0000FF"/>
                </a:solidFill>
              </a:rPr>
              <a:t>（</a:t>
            </a:r>
            <a:r>
              <a:rPr lang="en-US" altLang="zh-CN" sz="2000" b="1" dirty="0">
                <a:solidFill>
                  <a:srgbClr val="0000FF"/>
                </a:solidFill>
              </a:rPr>
              <a:t>1</a:t>
            </a:r>
            <a:r>
              <a:rPr lang="zh-CN" altLang="en-US" sz="2000" b="1" dirty="0">
                <a:solidFill>
                  <a:srgbClr val="0000FF"/>
                </a:solidFill>
              </a:rPr>
              <a:t>）单链表存储法</a:t>
            </a:r>
            <a:endParaRPr lang="en-US" altLang="zh-CN" sz="2000" b="1" dirty="0">
              <a:solidFill>
                <a:srgbClr val="0000FF"/>
              </a:solidFill>
            </a:endParaRPr>
          </a:p>
          <a:p>
            <a:pPr lvl="1">
              <a:buClr>
                <a:srgbClr val="FF0000"/>
              </a:buClr>
              <a:buFont typeface="Wingdings" panose="05000000000000000000" pitchFamily="2" charset="2"/>
              <a:buChar char="u"/>
            </a:pPr>
            <a:r>
              <a:rPr lang="zh-CN" altLang="en-US" sz="2000" b="1" dirty="0"/>
              <a:t>一种简单的存储形式是</a:t>
            </a:r>
            <a:r>
              <a:rPr lang="zh-CN" altLang="en-US" sz="2000" b="1" dirty="0">
                <a:solidFill>
                  <a:srgbClr val="FF0000"/>
                </a:solidFill>
              </a:rPr>
              <a:t>单链表存储法</a:t>
            </a:r>
            <a:r>
              <a:rPr lang="zh-CN" altLang="en-US" sz="2000" b="1" dirty="0"/>
              <a:t>，其方法是：</a:t>
            </a:r>
            <a:endParaRPr lang="zh-CN" altLang="en-US" sz="2000" b="1" dirty="0"/>
          </a:p>
          <a:p>
            <a:pPr marL="457200" lvl="1" indent="0">
              <a:buNone/>
            </a:pPr>
            <a:r>
              <a:rPr lang="zh-CN" altLang="en-US" sz="1800" b="1" dirty="0"/>
              <a:t>1）从总体结构上看，为广义表中的每个元素设置一个结点，并将这些</a:t>
            </a:r>
            <a:r>
              <a:rPr lang="zh-CN" altLang="en-US" sz="1800" b="1" dirty="0" smtClean="0"/>
              <a:t>结</a:t>
            </a:r>
            <a:endParaRPr lang="en-US" altLang="zh-CN" sz="1800" b="1" dirty="0" smtClean="0"/>
          </a:p>
          <a:p>
            <a:pPr marL="457200" lvl="1" indent="0">
              <a:buNone/>
            </a:pPr>
            <a:r>
              <a:rPr lang="en-US" altLang="zh-CN" sz="1800" b="1" dirty="0"/>
              <a:t> </a:t>
            </a:r>
            <a:r>
              <a:rPr lang="en-US" altLang="zh-CN" sz="1800" b="1" dirty="0" smtClean="0"/>
              <a:t>     </a:t>
            </a:r>
            <a:r>
              <a:rPr lang="zh-CN" altLang="en-US" sz="1800" b="1" dirty="0" smtClean="0"/>
              <a:t>点按元素在表</a:t>
            </a:r>
            <a:r>
              <a:rPr lang="zh-CN" altLang="en-US" sz="1800" b="1" dirty="0"/>
              <a:t>中的先后次序依次连接</a:t>
            </a:r>
            <a:r>
              <a:rPr lang="zh-CN" altLang="en-US" sz="1800" b="1" dirty="0" smtClean="0"/>
              <a:t>起来</a:t>
            </a:r>
            <a:r>
              <a:rPr lang="en-US" altLang="zh-CN" sz="1800" b="1" dirty="0" smtClean="0"/>
              <a:t>(</a:t>
            </a:r>
            <a:r>
              <a:rPr lang="zh-CN" altLang="en-US" sz="1800" b="1" dirty="0" smtClean="0"/>
              <a:t>就好像</a:t>
            </a:r>
            <a:r>
              <a:rPr lang="zh-CN" altLang="en-US" sz="1800" b="1" dirty="0"/>
              <a:t>是一个单链表，故</a:t>
            </a:r>
            <a:r>
              <a:rPr lang="zh-CN" altLang="en-US" sz="1800" b="1" dirty="0" smtClean="0"/>
              <a:t>有  </a:t>
            </a:r>
            <a:endParaRPr lang="en-US" altLang="zh-CN" sz="1800" b="1" dirty="0" smtClean="0"/>
          </a:p>
          <a:p>
            <a:pPr marL="457200" lvl="1" indent="0">
              <a:buNone/>
            </a:pPr>
            <a:r>
              <a:rPr lang="en-US" altLang="zh-CN" sz="1800" b="1" dirty="0"/>
              <a:t> </a:t>
            </a:r>
            <a:r>
              <a:rPr lang="en-US" altLang="zh-CN" sz="1800" b="1" dirty="0" smtClean="0"/>
              <a:t>     </a:t>
            </a:r>
            <a:r>
              <a:rPr lang="zh-CN" altLang="en-US" sz="1800" b="1" dirty="0" smtClean="0"/>
              <a:t>此名</a:t>
            </a:r>
            <a:r>
              <a:rPr lang="en-US" altLang="zh-CN" sz="1800" b="1" dirty="0" smtClean="0"/>
              <a:t>)</a:t>
            </a:r>
            <a:r>
              <a:rPr lang="zh-CN" altLang="en-US" sz="1800" b="1" dirty="0" smtClean="0"/>
              <a:t>。</a:t>
            </a:r>
            <a:endParaRPr lang="zh-CN" altLang="en-US" sz="1800" b="1" dirty="0"/>
          </a:p>
          <a:p>
            <a:pPr marL="457200" lvl="1" indent="0">
              <a:buNone/>
            </a:pPr>
            <a:r>
              <a:rPr lang="zh-CN" altLang="en-US" sz="1800" b="1" dirty="0"/>
              <a:t>2）对表中每个结点这样设计：除了有一个指向下一个元素的后继</a:t>
            </a:r>
            <a:r>
              <a:rPr lang="zh-CN" altLang="en-US" sz="1800" b="1" dirty="0" smtClean="0"/>
              <a:t>指针</a:t>
            </a:r>
            <a:r>
              <a:rPr lang="en-US" altLang="zh-CN" sz="1800" b="1" dirty="0" smtClean="0"/>
              <a:t>(</a:t>
            </a:r>
            <a:r>
              <a:rPr lang="zh-CN" altLang="en-US" sz="1800" b="1" dirty="0" smtClean="0"/>
              <a:t>不</a:t>
            </a:r>
            <a:endParaRPr lang="en-US" altLang="zh-CN" sz="1800" b="1" dirty="0" smtClean="0"/>
          </a:p>
          <a:p>
            <a:pPr marL="457200" lvl="1" indent="0">
              <a:buNone/>
            </a:pPr>
            <a:r>
              <a:rPr lang="en-US" altLang="zh-CN" sz="1800" b="1" dirty="0"/>
              <a:t> </a:t>
            </a:r>
            <a:r>
              <a:rPr lang="en-US" altLang="zh-CN" sz="1800" b="1" dirty="0" smtClean="0"/>
              <a:t>     </a:t>
            </a:r>
            <a:r>
              <a:rPr lang="zh-CN" altLang="en-US" sz="1800" b="1" dirty="0" smtClean="0"/>
              <a:t>妨</a:t>
            </a:r>
            <a:r>
              <a:rPr lang="zh-CN" altLang="en-US" sz="1800" b="1" dirty="0"/>
              <a:t>设</a:t>
            </a:r>
            <a:r>
              <a:rPr lang="zh-CN" altLang="en-US" sz="1800" b="1" dirty="0" smtClean="0"/>
              <a:t>为</a:t>
            </a:r>
            <a:r>
              <a:rPr lang="zh-CN" altLang="en-US" sz="1800" b="1" dirty="0" smtClean="0">
                <a:solidFill>
                  <a:srgbClr val="0000FF"/>
                </a:solidFill>
              </a:rPr>
              <a:t>next</a:t>
            </a:r>
            <a:r>
              <a:rPr lang="en-US" altLang="zh-CN" sz="1800" b="1" dirty="0" smtClean="0"/>
              <a:t>)</a:t>
            </a:r>
            <a:r>
              <a:rPr lang="zh-CN" altLang="en-US" sz="1800" b="1" dirty="0" smtClean="0"/>
              <a:t>外</a:t>
            </a:r>
            <a:r>
              <a:rPr lang="zh-CN" altLang="en-US" sz="1800" b="1" dirty="0"/>
              <a:t>，还要有两个字段：</a:t>
            </a:r>
            <a:endParaRPr lang="en-US" altLang="zh-CN" sz="1800" b="1" dirty="0"/>
          </a:p>
          <a:p>
            <a:pPr lvl="2">
              <a:buClr>
                <a:srgbClr val="FF0000"/>
              </a:buClr>
              <a:buFont typeface="Wingdings" panose="05000000000000000000" pitchFamily="2" charset="2"/>
              <a:buChar char="Ø"/>
            </a:pPr>
            <a:r>
              <a:rPr lang="zh-CN" altLang="en-US" sz="1800" b="1" dirty="0"/>
              <a:t>其一是</a:t>
            </a:r>
            <a:r>
              <a:rPr lang="zh-CN" altLang="en-US" sz="1800" b="1" dirty="0">
                <a:solidFill>
                  <a:srgbClr val="FF0000"/>
                </a:solidFill>
              </a:rPr>
              <a:t>区分元素是原子和子表的</a:t>
            </a:r>
            <a:r>
              <a:rPr lang="zh-CN" altLang="en-US" sz="1800" b="1" dirty="0" smtClean="0">
                <a:solidFill>
                  <a:srgbClr val="FF0000"/>
                </a:solidFill>
              </a:rPr>
              <a:t>标志</a:t>
            </a:r>
            <a:r>
              <a:rPr lang="en-US" altLang="zh-CN" sz="1800" b="1" dirty="0" smtClean="0"/>
              <a:t>(</a:t>
            </a:r>
            <a:r>
              <a:rPr lang="zh-CN" altLang="en-US" sz="1800" b="1" dirty="0" smtClean="0"/>
              <a:t>不妨</a:t>
            </a:r>
            <a:r>
              <a:rPr lang="zh-CN" altLang="en-US" sz="1800" b="1" dirty="0"/>
              <a:t>设为</a:t>
            </a:r>
            <a:r>
              <a:rPr lang="zh-CN" altLang="en-US" sz="1800" b="1" dirty="0">
                <a:solidFill>
                  <a:srgbClr val="0000FF"/>
                </a:solidFill>
              </a:rPr>
              <a:t>tag</a:t>
            </a:r>
            <a:r>
              <a:rPr lang="zh-CN" altLang="en-US" sz="1800" b="1" dirty="0"/>
              <a:t>，并以取0表示元素是原子，取1表示元素是子</a:t>
            </a:r>
            <a:r>
              <a:rPr lang="zh-CN" altLang="en-US" sz="1800" b="1" dirty="0" smtClean="0"/>
              <a:t>表</a:t>
            </a:r>
            <a:r>
              <a:rPr lang="en-US" altLang="zh-CN" sz="1800" b="1" dirty="0" smtClean="0"/>
              <a:t>)</a:t>
            </a:r>
            <a:r>
              <a:rPr lang="zh-CN" altLang="en-US" sz="1800" b="1" dirty="0" smtClean="0"/>
              <a:t>；</a:t>
            </a:r>
            <a:endParaRPr lang="en-US" altLang="zh-CN" sz="1800" b="1" dirty="0"/>
          </a:p>
          <a:p>
            <a:pPr lvl="2">
              <a:buClr>
                <a:srgbClr val="FF0000"/>
              </a:buClr>
              <a:buFont typeface="Wingdings" panose="05000000000000000000" pitchFamily="2" charset="2"/>
              <a:buChar char="Ø"/>
            </a:pPr>
            <a:r>
              <a:rPr lang="zh-CN" altLang="en-US" sz="1800" b="1" dirty="0"/>
              <a:t>其二是</a:t>
            </a:r>
            <a:r>
              <a:rPr lang="zh-CN" altLang="en-US" sz="1800" b="1" dirty="0">
                <a:solidFill>
                  <a:srgbClr val="FF0000"/>
                </a:solidFill>
              </a:rPr>
              <a:t>具体的</a:t>
            </a:r>
            <a:r>
              <a:rPr lang="zh-CN" altLang="en-US" sz="1800" b="1" dirty="0" smtClean="0">
                <a:solidFill>
                  <a:srgbClr val="FF0000"/>
                </a:solidFill>
              </a:rPr>
              <a:t>值</a:t>
            </a:r>
            <a:r>
              <a:rPr lang="en-US" altLang="zh-CN" sz="1800" b="1" dirty="0" smtClean="0"/>
              <a:t>(</a:t>
            </a:r>
            <a:r>
              <a:rPr lang="zh-CN" altLang="en-US" sz="1800" b="1" dirty="0" smtClean="0"/>
              <a:t>元素</a:t>
            </a:r>
            <a:r>
              <a:rPr lang="zh-CN" altLang="en-US" sz="1800" b="1" dirty="0"/>
              <a:t>是</a:t>
            </a:r>
            <a:r>
              <a:rPr lang="zh-CN" altLang="en-US" sz="1800" b="1" dirty="0" smtClean="0"/>
              <a:t>原子时</a:t>
            </a:r>
            <a:r>
              <a:rPr lang="en-US" altLang="zh-CN" sz="1800" b="1" dirty="0" smtClean="0"/>
              <a:t>)</a:t>
            </a:r>
            <a:r>
              <a:rPr lang="zh-CN" altLang="en-US" sz="1800" b="1" dirty="0" smtClean="0"/>
              <a:t>或</a:t>
            </a:r>
            <a:r>
              <a:rPr lang="zh-CN" altLang="en-US" sz="1800" b="1" dirty="0"/>
              <a:t>指向子表的</a:t>
            </a:r>
            <a:r>
              <a:rPr lang="zh-CN" altLang="en-US" sz="1800" b="1" dirty="0" smtClean="0"/>
              <a:t>指针</a:t>
            </a:r>
            <a:r>
              <a:rPr lang="en-US" altLang="zh-CN" sz="1800" b="1" dirty="0" smtClean="0"/>
              <a:t>(</a:t>
            </a:r>
            <a:r>
              <a:rPr lang="zh-CN" altLang="en-US" sz="1800" b="1" dirty="0" smtClean="0"/>
              <a:t>当</a:t>
            </a:r>
            <a:r>
              <a:rPr lang="zh-CN" altLang="en-US" sz="1800" b="1" dirty="0"/>
              <a:t>元素是子表</a:t>
            </a:r>
            <a:r>
              <a:rPr lang="zh-CN" altLang="en-US" sz="1800" b="1" dirty="0" smtClean="0"/>
              <a:t>时</a:t>
            </a:r>
            <a:r>
              <a:rPr lang="en-US" altLang="zh-CN" sz="1800" b="1" dirty="0" smtClean="0"/>
              <a:t>)</a:t>
            </a:r>
            <a:r>
              <a:rPr lang="zh-CN" altLang="en-US" sz="1800" b="1" dirty="0" smtClean="0"/>
              <a:t>。</a:t>
            </a:r>
            <a:endParaRPr lang="zh-CN" altLang="en-US" sz="1800" b="1" dirty="0"/>
          </a:p>
          <a:p>
            <a:pPr>
              <a:buClr>
                <a:srgbClr val="FF0000"/>
              </a:buClr>
            </a:pPr>
            <a:endParaRPr lang="zh-CN" altLang="en-US" sz="2000" b="1" dirty="0"/>
          </a:p>
        </p:txBody>
      </p:sp>
      <p:sp>
        <p:nvSpPr>
          <p:cNvPr id="6" name="灯片编号占位符 5"/>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grpSp>
        <p:nvGrpSpPr>
          <p:cNvPr id="5" name="组合 4"/>
          <p:cNvGrpSpPr/>
          <p:nvPr/>
        </p:nvGrpSpPr>
        <p:grpSpPr>
          <a:xfrm>
            <a:off x="539552" y="116632"/>
            <a:ext cx="3757930" cy="664430"/>
            <a:chOff x="999690" y="5025490"/>
            <a:chExt cx="3757930" cy="664430"/>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1250380" y="5025490"/>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6.3 </a:t>
              </a:r>
              <a:r>
                <a:rPr lang="zh-CN" altLang="en-US" sz="3600" b="1" dirty="0" smtClean="0">
                  <a:latin typeface="Times New Roman" panose="02020603050405020304" pitchFamily="18" charset="0"/>
                  <a:ea typeface="黑体" panose="02010609060101010101" pitchFamily="49" charset="-122"/>
                </a:rPr>
                <a:t>广义表</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cstate="print"/>
            <a:stretch>
              <a:fillRect/>
            </a:stretch>
          </p:blipFill>
          <p:spPr>
            <a:xfrm>
              <a:off x="1199659" y="5205012"/>
              <a:ext cx="420013" cy="322083"/>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linds(horizontal)">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linds(horizont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linds(horizontal)">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linds(horizontal)">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linds(horizontal)">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linds(horizontal)">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blinds(horizontal)">
                                      <p:cBhvr>
                                        <p:cTn id="41" dur="500"/>
                                        <p:tgtEl>
                                          <p:spTgt spid="3">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blinds(horizontal)">
                                      <p:cBhvr>
                                        <p:cTn id="46" dur="500"/>
                                        <p:tgtEl>
                                          <p:spTgt spid="3">
                                            <p:txEl>
                                              <p:pRg st="7" end="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blinds(horizontal)">
                                      <p:cBhvr>
                                        <p:cTn id="51" dur="500"/>
                                        <p:tgtEl>
                                          <p:spTgt spid="3">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Effect transition="in" filter="blinds(horizontal)">
                                      <p:cBhvr>
                                        <p:cTn id="56" dur="500"/>
                                        <p:tgtEl>
                                          <p:spTgt spid="3">
                                            <p:txEl>
                                              <p:pRg st="9" end="9"/>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animEffect transition="in" filter="blinds(horizontal)">
                                      <p:cBhvr>
                                        <p:cTn id="61" dur="500"/>
                                        <p:tgtEl>
                                          <p:spTgt spid="3">
                                            <p:txEl>
                                              <p:pRg st="10" end="1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animEffect transition="in" filter="blinds(horizontal)">
                                      <p:cBhvr>
                                        <p:cTn id="6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90242" y="1454606"/>
            <a:ext cx="8229600" cy="4678451"/>
          </a:xfrm>
        </p:spPr>
        <p:txBody>
          <a:bodyPr/>
          <a:lstStyle/>
          <a:p>
            <a:pPr>
              <a:buClr>
                <a:srgbClr val="FF0000"/>
              </a:buClr>
              <a:buFont typeface="Wingdings" panose="05000000000000000000" pitchFamily="2" charset="2"/>
              <a:buChar char="p"/>
            </a:pPr>
            <a:r>
              <a:rPr lang="zh-CN" altLang="zh-CN" sz="2400" b="1" dirty="0" smtClean="0"/>
              <a:t>例如</a:t>
            </a:r>
            <a:r>
              <a:rPr lang="zh-CN" altLang="en-US" sz="2400" b="1" dirty="0" smtClean="0"/>
              <a:t>：</a:t>
            </a:r>
            <a:r>
              <a:rPr lang="zh-CN" altLang="zh-CN" sz="2400" b="1" dirty="0" smtClean="0"/>
              <a:t>广义</a:t>
            </a:r>
            <a:r>
              <a:rPr lang="zh-CN" altLang="zh-CN" sz="2400" b="1" dirty="0"/>
              <a:t>表</a:t>
            </a:r>
            <a:r>
              <a:rPr lang="en-US" altLang="zh-CN" sz="2400" b="1" i="1" dirty="0"/>
              <a:t>L</a:t>
            </a:r>
            <a:r>
              <a:rPr lang="en-US" altLang="zh-CN" sz="2400" b="1" dirty="0"/>
              <a:t>=(a,(b, (</a:t>
            </a:r>
            <a:r>
              <a:rPr lang="en-US" altLang="zh-CN" sz="2400" b="1" dirty="0" err="1"/>
              <a:t>c,d</a:t>
            </a:r>
            <a:r>
              <a:rPr lang="en-US" altLang="zh-CN" sz="2400" b="1" dirty="0"/>
              <a:t>) ,e))</a:t>
            </a:r>
            <a:r>
              <a:rPr lang="zh-CN" altLang="zh-CN" sz="2400" b="1" dirty="0"/>
              <a:t>的单链表存储结构如图所示</a:t>
            </a:r>
            <a:endParaRPr lang="zh-CN" altLang="en-US" sz="2400" b="1" dirty="0"/>
          </a:p>
        </p:txBody>
      </p:sp>
      <p:sp>
        <p:nvSpPr>
          <p:cNvPr id="95" name="对话气泡: 矩形 94"/>
          <p:cNvSpPr/>
          <p:nvPr/>
        </p:nvSpPr>
        <p:spPr>
          <a:xfrm>
            <a:off x="5624872" y="2149910"/>
            <a:ext cx="3213100" cy="761587"/>
          </a:xfrm>
          <a:prstGeom prst="wedgeRectCallout">
            <a:avLst>
              <a:gd name="adj1" fmla="val -67026"/>
              <a:gd name="adj2" fmla="val 75687"/>
            </a:avLst>
          </a:prstGeom>
          <a:solidFill>
            <a:srgbClr val="FFFF99"/>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zh-CN" sz="2000" b="1" dirty="0">
                <a:latin typeface="Times New Roman" panose="02020603050405020304" pitchFamily="18" charset="0"/>
              </a:rPr>
              <a:t>最外层是两个元素，第一个是原子，第二个是子表</a:t>
            </a:r>
            <a:endParaRPr lang="zh-CN" altLang="en-US" b="1" dirty="0">
              <a:latin typeface="Times New Roman" panose="02020603050405020304" pitchFamily="18" charset="0"/>
            </a:endParaRPr>
          </a:p>
        </p:txBody>
      </p:sp>
      <p:grpSp>
        <p:nvGrpSpPr>
          <p:cNvPr id="107" name="组合 106"/>
          <p:cNvGrpSpPr/>
          <p:nvPr/>
        </p:nvGrpSpPr>
        <p:grpSpPr>
          <a:xfrm>
            <a:off x="656416" y="2856407"/>
            <a:ext cx="2222065" cy="576064"/>
            <a:chOff x="755576" y="2852936"/>
            <a:chExt cx="2232248" cy="576064"/>
          </a:xfrm>
        </p:grpSpPr>
        <p:cxnSp>
          <p:nvCxnSpPr>
            <p:cNvPr id="99" name="直接箭头连接符 98"/>
            <p:cNvCxnSpPr/>
            <p:nvPr/>
          </p:nvCxnSpPr>
          <p:spPr>
            <a:xfrm>
              <a:off x="755576" y="3140968"/>
              <a:ext cx="844624"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0" name="矩形 99"/>
            <p:cNvSpPr/>
            <p:nvPr/>
          </p:nvSpPr>
          <p:spPr>
            <a:xfrm>
              <a:off x="1600200" y="2852936"/>
              <a:ext cx="1387624" cy="5760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102" name="直接连接符 101"/>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05" name="文本框 104"/>
            <p:cNvSpPr txBox="1"/>
            <p:nvPr/>
          </p:nvSpPr>
          <p:spPr>
            <a:xfrm>
              <a:off x="1665543" y="2940913"/>
              <a:ext cx="1190019" cy="400110"/>
            </a:xfrm>
            <a:prstGeom prst="rect">
              <a:avLst/>
            </a:prstGeom>
            <a:noFill/>
          </p:spPr>
          <p:txBody>
            <a:bodyPr wrap="square" rtlCol="0">
              <a:spAutoFit/>
            </a:bodyPr>
            <a:lstStyle/>
            <a:p>
              <a:r>
                <a:rPr lang="en-US" altLang="zh-CN" sz="2000" dirty="0">
                  <a:latin typeface="Times New Roman" panose="02020603050405020304" pitchFamily="18" charset="0"/>
                </a:rPr>
                <a:t>0     a</a:t>
              </a:r>
              <a:endParaRPr lang="zh-CN" altLang="en-US" sz="2000" dirty="0">
                <a:latin typeface="Times New Roman" panose="02020603050405020304" pitchFamily="18" charset="0"/>
              </a:endParaRPr>
            </a:p>
          </p:txBody>
        </p:sp>
      </p:grpSp>
      <p:sp>
        <p:nvSpPr>
          <p:cNvPr id="108" name="文本框 107"/>
          <p:cNvSpPr txBox="1"/>
          <p:nvPr/>
        </p:nvSpPr>
        <p:spPr>
          <a:xfrm>
            <a:off x="373535" y="2927322"/>
            <a:ext cx="457333" cy="369332"/>
          </a:xfrm>
          <a:prstGeom prst="rect">
            <a:avLst/>
          </a:prstGeom>
          <a:noFill/>
        </p:spPr>
        <p:txBody>
          <a:bodyPr wrap="square" rtlCol="0">
            <a:spAutoFit/>
          </a:bodyPr>
          <a:lstStyle/>
          <a:p>
            <a:r>
              <a:rPr lang="en-US" altLang="zh-CN" b="1" dirty="0">
                <a:latin typeface="Times New Roman" panose="02020603050405020304" pitchFamily="18" charset="0"/>
              </a:rPr>
              <a:t>L</a:t>
            </a:r>
            <a:endParaRPr lang="zh-CN" altLang="en-US" b="1" dirty="0">
              <a:latin typeface="Times New Roman" panose="02020603050405020304" pitchFamily="18" charset="0"/>
            </a:endParaRPr>
          </a:p>
        </p:txBody>
      </p:sp>
      <p:grpSp>
        <p:nvGrpSpPr>
          <p:cNvPr id="109" name="组合 108"/>
          <p:cNvGrpSpPr/>
          <p:nvPr/>
        </p:nvGrpSpPr>
        <p:grpSpPr>
          <a:xfrm>
            <a:off x="2771800" y="2892375"/>
            <a:ext cx="1913711" cy="576064"/>
            <a:chOff x="755576" y="2852936"/>
            <a:chExt cx="2285157" cy="576064"/>
          </a:xfrm>
        </p:grpSpPr>
        <p:cxnSp>
          <p:nvCxnSpPr>
            <p:cNvPr id="110" name="直接箭头连接符 109"/>
            <p:cNvCxnSpPr/>
            <p:nvPr/>
          </p:nvCxnSpPr>
          <p:spPr>
            <a:xfrm>
              <a:off x="755576" y="3140968"/>
              <a:ext cx="844624"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1" name="矩形 110"/>
            <p:cNvSpPr/>
            <p:nvPr/>
          </p:nvSpPr>
          <p:spPr>
            <a:xfrm>
              <a:off x="1600200" y="2852936"/>
              <a:ext cx="1387623" cy="57573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112" name="直接连接符 111"/>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14" name="文本框 113"/>
            <p:cNvSpPr txBox="1"/>
            <p:nvPr/>
          </p:nvSpPr>
          <p:spPr>
            <a:xfrm>
              <a:off x="1600200" y="2944367"/>
              <a:ext cx="1440533" cy="400110"/>
            </a:xfrm>
            <a:prstGeom prst="rect">
              <a:avLst/>
            </a:prstGeom>
            <a:noFill/>
          </p:spPr>
          <p:txBody>
            <a:bodyPr wrap="square" rtlCol="0">
              <a:spAutoFit/>
            </a:bodyPr>
            <a:lstStyle/>
            <a:p>
              <a:r>
                <a:rPr lang="en-US" altLang="zh-CN" sz="2000" dirty="0">
                  <a:latin typeface="Times New Roman" panose="02020603050405020304" pitchFamily="18" charset="0"/>
                </a:rPr>
                <a:t>1          </a:t>
              </a:r>
              <a:r>
                <a:rPr lang="zh-CN" altLang="zh-CN" sz="2000" dirty="0">
                  <a:solidFill>
                    <a:srgbClr val="FF0000"/>
                  </a:solidFill>
                  <a:latin typeface="Times New Roman" panose="02020603050405020304" pitchFamily="18" charset="0"/>
                </a:rPr>
                <a:t>∧</a:t>
              </a:r>
              <a:endParaRPr lang="zh-CN" altLang="en-US" sz="2000" dirty="0">
                <a:solidFill>
                  <a:srgbClr val="FF0000"/>
                </a:solidFill>
                <a:latin typeface="Times New Roman" panose="02020603050405020304" pitchFamily="18" charset="0"/>
              </a:endParaRPr>
            </a:p>
          </p:txBody>
        </p:sp>
      </p:grpSp>
      <p:cxnSp>
        <p:nvCxnSpPr>
          <p:cNvPr id="115" name="直接箭头连接符 114"/>
          <p:cNvCxnSpPr/>
          <p:nvPr/>
        </p:nvCxnSpPr>
        <p:spPr>
          <a:xfrm>
            <a:off x="4136476" y="3135111"/>
            <a:ext cx="0" cy="968673"/>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18" name="组合 117"/>
          <p:cNvGrpSpPr/>
          <p:nvPr/>
        </p:nvGrpSpPr>
        <p:grpSpPr>
          <a:xfrm>
            <a:off x="3429146" y="4103784"/>
            <a:ext cx="1162069" cy="576064"/>
            <a:chOff x="1600200" y="2852936"/>
            <a:chExt cx="1387624" cy="576064"/>
          </a:xfrm>
        </p:grpSpPr>
        <p:sp>
          <p:nvSpPr>
            <p:cNvPr id="120" name="矩形 119"/>
            <p:cNvSpPr/>
            <p:nvPr/>
          </p:nvSpPr>
          <p:spPr>
            <a:xfrm>
              <a:off x="1600200" y="2852936"/>
              <a:ext cx="1387624" cy="5760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121" name="直接连接符 120"/>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23" name="文本框 122"/>
            <p:cNvSpPr txBox="1"/>
            <p:nvPr/>
          </p:nvSpPr>
          <p:spPr>
            <a:xfrm>
              <a:off x="1630248" y="2937125"/>
              <a:ext cx="1015261" cy="400110"/>
            </a:xfrm>
            <a:prstGeom prst="rect">
              <a:avLst/>
            </a:prstGeom>
            <a:noFill/>
          </p:spPr>
          <p:txBody>
            <a:bodyPr wrap="square" rtlCol="0">
              <a:spAutoFit/>
            </a:bodyPr>
            <a:lstStyle/>
            <a:p>
              <a:r>
                <a:rPr lang="en-US" altLang="zh-CN" sz="2000" dirty="0">
                  <a:latin typeface="Times New Roman" panose="02020603050405020304" pitchFamily="18" charset="0"/>
                </a:rPr>
                <a:t>0     b</a:t>
              </a:r>
              <a:endParaRPr lang="zh-CN" altLang="en-US" sz="2000" dirty="0">
                <a:latin typeface="Times New Roman" panose="02020603050405020304" pitchFamily="18" charset="0"/>
              </a:endParaRPr>
            </a:p>
          </p:txBody>
        </p:sp>
      </p:grpSp>
      <p:grpSp>
        <p:nvGrpSpPr>
          <p:cNvPr id="124" name="组合 123"/>
          <p:cNvGrpSpPr/>
          <p:nvPr/>
        </p:nvGrpSpPr>
        <p:grpSpPr>
          <a:xfrm>
            <a:off x="4445269" y="4138435"/>
            <a:ext cx="1869402" cy="576064"/>
            <a:chOff x="755576" y="2852936"/>
            <a:chExt cx="2232248" cy="576064"/>
          </a:xfrm>
        </p:grpSpPr>
        <p:cxnSp>
          <p:nvCxnSpPr>
            <p:cNvPr id="125" name="直接箭头连接符 124"/>
            <p:cNvCxnSpPr/>
            <p:nvPr/>
          </p:nvCxnSpPr>
          <p:spPr>
            <a:xfrm>
              <a:off x="755576" y="3140968"/>
              <a:ext cx="844624"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6" name="矩形 125"/>
            <p:cNvSpPr/>
            <p:nvPr/>
          </p:nvSpPr>
          <p:spPr>
            <a:xfrm>
              <a:off x="1600200" y="2852936"/>
              <a:ext cx="1387624" cy="5760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127" name="直接连接符 126"/>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29" name="文本框 128"/>
            <p:cNvSpPr txBox="1"/>
            <p:nvPr/>
          </p:nvSpPr>
          <p:spPr>
            <a:xfrm>
              <a:off x="1631254" y="2934121"/>
              <a:ext cx="844621" cy="400110"/>
            </a:xfrm>
            <a:prstGeom prst="rect">
              <a:avLst/>
            </a:prstGeom>
            <a:noFill/>
          </p:spPr>
          <p:txBody>
            <a:bodyPr wrap="square" rtlCol="0">
              <a:spAutoFit/>
            </a:bodyPr>
            <a:lstStyle/>
            <a:p>
              <a:r>
                <a:rPr lang="en-US" altLang="zh-CN" sz="2000" dirty="0">
                  <a:latin typeface="Times New Roman" panose="02020603050405020304" pitchFamily="18" charset="0"/>
                </a:rPr>
                <a:t>1      </a:t>
              </a:r>
              <a:endParaRPr lang="zh-CN" altLang="en-US" sz="2000" dirty="0">
                <a:latin typeface="Times New Roman" panose="02020603050405020304" pitchFamily="18" charset="0"/>
              </a:endParaRPr>
            </a:p>
          </p:txBody>
        </p:sp>
      </p:grpSp>
      <p:grpSp>
        <p:nvGrpSpPr>
          <p:cNvPr id="130" name="组合 129"/>
          <p:cNvGrpSpPr/>
          <p:nvPr/>
        </p:nvGrpSpPr>
        <p:grpSpPr>
          <a:xfrm>
            <a:off x="6159482" y="4149080"/>
            <a:ext cx="1961700" cy="576064"/>
            <a:chOff x="755576" y="2852936"/>
            <a:chExt cx="2342461" cy="576064"/>
          </a:xfrm>
        </p:grpSpPr>
        <p:cxnSp>
          <p:nvCxnSpPr>
            <p:cNvPr id="131" name="直接箭头连接符 130"/>
            <p:cNvCxnSpPr/>
            <p:nvPr/>
          </p:nvCxnSpPr>
          <p:spPr>
            <a:xfrm>
              <a:off x="755576" y="3140968"/>
              <a:ext cx="844624"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2" name="矩形 131"/>
            <p:cNvSpPr/>
            <p:nvPr/>
          </p:nvSpPr>
          <p:spPr>
            <a:xfrm>
              <a:off x="1600199" y="2852936"/>
              <a:ext cx="1387624" cy="5760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133" name="直接连接符 132"/>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35" name="文本框 134"/>
            <p:cNvSpPr txBox="1"/>
            <p:nvPr/>
          </p:nvSpPr>
          <p:spPr>
            <a:xfrm>
              <a:off x="1599942" y="2933588"/>
              <a:ext cx="1498095" cy="400110"/>
            </a:xfrm>
            <a:prstGeom prst="rect">
              <a:avLst/>
            </a:prstGeom>
            <a:noFill/>
          </p:spPr>
          <p:txBody>
            <a:bodyPr wrap="square" rtlCol="0">
              <a:spAutoFit/>
            </a:bodyPr>
            <a:lstStyle/>
            <a:p>
              <a:r>
                <a:rPr lang="en-US" altLang="zh-CN" sz="2000" dirty="0" smtClean="0">
                  <a:latin typeface="Times New Roman" panose="02020603050405020304" pitchFamily="18" charset="0"/>
                </a:rPr>
                <a:t>0      </a:t>
              </a:r>
              <a:r>
                <a:rPr lang="en-US" altLang="zh-CN" sz="2000" dirty="0">
                  <a:latin typeface="Times New Roman" panose="02020603050405020304" pitchFamily="18" charset="0"/>
                </a:rPr>
                <a:t>e  </a:t>
              </a:r>
              <a:r>
                <a:rPr lang="zh-CN" altLang="zh-CN" dirty="0">
                  <a:solidFill>
                    <a:srgbClr val="FF0000"/>
                  </a:solidFill>
                  <a:latin typeface="Times New Roman" panose="02020603050405020304" pitchFamily="18" charset="0"/>
                </a:rPr>
                <a:t>∧</a:t>
              </a:r>
              <a:endParaRPr lang="zh-CN" altLang="en-US" sz="2000" dirty="0">
                <a:solidFill>
                  <a:srgbClr val="FF0000"/>
                </a:solidFill>
                <a:latin typeface="Times New Roman" panose="02020603050405020304" pitchFamily="18" charset="0"/>
              </a:endParaRPr>
            </a:p>
          </p:txBody>
        </p:sp>
      </p:grpSp>
      <p:cxnSp>
        <p:nvCxnSpPr>
          <p:cNvPr id="136" name="直接箭头连接符 135"/>
          <p:cNvCxnSpPr/>
          <p:nvPr/>
        </p:nvCxnSpPr>
        <p:spPr>
          <a:xfrm>
            <a:off x="5779437" y="4399560"/>
            <a:ext cx="0" cy="79504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37" name="组合 136"/>
          <p:cNvGrpSpPr/>
          <p:nvPr/>
        </p:nvGrpSpPr>
        <p:grpSpPr>
          <a:xfrm>
            <a:off x="5043837" y="5206163"/>
            <a:ext cx="1162069" cy="576064"/>
            <a:chOff x="1600200" y="2852936"/>
            <a:chExt cx="1387624" cy="576064"/>
          </a:xfrm>
        </p:grpSpPr>
        <p:sp>
          <p:nvSpPr>
            <p:cNvPr id="138" name="矩形 137"/>
            <p:cNvSpPr/>
            <p:nvPr/>
          </p:nvSpPr>
          <p:spPr>
            <a:xfrm>
              <a:off x="1600200" y="2852936"/>
              <a:ext cx="1387624" cy="5760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139" name="直接连接符 138"/>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41" name="文本框 140"/>
            <p:cNvSpPr txBox="1"/>
            <p:nvPr/>
          </p:nvSpPr>
          <p:spPr>
            <a:xfrm>
              <a:off x="1641105" y="2944515"/>
              <a:ext cx="844621" cy="400110"/>
            </a:xfrm>
            <a:prstGeom prst="rect">
              <a:avLst/>
            </a:prstGeom>
            <a:noFill/>
          </p:spPr>
          <p:txBody>
            <a:bodyPr wrap="square" rtlCol="0">
              <a:spAutoFit/>
            </a:bodyPr>
            <a:lstStyle/>
            <a:p>
              <a:r>
                <a:rPr lang="en-US" altLang="zh-CN" sz="2000" dirty="0">
                  <a:latin typeface="Times New Roman" panose="02020603050405020304" pitchFamily="18" charset="0"/>
                </a:rPr>
                <a:t>0    c</a:t>
              </a:r>
              <a:endParaRPr lang="zh-CN" altLang="en-US" sz="2000" dirty="0">
                <a:latin typeface="Times New Roman" panose="02020603050405020304" pitchFamily="18" charset="0"/>
              </a:endParaRPr>
            </a:p>
          </p:txBody>
        </p:sp>
      </p:grpSp>
      <p:grpSp>
        <p:nvGrpSpPr>
          <p:cNvPr id="142" name="组合 141"/>
          <p:cNvGrpSpPr/>
          <p:nvPr/>
        </p:nvGrpSpPr>
        <p:grpSpPr>
          <a:xfrm>
            <a:off x="5989555" y="5222680"/>
            <a:ext cx="1869403" cy="576064"/>
            <a:chOff x="755576" y="2852936"/>
            <a:chExt cx="2232249" cy="576064"/>
          </a:xfrm>
        </p:grpSpPr>
        <p:cxnSp>
          <p:nvCxnSpPr>
            <p:cNvPr id="143" name="直接箭头连接符 142"/>
            <p:cNvCxnSpPr/>
            <p:nvPr/>
          </p:nvCxnSpPr>
          <p:spPr>
            <a:xfrm>
              <a:off x="755576" y="3140968"/>
              <a:ext cx="844624"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4" name="矩形 143"/>
            <p:cNvSpPr/>
            <p:nvPr/>
          </p:nvSpPr>
          <p:spPr>
            <a:xfrm>
              <a:off x="1600201" y="2852936"/>
              <a:ext cx="1387624" cy="5760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145" name="直接连接符 144"/>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47" name="文本框 146"/>
            <p:cNvSpPr txBox="1"/>
            <p:nvPr/>
          </p:nvSpPr>
          <p:spPr>
            <a:xfrm>
              <a:off x="1614570" y="2940912"/>
              <a:ext cx="1373254" cy="400110"/>
            </a:xfrm>
            <a:prstGeom prst="rect">
              <a:avLst/>
            </a:prstGeom>
            <a:noFill/>
          </p:spPr>
          <p:txBody>
            <a:bodyPr wrap="square" rtlCol="0">
              <a:spAutoFit/>
            </a:bodyPr>
            <a:lstStyle/>
            <a:p>
              <a:r>
                <a:rPr lang="en-US" altLang="zh-CN" sz="2000" dirty="0">
                  <a:latin typeface="Times New Roman" panose="02020603050405020304" pitchFamily="18" charset="0"/>
                </a:rPr>
                <a:t>0     d  </a:t>
              </a:r>
              <a:r>
                <a:rPr lang="zh-CN" altLang="zh-CN" sz="2000" dirty="0" smtClean="0">
                  <a:solidFill>
                    <a:srgbClr val="FF0000"/>
                  </a:solidFill>
                  <a:latin typeface="Times New Roman" panose="02020603050405020304" pitchFamily="18" charset="0"/>
                </a:rPr>
                <a:t>∧</a:t>
              </a:r>
              <a:r>
                <a:rPr lang="en-US" altLang="zh-CN" sz="2000" dirty="0" smtClean="0">
                  <a:latin typeface="Times New Roman" panose="02020603050405020304" pitchFamily="18" charset="0"/>
                </a:rPr>
                <a:t>   </a:t>
              </a:r>
              <a:endParaRPr lang="zh-CN" altLang="en-US" sz="2000" dirty="0">
                <a:latin typeface="Times New Roman" panose="02020603050405020304" pitchFamily="18" charset="0"/>
              </a:endParaRPr>
            </a:p>
          </p:txBody>
        </p:sp>
      </p:grpSp>
      <p:sp>
        <p:nvSpPr>
          <p:cNvPr id="6" name="灯片编号占位符 5"/>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Times New Roman" panose="02020603050405020304" pitchFamily="18" charset="0"/>
                <a:ea typeface="宋体" panose="02010600030101010101" pitchFamily="2" charset="-122"/>
                <a:cs typeface="+mn-ea"/>
              </a:rPr>
            </a:fld>
            <a:endParaRPr lang="zh-CN" altLang="en-US" strike="noStrike" noProof="1">
              <a:latin typeface="Times New Roman" panose="02020603050405020304" pitchFamily="18" charset="0"/>
            </a:endParaRPr>
          </a:p>
        </p:txBody>
      </p:sp>
      <p:grpSp>
        <p:nvGrpSpPr>
          <p:cNvPr id="49" name="组合 48"/>
          <p:cNvGrpSpPr/>
          <p:nvPr/>
        </p:nvGrpSpPr>
        <p:grpSpPr>
          <a:xfrm>
            <a:off x="539552" y="116632"/>
            <a:ext cx="3757930" cy="664430"/>
            <a:chOff x="999690" y="5025490"/>
            <a:chExt cx="3757930" cy="664430"/>
          </a:xfrm>
        </p:grpSpPr>
        <p:sp>
          <p:nvSpPr>
            <p:cNvPr id="50"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latin typeface="Times New Roman" panose="02020603050405020304" pitchFamily="18" charset="0"/>
                <a:ea typeface="微软雅黑" panose="020B0503020204020204" pitchFamily="34" charset="-122"/>
              </a:endParaRPr>
            </a:p>
          </p:txBody>
        </p:sp>
        <p:sp>
          <p:nvSpPr>
            <p:cNvPr id="51" name="TextBox 6"/>
            <p:cNvSpPr txBox="1">
              <a:spLocks noChangeArrowheads="1"/>
            </p:cNvSpPr>
            <p:nvPr/>
          </p:nvSpPr>
          <p:spPr bwMode="auto">
            <a:xfrm>
              <a:off x="1250380" y="5025490"/>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6.3 </a:t>
              </a:r>
              <a:r>
                <a:rPr lang="zh-CN" altLang="en-US" sz="3600" b="1" dirty="0" smtClean="0">
                  <a:latin typeface="Times New Roman" panose="02020603050405020304" pitchFamily="18" charset="0"/>
                  <a:ea typeface="黑体" panose="02010609060101010101" pitchFamily="49" charset="-122"/>
                </a:rPr>
                <a:t>广义表</a:t>
              </a:r>
              <a:endParaRPr lang="zh-CN" altLang="en-US" sz="3600" b="1" dirty="0">
                <a:latin typeface="Times New Roman" panose="02020603050405020304" pitchFamily="18" charset="0"/>
                <a:ea typeface="黑体" panose="02010609060101010101" pitchFamily="49" charset="-122"/>
              </a:endParaRPr>
            </a:p>
          </p:txBody>
        </p:sp>
        <p:pic>
          <p:nvPicPr>
            <p:cNvPr id="52" name="图片 51"/>
            <p:cNvPicPr>
              <a:picLocks noChangeAspect="1"/>
            </p:cNvPicPr>
            <p:nvPr/>
          </p:nvPicPr>
          <p:blipFill>
            <a:blip r:embed="rId1" cstate="print"/>
            <a:stretch>
              <a:fillRect/>
            </a:stretch>
          </p:blipFill>
          <p:spPr>
            <a:xfrm>
              <a:off x="1199659" y="5205012"/>
              <a:ext cx="420013" cy="322083"/>
            </a:xfrm>
            <a:prstGeom prst="rect">
              <a:avLst/>
            </a:prstGeom>
          </p:spPr>
        </p:pic>
      </p:grpSp>
      <p:sp>
        <p:nvSpPr>
          <p:cNvPr id="54" name="标题 1"/>
          <p:cNvSpPr txBox="1"/>
          <p:nvPr/>
        </p:nvSpPr>
        <p:spPr bwMode="auto">
          <a:xfrm>
            <a:off x="374650" y="764704"/>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457200" indent="-457200">
              <a:buClr>
                <a:srgbClr val="FF0000"/>
              </a:buClr>
            </a:pPr>
            <a:r>
              <a:rPr lang="en-US" altLang="zh-CN" sz="2800" dirty="0" smtClean="0">
                <a:solidFill>
                  <a:srgbClr val="FF0000"/>
                </a:solidFill>
                <a:latin typeface="Times New Roman" panose="02020603050405020304" pitchFamily="18" charset="0"/>
                <a:ea typeface="宋体" panose="02010600030101010101" pitchFamily="2" charset="-122"/>
                <a:cs typeface="+mn-cs"/>
                <a:sym typeface="+mn-ea"/>
              </a:rPr>
              <a:t>6</a:t>
            </a:r>
            <a:r>
              <a:rPr lang="zh-CN" altLang="en-US" sz="2800" dirty="0" smtClean="0">
                <a:solidFill>
                  <a:srgbClr val="FF0000"/>
                </a:solidFill>
                <a:latin typeface="Times New Roman" panose="02020603050405020304" pitchFamily="18" charset="0"/>
                <a:ea typeface="宋体" panose="02010600030101010101" pitchFamily="2" charset="-122"/>
                <a:cs typeface="+mn-cs"/>
                <a:sym typeface="+mn-ea"/>
              </a:rPr>
              <a:t>.</a:t>
            </a:r>
            <a:r>
              <a:rPr lang="en-US" altLang="zh-CN" sz="2800" dirty="0" smtClean="0">
                <a:solidFill>
                  <a:srgbClr val="FF0000"/>
                </a:solidFill>
                <a:latin typeface="Times New Roman" panose="02020603050405020304" pitchFamily="18" charset="0"/>
                <a:ea typeface="宋体" panose="02010600030101010101" pitchFamily="2" charset="-122"/>
                <a:cs typeface="+mn-cs"/>
                <a:sym typeface="+mn-ea"/>
              </a:rPr>
              <a:t>3</a:t>
            </a:r>
            <a:r>
              <a:rPr lang="zh-CN" altLang="en-US" sz="2800" dirty="0" smtClean="0">
                <a:solidFill>
                  <a:srgbClr val="FF0000"/>
                </a:solidFill>
                <a:latin typeface="Times New Roman" panose="02020603050405020304" pitchFamily="18" charset="0"/>
                <a:ea typeface="宋体" panose="02010600030101010101" pitchFamily="2" charset="-122"/>
                <a:cs typeface="+mn-cs"/>
                <a:sym typeface="+mn-ea"/>
              </a:rPr>
              <a:t>.3 广义表的存储</a:t>
            </a:r>
            <a:endParaRPr lang="zh-CN" altLang="en-US" sz="2800" dirty="0">
              <a:solidFill>
                <a:srgbClr val="FF0000"/>
              </a:solidFill>
              <a:latin typeface="Times New Roman" panose="02020603050405020304" pitchFamily="18" charset="0"/>
              <a:ea typeface="宋体" panose="02010600030101010101" pitchFamily="2" charset="-122"/>
              <a:cs typeface="+mn-cs"/>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5" grpId="0" animBg="1"/>
      <p:bldP spid="108" grpId="0"/>
      <p:bldP spid="5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31477" y="1428868"/>
            <a:ext cx="8229600" cy="4678451"/>
          </a:xfrm>
        </p:spPr>
        <p:txBody>
          <a:bodyPr/>
          <a:lstStyle/>
          <a:p>
            <a:pPr>
              <a:lnSpc>
                <a:spcPct val="120000"/>
              </a:lnSpc>
              <a:spcBef>
                <a:spcPts val="600"/>
              </a:spcBef>
              <a:buClr>
                <a:srgbClr val="FF0000"/>
              </a:buClr>
              <a:buFont typeface="Wingdings" panose="05000000000000000000" pitchFamily="2" charset="2"/>
              <a:buChar char="p"/>
            </a:pPr>
            <a:r>
              <a:rPr lang="zh-CN" altLang="en-US" sz="2400" b="1" dirty="0">
                <a:solidFill>
                  <a:srgbClr val="FF0000"/>
                </a:solidFill>
              </a:rPr>
              <a:t>分析：</a:t>
            </a:r>
            <a:endParaRPr lang="en-US" altLang="zh-CN" sz="2400" b="1" dirty="0">
              <a:solidFill>
                <a:srgbClr val="FF0000"/>
              </a:solidFill>
            </a:endParaRPr>
          </a:p>
          <a:p>
            <a:pPr lvl="1">
              <a:lnSpc>
                <a:spcPct val="120000"/>
              </a:lnSpc>
              <a:spcBef>
                <a:spcPts val="600"/>
              </a:spcBef>
              <a:buClr>
                <a:srgbClr val="FF0000"/>
              </a:buClr>
              <a:buFont typeface="Wingdings" panose="05000000000000000000" pitchFamily="2" charset="2"/>
              <a:buChar char="n"/>
            </a:pPr>
            <a:r>
              <a:rPr lang="zh-CN" altLang="zh-CN" sz="2400" b="1" dirty="0"/>
              <a:t>这种表示方法的优点是比较直观，各结点的深度（指作为子表的深度）与元素在表中的括号层次数相对应，因而容易设计出运算的递归算法。</a:t>
            </a:r>
            <a:endParaRPr lang="en-US" altLang="zh-CN" sz="2400" b="1" dirty="0"/>
          </a:p>
          <a:p>
            <a:pPr lvl="1">
              <a:lnSpc>
                <a:spcPct val="120000"/>
              </a:lnSpc>
              <a:spcBef>
                <a:spcPts val="600"/>
              </a:spcBef>
              <a:buClr>
                <a:srgbClr val="FF0000"/>
              </a:buClr>
              <a:buFont typeface="Wingdings" panose="05000000000000000000" pitchFamily="2" charset="2"/>
              <a:buChar char="n"/>
            </a:pPr>
            <a:r>
              <a:rPr lang="zh-CN" altLang="zh-CN" sz="2400" b="1" dirty="0" smtClean="0"/>
              <a:t>例如</a:t>
            </a:r>
            <a:r>
              <a:rPr lang="en-US" altLang="zh-CN" sz="2400" b="1" dirty="0" smtClean="0"/>
              <a:t>: </a:t>
            </a:r>
            <a:r>
              <a:rPr lang="zh-CN" altLang="zh-CN" sz="2400" b="1" dirty="0" smtClean="0"/>
              <a:t>原子</a:t>
            </a:r>
            <a:r>
              <a:rPr lang="en-US" altLang="zh-CN" sz="2400" b="1" dirty="0"/>
              <a:t>a</a:t>
            </a:r>
            <a:r>
              <a:rPr lang="zh-CN" altLang="zh-CN" sz="2400" b="1" dirty="0"/>
              <a:t>的深度是</a:t>
            </a:r>
            <a:r>
              <a:rPr lang="en-US" altLang="zh-CN" sz="2400" b="1" dirty="0"/>
              <a:t>1</a:t>
            </a:r>
            <a:r>
              <a:rPr lang="zh-CN" altLang="zh-CN" sz="2400" b="1" dirty="0"/>
              <a:t>，则在存储结构中是第一层，而原子</a:t>
            </a:r>
            <a:r>
              <a:rPr lang="en-US" altLang="zh-CN" sz="2400" b="1" dirty="0"/>
              <a:t>c</a:t>
            </a:r>
            <a:r>
              <a:rPr lang="zh-CN" altLang="zh-CN" sz="2400" b="1" dirty="0"/>
              <a:t>的深度为</a:t>
            </a:r>
            <a:r>
              <a:rPr lang="en-US" altLang="zh-CN" sz="2400" b="1" dirty="0"/>
              <a:t>3</a:t>
            </a:r>
            <a:r>
              <a:rPr lang="zh-CN" altLang="zh-CN" sz="2400" b="1" dirty="0"/>
              <a:t>，则它位于存储结构重的第三层。</a:t>
            </a:r>
            <a:endParaRPr lang="zh-CN" altLang="zh-CN" sz="2400" b="1" dirty="0"/>
          </a:p>
          <a:p>
            <a:pPr lvl="1">
              <a:lnSpc>
                <a:spcPct val="120000"/>
              </a:lnSpc>
              <a:spcBef>
                <a:spcPts val="600"/>
              </a:spcBef>
              <a:buClr>
                <a:srgbClr val="FF0000"/>
              </a:buClr>
              <a:buFont typeface="Wingdings" panose="05000000000000000000" pitchFamily="2" charset="2"/>
              <a:buChar char="n"/>
            </a:pPr>
            <a:r>
              <a:rPr lang="zh-CN" altLang="zh-CN" sz="2400" b="1" dirty="0"/>
              <a:t>然而，这种存储结构也有其</a:t>
            </a:r>
            <a:r>
              <a:rPr lang="zh-CN" altLang="zh-CN" sz="2400" b="1" dirty="0">
                <a:solidFill>
                  <a:srgbClr val="FF0000"/>
                </a:solidFill>
              </a:rPr>
              <a:t>不足</a:t>
            </a:r>
            <a:r>
              <a:rPr lang="zh-CN" altLang="zh-CN" sz="2400" b="1" dirty="0" smtClean="0"/>
              <a:t>：</a:t>
            </a:r>
            <a:endParaRPr lang="en-US" altLang="zh-CN" sz="2400" b="1" dirty="0" smtClean="0"/>
          </a:p>
          <a:p>
            <a:pPr lvl="2">
              <a:lnSpc>
                <a:spcPct val="120000"/>
              </a:lnSpc>
              <a:spcBef>
                <a:spcPts val="600"/>
              </a:spcBef>
              <a:buClr>
                <a:srgbClr val="FF0000"/>
              </a:buClr>
              <a:buFont typeface="Wingdings" panose="05000000000000000000" pitchFamily="2" charset="2"/>
              <a:buChar char="u"/>
            </a:pPr>
            <a:r>
              <a:rPr lang="zh-CN" altLang="zh-CN" sz="2000" b="1" dirty="0" smtClean="0"/>
              <a:t>由于</a:t>
            </a:r>
            <a:r>
              <a:rPr lang="zh-CN" altLang="zh-CN" sz="2000" b="1" dirty="0"/>
              <a:t>表中的某个元素可能是被多处引用或指示的另外的子表，因此，</a:t>
            </a:r>
            <a:r>
              <a:rPr lang="zh-CN" altLang="zh-CN" sz="2000" b="1" dirty="0">
                <a:solidFill>
                  <a:srgbClr val="FF0000"/>
                </a:solidFill>
              </a:rPr>
              <a:t>当对该子表作诸如插入和删除运算时，容易造成不一致的问题</a:t>
            </a:r>
            <a:r>
              <a:rPr lang="zh-CN" altLang="zh-CN" sz="2000" b="1" dirty="0"/>
              <a:t>。</a:t>
            </a:r>
            <a:endParaRPr lang="zh-CN" altLang="zh-CN" sz="2000" b="1" dirty="0"/>
          </a:p>
          <a:p>
            <a:pPr>
              <a:lnSpc>
                <a:spcPct val="120000"/>
              </a:lnSpc>
              <a:spcBef>
                <a:spcPts val="600"/>
              </a:spcBef>
            </a:pPr>
            <a:endParaRPr lang="zh-CN" altLang="en-US" b="1" dirty="0"/>
          </a:p>
        </p:txBody>
      </p:sp>
      <p:sp>
        <p:nvSpPr>
          <p:cNvPr id="6" name="灯片编号占位符 5"/>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grpSp>
        <p:nvGrpSpPr>
          <p:cNvPr id="7" name="组合 6"/>
          <p:cNvGrpSpPr/>
          <p:nvPr/>
        </p:nvGrpSpPr>
        <p:grpSpPr>
          <a:xfrm>
            <a:off x="539552" y="116632"/>
            <a:ext cx="3757930" cy="664430"/>
            <a:chOff x="999690" y="5025490"/>
            <a:chExt cx="3757930" cy="664430"/>
          </a:xfrm>
        </p:grpSpPr>
        <p:sp>
          <p:nvSpPr>
            <p:cNvPr id="8"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latin typeface="Times New Roman" panose="02020603050405020304" pitchFamily="18" charset="0"/>
                <a:ea typeface="微软雅黑" panose="020B0503020204020204" pitchFamily="34" charset="-122"/>
              </a:endParaRPr>
            </a:p>
          </p:txBody>
        </p:sp>
        <p:sp>
          <p:nvSpPr>
            <p:cNvPr id="9" name="TextBox 6"/>
            <p:cNvSpPr txBox="1">
              <a:spLocks noChangeArrowheads="1"/>
            </p:cNvSpPr>
            <p:nvPr/>
          </p:nvSpPr>
          <p:spPr bwMode="auto">
            <a:xfrm>
              <a:off x="1250380" y="5025490"/>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6.3 </a:t>
              </a:r>
              <a:r>
                <a:rPr lang="zh-CN" altLang="en-US" sz="3600" b="1" dirty="0" smtClean="0">
                  <a:latin typeface="Times New Roman" panose="02020603050405020304" pitchFamily="18" charset="0"/>
                  <a:ea typeface="黑体" panose="02010609060101010101" pitchFamily="49" charset="-122"/>
                </a:rPr>
                <a:t>广义表</a:t>
              </a:r>
              <a:endParaRPr lang="zh-CN" altLang="en-US" sz="3600" b="1" dirty="0">
                <a:latin typeface="Times New Roman" panose="02020603050405020304" pitchFamily="18" charset="0"/>
                <a:ea typeface="黑体" panose="02010609060101010101" pitchFamily="49" charset="-122"/>
              </a:endParaRPr>
            </a:p>
          </p:txBody>
        </p:sp>
        <p:pic>
          <p:nvPicPr>
            <p:cNvPr id="10" name="图片 9"/>
            <p:cNvPicPr>
              <a:picLocks noChangeAspect="1"/>
            </p:cNvPicPr>
            <p:nvPr/>
          </p:nvPicPr>
          <p:blipFill>
            <a:blip r:embed="rId1" cstate="print"/>
            <a:stretch>
              <a:fillRect/>
            </a:stretch>
          </p:blipFill>
          <p:spPr>
            <a:xfrm>
              <a:off x="1199659" y="5205012"/>
              <a:ext cx="420013" cy="322083"/>
            </a:xfrm>
            <a:prstGeom prst="rect">
              <a:avLst/>
            </a:prstGeom>
          </p:spPr>
        </p:pic>
      </p:grpSp>
      <p:sp>
        <p:nvSpPr>
          <p:cNvPr id="11" name="标题 1"/>
          <p:cNvSpPr txBox="1"/>
          <p:nvPr/>
        </p:nvSpPr>
        <p:spPr bwMode="auto">
          <a:xfrm>
            <a:off x="374650" y="764704"/>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457200" indent="-457200">
              <a:buClr>
                <a:srgbClr val="FF0000"/>
              </a:buClr>
            </a:pPr>
            <a:r>
              <a:rPr lang="en-US" altLang="zh-CN" sz="2800" dirty="0" smtClean="0">
                <a:solidFill>
                  <a:srgbClr val="FF0000"/>
                </a:solidFill>
                <a:latin typeface="Times New Roman" panose="02020603050405020304" pitchFamily="18" charset="0"/>
                <a:ea typeface="宋体" panose="02010600030101010101" pitchFamily="2" charset="-122"/>
                <a:cs typeface="+mn-cs"/>
                <a:sym typeface="+mn-ea"/>
              </a:rPr>
              <a:t>6</a:t>
            </a:r>
            <a:r>
              <a:rPr lang="zh-CN" altLang="en-US" sz="2800" dirty="0" smtClean="0">
                <a:solidFill>
                  <a:srgbClr val="FF0000"/>
                </a:solidFill>
                <a:latin typeface="Times New Roman" panose="02020603050405020304" pitchFamily="18" charset="0"/>
                <a:ea typeface="宋体" panose="02010600030101010101" pitchFamily="2" charset="-122"/>
                <a:cs typeface="+mn-cs"/>
                <a:sym typeface="+mn-ea"/>
              </a:rPr>
              <a:t>.</a:t>
            </a:r>
            <a:r>
              <a:rPr lang="en-US" altLang="zh-CN" sz="2800" dirty="0" smtClean="0">
                <a:solidFill>
                  <a:srgbClr val="FF0000"/>
                </a:solidFill>
                <a:latin typeface="Times New Roman" panose="02020603050405020304" pitchFamily="18" charset="0"/>
                <a:ea typeface="宋体" panose="02010600030101010101" pitchFamily="2" charset="-122"/>
                <a:cs typeface="+mn-cs"/>
                <a:sym typeface="+mn-ea"/>
              </a:rPr>
              <a:t>3</a:t>
            </a:r>
            <a:r>
              <a:rPr lang="zh-CN" altLang="en-US" sz="2800" dirty="0" smtClean="0">
                <a:solidFill>
                  <a:srgbClr val="FF0000"/>
                </a:solidFill>
                <a:latin typeface="Times New Roman" panose="02020603050405020304" pitchFamily="18" charset="0"/>
                <a:ea typeface="宋体" panose="02010600030101010101" pitchFamily="2" charset="-122"/>
                <a:cs typeface="+mn-cs"/>
                <a:sym typeface="+mn-ea"/>
              </a:rPr>
              <a:t>.3 广义表的存储</a:t>
            </a:r>
            <a:endParaRPr lang="zh-CN" altLang="en-US" sz="2800" dirty="0">
              <a:solidFill>
                <a:srgbClr val="FF0000"/>
              </a:solidFill>
              <a:latin typeface="Times New Roman" panose="02020603050405020304" pitchFamily="18" charset="0"/>
              <a:ea typeface="宋体" panose="02010600030101010101" pitchFamily="2" charset="-122"/>
              <a:cs typeface="+mn-cs"/>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408465"/>
            <a:ext cx="8708868" cy="5110181"/>
          </a:xfrm>
        </p:spPr>
        <p:txBody>
          <a:bodyPr/>
          <a:lstStyle/>
          <a:p>
            <a:pPr marL="0" indent="0">
              <a:buNone/>
            </a:pPr>
            <a:r>
              <a:rPr lang="zh-CN" altLang="en-US" sz="2400" b="1" dirty="0">
                <a:solidFill>
                  <a:srgbClr val="0000FF"/>
                </a:solidFill>
              </a:rPr>
              <a:t>（</a:t>
            </a:r>
            <a:r>
              <a:rPr lang="en-US" altLang="zh-CN" sz="2400" b="1" dirty="0">
                <a:solidFill>
                  <a:srgbClr val="0000FF"/>
                </a:solidFill>
              </a:rPr>
              <a:t>2</a:t>
            </a:r>
            <a:r>
              <a:rPr lang="zh-CN" altLang="en-US" sz="2400" b="1" dirty="0">
                <a:solidFill>
                  <a:srgbClr val="0000FF"/>
                </a:solidFill>
              </a:rPr>
              <a:t>）改进方法</a:t>
            </a:r>
            <a:endParaRPr lang="en-US" altLang="zh-CN" sz="2400" b="1" dirty="0">
              <a:solidFill>
                <a:srgbClr val="0000FF"/>
              </a:solidFill>
            </a:endParaRPr>
          </a:p>
          <a:p>
            <a:pPr lvl="1">
              <a:buClr>
                <a:srgbClr val="FF0000"/>
              </a:buClr>
              <a:buFont typeface="Wingdings" panose="05000000000000000000" pitchFamily="2" charset="2"/>
              <a:buChar char="n"/>
            </a:pPr>
            <a:r>
              <a:rPr lang="zh-CN" altLang="zh-CN" sz="2000" b="1" dirty="0" smtClean="0"/>
              <a:t>为</a:t>
            </a:r>
            <a:r>
              <a:rPr lang="zh-CN" altLang="zh-CN" sz="2000" b="1" dirty="0"/>
              <a:t>每个子表设置一个类似于线性链表中头结点的</a:t>
            </a:r>
            <a:r>
              <a:rPr lang="zh-CN" altLang="zh-CN" sz="2000" b="1" dirty="0">
                <a:solidFill>
                  <a:srgbClr val="FF0000"/>
                </a:solidFill>
              </a:rPr>
              <a:t>表结点</a:t>
            </a:r>
            <a:r>
              <a:rPr lang="zh-CN" altLang="zh-CN" sz="2000" b="1" dirty="0"/>
              <a:t>，以取代整个子表的出现，由表结点中设置一个指针指示其具体结构</a:t>
            </a:r>
            <a:r>
              <a:rPr lang="zh-CN" altLang="zh-CN" sz="2000" b="1" dirty="0" smtClean="0"/>
              <a:t>。</a:t>
            </a:r>
            <a:endParaRPr lang="en-US" altLang="zh-CN" sz="2000" b="1" dirty="0" smtClean="0"/>
          </a:p>
          <a:p>
            <a:pPr lvl="1">
              <a:buClr>
                <a:srgbClr val="FF0000"/>
              </a:buClr>
              <a:buFont typeface="Wingdings" panose="05000000000000000000" pitchFamily="2" charset="2"/>
              <a:buChar char="n"/>
            </a:pPr>
            <a:r>
              <a:rPr lang="zh-CN" altLang="zh-CN" sz="2000" b="1" dirty="0" smtClean="0"/>
              <a:t>这样</a:t>
            </a:r>
            <a:r>
              <a:rPr lang="zh-CN" altLang="zh-CN" sz="2000" b="1" dirty="0"/>
              <a:t>，对应于原子的结点可设置一个</a:t>
            </a:r>
            <a:r>
              <a:rPr lang="zh-CN" altLang="zh-CN" sz="2000" b="1" dirty="0">
                <a:solidFill>
                  <a:srgbClr val="FF0000"/>
                </a:solidFill>
              </a:rPr>
              <a:t>原子结点</a:t>
            </a:r>
            <a:r>
              <a:rPr lang="zh-CN" altLang="zh-CN" sz="2000" b="1" dirty="0"/>
              <a:t>。显然，表结点和原子结点的结构可以不同。</a:t>
            </a:r>
            <a:endParaRPr lang="en-US" altLang="zh-CN" sz="2000" b="1" dirty="0"/>
          </a:p>
          <a:p>
            <a:pPr lvl="1">
              <a:buClr>
                <a:srgbClr val="FF0000"/>
              </a:buClr>
              <a:buFont typeface="Wingdings" panose="05000000000000000000" pitchFamily="2" charset="2"/>
              <a:buChar char="n"/>
            </a:pPr>
            <a:r>
              <a:rPr lang="zh-CN" altLang="zh-CN" sz="2000" b="1" dirty="0" smtClean="0"/>
              <a:t>所</a:t>
            </a:r>
            <a:r>
              <a:rPr lang="zh-CN" altLang="zh-CN" sz="2000" b="1" dirty="0"/>
              <a:t>述表</a:t>
            </a:r>
            <a:r>
              <a:rPr lang="en-US" altLang="zh-CN" sz="2000" b="1" i="1" dirty="0"/>
              <a:t>L</a:t>
            </a:r>
            <a:r>
              <a:rPr lang="en-US" altLang="zh-CN" sz="2000" b="1" dirty="0"/>
              <a:t>=(a,(b, (</a:t>
            </a:r>
            <a:r>
              <a:rPr lang="en-US" altLang="zh-CN" sz="2000" b="1" dirty="0" err="1"/>
              <a:t>c,d</a:t>
            </a:r>
            <a:r>
              <a:rPr lang="en-US" altLang="zh-CN" sz="2000" b="1" dirty="0"/>
              <a:t>) ,e))</a:t>
            </a:r>
            <a:r>
              <a:rPr lang="zh-CN" altLang="zh-CN" sz="2000" b="1" dirty="0"/>
              <a:t>的存储结构如图所示：</a:t>
            </a:r>
            <a:endParaRPr lang="zh-CN" altLang="zh-CN" sz="2000" b="1" dirty="0"/>
          </a:p>
          <a:p>
            <a:endParaRPr lang="zh-CN" altLang="en-US" dirty="0"/>
          </a:p>
        </p:txBody>
      </p:sp>
      <p:sp>
        <p:nvSpPr>
          <p:cNvPr id="5" name="对话气泡: 矩形 4"/>
          <p:cNvSpPr/>
          <p:nvPr/>
        </p:nvSpPr>
        <p:spPr>
          <a:xfrm>
            <a:off x="3589217" y="3711815"/>
            <a:ext cx="1367796" cy="410912"/>
          </a:xfrm>
          <a:prstGeom prst="wedgeRectCallout">
            <a:avLst>
              <a:gd name="adj1" fmla="val -104630"/>
              <a:gd name="adj2" fmla="val 29756"/>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000" dirty="0">
                <a:latin typeface="Times New Roman" panose="02020603050405020304" pitchFamily="18" charset="0"/>
              </a:rPr>
              <a:t>*</a:t>
            </a:r>
            <a:r>
              <a:rPr lang="en-US" altLang="zh-CN" sz="2000" i="1" dirty="0">
                <a:latin typeface="Times New Roman" panose="02020603050405020304" pitchFamily="18" charset="0"/>
              </a:rPr>
              <a:t>L</a:t>
            </a:r>
            <a:r>
              <a:rPr lang="en-US" altLang="zh-CN" sz="2000" dirty="0">
                <a:latin typeface="Times New Roman" panose="02020603050405020304" pitchFamily="18" charset="0"/>
              </a:rPr>
              <a:t>:</a:t>
            </a:r>
            <a:r>
              <a:rPr lang="zh-CN" altLang="en-US" sz="2000" dirty="0">
                <a:latin typeface="Times New Roman" panose="02020603050405020304" pitchFamily="18" charset="0"/>
              </a:rPr>
              <a:t>表结点</a:t>
            </a:r>
            <a:endParaRPr lang="zh-CN" altLang="en-US" dirty="0">
              <a:latin typeface="Times New Roman" panose="02020603050405020304" pitchFamily="18" charset="0"/>
            </a:endParaRPr>
          </a:p>
        </p:txBody>
      </p:sp>
      <p:sp>
        <p:nvSpPr>
          <p:cNvPr id="12" name="文本框 11"/>
          <p:cNvSpPr txBox="1"/>
          <p:nvPr/>
        </p:nvSpPr>
        <p:spPr>
          <a:xfrm>
            <a:off x="1032900" y="3724716"/>
            <a:ext cx="269702" cy="369332"/>
          </a:xfrm>
          <a:prstGeom prst="rect">
            <a:avLst/>
          </a:prstGeom>
          <a:noFill/>
        </p:spPr>
        <p:txBody>
          <a:bodyPr wrap="square" rtlCol="0">
            <a:spAutoFit/>
          </a:bodyPr>
          <a:lstStyle/>
          <a:p>
            <a:r>
              <a:rPr lang="en-US" altLang="zh-CN" b="1" i="1" dirty="0">
                <a:latin typeface="Times New Roman" panose="02020603050405020304" pitchFamily="18" charset="0"/>
              </a:rPr>
              <a:t>L</a:t>
            </a:r>
            <a:endParaRPr lang="zh-CN" altLang="en-US" b="1" i="1" dirty="0">
              <a:latin typeface="Times New Roman" panose="02020603050405020304" pitchFamily="18" charset="0"/>
            </a:endParaRPr>
          </a:p>
        </p:txBody>
      </p:sp>
      <p:grpSp>
        <p:nvGrpSpPr>
          <p:cNvPr id="13" name="组合 12"/>
          <p:cNvGrpSpPr/>
          <p:nvPr/>
        </p:nvGrpSpPr>
        <p:grpSpPr>
          <a:xfrm>
            <a:off x="1362522" y="3679440"/>
            <a:ext cx="1643301" cy="456415"/>
            <a:chOff x="755576" y="2852936"/>
            <a:chExt cx="2443703" cy="590968"/>
          </a:xfrm>
        </p:grpSpPr>
        <p:cxnSp>
          <p:nvCxnSpPr>
            <p:cNvPr id="14" name="直接箭头连接符 13"/>
            <p:cNvCxnSpPr/>
            <p:nvPr/>
          </p:nvCxnSpPr>
          <p:spPr>
            <a:xfrm>
              <a:off x="755576" y="3140968"/>
              <a:ext cx="844624"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600200" y="2852936"/>
              <a:ext cx="1387625" cy="590968"/>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16" name="直接连接符 15"/>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634312" y="2911560"/>
              <a:ext cx="1564967" cy="454238"/>
            </a:xfrm>
            <a:prstGeom prst="rect">
              <a:avLst/>
            </a:prstGeom>
            <a:noFill/>
          </p:spPr>
          <p:txBody>
            <a:bodyPr wrap="square" rtlCol="0">
              <a:spAutoFit/>
            </a:bodyPr>
            <a:lstStyle/>
            <a:p>
              <a:r>
                <a:rPr lang="en-US" altLang="zh-CN" sz="2000" dirty="0">
                  <a:latin typeface="Times New Roman" panose="02020603050405020304" pitchFamily="18" charset="0"/>
                </a:rPr>
                <a:t>1      </a:t>
              </a:r>
              <a:r>
                <a:rPr lang="en-US" altLang="zh-CN" sz="2000" dirty="0" smtClean="0">
                  <a:latin typeface="Times New Roman" panose="02020603050405020304" pitchFamily="18" charset="0"/>
                </a:rPr>
                <a:t> </a:t>
              </a:r>
              <a:r>
                <a:rPr lang="zh-CN" altLang="zh-CN" sz="2000" dirty="0" smtClean="0">
                  <a:solidFill>
                    <a:srgbClr val="FF0000"/>
                  </a:solidFill>
                  <a:latin typeface="Times New Roman" panose="02020603050405020304" pitchFamily="18" charset="0"/>
                </a:rPr>
                <a:t>∧</a:t>
              </a:r>
              <a:endParaRPr lang="zh-CN" altLang="en-US" sz="2000" dirty="0">
                <a:solidFill>
                  <a:srgbClr val="FF0000"/>
                </a:solidFill>
                <a:latin typeface="Times New Roman" panose="02020603050405020304" pitchFamily="18" charset="0"/>
              </a:endParaRPr>
            </a:p>
          </p:txBody>
        </p:sp>
      </p:grpSp>
      <p:cxnSp>
        <p:nvCxnSpPr>
          <p:cNvPr id="19" name="直接箭头连接符 18"/>
          <p:cNvCxnSpPr/>
          <p:nvPr/>
        </p:nvCxnSpPr>
        <p:spPr>
          <a:xfrm>
            <a:off x="2370634" y="3927839"/>
            <a:ext cx="0" cy="457741"/>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1896759" y="4385287"/>
            <a:ext cx="933126" cy="444905"/>
            <a:chOff x="1600200" y="2852936"/>
            <a:chExt cx="1387624" cy="576064"/>
          </a:xfrm>
        </p:grpSpPr>
        <p:sp>
          <p:nvSpPr>
            <p:cNvPr id="21" name="矩形 20"/>
            <p:cNvSpPr/>
            <p:nvPr/>
          </p:nvSpPr>
          <p:spPr>
            <a:xfrm>
              <a:off x="1600200" y="2852936"/>
              <a:ext cx="1387624" cy="5760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22" name="直接连接符 21"/>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612690" y="2898217"/>
              <a:ext cx="1142173" cy="454238"/>
            </a:xfrm>
            <a:prstGeom prst="rect">
              <a:avLst/>
            </a:prstGeom>
            <a:noFill/>
          </p:spPr>
          <p:txBody>
            <a:bodyPr wrap="square" rtlCol="0">
              <a:spAutoFit/>
            </a:bodyPr>
            <a:lstStyle/>
            <a:p>
              <a:r>
                <a:rPr lang="en-US" altLang="zh-CN" sz="2000" dirty="0">
                  <a:latin typeface="Times New Roman" panose="02020603050405020304" pitchFamily="18" charset="0"/>
                </a:rPr>
                <a:t>0  </a:t>
              </a:r>
              <a:r>
                <a:rPr lang="en-US" altLang="zh-CN" sz="2000" dirty="0" smtClean="0">
                  <a:latin typeface="Times New Roman" panose="02020603050405020304" pitchFamily="18" charset="0"/>
                </a:rPr>
                <a:t> a  </a:t>
              </a:r>
              <a:endParaRPr lang="zh-CN" altLang="en-US" sz="2000" dirty="0">
                <a:latin typeface="Times New Roman" panose="02020603050405020304" pitchFamily="18" charset="0"/>
              </a:endParaRPr>
            </a:p>
          </p:txBody>
        </p:sp>
      </p:grpSp>
      <p:grpSp>
        <p:nvGrpSpPr>
          <p:cNvPr id="25" name="组合 24"/>
          <p:cNvGrpSpPr/>
          <p:nvPr/>
        </p:nvGrpSpPr>
        <p:grpSpPr>
          <a:xfrm>
            <a:off x="4078184" y="5252910"/>
            <a:ext cx="1501105" cy="444905"/>
            <a:chOff x="755576" y="2852936"/>
            <a:chExt cx="2232248" cy="576064"/>
          </a:xfrm>
        </p:grpSpPr>
        <p:cxnSp>
          <p:nvCxnSpPr>
            <p:cNvPr id="26" name="直接箭头连接符 25"/>
            <p:cNvCxnSpPr/>
            <p:nvPr/>
          </p:nvCxnSpPr>
          <p:spPr>
            <a:xfrm>
              <a:off x="755576" y="3140968"/>
              <a:ext cx="844624"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600200" y="2852937"/>
              <a:ext cx="1387624" cy="56943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28" name="直接连接符 27"/>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1600200" y="2909773"/>
              <a:ext cx="844621" cy="454238"/>
            </a:xfrm>
            <a:prstGeom prst="rect">
              <a:avLst/>
            </a:prstGeom>
            <a:noFill/>
          </p:spPr>
          <p:txBody>
            <a:bodyPr wrap="square" rtlCol="0">
              <a:spAutoFit/>
            </a:bodyPr>
            <a:lstStyle/>
            <a:p>
              <a:r>
                <a:rPr lang="en-US" altLang="zh-CN" sz="2000" dirty="0">
                  <a:latin typeface="Times New Roman" panose="02020603050405020304" pitchFamily="18" charset="0"/>
                </a:rPr>
                <a:t>1      </a:t>
              </a:r>
              <a:endParaRPr lang="zh-CN" altLang="en-US" sz="2000" dirty="0">
                <a:latin typeface="Times New Roman" panose="02020603050405020304" pitchFamily="18" charset="0"/>
              </a:endParaRPr>
            </a:p>
          </p:txBody>
        </p:sp>
      </p:grpSp>
      <p:grpSp>
        <p:nvGrpSpPr>
          <p:cNvPr id="31" name="组合 30"/>
          <p:cNvGrpSpPr/>
          <p:nvPr/>
        </p:nvGrpSpPr>
        <p:grpSpPr>
          <a:xfrm>
            <a:off x="2673228" y="4435217"/>
            <a:ext cx="1703219" cy="444905"/>
            <a:chOff x="755576" y="2852936"/>
            <a:chExt cx="2532806" cy="576064"/>
          </a:xfrm>
        </p:grpSpPr>
        <p:cxnSp>
          <p:nvCxnSpPr>
            <p:cNvPr id="32" name="直接箭头连接符 31"/>
            <p:cNvCxnSpPr/>
            <p:nvPr/>
          </p:nvCxnSpPr>
          <p:spPr>
            <a:xfrm>
              <a:off x="755576" y="3140968"/>
              <a:ext cx="844624"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1600201" y="2852936"/>
              <a:ext cx="1387624" cy="5760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34" name="直接连接符 33"/>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1586509" y="2914875"/>
              <a:ext cx="1701873" cy="454238"/>
            </a:xfrm>
            <a:prstGeom prst="rect">
              <a:avLst/>
            </a:prstGeom>
            <a:noFill/>
          </p:spPr>
          <p:txBody>
            <a:bodyPr wrap="square" rtlCol="0">
              <a:spAutoFit/>
            </a:bodyPr>
            <a:lstStyle/>
            <a:p>
              <a:r>
                <a:rPr lang="en-US" altLang="zh-CN" sz="2000" dirty="0">
                  <a:latin typeface="Times New Roman" panose="02020603050405020304" pitchFamily="18" charset="0"/>
                </a:rPr>
                <a:t>1      </a:t>
              </a:r>
              <a:r>
                <a:rPr lang="en-US" altLang="zh-CN" sz="2000" dirty="0" smtClean="0">
                  <a:latin typeface="Times New Roman" panose="02020603050405020304" pitchFamily="18" charset="0"/>
                </a:rPr>
                <a:t> </a:t>
              </a:r>
              <a:r>
                <a:rPr lang="zh-CN" altLang="zh-CN" dirty="0" smtClean="0">
                  <a:solidFill>
                    <a:srgbClr val="FF0000"/>
                  </a:solidFill>
                  <a:latin typeface="Times New Roman" panose="02020603050405020304" pitchFamily="18" charset="0"/>
                </a:rPr>
                <a:t>∧</a:t>
              </a:r>
              <a:endParaRPr lang="zh-CN" altLang="en-US" sz="2000" dirty="0">
                <a:solidFill>
                  <a:srgbClr val="FF0000"/>
                </a:solidFill>
                <a:latin typeface="Times New Roman" panose="02020603050405020304" pitchFamily="18" charset="0"/>
              </a:endParaRPr>
            </a:p>
          </p:txBody>
        </p:sp>
      </p:grpSp>
      <p:cxnSp>
        <p:nvCxnSpPr>
          <p:cNvPr id="37" name="直接箭头连接符 36"/>
          <p:cNvCxnSpPr/>
          <p:nvPr/>
        </p:nvCxnSpPr>
        <p:spPr>
          <a:xfrm>
            <a:off x="5106938" y="5436716"/>
            <a:ext cx="0" cy="561566"/>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5437528" y="5350716"/>
            <a:ext cx="1609804" cy="444905"/>
            <a:chOff x="755576" y="2852936"/>
            <a:chExt cx="2393891" cy="576064"/>
          </a:xfrm>
        </p:grpSpPr>
        <p:cxnSp>
          <p:nvCxnSpPr>
            <p:cNvPr id="44" name="直接箭头连接符 43"/>
            <p:cNvCxnSpPr/>
            <p:nvPr/>
          </p:nvCxnSpPr>
          <p:spPr>
            <a:xfrm>
              <a:off x="755576" y="3140968"/>
              <a:ext cx="844624"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1600200" y="2852936"/>
              <a:ext cx="1387624" cy="57606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46" name="直接连接符 45"/>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1636711" y="2916743"/>
              <a:ext cx="1512756" cy="454238"/>
            </a:xfrm>
            <a:prstGeom prst="rect">
              <a:avLst/>
            </a:prstGeom>
            <a:noFill/>
          </p:spPr>
          <p:txBody>
            <a:bodyPr wrap="square" rtlCol="0">
              <a:spAutoFit/>
            </a:bodyPr>
            <a:lstStyle/>
            <a:p>
              <a:r>
                <a:rPr lang="en-US" altLang="zh-CN" sz="2000" dirty="0">
                  <a:latin typeface="Times New Roman" panose="02020603050405020304" pitchFamily="18" charset="0"/>
                </a:rPr>
                <a:t>0  e  </a:t>
              </a:r>
              <a:r>
                <a:rPr lang="en-US" altLang="zh-CN" sz="2000" dirty="0" smtClean="0">
                  <a:latin typeface="Times New Roman" panose="02020603050405020304" pitchFamily="18" charset="0"/>
                </a:rPr>
                <a:t> </a:t>
              </a:r>
              <a:r>
                <a:rPr lang="zh-CN" altLang="zh-CN" sz="2000" dirty="0" smtClean="0">
                  <a:solidFill>
                    <a:srgbClr val="FF0000"/>
                  </a:solidFill>
                  <a:latin typeface="Times New Roman" panose="02020603050405020304" pitchFamily="18" charset="0"/>
                </a:rPr>
                <a:t>∧</a:t>
              </a:r>
              <a:r>
                <a:rPr lang="en-US" altLang="zh-CN" sz="2000" dirty="0" smtClean="0">
                  <a:latin typeface="Times New Roman" panose="02020603050405020304" pitchFamily="18" charset="0"/>
                </a:rPr>
                <a:t>   </a:t>
              </a:r>
              <a:endParaRPr lang="zh-CN" altLang="en-US" sz="2000" dirty="0">
                <a:latin typeface="Times New Roman" panose="02020603050405020304" pitchFamily="18" charset="0"/>
              </a:endParaRPr>
            </a:p>
          </p:txBody>
        </p:sp>
      </p:grpSp>
      <p:sp>
        <p:nvSpPr>
          <p:cNvPr id="56" name="对话气泡: 矩形 55"/>
          <p:cNvSpPr/>
          <p:nvPr/>
        </p:nvSpPr>
        <p:spPr>
          <a:xfrm>
            <a:off x="5877553" y="3988009"/>
            <a:ext cx="2330003" cy="712585"/>
          </a:xfrm>
          <a:prstGeom prst="wedgeRectCallout">
            <a:avLst>
              <a:gd name="adj1" fmla="val -120983"/>
              <a:gd name="adj2" fmla="val 4931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000" dirty="0">
                <a:latin typeface="Times New Roman" panose="02020603050405020304" pitchFamily="18" charset="0"/>
              </a:rPr>
              <a:t>第二个元素为子表，对应表结点</a:t>
            </a:r>
            <a:endParaRPr lang="zh-CN" altLang="en-US" dirty="0">
              <a:latin typeface="Times New Roman" panose="02020603050405020304" pitchFamily="18" charset="0"/>
            </a:endParaRPr>
          </a:p>
        </p:txBody>
      </p:sp>
      <p:cxnSp>
        <p:nvCxnSpPr>
          <p:cNvPr id="57" name="直接箭头连接符 56"/>
          <p:cNvCxnSpPr/>
          <p:nvPr/>
        </p:nvCxnSpPr>
        <p:spPr>
          <a:xfrm>
            <a:off x="3724497" y="4675261"/>
            <a:ext cx="0" cy="548653"/>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58" name="组合 57"/>
          <p:cNvGrpSpPr/>
          <p:nvPr/>
        </p:nvGrpSpPr>
        <p:grpSpPr>
          <a:xfrm>
            <a:off x="3260781" y="5227524"/>
            <a:ext cx="933127" cy="444905"/>
            <a:chOff x="1600199" y="2852936"/>
            <a:chExt cx="1387625" cy="576064"/>
          </a:xfrm>
        </p:grpSpPr>
        <p:sp>
          <p:nvSpPr>
            <p:cNvPr id="59" name="矩形 58"/>
            <p:cNvSpPr/>
            <p:nvPr/>
          </p:nvSpPr>
          <p:spPr>
            <a:xfrm>
              <a:off x="1600200" y="2852936"/>
              <a:ext cx="1387624" cy="57294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60" name="直接连接符 59"/>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1600199" y="2938592"/>
              <a:ext cx="1128759" cy="454238"/>
            </a:xfrm>
            <a:prstGeom prst="rect">
              <a:avLst/>
            </a:prstGeom>
            <a:noFill/>
          </p:spPr>
          <p:txBody>
            <a:bodyPr wrap="square" rtlCol="0">
              <a:spAutoFit/>
            </a:bodyPr>
            <a:lstStyle/>
            <a:p>
              <a:r>
                <a:rPr lang="en-US" altLang="zh-CN" sz="2000" dirty="0">
                  <a:latin typeface="Times New Roman" panose="02020603050405020304" pitchFamily="18" charset="0"/>
                </a:rPr>
                <a:t>0   b </a:t>
              </a:r>
              <a:endParaRPr lang="zh-CN" altLang="en-US" sz="2000" dirty="0">
                <a:latin typeface="Times New Roman" panose="02020603050405020304" pitchFamily="18" charset="0"/>
              </a:endParaRPr>
            </a:p>
          </p:txBody>
        </p:sp>
      </p:grpSp>
      <p:grpSp>
        <p:nvGrpSpPr>
          <p:cNvPr id="63" name="组合 62"/>
          <p:cNvGrpSpPr/>
          <p:nvPr/>
        </p:nvGrpSpPr>
        <p:grpSpPr>
          <a:xfrm>
            <a:off x="4665962" y="5997296"/>
            <a:ext cx="933126" cy="444905"/>
            <a:chOff x="1600200" y="2852936"/>
            <a:chExt cx="1387624" cy="576064"/>
          </a:xfrm>
        </p:grpSpPr>
        <p:sp>
          <p:nvSpPr>
            <p:cNvPr id="65" name="矩形 64"/>
            <p:cNvSpPr/>
            <p:nvPr/>
          </p:nvSpPr>
          <p:spPr>
            <a:xfrm>
              <a:off x="1600200" y="2852936"/>
              <a:ext cx="1387624" cy="569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66" name="直接连接符 65"/>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1605332" y="2918768"/>
              <a:ext cx="1140303" cy="454238"/>
            </a:xfrm>
            <a:prstGeom prst="rect">
              <a:avLst/>
            </a:prstGeom>
            <a:noFill/>
          </p:spPr>
          <p:txBody>
            <a:bodyPr wrap="square" rtlCol="0">
              <a:spAutoFit/>
            </a:bodyPr>
            <a:lstStyle/>
            <a:p>
              <a:r>
                <a:rPr lang="en-US" altLang="zh-CN" sz="2000" dirty="0">
                  <a:latin typeface="Times New Roman" panose="02020603050405020304" pitchFamily="18" charset="0"/>
                </a:rPr>
                <a:t>0  </a:t>
              </a:r>
              <a:r>
                <a:rPr lang="en-US" altLang="zh-CN" sz="2000" dirty="0" smtClean="0">
                  <a:latin typeface="Times New Roman" panose="02020603050405020304" pitchFamily="18" charset="0"/>
                </a:rPr>
                <a:t> c    </a:t>
              </a:r>
              <a:endParaRPr lang="zh-CN" altLang="en-US" sz="2000" dirty="0">
                <a:latin typeface="Times New Roman" panose="02020603050405020304" pitchFamily="18" charset="0"/>
              </a:endParaRPr>
            </a:p>
          </p:txBody>
        </p:sp>
      </p:grpSp>
      <p:grpSp>
        <p:nvGrpSpPr>
          <p:cNvPr id="69" name="组合 68"/>
          <p:cNvGrpSpPr/>
          <p:nvPr/>
        </p:nvGrpSpPr>
        <p:grpSpPr>
          <a:xfrm>
            <a:off x="5457328" y="5984441"/>
            <a:ext cx="1720950" cy="462043"/>
            <a:chOff x="755576" y="2852936"/>
            <a:chExt cx="2559173" cy="598254"/>
          </a:xfrm>
        </p:grpSpPr>
        <p:cxnSp>
          <p:nvCxnSpPr>
            <p:cNvPr id="70" name="直接箭头连接符 69"/>
            <p:cNvCxnSpPr/>
            <p:nvPr/>
          </p:nvCxnSpPr>
          <p:spPr>
            <a:xfrm>
              <a:off x="755576" y="3140968"/>
              <a:ext cx="844624"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1" name="矩形 70"/>
            <p:cNvSpPr/>
            <p:nvPr/>
          </p:nvSpPr>
          <p:spPr>
            <a:xfrm>
              <a:off x="1600200" y="2852936"/>
              <a:ext cx="1387624" cy="59825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ndParaRPr>
            </a:p>
          </p:txBody>
        </p:sp>
        <p:cxnSp>
          <p:nvCxnSpPr>
            <p:cNvPr id="72" name="直接连接符 71"/>
            <p:cNvCxnSpPr/>
            <p:nvPr/>
          </p:nvCxnSpPr>
          <p:spPr>
            <a:xfrm>
              <a:off x="2051720" y="28529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2555776" y="2852936"/>
              <a:ext cx="0" cy="576064"/>
            </a:xfrm>
            <a:prstGeom prst="line">
              <a:avLst/>
            </a:prstGeom>
          </p:spPr>
          <p:style>
            <a:lnRef idx="1">
              <a:schemeClr val="accent1"/>
            </a:lnRef>
            <a:fillRef idx="0">
              <a:schemeClr val="accent1"/>
            </a:fillRef>
            <a:effectRef idx="0">
              <a:schemeClr val="accent1"/>
            </a:effectRef>
            <a:fontRef idx="minor">
              <a:schemeClr val="tx1"/>
            </a:fontRef>
          </p:style>
        </p:cxnSp>
        <p:sp>
          <p:nvSpPr>
            <p:cNvPr id="74" name="文本框 73"/>
            <p:cNvSpPr txBox="1"/>
            <p:nvPr/>
          </p:nvSpPr>
          <p:spPr>
            <a:xfrm>
              <a:off x="1678193" y="2943594"/>
              <a:ext cx="1636556" cy="454238"/>
            </a:xfrm>
            <a:prstGeom prst="rect">
              <a:avLst/>
            </a:prstGeom>
            <a:noFill/>
          </p:spPr>
          <p:txBody>
            <a:bodyPr wrap="square" rtlCol="0">
              <a:spAutoFit/>
            </a:bodyPr>
            <a:lstStyle/>
            <a:p>
              <a:r>
                <a:rPr lang="en-US" altLang="zh-CN" sz="2000" dirty="0">
                  <a:latin typeface="Times New Roman" panose="02020603050405020304" pitchFamily="18" charset="0"/>
                </a:rPr>
                <a:t>0  d </a:t>
              </a:r>
              <a:r>
                <a:rPr lang="en-US" altLang="zh-CN" sz="2000" dirty="0" smtClean="0">
                  <a:latin typeface="Times New Roman" panose="02020603050405020304" pitchFamily="18" charset="0"/>
                </a:rPr>
                <a:t> </a:t>
              </a:r>
              <a:r>
                <a:rPr lang="zh-CN" altLang="zh-CN" sz="2000" dirty="0" smtClean="0">
                  <a:solidFill>
                    <a:srgbClr val="FF0000"/>
                  </a:solidFill>
                  <a:latin typeface="Times New Roman" panose="02020603050405020304" pitchFamily="18" charset="0"/>
                </a:rPr>
                <a:t>∧</a:t>
              </a:r>
              <a:r>
                <a:rPr lang="en-US" altLang="zh-CN" sz="2000" dirty="0" smtClean="0">
                  <a:latin typeface="Times New Roman" panose="02020603050405020304" pitchFamily="18" charset="0"/>
                </a:rPr>
                <a:t>   </a:t>
              </a:r>
              <a:endParaRPr lang="zh-CN" altLang="en-US" sz="2000" dirty="0">
                <a:latin typeface="Times New Roman" panose="02020603050405020304" pitchFamily="18" charset="0"/>
              </a:endParaRPr>
            </a:p>
          </p:txBody>
        </p:sp>
      </p:grpSp>
      <p:sp>
        <p:nvSpPr>
          <p:cNvPr id="7" name="灯片编号占位符 6"/>
          <p:cNvSpPr>
            <a:spLocks noGrp="1"/>
          </p:cNvSpPr>
          <p:nvPr>
            <p:ph type="sldNum" sz="quarter" idx="4294967295"/>
          </p:nvPr>
        </p:nvSpPr>
        <p:spPr>
          <a:xfrm>
            <a:off x="6351166" y="6617456"/>
            <a:ext cx="2133600" cy="198783"/>
          </a:xfrm>
        </p:spPr>
        <p:txBody>
          <a:bodyPr/>
          <a:lstStyle/>
          <a:p>
            <a:pPr lvl="0" eaLnBrk="1" fontAlgn="base" hangingPunct="1"/>
            <a:fld id="{9A0DB2DC-4C9A-4742-B13C-FB6460FD3503}" type="slidenum">
              <a:rPr lang="zh-CN" altLang="en-US" strike="noStrike" noProof="1" smtClean="0">
                <a:latin typeface="Times New Roman" panose="02020603050405020304" pitchFamily="18" charset="0"/>
                <a:ea typeface="宋体" panose="02010600030101010101" pitchFamily="2" charset="-122"/>
                <a:cs typeface="+mn-ea"/>
              </a:rPr>
            </a:fld>
            <a:endParaRPr lang="zh-CN" altLang="en-US" strike="noStrike" noProof="1">
              <a:latin typeface="Times New Roman" panose="02020603050405020304" pitchFamily="18" charset="0"/>
            </a:endParaRPr>
          </a:p>
        </p:txBody>
      </p:sp>
      <p:grpSp>
        <p:nvGrpSpPr>
          <p:cNvPr id="64" name="组合 63"/>
          <p:cNvGrpSpPr/>
          <p:nvPr/>
        </p:nvGrpSpPr>
        <p:grpSpPr>
          <a:xfrm>
            <a:off x="539552" y="116632"/>
            <a:ext cx="3757930" cy="664430"/>
            <a:chOff x="999690" y="5025490"/>
            <a:chExt cx="3757930" cy="664430"/>
          </a:xfrm>
        </p:grpSpPr>
        <p:sp>
          <p:nvSpPr>
            <p:cNvPr id="75"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latin typeface="Times New Roman" panose="02020603050405020304" pitchFamily="18" charset="0"/>
                <a:ea typeface="微软雅黑" panose="020B0503020204020204" pitchFamily="34" charset="-122"/>
              </a:endParaRPr>
            </a:p>
          </p:txBody>
        </p:sp>
        <p:sp>
          <p:nvSpPr>
            <p:cNvPr id="76" name="TextBox 6"/>
            <p:cNvSpPr txBox="1">
              <a:spLocks noChangeArrowheads="1"/>
            </p:cNvSpPr>
            <p:nvPr/>
          </p:nvSpPr>
          <p:spPr bwMode="auto">
            <a:xfrm>
              <a:off x="1250380" y="5025490"/>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6.3 </a:t>
              </a:r>
              <a:r>
                <a:rPr lang="zh-CN" altLang="en-US" sz="3600" b="1" dirty="0" smtClean="0">
                  <a:latin typeface="Times New Roman" panose="02020603050405020304" pitchFamily="18" charset="0"/>
                  <a:ea typeface="黑体" panose="02010609060101010101" pitchFamily="49" charset="-122"/>
                </a:rPr>
                <a:t>广义表</a:t>
              </a:r>
              <a:endParaRPr lang="zh-CN" altLang="en-US" sz="3600" b="1" dirty="0">
                <a:latin typeface="Times New Roman" panose="02020603050405020304" pitchFamily="18" charset="0"/>
                <a:ea typeface="黑体" panose="02010609060101010101" pitchFamily="49" charset="-122"/>
              </a:endParaRPr>
            </a:p>
          </p:txBody>
        </p:sp>
        <p:pic>
          <p:nvPicPr>
            <p:cNvPr id="77" name="图片 76"/>
            <p:cNvPicPr>
              <a:picLocks noChangeAspect="1"/>
            </p:cNvPicPr>
            <p:nvPr/>
          </p:nvPicPr>
          <p:blipFill>
            <a:blip r:embed="rId1" cstate="print"/>
            <a:stretch>
              <a:fillRect/>
            </a:stretch>
          </p:blipFill>
          <p:spPr>
            <a:xfrm>
              <a:off x="1199659" y="5205012"/>
              <a:ext cx="420013" cy="322083"/>
            </a:xfrm>
            <a:prstGeom prst="rect">
              <a:avLst/>
            </a:prstGeom>
          </p:spPr>
        </p:pic>
      </p:grpSp>
      <p:sp>
        <p:nvSpPr>
          <p:cNvPr id="78" name="标题 1"/>
          <p:cNvSpPr txBox="1"/>
          <p:nvPr/>
        </p:nvSpPr>
        <p:spPr bwMode="auto">
          <a:xfrm>
            <a:off x="374650" y="764704"/>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457200" indent="-457200">
              <a:buClr>
                <a:srgbClr val="FF0000"/>
              </a:buClr>
            </a:pPr>
            <a:r>
              <a:rPr lang="en-US" altLang="zh-CN" sz="2800" dirty="0" smtClean="0">
                <a:solidFill>
                  <a:srgbClr val="FF0000"/>
                </a:solidFill>
                <a:latin typeface="Times New Roman" panose="02020603050405020304" pitchFamily="18" charset="0"/>
                <a:ea typeface="宋体" panose="02010600030101010101" pitchFamily="2" charset="-122"/>
                <a:cs typeface="+mn-cs"/>
                <a:sym typeface="+mn-ea"/>
              </a:rPr>
              <a:t>6</a:t>
            </a:r>
            <a:r>
              <a:rPr lang="zh-CN" altLang="en-US" sz="2800" dirty="0" smtClean="0">
                <a:solidFill>
                  <a:srgbClr val="FF0000"/>
                </a:solidFill>
                <a:latin typeface="Times New Roman" panose="02020603050405020304" pitchFamily="18" charset="0"/>
                <a:ea typeface="宋体" panose="02010600030101010101" pitchFamily="2" charset="-122"/>
                <a:cs typeface="+mn-cs"/>
                <a:sym typeface="+mn-ea"/>
              </a:rPr>
              <a:t>.</a:t>
            </a:r>
            <a:r>
              <a:rPr lang="en-US" altLang="zh-CN" sz="2800" dirty="0" smtClean="0">
                <a:solidFill>
                  <a:srgbClr val="FF0000"/>
                </a:solidFill>
                <a:latin typeface="Times New Roman" panose="02020603050405020304" pitchFamily="18" charset="0"/>
                <a:ea typeface="宋体" panose="02010600030101010101" pitchFamily="2" charset="-122"/>
                <a:cs typeface="+mn-cs"/>
                <a:sym typeface="+mn-ea"/>
              </a:rPr>
              <a:t>3</a:t>
            </a:r>
            <a:r>
              <a:rPr lang="zh-CN" altLang="en-US" sz="2800" dirty="0" smtClean="0">
                <a:solidFill>
                  <a:srgbClr val="FF0000"/>
                </a:solidFill>
                <a:latin typeface="Times New Roman" panose="02020603050405020304" pitchFamily="18" charset="0"/>
                <a:ea typeface="宋体" panose="02010600030101010101" pitchFamily="2" charset="-122"/>
                <a:cs typeface="+mn-cs"/>
                <a:sym typeface="+mn-ea"/>
              </a:rPr>
              <a:t>.3 广义表的存储</a:t>
            </a:r>
            <a:endParaRPr lang="zh-CN" altLang="en-US" sz="2800" dirty="0">
              <a:solidFill>
                <a:srgbClr val="FF0000"/>
              </a:solidFill>
              <a:latin typeface="Times New Roman" panose="02020603050405020304" pitchFamily="18" charset="0"/>
              <a:ea typeface="宋体" panose="02010600030101010101" pitchFamily="2" charset="-122"/>
              <a:cs typeface="+mn-cs"/>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12" grpId="0"/>
      <p:bldP spid="56" grpId="0" animBg="1"/>
      <p:bldP spid="7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buClr>
                <a:srgbClr val="FF0000"/>
              </a:buClr>
              <a:buFont typeface="Wingdings" panose="05000000000000000000" pitchFamily="2" charset="2"/>
              <a:buChar char="n"/>
            </a:pPr>
            <a:r>
              <a:rPr lang="zh-CN" altLang="zh-CN" sz="2400" b="1" dirty="0"/>
              <a:t>这种表示方法的优点是便于保证运算中的一致性，并且元素在结构中的层次与括号的深度一致。</a:t>
            </a:r>
            <a:r>
              <a:rPr lang="en-US" altLang="zh-CN" sz="2400" b="1" dirty="0"/>
              <a:t> </a:t>
            </a:r>
            <a:endParaRPr lang="zh-CN" altLang="zh-CN" sz="2400" b="1" dirty="0"/>
          </a:p>
          <a:p>
            <a:pPr>
              <a:buClr>
                <a:srgbClr val="FF0000"/>
              </a:buClr>
              <a:buFont typeface="Wingdings" panose="05000000000000000000" pitchFamily="2" charset="2"/>
              <a:buChar char="n"/>
            </a:pPr>
            <a:r>
              <a:rPr lang="zh-CN" altLang="zh-CN" sz="2400" b="1" dirty="0"/>
              <a:t>虽然我们只讨论了两种存储形式，但是还可有其他的形式，并且各自有其特点，应根据实际需要选择</a:t>
            </a:r>
            <a:r>
              <a:rPr lang="zh-CN" altLang="zh-CN" sz="2400" b="1" dirty="0" smtClean="0"/>
              <a:t>。</a:t>
            </a:r>
            <a:endParaRPr lang="en-US" altLang="zh-CN" sz="2400" b="1" dirty="0" smtClean="0"/>
          </a:p>
          <a:p>
            <a:pPr>
              <a:buClr>
                <a:srgbClr val="FF0000"/>
              </a:buClr>
              <a:buFont typeface="Wingdings" panose="05000000000000000000" pitchFamily="2" charset="2"/>
              <a:buChar char="n"/>
            </a:pPr>
            <a:endParaRPr lang="zh-CN" altLang="zh-CN" sz="2400" b="1" dirty="0"/>
          </a:p>
          <a:p>
            <a:pPr marL="342900" lvl="1" indent="-342900">
              <a:buClr>
                <a:srgbClr val="FF0000"/>
              </a:buClr>
              <a:buFont typeface="Wingdings" panose="05000000000000000000" pitchFamily="2" charset="2"/>
              <a:buChar char="n"/>
            </a:pPr>
            <a:r>
              <a:rPr lang="zh-CN" altLang="en-US" b="1" dirty="0" smtClean="0"/>
              <a:t>应用</a:t>
            </a:r>
            <a:r>
              <a:rPr lang="zh-CN" altLang="en-US" dirty="0" smtClean="0"/>
              <a:t>：</a:t>
            </a:r>
            <a:endParaRPr lang="en-US" altLang="zh-CN" dirty="0" smtClean="0"/>
          </a:p>
          <a:p>
            <a:pPr marL="742950" lvl="2" indent="-342900">
              <a:buClr>
                <a:srgbClr val="FF0000"/>
              </a:buClr>
              <a:buFont typeface="Arial" panose="020B0604020202020204" pitchFamily="34" charset="0"/>
              <a:buChar char="•"/>
            </a:pPr>
            <a:r>
              <a:rPr lang="en-US" altLang="zh-CN" b="1" dirty="0" smtClean="0"/>
              <a:t>lisp</a:t>
            </a:r>
            <a:r>
              <a:rPr lang="zh-CN" altLang="en-US" b="1" dirty="0" smtClean="0"/>
              <a:t>语言</a:t>
            </a:r>
            <a:endParaRPr lang="en-US" altLang="zh-CN" b="1" dirty="0" smtClean="0"/>
          </a:p>
          <a:p>
            <a:pPr marL="742950" lvl="2" indent="-342900">
              <a:buClr>
                <a:srgbClr val="FF0000"/>
              </a:buClr>
              <a:buFont typeface="Arial" panose="020B0604020202020204" pitchFamily="34" charset="0"/>
              <a:buChar char="•"/>
            </a:pPr>
            <a:r>
              <a:rPr lang="en-US" altLang="zh-CN" b="1" dirty="0" smtClean="0"/>
              <a:t>AUTO lisp</a:t>
            </a:r>
            <a:r>
              <a:rPr lang="zh-CN" altLang="en-US" b="1" dirty="0" smtClean="0"/>
              <a:t>语言</a:t>
            </a:r>
            <a:endParaRPr lang="en-US" altLang="zh-CN" b="1" dirty="0" smtClean="0"/>
          </a:p>
          <a:p>
            <a:pPr marL="742950" lvl="2" indent="-342900">
              <a:buClr>
                <a:srgbClr val="FF0000"/>
              </a:buClr>
              <a:buFont typeface="Arial" panose="020B0604020202020204" pitchFamily="34" charset="0"/>
              <a:buChar char="•"/>
            </a:pPr>
            <a:r>
              <a:rPr lang="zh-CN" altLang="en-US" b="1" dirty="0" smtClean="0"/>
              <a:t>网页结构</a:t>
            </a:r>
            <a:endParaRPr lang="en-US" altLang="zh-CN" b="1" dirty="0" smtClean="0"/>
          </a:p>
          <a:p>
            <a:pPr marL="742950" lvl="2" indent="-342900">
              <a:buClr>
                <a:srgbClr val="FF0000"/>
              </a:buClr>
              <a:buFont typeface="Arial" panose="020B0604020202020204" pitchFamily="34" charset="0"/>
              <a:buChar char="•"/>
            </a:pPr>
            <a:r>
              <a:rPr lang="zh-CN" altLang="en-US" b="1" dirty="0" smtClean="0"/>
              <a:t>高斯消元 </a:t>
            </a:r>
            <a:endParaRPr lang="en-US" altLang="zh-CN" b="1" dirty="0" smtClean="0"/>
          </a:p>
          <a:p>
            <a:pPr marL="742950" lvl="2" indent="-342900">
              <a:buClr>
                <a:srgbClr val="FF0000"/>
              </a:buClr>
              <a:buFont typeface="Arial" panose="020B0604020202020204" pitchFamily="34" charset="0"/>
              <a:buChar char="•"/>
            </a:pPr>
            <a:r>
              <a:rPr lang="zh-CN" altLang="en-US" b="1" dirty="0" smtClean="0"/>
              <a:t>本科导师制问题</a:t>
            </a:r>
            <a:endParaRPr lang="zh-CN" altLang="en-US" b="1" dirty="0" smtClean="0"/>
          </a:p>
          <a:p>
            <a:endParaRPr lang="zh-CN" altLang="en-US" dirty="0"/>
          </a:p>
        </p:txBody>
      </p:sp>
      <p:sp>
        <p:nvSpPr>
          <p:cNvPr id="6" name="灯片编号占位符 5"/>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grpSp>
        <p:nvGrpSpPr>
          <p:cNvPr id="7" name="组合 6"/>
          <p:cNvGrpSpPr/>
          <p:nvPr/>
        </p:nvGrpSpPr>
        <p:grpSpPr>
          <a:xfrm>
            <a:off x="539552" y="116632"/>
            <a:ext cx="3757930" cy="664430"/>
            <a:chOff x="999690" y="5025490"/>
            <a:chExt cx="3757930" cy="664430"/>
          </a:xfrm>
        </p:grpSpPr>
        <p:sp>
          <p:nvSpPr>
            <p:cNvPr id="8"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latin typeface="Times New Roman" panose="02020603050405020304" pitchFamily="18" charset="0"/>
                <a:ea typeface="微软雅黑" panose="020B0503020204020204" pitchFamily="34" charset="-122"/>
              </a:endParaRPr>
            </a:p>
          </p:txBody>
        </p:sp>
        <p:sp>
          <p:nvSpPr>
            <p:cNvPr id="9" name="TextBox 6"/>
            <p:cNvSpPr txBox="1">
              <a:spLocks noChangeArrowheads="1"/>
            </p:cNvSpPr>
            <p:nvPr/>
          </p:nvSpPr>
          <p:spPr bwMode="auto">
            <a:xfrm>
              <a:off x="1250380" y="5025490"/>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6.3 </a:t>
              </a:r>
              <a:r>
                <a:rPr lang="zh-CN" altLang="en-US" sz="3600" b="1" dirty="0" smtClean="0">
                  <a:latin typeface="Times New Roman" panose="02020603050405020304" pitchFamily="18" charset="0"/>
                  <a:ea typeface="黑体" panose="02010609060101010101" pitchFamily="49" charset="-122"/>
                </a:rPr>
                <a:t>广义表</a:t>
              </a:r>
              <a:endParaRPr lang="zh-CN" altLang="en-US" sz="3600" b="1" dirty="0">
                <a:latin typeface="Times New Roman" panose="02020603050405020304" pitchFamily="18" charset="0"/>
                <a:ea typeface="黑体" panose="02010609060101010101" pitchFamily="49" charset="-122"/>
              </a:endParaRPr>
            </a:p>
          </p:txBody>
        </p:sp>
        <p:pic>
          <p:nvPicPr>
            <p:cNvPr id="10" name="图片 9"/>
            <p:cNvPicPr>
              <a:picLocks noChangeAspect="1"/>
            </p:cNvPicPr>
            <p:nvPr/>
          </p:nvPicPr>
          <p:blipFill>
            <a:blip r:embed="rId1" cstate="print"/>
            <a:stretch>
              <a:fillRect/>
            </a:stretch>
          </p:blipFill>
          <p:spPr>
            <a:xfrm>
              <a:off x="1199659" y="5205012"/>
              <a:ext cx="420013" cy="322083"/>
            </a:xfrm>
            <a:prstGeom prst="rect">
              <a:avLst/>
            </a:prstGeom>
          </p:spPr>
        </p:pic>
      </p:grpSp>
      <p:sp>
        <p:nvSpPr>
          <p:cNvPr id="11" name="标题 1"/>
          <p:cNvSpPr txBox="1"/>
          <p:nvPr/>
        </p:nvSpPr>
        <p:spPr bwMode="auto">
          <a:xfrm>
            <a:off x="374650" y="764704"/>
            <a:ext cx="8229600" cy="660930"/>
          </a:xfrm>
          <a:prstGeom prst="rect">
            <a:avLst/>
          </a:prstGeom>
          <a:noFill/>
          <a:ln w="9525">
            <a:noFill/>
            <a:miter lim="800000"/>
          </a:ln>
        </p:spPr>
        <p:txBody>
          <a:bodyPr vert="horz" wrap="square" lIns="91440" tIns="45720" rIns="91440" bIns="46800" numCol="1" anchor="b" anchorCtr="0" compatLnSpc="1">
            <a:normAutofit/>
          </a:bodyPr>
          <a:lstStyle>
            <a:lvl1pPr algn="l" rtl="0" fontAlgn="base">
              <a:spcBef>
                <a:spcPct val="0"/>
              </a:spcBef>
              <a:spcAft>
                <a:spcPct val="0"/>
              </a:spcAft>
              <a:defRPr sz="3600" b="1" kern="1200" baseline="0">
                <a:solidFill>
                  <a:schemeClr val="tx1"/>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a:lstStyle>
          <a:p>
            <a:pPr marL="457200" indent="-457200">
              <a:buClr>
                <a:srgbClr val="FF0000"/>
              </a:buClr>
            </a:pPr>
            <a:r>
              <a:rPr lang="en-US" altLang="zh-CN" sz="2800" dirty="0" smtClean="0">
                <a:solidFill>
                  <a:srgbClr val="FF0000"/>
                </a:solidFill>
                <a:latin typeface="Times New Roman" panose="02020603050405020304" pitchFamily="18" charset="0"/>
                <a:ea typeface="宋体" panose="02010600030101010101" pitchFamily="2" charset="-122"/>
                <a:cs typeface="+mn-cs"/>
                <a:sym typeface="+mn-ea"/>
              </a:rPr>
              <a:t>6</a:t>
            </a:r>
            <a:r>
              <a:rPr lang="zh-CN" altLang="en-US" sz="2800" dirty="0" smtClean="0">
                <a:solidFill>
                  <a:srgbClr val="FF0000"/>
                </a:solidFill>
                <a:latin typeface="Times New Roman" panose="02020603050405020304" pitchFamily="18" charset="0"/>
                <a:ea typeface="宋体" panose="02010600030101010101" pitchFamily="2" charset="-122"/>
                <a:cs typeface="+mn-cs"/>
                <a:sym typeface="+mn-ea"/>
              </a:rPr>
              <a:t>.</a:t>
            </a:r>
            <a:r>
              <a:rPr lang="en-US" altLang="zh-CN" sz="2800" dirty="0" smtClean="0">
                <a:solidFill>
                  <a:srgbClr val="FF0000"/>
                </a:solidFill>
                <a:latin typeface="Times New Roman" panose="02020603050405020304" pitchFamily="18" charset="0"/>
                <a:ea typeface="宋体" panose="02010600030101010101" pitchFamily="2" charset="-122"/>
                <a:cs typeface="+mn-cs"/>
                <a:sym typeface="+mn-ea"/>
              </a:rPr>
              <a:t>3</a:t>
            </a:r>
            <a:r>
              <a:rPr lang="zh-CN" altLang="en-US" sz="2800" dirty="0" smtClean="0">
                <a:solidFill>
                  <a:srgbClr val="FF0000"/>
                </a:solidFill>
                <a:latin typeface="Times New Roman" panose="02020603050405020304" pitchFamily="18" charset="0"/>
                <a:ea typeface="宋体" panose="02010600030101010101" pitchFamily="2" charset="-122"/>
                <a:cs typeface="+mn-cs"/>
                <a:sym typeface="+mn-ea"/>
              </a:rPr>
              <a:t>.3 广义表的存储</a:t>
            </a:r>
            <a:endParaRPr lang="zh-CN" altLang="en-US" sz="2800" dirty="0">
              <a:solidFill>
                <a:srgbClr val="FF0000"/>
              </a:solidFill>
              <a:latin typeface="Times New Roman" panose="02020603050405020304" pitchFamily="18" charset="0"/>
              <a:ea typeface="宋体" panose="02010600030101010101" pitchFamily="2" charset="-122"/>
              <a:cs typeface="+mn-cs"/>
            </a:endParaRPr>
          </a:p>
        </p:txBody>
      </p:sp>
      <p:sp>
        <p:nvSpPr>
          <p:cNvPr id="15" name="矩形 14"/>
          <p:cNvSpPr/>
          <p:nvPr/>
        </p:nvSpPr>
        <p:spPr>
          <a:xfrm>
            <a:off x="3923928" y="3501008"/>
            <a:ext cx="4572000" cy="1384995"/>
          </a:xfrm>
          <a:prstGeom prst="rect">
            <a:avLst/>
          </a:prstGeom>
          <a:solidFill>
            <a:srgbClr val="FFFF00"/>
          </a:solidFill>
        </p:spPr>
        <p:txBody>
          <a:bodyPr>
            <a:spAutoFit/>
          </a:bodyPr>
          <a:lstStyle/>
          <a:p>
            <a:r>
              <a:rPr lang="en-US" altLang="zh-CN" sz="1400" dirty="0">
                <a:solidFill>
                  <a:srgbClr val="333333"/>
                </a:solidFill>
                <a:latin typeface="Arial" panose="020B0604020202020204" pitchFamily="34" charset="0"/>
              </a:rPr>
              <a:t>LISP</a:t>
            </a:r>
            <a:r>
              <a:rPr lang="zh-CN" altLang="en-US" sz="1400" dirty="0">
                <a:solidFill>
                  <a:srgbClr val="333333"/>
                </a:solidFill>
                <a:latin typeface="Arial" panose="020B0604020202020204" pitchFamily="34" charset="0"/>
              </a:rPr>
              <a:t>语言</a:t>
            </a:r>
            <a:r>
              <a:rPr lang="en-US" altLang="zh-CN" sz="1400" dirty="0">
                <a:solidFill>
                  <a:srgbClr val="333333"/>
                </a:solidFill>
                <a:latin typeface="Arial" panose="020B0604020202020204" pitchFamily="34" charset="0"/>
              </a:rPr>
              <a:t>(LISP</a:t>
            </a:r>
            <a:r>
              <a:rPr lang="zh-CN" altLang="en-US" sz="1400" dirty="0">
                <a:solidFill>
                  <a:srgbClr val="333333"/>
                </a:solidFill>
                <a:latin typeface="Arial" panose="020B0604020202020204" pitchFamily="34" charset="0"/>
              </a:rPr>
              <a:t>，</a:t>
            </a:r>
            <a:r>
              <a:rPr lang="en-US" altLang="zh-CN" sz="1400" dirty="0">
                <a:solidFill>
                  <a:srgbClr val="333333"/>
                </a:solidFill>
                <a:latin typeface="Arial" panose="020B0604020202020204" pitchFamily="34" charset="0"/>
              </a:rPr>
              <a:t>List Processing</a:t>
            </a:r>
            <a:r>
              <a:rPr lang="zh-CN" altLang="en-US" sz="1400" dirty="0">
                <a:solidFill>
                  <a:srgbClr val="333333"/>
                </a:solidFill>
                <a:latin typeface="Arial" panose="020B0604020202020204" pitchFamily="34" charset="0"/>
              </a:rPr>
              <a:t>的缩写</a:t>
            </a:r>
            <a:r>
              <a:rPr lang="en-US" altLang="zh-CN" sz="1400" dirty="0">
                <a:solidFill>
                  <a:srgbClr val="333333"/>
                </a:solidFill>
                <a:latin typeface="Arial" panose="020B0604020202020204" pitchFamily="34" charset="0"/>
              </a:rPr>
              <a:t>)</a:t>
            </a:r>
            <a:r>
              <a:rPr lang="zh-CN" altLang="en-US" sz="1400" dirty="0">
                <a:solidFill>
                  <a:srgbClr val="333333"/>
                </a:solidFill>
                <a:latin typeface="Arial" panose="020B0604020202020204" pitchFamily="34" charset="0"/>
              </a:rPr>
              <a:t>是一种早期开发的、具有重大意义的自由软件项目。它适用于符号处理、自动推理、硬件描述和超大规模集成电路设计等。特点是，使用表结构来表达非数值计算问题，实现技术简单。</a:t>
            </a:r>
            <a:r>
              <a:rPr lang="en-US" altLang="zh-CN" sz="1400" dirty="0">
                <a:solidFill>
                  <a:srgbClr val="333333"/>
                </a:solidFill>
                <a:latin typeface="Arial" panose="020B0604020202020204" pitchFamily="34" charset="0"/>
              </a:rPr>
              <a:t>LISP</a:t>
            </a:r>
            <a:r>
              <a:rPr lang="zh-CN" altLang="en-US" sz="1400" dirty="0">
                <a:solidFill>
                  <a:srgbClr val="333333"/>
                </a:solidFill>
                <a:latin typeface="Arial" panose="020B0604020202020204" pitchFamily="34" charset="0"/>
              </a:rPr>
              <a:t>语言已成为最有影响，使用十分广泛的</a:t>
            </a:r>
            <a:r>
              <a:rPr lang="zh-CN" altLang="en-US" sz="1400" dirty="0">
                <a:solidFill>
                  <a:srgbClr val="136EC2"/>
                </a:solidFill>
                <a:latin typeface="Arial" panose="020B0604020202020204" pitchFamily="34" charset="0"/>
                <a:hlinkClick r:id="rId2"/>
              </a:rPr>
              <a:t>人工智能语言</a:t>
            </a:r>
            <a:r>
              <a:rPr lang="zh-CN" altLang="en-US" sz="1400" dirty="0">
                <a:solidFill>
                  <a:srgbClr val="333333"/>
                </a:solidFill>
                <a:latin typeface="Arial" panose="020B0604020202020204" pitchFamily="34" charset="0"/>
              </a:rPr>
              <a:t>。</a:t>
            </a:r>
            <a:endParaRPr lang="zh-CN" altLang="en-US" sz="1400" dirty="0"/>
          </a:p>
        </p:txBody>
      </p:sp>
      <p:sp>
        <p:nvSpPr>
          <p:cNvPr id="16" name="文本框 15"/>
          <p:cNvSpPr txBox="1"/>
          <p:nvPr/>
        </p:nvSpPr>
        <p:spPr>
          <a:xfrm>
            <a:off x="179512" y="6317550"/>
            <a:ext cx="2664296" cy="276999"/>
          </a:xfrm>
          <a:prstGeom prst="rect">
            <a:avLst/>
          </a:prstGeom>
          <a:noFill/>
        </p:spPr>
        <p:txBody>
          <a:bodyPr wrap="square" rtlCol="0">
            <a:spAutoFit/>
          </a:bodyPr>
          <a:lstStyle/>
          <a:p>
            <a:r>
              <a:rPr lang="zh-CN" altLang="en-US" sz="1200" b="1" dirty="0" smtClean="0"/>
              <a:t>注</a:t>
            </a:r>
            <a:r>
              <a:rPr lang="en-US" altLang="zh-CN" sz="1200" b="1" dirty="0" smtClean="0"/>
              <a:t>: </a:t>
            </a:r>
            <a:r>
              <a:rPr lang="zh-CN" altLang="en-US" sz="1200" dirty="0"/>
              <a:t>词条</a:t>
            </a:r>
            <a:r>
              <a:rPr lang="zh-CN" altLang="en-US" sz="1200" dirty="0" smtClean="0"/>
              <a:t>来自百度</a:t>
            </a:r>
            <a:r>
              <a:rPr lang="en-US" altLang="zh-CN" sz="1200" dirty="0" smtClean="0"/>
              <a:t>-</a:t>
            </a:r>
            <a:r>
              <a:rPr lang="zh-CN" altLang="en-US" sz="1200" dirty="0" smtClean="0"/>
              <a:t>科普中国</a:t>
            </a:r>
            <a:r>
              <a:rPr lang="en-US" altLang="zh-CN" sz="1200" dirty="0" smtClean="0"/>
              <a:t>-</a:t>
            </a:r>
            <a:r>
              <a:rPr lang="zh-CN" altLang="en-US" sz="1200" dirty="0" smtClean="0"/>
              <a:t>科学百科</a:t>
            </a:r>
            <a:endParaRPr lang="zh-CN" altLang="en-US" sz="1200"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dirty="0">
                  <a:ea typeface="微软雅黑" panose="020B0503020204020204" pitchFamily="34" charset="-122"/>
                </a:endParaRPr>
              </a:p>
            </p:txBody>
          </p:sp>
          <p:sp>
            <p:nvSpPr>
              <p:cNvPr id="8"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anose="020B0503020204020204"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smtClean="0">
                  <a:latin typeface="Times New Roman" panose="02020603050405020304" pitchFamily="18" charset="0"/>
                  <a:ea typeface="黑体" panose="02010609060101010101" pitchFamily="49" charset="-122"/>
                </a:rPr>
                <a:t>5.6  </a:t>
              </a:r>
              <a:r>
                <a:rPr lang="zh-CN" altLang="en-US" sz="3600" b="1" dirty="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grpSp>
      <p:grpSp>
        <p:nvGrpSpPr>
          <p:cNvPr id="9" name="组合 8"/>
          <p:cNvGrpSpPr/>
          <p:nvPr/>
        </p:nvGrpSpPr>
        <p:grpSpPr>
          <a:xfrm>
            <a:off x="927100" y="1114100"/>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2" charset="0"/>
                  <a:ea typeface="黑体" panose="02010609060101010101" pitchFamily="49" charset="-122"/>
                </a:rPr>
                <a:t>内容回顾</a:t>
              </a:r>
              <a:endParaRPr lang="zh-CN" altLang="en-US" sz="3200" b="1" dirty="0">
                <a:latin typeface="Verdana" panose="020B0604030504040204" pitchFamily="2" charset="0"/>
                <a:ea typeface="黑体" panose="02010609060101010101" pitchFamily="49" charset="-122"/>
              </a:endParaRP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noAutofit/>
                </a:bodyPr>
                <a:lstStyle/>
                <a:p>
                  <a:endParaRPr lang="zh-CN" altLang="en-US" sz="1015">
                    <a:solidFill>
                      <a:prstClr val="black"/>
                    </a:solidFill>
                  </a:endParaRPr>
                </a:p>
              </p:txBody>
            </p:sp>
            <p:sp>
              <p:nvSpPr>
                <p:cNvPr id="17" name="Freeform 5"/>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sp>
              <p:nvSpPr>
                <p:cNvPr id="18" name="Freeform 5"/>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grpSp>
        </p:grpSp>
      </p:grpSp>
      <p:grpSp>
        <p:nvGrpSpPr>
          <p:cNvPr id="29" name="组合 28"/>
          <p:cNvGrpSpPr/>
          <p:nvPr/>
        </p:nvGrpSpPr>
        <p:grpSpPr>
          <a:xfrm>
            <a:off x="1023027" y="4893484"/>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2" charset="0"/>
                  <a:ea typeface="黑体" panose="02010609060101010101" pitchFamily="49" charset="-122"/>
                </a:rPr>
                <a:t>思考</a:t>
              </a:r>
              <a:endParaRPr lang="zh-CN" altLang="en-US" sz="3200" b="1" dirty="0">
                <a:latin typeface="Verdana" panose="020B0604030504040204" pitchFamily="2" charset="0"/>
                <a:ea typeface="黑体" panose="02010609060101010101" pitchFamily="49" charset="-122"/>
              </a:endParaRPr>
            </a:p>
          </p:txBody>
        </p:sp>
        <p:pic>
          <p:nvPicPr>
            <p:cNvPr id="31" name="图片 1"/>
            <p:cNvPicPr>
              <a:picLocks noChangeAspect="1" noChangeArrowheads="1"/>
            </p:cNvPicPr>
            <p:nvPr/>
          </p:nvPicPr>
          <p:blipFill>
            <a:blip r:embed="rId1"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23035" y="5591718"/>
            <a:ext cx="6810376" cy="430887"/>
          </a:xfrm>
          <a:prstGeom prst="rect">
            <a:avLst/>
          </a:prstGeom>
        </p:spPr>
        <p:txBody>
          <a:bodyPr wrap="square">
            <a:spAutoFit/>
          </a:bodyPr>
          <a:lstStyle/>
          <a:p>
            <a:pPr marL="342900" indent="-342900">
              <a:spcBef>
                <a:spcPts val="600"/>
              </a:spcBef>
              <a:buClr>
                <a:srgbClr val="FF0000"/>
              </a:buClr>
              <a:buFont typeface="Wingdings" panose="05000000000000000000" pitchFamily="2" charset="2"/>
              <a:buChar char="Ø"/>
            </a:pPr>
            <a:r>
              <a:rPr lang="zh-CN" altLang="en-US" sz="2200" dirty="0" smtClean="0">
                <a:solidFill>
                  <a:srgbClr val="FF0000"/>
                </a:solidFill>
                <a:latin typeface="Times New Roman" panose="02020603050405020304" pitchFamily="18" charset="0"/>
                <a:ea typeface="黑体" panose="02010609060101010101" pitchFamily="49" charset="-122"/>
              </a:rPr>
              <a:t>数组与广义表的应用实例</a:t>
            </a:r>
            <a:endParaRPr lang="en-US" altLang="zh-CN" sz="2200" dirty="0" smtClean="0">
              <a:solidFill>
                <a:srgbClr val="FF0000"/>
              </a:solidFill>
              <a:latin typeface="Times New Roman" panose="02020603050405020304" pitchFamily="18" charset="0"/>
              <a:ea typeface="黑体" panose="02010609060101010101" pitchFamily="49" charset="-122"/>
            </a:endParaRPr>
          </a:p>
        </p:txBody>
      </p:sp>
      <p:sp>
        <p:nvSpPr>
          <p:cNvPr id="2" name="矩形 1"/>
          <p:cNvSpPr/>
          <p:nvPr/>
        </p:nvSpPr>
        <p:spPr>
          <a:xfrm>
            <a:off x="1472472" y="1719298"/>
            <a:ext cx="6035533" cy="3416320"/>
          </a:xfrm>
          <a:prstGeom prst="rect">
            <a:avLst/>
          </a:prstGeom>
        </p:spPr>
        <p:txBody>
          <a:bodyPr wrap="square">
            <a:spAutoFit/>
          </a:bodyPr>
          <a:lstStyle/>
          <a:p>
            <a:pPr marL="285750" indent="-285750">
              <a:buClr>
                <a:srgbClr val="FF0000"/>
              </a:buClr>
              <a:buFont typeface="Wingdings" panose="05000000000000000000" pitchFamily="2" charset="2"/>
              <a:buChar char="Ø"/>
            </a:pPr>
            <a:r>
              <a:rPr lang="zh-CN" altLang="en-US" sz="2000" b="1" dirty="0"/>
              <a:t>数组</a:t>
            </a:r>
            <a:endParaRPr lang="en-US" altLang="zh-CN" sz="2000" b="1" dirty="0"/>
          </a:p>
          <a:p>
            <a:pPr marL="742950" lvl="1" indent="-285750">
              <a:buClr>
                <a:srgbClr val="FF0000"/>
              </a:buClr>
              <a:buFont typeface="Arial" panose="020B0604020202020204" pitchFamily="34" charset="0"/>
              <a:buChar char="•"/>
            </a:pPr>
            <a:r>
              <a:rPr lang="zh-CN" altLang="en-US" sz="2000" b="1" dirty="0"/>
              <a:t>定义，特性，运算，存储方式</a:t>
            </a:r>
            <a:endParaRPr lang="en-US" altLang="zh-CN" sz="2000" b="1" dirty="0"/>
          </a:p>
          <a:p>
            <a:pPr marL="742950" lvl="1" indent="-285750">
              <a:buClr>
                <a:srgbClr val="FF0000"/>
              </a:buClr>
              <a:buFont typeface="Arial" panose="020B0604020202020204" pitchFamily="34" charset="0"/>
              <a:buChar char="•"/>
            </a:pPr>
            <a:r>
              <a:rPr lang="zh-CN" altLang="en-US" sz="2000" b="1" dirty="0"/>
              <a:t>特殊矩阵的压缩存储：对称、三角，三对角</a:t>
            </a:r>
            <a:endParaRPr lang="en-US" altLang="zh-CN" sz="2000" b="1" dirty="0"/>
          </a:p>
          <a:p>
            <a:pPr marL="742950" lvl="1" indent="-285750">
              <a:buClr>
                <a:srgbClr val="FF0000"/>
              </a:buClr>
              <a:buFont typeface="Arial" panose="020B0604020202020204" pitchFamily="34" charset="0"/>
              <a:buChar char="•"/>
            </a:pPr>
            <a:r>
              <a:rPr lang="zh-CN" altLang="en-US" sz="2000" b="1" dirty="0"/>
              <a:t>稀疏矩阵的压缩存储</a:t>
            </a:r>
            <a:endParaRPr lang="en-US" altLang="zh-CN" sz="2000" b="1" dirty="0"/>
          </a:p>
          <a:p>
            <a:pPr marL="742950" lvl="1" indent="-285750">
              <a:buClr>
                <a:srgbClr val="FF0000"/>
              </a:buClr>
              <a:buFont typeface="Arial" panose="020B0604020202020204" pitchFamily="34" charset="0"/>
              <a:buChar char="•"/>
            </a:pPr>
            <a:r>
              <a:rPr lang="zh-CN" altLang="en-US" sz="2000" b="1" dirty="0"/>
              <a:t>应用：科学与工程领域计算</a:t>
            </a:r>
            <a:endParaRPr lang="en-US" altLang="zh-CN" sz="2000" b="1" dirty="0"/>
          </a:p>
          <a:p>
            <a:pPr marL="285750" indent="-285750">
              <a:buClr>
                <a:srgbClr val="FF0000"/>
              </a:buClr>
              <a:buFont typeface="Wingdings" panose="05000000000000000000" pitchFamily="2" charset="2"/>
              <a:buChar char="Ø"/>
            </a:pPr>
            <a:r>
              <a:rPr lang="zh-CN" altLang="en-US" sz="2000" b="1" dirty="0"/>
              <a:t>广义表</a:t>
            </a:r>
            <a:endParaRPr lang="en-US" altLang="zh-CN" sz="2000" b="1" dirty="0"/>
          </a:p>
          <a:p>
            <a:pPr marL="742950" lvl="1" indent="-285750">
              <a:buClr>
                <a:srgbClr val="FF0000"/>
              </a:buClr>
              <a:buFont typeface="Arial" panose="020B0604020202020204" pitchFamily="34" charset="0"/>
              <a:buChar char="•"/>
            </a:pPr>
            <a:r>
              <a:rPr lang="zh-CN" altLang="en-US" sz="2000" b="1" dirty="0"/>
              <a:t>定义，元素，原子，长度，表示形式</a:t>
            </a:r>
            <a:endParaRPr lang="en-US" altLang="zh-CN" sz="2000" b="1" dirty="0"/>
          </a:p>
          <a:p>
            <a:pPr marL="742950" lvl="1" indent="-285750">
              <a:buClr>
                <a:srgbClr val="FF0000"/>
              </a:buClr>
              <a:buFont typeface="Arial" panose="020B0604020202020204" pitchFamily="34" charset="0"/>
              <a:buChar char="•"/>
            </a:pPr>
            <a:r>
              <a:rPr lang="zh-CN" altLang="en-US" sz="2000" b="1" dirty="0"/>
              <a:t>运算，取表头，取表尾</a:t>
            </a:r>
            <a:endParaRPr lang="en-US" altLang="zh-CN" sz="2000" b="1" dirty="0"/>
          </a:p>
          <a:p>
            <a:pPr marL="742950" lvl="1" indent="-285750">
              <a:buClr>
                <a:srgbClr val="FF0000"/>
              </a:buClr>
              <a:buFont typeface="Arial" panose="020B0604020202020204" pitchFamily="34" charset="0"/>
              <a:buChar char="•"/>
            </a:pPr>
            <a:r>
              <a:rPr lang="zh-CN" altLang="en-US" sz="2000" b="1" dirty="0"/>
              <a:t>存储</a:t>
            </a:r>
            <a:r>
              <a:rPr lang="zh-CN" altLang="en-US" sz="2000" b="1" dirty="0" smtClean="0"/>
              <a:t>结构</a:t>
            </a:r>
            <a:endParaRPr lang="en-US" altLang="zh-CN" sz="2000" b="1" dirty="0" smtClean="0"/>
          </a:p>
          <a:p>
            <a:pPr marL="742950" lvl="1" indent="-285750">
              <a:buClr>
                <a:srgbClr val="FF0000"/>
              </a:buClr>
              <a:buFont typeface="Arial" panose="020B0604020202020204" pitchFamily="34" charset="0"/>
              <a:buChar char="•"/>
            </a:pPr>
            <a:r>
              <a:rPr lang="zh-CN" altLang="en-US" sz="2000" b="1" dirty="0" smtClean="0"/>
              <a:t>应用 </a:t>
            </a:r>
            <a:endParaRPr lang="en-US" altLang="zh-CN" sz="2000" b="1" dirty="0"/>
          </a:p>
          <a:p>
            <a:endParaRPr lang="zh-CN" altLang="en-US" dirty="0"/>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9"/>
                                        </p:tgtEl>
                                        <p:attrNameLst>
                                          <p:attrName>style.visibility</p:attrName>
                                        </p:attrNameLst>
                                      </p:cBhvr>
                                      <p:to>
                                        <p:strVal val="visible"/>
                                      </p:to>
                                    </p:set>
                                    <p:anim calcmode="lin" valueType="num">
                                      <p:cBhvr additive="base">
                                        <p:cTn id="53" dur="500" fill="hold"/>
                                        <p:tgtEl>
                                          <p:spTgt spid="29"/>
                                        </p:tgtEl>
                                        <p:attrNameLst>
                                          <p:attrName>ppt_x</p:attrName>
                                        </p:attrNameLst>
                                      </p:cBhvr>
                                      <p:tavLst>
                                        <p:tav tm="0">
                                          <p:val>
                                            <p:strVal val="#ppt_x"/>
                                          </p:val>
                                        </p:tav>
                                        <p:tav tm="100000">
                                          <p:val>
                                            <p:strVal val="#ppt_x"/>
                                          </p:val>
                                        </p:tav>
                                      </p:tavLst>
                                    </p:anim>
                                    <p:anim calcmode="lin" valueType="num">
                                      <p:cBhvr additive="base">
                                        <p:cTn id="5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 presetClass="entr" presetSubtype="16" fill="hold" grpId="0" nodeType="click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box(in)">
                                      <p:cBhvr>
                                        <p:cTn id="5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文本占位符 32770"/>
          <p:cNvSpPr>
            <a:spLocks noGrp="1"/>
          </p:cNvSpPr>
          <p:nvPr>
            <p:ph idx="1"/>
          </p:nvPr>
        </p:nvSpPr>
        <p:spPr>
          <a:xfrm>
            <a:off x="611188" y="1341438"/>
            <a:ext cx="7993062" cy="4679950"/>
          </a:xfrm>
        </p:spPr>
        <p:txBody>
          <a:bodyPr anchor="t"/>
          <a:lstStyle/>
          <a:p>
            <a:pPr>
              <a:lnSpc>
                <a:spcPct val="80000"/>
              </a:lnSpc>
              <a:buNone/>
            </a:pPr>
            <a:r>
              <a:rPr lang="en-US" sz="2000" b="1" dirty="0"/>
              <a:t> </a:t>
            </a:r>
            <a:endParaRPr lang="en-US" sz="2000" dirty="0"/>
          </a:p>
        </p:txBody>
      </p:sp>
      <p:sp>
        <p:nvSpPr>
          <p:cNvPr id="33797" name="灯片编号占位符 2"/>
          <p:cNvSpPr>
            <a:spLocks noGrp="1"/>
          </p:cNvSpPr>
          <p:nvPr>
            <p:ph type="sldNum" sz="quarter" idx="4294967295"/>
          </p:nvPr>
        </p:nvSpPr>
        <p:spPr/>
        <p:txBody>
          <a:bodyPr anchor="t"/>
          <a:lstStyle/>
          <a:p>
            <a:pPr indent="0"/>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29" name="文本框 128"/>
          <p:cNvSpPr txBox="1"/>
          <p:nvPr/>
        </p:nvSpPr>
        <p:spPr>
          <a:xfrm>
            <a:off x="251520" y="882842"/>
            <a:ext cx="8568952" cy="6124754"/>
          </a:xfrm>
          <a:prstGeom prst="rect">
            <a:avLst/>
          </a:prstGeom>
          <a:noFill/>
          <a:ln w="9525">
            <a:noFill/>
          </a:ln>
        </p:spPr>
        <p:txBody>
          <a:bodyPr wrap="square">
            <a:spAutoFit/>
          </a:bodyPr>
          <a:lstStyle/>
          <a:p>
            <a:pPr marL="0" indent="270510">
              <a:spcBef>
                <a:spcPts val="600"/>
              </a:spcBef>
            </a:pPr>
            <a:r>
              <a:rPr lang="en-US" altLang="zh-CN" sz="2400" b="1" u="none" dirty="0" smtClean="0">
                <a:solidFill>
                  <a:srgbClr val="FF0000"/>
                </a:solidFill>
                <a:latin typeface="Times New Roman" panose="02020603050405020304" pitchFamily="18" charset="0"/>
                <a:ea typeface="宋体" panose="02010600030101010101" pitchFamily="2" charset="-122"/>
                <a:cs typeface="宋体" panose="02010600030101010101" pitchFamily="2" charset="-122"/>
              </a:rPr>
              <a:t>1</a:t>
            </a:r>
            <a:r>
              <a:rPr lang="en-US" altLang="zh-CN" sz="2400" b="1" u="none" dirty="0">
                <a:solidFill>
                  <a:srgbClr val="FF0000"/>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 </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已知数组</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A[</a:t>
            </a:r>
            <a:r>
              <a:rPr lang="en-US" altLang="zh-CN" sz="2400" b="1" i="1" u="none" dirty="0" err="1">
                <a:latin typeface="Times New Roman" panose="02020603050405020304" pitchFamily="18" charset="0"/>
                <a:ea typeface="宋体" panose="02010600030101010101" pitchFamily="2" charset="-122"/>
                <a:cs typeface="宋体" panose="02010600030101010101" pitchFamily="2" charset="-122"/>
              </a:rPr>
              <a:t>n</a:t>
            </a:r>
            <a:r>
              <a:rPr lang="en-US" altLang="zh-CN" sz="2400" b="1" u="none" dirty="0" err="1">
                <a:latin typeface="Times New Roman" panose="02020603050405020304" pitchFamily="18" charset="0"/>
                <a:ea typeface="宋体" panose="02010600030101010101" pitchFamily="2" charset="-122"/>
                <a:cs typeface="宋体" panose="02010600030101010101" pitchFamily="2" charset="-122"/>
              </a:rPr>
              <a:t>,</a:t>
            </a:r>
            <a:r>
              <a:rPr lang="en-US" altLang="zh-CN" sz="2400" b="1" i="1" u="none" dirty="0" err="1">
                <a:latin typeface="Times New Roman" panose="02020603050405020304" pitchFamily="18" charset="0"/>
                <a:ea typeface="宋体" panose="02010600030101010101" pitchFamily="2" charset="-122"/>
                <a:cs typeface="宋体" panose="02010600030101010101" pitchFamily="2" charset="-122"/>
              </a:rPr>
              <a:t>n</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是对称的，完成下列任务</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a:t>
            </a:r>
            <a:endParaRPr lang="zh-CN" altLang="en-US" sz="2400" b="1" u="none" dirty="0">
              <a:solidFill>
                <a:srgbClr val="FF0000"/>
              </a:solidFill>
              <a:latin typeface="Times New Roman" panose="02020603050405020304" pitchFamily="18" charset="0"/>
              <a:ea typeface="宋体" panose="02010600030101010101" pitchFamily="2" charset="-122"/>
              <a:cs typeface="宋体" panose="02010600030101010101" pitchFamily="2" charset="-122"/>
            </a:endParaRPr>
          </a:p>
          <a:p>
            <a:pPr marL="0" indent="270510" algn="l">
              <a:spcBef>
                <a:spcPts val="600"/>
              </a:spcBef>
            </a:pP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1</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）设计算法将</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A[</a:t>
            </a:r>
            <a:r>
              <a:rPr lang="en-US" altLang="zh-CN" sz="2400" b="1" i="1" u="none" dirty="0" err="1">
                <a:latin typeface="Times New Roman" panose="02020603050405020304" pitchFamily="18" charset="0"/>
                <a:ea typeface="宋体" panose="02010600030101010101" pitchFamily="2" charset="-122"/>
                <a:cs typeface="宋体" panose="02010600030101010101" pitchFamily="2" charset="-122"/>
              </a:rPr>
              <a:t>n</a:t>
            </a:r>
            <a:r>
              <a:rPr lang="en-US" altLang="zh-CN" sz="2400" b="1" u="none" dirty="0" err="1">
                <a:latin typeface="Times New Roman" panose="02020603050405020304" pitchFamily="18" charset="0"/>
                <a:ea typeface="宋体" panose="02010600030101010101" pitchFamily="2" charset="-122"/>
                <a:cs typeface="宋体" panose="02010600030101010101" pitchFamily="2" charset="-122"/>
              </a:rPr>
              <a:t>,</a:t>
            </a:r>
            <a:r>
              <a:rPr lang="en-US" altLang="zh-CN" sz="2400" b="1" i="1" u="none" dirty="0" err="1">
                <a:latin typeface="Times New Roman" panose="02020603050405020304" pitchFamily="18" charset="0"/>
                <a:ea typeface="宋体" panose="02010600030101010101" pitchFamily="2" charset="-122"/>
                <a:cs typeface="宋体" panose="02010600030101010101" pitchFamily="2" charset="-122"/>
              </a:rPr>
              <a:t>n</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中的下三角中的各元素按行</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优先</a:t>
            </a:r>
            <a:endParaRPr lang="en-US" altLang="zh-CN" sz="2400" b="1" u="none" dirty="0" smtClean="0">
              <a:latin typeface="Times New Roman" panose="02020603050405020304" pitchFamily="18" charset="0"/>
              <a:ea typeface="宋体" panose="02010600030101010101" pitchFamily="2" charset="-122"/>
              <a:cs typeface="宋体" panose="02010600030101010101" pitchFamily="2" charset="-122"/>
            </a:endParaRPr>
          </a:p>
          <a:p>
            <a:pPr marL="0" indent="270510" algn="l">
              <a:spcBef>
                <a:spcPts val="600"/>
              </a:spcBef>
            </a:pPr>
            <a:r>
              <a:rPr lang="en-US" altLang="zh-CN" sz="2400" b="1" dirty="0">
                <a:latin typeface="Times New Roman" panose="02020603050405020304" pitchFamily="18" charset="0"/>
                <a:ea typeface="宋体" panose="02010600030101010101" pitchFamily="2" charset="-122"/>
                <a:cs typeface="宋体" panose="02010600030101010101" pitchFamily="2" charset="-122"/>
              </a:rPr>
              <a:t> </a:t>
            </a:r>
            <a:r>
              <a:rPr lang="en-US" altLang="zh-CN" sz="2400" b="1" dirty="0" smtClean="0">
                <a:latin typeface="Times New Roman" panose="02020603050405020304" pitchFamily="18" charset="0"/>
                <a:ea typeface="宋体" panose="02010600030101010101" pitchFamily="2" charset="-122"/>
                <a:cs typeface="宋体" panose="02010600030101010101" pitchFamily="2" charset="-122"/>
              </a:rPr>
              <a:t>         </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次序</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存储</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到一</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维数组</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B</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中。</a:t>
            </a:r>
            <a:endParaRPr lang="zh-CN" altLang="en-US" sz="2400" b="1" u="none" dirty="0">
              <a:latin typeface="Times New Roman" panose="02020603050405020304" pitchFamily="18" charset="0"/>
              <a:ea typeface="宋体" panose="02010600030101010101" pitchFamily="2" charset="-122"/>
              <a:cs typeface="宋体" panose="02010600030101010101" pitchFamily="2" charset="-122"/>
            </a:endParaRPr>
          </a:p>
          <a:p>
            <a:pPr marL="0" indent="270510" algn="l">
              <a:spcBef>
                <a:spcPts val="600"/>
              </a:spcBef>
            </a:pP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2</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）对任意输入的</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A</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数组中的元素的下标</a:t>
            </a:r>
            <a:r>
              <a:rPr lang="en-US" altLang="zh-CN" sz="2400" b="1" i="1" u="none" dirty="0" err="1">
                <a:latin typeface="Times New Roman" panose="02020603050405020304" pitchFamily="18" charset="0"/>
                <a:ea typeface="宋体" panose="02010600030101010101" pitchFamily="2" charset="-122"/>
                <a:cs typeface="宋体" panose="02010600030101010101" pitchFamily="2" charset="-122"/>
              </a:rPr>
              <a:t>i</a:t>
            </a:r>
            <a:r>
              <a:rPr lang="en-US" altLang="zh-CN" sz="2400" b="1" u="none" dirty="0" smtClean="0">
                <a:latin typeface="Times New Roman" panose="02020603050405020304" pitchFamily="18" charset="0"/>
                <a:ea typeface="宋体" panose="02010600030101010101" pitchFamily="2" charset="-122"/>
                <a:cs typeface="宋体" panose="02010600030101010101" pitchFamily="2" charset="-122"/>
              </a:rPr>
              <a:t>, </a:t>
            </a:r>
            <a:r>
              <a:rPr lang="en-US" altLang="zh-CN" sz="2400" b="1" i="1" u="none" dirty="0" smtClean="0">
                <a:latin typeface="Times New Roman" panose="02020603050405020304" pitchFamily="18" charset="0"/>
                <a:ea typeface="宋体" panose="02010600030101010101" pitchFamily="2" charset="-122"/>
                <a:cs typeface="宋体" panose="02010600030101010101" pitchFamily="2" charset="-122"/>
              </a:rPr>
              <a:t>j</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，求解出</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该</a:t>
            </a:r>
            <a:endParaRPr lang="en-US" altLang="zh-CN" sz="2400" b="1" u="none" dirty="0" smtClean="0">
              <a:latin typeface="Times New Roman" panose="02020603050405020304" pitchFamily="18" charset="0"/>
              <a:ea typeface="宋体" panose="02010600030101010101" pitchFamily="2" charset="-122"/>
              <a:cs typeface="宋体" panose="02010600030101010101" pitchFamily="2" charset="-122"/>
            </a:endParaRPr>
          </a:p>
          <a:p>
            <a:pPr marL="0" indent="270510" algn="l">
              <a:spcBef>
                <a:spcPts val="600"/>
              </a:spcBef>
            </a:pPr>
            <a:r>
              <a:rPr lang="en-US" altLang="zh-CN" sz="2400" b="1" dirty="0">
                <a:latin typeface="Times New Roman" panose="02020603050405020304" pitchFamily="18" charset="0"/>
                <a:ea typeface="宋体" panose="02010600030101010101" pitchFamily="2" charset="-122"/>
                <a:cs typeface="宋体" panose="02010600030101010101" pitchFamily="2" charset="-122"/>
              </a:rPr>
              <a:t> </a:t>
            </a:r>
            <a:r>
              <a:rPr lang="en-US" altLang="zh-CN" sz="2400" b="1" dirty="0" smtClean="0">
                <a:latin typeface="Times New Roman" panose="02020603050405020304" pitchFamily="18" charset="0"/>
                <a:ea typeface="宋体" panose="02010600030101010101" pitchFamily="2" charset="-122"/>
                <a:cs typeface="宋体" panose="02010600030101010101" pitchFamily="2" charset="-122"/>
              </a:rPr>
              <a:t>         </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元素</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在</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B</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中</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的存储位置</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a:t>
            </a:r>
            <a:endParaRPr lang="zh-CN" altLang="en-US" sz="2400" b="1" u="none" dirty="0">
              <a:latin typeface="Times New Roman" panose="02020603050405020304" pitchFamily="18" charset="0"/>
              <a:ea typeface="宋体" panose="02010600030101010101" pitchFamily="2" charset="-122"/>
              <a:cs typeface="宋体" panose="02010600030101010101" pitchFamily="2" charset="-122"/>
            </a:endParaRPr>
          </a:p>
          <a:p>
            <a:pPr indent="270510">
              <a:spcBef>
                <a:spcPts val="600"/>
              </a:spcBef>
            </a:pPr>
            <a:r>
              <a:rPr lang="en-US" altLang="zh-CN" sz="2400" b="1" u="none" dirty="0">
                <a:solidFill>
                  <a:srgbClr val="FF0000"/>
                </a:solidFill>
                <a:latin typeface="Times New Roman" panose="02020603050405020304" pitchFamily="18" charset="0"/>
                <a:ea typeface="宋体" panose="02010600030101010101" pitchFamily="2" charset="-122"/>
                <a:cs typeface="宋体" panose="02010600030101010101" pitchFamily="2" charset="-122"/>
              </a:rPr>
              <a:t>2. </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已知数组</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A[</a:t>
            </a:r>
            <a:r>
              <a:rPr lang="en-US" altLang="zh-CN" sz="2400" b="1" i="1" u="none" dirty="0" err="1">
                <a:latin typeface="Times New Roman" panose="02020603050405020304" pitchFamily="18" charset="0"/>
                <a:ea typeface="宋体" panose="02010600030101010101" pitchFamily="2" charset="-122"/>
                <a:cs typeface="宋体" panose="02010600030101010101" pitchFamily="2" charset="-122"/>
              </a:rPr>
              <a:t>n</a:t>
            </a:r>
            <a:r>
              <a:rPr lang="en-US" altLang="zh-CN" sz="2400" b="1" u="none" dirty="0" err="1">
                <a:latin typeface="Times New Roman" panose="02020603050405020304" pitchFamily="18" charset="0"/>
                <a:ea typeface="宋体" panose="02010600030101010101" pitchFamily="2" charset="-122"/>
                <a:cs typeface="宋体" panose="02010600030101010101" pitchFamily="2" charset="-122"/>
              </a:rPr>
              <a:t>,</a:t>
            </a:r>
            <a:r>
              <a:rPr lang="en-US" altLang="zh-CN" sz="2400" b="1" i="1" u="none" dirty="0" err="1">
                <a:latin typeface="Times New Roman" panose="02020603050405020304" pitchFamily="18" charset="0"/>
                <a:ea typeface="宋体" panose="02010600030101010101" pitchFamily="2" charset="-122"/>
                <a:cs typeface="宋体" panose="02010600030101010101" pitchFamily="2" charset="-122"/>
              </a:rPr>
              <a:t>n</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的上三角部分的各元素均为同一个值</a:t>
            </a:r>
            <a:r>
              <a:rPr lang="en-US" altLang="zh-CN" sz="2400" b="1" i="1" u="none" dirty="0">
                <a:latin typeface="Times New Roman" panose="02020603050405020304" pitchFamily="18" charset="0"/>
                <a:ea typeface="宋体" panose="02010600030101010101" pitchFamily="2" charset="-122"/>
                <a:cs typeface="宋体" panose="02010600030101010101" pitchFamily="2" charset="-122"/>
              </a:rPr>
              <a:t>v</a:t>
            </a:r>
            <a:r>
              <a:rPr lang="en-US" altLang="zh-CN" sz="2400" b="1" u="none" baseline="-25000" dirty="0">
                <a:latin typeface="Times New Roman" panose="02020603050405020304" pitchFamily="18" charset="0"/>
                <a:ea typeface="宋体" panose="02010600030101010101" pitchFamily="2" charset="-122"/>
                <a:cs typeface="宋体" panose="02010600030101010101" pitchFamily="2" charset="-122"/>
              </a:rPr>
              <a:t>0</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 </a:t>
            </a:r>
            <a:endParaRPr lang="en-US" altLang="zh-CN" sz="2400" b="1" u="none" dirty="0" smtClean="0">
              <a:latin typeface="Times New Roman" panose="02020603050405020304" pitchFamily="18" charset="0"/>
              <a:ea typeface="宋体" panose="02010600030101010101" pitchFamily="2" charset="-122"/>
              <a:cs typeface="宋体" panose="02010600030101010101" pitchFamily="2" charset="-122"/>
            </a:endParaRPr>
          </a:p>
          <a:p>
            <a:pPr indent="270510">
              <a:spcBef>
                <a:spcPts val="600"/>
              </a:spcBef>
            </a:pPr>
            <a:r>
              <a:rPr lang="en-US" altLang="zh-CN" sz="2400" b="1" dirty="0">
                <a:latin typeface="Times New Roman" panose="02020603050405020304" pitchFamily="18" charset="0"/>
                <a:ea typeface="宋体" panose="02010600030101010101" pitchFamily="2" charset="-122"/>
                <a:cs typeface="宋体" panose="02010600030101010101" pitchFamily="2" charset="-122"/>
              </a:rPr>
              <a:t> </a:t>
            </a:r>
            <a:r>
              <a:rPr lang="en-US" altLang="zh-CN" sz="2400" b="1" dirty="0" smtClean="0">
                <a:latin typeface="Times New Roman" panose="02020603050405020304" pitchFamily="18" charset="0"/>
                <a:ea typeface="宋体" panose="02010600030101010101" pitchFamily="2" charset="-122"/>
                <a:cs typeface="宋体" panose="02010600030101010101" pitchFamily="2" charset="-122"/>
              </a:rPr>
              <a:t>   </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完成下列</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任务</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a:t>
            </a:r>
            <a:endParaRPr lang="en-US" altLang="zh-CN" sz="2400" b="1" u="none" dirty="0" smtClean="0">
              <a:latin typeface="Times New Roman" panose="02020603050405020304" pitchFamily="18" charset="0"/>
              <a:ea typeface="宋体" panose="02010600030101010101" pitchFamily="2" charset="-122"/>
              <a:cs typeface="宋体" panose="02010600030101010101" pitchFamily="2" charset="-122"/>
            </a:endParaRPr>
          </a:p>
          <a:p>
            <a:pPr indent="270510">
              <a:spcBef>
                <a:spcPts val="600"/>
              </a:spcBef>
            </a:pPr>
            <a:r>
              <a:rPr lang="en-US" altLang="zh-CN" sz="2400" b="1" dirty="0">
                <a:latin typeface="Times New Roman" panose="02020603050405020304" pitchFamily="18" charset="0"/>
                <a:ea typeface="宋体" panose="02010600030101010101" pitchFamily="2" charset="-122"/>
                <a:cs typeface="宋体" panose="02010600030101010101" pitchFamily="2" charset="-122"/>
              </a:rPr>
              <a:t> </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1</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）设计算法将</a:t>
            </a:r>
            <a:r>
              <a:rPr lang="en-US" altLang="zh-CN" sz="2400" b="1" u="none" dirty="0" smtClean="0">
                <a:latin typeface="Times New Roman" panose="02020603050405020304" pitchFamily="18" charset="0"/>
                <a:ea typeface="宋体" panose="02010600030101010101" pitchFamily="2" charset="-122"/>
                <a:cs typeface="宋体" panose="02010600030101010101" pitchFamily="2" charset="-122"/>
              </a:rPr>
              <a:t>A[</a:t>
            </a:r>
            <a:r>
              <a:rPr lang="en-US" altLang="zh-CN" sz="2400" b="1" i="1" dirty="0" err="1">
                <a:latin typeface="Times New Roman" panose="02020603050405020304" pitchFamily="18" charset="0"/>
                <a:ea typeface="宋体" panose="02010600030101010101" pitchFamily="2" charset="-122"/>
                <a:cs typeface="宋体" panose="02010600030101010101" pitchFamily="2" charset="-122"/>
              </a:rPr>
              <a:t>n</a:t>
            </a:r>
            <a:r>
              <a:rPr lang="en-US" altLang="zh-CN" sz="2400" b="1" dirty="0" err="1">
                <a:latin typeface="Times New Roman" panose="02020603050405020304" pitchFamily="18" charset="0"/>
                <a:ea typeface="宋体" panose="02010600030101010101" pitchFamily="2" charset="-122"/>
                <a:cs typeface="宋体" panose="02010600030101010101" pitchFamily="2" charset="-122"/>
              </a:rPr>
              <a:t>,</a:t>
            </a:r>
            <a:r>
              <a:rPr lang="en-US" altLang="zh-CN" sz="2400" b="1" i="1" dirty="0" err="1">
                <a:latin typeface="Times New Roman" panose="02020603050405020304" pitchFamily="18" charset="0"/>
                <a:ea typeface="宋体" panose="02010600030101010101" pitchFamily="2" charset="-122"/>
                <a:cs typeface="宋体" panose="02010600030101010101" pitchFamily="2" charset="-122"/>
              </a:rPr>
              <a:t>n</a:t>
            </a:r>
            <a:r>
              <a:rPr lang="en-US" altLang="zh-CN" sz="2400" b="1" u="none" dirty="0" smtClean="0">
                <a:latin typeface="Times New Roman" panose="02020603050405020304" pitchFamily="18" charset="0"/>
                <a:ea typeface="宋体" panose="02010600030101010101" pitchFamily="2" charset="-122"/>
                <a:cs typeface="宋体" panose="02010600030101010101" pitchFamily="2" charset="-122"/>
              </a:rPr>
              <a:t>]</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中的下三角中的各元素按行优先</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次</a:t>
            </a:r>
            <a:endParaRPr lang="en-US" altLang="zh-CN" sz="2400" b="1" u="none" dirty="0" smtClean="0">
              <a:latin typeface="Times New Roman" panose="02020603050405020304" pitchFamily="18" charset="0"/>
              <a:ea typeface="宋体" panose="02010600030101010101" pitchFamily="2" charset="-122"/>
              <a:cs typeface="宋体" panose="02010600030101010101" pitchFamily="2" charset="-122"/>
            </a:endParaRPr>
          </a:p>
          <a:p>
            <a:pPr indent="270510">
              <a:spcBef>
                <a:spcPts val="600"/>
              </a:spcBef>
            </a:pPr>
            <a:r>
              <a:rPr lang="en-US" altLang="zh-CN" sz="2400" b="1" dirty="0">
                <a:latin typeface="Times New Roman" panose="02020603050405020304" pitchFamily="18" charset="0"/>
                <a:ea typeface="宋体" panose="02010600030101010101" pitchFamily="2" charset="-122"/>
                <a:cs typeface="宋体" panose="02010600030101010101" pitchFamily="2" charset="-122"/>
              </a:rPr>
              <a:t> </a:t>
            </a:r>
            <a:r>
              <a:rPr lang="en-US" altLang="zh-CN" sz="2400" b="1" dirty="0" smtClean="0">
                <a:latin typeface="Times New Roman" panose="02020603050405020304" pitchFamily="18" charset="0"/>
                <a:ea typeface="宋体" panose="02010600030101010101" pitchFamily="2" charset="-122"/>
                <a:cs typeface="宋体" panose="02010600030101010101" pitchFamily="2" charset="-122"/>
              </a:rPr>
              <a:t>          </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序</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存储</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到一</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维数组</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B</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中，并</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将</a:t>
            </a:r>
            <a:r>
              <a:rPr lang="en-US" altLang="zh-CN" sz="2400" b="1" i="1" dirty="0">
                <a:latin typeface="Times New Roman" panose="02020603050405020304" pitchFamily="18" charset="0"/>
                <a:ea typeface="宋体" panose="02010600030101010101" pitchFamily="2" charset="-122"/>
                <a:cs typeface="宋体" panose="02010600030101010101" pitchFamily="2" charset="-122"/>
              </a:rPr>
              <a:t>v</a:t>
            </a:r>
            <a:r>
              <a:rPr lang="en-US" altLang="zh-CN" sz="2400" b="1" baseline="-25000" dirty="0">
                <a:latin typeface="Times New Roman" panose="02020603050405020304" pitchFamily="18" charset="0"/>
                <a:ea typeface="宋体" panose="02010600030101010101" pitchFamily="2" charset="-122"/>
                <a:cs typeface="宋体" panose="02010600030101010101" pitchFamily="2" charset="-122"/>
              </a:rPr>
              <a:t>0</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存放</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到其后面。</a:t>
            </a:r>
            <a:endParaRPr lang="zh-CN" altLang="en-US" sz="2400" b="1" u="none" dirty="0">
              <a:latin typeface="Times New Roman" panose="02020603050405020304" pitchFamily="18" charset="0"/>
              <a:ea typeface="宋体" panose="02010600030101010101" pitchFamily="2" charset="-122"/>
              <a:cs typeface="宋体" panose="02010600030101010101" pitchFamily="2" charset="-122"/>
            </a:endParaRPr>
          </a:p>
          <a:p>
            <a:pPr indent="270510">
              <a:spcBef>
                <a:spcPts val="600"/>
              </a:spcBef>
            </a:pP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 （</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2</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）对任意输入的</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A</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数组中的元素的</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下标</a:t>
            </a:r>
            <a:r>
              <a:rPr lang="en-US" altLang="zh-CN" sz="2400" b="1" i="1" dirty="0" err="1">
                <a:latin typeface="Times New Roman" panose="02020603050405020304" pitchFamily="18" charset="0"/>
                <a:ea typeface="宋体" panose="02010600030101010101" pitchFamily="2" charset="-122"/>
                <a:cs typeface="宋体" panose="02010600030101010101" pitchFamily="2" charset="-122"/>
              </a:rPr>
              <a:t>i</a:t>
            </a:r>
            <a:r>
              <a:rPr lang="en-US" altLang="zh-CN" sz="2400" b="1" dirty="0">
                <a:latin typeface="Times New Roman" panose="02020603050405020304" pitchFamily="18" charset="0"/>
                <a:ea typeface="宋体" panose="02010600030101010101" pitchFamily="2" charset="-122"/>
                <a:cs typeface="宋体" panose="02010600030101010101" pitchFamily="2" charset="-122"/>
              </a:rPr>
              <a:t>, </a:t>
            </a:r>
            <a:r>
              <a:rPr lang="en-US" altLang="zh-CN" sz="2400" b="1" i="1" dirty="0" smtClean="0">
                <a:latin typeface="Times New Roman" panose="02020603050405020304" pitchFamily="18" charset="0"/>
                <a:ea typeface="宋体" panose="02010600030101010101" pitchFamily="2" charset="-122"/>
                <a:cs typeface="宋体" panose="02010600030101010101" pitchFamily="2" charset="-122"/>
              </a:rPr>
              <a:t>j</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求解出该</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元 </a:t>
            </a:r>
            <a:endParaRPr lang="en-US" altLang="zh-CN" sz="2400" b="1" u="none" dirty="0" smtClean="0">
              <a:latin typeface="Times New Roman" panose="02020603050405020304" pitchFamily="18" charset="0"/>
              <a:ea typeface="宋体" panose="02010600030101010101" pitchFamily="2" charset="-122"/>
              <a:cs typeface="宋体" panose="02010600030101010101" pitchFamily="2" charset="-122"/>
            </a:endParaRPr>
          </a:p>
          <a:p>
            <a:pPr indent="270510">
              <a:spcBef>
                <a:spcPts val="600"/>
              </a:spcBef>
            </a:pPr>
            <a:r>
              <a:rPr lang="en-US" altLang="zh-CN" sz="2400" b="1" dirty="0">
                <a:latin typeface="Times New Roman" panose="02020603050405020304" pitchFamily="18" charset="0"/>
                <a:ea typeface="宋体" panose="02010600030101010101" pitchFamily="2" charset="-122"/>
                <a:cs typeface="宋体" panose="02010600030101010101" pitchFamily="2" charset="-122"/>
              </a:rPr>
              <a:t> </a:t>
            </a:r>
            <a:r>
              <a:rPr lang="en-US" altLang="zh-CN" sz="2400" b="1" dirty="0" smtClean="0">
                <a:latin typeface="Times New Roman" panose="02020603050405020304" pitchFamily="18" charset="0"/>
                <a:ea typeface="宋体" panose="02010600030101010101" pitchFamily="2" charset="-122"/>
                <a:cs typeface="宋体" panose="02010600030101010101" pitchFamily="2" charset="-122"/>
              </a:rPr>
              <a:t>          </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素在</a:t>
            </a:r>
            <a:r>
              <a:rPr lang="en-US" altLang="zh-CN" sz="2400" b="1" u="none" dirty="0">
                <a:latin typeface="Times New Roman" panose="02020603050405020304" pitchFamily="18" charset="0"/>
                <a:ea typeface="宋体" panose="02010600030101010101" pitchFamily="2" charset="-122"/>
                <a:cs typeface="宋体" panose="02010600030101010101" pitchFamily="2" charset="-122"/>
              </a:rPr>
              <a:t>B</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中</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的存储</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值。</a:t>
            </a:r>
            <a:endParaRPr lang="zh-CN" altLang="en-US" sz="2400" b="1" u="none" dirty="0">
              <a:latin typeface="Times New Roman" panose="02020603050405020304" pitchFamily="18" charset="0"/>
              <a:ea typeface="宋体" panose="02010600030101010101" pitchFamily="2" charset="-122"/>
              <a:cs typeface="宋体" panose="02010600030101010101" pitchFamily="2" charset="-122"/>
            </a:endParaRPr>
          </a:p>
          <a:p>
            <a:pPr indent="270510">
              <a:spcBef>
                <a:spcPts val="600"/>
              </a:spcBef>
            </a:pPr>
            <a:r>
              <a:rPr lang="en-US" altLang="zh-CN" sz="2400" b="1" u="none" dirty="0">
                <a:solidFill>
                  <a:srgbClr val="FF0000"/>
                </a:solidFill>
                <a:latin typeface="Times New Roman" panose="02020603050405020304" pitchFamily="18" charset="0"/>
                <a:ea typeface="宋体" panose="02010600030101010101" pitchFamily="2" charset="-122"/>
                <a:cs typeface="宋体" panose="02010600030101010101" pitchFamily="2" charset="-122"/>
              </a:rPr>
              <a:t>3. </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对两个以三元组形式存储的同阶稀疏矩阵</a:t>
            </a:r>
            <a:r>
              <a:rPr lang="en-US" altLang="zh-CN" sz="2400" b="1" u="none" dirty="0" smtClean="0">
                <a:latin typeface="Times New Roman" panose="02020603050405020304" pitchFamily="18" charset="0"/>
                <a:ea typeface="CG Times" charset="0"/>
                <a:cs typeface="CG Times" charset="0"/>
              </a:rPr>
              <a:t>A</a:t>
            </a:r>
            <a:r>
              <a:rPr lang="zh-CN" altLang="en-US" sz="2400" b="1" u="none" smtClean="0">
                <a:latin typeface="Times New Roman" panose="02020603050405020304" pitchFamily="18" charset="0"/>
                <a:ea typeface="CG Times" charset="0"/>
                <a:cs typeface="CG Times" charset="0"/>
              </a:rPr>
              <a:t>、</a:t>
            </a:r>
            <a:r>
              <a:rPr lang="en-US" altLang="zh-CN" sz="2400" b="1" u="none" dirty="0" smtClean="0">
                <a:latin typeface="Times New Roman" panose="02020603050405020304" pitchFamily="18" charset="0"/>
                <a:ea typeface="CG Times" charset="0"/>
                <a:cs typeface="CG Times" charset="0"/>
              </a:rPr>
              <a:t>B</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，设计</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算法</a:t>
            </a:r>
            <a:endParaRPr lang="en-US" altLang="zh-CN" sz="2400" b="1" u="none" dirty="0" smtClean="0">
              <a:latin typeface="Times New Roman" panose="02020603050405020304" pitchFamily="18" charset="0"/>
              <a:ea typeface="宋体" panose="02010600030101010101" pitchFamily="2" charset="-122"/>
              <a:cs typeface="宋体" panose="02010600030101010101" pitchFamily="2" charset="-122"/>
            </a:endParaRPr>
          </a:p>
          <a:p>
            <a:pPr indent="270510">
              <a:spcBef>
                <a:spcPts val="600"/>
              </a:spcBef>
            </a:pPr>
            <a:r>
              <a:rPr lang="en-US" altLang="zh-CN" sz="2400" b="1" dirty="0">
                <a:latin typeface="Times New Roman" panose="02020603050405020304" pitchFamily="18" charset="0"/>
                <a:ea typeface="宋体" panose="02010600030101010101" pitchFamily="2" charset="-122"/>
                <a:cs typeface="宋体" panose="02010600030101010101" pitchFamily="2" charset="-122"/>
              </a:rPr>
              <a:t> </a:t>
            </a:r>
            <a:r>
              <a:rPr lang="en-US" altLang="zh-CN" sz="2400" b="1" dirty="0" smtClean="0">
                <a:latin typeface="Times New Roman" panose="02020603050405020304" pitchFamily="18" charset="0"/>
                <a:ea typeface="宋体" panose="02010600030101010101" pitchFamily="2" charset="-122"/>
                <a:cs typeface="宋体" panose="02010600030101010101" pitchFamily="2" charset="-122"/>
              </a:rPr>
              <a:t>   </a:t>
            </a:r>
            <a:r>
              <a:rPr lang="zh-CN" altLang="en-US" sz="2400" b="1" u="none" dirty="0" smtClean="0">
                <a:latin typeface="Times New Roman" panose="02020603050405020304" pitchFamily="18" charset="0"/>
                <a:ea typeface="宋体" panose="02010600030101010101" pitchFamily="2" charset="-122"/>
                <a:cs typeface="宋体" panose="02010600030101010101" pitchFamily="2" charset="-122"/>
              </a:rPr>
              <a:t>求</a:t>
            </a:r>
            <a:r>
              <a:rPr lang="en-US" altLang="zh-CN" sz="2400" b="1" u="none" dirty="0">
                <a:latin typeface="Times New Roman" panose="02020603050405020304" pitchFamily="18" charset="0"/>
                <a:ea typeface="CG Times" charset="0"/>
                <a:cs typeface="CG Times" charset="0"/>
              </a:rPr>
              <a:t>C=A+B</a:t>
            </a:r>
            <a:r>
              <a:rPr lang="zh-CN" altLang="en-US" sz="2400" b="1" u="none" dirty="0">
                <a:latin typeface="Times New Roman" panose="02020603050405020304" pitchFamily="18" charset="0"/>
                <a:ea typeface="宋体" panose="02010600030101010101" pitchFamily="2" charset="-122"/>
                <a:cs typeface="宋体" panose="02010600030101010101" pitchFamily="2" charset="-122"/>
              </a:rPr>
              <a:t>。</a:t>
            </a:r>
            <a:r>
              <a:rPr lang="zh-CN" altLang="en-US" sz="2400" b="1" dirty="0">
                <a:solidFill>
                  <a:srgbClr val="FF0000"/>
                </a:solidFill>
                <a:latin typeface="Times New Roman" panose="02020603050405020304" pitchFamily="18" charset="0"/>
                <a:ea typeface="宋体" panose="02010600030101010101" pitchFamily="2" charset="-122"/>
                <a:cs typeface="宋体" panose="02010600030101010101" pitchFamily="2" charset="-122"/>
              </a:rPr>
              <a:t> </a:t>
            </a:r>
            <a:endParaRPr lang="en-US" altLang="zh-CN" sz="2400" b="1" dirty="0" smtClean="0">
              <a:solidFill>
                <a:srgbClr val="FF0000"/>
              </a:solidFill>
              <a:latin typeface="Times New Roman" panose="02020603050405020304" pitchFamily="18" charset="0"/>
              <a:ea typeface="宋体" panose="02010600030101010101" pitchFamily="2" charset="-122"/>
              <a:cs typeface="宋体" panose="02010600030101010101" pitchFamily="2" charset="-122"/>
            </a:endParaRPr>
          </a:p>
          <a:p>
            <a:pPr indent="270510"/>
            <a:endParaRPr lang="zh-CN" altLang="en-US" sz="2000" dirty="0">
              <a:latin typeface="Times New Roman" panose="02020603050405020304" pitchFamily="18" charset="0"/>
            </a:endParaRPr>
          </a:p>
        </p:txBody>
      </p:sp>
      <p:grpSp>
        <p:nvGrpSpPr>
          <p:cNvPr id="7" name="组合 6"/>
          <p:cNvGrpSpPr/>
          <p:nvPr/>
        </p:nvGrpSpPr>
        <p:grpSpPr>
          <a:xfrm>
            <a:off x="539552" y="66293"/>
            <a:ext cx="1971209" cy="696929"/>
            <a:chOff x="973123" y="4906917"/>
            <a:chExt cx="1971209" cy="696929"/>
          </a:xfrm>
        </p:grpSpPr>
        <p:sp>
          <p:nvSpPr>
            <p:cNvPr id="8" name="矩形 7"/>
            <p:cNvSpPr/>
            <p:nvPr/>
          </p:nvSpPr>
          <p:spPr>
            <a:xfrm>
              <a:off x="1523750" y="4964472"/>
              <a:ext cx="1420582" cy="584775"/>
            </a:xfrm>
            <a:prstGeom prst="rect">
              <a:avLst/>
            </a:prstGeom>
          </p:spPr>
          <p:txBody>
            <a:bodyPr wrap="none">
              <a:spAutoFit/>
            </a:bodyPr>
            <a:lstStyle/>
            <a:p>
              <a:pPr>
                <a:buClr>
                  <a:srgbClr val="FF0000"/>
                </a:buClr>
              </a:pPr>
              <a:r>
                <a:rPr lang="zh-CN" altLang="en-US" sz="3200" b="1" dirty="0" smtClean="0">
                  <a:latin typeface="Verdana" panose="020B0604030504040204" pitchFamily="2" charset="0"/>
                  <a:ea typeface="黑体" panose="02010609060101010101" pitchFamily="49" charset="-122"/>
                </a:rPr>
                <a:t>作业：</a:t>
              </a:r>
              <a:endParaRPr lang="zh-CN" altLang="en-US" sz="3200" b="1" dirty="0">
                <a:latin typeface="Verdana" panose="020B0604030504040204" pitchFamily="2" charset="0"/>
                <a:ea typeface="黑体" panose="02010609060101010101" pitchFamily="49" charset="-122"/>
              </a:endParaRPr>
            </a:p>
          </p:txBody>
        </p:sp>
        <p:pic>
          <p:nvPicPr>
            <p:cNvPr id="9" name="图片 8"/>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229600" cy="4678451"/>
          </a:xfrm>
        </p:spPr>
        <p:txBody>
          <a:bodyPr/>
          <a:lstStyle/>
          <a:p>
            <a:pPr marL="0" indent="0">
              <a:spcBef>
                <a:spcPts val="1200"/>
              </a:spcBef>
              <a:buNone/>
            </a:pPr>
            <a:r>
              <a:rPr lang="en-US" altLang="zh-CN" sz="2400" b="1" dirty="0">
                <a:solidFill>
                  <a:srgbClr val="FF0000"/>
                </a:solidFill>
              </a:rPr>
              <a:t>4. </a:t>
            </a:r>
            <a:r>
              <a:rPr lang="zh-CN" altLang="en-US" sz="2400" b="1" dirty="0">
                <a:latin typeface="宋体" panose="02010600030101010101" pitchFamily="2" charset="-122"/>
                <a:ea typeface="宋体" panose="02010600030101010101" pitchFamily="2" charset="-122"/>
              </a:rPr>
              <a:t>对下列广义表，请分别构造求出其中的原子</a:t>
            </a:r>
            <a:r>
              <a:rPr lang="en-US" altLang="zh-CN" sz="2400" b="1" dirty="0">
                <a:latin typeface="宋体" panose="02010600030101010101" pitchFamily="2" charset="-122"/>
                <a:ea typeface="宋体" panose="02010600030101010101" pitchFamily="2" charset="-122"/>
              </a:rPr>
              <a:t>c</a:t>
            </a:r>
            <a:r>
              <a:rPr lang="zh-CN" altLang="en-US" sz="2400" b="1" dirty="0">
                <a:latin typeface="宋体" panose="02010600030101010101" pitchFamily="2" charset="-122"/>
                <a:ea typeface="宋体" panose="02010600030101010101" pitchFamily="2" charset="-122"/>
              </a:rPr>
              <a:t>的复合函数</a:t>
            </a:r>
            <a:r>
              <a:rPr lang="zh-CN" altLang="en-US" sz="2400" b="1" dirty="0" smtClean="0">
                <a:latin typeface="宋体" panose="02010600030101010101" pitchFamily="2" charset="-122"/>
                <a:ea typeface="宋体" panose="02010600030101010101" pitchFamily="2" charset="-122"/>
              </a:rPr>
              <a:t>。</a:t>
            </a:r>
            <a:endParaRPr lang="en-US" altLang="zh-CN" sz="2400" b="1" dirty="0">
              <a:solidFill>
                <a:srgbClr val="FF0000"/>
              </a:solidFill>
              <a:latin typeface="宋体" panose="02010600030101010101" pitchFamily="2" charset="-122"/>
              <a:ea typeface="宋体" panose="02010600030101010101" pitchFamily="2" charset="-122"/>
            </a:endParaRPr>
          </a:p>
          <a:p>
            <a:pPr marL="0" indent="0">
              <a:spcBef>
                <a:spcPts val="1200"/>
              </a:spcBef>
              <a:buNone/>
            </a:pPr>
            <a:r>
              <a:rPr lang="en-US" altLang="zh-CN" sz="2400" b="1" dirty="0">
                <a:ea typeface="宋体" panose="02010600030101010101" pitchFamily="2" charset="-122"/>
                <a:cs typeface="Times New Roman" panose="02020603050405020304" pitchFamily="18" charset="0"/>
              </a:rPr>
              <a:t>    </a:t>
            </a:r>
            <a:r>
              <a:rPr lang="en-US" altLang="zh-CN" sz="2400" b="1" dirty="0" smtClean="0">
                <a:ea typeface="宋体" panose="02010600030101010101" pitchFamily="2" charset="-122"/>
                <a:cs typeface="Times New Roman" panose="02020603050405020304" pitchFamily="18" charset="0"/>
              </a:rPr>
              <a:t> A</a:t>
            </a:r>
            <a:r>
              <a:rPr lang="en-US" altLang="zh-CN" sz="2400" b="1" dirty="0">
                <a:ea typeface="宋体" panose="02010600030101010101" pitchFamily="2" charset="-122"/>
                <a:cs typeface="Times New Roman" panose="02020603050405020304" pitchFamily="18" charset="0"/>
              </a:rPr>
              <a:t>=(</a:t>
            </a:r>
            <a:r>
              <a:rPr lang="en-US" altLang="zh-CN" sz="2400" b="1" dirty="0" err="1">
                <a:ea typeface="宋体" panose="02010600030101010101" pitchFamily="2" charset="-122"/>
                <a:cs typeface="Times New Roman" panose="02020603050405020304" pitchFamily="18" charset="0"/>
              </a:rPr>
              <a:t>a,b,c</a:t>
            </a:r>
            <a:r>
              <a:rPr lang="en-US" altLang="zh-CN" sz="2400" b="1" dirty="0">
                <a:ea typeface="宋体" panose="02010600030101010101" pitchFamily="2" charset="-122"/>
                <a:cs typeface="Times New Roman" panose="02020603050405020304" pitchFamily="18" charset="0"/>
              </a:rPr>
              <a:t>) </a:t>
            </a:r>
            <a:endParaRPr lang="zh-CN" altLang="en-US" sz="2400" b="1" dirty="0">
              <a:cs typeface="Times New Roman" panose="02020603050405020304" pitchFamily="18" charset="0"/>
            </a:endParaRPr>
          </a:p>
          <a:p>
            <a:pPr marL="0" indent="0">
              <a:spcBef>
                <a:spcPts val="1200"/>
              </a:spcBef>
              <a:buNone/>
            </a:pPr>
            <a:r>
              <a:rPr lang="en-US" altLang="zh-CN" sz="2400" b="1" dirty="0">
                <a:ea typeface="宋体" panose="02010600030101010101" pitchFamily="2" charset="-122"/>
                <a:cs typeface="Times New Roman" panose="02020603050405020304" pitchFamily="18" charset="0"/>
              </a:rPr>
              <a:t>   </a:t>
            </a:r>
            <a:r>
              <a:rPr lang="en-US" altLang="zh-CN" sz="2400" b="1" dirty="0" smtClean="0">
                <a:ea typeface="宋体" panose="02010600030101010101" pitchFamily="2" charset="-122"/>
                <a:cs typeface="Times New Roman" panose="02020603050405020304" pitchFamily="18" charset="0"/>
              </a:rPr>
              <a:t>  </a:t>
            </a:r>
            <a:r>
              <a:rPr lang="en-US" altLang="zh-CN" sz="2400" b="1" dirty="0">
                <a:ea typeface="宋体" panose="02010600030101010101" pitchFamily="2" charset="-122"/>
                <a:cs typeface="Times New Roman" panose="02020603050405020304" pitchFamily="18" charset="0"/>
              </a:rPr>
              <a:t>A=(a, (b,</a:t>
            </a:r>
            <a:r>
              <a:rPr lang="zh-CN" altLang="en-US" sz="2400" b="1" dirty="0">
                <a:ea typeface="宋体" panose="02010600030101010101" pitchFamily="2" charset="-122"/>
                <a:cs typeface="Times New Roman" panose="02020603050405020304" pitchFamily="18" charset="0"/>
              </a:rPr>
              <a:t> </a:t>
            </a:r>
            <a:r>
              <a:rPr lang="en-US" altLang="zh-CN" sz="2400" b="1" dirty="0">
                <a:ea typeface="宋体" panose="02010600030101010101" pitchFamily="2" charset="-122"/>
                <a:cs typeface="Times New Roman" panose="02020603050405020304" pitchFamily="18" charset="0"/>
              </a:rPr>
              <a:t>c) )</a:t>
            </a:r>
            <a:endParaRPr lang="en-US" altLang="zh-CN" sz="2400" b="1" dirty="0">
              <a:ea typeface="宋体" panose="02010600030101010101" pitchFamily="2" charset="-122"/>
              <a:cs typeface="Times New Roman" panose="02020603050405020304" pitchFamily="18" charset="0"/>
            </a:endParaRPr>
          </a:p>
          <a:p>
            <a:pPr marL="0" indent="0">
              <a:spcBef>
                <a:spcPts val="1200"/>
              </a:spcBef>
              <a:buNone/>
            </a:pPr>
            <a:r>
              <a:rPr lang="en-US" altLang="zh-CN" sz="2400" b="1" dirty="0">
                <a:ea typeface="宋体" panose="02010600030101010101" pitchFamily="2" charset="-122"/>
                <a:cs typeface="Times New Roman" panose="02020603050405020304" pitchFamily="18" charset="0"/>
              </a:rPr>
              <a:t>  </a:t>
            </a:r>
            <a:r>
              <a:rPr lang="en-US" altLang="zh-CN" sz="2400" b="1" dirty="0" smtClean="0">
                <a:ea typeface="宋体" panose="02010600030101010101" pitchFamily="2" charset="-122"/>
                <a:cs typeface="Times New Roman" panose="02020603050405020304" pitchFamily="18" charset="0"/>
              </a:rPr>
              <a:t>   </a:t>
            </a:r>
            <a:r>
              <a:rPr lang="en-US" altLang="zh-CN" sz="2400" b="1" dirty="0">
                <a:ea typeface="宋体" panose="02010600030101010101" pitchFamily="2" charset="-122"/>
                <a:cs typeface="Times New Roman" panose="02020603050405020304" pitchFamily="18" charset="0"/>
              </a:rPr>
              <a:t>A=(a, b, (</a:t>
            </a:r>
            <a:r>
              <a:rPr lang="en-US" altLang="zh-CN" sz="2400" b="1" dirty="0" err="1">
                <a:ea typeface="宋体" panose="02010600030101010101" pitchFamily="2" charset="-122"/>
                <a:cs typeface="Times New Roman" panose="02020603050405020304" pitchFamily="18" charset="0"/>
              </a:rPr>
              <a:t>c,d</a:t>
            </a:r>
            <a:r>
              <a:rPr lang="en-US" altLang="zh-CN" sz="2400" b="1" dirty="0">
                <a:ea typeface="宋体" panose="02010600030101010101" pitchFamily="2" charset="-122"/>
                <a:cs typeface="Times New Roman" panose="02020603050405020304" pitchFamily="18" charset="0"/>
              </a:rPr>
              <a:t>) )</a:t>
            </a:r>
            <a:endParaRPr lang="en-US" altLang="zh-CN" sz="2400" b="1" dirty="0">
              <a:cs typeface="Times New Roman" panose="02020603050405020304" pitchFamily="18" charset="0"/>
            </a:endParaRPr>
          </a:p>
          <a:p>
            <a:pPr marL="0" indent="0">
              <a:spcBef>
                <a:spcPts val="1200"/>
              </a:spcBef>
              <a:buNone/>
            </a:pPr>
            <a:r>
              <a:rPr lang="en-US" altLang="zh-CN" sz="2400" b="1" dirty="0">
                <a:solidFill>
                  <a:srgbClr val="FF0000"/>
                </a:solidFill>
                <a:cs typeface="Times New Roman" panose="02020603050405020304" pitchFamily="18" charset="0"/>
              </a:rPr>
              <a:t>5. </a:t>
            </a:r>
            <a:r>
              <a:rPr lang="zh-CN" altLang="en-US" sz="2400" b="1" dirty="0">
                <a:cs typeface="Times New Roman" panose="02020603050405020304" pitchFamily="18" charset="0"/>
              </a:rPr>
              <a:t>给出广义表的相关运算和相应的描述，并设计存储结构</a:t>
            </a:r>
            <a:r>
              <a:rPr lang="zh-CN" altLang="en-US" sz="2400" b="1" dirty="0" smtClean="0">
                <a:cs typeface="Times New Roman" panose="02020603050405020304" pitchFamily="18" charset="0"/>
              </a:rPr>
              <a:t>及</a:t>
            </a:r>
            <a:endParaRPr lang="en-US" altLang="zh-CN" sz="2400" b="1" dirty="0" smtClean="0">
              <a:cs typeface="Times New Roman" panose="02020603050405020304" pitchFamily="18" charset="0"/>
            </a:endParaRPr>
          </a:p>
          <a:p>
            <a:pPr marL="0" indent="0">
              <a:spcBef>
                <a:spcPts val="1200"/>
              </a:spcBef>
              <a:buNone/>
            </a:pPr>
            <a:r>
              <a:rPr lang="en-US" altLang="zh-CN" sz="2400" b="1" dirty="0">
                <a:cs typeface="Times New Roman" panose="02020603050405020304" pitchFamily="18" charset="0"/>
              </a:rPr>
              <a:t> </a:t>
            </a:r>
            <a:r>
              <a:rPr lang="en-US" altLang="zh-CN" sz="2400" b="1" dirty="0" smtClean="0">
                <a:cs typeface="Times New Roman" panose="02020603050405020304" pitchFamily="18" charset="0"/>
              </a:rPr>
              <a:t>   </a:t>
            </a:r>
            <a:r>
              <a:rPr lang="zh-CN" altLang="en-US" sz="2400" b="1" dirty="0" smtClean="0">
                <a:cs typeface="Times New Roman" panose="02020603050405020304" pitchFamily="18" charset="0"/>
              </a:rPr>
              <a:t>其</a:t>
            </a:r>
            <a:r>
              <a:rPr lang="zh-CN" altLang="en-US" sz="2400" b="1" dirty="0">
                <a:cs typeface="Times New Roman" panose="02020603050405020304" pitchFamily="18" charset="0"/>
              </a:rPr>
              <a:t>运算实现。</a:t>
            </a:r>
            <a:r>
              <a:rPr lang="zh-CN" altLang="en-US" sz="2400" b="1" dirty="0">
                <a:solidFill>
                  <a:srgbClr val="FF0000"/>
                </a:solidFill>
                <a:latin typeface="宋体" panose="02010600030101010101" pitchFamily="2" charset="-122"/>
                <a:ea typeface="宋体" panose="02010600030101010101" pitchFamily="2" charset="-122"/>
              </a:rPr>
              <a:t> </a:t>
            </a:r>
            <a:endParaRPr lang="en-US" altLang="zh-CN" sz="2400" b="1" dirty="0" smtClean="0">
              <a:solidFill>
                <a:srgbClr val="FF0000"/>
              </a:solidFill>
              <a:latin typeface="宋体" panose="02010600030101010101" pitchFamily="2" charset="-122"/>
              <a:ea typeface="宋体" panose="02010600030101010101" pitchFamily="2" charset="-122"/>
            </a:endParaRPr>
          </a:p>
          <a:p>
            <a:pPr marL="0" indent="0">
              <a:spcBef>
                <a:spcPts val="1200"/>
              </a:spcBef>
              <a:buNone/>
            </a:pPr>
            <a:r>
              <a:rPr lang="en-US" altLang="zh-CN" sz="2400" b="1" dirty="0" smtClean="0">
                <a:solidFill>
                  <a:srgbClr val="FF0000"/>
                </a:solidFill>
                <a:cs typeface="Times New Roman" panose="02020603050405020304" pitchFamily="18" charset="0"/>
              </a:rPr>
              <a:t>6</a:t>
            </a:r>
            <a:r>
              <a:rPr lang="en-US" altLang="zh-CN" sz="2400" b="1" dirty="0">
                <a:solidFill>
                  <a:srgbClr val="FF0000"/>
                </a:solidFill>
                <a:cs typeface="Times New Roman" panose="02020603050405020304" pitchFamily="18" charset="0"/>
              </a:rPr>
              <a:t>. </a:t>
            </a:r>
            <a:r>
              <a:rPr lang="zh-CN" altLang="en-US" sz="2400" b="1" dirty="0">
                <a:cs typeface="Times New Roman" panose="02020603050405020304" pitchFamily="18" charset="0"/>
              </a:rPr>
              <a:t>在有多个广义表需要存储的背景下，给出广义表的相关</a:t>
            </a:r>
            <a:r>
              <a:rPr lang="zh-CN" altLang="en-US" sz="2400" b="1" dirty="0" smtClean="0">
                <a:cs typeface="Times New Roman" panose="02020603050405020304" pitchFamily="18" charset="0"/>
              </a:rPr>
              <a:t>运</a:t>
            </a:r>
            <a:endParaRPr lang="en-US" altLang="zh-CN" sz="2400" b="1" dirty="0" smtClean="0">
              <a:cs typeface="Times New Roman" panose="02020603050405020304" pitchFamily="18" charset="0"/>
            </a:endParaRPr>
          </a:p>
          <a:p>
            <a:pPr marL="0" indent="0">
              <a:spcBef>
                <a:spcPts val="1200"/>
              </a:spcBef>
              <a:buNone/>
            </a:pPr>
            <a:r>
              <a:rPr lang="en-US" altLang="zh-CN" sz="2400" b="1" dirty="0">
                <a:cs typeface="Times New Roman" panose="02020603050405020304" pitchFamily="18" charset="0"/>
              </a:rPr>
              <a:t> </a:t>
            </a:r>
            <a:r>
              <a:rPr lang="en-US" altLang="zh-CN" sz="2400" b="1" dirty="0" smtClean="0">
                <a:cs typeface="Times New Roman" panose="02020603050405020304" pitchFamily="18" charset="0"/>
              </a:rPr>
              <a:t>   </a:t>
            </a:r>
            <a:r>
              <a:rPr lang="zh-CN" altLang="en-US" sz="2400" b="1" dirty="0" smtClean="0">
                <a:cs typeface="Times New Roman" panose="02020603050405020304" pitchFamily="18" charset="0"/>
              </a:rPr>
              <a:t>算</a:t>
            </a:r>
            <a:r>
              <a:rPr lang="zh-CN" altLang="en-US" sz="2400" b="1" dirty="0">
                <a:cs typeface="Times New Roman" panose="02020603050405020304" pitchFamily="18" charset="0"/>
              </a:rPr>
              <a:t>和相应的描述，并设计存储结构及其运算实现。注意</a:t>
            </a:r>
            <a:r>
              <a:rPr lang="zh-CN" altLang="en-US" sz="2400" b="1" dirty="0" smtClean="0">
                <a:cs typeface="Times New Roman" panose="02020603050405020304" pitchFamily="18" charset="0"/>
              </a:rPr>
              <a:t>特</a:t>
            </a:r>
            <a:endParaRPr lang="en-US" altLang="zh-CN" sz="2400" b="1" dirty="0" smtClean="0">
              <a:cs typeface="Times New Roman" panose="02020603050405020304" pitchFamily="18" charset="0"/>
            </a:endParaRPr>
          </a:p>
          <a:p>
            <a:pPr marL="0" indent="0">
              <a:spcBef>
                <a:spcPts val="1200"/>
              </a:spcBef>
              <a:buNone/>
            </a:pPr>
            <a:r>
              <a:rPr lang="en-US" altLang="zh-CN" sz="2400" b="1" dirty="0">
                <a:cs typeface="Times New Roman" panose="02020603050405020304" pitchFamily="18" charset="0"/>
              </a:rPr>
              <a:t> </a:t>
            </a:r>
            <a:r>
              <a:rPr lang="en-US" altLang="zh-CN" sz="2400" b="1" dirty="0" smtClean="0">
                <a:cs typeface="Times New Roman" panose="02020603050405020304" pitchFamily="18" charset="0"/>
              </a:rPr>
              <a:t>   </a:t>
            </a:r>
            <a:r>
              <a:rPr lang="zh-CN" altLang="en-US" sz="2400" b="1" dirty="0" smtClean="0">
                <a:cs typeface="Times New Roman" panose="02020603050405020304" pitchFamily="18" charset="0"/>
              </a:rPr>
              <a:t>别</a:t>
            </a:r>
            <a:r>
              <a:rPr lang="zh-CN" altLang="en-US" sz="2400" b="1" dirty="0">
                <a:cs typeface="Times New Roman" panose="02020603050405020304" pitchFamily="18" charset="0"/>
              </a:rPr>
              <a:t>要能对广义表标识符进行引用、指示等。</a:t>
            </a:r>
            <a:r>
              <a:rPr lang="zh-CN" altLang="en-US" sz="2400" b="1" dirty="0">
                <a:solidFill>
                  <a:srgbClr val="FF0000"/>
                </a:solidFill>
                <a:latin typeface="宋体" panose="02010600030101010101" pitchFamily="2" charset="-122"/>
                <a:ea typeface="宋体" panose="02010600030101010101" pitchFamily="2" charset="-122"/>
              </a:rPr>
              <a:t> </a:t>
            </a:r>
            <a:endParaRPr lang="en-US" altLang="zh-CN" sz="2400" b="1" dirty="0" smtClean="0">
              <a:solidFill>
                <a:srgbClr val="FF0000"/>
              </a:solidFill>
              <a:latin typeface="宋体" panose="02010600030101010101" pitchFamily="2" charset="-122"/>
              <a:ea typeface="宋体" panose="02010600030101010101" pitchFamily="2" charset="-122"/>
            </a:endParaRPr>
          </a:p>
          <a:p>
            <a:pPr marL="0" indent="0">
              <a:spcBef>
                <a:spcPts val="1200"/>
              </a:spcBef>
              <a:buNone/>
            </a:pPr>
            <a:r>
              <a:rPr lang="en-US" altLang="zh-CN" sz="2400" b="1" dirty="0" smtClean="0">
                <a:solidFill>
                  <a:srgbClr val="FF0000"/>
                </a:solidFill>
                <a:cs typeface="Times New Roman" panose="02020603050405020304" pitchFamily="18" charset="0"/>
              </a:rPr>
              <a:t>7</a:t>
            </a:r>
            <a:r>
              <a:rPr lang="en-US" altLang="zh-CN" sz="2400" b="1" dirty="0">
                <a:solidFill>
                  <a:srgbClr val="FF0000"/>
                </a:solidFill>
                <a:cs typeface="Times New Roman" panose="02020603050405020304" pitchFamily="18" charset="0"/>
              </a:rPr>
              <a:t>. </a:t>
            </a:r>
            <a:r>
              <a:rPr lang="zh-CN" altLang="en-US" sz="2400" b="1" dirty="0">
                <a:cs typeface="Times New Roman" panose="02020603050405020304" pitchFamily="18" charset="0"/>
              </a:rPr>
              <a:t>设计算法，对以字符串形式表示的广义表，构造出其</a:t>
            </a:r>
            <a:r>
              <a:rPr lang="zh-CN" altLang="en-US" sz="2400" b="1" dirty="0" smtClean="0">
                <a:cs typeface="Times New Roman" panose="02020603050405020304" pitchFamily="18" charset="0"/>
              </a:rPr>
              <a:t>相应</a:t>
            </a:r>
            <a:endParaRPr lang="en-US" altLang="zh-CN" sz="2400" b="1" dirty="0" smtClean="0">
              <a:cs typeface="Times New Roman" panose="02020603050405020304" pitchFamily="18" charset="0"/>
            </a:endParaRPr>
          </a:p>
          <a:p>
            <a:pPr marL="0" indent="0">
              <a:spcBef>
                <a:spcPts val="1200"/>
              </a:spcBef>
              <a:buNone/>
            </a:pPr>
            <a:r>
              <a:rPr lang="en-US" altLang="zh-CN" sz="2400" b="1" dirty="0">
                <a:cs typeface="Times New Roman" panose="02020603050405020304" pitchFamily="18" charset="0"/>
              </a:rPr>
              <a:t> </a:t>
            </a:r>
            <a:r>
              <a:rPr lang="en-US" altLang="zh-CN" sz="2400" b="1" dirty="0" smtClean="0">
                <a:cs typeface="Times New Roman" panose="02020603050405020304" pitchFamily="18" charset="0"/>
              </a:rPr>
              <a:t>   </a:t>
            </a:r>
            <a:r>
              <a:rPr lang="zh-CN" altLang="en-US" sz="2400" b="1" dirty="0" smtClean="0">
                <a:cs typeface="Times New Roman" panose="02020603050405020304" pitchFamily="18" charset="0"/>
              </a:rPr>
              <a:t>的</a:t>
            </a:r>
            <a:r>
              <a:rPr lang="zh-CN" altLang="en-US" sz="2400" b="1" dirty="0">
                <a:cs typeface="Times New Roman" panose="02020603050405020304" pitchFamily="18" charset="0"/>
              </a:rPr>
              <a:t>链表存储结构</a:t>
            </a:r>
            <a:r>
              <a:rPr lang="zh-CN" altLang="en-US" sz="2400" b="1" dirty="0" smtClean="0">
                <a:cs typeface="Times New Roman" panose="02020603050405020304" pitchFamily="18" charset="0"/>
              </a:rPr>
              <a:t>。</a:t>
            </a:r>
            <a:endParaRPr lang="zh-CN" altLang="en-US" sz="3600" b="1" dirty="0"/>
          </a:p>
        </p:txBody>
      </p:sp>
      <p:sp>
        <p:nvSpPr>
          <p:cNvPr id="6" name="灯片编号占位符 5"/>
          <p:cNvSpPr>
            <a:spLocks noGrp="1"/>
          </p:cNvSpPr>
          <p:nvPr>
            <p:ph type="sldNum" sz="quarter" idx="4294967295"/>
          </p:nvPr>
        </p:nvSpPr>
        <p:spPr/>
        <p:txBody>
          <a:bodyPr/>
          <a:lstStyle/>
          <a:p>
            <a:pPr lvl="0" eaLnBrk="1" fontAlgn="base" hangingPunct="1"/>
            <a:fld id="{9A0DB2DC-4C9A-4742-B13C-FB6460FD3503}" type="slidenum">
              <a:rPr lang="zh-CN" altLang="en-US" strike="noStrike" noProof="1" smtClean="0">
                <a:latin typeface="Verdana" panose="020B0604030504040204" pitchFamily="2" charset="0"/>
                <a:ea typeface="宋体" panose="02010600030101010101" pitchFamily="2" charset="-122"/>
                <a:cs typeface="+mn-ea"/>
              </a:rPr>
            </a:fld>
            <a:endParaRPr lang="zh-CN" altLang="en-US" strike="noStrike" noProof="1"/>
          </a:p>
        </p:txBody>
      </p:sp>
      <p:grpSp>
        <p:nvGrpSpPr>
          <p:cNvPr id="7" name="组合 6"/>
          <p:cNvGrpSpPr/>
          <p:nvPr/>
        </p:nvGrpSpPr>
        <p:grpSpPr>
          <a:xfrm>
            <a:off x="539552" y="66293"/>
            <a:ext cx="1971209" cy="696929"/>
            <a:chOff x="973123" y="4906917"/>
            <a:chExt cx="1971209" cy="696929"/>
          </a:xfrm>
        </p:grpSpPr>
        <p:sp>
          <p:nvSpPr>
            <p:cNvPr id="8" name="矩形 7"/>
            <p:cNvSpPr/>
            <p:nvPr/>
          </p:nvSpPr>
          <p:spPr>
            <a:xfrm>
              <a:off x="1523750" y="4964472"/>
              <a:ext cx="1420582" cy="584775"/>
            </a:xfrm>
            <a:prstGeom prst="rect">
              <a:avLst/>
            </a:prstGeom>
          </p:spPr>
          <p:txBody>
            <a:bodyPr wrap="none">
              <a:spAutoFit/>
            </a:bodyPr>
            <a:lstStyle/>
            <a:p>
              <a:pPr>
                <a:buClr>
                  <a:srgbClr val="FF0000"/>
                </a:buClr>
              </a:pPr>
              <a:r>
                <a:rPr lang="zh-CN" altLang="en-US" sz="3200" b="1" dirty="0" smtClean="0">
                  <a:latin typeface="Verdana" panose="020B0604030504040204" pitchFamily="2" charset="0"/>
                  <a:ea typeface="黑体" panose="02010609060101010101" pitchFamily="49" charset="-122"/>
                </a:rPr>
                <a:t>作业：</a:t>
              </a:r>
              <a:endParaRPr lang="zh-CN" altLang="en-US" sz="3200" b="1" dirty="0">
                <a:latin typeface="Verdana" panose="020B0604030504040204" pitchFamily="2" charset="0"/>
                <a:ea typeface="黑体" panose="02010609060101010101" pitchFamily="49" charset="-122"/>
              </a:endParaRPr>
            </a:p>
          </p:txBody>
        </p:sp>
        <p:pic>
          <p:nvPicPr>
            <p:cNvPr id="9" name="图片 8"/>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1" cstate="print"/>
          <a:stretch>
            <a:fillRect/>
          </a:stretch>
        </p:blipFill>
        <p:spPr>
          <a:xfrm>
            <a:off x="6660232" y="3140968"/>
            <a:ext cx="2116102" cy="2116102"/>
          </a:xfrm>
          <a:prstGeom prst="rect">
            <a:avLst/>
          </a:prstGeom>
        </p:spPr>
      </p:pic>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anose="02020603050405020304" pitchFamily="18" charset="0"/>
                  <a:ea typeface="黑体" panose="02010609060101010101" pitchFamily="49" charset="-122"/>
                </a:rPr>
                <a:t>李</a:t>
              </a:r>
              <a:r>
                <a:rPr lang="zh-CN" altLang="en-US" sz="2000" b="1" dirty="0" smtClean="0">
                  <a:latin typeface="Times New Roman" panose="02020603050405020304" pitchFamily="18" charset="0"/>
                  <a:ea typeface="黑体" panose="02010609060101010101" pitchFamily="49" charset="-122"/>
                </a:rPr>
                <a:t>培培</a:t>
              </a:r>
              <a:endParaRPr lang="en-US" altLang="zh-CN" sz="2000" b="1" dirty="0">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QQ</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123452644</a:t>
              </a:r>
              <a:r>
                <a:rPr lang="zh-CN" altLang="en-US" sz="2000" b="1" dirty="0">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 </a:t>
              </a:r>
              <a:r>
                <a:rPr lang="zh-CN" altLang="en-US" sz="2000" b="1" dirty="0" smtClean="0">
                  <a:solidFill>
                    <a:srgbClr val="FF0000"/>
                  </a:solidFill>
                  <a:latin typeface="Times New Roman" panose="02020603050405020304" pitchFamily="18" charset="0"/>
                  <a:ea typeface="黑体" panose="02010609060101010101" pitchFamily="49" charset="-122"/>
                </a:rPr>
                <a:t>微信：</a:t>
              </a:r>
              <a:r>
                <a:rPr lang="en-US" altLang="zh-CN" sz="2000" b="1" dirty="0" smtClean="0">
                  <a:solidFill>
                    <a:srgbClr val="FF0000"/>
                  </a:solidFill>
                  <a:latin typeface="Times New Roman" panose="02020603050405020304" pitchFamily="18" charset="0"/>
                  <a:ea typeface="黑体" panose="02010609060101010101" pitchFamily="49" charset="-122"/>
                </a:rPr>
                <a:t>li123452644</a:t>
              </a:r>
              <a:endParaRPr lang="en-US" altLang="zh-CN" sz="2000" b="1" dirty="0" smtClean="0">
                <a:solidFill>
                  <a:srgbClr val="FF0000"/>
                </a:solidFill>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smtClean="0">
                  <a:solidFill>
                    <a:srgbClr val="FF0000"/>
                  </a:solidFill>
                  <a:latin typeface="Times New Roman" panose="02020603050405020304" pitchFamily="18" charset="0"/>
                  <a:ea typeface="黑体" panose="02010609060101010101" pitchFamily="49" charset="-122"/>
                </a:rPr>
                <a:t>Email</a:t>
              </a:r>
              <a:r>
                <a:rPr lang="en-US" altLang="zh-CN" sz="2000" b="1" dirty="0">
                  <a:latin typeface="Times New Roman" panose="02020603050405020304" pitchFamily="18" charset="0"/>
                  <a:ea typeface="黑体" panose="02010609060101010101" pitchFamily="49" charset="-122"/>
                </a:rPr>
                <a:t>: </a:t>
              </a:r>
              <a:r>
                <a:rPr lang="en-US" altLang="zh-CN" sz="2000" b="1" dirty="0">
                  <a:solidFill>
                    <a:srgbClr val="0000FF"/>
                  </a:solidFill>
                  <a:latin typeface="Times New Roman" panose="02020603050405020304" pitchFamily="18" charset="0"/>
                  <a:ea typeface="黑体" panose="02010609060101010101" pitchFamily="49" charset="-122"/>
                </a:rPr>
                <a:t>peipeili@hfut.edu.cn</a:t>
              </a:r>
              <a:endParaRPr lang="en-US" altLang="zh-CN" sz="2000" b="1" dirty="0">
                <a:solidFill>
                  <a:srgbClr val="0000FF"/>
                </a:solidFill>
                <a:latin typeface="Times New Roman" panose="02020603050405020304" pitchFamily="18" charset="0"/>
                <a:ea typeface="黑体" panose="02010609060101010101" pitchFamily="49" charset="-122"/>
              </a:endParaRPr>
            </a:p>
            <a:p>
              <a:pPr algn="ctr" eaLnBrk="0" hangingPunct="0">
                <a:lnSpc>
                  <a:spcPct val="125000"/>
                </a:lnSpc>
              </a:pPr>
              <a:r>
                <a:rPr lang="zh-CN" altLang="en-US" sz="2000" b="1" dirty="0">
                  <a:solidFill>
                    <a:srgbClr val="FF0000"/>
                  </a:solidFill>
                  <a:latin typeface="Times New Roman" panose="02020603050405020304" pitchFamily="18" charset="0"/>
                  <a:ea typeface="黑体" panose="02010609060101010101" pitchFamily="49" charset="-122"/>
                </a:rPr>
                <a:t>手机号</a:t>
              </a:r>
              <a:r>
                <a:rPr lang="zh-CN" altLang="en-US" sz="2000" b="1" dirty="0">
                  <a:latin typeface="Times New Roman" panose="02020603050405020304" pitchFamily="18" charset="0"/>
                  <a:ea typeface="黑体" panose="02010609060101010101" pitchFamily="49" charset="-122"/>
                </a:rPr>
                <a:t>：</a:t>
              </a:r>
              <a:r>
                <a:rPr lang="en-US" altLang="zh-CN" sz="2000" b="1" dirty="0" smtClean="0">
                  <a:solidFill>
                    <a:srgbClr val="0000FF"/>
                  </a:solidFill>
                  <a:latin typeface="Times New Roman" panose="02020603050405020304" pitchFamily="18" charset="0"/>
                  <a:ea typeface="黑体" panose="02010609060101010101" pitchFamily="49" charset="-122"/>
                </a:rPr>
                <a:t>13956043016</a:t>
              </a:r>
              <a:endParaRPr lang="en-US" altLang="zh-CN" sz="2000" b="1" dirty="0">
                <a:solidFill>
                  <a:srgbClr val="0000FF"/>
                </a:solidFill>
                <a:latin typeface="Times New Roman" panose="02020603050405020304" pitchFamily="18" charset="0"/>
                <a:ea typeface="黑体" panose="02010609060101010101" pitchFamily="49" charset="-122"/>
              </a:endParaRPr>
            </a:p>
            <a:p>
              <a:pPr marL="0" lvl="1" algn="ctr" eaLnBrk="0" hangingPunct="0">
                <a:lnSpc>
                  <a:spcPct val="125000"/>
                </a:lnSpc>
              </a:pPr>
              <a:r>
                <a:rPr lang="zh-CN" altLang="en-US" sz="2000" b="1" dirty="0">
                  <a:latin typeface="Times New Roman" panose="02020603050405020304" pitchFamily="18" charset="0"/>
                  <a:ea typeface="黑体" panose="02010609060101010101" pitchFamily="49" charset="-122"/>
                </a:rPr>
                <a:t>         合肥工业大学智能计算与数据挖掘千人团队 </a:t>
              </a:r>
              <a:r>
                <a:rPr lang="en-US" altLang="zh-CN" sz="2000" u="sng" dirty="0" smtClean="0">
                  <a:solidFill>
                    <a:srgbClr val="0000FF"/>
                  </a:solidFill>
                </a:rPr>
                <a:t>http://dmic.bigke.org/</a:t>
              </a:r>
              <a:endParaRPr lang="en-US" altLang="zh-CN" sz="2000" b="1" u="sng" dirty="0">
                <a:solidFill>
                  <a:srgbClr val="0000FF"/>
                </a:solidFill>
                <a:latin typeface="Times New Roman" panose="02020603050405020304" pitchFamily="18" charset="0"/>
                <a:ea typeface="黑体" panose="02010609060101010101" pitchFamily="49" charset="-122"/>
              </a:endParaRPr>
            </a:p>
            <a:p>
              <a:pPr algn="ctr" eaLnBrk="0" hangingPunct="0"/>
              <a:r>
                <a:rPr lang="zh-CN" altLang="en-US" sz="2000" b="1" dirty="0">
                  <a:latin typeface="Times New Roman" panose="02020603050405020304" pitchFamily="18" charset="0"/>
                  <a:ea typeface="黑体" panose="02010609060101010101" pitchFamily="49" charset="-122"/>
                </a:rPr>
                <a:t> </a:t>
              </a:r>
              <a:endParaRPr lang="zh-CN" altLang="en-US" sz="2000" b="1" dirty="0">
                <a:latin typeface="Times New Roman" panose="02020603050405020304" pitchFamily="18" charset="0"/>
                <a:ea typeface="黑体" panose="02010609060101010101" pitchFamily="49"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anose="020B0604030504040204" pitchFamily="2" charset="0"/>
                  <a:ea typeface="黑体" panose="02010609060101010101" pitchFamily="49" charset="-122"/>
                </a:rPr>
                <a:t>联系方式</a:t>
              </a:r>
              <a:endParaRPr lang="zh-CN" altLang="en-US" sz="3000" b="1" dirty="0">
                <a:latin typeface="Verdana" panose="020B0604030504040204" pitchFamily="2" charset="0"/>
                <a:ea typeface="黑体" panose="02010609060101010101" pitchFamily="49" charset="-122"/>
              </a:endParaRPr>
            </a:p>
          </p:txBody>
        </p:sp>
        <p:pic>
          <p:nvPicPr>
            <p:cNvPr id="10"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smtClean="0"/>
              <a:t>谢谢！</a:t>
            </a:r>
            <a:endParaRPr lang="zh-CN" altLang="zh-CN" sz="3600" b="1" dirty="0" smtClean="0"/>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advTm="1622">
    <p:pull dir="d"/>
  </p:transition>
  <p:timing>
    <p:tnLst>
      <p:par>
        <p:cTn id="1" dur="indefinite" restart="never" nodeType="tmRoot"/>
      </p:par>
    </p:tnLst>
  </p:timing>
</p:sld>
</file>

<file path=ppt/tags/tag1.xml><?xml version="1.0" encoding="utf-8"?>
<p:tagLst xmlns:p="http://schemas.openxmlformats.org/presentationml/2006/main">
  <p:tag name="KSO_WPP_MARK_KEY" val="e73fe583-f9dd-4da5-a5d1-a525758a6e50"/>
  <p:tag name="COMMONDATA" val="eyJoZGlkIjoiYTlkZjEzYWRmNzlkM2U5MWU1NzI4ZWFmYTllMGY0NGMifQ=="/>
  <p:tag name="commondata" val="eyJoZGlkIjoiODFlMTQyZGVlMGZmNGM1YWNmZjFlZDAxM2FlYjFjM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9475</Words>
  <Application>WPS 演示</Application>
  <PresentationFormat>全屏显示(4:3)</PresentationFormat>
  <Paragraphs>827</Paragraphs>
  <Slides>33</Slides>
  <Notes>1</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33</vt:i4>
      </vt:variant>
    </vt:vector>
  </HeadingPairs>
  <TitlesOfParts>
    <vt:vector size="53" baseType="lpstr">
      <vt:lpstr>Arial</vt:lpstr>
      <vt:lpstr>宋体</vt:lpstr>
      <vt:lpstr>Wingdings</vt:lpstr>
      <vt:lpstr>Times New Roman</vt:lpstr>
      <vt:lpstr>黑体</vt:lpstr>
      <vt:lpstr>Calibri</vt:lpstr>
      <vt:lpstr>仿宋</vt:lpstr>
      <vt:lpstr>Comic Sans MS</vt:lpstr>
      <vt:lpstr>MS PMincho</vt:lpstr>
      <vt:lpstr>Yu Gothic UI</vt:lpstr>
      <vt:lpstr>Garamond</vt:lpstr>
      <vt:lpstr>方正舒体</vt:lpstr>
      <vt:lpstr>微软雅黑</vt:lpstr>
      <vt:lpstr>Verdana</vt:lpstr>
      <vt:lpstr>Arial Unicode MS</vt:lpstr>
      <vt:lpstr>Time new roman</vt:lpstr>
      <vt:lpstr>Segoe Print</vt:lpstr>
      <vt:lpstr>Cambria Math</vt:lpstr>
      <vt:lpstr>CG Times</vt:lpstr>
      <vt:lpstr>Office 主题</vt:lpstr>
      <vt:lpstr>PowerPoint 演示文稿</vt:lpstr>
      <vt:lpstr>第6章 数组与广义表</vt:lpstr>
      <vt:lpstr>上文回顾</vt:lpstr>
      <vt:lpstr>PowerPoint 演示文稿</vt:lpstr>
      <vt:lpstr>PowerPoint 演示文稿</vt:lpstr>
      <vt:lpstr>PowerPoint 演示文稿</vt:lpstr>
      <vt:lpstr>6.2.1 数组的定义和运算</vt:lpstr>
      <vt:lpstr>PowerPoint 演示文稿</vt:lpstr>
      <vt:lpstr>PowerPoint 演示文稿</vt:lpstr>
      <vt:lpstr>6.2.2 数组的顺序存储</vt:lpstr>
      <vt:lpstr>6.2.2 数组的顺序存储(Sequence Storage)</vt:lpstr>
      <vt:lpstr>PowerPoint 演示文稿</vt:lpstr>
      <vt:lpstr>PowerPoint 演示文稿</vt:lpstr>
      <vt:lpstr>6.2.3  矩阵的压缩存储</vt:lpstr>
      <vt:lpstr>（1）对称矩阵和三角矩阵的压缩存储</vt:lpstr>
      <vt:lpstr>（2）对角矩阵的压缩存储</vt:lpstr>
      <vt:lpstr>（3）稀疏矩阵的压缩存储</vt:lpstr>
      <vt:lpstr>（3）稀疏矩阵的压缩存储</vt:lpstr>
      <vt:lpstr>练习</vt:lpstr>
      <vt:lpstr>PowerPoint 演示文稿</vt:lpstr>
      <vt:lpstr>PowerPoint 演示文稿</vt:lpstr>
      <vt:lpstr>PowerPoint 演示文稿</vt:lpstr>
      <vt:lpstr>6.2.2 广义表的基本运算</vt:lpstr>
      <vt:lpstr>练习</vt:lpstr>
      <vt:lpstr>6.3.3 广义表的存储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合肥工大-胡学钢</cp:lastModifiedBy>
  <cp:revision>2392</cp:revision>
  <cp:lastPrinted>2012-11-20T01:52:00Z</cp:lastPrinted>
  <dcterms:created xsi:type="dcterms:W3CDTF">2012-10-13T08:41:00Z</dcterms:created>
  <dcterms:modified xsi:type="dcterms:W3CDTF">2024-03-17T22:09:26Z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704F9E3460B6414897C8FD5856A10FBF</vt:lpwstr>
  </property>
  <property fmtid="{D5CDD505-2E9C-101B-9397-08002B2CF9AE}" pid="3" name="KSOProductBuildVer">
    <vt:lpwstr>2052-12.1.0.16412</vt:lpwstr>
  </property>
</Properties>
</file>