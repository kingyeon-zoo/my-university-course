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9">
  <p:sldMasterIdLst>
    <p:sldMasterId id="2147483648" r:id="rId1"/>
  </p:sldMasterIdLst>
  <p:notesMasterIdLst>
    <p:notesMasterId r:id="rId81"/>
  </p:notesMasterIdLst>
  <p:handoutMasterIdLst>
    <p:handoutMasterId r:id="rId82"/>
  </p:handoutMasterIdLst>
  <p:sldIdLst>
    <p:sldId id="256" r:id="rId2"/>
    <p:sldId id="481" r:id="rId3"/>
    <p:sldId id="1036" r:id="rId4"/>
    <p:sldId id="1037" r:id="rId5"/>
    <p:sldId id="1039" r:id="rId6"/>
    <p:sldId id="978" r:id="rId7"/>
    <p:sldId id="979" r:id="rId8"/>
    <p:sldId id="980" r:id="rId9"/>
    <p:sldId id="981" r:id="rId10"/>
    <p:sldId id="982" r:id="rId11"/>
    <p:sldId id="983" r:id="rId12"/>
    <p:sldId id="984" r:id="rId13"/>
    <p:sldId id="985" r:id="rId14"/>
    <p:sldId id="1035" r:id="rId15"/>
    <p:sldId id="987" r:id="rId16"/>
    <p:sldId id="988" r:id="rId17"/>
    <p:sldId id="989" r:id="rId18"/>
    <p:sldId id="990" r:id="rId19"/>
    <p:sldId id="991" r:id="rId20"/>
    <p:sldId id="992" r:id="rId21"/>
    <p:sldId id="993" r:id="rId22"/>
    <p:sldId id="1065" r:id="rId23"/>
    <p:sldId id="994" r:id="rId24"/>
    <p:sldId id="1061" r:id="rId25"/>
    <p:sldId id="1062" r:id="rId26"/>
    <p:sldId id="995" r:id="rId27"/>
    <p:sldId id="1058" r:id="rId28"/>
    <p:sldId id="996" r:id="rId29"/>
    <p:sldId id="1057" r:id="rId30"/>
    <p:sldId id="997" r:id="rId31"/>
    <p:sldId id="998" r:id="rId32"/>
    <p:sldId id="1047" r:id="rId33"/>
    <p:sldId id="999" r:id="rId34"/>
    <p:sldId id="1000" r:id="rId35"/>
    <p:sldId id="1001" r:id="rId36"/>
    <p:sldId id="1002" r:id="rId37"/>
    <p:sldId id="1003" r:id="rId38"/>
    <p:sldId id="1004" r:id="rId39"/>
    <p:sldId id="1005" r:id="rId40"/>
    <p:sldId id="1006" r:id="rId41"/>
    <p:sldId id="1007" r:id="rId42"/>
    <p:sldId id="1008" r:id="rId43"/>
    <p:sldId id="1009" r:id="rId44"/>
    <p:sldId id="1049" r:id="rId45"/>
    <p:sldId id="1041" r:id="rId46"/>
    <p:sldId id="1040" r:id="rId47"/>
    <p:sldId id="1010" r:id="rId48"/>
    <p:sldId id="1011" r:id="rId49"/>
    <p:sldId id="1012" r:id="rId50"/>
    <p:sldId id="1013" r:id="rId51"/>
    <p:sldId id="1014" r:id="rId52"/>
    <p:sldId id="1015" r:id="rId53"/>
    <p:sldId id="1064" r:id="rId54"/>
    <p:sldId id="1016" r:id="rId55"/>
    <p:sldId id="1017" r:id="rId56"/>
    <p:sldId id="1018" r:id="rId57"/>
    <p:sldId id="1019" r:id="rId58"/>
    <p:sldId id="1053" r:id="rId59"/>
    <p:sldId id="1054" r:id="rId60"/>
    <p:sldId id="1020" r:id="rId61"/>
    <p:sldId id="1021" r:id="rId62"/>
    <p:sldId id="1051" r:id="rId63"/>
    <p:sldId id="1022" r:id="rId64"/>
    <p:sldId id="1023" r:id="rId65"/>
    <p:sldId id="1024" r:id="rId66"/>
    <p:sldId id="1025" r:id="rId67"/>
    <p:sldId id="1026" r:id="rId68"/>
    <p:sldId id="1027" r:id="rId69"/>
    <p:sldId id="1056" r:id="rId70"/>
    <p:sldId id="1028" r:id="rId71"/>
    <p:sldId id="1029" r:id="rId72"/>
    <p:sldId id="1030" r:id="rId73"/>
    <p:sldId id="1031" r:id="rId74"/>
    <p:sldId id="1032" r:id="rId75"/>
    <p:sldId id="1033" r:id="rId76"/>
    <p:sldId id="1034" r:id="rId77"/>
    <p:sldId id="1063" r:id="rId78"/>
    <p:sldId id="664" r:id="rId79"/>
    <p:sldId id="666" r:id="rId80"/>
  </p:sldIdLst>
  <p:sldSz cx="9144000" cy="6858000" type="screen4x3"/>
  <p:notesSz cx="6797675" cy="9928225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2BE978"/>
    <a:srgbClr val="FF6600"/>
    <a:srgbClr val="FCD5B5"/>
    <a:srgbClr val="EB3B29"/>
    <a:srgbClr val="E133D9"/>
    <a:srgbClr val="808000"/>
    <a:srgbClr val="5E8892"/>
    <a:srgbClr val="8A3CC4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8FB837D-C827-4EFA-A057-4D05807E0F7C}" styleName="主题样式 1 - 强调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主题样式 1 - 强调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主题样式 1 - 强调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中度样式 3 - 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93" autoAdjust="0"/>
    <p:restoredTop sz="96404" autoAdjust="0"/>
  </p:normalViewPr>
  <p:slideViewPr>
    <p:cSldViewPr>
      <p:cViewPr varScale="1">
        <p:scale>
          <a:sx n="114" d="100"/>
          <a:sy n="114" d="100"/>
        </p:scale>
        <p:origin x="1632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1" d="100"/>
          <a:sy n="61" d="100"/>
        </p:scale>
        <p:origin x="-3307" y="-77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handoutMaster" Target="handoutMasters/handoutMaster1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notesMaster" Target="notesMasters/notesMaster1.xml"/><Relationship Id="rId86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275" cy="496751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862" y="0"/>
            <a:ext cx="2946275" cy="496751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785CBAE4-F8D9-4129-B51F-0DB4BEA986F1}" type="datetimeFigureOut">
              <a:rPr lang="en-US"/>
              <a:pPr>
                <a:defRPr/>
              </a:pPr>
              <a:t>5/14/2024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9779"/>
            <a:ext cx="2946275" cy="496751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862" y="9429779"/>
            <a:ext cx="2946275" cy="496751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49392E7D-0E06-464C-8541-AA44AE9E79C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9461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275" cy="496751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49862" y="0"/>
            <a:ext cx="2946275" cy="496751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077E5B7F-BBE2-45B0-AC4C-D9CC9AA6B88A}" type="datetimeFigureOut">
              <a:rPr lang="zh-CN" altLang="en-US"/>
              <a:pPr>
                <a:defRPr/>
              </a:pPr>
              <a:t>2024-05-14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0383" y="4716585"/>
            <a:ext cx="5436909" cy="4467363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9779"/>
            <a:ext cx="2946275" cy="496751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49862" y="9429779"/>
            <a:ext cx="2946275" cy="496751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73790652-C02E-4B6F-A52E-6A0D29B3CC7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172626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3790652-C02E-4B6F-A52E-6A0D29B3CC7A}" type="slidenum">
              <a:rPr lang="zh-CN" altLang="en-US" smtClean="0"/>
              <a:pPr>
                <a:defRPr/>
              </a:pPr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32126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fld id="{C7CD1A34-2007-442A-901D-0DBD28833CB6}" type="slidenum"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57</a:t>
            </a:fld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3492" name="Rectangle 3"/>
          <p:cNvSpPr>
            <a:spLocks noGrp="1" noRot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/>
              <a:t>F(T) = F(TL) + F(TR) + 1</a:t>
            </a:r>
            <a:r>
              <a:rPr lang="zh-CN" altLang="en-US"/>
              <a:t>。</a:t>
            </a:r>
          </a:p>
          <a:p>
            <a:pPr eaLnBrk="1" hangingPunct="1"/>
            <a:r>
              <a:rPr lang="en-US" altLang="zh-CN"/>
              <a:t>F(n) = F(n-1)+F(n-2)+1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91989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fld id="{C7CD1A34-2007-442A-901D-0DBD28833CB6}" type="slidenum"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58</a:t>
            </a:fld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3492" name="Rectangle 3"/>
          <p:cNvSpPr>
            <a:spLocks noGrp="1" noRot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/>
              <a:t>F(T) = F(TL) + F(TR) + 1</a:t>
            </a:r>
            <a:r>
              <a:rPr lang="zh-CN" altLang="en-US"/>
              <a:t>。</a:t>
            </a:r>
          </a:p>
          <a:p>
            <a:pPr eaLnBrk="1" hangingPunct="1"/>
            <a:r>
              <a:rPr lang="en-US" altLang="zh-CN"/>
              <a:t>F(n) = F(n-1)+F(n-2)+1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4695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7"/>
          <p:cNvSpPr/>
          <p:nvPr userDrawn="1"/>
        </p:nvSpPr>
        <p:spPr>
          <a:xfrm>
            <a:off x="0" y="0"/>
            <a:ext cx="9144000" cy="11255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pic>
        <p:nvPicPr>
          <p:cNvPr id="5" name="Picture 3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2700"/>
            <a:ext cx="91440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594549"/>
            <a:ext cx="2133600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3"/>
          </p:nvPr>
        </p:nvSpPr>
        <p:spPr>
          <a:xfrm>
            <a:off x="2843808" y="6626009"/>
            <a:ext cx="3456384" cy="1873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zh-CN" altLang="en-US" dirty="0"/>
              <a:t>特征选择研究</a:t>
            </a:r>
          </a:p>
        </p:txBody>
      </p:sp>
      <p:sp>
        <p:nvSpPr>
          <p:cNvPr id="1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52534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0AC5AE09-9911-475B-97EE-0DC0F195366E}" type="datetime1">
              <a:rPr lang="zh-CN" altLang="en-US" smtClean="0"/>
              <a:t>2024-05-14</a:t>
            </a:fld>
            <a:endParaRPr lang="zh-CN" altLang="en-US" dirty="0"/>
          </a:p>
        </p:txBody>
      </p:sp>
    </p:spTree>
  </p:cSld>
  <p:clrMapOvr>
    <a:masterClrMapping/>
  </p:clrMapOvr>
  <p:transition spd="slow" advClick="0">
    <p:pull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24266"/>
            <a:ext cx="8229600" cy="660930"/>
          </a:xfrm>
        </p:spPr>
        <p:txBody>
          <a:bodyPr bIns="46800" anchor="b">
            <a:normAutofit/>
          </a:bodyPr>
          <a:lstStyle>
            <a:lvl1pPr algn="l">
              <a:defRPr sz="3600" b="1" baseline="0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14845"/>
            <a:ext cx="8229600" cy="467845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52534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A69712AB-FF50-4397-BE37-051B6D8118E0}" type="datetime1">
              <a:rPr lang="zh-CN" altLang="en-US" smtClean="0"/>
              <a:t>2024-05-14</a:t>
            </a:fld>
            <a:endParaRPr lang="zh-CN" altLang="en-US" dirty="0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2843808" y="6626009"/>
            <a:ext cx="3456384" cy="1873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zh-CN" altLang="en-US" dirty="0"/>
              <a:t>特征选择研究</a:t>
            </a: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594549"/>
            <a:ext cx="2133600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 advClick="0">
    <p:pull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88224" y="6561732"/>
            <a:ext cx="2133600" cy="2962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52534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34585C7B-8B82-4111-B510-7DDFA7EB8999}" type="datetime1">
              <a:rPr lang="zh-CN" altLang="en-US" smtClean="0"/>
              <a:t>2024-05-14</a:t>
            </a:fld>
            <a:endParaRPr lang="zh-CN" altLang="en-US" dirty="0"/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2843808" y="6626009"/>
            <a:ext cx="3456384" cy="1873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zh-CN" altLang="en-US" dirty="0"/>
              <a:t>特征选择研究</a:t>
            </a:r>
          </a:p>
        </p:txBody>
      </p:sp>
    </p:spTree>
  </p:cSld>
  <p:clrMapOvr>
    <a:masterClrMapping/>
  </p:clrMapOvr>
  <p:transition spd="slow" advClick="0">
    <p:pull dir="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10"/>
          </p:nvPr>
        </p:nvSpPr>
        <p:spPr>
          <a:xfrm>
            <a:off x="467544" y="6525344"/>
            <a:ext cx="2133600" cy="3326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50D5F7FC-04D9-44ED-85FE-7C11FBFD9406}" type="datetime1">
              <a:rPr lang="zh-CN" altLang="en-US" smtClean="0"/>
              <a:t>2024-05-14</a:t>
            </a:fld>
            <a:endParaRPr lang="zh-CN" altLang="en-US" dirty="0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3"/>
          </p:nvPr>
        </p:nvSpPr>
        <p:spPr>
          <a:xfrm>
            <a:off x="2843808" y="6525344"/>
            <a:ext cx="3456384" cy="3143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zh-CN" altLang="en-US" dirty="0"/>
              <a:t>特征选择研究</a:t>
            </a:r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88224" y="6525344"/>
            <a:ext cx="2133600" cy="3578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baseline="0" smtClean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 advClick="0">
    <p:pull dir="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10"/>
          </p:nvPr>
        </p:nvSpPr>
        <p:spPr>
          <a:xfrm>
            <a:off x="467544" y="6525344"/>
            <a:ext cx="2133600" cy="3326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2E235728-6D04-42CF-BAD8-4D134F2D1AA6}" type="datetime1">
              <a:rPr lang="zh-CN" altLang="en-US" smtClean="0"/>
              <a:t>2024-05-14</a:t>
            </a:fld>
            <a:endParaRPr lang="zh-CN" altLang="en-US" dirty="0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915816" y="6525344"/>
            <a:ext cx="3456384" cy="328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zh-CN" altLang="en-US" dirty="0"/>
              <a:t>特征选择研究</a:t>
            </a: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660232" y="6525344"/>
            <a:ext cx="2133600" cy="2997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 advClick="0">
    <p:pull dir="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52534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5D4F90DE-0D28-4948-80CF-B00DF2373D5D}" type="datetime1">
              <a:rPr lang="zh-CN" altLang="en-US" smtClean="0"/>
              <a:t>2024-05-14</a:t>
            </a:fld>
            <a:endParaRPr lang="zh-CN" altLang="en-US" dirty="0"/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2843808" y="6626009"/>
            <a:ext cx="3456384" cy="1873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zh-CN" altLang="en-US" dirty="0"/>
              <a:t>特征选择研究</a:t>
            </a: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594549"/>
            <a:ext cx="2133600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 advClick="0">
    <p:pull dir="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10"/>
          </p:nvPr>
        </p:nvSpPr>
        <p:spPr>
          <a:xfrm>
            <a:off x="467544" y="6525344"/>
            <a:ext cx="2133600" cy="3326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9D431E54-E4D2-47B3-8FA3-3E93D5B92C80}" type="datetime1">
              <a:rPr lang="zh-CN" altLang="en-US" smtClean="0"/>
              <a:t>2024-05-14</a:t>
            </a:fld>
            <a:endParaRPr lang="zh-CN" altLang="en-US" dirty="0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3"/>
          </p:nvPr>
        </p:nvSpPr>
        <p:spPr>
          <a:xfrm>
            <a:off x="2843808" y="6525344"/>
            <a:ext cx="3456384" cy="3143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zh-CN" altLang="en-US" dirty="0"/>
              <a:t>特征选择研究</a:t>
            </a:r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88224" y="6525344"/>
            <a:ext cx="2133600" cy="3143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 advClick="0">
    <p:pull dir="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395536" y="6525344"/>
            <a:ext cx="2133600" cy="3143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EF7EE88-D3D0-43C6-9B71-6E8A56A75265}" type="datetime1">
              <a:rPr lang="zh-CN" altLang="en-US" smtClean="0"/>
              <a:t>2024-05-14</a:t>
            </a:fld>
            <a:endParaRPr lang="zh-CN" altLang="en-US" dirty="0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2843808" y="6525344"/>
            <a:ext cx="3456384" cy="3003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zh-CN" altLang="en-US"/>
              <a:t>特征选择研究</a:t>
            </a:r>
            <a:endParaRPr lang="zh-CN" altLang="en-US" dirty="0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660232" y="6525344"/>
            <a:ext cx="2133600" cy="3326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 advClick="0">
    <p:pull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1188" y="-311150"/>
            <a:ext cx="8001000" cy="12112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11188" y="1052513"/>
            <a:ext cx="3919537" cy="51847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3125" y="1052513"/>
            <a:ext cx="3921125" cy="51847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BD7FCA-73C6-4529-9C46-858EF4B8F037}" type="datetime1">
              <a:rPr lang="zh-CN" altLang="en-US" smtClean="0"/>
              <a:t>2024-05-14</a:t>
            </a:fld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特征选择研究</a:t>
            </a: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F07A331-AA47-4583-8ECA-873ADFBEB71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71990113"/>
      </p:ext>
    </p:extLst>
  </p:cSld>
  <p:clrMapOvr>
    <a:masterClrMapping/>
  </p:clrMapOvr>
  <p:transition spd="med"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69336E3-95BA-4F79-A969-18D3B03E82B3}" type="datetime1">
              <a:rPr lang="zh-CN" altLang="en-US" smtClean="0"/>
              <a:t>2024-05-14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特征选择研究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227595"/>
      </p:ext>
    </p:extLst>
  </p:cSld>
  <p:clrMapOvr>
    <a:masterClrMapping/>
  </p:clrMapOvr>
  <p:transition spd="slow" advClick="0">
    <p:pull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6350"/>
            <a:ext cx="9144000" cy="935038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68313" y="1125538"/>
            <a:ext cx="8229600" cy="4895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31" name="图片 2"/>
          <p:cNvPicPr>
            <a:picLocks noChangeAspect="1"/>
          </p:cNvPicPr>
          <p:nvPr userDrawn="1"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0" y="6580188"/>
            <a:ext cx="9144000" cy="300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矩形 10"/>
          <p:cNvSpPr/>
          <p:nvPr userDrawn="1"/>
        </p:nvSpPr>
        <p:spPr>
          <a:xfrm>
            <a:off x="468313" y="0"/>
            <a:ext cx="8675687" cy="8286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034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146050"/>
            <a:ext cx="8229600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312" y="131146"/>
            <a:ext cx="1590708" cy="684000"/>
          </a:xfrm>
          <a:prstGeom prst="rect">
            <a:avLst/>
          </a:prstGeom>
        </p:spPr>
      </p:pic>
      <p:sp>
        <p:nvSpPr>
          <p:cNvPr id="12" name="矩形 11"/>
          <p:cNvSpPr/>
          <p:nvPr userDrawn="1"/>
        </p:nvSpPr>
        <p:spPr>
          <a:xfrm>
            <a:off x="6730774" y="15114"/>
            <a:ext cx="2398712" cy="789055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3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52534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469336E3-95BA-4F79-A969-18D3B03E82B3}" type="datetime1">
              <a:rPr lang="zh-CN" altLang="en-US" smtClean="0"/>
              <a:t>2024-05-14</a:t>
            </a:fld>
            <a:endParaRPr lang="zh-CN" altLang="en-US" dirty="0"/>
          </a:p>
        </p:txBody>
      </p:sp>
      <p:sp>
        <p:nvSpPr>
          <p:cNvPr id="14" name="页脚占位符 4"/>
          <p:cNvSpPr>
            <a:spLocks noGrp="1"/>
          </p:cNvSpPr>
          <p:nvPr>
            <p:ph type="ftr" sz="quarter" idx="3"/>
          </p:nvPr>
        </p:nvSpPr>
        <p:spPr>
          <a:xfrm>
            <a:off x="2843808" y="6626009"/>
            <a:ext cx="3456384" cy="1873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zh-CN" altLang="en-US" dirty="0"/>
              <a:t>特征选择研究</a:t>
            </a:r>
          </a:p>
        </p:txBody>
      </p:sp>
      <p:sp>
        <p:nvSpPr>
          <p:cNvPr id="1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594549"/>
            <a:ext cx="2133600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59" r:id="rId3"/>
    <p:sldLayoutId id="2147483658" r:id="rId4"/>
    <p:sldLayoutId id="2147483657" r:id="rId5"/>
    <p:sldLayoutId id="2147483654" r:id="rId6"/>
    <p:sldLayoutId id="2147483653" r:id="rId7"/>
    <p:sldLayoutId id="2147483651" r:id="rId8"/>
    <p:sldLayoutId id="2147483668" r:id="rId9"/>
    <p:sldLayoutId id="2147483669" r:id="rId10"/>
  </p:sldLayoutIdLst>
  <p:transition spd="slow" advClick="0">
    <p:pull dir="d"/>
  </p:transition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3600" b="1" kern="1200" baseline="0">
          <a:solidFill>
            <a:schemeClr val="tx1"/>
          </a:solidFill>
          <a:latin typeface="Times New Roman" pitchFamily="18" charset="0"/>
          <a:ea typeface="黑体" pitchFamily="49" charset="-122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宋体" charset="-122"/>
        </a:defRPr>
      </a:lvl2pPr>
      <a:lvl3pPr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宋体" charset="-122"/>
        </a:defRPr>
      </a:lvl3pPr>
      <a:lvl4pPr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宋体" charset="-122"/>
        </a:defRPr>
      </a:lvl4pPr>
      <a:lvl5pPr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 baseline="0">
          <a:solidFill>
            <a:schemeClr val="tx1"/>
          </a:solidFill>
          <a:latin typeface="Times New Roman" pitchFamily="18" charset="0"/>
          <a:ea typeface="仿宋" pitchFamily="49" charset="-122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 baseline="0">
          <a:solidFill>
            <a:schemeClr val="tx1"/>
          </a:solidFill>
          <a:latin typeface="Times New Roman" pitchFamily="18" charset="0"/>
          <a:ea typeface="仿宋" pitchFamily="49" charset="-122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 baseline="0">
          <a:solidFill>
            <a:schemeClr val="tx1"/>
          </a:solidFill>
          <a:latin typeface="Times New Roman" pitchFamily="18" charset="0"/>
          <a:ea typeface="仿宋" pitchFamily="49" charset="-122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 baseline="0">
          <a:solidFill>
            <a:schemeClr val="tx1"/>
          </a:solidFill>
          <a:latin typeface="Times New Roman" pitchFamily="18" charset="0"/>
          <a:ea typeface="仿宋" pitchFamily="49" charset="-122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 baseline="0">
          <a:solidFill>
            <a:schemeClr val="tx1"/>
          </a:solidFill>
          <a:latin typeface="Times New Roman" pitchFamily="18" charset="0"/>
          <a:ea typeface="仿宋" pitchFamily="49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w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9.jpe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image" Target="../media/image23.tmp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slideLayout" Target="../slideLayouts/slideLayout10.xml"/><Relationship Id="rId5" Type="http://schemas.openxmlformats.org/officeDocument/2006/relationships/tags" Target="../tags/tag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8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jpeg"/><Relationship Id="rId13" Type="http://schemas.openxmlformats.org/officeDocument/2006/relationships/oleObject" Target="file:///C:\Users\Administrator\Desktop\&#32472;&#22270;1.vsd\Drawing\~&#39029;-1\&#22278;&#24418;.65" TargetMode="External"/><Relationship Id="rId18" Type="http://schemas.openxmlformats.org/officeDocument/2006/relationships/oleObject" Target="file:///C:\Users\Administrator\Desktop\&#32472;&#22270;1.vsd\Drawing\~&#39029;-1\&#22278;&#24418;.68" TargetMode="External"/><Relationship Id="rId26" Type="http://schemas.openxmlformats.org/officeDocument/2006/relationships/image" Target="../media/image38.emf"/><Relationship Id="rId3" Type="http://schemas.openxmlformats.org/officeDocument/2006/relationships/image" Target="../media/image27.png"/><Relationship Id="rId21" Type="http://schemas.openxmlformats.org/officeDocument/2006/relationships/image" Target="../media/image36.emf"/><Relationship Id="rId7" Type="http://schemas.openxmlformats.org/officeDocument/2006/relationships/image" Target="../media/image29.emf"/><Relationship Id="rId12" Type="http://schemas.openxmlformats.org/officeDocument/2006/relationships/image" Target="../media/image32.emf"/><Relationship Id="rId17" Type="http://schemas.openxmlformats.org/officeDocument/2006/relationships/oleObject" Target="../embeddings/oleObject4.bin"/><Relationship Id="rId25" Type="http://schemas.openxmlformats.org/officeDocument/2006/relationships/oleObject" Target="../embeddings/oleObject8.bin"/><Relationship Id="rId2" Type="http://schemas.openxmlformats.org/officeDocument/2006/relationships/image" Target="../media/image6.jpeg"/><Relationship Id="rId16" Type="http://schemas.openxmlformats.org/officeDocument/2006/relationships/image" Target="../media/image34.emf"/><Relationship Id="rId20" Type="http://schemas.openxmlformats.org/officeDocument/2006/relationships/oleObject" Target="../embeddings/oleObject5.bin"/><Relationship Id="rId29" Type="http://schemas.openxmlformats.org/officeDocument/2006/relationships/oleObject" Target="file:///C:\Users\Administrator\Desktop\&#32472;&#22270;1.vsd\Drawing\~&#39029;-1\&#22278;&#24418;.69" TargetMode="Externa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.bin"/><Relationship Id="rId11" Type="http://schemas.openxmlformats.org/officeDocument/2006/relationships/oleObject" Target="file:///C:\Users\Administrator\Desktop\&#32472;&#22270;1.vsd\Drawing\~&#39029;-1\&#22278;&#24418;.31" TargetMode="External"/><Relationship Id="rId24" Type="http://schemas.openxmlformats.org/officeDocument/2006/relationships/oleObject" Target="../embeddings/oleObject7.bin"/><Relationship Id="rId32" Type="http://schemas.openxmlformats.org/officeDocument/2006/relationships/image" Target="../media/image40.emf"/><Relationship Id="rId5" Type="http://schemas.openxmlformats.org/officeDocument/2006/relationships/image" Target="../media/image28.emf"/><Relationship Id="rId15" Type="http://schemas.openxmlformats.org/officeDocument/2006/relationships/oleObject" Target="../embeddings/oleObject3.bin"/><Relationship Id="rId23" Type="http://schemas.openxmlformats.org/officeDocument/2006/relationships/image" Target="../media/image37.png"/><Relationship Id="rId28" Type="http://schemas.openxmlformats.org/officeDocument/2006/relationships/oleObject" Target="../embeddings/oleObject10.bin"/><Relationship Id="rId10" Type="http://schemas.openxmlformats.org/officeDocument/2006/relationships/image" Target="../media/image31.emf"/><Relationship Id="rId19" Type="http://schemas.openxmlformats.org/officeDocument/2006/relationships/image" Target="../media/image35.emf"/><Relationship Id="rId31" Type="http://schemas.openxmlformats.org/officeDocument/2006/relationships/oleObject" Target="file:///C:\Users\Administrator\Desktop\&#32472;&#22270;1.vsd\Drawing\~&#39029;-1\&#22278;&#24418;.70" TargetMode="External"/><Relationship Id="rId4" Type="http://schemas.openxmlformats.org/officeDocument/2006/relationships/oleObject" Target="../embeddings/oleObject1.bin"/><Relationship Id="rId9" Type="http://schemas.openxmlformats.org/officeDocument/2006/relationships/oleObject" Target="file:///C:\Users\Administrator\Desktop\&#32472;&#22270;1.vsd\Drawing\~&#39029;-1\&#22278;&#24418;.33" TargetMode="External"/><Relationship Id="rId14" Type="http://schemas.openxmlformats.org/officeDocument/2006/relationships/image" Target="../media/image33.emf"/><Relationship Id="rId22" Type="http://schemas.openxmlformats.org/officeDocument/2006/relationships/oleObject" Target="../embeddings/oleObject6.bin"/><Relationship Id="rId27" Type="http://schemas.openxmlformats.org/officeDocument/2006/relationships/oleObject" Target="../embeddings/oleObject9.bin"/><Relationship Id="rId30" Type="http://schemas.openxmlformats.org/officeDocument/2006/relationships/image" Target="../media/image39.emf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27.png"/><Relationship Id="rId7" Type="http://schemas.openxmlformats.org/officeDocument/2006/relationships/image" Target="../media/image42.emf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41.emf"/><Relationship Id="rId4" Type="http://schemas.openxmlformats.org/officeDocument/2006/relationships/oleObject" Target="../embeddings/oleObject11.bin"/><Relationship Id="rId9" Type="http://schemas.openxmlformats.org/officeDocument/2006/relationships/image" Target="../media/image44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4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11" Type="http://schemas.openxmlformats.org/officeDocument/2006/relationships/image" Target="../media/image6.jpeg"/><Relationship Id="rId5" Type="http://schemas.openxmlformats.org/officeDocument/2006/relationships/image" Target="../media/image46.png"/><Relationship Id="rId10" Type="http://schemas.openxmlformats.org/officeDocument/2006/relationships/image" Target="../media/image50.png"/><Relationship Id="rId4" Type="http://schemas.openxmlformats.org/officeDocument/2006/relationships/image" Target="../media/image45.png"/><Relationship Id="rId9" Type="http://schemas.openxmlformats.org/officeDocument/2006/relationships/image" Target="../media/image49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7.png"/><Relationship Id="rId3" Type="http://schemas.openxmlformats.org/officeDocument/2006/relationships/image" Target="../media/image52.jpeg"/><Relationship Id="rId7" Type="http://schemas.openxmlformats.org/officeDocument/2006/relationships/image" Target="../media/image16.png"/><Relationship Id="rId12" Type="http://schemas.openxmlformats.org/officeDocument/2006/relationships/image" Target="../media/image48.png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jpeg"/><Relationship Id="rId11" Type="http://schemas.openxmlformats.org/officeDocument/2006/relationships/image" Target="../media/image47.png"/><Relationship Id="rId5" Type="http://schemas.openxmlformats.org/officeDocument/2006/relationships/image" Target="../media/image54.jpeg"/><Relationship Id="rId15" Type="http://schemas.openxmlformats.org/officeDocument/2006/relationships/image" Target="../media/image50.png"/><Relationship Id="rId10" Type="http://schemas.openxmlformats.org/officeDocument/2006/relationships/image" Target="../media/image46.png"/><Relationship Id="rId4" Type="http://schemas.openxmlformats.org/officeDocument/2006/relationships/image" Target="../media/image53.jpeg"/><Relationship Id="rId9" Type="http://schemas.openxmlformats.org/officeDocument/2006/relationships/image" Target="../media/image45.png"/><Relationship Id="rId14" Type="http://schemas.openxmlformats.org/officeDocument/2006/relationships/image" Target="../media/image49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zh.wikipedia.org/wiki/%E6%A0%BC%E5%A5%A5%E5%B0%94%E5%90%89%C2%B7%E9%98%BF%E6%9D%B0%E5%B0%94%E6%9D%BE-%E9%9F%A6%E5%88%A9%E6%96%AF%E5%9F%BA" TargetMode="Externa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zh.wikipedia.org/w/index.php?title=Evgenii_Landis&amp;action=edit&amp;redlink=1" TargetMode="Externa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3" Type="http://schemas.openxmlformats.org/officeDocument/2006/relationships/tags" Target="../tags/tag13.xml"/><Relationship Id="rId7" Type="http://schemas.openxmlformats.org/officeDocument/2006/relationships/tags" Target="../tags/tag17.xml"/><Relationship Id="rId12" Type="http://schemas.openxmlformats.org/officeDocument/2006/relationships/image" Target="../media/image23.tmp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slideLayout" Target="../slideLayouts/slideLayout10.xml"/><Relationship Id="rId5" Type="http://schemas.openxmlformats.org/officeDocument/2006/relationships/tags" Target="../tags/tag15.xml"/><Relationship Id="rId10" Type="http://schemas.openxmlformats.org/officeDocument/2006/relationships/tags" Target="../tags/tag20.xml"/><Relationship Id="rId4" Type="http://schemas.openxmlformats.org/officeDocument/2006/relationships/tags" Target="../tags/tag14.xml"/><Relationship Id="rId9" Type="http://schemas.openxmlformats.org/officeDocument/2006/relationships/tags" Target="../tags/tag19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9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eg"/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5279" y="43542"/>
            <a:ext cx="1423266" cy="61200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611560" y="836712"/>
            <a:ext cx="7560840" cy="52270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hangingPunct="1">
              <a:buFont typeface="Wingdings" panose="05000000000000000000" pitchFamily="2" charset="2"/>
              <a:buNone/>
            </a:pPr>
            <a:r>
              <a:rPr lang="zh-CN" altLang="en-US" sz="3600" b="1" dirty="0">
                <a:latin typeface="Comic Sans MS" panose="030F0702030302020204" pitchFamily="66" charset="0"/>
              </a:rPr>
              <a:t>数 据 结 构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endParaRPr lang="zh-CN" altLang="en-US" sz="1400" b="1" dirty="0">
              <a:latin typeface="Comic Sans MS" panose="030F0702030302020204" pitchFamily="66" charset="0"/>
            </a:endParaRP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CN" sz="4000" dirty="0">
                <a:latin typeface="Comic Sans MS" panose="030F0702030302020204" pitchFamily="66" charset="0"/>
                <a:ea typeface="MS PMincho" panose="02020600040205080304" pitchFamily="18" charset="-128"/>
              </a:rPr>
              <a:t> </a:t>
            </a:r>
            <a:r>
              <a:rPr lang="en-US" altLang="zh-CN" sz="4000" b="1" dirty="0">
                <a:solidFill>
                  <a:schemeClr val="tx2"/>
                </a:solidFill>
                <a:latin typeface="Garamond" panose="02020404030301010803" pitchFamily="18" charset="0"/>
                <a:ea typeface="方正舒体" panose="02010601030101010101" pitchFamily="2" charset="-122"/>
              </a:rPr>
              <a:t>Data Structures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endParaRPr lang="en-US" altLang="zh-CN" sz="4000" b="1" dirty="0">
              <a:solidFill>
                <a:schemeClr val="tx2"/>
              </a:solidFill>
              <a:latin typeface="Garamond" panose="02020404030301010803" pitchFamily="18" charset="0"/>
              <a:ea typeface="方正舒体" panose="02010601030101010101" pitchFamily="2" charset="-122"/>
            </a:endParaRPr>
          </a:p>
          <a:p>
            <a:pPr algn="ctr" eaLnBrk="1" hangingPunct="1">
              <a:spcBef>
                <a:spcPts val="300"/>
              </a:spcBef>
              <a:buFont typeface="Wingdings" panose="05000000000000000000" pitchFamily="2" charset="2"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第</a:t>
            </a:r>
            <a:r>
              <a:rPr lang="en-US" altLang="zh-CN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10</a:t>
            </a:r>
            <a:r>
              <a:rPr lang="zh-CN" alt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章 查找</a:t>
            </a:r>
            <a:endParaRPr lang="en-US" altLang="zh-CN" sz="3200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pPr algn="ctr" eaLnBrk="1" hangingPunct="1">
              <a:spcBef>
                <a:spcPts val="300"/>
              </a:spcBef>
              <a:buFont typeface="Wingdings" panose="05000000000000000000" pitchFamily="2" charset="2"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(Searching)</a:t>
            </a:r>
            <a:endParaRPr lang="en-US" altLang="zh-CN" sz="4000" b="1" dirty="0">
              <a:solidFill>
                <a:schemeClr val="tx2"/>
              </a:solidFill>
              <a:latin typeface="Garamond" panose="02020404030301010803" pitchFamily="18" charset="0"/>
              <a:ea typeface="方正舒体" panose="02010601030101010101" pitchFamily="2" charset="-122"/>
            </a:endParaRPr>
          </a:p>
          <a:p>
            <a:pPr algn="ctr" eaLnBrk="1" hangingPunct="1">
              <a:buFont typeface="Wingdings" panose="05000000000000000000" pitchFamily="2" charset="2"/>
              <a:buNone/>
            </a:pPr>
            <a:endParaRPr lang="zh-CN" altLang="en-US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algn="ctr" eaLnBrk="1" hangingPunct="1"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chemeClr val="tx2"/>
                </a:solidFill>
                <a:latin typeface="宋体" panose="02010600030101010101" pitchFamily="2" charset="-122"/>
              </a:rPr>
              <a:t>数据结构课程组</a:t>
            </a:r>
            <a:endParaRPr lang="en-US" altLang="zh-CN" sz="26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algn="ctr" eaLnBrk="1" hangingPunct="1">
              <a:lnSpc>
                <a:spcPts val="2000"/>
              </a:lnSpc>
              <a:buFont typeface="Wingdings" panose="05000000000000000000" pitchFamily="2" charset="2"/>
              <a:buNone/>
            </a:pPr>
            <a:endParaRPr lang="en-US" altLang="zh-CN" sz="26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algn="ctr" eaLnBrk="1" hangingPunct="1"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chemeClr val="tx2"/>
                </a:solidFill>
                <a:latin typeface="宋体" panose="02010600030101010101" pitchFamily="2" charset="-122"/>
              </a:rPr>
              <a:t>胡学钢  张 晶  张玉红 </a:t>
            </a:r>
            <a:r>
              <a:rPr lang="zh-CN" altLang="en-US" sz="2600" b="1" dirty="0">
                <a:solidFill>
                  <a:srgbClr val="0000FF"/>
                </a:solidFill>
                <a:latin typeface="宋体" panose="02010600030101010101" pitchFamily="2" charset="-122"/>
              </a:rPr>
              <a:t>李培培</a:t>
            </a:r>
            <a:endParaRPr lang="en-US" altLang="zh-CN" sz="2600" b="1" dirty="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algn="ctr" eaLnBrk="1" hangingPunct="1"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chemeClr val="tx2"/>
                </a:solidFill>
                <a:latin typeface="宋体" panose="02010600030101010101" pitchFamily="2" charset="-122"/>
              </a:rPr>
              <a:t> </a:t>
            </a:r>
          </a:p>
          <a:p>
            <a:pPr algn="ctr">
              <a:lnSpc>
                <a:spcPts val="2000"/>
              </a:lnSpc>
            </a:pPr>
            <a:r>
              <a:rPr lang="zh-CN" altLang="en-US" sz="2600" b="1" dirty="0">
                <a:solidFill>
                  <a:schemeClr val="tx2"/>
                </a:solidFill>
                <a:latin typeface="宋体" panose="02010600030101010101" pitchFamily="2" charset="-122"/>
              </a:rPr>
              <a:t>合肥工业大学 计算机与信息学院  </a:t>
            </a:r>
          </a:p>
          <a:p>
            <a:pPr algn="ctr" eaLnBrk="1" hangingPunct="1">
              <a:lnSpc>
                <a:spcPts val="2000"/>
              </a:lnSpc>
              <a:buFont typeface="Wingdings" panose="05000000000000000000" pitchFamily="2" charset="2"/>
              <a:buNone/>
            </a:pPr>
            <a:endParaRPr lang="en-US" altLang="zh-CN" sz="26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algn="ctr" eaLnBrk="1" hangingPunct="1"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en-US" altLang="zh-CN" sz="2600" b="1" dirty="0">
                <a:solidFill>
                  <a:schemeClr val="tx2"/>
                </a:solidFill>
                <a:latin typeface="宋体" panose="02010600030101010101" pitchFamily="2" charset="-122"/>
              </a:rPr>
              <a:t>2024</a:t>
            </a:r>
            <a:r>
              <a:rPr lang="zh-CN" altLang="en-US" sz="2600" b="1" dirty="0">
                <a:solidFill>
                  <a:schemeClr val="tx2"/>
                </a:solidFill>
                <a:latin typeface="宋体" panose="02010600030101010101" pitchFamily="2" charset="-122"/>
              </a:rPr>
              <a:t>年</a:t>
            </a:r>
            <a:r>
              <a:rPr lang="en-US" altLang="zh-CN" sz="2600" b="1">
                <a:solidFill>
                  <a:schemeClr val="tx2"/>
                </a:solidFill>
                <a:latin typeface="宋体" panose="02010600030101010101" pitchFamily="2" charset="-122"/>
              </a:rPr>
              <a:t>5</a:t>
            </a:r>
            <a:r>
              <a:rPr lang="zh-CN" altLang="en-US" sz="2600" b="1">
                <a:solidFill>
                  <a:schemeClr val="tx2"/>
                </a:solidFill>
                <a:latin typeface="宋体" panose="02010600030101010101" pitchFamily="2" charset="-122"/>
              </a:rPr>
              <a:t>月</a:t>
            </a:r>
            <a:r>
              <a:rPr lang="en-US" altLang="zh-CN" sz="2600" b="1" dirty="0">
                <a:solidFill>
                  <a:schemeClr val="tx2"/>
                </a:solidFill>
                <a:latin typeface="宋体" panose="02010600030101010101" pitchFamily="2" charset="-122"/>
              </a:rPr>
              <a:t> </a:t>
            </a:r>
            <a:endParaRPr lang="zh-CN" altLang="en-US" sz="2600" b="1" dirty="0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pic>
        <p:nvPicPr>
          <p:cNvPr id="10" name="图片 307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248" y="3789040"/>
            <a:ext cx="2049462" cy="263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 advClick="0" advTm="515"/>
    </mc:Choice>
    <mc:Fallback xmlns="">
      <p:transition spd="slow" advClick="0" advTm="515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4097"/>
          <p:cNvSpPr>
            <a:spLocks noGrp="1" noChangeArrowheads="1"/>
          </p:cNvSpPr>
          <p:nvPr>
            <p:ph type="title"/>
          </p:nvPr>
        </p:nvSpPr>
        <p:spPr>
          <a:xfrm>
            <a:off x="395536" y="124266"/>
            <a:ext cx="8928992" cy="660930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b="1" dirty="0"/>
              <a:t>第</a:t>
            </a:r>
            <a:r>
              <a:rPr lang="en-US" altLang="zh-CN" b="1" dirty="0"/>
              <a:t>10</a:t>
            </a:r>
            <a:r>
              <a:rPr lang="zh-CN" altLang="en-US" dirty="0"/>
              <a:t>章 查找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rgbClr val="FF0000"/>
                </a:solidFill>
                <a:latin typeface="Comic Sans MS" panose="030F0702030302020204" pitchFamily="66" charset="0"/>
              </a:rPr>
              <a:t>Searching</a:t>
            </a:r>
            <a:r>
              <a:rPr lang="en-US" altLang="zh-CN" dirty="0"/>
              <a:t>)</a:t>
            </a:r>
            <a:endParaRPr lang="zh-CN" altLang="en-US" sz="3100" b="1" dirty="0"/>
          </a:p>
        </p:txBody>
      </p:sp>
      <p:grpSp>
        <p:nvGrpSpPr>
          <p:cNvPr id="14" name="组合 114"/>
          <p:cNvGrpSpPr/>
          <p:nvPr/>
        </p:nvGrpSpPr>
        <p:grpSpPr>
          <a:xfrm>
            <a:off x="28594" y="2844251"/>
            <a:ext cx="6775654" cy="646307"/>
            <a:chOff x="-99295" y="3363717"/>
            <a:chExt cx="7301815" cy="687269"/>
          </a:xfrm>
        </p:grpSpPr>
        <p:grpSp>
          <p:nvGrpSpPr>
            <p:cNvPr id="15" name="组合 105"/>
            <p:cNvGrpSpPr/>
            <p:nvPr/>
          </p:nvGrpSpPr>
          <p:grpSpPr>
            <a:xfrm>
              <a:off x="-99295" y="3363717"/>
              <a:ext cx="7301815" cy="687269"/>
              <a:chOff x="-99295" y="3363717"/>
              <a:chExt cx="7301815" cy="687269"/>
            </a:xfrm>
          </p:grpSpPr>
          <p:sp>
            <p:nvSpPr>
              <p:cNvPr id="17" name="Freeform 5"/>
              <p:cNvSpPr>
                <a:spLocks/>
              </p:cNvSpPr>
              <p:nvPr/>
            </p:nvSpPr>
            <p:spPr bwMode="auto">
              <a:xfrm>
                <a:off x="933887" y="3380765"/>
                <a:ext cx="801702" cy="662730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EA6103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4000" b="1" dirty="0">
                  <a:ea typeface="微软雅黑" pitchFamily="34" charset="-122"/>
                </a:endParaRPr>
              </a:p>
            </p:txBody>
          </p:sp>
          <p:sp>
            <p:nvSpPr>
              <p:cNvPr id="18" name="TextBox 6"/>
              <p:cNvSpPr txBox="1">
                <a:spLocks noChangeArrowheads="1"/>
              </p:cNvSpPr>
              <p:nvPr/>
            </p:nvSpPr>
            <p:spPr bwMode="auto">
              <a:xfrm>
                <a:off x="-99295" y="3363717"/>
                <a:ext cx="7301815" cy="687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10.3 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树表的查找</a:t>
                </a:r>
              </a:p>
            </p:txBody>
          </p:sp>
        </p:grpSp>
        <p:pic>
          <p:nvPicPr>
            <p:cNvPr id="16" name="图片 15" descr="12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5929" y="3530600"/>
              <a:ext cx="446172" cy="431048"/>
            </a:xfrm>
            <a:prstGeom prst="rect">
              <a:avLst/>
            </a:prstGeom>
          </p:spPr>
        </p:pic>
      </p:grpSp>
      <p:grpSp>
        <p:nvGrpSpPr>
          <p:cNvPr id="19" name="组合 67"/>
          <p:cNvGrpSpPr/>
          <p:nvPr/>
        </p:nvGrpSpPr>
        <p:grpSpPr>
          <a:xfrm>
            <a:off x="230305" y="3645023"/>
            <a:ext cx="6789967" cy="656947"/>
            <a:chOff x="142646" y="4179148"/>
            <a:chExt cx="7317240" cy="698583"/>
          </a:xfrm>
        </p:grpSpPr>
        <p:grpSp>
          <p:nvGrpSpPr>
            <p:cNvPr id="20" name="组合 106"/>
            <p:cNvGrpSpPr/>
            <p:nvPr/>
          </p:nvGrpSpPr>
          <p:grpSpPr>
            <a:xfrm>
              <a:off x="142646" y="4179148"/>
              <a:ext cx="7317240" cy="698583"/>
              <a:chOff x="133121" y="4179148"/>
              <a:chExt cx="7317240" cy="698583"/>
            </a:xfrm>
          </p:grpSpPr>
          <p:sp>
            <p:nvSpPr>
              <p:cNvPr id="22" name="Freeform 5"/>
              <p:cNvSpPr>
                <a:spLocks/>
              </p:cNvSpPr>
              <p:nvPr/>
            </p:nvSpPr>
            <p:spPr bwMode="auto">
              <a:xfrm>
                <a:off x="927100" y="4202884"/>
                <a:ext cx="824164" cy="674847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408080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4000" b="1" dirty="0">
                  <a:ea typeface="微软雅黑" pitchFamily="34" charset="-122"/>
                </a:endParaRPr>
              </a:p>
            </p:txBody>
          </p:sp>
          <p:sp>
            <p:nvSpPr>
              <p:cNvPr id="23" name="TextBox 6"/>
              <p:cNvSpPr txBox="1">
                <a:spLocks noChangeArrowheads="1"/>
              </p:cNvSpPr>
              <p:nvPr/>
            </p:nvSpPr>
            <p:spPr bwMode="auto">
              <a:xfrm>
                <a:off x="133121" y="4179148"/>
                <a:ext cx="7317240" cy="6872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10.4 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散列表的查找</a:t>
                </a:r>
              </a:p>
            </p:txBody>
          </p:sp>
        </p:grpSp>
        <p:pic>
          <p:nvPicPr>
            <p:cNvPr id="21" name="图片 20" descr="无标题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7949" y="4364064"/>
              <a:ext cx="433676" cy="330989"/>
            </a:xfrm>
            <a:prstGeom prst="rect">
              <a:avLst/>
            </a:prstGeom>
          </p:spPr>
        </p:pic>
      </p:grpSp>
      <p:grpSp>
        <p:nvGrpSpPr>
          <p:cNvPr id="51" name="组合 50"/>
          <p:cNvGrpSpPr/>
          <p:nvPr/>
        </p:nvGrpSpPr>
        <p:grpSpPr>
          <a:xfrm>
            <a:off x="987327" y="4509119"/>
            <a:ext cx="3872705" cy="648129"/>
            <a:chOff x="989571" y="5778644"/>
            <a:chExt cx="4067227" cy="689206"/>
          </a:xfrm>
        </p:grpSpPr>
        <p:sp>
          <p:nvSpPr>
            <p:cNvPr id="8" name="Freeform 5"/>
            <p:cNvSpPr>
              <a:spLocks/>
            </p:cNvSpPr>
            <p:nvPr/>
          </p:nvSpPr>
          <p:spPr bwMode="auto">
            <a:xfrm>
              <a:off x="989571" y="5820119"/>
              <a:ext cx="813499" cy="647731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solidFill>
              <a:srgbClr val="F69F1E"/>
            </a:solidFill>
            <a:ln w="9525" cap="flat">
              <a:noFill/>
              <a:prstDash val="solid"/>
              <a:miter lim="800000"/>
              <a:headEnd/>
              <a:tailEnd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vert="horz" wrap="square" lIns="68564" tIns="34282" rIns="68564" bIns="34282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4000" b="1" dirty="0">
                <a:ea typeface="微软雅黑" pitchFamily="34" charset="-122"/>
              </a:endParaRPr>
            </a:p>
          </p:txBody>
        </p:sp>
        <p:sp>
          <p:nvSpPr>
            <p:cNvPr id="7" name="TextBox 6"/>
            <p:cNvSpPr txBox="1">
              <a:spLocks noChangeArrowheads="1"/>
            </p:cNvSpPr>
            <p:nvPr/>
          </p:nvSpPr>
          <p:spPr bwMode="auto">
            <a:xfrm>
              <a:off x="1549557" y="5778644"/>
              <a:ext cx="3507241" cy="687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17" tIns="45708" rIns="91417" bIns="45708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marL="0" lvl="1" algn="ctr"/>
              <a:r>
                <a:rPr lang="en-US" altLang="zh-CN" sz="3600" b="1" dirty="0">
                  <a:latin typeface="Times New Roman" pitchFamily="18" charset="0"/>
                  <a:ea typeface="黑体" pitchFamily="49" charset="-122"/>
                </a:rPr>
                <a:t>10.5 </a:t>
              </a:r>
              <a:r>
                <a:rPr lang="zh-CN" altLang="en-US" sz="3600" b="1" dirty="0">
                  <a:latin typeface="Times New Roman" pitchFamily="18" charset="0"/>
                  <a:ea typeface="黑体" pitchFamily="49" charset="-122"/>
                </a:rPr>
                <a:t>本章小结</a:t>
              </a:r>
            </a:p>
          </p:txBody>
        </p:sp>
        <p:sp>
          <p:nvSpPr>
            <p:cNvPr id="34" name="KSO_Shape"/>
            <p:cNvSpPr>
              <a:spLocks/>
            </p:cNvSpPr>
            <p:nvPr/>
          </p:nvSpPr>
          <p:spPr bwMode="auto">
            <a:xfrm>
              <a:off x="1187624" y="5942836"/>
              <a:ext cx="458076" cy="366692"/>
            </a:xfrm>
            <a:custGeom>
              <a:avLst/>
              <a:gdLst>
                <a:gd name="T0" fmla="*/ 1221908 w 2276475"/>
                <a:gd name="T1" fmla="*/ 1328927 h 1936751"/>
                <a:gd name="T2" fmla="*/ 1196654 w 2276475"/>
                <a:gd name="T3" fmla="*/ 1388292 h 1936751"/>
                <a:gd name="T4" fmla="*/ 691864 w 2276475"/>
                <a:gd name="T5" fmla="*/ 1376845 h 1936751"/>
                <a:gd name="T6" fmla="*/ 695585 w 2276475"/>
                <a:gd name="T7" fmla="*/ 1314285 h 1936751"/>
                <a:gd name="T8" fmla="*/ 1104489 w 2276475"/>
                <a:gd name="T9" fmla="*/ 1115137 h 1936751"/>
                <a:gd name="T10" fmla="*/ 1117497 w 2276475"/>
                <a:gd name="T11" fmla="*/ 1168850 h 1936751"/>
                <a:gd name="T12" fmla="*/ 811396 w 2276475"/>
                <a:gd name="T13" fmla="*/ 1188695 h 1936751"/>
                <a:gd name="T14" fmla="*/ 783254 w 2276475"/>
                <a:gd name="T15" fmla="*/ 1141068 h 1936751"/>
                <a:gd name="T16" fmla="*/ 309026 w 2276475"/>
                <a:gd name="T17" fmla="*/ 898551 h 1936751"/>
                <a:gd name="T18" fmla="*/ 798665 w 2276475"/>
                <a:gd name="T19" fmla="*/ 935449 h 1936751"/>
                <a:gd name="T20" fmla="*/ 759855 w 2276475"/>
                <a:gd name="T21" fmla="*/ 989335 h 1936751"/>
                <a:gd name="T22" fmla="*/ 259317 w 2276475"/>
                <a:gd name="T23" fmla="*/ 967303 h 1936751"/>
                <a:gd name="T24" fmla="*/ 277393 w 2276475"/>
                <a:gd name="T25" fmla="*/ 906514 h 1936751"/>
                <a:gd name="T26" fmla="*/ 1086287 w 2276475"/>
                <a:gd name="T27" fmla="*/ 817903 h 1936751"/>
                <a:gd name="T28" fmla="*/ 1028372 w 2276475"/>
                <a:gd name="T29" fmla="*/ 919230 h 1936751"/>
                <a:gd name="T30" fmla="*/ 999280 w 2276475"/>
                <a:gd name="T31" fmla="*/ 917630 h 1936751"/>
                <a:gd name="T32" fmla="*/ 289574 w 2276475"/>
                <a:gd name="T33" fmla="*/ 706099 h 1936751"/>
                <a:gd name="T34" fmla="*/ 590631 w 2276475"/>
                <a:gd name="T35" fmla="*/ 735033 h 1936751"/>
                <a:gd name="T36" fmla="*/ 567535 w 2276475"/>
                <a:gd name="T37" fmla="*/ 784938 h 1936751"/>
                <a:gd name="T38" fmla="*/ 259309 w 2276475"/>
                <a:gd name="T39" fmla="*/ 770073 h 1936751"/>
                <a:gd name="T40" fmla="*/ 267273 w 2276475"/>
                <a:gd name="T41" fmla="*/ 715124 h 1936751"/>
                <a:gd name="T42" fmla="*/ 836933 w 2276475"/>
                <a:gd name="T43" fmla="*/ 505684 h 1936751"/>
                <a:gd name="T44" fmla="*/ 846494 w 2276475"/>
                <a:gd name="T45" fmla="*/ 574170 h 1936751"/>
                <a:gd name="T46" fmla="*/ 268069 w 2276475"/>
                <a:gd name="T47" fmla="*/ 592752 h 1936751"/>
                <a:gd name="T48" fmla="*/ 238855 w 2276475"/>
                <a:gd name="T49" fmla="*/ 530105 h 1936751"/>
                <a:gd name="T50" fmla="*/ 1467818 w 2276475"/>
                <a:gd name="T51" fmla="*/ 344025 h 1936751"/>
                <a:gd name="T52" fmla="*/ 1566759 w 2276475"/>
                <a:gd name="T53" fmla="*/ 428438 h 1936751"/>
                <a:gd name="T54" fmla="*/ 1578461 w 2276475"/>
                <a:gd name="T55" fmla="*/ 479936 h 1936751"/>
                <a:gd name="T56" fmla="*/ 1197862 w 2276475"/>
                <a:gd name="T57" fmla="*/ 846789 h 1936751"/>
                <a:gd name="T58" fmla="*/ 1138817 w 2276475"/>
                <a:gd name="T59" fmla="*/ 842806 h 1936751"/>
                <a:gd name="T60" fmla="*/ 1093869 w 2276475"/>
                <a:gd name="T61" fmla="*/ 799538 h 1936751"/>
                <a:gd name="T62" fmla="*/ 1075782 w 2276475"/>
                <a:gd name="T63" fmla="*/ 737423 h 1936751"/>
                <a:gd name="T64" fmla="*/ 1456382 w 2276475"/>
                <a:gd name="T65" fmla="*/ 344821 h 1936751"/>
                <a:gd name="T66" fmla="*/ 199469 w 2276475"/>
                <a:gd name="T67" fmla="*/ 367345 h 1936751"/>
                <a:gd name="T68" fmla="*/ 114475 w 2276475"/>
                <a:gd name="T69" fmla="*/ 448541 h 1936751"/>
                <a:gd name="T70" fmla="*/ 103321 w 2276475"/>
                <a:gd name="T71" fmla="*/ 1407238 h 1936751"/>
                <a:gd name="T72" fmla="*/ 171315 w 2276475"/>
                <a:gd name="T73" fmla="*/ 1503559 h 1936751"/>
                <a:gd name="T74" fmla="*/ 1382734 w 2276475"/>
                <a:gd name="T75" fmla="*/ 1530890 h 1936751"/>
                <a:gd name="T76" fmla="*/ 1488975 w 2276475"/>
                <a:gd name="T77" fmla="*/ 1477289 h 1936751"/>
                <a:gd name="T78" fmla="*/ 1531737 w 2276475"/>
                <a:gd name="T79" fmla="*/ 1365845 h 1936751"/>
                <a:gd name="T80" fmla="*/ 1605841 w 2276475"/>
                <a:gd name="T81" fmla="*/ 1539381 h 1936751"/>
                <a:gd name="T82" fmla="*/ 1513146 w 2276475"/>
                <a:gd name="T83" fmla="*/ 1611821 h 1936751"/>
                <a:gd name="T84" fmla="*/ 101461 w 2276475"/>
                <a:gd name="T85" fmla="*/ 1605982 h 1936751"/>
                <a:gd name="T86" fmla="*/ 16468 w 2276475"/>
                <a:gd name="T87" fmla="*/ 1525317 h 1936751"/>
                <a:gd name="T88" fmla="*/ 5312 w 2276475"/>
                <a:gd name="T89" fmla="*/ 391226 h 1936751"/>
                <a:gd name="T90" fmla="*/ 73307 w 2276475"/>
                <a:gd name="T91" fmla="*/ 295170 h 1936751"/>
                <a:gd name="T92" fmla="*/ 1746529 w 2276475"/>
                <a:gd name="T93" fmla="*/ 88926 h 1936751"/>
                <a:gd name="T94" fmla="*/ 1805153 w 2276475"/>
                <a:gd name="T95" fmla="*/ 114614 h 1936751"/>
                <a:gd name="T96" fmla="*/ 1838312 w 2276475"/>
                <a:gd name="T97" fmla="*/ 176846 h 1936751"/>
                <a:gd name="T98" fmla="*/ 1821600 w 2276475"/>
                <a:gd name="T99" fmla="*/ 237490 h 1936751"/>
                <a:gd name="T100" fmla="*/ 1620792 w 2276475"/>
                <a:gd name="T101" fmla="*/ 421806 h 1936751"/>
                <a:gd name="T102" fmla="*/ 1543068 w 2276475"/>
                <a:gd name="T103" fmla="*/ 339447 h 1936751"/>
                <a:gd name="T104" fmla="*/ 1506460 w 2276475"/>
                <a:gd name="T105" fmla="*/ 289925 h 1936751"/>
                <a:gd name="T106" fmla="*/ 1716818 w 2276475"/>
                <a:gd name="T107" fmla="*/ 92634 h 1936751"/>
                <a:gd name="T108" fmla="*/ 1893521 w 2276475"/>
                <a:gd name="T109" fmla="*/ 35131 h 1936751"/>
                <a:gd name="T110" fmla="*/ 1889783 w 2276475"/>
                <a:gd name="T111" fmla="*/ 106078 h 1936751"/>
                <a:gd name="T112" fmla="*/ 1844400 w 2276475"/>
                <a:gd name="T113" fmla="*/ 105545 h 1936751"/>
                <a:gd name="T114" fmla="*/ 1793944 w 2276475"/>
                <a:gd name="T115" fmla="*/ 59669 h 1936751"/>
                <a:gd name="T116" fmla="*/ 1847069 w 2276475"/>
                <a:gd name="T117" fmla="*/ 16194 h 1936751"/>
                <a:gd name="T118" fmla="*/ 1697756 w 2276475"/>
                <a:gd name="T119" fmla="*/ 22017 h 1936751"/>
                <a:gd name="T120" fmla="*/ 1364698 w 2276475"/>
                <a:gd name="T121" fmla="*/ 383050 h 1936751"/>
                <a:gd name="T122" fmla="*/ 1317840 w 2276475"/>
                <a:gd name="T123" fmla="*/ 375887 h 1936751"/>
                <a:gd name="T124" fmla="*/ 1320237 w 2276475"/>
                <a:gd name="T125" fmla="*/ 329200 h 1936751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2276475" h="1936751">
                  <a:moveTo>
                    <a:pt x="872202" y="1555750"/>
                  </a:moveTo>
                  <a:lnTo>
                    <a:pt x="879190" y="1555750"/>
                  </a:lnTo>
                  <a:lnTo>
                    <a:pt x="1397284" y="1555750"/>
                  </a:lnTo>
                  <a:lnTo>
                    <a:pt x="1404272" y="1555750"/>
                  </a:lnTo>
                  <a:lnTo>
                    <a:pt x="1410943" y="1557024"/>
                  </a:lnTo>
                  <a:lnTo>
                    <a:pt x="1417614" y="1557979"/>
                  </a:lnTo>
                  <a:lnTo>
                    <a:pt x="1423649" y="1560208"/>
                  </a:lnTo>
                  <a:lnTo>
                    <a:pt x="1430002" y="1562437"/>
                  </a:lnTo>
                  <a:lnTo>
                    <a:pt x="1435403" y="1565303"/>
                  </a:lnTo>
                  <a:lnTo>
                    <a:pt x="1440485" y="1568168"/>
                  </a:lnTo>
                  <a:lnTo>
                    <a:pt x="1445567" y="1571989"/>
                  </a:lnTo>
                  <a:lnTo>
                    <a:pt x="1450015" y="1576128"/>
                  </a:lnTo>
                  <a:lnTo>
                    <a:pt x="1453509" y="1580268"/>
                  </a:lnTo>
                  <a:lnTo>
                    <a:pt x="1457321" y="1584726"/>
                  </a:lnTo>
                  <a:lnTo>
                    <a:pt x="1460180" y="1589502"/>
                  </a:lnTo>
                  <a:lnTo>
                    <a:pt x="1462403" y="1594915"/>
                  </a:lnTo>
                  <a:lnTo>
                    <a:pt x="1463674" y="1600009"/>
                  </a:lnTo>
                  <a:lnTo>
                    <a:pt x="1464944" y="1605741"/>
                  </a:lnTo>
                  <a:lnTo>
                    <a:pt x="1465262" y="1611472"/>
                  </a:lnTo>
                  <a:lnTo>
                    <a:pt x="1464944" y="1617203"/>
                  </a:lnTo>
                  <a:lnTo>
                    <a:pt x="1463674" y="1622935"/>
                  </a:lnTo>
                  <a:lnTo>
                    <a:pt x="1462403" y="1628029"/>
                  </a:lnTo>
                  <a:lnTo>
                    <a:pt x="1460180" y="1633124"/>
                  </a:lnTo>
                  <a:lnTo>
                    <a:pt x="1457321" y="1638218"/>
                  </a:lnTo>
                  <a:lnTo>
                    <a:pt x="1453509" y="1642358"/>
                  </a:lnTo>
                  <a:lnTo>
                    <a:pt x="1450015" y="1646815"/>
                  </a:lnTo>
                  <a:lnTo>
                    <a:pt x="1445567" y="1650955"/>
                  </a:lnTo>
                  <a:lnTo>
                    <a:pt x="1440485" y="1654457"/>
                  </a:lnTo>
                  <a:lnTo>
                    <a:pt x="1435403" y="1657641"/>
                  </a:lnTo>
                  <a:lnTo>
                    <a:pt x="1430002" y="1660507"/>
                  </a:lnTo>
                  <a:lnTo>
                    <a:pt x="1423649" y="1662736"/>
                  </a:lnTo>
                  <a:lnTo>
                    <a:pt x="1417614" y="1664328"/>
                  </a:lnTo>
                  <a:lnTo>
                    <a:pt x="1410943" y="1665920"/>
                  </a:lnTo>
                  <a:lnTo>
                    <a:pt x="1404272" y="1666875"/>
                  </a:lnTo>
                  <a:lnTo>
                    <a:pt x="1397284" y="1666875"/>
                  </a:lnTo>
                  <a:lnTo>
                    <a:pt x="879190" y="1666875"/>
                  </a:lnTo>
                  <a:lnTo>
                    <a:pt x="872202" y="1666875"/>
                  </a:lnTo>
                  <a:lnTo>
                    <a:pt x="865531" y="1665920"/>
                  </a:lnTo>
                  <a:lnTo>
                    <a:pt x="858860" y="1664328"/>
                  </a:lnTo>
                  <a:lnTo>
                    <a:pt x="852507" y="1662736"/>
                  </a:lnTo>
                  <a:lnTo>
                    <a:pt x="846790" y="1660507"/>
                  </a:lnTo>
                  <a:lnTo>
                    <a:pt x="841389" y="1657641"/>
                  </a:lnTo>
                  <a:lnTo>
                    <a:pt x="835989" y="1654139"/>
                  </a:lnTo>
                  <a:lnTo>
                    <a:pt x="831224" y="1650955"/>
                  </a:lnTo>
                  <a:lnTo>
                    <a:pt x="826777" y="1646815"/>
                  </a:lnTo>
                  <a:lnTo>
                    <a:pt x="822648" y="1642358"/>
                  </a:lnTo>
                  <a:lnTo>
                    <a:pt x="819471" y="1637900"/>
                  </a:lnTo>
                  <a:lnTo>
                    <a:pt x="816612" y="1633124"/>
                  </a:lnTo>
                  <a:lnTo>
                    <a:pt x="814389" y="1628029"/>
                  </a:lnTo>
                  <a:lnTo>
                    <a:pt x="812483" y="1622935"/>
                  </a:lnTo>
                  <a:lnTo>
                    <a:pt x="811530" y="1617203"/>
                  </a:lnTo>
                  <a:lnTo>
                    <a:pt x="811212" y="1611472"/>
                  </a:lnTo>
                  <a:lnTo>
                    <a:pt x="811530" y="1605741"/>
                  </a:lnTo>
                  <a:lnTo>
                    <a:pt x="812483" y="1600009"/>
                  </a:lnTo>
                  <a:lnTo>
                    <a:pt x="814389" y="1594915"/>
                  </a:lnTo>
                  <a:lnTo>
                    <a:pt x="816612" y="1589820"/>
                  </a:lnTo>
                  <a:lnTo>
                    <a:pt x="819471" y="1584726"/>
                  </a:lnTo>
                  <a:lnTo>
                    <a:pt x="822648" y="1580268"/>
                  </a:lnTo>
                  <a:lnTo>
                    <a:pt x="826777" y="1576128"/>
                  </a:lnTo>
                  <a:lnTo>
                    <a:pt x="831224" y="1571989"/>
                  </a:lnTo>
                  <a:lnTo>
                    <a:pt x="835989" y="1568168"/>
                  </a:lnTo>
                  <a:lnTo>
                    <a:pt x="841389" y="1565303"/>
                  </a:lnTo>
                  <a:lnTo>
                    <a:pt x="846790" y="1562437"/>
                  </a:lnTo>
                  <a:lnTo>
                    <a:pt x="852507" y="1560208"/>
                  </a:lnTo>
                  <a:lnTo>
                    <a:pt x="858860" y="1558298"/>
                  </a:lnTo>
                  <a:lnTo>
                    <a:pt x="865531" y="1557024"/>
                  </a:lnTo>
                  <a:lnTo>
                    <a:pt x="872202" y="1555750"/>
                  </a:lnTo>
                  <a:close/>
                  <a:moveTo>
                    <a:pt x="984211" y="1325563"/>
                  </a:moveTo>
                  <a:lnTo>
                    <a:pt x="1292263" y="1325563"/>
                  </a:lnTo>
                  <a:lnTo>
                    <a:pt x="1297339" y="1325880"/>
                  </a:lnTo>
                  <a:lnTo>
                    <a:pt x="1302415" y="1326513"/>
                  </a:lnTo>
                  <a:lnTo>
                    <a:pt x="1307174" y="1327779"/>
                  </a:lnTo>
                  <a:lnTo>
                    <a:pt x="1311615" y="1329361"/>
                  </a:lnTo>
                  <a:lnTo>
                    <a:pt x="1315740" y="1331260"/>
                  </a:lnTo>
                  <a:lnTo>
                    <a:pt x="1319864" y="1333792"/>
                  </a:lnTo>
                  <a:lnTo>
                    <a:pt x="1323671" y="1336640"/>
                  </a:lnTo>
                  <a:lnTo>
                    <a:pt x="1327161" y="1340121"/>
                  </a:lnTo>
                  <a:lnTo>
                    <a:pt x="1330333" y="1343286"/>
                  </a:lnTo>
                  <a:lnTo>
                    <a:pt x="1332871" y="1347400"/>
                  </a:lnTo>
                  <a:lnTo>
                    <a:pt x="1335409" y="1351198"/>
                  </a:lnTo>
                  <a:lnTo>
                    <a:pt x="1337630" y="1355629"/>
                  </a:lnTo>
                  <a:lnTo>
                    <a:pt x="1339216" y="1360059"/>
                  </a:lnTo>
                  <a:lnTo>
                    <a:pt x="1340485" y="1364807"/>
                  </a:lnTo>
                  <a:lnTo>
                    <a:pt x="1341437" y="1369870"/>
                  </a:lnTo>
                  <a:lnTo>
                    <a:pt x="1341437" y="1374934"/>
                  </a:lnTo>
                  <a:lnTo>
                    <a:pt x="1341437" y="1379681"/>
                  </a:lnTo>
                  <a:lnTo>
                    <a:pt x="1340485" y="1384745"/>
                  </a:lnTo>
                  <a:lnTo>
                    <a:pt x="1339216" y="1389492"/>
                  </a:lnTo>
                  <a:lnTo>
                    <a:pt x="1337630" y="1393923"/>
                  </a:lnTo>
                  <a:lnTo>
                    <a:pt x="1335409" y="1398037"/>
                  </a:lnTo>
                  <a:lnTo>
                    <a:pt x="1332871" y="1402151"/>
                  </a:lnTo>
                  <a:lnTo>
                    <a:pt x="1330016" y="1405632"/>
                  </a:lnTo>
                  <a:lnTo>
                    <a:pt x="1327161" y="1409430"/>
                  </a:lnTo>
                  <a:lnTo>
                    <a:pt x="1323671" y="1412595"/>
                  </a:lnTo>
                  <a:lnTo>
                    <a:pt x="1319864" y="1415443"/>
                  </a:lnTo>
                  <a:lnTo>
                    <a:pt x="1315740" y="1417659"/>
                  </a:lnTo>
                  <a:lnTo>
                    <a:pt x="1311615" y="1419874"/>
                  </a:lnTo>
                  <a:lnTo>
                    <a:pt x="1306857" y="1421773"/>
                  </a:lnTo>
                  <a:lnTo>
                    <a:pt x="1302415" y="1422722"/>
                  </a:lnTo>
                  <a:lnTo>
                    <a:pt x="1297339" y="1423672"/>
                  </a:lnTo>
                  <a:lnTo>
                    <a:pt x="1292263" y="1423988"/>
                  </a:lnTo>
                  <a:lnTo>
                    <a:pt x="984211" y="1423988"/>
                  </a:lnTo>
                  <a:lnTo>
                    <a:pt x="979453" y="1423672"/>
                  </a:lnTo>
                  <a:lnTo>
                    <a:pt x="974377" y="1422722"/>
                  </a:lnTo>
                  <a:lnTo>
                    <a:pt x="969618" y="1421773"/>
                  </a:lnTo>
                  <a:lnTo>
                    <a:pt x="965176" y="1419874"/>
                  </a:lnTo>
                  <a:lnTo>
                    <a:pt x="960735" y="1417659"/>
                  </a:lnTo>
                  <a:lnTo>
                    <a:pt x="956928" y="1415443"/>
                  </a:lnTo>
                  <a:lnTo>
                    <a:pt x="952803" y="1412595"/>
                  </a:lnTo>
                  <a:lnTo>
                    <a:pt x="949631" y="1409430"/>
                  </a:lnTo>
                  <a:lnTo>
                    <a:pt x="946141" y="1405632"/>
                  </a:lnTo>
                  <a:lnTo>
                    <a:pt x="943286" y="1402151"/>
                  </a:lnTo>
                  <a:lnTo>
                    <a:pt x="941065" y="1398037"/>
                  </a:lnTo>
                  <a:lnTo>
                    <a:pt x="938844" y="1393923"/>
                  </a:lnTo>
                  <a:lnTo>
                    <a:pt x="937258" y="1389492"/>
                  </a:lnTo>
                  <a:lnTo>
                    <a:pt x="935989" y="1384745"/>
                  </a:lnTo>
                  <a:lnTo>
                    <a:pt x="935355" y="1379681"/>
                  </a:lnTo>
                  <a:lnTo>
                    <a:pt x="935037" y="1374934"/>
                  </a:lnTo>
                  <a:lnTo>
                    <a:pt x="935355" y="1369870"/>
                  </a:lnTo>
                  <a:lnTo>
                    <a:pt x="935989" y="1364807"/>
                  </a:lnTo>
                  <a:lnTo>
                    <a:pt x="937258" y="1360059"/>
                  </a:lnTo>
                  <a:lnTo>
                    <a:pt x="938844" y="1355629"/>
                  </a:lnTo>
                  <a:lnTo>
                    <a:pt x="940748" y="1351198"/>
                  </a:lnTo>
                  <a:lnTo>
                    <a:pt x="943286" y="1347400"/>
                  </a:lnTo>
                  <a:lnTo>
                    <a:pt x="946141" y="1343286"/>
                  </a:lnTo>
                  <a:lnTo>
                    <a:pt x="949631" y="1340121"/>
                  </a:lnTo>
                  <a:lnTo>
                    <a:pt x="952803" y="1336640"/>
                  </a:lnTo>
                  <a:lnTo>
                    <a:pt x="956928" y="1333792"/>
                  </a:lnTo>
                  <a:lnTo>
                    <a:pt x="960735" y="1331260"/>
                  </a:lnTo>
                  <a:lnTo>
                    <a:pt x="965176" y="1329361"/>
                  </a:lnTo>
                  <a:lnTo>
                    <a:pt x="969618" y="1327779"/>
                  </a:lnTo>
                  <a:lnTo>
                    <a:pt x="974377" y="1326513"/>
                  </a:lnTo>
                  <a:lnTo>
                    <a:pt x="979453" y="1325880"/>
                  </a:lnTo>
                  <a:lnTo>
                    <a:pt x="984211" y="1325563"/>
                  </a:lnTo>
                  <a:close/>
                  <a:moveTo>
                    <a:pt x="369286" y="1074738"/>
                  </a:moveTo>
                  <a:lnTo>
                    <a:pt x="887697" y="1074738"/>
                  </a:lnTo>
                  <a:lnTo>
                    <a:pt x="894368" y="1075056"/>
                  </a:lnTo>
                  <a:lnTo>
                    <a:pt x="901356" y="1076008"/>
                  </a:lnTo>
                  <a:lnTo>
                    <a:pt x="908027" y="1077278"/>
                  </a:lnTo>
                  <a:lnTo>
                    <a:pt x="914063" y="1079183"/>
                  </a:lnTo>
                  <a:lnTo>
                    <a:pt x="920098" y="1081406"/>
                  </a:lnTo>
                  <a:lnTo>
                    <a:pt x="925816" y="1084263"/>
                  </a:lnTo>
                  <a:lnTo>
                    <a:pt x="930898" y="1087438"/>
                  </a:lnTo>
                  <a:lnTo>
                    <a:pt x="935663" y="1090931"/>
                  </a:lnTo>
                  <a:lnTo>
                    <a:pt x="940110" y="1094741"/>
                  </a:lnTo>
                  <a:lnTo>
                    <a:pt x="944240" y="1099186"/>
                  </a:lnTo>
                  <a:lnTo>
                    <a:pt x="947416" y="1103948"/>
                  </a:lnTo>
                  <a:lnTo>
                    <a:pt x="950275" y="1108711"/>
                  </a:lnTo>
                  <a:lnTo>
                    <a:pt x="952499" y="1113791"/>
                  </a:lnTo>
                  <a:lnTo>
                    <a:pt x="954405" y="1118871"/>
                  </a:lnTo>
                  <a:lnTo>
                    <a:pt x="955358" y="1124903"/>
                  </a:lnTo>
                  <a:lnTo>
                    <a:pt x="955675" y="1130301"/>
                  </a:lnTo>
                  <a:lnTo>
                    <a:pt x="955358" y="1136016"/>
                  </a:lnTo>
                  <a:lnTo>
                    <a:pt x="954405" y="1141413"/>
                  </a:lnTo>
                  <a:lnTo>
                    <a:pt x="952499" y="1147128"/>
                  </a:lnTo>
                  <a:lnTo>
                    <a:pt x="950275" y="1152208"/>
                  </a:lnTo>
                  <a:lnTo>
                    <a:pt x="947416" y="1156971"/>
                  </a:lnTo>
                  <a:lnTo>
                    <a:pt x="944240" y="1161098"/>
                  </a:lnTo>
                  <a:lnTo>
                    <a:pt x="940110" y="1165543"/>
                  </a:lnTo>
                  <a:lnTo>
                    <a:pt x="935663" y="1169671"/>
                  </a:lnTo>
                  <a:lnTo>
                    <a:pt x="930898" y="1173163"/>
                  </a:lnTo>
                  <a:lnTo>
                    <a:pt x="925816" y="1176656"/>
                  </a:lnTo>
                  <a:lnTo>
                    <a:pt x="920098" y="1179196"/>
                  </a:lnTo>
                  <a:lnTo>
                    <a:pt x="914063" y="1181736"/>
                  </a:lnTo>
                  <a:lnTo>
                    <a:pt x="908027" y="1183323"/>
                  </a:lnTo>
                  <a:lnTo>
                    <a:pt x="901356" y="1184593"/>
                  </a:lnTo>
                  <a:lnTo>
                    <a:pt x="894368" y="1185546"/>
                  </a:lnTo>
                  <a:lnTo>
                    <a:pt x="887697" y="1185863"/>
                  </a:lnTo>
                  <a:lnTo>
                    <a:pt x="369286" y="1185863"/>
                  </a:lnTo>
                  <a:lnTo>
                    <a:pt x="362615" y="1185546"/>
                  </a:lnTo>
                  <a:lnTo>
                    <a:pt x="355944" y="1184593"/>
                  </a:lnTo>
                  <a:lnTo>
                    <a:pt x="349273" y="1183323"/>
                  </a:lnTo>
                  <a:lnTo>
                    <a:pt x="343238" y="1181736"/>
                  </a:lnTo>
                  <a:lnTo>
                    <a:pt x="337203" y="1179196"/>
                  </a:lnTo>
                  <a:lnTo>
                    <a:pt x="331485" y="1176656"/>
                  </a:lnTo>
                  <a:lnTo>
                    <a:pt x="326402" y="1173163"/>
                  </a:lnTo>
                  <a:lnTo>
                    <a:pt x="321637" y="1169671"/>
                  </a:lnTo>
                  <a:lnTo>
                    <a:pt x="317190" y="1165543"/>
                  </a:lnTo>
                  <a:lnTo>
                    <a:pt x="313378" y="1161098"/>
                  </a:lnTo>
                  <a:lnTo>
                    <a:pt x="309884" y="1156971"/>
                  </a:lnTo>
                  <a:lnTo>
                    <a:pt x="307025" y="1152208"/>
                  </a:lnTo>
                  <a:lnTo>
                    <a:pt x="304802" y="1147128"/>
                  </a:lnTo>
                  <a:lnTo>
                    <a:pt x="302896" y="1141413"/>
                  </a:lnTo>
                  <a:lnTo>
                    <a:pt x="301943" y="1136016"/>
                  </a:lnTo>
                  <a:lnTo>
                    <a:pt x="301625" y="1130301"/>
                  </a:lnTo>
                  <a:lnTo>
                    <a:pt x="301943" y="1124903"/>
                  </a:lnTo>
                  <a:lnTo>
                    <a:pt x="302896" y="1119188"/>
                  </a:lnTo>
                  <a:lnTo>
                    <a:pt x="304802" y="1113791"/>
                  </a:lnTo>
                  <a:lnTo>
                    <a:pt x="307025" y="1108711"/>
                  </a:lnTo>
                  <a:lnTo>
                    <a:pt x="309884" y="1103948"/>
                  </a:lnTo>
                  <a:lnTo>
                    <a:pt x="313378" y="1099186"/>
                  </a:lnTo>
                  <a:lnTo>
                    <a:pt x="317190" y="1094741"/>
                  </a:lnTo>
                  <a:lnTo>
                    <a:pt x="321637" y="1091248"/>
                  </a:lnTo>
                  <a:lnTo>
                    <a:pt x="326402" y="1087438"/>
                  </a:lnTo>
                  <a:lnTo>
                    <a:pt x="331485" y="1084263"/>
                  </a:lnTo>
                  <a:lnTo>
                    <a:pt x="337203" y="1081406"/>
                  </a:lnTo>
                  <a:lnTo>
                    <a:pt x="343238" y="1079183"/>
                  </a:lnTo>
                  <a:lnTo>
                    <a:pt x="349273" y="1077278"/>
                  </a:lnTo>
                  <a:lnTo>
                    <a:pt x="355944" y="1076008"/>
                  </a:lnTo>
                  <a:lnTo>
                    <a:pt x="362615" y="1075056"/>
                  </a:lnTo>
                  <a:lnTo>
                    <a:pt x="369286" y="1074738"/>
                  </a:lnTo>
                  <a:close/>
                  <a:moveTo>
                    <a:pt x="1261435" y="965200"/>
                  </a:moveTo>
                  <a:lnTo>
                    <a:pt x="1264624" y="965200"/>
                  </a:lnTo>
                  <a:lnTo>
                    <a:pt x="1267814" y="965200"/>
                  </a:lnTo>
                  <a:lnTo>
                    <a:pt x="1271322" y="965838"/>
                  </a:lnTo>
                  <a:lnTo>
                    <a:pt x="1275149" y="967114"/>
                  </a:lnTo>
                  <a:lnTo>
                    <a:pt x="1278977" y="968390"/>
                  </a:lnTo>
                  <a:lnTo>
                    <a:pt x="1282804" y="969984"/>
                  </a:lnTo>
                  <a:lnTo>
                    <a:pt x="1290777" y="973811"/>
                  </a:lnTo>
                  <a:lnTo>
                    <a:pt x="1298113" y="978277"/>
                  </a:lnTo>
                  <a:lnTo>
                    <a:pt x="1304491" y="982742"/>
                  </a:lnTo>
                  <a:lnTo>
                    <a:pt x="1308637" y="986250"/>
                  </a:lnTo>
                  <a:lnTo>
                    <a:pt x="1312784" y="990715"/>
                  </a:lnTo>
                  <a:lnTo>
                    <a:pt x="1317249" y="997094"/>
                  </a:lnTo>
                  <a:lnTo>
                    <a:pt x="1321395" y="1004429"/>
                  </a:lnTo>
                  <a:lnTo>
                    <a:pt x="1325222" y="1012403"/>
                  </a:lnTo>
                  <a:lnTo>
                    <a:pt x="1326817" y="1016549"/>
                  </a:lnTo>
                  <a:lnTo>
                    <a:pt x="1328092" y="1020057"/>
                  </a:lnTo>
                  <a:lnTo>
                    <a:pt x="1329368" y="1024203"/>
                  </a:lnTo>
                  <a:lnTo>
                    <a:pt x="1330006" y="1027711"/>
                  </a:lnTo>
                  <a:lnTo>
                    <a:pt x="1330325" y="1030901"/>
                  </a:lnTo>
                  <a:lnTo>
                    <a:pt x="1330006" y="1034090"/>
                  </a:lnTo>
                  <a:lnTo>
                    <a:pt x="1329368" y="1036004"/>
                  </a:lnTo>
                  <a:lnTo>
                    <a:pt x="1327774" y="1038236"/>
                  </a:lnTo>
                  <a:lnTo>
                    <a:pt x="1228904" y="1099472"/>
                  </a:lnTo>
                  <a:lnTo>
                    <a:pt x="1226990" y="1101066"/>
                  </a:lnTo>
                  <a:lnTo>
                    <a:pt x="1225396" y="1102342"/>
                  </a:lnTo>
                  <a:lnTo>
                    <a:pt x="1223163" y="1103618"/>
                  </a:lnTo>
                  <a:lnTo>
                    <a:pt x="1220930" y="1104575"/>
                  </a:lnTo>
                  <a:lnTo>
                    <a:pt x="1219017" y="1105213"/>
                  </a:lnTo>
                  <a:lnTo>
                    <a:pt x="1216784" y="1105850"/>
                  </a:lnTo>
                  <a:lnTo>
                    <a:pt x="1212000" y="1106488"/>
                  </a:lnTo>
                  <a:lnTo>
                    <a:pt x="1207854" y="1105850"/>
                  </a:lnTo>
                  <a:lnTo>
                    <a:pt x="1205622" y="1105213"/>
                  </a:lnTo>
                  <a:lnTo>
                    <a:pt x="1203389" y="1104575"/>
                  </a:lnTo>
                  <a:lnTo>
                    <a:pt x="1201475" y="1103618"/>
                  </a:lnTo>
                  <a:lnTo>
                    <a:pt x="1199243" y="1102342"/>
                  </a:lnTo>
                  <a:lnTo>
                    <a:pt x="1197329" y="1101066"/>
                  </a:lnTo>
                  <a:lnTo>
                    <a:pt x="1195735" y="1099472"/>
                  </a:lnTo>
                  <a:lnTo>
                    <a:pt x="1194140" y="1097558"/>
                  </a:lnTo>
                  <a:lnTo>
                    <a:pt x="1192864" y="1095963"/>
                  </a:lnTo>
                  <a:lnTo>
                    <a:pt x="1191588" y="1093731"/>
                  </a:lnTo>
                  <a:lnTo>
                    <a:pt x="1190632" y="1091817"/>
                  </a:lnTo>
                  <a:lnTo>
                    <a:pt x="1189356" y="1087352"/>
                  </a:lnTo>
                  <a:lnTo>
                    <a:pt x="1189037" y="1082887"/>
                  </a:lnTo>
                  <a:lnTo>
                    <a:pt x="1189356" y="1078741"/>
                  </a:lnTo>
                  <a:lnTo>
                    <a:pt x="1190632" y="1074276"/>
                  </a:lnTo>
                  <a:lnTo>
                    <a:pt x="1191588" y="1072043"/>
                  </a:lnTo>
                  <a:lnTo>
                    <a:pt x="1192864" y="1070130"/>
                  </a:lnTo>
                  <a:lnTo>
                    <a:pt x="1194140" y="1068535"/>
                  </a:lnTo>
                  <a:lnTo>
                    <a:pt x="1195735" y="1066621"/>
                  </a:lnTo>
                  <a:lnTo>
                    <a:pt x="1257289" y="967433"/>
                  </a:lnTo>
                  <a:lnTo>
                    <a:pt x="1258884" y="965838"/>
                  </a:lnTo>
                  <a:lnTo>
                    <a:pt x="1261435" y="965200"/>
                  </a:lnTo>
                  <a:close/>
                  <a:moveTo>
                    <a:pt x="346041" y="844550"/>
                  </a:moveTo>
                  <a:lnTo>
                    <a:pt x="350799" y="844550"/>
                  </a:lnTo>
                  <a:lnTo>
                    <a:pt x="658851" y="844550"/>
                  </a:lnTo>
                  <a:lnTo>
                    <a:pt x="663927" y="844550"/>
                  </a:lnTo>
                  <a:lnTo>
                    <a:pt x="669003" y="845185"/>
                  </a:lnTo>
                  <a:lnTo>
                    <a:pt x="673762" y="846773"/>
                  </a:lnTo>
                  <a:lnTo>
                    <a:pt x="678204" y="848043"/>
                  </a:lnTo>
                  <a:lnTo>
                    <a:pt x="682645" y="850265"/>
                  </a:lnTo>
                  <a:lnTo>
                    <a:pt x="686452" y="852805"/>
                  </a:lnTo>
                  <a:lnTo>
                    <a:pt x="690259" y="855345"/>
                  </a:lnTo>
                  <a:lnTo>
                    <a:pt x="693749" y="858838"/>
                  </a:lnTo>
                  <a:lnTo>
                    <a:pt x="697239" y="862330"/>
                  </a:lnTo>
                  <a:lnTo>
                    <a:pt x="699777" y="865823"/>
                  </a:lnTo>
                  <a:lnTo>
                    <a:pt x="702315" y="869950"/>
                  </a:lnTo>
                  <a:lnTo>
                    <a:pt x="704218" y="874395"/>
                  </a:lnTo>
                  <a:lnTo>
                    <a:pt x="705804" y="879158"/>
                  </a:lnTo>
                  <a:lnTo>
                    <a:pt x="707391" y="883920"/>
                  </a:lnTo>
                  <a:lnTo>
                    <a:pt x="708025" y="888683"/>
                  </a:lnTo>
                  <a:lnTo>
                    <a:pt x="708025" y="893763"/>
                  </a:lnTo>
                  <a:lnTo>
                    <a:pt x="708025" y="898843"/>
                  </a:lnTo>
                  <a:lnTo>
                    <a:pt x="707391" y="903605"/>
                  </a:lnTo>
                  <a:lnTo>
                    <a:pt x="705804" y="908368"/>
                  </a:lnTo>
                  <a:lnTo>
                    <a:pt x="704218" y="912495"/>
                  </a:lnTo>
                  <a:lnTo>
                    <a:pt x="702315" y="916940"/>
                  </a:lnTo>
                  <a:lnTo>
                    <a:pt x="699777" y="921068"/>
                  </a:lnTo>
                  <a:lnTo>
                    <a:pt x="697239" y="924878"/>
                  </a:lnTo>
                  <a:lnTo>
                    <a:pt x="693749" y="928370"/>
                  </a:lnTo>
                  <a:lnTo>
                    <a:pt x="690259" y="931545"/>
                  </a:lnTo>
                  <a:lnTo>
                    <a:pt x="686452" y="934403"/>
                  </a:lnTo>
                  <a:lnTo>
                    <a:pt x="682645" y="936943"/>
                  </a:lnTo>
                  <a:lnTo>
                    <a:pt x="678204" y="938848"/>
                  </a:lnTo>
                  <a:lnTo>
                    <a:pt x="673762" y="940753"/>
                  </a:lnTo>
                  <a:lnTo>
                    <a:pt x="669003" y="941705"/>
                  </a:lnTo>
                  <a:lnTo>
                    <a:pt x="663927" y="942658"/>
                  </a:lnTo>
                  <a:lnTo>
                    <a:pt x="658851" y="942975"/>
                  </a:lnTo>
                  <a:lnTo>
                    <a:pt x="350799" y="942975"/>
                  </a:lnTo>
                  <a:lnTo>
                    <a:pt x="346041" y="942658"/>
                  </a:lnTo>
                  <a:lnTo>
                    <a:pt x="340965" y="941705"/>
                  </a:lnTo>
                  <a:lnTo>
                    <a:pt x="336206" y="940753"/>
                  </a:lnTo>
                  <a:lnTo>
                    <a:pt x="331764" y="938848"/>
                  </a:lnTo>
                  <a:lnTo>
                    <a:pt x="327323" y="936943"/>
                  </a:lnTo>
                  <a:lnTo>
                    <a:pt x="323516" y="934403"/>
                  </a:lnTo>
                  <a:lnTo>
                    <a:pt x="319391" y="931545"/>
                  </a:lnTo>
                  <a:lnTo>
                    <a:pt x="316219" y="928370"/>
                  </a:lnTo>
                  <a:lnTo>
                    <a:pt x="312729" y="924878"/>
                  </a:lnTo>
                  <a:lnTo>
                    <a:pt x="309874" y="921068"/>
                  </a:lnTo>
                  <a:lnTo>
                    <a:pt x="307653" y="916940"/>
                  </a:lnTo>
                  <a:lnTo>
                    <a:pt x="305432" y="912495"/>
                  </a:lnTo>
                  <a:lnTo>
                    <a:pt x="303846" y="908368"/>
                  </a:lnTo>
                  <a:lnTo>
                    <a:pt x="302577" y="903605"/>
                  </a:lnTo>
                  <a:lnTo>
                    <a:pt x="301943" y="898843"/>
                  </a:lnTo>
                  <a:lnTo>
                    <a:pt x="301625" y="893763"/>
                  </a:lnTo>
                  <a:lnTo>
                    <a:pt x="301943" y="888683"/>
                  </a:lnTo>
                  <a:lnTo>
                    <a:pt x="302577" y="883920"/>
                  </a:lnTo>
                  <a:lnTo>
                    <a:pt x="303846" y="879158"/>
                  </a:lnTo>
                  <a:lnTo>
                    <a:pt x="305432" y="874395"/>
                  </a:lnTo>
                  <a:lnTo>
                    <a:pt x="307336" y="869950"/>
                  </a:lnTo>
                  <a:lnTo>
                    <a:pt x="309874" y="865823"/>
                  </a:lnTo>
                  <a:lnTo>
                    <a:pt x="312729" y="862330"/>
                  </a:lnTo>
                  <a:lnTo>
                    <a:pt x="316219" y="858838"/>
                  </a:lnTo>
                  <a:lnTo>
                    <a:pt x="319391" y="855345"/>
                  </a:lnTo>
                  <a:lnTo>
                    <a:pt x="323516" y="852805"/>
                  </a:lnTo>
                  <a:lnTo>
                    <a:pt x="327323" y="850265"/>
                  </a:lnTo>
                  <a:lnTo>
                    <a:pt x="331764" y="848043"/>
                  </a:lnTo>
                  <a:lnTo>
                    <a:pt x="336206" y="846773"/>
                  </a:lnTo>
                  <a:lnTo>
                    <a:pt x="340965" y="845185"/>
                  </a:lnTo>
                  <a:lnTo>
                    <a:pt x="346041" y="844550"/>
                  </a:lnTo>
                  <a:close/>
                  <a:moveTo>
                    <a:pt x="344144" y="590550"/>
                  </a:moveTo>
                  <a:lnTo>
                    <a:pt x="960782" y="590550"/>
                  </a:lnTo>
                  <a:lnTo>
                    <a:pt x="966812" y="591185"/>
                  </a:lnTo>
                  <a:lnTo>
                    <a:pt x="973159" y="592138"/>
                  </a:lnTo>
                  <a:lnTo>
                    <a:pt x="978871" y="593725"/>
                  </a:lnTo>
                  <a:lnTo>
                    <a:pt x="984584" y="595630"/>
                  </a:lnTo>
                  <a:lnTo>
                    <a:pt x="990296" y="598488"/>
                  </a:lnTo>
                  <a:lnTo>
                    <a:pt x="995374" y="601345"/>
                  </a:lnTo>
                  <a:lnTo>
                    <a:pt x="1000135" y="604838"/>
                  </a:lnTo>
                  <a:lnTo>
                    <a:pt x="1004260" y="608965"/>
                  </a:lnTo>
                  <a:lnTo>
                    <a:pt x="1008386" y="613410"/>
                  </a:lnTo>
                  <a:lnTo>
                    <a:pt x="1011560" y="617855"/>
                  </a:lnTo>
                  <a:lnTo>
                    <a:pt x="1015051" y="623253"/>
                  </a:lnTo>
                  <a:lnTo>
                    <a:pt x="1017590" y="628650"/>
                  </a:lnTo>
                  <a:lnTo>
                    <a:pt x="1019811" y="634048"/>
                  </a:lnTo>
                  <a:lnTo>
                    <a:pt x="1021081" y="639763"/>
                  </a:lnTo>
                  <a:lnTo>
                    <a:pt x="1021715" y="646113"/>
                  </a:lnTo>
                  <a:lnTo>
                    <a:pt x="1022350" y="652145"/>
                  </a:lnTo>
                  <a:lnTo>
                    <a:pt x="1021715" y="658813"/>
                  </a:lnTo>
                  <a:lnTo>
                    <a:pt x="1021081" y="664528"/>
                  </a:lnTo>
                  <a:lnTo>
                    <a:pt x="1019811" y="670878"/>
                  </a:lnTo>
                  <a:lnTo>
                    <a:pt x="1017590" y="676275"/>
                  </a:lnTo>
                  <a:lnTo>
                    <a:pt x="1015051" y="681673"/>
                  </a:lnTo>
                  <a:lnTo>
                    <a:pt x="1011560" y="686753"/>
                  </a:lnTo>
                  <a:lnTo>
                    <a:pt x="1008386" y="691515"/>
                  </a:lnTo>
                  <a:lnTo>
                    <a:pt x="1004260" y="695960"/>
                  </a:lnTo>
                  <a:lnTo>
                    <a:pt x="1000135" y="700088"/>
                  </a:lnTo>
                  <a:lnTo>
                    <a:pt x="995374" y="703580"/>
                  </a:lnTo>
                  <a:lnTo>
                    <a:pt x="990296" y="706438"/>
                  </a:lnTo>
                  <a:lnTo>
                    <a:pt x="984584" y="708978"/>
                  </a:lnTo>
                  <a:lnTo>
                    <a:pt x="978871" y="711200"/>
                  </a:lnTo>
                  <a:lnTo>
                    <a:pt x="973159" y="712788"/>
                  </a:lnTo>
                  <a:lnTo>
                    <a:pt x="966812" y="713740"/>
                  </a:lnTo>
                  <a:lnTo>
                    <a:pt x="960782" y="714375"/>
                  </a:lnTo>
                  <a:lnTo>
                    <a:pt x="344144" y="714375"/>
                  </a:lnTo>
                  <a:lnTo>
                    <a:pt x="338114" y="713740"/>
                  </a:lnTo>
                  <a:lnTo>
                    <a:pt x="331767" y="712788"/>
                  </a:lnTo>
                  <a:lnTo>
                    <a:pt x="326054" y="711200"/>
                  </a:lnTo>
                  <a:lnTo>
                    <a:pt x="320342" y="708978"/>
                  </a:lnTo>
                  <a:lnTo>
                    <a:pt x="314946" y="706438"/>
                  </a:lnTo>
                  <a:lnTo>
                    <a:pt x="309869" y="703580"/>
                  </a:lnTo>
                  <a:lnTo>
                    <a:pt x="305108" y="700088"/>
                  </a:lnTo>
                  <a:lnTo>
                    <a:pt x="300982" y="695960"/>
                  </a:lnTo>
                  <a:lnTo>
                    <a:pt x="296857" y="691515"/>
                  </a:lnTo>
                  <a:lnTo>
                    <a:pt x="293366" y="686753"/>
                  </a:lnTo>
                  <a:lnTo>
                    <a:pt x="290192" y="681673"/>
                  </a:lnTo>
                  <a:lnTo>
                    <a:pt x="287653" y="676275"/>
                  </a:lnTo>
                  <a:lnTo>
                    <a:pt x="285432" y="670878"/>
                  </a:lnTo>
                  <a:lnTo>
                    <a:pt x="284162" y="664528"/>
                  </a:lnTo>
                  <a:lnTo>
                    <a:pt x="282893" y="658813"/>
                  </a:lnTo>
                  <a:lnTo>
                    <a:pt x="282575" y="652145"/>
                  </a:lnTo>
                  <a:lnTo>
                    <a:pt x="282893" y="646113"/>
                  </a:lnTo>
                  <a:lnTo>
                    <a:pt x="284162" y="639763"/>
                  </a:lnTo>
                  <a:lnTo>
                    <a:pt x="285432" y="634048"/>
                  </a:lnTo>
                  <a:lnTo>
                    <a:pt x="287653" y="628650"/>
                  </a:lnTo>
                  <a:lnTo>
                    <a:pt x="290192" y="623253"/>
                  </a:lnTo>
                  <a:lnTo>
                    <a:pt x="293366" y="617855"/>
                  </a:lnTo>
                  <a:lnTo>
                    <a:pt x="296857" y="613410"/>
                  </a:lnTo>
                  <a:lnTo>
                    <a:pt x="300982" y="608965"/>
                  </a:lnTo>
                  <a:lnTo>
                    <a:pt x="305108" y="604838"/>
                  </a:lnTo>
                  <a:lnTo>
                    <a:pt x="309869" y="601345"/>
                  </a:lnTo>
                  <a:lnTo>
                    <a:pt x="314946" y="598488"/>
                  </a:lnTo>
                  <a:lnTo>
                    <a:pt x="320342" y="595630"/>
                  </a:lnTo>
                  <a:lnTo>
                    <a:pt x="326054" y="593725"/>
                  </a:lnTo>
                  <a:lnTo>
                    <a:pt x="331767" y="592138"/>
                  </a:lnTo>
                  <a:lnTo>
                    <a:pt x="338114" y="591185"/>
                  </a:lnTo>
                  <a:lnTo>
                    <a:pt x="344144" y="590550"/>
                  </a:lnTo>
                  <a:close/>
                  <a:moveTo>
                    <a:pt x="1750865" y="411163"/>
                  </a:moveTo>
                  <a:lnTo>
                    <a:pt x="1754043" y="411481"/>
                  </a:lnTo>
                  <a:lnTo>
                    <a:pt x="1757540" y="411798"/>
                  </a:lnTo>
                  <a:lnTo>
                    <a:pt x="1760718" y="413068"/>
                  </a:lnTo>
                  <a:lnTo>
                    <a:pt x="1764214" y="414021"/>
                  </a:lnTo>
                  <a:lnTo>
                    <a:pt x="1767710" y="414973"/>
                  </a:lnTo>
                  <a:lnTo>
                    <a:pt x="1770889" y="416878"/>
                  </a:lnTo>
                  <a:lnTo>
                    <a:pt x="1777563" y="421006"/>
                  </a:lnTo>
                  <a:lnTo>
                    <a:pt x="1784555" y="425768"/>
                  </a:lnTo>
                  <a:lnTo>
                    <a:pt x="1790912" y="431166"/>
                  </a:lnTo>
                  <a:lnTo>
                    <a:pt x="1797904" y="437198"/>
                  </a:lnTo>
                  <a:lnTo>
                    <a:pt x="1812207" y="451486"/>
                  </a:lnTo>
                  <a:lnTo>
                    <a:pt x="1827145" y="466408"/>
                  </a:lnTo>
                  <a:lnTo>
                    <a:pt x="1836680" y="476251"/>
                  </a:lnTo>
                  <a:lnTo>
                    <a:pt x="1851935" y="491173"/>
                  </a:lnTo>
                  <a:lnTo>
                    <a:pt x="1865920" y="505461"/>
                  </a:lnTo>
                  <a:lnTo>
                    <a:pt x="1872277" y="512446"/>
                  </a:lnTo>
                  <a:lnTo>
                    <a:pt x="1877680" y="519431"/>
                  </a:lnTo>
                  <a:lnTo>
                    <a:pt x="1882447" y="525781"/>
                  </a:lnTo>
                  <a:lnTo>
                    <a:pt x="1886579" y="532766"/>
                  </a:lnTo>
                  <a:lnTo>
                    <a:pt x="1888486" y="536258"/>
                  </a:lnTo>
                  <a:lnTo>
                    <a:pt x="1889439" y="539433"/>
                  </a:lnTo>
                  <a:lnTo>
                    <a:pt x="1891029" y="542608"/>
                  </a:lnTo>
                  <a:lnTo>
                    <a:pt x="1891664" y="546101"/>
                  </a:lnTo>
                  <a:lnTo>
                    <a:pt x="1891982" y="549593"/>
                  </a:lnTo>
                  <a:lnTo>
                    <a:pt x="1892300" y="552768"/>
                  </a:lnTo>
                  <a:lnTo>
                    <a:pt x="1892300" y="556261"/>
                  </a:lnTo>
                  <a:lnTo>
                    <a:pt x="1891664" y="559753"/>
                  </a:lnTo>
                  <a:lnTo>
                    <a:pt x="1891029" y="562928"/>
                  </a:lnTo>
                  <a:lnTo>
                    <a:pt x="1889757" y="566738"/>
                  </a:lnTo>
                  <a:lnTo>
                    <a:pt x="1888486" y="570231"/>
                  </a:lnTo>
                  <a:lnTo>
                    <a:pt x="1886261" y="574041"/>
                  </a:lnTo>
                  <a:lnTo>
                    <a:pt x="1884036" y="577533"/>
                  </a:lnTo>
                  <a:lnTo>
                    <a:pt x="1881176" y="581343"/>
                  </a:lnTo>
                  <a:lnTo>
                    <a:pt x="1877680" y="585153"/>
                  </a:lnTo>
                  <a:lnTo>
                    <a:pt x="1874184" y="588963"/>
                  </a:lnTo>
                  <a:lnTo>
                    <a:pt x="1476895" y="985838"/>
                  </a:lnTo>
                  <a:lnTo>
                    <a:pt x="1472763" y="989966"/>
                  </a:lnTo>
                  <a:lnTo>
                    <a:pt x="1468313" y="993458"/>
                  </a:lnTo>
                  <a:lnTo>
                    <a:pt x="1464182" y="996633"/>
                  </a:lnTo>
                  <a:lnTo>
                    <a:pt x="1459732" y="999808"/>
                  </a:lnTo>
                  <a:lnTo>
                    <a:pt x="1455282" y="1002348"/>
                  </a:lnTo>
                  <a:lnTo>
                    <a:pt x="1450515" y="1004888"/>
                  </a:lnTo>
                  <a:lnTo>
                    <a:pt x="1446065" y="1007111"/>
                  </a:lnTo>
                  <a:lnTo>
                    <a:pt x="1440980" y="1009016"/>
                  </a:lnTo>
                  <a:lnTo>
                    <a:pt x="1436212" y="1010921"/>
                  </a:lnTo>
                  <a:lnTo>
                    <a:pt x="1431445" y="1012826"/>
                  </a:lnTo>
                  <a:lnTo>
                    <a:pt x="1426360" y="1013778"/>
                  </a:lnTo>
                  <a:lnTo>
                    <a:pt x="1421274" y="1015366"/>
                  </a:lnTo>
                  <a:lnTo>
                    <a:pt x="1416507" y="1016001"/>
                  </a:lnTo>
                  <a:lnTo>
                    <a:pt x="1411422" y="1016953"/>
                  </a:lnTo>
                  <a:lnTo>
                    <a:pt x="1406336" y="1017271"/>
                  </a:lnTo>
                  <a:lnTo>
                    <a:pt x="1401569" y="1017588"/>
                  </a:lnTo>
                  <a:lnTo>
                    <a:pt x="1396484" y="1017588"/>
                  </a:lnTo>
                  <a:lnTo>
                    <a:pt x="1391716" y="1017271"/>
                  </a:lnTo>
                  <a:lnTo>
                    <a:pt x="1386949" y="1016953"/>
                  </a:lnTo>
                  <a:lnTo>
                    <a:pt x="1382499" y="1015683"/>
                  </a:lnTo>
                  <a:lnTo>
                    <a:pt x="1377731" y="1015048"/>
                  </a:lnTo>
                  <a:lnTo>
                    <a:pt x="1373282" y="1013461"/>
                  </a:lnTo>
                  <a:lnTo>
                    <a:pt x="1368832" y="1012191"/>
                  </a:lnTo>
                  <a:lnTo>
                    <a:pt x="1364700" y="1010286"/>
                  </a:lnTo>
                  <a:lnTo>
                    <a:pt x="1360886" y="1008063"/>
                  </a:lnTo>
                  <a:lnTo>
                    <a:pt x="1357072" y="1005523"/>
                  </a:lnTo>
                  <a:lnTo>
                    <a:pt x="1353576" y="1002983"/>
                  </a:lnTo>
                  <a:lnTo>
                    <a:pt x="1350080" y="1000126"/>
                  </a:lnTo>
                  <a:lnTo>
                    <a:pt x="1347220" y="996633"/>
                  </a:lnTo>
                  <a:lnTo>
                    <a:pt x="1344359" y="993458"/>
                  </a:lnTo>
                  <a:lnTo>
                    <a:pt x="1341817" y="989331"/>
                  </a:lnTo>
                  <a:lnTo>
                    <a:pt x="1339274" y="985521"/>
                  </a:lnTo>
                  <a:lnTo>
                    <a:pt x="1337367" y="981076"/>
                  </a:lnTo>
                  <a:lnTo>
                    <a:pt x="1335778" y="976313"/>
                  </a:lnTo>
                  <a:lnTo>
                    <a:pt x="1326561" y="967106"/>
                  </a:lnTo>
                  <a:lnTo>
                    <a:pt x="1322111" y="965518"/>
                  </a:lnTo>
                  <a:lnTo>
                    <a:pt x="1317979" y="963296"/>
                  </a:lnTo>
                  <a:lnTo>
                    <a:pt x="1314165" y="961073"/>
                  </a:lnTo>
                  <a:lnTo>
                    <a:pt x="1310351" y="958851"/>
                  </a:lnTo>
                  <a:lnTo>
                    <a:pt x="1307173" y="956311"/>
                  </a:lnTo>
                  <a:lnTo>
                    <a:pt x="1303995" y="953453"/>
                  </a:lnTo>
                  <a:lnTo>
                    <a:pt x="1301134" y="950913"/>
                  </a:lnTo>
                  <a:lnTo>
                    <a:pt x="1298274" y="948056"/>
                  </a:lnTo>
                  <a:lnTo>
                    <a:pt x="1295731" y="944563"/>
                  </a:lnTo>
                  <a:lnTo>
                    <a:pt x="1293824" y="941706"/>
                  </a:lnTo>
                  <a:lnTo>
                    <a:pt x="1291599" y="938531"/>
                  </a:lnTo>
                  <a:lnTo>
                    <a:pt x="1289692" y="935038"/>
                  </a:lnTo>
                  <a:lnTo>
                    <a:pt x="1288103" y="931546"/>
                  </a:lnTo>
                  <a:lnTo>
                    <a:pt x="1286832" y="928371"/>
                  </a:lnTo>
                  <a:lnTo>
                    <a:pt x="1284607" y="921068"/>
                  </a:lnTo>
                  <a:lnTo>
                    <a:pt x="1283336" y="913448"/>
                  </a:lnTo>
                  <a:lnTo>
                    <a:pt x="1282700" y="905511"/>
                  </a:lnTo>
                  <a:lnTo>
                    <a:pt x="1283018" y="897573"/>
                  </a:lnTo>
                  <a:lnTo>
                    <a:pt x="1283971" y="889953"/>
                  </a:lnTo>
                  <a:lnTo>
                    <a:pt x="1285560" y="882016"/>
                  </a:lnTo>
                  <a:lnTo>
                    <a:pt x="1287785" y="874078"/>
                  </a:lnTo>
                  <a:lnTo>
                    <a:pt x="1290646" y="866141"/>
                  </a:lnTo>
                  <a:lnTo>
                    <a:pt x="1294142" y="858521"/>
                  </a:lnTo>
                  <a:lnTo>
                    <a:pt x="1298909" y="849948"/>
                  </a:lnTo>
                  <a:lnTo>
                    <a:pt x="1304313" y="841376"/>
                  </a:lnTo>
                  <a:lnTo>
                    <a:pt x="1310351" y="833756"/>
                  </a:lnTo>
                  <a:lnTo>
                    <a:pt x="1317026" y="826136"/>
                  </a:lnTo>
                  <a:lnTo>
                    <a:pt x="1714315" y="429261"/>
                  </a:lnTo>
                  <a:lnTo>
                    <a:pt x="1718446" y="425768"/>
                  </a:lnTo>
                  <a:lnTo>
                    <a:pt x="1721943" y="422276"/>
                  </a:lnTo>
                  <a:lnTo>
                    <a:pt x="1726074" y="419736"/>
                  </a:lnTo>
                  <a:lnTo>
                    <a:pt x="1729571" y="417196"/>
                  </a:lnTo>
                  <a:lnTo>
                    <a:pt x="1733384" y="415608"/>
                  </a:lnTo>
                  <a:lnTo>
                    <a:pt x="1736881" y="414021"/>
                  </a:lnTo>
                  <a:lnTo>
                    <a:pt x="1740377" y="412433"/>
                  </a:lnTo>
                  <a:lnTo>
                    <a:pt x="1743873" y="411798"/>
                  </a:lnTo>
                  <a:lnTo>
                    <a:pt x="1747051" y="411481"/>
                  </a:lnTo>
                  <a:lnTo>
                    <a:pt x="1750865" y="411163"/>
                  </a:lnTo>
                  <a:close/>
                  <a:moveTo>
                    <a:pt x="198373" y="319088"/>
                  </a:moveTo>
                  <a:lnTo>
                    <a:pt x="1557783" y="319088"/>
                  </a:lnTo>
                  <a:lnTo>
                    <a:pt x="1453042" y="423822"/>
                  </a:lnTo>
                  <a:lnTo>
                    <a:pt x="315492" y="423822"/>
                  </a:lnTo>
                  <a:lnTo>
                    <a:pt x="305336" y="424140"/>
                  </a:lnTo>
                  <a:lnTo>
                    <a:pt x="295179" y="424774"/>
                  </a:lnTo>
                  <a:lnTo>
                    <a:pt x="285340" y="426361"/>
                  </a:lnTo>
                  <a:lnTo>
                    <a:pt x="275500" y="427631"/>
                  </a:lnTo>
                  <a:lnTo>
                    <a:pt x="265979" y="429852"/>
                  </a:lnTo>
                  <a:lnTo>
                    <a:pt x="256457" y="433026"/>
                  </a:lnTo>
                  <a:lnTo>
                    <a:pt x="247570" y="435882"/>
                  </a:lnTo>
                  <a:lnTo>
                    <a:pt x="238365" y="439374"/>
                  </a:lnTo>
                  <a:lnTo>
                    <a:pt x="229478" y="443499"/>
                  </a:lnTo>
                  <a:lnTo>
                    <a:pt x="221226" y="447943"/>
                  </a:lnTo>
                  <a:lnTo>
                    <a:pt x="212973" y="452703"/>
                  </a:lnTo>
                  <a:lnTo>
                    <a:pt x="204721" y="457781"/>
                  </a:lnTo>
                  <a:lnTo>
                    <a:pt x="196786" y="463494"/>
                  </a:lnTo>
                  <a:lnTo>
                    <a:pt x="189486" y="469207"/>
                  </a:lnTo>
                  <a:lnTo>
                    <a:pt x="182186" y="475554"/>
                  </a:lnTo>
                  <a:lnTo>
                    <a:pt x="175203" y="481902"/>
                  </a:lnTo>
                  <a:lnTo>
                    <a:pt x="168855" y="488884"/>
                  </a:lnTo>
                  <a:lnTo>
                    <a:pt x="162507" y="496184"/>
                  </a:lnTo>
                  <a:lnTo>
                    <a:pt x="156794" y="503483"/>
                  </a:lnTo>
                  <a:lnTo>
                    <a:pt x="151398" y="511100"/>
                  </a:lnTo>
                  <a:lnTo>
                    <a:pt x="145685" y="519670"/>
                  </a:lnTo>
                  <a:lnTo>
                    <a:pt x="140924" y="527604"/>
                  </a:lnTo>
                  <a:lnTo>
                    <a:pt x="136798" y="536490"/>
                  </a:lnTo>
                  <a:lnTo>
                    <a:pt x="132672" y="545060"/>
                  </a:lnTo>
                  <a:lnTo>
                    <a:pt x="129498" y="554263"/>
                  </a:lnTo>
                  <a:lnTo>
                    <a:pt x="126007" y="563150"/>
                  </a:lnTo>
                  <a:lnTo>
                    <a:pt x="123468" y="572671"/>
                  </a:lnTo>
                  <a:lnTo>
                    <a:pt x="121246" y="582193"/>
                  </a:lnTo>
                  <a:lnTo>
                    <a:pt x="119659" y="592031"/>
                  </a:lnTo>
                  <a:lnTo>
                    <a:pt x="118072" y="601870"/>
                  </a:lnTo>
                  <a:lnTo>
                    <a:pt x="117437" y="612026"/>
                  </a:lnTo>
                  <a:lnTo>
                    <a:pt x="117437" y="622182"/>
                  </a:lnTo>
                  <a:lnTo>
                    <a:pt x="117437" y="1633658"/>
                  </a:lnTo>
                  <a:lnTo>
                    <a:pt x="117437" y="1643814"/>
                  </a:lnTo>
                  <a:lnTo>
                    <a:pt x="118072" y="1653970"/>
                  </a:lnTo>
                  <a:lnTo>
                    <a:pt x="119659" y="1663808"/>
                  </a:lnTo>
                  <a:lnTo>
                    <a:pt x="121246" y="1673647"/>
                  </a:lnTo>
                  <a:lnTo>
                    <a:pt x="123468" y="1683168"/>
                  </a:lnTo>
                  <a:lnTo>
                    <a:pt x="126007" y="1692689"/>
                  </a:lnTo>
                  <a:lnTo>
                    <a:pt x="129498" y="1701576"/>
                  </a:lnTo>
                  <a:lnTo>
                    <a:pt x="132672" y="1710780"/>
                  </a:lnTo>
                  <a:lnTo>
                    <a:pt x="136798" y="1719666"/>
                  </a:lnTo>
                  <a:lnTo>
                    <a:pt x="140924" y="1728235"/>
                  </a:lnTo>
                  <a:lnTo>
                    <a:pt x="145685" y="1736170"/>
                  </a:lnTo>
                  <a:lnTo>
                    <a:pt x="151398" y="1744739"/>
                  </a:lnTo>
                  <a:lnTo>
                    <a:pt x="156794" y="1752356"/>
                  </a:lnTo>
                  <a:lnTo>
                    <a:pt x="162507" y="1759656"/>
                  </a:lnTo>
                  <a:lnTo>
                    <a:pt x="168855" y="1766955"/>
                  </a:lnTo>
                  <a:lnTo>
                    <a:pt x="175203" y="1773938"/>
                  </a:lnTo>
                  <a:lnTo>
                    <a:pt x="182186" y="1780285"/>
                  </a:lnTo>
                  <a:lnTo>
                    <a:pt x="189486" y="1786633"/>
                  </a:lnTo>
                  <a:lnTo>
                    <a:pt x="196786" y="1792345"/>
                  </a:lnTo>
                  <a:lnTo>
                    <a:pt x="204721" y="1798375"/>
                  </a:lnTo>
                  <a:lnTo>
                    <a:pt x="212973" y="1803453"/>
                  </a:lnTo>
                  <a:lnTo>
                    <a:pt x="221226" y="1808214"/>
                  </a:lnTo>
                  <a:lnTo>
                    <a:pt x="229478" y="1812340"/>
                  </a:lnTo>
                  <a:lnTo>
                    <a:pt x="238365" y="1816466"/>
                  </a:lnTo>
                  <a:lnTo>
                    <a:pt x="247570" y="1819640"/>
                  </a:lnTo>
                  <a:lnTo>
                    <a:pt x="256457" y="1823131"/>
                  </a:lnTo>
                  <a:lnTo>
                    <a:pt x="265979" y="1825670"/>
                  </a:lnTo>
                  <a:lnTo>
                    <a:pt x="275500" y="1827891"/>
                  </a:lnTo>
                  <a:lnTo>
                    <a:pt x="285340" y="1829478"/>
                  </a:lnTo>
                  <a:lnTo>
                    <a:pt x="295179" y="1831065"/>
                  </a:lnTo>
                  <a:lnTo>
                    <a:pt x="305336" y="1831700"/>
                  </a:lnTo>
                  <a:lnTo>
                    <a:pt x="315492" y="1831700"/>
                  </a:lnTo>
                  <a:lnTo>
                    <a:pt x="1632371" y="1831700"/>
                  </a:lnTo>
                  <a:lnTo>
                    <a:pt x="1642527" y="1831700"/>
                  </a:lnTo>
                  <a:lnTo>
                    <a:pt x="1652367" y="1831065"/>
                  </a:lnTo>
                  <a:lnTo>
                    <a:pt x="1662523" y="1829478"/>
                  </a:lnTo>
                  <a:lnTo>
                    <a:pt x="1672045" y="1827891"/>
                  </a:lnTo>
                  <a:lnTo>
                    <a:pt x="1681885" y="1825670"/>
                  </a:lnTo>
                  <a:lnTo>
                    <a:pt x="1691089" y="1823131"/>
                  </a:lnTo>
                  <a:lnTo>
                    <a:pt x="1700611" y="1819640"/>
                  </a:lnTo>
                  <a:lnTo>
                    <a:pt x="1709181" y="1816466"/>
                  </a:lnTo>
                  <a:lnTo>
                    <a:pt x="1718385" y="1812340"/>
                  </a:lnTo>
                  <a:lnTo>
                    <a:pt x="1726637" y="1808214"/>
                  </a:lnTo>
                  <a:lnTo>
                    <a:pt x="1735207" y="1803453"/>
                  </a:lnTo>
                  <a:lnTo>
                    <a:pt x="1743142" y="1798375"/>
                  </a:lnTo>
                  <a:lnTo>
                    <a:pt x="1750760" y="1792345"/>
                  </a:lnTo>
                  <a:lnTo>
                    <a:pt x="1758377" y="1786633"/>
                  </a:lnTo>
                  <a:lnTo>
                    <a:pt x="1765677" y="1780285"/>
                  </a:lnTo>
                  <a:lnTo>
                    <a:pt x="1772660" y="1773938"/>
                  </a:lnTo>
                  <a:lnTo>
                    <a:pt x="1779325" y="1766955"/>
                  </a:lnTo>
                  <a:lnTo>
                    <a:pt x="1785356" y="1759973"/>
                  </a:lnTo>
                  <a:lnTo>
                    <a:pt x="1791069" y="1752356"/>
                  </a:lnTo>
                  <a:lnTo>
                    <a:pt x="1796782" y="1744739"/>
                  </a:lnTo>
                  <a:lnTo>
                    <a:pt x="1801861" y="1736805"/>
                  </a:lnTo>
                  <a:lnTo>
                    <a:pt x="1806621" y="1728235"/>
                  </a:lnTo>
                  <a:lnTo>
                    <a:pt x="1810748" y="1719666"/>
                  </a:lnTo>
                  <a:lnTo>
                    <a:pt x="1814874" y="1710780"/>
                  </a:lnTo>
                  <a:lnTo>
                    <a:pt x="1818683" y="1702211"/>
                  </a:lnTo>
                  <a:lnTo>
                    <a:pt x="1821857" y="1692689"/>
                  </a:lnTo>
                  <a:lnTo>
                    <a:pt x="1824396" y="1683168"/>
                  </a:lnTo>
                  <a:lnTo>
                    <a:pt x="1826617" y="1673647"/>
                  </a:lnTo>
                  <a:lnTo>
                    <a:pt x="1828522" y="1663808"/>
                  </a:lnTo>
                  <a:lnTo>
                    <a:pt x="1829474" y="1653970"/>
                  </a:lnTo>
                  <a:lnTo>
                    <a:pt x="1830109" y="1643814"/>
                  </a:lnTo>
                  <a:lnTo>
                    <a:pt x="1830426" y="1633658"/>
                  </a:lnTo>
                  <a:lnTo>
                    <a:pt x="1830426" y="1113162"/>
                  </a:lnTo>
                  <a:lnTo>
                    <a:pt x="1830426" y="773570"/>
                  </a:lnTo>
                  <a:lnTo>
                    <a:pt x="1947863" y="656458"/>
                  </a:lnTo>
                  <a:lnTo>
                    <a:pt x="1947863" y="1738391"/>
                  </a:lnTo>
                  <a:lnTo>
                    <a:pt x="1947546" y="1748865"/>
                  </a:lnTo>
                  <a:lnTo>
                    <a:pt x="1946911" y="1758704"/>
                  </a:lnTo>
                  <a:lnTo>
                    <a:pt x="1945324" y="1768860"/>
                  </a:lnTo>
                  <a:lnTo>
                    <a:pt x="1943419" y="1778063"/>
                  </a:lnTo>
                  <a:lnTo>
                    <a:pt x="1941198" y="1787902"/>
                  </a:lnTo>
                  <a:lnTo>
                    <a:pt x="1938659" y="1797423"/>
                  </a:lnTo>
                  <a:lnTo>
                    <a:pt x="1935802" y="1806627"/>
                  </a:lnTo>
                  <a:lnTo>
                    <a:pt x="1932311" y="1815831"/>
                  </a:lnTo>
                  <a:lnTo>
                    <a:pt x="1928184" y="1824400"/>
                  </a:lnTo>
                  <a:lnTo>
                    <a:pt x="1923741" y="1832969"/>
                  </a:lnTo>
                  <a:lnTo>
                    <a:pt x="1918980" y="1841221"/>
                  </a:lnTo>
                  <a:lnTo>
                    <a:pt x="1913902" y="1849156"/>
                  </a:lnTo>
                  <a:lnTo>
                    <a:pt x="1908188" y="1856773"/>
                  </a:lnTo>
                  <a:lnTo>
                    <a:pt x="1902475" y="1864707"/>
                  </a:lnTo>
                  <a:lnTo>
                    <a:pt x="1896127" y="1871689"/>
                  </a:lnTo>
                  <a:lnTo>
                    <a:pt x="1889462" y="1878671"/>
                  </a:lnTo>
                  <a:lnTo>
                    <a:pt x="1882797" y="1885336"/>
                  </a:lnTo>
                  <a:lnTo>
                    <a:pt x="1875497" y="1891366"/>
                  </a:lnTo>
                  <a:lnTo>
                    <a:pt x="1868197" y="1897397"/>
                  </a:lnTo>
                  <a:lnTo>
                    <a:pt x="1860579" y="1902792"/>
                  </a:lnTo>
                  <a:lnTo>
                    <a:pt x="1852327" y="1907870"/>
                  </a:lnTo>
                  <a:lnTo>
                    <a:pt x="1844074" y="1912631"/>
                  </a:lnTo>
                  <a:lnTo>
                    <a:pt x="1835187" y="1917074"/>
                  </a:lnTo>
                  <a:lnTo>
                    <a:pt x="1826617" y="1920882"/>
                  </a:lnTo>
                  <a:lnTo>
                    <a:pt x="1817413" y="1924691"/>
                  </a:lnTo>
                  <a:lnTo>
                    <a:pt x="1808209" y="1927865"/>
                  </a:lnTo>
                  <a:lnTo>
                    <a:pt x="1799004" y="1930404"/>
                  </a:lnTo>
                  <a:lnTo>
                    <a:pt x="1789482" y="1932625"/>
                  </a:lnTo>
                  <a:lnTo>
                    <a:pt x="1779643" y="1934530"/>
                  </a:lnTo>
                  <a:lnTo>
                    <a:pt x="1769803" y="1935482"/>
                  </a:lnTo>
                  <a:lnTo>
                    <a:pt x="1759647" y="1936434"/>
                  </a:lnTo>
                  <a:lnTo>
                    <a:pt x="1749173" y="1936751"/>
                  </a:lnTo>
                  <a:lnTo>
                    <a:pt x="198373" y="1936751"/>
                  </a:lnTo>
                  <a:lnTo>
                    <a:pt x="188216" y="1936434"/>
                  </a:lnTo>
                  <a:lnTo>
                    <a:pt x="178377" y="1935482"/>
                  </a:lnTo>
                  <a:lnTo>
                    <a:pt x="168538" y="1934530"/>
                  </a:lnTo>
                  <a:lnTo>
                    <a:pt x="158699" y="1932625"/>
                  </a:lnTo>
                  <a:lnTo>
                    <a:pt x="148859" y="1930404"/>
                  </a:lnTo>
                  <a:lnTo>
                    <a:pt x="139655" y="1927865"/>
                  </a:lnTo>
                  <a:lnTo>
                    <a:pt x="130133" y="1924691"/>
                  </a:lnTo>
                  <a:lnTo>
                    <a:pt x="121246" y="1920882"/>
                  </a:lnTo>
                  <a:lnTo>
                    <a:pt x="112359" y="1917074"/>
                  </a:lnTo>
                  <a:lnTo>
                    <a:pt x="103789" y="1912631"/>
                  </a:lnTo>
                  <a:lnTo>
                    <a:pt x="95537" y="1907870"/>
                  </a:lnTo>
                  <a:lnTo>
                    <a:pt x="87602" y="1902792"/>
                  </a:lnTo>
                  <a:lnTo>
                    <a:pt x="79984" y="1897397"/>
                  </a:lnTo>
                  <a:lnTo>
                    <a:pt x="72049" y="1891366"/>
                  </a:lnTo>
                  <a:lnTo>
                    <a:pt x="65067" y="1885336"/>
                  </a:lnTo>
                  <a:lnTo>
                    <a:pt x="58084" y="1878671"/>
                  </a:lnTo>
                  <a:lnTo>
                    <a:pt x="51418" y="1871689"/>
                  </a:lnTo>
                  <a:lnTo>
                    <a:pt x="45388" y="1864707"/>
                  </a:lnTo>
                  <a:lnTo>
                    <a:pt x="39357" y="1856773"/>
                  </a:lnTo>
                  <a:lnTo>
                    <a:pt x="33962" y="1849156"/>
                  </a:lnTo>
                  <a:lnTo>
                    <a:pt x="28883" y="1841221"/>
                  </a:lnTo>
                  <a:lnTo>
                    <a:pt x="24122" y="1832969"/>
                  </a:lnTo>
                  <a:lnTo>
                    <a:pt x="19679" y="1824400"/>
                  </a:lnTo>
                  <a:lnTo>
                    <a:pt x="15870" y="1815831"/>
                  </a:lnTo>
                  <a:lnTo>
                    <a:pt x="12061" y="1806627"/>
                  </a:lnTo>
                  <a:lnTo>
                    <a:pt x="8887" y="1797423"/>
                  </a:lnTo>
                  <a:lnTo>
                    <a:pt x="6348" y="1787902"/>
                  </a:lnTo>
                  <a:lnTo>
                    <a:pt x="4126" y="1778063"/>
                  </a:lnTo>
                  <a:lnTo>
                    <a:pt x="2222" y="1768860"/>
                  </a:lnTo>
                  <a:lnTo>
                    <a:pt x="1270" y="1758704"/>
                  </a:lnTo>
                  <a:lnTo>
                    <a:pt x="318" y="1748865"/>
                  </a:lnTo>
                  <a:lnTo>
                    <a:pt x="0" y="1738391"/>
                  </a:lnTo>
                  <a:lnTo>
                    <a:pt x="0" y="517448"/>
                  </a:lnTo>
                  <a:lnTo>
                    <a:pt x="318" y="507292"/>
                  </a:lnTo>
                  <a:lnTo>
                    <a:pt x="1270" y="497453"/>
                  </a:lnTo>
                  <a:lnTo>
                    <a:pt x="2222" y="487297"/>
                  </a:lnTo>
                  <a:lnTo>
                    <a:pt x="4126" y="477776"/>
                  </a:lnTo>
                  <a:lnTo>
                    <a:pt x="6348" y="467937"/>
                  </a:lnTo>
                  <a:lnTo>
                    <a:pt x="8887" y="458416"/>
                  </a:lnTo>
                  <a:lnTo>
                    <a:pt x="12061" y="449212"/>
                  </a:lnTo>
                  <a:lnTo>
                    <a:pt x="15870" y="440008"/>
                  </a:lnTo>
                  <a:lnTo>
                    <a:pt x="19679" y="431439"/>
                  </a:lnTo>
                  <a:lnTo>
                    <a:pt x="24122" y="423187"/>
                  </a:lnTo>
                  <a:lnTo>
                    <a:pt x="28883" y="414618"/>
                  </a:lnTo>
                  <a:lnTo>
                    <a:pt x="33962" y="406684"/>
                  </a:lnTo>
                  <a:lnTo>
                    <a:pt x="39357" y="399067"/>
                  </a:lnTo>
                  <a:lnTo>
                    <a:pt x="45388" y="391450"/>
                  </a:lnTo>
                  <a:lnTo>
                    <a:pt x="51418" y="384150"/>
                  </a:lnTo>
                  <a:lnTo>
                    <a:pt x="58084" y="377168"/>
                  </a:lnTo>
                  <a:lnTo>
                    <a:pt x="65067" y="370503"/>
                  </a:lnTo>
                  <a:lnTo>
                    <a:pt x="72049" y="364473"/>
                  </a:lnTo>
                  <a:lnTo>
                    <a:pt x="79984" y="358443"/>
                  </a:lnTo>
                  <a:lnTo>
                    <a:pt x="87602" y="353047"/>
                  </a:lnTo>
                  <a:lnTo>
                    <a:pt x="95537" y="347969"/>
                  </a:lnTo>
                  <a:lnTo>
                    <a:pt x="103789" y="343209"/>
                  </a:lnTo>
                  <a:lnTo>
                    <a:pt x="112359" y="338766"/>
                  </a:lnTo>
                  <a:lnTo>
                    <a:pt x="121246" y="334957"/>
                  </a:lnTo>
                  <a:lnTo>
                    <a:pt x="130133" y="331149"/>
                  </a:lnTo>
                  <a:lnTo>
                    <a:pt x="139655" y="328292"/>
                  </a:lnTo>
                  <a:lnTo>
                    <a:pt x="148859" y="325436"/>
                  </a:lnTo>
                  <a:lnTo>
                    <a:pt x="158699" y="323214"/>
                  </a:lnTo>
                  <a:lnTo>
                    <a:pt x="168538" y="321310"/>
                  </a:lnTo>
                  <a:lnTo>
                    <a:pt x="178377" y="320358"/>
                  </a:lnTo>
                  <a:lnTo>
                    <a:pt x="188216" y="319723"/>
                  </a:lnTo>
                  <a:lnTo>
                    <a:pt x="198373" y="319088"/>
                  </a:lnTo>
                  <a:close/>
                  <a:moveTo>
                    <a:pt x="2076641" y="106363"/>
                  </a:moveTo>
                  <a:lnTo>
                    <a:pt x="2082030" y="106363"/>
                  </a:lnTo>
                  <a:lnTo>
                    <a:pt x="2087102" y="106363"/>
                  </a:lnTo>
                  <a:lnTo>
                    <a:pt x="2092174" y="106679"/>
                  </a:lnTo>
                  <a:lnTo>
                    <a:pt x="2097246" y="107313"/>
                  </a:lnTo>
                  <a:lnTo>
                    <a:pt x="2102318" y="108263"/>
                  </a:lnTo>
                  <a:lnTo>
                    <a:pt x="2107390" y="109213"/>
                  </a:lnTo>
                  <a:lnTo>
                    <a:pt x="2112145" y="110797"/>
                  </a:lnTo>
                  <a:lnTo>
                    <a:pt x="2117217" y="112064"/>
                  </a:lnTo>
                  <a:lnTo>
                    <a:pt x="2121972" y="113965"/>
                  </a:lnTo>
                  <a:lnTo>
                    <a:pt x="2126727" y="116182"/>
                  </a:lnTo>
                  <a:lnTo>
                    <a:pt x="2131482" y="118399"/>
                  </a:lnTo>
                  <a:lnTo>
                    <a:pt x="2136237" y="120933"/>
                  </a:lnTo>
                  <a:lnTo>
                    <a:pt x="2140358" y="123784"/>
                  </a:lnTo>
                  <a:lnTo>
                    <a:pt x="2144796" y="126634"/>
                  </a:lnTo>
                  <a:lnTo>
                    <a:pt x="2148916" y="130119"/>
                  </a:lnTo>
                  <a:lnTo>
                    <a:pt x="2153354" y="133603"/>
                  </a:lnTo>
                  <a:lnTo>
                    <a:pt x="2157158" y="137087"/>
                  </a:lnTo>
                  <a:lnTo>
                    <a:pt x="2166351" y="146589"/>
                  </a:lnTo>
                  <a:lnTo>
                    <a:pt x="2169838" y="150707"/>
                  </a:lnTo>
                  <a:lnTo>
                    <a:pt x="2173642" y="154825"/>
                  </a:lnTo>
                  <a:lnTo>
                    <a:pt x="2176812" y="158626"/>
                  </a:lnTo>
                  <a:lnTo>
                    <a:pt x="2179665" y="163060"/>
                  </a:lnTo>
                  <a:lnTo>
                    <a:pt x="2182835" y="167811"/>
                  </a:lnTo>
                  <a:lnTo>
                    <a:pt x="2185371" y="172246"/>
                  </a:lnTo>
                  <a:lnTo>
                    <a:pt x="2187273" y="176997"/>
                  </a:lnTo>
                  <a:lnTo>
                    <a:pt x="2189492" y="181748"/>
                  </a:lnTo>
                  <a:lnTo>
                    <a:pt x="2191394" y="186183"/>
                  </a:lnTo>
                  <a:lnTo>
                    <a:pt x="2192979" y="191567"/>
                  </a:lnTo>
                  <a:lnTo>
                    <a:pt x="2194247" y="196002"/>
                  </a:lnTo>
                  <a:lnTo>
                    <a:pt x="2195515" y="201387"/>
                  </a:lnTo>
                  <a:lnTo>
                    <a:pt x="2196149" y="206454"/>
                  </a:lnTo>
                  <a:lnTo>
                    <a:pt x="2196783" y="211522"/>
                  </a:lnTo>
                  <a:lnTo>
                    <a:pt x="2197100" y="216590"/>
                  </a:lnTo>
                  <a:lnTo>
                    <a:pt x="2197100" y="221658"/>
                  </a:lnTo>
                  <a:lnTo>
                    <a:pt x="2197100" y="226726"/>
                  </a:lnTo>
                  <a:lnTo>
                    <a:pt x="2196783" y="231794"/>
                  </a:lnTo>
                  <a:lnTo>
                    <a:pt x="2196149" y="236862"/>
                  </a:lnTo>
                  <a:lnTo>
                    <a:pt x="2195515" y="241613"/>
                  </a:lnTo>
                  <a:lnTo>
                    <a:pt x="2194247" y="246681"/>
                  </a:lnTo>
                  <a:lnTo>
                    <a:pt x="2192979" y="251749"/>
                  </a:lnTo>
                  <a:lnTo>
                    <a:pt x="2191394" y="256500"/>
                  </a:lnTo>
                  <a:lnTo>
                    <a:pt x="2189492" y="261251"/>
                  </a:lnTo>
                  <a:lnTo>
                    <a:pt x="2187273" y="266319"/>
                  </a:lnTo>
                  <a:lnTo>
                    <a:pt x="2185371" y="270754"/>
                  </a:lnTo>
                  <a:lnTo>
                    <a:pt x="2182835" y="275505"/>
                  </a:lnTo>
                  <a:lnTo>
                    <a:pt x="2179665" y="279623"/>
                  </a:lnTo>
                  <a:lnTo>
                    <a:pt x="2176812" y="284057"/>
                  </a:lnTo>
                  <a:lnTo>
                    <a:pt x="2173642" y="288492"/>
                  </a:lnTo>
                  <a:lnTo>
                    <a:pt x="2169838" y="292609"/>
                  </a:lnTo>
                  <a:lnTo>
                    <a:pt x="2166351" y="296410"/>
                  </a:lnTo>
                  <a:lnTo>
                    <a:pt x="1970764" y="491843"/>
                  </a:lnTo>
                  <a:lnTo>
                    <a:pt x="1967277" y="495010"/>
                  </a:lnTo>
                  <a:lnTo>
                    <a:pt x="1963473" y="498178"/>
                  </a:lnTo>
                  <a:lnTo>
                    <a:pt x="1959986" y="500712"/>
                  </a:lnTo>
                  <a:lnTo>
                    <a:pt x="1956816" y="502612"/>
                  </a:lnTo>
                  <a:lnTo>
                    <a:pt x="1953329" y="504513"/>
                  </a:lnTo>
                  <a:lnTo>
                    <a:pt x="1950476" y="505463"/>
                  </a:lnTo>
                  <a:lnTo>
                    <a:pt x="1947623" y="505780"/>
                  </a:lnTo>
                  <a:lnTo>
                    <a:pt x="1944771" y="506413"/>
                  </a:lnTo>
                  <a:lnTo>
                    <a:pt x="1941918" y="505780"/>
                  </a:lnTo>
                  <a:lnTo>
                    <a:pt x="1939382" y="505463"/>
                  </a:lnTo>
                  <a:lnTo>
                    <a:pt x="1936846" y="504513"/>
                  </a:lnTo>
                  <a:lnTo>
                    <a:pt x="1933993" y="502929"/>
                  </a:lnTo>
                  <a:lnTo>
                    <a:pt x="1931457" y="501662"/>
                  </a:lnTo>
                  <a:lnTo>
                    <a:pt x="1928921" y="499445"/>
                  </a:lnTo>
                  <a:lnTo>
                    <a:pt x="1924166" y="494694"/>
                  </a:lnTo>
                  <a:lnTo>
                    <a:pt x="1919094" y="489309"/>
                  </a:lnTo>
                  <a:lnTo>
                    <a:pt x="1914022" y="482657"/>
                  </a:lnTo>
                  <a:lnTo>
                    <a:pt x="1903561" y="467770"/>
                  </a:lnTo>
                  <a:lnTo>
                    <a:pt x="1897855" y="459852"/>
                  </a:lnTo>
                  <a:lnTo>
                    <a:pt x="1891515" y="451616"/>
                  </a:lnTo>
                  <a:lnTo>
                    <a:pt x="1884541" y="443698"/>
                  </a:lnTo>
                  <a:lnTo>
                    <a:pt x="1877250" y="435779"/>
                  </a:lnTo>
                  <a:lnTo>
                    <a:pt x="1868057" y="426277"/>
                  </a:lnTo>
                  <a:lnTo>
                    <a:pt x="1859815" y="418991"/>
                  </a:lnTo>
                  <a:lnTo>
                    <a:pt x="1851890" y="412023"/>
                  </a:lnTo>
                  <a:lnTo>
                    <a:pt x="1843966" y="406005"/>
                  </a:lnTo>
                  <a:lnTo>
                    <a:pt x="1836041" y="399987"/>
                  </a:lnTo>
                  <a:lnTo>
                    <a:pt x="1820825" y="389217"/>
                  </a:lnTo>
                  <a:lnTo>
                    <a:pt x="1814485" y="384466"/>
                  </a:lnTo>
                  <a:lnTo>
                    <a:pt x="1808462" y="379398"/>
                  </a:lnTo>
                  <a:lnTo>
                    <a:pt x="1804024" y="374647"/>
                  </a:lnTo>
                  <a:lnTo>
                    <a:pt x="1802122" y="372113"/>
                  </a:lnTo>
                  <a:lnTo>
                    <a:pt x="1800220" y="369579"/>
                  </a:lnTo>
                  <a:lnTo>
                    <a:pt x="1798635" y="367045"/>
                  </a:lnTo>
                  <a:lnTo>
                    <a:pt x="1798001" y="364511"/>
                  </a:lnTo>
                  <a:lnTo>
                    <a:pt x="1797367" y="361660"/>
                  </a:lnTo>
                  <a:lnTo>
                    <a:pt x="1797050" y="359126"/>
                  </a:lnTo>
                  <a:lnTo>
                    <a:pt x="1797367" y="355959"/>
                  </a:lnTo>
                  <a:lnTo>
                    <a:pt x="1797684" y="353108"/>
                  </a:lnTo>
                  <a:lnTo>
                    <a:pt x="1798635" y="349941"/>
                  </a:lnTo>
                  <a:lnTo>
                    <a:pt x="1800220" y="346773"/>
                  </a:lnTo>
                  <a:lnTo>
                    <a:pt x="1802439" y="343289"/>
                  </a:lnTo>
                  <a:lnTo>
                    <a:pt x="1804975" y="340122"/>
                  </a:lnTo>
                  <a:lnTo>
                    <a:pt x="1807828" y="336637"/>
                  </a:lnTo>
                  <a:lnTo>
                    <a:pt x="1811632" y="332520"/>
                  </a:lnTo>
                  <a:lnTo>
                    <a:pt x="2006902" y="137087"/>
                  </a:lnTo>
                  <a:lnTo>
                    <a:pt x="2011023" y="133603"/>
                  </a:lnTo>
                  <a:lnTo>
                    <a:pt x="2014827" y="130119"/>
                  </a:lnTo>
                  <a:lnTo>
                    <a:pt x="2019265" y="126634"/>
                  </a:lnTo>
                  <a:lnTo>
                    <a:pt x="2023703" y="123784"/>
                  </a:lnTo>
                  <a:lnTo>
                    <a:pt x="2028141" y="120933"/>
                  </a:lnTo>
                  <a:lnTo>
                    <a:pt x="2032896" y="118399"/>
                  </a:lnTo>
                  <a:lnTo>
                    <a:pt x="2037017" y="116182"/>
                  </a:lnTo>
                  <a:lnTo>
                    <a:pt x="2041772" y="113965"/>
                  </a:lnTo>
                  <a:lnTo>
                    <a:pt x="2046843" y="112064"/>
                  </a:lnTo>
                  <a:lnTo>
                    <a:pt x="2051598" y="110797"/>
                  </a:lnTo>
                  <a:lnTo>
                    <a:pt x="2056670" y="109213"/>
                  </a:lnTo>
                  <a:lnTo>
                    <a:pt x="2061425" y="108263"/>
                  </a:lnTo>
                  <a:lnTo>
                    <a:pt x="2066497" y="107313"/>
                  </a:lnTo>
                  <a:lnTo>
                    <a:pt x="2071569" y="106679"/>
                  </a:lnTo>
                  <a:lnTo>
                    <a:pt x="2076641" y="106363"/>
                  </a:lnTo>
                  <a:close/>
                  <a:moveTo>
                    <a:pt x="2213628" y="19050"/>
                  </a:moveTo>
                  <a:lnTo>
                    <a:pt x="2219371" y="19369"/>
                  </a:lnTo>
                  <a:lnTo>
                    <a:pt x="2225751" y="20007"/>
                  </a:lnTo>
                  <a:lnTo>
                    <a:pt x="2231493" y="21602"/>
                  </a:lnTo>
                  <a:lnTo>
                    <a:pt x="2237236" y="23516"/>
                  </a:lnTo>
                  <a:lnTo>
                    <a:pt x="2242978" y="26387"/>
                  </a:lnTo>
                  <a:lnTo>
                    <a:pt x="2248401" y="29258"/>
                  </a:lnTo>
                  <a:lnTo>
                    <a:pt x="2253506" y="33087"/>
                  </a:lnTo>
                  <a:lnTo>
                    <a:pt x="2258291" y="37234"/>
                  </a:lnTo>
                  <a:lnTo>
                    <a:pt x="2262757" y="42019"/>
                  </a:lnTo>
                  <a:lnTo>
                    <a:pt x="2266266" y="47123"/>
                  </a:lnTo>
                  <a:lnTo>
                    <a:pt x="2269457" y="52547"/>
                  </a:lnTo>
                  <a:lnTo>
                    <a:pt x="2272009" y="58608"/>
                  </a:lnTo>
                  <a:lnTo>
                    <a:pt x="2273923" y="64350"/>
                  </a:lnTo>
                  <a:lnTo>
                    <a:pt x="2275518" y="70412"/>
                  </a:lnTo>
                  <a:lnTo>
                    <a:pt x="2276475" y="76154"/>
                  </a:lnTo>
                  <a:lnTo>
                    <a:pt x="2276475" y="82216"/>
                  </a:lnTo>
                  <a:lnTo>
                    <a:pt x="2276475" y="88277"/>
                  </a:lnTo>
                  <a:lnTo>
                    <a:pt x="2275518" y="94338"/>
                  </a:lnTo>
                  <a:lnTo>
                    <a:pt x="2273923" y="100400"/>
                  </a:lnTo>
                  <a:lnTo>
                    <a:pt x="2272009" y="106142"/>
                  </a:lnTo>
                  <a:lnTo>
                    <a:pt x="2269457" y="111565"/>
                  </a:lnTo>
                  <a:lnTo>
                    <a:pt x="2266266" y="117308"/>
                  </a:lnTo>
                  <a:lnTo>
                    <a:pt x="2262757" y="122412"/>
                  </a:lnTo>
                  <a:lnTo>
                    <a:pt x="2258291" y="126878"/>
                  </a:lnTo>
                  <a:lnTo>
                    <a:pt x="2241064" y="144105"/>
                  </a:lnTo>
                  <a:lnTo>
                    <a:pt x="2236598" y="148253"/>
                  </a:lnTo>
                  <a:lnTo>
                    <a:pt x="2232769" y="150805"/>
                  </a:lnTo>
                  <a:lnTo>
                    <a:pt x="2230855" y="151443"/>
                  </a:lnTo>
                  <a:lnTo>
                    <a:pt x="2228941" y="152400"/>
                  </a:lnTo>
                  <a:lnTo>
                    <a:pt x="2227346" y="152400"/>
                  </a:lnTo>
                  <a:lnTo>
                    <a:pt x="2225751" y="152400"/>
                  </a:lnTo>
                  <a:lnTo>
                    <a:pt x="2224156" y="152081"/>
                  </a:lnTo>
                  <a:lnTo>
                    <a:pt x="2222880" y="151443"/>
                  </a:lnTo>
                  <a:lnTo>
                    <a:pt x="2220009" y="149848"/>
                  </a:lnTo>
                  <a:lnTo>
                    <a:pt x="2217456" y="147295"/>
                  </a:lnTo>
                  <a:lnTo>
                    <a:pt x="2214904" y="143786"/>
                  </a:lnTo>
                  <a:lnTo>
                    <a:pt x="2212352" y="140277"/>
                  </a:lnTo>
                  <a:lnTo>
                    <a:pt x="2209800" y="135811"/>
                  </a:lnTo>
                  <a:lnTo>
                    <a:pt x="2204058" y="126240"/>
                  </a:lnTo>
                  <a:lnTo>
                    <a:pt x="2201186" y="121455"/>
                  </a:lnTo>
                  <a:lnTo>
                    <a:pt x="2197358" y="116351"/>
                  </a:lnTo>
                  <a:lnTo>
                    <a:pt x="2193530" y="111246"/>
                  </a:lnTo>
                  <a:lnTo>
                    <a:pt x="2189064" y="106461"/>
                  </a:lnTo>
                  <a:lnTo>
                    <a:pt x="2184278" y="101995"/>
                  </a:lnTo>
                  <a:lnTo>
                    <a:pt x="2179493" y="98167"/>
                  </a:lnTo>
                  <a:lnTo>
                    <a:pt x="2174389" y="94657"/>
                  </a:lnTo>
                  <a:lnTo>
                    <a:pt x="2169285" y="91467"/>
                  </a:lnTo>
                  <a:lnTo>
                    <a:pt x="2159714" y="85725"/>
                  </a:lnTo>
                  <a:lnTo>
                    <a:pt x="2155248" y="83173"/>
                  </a:lnTo>
                  <a:lnTo>
                    <a:pt x="2151739" y="80620"/>
                  </a:lnTo>
                  <a:lnTo>
                    <a:pt x="2148229" y="78068"/>
                  </a:lnTo>
                  <a:lnTo>
                    <a:pt x="2145677" y="75516"/>
                  </a:lnTo>
                  <a:lnTo>
                    <a:pt x="2144082" y="72964"/>
                  </a:lnTo>
                  <a:lnTo>
                    <a:pt x="2143763" y="71369"/>
                  </a:lnTo>
                  <a:lnTo>
                    <a:pt x="2143125" y="69774"/>
                  </a:lnTo>
                  <a:lnTo>
                    <a:pt x="2143125" y="68179"/>
                  </a:lnTo>
                  <a:lnTo>
                    <a:pt x="2143763" y="66584"/>
                  </a:lnTo>
                  <a:lnTo>
                    <a:pt x="2144082" y="64669"/>
                  </a:lnTo>
                  <a:lnTo>
                    <a:pt x="2144720" y="63074"/>
                  </a:lnTo>
                  <a:lnTo>
                    <a:pt x="2147591" y="59246"/>
                  </a:lnTo>
                  <a:lnTo>
                    <a:pt x="2151419" y="54780"/>
                  </a:lnTo>
                  <a:lnTo>
                    <a:pt x="2168647" y="37234"/>
                  </a:lnTo>
                  <a:lnTo>
                    <a:pt x="2173751" y="33087"/>
                  </a:lnTo>
                  <a:lnTo>
                    <a:pt x="2178855" y="29258"/>
                  </a:lnTo>
                  <a:lnTo>
                    <a:pt x="2183959" y="26387"/>
                  </a:lnTo>
                  <a:lnTo>
                    <a:pt x="2189702" y="23516"/>
                  </a:lnTo>
                  <a:lnTo>
                    <a:pt x="2195125" y="21602"/>
                  </a:lnTo>
                  <a:lnTo>
                    <a:pt x="2201506" y="20007"/>
                  </a:lnTo>
                  <a:lnTo>
                    <a:pt x="2207248" y="19369"/>
                  </a:lnTo>
                  <a:lnTo>
                    <a:pt x="2213628" y="19050"/>
                  </a:lnTo>
                  <a:close/>
                  <a:moveTo>
                    <a:pt x="1985550" y="0"/>
                  </a:moveTo>
                  <a:lnTo>
                    <a:pt x="1989686" y="0"/>
                  </a:lnTo>
                  <a:lnTo>
                    <a:pt x="1993822" y="0"/>
                  </a:lnTo>
                  <a:lnTo>
                    <a:pt x="1997640" y="634"/>
                  </a:lnTo>
                  <a:lnTo>
                    <a:pt x="2001776" y="1903"/>
                  </a:lnTo>
                  <a:lnTo>
                    <a:pt x="2005594" y="2855"/>
                  </a:lnTo>
                  <a:lnTo>
                    <a:pt x="2009411" y="4759"/>
                  </a:lnTo>
                  <a:lnTo>
                    <a:pt x="2012911" y="6980"/>
                  </a:lnTo>
                  <a:lnTo>
                    <a:pt x="2016411" y="9518"/>
                  </a:lnTo>
                  <a:lnTo>
                    <a:pt x="2019592" y="12374"/>
                  </a:lnTo>
                  <a:lnTo>
                    <a:pt x="2022456" y="15229"/>
                  </a:lnTo>
                  <a:lnTo>
                    <a:pt x="2025001" y="19037"/>
                  </a:lnTo>
                  <a:lnTo>
                    <a:pt x="2026910" y="22210"/>
                  </a:lnTo>
                  <a:lnTo>
                    <a:pt x="2028819" y="26334"/>
                  </a:lnTo>
                  <a:lnTo>
                    <a:pt x="2030091" y="29824"/>
                  </a:lnTo>
                  <a:lnTo>
                    <a:pt x="2031364" y="33949"/>
                  </a:lnTo>
                  <a:lnTo>
                    <a:pt x="2031682" y="37757"/>
                  </a:lnTo>
                  <a:lnTo>
                    <a:pt x="2032000" y="41881"/>
                  </a:lnTo>
                  <a:lnTo>
                    <a:pt x="2031682" y="46006"/>
                  </a:lnTo>
                  <a:lnTo>
                    <a:pt x="2031046" y="49813"/>
                  </a:lnTo>
                  <a:lnTo>
                    <a:pt x="2030091" y="53938"/>
                  </a:lnTo>
                  <a:lnTo>
                    <a:pt x="2028819" y="57745"/>
                  </a:lnTo>
                  <a:lnTo>
                    <a:pt x="2026910" y="61553"/>
                  </a:lnTo>
                  <a:lnTo>
                    <a:pt x="2025001" y="65043"/>
                  </a:lnTo>
                  <a:lnTo>
                    <a:pt x="2022456" y="68533"/>
                  </a:lnTo>
                  <a:lnTo>
                    <a:pt x="2019592" y="71706"/>
                  </a:lnTo>
                  <a:lnTo>
                    <a:pt x="1637177" y="453081"/>
                  </a:lnTo>
                  <a:lnTo>
                    <a:pt x="1633995" y="455937"/>
                  </a:lnTo>
                  <a:lnTo>
                    <a:pt x="1630814" y="458158"/>
                  </a:lnTo>
                  <a:lnTo>
                    <a:pt x="1626996" y="460379"/>
                  </a:lnTo>
                  <a:lnTo>
                    <a:pt x="1623496" y="462283"/>
                  </a:lnTo>
                  <a:lnTo>
                    <a:pt x="1619360" y="463552"/>
                  </a:lnTo>
                  <a:lnTo>
                    <a:pt x="1615224" y="464186"/>
                  </a:lnTo>
                  <a:lnTo>
                    <a:pt x="1611407" y="465138"/>
                  </a:lnTo>
                  <a:lnTo>
                    <a:pt x="1607271" y="465138"/>
                  </a:lnTo>
                  <a:lnTo>
                    <a:pt x="1603135" y="465138"/>
                  </a:lnTo>
                  <a:lnTo>
                    <a:pt x="1599317" y="464186"/>
                  </a:lnTo>
                  <a:lnTo>
                    <a:pt x="1595181" y="463552"/>
                  </a:lnTo>
                  <a:lnTo>
                    <a:pt x="1591681" y="462283"/>
                  </a:lnTo>
                  <a:lnTo>
                    <a:pt x="1587864" y="460379"/>
                  </a:lnTo>
                  <a:lnTo>
                    <a:pt x="1584364" y="458158"/>
                  </a:lnTo>
                  <a:lnTo>
                    <a:pt x="1580864" y="455937"/>
                  </a:lnTo>
                  <a:lnTo>
                    <a:pt x="1577683" y="453081"/>
                  </a:lnTo>
                  <a:lnTo>
                    <a:pt x="1574819" y="449591"/>
                  </a:lnTo>
                  <a:lnTo>
                    <a:pt x="1572274" y="446418"/>
                  </a:lnTo>
                  <a:lnTo>
                    <a:pt x="1570047" y="442928"/>
                  </a:lnTo>
                  <a:lnTo>
                    <a:pt x="1568138" y="439121"/>
                  </a:lnTo>
                  <a:lnTo>
                    <a:pt x="1567184" y="435314"/>
                  </a:lnTo>
                  <a:lnTo>
                    <a:pt x="1565911" y="431189"/>
                  </a:lnTo>
                  <a:lnTo>
                    <a:pt x="1565275" y="427381"/>
                  </a:lnTo>
                  <a:lnTo>
                    <a:pt x="1565275" y="423257"/>
                  </a:lnTo>
                  <a:lnTo>
                    <a:pt x="1565275" y="419132"/>
                  </a:lnTo>
                  <a:lnTo>
                    <a:pt x="1565911" y="415007"/>
                  </a:lnTo>
                  <a:lnTo>
                    <a:pt x="1567184" y="411517"/>
                  </a:lnTo>
                  <a:lnTo>
                    <a:pt x="1568138" y="407393"/>
                  </a:lnTo>
                  <a:lnTo>
                    <a:pt x="1570047" y="403902"/>
                  </a:lnTo>
                  <a:lnTo>
                    <a:pt x="1572274" y="400095"/>
                  </a:lnTo>
                  <a:lnTo>
                    <a:pt x="1574819" y="396922"/>
                  </a:lnTo>
                  <a:lnTo>
                    <a:pt x="1577683" y="393749"/>
                  </a:lnTo>
                  <a:lnTo>
                    <a:pt x="1960098" y="12374"/>
                  </a:lnTo>
                  <a:lnTo>
                    <a:pt x="1962962" y="9518"/>
                  </a:lnTo>
                  <a:lnTo>
                    <a:pt x="1966779" y="6980"/>
                  </a:lnTo>
                  <a:lnTo>
                    <a:pt x="1970279" y="4759"/>
                  </a:lnTo>
                  <a:lnTo>
                    <a:pt x="1974097" y="2855"/>
                  </a:lnTo>
                  <a:lnTo>
                    <a:pt x="1977596" y="1903"/>
                  </a:lnTo>
                  <a:lnTo>
                    <a:pt x="1981732" y="634"/>
                  </a:lnTo>
                  <a:lnTo>
                    <a:pt x="198555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>
                <a:defRPr/>
              </a:pPr>
              <a:endParaRPr lang="zh-CN" altLang="en-US" sz="4000" b="1" dirty="0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-458793" y="1921961"/>
            <a:ext cx="8271153" cy="714933"/>
            <a:chOff x="-544663" y="1790145"/>
            <a:chExt cx="8913447" cy="760245"/>
          </a:xfrm>
        </p:grpSpPr>
        <p:grpSp>
          <p:nvGrpSpPr>
            <p:cNvPr id="37" name="组合 36"/>
            <p:cNvGrpSpPr/>
            <p:nvPr/>
          </p:nvGrpSpPr>
          <p:grpSpPr>
            <a:xfrm>
              <a:off x="-544663" y="1790145"/>
              <a:ext cx="8913447" cy="760245"/>
              <a:chOff x="-585688" y="1250229"/>
              <a:chExt cx="8913447" cy="760245"/>
            </a:xfrm>
          </p:grpSpPr>
          <p:sp>
            <p:nvSpPr>
              <p:cNvPr id="38" name="TextBox 6"/>
              <p:cNvSpPr txBox="1">
                <a:spLocks noChangeArrowheads="1"/>
              </p:cNvSpPr>
              <p:nvPr/>
            </p:nvSpPr>
            <p:spPr bwMode="auto">
              <a:xfrm>
                <a:off x="-585688" y="1250229"/>
                <a:ext cx="8913447" cy="6872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10.2 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顺序表的查找</a:t>
                </a:r>
              </a:p>
            </p:txBody>
          </p:sp>
          <p:sp>
            <p:nvSpPr>
              <p:cNvPr id="40" name="Freeform 5"/>
              <p:cNvSpPr>
                <a:spLocks/>
              </p:cNvSpPr>
              <p:nvPr/>
            </p:nvSpPr>
            <p:spPr bwMode="auto">
              <a:xfrm>
                <a:off x="958665" y="1327471"/>
                <a:ext cx="842977" cy="683003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FFFF66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4000" b="1" dirty="0">
                  <a:ea typeface="微软雅黑" pitchFamily="34" charset="-122"/>
                </a:endParaRPr>
              </a:p>
            </p:txBody>
          </p:sp>
        </p:grpSp>
        <p:pic>
          <p:nvPicPr>
            <p:cNvPr id="43" name="图片 4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89825" y="2023053"/>
              <a:ext cx="495511" cy="423803"/>
            </a:xfrm>
            <a:prstGeom prst="rect">
              <a:avLst/>
            </a:prstGeom>
          </p:spPr>
        </p:pic>
      </p:grpSp>
      <p:grpSp>
        <p:nvGrpSpPr>
          <p:cNvPr id="41" name="组合 40"/>
          <p:cNvGrpSpPr/>
          <p:nvPr/>
        </p:nvGrpSpPr>
        <p:grpSpPr>
          <a:xfrm>
            <a:off x="789760" y="1147438"/>
            <a:ext cx="3926256" cy="646307"/>
            <a:chOff x="784929" y="1326432"/>
            <a:chExt cx="4231148" cy="687269"/>
          </a:xfrm>
        </p:grpSpPr>
        <p:sp>
          <p:nvSpPr>
            <p:cNvPr id="42" name="TextBox 6"/>
            <p:cNvSpPr txBox="1">
              <a:spLocks noChangeArrowheads="1"/>
            </p:cNvSpPr>
            <p:nvPr/>
          </p:nvSpPr>
          <p:spPr bwMode="auto">
            <a:xfrm>
              <a:off x="784929" y="1326432"/>
              <a:ext cx="4231148" cy="687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17" tIns="45708" rIns="91417" bIns="45708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marL="0" lvl="1" algn="ctr"/>
              <a:r>
                <a:rPr lang="en-US" altLang="zh-CN" sz="3600" b="1" dirty="0">
                  <a:latin typeface="Times New Roman" pitchFamily="18" charset="0"/>
                  <a:ea typeface="黑体" pitchFamily="49" charset="-122"/>
                </a:rPr>
                <a:t>10.1 </a:t>
              </a:r>
              <a:r>
                <a:rPr lang="zh-CN" altLang="en-US" sz="3600" b="1" dirty="0">
                  <a:latin typeface="Times New Roman" pitchFamily="18" charset="0"/>
                  <a:ea typeface="黑体" pitchFamily="49" charset="-122"/>
                </a:rPr>
                <a:t>概述</a:t>
              </a:r>
              <a:r>
                <a:rPr lang="en-US" altLang="zh-CN" sz="3600" b="1" dirty="0">
                  <a:latin typeface="Times New Roman" pitchFamily="18" charset="0"/>
                  <a:ea typeface="黑体" pitchFamily="49" charset="-122"/>
                </a:rPr>
                <a:t> </a:t>
              </a:r>
              <a:endParaRPr lang="zh-CN" altLang="en-US" sz="3600" b="1" dirty="0">
                <a:latin typeface="黑体" pitchFamily="49" charset="-122"/>
                <a:ea typeface="黑体" pitchFamily="49" charset="-122"/>
              </a:endParaRPr>
            </a:p>
          </p:txBody>
        </p:sp>
        <p:grpSp>
          <p:nvGrpSpPr>
            <p:cNvPr id="44" name="组合 43"/>
            <p:cNvGrpSpPr/>
            <p:nvPr/>
          </p:nvGrpSpPr>
          <p:grpSpPr>
            <a:xfrm>
              <a:off x="958665" y="1327471"/>
              <a:ext cx="842977" cy="683003"/>
              <a:chOff x="958665" y="1327471"/>
              <a:chExt cx="842977" cy="683003"/>
            </a:xfrm>
          </p:grpSpPr>
          <p:sp>
            <p:nvSpPr>
              <p:cNvPr id="45" name="Freeform 5"/>
              <p:cNvSpPr>
                <a:spLocks/>
              </p:cNvSpPr>
              <p:nvPr/>
            </p:nvSpPr>
            <p:spPr bwMode="auto">
              <a:xfrm>
                <a:off x="958665" y="1327471"/>
                <a:ext cx="842977" cy="683003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FF8080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4000" b="1" dirty="0">
                  <a:ea typeface="微软雅黑" pitchFamily="34" charset="-122"/>
                </a:endParaRPr>
              </a:p>
            </p:txBody>
          </p:sp>
          <p:pic>
            <p:nvPicPr>
              <p:cNvPr id="46" name="图片 45" descr="1.jpg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189071" y="1467621"/>
                <a:ext cx="377680" cy="419801"/>
              </a:xfrm>
              <a:prstGeom prst="rect">
                <a:avLst/>
              </a:prstGeom>
            </p:spPr>
          </p:pic>
        </p:grpSp>
      </p:grpSp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215261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上文回顾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023045"/>
            <a:ext cx="1224136" cy="1047837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20048" y="4215073"/>
            <a:ext cx="2358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000FF"/>
                </a:solidFill>
              </a:rPr>
              <a:t> 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3</a:t>
            </a:fld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524" y="1035374"/>
            <a:ext cx="8504814" cy="5559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110930"/>
      </p:ext>
    </p:extLst>
  </p:cSld>
  <p:clrMapOvr>
    <a:masterClrMapping/>
  </p:clrMapOvr>
  <p:transition spd="slow" advClick="0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上文回顾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04" y="1790504"/>
            <a:ext cx="1138536" cy="97456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20048" y="4215073"/>
            <a:ext cx="2358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000FF"/>
                </a:solidFill>
              </a:rPr>
              <a:t> 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202260" y="5547244"/>
            <a:ext cx="5400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已学习了主要的线性与非线性数据结构，</a:t>
            </a:r>
            <a:endParaRPr lang="en-US" altLang="zh-CN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第</a:t>
            </a: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种技术</a:t>
            </a: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</a:t>
            </a: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算法：递归，</a:t>
            </a:r>
            <a:endParaRPr lang="en-US" altLang="zh-CN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今天将学习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第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种技术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：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查找</a:t>
            </a:r>
          </a:p>
          <a:p>
            <a:endParaRPr lang="zh-CN" altLang="en-US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4</a:t>
            </a:fld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761" y="1042966"/>
            <a:ext cx="8860239" cy="4724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205557"/>
      </p:ext>
    </p:extLst>
  </p:cSld>
  <p:clrMapOvr>
    <a:masterClrMapping/>
  </p:clrMapOvr>
  <p:transition spd="slow" advClick="0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5</a:t>
            </a:fld>
            <a:endParaRPr lang="zh-CN" altLang="en-US" dirty="0"/>
          </a:p>
        </p:txBody>
      </p:sp>
      <p:sp>
        <p:nvSpPr>
          <p:cNvPr id="52" name="任意多边形 51"/>
          <p:cNvSpPr/>
          <p:nvPr/>
        </p:nvSpPr>
        <p:spPr>
          <a:xfrm>
            <a:off x="2765156" y="4329570"/>
            <a:ext cx="752744" cy="564921"/>
          </a:xfrm>
          <a:custGeom>
            <a:avLst/>
            <a:gdLst>
              <a:gd name="connsiteX0" fmla="*/ 50498 w 1930400"/>
              <a:gd name="connsiteY0" fmla="*/ 0 h 638521"/>
              <a:gd name="connsiteX1" fmla="*/ 1879902 w 1930400"/>
              <a:gd name="connsiteY1" fmla="*/ 0 h 638521"/>
              <a:gd name="connsiteX2" fmla="*/ 1930400 w 1930400"/>
              <a:gd name="connsiteY2" fmla="*/ 50498 h 638521"/>
              <a:gd name="connsiteX3" fmla="*/ 1930400 w 1930400"/>
              <a:gd name="connsiteY3" fmla="*/ 442988 h 638521"/>
              <a:gd name="connsiteX4" fmla="*/ 1879902 w 1930400"/>
              <a:gd name="connsiteY4" fmla="*/ 493486 h 638521"/>
              <a:gd name="connsiteX5" fmla="*/ 1124527 w 1930400"/>
              <a:gd name="connsiteY5" fmla="*/ 493486 h 638521"/>
              <a:gd name="connsiteX6" fmla="*/ 965200 w 1930400"/>
              <a:gd name="connsiteY6" fmla="*/ 638521 h 638521"/>
              <a:gd name="connsiteX7" fmla="*/ 805872 w 1930400"/>
              <a:gd name="connsiteY7" fmla="*/ 493486 h 638521"/>
              <a:gd name="connsiteX8" fmla="*/ 50498 w 1930400"/>
              <a:gd name="connsiteY8" fmla="*/ 493486 h 638521"/>
              <a:gd name="connsiteX9" fmla="*/ 0 w 1930400"/>
              <a:gd name="connsiteY9" fmla="*/ 442988 h 638521"/>
              <a:gd name="connsiteX10" fmla="*/ 0 w 1930400"/>
              <a:gd name="connsiteY10" fmla="*/ 50498 h 638521"/>
              <a:gd name="connsiteX11" fmla="*/ 50498 w 1930400"/>
              <a:gd name="connsiteY11" fmla="*/ 0 h 6385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0400" h="638521">
                <a:moveTo>
                  <a:pt x="50498" y="0"/>
                </a:moveTo>
                <a:lnTo>
                  <a:pt x="1879902" y="0"/>
                </a:lnTo>
                <a:cubicBezTo>
                  <a:pt x="1907791" y="0"/>
                  <a:pt x="1930400" y="22609"/>
                  <a:pt x="1930400" y="50498"/>
                </a:cubicBezTo>
                <a:lnTo>
                  <a:pt x="1930400" y="442988"/>
                </a:lnTo>
                <a:cubicBezTo>
                  <a:pt x="1930400" y="470877"/>
                  <a:pt x="1907791" y="493486"/>
                  <a:pt x="1879902" y="493486"/>
                </a:cubicBezTo>
                <a:lnTo>
                  <a:pt x="1124527" y="493486"/>
                </a:lnTo>
                <a:lnTo>
                  <a:pt x="965200" y="638521"/>
                </a:lnTo>
                <a:lnTo>
                  <a:pt x="805872" y="493486"/>
                </a:lnTo>
                <a:lnTo>
                  <a:pt x="50498" y="493486"/>
                </a:lnTo>
                <a:cubicBezTo>
                  <a:pt x="22609" y="493486"/>
                  <a:pt x="0" y="470877"/>
                  <a:pt x="0" y="442988"/>
                </a:cubicBezTo>
                <a:lnTo>
                  <a:pt x="0" y="50498"/>
                </a:lnTo>
                <a:cubicBezTo>
                  <a:pt x="0" y="22609"/>
                  <a:pt x="22609" y="0"/>
                  <a:pt x="50498" y="0"/>
                </a:cubicBezTo>
                <a:close/>
              </a:path>
            </a:pathLst>
          </a:custGeom>
          <a:gradFill>
            <a:gsLst>
              <a:gs pos="100000">
                <a:schemeClr val="bg1">
                  <a:lumMod val="98000"/>
                </a:schemeClr>
              </a:gs>
              <a:gs pos="0">
                <a:schemeClr val="bg1">
                  <a:lumMod val="88000"/>
                </a:schemeClr>
              </a:gs>
            </a:gsLst>
            <a:lin ang="2700000" scaled="1"/>
          </a:gradFill>
          <a:ln>
            <a:noFill/>
          </a:ln>
          <a:effectLst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>
              <a:solidFill>
                <a:prstClr val="white"/>
              </a:solidFill>
            </a:endParaRPr>
          </a:p>
        </p:txBody>
      </p:sp>
      <p:grpSp>
        <p:nvGrpSpPr>
          <p:cNvPr id="53" name="组合 52"/>
          <p:cNvGrpSpPr/>
          <p:nvPr/>
        </p:nvGrpSpPr>
        <p:grpSpPr>
          <a:xfrm>
            <a:off x="3670300" y="1275461"/>
            <a:ext cx="2187575" cy="2403912"/>
            <a:chOff x="3670300" y="1304489"/>
            <a:chExt cx="2187575" cy="2403912"/>
          </a:xfrm>
        </p:grpSpPr>
        <p:sp>
          <p:nvSpPr>
            <p:cNvPr id="54" name="任意多边形 53"/>
            <p:cNvSpPr/>
            <p:nvPr/>
          </p:nvSpPr>
          <p:spPr>
            <a:xfrm>
              <a:off x="3733800" y="1311504"/>
              <a:ext cx="2076449" cy="603021"/>
            </a:xfrm>
            <a:custGeom>
              <a:avLst/>
              <a:gdLst>
                <a:gd name="connsiteX0" fmla="*/ 50498 w 1930400"/>
                <a:gd name="connsiteY0" fmla="*/ 0 h 638521"/>
                <a:gd name="connsiteX1" fmla="*/ 1879902 w 1930400"/>
                <a:gd name="connsiteY1" fmla="*/ 0 h 638521"/>
                <a:gd name="connsiteX2" fmla="*/ 1930400 w 1930400"/>
                <a:gd name="connsiteY2" fmla="*/ 50498 h 638521"/>
                <a:gd name="connsiteX3" fmla="*/ 1930400 w 1930400"/>
                <a:gd name="connsiteY3" fmla="*/ 442988 h 638521"/>
                <a:gd name="connsiteX4" fmla="*/ 1879902 w 1930400"/>
                <a:gd name="connsiteY4" fmla="*/ 493486 h 638521"/>
                <a:gd name="connsiteX5" fmla="*/ 1124527 w 1930400"/>
                <a:gd name="connsiteY5" fmla="*/ 493486 h 638521"/>
                <a:gd name="connsiteX6" fmla="*/ 965200 w 1930400"/>
                <a:gd name="connsiteY6" fmla="*/ 638521 h 638521"/>
                <a:gd name="connsiteX7" fmla="*/ 805872 w 1930400"/>
                <a:gd name="connsiteY7" fmla="*/ 493486 h 638521"/>
                <a:gd name="connsiteX8" fmla="*/ 50498 w 1930400"/>
                <a:gd name="connsiteY8" fmla="*/ 493486 h 638521"/>
                <a:gd name="connsiteX9" fmla="*/ 0 w 1930400"/>
                <a:gd name="connsiteY9" fmla="*/ 442988 h 638521"/>
                <a:gd name="connsiteX10" fmla="*/ 0 w 1930400"/>
                <a:gd name="connsiteY10" fmla="*/ 50498 h 638521"/>
                <a:gd name="connsiteX11" fmla="*/ 50498 w 1930400"/>
                <a:gd name="connsiteY11" fmla="*/ 0 h 638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930400" h="638521">
                  <a:moveTo>
                    <a:pt x="50498" y="0"/>
                  </a:moveTo>
                  <a:lnTo>
                    <a:pt x="1879902" y="0"/>
                  </a:lnTo>
                  <a:cubicBezTo>
                    <a:pt x="1907791" y="0"/>
                    <a:pt x="1930400" y="22609"/>
                    <a:pt x="1930400" y="50498"/>
                  </a:cubicBezTo>
                  <a:lnTo>
                    <a:pt x="1930400" y="442988"/>
                  </a:lnTo>
                  <a:cubicBezTo>
                    <a:pt x="1930400" y="470877"/>
                    <a:pt x="1907791" y="493486"/>
                    <a:pt x="1879902" y="493486"/>
                  </a:cubicBezTo>
                  <a:lnTo>
                    <a:pt x="1124527" y="493486"/>
                  </a:lnTo>
                  <a:lnTo>
                    <a:pt x="965200" y="638521"/>
                  </a:lnTo>
                  <a:lnTo>
                    <a:pt x="805872" y="493486"/>
                  </a:lnTo>
                  <a:lnTo>
                    <a:pt x="50498" y="493486"/>
                  </a:lnTo>
                  <a:cubicBezTo>
                    <a:pt x="22609" y="493486"/>
                    <a:pt x="0" y="470877"/>
                    <a:pt x="0" y="442988"/>
                  </a:cubicBezTo>
                  <a:lnTo>
                    <a:pt x="0" y="50498"/>
                  </a:lnTo>
                  <a:cubicBezTo>
                    <a:pt x="0" y="22609"/>
                    <a:pt x="22609" y="0"/>
                    <a:pt x="50498" y="0"/>
                  </a:cubicBezTo>
                  <a:close/>
                </a:path>
              </a:pathLst>
            </a:custGeom>
            <a:gradFill>
              <a:gsLst>
                <a:gs pos="0">
                  <a:schemeClr val="bg1"/>
                </a:gs>
                <a:gs pos="100000">
                  <a:schemeClr val="bg1">
                    <a:lumMod val="80000"/>
                  </a:schemeClr>
                </a:gs>
              </a:gsLst>
              <a:lin ang="2700000" scaled="1"/>
            </a:gradFill>
            <a:ln>
              <a:noFill/>
            </a:ln>
            <a:effectLst>
              <a:outerShdw blurRad="101600" dist="508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>
                <a:solidFill>
                  <a:prstClr val="white"/>
                </a:solidFill>
              </a:endParaRPr>
            </a:p>
          </p:txBody>
        </p:sp>
        <p:grpSp>
          <p:nvGrpSpPr>
            <p:cNvPr id="55" name="组合 54"/>
            <p:cNvGrpSpPr/>
            <p:nvPr/>
          </p:nvGrpSpPr>
          <p:grpSpPr>
            <a:xfrm>
              <a:off x="3670300" y="1304489"/>
              <a:ext cx="2187575" cy="2403912"/>
              <a:chOff x="3670300" y="1304489"/>
              <a:chExt cx="2187575" cy="2403912"/>
            </a:xfrm>
          </p:grpSpPr>
          <p:pic>
            <p:nvPicPr>
              <p:cNvPr id="56" name="图片 55" descr="3.jpg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692525" y="2044700"/>
                <a:ext cx="2165350" cy="1104900"/>
              </a:xfrm>
              <a:prstGeom prst="rect">
                <a:avLst/>
              </a:prstGeom>
            </p:spPr>
          </p:pic>
          <p:pic>
            <p:nvPicPr>
              <p:cNvPr id="57" name="图片 56" descr="dblp_logo.pn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3670300" y="2970799"/>
                <a:ext cx="2185248" cy="737602"/>
              </a:xfrm>
              <a:prstGeom prst="rect">
                <a:avLst/>
              </a:prstGeom>
            </p:spPr>
          </p:pic>
          <p:sp>
            <p:nvSpPr>
              <p:cNvPr id="58" name="文本框 146"/>
              <p:cNvSpPr txBox="1"/>
              <p:nvPr/>
            </p:nvSpPr>
            <p:spPr>
              <a:xfrm>
                <a:off x="3766883" y="1304489"/>
                <a:ext cx="182429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400" b="1" dirty="0">
                    <a:latin typeface="黑体" pitchFamily="49" charset="-122"/>
                    <a:ea typeface="黑体" pitchFamily="49" charset="-122"/>
                  </a:rPr>
                  <a:t>文献数据库</a:t>
                </a:r>
              </a:p>
            </p:txBody>
          </p:sp>
        </p:grpSp>
      </p:grpSp>
      <p:grpSp>
        <p:nvGrpSpPr>
          <p:cNvPr id="59" name="组合 58"/>
          <p:cNvGrpSpPr/>
          <p:nvPr/>
        </p:nvGrpSpPr>
        <p:grpSpPr>
          <a:xfrm>
            <a:off x="6515526" y="1277487"/>
            <a:ext cx="2037924" cy="2387371"/>
            <a:chOff x="6471983" y="1321029"/>
            <a:chExt cx="2037924" cy="2387371"/>
          </a:xfrm>
        </p:grpSpPr>
        <p:sp>
          <p:nvSpPr>
            <p:cNvPr id="60" name="任意多边形 59"/>
            <p:cNvSpPr/>
            <p:nvPr/>
          </p:nvSpPr>
          <p:spPr>
            <a:xfrm>
              <a:off x="6524625" y="1321029"/>
              <a:ext cx="1971674" cy="603021"/>
            </a:xfrm>
            <a:custGeom>
              <a:avLst/>
              <a:gdLst>
                <a:gd name="connsiteX0" fmla="*/ 50498 w 1930400"/>
                <a:gd name="connsiteY0" fmla="*/ 0 h 638521"/>
                <a:gd name="connsiteX1" fmla="*/ 1879902 w 1930400"/>
                <a:gd name="connsiteY1" fmla="*/ 0 h 638521"/>
                <a:gd name="connsiteX2" fmla="*/ 1930400 w 1930400"/>
                <a:gd name="connsiteY2" fmla="*/ 50498 h 638521"/>
                <a:gd name="connsiteX3" fmla="*/ 1930400 w 1930400"/>
                <a:gd name="connsiteY3" fmla="*/ 442988 h 638521"/>
                <a:gd name="connsiteX4" fmla="*/ 1879902 w 1930400"/>
                <a:gd name="connsiteY4" fmla="*/ 493486 h 638521"/>
                <a:gd name="connsiteX5" fmla="*/ 1124527 w 1930400"/>
                <a:gd name="connsiteY5" fmla="*/ 493486 h 638521"/>
                <a:gd name="connsiteX6" fmla="*/ 965200 w 1930400"/>
                <a:gd name="connsiteY6" fmla="*/ 638521 h 638521"/>
                <a:gd name="connsiteX7" fmla="*/ 805872 w 1930400"/>
                <a:gd name="connsiteY7" fmla="*/ 493486 h 638521"/>
                <a:gd name="connsiteX8" fmla="*/ 50498 w 1930400"/>
                <a:gd name="connsiteY8" fmla="*/ 493486 h 638521"/>
                <a:gd name="connsiteX9" fmla="*/ 0 w 1930400"/>
                <a:gd name="connsiteY9" fmla="*/ 442988 h 638521"/>
                <a:gd name="connsiteX10" fmla="*/ 0 w 1930400"/>
                <a:gd name="connsiteY10" fmla="*/ 50498 h 638521"/>
                <a:gd name="connsiteX11" fmla="*/ 50498 w 1930400"/>
                <a:gd name="connsiteY11" fmla="*/ 0 h 638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930400" h="638521">
                  <a:moveTo>
                    <a:pt x="50498" y="0"/>
                  </a:moveTo>
                  <a:lnTo>
                    <a:pt x="1879902" y="0"/>
                  </a:lnTo>
                  <a:cubicBezTo>
                    <a:pt x="1907791" y="0"/>
                    <a:pt x="1930400" y="22609"/>
                    <a:pt x="1930400" y="50498"/>
                  </a:cubicBezTo>
                  <a:lnTo>
                    <a:pt x="1930400" y="442988"/>
                  </a:lnTo>
                  <a:cubicBezTo>
                    <a:pt x="1930400" y="470877"/>
                    <a:pt x="1907791" y="493486"/>
                    <a:pt x="1879902" y="493486"/>
                  </a:cubicBezTo>
                  <a:lnTo>
                    <a:pt x="1124527" y="493486"/>
                  </a:lnTo>
                  <a:lnTo>
                    <a:pt x="965200" y="638521"/>
                  </a:lnTo>
                  <a:lnTo>
                    <a:pt x="805872" y="493486"/>
                  </a:lnTo>
                  <a:lnTo>
                    <a:pt x="50498" y="493486"/>
                  </a:lnTo>
                  <a:cubicBezTo>
                    <a:pt x="22609" y="493486"/>
                    <a:pt x="0" y="470877"/>
                    <a:pt x="0" y="442988"/>
                  </a:cubicBezTo>
                  <a:lnTo>
                    <a:pt x="0" y="50498"/>
                  </a:lnTo>
                  <a:cubicBezTo>
                    <a:pt x="0" y="22609"/>
                    <a:pt x="22609" y="0"/>
                    <a:pt x="50498" y="0"/>
                  </a:cubicBezTo>
                  <a:close/>
                </a:path>
              </a:pathLst>
            </a:custGeom>
            <a:gradFill>
              <a:gsLst>
                <a:gs pos="0">
                  <a:schemeClr val="bg1"/>
                </a:gs>
                <a:gs pos="100000">
                  <a:schemeClr val="bg1">
                    <a:lumMod val="80000"/>
                  </a:schemeClr>
                </a:gs>
              </a:gsLst>
              <a:lin ang="2700000" scaled="1"/>
            </a:gradFill>
            <a:ln>
              <a:noFill/>
            </a:ln>
            <a:effectLst>
              <a:outerShdw blurRad="101600" dist="508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>
                <a:solidFill>
                  <a:prstClr val="white"/>
                </a:solidFill>
              </a:endParaRPr>
            </a:p>
          </p:txBody>
        </p:sp>
        <p:grpSp>
          <p:nvGrpSpPr>
            <p:cNvPr id="61" name="组合 60"/>
            <p:cNvGrpSpPr/>
            <p:nvPr/>
          </p:nvGrpSpPr>
          <p:grpSpPr>
            <a:xfrm>
              <a:off x="6471983" y="1323539"/>
              <a:ext cx="2037924" cy="2384861"/>
              <a:chOff x="6471983" y="1323539"/>
              <a:chExt cx="2037924" cy="2384861"/>
            </a:xfrm>
          </p:grpSpPr>
          <p:pic>
            <p:nvPicPr>
              <p:cNvPr id="62" name="Picture 2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6664324" y="1962151"/>
                <a:ext cx="1608079" cy="174624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63" name="文本框 146"/>
              <p:cNvSpPr txBox="1"/>
              <p:nvPr/>
            </p:nvSpPr>
            <p:spPr>
              <a:xfrm>
                <a:off x="6471983" y="1323539"/>
                <a:ext cx="203792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b="1" dirty="0">
                    <a:latin typeface="Times New Roman" pitchFamily="18" charset="0"/>
                    <a:ea typeface="黑体" pitchFamily="49" charset="-122"/>
                  </a:rPr>
                  <a:t>Web</a:t>
                </a:r>
                <a:r>
                  <a:rPr lang="zh-CN" altLang="en-US" sz="2400" b="1" dirty="0">
                    <a:latin typeface="Times New Roman" pitchFamily="18" charset="0"/>
                    <a:ea typeface="黑体" pitchFamily="49" charset="-122"/>
                  </a:rPr>
                  <a:t>数据库等</a:t>
                </a:r>
              </a:p>
            </p:txBody>
          </p:sp>
        </p:grpSp>
      </p:grpSp>
      <p:sp>
        <p:nvSpPr>
          <p:cNvPr id="64" name="矩形 63"/>
          <p:cNvSpPr/>
          <p:nvPr/>
        </p:nvSpPr>
        <p:spPr>
          <a:xfrm>
            <a:off x="2279962" y="4877128"/>
            <a:ext cx="273825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200" b="1" dirty="0">
                <a:latin typeface="Times New Roman" pitchFamily="18" charset="0"/>
                <a:ea typeface="黑体" pitchFamily="49" charset="-122"/>
              </a:rPr>
              <a:t>基于顺序表的查找：</a:t>
            </a:r>
            <a:endParaRPr lang="zh-CN" altLang="en-US" sz="2200" b="1" dirty="0">
              <a:solidFill>
                <a:srgbClr val="0000FF"/>
              </a:solidFill>
              <a:latin typeface="Times New Roman" pitchFamily="18" charset="0"/>
              <a:ea typeface="黑体" pitchFamily="49" charset="-122"/>
            </a:endParaRPr>
          </a:p>
        </p:txBody>
      </p:sp>
      <p:grpSp>
        <p:nvGrpSpPr>
          <p:cNvPr id="65" name="组合 64"/>
          <p:cNvGrpSpPr/>
          <p:nvPr/>
        </p:nvGrpSpPr>
        <p:grpSpPr>
          <a:xfrm>
            <a:off x="1937652" y="3672116"/>
            <a:ext cx="5519738" cy="1028699"/>
            <a:chOff x="1676400" y="3759200"/>
            <a:chExt cx="5519738" cy="1028699"/>
          </a:xfrm>
        </p:grpSpPr>
        <p:grpSp>
          <p:nvGrpSpPr>
            <p:cNvPr id="66" name="组合 65"/>
            <p:cNvGrpSpPr/>
            <p:nvPr/>
          </p:nvGrpSpPr>
          <p:grpSpPr>
            <a:xfrm>
              <a:off x="1676400" y="3759200"/>
              <a:ext cx="5519738" cy="1028699"/>
              <a:chOff x="1676400" y="3975100"/>
              <a:chExt cx="5519738" cy="1028699"/>
            </a:xfrm>
          </p:grpSpPr>
          <p:grpSp>
            <p:nvGrpSpPr>
              <p:cNvPr id="68" name="组合 67"/>
              <p:cNvGrpSpPr/>
              <p:nvPr/>
            </p:nvGrpSpPr>
            <p:grpSpPr>
              <a:xfrm>
                <a:off x="1676400" y="4285241"/>
                <a:ext cx="5519738" cy="718558"/>
                <a:chOff x="1590675" y="4186239"/>
                <a:chExt cx="5834063" cy="890706"/>
              </a:xfrm>
            </p:grpSpPr>
            <p:pic>
              <p:nvPicPr>
                <p:cNvPr id="71" name="Picture 8"/>
                <p:cNvPicPr>
                  <a:picLocks noChangeAspect="1" noChangeArrowheads="1"/>
                </p:cNvPicPr>
                <p:nvPr/>
              </p:nvPicPr>
              <p:blipFill>
                <a:blip r:embed="rId5" cstate="print"/>
                <a:srcRect/>
                <a:stretch>
                  <a:fillRect/>
                </a:stretch>
              </p:blipFill>
              <p:spPr bwMode="auto">
                <a:xfrm>
                  <a:off x="1590675" y="4186239"/>
                  <a:ext cx="2781300" cy="89070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pic>
              <p:nvPicPr>
                <p:cNvPr id="72" name="Picture 7"/>
                <p:cNvPicPr>
                  <a:picLocks noChangeAspect="1" noChangeArrowheads="1"/>
                </p:cNvPicPr>
                <p:nvPr/>
              </p:nvPicPr>
              <p:blipFill>
                <a:blip r:embed="rId6" cstate="print"/>
                <a:srcRect/>
                <a:stretch>
                  <a:fillRect/>
                </a:stretch>
              </p:blipFill>
              <p:spPr bwMode="auto">
                <a:xfrm>
                  <a:off x="4343396" y="4195766"/>
                  <a:ext cx="3081342" cy="87025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</p:grpSp>
          <p:sp>
            <p:nvSpPr>
              <p:cNvPr id="69" name="下箭头 68"/>
              <p:cNvSpPr/>
              <p:nvPr/>
            </p:nvSpPr>
            <p:spPr>
              <a:xfrm>
                <a:off x="4400972" y="3975100"/>
                <a:ext cx="145628" cy="252509"/>
              </a:xfrm>
              <a:prstGeom prst="downArrow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" name="下箭头 69"/>
              <p:cNvSpPr/>
              <p:nvPr/>
            </p:nvSpPr>
            <p:spPr>
              <a:xfrm>
                <a:off x="6623887" y="3975100"/>
                <a:ext cx="145628" cy="252509"/>
              </a:xfrm>
              <a:prstGeom prst="downArrow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7" name="下箭头 66"/>
            <p:cNvSpPr/>
            <p:nvPr/>
          </p:nvSpPr>
          <p:spPr>
            <a:xfrm>
              <a:off x="2330872" y="3759200"/>
              <a:ext cx="145628" cy="252509"/>
            </a:xfrm>
            <a:prstGeom prst="downArrow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3" name="矩形 72"/>
          <p:cNvSpPr/>
          <p:nvPr/>
        </p:nvSpPr>
        <p:spPr>
          <a:xfrm>
            <a:off x="2292662" y="5562928"/>
            <a:ext cx="2454518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200" b="1" dirty="0">
                <a:latin typeface="Times New Roman" pitchFamily="18" charset="0"/>
                <a:ea typeface="黑体" pitchFamily="49" charset="-122"/>
              </a:rPr>
              <a:t>基于树表的查找：</a:t>
            </a:r>
            <a:endParaRPr lang="zh-CN" altLang="en-US" sz="2200" b="1" dirty="0">
              <a:solidFill>
                <a:srgbClr val="0000FF"/>
              </a:solidFill>
              <a:latin typeface="Times New Roman" pitchFamily="18" charset="0"/>
              <a:ea typeface="黑体" pitchFamily="49" charset="-122"/>
            </a:endParaRPr>
          </a:p>
        </p:txBody>
      </p:sp>
      <p:sp>
        <p:nvSpPr>
          <p:cNvPr id="75" name="椭圆 74"/>
          <p:cNvSpPr/>
          <p:nvPr/>
        </p:nvSpPr>
        <p:spPr>
          <a:xfrm>
            <a:off x="5613400" y="5513616"/>
            <a:ext cx="1600200" cy="520700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4750112" y="5537528"/>
            <a:ext cx="2736647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200" b="1" dirty="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</a:rPr>
              <a:t>B-</a:t>
            </a:r>
            <a:r>
              <a:rPr lang="zh-CN" altLang="en-US" sz="2200" b="1" dirty="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</a:rPr>
              <a:t>树、二叉排序树等</a:t>
            </a:r>
          </a:p>
        </p:txBody>
      </p:sp>
      <p:grpSp>
        <p:nvGrpSpPr>
          <p:cNvPr id="77" name="组合 76"/>
          <p:cNvGrpSpPr/>
          <p:nvPr/>
        </p:nvGrpSpPr>
        <p:grpSpPr>
          <a:xfrm>
            <a:off x="355600" y="1265483"/>
            <a:ext cx="2657475" cy="2426136"/>
            <a:chOff x="355600" y="1323539"/>
            <a:chExt cx="2657475" cy="2426136"/>
          </a:xfrm>
        </p:grpSpPr>
        <p:sp>
          <p:nvSpPr>
            <p:cNvPr id="78" name="任意多边形 77"/>
            <p:cNvSpPr/>
            <p:nvPr/>
          </p:nvSpPr>
          <p:spPr>
            <a:xfrm>
              <a:off x="742950" y="1340079"/>
              <a:ext cx="1835149" cy="603021"/>
            </a:xfrm>
            <a:custGeom>
              <a:avLst/>
              <a:gdLst>
                <a:gd name="connsiteX0" fmla="*/ 50498 w 1930400"/>
                <a:gd name="connsiteY0" fmla="*/ 0 h 638521"/>
                <a:gd name="connsiteX1" fmla="*/ 1879902 w 1930400"/>
                <a:gd name="connsiteY1" fmla="*/ 0 h 638521"/>
                <a:gd name="connsiteX2" fmla="*/ 1930400 w 1930400"/>
                <a:gd name="connsiteY2" fmla="*/ 50498 h 638521"/>
                <a:gd name="connsiteX3" fmla="*/ 1930400 w 1930400"/>
                <a:gd name="connsiteY3" fmla="*/ 442988 h 638521"/>
                <a:gd name="connsiteX4" fmla="*/ 1879902 w 1930400"/>
                <a:gd name="connsiteY4" fmla="*/ 493486 h 638521"/>
                <a:gd name="connsiteX5" fmla="*/ 1124527 w 1930400"/>
                <a:gd name="connsiteY5" fmla="*/ 493486 h 638521"/>
                <a:gd name="connsiteX6" fmla="*/ 965200 w 1930400"/>
                <a:gd name="connsiteY6" fmla="*/ 638521 h 638521"/>
                <a:gd name="connsiteX7" fmla="*/ 805872 w 1930400"/>
                <a:gd name="connsiteY7" fmla="*/ 493486 h 638521"/>
                <a:gd name="connsiteX8" fmla="*/ 50498 w 1930400"/>
                <a:gd name="connsiteY8" fmla="*/ 493486 h 638521"/>
                <a:gd name="connsiteX9" fmla="*/ 0 w 1930400"/>
                <a:gd name="connsiteY9" fmla="*/ 442988 h 638521"/>
                <a:gd name="connsiteX10" fmla="*/ 0 w 1930400"/>
                <a:gd name="connsiteY10" fmla="*/ 50498 h 638521"/>
                <a:gd name="connsiteX11" fmla="*/ 50498 w 1930400"/>
                <a:gd name="connsiteY11" fmla="*/ 0 h 638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930400" h="638521">
                  <a:moveTo>
                    <a:pt x="50498" y="0"/>
                  </a:moveTo>
                  <a:lnTo>
                    <a:pt x="1879902" y="0"/>
                  </a:lnTo>
                  <a:cubicBezTo>
                    <a:pt x="1907791" y="0"/>
                    <a:pt x="1930400" y="22609"/>
                    <a:pt x="1930400" y="50498"/>
                  </a:cubicBezTo>
                  <a:lnTo>
                    <a:pt x="1930400" y="442988"/>
                  </a:lnTo>
                  <a:cubicBezTo>
                    <a:pt x="1930400" y="470877"/>
                    <a:pt x="1907791" y="493486"/>
                    <a:pt x="1879902" y="493486"/>
                  </a:cubicBezTo>
                  <a:lnTo>
                    <a:pt x="1124527" y="493486"/>
                  </a:lnTo>
                  <a:lnTo>
                    <a:pt x="965200" y="638521"/>
                  </a:lnTo>
                  <a:lnTo>
                    <a:pt x="805872" y="493486"/>
                  </a:lnTo>
                  <a:lnTo>
                    <a:pt x="50498" y="493486"/>
                  </a:lnTo>
                  <a:cubicBezTo>
                    <a:pt x="22609" y="493486"/>
                    <a:pt x="0" y="470877"/>
                    <a:pt x="0" y="442988"/>
                  </a:cubicBezTo>
                  <a:lnTo>
                    <a:pt x="0" y="50498"/>
                  </a:lnTo>
                  <a:cubicBezTo>
                    <a:pt x="0" y="22609"/>
                    <a:pt x="22609" y="0"/>
                    <a:pt x="50498" y="0"/>
                  </a:cubicBezTo>
                  <a:close/>
                </a:path>
              </a:pathLst>
            </a:custGeom>
            <a:gradFill>
              <a:gsLst>
                <a:gs pos="0">
                  <a:schemeClr val="bg1"/>
                </a:gs>
                <a:gs pos="100000">
                  <a:schemeClr val="bg1">
                    <a:lumMod val="80000"/>
                  </a:schemeClr>
                </a:gs>
              </a:gsLst>
              <a:lin ang="2700000" scaled="1"/>
            </a:gradFill>
            <a:ln>
              <a:noFill/>
            </a:ln>
            <a:effectLst>
              <a:outerShdw blurRad="101600" dist="508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>
                <a:solidFill>
                  <a:prstClr val="white"/>
                </a:solidFill>
              </a:endParaRPr>
            </a:p>
          </p:txBody>
        </p:sp>
        <p:grpSp>
          <p:nvGrpSpPr>
            <p:cNvPr id="79" name="组合 78"/>
            <p:cNvGrpSpPr/>
            <p:nvPr/>
          </p:nvGrpSpPr>
          <p:grpSpPr>
            <a:xfrm>
              <a:off x="355600" y="1323539"/>
              <a:ext cx="2657475" cy="2426136"/>
              <a:chOff x="355600" y="1323539"/>
              <a:chExt cx="2657475" cy="2426136"/>
            </a:xfrm>
          </p:grpSpPr>
          <p:pic>
            <p:nvPicPr>
              <p:cNvPr id="81" name="Picture 3"/>
              <p:cNvPicPr>
                <a:picLocks noChangeAspect="1" noChangeArrowheads="1"/>
              </p:cNvPicPr>
              <p:nvPr/>
            </p:nvPicPr>
            <p:blipFill>
              <a:blip r:embed="rId7" cstate="print"/>
              <a:srcRect/>
              <a:stretch>
                <a:fillRect/>
              </a:stretch>
            </p:blipFill>
            <p:spPr bwMode="auto">
              <a:xfrm>
                <a:off x="355600" y="2068513"/>
                <a:ext cx="2657475" cy="168116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82" name="文本框 146"/>
              <p:cNvSpPr txBox="1"/>
              <p:nvPr/>
            </p:nvSpPr>
            <p:spPr>
              <a:xfrm>
                <a:off x="776033" y="1323539"/>
                <a:ext cx="182429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400" b="1" dirty="0">
                    <a:latin typeface="黑体" pitchFamily="49" charset="-122"/>
                    <a:ea typeface="黑体" pitchFamily="49" charset="-122"/>
                  </a:rPr>
                  <a:t>购物数据库</a:t>
                </a:r>
              </a:p>
            </p:txBody>
          </p:sp>
        </p:grpSp>
        <p:pic>
          <p:nvPicPr>
            <p:cNvPr id="80" name="Picture 4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355600" y="3014181"/>
              <a:ext cx="1262468" cy="6001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83" name="组合 82"/>
          <p:cNvGrpSpPr/>
          <p:nvPr/>
        </p:nvGrpSpPr>
        <p:grpSpPr>
          <a:xfrm>
            <a:off x="292100" y="4865916"/>
            <a:ext cx="2006601" cy="1300056"/>
            <a:chOff x="279400" y="4883589"/>
            <a:chExt cx="2044701" cy="1432967"/>
          </a:xfrm>
        </p:grpSpPr>
        <p:pic>
          <p:nvPicPr>
            <p:cNvPr id="84" name="Picture 9"/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279400" y="4883589"/>
              <a:ext cx="1947863" cy="14329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85" name="Picture 14"/>
            <p:cNvPicPr>
              <a:picLocks noChangeAspect="1" noChangeArrowheads="1"/>
            </p:cNvPicPr>
            <p:nvPr/>
          </p:nvPicPr>
          <p:blipFill>
            <a:blip r:embed="rId10" cstate="print"/>
            <a:srcRect/>
            <a:stretch>
              <a:fillRect/>
            </a:stretch>
          </p:blipFill>
          <p:spPr bwMode="auto">
            <a:xfrm>
              <a:off x="1208089" y="5295900"/>
              <a:ext cx="1116012" cy="4365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86" name="组合 85"/>
          <p:cNvGrpSpPr/>
          <p:nvPr/>
        </p:nvGrpSpPr>
        <p:grpSpPr>
          <a:xfrm>
            <a:off x="590936" y="125006"/>
            <a:ext cx="4234912" cy="646307"/>
            <a:chOff x="958665" y="1326432"/>
            <a:chExt cx="4563773" cy="687269"/>
          </a:xfrm>
        </p:grpSpPr>
        <p:sp>
          <p:nvSpPr>
            <p:cNvPr id="87" name="TextBox 6"/>
            <p:cNvSpPr txBox="1">
              <a:spLocks noChangeArrowheads="1"/>
            </p:cNvSpPr>
            <p:nvPr/>
          </p:nvSpPr>
          <p:spPr bwMode="auto">
            <a:xfrm>
              <a:off x="1291290" y="1326432"/>
              <a:ext cx="4231148" cy="687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17" tIns="45708" rIns="91417" bIns="45708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marL="0" lvl="1" algn="ctr"/>
              <a:r>
                <a:rPr lang="en-US" altLang="zh-CN" sz="3600" b="1" dirty="0">
                  <a:latin typeface="Times New Roman" pitchFamily="18" charset="0"/>
                  <a:ea typeface="黑体" pitchFamily="49" charset="-122"/>
                </a:rPr>
                <a:t>10.1 </a:t>
              </a:r>
              <a:r>
                <a:rPr lang="zh-CN" altLang="en-US" sz="3600" b="1" dirty="0">
                  <a:latin typeface="Times New Roman" pitchFamily="18" charset="0"/>
                  <a:ea typeface="黑体" pitchFamily="49" charset="-122"/>
                </a:rPr>
                <a:t>概述</a:t>
              </a:r>
              <a:r>
                <a:rPr lang="en-US" altLang="zh-CN" sz="3600" b="1" dirty="0">
                  <a:latin typeface="Times New Roman" pitchFamily="18" charset="0"/>
                  <a:ea typeface="黑体" pitchFamily="49" charset="-122"/>
                </a:rPr>
                <a:t>-</a:t>
              </a:r>
              <a:r>
                <a:rPr lang="zh-CN" altLang="en-US" sz="3600" b="1" dirty="0">
                  <a:latin typeface="Times New Roman" pitchFamily="18" charset="0"/>
                  <a:ea typeface="黑体" pitchFamily="49" charset="-122"/>
                </a:rPr>
                <a:t>引例</a:t>
              </a:r>
              <a:endParaRPr lang="zh-CN" altLang="en-US" sz="3600" b="1" dirty="0">
                <a:latin typeface="黑体" pitchFamily="49" charset="-122"/>
                <a:ea typeface="黑体" pitchFamily="49" charset="-122"/>
              </a:endParaRPr>
            </a:p>
          </p:txBody>
        </p:sp>
        <p:grpSp>
          <p:nvGrpSpPr>
            <p:cNvPr id="88" name="组合 87"/>
            <p:cNvGrpSpPr/>
            <p:nvPr/>
          </p:nvGrpSpPr>
          <p:grpSpPr>
            <a:xfrm>
              <a:off x="958665" y="1327471"/>
              <a:ext cx="842977" cy="683003"/>
              <a:chOff x="958665" y="1327471"/>
              <a:chExt cx="842977" cy="683003"/>
            </a:xfrm>
          </p:grpSpPr>
          <p:sp>
            <p:nvSpPr>
              <p:cNvPr id="89" name="Freeform 5"/>
              <p:cNvSpPr>
                <a:spLocks/>
              </p:cNvSpPr>
              <p:nvPr/>
            </p:nvSpPr>
            <p:spPr bwMode="auto">
              <a:xfrm>
                <a:off x="958665" y="1327471"/>
                <a:ext cx="842977" cy="683003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FF8080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4000" b="1" dirty="0">
                  <a:ea typeface="微软雅黑" pitchFamily="34" charset="-122"/>
                </a:endParaRPr>
              </a:p>
            </p:txBody>
          </p:sp>
          <p:pic>
            <p:nvPicPr>
              <p:cNvPr id="90" name="图片 89" descr="1.jpg"/>
              <p:cNvPicPr>
                <a:picLocks noChangeAspect="1"/>
              </p:cNvPicPr>
              <p:nvPr/>
            </p:nvPicPr>
            <p:blipFill>
              <a:blip r:embed="rId11" cstate="print"/>
              <a:stretch>
                <a:fillRect/>
              </a:stretch>
            </p:blipFill>
            <p:spPr>
              <a:xfrm>
                <a:off x="1189071" y="1467621"/>
                <a:ext cx="377680" cy="419801"/>
              </a:xfrm>
              <a:prstGeom prst="rect">
                <a:avLst/>
              </a:prstGeom>
            </p:spPr>
          </p:pic>
        </p:grpSp>
      </p:grpSp>
      <p:sp>
        <p:nvSpPr>
          <p:cNvPr id="92" name="矩形 91"/>
          <p:cNvSpPr/>
          <p:nvPr/>
        </p:nvSpPr>
        <p:spPr>
          <a:xfrm>
            <a:off x="5353362" y="4889828"/>
            <a:ext cx="302198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200" b="1" dirty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维护代价巨大，</a:t>
            </a:r>
            <a:endParaRPr lang="en-US" altLang="zh-CN" sz="2200" b="1" dirty="0">
              <a:solidFill>
                <a:srgbClr val="FF0000"/>
              </a:solidFill>
              <a:latin typeface="Times New Roman" pitchFamily="18" charset="0"/>
              <a:ea typeface="黑体" pitchFamily="49" charset="-122"/>
            </a:endParaRPr>
          </a:p>
          <a:p>
            <a:r>
              <a:rPr lang="zh-CN" altLang="en-US" sz="2200" b="1" dirty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查找时间复杂度巨大！</a:t>
            </a:r>
          </a:p>
        </p:txBody>
      </p:sp>
    </p:spTree>
    <p:extLst>
      <p:ext uri="{BB962C8B-B14F-4D97-AF65-F5344CB8AC3E}">
        <p14:creationId xmlns:p14="http://schemas.microsoft.com/office/powerpoint/2010/main" val="2538033883"/>
      </p:ext>
    </p:extLst>
  </p:cSld>
  <p:clrMapOvr>
    <a:masterClrMapping/>
  </p:clrMapOvr>
  <p:transition spd="slow" advClick="0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6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/>
      <p:bldP spid="73" grpId="0"/>
      <p:bldP spid="75" grpId="0" animBg="1"/>
      <p:bldP spid="76" grpId="0"/>
      <p:bldP spid="9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512" y="1052736"/>
            <a:ext cx="8820150" cy="511175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rgbClr val="FF0000"/>
                </a:solidFill>
              </a:rPr>
              <a:t>查找</a:t>
            </a:r>
            <a:r>
              <a:rPr lang="zh-CN" altLang="en-US" sz="2400" b="1" dirty="0"/>
              <a:t>是现实生活和软件设计中</a:t>
            </a:r>
            <a:r>
              <a:rPr lang="zh-CN" altLang="en-US" sz="2400" b="1" dirty="0">
                <a:solidFill>
                  <a:srgbClr val="FF0000"/>
                </a:solidFill>
              </a:rPr>
              <a:t>最常用</a:t>
            </a:r>
            <a:r>
              <a:rPr lang="zh-CN" altLang="en-US" sz="2400" b="1" dirty="0"/>
              <a:t>的运算</a:t>
            </a:r>
            <a:endParaRPr lang="en-US" altLang="zh-CN" sz="2400" b="1" dirty="0"/>
          </a:p>
          <a:p>
            <a:pPr lvl="1">
              <a:lnSpc>
                <a:spcPct val="80000"/>
              </a:lnSpc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2000" b="1" dirty="0">
                <a:solidFill>
                  <a:srgbClr val="FF0000"/>
                </a:solidFill>
              </a:rPr>
              <a:t>例如</a:t>
            </a:r>
            <a:r>
              <a:rPr lang="zh-CN" altLang="en-US" sz="2100" b="1" dirty="0">
                <a:solidFill>
                  <a:srgbClr val="FF0000"/>
                </a:solidFill>
              </a:rPr>
              <a:t>：</a:t>
            </a:r>
            <a:endParaRPr lang="zh-CN" altLang="en-US" sz="2000" b="1" dirty="0">
              <a:solidFill>
                <a:srgbClr val="FF0000"/>
              </a:solidFill>
            </a:endParaRPr>
          </a:p>
          <a:p>
            <a:pPr lvl="2">
              <a:lnSpc>
                <a:spcPct val="80000"/>
              </a:lnSpc>
              <a:buClr>
                <a:srgbClr val="FF0000"/>
              </a:buClr>
            </a:pPr>
            <a:r>
              <a:rPr lang="zh-CN" altLang="en-US" b="1" dirty="0"/>
              <a:t>查字典、辞典、电话号码，</a:t>
            </a:r>
          </a:p>
          <a:p>
            <a:pPr lvl="2">
              <a:lnSpc>
                <a:spcPct val="80000"/>
              </a:lnSpc>
              <a:buClr>
                <a:srgbClr val="FF0000"/>
              </a:buClr>
            </a:pPr>
            <a:r>
              <a:rPr lang="zh-CN" altLang="en-US" b="1" dirty="0"/>
              <a:t>高考成绩查询</a:t>
            </a:r>
            <a:r>
              <a:rPr lang="zh-CN" altLang="en-US" b="1" dirty="0">
                <a:solidFill>
                  <a:schemeClr val="accent2"/>
                </a:solidFill>
              </a:rPr>
              <a:t> </a:t>
            </a:r>
            <a:r>
              <a:rPr lang="zh-CN" altLang="en-US" b="1" dirty="0"/>
              <a:t>，考试成绩查询</a:t>
            </a:r>
            <a:endParaRPr lang="en-US" altLang="zh-CN" b="1" dirty="0"/>
          </a:p>
          <a:p>
            <a:pPr marL="914400" lvl="2" indent="0">
              <a:lnSpc>
                <a:spcPct val="50000"/>
              </a:lnSpc>
              <a:buClr>
                <a:srgbClr val="FF0000"/>
              </a:buClr>
              <a:buNone/>
            </a:pPr>
            <a:endParaRPr lang="zh-CN" altLang="en-US" b="1" dirty="0"/>
          </a:p>
          <a:p>
            <a:pPr>
              <a:lnSpc>
                <a:spcPct val="8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/>
              <a:t>查找方法的</a:t>
            </a:r>
            <a:r>
              <a:rPr lang="zh-CN" altLang="en-US" sz="2400" b="1" dirty="0">
                <a:solidFill>
                  <a:srgbClr val="FF0000"/>
                </a:solidFill>
              </a:rPr>
              <a:t>性能</a:t>
            </a:r>
            <a:r>
              <a:rPr lang="zh-CN" altLang="en-US" sz="2400" b="1" dirty="0"/>
              <a:t>会影响到软件系统的性能。</a:t>
            </a:r>
            <a:endParaRPr lang="en-US" altLang="zh-CN" sz="2400" b="1" dirty="0"/>
          </a:p>
          <a:p>
            <a:pPr lvl="2">
              <a:lnSpc>
                <a:spcPct val="5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endParaRPr lang="zh-CN" altLang="en-US" b="1" dirty="0"/>
          </a:p>
          <a:p>
            <a:pPr eaLnBrk="1" hangingPunct="1">
              <a:lnSpc>
                <a:spcPct val="8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/>
              <a:t>对此，涉及到几个相关的问题：</a:t>
            </a:r>
          </a:p>
          <a:p>
            <a:pPr lvl="1" eaLnBrk="1" hangingPunct="1">
              <a:lnSpc>
                <a:spcPct val="80000"/>
              </a:lnSpc>
              <a:buClr>
                <a:srgbClr val="FF0000"/>
              </a:buClr>
            </a:pPr>
            <a:r>
              <a:rPr lang="zh-CN" altLang="en-US" sz="2400" b="1" dirty="0"/>
              <a:t>如何设计查找方法？</a:t>
            </a:r>
          </a:p>
          <a:p>
            <a:pPr lvl="1" eaLnBrk="1" hangingPunct="1">
              <a:lnSpc>
                <a:spcPct val="80000"/>
              </a:lnSpc>
              <a:buClr>
                <a:srgbClr val="FF0000"/>
              </a:buClr>
            </a:pPr>
            <a:r>
              <a:rPr lang="zh-CN" altLang="en-US" sz="2400" b="1" dirty="0"/>
              <a:t>如何评价查找性能？</a:t>
            </a:r>
          </a:p>
          <a:p>
            <a:pPr lvl="1" eaLnBrk="1" hangingPunct="1">
              <a:lnSpc>
                <a:spcPct val="80000"/>
              </a:lnSpc>
              <a:buClr>
                <a:srgbClr val="FF0000"/>
              </a:buClr>
            </a:pPr>
            <a:r>
              <a:rPr lang="zh-CN" altLang="en-US" sz="2400" b="1" dirty="0"/>
              <a:t>如何组织数据，以便能更好地提高查找的性能？</a:t>
            </a:r>
            <a:endParaRPr lang="en-US" altLang="zh-CN" sz="2400" b="1" dirty="0"/>
          </a:p>
          <a:p>
            <a:pPr lvl="1" eaLnBrk="1" hangingPunct="1">
              <a:lnSpc>
                <a:spcPct val="50000"/>
              </a:lnSpc>
              <a:buClr>
                <a:srgbClr val="FF0000"/>
              </a:buClr>
            </a:pPr>
            <a:endParaRPr lang="zh-CN" altLang="en-US" sz="2400" b="1" dirty="0"/>
          </a:p>
          <a:p>
            <a:pPr eaLnBrk="1" hangingPunct="1">
              <a:lnSpc>
                <a:spcPct val="8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/>
              <a:t>本章主要内容：</a:t>
            </a:r>
          </a:p>
          <a:p>
            <a:pPr lvl="1">
              <a:lnSpc>
                <a:spcPct val="80000"/>
              </a:lnSpc>
              <a:buClr>
                <a:srgbClr val="FF0000"/>
              </a:buClr>
            </a:pPr>
            <a:r>
              <a:rPr lang="zh-CN" altLang="en-US" sz="2400" b="1" dirty="0"/>
              <a:t>介绍查找的相关概念，</a:t>
            </a:r>
          </a:p>
          <a:p>
            <a:pPr lvl="1">
              <a:lnSpc>
                <a:spcPct val="80000"/>
              </a:lnSpc>
              <a:buClr>
                <a:srgbClr val="FF0000"/>
              </a:buClr>
            </a:pPr>
            <a:r>
              <a:rPr lang="zh-CN" altLang="en-US" sz="2400" b="1" dirty="0"/>
              <a:t>围绕几种常见的数据表，讨论查找的方法，并分析其性能。  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6</a:t>
            </a:fld>
            <a:endParaRPr lang="zh-CN" altLang="en-US" dirty="0"/>
          </a:p>
        </p:txBody>
      </p:sp>
      <p:grpSp>
        <p:nvGrpSpPr>
          <p:cNvPr id="7" name="组合 6"/>
          <p:cNvGrpSpPr/>
          <p:nvPr/>
        </p:nvGrpSpPr>
        <p:grpSpPr>
          <a:xfrm>
            <a:off x="395536" y="125006"/>
            <a:ext cx="3926256" cy="646307"/>
            <a:chOff x="748090" y="1326432"/>
            <a:chExt cx="4231148" cy="687269"/>
          </a:xfrm>
        </p:grpSpPr>
        <p:sp>
          <p:nvSpPr>
            <p:cNvPr id="8" name="TextBox 6"/>
            <p:cNvSpPr txBox="1">
              <a:spLocks noChangeArrowheads="1"/>
            </p:cNvSpPr>
            <p:nvPr/>
          </p:nvSpPr>
          <p:spPr bwMode="auto">
            <a:xfrm>
              <a:off x="748090" y="1326432"/>
              <a:ext cx="4231148" cy="687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17" tIns="45708" rIns="91417" bIns="45708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marL="0" lvl="1" algn="ctr"/>
              <a:r>
                <a:rPr lang="en-US" altLang="zh-CN" sz="3600" b="1" dirty="0">
                  <a:latin typeface="Times New Roman" pitchFamily="18" charset="0"/>
                  <a:ea typeface="黑体" pitchFamily="49" charset="-122"/>
                </a:rPr>
                <a:t>10.1 </a:t>
              </a:r>
              <a:r>
                <a:rPr lang="zh-CN" altLang="en-US" sz="3600" b="1" dirty="0">
                  <a:latin typeface="Times New Roman" pitchFamily="18" charset="0"/>
                  <a:ea typeface="黑体" pitchFamily="49" charset="-122"/>
                </a:rPr>
                <a:t>概述</a:t>
              </a:r>
              <a:endParaRPr lang="zh-CN" altLang="en-US" sz="3600" b="1" dirty="0">
                <a:latin typeface="黑体" pitchFamily="49" charset="-122"/>
                <a:ea typeface="黑体" pitchFamily="49" charset="-122"/>
              </a:endParaRPr>
            </a:p>
          </p:txBody>
        </p:sp>
        <p:grpSp>
          <p:nvGrpSpPr>
            <p:cNvPr id="9" name="组合 8"/>
            <p:cNvGrpSpPr/>
            <p:nvPr/>
          </p:nvGrpSpPr>
          <p:grpSpPr>
            <a:xfrm>
              <a:off x="958665" y="1327471"/>
              <a:ext cx="842977" cy="683003"/>
              <a:chOff x="958665" y="1327471"/>
              <a:chExt cx="842977" cy="683003"/>
            </a:xfrm>
          </p:grpSpPr>
          <p:sp>
            <p:nvSpPr>
              <p:cNvPr id="10" name="Freeform 5"/>
              <p:cNvSpPr>
                <a:spLocks/>
              </p:cNvSpPr>
              <p:nvPr/>
            </p:nvSpPr>
            <p:spPr bwMode="auto">
              <a:xfrm>
                <a:off x="958665" y="1327471"/>
                <a:ext cx="842977" cy="683003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FF8080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4000" b="1" dirty="0">
                  <a:ea typeface="微软雅黑" pitchFamily="34" charset="-122"/>
                </a:endParaRPr>
              </a:p>
            </p:txBody>
          </p:sp>
          <p:pic>
            <p:nvPicPr>
              <p:cNvPr id="11" name="图片 10" descr="1.jpg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189071" y="1467621"/>
                <a:ext cx="377680" cy="41980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018971015"/>
      </p:ext>
    </p:extLst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8" y="900074"/>
            <a:ext cx="8820472" cy="5039295"/>
          </a:xfrm>
        </p:spPr>
        <p:txBody>
          <a:bodyPr/>
          <a:lstStyle/>
          <a:p>
            <a:pPr eaLnBrk="1" hangingPunct="1">
              <a:spcBef>
                <a:spcPts val="400"/>
              </a:spcBef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rgbClr val="FF0000"/>
                </a:solidFill>
              </a:rPr>
              <a:t>查找</a:t>
            </a:r>
          </a:p>
          <a:p>
            <a:pPr eaLnBrk="1" hangingPunct="1">
              <a:spcBef>
                <a:spcPts val="400"/>
              </a:spcBef>
              <a:buFont typeface="Wingdings" panose="05000000000000000000" pitchFamily="2" charset="2"/>
              <a:buNone/>
            </a:pPr>
            <a:r>
              <a:rPr lang="zh-CN" altLang="en-US" sz="2200" b="1" dirty="0"/>
              <a:t>      </a:t>
            </a:r>
            <a:r>
              <a:rPr lang="en-US" altLang="zh-CN" sz="2200" b="1" dirty="0"/>
              <a:t>——</a:t>
            </a:r>
            <a:r>
              <a:rPr lang="zh-CN" altLang="en-US" sz="2200" b="1" dirty="0"/>
              <a:t>在</a:t>
            </a:r>
            <a:r>
              <a:rPr lang="zh-CN" altLang="en-US" sz="2200" b="1" dirty="0">
                <a:solidFill>
                  <a:srgbClr val="CC0000"/>
                </a:solidFill>
              </a:rPr>
              <a:t>数据集</a:t>
            </a:r>
            <a:r>
              <a:rPr lang="zh-CN" altLang="en-US" sz="2200" b="1" dirty="0"/>
              <a:t>（表）中</a:t>
            </a:r>
            <a:r>
              <a:rPr lang="zh-CN" altLang="en-US" sz="2200" b="1" dirty="0">
                <a:solidFill>
                  <a:srgbClr val="CC0000"/>
                </a:solidFill>
              </a:rPr>
              <a:t>找出</a:t>
            </a:r>
            <a:r>
              <a:rPr lang="zh-CN" altLang="en-US" sz="2200" b="1" dirty="0"/>
              <a:t>一个</a:t>
            </a:r>
            <a:r>
              <a:rPr lang="zh-CN" altLang="en-US" sz="2200" b="1" dirty="0">
                <a:solidFill>
                  <a:srgbClr val="CC0000"/>
                </a:solidFill>
              </a:rPr>
              <a:t>特定元素</a:t>
            </a:r>
            <a:r>
              <a:rPr lang="zh-CN" altLang="en-US" sz="2200" b="1" dirty="0"/>
              <a:t>（</a:t>
            </a:r>
            <a:r>
              <a:rPr lang="zh-CN" altLang="en-US" sz="2200" b="1" dirty="0">
                <a:solidFill>
                  <a:srgbClr val="CC0000"/>
                </a:solidFill>
              </a:rPr>
              <a:t>的位置</a:t>
            </a:r>
            <a:r>
              <a:rPr lang="zh-CN" altLang="en-US" sz="2200" b="1" dirty="0"/>
              <a:t>）。</a:t>
            </a:r>
          </a:p>
          <a:p>
            <a:pPr marL="0" indent="0" eaLnBrk="1" hangingPunct="1">
              <a:spcBef>
                <a:spcPts val="400"/>
              </a:spcBef>
              <a:buNone/>
            </a:pPr>
            <a:r>
              <a:rPr lang="zh-CN" altLang="en-US" sz="1800" b="1" dirty="0">
                <a:solidFill>
                  <a:srgbClr val="0000FF"/>
                </a:solidFill>
              </a:rPr>
              <a:t>    （</a:t>
            </a:r>
            <a:r>
              <a:rPr lang="en-US" altLang="zh-CN" sz="1800" b="1" dirty="0">
                <a:solidFill>
                  <a:srgbClr val="0000FF"/>
                </a:solidFill>
              </a:rPr>
              <a:t>1</a:t>
            </a:r>
            <a:r>
              <a:rPr lang="zh-CN" altLang="en-US" sz="1800" b="1" dirty="0">
                <a:solidFill>
                  <a:srgbClr val="0000FF"/>
                </a:solidFill>
              </a:rPr>
              <a:t>）数据表：什么样数据表？</a:t>
            </a:r>
          </a:p>
          <a:p>
            <a:pPr eaLnBrk="1" hangingPunct="1">
              <a:spcBef>
                <a:spcPts val="400"/>
              </a:spcBef>
              <a:buFont typeface="Wingdings" panose="05000000000000000000" pitchFamily="2" charset="2"/>
              <a:buNone/>
            </a:pPr>
            <a:r>
              <a:rPr lang="zh-CN" altLang="en-US" sz="1800" b="1" dirty="0"/>
              <a:t>              也就是数据表的组织形式？例如：</a:t>
            </a:r>
          </a:p>
          <a:p>
            <a:pPr lvl="1" eaLnBrk="1" hangingPunct="1">
              <a:spcBef>
                <a:spcPts val="400"/>
              </a:spcBef>
              <a:buClr>
                <a:srgbClr val="FF0000"/>
              </a:buClr>
            </a:pPr>
            <a:r>
              <a:rPr lang="zh-CN" altLang="en-US" sz="1800" b="1" dirty="0"/>
              <a:t>汉语字典、英语辞典；</a:t>
            </a:r>
          </a:p>
          <a:p>
            <a:pPr lvl="1" eaLnBrk="1" hangingPunct="1">
              <a:spcBef>
                <a:spcPts val="400"/>
              </a:spcBef>
              <a:buClr>
                <a:srgbClr val="FF0000"/>
              </a:buClr>
            </a:pPr>
            <a:r>
              <a:rPr lang="zh-CN" altLang="en-US" sz="1800" b="1" dirty="0"/>
              <a:t>一个城市的电话号码簿。</a:t>
            </a:r>
          </a:p>
          <a:p>
            <a:pPr lvl="1" eaLnBrk="1" hangingPunct="1">
              <a:spcBef>
                <a:spcPts val="400"/>
              </a:spcBef>
              <a:buClr>
                <a:srgbClr val="FF0000"/>
              </a:buClr>
            </a:pPr>
            <a:r>
              <a:rPr lang="zh-CN" altLang="en-US" sz="1800" b="1" dirty="0"/>
              <a:t>高考成绩表。</a:t>
            </a:r>
          </a:p>
          <a:p>
            <a:pPr eaLnBrk="1" hangingPunct="1">
              <a:spcBef>
                <a:spcPts val="400"/>
              </a:spcBef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rgbClr val="FF0000"/>
                </a:solidFill>
              </a:rPr>
              <a:t>查找表</a:t>
            </a:r>
            <a:r>
              <a:rPr lang="en-US" altLang="zh-CN" sz="2400" b="1" dirty="0">
                <a:solidFill>
                  <a:srgbClr val="FF0000"/>
                </a:solidFill>
              </a:rPr>
              <a:t>(</a:t>
            </a:r>
            <a:r>
              <a:rPr lang="en-US" altLang="zh-CN" sz="2400" b="1" dirty="0">
                <a:solidFill>
                  <a:srgbClr val="0000FF"/>
                </a:solidFill>
              </a:rPr>
              <a:t>Searching Table</a:t>
            </a:r>
            <a:r>
              <a:rPr lang="en-US" altLang="zh-CN" sz="2400" b="1" dirty="0">
                <a:solidFill>
                  <a:srgbClr val="FF0000"/>
                </a:solidFill>
              </a:rPr>
              <a:t>)</a:t>
            </a:r>
            <a:endParaRPr lang="zh-CN" altLang="en-US" sz="2400" b="1" dirty="0"/>
          </a:p>
          <a:p>
            <a:pPr eaLnBrk="1" hangingPunct="1">
              <a:spcBef>
                <a:spcPts val="400"/>
              </a:spcBef>
              <a:buFont typeface="Wingdings" panose="05000000000000000000" pitchFamily="2" charset="2"/>
              <a:buNone/>
            </a:pPr>
            <a:r>
              <a:rPr lang="zh-CN" altLang="en-US" sz="1800" b="1" dirty="0"/>
              <a:t>      </a:t>
            </a:r>
            <a:r>
              <a:rPr lang="en-US" altLang="zh-CN" sz="1800" b="1" dirty="0"/>
              <a:t>——</a:t>
            </a:r>
            <a:r>
              <a:rPr lang="zh-CN" altLang="en-US" sz="1800" b="1" dirty="0">
                <a:latin typeface="楷体_GB2312" pitchFamily="1" charset="-122"/>
              </a:rPr>
              <a:t>同类型的数据元素（记录）所构成的集合。</a:t>
            </a:r>
          </a:p>
          <a:p>
            <a:pPr eaLnBrk="1" hangingPunct="1">
              <a:spcBef>
                <a:spcPts val="400"/>
              </a:spcBef>
              <a:buFont typeface="Wingdings" panose="05000000000000000000" pitchFamily="2" charset="2"/>
              <a:buNone/>
            </a:pPr>
            <a:r>
              <a:rPr lang="zh-CN" altLang="en-US" sz="1800" b="1" dirty="0">
                <a:latin typeface="楷体_GB2312" pitchFamily="1" charset="-122"/>
              </a:rPr>
              <a:t>       </a:t>
            </a:r>
            <a:r>
              <a:rPr lang="zh-CN" altLang="en-US" sz="1800" b="1" dirty="0">
                <a:solidFill>
                  <a:srgbClr val="CC0000"/>
                </a:solidFill>
              </a:rPr>
              <a:t>顺序表</a:t>
            </a:r>
            <a:r>
              <a:rPr lang="en-US" altLang="zh-CN" sz="1800" b="1" dirty="0">
                <a:solidFill>
                  <a:srgbClr val="CC0000"/>
                </a:solidFill>
              </a:rPr>
              <a:t>(</a:t>
            </a:r>
            <a:r>
              <a:rPr lang="en-US" altLang="zh-CN" sz="1800" b="1" dirty="0">
                <a:solidFill>
                  <a:srgbClr val="0000FF"/>
                </a:solidFill>
              </a:rPr>
              <a:t>Sequential List</a:t>
            </a:r>
            <a:r>
              <a:rPr lang="en-US" altLang="zh-CN" sz="1800" b="1" dirty="0">
                <a:solidFill>
                  <a:srgbClr val="CC0000"/>
                </a:solidFill>
              </a:rPr>
              <a:t>)</a:t>
            </a:r>
            <a:r>
              <a:rPr lang="zh-CN" altLang="en-US" sz="1800" b="1" dirty="0"/>
              <a:t>：数据元素构成一个序列。</a:t>
            </a:r>
          </a:p>
          <a:p>
            <a:pPr eaLnBrk="1" hangingPunct="1">
              <a:spcBef>
                <a:spcPts val="400"/>
              </a:spcBef>
              <a:buFont typeface="Wingdings" panose="05000000000000000000" pitchFamily="2" charset="2"/>
              <a:buNone/>
            </a:pPr>
            <a:r>
              <a:rPr lang="zh-CN" altLang="en-US" sz="1800" b="1" dirty="0"/>
              <a:t>              </a:t>
            </a:r>
            <a:r>
              <a:rPr lang="zh-CN" altLang="en-US" sz="1800" b="1" dirty="0">
                <a:solidFill>
                  <a:srgbClr val="CC0000"/>
                </a:solidFill>
              </a:rPr>
              <a:t>树表</a:t>
            </a:r>
            <a:r>
              <a:rPr lang="en-US" altLang="zh-CN" sz="1800" b="1" dirty="0">
                <a:solidFill>
                  <a:srgbClr val="CC0000"/>
                </a:solidFill>
              </a:rPr>
              <a:t>(</a:t>
            </a:r>
            <a:r>
              <a:rPr lang="en-US" altLang="zh-CN" sz="1800" b="1" dirty="0">
                <a:solidFill>
                  <a:srgbClr val="0000FF"/>
                </a:solidFill>
              </a:rPr>
              <a:t>Tree Table</a:t>
            </a:r>
            <a:r>
              <a:rPr lang="en-US" altLang="zh-CN" sz="1800" b="1" dirty="0">
                <a:solidFill>
                  <a:srgbClr val="CC0000"/>
                </a:solidFill>
              </a:rPr>
              <a:t>) </a:t>
            </a:r>
            <a:r>
              <a:rPr lang="zh-CN" altLang="en-US" sz="1800" b="1" dirty="0"/>
              <a:t>：以树结构的形式组织。</a:t>
            </a:r>
          </a:p>
          <a:p>
            <a:pPr eaLnBrk="1" hangingPunct="1">
              <a:spcBef>
                <a:spcPts val="400"/>
              </a:spcBef>
              <a:buFont typeface="Wingdings" panose="05000000000000000000" pitchFamily="2" charset="2"/>
              <a:buNone/>
            </a:pPr>
            <a:r>
              <a:rPr lang="zh-CN" altLang="en-US" sz="1800" b="1" dirty="0"/>
              <a:t>              </a:t>
            </a:r>
            <a:r>
              <a:rPr lang="zh-CN" altLang="en-US" sz="1800" b="1" dirty="0">
                <a:solidFill>
                  <a:srgbClr val="CC0000"/>
                </a:solidFill>
              </a:rPr>
              <a:t>散列表</a:t>
            </a:r>
            <a:r>
              <a:rPr lang="en-US" altLang="zh-CN" sz="1800" b="1" dirty="0">
                <a:solidFill>
                  <a:srgbClr val="CC0000"/>
                </a:solidFill>
              </a:rPr>
              <a:t>(</a:t>
            </a:r>
            <a:r>
              <a:rPr lang="en-US" altLang="zh-CN" sz="1800" b="1" dirty="0">
                <a:solidFill>
                  <a:srgbClr val="0000FF"/>
                </a:solidFill>
              </a:rPr>
              <a:t>Hash Table</a:t>
            </a:r>
            <a:r>
              <a:rPr lang="en-US" altLang="zh-CN" sz="1800" b="1" dirty="0">
                <a:solidFill>
                  <a:srgbClr val="CC0000"/>
                </a:solidFill>
              </a:rPr>
              <a:t>) </a:t>
            </a:r>
            <a:r>
              <a:rPr lang="zh-CN" altLang="en-US" sz="1800" b="1" dirty="0"/>
              <a:t>：以某种函数方式来确定元素的地址，实现数据表的组织。</a:t>
            </a:r>
          </a:p>
          <a:p>
            <a:pPr eaLnBrk="1" hangingPunct="1">
              <a:spcBef>
                <a:spcPts val="400"/>
              </a:spcBef>
              <a:buFont typeface="Wingdings" panose="05000000000000000000" pitchFamily="2" charset="2"/>
              <a:buNone/>
            </a:pPr>
            <a:r>
              <a:rPr lang="zh-CN" altLang="en-US" sz="1800" b="1" dirty="0"/>
              <a:t>              </a:t>
            </a:r>
            <a:r>
              <a:rPr lang="zh-CN" altLang="en-US" sz="1800" b="1" dirty="0">
                <a:solidFill>
                  <a:srgbClr val="CC0000"/>
                </a:solidFill>
              </a:rPr>
              <a:t>索引表</a:t>
            </a:r>
            <a:r>
              <a:rPr lang="en-US" altLang="zh-CN" sz="1800" b="1" dirty="0">
                <a:solidFill>
                  <a:srgbClr val="CC0000"/>
                </a:solidFill>
              </a:rPr>
              <a:t>(</a:t>
            </a:r>
            <a:r>
              <a:rPr lang="en-US" altLang="zh-CN" sz="1800" b="1" dirty="0">
                <a:solidFill>
                  <a:srgbClr val="0000FF"/>
                </a:solidFill>
              </a:rPr>
              <a:t>Indexed Table</a:t>
            </a:r>
            <a:r>
              <a:rPr lang="en-US" altLang="zh-CN" sz="1800" b="1" dirty="0">
                <a:solidFill>
                  <a:srgbClr val="CC0000"/>
                </a:solidFill>
              </a:rPr>
              <a:t>)</a:t>
            </a:r>
            <a:r>
              <a:rPr lang="zh-CN" altLang="en-US" sz="1800" b="1" dirty="0"/>
              <a:t>：为元素建立索引，以提高查找的速度。</a:t>
            </a:r>
          </a:p>
          <a:p>
            <a:pPr eaLnBrk="1" hangingPunct="1">
              <a:spcBef>
                <a:spcPts val="400"/>
              </a:spcBef>
              <a:buClr>
                <a:srgbClr val="FF0000"/>
              </a:buClr>
            </a:pPr>
            <a:r>
              <a:rPr lang="zh-CN" altLang="en-US" sz="1800" b="1" dirty="0"/>
              <a:t>显然，</a:t>
            </a:r>
            <a:r>
              <a:rPr lang="zh-CN" altLang="en-US" sz="1800" b="1" dirty="0">
                <a:solidFill>
                  <a:srgbClr val="CC0000"/>
                </a:solidFill>
              </a:rPr>
              <a:t>查找的方法</a:t>
            </a:r>
            <a:r>
              <a:rPr lang="zh-CN" altLang="en-US" sz="1800" b="1" dirty="0"/>
              <a:t>取决于数据表的组织形式。</a:t>
            </a:r>
          </a:p>
          <a:p>
            <a:pPr lvl="1" eaLnBrk="1" hangingPunct="1">
              <a:spcBef>
                <a:spcPts val="400"/>
              </a:spcBef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1800" b="1" dirty="0"/>
              <a:t>例如：在汉语字典和英语辞典中的查找就有明显差异。</a:t>
            </a:r>
          </a:p>
          <a:p>
            <a:pPr eaLnBrk="1" hangingPunct="1">
              <a:spcBef>
                <a:spcPts val="400"/>
              </a:spcBef>
              <a:buClr>
                <a:srgbClr val="FF0000"/>
              </a:buClr>
            </a:pPr>
            <a:r>
              <a:rPr lang="zh-CN" altLang="en-US" sz="1800" b="1" dirty="0"/>
              <a:t>因此，需要注意：如何确定查表结构？如何实现对给定数据表的查找？</a:t>
            </a:r>
          </a:p>
        </p:txBody>
      </p:sp>
      <p:sp>
        <p:nvSpPr>
          <p:cNvPr id="5125" name="Text Box 4"/>
          <p:cNvSpPr txBox="1">
            <a:spLocks noChangeArrowheads="1"/>
          </p:cNvSpPr>
          <p:nvPr/>
        </p:nvSpPr>
        <p:spPr bwMode="auto">
          <a:xfrm>
            <a:off x="6877050" y="2565400"/>
            <a:ext cx="19796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>
              <a:spcBef>
                <a:spcPct val="50000"/>
              </a:spcBef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7</a:t>
            </a:fld>
            <a:endParaRPr lang="zh-CN" altLang="en-US" dirty="0"/>
          </a:p>
        </p:txBody>
      </p:sp>
      <p:grpSp>
        <p:nvGrpSpPr>
          <p:cNvPr id="8" name="组合 7"/>
          <p:cNvGrpSpPr/>
          <p:nvPr/>
        </p:nvGrpSpPr>
        <p:grpSpPr>
          <a:xfrm>
            <a:off x="395536" y="125006"/>
            <a:ext cx="3926256" cy="646307"/>
            <a:chOff x="748090" y="1326432"/>
            <a:chExt cx="4231148" cy="687269"/>
          </a:xfrm>
        </p:grpSpPr>
        <p:sp>
          <p:nvSpPr>
            <p:cNvPr id="9" name="TextBox 6"/>
            <p:cNvSpPr txBox="1">
              <a:spLocks noChangeArrowheads="1"/>
            </p:cNvSpPr>
            <p:nvPr/>
          </p:nvSpPr>
          <p:spPr bwMode="auto">
            <a:xfrm>
              <a:off x="748090" y="1326432"/>
              <a:ext cx="4231148" cy="687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17" tIns="45708" rIns="91417" bIns="45708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marL="0" lvl="1" algn="ctr"/>
              <a:r>
                <a:rPr lang="en-US" altLang="zh-CN" sz="3600" b="1" dirty="0">
                  <a:latin typeface="Times New Roman" pitchFamily="18" charset="0"/>
                  <a:ea typeface="黑体" pitchFamily="49" charset="-122"/>
                </a:rPr>
                <a:t>10.1 </a:t>
              </a:r>
              <a:r>
                <a:rPr lang="zh-CN" altLang="en-US" sz="3600" b="1" dirty="0">
                  <a:latin typeface="Times New Roman" pitchFamily="18" charset="0"/>
                  <a:ea typeface="黑体" pitchFamily="49" charset="-122"/>
                </a:rPr>
                <a:t>概述</a:t>
              </a:r>
              <a:endParaRPr lang="zh-CN" altLang="en-US" sz="3600" b="1" dirty="0">
                <a:latin typeface="黑体" pitchFamily="49" charset="-122"/>
                <a:ea typeface="黑体" pitchFamily="49" charset="-122"/>
              </a:endParaRPr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958665" y="1327471"/>
              <a:ext cx="842977" cy="683003"/>
              <a:chOff x="958665" y="1327471"/>
              <a:chExt cx="842977" cy="683003"/>
            </a:xfrm>
          </p:grpSpPr>
          <p:sp>
            <p:nvSpPr>
              <p:cNvPr id="11" name="Freeform 5"/>
              <p:cNvSpPr>
                <a:spLocks/>
              </p:cNvSpPr>
              <p:nvPr/>
            </p:nvSpPr>
            <p:spPr bwMode="auto">
              <a:xfrm>
                <a:off x="958665" y="1327471"/>
                <a:ext cx="842977" cy="683003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FF8080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4000" b="1" dirty="0">
                  <a:ea typeface="微软雅黑" pitchFamily="34" charset="-122"/>
                </a:endParaRPr>
              </a:p>
            </p:txBody>
          </p:sp>
          <p:pic>
            <p:nvPicPr>
              <p:cNvPr id="12" name="图片 11" descr="1.jpg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189071" y="1467621"/>
                <a:ext cx="377680" cy="41980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156460618"/>
      </p:ext>
    </p:extLst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61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61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61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614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614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614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614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6244" y="980728"/>
            <a:ext cx="8229600" cy="4750459"/>
          </a:xfrm>
        </p:spPr>
        <p:txBody>
          <a:bodyPr/>
          <a:lstStyle/>
          <a:p>
            <a:pPr marL="0" indent="0" eaLnBrk="1" hangingPunct="1">
              <a:buClr>
                <a:srgbClr val="FF0000"/>
              </a:buClr>
              <a:buNone/>
            </a:pPr>
            <a:r>
              <a:rPr lang="zh-CN" altLang="en-US" sz="2400" b="1" dirty="0">
                <a:solidFill>
                  <a:srgbClr val="0000FF"/>
                </a:solidFill>
              </a:rPr>
              <a:t>（</a:t>
            </a:r>
            <a:r>
              <a:rPr lang="en-US" altLang="zh-CN" sz="2400" b="1" dirty="0">
                <a:solidFill>
                  <a:srgbClr val="0000FF"/>
                </a:solidFill>
              </a:rPr>
              <a:t>2</a:t>
            </a:r>
            <a:r>
              <a:rPr lang="zh-CN" altLang="en-US" sz="2400" b="1" dirty="0">
                <a:solidFill>
                  <a:srgbClr val="0000FF"/>
                </a:solidFill>
              </a:rPr>
              <a:t>）关于其中的</a:t>
            </a:r>
            <a:r>
              <a:rPr lang="zh-CN" altLang="en-US" sz="2400" b="1" dirty="0">
                <a:solidFill>
                  <a:srgbClr val="FF0000"/>
                </a:solidFill>
              </a:rPr>
              <a:t>特定元素 </a:t>
            </a:r>
          </a:p>
          <a:p>
            <a:pPr lvl="1" eaLnBrk="1" hangingPunct="1">
              <a:buClr>
                <a:srgbClr val="FF0000"/>
              </a:buClr>
            </a:pPr>
            <a:r>
              <a:rPr lang="zh-CN" altLang="en-US" sz="2000" dirty="0"/>
              <a:t>如何标识所需要查找的元素？</a:t>
            </a:r>
          </a:p>
          <a:p>
            <a:pPr lvl="1" eaLnBrk="1" hangingPunct="1">
              <a:buClr>
                <a:srgbClr val="FF0000"/>
              </a:buClr>
            </a:pPr>
            <a:r>
              <a:rPr lang="zh-CN" altLang="en-US" sz="2000" dirty="0"/>
              <a:t>以高考成绩为例，显然是以准考证号标识的。</a:t>
            </a:r>
          </a:p>
          <a:p>
            <a:pPr lvl="1" eaLnBrk="1" hangingPunct="1">
              <a:buClr>
                <a:srgbClr val="FF0000"/>
              </a:buClr>
            </a:pPr>
            <a:r>
              <a:rPr lang="zh-CN" altLang="en-US" sz="2000" dirty="0"/>
              <a:t>更一般地说，涉及到</a:t>
            </a:r>
            <a:r>
              <a:rPr lang="zh-CN" altLang="en-US" sz="2000" dirty="0">
                <a:solidFill>
                  <a:srgbClr val="CC0000"/>
                </a:solidFill>
              </a:rPr>
              <a:t>字段</a:t>
            </a:r>
            <a:endParaRPr lang="zh-CN" altLang="en-US" sz="20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 b="1" dirty="0"/>
              <a:t>     </a:t>
            </a:r>
            <a:r>
              <a:rPr lang="zh-CN" altLang="en-US" sz="2000" b="1" dirty="0">
                <a:solidFill>
                  <a:srgbClr val="FF0000"/>
                </a:solidFill>
              </a:rPr>
              <a:t>字段</a:t>
            </a:r>
            <a:r>
              <a:rPr lang="en-US" altLang="zh-CN" sz="2000" b="1" dirty="0">
                <a:solidFill>
                  <a:srgbClr val="FF0000"/>
                </a:solidFill>
              </a:rPr>
              <a:t>(</a:t>
            </a:r>
            <a:r>
              <a:rPr lang="en-US" altLang="zh-CN" sz="2000" b="1" dirty="0">
                <a:solidFill>
                  <a:srgbClr val="0000FF"/>
                </a:solidFill>
              </a:rPr>
              <a:t>Field</a:t>
            </a:r>
            <a:r>
              <a:rPr lang="en-US" altLang="zh-CN" sz="2000" b="1" dirty="0">
                <a:solidFill>
                  <a:srgbClr val="FF0000"/>
                </a:solidFill>
              </a:rPr>
              <a:t>)</a:t>
            </a:r>
            <a:r>
              <a:rPr lang="zh-CN" altLang="en-US" sz="2000" dirty="0"/>
              <a:t>：如第一章所述，一个元素通常包括多个字段，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 b="1" dirty="0"/>
              <a:t>                 </a:t>
            </a:r>
            <a:r>
              <a:rPr lang="en-US" altLang="zh-CN" sz="2000" b="1" dirty="0"/>
              <a:t>——</a:t>
            </a:r>
            <a:r>
              <a:rPr lang="zh-CN" altLang="en-US" sz="2000" dirty="0"/>
              <a:t>查找表中的元素也由多个字段（项）组成。</a:t>
            </a:r>
          </a:p>
          <a:p>
            <a:pPr lvl="1" eaLnBrk="1" hangingPunct="1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2000" dirty="0"/>
              <a:t>例如，高考成绩信息中，包括姓名、准考证号、各单科成绩和总分等字段。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 dirty="0"/>
              <a:t>           称其中可以标识元素的字段为</a:t>
            </a:r>
            <a:r>
              <a:rPr lang="zh-CN" altLang="en-US" sz="2000" b="1" dirty="0">
                <a:solidFill>
                  <a:srgbClr val="FF0000"/>
                </a:solidFill>
              </a:rPr>
              <a:t>关键字</a:t>
            </a:r>
            <a:r>
              <a:rPr lang="en-US" altLang="zh-CN" sz="2000" b="1" dirty="0">
                <a:solidFill>
                  <a:srgbClr val="FF0000"/>
                </a:solidFill>
              </a:rPr>
              <a:t>(</a:t>
            </a:r>
            <a:r>
              <a:rPr lang="en-US" altLang="zh-CN" sz="2000" b="1" dirty="0">
                <a:solidFill>
                  <a:srgbClr val="0000FF"/>
                </a:solidFill>
              </a:rPr>
              <a:t>Keyword</a:t>
            </a:r>
            <a:r>
              <a:rPr lang="en-US" altLang="zh-CN" sz="2000" b="1" dirty="0">
                <a:solidFill>
                  <a:srgbClr val="FF0000"/>
                </a:solidFill>
              </a:rPr>
              <a:t>)</a:t>
            </a:r>
            <a:r>
              <a:rPr lang="zh-CN" altLang="en-US" sz="2000" dirty="0"/>
              <a:t>，分两种情况：</a:t>
            </a:r>
          </a:p>
          <a:p>
            <a:pPr lvl="1" eaLnBrk="1" hangingPunct="1"/>
            <a:r>
              <a:rPr lang="zh-CN" altLang="en-US" sz="2000" dirty="0">
                <a:solidFill>
                  <a:srgbClr val="FF0000"/>
                </a:solidFill>
              </a:rPr>
              <a:t>主关键字</a:t>
            </a:r>
            <a:r>
              <a:rPr lang="en-US" altLang="zh-CN" sz="2000" dirty="0">
                <a:solidFill>
                  <a:srgbClr val="FF0000"/>
                </a:solidFill>
              </a:rPr>
              <a:t>(</a:t>
            </a:r>
            <a:r>
              <a:rPr lang="en-US" altLang="zh-CN" sz="2000" dirty="0">
                <a:solidFill>
                  <a:srgbClr val="0000FF"/>
                </a:solidFill>
              </a:rPr>
              <a:t>Primary Keyword</a:t>
            </a:r>
            <a:r>
              <a:rPr lang="en-US" altLang="zh-CN" sz="2000" dirty="0">
                <a:solidFill>
                  <a:srgbClr val="FF0000"/>
                </a:solidFill>
              </a:rPr>
              <a:t>)</a:t>
            </a:r>
            <a:r>
              <a:rPr lang="zh-CN" altLang="en-US" sz="2000" dirty="0"/>
              <a:t>：唯一标识一个元素的字段</a:t>
            </a:r>
          </a:p>
          <a:p>
            <a:pPr lvl="2" eaLnBrk="1" hangingPunct="1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2000" dirty="0"/>
              <a:t>例如，高考成绩信息中的“准考证号”字段。</a:t>
            </a:r>
          </a:p>
          <a:p>
            <a:pPr lvl="1" eaLnBrk="1" hangingPunct="1"/>
            <a:r>
              <a:rPr lang="zh-CN" altLang="en-US" sz="2000" dirty="0">
                <a:solidFill>
                  <a:srgbClr val="FF0000"/>
                </a:solidFill>
              </a:rPr>
              <a:t>次关键字</a:t>
            </a:r>
            <a:r>
              <a:rPr lang="en-US" altLang="zh-CN" sz="2000" dirty="0">
                <a:solidFill>
                  <a:srgbClr val="FF0000"/>
                </a:solidFill>
              </a:rPr>
              <a:t>(</a:t>
            </a:r>
            <a:r>
              <a:rPr lang="en-US" altLang="zh-CN" sz="2000" dirty="0">
                <a:solidFill>
                  <a:srgbClr val="0000FF"/>
                </a:solidFill>
              </a:rPr>
              <a:t>Secondary Keyword</a:t>
            </a:r>
            <a:r>
              <a:rPr lang="en-US" altLang="zh-CN" sz="2000" dirty="0">
                <a:solidFill>
                  <a:srgbClr val="FF0000"/>
                </a:solidFill>
              </a:rPr>
              <a:t>) </a:t>
            </a:r>
            <a:r>
              <a:rPr lang="zh-CN" altLang="en-US" sz="2000" dirty="0"/>
              <a:t>：可能标识到多个元素的字段</a:t>
            </a:r>
          </a:p>
          <a:p>
            <a:pPr lvl="2" eaLnBrk="1" hangingPunct="1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2000" dirty="0"/>
              <a:t>例如，高考成绩信息中的“考生姓名”字段，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zh-CN" altLang="en-US" sz="2000" dirty="0"/>
              <a:t>     因为现实中有太多同名同姓的人。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8</a:t>
            </a:fld>
            <a:endParaRPr lang="zh-CN" altLang="en-US" dirty="0"/>
          </a:p>
        </p:txBody>
      </p:sp>
      <p:grpSp>
        <p:nvGrpSpPr>
          <p:cNvPr id="7" name="组合 6"/>
          <p:cNvGrpSpPr/>
          <p:nvPr/>
        </p:nvGrpSpPr>
        <p:grpSpPr>
          <a:xfrm>
            <a:off x="395536" y="125006"/>
            <a:ext cx="3926256" cy="646307"/>
            <a:chOff x="748090" y="1326432"/>
            <a:chExt cx="4231148" cy="687269"/>
          </a:xfrm>
        </p:grpSpPr>
        <p:sp>
          <p:nvSpPr>
            <p:cNvPr id="8" name="TextBox 6"/>
            <p:cNvSpPr txBox="1">
              <a:spLocks noChangeArrowheads="1"/>
            </p:cNvSpPr>
            <p:nvPr/>
          </p:nvSpPr>
          <p:spPr bwMode="auto">
            <a:xfrm>
              <a:off x="748090" y="1326432"/>
              <a:ext cx="4231148" cy="687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17" tIns="45708" rIns="91417" bIns="45708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marL="0" lvl="1" algn="ctr"/>
              <a:r>
                <a:rPr lang="en-US" altLang="zh-CN" sz="3600" b="1" dirty="0">
                  <a:latin typeface="Times New Roman" pitchFamily="18" charset="0"/>
                  <a:ea typeface="黑体" pitchFamily="49" charset="-122"/>
                </a:rPr>
                <a:t>10.1 </a:t>
              </a:r>
              <a:r>
                <a:rPr lang="zh-CN" altLang="en-US" sz="3600" b="1" dirty="0">
                  <a:latin typeface="Times New Roman" pitchFamily="18" charset="0"/>
                  <a:ea typeface="黑体" pitchFamily="49" charset="-122"/>
                </a:rPr>
                <a:t>概述</a:t>
              </a:r>
              <a:endParaRPr lang="zh-CN" altLang="en-US" sz="3600" b="1" dirty="0">
                <a:latin typeface="黑体" pitchFamily="49" charset="-122"/>
                <a:ea typeface="黑体" pitchFamily="49" charset="-122"/>
              </a:endParaRPr>
            </a:p>
          </p:txBody>
        </p:sp>
        <p:grpSp>
          <p:nvGrpSpPr>
            <p:cNvPr id="9" name="组合 8"/>
            <p:cNvGrpSpPr/>
            <p:nvPr/>
          </p:nvGrpSpPr>
          <p:grpSpPr>
            <a:xfrm>
              <a:off x="958665" y="1327471"/>
              <a:ext cx="842977" cy="683003"/>
              <a:chOff x="958665" y="1327471"/>
              <a:chExt cx="842977" cy="683003"/>
            </a:xfrm>
          </p:grpSpPr>
          <p:sp>
            <p:nvSpPr>
              <p:cNvPr id="10" name="Freeform 5"/>
              <p:cNvSpPr>
                <a:spLocks/>
              </p:cNvSpPr>
              <p:nvPr/>
            </p:nvSpPr>
            <p:spPr bwMode="auto">
              <a:xfrm>
                <a:off x="958665" y="1327471"/>
                <a:ext cx="842977" cy="683003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FF8080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4000" b="1" dirty="0">
                  <a:ea typeface="微软雅黑" pitchFamily="34" charset="-122"/>
                </a:endParaRPr>
              </a:p>
            </p:txBody>
          </p:sp>
          <p:pic>
            <p:nvPicPr>
              <p:cNvPr id="11" name="图片 10" descr="1.jpg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189071" y="1467621"/>
                <a:ext cx="377680" cy="41980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663716844"/>
      </p:ext>
    </p:extLst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7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71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71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71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717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08720"/>
            <a:ext cx="8229600" cy="4678451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zh-CN" altLang="en-US" sz="2400" b="1" dirty="0">
                <a:solidFill>
                  <a:srgbClr val="0000FF"/>
                </a:solidFill>
              </a:rPr>
              <a:t>（</a:t>
            </a:r>
            <a:r>
              <a:rPr lang="en-US" altLang="zh-CN" sz="2400" b="1" dirty="0">
                <a:solidFill>
                  <a:srgbClr val="0000FF"/>
                </a:solidFill>
              </a:rPr>
              <a:t>3</a:t>
            </a:r>
            <a:r>
              <a:rPr lang="zh-CN" altLang="en-US" sz="2400" b="1" dirty="0">
                <a:solidFill>
                  <a:srgbClr val="0000FF"/>
                </a:solidFill>
              </a:rPr>
              <a:t>）如何查找？</a:t>
            </a:r>
          </a:p>
          <a:p>
            <a:pPr lvl="1" eaLnBrk="1" hangingPunct="1">
              <a:buClr>
                <a:srgbClr val="FF0000"/>
              </a:buClr>
            </a:pPr>
            <a:r>
              <a:rPr lang="zh-CN" altLang="en-US" sz="2000" dirty="0"/>
              <a:t>取决于查找表的组织方式。例如：</a:t>
            </a:r>
          </a:p>
          <a:p>
            <a:pPr lvl="2" eaLnBrk="1" hangingPunct="1">
              <a:buClr>
                <a:srgbClr val="FF0000"/>
              </a:buClr>
            </a:pPr>
            <a:r>
              <a:rPr lang="zh-CN" altLang="en-US" sz="2000" dirty="0"/>
              <a:t>汉语字典的查找方法；</a:t>
            </a:r>
          </a:p>
          <a:p>
            <a:pPr lvl="2" eaLnBrk="1" hangingPunct="1">
              <a:buClr>
                <a:srgbClr val="FF0000"/>
              </a:buClr>
            </a:pPr>
            <a:r>
              <a:rPr lang="zh-CN" altLang="en-US" sz="2000" dirty="0"/>
              <a:t>英语词典的查找方法；</a:t>
            </a:r>
          </a:p>
          <a:p>
            <a:pPr lvl="2" eaLnBrk="1" hangingPunct="1">
              <a:buClr>
                <a:srgbClr val="FF0000"/>
              </a:buClr>
            </a:pPr>
            <a:r>
              <a:rPr lang="zh-CN" altLang="en-US" sz="2000" dirty="0"/>
              <a:t>某单位通信录中查找特定单位的方法等。</a:t>
            </a:r>
          </a:p>
          <a:p>
            <a:pPr marL="0" indent="0">
              <a:buNone/>
            </a:pPr>
            <a:r>
              <a:rPr lang="zh-CN" altLang="en-US" sz="2400" b="1" dirty="0">
                <a:solidFill>
                  <a:srgbClr val="0000FF"/>
                </a:solidFill>
              </a:rPr>
              <a:t>（</a:t>
            </a:r>
            <a:r>
              <a:rPr lang="en-US" altLang="zh-CN" sz="2400" b="1" dirty="0">
                <a:solidFill>
                  <a:srgbClr val="0000FF"/>
                </a:solidFill>
              </a:rPr>
              <a:t>4</a:t>
            </a:r>
            <a:r>
              <a:rPr lang="zh-CN" altLang="en-US" sz="2400" b="1" dirty="0">
                <a:solidFill>
                  <a:srgbClr val="0000FF"/>
                </a:solidFill>
              </a:rPr>
              <a:t>）查找成功和查找失败：</a:t>
            </a:r>
          </a:p>
          <a:p>
            <a:pPr lvl="1" eaLnBrk="1" hangingPunct="1">
              <a:buClr>
                <a:srgbClr val="FF0000"/>
              </a:buClr>
            </a:pPr>
            <a:r>
              <a:rPr lang="zh-CN" altLang="en-US" sz="2000" dirty="0"/>
              <a:t>若找到指定的元素，则称为</a:t>
            </a:r>
            <a:r>
              <a:rPr lang="zh-CN" altLang="en-US" sz="2000" b="1" dirty="0">
                <a:solidFill>
                  <a:srgbClr val="FF0000"/>
                </a:solidFill>
              </a:rPr>
              <a:t>查找成功</a:t>
            </a:r>
            <a:r>
              <a:rPr lang="zh-CN" altLang="en-US" sz="2000" dirty="0"/>
              <a:t>；否则称为</a:t>
            </a:r>
            <a:r>
              <a:rPr lang="zh-CN" altLang="en-US" sz="2000" b="1" dirty="0">
                <a:solidFill>
                  <a:srgbClr val="FF0000"/>
                </a:solidFill>
              </a:rPr>
              <a:t>查找失败</a:t>
            </a:r>
            <a:r>
              <a:rPr lang="zh-CN" altLang="en-US" sz="2000" dirty="0">
                <a:solidFill>
                  <a:srgbClr val="FF0000"/>
                </a:solidFill>
              </a:rPr>
              <a:t>   </a:t>
            </a:r>
          </a:p>
          <a:p>
            <a:pPr marL="0" indent="0">
              <a:buNone/>
            </a:pPr>
            <a:r>
              <a:rPr lang="zh-CN" altLang="en-US" sz="2400" b="1" dirty="0">
                <a:solidFill>
                  <a:srgbClr val="0000FF"/>
                </a:solidFill>
              </a:rPr>
              <a:t>（</a:t>
            </a:r>
            <a:r>
              <a:rPr lang="en-US" altLang="zh-CN" sz="2400" b="1" dirty="0">
                <a:solidFill>
                  <a:srgbClr val="0000FF"/>
                </a:solidFill>
              </a:rPr>
              <a:t>5</a:t>
            </a:r>
            <a:r>
              <a:rPr lang="zh-CN" altLang="en-US" sz="2400" b="1" dirty="0">
                <a:solidFill>
                  <a:srgbClr val="0000FF"/>
                </a:solidFill>
              </a:rPr>
              <a:t>）如何评价查找方法的性能？</a:t>
            </a:r>
          </a:p>
          <a:p>
            <a:pPr lvl="1" eaLnBrk="1" hangingPunct="1">
              <a:buClr>
                <a:srgbClr val="FF0000"/>
              </a:buClr>
            </a:pPr>
            <a:r>
              <a:rPr lang="zh-CN" altLang="en-US" sz="2000" dirty="0"/>
              <a:t>以</a:t>
            </a:r>
            <a:r>
              <a:rPr lang="zh-CN" altLang="en-US" sz="2000" b="1" dirty="0">
                <a:solidFill>
                  <a:srgbClr val="FF0000"/>
                </a:solidFill>
              </a:rPr>
              <a:t>查找长度</a:t>
            </a:r>
            <a:r>
              <a:rPr lang="en-US" altLang="zh-CN" sz="2000" b="1" dirty="0">
                <a:solidFill>
                  <a:srgbClr val="FF0000"/>
                </a:solidFill>
              </a:rPr>
              <a:t>(</a:t>
            </a:r>
            <a:r>
              <a:rPr lang="en-US" altLang="zh-CN" sz="1800" b="1" dirty="0">
                <a:solidFill>
                  <a:srgbClr val="0000FF"/>
                </a:solidFill>
              </a:rPr>
              <a:t>Searching Length</a:t>
            </a:r>
            <a:r>
              <a:rPr lang="en-US" altLang="zh-CN" sz="2000" b="1" dirty="0">
                <a:solidFill>
                  <a:srgbClr val="FF0000"/>
                </a:solidFill>
              </a:rPr>
              <a:t>)</a:t>
            </a:r>
            <a:r>
              <a:rPr lang="zh-CN" altLang="en-US" sz="2000" dirty="0"/>
              <a:t>来描述</a:t>
            </a:r>
          </a:p>
          <a:p>
            <a:pPr lvl="1" eaLnBrk="1" hangingPunct="1">
              <a:buClr>
                <a:srgbClr val="FF0000"/>
              </a:buClr>
            </a:pPr>
            <a:r>
              <a:rPr lang="zh-CN" altLang="en-US" sz="2000" b="1" dirty="0"/>
              <a:t>查找长度</a:t>
            </a:r>
            <a:r>
              <a:rPr lang="zh-CN" altLang="en-US" sz="2000" dirty="0"/>
              <a:t>：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 dirty="0"/>
              <a:t>              </a:t>
            </a:r>
            <a:r>
              <a:rPr lang="en-US" altLang="zh-CN" sz="2000" b="1" dirty="0"/>
              <a:t>——</a:t>
            </a:r>
            <a:r>
              <a:rPr lang="zh-CN" altLang="en-US" sz="2000" b="1" dirty="0"/>
              <a:t>查找过程中所做的</a:t>
            </a:r>
            <a:r>
              <a:rPr lang="zh-CN" altLang="en-US" sz="2000" b="1" dirty="0">
                <a:solidFill>
                  <a:srgbClr val="FF0000"/>
                </a:solidFill>
              </a:rPr>
              <a:t>元素或关键字</a:t>
            </a:r>
            <a:r>
              <a:rPr lang="zh-CN" altLang="en-US" sz="2000" dirty="0"/>
              <a:t>的</a:t>
            </a:r>
            <a:r>
              <a:rPr lang="zh-CN" altLang="en-US" sz="2000" b="1" dirty="0">
                <a:solidFill>
                  <a:srgbClr val="FF0000"/>
                </a:solidFill>
              </a:rPr>
              <a:t>比较次数</a:t>
            </a:r>
            <a:r>
              <a:rPr lang="zh-CN" altLang="en-US" sz="2000" dirty="0"/>
              <a:t>。</a:t>
            </a: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1800" b="1" dirty="0"/>
              <a:t>      </a:t>
            </a:r>
            <a:r>
              <a:rPr lang="zh-CN" altLang="en-US" sz="2000" b="1" dirty="0"/>
              <a:t>涉及到</a:t>
            </a:r>
            <a:r>
              <a:rPr lang="en-US" altLang="zh-CN" sz="2000" b="1" dirty="0"/>
              <a:t>: </a:t>
            </a: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000" dirty="0"/>
              <a:t>               </a:t>
            </a:r>
            <a:r>
              <a:rPr lang="zh-CN" altLang="en-US" sz="2000" b="1" dirty="0"/>
              <a:t>平均查找长度</a:t>
            </a:r>
            <a:r>
              <a:rPr lang="en-US" altLang="zh-CN" sz="2000" b="1" dirty="0"/>
              <a:t>ASL(</a:t>
            </a:r>
            <a:r>
              <a:rPr lang="en-US" altLang="zh-CN" sz="1800" b="1" dirty="0">
                <a:solidFill>
                  <a:srgbClr val="0000FF"/>
                </a:solidFill>
              </a:rPr>
              <a:t>Average Searching Length</a:t>
            </a:r>
            <a:r>
              <a:rPr lang="en-US" altLang="zh-CN" sz="2000" b="1" dirty="0"/>
              <a:t>)</a:t>
            </a:r>
            <a:r>
              <a:rPr lang="zh-CN" altLang="en-US" sz="2000" b="1" dirty="0"/>
              <a:t>，</a:t>
            </a: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000" b="1" dirty="0"/>
              <a:t>                最大查找长度</a:t>
            </a:r>
            <a:r>
              <a:rPr lang="en-US" altLang="zh-CN" sz="2000" b="1" dirty="0"/>
              <a:t>MSL(</a:t>
            </a:r>
            <a:r>
              <a:rPr lang="en-US" altLang="zh-CN" sz="1800" b="1" dirty="0">
                <a:solidFill>
                  <a:srgbClr val="0000FF"/>
                </a:solidFill>
              </a:rPr>
              <a:t>Maximum</a:t>
            </a:r>
            <a:r>
              <a:rPr lang="en-US" altLang="zh-CN" sz="2000" b="1" dirty="0">
                <a:solidFill>
                  <a:srgbClr val="0000FF"/>
                </a:solidFill>
              </a:rPr>
              <a:t> </a:t>
            </a:r>
            <a:r>
              <a:rPr lang="en-US" altLang="zh-CN" sz="1800" b="1" dirty="0">
                <a:solidFill>
                  <a:srgbClr val="0000FF"/>
                </a:solidFill>
              </a:rPr>
              <a:t>Searching Length</a:t>
            </a:r>
            <a:r>
              <a:rPr lang="en-US" altLang="zh-CN" sz="2000" b="1" dirty="0"/>
              <a:t>)</a:t>
            </a:r>
            <a:endParaRPr lang="zh-CN" altLang="en-US" sz="2000" b="1" dirty="0"/>
          </a:p>
          <a:p>
            <a:pPr>
              <a:spcBef>
                <a:spcPts val="0"/>
              </a:spcBef>
              <a:buNone/>
            </a:pPr>
            <a:r>
              <a:rPr lang="zh-CN" altLang="en-US" sz="2000" b="1" dirty="0"/>
              <a:t>                失败查找长度</a:t>
            </a:r>
            <a:r>
              <a:rPr lang="en-US" altLang="zh-CN" sz="2000" b="1" dirty="0"/>
              <a:t>FSL(</a:t>
            </a:r>
            <a:r>
              <a:rPr lang="en-US" altLang="zh-CN" sz="1800" b="1" dirty="0">
                <a:solidFill>
                  <a:srgbClr val="0000FF"/>
                </a:solidFill>
              </a:rPr>
              <a:t>Failure Searching Length</a:t>
            </a:r>
            <a:r>
              <a:rPr lang="en-US" altLang="zh-CN" sz="2000" b="1" dirty="0"/>
              <a:t>)</a:t>
            </a:r>
            <a:endParaRPr lang="zh-CN" altLang="en-US" sz="2000" b="1" dirty="0"/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endParaRPr lang="zh-CN" altLang="en-US" sz="2000" b="1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9</a:t>
            </a:fld>
            <a:endParaRPr lang="zh-CN" altLang="en-US" dirty="0"/>
          </a:p>
        </p:txBody>
      </p:sp>
      <p:grpSp>
        <p:nvGrpSpPr>
          <p:cNvPr id="7" name="组合 6"/>
          <p:cNvGrpSpPr/>
          <p:nvPr/>
        </p:nvGrpSpPr>
        <p:grpSpPr>
          <a:xfrm>
            <a:off x="395536" y="125006"/>
            <a:ext cx="3926256" cy="646307"/>
            <a:chOff x="748090" y="1326432"/>
            <a:chExt cx="4231148" cy="687269"/>
          </a:xfrm>
        </p:grpSpPr>
        <p:sp>
          <p:nvSpPr>
            <p:cNvPr id="8" name="TextBox 6"/>
            <p:cNvSpPr txBox="1">
              <a:spLocks noChangeArrowheads="1"/>
            </p:cNvSpPr>
            <p:nvPr/>
          </p:nvSpPr>
          <p:spPr bwMode="auto">
            <a:xfrm>
              <a:off x="748090" y="1326432"/>
              <a:ext cx="4231148" cy="687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17" tIns="45708" rIns="91417" bIns="45708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marL="0" lvl="1" algn="ctr"/>
              <a:r>
                <a:rPr lang="en-US" altLang="zh-CN" sz="3600" b="1" dirty="0">
                  <a:latin typeface="Times New Roman" pitchFamily="18" charset="0"/>
                  <a:ea typeface="黑体" pitchFamily="49" charset="-122"/>
                </a:rPr>
                <a:t>10.1 </a:t>
              </a:r>
              <a:r>
                <a:rPr lang="zh-CN" altLang="en-US" sz="3600" b="1" dirty="0">
                  <a:latin typeface="Times New Roman" pitchFamily="18" charset="0"/>
                  <a:ea typeface="黑体" pitchFamily="49" charset="-122"/>
                </a:rPr>
                <a:t>概述</a:t>
              </a:r>
              <a:endParaRPr lang="zh-CN" altLang="en-US" sz="3600" b="1" dirty="0">
                <a:latin typeface="黑体" pitchFamily="49" charset="-122"/>
                <a:ea typeface="黑体" pitchFamily="49" charset="-122"/>
              </a:endParaRPr>
            </a:p>
          </p:txBody>
        </p:sp>
        <p:grpSp>
          <p:nvGrpSpPr>
            <p:cNvPr id="9" name="组合 8"/>
            <p:cNvGrpSpPr/>
            <p:nvPr/>
          </p:nvGrpSpPr>
          <p:grpSpPr>
            <a:xfrm>
              <a:off x="958665" y="1327471"/>
              <a:ext cx="842977" cy="683003"/>
              <a:chOff x="958665" y="1327471"/>
              <a:chExt cx="842977" cy="683003"/>
            </a:xfrm>
          </p:grpSpPr>
          <p:sp>
            <p:nvSpPr>
              <p:cNvPr id="10" name="Freeform 5"/>
              <p:cNvSpPr>
                <a:spLocks/>
              </p:cNvSpPr>
              <p:nvPr/>
            </p:nvSpPr>
            <p:spPr bwMode="auto">
              <a:xfrm>
                <a:off x="958665" y="1327471"/>
                <a:ext cx="842977" cy="683003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FF8080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4000" b="1" dirty="0">
                  <a:ea typeface="微软雅黑" pitchFamily="34" charset="-122"/>
                </a:endParaRPr>
              </a:p>
            </p:txBody>
          </p:sp>
          <p:pic>
            <p:nvPicPr>
              <p:cNvPr id="11" name="图片 10" descr="1.jpg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189071" y="1467621"/>
                <a:ext cx="377680" cy="41980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4196988104"/>
      </p:ext>
    </p:extLst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8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81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81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819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819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819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536" y="869353"/>
            <a:ext cx="8291264" cy="4679950"/>
          </a:xfrm>
        </p:spPr>
        <p:txBody>
          <a:bodyPr/>
          <a:lstStyle/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宋体" panose="02010600030101010101" pitchFamily="2" charset="-122"/>
              </a:rPr>
              <a:t>问题描述：</a:t>
            </a:r>
            <a:r>
              <a:rPr lang="zh-CN" altLang="en-US" sz="2000" b="1" dirty="0">
                <a:latin typeface="宋体" panose="02010600030101010101" pitchFamily="2" charset="-122"/>
              </a:rPr>
              <a:t>      </a:t>
            </a:r>
          </a:p>
          <a:p>
            <a:pPr lvl="1" eaLnBrk="1" hangingPunct="1">
              <a:buClr>
                <a:srgbClr val="FF0000"/>
              </a:buClr>
            </a:pPr>
            <a:r>
              <a:rPr lang="zh-CN" altLang="en-US" sz="2200" b="1" dirty="0">
                <a:latin typeface="宋体" panose="02010600030101010101" pitchFamily="2" charset="-122"/>
              </a:rPr>
              <a:t>查找表以顺序结构来存储，</a:t>
            </a:r>
          </a:p>
          <a:p>
            <a:pPr lvl="2" eaLnBrk="1" hangingPunct="1">
              <a:buClr>
                <a:srgbClr val="FF0000"/>
              </a:buClr>
            </a:pPr>
            <a:r>
              <a:rPr lang="zh-CN" altLang="en-US" sz="2200" b="1" dirty="0">
                <a:latin typeface="宋体" panose="02010600030101010101" pitchFamily="2" charset="-122"/>
              </a:rPr>
              <a:t>典型地是一维数组；也可能是链表，或顺序文件</a:t>
            </a:r>
          </a:p>
          <a:p>
            <a:pPr lvl="2" eaLnBrk="1" hangingPunct="1">
              <a:buClr>
                <a:srgbClr val="FF0000"/>
              </a:buClr>
            </a:pPr>
            <a:r>
              <a:rPr lang="zh-CN" altLang="en-US" sz="2200" b="1" dirty="0">
                <a:latin typeface="宋体" panose="02010600030101010101" pitchFamily="2" charset="-122"/>
              </a:rPr>
              <a:t>本章更多的讨论是面向一维数组</a:t>
            </a:r>
          </a:p>
          <a:p>
            <a:pPr lvl="1" eaLnBrk="1" hangingPunct="1">
              <a:buClr>
                <a:srgbClr val="FF0000"/>
              </a:buClr>
            </a:pPr>
            <a:r>
              <a:rPr lang="zh-CN" altLang="en-US" sz="2200" b="1" dirty="0">
                <a:latin typeface="宋体" panose="02010600030101010101" pitchFamily="2" charset="-122"/>
              </a:rPr>
              <a:t>要求在此表中找出关键字的值为</a:t>
            </a:r>
            <a:r>
              <a:rPr lang="en-US" altLang="zh-CN" sz="2200" b="1" dirty="0">
                <a:latin typeface="宋体" panose="02010600030101010101" pitchFamily="2" charset="-122"/>
              </a:rPr>
              <a:t>x</a:t>
            </a:r>
            <a:r>
              <a:rPr lang="zh-CN" altLang="en-US" sz="2200" b="1" dirty="0">
                <a:latin typeface="宋体" panose="02010600030101010101" pitchFamily="2" charset="-122"/>
              </a:rPr>
              <a:t>的元素的位置，</a:t>
            </a:r>
          </a:p>
          <a:p>
            <a:pPr lvl="1" eaLnBrk="1" hangingPunct="1">
              <a:buClr>
                <a:srgbClr val="FF0000"/>
              </a:buClr>
            </a:pPr>
            <a:r>
              <a:rPr lang="zh-CN" altLang="en-US" sz="2200" b="1" dirty="0">
                <a:latin typeface="宋体" panose="02010600030101010101" pitchFamily="2" charset="-122"/>
              </a:rPr>
              <a:t>若查找成功，则返回其位置（即下标），</a:t>
            </a:r>
          </a:p>
          <a:p>
            <a:pPr lvl="1" eaLnBrk="1" hangingPunct="1">
              <a:buClr>
                <a:srgbClr val="FF0000"/>
              </a:buClr>
            </a:pPr>
            <a:r>
              <a:rPr lang="zh-CN" altLang="en-US" sz="2200" b="1" dirty="0">
                <a:latin typeface="宋体" panose="02010600030101010101" pitchFamily="2" charset="-122"/>
              </a:rPr>
              <a:t>否则，返回一个表示元素不存在的下标（如</a:t>
            </a:r>
            <a:r>
              <a:rPr lang="en-US" altLang="zh-CN" sz="2200" b="1" dirty="0">
                <a:latin typeface="宋体" panose="02010600030101010101" pitchFamily="2" charset="-122"/>
              </a:rPr>
              <a:t>0</a:t>
            </a:r>
            <a:r>
              <a:rPr lang="zh-CN" altLang="en-US" sz="2200" b="1" dirty="0">
                <a:latin typeface="宋体" panose="02010600030101010101" pitchFamily="2" charset="-122"/>
              </a:rPr>
              <a:t>或</a:t>
            </a:r>
            <a:r>
              <a:rPr lang="en-US" altLang="zh-CN" sz="2200" b="1" dirty="0">
                <a:latin typeface="宋体" panose="02010600030101010101" pitchFamily="2" charset="-122"/>
              </a:rPr>
              <a:t>-1</a:t>
            </a:r>
            <a:r>
              <a:rPr lang="zh-CN" altLang="en-US" sz="2200" b="1" dirty="0">
                <a:latin typeface="宋体" panose="02010600030101010101" pitchFamily="2" charset="-122"/>
              </a:rPr>
              <a:t>）。</a:t>
            </a:r>
            <a:endParaRPr lang="zh-CN" altLang="en-US" sz="2200" b="1" dirty="0"/>
          </a:p>
          <a:p>
            <a:pPr>
              <a:spcBef>
                <a:spcPts val="12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宋体" panose="02010600030101010101" pitchFamily="2" charset="-122"/>
              </a:rPr>
              <a:t>按照查找表中数据的特性，以及对应的查找方法，可分为：</a:t>
            </a:r>
          </a:p>
          <a:p>
            <a:pPr lvl="1" eaLnBrk="1" hangingPunct="1">
              <a:buClr>
                <a:srgbClr val="FF0000"/>
              </a:buClr>
            </a:pPr>
            <a:r>
              <a:rPr lang="zh-CN" altLang="en-US" sz="2200" b="1" dirty="0"/>
              <a:t>简单顺序查找</a:t>
            </a:r>
            <a:r>
              <a:rPr lang="en-US" altLang="zh-CN" sz="2000" b="1" dirty="0"/>
              <a:t>(</a:t>
            </a:r>
            <a:r>
              <a:rPr lang="en-US" altLang="zh-CN" sz="2000" b="1" dirty="0">
                <a:solidFill>
                  <a:srgbClr val="0000FF"/>
                </a:solidFill>
              </a:rPr>
              <a:t>Simple Sequential Search</a:t>
            </a:r>
            <a:r>
              <a:rPr lang="en-US" altLang="zh-CN" sz="2000" b="1" dirty="0"/>
              <a:t>) </a:t>
            </a:r>
            <a:r>
              <a:rPr lang="en-US" altLang="zh-CN" sz="2200" b="1" dirty="0"/>
              <a:t>----</a:t>
            </a:r>
            <a:r>
              <a:rPr lang="zh-CN" altLang="en-US" sz="2200" b="1" dirty="0"/>
              <a:t>没有任何关于数据元素分布的特性</a:t>
            </a:r>
          </a:p>
          <a:p>
            <a:pPr lvl="1" eaLnBrk="1" hangingPunct="1">
              <a:buClr>
                <a:srgbClr val="FF0000"/>
              </a:buClr>
            </a:pPr>
            <a:r>
              <a:rPr lang="zh-CN" altLang="en-US" sz="2200" b="1" dirty="0"/>
              <a:t>有序表查找</a:t>
            </a:r>
            <a:r>
              <a:rPr lang="en-US" altLang="zh-CN" sz="2400" b="1" dirty="0"/>
              <a:t>(</a:t>
            </a:r>
            <a:r>
              <a:rPr lang="en-US" altLang="zh-CN" sz="1800" b="1" dirty="0">
                <a:solidFill>
                  <a:srgbClr val="0000FF"/>
                </a:solidFill>
              </a:rPr>
              <a:t>Ordered Table Search</a:t>
            </a:r>
            <a:r>
              <a:rPr lang="en-US" altLang="zh-CN" sz="2400" b="1" dirty="0"/>
              <a:t>) </a:t>
            </a:r>
            <a:r>
              <a:rPr lang="en-US" altLang="zh-CN" sz="2200" b="1" dirty="0"/>
              <a:t>------</a:t>
            </a:r>
            <a:r>
              <a:rPr lang="zh-CN" altLang="en-US" sz="2200" b="1" dirty="0"/>
              <a:t>二分查找（折半查找）</a:t>
            </a:r>
            <a:r>
              <a:rPr lang="en-US" altLang="zh-CN" sz="2400" b="1" dirty="0"/>
              <a:t> (</a:t>
            </a:r>
            <a:r>
              <a:rPr lang="en-US" altLang="zh-CN" sz="1800" b="1" dirty="0">
                <a:solidFill>
                  <a:srgbClr val="0000FF"/>
                </a:solidFill>
              </a:rPr>
              <a:t>Binary Search</a:t>
            </a:r>
            <a:r>
              <a:rPr lang="en-US" altLang="zh-CN" sz="2400" b="1" dirty="0"/>
              <a:t>) </a:t>
            </a:r>
            <a:endParaRPr lang="zh-CN" altLang="en-US" sz="2200" b="1" dirty="0"/>
          </a:p>
          <a:p>
            <a:pPr lvl="1" eaLnBrk="1" hangingPunct="1">
              <a:buClr>
                <a:srgbClr val="FF0000"/>
              </a:buClr>
            </a:pPr>
            <a:r>
              <a:rPr lang="zh-CN" altLang="en-US" sz="2200" b="1" dirty="0"/>
              <a:t>索引表查找</a:t>
            </a:r>
            <a:r>
              <a:rPr lang="en-US" altLang="zh-CN" sz="2400" b="1" dirty="0"/>
              <a:t>(</a:t>
            </a:r>
            <a:r>
              <a:rPr lang="en-US" altLang="zh-CN" sz="1800" b="1" dirty="0">
                <a:solidFill>
                  <a:srgbClr val="0000FF"/>
                </a:solidFill>
              </a:rPr>
              <a:t>Indexed Table Search</a:t>
            </a:r>
            <a:r>
              <a:rPr lang="en-US" altLang="zh-CN" sz="2400" b="1" dirty="0"/>
              <a:t>) </a:t>
            </a:r>
            <a:r>
              <a:rPr lang="en-US" altLang="zh-CN" sz="2200" b="1" dirty="0"/>
              <a:t>------</a:t>
            </a:r>
            <a:r>
              <a:rPr lang="zh-CN" altLang="en-US" sz="2200" b="1" dirty="0"/>
              <a:t>数据表分块有序</a:t>
            </a:r>
            <a:r>
              <a:rPr lang="en-US" altLang="zh-CN" sz="2200" b="1" dirty="0"/>
              <a:t>(</a:t>
            </a:r>
            <a:r>
              <a:rPr lang="zh-CN" altLang="en-US" sz="2200" b="1" dirty="0"/>
              <a:t>分块查找 </a:t>
            </a:r>
            <a:r>
              <a:rPr lang="en-US" altLang="zh-CN" sz="1800" b="1" dirty="0">
                <a:solidFill>
                  <a:srgbClr val="0000FF"/>
                </a:solidFill>
              </a:rPr>
              <a:t>Blocking Search</a:t>
            </a:r>
            <a:r>
              <a:rPr lang="en-US" altLang="zh-CN" sz="2200" b="1" dirty="0"/>
              <a:t>)</a:t>
            </a:r>
            <a:endParaRPr lang="zh-CN" altLang="en-US" sz="2200" b="1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10</a:t>
            </a:fld>
            <a:endParaRPr lang="zh-CN" altLang="en-US" dirty="0"/>
          </a:p>
        </p:txBody>
      </p:sp>
      <p:grpSp>
        <p:nvGrpSpPr>
          <p:cNvPr id="12" name="组合 11"/>
          <p:cNvGrpSpPr/>
          <p:nvPr/>
        </p:nvGrpSpPr>
        <p:grpSpPr>
          <a:xfrm>
            <a:off x="-890841" y="72640"/>
            <a:ext cx="8271153" cy="665363"/>
            <a:chOff x="-594808" y="1867387"/>
            <a:chExt cx="8913447" cy="707532"/>
          </a:xfrm>
        </p:grpSpPr>
        <p:grpSp>
          <p:nvGrpSpPr>
            <p:cNvPr id="13" name="组合 12"/>
            <p:cNvGrpSpPr/>
            <p:nvPr/>
          </p:nvGrpSpPr>
          <p:grpSpPr>
            <a:xfrm>
              <a:off x="-594808" y="1867387"/>
              <a:ext cx="8913447" cy="707532"/>
              <a:chOff x="-635833" y="1327471"/>
              <a:chExt cx="8913447" cy="707532"/>
            </a:xfrm>
          </p:grpSpPr>
          <p:sp>
            <p:nvSpPr>
              <p:cNvPr id="15" name="TextBox 6"/>
              <p:cNvSpPr txBox="1">
                <a:spLocks noChangeArrowheads="1"/>
              </p:cNvSpPr>
              <p:nvPr/>
            </p:nvSpPr>
            <p:spPr bwMode="auto">
              <a:xfrm>
                <a:off x="-635833" y="1347734"/>
                <a:ext cx="8913447" cy="687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10.2 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顺序表的查找</a:t>
                </a:r>
              </a:p>
            </p:txBody>
          </p:sp>
          <p:sp>
            <p:nvSpPr>
              <p:cNvPr id="16" name="Freeform 5"/>
              <p:cNvSpPr>
                <a:spLocks/>
              </p:cNvSpPr>
              <p:nvPr/>
            </p:nvSpPr>
            <p:spPr bwMode="auto">
              <a:xfrm>
                <a:off x="958665" y="1327471"/>
                <a:ext cx="842977" cy="683003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FFFF66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</p:grpSp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89825" y="2023053"/>
              <a:ext cx="495511" cy="4238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71018366"/>
      </p:ext>
    </p:extLst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95536" y="960280"/>
            <a:ext cx="8137525" cy="5040312"/>
          </a:xfrm>
        </p:spPr>
        <p:txBody>
          <a:bodyPr/>
          <a:lstStyle/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800" b="1" dirty="0"/>
              <a:t>10.2.1 </a:t>
            </a:r>
            <a:r>
              <a:rPr lang="zh-CN" altLang="en-US" sz="2800" b="1" dirty="0"/>
              <a:t>简单顺序查找</a:t>
            </a:r>
            <a:r>
              <a:rPr lang="zh-CN" altLang="en-US" sz="2400" dirty="0"/>
              <a:t>    </a:t>
            </a:r>
          </a:p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rgbClr val="FF0000"/>
                </a:solidFill>
              </a:rPr>
              <a:t>问题描述</a:t>
            </a:r>
            <a:r>
              <a:rPr lang="en-US" altLang="zh-CN" sz="2400" dirty="0">
                <a:solidFill>
                  <a:srgbClr val="FF0000"/>
                </a:solidFill>
              </a:rPr>
              <a:t>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200" dirty="0"/>
              <a:t>     在数组</a:t>
            </a:r>
            <a:r>
              <a:rPr lang="en-US" altLang="zh-CN" sz="2200" dirty="0"/>
              <a:t>A[n]</a:t>
            </a:r>
            <a:r>
              <a:rPr lang="zh-CN" altLang="en-US" sz="2200" dirty="0"/>
              <a:t>中查找元素关键字为</a:t>
            </a:r>
            <a:r>
              <a:rPr lang="en-US" altLang="zh-CN" sz="2200" dirty="0"/>
              <a:t>x</a:t>
            </a:r>
            <a:r>
              <a:rPr lang="zh-CN" altLang="en-US" sz="2200" dirty="0"/>
              <a:t>的元素，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200" dirty="0"/>
              <a:t>     若查找成功，则返回元素的下标，否则返回</a:t>
            </a:r>
            <a:r>
              <a:rPr lang="en-US" altLang="zh-CN" sz="2200" dirty="0"/>
              <a:t>-1</a:t>
            </a:r>
            <a:r>
              <a:rPr lang="zh-CN" altLang="en-US" sz="2200" dirty="0"/>
              <a:t>。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200" dirty="0">
              <a:solidFill>
                <a:schemeClr val="accent2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200" dirty="0">
              <a:solidFill>
                <a:schemeClr val="accent2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200" dirty="0">
              <a:solidFill>
                <a:schemeClr val="accent2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200" dirty="0">
              <a:solidFill>
                <a:schemeClr val="accent2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200" dirty="0">
              <a:solidFill>
                <a:schemeClr val="accent2"/>
              </a:solidFill>
            </a:endParaRPr>
          </a:p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200" dirty="0">
                <a:solidFill>
                  <a:schemeClr val="accent2"/>
                </a:solidFill>
              </a:rPr>
              <a:t> </a:t>
            </a:r>
            <a:r>
              <a:rPr lang="zh-CN" altLang="en-US" sz="2200" b="1" dirty="0">
                <a:solidFill>
                  <a:srgbClr val="FF0000"/>
                </a:solidFill>
              </a:rPr>
              <a:t>分析</a:t>
            </a:r>
            <a:r>
              <a:rPr lang="zh-CN" altLang="en-US" sz="2200" dirty="0"/>
              <a:t>：显然只能依次搜索（比较元素）。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200" dirty="0"/>
              <a:t>      按照什么样的查找顺序？即从前往后还是从后往前？</a:t>
            </a:r>
            <a:endParaRPr lang="zh-CN" altLang="en-US" sz="24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7A331-AA47-4583-8ECA-873ADFBEB716}" type="slidenum">
              <a:rPr lang="zh-CN" altLang="en-US" smtClean="0"/>
              <a:pPr/>
              <a:t>11</a:t>
            </a:fld>
            <a:endParaRPr lang="en-US" altLang="zh-CN"/>
          </a:p>
        </p:txBody>
      </p:sp>
      <p:grpSp>
        <p:nvGrpSpPr>
          <p:cNvPr id="5" name="组合 4"/>
          <p:cNvGrpSpPr/>
          <p:nvPr/>
        </p:nvGrpSpPr>
        <p:grpSpPr>
          <a:xfrm>
            <a:off x="955920" y="2917825"/>
            <a:ext cx="6958210" cy="1597967"/>
            <a:chOff x="955920" y="2917825"/>
            <a:chExt cx="6958210" cy="1597967"/>
          </a:xfrm>
        </p:grpSpPr>
        <p:grpSp>
          <p:nvGrpSpPr>
            <p:cNvPr id="9225" name="Group 5"/>
            <p:cNvGrpSpPr>
              <a:grpSpLocks/>
            </p:cNvGrpSpPr>
            <p:nvPr/>
          </p:nvGrpSpPr>
          <p:grpSpPr bwMode="auto">
            <a:xfrm>
              <a:off x="1504951" y="3349625"/>
              <a:ext cx="6408738" cy="576263"/>
              <a:chOff x="0" y="0"/>
              <a:chExt cx="4037" cy="363"/>
            </a:xfrm>
            <a:solidFill>
              <a:srgbClr val="92D050"/>
            </a:solidFill>
          </p:grpSpPr>
          <p:sp>
            <p:nvSpPr>
              <p:cNvPr id="9243" name="Rectangle 6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037" cy="363"/>
              </a:xfrm>
              <a:prstGeom prst="rect">
                <a:avLst/>
              </a:prstGeom>
              <a:grp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 eaLnBrk="1" hangingPunct="1"/>
                <a:endParaRPr lang="zh-CN" altLang="en-US" b="1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</p:txBody>
          </p:sp>
          <p:sp>
            <p:nvSpPr>
              <p:cNvPr id="9244" name="Line 7"/>
              <p:cNvSpPr>
                <a:spLocks noChangeShapeType="1"/>
              </p:cNvSpPr>
              <p:nvPr/>
            </p:nvSpPr>
            <p:spPr bwMode="auto">
              <a:xfrm>
                <a:off x="363" y="0"/>
                <a:ext cx="0" cy="363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</p:txBody>
          </p:sp>
          <p:sp>
            <p:nvSpPr>
              <p:cNvPr id="9245" name="Line 8"/>
              <p:cNvSpPr>
                <a:spLocks noChangeShapeType="1"/>
              </p:cNvSpPr>
              <p:nvPr/>
            </p:nvSpPr>
            <p:spPr bwMode="auto">
              <a:xfrm>
                <a:off x="726" y="0"/>
                <a:ext cx="0" cy="363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</p:txBody>
          </p:sp>
          <p:sp>
            <p:nvSpPr>
              <p:cNvPr id="9246" name="Line 9"/>
              <p:cNvSpPr>
                <a:spLocks noChangeShapeType="1"/>
              </p:cNvSpPr>
              <p:nvPr/>
            </p:nvSpPr>
            <p:spPr bwMode="auto">
              <a:xfrm>
                <a:off x="1089" y="0"/>
                <a:ext cx="0" cy="363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</p:txBody>
          </p:sp>
          <p:sp>
            <p:nvSpPr>
              <p:cNvPr id="9247" name="Line 10"/>
              <p:cNvSpPr>
                <a:spLocks noChangeShapeType="1"/>
              </p:cNvSpPr>
              <p:nvPr/>
            </p:nvSpPr>
            <p:spPr bwMode="auto">
              <a:xfrm>
                <a:off x="1452" y="0"/>
                <a:ext cx="0" cy="363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</p:txBody>
          </p:sp>
          <p:sp>
            <p:nvSpPr>
              <p:cNvPr id="9248" name="Line 11"/>
              <p:cNvSpPr>
                <a:spLocks noChangeShapeType="1"/>
              </p:cNvSpPr>
              <p:nvPr/>
            </p:nvSpPr>
            <p:spPr bwMode="auto">
              <a:xfrm>
                <a:off x="1815" y="0"/>
                <a:ext cx="0" cy="363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</p:txBody>
          </p:sp>
          <p:sp>
            <p:nvSpPr>
              <p:cNvPr id="9249" name="Line 12"/>
              <p:cNvSpPr>
                <a:spLocks noChangeShapeType="1"/>
              </p:cNvSpPr>
              <p:nvPr/>
            </p:nvSpPr>
            <p:spPr bwMode="auto">
              <a:xfrm>
                <a:off x="2178" y="0"/>
                <a:ext cx="0" cy="363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</p:txBody>
          </p:sp>
          <p:sp>
            <p:nvSpPr>
              <p:cNvPr id="9250" name="Line 13"/>
              <p:cNvSpPr>
                <a:spLocks noChangeShapeType="1"/>
              </p:cNvSpPr>
              <p:nvPr/>
            </p:nvSpPr>
            <p:spPr bwMode="auto">
              <a:xfrm>
                <a:off x="2541" y="0"/>
                <a:ext cx="0" cy="363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</p:txBody>
          </p:sp>
          <p:sp>
            <p:nvSpPr>
              <p:cNvPr id="9251" name="Line 14"/>
              <p:cNvSpPr>
                <a:spLocks noChangeShapeType="1"/>
              </p:cNvSpPr>
              <p:nvPr/>
            </p:nvSpPr>
            <p:spPr bwMode="auto">
              <a:xfrm>
                <a:off x="2903" y="0"/>
                <a:ext cx="0" cy="363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</p:txBody>
          </p:sp>
          <p:sp>
            <p:nvSpPr>
              <p:cNvPr id="9252" name="Line 15"/>
              <p:cNvSpPr>
                <a:spLocks noChangeShapeType="1"/>
              </p:cNvSpPr>
              <p:nvPr/>
            </p:nvSpPr>
            <p:spPr bwMode="auto">
              <a:xfrm>
                <a:off x="3312" y="0"/>
                <a:ext cx="0" cy="363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</p:txBody>
          </p:sp>
          <p:sp>
            <p:nvSpPr>
              <p:cNvPr id="9253" name="Line 16"/>
              <p:cNvSpPr>
                <a:spLocks noChangeShapeType="1"/>
              </p:cNvSpPr>
              <p:nvPr/>
            </p:nvSpPr>
            <p:spPr bwMode="auto">
              <a:xfrm>
                <a:off x="3675" y="0"/>
                <a:ext cx="0" cy="363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</p:txBody>
          </p:sp>
        </p:grpSp>
        <p:sp>
          <p:nvSpPr>
            <p:cNvPr id="9226" name="Text Box 17"/>
            <p:cNvSpPr txBox="1">
              <a:spLocks noChangeArrowheads="1"/>
            </p:cNvSpPr>
            <p:nvPr/>
          </p:nvSpPr>
          <p:spPr bwMode="auto">
            <a:xfrm>
              <a:off x="955920" y="3329780"/>
              <a:ext cx="461963" cy="579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sz="3200" b="1" dirty="0">
                  <a:solidFill>
                    <a:srgbClr val="FF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9227" name="Text Box 18"/>
            <p:cNvSpPr txBox="1">
              <a:spLocks noChangeArrowheads="1"/>
            </p:cNvSpPr>
            <p:nvPr/>
          </p:nvSpPr>
          <p:spPr bwMode="auto">
            <a:xfrm>
              <a:off x="1649413" y="2917825"/>
              <a:ext cx="31130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9228" name="Text Box 19"/>
            <p:cNvSpPr txBox="1">
              <a:spLocks noChangeArrowheads="1"/>
            </p:cNvSpPr>
            <p:nvPr/>
          </p:nvSpPr>
          <p:spPr bwMode="auto">
            <a:xfrm>
              <a:off x="2152651" y="2917825"/>
              <a:ext cx="31130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9229" name="Text Box 20"/>
            <p:cNvSpPr txBox="1">
              <a:spLocks noChangeArrowheads="1"/>
            </p:cNvSpPr>
            <p:nvPr/>
          </p:nvSpPr>
          <p:spPr bwMode="auto">
            <a:xfrm>
              <a:off x="2800351" y="2917825"/>
              <a:ext cx="31130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9230" name="Text Box 21"/>
            <p:cNvSpPr txBox="1">
              <a:spLocks noChangeArrowheads="1"/>
            </p:cNvSpPr>
            <p:nvPr/>
          </p:nvSpPr>
          <p:spPr bwMode="auto">
            <a:xfrm>
              <a:off x="3376613" y="2917825"/>
              <a:ext cx="31130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9231" name="Text Box 22"/>
            <p:cNvSpPr txBox="1">
              <a:spLocks noChangeArrowheads="1"/>
            </p:cNvSpPr>
            <p:nvPr/>
          </p:nvSpPr>
          <p:spPr bwMode="auto">
            <a:xfrm>
              <a:off x="3952876" y="2917825"/>
              <a:ext cx="31130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9232" name="Text Box 23"/>
            <p:cNvSpPr txBox="1">
              <a:spLocks noChangeArrowheads="1"/>
            </p:cNvSpPr>
            <p:nvPr/>
          </p:nvSpPr>
          <p:spPr bwMode="auto">
            <a:xfrm>
              <a:off x="5608638" y="2917825"/>
              <a:ext cx="24878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</a:p>
          </p:txBody>
        </p:sp>
        <p:sp>
          <p:nvSpPr>
            <p:cNvPr id="9233" name="Text Box 24"/>
            <p:cNvSpPr txBox="1">
              <a:spLocks noChangeArrowheads="1"/>
            </p:cNvSpPr>
            <p:nvPr/>
          </p:nvSpPr>
          <p:spPr bwMode="auto">
            <a:xfrm>
              <a:off x="7408863" y="2917825"/>
              <a:ext cx="50526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n-1</a:t>
              </a:r>
            </a:p>
          </p:txBody>
        </p:sp>
        <p:sp>
          <p:nvSpPr>
            <p:cNvPr id="9234" name="Text Box 25"/>
            <p:cNvSpPr txBox="1">
              <a:spLocks noChangeArrowheads="1"/>
            </p:cNvSpPr>
            <p:nvPr/>
          </p:nvSpPr>
          <p:spPr bwMode="auto">
            <a:xfrm>
              <a:off x="4673601" y="2917825"/>
              <a:ext cx="6413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……</a:t>
              </a:r>
            </a:p>
          </p:txBody>
        </p:sp>
        <p:sp>
          <p:nvSpPr>
            <p:cNvPr id="9235" name="Text Box 26"/>
            <p:cNvSpPr txBox="1">
              <a:spLocks noChangeArrowheads="1"/>
            </p:cNvSpPr>
            <p:nvPr/>
          </p:nvSpPr>
          <p:spPr bwMode="auto">
            <a:xfrm>
              <a:off x="6400801" y="2917825"/>
              <a:ext cx="6413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……</a:t>
              </a:r>
            </a:p>
          </p:txBody>
        </p:sp>
        <p:sp>
          <p:nvSpPr>
            <p:cNvPr id="9236" name="Text Box 27"/>
            <p:cNvSpPr txBox="1">
              <a:spLocks noChangeArrowheads="1"/>
            </p:cNvSpPr>
            <p:nvPr/>
          </p:nvSpPr>
          <p:spPr bwMode="auto">
            <a:xfrm>
              <a:off x="1547664" y="3390926"/>
              <a:ext cx="44114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sz="2400" b="1" i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0274" name="Line 34"/>
            <p:cNvSpPr>
              <a:spLocks noChangeShapeType="1"/>
            </p:cNvSpPr>
            <p:nvPr/>
          </p:nvSpPr>
          <p:spPr bwMode="auto">
            <a:xfrm flipH="1">
              <a:off x="1547813" y="4438650"/>
              <a:ext cx="619283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75" name="Text Box 35"/>
            <p:cNvSpPr txBox="1">
              <a:spLocks noChangeArrowheads="1"/>
            </p:cNvSpPr>
            <p:nvPr/>
          </p:nvSpPr>
          <p:spPr bwMode="auto">
            <a:xfrm>
              <a:off x="1016244" y="4149080"/>
              <a:ext cx="341313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b="1" dirty="0">
                  <a:solidFill>
                    <a:srgbClr val="FF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X</a:t>
              </a:r>
            </a:p>
          </p:txBody>
        </p:sp>
        <p:sp>
          <p:nvSpPr>
            <p:cNvPr id="10276" name="Line 36"/>
            <p:cNvSpPr>
              <a:spLocks noChangeShapeType="1"/>
            </p:cNvSpPr>
            <p:nvPr/>
          </p:nvSpPr>
          <p:spPr bwMode="auto">
            <a:xfrm>
              <a:off x="1619250" y="4221163"/>
              <a:ext cx="604837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Text Box 27"/>
            <p:cNvSpPr txBox="1">
              <a:spLocks noChangeArrowheads="1"/>
            </p:cNvSpPr>
            <p:nvPr/>
          </p:nvSpPr>
          <p:spPr bwMode="auto">
            <a:xfrm>
              <a:off x="2139802" y="3396373"/>
              <a:ext cx="44114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sz="2400" b="1" i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46" name="Text Box 27"/>
            <p:cNvSpPr txBox="1">
              <a:spLocks noChangeArrowheads="1"/>
            </p:cNvSpPr>
            <p:nvPr/>
          </p:nvSpPr>
          <p:spPr bwMode="auto">
            <a:xfrm>
              <a:off x="2721157" y="3373011"/>
              <a:ext cx="44114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sz="2400" b="1" i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47" name="Text Box 27"/>
            <p:cNvSpPr txBox="1">
              <a:spLocks noChangeArrowheads="1"/>
            </p:cNvSpPr>
            <p:nvPr/>
          </p:nvSpPr>
          <p:spPr bwMode="auto">
            <a:xfrm>
              <a:off x="3305176" y="3360041"/>
              <a:ext cx="44114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sz="2400" b="1" i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48" name="Text Box 27"/>
            <p:cNvSpPr txBox="1">
              <a:spLocks noChangeArrowheads="1"/>
            </p:cNvSpPr>
            <p:nvPr/>
          </p:nvSpPr>
          <p:spPr bwMode="auto">
            <a:xfrm>
              <a:off x="3869622" y="3360041"/>
              <a:ext cx="44114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sz="2400" b="1" i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49" name="Text Box 27"/>
            <p:cNvSpPr txBox="1">
              <a:spLocks noChangeArrowheads="1"/>
            </p:cNvSpPr>
            <p:nvPr/>
          </p:nvSpPr>
          <p:spPr bwMode="auto">
            <a:xfrm>
              <a:off x="5602470" y="3388667"/>
              <a:ext cx="56778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sz="2400" b="1" i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i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-1</a:t>
              </a:r>
            </a:p>
          </p:txBody>
        </p:sp>
        <p:sp>
          <p:nvSpPr>
            <p:cNvPr id="50" name="Text Box 27"/>
            <p:cNvSpPr txBox="1">
              <a:spLocks noChangeArrowheads="1"/>
            </p:cNvSpPr>
            <p:nvPr/>
          </p:nvSpPr>
          <p:spPr bwMode="auto">
            <a:xfrm>
              <a:off x="7355249" y="3360041"/>
              <a:ext cx="45236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sz="2400" b="1" i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n</a:t>
              </a:r>
              <a:endParaRPr lang="en-US" altLang="zh-CN" sz="2400" b="1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-890841" y="72640"/>
            <a:ext cx="8271153" cy="665363"/>
            <a:chOff x="-594808" y="1867387"/>
            <a:chExt cx="8913447" cy="707532"/>
          </a:xfrm>
        </p:grpSpPr>
        <p:grpSp>
          <p:nvGrpSpPr>
            <p:cNvPr id="52" name="组合 51"/>
            <p:cNvGrpSpPr/>
            <p:nvPr/>
          </p:nvGrpSpPr>
          <p:grpSpPr>
            <a:xfrm>
              <a:off x="-594808" y="1867387"/>
              <a:ext cx="8913447" cy="707532"/>
              <a:chOff x="-635833" y="1327471"/>
              <a:chExt cx="8913447" cy="707532"/>
            </a:xfrm>
          </p:grpSpPr>
          <p:sp>
            <p:nvSpPr>
              <p:cNvPr id="54" name="TextBox 6"/>
              <p:cNvSpPr txBox="1">
                <a:spLocks noChangeArrowheads="1"/>
              </p:cNvSpPr>
              <p:nvPr/>
            </p:nvSpPr>
            <p:spPr bwMode="auto">
              <a:xfrm>
                <a:off x="-635833" y="1347734"/>
                <a:ext cx="8913447" cy="687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10.2 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顺序表的查找</a:t>
                </a:r>
              </a:p>
            </p:txBody>
          </p:sp>
          <p:sp>
            <p:nvSpPr>
              <p:cNvPr id="55" name="Freeform 5"/>
              <p:cNvSpPr>
                <a:spLocks/>
              </p:cNvSpPr>
              <p:nvPr/>
            </p:nvSpPr>
            <p:spPr bwMode="auto">
              <a:xfrm>
                <a:off x="958665" y="1327471"/>
                <a:ext cx="842977" cy="683003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FFFF66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</p:grpSp>
        <p:pic>
          <p:nvPicPr>
            <p:cNvPr id="53" name="图片 5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89825" y="2023053"/>
              <a:ext cx="495511" cy="4238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83335643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02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02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uiExpand="1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287658" y="754622"/>
            <a:ext cx="8353425" cy="711200"/>
          </a:xfrm>
        </p:spPr>
        <p:txBody>
          <a:bodyPr>
            <a:normAutofit/>
          </a:bodyPr>
          <a:lstStyle/>
          <a:p>
            <a:pPr marL="342900" indent="-3429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800" dirty="0">
                <a:latin typeface="Times New Roman" pitchFamily="18" charset="0"/>
                <a:ea typeface="仿宋" pitchFamily="49" charset="-122"/>
                <a:cs typeface="+mn-cs"/>
              </a:rPr>
              <a:t>10.2.1</a:t>
            </a:r>
            <a:r>
              <a:rPr lang="zh-CN" altLang="en-US" sz="2800" dirty="0">
                <a:latin typeface="Times New Roman" pitchFamily="18" charset="0"/>
                <a:ea typeface="仿宋" pitchFamily="49" charset="-122"/>
                <a:cs typeface="+mn-cs"/>
              </a:rPr>
              <a:t>简单顺序表的查找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88760" y="1448434"/>
            <a:ext cx="8229600" cy="4678451"/>
          </a:xfrm>
        </p:spPr>
        <p:txBody>
          <a:bodyPr/>
          <a:lstStyle/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/>
              <a:t>简单顺序查找</a:t>
            </a:r>
            <a:r>
              <a:rPr lang="zh-CN" altLang="en-US" sz="2800" dirty="0"/>
              <a:t>   </a:t>
            </a:r>
            <a:r>
              <a:rPr lang="zh-CN" altLang="en-US" sz="2400" b="1" dirty="0">
                <a:solidFill>
                  <a:srgbClr val="FF0000"/>
                </a:solidFill>
              </a:rPr>
              <a:t>从左向右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1268" name="Text Box 4"/>
          <p:cNvSpPr txBox="1">
            <a:spLocks noChangeArrowheads="1"/>
          </p:cNvSpPr>
          <p:nvPr/>
        </p:nvSpPr>
        <p:spPr bwMode="auto">
          <a:xfrm>
            <a:off x="4388442" y="3911973"/>
            <a:ext cx="4465637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2400" dirty="0" err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int</a:t>
            </a:r>
            <a:r>
              <a:rPr lang="en-US" altLang="zh-CN" sz="24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 search ( </a:t>
            </a:r>
            <a:r>
              <a:rPr lang="en-US" altLang="zh-CN" sz="2400" dirty="0" err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elemenType</a:t>
            </a: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 A[]</a:t>
            </a:r>
            <a:r>
              <a:rPr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，</a:t>
            </a:r>
          </a:p>
          <a:p>
            <a:pPr eaLnBrk="1" hangingPunct="1"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                  </a:t>
            </a:r>
            <a:r>
              <a:rPr lang="en-US" altLang="zh-CN" sz="2400" dirty="0" err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keyType</a:t>
            </a: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 x) </a:t>
            </a:r>
          </a:p>
          <a:p>
            <a:pPr eaLnBrk="1" hangingPunct="1"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{</a:t>
            </a:r>
          </a:p>
          <a:p>
            <a:pPr eaLnBrk="1" hangingPunct="1"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      </a:t>
            </a:r>
            <a:r>
              <a:rPr lang="en-US" altLang="zh-CN" sz="24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for</a:t>
            </a: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( </a:t>
            </a:r>
            <a:r>
              <a:rPr lang="en-US" altLang="zh-CN" sz="2400" dirty="0" err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int</a:t>
            </a: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24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=0;i&lt;</a:t>
            </a:r>
            <a:r>
              <a:rPr lang="en-US" altLang="zh-CN" sz="24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n;i</a:t>
            </a: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++) </a:t>
            </a:r>
          </a:p>
          <a:p>
            <a:pPr eaLnBrk="1" hangingPunct="1"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           </a:t>
            </a:r>
            <a:r>
              <a:rPr lang="en-US" altLang="zh-CN" sz="24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if</a:t>
            </a: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 (A[</a:t>
            </a:r>
            <a:r>
              <a:rPr lang="en-US" altLang="zh-CN" sz="24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].key==x)  </a:t>
            </a:r>
            <a:r>
              <a:rPr lang="en-US" altLang="zh-CN" sz="24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return</a:t>
            </a: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24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;</a:t>
            </a:r>
          </a:p>
          <a:p>
            <a:pPr eaLnBrk="1" hangingPunct="1"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      </a:t>
            </a:r>
            <a:r>
              <a:rPr lang="en-US" altLang="zh-CN" sz="24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return </a:t>
            </a: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-1;</a:t>
            </a:r>
          </a:p>
          <a:p>
            <a:pPr eaLnBrk="1" hangingPunct="1"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}</a:t>
            </a:r>
          </a:p>
        </p:txBody>
      </p:sp>
      <p:sp>
        <p:nvSpPr>
          <p:cNvPr id="11270" name="AutoShape 6"/>
          <p:cNvSpPr>
            <a:spLocks noChangeArrowheads="1"/>
          </p:cNvSpPr>
          <p:nvPr/>
        </p:nvSpPr>
        <p:spPr bwMode="auto">
          <a:xfrm>
            <a:off x="1430338" y="2856508"/>
            <a:ext cx="982662" cy="442912"/>
          </a:xfrm>
          <a:prstGeom prst="flowChartProcess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endParaRPr lang="zh-CN" altLang="en-US"/>
          </a:p>
        </p:txBody>
      </p:sp>
      <p:sp>
        <p:nvSpPr>
          <p:cNvPr id="11271" name="Text Box 7"/>
          <p:cNvSpPr txBox="1">
            <a:spLocks noChangeArrowheads="1"/>
          </p:cNvSpPr>
          <p:nvPr/>
        </p:nvSpPr>
        <p:spPr bwMode="auto">
          <a:xfrm>
            <a:off x="1676400" y="2920008"/>
            <a:ext cx="736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latin typeface="Tahoma" panose="020B0604030504040204" pitchFamily="34" charset="0"/>
                <a:ea typeface="宋体" panose="02010600030101010101" pitchFamily="2" charset="-122"/>
              </a:rPr>
              <a:t>i=0</a:t>
            </a:r>
          </a:p>
        </p:txBody>
      </p:sp>
      <p:sp>
        <p:nvSpPr>
          <p:cNvPr id="11272" name="Line 8"/>
          <p:cNvSpPr>
            <a:spLocks noChangeShapeType="1"/>
          </p:cNvSpPr>
          <p:nvPr/>
        </p:nvSpPr>
        <p:spPr bwMode="auto">
          <a:xfrm>
            <a:off x="1922463" y="3299420"/>
            <a:ext cx="0" cy="4460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73" name="AutoShape 9"/>
          <p:cNvSpPr>
            <a:spLocks noChangeArrowheads="1"/>
          </p:cNvSpPr>
          <p:nvPr/>
        </p:nvSpPr>
        <p:spPr bwMode="auto">
          <a:xfrm>
            <a:off x="1370013" y="3745508"/>
            <a:ext cx="1104900" cy="508000"/>
          </a:xfrm>
          <a:prstGeom prst="flowChartDecision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endParaRPr lang="zh-CN" altLang="en-US"/>
          </a:p>
        </p:txBody>
      </p:sp>
      <p:sp>
        <p:nvSpPr>
          <p:cNvPr id="11274" name="Text Box 10"/>
          <p:cNvSpPr txBox="1">
            <a:spLocks noChangeArrowheads="1"/>
          </p:cNvSpPr>
          <p:nvPr/>
        </p:nvSpPr>
        <p:spPr bwMode="auto">
          <a:xfrm>
            <a:off x="1619250" y="3805833"/>
            <a:ext cx="6953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latin typeface="Tahoma" panose="020B0604030504040204" pitchFamily="34" charset="0"/>
                <a:ea typeface="宋体" panose="02010600030101010101" pitchFamily="2" charset="-122"/>
              </a:rPr>
              <a:t>i&lt;n</a:t>
            </a:r>
          </a:p>
        </p:txBody>
      </p:sp>
      <p:sp>
        <p:nvSpPr>
          <p:cNvPr id="11275" name="Line 11"/>
          <p:cNvSpPr>
            <a:spLocks noChangeShapeType="1"/>
          </p:cNvSpPr>
          <p:nvPr/>
        </p:nvSpPr>
        <p:spPr bwMode="auto">
          <a:xfrm flipH="1">
            <a:off x="1922463" y="4253508"/>
            <a:ext cx="0" cy="4429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76" name="AutoShape 12"/>
          <p:cNvSpPr>
            <a:spLocks noChangeArrowheads="1"/>
          </p:cNvSpPr>
          <p:nvPr/>
        </p:nvSpPr>
        <p:spPr bwMode="auto">
          <a:xfrm>
            <a:off x="879475" y="4696420"/>
            <a:ext cx="2087563" cy="508000"/>
          </a:xfrm>
          <a:prstGeom prst="flowChartDecision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endParaRPr lang="zh-CN" altLang="en-US"/>
          </a:p>
        </p:txBody>
      </p:sp>
      <p:sp>
        <p:nvSpPr>
          <p:cNvPr id="11277" name="Text Box 13"/>
          <p:cNvSpPr txBox="1">
            <a:spLocks noChangeArrowheads="1"/>
          </p:cNvSpPr>
          <p:nvPr/>
        </p:nvSpPr>
        <p:spPr bwMode="auto">
          <a:xfrm>
            <a:off x="1289050" y="4759920"/>
            <a:ext cx="14827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latin typeface="Tahoma" panose="020B0604030504040204" pitchFamily="34" charset="0"/>
                <a:ea typeface="宋体" panose="02010600030101010101" pitchFamily="2" charset="-122"/>
              </a:rPr>
              <a:t>A[i].key==x</a:t>
            </a:r>
          </a:p>
        </p:txBody>
      </p:sp>
      <p:sp>
        <p:nvSpPr>
          <p:cNvPr id="11278" name="Line 14"/>
          <p:cNvSpPr>
            <a:spLocks noChangeShapeType="1"/>
          </p:cNvSpPr>
          <p:nvPr/>
        </p:nvSpPr>
        <p:spPr bwMode="auto">
          <a:xfrm flipH="1">
            <a:off x="1908175" y="5204420"/>
            <a:ext cx="14288" cy="3286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79" name="AutoShape 15"/>
          <p:cNvSpPr>
            <a:spLocks noChangeArrowheads="1"/>
          </p:cNvSpPr>
          <p:nvPr/>
        </p:nvSpPr>
        <p:spPr bwMode="auto">
          <a:xfrm>
            <a:off x="1430338" y="5585420"/>
            <a:ext cx="982662" cy="444500"/>
          </a:xfrm>
          <a:prstGeom prst="flowChartProcess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endParaRPr lang="zh-CN" altLang="en-US"/>
          </a:p>
        </p:txBody>
      </p:sp>
      <p:sp>
        <p:nvSpPr>
          <p:cNvPr id="11280" name="Text Box 16"/>
          <p:cNvSpPr txBox="1">
            <a:spLocks noChangeArrowheads="1"/>
          </p:cNvSpPr>
          <p:nvPr/>
        </p:nvSpPr>
        <p:spPr bwMode="auto">
          <a:xfrm>
            <a:off x="1676400" y="5648920"/>
            <a:ext cx="736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latin typeface="Tahoma" panose="020B0604030504040204" pitchFamily="34" charset="0"/>
                <a:ea typeface="宋体" panose="02010600030101010101" pitchFamily="2" charset="-122"/>
              </a:rPr>
              <a:t>i++</a:t>
            </a:r>
          </a:p>
        </p:txBody>
      </p:sp>
      <p:sp>
        <p:nvSpPr>
          <p:cNvPr id="11281" name="Line 17"/>
          <p:cNvSpPr>
            <a:spLocks noChangeShapeType="1"/>
          </p:cNvSpPr>
          <p:nvPr/>
        </p:nvSpPr>
        <p:spPr bwMode="auto">
          <a:xfrm>
            <a:off x="2474913" y="3997920"/>
            <a:ext cx="657225" cy="23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82" name="Line 18"/>
          <p:cNvSpPr>
            <a:spLocks noChangeShapeType="1"/>
          </p:cNvSpPr>
          <p:nvPr/>
        </p:nvSpPr>
        <p:spPr bwMode="auto">
          <a:xfrm>
            <a:off x="2903538" y="4950420"/>
            <a:ext cx="444500" cy="6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83" name="Text Box 19"/>
          <p:cNvSpPr txBox="1">
            <a:spLocks noChangeArrowheads="1"/>
          </p:cNvSpPr>
          <p:nvPr/>
        </p:nvSpPr>
        <p:spPr bwMode="auto">
          <a:xfrm>
            <a:off x="2411413" y="3661370"/>
            <a:ext cx="368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latin typeface="Tahoma" panose="020B0604030504040204" pitchFamily="34" charset="0"/>
                <a:ea typeface="宋体" panose="02010600030101010101" pitchFamily="2" charset="-122"/>
              </a:rPr>
              <a:t>N</a:t>
            </a:r>
          </a:p>
        </p:txBody>
      </p:sp>
      <p:sp>
        <p:nvSpPr>
          <p:cNvPr id="11284" name="Text Box 20"/>
          <p:cNvSpPr txBox="1">
            <a:spLocks noChangeArrowheads="1"/>
          </p:cNvSpPr>
          <p:nvPr/>
        </p:nvSpPr>
        <p:spPr bwMode="auto">
          <a:xfrm>
            <a:off x="2843213" y="4632920"/>
            <a:ext cx="3063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latin typeface="Tahoma" panose="020B0604030504040204" pitchFamily="34" charset="0"/>
                <a:ea typeface="宋体" panose="02010600030101010101" pitchFamily="2" charset="-122"/>
              </a:rPr>
              <a:t>Y</a:t>
            </a:r>
          </a:p>
        </p:txBody>
      </p:sp>
      <p:sp>
        <p:nvSpPr>
          <p:cNvPr id="11318" name="Line 54"/>
          <p:cNvSpPr>
            <a:spLocks noChangeShapeType="1"/>
          </p:cNvSpPr>
          <p:nvPr/>
        </p:nvSpPr>
        <p:spPr bwMode="auto">
          <a:xfrm flipV="1">
            <a:off x="3024588" y="2904620"/>
            <a:ext cx="0" cy="504825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FF"/>
              </a:solidFill>
            </a:endParaRPr>
          </a:p>
        </p:txBody>
      </p:sp>
      <p:sp>
        <p:nvSpPr>
          <p:cNvPr id="11319" name="Text Box 55"/>
          <p:cNvSpPr txBox="1">
            <a:spLocks noChangeArrowheads="1"/>
          </p:cNvSpPr>
          <p:nvPr/>
        </p:nvSpPr>
        <p:spPr bwMode="auto">
          <a:xfrm>
            <a:off x="3043883" y="3171843"/>
            <a:ext cx="3603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dirty="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endParaRPr lang="en-US" altLang="zh-CN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320" name="Oval 56"/>
          <p:cNvSpPr>
            <a:spLocks noChangeArrowheads="1"/>
          </p:cNvSpPr>
          <p:nvPr/>
        </p:nvSpPr>
        <p:spPr bwMode="auto">
          <a:xfrm>
            <a:off x="1692275" y="2204864"/>
            <a:ext cx="431800" cy="288925"/>
          </a:xfrm>
          <a:prstGeom prst="ellipse">
            <a:avLst/>
          </a:prstGeom>
          <a:solidFill>
            <a:srgbClr val="FFC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endParaRPr lang="zh-CN" altLang="en-US"/>
          </a:p>
        </p:txBody>
      </p:sp>
      <p:sp>
        <p:nvSpPr>
          <p:cNvPr id="11321" name="Text Box 57"/>
          <p:cNvSpPr txBox="1">
            <a:spLocks noChangeArrowheads="1"/>
          </p:cNvSpPr>
          <p:nvPr/>
        </p:nvSpPr>
        <p:spPr bwMode="auto">
          <a:xfrm>
            <a:off x="1979613" y="4237633"/>
            <a:ext cx="3063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Y</a:t>
            </a:r>
          </a:p>
        </p:txBody>
      </p:sp>
      <p:sp>
        <p:nvSpPr>
          <p:cNvPr id="11322" name="Oval 58"/>
          <p:cNvSpPr>
            <a:spLocks noChangeArrowheads="1"/>
          </p:cNvSpPr>
          <p:nvPr/>
        </p:nvSpPr>
        <p:spPr bwMode="auto">
          <a:xfrm>
            <a:off x="3132138" y="3877270"/>
            <a:ext cx="792162" cy="360363"/>
          </a:xfrm>
          <a:prstGeom prst="ellipse">
            <a:avLst/>
          </a:prstGeom>
          <a:solidFill>
            <a:srgbClr val="FFC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endParaRPr lang="zh-CN" altLang="en-US"/>
          </a:p>
        </p:txBody>
      </p:sp>
      <p:sp>
        <p:nvSpPr>
          <p:cNvPr id="11323" name="Text Box 59"/>
          <p:cNvSpPr txBox="1">
            <a:spLocks noChangeArrowheads="1"/>
          </p:cNvSpPr>
          <p:nvPr/>
        </p:nvSpPr>
        <p:spPr bwMode="auto">
          <a:xfrm>
            <a:off x="3144160" y="3877271"/>
            <a:ext cx="86518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600" dirty="0">
                <a:ea typeface="宋体" panose="02010600030101010101" pitchFamily="2" charset="-122"/>
              </a:rPr>
              <a:t>返回</a:t>
            </a:r>
            <a:r>
              <a:rPr lang="en-US" altLang="zh-CN" sz="1600" dirty="0">
                <a:ea typeface="宋体" panose="02010600030101010101" pitchFamily="2" charset="-122"/>
              </a:rPr>
              <a:t>-1</a:t>
            </a:r>
          </a:p>
        </p:txBody>
      </p:sp>
      <p:sp>
        <p:nvSpPr>
          <p:cNvPr id="11324" name="Text Box 60"/>
          <p:cNvSpPr txBox="1">
            <a:spLocks noChangeArrowheads="1"/>
          </p:cNvSpPr>
          <p:nvPr/>
        </p:nvSpPr>
        <p:spPr bwMode="auto">
          <a:xfrm>
            <a:off x="3348038" y="4813895"/>
            <a:ext cx="8651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ea typeface="宋体" panose="02010600030101010101" pitchFamily="2" charset="-122"/>
              </a:rPr>
              <a:t>返回</a:t>
            </a:r>
            <a:r>
              <a:rPr lang="en-US" altLang="zh-CN">
                <a:ea typeface="宋体" panose="02010600030101010101" pitchFamily="2" charset="-122"/>
              </a:rPr>
              <a:t>i</a:t>
            </a:r>
          </a:p>
        </p:txBody>
      </p:sp>
      <p:sp>
        <p:nvSpPr>
          <p:cNvPr id="11325" name="Oval 61"/>
          <p:cNvSpPr>
            <a:spLocks noChangeArrowheads="1"/>
          </p:cNvSpPr>
          <p:nvPr/>
        </p:nvSpPr>
        <p:spPr bwMode="auto">
          <a:xfrm>
            <a:off x="3348038" y="4813895"/>
            <a:ext cx="792162" cy="360363"/>
          </a:xfrm>
          <a:prstGeom prst="ellipse">
            <a:avLst/>
          </a:prstGeom>
          <a:solidFill>
            <a:srgbClr val="FFC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endParaRPr lang="zh-CN" altLang="en-US"/>
          </a:p>
        </p:txBody>
      </p:sp>
      <p:sp>
        <p:nvSpPr>
          <p:cNvPr id="11326" name="Text Box 62"/>
          <p:cNvSpPr txBox="1">
            <a:spLocks noChangeArrowheads="1"/>
          </p:cNvSpPr>
          <p:nvPr/>
        </p:nvSpPr>
        <p:spPr bwMode="auto">
          <a:xfrm>
            <a:off x="1979613" y="5172670"/>
            <a:ext cx="368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latin typeface="Tahoma" panose="020B0604030504040204" pitchFamily="34" charset="0"/>
                <a:ea typeface="宋体" panose="02010600030101010101" pitchFamily="2" charset="-122"/>
              </a:rPr>
              <a:t>N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12</a:t>
            </a:fld>
            <a:endParaRPr lang="zh-CN" altLang="en-US" dirty="0"/>
          </a:p>
        </p:txBody>
      </p:sp>
      <p:sp>
        <p:nvSpPr>
          <p:cNvPr id="11286" name="Text Box 22"/>
          <p:cNvSpPr txBox="1">
            <a:spLocks noChangeArrowheads="1"/>
          </p:cNvSpPr>
          <p:nvPr/>
        </p:nvSpPr>
        <p:spPr bwMode="auto">
          <a:xfrm>
            <a:off x="3385734" y="4820245"/>
            <a:ext cx="100806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400" dirty="0">
                <a:latin typeface="Tahoma" panose="020B0604030504040204" pitchFamily="34" charset="0"/>
                <a:ea typeface="宋体" panose="02010600030101010101" pitchFamily="2" charset="-122"/>
              </a:rPr>
              <a:t>返回</a:t>
            </a:r>
            <a:r>
              <a:rPr lang="en-US" altLang="zh-CN" sz="1400" dirty="0" err="1">
                <a:latin typeface="Tahoma" panose="020B0604030504040204" pitchFamily="34" charset="0"/>
                <a:ea typeface="宋体" panose="02010600030101010101" pitchFamily="2" charset="-122"/>
              </a:rPr>
              <a:t>i</a:t>
            </a:r>
            <a:endParaRPr lang="zh-CN" altLang="en-US" sz="14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588760" y="3589933"/>
            <a:ext cx="1332909" cy="2719387"/>
            <a:chOff x="588760" y="3141663"/>
            <a:chExt cx="1332909" cy="2719387"/>
          </a:xfrm>
        </p:grpSpPr>
        <p:cxnSp>
          <p:nvCxnSpPr>
            <p:cNvPr id="5" name="直接连接符 4"/>
            <p:cNvCxnSpPr/>
            <p:nvPr/>
          </p:nvCxnSpPr>
          <p:spPr>
            <a:xfrm>
              <a:off x="1921669" y="5581650"/>
              <a:ext cx="0" cy="2794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 flipH="1">
              <a:off x="588760" y="5861050"/>
              <a:ext cx="133290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>
            <a:xfrm flipV="1">
              <a:off x="588760" y="3141663"/>
              <a:ext cx="0" cy="271938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箭头连接符 10"/>
            <p:cNvCxnSpPr/>
            <p:nvPr/>
          </p:nvCxnSpPr>
          <p:spPr>
            <a:xfrm>
              <a:off x="588760" y="3141663"/>
              <a:ext cx="1332909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组合 77"/>
          <p:cNvGrpSpPr/>
          <p:nvPr/>
        </p:nvGrpSpPr>
        <p:grpSpPr>
          <a:xfrm>
            <a:off x="2286000" y="1888025"/>
            <a:ext cx="6805016" cy="1008063"/>
            <a:chOff x="1109114" y="2917825"/>
            <a:chExt cx="6805016" cy="1008063"/>
          </a:xfrm>
        </p:grpSpPr>
        <p:grpSp>
          <p:nvGrpSpPr>
            <p:cNvPr id="79" name="Group 5"/>
            <p:cNvGrpSpPr>
              <a:grpSpLocks/>
            </p:cNvGrpSpPr>
            <p:nvPr/>
          </p:nvGrpSpPr>
          <p:grpSpPr bwMode="auto">
            <a:xfrm>
              <a:off x="1504951" y="3349625"/>
              <a:ext cx="6408738" cy="576263"/>
              <a:chOff x="0" y="0"/>
              <a:chExt cx="4037" cy="363"/>
            </a:xfrm>
            <a:solidFill>
              <a:srgbClr val="92D050"/>
            </a:solidFill>
          </p:grpSpPr>
          <p:sp>
            <p:nvSpPr>
              <p:cNvPr id="100" name="Rectangle 6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037" cy="363"/>
              </a:xfrm>
              <a:prstGeom prst="rect">
                <a:avLst/>
              </a:prstGeom>
              <a:grp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 eaLnBrk="1" hangingPunct="1"/>
                <a:endParaRPr lang="zh-CN" altLang="en-US" b="1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</p:txBody>
          </p:sp>
          <p:sp>
            <p:nvSpPr>
              <p:cNvPr id="101" name="Line 7"/>
              <p:cNvSpPr>
                <a:spLocks noChangeShapeType="1"/>
              </p:cNvSpPr>
              <p:nvPr/>
            </p:nvSpPr>
            <p:spPr bwMode="auto">
              <a:xfrm>
                <a:off x="363" y="0"/>
                <a:ext cx="0" cy="363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</p:txBody>
          </p:sp>
          <p:sp>
            <p:nvSpPr>
              <p:cNvPr id="102" name="Line 8"/>
              <p:cNvSpPr>
                <a:spLocks noChangeShapeType="1"/>
              </p:cNvSpPr>
              <p:nvPr/>
            </p:nvSpPr>
            <p:spPr bwMode="auto">
              <a:xfrm>
                <a:off x="726" y="0"/>
                <a:ext cx="0" cy="363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</p:txBody>
          </p:sp>
          <p:sp>
            <p:nvSpPr>
              <p:cNvPr id="103" name="Line 9"/>
              <p:cNvSpPr>
                <a:spLocks noChangeShapeType="1"/>
              </p:cNvSpPr>
              <p:nvPr/>
            </p:nvSpPr>
            <p:spPr bwMode="auto">
              <a:xfrm>
                <a:off x="1089" y="0"/>
                <a:ext cx="0" cy="363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</p:txBody>
          </p:sp>
          <p:sp>
            <p:nvSpPr>
              <p:cNvPr id="104" name="Line 10"/>
              <p:cNvSpPr>
                <a:spLocks noChangeShapeType="1"/>
              </p:cNvSpPr>
              <p:nvPr/>
            </p:nvSpPr>
            <p:spPr bwMode="auto">
              <a:xfrm>
                <a:off x="1452" y="0"/>
                <a:ext cx="0" cy="363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</p:txBody>
          </p:sp>
          <p:sp>
            <p:nvSpPr>
              <p:cNvPr id="105" name="Line 11"/>
              <p:cNvSpPr>
                <a:spLocks noChangeShapeType="1"/>
              </p:cNvSpPr>
              <p:nvPr/>
            </p:nvSpPr>
            <p:spPr bwMode="auto">
              <a:xfrm>
                <a:off x="1815" y="0"/>
                <a:ext cx="0" cy="363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</p:txBody>
          </p:sp>
          <p:sp>
            <p:nvSpPr>
              <p:cNvPr id="106" name="Line 12"/>
              <p:cNvSpPr>
                <a:spLocks noChangeShapeType="1"/>
              </p:cNvSpPr>
              <p:nvPr/>
            </p:nvSpPr>
            <p:spPr bwMode="auto">
              <a:xfrm>
                <a:off x="2178" y="0"/>
                <a:ext cx="0" cy="363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</p:txBody>
          </p:sp>
          <p:sp>
            <p:nvSpPr>
              <p:cNvPr id="107" name="Line 13"/>
              <p:cNvSpPr>
                <a:spLocks noChangeShapeType="1"/>
              </p:cNvSpPr>
              <p:nvPr/>
            </p:nvSpPr>
            <p:spPr bwMode="auto">
              <a:xfrm>
                <a:off x="2541" y="0"/>
                <a:ext cx="0" cy="363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</p:txBody>
          </p:sp>
          <p:sp>
            <p:nvSpPr>
              <p:cNvPr id="108" name="Line 14"/>
              <p:cNvSpPr>
                <a:spLocks noChangeShapeType="1"/>
              </p:cNvSpPr>
              <p:nvPr/>
            </p:nvSpPr>
            <p:spPr bwMode="auto">
              <a:xfrm>
                <a:off x="2903" y="0"/>
                <a:ext cx="0" cy="363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</p:txBody>
          </p:sp>
          <p:sp>
            <p:nvSpPr>
              <p:cNvPr id="109" name="Line 15"/>
              <p:cNvSpPr>
                <a:spLocks noChangeShapeType="1"/>
              </p:cNvSpPr>
              <p:nvPr/>
            </p:nvSpPr>
            <p:spPr bwMode="auto">
              <a:xfrm>
                <a:off x="3312" y="0"/>
                <a:ext cx="0" cy="363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</p:txBody>
          </p:sp>
          <p:sp>
            <p:nvSpPr>
              <p:cNvPr id="110" name="Line 16"/>
              <p:cNvSpPr>
                <a:spLocks noChangeShapeType="1"/>
              </p:cNvSpPr>
              <p:nvPr/>
            </p:nvSpPr>
            <p:spPr bwMode="auto">
              <a:xfrm>
                <a:off x="3675" y="0"/>
                <a:ext cx="0" cy="363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</p:txBody>
          </p:sp>
        </p:grpSp>
        <p:sp>
          <p:nvSpPr>
            <p:cNvPr id="80" name="Text Box 17"/>
            <p:cNvSpPr txBox="1">
              <a:spLocks noChangeArrowheads="1"/>
            </p:cNvSpPr>
            <p:nvPr/>
          </p:nvSpPr>
          <p:spPr bwMode="auto">
            <a:xfrm>
              <a:off x="1109114" y="3367332"/>
              <a:ext cx="40748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81" name="Text Box 18"/>
            <p:cNvSpPr txBox="1">
              <a:spLocks noChangeArrowheads="1"/>
            </p:cNvSpPr>
            <p:nvPr/>
          </p:nvSpPr>
          <p:spPr bwMode="auto">
            <a:xfrm>
              <a:off x="1649413" y="2917825"/>
              <a:ext cx="31130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82" name="Text Box 19"/>
            <p:cNvSpPr txBox="1">
              <a:spLocks noChangeArrowheads="1"/>
            </p:cNvSpPr>
            <p:nvPr/>
          </p:nvSpPr>
          <p:spPr bwMode="auto">
            <a:xfrm>
              <a:off x="2152651" y="2917825"/>
              <a:ext cx="31130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83" name="Text Box 20"/>
            <p:cNvSpPr txBox="1">
              <a:spLocks noChangeArrowheads="1"/>
            </p:cNvSpPr>
            <p:nvPr/>
          </p:nvSpPr>
          <p:spPr bwMode="auto">
            <a:xfrm>
              <a:off x="2800351" y="2917825"/>
              <a:ext cx="31130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84" name="Text Box 21"/>
            <p:cNvSpPr txBox="1">
              <a:spLocks noChangeArrowheads="1"/>
            </p:cNvSpPr>
            <p:nvPr/>
          </p:nvSpPr>
          <p:spPr bwMode="auto">
            <a:xfrm>
              <a:off x="3376613" y="2917825"/>
              <a:ext cx="31130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85" name="Text Box 22"/>
            <p:cNvSpPr txBox="1">
              <a:spLocks noChangeArrowheads="1"/>
            </p:cNvSpPr>
            <p:nvPr/>
          </p:nvSpPr>
          <p:spPr bwMode="auto">
            <a:xfrm>
              <a:off x="3952876" y="2917825"/>
              <a:ext cx="31130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86" name="Text Box 23"/>
            <p:cNvSpPr txBox="1">
              <a:spLocks noChangeArrowheads="1"/>
            </p:cNvSpPr>
            <p:nvPr/>
          </p:nvSpPr>
          <p:spPr bwMode="auto">
            <a:xfrm>
              <a:off x="5608638" y="2917825"/>
              <a:ext cx="24878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</a:p>
          </p:txBody>
        </p:sp>
        <p:sp>
          <p:nvSpPr>
            <p:cNvPr id="87" name="Text Box 24"/>
            <p:cNvSpPr txBox="1">
              <a:spLocks noChangeArrowheads="1"/>
            </p:cNvSpPr>
            <p:nvPr/>
          </p:nvSpPr>
          <p:spPr bwMode="auto">
            <a:xfrm>
              <a:off x="7408863" y="2917825"/>
              <a:ext cx="50526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n-1</a:t>
              </a:r>
            </a:p>
          </p:txBody>
        </p:sp>
        <p:sp>
          <p:nvSpPr>
            <p:cNvPr id="88" name="Text Box 25"/>
            <p:cNvSpPr txBox="1">
              <a:spLocks noChangeArrowheads="1"/>
            </p:cNvSpPr>
            <p:nvPr/>
          </p:nvSpPr>
          <p:spPr bwMode="auto">
            <a:xfrm>
              <a:off x="4673601" y="2917825"/>
              <a:ext cx="6413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……</a:t>
              </a:r>
            </a:p>
          </p:txBody>
        </p:sp>
        <p:sp>
          <p:nvSpPr>
            <p:cNvPr id="89" name="Text Box 26"/>
            <p:cNvSpPr txBox="1">
              <a:spLocks noChangeArrowheads="1"/>
            </p:cNvSpPr>
            <p:nvPr/>
          </p:nvSpPr>
          <p:spPr bwMode="auto">
            <a:xfrm>
              <a:off x="6400801" y="2917825"/>
              <a:ext cx="6413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……</a:t>
              </a:r>
            </a:p>
          </p:txBody>
        </p:sp>
        <p:sp>
          <p:nvSpPr>
            <p:cNvPr id="90" name="Text Box 27"/>
            <p:cNvSpPr txBox="1">
              <a:spLocks noChangeArrowheads="1"/>
            </p:cNvSpPr>
            <p:nvPr/>
          </p:nvSpPr>
          <p:spPr bwMode="auto">
            <a:xfrm>
              <a:off x="1547664" y="3390926"/>
              <a:ext cx="44114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sz="2400" b="1" i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94" name="Text Box 27"/>
            <p:cNvSpPr txBox="1">
              <a:spLocks noChangeArrowheads="1"/>
            </p:cNvSpPr>
            <p:nvPr/>
          </p:nvSpPr>
          <p:spPr bwMode="auto">
            <a:xfrm>
              <a:off x="2139802" y="3396373"/>
              <a:ext cx="44114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sz="2400" b="1" i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95" name="Text Box 27"/>
            <p:cNvSpPr txBox="1">
              <a:spLocks noChangeArrowheads="1"/>
            </p:cNvSpPr>
            <p:nvPr/>
          </p:nvSpPr>
          <p:spPr bwMode="auto">
            <a:xfrm>
              <a:off x="2721157" y="3373011"/>
              <a:ext cx="44114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sz="2400" b="1" i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96" name="Text Box 27"/>
            <p:cNvSpPr txBox="1">
              <a:spLocks noChangeArrowheads="1"/>
            </p:cNvSpPr>
            <p:nvPr/>
          </p:nvSpPr>
          <p:spPr bwMode="auto">
            <a:xfrm>
              <a:off x="3305176" y="3360041"/>
              <a:ext cx="44114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sz="2400" b="1" i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97" name="Text Box 27"/>
            <p:cNvSpPr txBox="1">
              <a:spLocks noChangeArrowheads="1"/>
            </p:cNvSpPr>
            <p:nvPr/>
          </p:nvSpPr>
          <p:spPr bwMode="auto">
            <a:xfrm>
              <a:off x="3869622" y="3360041"/>
              <a:ext cx="44114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sz="2400" b="1" i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98" name="Text Box 27"/>
            <p:cNvSpPr txBox="1">
              <a:spLocks noChangeArrowheads="1"/>
            </p:cNvSpPr>
            <p:nvPr/>
          </p:nvSpPr>
          <p:spPr bwMode="auto">
            <a:xfrm>
              <a:off x="5602470" y="3388667"/>
              <a:ext cx="56778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sz="2400" b="1" i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i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-1</a:t>
              </a:r>
            </a:p>
          </p:txBody>
        </p:sp>
        <p:sp>
          <p:nvSpPr>
            <p:cNvPr id="99" name="Text Box 27"/>
            <p:cNvSpPr txBox="1">
              <a:spLocks noChangeArrowheads="1"/>
            </p:cNvSpPr>
            <p:nvPr/>
          </p:nvSpPr>
          <p:spPr bwMode="auto">
            <a:xfrm>
              <a:off x="7355249" y="3360041"/>
              <a:ext cx="45236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sz="2400" b="1" i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n</a:t>
              </a:r>
              <a:endParaRPr lang="en-US" altLang="zh-CN" sz="2400" b="1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6" name="直接箭头连接符 15"/>
          <p:cNvCxnSpPr>
            <a:stCxn id="11320" idx="4"/>
          </p:cNvCxnSpPr>
          <p:nvPr/>
        </p:nvCxnSpPr>
        <p:spPr>
          <a:xfrm>
            <a:off x="1908175" y="2493789"/>
            <a:ext cx="0" cy="3701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2" name="组合 71"/>
          <p:cNvGrpSpPr/>
          <p:nvPr/>
        </p:nvGrpSpPr>
        <p:grpSpPr>
          <a:xfrm>
            <a:off x="-890841" y="72640"/>
            <a:ext cx="8271153" cy="665363"/>
            <a:chOff x="-594808" y="1867387"/>
            <a:chExt cx="8913447" cy="707532"/>
          </a:xfrm>
        </p:grpSpPr>
        <p:grpSp>
          <p:nvGrpSpPr>
            <p:cNvPr id="73" name="组合 72"/>
            <p:cNvGrpSpPr/>
            <p:nvPr/>
          </p:nvGrpSpPr>
          <p:grpSpPr>
            <a:xfrm>
              <a:off x="-594808" y="1867387"/>
              <a:ext cx="8913447" cy="707532"/>
              <a:chOff x="-635833" y="1327471"/>
              <a:chExt cx="8913447" cy="707532"/>
            </a:xfrm>
          </p:grpSpPr>
          <p:sp>
            <p:nvSpPr>
              <p:cNvPr id="75" name="TextBox 6"/>
              <p:cNvSpPr txBox="1">
                <a:spLocks noChangeArrowheads="1"/>
              </p:cNvSpPr>
              <p:nvPr/>
            </p:nvSpPr>
            <p:spPr bwMode="auto">
              <a:xfrm>
                <a:off x="-635833" y="1347734"/>
                <a:ext cx="8913447" cy="687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10.2 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顺序表的查找</a:t>
                </a:r>
              </a:p>
            </p:txBody>
          </p:sp>
          <p:sp>
            <p:nvSpPr>
              <p:cNvPr id="76" name="Freeform 5"/>
              <p:cNvSpPr>
                <a:spLocks/>
              </p:cNvSpPr>
              <p:nvPr/>
            </p:nvSpPr>
            <p:spPr bwMode="auto">
              <a:xfrm>
                <a:off x="958665" y="1327471"/>
                <a:ext cx="842977" cy="683003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FFFF66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</p:grpSp>
        <p:pic>
          <p:nvPicPr>
            <p:cNvPr id="74" name="图片 7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89825" y="2023053"/>
              <a:ext cx="495511" cy="4238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31343874"/>
      </p:ext>
    </p:extLst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1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1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1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1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1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1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11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11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11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11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11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11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11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11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11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11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0" dur="500"/>
                                        <p:tgtEl>
                                          <p:spTgt spid="11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3" dur="500"/>
                                        <p:tgtEl>
                                          <p:spTgt spid="11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8" dur="500"/>
                                        <p:tgtEl>
                                          <p:spTgt spid="11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1" dur="500"/>
                                        <p:tgtEl>
                                          <p:spTgt spid="11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6" dur="500"/>
                                        <p:tgtEl>
                                          <p:spTgt spid="11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9" dur="500"/>
                                        <p:tgtEl>
                                          <p:spTgt spid="11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4" dur="5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/>
      <p:bldP spid="11268" grpId="0" autoUpdateAnimBg="0"/>
      <p:bldP spid="11270" grpId="0" animBg="1"/>
      <p:bldP spid="11271" grpId="0" autoUpdateAnimBg="0"/>
      <p:bldP spid="11273" grpId="0" animBg="1"/>
      <p:bldP spid="11274" grpId="0" autoUpdateAnimBg="0"/>
      <p:bldP spid="11276" grpId="0" animBg="1"/>
      <p:bldP spid="11277" grpId="0" autoUpdateAnimBg="0"/>
      <p:bldP spid="11279" grpId="0" animBg="1"/>
      <p:bldP spid="11280" grpId="0" autoUpdateAnimBg="0"/>
      <p:bldP spid="11283" grpId="0" autoUpdateAnimBg="0"/>
      <p:bldP spid="11284" grpId="0" autoUpdateAnimBg="0"/>
      <p:bldP spid="11319" grpId="0" autoUpdateAnimBg="0"/>
      <p:bldP spid="11320" grpId="0" animBg="1"/>
      <p:bldP spid="11321" grpId="0" autoUpdateAnimBg="0"/>
      <p:bldP spid="11322" grpId="0" animBg="1"/>
      <p:bldP spid="11323" grpId="0" autoUpdateAnimBg="0"/>
      <p:bldP spid="11324" grpId="0" autoUpdateAnimBg="0"/>
      <p:bldP spid="11325" grpId="0" animBg="1"/>
      <p:bldP spid="11326" grpId="0" autoUpdateAnimBg="0"/>
      <p:bldP spid="11286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/>
              <a:t>简单顺序查找</a:t>
            </a:r>
            <a:r>
              <a:rPr lang="zh-CN" altLang="en-US" sz="2800" dirty="0"/>
              <a:t>   </a:t>
            </a:r>
            <a:r>
              <a:rPr lang="zh-CN" altLang="en-US" sz="2400" b="1" dirty="0">
                <a:solidFill>
                  <a:srgbClr val="FF0000"/>
                </a:solidFill>
              </a:rPr>
              <a:t>从右向左</a:t>
            </a:r>
          </a:p>
        </p:txBody>
      </p:sp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4194728" y="3213100"/>
            <a:ext cx="4698448" cy="3046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zh-CN" sz="2400" dirty="0" err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int</a:t>
            </a: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  search ( </a:t>
            </a:r>
            <a:r>
              <a:rPr lang="en-US" altLang="zh-CN" sz="2400" dirty="0" err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elemenType</a:t>
            </a: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 A[]</a:t>
            </a:r>
            <a:r>
              <a:rPr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，</a:t>
            </a:r>
          </a:p>
          <a:p>
            <a:pPr eaLnBrk="1" hangingPunct="1"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                  </a:t>
            </a:r>
            <a:r>
              <a:rPr lang="en-US" altLang="zh-CN" sz="2400" dirty="0" err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keyType</a:t>
            </a: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 x) </a:t>
            </a:r>
          </a:p>
          <a:p>
            <a:pPr eaLnBrk="1" hangingPunct="1"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{    </a:t>
            </a:r>
          </a:p>
          <a:p>
            <a:pPr eaLnBrk="1" hangingPunct="1"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      </a:t>
            </a:r>
            <a:r>
              <a:rPr lang="en-US" altLang="zh-CN" sz="24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for</a:t>
            </a: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 (</a:t>
            </a:r>
            <a:r>
              <a:rPr lang="en-US" altLang="zh-CN" sz="2400" dirty="0" err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int</a:t>
            </a: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24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=n-1;i&gt;=0;i--) </a:t>
            </a:r>
          </a:p>
          <a:p>
            <a:pPr eaLnBrk="1" hangingPunct="1">
              <a:defRPr/>
            </a:pPr>
            <a:r>
              <a:rPr lang="en-US" altLang="zh-CN" sz="24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          if </a:t>
            </a: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(A[</a:t>
            </a:r>
            <a:r>
              <a:rPr lang="en-US" altLang="zh-CN" sz="24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].key==x)  </a:t>
            </a:r>
            <a:r>
              <a:rPr lang="en-US" altLang="zh-CN" sz="24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return  </a:t>
            </a:r>
            <a:r>
              <a:rPr lang="en-US" altLang="zh-CN" sz="24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;</a:t>
            </a:r>
          </a:p>
          <a:p>
            <a:pPr eaLnBrk="1" hangingPunct="1"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      </a:t>
            </a:r>
            <a:r>
              <a:rPr lang="en-US" altLang="zh-CN" sz="24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return </a:t>
            </a: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-1;</a:t>
            </a:r>
          </a:p>
          <a:p>
            <a:pPr eaLnBrk="1" hangingPunct="1"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}</a:t>
            </a:r>
          </a:p>
          <a:p>
            <a:pPr eaLnBrk="1" hangingPunct="1"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分析：比较操作的次数</a:t>
            </a:r>
          </a:p>
        </p:txBody>
      </p:sp>
      <p:sp>
        <p:nvSpPr>
          <p:cNvPr id="12342" name="Line 54"/>
          <p:cNvSpPr>
            <a:spLocks noChangeShapeType="1"/>
          </p:cNvSpPr>
          <p:nvPr/>
        </p:nvSpPr>
        <p:spPr bwMode="auto">
          <a:xfrm flipV="1">
            <a:off x="8532813" y="2876550"/>
            <a:ext cx="0" cy="504825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2343" name="Text Box 55"/>
          <p:cNvSpPr txBox="1">
            <a:spLocks noChangeArrowheads="1"/>
          </p:cNvSpPr>
          <p:nvPr/>
        </p:nvSpPr>
        <p:spPr bwMode="auto">
          <a:xfrm>
            <a:off x="8604125" y="3062287"/>
            <a:ext cx="3603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13</a:t>
            </a:fld>
            <a:endParaRPr lang="zh-CN" altLang="en-US" dirty="0"/>
          </a:p>
        </p:txBody>
      </p:sp>
      <p:sp>
        <p:nvSpPr>
          <p:cNvPr id="65" name="Rectangle 2"/>
          <p:cNvSpPr>
            <a:spLocks noGrp="1" noChangeArrowheads="1"/>
          </p:cNvSpPr>
          <p:nvPr>
            <p:ph type="title"/>
          </p:nvPr>
        </p:nvSpPr>
        <p:spPr>
          <a:xfrm>
            <a:off x="287658" y="754622"/>
            <a:ext cx="8353425" cy="711200"/>
          </a:xfrm>
        </p:spPr>
        <p:txBody>
          <a:bodyPr>
            <a:normAutofit/>
          </a:bodyPr>
          <a:lstStyle/>
          <a:p>
            <a:pPr marL="342900" indent="-3429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800" dirty="0">
                <a:latin typeface="Times New Roman" pitchFamily="18" charset="0"/>
                <a:ea typeface="仿宋" pitchFamily="49" charset="-122"/>
                <a:cs typeface="+mn-cs"/>
              </a:rPr>
              <a:t>10.2.1</a:t>
            </a:r>
            <a:r>
              <a:rPr lang="zh-CN" altLang="en-US" sz="2800" dirty="0">
                <a:latin typeface="Times New Roman" pitchFamily="18" charset="0"/>
                <a:ea typeface="仿宋" pitchFamily="49" charset="-122"/>
                <a:cs typeface="+mn-cs"/>
              </a:rPr>
              <a:t>简单顺序表的查找</a:t>
            </a:r>
          </a:p>
        </p:txBody>
      </p:sp>
      <p:grpSp>
        <p:nvGrpSpPr>
          <p:cNvPr id="71" name="组合 70"/>
          <p:cNvGrpSpPr/>
          <p:nvPr/>
        </p:nvGrpSpPr>
        <p:grpSpPr>
          <a:xfrm>
            <a:off x="2141538" y="1868488"/>
            <a:ext cx="6805016" cy="1008063"/>
            <a:chOff x="1109114" y="2917825"/>
            <a:chExt cx="6805016" cy="1008063"/>
          </a:xfrm>
        </p:grpSpPr>
        <p:grpSp>
          <p:nvGrpSpPr>
            <p:cNvPr id="72" name="Group 5"/>
            <p:cNvGrpSpPr>
              <a:grpSpLocks/>
            </p:cNvGrpSpPr>
            <p:nvPr/>
          </p:nvGrpSpPr>
          <p:grpSpPr bwMode="auto">
            <a:xfrm>
              <a:off x="1504951" y="3349625"/>
              <a:ext cx="6408738" cy="576263"/>
              <a:chOff x="0" y="0"/>
              <a:chExt cx="4037" cy="363"/>
            </a:xfrm>
            <a:solidFill>
              <a:srgbClr val="92D050"/>
            </a:solidFill>
          </p:grpSpPr>
          <p:sp>
            <p:nvSpPr>
              <p:cNvPr id="90" name="Rectangle 6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037" cy="363"/>
              </a:xfrm>
              <a:prstGeom prst="rect">
                <a:avLst/>
              </a:prstGeom>
              <a:grp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 eaLnBrk="1" hangingPunct="1"/>
                <a:endParaRPr lang="zh-CN" altLang="en-US" b="1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</p:txBody>
          </p:sp>
          <p:sp>
            <p:nvSpPr>
              <p:cNvPr id="91" name="Line 7"/>
              <p:cNvSpPr>
                <a:spLocks noChangeShapeType="1"/>
              </p:cNvSpPr>
              <p:nvPr/>
            </p:nvSpPr>
            <p:spPr bwMode="auto">
              <a:xfrm>
                <a:off x="363" y="0"/>
                <a:ext cx="0" cy="363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</p:txBody>
          </p:sp>
          <p:sp>
            <p:nvSpPr>
              <p:cNvPr id="92" name="Line 8"/>
              <p:cNvSpPr>
                <a:spLocks noChangeShapeType="1"/>
              </p:cNvSpPr>
              <p:nvPr/>
            </p:nvSpPr>
            <p:spPr bwMode="auto">
              <a:xfrm>
                <a:off x="726" y="0"/>
                <a:ext cx="0" cy="363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</p:txBody>
          </p:sp>
          <p:sp>
            <p:nvSpPr>
              <p:cNvPr id="93" name="Line 9"/>
              <p:cNvSpPr>
                <a:spLocks noChangeShapeType="1"/>
              </p:cNvSpPr>
              <p:nvPr/>
            </p:nvSpPr>
            <p:spPr bwMode="auto">
              <a:xfrm>
                <a:off x="1089" y="0"/>
                <a:ext cx="0" cy="363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</p:txBody>
          </p:sp>
          <p:sp>
            <p:nvSpPr>
              <p:cNvPr id="94" name="Line 10"/>
              <p:cNvSpPr>
                <a:spLocks noChangeShapeType="1"/>
              </p:cNvSpPr>
              <p:nvPr/>
            </p:nvSpPr>
            <p:spPr bwMode="auto">
              <a:xfrm>
                <a:off x="1452" y="0"/>
                <a:ext cx="0" cy="363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</p:txBody>
          </p:sp>
          <p:sp>
            <p:nvSpPr>
              <p:cNvPr id="95" name="Line 11"/>
              <p:cNvSpPr>
                <a:spLocks noChangeShapeType="1"/>
              </p:cNvSpPr>
              <p:nvPr/>
            </p:nvSpPr>
            <p:spPr bwMode="auto">
              <a:xfrm>
                <a:off x="1815" y="0"/>
                <a:ext cx="0" cy="363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</p:txBody>
          </p:sp>
          <p:sp>
            <p:nvSpPr>
              <p:cNvPr id="96" name="Line 12"/>
              <p:cNvSpPr>
                <a:spLocks noChangeShapeType="1"/>
              </p:cNvSpPr>
              <p:nvPr/>
            </p:nvSpPr>
            <p:spPr bwMode="auto">
              <a:xfrm>
                <a:off x="2178" y="0"/>
                <a:ext cx="0" cy="363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</p:txBody>
          </p:sp>
          <p:sp>
            <p:nvSpPr>
              <p:cNvPr id="97" name="Line 13"/>
              <p:cNvSpPr>
                <a:spLocks noChangeShapeType="1"/>
              </p:cNvSpPr>
              <p:nvPr/>
            </p:nvSpPr>
            <p:spPr bwMode="auto">
              <a:xfrm>
                <a:off x="2541" y="0"/>
                <a:ext cx="0" cy="363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</p:txBody>
          </p:sp>
          <p:sp>
            <p:nvSpPr>
              <p:cNvPr id="98" name="Line 14"/>
              <p:cNvSpPr>
                <a:spLocks noChangeShapeType="1"/>
              </p:cNvSpPr>
              <p:nvPr/>
            </p:nvSpPr>
            <p:spPr bwMode="auto">
              <a:xfrm>
                <a:off x="2903" y="0"/>
                <a:ext cx="0" cy="363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</p:txBody>
          </p:sp>
          <p:sp>
            <p:nvSpPr>
              <p:cNvPr id="99" name="Line 15"/>
              <p:cNvSpPr>
                <a:spLocks noChangeShapeType="1"/>
              </p:cNvSpPr>
              <p:nvPr/>
            </p:nvSpPr>
            <p:spPr bwMode="auto">
              <a:xfrm>
                <a:off x="3312" y="0"/>
                <a:ext cx="0" cy="363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</p:txBody>
          </p:sp>
          <p:sp>
            <p:nvSpPr>
              <p:cNvPr id="100" name="Line 16"/>
              <p:cNvSpPr>
                <a:spLocks noChangeShapeType="1"/>
              </p:cNvSpPr>
              <p:nvPr/>
            </p:nvSpPr>
            <p:spPr bwMode="auto">
              <a:xfrm>
                <a:off x="3675" y="0"/>
                <a:ext cx="0" cy="363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</p:txBody>
          </p:sp>
        </p:grpSp>
        <p:sp>
          <p:nvSpPr>
            <p:cNvPr id="73" name="Text Box 17"/>
            <p:cNvSpPr txBox="1">
              <a:spLocks noChangeArrowheads="1"/>
            </p:cNvSpPr>
            <p:nvPr/>
          </p:nvSpPr>
          <p:spPr bwMode="auto">
            <a:xfrm>
              <a:off x="1109114" y="3367332"/>
              <a:ext cx="40748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74" name="Text Box 18"/>
            <p:cNvSpPr txBox="1">
              <a:spLocks noChangeArrowheads="1"/>
            </p:cNvSpPr>
            <p:nvPr/>
          </p:nvSpPr>
          <p:spPr bwMode="auto">
            <a:xfrm>
              <a:off x="1649413" y="2917825"/>
              <a:ext cx="31130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75" name="Text Box 19"/>
            <p:cNvSpPr txBox="1">
              <a:spLocks noChangeArrowheads="1"/>
            </p:cNvSpPr>
            <p:nvPr/>
          </p:nvSpPr>
          <p:spPr bwMode="auto">
            <a:xfrm>
              <a:off x="2152651" y="2917825"/>
              <a:ext cx="31130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76" name="Text Box 20"/>
            <p:cNvSpPr txBox="1">
              <a:spLocks noChangeArrowheads="1"/>
            </p:cNvSpPr>
            <p:nvPr/>
          </p:nvSpPr>
          <p:spPr bwMode="auto">
            <a:xfrm>
              <a:off x="2800351" y="2917825"/>
              <a:ext cx="31130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77" name="Text Box 21"/>
            <p:cNvSpPr txBox="1">
              <a:spLocks noChangeArrowheads="1"/>
            </p:cNvSpPr>
            <p:nvPr/>
          </p:nvSpPr>
          <p:spPr bwMode="auto">
            <a:xfrm>
              <a:off x="3376613" y="2917825"/>
              <a:ext cx="31130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78" name="Text Box 22"/>
            <p:cNvSpPr txBox="1">
              <a:spLocks noChangeArrowheads="1"/>
            </p:cNvSpPr>
            <p:nvPr/>
          </p:nvSpPr>
          <p:spPr bwMode="auto">
            <a:xfrm>
              <a:off x="3952876" y="2917825"/>
              <a:ext cx="31130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79" name="Text Box 23"/>
            <p:cNvSpPr txBox="1">
              <a:spLocks noChangeArrowheads="1"/>
            </p:cNvSpPr>
            <p:nvPr/>
          </p:nvSpPr>
          <p:spPr bwMode="auto">
            <a:xfrm>
              <a:off x="5608638" y="2917825"/>
              <a:ext cx="24878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</a:p>
          </p:txBody>
        </p:sp>
        <p:sp>
          <p:nvSpPr>
            <p:cNvPr id="80" name="Text Box 24"/>
            <p:cNvSpPr txBox="1">
              <a:spLocks noChangeArrowheads="1"/>
            </p:cNvSpPr>
            <p:nvPr/>
          </p:nvSpPr>
          <p:spPr bwMode="auto">
            <a:xfrm>
              <a:off x="7408863" y="2917825"/>
              <a:ext cx="50526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n-1</a:t>
              </a:r>
            </a:p>
          </p:txBody>
        </p:sp>
        <p:sp>
          <p:nvSpPr>
            <p:cNvPr id="81" name="Text Box 25"/>
            <p:cNvSpPr txBox="1">
              <a:spLocks noChangeArrowheads="1"/>
            </p:cNvSpPr>
            <p:nvPr/>
          </p:nvSpPr>
          <p:spPr bwMode="auto">
            <a:xfrm>
              <a:off x="4673601" y="2917825"/>
              <a:ext cx="6413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……</a:t>
              </a:r>
            </a:p>
          </p:txBody>
        </p:sp>
        <p:sp>
          <p:nvSpPr>
            <p:cNvPr id="82" name="Text Box 26"/>
            <p:cNvSpPr txBox="1">
              <a:spLocks noChangeArrowheads="1"/>
            </p:cNvSpPr>
            <p:nvPr/>
          </p:nvSpPr>
          <p:spPr bwMode="auto">
            <a:xfrm>
              <a:off x="6400801" y="2917825"/>
              <a:ext cx="6413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……</a:t>
              </a:r>
            </a:p>
          </p:txBody>
        </p:sp>
        <p:sp>
          <p:nvSpPr>
            <p:cNvPr id="83" name="Text Box 27"/>
            <p:cNvSpPr txBox="1">
              <a:spLocks noChangeArrowheads="1"/>
            </p:cNvSpPr>
            <p:nvPr/>
          </p:nvSpPr>
          <p:spPr bwMode="auto">
            <a:xfrm>
              <a:off x="1547664" y="3390926"/>
              <a:ext cx="44114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sz="2400" b="1" i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84" name="Text Box 27"/>
            <p:cNvSpPr txBox="1">
              <a:spLocks noChangeArrowheads="1"/>
            </p:cNvSpPr>
            <p:nvPr/>
          </p:nvSpPr>
          <p:spPr bwMode="auto">
            <a:xfrm>
              <a:off x="2139802" y="3396373"/>
              <a:ext cx="44114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sz="2400" b="1" i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85" name="Text Box 27"/>
            <p:cNvSpPr txBox="1">
              <a:spLocks noChangeArrowheads="1"/>
            </p:cNvSpPr>
            <p:nvPr/>
          </p:nvSpPr>
          <p:spPr bwMode="auto">
            <a:xfrm>
              <a:off x="2721157" y="3373011"/>
              <a:ext cx="44114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sz="2400" b="1" i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86" name="Text Box 27"/>
            <p:cNvSpPr txBox="1">
              <a:spLocks noChangeArrowheads="1"/>
            </p:cNvSpPr>
            <p:nvPr/>
          </p:nvSpPr>
          <p:spPr bwMode="auto">
            <a:xfrm>
              <a:off x="3305176" y="3360041"/>
              <a:ext cx="44114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sz="2400" b="1" i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87" name="Text Box 27"/>
            <p:cNvSpPr txBox="1">
              <a:spLocks noChangeArrowheads="1"/>
            </p:cNvSpPr>
            <p:nvPr/>
          </p:nvSpPr>
          <p:spPr bwMode="auto">
            <a:xfrm>
              <a:off x="3869622" y="3360041"/>
              <a:ext cx="44114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sz="2400" b="1" i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88" name="Text Box 27"/>
            <p:cNvSpPr txBox="1">
              <a:spLocks noChangeArrowheads="1"/>
            </p:cNvSpPr>
            <p:nvPr/>
          </p:nvSpPr>
          <p:spPr bwMode="auto">
            <a:xfrm>
              <a:off x="5602470" y="3388667"/>
              <a:ext cx="56778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sz="2400" b="1" i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i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-1</a:t>
              </a:r>
            </a:p>
          </p:txBody>
        </p:sp>
        <p:sp>
          <p:nvSpPr>
            <p:cNvPr id="89" name="Text Box 27"/>
            <p:cNvSpPr txBox="1">
              <a:spLocks noChangeArrowheads="1"/>
            </p:cNvSpPr>
            <p:nvPr/>
          </p:nvSpPr>
          <p:spPr bwMode="auto">
            <a:xfrm>
              <a:off x="7355249" y="3360041"/>
              <a:ext cx="45236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sz="2400" b="1" i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n</a:t>
              </a:r>
              <a:endParaRPr lang="en-US" altLang="zh-CN" sz="2400" b="1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01" name="AutoShape 6"/>
          <p:cNvSpPr>
            <a:spLocks noChangeArrowheads="1"/>
          </p:cNvSpPr>
          <p:nvPr/>
        </p:nvSpPr>
        <p:spPr bwMode="auto">
          <a:xfrm>
            <a:off x="1214066" y="2856508"/>
            <a:ext cx="982662" cy="442912"/>
          </a:xfrm>
          <a:prstGeom prst="flowChartProcess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endParaRPr lang="zh-CN" altLang="en-US"/>
          </a:p>
        </p:txBody>
      </p:sp>
      <p:sp>
        <p:nvSpPr>
          <p:cNvPr id="102" name="Text Box 7"/>
          <p:cNvSpPr txBox="1">
            <a:spLocks noChangeArrowheads="1"/>
          </p:cNvSpPr>
          <p:nvPr/>
        </p:nvSpPr>
        <p:spPr bwMode="auto">
          <a:xfrm>
            <a:off x="1370993" y="2920008"/>
            <a:ext cx="82573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dirty="0" err="1">
                <a:latin typeface="Tahoma" panose="020B0604030504040204" pitchFamily="34" charset="0"/>
                <a:ea typeface="宋体" panose="02010600030101010101" pitchFamily="2" charset="-122"/>
              </a:rPr>
              <a:t>i</a:t>
            </a:r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=n-1</a:t>
            </a:r>
          </a:p>
        </p:txBody>
      </p:sp>
      <p:sp>
        <p:nvSpPr>
          <p:cNvPr id="103" name="Line 8"/>
          <p:cNvSpPr>
            <a:spLocks noChangeShapeType="1"/>
          </p:cNvSpPr>
          <p:nvPr/>
        </p:nvSpPr>
        <p:spPr bwMode="auto">
          <a:xfrm>
            <a:off x="1706191" y="3299420"/>
            <a:ext cx="0" cy="4460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" name="AutoShape 9"/>
          <p:cNvSpPr>
            <a:spLocks noChangeArrowheads="1"/>
          </p:cNvSpPr>
          <p:nvPr/>
        </p:nvSpPr>
        <p:spPr bwMode="auto">
          <a:xfrm>
            <a:off x="1153741" y="3745508"/>
            <a:ext cx="1104900" cy="508000"/>
          </a:xfrm>
          <a:prstGeom prst="flowChartDecision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endParaRPr lang="zh-CN" altLang="en-US"/>
          </a:p>
        </p:txBody>
      </p:sp>
      <p:sp>
        <p:nvSpPr>
          <p:cNvPr id="105" name="Text Box 10"/>
          <p:cNvSpPr txBox="1">
            <a:spLocks noChangeArrowheads="1"/>
          </p:cNvSpPr>
          <p:nvPr/>
        </p:nvSpPr>
        <p:spPr bwMode="auto">
          <a:xfrm>
            <a:off x="1402978" y="3805833"/>
            <a:ext cx="6953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dirty="0" err="1">
                <a:latin typeface="Tahoma" panose="020B0604030504040204" pitchFamily="34" charset="0"/>
                <a:ea typeface="宋体" panose="02010600030101010101" pitchFamily="2" charset="-122"/>
              </a:rPr>
              <a:t>i</a:t>
            </a:r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&gt;=0</a:t>
            </a:r>
          </a:p>
        </p:txBody>
      </p:sp>
      <p:sp>
        <p:nvSpPr>
          <p:cNvPr id="106" name="Line 11"/>
          <p:cNvSpPr>
            <a:spLocks noChangeShapeType="1"/>
          </p:cNvSpPr>
          <p:nvPr/>
        </p:nvSpPr>
        <p:spPr bwMode="auto">
          <a:xfrm flipH="1">
            <a:off x="1706191" y="4253508"/>
            <a:ext cx="0" cy="4429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" name="AutoShape 12"/>
          <p:cNvSpPr>
            <a:spLocks noChangeArrowheads="1"/>
          </p:cNvSpPr>
          <p:nvPr/>
        </p:nvSpPr>
        <p:spPr bwMode="auto">
          <a:xfrm>
            <a:off x="663203" y="4696420"/>
            <a:ext cx="2087563" cy="508000"/>
          </a:xfrm>
          <a:prstGeom prst="flowChartDecision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endParaRPr lang="zh-CN" altLang="en-US"/>
          </a:p>
        </p:txBody>
      </p:sp>
      <p:sp>
        <p:nvSpPr>
          <p:cNvPr id="108" name="Text Box 13"/>
          <p:cNvSpPr txBox="1">
            <a:spLocks noChangeArrowheads="1"/>
          </p:cNvSpPr>
          <p:nvPr/>
        </p:nvSpPr>
        <p:spPr bwMode="auto">
          <a:xfrm>
            <a:off x="1072778" y="4759920"/>
            <a:ext cx="14827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latin typeface="Tahoma" panose="020B0604030504040204" pitchFamily="34" charset="0"/>
                <a:ea typeface="宋体" panose="02010600030101010101" pitchFamily="2" charset="-122"/>
              </a:rPr>
              <a:t>A[i].key==x</a:t>
            </a:r>
          </a:p>
        </p:txBody>
      </p:sp>
      <p:sp>
        <p:nvSpPr>
          <p:cNvPr id="109" name="Line 14"/>
          <p:cNvSpPr>
            <a:spLocks noChangeShapeType="1"/>
          </p:cNvSpPr>
          <p:nvPr/>
        </p:nvSpPr>
        <p:spPr bwMode="auto">
          <a:xfrm flipH="1">
            <a:off x="1705397" y="5204420"/>
            <a:ext cx="794" cy="38099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0" name="AutoShape 15"/>
          <p:cNvSpPr>
            <a:spLocks noChangeArrowheads="1"/>
          </p:cNvSpPr>
          <p:nvPr/>
        </p:nvSpPr>
        <p:spPr bwMode="auto">
          <a:xfrm>
            <a:off x="1214066" y="5585420"/>
            <a:ext cx="982662" cy="444500"/>
          </a:xfrm>
          <a:prstGeom prst="flowChartProcess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endParaRPr lang="zh-CN" altLang="en-US"/>
          </a:p>
        </p:txBody>
      </p:sp>
      <p:sp>
        <p:nvSpPr>
          <p:cNvPr id="111" name="Text Box 16"/>
          <p:cNvSpPr txBox="1">
            <a:spLocks noChangeArrowheads="1"/>
          </p:cNvSpPr>
          <p:nvPr/>
        </p:nvSpPr>
        <p:spPr bwMode="auto">
          <a:xfrm>
            <a:off x="1460128" y="5648920"/>
            <a:ext cx="736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dirty="0" err="1">
                <a:latin typeface="Tahoma" panose="020B0604030504040204" pitchFamily="34" charset="0"/>
                <a:ea typeface="宋体" panose="02010600030101010101" pitchFamily="2" charset="-122"/>
              </a:rPr>
              <a:t>i</a:t>
            </a:r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--</a:t>
            </a:r>
          </a:p>
        </p:txBody>
      </p:sp>
      <p:sp>
        <p:nvSpPr>
          <p:cNvPr id="112" name="Line 17"/>
          <p:cNvSpPr>
            <a:spLocks noChangeShapeType="1"/>
          </p:cNvSpPr>
          <p:nvPr/>
        </p:nvSpPr>
        <p:spPr bwMode="auto">
          <a:xfrm>
            <a:off x="2258641" y="3997920"/>
            <a:ext cx="657225" cy="23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" name="Line 18"/>
          <p:cNvSpPr>
            <a:spLocks noChangeShapeType="1"/>
          </p:cNvSpPr>
          <p:nvPr/>
        </p:nvSpPr>
        <p:spPr bwMode="auto">
          <a:xfrm>
            <a:off x="2687266" y="4950420"/>
            <a:ext cx="444500" cy="6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" name="Text Box 19"/>
          <p:cNvSpPr txBox="1">
            <a:spLocks noChangeArrowheads="1"/>
          </p:cNvSpPr>
          <p:nvPr/>
        </p:nvSpPr>
        <p:spPr bwMode="auto">
          <a:xfrm>
            <a:off x="2195141" y="3661370"/>
            <a:ext cx="368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latin typeface="Tahoma" panose="020B0604030504040204" pitchFamily="34" charset="0"/>
                <a:ea typeface="宋体" panose="02010600030101010101" pitchFamily="2" charset="-122"/>
              </a:rPr>
              <a:t>N</a:t>
            </a:r>
          </a:p>
        </p:txBody>
      </p:sp>
      <p:sp>
        <p:nvSpPr>
          <p:cNvPr id="115" name="Text Box 20"/>
          <p:cNvSpPr txBox="1">
            <a:spLocks noChangeArrowheads="1"/>
          </p:cNvSpPr>
          <p:nvPr/>
        </p:nvSpPr>
        <p:spPr bwMode="auto">
          <a:xfrm>
            <a:off x="2626941" y="4632920"/>
            <a:ext cx="3063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latin typeface="Tahoma" panose="020B0604030504040204" pitchFamily="34" charset="0"/>
                <a:ea typeface="宋体" panose="02010600030101010101" pitchFamily="2" charset="-122"/>
              </a:rPr>
              <a:t>Y</a:t>
            </a:r>
          </a:p>
        </p:txBody>
      </p:sp>
      <p:sp>
        <p:nvSpPr>
          <p:cNvPr id="118" name="Oval 56"/>
          <p:cNvSpPr>
            <a:spLocks noChangeArrowheads="1"/>
          </p:cNvSpPr>
          <p:nvPr/>
        </p:nvSpPr>
        <p:spPr bwMode="auto">
          <a:xfrm>
            <a:off x="1476003" y="2204864"/>
            <a:ext cx="431800" cy="288925"/>
          </a:xfrm>
          <a:prstGeom prst="ellipse">
            <a:avLst/>
          </a:prstGeom>
          <a:solidFill>
            <a:srgbClr val="FFC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endParaRPr lang="zh-CN" altLang="en-US"/>
          </a:p>
        </p:txBody>
      </p:sp>
      <p:sp>
        <p:nvSpPr>
          <p:cNvPr id="119" name="Text Box 57"/>
          <p:cNvSpPr txBox="1">
            <a:spLocks noChangeArrowheads="1"/>
          </p:cNvSpPr>
          <p:nvPr/>
        </p:nvSpPr>
        <p:spPr bwMode="auto">
          <a:xfrm>
            <a:off x="1763341" y="4237633"/>
            <a:ext cx="3063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Y</a:t>
            </a:r>
          </a:p>
        </p:txBody>
      </p:sp>
      <p:sp>
        <p:nvSpPr>
          <p:cNvPr id="120" name="Oval 58"/>
          <p:cNvSpPr>
            <a:spLocks noChangeArrowheads="1"/>
          </p:cNvSpPr>
          <p:nvPr/>
        </p:nvSpPr>
        <p:spPr bwMode="auto">
          <a:xfrm>
            <a:off x="2915866" y="3877270"/>
            <a:ext cx="792162" cy="360363"/>
          </a:xfrm>
          <a:prstGeom prst="ellipse">
            <a:avLst/>
          </a:prstGeom>
          <a:solidFill>
            <a:srgbClr val="FFC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endParaRPr lang="zh-CN" altLang="en-US"/>
          </a:p>
        </p:txBody>
      </p:sp>
      <p:sp>
        <p:nvSpPr>
          <p:cNvPr id="121" name="Text Box 59"/>
          <p:cNvSpPr txBox="1">
            <a:spLocks noChangeArrowheads="1"/>
          </p:cNvSpPr>
          <p:nvPr/>
        </p:nvSpPr>
        <p:spPr bwMode="auto">
          <a:xfrm>
            <a:off x="2927888" y="3877271"/>
            <a:ext cx="86518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600" dirty="0">
                <a:ea typeface="宋体" panose="02010600030101010101" pitchFamily="2" charset="-122"/>
              </a:rPr>
              <a:t>返回</a:t>
            </a:r>
            <a:r>
              <a:rPr lang="en-US" altLang="zh-CN" sz="1600" dirty="0">
                <a:ea typeface="宋体" panose="02010600030101010101" pitchFamily="2" charset="-122"/>
              </a:rPr>
              <a:t>-1</a:t>
            </a:r>
          </a:p>
        </p:txBody>
      </p:sp>
      <p:sp>
        <p:nvSpPr>
          <p:cNvPr id="122" name="Oval 61"/>
          <p:cNvSpPr>
            <a:spLocks noChangeArrowheads="1"/>
          </p:cNvSpPr>
          <p:nvPr/>
        </p:nvSpPr>
        <p:spPr bwMode="auto">
          <a:xfrm>
            <a:off x="3131766" y="4813895"/>
            <a:ext cx="792162" cy="360363"/>
          </a:xfrm>
          <a:prstGeom prst="ellipse">
            <a:avLst/>
          </a:prstGeom>
          <a:solidFill>
            <a:srgbClr val="FFC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endParaRPr lang="zh-CN" altLang="en-US"/>
          </a:p>
        </p:txBody>
      </p:sp>
      <p:sp>
        <p:nvSpPr>
          <p:cNvPr id="123" name="Text Box 62"/>
          <p:cNvSpPr txBox="1">
            <a:spLocks noChangeArrowheads="1"/>
          </p:cNvSpPr>
          <p:nvPr/>
        </p:nvSpPr>
        <p:spPr bwMode="auto">
          <a:xfrm>
            <a:off x="1763341" y="5172670"/>
            <a:ext cx="368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latin typeface="Tahoma" panose="020B0604030504040204" pitchFamily="34" charset="0"/>
                <a:ea typeface="宋体" panose="02010600030101010101" pitchFamily="2" charset="-122"/>
              </a:rPr>
              <a:t>N</a:t>
            </a:r>
          </a:p>
        </p:txBody>
      </p:sp>
      <p:grpSp>
        <p:nvGrpSpPr>
          <p:cNvPr id="124" name="组合 123"/>
          <p:cNvGrpSpPr/>
          <p:nvPr/>
        </p:nvGrpSpPr>
        <p:grpSpPr>
          <a:xfrm>
            <a:off x="372488" y="3589933"/>
            <a:ext cx="1332909" cy="2719387"/>
            <a:chOff x="588760" y="3141663"/>
            <a:chExt cx="1332909" cy="2719387"/>
          </a:xfrm>
        </p:grpSpPr>
        <p:cxnSp>
          <p:nvCxnSpPr>
            <p:cNvPr id="125" name="直接连接符 124"/>
            <p:cNvCxnSpPr/>
            <p:nvPr/>
          </p:nvCxnSpPr>
          <p:spPr>
            <a:xfrm>
              <a:off x="1921669" y="5581650"/>
              <a:ext cx="0" cy="2794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/>
            <p:cNvCxnSpPr/>
            <p:nvPr/>
          </p:nvCxnSpPr>
          <p:spPr>
            <a:xfrm flipH="1">
              <a:off x="588760" y="5861050"/>
              <a:ext cx="133290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直接连接符 126"/>
            <p:cNvCxnSpPr/>
            <p:nvPr/>
          </p:nvCxnSpPr>
          <p:spPr>
            <a:xfrm flipV="1">
              <a:off x="588760" y="3141663"/>
              <a:ext cx="0" cy="271938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接箭头连接符 127"/>
            <p:cNvCxnSpPr/>
            <p:nvPr/>
          </p:nvCxnSpPr>
          <p:spPr>
            <a:xfrm>
              <a:off x="588760" y="3141663"/>
              <a:ext cx="1332909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9" name="直接箭头连接符 128"/>
          <p:cNvCxnSpPr>
            <a:stCxn id="118" idx="4"/>
          </p:cNvCxnSpPr>
          <p:nvPr/>
        </p:nvCxnSpPr>
        <p:spPr>
          <a:xfrm>
            <a:off x="1691903" y="2493789"/>
            <a:ext cx="0" cy="3701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 Box 22"/>
          <p:cNvSpPr txBox="1">
            <a:spLocks noChangeArrowheads="1"/>
          </p:cNvSpPr>
          <p:nvPr/>
        </p:nvSpPr>
        <p:spPr bwMode="auto">
          <a:xfrm>
            <a:off x="3225259" y="4821039"/>
            <a:ext cx="100806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400" dirty="0">
                <a:latin typeface="Tahoma" panose="020B0604030504040204" pitchFamily="34" charset="0"/>
                <a:ea typeface="宋体" panose="02010600030101010101" pitchFamily="2" charset="-122"/>
              </a:rPr>
              <a:t>返回</a:t>
            </a:r>
            <a:r>
              <a:rPr lang="en-US" altLang="zh-CN" sz="1400" dirty="0" err="1">
                <a:latin typeface="Tahoma" panose="020B0604030504040204" pitchFamily="34" charset="0"/>
                <a:ea typeface="宋体" panose="02010600030101010101" pitchFamily="2" charset="-122"/>
              </a:rPr>
              <a:t>i</a:t>
            </a:r>
            <a:endParaRPr lang="zh-CN" altLang="en-US" sz="14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116" name="组合 115"/>
          <p:cNvGrpSpPr/>
          <p:nvPr/>
        </p:nvGrpSpPr>
        <p:grpSpPr>
          <a:xfrm>
            <a:off x="-890841" y="72640"/>
            <a:ext cx="8271153" cy="665363"/>
            <a:chOff x="-594808" y="1867387"/>
            <a:chExt cx="8913447" cy="707532"/>
          </a:xfrm>
        </p:grpSpPr>
        <p:grpSp>
          <p:nvGrpSpPr>
            <p:cNvPr id="117" name="组合 116"/>
            <p:cNvGrpSpPr/>
            <p:nvPr/>
          </p:nvGrpSpPr>
          <p:grpSpPr>
            <a:xfrm>
              <a:off x="-594808" y="1867387"/>
              <a:ext cx="8913447" cy="707532"/>
              <a:chOff x="-635833" y="1327471"/>
              <a:chExt cx="8913447" cy="707532"/>
            </a:xfrm>
          </p:grpSpPr>
          <p:sp>
            <p:nvSpPr>
              <p:cNvPr id="132" name="TextBox 6"/>
              <p:cNvSpPr txBox="1">
                <a:spLocks noChangeArrowheads="1"/>
              </p:cNvSpPr>
              <p:nvPr/>
            </p:nvSpPr>
            <p:spPr bwMode="auto">
              <a:xfrm>
                <a:off x="-635833" y="1347734"/>
                <a:ext cx="8913447" cy="687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10.2 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顺序表的查找</a:t>
                </a:r>
              </a:p>
            </p:txBody>
          </p:sp>
          <p:sp>
            <p:nvSpPr>
              <p:cNvPr id="133" name="Freeform 5"/>
              <p:cNvSpPr>
                <a:spLocks/>
              </p:cNvSpPr>
              <p:nvPr/>
            </p:nvSpPr>
            <p:spPr bwMode="auto">
              <a:xfrm>
                <a:off x="958665" y="1327471"/>
                <a:ext cx="842977" cy="683003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FFFF66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</p:grpSp>
        <p:pic>
          <p:nvPicPr>
            <p:cNvPr id="131" name="图片 13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89825" y="2023053"/>
              <a:ext cx="495511" cy="4238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93064366"/>
      </p:ext>
    </p:extLst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2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2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8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3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6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1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4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9" dur="5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8" grpId="0" build="p"/>
      <p:bldP spid="12292" grpId="0" autoUpdateAnimBg="0"/>
      <p:bldP spid="12343" grpId="0" autoUpdateAnimBg="0"/>
      <p:bldP spid="65" grpId="0"/>
      <p:bldP spid="101" grpId="0" animBg="1"/>
      <p:bldP spid="102" grpId="0" autoUpdateAnimBg="0"/>
      <p:bldP spid="104" grpId="0" animBg="1"/>
      <p:bldP spid="105" grpId="0" autoUpdateAnimBg="0"/>
      <p:bldP spid="107" grpId="0" animBg="1"/>
      <p:bldP spid="108" grpId="0" autoUpdateAnimBg="0"/>
      <p:bldP spid="110" grpId="0" animBg="1"/>
      <p:bldP spid="111" grpId="0" autoUpdateAnimBg="0"/>
      <p:bldP spid="114" grpId="0" autoUpdateAnimBg="0"/>
      <p:bldP spid="115" grpId="0" autoUpdateAnimBg="0"/>
      <p:bldP spid="118" grpId="0" animBg="1"/>
      <p:bldP spid="119" grpId="0" autoUpdateAnimBg="0"/>
      <p:bldP spid="120" grpId="0" animBg="1"/>
      <p:bldP spid="121" grpId="0" autoUpdateAnimBg="0"/>
      <p:bldP spid="122" grpId="0" animBg="1"/>
      <p:bldP spid="123" grpId="0" autoUpdateAnimBg="0"/>
      <p:bldP spid="130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/>
              <a:t>简单顺序查找    </a:t>
            </a:r>
            <a:r>
              <a:rPr lang="zh-CN" altLang="en-US" sz="2800" b="1" dirty="0">
                <a:solidFill>
                  <a:srgbClr val="FF0000"/>
                </a:solidFill>
              </a:rPr>
              <a:t>从右向左</a:t>
            </a:r>
            <a:r>
              <a:rPr lang="en-US" altLang="zh-CN" sz="2800" b="1" dirty="0">
                <a:solidFill>
                  <a:srgbClr val="FF0000"/>
                </a:solidFill>
              </a:rPr>
              <a:t>+</a:t>
            </a:r>
            <a:r>
              <a:rPr lang="zh-CN" altLang="en-US" sz="2800" b="1" dirty="0">
                <a:solidFill>
                  <a:srgbClr val="FF0000"/>
                </a:solidFill>
              </a:rPr>
              <a:t>监视哨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4194728" y="3213100"/>
            <a:ext cx="4698448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zh-CN" sz="2400" dirty="0" err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int</a:t>
            </a: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  search ( </a:t>
            </a:r>
            <a:r>
              <a:rPr lang="en-US" altLang="zh-CN" sz="2400" dirty="0" err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elemenType</a:t>
            </a: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 A[]</a:t>
            </a:r>
            <a:r>
              <a:rPr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，</a:t>
            </a:r>
          </a:p>
          <a:p>
            <a:pPr eaLnBrk="1" hangingPunct="1"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                  </a:t>
            </a:r>
            <a:r>
              <a:rPr lang="en-US" altLang="zh-CN" sz="2400" dirty="0" err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keyType</a:t>
            </a: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 x) </a:t>
            </a:r>
          </a:p>
          <a:p>
            <a:pPr eaLnBrk="1" hangingPunct="1"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{    </a:t>
            </a:r>
            <a:r>
              <a:rPr lang="en-US" altLang="zh-CN" sz="2400" dirty="0" err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int</a:t>
            </a: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24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 = n-1;</a:t>
            </a:r>
          </a:p>
          <a:p>
            <a:pPr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      A[0].key=x;</a:t>
            </a:r>
          </a:p>
          <a:p>
            <a:pPr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      </a:t>
            </a:r>
            <a:r>
              <a:rPr lang="en-US" altLang="zh-CN" sz="24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while</a:t>
            </a: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 (A[</a:t>
            </a:r>
            <a:r>
              <a:rPr lang="en-US" altLang="zh-CN" sz="24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].key != x) </a:t>
            </a:r>
            <a:r>
              <a:rPr lang="en-US" altLang="zh-CN" sz="24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--;</a:t>
            </a:r>
          </a:p>
          <a:p>
            <a:pPr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      </a:t>
            </a:r>
            <a:r>
              <a:rPr lang="en-US" altLang="zh-CN" sz="24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return</a:t>
            </a: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 (</a:t>
            </a:r>
            <a:r>
              <a:rPr lang="en-US" altLang="zh-CN" sz="24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);</a:t>
            </a:r>
          </a:p>
          <a:p>
            <a:pPr eaLnBrk="1" hangingPunct="1"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}</a:t>
            </a:r>
          </a:p>
        </p:txBody>
      </p:sp>
      <p:sp>
        <p:nvSpPr>
          <p:cNvPr id="12342" name="Line 54"/>
          <p:cNvSpPr>
            <a:spLocks noChangeShapeType="1"/>
          </p:cNvSpPr>
          <p:nvPr/>
        </p:nvSpPr>
        <p:spPr bwMode="auto">
          <a:xfrm flipV="1">
            <a:off x="8532813" y="2876550"/>
            <a:ext cx="0" cy="504825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2343" name="Text Box 55"/>
          <p:cNvSpPr txBox="1">
            <a:spLocks noChangeArrowheads="1"/>
          </p:cNvSpPr>
          <p:nvPr/>
        </p:nvSpPr>
        <p:spPr bwMode="auto">
          <a:xfrm>
            <a:off x="8604125" y="3062287"/>
            <a:ext cx="3603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14</a:t>
            </a:fld>
            <a:endParaRPr lang="zh-CN" altLang="en-US" dirty="0"/>
          </a:p>
        </p:txBody>
      </p:sp>
      <p:sp>
        <p:nvSpPr>
          <p:cNvPr id="65" name="Rectangle 2"/>
          <p:cNvSpPr>
            <a:spLocks noGrp="1" noChangeArrowheads="1"/>
          </p:cNvSpPr>
          <p:nvPr>
            <p:ph type="title"/>
          </p:nvPr>
        </p:nvSpPr>
        <p:spPr>
          <a:xfrm>
            <a:off x="287658" y="754622"/>
            <a:ext cx="8353425" cy="711200"/>
          </a:xfrm>
        </p:spPr>
        <p:txBody>
          <a:bodyPr>
            <a:normAutofit/>
          </a:bodyPr>
          <a:lstStyle/>
          <a:p>
            <a:pPr marL="342900" indent="-3429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800" dirty="0">
                <a:latin typeface="Times New Roman" pitchFamily="18" charset="0"/>
                <a:ea typeface="仿宋" pitchFamily="49" charset="-122"/>
                <a:cs typeface="+mn-cs"/>
              </a:rPr>
              <a:t>10.2.1</a:t>
            </a:r>
            <a:r>
              <a:rPr lang="zh-CN" altLang="en-US" sz="2800" dirty="0">
                <a:latin typeface="Times New Roman" pitchFamily="18" charset="0"/>
                <a:ea typeface="仿宋" pitchFamily="49" charset="-122"/>
                <a:cs typeface="+mn-cs"/>
              </a:rPr>
              <a:t>简单顺序表的查找</a:t>
            </a:r>
          </a:p>
        </p:txBody>
      </p:sp>
      <p:grpSp>
        <p:nvGrpSpPr>
          <p:cNvPr id="71" name="组合 70"/>
          <p:cNvGrpSpPr/>
          <p:nvPr/>
        </p:nvGrpSpPr>
        <p:grpSpPr>
          <a:xfrm>
            <a:off x="2141538" y="1868488"/>
            <a:ext cx="6836867" cy="1008063"/>
            <a:chOff x="1109114" y="2917825"/>
            <a:chExt cx="6836867" cy="1008063"/>
          </a:xfrm>
        </p:grpSpPr>
        <p:grpSp>
          <p:nvGrpSpPr>
            <p:cNvPr id="72" name="Group 5"/>
            <p:cNvGrpSpPr>
              <a:grpSpLocks/>
            </p:cNvGrpSpPr>
            <p:nvPr/>
          </p:nvGrpSpPr>
          <p:grpSpPr bwMode="auto">
            <a:xfrm>
              <a:off x="1504951" y="3349625"/>
              <a:ext cx="6408738" cy="576263"/>
              <a:chOff x="0" y="0"/>
              <a:chExt cx="4037" cy="363"/>
            </a:xfrm>
            <a:solidFill>
              <a:srgbClr val="92D050"/>
            </a:solidFill>
          </p:grpSpPr>
          <p:sp>
            <p:nvSpPr>
              <p:cNvPr id="90" name="Rectangle 6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037" cy="363"/>
              </a:xfrm>
              <a:prstGeom prst="rect">
                <a:avLst/>
              </a:prstGeom>
              <a:grp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 eaLnBrk="1" hangingPunct="1"/>
                <a:endParaRPr lang="zh-CN" altLang="en-US" b="1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</p:txBody>
          </p:sp>
          <p:sp>
            <p:nvSpPr>
              <p:cNvPr id="91" name="Line 7"/>
              <p:cNvSpPr>
                <a:spLocks noChangeShapeType="1"/>
              </p:cNvSpPr>
              <p:nvPr/>
            </p:nvSpPr>
            <p:spPr bwMode="auto">
              <a:xfrm>
                <a:off x="363" y="0"/>
                <a:ext cx="0" cy="363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</p:txBody>
          </p:sp>
          <p:sp>
            <p:nvSpPr>
              <p:cNvPr id="92" name="Line 8"/>
              <p:cNvSpPr>
                <a:spLocks noChangeShapeType="1"/>
              </p:cNvSpPr>
              <p:nvPr/>
            </p:nvSpPr>
            <p:spPr bwMode="auto">
              <a:xfrm>
                <a:off x="726" y="0"/>
                <a:ext cx="0" cy="363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</p:txBody>
          </p:sp>
          <p:sp>
            <p:nvSpPr>
              <p:cNvPr id="93" name="Line 9"/>
              <p:cNvSpPr>
                <a:spLocks noChangeShapeType="1"/>
              </p:cNvSpPr>
              <p:nvPr/>
            </p:nvSpPr>
            <p:spPr bwMode="auto">
              <a:xfrm>
                <a:off x="1089" y="0"/>
                <a:ext cx="0" cy="363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</p:txBody>
          </p:sp>
          <p:sp>
            <p:nvSpPr>
              <p:cNvPr id="94" name="Line 10"/>
              <p:cNvSpPr>
                <a:spLocks noChangeShapeType="1"/>
              </p:cNvSpPr>
              <p:nvPr/>
            </p:nvSpPr>
            <p:spPr bwMode="auto">
              <a:xfrm>
                <a:off x="1452" y="0"/>
                <a:ext cx="0" cy="363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</p:txBody>
          </p:sp>
          <p:sp>
            <p:nvSpPr>
              <p:cNvPr id="95" name="Line 11"/>
              <p:cNvSpPr>
                <a:spLocks noChangeShapeType="1"/>
              </p:cNvSpPr>
              <p:nvPr/>
            </p:nvSpPr>
            <p:spPr bwMode="auto">
              <a:xfrm>
                <a:off x="1815" y="0"/>
                <a:ext cx="0" cy="363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</p:txBody>
          </p:sp>
          <p:sp>
            <p:nvSpPr>
              <p:cNvPr id="96" name="Line 12"/>
              <p:cNvSpPr>
                <a:spLocks noChangeShapeType="1"/>
              </p:cNvSpPr>
              <p:nvPr/>
            </p:nvSpPr>
            <p:spPr bwMode="auto">
              <a:xfrm>
                <a:off x="2178" y="0"/>
                <a:ext cx="0" cy="363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</p:txBody>
          </p:sp>
          <p:sp>
            <p:nvSpPr>
              <p:cNvPr id="97" name="Line 13"/>
              <p:cNvSpPr>
                <a:spLocks noChangeShapeType="1"/>
              </p:cNvSpPr>
              <p:nvPr/>
            </p:nvSpPr>
            <p:spPr bwMode="auto">
              <a:xfrm>
                <a:off x="2541" y="0"/>
                <a:ext cx="0" cy="363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</p:txBody>
          </p:sp>
          <p:sp>
            <p:nvSpPr>
              <p:cNvPr id="98" name="Line 14"/>
              <p:cNvSpPr>
                <a:spLocks noChangeShapeType="1"/>
              </p:cNvSpPr>
              <p:nvPr/>
            </p:nvSpPr>
            <p:spPr bwMode="auto">
              <a:xfrm>
                <a:off x="2903" y="0"/>
                <a:ext cx="0" cy="363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</p:txBody>
          </p:sp>
          <p:sp>
            <p:nvSpPr>
              <p:cNvPr id="99" name="Line 15"/>
              <p:cNvSpPr>
                <a:spLocks noChangeShapeType="1"/>
              </p:cNvSpPr>
              <p:nvPr/>
            </p:nvSpPr>
            <p:spPr bwMode="auto">
              <a:xfrm>
                <a:off x="3312" y="0"/>
                <a:ext cx="0" cy="363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</p:txBody>
          </p:sp>
          <p:sp>
            <p:nvSpPr>
              <p:cNvPr id="100" name="Line 16"/>
              <p:cNvSpPr>
                <a:spLocks noChangeShapeType="1"/>
              </p:cNvSpPr>
              <p:nvPr/>
            </p:nvSpPr>
            <p:spPr bwMode="auto">
              <a:xfrm>
                <a:off x="3675" y="0"/>
                <a:ext cx="0" cy="363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</p:txBody>
          </p:sp>
        </p:grpSp>
        <p:sp>
          <p:nvSpPr>
            <p:cNvPr id="73" name="Text Box 17"/>
            <p:cNvSpPr txBox="1">
              <a:spLocks noChangeArrowheads="1"/>
            </p:cNvSpPr>
            <p:nvPr/>
          </p:nvSpPr>
          <p:spPr bwMode="auto">
            <a:xfrm>
              <a:off x="1109114" y="3367332"/>
              <a:ext cx="40748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74" name="Text Box 18"/>
            <p:cNvSpPr txBox="1">
              <a:spLocks noChangeArrowheads="1"/>
            </p:cNvSpPr>
            <p:nvPr/>
          </p:nvSpPr>
          <p:spPr bwMode="auto">
            <a:xfrm>
              <a:off x="1649413" y="2917825"/>
              <a:ext cx="31130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75" name="Text Box 19"/>
            <p:cNvSpPr txBox="1">
              <a:spLocks noChangeArrowheads="1"/>
            </p:cNvSpPr>
            <p:nvPr/>
          </p:nvSpPr>
          <p:spPr bwMode="auto">
            <a:xfrm>
              <a:off x="2152651" y="2917825"/>
              <a:ext cx="31130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76" name="Text Box 20"/>
            <p:cNvSpPr txBox="1">
              <a:spLocks noChangeArrowheads="1"/>
            </p:cNvSpPr>
            <p:nvPr/>
          </p:nvSpPr>
          <p:spPr bwMode="auto">
            <a:xfrm>
              <a:off x="2800351" y="2917825"/>
              <a:ext cx="31130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77" name="Text Box 21"/>
            <p:cNvSpPr txBox="1">
              <a:spLocks noChangeArrowheads="1"/>
            </p:cNvSpPr>
            <p:nvPr/>
          </p:nvSpPr>
          <p:spPr bwMode="auto">
            <a:xfrm>
              <a:off x="3376613" y="2917825"/>
              <a:ext cx="31130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78" name="Text Box 22"/>
            <p:cNvSpPr txBox="1">
              <a:spLocks noChangeArrowheads="1"/>
            </p:cNvSpPr>
            <p:nvPr/>
          </p:nvSpPr>
          <p:spPr bwMode="auto">
            <a:xfrm>
              <a:off x="3952876" y="2917825"/>
              <a:ext cx="31130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79" name="Text Box 23"/>
            <p:cNvSpPr txBox="1">
              <a:spLocks noChangeArrowheads="1"/>
            </p:cNvSpPr>
            <p:nvPr/>
          </p:nvSpPr>
          <p:spPr bwMode="auto">
            <a:xfrm>
              <a:off x="5608638" y="2917825"/>
              <a:ext cx="24878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</a:p>
          </p:txBody>
        </p:sp>
        <p:sp>
          <p:nvSpPr>
            <p:cNvPr id="80" name="Text Box 24"/>
            <p:cNvSpPr txBox="1">
              <a:spLocks noChangeArrowheads="1"/>
            </p:cNvSpPr>
            <p:nvPr/>
          </p:nvSpPr>
          <p:spPr bwMode="auto">
            <a:xfrm>
              <a:off x="7408863" y="2917825"/>
              <a:ext cx="50526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n-1</a:t>
              </a:r>
            </a:p>
          </p:txBody>
        </p:sp>
        <p:sp>
          <p:nvSpPr>
            <p:cNvPr id="81" name="Text Box 25"/>
            <p:cNvSpPr txBox="1">
              <a:spLocks noChangeArrowheads="1"/>
            </p:cNvSpPr>
            <p:nvPr/>
          </p:nvSpPr>
          <p:spPr bwMode="auto">
            <a:xfrm>
              <a:off x="4673601" y="2917825"/>
              <a:ext cx="6413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……</a:t>
              </a:r>
            </a:p>
          </p:txBody>
        </p:sp>
        <p:sp>
          <p:nvSpPr>
            <p:cNvPr id="82" name="Text Box 26"/>
            <p:cNvSpPr txBox="1">
              <a:spLocks noChangeArrowheads="1"/>
            </p:cNvSpPr>
            <p:nvPr/>
          </p:nvSpPr>
          <p:spPr bwMode="auto">
            <a:xfrm>
              <a:off x="6400801" y="2917825"/>
              <a:ext cx="6413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……</a:t>
              </a:r>
            </a:p>
          </p:txBody>
        </p:sp>
        <p:sp>
          <p:nvSpPr>
            <p:cNvPr id="83" name="Text Box 27"/>
            <p:cNvSpPr txBox="1">
              <a:spLocks noChangeArrowheads="1"/>
            </p:cNvSpPr>
            <p:nvPr/>
          </p:nvSpPr>
          <p:spPr bwMode="auto">
            <a:xfrm>
              <a:off x="1547664" y="3390926"/>
              <a:ext cx="184731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endParaRPr lang="en-US" altLang="zh-CN" sz="2400" b="1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4" name="Text Box 27"/>
            <p:cNvSpPr txBox="1">
              <a:spLocks noChangeArrowheads="1"/>
            </p:cNvSpPr>
            <p:nvPr/>
          </p:nvSpPr>
          <p:spPr bwMode="auto">
            <a:xfrm>
              <a:off x="2139802" y="3396373"/>
              <a:ext cx="44114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sz="2400" b="1" i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85" name="Text Box 27"/>
            <p:cNvSpPr txBox="1">
              <a:spLocks noChangeArrowheads="1"/>
            </p:cNvSpPr>
            <p:nvPr/>
          </p:nvSpPr>
          <p:spPr bwMode="auto">
            <a:xfrm>
              <a:off x="2721157" y="3373011"/>
              <a:ext cx="44114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sz="2400" b="1" i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86" name="Text Box 27"/>
            <p:cNvSpPr txBox="1">
              <a:spLocks noChangeArrowheads="1"/>
            </p:cNvSpPr>
            <p:nvPr/>
          </p:nvSpPr>
          <p:spPr bwMode="auto">
            <a:xfrm>
              <a:off x="3305176" y="3360041"/>
              <a:ext cx="44114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sz="2400" b="1" i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87" name="Text Box 27"/>
            <p:cNvSpPr txBox="1">
              <a:spLocks noChangeArrowheads="1"/>
            </p:cNvSpPr>
            <p:nvPr/>
          </p:nvSpPr>
          <p:spPr bwMode="auto">
            <a:xfrm>
              <a:off x="3869622" y="3360041"/>
              <a:ext cx="44114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sz="2400" b="1" i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88" name="Text Box 27"/>
            <p:cNvSpPr txBox="1">
              <a:spLocks noChangeArrowheads="1"/>
            </p:cNvSpPr>
            <p:nvPr/>
          </p:nvSpPr>
          <p:spPr bwMode="auto">
            <a:xfrm>
              <a:off x="5602470" y="3388667"/>
              <a:ext cx="39626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sz="2400" b="1" i="1" dirty="0" err="1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400" b="1" i="1" baseline="-25000" dirty="0" err="1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i</a:t>
              </a:r>
              <a:endParaRPr lang="en-US" altLang="zh-CN" sz="2400" b="1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9" name="Text Box 27"/>
            <p:cNvSpPr txBox="1">
              <a:spLocks noChangeArrowheads="1"/>
            </p:cNvSpPr>
            <p:nvPr/>
          </p:nvSpPr>
          <p:spPr bwMode="auto">
            <a:xfrm>
              <a:off x="7322092" y="3360041"/>
              <a:ext cx="62388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sz="2400" b="1" i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n-1</a:t>
              </a:r>
              <a:endParaRPr lang="en-US" altLang="zh-CN" sz="2400" b="1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01" name="AutoShape 6"/>
          <p:cNvSpPr>
            <a:spLocks noChangeArrowheads="1"/>
          </p:cNvSpPr>
          <p:nvPr/>
        </p:nvSpPr>
        <p:spPr bwMode="auto">
          <a:xfrm>
            <a:off x="621178" y="2765935"/>
            <a:ext cx="1749062" cy="677501"/>
          </a:xfrm>
          <a:prstGeom prst="flowChartProcess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102" name="Text Box 7"/>
          <p:cNvSpPr txBox="1">
            <a:spLocks noChangeArrowheads="1"/>
          </p:cNvSpPr>
          <p:nvPr/>
        </p:nvSpPr>
        <p:spPr bwMode="auto">
          <a:xfrm>
            <a:off x="694364" y="2798396"/>
            <a:ext cx="162057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=n-1;</a:t>
            </a:r>
          </a:p>
          <a:p>
            <a:pPr algn="ctr" eaLnBrk="1" hangingPunct="1">
              <a:spcBef>
                <a:spcPts val="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A[0].key = x</a:t>
            </a:r>
          </a:p>
        </p:txBody>
      </p:sp>
      <p:sp>
        <p:nvSpPr>
          <p:cNvPr id="103" name="Line 8"/>
          <p:cNvSpPr>
            <a:spLocks noChangeShapeType="1"/>
          </p:cNvSpPr>
          <p:nvPr/>
        </p:nvSpPr>
        <p:spPr bwMode="auto">
          <a:xfrm>
            <a:off x="1562175" y="3443436"/>
            <a:ext cx="0" cy="4460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104" name="AutoShape 9"/>
          <p:cNvSpPr>
            <a:spLocks noChangeArrowheads="1"/>
          </p:cNvSpPr>
          <p:nvPr/>
        </p:nvSpPr>
        <p:spPr bwMode="auto">
          <a:xfrm>
            <a:off x="1009725" y="3889524"/>
            <a:ext cx="1104900" cy="508000"/>
          </a:xfrm>
          <a:prstGeom prst="flowChartDecision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105" name="Text Box 10"/>
          <p:cNvSpPr txBox="1">
            <a:spLocks noChangeArrowheads="1"/>
          </p:cNvSpPr>
          <p:nvPr/>
        </p:nvSpPr>
        <p:spPr bwMode="auto">
          <a:xfrm>
            <a:off x="1258962" y="3949849"/>
            <a:ext cx="6953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&gt;=0</a:t>
            </a:r>
          </a:p>
        </p:txBody>
      </p:sp>
      <p:sp>
        <p:nvSpPr>
          <p:cNvPr id="106" name="Line 11"/>
          <p:cNvSpPr>
            <a:spLocks noChangeShapeType="1"/>
          </p:cNvSpPr>
          <p:nvPr/>
        </p:nvSpPr>
        <p:spPr bwMode="auto">
          <a:xfrm flipH="1">
            <a:off x="1562175" y="4397524"/>
            <a:ext cx="0" cy="4429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107" name="AutoShape 12"/>
          <p:cNvSpPr>
            <a:spLocks noChangeArrowheads="1"/>
          </p:cNvSpPr>
          <p:nvPr/>
        </p:nvSpPr>
        <p:spPr bwMode="auto">
          <a:xfrm>
            <a:off x="519187" y="4840436"/>
            <a:ext cx="2087563" cy="508000"/>
          </a:xfrm>
          <a:prstGeom prst="flowChartDecision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108" name="Text Box 13"/>
          <p:cNvSpPr txBox="1">
            <a:spLocks noChangeArrowheads="1"/>
          </p:cNvSpPr>
          <p:nvPr/>
        </p:nvSpPr>
        <p:spPr bwMode="auto">
          <a:xfrm>
            <a:off x="928762" y="4903936"/>
            <a:ext cx="14827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A[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].key==x</a:t>
            </a:r>
          </a:p>
        </p:txBody>
      </p:sp>
      <p:sp>
        <p:nvSpPr>
          <p:cNvPr id="109" name="Line 14"/>
          <p:cNvSpPr>
            <a:spLocks noChangeShapeType="1"/>
          </p:cNvSpPr>
          <p:nvPr/>
        </p:nvSpPr>
        <p:spPr bwMode="auto">
          <a:xfrm flipH="1">
            <a:off x="1561381" y="5348436"/>
            <a:ext cx="794" cy="38099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110" name="AutoShape 15"/>
          <p:cNvSpPr>
            <a:spLocks noChangeArrowheads="1"/>
          </p:cNvSpPr>
          <p:nvPr/>
        </p:nvSpPr>
        <p:spPr bwMode="auto">
          <a:xfrm>
            <a:off x="1070050" y="5729436"/>
            <a:ext cx="982662" cy="444500"/>
          </a:xfrm>
          <a:prstGeom prst="flowChartProcess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111" name="Text Box 16"/>
          <p:cNvSpPr txBox="1">
            <a:spLocks noChangeArrowheads="1"/>
          </p:cNvSpPr>
          <p:nvPr/>
        </p:nvSpPr>
        <p:spPr bwMode="auto">
          <a:xfrm>
            <a:off x="1316112" y="5792936"/>
            <a:ext cx="736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--</a:t>
            </a:r>
          </a:p>
        </p:txBody>
      </p:sp>
      <p:sp>
        <p:nvSpPr>
          <p:cNvPr id="112" name="Line 17"/>
          <p:cNvSpPr>
            <a:spLocks noChangeShapeType="1"/>
          </p:cNvSpPr>
          <p:nvPr/>
        </p:nvSpPr>
        <p:spPr bwMode="auto">
          <a:xfrm>
            <a:off x="2114625" y="4141936"/>
            <a:ext cx="657225" cy="23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113" name="Line 18"/>
          <p:cNvSpPr>
            <a:spLocks noChangeShapeType="1"/>
          </p:cNvSpPr>
          <p:nvPr/>
        </p:nvSpPr>
        <p:spPr bwMode="auto">
          <a:xfrm>
            <a:off x="2543250" y="5094436"/>
            <a:ext cx="444500" cy="6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114" name="Text Box 19"/>
          <p:cNvSpPr txBox="1">
            <a:spLocks noChangeArrowheads="1"/>
          </p:cNvSpPr>
          <p:nvPr/>
        </p:nvSpPr>
        <p:spPr bwMode="auto">
          <a:xfrm>
            <a:off x="2051125" y="3805386"/>
            <a:ext cx="368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</a:p>
        </p:txBody>
      </p:sp>
      <p:sp>
        <p:nvSpPr>
          <p:cNvPr id="115" name="Text Box 20"/>
          <p:cNvSpPr txBox="1">
            <a:spLocks noChangeArrowheads="1"/>
          </p:cNvSpPr>
          <p:nvPr/>
        </p:nvSpPr>
        <p:spPr bwMode="auto">
          <a:xfrm>
            <a:off x="2482925" y="4776936"/>
            <a:ext cx="3063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</a:p>
        </p:txBody>
      </p:sp>
      <p:sp>
        <p:nvSpPr>
          <p:cNvPr id="118" name="Oval 56"/>
          <p:cNvSpPr>
            <a:spLocks noChangeArrowheads="1"/>
          </p:cNvSpPr>
          <p:nvPr/>
        </p:nvSpPr>
        <p:spPr bwMode="auto">
          <a:xfrm>
            <a:off x="1331987" y="2060848"/>
            <a:ext cx="431800" cy="288925"/>
          </a:xfrm>
          <a:prstGeom prst="ellipse">
            <a:avLst/>
          </a:prstGeom>
          <a:solidFill>
            <a:srgbClr val="FFC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119" name="Text Box 57"/>
          <p:cNvSpPr txBox="1">
            <a:spLocks noChangeArrowheads="1"/>
          </p:cNvSpPr>
          <p:nvPr/>
        </p:nvSpPr>
        <p:spPr bwMode="auto">
          <a:xfrm>
            <a:off x="1619325" y="4381649"/>
            <a:ext cx="3063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</a:p>
        </p:txBody>
      </p:sp>
      <p:sp>
        <p:nvSpPr>
          <p:cNvPr id="120" name="Oval 58"/>
          <p:cNvSpPr>
            <a:spLocks noChangeArrowheads="1"/>
          </p:cNvSpPr>
          <p:nvPr/>
        </p:nvSpPr>
        <p:spPr bwMode="auto">
          <a:xfrm>
            <a:off x="2771850" y="4021286"/>
            <a:ext cx="792162" cy="360363"/>
          </a:xfrm>
          <a:prstGeom prst="ellipse">
            <a:avLst/>
          </a:prstGeom>
          <a:solidFill>
            <a:srgbClr val="FFC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121" name="Text Box 59"/>
          <p:cNvSpPr txBox="1">
            <a:spLocks noChangeArrowheads="1"/>
          </p:cNvSpPr>
          <p:nvPr/>
        </p:nvSpPr>
        <p:spPr bwMode="auto">
          <a:xfrm>
            <a:off x="2783872" y="4021287"/>
            <a:ext cx="86518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返回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-1</a:t>
            </a:r>
          </a:p>
        </p:txBody>
      </p:sp>
      <p:sp>
        <p:nvSpPr>
          <p:cNvPr id="122" name="Oval 61"/>
          <p:cNvSpPr>
            <a:spLocks noChangeArrowheads="1"/>
          </p:cNvSpPr>
          <p:nvPr/>
        </p:nvSpPr>
        <p:spPr bwMode="auto">
          <a:xfrm>
            <a:off x="2987750" y="4957911"/>
            <a:ext cx="792162" cy="360363"/>
          </a:xfrm>
          <a:prstGeom prst="ellipse">
            <a:avLst/>
          </a:prstGeom>
          <a:solidFill>
            <a:srgbClr val="FFC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endParaRPr lang="zh-CN" altLang="en-US"/>
          </a:p>
        </p:txBody>
      </p:sp>
      <p:sp>
        <p:nvSpPr>
          <p:cNvPr id="123" name="Text Box 62"/>
          <p:cNvSpPr txBox="1">
            <a:spLocks noChangeArrowheads="1"/>
          </p:cNvSpPr>
          <p:nvPr/>
        </p:nvSpPr>
        <p:spPr bwMode="auto">
          <a:xfrm>
            <a:off x="1619325" y="5316686"/>
            <a:ext cx="368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</a:p>
        </p:txBody>
      </p:sp>
      <p:grpSp>
        <p:nvGrpSpPr>
          <p:cNvPr id="124" name="组合 123"/>
          <p:cNvGrpSpPr/>
          <p:nvPr/>
        </p:nvGrpSpPr>
        <p:grpSpPr>
          <a:xfrm>
            <a:off x="228472" y="3733949"/>
            <a:ext cx="1332909" cy="2719387"/>
            <a:chOff x="588760" y="3141663"/>
            <a:chExt cx="1332909" cy="2719387"/>
          </a:xfrm>
        </p:grpSpPr>
        <p:cxnSp>
          <p:nvCxnSpPr>
            <p:cNvPr id="125" name="直接连接符 124"/>
            <p:cNvCxnSpPr/>
            <p:nvPr/>
          </p:nvCxnSpPr>
          <p:spPr>
            <a:xfrm>
              <a:off x="1921669" y="5581650"/>
              <a:ext cx="0" cy="2794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/>
            <p:cNvCxnSpPr/>
            <p:nvPr/>
          </p:nvCxnSpPr>
          <p:spPr>
            <a:xfrm flipH="1">
              <a:off x="588760" y="5861050"/>
              <a:ext cx="133290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直接连接符 126"/>
            <p:cNvCxnSpPr/>
            <p:nvPr/>
          </p:nvCxnSpPr>
          <p:spPr>
            <a:xfrm flipV="1">
              <a:off x="588760" y="3141663"/>
              <a:ext cx="0" cy="271938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接箭头连接符 127"/>
            <p:cNvCxnSpPr/>
            <p:nvPr/>
          </p:nvCxnSpPr>
          <p:spPr>
            <a:xfrm>
              <a:off x="588760" y="3141663"/>
              <a:ext cx="1332909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9" name="直接箭头连接符 128"/>
          <p:cNvCxnSpPr>
            <a:stCxn id="118" idx="4"/>
          </p:cNvCxnSpPr>
          <p:nvPr/>
        </p:nvCxnSpPr>
        <p:spPr>
          <a:xfrm>
            <a:off x="1547887" y="2349773"/>
            <a:ext cx="0" cy="3701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 Box 22"/>
          <p:cNvSpPr txBox="1">
            <a:spLocks noChangeArrowheads="1"/>
          </p:cNvSpPr>
          <p:nvPr/>
        </p:nvSpPr>
        <p:spPr bwMode="auto">
          <a:xfrm>
            <a:off x="3101894" y="4962872"/>
            <a:ext cx="100806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400" dirty="0">
                <a:latin typeface="Tahoma" panose="020B0604030504040204" pitchFamily="34" charset="0"/>
                <a:ea typeface="宋体" panose="02010600030101010101" pitchFamily="2" charset="-122"/>
              </a:rPr>
              <a:t>返回</a:t>
            </a:r>
            <a:r>
              <a:rPr lang="en-US" altLang="zh-CN" sz="1400" dirty="0" err="1">
                <a:latin typeface="Tahoma" panose="020B0604030504040204" pitchFamily="34" charset="0"/>
                <a:ea typeface="宋体" panose="02010600030101010101" pitchFamily="2" charset="-122"/>
              </a:rPr>
              <a:t>i</a:t>
            </a:r>
            <a:endParaRPr lang="zh-CN" altLang="en-US" sz="14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16" name="Text Box 62"/>
          <p:cNvSpPr txBox="1">
            <a:spLocks noChangeArrowheads="1"/>
          </p:cNvSpPr>
          <p:nvPr/>
        </p:nvSpPr>
        <p:spPr bwMode="auto">
          <a:xfrm>
            <a:off x="2591728" y="2317229"/>
            <a:ext cx="506888" cy="568104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>
              <a:lnSpc>
                <a:spcPts val="1200"/>
              </a:lnSpc>
            </a:pPr>
            <a:endParaRPr lang="en-US" altLang="zh-CN" dirty="0">
              <a:solidFill>
                <a:schemeClr val="accent2"/>
              </a:solidFill>
              <a:ea typeface="宋体" panose="02010600030101010101" pitchFamily="2" charset="-122"/>
            </a:endParaRPr>
          </a:p>
          <a:p>
            <a:pPr>
              <a:lnSpc>
                <a:spcPts val="1200"/>
              </a:lnSpc>
            </a:pPr>
            <a:r>
              <a:rPr lang="en-US" altLang="zh-CN" dirty="0">
                <a:solidFill>
                  <a:schemeClr val="accent2"/>
                </a:solidFill>
                <a:ea typeface="宋体" panose="02010600030101010101" pitchFamily="2" charset="-122"/>
              </a:rPr>
              <a:t>X</a:t>
            </a:r>
          </a:p>
          <a:p>
            <a:pPr>
              <a:lnSpc>
                <a:spcPts val="1200"/>
              </a:lnSpc>
            </a:pPr>
            <a:endParaRPr lang="en-US" altLang="zh-CN" dirty="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grpSp>
        <p:nvGrpSpPr>
          <p:cNvPr id="117" name="组合 116"/>
          <p:cNvGrpSpPr/>
          <p:nvPr/>
        </p:nvGrpSpPr>
        <p:grpSpPr>
          <a:xfrm>
            <a:off x="-890841" y="72640"/>
            <a:ext cx="8271153" cy="665363"/>
            <a:chOff x="-594808" y="1867387"/>
            <a:chExt cx="8913447" cy="707532"/>
          </a:xfrm>
        </p:grpSpPr>
        <p:grpSp>
          <p:nvGrpSpPr>
            <p:cNvPr id="131" name="组合 130"/>
            <p:cNvGrpSpPr/>
            <p:nvPr/>
          </p:nvGrpSpPr>
          <p:grpSpPr>
            <a:xfrm>
              <a:off x="-594808" y="1867387"/>
              <a:ext cx="8913447" cy="707532"/>
              <a:chOff x="-635833" y="1327471"/>
              <a:chExt cx="8913447" cy="707532"/>
            </a:xfrm>
          </p:grpSpPr>
          <p:sp>
            <p:nvSpPr>
              <p:cNvPr id="133" name="TextBox 6"/>
              <p:cNvSpPr txBox="1">
                <a:spLocks noChangeArrowheads="1"/>
              </p:cNvSpPr>
              <p:nvPr/>
            </p:nvSpPr>
            <p:spPr bwMode="auto">
              <a:xfrm>
                <a:off x="-635833" y="1347734"/>
                <a:ext cx="8913447" cy="687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10.2 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顺序表的查找</a:t>
                </a:r>
              </a:p>
            </p:txBody>
          </p:sp>
          <p:sp>
            <p:nvSpPr>
              <p:cNvPr id="134" name="Freeform 5"/>
              <p:cNvSpPr>
                <a:spLocks/>
              </p:cNvSpPr>
              <p:nvPr/>
            </p:nvSpPr>
            <p:spPr bwMode="auto">
              <a:xfrm>
                <a:off x="958665" y="1327471"/>
                <a:ext cx="842977" cy="683003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FFFF66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</p:grpSp>
        <p:pic>
          <p:nvPicPr>
            <p:cNvPr id="132" name="图片 13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89825" y="2023053"/>
              <a:ext cx="495511" cy="4238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18453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2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2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0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3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8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1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6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9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4" dur="5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8" grpId="0" build="p"/>
      <p:bldP spid="12292" grpId="0" autoUpdateAnimBg="0"/>
      <p:bldP spid="12343" grpId="0" autoUpdateAnimBg="0"/>
      <p:bldP spid="65" grpId="0"/>
      <p:bldP spid="101" grpId="0" animBg="1"/>
      <p:bldP spid="102" grpId="0" autoUpdateAnimBg="0"/>
      <p:bldP spid="104" grpId="0" animBg="1"/>
      <p:bldP spid="105" grpId="0" autoUpdateAnimBg="0"/>
      <p:bldP spid="107" grpId="0" animBg="1"/>
      <p:bldP spid="108" grpId="0" autoUpdateAnimBg="0"/>
      <p:bldP spid="110" grpId="0" animBg="1"/>
      <p:bldP spid="111" grpId="0" autoUpdateAnimBg="0"/>
      <p:bldP spid="114" grpId="0" autoUpdateAnimBg="0"/>
      <p:bldP spid="115" grpId="0" autoUpdateAnimBg="0"/>
      <p:bldP spid="118" grpId="0" animBg="1"/>
      <p:bldP spid="119" grpId="0" autoUpdateAnimBg="0"/>
      <p:bldP spid="120" grpId="0" animBg="1"/>
      <p:bldP spid="121" grpId="0" autoUpdateAnimBg="0"/>
      <p:bldP spid="122" grpId="0" animBg="1"/>
      <p:bldP spid="123" grpId="0" autoUpdateAnimBg="0"/>
      <p:bldP spid="130" grpId="0" autoUpdateAnimBg="0"/>
      <p:bldP spid="116" grpId="0" bldLvl="0" animBg="1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b="1" dirty="0"/>
              <a:t>算法分析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      </a:t>
            </a:r>
          </a:p>
          <a:p>
            <a:pPr eaLnBrk="1" hangingPunct="1"/>
            <a:endParaRPr lang="zh-CN" altLang="en-US" dirty="0"/>
          </a:p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/>
              <a:t>各元素的查找长度：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       </a:t>
            </a:r>
            <a:r>
              <a:rPr lang="en-US" altLang="zh-CN" sz="2400" dirty="0"/>
              <a:t>1, 2, 3, …, n  (</a:t>
            </a:r>
            <a:r>
              <a:rPr lang="zh-CN" altLang="en-US" sz="2400" dirty="0"/>
              <a:t>或</a:t>
            </a:r>
            <a:r>
              <a:rPr lang="en-US" altLang="zh-CN" sz="2400" dirty="0"/>
              <a:t>n-1</a:t>
            </a:r>
            <a:r>
              <a:rPr lang="zh-CN" altLang="en-US" sz="2400" dirty="0"/>
              <a:t>：设置监视哨时</a:t>
            </a:r>
            <a:r>
              <a:rPr lang="en-US" altLang="zh-CN" sz="2400" dirty="0"/>
              <a:t>)</a:t>
            </a:r>
          </a:p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/>
              <a:t>等概率情况下的平均查找长度：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      </a:t>
            </a:r>
            <a:r>
              <a:rPr lang="en-US" altLang="zh-CN" sz="2400" dirty="0"/>
              <a:t>ASL = (1+2+……+n)/n </a:t>
            </a:r>
            <a:r>
              <a:rPr lang="en-US" altLang="zh-CN" sz="2400" dirty="0">
                <a:solidFill>
                  <a:srgbClr val="0000FF"/>
                </a:solidFill>
              </a:rPr>
              <a:t>= (n+1)/2</a:t>
            </a:r>
          </a:p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/>
              <a:t>失败查找长度 </a:t>
            </a:r>
            <a:r>
              <a:rPr lang="en-US" altLang="zh-CN" sz="2400" dirty="0"/>
              <a:t>= n+1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15</a:t>
            </a:fld>
            <a:endParaRPr lang="zh-CN" altLang="en-US" dirty="0"/>
          </a:p>
        </p:txBody>
      </p:sp>
      <p:sp>
        <p:nvSpPr>
          <p:cNvPr id="38" name="Rectangle 2"/>
          <p:cNvSpPr>
            <a:spLocks noGrp="1" noChangeArrowheads="1"/>
          </p:cNvSpPr>
          <p:nvPr>
            <p:ph type="title"/>
          </p:nvPr>
        </p:nvSpPr>
        <p:spPr>
          <a:xfrm>
            <a:off x="287658" y="754622"/>
            <a:ext cx="8353425" cy="711200"/>
          </a:xfrm>
        </p:spPr>
        <p:txBody>
          <a:bodyPr>
            <a:normAutofit/>
          </a:bodyPr>
          <a:lstStyle/>
          <a:p>
            <a:pPr marL="342900" indent="-3429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800" dirty="0">
                <a:latin typeface="Times New Roman" pitchFamily="18" charset="0"/>
                <a:ea typeface="仿宋" pitchFamily="49" charset="-122"/>
                <a:cs typeface="+mn-cs"/>
              </a:rPr>
              <a:t>10.2.1</a:t>
            </a:r>
            <a:r>
              <a:rPr lang="zh-CN" altLang="en-US" sz="2800" dirty="0">
                <a:latin typeface="Times New Roman" pitchFamily="18" charset="0"/>
                <a:ea typeface="仿宋" pitchFamily="49" charset="-122"/>
                <a:cs typeface="+mn-cs"/>
              </a:rPr>
              <a:t>简单顺序表的查找</a:t>
            </a:r>
          </a:p>
        </p:txBody>
      </p:sp>
      <p:grpSp>
        <p:nvGrpSpPr>
          <p:cNvPr id="74" name="组合 73"/>
          <p:cNvGrpSpPr/>
          <p:nvPr/>
        </p:nvGrpSpPr>
        <p:grpSpPr>
          <a:xfrm>
            <a:off x="1061862" y="1884293"/>
            <a:ext cx="6805016" cy="1008063"/>
            <a:chOff x="1109114" y="2917825"/>
            <a:chExt cx="6805016" cy="1008063"/>
          </a:xfrm>
        </p:grpSpPr>
        <p:grpSp>
          <p:nvGrpSpPr>
            <p:cNvPr id="75" name="Group 5"/>
            <p:cNvGrpSpPr>
              <a:grpSpLocks/>
            </p:cNvGrpSpPr>
            <p:nvPr/>
          </p:nvGrpSpPr>
          <p:grpSpPr bwMode="auto">
            <a:xfrm>
              <a:off x="1504951" y="3349625"/>
              <a:ext cx="6408738" cy="576263"/>
              <a:chOff x="0" y="0"/>
              <a:chExt cx="4037" cy="363"/>
            </a:xfrm>
            <a:solidFill>
              <a:srgbClr val="92D050"/>
            </a:solidFill>
          </p:grpSpPr>
          <p:sp>
            <p:nvSpPr>
              <p:cNvPr id="93" name="Rectangle 6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037" cy="363"/>
              </a:xfrm>
              <a:prstGeom prst="rect">
                <a:avLst/>
              </a:prstGeom>
              <a:grp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 eaLnBrk="1" hangingPunct="1"/>
                <a:endParaRPr lang="zh-CN" altLang="en-US" b="1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</p:txBody>
          </p:sp>
          <p:sp>
            <p:nvSpPr>
              <p:cNvPr id="94" name="Line 7"/>
              <p:cNvSpPr>
                <a:spLocks noChangeShapeType="1"/>
              </p:cNvSpPr>
              <p:nvPr/>
            </p:nvSpPr>
            <p:spPr bwMode="auto">
              <a:xfrm>
                <a:off x="363" y="0"/>
                <a:ext cx="0" cy="363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</p:txBody>
          </p:sp>
          <p:sp>
            <p:nvSpPr>
              <p:cNvPr id="95" name="Line 8"/>
              <p:cNvSpPr>
                <a:spLocks noChangeShapeType="1"/>
              </p:cNvSpPr>
              <p:nvPr/>
            </p:nvSpPr>
            <p:spPr bwMode="auto">
              <a:xfrm>
                <a:off x="726" y="0"/>
                <a:ext cx="0" cy="363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</p:txBody>
          </p:sp>
          <p:sp>
            <p:nvSpPr>
              <p:cNvPr id="96" name="Line 9"/>
              <p:cNvSpPr>
                <a:spLocks noChangeShapeType="1"/>
              </p:cNvSpPr>
              <p:nvPr/>
            </p:nvSpPr>
            <p:spPr bwMode="auto">
              <a:xfrm>
                <a:off x="1089" y="0"/>
                <a:ext cx="0" cy="363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</p:txBody>
          </p:sp>
          <p:sp>
            <p:nvSpPr>
              <p:cNvPr id="97" name="Line 10"/>
              <p:cNvSpPr>
                <a:spLocks noChangeShapeType="1"/>
              </p:cNvSpPr>
              <p:nvPr/>
            </p:nvSpPr>
            <p:spPr bwMode="auto">
              <a:xfrm>
                <a:off x="1452" y="0"/>
                <a:ext cx="0" cy="363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</p:txBody>
          </p:sp>
          <p:sp>
            <p:nvSpPr>
              <p:cNvPr id="98" name="Line 11"/>
              <p:cNvSpPr>
                <a:spLocks noChangeShapeType="1"/>
              </p:cNvSpPr>
              <p:nvPr/>
            </p:nvSpPr>
            <p:spPr bwMode="auto">
              <a:xfrm>
                <a:off x="1815" y="0"/>
                <a:ext cx="0" cy="363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</p:txBody>
          </p:sp>
          <p:sp>
            <p:nvSpPr>
              <p:cNvPr id="99" name="Line 12"/>
              <p:cNvSpPr>
                <a:spLocks noChangeShapeType="1"/>
              </p:cNvSpPr>
              <p:nvPr/>
            </p:nvSpPr>
            <p:spPr bwMode="auto">
              <a:xfrm>
                <a:off x="2178" y="0"/>
                <a:ext cx="0" cy="363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</p:txBody>
          </p:sp>
          <p:sp>
            <p:nvSpPr>
              <p:cNvPr id="100" name="Line 13"/>
              <p:cNvSpPr>
                <a:spLocks noChangeShapeType="1"/>
              </p:cNvSpPr>
              <p:nvPr/>
            </p:nvSpPr>
            <p:spPr bwMode="auto">
              <a:xfrm>
                <a:off x="2541" y="0"/>
                <a:ext cx="0" cy="363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</p:txBody>
          </p:sp>
          <p:sp>
            <p:nvSpPr>
              <p:cNvPr id="101" name="Line 14"/>
              <p:cNvSpPr>
                <a:spLocks noChangeShapeType="1"/>
              </p:cNvSpPr>
              <p:nvPr/>
            </p:nvSpPr>
            <p:spPr bwMode="auto">
              <a:xfrm>
                <a:off x="2903" y="0"/>
                <a:ext cx="0" cy="363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</p:txBody>
          </p:sp>
          <p:sp>
            <p:nvSpPr>
              <p:cNvPr id="102" name="Line 15"/>
              <p:cNvSpPr>
                <a:spLocks noChangeShapeType="1"/>
              </p:cNvSpPr>
              <p:nvPr/>
            </p:nvSpPr>
            <p:spPr bwMode="auto">
              <a:xfrm>
                <a:off x="3312" y="0"/>
                <a:ext cx="0" cy="363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</p:txBody>
          </p:sp>
          <p:sp>
            <p:nvSpPr>
              <p:cNvPr id="103" name="Line 16"/>
              <p:cNvSpPr>
                <a:spLocks noChangeShapeType="1"/>
              </p:cNvSpPr>
              <p:nvPr/>
            </p:nvSpPr>
            <p:spPr bwMode="auto">
              <a:xfrm>
                <a:off x="3675" y="0"/>
                <a:ext cx="0" cy="363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</p:txBody>
          </p:sp>
        </p:grpSp>
        <p:sp>
          <p:nvSpPr>
            <p:cNvPr id="76" name="Text Box 17"/>
            <p:cNvSpPr txBox="1">
              <a:spLocks noChangeArrowheads="1"/>
            </p:cNvSpPr>
            <p:nvPr/>
          </p:nvSpPr>
          <p:spPr bwMode="auto">
            <a:xfrm>
              <a:off x="1109114" y="3367332"/>
              <a:ext cx="40748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77" name="Text Box 18"/>
            <p:cNvSpPr txBox="1">
              <a:spLocks noChangeArrowheads="1"/>
            </p:cNvSpPr>
            <p:nvPr/>
          </p:nvSpPr>
          <p:spPr bwMode="auto">
            <a:xfrm>
              <a:off x="1649413" y="2917825"/>
              <a:ext cx="31130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78" name="Text Box 19"/>
            <p:cNvSpPr txBox="1">
              <a:spLocks noChangeArrowheads="1"/>
            </p:cNvSpPr>
            <p:nvPr/>
          </p:nvSpPr>
          <p:spPr bwMode="auto">
            <a:xfrm>
              <a:off x="2152651" y="2917825"/>
              <a:ext cx="31130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79" name="Text Box 20"/>
            <p:cNvSpPr txBox="1">
              <a:spLocks noChangeArrowheads="1"/>
            </p:cNvSpPr>
            <p:nvPr/>
          </p:nvSpPr>
          <p:spPr bwMode="auto">
            <a:xfrm>
              <a:off x="2800351" y="2917825"/>
              <a:ext cx="31130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80" name="Text Box 21"/>
            <p:cNvSpPr txBox="1">
              <a:spLocks noChangeArrowheads="1"/>
            </p:cNvSpPr>
            <p:nvPr/>
          </p:nvSpPr>
          <p:spPr bwMode="auto">
            <a:xfrm>
              <a:off x="3376613" y="2917825"/>
              <a:ext cx="31130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81" name="Text Box 22"/>
            <p:cNvSpPr txBox="1">
              <a:spLocks noChangeArrowheads="1"/>
            </p:cNvSpPr>
            <p:nvPr/>
          </p:nvSpPr>
          <p:spPr bwMode="auto">
            <a:xfrm>
              <a:off x="3952876" y="2917825"/>
              <a:ext cx="31130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82" name="Text Box 23"/>
            <p:cNvSpPr txBox="1">
              <a:spLocks noChangeArrowheads="1"/>
            </p:cNvSpPr>
            <p:nvPr/>
          </p:nvSpPr>
          <p:spPr bwMode="auto">
            <a:xfrm>
              <a:off x="5608638" y="2917825"/>
              <a:ext cx="24878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</a:p>
          </p:txBody>
        </p:sp>
        <p:sp>
          <p:nvSpPr>
            <p:cNvPr id="83" name="Text Box 24"/>
            <p:cNvSpPr txBox="1">
              <a:spLocks noChangeArrowheads="1"/>
            </p:cNvSpPr>
            <p:nvPr/>
          </p:nvSpPr>
          <p:spPr bwMode="auto">
            <a:xfrm>
              <a:off x="7408863" y="2917825"/>
              <a:ext cx="50526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n-1</a:t>
              </a:r>
            </a:p>
          </p:txBody>
        </p:sp>
        <p:sp>
          <p:nvSpPr>
            <p:cNvPr id="84" name="Text Box 25"/>
            <p:cNvSpPr txBox="1">
              <a:spLocks noChangeArrowheads="1"/>
            </p:cNvSpPr>
            <p:nvPr/>
          </p:nvSpPr>
          <p:spPr bwMode="auto">
            <a:xfrm>
              <a:off x="4673601" y="2917825"/>
              <a:ext cx="6413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……</a:t>
              </a:r>
            </a:p>
          </p:txBody>
        </p:sp>
        <p:sp>
          <p:nvSpPr>
            <p:cNvPr id="85" name="Text Box 26"/>
            <p:cNvSpPr txBox="1">
              <a:spLocks noChangeArrowheads="1"/>
            </p:cNvSpPr>
            <p:nvPr/>
          </p:nvSpPr>
          <p:spPr bwMode="auto">
            <a:xfrm>
              <a:off x="6400801" y="2917825"/>
              <a:ext cx="6413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……</a:t>
              </a:r>
            </a:p>
          </p:txBody>
        </p:sp>
        <p:sp>
          <p:nvSpPr>
            <p:cNvPr id="86" name="Text Box 27"/>
            <p:cNvSpPr txBox="1">
              <a:spLocks noChangeArrowheads="1"/>
            </p:cNvSpPr>
            <p:nvPr/>
          </p:nvSpPr>
          <p:spPr bwMode="auto">
            <a:xfrm>
              <a:off x="1547664" y="3390926"/>
              <a:ext cx="44114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sz="2400" b="1" i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87" name="Text Box 27"/>
            <p:cNvSpPr txBox="1">
              <a:spLocks noChangeArrowheads="1"/>
            </p:cNvSpPr>
            <p:nvPr/>
          </p:nvSpPr>
          <p:spPr bwMode="auto">
            <a:xfrm>
              <a:off x="2139802" y="3396373"/>
              <a:ext cx="44114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sz="2400" b="1" i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88" name="Text Box 27"/>
            <p:cNvSpPr txBox="1">
              <a:spLocks noChangeArrowheads="1"/>
            </p:cNvSpPr>
            <p:nvPr/>
          </p:nvSpPr>
          <p:spPr bwMode="auto">
            <a:xfrm>
              <a:off x="2721157" y="3373011"/>
              <a:ext cx="44114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sz="2400" b="1" i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89" name="Text Box 27"/>
            <p:cNvSpPr txBox="1">
              <a:spLocks noChangeArrowheads="1"/>
            </p:cNvSpPr>
            <p:nvPr/>
          </p:nvSpPr>
          <p:spPr bwMode="auto">
            <a:xfrm>
              <a:off x="3305176" y="3360041"/>
              <a:ext cx="44114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sz="2400" b="1" i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90" name="Text Box 27"/>
            <p:cNvSpPr txBox="1">
              <a:spLocks noChangeArrowheads="1"/>
            </p:cNvSpPr>
            <p:nvPr/>
          </p:nvSpPr>
          <p:spPr bwMode="auto">
            <a:xfrm>
              <a:off x="3869622" y="3360041"/>
              <a:ext cx="44114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sz="2400" b="1" i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91" name="Text Box 27"/>
            <p:cNvSpPr txBox="1">
              <a:spLocks noChangeArrowheads="1"/>
            </p:cNvSpPr>
            <p:nvPr/>
          </p:nvSpPr>
          <p:spPr bwMode="auto">
            <a:xfrm>
              <a:off x="5602470" y="3388667"/>
              <a:ext cx="56778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sz="2400" b="1" i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i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-1</a:t>
              </a:r>
            </a:p>
          </p:txBody>
        </p:sp>
        <p:sp>
          <p:nvSpPr>
            <p:cNvPr id="92" name="Text Box 27"/>
            <p:cNvSpPr txBox="1">
              <a:spLocks noChangeArrowheads="1"/>
            </p:cNvSpPr>
            <p:nvPr/>
          </p:nvSpPr>
          <p:spPr bwMode="auto">
            <a:xfrm>
              <a:off x="7355249" y="3360041"/>
              <a:ext cx="45236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sz="2400" b="1" i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n</a:t>
              </a:r>
              <a:endParaRPr lang="en-US" altLang="zh-CN" sz="2400" b="1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-890841" y="72640"/>
            <a:ext cx="8271153" cy="665363"/>
            <a:chOff x="-594808" y="1867387"/>
            <a:chExt cx="8913447" cy="707532"/>
          </a:xfrm>
        </p:grpSpPr>
        <p:grpSp>
          <p:nvGrpSpPr>
            <p:cNvPr id="45" name="组合 44"/>
            <p:cNvGrpSpPr/>
            <p:nvPr/>
          </p:nvGrpSpPr>
          <p:grpSpPr>
            <a:xfrm>
              <a:off x="-594808" y="1867387"/>
              <a:ext cx="8913447" cy="707532"/>
              <a:chOff x="-635833" y="1327471"/>
              <a:chExt cx="8913447" cy="707532"/>
            </a:xfrm>
          </p:grpSpPr>
          <p:sp>
            <p:nvSpPr>
              <p:cNvPr id="47" name="TextBox 6"/>
              <p:cNvSpPr txBox="1">
                <a:spLocks noChangeArrowheads="1"/>
              </p:cNvSpPr>
              <p:nvPr/>
            </p:nvSpPr>
            <p:spPr bwMode="auto">
              <a:xfrm>
                <a:off x="-635833" y="1347734"/>
                <a:ext cx="8913447" cy="687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10.2 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顺序表的查找</a:t>
                </a:r>
              </a:p>
            </p:txBody>
          </p:sp>
          <p:sp>
            <p:nvSpPr>
              <p:cNvPr id="48" name="Freeform 5"/>
              <p:cNvSpPr>
                <a:spLocks/>
              </p:cNvSpPr>
              <p:nvPr/>
            </p:nvSpPr>
            <p:spPr bwMode="auto">
              <a:xfrm>
                <a:off x="958665" y="1327471"/>
                <a:ext cx="842977" cy="683003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FFFF66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</p:grpSp>
        <p:pic>
          <p:nvPicPr>
            <p:cNvPr id="46" name="图片 4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89825" y="2023053"/>
              <a:ext cx="495511" cy="423803"/>
            </a:xfrm>
            <a:prstGeom prst="rect">
              <a:avLst/>
            </a:prstGeom>
          </p:spPr>
        </p:pic>
      </p:grp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3294073"/>
              </p:ext>
            </p:extLst>
          </p:nvPr>
        </p:nvGraphicFramePr>
        <p:xfrm>
          <a:off x="905829" y="5506405"/>
          <a:ext cx="7482595" cy="83751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60787">
                  <a:extLst>
                    <a:ext uri="{9D8B030D-6E8A-4147-A177-3AD203B41FA5}">
                      <a16:colId xmlns:a16="http://schemas.microsoft.com/office/drawing/2014/main" val="2216531535"/>
                    </a:ext>
                  </a:extLst>
                </a:gridCol>
                <a:gridCol w="1717352">
                  <a:extLst>
                    <a:ext uri="{9D8B030D-6E8A-4147-A177-3AD203B41FA5}">
                      <a16:colId xmlns:a16="http://schemas.microsoft.com/office/drawing/2014/main" val="3642804886"/>
                    </a:ext>
                  </a:extLst>
                </a:gridCol>
                <a:gridCol w="2206040">
                  <a:extLst>
                    <a:ext uri="{9D8B030D-6E8A-4147-A177-3AD203B41FA5}">
                      <a16:colId xmlns:a16="http://schemas.microsoft.com/office/drawing/2014/main" val="1186974628"/>
                    </a:ext>
                  </a:extLst>
                </a:gridCol>
                <a:gridCol w="1898416">
                  <a:extLst>
                    <a:ext uri="{9D8B030D-6E8A-4147-A177-3AD203B41FA5}">
                      <a16:colId xmlns:a16="http://schemas.microsoft.com/office/drawing/2014/main" val="2662077493"/>
                    </a:ext>
                  </a:extLst>
                </a:gridCol>
              </a:tblGrid>
              <a:tr h="360041">
                <a:tc>
                  <a:txBody>
                    <a:bodyPr/>
                    <a:lstStyle/>
                    <a:p>
                      <a:pPr algn="ctr">
                        <a:lnSpc>
                          <a:spcPts val="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400" b="1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  <a:cs typeface="+mn-cs"/>
                      </a:endParaRPr>
                    </a:p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400" b="1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+mn-cs"/>
                        </a:rPr>
                        <a:t>查找算法</a:t>
                      </a:r>
                    </a:p>
                  </a:txBody>
                  <a:tcPr marL="68580" marR="68580" marT="0" marB="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400" b="1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  <a:cs typeface="+mn-cs"/>
                      </a:endParaRPr>
                    </a:p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400" b="1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+mn-cs"/>
                        </a:rPr>
                        <a:t>查找（最坏情况）</a:t>
                      </a:r>
                    </a:p>
                  </a:txBody>
                  <a:tcPr marL="68580" marR="68580" marT="0" marB="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400" b="1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  <a:cs typeface="+mn-cs"/>
                      </a:endParaRPr>
                    </a:p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400" b="1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+mn-cs"/>
                        </a:rPr>
                        <a:t>查找找到（平均</a:t>
                      </a:r>
                      <a:r>
                        <a:rPr lang="zh-CN" altLang="en-US" sz="1400" b="1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+mn-cs"/>
                        </a:rPr>
                        <a:t>查找长度</a:t>
                      </a:r>
                      <a:r>
                        <a:rPr lang="zh-CN" sz="1400" b="1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+mn-cs"/>
                        </a:rPr>
                        <a:t>）</a:t>
                      </a:r>
                    </a:p>
                  </a:txBody>
                  <a:tcPr marL="68580" marR="68580" marT="0" marB="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400" b="1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  <a:cs typeface="+mn-cs"/>
                      </a:endParaRPr>
                    </a:p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b="1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+mn-cs"/>
                        </a:rPr>
                        <a:t>查找时间复杂度</a:t>
                      </a:r>
                      <a:endParaRPr lang="zh-CN" sz="1400" b="1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  <a:cs typeface="+mn-cs"/>
                      </a:endParaRPr>
                    </a:p>
                  </a:txBody>
                  <a:tcPr marL="68580" marR="68580" marT="0" marB="0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4608847"/>
                  </a:ext>
                </a:extLst>
              </a:tr>
              <a:tr h="47747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altLang="zh-CN" sz="140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" panose="02010609060101010101" pitchFamily="49" charset="-122"/>
                        </a:rPr>
                        <a:t>顺序查询（无序）</a:t>
                      </a:r>
                      <a:endParaRPr lang="zh-CN" sz="140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400" b="1" kern="100" baseline="0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400" b="1" kern="100" baseline="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仿宋" panose="02010609060101010101" pitchFamily="49" charset="-122"/>
                        </a:rPr>
                        <a:t>n+1</a:t>
                      </a:r>
                      <a:endParaRPr lang="zh-CN" sz="1400" b="1" kern="100" baseline="0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400" b="1" kern="100" baseline="0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baseline="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仿宋" panose="02010609060101010101" pitchFamily="49" charset="-122"/>
                        </a:rPr>
                        <a:t>(n</a:t>
                      </a:r>
                      <a:r>
                        <a:rPr lang="en-US" altLang="zh-CN" sz="1400" b="1" kern="100" baseline="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仿宋" panose="02010609060101010101" pitchFamily="49" charset="-122"/>
                        </a:rPr>
                        <a:t>+1)</a:t>
                      </a:r>
                      <a:r>
                        <a:rPr lang="en-US" sz="1400" b="1" kern="100" baseline="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仿宋" panose="02010609060101010101" pitchFamily="49" charset="-122"/>
                        </a:rPr>
                        <a:t>/2</a:t>
                      </a:r>
                      <a:endParaRPr lang="zh-CN" sz="1400" b="1" kern="100" baseline="0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altLang="zh-CN" sz="1400" b="1" kern="100" baseline="0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400" b="1" kern="100" baseline="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a:t>O(n)</a:t>
                      </a:r>
                      <a:endParaRPr lang="zh-CN" sz="1400" b="1" kern="100" baseline="0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638336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7063389"/>
      </p:ext>
    </p:extLst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uiExpand="1" build="p" autoUpdateAnimBg="0"/>
      <p:bldP spid="3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>
          <a:xfrm>
            <a:off x="402284" y="692696"/>
            <a:ext cx="8001000" cy="711200"/>
          </a:xfrm>
        </p:spPr>
        <p:txBody>
          <a:bodyPr>
            <a:normAutofit/>
          </a:bodyPr>
          <a:lstStyle/>
          <a:p>
            <a:pPr marL="342900" indent="-342900" eaLnBrk="1" hangingPunct="1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800" dirty="0">
                <a:latin typeface="Times New Roman" pitchFamily="18" charset="0"/>
                <a:ea typeface="仿宋" pitchFamily="49" charset="-122"/>
                <a:cs typeface="+mn-cs"/>
              </a:rPr>
              <a:t>10.2.2 </a:t>
            </a:r>
            <a:r>
              <a:rPr lang="zh-CN" altLang="en-US" sz="2800" dirty="0">
                <a:latin typeface="Times New Roman" pitchFamily="18" charset="0"/>
                <a:ea typeface="仿宋" pitchFamily="49" charset="-122"/>
                <a:cs typeface="+mn-cs"/>
              </a:rPr>
              <a:t>有序表的查找</a:t>
            </a:r>
            <a:r>
              <a:rPr lang="en-US" altLang="zh-CN" sz="2800" dirty="0">
                <a:latin typeface="Times New Roman" pitchFamily="18" charset="0"/>
                <a:ea typeface="仿宋" pitchFamily="49" charset="-122"/>
                <a:cs typeface="+mn-cs"/>
              </a:rPr>
              <a:t>——</a:t>
            </a:r>
            <a:r>
              <a:rPr lang="zh-CN" altLang="en-US" sz="2800" dirty="0">
                <a:latin typeface="Times New Roman" pitchFamily="18" charset="0"/>
                <a:ea typeface="仿宋" pitchFamily="49" charset="-122"/>
                <a:cs typeface="+mn-cs"/>
              </a:rPr>
              <a:t>二分查找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9876" y="1348729"/>
            <a:ext cx="7993062" cy="5327650"/>
          </a:xfrm>
          <a:noFill/>
        </p:spPr>
        <p:txBody>
          <a:bodyPr/>
          <a:lstStyle/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/>
              <a:t>问题描述</a:t>
            </a:r>
            <a:r>
              <a:rPr lang="en-US" altLang="zh-CN" sz="2400" b="1" dirty="0"/>
              <a:t>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 dirty="0"/>
              <a:t>   </a:t>
            </a:r>
            <a:r>
              <a:rPr lang="zh-CN" altLang="en-US" sz="2400" b="1" dirty="0"/>
              <a:t>在递增有序（或递减有序，在此不妨采用递增）数组</a:t>
            </a:r>
            <a:r>
              <a:rPr lang="en-US" altLang="zh-CN" sz="2400" b="1" dirty="0"/>
              <a:t>A[n]</a:t>
            </a:r>
            <a:r>
              <a:rPr lang="zh-CN" altLang="en-US" sz="2400" b="1" dirty="0"/>
              <a:t>中查找元素关键字为</a:t>
            </a:r>
            <a:r>
              <a:rPr lang="en-US" altLang="zh-CN" sz="2400" b="1" dirty="0"/>
              <a:t>x</a:t>
            </a:r>
            <a:r>
              <a:rPr lang="zh-CN" altLang="en-US" sz="2400" b="1" dirty="0"/>
              <a:t>的元素，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 dirty="0"/>
              <a:t>    若查找成功，则返回元素的下标，否则返回</a:t>
            </a:r>
            <a:r>
              <a:rPr lang="en-US" altLang="zh-CN" sz="2400" b="1" dirty="0"/>
              <a:t>-1</a:t>
            </a:r>
            <a:r>
              <a:rPr lang="zh-CN" altLang="en-US" sz="2400" b="1" dirty="0"/>
              <a:t>。</a:t>
            </a:r>
          </a:p>
          <a:p>
            <a:pPr eaLnBrk="1" hangingPunct="1"/>
            <a:endParaRPr lang="zh-CN" altLang="en-US" dirty="0"/>
          </a:p>
          <a:p>
            <a:pPr eaLnBrk="1" hangingPunct="1"/>
            <a:endParaRPr lang="zh-CN" altLang="en-US" dirty="0"/>
          </a:p>
          <a:p>
            <a:pPr eaLnBrk="1" hangingPunct="1">
              <a:lnSpc>
                <a:spcPts val="1200"/>
              </a:lnSpc>
              <a:spcBef>
                <a:spcPts val="0"/>
              </a:spcBef>
            </a:pPr>
            <a:endParaRPr lang="zh-CN" altLang="en-US" dirty="0"/>
          </a:p>
          <a:p>
            <a:pPr eaLnBrk="1" hangingPunct="1">
              <a:buClr>
                <a:srgbClr val="FF0000"/>
              </a:buClr>
            </a:pPr>
            <a:r>
              <a:rPr lang="zh-CN" altLang="en-US" sz="2400" b="1" dirty="0"/>
              <a:t>典型实例：英语词典中查单词。</a:t>
            </a:r>
          </a:p>
          <a:p>
            <a:pPr eaLnBrk="1" hangingPunct="1">
              <a:buClr>
                <a:srgbClr val="FF0000"/>
              </a:buClr>
            </a:pPr>
            <a:r>
              <a:rPr lang="zh-CN" altLang="en-US" sz="2400" b="1" dirty="0"/>
              <a:t>按照什么样的方式查找更好？</a:t>
            </a:r>
          </a:p>
          <a:p>
            <a:pPr lvl="1" eaLnBrk="1" hangingPunct="1">
              <a:buClr>
                <a:srgbClr val="FF0000"/>
              </a:buClr>
            </a:pPr>
            <a:r>
              <a:rPr lang="zh-CN" altLang="en-US" sz="2400" b="1" dirty="0">
                <a:solidFill>
                  <a:srgbClr val="0000FF"/>
                </a:solidFill>
              </a:rPr>
              <a:t>简单顺序查找</a:t>
            </a:r>
          </a:p>
          <a:p>
            <a:pPr lvl="1" eaLnBrk="1" hangingPunct="1">
              <a:buClr>
                <a:srgbClr val="FF0000"/>
              </a:buClr>
            </a:pPr>
            <a:r>
              <a:rPr lang="zh-CN" altLang="en-US" sz="2400" b="1" dirty="0">
                <a:solidFill>
                  <a:srgbClr val="0000FF"/>
                </a:solidFill>
              </a:rPr>
              <a:t>二分查找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16</a:t>
            </a:fld>
            <a:endParaRPr lang="zh-CN" altLang="en-US" dirty="0"/>
          </a:p>
        </p:txBody>
      </p:sp>
      <p:grpSp>
        <p:nvGrpSpPr>
          <p:cNvPr id="35" name="组合 34"/>
          <p:cNvGrpSpPr/>
          <p:nvPr/>
        </p:nvGrpSpPr>
        <p:grpSpPr>
          <a:xfrm>
            <a:off x="1198855" y="3356992"/>
            <a:ext cx="6805016" cy="1008063"/>
            <a:chOff x="1109114" y="2917825"/>
            <a:chExt cx="6805016" cy="1008063"/>
          </a:xfrm>
        </p:grpSpPr>
        <p:grpSp>
          <p:nvGrpSpPr>
            <p:cNvPr id="36" name="Group 5"/>
            <p:cNvGrpSpPr>
              <a:grpSpLocks/>
            </p:cNvGrpSpPr>
            <p:nvPr/>
          </p:nvGrpSpPr>
          <p:grpSpPr bwMode="auto">
            <a:xfrm>
              <a:off x="1504951" y="3349625"/>
              <a:ext cx="6408738" cy="576263"/>
              <a:chOff x="0" y="0"/>
              <a:chExt cx="4037" cy="363"/>
            </a:xfrm>
            <a:solidFill>
              <a:srgbClr val="92D050"/>
            </a:solidFill>
          </p:grpSpPr>
          <p:sp>
            <p:nvSpPr>
              <p:cNvPr id="54" name="Rectangle 6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037" cy="363"/>
              </a:xfrm>
              <a:prstGeom prst="rect">
                <a:avLst/>
              </a:prstGeom>
              <a:grp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 eaLnBrk="1" hangingPunct="1"/>
                <a:endParaRPr lang="zh-CN" altLang="en-US" b="1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</p:txBody>
          </p:sp>
          <p:sp>
            <p:nvSpPr>
              <p:cNvPr id="55" name="Line 7"/>
              <p:cNvSpPr>
                <a:spLocks noChangeShapeType="1"/>
              </p:cNvSpPr>
              <p:nvPr/>
            </p:nvSpPr>
            <p:spPr bwMode="auto">
              <a:xfrm>
                <a:off x="363" y="0"/>
                <a:ext cx="0" cy="363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</p:txBody>
          </p:sp>
          <p:sp>
            <p:nvSpPr>
              <p:cNvPr id="56" name="Line 8"/>
              <p:cNvSpPr>
                <a:spLocks noChangeShapeType="1"/>
              </p:cNvSpPr>
              <p:nvPr/>
            </p:nvSpPr>
            <p:spPr bwMode="auto">
              <a:xfrm>
                <a:off x="726" y="0"/>
                <a:ext cx="0" cy="363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</p:txBody>
          </p:sp>
          <p:sp>
            <p:nvSpPr>
              <p:cNvPr id="57" name="Line 9"/>
              <p:cNvSpPr>
                <a:spLocks noChangeShapeType="1"/>
              </p:cNvSpPr>
              <p:nvPr/>
            </p:nvSpPr>
            <p:spPr bwMode="auto">
              <a:xfrm>
                <a:off x="1089" y="0"/>
                <a:ext cx="0" cy="363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</p:txBody>
          </p:sp>
          <p:sp>
            <p:nvSpPr>
              <p:cNvPr id="58" name="Line 10"/>
              <p:cNvSpPr>
                <a:spLocks noChangeShapeType="1"/>
              </p:cNvSpPr>
              <p:nvPr/>
            </p:nvSpPr>
            <p:spPr bwMode="auto">
              <a:xfrm>
                <a:off x="1452" y="0"/>
                <a:ext cx="0" cy="363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</p:txBody>
          </p:sp>
          <p:sp>
            <p:nvSpPr>
              <p:cNvPr id="59" name="Line 11"/>
              <p:cNvSpPr>
                <a:spLocks noChangeShapeType="1"/>
              </p:cNvSpPr>
              <p:nvPr/>
            </p:nvSpPr>
            <p:spPr bwMode="auto">
              <a:xfrm>
                <a:off x="1815" y="0"/>
                <a:ext cx="0" cy="363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</p:txBody>
          </p:sp>
          <p:sp>
            <p:nvSpPr>
              <p:cNvPr id="60" name="Line 12"/>
              <p:cNvSpPr>
                <a:spLocks noChangeShapeType="1"/>
              </p:cNvSpPr>
              <p:nvPr/>
            </p:nvSpPr>
            <p:spPr bwMode="auto">
              <a:xfrm>
                <a:off x="2178" y="0"/>
                <a:ext cx="0" cy="363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</p:txBody>
          </p:sp>
          <p:sp>
            <p:nvSpPr>
              <p:cNvPr id="61" name="Line 13"/>
              <p:cNvSpPr>
                <a:spLocks noChangeShapeType="1"/>
              </p:cNvSpPr>
              <p:nvPr/>
            </p:nvSpPr>
            <p:spPr bwMode="auto">
              <a:xfrm>
                <a:off x="2541" y="0"/>
                <a:ext cx="0" cy="363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</p:txBody>
          </p:sp>
          <p:sp>
            <p:nvSpPr>
              <p:cNvPr id="62" name="Line 14"/>
              <p:cNvSpPr>
                <a:spLocks noChangeShapeType="1"/>
              </p:cNvSpPr>
              <p:nvPr/>
            </p:nvSpPr>
            <p:spPr bwMode="auto">
              <a:xfrm>
                <a:off x="2903" y="0"/>
                <a:ext cx="0" cy="363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</p:txBody>
          </p:sp>
          <p:sp>
            <p:nvSpPr>
              <p:cNvPr id="63" name="Line 15"/>
              <p:cNvSpPr>
                <a:spLocks noChangeShapeType="1"/>
              </p:cNvSpPr>
              <p:nvPr/>
            </p:nvSpPr>
            <p:spPr bwMode="auto">
              <a:xfrm>
                <a:off x="3312" y="0"/>
                <a:ext cx="0" cy="363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</p:txBody>
          </p:sp>
          <p:sp>
            <p:nvSpPr>
              <p:cNvPr id="64" name="Line 16"/>
              <p:cNvSpPr>
                <a:spLocks noChangeShapeType="1"/>
              </p:cNvSpPr>
              <p:nvPr/>
            </p:nvSpPr>
            <p:spPr bwMode="auto">
              <a:xfrm>
                <a:off x="3675" y="0"/>
                <a:ext cx="0" cy="363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</p:txBody>
          </p:sp>
        </p:grpSp>
        <p:sp>
          <p:nvSpPr>
            <p:cNvPr id="37" name="Text Box 17"/>
            <p:cNvSpPr txBox="1">
              <a:spLocks noChangeArrowheads="1"/>
            </p:cNvSpPr>
            <p:nvPr/>
          </p:nvSpPr>
          <p:spPr bwMode="auto">
            <a:xfrm>
              <a:off x="1109114" y="3367332"/>
              <a:ext cx="40748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38" name="Text Box 18"/>
            <p:cNvSpPr txBox="1">
              <a:spLocks noChangeArrowheads="1"/>
            </p:cNvSpPr>
            <p:nvPr/>
          </p:nvSpPr>
          <p:spPr bwMode="auto">
            <a:xfrm>
              <a:off x="1649413" y="2917825"/>
              <a:ext cx="31130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39" name="Text Box 19"/>
            <p:cNvSpPr txBox="1">
              <a:spLocks noChangeArrowheads="1"/>
            </p:cNvSpPr>
            <p:nvPr/>
          </p:nvSpPr>
          <p:spPr bwMode="auto">
            <a:xfrm>
              <a:off x="2152651" y="2917825"/>
              <a:ext cx="31130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40" name="Text Box 20"/>
            <p:cNvSpPr txBox="1">
              <a:spLocks noChangeArrowheads="1"/>
            </p:cNvSpPr>
            <p:nvPr/>
          </p:nvSpPr>
          <p:spPr bwMode="auto">
            <a:xfrm>
              <a:off x="2800351" y="2917825"/>
              <a:ext cx="31130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41" name="Text Box 21"/>
            <p:cNvSpPr txBox="1">
              <a:spLocks noChangeArrowheads="1"/>
            </p:cNvSpPr>
            <p:nvPr/>
          </p:nvSpPr>
          <p:spPr bwMode="auto">
            <a:xfrm>
              <a:off x="3376613" y="2917825"/>
              <a:ext cx="31130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42" name="Text Box 22"/>
            <p:cNvSpPr txBox="1">
              <a:spLocks noChangeArrowheads="1"/>
            </p:cNvSpPr>
            <p:nvPr/>
          </p:nvSpPr>
          <p:spPr bwMode="auto">
            <a:xfrm>
              <a:off x="3952876" y="2917825"/>
              <a:ext cx="31130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43" name="Text Box 23"/>
            <p:cNvSpPr txBox="1">
              <a:spLocks noChangeArrowheads="1"/>
            </p:cNvSpPr>
            <p:nvPr/>
          </p:nvSpPr>
          <p:spPr bwMode="auto">
            <a:xfrm>
              <a:off x="5608638" y="2917825"/>
              <a:ext cx="24878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</a:p>
          </p:txBody>
        </p:sp>
        <p:sp>
          <p:nvSpPr>
            <p:cNvPr id="44" name="Text Box 24"/>
            <p:cNvSpPr txBox="1">
              <a:spLocks noChangeArrowheads="1"/>
            </p:cNvSpPr>
            <p:nvPr/>
          </p:nvSpPr>
          <p:spPr bwMode="auto">
            <a:xfrm>
              <a:off x="7408863" y="2917825"/>
              <a:ext cx="50526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n-1</a:t>
              </a:r>
            </a:p>
          </p:txBody>
        </p:sp>
        <p:sp>
          <p:nvSpPr>
            <p:cNvPr id="45" name="Text Box 25"/>
            <p:cNvSpPr txBox="1">
              <a:spLocks noChangeArrowheads="1"/>
            </p:cNvSpPr>
            <p:nvPr/>
          </p:nvSpPr>
          <p:spPr bwMode="auto">
            <a:xfrm>
              <a:off x="4673601" y="2917825"/>
              <a:ext cx="6413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……</a:t>
              </a:r>
            </a:p>
          </p:txBody>
        </p:sp>
        <p:sp>
          <p:nvSpPr>
            <p:cNvPr id="46" name="Text Box 26"/>
            <p:cNvSpPr txBox="1">
              <a:spLocks noChangeArrowheads="1"/>
            </p:cNvSpPr>
            <p:nvPr/>
          </p:nvSpPr>
          <p:spPr bwMode="auto">
            <a:xfrm>
              <a:off x="6400801" y="2917825"/>
              <a:ext cx="6413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……</a:t>
              </a:r>
            </a:p>
          </p:txBody>
        </p:sp>
        <p:sp>
          <p:nvSpPr>
            <p:cNvPr id="47" name="Text Box 27"/>
            <p:cNvSpPr txBox="1">
              <a:spLocks noChangeArrowheads="1"/>
            </p:cNvSpPr>
            <p:nvPr/>
          </p:nvSpPr>
          <p:spPr bwMode="auto">
            <a:xfrm>
              <a:off x="1547664" y="3390926"/>
              <a:ext cx="44114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sz="2400" b="1" i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8" name="Text Box 27"/>
            <p:cNvSpPr txBox="1">
              <a:spLocks noChangeArrowheads="1"/>
            </p:cNvSpPr>
            <p:nvPr/>
          </p:nvSpPr>
          <p:spPr bwMode="auto">
            <a:xfrm>
              <a:off x="2139802" y="3396373"/>
              <a:ext cx="44114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sz="2400" b="1" i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49" name="Text Box 27"/>
            <p:cNvSpPr txBox="1">
              <a:spLocks noChangeArrowheads="1"/>
            </p:cNvSpPr>
            <p:nvPr/>
          </p:nvSpPr>
          <p:spPr bwMode="auto">
            <a:xfrm>
              <a:off x="2721157" y="3373011"/>
              <a:ext cx="44114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sz="2400" b="1" i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50" name="Text Box 27"/>
            <p:cNvSpPr txBox="1">
              <a:spLocks noChangeArrowheads="1"/>
            </p:cNvSpPr>
            <p:nvPr/>
          </p:nvSpPr>
          <p:spPr bwMode="auto">
            <a:xfrm>
              <a:off x="3305176" y="3360041"/>
              <a:ext cx="44114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sz="2400" b="1" i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51" name="Text Box 27"/>
            <p:cNvSpPr txBox="1">
              <a:spLocks noChangeArrowheads="1"/>
            </p:cNvSpPr>
            <p:nvPr/>
          </p:nvSpPr>
          <p:spPr bwMode="auto">
            <a:xfrm>
              <a:off x="3869622" y="3360041"/>
              <a:ext cx="44114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sz="2400" b="1" i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52" name="Text Box 27"/>
            <p:cNvSpPr txBox="1">
              <a:spLocks noChangeArrowheads="1"/>
            </p:cNvSpPr>
            <p:nvPr/>
          </p:nvSpPr>
          <p:spPr bwMode="auto">
            <a:xfrm>
              <a:off x="5602470" y="3388667"/>
              <a:ext cx="56778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sz="2400" b="1" i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i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-1</a:t>
              </a:r>
            </a:p>
          </p:txBody>
        </p:sp>
        <p:sp>
          <p:nvSpPr>
            <p:cNvPr id="53" name="Text Box 27"/>
            <p:cNvSpPr txBox="1">
              <a:spLocks noChangeArrowheads="1"/>
            </p:cNvSpPr>
            <p:nvPr/>
          </p:nvSpPr>
          <p:spPr bwMode="auto">
            <a:xfrm>
              <a:off x="7355249" y="3360041"/>
              <a:ext cx="45236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sz="2400" b="1" i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n</a:t>
              </a:r>
              <a:endParaRPr lang="en-US" altLang="zh-CN" sz="2400" b="1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0" name="组合 69"/>
          <p:cNvGrpSpPr/>
          <p:nvPr/>
        </p:nvGrpSpPr>
        <p:grpSpPr>
          <a:xfrm>
            <a:off x="-890841" y="72640"/>
            <a:ext cx="8271153" cy="665363"/>
            <a:chOff x="-594808" y="1867387"/>
            <a:chExt cx="8913447" cy="707532"/>
          </a:xfrm>
        </p:grpSpPr>
        <p:grpSp>
          <p:nvGrpSpPr>
            <p:cNvPr id="71" name="组合 70"/>
            <p:cNvGrpSpPr/>
            <p:nvPr/>
          </p:nvGrpSpPr>
          <p:grpSpPr>
            <a:xfrm>
              <a:off x="-594808" y="1867387"/>
              <a:ext cx="8913447" cy="707532"/>
              <a:chOff x="-635833" y="1327471"/>
              <a:chExt cx="8913447" cy="707532"/>
            </a:xfrm>
          </p:grpSpPr>
          <p:sp>
            <p:nvSpPr>
              <p:cNvPr id="73" name="TextBox 6"/>
              <p:cNvSpPr txBox="1">
                <a:spLocks noChangeArrowheads="1"/>
              </p:cNvSpPr>
              <p:nvPr/>
            </p:nvSpPr>
            <p:spPr bwMode="auto">
              <a:xfrm>
                <a:off x="-635833" y="1347734"/>
                <a:ext cx="8913447" cy="687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10.2 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顺序表的查找</a:t>
                </a:r>
              </a:p>
            </p:txBody>
          </p:sp>
          <p:sp>
            <p:nvSpPr>
              <p:cNvPr id="74" name="Freeform 5"/>
              <p:cNvSpPr>
                <a:spLocks/>
              </p:cNvSpPr>
              <p:nvPr/>
            </p:nvSpPr>
            <p:spPr bwMode="auto">
              <a:xfrm>
                <a:off x="958665" y="1327471"/>
                <a:ext cx="842977" cy="683003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FFFF66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</p:grpSp>
        <p:pic>
          <p:nvPicPr>
            <p:cNvPr id="72" name="图片 7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89825" y="2023053"/>
              <a:ext cx="495511" cy="4238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23639882"/>
      </p:ext>
    </p:extLst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5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53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/>
      <p:bldP spid="15363" grpId="0" uiExpand="1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0606" y="1412777"/>
            <a:ext cx="8208962" cy="511175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000" b="1" dirty="0"/>
              <a:t>查找方法描述</a:t>
            </a:r>
            <a:r>
              <a:rPr lang="zh-CN" altLang="en-US" sz="2000" dirty="0"/>
              <a:t>：</a:t>
            </a:r>
          </a:p>
          <a:p>
            <a:pPr lvl="1" eaLnBrk="1" hangingPunct="1">
              <a:lnSpc>
                <a:spcPct val="90000"/>
              </a:lnSpc>
            </a:pPr>
            <a:endParaRPr lang="zh-CN" altLang="en-US" sz="2000" dirty="0"/>
          </a:p>
          <a:p>
            <a:pPr lvl="1" eaLnBrk="1" hangingPunct="1">
              <a:lnSpc>
                <a:spcPct val="90000"/>
              </a:lnSpc>
            </a:pPr>
            <a:endParaRPr lang="zh-CN" altLang="en-US" sz="2000" dirty="0"/>
          </a:p>
          <a:p>
            <a:pPr lvl="1" eaLnBrk="1" hangingPunct="1">
              <a:lnSpc>
                <a:spcPct val="90000"/>
              </a:lnSpc>
            </a:pPr>
            <a:endParaRPr lang="zh-CN" altLang="en-US" sz="2000" dirty="0"/>
          </a:p>
          <a:p>
            <a:pPr lvl="1" eaLnBrk="1" hangingPunct="1">
              <a:lnSpc>
                <a:spcPct val="90000"/>
              </a:lnSpc>
            </a:pPr>
            <a:endParaRPr lang="zh-CN" altLang="en-US" sz="2000" dirty="0"/>
          </a:p>
          <a:p>
            <a:pPr lvl="1" eaLnBrk="1" hangingPunct="1">
              <a:lnSpc>
                <a:spcPct val="90000"/>
              </a:lnSpc>
              <a:buClr>
                <a:srgbClr val="FF0000"/>
              </a:buClr>
            </a:pPr>
            <a:r>
              <a:rPr lang="zh-CN" altLang="en-US" sz="2000" dirty="0"/>
              <a:t>设查找区域的首尾下标分别为</a:t>
            </a:r>
            <a:r>
              <a:rPr lang="en-US" altLang="zh-CN" sz="2000" dirty="0"/>
              <a:t>low</a:t>
            </a:r>
            <a:r>
              <a:rPr lang="zh-CN" altLang="en-US" sz="2000" dirty="0"/>
              <a:t>和</a:t>
            </a:r>
            <a:r>
              <a:rPr lang="en-US" altLang="zh-CN" sz="2000" dirty="0"/>
              <a:t>high</a:t>
            </a:r>
            <a:r>
              <a:rPr lang="zh-CN" altLang="en-US" sz="2000" dirty="0"/>
              <a:t>（初值分别为</a:t>
            </a:r>
            <a:r>
              <a:rPr lang="en-US" altLang="zh-CN" sz="2000" dirty="0"/>
              <a:t>0</a:t>
            </a:r>
            <a:r>
              <a:rPr lang="zh-CN" altLang="en-US" sz="2000" dirty="0"/>
              <a:t>和</a:t>
            </a:r>
            <a:r>
              <a:rPr lang="en-US" altLang="zh-CN" sz="2000" dirty="0"/>
              <a:t>n-1</a:t>
            </a:r>
            <a:r>
              <a:rPr lang="zh-CN" altLang="en-US" sz="2000" dirty="0"/>
              <a:t>，</a:t>
            </a:r>
          </a:p>
          <a:p>
            <a:pPr lvl="1" eaLnBrk="1" hangingPunct="1">
              <a:lnSpc>
                <a:spcPct val="90000"/>
              </a:lnSpc>
              <a:buClr>
                <a:srgbClr val="FF0000"/>
              </a:buClr>
            </a:pPr>
            <a:r>
              <a:rPr lang="zh-CN" altLang="en-US" sz="2000" dirty="0"/>
              <a:t>取待查关键字</a:t>
            </a:r>
            <a:r>
              <a:rPr lang="en-US" altLang="zh-CN" sz="2000" dirty="0"/>
              <a:t>x</a:t>
            </a:r>
            <a:r>
              <a:rPr lang="zh-CN" altLang="en-US" sz="2000" dirty="0"/>
              <a:t>和区域的中间元素 </a:t>
            </a:r>
            <a:r>
              <a:rPr lang="en-US" altLang="zh-CN" sz="2000" dirty="0"/>
              <a:t>(</a:t>
            </a:r>
            <a:r>
              <a:rPr lang="zh-CN" altLang="en-US" sz="2000" dirty="0"/>
              <a:t>其下标</a:t>
            </a:r>
            <a:r>
              <a:rPr lang="en-US" altLang="zh-CN" sz="2000" dirty="0"/>
              <a:t>mid=(</a:t>
            </a:r>
            <a:r>
              <a:rPr lang="en-US" altLang="zh-CN" sz="2000" dirty="0" err="1"/>
              <a:t>low+high</a:t>
            </a:r>
            <a:r>
              <a:rPr lang="en-US" altLang="zh-CN" sz="2000" dirty="0"/>
              <a:t>)/2) </a:t>
            </a:r>
            <a:r>
              <a:rPr lang="zh-CN" altLang="en-US" sz="2000" dirty="0"/>
              <a:t>的关键字进行比较，并根据比较的结果分别作相应的处理：</a:t>
            </a:r>
          </a:p>
          <a:p>
            <a:pPr marL="914400" lvl="2" indent="0" eaLnBrk="1" hangingPunct="1">
              <a:lnSpc>
                <a:spcPct val="90000"/>
              </a:lnSpc>
              <a:buNone/>
            </a:pPr>
            <a:r>
              <a:rPr lang="en-US" altLang="zh-CN" sz="2000" dirty="0"/>
              <a:t>(1) x==A[mid].key: </a:t>
            </a:r>
            <a:r>
              <a:rPr lang="zh-CN" altLang="en-US" sz="2000" dirty="0"/>
              <a:t>查找成功，返回</a:t>
            </a:r>
            <a:r>
              <a:rPr lang="en-US" altLang="zh-CN" sz="2000" dirty="0"/>
              <a:t>mid</a:t>
            </a:r>
            <a:r>
              <a:rPr lang="zh-CN" altLang="en-US" sz="2000" dirty="0"/>
              <a:t>的值。</a:t>
            </a:r>
          </a:p>
          <a:p>
            <a:pPr marL="914400" lvl="2" indent="0" eaLnBrk="1" hangingPunct="1">
              <a:lnSpc>
                <a:spcPct val="90000"/>
              </a:lnSpc>
              <a:buNone/>
            </a:pPr>
            <a:r>
              <a:rPr lang="en-US" altLang="zh-CN" sz="2000" dirty="0"/>
              <a:t>(2) x&lt;A[mid].key: </a:t>
            </a:r>
            <a:r>
              <a:rPr lang="zh-CN" altLang="en-US" sz="2000" dirty="0"/>
              <a:t>说明待查元素只可能在左边区域</a:t>
            </a: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dirty="0"/>
              <a:t>      下标区域：</a:t>
            </a:r>
            <a:r>
              <a:rPr lang="en-US" altLang="zh-CN" sz="2000" dirty="0"/>
              <a:t>low~mid-1)</a:t>
            </a:r>
            <a:r>
              <a:rPr lang="zh-CN" altLang="en-US" sz="2000" dirty="0"/>
              <a:t>。因此，应在此区域继续查找。</a:t>
            </a:r>
          </a:p>
          <a:p>
            <a:pPr marL="914400" lvl="2" indent="0" eaLnBrk="1" hangingPunct="1">
              <a:lnSpc>
                <a:spcPct val="90000"/>
              </a:lnSpc>
              <a:buNone/>
            </a:pPr>
            <a:r>
              <a:rPr lang="en-US" altLang="zh-CN" sz="2000" dirty="0"/>
              <a:t>(3) x&gt;A[mid].key: </a:t>
            </a:r>
            <a:r>
              <a:rPr lang="zh-CN" altLang="en-US" sz="2000" dirty="0"/>
              <a:t>说明待查元素只可能在右边区域</a:t>
            </a: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dirty="0"/>
              <a:t>     下标：</a:t>
            </a:r>
            <a:r>
              <a:rPr lang="en-US" altLang="zh-CN" sz="2000" dirty="0"/>
              <a:t>mid+1~high) </a:t>
            </a:r>
            <a:r>
              <a:rPr lang="zh-CN" altLang="en-US" sz="2000" dirty="0"/>
              <a:t>。因此，应在此区域继续查找。</a:t>
            </a:r>
          </a:p>
          <a:p>
            <a:pPr lvl="1" eaLnBrk="1" hangingPunct="1">
              <a:lnSpc>
                <a:spcPct val="90000"/>
              </a:lnSpc>
              <a:buClr>
                <a:srgbClr val="FF0000"/>
              </a:buClr>
            </a:pPr>
            <a:r>
              <a:rPr lang="zh-CN" altLang="en-US" sz="2000" dirty="0"/>
              <a:t>若表中存在所要查找的元素，则经上述若干次后，即可找到。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dirty="0"/>
              <a:t>问题是：如果不存在指定的元素，如何能判断出来？ </a:t>
            </a:r>
          </a:p>
        </p:txBody>
      </p:sp>
      <p:sp>
        <p:nvSpPr>
          <p:cNvPr id="16418" name="Line 34"/>
          <p:cNvSpPr>
            <a:spLocks noChangeShapeType="1"/>
          </p:cNvSpPr>
          <p:nvPr/>
        </p:nvSpPr>
        <p:spPr bwMode="auto">
          <a:xfrm flipV="1">
            <a:off x="8745537" y="2521248"/>
            <a:ext cx="0" cy="504825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19" name="Text Box 35"/>
          <p:cNvSpPr txBox="1">
            <a:spLocks noChangeArrowheads="1"/>
          </p:cNvSpPr>
          <p:nvPr/>
        </p:nvSpPr>
        <p:spPr bwMode="auto">
          <a:xfrm>
            <a:off x="8158316" y="2773660"/>
            <a:ext cx="863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high</a:t>
            </a:r>
          </a:p>
        </p:txBody>
      </p:sp>
      <p:sp>
        <p:nvSpPr>
          <p:cNvPr id="16420" name="Line 36"/>
          <p:cNvSpPr>
            <a:spLocks noChangeShapeType="1"/>
          </p:cNvSpPr>
          <p:nvPr/>
        </p:nvSpPr>
        <p:spPr bwMode="auto">
          <a:xfrm flipV="1">
            <a:off x="2988965" y="2564904"/>
            <a:ext cx="0" cy="504825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21" name="Text Box 37"/>
          <p:cNvSpPr txBox="1">
            <a:spLocks noChangeArrowheads="1"/>
          </p:cNvSpPr>
          <p:nvPr/>
        </p:nvSpPr>
        <p:spPr bwMode="auto">
          <a:xfrm>
            <a:off x="2987179" y="2774256"/>
            <a:ext cx="7207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low</a:t>
            </a:r>
          </a:p>
        </p:txBody>
      </p:sp>
      <p:sp>
        <p:nvSpPr>
          <p:cNvPr id="16422" name="Line 38"/>
          <p:cNvSpPr>
            <a:spLocks noChangeShapeType="1"/>
          </p:cNvSpPr>
          <p:nvPr/>
        </p:nvSpPr>
        <p:spPr bwMode="auto">
          <a:xfrm flipV="1">
            <a:off x="5292427" y="2563317"/>
            <a:ext cx="0" cy="504825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23" name="Text Box 39"/>
          <p:cNvSpPr txBox="1">
            <a:spLocks noChangeArrowheads="1"/>
          </p:cNvSpPr>
          <p:nvPr/>
        </p:nvSpPr>
        <p:spPr bwMode="auto">
          <a:xfrm>
            <a:off x="5292452" y="2779217"/>
            <a:ext cx="6477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mid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17</a:t>
            </a:fld>
            <a:endParaRPr lang="zh-CN" altLang="en-US" dirty="0"/>
          </a:p>
        </p:txBody>
      </p:sp>
      <p:sp>
        <p:nvSpPr>
          <p:cNvPr id="42" name="Rectangle 2"/>
          <p:cNvSpPr>
            <a:spLocks noGrp="1" noChangeArrowheads="1"/>
          </p:cNvSpPr>
          <p:nvPr>
            <p:ph type="title"/>
          </p:nvPr>
        </p:nvSpPr>
        <p:spPr>
          <a:xfrm>
            <a:off x="402284" y="692696"/>
            <a:ext cx="8001000" cy="711200"/>
          </a:xfrm>
        </p:spPr>
        <p:txBody>
          <a:bodyPr>
            <a:normAutofit/>
          </a:bodyPr>
          <a:lstStyle/>
          <a:p>
            <a:pPr marL="342900" indent="-342900" eaLnBrk="1" hangingPunct="1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800" dirty="0">
                <a:latin typeface="Times New Roman" pitchFamily="18" charset="0"/>
                <a:ea typeface="仿宋" pitchFamily="49" charset="-122"/>
                <a:cs typeface="+mn-cs"/>
              </a:rPr>
              <a:t>10.2.2 </a:t>
            </a:r>
            <a:r>
              <a:rPr lang="zh-CN" altLang="en-US" sz="2800" dirty="0">
                <a:latin typeface="Times New Roman" pitchFamily="18" charset="0"/>
                <a:ea typeface="仿宋" pitchFamily="49" charset="-122"/>
                <a:cs typeface="+mn-cs"/>
              </a:rPr>
              <a:t>有序表的查找</a:t>
            </a:r>
            <a:r>
              <a:rPr lang="en-US" altLang="zh-CN" sz="2800" dirty="0">
                <a:latin typeface="Times New Roman" pitchFamily="18" charset="0"/>
                <a:ea typeface="仿宋" pitchFamily="49" charset="-122"/>
                <a:cs typeface="+mn-cs"/>
              </a:rPr>
              <a:t>——</a:t>
            </a:r>
            <a:r>
              <a:rPr lang="zh-CN" altLang="en-US" sz="2800" dirty="0">
                <a:latin typeface="Times New Roman" pitchFamily="18" charset="0"/>
                <a:ea typeface="仿宋" pitchFamily="49" charset="-122"/>
                <a:cs typeface="+mn-cs"/>
              </a:rPr>
              <a:t>二分查找</a:t>
            </a:r>
          </a:p>
        </p:txBody>
      </p:sp>
      <p:grpSp>
        <p:nvGrpSpPr>
          <p:cNvPr id="48" name="组合 47"/>
          <p:cNvGrpSpPr/>
          <p:nvPr/>
        </p:nvGrpSpPr>
        <p:grpSpPr>
          <a:xfrm>
            <a:off x="2225279" y="1534857"/>
            <a:ext cx="6805016" cy="1008063"/>
            <a:chOff x="1109114" y="2917825"/>
            <a:chExt cx="6805016" cy="1008063"/>
          </a:xfrm>
        </p:grpSpPr>
        <p:grpSp>
          <p:nvGrpSpPr>
            <p:cNvPr id="49" name="Group 5"/>
            <p:cNvGrpSpPr>
              <a:grpSpLocks/>
            </p:cNvGrpSpPr>
            <p:nvPr/>
          </p:nvGrpSpPr>
          <p:grpSpPr bwMode="auto">
            <a:xfrm>
              <a:off x="1504951" y="3349625"/>
              <a:ext cx="6408738" cy="576263"/>
              <a:chOff x="0" y="0"/>
              <a:chExt cx="4037" cy="363"/>
            </a:xfrm>
            <a:solidFill>
              <a:srgbClr val="92D050"/>
            </a:solidFill>
          </p:grpSpPr>
          <p:sp>
            <p:nvSpPr>
              <p:cNvPr id="67" name="Rectangle 6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037" cy="363"/>
              </a:xfrm>
              <a:prstGeom prst="rect">
                <a:avLst/>
              </a:prstGeom>
              <a:grp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 eaLnBrk="1" hangingPunct="1"/>
                <a:endParaRPr lang="zh-CN" altLang="en-US" b="1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</p:txBody>
          </p:sp>
          <p:sp>
            <p:nvSpPr>
              <p:cNvPr id="68" name="Line 7"/>
              <p:cNvSpPr>
                <a:spLocks noChangeShapeType="1"/>
              </p:cNvSpPr>
              <p:nvPr/>
            </p:nvSpPr>
            <p:spPr bwMode="auto">
              <a:xfrm>
                <a:off x="363" y="0"/>
                <a:ext cx="0" cy="363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</p:txBody>
          </p:sp>
          <p:sp>
            <p:nvSpPr>
              <p:cNvPr id="69" name="Line 8"/>
              <p:cNvSpPr>
                <a:spLocks noChangeShapeType="1"/>
              </p:cNvSpPr>
              <p:nvPr/>
            </p:nvSpPr>
            <p:spPr bwMode="auto">
              <a:xfrm>
                <a:off x="726" y="0"/>
                <a:ext cx="0" cy="363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</p:txBody>
          </p:sp>
          <p:sp>
            <p:nvSpPr>
              <p:cNvPr id="70" name="Line 9"/>
              <p:cNvSpPr>
                <a:spLocks noChangeShapeType="1"/>
              </p:cNvSpPr>
              <p:nvPr/>
            </p:nvSpPr>
            <p:spPr bwMode="auto">
              <a:xfrm>
                <a:off x="1089" y="0"/>
                <a:ext cx="0" cy="363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</p:txBody>
          </p:sp>
          <p:sp>
            <p:nvSpPr>
              <p:cNvPr id="71" name="Line 10"/>
              <p:cNvSpPr>
                <a:spLocks noChangeShapeType="1"/>
              </p:cNvSpPr>
              <p:nvPr/>
            </p:nvSpPr>
            <p:spPr bwMode="auto">
              <a:xfrm>
                <a:off x="1452" y="0"/>
                <a:ext cx="0" cy="363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</p:txBody>
          </p:sp>
          <p:sp>
            <p:nvSpPr>
              <p:cNvPr id="72" name="Line 11"/>
              <p:cNvSpPr>
                <a:spLocks noChangeShapeType="1"/>
              </p:cNvSpPr>
              <p:nvPr/>
            </p:nvSpPr>
            <p:spPr bwMode="auto">
              <a:xfrm>
                <a:off x="1815" y="0"/>
                <a:ext cx="0" cy="363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</p:txBody>
          </p:sp>
          <p:sp>
            <p:nvSpPr>
              <p:cNvPr id="73" name="Line 12"/>
              <p:cNvSpPr>
                <a:spLocks noChangeShapeType="1"/>
              </p:cNvSpPr>
              <p:nvPr/>
            </p:nvSpPr>
            <p:spPr bwMode="auto">
              <a:xfrm>
                <a:off x="2178" y="0"/>
                <a:ext cx="0" cy="363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</p:txBody>
          </p:sp>
          <p:sp>
            <p:nvSpPr>
              <p:cNvPr id="74" name="Line 13"/>
              <p:cNvSpPr>
                <a:spLocks noChangeShapeType="1"/>
              </p:cNvSpPr>
              <p:nvPr/>
            </p:nvSpPr>
            <p:spPr bwMode="auto">
              <a:xfrm>
                <a:off x="2541" y="0"/>
                <a:ext cx="0" cy="363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</p:txBody>
          </p:sp>
          <p:sp>
            <p:nvSpPr>
              <p:cNvPr id="75" name="Line 14"/>
              <p:cNvSpPr>
                <a:spLocks noChangeShapeType="1"/>
              </p:cNvSpPr>
              <p:nvPr/>
            </p:nvSpPr>
            <p:spPr bwMode="auto">
              <a:xfrm>
                <a:off x="2903" y="0"/>
                <a:ext cx="0" cy="363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</p:txBody>
          </p:sp>
          <p:sp>
            <p:nvSpPr>
              <p:cNvPr id="76" name="Line 15"/>
              <p:cNvSpPr>
                <a:spLocks noChangeShapeType="1"/>
              </p:cNvSpPr>
              <p:nvPr/>
            </p:nvSpPr>
            <p:spPr bwMode="auto">
              <a:xfrm>
                <a:off x="3312" y="0"/>
                <a:ext cx="0" cy="363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</p:txBody>
          </p:sp>
          <p:sp>
            <p:nvSpPr>
              <p:cNvPr id="77" name="Line 16"/>
              <p:cNvSpPr>
                <a:spLocks noChangeShapeType="1"/>
              </p:cNvSpPr>
              <p:nvPr/>
            </p:nvSpPr>
            <p:spPr bwMode="auto">
              <a:xfrm>
                <a:off x="3675" y="0"/>
                <a:ext cx="0" cy="363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</p:txBody>
          </p:sp>
        </p:grpSp>
        <p:sp>
          <p:nvSpPr>
            <p:cNvPr id="50" name="Text Box 17"/>
            <p:cNvSpPr txBox="1">
              <a:spLocks noChangeArrowheads="1"/>
            </p:cNvSpPr>
            <p:nvPr/>
          </p:nvSpPr>
          <p:spPr bwMode="auto">
            <a:xfrm>
              <a:off x="1109114" y="3367332"/>
              <a:ext cx="40748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51" name="Text Box 18"/>
            <p:cNvSpPr txBox="1">
              <a:spLocks noChangeArrowheads="1"/>
            </p:cNvSpPr>
            <p:nvPr/>
          </p:nvSpPr>
          <p:spPr bwMode="auto">
            <a:xfrm>
              <a:off x="1649413" y="2917825"/>
              <a:ext cx="31130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52" name="Text Box 19"/>
            <p:cNvSpPr txBox="1">
              <a:spLocks noChangeArrowheads="1"/>
            </p:cNvSpPr>
            <p:nvPr/>
          </p:nvSpPr>
          <p:spPr bwMode="auto">
            <a:xfrm>
              <a:off x="2152651" y="2917825"/>
              <a:ext cx="31130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53" name="Text Box 20"/>
            <p:cNvSpPr txBox="1">
              <a:spLocks noChangeArrowheads="1"/>
            </p:cNvSpPr>
            <p:nvPr/>
          </p:nvSpPr>
          <p:spPr bwMode="auto">
            <a:xfrm>
              <a:off x="2800351" y="2917825"/>
              <a:ext cx="31130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54" name="Text Box 21"/>
            <p:cNvSpPr txBox="1">
              <a:spLocks noChangeArrowheads="1"/>
            </p:cNvSpPr>
            <p:nvPr/>
          </p:nvSpPr>
          <p:spPr bwMode="auto">
            <a:xfrm>
              <a:off x="3376613" y="2917825"/>
              <a:ext cx="31130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55" name="Text Box 22"/>
            <p:cNvSpPr txBox="1">
              <a:spLocks noChangeArrowheads="1"/>
            </p:cNvSpPr>
            <p:nvPr/>
          </p:nvSpPr>
          <p:spPr bwMode="auto">
            <a:xfrm>
              <a:off x="3952876" y="2917825"/>
              <a:ext cx="31130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56" name="Text Box 23"/>
            <p:cNvSpPr txBox="1">
              <a:spLocks noChangeArrowheads="1"/>
            </p:cNvSpPr>
            <p:nvPr/>
          </p:nvSpPr>
          <p:spPr bwMode="auto">
            <a:xfrm>
              <a:off x="5608638" y="2917825"/>
              <a:ext cx="24878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</a:p>
          </p:txBody>
        </p:sp>
        <p:sp>
          <p:nvSpPr>
            <p:cNvPr id="57" name="Text Box 24"/>
            <p:cNvSpPr txBox="1">
              <a:spLocks noChangeArrowheads="1"/>
            </p:cNvSpPr>
            <p:nvPr/>
          </p:nvSpPr>
          <p:spPr bwMode="auto">
            <a:xfrm>
              <a:off x="7408863" y="2917825"/>
              <a:ext cx="50526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n-1</a:t>
              </a:r>
            </a:p>
          </p:txBody>
        </p:sp>
        <p:sp>
          <p:nvSpPr>
            <p:cNvPr id="58" name="Text Box 25"/>
            <p:cNvSpPr txBox="1">
              <a:spLocks noChangeArrowheads="1"/>
            </p:cNvSpPr>
            <p:nvPr/>
          </p:nvSpPr>
          <p:spPr bwMode="auto">
            <a:xfrm>
              <a:off x="4673601" y="2917825"/>
              <a:ext cx="6413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……</a:t>
              </a:r>
            </a:p>
          </p:txBody>
        </p:sp>
        <p:sp>
          <p:nvSpPr>
            <p:cNvPr id="59" name="Text Box 26"/>
            <p:cNvSpPr txBox="1">
              <a:spLocks noChangeArrowheads="1"/>
            </p:cNvSpPr>
            <p:nvPr/>
          </p:nvSpPr>
          <p:spPr bwMode="auto">
            <a:xfrm>
              <a:off x="6400801" y="2917825"/>
              <a:ext cx="6413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……</a:t>
              </a:r>
            </a:p>
          </p:txBody>
        </p:sp>
        <p:sp>
          <p:nvSpPr>
            <p:cNvPr id="60" name="Text Box 27"/>
            <p:cNvSpPr txBox="1">
              <a:spLocks noChangeArrowheads="1"/>
            </p:cNvSpPr>
            <p:nvPr/>
          </p:nvSpPr>
          <p:spPr bwMode="auto">
            <a:xfrm>
              <a:off x="1547664" y="3390926"/>
              <a:ext cx="44114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sz="2400" b="1" i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61" name="Text Box 27"/>
            <p:cNvSpPr txBox="1">
              <a:spLocks noChangeArrowheads="1"/>
            </p:cNvSpPr>
            <p:nvPr/>
          </p:nvSpPr>
          <p:spPr bwMode="auto">
            <a:xfrm>
              <a:off x="2139802" y="3396373"/>
              <a:ext cx="44114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sz="2400" b="1" i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62" name="Text Box 27"/>
            <p:cNvSpPr txBox="1">
              <a:spLocks noChangeArrowheads="1"/>
            </p:cNvSpPr>
            <p:nvPr/>
          </p:nvSpPr>
          <p:spPr bwMode="auto">
            <a:xfrm>
              <a:off x="2721157" y="3373011"/>
              <a:ext cx="44114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sz="2400" b="1" i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63" name="Text Box 27"/>
            <p:cNvSpPr txBox="1">
              <a:spLocks noChangeArrowheads="1"/>
            </p:cNvSpPr>
            <p:nvPr/>
          </p:nvSpPr>
          <p:spPr bwMode="auto">
            <a:xfrm>
              <a:off x="3305176" y="3360041"/>
              <a:ext cx="44114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sz="2400" b="1" i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64" name="Text Box 27"/>
            <p:cNvSpPr txBox="1">
              <a:spLocks noChangeArrowheads="1"/>
            </p:cNvSpPr>
            <p:nvPr/>
          </p:nvSpPr>
          <p:spPr bwMode="auto">
            <a:xfrm>
              <a:off x="3869622" y="3360041"/>
              <a:ext cx="44114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sz="2400" b="1" i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65" name="Text Box 27"/>
            <p:cNvSpPr txBox="1">
              <a:spLocks noChangeArrowheads="1"/>
            </p:cNvSpPr>
            <p:nvPr/>
          </p:nvSpPr>
          <p:spPr bwMode="auto">
            <a:xfrm>
              <a:off x="5602470" y="3388667"/>
              <a:ext cx="56778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sz="2400" b="1" i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i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-1</a:t>
              </a:r>
            </a:p>
          </p:txBody>
        </p:sp>
        <p:sp>
          <p:nvSpPr>
            <p:cNvPr id="66" name="Text Box 27"/>
            <p:cNvSpPr txBox="1">
              <a:spLocks noChangeArrowheads="1"/>
            </p:cNvSpPr>
            <p:nvPr/>
          </p:nvSpPr>
          <p:spPr bwMode="auto">
            <a:xfrm>
              <a:off x="7355249" y="3360041"/>
              <a:ext cx="45236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sz="2400" b="1" i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n</a:t>
              </a:r>
              <a:endParaRPr lang="en-US" altLang="zh-CN" sz="2400" b="1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8" name="组合 77"/>
          <p:cNvGrpSpPr/>
          <p:nvPr/>
        </p:nvGrpSpPr>
        <p:grpSpPr>
          <a:xfrm>
            <a:off x="-890841" y="72640"/>
            <a:ext cx="8271153" cy="665363"/>
            <a:chOff x="-594808" y="1867387"/>
            <a:chExt cx="8913447" cy="707532"/>
          </a:xfrm>
        </p:grpSpPr>
        <p:grpSp>
          <p:nvGrpSpPr>
            <p:cNvPr id="79" name="组合 78"/>
            <p:cNvGrpSpPr/>
            <p:nvPr/>
          </p:nvGrpSpPr>
          <p:grpSpPr>
            <a:xfrm>
              <a:off x="-594808" y="1867387"/>
              <a:ext cx="8913447" cy="707532"/>
              <a:chOff x="-635833" y="1327471"/>
              <a:chExt cx="8913447" cy="707532"/>
            </a:xfrm>
          </p:grpSpPr>
          <p:sp>
            <p:nvSpPr>
              <p:cNvPr id="81" name="TextBox 6"/>
              <p:cNvSpPr txBox="1">
                <a:spLocks noChangeArrowheads="1"/>
              </p:cNvSpPr>
              <p:nvPr/>
            </p:nvSpPr>
            <p:spPr bwMode="auto">
              <a:xfrm>
                <a:off x="-635833" y="1347734"/>
                <a:ext cx="8913447" cy="687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10.2 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顺序表的查找</a:t>
                </a:r>
              </a:p>
            </p:txBody>
          </p:sp>
          <p:sp>
            <p:nvSpPr>
              <p:cNvPr id="82" name="Freeform 5"/>
              <p:cNvSpPr>
                <a:spLocks/>
              </p:cNvSpPr>
              <p:nvPr/>
            </p:nvSpPr>
            <p:spPr bwMode="auto">
              <a:xfrm>
                <a:off x="958665" y="1327471"/>
                <a:ext cx="842977" cy="683003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FFFF66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</p:grpSp>
        <p:pic>
          <p:nvPicPr>
            <p:cNvPr id="80" name="图片 7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89825" y="2023053"/>
              <a:ext cx="495511" cy="4238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57998462"/>
      </p:ext>
    </p:extLst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6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6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6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6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6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6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19" grpId="0" autoUpdateAnimBg="0"/>
      <p:bldP spid="16421" grpId="0" autoUpdateAnimBg="0"/>
      <p:bldP spid="16423" grpId="0" autoUpdateAnimBg="0"/>
      <p:bldP spid="4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88760" y="962888"/>
            <a:ext cx="8375728" cy="936625"/>
          </a:xfrm>
        </p:spPr>
        <p:txBody>
          <a:bodyPr/>
          <a:lstStyle/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/>
              <a:t>有序查找</a:t>
            </a:r>
            <a:r>
              <a:rPr lang="en-US" altLang="zh-CN" sz="2800" b="1" dirty="0"/>
              <a:t>——</a:t>
            </a:r>
            <a:r>
              <a:rPr lang="zh-CN" altLang="en-US" sz="2800" b="1" dirty="0"/>
              <a:t>二分查找（折半查找）</a:t>
            </a:r>
            <a:r>
              <a:rPr lang="en-US" altLang="zh-CN" sz="2800" b="1" dirty="0"/>
              <a:t>(</a:t>
            </a:r>
            <a:r>
              <a:rPr lang="en-US" altLang="zh-CN" sz="2400" b="1" dirty="0">
                <a:solidFill>
                  <a:srgbClr val="0000FF"/>
                </a:solidFill>
              </a:rPr>
              <a:t>Binary Search</a:t>
            </a:r>
            <a:r>
              <a:rPr lang="en-US" altLang="zh-CN" sz="2800" b="1" dirty="0"/>
              <a:t>)</a:t>
            </a:r>
            <a:endParaRPr lang="zh-CN" altLang="en-US" sz="2800" b="1" dirty="0"/>
          </a:p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2400" dirty="0"/>
              <a:t>例：在</a:t>
            </a:r>
            <a:r>
              <a:rPr lang="en-US" altLang="zh-CN" sz="2400" dirty="0"/>
              <a:t>0—9</a:t>
            </a:r>
            <a:r>
              <a:rPr lang="zh-CN" altLang="en-US" sz="2400" dirty="0"/>
              <a:t>号元素中查找元素值为</a:t>
            </a:r>
            <a:r>
              <a:rPr lang="en-US" altLang="zh-CN" sz="2400" dirty="0"/>
              <a:t>47</a:t>
            </a:r>
            <a:r>
              <a:rPr lang="zh-CN" altLang="en-US" sz="2400" dirty="0"/>
              <a:t>的元素</a:t>
            </a:r>
          </a:p>
        </p:txBody>
      </p:sp>
      <p:graphicFrame>
        <p:nvGraphicFramePr>
          <p:cNvPr id="17412" name="Group 4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306895515"/>
              </p:ext>
            </p:extLst>
          </p:nvPr>
        </p:nvGraphicFramePr>
        <p:xfrm>
          <a:off x="971550" y="2276872"/>
          <a:ext cx="7343775" cy="431800"/>
        </p:xfrm>
        <a:graphic>
          <a:graphicData uri="http://schemas.openxmlformats.org/drawingml/2006/table">
            <a:tbl>
              <a:tblPr/>
              <a:tblGrid>
                <a:gridCol w="735013">
                  <a:extLst>
                    <a:ext uri="{9D8B030D-6E8A-4147-A177-3AD203B41FA5}">
                      <a16:colId xmlns:a16="http://schemas.microsoft.com/office/drawing/2014/main" val="2228847365"/>
                    </a:ext>
                  </a:extLst>
                </a:gridCol>
                <a:gridCol w="733425">
                  <a:extLst>
                    <a:ext uri="{9D8B030D-6E8A-4147-A177-3AD203B41FA5}">
                      <a16:colId xmlns:a16="http://schemas.microsoft.com/office/drawing/2014/main" val="3826900464"/>
                    </a:ext>
                  </a:extLst>
                </a:gridCol>
                <a:gridCol w="735012">
                  <a:extLst>
                    <a:ext uri="{9D8B030D-6E8A-4147-A177-3AD203B41FA5}">
                      <a16:colId xmlns:a16="http://schemas.microsoft.com/office/drawing/2014/main" val="1369169367"/>
                    </a:ext>
                  </a:extLst>
                </a:gridCol>
                <a:gridCol w="733425">
                  <a:extLst>
                    <a:ext uri="{9D8B030D-6E8A-4147-A177-3AD203B41FA5}">
                      <a16:colId xmlns:a16="http://schemas.microsoft.com/office/drawing/2014/main" val="2172785098"/>
                    </a:ext>
                  </a:extLst>
                </a:gridCol>
                <a:gridCol w="735013">
                  <a:extLst>
                    <a:ext uri="{9D8B030D-6E8A-4147-A177-3AD203B41FA5}">
                      <a16:colId xmlns:a16="http://schemas.microsoft.com/office/drawing/2014/main" val="2569321870"/>
                    </a:ext>
                  </a:extLst>
                </a:gridCol>
                <a:gridCol w="735012">
                  <a:extLst>
                    <a:ext uri="{9D8B030D-6E8A-4147-A177-3AD203B41FA5}">
                      <a16:colId xmlns:a16="http://schemas.microsoft.com/office/drawing/2014/main" val="2366420412"/>
                    </a:ext>
                  </a:extLst>
                </a:gridCol>
                <a:gridCol w="733425">
                  <a:extLst>
                    <a:ext uri="{9D8B030D-6E8A-4147-A177-3AD203B41FA5}">
                      <a16:colId xmlns:a16="http://schemas.microsoft.com/office/drawing/2014/main" val="2735380411"/>
                    </a:ext>
                  </a:extLst>
                </a:gridCol>
                <a:gridCol w="735013">
                  <a:extLst>
                    <a:ext uri="{9D8B030D-6E8A-4147-A177-3AD203B41FA5}">
                      <a16:colId xmlns:a16="http://schemas.microsoft.com/office/drawing/2014/main" val="3618412749"/>
                    </a:ext>
                  </a:extLst>
                </a:gridCol>
                <a:gridCol w="733425">
                  <a:extLst>
                    <a:ext uri="{9D8B030D-6E8A-4147-A177-3AD203B41FA5}">
                      <a16:colId xmlns:a16="http://schemas.microsoft.com/office/drawing/2014/main" val="2934741836"/>
                    </a:ext>
                  </a:extLst>
                </a:gridCol>
                <a:gridCol w="735012">
                  <a:extLst>
                    <a:ext uri="{9D8B030D-6E8A-4147-A177-3AD203B41FA5}">
                      <a16:colId xmlns:a16="http://schemas.microsoft.com/office/drawing/2014/main" val="901180855"/>
                    </a:ext>
                  </a:extLst>
                </a:gridCol>
              </a:tblGrid>
              <a:tr h="431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1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1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1" charset="-122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1" charset="-122"/>
                        </a:rPr>
                        <a:t>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1" charset="-122"/>
                        </a:rPr>
                        <a:t>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1" charset="-122"/>
                        </a:rPr>
                        <a:t>42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1" charset="-122"/>
                        </a:rPr>
                        <a:t>47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1" charset="-122"/>
                        </a:rPr>
                        <a:t>53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1" charset="-122"/>
                        </a:rPr>
                        <a:t>86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1" charset="-122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844106"/>
                  </a:ext>
                </a:extLst>
              </a:tr>
            </a:tbl>
          </a:graphicData>
        </a:graphic>
      </p:graphicFrame>
      <p:graphicFrame>
        <p:nvGraphicFramePr>
          <p:cNvPr id="17436" name="Group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9519813"/>
              </p:ext>
            </p:extLst>
          </p:nvPr>
        </p:nvGraphicFramePr>
        <p:xfrm>
          <a:off x="973138" y="1916431"/>
          <a:ext cx="7343775" cy="426720"/>
        </p:xfrm>
        <a:graphic>
          <a:graphicData uri="http://schemas.openxmlformats.org/drawingml/2006/table">
            <a:tbl>
              <a:tblPr/>
              <a:tblGrid>
                <a:gridCol w="735012">
                  <a:extLst>
                    <a:ext uri="{9D8B030D-6E8A-4147-A177-3AD203B41FA5}">
                      <a16:colId xmlns:a16="http://schemas.microsoft.com/office/drawing/2014/main" val="3931163788"/>
                    </a:ext>
                  </a:extLst>
                </a:gridCol>
                <a:gridCol w="733425">
                  <a:extLst>
                    <a:ext uri="{9D8B030D-6E8A-4147-A177-3AD203B41FA5}">
                      <a16:colId xmlns:a16="http://schemas.microsoft.com/office/drawing/2014/main" val="3759422683"/>
                    </a:ext>
                  </a:extLst>
                </a:gridCol>
                <a:gridCol w="735013">
                  <a:extLst>
                    <a:ext uri="{9D8B030D-6E8A-4147-A177-3AD203B41FA5}">
                      <a16:colId xmlns:a16="http://schemas.microsoft.com/office/drawing/2014/main" val="3609277641"/>
                    </a:ext>
                  </a:extLst>
                </a:gridCol>
                <a:gridCol w="747712">
                  <a:extLst>
                    <a:ext uri="{9D8B030D-6E8A-4147-A177-3AD203B41FA5}">
                      <a16:colId xmlns:a16="http://schemas.microsoft.com/office/drawing/2014/main" val="2911398445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646687234"/>
                    </a:ext>
                  </a:extLst>
                </a:gridCol>
                <a:gridCol w="735013">
                  <a:extLst>
                    <a:ext uri="{9D8B030D-6E8A-4147-A177-3AD203B41FA5}">
                      <a16:colId xmlns:a16="http://schemas.microsoft.com/office/drawing/2014/main" val="2383474860"/>
                    </a:ext>
                  </a:extLst>
                </a:gridCol>
                <a:gridCol w="733425">
                  <a:extLst>
                    <a:ext uri="{9D8B030D-6E8A-4147-A177-3AD203B41FA5}">
                      <a16:colId xmlns:a16="http://schemas.microsoft.com/office/drawing/2014/main" val="1535259400"/>
                    </a:ext>
                  </a:extLst>
                </a:gridCol>
                <a:gridCol w="735012">
                  <a:extLst>
                    <a:ext uri="{9D8B030D-6E8A-4147-A177-3AD203B41FA5}">
                      <a16:colId xmlns:a16="http://schemas.microsoft.com/office/drawing/2014/main" val="2280900748"/>
                    </a:ext>
                  </a:extLst>
                </a:gridCol>
                <a:gridCol w="733425">
                  <a:extLst>
                    <a:ext uri="{9D8B030D-6E8A-4147-A177-3AD203B41FA5}">
                      <a16:colId xmlns:a16="http://schemas.microsoft.com/office/drawing/2014/main" val="1980724686"/>
                    </a:ext>
                  </a:extLst>
                </a:gridCol>
                <a:gridCol w="735013">
                  <a:extLst>
                    <a:ext uri="{9D8B030D-6E8A-4147-A177-3AD203B41FA5}">
                      <a16:colId xmlns:a16="http://schemas.microsoft.com/office/drawing/2014/main" val="2369051950"/>
                    </a:ext>
                  </a:extLst>
                </a:gridCol>
              </a:tblGrid>
              <a:tr h="32111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楷体_GB2312" pitchFamily="1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楷体_GB2312" pitchFamily="1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楷体_GB2312" pitchFamily="1" charset="-122"/>
                        </a:rPr>
                        <a:t>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楷体_GB2312" pitchFamily="1" charset="-122"/>
                        </a:rPr>
                        <a:t>3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楷体_GB2312" pitchFamily="1" charset="-122"/>
                        </a:rPr>
                        <a:t>4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楷体_GB2312" pitchFamily="1" charset="-122"/>
                        </a:rPr>
                        <a:t>5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楷体_GB2312" pitchFamily="1" charset="-122"/>
                        </a:rPr>
                        <a:t>6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楷体_GB2312" pitchFamily="1" charset="-122"/>
                        </a:rPr>
                        <a:t>7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楷体_GB2312" pitchFamily="1" charset="-122"/>
                        </a:rPr>
                        <a:t>8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楷体_GB2312" pitchFamily="1" charset="-122"/>
                        </a:rPr>
                        <a:t>9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3927548"/>
                  </a:ext>
                </a:extLst>
              </a:tr>
            </a:tbl>
          </a:graphicData>
        </a:graphic>
      </p:graphicFrame>
      <p:grpSp>
        <p:nvGrpSpPr>
          <p:cNvPr id="2" name="Group 61"/>
          <p:cNvGrpSpPr>
            <a:grpSpLocks/>
          </p:cNvGrpSpPr>
          <p:nvPr/>
        </p:nvGrpSpPr>
        <p:grpSpPr bwMode="auto">
          <a:xfrm>
            <a:off x="755650" y="2681710"/>
            <a:ext cx="647700" cy="419769"/>
            <a:chOff x="0" y="96"/>
            <a:chExt cx="408" cy="345"/>
          </a:xfrm>
        </p:grpSpPr>
        <p:sp>
          <p:nvSpPr>
            <p:cNvPr id="16532" name="Line 62"/>
            <p:cNvSpPr>
              <a:spLocks noChangeShapeType="1"/>
            </p:cNvSpPr>
            <p:nvPr/>
          </p:nvSpPr>
          <p:spPr bwMode="auto">
            <a:xfrm flipV="1">
              <a:off x="317" y="96"/>
              <a:ext cx="0" cy="318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33" name="Text Box 63"/>
            <p:cNvSpPr txBox="1">
              <a:spLocks noChangeArrowheads="1"/>
            </p:cNvSpPr>
            <p:nvPr/>
          </p:nvSpPr>
          <p:spPr bwMode="auto">
            <a:xfrm>
              <a:off x="0" y="140"/>
              <a:ext cx="408" cy="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accent2"/>
                  </a:solidFill>
                  <a:ea typeface="宋体" panose="02010600030101010101" pitchFamily="2" charset="-122"/>
                </a:rPr>
                <a:t>low</a:t>
              </a:r>
            </a:p>
          </p:txBody>
        </p:sp>
      </p:grpSp>
      <p:grpSp>
        <p:nvGrpSpPr>
          <p:cNvPr id="3" name="Group 64"/>
          <p:cNvGrpSpPr>
            <a:grpSpLocks/>
          </p:cNvGrpSpPr>
          <p:nvPr/>
        </p:nvGrpSpPr>
        <p:grpSpPr bwMode="auto">
          <a:xfrm>
            <a:off x="7885113" y="2708275"/>
            <a:ext cx="647700" cy="380613"/>
            <a:chOff x="0" y="0"/>
            <a:chExt cx="408" cy="318"/>
          </a:xfrm>
        </p:grpSpPr>
        <p:sp>
          <p:nvSpPr>
            <p:cNvPr id="16530" name="Line 65"/>
            <p:cNvSpPr>
              <a:spLocks noChangeShapeType="1"/>
            </p:cNvSpPr>
            <p:nvPr/>
          </p:nvSpPr>
          <p:spPr bwMode="auto">
            <a:xfrm flipV="1">
              <a:off x="0" y="0"/>
              <a:ext cx="0" cy="318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31" name="Text Box 66"/>
            <p:cNvSpPr txBox="1">
              <a:spLocks noChangeArrowheads="1"/>
            </p:cNvSpPr>
            <p:nvPr/>
          </p:nvSpPr>
          <p:spPr bwMode="auto">
            <a:xfrm>
              <a:off x="0" y="1"/>
              <a:ext cx="408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dirty="0">
                  <a:solidFill>
                    <a:schemeClr val="accent2"/>
                  </a:solidFill>
                  <a:ea typeface="宋体" panose="02010600030101010101" pitchFamily="2" charset="-122"/>
                </a:rPr>
                <a:t>high</a:t>
              </a:r>
            </a:p>
          </p:txBody>
        </p:sp>
      </p:grpSp>
      <p:grpSp>
        <p:nvGrpSpPr>
          <p:cNvPr id="4" name="Group 67"/>
          <p:cNvGrpSpPr>
            <a:grpSpLocks/>
          </p:cNvGrpSpPr>
          <p:nvPr/>
        </p:nvGrpSpPr>
        <p:grpSpPr bwMode="auto">
          <a:xfrm>
            <a:off x="4284664" y="2708276"/>
            <a:ext cx="647700" cy="439223"/>
            <a:chOff x="182" y="0"/>
            <a:chExt cx="408" cy="345"/>
          </a:xfrm>
        </p:grpSpPr>
        <p:sp>
          <p:nvSpPr>
            <p:cNvPr id="16528" name="Line 68"/>
            <p:cNvSpPr>
              <a:spLocks noChangeShapeType="1"/>
            </p:cNvSpPr>
            <p:nvPr/>
          </p:nvSpPr>
          <p:spPr bwMode="auto">
            <a:xfrm flipV="1">
              <a:off x="182" y="0"/>
              <a:ext cx="0" cy="318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29" name="Text Box 69"/>
            <p:cNvSpPr txBox="1">
              <a:spLocks noChangeArrowheads="1"/>
            </p:cNvSpPr>
            <p:nvPr/>
          </p:nvSpPr>
          <p:spPr bwMode="auto">
            <a:xfrm>
              <a:off x="182" y="57"/>
              <a:ext cx="4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dirty="0">
                  <a:solidFill>
                    <a:schemeClr val="accent2"/>
                  </a:solidFill>
                  <a:ea typeface="宋体" panose="02010600030101010101" pitchFamily="2" charset="-122"/>
                </a:rPr>
                <a:t>mid</a:t>
              </a:r>
            </a:p>
          </p:txBody>
        </p:sp>
      </p:grpSp>
      <p:grpSp>
        <p:nvGrpSpPr>
          <p:cNvPr id="5" name="Group 70"/>
          <p:cNvGrpSpPr>
            <a:grpSpLocks/>
          </p:cNvGrpSpPr>
          <p:nvPr/>
        </p:nvGrpSpPr>
        <p:grpSpPr bwMode="auto">
          <a:xfrm>
            <a:off x="7885113" y="3573016"/>
            <a:ext cx="649287" cy="432080"/>
            <a:chOff x="0" y="0"/>
            <a:chExt cx="408" cy="361"/>
          </a:xfrm>
        </p:grpSpPr>
        <p:sp>
          <p:nvSpPr>
            <p:cNvPr id="16526" name="Line 71"/>
            <p:cNvSpPr>
              <a:spLocks noChangeShapeType="1"/>
            </p:cNvSpPr>
            <p:nvPr/>
          </p:nvSpPr>
          <p:spPr bwMode="auto">
            <a:xfrm flipV="1">
              <a:off x="0" y="0"/>
              <a:ext cx="0" cy="318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27" name="Text Box 72"/>
            <p:cNvSpPr txBox="1">
              <a:spLocks noChangeArrowheads="1"/>
            </p:cNvSpPr>
            <p:nvPr/>
          </p:nvSpPr>
          <p:spPr bwMode="auto">
            <a:xfrm>
              <a:off x="0" y="54"/>
              <a:ext cx="408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dirty="0">
                  <a:solidFill>
                    <a:schemeClr val="accent2"/>
                  </a:solidFill>
                  <a:ea typeface="宋体" panose="02010600030101010101" pitchFamily="2" charset="-122"/>
                </a:rPr>
                <a:t>high</a:t>
              </a:r>
            </a:p>
          </p:txBody>
        </p:sp>
      </p:grpSp>
      <p:grpSp>
        <p:nvGrpSpPr>
          <p:cNvPr id="6" name="Group 73"/>
          <p:cNvGrpSpPr>
            <a:grpSpLocks/>
          </p:cNvGrpSpPr>
          <p:nvPr/>
        </p:nvGrpSpPr>
        <p:grpSpPr bwMode="auto">
          <a:xfrm>
            <a:off x="4502150" y="3572265"/>
            <a:ext cx="647700" cy="432799"/>
            <a:chOff x="0" y="0"/>
            <a:chExt cx="408" cy="360"/>
          </a:xfrm>
        </p:grpSpPr>
        <p:sp>
          <p:nvSpPr>
            <p:cNvPr id="16524" name="Line 74"/>
            <p:cNvSpPr>
              <a:spLocks noChangeShapeType="1"/>
            </p:cNvSpPr>
            <p:nvPr/>
          </p:nvSpPr>
          <p:spPr bwMode="auto">
            <a:xfrm flipV="1">
              <a:off x="317" y="0"/>
              <a:ext cx="0" cy="318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25" name="Text Box 75"/>
            <p:cNvSpPr txBox="1">
              <a:spLocks noChangeArrowheads="1"/>
            </p:cNvSpPr>
            <p:nvPr/>
          </p:nvSpPr>
          <p:spPr bwMode="auto">
            <a:xfrm>
              <a:off x="0" y="55"/>
              <a:ext cx="408" cy="3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dirty="0">
                  <a:solidFill>
                    <a:schemeClr val="accent2"/>
                  </a:solidFill>
                  <a:ea typeface="宋体" panose="02010600030101010101" pitchFamily="2" charset="-122"/>
                </a:rPr>
                <a:t>low</a:t>
              </a:r>
            </a:p>
          </p:txBody>
        </p:sp>
      </p:grpSp>
      <p:grpSp>
        <p:nvGrpSpPr>
          <p:cNvPr id="7" name="Group 76"/>
          <p:cNvGrpSpPr>
            <a:grpSpLocks/>
          </p:cNvGrpSpPr>
          <p:nvPr/>
        </p:nvGrpSpPr>
        <p:grpSpPr bwMode="auto">
          <a:xfrm>
            <a:off x="6372226" y="3595038"/>
            <a:ext cx="647700" cy="482497"/>
            <a:chOff x="136" y="0"/>
            <a:chExt cx="408" cy="506"/>
          </a:xfrm>
        </p:grpSpPr>
        <p:sp>
          <p:nvSpPr>
            <p:cNvPr id="16522" name="Line 77"/>
            <p:cNvSpPr>
              <a:spLocks noChangeShapeType="1"/>
            </p:cNvSpPr>
            <p:nvPr/>
          </p:nvSpPr>
          <p:spPr bwMode="auto">
            <a:xfrm flipV="1">
              <a:off x="182" y="0"/>
              <a:ext cx="0" cy="318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23" name="Text Box 78"/>
            <p:cNvSpPr txBox="1">
              <a:spLocks noChangeArrowheads="1"/>
            </p:cNvSpPr>
            <p:nvPr/>
          </p:nvSpPr>
          <p:spPr bwMode="auto">
            <a:xfrm>
              <a:off x="136" y="122"/>
              <a:ext cx="408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dirty="0">
                  <a:solidFill>
                    <a:schemeClr val="accent2"/>
                  </a:solidFill>
                  <a:ea typeface="宋体" panose="02010600030101010101" pitchFamily="2" charset="-122"/>
                </a:rPr>
                <a:t>mid</a:t>
              </a:r>
            </a:p>
          </p:txBody>
        </p:sp>
      </p:grpSp>
      <p:grpSp>
        <p:nvGrpSpPr>
          <p:cNvPr id="8" name="Group 79"/>
          <p:cNvGrpSpPr>
            <a:grpSpLocks/>
          </p:cNvGrpSpPr>
          <p:nvPr/>
        </p:nvGrpSpPr>
        <p:grpSpPr bwMode="auto">
          <a:xfrm>
            <a:off x="5795963" y="4437112"/>
            <a:ext cx="647700" cy="552450"/>
            <a:chOff x="0" y="0"/>
            <a:chExt cx="408" cy="403"/>
          </a:xfrm>
        </p:grpSpPr>
        <p:sp>
          <p:nvSpPr>
            <p:cNvPr id="16520" name="Line 80"/>
            <p:cNvSpPr>
              <a:spLocks noChangeShapeType="1"/>
            </p:cNvSpPr>
            <p:nvPr/>
          </p:nvSpPr>
          <p:spPr bwMode="auto">
            <a:xfrm flipV="1">
              <a:off x="0" y="0"/>
              <a:ext cx="0" cy="318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21" name="Text Box 81"/>
            <p:cNvSpPr txBox="1">
              <a:spLocks noChangeArrowheads="1"/>
            </p:cNvSpPr>
            <p:nvPr/>
          </p:nvSpPr>
          <p:spPr bwMode="auto">
            <a:xfrm>
              <a:off x="0" y="135"/>
              <a:ext cx="408" cy="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dirty="0">
                  <a:solidFill>
                    <a:schemeClr val="accent2"/>
                  </a:solidFill>
                  <a:ea typeface="宋体" panose="02010600030101010101" pitchFamily="2" charset="-122"/>
                </a:rPr>
                <a:t>high</a:t>
              </a:r>
            </a:p>
          </p:txBody>
        </p:sp>
      </p:grpSp>
      <p:grpSp>
        <p:nvGrpSpPr>
          <p:cNvPr id="9" name="Group 82"/>
          <p:cNvGrpSpPr>
            <a:grpSpLocks/>
          </p:cNvGrpSpPr>
          <p:nvPr/>
        </p:nvGrpSpPr>
        <p:grpSpPr bwMode="auto">
          <a:xfrm>
            <a:off x="4500563" y="4437112"/>
            <a:ext cx="647700" cy="511118"/>
            <a:chOff x="0" y="0"/>
            <a:chExt cx="408" cy="377"/>
          </a:xfrm>
        </p:grpSpPr>
        <p:sp>
          <p:nvSpPr>
            <p:cNvPr id="16518" name="Line 83"/>
            <p:cNvSpPr>
              <a:spLocks noChangeShapeType="1"/>
            </p:cNvSpPr>
            <p:nvPr/>
          </p:nvSpPr>
          <p:spPr bwMode="auto">
            <a:xfrm flipV="1">
              <a:off x="317" y="0"/>
              <a:ext cx="0" cy="318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19" name="Text Box 84"/>
            <p:cNvSpPr txBox="1">
              <a:spLocks noChangeArrowheads="1"/>
            </p:cNvSpPr>
            <p:nvPr/>
          </p:nvSpPr>
          <p:spPr bwMode="auto">
            <a:xfrm>
              <a:off x="0" y="106"/>
              <a:ext cx="408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dirty="0">
                  <a:solidFill>
                    <a:schemeClr val="accent2"/>
                  </a:solidFill>
                  <a:ea typeface="宋体" panose="02010600030101010101" pitchFamily="2" charset="-122"/>
                </a:rPr>
                <a:t>low</a:t>
              </a:r>
            </a:p>
          </p:txBody>
        </p:sp>
      </p:grpSp>
      <p:grpSp>
        <p:nvGrpSpPr>
          <p:cNvPr id="10" name="Group 85"/>
          <p:cNvGrpSpPr>
            <a:grpSpLocks/>
          </p:cNvGrpSpPr>
          <p:nvPr/>
        </p:nvGrpSpPr>
        <p:grpSpPr bwMode="auto">
          <a:xfrm>
            <a:off x="5148265" y="4437112"/>
            <a:ext cx="647700" cy="575447"/>
            <a:chOff x="182" y="0"/>
            <a:chExt cx="408" cy="452"/>
          </a:xfrm>
        </p:grpSpPr>
        <p:sp>
          <p:nvSpPr>
            <p:cNvPr id="16516" name="Line 86"/>
            <p:cNvSpPr>
              <a:spLocks noChangeShapeType="1"/>
            </p:cNvSpPr>
            <p:nvPr/>
          </p:nvSpPr>
          <p:spPr bwMode="auto">
            <a:xfrm flipV="1">
              <a:off x="182" y="0"/>
              <a:ext cx="0" cy="318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17" name="Text Box 87"/>
            <p:cNvSpPr txBox="1">
              <a:spLocks noChangeArrowheads="1"/>
            </p:cNvSpPr>
            <p:nvPr/>
          </p:nvSpPr>
          <p:spPr bwMode="auto">
            <a:xfrm>
              <a:off x="182" y="164"/>
              <a:ext cx="4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dirty="0">
                  <a:solidFill>
                    <a:schemeClr val="accent2"/>
                  </a:solidFill>
                  <a:ea typeface="宋体" panose="02010600030101010101" pitchFamily="2" charset="-122"/>
                </a:rPr>
                <a:t>mid</a:t>
              </a:r>
            </a:p>
          </p:txBody>
        </p:sp>
      </p:grpSp>
      <p:grpSp>
        <p:nvGrpSpPr>
          <p:cNvPr id="11" name="Group 88"/>
          <p:cNvGrpSpPr>
            <a:grpSpLocks/>
          </p:cNvGrpSpPr>
          <p:nvPr/>
        </p:nvGrpSpPr>
        <p:grpSpPr bwMode="auto">
          <a:xfrm>
            <a:off x="5940425" y="5419055"/>
            <a:ext cx="646113" cy="530225"/>
            <a:chOff x="0" y="0"/>
            <a:chExt cx="408" cy="439"/>
          </a:xfrm>
        </p:grpSpPr>
        <p:sp>
          <p:nvSpPr>
            <p:cNvPr id="16514" name="Line 89"/>
            <p:cNvSpPr>
              <a:spLocks noChangeShapeType="1"/>
            </p:cNvSpPr>
            <p:nvPr/>
          </p:nvSpPr>
          <p:spPr bwMode="auto">
            <a:xfrm flipV="1">
              <a:off x="0" y="0"/>
              <a:ext cx="0" cy="318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15" name="Text Box 90"/>
            <p:cNvSpPr txBox="1">
              <a:spLocks noChangeArrowheads="1"/>
            </p:cNvSpPr>
            <p:nvPr/>
          </p:nvSpPr>
          <p:spPr bwMode="auto">
            <a:xfrm>
              <a:off x="0" y="136"/>
              <a:ext cx="408" cy="3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accent2"/>
                  </a:solidFill>
                  <a:ea typeface="宋体" panose="02010600030101010101" pitchFamily="2" charset="-122"/>
                </a:rPr>
                <a:t>high</a:t>
              </a:r>
            </a:p>
          </p:txBody>
        </p:sp>
      </p:grpSp>
      <p:grpSp>
        <p:nvGrpSpPr>
          <p:cNvPr id="12" name="Group 91"/>
          <p:cNvGrpSpPr>
            <a:grpSpLocks/>
          </p:cNvGrpSpPr>
          <p:nvPr/>
        </p:nvGrpSpPr>
        <p:grpSpPr bwMode="auto">
          <a:xfrm>
            <a:off x="5003800" y="5445224"/>
            <a:ext cx="646113" cy="533400"/>
            <a:chOff x="0" y="0"/>
            <a:chExt cx="408" cy="447"/>
          </a:xfrm>
        </p:grpSpPr>
        <p:sp>
          <p:nvSpPr>
            <p:cNvPr id="16512" name="Line 92"/>
            <p:cNvSpPr>
              <a:spLocks noChangeShapeType="1"/>
            </p:cNvSpPr>
            <p:nvPr/>
          </p:nvSpPr>
          <p:spPr bwMode="auto">
            <a:xfrm flipV="1">
              <a:off x="317" y="0"/>
              <a:ext cx="0" cy="318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13" name="Text Box 93"/>
            <p:cNvSpPr txBox="1">
              <a:spLocks noChangeArrowheads="1"/>
            </p:cNvSpPr>
            <p:nvPr/>
          </p:nvSpPr>
          <p:spPr bwMode="auto">
            <a:xfrm>
              <a:off x="0" y="140"/>
              <a:ext cx="408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accent2"/>
                  </a:solidFill>
                  <a:ea typeface="宋体" panose="02010600030101010101" pitchFamily="2" charset="-122"/>
                </a:rPr>
                <a:t>low</a:t>
              </a:r>
            </a:p>
          </p:txBody>
        </p:sp>
      </p:grpSp>
      <p:grpSp>
        <p:nvGrpSpPr>
          <p:cNvPr id="13" name="Group 94"/>
          <p:cNvGrpSpPr>
            <a:grpSpLocks/>
          </p:cNvGrpSpPr>
          <p:nvPr/>
        </p:nvGrpSpPr>
        <p:grpSpPr bwMode="auto">
          <a:xfrm>
            <a:off x="5435600" y="5445224"/>
            <a:ext cx="647700" cy="792358"/>
            <a:chOff x="0" y="0"/>
            <a:chExt cx="408" cy="556"/>
          </a:xfrm>
        </p:grpSpPr>
        <p:sp>
          <p:nvSpPr>
            <p:cNvPr id="16510" name="Line 95"/>
            <p:cNvSpPr>
              <a:spLocks noChangeShapeType="1"/>
            </p:cNvSpPr>
            <p:nvPr/>
          </p:nvSpPr>
          <p:spPr bwMode="auto">
            <a:xfrm flipV="1">
              <a:off x="182" y="0"/>
              <a:ext cx="0" cy="318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11" name="Text Box 96"/>
            <p:cNvSpPr txBox="1">
              <a:spLocks noChangeArrowheads="1"/>
            </p:cNvSpPr>
            <p:nvPr/>
          </p:nvSpPr>
          <p:spPr bwMode="auto">
            <a:xfrm>
              <a:off x="0" y="298"/>
              <a:ext cx="408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dirty="0">
                  <a:solidFill>
                    <a:schemeClr val="accent2"/>
                  </a:solidFill>
                  <a:ea typeface="宋体" panose="02010600030101010101" pitchFamily="2" charset="-122"/>
                </a:rPr>
                <a:t>mid</a:t>
              </a:r>
            </a:p>
          </p:txBody>
        </p:sp>
      </p:grpSp>
      <p:graphicFrame>
        <p:nvGraphicFramePr>
          <p:cNvPr id="17505" name="Group 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4056753"/>
              </p:ext>
            </p:extLst>
          </p:nvPr>
        </p:nvGraphicFramePr>
        <p:xfrm>
          <a:off x="971600" y="3140968"/>
          <a:ext cx="7343775" cy="431800"/>
        </p:xfrm>
        <a:graphic>
          <a:graphicData uri="http://schemas.openxmlformats.org/drawingml/2006/table">
            <a:tbl>
              <a:tblPr/>
              <a:tblGrid>
                <a:gridCol w="735013">
                  <a:extLst>
                    <a:ext uri="{9D8B030D-6E8A-4147-A177-3AD203B41FA5}">
                      <a16:colId xmlns:a16="http://schemas.microsoft.com/office/drawing/2014/main" val="2655411810"/>
                    </a:ext>
                  </a:extLst>
                </a:gridCol>
                <a:gridCol w="733425">
                  <a:extLst>
                    <a:ext uri="{9D8B030D-6E8A-4147-A177-3AD203B41FA5}">
                      <a16:colId xmlns:a16="http://schemas.microsoft.com/office/drawing/2014/main" val="1917558116"/>
                    </a:ext>
                  </a:extLst>
                </a:gridCol>
                <a:gridCol w="735012">
                  <a:extLst>
                    <a:ext uri="{9D8B030D-6E8A-4147-A177-3AD203B41FA5}">
                      <a16:colId xmlns:a16="http://schemas.microsoft.com/office/drawing/2014/main" val="2551854135"/>
                    </a:ext>
                  </a:extLst>
                </a:gridCol>
                <a:gridCol w="733425">
                  <a:extLst>
                    <a:ext uri="{9D8B030D-6E8A-4147-A177-3AD203B41FA5}">
                      <a16:colId xmlns:a16="http://schemas.microsoft.com/office/drawing/2014/main" val="3339510677"/>
                    </a:ext>
                  </a:extLst>
                </a:gridCol>
                <a:gridCol w="735013">
                  <a:extLst>
                    <a:ext uri="{9D8B030D-6E8A-4147-A177-3AD203B41FA5}">
                      <a16:colId xmlns:a16="http://schemas.microsoft.com/office/drawing/2014/main" val="2873862424"/>
                    </a:ext>
                  </a:extLst>
                </a:gridCol>
                <a:gridCol w="735012">
                  <a:extLst>
                    <a:ext uri="{9D8B030D-6E8A-4147-A177-3AD203B41FA5}">
                      <a16:colId xmlns:a16="http://schemas.microsoft.com/office/drawing/2014/main" val="1850425637"/>
                    </a:ext>
                  </a:extLst>
                </a:gridCol>
                <a:gridCol w="733425">
                  <a:extLst>
                    <a:ext uri="{9D8B030D-6E8A-4147-A177-3AD203B41FA5}">
                      <a16:colId xmlns:a16="http://schemas.microsoft.com/office/drawing/2014/main" val="4071397231"/>
                    </a:ext>
                  </a:extLst>
                </a:gridCol>
                <a:gridCol w="735013">
                  <a:extLst>
                    <a:ext uri="{9D8B030D-6E8A-4147-A177-3AD203B41FA5}">
                      <a16:colId xmlns:a16="http://schemas.microsoft.com/office/drawing/2014/main" val="901103722"/>
                    </a:ext>
                  </a:extLst>
                </a:gridCol>
                <a:gridCol w="733425">
                  <a:extLst>
                    <a:ext uri="{9D8B030D-6E8A-4147-A177-3AD203B41FA5}">
                      <a16:colId xmlns:a16="http://schemas.microsoft.com/office/drawing/2014/main" val="3249182665"/>
                    </a:ext>
                  </a:extLst>
                </a:gridCol>
                <a:gridCol w="735012">
                  <a:extLst>
                    <a:ext uri="{9D8B030D-6E8A-4147-A177-3AD203B41FA5}">
                      <a16:colId xmlns:a16="http://schemas.microsoft.com/office/drawing/2014/main" val="3323826334"/>
                    </a:ext>
                  </a:extLst>
                </a:gridCol>
              </a:tblGrid>
              <a:tr h="431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1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1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1" charset="-122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1" charset="-122"/>
                        </a:rPr>
                        <a:t>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1" charset="-122"/>
                        </a:rPr>
                        <a:t>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1" charset="-122"/>
                        </a:rPr>
                        <a:t>42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1" charset="-122"/>
                        </a:rPr>
                        <a:t>47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1" charset="-122"/>
                        </a:rPr>
                        <a:t>53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1" charset="-122"/>
                        </a:rPr>
                        <a:t>86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1" charset="-122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8392104"/>
                  </a:ext>
                </a:extLst>
              </a:tr>
            </a:tbl>
          </a:graphicData>
        </a:graphic>
      </p:graphicFrame>
      <p:graphicFrame>
        <p:nvGraphicFramePr>
          <p:cNvPr id="17529" name="Group 1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6724775"/>
              </p:ext>
            </p:extLst>
          </p:nvPr>
        </p:nvGraphicFramePr>
        <p:xfrm>
          <a:off x="971550" y="4005263"/>
          <a:ext cx="7343775" cy="430213"/>
        </p:xfrm>
        <a:graphic>
          <a:graphicData uri="http://schemas.openxmlformats.org/drawingml/2006/table">
            <a:tbl>
              <a:tblPr/>
              <a:tblGrid>
                <a:gridCol w="735013">
                  <a:extLst>
                    <a:ext uri="{9D8B030D-6E8A-4147-A177-3AD203B41FA5}">
                      <a16:colId xmlns:a16="http://schemas.microsoft.com/office/drawing/2014/main" val="1771764801"/>
                    </a:ext>
                  </a:extLst>
                </a:gridCol>
                <a:gridCol w="733425">
                  <a:extLst>
                    <a:ext uri="{9D8B030D-6E8A-4147-A177-3AD203B41FA5}">
                      <a16:colId xmlns:a16="http://schemas.microsoft.com/office/drawing/2014/main" val="2194564146"/>
                    </a:ext>
                  </a:extLst>
                </a:gridCol>
                <a:gridCol w="735012">
                  <a:extLst>
                    <a:ext uri="{9D8B030D-6E8A-4147-A177-3AD203B41FA5}">
                      <a16:colId xmlns:a16="http://schemas.microsoft.com/office/drawing/2014/main" val="3101501590"/>
                    </a:ext>
                  </a:extLst>
                </a:gridCol>
                <a:gridCol w="733425">
                  <a:extLst>
                    <a:ext uri="{9D8B030D-6E8A-4147-A177-3AD203B41FA5}">
                      <a16:colId xmlns:a16="http://schemas.microsoft.com/office/drawing/2014/main" val="484577025"/>
                    </a:ext>
                  </a:extLst>
                </a:gridCol>
                <a:gridCol w="735013">
                  <a:extLst>
                    <a:ext uri="{9D8B030D-6E8A-4147-A177-3AD203B41FA5}">
                      <a16:colId xmlns:a16="http://schemas.microsoft.com/office/drawing/2014/main" val="1596608353"/>
                    </a:ext>
                  </a:extLst>
                </a:gridCol>
                <a:gridCol w="735012">
                  <a:extLst>
                    <a:ext uri="{9D8B030D-6E8A-4147-A177-3AD203B41FA5}">
                      <a16:colId xmlns:a16="http://schemas.microsoft.com/office/drawing/2014/main" val="2915455404"/>
                    </a:ext>
                  </a:extLst>
                </a:gridCol>
                <a:gridCol w="733425">
                  <a:extLst>
                    <a:ext uri="{9D8B030D-6E8A-4147-A177-3AD203B41FA5}">
                      <a16:colId xmlns:a16="http://schemas.microsoft.com/office/drawing/2014/main" val="4146464977"/>
                    </a:ext>
                  </a:extLst>
                </a:gridCol>
                <a:gridCol w="735013">
                  <a:extLst>
                    <a:ext uri="{9D8B030D-6E8A-4147-A177-3AD203B41FA5}">
                      <a16:colId xmlns:a16="http://schemas.microsoft.com/office/drawing/2014/main" val="4089282808"/>
                    </a:ext>
                  </a:extLst>
                </a:gridCol>
                <a:gridCol w="733425">
                  <a:extLst>
                    <a:ext uri="{9D8B030D-6E8A-4147-A177-3AD203B41FA5}">
                      <a16:colId xmlns:a16="http://schemas.microsoft.com/office/drawing/2014/main" val="713979624"/>
                    </a:ext>
                  </a:extLst>
                </a:gridCol>
                <a:gridCol w="735012">
                  <a:extLst>
                    <a:ext uri="{9D8B030D-6E8A-4147-A177-3AD203B41FA5}">
                      <a16:colId xmlns:a16="http://schemas.microsoft.com/office/drawing/2014/main" val="2126182019"/>
                    </a:ext>
                  </a:extLst>
                </a:gridCol>
              </a:tblGrid>
              <a:tr h="4302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1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1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1" charset="-122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1" charset="-122"/>
                        </a:rPr>
                        <a:t>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1" charset="-122"/>
                        </a:rPr>
                        <a:t>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1" charset="-122"/>
                        </a:rPr>
                        <a:t>42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1" charset="-122"/>
                        </a:rPr>
                        <a:t>47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1" charset="-122"/>
                        </a:rPr>
                        <a:t>53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1" charset="-122"/>
                        </a:rPr>
                        <a:t>86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1" charset="-122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7355446"/>
                  </a:ext>
                </a:extLst>
              </a:tr>
            </a:tbl>
          </a:graphicData>
        </a:graphic>
      </p:graphicFrame>
      <p:graphicFrame>
        <p:nvGraphicFramePr>
          <p:cNvPr id="17553" name="Group 1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513108"/>
              </p:ext>
            </p:extLst>
          </p:nvPr>
        </p:nvGraphicFramePr>
        <p:xfrm>
          <a:off x="971550" y="5013325"/>
          <a:ext cx="7343775" cy="430213"/>
        </p:xfrm>
        <a:graphic>
          <a:graphicData uri="http://schemas.openxmlformats.org/drawingml/2006/table">
            <a:tbl>
              <a:tblPr/>
              <a:tblGrid>
                <a:gridCol w="735013">
                  <a:extLst>
                    <a:ext uri="{9D8B030D-6E8A-4147-A177-3AD203B41FA5}">
                      <a16:colId xmlns:a16="http://schemas.microsoft.com/office/drawing/2014/main" val="1669118024"/>
                    </a:ext>
                  </a:extLst>
                </a:gridCol>
                <a:gridCol w="733425">
                  <a:extLst>
                    <a:ext uri="{9D8B030D-6E8A-4147-A177-3AD203B41FA5}">
                      <a16:colId xmlns:a16="http://schemas.microsoft.com/office/drawing/2014/main" val="344311347"/>
                    </a:ext>
                  </a:extLst>
                </a:gridCol>
                <a:gridCol w="735012">
                  <a:extLst>
                    <a:ext uri="{9D8B030D-6E8A-4147-A177-3AD203B41FA5}">
                      <a16:colId xmlns:a16="http://schemas.microsoft.com/office/drawing/2014/main" val="3730145526"/>
                    </a:ext>
                  </a:extLst>
                </a:gridCol>
                <a:gridCol w="733425">
                  <a:extLst>
                    <a:ext uri="{9D8B030D-6E8A-4147-A177-3AD203B41FA5}">
                      <a16:colId xmlns:a16="http://schemas.microsoft.com/office/drawing/2014/main" val="3718037578"/>
                    </a:ext>
                  </a:extLst>
                </a:gridCol>
                <a:gridCol w="735013">
                  <a:extLst>
                    <a:ext uri="{9D8B030D-6E8A-4147-A177-3AD203B41FA5}">
                      <a16:colId xmlns:a16="http://schemas.microsoft.com/office/drawing/2014/main" val="3315382696"/>
                    </a:ext>
                  </a:extLst>
                </a:gridCol>
                <a:gridCol w="735012">
                  <a:extLst>
                    <a:ext uri="{9D8B030D-6E8A-4147-A177-3AD203B41FA5}">
                      <a16:colId xmlns:a16="http://schemas.microsoft.com/office/drawing/2014/main" val="3042942809"/>
                    </a:ext>
                  </a:extLst>
                </a:gridCol>
                <a:gridCol w="733425">
                  <a:extLst>
                    <a:ext uri="{9D8B030D-6E8A-4147-A177-3AD203B41FA5}">
                      <a16:colId xmlns:a16="http://schemas.microsoft.com/office/drawing/2014/main" val="1479738992"/>
                    </a:ext>
                  </a:extLst>
                </a:gridCol>
                <a:gridCol w="735013">
                  <a:extLst>
                    <a:ext uri="{9D8B030D-6E8A-4147-A177-3AD203B41FA5}">
                      <a16:colId xmlns:a16="http://schemas.microsoft.com/office/drawing/2014/main" val="492259220"/>
                    </a:ext>
                  </a:extLst>
                </a:gridCol>
                <a:gridCol w="733425">
                  <a:extLst>
                    <a:ext uri="{9D8B030D-6E8A-4147-A177-3AD203B41FA5}">
                      <a16:colId xmlns:a16="http://schemas.microsoft.com/office/drawing/2014/main" val="466891721"/>
                    </a:ext>
                  </a:extLst>
                </a:gridCol>
                <a:gridCol w="735012">
                  <a:extLst>
                    <a:ext uri="{9D8B030D-6E8A-4147-A177-3AD203B41FA5}">
                      <a16:colId xmlns:a16="http://schemas.microsoft.com/office/drawing/2014/main" val="3004303038"/>
                    </a:ext>
                  </a:extLst>
                </a:gridCol>
              </a:tblGrid>
              <a:tr h="4302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1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1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1" charset="-122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1" charset="-122"/>
                        </a:rPr>
                        <a:t>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1" charset="-122"/>
                        </a:rPr>
                        <a:t>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1" charset="-122"/>
                        </a:rPr>
                        <a:t>42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1" charset="-122"/>
                        </a:rPr>
                        <a:t>47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1" charset="-122"/>
                        </a:rPr>
                        <a:t>53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1" charset="-122"/>
                        </a:rPr>
                        <a:t>86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1" charset="-122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2917004"/>
                  </a:ext>
                </a:extLst>
              </a:tr>
            </a:tbl>
          </a:graphicData>
        </a:graphic>
      </p:graphicFrame>
      <p:sp>
        <p:nvSpPr>
          <p:cNvPr id="17577" name="Text Box 169"/>
          <p:cNvSpPr txBox="1">
            <a:spLocks noChangeArrowheads="1"/>
          </p:cNvSpPr>
          <p:nvPr/>
        </p:nvSpPr>
        <p:spPr bwMode="auto">
          <a:xfrm>
            <a:off x="6516688" y="5661025"/>
            <a:ext cx="14398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00FF"/>
                </a:solidFill>
              </a:rPr>
              <a:t>成功！</a:t>
            </a:r>
          </a:p>
        </p:txBody>
      </p:sp>
      <p:sp>
        <p:nvSpPr>
          <p:cNvPr id="17578" name="Text Box 170"/>
          <p:cNvSpPr txBox="1">
            <a:spLocks noChangeArrowheads="1"/>
          </p:cNvSpPr>
          <p:nvPr/>
        </p:nvSpPr>
        <p:spPr bwMode="auto">
          <a:xfrm>
            <a:off x="935832" y="5661025"/>
            <a:ext cx="4608512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 b="1" dirty="0">
                <a:solidFill>
                  <a:srgbClr val="CC0000"/>
                </a:solidFill>
              </a:rPr>
              <a:t>问题：如果不存在所要搜索的元素，</a:t>
            </a:r>
          </a:p>
          <a:p>
            <a:pPr>
              <a:spcBef>
                <a:spcPct val="20000"/>
              </a:spcBef>
            </a:pPr>
            <a:r>
              <a:rPr lang="zh-CN" altLang="en-US" sz="2000" b="1" dirty="0">
                <a:solidFill>
                  <a:srgbClr val="CC0000"/>
                </a:solidFill>
              </a:rPr>
              <a:t>          如何判断出来？</a:t>
            </a:r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7A331-AA47-4583-8ECA-873ADFBEB716}" type="slidenum">
              <a:rPr lang="zh-CN" altLang="en-US" smtClean="0"/>
              <a:pPr/>
              <a:t>18</a:t>
            </a:fld>
            <a:endParaRPr lang="en-US" altLang="zh-CN"/>
          </a:p>
        </p:txBody>
      </p:sp>
      <p:pic>
        <p:nvPicPr>
          <p:cNvPr id="54" name="Picture 3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92983" y="5616775"/>
            <a:ext cx="642848" cy="6480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5" name="组合 54"/>
          <p:cNvGrpSpPr/>
          <p:nvPr/>
        </p:nvGrpSpPr>
        <p:grpSpPr>
          <a:xfrm>
            <a:off x="-890841" y="72640"/>
            <a:ext cx="8271153" cy="665363"/>
            <a:chOff x="-594808" y="1867387"/>
            <a:chExt cx="8913447" cy="707532"/>
          </a:xfrm>
        </p:grpSpPr>
        <p:grpSp>
          <p:nvGrpSpPr>
            <p:cNvPr id="56" name="组合 55"/>
            <p:cNvGrpSpPr/>
            <p:nvPr/>
          </p:nvGrpSpPr>
          <p:grpSpPr>
            <a:xfrm>
              <a:off x="-594808" y="1867387"/>
              <a:ext cx="8913447" cy="707532"/>
              <a:chOff x="-635833" y="1327471"/>
              <a:chExt cx="8913447" cy="707532"/>
            </a:xfrm>
          </p:grpSpPr>
          <p:sp>
            <p:nvSpPr>
              <p:cNvPr id="58" name="TextBox 6"/>
              <p:cNvSpPr txBox="1">
                <a:spLocks noChangeArrowheads="1"/>
              </p:cNvSpPr>
              <p:nvPr/>
            </p:nvSpPr>
            <p:spPr bwMode="auto">
              <a:xfrm>
                <a:off x="-635833" y="1347734"/>
                <a:ext cx="8913447" cy="687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10.2 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顺序表的查找</a:t>
                </a:r>
              </a:p>
            </p:txBody>
          </p:sp>
          <p:sp>
            <p:nvSpPr>
              <p:cNvPr id="59" name="Freeform 5"/>
              <p:cNvSpPr>
                <a:spLocks/>
              </p:cNvSpPr>
              <p:nvPr/>
            </p:nvSpPr>
            <p:spPr bwMode="auto">
              <a:xfrm>
                <a:off x="958665" y="1327471"/>
                <a:ext cx="842977" cy="683003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FFFF66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</p:grpSp>
        <p:pic>
          <p:nvPicPr>
            <p:cNvPr id="57" name="图片 5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89825" y="2023053"/>
              <a:ext cx="495511" cy="4238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57104281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77" grpId="0" autoUpdateAnimBg="0"/>
      <p:bldP spid="17578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972245" y="5733013"/>
            <a:ext cx="2735262" cy="431800"/>
            <a:chOff x="0" y="0"/>
            <a:chExt cx="1723" cy="272"/>
          </a:xfrm>
        </p:grpSpPr>
        <p:sp>
          <p:nvSpPr>
            <p:cNvPr id="17443" name="Line 16"/>
            <p:cNvSpPr>
              <a:spLocks noChangeShapeType="1"/>
            </p:cNvSpPr>
            <p:nvPr/>
          </p:nvSpPr>
          <p:spPr bwMode="auto">
            <a:xfrm flipH="1">
              <a:off x="0" y="0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44" name="Line 17"/>
            <p:cNvSpPr>
              <a:spLocks noChangeShapeType="1"/>
            </p:cNvSpPr>
            <p:nvPr/>
          </p:nvSpPr>
          <p:spPr bwMode="auto">
            <a:xfrm flipH="1">
              <a:off x="952" y="0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45" name="Line 18"/>
            <p:cNvSpPr>
              <a:spLocks noChangeShapeType="1"/>
            </p:cNvSpPr>
            <p:nvPr/>
          </p:nvSpPr>
          <p:spPr bwMode="auto">
            <a:xfrm flipH="1">
              <a:off x="1723" y="0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46" name="Line 19"/>
            <p:cNvSpPr>
              <a:spLocks noChangeShapeType="1"/>
            </p:cNvSpPr>
            <p:nvPr/>
          </p:nvSpPr>
          <p:spPr bwMode="auto">
            <a:xfrm>
              <a:off x="0" y="272"/>
              <a:ext cx="172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8469" name="Oval 37"/>
          <p:cNvSpPr>
            <a:spLocks noChangeArrowheads="1"/>
          </p:cNvSpPr>
          <p:nvPr/>
        </p:nvSpPr>
        <p:spPr bwMode="auto">
          <a:xfrm>
            <a:off x="1691382" y="5149131"/>
            <a:ext cx="1512888" cy="7207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endParaRPr lang="zh-CN" altLang="en-US"/>
          </a:p>
        </p:txBody>
      </p:sp>
      <p:sp>
        <p:nvSpPr>
          <p:cNvPr id="18468" name="Oval 36"/>
          <p:cNvSpPr>
            <a:spLocks noChangeArrowheads="1"/>
          </p:cNvSpPr>
          <p:nvPr/>
        </p:nvSpPr>
        <p:spPr bwMode="auto">
          <a:xfrm>
            <a:off x="3780532" y="2917106"/>
            <a:ext cx="935038" cy="503237"/>
          </a:xfrm>
          <a:prstGeom prst="ellipse">
            <a:avLst/>
          </a:prstGeom>
          <a:solidFill>
            <a:srgbClr val="FFC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endParaRPr lang="zh-CN" altLang="en-US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621706"/>
            <a:ext cx="1657350" cy="503237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 b="1"/>
              <a:t>算法流程图</a:t>
            </a:r>
          </a:p>
        </p:txBody>
      </p:sp>
      <p:sp>
        <p:nvSpPr>
          <p:cNvPr id="18436" name="Rectangle 4"/>
          <p:cNvSpPr>
            <a:spLocks noRot="1" noChangeArrowheads="1"/>
          </p:cNvSpPr>
          <p:nvPr/>
        </p:nvSpPr>
        <p:spPr bwMode="auto">
          <a:xfrm>
            <a:off x="4572695" y="1620118"/>
            <a:ext cx="4248150" cy="496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69900" indent="-4699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000" b="1" dirty="0">
                <a:latin typeface="Times New Roman" panose="02020603050405020304" pitchFamily="18" charset="0"/>
              </a:rPr>
              <a:t>二分查找</a:t>
            </a:r>
            <a:r>
              <a:rPr lang="zh-CN" altLang="en-US" sz="2000" b="1" dirty="0">
                <a:latin typeface="楷体_GB2312" pitchFamily="1" charset="-122"/>
              </a:rPr>
              <a:t>算法如下</a:t>
            </a:r>
            <a:r>
              <a:rPr lang="en-US" altLang="zh-CN" sz="2000" b="1" dirty="0">
                <a:latin typeface="楷体_GB2312" pitchFamily="1" charset="-122"/>
              </a:rPr>
              <a:t>:</a:t>
            </a:r>
            <a:endParaRPr lang="en-US" altLang="zh-CN" sz="2000" b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zh-CN" sz="2000" b="1" dirty="0">
                <a:latin typeface="Times New Roman" panose="02020603050405020304" pitchFamily="18" charset="0"/>
              </a:rPr>
              <a:t> </a:t>
            </a:r>
            <a:r>
              <a:rPr lang="en-US" altLang="zh-CN" sz="2000" b="1" dirty="0" err="1">
                <a:latin typeface="Times New Roman" panose="02020603050405020304" pitchFamily="18" charset="0"/>
              </a:rPr>
              <a:t>binsearch</a:t>
            </a:r>
            <a:r>
              <a:rPr lang="en-US" altLang="zh-CN" sz="2000" b="1" dirty="0">
                <a:latin typeface="Times New Roman" panose="02020603050405020304" pitchFamily="18" charset="0"/>
              </a:rPr>
              <a:t>(</a:t>
            </a:r>
            <a:r>
              <a:rPr lang="en-US" altLang="zh-CN" sz="2000" b="1" dirty="0" err="1">
                <a:latin typeface="Times New Roman" panose="02020603050405020304" pitchFamily="18" charset="0"/>
              </a:rPr>
              <a:t>elementtype</a:t>
            </a:r>
            <a:r>
              <a:rPr lang="en-US" altLang="zh-CN" sz="2000" b="1" dirty="0">
                <a:latin typeface="Times New Roman" panose="02020603050405020304" pitchFamily="18" charset="0"/>
              </a:rPr>
              <a:t> A[ ],</a:t>
            </a:r>
            <a:r>
              <a:rPr lang="en-US" altLang="zh-CN" sz="2000" b="1" dirty="0" err="1">
                <a:latin typeface="Times New Roman" panose="02020603050405020304" pitchFamily="18" charset="0"/>
              </a:rPr>
              <a:t>int</a:t>
            </a:r>
            <a:r>
              <a:rPr lang="en-US" altLang="zh-CN" sz="2000" b="1" dirty="0">
                <a:latin typeface="Times New Roman" panose="02020603050405020304" pitchFamily="18" charset="0"/>
              </a:rPr>
              <a:t> n, </a:t>
            </a:r>
          </a:p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                          </a:t>
            </a:r>
            <a:r>
              <a:rPr lang="en-US" altLang="zh-CN" sz="2000" b="1" dirty="0" err="1">
                <a:latin typeface="Times New Roman" panose="02020603050405020304" pitchFamily="18" charset="0"/>
              </a:rPr>
              <a:t>keytype</a:t>
            </a:r>
            <a:r>
              <a:rPr lang="en-US" altLang="zh-CN" sz="2000" b="1" dirty="0">
                <a:latin typeface="Times New Roman" panose="02020603050405020304" pitchFamily="18" charset="0"/>
              </a:rPr>
              <a:t> x)</a:t>
            </a:r>
          </a:p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 { </a:t>
            </a:r>
            <a:r>
              <a:rPr lang="en-US" altLang="zh-CN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zh-CN" sz="2000" b="1" dirty="0">
                <a:latin typeface="Times New Roman" panose="02020603050405020304" pitchFamily="18" charset="0"/>
              </a:rPr>
              <a:t> </a:t>
            </a:r>
            <a:r>
              <a:rPr lang="en-US" altLang="zh-CN" sz="2000" b="1" dirty="0" err="1">
                <a:latin typeface="Times New Roman" panose="02020603050405020304" pitchFamily="18" charset="0"/>
              </a:rPr>
              <a:t>mid,low</a:t>
            </a:r>
            <a:r>
              <a:rPr lang="en-US" altLang="zh-CN" sz="2000" b="1" dirty="0">
                <a:latin typeface="Times New Roman" panose="02020603050405020304" pitchFamily="18" charset="0"/>
              </a:rPr>
              <a:t>=0,high=n-1;       </a:t>
            </a:r>
          </a:p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                            //</a:t>
            </a:r>
            <a:r>
              <a:rPr lang="zh-CN" altLang="en-US" sz="2000" b="1" dirty="0">
                <a:latin typeface="Times New Roman" panose="02020603050405020304" pitchFamily="18" charset="0"/>
              </a:rPr>
              <a:t>初始化查找区域 </a:t>
            </a:r>
          </a:p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000" b="1" dirty="0">
                <a:latin typeface="Times New Roman" panose="02020603050405020304" pitchFamily="18" charset="0"/>
              </a:rPr>
              <a:t>  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while</a:t>
            </a:r>
            <a:r>
              <a:rPr lang="en-US" altLang="zh-CN" sz="2000" b="1" dirty="0">
                <a:latin typeface="Times New Roman" panose="02020603050405020304" pitchFamily="18" charset="0"/>
              </a:rPr>
              <a:t> ( low&lt;=high)</a:t>
            </a:r>
          </a:p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  { mid=(</a:t>
            </a:r>
            <a:r>
              <a:rPr lang="en-US" altLang="zh-CN" sz="2000" b="1" dirty="0" err="1">
                <a:latin typeface="Times New Roman" panose="02020603050405020304" pitchFamily="18" charset="0"/>
              </a:rPr>
              <a:t>low+high</a:t>
            </a:r>
            <a:r>
              <a:rPr lang="en-US" altLang="zh-CN" sz="2000" b="1" dirty="0">
                <a:latin typeface="Times New Roman" panose="02020603050405020304" pitchFamily="18" charset="0"/>
              </a:rPr>
              <a:t>)/2;</a:t>
            </a:r>
          </a:p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     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if</a:t>
            </a:r>
            <a:r>
              <a:rPr lang="en-US" altLang="zh-CN" sz="2000" b="1" dirty="0">
                <a:latin typeface="Times New Roman" panose="02020603050405020304" pitchFamily="18" charset="0"/>
              </a:rPr>
              <a:t> (x==A[mid].key) 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return</a:t>
            </a:r>
            <a:r>
              <a:rPr lang="en-US" altLang="zh-CN" sz="2000" b="1" dirty="0">
                <a:latin typeface="Times New Roman" panose="02020603050405020304" pitchFamily="18" charset="0"/>
              </a:rPr>
              <a:t>  mid;</a:t>
            </a:r>
          </a:p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     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else</a:t>
            </a:r>
            <a:r>
              <a:rPr lang="en-US" altLang="zh-CN" sz="2000" b="1" dirty="0">
                <a:latin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if</a:t>
            </a:r>
            <a:r>
              <a:rPr lang="en-US" altLang="zh-CN" sz="2000" b="1" dirty="0">
                <a:latin typeface="Times New Roman" panose="02020603050405020304" pitchFamily="18" charset="0"/>
              </a:rPr>
              <a:t> (x&lt;A[mid].key) high=mid-1;</a:t>
            </a:r>
          </a:p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    else</a:t>
            </a:r>
            <a:r>
              <a:rPr lang="en-US" altLang="zh-CN" sz="2000" b="1" dirty="0">
                <a:latin typeface="Times New Roman" panose="02020603050405020304" pitchFamily="18" charset="0"/>
              </a:rPr>
              <a:t> low=mid+1;</a:t>
            </a:r>
          </a:p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  }</a:t>
            </a:r>
          </a:p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  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return</a:t>
            </a:r>
            <a:r>
              <a:rPr lang="en-US" altLang="zh-CN" sz="2000" b="1" dirty="0">
                <a:latin typeface="Times New Roman" panose="02020603050405020304" pitchFamily="18" charset="0"/>
              </a:rPr>
              <a:t>  -1;    //</a:t>
            </a:r>
            <a:r>
              <a:rPr lang="zh-CN" altLang="en-US" sz="2000" b="1" dirty="0">
                <a:latin typeface="Times New Roman" panose="02020603050405020304" pitchFamily="18" charset="0"/>
              </a:rPr>
              <a:t>返回查找失败的标志</a:t>
            </a:r>
          </a:p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18437" name="AutoShape 5"/>
          <p:cNvSpPr>
            <a:spLocks noChangeArrowheads="1"/>
          </p:cNvSpPr>
          <p:nvPr/>
        </p:nvSpPr>
        <p:spPr bwMode="auto">
          <a:xfrm>
            <a:off x="1332607" y="4212506"/>
            <a:ext cx="2303463" cy="647700"/>
          </a:xfrm>
          <a:prstGeom prst="flowChartDecision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 b="1">
                <a:ea typeface="宋体" panose="02010600030101010101" pitchFamily="2" charset="-122"/>
              </a:rPr>
              <a:t>X~A[mid].key</a:t>
            </a:r>
            <a:endParaRPr lang="zh-CN" altLang="en-US" b="1">
              <a:ea typeface="宋体" panose="02010600030101010101" pitchFamily="2" charset="-122"/>
            </a:endParaRPr>
          </a:p>
        </p:txBody>
      </p:sp>
      <p:sp>
        <p:nvSpPr>
          <p:cNvPr id="18438" name="AutoShape 6"/>
          <p:cNvSpPr>
            <a:spLocks noChangeArrowheads="1"/>
          </p:cNvSpPr>
          <p:nvPr/>
        </p:nvSpPr>
        <p:spPr bwMode="auto">
          <a:xfrm>
            <a:off x="249933" y="5222156"/>
            <a:ext cx="1298574" cy="504825"/>
          </a:xfrm>
          <a:prstGeom prst="flowChartProcess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 b="1">
                <a:ea typeface="宋体" panose="02010600030101010101" pitchFamily="2" charset="-122"/>
              </a:rPr>
              <a:t>high=mid-1</a:t>
            </a:r>
            <a:endParaRPr lang="zh-CN" altLang="en-US" b="1">
              <a:ea typeface="宋体" panose="02010600030101010101" pitchFamily="2" charset="-122"/>
            </a:endParaRPr>
          </a:p>
        </p:txBody>
      </p:sp>
      <p:sp>
        <p:nvSpPr>
          <p:cNvPr id="18439" name="AutoShape 7"/>
          <p:cNvSpPr>
            <a:spLocks noChangeArrowheads="1"/>
          </p:cNvSpPr>
          <p:nvPr/>
        </p:nvSpPr>
        <p:spPr bwMode="auto">
          <a:xfrm>
            <a:off x="3204270" y="5222156"/>
            <a:ext cx="1223962" cy="504825"/>
          </a:xfrm>
          <a:prstGeom prst="flowChartProcess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 b="1">
                <a:ea typeface="宋体" panose="02010600030101010101" pitchFamily="2" charset="-122"/>
              </a:rPr>
              <a:t>low=mid+1</a:t>
            </a:r>
            <a:endParaRPr lang="zh-CN" altLang="en-US" b="1">
              <a:ea typeface="宋体" panose="02010600030101010101" pitchFamily="2" charset="-122"/>
            </a:endParaRPr>
          </a:p>
        </p:txBody>
      </p:sp>
      <p:sp>
        <p:nvSpPr>
          <p:cNvPr id="18440" name="AutoShape 8"/>
          <p:cNvSpPr>
            <a:spLocks noChangeArrowheads="1"/>
          </p:cNvSpPr>
          <p:nvPr/>
        </p:nvSpPr>
        <p:spPr bwMode="auto">
          <a:xfrm>
            <a:off x="1835845" y="5220568"/>
            <a:ext cx="1223962" cy="504825"/>
          </a:xfrm>
          <a:prstGeom prst="flowChartProcess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zh-CN" altLang="en-US" b="1">
                <a:ea typeface="宋体" panose="02010600030101010101" pitchFamily="2" charset="-122"/>
              </a:rPr>
              <a:t>查找成功</a:t>
            </a:r>
          </a:p>
          <a:p>
            <a:pPr algn="ctr"/>
            <a:r>
              <a:rPr lang="en-US" altLang="zh-CN" b="1">
                <a:ea typeface="宋体" panose="02010600030101010101" pitchFamily="2" charset="-122"/>
              </a:rPr>
              <a:t>return mid</a:t>
            </a:r>
          </a:p>
        </p:txBody>
      </p:sp>
      <p:sp>
        <p:nvSpPr>
          <p:cNvPr id="18441" name="Line 9"/>
          <p:cNvSpPr>
            <a:spLocks noChangeShapeType="1"/>
          </p:cNvSpPr>
          <p:nvPr/>
        </p:nvSpPr>
        <p:spPr bwMode="auto">
          <a:xfrm flipH="1">
            <a:off x="899219" y="4551594"/>
            <a:ext cx="433388" cy="6769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42" name="Line 10"/>
          <p:cNvSpPr>
            <a:spLocks noChangeShapeType="1"/>
          </p:cNvSpPr>
          <p:nvPr/>
        </p:nvSpPr>
        <p:spPr bwMode="auto">
          <a:xfrm>
            <a:off x="2483545" y="4861794"/>
            <a:ext cx="0" cy="2936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43" name="Line 11"/>
          <p:cNvSpPr>
            <a:spLocks noChangeShapeType="1"/>
          </p:cNvSpPr>
          <p:nvPr/>
        </p:nvSpPr>
        <p:spPr bwMode="auto">
          <a:xfrm>
            <a:off x="3636069" y="4543974"/>
            <a:ext cx="215901" cy="68453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44" name="Text Box 12"/>
          <p:cNvSpPr txBox="1">
            <a:spLocks noChangeArrowheads="1"/>
          </p:cNvSpPr>
          <p:nvPr/>
        </p:nvSpPr>
        <p:spPr bwMode="auto">
          <a:xfrm>
            <a:off x="781485" y="4678439"/>
            <a:ext cx="2889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dirty="0">
                <a:ea typeface="宋体" panose="02010600030101010101" pitchFamily="2" charset="-122"/>
              </a:rPr>
              <a:t>&lt;</a:t>
            </a:r>
          </a:p>
        </p:txBody>
      </p:sp>
      <p:sp>
        <p:nvSpPr>
          <p:cNvPr id="18445" name="Text Box 13"/>
          <p:cNvSpPr txBox="1">
            <a:spLocks noChangeArrowheads="1"/>
          </p:cNvSpPr>
          <p:nvPr/>
        </p:nvSpPr>
        <p:spPr bwMode="auto">
          <a:xfrm>
            <a:off x="2174141" y="4818136"/>
            <a:ext cx="2889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dirty="0">
                <a:ea typeface="宋体" panose="02010600030101010101" pitchFamily="2" charset="-122"/>
              </a:rPr>
              <a:t>=</a:t>
            </a:r>
          </a:p>
        </p:txBody>
      </p:sp>
      <p:sp>
        <p:nvSpPr>
          <p:cNvPr id="18446" name="Text Box 14"/>
          <p:cNvSpPr txBox="1">
            <a:spLocks noChangeArrowheads="1"/>
          </p:cNvSpPr>
          <p:nvPr/>
        </p:nvSpPr>
        <p:spPr bwMode="auto">
          <a:xfrm>
            <a:off x="3455094" y="4741936"/>
            <a:ext cx="2889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dirty="0">
                <a:ea typeface="宋体" panose="02010600030101010101" pitchFamily="2" charset="-122"/>
              </a:rPr>
              <a:t>&gt;</a:t>
            </a:r>
          </a:p>
        </p:txBody>
      </p:sp>
      <p:sp>
        <p:nvSpPr>
          <p:cNvPr id="18452" name="Line 20"/>
          <p:cNvSpPr>
            <a:spLocks noChangeShapeType="1"/>
          </p:cNvSpPr>
          <p:nvPr/>
        </p:nvSpPr>
        <p:spPr bwMode="auto">
          <a:xfrm>
            <a:off x="2483545" y="6157193"/>
            <a:ext cx="0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53" name="Line 21"/>
          <p:cNvSpPr>
            <a:spLocks noChangeShapeType="1"/>
          </p:cNvSpPr>
          <p:nvPr/>
        </p:nvSpPr>
        <p:spPr bwMode="auto">
          <a:xfrm flipH="1">
            <a:off x="180082" y="6517556"/>
            <a:ext cx="2303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54" name="Line 22"/>
          <p:cNvSpPr>
            <a:spLocks noChangeShapeType="1"/>
          </p:cNvSpPr>
          <p:nvPr/>
        </p:nvSpPr>
        <p:spPr bwMode="auto">
          <a:xfrm>
            <a:off x="180082" y="2845668"/>
            <a:ext cx="0" cy="36718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55" name="AutoShape 23"/>
          <p:cNvSpPr>
            <a:spLocks noChangeArrowheads="1"/>
          </p:cNvSpPr>
          <p:nvPr/>
        </p:nvSpPr>
        <p:spPr bwMode="auto">
          <a:xfrm>
            <a:off x="1671697" y="2988543"/>
            <a:ext cx="1582738" cy="360363"/>
          </a:xfrm>
          <a:prstGeom prst="flowChartDecision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 sz="1600" b="1" dirty="0">
                <a:ea typeface="宋体" panose="02010600030101010101" pitchFamily="2" charset="-122"/>
              </a:rPr>
              <a:t>low&lt;=high</a:t>
            </a:r>
            <a:endParaRPr lang="zh-CN" altLang="en-US" sz="1600" b="1" dirty="0">
              <a:ea typeface="宋体" panose="02010600030101010101" pitchFamily="2" charset="-122"/>
            </a:endParaRPr>
          </a:p>
        </p:txBody>
      </p:sp>
      <p:sp>
        <p:nvSpPr>
          <p:cNvPr id="18456" name="AutoShape 24"/>
          <p:cNvSpPr>
            <a:spLocks noChangeArrowheads="1"/>
          </p:cNvSpPr>
          <p:nvPr/>
        </p:nvSpPr>
        <p:spPr bwMode="auto">
          <a:xfrm>
            <a:off x="1548507" y="3636243"/>
            <a:ext cx="2016125" cy="215900"/>
          </a:xfrm>
          <a:prstGeom prst="flowChartProcess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 b="1">
                <a:ea typeface="宋体" panose="02010600030101010101" pitchFamily="2" charset="-122"/>
              </a:rPr>
              <a:t>mid=(low+high)/2</a:t>
            </a:r>
            <a:endParaRPr lang="zh-CN" altLang="en-US" b="1">
              <a:ea typeface="宋体" panose="02010600030101010101" pitchFamily="2" charset="-122"/>
            </a:endParaRPr>
          </a:p>
        </p:txBody>
      </p:sp>
      <p:sp>
        <p:nvSpPr>
          <p:cNvPr id="18457" name="Line 25"/>
          <p:cNvSpPr>
            <a:spLocks noChangeShapeType="1"/>
          </p:cNvSpPr>
          <p:nvPr/>
        </p:nvSpPr>
        <p:spPr bwMode="auto">
          <a:xfrm>
            <a:off x="2485132" y="3348906"/>
            <a:ext cx="0" cy="2873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58" name="Line 26"/>
          <p:cNvSpPr>
            <a:spLocks noChangeShapeType="1"/>
          </p:cNvSpPr>
          <p:nvPr/>
        </p:nvSpPr>
        <p:spPr bwMode="auto">
          <a:xfrm>
            <a:off x="2485132" y="3853731"/>
            <a:ext cx="0" cy="358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59" name="Line 27"/>
          <p:cNvSpPr>
            <a:spLocks noChangeShapeType="1"/>
          </p:cNvSpPr>
          <p:nvPr/>
        </p:nvSpPr>
        <p:spPr bwMode="auto">
          <a:xfrm>
            <a:off x="180082" y="2845668"/>
            <a:ext cx="22320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60" name="Line 28"/>
          <p:cNvSpPr>
            <a:spLocks noChangeShapeType="1"/>
          </p:cNvSpPr>
          <p:nvPr/>
        </p:nvSpPr>
        <p:spPr bwMode="auto">
          <a:xfrm>
            <a:off x="2483545" y="2124943"/>
            <a:ext cx="0" cy="287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61" name="AutoShape 29"/>
          <p:cNvSpPr>
            <a:spLocks noChangeArrowheads="1"/>
          </p:cNvSpPr>
          <p:nvPr/>
        </p:nvSpPr>
        <p:spPr bwMode="auto">
          <a:xfrm>
            <a:off x="1548507" y="2413868"/>
            <a:ext cx="2016125" cy="215900"/>
          </a:xfrm>
          <a:prstGeom prst="flowChartProcess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 b="1">
                <a:ea typeface="宋体" panose="02010600030101010101" pitchFamily="2" charset="-122"/>
              </a:rPr>
              <a:t>low=0;high=n-1;</a:t>
            </a:r>
            <a:endParaRPr lang="zh-CN" altLang="en-US" b="1">
              <a:ea typeface="宋体" panose="02010600030101010101" pitchFamily="2" charset="-122"/>
            </a:endParaRPr>
          </a:p>
        </p:txBody>
      </p:sp>
      <p:sp>
        <p:nvSpPr>
          <p:cNvPr id="18462" name="Line 30"/>
          <p:cNvSpPr>
            <a:spLocks noChangeShapeType="1"/>
          </p:cNvSpPr>
          <p:nvPr/>
        </p:nvSpPr>
        <p:spPr bwMode="auto">
          <a:xfrm>
            <a:off x="2483545" y="2629768"/>
            <a:ext cx="0" cy="358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63" name="Text Box 31"/>
          <p:cNvSpPr txBox="1">
            <a:spLocks noChangeArrowheads="1"/>
          </p:cNvSpPr>
          <p:nvPr/>
        </p:nvSpPr>
        <p:spPr bwMode="auto">
          <a:xfrm>
            <a:off x="2412107" y="3277468"/>
            <a:ext cx="2159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Y</a:t>
            </a:r>
          </a:p>
        </p:txBody>
      </p:sp>
      <p:sp>
        <p:nvSpPr>
          <p:cNvPr id="18464" name="Line 32"/>
          <p:cNvSpPr>
            <a:spLocks noChangeShapeType="1"/>
          </p:cNvSpPr>
          <p:nvPr/>
        </p:nvSpPr>
        <p:spPr bwMode="auto">
          <a:xfrm>
            <a:off x="3204270" y="3171106"/>
            <a:ext cx="5762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65" name="AutoShape 33"/>
          <p:cNvSpPr>
            <a:spLocks noChangeArrowheads="1"/>
          </p:cNvSpPr>
          <p:nvPr/>
        </p:nvSpPr>
        <p:spPr bwMode="auto">
          <a:xfrm>
            <a:off x="3780532" y="3061568"/>
            <a:ext cx="1079500" cy="215900"/>
          </a:xfrm>
          <a:prstGeom prst="flowChartProcess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 b="1">
                <a:ea typeface="宋体" panose="02010600030101010101" pitchFamily="2" charset="-122"/>
              </a:rPr>
              <a:t>return-1;</a:t>
            </a:r>
          </a:p>
        </p:txBody>
      </p:sp>
      <p:sp>
        <p:nvSpPr>
          <p:cNvPr id="18466" name="Text Box 34"/>
          <p:cNvSpPr txBox="1">
            <a:spLocks noChangeArrowheads="1"/>
          </p:cNvSpPr>
          <p:nvPr/>
        </p:nvSpPr>
        <p:spPr bwMode="auto">
          <a:xfrm>
            <a:off x="3348732" y="2845668"/>
            <a:ext cx="2159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N</a:t>
            </a:r>
          </a:p>
        </p:txBody>
      </p:sp>
      <p:sp>
        <p:nvSpPr>
          <p:cNvPr id="18467" name="AutoShape 35"/>
          <p:cNvSpPr>
            <a:spLocks noChangeArrowheads="1"/>
          </p:cNvSpPr>
          <p:nvPr/>
        </p:nvSpPr>
        <p:spPr bwMode="auto">
          <a:xfrm>
            <a:off x="2267645" y="1837606"/>
            <a:ext cx="431800" cy="287337"/>
          </a:xfrm>
          <a:prstGeom prst="flowChartConnector">
            <a:avLst/>
          </a:prstGeom>
          <a:solidFill>
            <a:srgbClr val="FFC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19</a:t>
            </a:fld>
            <a:endParaRPr lang="zh-CN" altLang="en-US" dirty="0"/>
          </a:p>
        </p:txBody>
      </p:sp>
      <p:sp>
        <p:nvSpPr>
          <p:cNvPr id="40" name="Rectangle 2"/>
          <p:cNvSpPr>
            <a:spLocks noGrp="1" noChangeArrowheads="1"/>
          </p:cNvSpPr>
          <p:nvPr>
            <p:ph type="title"/>
          </p:nvPr>
        </p:nvSpPr>
        <p:spPr>
          <a:xfrm>
            <a:off x="402284" y="692696"/>
            <a:ext cx="8001000" cy="711200"/>
          </a:xfrm>
        </p:spPr>
        <p:txBody>
          <a:bodyPr>
            <a:normAutofit/>
          </a:bodyPr>
          <a:lstStyle/>
          <a:p>
            <a:pPr marL="342900" indent="-342900" eaLnBrk="1" hangingPunct="1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800" dirty="0">
                <a:latin typeface="Times New Roman" pitchFamily="18" charset="0"/>
                <a:ea typeface="仿宋" pitchFamily="49" charset="-122"/>
                <a:cs typeface="+mn-cs"/>
              </a:rPr>
              <a:t>10.2.2 </a:t>
            </a:r>
            <a:r>
              <a:rPr lang="zh-CN" altLang="en-US" sz="2800" dirty="0">
                <a:latin typeface="Times New Roman" pitchFamily="18" charset="0"/>
                <a:ea typeface="仿宋" pitchFamily="49" charset="-122"/>
                <a:cs typeface="+mn-cs"/>
              </a:rPr>
              <a:t>有序表的查找</a:t>
            </a:r>
            <a:r>
              <a:rPr lang="en-US" altLang="zh-CN" sz="2800" dirty="0">
                <a:latin typeface="Times New Roman" pitchFamily="18" charset="0"/>
                <a:ea typeface="仿宋" pitchFamily="49" charset="-122"/>
                <a:cs typeface="+mn-cs"/>
              </a:rPr>
              <a:t>——</a:t>
            </a:r>
            <a:r>
              <a:rPr lang="zh-CN" altLang="en-US" sz="2800" dirty="0">
                <a:latin typeface="Times New Roman" pitchFamily="18" charset="0"/>
                <a:ea typeface="仿宋" pitchFamily="49" charset="-122"/>
                <a:cs typeface="+mn-cs"/>
              </a:rPr>
              <a:t>二分查找</a:t>
            </a:r>
          </a:p>
        </p:txBody>
      </p:sp>
      <p:grpSp>
        <p:nvGrpSpPr>
          <p:cNvPr id="46" name="组合 45"/>
          <p:cNvGrpSpPr/>
          <p:nvPr/>
        </p:nvGrpSpPr>
        <p:grpSpPr>
          <a:xfrm>
            <a:off x="-890841" y="72640"/>
            <a:ext cx="8271153" cy="665363"/>
            <a:chOff x="-594808" y="1867387"/>
            <a:chExt cx="8913447" cy="707532"/>
          </a:xfrm>
        </p:grpSpPr>
        <p:grpSp>
          <p:nvGrpSpPr>
            <p:cNvPr id="47" name="组合 46"/>
            <p:cNvGrpSpPr/>
            <p:nvPr/>
          </p:nvGrpSpPr>
          <p:grpSpPr>
            <a:xfrm>
              <a:off x="-594808" y="1867387"/>
              <a:ext cx="8913447" cy="707532"/>
              <a:chOff x="-635833" y="1327471"/>
              <a:chExt cx="8913447" cy="707532"/>
            </a:xfrm>
          </p:grpSpPr>
          <p:sp>
            <p:nvSpPr>
              <p:cNvPr id="49" name="TextBox 6"/>
              <p:cNvSpPr txBox="1">
                <a:spLocks noChangeArrowheads="1"/>
              </p:cNvSpPr>
              <p:nvPr/>
            </p:nvSpPr>
            <p:spPr bwMode="auto">
              <a:xfrm>
                <a:off x="-635833" y="1347734"/>
                <a:ext cx="8913447" cy="687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10.2 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顺序表的查找</a:t>
                </a:r>
              </a:p>
            </p:txBody>
          </p:sp>
          <p:sp>
            <p:nvSpPr>
              <p:cNvPr id="50" name="Freeform 5"/>
              <p:cNvSpPr>
                <a:spLocks/>
              </p:cNvSpPr>
              <p:nvPr/>
            </p:nvSpPr>
            <p:spPr bwMode="auto">
              <a:xfrm>
                <a:off x="958665" y="1327471"/>
                <a:ext cx="842977" cy="683003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FFFF66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</p:grpSp>
        <p:pic>
          <p:nvPicPr>
            <p:cNvPr id="48" name="图片 4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89825" y="2023053"/>
              <a:ext cx="495511" cy="4238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60004907"/>
      </p:ext>
    </p:extLst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8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8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8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8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8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8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8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8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8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8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18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18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8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18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18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18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18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18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18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8" dur="500"/>
                                        <p:tgtEl>
                                          <p:spTgt spid="18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4" dur="500"/>
                                        <p:tgtEl>
                                          <p:spTgt spid="18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18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0" dur="500"/>
                                        <p:tgtEl>
                                          <p:spTgt spid="18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5" dur="500"/>
                                        <p:tgtEl>
                                          <p:spTgt spid="18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8" dur="500"/>
                                        <p:tgtEl>
                                          <p:spTgt spid="18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3" dur="500"/>
                                        <p:tgtEl>
                                          <p:spTgt spid="18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6" dur="500"/>
                                        <p:tgtEl>
                                          <p:spTgt spid="18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1" dur="500"/>
                                        <p:tgtEl>
                                          <p:spTgt spid="18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6" dur="500"/>
                                        <p:tgtEl>
                                          <p:spTgt spid="184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9" dur="500"/>
                                        <p:tgtEl>
                                          <p:spTgt spid="184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4" dur="500"/>
                                        <p:tgtEl>
                                          <p:spTgt spid="184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7" dur="500"/>
                                        <p:tgtEl>
                                          <p:spTgt spid="184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2" dur="500"/>
                                        <p:tgtEl>
                                          <p:spTgt spid="184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7" dur="500"/>
                                        <p:tgtEl>
                                          <p:spTgt spid="184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2" dur="500"/>
                                        <p:tgtEl>
                                          <p:spTgt spid="184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7" dur="500"/>
                                        <p:tgtEl>
                                          <p:spTgt spid="1843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2" dur="500"/>
                                        <p:tgtEl>
                                          <p:spTgt spid="1843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7" dur="500"/>
                                        <p:tgtEl>
                                          <p:spTgt spid="1843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0" dur="500"/>
                                        <p:tgtEl>
                                          <p:spTgt spid="1843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3" dur="500"/>
                                        <p:tgtEl>
                                          <p:spTgt spid="1843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69" grpId="0" animBg="1"/>
      <p:bldP spid="18468" grpId="0" animBg="1"/>
      <p:bldP spid="18435" grpId="0" build="p" autoUpdateAnimBg="0"/>
      <p:bldP spid="18437" grpId="0" animBg="1" autoUpdateAnimBg="0"/>
      <p:bldP spid="18438" grpId="0" animBg="1" autoUpdateAnimBg="0"/>
      <p:bldP spid="18439" grpId="0" animBg="1" autoUpdateAnimBg="0"/>
      <p:bldP spid="18440" grpId="0" autoUpdateAnimBg="0"/>
      <p:bldP spid="18444" grpId="0" autoUpdateAnimBg="0"/>
      <p:bldP spid="18445" grpId="0" autoUpdateAnimBg="0"/>
      <p:bldP spid="18446" grpId="0" autoUpdateAnimBg="0"/>
      <p:bldP spid="18455" grpId="0" animBg="1" autoUpdateAnimBg="0"/>
      <p:bldP spid="18456" grpId="0" animBg="1" autoUpdateAnimBg="0"/>
      <p:bldP spid="18461" grpId="0" animBg="1" autoUpdateAnimBg="0"/>
      <p:bldP spid="18463" grpId="0" autoUpdateAnimBg="0"/>
      <p:bldP spid="18465" grpId="0" autoUpdateAnimBg="0"/>
      <p:bldP spid="18466" grpId="0" autoUpdateAnimBg="0"/>
      <p:bldP spid="18467" grpId="0" animBg="1"/>
      <p:bldP spid="4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6" name="Oval 37"/>
          <p:cNvSpPr>
            <a:spLocks noChangeArrowheads="1"/>
          </p:cNvSpPr>
          <p:nvPr/>
        </p:nvSpPr>
        <p:spPr bwMode="auto">
          <a:xfrm>
            <a:off x="3924300" y="2489200"/>
            <a:ext cx="858838" cy="434975"/>
          </a:xfrm>
          <a:prstGeom prst="ellipse">
            <a:avLst/>
          </a:prstGeom>
          <a:solidFill>
            <a:srgbClr val="FFC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endParaRPr lang="zh-CN" altLang="en-US"/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125538"/>
            <a:ext cx="7993062" cy="511175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3100" b="1" dirty="0"/>
              <a:t> </a:t>
            </a:r>
            <a:endParaRPr lang="zh-CN" altLang="en-US" sz="2400" dirty="0"/>
          </a:p>
        </p:txBody>
      </p:sp>
      <p:sp>
        <p:nvSpPr>
          <p:cNvPr id="19460" name="Text Box 4"/>
          <p:cNvSpPr txBox="1">
            <a:spLocks noChangeArrowheads="1"/>
          </p:cNvSpPr>
          <p:nvPr/>
        </p:nvSpPr>
        <p:spPr bwMode="auto">
          <a:xfrm>
            <a:off x="4995863" y="1645754"/>
            <a:ext cx="3962400" cy="4652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>
              <a:spcBef>
                <a:spcPct val="30000"/>
              </a:spcBef>
            </a:pPr>
            <a:r>
              <a:rPr lang="en-US" altLang="zh-CN" b="1" dirty="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int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binsearch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b="1" dirty="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elemenType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 A[ ],</a:t>
            </a:r>
          </a:p>
          <a:p>
            <a:pPr algn="r">
              <a:spcBef>
                <a:spcPct val="30000"/>
              </a:spcBef>
            </a:pPr>
            <a:r>
              <a:rPr lang="en-US" altLang="zh-CN" b="1" dirty="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keyType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 x, </a:t>
            </a:r>
            <a:r>
              <a:rPr lang="en-US" altLang="zh-CN" b="1" dirty="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int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 low, </a:t>
            </a:r>
            <a:r>
              <a:rPr lang="en-US" altLang="zh-CN" b="1" dirty="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int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 high)</a:t>
            </a:r>
          </a:p>
          <a:p>
            <a:pPr eaLnBrk="1" hangingPunct="1"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{</a:t>
            </a:r>
          </a:p>
          <a:p>
            <a:pPr eaLnBrk="1" hangingPunct="1"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if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(low&gt;high) return -1;</a:t>
            </a:r>
          </a:p>
          <a:p>
            <a:pPr eaLnBrk="1" hangingPunct="1"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else</a:t>
            </a:r>
          </a:p>
          <a:p>
            <a:pPr eaLnBrk="1" hangingPunct="1"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{  mid=(</a:t>
            </a:r>
            <a:r>
              <a:rPr lang="en-US" altLang="zh-CN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low+high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)/2; </a:t>
            </a:r>
          </a:p>
          <a:p>
            <a:pPr>
              <a:spcBef>
                <a:spcPct val="30000"/>
              </a:spcBef>
            </a:pP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if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 (A[mid].key= =x) return mid;</a:t>
            </a:r>
          </a:p>
          <a:p>
            <a:pPr>
              <a:spcBef>
                <a:spcPct val="30000"/>
              </a:spcBef>
            </a:pP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else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if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(x&lt;A[mid].key) 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return</a:t>
            </a:r>
          </a:p>
          <a:p>
            <a:pPr>
              <a:spcBef>
                <a:spcPct val="30000"/>
              </a:spcBef>
            </a:pPr>
            <a:r>
              <a:rPr lang="en-US" altLang="zh-CN" b="1" dirty="0">
                <a:solidFill>
                  <a:srgbClr val="00CC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</a:t>
            </a:r>
            <a:r>
              <a:rPr lang="en-US" altLang="zh-CN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binsearch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( A[ ],x,low,mid-1); </a:t>
            </a:r>
          </a:p>
          <a:p>
            <a:pPr>
              <a:spcBef>
                <a:spcPct val="30000"/>
              </a:spcBef>
            </a:pP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   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else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return</a:t>
            </a:r>
          </a:p>
          <a:p>
            <a:pPr>
              <a:spcBef>
                <a:spcPct val="30000"/>
              </a:spcBef>
            </a:pPr>
            <a:r>
              <a:rPr lang="en-US" altLang="zh-CN" b="1" dirty="0">
                <a:solidFill>
                  <a:srgbClr val="00CC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</a:t>
            </a:r>
            <a:r>
              <a:rPr lang="en-US" altLang="zh-CN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binsearch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( A[ ],x,mid+1,high);</a:t>
            </a:r>
          </a:p>
          <a:p>
            <a:pPr eaLnBrk="1" hangingPunct="1"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}</a:t>
            </a:r>
          </a:p>
          <a:p>
            <a:pPr>
              <a:spcBef>
                <a:spcPct val="30000"/>
              </a:spcBef>
            </a:pP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 }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18438" name="Rectangle 5"/>
          <p:cNvSpPr>
            <a:spLocks noChangeArrowheads="1"/>
          </p:cNvSpPr>
          <p:nvPr/>
        </p:nvSpPr>
        <p:spPr bwMode="auto">
          <a:xfrm>
            <a:off x="220663" y="1413669"/>
            <a:ext cx="2232025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69900" indent="-4699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000" b="1" dirty="0">
                <a:latin typeface="Times New Roman" panose="02020603050405020304" pitchFamily="18" charset="0"/>
              </a:rPr>
              <a:t>递归算法：参数？</a:t>
            </a:r>
          </a:p>
        </p:txBody>
      </p:sp>
      <p:sp>
        <p:nvSpPr>
          <p:cNvPr id="18439" name="AutoShape 6"/>
          <p:cNvSpPr>
            <a:spLocks noChangeArrowheads="1"/>
          </p:cNvSpPr>
          <p:nvPr/>
        </p:nvSpPr>
        <p:spPr bwMode="auto">
          <a:xfrm>
            <a:off x="1476375" y="3717925"/>
            <a:ext cx="2303463" cy="647700"/>
          </a:xfrm>
          <a:prstGeom prst="flowChartDecision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 b="1">
                <a:ea typeface="宋体" panose="02010600030101010101" pitchFamily="2" charset="-122"/>
              </a:rPr>
              <a:t>X~A[mid].key</a:t>
            </a:r>
            <a:endParaRPr lang="zh-CN" altLang="en-US" b="1">
              <a:ea typeface="宋体" panose="02010600030101010101" pitchFamily="2" charset="-122"/>
            </a:endParaRPr>
          </a:p>
        </p:txBody>
      </p:sp>
      <p:sp>
        <p:nvSpPr>
          <p:cNvPr id="18440" name="AutoShape 7"/>
          <p:cNvSpPr>
            <a:spLocks noChangeArrowheads="1"/>
          </p:cNvSpPr>
          <p:nvPr/>
        </p:nvSpPr>
        <p:spPr bwMode="auto">
          <a:xfrm>
            <a:off x="468313" y="4725988"/>
            <a:ext cx="1223962" cy="504825"/>
          </a:xfrm>
          <a:prstGeom prst="flowChartProcess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 b="1">
                <a:ea typeface="宋体" panose="02010600030101010101" pitchFamily="2" charset="-122"/>
              </a:rPr>
              <a:t>high=mid-1</a:t>
            </a:r>
            <a:endParaRPr lang="zh-CN" altLang="en-US" b="1">
              <a:ea typeface="宋体" panose="02010600030101010101" pitchFamily="2" charset="-122"/>
            </a:endParaRPr>
          </a:p>
        </p:txBody>
      </p:sp>
      <p:sp>
        <p:nvSpPr>
          <p:cNvPr id="18441" name="AutoShape 8"/>
          <p:cNvSpPr>
            <a:spLocks noChangeArrowheads="1"/>
          </p:cNvSpPr>
          <p:nvPr/>
        </p:nvSpPr>
        <p:spPr bwMode="auto">
          <a:xfrm>
            <a:off x="3348038" y="4725988"/>
            <a:ext cx="1223962" cy="504825"/>
          </a:xfrm>
          <a:prstGeom prst="flowChartProcess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 b="1">
                <a:ea typeface="宋体" panose="02010600030101010101" pitchFamily="2" charset="-122"/>
              </a:rPr>
              <a:t>low=mid+1</a:t>
            </a:r>
            <a:endParaRPr lang="zh-CN" altLang="en-US" b="1">
              <a:ea typeface="宋体" panose="02010600030101010101" pitchFamily="2" charset="-122"/>
            </a:endParaRPr>
          </a:p>
        </p:txBody>
      </p:sp>
      <p:sp>
        <p:nvSpPr>
          <p:cNvPr id="18442" name="AutoShape 9"/>
          <p:cNvSpPr>
            <a:spLocks noChangeArrowheads="1"/>
          </p:cNvSpPr>
          <p:nvPr/>
        </p:nvSpPr>
        <p:spPr bwMode="auto">
          <a:xfrm>
            <a:off x="1979613" y="4724400"/>
            <a:ext cx="1223962" cy="504825"/>
          </a:xfrm>
          <a:prstGeom prst="flowChartProcess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zh-CN" altLang="en-US" b="1">
                <a:ea typeface="宋体" panose="02010600030101010101" pitchFamily="2" charset="-122"/>
              </a:rPr>
              <a:t>查找成功</a:t>
            </a:r>
          </a:p>
          <a:p>
            <a:pPr algn="ctr"/>
            <a:r>
              <a:rPr lang="en-US" altLang="zh-CN" b="1">
                <a:ea typeface="宋体" panose="02010600030101010101" pitchFamily="2" charset="-122"/>
              </a:rPr>
              <a:t>return mid</a:t>
            </a:r>
          </a:p>
        </p:txBody>
      </p:sp>
      <p:sp>
        <p:nvSpPr>
          <p:cNvPr id="18443" name="Line 10"/>
          <p:cNvSpPr>
            <a:spLocks noChangeShapeType="1"/>
          </p:cNvSpPr>
          <p:nvPr/>
        </p:nvSpPr>
        <p:spPr bwMode="auto">
          <a:xfrm flipH="1">
            <a:off x="900113" y="4048125"/>
            <a:ext cx="571500" cy="6778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44" name="Line 11"/>
          <p:cNvSpPr>
            <a:spLocks noChangeShapeType="1"/>
          </p:cNvSpPr>
          <p:nvPr/>
        </p:nvSpPr>
        <p:spPr bwMode="auto">
          <a:xfrm>
            <a:off x="2627313" y="4365625"/>
            <a:ext cx="1587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45" name="Line 12"/>
          <p:cNvSpPr>
            <a:spLocks noChangeShapeType="1"/>
          </p:cNvSpPr>
          <p:nvPr/>
        </p:nvSpPr>
        <p:spPr bwMode="auto">
          <a:xfrm>
            <a:off x="3773488" y="4048125"/>
            <a:ext cx="222250" cy="6778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46" name="Text Box 13"/>
          <p:cNvSpPr txBox="1">
            <a:spLocks noChangeArrowheads="1"/>
          </p:cNvSpPr>
          <p:nvPr/>
        </p:nvSpPr>
        <p:spPr bwMode="auto">
          <a:xfrm>
            <a:off x="827088" y="4221163"/>
            <a:ext cx="2889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&lt;</a:t>
            </a:r>
          </a:p>
        </p:txBody>
      </p:sp>
      <p:sp>
        <p:nvSpPr>
          <p:cNvPr id="18447" name="Text Box 14"/>
          <p:cNvSpPr txBox="1">
            <a:spLocks noChangeArrowheads="1"/>
          </p:cNvSpPr>
          <p:nvPr/>
        </p:nvSpPr>
        <p:spPr bwMode="auto">
          <a:xfrm>
            <a:off x="2195513" y="4365625"/>
            <a:ext cx="2889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=</a:t>
            </a:r>
          </a:p>
        </p:txBody>
      </p:sp>
      <p:sp>
        <p:nvSpPr>
          <p:cNvPr id="18448" name="Text Box 15"/>
          <p:cNvSpPr txBox="1">
            <a:spLocks noChangeArrowheads="1"/>
          </p:cNvSpPr>
          <p:nvPr/>
        </p:nvSpPr>
        <p:spPr bwMode="auto">
          <a:xfrm>
            <a:off x="3635375" y="4292600"/>
            <a:ext cx="2889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&gt;</a:t>
            </a:r>
          </a:p>
        </p:txBody>
      </p:sp>
      <p:grpSp>
        <p:nvGrpSpPr>
          <p:cNvPr id="18449" name="Group 16"/>
          <p:cNvGrpSpPr>
            <a:grpSpLocks/>
          </p:cNvGrpSpPr>
          <p:nvPr/>
        </p:nvGrpSpPr>
        <p:grpSpPr bwMode="auto">
          <a:xfrm>
            <a:off x="1116013" y="5229225"/>
            <a:ext cx="2735262" cy="431800"/>
            <a:chOff x="0" y="0"/>
            <a:chExt cx="1723" cy="272"/>
          </a:xfrm>
        </p:grpSpPr>
        <p:sp>
          <p:nvSpPr>
            <p:cNvPr id="18473" name="Line 17"/>
            <p:cNvSpPr>
              <a:spLocks noChangeShapeType="1"/>
            </p:cNvSpPr>
            <p:nvPr/>
          </p:nvSpPr>
          <p:spPr bwMode="auto">
            <a:xfrm flipH="1">
              <a:off x="0" y="0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4" name="Line 18"/>
            <p:cNvSpPr>
              <a:spLocks noChangeShapeType="1"/>
            </p:cNvSpPr>
            <p:nvPr/>
          </p:nvSpPr>
          <p:spPr bwMode="auto">
            <a:xfrm flipH="1">
              <a:off x="952" y="0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5" name="Line 19"/>
            <p:cNvSpPr>
              <a:spLocks noChangeShapeType="1"/>
            </p:cNvSpPr>
            <p:nvPr/>
          </p:nvSpPr>
          <p:spPr bwMode="auto">
            <a:xfrm flipH="1">
              <a:off x="1723" y="0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6" name="Line 20"/>
            <p:cNvSpPr>
              <a:spLocks noChangeShapeType="1"/>
            </p:cNvSpPr>
            <p:nvPr/>
          </p:nvSpPr>
          <p:spPr bwMode="auto">
            <a:xfrm>
              <a:off x="0" y="272"/>
              <a:ext cx="172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8450" name="Line 21"/>
          <p:cNvSpPr>
            <a:spLocks noChangeShapeType="1"/>
          </p:cNvSpPr>
          <p:nvPr/>
        </p:nvSpPr>
        <p:spPr bwMode="auto">
          <a:xfrm>
            <a:off x="2627313" y="5661025"/>
            <a:ext cx="1587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51" name="Line 22"/>
          <p:cNvSpPr>
            <a:spLocks noChangeShapeType="1"/>
          </p:cNvSpPr>
          <p:nvPr/>
        </p:nvSpPr>
        <p:spPr bwMode="auto">
          <a:xfrm flipH="1">
            <a:off x="323850" y="6021388"/>
            <a:ext cx="2303463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52" name="Line 23"/>
          <p:cNvSpPr>
            <a:spLocks noChangeShapeType="1"/>
          </p:cNvSpPr>
          <p:nvPr/>
        </p:nvSpPr>
        <p:spPr bwMode="auto">
          <a:xfrm>
            <a:off x="323850" y="2349500"/>
            <a:ext cx="1588" cy="36718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53" name="AutoShape 24"/>
          <p:cNvSpPr>
            <a:spLocks noChangeArrowheads="1"/>
          </p:cNvSpPr>
          <p:nvPr/>
        </p:nvSpPr>
        <p:spPr bwMode="auto">
          <a:xfrm>
            <a:off x="1838325" y="2492375"/>
            <a:ext cx="1582738" cy="360363"/>
          </a:xfrm>
          <a:prstGeom prst="flowChartDecision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 b="1">
                <a:ea typeface="宋体" panose="02010600030101010101" pitchFamily="2" charset="-122"/>
              </a:rPr>
              <a:t>low&lt;=high</a:t>
            </a:r>
            <a:endParaRPr lang="zh-CN" altLang="en-US" b="1">
              <a:ea typeface="宋体" panose="02010600030101010101" pitchFamily="2" charset="-122"/>
            </a:endParaRPr>
          </a:p>
        </p:txBody>
      </p:sp>
      <p:sp>
        <p:nvSpPr>
          <p:cNvPr id="18454" name="AutoShape 25"/>
          <p:cNvSpPr>
            <a:spLocks noChangeArrowheads="1"/>
          </p:cNvSpPr>
          <p:nvPr/>
        </p:nvSpPr>
        <p:spPr bwMode="auto">
          <a:xfrm>
            <a:off x="1692275" y="3140075"/>
            <a:ext cx="2016125" cy="215900"/>
          </a:xfrm>
          <a:prstGeom prst="flowChartProcess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 b="1">
                <a:ea typeface="宋体" panose="02010600030101010101" pitchFamily="2" charset="-122"/>
              </a:rPr>
              <a:t>mid=(low+high)/2</a:t>
            </a:r>
            <a:endParaRPr lang="zh-CN" altLang="en-US" b="1">
              <a:ea typeface="宋体" panose="02010600030101010101" pitchFamily="2" charset="-122"/>
            </a:endParaRPr>
          </a:p>
        </p:txBody>
      </p:sp>
      <p:sp>
        <p:nvSpPr>
          <p:cNvPr id="18455" name="Line 26"/>
          <p:cNvSpPr>
            <a:spLocks noChangeShapeType="1"/>
          </p:cNvSpPr>
          <p:nvPr/>
        </p:nvSpPr>
        <p:spPr bwMode="auto">
          <a:xfrm>
            <a:off x="2628900" y="2852738"/>
            <a:ext cx="1588" cy="2873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56" name="Line 27"/>
          <p:cNvSpPr>
            <a:spLocks noChangeShapeType="1"/>
          </p:cNvSpPr>
          <p:nvPr/>
        </p:nvSpPr>
        <p:spPr bwMode="auto">
          <a:xfrm>
            <a:off x="2628900" y="3357563"/>
            <a:ext cx="1588" cy="358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57" name="Line 28"/>
          <p:cNvSpPr>
            <a:spLocks noChangeShapeType="1"/>
          </p:cNvSpPr>
          <p:nvPr/>
        </p:nvSpPr>
        <p:spPr bwMode="auto">
          <a:xfrm>
            <a:off x="323850" y="2349500"/>
            <a:ext cx="2232025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58" name="Line 29"/>
          <p:cNvSpPr>
            <a:spLocks noChangeShapeType="1"/>
          </p:cNvSpPr>
          <p:nvPr/>
        </p:nvSpPr>
        <p:spPr bwMode="auto">
          <a:xfrm>
            <a:off x="2627313" y="1628775"/>
            <a:ext cx="1587" cy="287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59" name="AutoShape 30"/>
          <p:cNvSpPr>
            <a:spLocks noChangeArrowheads="1"/>
          </p:cNvSpPr>
          <p:nvPr/>
        </p:nvSpPr>
        <p:spPr bwMode="auto">
          <a:xfrm>
            <a:off x="1692275" y="1917700"/>
            <a:ext cx="2016125" cy="215900"/>
          </a:xfrm>
          <a:prstGeom prst="flowChartProcess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 b="1">
                <a:ea typeface="宋体" panose="02010600030101010101" pitchFamily="2" charset="-122"/>
              </a:rPr>
              <a:t>low=0;high=n-1;</a:t>
            </a:r>
            <a:endParaRPr lang="zh-CN" altLang="en-US" b="1">
              <a:ea typeface="宋体" panose="02010600030101010101" pitchFamily="2" charset="-122"/>
            </a:endParaRPr>
          </a:p>
        </p:txBody>
      </p:sp>
      <p:sp>
        <p:nvSpPr>
          <p:cNvPr id="18460" name="Line 31"/>
          <p:cNvSpPr>
            <a:spLocks noChangeShapeType="1"/>
          </p:cNvSpPr>
          <p:nvPr/>
        </p:nvSpPr>
        <p:spPr bwMode="auto">
          <a:xfrm>
            <a:off x="2627313" y="2133600"/>
            <a:ext cx="1587" cy="358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61" name="Text Box 32"/>
          <p:cNvSpPr txBox="1">
            <a:spLocks noChangeArrowheads="1"/>
          </p:cNvSpPr>
          <p:nvPr/>
        </p:nvSpPr>
        <p:spPr bwMode="auto">
          <a:xfrm>
            <a:off x="2555875" y="2781300"/>
            <a:ext cx="2159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Y</a:t>
            </a:r>
          </a:p>
        </p:txBody>
      </p:sp>
      <p:sp>
        <p:nvSpPr>
          <p:cNvPr id="18462" name="Line 33"/>
          <p:cNvSpPr>
            <a:spLocks noChangeShapeType="1"/>
          </p:cNvSpPr>
          <p:nvPr/>
        </p:nvSpPr>
        <p:spPr bwMode="auto">
          <a:xfrm>
            <a:off x="3348038" y="2636838"/>
            <a:ext cx="576262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63" name="AutoShape 34"/>
          <p:cNvSpPr>
            <a:spLocks noChangeArrowheads="1"/>
          </p:cNvSpPr>
          <p:nvPr/>
        </p:nvSpPr>
        <p:spPr bwMode="auto">
          <a:xfrm>
            <a:off x="3804851" y="2565400"/>
            <a:ext cx="1079500" cy="215900"/>
          </a:xfrm>
          <a:prstGeom prst="flowChartProcess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 sz="1600" b="1" dirty="0">
                <a:ea typeface="宋体" panose="02010600030101010101" pitchFamily="2" charset="-122"/>
              </a:rPr>
              <a:t>return-1</a:t>
            </a:r>
          </a:p>
        </p:txBody>
      </p:sp>
      <p:sp>
        <p:nvSpPr>
          <p:cNvPr id="18464" name="Text Box 35"/>
          <p:cNvSpPr txBox="1">
            <a:spLocks noChangeArrowheads="1"/>
          </p:cNvSpPr>
          <p:nvPr/>
        </p:nvSpPr>
        <p:spPr bwMode="auto">
          <a:xfrm>
            <a:off x="3492500" y="2349500"/>
            <a:ext cx="2159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N</a:t>
            </a:r>
          </a:p>
        </p:txBody>
      </p:sp>
      <p:sp>
        <p:nvSpPr>
          <p:cNvPr id="18465" name="AutoShape 36"/>
          <p:cNvSpPr>
            <a:spLocks noChangeArrowheads="1"/>
          </p:cNvSpPr>
          <p:nvPr/>
        </p:nvSpPr>
        <p:spPr bwMode="auto">
          <a:xfrm>
            <a:off x="2411413" y="1341438"/>
            <a:ext cx="431800" cy="287337"/>
          </a:xfrm>
          <a:prstGeom prst="flowChartConnector">
            <a:avLst/>
          </a:prstGeom>
          <a:solidFill>
            <a:srgbClr val="FFC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endParaRPr lang="zh-CN" altLang="en-US"/>
          </a:p>
        </p:txBody>
      </p:sp>
      <p:sp>
        <p:nvSpPr>
          <p:cNvPr id="18467" name="Oval 38"/>
          <p:cNvSpPr>
            <a:spLocks noChangeArrowheads="1"/>
          </p:cNvSpPr>
          <p:nvPr/>
        </p:nvSpPr>
        <p:spPr bwMode="auto">
          <a:xfrm>
            <a:off x="1835150" y="4652963"/>
            <a:ext cx="1512888" cy="7207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endParaRPr lang="zh-CN" altLang="en-US"/>
          </a:p>
        </p:txBody>
      </p:sp>
      <p:sp>
        <p:nvSpPr>
          <p:cNvPr id="19495" name="Line 39"/>
          <p:cNvSpPr>
            <a:spLocks noChangeShapeType="1"/>
          </p:cNvSpPr>
          <p:nvPr/>
        </p:nvSpPr>
        <p:spPr bwMode="auto">
          <a:xfrm>
            <a:off x="2843213" y="2420938"/>
            <a:ext cx="2016125" cy="1587"/>
          </a:xfrm>
          <a:prstGeom prst="line">
            <a:avLst/>
          </a:prstGeom>
          <a:noFill/>
          <a:ln w="19050">
            <a:solidFill>
              <a:srgbClr val="CC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96" name="Line 40"/>
          <p:cNvSpPr>
            <a:spLocks noChangeShapeType="1"/>
          </p:cNvSpPr>
          <p:nvPr/>
        </p:nvSpPr>
        <p:spPr bwMode="auto">
          <a:xfrm flipH="1">
            <a:off x="2771775" y="2420938"/>
            <a:ext cx="1588" cy="1295400"/>
          </a:xfrm>
          <a:prstGeom prst="line">
            <a:avLst/>
          </a:prstGeom>
          <a:noFill/>
          <a:ln w="19050">
            <a:solidFill>
              <a:srgbClr val="CC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97" name="Line 41"/>
          <p:cNvSpPr>
            <a:spLocks noChangeShapeType="1"/>
          </p:cNvSpPr>
          <p:nvPr/>
        </p:nvSpPr>
        <p:spPr bwMode="auto">
          <a:xfrm>
            <a:off x="2771775" y="4221163"/>
            <a:ext cx="1588" cy="1295400"/>
          </a:xfrm>
          <a:prstGeom prst="line">
            <a:avLst/>
          </a:prstGeom>
          <a:noFill/>
          <a:ln w="19050">
            <a:solidFill>
              <a:srgbClr val="CC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98" name="Freeform 42"/>
          <p:cNvSpPr>
            <a:spLocks/>
          </p:cNvSpPr>
          <p:nvPr/>
        </p:nvSpPr>
        <p:spPr bwMode="auto">
          <a:xfrm>
            <a:off x="152400" y="2420938"/>
            <a:ext cx="2259013" cy="3357562"/>
          </a:xfrm>
          <a:custGeom>
            <a:avLst/>
            <a:gdLst>
              <a:gd name="T0" fmla="*/ 1611313 w 1423"/>
              <a:gd name="T1" fmla="*/ 1584324 h 2115"/>
              <a:gd name="T2" fmla="*/ 1308100 w 1423"/>
              <a:gd name="T3" fmla="*/ 3357562 h 2115"/>
              <a:gd name="T4" fmla="*/ 0 w 1423"/>
              <a:gd name="T5" fmla="*/ 3243261 h 2115"/>
              <a:gd name="T6" fmla="*/ 342900 w 1423"/>
              <a:gd name="T7" fmla="*/ 93662 h 2115"/>
              <a:gd name="T8" fmla="*/ 2259013 w 1423"/>
              <a:gd name="T9" fmla="*/ 0 h 211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23"/>
              <a:gd name="T16" fmla="*/ 0 h 2115"/>
              <a:gd name="T17" fmla="*/ 1423 w 1423"/>
              <a:gd name="T18" fmla="*/ 2115 h 211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23" h="2115">
                <a:moveTo>
                  <a:pt x="1015" y="998"/>
                </a:moveTo>
                <a:lnTo>
                  <a:pt x="824" y="2115"/>
                </a:lnTo>
                <a:lnTo>
                  <a:pt x="0" y="2043"/>
                </a:lnTo>
                <a:lnTo>
                  <a:pt x="216" y="59"/>
                </a:lnTo>
                <a:lnTo>
                  <a:pt x="1423" y="0"/>
                </a:lnTo>
              </a:path>
            </a:pathLst>
          </a:custGeom>
          <a:noFill/>
          <a:ln w="19050" cap="flat" cmpd="sng">
            <a:solidFill>
              <a:srgbClr val="CC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99" name="Freeform 43"/>
          <p:cNvSpPr>
            <a:spLocks/>
          </p:cNvSpPr>
          <p:nvPr/>
        </p:nvSpPr>
        <p:spPr bwMode="auto">
          <a:xfrm>
            <a:off x="381000" y="2451100"/>
            <a:ext cx="3619500" cy="3505200"/>
          </a:xfrm>
          <a:custGeom>
            <a:avLst/>
            <a:gdLst>
              <a:gd name="T0" fmla="*/ 2984499 w 2280"/>
              <a:gd name="T1" fmla="*/ 1689100 h 2208"/>
              <a:gd name="T2" fmla="*/ 3619500 w 2280"/>
              <a:gd name="T3" fmla="*/ 2959099 h 2208"/>
              <a:gd name="T4" fmla="*/ 0 w 2280"/>
              <a:gd name="T5" fmla="*/ 3505200 h 2208"/>
              <a:gd name="T6" fmla="*/ 419100 w 2280"/>
              <a:gd name="T7" fmla="*/ 279400 h 2208"/>
              <a:gd name="T8" fmla="*/ 1206500 w 2280"/>
              <a:gd name="T9" fmla="*/ 165100 h 2208"/>
              <a:gd name="T10" fmla="*/ 2070100 w 2280"/>
              <a:gd name="T11" fmla="*/ 0 h 220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280"/>
              <a:gd name="T19" fmla="*/ 0 h 2208"/>
              <a:gd name="T20" fmla="*/ 2280 w 2280"/>
              <a:gd name="T21" fmla="*/ 2208 h 220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280" h="2208">
                <a:moveTo>
                  <a:pt x="1880" y="1064"/>
                </a:moveTo>
                <a:lnTo>
                  <a:pt x="2280" y="1864"/>
                </a:lnTo>
                <a:lnTo>
                  <a:pt x="0" y="2208"/>
                </a:lnTo>
                <a:lnTo>
                  <a:pt x="264" y="176"/>
                </a:lnTo>
                <a:lnTo>
                  <a:pt x="760" y="104"/>
                </a:lnTo>
                <a:lnTo>
                  <a:pt x="1304" y="0"/>
                </a:lnTo>
              </a:path>
            </a:pathLst>
          </a:custGeom>
          <a:noFill/>
          <a:ln w="19050" cap="flat" cmpd="sng">
            <a:solidFill>
              <a:srgbClr val="0000FF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20</a:t>
            </a:fld>
            <a:endParaRPr lang="zh-CN" altLang="en-US" dirty="0"/>
          </a:p>
        </p:txBody>
      </p:sp>
      <p:sp>
        <p:nvSpPr>
          <p:cNvPr id="46" name="Rectangle 2"/>
          <p:cNvSpPr>
            <a:spLocks noGrp="1" noChangeArrowheads="1"/>
          </p:cNvSpPr>
          <p:nvPr>
            <p:ph type="title"/>
          </p:nvPr>
        </p:nvSpPr>
        <p:spPr>
          <a:xfrm>
            <a:off x="402284" y="692696"/>
            <a:ext cx="8001000" cy="711200"/>
          </a:xfrm>
        </p:spPr>
        <p:txBody>
          <a:bodyPr>
            <a:normAutofit/>
          </a:bodyPr>
          <a:lstStyle/>
          <a:p>
            <a:pPr marL="342900" indent="-342900" eaLnBrk="1" hangingPunct="1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800" dirty="0">
                <a:latin typeface="Times New Roman" pitchFamily="18" charset="0"/>
                <a:ea typeface="仿宋" pitchFamily="49" charset="-122"/>
                <a:cs typeface="+mn-cs"/>
              </a:rPr>
              <a:t>10.2.2 </a:t>
            </a:r>
            <a:r>
              <a:rPr lang="zh-CN" altLang="en-US" sz="2800" dirty="0">
                <a:latin typeface="Times New Roman" pitchFamily="18" charset="0"/>
                <a:ea typeface="仿宋" pitchFamily="49" charset="-122"/>
                <a:cs typeface="+mn-cs"/>
              </a:rPr>
              <a:t>有序表的查找</a:t>
            </a:r>
            <a:r>
              <a:rPr lang="en-US" altLang="zh-CN" sz="2800" dirty="0">
                <a:latin typeface="Times New Roman" pitchFamily="18" charset="0"/>
                <a:ea typeface="仿宋" pitchFamily="49" charset="-122"/>
                <a:cs typeface="+mn-cs"/>
              </a:rPr>
              <a:t>——</a:t>
            </a:r>
            <a:r>
              <a:rPr lang="zh-CN" altLang="en-US" sz="2800" dirty="0">
                <a:latin typeface="Times New Roman" pitchFamily="18" charset="0"/>
                <a:ea typeface="仿宋" pitchFamily="49" charset="-122"/>
                <a:cs typeface="+mn-cs"/>
              </a:rPr>
              <a:t>二分查找</a:t>
            </a:r>
          </a:p>
        </p:txBody>
      </p:sp>
      <p:grpSp>
        <p:nvGrpSpPr>
          <p:cNvPr id="52" name="组合 51"/>
          <p:cNvGrpSpPr/>
          <p:nvPr/>
        </p:nvGrpSpPr>
        <p:grpSpPr>
          <a:xfrm>
            <a:off x="-890841" y="72640"/>
            <a:ext cx="8271153" cy="665363"/>
            <a:chOff x="-594808" y="1867387"/>
            <a:chExt cx="8913447" cy="707532"/>
          </a:xfrm>
        </p:grpSpPr>
        <p:grpSp>
          <p:nvGrpSpPr>
            <p:cNvPr id="53" name="组合 52"/>
            <p:cNvGrpSpPr/>
            <p:nvPr/>
          </p:nvGrpSpPr>
          <p:grpSpPr>
            <a:xfrm>
              <a:off x="-594808" y="1867387"/>
              <a:ext cx="8913447" cy="707532"/>
              <a:chOff x="-635833" y="1327471"/>
              <a:chExt cx="8913447" cy="707532"/>
            </a:xfrm>
          </p:grpSpPr>
          <p:sp>
            <p:nvSpPr>
              <p:cNvPr id="55" name="TextBox 6"/>
              <p:cNvSpPr txBox="1">
                <a:spLocks noChangeArrowheads="1"/>
              </p:cNvSpPr>
              <p:nvPr/>
            </p:nvSpPr>
            <p:spPr bwMode="auto">
              <a:xfrm>
                <a:off x="-635833" y="1347734"/>
                <a:ext cx="8913447" cy="687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10.2 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顺序表的查找</a:t>
                </a:r>
              </a:p>
            </p:txBody>
          </p:sp>
          <p:sp>
            <p:nvSpPr>
              <p:cNvPr id="56" name="Freeform 5"/>
              <p:cNvSpPr>
                <a:spLocks/>
              </p:cNvSpPr>
              <p:nvPr/>
            </p:nvSpPr>
            <p:spPr bwMode="auto">
              <a:xfrm>
                <a:off x="958665" y="1327471"/>
                <a:ext cx="842977" cy="683003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FFFF66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</p:grpSp>
        <p:pic>
          <p:nvPicPr>
            <p:cNvPr id="54" name="图片 5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89825" y="2023053"/>
              <a:ext cx="495511" cy="4238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17976484"/>
      </p:ext>
    </p:extLst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94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94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9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94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9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94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94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9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94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9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194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194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19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1946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1946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1946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1946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8655" y="1454710"/>
            <a:ext cx="4681537" cy="503238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1800" b="1" dirty="0"/>
              <a:t>算法分析：借助二分查找判定树来描述</a:t>
            </a:r>
          </a:p>
        </p:txBody>
      </p:sp>
      <p:sp>
        <p:nvSpPr>
          <p:cNvPr id="20514" name="Oval 34"/>
          <p:cNvSpPr>
            <a:spLocks noChangeArrowheads="1"/>
          </p:cNvSpPr>
          <p:nvPr/>
        </p:nvSpPr>
        <p:spPr bwMode="auto">
          <a:xfrm>
            <a:off x="2770188" y="4508648"/>
            <a:ext cx="360362" cy="360363"/>
          </a:xfrm>
          <a:prstGeom prst="ellipse">
            <a:avLst/>
          </a:prstGeom>
          <a:solidFill>
            <a:srgbClr val="FFFF00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 eaLnBrk="1" hangingPunct="1"/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20515" name="Oval 35"/>
          <p:cNvSpPr>
            <a:spLocks noChangeArrowheads="1"/>
          </p:cNvSpPr>
          <p:nvPr/>
        </p:nvSpPr>
        <p:spPr bwMode="auto">
          <a:xfrm>
            <a:off x="1547813" y="4508648"/>
            <a:ext cx="360362" cy="360363"/>
          </a:xfrm>
          <a:prstGeom prst="ellipse">
            <a:avLst/>
          </a:prstGeom>
          <a:solidFill>
            <a:srgbClr val="FFFF00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 eaLnBrk="1" hangingPunct="1"/>
            <a:r>
              <a:rPr lang="en-US" altLang="zh-CN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20516" name="Oval 36"/>
          <p:cNvSpPr>
            <a:spLocks noChangeArrowheads="1"/>
          </p:cNvSpPr>
          <p:nvPr/>
        </p:nvSpPr>
        <p:spPr bwMode="auto">
          <a:xfrm>
            <a:off x="3130550" y="5300811"/>
            <a:ext cx="360363" cy="360362"/>
          </a:xfrm>
          <a:prstGeom prst="ellipse">
            <a:avLst/>
          </a:prstGeom>
          <a:solidFill>
            <a:srgbClr val="FFFF00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 eaLnBrk="1" hangingPunct="1"/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6</a:t>
            </a:r>
          </a:p>
        </p:txBody>
      </p:sp>
      <p:grpSp>
        <p:nvGrpSpPr>
          <p:cNvPr id="4" name="Group 37"/>
          <p:cNvGrpSpPr>
            <a:grpSpLocks/>
          </p:cNvGrpSpPr>
          <p:nvPr/>
        </p:nvGrpSpPr>
        <p:grpSpPr bwMode="auto">
          <a:xfrm>
            <a:off x="1116013" y="4821385"/>
            <a:ext cx="1081087" cy="838201"/>
            <a:chOff x="0" y="-29"/>
            <a:chExt cx="681" cy="528"/>
          </a:xfrm>
        </p:grpSpPr>
        <p:sp>
          <p:nvSpPr>
            <p:cNvPr id="19519" name="Oval 38"/>
            <p:cNvSpPr>
              <a:spLocks noChangeArrowheads="1"/>
            </p:cNvSpPr>
            <p:nvPr/>
          </p:nvSpPr>
          <p:spPr bwMode="auto">
            <a:xfrm>
              <a:off x="0" y="272"/>
              <a:ext cx="227" cy="227"/>
            </a:xfrm>
            <a:prstGeom prst="ellipse">
              <a:avLst/>
            </a:prstGeom>
            <a:solidFill>
              <a:srgbClr val="FFFF0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>
                  <a:latin typeface="Tahoma" panose="020B0604030504040204" pitchFamily="34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9520" name="Oval 39"/>
            <p:cNvSpPr>
              <a:spLocks noChangeArrowheads="1"/>
            </p:cNvSpPr>
            <p:nvPr/>
          </p:nvSpPr>
          <p:spPr bwMode="auto">
            <a:xfrm>
              <a:off x="454" y="272"/>
              <a:ext cx="227" cy="227"/>
            </a:xfrm>
            <a:prstGeom prst="ellipse">
              <a:avLst/>
            </a:prstGeom>
            <a:solidFill>
              <a:srgbClr val="FFFF0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>
                  <a:latin typeface="Tahoma" panose="020B0604030504040204" pitchFamily="34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19521" name="Line 40"/>
            <p:cNvSpPr>
              <a:spLocks noChangeShapeType="1"/>
            </p:cNvSpPr>
            <p:nvPr/>
          </p:nvSpPr>
          <p:spPr bwMode="auto">
            <a:xfrm flipH="1">
              <a:off x="91" y="-29"/>
              <a:ext cx="220" cy="30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22" name="Line 41"/>
            <p:cNvSpPr>
              <a:spLocks noChangeShapeType="1"/>
            </p:cNvSpPr>
            <p:nvPr/>
          </p:nvSpPr>
          <p:spPr bwMode="auto">
            <a:xfrm>
              <a:off x="408" y="0"/>
              <a:ext cx="136" cy="2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522" name="Oval 42"/>
          <p:cNvSpPr>
            <a:spLocks noChangeArrowheads="1"/>
          </p:cNvSpPr>
          <p:nvPr/>
        </p:nvSpPr>
        <p:spPr bwMode="auto">
          <a:xfrm>
            <a:off x="2266950" y="3860948"/>
            <a:ext cx="360363" cy="360363"/>
          </a:xfrm>
          <a:prstGeom prst="ellipse">
            <a:avLst/>
          </a:prstGeom>
          <a:solidFill>
            <a:srgbClr val="FFFF00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 eaLnBrk="1" hangingPunct="1"/>
            <a:r>
              <a:rPr lang="en-US" altLang="zh-CN">
                <a:latin typeface="Tahoma" panose="020B0604030504040204" pitchFamily="34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20523" name="Oval 43"/>
          <p:cNvSpPr>
            <a:spLocks noChangeArrowheads="1"/>
          </p:cNvSpPr>
          <p:nvPr/>
        </p:nvSpPr>
        <p:spPr bwMode="auto">
          <a:xfrm>
            <a:off x="5807075" y="3860948"/>
            <a:ext cx="360363" cy="360363"/>
          </a:xfrm>
          <a:prstGeom prst="ellipse">
            <a:avLst/>
          </a:prstGeom>
          <a:solidFill>
            <a:srgbClr val="FFFF00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 eaLnBrk="1" hangingPunct="1"/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13</a:t>
            </a:r>
          </a:p>
        </p:txBody>
      </p:sp>
      <p:sp>
        <p:nvSpPr>
          <p:cNvPr id="20524" name="Oval 44"/>
          <p:cNvSpPr>
            <a:spLocks noChangeArrowheads="1"/>
          </p:cNvSpPr>
          <p:nvPr/>
        </p:nvSpPr>
        <p:spPr bwMode="auto">
          <a:xfrm>
            <a:off x="6310313" y="4508648"/>
            <a:ext cx="360362" cy="360363"/>
          </a:xfrm>
          <a:prstGeom prst="ellipse">
            <a:avLst/>
          </a:prstGeom>
          <a:solidFill>
            <a:srgbClr val="FFFF00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 eaLnBrk="1" hangingPunct="1"/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15</a:t>
            </a:r>
          </a:p>
        </p:txBody>
      </p:sp>
      <p:sp>
        <p:nvSpPr>
          <p:cNvPr id="20525" name="Oval 45"/>
          <p:cNvSpPr>
            <a:spLocks noChangeArrowheads="1"/>
          </p:cNvSpPr>
          <p:nvPr/>
        </p:nvSpPr>
        <p:spPr bwMode="auto">
          <a:xfrm>
            <a:off x="5159375" y="4508648"/>
            <a:ext cx="360363" cy="360363"/>
          </a:xfrm>
          <a:prstGeom prst="ellipse">
            <a:avLst/>
          </a:prstGeom>
          <a:solidFill>
            <a:srgbClr val="FFFF00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 eaLnBrk="1" hangingPunct="1"/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10</a:t>
            </a:r>
          </a:p>
        </p:txBody>
      </p:sp>
      <p:sp>
        <p:nvSpPr>
          <p:cNvPr id="20526" name="Oval 46"/>
          <p:cNvSpPr>
            <a:spLocks noChangeArrowheads="1"/>
          </p:cNvSpPr>
          <p:nvPr/>
        </p:nvSpPr>
        <p:spPr bwMode="auto">
          <a:xfrm>
            <a:off x="4799013" y="5300811"/>
            <a:ext cx="360362" cy="360362"/>
          </a:xfrm>
          <a:prstGeom prst="ellipse">
            <a:avLst/>
          </a:prstGeom>
          <a:solidFill>
            <a:srgbClr val="FFFF00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 eaLnBrk="1" hangingPunct="1"/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9</a:t>
            </a:r>
          </a:p>
        </p:txBody>
      </p:sp>
      <p:sp>
        <p:nvSpPr>
          <p:cNvPr id="20527" name="Oval 47"/>
          <p:cNvSpPr>
            <a:spLocks noChangeArrowheads="1"/>
          </p:cNvSpPr>
          <p:nvPr/>
        </p:nvSpPr>
        <p:spPr bwMode="auto">
          <a:xfrm>
            <a:off x="6670675" y="5300811"/>
            <a:ext cx="360363" cy="360362"/>
          </a:xfrm>
          <a:prstGeom prst="ellipse">
            <a:avLst/>
          </a:prstGeom>
          <a:solidFill>
            <a:srgbClr val="FFFF00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 eaLnBrk="1" hangingPunct="1"/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16</a:t>
            </a:r>
          </a:p>
        </p:txBody>
      </p:sp>
      <p:sp>
        <p:nvSpPr>
          <p:cNvPr id="20528" name="Oval 48"/>
          <p:cNvSpPr>
            <a:spLocks noChangeArrowheads="1"/>
          </p:cNvSpPr>
          <p:nvPr/>
        </p:nvSpPr>
        <p:spPr bwMode="auto">
          <a:xfrm>
            <a:off x="3995738" y="3284686"/>
            <a:ext cx="360362" cy="360362"/>
          </a:xfrm>
          <a:prstGeom prst="ellipse">
            <a:avLst/>
          </a:prstGeom>
          <a:solidFill>
            <a:srgbClr val="FFFF00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 eaLnBrk="1" hangingPunct="1"/>
            <a:r>
              <a:rPr lang="en-US" altLang="zh-CN">
                <a:latin typeface="Tahoma" panose="020B0604030504040204" pitchFamily="34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20529" name="Text Box 49"/>
          <p:cNvSpPr txBox="1">
            <a:spLocks noChangeArrowheads="1"/>
          </p:cNvSpPr>
          <p:nvPr/>
        </p:nvSpPr>
        <p:spPr bwMode="auto">
          <a:xfrm>
            <a:off x="3924300" y="2924323"/>
            <a:ext cx="7270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eaLnBrk="1" hangingPunct="1"/>
            <a:r>
              <a:rPr lang="en-US" altLang="zh-CN">
                <a:latin typeface="Tahoma" panose="020B0604030504040204" pitchFamily="34" charset="0"/>
                <a:ea typeface="宋体" panose="02010600030101010101" pitchFamily="2" charset="-122"/>
              </a:rPr>
              <a:t>0~17</a:t>
            </a:r>
          </a:p>
        </p:txBody>
      </p:sp>
      <p:grpSp>
        <p:nvGrpSpPr>
          <p:cNvPr id="5" name="Group 50"/>
          <p:cNvGrpSpPr>
            <a:grpSpLocks/>
          </p:cNvGrpSpPr>
          <p:nvPr/>
        </p:nvGrpSpPr>
        <p:grpSpPr bwMode="auto">
          <a:xfrm>
            <a:off x="2051050" y="3500586"/>
            <a:ext cx="4267200" cy="415924"/>
            <a:chOff x="0" y="0"/>
            <a:chExt cx="2688" cy="262"/>
          </a:xfrm>
        </p:grpSpPr>
        <p:sp>
          <p:nvSpPr>
            <p:cNvPr id="19515" name="Line 51"/>
            <p:cNvSpPr>
              <a:spLocks noChangeShapeType="1"/>
            </p:cNvSpPr>
            <p:nvPr/>
          </p:nvSpPr>
          <p:spPr bwMode="auto">
            <a:xfrm flipH="1">
              <a:off x="318" y="0"/>
              <a:ext cx="907" cy="25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16" name="Line 52"/>
            <p:cNvSpPr>
              <a:spLocks noChangeShapeType="1"/>
            </p:cNvSpPr>
            <p:nvPr/>
          </p:nvSpPr>
          <p:spPr bwMode="auto">
            <a:xfrm flipH="1" flipV="1">
              <a:off x="1452" y="0"/>
              <a:ext cx="952" cy="26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17" name="Text Box 53"/>
            <p:cNvSpPr txBox="1">
              <a:spLocks noChangeArrowheads="1"/>
            </p:cNvSpPr>
            <p:nvPr/>
          </p:nvSpPr>
          <p:spPr bwMode="auto">
            <a:xfrm>
              <a:off x="2230" y="0"/>
              <a:ext cx="45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dirty="0">
                  <a:latin typeface="Tahoma" panose="020B0604030504040204" pitchFamily="34" charset="0"/>
                  <a:ea typeface="宋体" panose="02010600030101010101" pitchFamily="2" charset="-122"/>
                </a:rPr>
                <a:t>9~17</a:t>
              </a:r>
            </a:p>
          </p:txBody>
        </p:sp>
        <p:sp>
          <p:nvSpPr>
            <p:cNvPr id="19518" name="Text Box 54"/>
            <p:cNvSpPr txBox="1">
              <a:spLocks noChangeArrowheads="1"/>
            </p:cNvSpPr>
            <p:nvPr/>
          </p:nvSpPr>
          <p:spPr bwMode="auto">
            <a:xfrm>
              <a:off x="0" y="0"/>
              <a:ext cx="37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>
                  <a:latin typeface="Tahoma" panose="020B0604030504040204" pitchFamily="34" charset="0"/>
                  <a:ea typeface="宋体" panose="02010600030101010101" pitchFamily="2" charset="-122"/>
                </a:rPr>
                <a:t>0~7</a:t>
              </a:r>
            </a:p>
          </p:txBody>
        </p:sp>
      </p:grpSp>
      <p:grpSp>
        <p:nvGrpSpPr>
          <p:cNvPr id="6" name="Group 55"/>
          <p:cNvGrpSpPr>
            <a:grpSpLocks/>
          </p:cNvGrpSpPr>
          <p:nvPr/>
        </p:nvGrpSpPr>
        <p:grpSpPr bwMode="auto">
          <a:xfrm>
            <a:off x="4727575" y="4110185"/>
            <a:ext cx="2652713" cy="476251"/>
            <a:chOff x="0" y="-24"/>
            <a:chExt cx="1671" cy="300"/>
          </a:xfrm>
        </p:grpSpPr>
        <p:sp>
          <p:nvSpPr>
            <p:cNvPr id="19511" name="Line 56"/>
            <p:cNvSpPr>
              <a:spLocks noChangeShapeType="1"/>
            </p:cNvSpPr>
            <p:nvPr/>
          </p:nvSpPr>
          <p:spPr bwMode="auto">
            <a:xfrm flipH="1">
              <a:off x="453" y="-24"/>
              <a:ext cx="232" cy="27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12" name="Line 57"/>
            <p:cNvSpPr>
              <a:spLocks noChangeShapeType="1"/>
            </p:cNvSpPr>
            <p:nvPr/>
          </p:nvSpPr>
          <p:spPr bwMode="auto">
            <a:xfrm>
              <a:off x="866" y="10"/>
              <a:ext cx="215" cy="22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13" name="Text Box 58"/>
            <p:cNvSpPr txBox="1">
              <a:spLocks noChangeArrowheads="1"/>
            </p:cNvSpPr>
            <p:nvPr/>
          </p:nvSpPr>
          <p:spPr bwMode="auto">
            <a:xfrm>
              <a:off x="0" y="0"/>
              <a:ext cx="45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>
                  <a:latin typeface="Tahoma" panose="020B0604030504040204" pitchFamily="34" charset="0"/>
                  <a:ea typeface="宋体" panose="02010600030101010101" pitchFamily="2" charset="-122"/>
                </a:rPr>
                <a:t>9~12</a:t>
              </a:r>
            </a:p>
          </p:txBody>
        </p:sp>
        <p:sp>
          <p:nvSpPr>
            <p:cNvPr id="19514" name="Text Box 59"/>
            <p:cNvSpPr txBox="1">
              <a:spLocks noChangeArrowheads="1"/>
            </p:cNvSpPr>
            <p:nvPr/>
          </p:nvSpPr>
          <p:spPr bwMode="auto">
            <a:xfrm>
              <a:off x="1134" y="45"/>
              <a:ext cx="53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>
                  <a:latin typeface="Tahoma" panose="020B0604030504040204" pitchFamily="34" charset="0"/>
                  <a:ea typeface="宋体" panose="02010600030101010101" pitchFamily="2" charset="-122"/>
                </a:rPr>
                <a:t>14~17</a:t>
              </a:r>
            </a:p>
          </p:txBody>
        </p:sp>
      </p:grpSp>
      <p:grpSp>
        <p:nvGrpSpPr>
          <p:cNvPr id="7" name="Group 60"/>
          <p:cNvGrpSpPr>
            <a:grpSpLocks/>
          </p:cNvGrpSpPr>
          <p:nvPr/>
        </p:nvGrpSpPr>
        <p:grpSpPr bwMode="auto">
          <a:xfrm>
            <a:off x="1258888" y="4148286"/>
            <a:ext cx="2185987" cy="401637"/>
            <a:chOff x="0" y="0"/>
            <a:chExt cx="1377" cy="253"/>
          </a:xfrm>
        </p:grpSpPr>
        <p:sp>
          <p:nvSpPr>
            <p:cNvPr id="19507" name="Line 61"/>
            <p:cNvSpPr>
              <a:spLocks noChangeShapeType="1"/>
            </p:cNvSpPr>
            <p:nvPr/>
          </p:nvSpPr>
          <p:spPr bwMode="auto">
            <a:xfrm flipH="1">
              <a:off x="364" y="0"/>
              <a:ext cx="294" cy="25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08" name="Line 62"/>
            <p:cNvSpPr>
              <a:spLocks noChangeShapeType="1"/>
            </p:cNvSpPr>
            <p:nvPr/>
          </p:nvSpPr>
          <p:spPr bwMode="auto">
            <a:xfrm>
              <a:off x="832" y="0"/>
              <a:ext cx="211" cy="22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09" name="Text Box 63"/>
            <p:cNvSpPr txBox="1">
              <a:spLocks noChangeArrowheads="1"/>
            </p:cNvSpPr>
            <p:nvPr/>
          </p:nvSpPr>
          <p:spPr bwMode="auto">
            <a:xfrm>
              <a:off x="0" y="0"/>
              <a:ext cx="37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>
                  <a:latin typeface="Tahoma" panose="020B0604030504040204" pitchFamily="34" charset="0"/>
                  <a:ea typeface="宋体" panose="02010600030101010101" pitchFamily="2" charset="-122"/>
                </a:rPr>
                <a:t>0~2</a:t>
              </a:r>
            </a:p>
          </p:txBody>
        </p:sp>
        <p:sp>
          <p:nvSpPr>
            <p:cNvPr id="19510" name="Text Box 64"/>
            <p:cNvSpPr txBox="1">
              <a:spLocks noChangeArrowheads="1"/>
            </p:cNvSpPr>
            <p:nvPr/>
          </p:nvSpPr>
          <p:spPr bwMode="auto">
            <a:xfrm>
              <a:off x="998" y="0"/>
              <a:ext cx="37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>
                  <a:latin typeface="Tahoma" panose="020B0604030504040204" pitchFamily="34" charset="0"/>
                  <a:ea typeface="宋体" panose="02010600030101010101" pitchFamily="2" charset="-122"/>
                </a:rPr>
                <a:t>4~7</a:t>
              </a:r>
            </a:p>
          </p:txBody>
        </p:sp>
      </p:grpSp>
      <p:grpSp>
        <p:nvGrpSpPr>
          <p:cNvPr id="8" name="Group 65"/>
          <p:cNvGrpSpPr>
            <a:grpSpLocks/>
          </p:cNvGrpSpPr>
          <p:nvPr/>
        </p:nvGrpSpPr>
        <p:grpSpPr bwMode="auto">
          <a:xfrm>
            <a:off x="2411413" y="4846786"/>
            <a:ext cx="1466850" cy="814387"/>
            <a:chOff x="0" y="-14"/>
            <a:chExt cx="924" cy="513"/>
          </a:xfrm>
        </p:grpSpPr>
        <p:sp>
          <p:nvSpPr>
            <p:cNvPr id="19503" name="Oval 66"/>
            <p:cNvSpPr>
              <a:spLocks noChangeArrowheads="1"/>
            </p:cNvSpPr>
            <p:nvPr/>
          </p:nvSpPr>
          <p:spPr bwMode="auto">
            <a:xfrm>
              <a:off x="0" y="272"/>
              <a:ext cx="227" cy="227"/>
            </a:xfrm>
            <a:prstGeom prst="ellipse">
              <a:avLst/>
            </a:prstGeom>
            <a:solidFill>
              <a:srgbClr val="FFFF0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 dirty="0">
                  <a:latin typeface="Tahoma" panose="020B0604030504040204" pitchFamily="34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19504" name="Line 67"/>
            <p:cNvSpPr>
              <a:spLocks noChangeShapeType="1"/>
            </p:cNvSpPr>
            <p:nvPr/>
          </p:nvSpPr>
          <p:spPr bwMode="auto">
            <a:xfrm flipH="1">
              <a:off x="90" y="-14"/>
              <a:ext cx="188" cy="2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05" name="Line 68"/>
            <p:cNvSpPr>
              <a:spLocks noChangeShapeType="1"/>
            </p:cNvSpPr>
            <p:nvPr/>
          </p:nvSpPr>
          <p:spPr bwMode="auto">
            <a:xfrm>
              <a:off x="408" y="-14"/>
              <a:ext cx="135" cy="2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06" name="Text Box 69"/>
            <p:cNvSpPr txBox="1">
              <a:spLocks noChangeArrowheads="1"/>
            </p:cNvSpPr>
            <p:nvPr/>
          </p:nvSpPr>
          <p:spPr bwMode="auto">
            <a:xfrm>
              <a:off x="545" y="90"/>
              <a:ext cx="37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>
                  <a:latin typeface="Tahoma" panose="020B0604030504040204" pitchFamily="34" charset="0"/>
                  <a:ea typeface="宋体" panose="02010600030101010101" pitchFamily="2" charset="-122"/>
                </a:rPr>
                <a:t>6~7</a:t>
              </a:r>
            </a:p>
          </p:txBody>
        </p:sp>
      </p:grpSp>
      <p:grpSp>
        <p:nvGrpSpPr>
          <p:cNvPr id="9" name="Group 70"/>
          <p:cNvGrpSpPr>
            <a:grpSpLocks/>
          </p:cNvGrpSpPr>
          <p:nvPr/>
        </p:nvGrpSpPr>
        <p:grpSpPr bwMode="auto">
          <a:xfrm>
            <a:off x="3397250" y="5618310"/>
            <a:ext cx="452438" cy="835026"/>
            <a:chOff x="-12" y="-27"/>
            <a:chExt cx="285" cy="526"/>
          </a:xfrm>
        </p:grpSpPr>
        <p:sp>
          <p:nvSpPr>
            <p:cNvPr id="19501" name="Oval 71"/>
            <p:cNvSpPr>
              <a:spLocks noChangeArrowheads="1"/>
            </p:cNvSpPr>
            <p:nvPr/>
          </p:nvSpPr>
          <p:spPr bwMode="auto">
            <a:xfrm>
              <a:off x="46" y="272"/>
              <a:ext cx="227" cy="227"/>
            </a:xfrm>
            <a:prstGeom prst="ellipse">
              <a:avLst/>
            </a:prstGeom>
            <a:solidFill>
              <a:srgbClr val="FFFF0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 dirty="0">
                  <a:latin typeface="Tahoma" panose="020B0604030504040204" pitchFamily="34" charset="0"/>
                  <a:ea typeface="宋体" panose="02010600030101010101" pitchFamily="2" charset="-122"/>
                </a:rPr>
                <a:t>7</a:t>
              </a:r>
            </a:p>
          </p:txBody>
        </p:sp>
        <p:sp>
          <p:nvSpPr>
            <p:cNvPr id="19502" name="Line 72"/>
            <p:cNvSpPr>
              <a:spLocks noChangeShapeType="1"/>
            </p:cNvSpPr>
            <p:nvPr/>
          </p:nvSpPr>
          <p:spPr bwMode="auto">
            <a:xfrm>
              <a:off x="-12" y="-27"/>
              <a:ext cx="148" cy="2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553" name="Oval 73"/>
          <p:cNvSpPr>
            <a:spLocks noChangeArrowheads="1"/>
          </p:cNvSpPr>
          <p:nvPr/>
        </p:nvSpPr>
        <p:spPr bwMode="auto">
          <a:xfrm>
            <a:off x="5795963" y="6116783"/>
            <a:ext cx="360362" cy="360363"/>
          </a:xfrm>
          <a:prstGeom prst="ellipse">
            <a:avLst/>
          </a:prstGeom>
          <a:solidFill>
            <a:srgbClr val="FFFF00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 eaLnBrk="1" hangingPunct="1"/>
            <a:r>
              <a:rPr lang="en-US" altLang="zh-CN">
                <a:latin typeface="Tahoma" panose="020B0604030504040204" pitchFamily="34" charset="0"/>
                <a:ea typeface="宋体" panose="02010600030101010101" pitchFamily="2" charset="-122"/>
              </a:rPr>
              <a:t>12</a:t>
            </a:r>
          </a:p>
        </p:txBody>
      </p:sp>
      <p:sp>
        <p:nvSpPr>
          <p:cNvPr id="20554" name="Line 74"/>
          <p:cNvSpPr>
            <a:spLocks noChangeShapeType="1"/>
          </p:cNvSpPr>
          <p:nvPr/>
        </p:nvSpPr>
        <p:spPr bwMode="auto">
          <a:xfrm>
            <a:off x="5784850" y="5588149"/>
            <a:ext cx="155576" cy="54624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55" name="Line 75"/>
          <p:cNvSpPr>
            <a:spLocks noChangeShapeType="1"/>
          </p:cNvSpPr>
          <p:nvPr/>
        </p:nvSpPr>
        <p:spPr bwMode="auto">
          <a:xfrm flipH="1">
            <a:off x="4954587" y="4847421"/>
            <a:ext cx="276226" cy="45180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56" name="Line 76"/>
          <p:cNvSpPr>
            <a:spLocks noChangeShapeType="1"/>
          </p:cNvSpPr>
          <p:nvPr/>
        </p:nvSpPr>
        <p:spPr bwMode="auto">
          <a:xfrm>
            <a:off x="5446713" y="4847421"/>
            <a:ext cx="215900" cy="47498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" name="Group 77"/>
          <p:cNvGrpSpPr>
            <a:grpSpLocks/>
          </p:cNvGrpSpPr>
          <p:nvPr/>
        </p:nvGrpSpPr>
        <p:grpSpPr bwMode="auto">
          <a:xfrm>
            <a:off x="5457825" y="4821386"/>
            <a:ext cx="852488" cy="839788"/>
            <a:chOff x="104" y="-30"/>
            <a:chExt cx="537" cy="529"/>
          </a:xfrm>
        </p:grpSpPr>
        <p:sp>
          <p:nvSpPr>
            <p:cNvPr id="19499" name="Oval 78"/>
            <p:cNvSpPr>
              <a:spLocks noChangeArrowheads="1"/>
            </p:cNvSpPr>
            <p:nvPr/>
          </p:nvSpPr>
          <p:spPr bwMode="auto">
            <a:xfrm>
              <a:off x="181" y="272"/>
              <a:ext cx="227" cy="227"/>
            </a:xfrm>
            <a:prstGeom prst="ellipse">
              <a:avLst/>
            </a:prstGeom>
            <a:solidFill>
              <a:srgbClr val="FFFF0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 dirty="0">
                  <a:latin typeface="Tahoma" panose="020B0604030504040204" pitchFamily="34" charset="0"/>
                  <a:ea typeface="宋体" panose="02010600030101010101" pitchFamily="2" charset="-122"/>
                </a:rPr>
                <a:t>11</a:t>
              </a:r>
            </a:p>
          </p:txBody>
        </p:sp>
        <p:sp>
          <p:nvSpPr>
            <p:cNvPr id="19500" name="Text Box 79"/>
            <p:cNvSpPr txBox="1">
              <a:spLocks noChangeArrowheads="1"/>
            </p:cNvSpPr>
            <p:nvPr/>
          </p:nvSpPr>
          <p:spPr bwMode="auto">
            <a:xfrm>
              <a:off x="104" y="-30"/>
              <a:ext cx="53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dirty="0">
                  <a:latin typeface="Tahoma" panose="020B0604030504040204" pitchFamily="34" charset="0"/>
                  <a:ea typeface="宋体" panose="02010600030101010101" pitchFamily="2" charset="-122"/>
                </a:rPr>
                <a:t>11~12</a:t>
              </a:r>
            </a:p>
          </p:txBody>
        </p:sp>
      </p:grpSp>
      <p:grpSp>
        <p:nvGrpSpPr>
          <p:cNvPr id="11" name="Group 80"/>
          <p:cNvGrpSpPr>
            <a:grpSpLocks/>
          </p:cNvGrpSpPr>
          <p:nvPr/>
        </p:nvGrpSpPr>
        <p:grpSpPr bwMode="auto">
          <a:xfrm>
            <a:off x="6011863" y="4846786"/>
            <a:ext cx="1644650" cy="814387"/>
            <a:chOff x="0" y="-14"/>
            <a:chExt cx="1036" cy="513"/>
          </a:xfrm>
        </p:grpSpPr>
        <p:sp>
          <p:nvSpPr>
            <p:cNvPr id="19495" name="Oval 81"/>
            <p:cNvSpPr>
              <a:spLocks noChangeArrowheads="1"/>
            </p:cNvSpPr>
            <p:nvPr/>
          </p:nvSpPr>
          <p:spPr bwMode="auto">
            <a:xfrm>
              <a:off x="0" y="272"/>
              <a:ext cx="227" cy="227"/>
            </a:xfrm>
            <a:prstGeom prst="ellipse">
              <a:avLst/>
            </a:prstGeom>
            <a:solidFill>
              <a:srgbClr val="FFFF0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 dirty="0">
                  <a:latin typeface="Tahoma" panose="020B0604030504040204" pitchFamily="34" charset="0"/>
                  <a:ea typeface="宋体" panose="02010600030101010101" pitchFamily="2" charset="-122"/>
                </a:rPr>
                <a:t>14</a:t>
              </a:r>
            </a:p>
          </p:txBody>
        </p:sp>
        <p:sp>
          <p:nvSpPr>
            <p:cNvPr id="19496" name="Line 82"/>
            <p:cNvSpPr>
              <a:spLocks noChangeShapeType="1"/>
            </p:cNvSpPr>
            <p:nvPr/>
          </p:nvSpPr>
          <p:spPr bwMode="auto">
            <a:xfrm flipH="1">
              <a:off x="57" y="-14"/>
              <a:ext cx="176" cy="2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7" name="Line 83"/>
            <p:cNvSpPr>
              <a:spLocks noChangeShapeType="1"/>
            </p:cNvSpPr>
            <p:nvPr/>
          </p:nvSpPr>
          <p:spPr bwMode="auto">
            <a:xfrm>
              <a:off x="369" y="-14"/>
              <a:ext cx="124" cy="2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8" name="Text Box 84"/>
            <p:cNvSpPr txBox="1">
              <a:spLocks noChangeArrowheads="1"/>
            </p:cNvSpPr>
            <p:nvPr/>
          </p:nvSpPr>
          <p:spPr bwMode="auto">
            <a:xfrm>
              <a:off x="499" y="90"/>
              <a:ext cx="53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dirty="0">
                  <a:latin typeface="Tahoma" panose="020B0604030504040204" pitchFamily="34" charset="0"/>
                  <a:ea typeface="宋体" panose="02010600030101010101" pitchFamily="2" charset="-122"/>
                </a:rPr>
                <a:t>16~17</a:t>
              </a:r>
            </a:p>
          </p:txBody>
        </p:sp>
      </p:grpSp>
      <p:grpSp>
        <p:nvGrpSpPr>
          <p:cNvPr id="12" name="Group 85"/>
          <p:cNvGrpSpPr>
            <a:grpSpLocks/>
          </p:cNvGrpSpPr>
          <p:nvPr/>
        </p:nvGrpSpPr>
        <p:grpSpPr bwMode="auto">
          <a:xfrm>
            <a:off x="6948488" y="5634183"/>
            <a:ext cx="433387" cy="819153"/>
            <a:chOff x="0" y="-17"/>
            <a:chExt cx="273" cy="516"/>
          </a:xfrm>
        </p:grpSpPr>
        <p:sp>
          <p:nvSpPr>
            <p:cNvPr id="19493" name="Oval 86"/>
            <p:cNvSpPr>
              <a:spLocks noChangeArrowheads="1"/>
            </p:cNvSpPr>
            <p:nvPr/>
          </p:nvSpPr>
          <p:spPr bwMode="auto">
            <a:xfrm>
              <a:off x="46" y="272"/>
              <a:ext cx="227" cy="227"/>
            </a:xfrm>
            <a:prstGeom prst="ellipse">
              <a:avLst/>
            </a:prstGeom>
            <a:solidFill>
              <a:srgbClr val="FFFF0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 dirty="0">
                  <a:latin typeface="Tahoma" panose="020B0604030504040204" pitchFamily="34" charset="0"/>
                  <a:ea typeface="宋体" panose="02010600030101010101" pitchFamily="2" charset="-122"/>
                </a:rPr>
                <a:t>17</a:t>
              </a:r>
            </a:p>
          </p:txBody>
        </p:sp>
        <p:sp>
          <p:nvSpPr>
            <p:cNvPr id="19494" name="Line 87"/>
            <p:cNvSpPr>
              <a:spLocks noChangeShapeType="1"/>
            </p:cNvSpPr>
            <p:nvPr/>
          </p:nvSpPr>
          <p:spPr bwMode="auto">
            <a:xfrm>
              <a:off x="0" y="-17"/>
              <a:ext cx="145" cy="28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568" name="Rectangle 88"/>
          <p:cNvSpPr>
            <a:spLocks noChangeArrowheads="1"/>
          </p:cNvSpPr>
          <p:nvPr/>
        </p:nvSpPr>
        <p:spPr bwMode="auto">
          <a:xfrm>
            <a:off x="36513" y="2779861"/>
            <a:ext cx="3887787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69900" indent="-4699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例</a:t>
            </a:r>
            <a:r>
              <a:rPr lang="zh-CN" altLang="en-US" sz="2000" dirty="0">
                <a:latin typeface="Times New Roman" panose="02020603050405020304" pitchFamily="18" charset="0"/>
              </a:rPr>
              <a:t>：对有序表</a:t>
            </a:r>
            <a:r>
              <a:rPr lang="en-US" altLang="zh-CN" sz="2000" dirty="0">
                <a:latin typeface="Times New Roman" panose="02020603050405020304" pitchFamily="18" charset="0"/>
              </a:rPr>
              <a:t>A[18]</a:t>
            </a:r>
            <a:r>
              <a:rPr lang="zh-CN" altLang="en-US" sz="2000" dirty="0">
                <a:latin typeface="Times New Roman" panose="02020603050405020304" pitchFamily="18" charset="0"/>
              </a:rPr>
              <a:t>的二分查找的判定树的求解如下所示：</a:t>
            </a:r>
          </a:p>
        </p:txBody>
      </p:sp>
      <p:sp>
        <p:nvSpPr>
          <p:cNvPr id="20569" name="Rectangle 89"/>
          <p:cNvSpPr>
            <a:spLocks noChangeArrowheads="1"/>
          </p:cNvSpPr>
          <p:nvPr/>
        </p:nvSpPr>
        <p:spPr bwMode="auto">
          <a:xfrm>
            <a:off x="323850" y="6134396"/>
            <a:ext cx="309562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dirty="0">
                <a:ea typeface="宋体" panose="02010600030101010101" pitchFamily="2" charset="-122"/>
              </a:rPr>
              <a:t> </a:t>
            </a:r>
            <a:r>
              <a:rPr lang="zh-CN" altLang="en-US" b="1" dirty="0">
                <a:ea typeface="宋体" panose="02010600030101010101" pitchFamily="2" charset="-122"/>
              </a:rPr>
              <a:t>最坏查找长度</a:t>
            </a:r>
            <a:r>
              <a:rPr lang="en-US" altLang="zh-CN" b="1" dirty="0">
                <a:ea typeface="宋体" panose="02010600030101010101" pitchFamily="2" charset="-122"/>
              </a:rPr>
              <a:t>=</a:t>
            </a:r>
            <a:r>
              <a:rPr lang="zh-CN" altLang="en-US" b="1" dirty="0">
                <a:ea typeface="宋体" panose="02010600030101010101" pitchFamily="2" charset="-122"/>
              </a:rPr>
              <a:t>［</a:t>
            </a:r>
            <a:r>
              <a:rPr lang="en-US" altLang="zh-CN" b="1" dirty="0">
                <a:ea typeface="宋体" panose="02010600030101010101" pitchFamily="2" charset="-122"/>
              </a:rPr>
              <a:t>log</a:t>
            </a:r>
            <a:r>
              <a:rPr lang="en-US" altLang="zh-CN" b="1" baseline="-25000" dirty="0">
                <a:ea typeface="宋体" panose="02010600030101010101" pitchFamily="2" charset="-122"/>
              </a:rPr>
              <a:t>2</a:t>
            </a:r>
            <a:r>
              <a:rPr lang="en-US" altLang="zh-CN" b="1" dirty="0">
                <a:ea typeface="宋体" panose="02010600030101010101" pitchFamily="2" charset="-122"/>
              </a:rPr>
              <a:t>n</a:t>
            </a:r>
            <a:r>
              <a:rPr lang="zh-CN" altLang="en-US" b="1" dirty="0">
                <a:ea typeface="宋体" panose="02010600030101010101" pitchFamily="2" charset="-122"/>
              </a:rPr>
              <a:t>］</a:t>
            </a:r>
            <a:r>
              <a:rPr lang="en-US" altLang="zh-CN" b="1" dirty="0">
                <a:ea typeface="宋体" panose="02010600030101010101" pitchFamily="2" charset="-122"/>
              </a:rPr>
              <a:t>+1</a:t>
            </a:r>
            <a:endParaRPr lang="zh-CN" altLang="en-US" b="1" dirty="0">
              <a:ea typeface="宋体" panose="02010600030101010101" pitchFamily="2" charset="-122"/>
            </a:endParaRPr>
          </a:p>
        </p:txBody>
      </p:sp>
      <p:sp>
        <p:nvSpPr>
          <p:cNvPr id="20570" name="AutoShape 90"/>
          <p:cNvSpPr>
            <a:spLocks noChangeArrowheads="1"/>
          </p:cNvSpPr>
          <p:nvPr/>
        </p:nvSpPr>
        <p:spPr bwMode="auto">
          <a:xfrm>
            <a:off x="4862513" y="2854473"/>
            <a:ext cx="1150937" cy="358775"/>
          </a:xfrm>
          <a:prstGeom prst="wedgeRoundRectCallout">
            <a:avLst>
              <a:gd name="adj1" fmla="val -67264"/>
              <a:gd name="adj2" fmla="val 18958"/>
              <a:gd name="adj3" fmla="val 16667"/>
            </a:avLst>
          </a:prstGeom>
          <a:noFill/>
          <a:ln w="9525">
            <a:solidFill>
              <a:srgbClr val="CC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0571" name="AutoShape 91"/>
          <p:cNvSpPr>
            <a:spLocks noChangeArrowheads="1"/>
          </p:cNvSpPr>
          <p:nvPr/>
        </p:nvSpPr>
        <p:spPr bwMode="auto">
          <a:xfrm>
            <a:off x="3924300" y="2924323"/>
            <a:ext cx="647700" cy="358775"/>
          </a:xfrm>
          <a:prstGeom prst="flowChartAlternateProcess">
            <a:avLst/>
          </a:prstGeom>
          <a:noFill/>
          <a:ln w="19050">
            <a:solidFill>
              <a:srgbClr val="CC6600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endParaRPr lang="zh-CN" altLang="en-US"/>
          </a:p>
        </p:txBody>
      </p:sp>
      <p:sp>
        <p:nvSpPr>
          <p:cNvPr id="20572" name="Text Box 92"/>
          <p:cNvSpPr txBox="1">
            <a:spLocks noChangeArrowheads="1"/>
          </p:cNvSpPr>
          <p:nvPr/>
        </p:nvSpPr>
        <p:spPr bwMode="auto">
          <a:xfrm>
            <a:off x="4905375" y="2852886"/>
            <a:ext cx="117951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low~high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20573" name="AutoShape 93"/>
          <p:cNvSpPr>
            <a:spLocks noChangeArrowheads="1"/>
          </p:cNvSpPr>
          <p:nvPr/>
        </p:nvSpPr>
        <p:spPr bwMode="auto">
          <a:xfrm>
            <a:off x="6445250" y="2924323"/>
            <a:ext cx="652463" cy="358775"/>
          </a:xfrm>
          <a:prstGeom prst="wedgeRoundRectCallout">
            <a:avLst>
              <a:gd name="adj1" fmla="val -373343"/>
              <a:gd name="adj2" fmla="val 83449"/>
              <a:gd name="adj3" fmla="val 16667"/>
            </a:avLst>
          </a:prstGeom>
          <a:noFill/>
          <a:ln w="9525">
            <a:solidFill>
              <a:srgbClr val="CC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0574" name="Text Box 94"/>
          <p:cNvSpPr txBox="1">
            <a:spLocks noChangeArrowheads="1"/>
          </p:cNvSpPr>
          <p:nvPr/>
        </p:nvSpPr>
        <p:spPr bwMode="auto">
          <a:xfrm>
            <a:off x="6516688" y="2924323"/>
            <a:ext cx="61118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mid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21</a:t>
            </a:fld>
            <a:endParaRPr lang="zh-CN" altLang="en-US" dirty="0"/>
          </a:p>
        </p:txBody>
      </p:sp>
      <p:sp>
        <p:nvSpPr>
          <p:cNvPr id="97" name="Rectangle 2"/>
          <p:cNvSpPr>
            <a:spLocks noGrp="1" noChangeArrowheads="1"/>
          </p:cNvSpPr>
          <p:nvPr>
            <p:ph type="title"/>
          </p:nvPr>
        </p:nvSpPr>
        <p:spPr>
          <a:xfrm>
            <a:off x="402284" y="692696"/>
            <a:ext cx="8001000" cy="711200"/>
          </a:xfrm>
        </p:spPr>
        <p:txBody>
          <a:bodyPr>
            <a:normAutofit/>
          </a:bodyPr>
          <a:lstStyle/>
          <a:p>
            <a:pPr marL="342900" indent="-342900" eaLnBrk="1" hangingPunct="1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800" dirty="0">
                <a:latin typeface="Times New Roman" pitchFamily="18" charset="0"/>
                <a:ea typeface="仿宋" pitchFamily="49" charset="-122"/>
                <a:cs typeface="+mn-cs"/>
              </a:rPr>
              <a:t>10.2.2 </a:t>
            </a:r>
            <a:r>
              <a:rPr lang="zh-CN" altLang="en-US" sz="2800" dirty="0">
                <a:latin typeface="Times New Roman" pitchFamily="18" charset="0"/>
                <a:ea typeface="仿宋" pitchFamily="49" charset="-122"/>
                <a:cs typeface="+mn-cs"/>
              </a:rPr>
              <a:t>有序表的查找</a:t>
            </a:r>
            <a:r>
              <a:rPr lang="en-US" altLang="zh-CN" sz="2800" dirty="0">
                <a:latin typeface="Times New Roman" pitchFamily="18" charset="0"/>
                <a:ea typeface="仿宋" pitchFamily="49" charset="-122"/>
                <a:cs typeface="+mn-cs"/>
              </a:rPr>
              <a:t>——</a:t>
            </a:r>
            <a:r>
              <a:rPr lang="zh-CN" altLang="en-US" sz="2800" dirty="0">
                <a:latin typeface="Times New Roman" pitchFamily="18" charset="0"/>
                <a:ea typeface="仿宋" pitchFamily="49" charset="-122"/>
                <a:cs typeface="+mn-cs"/>
              </a:rPr>
              <a:t>二分查找</a:t>
            </a:r>
          </a:p>
        </p:txBody>
      </p:sp>
      <p:grpSp>
        <p:nvGrpSpPr>
          <p:cNvPr id="103" name="组合 102"/>
          <p:cNvGrpSpPr/>
          <p:nvPr/>
        </p:nvGrpSpPr>
        <p:grpSpPr>
          <a:xfrm>
            <a:off x="2092623" y="1700808"/>
            <a:ext cx="6805016" cy="960437"/>
            <a:chOff x="1109114" y="2917825"/>
            <a:chExt cx="6805016" cy="1008063"/>
          </a:xfrm>
        </p:grpSpPr>
        <p:grpSp>
          <p:nvGrpSpPr>
            <p:cNvPr id="104" name="Group 5"/>
            <p:cNvGrpSpPr>
              <a:grpSpLocks/>
            </p:cNvGrpSpPr>
            <p:nvPr/>
          </p:nvGrpSpPr>
          <p:grpSpPr bwMode="auto">
            <a:xfrm>
              <a:off x="1504951" y="3349625"/>
              <a:ext cx="6408738" cy="576263"/>
              <a:chOff x="0" y="0"/>
              <a:chExt cx="4037" cy="363"/>
            </a:xfrm>
            <a:solidFill>
              <a:srgbClr val="92D050"/>
            </a:solidFill>
          </p:grpSpPr>
          <p:sp>
            <p:nvSpPr>
              <p:cNvPr id="122" name="Rectangle 6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037" cy="363"/>
              </a:xfrm>
              <a:prstGeom prst="rect">
                <a:avLst/>
              </a:prstGeom>
              <a:grp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 eaLnBrk="1" hangingPunct="1"/>
                <a:endParaRPr lang="zh-CN" altLang="en-US" b="1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</p:txBody>
          </p:sp>
          <p:sp>
            <p:nvSpPr>
              <p:cNvPr id="123" name="Line 7"/>
              <p:cNvSpPr>
                <a:spLocks noChangeShapeType="1"/>
              </p:cNvSpPr>
              <p:nvPr/>
            </p:nvSpPr>
            <p:spPr bwMode="auto">
              <a:xfrm>
                <a:off x="363" y="0"/>
                <a:ext cx="0" cy="363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</p:txBody>
          </p:sp>
          <p:sp>
            <p:nvSpPr>
              <p:cNvPr id="124" name="Line 8"/>
              <p:cNvSpPr>
                <a:spLocks noChangeShapeType="1"/>
              </p:cNvSpPr>
              <p:nvPr/>
            </p:nvSpPr>
            <p:spPr bwMode="auto">
              <a:xfrm>
                <a:off x="726" y="0"/>
                <a:ext cx="0" cy="363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</p:txBody>
          </p:sp>
          <p:sp>
            <p:nvSpPr>
              <p:cNvPr id="125" name="Line 9"/>
              <p:cNvSpPr>
                <a:spLocks noChangeShapeType="1"/>
              </p:cNvSpPr>
              <p:nvPr/>
            </p:nvSpPr>
            <p:spPr bwMode="auto">
              <a:xfrm>
                <a:off x="1089" y="0"/>
                <a:ext cx="0" cy="363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</p:txBody>
          </p:sp>
          <p:sp>
            <p:nvSpPr>
              <p:cNvPr id="126" name="Line 10"/>
              <p:cNvSpPr>
                <a:spLocks noChangeShapeType="1"/>
              </p:cNvSpPr>
              <p:nvPr/>
            </p:nvSpPr>
            <p:spPr bwMode="auto">
              <a:xfrm>
                <a:off x="1452" y="0"/>
                <a:ext cx="0" cy="363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</p:txBody>
          </p:sp>
          <p:sp>
            <p:nvSpPr>
              <p:cNvPr id="127" name="Line 11"/>
              <p:cNvSpPr>
                <a:spLocks noChangeShapeType="1"/>
              </p:cNvSpPr>
              <p:nvPr/>
            </p:nvSpPr>
            <p:spPr bwMode="auto">
              <a:xfrm>
                <a:off x="1815" y="0"/>
                <a:ext cx="0" cy="363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</p:txBody>
          </p:sp>
          <p:sp>
            <p:nvSpPr>
              <p:cNvPr id="128" name="Line 12"/>
              <p:cNvSpPr>
                <a:spLocks noChangeShapeType="1"/>
              </p:cNvSpPr>
              <p:nvPr/>
            </p:nvSpPr>
            <p:spPr bwMode="auto">
              <a:xfrm>
                <a:off x="2178" y="0"/>
                <a:ext cx="0" cy="363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</p:txBody>
          </p:sp>
          <p:sp>
            <p:nvSpPr>
              <p:cNvPr id="129" name="Line 13"/>
              <p:cNvSpPr>
                <a:spLocks noChangeShapeType="1"/>
              </p:cNvSpPr>
              <p:nvPr/>
            </p:nvSpPr>
            <p:spPr bwMode="auto">
              <a:xfrm>
                <a:off x="2541" y="0"/>
                <a:ext cx="0" cy="363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</p:txBody>
          </p:sp>
          <p:sp>
            <p:nvSpPr>
              <p:cNvPr id="130" name="Line 14"/>
              <p:cNvSpPr>
                <a:spLocks noChangeShapeType="1"/>
              </p:cNvSpPr>
              <p:nvPr/>
            </p:nvSpPr>
            <p:spPr bwMode="auto">
              <a:xfrm>
                <a:off x="2903" y="0"/>
                <a:ext cx="0" cy="363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</p:txBody>
          </p:sp>
          <p:sp>
            <p:nvSpPr>
              <p:cNvPr id="131" name="Line 15"/>
              <p:cNvSpPr>
                <a:spLocks noChangeShapeType="1"/>
              </p:cNvSpPr>
              <p:nvPr/>
            </p:nvSpPr>
            <p:spPr bwMode="auto">
              <a:xfrm>
                <a:off x="3312" y="0"/>
                <a:ext cx="0" cy="363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</p:txBody>
          </p:sp>
          <p:sp>
            <p:nvSpPr>
              <p:cNvPr id="132" name="Line 16"/>
              <p:cNvSpPr>
                <a:spLocks noChangeShapeType="1"/>
              </p:cNvSpPr>
              <p:nvPr/>
            </p:nvSpPr>
            <p:spPr bwMode="auto">
              <a:xfrm>
                <a:off x="3675" y="0"/>
                <a:ext cx="0" cy="363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仿宋" panose="02010609060101010101" pitchFamily="49" charset="-122"/>
                </a:endParaRPr>
              </a:p>
            </p:txBody>
          </p:sp>
        </p:grpSp>
        <p:sp>
          <p:nvSpPr>
            <p:cNvPr id="105" name="Text Box 17"/>
            <p:cNvSpPr txBox="1">
              <a:spLocks noChangeArrowheads="1"/>
            </p:cNvSpPr>
            <p:nvPr/>
          </p:nvSpPr>
          <p:spPr bwMode="auto">
            <a:xfrm>
              <a:off x="1109114" y="3367332"/>
              <a:ext cx="40748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06" name="Text Box 18"/>
            <p:cNvSpPr txBox="1">
              <a:spLocks noChangeArrowheads="1"/>
            </p:cNvSpPr>
            <p:nvPr/>
          </p:nvSpPr>
          <p:spPr bwMode="auto">
            <a:xfrm>
              <a:off x="1649413" y="2917825"/>
              <a:ext cx="31130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07" name="Text Box 19"/>
            <p:cNvSpPr txBox="1">
              <a:spLocks noChangeArrowheads="1"/>
            </p:cNvSpPr>
            <p:nvPr/>
          </p:nvSpPr>
          <p:spPr bwMode="auto">
            <a:xfrm>
              <a:off x="2152651" y="2917825"/>
              <a:ext cx="31130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108" name="Text Box 20"/>
            <p:cNvSpPr txBox="1">
              <a:spLocks noChangeArrowheads="1"/>
            </p:cNvSpPr>
            <p:nvPr/>
          </p:nvSpPr>
          <p:spPr bwMode="auto">
            <a:xfrm>
              <a:off x="2800351" y="2917825"/>
              <a:ext cx="31130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109" name="Text Box 21"/>
            <p:cNvSpPr txBox="1">
              <a:spLocks noChangeArrowheads="1"/>
            </p:cNvSpPr>
            <p:nvPr/>
          </p:nvSpPr>
          <p:spPr bwMode="auto">
            <a:xfrm>
              <a:off x="3376613" y="2917825"/>
              <a:ext cx="31130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110" name="Text Box 22"/>
            <p:cNvSpPr txBox="1">
              <a:spLocks noChangeArrowheads="1"/>
            </p:cNvSpPr>
            <p:nvPr/>
          </p:nvSpPr>
          <p:spPr bwMode="auto">
            <a:xfrm>
              <a:off x="3952876" y="2917825"/>
              <a:ext cx="31130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111" name="Text Box 23"/>
            <p:cNvSpPr txBox="1">
              <a:spLocks noChangeArrowheads="1"/>
            </p:cNvSpPr>
            <p:nvPr/>
          </p:nvSpPr>
          <p:spPr bwMode="auto">
            <a:xfrm>
              <a:off x="5608638" y="2917825"/>
              <a:ext cx="24878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</a:p>
          </p:txBody>
        </p:sp>
        <p:sp>
          <p:nvSpPr>
            <p:cNvPr id="112" name="Text Box 24"/>
            <p:cNvSpPr txBox="1">
              <a:spLocks noChangeArrowheads="1"/>
            </p:cNvSpPr>
            <p:nvPr/>
          </p:nvSpPr>
          <p:spPr bwMode="auto">
            <a:xfrm>
              <a:off x="7408863" y="2917825"/>
              <a:ext cx="50526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n-1</a:t>
              </a:r>
            </a:p>
          </p:txBody>
        </p:sp>
        <p:sp>
          <p:nvSpPr>
            <p:cNvPr id="113" name="Text Box 25"/>
            <p:cNvSpPr txBox="1">
              <a:spLocks noChangeArrowheads="1"/>
            </p:cNvSpPr>
            <p:nvPr/>
          </p:nvSpPr>
          <p:spPr bwMode="auto">
            <a:xfrm>
              <a:off x="4673601" y="2917825"/>
              <a:ext cx="6413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……</a:t>
              </a:r>
            </a:p>
          </p:txBody>
        </p:sp>
        <p:sp>
          <p:nvSpPr>
            <p:cNvPr id="114" name="Text Box 26"/>
            <p:cNvSpPr txBox="1">
              <a:spLocks noChangeArrowheads="1"/>
            </p:cNvSpPr>
            <p:nvPr/>
          </p:nvSpPr>
          <p:spPr bwMode="auto">
            <a:xfrm>
              <a:off x="6400801" y="2917825"/>
              <a:ext cx="6413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……</a:t>
              </a:r>
            </a:p>
          </p:txBody>
        </p:sp>
        <p:sp>
          <p:nvSpPr>
            <p:cNvPr id="115" name="Text Box 27"/>
            <p:cNvSpPr txBox="1">
              <a:spLocks noChangeArrowheads="1"/>
            </p:cNvSpPr>
            <p:nvPr/>
          </p:nvSpPr>
          <p:spPr bwMode="auto">
            <a:xfrm>
              <a:off x="1547664" y="3390926"/>
              <a:ext cx="44114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sz="2400" b="1" i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16" name="Text Box 27"/>
            <p:cNvSpPr txBox="1">
              <a:spLocks noChangeArrowheads="1"/>
            </p:cNvSpPr>
            <p:nvPr/>
          </p:nvSpPr>
          <p:spPr bwMode="auto">
            <a:xfrm>
              <a:off x="2139802" y="3396373"/>
              <a:ext cx="44114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sz="2400" b="1" i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17" name="Text Box 27"/>
            <p:cNvSpPr txBox="1">
              <a:spLocks noChangeArrowheads="1"/>
            </p:cNvSpPr>
            <p:nvPr/>
          </p:nvSpPr>
          <p:spPr bwMode="auto">
            <a:xfrm>
              <a:off x="2721157" y="3373011"/>
              <a:ext cx="44114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sz="2400" b="1" i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18" name="Text Box 27"/>
            <p:cNvSpPr txBox="1">
              <a:spLocks noChangeArrowheads="1"/>
            </p:cNvSpPr>
            <p:nvPr/>
          </p:nvSpPr>
          <p:spPr bwMode="auto">
            <a:xfrm>
              <a:off x="3305176" y="3360041"/>
              <a:ext cx="44114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sz="2400" b="1" i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19" name="Text Box 27"/>
            <p:cNvSpPr txBox="1">
              <a:spLocks noChangeArrowheads="1"/>
            </p:cNvSpPr>
            <p:nvPr/>
          </p:nvSpPr>
          <p:spPr bwMode="auto">
            <a:xfrm>
              <a:off x="3869622" y="3360041"/>
              <a:ext cx="44114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sz="2400" b="1" i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120" name="Text Box 27"/>
            <p:cNvSpPr txBox="1">
              <a:spLocks noChangeArrowheads="1"/>
            </p:cNvSpPr>
            <p:nvPr/>
          </p:nvSpPr>
          <p:spPr bwMode="auto">
            <a:xfrm>
              <a:off x="5602470" y="3388667"/>
              <a:ext cx="56778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sz="2400" b="1" i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i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-1</a:t>
              </a:r>
            </a:p>
          </p:txBody>
        </p:sp>
        <p:sp>
          <p:nvSpPr>
            <p:cNvPr id="121" name="Text Box 27"/>
            <p:cNvSpPr txBox="1">
              <a:spLocks noChangeArrowheads="1"/>
            </p:cNvSpPr>
            <p:nvPr/>
          </p:nvSpPr>
          <p:spPr bwMode="auto">
            <a:xfrm>
              <a:off x="7355249" y="3360041"/>
              <a:ext cx="45236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sz="2400" b="1" i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n</a:t>
              </a:r>
              <a:endParaRPr lang="en-US" altLang="zh-CN" sz="2400" b="1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33" name="组合 132"/>
          <p:cNvGrpSpPr/>
          <p:nvPr/>
        </p:nvGrpSpPr>
        <p:grpSpPr>
          <a:xfrm>
            <a:off x="-890841" y="72640"/>
            <a:ext cx="8271153" cy="665363"/>
            <a:chOff x="-594808" y="1867387"/>
            <a:chExt cx="8913447" cy="707532"/>
          </a:xfrm>
        </p:grpSpPr>
        <p:grpSp>
          <p:nvGrpSpPr>
            <p:cNvPr id="134" name="组合 133"/>
            <p:cNvGrpSpPr/>
            <p:nvPr/>
          </p:nvGrpSpPr>
          <p:grpSpPr>
            <a:xfrm>
              <a:off x="-594808" y="1867387"/>
              <a:ext cx="8913447" cy="707532"/>
              <a:chOff x="-635833" y="1327471"/>
              <a:chExt cx="8913447" cy="707532"/>
            </a:xfrm>
          </p:grpSpPr>
          <p:sp>
            <p:nvSpPr>
              <p:cNvPr id="136" name="TextBox 6"/>
              <p:cNvSpPr txBox="1">
                <a:spLocks noChangeArrowheads="1"/>
              </p:cNvSpPr>
              <p:nvPr/>
            </p:nvSpPr>
            <p:spPr bwMode="auto">
              <a:xfrm>
                <a:off x="-635833" y="1347734"/>
                <a:ext cx="8913447" cy="687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10.2 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顺序表的查找</a:t>
                </a:r>
              </a:p>
            </p:txBody>
          </p:sp>
          <p:sp>
            <p:nvSpPr>
              <p:cNvPr id="137" name="Freeform 5"/>
              <p:cNvSpPr>
                <a:spLocks/>
              </p:cNvSpPr>
              <p:nvPr/>
            </p:nvSpPr>
            <p:spPr bwMode="auto">
              <a:xfrm>
                <a:off x="958665" y="1327471"/>
                <a:ext cx="842977" cy="683003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FFFF66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</p:grpSp>
        <p:pic>
          <p:nvPicPr>
            <p:cNvPr id="135" name="图片 13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89825" y="2023053"/>
              <a:ext cx="495511" cy="4238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16569140"/>
      </p:ext>
    </p:extLst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0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0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0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0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0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0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20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20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20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20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20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20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20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6" dur="500"/>
                                        <p:tgtEl>
                                          <p:spTgt spid="20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1" dur="500"/>
                                        <p:tgtEl>
                                          <p:spTgt spid="20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6" dur="500"/>
                                        <p:tgtEl>
                                          <p:spTgt spid="20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6" dur="500"/>
                                        <p:tgtEl>
                                          <p:spTgt spid="20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9" dur="500"/>
                                        <p:tgtEl>
                                          <p:spTgt spid="20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4" dur="500"/>
                                        <p:tgtEl>
                                          <p:spTgt spid="20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4" dur="500"/>
                                        <p:tgtEl>
                                          <p:spTgt spid="20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0" grpId="0" build="p"/>
      <p:bldP spid="20514" grpId="0" animBg="1" autoUpdateAnimBg="0"/>
      <p:bldP spid="20515" grpId="0" animBg="1" autoUpdateAnimBg="0"/>
      <p:bldP spid="20516" grpId="0" animBg="1" autoUpdateAnimBg="0"/>
      <p:bldP spid="20522" grpId="0" animBg="1" autoUpdateAnimBg="0"/>
      <p:bldP spid="20523" grpId="0" animBg="1" autoUpdateAnimBg="0"/>
      <p:bldP spid="20524" grpId="0" animBg="1" autoUpdateAnimBg="0"/>
      <p:bldP spid="20525" grpId="0" animBg="1" autoUpdateAnimBg="0"/>
      <p:bldP spid="20526" grpId="0" animBg="1" autoUpdateAnimBg="0"/>
      <p:bldP spid="20527" grpId="0" animBg="1" autoUpdateAnimBg="0"/>
      <p:bldP spid="20528" grpId="0" animBg="1" autoUpdateAnimBg="0"/>
      <p:bldP spid="20529" grpId="0" autoUpdateAnimBg="0"/>
      <p:bldP spid="20553" grpId="0" animBg="1" autoUpdateAnimBg="0"/>
      <p:bldP spid="20568" grpId="0" autoUpdateAnimBg="0"/>
      <p:bldP spid="20569" grpId="0" autoUpdateAnimBg="0"/>
      <p:bldP spid="20570" grpId="0" bldLvl="0" animBg="1" autoUpdateAnimBg="0"/>
      <p:bldP spid="20571" grpId="0" animBg="1"/>
      <p:bldP spid="20572" grpId="0" bldLvl="0" autoUpdateAnimBg="0"/>
      <p:bldP spid="20573" grpId="0" bldLvl="0" animBg="1" autoUpdateAnimBg="0"/>
      <p:bldP spid="20574" grpId="0" bldLvl="0" autoUpdateAnimBg="0"/>
      <p:bldP spid="9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22</a:t>
            </a:fld>
            <a:endParaRPr lang="zh-CN" altLang="en-US" dirty="0"/>
          </a:p>
        </p:txBody>
      </p:sp>
      <p:sp>
        <p:nvSpPr>
          <p:cNvPr id="6" name="TextBox 5"/>
          <p:cNvSpPr txBox="1"/>
          <p:nvPr>
            <p:custDataLst>
              <p:tags r:id="rId2"/>
            </p:custDataLst>
          </p:nvPr>
        </p:nvSpPr>
        <p:spPr>
          <a:xfrm>
            <a:off x="755576" y="1196752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0000FF"/>
                </a:solidFill>
              </a:rPr>
              <a:t>练习：</a:t>
            </a:r>
            <a:endParaRPr lang="en-US" altLang="zh-CN" sz="2800" b="1" dirty="0">
              <a:solidFill>
                <a:srgbClr val="0000FF"/>
              </a:solidFill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b="1" dirty="0"/>
              <a:t>采用二分查找法查找</a:t>
            </a:r>
            <a:r>
              <a:rPr lang="en-US" altLang="zh-CN" sz="2400" b="1" dirty="0"/>
              <a:t>0—18</a:t>
            </a:r>
            <a:r>
              <a:rPr lang="zh-CN" altLang="en-US" sz="2400" b="1" dirty="0"/>
              <a:t>号元素，其中查找长度为</a:t>
            </a:r>
            <a:r>
              <a:rPr lang="en-US" altLang="zh-CN" sz="2400" b="1" dirty="0"/>
              <a:t>5</a:t>
            </a:r>
            <a:r>
              <a:rPr lang="zh-CN" altLang="en-US" sz="2400" b="1" dirty="0"/>
              <a:t>的元素是哪些？ </a:t>
            </a:r>
          </a:p>
        </p:txBody>
      </p:sp>
      <p:sp>
        <p:nvSpPr>
          <p:cNvPr id="7" name="圆角矩形 6"/>
          <p:cNvSpPr/>
          <p:nvPr>
            <p:custDataLst>
              <p:tags r:id="rId3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作答</a:t>
            </a:r>
          </a:p>
        </p:txBody>
      </p:sp>
      <p:sp>
        <p:nvSpPr>
          <p:cNvPr id="13" name="矩形 12"/>
          <p:cNvSpPr/>
          <p:nvPr>
            <p:custDataLst>
              <p:tags r:id="rId4"/>
            </p:custDataLst>
          </p:nvPr>
        </p:nvSpPr>
        <p:spPr>
          <a:xfrm>
            <a:off x="0" y="5849303"/>
            <a:ext cx="9144000" cy="365760"/>
          </a:xfrm>
          <a:prstGeom prst="rect">
            <a:avLst/>
          </a:prstGeom>
          <a:solidFill>
            <a:srgbClr val="FBFAE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200">
                <a:solidFill>
                  <a:srgbClr val="F84F41"/>
                </a:solidFill>
                <a:latin typeface="Microsoft Yahei"/>
                <a:ea typeface="Microsoft Yahei"/>
                <a:sym typeface="Microsoft Yahei"/>
              </a:rPr>
              <a:t>正常使用主观题需</a:t>
            </a:r>
            <a:r>
              <a:rPr lang="en-US" altLang="zh-CN" sz="1200">
                <a:solidFill>
                  <a:srgbClr val="F84F41"/>
                </a:solidFill>
                <a:latin typeface="Microsoft Yahei"/>
                <a:ea typeface="Microsoft Yahei"/>
                <a:sym typeface="Microsoft Yahei"/>
              </a:rPr>
              <a:t>2.0</a:t>
            </a:r>
            <a:r>
              <a:rPr lang="zh-CN" altLang="en-US" sz="1200">
                <a:solidFill>
                  <a:srgbClr val="F84F41"/>
                </a:solidFill>
                <a:latin typeface="Microsoft Yahei"/>
                <a:ea typeface="Microsoft Yahei"/>
                <a:sym typeface="Microsoft Yahei"/>
              </a:rPr>
              <a:t>以上版本雨课堂</a:t>
            </a:r>
          </a:p>
        </p:txBody>
      </p:sp>
      <p:grpSp>
        <p:nvGrpSpPr>
          <p:cNvPr id="12" name="组合 11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8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dirty="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主观题</a:t>
              </a:r>
            </a:p>
          </p:txBody>
        </p:sp>
        <p:sp>
          <p:nvSpPr>
            <p:cNvPr id="11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  <a:endParaRPr lang="zh-CN" altLang="en-US" sz="2000" dirty="0">
                <a:solidFill>
                  <a:srgbClr val="808080"/>
                </a:solidFill>
                <a:latin typeface="Microsoft Yahei"/>
                <a:ea typeface="Microsoft Yahei"/>
                <a:sym typeface="Microsoft Yahei"/>
              </a:endParaRPr>
            </a:p>
          </p:txBody>
        </p:sp>
      </p:grpSp>
      <p:pic>
        <p:nvPicPr>
          <p:cNvPr id="5" name="图片 4"/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87712664"/>
      </p:ext>
    </p:extLst>
  </p:cSld>
  <p:clrMapOvr>
    <a:masterClrMapping/>
  </p:clrMapOvr>
  <p:transition spd="slow" advClick="0">
    <p:pull dir="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14845"/>
            <a:ext cx="8435280" cy="790019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 dirty="0"/>
              <a:t>   </a:t>
            </a:r>
            <a:r>
              <a:rPr lang="zh-CN" altLang="en-US" sz="2400" b="1" dirty="0">
                <a:solidFill>
                  <a:srgbClr val="FF0000"/>
                </a:solidFill>
              </a:rPr>
              <a:t> 练习</a:t>
            </a:r>
            <a:r>
              <a:rPr lang="zh-CN" altLang="en-US" sz="2400" b="1" dirty="0"/>
              <a:t>：采用二分查找法查找</a:t>
            </a:r>
            <a:r>
              <a:rPr lang="en-US" altLang="zh-CN" sz="2400" b="1" dirty="0"/>
              <a:t>0—18</a:t>
            </a:r>
            <a:r>
              <a:rPr lang="zh-CN" altLang="en-US" sz="2400" b="1" dirty="0"/>
              <a:t>号元素，其中查找长度为</a:t>
            </a:r>
            <a:r>
              <a:rPr lang="en-US" altLang="zh-CN" sz="2400" b="1" dirty="0"/>
              <a:t>  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 dirty="0"/>
              <a:t>                 5</a:t>
            </a:r>
            <a:r>
              <a:rPr lang="zh-CN" altLang="en-US" sz="2400" b="1" dirty="0"/>
              <a:t>的元素是哪些</a:t>
            </a:r>
            <a:r>
              <a:rPr lang="zh-CN" altLang="en-US" sz="2000" b="1" dirty="0"/>
              <a:t>？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0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0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0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0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0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0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0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0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0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0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000" dirty="0"/>
          </a:p>
          <a:p>
            <a:pPr eaLnBrk="1" hangingPunct="1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zh-CN" altLang="en-US" sz="20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dirty="0"/>
              <a:t>     </a:t>
            </a:r>
            <a:r>
              <a:rPr lang="zh-CN" altLang="en-US" sz="2400" b="1" dirty="0"/>
              <a:t>则查找长度为</a:t>
            </a:r>
            <a:r>
              <a:rPr lang="en-US" altLang="zh-CN" sz="2400" b="1" dirty="0"/>
              <a:t>5</a:t>
            </a:r>
            <a:r>
              <a:rPr lang="zh-CN" altLang="en-US" sz="2400" b="1" dirty="0"/>
              <a:t>的元素有</a:t>
            </a:r>
            <a:r>
              <a:rPr lang="en-US" altLang="zh-CN" sz="2400" b="1" dirty="0"/>
              <a:t>3</a:t>
            </a:r>
            <a:r>
              <a:rPr lang="zh-CN" altLang="en-US" sz="2400" b="1" dirty="0"/>
              <a:t>，</a:t>
            </a:r>
            <a:r>
              <a:rPr lang="en-US" altLang="zh-CN" sz="2400" b="1" dirty="0"/>
              <a:t>8</a:t>
            </a:r>
            <a:r>
              <a:rPr lang="zh-CN" altLang="en-US" sz="2400" b="1" dirty="0"/>
              <a:t>，</a:t>
            </a:r>
            <a:r>
              <a:rPr lang="en-US" altLang="zh-CN" sz="2400" b="1" dirty="0"/>
              <a:t>13</a:t>
            </a:r>
            <a:r>
              <a:rPr lang="zh-CN" altLang="en-US" sz="2400" b="1" dirty="0"/>
              <a:t>，</a:t>
            </a:r>
            <a:r>
              <a:rPr lang="en-US" altLang="zh-CN" sz="2400" b="1" dirty="0"/>
              <a:t>18</a:t>
            </a:r>
            <a:r>
              <a:rPr lang="zh-CN" altLang="en-US" sz="2400" b="1" dirty="0"/>
              <a:t>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23</a:t>
            </a:fld>
            <a:endParaRPr lang="zh-CN" alt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402284" y="692696"/>
            <a:ext cx="8001000" cy="711200"/>
          </a:xfrm>
        </p:spPr>
        <p:txBody>
          <a:bodyPr>
            <a:normAutofit/>
          </a:bodyPr>
          <a:lstStyle/>
          <a:p>
            <a:pPr marL="342900" indent="-342900" eaLnBrk="1" hangingPunct="1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800" dirty="0">
                <a:latin typeface="Times New Roman" pitchFamily="18" charset="0"/>
                <a:ea typeface="仿宋" pitchFamily="49" charset="-122"/>
                <a:cs typeface="+mn-cs"/>
              </a:rPr>
              <a:t>10.2.2 </a:t>
            </a:r>
            <a:r>
              <a:rPr lang="zh-CN" altLang="en-US" sz="2800" dirty="0">
                <a:latin typeface="Times New Roman" pitchFamily="18" charset="0"/>
                <a:ea typeface="仿宋" pitchFamily="49" charset="-122"/>
                <a:cs typeface="+mn-cs"/>
              </a:rPr>
              <a:t>有序表的查找</a:t>
            </a:r>
            <a:r>
              <a:rPr lang="en-US" altLang="zh-CN" sz="2800" dirty="0">
                <a:latin typeface="Times New Roman" pitchFamily="18" charset="0"/>
                <a:ea typeface="仿宋" pitchFamily="49" charset="-122"/>
                <a:cs typeface="+mn-cs"/>
              </a:rPr>
              <a:t>——</a:t>
            </a:r>
            <a:r>
              <a:rPr lang="zh-CN" altLang="en-US" sz="2800" dirty="0">
                <a:latin typeface="Times New Roman" pitchFamily="18" charset="0"/>
                <a:ea typeface="仿宋" pitchFamily="49" charset="-122"/>
                <a:cs typeface="+mn-cs"/>
              </a:rPr>
              <a:t>二分查找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-890841" y="72640"/>
            <a:ext cx="8271153" cy="665363"/>
            <a:chOff x="-594808" y="1867387"/>
            <a:chExt cx="8913447" cy="707532"/>
          </a:xfrm>
        </p:grpSpPr>
        <p:grpSp>
          <p:nvGrpSpPr>
            <p:cNvPr id="14" name="组合 13"/>
            <p:cNvGrpSpPr/>
            <p:nvPr/>
          </p:nvGrpSpPr>
          <p:grpSpPr>
            <a:xfrm>
              <a:off x="-594808" y="1867387"/>
              <a:ext cx="8913447" cy="707532"/>
              <a:chOff x="-635833" y="1327471"/>
              <a:chExt cx="8913447" cy="707532"/>
            </a:xfrm>
          </p:grpSpPr>
          <p:sp>
            <p:nvSpPr>
              <p:cNvPr id="16" name="TextBox 6"/>
              <p:cNvSpPr txBox="1">
                <a:spLocks noChangeArrowheads="1"/>
              </p:cNvSpPr>
              <p:nvPr/>
            </p:nvSpPr>
            <p:spPr bwMode="auto">
              <a:xfrm>
                <a:off x="-635833" y="1347734"/>
                <a:ext cx="8913447" cy="687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10.2 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顺序表的查找</a:t>
                </a:r>
              </a:p>
            </p:txBody>
          </p:sp>
          <p:sp>
            <p:nvSpPr>
              <p:cNvPr id="17" name="Freeform 5"/>
              <p:cNvSpPr>
                <a:spLocks/>
              </p:cNvSpPr>
              <p:nvPr/>
            </p:nvSpPr>
            <p:spPr bwMode="auto">
              <a:xfrm>
                <a:off x="958665" y="1327471"/>
                <a:ext cx="842977" cy="683003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FFFF66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</p:grpSp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89825" y="2023053"/>
              <a:ext cx="495511" cy="423803"/>
            </a:xfrm>
            <a:prstGeom prst="rect">
              <a:avLst/>
            </a:prstGeom>
          </p:spPr>
        </p:pic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683" y="2004897"/>
            <a:ext cx="7311601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410223"/>
      </p:ext>
    </p:extLst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24</a:t>
            </a:fld>
            <a:endParaRPr lang="zh-CN" altLang="en-US" dirty="0"/>
          </a:p>
        </p:txBody>
      </p:sp>
      <p:grpSp>
        <p:nvGrpSpPr>
          <p:cNvPr id="5" name="组合 4"/>
          <p:cNvGrpSpPr/>
          <p:nvPr/>
        </p:nvGrpSpPr>
        <p:grpSpPr>
          <a:xfrm>
            <a:off x="-890841" y="72640"/>
            <a:ext cx="8271153" cy="665363"/>
            <a:chOff x="-594808" y="1867387"/>
            <a:chExt cx="8913447" cy="707532"/>
          </a:xfrm>
        </p:grpSpPr>
        <p:grpSp>
          <p:nvGrpSpPr>
            <p:cNvPr id="6" name="组合 5"/>
            <p:cNvGrpSpPr/>
            <p:nvPr/>
          </p:nvGrpSpPr>
          <p:grpSpPr>
            <a:xfrm>
              <a:off x="-594808" y="1867387"/>
              <a:ext cx="8913447" cy="707532"/>
              <a:chOff x="-635833" y="1327471"/>
              <a:chExt cx="8913447" cy="707532"/>
            </a:xfrm>
          </p:grpSpPr>
          <p:sp>
            <p:nvSpPr>
              <p:cNvPr id="8" name="TextBox 6"/>
              <p:cNvSpPr txBox="1">
                <a:spLocks noChangeArrowheads="1"/>
              </p:cNvSpPr>
              <p:nvPr/>
            </p:nvSpPr>
            <p:spPr bwMode="auto">
              <a:xfrm>
                <a:off x="-635833" y="1347734"/>
                <a:ext cx="8913447" cy="687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10.2 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顺序表的查找</a:t>
                </a:r>
              </a:p>
            </p:txBody>
          </p:sp>
          <p:sp>
            <p:nvSpPr>
              <p:cNvPr id="9" name="Freeform 5"/>
              <p:cNvSpPr>
                <a:spLocks/>
              </p:cNvSpPr>
              <p:nvPr/>
            </p:nvSpPr>
            <p:spPr bwMode="auto">
              <a:xfrm>
                <a:off x="958665" y="1327471"/>
                <a:ext cx="842977" cy="683003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FFFF66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</p:grpSp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89825" y="2023053"/>
              <a:ext cx="495511" cy="423803"/>
            </a:xfrm>
            <a:prstGeom prst="rect">
              <a:avLst/>
            </a:prstGeom>
          </p:spPr>
        </p:pic>
      </p:grp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402284" y="692696"/>
            <a:ext cx="8001000" cy="711200"/>
          </a:xfrm>
        </p:spPr>
        <p:txBody>
          <a:bodyPr>
            <a:normAutofit/>
          </a:bodyPr>
          <a:lstStyle/>
          <a:p>
            <a:pPr marL="342900" indent="-342900" eaLnBrk="1" hangingPunct="1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Times New Roman" pitchFamily="18" charset="0"/>
                <a:ea typeface="仿宋" pitchFamily="49" charset="-122"/>
                <a:cs typeface="+mn-cs"/>
              </a:rPr>
              <a:t>有序表的查找</a:t>
            </a:r>
            <a:r>
              <a:rPr lang="en-US" altLang="zh-CN" sz="2800" dirty="0">
                <a:latin typeface="Times New Roman" pitchFamily="18" charset="0"/>
                <a:ea typeface="仿宋" pitchFamily="49" charset="-122"/>
                <a:cs typeface="+mn-cs"/>
              </a:rPr>
              <a:t>——</a:t>
            </a:r>
            <a:r>
              <a:rPr lang="zh-CN" altLang="en-US" sz="2800" dirty="0">
                <a:latin typeface="Times New Roman" pitchFamily="18" charset="0"/>
                <a:ea typeface="仿宋" pitchFamily="49" charset="-122"/>
                <a:cs typeface="+mn-cs"/>
              </a:rPr>
              <a:t>二分查找的改进</a:t>
            </a:r>
          </a:p>
        </p:txBody>
      </p:sp>
      <p:sp>
        <p:nvSpPr>
          <p:cNvPr id="11" name="Rectangle 2"/>
          <p:cNvSpPr txBox="1">
            <a:spLocks noChangeArrowheads="1"/>
          </p:cNvSpPr>
          <p:nvPr/>
        </p:nvSpPr>
        <p:spPr bwMode="auto">
          <a:xfrm>
            <a:off x="738197" y="1088678"/>
            <a:ext cx="8001000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6800" numCol="1" anchor="b" anchorCtr="0" compatLnSpc="1">
            <a:prstTxWarp prst="textNoShape">
              <a:avLst/>
            </a:prstTxWarp>
            <a:norm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b="1" kern="1200" baseline="0">
                <a:solidFill>
                  <a:schemeClr val="tx1"/>
                </a:solidFill>
                <a:latin typeface="黑体" pitchFamily="2" charset="-122"/>
                <a:ea typeface="黑体" pitchFamily="2" charset="-122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marL="457200" indent="-4572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+mn-cs"/>
              </a:rPr>
              <a:t>插值查找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+mn-cs"/>
              </a:rPr>
              <a:t>(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+mn-cs"/>
              </a:rPr>
              <a:t>Interpolation Search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+mn-cs"/>
              </a:rPr>
              <a:t>)</a:t>
            </a:r>
            <a:endParaRPr lang="zh-CN" altLang="en-US" sz="2400" dirty="0">
              <a:latin typeface="Times New Roman" panose="02020603050405020304" pitchFamily="18" charset="0"/>
              <a:ea typeface="仿宋" panose="02010609060101010101" pitchFamily="49" charset="-122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17221" y="2469226"/>
            <a:ext cx="782197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dirty="0"/>
              <a:t>二分查找的核心公式：</a:t>
            </a:r>
            <a:endParaRPr lang="en-US" altLang="zh-CN" dirty="0"/>
          </a:p>
          <a:p>
            <a:endParaRPr lang="en-US" altLang="zh-CN" dirty="0"/>
          </a:p>
          <a:p>
            <a:pPr marL="285750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dirty="0"/>
              <a:t>改进公式：</a:t>
            </a:r>
          </a:p>
        </p:txBody>
      </p:sp>
      <p:sp>
        <p:nvSpPr>
          <p:cNvPr id="14" name="矩形 13"/>
          <p:cNvSpPr/>
          <p:nvPr/>
        </p:nvSpPr>
        <p:spPr>
          <a:xfrm>
            <a:off x="1144162" y="1895202"/>
            <a:ext cx="802672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  <a:ea typeface="仿宋" panose="02010609060101010101" pitchFamily="49" charset="-122"/>
              </a:rPr>
              <a:t>根据关键字</a:t>
            </a:r>
            <a:r>
              <a:rPr lang="en-US" altLang="zh-CN" sz="2000" dirty="0">
                <a:latin typeface="Times New Roman" panose="02020603050405020304" pitchFamily="18" charset="0"/>
                <a:ea typeface="仿宋" panose="02010609060101010101" pitchFamily="49" charset="-122"/>
              </a:rPr>
              <a:t>key</a:t>
            </a:r>
            <a:r>
              <a:rPr lang="zh-CN" altLang="en-US" sz="2000" dirty="0">
                <a:latin typeface="Times New Roman" panose="02020603050405020304" pitchFamily="18" charset="0"/>
                <a:ea typeface="仿宋" panose="02010609060101010101" pitchFamily="49" charset="-122"/>
              </a:rPr>
              <a:t>与查找表中最大最小元素关键字比较后的查找方法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/>
              <p:cNvSpPr/>
              <p:nvPr/>
            </p:nvSpPr>
            <p:spPr>
              <a:xfrm>
                <a:off x="1957908" y="4068659"/>
                <a:ext cx="5636007" cy="680251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𝑚𝑖𝑑</m:t>
                      </m:r>
                      <m:r>
                        <m:rPr>
                          <m:nor/>
                        </m:rPr>
                        <a:rPr lang="zh-CN" alt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zh-CN" alt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𝑙𝑜𝑤</m:t>
                      </m:r>
                      <m:r>
                        <m:rPr>
                          <m:nor/>
                        </m:rPr>
                        <a:rPr lang="zh-CN" alt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"/>
                              <m:endChr m:val="]"/>
                              <m:ctrlPr>
                                <a:rPr lang="zh-CN" alt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𝑘𝑒𝑦</m:t>
                              </m:r>
                              <m:r>
                                <m:rPr>
                                  <m:nor/>
                                </m:rPr>
                                <a:rPr lang="zh-CN" alt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zh-CN" altLang="en-US" i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zh-CN" altLang="en-US" i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zh-CN" alt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𝑙𝑜𝑤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"/>
                              <m:endChr m:val="]"/>
                              <m:ctrlPr>
                                <a:rPr lang="zh-CN" alt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zh-CN" altLang="en-US" i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zh-CN" alt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h𝑖𝑔h</m:t>
                              </m:r>
                              <m:r>
                                <a:rPr lang="zh-CN" altLang="en-US" i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]−</m:t>
                              </m:r>
                              <m:r>
                                <a:rPr lang="zh-CN" alt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zh-CN" altLang="en-US" i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zh-CN" alt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𝑙𝑜𝑤</m:t>
                              </m:r>
                            </m:e>
                          </m:d>
                        </m:den>
                      </m:f>
                      <m:r>
                        <m:rPr>
                          <m:nor/>
                        </m:rPr>
                        <a:rPr lang="zh-CN" alt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h𝑖𝑔h</m:t>
                          </m:r>
                          <m:r>
                            <m:rPr>
                              <m:nor/>
                            </m:rPr>
                            <a:rPr lang="zh-CN" alt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zh-CN" alt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𝑙𝑜𝑤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7908" y="4068659"/>
                <a:ext cx="5636007" cy="68025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/>
              <p:cNvSpPr/>
              <p:nvPr/>
            </p:nvSpPr>
            <p:spPr>
              <a:xfrm>
                <a:off x="1928185" y="2865990"/>
                <a:ext cx="5665730" cy="616451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𝑚𝑖𝑑</m:t>
                      </m: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zh-CN" altLang="en-US" i="1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𝑙𝑜𝑤</m:t>
                          </m:r>
                          <m:r>
                            <m:rPr>
                              <m:nor/>
                            </m:rPr>
                            <a:rPr lang="zh-CN" alt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nor/>
                            </m:rPr>
                            <a:rPr lang="zh-CN" alt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h𝑖𝑔h</m:t>
                          </m:r>
                        </m:num>
                        <m:den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zh-CN" alt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𝑙𝑜𝑤</m:t>
                      </m:r>
                      <m:r>
                        <m:rPr>
                          <m:nor/>
                        </m:rPr>
                        <a:rPr lang="zh-CN" alt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zh-CN" altLang="en-US" i="1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m:rPr>
                          <m:nor/>
                        </m:rPr>
                        <a:rPr lang="zh-CN" alt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h𝑖𝑔h</m:t>
                          </m:r>
                          <m:r>
                            <m:rPr>
                              <m:nor/>
                            </m:rPr>
                            <a:rPr lang="zh-CN" alt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zh-CN" alt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𝑙𝑜𝑤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8185" y="2865990"/>
                <a:ext cx="5665730" cy="61645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矩形 19"/>
          <p:cNvSpPr/>
          <p:nvPr/>
        </p:nvSpPr>
        <p:spPr>
          <a:xfrm>
            <a:off x="917221" y="4943307"/>
            <a:ext cx="7208196" cy="7232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Times New Roman" panose="02020603050405020304" pitchFamily="18" charset="0"/>
                <a:ea typeface="仿宋" panose="02010609060101010101" pitchFamily="49" charset="-122"/>
              </a:rPr>
              <a:t>时间复杂度：</a:t>
            </a:r>
            <a:r>
              <a:rPr lang="en-US" altLang="zh-CN" b="1" dirty="0">
                <a:latin typeface="Times New Roman" panose="02020603050405020304" pitchFamily="18" charset="0"/>
                <a:ea typeface="仿宋" panose="02010609060101010101" pitchFamily="49" charset="-122"/>
              </a:rPr>
              <a:t>O(log</a:t>
            </a:r>
            <a:r>
              <a:rPr lang="en-US" altLang="zh-CN" b="1" baseline="-25000" dirty="0">
                <a:latin typeface="Times New Roman" panose="02020603050405020304" pitchFamily="18" charset="0"/>
                <a:ea typeface="仿宋" panose="02010609060101010101" pitchFamily="49" charset="-122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ea typeface="仿宋" panose="02010609060101010101" pitchFamily="49" charset="-122"/>
              </a:rPr>
              <a:t>n)</a:t>
            </a:r>
          </a:p>
          <a:p>
            <a:pPr marL="285750" indent="-285750">
              <a:spcBef>
                <a:spcPts val="60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比较适应表长较大，且关键字分布又比较均匀的查找表</a:t>
            </a:r>
          </a:p>
        </p:txBody>
      </p:sp>
    </p:spTree>
    <p:extLst>
      <p:ext uri="{BB962C8B-B14F-4D97-AF65-F5344CB8AC3E}">
        <p14:creationId xmlns:p14="http://schemas.microsoft.com/office/powerpoint/2010/main" val="2375026941"/>
      </p:ext>
    </p:extLst>
  </p:cSld>
  <p:clrMapOvr>
    <a:masterClrMapping/>
  </p:clrMapOvr>
  <p:transition spd="slow" advClick="0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25</a:t>
            </a:fld>
            <a:endParaRPr lang="zh-CN" altLang="en-US" dirty="0"/>
          </a:p>
        </p:txBody>
      </p:sp>
      <p:grpSp>
        <p:nvGrpSpPr>
          <p:cNvPr id="5" name="组合 4"/>
          <p:cNvGrpSpPr/>
          <p:nvPr/>
        </p:nvGrpSpPr>
        <p:grpSpPr>
          <a:xfrm>
            <a:off x="-890841" y="72640"/>
            <a:ext cx="8271153" cy="665363"/>
            <a:chOff x="-594808" y="1867387"/>
            <a:chExt cx="8913447" cy="707532"/>
          </a:xfrm>
        </p:grpSpPr>
        <p:grpSp>
          <p:nvGrpSpPr>
            <p:cNvPr id="6" name="组合 5"/>
            <p:cNvGrpSpPr/>
            <p:nvPr/>
          </p:nvGrpSpPr>
          <p:grpSpPr>
            <a:xfrm>
              <a:off x="-594808" y="1867387"/>
              <a:ext cx="8913447" cy="707532"/>
              <a:chOff x="-635833" y="1327471"/>
              <a:chExt cx="8913447" cy="707532"/>
            </a:xfrm>
          </p:grpSpPr>
          <p:sp>
            <p:nvSpPr>
              <p:cNvPr id="8" name="TextBox 6"/>
              <p:cNvSpPr txBox="1">
                <a:spLocks noChangeArrowheads="1"/>
              </p:cNvSpPr>
              <p:nvPr/>
            </p:nvSpPr>
            <p:spPr bwMode="auto">
              <a:xfrm>
                <a:off x="-635833" y="1347734"/>
                <a:ext cx="8913447" cy="687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10.2 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顺序表的查找</a:t>
                </a:r>
              </a:p>
            </p:txBody>
          </p:sp>
          <p:sp>
            <p:nvSpPr>
              <p:cNvPr id="9" name="Freeform 5"/>
              <p:cNvSpPr>
                <a:spLocks/>
              </p:cNvSpPr>
              <p:nvPr/>
            </p:nvSpPr>
            <p:spPr bwMode="auto">
              <a:xfrm>
                <a:off x="958665" y="1327471"/>
                <a:ext cx="842977" cy="683003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FFFF66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</p:grpSp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89825" y="2023053"/>
              <a:ext cx="495511" cy="423803"/>
            </a:xfrm>
            <a:prstGeom prst="rect">
              <a:avLst/>
            </a:prstGeom>
          </p:spPr>
        </p:pic>
      </p:grp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402284" y="692696"/>
            <a:ext cx="8001000" cy="711200"/>
          </a:xfrm>
        </p:spPr>
        <p:txBody>
          <a:bodyPr>
            <a:normAutofit/>
          </a:bodyPr>
          <a:lstStyle/>
          <a:p>
            <a:pPr marL="342900" indent="-342900" eaLnBrk="1" hangingPunct="1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Times New Roman" pitchFamily="18" charset="0"/>
                <a:ea typeface="仿宋" pitchFamily="49" charset="-122"/>
                <a:cs typeface="+mn-cs"/>
              </a:rPr>
              <a:t>有序表的查找</a:t>
            </a:r>
            <a:r>
              <a:rPr lang="en-US" altLang="zh-CN" sz="2800" dirty="0">
                <a:latin typeface="Times New Roman" pitchFamily="18" charset="0"/>
                <a:ea typeface="仿宋" pitchFamily="49" charset="-122"/>
                <a:cs typeface="+mn-cs"/>
              </a:rPr>
              <a:t>——</a:t>
            </a:r>
            <a:r>
              <a:rPr lang="zh-CN" altLang="en-US" sz="2800" dirty="0">
                <a:latin typeface="Times New Roman" pitchFamily="18" charset="0"/>
                <a:ea typeface="仿宋" pitchFamily="49" charset="-122"/>
                <a:cs typeface="+mn-cs"/>
              </a:rPr>
              <a:t>二分查找的改进</a:t>
            </a:r>
          </a:p>
        </p:txBody>
      </p:sp>
      <p:sp>
        <p:nvSpPr>
          <p:cNvPr id="17" name="矩形 16"/>
          <p:cNvSpPr/>
          <p:nvPr/>
        </p:nvSpPr>
        <p:spPr>
          <a:xfrm>
            <a:off x="1259746" y="4368692"/>
            <a:ext cx="7208196" cy="7232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时间复杂度：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O(log</a:t>
            </a:r>
            <a:r>
              <a:rPr lang="en-US" altLang="zh-CN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2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n)</a:t>
            </a:r>
          </a:p>
          <a:p>
            <a:pPr marL="285750" indent="-285750">
              <a:spcBef>
                <a:spcPts val="60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dirty="0"/>
              <a:t>平均性能来说，斐波那契查找要优于二分查找</a:t>
            </a:r>
            <a:endParaRPr lang="zh-CN" altLang="en-US" b="1" dirty="0">
              <a:solidFill>
                <a:srgbClr val="0000FF"/>
              </a:solidFill>
              <a:latin typeface="Times New Roman" panose="02020603050405020304" pitchFamily="18" charset="0"/>
              <a:ea typeface="仿宋" panose="02010609060101010101" pitchFamily="49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259211" y="1872853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Times New Roman" panose="02020603050405020304" pitchFamily="18" charset="0"/>
                <a:ea typeface="仿宋" panose="02010609060101010101" pitchFamily="49" charset="-122"/>
              </a:rPr>
              <a:t>利用黄金分割原理实现分割查找</a:t>
            </a:r>
          </a:p>
        </p:txBody>
      </p:sp>
      <p:sp>
        <p:nvSpPr>
          <p:cNvPr id="19" name="Rectangle 2"/>
          <p:cNvSpPr txBox="1">
            <a:spLocks noChangeArrowheads="1"/>
          </p:cNvSpPr>
          <p:nvPr/>
        </p:nvSpPr>
        <p:spPr bwMode="auto">
          <a:xfrm>
            <a:off x="765193" y="1161653"/>
            <a:ext cx="8001000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6800" numCol="1" anchor="b" anchorCtr="0" compatLnSpc="1">
            <a:prstTxWarp prst="textNoShape">
              <a:avLst/>
            </a:prstTxWarp>
            <a:norm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b="1" kern="1200" baseline="0">
                <a:solidFill>
                  <a:schemeClr val="tx1"/>
                </a:solidFill>
                <a:latin typeface="黑体" pitchFamily="2" charset="-122"/>
                <a:ea typeface="黑体" pitchFamily="2" charset="-122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marL="457200" indent="-4572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  <a:cs typeface="+mn-cs"/>
              </a:rPr>
              <a:t>斐波那契查找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+mn-cs"/>
              </a:rPr>
              <a:t>(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+mn-cs"/>
              </a:rPr>
              <a:t>Fibonacci Search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  <a:cs typeface="+mn-cs"/>
              </a:rPr>
              <a:t>)</a:t>
            </a:r>
            <a:endParaRPr lang="zh-CN" altLang="en-US" sz="2400" dirty="0">
              <a:latin typeface="Times New Roman" panose="02020603050405020304" pitchFamily="18" charset="0"/>
              <a:ea typeface="仿宋" panose="02010609060101010101" pitchFamily="49" charset="-122"/>
              <a:cs typeface="+mn-cs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263194" y="2606482"/>
            <a:ext cx="7037834" cy="14311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anose="02020603050405020304" pitchFamily="18" charset="0"/>
                <a:ea typeface="仿宋" panose="02010609060101010101" pitchFamily="49" charset="-122"/>
              </a:rPr>
              <a:t> 核心思想：</a:t>
            </a:r>
            <a:endParaRPr lang="en-US" altLang="zh-CN" dirty="0">
              <a:latin typeface="Times New Roman" panose="02020603050405020304" pitchFamily="18" charset="0"/>
              <a:ea typeface="仿宋" panose="02010609060101010101" pitchFamily="49" charset="-122"/>
            </a:endParaRPr>
          </a:p>
          <a:p>
            <a:pPr>
              <a:spcBef>
                <a:spcPts val="600"/>
              </a:spcBef>
            </a:pPr>
            <a:r>
              <a:rPr lang="zh-CN" altLang="en-US" dirty="0">
                <a:latin typeface="Times New Roman" panose="02020603050405020304" pitchFamily="18" charset="0"/>
                <a:ea typeface="仿宋" panose="02010609060101010101" pitchFamily="49" charset="-122"/>
              </a:rPr>
              <a:t>  </a:t>
            </a:r>
            <a:r>
              <a:rPr lang="en-US" altLang="zh-CN" dirty="0">
                <a:latin typeface="Times New Roman" panose="02020603050405020304" pitchFamily="18" charset="0"/>
                <a:ea typeface="仿宋" panose="02010609060101010101" pitchFamily="49" charset="-122"/>
              </a:rPr>
              <a:t>1) key=A[mid]</a:t>
            </a:r>
            <a:r>
              <a:rPr lang="zh-CN" altLang="en-US" dirty="0">
                <a:latin typeface="Times New Roman" panose="02020603050405020304" pitchFamily="18" charset="0"/>
                <a:ea typeface="仿宋" panose="02010609060101010101" pitchFamily="49" charset="-122"/>
              </a:rPr>
              <a:t>：查找成功；</a:t>
            </a:r>
            <a:endParaRPr lang="en-US" altLang="zh-CN" dirty="0">
              <a:latin typeface="Times New Roman" panose="02020603050405020304" pitchFamily="18" charset="0"/>
              <a:ea typeface="仿宋" panose="02010609060101010101" pitchFamily="49" charset="-122"/>
            </a:endParaRPr>
          </a:p>
          <a:p>
            <a:pPr>
              <a:spcBef>
                <a:spcPts val="600"/>
              </a:spcBef>
            </a:pPr>
            <a:r>
              <a:rPr lang="en-US" altLang="zh-CN" dirty="0">
                <a:latin typeface="Times New Roman" panose="02020603050405020304" pitchFamily="18" charset="0"/>
                <a:ea typeface="仿宋" panose="02010609060101010101" pitchFamily="49" charset="-122"/>
              </a:rPr>
              <a:t>  2) key&lt;A[mid]</a:t>
            </a:r>
            <a:r>
              <a:rPr lang="zh-CN" altLang="en-US" dirty="0">
                <a:latin typeface="Times New Roman" panose="02020603050405020304" pitchFamily="18" charset="0"/>
                <a:ea typeface="仿宋" panose="02010609060101010101" pitchFamily="49" charset="-122"/>
              </a:rPr>
              <a:t>：从</a:t>
            </a:r>
            <a:r>
              <a:rPr lang="en-US" altLang="zh-CN" dirty="0">
                <a:latin typeface="Times New Roman" panose="02020603050405020304" pitchFamily="18" charset="0"/>
                <a:ea typeface="仿宋" panose="02010609060101010101" pitchFamily="49" charset="-122"/>
              </a:rPr>
              <a:t>[low</a:t>
            </a:r>
            <a:r>
              <a:rPr lang="zh-CN" altLang="en-US" dirty="0">
                <a:latin typeface="Times New Roman" panose="02020603050405020304" pitchFamily="18" charset="0"/>
                <a:ea typeface="仿宋" panose="02010609060101010101" pitchFamily="49" charset="-122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  <a:ea typeface="仿宋" panose="02010609060101010101" pitchFamily="49" charset="-122"/>
              </a:rPr>
              <a:t>mid-1]</a:t>
            </a:r>
            <a:r>
              <a:rPr lang="zh-CN" altLang="en-US" dirty="0">
                <a:latin typeface="Times New Roman" panose="02020603050405020304" pitchFamily="18" charset="0"/>
                <a:ea typeface="仿宋" panose="02010609060101010101" pitchFamily="49" charset="-122"/>
              </a:rPr>
              <a:t>区间查找，元素个数为</a:t>
            </a:r>
            <a:r>
              <a:rPr lang="en-US" altLang="zh-CN" dirty="0">
                <a:latin typeface="Times New Roman" panose="02020603050405020304" pitchFamily="18" charset="0"/>
                <a:ea typeface="仿宋" panose="02010609060101010101" pitchFamily="49" charset="-122"/>
              </a:rPr>
              <a:t>f[k-1]-1</a:t>
            </a:r>
            <a:r>
              <a:rPr lang="zh-CN" altLang="en-US" dirty="0">
                <a:latin typeface="Times New Roman" panose="02020603050405020304" pitchFamily="18" charset="0"/>
                <a:ea typeface="仿宋" panose="02010609060101010101" pitchFamily="49" charset="-122"/>
              </a:rPr>
              <a:t>；</a:t>
            </a:r>
            <a:endParaRPr lang="en-US" altLang="zh-CN" dirty="0">
              <a:latin typeface="Times New Roman" panose="02020603050405020304" pitchFamily="18" charset="0"/>
              <a:ea typeface="仿宋" panose="02010609060101010101" pitchFamily="49" charset="-122"/>
            </a:endParaRPr>
          </a:p>
          <a:p>
            <a:pPr>
              <a:spcBef>
                <a:spcPts val="600"/>
              </a:spcBef>
            </a:pPr>
            <a:r>
              <a:rPr lang="en-US" altLang="zh-CN" dirty="0">
                <a:latin typeface="Times New Roman" panose="02020603050405020304" pitchFamily="18" charset="0"/>
                <a:ea typeface="仿宋" panose="02010609060101010101" pitchFamily="49" charset="-122"/>
              </a:rPr>
              <a:t>  3) key&gt;A[mid]</a:t>
            </a:r>
            <a:r>
              <a:rPr lang="zh-CN" altLang="en-US" dirty="0">
                <a:latin typeface="Times New Roman" panose="02020603050405020304" pitchFamily="18" charset="0"/>
                <a:ea typeface="仿宋" panose="02010609060101010101" pitchFamily="49" charset="-122"/>
              </a:rPr>
              <a:t>： 从</a:t>
            </a:r>
            <a:r>
              <a:rPr lang="en-US" altLang="zh-CN" dirty="0">
                <a:latin typeface="Times New Roman" panose="02020603050405020304" pitchFamily="18" charset="0"/>
                <a:ea typeface="仿宋" panose="02010609060101010101" pitchFamily="49" charset="-122"/>
              </a:rPr>
              <a:t>[mid+1, high]</a:t>
            </a:r>
            <a:r>
              <a:rPr lang="zh-CN" altLang="en-US" dirty="0">
                <a:latin typeface="Times New Roman" panose="02020603050405020304" pitchFamily="18" charset="0"/>
                <a:ea typeface="仿宋" panose="02010609060101010101" pitchFamily="49" charset="-122"/>
              </a:rPr>
              <a:t>区间查找，元素个数为</a:t>
            </a:r>
            <a:r>
              <a:rPr lang="en-US" altLang="zh-CN" dirty="0">
                <a:latin typeface="Times New Roman" panose="02020603050405020304" pitchFamily="18" charset="0"/>
                <a:ea typeface="仿宋" panose="02010609060101010101" pitchFamily="49" charset="-122"/>
              </a:rPr>
              <a:t>f[k-2]-1</a:t>
            </a:r>
            <a:r>
              <a:rPr lang="zh-CN" altLang="en-US" dirty="0">
                <a:latin typeface="Times New Roman" panose="02020603050405020304" pitchFamily="18" charset="0"/>
                <a:ea typeface="仿宋" panose="02010609060101010101" pitchFamily="49" charset="-122"/>
              </a:rPr>
              <a:t>。</a:t>
            </a:r>
            <a:endParaRPr lang="zh-CN" altLang="en-US" b="0" i="0" dirty="0">
              <a:effectLst/>
              <a:latin typeface="Times New Roman" panose="02020603050405020304" pitchFamily="18" charset="0"/>
              <a:ea typeface="仿宋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2483768" y="2195572"/>
                <a:ext cx="301069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)=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−1)+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3768" y="2195572"/>
                <a:ext cx="3010696" cy="369332"/>
              </a:xfrm>
              <a:prstGeom prst="rect">
                <a:avLst/>
              </a:prstGeom>
              <a:blipFill>
                <a:blip r:embed="rId3"/>
                <a:stretch>
                  <a:fillRect t="-118033" r="-16397" b="-1852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0923464"/>
      </p:ext>
    </p:extLst>
  </p:cSld>
  <p:clrMapOvr>
    <a:masterClrMapping/>
  </p:clrMapOvr>
  <p:transition spd="slow" advClick="0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536" name="Group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4247023"/>
              </p:ext>
            </p:extLst>
          </p:nvPr>
        </p:nvGraphicFramePr>
        <p:xfrm>
          <a:off x="611188" y="4654823"/>
          <a:ext cx="7921625" cy="4318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80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0801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1" charset="-122"/>
                        </a:rPr>
                        <a:t>90</a:t>
                      </a:r>
                    </a:p>
                  </a:txBody>
                  <a:tcPr marL="36000" marR="36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1" charset="-122"/>
                        </a:rPr>
                        <a:t>92</a:t>
                      </a:r>
                    </a:p>
                  </a:txBody>
                  <a:tcPr marL="36000" marR="36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1" charset="-122"/>
                        </a:rPr>
                        <a:t>95</a:t>
                      </a:r>
                    </a:p>
                  </a:txBody>
                  <a:tcPr marL="36000" marR="36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1" charset="-122"/>
                        </a:rPr>
                        <a:t>91</a:t>
                      </a:r>
                    </a:p>
                  </a:txBody>
                  <a:tcPr marL="36000" marR="36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1" charset="-122"/>
                        </a:rPr>
                        <a:t>85</a:t>
                      </a:r>
                    </a:p>
                  </a:txBody>
                  <a:tcPr marL="36000" marR="36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1" charset="-122"/>
                        </a:rPr>
                        <a:t>88</a:t>
                      </a:r>
                    </a:p>
                  </a:txBody>
                  <a:tcPr marL="36000" marR="36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1" charset="-122"/>
                        </a:rPr>
                        <a:t>86</a:t>
                      </a:r>
                    </a:p>
                  </a:txBody>
                  <a:tcPr marL="36000" marR="36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1" charset="-122"/>
                        </a:rPr>
                        <a:t>78</a:t>
                      </a:r>
                    </a:p>
                  </a:txBody>
                  <a:tcPr marL="36000" marR="36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1" charset="-122"/>
                        </a:rPr>
                        <a:t>70</a:t>
                      </a:r>
                    </a:p>
                  </a:txBody>
                  <a:tcPr marL="36000" marR="36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1" charset="-122"/>
                        </a:rPr>
                        <a:t>77</a:t>
                      </a:r>
                    </a:p>
                  </a:txBody>
                  <a:tcPr marL="36000" marR="36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1" charset="-122"/>
                        </a:rPr>
                        <a:t>62</a:t>
                      </a:r>
                    </a:p>
                  </a:txBody>
                  <a:tcPr marL="36000" marR="36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1" charset="-122"/>
                        </a:rPr>
                        <a:t>65</a:t>
                      </a:r>
                    </a:p>
                  </a:txBody>
                  <a:tcPr marL="36000" marR="36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1" charset="-122"/>
                        </a:rPr>
                        <a:t>63</a:t>
                      </a:r>
                    </a:p>
                  </a:txBody>
                  <a:tcPr marL="36000" marR="36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24622" y="922309"/>
            <a:ext cx="7993062" cy="4751387"/>
          </a:xfrm>
        </p:spPr>
        <p:txBody>
          <a:bodyPr/>
          <a:lstStyle/>
          <a:p>
            <a:pPr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800" b="1" dirty="0"/>
              <a:t>10.2.3 </a:t>
            </a:r>
            <a:r>
              <a:rPr lang="zh-CN" altLang="en-US" sz="2800" b="1" dirty="0"/>
              <a:t>索引表的查找   </a:t>
            </a:r>
          </a:p>
          <a:p>
            <a:pPr eaLnBrk="1" hangingPunct="1">
              <a:spcBef>
                <a:spcPct val="10000"/>
              </a:spcBef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/>
              <a:t>一些数据表具有这样的特性：</a:t>
            </a:r>
          </a:p>
          <a:p>
            <a:pPr lvl="1" eaLnBrk="1" hangingPunct="1">
              <a:spcBef>
                <a:spcPct val="10000"/>
              </a:spcBef>
              <a:buClr>
                <a:srgbClr val="FF0000"/>
              </a:buClr>
              <a:buFont typeface="Arial" panose="020B0604020202020204" pitchFamily="34" charset="0"/>
              <a:buChar char="–"/>
            </a:pPr>
            <a:r>
              <a:rPr lang="zh-CN" altLang="en-US" sz="2000" dirty="0"/>
              <a:t>分块有序</a:t>
            </a:r>
            <a:r>
              <a:rPr lang="en-US" altLang="zh-CN" sz="2000" dirty="0"/>
              <a:t>(</a:t>
            </a:r>
            <a:r>
              <a:rPr lang="en-US" altLang="zh-CN" sz="2000" dirty="0">
                <a:solidFill>
                  <a:srgbClr val="0000FF"/>
                </a:solidFill>
              </a:rPr>
              <a:t>Block Order</a:t>
            </a:r>
            <a:r>
              <a:rPr lang="en-US" altLang="zh-CN" sz="2000" dirty="0"/>
              <a:t>)——</a:t>
            </a:r>
            <a:r>
              <a:rPr lang="zh-CN" altLang="en-US" sz="2000" dirty="0"/>
              <a:t>块间有序，块内无序。</a:t>
            </a:r>
          </a:p>
          <a:p>
            <a:pPr eaLnBrk="1" hangingPunct="1">
              <a:lnSpc>
                <a:spcPts val="1500"/>
              </a:lnSpc>
              <a:spcBef>
                <a:spcPts val="0"/>
              </a:spcBef>
              <a:buClr>
                <a:srgbClr val="FF0000"/>
              </a:buClr>
              <a:buFont typeface="Wingdings" panose="05000000000000000000" pitchFamily="2" charset="2"/>
              <a:buChar char="n"/>
            </a:pPr>
            <a:endParaRPr lang="en-US" altLang="zh-CN" sz="1800" dirty="0"/>
          </a:p>
          <a:p>
            <a:pPr eaLnBrk="1" hangingPunct="1">
              <a:spcBef>
                <a:spcPct val="10000"/>
              </a:spcBef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1800" dirty="0"/>
              <a:t>为便于查找， 可这样处理：</a:t>
            </a:r>
          </a:p>
          <a:p>
            <a:pPr lvl="1">
              <a:spcBef>
                <a:spcPct val="10000"/>
              </a:spcBef>
              <a:buClr>
                <a:srgbClr val="FF0000"/>
              </a:buClr>
            </a:pPr>
            <a:r>
              <a:rPr lang="zh-CN" altLang="en-US" sz="1800" b="1" dirty="0"/>
              <a:t>为每一块设立一个</a:t>
            </a:r>
            <a:r>
              <a:rPr lang="zh-CN" altLang="en-US" sz="1800" b="1" dirty="0">
                <a:solidFill>
                  <a:srgbClr val="FF0000"/>
                </a:solidFill>
              </a:rPr>
              <a:t>块首指针</a:t>
            </a:r>
            <a:r>
              <a:rPr lang="en-US" altLang="zh-CN" sz="1800" b="1" dirty="0">
                <a:solidFill>
                  <a:srgbClr val="FF0000"/>
                </a:solidFill>
              </a:rPr>
              <a:t>(</a:t>
            </a:r>
            <a:r>
              <a:rPr lang="en-US" altLang="zh-CN" sz="1800" b="1" dirty="0">
                <a:solidFill>
                  <a:srgbClr val="0000FF"/>
                </a:solidFill>
              </a:rPr>
              <a:t>Block Head Pointer</a:t>
            </a:r>
            <a:r>
              <a:rPr lang="en-US" altLang="zh-CN" sz="1800" b="1" dirty="0">
                <a:solidFill>
                  <a:srgbClr val="FF0000"/>
                </a:solidFill>
              </a:rPr>
              <a:t>)</a:t>
            </a:r>
            <a:endParaRPr lang="zh-CN" altLang="en-US" sz="1800" b="1" dirty="0">
              <a:solidFill>
                <a:srgbClr val="FF0000"/>
              </a:solidFill>
            </a:endParaRPr>
          </a:p>
          <a:p>
            <a:pPr lvl="1" eaLnBrk="1" hangingPunct="1">
              <a:spcBef>
                <a:spcPct val="10000"/>
              </a:spcBef>
              <a:buClr>
                <a:srgbClr val="FF0000"/>
              </a:buClr>
            </a:pPr>
            <a:r>
              <a:rPr lang="zh-CN" altLang="en-US" sz="1800" b="1" dirty="0"/>
              <a:t>并标注对应块中的</a:t>
            </a:r>
            <a:r>
              <a:rPr lang="zh-CN" altLang="en-US" sz="1800" b="1" dirty="0">
                <a:solidFill>
                  <a:srgbClr val="FF0000"/>
                </a:solidFill>
              </a:rPr>
              <a:t>最大</a:t>
            </a:r>
            <a:r>
              <a:rPr lang="en-US" altLang="zh-CN" sz="1800" b="1" dirty="0">
                <a:solidFill>
                  <a:srgbClr val="FF0000"/>
                </a:solidFill>
              </a:rPr>
              <a:t>(</a:t>
            </a:r>
            <a:r>
              <a:rPr lang="zh-CN" altLang="en-US" sz="1800" b="1" dirty="0">
                <a:solidFill>
                  <a:srgbClr val="FF0000"/>
                </a:solidFill>
              </a:rPr>
              <a:t>小</a:t>
            </a:r>
            <a:r>
              <a:rPr lang="en-US" altLang="zh-CN" sz="1800" b="1" dirty="0">
                <a:solidFill>
                  <a:srgbClr val="FF0000"/>
                </a:solidFill>
              </a:rPr>
              <a:t>)</a:t>
            </a:r>
            <a:r>
              <a:rPr lang="zh-CN" altLang="en-US" sz="1800" b="1" dirty="0">
                <a:solidFill>
                  <a:srgbClr val="FF0000"/>
                </a:solidFill>
              </a:rPr>
              <a:t>关键字</a:t>
            </a:r>
            <a:r>
              <a:rPr lang="en-US" altLang="zh-CN" sz="1800" b="1" dirty="0"/>
              <a:t>(</a:t>
            </a:r>
            <a:r>
              <a:rPr lang="en-US" altLang="zh-CN" sz="1800" b="1" dirty="0">
                <a:solidFill>
                  <a:srgbClr val="0000FF"/>
                </a:solidFill>
              </a:rPr>
              <a:t>Maximum/Minimum Keyword</a:t>
            </a:r>
            <a:r>
              <a:rPr lang="en-US" altLang="zh-CN" sz="1800" b="1" dirty="0"/>
              <a:t>)</a:t>
            </a:r>
          </a:p>
          <a:p>
            <a:pPr marL="457200" lvl="1" indent="0" eaLnBrk="1" hangingPunct="1">
              <a:spcBef>
                <a:spcPct val="10000"/>
              </a:spcBef>
              <a:buClr>
                <a:srgbClr val="FF0000"/>
              </a:buClr>
              <a:buNone/>
            </a:pPr>
            <a:r>
              <a:rPr lang="en-US" altLang="zh-CN" sz="1800" b="1" dirty="0">
                <a:solidFill>
                  <a:srgbClr val="FF0000"/>
                </a:solidFill>
              </a:rPr>
              <a:t>     </a:t>
            </a:r>
            <a:r>
              <a:rPr lang="en-US" altLang="zh-CN" sz="1800" b="1" dirty="0"/>
              <a:t>(</a:t>
            </a:r>
            <a:r>
              <a:rPr lang="zh-CN" altLang="en-US" sz="1800" b="1" dirty="0"/>
              <a:t>可能是潜在的，不一定出现</a:t>
            </a:r>
            <a:r>
              <a:rPr lang="en-US" altLang="zh-CN" sz="1800" b="1" dirty="0"/>
              <a:t>)</a:t>
            </a:r>
            <a:endParaRPr lang="zh-CN" altLang="en-US" sz="1800" b="1" dirty="0"/>
          </a:p>
          <a:p>
            <a:pPr lvl="1" eaLnBrk="1" hangingPunct="1">
              <a:spcBef>
                <a:spcPct val="10000"/>
              </a:spcBef>
              <a:buClr>
                <a:srgbClr val="FF0000"/>
              </a:buClr>
            </a:pPr>
            <a:r>
              <a:rPr lang="zh-CN" altLang="en-US" sz="1800" b="1" dirty="0"/>
              <a:t>将这两项内容合并为一个</a:t>
            </a:r>
            <a:r>
              <a:rPr lang="zh-CN" altLang="en-US" sz="1800" b="1" dirty="0">
                <a:solidFill>
                  <a:srgbClr val="FF0000"/>
                </a:solidFill>
              </a:rPr>
              <a:t>索引项</a:t>
            </a:r>
            <a:r>
              <a:rPr lang="en-US" altLang="zh-CN" sz="1800" b="1" dirty="0">
                <a:solidFill>
                  <a:srgbClr val="FF0000"/>
                </a:solidFill>
              </a:rPr>
              <a:t>(</a:t>
            </a:r>
            <a:r>
              <a:rPr lang="en-US" altLang="zh-CN" sz="1800" b="1" dirty="0">
                <a:solidFill>
                  <a:srgbClr val="0000FF"/>
                </a:solidFill>
              </a:rPr>
              <a:t>Indexed Item</a:t>
            </a:r>
            <a:r>
              <a:rPr lang="en-US" altLang="zh-CN" sz="1800" b="1" dirty="0">
                <a:solidFill>
                  <a:srgbClr val="FF0000"/>
                </a:solidFill>
              </a:rPr>
              <a:t>)</a:t>
            </a:r>
            <a:endParaRPr lang="zh-CN" altLang="en-US" sz="1800" b="1" dirty="0">
              <a:solidFill>
                <a:srgbClr val="FF0000"/>
              </a:solidFill>
            </a:endParaRPr>
          </a:p>
          <a:p>
            <a:pPr lvl="1">
              <a:spcBef>
                <a:spcPct val="10000"/>
              </a:spcBef>
              <a:buClr>
                <a:srgbClr val="FF0000"/>
              </a:buClr>
            </a:pPr>
            <a:r>
              <a:rPr lang="zh-CN" altLang="en-US" sz="1800" b="1" dirty="0"/>
              <a:t>各索引项合在一起构成</a:t>
            </a:r>
            <a:r>
              <a:rPr lang="zh-CN" altLang="en-US" sz="1800" b="1" dirty="0">
                <a:solidFill>
                  <a:srgbClr val="FF0000"/>
                </a:solidFill>
              </a:rPr>
              <a:t>索引表</a:t>
            </a:r>
            <a:r>
              <a:rPr lang="en-US" altLang="zh-CN" sz="1800" b="1" dirty="0">
                <a:solidFill>
                  <a:srgbClr val="FF0000"/>
                </a:solidFill>
              </a:rPr>
              <a:t>(</a:t>
            </a:r>
            <a:r>
              <a:rPr lang="en-US" altLang="zh-CN" sz="1800" b="1" dirty="0">
                <a:solidFill>
                  <a:srgbClr val="0000FF"/>
                </a:solidFill>
              </a:rPr>
              <a:t>Indexed Table</a:t>
            </a:r>
            <a:r>
              <a:rPr lang="en-US" altLang="zh-CN" sz="1800" b="1" dirty="0">
                <a:solidFill>
                  <a:srgbClr val="FF0000"/>
                </a:solidFill>
              </a:rPr>
              <a:t>)</a:t>
            </a:r>
            <a:r>
              <a:rPr lang="zh-CN" altLang="en-US" sz="1800" b="1" dirty="0"/>
              <a:t>。</a:t>
            </a:r>
          </a:p>
        </p:txBody>
      </p:sp>
      <p:sp>
        <p:nvSpPr>
          <p:cNvPr id="22532" name="Oval 4"/>
          <p:cNvSpPr>
            <a:spLocks noChangeArrowheads="1"/>
          </p:cNvSpPr>
          <p:nvPr/>
        </p:nvSpPr>
        <p:spPr bwMode="auto">
          <a:xfrm>
            <a:off x="684213" y="4510360"/>
            <a:ext cx="2232025" cy="720725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endParaRPr lang="zh-CN" altLang="en-US"/>
          </a:p>
        </p:txBody>
      </p:sp>
      <p:sp>
        <p:nvSpPr>
          <p:cNvPr id="22533" name="Oval 5"/>
          <p:cNvSpPr>
            <a:spLocks noChangeArrowheads="1"/>
          </p:cNvSpPr>
          <p:nvPr/>
        </p:nvSpPr>
        <p:spPr bwMode="auto">
          <a:xfrm>
            <a:off x="2987824" y="4510360"/>
            <a:ext cx="1873250" cy="720725"/>
          </a:xfrm>
          <a:prstGeom prst="ellips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endParaRPr lang="zh-CN" altLang="en-US"/>
          </a:p>
        </p:txBody>
      </p:sp>
      <p:sp>
        <p:nvSpPr>
          <p:cNvPr id="22534" name="Oval 6"/>
          <p:cNvSpPr>
            <a:spLocks noChangeArrowheads="1"/>
          </p:cNvSpPr>
          <p:nvPr/>
        </p:nvSpPr>
        <p:spPr bwMode="auto">
          <a:xfrm>
            <a:off x="4860032" y="4510360"/>
            <a:ext cx="1800225" cy="720725"/>
          </a:xfrm>
          <a:prstGeom prst="ellips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endParaRPr lang="zh-CN" altLang="en-US"/>
          </a:p>
        </p:txBody>
      </p:sp>
      <p:sp>
        <p:nvSpPr>
          <p:cNvPr id="22535" name="Oval 7"/>
          <p:cNvSpPr>
            <a:spLocks noChangeArrowheads="1"/>
          </p:cNvSpPr>
          <p:nvPr/>
        </p:nvSpPr>
        <p:spPr bwMode="auto">
          <a:xfrm>
            <a:off x="6732588" y="4510360"/>
            <a:ext cx="1727200" cy="720725"/>
          </a:xfrm>
          <a:prstGeom prst="ellips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endParaRPr lang="zh-CN" altLang="en-US"/>
          </a:p>
        </p:txBody>
      </p:sp>
      <p:grpSp>
        <p:nvGrpSpPr>
          <p:cNvPr id="2" name="Group 38"/>
          <p:cNvGrpSpPr>
            <a:grpSpLocks/>
          </p:cNvGrpSpPr>
          <p:nvPr/>
        </p:nvGrpSpPr>
        <p:grpSpPr bwMode="auto">
          <a:xfrm>
            <a:off x="755650" y="5013598"/>
            <a:ext cx="1008063" cy="1309687"/>
            <a:chOff x="0" y="0"/>
            <a:chExt cx="635" cy="825"/>
          </a:xfrm>
        </p:grpSpPr>
        <p:sp>
          <p:nvSpPr>
            <p:cNvPr id="21563" name="Text Box 39"/>
            <p:cNvSpPr txBox="1">
              <a:spLocks noChangeArrowheads="1"/>
            </p:cNvSpPr>
            <p:nvPr/>
          </p:nvSpPr>
          <p:spPr bwMode="auto">
            <a:xfrm>
              <a:off x="0" y="409"/>
              <a:ext cx="635" cy="416"/>
            </a:xfrm>
            <a:prstGeom prst="rect">
              <a:avLst/>
            </a:prstGeom>
            <a:noFill/>
            <a:ln w="1905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>
                  <a:ea typeface="宋体" panose="02010600030101010101" pitchFamily="2" charset="-122"/>
                </a:rPr>
                <a:t>	</a:t>
              </a:r>
              <a:r>
                <a:rPr lang="en-US" altLang="zh-CN">
                  <a:ea typeface="宋体" panose="02010600030101010101" pitchFamily="2" charset="-122"/>
                </a:rPr>
                <a:t>90</a:t>
              </a:r>
            </a:p>
          </p:txBody>
        </p:sp>
        <p:sp>
          <p:nvSpPr>
            <p:cNvPr id="21564" name="Line 40"/>
            <p:cNvSpPr>
              <a:spLocks noChangeShapeType="1"/>
            </p:cNvSpPr>
            <p:nvPr/>
          </p:nvSpPr>
          <p:spPr bwMode="auto">
            <a:xfrm flipV="1">
              <a:off x="0" y="590"/>
              <a:ext cx="635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65" name="Line 41"/>
            <p:cNvSpPr>
              <a:spLocks noChangeShapeType="1"/>
            </p:cNvSpPr>
            <p:nvPr/>
          </p:nvSpPr>
          <p:spPr bwMode="auto">
            <a:xfrm flipH="1" flipV="1">
              <a:off x="227" y="0"/>
              <a:ext cx="45" cy="499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42"/>
          <p:cNvGrpSpPr>
            <a:grpSpLocks/>
          </p:cNvGrpSpPr>
          <p:nvPr/>
        </p:nvGrpSpPr>
        <p:grpSpPr bwMode="auto">
          <a:xfrm>
            <a:off x="2843213" y="5085035"/>
            <a:ext cx="1008062" cy="1309688"/>
            <a:chOff x="0" y="0"/>
            <a:chExt cx="635" cy="825"/>
          </a:xfrm>
        </p:grpSpPr>
        <p:sp>
          <p:nvSpPr>
            <p:cNvPr id="21560" name="Text Box 43"/>
            <p:cNvSpPr txBox="1">
              <a:spLocks noChangeArrowheads="1"/>
            </p:cNvSpPr>
            <p:nvPr/>
          </p:nvSpPr>
          <p:spPr bwMode="auto">
            <a:xfrm>
              <a:off x="0" y="409"/>
              <a:ext cx="635" cy="416"/>
            </a:xfrm>
            <a:prstGeom prst="rect">
              <a:avLst/>
            </a:prstGeom>
            <a:noFill/>
            <a:ln w="1905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>
                  <a:ea typeface="宋体" panose="02010600030101010101" pitchFamily="2" charset="-122"/>
                </a:rPr>
                <a:t>	</a:t>
              </a:r>
              <a:r>
                <a:rPr lang="en-US" altLang="zh-CN">
                  <a:ea typeface="宋体" panose="02010600030101010101" pitchFamily="2" charset="-122"/>
                </a:rPr>
                <a:t>80</a:t>
              </a:r>
            </a:p>
          </p:txBody>
        </p:sp>
        <p:sp>
          <p:nvSpPr>
            <p:cNvPr id="21561" name="Line 44"/>
            <p:cNvSpPr>
              <a:spLocks noChangeShapeType="1"/>
            </p:cNvSpPr>
            <p:nvPr/>
          </p:nvSpPr>
          <p:spPr bwMode="auto">
            <a:xfrm flipV="1">
              <a:off x="0" y="590"/>
              <a:ext cx="635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62" name="Line 45"/>
            <p:cNvSpPr>
              <a:spLocks noChangeShapeType="1"/>
            </p:cNvSpPr>
            <p:nvPr/>
          </p:nvSpPr>
          <p:spPr bwMode="auto">
            <a:xfrm flipH="1" flipV="1">
              <a:off x="227" y="0"/>
              <a:ext cx="45" cy="499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46"/>
          <p:cNvGrpSpPr>
            <a:grpSpLocks/>
          </p:cNvGrpSpPr>
          <p:nvPr/>
        </p:nvGrpSpPr>
        <p:grpSpPr bwMode="auto">
          <a:xfrm>
            <a:off x="4787900" y="5085035"/>
            <a:ext cx="1008063" cy="1309688"/>
            <a:chOff x="0" y="0"/>
            <a:chExt cx="635" cy="825"/>
          </a:xfrm>
        </p:grpSpPr>
        <p:sp>
          <p:nvSpPr>
            <p:cNvPr id="21557" name="Text Box 47"/>
            <p:cNvSpPr txBox="1">
              <a:spLocks noChangeArrowheads="1"/>
            </p:cNvSpPr>
            <p:nvPr/>
          </p:nvSpPr>
          <p:spPr bwMode="auto">
            <a:xfrm>
              <a:off x="0" y="409"/>
              <a:ext cx="635" cy="416"/>
            </a:xfrm>
            <a:prstGeom prst="rect">
              <a:avLst/>
            </a:prstGeom>
            <a:noFill/>
            <a:ln w="1905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>
                  <a:ea typeface="宋体" panose="02010600030101010101" pitchFamily="2" charset="-122"/>
                </a:rPr>
                <a:t>	</a:t>
              </a:r>
              <a:r>
                <a:rPr lang="en-US" altLang="zh-CN">
                  <a:ea typeface="宋体" panose="02010600030101010101" pitchFamily="2" charset="-122"/>
                </a:rPr>
                <a:t>70</a:t>
              </a:r>
            </a:p>
          </p:txBody>
        </p:sp>
        <p:sp>
          <p:nvSpPr>
            <p:cNvPr id="21558" name="Line 48"/>
            <p:cNvSpPr>
              <a:spLocks noChangeShapeType="1"/>
            </p:cNvSpPr>
            <p:nvPr/>
          </p:nvSpPr>
          <p:spPr bwMode="auto">
            <a:xfrm flipV="1">
              <a:off x="0" y="590"/>
              <a:ext cx="635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59" name="Line 49"/>
            <p:cNvSpPr>
              <a:spLocks noChangeShapeType="1"/>
            </p:cNvSpPr>
            <p:nvPr/>
          </p:nvSpPr>
          <p:spPr bwMode="auto">
            <a:xfrm flipH="1" flipV="1">
              <a:off x="227" y="0"/>
              <a:ext cx="45" cy="499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" name="Group 50"/>
          <p:cNvGrpSpPr>
            <a:grpSpLocks/>
          </p:cNvGrpSpPr>
          <p:nvPr/>
        </p:nvGrpSpPr>
        <p:grpSpPr bwMode="auto">
          <a:xfrm>
            <a:off x="6659563" y="5085035"/>
            <a:ext cx="1008062" cy="1309688"/>
            <a:chOff x="0" y="0"/>
            <a:chExt cx="635" cy="825"/>
          </a:xfrm>
        </p:grpSpPr>
        <p:sp>
          <p:nvSpPr>
            <p:cNvPr id="21554" name="Text Box 51"/>
            <p:cNvSpPr txBox="1">
              <a:spLocks noChangeArrowheads="1"/>
            </p:cNvSpPr>
            <p:nvPr/>
          </p:nvSpPr>
          <p:spPr bwMode="auto">
            <a:xfrm>
              <a:off x="0" y="409"/>
              <a:ext cx="635" cy="416"/>
            </a:xfrm>
            <a:prstGeom prst="rect">
              <a:avLst/>
            </a:prstGeom>
            <a:noFill/>
            <a:ln w="1905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>
                  <a:ea typeface="宋体" panose="02010600030101010101" pitchFamily="2" charset="-122"/>
                </a:rPr>
                <a:t>	</a:t>
              </a:r>
              <a:r>
                <a:rPr lang="en-US" altLang="zh-CN">
                  <a:ea typeface="宋体" panose="02010600030101010101" pitchFamily="2" charset="-122"/>
                </a:rPr>
                <a:t>60</a:t>
              </a:r>
            </a:p>
          </p:txBody>
        </p:sp>
        <p:sp>
          <p:nvSpPr>
            <p:cNvPr id="21555" name="Line 52"/>
            <p:cNvSpPr>
              <a:spLocks noChangeShapeType="1"/>
            </p:cNvSpPr>
            <p:nvPr/>
          </p:nvSpPr>
          <p:spPr bwMode="auto">
            <a:xfrm flipV="1">
              <a:off x="0" y="590"/>
              <a:ext cx="635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56" name="Line 53"/>
            <p:cNvSpPr>
              <a:spLocks noChangeShapeType="1"/>
            </p:cNvSpPr>
            <p:nvPr/>
          </p:nvSpPr>
          <p:spPr bwMode="auto">
            <a:xfrm flipH="1" flipV="1">
              <a:off x="227" y="0"/>
              <a:ext cx="45" cy="499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2582" name="AutoShape 54"/>
          <p:cNvSpPr>
            <a:spLocks noChangeArrowheads="1"/>
          </p:cNvSpPr>
          <p:nvPr/>
        </p:nvSpPr>
        <p:spPr bwMode="auto">
          <a:xfrm>
            <a:off x="6156350" y="3632473"/>
            <a:ext cx="1223962" cy="431800"/>
          </a:xfrm>
          <a:prstGeom prst="wedgeRoundRectCallout">
            <a:avLst>
              <a:gd name="adj1" fmla="val -101596"/>
              <a:gd name="adj2" fmla="val 434925"/>
              <a:gd name="adj3" fmla="val 16667"/>
            </a:avLst>
          </a:prstGeom>
          <a:noFill/>
          <a:ln w="19050">
            <a:solidFill>
              <a:srgbClr val="FF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zh-CN" altLang="en-US">
                <a:ea typeface="宋体" panose="02010600030101010101" pitchFamily="2" charset="-122"/>
              </a:rPr>
              <a:t>索引项</a:t>
            </a:r>
          </a:p>
        </p:txBody>
      </p:sp>
      <p:sp>
        <p:nvSpPr>
          <p:cNvPr id="22583" name="Oval 55"/>
          <p:cNvSpPr>
            <a:spLocks noChangeArrowheads="1"/>
          </p:cNvSpPr>
          <p:nvPr/>
        </p:nvSpPr>
        <p:spPr bwMode="auto">
          <a:xfrm>
            <a:off x="4427538" y="5589860"/>
            <a:ext cx="1657350" cy="936625"/>
          </a:xfrm>
          <a:prstGeom prst="ellipse">
            <a:avLst/>
          </a:prstGeom>
          <a:noFill/>
          <a:ln w="19050">
            <a:solidFill>
              <a:srgbClr val="CC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endParaRPr lang="zh-CN" altLang="en-US"/>
          </a:p>
        </p:txBody>
      </p:sp>
      <p:sp>
        <p:nvSpPr>
          <p:cNvPr id="22584" name="Rectangle 56"/>
          <p:cNvSpPr>
            <a:spLocks noChangeArrowheads="1"/>
          </p:cNvSpPr>
          <p:nvPr/>
        </p:nvSpPr>
        <p:spPr bwMode="auto">
          <a:xfrm>
            <a:off x="323850" y="5445398"/>
            <a:ext cx="7632700" cy="1223962"/>
          </a:xfrm>
          <a:prstGeom prst="rect">
            <a:avLst/>
          </a:prstGeom>
          <a:noFill/>
          <a:ln w="19050">
            <a:solidFill>
              <a:schemeClr val="accent2"/>
            </a:solidFill>
            <a:prstDash val="dash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endParaRPr lang="zh-CN" altLang="en-US"/>
          </a:p>
        </p:txBody>
      </p:sp>
      <p:sp>
        <p:nvSpPr>
          <p:cNvPr id="22585" name="AutoShape 57"/>
          <p:cNvSpPr>
            <a:spLocks noChangeArrowheads="1"/>
          </p:cNvSpPr>
          <p:nvPr/>
        </p:nvSpPr>
        <p:spPr bwMode="auto">
          <a:xfrm>
            <a:off x="7582416" y="3618134"/>
            <a:ext cx="1223963" cy="431800"/>
          </a:xfrm>
          <a:prstGeom prst="wedgeRoundRectCallout">
            <a:avLst>
              <a:gd name="adj1" fmla="val -60583"/>
              <a:gd name="adj2" fmla="val 373160"/>
              <a:gd name="adj3" fmla="val 16667"/>
            </a:avLst>
          </a:prstGeom>
          <a:noFill/>
          <a:ln w="19050">
            <a:solidFill>
              <a:srgbClr val="FF0000"/>
            </a:solidFill>
            <a:prstDash val="dash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zh-CN" altLang="en-US">
                <a:ea typeface="宋体" panose="02010600030101010101" pitchFamily="2" charset="-122"/>
              </a:rPr>
              <a:t>索引表</a:t>
            </a:r>
          </a:p>
        </p:txBody>
      </p:sp>
      <p:sp>
        <p:nvSpPr>
          <p:cNvPr id="22586" name="Text Box 58"/>
          <p:cNvSpPr txBox="1">
            <a:spLocks noChangeArrowheads="1"/>
          </p:cNvSpPr>
          <p:nvPr/>
        </p:nvSpPr>
        <p:spPr bwMode="auto">
          <a:xfrm>
            <a:off x="2700338" y="4294460"/>
            <a:ext cx="43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chemeClr val="accent2"/>
                </a:solidFill>
                <a:ea typeface="宋体" panose="02010600030101010101" pitchFamily="2" charset="-122"/>
              </a:rPr>
              <a:t>&gt;</a:t>
            </a:r>
            <a:endParaRPr lang="ru-RU" altLang="en-US" sz="2400" dirty="0">
              <a:solidFill>
                <a:schemeClr val="accent2"/>
              </a:solidFill>
              <a:cs typeface="Arial" panose="020B0604020202020204" pitchFamily="34" charset="0"/>
            </a:endParaRPr>
          </a:p>
        </p:txBody>
      </p:sp>
      <p:sp>
        <p:nvSpPr>
          <p:cNvPr id="22587" name="Text Box 59"/>
          <p:cNvSpPr txBox="1">
            <a:spLocks noChangeArrowheads="1"/>
          </p:cNvSpPr>
          <p:nvPr/>
        </p:nvSpPr>
        <p:spPr bwMode="auto">
          <a:xfrm>
            <a:off x="4716463" y="4221435"/>
            <a:ext cx="43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chemeClr val="accent2"/>
                </a:solidFill>
                <a:ea typeface="宋体" panose="02010600030101010101" pitchFamily="2" charset="-122"/>
              </a:rPr>
              <a:t>&gt;</a:t>
            </a:r>
            <a:endParaRPr lang="ru-RU" altLang="en-US" sz="2400" dirty="0">
              <a:solidFill>
                <a:schemeClr val="accent2"/>
              </a:solidFill>
              <a:cs typeface="Arial" panose="020B0604020202020204" pitchFamily="34" charset="0"/>
            </a:endParaRPr>
          </a:p>
        </p:txBody>
      </p:sp>
      <p:sp>
        <p:nvSpPr>
          <p:cNvPr id="22588" name="Text Box 60"/>
          <p:cNvSpPr txBox="1">
            <a:spLocks noChangeArrowheads="1"/>
          </p:cNvSpPr>
          <p:nvPr/>
        </p:nvSpPr>
        <p:spPr bwMode="auto">
          <a:xfrm>
            <a:off x="6516688" y="4221435"/>
            <a:ext cx="43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chemeClr val="accent2"/>
                </a:solidFill>
                <a:ea typeface="宋体" panose="02010600030101010101" pitchFamily="2" charset="-122"/>
              </a:rPr>
              <a:t>&gt;</a:t>
            </a:r>
            <a:endParaRPr lang="ru-RU" altLang="en-US" sz="2400" dirty="0">
              <a:solidFill>
                <a:schemeClr val="accent2"/>
              </a:solidFill>
              <a:cs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26</a:t>
            </a:fld>
            <a:endParaRPr lang="zh-CN" altLang="en-US" dirty="0"/>
          </a:p>
        </p:txBody>
      </p:sp>
      <p:grpSp>
        <p:nvGrpSpPr>
          <p:cNvPr id="40" name="组合 39"/>
          <p:cNvGrpSpPr/>
          <p:nvPr/>
        </p:nvGrpSpPr>
        <p:grpSpPr>
          <a:xfrm>
            <a:off x="-890841" y="72640"/>
            <a:ext cx="8271153" cy="665363"/>
            <a:chOff x="-594808" y="1867387"/>
            <a:chExt cx="8913447" cy="707532"/>
          </a:xfrm>
        </p:grpSpPr>
        <p:grpSp>
          <p:nvGrpSpPr>
            <p:cNvPr id="41" name="组合 40"/>
            <p:cNvGrpSpPr/>
            <p:nvPr/>
          </p:nvGrpSpPr>
          <p:grpSpPr>
            <a:xfrm>
              <a:off x="-594808" y="1867387"/>
              <a:ext cx="8913447" cy="707532"/>
              <a:chOff x="-635833" y="1327471"/>
              <a:chExt cx="8913447" cy="707532"/>
            </a:xfrm>
          </p:grpSpPr>
          <p:sp>
            <p:nvSpPr>
              <p:cNvPr id="43" name="TextBox 6"/>
              <p:cNvSpPr txBox="1">
                <a:spLocks noChangeArrowheads="1"/>
              </p:cNvSpPr>
              <p:nvPr/>
            </p:nvSpPr>
            <p:spPr bwMode="auto">
              <a:xfrm>
                <a:off x="-635833" y="1347734"/>
                <a:ext cx="8913447" cy="687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10.2 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顺序表的查找</a:t>
                </a:r>
              </a:p>
            </p:txBody>
          </p:sp>
          <p:sp>
            <p:nvSpPr>
              <p:cNvPr id="44" name="Freeform 5"/>
              <p:cNvSpPr>
                <a:spLocks/>
              </p:cNvSpPr>
              <p:nvPr/>
            </p:nvSpPr>
            <p:spPr bwMode="auto">
              <a:xfrm>
                <a:off x="958665" y="1327471"/>
                <a:ext cx="842977" cy="683003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FFFF66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</p:grpSp>
        <p:pic>
          <p:nvPicPr>
            <p:cNvPr id="42" name="图片 4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89825" y="2023053"/>
              <a:ext cx="495511" cy="4238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42814750"/>
      </p:ext>
    </p:extLst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2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2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2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2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2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22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22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6" dur="500"/>
                                        <p:tgtEl>
                                          <p:spTgt spid="22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1" dur="500"/>
                                        <p:tgtEl>
                                          <p:spTgt spid="22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4" dur="500"/>
                                        <p:tgtEl>
                                          <p:spTgt spid="22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225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22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7" dur="500"/>
                                        <p:tgtEl>
                                          <p:spTgt spid="22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build="p" autoUpdateAnimBg="0"/>
      <p:bldP spid="22532" grpId="0" animBg="1"/>
      <p:bldP spid="22533" grpId="0" animBg="1"/>
      <p:bldP spid="22534" grpId="0" animBg="1"/>
      <p:bldP spid="22535" grpId="0" animBg="1"/>
      <p:bldP spid="22582" grpId="0" animBg="1" autoUpdateAnimBg="0"/>
      <p:bldP spid="22583" grpId="0" animBg="1"/>
      <p:bldP spid="22584" grpId="0" animBg="1"/>
      <p:bldP spid="22585" grpId="0" animBg="1" autoUpdateAnimBg="0"/>
      <p:bldP spid="22586" grpId="0" autoUpdateAnimBg="0"/>
      <p:bldP spid="22587" grpId="0" autoUpdateAnimBg="0"/>
      <p:bldP spid="22588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27</a:t>
            </a:fld>
            <a:endParaRPr lang="zh-CN" altLang="en-US" dirty="0"/>
          </a:p>
        </p:txBody>
      </p:sp>
      <p:grpSp>
        <p:nvGrpSpPr>
          <p:cNvPr id="8" name="组合 7"/>
          <p:cNvGrpSpPr/>
          <p:nvPr/>
        </p:nvGrpSpPr>
        <p:grpSpPr>
          <a:xfrm>
            <a:off x="-890841" y="72640"/>
            <a:ext cx="8271153" cy="665363"/>
            <a:chOff x="-594808" y="1867387"/>
            <a:chExt cx="8913447" cy="707532"/>
          </a:xfrm>
        </p:grpSpPr>
        <p:grpSp>
          <p:nvGrpSpPr>
            <p:cNvPr id="9" name="组合 8"/>
            <p:cNvGrpSpPr/>
            <p:nvPr/>
          </p:nvGrpSpPr>
          <p:grpSpPr>
            <a:xfrm>
              <a:off x="-594808" y="1867387"/>
              <a:ext cx="8913447" cy="707532"/>
              <a:chOff x="-635833" y="1327471"/>
              <a:chExt cx="8913447" cy="707532"/>
            </a:xfrm>
          </p:grpSpPr>
          <p:sp>
            <p:nvSpPr>
              <p:cNvPr id="11" name="TextBox 6"/>
              <p:cNvSpPr txBox="1">
                <a:spLocks noChangeArrowheads="1"/>
              </p:cNvSpPr>
              <p:nvPr/>
            </p:nvSpPr>
            <p:spPr bwMode="auto">
              <a:xfrm>
                <a:off x="-635833" y="1347734"/>
                <a:ext cx="8913447" cy="687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10.2 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顺序表的查找</a:t>
                </a:r>
              </a:p>
            </p:txBody>
          </p:sp>
          <p:sp>
            <p:nvSpPr>
              <p:cNvPr id="12" name="Freeform 5"/>
              <p:cNvSpPr>
                <a:spLocks/>
              </p:cNvSpPr>
              <p:nvPr/>
            </p:nvSpPr>
            <p:spPr bwMode="auto">
              <a:xfrm>
                <a:off x="958665" y="1327471"/>
                <a:ext cx="842977" cy="683003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FFFF66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</p:grp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89825" y="2023053"/>
              <a:ext cx="495511" cy="423803"/>
            </a:xfrm>
            <a:prstGeom prst="rect">
              <a:avLst/>
            </a:prstGeom>
          </p:spPr>
        </p:pic>
      </p:grpSp>
      <p:sp>
        <p:nvSpPr>
          <p:cNvPr id="13" name="矩形 12"/>
          <p:cNvSpPr/>
          <p:nvPr/>
        </p:nvSpPr>
        <p:spPr>
          <a:xfrm>
            <a:off x="588758" y="932304"/>
            <a:ext cx="290312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b="1" dirty="0"/>
              <a:t>10.2.3 </a:t>
            </a:r>
            <a:r>
              <a:rPr lang="zh-CN" altLang="en-US" b="1" dirty="0"/>
              <a:t>索引表的查找   </a:t>
            </a: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1301636"/>
            <a:ext cx="6841932" cy="2146300"/>
          </a:xfrm>
          <a:prstGeom prst="rect">
            <a:avLst/>
          </a:prstGeom>
        </p:spPr>
      </p:pic>
      <p:sp>
        <p:nvSpPr>
          <p:cNvPr id="17" name="Rectangle 3"/>
          <p:cNvSpPr>
            <a:spLocks noChangeArrowheads="1"/>
          </p:cNvSpPr>
          <p:nvPr/>
        </p:nvSpPr>
        <p:spPr bwMode="auto">
          <a:xfrm>
            <a:off x="831582" y="3427950"/>
            <a:ext cx="5063887" cy="2400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Consolas" panose="020B0609020204030204" pitchFamily="49" charset="0"/>
              </a:rPr>
              <a:t>//索引项结构</a:t>
            </a:r>
            <a:endParaRPr kumimoji="0" lang="zh-CN" altLang="zh-CN" sz="105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ea typeface="仿宋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Consolas" panose="020B0609020204030204" pitchFamily="49" charset="0"/>
              </a:rPr>
              <a:t>struct</a:t>
            </a: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Consolas" panose="020B0609020204030204" pitchFamily="49" charset="0"/>
              </a:rPr>
              <a:t> </a:t>
            </a: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Consolas" panose="020B0609020204030204" pitchFamily="49" charset="0"/>
              </a:rPr>
              <a:t>IndexItem</a:t>
            </a:r>
            <a:endParaRPr kumimoji="0" lang="zh-CN" altLang="zh-CN" sz="105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仿宋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Consolas" panose="020B0609020204030204" pitchFamily="49" charset="0"/>
              </a:rPr>
              <a:t>{</a:t>
            </a:r>
            <a:endParaRPr kumimoji="0" lang="zh-CN" altLang="zh-CN" sz="105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仿宋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Consolas" panose="020B0609020204030204" pitchFamily="49" charset="0"/>
              </a:rPr>
              <a:t>    </a:t>
            </a: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Consolas" panose="020B0609020204030204" pitchFamily="49" charset="0"/>
              </a:rPr>
              <a:t>int</a:t>
            </a: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Consolas" panose="020B0609020204030204" pitchFamily="49" charset="0"/>
              </a:rPr>
              <a:t> </a:t>
            </a: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Consolas" panose="020B0609020204030204" pitchFamily="49" charset="0"/>
              </a:rPr>
              <a:t>index;</a:t>
            </a: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Consolas" panose="020B0609020204030204" pitchFamily="49" charset="0"/>
              </a:rPr>
              <a:t>  </a:t>
            </a: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Consolas" panose="020B0609020204030204" pitchFamily="49" charset="0"/>
              </a:rPr>
              <a:t>//block</a:t>
            </a:r>
            <a:r>
              <a:rPr kumimoji="0" lang="zh-CN" altLang="en-US" sz="1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Consolas" panose="020B0609020204030204" pitchFamily="49" charset="0"/>
              </a:rPr>
              <a:t>的索引值</a:t>
            </a:r>
            <a:endParaRPr kumimoji="0" lang="zh-CN" altLang="zh-CN" sz="105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ea typeface="仿宋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Consolas" panose="020B0609020204030204" pitchFamily="49" charset="0"/>
              </a:rPr>
              <a:t>    </a:t>
            </a: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Consolas" panose="020B0609020204030204" pitchFamily="49" charset="0"/>
              </a:rPr>
              <a:t>int</a:t>
            </a: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Consolas" panose="020B0609020204030204" pitchFamily="49" charset="0"/>
              </a:rPr>
              <a:t> </a:t>
            </a: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Consolas" panose="020B0609020204030204" pitchFamily="49" charset="0"/>
              </a:rPr>
              <a:t>start;</a:t>
            </a: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Consolas" panose="020B0609020204030204" pitchFamily="49" charset="0"/>
              </a:rPr>
              <a:t>   </a:t>
            </a: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Consolas" panose="020B0609020204030204" pitchFamily="49" charset="0"/>
              </a:rPr>
              <a:t>//block </a:t>
            </a:r>
            <a:r>
              <a:rPr kumimoji="0" lang="zh-CN" altLang="en-US" sz="1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Consolas" panose="020B0609020204030204" pitchFamily="49" charset="0"/>
              </a:rPr>
              <a:t>的起始下标</a:t>
            </a:r>
            <a:endParaRPr kumimoji="0" lang="zh-CN" altLang="zh-CN" sz="105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ea typeface="仿宋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Consolas" panose="020B0609020204030204" pitchFamily="49" charset="0"/>
              </a:rPr>
              <a:t>    </a:t>
            </a: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Consolas" panose="020B0609020204030204" pitchFamily="49" charset="0"/>
              </a:rPr>
              <a:t>int</a:t>
            </a: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Consolas" panose="020B0609020204030204" pitchFamily="49" charset="0"/>
              </a:rPr>
              <a:t> </a:t>
            </a: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Consolas" panose="020B0609020204030204" pitchFamily="49" charset="0"/>
              </a:rPr>
              <a:t>length;</a:t>
            </a: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Consolas" panose="020B0609020204030204" pitchFamily="49" charset="0"/>
              </a:rPr>
              <a:t> </a:t>
            </a: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Consolas" panose="020B0609020204030204" pitchFamily="49" charset="0"/>
              </a:rPr>
              <a:t>//block</a:t>
            </a:r>
            <a:r>
              <a:rPr kumimoji="0" lang="zh-CN" altLang="en-US" sz="1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Consolas" panose="020B0609020204030204" pitchFamily="49" charset="0"/>
              </a:rPr>
              <a:t>的长度</a:t>
            </a:r>
            <a:endParaRPr kumimoji="0" lang="en-US" altLang="zh-CN" sz="14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Consolas" panose="020B0609020204030204" pitchFamily="49" charset="0"/>
              </a:rPr>
              <a:t>};</a:t>
            </a:r>
            <a:endParaRPr kumimoji="0" lang="zh-CN" altLang="zh-CN" sz="105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仿宋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Consolas" panose="020B0609020204030204" pitchFamily="49" charset="0"/>
              </a:rPr>
              <a:t>//索引表</a:t>
            </a:r>
            <a:endParaRPr kumimoji="0" lang="zh-CN" altLang="zh-CN" sz="105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ea typeface="仿宋" panose="02010609060101010101" pitchFamily="49" charset="-122"/>
            </a:endParaRPr>
          </a:p>
          <a:p>
            <a:pPr lvl="0"/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Consolas" panose="020B0609020204030204" pitchFamily="49" charset="0"/>
              </a:rPr>
              <a:t>typedef</a:t>
            </a: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Consolas" panose="020B0609020204030204" pitchFamily="49" charset="0"/>
              </a:rPr>
              <a:t> </a:t>
            </a: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Consolas" panose="020B0609020204030204" pitchFamily="49" charset="0"/>
              </a:rPr>
              <a:t>struct</a:t>
            </a: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Consolas" panose="020B0609020204030204" pitchFamily="49" charset="0"/>
              </a:rPr>
              <a:t> </a:t>
            </a: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Consolas" panose="020B0609020204030204" pitchFamily="49" charset="0"/>
              </a:rPr>
              <a:t>IndexItem indexList[</a:t>
            </a:r>
            <a:r>
              <a:rPr kumimoji="0" lang="en-US" altLang="zh-CN" sz="14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Consolas" panose="020B0609020204030204" pitchFamily="49" charset="0"/>
              </a:rPr>
              <a:t>IndexSize</a:t>
            </a: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Consolas" panose="020B0609020204030204" pitchFamily="49" charset="0"/>
              </a:rPr>
              <a:t>];    </a:t>
            </a: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Consolas" panose="020B0609020204030204" pitchFamily="49" charset="0"/>
              </a:rPr>
              <a:t> Index</a:t>
            </a:r>
            <a:r>
              <a:rPr lang="zh-CN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Consolas" panose="020B0609020204030204" pitchFamily="49" charset="0"/>
              </a:rPr>
              <a:t>Size整量</a:t>
            </a:r>
            <a:endParaRPr kumimoji="0" lang="zh-CN" altLang="zh-CN" sz="3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ea typeface="仿宋" panose="02010609060101010101" pitchFamily="49" charset="-122"/>
            </a:endParaRPr>
          </a:p>
        </p:txBody>
      </p:sp>
      <p:sp>
        <p:nvSpPr>
          <p:cNvPr id="18" name="Rectangle 4"/>
          <p:cNvSpPr>
            <a:spLocks noChangeArrowheads="1"/>
          </p:cNvSpPr>
          <p:nvPr/>
        </p:nvSpPr>
        <p:spPr bwMode="auto">
          <a:xfrm>
            <a:off x="831582" y="6126952"/>
            <a:ext cx="3231654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Consolas" panose="020B0609020204030204" pitchFamily="49" charset="0"/>
              </a:rPr>
              <a:t>int</a:t>
            </a: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Consolas" panose="020B0609020204030204" pitchFamily="49" charset="0"/>
              </a:rPr>
              <a:t> </a:t>
            </a: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Consolas" panose="020B0609020204030204" pitchFamily="49" charset="0"/>
              </a:rPr>
              <a:t>mainList[MaxSize];</a:t>
            </a:r>
            <a:r>
              <a:rPr kumimoji="0" lang="zh-CN" altLang="zh-CN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</a:rPr>
              <a:t> </a:t>
            </a:r>
            <a:r>
              <a:rPr kumimoji="0" lang="en-US" altLang="zh-CN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</a:rPr>
              <a:t> </a:t>
            </a:r>
            <a:r>
              <a:rPr lang="zh-CN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Consolas" panose="020B0609020204030204" pitchFamily="49" charset="0"/>
              </a:rPr>
              <a:t> Max</a:t>
            </a:r>
            <a:r>
              <a:rPr lang="zh-CN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Consolas" panose="020B0609020204030204" pitchFamily="49" charset="0"/>
              </a:rPr>
              <a:t>Size整量</a:t>
            </a:r>
            <a:endParaRPr lang="zh-CN" altLang="zh-CN" sz="1400" b="1" dirty="0">
              <a:solidFill>
                <a:srgbClr val="FF0000"/>
              </a:solidFill>
              <a:latin typeface="Times New Roman" panose="02020603050405020304" pitchFamily="18" charset="0"/>
              <a:ea typeface="仿宋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仿宋" panose="02010609060101010101" pitchFamily="49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765193" y="5932856"/>
            <a:ext cx="64312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Consolas" panose="020B0609020204030204" pitchFamily="49" charset="0"/>
              </a:rPr>
              <a:t>主表</a:t>
            </a:r>
          </a:p>
        </p:txBody>
      </p:sp>
    </p:spTree>
    <p:extLst>
      <p:ext uri="{BB962C8B-B14F-4D97-AF65-F5344CB8AC3E}">
        <p14:creationId xmlns:p14="http://schemas.microsoft.com/office/powerpoint/2010/main" val="1003308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5194" y="1434596"/>
            <a:ext cx="8229600" cy="4678451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rgbClr val="FF0000"/>
                </a:solidFill>
              </a:rPr>
              <a:t>索引表的查找方法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200" b="1" dirty="0">
                <a:solidFill>
                  <a:srgbClr val="FF0000"/>
                </a:solidFill>
              </a:rPr>
              <a:t>分两步进行</a:t>
            </a:r>
          </a:p>
          <a:p>
            <a:pPr lvl="1" eaLnBrk="1" hangingPunct="1">
              <a:lnSpc>
                <a:spcPct val="90000"/>
              </a:lnSpc>
              <a:buClr>
                <a:srgbClr val="FF0000"/>
              </a:buClr>
            </a:pPr>
            <a:r>
              <a:rPr lang="zh-CN" altLang="en-US" sz="2200" dirty="0"/>
              <a:t>首先要在索引表中查找以确定元素所在的块；</a:t>
            </a:r>
          </a:p>
          <a:p>
            <a:pPr lvl="1" eaLnBrk="1" hangingPunct="1">
              <a:lnSpc>
                <a:spcPct val="90000"/>
              </a:lnSpc>
              <a:buClr>
                <a:srgbClr val="FF0000"/>
              </a:buClr>
            </a:pPr>
            <a:r>
              <a:rPr lang="zh-CN" altLang="en-US" sz="2200" dirty="0"/>
              <a:t>然后在所确定的块中进行查找。</a:t>
            </a:r>
          </a:p>
          <a:p>
            <a:pPr eaLnBrk="1" hangingPunct="1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200" dirty="0"/>
              <a:t>其中，</a:t>
            </a:r>
          </a:p>
          <a:p>
            <a:pPr lvl="1" eaLnBrk="1" hangingPunct="1">
              <a:lnSpc>
                <a:spcPct val="90000"/>
              </a:lnSpc>
              <a:buClr>
                <a:srgbClr val="FF0000"/>
              </a:buClr>
            </a:pPr>
            <a:r>
              <a:rPr lang="zh-CN" altLang="en-US" sz="2200" dirty="0"/>
              <a:t>块间查找的实现：</a:t>
            </a:r>
          </a:p>
          <a:p>
            <a:pPr lvl="2" eaLnBrk="1" hangingPunct="1">
              <a:lnSpc>
                <a:spcPct val="90000"/>
              </a:lnSpc>
              <a:buClr>
                <a:srgbClr val="FF0000"/>
              </a:buClr>
            </a:pPr>
            <a:r>
              <a:rPr lang="zh-CN" altLang="en-US" sz="2200" dirty="0"/>
              <a:t>在索引表中的查找, 既可以</a:t>
            </a:r>
            <a:r>
              <a:rPr lang="zh-CN" altLang="en-US" sz="2200" dirty="0">
                <a:solidFill>
                  <a:srgbClr val="FF0000"/>
                </a:solidFill>
              </a:rPr>
              <a:t>采用简单顺序查找</a:t>
            </a:r>
            <a:r>
              <a:rPr lang="zh-CN" altLang="en-US" sz="2200" dirty="0"/>
              <a:t>，</a:t>
            </a:r>
          </a:p>
          <a:p>
            <a:pPr lvl="2" eaLnBrk="1" hangingPunct="1">
              <a:lnSpc>
                <a:spcPct val="90000"/>
              </a:lnSpc>
              <a:buClr>
                <a:srgbClr val="FF0000"/>
              </a:buClr>
            </a:pPr>
            <a:r>
              <a:rPr lang="zh-CN" altLang="en-US" sz="2200" dirty="0">
                <a:solidFill>
                  <a:srgbClr val="FF0000"/>
                </a:solidFill>
              </a:rPr>
              <a:t>也可以采用二分查找</a:t>
            </a:r>
            <a:r>
              <a:rPr lang="zh-CN" altLang="en-US" sz="2200" dirty="0"/>
              <a:t>；</a:t>
            </a:r>
          </a:p>
          <a:p>
            <a:pPr lvl="1" eaLnBrk="1" hangingPunct="1">
              <a:lnSpc>
                <a:spcPct val="90000"/>
              </a:lnSpc>
              <a:buClr>
                <a:srgbClr val="FF0000"/>
              </a:buClr>
            </a:pPr>
            <a:r>
              <a:rPr lang="zh-CN" altLang="en-US" sz="2200" dirty="0"/>
              <a:t>块内查找的实现：</a:t>
            </a:r>
          </a:p>
          <a:p>
            <a:pPr lvl="2" eaLnBrk="1" hangingPunct="1">
              <a:lnSpc>
                <a:spcPct val="90000"/>
              </a:lnSpc>
              <a:buClr>
                <a:srgbClr val="FF0000"/>
              </a:buClr>
            </a:pPr>
            <a:r>
              <a:rPr lang="zh-CN" altLang="en-US" sz="2200" dirty="0"/>
              <a:t>只能采用简单顺序查找。</a:t>
            </a:r>
          </a:p>
          <a:p>
            <a:pPr eaLnBrk="1" hangingPunct="1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200" b="1" dirty="0"/>
              <a:t>索引表查找的性能分析</a:t>
            </a:r>
            <a:r>
              <a:rPr lang="zh-CN" altLang="en-US" sz="2200" dirty="0"/>
              <a:t>：</a:t>
            </a:r>
          </a:p>
          <a:p>
            <a:pPr lvl="1" eaLnBrk="1" hangingPunct="1">
              <a:lnSpc>
                <a:spcPct val="90000"/>
              </a:lnSpc>
              <a:buClr>
                <a:srgbClr val="FF0000"/>
              </a:buClr>
            </a:pPr>
            <a:r>
              <a:rPr lang="zh-CN" altLang="en-US" sz="2200" dirty="0">
                <a:solidFill>
                  <a:srgbClr val="0000FF"/>
                </a:solidFill>
              </a:rPr>
              <a:t>介于简单顺序查找和二分查找之间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28</a:t>
            </a:fld>
            <a:endParaRPr lang="zh-CN" altLang="en-US" dirty="0"/>
          </a:p>
        </p:txBody>
      </p:sp>
      <p:grpSp>
        <p:nvGrpSpPr>
          <p:cNvPr id="6" name="组合 5"/>
          <p:cNvGrpSpPr/>
          <p:nvPr/>
        </p:nvGrpSpPr>
        <p:grpSpPr>
          <a:xfrm>
            <a:off x="-890841" y="72640"/>
            <a:ext cx="8271153" cy="665363"/>
            <a:chOff x="-594808" y="1867387"/>
            <a:chExt cx="8913447" cy="707532"/>
          </a:xfrm>
        </p:grpSpPr>
        <p:grpSp>
          <p:nvGrpSpPr>
            <p:cNvPr id="7" name="组合 6"/>
            <p:cNvGrpSpPr/>
            <p:nvPr/>
          </p:nvGrpSpPr>
          <p:grpSpPr>
            <a:xfrm>
              <a:off x="-594808" y="1867387"/>
              <a:ext cx="8913447" cy="707532"/>
              <a:chOff x="-635833" y="1327471"/>
              <a:chExt cx="8913447" cy="707532"/>
            </a:xfrm>
          </p:grpSpPr>
          <p:sp>
            <p:nvSpPr>
              <p:cNvPr id="9" name="TextBox 6"/>
              <p:cNvSpPr txBox="1">
                <a:spLocks noChangeArrowheads="1"/>
              </p:cNvSpPr>
              <p:nvPr/>
            </p:nvSpPr>
            <p:spPr bwMode="auto">
              <a:xfrm>
                <a:off x="-635833" y="1347734"/>
                <a:ext cx="8913447" cy="687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10.2 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顺序表的查找</a:t>
                </a:r>
              </a:p>
            </p:txBody>
          </p:sp>
          <p:sp>
            <p:nvSpPr>
              <p:cNvPr id="10" name="Freeform 5"/>
              <p:cNvSpPr>
                <a:spLocks/>
              </p:cNvSpPr>
              <p:nvPr/>
            </p:nvSpPr>
            <p:spPr bwMode="auto">
              <a:xfrm>
                <a:off x="958665" y="1327471"/>
                <a:ext cx="842977" cy="683003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FFFF66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</p:grpSp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89825" y="2023053"/>
              <a:ext cx="495511" cy="423803"/>
            </a:xfrm>
            <a:prstGeom prst="rect">
              <a:avLst/>
            </a:prstGeom>
          </p:spPr>
        </p:pic>
      </p:grpSp>
      <p:sp>
        <p:nvSpPr>
          <p:cNvPr id="4" name="矩形 3"/>
          <p:cNvSpPr/>
          <p:nvPr/>
        </p:nvSpPr>
        <p:spPr>
          <a:xfrm>
            <a:off x="323528" y="911376"/>
            <a:ext cx="403187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800" b="1" dirty="0"/>
              <a:t>10.2.3 </a:t>
            </a:r>
            <a:r>
              <a:rPr lang="zh-CN" altLang="en-US" sz="2800" b="1" dirty="0"/>
              <a:t>索引表的查找   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4917" y="953094"/>
            <a:ext cx="4256566" cy="1335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483637"/>
      </p:ext>
    </p:extLst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3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3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235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235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235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235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build="p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6340" y="1490165"/>
            <a:ext cx="8229600" cy="4678451"/>
          </a:xfrm>
        </p:spPr>
        <p:txBody>
          <a:bodyPr/>
          <a:lstStyle/>
          <a:p>
            <a:pPr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/>
              <a:t>设有</a:t>
            </a:r>
            <a:r>
              <a:rPr lang="en-US" altLang="zh-CN" sz="2400" dirty="0"/>
              <a:t>n</a:t>
            </a:r>
            <a:r>
              <a:rPr lang="zh-CN" altLang="en-US" sz="2400" dirty="0"/>
              <a:t>个记录，分成</a:t>
            </a:r>
            <a:r>
              <a:rPr lang="en-US" altLang="zh-CN" sz="2400" dirty="0"/>
              <a:t>m</a:t>
            </a:r>
            <a:r>
              <a:rPr lang="zh-CN" altLang="en-US" sz="2400" dirty="0"/>
              <a:t>块区间，每块有</a:t>
            </a:r>
            <a:r>
              <a:rPr lang="en-US" altLang="zh-CN" sz="2400" dirty="0"/>
              <a:t>t</a:t>
            </a:r>
            <a:r>
              <a:rPr lang="zh-CN" altLang="en-US" sz="2400" dirty="0"/>
              <a:t>条记录</a:t>
            </a:r>
            <a:r>
              <a:rPr lang="en-US" altLang="zh-CN" sz="2400" dirty="0"/>
              <a:t>, </a:t>
            </a:r>
            <a:r>
              <a:rPr lang="zh-CN" altLang="en-US" sz="2400" dirty="0"/>
              <a:t>则</a:t>
            </a:r>
            <a:r>
              <a:rPr lang="en-US" altLang="zh-CN" sz="2400" dirty="0"/>
              <a:t>n=m*t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/>
              <a:t>假设在索引表和块中的平均查找长度分别是</a:t>
            </a:r>
            <a:r>
              <a:rPr lang="en-US" altLang="zh-CN" sz="2400" dirty="0"/>
              <a:t>L</a:t>
            </a:r>
            <a:r>
              <a:rPr lang="en-US" altLang="zh-CN" sz="2400" baseline="-25000" dirty="0"/>
              <a:t>t</a:t>
            </a:r>
            <a:r>
              <a:rPr lang="zh-CN" altLang="en-US" sz="2400" dirty="0"/>
              <a:t>和</a:t>
            </a:r>
            <a:r>
              <a:rPr lang="en-US" altLang="zh-CN" sz="2400" dirty="0" err="1"/>
              <a:t>L</a:t>
            </a:r>
            <a:r>
              <a:rPr lang="en-US" altLang="zh-CN" sz="2400" baseline="-25000" dirty="0" err="1"/>
              <a:t>b</a:t>
            </a:r>
            <a:r>
              <a:rPr lang="en-US" altLang="zh-CN" sz="2400" dirty="0"/>
              <a:t> (</a:t>
            </a:r>
            <a:r>
              <a:rPr lang="zh-CN" altLang="en-US" sz="2400" dirty="0"/>
              <a:t>在</a:t>
            </a:r>
            <a:r>
              <a:rPr lang="zh-CN" altLang="en-US" sz="2400" dirty="0">
                <a:solidFill>
                  <a:srgbClr val="0000FF"/>
                </a:solidFill>
              </a:rPr>
              <a:t>块间使用的也是顺序查找</a:t>
            </a:r>
            <a:r>
              <a:rPr lang="en-US" altLang="zh-CN" sz="2400" dirty="0"/>
              <a:t>)</a:t>
            </a:r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n"/>
            </a:pPr>
            <a:endParaRPr lang="en-US" altLang="zh-CN" sz="2400" dirty="0"/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n"/>
            </a:pPr>
            <a:endParaRPr lang="en-US" altLang="zh-CN" sz="2400" dirty="0"/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/>
              <a:t>最坏情况：</a:t>
            </a:r>
            <a:r>
              <a:rPr lang="en-US" altLang="zh-CN" sz="2400" dirty="0"/>
              <a:t>t = 1</a:t>
            </a:r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/>
              <a:t>最好情况：</a:t>
            </a:r>
            <a:r>
              <a:rPr lang="en-US" altLang="zh-CN" sz="2400" dirty="0"/>
              <a:t>m = t, 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29</a:t>
            </a:fld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1421314" y="2772946"/>
                <a:ext cx="5688632" cy="6127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𝐴𝑆𝐿</m:t>
                      </m:r>
                      <m:r>
                        <m:rPr>
                          <m:nor/>
                        </m:rPr>
                        <a:rPr lang="zh-CN" alt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𝐿𝑡</m:t>
                      </m: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𝐿𝑏</m:t>
                      </m: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i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zh-CN" altLang="en-US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)+1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1314" y="2772946"/>
                <a:ext cx="5688632" cy="6127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3635896" y="4147740"/>
                <a:ext cx="3096344" cy="3724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𝐴𝑆𝐿</m:t>
                      </m:r>
                      <m:r>
                        <m:rPr>
                          <m:nor/>
                        </m:rPr>
                        <a:rPr lang="zh-CN" alt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rad>
                      <m:r>
                        <a:rPr lang="zh-CN" altLang="en-US" i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5896" y="4147740"/>
                <a:ext cx="3096344" cy="3724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0"/>
          <p:cNvSpPr/>
          <p:nvPr/>
        </p:nvSpPr>
        <p:spPr>
          <a:xfrm>
            <a:off x="395536" y="925018"/>
            <a:ext cx="407996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/>
              <a:t>索引表查找的性能分析</a:t>
            </a:r>
            <a:endParaRPr lang="zh-CN" altLang="en-US" sz="2800" dirty="0"/>
          </a:p>
        </p:txBody>
      </p:sp>
      <p:grpSp>
        <p:nvGrpSpPr>
          <p:cNvPr id="12" name="组合 11"/>
          <p:cNvGrpSpPr/>
          <p:nvPr/>
        </p:nvGrpSpPr>
        <p:grpSpPr>
          <a:xfrm>
            <a:off x="-890841" y="72640"/>
            <a:ext cx="8271153" cy="665363"/>
            <a:chOff x="-594808" y="1867387"/>
            <a:chExt cx="8913447" cy="707532"/>
          </a:xfrm>
        </p:grpSpPr>
        <p:grpSp>
          <p:nvGrpSpPr>
            <p:cNvPr id="13" name="组合 12"/>
            <p:cNvGrpSpPr/>
            <p:nvPr/>
          </p:nvGrpSpPr>
          <p:grpSpPr>
            <a:xfrm>
              <a:off x="-594808" y="1867387"/>
              <a:ext cx="8913447" cy="707532"/>
              <a:chOff x="-635833" y="1327471"/>
              <a:chExt cx="8913447" cy="707532"/>
            </a:xfrm>
          </p:grpSpPr>
          <p:sp>
            <p:nvSpPr>
              <p:cNvPr id="15" name="TextBox 6"/>
              <p:cNvSpPr txBox="1">
                <a:spLocks noChangeArrowheads="1"/>
              </p:cNvSpPr>
              <p:nvPr/>
            </p:nvSpPr>
            <p:spPr bwMode="auto">
              <a:xfrm>
                <a:off x="-635833" y="1347734"/>
                <a:ext cx="8913447" cy="687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10.2 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顺序表的查找</a:t>
                </a:r>
              </a:p>
            </p:txBody>
          </p:sp>
          <p:sp>
            <p:nvSpPr>
              <p:cNvPr id="16" name="Freeform 5"/>
              <p:cNvSpPr>
                <a:spLocks/>
              </p:cNvSpPr>
              <p:nvPr/>
            </p:nvSpPr>
            <p:spPr bwMode="auto">
              <a:xfrm>
                <a:off x="958665" y="1327471"/>
                <a:ext cx="842977" cy="683003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FFFF66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</p:grpSp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89825" y="2023053"/>
              <a:ext cx="495511" cy="423803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/>
              <p:cNvSpPr/>
              <p:nvPr/>
            </p:nvSpPr>
            <p:spPr>
              <a:xfrm>
                <a:off x="4326942" y="3465414"/>
                <a:ext cx="1533560" cy="6109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𝐴𝑆𝐿</m:t>
                      </m:r>
                      <m:r>
                        <m:rPr>
                          <m:nor/>
                        </m:rPr>
                        <a:rPr lang="zh-CN" alt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+3</m:t>
                          </m:r>
                        </m:num>
                        <m:den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8" name="矩形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6942" y="3465414"/>
                <a:ext cx="1533560" cy="61093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矩形 18"/>
          <p:cNvSpPr/>
          <p:nvPr/>
        </p:nvSpPr>
        <p:spPr>
          <a:xfrm>
            <a:off x="698503" y="5087646"/>
            <a:ext cx="34740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FF"/>
                </a:solidFill>
              </a:rPr>
              <a:t>块间有序，可以采用二分查找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/>
              <p:cNvSpPr/>
              <p:nvPr/>
            </p:nvSpPr>
            <p:spPr>
              <a:xfrm>
                <a:off x="2083622" y="5605337"/>
                <a:ext cx="4364015" cy="612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𝐴𝑆𝐿</m:t>
                      </m:r>
                      <m:r>
                        <m:rPr>
                          <m:nor/>
                        </m:rPr>
                        <a:rPr lang="zh-CN" alt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altLang="en-US" i="0">
                              <a:latin typeface="Cambria Math" panose="02040503050406030204" pitchFamily="18" charset="0"/>
                            </a:rPr>
                            <m:t>log</m:t>
                          </m:r>
                        </m:e>
                        <m:sub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i="0">
                          <a:latin typeface="Cambria Math" panose="02040503050406030204" pitchFamily="18" charset="0"/>
                        </a:rPr>
                        <m:t>+=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altLang="en-US" i="0">
                              <a:latin typeface="Cambria Math" panose="02040503050406030204" pitchFamily="18" charset="0"/>
                            </a:rPr>
                            <m:t>log</m:t>
                          </m:r>
                        </m:e>
                        <m:sub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zh-CN" altLang="en-US" i="0">
                          <a:latin typeface="Cambria Math" panose="02040503050406030204" pitchFamily="18" charset="0"/>
                        </a:rPr>
                        <m:t>)+</m:t>
                      </m:r>
                      <m:f>
                        <m:f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1" name="矩形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3622" y="5605337"/>
                <a:ext cx="4364015" cy="6127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0670966"/>
      </p:ext>
    </p:extLst>
  </p:cSld>
  <p:clrMapOvr>
    <a:masterClrMapping/>
  </p:clrMapOvr>
  <p:transition spd="slow" advClick="0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1" grpId="0"/>
      <p:bldP spid="18" grpId="0"/>
      <p:bldP spid="19" grpId="0"/>
      <p:bldP spid="2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7649" y="1010480"/>
            <a:ext cx="8229600" cy="4678451"/>
          </a:xfrm>
        </p:spPr>
        <p:txBody>
          <a:bodyPr/>
          <a:lstStyle/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800" dirty="0"/>
              <a:t>树表包括</a:t>
            </a:r>
            <a:r>
              <a:rPr lang="en-US" altLang="zh-CN" sz="2800" dirty="0"/>
              <a:t>3</a:t>
            </a:r>
            <a:r>
              <a:rPr lang="zh-CN" altLang="en-US" sz="2800" dirty="0"/>
              <a:t>个部分：</a:t>
            </a:r>
          </a:p>
          <a:p>
            <a:pPr lvl="1" eaLnBrk="1" hangingPunct="1">
              <a:buClr>
                <a:srgbClr val="FF0000"/>
              </a:buClr>
            </a:pPr>
            <a:r>
              <a:rPr lang="zh-CN" altLang="en-US" sz="2400" b="1" dirty="0"/>
              <a:t>二叉排序树</a:t>
            </a:r>
            <a:r>
              <a:rPr lang="en-US" altLang="zh-CN" sz="2400" b="1" dirty="0"/>
              <a:t>(</a:t>
            </a:r>
            <a:r>
              <a:rPr lang="en-US" altLang="zh-CN" sz="2400" b="1" dirty="0">
                <a:solidFill>
                  <a:srgbClr val="0000FF"/>
                </a:solidFill>
              </a:rPr>
              <a:t>Binary Sort Tree</a:t>
            </a:r>
            <a:r>
              <a:rPr lang="en-US" altLang="zh-CN" sz="2400" b="1" dirty="0"/>
              <a:t>)</a:t>
            </a:r>
            <a:endParaRPr lang="zh-CN" altLang="en-US" sz="2400" b="1" dirty="0"/>
          </a:p>
          <a:p>
            <a:pPr lvl="1">
              <a:buClr>
                <a:srgbClr val="FF0000"/>
              </a:buClr>
            </a:pPr>
            <a:r>
              <a:rPr lang="zh-CN" altLang="en-US" sz="2400" b="1" dirty="0">
                <a:solidFill>
                  <a:srgbClr val="FF0000"/>
                </a:solidFill>
              </a:rPr>
              <a:t>平衡二叉树</a:t>
            </a:r>
            <a:r>
              <a:rPr lang="en-US" altLang="zh-CN" sz="2400" b="1" dirty="0"/>
              <a:t>(</a:t>
            </a:r>
            <a:r>
              <a:rPr lang="en-US" altLang="zh-CN" sz="2400" b="1" dirty="0">
                <a:solidFill>
                  <a:srgbClr val="0000FF"/>
                </a:solidFill>
              </a:rPr>
              <a:t>Balanced Binary Tree</a:t>
            </a:r>
            <a:r>
              <a:rPr lang="en-US" altLang="zh-CN" sz="2400" b="1" dirty="0"/>
              <a:t>)</a:t>
            </a:r>
          </a:p>
          <a:p>
            <a:pPr lvl="1" eaLnBrk="1" hangingPunct="1">
              <a:buClr>
                <a:srgbClr val="FF0000"/>
              </a:buClr>
            </a:pPr>
            <a:r>
              <a:rPr lang="en-US" altLang="zh-CN" sz="2400" b="1" dirty="0">
                <a:solidFill>
                  <a:srgbClr val="FF0000"/>
                </a:solidFill>
              </a:rPr>
              <a:t>B-</a:t>
            </a:r>
            <a:r>
              <a:rPr lang="zh-CN" altLang="en-US" sz="2400" b="1" dirty="0">
                <a:solidFill>
                  <a:srgbClr val="FF0000"/>
                </a:solidFill>
              </a:rPr>
              <a:t>树</a:t>
            </a:r>
            <a:r>
              <a:rPr lang="en-US" altLang="zh-CN" sz="2400" b="1" dirty="0"/>
              <a:t>(</a:t>
            </a:r>
            <a:r>
              <a:rPr lang="en-US" altLang="zh-CN" sz="2400" b="1" dirty="0">
                <a:solidFill>
                  <a:srgbClr val="0000FF"/>
                </a:solidFill>
              </a:rPr>
              <a:t>B-tree</a:t>
            </a:r>
            <a:r>
              <a:rPr lang="en-US" altLang="zh-CN" sz="2400" b="1" dirty="0"/>
              <a:t>)</a:t>
            </a:r>
            <a:endParaRPr lang="zh-CN" altLang="en-US" sz="2400" b="1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30</a:t>
            </a:fld>
            <a:endParaRPr lang="zh-CN" altLang="en-US" dirty="0"/>
          </a:p>
        </p:txBody>
      </p:sp>
      <p:grpSp>
        <p:nvGrpSpPr>
          <p:cNvPr id="11" name="组合 114"/>
          <p:cNvGrpSpPr/>
          <p:nvPr/>
        </p:nvGrpSpPr>
        <p:grpSpPr>
          <a:xfrm>
            <a:off x="-396552" y="76388"/>
            <a:ext cx="6775654" cy="679510"/>
            <a:chOff x="-99459" y="3320919"/>
            <a:chExt cx="7301815" cy="722576"/>
          </a:xfrm>
        </p:grpSpPr>
        <p:grpSp>
          <p:nvGrpSpPr>
            <p:cNvPr id="12" name="组合 105"/>
            <p:cNvGrpSpPr/>
            <p:nvPr/>
          </p:nvGrpSpPr>
          <p:grpSpPr>
            <a:xfrm>
              <a:off x="-99459" y="3320919"/>
              <a:ext cx="7301815" cy="722576"/>
              <a:chOff x="-99459" y="3320919"/>
              <a:chExt cx="7301815" cy="722576"/>
            </a:xfrm>
          </p:grpSpPr>
          <p:sp>
            <p:nvSpPr>
              <p:cNvPr id="14" name="Freeform 5"/>
              <p:cNvSpPr>
                <a:spLocks/>
              </p:cNvSpPr>
              <p:nvPr/>
            </p:nvSpPr>
            <p:spPr bwMode="auto">
              <a:xfrm>
                <a:off x="933887" y="3380765"/>
                <a:ext cx="801702" cy="662730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EA6103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  <p:sp>
            <p:nvSpPr>
              <p:cNvPr id="15" name="TextBox 6"/>
              <p:cNvSpPr txBox="1">
                <a:spLocks noChangeArrowheads="1"/>
              </p:cNvSpPr>
              <p:nvPr/>
            </p:nvSpPr>
            <p:spPr bwMode="auto">
              <a:xfrm>
                <a:off x="-99459" y="3320919"/>
                <a:ext cx="7301815" cy="687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10.3 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树表的查找</a:t>
                </a:r>
              </a:p>
            </p:txBody>
          </p:sp>
        </p:grpSp>
        <p:pic>
          <p:nvPicPr>
            <p:cNvPr id="13" name="图片 12" descr="12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5929" y="3530600"/>
              <a:ext cx="446172" cy="4310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79183879"/>
      </p:ext>
    </p:extLst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536" y="977617"/>
            <a:ext cx="8677275" cy="4824412"/>
          </a:xfrm>
        </p:spPr>
        <p:txBody>
          <a:bodyPr/>
          <a:lstStyle/>
          <a:p>
            <a:pPr eaLnBrk="1" hangingPunct="1"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800" b="1" dirty="0">
                <a:latin typeface="Arial" charset="0"/>
                <a:ea typeface="宋体" charset="-122"/>
              </a:rPr>
              <a:t>10.3.1 </a:t>
            </a:r>
            <a:r>
              <a:rPr lang="zh-CN" altLang="en-US" sz="2800" b="1" dirty="0">
                <a:latin typeface="Arial" charset="0"/>
                <a:ea typeface="宋体" charset="-122"/>
              </a:rPr>
              <a:t>二叉排序树</a:t>
            </a:r>
            <a:r>
              <a:rPr lang="en-US" altLang="zh-CN" sz="2800" b="1" dirty="0">
                <a:ea typeface="黑体" pitchFamily="49" charset="-122"/>
              </a:rPr>
              <a:t>(</a:t>
            </a:r>
            <a:r>
              <a:rPr lang="en-US" altLang="zh-CN" sz="2800" b="1" dirty="0">
                <a:solidFill>
                  <a:srgbClr val="0000FF"/>
                </a:solidFill>
                <a:ea typeface="黑体" pitchFamily="49" charset="-122"/>
              </a:rPr>
              <a:t>Binary Sort Tree</a:t>
            </a:r>
            <a:r>
              <a:rPr lang="en-US" altLang="zh-CN" sz="2800" b="1" dirty="0">
                <a:ea typeface="黑体" pitchFamily="49" charset="-122"/>
              </a:rPr>
              <a:t>)</a:t>
            </a:r>
            <a:endParaRPr lang="zh-CN" altLang="en-US" sz="2800" b="1" dirty="0">
              <a:latin typeface="Arial" charset="0"/>
              <a:ea typeface="宋体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31</a:t>
            </a:fld>
            <a:endParaRPr lang="zh-CN" altLang="en-US" dirty="0"/>
          </a:p>
        </p:txBody>
      </p:sp>
      <p:grpSp>
        <p:nvGrpSpPr>
          <p:cNvPr id="11" name="组合 114"/>
          <p:cNvGrpSpPr/>
          <p:nvPr/>
        </p:nvGrpSpPr>
        <p:grpSpPr>
          <a:xfrm>
            <a:off x="-396552" y="76388"/>
            <a:ext cx="6775654" cy="679510"/>
            <a:chOff x="-99459" y="3320919"/>
            <a:chExt cx="7301815" cy="722576"/>
          </a:xfrm>
        </p:grpSpPr>
        <p:grpSp>
          <p:nvGrpSpPr>
            <p:cNvPr id="12" name="组合 105"/>
            <p:cNvGrpSpPr/>
            <p:nvPr/>
          </p:nvGrpSpPr>
          <p:grpSpPr>
            <a:xfrm>
              <a:off x="-99459" y="3320919"/>
              <a:ext cx="7301815" cy="722576"/>
              <a:chOff x="-99459" y="3320919"/>
              <a:chExt cx="7301815" cy="722576"/>
            </a:xfrm>
          </p:grpSpPr>
          <p:sp>
            <p:nvSpPr>
              <p:cNvPr id="14" name="Freeform 5"/>
              <p:cNvSpPr>
                <a:spLocks/>
              </p:cNvSpPr>
              <p:nvPr/>
            </p:nvSpPr>
            <p:spPr bwMode="auto">
              <a:xfrm>
                <a:off x="933887" y="3380765"/>
                <a:ext cx="801702" cy="662730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EA6103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  <p:sp>
            <p:nvSpPr>
              <p:cNvPr id="15" name="TextBox 6"/>
              <p:cNvSpPr txBox="1">
                <a:spLocks noChangeArrowheads="1"/>
              </p:cNvSpPr>
              <p:nvPr/>
            </p:nvSpPr>
            <p:spPr bwMode="auto">
              <a:xfrm>
                <a:off x="-99459" y="3320919"/>
                <a:ext cx="7301815" cy="687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10.3 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树表的查找</a:t>
                </a:r>
              </a:p>
            </p:txBody>
          </p:sp>
        </p:grpSp>
        <p:pic>
          <p:nvPicPr>
            <p:cNvPr id="13" name="图片 12" descr="12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5929" y="3530600"/>
              <a:ext cx="446172" cy="431048"/>
            </a:xfrm>
            <a:prstGeom prst="rect">
              <a:avLst/>
            </a:prstGeom>
          </p:spPr>
        </p:pic>
      </p:grpSp>
      <p:sp>
        <p:nvSpPr>
          <p:cNvPr id="16" name="圆角矩形 15"/>
          <p:cNvSpPr/>
          <p:nvPr/>
        </p:nvSpPr>
        <p:spPr>
          <a:xfrm>
            <a:off x="629142" y="2707644"/>
            <a:ext cx="7929064" cy="616462"/>
          </a:xfrm>
          <a:prstGeom prst="roundRect">
            <a:avLst/>
          </a:prstGeom>
          <a:gradFill>
            <a:gsLst>
              <a:gs pos="100000">
                <a:schemeClr val="bg1">
                  <a:lumMod val="96000"/>
                </a:schemeClr>
              </a:gs>
              <a:gs pos="0">
                <a:schemeClr val="bg1">
                  <a:lumMod val="88000"/>
                </a:schemeClr>
              </a:gs>
            </a:gsLst>
            <a:lin ang="5400000" scaled="0"/>
          </a:gradFill>
          <a:ln w="22225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outerShdw blurRad="127000" dist="50800" dir="27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>
              <a:solidFill>
                <a:prstClr val="white"/>
              </a:solidFill>
            </a:endParaRPr>
          </a:p>
        </p:txBody>
      </p:sp>
      <p:sp>
        <p:nvSpPr>
          <p:cNvPr id="17" name="文本框 23"/>
          <p:cNvSpPr txBox="1"/>
          <p:nvPr/>
        </p:nvSpPr>
        <p:spPr>
          <a:xfrm>
            <a:off x="636762" y="2731694"/>
            <a:ext cx="8450580" cy="5324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altLang="zh-CN" sz="2200" dirty="0">
                <a:latin typeface="Times New Roman" pitchFamily="18" charset="0"/>
                <a:ea typeface="黑体" pitchFamily="49" charset="-122"/>
              </a:rPr>
              <a:t>(1) </a:t>
            </a:r>
            <a:r>
              <a:rPr lang="zh-CN" altLang="en-US" sz="2200" dirty="0">
                <a:latin typeface="Times New Roman" pitchFamily="18" charset="0"/>
                <a:ea typeface="黑体" pitchFamily="49" charset="-122"/>
              </a:rPr>
              <a:t>若左子树不空，则左子树中</a:t>
            </a:r>
            <a:r>
              <a:rPr lang="zh-CN" altLang="en-US" sz="2200" dirty="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</a:rPr>
              <a:t>所有</a:t>
            </a:r>
            <a:r>
              <a:rPr lang="zh-CN" altLang="en-US" sz="2200" dirty="0">
                <a:latin typeface="Times New Roman" pitchFamily="18" charset="0"/>
                <a:ea typeface="黑体" pitchFamily="49" charset="-122"/>
              </a:rPr>
              <a:t>结点的值</a:t>
            </a:r>
            <a:r>
              <a:rPr lang="zh-CN" altLang="en-US" sz="2200" b="1" dirty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小于</a:t>
            </a:r>
            <a:r>
              <a:rPr lang="zh-CN" altLang="en-US" sz="2200" dirty="0">
                <a:latin typeface="Times New Roman" pitchFamily="18" charset="0"/>
                <a:ea typeface="黑体" pitchFamily="49" charset="-122"/>
              </a:rPr>
              <a:t>根结点的值；</a:t>
            </a:r>
            <a:endParaRPr lang="zh-CN" altLang="en-US" sz="2200" dirty="0">
              <a:solidFill>
                <a:prstClr val="black">
                  <a:lumMod val="50000"/>
                  <a:lumOff val="50000"/>
                </a:prstClr>
              </a:solidFill>
              <a:latin typeface="Times New Roman" pitchFamily="18" charset="0"/>
              <a:ea typeface="黑体" pitchFamily="49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672322" y="2132856"/>
            <a:ext cx="79629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二叉排序树</a:t>
            </a:r>
            <a:r>
              <a:rPr lang="zh-CN" altLang="en-US" sz="2400" dirty="0">
                <a:latin typeface="Times New Roman" pitchFamily="18" charset="0"/>
                <a:ea typeface="黑体" pitchFamily="49" charset="-122"/>
              </a:rPr>
              <a:t>是一棵二叉树，或者为空，或者满足以下条件：</a:t>
            </a:r>
          </a:p>
        </p:txBody>
      </p:sp>
      <p:sp>
        <p:nvSpPr>
          <p:cNvPr id="22" name="圆角矩形 21"/>
          <p:cNvSpPr/>
          <p:nvPr/>
        </p:nvSpPr>
        <p:spPr>
          <a:xfrm>
            <a:off x="621522" y="3477264"/>
            <a:ext cx="7947660" cy="624082"/>
          </a:xfrm>
          <a:prstGeom prst="roundRect">
            <a:avLst/>
          </a:prstGeom>
          <a:gradFill>
            <a:gsLst>
              <a:gs pos="100000">
                <a:schemeClr val="bg1">
                  <a:lumMod val="96000"/>
                </a:schemeClr>
              </a:gs>
              <a:gs pos="0">
                <a:schemeClr val="bg1">
                  <a:lumMod val="88000"/>
                </a:schemeClr>
              </a:gs>
            </a:gsLst>
            <a:lin ang="5400000" scaled="0"/>
          </a:gradFill>
          <a:ln w="22225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outerShdw blurRad="127000" dist="50800" dir="27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>
              <a:solidFill>
                <a:prstClr val="white"/>
              </a:solidFill>
            </a:endParaRPr>
          </a:p>
        </p:txBody>
      </p:sp>
      <p:sp>
        <p:nvSpPr>
          <p:cNvPr id="23" name="文本框 23"/>
          <p:cNvSpPr txBox="1"/>
          <p:nvPr/>
        </p:nvSpPr>
        <p:spPr>
          <a:xfrm>
            <a:off x="629142" y="3516554"/>
            <a:ext cx="8450580" cy="5324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altLang="zh-CN" sz="2200" dirty="0">
                <a:latin typeface="Times New Roman" pitchFamily="18" charset="0"/>
                <a:ea typeface="黑体" pitchFamily="49" charset="-122"/>
              </a:rPr>
              <a:t>(2) </a:t>
            </a:r>
            <a:r>
              <a:rPr lang="zh-CN" altLang="en-US" sz="2200" dirty="0">
                <a:latin typeface="Times New Roman" pitchFamily="18" charset="0"/>
                <a:ea typeface="黑体" pitchFamily="49" charset="-122"/>
              </a:rPr>
              <a:t>若右子树不空，则右子树中</a:t>
            </a:r>
            <a:r>
              <a:rPr lang="zh-CN" altLang="en-US" sz="2200" dirty="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</a:rPr>
              <a:t>所有</a:t>
            </a:r>
            <a:r>
              <a:rPr lang="zh-CN" altLang="en-US" sz="2200" dirty="0">
                <a:latin typeface="Times New Roman" pitchFamily="18" charset="0"/>
                <a:ea typeface="黑体" pitchFamily="49" charset="-122"/>
              </a:rPr>
              <a:t>结点的值</a:t>
            </a:r>
            <a:r>
              <a:rPr lang="zh-CN" altLang="en-US" sz="2200" b="1" dirty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不小于</a:t>
            </a:r>
            <a:r>
              <a:rPr lang="zh-CN" altLang="en-US" sz="2200" dirty="0">
                <a:latin typeface="Times New Roman" pitchFamily="18" charset="0"/>
                <a:ea typeface="黑体" pitchFamily="49" charset="-122"/>
              </a:rPr>
              <a:t>根结点的值；</a:t>
            </a:r>
            <a:endParaRPr lang="zh-CN" altLang="en-US" sz="2200" dirty="0">
              <a:solidFill>
                <a:prstClr val="black">
                  <a:lumMod val="50000"/>
                  <a:lumOff val="50000"/>
                </a:prstClr>
              </a:solidFill>
              <a:latin typeface="Times New Roman" pitchFamily="18" charset="0"/>
              <a:ea typeface="黑体" pitchFamily="49" charset="-122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609357" y="4271981"/>
            <a:ext cx="7990793" cy="624082"/>
          </a:xfrm>
          <a:prstGeom prst="roundRect">
            <a:avLst/>
          </a:prstGeom>
          <a:gradFill>
            <a:gsLst>
              <a:gs pos="100000">
                <a:schemeClr val="bg1">
                  <a:lumMod val="96000"/>
                </a:schemeClr>
              </a:gs>
              <a:gs pos="0">
                <a:schemeClr val="bg1">
                  <a:lumMod val="88000"/>
                </a:schemeClr>
              </a:gs>
            </a:gsLst>
            <a:lin ang="5400000" scaled="0"/>
          </a:gradFill>
          <a:ln w="22225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outerShdw blurRad="127000" dist="50800" dir="27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>
              <a:solidFill>
                <a:prstClr val="white"/>
              </a:solidFill>
            </a:endParaRPr>
          </a:p>
        </p:txBody>
      </p:sp>
      <p:sp>
        <p:nvSpPr>
          <p:cNvPr id="25" name="文本框 23"/>
          <p:cNvSpPr txBox="1"/>
          <p:nvPr/>
        </p:nvSpPr>
        <p:spPr>
          <a:xfrm>
            <a:off x="616978" y="4311271"/>
            <a:ext cx="8450580" cy="4851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altLang="zh-CN" sz="2200" dirty="0">
                <a:latin typeface="Times New Roman" pitchFamily="18" charset="0"/>
                <a:ea typeface="黑体" pitchFamily="49" charset="-122"/>
              </a:rPr>
              <a:t>(3) </a:t>
            </a:r>
            <a:r>
              <a:rPr lang="zh-CN" altLang="en-US" sz="2200" dirty="0">
                <a:latin typeface="Times New Roman" pitchFamily="18" charset="0"/>
                <a:ea typeface="黑体" pitchFamily="49" charset="-122"/>
              </a:rPr>
              <a:t>左右子树都为二叉排序树。</a:t>
            </a:r>
            <a:endParaRPr lang="zh-CN" altLang="en-US" sz="2200" dirty="0">
              <a:solidFill>
                <a:prstClr val="black">
                  <a:lumMod val="50000"/>
                  <a:lumOff val="50000"/>
                </a:prstClr>
              </a:solidFill>
              <a:latin typeface="Times New Roman" pitchFamily="18" charset="0"/>
              <a:ea typeface="黑体" pitchFamily="49" charset="-122"/>
            </a:endParaRPr>
          </a:p>
        </p:txBody>
      </p:sp>
      <p:sp>
        <p:nvSpPr>
          <p:cNvPr id="26" name="圆角矩形 25"/>
          <p:cNvSpPr/>
          <p:nvPr/>
        </p:nvSpPr>
        <p:spPr>
          <a:xfrm>
            <a:off x="673646" y="5752491"/>
            <a:ext cx="7947660" cy="624082"/>
          </a:xfrm>
          <a:prstGeom prst="roundRect">
            <a:avLst/>
          </a:prstGeom>
          <a:gradFill>
            <a:gsLst>
              <a:gs pos="100000">
                <a:schemeClr val="bg1">
                  <a:lumMod val="96000"/>
                </a:schemeClr>
              </a:gs>
              <a:gs pos="0">
                <a:schemeClr val="bg1">
                  <a:lumMod val="88000"/>
                </a:schemeClr>
              </a:gs>
            </a:gsLst>
            <a:lin ang="5400000" scaled="0"/>
          </a:gradFill>
          <a:ln w="22225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outerShdw blurRad="127000" dist="50800" dir="27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>
              <a:solidFill>
                <a:prstClr val="white"/>
              </a:solidFill>
            </a:endParaRPr>
          </a:p>
        </p:txBody>
      </p:sp>
      <p:sp>
        <p:nvSpPr>
          <p:cNvPr id="27" name="文本框 23"/>
          <p:cNvSpPr txBox="1"/>
          <p:nvPr/>
        </p:nvSpPr>
        <p:spPr>
          <a:xfrm>
            <a:off x="681266" y="5791781"/>
            <a:ext cx="8450580" cy="5324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2200" dirty="0">
                <a:latin typeface="Times New Roman" pitchFamily="18" charset="0"/>
                <a:ea typeface="黑体" pitchFamily="49" charset="-122"/>
              </a:rPr>
              <a:t>按照左、根、右的次序遍历，所得到的中序序列</a:t>
            </a:r>
            <a:r>
              <a:rPr lang="zh-CN" altLang="en-US" sz="2200" b="1" dirty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是非降序列</a:t>
            </a:r>
            <a:r>
              <a:rPr lang="zh-CN" altLang="en-US" sz="2200" dirty="0">
                <a:latin typeface="Times New Roman" pitchFamily="18" charset="0"/>
                <a:ea typeface="黑体" pitchFamily="49" charset="-122"/>
              </a:rPr>
              <a:t>。</a:t>
            </a:r>
            <a:endParaRPr lang="zh-CN" altLang="en-US" sz="2200" dirty="0">
              <a:solidFill>
                <a:prstClr val="black">
                  <a:lumMod val="50000"/>
                  <a:lumOff val="50000"/>
                </a:prstClr>
              </a:solidFill>
              <a:latin typeface="Times New Roman" pitchFamily="18" charset="0"/>
              <a:ea typeface="黑体" pitchFamily="49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692354" y="5143274"/>
            <a:ext cx="12618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Times New Roman" pitchFamily="18" charset="0"/>
                <a:ea typeface="黑体" pitchFamily="49" charset="-122"/>
              </a:rPr>
              <a:t>特点</a:t>
            </a:r>
          </a:p>
        </p:txBody>
      </p:sp>
      <p:sp>
        <p:nvSpPr>
          <p:cNvPr id="3" name="矩形 2"/>
          <p:cNvSpPr/>
          <p:nvPr/>
        </p:nvSpPr>
        <p:spPr>
          <a:xfrm>
            <a:off x="1835696" y="1545234"/>
            <a:ext cx="56862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atinLnBrk="1"/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亦称：</a:t>
            </a:r>
            <a:r>
              <a:rPr lang="zh-CN" altLang="en-US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二叉查找树</a:t>
            </a:r>
            <a:r>
              <a:rPr lang="en-US" altLang="zh-CN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en-US" altLang="zh-CN" b="1" dirty="0">
                <a:solidFill>
                  <a:srgbClr val="0000FF"/>
                </a:solidFill>
              </a:rPr>
              <a:t>Binary Search Tree</a:t>
            </a:r>
            <a:r>
              <a:rPr lang="en-US" altLang="zh-CN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r>
              <a:rPr lang="zh-CN" altLang="en-US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、二叉搜索树</a:t>
            </a:r>
            <a:endParaRPr lang="zh-CN" altLang="en-US" b="1" i="0" dirty="0">
              <a:solidFill>
                <a:srgbClr val="FF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04277405"/>
      </p:ext>
    </p:extLst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build="p" autoUpdateAnimBg="0"/>
      <p:bldP spid="16" grpId="0" animBg="1"/>
      <p:bldP spid="17" grpId="0"/>
      <p:bldP spid="18" grpId="0"/>
      <p:bldP spid="22" grpId="0" animBg="1"/>
      <p:bldP spid="23" grpId="0"/>
      <p:bldP spid="24" grpId="0" animBg="1"/>
      <p:bldP spid="25" grpId="0"/>
      <p:bldP spid="26" grpId="0" animBg="1"/>
      <p:bldP spid="27" grpId="0"/>
      <p:bldP spid="31" grpId="0"/>
      <p:bldP spid="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32</a:t>
            </a:fld>
            <a:endParaRPr lang="zh-CN" altLang="en-US" dirty="0"/>
          </a:p>
        </p:txBody>
      </p:sp>
      <p:grpSp>
        <p:nvGrpSpPr>
          <p:cNvPr id="34" name="组合 114"/>
          <p:cNvGrpSpPr/>
          <p:nvPr/>
        </p:nvGrpSpPr>
        <p:grpSpPr>
          <a:xfrm>
            <a:off x="-396552" y="76388"/>
            <a:ext cx="6775654" cy="679510"/>
            <a:chOff x="-99459" y="3320919"/>
            <a:chExt cx="7301815" cy="722576"/>
          </a:xfrm>
        </p:grpSpPr>
        <p:grpSp>
          <p:nvGrpSpPr>
            <p:cNvPr id="35" name="组合 105"/>
            <p:cNvGrpSpPr/>
            <p:nvPr/>
          </p:nvGrpSpPr>
          <p:grpSpPr>
            <a:xfrm>
              <a:off x="-99459" y="3320919"/>
              <a:ext cx="7301815" cy="722576"/>
              <a:chOff x="-99459" y="3320919"/>
              <a:chExt cx="7301815" cy="722576"/>
            </a:xfrm>
          </p:grpSpPr>
          <p:sp>
            <p:nvSpPr>
              <p:cNvPr id="37" name="Freeform 5"/>
              <p:cNvSpPr>
                <a:spLocks/>
              </p:cNvSpPr>
              <p:nvPr/>
            </p:nvSpPr>
            <p:spPr bwMode="auto">
              <a:xfrm>
                <a:off x="933887" y="3380765"/>
                <a:ext cx="801702" cy="662730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EA6103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  <p:sp>
            <p:nvSpPr>
              <p:cNvPr id="38" name="TextBox 6"/>
              <p:cNvSpPr txBox="1">
                <a:spLocks noChangeArrowheads="1"/>
              </p:cNvSpPr>
              <p:nvPr/>
            </p:nvSpPr>
            <p:spPr bwMode="auto">
              <a:xfrm>
                <a:off x="-99459" y="3320919"/>
                <a:ext cx="7301815" cy="687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10.3 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树表的查找</a:t>
                </a:r>
              </a:p>
            </p:txBody>
          </p:sp>
        </p:grpSp>
        <p:pic>
          <p:nvPicPr>
            <p:cNvPr id="36" name="图片 35" descr="12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5929" y="3530600"/>
              <a:ext cx="446172" cy="431048"/>
            </a:xfrm>
            <a:prstGeom prst="rect">
              <a:avLst/>
            </a:prstGeom>
          </p:spPr>
        </p:pic>
      </p:grpSp>
      <p:grpSp>
        <p:nvGrpSpPr>
          <p:cNvPr id="39" name="组合 38"/>
          <p:cNvGrpSpPr/>
          <p:nvPr/>
        </p:nvGrpSpPr>
        <p:grpSpPr>
          <a:xfrm>
            <a:off x="413787" y="1010108"/>
            <a:ext cx="3257398" cy="554626"/>
            <a:chOff x="513671" y="1138103"/>
            <a:chExt cx="3257398" cy="554626"/>
          </a:xfrm>
        </p:grpSpPr>
        <p:sp>
          <p:nvSpPr>
            <p:cNvPr id="40" name="矩形 39"/>
            <p:cNvSpPr/>
            <p:nvPr/>
          </p:nvSpPr>
          <p:spPr>
            <a:xfrm>
              <a:off x="882137" y="1138103"/>
              <a:ext cx="2888932" cy="55399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3000" b="1" dirty="0">
                  <a:latin typeface="Times New Roman" pitchFamily="18" charset="0"/>
                  <a:ea typeface="黑体" pitchFamily="49" charset="-122"/>
                </a:rPr>
                <a:t>二叉排序树</a:t>
              </a:r>
              <a:r>
                <a:rPr lang="zh-CN" altLang="en-US" sz="3000" b="1" dirty="0">
                  <a:solidFill>
                    <a:srgbClr val="FF0000"/>
                  </a:solidFill>
                  <a:latin typeface="Times New Roman" pitchFamily="18" charset="0"/>
                  <a:ea typeface="黑体" pitchFamily="49" charset="-122"/>
                </a:rPr>
                <a:t>示例</a:t>
              </a:r>
              <a:endParaRPr lang="zh-CN" altLang="en-US" sz="3000" dirty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endParaRPr>
            </a:p>
          </p:txBody>
        </p:sp>
        <p:pic>
          <p:nvPicPr>
            <p:cNvPr id="41" name="图片 1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513671" y="1138692"/>
              <a:ext cx="436562" cy="5540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42" name="组合 41"/>
          <p:cNvGrpSpPr/>
          <p:nvPr/>
        </p:nvGrpSpPr>
        <p:grpSpPr>
          <a:xfrm>
            <a:off x="323528" y="1700808"/>
            <a:ext cx="4207820" cy="2384218"/>
            <a:chOff x="423412" y="2002971"/>
            <a:chExt cx="4207820" cy="2384218"/>
          </a:xfrm>
        </p:grpSpPr>
        <p:graphicFrame>
          <p:nvGraphicFramePr>
            <p:cNvPr id="43" name="Object 5"/>
            <p:cNvGraphicFramePr>
              <a:graphicFrameLocks noChangeAspect="1"/>
            </p:cNvGraphicFramePr>
            <p:nvPr/>
          </p:nvGraphicFramePr>
          <p:xfrm>
            <a:off x="423412" y="2002971"/>
            <a:ext cx="4207820" cy="1872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5412924" imgH="2419740" progId="Visio.Drawing.11">
                    <p:embed/>
                  </p:oleObj>
                </mc:Choice>
                <mc:Fallback>
                  <p:oleObj name="Visio" r:id="rId4" imgW="5412924" imgH="2419740" progId="Visio.Drawing.11">
                    <p:embed/>
                    <p:pic>
                      <p:nvPicPr>
                        <p:cNvPr id="4101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3412" y="2002971"/>
                          <a:ext cx="4207820" cy="18723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" name="矩形 43"/>
            <p:cNvSpPr/>
            <p:nvPr/>
          </p:nvSpPr>
          <p:spPr>
            <a:xfrm>
              <a:off x="1644665" y="3925524"/>
              <a:ext cx="149752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latin typeface="Times New Roman" pitchFamily="18" charset="0"/>
                  <a:ea typeface="黑体" pitchFamily="49" charset="-122"/>
                </a:rPr>
                <a:t>图</a:t>
              </a:r>
              <a:r>
                <a:rPr lang="en-US" altLang="zh-CN" sz="2400" b="1" dirty="0">
                  <a:latin typeface="Times New Roman" pitchFamily="18" charset="0"/>
                  <a:ea typeface="黑体" pitchFamily="49" charset="-122"/>
                </a:rPr>
                <a:t>1 </a:t>
              </a:r>
              <a:r>
                <a:rPr lang="zh-CN" altLang="en-US" sz="2400" b="1" dirty="0">
                  <a:latin typeface="Times New Roman" pitchFamily="18" charset="0"/>
                  <a:ea typeface="黑体" pitchFamily="49" charset="-122"/>
                </a:rPr>
                <a:t>示例</a:t>
              </a:r>
              <a:r>
                <a:rPr lang="en-US" altLang="zh-CN" sz="2400" b="1" dirty="0">
                  <a:latin typeface="Times New Roman" pitchFamily="18" charset="0"/>
                  <a:ea typeface="黑体" pitchFamily="49" charset="-122"/>
                </a:rPr>
                <a:t>1</a:t>
              </a:r>
              <a:endParaRPr lang="zh-CN" altLang="en-US" sz="2400" b="1" dirty="0">
                <a:latin typeface="Times New Roman" pitchFamily="18" charset="0"/>
                <a:ea typeface="黑体" pitchFamily="49" charset="-122"/>
              </a:endParaRPr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4619527" y="1684933"/>
            <a:ext cx="4206875" cy="2349292"/>
            <a:chOff x="4719411" y="1812928"/>
            <a:chExt cx="4206875" cy="2349292"/>
          </a:xfrm>
        </p:grpSpPr>
        <p:graphicFrame>
          <p:nvGraphicFramePr>
            <p:cNvPr id="46" name="Object 6"/>
            <p:cNvGraphicFramePr>
              <a:graphicFrameLocks noChangeAspect="1"/>
            </p:cNvGraphicFramePr>
            <p:nvPr/>
          </p:nvGraphicFramePr>
          <p:xfrm>
            <a:off x="4719411" y="1812928"/>
            <a:ext cx="4206875" cy="18716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6" imgW="5412924" imgH="2419740" progId="Visio.Drawing.11">
                    <p:embed/>
                  </p:oleObj>
                </mc:Choice>
                <mc:Fallback>
                  <p:oleObj name="Visio" r:id="rId6" imgW="5412924" imgH="2419740" progId="Visio.Drawing.11">
                    <p:embed/>
                    <p:pic>
                      <p:nvPicPr>
                        <p:cNvPr id="4102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19411" y="1812928"/>
                          <a:ext cx="4206875" cy="18716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" name="矩形 46"/>
            <p:cNvSpPr/>
            <p:nvPr/>
          </p:nvSpPr>
          <p:spPr>
            <a:xfrm>
              <a:off x="6180379" y="3700555"/>
              <a:ext cx="149752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latin typeface="Times New Roman" pitchFamily="18" charset="0"/>
                  <a:ea typeface="黑体" pitchFamily="49" charset="-122"/>
                </a:rPr>
                <a:t>图</a:t>
              </a:r>
              <a:r>
                <a:rPr lang="en-US" altLang="zh-CN" sz="2400" b="1" dirty="0">
                  <a:latin typeface="Times New Roman" pitchFamily="18" charset="0"/>
                  <a:ea typeface="黑体" pitchFamily="49" charset="-122"/>
                </a:rPr>
                <a:t>2 </a:t>
              </a:r>
              <a:r>
                <a:rPr lang="zh-CN" altLang="en-US" sz="2400" b="1" dirty="0">
                  <a:latin typeface="Times New Roman" pitchFamily="18" charset="0"/>
                  <a:ea typeface="黑体" pitchFamily="49" charset="-122"/>
                </a:rPr>
                <a:t>示例</a:t>
              </a:r>
              <a:r>
                <a:rPr lang="en-US" altLang="zh-CN" sz="2400" b="1" dirty="0">
                  <a:latin typeface="Times New Roman" pitchFamily="18" charset="0"/>
                  <a:ea typeface="黑体" pitchFamily="49" charset="-122"/>
                </a:rPr>
                <a:t>2</a:t>
              </a:r>
              <a:endParaRPr lang="zh-CN" altLang="en-US" sz="2400" b="1" dirty="0">
                <a:latin typeface="Times New Roman" pitchFamily="18" charset="0"/>
                <a:ea typeface="黑体" pitchFamily="49" charset="-122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409251" y="4029220"/>
            <a:ext cx="7528689" cy="1098776"/>
            <a:chOff x="509135" y="4119115"/>
            <a:chExt cx="7528689" cy="1098776"/>
          </a:xfrm>
        </p:grpSpPr>
        <p:grpSp>
          <p:nvGrpSpPr>
            <p:cNvPr id="49" name="组合 48"/>
            <p:cNvGrpSpPr/>
            <p:nvPr/>
          </p:nvGrpSpPr>
          <p:grpSpPr>
            <a:xfrm>
              <a:off x="509135" y="4119115"/>
              <a:ext cx="7299552" cy="1098776"/>
              <a:chOff x="509135" y="4119115"/>
              <a:chExt cx="7299552" cy="1098776"/>
            </a:xfrm>
          </p:grpSpPr>
          <p:sp>
            <p:nvSpPr>
              <p:cNvPr id="51" name="圆角矩形 50"/>
              <p:cNvSpPr/>
              <p:nvPr/>
            </p:nvSpPr>
            <p:spPr>
              <a:xfrm>
                <a:off x="1370513" y="4384730"/>
                <a:ext cx="6438174" cy="624082"/>
              </a:xfrm>
              <a:prstGeom prst="roundRect">
                <a:avLst/>
              </a:prstGeom>
              <a:gradFill>
                <a:gsLst>
                  <a:gs pos="100000">
                    <a:schemeClr val="bg1">
                      <a:lumMod val="96000"/>
                    </a:schemeClr>
                  </a:gs>
                  <a:gs pos="0">
                    <a:schemeClr val="bg1">
                      <a:lumMod val="88000"/>
                    </a:schemeClr>
                  </a:gs>
                </a:gsLst>
                <a:lin ang="5400000" scaled="0"/>
              </a:gradFill>
              <a:ln w="22225">
                <a:gradFill flip="none" rotWithShape="1">
                  <a:gsLst>
                    <a:gs pos="0">
                      <a:schemeClr val="bg1"/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5400000" scaled="0"/>
                  <a:tileRect/>
                </a:gradFill>
              </a:ln>
              <a:effectLst>
                <a:outerShdw blurRad="127000" dist="50800" dir="27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13">
                  <a:solidFill>
                    <a:prstClr val="white"/>
                  </a:solidFill>
                </a:endParaRPr>
              </a:p>
            </p:txBody>
          </p:sp>
          <p:pic>
            <p:nvPicPr>
              <p:cNvPr id="52" name="图片 1" descr="下载 (1).jpg"/>
              <p:cNvPicPr>
                <a:picLocks noChangeAspect="1" noChangeArrowheads="1"/>
              </p:cNvPicPr>
              <p:nvPr/>
            </p:nvPicPr>
            <p:blipFill>
              <a:blip r:embed="rId8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/>
              <a:stretch>
                <a:fillRect/>
              </a:stretch>
            </p:blipFill>
            <p:spPr bwMode="auto">
              <a:xfrm>
                <a:off x="509135" y="4119115"/>
                <a:ext cx="777163" cy="109877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sp>
          <p:nvSpPr>
            <p:cNvPr id="50" name="矩形 49"/>
            <p:cNvSpPr/>
            <p:nvPr/>
          </p:nvSpPr>
          <p:spPr>
            <a:xfrm>
              <a:off x="1389850" y="4421746"/>
              <a:ext cx="6647974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dirty="0">
                  <a:solidFill>
                    <a:srgbClr val="FF0000"/>
                  </a:solidFill>
                  <a:latin typeface="Times New Roman" pitchFamily="18" charset="0"/>
                  <a:ea typeface="黑体" pitchFamily="49" charset="-122"/>
                </a:rPr>
                <a:t>二叉排序树是否等价于满足如下条件的二叉树</a:t>
              </a:r>
              <a:r>
                <a:rPr lang="zh-CN" altLang="en-US" sz="2400" dirty="0">
                  <a:latin typeface="Times New Roman" pitchFamily="18" charset="0"/>
                  <a:ea typeface="黑体" pitchFamily="49" charset="-122"/>
                </a:rPr>
                <a:t>：</a:t>
              </a:r>
            </a:p>
          </p:txBody>
        </p:sp>
      </p:grpSp>
      <p:sp>
        <p:nvSpPr>
          <p:cNvPr id="53" name="矩形 52"/>
          <p:cNvSpPr/>
          <p:nvPr/>
        </p:nvSpPr>
        <p:spPr>
          <a:xfrm>
            <a:off x="1286230" y="4947014"/>
            <a:ext cx="7090229" cy="13172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zh-CN" altLang="en-US" sz="2400" dirty="0">
                <a:latin typeface="Times New Roman" pitchFamily="18" charset="0"/>
                <a:ea typeface="黑体" pitchFamily="49" charset="-122"/>
              </a:rPr>
              <a:t>每个结点的值</a:t>
            </a:r>
            <a:r>
              <a:rPr lang="zh-CN" altLang="en-US" sz="2400" b="1" dirty="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</a:rPr>
              <a:t>大于其左孩子结点的值</a:t>
            </a:r>
            <a:r>
              <a:rPr lang="zh-CN" altLang="en-US" sz="2400" dirty="0">
                <a:latin typeface="Times New Roman" pitchFamily="18" charset="0"/>
                <a:ea typeface="黑体" pitchFamily="49" charset="-122"/>
              </a:rPr>
              <a:t>、</a:t>
            </a:r>
            <a:endParaRPr lang="en-US" altLang="zh-CN" sz="2400" dirty="0">
              <a:latin typeface="Times New Roman" pitchFamily="18" charset="0"/>
              <a:ea typeface="黑体" pitchFamily="49" charset="-122"/>
            </a:endParaRPr>
          </a:p>
          <a:p>
            <a:pPr>
              <a:spcBef>
                <a:spcPts val="1200"/>
              </a:spcBef>
            </a:pPr>
            <a:r>
              <a:rPr lang="zh-CN" altLang="en-US" sz="2400" b="1" dirty="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</a:rPr>
              <a:t>小于或等于其右孩子结点的值</a:t>
            </a:r>
            <a:r>
              <a:rPr lang="zh-CN" altLang="en-US" sz="2400" dirty="0">
                <a:latin typeface="Times New Roman" pitchFamily="18" charset="0"/>
                <a:ea typeface="黑体" pitchFamily="49" charset="-122"/>
              </a:rPr>
              <a:t>？</a:t>
            </a:r>
            <a:r>
              <a:rPr lang="en-US" altLang="zh-CN" sz="2400" dirty="0">
                <a:latin typeface="Times New Roman" pitchFamily="18" charset="0"/>
                <a:ea typeface="黑体" pitchFamily="49" charset="-122"/>
              </a:rPr>
              <a:t> </a:t>
            </a:r>
          </a:p>
          <a:p>
            <a:pPr>
              <a:lnSpc>
                <a:spcPct val="90000"/>
              </a:lnSpc>
            </a:pPr>
            <a:r>
              <a:rPr lang="en-US" altLang="zh-CN" sz="2400" dirty="0">
                <a:latin typeface="Times New Roman" pitchFamily="18" charset="0"/>
                <a:ea typeface="黑体" pitchFamily="49" charset="-122"/>
              </a:rPr>
              <a:t>      </a:t>
            </a:r>
          </a:p>
        </p:txBody>
      </p:sp>
      <p:graphicFrame>
        <p:nvGraphicFramePr>
          <p:cNvPr id="54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4289257"/>
              </p:ext>
            </p:extLst>
          </p:nvPr>
        </p:nvGraphicFramePr>
        <p:xfrm>
          <a:off x="5667277" y="3142708"/>
          <a:ext cx="417745" cy="417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9" imgW="481917" imgH="481950" progId="Visio.Drawing.11">
                  <p:link updateAutomatic="1"/>
                </p:oleObj>
              </mc:Choice>
              <mc:Fallback>
                <p:oleObj name="Visio" r:id="rId9" imgW="481917" imgH="481950" progId="Visio.Drawing.11">
                  <p:link updateAutomatic="1"/>
                  <p:pic>
                    <p:nvPicPr>
                      <p:cNvPr id="4107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7277" y="3142708"/>
                        <a:ext cx="417745" cy="4177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5888234"/>
              </p:ext>
            </p:extLst>
          </p:nvPr>
        </p:nvGraphicFramePr>
        <p:xfrm>
          <a:off x="6723191" y="3141353"/>
          <a:ext cx="411163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1" imgW="481917" imgH="481950" progId="Visio.Drawing.11">
                  <p:link updateAutomatic="1"/>
                </p:oleObj>
              </mc:Choice>
              <mc:Fallback>
                <p:oleObj name="Visio" r:id="rId11" imgW="481917" imgH="481950" progId="Visio.Drawing.11">
                  <p:link updateAutomatic="1"/>
                  <p:pic>
                    <p:nvPicPr>
                      <p:cNvPr id="4109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23191" y="3141353"/>
                        <a:ext cx="411163" cy="411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164182"/>
              </p:ext>
            </p:extLst>
          </p:nvPr>
        </p:nvGraphicFramePr>
        <p:xfrm>
          <a:off x="2192292" y="1712430"/>
          <a:ext cx="377620" cy="3776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3" imgW="481917" imgH="481950" progId="Visio.Drawing.11">
                  <p:link updateAutomatic="1"/>
                </p:oleObj>
              </mc:Choice>
              <mc:Fallback>
                <p:oleObj name="Visio" r:id="rId13" imgW="481917" imgH="481950" progId="Visio.Drawing.11">
                  <p:link updateAutomatic="1"/>
                  <p:pic>
                    <p:nvPicPr>
                      <p:cNvPr id="411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2292" y="1712430"/>
                        <a:ext cx="377620" cy="3776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0474046"/>
              </p:ext>
            </p:extLst>
          </p:nvPr>
        </p:nvGraphicFramePr>
        <p:xfrm>
          <a:off x="311177" y="2090049"/>
          <a:ext cx="2122414" cy="15016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5" imgW="2753195" imgH="2076840" progId="Visio.Drawing.11">
                  <p:embed/>
                </p:oleObj>
              </mc:Choice>
              <mc:Fallback>
                <p:oleObj name="Visio" r:id="rId15" imgW="2753195" imgH="2076840" progId="Visio.Drawing.11">
                  <p:embed/>
                  <p:pic>
                    <p:nvPicPr>
                      <p:cNvPr id="4113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177" y="2090049"/>
                        <a:ext cx="2122414" cy="15016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2537712"/>
              </p:ext>
            </p:extLst>
          </p:nvPr>
        </p:nvGraphicFramePr>
        <p:xfrm>
          <a:off x="2423091" y="2088214"/>
          <a:ext cx="2122487" cy="1501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7" imgW="2753195" imgH="2076840" progId="Visio.Drawing.11">
                  <p:embed/>
                </p:oleObj>
              </mc:Choice>
              <mc:Fallback>
                <p:oleObj name="Visio" r:id="rId17" imgW="2753195" imgH="2076840" progId="Visio.Drawing.11">
                  <p:embed/>
                  <p:pic>
                    <p:nvPicPr>
                      <p:cNvPr id="4114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3091" y="2088214"/>
                        <a:ext cx="2122487" cy="1501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8214614"/>
              </p:ext>
            </p:extLst>
          </p:nvPr>
        </p:nvGraphicFramePr>
        <p:xfrm>
          <a:off x="1135279" y="2115100"/>
          <a:ext cx="400690" cy="4006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8" imgW="481917" imgH="481950" progId="Visio.Drawing.11">
                  <p:link updateAutomatic="1"/>
                </p:oleObj>
              </mc:Choice>
              <mc:Fallback>
                <p:oleObj name="Visio" r:id="rId18" imgW="481917" imgH="481950" progId="Visio.Drawing.11">
                  <p:link updateAutomatic="1"/>
                  <p:pic>
                    <p:nvPicPr>
                      <p:cNvPr id="4118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5279" y="2115100"/>
                        <a:ext cx="400690" cy="4006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6086629"/>
              </p:ext>
            </p:extLst>
          </p:nvPr>
        </p:nvGraphicFramePr>
        <p:xfrm>
          <a:off x="319565" y="2626945"/>
          <a:ext cx="1048623" cy="9276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0" imgW="2753195" imgH="2076840" progId="Visio.Drawing.11">
                  <p:embed/>
                </p:oleObj>
              </mc:Choice>
              <mc:Fallback>
                <p:oleObj name="Visio" r:id="rId20" imgW="2753195" imgH="2076840" progId="Visio.Drawing.11">
                  <p:embed/>
                  <p:pic>
                    <p:nvPicPr>
                      <p:cNvPr id="412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565" y="2626945"/>
                        <a:ext cx="1048623" cy="9276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7659058"/>
              </p:ext>
            </p:extLst>
          </p:nvPr>
        </p:nvGraphicFramePr>
        <p:xfrm>
          <a:off x="1383759" y="2624790"/>
          <a:ext cx="1049832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2" imgW="2753195" imgH="2076840" progId="Visio.Drawing.11">
                  <p:embed/>
                </p:oleObj>
              </mc:Choice>
              <mc:Fallback>
                <p:oleObj name="Visio" r:id="rId22" imgW="2753195" imgH="2076840" progId="Visio.Drawing.11">
                  <p:embed/>
                  <p:pic>
                    <p:nvPicPr>
                      <p:cNvPr id="4121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3759" y="2624790"/>
                        <a:ext cx="1049832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2" name="Picture 26"/>
          <p:cNvPicPr>
            <a:picLocks noChangeAspect="1" noChangeArrowheads="1"/>
          </p:cNvPicPr>
          <p:nvPr/>
        </p:nvPicPr>
        <p:blipFill>
          <a:blip r:embed="rId2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085447" y="3603680"/>
            <a:ext cx="522038" cy="415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63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3269755"/>
              </p:ext>
            </p:extLst>
          </p:nvPr>
        </p:nvGraphicFramePr>
        <p:xfrm>
          <a:off x="5654963" y="2593388"/>
          <a:ext cx="1073791" cy="9731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4" imgW="2753195" imgH="2076840" progId="Visio.Drawing.11">
                  <p:embed/>
                </p:oleObj>
              </mc:Choice>
              <mc:Fallback>
                <p:oleObj name="Visio" r:id="rId24" imgW="2753195" imgH="2076840" progId="Visio.Drawing.11">
                  <p:embed/>
                  <p:pic>
                    <p:nvPicPr>
                      <p:cNvPr id="4124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4963" y="2593388"/>
                        <a:ext cx="1073791" cy="9731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2034303"/>
              </p:ext>
            </p:extLst>
          </p:nvPr>
        </p:nvGraphicFramePr>
        <p:xfrm>
          <a:off x="4606341" y="2062945"/>
          <a:ext cx="2139192" cy="15165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5" imgW="2772104" imgH="2095740" progId="Visio.Drawing.11">
                  <p:embed/>
                </p:oleObj>
              </mc:Choice>
              <mc:Fallback>
                <p:oleObj name="Visio" r:id="rId25" imgW="2772104" imgH="2095740" progId="Visio.Drawing.11">
                  <p:embed/>
                  <p:pic>
                    <p:nvPicPr>
                      <p:cNvPr id="4125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6341" y="2062945"/>
                        <a:ext cx="2139192" cy="15165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3365160"/>
              </p:ext>
            </p:extLst>
          </p:nvPr>
        </p:nvGraphicFramePr>
        <p:xfrm>
          <a:off x="6729193" y="2592078"/>
          <a:ext cx="1044924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7" imgW="2753195" imgH="2076840" progId="Visio.Drawing.11">
                  <p:embed/>
                </p:oleObj>
              </mc:Choice>
              <mc:Fallback>
                <p:oleObj name="Visio" r:id="rId27" imgW="2753195" imgH="2076840" progId="Visio.Drawing.11">
                  <p:embed/>
                  <p:pic>
                    <p:nvPicPr>
                      <p:cNvPr id="4126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29193" y="2592078"/>
                        <a:ext cx="1044924" cy="974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1541726"/>
              </p:ext>
            </p:extLst>
          </p:nvPr>
        </p:nvGraphicFramePr>
        <p:xfrm>
          <a:off x="6726366" y="2068203"/>
          <a:ext cx="2095500" cy="151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8" imgW="2772104" imgH="2095740" progId="Visio.Drawing.11">
                  <p:embed/>
                </p:oleObj>
              </mc:Choice>
              <mc:Fallback>
                <p:oleObj name="Visio" r:id="rId28" imgW="2772104" imgH="2095740" progId="Visio.Drawing.11">
                  <p:embed/>
                  <p:pic>
                    <p:nvPicPr>
                      <p:cNvPr id="4127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26366" y="2068203"/>
                        <a:ext cx="2095500" cy="151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7185466"/>
              </p:ext>
            </p:extLst>
          </p:nvPr>
        </p:nvGraphicFramePr>
        <p:xfrm>
          <a:off x="5437316" y="2099953"/>
          <a:ext cx="393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9" imgW="481917" imgH="481950" progId="Visio.Drawing.11">
                  <p:link updateAutomatic="1"/>
                </p:oleObj>
              </mc:Choice>
              <mc:Fallback>
                <p:oleObj name="Visio" r:id="rId29" imgW="481917" imgH="481950" progId="Visio.Drawing.11">
                  <p:link updateAutomatic="1"/>
                  <p:pic>
                    <p:nvPicPr>
                      <p:cNvPr id="4128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7316" y="2099953"/>
                        <a:ext cx="3937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5431919"/>
              </p:ext>
            </p:extLst>
          </p:nvPr>
        </p:nvGraphicFramePr>
        <p:xfrm>
          <a:off x="6485066" y="1701942"/>
          <a:ext cx="37465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1" imgW="481917" imgH="481950" progId="Visio.Drawing.11">
                  <p:link updateAutomatic="1"/>
                </p:oleObj>
              </mc:Choice>
              <mc:Fallback>
                <p:oleObj name="Visio" r:id="rId31" imgW="481917" imgH="481950" progId="Visio.Drawing.11">
                  <p:link updateAutomatic="1"/>
                  <p:pic>
                    <p:nvPicPr>
                      <p:cNvPr id="4129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5066" y="1701942"/>
                        <a:ext cx="374650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97786874"/>
      </p:ext>
    </p:extLst>
  </p:cSld>
  <p:clrMapOvr>
    <a:masterClrMapping/>
  </p:clrMapOvr>
  <p:transition spd="slow" advClick="0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2400" dirty="0"/>
              <a:t>二叉排序树实例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0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18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1800" dirty="0"/>
              <a:t>    若将其中的结点</a:t>
            </a:r>
            <a:r>
              <a:rPr lang="en-US" altLang="zh-CN" sz="1800" dirty="0"/>
              <a:t>49</a:t>
            </a:r>
            <a:r>
              <a:rPr lang="zh-CN" altLang="en-US" sz="1800" dirty="0"/>
              <a:t>换成结点值</a:t>
            </a:r>
            <a:r>
              <a:rPr lang="en-US" altLang="zh-CN" sz="1800" dirty="0"/>
              <a:t>46</a:t>
            </a:r>
            <a:r>
              <a:rPr lang="zh-CN" altLang="en-US" sz="1800" dirty="0"/>
              <a:t>，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1800" dirty="0"/>
              <a:t>    则不满足二叉排序树的定义。</a:t>
            </a:r>
          </a:p>
          <a:p>
            <a:pPr eaLnBrk="1" hangingPunct="1">
              <a:lnSpc>
                <a:spcPct val="90000"/>
              </a:lnSpc>
              <a:buClr>
                <a:srgbClr val="FF0000"/>
              </a:buClr>
            </a:pPr>
            <a:r>
              <a:rPr lang="zh-CN" altLang="en-US" sz="1800" dirty="0"/>
              <a:t> </a:t>
            </a:r>
            <a:r>
              <a:rPr lang="zh-CN" altLang="en-US" sz="1800" dirty="0">
                <a:solidFill>
                  <a:srgbClr val="FF0000"/>
                </a:solidFill>
              </a:rPr>
              <a:t>是否可以这样描述二叉排序树的定义？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1800" dirty="0">
                <a:solidFill>
                  <a:srgbClr val="FF0000"/>
                </a:solidFill>
              </a:rPr>
              <a:t>        二叉排序树</a:t>
            </a:r>
            <a:r>
              <a:rPr lang="zh-CN" altLang="en-US" sz="1800" dirty="0"/>
              <a:t>是满足如下条件的二叉树：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1800" dirty="0"/>
              <a:t>           其中每个结点的值大于其左子树中所有结点的值，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1800" dirty="0"/>
              <a:t>           小于或等于其右子树中所有结点的值。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1800" dirty="0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827088" y="1772246"/>
            <a:ext cx="3816350" cy="1943100"/>
            <a:chOff x="0" y="0"/>
            <a:chExt cx="2903" cy="1497"/>
          </a:xfrm>
        </p:grpSpPr>
        <p:sp>
          <p:nvSpPr>
            <p:cNvPr id="25637" name="Oval 5"/>
            <p:cNvSpPr>
              <a:spLocks noChangeArrowheads="1"/>
            </p:cNvSpPr>
            <p:nvPr/>
          </p:nvSpPr>
          <p:spPr bwMode="auto">
            <a:xfrm>
              <a:off x="1406" y="0"/>
              <a:ext cx="227" cy="227"/>
            </a:xfrm>
            <a:prstGeom prst="ellipse">
              <a:avLst/>
            </a:prstGeom>
            <a:solidFill>
              <a:srgbClr val="92D05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 dirty="0">
                  <a:latin typeface="Tahoma" panose="020B0604030504040204" pitchFamily="34" charset="0"/>
                  <a:ea typeface="宋体" panose="02010600030101010101" pitchFamily="2" charset="-122"/>
                </a:rPr>
                <a:t>50</a:t>
              </a:r>
            </a:p>
          </p:txBody>
        </p:sp>
        <p:sp>
          <p:nvSpPr>
            <p:cNvPr id="25638" name="Oval 6"/>
            <p:cNvSpPr>
              <a:spLocks noChangeArrowheads="1"/>
            </p:cNvSpPr>
            <p:nvPr/>
          </p:nvSpPr>
          <p:spPr bwMode="auto">
            <a:xfrm>
              <a:off x="635" y="363"/>
              <a:ext cx="227" cy="227"/>
            </a:xfrm>
            <a:prstGeom prst="ellipse">
              <a:avLst/>
            </a:prstGeom>
            <a:solidFill>
              <a:srgbClr val="92D05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 dirty="0">
                  <a:latin typeface="Tahoma" panose="020B0604030504040204" pitchFamily="34" charset="0"/>
                  <a:ea typeface="宋体" panose="02010600030101010101" pitchFamily="2" charset="-122"/>
                </a:rPr>
                <a:t>40</a:t>
              </a:r>
            </a:p>
          </p:txBody>
        </p:sp>
        <p:sp>
          <p:nvSpPr>
            <p:cNvPr id="25639" name="Oval 7"/>
            <p:cNvSpPr>
              <a:spLocks noChangeArrowheads="1"/>
            </p:cNvSpPr>
            <p:nvPr/>
          </p:nvSpPr>
          <p:spPr bwMode="auto">
            <a:xfrm>
              <a:off x="952" y="771"/>
              <a:ext cx="227" cy="227"/>
            </a:xfrm>
            <a:prstGeom prst="ellipse">
              <a:avLst/>
            </a:prstGeom>
            <a:solidFill>
              <a:srgbClr val="92D05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 dirty="0">
                  <a:latin typeface="Tahoma" panose="020B0604030504040204" pitchFamily="34" charset="0"/>
                  <a:ea typeface="宋体" panose="02010600030101010101" pitchFamily="2" charset="-122"/>
                </a:rPr>
                <a:t>47</a:t>
              </a:r>
            </a:p>
          </p:txBody>
        </p:sp>
        <p:sp>
          <p:nvSpPr>
            <p:cNvPr id="25640" name="Oval 8"/>
            <p:cNvSpPr>
              <a:spLocks noChangeArrowheads="1"/>
            </p:cNvSpPr>
            <p:nvPr/>
          </p:nvSpPr>
          <p:spPr bwMode="auto">
            <a:xfrm>
              <a:off x="227" y="771"/>
              <a:ext cx="227" cy="227"/>
            </a:xfrm>
            <a:prstGeom prst="ellipse">
              <a:avLst/>
            </a:prstGeom>
            <a:solidFill>
              <a:srgbClr val="92D05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 dirty="0">
                  <a:latin typeface="Tahoma" panose="020B0604030504040204" pitchFamily="34" charset="0"/>
                  <a:ea typeface="宋体" panose="02010600030101010101" pitchFamily="2" charset="-122"/>
                </a:rPr>
                <a:t>30</a:t>
              </a:r>
            </a:p>
          </p:txBody>
        </p:sp>
        <p:sp>
          <p:nvSpPr>
            <p:cNvPr id="25641" name="Oval 9"/>
            <p:cNvSpPr>
              <a:spLocks noChangeArrowheads="1"/>
            </p:cNvSpPr>
            <p:nvPr/>
          </p:nvSpPr>
          <p:spPr bwMode="auto">
            <a:xfrm>
              <a:off x="0" y="1270"/>
              <a:ext cx="227" cy="227"/>
            </a:xfrm>
            <a:prstGeom prst="ellipse">
              <a:avLst/>
            </a:prstGeom>
            <a:solidFill>
              <a:srgbClr val="92D05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 dirty="0">
                  <a:latin typeface="Tahoma" panose="020B0604030504040204" pitchFamily="34" charset="0"/>
                  <a:ea typeface="宋体" panose="02010600030101010101" pitchFamily="2" charset="-122"/>
                </a:rPr>
                <a:t>20</a:t>
              </a:r>
            </a:p>
          </p:txBody>
        </p:sp>
        <p:sp>
          <p:nvSpPr>
            <p:cNvPr id="25642" name="Oval 10"/>
            <p:cNvSpPr>
              <a:spLocks noChangeArrowheads="1"/>
            </p:cNvSpPr>
            <p:nvPr/>
          </p:nvSpPr>
          <p:spPr bwMode="auto">
            <a:xfrm>
              <a:off x="454" y="1270"/>
              <a:ext cx="227" cy="227"/>
            </a:xfrm>
            <a:prstGeom prst="ellipse">
              <a:avLst/>
            </a:prstGeom>
            <a:solidFill>
              <a:srgbClr val="92D05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 dirty="0">
                  <a:latin typeface="Tahoma" panose="020B0604030504040204" pitchFamily="34" charset="0"/>
                  <a:ea typeface="宋体" panose="02010600030101010101" pitchFamily="2" charset="-122"/>
                </a:rPr>
                <a:t>35</a:t>
              </a:r>
            </a:p>
          </p:txBody>
        </p:sp>
        <p:sp>
          <p:nvSpPr>
            <p:cNvPr id="25643" name="Oval 11"/>
            <p:cNvSpPr>
              <a:spLocks noChangeArrowheads="1"/>
            </p:cNvSpPr>
            <p:nvPr/>
          </p:nvSpPr>
          <p:spPr bwMode="auto">
            <a:xfrm>
              <a:off x="771" y="1270"/>
              <a:ext cx="227" cy="227"/>
            </a:xfrm>
            <a:prstGeom prst="ellipse">
              <a:avLst/>
            </a:prstGeom>
            <a:solidFill>
              <a:srgbClr val="92D05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 dirty="0">
                  <a:latin typeface="Tahoma" panose="020B0604030504040204" pitchFamily="34" charset="0"/>
                  <a:ea typeface="宋体" panose="02010600030101010101" pitchFamily="2" charset="-122"/>
                </a:rPr>
                <a:t>45</a:t>
              </a:r>
            </a:p>
          </p:txBody>
        </p:sp>
        <p:sp>
          <p:nvSpPr>
            <p:cNvPr id="25644" name="Oval 12"/>
            <p:cNvSpPr>
              <a:spLocks noChangeArrowheads="1"/>
            </p:cNvSpPr>
            <p:nvPr/>
          </p:nvSpPr>
          <p:spPr bwMode="auto">
            <a:xfrm>
              <a:off x="1179" y="1270"/>
              <a:ext cx="227" cy="227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>
                  <a:latin typeface="Tahoma" panose="020B0604030504040204" pitchFamily="34" charset="0"/>
                  <a:ea typeface="宋体" panose="02010600030101010101" pitchFamily="2" charset="-122"/>
                </a:rPr>
                <a:t>49</a:t>
              </a:r>
            </a:p>
          </p:txBody>
        </p:sp>
        <p:sp>
          <p:nvSpPr>
            <p:cNvPr id="25645" name="Line 13"/>
            <p:cNvSpPr>
              <a:spLocks noChangeShapeType="1"/>
            </p:cNvSpPr>
            <p:nvPr/>
          </p:nvSpPr>
          <p:spPr bwMode="auto">
            <a:xfrm flipH="1">
              <a:off x="816" y="136"/>
              <a:ext cx="590" cy="24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46" name="Line 14"/>
            <p:cNvSpPr>
              <a:spLocks noChangeShapeType="1"/>
            </p:cNvSpPr>
            <p:nvPr/>
          </p:nvSpPr>
          <p:spPr bwMode="auto">
            <a:xfrm flipH="1">
              <a:off x="363" y="490"/>
              <a:ext cx="272" cy="2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47" name="Line 15"/>
            <p:cNvSpPr>
              <a:spLocks noChangeShapeType="1"/>
            </p:cNvSpPr>
            <p:nvPr/>
          </p:nvSpPr>
          <p:spPr bwMode="auto">
            <a:xfrm flipH="1">
              <a:off x="135" y="973"/>
              <a:ext cx="136" cy="29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48" name="Line 16"/>
            <p:cNvSpPr>
              <a:spLocks noChangeShapeType="1"/>
            </p:cNvSpPr>
            <p:nvPr/>
          </p:nvSpPr>
          <p:spPr bwMode="auto">
            <a:xfrm>
              <a:off x="424" y="973"/>
              <a:ext cx="120" cy="29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49" name="Line 17"/>
            <p:cNvSpPr>
              <a:spLocks noChangeShapeType="1"/>
            </p:cNvSpPr>
            <p:nvPr/>
          </p:nvSpPr>
          <p:spPr bwMode="auto">
            <a:xfrm flipH="1">
              <a:off x="860" y="983"/>
              <a:ext cx="137" cy="2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50" name="Line 18"/>
            <p:cNvSpPr>
              <a:spLocks noChangeShapeType="1"/>
            </p:cNvSpPr>
            <p:nvPr/>
          </p:nvSpPr>
          <p:spPr bwMode="auto">
            <a:xfrm>
              <a:off x="1133" y="983"/>
              <a:ext cx="136" cy="2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51" name="Line 19"/>
            <p:cNvSpPr>
              <a:spLocks noChangeShapeType="1"/>
            </p:cNvSpPr>
            <p:nvPr/>
          </p:nvSpPr>
          <p:spPr bwMode="auto">
            <a:xfrm>
              <a:off x="860" y="490"/>
              <a:ext cx="183" cy="2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52" name="Oval 20"/>
            <p:cNvSpPr>
              <a:spLocks noChangeArrowheads="1"/>
            </p:cNvSpPr>
            <p:nvPr/>
          </p:nvSpPr>
          <p:spPr bwMode="auto">
            <a:xfrm>
              <a:off x="2132" y="363"/>
              <a:ext cx="227" cy="227"/>
            </a:xfrm>
            <a:prstGeom prst="ellipse">
              <a:avLst/>
            </a:prstGeom>
            <a:solidFill>
              <a:srgbClr val="92D05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 dirty="0">
                  <a:latin typeface="Tahoma" panose="020B0604030504040204" pitchFamily="34" charset="0"/>
                  <a:ea typeface="宋体" panose="02010600030101010101" pitchFamily="2" charset="-122"/>
                </a:rPr>
                <a:t>70</a:t>
              </a:r>
            </a:p>
          </p:txBody>
        </p:sp>
        <p:sp>
          <p:nvSpPr>
            <p:cNvPr id="25653" name="Oval 21"/>
            <p:cNvSpPr>
              <a:spLocks noChangeArrowheads="1"/>
            </p:cNvSpPr>
            <p:nvPr/>
          </p:nvSpPr>
          <p:spPr bwMode="auto">
            <a:xfrm>
              <a:off x="2449" y="771"/>
              <a:ext cx="227" cy="227"/>
            </a:xfrm>
            <a:prstGeom prst="ellipse">
              <a:avLst/>
            </a:prstGeom>
            <a:solidFill>
              <a:srgbClr val="92D05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 dirty="0">
                  <a:latin typeface="Tahoma" panose="020B0604030504040204" pitchFamily="34" charset="0"/>
                  <a:ea typeface="宋体" panose="02010600030101010101" pitchFamily="2" charset="-122"/>
                </a:rPr>
                <a:t>90</a:t>
              </a:r>
            </a:p>
          </p:txBody>
        </p:sp>
        <p:sp>
          <p:nvSpPr>
            <p:cNvPr id="25654" name="Oval 22"/>
            <p:cNvSpPr>
              <a:spLocks noChangeArrowheads="1"/>
            </p:cNvSpPr>
            <p:nvPr/>
          </p:nvSpPr>
          <p:spPr bwMode="auto">
            <a:xfrm>
              <a:off x="1724" y="771"/>
              <a:ext cx="227" cy="227"/>
            </a:xfrm>
            <a:prstGeom prst="ellipse">
              <a:avLst/>
            </a:prstGeom>
            <a:solidFill>
              <a:srgbClr val="92D05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 dirty="0">
                  <a:latin typeface="Tahoma" panose="020B0604030504040204" pitchFamily="34" charset="0"/>
                  <a:ea typeface="宋体" panose="02010600030101010101" pitchFamily="2" charset="-122"/>
                </a:rPr>
                <a:t>65</a:t>
              </a:r>
            </a:p>
          </p:txBody>
        </p:sp>
        <p:sp>
          <p:nvSpPr>
            <p:cNvPr id="25655" name="Oval 23"/>
            <p:cNvSpPr>
              <a:spLocks noChangeArrowheads="1"/>
            </p:cNvSpPr>
            <p:nvPr/>
          </p:nvSpPr>
          <p:spPr bwMode="auto">
            <a:xfrm>
              <a:off x="1497" y="1270"/>
              <a:ext cx="227" cy="227"/>
            </a:xfrm>
            <a:prstGeom prst="ellipse">
              <a:avLst/>
            </a:prstGeom>
            <a:solidFill>
              <a:srgbClr val="92D05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 dirty="0">
                  <a:latin typeface="Tahoma" panose="020B0604030504040204" pitchFamily="34" charset="0"/>
                  <a:ea typeface="宋体" panose="02010600030101010101" pitchFamily="2" charset="-122"/>
                </a:rPr>
                <a:t>55</a:t>
              </a:r>
            </a:p>
          </p:txBody>
        </p:sp>
        <p:sp>
          <p:nvSpPr>
            <p:cNvPr id="25656" name="Oval 24"/>
            <p:cNvSpPr>
              <a:spLocks noChangeArrowheads="1"/>
            </p:cNvSpPr>
            <p:nvPr/>
          </p:nvSpPr>
          <p:spPr bwMode="auto">
            <a:xfrm>
              <a:off x="1951" y="1270"/>
              <a:ext cx="227" cy="227"/>
            </a:xfrm>
            <a:prstGeom prst="ellipse">
              <a:avLst/>
            </a:prstGeom>
            <a:solidFill>
              <a:srgbClr val="92D05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 dirty="0">
                  <a:latin typeface="Tahoma" panose="020B0604030504040204" pitchFamily="34" charset="0"/>
                  <a:ea typeface="宋体" panose="02010600030101010101" pitchFamily="2" charset="-122"/>
                </a:rPr>
                <a:t>67</a:t>
              </a:r>
            </a:p>
          </p:txBody>
        </p:sp>
        <p:sp>
          <p:nvSpPr>
            <p:cNvPr id="25657" name="Oval 25"/>
            <p:cNvSpPr>
              <a:spLocks noChangeArrowheads="1"/>
            </p:cNvSpPr>
            <p:nvPr/>
          </p:nvSpPr>
          <p:spPr bwMode="auto">
            <a:xfrm>
              <a:off x="2268" y="1270"/>
              <a:ext cx="227" cy="227"/>
            </a:xfrm>
            <a:prstGeom prst="ellipse">
              <a:avLst/>
            </a:prstGeom>
            <a:solidFill>
              <a:srgbClr val="92D05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 dirty="0">
                  <a:latin typeface="Tahoma" panose="020B0604030504040204" pitchFamily="34" charset="0"/>
                  <a:ea typeface="宋体" panose="02010600030101010101" pitchFamily="2" charset="-122"/>
                </a:rPr>
                <a:t>80</a:t>
              </a:r>
            </a:p>
          </p:txBody>
        </p:sp>
        <p:sp>
          <p:nvSpPr>
            <p:cNvPr id="25658" name="Oval 26"/>
            <p:cNvSpPr>
              <a:spLocks noChangeArrowheads="1"/>
            </p:cNvSpPr>
            <p:nvPr/>
          </p:nvSpPr>
          <p:spPr bwMode="auto">
            <a:xfrm>
              <a:off x="2676" y="1270"/>
              <a:ext cx="227" cy="227"/>
            </a:xfrm>
            <a:prstGeom prst="ellipse">
              <a:avLst/>
            </a:prstGeom>
            <a:solidFill>
              <a:srgbClr val="92D05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 sz="1400" dirty="0">
                  <a:latin typeface="Tahoma" panose="020B0604030504040204" pitchFamily="34" charset="0"/>
                  <a:ea typeface="宋体" panose="02010600030101010101" pitchFamily="2" charset="-122"/>
                </a:rPr>
                <a:t>100</a:t>
              </a:r>
              <a:endParaRPr lang="en-US" altLang="zh-CN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659" name="Line 27"/>
            <p:cNvSpPr>
              <a:spLocks noChangeShapeType="1"/>
            </p:cNvSpPr>
            <p:nvPr/>
          </p:nvSpPr>
          <p:spPr bwMode="auto">
            <a:xfrm flipH="1">
              <a:off x="1860" y="490"/>
              <a:ext cx="272" cy="2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60" name="Line 28"/>
            <p:cNvSpPr>
              <a:spLocks noChangeShapeType="1"/>
            </p:cNvSpPr>
            <p:nvPr/>
          </p:nvSpPr>
          <p:spPr bwMode="auto">
            <a:xfrm flipH="1">
              <a:off x="1588" y="963"/>
              <a:ext cx="174" cy="32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61" name="Line 29"/>
            <p:cNvSpPr>
              <a:spLocks noChangeShapeType="1"/>
            </p:cNvSpPr>
            <p:nvPr/>
          </p:nvSpPr>
          <p:spPr bwMode="auto">
            <a:xfrm>
              <a:off x="1911" y="973"/>
              <a:ext cx="130" cy="29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62" name="Line 30"/>
            <p:cNvSpPr>
              <a:spLocks noChangeShapeType="1"/>
            </p:cNvSpPr>
            <p:nvPr/>
          </p:nvSpPr>
          <p:spPr bwMode="auto">
            <a:xfrm flipH="1">
              <a:off x="2367" y="963"/>
              <a:ext cx="122" cy="30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63" name="Line 31"/>
            <p:cNvSpPr>
              <a:spLocks noChangeShapeType="1"/>
            </p:cNvSpPr>
            <p:nvPr/>
          </p:nvSpPr>
          <p:spPr bwMode="auto">
            <a:xfrm>
              <a:off x="2629" y="973"/>
              <a:ext cx="137" cy="29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64" name="Line 32"/>
            <p:cNvSpPr>
              <a:spLocks noChangeShapeType="1"/>
            </p:cNvSpPr>
            <p:nvPr/>
          </p:nvSpPr>
          <p:spPr bwMode="auto">
            <a:xfrm>
              <a:off x="2352" y="518"/>
              <a:ext cx="188" cy="25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65" name="Line 33"/>
            <p:cNvSpPr>
              <a:spLocks noChangeShapeType="1"/>
            </p:cNvSpPr>
            <p:nvPr/>
          </p:nvSpPr>
          <p:spPr bwMode="auto">
            <a:xfrm flipH="1" flipV="1">
              <a:off x="1633" y="136"/>
              <a:ext cx="545" cy="24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6658" name="Oval 34"/>
          <p:cNvSpPr>
            <a:spLocks noChangeArrowheads="1"/>
          </p:cNvSpPr>
          <p:nvPr/>
        </p:nvSpPr>
        <p:spPr bwMode="auto">
          <a:xfrm>
            <a:off x="2339975" y="3356571"/>
            <a:ext cx="360363" cy="358775"/>
          </a:xfrm>
          <a:prstGeom prst="ellipse">
            <a:avLst/>
          </a:prstGeom>
          <a:solidFill>
            <a:srgbClr val="CC00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46</a:t>
            </a:r>
          </a:p>
        </p:txBody>
      </p:sp>
      <p:grpSp>
        <p:nvGrpSpPr>
          <p:cNvPr id="3" name="Group 35"/>
          <p:cNvGrpSpPr>
            <a:grpSpLocks/>
          </p:cNvGrpSpPr>
          <p:nvPr/>
        </p:nvGrpSpPr>
        <p:grpSpPr bwMode="auto">
          <a:xfrm>
            <a:off x="4932363" y="1700808"/>
            <a:ext cx="3816350" cy="1943100"/>
            <a:chOff x="0" y="0"/>
            <a:chExt cx="2903" cy="1497"/>
          </a:xfrm>
        </p:grpSpPr>
        <p:sp>
          <p:nvSpPr>
            <p:cNvPr id="25608" name="Oval 36"/>
            <p:cNvSpPr>
              <a:spLocks noChangeArrowheads="1"/>
            </p:cNvSpPr>
            <p:nvPr/>
          </p:nvSpPr>
          <p:spPr bwMode="auto">
            <a:xfrm>
              <a:off x="1406" y="0"/>
              <a:ext cx="227" cy="227"/>
            </a:xfrm>
            <a:prstGeom prst="ellipse">
              <a:avLst/>
            </a:prstGeom>
            <a:solidFill>
              <a:srgbClr val="92D050"/>
            </a:solidFill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 dirty="0">
                  <a:latin typeface="Tahoma" panose="020B0604030504040204" pitchFamily="34" charset="0"/>
                  <a:ea typeface="宋体" panose="02010600030101010101" pitchFamily="2" charset="-122"/>
                </a:rPr>
                <a:t>50</a:t>
              </a:r>
            </a:p>
          </p:txBody>
        </p:sp>
        <p:sp>
          <p:nvSpPr>
            <p:cNvPr id="25609" name="Oval 37"/>
            <p:cNvSpPr>
              <a:spLocks noChangeArrowheads="1"/>
            </p:cNvSpPr>
            <p:nvPr/>
          </p:nvSpPr>
          <p:spPr bwMode="auto">
            <a:xfrm>
              <a:off x="635" y="363"/>
              <a:ext cx="227" cy="227"/>
            </a:xfrm>
            <a:prstGeom prst="ellipse">
              <a:avLst/>
            </a:prstGeom>
            <a:solidFill>
              <a:srgbClr val="92D05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 dirty="0">
                  <a:latin typeface="Tahoma" panose="020B0604030504040204" pitchFamily="34" charset="0"/>
                  <a:ea typeface="宋体" panose="02010600030101010101" pitchFamily="2" charset="-122"/>
                </a:rPr>
                <a:t>40</a:t>
              </a:r>
            </a:p>
          </p:txBody>
        </p:sp>
        <p:sp>
          <p:nvSpPr>
            <p:cNvPr id="25610" name="Oval 38"/>
            <p:cNvSpPr>
              <a:spLocks noChangeArrowheads="1"/>
            </p:cNvSpPr>
            <p:nvPr/>
          </p:nvSpPr>
          <p:spPr bwMode="auto">
            <a:xfrm>
              <a:off x="952" y="771"/>
              <a:ext cx="227" cy="227"/>
            </a:xfrm>
            <a:prstGeom prst="ellipse">
              <a:avLst/>
            </a:prstGeom>
            <a:solidFill>
              <a:srgbClr val="92D05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 dirty="0">
                  <a:latin typeface="Tahoma" panose="020B0604030504040204" pitchFamily="34" charset="0"/>
                  <a:ea typeface="宋体" panose="02010600030101010101" pitchFamily="2" charset="-122"/>
                </a:rPr>
                <a:t>47</a:t>
              </a:r>
            </a:p>
          </p:txBody>
        </p:sp>
        <p:sp>
          <p:nvSpPr>
            <p:cNvPr id="25611" name="Oval 39"/>
            <p:cNvSpPr>
              <a:spLocks noChangeArrowheads="1"/>
            </p:cNvSpPr>
            <p:nvPr/>
          </p:nvSpPr>
          <p:spPr bwMode="auto">
            <a:xfrm>
              <a:off x="227" y="771"/>
              <a:ext cx="227" cy="227"/>
            </a:xfrm>
            <a:prstGeom prst="ellipse">
              <a:avLst/>
            </a:prstGeom>
            <a:solidFill>
              <a:srgbClr val="92D05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 dirty="0">
                  <a:latin typeface="Tahoma" panose="020B0604030504040204" pitchFamily="34" charset="0"/>
                  <a:ea typeface="宋体" panose="02010600030101010101" pitchFamily="2" charset="-122"/>
                </a:rPr>
                <a:t>30</a:t>
              </a:r>
            </a:p>
          </p:txBody>
        </p:sp>
        <p:sp>
          <p:nvSpPr>
            <p:cNvPr id="25612" name="Oval 40"/>
            <p:cNvSpPr>
              <a:spLocks noChangeArrowheads="1"/>
            </p:cNvSpPr>
            <p:nvPr/>
          </p:nvSpPr>
          <p:spPr bwMode="auto">
            <a:xfrm>
              <a:off x="0" y="1270"/>
              <a:ext cx="227" cy="227"/>
            </a:xfrm>
            <a:prstGeom prst="ellipse">
              <a:avLst/>
            </a:prstGeom>
            <a:solidFill>
              <a:srgbClr val="92D05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 dirty="0">
                  <a:latin typeface="Tahoma" panose="020B0604030504040204" pitchFamily="34" charset="0"/>
                  <a:ea typeface="宋体" panose="02010600030101010101" pitchFamily="2" charset="-122"/>
                </a:rPr>
                <a:t>20</a:t>
              </a:r>
            </a:p>
          </p:txBody>
        </p:sp>
        <p:sp>
          <p:nvSpPr>
            <p:cNvPr id="25613" name="Oval 41"/>
            <p:cNvSpPr>
              <a:spLocks noChangeArrowheads="1"/>
            </p:cNvSpPr>
            <p:nvPr/>
          </p:nvSpPr>
          <p:spPr bwMode="auto">
            <a:xfrm>
              <a:off x="454" y="1270"/>
              <a:ext cx="227" cy="227"/>
            </a:xfrm>
            <a:prstGeom prst="ellipse">
              <a:avLst/>
            </a:prstGeom>
            <a:solidFill>
              <a:srgbClr val="92D05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 dirty="0">
                  <a:latin typeface="Tahoma" panose="020B0604030504040204" pitchFamily="34" charset="0"/>
                  <a:ea typeface="宋体" panose="02010600030101010101" pitchFamily="2" charset="-122"/>
                </a:rPr>
                <a:t>35</a:t>
              </a:r>
            </a:p>
          </p:txBody>
        </p:sp>
        <p:sp>
          <p:nvSpPr>
            <p:cNvPr id="25614" name="Oval 42"/>
            <p:cNvSpPr>
              <a:spLocks noChangeArrowheads="1"/>
            </p:cNvSpPr>
            <p:nvPr/>
          </p:nvSpPr>
          <p:spPr bwMode="auto">
            <a:xfrm>
              <a:off x="771" y="1270"/>
              <a:ext cx="227" cy="227"/>
            </a:xfrm>
            <a:prstGeom prst="ellipse">
              <a:avLst/>
            </a:prstGeom>
            <a:solidFill>
              <a:srgbClr val="FFFF0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 dirty="0">
                  <a:solidFill>
                    <a:schemeClr val="accent2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35</a:t>
              </a:r>
            </a:p>
          </p:txBody>
        </p:sp>
        <p:sp>
          <p:nvSpPr>
            <p:cNvPr id="25615" name="Oval 43"/>
            <p:cNvSpPr>
              <a:spLocks noChangeArrowheads="1"/>
            </p:cNvSpPr>
            <p:nvPr/>
          </p:nvSpPr>
          <p:spPr bwMode="auto">
            <a:xfrm>
              <a:off x="1179" y="1270"/>
              <a:ext cx="227" cy="227"/>
            </a:xfrm>
            <a:prstGeom prst="ellipse">
              <a:avLst/>
            </a:prstGeom>
            <a:solidFill>
              <a:srgbClr val="FFFF0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 dirty="0">
                  <a:solidFill>
                    <a:schemeClr val="accent2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60</a:t>
              </a:r>
            </a:p>
          </p:txBody>
        </p:sp>
        <p:sp>
          <p:nvSpPr>
            <p:cNvPr id="25616" name="Line 44"/>
            <p:cNvSpPr>
              <a:spLocks noChangeShapeType="1"/>
            </p:cNvSpPr>
            <p:nvPr/>
          </p:nvSpPr>
          <p:spPr bwMode="auto">
            <a:xfrm flipH="1">
              <a:off x="821" y="136"/>
              <a:ext cx="585" cy="2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7" name="Line 45"/>
            <p:cNvSpPr>
              <a:spLocks noChangeShapeType="1"/>
            </p:cNvSpPr>
            <p:nvPr/>
          </p:nvSpPr>
          <p:spPr bwMode="auto">
            <a:xfrm flipH="1">
              <a:off x="364" y="530"/>
              <a:ext cx="276" cy="24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8" name="Line 46"/>
            <p:cNvSpPr>
              <a:spLocks noChangeShapeType="1"/>
            </p:cNvSpPr>
            <p:nvPr/>
          </p:nvSpPr>
          <p:spPr bwMode="auto">
            <a:xfrm flipH="1">
              <a:off x="98" y="973"/>
              <a:ext cx="174" cy="30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9" name="Line 47"/>
            <p:cNvSpPr>
              <a:spLocks noChangeShapeType="1"/>
            </p:cNvSpPr>
            <p:nvPr/>
          </p:nvSpPr>
          <p:spPr bwMode="auto">
            <a:xfrm>
              <a:off x="401" y="983"/>
              <a:ext cx="182" cy="29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0" name="Line 48"/>
            <p:cNvSpPr>
              <a:spLocks noChangeShapeType="1"/>
            </p:cNvSpPr>
            <p:nvPr/>
          </p:nvSpPr>
          <p:spPr bwMode="auto">
            <a:xfrm flipH="1">
              <a:off x="895" y="973"/>
              <a:ext cx="117" cy="30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1" name="Line 49"/>
            <p:cNvSpPr>
              <a:spLocks noChangeShapeType="1"/>
            </p:cNvSpPr>
            <p:nvPr/>
          </p:nvSpPr>
          <p:spPr bwMode="auto">
            <a:xfrm>
              <a:off x="1133" y="983"/>
              <a:ext cx="136" cy="29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2" name="Line 50"/>
            <p:cNvSpPr>
              <a:spLocks noChangeShapeType="1"/>
            </p:cNvSpPr>
            <p:nvPr/>
          </p:nvSpPr>
          <p:spPr bwMode="auto">
            <a:xfrm>
              <a:off x="862" y="520"/>
              <a:ext cx="186" cy="25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3" name="Oval 51"/>
            <p:cNvSpPr>
              <a:spLocks noChangeArrowheads="1"/>
            </p:cNvSpPr>
            <p:nvPr/>
          </p:nvSpPr>
          <p:spPr bwMode="auto">
            <a:xfrm>
              <a:off x="2132" y="363"/>
              <a:ext cx="227" cy="227"/>
            </a:xfrm>
            <a:prstGeom prst="ellipse">
              <a:avLst/>
            </a:prstGeom>
            <a:solidFill>
              <a:srgbClr val="92D05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 dirty="0">
                  <a:latin typeface="Tahoma" panose="020B0604030504040204" pitchFamily="34" charset="0"/>
                  <a:ea typeface="宋体" panose="02010600030101010101" pitchFamily="2" charset="-122"/>
                </a:rPr>
                <a:t>70</a:t>
              </a:r>
            </a:p>
          </p:txBody>
        </p:sp>
        <p:sp>
          <p:nvSpPr>
            <p:cNvPr id="25624" name="Oval 52"/>
            <p:cNvSpPr>
              <a:spLocks noChangeArrowheads="1"/>
            </p:cNvSpPr>
            <p:nvPr/>
          </p:nvSpPr>
          <p:spPr bwMode="auto">
            <a:xfrm>
              <a:off x="2449" y="771"/>
              <a:ext cx="227" cy="227"/>
            </a:xfrm>
            <a:prstGeom prst="ellipse">
              <a:avLst/>
            </a:prstGeom>
            <a:solidFill>
              <a:srgbClr val="92D05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 dirty="0">
                  <a:latin typeface="Tahoma" panose="020B0604030504040204" pitchFamily="34" charset="0"/>
                  <a:ea typeface="宋体" panose="02010600030101010101" pitchFamily="2" charset="-122"/>
                </a:rPr>
                <a:t>90</a:t>
              </a:r>
            </a:p>
          </p:txBody>
        </p:sp>
        <p:sp>
          <p:nvSpPr>
            <p:cNvPr id="25625" name="Oval 53"/>
            <p:cNvSpPr>
              <a:spLocks noChangeArrowheads="1"/>
            </p:cNvSpPr>
            <p:nvPr/>
          </p:nvSpPr>
          <p:spPr bwMode="auto">
            <a:xfrm>
              <a:off x="1724" y="771"/>
              <a:ext cx="227" cy="227"/>
            </a:xfrm>
            <a:prstGeom prst="ellipse">
              <a:avLst/>
            </a:prstGeom>
            <a:solidFill>
              <a:srgbClr val="92D05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 dirty="0">
                  <a:latin typeface="Tahoma" panose="020B0604030504040204" pitchFamily="34" charset="0"/>
                  <a:ea typeface="宋体" panose="02010600030101010101" pitchFamily="2" charset="-122"/>
                </a:rPr>
                <a:t>65</a:t>
              </a:r>
            </a:p>
          </p:txBody>
        </p:sp>
        <p:sp>
          <p:nvSpPr>
            <p:cNvPr id="25626" name="Oval 54"/>
            <p:cNvSpPr>
              <a:spLocks noChangeArrowheads="1"/>
            </p:cNvSpPr>
            <p:nvPr/>
          </p:nvSpPr>
          <p:spPr bwMode="auto">
            <a:xfrm>
              <a:off x="1497" y="1270"/>
              <a:ext cx="227" cy="227"/>
            </a:xfrm>
            <a:prstGeom prst="ellipse">
              <a:avLst/>
            </a:prstGeom>
            <a:solidFill>
              <a:srgbClr val="FFFF0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 dirty="0">
                  <a:solidFill>
                    <a:schemeClr val="accent2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45</a:t>
              </a:r>
            </a:p>
          </p:txBody>
        </p:sp>
        <p:sp>
          <p:nvSpPr>
            <p:cNvPr id="25627" name="Oval 55"/>
            <p:cNvSpPr>
              <a:spLocks noChangeArrowheads="1"/>
            </p:cNvSpPr>
            <p:nvPr/>
          </p:nvSpPr>
          <p:spPr bwMode="auto">
            <a:xfrm>
              <a:off x="1951" y="1270"/>
              <a:ext cx="227" cy="227"/>
            </a:xfrm>
            <a:prstGeom prst="ellipse">
              <a:avLst/>
            </a:prstGeom>
            <a:solidFill>
              <a:srgbClr val="92D05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 dirty="0">
                  <a:latin typeface="Tahoma" panose="020B0604030504040204" pitchFamily="34" charset="0"/>
                  <a:ea typeface="宋体" panose="02010600030101010101" pitchFamily="2" charset="-122"/>
                </a:rPr>
                <a:t>67</a:t>
              </a:r>
            </a:p>
          </p:txBody>
        </p:sp>
        <p:sp>
          <p:nvSpPr>
            <p:cNvPr id="25628" name="Oval 56"/>
            <p:cNvSpPr>
              <a:spLocks noChangeArrowheads="1"/>
            </p:cNvSpPr>
            <p:nvPr/>
          </p:nvSpPr>
          <p:spPr bwMode="auto">
            <a:xfrm>
              <a:off x="2268" y="1270"/>
              <a:ext cx="227" cy="227"/>
            </a:xfrm>
            <a:prstGeom prst="ellipse">
              <a:avLst/>
            </a:prstGeom>
            <a:solidFill>
              <a:srgbClr val="92D05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 dirty="0">
                  <a:latin typeface="Tahoma" panose="020B0604030504040204" pitchFamily="34" charset="0"/>
                  <a:ea typeface="宋体" panose="02010600030101010101" pitchFamily="2" charset="-122"/>
                </a:rPr>
                <a:t>80</a:t>
              </a:r>
            </a:p>
          </p:txBody>
        </p:sp>
        <p:sp>
          <p:nvSpPr>
            <p:cNvPr id="25629" name="Oval 57"/>
            <p:cNvSpPr>
              <a:spLocks noChangeArrowheads="1"/>
            </p:cNvSpPr>
            <p:nvPr/>
          </p:nvSpPr>
          <p:spPr bwMode="auto">
            <a:xfrm>
              <a:off x="2676" y="1270"/>
              <a:ext cx="227" cy="227"/>
            </a:xfrm>
            <a:prstGeom prst="ellipse">
              <a:avLst/>
            </a:prstGeom>
            <a:solidFill>
              <a:srgbClr val="92D05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 sz="1400" dirty="0">
                  <a:latin typeface="Tahoma" panose="020B0604030504040204" pitchFamily="34" charset="0"/>
                  <a:ea typeface="宋体" panose="02010600030101010101" pitchFamily="2" charset="-122"/>
                </a:rPr>
                <a:t>100</a:t>
              </a:r>
            </a:p>
          </p:txBody>
        </p:sp>
        <p:sp>
          <p:nvSpPr>
            <p:cNvPr id="25630" name="Line 58"/>
            <p:cNvSpPr>
              <a:spLocks noChangeShapeType="1"/>
            </p:cNvSpPr>
            <p:nvPr/>
          </p:nvSpPr>
          <p:spPr bwMode="auto">
            <a:xfrm flipH="1">
              <a:off x="1862" y="516"/>
              <a:ext cx="272" cy="25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1" name="Line 59"/>
            <p:cNvSpPr>
              <a:spLocks noChangeShapeType="1"/>
            </p:cNvSpPr>
            <p:nvPr/>
          </p:nvSpPr>
          <p:spPr bwMode="auto">
            <a:xfrm flipH="1">
              <a:off x="1648" y="978"/>
              <a:ext cx="121" cy="2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2" name="Line 60"/>
            <p:cNvSpPr>
              <a:spLocks noChangeShapeType="1"/>
            </p:cNvSpPr>
            <p:nvPr/>
          </p:nvSpPr>
          <p:spPr bwMode="auto">
            <a:xfrm>
              <a:off x="1905" y="983"/>
              <a:ext cx="136" cy="29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3" name="Line 61"/>
            <p:cNvSpPr>
              <a:spLocks noChangeShapeType="1"/>
            </p:cNvSpPr>
            <p:nvPr/>
          </p:nvSpPr>
          <p:spPr bwMode="auto">
            <a:xfrm flipH="1">
              <a:off x="2402" y="983"/>
              <a:ext cx="97" cy="2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4" name="Line 62"/>
            <p:cNvSpPr>
              <a:spLocks noChangeShapeType="1"/>
            </p:cNvSpPr>
            <p:nvPr/>
          </p:nvSpPr>
          <p:spPr bwMode="auto">
            <a:xfrm>
              <a:off x="2630" y="983"/>
              <a:ext cx="136" cy="2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5" name="Line 63"/>
            <p:cNvSpPr>
              <a:spLocks noChangeShapeType="1"/>
            </p:cNvSpPr>
            <p:nvPr/>
          </p:nvSpPr>
          <p:spPr bwMode="auto">
            <a:xfrm>
              <a:off x="2355" y="530"/>
              <a:ext cx="185" cy="24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6" name="Line 64"/>
            <p:cNvSpPr>
              <a:spLocks noChangeShapeType="1"/>
            </p:cNvSpPr>
            <p:nvPr/>
          </p:nvSpPr>
          <p:spPr bwMode="auto">
            <a:xfrm flipH="1" flipV="1">
              <a:off x="1633" y="136"/>
              <a:ext cx="558" cy="24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33</a:t>
            </a:fld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407697" y="909579"/>
            <a:ext cx="33730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800" b="1" dirty="0"/>
              <a:t>10.3.1 </a:t>
            </a:r>
            <a:r>
              <a:rPr lang="zh-CN" altLang="en-US" sz="2800" b="1" dirty="0"/>
              <a:t>二叉排序树</a:t>
            </a:r>
          </a:p>
        </p:txBody>
      </p:sp>
      <p:grpSp>
        <p:nvGrpSpPr>
          <p:cNvPr id="73" name="组合 114"/>
          <p:cNvGrpSpPr/>
          <p:nvPr/>
        </p:nvGrpSpPr>
        <p:grpSpPr>
          <a:xfrm>
            <a:off x="-396552" y="76388"/>
            <a:ext cx="6775654" cy="679510"/>
            <a:chOff x="-99459" y="3320919"/>
            <a:chExt cx="7301815" cy="722576"/>
          </a:xfrm>
        </p:grpSpPr>
        <p:grpSp>
          <p:nvGrpSpPr>
            <p:cNvPr id="74" name="组合 105"/>
            <p:cNvGrpSpPr/>
            <p:nvPr/>
          </p:nvGrpSpPr>
          <p:grpSpPr>
            <a:xfrm>
              <a:off x="-99459" y="3320919"/>
              <a:ext cx="7301815" cy="722576"/>
              <a:chOff x="-99459" y="3320919"/>
              <a:chExt cx="7301815" cy="722576"/>
            </a:xfrm>
          </p:grpSpPr>
          <p:sp>
            <p:nvSpPr>
              <p:cNvPr id="76" name="Freeform 5"/>
              <p:cNvSpPr>
                <a:spLocks/>
              </p:cNvSpPr>
              <p:nvPr/>
            </p:nvSpPr>
            <p:spPr bwMode="auto">
              <a:xfrm>
                <a:off x="933887" y="3380765"/>
                <a:ext cx="801702" cy="662730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EA6103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  <p:sp>
            <p:nvSpPr>
              <p:cNvPr id="77" name="TextBox 6"/>
              <p:cNvSpPr txBox="1">
                <a:spLocks noChangeArrowheads="1"/>
              </p:cNvSpPr>
              <p:nvPr/>
            </p:nvSpPr>
            <p:spPr bwMode="auto">
              <a:xfrm>
                <a:off x="-99459" y="3320919"/>
                <a:ext cx="7301815" cy="687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10.3 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树表的查找</a:t>
                </a:r>
              </a:p>
            </p:txBody>
          </p:sp>
        </p:grpSp>
        <p:pic>
          <p:nvPicPr>
            <p:cNvPr id="75" name="图片 74" descr="12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5929" y="3530600"/>
              <a:ext cx="446172" cy="4310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49414448"/>
      </p:ext>
    </p:extLst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6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66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66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66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662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7" grpId="0" build="p" autoUpdateAnimBg="0"/>
      <p:bldP spid="26658" grpId="0" animBg="1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3"/>
          <p:cNvSpPr>
            <a:spLocks noChangeArrowheads="1"/>
          </p:cNvSpPr>
          <p:nvPr/>
        </p:nvSpPr>
        <p:spPr bwMode="auto">
          <a:xfrm>
            <a:off x="4284663" y="5229225"/>
            <a:ext cx="1727200" cy="503238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 eaLnBrk="1" hangingPunct="1"/>
            <a:r>
              <a:rPr lang="en-US" altLang="zh-CN" sz="2000">
                <a:latin typeface="Tahoma" panose="020B0604030504040204" pitchFamily="34" charset="0"/>
                <a:ea typeface="宋体" panose="02010600030101010101" pitchFamily="2" charset="-122"/>
              </a:rPr>
              <a:t>T=T-&gt;lchild;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4895850" y="3068638"/>
            <a:ext cx="3116263" cy="2159000"/>
            <a:chOff x="0" y="0"/>
            <a:chExt cx="2511" cy="1497"/>
          </a:xfrm>
        </p:grpSpPr>
        <p:sp>
          <p:nvSpPr>
            <p:cNvPr id="26679" name="AutoShape 5"/>
            <p:cNvSpPr>
              <a:spLocks noChangeArrowheads="1"/>
            </p:cNvSpPr>
            <p:nvPr/>
          </p:nvSpPr>
          <p:spPr bwMode="auto">
            <a:xfrm>
              <a:off x="409" y="331"/>
              <a:ext cx="2086" cy="520"/>
            </a:xfrm>
            <a:prstGeom prst="flowChartInputOutpu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 sz="2000">
                  <a:latin typeface="Tahoma" panose="020B0604030504040204" pitchFamily="34" charset="0"/>
                  <a:ea typeface="宋体" panose="02010600030101010101" pitchFamily="2" charset="-122"/>
                </a:rPr>
                <a:t>X</a:t>
              </a:r>
              <a:r>
                <a:rPr lang="zh-CN" altLang="en-US" sz="2000">
                  <a:latin typeface="Tahoma" panose="020B0604030504040204" pitchFamily="34" charset="0"/>
                  <a:ea typeface="宋体" panose="02010600030101010101" pitchFamily="2" charset="-122"/>
                </a:rPr>
                <a:t>～</a:t>
              </a:r>
              <a:r>
                <a:rPr lang="en-US" altLang="zh-CN" sz="2000">
                  <a:latin typeface="Tahoma" panose="020B0604030504040204" pitchFamily="34" charset="0"/>
                  <a:ea typeface="宋体" panose="02010600030101010101" pitchFamily="2" charset="-122"/>
                </a:rPr>
                <a:t>T-&gt;data.key</a:t>
              </a:r>
            </a:p>
          </p:txBody>
        </p:sp>
        <p:grpSp>
          <p:nvGrpSpPr>
            <p:cNvPr id="26680" name="Group 6"/>
            <p:cNvGrpSpPr>
              <a:grpSpLocks/>
            </p:cNvGrpSpPr>
            <p:nvPr/>
          </p:nvGrpSpPr>
          <p:grpSpPr bwMode="auto">
            <a:xfrm>
              <a:off x="0" y="876"/>
              <a:ext cx="454" cy="621"/>
              <a:chOff x="0" y="0"/>
              <a:chExt cx="375" cy="589"/>
            </a:xfrm>
          </p:grpSpPr>
          <p:sp>
            <p:nvSpPr>
              <p:cNvPr id="26688" name="Line 7"/>
              <p:cNvSpPr>
                <a:spLocks noChangeShapeType="1"/>
              </p:cNvSpPr>
              <p:nvPr/>
            </p:nvSpPr>
            <p:spPr bwMode="auto">
              <a:xfrm flipH="1">
                <a:off x="58" y="0"/>
                <a:ext cx="317" cy="5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89" name="Text Box 8"/>
              <p:cNvSpPr txBox="1">
                <a:spLocks noChangeArrowheads="1"/>
              </p:cNvSpPr>
              <p:nvPr/>
            </p:nvSpPr>
            <p:spPr bwMode="auto">
              <a:xfrm>
                <a:off x="0" y="145"/>
                <a:ext cx="233" cy="24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eaLnBrk="1" hangingPunct="1"/>
                <a:r>
                  <a:rPr lang="en-US" altLang="zh-CN">
                    <a:latin typeface="Tahoma" panose="020B0604030504040204" pitchFamily="34" charset="0"/>
                    <a:ea typeface="宋体" panose="02010600030101010101" pitchFamily="2" charset="-122"/>
                  </a:rPr>
                  <a:t>&lt;</a:t>
                </a:r>
              </a:p>
            </p:txBody>
          </p:sp>
        </p:grpSp>
        <p:grpSp>
          <p:nvGrpSpPr>
            <p:cNvPr id="26681" name="Group 9"/>
            <p:cNvGrpSpPr>
              <a:grpSpLocks/>
            </p:cNvGrpSpPr>
            <p:nvPr/>
          </p:nvGrpSpPr>
          <p:grpSpPr bwMode="auto">
            <a:xfrm>
              <a:off x="998" y="876"/>
              <a:ext cx="417" cy="621"/>
              <a:chOff x="0" y="0"/>
              <a:chExt cx="439" cy="589"/>
            </a:xfrm>
          </p:grpSpPr>
          <p:sp>
            <p:nvSpPr>
              <p:cNvPr id="26686" name="Line 10"/>
              <p:cNvSpPr>
                <a:spLocks noChangeShapeType="1"/>
              </p:cNvSpPr>
              <p:nvPr/>
            </p:nvSpPr>
            <p:spPr bwMode="auto">
              <a:xfrm flipH="1">
                <a:off x="227" y="0"/>
                <a:ext cx="12" cy="5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87" name="Text Box 11"/>
              <p:cNvSpPr txBox="1">
                <a:spLocks noChangeArrowheads="1"/>
              </p:cNvSpPr>
              <p:nvPr/>
            </p:nvSpPr>
            <p:spPr bwMode="auto">
              <a:xfrm>
                <a:off x="0" y="136"/>
                <a:ext cx="439" cy="24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eaLnBrk="1" hangingPunct="1"/>
                <a:r>
                  <a:rPr lang="en-US" altLang="zh-CN" dirty="0">
                    <a:latin typeface="Tahoma" panose="020B0604030504040204" pitchFamily="34" charset="0"/>
                    <a:ea typeface="宋体" panose="02010600030101010101" pitchFamily="2" charset="-122"/>
                  </a:rPr>
                  <a:t>==</a:t>
                </a:r>
              </a:p>
            </p:txBody>
          </p:sp>
        </p:grpSp>
        <p:grpSp>
          <p:nvGrpSpPr>
            <p:cNvPr id="26682" name="Group 12"/>
            <p:cNvGrpSpPr>
              <a:grpSpLocks/>
            </p:cNvGrpSpPr>
            <p:nvPr/>
          </p:nvGrpSpPr>
          <p:grpSpPr bwMode="auto">
            <a:xfrm>
              <a:off x="2042" y="876"/>
              <a:ext cx="469" cy="621"/>
              <a:chOff x="0" y="0"/>
              <a:chExt cx="469" cy="621"/>
            </a:xfrm>
          </p:grpSpPr>
          <p:sp>
            <p:nvSpPr>
              <p:cNvPr id="26684" name="Line 13"/>
              <p:cNvSpPr>
                <a:spLocks noChangeShapeType="1"/>
              </p:cNvSpPr>
              <p:nvPr/>
            </p:nvSpPr>
            <p:spPr bwMode="auto">
              <a:xfrm>
                <a:off x="0" y="0"/>
                <a:ext cx="362" cy="62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85" name="Text Box 14"/>
              <p:cNvSpPr txBox="1">
                <a:spLocks noChangeArrowheads="1"/>
              </p:cNvSpPr>
              <p:nvPr/>
            </p:nvSpPr>
            <p:spPr bwMode="auto">
              <a:xfrm>
                <a:off x="187" y="137"/>
                <a:ext cx="282" cy="2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eaLnBrk="1" hangingPunct="1"/>
                <a:r>
                  <a:rPr lang="en-US" altLang="zh-CN">
                    <a:latin typeface="Tahoma" panose="020B0604030504040204" pitchFamily="34" charset="0"/>
                    <a:ea typeface="宋体" panose="02010600030101010101" pitchFamily="2" charset="-122"/>
                  </a:rPr>
                  <a:t>&gt;</a:t>
                </a:r>
              </a:p>
            </p:txBody>
          </p:sp>
        </p:grpSp>
        <p:sp>
          <p:nvSpPr>
            <p:cNvPr id="26683" name="Line 15"/>
            <p:cNvSpPr>
              <a:spLocks noChangeShapeType="1"/>
            </p:cNvSpPr>
            <p:nvPr/>
          </p:nvSpPr>
          <p:spPr bwMode="auto">
            <a:xfrm>
              <a:off x="1588" y="0"/>
              <a:ext cx="0" cy="31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7664" name="Rectangle 16"/>
          <p:cNvSpPr>
            <a:spLocks noChangeArrowheads="1"/>
          </p:cNvSpPr>
          <p:nvPr/>
        </p:nvSpPr>
        <p:spPr bwMode="auto">
          <a:xfrm>
            <a:off x="7235825" y="5229225"/>
            <a:ext cx="1727200" cy="503238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 eaLnBrk="1" hangingPunct="1"/>
            <a:r>
              <a:rPr lang="en-US" altLang="zh-CN" sz="2000">
                <a:latin typeface="Tahoma" panose="020B0604030504040204" pitchFamily="34" charset="0"/>
                <a:ea typeface="宋体" panose="02010600030101010101" pitchFamily="2" charset="-122"/>
              </a:rPr>
              <a:t>T=T-&gt;rchild ;</a:t>
            </a:r>
          </a:p>
        </p:txBody>
      </p:sp>
      <p:sp>
        <p:nvSpPr>
          <p:cNvPr id="27665" name="Rectangle 17"/>
          <p:cNvSpPr>
            <a:spLocks noChangeArrowheads="1"/>
          </p:cNvSpPr>
          <p:nvPr/>
        </p:nvSpPr>
        <p:spPr bwMode="auto">
          <a:xfrm>
            <a:off x="6084888" y="5229225"/>
            <a:ext cx="1081087" cy="503238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 eaLnBrk="1" hangingPunct="1"/>
            <a:r>
              <a:rPr lang="zh-CN" altLang="en-US" sz="2000">
                <a:latin typeface="Tahoma" panose="020B0604030504040204" pitchFamily="34" charset="0"/>
                <a:ea typeface="宋体" panose="02010600030101010101" pitchFamily="2" charset="-122"/>
              </a:rPr>
              <a:t>找到</a:t>
            </a:r>
          </a:p>
        </p:txBody>
      </p:sp>
      <p:grpSp>
        <p:nvGrpSpPr>
          <p:cNvPr id="6" name="Group 18"/>
          <p:cNvGrpSpPr>
            <a:grpSpLocks/>
          </p:cNvGrpSpPr>
          <p:nvPr/>
        </p:nvGrpSpPr>
        <p:grpSpPr bwMode="auto">
          <a:xfrm>
            <a:off x="323850" y="3141663"/>
            <a:ext cx="3600450" cy="2552700"/>
            <a:chOff x="0" y="0"/>
            <a:chExt cx="2268" cy="1608"/>
          </a:xfrm>
        </p:grpSpPr>
        <p:grpSp>
          <p:nvGrpSpPr>
            <p:cNvPr id="26647" name="Group 19"/>
            <p:cNvGrpSpPr>
              <a:grpSpLocks/>
            </p:cNvGrpSpPr>
            <p:nvPr/>
          </p:nvGrpSpPr>
          <p:grpSpPr bwMode="auto">
            <a:xfrm>
              <a:off x="0" y="293"/>
              <a:ext cx="2268" cy="1315"/>
              <a:chOff x="0" y="0"/>
              <a:chExt cx="2903" cy="1497"/>
            </a:xfrm>
          </p:grpSpPr>
          <p:sp>
            <p:nvSpPr>
              <p:cNvPr id="26650" name="Oval 20"/>
              <p:cNvSpPr>
                <a:spLocks noChangeArrowheads="1"/>
              </p:cNvSpPr>
              <p:nvPr/>
            </p:nvSpPr>
            <p:spPr bwMode="auto">
              <a:xfrm>
                <a:off x="1406" y="0"/>
                <a:ext cx="227" cy="227"/>
              </a:xfrm>
              <a:prstGeom prst="ellipse">
                <a:avLst/>
              </a:prstGeom>
              <a:solidFill>
                <a:srgbClr val="92D050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 eaLnBrk="1" hangingPunct="1"/>
                <a:r>
                  <a:rPr lang="en-US" altLang="zh-CN" sz="1600" dirty="0">
                    <a:latin typeface="Tahoma" panose="020B0604030504040204" pitchFamily="34" charset="0"/>
                    <a:ea typeface="宋体" panose="02010600030101010101" pitchFamily="2" charset="-122"/>
                  </a:rPr>
                  <a:t>50</a:t>
                </a:r>
              </a:p>
            </p:txBody>
          </p:sp>
          <p:sp>
            <p:nvSpPr>
              <p:cNvPr id="26651" name="Oval 21"/>
              <p:cNvSpPr>
                <a:spLocks noChangeArrowheads="1"/>
              </p:cNvSpPr>
              <p:nvPr/>
            </p:nvSpPr>
            <p:spPr bwMode="auto">
              <a:xfrm>
                <a:off x="635" y="363"/>
                <a:ext cx="227" cy="227"/>
              </a:xfrm>
              <a:prstGeom prst="ellipse">
                <a:avLst/>
              </a:prstGeom>
              <a:solidFill>
                <a:srgbClr val="92D050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 eaLnBrk="1" hangingPunct="1"/>
                <a:r>
                  <a:rPr lang="en-US" altLang="zh-CN" sz="1600" dirty="0">
                    <a:latin typeface="Tahoma" panose="020B0604030504040204" pitchFamily="34" charset="0"/>
                    <a:ea typeface="宋体" panose="02010600030101010101" pitchFamily="2" charset="-122"/>
                  </a:rPr>
                  <a:t>40</a:t>
                </a:r>
              </a:p>
            </p:txBody>
          </p:sp>
          <p:sp>
            <p:nvSpPr>
              <p:cNvPr id="26652" name="Oval 22"/>
              <p:cNvSpPr>
                <a:spLocks noChangeArrowheads="1"/>
              </p:cNvSpPr>
              <p:nvPr/>
            </p:nvSpPr>
            <p:spPr bwMode="auto">
              <a:xfrm>
                <a:off x="952" y="771"/>
                <a:ext cx="227" cy="227"/>
              </a:xfrm>
              <a:prstGeom prst="ellipse">
                <a:avLst/>
              </a:prstGeom>
              <a:solidFill>
                <a:srgbClr val="92D050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 eaLnBrk="1" hangingPunct="1"/>
                <a:r>
                  <a:rPr lang="en-US" altLang="zh-CN" sz="1600" dirty="0">
                    <a:latin typeface="Tahoma" panose="020B0604030504040204" pitchFamily="34" charset="0"/>
                    <a:ea typeface="宋体" panose="02010600030101010101" pitchFamily="2" charset="-122"/>
                  </a:rPr>
                  <a:t>47</a:t>
                </a:r>
              </a:p>
            </p:txBody>
          </p:sp>
          <p:sp>
            <p:nvSpPr>
              <p:cNvPr id="26653" name="Oval 23"/>
              <p:cNvSpPr>
                <a:spLocks noChangeArrowheads="1"/>
              </p:cNvSpPr>
              <p:nvPr/>
            </p:nvSpPr>
            <p:spPr bwMode="auto">
              <a:xfrm>
                <a:off x="227" y="771"/>
                <a:ext cx="227" cy="227"/>
              </a:xfrm>
              <a:prstGeom prst="ellipse">
                <a:avLst/>
              </a:prstGeom>
              <a:solidFill>
                <a:srgbClr val="92D050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 eaLnBrk="1" hangingPunct="1"/>
                <a:r>
                  <a:rPr lang="en-US" altLang="zh-CN" sz="1600" dirty="0">
                    <a:latin typeface="Tahoma" panose="020B0604030504040204" pitchFamily="34" charset="0"/>
                    <a:ea typeface="宋体" panose="02010600030101010101" pitchFamily="2" charset="-122"/>
                  </a:rPr>
                  <a:t>30</a:t>
                </a:r>
              </a:p>
            </p:txBody>
          </p:sp>
          <p:sp>
            <p:nvSpPr>
              <p:cNvPr id="26654" name="Oval 24"/>
              <p:cNvSpPr>
                <a:spLocks noChangeArrowheads="1"/>
              </p:cNvSpPr>
              <p:nvPr/>
            </p:nvSpPr>
            <p:spPr bwMode="auto">
              <a:xfrm>
                <a:off x="0" y="1270"/>
                <a:ext cx="227" cy="227"/>
              </a:xfrm>
              <a:prstGeom prst="ellipse">
                <a:avLst/>
              </a:prstGeom>
              <a:solidFill>
                <a:srgbClr val="92D050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 eaLnBrk="1" hangingPunct="1"/>
                <a:r>
                  <a:rPr lang="en-US" altLang="zh-CN" sz="1600" dirty="0">
                    <a:latin typeface="Tahoma" panose="020B0604030504040204" pitchFamily="34" charset="0"/>
                    <a:ea typeface="宋体" panose="02010600030101010101" pitchFamily="2" charset="-122"/>
                  </a:rPr>
                  <a:t>20</a:t>
                </a:r>
              </a:p>
            </p:txBody>
          </p:sp>
          <p:sp>
            <p:nvSpPr>
              <p:cNvPr id="26655" name="Oval 25"/>
              <p:cNvSpPr>
                <a:spLocks noChangeArrowheads="1"/>
              </p:cNvSpPr>
              <p:nvPr/>
            </p:nvSpPr>
            <p:spPr bwMode="auto">
              <a:xfrm>
                <a:off x="454" y="1270"/>
                <a:ext cx="227" cy="227"/>
              </a:xfrm>
              <a:prstGeom prst="ellipse">
                <a:avLst/>
              </a:prstGeom>
              <a:solidFill>
                <a:srgbClr val="92D050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 eaLnBrk="1" hangingPunct="1"/>
                <a:r>
                  <a:rPr lang="en-US" altLang="zh-CN" sz="1600" dirty="0">
                    <a:latin typeface="Tahoma" panose="020B0604030504040204" pitchFamily="34" charset="0"/>
                    <a:ea typeface="宋体" panose="02010600030101010101" pitchFamily="2" charset="-122"/>
                  </a:rPr>
                  <a:t>35</a:t>
                </a:r>
              </a:p>
            </p:txBody>
          </p:sp>
          <p:sp>
            <p:nvSpPr>
              <p:cNvPr id="26656" name="Oval 26"/>
              <p:cNvSpPr>
                <a:spLocks noChangeArrowheads="1"/>
              </p:cNvSpPr>
              <p:nvPr/>
            </p:nvSpPr>
            <p:spPr bwMode="auto">
              <a:xfrm>
                <a:off x="771" y="1270"/>
                <a:ext cx="227" cy="227"/>
              </a:xfrm>
              <a:prstGeom prst="ellipse">
                <a:avLst/>
              </a:prstGeom>
              <a:solidFill>
                <a:srgbClr val="92D050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 eaLnBrk="1" hangingPunct="1"/>
                <a:r>
                  <a:rPr lang="en-US" altLang="zh-CN" sz="1600" dirty="0">
                    <a:latin typeface="Tahoma" panose="020B0604030504040204" pitchFamily="34" charset="0"/>
                    <a:ea typeface="宋体" panose="02010600030101010101" pitchFamily="2" charset="-122"/>
                  </a:rPr>
                  <a:t>45</a:t>
                </a:r>
              </a:p>
            </p:txBody>
          </p:sp>
          <p:sp>
            <p:nvSpPr>
              <p:cNvPr id="26657" name="Oval 27"/>
              <p:cNvSpPr>
                <a:spLocks noChangeArrowheads="1"/>
              </p:cNvSpPr>
              <p:nvPr/>
            </p:nvSpPr>
            <p:spPr bwMode="auto">
              <a:xfrm>
                <a:off x="1179" y="1270"/>
                <a:ext cx="227" cy="227"/>
              </a:xfrm>
              <a:prstGeom prst="ellipse">
                <a:avLst/>
              </a:prstGeom>
              <a:solidFill>
                <a:srgbClr val="92D050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 eaLnBrk="1" hangingPunct="1"/>
                <a:r>
                  <a:rPr lang="en-US" altLang="zh-CN" sz="1600" dirty="0">
                    <a:latin typeface="Tahoma" panose="020B0604030504040204" pitchFamily="34" charset="0"/>
                    <a:ea typeface="宋体" panose="02010600030101010101" pitchFamily="2" charset="-122"/>
                  </a:rPr>
                  <a:t>49</a:t>
                </a:r>
              </a:p>
            </p:txBody>
          </p:sp>
          <p:sp>
            <p:nvSpPr>
              <p:cNvPr id="26658" name="Line 28"/>
              <p:cNvSpPr>
                <a:spLocks noChangeShapeType="1"/>
              </p:cNvSpPr>
              <p:nvPr/>
            </p:nvSpPr>
            <p:spPr bwMode="auto">
              <a:xfrm flipH="1">
                <a:off x="817" y="136"/>
                <a:ext cx="589" cy="22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59" name="Line 29"/>
              <p:cNvSpPr>
                <a:spLocks noChangeShapeType="1"/>
              </p:cNvSpPr>
              <p:nvPr/>
            </p:nvSpPr>
            <p:spPr bwMode="auto">
              <a:xfrm flipH="1">
                <a:off x="363" y="545"/>
                <a:ext cx="272" cy="22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60" name="Line 30"/>
              <p:cNvSpPr>
                <a:spLocks noChangeShapeType="1"/>
              </p:cNvSpPr>
              <p:nvPr/>
            </p:nvSpPr>
            <p:spPr bwMode="auto">
              <a:xfrm flipH="1">
                <a:off x="91" y="998"/>
                <a:ext cx="181" cy="27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61" name="Line 31"/>
              <p:cNvSpPr>
                <a:spLocks noChangeShapeType="1"/>
              </p:cNvSpPr>
              <p:nvPr/>
            </p:nvSpPr>
            <p:spPr bwMode="auto">
              <a:xfrm>
                <a:off x="408" y="998"/>
                <a:ext cx="136" cy="27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62" name="Line 32"/>
              <p:cNvSpPr>
                <a:spLocks noChangeShapeType="1"/>
              </p:cNvSpPr>
              <p:nvPr/>
            </p:nvSpPr>
            <p:spPr bwMode="auto">
              <a:xfrm flipH="1">
                <a:off x="816" y="998"/>
                <a:ext cx="181" cy="27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63" name="Line 33"/>
              <p:cNvSpPr>
                <a:spLocks noChangeShapeType="1"/>
              </p:cNvSpPr>
              <p:nvPr/>
            </p:nvSpPr>
            <p:spPr bwMode="auto">
              <a:xfrm>
                <a:off x="1133" y="998"/>
                <a:ext cx="136" cy="27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64" name="Line 34"/>
              <p:cNvSpPr>
                <a:spLocks noChangeShapeType="1"/>
              </p:cNvSpPr>
              <p:nvPr/>
            </p:nvSpPr>
            <p:spPr bwMode="auto">
              <a:xfrm>
                <a:off x="862" y="545"/>
                <a:ext cx="181" cy="22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65" name="Oval 35"/>
              <p:cNvSpPr>
                <a:spLocks noChangeArrowheads="1"/>
              </p:cNvSpPr>
              <p:nvPr/>
            </p:nvSpPr>
            <p:spPr bwMode="auto">
              <a:xfrm>
                <a:off x="2132" y="363"/>
                <a:ext cx="227" cy="227"/>
              </a:xfrm>
              <a:prstGeom prst="ellipse">
                <a:avLst/>
              </a:prstGeom>
              <a:solidFill>
                <a:srgbClr val="92D050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 eaLnBrk="1" hangingPunct="1"/>
                <a:r>
                  <a:rPr lang="en-US" altLang="zh-CN" sz="1600" dirty="0">
                    <a:latin typeface="Tahoma" panose="020B0604030504040204" pitchFamily="34" charset="0"/>
                    <a:ea typeface="宋体" panose="02010600030101010101" pitchFamily="2" charset="-122"/>
                  </a:rPr>
                  <a:t>70</a:t>
                </a:r>
              </a:p>
            </p:txBody>
          </p:sp>
          <p:sp>
            <p:nvSpPr>
              <p:cNvPr id="26666" name="Oval 36"/>
              <p:cNvSpPr>
                <a:spLocks noChangeArrowheads="1"/>
              </p:cNvSpPr>
              <p:nvPr/>
            </p:nvSpPr>
            <p:spPr bwMode="auto">
              <a:xfrm>
                <a:off x="2449" y="771"/>
                <a:ext cx="227" cy="227"/>
              </a:xfrm>
              <a:prstGeom prst="ellipse">
                <a:avLst/>
              </a:prstGeom>
              <a:solidFill>
                <a:srgbClr val="92D050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 eaLnBrk="1" hangingPunct="1"/>
                <a:r>
                  <a:rPr lang="en-US" altLang="zh-CN" sz="1600" dirty="0">
                    <a:latin typeface="Tahoma" panose="020B0604030504040204" pitchFamily="34" charset="0"/>
                    <a:ea typeface="宋体" panose="02010600030101010101" pitchFamily="2" charset="-122"/>
                  </a:rPr>
                  <a:t>90</a:t>
                </a:r>
              </a:p>
            </p:txBody>
          </p:sp>
          <p:sp>
            <p:nvSpPr>
              <p:cNvPr id="26667" name="Oval 37"/>
              <p:cNvSpPr>
                <a:spLocks noChangeArrowheads="1"/>
              </p:cNvSpPr>
              <p:nvPr/>
            </p:nvSpPr>
            <p:spPr bwMode="auto">
              <a:xfrm>
                <a:off x="1724" y="771"/>
                <a:ext cx="227" cy="227"/>
              </a:xfrm>
              <a:prstGeom prst="ellipse">
                <a:avLst/>
              </a:prstGeom>
              <a:solidFill>
                <a:srgbClr val="92D050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 eaLnBrk="1" hangingPunct="1"/>
                <a:r>
                  <a:rPr lang="en-US" altLang="zh-CN" sz="1600" dirty="0">
                    <a:latin typeface="Tahoma" panose="020B0604030504040204" pitchFamily="34" charset="0"/>
                    <a:ea typeface="宋体" panose="02010600030101010101" pitchFamily="2" charset="-122"/>
                  </a:rPr>
                  <a:t>65</a:t>
                </a:r>
              </a:p>
            </p:txBody>
          </p:sp>
          <p:sp>
            <p:nvSpPr>
              <p:cNvPr id="26668" name="Oval 38"/>
              <p:cNvSpPr>
                <a:spLocks noChangeArrowheads="1"/>
              </p:cNvSpPr>
              <p:nvPr/>
            </p:nvSpPr>
            <p:spPr bwMode="auto">
              <a:xfrm>
                <a:off x="1497" y="1270"/>
                <a:ext cx="227" cy="227"/>
              </a:xfrm>
              <a:prstGeom prst="ellipse">
                <a:avLst/>
              </a:prstGeom>
              <a:solidFill>
                <a:srgbClr val="92D050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 eaLnBrk="1" hangingPunct="1"/>
                <a:r>
                  <a:rPr lang="en-US" altLang="zh-CN" sz="1600" dirty="0">
                    <a:latin typeface="Tahoma" panose="020B0604030504040204" pitchFamily="34" charset="0"/>
                    <a:ea typeface="宋体" panose="02010600030101010101" pitchFamily="2" charset="-122"/>
                  </a:rPr>
                  <a:t>55</a:t>
                </a:r>
              </a:p>
            </p:txBody>
          </p:sp>
          <p:sp>
            <p:nvSpPr>
              <p:cNvPr id="26669" name="Oval 39"/>
              <p:cNvSpPr>
                <a:spLocks noChangeArrowheads="1"/>
              </p:cNvSpPr>
              <p:nvPr/>
            </p:nvSpPr>
            <p:spPr bwMode="auto">
              <a:xfrm>
                <a:off x="1951" y="1270"/>
                <a:ext cx="227" cy="227"/>
              </a:xfrm>
              <a:prstGeom prst="ellipse">
                <a:avLst/>
              </a:prstGeom>
              <a:solidFill>
                <a:srgbClr val="92D050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 eaLnBrk="1" hangingPunct="1"/>
                <a:r>
                  <a:rPr lang="en-US" altLang="zh-CN" sz="1600" dirty="0">
                    <a:latin typeface="Tahoma" panose="020B0604030504040204" pitchFamily="34" charset="0"/>
                    <a:ea typeface="宋体" panose="02010600030101010101" pitchFamily="2" charset="-122"/>
                  </a:rPr>
                  <a:t>67</a:t>
                </a:r>
              </a:p>
            </p:txBody>
          </p:sp>
          <p:sp>
            <p:nvSpPr>
              <p:cNvPr id="26670" name="Oval 40"/>
              <p:cNvSpPr>
                <a:spLocks noChangeArrowheads="1"/>
              </p:cNvSpPr>
              <p:nvPr/>
            </p:nvSpPr>
            <p:spPr bwMode="auto">
              <a:xfrm>
                <a:off x="2268" y="1270"/>
                <a:ext cx="227" cy="227"/>
              </a:xfrm>
              <a:prstGeom prst="ellipse">
                <a:avLst/>
              </a:prstGeom>
              <a:solidFill>
                <a:srgbClr val="92D050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 eaLnBrk="1" hangingPunct="1"/>
                <a:r>
                  <a:rPr lang="en-US" altLang="zh-CN" sz="1600" dirty="0">
                    <a:latin typeface="Tahoma" panose="020B0604030504040204" pitchFamily="34" charset="0"/>
                    <a:ea typeface="宋体" panose="02010600030101010101" pitchFamily="2" charset="-122"/>
                  </a:rPr>
                  <a:t>80</a:t>
                </a:r>
              </a:p>
            </p:txBody>
          </p:sp>
          <p:sp>
            <p:nvSpPr>
              <p:cNvPr id="26671" name="Oval 41"/>
              <p:cNvSpPr>
                <a:spLocks noChangeArrowheads="1"/>
              </p:cNvSpPr>
              <p:nvPr/>
            </p:nvSpPr>
            <p:spPr bwMode="auto">
              <a:xfrm>
                <a:off x="2676" y="1270"/>
                <a:ext cx="227" cy="227"/>
              </a:xfrm>
              <a:prstGeom prst="ellipse">
                <a:avLst/>
              </a:prstGeom>
              <a:solidFill>
                <a:srgbClr val="92D050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 eaLnBrk="1" hangingPunct="1"/>
                <a:r>
                  <a:rPr lang="en-US" altLang="zh-CN" sz="1400" dirty="0">
                    <a:latin typeface="Tahoma" panose="020B0604030504040204" pitchFamily="34" charset="0"/>
                    <a:ea typeface="宋体" panose="02010600030101010101" pitchFamily="2" charset="-122"/>
                  </a:rPr>
                  <a:t>100</a:t>
                </a:r>
              </a:p>
            </p:txBody>
          </p:sp>
          <p:sp>
            <p:nvSpPr>
              <p:cNvPr id="26672" name="Line 42"/>
              <p:cNvSpPr>
                <a:spLocks noChangeShapeType="1"/>
              </p:cNvSpPr>
              <p:nvPr/>
            </p:nvSpPr>
            <p:spPr bwMode="auto">
              <a:xfrm flipH="1">
                <a:off x="1860" y="545"/>
                <a:ext cx="272" cy="22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73" name="Line 43"/>
              <p:cNvSpPr>
                <a:spLocks noChangeShapeType="1"/>
              </p:cNvSpPr>
              <p:nvPr/>
            </p:nvSpPr>
            <p:spPr bwMode="auto">
              <a:xfrm flipH="1">
                <a:off x="1588" y="998"/>
                <a:ext cx="181" cy="27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74" name="Line 44"/>
              <p:cNvSpPr>
                <a:spLocks noChangeShapeType="1"/>
              </p:cNvSpPr>
              <p:nvPr/>
            </p:nvSpPr>
            <p:spPr bwMode="auto">
              <a:xfrm>
                <a:off x="1905" y="998"/>
                <a:ext cx="136" cy="27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75" name="Line 45"/>
              <p:cNvSpPr>
                <a:spLocks noChangeShapeType="1"/>
              </p:cNvSpPr>
              <p:nvPr/>
            </p:nvSpPr>
            <p:spPr bwMode="auto">
              <a:xfrm flipH="1">
                <a:off x="2313" y="998"/>
                <a:ext cx="181" cy="27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76" name="Line 46"/>
              <p:cNvSpPr>
                <a:spLocks noChangeShapeType="1"/>
              </p:cNvSpPr>
              <p:nvPr/>
            </p:nvSpPr>
            <p:spPr bwMode="auto">
              <a:xfrm>
                <a:off x="2630" y="998"/>
                <a:ext cx="136" cy="27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77" name="Line 47"/>
              <p:cNvSpPr>
                <a:spLocks noChangeShapeType="1"/>
              </p:cNvSpPr>
              <p:nvPr/>
            </p:nvSpPr>
            <p:spPr bwMode="auto">
              <a:xfrm>
                <a:off x="2359" y="545"/>
                <a:ext cx="181" cy="22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78" name="Line 48"/>
              <p:cNvSpPr>
                <a:spLocks noChangeShapeType="1"/>
              </p:cNvSpPr>
              <p:nvPr/>
            </p:nvSpPr>
            <p:spPr bwMode="auto">
              <a:xfrm flipH="1" flipV="1">
                <a:off x="1633" y="136"/>
                <a:ext cx="499" cy="22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6648" name="Line 49"/>
            <p:cNvSpPr>
              <a:spLocks noChangeShapeType="1"/>
            </p:cNvSpPr>
            <p:nvPr/>
          </p:nvSpPr>
          <p:spPr bwMode="auto">
            <a:xfrm flipH="1">
              <a:off x="1202" y="157"/>
              <a:ext cx="136" cy="1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9" name="Text Box 50"/>
            <p:cNvSpPr txBox="1">
              <a:spLocks noChangeArrowheads="1"/>
            </p:cNvSpPr>
            <p:nvPr/>
          </p:nvSpPr>
          <p:spPr bwMode="auto">
            <a:xfrm>
              <a:off x="1326" y="0"/>
              <a:ext cx="19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sz="1600">
                  <a:latin typeface="Tahoma" panose="020B0604030504040204" pitchFamily="34" charset="0"/>
                  <a:ea typeface="宋体" panose="02010600030101010101" pitchFamily="2" charset="-122"/>
                </a:rPr>
                <a:t>T</a:t>
              </a:r>
            </a:p>
          </p:txBody>
        </p:sp>
      </p:grpSp>
      <p:sp>
        <p:nvSpPr>
          <p:cNvPr id="27699" name="Rectangle 51"/>
          <p:cNvSpPr>
            <a:spLocks noChangeArrowheads="1"/>
          </p:cNvSpPr>
          <p:nvPr/>
        </p:nvSpPr>
        <p:spPr bwMode="auto">
          <a:xfrm>
            <a:off x="548956" y="934214"/>
            <a:ext cx="8281987" cy="20005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marL="457200" indent="-457200"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二叉排序树的查找</a:t>
            </a:r>
          </a:p>
          <a:p>
            <a:pPr marL="1200150" lvl="1" indent="-457200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如何在二叉排序树中查找给定关键字的结点？</a:t>
            </a:r>
          </a:p>
          <a:p>
            <a:r>
              <a:rPr lang="zh-CN" altLang="en-US" sz="20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                   </a:t>
            </a:r>
            <a:r>
              <a:rPr lang="zh-CN" altLang="en-US" sz="24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以在下图所示树中分别查找</a:t>
            </a:r>
            <a:r>
              <a:rPr lang="en-US" altLang="zh-CN" sz="24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45</a:t>
            </a:r>
            <a:r>
              <a:rPr lang="zh-CN" altLang="en-US" sz="24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、</a:t>
            </a:r>
            <a:r>
              <a:rPr lang="en-US" altLang="zh-CN" sz="24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55</a:t>
            </a:r>
            <a:r>
              <a:rPr lang="zh-CN" altLang="en-US" sz="24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、</a:t>
            </a:r>
            <a:r>
              <a:rPr lang="en-US" altLang="zh-CN" sz="24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66</a:t>
            </a:r>
            <a:r>
              <a:rPr lang="zh-CN" altLang="en-US" sz="24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为例来说明。</a:t>
            </a:r>
          </a:p>
          <a:p>
            <a:r>
              <a:rPr lang="zh-CN" altLang="en-US" sz="24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                由此可得到查找的判定过程。</a:t>
            </a:r>
          </a:p>
          <a:p>
            <a:r>
              <a:rPr lang="zh-CN" altLang="en-US" sz="24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                判定过程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类似于二分查找</a:t>
            </a:r>
            <a:r>
              <a:rPr lang="zh-CN" altLang="en-US" sz="24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的判定过程。</a:t>
            </a:r>
          </a:p>
        </p:txBody>
      </p:sp>
      <p:sp>
        <p:nvSpPr>
          <p:cNvPr id="27700" name="Line 52"/>
          <p:cNvSpPr>
            <a:spLocks noChangeShapeType="1"/>
          </p:cNvSpPr>
          <p:nvPr/>
        </p:nvSpPr>
        <p:spPr bwMode="auto">
          <a:xfrm flipH="1">
            <a:off x="1403350" y="3860800"/>
            <a:ext cx="720725" cy="2889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701" name="Line 53"/>
          <p:cNvSpPr>
            <a:spLocks noChangeShapeType="1"/>
          </p:cNvSpPr>
          <p:nvPr/>
        </p:nvSpPr>
        <p:spPr bwMode="auto">
          <a:xfrm flipH="1" flipV="1">
            <a:off x="1403350" y="4294188"/>
            <a:ext cx="288925" cy="35877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702" name="Line 54"/>
          <p:cNvSpPr>
            <a:spLocks noChangeShapeType="1"/>
          </p:cNvSpPr>
          <p:nvPr/>
        </p:nvSpPr>
        <p:spPr bwMode="auto">
          <a:xfrm flipH="1">
            <a:off x="1476375" y="5013325"/>
            <a:ext cx="142875" cy="36036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703" name="Line 55"/>
          <p:cNvSpPr>
            <a:spLocks noChangeShapeType="1"/>
          </p:cNvSpPr>
          <p:nvPr/>
        </p:nvSpPr>
        <p:spPr bwMode="auto">
          <a:xfrm flipH="1">
            <a:off x="2249488" y="4962525"/>
            <a:ext cx="215900" cy="36036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704" name="Line 56"/>
          <p:cNvSpPr>
            <a:spLocks noChangeShapeType="1"/>
          </p:cNvSpPr>
          <p:nvPr/>
        </p:nvSpPr>
        <p:spPr bwMode="auto">
          <a:xfrm flipH="1">
            <a:off x="2574474" y="4292600"/>
            <a:ext cx="341764" cy="35263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705" name="Line 57"/>
          <p:cNvSpPr>
            <a:spLocks noChangeShapeType="1"/>
          </p:cNvSpPr>
          <p:nvPr/>
        </p:nvSpPr>
        <p:spPr bwMode="auto">
          <a:xfrm flipH="1" flipV="1">
            <a:off x="2339975" y="3860800"/>
            <a:ext cx="503238" cy="2889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706" name="Line 58"/>
          <p:cNvSpPr>
            <a:spLocks noChangeShapeType="1"/>
          </p:cNvSpPr>
          <p:nvPr/>
        </p:nvSpPr>
        <p:spPr bwMode="auto">
          <a:xfrm flipH="1" flipV="1">
            <a:off x="2411413" y="3716338"/>
            <a:ext cx="503237" cy="2889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707" name="Line 59"/>
          <p:cNvSpPr>
            <a:spLocks noChangeShapeType="1"/>
          </p:cNvSpPr>
          <p:nvPr/>
        </p:nvSpPr>
        <p:spPr bwMode="auto">
          <a:xfrm flipH="1">
            <a:off x="2706687" y="4413771"/>
            <a:ext cx="310843" cy="29951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708" name="Line 60"/>
          <p:cNvSpPr>
            <a:spLocks noChangeShapeType="1"/>
          </p:cNvSpPr>
          <p:nvPr/>
        </p:nvSpPr>
        <p:spPr bwMode="auto">
          <a:xfrm flipH="1" flipV="1">
            <a:off x="2627313" y="4994275"/>
            <a:ext cx="144462" cy="431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709" name="Line 61"/>
          <p:cNvSpPr>
            <a:spLocks noChangeShapeType="1"/>
          </p:cNvSpPr>
          <p:nvPr/>
        </p:nvSpPr>
        <p:spPr bwMode="auto">
          <a:xfrm flipV="1">
            <a:off x="2484438" y="5589588"/>
            <a:ext cx="215900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710" name="Oval 62"/>
          <p:cNvSpPr>
            <a:spLocks noChangeArrowheads="1"/>
          </p:cNvSpPr>
          <p:nvPr/>
        </p:nvSpPr>
        <p:spPr bwMode="auto">
          <a:xfrm>
            <a:off x="1240259" y="5360988"/>
            <a:ext cx="360363" cy="360362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endParaRPr lang="zh-CN" altLang="en-US"/>
          </a:p>
        </p:txBody>
      </p:sp>
      <p:sp>
        <p:nvSpPr>
          <p:cNvPr id="27711" name="Oval 63"/>
          <p:cNvSpPr>
            <a:spLocks noChangeArrowheads="1"/>
          </p:cNvSpPr>
          <p:nvPr/>
        </p:nvSpPr>
        <p:spPr bwMode="auto">
          <a:xfrm>
            <a:off x="2136775" y="5345113"/>
            <a:ext cx="360363" cy="360362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endParaRPr lang="zh-CN" altLang="en-US"/>
          </a:p>
        </p:txBody>
      </p:sp>
      <p:sp>
        <p:nvSpPr>
          <p:cNvPr id="27712" name="Text Box 64"/>
          <p:cNvSpPr txBox="1">
            <a:spLocks noChangeArrowheads="1"/>
          </p:cNvSpPr>
          <p:nvPr/>
        </p:nvSpPr>
        <p:spPr bwMode="auto">
          <a:xfrm>
            <a:off x="2168583" y="6049431"/>
            <a:ext cx="9366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b="1">
                <a:solidFill>
                  <a:srgbClr val="FF0000"/>
                </a:solidFill>
                <a:ea typeface="宋体" panose="02010600030101010101" pitchFamily="2" charset="-122"/>
              </a:rPr>
              <a:t>失败！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34</a:t>
            </a:fld>
            <a:endParaRPr lang="zh-CN" altLang="en-US" dirty="0"/>
          </a:p>
        </p:txBody>
      </p:sp>
      <p:grpSp>
        <p:nvGrpSpPr>
          <p:cNvPr id="72" name="组合 114"/>
          <p:cNvGrpSpPr/>
          <p:nvPr/>
        </p:nvGrpSpPr>
        <p:grpSpPr>
          <a:xfrm>
            <a:off x="-396552" y="76388"/>
            <a:ext cx="6775654" cy="679510"/>
            <a:chOff x="-99459" y="3320919"/>
            <a:chExt cx="7301815" cy="722576"/>
          </a:xfrm>
        </p:grpSpPr>
        <p:grpSp>
          <p:nvGrpSpPr>
            <p:cNvPr id="73" name="组合 105"/>
            <p:cNvGrpSpPr/>
            <p:nvPr/>
          </p:nvGrpSpPr>
          <p:grpSpPr>
            <a:xfrm>
              <a:off x="-99459" y="3320919"/>
              <a:ext cx="7301815" cy="722576"/>
              <a:chOff x="-99459" y="3320919"/>
              <a:chExt cx="7301815" cy="722576"/>
            </a:xfrm>
          </p:grpSpPr>
          <p:sp>
            <p:nvSpPr>
              <p:cNvPr id="75" name="Freeform 5"/>
              <p:cNvSpPr>
                <a:spLocks/>
              </p:cNvSpPr>
              <p:nvPr/>
            </p:nvSpPr>
            <p:spPr bwMode="auto">
              <a:xfrm>
                <a:off x="933887" y="3380765"/>
                <a:ext cx="801702" cy="662730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EA6103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  <p:sp>
            <p:nvSpPr>
              <p:cNvPr id="76" name="TextBox 6"/>
              <p:cNvSpPr txBox="1">
                <a:spLocks noChangeArrowheads="1"/>
              </p:cNvSpPr>
              <p:nvPr/>
            </p:nvSpPr>
            <p:spPr bwMode="auto">
              <a:xfrm>
                <a:off x="-99459" y="3320919"/>
                <a:ext cx="7301815" cy="687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10.3 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树表的查找</a:t>
                </a:r>
              </a:p>
            </p:txBody>
          </p:sp>
        </p:grpSp>
        <p:pic>
          <p:nvPicPr>
            <p:cNvPr id="74" name="图片 73" descr="12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5929" y="3530600"/>
              <a:ext cx="446172" cy="431048"/>
            </a:xfrm>
            <a:prstGeom prst="rect">
              <a:avLst/>
            </a:prstGeom>
          </p:spPr>
        </p:pic>
      </p:grpSp>
      <p:pic>
        <p:nvPicPr>
          <p:cNvPr id="77" name="图片 1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356954" y="1667202"/>
            <a:ext cx="436562" cy="554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968487135"/>
      </p:ext>
    </p:extLst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7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7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7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7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7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27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27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27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8" dur="500"/>
                                        <p:tgtEl>
                                          <p:spTgt spid="277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1" dur="500"/>
                                        <p:tgtEl>
                                          <p:spTgt spid="277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4" dur="500"/>
                                        <p:tgtEl>
                                          <p:spTgt spid="277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7" dur="500"/>
                                        <p:tgtEl>
                                          <p:spTgt spid="277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27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27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27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27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2" dur="500"/>
                                        <p:tgtEl>
                                          <p:spTgt spid="277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5" dur="500"/>
                                        <p:tgtEl>
                                          <p:spTgt spid="277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8" dur="500"/>
                                        <p:tgtEl>
                                          <p:spTgt spid="277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1" dur="500"/>
                                        <p:tgtEl>
                                          <p:spTgt spid="277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27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27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7" dur="500"/>
                                        <p:tgtEl>
                                          <p:spTgt spid="27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2" dur="500"/>
                                        <p:tgtEl>
                                          <p:spTgt spid="27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7" dur="500"/>
                                        <p:tgtEl>
                                          <p:spTgt spid="27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31" dur="500"/>
                                        <p:tgtEl>
                                          <p:spTgt spid="277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34" dur="500"/>
                                        <p:tgtEl>
                                          <p:spTgt spid="277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37" dur="500"/>
                                        <p:tgtEl>
                                          <p:spTgt spid="277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40" dur="500"/>
                                        <p:tgtEl>
                                          <p:spTgt spid="277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43" dur="500"/>
                                        <p:tgtEl>
                                          <p:spTgt spid="277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4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4" dur="500"/>
                                        <p:tgtEl>
                                          <p:spTgt spid="27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9" dur="500"/>
                                        <p:tgtEl>
                                          <p:spTgt spid="27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 nodeType="clickPar">
                      <p:stCondLst>
                        <p:cond delay="indefinite"/>
                      </p:stCondLst>
                      <p:childTnLst>
                        <p:par>
                          <p:cTn id="1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4" dur="500"/>
                                        <p:tgtEl>
                                          <p:spTgt spid="27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animBg="1" autoUpdateAnimBg="0"/>
      <p:bldP spid="27664" grpId="0" animBg="1" autoUpdateAnimBg="0"/>
      <p:bldP spid="27665" grpId="0" animBg="1" autoUpdateAnimBg="0"/>
      <p:bldP spid="27710" grpId="0" animBg="1"/>
      <p:bldP spid="27710" grpId="1" animBg="1"/>
      <p:bldP spid="27711" grpId="0" animBg="1"/>
      <p:bldP spid="27711" grpId="1" animBg="1"/>
      <p:bldP spid="27712" grpId="0" autoUpdateAnimBg="0"/>
      <p:bldP spid="27712" grpId="1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8776" y="945267"/>
            <a:ext cx="8229600" cy="4678451"/>
          </a:xfrm>
        </p:spPr>
        <p:txBody>
          <a:bodyPr/>
          <a:lstStyle/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/>
              <a:t>二分查找算法的流程图</a:t>
            </a:r>
          </a:p>
        </p:txBody>
      </p:sp>
      <p:sp>
        <p:nvSpPr>
          <p:cNvPr id="28676" name="AutoShape 4"/>
          <p:cNvSpPr>
            <a:spLocks noChangeArrowheads="1"/>
          </p:cNvSpPr>
          <p:nvPr/>
        </p:nvSpPr>
        <p:spPr bwMode="auto">
          <a:xfrm>
            <a:off x="1476375" y="3860800"/>
            <a:ext cx="2303463" cy="647700"/>
          </a:xfrm>
          <a:prstGeom prst="flowChartDecision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～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 </a:t>
            </a:r>
            <a:r>
              <a:rPr lang="en-US" altLang="zh-CN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data.key</a:t>
            </a:r>
            <a:endParaRPr lang="zh-CN" altLang="en-US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677" name="AutoShape 5"/>
          <p:cNvSpPr>
            <a:spLocks noChangeArrowheads="1"/>
          </p:cNvSpPr>
          <p:nvPr/>
        </p:nvSpPr>
        <p:spPr bwMode="auto">
          <a:xfrm>
            <a:off x="491084" y="4868863"/>
            <a:ext cx="1223962" cy="504825"/>
          </a:xfrm>
          <a:prstGeom prst="flowChartProcess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 eaLnBrk="1" hangingPunct="1"/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P=P-&gt;</a:t>
            </a:r>
            <a:r>
              <a:rPr lang="en-US" altLang="zh-CN" sz="16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lchild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endParaRPr lang="zh-CN" altLang="en-US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678" name="AutoShape 6"/>
          <p:cNvSpPr>
            <a:spLocks noChangeArrowheads="1"/>
          </p:cNvSpPr>
          <p:nvPr/>
        </p:nvSpPr>
        <p:spPr bwMode="auto">
          <a:xfrm>
            <a:off x="3398838" y="4868863"/>
            <a:ext cx="1223962" cy="504825"/>
          </a:xfrm>
          <a:prstGeom prst="flowChartProcess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 eaLnBrk="1" hangingPunct="1"/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P=P-&gt;</a:t>
            </a:r>
            <a:r>
              <a:rPr lang="en-US" altLang="zh-CN" sz="16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rchild</a:t>
            </a:r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endParaRPr lang="zh-CN" altLang="en-US" sz="16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679" name="AutoShape 7"/>
          <p:cNvSpPr>
            <a:spLocks noChangeArrowheads="1"/>
          </p:cNvSpPr>
          <p:nvPr/>
        </p:nvSpPr>
        <p:spPr bwMode="auto">
          <a:xfrm>
            <a:off x="1960562" y="4931569"/>
            <a:ext cx="1223962" cy="504825"/>
          </a:xfrm>
          <a:prstGeom prst="flowChartProcess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zh-CN" altLang="en-US" b="1" dirty="0">
                <a:ea typeface="宋体" panose="02010600030101010101" pitchFamily="2" charset="-122"/>
              </a:rPr>
              <a:t>查找成功</a:t>
            </a:r>
          </a:p>
          <a:p>
            <a:pPr algn="ctr"/>
            <a:r>
              <a:rPr lang="en-US" altLang="zh-CN" b="1" dirty="0">
                <a:ea typeface="宋体" panose="02010600030101010101" pitchFamily="2" charset="-122"/>
              </a:rPr>
              <a:t>return P</a:t>
            </a:r>
          </a:p>
        </p:txBody>
      </p:sp>
      <p:sp>
        <p:nvSpPr>
          <p:cNvPr id="28680" name="Line 8"/>
          <p:cNvSpPr>
            <a:spLocks noChangeShapeType="1"/>
          </p:cNvSpPr>
          <p:nvPr/>
        </p:nvSpPr>
        <p:spPr bwMode="auto">
          <a:xfrm flipH="1">
            <a:off x="1042986" y="4167188"/>
            <a:ext cx="461963" cy="708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81" name="Line 9"/>
          <p:cNvSpPr>
            <a:spLocks noChangeShapeType="1"/>
          </p:cNvSpPr>
          <p:nvPr/>
        </p:nvSpPr>
        <p:spPr bwMode="auto">
          <a:xfrm>
            <a:off x="2627312" y="4508501"/>
            <a:ext cx="1587" cy="3317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82" name="Line 10"/>
          <p:cNvSpPr>
            <a:spLocks noChangeShapeType="1"/>
          </p:cNvSpPr>
          <p:nvPr/>
        </p:nvSpPr>
        <p:spPr bwMode="auto">
          <a:xfrm>
            <a:off x="3779838" y="4190999"/>
            <a:ext cx="230186" cy="6842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83" name="Text Box 11"/>
          <p:cNvSpPr txBox="1">
            <a:spLocks noChangeArrowheads="1"/>
          </p:cNvSpPr>
          <p:nvPr/>
        </p:nvSpPr>
        <p:spPr bwMode="auto">
          <a:xfrm>
            <a:off x="827088" y="4364038"/>
            <a:ext cx="2889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&lt;</a:t>
            </a:r>
          </a:p>
        </p:txBody>
      </p:sp>
      <p:sp>
        <p:nvSpPr>
          <p:cNvPr id="28684" name="Text Box 12"/>
          <p:cNvSpPr txBox="1">
            <a:spLocks noChangeArrowheads="1"/>
          </p:cNvSpPr>
          <p:nvPr/>
        </p:nvSpPr>
        <p:spPr bwMode="auto">
          <a:xfrm>
            <a:off x="2268538" y="4508500"/>
            <a:ext cx="2889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=</a:t>
            </a:r>
          </a:p>
        </p:txBody>
      </p:sp>
      <p:sp>
        <p:nvSpPr>
          <p:cNvPr id="28685" name="Text Box 13"/>
          <p:cNvSpPr txBox="1">
            <a:spLocks noChangeArrowheads="1"/>
          </p:cNvSpPr>
          <p:nvPr/>
        </p:nvSpPr>
        <p:spPr bwMode="auto">
          <a:xfrm>
            <a:off x="3635375" y="4435475"/>
            <a:ext cx="2889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&gt;</a:t>
            </a:r>
          </a:p>
        </p:txBody>
      </p:sp>
      <p:sp>
        <p:nvSpPr>
          <p:cNvPr id="28691" name="Line 19"/>
          <p:cNvSpPr>
            <a:spLocks noChangeShapeType="1"/>
          </p:cNvSpPr>
          <p:nvPr/>
        </p:nvSpPr>
        <p:spPr bwMode="auto">
          <a:xfrm>
            <a:off x="2627313" y="5803900"/>
            <a:ext cx="0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92" name="Line 20"/>
          <p:cNvSpPr>
            <a:spLocks noChangeShapeType="1"/>
          </p:cNvSpPr>
          <p:nvPr/>
        </p:nvSpPr>
        <p:spPr bwMode="auto">
          <a:xfrm flipH="1">
            <a:off x="323850" y="6164263"/>
            <a:ext cx="2303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93" name="Line 21"/>
          <p:cNvSpPr>
            <a:spLocks noChangeShapeType="1"/>
          </p:cNvSpPr>
          <p:nvPr/>
        </p:nvSpPr>
        <p:spPr bwMode="auto">
          <a:xfrm>
            <a:off x="323850" y="2492375"/>
            <a:ext cx="0" cy="36718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94" name="AutoShape 22"/>
          <p:cNvSpPr>
            <a:spLocks noChangeArrowheads="1"/>
          </p:cNvSpPr>
          <p:nvPr/>
        </p:nvSpPr>
        <p:spPr bwMode="auto">
          <a:xfrm>
            <a:off x="1838325" y="2635250"/>
            <a:ext cx="1582738" cy="360363"/>
          </a:xfrm>
          <a:prstGeom prst="flowChartDecision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 b="1">
                <a:ea typeface="宋体" panose="02010600030101010101" pitchFamily="2" charset="-122"/>
              </a:rPr>
              <a:t>P!=NULL</a:t>
            </a:r>
            <a:endParaRPr lang="zh-CN" altLang="en-US" b="1">
              <a:ea typeface="宋体" panose="02010600030101010101" pitchFamily="2" charset="-122"/>
            </a:endParaRPr>
          </a:p>
        </p:txBody>
      </p:sp>
      <p:sp>
        <p:nvSpPr>
          <p:cNvPr id="28695" name="Line 23"/>
          <p:cNvSpPr>
            <a:spLocks noChangeShapeType="1"/>
          </p:cNvSpPr>
          <p:nvPr/>
        </p:nvSpPr>
        <p:spPr bwMode="auto">
          <a:xfrm flipH="1">
            <a:off x="2627313" y="2995613"/>
            <a:ext cx="1587" cy="793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96" name="Line 24"/>
          <p:cNvSpPr>
            <a:spLocks noChangeShapeType="1"/>
          </p:cNvSpPr>
          <p:nvPr/>
        </p:nvSpPr>
        <p:spPr bwMode="auto">
          <a:xfrm>
            <a:off x="323850" y="2492375"/>
            <a:ext cx="22320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97" name="Line 25"/>
          <p:cNvSpPr>
            <a:spLocks noChangeShapeType="1"/>
          </p:cNvSpPr>
          <p:nvPr/>
        </p:nvSpPr>
        <p:spPr bwMode="auto">
          <a:xfrm>
            <a:off x="2627313" y="1771650"/>
            <a:ext cx="0" cy="287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98" name="AutoShape 26"/>
          <p:cNvSpPr>
            <a:spLocks noChangeArrowheads="1"/>
          </p:cNvSpPr>
          <p:nvPr/>
        </p:nvSpPr>
        <p:spPr bwMode="auto">
          <a:xfrm>
            <a:off x="1692275" y="2060575"/>
            <a:ext cx="2016125" cy="215900"/>
          </a:xfrm>
          <a:prstGeom prst="flowChartProcess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 b="1">
                <a:ea typeface="宋体" panose="02010600030101010101" pitchFamily="2" charset="-122"/>
              </a:rPr>
              <a:t>P=T</a:t>
            </a:r>
            <a:endParaRPr lang="zh-CN" altLang="en-US" b="1">
              <a:ea typeface="宋体" panose="02010600030101010101" pitchFamily="2" charset="-122"/>
            </a:endParaRPr>
          </a:p>
        </p:txBody>
      </p:sp>
      <p:sp>
        <p:nvSpPr>
          <p:cNvPr id="28699" name="Line 27"/>
          <p:cNvSpPr>
            <a:spLocks noChangeShapeType="1"/>
          </p:cNvSpPr>
          <p:nvPr/>
        </p:nvSpPr>
        <p:spPr bwMode="auto">
          <a:xfrm>
            <a:off x="2627313" y="2276475"/>
            <a:ext cx="0" cy="358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00" name="Text Box 28"/>
          <p:cNvSpPr txBox="1">
            <a:spLocks noChangeArrowheads="1"/>
          </p:cNvSpPr>
          <p:nvPr/>
        </p:nvSpPr>
        <p:spPr bwMode="auto">
          <a:xfrm>
            <a:off x="2555875" y="2924175"/>
            <a:ext cx="2159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Y</a:t>
            </a:r>
          </a:p>
        </p:txBody>
      </p:sp>
      <p:sp>
        <p:nvSpPr>
          <p:cNvPr id="28701" name="Line 29"/>
          <p:cNvSpPr>
            <a:spLocks noChangeShapeType="1"/>
          </p:cNvSpPr>
          <p:nvPr/>
        </p:nvSpPr>
        <p:spPr bwMode="auto">
          <a:xfrm>
            <a:off x="3348038" y="2817813"/>
            <a:ext cx="5762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03" name="Text Box 31"/>
          <p:cNvSpPr txBox="1">
            <a:spLocks noChangeArrowheads="1"/>
          </p:cNvSpPr>
          <p:nvPr/>
        </p:nvSpPr>
        <p:spPr bwMode="auto">
          <a:xfrm>
            <a:off x="3492500" y="2492375"/>
            <a:ext cx="2159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N</a:t>
            </a:r>
          </a:p>
        </p:txBody>
      </p:sp>
      <p:sp>
        <p:nvSpPr>
          <p:cNvPr id="28704" name="AutoShape 32"/>
          <p:cNvSpPr>
            <a:spLocks noChangeArrowheads="1"/>
          </p:cNvSpPr>
          <p:nvPr/>
        </p:nvSpPr>
        <p:spPr bwMode="auto">
          <a:xfrm>
            <a:off x="2411413" y="1555750"/>
            <a:ext cx="431800" cy="287338"/>
          </a:xfrm>
          <a:prstGeom prst="flowChartConnector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endParaRPr lang="zh-CN" altLang="en-US"/>
          </a:p>
        </p:txBody>
      </p:sp>
      <p:sp>
        <p:nvSpPr>
          <p:cNvPr id="28706" name="Oval 34"/>
          <p:cNvSpPr>
            <a:spLocks noChangeArrowheads="1"/>
          </p:cNvSpPr>
          <p:nvPr/>
        </p:nvSpPr>
        <p:spPr bwMode="auto">
          <a:xfrm>
            <a:off x="1806575" y="4843463"/>
            <a:ext cx="1512888" cy="7207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endParaRPr lang="zh-CN" altLang="en-US"/>
          </a:p>
        </p:txBody>
      </p:sp>
      <p:sp>
        <p:nvSpPr>
          <p:cNvPr id="28707" name="Rectangle 35"/>
          <p:cNvSpPr>
            <a:spLocks noChangeArrowheads="1"/>
          </p:cNvSpPr>
          <p:nvPr/>
        </p:nvSpPr>
        <p:spPr bwMode="auto">
          <a:xfrm>
            <a:off x="5183188" y="1052513"/>
            <a:ext cx="3960812" cy="511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95300" indent="-4953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o"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查找的非递归算法：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000" dirty="0">
                <a:latin typeface="Times New Roman" panose="02020603050405020304" pitchFamily="18" charset="0"/>
              </a:rPr>
              <a:t>  其中，设置一个指针p，从根结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</a:t>
            </a:r>
            <a:r>
              <a:rPr lang="zh-CN" altLang="en-US" sz="2000" dirty="0">
                <a:latin typeface="Times New Roman" panose="02020603050405020304" pitchFamily="18" charset="0"/>
              </a:rPr>
              <a:t>点*T开始，依次跟踪指示查找中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</a:t>
            </a:r>
            <a:r>
              <a:rPr lang="zh-CN" altLang="en-US" sz="2000" dirty="0">
                <a:latin typeface="Times New Roman" panose="02020603050405020304" pitchFamily="18" charset="0"/>
              </a:rPr>
              <a:t>的结点。    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000" dirty="0">
                <a:latin typeface="Times New Roman" panose="02020603050405020304" pitchFamily="18" charset="0"/>
              </a:rPr>
              <a:t>  </a:t>
            </a:r>
            <a:r>
              <a:rPr lang="en-US" altLang="zh-CN" sz="20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bnode</a:t>
            </a:r>
            <a:r>
              <a:rPr lang="en-US" altLang="zh-CN" sz="2000" dirty="0">
                <a:latin typeface="Times New Roman" panose="02020603050405020304" pitchFamily="18" charset="0"/>
              </a:rPr>
              <a:t> *</a:t>
            </a:r>
            <a:r>
              <a:rPr lang="en-US" altLang="zh-CN" sz="2000" dirty="0" err="1">
                <a:latin typeface="Times New Roman" panose="02020603050405020304" pitchFamily="18" charset="0"/>
              </a:rPr>
              <a:t>bstsearch</a:t>
            </a:r>
            <a:r>
              <a:rPr lang="en-US" altLang="zh-CN" sz="2000" dirty="0">
                <a:latin typeface="Times New Roman" panose="02020603050405020304" pitchFamily="18" charset="0"/>
              </a:rPr>
              <a:t>(</a:t>
            </a:r>
            <a:r>
              <a:rPr lang="en-US" altLang="zh-CN" sz="20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bnode</a:t>
            </a:r>
            <a:r>
              <a:rPr lang="en-US" altLang="zh-CN" sz="2000" dirty="0">
                <a:latin typeface="Times New Roman" panose="02020603050405020304" pitchFamily="18" charset="0"/>
              </a:rPr>
              <a:t> *T</a:t>
            </a:r>
            <a:r>
              <a:rPr lang="zh-CN" altLang="en-US" sz="2000" dirty="0">
                <a:latin typeface="Times New Roman" panose="02020603050405020304" pitchFamily="18" charset="0"/>
              </a:rPr>
              <a:t>，           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000" dirty="0">
                <a:latin typeface="Times New Roman" panose="02020603050405020304" pitchFamily="18" charset="0"/>
              </a:rPr>
              <a:t>                           </a:t>
            </a:r>
            <a:r>
              <a:rPr lang="en-US" altLang="zh-CN" sz="20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elemenType</a:t>
            </a:r>
            <a:r>
              <a:rPr lang="en-US" altLang="zh-CN" sz="2000" dirty="0">
                <a:latin typeface="Times New Roman" panose="02020603050405020304" pitchFamily="18" charset="0"/>
              </a:rPr>
              <a:t> x) { 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  p=T;                               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  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while</a:t>
            </a:r>
            <a:r>
              <a:rPr lang="en-US" altLang="zh-CN" sz="2000" dirty="0">
                <a:latin typeface="Times New Roman" panose="02020603050405020304" pitchFamily="18" charset="0"/>
              </a:rPr>
              <a:t> ( p != NULL ) {                   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        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if</a:t>
            </a:r>
            <a:r>
              <a:rPr lang="en-US" altLang="zh-CN" sz="2000" dirty="0">
                <a:latin typeface="Times New Roman" panose="02020603050405020304" pitchFamily="18" charset="0"/>
              </a:rPr>
              <a:t> ( p </a:t>
            </a:r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</a:t>
            </a:r>
            <a:r>
              <a:rPr lang="en-US" altLang="zh-CN" sz="2000" dirty="0">
                <a:latin typeface="Times New Roman" panose="02020603050405020304" pitchFamily="18" charset="0"/>
              </a:rPr>
              <a:t> data = = x )             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             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return</a:t>
            </a:r>
            <a:r>
              <a:rPr lang="en-US" altLang="zh-CN" sz="2000" dirty="0">
                <a:latin typeface="Times New Roman" panose="02020603050405020304" pitchFamily="18" charset="0"/>
              </a:rPr>
              <a:t> p;                     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        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if</a:t>
            </a:r>
            <a:r>
              <a:rPr lang="en-US" altLang="zh-CN" sz="2000" dirty="0">
                <a:latin typeface="Times New Roman" panose="02020603050405020304" pitchFamily="18" charset="0"/>
              </a:rPr>
              <a:t> ( x &lt; p </a:t>
            </a:r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</a:t>
            </a:r>
            <a:r>
              <a:rPr lang="en-US" altLang="zh-CN" sz="2000" dirty="0">
                <a:latin typeface="Times New Roman" panose="02020603050405020304" pitchFamily="18" charset="0"/>
              </a:rPr>
              <a:t> data )               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             p = p </a:t>
            </a:r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</a:t>
            </a:r>
            <a:r>
              <a:rPr lang="en-US" altLang="zh-CN" sz="1600" dirty="0">
                <a:latin typeface="Times New Roman" panose="02020603050405020304" pitchFamily="18" charset="0"/>
              </a:rPr>
              <a:t> </a:t>
            </a:r>
            <a:r>
              <a:rPr lang="en-US" altLang="zh-CN" sz="2000" dirty="0" err="1">
                <a:latin typeface="Times New Roman" panose="02020603050405020304" pitchFamily="18" charset="0"/>
              </a:rPr>
              <a:t>lchild</a:t>
            </a:r>
            <a:r>
              <a:rPr lang="en-US" altLang="zh-CN" sz="2000" dirty="0">
                <a:latin typeface="Times New Roman" panose="02020603050405020304" pitchFamily="18" charset="0"/>
              </a:rPr>
              <a:t>;         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        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else</a:t>
            </a:r>
            <a:r>
              <a:rPr lang="en-US" altLang="zh-CN" sz="2000" dirty="0">
                <a:latin typeface="Times New Roman" panose="02020603050405020304" pitchFamily="18" charset="0"/>
              </a:rPr>
              <a:t>  p = p </a:t>
            </a:r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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 </a:t>
            </a:r>
            <a:r>
              <a:rPr lang="en-US" altLang="zh-CN" sz="2000" dirty="0" err="1">
                <a:latin typeface="Times New Roman" panose="02020603050405020304" pitchFamily="18" charset="0"/>
              </a:rPr>
              <a:t>rchild</a:t>
            </a:r>
            <a:r>
              <a:rPr lang="en-US" altLang="zh-CN" sz="2000" dirty="0">
                <a:latin typeface="Times New Roman" panose="02020603050405020304" pitchFamily="18" charset="0"/>
              </a:rPr>
              <a:t>;           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                                     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 }                                   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 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return</a:t>
            </a:r>
            <a:r>
              <a:rPr lang="en-US" altLang="zh-CN" sz="2000" dirty="0">
                <a:latin typeface="Times New Roman" panose="02020603050405020304" pitchFamily="18" charset="0"/>
              </a:rPr>
              <a:t> NULL;                           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}</a:t>
            </a:r>
            <a:r>
              <a:rPr lang="en-US" altLang="zh-CN" sz="1700" dirty="0">
                <a:latin typeface="Times New Roman" panose="02020603050405020304" pitchFamily="18" charset="0"/>
              </a:rPr>
              <a:t>                                       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35</a:t>
            </a:fld>
            <a:endParaRPr lang="zh-CN" altLang="en-US" dirty="0"/>
          </a:p>
        </p:txBody>
      </p:sp>
      <p:grpSp>
        <p:nvGrpSpPr>
          <p:cNvPr id="28672" name="组合 28671"/>
          <p:cNvGrpSpPr/>
          <p:nvPr/>
        </p:nvGrpSpPr>
        <p:grpSpPr>
          <a:xfrm>
            <a:off x="1145278" y="5373688"/>
            <a:ext cx="2634560" cy="472882"/>
            <a:chOff x="1145278" y="5373688"/>
            <a:chExt cx="2634560" cy="472882"/>
          </a:xfrm>
        </p:grpSpPr>
        <p:cxnSp>
          <p:nvCxnSpPr>
            <p:cNvPr id="10" name="直接连接符 9"/>
            <p:cNvCxnSpPr/>
            <p:nvPr/>
          </p:nvCxnSpPr>
          <p:spPr>
            <a:xfrm>
              <a:off x="2627312" y="5803900"/>
              <a:ext cx="115252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>
              <a:stCxn id="28691" idx="0"/>
            </p:cNvCxnSpPr>
            <p:nvPr/>
          </p:nvCxnSpPr>
          <p:spPr>
            <a:xfrm flipH="1">
              <a:off x="1145278" y="5803900"/>
              <a:ext cx="148203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flipV="1">
              <a:off x="3779838" y="5373688"/>
              <a:ext cx="0" cy="43021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/>
          </p:nvCxnSpPr>
          <p:spPr>
            <a:xfrm flipV="1">
              <a:off x="1145278" y="5373688"/>
              <a:ext cx="0" cy="43021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 flipV="1">
              <a:off x="2627312" y="5560857"/>
              <a:ext cx="472" cy="28571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705" name="Oval 33"/>
          <p:cNvSpPr>
            <a:spLocks noChangeArrowheads="1"/>
          </p:cNvSpPr>
          <p:nvPr/>
        </p:nvSpPr>
        <p:spPr bwMode="auto">
          <a:xfrm>
            <a:off x="3924301" y="2563813"/>
            <a:ext cx="1006476" cy="57785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endParaRPr lang="zh-CN" altLang="en-US"/>
          </a:p>
        </p:txBody>
      </p:sp>
      <p:sp>
        <p:nvSpPr>
          <p:cNvPr id="28702" name="AutoShape 30"/>
          <p:cNvSpPr>
            <a:spLocks noChangeArrowheads="1"/>
          </p:cNvSpPr>
          <p:nvPr/>
        </p:nvSpPr>
        <p:spPr bwMode="auto">
          <a:xfrm>
            <a:off x="3852093" y="2708275"/>
            <a:ext cx="1223963" cy="215900"/>
          </a:xfrm>
          <a:prstGeom prst="flowChartProcess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return </a:t>
            </a:r>
          </a:p>
          <a:p>
            <a:pPr algn="ctr"/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NULL</a:t>
            </a:r>
            <a:endParaRPr lang="en-US" altLang="zh-CN" sz="1600" b="1" dirty="0">
              <a:ea typeface="宋体" panose="02010600030101010101" pitchFamily="2" charset="-122"/>
            </a:endParaRPr>
          </a:p>
        </p:txBody>
      </p:sp>
      <p:grpSp>
        <p:nvGrpSpPr>
          <p:cNvPr id="72" name="组合 114"/>
          <p:cNvGrpSpPr/>
          <p:nvPr/>
        </p:nvGrpSpPr>
        <p:grpSpPr>
          <a:xfrm>
            <a:off x="-396552" y="76388"/>
            <a:ext cx="6775654" cy="679510"/>
            <a:chOff x="-99459" y="3320919"/>
            <a:chExt cx="7301815" cy="722576"/>
          </a:xfrm>
        </p:grpSpPr>
        <p:grpSp>
          <p:nvGrpSpPr>
            <p:cNvPr id="73" name="组合 105"/>
            <p:cNvGrpSpPr/>
            <p:nvPr/>
          </p:nvGrpSpPr>
          <p:grpSpPr>
            <a:xfrm>
              <a:off x="-99459" y="3320919"/>
              <a:ext cx="7301815" cy="722576"/>
              <a:chOff x="-99459" y="3320919"/>
              <a:chExt cx="7301815" cy="722576"/>
            </a:xfrm>
          </p:grpSpPr>
          <p:sp>
            <p:nvSpPr>
              <p:cNvPr id="75" name="Freeform 5"/>
              <p:cNvSpPr>
                <a:spLocks/>
              </p:cNvSpPr>
              <p:nvPr/>
            </p:nvSpPr>
            <p:spPr bwMode="auto">
              <a:xfrm>
                <a:off x="933887" y="3380765"/>
                <a:ext cx="801702" cy="662730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EA6103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  <p:sp>
            <p:nvSpPr>
              <p:cNvPr id="76" name="TextBox 6"/>
              <p:cNvSpPr txBox="1">
                <a:spLocks noChangeArrowheads="1"/>
              </p:cNvSpPr>
              <p:nvPr/>
            </p:nvSpPr>
            <p:spPr bwMode="auto">
              <a:xfrm>
                <a:off x="-99459" y="3320919"/>
                <a:ext cx="7301815" cy="687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10.3 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树表的查找</a:t>
                </a:r>
              </a:p>
            </p:txBody>
          </p:sp>
        </p:grpSp>
        <p:pic>
          <p:nvPicPr>
            <p:cNvPr id="74" name="图片 73" descr="12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5929" y="3530600"/>
              <a:ext cx="446172" cy="4310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92309211"/>
      </p:ext>
    </p:extLst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8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8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8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8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8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8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8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8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8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8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8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28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28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28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28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28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28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28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28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28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28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28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0" dur="500"/>
                                        <p:tgtEl>
                                          <p:spTgt spid="28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5" dur="500"/>
                                        <p:tgtEl>
                                          <p:spTgt spid="28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8" dur="500"/>
                                        <p:tgtEl>
                                          <p:spTgt spid="28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 nodeType="clickPar">
                      <p:stCondLst>
                        <p:cond delay="indefinite"/>
                      </p:stCondLst>
                      <p:childTnLst>
                        <p:par>
                          <p:cTn id="1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6" grpId="0" animBg="1" autoUpdateAnimBg="0"/>
      <p:bldP spid="28677" grpId="0" animBg="1" autoUpdateAnimBg="0"/>
      <p:bldP spid="28678" grpId="0" animBg="1" autoUpdateAnimBg="0"/>
      <p:bldP spid="28679" grpId="0" autoUpdateAnimBg="0"/>
      <p:bldP spid="28683" grpId="0" autoUpdateAnimBg="0"/>
      <p:bldP spid="28684" grpId="0" autoUpdateAnimBg="0"/>
      <p:bldP spid="28685" grpId="0" autoUpdateAnimBg="0"/>
      <p:bldP spid="28694" grpId="0" animBg="1" autoUpdateAnimBg="0"/>
      <p:bldP spid="28698" grpId="0" animBg="1" autoUpdateAnimBg="0"/>
      <p:bldP spid="28700" grpId="0" autoUpdateAnimBg="0"/>
      <p:bldP spid="28703" grpId="0" autoUpdateAnimBg="0"/>
      <p:bldP spid="28704" grpId="0" animBg="1"/>
      <p:bldP spid="28706" grpId="0" animBg="1"/>
      <p:bldP spid="28707" grpId="0" build="p" autoUpdateAnimBg="0"/>
      <p:bldP spid="28705" grpId="0" animBg="1"/>
      <p:bldP spid="28702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6" name="Line 3"/>
          <p:cNvSpPr>
            <a:spLocks noChangeShapeType="1"/>
          </p:cNvSpPr>
          <p:nvPr/>
        </p:nvSpPr>
        <p:spPr bwMode="auto">
          <a:xfrm>
            <a:off x="4643438" y="1125538"/>
            <a:ext cx="0" cy="5040312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00" name="Rectangle 4"/>
          <p:cNvSpPr>
            <a:spLocks noChangeArrowheads="1"/>
          </p:cNvSpPr>
          <p:nvPr/>
        </p:nvSpPr>
        <p:spPr bwMode="auto">
          <a:xfrm>
            <a:off x="4716463" y="1125538"/>
            <a:ext cx="3960812" cy="511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95300" indent="-4953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o"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查找的递归算法</a:t>
            </a:r>
            <a:endParaRPr lang="zh-CN" altLang="en-US" sz="2800" b="1" dirty="0">
              <a:solidFill>
                <a:srgbClr val="CC6600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000" dirty="0">
                <a:latin typeface="Times New Roman" panose="02020603050405020304" pitchFamily="18" charset="0"/>
              </a:rPr>
              <a:t>    在以T为根指针的二叉排序树中，查找值为x的结点。 </a:t>
            </a:r>
          </a:p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000" dirty="0">
                <a:latin typeface="Times New Roman" panose="02020603050405020304" pitchFamily="18" charset="0"/>
              </a:rPr>
              <a:t>    </a:t>
            </a:r>
            <a:r>
              <a:rPr lang="en-US" altLang="zh-CN" sz="20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bnode</a:t>
            </a:r>
            <a:r>
              <a:rPr lang="en-US" altLang="zh-CN" sz="2000" dirty="0">
                <a:latin typeface="Times New Roman" panose="02020603050405020304" pitchFamily="18" charset="0"/>
              </a:rPr>
              <a:t> *</a:t>
            </a:r>
            <a:r>
              <a:rPr lang="en-US" altLang="zh-CN" sz="2000" dirty="0" err="1">
                <a:latin typeface="Times New Roman" panose="02020603050405020304" pitchFamily="18" charset="0"/>
              </a:rPr>
              <a:t>bstsearch</a:t>
            </a:r>
            <a:r>
              <a:rPr lang="en-US" altLang="zh-CN" sz="2000" dirty="0">
                <a:latin typeface="Times New Roman" panose="02020603050405020304" pitchFamily="18" charset="0"/>
              </a:rPr>
              <a:t>(</a:t>
            </a:r>
            <a:r>
              <a:rPr lang="en-US" altLang="zh-CN" sz="20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bnode</a:t>
            </a:r>
            <a:r>
              <a:rPr lang="en-US" altLang="zh-CN" sz="2000" dirty="0">
                <a:latin typeface="Times New Roman" panose="02020603050405020304" pitchFamily="18" charset="0"/>
              </a:rPr>
              <a:t> *T,</a:t>
            </a:r>
          </a:p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                   </a:t>
            </a:r>
            <a:r>
              <a:rPr lang="en-US" altLang="zh-CN" sz="20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elemenType</a:t>
            </a:r>
            <a:r>
              <a:rPr lang="en-US" altLang="zh-CN" sz="2000" dirty="0">
                <a:latin typeface="Times New Roman" panose="02020603050405020304" pitchFamily="18" charset="0"/>
              </a:rPr>
              <a:t> x) {     </a:t>
            </a:r>
          </a:p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if</a:t>
            </a:r>
            <a:r>
              <a:rPr lang="en-US" altLang="zh-CN" sz="2000" dirty="0">
                <a:latin typeface="Times New Roman" panose="02020603050405020304" pitchFamily="18" charset="0"/>
              </a:rPr>
              <a:t> ( T == NULL )    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return</a:t>
            </a:r>
            <a:r>
              <a:rPr lang="en-US" altLang="zh-CN" sz="2000" dirty="0">
                <a:latin typeface="Times New Roman" panose="02020603050405020304" pitchFamily="18" charset="0"/>
              </a:rPr>
              <a:t> T;                                  </a:t>
            </a:r>
          </a:p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if</a:t>
            </a:r>
            <a:r>
              <a:rPr lang="en-US" altLang="zh-CN" sz="2000" dirty="0">
                <a:latin typeface="Times New Roman" panose="02020603050405020304" pitchFamily="18" charset="0"/>
              </a:rPr>
              <a:t> (T </a:t>
            </a:r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</a:t>
            </a:r>
            <a:r>
              <a:rPr lang="en-US" altLang="zh-CN" sz="2000" dirty="0">
                <a:latin typeface="Times New Roman" panose="02020603050405020304" pitchFamily="18" charset="0"/>
              </a:rPr>
              <a:t> data == x )  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return</a:t>
            </a:r>
            <a:r>
              <a:rPr lang="en-US" altLang="zh-CN" sz="2000" dirty="0">
                <a:latin typeface="Times New Roman" panose="02020603050405020304" pitchFamily="18" charset="0"/>
              </a:rPr>
              <a:t> T;                      </a:t>
            </a:r>
          </a:p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if</a:t>
            </a:r>
            <a:r>
              <a:rPr lang="en-US" altLang="zh-CN" sz="2000" dirty="0">
                <a:latin typeface="Times New Roman" panose="02020603050405020304" pitchFamily="18" charset="0"/>
              </a:rPr>
              <a:t> (x &lt; T </a:t>
            </a:r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</a:t>
            </a:r>
            <a:r>
              <a:rPr lang="en-US" altLang="zh-CN" sz="2000" dirty="0">
                <a:latin typeface="Times New Roman" panose="02020603050405020304" pitchFamily="18" charset="0"/>
              </a:rPr>
              <a:t> data)                         </a:t>
            </a:r>
          </a:p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   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return</a:t>
            </a:r>
            <a:r>
              <a:rPr lang="en-US" altLang="zh-CN" sz="2000" dirty="0">
                <a:latin typeface="Times New Roman" panose="02020603050405020304" pitchFamily="18" charset="0"/>
              </a:rPr>
              <a:t> </a:t>
            </a:r>
            <a:r>
              <a:rPr lang="en-US" altLang="zh-CN" sz="20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bstsearch</a:t>
            </a:r>
            <a:r>
              <a:rPr lang="en-US" altLang="zh-CN" sz="2000" dirty="0">
                <a:latin typeface="Times New Roman" panose="02020603050405020304" pitchFamily="18" charset="0"/>
              </a:rPr>
              <a:t>(T </a:t>
            </a:r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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 </a:t>
            </a:r>
            <a:r>
              <a:rPr lang="en-US" altLang="zh-CN" sz="2000" dirty="0" err="1">
                <a:latin typeface="Times New Roman" panose="02020603050405020304" pitchFamily="18" charset="0"/>
              </a:rPr>
              <a:t>lchild,x</a:t>
            </a:r>
            <a:r>
              <a:rPr lang="en-US" altLang="zh-CN" sz="2000" dirty="0">
                <a:latin typeface="Times New Roman" panose="02020603050405020304" pitchFamily="18" charset="0"/>
              </a:rPr>
              <a:t>);           </a:t>
            </a:r>
          </a:p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else</a:t>
            </a:r>
            <a:r>
              <a:rPr lang="en-US" altLang="zh-CN" sz="2000" dirty="0"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   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return</a:t>
            </a:r>
            <a:r>
              <a:rPr lang="en-US" altLang="zh-CN" sz="2000" dirty="0">
                <a:latin typeface="Times New Roman" panose="02020603050405020304" pitchFamily="18" charset="0"/>
              </a:rPr>
              <a:t> </a:t>
            </a:r>
            <a:r>
              <a:rPr lang="en-US" altLang="zh-CN" sz="20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bstsearch</a:t>
            </a:r>
            <a:r>
              <a:rPr lang="en-US" altLang="zh-CN" sz="2000" dirty="0">
                <a:latin typeface="Times New Roman" panose="02020603050405020304" pitchFamily="18" charset="0"/>
              </a:rPr>
              <a:t>(T</a:t>
            </a:r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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 </a:t>
            </a:r>
            <a:r>
              <a:rPr lang="en-US" altLang="zh-CN" sz="2000" dirty="0" err="1">
                <a:latin typeface="Times New Roman" panose="02020603050405020304" pitchFamily="18" charset="0"/>
              </a:rPr>
              <a:t>rchild,x</a:t>
            </a:r>
            <a:r>
              <a:rPr lang="en-US" altLang="zh-CN" sz="2000" dirty="0">
                <a:latin typeface="Times New Roman" panose="02020603050405020304" pitchFamily="18" charset="0"/>
              </a:rPr>
              <a:t>); </a:t>
            </a:r>
          </a:p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}                                   </a:t>
            </a:r>
          </a:p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                                                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36</a:t>
            </a:fld>
            <a:endParaRPr lang="zh-CN" altLang="en-US" dirty="0"/>
          </a:p>
        </p:txBody>
      </p:sp>
      <p:grpSp>
        <p:nvGrpSpPr>
          <p:cNvPr id="38" name="组合 114"/>
          <p:cNvGrpSpPr/>
          <p:nvPr/>
        </p:nvGrpSpPr>
        <p:grpSpPr>
          <a:xfrm>
            <a:off x="-371901" y="115792"/>
            <a:ext cx="6775654" cy="646307"/>
            <a:chOff x="-72894" y="3362822"/>
            <a:chExt cx="7301815" cy="687269"/>
          </a:xfrm>
        </p:grpSpPr>
        <p:grpSp>
          <p:nvGrpSpPr>
            <p:cNvPr id="39" name="组合 105"/>
            <p:cNvGrpSpPr/>
            <p:nvPr/>
          </p:nvGrpSpPr>
          <p:grpSpPr>
            <a:xfrm>
              <a:off x="-72894" y="3362822"/>
              <a:ext cx="7301815" cy="687269"/>
              <a:chOff x="-72894" y="3362822"/>
              <a:chExt cx="7301815" cy="687269"/>
            </a:xfrm>
          </p:grpSpPr>
          <p:sp>
            <p:nvSpPr>
              <p:cNvPr id="41" name="Freeform 5"/>
              <p:cNvSpPr>
                <a:spLocks/>
              </p:cNvSpPr>
              <p:nvPr/>
            </p:nvSpPr>
            <p:spPr bwMode="auto">
              <a:xfrm>
                <a:off x="933887" y="3380765"/>
                <a:ext cx="801702" cy="662730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EA6103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  <p:sp>
            <p:nvSpPr>
              <p:cNvPr id="42" name="TextBox 6"/>
              <p:cNvSpPr txBox="1">
                <a:spLocks noChangeArrowheads="1"/>
              </p:cNvSpPr>
              <p:nvPr/>
            </p:nvSpPr>
            <p:spPr bwMode="auto">
              <a:xfrm>
                <a:off x="-72894" y="3362822"/>
                <a:ext cx="7301815" cy="687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10.3 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树表的查找</a:t>
                </a:r>
              </a:p>
            </p:txBody>
          </p:sp>
        </p:grpSp>
        <p:pic>
          <p:nvPicPr>
            <p:cNvPr id="40" name="图片 39" descr="12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5929" y="3530600"/>
              <a:ext cx="446172" cy="431048"/>
            </a:xfrm>
            <a:prstGeom prst="rect">
              <a:avLst/>
            </a:prstGeom>
          </p:spPr>
        </p:pic>
      </p:grpSp>
      <p:sp>
        <p:nvSpPr>
          <p:cNvPr id="4" name="矩形 3"/>
          <p:cNvSpPr/>
          <p:nvPr/>
        </p:nvSpPr>
        <p:spPr>
          <a:xfrm>
            <a:off x="323850" y="993806"/>
            <a:ext cx="350769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/>
              <a:t>二分查找算法的流程图</a:t>
            </a:r>
          </a:p>
        </p:txBody>
      </p:sp>
      <p:sp>
        <p:nvSpPr>
          <p:cNvPr id="44" name="Oval 33"/>
          <p:cNvSpPr>
            <a:spLocks noChangeArrowheads="1"/>
          </p:cNvSpPr>
          <p:nvPr/>
        </p:nvSpPr>
        <p:spPr bwMode="auto">
          <a:xfrm>
            <a:off x="3755703" y="2479806"/>
            <a:ext cx="869948" cy="57785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endParaRPr lang="zh-CN" altLang="en-US"/>
          </a:p>
        </p:txBody>
      </p:sp>
      <p:sp>
        <p:nvSpPr>
          <p:cNvPr id="45" name="AutoShape 4"/>
          <p:cNvSpPr>
            <a:spLocks noChangeArrowheads="1"/>
          </p:cNvSpPr>
          <p:nvPr/>
        </p:nvSpPr>
        <p:spPr bwMode="auto">
          <a:xfrm>
            <a:off x="1307777" y="3776793"/>
            <a:ext cx="2303463" cy="647700"/>
          </a:xfrm>
          <a:prstGeom prst="flowChartDecision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～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 </a:t>
            </a:r>
            <a:r>
              <a:rPr lang="en-US" altLang="zh-CN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data.key</a:t>
            </a:r>
            <a:endParaRPr lang="zh-CN" altLang="en-US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6" name="AutoShape 5"/>
          <p:cNvSpPr>
            <a:spLocks noChangeArrowheads="1"/>
          </p:cNvSpPr>
          <p:nvPr/>
        </p:nvSpPr>
        <p:spPr bwMode="auto">
          <a:xfrm>
            <a:off x="322486" y="4784856"/>
            <a:ext cx="1223962" cy="504825"/>
          </a:xfrm>
          <a:prstGeom prst="flowChartProcess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 eaLnBrk="1" hangingPunct="1"/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P=P-&gt;</a:t>
            </a:r>
            <a:r>
              <a:rPr lang="en-US" altLang="zh-CN" sz="16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lchild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endParaRPr lang="zh-CN" altLang="en-US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7" name="AutoShape 6"/>
          <p:cNvSpPr>
            <a:spLocks noChangeArrowheads="1"/>
          </p:cNvSpPr>
          <p:nvPr/>
        </p:nvSpPr>
        <p:spPr bwMode="auto">
          <a:xfrm>
            <a:off x="3230240" y="4784856"/>
            <a:ext cx="1223962" cy="504825"/>
          </a:xfrm>
          <a:prstGeom prst="flowChartProcess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 eaLnBrk="1" hangingPunct="1"/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P=P-&gt;</a:t>
            </a:r>
            <a:r>
              <a:rPr lang="en-US" altLang="zh-CN" sz="16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rchild</a:t>
            </a:r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endParaRPr lang="zh-CN" altLang="en-US" sz="16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" name="AutoShape 7"/>
          <p:cNvSpPr>
            <a:spLocks noChangeArrowheads="1"/>
          </p:cNvSpPr>
          <p:nvPr/>
        </p:nvSpPr>
        <p:spPr bwMode="auto">
          <a:xfrm>
            <a:off x="1791964" y="4847562"/>
            <a:ext cx="1223962" cy="504825"/>
          </a:xfrm>
          <a:prstGeom prst="flowChartProcess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zh-CN" altLang="en-US" b="1" dirty="0">
                <a:ea typeface="宋体" panose="02010600030101010101" pitchFamily="2" charset="-122"/>
              </a:rPr>
              <a:t>查找成功</a:t>
            </a:r>
          </a:p>
          <a:p>
            <a:pPr algn="ctr"/>
            <a:r>
              <a:rPr lang="en-US" altLang="zh-CN" b="1" dirty="0">
                <a:ea typeface="宋体" panose="02010600030101010101" pitchFamily="2" charset="-122"/>
              </a:rPr>
              <a:t>return P</a:t>
            </a:r>
          </a:p>
        </p:txBody>
      </p:sp>
      <p:sp>
        <p:nvSpPr>
          <p:cNvPr id="49" name="Line 8"/>
          <p:cNvSpPr>
            <a:spLocks noChangeShapeType="1"/>
          </p:cNvSpPr>
          <p:nvPr/>
        </p:nvSpPr>
        <p:spPr bwMode="auto">
          <a:xfrm flipH="1">
            <a:off x="874388" y="4083181"/>
            <a:ext cx="461963" cy="708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" name="Line 9"/>
          <p:cNvSpPr>
            <a:spLocks noChangeShapeType="1"/>
          </p:cNvSpPr>
          <p:nvPr/>
        </p:nvSpPr>
        <p:spPr bwMode="auto">
          <a:xfrm>
            <a:off x="2458714" y="4424494"/>
            <a:ext cx="1587" cy="3317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" name="Line 10"/>
          <p:cNvSpPr>
            <a:spLocks noChangeShapeType="1"/>
          </p:cNvSpPr>
          <p:nvPr/>
        </p:nvSpPr>
        <p:spPr bwMode="auto">
          <a:xfrm>
            <a:off x="3611240" y="4106992"/>
            <a:ext cx="230186" cy="6842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" name="Text Box 11"/>
          <p:cNvSpPr txBox="1">
            <a:spLocks noChangeArrowheads="1"/>
          </p:cNvSpPr>
          <p:nvPr/>
        </p:nvSpPr>
        <p:spPr bwMode="auto">
          <a:xfrm>
            <a:off x="658490" y="4280031"/>
            <a:ext cx="2889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&lt;</a:t>
            </a:r>
          </a:p>
        </p:txBody>
      </p:sp>
      <p:sp>
        <p:nvSpPr>
          <p:cNvPr id="53" name="Text Box 12"/>
          <p:cNvSpPr txBox="1">
            <a:spLocks noChangeArrowheads="1"/>
          </p:cNvSpPr>
          <p:nvPr/>
        </p:nvSpPr>
        <p:spPr bwMode="auto">
          <a:xfrm>
            <a:off x="2099940" y="4424493"/>
            <a:ext cx="2889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=</a:t>
            </a:r>
          </a:p>
        </p:txBody>
      </p:sp>
      <p:sp>
        <p:nvSpPr>
          <p:cNvPr id="54" name="Text Box 13"/>
          <p:cNvSpPr txBox="1">
            <a:spLocks noChangeArrowheads="1"/>
          </p:cNvSpPr>
          <p:nvPr/>
        </p:nvSpPr>
        <p:spPr bwMode="auto">
          <a:xfrm>
            <a:off x="3466777" y="4351468"/>
            <a:ext cx="2889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&gt;</a:t>
            </a:r>
          </a:p>
        </p:txBody>
      </p:sp>
      <p:sp>
        <p:nvSpPr>
          <p:cNvPr id="55" name="Line 19"/>
          <p:cNvSpPr>
            <a:spLocks noChangeShapeType="1"/>
          </p:cNvSpPr>
          <p:nvPr/>
        </p:nvSpPr>
        <p:spPr bwMode="auto">
          <a:xfrm>
            <a:off x="2458715" y="5719893"/>
            <a:ext cx="0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" name="Line 20"/>
          <p:cNvSpPr>
            <a:spLocks noChangeShapeType="1"/>
          </p:cNvSpPr>
          <p:nvPr/>
        </p:nvSpPr>
        <p:spPr bwMode="auto">
          <a:xfrm flipH="1">
            <a:off x="155252" y="6080256"/>
            <a:ext cx="2303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" name="Line 21"/>
          <p:cNvSpPr>
            <a:spLocks noChangeShapeType="1"/>
          </p:cNvSpPr>
          <p:nvPr/>
        </p:nvSpPr>
        <p:spPr bwMode="auto">
          <a:xfrm>
            <a:off x="155252" y="2408368"/>
            <a:ext cx="0" cy="36718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" name="AutoShape 22"/>
          <p:cNvSpPr>
            <a:spLocks noChangeArrowheads="1"/>
          </p:cNvSpPr>
          <p:nvPr/>
        </p:nvSpPr>
        <p:spPr bwMode="auto">
          <a:xfrm>
            <a:off x="1669727" y="2551243"/>
            <a:ext cx="1534121" cy="360363"/>
          </a:xfrm>
          <a:prstGeom prst="flowChartDecision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 sz="1600" b="1" dirty="0">
                <a:ea typeface="宋体" panose="02010600030101010101" pitchFamily="2" charset="-122"/>
              </a:rPr>
              <a:t>P!=NULL</a:t>
            </a:r>
            <a:endParaRPr lang="zh-CN" altLang="en-US" sz="1600" b="1" dirty="0">
              <a:ea typeface="宋体" panose="02010600030101010101" pitchFamily="2" charset="-122"/>
            </a:endParaRPr>
          </a:p>
        </p:txBody>
      </p:sp>
      <p:sp>
        <p:nvSpPr>
          <p:cNvPr id="59" name="Line 23"/>
          <p:cNvSpPr>
            <a:spLocks noChangeShapeType="1"/>
          </p:cNvSpPr>
          <p:nvPr/>
        </p:nvSpPr>
        <p:spPr bwMode="auto">
          <a:xfrm flipH="1">
            <a:off x="2458715" y="2911606"/>
            <a:ext cx="1587" cy="793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" name="Line 24"/>
          <p:cNvSpPr>
            <a:spLocks noChangeShapeType="1"/>
          </p:cNvSpPr>
          <p:nvPr/>
        </p:nvSpPr>
        <p:spPr bwMode="auto">
          <a:xfrm>
            <a:off x="155252" y="2408368"/>
            <a:ext cx="22320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" name="Line 25"/>
          <p:cNvSpPr>
            <a:spLocks noChangeShapeType="1"/>
          </p:cNvSpPr>
          <p:nvPr/>
        </p:nvSpPr>
        <p:spPr bwMode="auto">
          <a:xfrm>
            <a:off x="2458715" y="1687643"/>
            <a:ext cx="0" cy="287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" name="AutoShape 26"/>
          <p:cNvSpPr>
            <a:spLocks noChangeArrowheads="1"/>
          </p:cNvSpPr>
          <p:nvPr/>
        </p:nvSpPr>
        <p:spPr bwMode="auto">
          <a:xfrm>
            <a:off x="1523677" y="1976568"/>
            <a:ext cx="2016125" cy="215900"/>
          </a:xfrm>
          <a:prstGeom prst="flowChartProcess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 b="1">
                <a:ea typeface="宋体" panose="02010600030101010101" pitchFamily="2" charset="-122"/>
              </a:rPr>
              <a:t>P=T</a:t>
            </a:r>
            <a:endParaRPr lang="zh-CN" altLang="en-US" b="1">
              <a:ea typeface="宋体" panose="02010600030101010101" pitchFamily="2" charset="-122"/>
            </a:endParaRPr>
          </a:p>
        </p:txBody>
      </p:sp>
      <p:sp>
        <p:nvSpPr>
          <p:cNvPr id="63" name="Line 27"/>
          <p:cNvSpPr>
            <a:spLocks noChangeShapeType="1"/>
          </p:cNvSpPr>
          <p:nvPr/>
        </p:nvSpPr>
        <p:spPr bwMode="auto">
          <a:xfrm>
            <a:off x="2458715" y="2192468"/>
            <a:ext cx="0" cy="358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" name="Text Box 28"/>
          <p:cNvSpPr txBox="1">
            <a:spLocks noChangeArrowheads="1"/>
          </p:cNvSpPr>
          <p:nvPr/>
        </p:nvSpPr>
        <p:spPr bwMode="auto">
          <a:xfrm>
            <a:off x="2387277" y="2840168"/>
            <a:ext cx="2159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Y</a:t>
            </a:r>
          </a:p>
        </p:txBody>
      </p:sp>
      <p:sp>
        <p:nvSpPr>
          <p:cNvPr id="65" name="Line 29"/>
          <p:cNvSpPr>
            <a:spLocks noChangeShapeType="1"/>
          </p:cNvSpPr>
          <p:nvPr/>
        </p:nvSpPr>
        <p:spPr bwMode="auto">
          <a:xfrm>
            <a:off x="3184202" y="2733806"/>
            <a:ext cx="5762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" name="AutoShape 30"/>
          <p:cNvSpPr>
            <a:spLocks noChangeArrowheads="1"/>
          </p:cNvSpPr>
          <p:nvPr/>
        </p:nvSpPr>
        <p:spPr bwMode="auto">
          <a:xfrm>
            <a:off x="3755331" y="2624268"/>
            <a:ext cx="888108" cy="204388"/>
          </a:xfrm>
          <a:prstGeom prst="flowChartProcess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return </a:t>
            </a:r>
          </a:p>
          <a:p>
            <a:pPr algn="ctr"/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NULL</a:t>
            </a:r>
            <a:endParaRPr lang="en-US" altLang="zh-CN" sz="1600" b="1" dirty="0">
              <a:ea typeface="宋体" panose="02010600030101010101" pitchFamily="2" charset="-122"/>
            </a:endParaRPr>
          </a:p>
        </p:txBody>
      </p:sp>
      <p:sp>
        <p:nvSpPr>
          <p:cNvPr id="67" name="Text Box 31"/>
          <p:cNvSpPr txBox="1">
            <a:spLocks noChangeArrowheads="1"/>
          </p:cNvSpPr>
          <p:nvPr/>
        </p:nvSpPr>
        <p:spPr bwMode="auto">
          <a:xfrm>
            <a:off x="3323902" y="2408368"/>
            <a:ext cx="2159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N</a:t>
            </a:r>
          </a:p>
        </p:txBody>
      </p:sp>
      <p:sp>
        <p:nvSpPr>
          <p:cNvPr id="68" name="AutoShape 32"/>
          <p:cNvSpPr>
            <a:spLocks noChangeArrowheads="1"/>
          </p:cNvSpPr>
          <p:nvPr/>
        </p:nvSpPr>
        <p:spPr bwMode="auto">
          <a:xfrm>
            <a:off x="2242815" y="1471743"/>
            <a:ext cx="431800" cy="287338"/>
          </a:xfrm>
          <a:prstGeom prst="flowChartConnector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endParaRPr lang="zh-CN" altLang="en-US"/>
          </a:p>
        </p:txBody>
      </p:sp>
      <p:sp>
        <p:nvSpPr>
          <p:cNvPr id="69" name="Oval 34"/>
          <p:cNvSpPr>
            <a:spLocks noChangeArrowheads="1"/>
          </p:cNvSpPr>
          <p:nvPr/>
        </p:nvSpPr>
        <p:spPr bwMode="auto">
          <a:xfrm>
            <a:off x="1637977" y="4759456"/>
            <a:ext cx="1512888" cy="7207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endParaRPr lang="zh-CN" altLang="en-US"/>
          </a:p>
        </p:txBody>
      </p:sp>
      <p:grpSp>
        <p:nvGrpSpPr>
          <p:cNvPr id="70" name="组合 69"/>
          <p:cNvGrpSpPr/>
          <p:nvPr/>
        </p:nvGrpSpPr>
        <p:grpSpPr>
          <a:xfrm>
            <a:off x="976680" y="5289681"/>
            <a:ext cx="2634560" cy="472882"/>
            <a:chOff x="1145278" y="5373688"/>
            <a:chExt cx="2634560" cy="472882"/>
          </a:xfrm>
        </p:grpSpPr>
        <p:cxnSp>
          <p:nvCxnSpPr>
            <p:cNvPr id="71" name="直接连接符 70"/>
            <p:cNvCxnSpPr/>
            <p:nvPr/>
          </p:nvCxnSpPr>
          <p:spPr>
            <a:xfrm>
              <a:off x="2627312" y="5803900"/>
              <a:ext cx="115252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/>
            <p:cNvCxnSpPr/>
            <p:nvPr/>
          </p:nvCxnSpPr>
          <p:spPr>
            <a:xfrm flipH="1">
              <a:off x="1155091" y="5809643"/>
              <a:ext cx="148203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/>
            <p:nvPr/>
          </p:nvCxnSpPr>
          <p:spPr>
            <a:xfrm flipV="1">
              <a:off x="3779838" y="5373688"/>
              <a:ext cx="0" cy="43021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>
            <a:xfrm flipV="1">
              <a:off x="1145278" y="5373688"/>
              <a:ext cx="0" cy="43021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/>
            <p:cNvCxnSpPr/>
            <p:nvPr/>
          </p:nvCxnSpPr>
          <p:spPr>
            <a:xfrm flipV="1">
              <a:off x="2627312" y="5560857"/>
              <a:ext cx="472" cy="28571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15454799"/>
      </p:ext>
    </p:extLst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70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8" dur="500"/>
                                        <p:tgtEl>
                                          <p:spTgt spid="297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3" dur="500"/>
                                        <p:tgtEl>
                                          <p:spTgt spid="297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8" dur="500"/>
                                        <p:tgtEl>
                                          <p:spTgt spid="297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1" dur="500"/>
                                        <p:tgtEl>
                                          <p:spTgt spid="297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6" dur="500"/>
                                        <p:tgtEl>
                                          <p:spTgt spid="297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1" dur="500"/>
                                        <p:tgtEl>
                                          <p:spTgt spid="297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6" dur="500"/>
                                        <p:tgtEl>
                                          <p:spTgt spid="297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9" dur="500"/>
                                        <p:tgtEl>
                                          <p:spTgt spid="2970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4" dur="500"/>
                                        <p:tgtEl>
                                          <p:spTgt spid="2970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7" dur="500"/>
                                        <p:tgtEl>
                                          <p:spTgt spid="2970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2" dur="500"/>
                                        <p:tgtEl>
                                          <p:spTgt spid="2970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5" grpId="0" animBg="1" autoUpdateAnimBg="0"/>
      <p:bldP spid="46" grpId="0" animBg="1" autoUpdateAnimBg="0"/>
      <p:bldP spid="47" grpId="0" animBg="1" autoUpdateAnimBg="0"/>
      <p:bldP spid="48" grpId="0" autoUpdateAnimBg="0"/>
      <p:bldP spid="52" grpId="0" autoUpdateAnimBg="0"/>
      <p:bldP spid="53" grpId="0" autoUpdateAnimBg="0"/>
      <p:bldP spid="54" grpId="0" autoUpdateAnimBg="0"/>
      <p:bldP spid="58" grpId="0" animBg="1" autoUpdateAnimBg="0"/>
      <p:bldP spid="62" grpId="0" animBg="1" autoUpdateAnimBg="0"/>
      <p:bldP spid="64" grpId="0" autoUpdateAnimBg="0"/>
      <p:bldP spid="66" grpId="0" autoUpdateAnimBg="0"/>
      <p:bldP spid="67" grpId="0" autoUpdateAnimBg="0"/>
      <p:bldP spid="68" grpId="0" animBg="1"/>
      <p:bldP spid="69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3"/>
          <p:cNvSpPr>
            <a:spLocks noRot="1" noChangeArrowheads="1"/>
          </p:cNvSpPr>
          <p:nvPr/>
        </p:nvSpPr>
        <p:spPr bwMode="auto">
          <a:xfrm>
            <a:off x="693738" y="1401843"/>
            <a:ext cx="7993062" cy="489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69900" indent="-4699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304925" indent="-395288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600" b="1" dirty="0">
                <a:latin typeface="楷体_GB2312" pitchFamily="1" charset="-122"/>
              </a:rPr>
              <a:t>二叉排序树的</a:t>
            </a:r>
            <a:r>
              <a:rPr lang="zh-CN" altLang="en-US" sz="2600" b="1" dirty="0">
                <a:solidFill>
                  <a:srgbClr val="FF0000"/>
                </a:solidFill>
                <a:latin typeface="楷体_GB2312" pitchFamily="1" charset="-122"/>
              </a:rPr>
              <a:t>构造</a:t>
            </a:r>
            <a:r>
              <a:rPr lang="zh-CN" altLang="en-US" sz="2600" b="1" dirty="0">
                <a:latin typeface="楷体_GB2312" pitchFamily="1" charset="-122"/>
              </a:rPr>
              <a:t>：</a:t>
            </a:r>
          </a:p>
          <a:p>
            <a:pPr lvl="1"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>
                <a:latin typeface="楷体_GB2312" pitchFamily="1" charset="-122"/>
              </a:rPr>
              <a:t>从空树出发，依次</a:t>
            </a:r>
            <a:r>
              <a:rPr lang="zh-CN" altLang="en-US" sz="2400" b="1" dirty="0">
                <a:solidFill>
                  <a:srgbClr val="FF0000"/>
                </a:solidFill>
                <a:latin typeface="楷体_GB2312" pitchFamily="1" charset="-122"/>
              </a:rPr>
              <a:t>插入各结点</a:t>
            </a:r>
            <a:r>
              <a:rPr lang="zh-CN" altLang="en-US" sz="2400" b="1" dirty="0">
                <a:latin typeface="楷体_GB2312" pitchFamily="1" charset="-122"/>
              </a:rPr>
              <a:t>（作为叶子结点）。</a:t>
            </a:r>
          </a:p>
          <a:p>
            <a:pPr eaLnBrk="1" hangingPunct="1">
              <a:spcBef>
                <a:spcPct val="65000"/>
              </a:spcBef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600" b="1" dirty="0">
                <a:latin typeface="楷体_GB2312" pitchFamily="1" charset="-122"/>
              </a:rPr>
              <a:t>二叉排序树中</a:t>
            </a:r>
            <a:r>
              <a:rPr lang="zh-CN" altLang="en-US" sz="2600" b="1" dirty="0">
                <a:solidFill>
                  <a:srgbClr val="FF0000"/>
                </a:solidFill>
                <a:latin typeface="楷体_GB2312" pitchFamily="1" charset="-122"/>
              </a:rPr>
              <a:t>插入结点</a:t>
            </a:r>
            <a:r>
              <a:rPr lang="zh-CN" altLang="en-US" sz="2600" b="1" dirty="0">
                <a:latin typeface="楷体_GB2312" pitchFamily="1" charset="-122"/>
              </a:rPr>
              <a:t>：</a:t>
            </a:r>
          </a:p>
          <a:p>
            <a:pPr lvl="1" eaLnBrk="1" hangingPunct="1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en-US" altLang="zh-CN" sz="2400" b="1" dirty="0">
                <a:latin typeface="楷体_GB2312" pitchFamily="1" charset="-122"/>
              </a:rPr>
              <a:t>(1)</a:t>
            </a:r>
            <a:r>
              <a:rPr lang="zh-CN" altLang="en-US" sz="2400" b="1" dirty="0">
                <a:latin typeface="楷体_GB2312" pitchFamily="1" charset="-122"/>
              </a:rPr>
              <a:t>若结点的值小于根结点的值，</a:t>
            </a:r>
          </a:p>
          <a:p>
            <a:pPr lvl="2"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200" b="1" dirty="0">
                <a:latin typeface="楷体_GB2312" pitchFamily="1" charset="-122"/>
              </a:rPr>
              <a:t>   则往</a:t>
            </a:r>
            <a:r>
              <a:rPr lang="zh-CN" altLang="en-US" sz="2200" b="1" dirty="0">
                <a:solidFill>
                  <a:srgbClr val="FF0000"/>
                </a:solidFill>
                <a:latin typeface="楷体_GB2312" pitchFamily="1" charset="-122"/>
              </a:rPr>
              <a:t>左子树</a:t>
            </a:r>
            <a:r>
              <a:rPr lang="zh-CN" altLang="en-US" sz="2200" b="1" dirty="0">
                <a:latin typeface="楷体_GB2312" pitchFamily="1" charset="-122"/>
              </a:rPr>
              <a:t>中插入</a:t>
            </a:r>
          </a:p>
          <a:p>
            <a:pPr lvl="2"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200" b="1" dirty="0">
                <a:latin typeface="楷体_GB2312" pitchFamily="1" charset="-122"/>
              </a:rPr>
              <a:t>   </a:t>
            </a:r>
            <a:r>
              <a:rPr lang="en-US" altLang="zh-CN" sz="2200" b="1" dirty="0">
                <a:latin typeface="楷体_GB2312" pitchFamily="1" charset="-122"/>
              </a:rPr>
              <a:t>----</a:t>
            </a:r>
            <a:r>
              <a:rPr lang="zh-CN" altLang="en-US" sz="2200" b="1" dirty="0">
                <a:latin typeface="楷体_GB2312" pitchFamily="1" charset="-122"/>
              </a:rPr>
              <a:t>通过递归调用插入算法来实现。</a:t>
            </a:r>
          </a:p>
          <a:p>
            <a:pPr lvl="1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en-US" altLang="zh-CN" sz="2400" b="1" dirty="0">
                <a:latin typeface="楷体_GB2312" pitchFamily="1" charset="-122"/>
              </a:rPr>
              <a:t>(2)</a:t>
            </a:r>
            <a:r>
              <a:rPr lang="zh-CN" altLang="en-US" sz="2400" b="1" dirty="0">
                <a:latin typeface="楷体_GB2312" pitchFamily="1" charset="-122"/>
              </a:rPr>
              <a:t>若结点的值大于等于根结点的值，</a:t>
            </a:r>
          </a:p>
          <a:p>
            <a:pPr lvl="2"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200" b="1" dirty="0">
                <a:latin typeface="楷体_GB2312" pitchFamily="1" charset="-122"/>
              </a:rPr>
              <a:t>   则往</a:t>
            </a:r>
            <a:r>
              <a:rPr lang="zh-CN" altLang="en-US" sz="2200" b="1" dirty="0">
                <a:solidFill>
                  <a:srgbClr val="FF0000"/>
                </a:solidFill>
                <a:latin typeface="楷体_GB2312" pitchFamily="1" charset="-122"/>
              </a:rPr>
              <a:t>右子树</a:t>
            </a:r>
            <a:r>
              <a:rPr lang="zh-CN" altLang="en-US" sz="2200" b="1" dirty="0">
                <a:latin typeface="楷体_GB2312" pitchFamily="1" charset="-122"/>
              </a:rPr>
              <a:t>中插入（递归调用）。</a:t>
            </a:r>
            <a:endParaRPr lang="zh-CN" altLang="en-US" sz="2200" b="1" dirty="0">
              <a:latin typeface="Times New Roman" panose="02020603050405020304" pitchFamily="18" charset="0"/>
            </a:endParaRPr>
          </a:p>
          <a:p>
            <a:pPr lvl="1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sz="2400" b="1" dirty="0">
                <a:latin typeface="楷体_GB2312" pitchFamily="1" charset="-122"/>
              </a:rPr>
              <a:t>按此方式递归调用若干次后，</a:t>
            </a:r>
          </a:p>
          <a:p>
            <a:pPr lvl="1"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     可以搜索到一个空子树位置，即要插入的位置。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37</a:t>
            </a:fld>
            <a:endParaRPr lang="zh-CN" altLang="en-US" dirty="0"/>
          </a:p>
        </p:txBody>
      </p:sp>
      <p:grpSp>
        <p:nvGrpSpPr>
          <p:cNvPr id="5" name="组合 114"/>
          <p:cNvGrpSpPr/>
          <p:nvPr/>
        </p:nvGrpSpPr>
        <p:grpSpPr>
          <a:xfrm>
            <a:off x="-396552" y="76388"/>
            <a:ext cx="6775654" cy="679510"/>
            <a:chOff x="-99459" y="3320919"/>
            <a:chExt cx="7301815" cy="722576"/>
          </a:xfrm>
        </p:grpSpPr>
        <p:grpSp>
          <p:nvGrpSpPr>
            <p:cNvPr id="6" name="组合 105"/>
            <p:cNvGrpSpPr/>
            <p:nvPr/>
          </p:nvGrpSpPr>
          <p:grpSpPr>
            <a:xfrm>
              <a:off x="-99459" y="3320919"/>
              <a:ext cx="7301815" cy="722576"/>
              <a:chOff x="-99459" y="3320919"/>
              <a:chExt cx="7301815" cy="722576"/>
            </a:xfrm>
          </p:grpSpPr>
          <p:sp>
            <p:nvSpPr>
              <p:cNvPr id="8" name="Freeform 5"/>
              <p:cNvSpPr>
                <a:spLocks/>
              </p:cNvSpPr>
              <p:nvPr/>
            </p:nvSpPr>
            <p:spPr bwMode="auto">
              <a:xfrm>
                <a:off x="933887" y="3380765"/>
                <a:ext cx="801702" cy="662730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EA6103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  <p:sp>
            <p:nvSpPr>
              <p:cNvPr id="9" name="TextBox 6"/>
              <p:cNvSpPr txBox="1">
                <a:spLocks noChangeArrowheads="1"/>
              </p:cNvSpPr>
              <p:nvPr/>
            </p:nvSpPr>
            <p:spPr bwMode="auto">
              <a:xfrm>
                <a:off x="-99459" y="3320919"/>
                <a:ext cx="7301815" cy="687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10.3 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树表的查找</a:t>
                </a:r>
              </a:p>
            </p:txBody>
          </p:sp>
        </p:grpSp>
        <p:pic>
          <p:nvPicPr>
            <p:cNvPr id="7" name="图片 6" descr="12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5929" y="3530600"/>
              <a:ext cx="446172" cy="431048"/>
            </a:xfrm>
            <a:prstGeom prst="rect">
              <a:avLst/>
            </a:prstGeom>
          </p:spPr>
        </p:pic>
      </p:grpSp>
      <p:sp>
        <p:nvSpPr>
          <p:cNvPr id="11" name="矩形 10"/>
          <p:cNvSpPr/>
          <p:nvPr/>
        </p:nvSpPr>
        <p:spPr>
          <a:xfrm>
            <a:off x="407697" y="909579"/>
            <a:ext cx="33730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800" b="1" dirty="0"/>
              <a:t>10.3.1 </a:t>
            </a:r>
            <a:r>
              <a:rPr lang="zh-CN" altLang="en-US" sz="2800" b="1" dirty="0"/>
              <a:t>二叉排序树</a:t>
            </a:r>
          </a:p>
        </p:txBody>
      </p:sp>
    </p:spTree>
    <p:extLst>
      <p:ext uri="{BB962C8B-B14F-4D97-AF65-F5344CB8AC3E}">
        <p14:creationId xmlns:p14="http://schemas.microsoft.com/office/powerpoint/2010/main" val="3064258484"/>
      </p:ext>
    </p:extLst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500"/>
                                        <p:tgtEl>
                                          <p:spTgt spid="30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8" dur="500"/>
                                        <p:tgtEl>
                                          <p:spTgt spid="30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1" dur="500"/>
                                        <p:tgtEl>
                                          <p:spTgt spid="307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4" dur="500"/>
                                        <p:tgtEl>
                                          <p:spTgt spid="307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build="p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256" y="1455898"/>
            <a:ext cx="8229600" cy="4678451"/>
          </a:xfrm>
        </p:spPr>
        <p:txBody>
          <a:bodyPr/>
          <a:lstStyle/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/>
              <a:t>二叉排序树的插入算法</a:t>
            </a:r>
          </a:p>
          <a:p>
            <a:pPr marL="495300" indent="-495300" eaLnBrk="1" hangingPunct="1">
              <a:buFont typeface="Wingdings" panose="05000000000000000000" pitchFamily="2" charset="2"/>
              <a:buNone/>
            </a:pPr>
            <a:r>
              <a:rPr lang="en-US" altLang="zh-CN" sz="2400" b="1" dirty="0"/>
              <a:t>     ——</a:t>
            </a:r>
            <a:r>
              <a:rPr lang="zh-CN" altLang="en-US" sz="2000" b="1" dirty="0">
                <a:solidFill>
                  <a:srgbClr val="0000FF"/>
                </a:solidFill>
              </a:rPr>
              <a:t>逐个插入元素来实现构造，插入的元素作为叶子结点</a:t>
            </a:r>
            <a:r>
              <a:rPr lang="zh-CN" altLang="en-US" sz="2000" b="1" dirty="0"/>
              <a:t>。</a:t>
            </a:r>
          </a:p>
          <a:p>
            <a:pPr marL="495300" indent="-495300" eaLnBrk="1" hangingPunct="1">
              <a:buFont typeface="Wingdings" panose="05000000000000000000" pitchFamily="2" charset="2"/>
              <a:buNone/>
            </a:pPr>
            <a:r>
              <a:rPr lang="zh-CN" altLang="en-US" sz="2400" b="1" dirty="0"/>
              <a:t>        </a:t>
            </a:r>
            <a:r>
              <a:rPr lang="en-US" altLang="zh-CN" sz="2400" dirty="0">
                <a:solidFill>
                  <a:srgbClr val="0000FF"/>
                </a:solidFill>
              </a:rPr>
              <a:t>void</a:t>
            </a:r>
            <a:r>
              <a:rPr lang="en-US" altLang="zh-CN" sz="2400" dirty="0"/>
              <a:t> insert(</a:t>
            </a:r>
            <a:r>
              <a:rPr lang="en-US" altLang="zh-CN" sz="2400" dirty="0" err="1">
                <a:solidFill>
                  <a:srgbClr val="0000FF"/>
                </a:solidFill>
              </a:rPr>
              <a:t>bnode</a:t>
            </a:r>
            <a:r>
              <a:rPr lang="en-US" altLang="zh-CN" sz="2400" dirty="0"/>
              <a:t> *&amp; T, </a:t>
            </a:r>
            <a:r>
              <a:rPr lang="en-US" altLang="zh-CN" sz="2400" dirty="0" err="1">
                <a:solidFill>
                  <a:srgbClr val="0000FF"/>
                </a:solidFill>
              </a:rPr>
              <a:t>bnode</a:t>
            </a:r>
            <a:r>
              <a:rPr lang="en-US" altLang="zh-CN" sz="2400" dirty="0">
                <a:solidFill>
                  <a:srgbClr val="0000FF"/>
                </a:solidFill>
              </a:rPr>
              <a:t> </a:t>
            </a:r>
            <a:r>
              <a:rPr lang="en-US" altLang="zh-CN" sz="2400" dirty="0"/>
              <a:t>*s)</a:t>
            </a:r>
          </a:p>
          <a:p>
            <a:pPr marL="495300" indent="-495300"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                 </a:t>
            </a:r>
            <a:r>
              <a:rPr lang="en-US" altLang="zh-CN" sz="2000" dirty="0"/>
              <a:t>//  </a:t>
            </a:r>
            <a:r>
              <a:rPr lang="zh-CN" altLang="en-US" sz="2000" dirty="0"/>
              <a:t>将</a:t>
            </a:r>
            <a:r>
              <a:rPr lang="en-US" altLang="zh-CN" sz="2000" dirty="0"/>
              <a:t>s</a:t>
            </a:r>
            <a:r>
              <a:rPr lang="zh-CN" altLang="en-US" sz="2000" dirty="0"/>
              <a:t>所指结点插入到以</a:t>
            </a:r>
            <a:r>
              <a:rPr lang="en-US" altLang="zh-CN" sz="2000" dirty="0"/>
              <a:t>T</a:t>
            </a:r>
            <a:r>
              <a:rPr lang="zh-CN" altLang="en-US" sz="2000" dirty="0"/>
              <a:t>为根指针的二叉排序树中</a:t>
            </a:r>
          </a:p>
          <a:p>
            <a:pPr marL="495300" indent="-495300"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         </a:t>
            </a:r>
            <a:r>
              <a:rPr lang="en-US" altLang="zh-CN" sz="2400" dirty="0"/>
              <a:t>{     </a:t>
            </a:r>
            <a:r>
              <a:rPr lang="en-US" altLang="zh-CN" sz="2400" dirty="0">
                <a:solidFill>
                  <a:srgbClr val="0000FF"/>
                </a:solidFill>
              </a:rPr>
              <a:t>if</a:t>
            </a:r>
            <a:r>
              <a:rPr lang="en-US" altLang="zh-CN" sz="2400" dirty="0"/>
              <a:t> ( T = = NULL )        // T </a:t>
            </a:r>
            <a:r>
              <a:rPr lang="zh-CN" altLang="en-US" sz="2400" dirty="0"/>
              <a:t>为空时</a:t>
            </a:r>
          </a:p>
          <a:p>
            <a:pPr marL="495300" indent="-495300"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                      </a:t>
            </a:r>
            <a:r>
              <a:rPr lang="en-US" altLang="zh-CN" sz="2400" dirty="0"/>
              <a:t>T = s;                </a:t>
            </a:r>
            <a:r>
              <a:rPr lang="zh-CN" altLang="en-US" sz="2400" dirty="0"/>
              <a:t>   </a:t>
            </a:r>
            <a:r>
              <a:rPr lang="en-US" altLang="zh-CN" sz="2400" dirty="0"/>
              <a:t>  // </a:t>
            </a:r>
            <a:r>
              <a:rPr lang="zh-CN" altLang="en-US" sz="2400" dirty="0"/>
              <a:t>新结点作为根结点</a:t>
            </a:r>
          </a:p>
          <a:p>
            <a:pPr marL="495300" indent="-495300"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                </a:t>
            </a:r>
            <a:r>
              <a:rPr lang="en-US" altLang="zh-CN" sz="2400" dirty="0">
                <a:solidFill>
                  <a:srgbClr val="0000FF"/>
                </a:solidFill>
              </a:rPr>
              <a:t>else</a:t>
            </a:r>
            <a:r>
              <a:rPr lang="en-US" altLang="zh-CN" sz="2400" dirty="0"/>
              <a:t>    </a:t>
            </a:r>
            <a:r>
              <a:rPr lang="en-US" altLang="zh-CN" sz="2400" dirty="0">
                <a:solidFill>
                  <a:srgbClr val="0000FF"/>
                </a:solidFill>
              </a:rPr>
              <a:t>if</a:t>
            </a:r>
            <a:r>
              <a:rPr lang="en-US" altLang="zh-CN" sz="2400" dirty="0"/>
              <a:t> ( s-&gt;data &lt; T-&gt;data ) </a:t>
            </a:r>
          </a:p>
          <a:p>
            <a:pPr marL="495300" indent="-495300"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                                 insert( T -&gt; </a:t>
            </a:r>
            <a:r>
              <a:rPr lang="en-US" altLang="zh-CN" sz="2400" dirty="0" err="1"/>
              <a:t>lchild</a:t>
            </a:r>
            <a:r>
              <a:rPr lang="en-US" altLang="zh-CN" sz="2400" dirty="0"/>
              <a:t>, s );</a:t>
            </a:r>
          </a:p>
          <a:p>
            <a:pPr marL="495300" indent="-495300"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                          </a:t>
            </a:r>
            <a:r>
              <a:rPr lang="en-US" altLang="zh-CN" sz="2400" dirty="0">
                <a:solidFill>
                  <a:srgbClr val="0000FF"/>
                </a:solidFill>
              </a:rPr>
              <a:t>else</a:t>
            </a:r>
            <a:r>
              <a:rPr lang="en-US" altLang="zh-CN" sz="2400" dirty="0"/>
              <a:t> insert( T -&gt; </a:t>
            </a:r>
            <a:r>
              <a:rPr lang="en-US" altLang="zh-CN" sz="2400" dirty="0" err="1"/>
              <a:t>rchild</a:t>
            </a:r>
            <a:r>
              <a:rPr lang="en-US" altLang="zh-CN" sz="2400" dirty="0"/>
              <a:t>, s );</a:t>
            </a:r>
          </a:p>
          <a:p>
            <a:pPr marL="495300" indent="-495300"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        }         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38</a:t>
            </a:fld>
            <a:endParaRPr lang="zh-CN" altLang="en-US" dirty="0"/>
          </a:p>
        </p:txBody>
      </p:sp>
      <p:grpSp>
        <p:nvGrpSpPr>
          <p:cNvPr id="6" name="组合 114"/>
          <p:cNvGrpSpPr/>
          <p:nvPr/>
        </p:nvGrpSpPr>
        <p:grpSpPr>
          <a:xfrm>
            <a:off x="-396552" y="76388"/>
            <a:ext cx="6775654" cy="679510"/>
            <a:chOff x="-99459" y="3320919"/>
            <a:chExt cx="7301815" cy="722576"/>
          </a:xfrm>
        </p:grpSpPr>
        <p:grpSp>
          <p:nvGrpSpPr>
            <p:cNvPr id="7" name="组合 105"/>
            <p:cNvGrpSpPr/>
            <p:nvPr/>
          </p:nvGrpSpPr>
          <p:grpSpPr>
            <a:xfrm>
              <a:off x="-99459" y="3320919"/>
              <a:ext cx="7301815" cy="722576"/>
              <a:chOff x="-99459" y="3320919"/>
              <a:chExt cx="7301815" cy="722576"/>
            </a:xfrm>
          </p:grpSpPr>
          <p:sp>
            <p:nvSpPr>
              <p:cNvPr id="9" name="Freeform 5"/>
              <p:cNvSpPr>
                <a:spLocks/>
              </p:cNvSpPr>
              <p:nvPr/>
            </p:nvSpPr>
            <p:spPr bwMode="auto">
              <a:xfrm>
                <a:off x="933887" y="3380765"/>
                <a:ext cx="801702" cy="662730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EA6103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  <p:sp>
            <p:nvSpPr>
              <p:cNvPr id="10" name="TextBox 6"/>
              <p:cNvSpPr txBox="1">
                <a:spLocks noChangeArrowheads="1"/>
              </p:cNvSpPr>
              <p:nvPr/>
            </p:nvSpPr>
            <p:spPr bwMode="auto">
              <a:xfrm>
                <a:off x="-99459" y="3320919"/>
                <a:ext cx="7301815" cy="687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10.3 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树表的查找</a:t>
                </a:r>
              </a:p>
            </p:txBody>
          </p:sp>
        </p:grpSp>
        <p:pic>
          <p:nvPicPr>
            <p:cNvPr id="8" name="图片 7" descr="12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5929" y="3530600"/>
              <a:ext cx="446172" cy="431048"/>
            </a:xfrm>
            <a:prstGeom prst="rect">
              <a:avLst/>
            </a:prstGeom>
          </p:spPr>
        </p:pic>
      </p:grpSp>
      <p:sp>
        <p:nvSpPr>
          <p:cNvPr id="11" name="矩形 10"/>
          <p:cNvSpPr/>
          <p:nvPr/>
        </p:nvSpPr>
        <p:spPr>
          <a:xfrm>
            <a:off x="407697" y="909579"/>
            <a:ext cx="33730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800" b="1" dirty="0"/>
              <a:t>10.3.1 </a:t>
            </a:r>
            <a:r>
              <a:rPr lang="zh-CN" altLang="en-US" sz="2800" b="1" dirty="0"/>
              <a:t>二叉排序树</a:t>
            </a:r>
          </a:p>
        </p:txBody>
      </p:sp>
    </p:spTree>
    <p:extLst>
      <p:ext uri="{BB962C8B-B14F-4D97-AF65-F5344CB8AC3E}">
        <p14:creationId xmlns:p14="http://schemas.microsoft.com/office/powerpoint/2010/main" val="1435750417"/>
      </p:ext>
    </p:extLst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dirty="0">
                <a:solidFill>
                  <a:srgbClr val="FF0000"/>
                </a:solidFill>
              </a:rPr>
              <a:t>构造过程</a:t>
            </a:r>
            <a:r>
              <a:rPr lang="zh-CN" altLang="en-US" dirty="0"/>
              <a:t>：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依次将结点作为叶结点插入到二叉排序树中</a:t>
            </a:r>
          </a:p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solidFill>
                  <a:srgbClr val="FF0000"/>
                </a:solidFill>
              </a:rPr>
              <a:t>例</a:t>
            </a:r>
            <a:r>
              <a:rPr lang="zh-CN" altLang="en-US" sz="2400" b="1" dirty="0"/>
              <a:t>：以下列数据序列作为输入构造一棵二叉排序树。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100</a:t>
            </a:r>
            <a:r>
              <a:rPr lang="zh-CN" altLang="en-US" sz="2000" dirty="0"/>
              <a:t>，</a:t>
            </a:r>
            <a:r>
              <a:rPr lang="en-US" altLang="zh-CN" sz="2000" dirty="0"/>
              <a:t>65</a:t>
            </a:r>
            <a:r>
              <a:rPr lang="zh-CN" altLang="en-US" sz="2000" dirty="0"/>
              <a:t>，</a:t>
            </a:r>
            <a:r>
              <a:rPr lang="en-US" altLang="zh-CN" sz="2000" dirty="0"/>
              <a:t>88</a:t>
            </a:r>
            <a:r>
              <a:rPr lang="zh-CN" altLang="en-US" sz="2000" dirty="0"/>
              <a:t>，</a:t>
            </a:r>
            <a:r>
              <a:rPr lang="en-US" altLang="zh-CN" sz="2000" dirty="0"/>
              <a:t>93</a:t>
            </a:r>
            <a:r>
              <a:rPr lang="zh-CN" altLang="en-US" sz="2000" dirty="0"/>
              <a:t>，</a:t>
            </a:r>
            <a:r>
              <a:rPr lang="en-US" altLang="zh-CN" sz="2000" dirty="0"/>
              <a:t>145</a:t>
            </a:r>
            <a:r>
              <a:rPr lang="zh-CN" altLang="en-US" sz="2000" dirty="0"/>
              <a:t>，</a:t>
            </a:r>
            <a:r>
              <a:rPr lang="en-US" altLang="zh-CN" sz="2000" dirty="0"/>
              <a:t>118</a:t>
            </a:r>
            <a:r>
              <a:rPr lang="zh-CN" altLang="en-US" sz="2000" dirty="0"/>
              <a:t>，</a:t>
            </a:r>
            <a:r>
              <a:rPr lang="en-US" altLang="zh-CN" sz="2000" dirty="0"/>
              <a:t>138</a:t>
            </a:r>
            <a:r>
              <a:rPr lang="zh-CN" altLang="en-US" sz="2000" dirty="0"/>
              <a:t>，</a:t>
            </a:r>
            <a:r>
              <a:rPr lang="en-US" altLang="zh-CN" sz="2000" dirty="0"/>
              <a:t>112</a:t>
            </a:r>
            <a:r>
              <a:rPr lang="zh-CN" altLang="en-US" sz="2000" dirty="0"/>
              <a:t>，</a:t>
            </a:r>
            <a:r>
              <a:rPr lang="en-US" altLang="zh-CN" sz="2000" dirty="0"/>
              <a:t>188</a:t>
            </a:r>
            <a:r>
              <a:rPr lang="zh-CN" altLang="en-US" sz="2000" dirty="0"/>
              <a:t>，</a:t>
            </a:r>
            <a:r>
              <a:rPr lang="en-US" altLang="zh-CN" sz="2000" dirty="0"/>
              <a:t>173</a:t>
            </a:r>
            <a:r>
              <a:rPr lang="zh-CN" altLang="en-US" sz="2000" dirty="0"/>
              <a:t>，</a:t>
            </a:r>
            <a:r>
              <a:rPr lang="en-US" altLang="zh-CN" sz="2000" dirty="0"/>
              <a:t>42</a:t>
            </a:r>
            <a:r>
              <a:rPr lang="zh-CN" altLang="en-US" sz="2000" dirty="0"/>
              <a:t>，</a:t>
            </a:r>
            <a:r>
              <a:rPr lang="en-US" altLang="zh-CN" sz="2000" dirty="0"/>
              <a:t>78</a:t>
            </a:r>
            <a:r>
              <a:rPr lang="zh-CN" altLang="en-US" sz="2000" dirty="0"/>
              <a:t>，</a:t>
            </a:r>
            <a:r>
              <a:rPr lang="en-US" altLang="zh-CN" sz="2000" dirty="0"/>
              <a:t>20, 197</a:t>
            </a:r>
            <a:endParaRPr lang="en-US" altLang="zh-CN" dirty="0"/>
          </a:p>
        </p:txBody>
      </p:sp>
      <p:sp>
        <p:nvSpPr>
          <p:cNvPr id="32772" name="Oval 4"/>
          <p:cNvSpPr>
            <a:spLocks noChangeArrowheads="1"/>
          </p:cNvSpPr>
          <p:nvPr/>
        </p:nvSpPr>
        <p:spPr bwMode="auto">
          <a:xfrm>
            <a:off x="4427538" y="3500438"/>
            <a:ext cx="360362" cy="360362"/>
          </a:xfrm>
          <a:prstGeom prst="ellipse">
            <a:avLst/>
          </a:prstGeom>
          <a:solidFill>
            <a:srgbClr val="92D050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 eaLnBrk="1" hangingPunct="1"/>
            <a:r>
              <a:rPr lang="en-US" altLang="zh-CN" sz="1600" dirty="0">
                <a:latin typeface="Tahoma" panose="020B0604030504040204" pitchFamily="34" charset="0"/>
                <a:ea typeface="宋体" panose="02010600030101010101" pitchFamily="2" charset="-122"/>
              </a:rPr>
              <a:t>100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3203575" y="3716338"/>
            <a:ext cx="1223963" cy="720725"/>
            <a:chOff x="0" y="0"/>
            <a:chExt cx="771" cy="454"/>
          </a:xfrm>
        </p:grpSpPr>
        <p:sp>
          <p:nvSpPr>
            <p:cNvPr id="31788" name="Line 7"/>
            <p:cNvSpPr>
              <a:spLocks noChangeShapeType="1"/>
            </p:cNvSpPr>
            <p:nvPr/>
          </p:nvSpPr>
          <p:spPr bwMode="auto">
            <a:xfrm flipH="1">
              <a:off x="182" y="0"/>
              <a:ext cx="589" cy="2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31787" name="Oval 6"/>
            <p:cNvSpPr>
              <a:spLocks noChangeArrowheads="1"/>
            </p:cNvSpPr>
            <p:nvPr/>
          </p:nvSpPr>
          <p:spPr bwMode="auto">
            <a:xfrm>
              <a:off x="0" y="227"/>
              <a:ext cx="227" cy="227"/>
            </a:xfrm>
            <a:prstGeom prst="ellipse">
              <a:avLst/>
            </a:prstGeom>
            <a:solidFill>
              <a:srgbClr val="92D05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 sz="1600" dirty="0">
                  <a:latin typeface="Tahoma" panose="020B0604030504040204" pitchFamily="34" charset="0"/>
                  <a:ea typeface="宋体" panose="02010600030101010101" pitchFamily="2" charset="-122"/>
                </a:rPr>
                <a:t>65</a:t>
              </a:r>
            </a:p>
          </p:txBody>
        </p:sp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2555875" y="4341810"/>
            <a:ext cx="657226" cy="742953"/>
            <a:chOff x="0" y="-15"/>
            <a:chExt cx="414" cy="468"/>
          </a:xfrm>
        </p:grpSpPr>
        <p:sp>
          <p:nvSpPr>
            <p:cNvPr id="31785" name="Oval 9"/>
            <p:cNvSpPr>
              <a:spLocks noChangeArrowheads="1"/>
            </p:cNvSpPr>
            <p:nvPr/>
          </p:nvSpPr>
          <p:spPr bwMode="auto">
            <a:xfrm>
              <a:off x="0" y="226"/>
              <a:ext cx="227" cy="227"/>
            </a:xfrm>
            <a:prstGeom prst="ellipse">
              <a:avLst/>
            </a:prstGeom>
            <a:solidFill>
              <a:srgbClr val="92D05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 sz="1600" dirty="0">
                  <a:latin typeface="Tahoma" panose="020B0604030504040204" pitchFamily="34" charset="0"/>
                  <a:ea typeface="宋体" panose="02010600030101010101" pitchFamily="2" charset="-122"/>
                </a:rPr>
                <a:t>42</a:t>
              </a:r>
            </a:p>
          </p:txBody>
        </p:sp>
        <p:sp>
          <p:nvSpPr>
            <p:cNvPr id="31786" name="Line 10"/>
            <p:cNvSpPr>
              <a:spLocks noChangeShapeType="1"/>
            </p:cNvSpPr>
            <p:nvPr/>
          </p:nvSpPr>
          <p:spPr bwMode="auto">
            <a:xfrm flipH="1">
              <a:off x="136" y="-15"/>
              <a:ext cx="278" cy="24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</p:grpSp>
      <p:grpSp>
        <p:nvGrpSpPr>
          <p:cNvPr id="4" name="Group 11"/>
          <p:cNvGrpSpPr>
            <a:grpSpLocks/>
          </p:cNvGrpSpPr>
          <p:nvPr/>
        </p:nvGrpSpPr>
        <p:grpSpPr bwMode="auto">
          <a:xfrm>
            <a:off x="2195513" y="5056191"/>
            <a:ext cx="431800" cy="820734"/>
            <a:chOff x="0" y="-18"/>
            <a:chExt cx="272" cy="517"/>
          </a:xfrm>
        </p:grpSpPr>
        <p:sp>
          <p:nvSpPr>
            <p:cNvPr id="31783" name="Oval 12"/>
            <p:cNvSpPr>
              <a:spLocks noChangeArrowheads="1"/>
            </p:cNvSpPr>
            <p:nvPr/>
          </p:nvSpPr>
          <p:spPr bwMode="auto">
            <a:xfrm>
              <a:off x="0" y="272"/>
              <a:ext cx="227" cy="227"/>
            </a:xfrm>
            <a:prstGeom prst="ellipse">
              <a:avLst/>
            </a:prstGeom>
            <a:solidFill>
              <a:srgbClr val="92D05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 sz="1600" dirty="0">
                  <a:latin typeface="Tahoma" panose="020B0604030504040204" pitchFamily="34" charset="0"/>
                  <a:ea typeface="宋体" panose="02010600030101010101" pitchFamily="2" charset="-122"/>
                </a:rPr>
                <a:t>20</a:t>
              </a:r>
            </a:p>
          </p:txBody>
        </p:sp>
        <p:sp>
          <p:nvSpPr>
            <p:cNvPr id="31784" name="Line 13"/>
            <p:cNvSpPr>
              <a:spLocks noChangeShapeType="1"/>
            </p:cNvSpPr>
            <p:nvPr/>
          </p:nvSpPr>
          <p:spPr bwMode="auto">
            <a:xfrm flipH="1">
              <a:off x="153" y="-18"/>
              <a:ext cx="119" cy="29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</p:grpSp>
      <p:grpSp>
        <p:nvGrpSpPr>
          <p:cNvPr id="5" name="Group 14"/>
          <p:cNvGrpSpPr>
            <a:grpSpLocks/>
          </p:cNvGrpSpPr>
          <p:nvPr/>
        </p:nvGrpSpPr>
        <p:grpSpPr bwMode="auto">
          <a:xfrm>
            <a:off x="3419475" y="5045078"/>
            <a:ext cx="360363" cy="831847"/>
            <a:chOff x="0" y="-25"/>
            <a:chExt cx="227" cy="524"/>
          </a:xfrm>
        </p:grpSpPr>
        <p:sp>
          <p:nvSpPr>
            <p:cNvPr id="31781" name="Oval 15"/>
            <p:cNvSpPr>
              <a:spLocks noChangeArrowheads="1"/>
            </p:cNvSpPr>
            <p:nvPr/>
          </p:nvSpPr>
          <p:spPr bwMode="auto">
            <a:xfrm>
              <a:off x="0" y="272"/>
              <a:ext cx="227" cy="227"/>
            </a:xfrm>
            <a:prstGeom prst="ellipse">
              <a:avLst/>
            </a:prstGeom>
            <a:solidFill>
              <a:srgbClr val="92D05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 sz="1600" dirty="0">
                  <a:latin typeface="Tahoma" panose="020B0604030504040204" pitchFamily="34" charset="0"/>
                  <a:ea typeface="宋体" panose="02010600030101010101" pitchFamily="2" charset="-122"/>
                </a:rPr>
                <a:t>78</a:t>
              </a:r>
            </a:p>
          </p:txBody>
        </p:sp>
        <p:sp>
          <p:nvSpPr>
            <p:cNvPr id="31782" name="Line 16"/>
            <p:cNvSpPr>
              <a:spLocks noChangeShapeType="1"/>
            </p:cNvSpPr>
            <p:nvPr/>
          </p:nvSpPr>
          <p:spPr bwMode="auto">
            <a:xfrm flipH="1">
              <a:off x="125" y="-25"/>
              <a:ext cx="101" cy="29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</p:grpSp>
      <p:grpSp>
        <p:nvGrpSpPr>
          <p:cNvPr id="6" name="Group 17"/>
          <p:cNvGrpSpPr>
            <a:grpSpLocks/>
          </p:cNvGrpSpPr>
          <p:nvPr/>
        </p:nvGrpSpPr>
        <p:grpSpPr bwMode="auto">
          <a:xfrm>
            <a:off x="3994150" y="5060953"/>
            <a:ext cx="433388" cy="815972"/>
            <a:chOff x="0" y="-15"/>
            <a:chExt cx="273" cy="514"/>
          </a:xfrm>
        </p:grpSpPr>
        <p:sp>
          <p:nvSpPr>
            <p:cNvPr id="31779" name="Oval 18"/>
            <p:cNvSpPr>
              <a:spLocks noChangeArrowheads="1"/>
            </p:cNvSpPr>
            <p:nvPr/>
          </p:nvSpPr>
          <p:spPr bwMode="auto">
            <a:xfrm>
              <a:off x="46" y="272"/>
              <a:ext cx="227" cy="227"/>
            </a:xfrm>
            <a:prstGeom prst="ellipse">
              <a:avLst/>
            </a:prstGeom>
            <a:solidFill>
              <a:srgbClr val="92D05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 sz="1600" dirty="0">
                  <a:latin typeface="Tahoma" panose="020B0604030504040204" pitchFamily="34" charset="0"/>
                  <a:ea typeface="宋体" panose="02010600030101010101" pitchFamily="2" charset="-122"/>
                </a:rPr>
                <a:t>93</a:t>
              </a:r>
            </a:p>
          </p:txBody>
        </p:sp>
        <p:sp>
          <p:nvSpPr>
            <p:cNvPr id="31780" name="Line 19"/>
            <p:cNvSpPr>
              <a:spLocks noChangeShapeType="1"/>
            </p:cNvSpPr>
            <p:nvPr/>
          </p:nvSpPr>
          <p:spPr bwMode="auto">
            <a:xfrm>
              <a:off x="0" y="-15"/>
              <a:ext cx="127" cy="2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</p:grpSp>
      <p:grpSp>
        <p:nvGrpSpPr>
          <p:cNvPr id="7" name="Group 20"/>
          <p:cNvGrpSpPr>
            <a:grpSpLocks/>
          </p:cNvGrpSpPr>
          <p:nvPr/>
        </p:nvGrpSpPr>
        <p:grpSpPr bwMode="auto">
          <a:xfrm>
            <a:off x="3556003" y="4317988"/>
            <a:ext cx="511172" cy="766775"/>
            <a:chOff x="-5" y="-30"/>
            <a:chExt cx="322" cy="483"/>
          </a:xfrm>
        </p:grpSpPr>
        <p:sp>
          <p:nvSpPr>
            <p:cNvPr id="31777" name="Oval 21"/>
            <p:cNvSpPr>
              <a:spLocks noChangeArrowheads="1"/>
            </p:cNvSpPr>
            <p:nvPr/>
          </p:nvSpPr>
          <p:spPr bwMode="auto">
            <a:xfrm>
              <a:off x="90" y="226"/>
              <a:ext cx="227" cy="227"/>
            </a:xfrm>
            <a:prstGeom prst="ellipse">
              <a:avLst/>
            </a:prstGeom>
            <a:solidFill>
              <a:srgbClr val="92D05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 sz="1600" dirty="0">
                  <a:latin typeface="Tahoma" panose="020B0604030504040204" pitchFamily="34" charset="0"/>
                  <a:ea typeface="宋体" panose="02010600030101010101" pitchFamily="2" charset="-122"/>
                </a:rPr>
                <a:t>88</a:t>
              </a:r>
            </a:p>
          </p:txBody>
        </p:sp>
        <p:sp>
          <p:nvSpPr>
            <p:cNvPr id="31778" name="Line 22"/>
            <p:cNvSpPr>
              <a:spLocks noChangeShapeType="1"/>
            </p:cNvSpPr>
            <p:nvPr/>
          </p:nvSpPr>
          <p:spPr bwMode="auto">
            <a:xfrm>
              <a:off x="-5" y="-30"/>
              <a:ext cx="179" cy="2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</p:grpSp>
      <p:grpSp>
        <p:nvGrpSpPr>
          <p:cNvPr id="8" name="Group 23"/>
          <p:cNvGrpSpPr>
            <a:grpSpLocks/>
          </p:cNvGrpSpPr>
          <p:nvPr/>
        </p:nvGrpSpPr>
        <p:grpSpPr bwMode="auto">
          <a:xfrm>
            <a:off x="4932363" y="4352925"/>
            <a:ext cx="663575" cy="731838"/>
            <a:chOff x="0" y="-8"/>
            <a:chExt cx="418" cy="461"/>
          </a:xfrm>
        </p:grpSpPr>
        <p:sp>
          <p:nvSpPr>
            <p:cNvPr id="31776" name="Line 25"/>
            <p:cNvSpPr>
              <a:spLocks noChangeShapeType="1"/>
            </p:cNvSpPr>
            <p:nvPr/>
          </p:nvSpPr>
          <p:spPr bwMode="auto">
            <a:xfrm flipH="1">
              <a:off x="181" y="-8"/>
              <a:ext cx="237" cy="28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31775" name="Oval 24"/>
            <p:cNvSpPr>
              <a:spLocks noChangeArrowheads="1"/>
            </p:cNvSpPr>
            <p:nvPr/>
          </p:nvSpPr>
          <p:spPr bwMode="auto">
            <a:xfrm>
              <a:off x="0" y="226"/>
              <a:ext cx="227" cy="227"/>
            </a:xfrm>
            <a:prstGeom prst="ellipse">
              <a:avLst/>
            </a:prstGeom>
            <a:solidFill>
              <a:srgbClr val="92D05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 sz="1600" dirty="0">
                  <a:latin typeface="Tahoma" panose="020B0604030504040204" pitchFamily="34" charset="0"/>
                  <a:ea typeface="宋体" panose="02010600030101010101" pitchFamily="2" charset="-122"/>
                </a:rPr>
                <a:t>118</a:t>
              </a:r>
            </a:p>
          </p:txBody>
        </p:sp>
      </p:grpSp>
      <p:grpSp>
        <p:nvGrpSpPr>
          <p:cNvPr id="9" name="Group 26"/>
          <p:cNvGrpSpPr>
            <a:grpSpLocks/>
          </p:cNvGrpSpPr>
          <p:nvPr/>
        </p:nvGrpSpPr>
        <p:grpSpPr bwMode="auto">
          <a:xfrm>
            <a:off x="4572000" y="5062538"/>
            <a:ext cx="431800" cy="814387"/>
            <a:chOff x="0" y="-14"/>
            <a:chExt cx="272" cy="513"/>
          </a:xfrm>
        </p:grpSpPr>
        <p:sp>
          <p:nvSpPr>
            <p:cNvPr id="31773" name="Oval 27"/>
            <p:cNvSpPr>
              <a:spLocks noChangeArrowheads="1"/>
            </p:cNvSpPr>
            <p:nvPr/>
          </p:nvSpPr>
          <p:spPr bwMode="auto">
            <a:xfrm>
              <a:off x="0" y="272"/>
              <a:ext cx="227" cy="227"/>
            </a:xfrm>
            <a:prstGeom prst="ellipse">
              <a:avLst/>
            </a:prstGeom>
            <a:solidFill>
              <a:srgbClr val="92D05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 sz="1600" dirty="0">
                  <a:latin typeface="Tahoma" panose="020B0604030504040204" pitchFamily="34" charset="0"/>
                  <a:ea typeface="宋体" panose="02010600030101010101" pitchFamily="2" charset="-122"/>
                </a:rPr>
                <a:t>112</a:t>
              </a:r>
            </a:p>
          </p:txBody>
        </p:sp>
        <p:sp>
          <p:nvSpPr>
            <p:cNvPr id="31774" name="Line 28"/>
            <p:cNvSpPr>
              <a:spLocks noChangeShapeType="1"/>
            </p:cNvSpPr>
            <p:nvPr/>
          </p:nvSpPr>
          <p:spPr bwMode="auto">
            <a:xfrm flipH="1">
              <a:off x="136" y="-14"/>
              <a:ext cx="136" cy="2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</p:grpSp>
      <p:grpSp>
        <p:nvGrpSpPr>
          <p:cNvPr id="10" name="Group 29"/>
          <p:cNvGrpSpPr>
            <a:grpSpLocks/>
          </p:cNvGrpSpPr>
          <p:nvPr/>
        </p:nvGrpSpPr>
        <p:grpSpPr bwMode="auto">
          <a:xfrm>
            <a:off x="5219701" y="5062538"/>
            <a:ext cx="433388" cy="814387"/>
            <a:chOff x="0" y="-14"/>
            <a:chExt cx="273" cy="513"/>
          </a:xfrm>
        </p:grpSpPr>
        <p:sp>
          <p:nvSpPr>
            <p:cNvPr id="31771" name="Oval 30"/>
            <p:cNvSpPr>
              <a:spLocks noChangeArrowheads="1"/>
            </p:cNvSpPr>
            <p:nvPr/>
          </p:nvSpPr>
          <p:spPr bwMode="auto">
            <a:xfrm>
              <a:off x="46" y="272"/>
              <a:ext cx="227" cy="227"/>
            </a:xfrm>
            <a:prstGeom prst="ellipse">
              <a:avLst/>
            </a:prstGeom>
            <a:solidFill>
              <a:srgbClr val="92D05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 sz="1600" dirty="0">
                  <a:latin typeface="Tahoma" panose="020B0604030504040204" pitchFamily="34" charset="0"/>
                  <a:ea typeface="宋体" panose="02010600030101010101" pitchFamily="2" charset="-122"/>
                </a:rPr>
                <a:t>138</a:t>
              </a:r>
            </a:p>
          </p:txBody>
        </p:sp>
        <p:sp>
          <p:nvSpPr>
            <p:cNvPr id="31772" name="Line 31"/>
            <p:cNvSpPr>
              <a:spLocks noChangeShapeType="1"/>
            </p:cNvSpPr>
            <p:nvPr/>
          </p:nvSpPr>
          <p:spPr bwMode="auto">
            <a:xfrm>
              <a:off x="0" y="-14"/>
              <a:ext cx="126" cy="2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</p:grpSp>
      <p:grpSp>
        <p:nvGrpSpPr>
          <p:cNvPr id="11" name="Group 32"/>
          <p:cNvGrpSpPr>
            <a:grpSpLocks/>
          </p:cNvGrpSpPr>
          <p:nvPr/>
        </p:nvGrpSpPr>
        <p:grpSpPr bwMode="auto">
          <a:xfrm>
            <a:off x="5795963" y="5062538"/>
            <a:ext cx="360362" cy="814387"/>
            <a:chOff x="0" y="-14"/>
            <a:chExt cx="227" cy="513"/>
          </a:xfrm>
        </p:grpSpPr>
        <p:sp>
          <p:nvSpPr>
            <p:cNvPr id="31769" name="Oval 33"/>
            <p:cNvSpPr>
              <a:spLocks noChangeArrowheads="1"/>
            </p:cNvSpPr>
            <p:nvPr/>
          </p:nvSpPr>
          <p:spPr bwMode="auto">
            <a:xfrm>
              <a:off x="0" y="272"/>
              <a:ext cx="227" cy="227"/>
            </a:xfrm>
            <a:prstGeom prst="ellipse">
              <a:avLst/>
            </a:prstGeom>
            <a:solidFill>
              <a:srgbClr val="92D05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 sz="1600" dirty="0">
                  <a:latin typeface="Tahoma" panose="020B0604030504040204" pitchFamily="34" charset="0"/>
                  <a:ea typeface="宋体" panose="02010600030101010101" pitchFamily="2" charset="-122"/>
                </a:rPr>
                <a:t>173</a:t>
              </a:r>
            </a:p>
          </p:txBody>
        </p:sp>
        <p:sp>
          <p:nvSpPr>
            <p:cNvPr id="31770" name="Line 34"/>
            <p:cNvSpPr>
              <a:spLocks noChangeShapeType="1"/>
            </p:cNvSpPr>
            <p:nvPr/>
          </p:nvSpPr>
          <p:spPr bwMode="auto">
            <a:xfrm flipH="1">
              <a:off x="136" y="-14"/>
              <a:ext cx="90" cy="2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</p:grpSp>
      <p:grpSp>
        <p:nvGrpSpPr>
          <p:cNvPr id="12" name="Group 35"/>
          <p:cNvGrpSpPr>
            <a:grpSpLocks/>
          </p:cNvGrpSpPr>
          <p:nvPr/>
        </p:nvGrpSpPr>
        <p:grpSpPr bwMode="auto">
          <a:xfrm>
            <a:off x="6370638" y="5062538"/>
            <a:ext cx="433387" cy="814387"/>
            <a:chOff x="0" y="-14"/>
            <a:chExt cx="273" cy="513"/>
          </a:xfrm>
        </p:grpSpPr>
        <p:sp>
          <p:nvSpPr>
            <p:cNvPr id="31767" name="Oval 36"/>
            <p:cNvSpPr>
              <a:spLocks noChangeArrowheads="1"/>
            </p:cNvSpPr>
            <p:nvPr/>
          </p:nvSpPr>
          <p:spPr bwMode="auto">
            <a:xfrm>
              <a:off x="46" y="272"/>
              <a:ext cx="227" cy="227"/>
            </a:xfrm>
            <a:prstGeom prst="ellipse">
              <a:avLst/>
            </a:prstGeom>
            <a:solidFill>
              <a:srgbClr val="92D05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 sz="1600" dirty="0">
                  <a:latin typeface="Tahoma" panose="020B0604030504040204" pitchFamily="34" charset="0"/>
                  <a:ea typeface="宋体" panose="02010600030101010101" pitchFamily="2" charset="-122"/>
                </a:rPr>
                <a:t>197</a:t>
              </a:r>
            </a:p>
          </p:txBody>
        </p:sp>
        <p:sp>
          <p:nvSpPr>
            <p:cNvPr id="31768" name="Line 37"/>
            <p:cNvSpPr>
              <a:spLocks noChangeShapeType="1"/>
            </p:cNvSpPr>
            <p:nvPr/>
          </p:nvSpPr>
          <p:spPr bwMode="auto">
            <a:xfrm>
              <a:off x="0" y="-14"/>
              <a:ext cx="115" cy="2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</p:grpSp>
      <p:grpSp>
        <p:nvGrpSpPr>
          <p:cNvPr id="13" name="Group 38"/>
          <p:cNvGrpSpPr>
            <a:grpSpLocks/>
          </p:cNvGrpSpPr>
          <p:nvPr/>
        </p:nvGrpSpPr>
        <p:grpSpPr bwMode="auto">
          <a:xfrm>
            <a:off x="5927725" y="4343400"/>
            <a:ext cx="515938" cy="741363"/>
            <a:chOff x="-8" y="-14"/>
            <a:chExt cx="325" cy="467"/>
          </a:xfrm>
        </p:grpSpPr>
        <p:sp>
          <p:nvSpPr>
            <p:cNvPr id="31765" name="Oval 39"/>
            <p:cNvSpPr>
              <a:spLocks noChangeArrowheads="1"/>
            </p:cNvSpPr>
            <p:nvPr/>
          </p:nvSpPr>
          <p:spPr bwMode="auto">
            <a:xfrm>
              <a:off x="90" y="226"/>
              <a:ext cx="227" cy="227"/>
            </a:xfrm>
            <a:prstGeom prst="ellipse">
              <a:avLst/>
            </a:prstGeom>
            <a:solidFill>
              <a:srgbClr val="92D05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 sz="1600" dirty="0">
                  <a:latin typeface="Tahoma" panose="020B0604030504040204" pitchFamily="34" charset="0"/>
                  <a:ea typeface="宋体" panose="02010600030101010101" pitchFamily="2" charset="-122"/>
                </a:rPr>
                <a:t>188</a:t>
              </a:r>
            </a:p>
          </p:txBody>
        </p:sp>
        <p:sp>
          <p:nvSpPr>
            <p:cNvPr id="31766" name="Line 40"/>
            <p:cNvSpPr>
              <a:spLocks noChangeShapeType="1"/>
            </p:cNvSpPr>
            <p:nvPr/>
          </p:nvSpPr>
          <p:spPr bwMode="auto">
            <a:xfrm>
              <a:off x="-8" y="-14"/>
              <a:ext cx="189" cy="2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</p:grpSp>
      <p:grpSp>
        <p:nvGrpSpPr>
          <p:cNvPr id="14" name="Group 41"/>
          <p:cNvGrpSpPr>
            <a:grpSpLocks/>
          </p:cNvGrpSpPr>
          <p:nvPr/>
        </p:nvGrpSpPr>
        <p:grpSpPr bwMode="auto">
          <a:xfrm>
            <a:off x="4787900" y="3716338"/>
            <a:ext cx="1152525" cy="720725"/>
            <a:chOff x="0" y="0"/>
            <a:chExt cx="726" cy="454"/>
          </a:xfrm>
        </p:grpSpPr>
        <p:sp>
          <p:nvSpPr>
            <p:cNvPr id="31764" name="Line 43"/>
            <p:cNvSpPr>
              <a:spLocks noChangeShapeType="1"/>
            </p:cNvSpPr>
            <p:nvPr/>
          </p:nvSpPr>
          <p:spPr bwMode="auto">
            <a:xfrm flipH="1" flipV="1">
              <a:off x="0" y="0"/>
              <a:ext cx="545" cy="27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31763" name="Oval 42"/>
            <p:cNvSpPr>
              <a:spLocks noChangeArrowheads="1"/>
            </p:cNvSpPr>
            <p:nvPr/>
          </p:nvSpPr>
          <p:spPr bwMode="auto">
            <a:xfrm>
              <a:off x="499" y="227"/>
              <a:ext cx="227" cy="227"/>
            </a:xfrm>
            <a:prstGeom prst="ellipse">
              <a:avLst/>
            </a:prstGeom>
            <a:solidFill>
              <a:srgbClr val="92D05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 sz="1600" dirty="0">
                  <a:latin typeface="Tahoma" panose="020B0604030504040204" pitchFamily="34" charset="0"/>
                  <a:ea typeface="宋体" panose="02010600030101010101" pitchFamily="2" charset="-122"/>
                </a:rPr>
                <a:t>145</a:t>
              </a:r>
            </a:p>
          </p:txBody>
        </p:sp>
      </p:grpSp>
      <p:sp>
        <p:nvSpPr>
          <p:cNvPr id="15" name="灯片编号占位符 1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39</a:t>
            </a:fld>
            <a:endParaRPr lang="zh-CN" altLang="en-US" dirty="0"/>
          </a:p>
        </p:txBody>
      </p:sp>
      <p:grpSp>
        <p:nvGrpSpPr>
          <p:cNvPr id="46" name="组合 114"/>
          <p:cNvGrpSpPr/>
          <p:nvPr/>
        </p:nvGrpSpPr>
        <p:grpSpPr>
          <a:xfrm>
            <a:off x="-396552" y="76388"/>
            <a:ext cx="6775654" cy="679510"/>
            <a:chOff x="-99459" y="3320919"/>
            <a:chExt cx="7301815" cy="722576"/>
          </a:xfrm>
        </p:grpSpPr>
        <p:grpSp>
          <p:nvGrpSpPr>
            <p:cNvPr id="47" name="组合 105"/>
            <p:cNvGrpSpPr/>
            <p:nvPr/>
          </p:nvGrpSpPr>
          <p:grpSpPr>
            <a:xfrm>
              <a:off x="-99459" y="3320919"/>
              <a:ext cx="7301815" cy="722576"/>
              <a:chOff x="-99459" y="3320919"/>
              <a:chExt cx="7301815" cy="722576"/>
            </a:xfrm>
          </p:grpSpPr>
          <p:sp>
            <p:nvSpPr>
              <p:cNvPr id="49" name="Freeform 5"/>
              <p:cNvSpPr>
                <a:spLocks/>
              </p:cNvSpPr>
              <p:nvPr/>
            </p:nvSpPr>
            <p:spPr bwMode="auto">
              <a:xfrm>
                <a:off x="933887" y="3380765"/>
                <a:ext cx="801702" cy="662730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EA6103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  <p:sp>
            <p:nvSpPr>
              <p:cNvPr id="50" name="TextBox 6"/>
              <p:cNvSpPr txBox="1">
                <a:spLocks noChangeArrowheads="1"/>
              </p:cNvSpPr>
              <p:nvPr/>
            </p:nvSpPr>
            <p:spPr bwMode="auto">
              <a:xfrm>
                <a:off x="-99459" y="3320919"/>
                <a:ext cx="7301815" cy="687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10.3 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树表的查找</a:t>
                </a:r>
              </a:p>
            </p:txBody>
          </p:sp>
        </p:grpSp>
        <p:pic>
          <p:nvPicPr>
            <p:cNvPr id="48" name="图片 47" descr="12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5929" y="3530600"/>
              <a:ext cx="446172" cy="431048"/>
            </a:xfrm>
            <a:prstGeom prst="rect">
              <a:avLst/>
            </a:prstGeom>
          </p:spPr>
        </p:pic>
      </p:grpSp>
      <p:sp>
        <p:nvSpPr>
          <p:cNvPr id="51" name="矩形 50"/>
          <p:cNvSpPr/>
          <p:nvPr/>
        </p:nvSpPr>
        <p:spPr>
          <a:xfrm>
            <a:off x="407697" y="909579"/>
            <a:ext cx="33730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800" b="1" dirty="0"/>
              <a:t>10.3.1 </a:t>
            </a:r>
            <a:r>
              <a:rPr lang="zh-CN" altLang="en-US" sz="2800" b="1" dirty="0"/>
              <a:t>二叉排序树</a:t>
            </a:r>
          </a:p>
        </p:txBody>
      </p:sp>
    </p:spTree>
    <p:extLst>
      <p:ext uri="{BB962C8B-B14F-4D97-AF65-F5344CB8AC3E}">
        <p14:creationId xmlns:p14="http://schemas.microsoft.com/office/powerpoint/2010/main" val="3049765478"/>
      </p:ext>
    </p:extLst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2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1" grpId="0" build="p" autoUpdateAnimBg="0"/>
      <p:bldP spid="32772" grpId="0" animBg="1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256" y="1432799"/>
            <a:ext cx="8229600" cy="4678451"/>
          </a:xfrm>
        </p:spPr>
        <p:txBody>
          <a:bodyPr/>
          <a:lstStyle/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/>
              <a:t>二叉排序树的构造算法</a:t>
            </a:r>
            <a:endParaRPr lang="zh-CN" altLang="en-US" sz="24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0000FF"/>
                </a:solidFill>
              </a:rPr>
              <a:t>void</a:t>
            </a:r>
            <a:r>
              <a:rPr lang="en-US" altLang="zh-CN" sz="2000" dirty="0"/>
              <a:t>  create (</a:t>
            </a:r>
            <a:r>
              <a:rPr lang="en-US" altLang="zh-CN" sz="2000" dirty="0" err="1"/>
              <a:t>bnode</a:t>
            </a:r>
            <a:r>
              <a:rPr lang="en-US" altLang="zh-CN" sz="2000" dirty="0"/>
              <a:t> *&amp;T)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         // </a:t>
            </a:r>
            <a:r>
              <a:rPr lang="zh-CN" altLang="en-US" sz="2000" dirty="0"/>
              <a:t>接受读入数据，从空树开始构造二叉排序树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{            T= =NULL;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              </a:t>
            </a:r>
            <a:r>
              <a:rPr lang="en-US" altLang="zh-CN" sz="2000" dirty="0" err="1"/>
              <a:t>cin</a:t>
            </a:r>
            <a:r>
              <a:rPr lang="en-US" altLang="zh-CN" sz="2000" dirty="0"/>
              <a:t>&gt;&gt;x;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              </a:t>
            </a:r>
            <a:r>
              <a:rPr lang="en-US" altLang="zh-CN" sz="2000" dirty="0">
                <a:solidFill>
                  <a:srgbClr val="0000FF"/>
                </a:solidFill>
              </a:rPr>
              <a:t>while</a:t>
            </a:r>
            <a:r>
              <a:rPr lang="en-US" altLang="zh-CN" sz="2000" dirty="0"/>
              <a:t> (x!=</a:t>
            </a:r>
            <a:r>
              <a:rPr lang="zh-CN" altLang="en-US" sz="2000" dirty="0"/>
              <a:t>结束符</a:t>
            </a:r>
            <a:r>
              <a:rPr lang="en-US" altLang="zh-CN" sz="2000" dirty="0"/>
              <a:t>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             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                  s=new </a:t>
            </a:r>
            <a:r>
              <a:rPr lang="en-US" altLang="zh-CN" sz="2000" dirty="0" err="1"/>
              <a:t>bnode</a:t>
            </a:r>
            <a:r>
              <a:rPr lang="en-US" altLang="zh-CN" sz="2000" dirty="0"/>
              <a:t>;    s </a:t>
            </a:r>
            <a:r>
              <a:rPr lang="en-US" altLang="zh-CN" sz="1600" b="1" dirty="0">
                <a:ea typeface="宋体" panose="02010600030101010101" pitchFamily="2" charset="-122"/>
                <a:sym typeface="Wingdings" panose="05000000000000000000" pitchFamily="2" charset="2"/>
              </a:rPr>
              <a:t></a:t>
            </a:r>
            <a:r>
              <a:rPr lang="en-US" altLang="zh-CN" sz="2000" dirty="0"/>
              <a:t> data=x;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                  s </a:t>
            </a:r>
            <a:r>
              <a:rPr lang="en-US" altLang="zh-CN" sz="1600" b="1" dirty="0">
                <a:ea typeface="宋体" panose="02010600030101010101" pitchFamily="2" charset="-122"/>
                <a:sym typeface="Wingdings" panose="05000000000000000000" pitchFamily="2" charset="2"/>
              </a:rPr>
              <a:t></a:t>
            </a:r>
            <a:r>
              <a:rPr lang="en-US" altLang="zh-CN" sz="2000" dirty="0"/>
              <a:t> </a:t>
            </a:r>
            <a:r>
              <a:rPr lang="en-US" altLang="zh-CN" sz="2000" dirty="0" err="1"/>
              <a:t>lchild</a:t>
            </a:r>
            <a:r>
              <a:rPr lang="en-US" altLang="zh-CN" sz="2000" dirty="0"/>
              <a:t>=NULL;  s </a:t>
            </a:r>
            <a:r>
              <a:rPr lang="en-US" altLang="zh-CN" sz="1600" b="1" dirty="0">
                <a:ea typeface="宋体" panose="02010600030101010101" pitchFamily="2" charset="-122"/>
                <a:sym typeface="Wingdings" panose="05000000000000000000" pitchFamily="2" charset="2"/>
              </a:rPr>
              <a:t></a:t>
            </a:r>
            <a:r>
              <a:rPr lang="en-US" altLang="zh-CN" sz="2000" dirty="0"/>
              <a:t> </a:t>
            </a:r>
            <a:r>
              <a:rPr lang="en-US" altLang="zh-CN" sz="2000" dirty="0" err="1"/>
              <a:t>rchild</a:t>
            </a:r>
            <a:r>
              <a:rPr lang="en-US" altLang="zh-CN" sz="2000" dirty="0"/>
              <a:t>=NULL;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                  insert(T,s);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                  </a:t>
            </a:r>
            <a:r>
              <a:rPr lang="en-US" altLang="zh-CN" sz="2000" dirty="0" err="1">
                <a:solidFill>
                  <a:srgbClr val="0000FF"/>
                </a:solidFill>
              </a:rPr>
              <a:t>cin</a:t>
            </a:r>
            <a:r>
              <a:rPr lang="en-US" altLang="zh-CN" sz="2000" dirty="0"/>
              <a:t>&gt;&gt;x;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              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       }</a:t>
            </a:r>
            <a:endParaRPr lang="en-US" altLang="zh-CN" sz="22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40</a:t>
            </a:fld>
            <a:endParaRPr lang="zh-CN" altLang="en-US" dirty="0"/>
          </a:p>
        </p:txBody>
      </p:sp>
      <p:grpSp>
        <p:nvGrpSpPr>
          <p:cNvPr id="6" name="组合 114"/>
          <p:cNvGrpSpPr/>
          <p:nvPr/>
        </p:nvGrpSpPr>
        <p:grpSpPr>
          <a:xfrm>
            <a:off x="-396552" y="76388"/>
            <a:ext cx="6775654" cy="679510"/>
            <a:chOff x="-99459" y="3320919"/>
            <a:chExt cx="7301815" cy="722576"/>
          </a:xfrm>
        </p:grpSpPr>
        <p:grpSp>
          <p:nvGrpSpPr>
            <p:cNvPr id="7" name="组合 105"/>
            <p:cNvGrpSpPr/>
            <p:nvPr/>
          </p:nvGrpSpPr>
          <p:grpSpPr>
            <a:xfrm>
              <a:off x="-99459" y="3320919"/>
              <a:ext cx="7301815" cy="722576"/>
              <a:chOff x="-99459" y="3320919"/>
              <a:chExt cx="7301815" cy="722576"/>
            </a:xfrm>
          </p:grpSpPr>
          <p:sp>
            <p:nvSpPr>
              <p:cNvPr id="9" name="Freeform 5"/>
              <p:cNvSpPr>
                <a:spLocks/>
              </p:cNvSpPr>
              <p:nvPr/>
            </p:nvSpPr>
            <p:spPr bwMode="auto">
              <a:xfrm>
                <a:off x="933887" y="3380765"/>
                <a:ext cx="801702" cy="662730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EA6103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  <p:sp>
            <p:nvSpPr>
              <p:cNvPr id="10" name="TextBox 6"/>
              <p:cNvSpPr txBox="1">
                <a:spLocks noChangeArrowheads="1"/>
              </p:cNvSpPr>
              <p:nvPr/>
            </p:nvSpPr>
            <p:spPr bwMode="auto">
              <a:xfrm>
                <a:off x="-99459" y="3320919"/>
                <a:ext cx="7301815" cy="687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10.3 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树表的查找</a:t>
                </a:r>
              </a:p>
            </p:txBody>
          </p:sp>
        </p:grpSp>
        <p:pic>
          <p:nvPicPr>
            <p:cNvPr id="8" name="图片 7" descr="12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5929" y="3530600"/>
              <a:ext cx="446172" cy="431048"/>
            </a:xfrm>
            <a:prstGeom prst="rect">
              <a:avLst/>
            </a:prstGeom>
          </p:spPr>
        </p:pic>
      </p:grpSp>
      <p:sp>
        <p:nvSpPr>
          <p:cNvPr id="11" name="矩形 10"/>
          <p:cNvSpPr/>
          <p:nvPr/>
        </p:nvSpPr>
        <p:spPr>
          <a:xfrm>
            <a:off x="407697" y="909579"/>
            <a:ext cx="33730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800" b="1" dirty="0"/>
              <a:t>10.3.1 </a:t>
            </a:r>
            <a:r>
              <a:rPr lang="zh-CN" altLang="en-US" sz="2800" b="1" dirty="0"/>
              <a:t>二叉排序树</a:t>
            </a:r>
          </a:p>
        </p:txBody>
      </p:sp>
    </p:spTree>
    <p:extLst>
      <p:ext uri="{BB962C8B-B14F-4D97-AF65-F5344CB8AC3E}">
        <p14:creationId xmlns:p14="http://schemas.microsoft.com/office/powerpoint/2010/main" val="124946134"/>
      </p:ext>
    </p:extLst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3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3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37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37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37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379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5" grpId="0" build="p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7557" y="1492250"/>
            <a:ext cx="7993063" cy="1800225"/>
          </a:xfrm>
        </p:spPr>
        <p:txBody>
          <a:bodyPr/>
          <a:lstStyle/>
          <a:p>
            <a:pPr marL="495300" indent="-49530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000" b="1" dirty="0"/>
              <a:t>二叉排序树删除结点：删除二叉排序树中的结点</a:t>
            </a:r>
          </a:p>
          <a:p>
            <a:pPr marL="495300" indent="-49530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000" b="1" dirty="0"/>
              <a:t>可分几种情况来实现</a:t>
            </a:r>
            <a:r>
              <a:rPr lang="zh-CN" altLang="en-US" sz="2000" dirty="0"/>
              <a:t> ：</a:t>
            </a:r>
            <a:endParaRPr lang="zh-CN" altLang="en-US" sz="1700" b="1" dirty="0"/>
          </a:p>
          <a:p>
            <a:pPr marL="495300" indent="-495300" eaLnBrk="1" hangingPunct="1">
              <a:lnSpc>
                <a:spcPct val="80000"/>
              </a:lnSpc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1800" b="1" dirty="0"/>
              <a:t>叶子结点 </a:t>
            </a:r>
            <a:r>
              <a:rPr lang="en-US" altLang="zh-CN" sz="1800" b="1" dirty="0"/>
              <a:t>—— </a:t>
            </a:r>
            <a:r>
              <a:rPr lang="zh-CN" altLang="en-US" sz="1800" b="1" dirty="0"/>
              <a:t>直接删除即可</a:t>
            </a:r>
          </a:p>
          <a:p>
            <a:pPr marL="495300" indent="-495300" eaLnBrk="1" hangingPunct="1">
              <a:lnSpc>
                <a:spcPct val="80000"/>
              </a:lnSpc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1800" b="1" dirty="0"/>
              <a:t>非叶子结点</a:t>
            </a:r>
          </a:p>
          <a:p>
            <a:pPr marL="928688" lvl="1" indent="-457200" eaLnBrk="1" hangingPunct="1">
              <a:lnSpc>
                <a:spcPct val="80000"/>
              </a:lnSpc>
              <a:buClr>
                <a:srgbClr val="FF0000"/>
              </a:buClr>
              <a:buFont typeface="Wingdings" panose="05000000000000000000" pitchFamily="2" charset="2"/>
              <a:buChar char="u"/>
            </a:pPr>
            <a:r>
              <a:rPr lang="zh-CN" altLang="en-US" sz="1800" b="1" dirty="0"/>
              <a:t>顶替法</a:t>
            </a:r>
          </a:p>
          <a:p>
            <a:pPr marL="928688" lvl="1" indent="-457200" eaLnBrk="1" hangingPunct="1">
              <a:lnSpc>
                <a:spcPct val="80000"/>
              </a:lnSpc>
              <a:buClr>
                <a:srgbClr val="FF0000"/>
              </a:buClr>
              <a:buFont typeface="Wingdings" panose="05000000000000000000" pitchFamily="2" charset="2"/>
              <a:buChar char="u"/>
            </a:pPr>
            <a:r>
              <a:rPr lang="zh-CN" altLang="en-US" sz="1800" b="1" dirty="0"/>
              <a:t>重新连接法</a:t>
            </a:r>
          </a:p>
        </p:txBody>
      </p:sp>
      <p:sp>
        <p:nvSpPr>
          <p:cNvPr id="34820" name="Oval 4"/>
          <p:cNvSpPr>
            <a:spLocks noChangeArrowheads="1"/>
          </p:cNvSpPr>
          <p:nvPr/>
        </p:nvSpPr>
        <p:spPr bwMode="auto">
          <a:xfrm>
            <a:off x="2482850" y="3682579"/>
            <a:ext cx="360363" cy="360362"/>
          </a:xfrm>
          <a:prstGeom prst="ellipse">
            <a:avLst/>
          </a:prstGeom>
          <a:solidFill>
            <a:srgbClr val="92D050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 eaLnBrk="1" hangingPunct="1"/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100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1258888" y="3898479"/>
            <a:ext cx="1223962" cy="720725"/>
            <a:chOff x="0" y="0"/>
            <a:chExt cx="771" cy="454"/>
          </a:xfrm>
        </p:grpSpPr>
        <p:sp>
          <p:nvSpPr>
            <p:cNvPr id="33921" name="Oval 6"/>
            <p:cNvSpPr>
              <a:spLocks noChangeArrowheads="1"/>
            </p:cNvSpPr>
            <p:nvPr/>
          </p:nvSpPr>
          <p:spPr bwMode="auto">
            <a:xfrm>
              <a:off x="0" y="227"/>
              <a:ext cx="227" cy="227"/>
            </a:xfrm>
            <a:prstGeom prst="ellipse">
              <a:avLst/>
            </a:prstGeom>
            <a:solidFill>
              <a:srgbClr val="92D05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 dirty="0">
                  <a:latin typeface="Tahoma" panose="020B0604030504040204" pitchFamily="34" charset="0"/>
                  <a:ea typeface="宋体" panose="02010600030101010101" pitchFamily="2" charset="-122"/>
                </a:rPr>
                <a:t>65</a:t>
              </a:r>
            </a:p>
          </p:txBody>
        </p:sp>
        <p:sp>
          <p:nvSpPr>
            <p:cNvPr id="33922" name="Line 7"/>
            <p:cNvSpPr>
              <a:spLocks noChangeShapeType="1"/>
            </p:cNvSpPr>
            <p:nvPr/>
          </p:nvSpPr>
          <p:spPr bwMode="auto">
            <a:xfrm flipH="1">
              <a:off x="182" y="0"/>
              <a:ext cx="589" cy="22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611188" y="4547766"/>
            <a:ext cx="647700" cy="719138"/>
            <a:chOff x="0" y="0"/>
            <a:chExt cx="408" cy="453"/>
          </a:xfrm>
        </p:grpSpPr>
        <p:sp>
          <p:nvSpPr>
            <p:cNvPr id="33919" name="Oval 9"/>
            <p:cNvSpPr>
              <a:spLocks noChangeArrowheads="1"/>
            </p:cNvSpPr>
            <p:nvPr/>
          </p:nvSpPr>
          <p:spPr bwMode="auto">
            <a:xfrm>
              <a:off x="0" y="226"/>
              <a:ext cx="227" cy="227"/>
            </a:xfrm>
            <a:prstGeom prst="ellipse">
              <a:avLst/>
            </a:prstGeom>
            <a:solidFill>
              <a:srgbClr val="92D05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 dirty="0">
                  <a:latin typeface="Tahoma" panose="020B0604030504040204" pitchFamily="34" charset="0"/>
                  <a:ea typeface="宋体" panose="02010600030101010101" pitchFamily="2" charset="-122"/>
                </a:rPr>
                <a:t>42</a:t>
              </a:r>
            </a:p>
          </p:txBody>
        </p:sp>
        <p:sp>
          <p:nvSpPr>
            <p:cNvPr id="33920" name="Line 10"/>
            <p:cNvSpPr>
              <a:spLocks noChangeShapeType="1"/>
            </p:cNvSpPr>
            <p:nvPr/>
          </p:nvSpPr>
          <p:spPr bwMode="auto">
            <a:xfrm flipH="1">
              <a:off x="136" y="0"/>
              <a:ext cx="272" cy="22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11"/>
          <p:cNvGrpSpPr>
            <a:grpSpLocks/>
          </p:cNvGrpSpPr>
          <p:nvPr/>
        </p:nvGrpSpPr>
        <p:grpSpPr bwMode="auto">
          <a:xfrm>
            <a:off x="250825" y="5266904"/>
            <a:ext cx="431800" cy="792162"/>
            <a:chOff x="0" y="0"/>
            <a:chExt cx="272" cy="499"/>
          </a:xfrm>
        </p:grpSpPr>
        <p:sp>
          <p:nvSpPr>
            <p:cNvPr id="33917" name="Oval 12"/>
            <p:cNvSpPr>
              <a:spLocks noChangeArrowheads="1"/>
            </p:cNvSpPr>
            <p:nvPr/>
          </p:nvSpPr>
          <p:spPr bwMode="auto">
            <a:xfrm>
              <a:off x="0" y="272"/>
              <a:ext cx="227" cy="227"/>
            </a:xfrm>
            <a:prstGeom prst="ellipse">
              <a:avLst/>
            </a:prstGeom>
            <a:solidFill>
              <a:srgbClr val="92D05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 dirty="0">
                  <a:latin typeface="Tahoma" panose="020B0604030504040204" pitchFamily="34" charset="0"/>
                  <a:ea typeface="宋体" panose="02010600030101010101" pitchFamily="2" charset="-122"/>
                </a:rPr>
                <a:t>20</a:t>
              </a:r>
            </a:p>
          </p:txBody>
        </p:sp>
        <p:sp>
          <p:nvSpPr>
            <p:cNvPr id="33918" name="Line 13"/>
            <p:cNvSpPr>
              <a:spLocks noChangeShapeType="1"/>
            </p:cNvSpPr>
            <p:nvPr/>
          </p:nvSpPr>
          <p:spPr bwMode="auto">
            <a:xfrm flipH="1">
              <a:off x="91" y="0"/>
              <a:ext cx="181" cy="2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" name="Group 14"/>
          <p:cNvGrpSpPr>
            <a:grpSpLocks/>
          </p:cNvGrpSpPr>
          <p:nvPr/>
        </p:nvGrpSpPr>
        <p:grpSpPr bwMode="auto">
          <a:xfrm>
            <a:off x="1474788" y="5266904"/>
            <a:ext cx="360362" cy="792162"/>
            <a:chOff x="0" y="0"/>
            <a:chExt cx="227" cy="499"/>
          </a:xfrm>
        </p:grpSpPr>
        <p:sp>
          <p:nvSpPr>
            <p:cNvPr id="33915" name="Oval 15"/>
            <p:cNvSpPr>
              <a:spLocks noChangeArrowheads="1"/>
            </p:cNvSpPr>
            <p:nvPr/>
          </p:nvSpPr>
          <p:spPr bwMode="auto">
            <a:xfrm>
              <a:off x="0" y="272"/>
              <a:ext cx="227" cy="227"/>
            </a:xfrm>
            <a:prstGeom prst="ellipse">
              <a:avLst/>
            </a:prstGeom>
            <a:solidFill>
              <a:srgbClr val="92D05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 dirty="0">
                  <a:latin typeface="Tahoma" panose="020B0604030504040204" pitchFamily="34" charset="0"/>
                  <a:ea typeface="宋体" panose="02010600030101010101" pitchFamily="2" charset="-122"/>
                </a:rPr>
                <a:t>78</a:t>
              </a:r>
            </a:p>
          </p:txBody>
        </p:sp>
        <p:sp>
          <p:nvSpPr>
            <p:cNvPr id="33916" name="Line 16"/>
            <p:cNvSpPr>
              <a:spLocks noChangeShapeType="1"/>
            </p:cNvSpPr>
            <p:nvPr/>
          </p:nvSpPr>
          <p:spPr bwMode="auto">
            <a:xfrm flipH="1">
              <a:off x="45" y="0"/>
              <a:ext cx="181" cy="2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" name="Group 17"/>
          <p:cNvGrpSpPr>
            <a:grpSpLocks/>
          </p:cNvGrpSpPr>
          <p:nvPr/>
        </p:nvGrpSpPr>
        <p:grpSpPr bwMode="auto">
          <a:xfrm>
            <a:off x="2049463" y="5266904"/>
            <a:ext cx="433387" cy="792162"/>
            <a:chOff x="0" y="0"/>
            <a:chExt cx="273" cy="499"/>
          </a:xfrm>
        </p:grpSpPr>
        <p:sp>
          <p:nvSpPr>
            <p:cNvPr id="33913" name="Oval 18"/>
            <p:cNvSpPr>
              <a:spLocks noChangeArrowheads="1"/>
            </p:cNvSpPr>
            <p:nvPr/>
          </p:nvSpPr>
          <p:spPr bwMode="auto">
            <a:xfrm>
              <a:off x="46" y="272"/>
              <a:ext cx="227" cy="227"/>
            </a:xfrm>
            <a:prstGeom prst="ellipse">
              <a:avLst/>
            </a:prstGeom>
            <a:solidFill>
              <a:srgbClr val="92D05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 dirty="0">
                  <a:latin typeface="Tahoma" panose="020B0604030504040204" pitchFamily="34" charset="0"/>
                  <a:ea typeface="宋体" panose="02010600030101010101" pitchFamily="2" charset="-122"/>
                </a:rPr>
                <a:t>93</a:t>
              </a:r>
            </a:p>
          </p:txBody>
        </p:sp>
        <p:sp>
          <p:nvSpPr>
            <p:cNvPr id="33914" name="Line 19"/>
            <p:cNvSpPr>
              <a:spLocks noChangeShapeType="1"/>
            </p:cNvSpPr>
            <p:nvPr/>
          </p:nvSpPr>
          <p:spPr bwMode="auto">
            <a:xfrm>
              <a:off x="0" y="0"/>
              <a:ext cx="136" cy="2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" name="Group 20"/>
          <p:cNvGrpSpPr>
            <a:grpSpLocks/>
          </p:cNvGrpSpPr>
          <p:nvPr/>
        </p:nvGrpSpPr>
        <p:grpSpPr bwMode="auto">
          <a:xfrm>
            <a:off x="1619250" y="4547766"/>
            <a:ext cx="503238" cy="719138"/>
            <a:chOff x="0" y="0"/>
            <a:chExt cx="317" cy="453"/>
          </a:xfrm>
        </p:grpSpPr>
        <p:sp>
          <p:nvSpPr>
            <p:cNvPr id="33911" name="Oval 21"/>
            <p:cNvSpPr>
              <a:spLocks noChangeArrowheads="1"/>
            </p:cNvSpPr>
            <p:nvPr/>
          </p:nvSpPr>
          <p:spPr bwMode="auto">
            <a:xfrm>
              <a:off x="90" y="226"/>
              <a:ext cx="227" cy="227"/>
            </a:xfrm>
            <a:prstGeom prst="ellipse">
              <a:avLst/>
            </a:prstGeom>
            <a:solidFill>
              <a:srgbClr val="92D05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 dirty="0">
                  <a:latin typeface="Tahoma" panose="020B0604030504040204" pitchFamily="34" charset="0"/>
                  <a:ea typeface="宋体" panose="02010600030101010101" pitchFamily="2" charset="-122"/>
                </a:rPr>
                <a:t>88</a:t>
              </a:r>
            </a:p>
          </p:txBody>
        </p:sp>
        <p:sp>
          <p:nvSpPr>
            <p:cNvPr id="33912" name="Line 22"/>
            <p:cNvSpPr>
              <a:spLocks noChangeShapeType="1"/>
            </p:cNvSpPr>
            <p:nvPr/>
          </p:nvSpPr>
          <p:spPr bwMode="auto">
            <a:xfrm>
              <a:off x="0" y="0"/>
              <a:ext cx="181" cy="22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23"/>
          <p:cNvGrpSpPr>
            <a:grpSpLocks/>
          </p:cNvGrpSpPr>
          <p:nvPr/>
        </p:nvGrpSpPr>
        <p:grpSpPr bwMode="auto">
          <a:xfrm>
            <a:off x="2987675" y="4547766"/>
            <a:ext cx="647700" cy="719138"/>
            <a:chOff x="0" y="0"/>
            <a:chExt cx="408" cy="453"/>
          </a:xfrm>
        </p:grpSpPr>
        <p:sp>
          <p:nvSpPr>
            <p:cNvPr id="33909" name="Oval 24"/>
            <p:cNvSpPr>
              <a:spLocks noChangeArrowheads="1"/>
            </p:cNvSpPr>
            <p:nvPr/>
          </p:nvSpPr>
          <p:spPr bwMode="auto">
            <a:xfrm>
              <a:off x="0" y="226"/>
              <a:ext cx="227" cy="227"/>
            </a:xfrm>
            <a:prstGeom prst="ellipse">
              <a:avLst/>
            </a:prstGeom>
            <a:solidFill>
              <a:srgbClr val="92D05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 dirty="0">
                  <a:latin typeface="Tahoma" panose="020B0604030504040204" pitchFamily="34" charset="0"/>
                  <a:ea typeface="宋体" panose="02010600030101010101" pitchFamily="2" charset="-122"/>
                </a:rPr>
                <a:t>118</a:t>
              </a:r>
            </a:p>
          </p:txBody>
        </p:sp>
        <p:sp>
          <p:nvSpPr>
            <p:cNvPr id="33910" name="Line 25"/>
            <p:cNvSpPr>
              <a:spLocks noChangeShapeType="1"/>
            </p:cNvSpPr>
            <p:nvPr/>
          </p:nvSpPr>
          <p:spPr bwMode="auto">
            <a:xfrm flipH="1">
              <a:off x="136" y="0"/>
              <a:ext cx="272" cy="22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" name="Group 26"/>
          <p:cNvGrpSpPr>
            <a:grpSpLocks/>
          </p:cNvGrpSpPr>
          <p:nvPr/>
        </p:nvGrpSpPr>
        <p:grpSpPr bwMode="auto">
          <a:xfrm>
            <a:off x="2627313" y="5266904"/>
            <a:ext cx="431800" cy="792162"/>
            <a:chOff x="0" y="0"/>
            <a:chExt cx="272" cy="499"/>
          </a:xfrm>
        </p:grpSpPr>
        <p:sp>
          <p:nvSpPr>
            <p:cNvPr id="33907" name="Oval 27"/>
            <p:cNvSpPr>
              <a:spLocks noChangeArrowheads="1"/>
            </p:cNvSpPr>
            <p:nvPr/>
          </p:nvSpPr>
          <p:spPr bwMode="auto">
            <a:xfrm>
              <a:off x="0" y="272"/>
              <a:ext cx="227" cy="227"/>
            </a:xfrm>
            <a:prstGeom prst="ellipse">
              <a:avLst/>
            </a:prstGeom>
            <a:solidFill>
              <a:srgbClr val="92D05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 dirty="0">
                  <a:latin typeface="Tahoma" panose="020B0604030504040204" pitchFamily="34" charset="0"/>
                  <a:ea typeface="宋体" panose="02010600030101010101" pitchFamily="2" charset="-122"/>
                </a:rPr>
                <a:t>112</a:t>
              </a:r>
            </a:p>
          </p:txBody>
        </p:sp>
        <p:sp>
          <p:nvSpPr>
            <p:cNvPr id="33908" name="Line 28"/>
            <p:cNvSpPr>
              <a:spLocks noChangeShapeType="1"/>
            </p:cNvSpPr>
            <p:nvPr/>
          </p:nvSpPr>
          <p:spPr bwMode="auto">
            <a:xfrm flipH="1">
              <a:off x="91" y="0"/>
              <a:ext cx="181" cy="2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" name="Group 29"/>
          <p:cNvGrpSpPr>
            <a:grpSpLocks/>
          </p:cNvGrpSpPr>
          <p:nvPr/>
        </p:nvGrpSpPr>
        <p:grpSpPr bwMode="auto">
          <a:xfrm>
            <a:off x="3275013" y="5266904"/>
            <a:ext cx="433387" cy="792162"/>
            <a:chOff x="0" y="0"/>
            <a:chExt cx="273" cy="499"/>
          </a:xfrm>
        </p:grpSpPr>
        <p:sp>
          <p:nvSpPr>
            <p:cNvPr id="33905" name="Oval 30"/>
            <p:cNvSpPr>
              <a:spLocks noChangeArrowheads="1"/>
            </p:cNvSpPr>
            <p:nvPr/>
          </p:nvSpPr>
          <p:spPr bwMode="auto">
            <a:xfrm>
              <a:off x="46" y="272"/>
              <a:ext cx="227" cy="227"/>
            </a:xfrm>
            <a:prstGeom prst="ellipse">
              <a:avLst/>
            </a:prstGeom>
            <a:solidFill>
              <a:srgbClr val="92D05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 dirty="0">
                  <a:latin typeface="Tahoma" panose="020B0604030504040204" pitchFamily="34" charset="0"/>
                  <a:ea typeface="宋体" panose="02010600030101010101" pitchFamily="2" charset="-122"/>
                </a:rPr>
                <a:t>138</a:t>
              </a:r>
            </a:p>
          </p:txBody>
        </p:sp>
        <p:sp>
          <p:nvSpPr>
            <p:cNvPr id="33906" name="Line 31"/>
            <p:cNvSpPr>
              <a:spLocks noChangeShapeType="1"/>
            </p:cNvSpPr>
            <p:nvPr/>
          </p:nvSpPr>
          <p:spPr bwMode="auto">
            <a:xfrm>
              <a:off x="0" y="0"/>
              <a:ext cx="136" cy="2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" name="Group 32"/>
          <p:cNvGrpSpPr>
            <a:grpSpLocks/>
          </p:cNvGrpSpPr>
          <p:nvPr/>
        </p:nvGrpSpPr>
        <p:grpSpPr bwMode="auto">
          <a:xfrm>
            <a:off x="3851275" y="5266904"/>
            <a:ext cx="360363" cy="792162"/>
            <a:chOff x="0" y="0"/>
            <a:chExt cx="227" cy="499"/>
          </a:xfrm>
        </p:grpSpPr>
        <p:sp>
          <p:nvSpPr>
            <p:cNvPr id="33903" name="Oval 33"/>
            <p:cNvSpPr>
              <a:spLocks noChangeArrowheads="1"/>
            </p:cNvSpPr>
            <p:nvPr/>
          </p:nvSpPr>
          <p:spPr bwMode="auto">
            <a:xfrm>
              <a:off x="0" y="272"/>
              <a:ext cx="227" cy="227"/>
            </a:xfrm>
            <a:prstGeom prst="ellipse">
              <a:avLst/>
            </a:prstGeom>
            <a:solidFill>
              <a:srgbClr val="92D05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 dirty="0">
                  <a:latin typeface="Tahoma" panose="020B0604030504040204" pitchFamily="34" charset="0"/>
                  <a:ea typeface="宋体" panose="02010600030101010101" pitchFamily="2" charset="-122"/>
                </a:rPr>
                <a:t>173</a:t>
              </a:r>
            </a:p>
          </p:txBody>
        </p:sp>
        <p:sp>
          <p:nvSpPr>
            <p:cNvPr id="33904" name="Line 34"/>
            <p:cNvSpPr>
              <a:spLocks noChangeShapeType="1"/>
            </p:cNvSpPr>
            <p:nvPr/>
          </p:nvSpPr>
          <p:spPr bwMode="auto">
            <a:xfrm flipH="1">
              <a:off x="45" y="0"/>
              <a:ext cx="181" cy="2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" name="Group 35"/>
          <p:cNvGrpSpPr>
            <a:grpSpLocks/>
          </p:cNvGrpSpPr>
          <p:nvPr/>
        </p:nvGrpSpPr>
        <p:grpSpPr bwMode="auto">
          <a:xfrm>
            <a:off x="4425950" y="5266904"/>
            <a:ext cx="433388" cy="792162"/>
            <a:chOff x="0" y="0"/>
            <a:chExt cx="273" cy="499"/>
          </a:xfrm>
          <a:solidFill>
            <a:srgbClr val="92D050"/>
          </a:solidFill>
        </p:grpSpPr>
        <p:sp>
          <p:nvSpPr>
            <p:cNvPr id="33901" name="Oval 36"/>
            <p:cNvSpPr>
              <a:spLocks noChangeArrowheads="1"/>
            </p:cNvSpPr>
            <p:nvPr/>
          </p:nvSpPr>
          <p:spPr bwMode="auto">
            <a:xfrm>
              <a:off x="46" y="272"/>
              <a:ext cx="227" cy="227"/>
            </a:xfrm>
            <a:prstGeom prst="ellips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 dirty="0">
                  <a:latin typeface="Tahoma" panose="020B0604030504040204" pitchFamily="34" charset="0"/>
                  <a:ea typeface="宋体" panose="02010600030101010101" pitchFamily="2" charset="-122"/>
                </a:rPr>
                <a:t>197</a:t>
              </a:r>
            </a:p>
          </p:txBody>
        </p:sp>
        <p:sp>
          <p:nvSpPr>
            <p:cNvPr id="33902" name="Line 37"/>
            <p:cNvSpPr>
              <a:spLocks noChangeShapeType="1"/>
            </p:cNvSpPr>
            <p:nvPr/>
          </p:nvSpPr>
          <p:spPr bwMode="auto">
            <a:xfrm>
              <a:off x="0" y="0"/>
              <a:ext cx="136" cy="272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3" name="Group 38"/>
          <p:cNvGrpSpPr>
            <a:grpSpLocks/>
          </p:cNvGrpSpPr>
          <p:nvPr/>
        </p:nvGrpSpPr>
        <p:grpSpPr bwMode="auto">
          <a:xfrm>
            <a:off x="3995738" y="4547766"/>
            <a:ext cx="503237" cy="719138"/>
            <a:chOff x="0" y="0"/>
            <a:chExt cx="317" cy="453"/>
          </a:xfrm>
        </p:grpSpPr>
        <p:sp>
          <p:nvSpPr>
            <p:cNvPr id="33899" name="Oval 39"/>
            <p:cNvSpPr>
              <a:spLocks noChangeArrowheads="1"/>
            </p:cNvSpPr>
            <p:nvPr/>
          </p:nvSpPr>
          <p:spPr bwMode="auto">
            <a:xfrm>
              <a:off x="90" y="226"/>
              <a:ext cx="227" cy="227"/>
            </a:xfrm>
            <a:prstGeom prst="ellipse">
              <a:avLst/>
            </a:prstGeom>
            <a:solidFill>
              <a:srgbClr val="92D05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 dirty="0">
                  <a:latin typeface="Tahoma" panose="020B0604030504040204" pitchFamily="34" charset="0"/>
                  <a:ea typeface="宋体" panose="02010600030101010101" pitchFamily="2" charset="-122"/>
                </a:rPr>
                <a:t>188</a:t>
              </a:r>
            </a:p>
          </p:txBody>
        </p:sp>
        <p:sp>
          <p:nvSpPr>
            <p:cNvPr id="33900" name="Line 40"/>
            <p:cNvSpPr>
              <a:spLocks noChangeShapeType="1"/>
            </p:cNvSpPr>
            <p:nvPr/>
          </p:nvSpPr>
          <p:spPr bwMode="auto">
            <a:xfrm>
              <a:off x="0" y="0"/>
              <a:ext cx="181" cy="22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" name="Group 41"/>
          <p:cNvGrpSpPr>
            <a:grpSpLocks/>
          </p:cNvGrpSpPr>
          <p:nvPr/>
        </p:nvGrpSpPr>
        <p:grpSpPr bwMode="auto">
          <a:xfrm>
            <a:off x="2843213" y="3898479"/>
            <a:ext cx="1152525" cy="720725"/>
            <a:chOff x="0" y="0"/>
            <a:chExt cx="726" cy="454"/>
          </a:xfrm>
        </p:grpSpPr>
        <p:sp>
          <p:nvSpPr>
            <p:cNvPr id="33897" name="Oval 42"/>
            <p:cNvSpPr>
              <a:spLocks noChangeArrowheads="1"/>
            </p:cNvSpPr>
            <p:nvPr/>
          </p:nvSpPr>
          <p:spPr bwMode="auto">
            <a:xfrm>
              <a:off x="499" y="227"/>
              <a:ext cx="227" cy="227"/>
            </a:xfrm>
            <a:prstGeom prst="ellipse">
              <a:avLst/>
            </a:prstGeom>
            <a:solidFill>
              <a:srgbClr val="92D05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 dirty="0">
                  <a:latin typeface="Tahoma" panose="020B0604030504040204" pitchFamily="34" charset="0"/>
                  <a:ea typeface="宋体" panose="02010600030101010101" pitchFamily="2" charset="-122"/>
                </a:rPr>
                <a:t>145</a:t>
              </a:r>
            </a:p>
          </p:txBody>
        </p:sp>
        <p:sp>
          <p:nvSpPr>
            <p:cNvPr id="33898" name="Line 43"/>
            <p:cNvSpPr>
              <a:spLocks noChangeShapeType="1"/>
            </p:cNvSpPr>
            <p:nvPr/>
          </p:nvSpPr>
          <p:spPr bwMode="auto">
            <a:xfrm flipH="1" flipV="1">
              <a:off x="0" y="0"/>
              <a:ext cx="499" cy="22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4860" name="Text Box 44"/>
          <p:cNvSpPr txBox="1">
            <a:spLocks noChangeArrowheads="1"/>
          </p:cNvSpPr>
          <p:nvPr/>
        </p:nvSpPr>
        <p:spPr bwMode="auto">
          <a:xfrm>
            <a:off x="34925" y="3611141"/>
            <a:ext cx="13684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b="1">
                <a:solidFill>
                  <a:srgbClr val="0000FF"/>
                </a:solidFill>
                <a:ea typeface="宋体" panose="02010600030101010101" pitchFamily="2" charset="-122"/>
              </a:rPr>
              <a:t>删除叶子</a:t>
            </a:r>
            <a:r>
              <a:rPr lang="en-US" altLang="zh-CN" b="1">
                <a:solidFill>
                  <a:srgbClr val="0000FF"/>
                </a:solidFill>
                <a:ea typeface="宋体" panose="02010600030101010101" pitchFamily="2" charset="-122"/>
              </a:rPr>
              <a:t>78</a:t>
            </a:r>
          </a:p>
        </p:txBody>
      </p:sp>
      <p:sp>
        <p:nvSpPr>
          <p:cNvPr id="34861" name="Oval 45"/>
          <p:cNvSpPr>
            <a:spLocks noChangeArrowheads="1"/>
          </p:cNvSpPr>
          <p:nvPr/>
        </p:nvSpPr>
        <p:spPr bwMode="auto">
          <a:xfrm>
            <a:off x="6659563" y="1810916"/>
            <a:ext cx="360362" cy="360363"/>
          </a:xfrm>
          <a:prstGeom prst="ellipse">
            <a:avLst/>
          </a:prstGeom>
          <a:solidFill>
            <a:srgbClr val="92D050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 eaLnBrk="1" hangingPunct="1"/>
            <a:r>
              <a:rPr lang="en-US" altLang="zh-CN">
                <a:latin typeface="Tahoma" panose="020B0604030504040204" pitchFamily="34" charset="0"/>
                <a:ea typeface="宋体" panose="02010600030101010101" pitchFamily="2" charset="-122"/>
              </a:rPr>
              <a:t>100</a:t>
            </a:r>
          </a:p>
        </p:txBody>
      </p:sp>
      <p:grpSp>
        <p:nvGrpSpPr>
          <p:cNvPr id="15" name="Group 46"/>
          <p:cNvGrpSpPr>
            <a:grpSpLocks/>
          </p:cNvGrpSpPr>
          <p:nvPr/>
        </p:nvGrpSpPr>
        <p:grpSpPr bwMode="auto">
          <a:xfrm>
            <a:off x="5435600" y="2026816"/>
            <a:ext cx="1223963" cy="720725"/>
            <a:chOff x="0" y="0"/>
            <a:chExt cx="771" cy="454"/>
          </a:xfrm>
          <a:solidFill>
            <a:srgbClr val="92D050"/>
          </a:solidFill>
        </p:grpSpPr>
        <p:sp>
          <p:nvSpPr>
            <p:cNvPr id="33895" name="Oval 47"/>
            <p:cNvSpPr>
              <a:spLocks noChangeArrowheads="1"/>
            </p:cNvSpPr>
            <p:nvPr/>
          </p:nvSpPr>
          <p:spPr bwMode="auto">
            <a:xfrm>
              <a:off x="0" y="227"/>
              <a:ext cx="227" cy="227"/>
            </a:xfrm>
            <a:prstGeom prst="ellips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>
                  <a:latin typeface="Tahoma" panose="020B0604030504040204" pitchFamily="34" charset="0"/>
                  <a:ea typeface="宋体" panose="02010600030101010101" pitchFamily="2" charset="-122"/>
                </a:rPr>
                <a:t>65</a:t>
              </a:r>
            </a:p>
          </p:txBody>
        </p:sp>
        <p:sp>
          <p:nvSpPr>
            <p:cNvPr id="33896" name="Line 48"/>
            <p:cNvSpPr>
              <a:spLocks noChangeShapeType="1"/>
            </p:cNvSpPr>
            <p:nvPr/>
          </p:nvSpPr>
          <p:spPr bwMode="auto">
            <a:xfrm flipH="1">
              <a:off x="182" y="0"/>
              <a:ext cx="589" cy="227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6" name="Group 49"/>
          <p:cNvGrpSpPr>
            <a:grpSpLocks/>
          </p:cNvGrpSpPr>
          <p:nvPr/>
        </p:nvGrpSpPr>
        <p:grpSpPr bwMode="auto">
          <a:xfrm>
            <a:off x="4787900" y="2676104"/>
            <a:ext cx="647700" cy="719137"/>
            <a:chOff x="0" y="0"/>
            <a:chExt cx="408" cy="453"/>
          </a:xfrm>
          <a:solidFill>
            <a:srgbClr val="92D050"/>
          </a:solidFill>
        </p:grpSpPr>
        <p:sp>
          <p:nvSpPr>
            <p:cNvPr id="33893" name="Oval 50"/>
            <p:cNvSpPr>
              <a:spLocks noChangeArrowheads="1"/>
            </p:cNvSpPr>
            <p:nvPr/>
          </p:nvSpPr>
          <p:spPr bwMode="auto">
            <a:xfrm>
              <a:off x="0" y="226"/>
              <a:ext cx="227" cy="227"/>
            </a:xfrm>
            <a:prstGeom prst="ellips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>
                  <a:latin typeface="Tahoma" panose="020B0604030504040204" pitchFamily="34" charset="0"/>
                  <a:ea typeface="宋体" panose="02010600030101010101" pitchFamily="2" charset="-122"/>
                </a:rPr>
                <a:t>42</a:t>
              </a:r>
            </a:p>
          </p:txBody>
        </p:sp>
        <p:sp>
          <p:nvSpPr>
            <p:cNvPr id="33894" name="Line 51"/>
            <p:cNvSpPr>
              <a:spLocks noChangeShapeType="1"/>
            </p:cNvSpPr>
            <p:nvPr/>
          </p:nvSpPr>
          <p:spPr bwMode="auto">
            <a:xfrm flipH="1">
              <a:off x="136" y="0"/>
              <a:ext cx="272" cy="226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" name="Group 52"/>
          <p:cNvGrpSpPr>
            <a:grpSpLocks/>
          </p:cNvGrpSpPr>
          <p:nvPr/>
        </p:nvGrpSpPr>
        <p:grpSpPr bwMode="auto">
          <a:xfrm>
            <a:off x="4427538" y="3395241"/>
            <a:ext cx="431800" cy="792163"/>
            <a:chOff x="0" y="0"/>
            <a:chExt cx="272" cy="499"/>
          </a:xfrm>
          <a:solidFill>
            <a:srgbClr val="92D050"/>
          </a:solidFill>
        </p:grpSpPr>
        <p:sp>
          <p:nvSpPr>
            <p:cNvPr id="33891" name="Oval 53"/>
            <p:cNvSpPr>
              <a:spLocks noChangeArrowheads="1"/>
            </p:cNvSpPr>
            <p:nvPr/>
          </p:nvSpPr>
          <p:spPr bwMode="auto">
            <a:xfrm>
              <a:off x="0" y="272"/>
              <a:ext cx="227" cy="227"/>
            </a:xfrm>
            <a:prstGeom prst="ellips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>
                  <a:latin typeface="Tahoma" panose="020B0604030504040204" pitchFamily="34" charset="0"/>
                  <a:ea typeface="宋体" panose="02010600030101010101" pitchFamily="2" charset="-122"/>
                </a:rPr>
                <a:t>20</a:t>
              </a:r>
            </a:p>
          </p:txBody>
        </p:sp>
        <p:sp>
          <p:nvSpPr>
            <p:cNvPr id="33892" name="Line 54"/>
            <p:cNvSpPr>
              <a:spLocks noChangeShapeType="1"/>
            </p:cNvSpPr>
            <p:nvPr/>
          </p:nvSpPr>
          <p:spPr bwMode="auto">
            <a:xfrm flipH="1">
              <a:off x="91" y="0"/>
              <a:ext cx="181" cy="272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8" name="Group 55"/>
          <p:cNvGrpSpPr>
            <a:grpSpLocks/>
          </p:cNvGrpSpPr>
          <p:nvPr/>
        </p:nvGrpSpPr>
        <p:grpSpPr bwMode="auto">
          <a:xfrm>
            <a:off x="6226175" y="3395241"/>
            <a:ext cx="433388" cy="792163"/>
            <a:chOff x="0" y="0"/>
            <a:chExt cx="273" cy="499"/>
          </a:xfrm>
          <a:solidFill>
            <a:srgbClr val="92D050"/>
          </a:solidFill>
        </p:grpSpPr>
        <p:sp>
          <p:nvSpPr>
            <p:cNvPr id="33889" name="Oval 56"/>
            <p:cNvSpPr>
              <a:spLocks noChangeArrowheads="1"/>
            </p:cNvSpPr>
            <p:nvPr/>
          </p:nvSpPr>
          <p:spPr bwMode="auto">
            <a:xfrm>
              <a:off x="46" y="272"/>
              <a:ext cx="227" cy="227"/>
            </a:xfrm>
            <a:prstGeom prst="ellips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>
                  <a:latin typeface="Tahoma" panose="020B0604030504040204" pitchFamily="34" charset="0"/>
                  <a:ea typeface="宋体" panose="02010600030101010101" pitchFamily="2" charset="-122"/>
                </a:rPr>
                <a:t>93</a:t>
              </a:r>
            </a:p>
          </p:txBody>
        </p:sp>
        <p:sp>
          <p:nvSpPr>
            <p:cNvPr id="33890" name="Line 57"/>
            <p:cNvSpPr>
              <a:spLocks noChangeShapeType="1"/>
            </p:cNvSpPr>
            <p:nvPr/>
          </p:nvSpPr>
          <p:spPr bwMode="auto">
            <a:xfrm>
              <a:off x="0" y="0"/>
              <a:ext cx="136" cy="272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9" name="Group 58"/>
          <p:cNvGrpSpPr>
            <a:grpSpLocks/>
          </p:cNvGrpSpPr>
          <p:nvPr/>
        </p:nvGrpSpPr>
        <p:grpSpPr bwMode="auto">
          <a:xfrm>
            <a:off x="5795963" y="2676104"/>
            <a:ext cx="503237" cy="719137"/>
            <a:chOff x="0" y="0"/>
            <a:chExt cx="317" cy="453"/>
          </a:xfrm>
          <a:solidFill>
            <a:srgbClr val="92D050"/>
          </a:solidFill>
        </p:grpSpPr>
        <p:sp>
          <p:nvSpPr>
            <p:cNvPr id="33887" name="Oval 59"/>
            <p:cNvSpPr>
              <a:spLocks noChangeArrowheads="1"/>
            </p:cNvSpPr>
            <p:nvPr/>
          </p:nvSpPr>
          <p:spPr bwMode="auto">
            <a:xfrm>
              <a:off x="90" y="226"/>
              <a:ext cx="227" cy="227"/>
            </a:xfrm>
            <a:prstGeom prst="ellips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>
                  <a:latin typeface="Tahoma" panose="020B0604030504040204" pitchFamily="34" charset="0"/>
                  <a:ea typeface="宋体" panose="02010600030101010101" pitchFamily="2" charset="-122"/>
                </a:rPr>
                <a:t>88</a:t>
              </a:r>
            </a:p>
          </p:txBody>
        </p:sp>
        <p:sp>
          <p:nvSpPr>
            <p:cNvPr id="33888" name="Line 60"/>
            <p:cNvSpPr>
              <a:spLocks noChangeShapeType="1"/>
            </p:cNvSpPr>
            <p:nvPr/>
          </p:nvSpPr>
          <p:spPr bwMode="auto">
            <a:xfrm>
              <a:off x="0" y="0"/>
              <a:ext cx="181" cy="226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0" name="Group 61"/>
          <p:cNvGrpSpPr>
            <a:grpSpLocks/>
          </p:cNvGrpSpPr>
          <p:nvPr/>
        </p:nvGrpSpPr>
        <p:grpSpPr bwMode="auto">
          <a:xfrm>
            <a:off x="7164388" y="2676104"/>
            <a:ext cx="647700" cy="719137"/>
            <a:chOff x="0" y="0"/>
            <a:chExt cx="408" cy="453"/>
          </a:xfrm>
          <a:solidFill>
            <a:srgbClr val="92D050"/>
          </a:solidFill>
        </p:grpSpPr>
        <p:sp>
          <p:nvSpPr>
            <p:cNvPr id="33885" name="Oval 62"/>
            <p:cNvSpPr>
              <a:spLocks noChangeArrowheads="1"/>
            </p:cNvSpPr>
            <p:nvPr/>
          </p:nvSpPr>
          <p:spPr bwMode="auto">
            <a:xfrm>
              <a:off x="0" y="226"/>
              <a:ext cx="227" cy="227"/>
            </a:xfrm>
            <a:prstGeom prst="ellips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>
                  <a:latin typeface="Tahoma" panose="020B0604030504040204" pitchFamily="34" charset="0"/>
                  <a:ea typeface="宋体" panose="02010600030101010101" pitchFamily="2" charset="-122"/>
                </a:rPr>
                <a:t>118</a:t>
              </a:r>
            </a:p>
          </p:txBody>
        </p:sp>
        <p:sp>
          <p:nvSpPr>
            <p:cNvPr id="33886" name="Line 63"/>
            <p:cNvSpPr>
              <a:spLocks noChangeShapeType="1"/>
            </p:cNvSpPr>
            <p:nvPr/>
          </p:nvSpPr>
          <p:spPr bwMode="auto">
            <a:xfrm flipH="1">
              <a:off x="136" y="0"/>
              <a:ext cx="272" cy="226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1" name="Group 64"/>
          <p:cNvGrpSpPr>
            <a:grpSpLocks/>
          </p:cNvGrpSpPr>
          <p:nvPr/>
        </p:nvGrpSpPr>
        <p:grpSpPr bwMode="auto">
          <a:xfrm>
            <a:off x="6804025" y="3395241"/>
            <a:ext cx="431800" cy="792163"/>
            <a:chOff x="0" y="0"/>
            <a:chExt cx="272" cy="499"/>
          </a:xfrm>
          <a:solidFill>
            <a:srgbClr val="92D050"/>
          </a:solidFill>
        </p:grpSpPr>
        <p:sp>
          <p:nvSpPr>
            <p:cNvPr id="33883" name="Oval 65"/>
            <p:cNvSpPr>
              <a:spLocks noChangeArrowheads="1"/>
            </p:cNvSpPr>
            <p:nvPr/>
          </p:nvSpPr>
          <p:spPr bwMode="auto">
            <a:xfrm>
              <a:off x="0" y="272"/>
              <a:ext cx="227" cy="227"/>
            </a:xfrm>
            <a:prstGeom prst="ellips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>
                  <a:latin typeface="Tahoma" panose="020B0604030504040204" pitchFamily="34" charset="0"/>
                  <a:ea typeface="宋体" panose="02010600030101010101" pitchFamily="2" charset="-122"/>
                </a:rPr>
                <a:t>112</a:t>
              </a:r>
            </a:p>
          </p:txBody>
        </p:sp>
        <p:sp>
          <p:nvSpPr>
            <p:cNvPr id="33884" name="Line 66"/>
            <p:cNvSpPr>
              <a:spLocks noChangeShapeType="1"/>
            </p:cNvSpPr>
            <p:nvPr/>
          </p:nvSpPr>
          <p:spPr bwMode="auto">
            <a:xfrm flipH="1">
              <a:off x="91" y="0"/>
              <a:ext cx="181" cy="272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2" name="Group 67"/>
          <p:cNvGrpSpPr>
            <a:grpSpLocks/>
          </p:cNvGrpSpPr>
          <p:nvPr/>
        </p:nvGrpSpPr>
        <p:grpSpPr bwMode="auto">
          <a:xfrm>
            <a:off x="7451725" y="3395241"/>
            <a:ext cx="433388" cy="792163"/>
            <a:chOff x="0" y="0"/>
            <a:chExt cx="273" cy="499"/>
          </a:xfrm>
          <a:solidFill>
            <a:srgbClr val="92D050"/>
          </a:solidFill>
        </p:grpSpPr>
        <p:sp>
          <p:nvSpPr>
            <p:cNvPr id="33881" name="Oval 68"/>
            <p:cNvSpPr>
              <a:spLocks noChangeArrowheads="1"/>
            </p:cNvSpPr>
            <p:nvPr/>
          </p:nvSpPr>
          <p:spPr bwMode="auto">
            <a:xfrm>
              <a:off x="46" y="272"/>
              <a:ext cx="227" cy="227"/>
            </a:xfrm>
            <a:prstGeom prst="ellips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>
                  <a:latin typeface="Tahoma" panose="020B0604030504040204" pitchFamily="34" charset="0"/>
                  <a:ea typeface="宋体" panose="02010600030101010101" pitchFamily="2" charset="-122"/>
                </a:rPr>
                <a:t>138</a:t>
              </a:r>
            </a:p>
          </p:txBody>
        </p:sp>
        <p:sp>
          <p:nvSpPr>
            <p:cNvPr id="33882" name="Line 69"/>
            <p:cNvSpPr>
              <a:spLocks noChangeShapeType="1"/>
            </p:cNvSpPr>
            <p:nvPr/>
          </p:nvSpPr>
          <p:spPr bwMode="auto">
            <a:xfrm>
              <a:off x="0" y="0"/>
              <a:ext cx="136" cy="272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3" name="Group 70"/>
          <p:cNvGrpSpPr>
            <a:grpSpLocks/>
          </p:cNvGrpSpPr>
          <p:nvPr/>
        </p:nvGrpSpPr>
        <p:grpSpPr bwMode="auto">
          <a:xfrm>
            <a:off x="8027988" y="3395241"/>
            <a:ext cx="360362" cy="792163"/>
            <a:chOff x="0" y="0"/>
            <a:chExt cx="227" cy="499"/>
          </a:xfrm>
          <a:solidFill>
            <a:srgbClr val="92D050"/>
          </a:solidFill>
        </p:grpSpPr>
        <p:sp>
          <p:nvSpPr>
            <p:cNvPr id="33879" name="Oval 71"/>
            <p:cNvSpPr>
              <a:spLocks noChangeArrowheads="1"/>
            </p:cNvSpPr>
            <p:nvPr/>
          </p:nvSpPr>
          <p:spPr bwMode="auto">
            <a:xfrm>
              <a:off x="0" y="272"/>
              <a:ext cx="227" cy="227"/>
            </a:xfrm>
            <a:prstGeom prst="ellips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>
                  <a:latin typeface="Tahoma" panose="020B0604030504040204" pitchFamily="34" charset="0"/>
                  <a:ea typeface="宋体" panose="02010600030101010101" pitchFamily="2" charset="-122"/>
                </a:rPr>
                <a:t>173</a:t>
              </a:r>
            </a:p>
          </p:txBody>
        </p:sp>
        <p:sp>
          <p:nvSpPr>
            <p:cNvPr id="33880" name="Line 72"/>
            <p:cNvSpPr>
              <a:spLocks noChangeShapeType="1"/>
            </p:cNvSpPr>
            <p:nvPr/>
          </p:nvSpPr>
          <p:spPr bwMode="auto">
            <a:xfrm flipH="1">
              <a:off x="45" y="0"/>
              <a:ext cx="181" cy="272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4" name="Group 73"/>
          <p:cNvGrpSpPr>
            <a:grpSpLocks/>
          </p:cNvGrpSpPr>
          <p:nvPr/>
        </p:nvGrpSpPr>
        <p:grpSpPr bwMode="auto">
          <a:xfrm>
            <a:off x="8602663" y="3395241"/>
            <a:ext cx="433387" cy="792163"/>
            <a:chOff x="0" y="0"/>
            <a:chExt cx="273" cy="499"/>
          </a:xfrm>
          <a:solidFill>
            <a:srgbClr val="92D050"/>
          </a:solidFill>
        </p:grpSpPr>
        <p:sp>
          <p:nvSpPr>
            <p:cNvPr id="33877" name="Oval 74"/>
            <p:cNvSpPr>
              <a:spLocks noChangeArrowheads="1"/>
            </p:cNvSpPr>
            <p:nvPr/>
          </p:nvSpPr>
          <p:spPr bwMode="auto">
            <a:xfrm>
              <a:off x="46" y="272"/>
              <a:ext cx="227" cy="227"/>
            </a:xfrm>
            <a:prstGeom prst="ellips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>
                  <a:latin typeface="Tahoma" panose="020B0604030504040204" pitchFamily="34" charset="0"/>
                  <a:ea typeface="宋体" panose="02010600030101010101" pitchFamily="2" charset="-122"/>
                </a:rPr>
                <a:t>197</a:t>
              </a:r>
            </a:p>
          </p:txBody>
        </p:sp>
        <p:sp>
          <p:nvSpPr>
            <p:cNvPr id="33878" name="Line 75"/>
            <p:cNvSpPr>
              <a:spLocks noChangeShapeType="1"/>
            </p:cNvSpPr>
            <p:nvPr/>
          </p:nvSpPr>
          <p:spPr bwMode="auto">
            <a:xfrm>
              <a:off x="0" y="0"/>
              <a:ext cx="136" cy="272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5" name="Group 76"/>
          <p:cNvGrpSpPr>
            <a:grpSpLocks/>
          </p:cNvGrpSpPr>
          <p:nvPr/>
        </p:nvGrpSpPr>
        <p:grpSpPr bwMode="auto">
          <a:xfrm>
            <a:off x="8172450" y="2676104"/>
            <a:ext cx="503238" cy="719137"/>
            <a:chOff x="0" y="0"/>
            <a:chExt cx="317" cy="453"/>
          </a:xfrm>
          <a:solidFill>
            <a:srgbClr val="92D050"/>
          </a:solidFill>
        </p:grpSpPr>
        <p:sp>
          <p:nvSpPr>
            <p:cNvPr id="33875" name="Oval 77"/>
            <p:cNvSpPr>
              <a:spLocks noChangeArrowheads="1"/>
            </p:cNvSpPr>
            <p:nvPr/>
          </p:nvSpPr>
          <p:spPr bwMode="auto">
            <a:xfrm>
              <a:off x="90" y="226"/>
              <a:ext cx="227" cy="227"/>
            </a:xfrm>
            <a:prstGeom prst="ellips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>
                  <a:latin typeface="Tahoma" panose="020B0604030504040204" pitchFamily="34" charset="0"/>
                  <a:ea typeface="宋体" panose="02010600030101010101" pitchFamily="2" charset="-122"/>
                </a:rPr>
                <a:t>188</a:t>
              </a:r>
            </a:p>
          </p:txBody>
        </p:sp>
        <p:sp>
          <p:nvSpPr>
            <p:cNvPr id="33876" name="Line 78"/>
            <p:cNvSpPr>
              <a:spLocks noChangeShapeType="1"/>
            </p:cNvSpPr>
            <p:nvPr/>
          </p:nvSpPr>
          <p:spPr bwMode="auto">
            <a:xfrm>
              <a:off x="0" y="0"/>
              <a:ext cx="181" cy="226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6" name="Group 79"/>
          <p:cNvGrpSpPr>
            <a:grpSpLocks/>
          </p:cNvGrpSpPr>
          <p:nvPr/>
        </p:nvGrpSpPr>
        <p:grpSpPr bwMode="auto">
          <a:xfrm>
            <a:off x="7019925" y="2026816"/>
            <a:ext cx="1152525" cy="720725"/>
            <a:chOff x="0" y="0"/>
            <a:chExt cx="726" cy="454"/>
          </a:xfrm>
          <a:solidFill>
            <a:srgbClr val="92D050"/>
          </a:solidFill>
        </p:grpSpPr>
        <p:sp>
          <p:nvSpPr>
            <p:cNvPr id="33873" name="Oval 80"/>
            <p:cNvSpPr>
              <a:spLocks noChangeArrowheads="1"/>
            </p:cNvSpPr>
            <p:nvPr/>
          </p:nvSpPr>
          <p:spPr bwMode="auto">
            <a:xfrm>
              <a:off x="499" y="227"/>
              <a:ext cx="227" cy="227"/>
            </a:xfrm>
            <a:prstGeom prst="ellips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>
                  <a:latin typeface="Tahoma" panose="020B0604030504040204" pitchFamily="34" charset="0"/>
                  <a:ea typeface="宋体" panose="02010600030101010101" pitchFamily="2" charset="-122"/>
                </a:rPr>
                <a:t>145</a:t>
              </a:r>
            </a:p>
          </p:txBody>
        </p:sp>
        <p:sp>
          <p:nvSpPr>
            <p:cNvPr id="33874" name="Line 81"/>
            <p:cNvSpPr>
              <a:spLocks noChangeShapeType="1"/>
            </p:cNvSpPr>
            <p:nvPr/>
          </p:nvSpPr>
          <p:spPr bwMode="auto">
            <a:xfrm flipH="1" flipV="1">
              <a:off x="0" y="0"/>
              <a:ext cx="499" cy="227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4898" name="Text Box 82"/>
          <p:cNvSpPr txBox="1">
            <a:spLocks noChangeArrowheads="1"/>
          </p:cNvSpPr>
          <p:nvPr/>
        </p:nvSpPr>
        <p:spPr bwMode="auto">
          <a:xfrm>
            <a:off x="3419475" y="2387179"/>
            <a:ext cx="158273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</a:rPr>
              <a:t>删除非叶子</a:t>
            </a: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42</a:t>
            </a:r>
          </a:p>
        </p:txBody>
      </p:sp>
      <p:grpSp>
        <p:nvGrpSpPr>
          <p:cNvPr id="27" name="Group 83"/>
          <p:cNvGrpSpPr>
            <a:grpSpLocks/>
          </p:cNvGrpSpPr>
          <p:nvPr/>
        </p:nvGrpSpPr>
        <p:grpSpPr bwMode="auto">
          <a:xfrm>
            <a:off x="5003800" y="2674516"/>
            <a:ext cx="431800" cy="792163"/>
            <a:chOff x="0" y="0"/>
            <a:chExt cx="272" cy="499"/>
          </a:xfrm>
          <a:solidFill>
            <a:srgbClr val="92D050"/>
          </a:solidFill>
        </p:grpSpPr>
        <p:sp>
          <p:nvSpPr>
            <p:cNvPr id="33871" name="Oval 84"/>
            <p:cNvSpPr>
              <a:spLocks noChangeArrowheads="1"/>
            </p:cNvSpPr>
            <p:nvPr/>
          </p:nvSpPr>
          <p:spPr bwMode="auto">
            <a:xfrm>
              <a:off x="0" y="272"/>
              <a:ext cx="227" cy="227"/>
            </a:xfrm>
            <a:prstGeom prst="ellips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>
                  <a:latin typeface="Tahoma" panose="020B0604030504040204" pitchFamily="34" charset="0"/>
                  <a:ea typeface="宋体" panose="02010600030101010101" pitchFamily="2" charset="-122"/>
                </a:rPr>
                <a:t>20</a:t>
              </a:r>
            </a:p>
          </p:txBody>
        </p:sp>
        <p:sp>
          <p:nvSpPr>
            <p:cNvPr id="33872" name="Line 85"/>
            <p:cNvSpPr>
              <a:spLocks noChangeShapeType="1"/>
            </p:cNvSpPr>
            <p:nvPr/>
          </p:nvSpPr>
          <p:spPr bwMode="auto">
            <a:xfrm flipH="1">
              <a:off x="91" y="0"/>
              <a:ext cx="181" cy="272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4902" name="Oval 86"/>
          <p:cNvSpPr>
            <a:spLocks noChangeArrowheads="1"/>
          </p:cNvSpPr>
          <p:nvPr/>
        </p:nvSpPr>
        <p:spPr bwMode="auto">
          <a:xfrm>
            <a:off x="6827838" y="4331866"/>
            <a:ext cx="336550" cy="338138"/>
          </a:xfrm>
          <a:prstGeom prst="ellipse">
            <a:avLst/>
          </a:prstGeom>
          <a:solidFill>
            <a:srgbClr val="92D050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 eaLnBrk="1" hangingPunct="1"/>
            <a:r>
              <a:rPr lang="en-US" altLang="zh-CN" sz="1400" b="1">
                <a:latin typeface="Tahoma" panose="020B0604030504040204" pitchFamily="34" charset="0"/>
                <a:ea typeface="宋体" panose="02010600030101010101" pitchFamily="2" charset="-122"/>
              </a:rPr>
              <a:t>100</a:t>
            </a:r>
          </a:p>
        </p:txBody>
      </p:sp>
      <p:grpSp>
        <p:nvGrpSpPr>
          <p:cNvPr id="28" name="Group 87"/>
          <p:cNvGrpSpPr>
            <a:grpSpLocks/>
          </p:cNvGrpSpPr>
          <p:nvPr/>
        </p:nvGrpSpPr>
        <p:grpSpPr bwMode="auto">
          <a:xfrm>
            <a:off x="5708650" y="4535066"/>
            <a:ext cx="1119188" cy="676275"/>
            <a:chOff x="0" y="0"/>
            <a:chExt cx="771" cy="454"/>
          </a:xfrm>
          <a:solidFill>
            <a:srgbClr val="92D050"/>
          </a:solidFill>
        </p:grpSpPr>
        <p:sp>
          <p:nvSpPr>
            <p:cNvPr id="33869" name="Oval 88"/>
            <p:cNvSpPr>
              <a:spLocks noChangeArrowheads="1"/>
            </p:cNvSpPr>
            <p:nvPr/>
          </p:nvSpPr>
          <p:spPr bwMode="auto">
            <a:xfrm>
              <a:off x="0" y="227"/>
              <a:ext cx="227" cy="227"/>
            </a:xfrm>
            <a:prstGeom prst="ellips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 sz="1400" b="1">
                  <a:latin typeface="Tahoma" panose="020B0604030504040204" pitchFamily="34" charset="0"/>
                  <a:ea typeface="宋体" panose="02010600030101010101" pitchFamily="2" charset="-122"/>
                </a:rPr>
                <a:t>65</a:t>
              </a:r>
            </a:p>
          </p:txBody>
        </p:sp>
        <p:sp>
          <p:nvSpPr>
            <p:cNvPr id="33870" name="Line 89"/>
            <p:cNvSpPr>
              <a:spLocks noChangeShapeType="1"/>
            </p:cNvSpPr>
            <p:nvPr/>
          </p:nvSpPr>
          <p:spPr bwMode="auto">
            <a:xfrm flipH="1">
              <a:off x="182" y="0"/>
              <a:ext cx="589" cy="227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9" name="Group 90"/>
          <p:cNvGrpSpPr>
            <a:grpSpLocks/>
          </p:cNvGrpSpPr>
          <p:nvPr/>
        </p:nvGrpSpPr>
        <p:grpSpPr bwMode="auto">
          <a:xfrm>
            <a:off x="5116513" y="5144666"/>
            <a:ext cx="592137" cy="674688"/>
            <a:chOff x="0" y="0"/>
            <a:chExt cx="408" cy="453"/>
          </a:xfrm>
          <a:solidFill>
            <a:srgbClr val="92D050"/>
          </a:solidFill>
        </p:grpSpPr>
        <p:sp>
          <p:nvSpPr>
            <p:cNvPr id="33867" name="Oval 91"/>
            <p:cNvSpPr>
              <a:spLocks noChangeArrowheads="1"/>
            </p:cNvSpPr>
            <p:nvPr/>
          </p:nvSpPr>
          <p:spPr bwMode="auto">
            <a:xfrm>
              <a:off x="0" y="226"/>
              <a:ext cx="227" cy="227"/>
            </a:xfrm>
            <a:prstGeom prst="ellips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 sz="1400" b="1">
                  <a:latin typeface="Tahoma" panose="020B0604030504040204" pitchFamily="34" charset="0"/>
                  <a:ea typeface="宋体" panose="02010600030101010101" pitchFamily="2" charset="-122"/>
                </a:rPr>
                <a:t>42</a:t>
              </a:r>
            </a:p>
          </p:txBody>
        </p:sp>
        <p:sp>
          <p:nvSpPr>
            <p:cNvPr id="33868" name="Line 92"/>
            <p:cNvSpPr>
              <a:spLocks noChangeShapeType="1"/>
            </p:cNvSpPr>
            <p:nvPr/>
          </p:nvSpPr>
          <p:spPr bwMode="auto">
            <a:xfrm flipH="1">
              <a:off x="136" y="0"/>
              <a:ext cx="272" cy="226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0" name="Group 93"/>
          <p:cNvGrpSpPr>
            <a:grpSpLocks/>
          </p:cNvGrpSpPr>
          <p:nvPr/>
        </p:nvGrpSpPr>
        <p:grpSpPr bwMode="auto">
          <a:xfrm>
            <a:off x="4787900" y="5819354"/>
            <a:ext cx="395288" cy="744537"/>
            <a:chOff x="0" y="0"/>
            <a:chExt cx="272" cy="499"/>
          </a:xfrm>
          <a:solidFill>
            <a:srgbClr val="92D050"/>
          </a:solidFill>
        </p:grpSpPr>
        <p:sp>
          <p:nvSpPr>
            <p:cNvPr id="33865" name="Oval 94"/>
            <p:cNvSpPr>
              <a:spLocks noChangeArrowheads="1"/>
            </p:cNvSpPr>
            <p:nvPr/>
          </p:nvSpPr>
          <p:spPr bwMode="auto">
            <a:xfrm>
              <a:off x="0" y="272"/>
              <a:ext cx="227" cy="227"/>
            </a:xfrm>
            <a:prstGeom prst="ellips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 sz="1400" b="1">
                  <a:latin typeface="Tahoma" panose="020B0604030504040204" pitchFamily="34" charset="0"/>
                  <a:ea typeface="宋体" panose="02010600030101010101" pitchFamily="2" charset="-122"/>
                </a:rPr>
                <a:t>20</a:t>
              </a:r>
            </a:p>
          </p:txBody>
        </p:sp>
        <p:sp>
          <p:nvSpPr>
            <p:cNvPr id="33866" name="Line 95"/>
            <p:cNvSpPr>
              <a:spLocks noChangeShapeType="1"/>
            </p:cNvSpPr>
            <p:nvPr/>
          </p:nvSpPr>
          <p:spPr bwMode="auto">
            <a:xfrm flipH="1">
              <a:off x="91" y="0"/>
              <a:ext cx="181" cy="272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1" name="Group 96"/>
          <p:cNvGrpSpPr>
            <a:grpSpLocks/>
          </p:cNvGrpSpPr>
          <p:nvPr/>
        </p:nvGrpSpPr>
        <p:grpSpPr bwMode="auto">
          <a:xfrm>
            <a:off x="5907088" y="5819354"/>
            <a:ext cx="328612" cy="744537"/>
            <a:chOff x="0" y="0"/>
            <a:chExt cx="227" cy="499"/>
          </a:xfrm>
          <a:solidFill>
            <a:srgbClr val="92D050"/>
          </a:solidFill>
        </p:grpSpPr>
        <p:sp>
          <p:nvSpPr>
            <p:cNvPr id="33863" name="Oval 97"/>
            <p:cNvSpPr>
              <a:spLocks noChangeArrowheads="1"/>
            </p:cNvSpPr>
            <p:nvPr/>
          </p:nvSpPr>
          <p:spPr bwMode="auto">
            <a:xfrm>
              <a:off x="0" y="272"/>
              <a:ext cx="227" cy="227"/>
            </a:xfrm>
            <a:prstGeom prst="ellips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 sz="1400" b="1">
                  <a:latin typeface="Tahoma" panose="020B0604030504040204" pitchFamily="34" charset="0"/>
                  <a:ea typeface="宋体" panose="02010600030101010101" pitchFamily="2" charset="-122"/>
                </a:rPr>
                <a:t>78</a:t>
              </a:r>
            </a:p>
          </p:txBody>
        </p:sp>
        <p:sp>
          <p:nvSpPr>
            <p:cNvPr id="33864" name="Line 98"/>
            <p:cNvSpPr>
              <a:spLocks noChangeShapeType="1"/>
            </p:cNvSpPr>
            <p:nvPr/>
          </p:nvSpPr>
          <p:spPr bwMode="auto">
            <a:xfrm flipH="1">
              <a:off x="45" y="0"/>
              <a:ext cx="181" cy="272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3923" name="Group 99"/>
          <p:cNvGrpSpPr>
            <a:grpSpLocks/>
          </p:cNvGrpSpPr>
          <p:nvPr/>
        </p:nvGrpSpPr>
        <p:grpSpPr bwMode="auto">
          <a:xfrm>
            <a:off x="6430963" y="5819354"/>
            <a:ext cx="396875" cy="744537"/>
            <a:chOff x="0" y="0"/>
            <a:chExt cx="273" cy="499"/>
          </a:xfrm>
          <a:solidFill>
            <a:srgbClr val="92D050"/>
          </a:solidFill>
        </p:grpSpPr>
        <p:sp>
          <p:nvSpPr>
            <p:cNvPr id="33861" name="Oval 100"/>
            <p:cNvSpPr>
              <a:spLocks noChangeArrowheads="1"/>
            </p:cNvSpPr>
            <p:nvPr/>
          </p:nvSpPr>
          <p:spPr bwMode="auto">
            <a:xfrm>
              <a:off x="46" y="272"/>
              <a:ext cx="227" cy="227"/>
            </a:xfrm>
            <a:prstGeom prst="ellips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 sz="1400" b="1">
                  <a:latin typeface="Tahoma" panose="020B0604030504040204" pitchFamily="34" charset="0"/>
                  <a:ea typeface="宋体" panose="02010600030101010101" pitchFamily="2" charset="-122"/>
                </a:rPr>
                <a:t>93</a:t>
              </a:r>
            </a:p>
          </p:txBody>
        </p:sp>
        <p:sp>
          <p:nvSpPr>
            <p:cNvPr id="33862" name="Line 101"/>
            <p:cNvSpPr>
              <a:spLocks noChangeShapeType="1"/>
            </p:cNvSpPr>
            <p:nvPr/>
          </p:nvSpPr>
          <p:spPr bwMode="auto">
            <a:xfrm>
              <a:off x="0" y="0"/>
              <a:ext cx="136" cy="272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3924" name="Group 102"/>
          <p:cNvGrpSpPr>
            <a:grpSpLocks/>
          </p:cNvGrpSpPr>
          <p:nvPr/>
        </p:nvGrpSpPr>
        <p:grpSpPr bwMode="auto">
          <a:xfrm>
            <a:off x="6038850" y="5144666"/>
            <a:ext cx="458788" cy="674688"/>
            <a:chOff x="0" y="0"/>
            <a:chExt cx="317" cy="453"/>
          </a:xfrm>
          <a:solidFill>
            <a:srgbClr val="92D050"/>
          </a:solidFill>
        </p:grpSpPr>
        <p:sp>
          <p:nvSpPr>
            <p:cNvPr id="33859" name="Oval 103"/>
            <p:cNvSpPr>
              <a:spLocks noChangeArrowheads="1"/>
            </p:cNvSpPr>
            <p:nvPr/>
          </p:nvSpPr>
          <p:spPr bwMode="auto">
            <a:xfrm>
              <a:off x="90" y="226"/>
              <a:ext cx="227" cy="227"/>
            </a:xfrm>
            <a:prstGeom prst="ellips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 sz="1400" b="1">
                  <a:latin typeface="Tahoma" panose="020B0604030504040204" pitchFamily="34" charset="0"/>
                  <a:ea typeface="宋体" panose="02010600030101010101" pitchFamily="2" charset="-122"/>
                </a:rPr>
                <a:t>88</a:t>
              </a:r>
            </a:p>
          </p:txBody>
        </p:sp>
        <p:sp>
          <p:nvSpPr>
            <p:cNvPr id="33860" name="Line 104"/>
            <p:cNvSpPr>
              <a:spLocks noChangeShapeType="1"/>
            </p:cNvSpPr>
            <p:nvPr/>
          </p:nvSpPr>
          <p:spPr bwMode="auto">
            <a:xfrm>
              <a:off x="0" y="0"/>
              <a:ext cx="181" cy="226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3925" name="Group 105"/>
          <p:cNvGrpSpPr>
            <a:grpSpLocks/>
          </p:cNvGrpSpPr>
          <p:nvPr/>
        </p:nvGrpSpPr>
        <p:grpSpPr bwMode="auto">
          <a:xfrm>
            <a:off x="7289800" y="5144666"/>
            <a:ext cx="590550" cy="674688"/>
            <a:chOff x="0" y="0"/>
            <a:chExt cx="408" cy="453"/>
          </a:xfrm>
          <a:solidFill>
            <a:srgbClr val="92D050"/>
          </a:solidFill>
        </p:grpSpPr>
        <p:sp>
          <p:nvSpPr>
            <p:cNvPr id="33857" name="Oval 106"/>
            <p:cNvSpPr>
              <a:spLocks noChangeArrowheads="1"/>
            </p:cNvSpPr>
            <p:nvPr/>
          </p:nvSpPr>
          <p:spPr bwMode="auto">
            <a:xfrm>
              <a:off x="0" y="226"/>
              <a:ext cx="227" cy="227"/>
            </a:xfrm>
            <a:prstGeom prst="ellips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 sz="1400" b="1">
                  <a:latin typeface="Tahoma" panose="020B0604030504040204" pitchFamily="34" charset="0"/>
                  <a:ea typeface="宋体" panose="02010600030101010101" pitchFamily="2" charset="-122"/>
                </a:rPr>
                <a:t>118</a:t>
              </a:r>
            </a:p>
          </p:txBody>
        </p:sp>
        <p:sp>
          <p:nvSpPr>
            <p:cNvPr id="33858" name="Line 107"/>
            <p:cNvSpPr>
              <a:spLocks noChangeShapeType="1"/>
            </p:cNvSpPr>
            <p:nvPr/>
          </p:nvSpPr>
          <p:spPr bwMode="auto">
            <a:xfrm flipH="1">
              <a:off x="136" y="0"/>
              <a:ext cx="272" cy="226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3926" name="Group 108"/>
          <p:cNvGrpSpPr>
            <a:grpSpLocks/>
          </p:cNvGrpSpPr>
          <p:nvPr/>
        </p:nvGrpSpPr>
        <p:grpSpPr bwMode="auto">
          <a:xfrm>
            <a:off x="6959600" y="5819354"/>
            <a:ext cx="395288" cy="744537"/>
            <a:chOff x="0" y="0"/>
            <a:chExt cx="272" cy="499"/>
          </a:xfrm>
          <a:solidFill>
            <a:srgbClr val="92D050"/>
          </a:solidFill>
        </p:grpSpPr>
        <p:sp>
          <p:nvSpPr>
            <p:cNvPr id="33855" name="Oval 109"/>
            <p:cNvSpPr>
              <a:spLocks noChangeArrowheads="1"/>
            </p:cNvSpPr>
            <p:nvPr/>
          </p:nvSpPr>
          <p:spPr bwMode="auto">
            <a:xfrm>
              <a:off x="0" y="272"/>
              <a:ext cx="227" cy="227"/>
            </a:xfrm>
            <a:prstGeom prst="ellips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 sz="1400" b="1">
                  <a:latin typeface="Tahoma" panose="020B0604030504040204" pitchFamily="34" charset="0"/>
                  <a:ea typeface="宋体" panose="02010600030101010101" pitchFamily="2" charset="-122"/>
                </a:rPr>
                <a:t>112</a:t>
              </a:r>
            </a:p>
          </p:txBody>
        </p:sp>
        <p:sp>
          <p:nvSpPr>
            <p:cNvPr id="33856" name="Line 110"/>
            <p:cNvSpPr>
              <a:spLocks noChangeShapeType="1"/>
            </p:cNvSpPr>
            <p:nvPr/>
          </p:nvSpPr>
          <p:spPr bwMode="auto">
            <a:xfrm flipH="1">
              <a:off x="91" y="0"/>
              <a:ext cx="181" cy="272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3927" name="Group 111"/>
          <p:cNvGrpSpPr>
            <a:grpSpLocks/>
          </p:cNvGrpSpPr>
          <p:nvPr/>
        </p:nvGrpSpPr>
        <p:grpSpPr bwMode="auto">
          <a:xfrm>
            <a:off x="7551738" y="5819354"/>
            <a:ext cx="395287" cy="744537"/>
            <a:chOff x="0" y="0"/>
            <a:chExt cx="273" cy="499"/>
          </a:xfrm>
          <a:solidFill>
            <a:srgbClr val="92D050"/>
          </a:solidFill>
        </p:grpSpPr>
        <p:sp>
          <p:nvSpPr>
            <p:cNvPr id="33853" name="Oval 112"/>
            <p:cNvSpPr>
              <a:spLocks noChangeArrowheads="1"/>
            </p:cNvSpPr>
            <p:nvPr/>
          </p:nvSpPr>
          <p:spPr bwMode="auto">
            <a:xfrm>
              <a:off x="46" y="272"/>
              <a:ext cx="227" cy="227"/>
            </a:xfrm>
            <a:prstGeom prst="ellips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 sz="1400" b="1">
                  <a:latin typeface="Tahoma" panose="020B0604030504040204" pitchFamily="34" charset="0"/>
                  <a:ea typeface="宋体" panose="02010600030101010101" pitchFamily="2" charset="-122"/>
                </a:rPr>
                <a:t>138</a:t>
              </a:r>
            </a:p>
          </p:txBody>
        </p:sp>
        <p:sp>
          <p:nvSpPr>
            <p:cNvPr id="33854" name="Line 113"/>
            <p:cNvSpPr>
              <a:spLocks noChangeShapeType="1"/>
            </p:cNvSpPr>
            <p:nvPr/>
          </p:nvSpPr>
          <p:spPr bwMode="auto">
            <a:xfrm>
              <a:off x="0" y="0"/>
              <a:ext cx="136" cy="272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3928" name="Group 114"/>
          <p:cNvGrpSpPr>
            <a:grpSpLocks/>
          </p:cNvGrpSpPr>
          <p:nvPr/>
        </p:nvGrpSpPr>
        <p:grpSpPr bwMode="auto">
          <a:xfrm>
            <a:off x="8078788" y="5819354"/>
            <a:ext cx="328612" cy="744537"/>
            <a:chOff x="0" y="0"/>
            <a:chExt cx="227" cy="499"/>
          </a:xfrm>
          <a:solidFill>
            <a:srgbClr val="92D050"/>
          </a:solidFill>
        </p:grpSpPr>
        <p:sp>
          <p:nvSpPr>
            <p:cNvPr id="33851" name="Oval 115"/>
            <p:cNvSpPr>
              <a:spLocks noChangeArrowheads="1"/>
            </p:cNvSpPr>
            <p:nvPr/>
          </p:nvSpPr>
          <p:spPr bwMode="auto">
            <a:xfrm>
              <a:off x="0" y="272"/>
              <a:ext cx="227" cy="227"/>
            </a:xfrm>
            <a:prstGeom prst="ellips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 sz="1400" b="1">
                  <a:latin typeface="Tahoma" panose="020B0604030504040204" pitchFamily="34" charset="0"/>
                  <a:ea typeface="宋体" panose="02010600030101010101" pitchFamily="2" charset="-122"/>
                </a:rPr>
                <a:t>173</a:t>
              </a:r>
            </a:p>
          </p:txBody>
        </p:sp>
        <p:sp>
          <p:nvSpPr>
            <p:cNvPr id="33852" name="Line 116"/>
            <p:cNvSpPr>
              <a:spLocks noChangeShapeType="1"/>
            </p:cNvSpPr>
            <p:nvPr/>
          </p:nvSpPr>
          <p:spPr bwMode="auto">
            <a:xfrm flipH="1">
              <a:off x="45" y="0"/>
              <a:ext cx="181" cy="272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3929" name="Group 117"/>
          <p:cNvGrpSpPr>
            <a:grpSpLocks/>
          </p:cNvGrpSpPr>
          <p:nvPr/>
        </p:nvGrpSpPr>
        <p:grpSpPr bwMode="auto">
          <a:xfrm>
            <a:off x="8604250" y="5819354"/>
            <a:ext cx="395288" cy="744537"/>
            <a:chOff x="0" y="0"/>
            <a:chExt cx="273" cy="499"/>
          </a:xfrm>
          <a:solidFill>
            <a:srgbClr val="92D050"/>
          </a:solidFill>
        </p:grpSpPr>
        <p:sp>
          <p:nvSpPr>
            <p:cNvPr id="33849" name="Oval 118"/>
            <p:cNvSpPr>
              <a:spLocks noChangeArrowheads="1"/>
            </p:cNvSpPr>
            <p:nvPr/>
          </p:nvSpPr>
          <p:spPr bwMode="auto">
            <a:xfrm>
              <a:off x="46" y="272"/>
              <a:ext cx="227" cy="227"/>
            </a:xfrm>
            <a:prstGeom prst="ellips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 sz="1400" b="1">
                  <a:latin typeface="Tahoma" panose="020B0604030504040204" pitchFamily="34" charset="0"/>
                  <a:ea typeface="宋体" panose="02010600030101010101" pitchFamily="2" charset="-122"/>
                </a:rPr>
                <a:t>197</a:t>
              </a:r>
            </a:p>
          </p:txBody>
        </p:sp>
        <p:sp>
          <p:nvSpPr>
            <p:cNvPr id="33850" name="Line 119"/>
            <p:cNvSpPr>
              <a:spLocks noChangeShapeType="1"/>
            </p:cNvSpPr>
            <p:nvPr/>
          </p:nvSpPr>
          <p:spPr bwMode="auto">
            <a:xfrm>
              <a:off x="0" y="0"/>
              <a:ext cx="136" cy="272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3930" name="Group 120"/>
          <p:cNvGrpSpPr>
            <a:grpSpLocks/>
          </p:cNvGrpSpPr>
          <p:nvPr/>
        </p:nvGrpSpPr>
        <p:grpSpPr bwMode="auto">
          <a:xfrm>
            <a:off x="8210550" y="5144666"/>
            <a:ext cx="460375" cy="674688"/>
            <a:chOff x="0" y="0"/>
            <a:chExt cx="317" cy="453"/>
          </a:xfrm>
          <a:solidFill>
            <a:srgbClr val="92D050"/>
          </a:solidFill>
        </p:grpSpPr>
        <p:sp>
          <p:nvSpPr>
            <p:cNvPr id="33847" name="Oval 121"/>
            <p:cNvSpPr>
              <a:spLocks noChangeArrowheads="1"/>
            </p:cNvSpPr>
            <p:nvPr/>
          </p:nvSpPr>
          <p:spPr bwMode="auto">
            <a:xfrm>
              <a:off x="90" y="226"/>
              <a:ext cx="227" cy="227"/>
            </a:xfrm>
            <a:prstGeom prst="ellips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 sz="1400" b="1">
                  <a:latin typeface="Tahoma" panose="020B0604030504040204" pitchFamily="34" charset="0"/>
                  <a:ea typeface="宋体" panose="02010600030101010101" pitchFamily="2" charset="-122"/>
                </a:rPr>
                <a:t>188</a:t>
              </a:r>
            </a:p>
          </p:txBody>
        </p:sp>
        <p:sp>
          <p:nvSpPr>
            <p:cNvPr id="33848" name="Line 122"/>
            <p:cNvSpPr>
              <a:spLocks noChangeShapeType="1"/>
            </p:cNvSpPr>
            <p:nvPr/>
          </p:nvSpPr>
          <p:spPr bwMode="auto">
            <a:xfrm>
              <a:off x="0" y="0"/>
              <a:ext cx="181" cy="226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3931" name="Group 123"/>
          <p:cNvGrpSpPr>
            <a:grpSpLocks/>
          </p:cNvGrpSpPr>
          <p:nvPr/>
        </p:nvGrpSpPr>
        <p:grpSpPr bwMode="auto">
          <a:xfrm>
            <a:off x="7156450" y="4535066"/>
            <a:ext cx="1054100" cy="676275"/>
            <a:chOff x="0" y="0"/>
            <a:chExt cx="726" cy="454"/>
          </a:xfrm>
          <a:solidFill>
            <a:srgbClr val="92D050"/>
          </a:solidFill>
        </p:grpSpPr>
        <p:sp>
          <p:nvSpPr>
            <p:cNvPr id="33845" name="Oval 124"/>
            <p:cNvSpPr>
              <a:spLocks noChangeArrowheads="1"/>
            </p:cNvSpPr>
            <p:nvPr/>
          </p:nvSpPr>
          <p:spPr bwMode="auto">
            <a:xfrm>
              <a:off x="499" y="227"/>
              <a:ext cx="227" cy="227"/>
            </a:xfrm>
            <a:prstGeom prst="ellips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 sz="1400" b="1">
                  <a:latin typeface="Tahoma" panose="020B0604030504040204" pitchFamily="34" charset="0"/>
                  <a:ea typeface="宋体" panose="02010600030101010101" pitchFamily="2" charset="-122"/>
                </a:rPr>
                <a:t>145</a:t>
              </a:r>
            </a:p>
          </p:txBody>
        </p:sp>
        <p:sp>
          <p:nvSpPr>
            <p:cNvPr id="33846" name="Line 125"/>
            <p:cNvSpPr>
              <a:spLocks noChangeShapeType="1"/>
            </p:cNvSpPr>
            <p:nvPr/>
          </p:nvSpPr>
          <p:spPr bwMode="auto">
            <a:xfrm flipH="1" flipV="1">
              <a:off x="0" y="0"/>
              <a:ext cx="499" cy="227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4942" name="Text Box 126"/>
          <p:cNvSpPr txBox="1">
            <a:spLocks noChangeArrowheads="1"/>
          </p:cNvSpPr>
          <p:nvPr/>
        </p:nvSpPr>
        <p:spPr bwMode="auto">
          <a:xfrm>
            <a:off x="4572000" y="4258841"/>
            <a:ext cx="1728788" cy="3667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b="1">
                <a:solidFill>
                  <a:srgbClr val="0000FF"/>
                </a:solidFill>
                <a:ea typeface="宋体" panose="02010600030101010101" pitchFamily="2" charset="-122"/>
              </a:rPr>
              <a:t>删除非叶子</a:t>
            </a:r>
            <a:r>
              <a:rPr lang="en-US" altLang="zh-CN" b="1">
                <a:solidFill>
                  <a:srgbClr val="0000FF"/>
                </a:solidFill>
                <a:ea typeface="宋体" panose="02010600030101010101" pitchFamily="2" charset="-122"/>
              </a:rPr>
              <a:t>145</a:t>
            </a:r>
          </a:p>
        </p:txBody>
      </p:sp>
      <p:grpSp>
        <p:nvGrpSpPr>
          <p:cNvPr id="33932" name="Group 127"/>
          <p:cNvGrpSpPr>
            <a:grpSpLocks/>
          </p:cNvGrpSpPr>
          <p:nvPr/>
        </p:nvGrpSpPr>
        <p:grpSpPr bwMode="auto">
          <a:xfrm>
            <a:off x="7164388" y="4547766"/>
            <a:ext cx="1054100" cy="676275"/>
            <a:chOff x="0" y="0"/>
            <a:chExt cx="726" cy="454"/>
          </a:xfrm>
          <a:solidFill>
            <a:srgbClr val="92D050"/>
          </a:solidFill>
        </p:grpSpPr>
        <p:sp>
          <p:nvSpPr>
            <p:cNvPr id="33843" name="Oval 128"/>
            <p:cNvSpPr>
              <a:spLocks noChangeArrowheads="1"/>
            </p:cNvSpPr>
            <p:nvPr/>
          </p:nvSpPr>
          <p:spPr bwMode="auto">
            <a:xfrm>
              <a:off x="499" y="227"/>
              <a:ext cx="227" cy="227"/>
            </a:xfrm>
            <a:prstGeom prst="ellips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 sz="1400" b="1">
                  <a:latin typeface="Tahoma" panose="020B0604030504040204" pitchFamily="34" charset="0"/>
                  <a:ea typeface="宋体" panose="02010600030101010101" pitchFamily="2" charset="-122"/>
                </a:rPr>
                <a:t>173</a:t>
              </a:r>
            </a:p>
          </p:txBody>
        </p:sp>
        <p:sp>
          <p:nvSpPr>
            <p:cNvPr id="33844" name="Line 129"/>
            <p:cNvSpPr>
              <a:spLocks noChangeShapeType="1"/>
            </p:cNvSpPr>
            <p:nvPr/>
          </p:nvSpPr>
          <p:spPr bwMode="auto">
            <a:xfrm flipH="1" flipV="1">
              <a:off x="0" y="0"/>
              <a:ext cx="499" cy="227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3824" name="灯片编号占位符 3382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41</a:t>
            </a:fld>
            <a:endParaRPr lang="zh-CN" altLang="en-US" dirty="0"/>
          </a:p>
        </p:txBody>
      </p:sp>
      <p:grpSp>
        <p:nvGrpSpPr>
          <p:cNvPr id="132" name="组合 114"/>
          <p:cNvGrpSpPr/>
          <p:nvPr/>
        </p:nvGrpSpPr>
        <p:grpSpPr>
          <a:xfrm>
            <a:off x="-396552" y="76388"/>
            <a:ext cx="6775654" cy="679510"/>
            <a:chOff x="-99459" y="3320919"/>
            <a:chExt cx="7301815" cy="722576"/>
          </a:xfrm>
        </p:grpSpPr>
        <p:grpSp>
          <p:nvGrpSpPr>
            <p:cNvPr id="133" name="组合 105"/>
            <p:cNvGrpSpPr/>
            <p:nvPr/>
          </p:nvGrpSpPr>
          <p:grpSpPr>
            <a:xfrm>
              <a:off x="-99459" y="3320919"/>
              <a:ext cx="7301815" cy="722576"/>
              <a:chOff x="-99459" y="3320919"/>
              <a:chExt cx="7301815" cy="722576"/>
            </a:xfrm>
          </p:grpSpPr>
          <p:sp>
            <p:nvSpPr>
              <p:cNvPr id="135" name="Freeform 5"/>
              <p:cNvSpPr>
                <a:spLocks/>
              </p:cNvSpPr>
              <p:nvPr/>
            </p:nvSpPr>
            <p:spPr bwMode="auto">
              <a:xfrm>
                <a:off x="933887" y="3380765"/>
                <a:ext cx="801702" cy="662730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EA6103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  <p:sp>
            <p:nvSpPr>
              <p:cNvPr id="136" name="TextBox 6"/>
              <p:cNvSpPr txBox="1">
                <a:spLocks noChangeArrowheads="1"/>
              </p:cNvSpPr>
              <p:nvPr/>
            </p:nvSpPr>
            <p:spPr bwMode="auto">
              <a:xfrm>
                <a:off x="-99459" y="3320919"/>
                <a:ext cx="7301815" cy="687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10.3 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树表的查找</a:t>
                </a:r>
              </a:p>
            </p:txBody>
          </p:sp>
        </p:grpSp>
        <p:pic>
          <p:nvPicPr>
            <p:cNvPr id="134" name="图片 133" descr="12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5929" y="3530600"/>
              <a:ext cx="446172" cy="431048"/>
            </a:xfrm>
            <a:prstGeom prst="rect">
              <a:avLst/>
            </a:prstGeom>
          </p:spPr>
        </p:pic>
      </p:grpSp>
      <p:sp>
        <p:nvSpPr>
          <p:cNvPr id="137" name="矩形 136"/>
          <p:cNvSpPr/>
          <p:nvPr/>
        </p:nvSpPr>
        <p:spPr>
          <a:xfrm>
            <a:off x="407697" y="909579"/>
            <a:ext cx="33730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800" b="1" dirty="0"/>
              <a:t>10.3.1 </a:t>
            </a:r>
            <a:r>
              <a:rPr lang="zh-CN" altLang="en-US" sz="2800" b="1" dirty="0"/>
              <a:t>二叉排序树</a:t>
            </a:r>
          </a:p>
        </p:txBody>
      </p:sp>
    </p:spTree>
    <p:extLst>
      <p:ext uri="{BB962C8B-B14F-4D97-AF65-F5344CB8AC3E}">
        <p14:creationId xmlns:p14="http://schemas.microsoft.com/office/powerpoint/2010/main" val="488258835"/>
      </p:ext>
    </p:extLst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49" dur="500"/>
                                        <p:tgtEl>
                                          <p:spTgt spid="339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54" dur="500"/>
                                        <p:tgtEl>
                                          <p:spTgt spid="339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 nodeType="clickPar">
                      <p:stCondLst>
                        <p:cond delay="indefinite"/>
                      </p:stCondLst>
                      <p:childTnLst>
                        <p:par>
                          <p:cTn id="1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60" grpId="0" autoUpdateAnimBg="0"/>
      <p:bldP spid="34898" grpId="0" autoUpdateAnimBg="0"/>
      <p:bldP spid="34902" grpId="0" animBg="1" autoUpdateAnimBg="0"/>
      <p:bldP spid="34942" grpId="0" animBg="1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3"/>
          <p:cNvSpPr>
            <a:spLocks noRot="1" noChangeArrowheads="1"/>
          </p:cNvSpPr>
          <p:nvPr/>
        </p:nvSpPr>
        <p:spPr bwMode="auto">
          <a:xfrm>
            <a:off x="609601" y="1448699"/>
            <a:ext cx="8642350" cy="504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69900" indent="-4699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o"/>
            </a:pPr>
            <a:r>
              <a:rPr lang="zh-CN" altLang="en-US" sz="2400" dirty="0">
                <a:latin typeface="Times New Roman" panose="02020603050405020304" pitchFamily="18" charset="0"/>
              </a:rPr>
              <a:t>二叉排序树查找性能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分析</a:t>
            </a:r>
            <a:r>
              <a:rPr lang="zh-CN" altLang="en-US" sz="2400" dirty="0">
                <a:latin typeface="Times New Roman" panose="02020603050405020304" pitchFamily="18" charset="0"/>
              </a:rPr>
              <a:t>：</a:t>
            </a:r>
          </a:p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       以下列数据序列作为输入构造一棵二叉排序树。</a:t>
            </a:r>
          </a:p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600" dirty="0">
                <a:latin typeface="Times New Roman" panose="02020603050405020304" pitchFamily="18" charset="0"/>
              </a:rPr>
              <a:t>   </a:t>
            </a:r>
            <a:r>
              <a:rPr lang="en-US" altLang="zh-CN" sz="2000" dirty="0">
                <a:latin typeface="Times New Roman" panose="02020603050405020304" pitchFamily="18" charset="0"/>
              </a:rPr>
              <a:t>100</a:t>
            </a:r>
            <a:r>
              <a:rPr lang="zh-CN" altLang="en-US" sz="2000" dirty="0">
                <a:latin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</a:rPr>
              <a:t>65</a:t>
            </a:r>
            <a:r>
              <a:rPr lang="zh-CN" altLang="en-US" sz="2000" dirty="0">
                <a:latin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</a:rPr>
              <a:t>88</a:t>
            </a:r>
            <a:r>
              <a:rPr lang="zh-CN" altLang="en-US" sz="2000" dirty="0">
                <a:latin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</a:rPr>
              <a:t>93</a:t>
            </a:r>
            <a:r>
              <a:rPr lang="zh-CN" altLang="en-US" sz="2000" dirty="0">
                <a:latin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</a:rPr>
              <a:t>145</a:t>
            </a:r>
            <a:r>
              <a:rPr lang="zh-CN" altLang="en-US" sz="2000" dirty="0">
                <a:latin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</a:rPr>
              <a:t>118</a:t>
            </a:r>
            <a:r>
              <a:rPr lang="zh-CN" altLang="en-US" sz="2000" dirty="0">
                <a:latin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</a:rPr>
              <a:t>138</a:t>
            </a:r>
            <a:r>
              <a:rPr lang="zh-CN" altLang="en-US" sz="2000" dirty="0">
                <a:latin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</a:rPr>
              <a:t>112</a:t>
            </a:r>
            <a:r>
              <a:rPr lang="zh-CN" altLang="en-US" sz="2000" dirty="0">
                <a:latin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</a:rPr>
              <a:t>188</a:t>
            </a:r>
            <a:r>
              <a:rPr lang="zh-CN" altLang="en-US" sz="2000" dirty="0">
                <a:latin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</a:rPr>
              <a:t>173</a:t>
            </a:r>
            <a:r>
              <a:rPr lang="zh-CN" altLang="en-US" sz="2000" dirty="0">
                <a:latin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</a:rPr>
              <a:t>42</a:t>
            </a:r>
            <a:r>
              <a:rPr lang="zh-CN" altLang="en-US" sz="2000" dirty="0">
                <a:latin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</a:rPr>
              <a:t>78</a:t>
            </a:r>
            <a:r>
              <a:rPr lang="zh-CN" altLang="en-US" sz="2000" dirty="0">
                <a:latin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</a:rPr>
              <a:t>20</a:t>
            </a:r>
            <a:r>
              <a:rPr lang="zh-CN" altLang="en-US" sz="2000" dirty="0">
                <a:latin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</a:rPr>
              <a:t>197</a:t>
            </a:r>
          </a:p>
          <a:p>
            <a:pPr eaLnBrk="1" hangingPunct="1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o"/>
            </a:pPr>
            <a:r>
              <a:rPr lang="zh-CN" altLang="en-US" sz="26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平均查找长度</a:t>
            </a:r>
            <a:r>
              <a:rPr lang="zh-CN" altLang="en-US" sz="2600" b="1" dirty="0">
                <a:latin typeface="Times New Roman" panose="02020603050405020304" pitchFamily="18" charset="0"/>
              </a:rPr>
              <a:t>：</a:t>
            </a:r>
            <a:r>
              <a:rPr lang="zh-CN" altLang="en-US" sz="2600" dirty="0"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600" b="1" dirty="0">
                <a:latin typeface="Times New Roman" panose="02020603050405020304" pitchFamily="18" charset="0"/>
              </a:rPr>
              <a:t>（</a:t>
            </a:r>
            <a:r>
              <a:rPr lang="en-US" altLang="zh-CN" sz="2600" b="1" dirty="0">
                <a:latin typeface="Times New Roman" panose="02020603050405020304" pitchFamily="18" charset="0"/>
              </a:rPr>
              <a:t>1</a:t>
            </a:r>
            <a:r>
              <a:rPr lang="zh-CN" altLang="en-US" sz="2600" b="1" dirty="0">
                <a:latin typeface="Times New Roman" panose="02020603050405020304" pitchFamily="18" charset="0"/>
              </a:rPr>
              <a:t>＋</a:t>
            </a:r>
            <a:r>
              <a:rPr lang="en-US" altLang="zh-CN" sz="2600" b="1" dirty="0">
                <a:latin typeface="Times New Roman" panose="02020603050405020304" pitchFamily="18" charset="0"/>
              </a:rPr>
              <a:t>2×2</a:t>
            </a:r>
            <a:r>
              <a:rPr lang="zh-CN" altLang="en-US" sz="2600" b="1" dirty="0">
                <a:latin typeface="Times New Roman" panose="02020603050405020304" pitchFamily="18" charset="0"/>
              </a:rPr>
              <a:t>＋</a:t>
            </a:r>
            <a:r>
              <a:rPr lang="en-US" altLang="zh-CN" sz="2600" b="1" dirty="0">
                <a:latin typeface="Times New Roman" panose="02020603050405020304" pitchFamily="18" charset="0"/>
              </a:rPr>
              <a:t>3×4</a:t>
            </a:r>
            <a:r>
              <a:rPr lang="zh-CN" altLang="en-US" sz="2600" b="1" dirty="0">
                <a:latin typeface="Times New Roman" panose="02020603050405020304" pitchFamily="18" charset="0"/>
              </a:rPr>
              <a:t>＋</a:t>
            </a:r>
            <a:r>
              <a:rPr lang="en-US" altLang="zh-CN" sz="2600" b="1" dirty="0">
                <a:latin typeface="Times New Roman" panose="02020603050405020304" pitchFamily="18" charset="0"/>
              </a:rPr>
              <a:t>4×7</a:t>
            </a:r>
            <a:r>
              <a:rPr lang="zh-CN" altLang="en-US" sz="2600" b="1" dirty="0">
                <a:latin typeface="Times New Roman" panose="02020603050405020304" pitchFamily="18" charset="0"/>
              </a:rPr>
              <a:t>）</a:t>
            </a:r>
            <a:r>
              <a:rPr lang="en-US" altLang="zh-CN" sz="2600" b="1" dirty="0">
                <a:latin typeface="Times New Roman" panose="02020603050405020304" pitchFamily="18" charset="0"/>
              </a:rPr>
              <a:t>/14 </a:t>
            </a:r>
          </a:p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600" b="1" dirty="0">
                <a:latin typeface="Times New Roman" panose="02020603050405020304" pitchFamily="18" charset="0"/>
              </a:rPr>
              <a:t>    = 45/14</a:t>
            </a:r>
            <a:endParaRPr lang="en-US" altLang="zh-CN" sz="2600" dirty="0">
              <a:latin typeface="Times New Roman" panose="02020603050405020304" pitchFamily="18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635375" y="3357563"/>
            <a:ext cx="4608513" cy="2376487"/>
            <a:chOff x="0" y="0"/>
            <a:chExt cx="2903" cy="1497"/>
          </a:xfrm>
          <a:solidFill>
            <a:srgbClr val="92D050"/>
          </a:solidFill>
        </p:grpSpPr>
        <p:sp>
          <p:nvSpPr>
            <p:cNvPr id="34822" name="Oval 5"/>
            <p:cNvSpPr>
              <a:spLocks noChangeArrowheads="1"/>
            </p:cNvSpPr>
            <p:nvPr/>
          </p:nvSpPr>
          <p:spPr bwMode="auto">
            <a:xfrm>
              <a:off x="1406" y="0"/>
              <a:ext cx="227" cy="227"/>
            </a:xfrm>
            <a:prstGeom prst="ellips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>
                  <a:latin typeface="Tahoma" panose="020B0604030504040204" pitchFamily="34" charset="0"/>
                  <a:ea typeface="宋体" panose="02010600030101010101" pitchFamily="2" charset="-122"/>
                </a:rPr>
                <a:t>100</a:t>
              </a:r>
            </a:p>
          </p:txBody>
        </p:sp>
        <p:grpSp>
          <p:nvGrpSpPr>
            <p:cNvPr id="34823" name="Group 6"/>
            <p:cNvGrpSpPr>
              <a:grpSpLocks/>
            </p:cNvGrpSpPr>
            <p:nvPr/>
          </p:nvGrpSpPr>
          <p:grpSpPr bwMode="auto">
            <a:xfrm>
              <a:off x="635" y="136"/>
              <a:ext cx="771" cy="454"/>
              <a:chOff x="0" y="0"/>
              <a:chExt cx="771" cy="454"/>
            </a:xfrm>
            <a:grpFill/>
          </p:grpSpPr>
          <p:sp>
            <p:nvSpPr>
              <p:cNvPr id="34860" name="Oval 7"/>
              <p:cNvSpPr>
                <a:spLocks noChangeArrowheads="1"/>
              </p:cNvSpPr>
              <p:nvPr/>
            </p:nvSpPr>
            <p:spPr bwMode="auto">
              <a:xfrm>
                <a:off x="0" y="227"/>
                <a:ext cx="227" cy="227"/>
              </a:xfrm>
              <a:prstGeom prst="ellips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 eaLnBrk="1" hangingPunct="1"/>
                <a:r>
                  <a:rPr lang="en-US" altLang="zh-CN">
                    <a:latin typeface="Tahoma" panose="020B0604030504040204" pitchFamily="34" charset="0"/>
                    <a:ea typeface="宋体" panose="02010600030101010101" pitchFamily="2" charset="-122"/>
                  </a:rPr>
                  <a:t>65</a:t>
                </a:r>
              </a:p>
            </p:txBody>
          </p:sp>
          <p:sp>
            <p:nvSpPr>
              <p:cNvPr id="34861" name="Line 8"/>
              <p:cNvSpPr>
                <a:spLocks noChangeShapeType="1"/>
              </p:cNvSpPr>
              <p:nvPr/>
            </p:nvSpPr>
            <p:spPr bwMode="auto">
              <a:xfrm flipH="1">
                <a:off x="182" y="0"/>
                <a:ext cx="589" cy="227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4824" name="Group 9"/>
            <p:cNvGrpSpPr>
              <a:grpSpLocks/>
            </p:cNvGrpSpPr>
            <p:nvPr/>
          </p:nvGrpSpPr>
          <p:grpSpPr bwMode="auto">
            <a:xfrm>
              <a:off x="227" y="545"/>
              <a:ext cx="408" cy="453"/>
              <a:chOff x="0" y="0"/>
              <a:chExt cx="408" cy="453"/>
            </a:xfrm>
            <a:grpFill/>
          </p:grpSpPr>
          <p:sp>
            <p:nvSpPr>
              <p:cNvPr id="34858" name="Oval 10"/>
              <p:cNvSpPr>
                <a:spLocks noChangeArrowheads="1"/>
              </p:cNvSpPr>
              <p:nvPr/>
            </p:nvSpPr>
            <p:spPr bwMode="auto">
              <a:xfrm>
                <a:off x="0" y="226"/>
                <a:ext cx="227" cy="227"/>
              </a:xfrm>
              <a:prstGeom prst="ellips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 eaLnBrk="1" hangingPunct="1"/>
                <a:r>
                  <a:rPr lang="en-US" altLang="zh-CN">
                    <a:latin typeface="Tahoma" panose="020B0604030504040204" pitchFamily="34" charset="0"/>
                    <a:ea typeface="宋体" panose="02010600030101010101" pitchFamily="2" charset="-122"/>
                  </a:rPr>
                  <a:t>42</a:t>
                </a:r>
              </a:p>
            </p:txBody>
          </p:sp>
          <p:sp>
            <p:nvSpPr>
              <p:cNvPr id="34859" name="Line 11"/>
              <p:cNvSpPr>
                <a:spLocks noChangeShapeType="1"/>
              </p:cNvSpPr>
              <p:nvPr/>
            </p:nvSpPr>
            <p:spPr bwMode="auto">
              <a:xfrm flipH="1">
                <a:off x="136" y="0"/>
                <a:ext cx="272" cy="226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4825" name="Group 12"/>
            <p:cNvGrpSpPr>
              <a:grpSpLocks/>
            </p:cNvGrpSpPr>
            <p:nvPr/>
          </p:nvGrpSpPr>
          <p:grpSpPr bwMode="auto">
            <a:xfrm>
              <a:off x="0" y="998"/>
              <a:ext cx="272" cy="499"/>
              <a:chOff x="0" y="0"/>
              <a:chExt cx="272" cy="499"/>
            </a:xfrm>
            <a:grpFill/>
          </p:grpSpPr>
          <p:sp>
            <p:nvSpPr>
              <p:cNvPr id="34856" name="Oval 13"/>
              <p:cNvSpPr>
                <a:spLocks noChangeArrowheads="1"/>
              </p:cNvSpPr>
              <p:nvPr/>
            </p:nvSpPr>
            <p:spPr bwMode="auto">
              <a:xfrm>
                <a:off x="0" y="272"/>
                <a:ext cx="227" cy="227"/>
              </a:xfrm>
              <a:prstGeom prst="ellips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 eaLnBrk="1" hangingPunct="1"/>
                <a:r>
                  <a:rPr lang="en-US" altLang="zh-CN">
                    <a:latin typeface="Tahoma" panose="020B0604030504040204" pitchFamily="34" charset="0"/>
                    <a:ea typeface="宋体" panose="02010600030101010101" pitchFamily="2" charset="-122"/>
                  </a:rPr>
                  <a:t>20</a:t>
                </a:r>
              </a:p>
            </p:txBody>
          </p:sp>
          <p:sp>
            <p:nvSpPr>
              <p:cNvPr id="34857" name="Line 14"/>
              <p:cNvSpPr>
                <a:spLocks noChangeShapeType="1"/>
              </p:cNvSpPr>
              <p:nvPr/>
            </p:nvSpPr>
            <p:spPr bwMode="auto">
              <a:xfrm flipH="1">
                <a:off x="91" y="0"/>
                <a:ext cx="181" cy="272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4826" name="Group 15"/>
            <p:cNvGrpSpPr>
              <a:grpSpLocks/>
            </p:cNvGrpSpPr>
            <p:nvPr/>
          </p:nvGrpSpPr>
          <p:grpSpPr bwMode="auto">
            <a:xfrm>
              <a:off x="771" y="998"/>
              <a:ext cx="227" cy="499"/>
              <a:chOff x="0" y="0"/>
              <a:chExt cx="227" cy="499"/>
            </a:xfrm>
            <a:grpFill/>
          </p:grpSpPr>
          <p:sp>
            <p:nvSpPr>
              <p:cNvPr id="34854" name="Oval 16"/>
              <p:cNvSpPr>
                <a:spLocks noChangeArrowheads="1"/>
              </p:cNvSpPr>
              <p:nvPr/>
            </p:nvSpPr>
            <p:spPr bwMode="auto">
              <a:xfrm>
                <a:off x="0" y="272"/>
                <a:ext cx="227" cy="227"/>
              </a:xfrm>
              <a:prstGeom prst="ellips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 eaLnBrk="1" hangingPunct="1"/>
                <a:r>
                  <a:rPr lang="en-US" altLang="zh-CN">
                    <a:latin typeface="Tahoma" panose="020B0604030504040204" pitchFamily="34" charset="0"/>
                    <a:ea typeface="宋体" panose="02010600030101010101" pitchFamily="2" charset="-122"/>
                  </a:rPr>
                  <a:t>78</a:t>
                </a:r>
              </a:p>
            </p:txBody>
          </p:sp>
          <p:sp>
            <p:nvSpPr>
              <p:cNvPr id="34855" name="Line 17"/>
              <p:cNvSpPr>
                <a:spLocks noChangeShapeType="1"/>
              </p:cNvSpPr>
              <p:nvPr/>
            </p:nvSpPr>
            <p:spPr bwMode="auto">
              <a:xfrm flipH="1">
                <a:off x="45" y="0"/>
                <a:ext cx="181" cy="272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4827" name="Group 18"/>
            <p:cNvGrpSpPr>
              <a:grpSpLocks/>
            </p:cNvGrpSpPr>
            <p:nvPr/>
          </p:nvGrpSpPr>
          <p:grpSpPr bwMode="auto">
            <a:xfrm>
              <a:off x="1133" y="998"/>
              <a:ext cx="273" cy="499"/>
              <a:chOff x="0" y="0"/>
              <a:chExt cx="273" cy="499"/>
            </a:xfrm>
            <a:grpFill/>
          </p:grpSpPr>
          <p:sp>
            <p:nvSpPr>
              <p:cNvPr id="34852" name="Oval 19"/>
              <p:cNvSpPr>
                <a:spLocks noChangeArrowheads="1"/>
              </p:cNvSpPr>
              <p:nvPr/>
            </p:nvSpPr>
            <p:spPr bwMode="auto">
              <a:xfrm>
                <a:off x="46" y="272"/>
                <a:ext cx="227" cy="227"/>
              </a:xfrm>
              <a:prstGeom prst="ellips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 eaLnBrk="1" hangingPunct="1"/>
                <a:r>
                  <a:rPr lang="en-US" altLang="zh-CN">
                    <a:latin typeface="Tahoma" panose="020B0604030504040204" pitchFamily="34" charset="0"/>
                    <a:ea typeface="宋体" panose="02010600030101010101" pitchFamily="2" charset="-122"/>
                  </a:rPr>
                  <a:t>93</a:t>
                </a:r>
              </a:p>
            </p:txBody>
          </p:sp>
          <p:sp>
            <p:nvSpPr>
              <p:cNvPr id="34853" name="Line 20"/>
              <p:cNvSpPr>
                <a:spLocks noChangeShapeType="1"/>
              </p:cNvSpPr>
              <p:nvPr/>
            </p:nvSpPr>
            <p:spPr bwMode="auto">
              <a:xfrm>
                <a:off x="0" y="0"/>
                <a:ext cx="136" cy="272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4828" name="Group 21"/>
            <p:cNvGrpSpPr>
              <a:grpSpLocks/>
            </p:cNvGrpSpPr>
            <p:nvPr/>
          </p:nvGrpSpPr>
          <p:grpSpPr bwMode="auto">
            <a:xfrm>
              <a:off x="862" y="545"/>
              <a:ext cx="317" cy="453"/>
              <a:chOff x="0" y="0"/>
              <a:chExt cx="317" cy="453"/>
            </a:xfrm>
            <a:grpFill/>
          </p:grpSpPr>
          <p:sp>
            <p:nvSpPr>
              <p:cNvPr id="34850" name="Oval 22"/>
              <p:cNvSpPr>
                <a:spLocks noChangeArrowheads="1"/>
              </p:cNvSpPr>
              <p:nvPr/>
            </p:nvSpPr>
            <p:spPr bwMode="auto">
              <a:xfrm>
                <a:off x="90" y="226"/>
                <a:ext cx="227" cy="227"/>
              </a:xfrm>
              <a:prstGeom prst="ellips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 eaLnBrk="1" hangingPunct="1"/>
                <a:r>
                  <a:rPr lang="en-US" altLang="zh-CN">
                    <a:latin typeface="Tahoma" panose="020B0604030504040204" pitchFamily="34" charset="0"/>
                    <a:ea typeface="宋体" panose="02010600030101010101" pitchFamily="2" charset="-122"/>
                  </a:rPr>
                  <a:t>88</a:t>
                </a:r>
              </a:p>
            </p:txBody>
          </p:sp>
          <p:sp>
            <p:nvSpPr>
              <p:cNvPr id="34851" name="Line 23"/>
              <p:cNvSpPr>
                <a:spLocks noChangeShapeType="1"/>
              </p:cNvSpPr>
              <p:nvPr/>
            </p:nvSpPr>
            <p:spPr bwMode="auto">
              <a:xfrm>
                <a:off x="0" y="0"/>
                <a:ext cx="181" cy="226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4829" name="Group 24"/>
            <p:cNvGrpSpPr>
              <a:grpSpLocks/>
            </p:cNvGrpSpPr>
            <p:nvPr/>
          </p:nvGrpSpPr>
          <p:grpSpPr bwMode="auto">
            <a:xfrm>
              <a:off x="1724" y="545"/>
              <a:ext cx="408" cy="453"/>
              <a:chOff x="0" y="0"/>
              <a:chExt cx="408" cy="453"/>
            </a:xfrm>
            <a:grpFill/>
          </p:grpSpPr>
          <p:sp>
            <p:nvSpPr>
              <p:cNvPr id="34848" name="Oval 25"/>
              <p:cNvSpPr>
                <a:spLocks noChangeArrowheads="1"/>
              </p:cNvSpPr>
              <p:nvPr/>
            </p:nvSpPr>
            <p:spPr bwMode="auto">
              <a:xfrm>
                <a:off x="0" y="226"/>
                <a:ext cx="227" cy="227"/>
              </a:xfrm>
              <a:prstGeom prst="ellips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 eaLnBrk="1" hangingPunct="1"/>
                <a:r>
                  <a:rPr lang="en-US" altLang="zh-CN">
                    <a:latin typeface="Tahoma" panose="020B0604030504040204" pitchFamily="34" charset="0"/>
                    <a:ea typeface="宋体" panose="02010600030101010101" pitchFamily="2" charset="-122"/>
                  </a:rPr>
                  <a:t>118</a:t>
                </a:r>
              </a:p>
            </p:txBody>
          </p:sp>
          <p:sp>
            <p:nvSpPr>
              <p:cNvPr id="34849" name="Line 26"/>
              <p:cNvSpPr>
                <a:spLocks noChangeShapeType="1"/>
              </p:cNvSpPr>
              <p:nvPr/>
            </p:nvSpPr>
            <p:spPr bwMode="auto">
              <a:xfrm flipH="1">
                <a:off x="136" y="0"/>
                <a:ext cx="272" cy="226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4830" name="Group 27"/>
            <p:cNvGrpSpPr>
              <a:grpSpLocks/>
            </p:cNvGrpSpPr>
            <p:nvPr/>
          </p:nvGrpSpPr>
          <p:grpSpPr bwMode="auto">
            <a:xfrm>
              <a:off x="1497" y="998"/>
              <a:ext cx="272" cy="499"/>
              <a:chOff x="0" y="0"/>
              <a:chExt cx="272" cy="499"/>
            </a:xfrm>
            <a:grpFill/>
          </p:grpSpPr>
          <p:sp>
            <p:nvSpPr>
              <p:cNvPr id="34846" name="Oval 28"/>
              <p:cNvSpPr>
                <a:spLocks noChangeArrowheads="1"/>
              </p:cNvSpPr>
              <p:nvPr/>
            </p:nvSpPr>
            <p:spPr bwMode="auto">
              <a:xfrm>
                <a:off x="0" y="272"/>
                <a:ext cx="227" cy="227"/>
              </a:xfrm>
              <a:prstGeom prst="ellips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 eaLnBrk="1" hangingPunct="1"/>
                <a:r>
                  <a:rPr lang="en-US" altLang="zh-CN">
                    <a:latin typeface="Tahoma" panose="020B0604030504040204" pitchFamily="34" charset="0"/>
                    <a:ea typeface="宋体" panose="02010600030101010101" pitchFamily="2" charset="-122"/>
                  </a:rPr>
                  <a:t>112</a:t>
                </a:r>
              </a:p>
            </p:txBody>
          </p:sp>
          <p:sp>
            <p:nvSpPr>
              <p:cNvPr id="34847" name="Line 29"/>
              <p:cNvSpPr>
                <a:spLocks noChangeShapeType="1"/>
              </p:cNvSpPr>
              <p:nvPr/>
            </p:nvSpPr>
            <p:spPr bwMode="auto">
              <a:xfrm flipH="1">
                <a:off x="91" y="0"/>
                <a:ext cx="181" cy="272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4831" name="Group 30"/>
            <p:cNvGrpSpPr>
              <a:grpSpLocks/>
            </p:cNvGrpSpPr>
            <p:nvPr/>
          </p:nvGrpSpPr>
          <p:grpSpPr bwMode="auto">
            <a:xfrm>
              <a:off x="1905" y="998"/>
              <a:ext cx="273" cy="499"/>
              <a:chOff x="0" y="0"/>
              <a:chExt cx="273" cy="499"/>
            </a:xfrm>
            <a:grpFill/>
          </p:grpSpPr>
          <p:sp>
            <p:nvSpPr>
              <p:cNvPr id="34844" name="Oval 31"/>
              <p:cNvSpPr>
                <a:spLocks noChangeArrowheads="1"/>
              </p:cNvSpPr>
              <p:nvPr/>
            </p:nvSpPr>
            <p:spPr bwMode="auto">
              <a:xfrm>
                <a:off x="46" y="272"/>
                <a:ext cx="227" cy="227"/>
              </a:xfrm>
              <a:prstGeom prst="ellips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 eaLnBrk="1" hangingPunct="1"/>
                <a:r>
                  <a:rPr lang="en-US" altLang="zh-CN">
                    <a:latin typeface="Tahoma" panose="020B0604030504040204" pitchFamily="34" charset="0"/>
                    <a:ea typeface="宋体" panose="02010600030101010101" pitchFamily="2" charset="-122"/>
                  </a:rPr>
                  <a:t>138</a:t>
                </a:r>
              </a:p>
            </p:txBody>
          </p:sp>
          <p:sp>
            <p:nvSpPr>
              <p:cNvPr id="34845" name="Line 32"/>
              <p:cNvSpPr>
                <a:spLocks noChangeShapeType="1"/>
              </p:cNvSpPr>
              <p:nvPr/>
            </p:nvSpPr>
            <p:spPr bwMode="auto">
              <a:xfrm>
                <a:off x="0" y="0"/>
                <a:ext cx="136" cy="272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4832" name="Group 33"/>
            <p:cNvGrpSpPr>
              <a:grpSpLocks/>
            </p:cNvGrpSpPr>
            <p:nvPr/>
          </p:nvGrpSpPr>
          <p:grpSpPr bwMode="auto">
            <a:xfrm>
              <a:off x="2268" y="998"/>
              <a:ext cx="227" cy="499"/>
              <a:chOff x="0" y="0"/>
              <a:chExt cx="227" cy="499"/>
            </a:xfrm>
            <a:grpFill/>
          </p:grpSpPr>
          <p:sp>
            <p:nvSpPr>
              <p:cNvPr id="34842" name="Oval 34"/>
              <p:cNvSpPr>
                <a:spLocks noChangeArrowheads="1"/>
              </p:cNvSpPr>
              <p:nvPr/>
            </p:nvSpPr>
            <p:spPr bwMode="auto">
              <a:xfrm>
                <a:off x="0" y="272"/>
                <a:ext cx="227" cy="227"/>
              </a:xfrm>
              <a:prstGeom prst="ellips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 eaLnBrk="1" hangingPunct="1"/>
                <a:r>
                  <a:rPr lang="en-US" altLang="zh-CN">
                    <a:latin typeface="Tahoma" panose="020B0604030504040204" pitchFamily="34" charset="0"/>
                    <a:ea typeface="宋体" panose="02010600030101010101" pitchFamily="2" charset="-122"/>
                  </a:rPr>
                  <a:t>173</a:t>
                </a:r>
              </a:p>
            </p:txBody>
          </p:sp>
          <p:sp>
            <p:nvSpPr>
              <p:cNvPr id="34843" name="Line 35"/>
              <p:cNvSpPr>
                <a:spLocks noChangeShapeType="1"/>
              </p:cNvSpPr>
              <p:nvPr/>
            </p:nvSpPr>
            <p:spPr bwMode="auto">
              <a:xfrm flipH="1">
                <a:off x="45" y="0"/>
                <a:ext cx="181" cy="272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4833" name="Group 36"/>
            <p:cNvGrpSpPr>
              <a:grpSpLocks/>
            </p:cNvGrpSpPr>
            <p:nvPr/>
          </p:nvGrpSpPr>
          <p:grpSpPr bwMode="auto">
            <a:xfrm>
              <a:off x="2630" y="998"/>
              <a:ext cx="273" cy="499"/>
              <a:chOff x="0" y="0"/>
              <a:chExt cx="273" cy="499"/>
            </a:xfrm>
            <a:grpFill/>
          </p:grpSpPr>
          <p:sp>
            <p:nvSpPr>
              <p:cNvPr id="34840" name="Oval 37"/>
              <p:cNvSpPr>
                <a:spLocks noChangeArrowheads="1"/>
              </p:cNvSpPr>
              <p:nvPr/>
            </p:nvSpPr>
            <p:spPr bwMode="auto">
              <a:xfrm>
                <a:off x="46" y="272"/>
                <a:ext cx="227" cy="227"/>
              </a:xfrm>
              <a:prstGeom prst="ellips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 eaLnBrk="1" hangingPunct="1"/>
                <a:r>
                  <a:rPr lang="en-US" altLang="zh-CN">
                    <a:latin typeface="Tahoma" panose="020B0604030504040204" pitchFamily="34" charset="0"/>
                    <a:ea typeface="宋体" panose="02010600030101010101" pitchFamily="2" charset="-122"/>
                  </a:rPr>
                  <a:t>197</a:t>
                </a:r>
              </a:p>
            </p:txBody>
          </p:sp>
          <p:sp>
            <p:nvSpPr>
              <p:cNvPr id="34841" name="Line 38"/>
              <p:cNvSpPr>
                <a:spLocks noChangeShapeType="1"/>
              </p:cNvSpPr>
              <p:nvPr/>
            </p:nvSpPr>
            <p:spPr bwMode="auto">
              <a:xfrm>
                <a:off x="0" y="0"/>
                <a:ext cx="136" cy="272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4834" name="Group 39"/>
            <p:cNvGrpSpPr>
              <a:grpSpLocks/>
            </p:cNvGrpSpPr>
            <p:nvPr/>
          </p:nvGrpSpPr>
          <p:grpSpPr bwMode="auto">
            <a:xfrm>
              <a:off x="2359" y="545"/>
              <a:ext cx="317" cy="453"/>
              <a:chOff x="0" y="0"/>
              <a:chExt cx="317" cy="453"/>
            </a:xfrm>
            <a:grpFill/>
          </p:grpSpPr>
          <p:sp>
            <p:nvSpPr>
              <p:cNvPr id="34838" name="Oval 40"/>
              <p:cNvSpPr>
                <a:spLocks noChangeArrowheads="1"/>
              </p:cNvSpPr>
              <p:nvPr/>
            </p:nvSpPr>
            <p:spPr bwMode="auto">
              <a:xfrm>
                <a:off x="90" y="226"/>
                <a:ext cx="227" cy="227"/>
              </a:xfrm>
              <a:prstGeom prst="ellips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 eaLnBrk="1" hangingPunct="1"/>
                <a:r>
                  <a:rPr lang="en-US" altLang="zh-CN">
                    <a:latin typeface="Tahoma" panose="020B0604030504040204" pitchFamily="34" charset="0"/>
                    <a:ea typeface="宋体" panose="02010600030101010101" pitchFamily="2" charset="-122"/>
                  </a:rPr>
                  <a:t>188</a:t>
                </a:r>
              </a:p>
            </p:txBody>
          </p:sp>
          <p:sp>
            <p:nvSpPr>
              <p:cNvPr id="34839" name="Line 41"/>
              <p:cNvSpPr>
                <a:spLocks noChangeShapeType="1"/>
              </p:cNvSpPr>
              <p:nvPr/>
            </p:nvSpPr>
            <p:spPr bwMode="auto">
              <a:xfrm>
                <a:off x="0" y="0"/>
                <a:ext cx="181" cy="226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4835" name="Group 42"/>
            <p:cNvGrpSpPr>
              <a:grpSpLocks/>
            </p:cNvGrpSpPr>
            <p:nvPr/>
          </p:nvGrpSpPr>
          <p:grpSpPr bwMode="auto">
            <a:xfrm>
              <a:off x="1633" y="136"/>
              <a:ext cx="726" cy="454"/>
              <a:chOff x="0" y="0"/>
              <a:chExt cx="726" cy="454"/>
            </a:xfrm>
            <a:grpFill/>
          </p:grpSpPr>
          <p:sp>
            <p:nvSpPr>
              <p:cNvPr id="34836" name="Oval 43"/>
              <p:cNvSpPr>
                <a:spLocks noChangeArrowheads="1"/>
              </p:cNvSpPr>
              <p:nvPr/>
            </p:nvSpPr>
            <p:spPr bwMode="auto">
              <a:xfrm>
                <a:off x="499" y="227"/>
                <a:ext cx="227" cy="227"/>
              </a:xfrm>
              <a:prstGeom prst="ellips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algn="ctr" eaLnBrk="1" hangingPunct="1"/>
                <a:r>
                  <a:rPr lang="en-US" altLang="zh-CN">
                    <a:latin typeface="Tahoma" panose="020B0604030504040204" pitchFamily="34" charset="0"/>
                    <a:ea typeface="宋体" panose="02010600030101010101" pitchFamily="2" charset="-122"/>
                  </a:rPr>
                  <a:t>145</a:t>
                </a:r>
              </a:p>
            </p:txBody>
          </p:sp>
          <p:sp>
            <p:nvSpPr>
              <p:cNvPr id="34837" name="Line 44"/>
              <p:cNvSpPr>
                <a:spLocks noChangeShapeType="1"/>
              </p:cNvSpPr>
              <p:nvPr/>
            </p:nvSpPr>
            <p:spPr bwMode="auto">
              <a:xfrm flipH="1" flipV="1">
                <a:off x="0" y="0"/>
                <a:ext cx="499" cy="227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42</a:t>
            </a:fld>
            <a:endParaRPr lang="zh-CN" altLang="en-US" dirty="0"/>
          </a:p>
        </p:txBody>
      </p:sp>
      <p:grpSp>
        <p:nvGrpSpPr>
          <p:cNvPr id="47" name="组合 114"/>
          <p:cNvGrpSpPr/>
          <p:nvPr/>
        </p:nvGrpSpPr>
        <p:grpSpPr>
          <a:xfrm>
            <a:off x="-396552" y="76388"/>
            <a:ext cx="6775654" cy="679510"/>
            <a:chOff x="-99459" y="3320919"/>
            <a:chExt cx="7301815" cy="722576"/>
          </a:xfrm>
        </p:grpSpPr>
        <p:grpSp>
          <p:nvGrpSpPr>
            <p:cNvPr id="48" name="组合 105"/>
            <p:cNvGrpSpPr/>
            <p:nvPr/>
          </p:nvGrpSpPr>
          <p:grpSpPr>
            <a:xfrm>
              <a:off x="-99459" y="3320919"/>
              <a:ext cx="7301815" cy="722576"/>
              <a:chOff x="-99459" y="3320919"/>
              <a:chExt cx="7301815" cy="722576"/>
            </a:xfrm>
          </p:grpSpPr>
          <p:sp>
            <p:nvSpPr>
              <p:cNvPr id="50" name="Freeform 5"/>
              <p:cNvSpPr>
                <a:spLocks/>
              </p:cNvSpPr>
              <p:nvPr/>
            </p:nvSpPr>
            <p:spPr bwMode="auto">
              <a:xfrm>
                <a:off x="933887" y="3380765"/>
                <a:ext cx="801702" cy="662730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EA6103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  <p:sp>
            <p:nvSpPr>
              <p:cNvPr id="51" name="TextBox 6"/>
              <p:cNvSpPr txBox="1">
                <a:spLocks noChangeArrowheads="1"/>
              </p:cNvSpPr>
              <p:nvPr/>
            </p:nvSpPr>
            <p:spPr bwMode="auto">
              <a:xfrm>
                <a:off x="-99459" y="3320919"/>
                <a:ext cx="7301815" cy="687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10.3 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树表的查找</a:t>
                </a:r>
              </a:p>
            </p:txBody>
          </p:sp>
        </p:grpSp>
        <p:pic>
          <p:nvPicPr>
            <p:cNvPr id="49" name="图片 48" descr="12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5929" y="3530600"/>
              <a:ext cx="446172" cy="431048"/>
            </a:xfrm>
            <a:prstGeom prst="rect">
              <a:avLst/>
            </a:prstGeom>
          </p:spPr>
        </p:pic>
      </p:grpSp>
      <p:sp>
        <p:nvSpPr>
          <p:cNvPr id="52" name="矩形 51"/>
          <p:cNvSpPr/>
          <p:nvPr/>
        </p:nvSpPr>
        <p:spPr>
          <a:xfrm>
            <a:off x="407697" y="909579"/>
            <a:ext cx="33730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800" b="1" dirty="0"/>
              <a:t>10.3.1 </a:t>
            </a:r>
            <a:r>
              <a:rPr lang="zh-CN" altLang="en-US" sz="2800" b="1" dirty="0"/>
              <a:t>二叉排序树</a:t>
            </a:r>
          </a:p>
        </p:txBody>
      </p:sp>
    </p:spTree>
    <p:extLst>
      <p:ext uri="{BB962C8B-B14F-4D97-AF65-F5344CB8AC3E}">
        <p14:creationId xmlns:p14="http://schemas.microsoft.com/office/powerpoint/2010/main" val="2520576173"/>
      </p:ext>
    </p:extLst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3"/>
          <p:cNvSpPr>
            <a:spLocks noGrp="1" noRot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dirty="0"/>
              <a:t>二叉排序树查找性能分析：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     再看以下列数据序列作为输入构造一棵二叉排序树。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b="1" dirty="0"/>
              <a:t>20</a:t>
            </a:r>
            <a:r>
              <a:rPr lang="zh-CN" altLang="en-US" sz="2000" b="1" dirty="0"/>
              <a:t>，</a:t>
            </a:r>
            <a:r>
              <a:rPr lang="en-US" altLang="zh-CN" sz="2000" b="1" dirty="0"/>
              <a:t>42</a:t>
            </a:r>
            <a:r>
              <a:rPr lang="zh-CN" altLang="en-US" sz="2000" b="1" dirty="0"/>
              <a:t>，</a:t>
            </a:r>
            <a:r>
              <a:rPr lang="en-US" altLang="zh-CN" sz="2000" b="1" dirty="0"/>
              <a:t>65</a:t>
            </a:r>
            <a:r>
              <a:rPr lang="zh-CN" altLang="en-US" sz="2000" b="1" dirty="0"/>
              <a:t>，</a:t>
            </a:r>
            <a:r>
              <a:rPr lang="en-US" altLang="zh-CN" sz="2000" b="1" dirty="0"/>
              <a:t>78</a:t>
            </a:r>
            <a:r>
              <a:rPr lang="zh-CN" altLang="en-US" sz="2000" b="1" dirty="0"/>
              <a:t>，</a:t>
            </a:r>
            <a:r>
              <a:rPr lang="en-US" altLang="zh-CN" sz="2000" b="1" dirty="0"/>
              <a:t>88</a:t>
            </a:r>
            <a:r>
              <a:rPr lang="zh-CN" altLang="en-US" sz="2000" b="1" dirty="0"/>
              <a:t>，</a:t>
            </a:r>
            <a:r>
              <a:rPr lang="en-US" altLang="zh-CN" sz="2000" b="1" dirty="0"/>
              <a:t>93</a:t>
            </a:r>
            <a:r>
              <a:rPr lang="zh-CN" altLang="en-US" sz="2000" b="1" dirty="0"/>
              <a:t>，</a:t>
            </a:r>
            <a:r>
              <a:rPr lang="en-US" altLang="zh-CN" sz="2000" b="1" dirty="0"/>
              <a:t>100</a:t>
            </a:r>
            <a:r>
              <a:rPr lang="zh-CN" altLang="en-US" sz="2000" b="1" dirty="0"/>
              <a:t>，</a:t>
            </a:r>
            <a:r>
              <a:rPr lang="en-US" altLang="zh-CN" sz="2000" b="1" dirty="0"/>
              <a:t>112</a:t>
            </a:r>
            <a:r>
              <a:rPr lang="zh-CN" altLang="en-US" sz="2000" b="1" dirty="0"/>
              <a:t>，</a:t>
            </a:r>
            <a:r>
              <a:rPr lang="en-US" altLang="zh-CN" sz="2000" b="1" dirty="0"/>
              <a:t>118</a:t>
            </a:r>
            <a:r>
              <a:rPr lang="zh-CN" altLang="en-US" sz="2000" b="1" dirty="0"/>
              <a:t>，</a:t>
            </a:r>
            <a:r>
              <a:rPr lang="en-US" altLang="zh-CN" sz="2000" b="1" dirty="0"/>
              <a:t>138</a:t>
            </a:r>
            <a:r>
              <a:rPr lang="zh-CN" altLang="en-US" sz="2000" b="1" dirty="0"/>
              <a:t>，</a:t>
            </a:r>
            <a:r>
              <a:rPr lang="en-US" altLang="zh-CN" sz="2000" b="1" dirty="0"/>
              <a:t>145</a:t>
            </a:r>
            <a:r>
              <a:rPr lang="zh-CN" altLang="en-US" sz="2000" b="1" dirty="0"/>
              <a:t>，</a:t>
            </a:r>
            <a:r>
              <a:rPr lang="en-US" altLang="zh-CN" sz="2000" b="1" dirty="0"/>
              <a:t>173</a:t>
            </a:r>
            <a:r>
              <a:rPr lang="zh-CN" altLang="en-US" sz="2000" b="1" dirty="0"/>
              <a:t>，</a:t>
            </a:r>
            <a:r>
              <a:rPr lang="en-US" altLang="zh-CN" sz="2000" b="1" dirty="0"/>
              <a:t>188,197</a:t>
            </a:r>
          </a:p>
          <a:p>
            <a:pPr eaLnBrk="1" hangingPunct="1">
              <a:spcBef>
                <a:spcPts val="120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rgbClr val="0000FF"/>
                </a:solidFill>
              </a:rPr>
              <a:t>平均查找长度：</a:t>
            </a:r>
          </a:p>
          <a:p>
            <a:pPr marL="0" indent="0" eaLnBrk="1" hangingPunct="1">
              <a:buClr>
                <a:srgbClr val="FF0000"/>
              </a:buClr>
              <a:buNone/>
            </a:pPr>
            <a:r>
              <a:rPr lang="zh-CN" altLang="en-US" sz="2400" dirty="0">
                <a:solidFill>
                  <a:srgbClr val="0000FF"/>
                </a:solidFill>
              </a:rPr>
              <a:t>   </a:t>
            </a:r>
            <a:r>
              <a:rPr lang="zh-CN" altLang="en-US" sz="2400" b="1" dirty="0">
                <a:solidFill>
                  <a:srgbClr val="0000FF"/>
                </a:solidFill>
              </a:rPr>
              <a:t>（</a:t>
            </a:r>
            <a:r>
              <a:rPr lang="en-US" altLang="zh-CN" sz="2400" b="1" dirty="0">
                <a:solidFill>
                  <a:srgbClr val="0000FF"/>
                </a:solidFill>
              </a:rPr>
              <a:t>1</a:t>
            </a:r>
            <a:r>
              <a:rPr lang="zh-CN" altLang="en-US" sz="2400" b="1" dirty="0">
                <a:solidFill>
                  <a:srgbClr val="0000FF"/>
                </a:solidFill>
              </a:rPr>
              <a:t>＋</a:t>
            </a:r>
            <a:r>
              <a:rPr lang="en-US" altLang="zh-CN" sz="2400" b="1" dirty="0">
                <a:solidFill>
                  <a:srgbClr val="0000FF"/>
                </a:solidFill>
              </a:rPr>
              <a:t>2</a:t>
            </a:r>
            <a:r>
              <a:rPr lang="zh-CN" altLang="en-US" sz="2400" b="1" dirty="0">
                <a:solidFill>
                  <a:srgbClr val="0000FF"/>
                </a:solidFill>
              </a:rPr>
              <a:t>＋</a:t>
            </a:r>
            <a:r>
              <a:rPr lang="en-US" altLang="zh-CN" sz="2400" b="1" dirty="0">
                <a:solidFill>
                  <a:srgbClr val="0000FF"/>
                </a:solidFill>
              </a:rPr>
              <a:t>…</a:t>
            </a:r>
            <a:r>
              <a:rPr lang="zh-CN" altLang="en-US" sz="2400" b="1" dirty="0">
                <a:solidFill>
                  <a:srgbClr val="0000FF"/>
                </a:solidFill>
              </a:rPr>
              <a:t>＋</a:t>
            </a:r>
            <a:r>
              <a:rPr lang="en-US" altLang="zh-CN" sz="2400" b="1" dirty="0">
                <a:solidFill>
                  <a:srgbClr val="0000FF"/>
                </a:solidFill>
              </a:rPr>
              <a:t>14</a:t>
            </a:r>
            <a:r>
              <a:rPr lang="zh-CN" altLang="en-US" sz="2400" b="1" dirty="0">
                <a:solidFill>
                  <a:srgbClr val="0000FF"/>
                </a:solidFill>
              </a:rPr>
              <a:t>）</a:t>
            </a:r>
            <a:r>
              <a:rPr lang="en-US" altLang="zh-CN" sz="2400" b="1" dirty="0">
                <a:solidFill>
                  <a:srgbClr val="0000FF"/>
                </a:solidFill>
              </a:rPr>
              <a:t>/14 </a:t>
            </a:r>
          </a:p>
          <a:p>
            <a:pPr marL="0" indent="0" eaLnBrk="1" hangingPunct="1">
              <a:buClr>
                <a:srgbClr val="FF0000"/>
              </a:buClr>
              <a:buNone/>
            </a:pPr>
            <a:r>
              <a:rPr lang="en-US" altLang="zh-CN" sz="2400" b="1" dirty="0">
                <a:solidFill>
                  <a:srgbClr val="0000FF"/>
                </a:solidFill>
              </a:rPr>
              <a:t>                   = 105/14</a:t>
            </a:r>
          </a:p>
        </p:txBody>
      </p:sp>
      <p:sp>
        <p:nvSpPr>
          <p:cNvPr id="36868" name="Oval 4"/>
          <p:cNvSpPr>
            <a:spLocks noChangeArrowheads="1"/>
          </p:cNvSpPr>
          <p:nvPr/>
        </p:nvSpPr>
        <p:spPr bwMode="auto">
          <a:xfrm>
            <a:off x="3995738" y="2994496"/>
            <a:ext cx="360362" cy="360362"/>
          </a:xfrm>
          <a:prstGeom prst="ellipse">
            <a:avLst/>
          </a:prstGeom>
          <a:solidFill>
            <a:srgbClr val="92D050"/>
          </a:solidFill>
          <a:ln w="2540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 eaLnBrk="1" hangingPunct="1"/>
            <a:r>
              <a:rPr lang="en-US" altLang="zh-CN">
                <a:latin typeface="Tahoma" panose="020B0604030504040204" pitchFamily="34" charset="0"/>
                <a:ea typeface="宋体" panose="02010600030101010101" pitchFamily="2" charset="-122"/>
              </a:rPr>
              <a:t>20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4356100" y="3213206"/>
            <a:ext cx="1150938" cy="720726"/>
            <a:chOff x="0" y="0"/>
            <a:chExt cx="726" cy="454"/>
          </a:xfrm>
          <a:solidFill>
            <a:srgbClr val="92D050"/>
          </a:solidFill>
        </p:grpSpPr>
        <p:sp>
          <p:nvSpPr>
            <p:cNvPr id="35857" name="Oval 6"/>
            <p:cNvSpPr>
              <a:spLocks noChangeArrowheads="1"/>
            </p:cNvSpPr>
            <p:nvPr/>
          </p:nvSpPr>
          <p:spPr bwMode="auto">
            <a:xfrm>
              <a:off x="499" y="227"/>
              <a:ext cx="227" cy="227"/>
            </a:xfrm>
            <a:prstGeom prst="ellipse">
              <a:avLst/>
            </a:prstGeom>
            <a:grp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>
                  <a:latin typeface="Tahoma" panose="020B0604030504040204" pitchFamily="34" charset="0"/>
                  <a:ea typeface="宋体" panose="02010600030101010101" pitchFamily="2" charset="-122"/>
                </a:rPr>
                <a:t>42</a:t>
              </a:r>
            </a:p>
          </p:txBody>
        </p:sp>
        <p:sp>
          <p:nvSpPr>
            <p:cNvPr id="35858" name="Line 7"/>
            <p:cNvSpPr>
              <a:spLocks noChangeShapeType="1"/>
            </p:cNvSpPr>
            <p:nvPr/>
          </p:nvSpPr>
          <p:spPr bwMode="auto">
            <a:xfrm flipH="1" flipV="1">
              <a:off x="0" y="0"/>
              <a:ext cx="499" cy="227"/>
            </a:xfrm>
            <a:prstGeom prst="line">
              <a:avLst/>
            </a:prstGeom>
            <a:grp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5507038" y="3931121"/>
            <a:ext cx="1150937" cy="720725"/>
            <a:chOff x="0" y="0"/>
            <a:chExt cx="726" cy="454"/>
          </a:xfrm>
          <a:solidFill>
            <a:srgbClr val="92D050"/>
          </a:solidFill>
        </p:grpSpPr>
        <p:sp>
          <p:nvSpPr>
            <p:cNvPr id="35855" name="Oval 9"/>
            <p:cNvSpPr>
              <a:spLocks noChangeArrowheads="1"/>
            </p:cNvSpPr>
            <p:nvPr/>
          </p:nvSpPr>
          <p:spPr bwMode="auto">
            <a:xfrm>
              <a:off x="499" y="227"/>
              <a:ext cx="227" cy="227"/>
            </a:xfrm>
            <a:prstGeom prst="ellipse">
              <a:avLst/>
            </a:prstGeom>
            <a:grp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>
                  <a:latin typeface="Tahoma" panose="020B0604030504040204" pitchFamily="34" charset="0"/>
                  <a:ea typeface="宋体" panose="02010600030101010101" pitchFamily="2" charset="-122"/>
                </a:rPr>
                <a:t>65</a:t>
              </a:r>
            </a:p>
          </p:txBody>
        </p:sp>
        <p:sp>
          <p:nvSpPr>
            <p:cNvPr id="35856" name="Line 10"/>
            <p:cNvSpPr>
              <a:spLocks noChangeShapeType="1"/>
            </p:cNvSpPr>
            <p:nvPr/>
          </p:nvSpPr>
          <p:spPr bwMode="auto">
            <a:xfrm flipH="1" flipV="1">
              <a:off x="0" y="0"/>
              <a:ext cx="499" cy="227"/>
            </a:xfrm>
            <a:prstGeom prst="line">
              <a:avLst/>
            </a:prstGeom>
            <a:grp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11"/>
          <p:cNvGrpSpPr>
            <a:grpSpLocks/>
          </p:cNvGrpSpPr>
          <p:nvPr/>
        </p:nvGrpSpPr>
        <p:grpSpPr bwMode="auto">
          <a:xfrm>
            <a:off x="6659563" y="4651846"/>
            <a:ext cx="1150937" cy="720725"/>
            <a:chOff x="0" y="0"/>
            <a:chExt cx="726" cy="454"/>
          </a:xfrm>
          <a:solidFill>
            <a:srgbClr val="92D050"/>
          </a:solidFill>
        </p:grpSpPr>
        <p:sp>
          <p:nvSpPr>
            <p:cNvPr id="35853" name="Oval 12"/>
            <p:cNvSpPr>
              <a:spLocks noChangeArrowheads="1"/>
            </p:cNvSpPr>
            <p:nvPr/>
          </p:nvSpPr>
          <p:spPr bwMode="auto">
            <a:xfrm>
              <a:off x="499" y="227"/>
              <a:ext cx="227" cy="227"/>
            </a:xfrm>
            <a:prstGeom prst="ellipse">
              <a:avLst/>
            </a:prstGeom>
            <a:grp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>
                  <a:latin typeface="Tahoma" panose="020B0604030504040204" pitchFamily="34" charset="0"/>
                  <a:ea typeface="宋体" panose="02010600030101010101" pitchFamily="2" charset="-122"/>
                </a:rPr>
                <a:t>78</a:t>
              </a:r>
            </a:p>
          </p:txBody>
        </p:sp>
        <p:sp>
          <p:nvSpPr>
            <p:cNvPr id="35854" name="Line 13"/>
            <p:cNvSpPr>
              <a:spLocks noChangeShapeType="1"/>
            </p:cNvSpPr>
            <p:nvPr/>
          </p:nvSpPr>
          <p:spPr bwMode="auto">
            <a:xfrm flipH="1" flipV="1">
              <a:off x="0" y="0"/>
              <a:ext cx="499" cy="227"/>
            </a:xfrm>
            <a:prstGeom prst="line">
              <a:avLst/>
            </a:prstGeom>
            <a:grp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" name="Group 14"/>
          <p:cNvGrpSpPr>
            <a:grpSpLocks/>
          </p:cNvGrpSpPr>
          <p:nvPr/>
        </p:nvGrpSpPr>
        <p:grpSpPr bwMode="auto">
          <a:xfrm>
            <a:off x="7704138" y="5372571"/>
            <a:ext cx="1150937" cy="720725"/>
            <a:chOff x="0" y="0"/>
            <a:chExt cx="726" cy="454"/>
          </a:xfrm>
          <a:solidFill>
            <a:srgbClr val="92D050"/>
          </a:solidFill>
        </p:grpSpPr>
        <p:sp>
          <p:nvSpPr>
            <p:cNvPr id="35851" name="Oval 15"/>
            <p:cNvSpPr>
              <a:spLocks noChangeArrowheads="1"/>
            </p:cNvSpPr>
            <p:nvPr/>
          </p:nvSpPr>
          <p:spPr bwMode="auto">
            <a:xfrm>
              <a:off x="499" y="227"/>
              <a:ext cx="227" cy="227"/>
            </a:xfrm>
            <a:prstGeom prst="ellipse">
              <a:avLst/>
            </a:prstGeom>
            <a:grp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latin typeface="Tahoma" panose="020B0604030504040204" pitchFamily="34" charset="0"/>
                  <a:ea typeface="宋体" panose="02010600030101010101" pitchFamily="2" charset="-122"/>
                </a:rPr>
                <a:t>....</a:t>
              </a:r>
            </a:p>
          </p:txBody>
        </p:sp>
        <p:sp>
          <p:nvSpPr>
            <p:cNvPr id="35852" name="Line 16"/>
            <p:cNvSpPr>
              <a:spLocks noChangeShapeType="1"/>
            </p:cNvSpPr>
            <p:nvPr/>
          </p:nvSpPr>
          <p:spPr bwMode="auto">
            <a:xfrm flipH="1" flipV="1">
              <a:off x="0" y="0"/>
              <a:ext cx="499" cy="227"/>
            </a:xfrm>
            <a:prstGeom prst="line">
              <a:avLst/>
            </a:prstGeom>
            <a:grp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6881" name="Text Box 17"/>
          <p:cNvSpPr txBox="1">
            <a:spLocks noChangeArrowheads="1"/>
          </p:cNvSpPr>
          <p:nvPr/>
        </p:nvSpPr>
        <p:spPr bwMode="auto">
          <a:xfrm>
            <a:off x="2051050" y="5372571"/>
            <a:ext cx="4247059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/>
              <a:t>由此而提出</a:t>
            </a:r>
            <a:r>
              <a:rPr lang="zh-CN" altLang="en-US" sz="2400" b="1" dirty="0">
                <a:solidFill>
                  <a:srgbClr val="FF0000"/>
                </a:solidFill>
              </a:rPr>
              <a:t>平衡二叉树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43</a:t>
            </a:fld>
            <a:endParaRPr lang="zh-CN" altLang="en-US" dirty="0"/>
          </a:p>
        </p:txBody>
      </p:sp>
      <p:grpSp>
        <p:nvGrpSpPr>
          <p:cNvPr id="20" name="组合 114"/>
          <p:cNvGrpSpPr/>
          <p:nvPr/>
        </p:nvGrpSpPr>
        <p:grpSpPr>
          <a:xfrm>
            <a:off x="-396552" y="76388"/>
            <a:ext cx="6775654" cy="679510"/>
            <a:chOff x="-99459" y="3320919"/>
            <a:chExt cx="7301815" cy="722576"/>
          </a:xfrm>
        </p:grpSpPr>
        <p:grpSp>
          <p:nvGrpSpPr>
            <p:cNvPr id="21" name="组合 105"/>
            <p:cNvGrpSpPr/>
            <p:nvPr/>
          </p:nvGrpSpPr>
          <p:grpSpPr>
            <a:xfrm>
              <a:off x="-99459" y="3320919"/>
              <a:ext cx="7301815" cy="722576"/>
              <a:chOff x="-99459" y="3320919"/>
              <a:chExt cx="7301815" cy="722576"/>
            </a:xfrm>
          </p:grpSpPr>
          <p:sp>
            <p:nvSpPr>
              <p:cNvPr id="23" name="Freeform 5"/>
              <p:cNvSpPr>
                <a:spLocks/>
              </p:cNvSpPr>
              <p:nvPr/>
            </p:nvSpPr>
            <p:spPr bwMode="auto">
              <a:xfrm>
                <a:off x="933887" y="3380765"/>
                <a:ext cx="801702" cy="662730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EA6103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  <p:sp>
            <p:nvSpPr>
              <p:cNvPr id="24" name="TextBox 6"/>
              <p:cNvSpPr txBox="1">
                <a:spLocks noChangeArrowheads="1"/>
              </p:cNvSpPr>
              <p:nvPr/>
            </p:nvSpPr>
            <p:spPr bwMode="auto">
              <a:xfrm>
                <a:off x="-99459" y="3320919"/>
                <a:ext cx="7301815" cy="687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10.3 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树表的查找</a:t>
                </a:r>
              </a:p>
            </p:txBody>
          </p:sp>
        </p:grpSp>
        <p:pic>
          <p:nvPicPr>
            <p:cNvPr id="22" name="图片 21" descr="12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5929" y="3530600"/>
              <a:ext cx="446172" cy="431048"/>
            </a:xfrm>
            <a:prstGeom prst="rect">
              <a:avLst/>
            </a:prstGeom>
          </p:spPr>
        </p:pic>
      </p:grpSp>
      <p:sp>
        <p:nvSpPr>
          <p:cNvPr id="25" name="矩形 24"/>
          <p:cNvSpPr/>
          <p:nvPr/>
        </p:nvSpPr>
        <p:spPr>
          <a:xfrm>
            <a:off x="407697" y="909579"/>
            <a:ext cx="33730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800" b="1" dirty="0"/>
              <a:t>10.3.1 </a:t>
            </a:r>
            <a:r>
              <a:rPr lang="zh-CN" altLang="en-US" sz="2800" b="1" dirty="0"/>
              <a:t>二叉排序树</a:t>
            </a:r>
          </a:p>
        </p:txBody>
      </p:sp>
    </p:spTree>
    <p:extLst>
      <p:ext uri="{BB962C8B-B14F-4D97-AF65-F5344CB8AC3E}">
        <p14:creationId xmlns:p14="http://schemas.microsoft.com/office/powerpoint/2010/main" val="3266618366"/>
      </p:ext>
    </p:extLst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8" grpId="0" animBg="1" autoUpdateAnimBg="0"/>
      <p:bldP spid="36881" grpId="0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44</a:t>
            </a:fld>
            <a:endParaRPr lang="zh-CN" altLang="en-US" dirty="0"/>
          </a:p>
        </p:txBody>
      </p:sp>
      <p:grpSp>
        <p:nvGrpSpPr>
          <p:cNvPr id="17" name="组合 114"/>
          <p:cNvGrpSpPr/>
          <p:nvPr/>
        </p:nvGrpSpPr>
        <p:grpSpPr>
          <a:xfrm>
            <a:off x="-371901" y="115792"/>
            <a:ext cx="6775654" cy="646307"/>
            <a:chOff x="-72894" y="3362822"/>
            <a:chExt cx="7301815" cy="687269"/>
          </a:xfrm>
        </p:grpSpPr>
        <p:grpSp>
          <p:nvGrpSpPr>
            <p:cNvPr id="18" name="组合 105"/>
            <p:cNvGrpSpPr/>
            <p:nvPr/>
          </p:nvGrpSpPr>
          <p:grpSpPr>
            <a:xfrm>
              <a:off x="-72894" y="3362822"/>
              <a:ext cx="7301815" cy="687269"/>
              <a:chOff x="-72894" y="3362822"/>
              <a:chExt cx="7301815" cy="687269"/>
            </a:xfrm>
          </p:grpSpPr>
          <p:sp>
            <p:nvSpPr>
              <p:cNvPr id="20" name="Freeform 5"/>
              <p:cNvSpPr>
                <a:spLocks/>
              </p:cNvSpPr>
              <p:nvPr/>
            </p:nvSpPr>
            <p:spPr bwMode="auto">
              <a:xfrm>
                <a:off x="933887" y="3380765"/>
                <a:ext cx="801702" cy="662730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EA6103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  <p:sp>
            <p:nvSpPr>
              <p:cNvPr id="21" name="TextBox 6"/>
              <p:cNvSpPr txBox="1">
                <a:spLocks noChangeArrowheads="1"/>
              </p:cNvSpPr>
              <p:nvPr/>
            </p:nvSpPr>
            <p:spPr bwMode="auto">
              <a:xfrm>
                <a:off x="-72894" y="3362822"/>
                <a:ext cx="7301815" cy="687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10.3 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树表的查找</a:t>
                </a:r>
              </a:p>
            </p:txBody>
          </p:sp>
        </p:grpSp>
        <p:pic>
          <p:nvPicPr>
            <p:cNvPr id="19" name="图片 18" descr="12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5929" y="3530600"/>
              <a:ext cx="446172" cy="431048"/>
            </a:xfrm>
            <a:prstGeom prst="rect">
              <a:avLst/>
            </a:prstGeom>
          </p:spPr>
        </p:pic>
      </p:grpSp>
      <p:cxnSp>
        <p:nvCxnSpPr>
          <p:cNvPr id="37" name="直接连接符 36"/>
          <p:cNvCxnSpPr/>
          <p:nvPr/>
        </p:nvCxnSpPr>
        <p:spPr>
          <a:xfrm flipV="1">
            <a:off x="515259" y="822121"/>
            <a:ext cx="298473" cy="10033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/>
          <p:cNvGrpSpPr/>
          <p:nvPr/>
        </p:nvGrpSpPr>
        <p:grpSpPr>
          <a:xfrm>
            <a:off x="387021" y="990125"/>
            <a:ext cx="6633251" cy="641531"/>
            <a:chOff x="1008971" y="1244369"/>
            <a:chExt cx="6633251" cy="641531"/>
          </a:xfrm>
        </p:grpSpPr>
        <p:sp>
          <p:nvSpPr>
            <p:cNvPr id="39" name="矩形 38"/>
            <p:cNvSpPr/>
            <p:nvPr/>
          </p:nvSpPr>
          <p:spPr>
            <a:xfrm>
              <a:off x="1548887" y="1281880"/>
              <a:ext cx="6093335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buClr>
                  <a:srgbClr val="FF0000"/>
                </a:buClr>
              </a:pPr>
              <a:r>
                <a:rPr lang="zh-CN" altLang="en-US" sz="3200" b="1" dirty="0">
                  <a:solidFill>
                    <a:schemeClr val="tx2"/>
                  </a:solidFill>
                  <a:latin typeface="Verdana" pitchFamily="34" charset="0"/>
                  <a:ea typeface="黑体" pitchFamily="49" charset="-122"/>
                </a:rPr>
                <a:t>基于二叉排序树的</a:t>
              </a:r>
              <a:r>
                <a:rPr lang="zh-CN" altLang="en-US" sz="3200" b="1" dirty="0">
                  <a:solidFill>
                    <a:srgbClr val="FF0000"/>
                  </a:solidFill>
                  <a:latin typeface="Verdana" pitchFamily="34" charset="0"/>
                  <a:ea typeface="黑体" pitchFamily="49" charset="-122"/>
                </a:rPr>
                <a:t>查找性能分析 </a:t>
              </a:r>
            </a:p>
          </p:txBody>
        </p:sp>
        <p:pic>
          <p:nvPicPr>
            <p:cNvPr id="40" name="图片 1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008971" y="1244369"/>
              <a:ext cx="505504" cy="6415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41" name="组合 40"/>
          <p:cNvGrpSpPr/>
          <p:nvPr/>
        </p:nvGrpSpPr>
        <p:grpSpPr>
          <a:xfrm>
            <a:off x="427473" y="1924186"/>
            <a:ext cx="5151436" cy="2907388"/>
            <a:chOff x="144464" y="2178430"/>
            <a:chExt cx="5151436" cy="2907388"/>
          </a:xfrm>
        </p:grpSpPr>
        <p:graphicFrame>
          <p:nvGraphicFramePr>
            <p:cNvPr id="42" name="Object 13"/>
            <p:cNvGraphicFramePr>
              <a:graphicFrameLocks noChangeAspect="1"/>
            </p:cNvGraphicFramePr>
            <p:nvPr/>
          </p:nvGraphicFramePr>
          <p:xfrm>
            <a:off x="144464" y="2178430"/>
            <a:ext cx="5151436" cy="24316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6308144" imgH="2801790" progId="Visio.Drawing.11">
                    <p:embed/>
                  </p:oleObj>
                </mc:Choice>
                <mc:Fallback>
                  <p:oleObj name="Visio" r:id="rId4" imgW="6308144" imgH="2801790" progId="Visio.Drawing.11">
                    <p:embed/>
                    <p:pic>
                      <p:nvPicPr>
                        <p:cNvPr id="50189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464" y="2178430"/>
                          <a:ext cx="5151436" cy="24316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" name="矩形 42"/>
            <p:cNvSpPr/>
            <p:nvPr/>
          </p:nvSpPr>
          <p:spPr>
            <a:xfrm>
              <a:off x="679465" y="4685708"/>
              <a:ext cx="3990195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latin typeface="Times New Roman" pitchFamily="18" charset="0"/>
                  <a:ea typeface="黑体" pitchFamily="49" charset="-122"/>
                </a:rPr>
                <a:t>图</a:t>
              </a:r>
              <a:r>
                <a:rPr lang="en-US" altLang="zh-CN" sz="2000" b="1" dirty="0">
                  <a:latin typeface="Times New Roman" pitchFamily="18" charset="0"/>
                  <a:ea typeface="黑体" pitchFamily="49" charset="-122"/>
                </a:rPr>
                <a:t>4 </a:t>
              </a:r>
              <a:r>
                <a:rPr lang="zh-CN" altLang="en-US" sz="2000" b="1" dirty="0">
                  <a:latin typeface="Times New Roman" pitchFamily="18" charset="0"/>
                  <a:ea typeface="黑体" pitchFamily="49" charset="-122"/>
                </a:rPr>
                <a:t>近似</a:t>
              </a:r>
              <a:r>
                <a:rPr lang="zh-CN" altLang="en-US" sz="2000" b="1" dirty="0">
                  <a:solidFill>
                    <a:srgbClr val="FF0000"/>
                  </a:solidFill>
                  <a:latin typeface="Times New Roman" pitchFamily="18" charset="0"/>
                  <a:ea typeface="黑体" pitchFamily="49" charset="-122"/>
                </a:rPr>
                <a:t>完全二叉树</a:t>
              </a:r>
              <a:r>
                <a:rPr lang="zh-CN" altLang="en-US" sz="2000" b="1" dirty="0">
                  <a:latin typeface="Times New Roman" pitchFamily="18" charset="0"/>
                  <a:ea typeface="黑体" pitchFamily="49" charset="-122"/>
                </a:rPr>
                <a:t>的二叉排序树</a:t>
              </a:r>
            </a:p>
          </p:txBody>
        </p:sp>
      </p:grpSp>
      <p:graphicFrame>
        <p:nvGraphicFramePr>
          <p:cNvPr id="4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5330432"/>
              </p:ext>
            </p:extLst>
          </p:nvPr>
        </p:nvGraphicFramePr>
        <p:xfrm>
          <a:off x="5996422" y="1765057"/>
          <a:ext cx="2681287" cy="261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3220255" imgH="3288870" progId="Visio.Drawing.11">
                  <p:embed/>
                </p:oleObj>
              </mc:Choice>
              <mc:Fallback>
                <p:oleObj name="Visio" r:id="rId6" imgW="3220255" imgH="3288870" progId="Visio.Drawing.11">
                  <p:embed/>
                  <p:pic>
                    <p:nvPicPr>
                      <p:cNvPr id="50192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6422" y="1765057"/>
                        <a:ext cx="2681287" cy="2616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矩形 44"/>
          <p:cNvSpPr/>
          <p:nvPr/>
        </p:nvSpPr>
        <p:spPr>
          <a:xfrm>
            <a:off x="5562468" y="4418764"/>
            <a:ext cx="347402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latin typeface="Times New Roman" pitchFamily="18" charset="0"/>
                <a:ea typeface="黑体" pitchFamily="49" charset="-122"/>
              </a:rPr>
              <a:t>图</a:t>
            </a:r>
            <a:r>
              <a:rPr lang="en-US" altLang="zh-CN" sz="2000" b="1" dirty="0">
                <a:latin typeface="Times New Roman" pitchFamily="18" charset="0"/>
                <a:ea typeface="黑体" pitchFamily="49" charset="-122"/>
              </a:rPr>
              <a:t>5 </a:t>
            </a:r>
            <a:r>
              <a:rPr lang="zh-CN" altLang="en-US" sz="2000" b="1" dirty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极端情况</a:t>
            </a:r>
            <a:r>
              <a:rPr lang="zh-CN" altLang="en-US" sz="2000" b="1" dirty="0">
                <a:latin typeface="Times New Roman" pitchFamily="18" charset="0"/>
                <a:ea typeface="黑体" pitchFamily="49" charset="-122"/>
              </a:rPr>
              <a:t>下的二叉排序树</a:t>
            </a:r>
          </a:p>
        </p:txBody>
      </p:sp>
      <p:pic>
        <p:nvPicPr>
          <p:cNvPr id="46" name="Picture 25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10009" y="1784106"/>
            <a:ext cx="7869132" cy="358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7" name="Picture 26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397309" y="1752356"/>
            <a:ext cx="7899399" cy="3764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8" name="组合 47"/>
          <p:cNvGrpSpPr/>
          <p:nvPr/>
        </p:nvGrpSpPr>
        <p:grpSpPr>
          <a:xfrm>
            <a:off x="467544" y="5713069"/>
            <a:ext cx="11150600" cy="470659"/>
            <a:chOff x="1408613" y="1756025"/>
            <a:chExt cx="8827587" cy="523566"/>
          </a:xfrm>
        </p:grpSpPr>
        <p:sp>
          <p:nvSpPr>
            <p:cNvPr id="49" name="圆角矩形 48"/>
            <p:cNvSpPr/>
            <p:nvPr/>
          </p:nvSpPr>
          <p:spPr>
            <a:xfrm>
              <a:off x="1408613" y="1768530"/>
              <a:ext cx="6438174" cy="511061"/>
            </a:xfrm>
            <a:prstGeom prst="roundRect">
              <a:avLst/>
            </a:prstGeom>
            <a:gradFill>
              <a:gsLst>
                <a:gs pos="100000">
                  <a:schemeClr val="bg1">
                    <a:lumMod val="96000"/>
                  </a:schemeClr>
                </a:gs>
                <a:gs pos="0">
                  <a:schemeClr val="bg1">
                    <a:lumMod val="88000"/>
                  </a:schemeClr>
                </a:gs>
              </a:gsLst>
              <a:lin ang="5400000" scaled="0"/>
            </a:gradFill>
            <a:ln w="22225"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5400000" scaled="0"/>
                <a:tileRect/>
              </a:gradFill>
            </a:ln>
            <a:effectLst>
              <a:outerShdw blurRad="127000" dist="50800" dir="27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>
                <a:solidFill>
                  <a:prstClr val="white"/>
                </a:solidFill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1440650" y="1756025"/>
              <a:ext cx="8795550" cy="51356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srgbClr val="0000FF"/>
                  </a:solidFill>
                  <a:latin typeface="Verdana" pitchFamily="34" charset="0"/>
                </a:rPr>
                <a:t>性质：</a:t>
              </a:r>
              <a:r>
                <a:rPr lang="zh-CN" altLang="en-US" sz="2400" dirty="0">
                  <a:latin typeface="Verdana" pitchFamily="34" charset="0"/>
                </a:rPr>
                <a:t>有</a:t>
              </a:r>
              <a:r>
                <a:rPr lang="en-US" altLang="zh-CN" sz="2400" dirty="0">
                  <a:latin typeface="Verdana" pitchFamily="34" charset="0"/>
                </a:rPr>
                <a:t>n</a:t>
              </a:r>
              <a:r>
                <a:rPr lang="zh-CN" altLang="en-US" sz="2400" dirty="0">
                  <a:latin typeface="Verdana" pitchFamily="34" charset="0"/>
                </a:rPr>
                <a:t>个结点的完全二叉树</a:t>
              </a:r>
              <a:r>
                <a:rPr lang="en-US" altLang="zh-CN" sz="2400" dirty="0">
                  <a:latin typeface="Verdana" pitchFamily="34" charset="0"/>
                </a:rPr>
                <a:t>(n&gt;0)</a:t>
              </a:r>
              <a:r>
                <a:rPr lang="zh-CN" altLang="en-US" sz="2400" dirty="0">
                  <a:solidFill>
                    <a:srgbClr val="FF0000"/>
                  </a:solidFill>
                  <a:latin typeface="Verdana" pitchFamily="34" charset="0"/>
                </a:rPr>
                <a:t>深度为└ </a:t>
              </a:r>
              <a:r>
                <a:rPr lang="en-US" altLang="zh-CN" sz="2400" dirty="0">
                  <a:latin typeface="Verdana" pitchFamily="34" charset="0"/>
                </a:rPr>
                <a:t>log</a:t>
              </a:r>
              <a:r>
                <a:rPr lang="en-US" altLang="zh-CN" sz="2400" baseline="-25000" dirty="0">
                  <a:latin typeface="Verdana" pitchFamily="34" charset="0"/>
                </a:rPr>
                <a:t>2</a:t>
              </a:r>
              <a:r>
                <a:rPr lang="en-US" altLang="zh-CN" sz="2400" dirty="0">
                  <a:latin typeface="Verdana" pitchFamily="34" charset="0"/>
                </a:rPr>
                <a:t>n</a:t>
              </a:r>
              <a:r>
                <a:rPr lang="zh-CN" altLang="en-US" sz="2400" dirty="0">
                  <a:solidFill>
                    <a:srgbClr val="FF0000"/>
                  </a:solidFill>
                  <a:latin typeface="Verdana" pitchFamily="34" charset="0"/>
                </a:rPr>
                <a:t>┘</a:t>
              </a:r>
              <a:r>
                <a:rPr lang="en-US" altLang="zh-CN" sz="2400" dirty="0">
                  <a:latin typeface="Verdana" pitchFamily="34" charset="0"/>
                </a:rPr>
                <a:t>+1</a:t>
              </a:r>
              <a:r>
                <a:rPr lang="zh-CN" altLang="en-US" sz="2400" dirty="0">
                  <a:latin typeface="Verdana" pitchFamily="34" charset="0"/>
                </a:rPr>
                <a:t>。</a:t>
              </a:r>
              <a:endParaRPr lang="zh-CN" altLang="en-US" sz="2400" dirty="0">
                <a:latin typeface="Times New Roman" pitchFamily="18" charset="0"/>
                <a:ea typeface="黑体" pitchFamily="49" charset="-122"/>
              </a:endParaRPr>
            </a:p>
          </p:txBody>
        </p:sp>
      </p:grpSp>
      <p:sp>
        <p:nvSpPr>
          <p:cNvPr id="51" name="矩形 50"/>
          <p:cNvSpPr/>
          <p:nvPr/>
        </p:nvSpPr>
        <p:spPr>
          <a:xfrm>
            <a:off x="697054" y="6184341"/>
            <a:ext cx="3683001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200" b="1" dirty="0"/>
              <a:t>时间复杂度：</a:t>
            </a:r>
            <a:r>
              <a:rPr lang="en-US" altLang="zh-CN" sz="2200" b="1" dirty="0"/>
              <a:t> O(</a:t>
            </a:r>
            <a:r>
              <a:rPr lang="en-US" altLang="zh-CN" sz="2200" b="1" dirty="0">
                <a:solidFill>
                  <a:srgbClr val="FF0000"/>
                </a:solidFill>
              </a:rPr>
              <a:t>log</a:t>
            </a:r>
            <a:r>
              <a:rPr lang="en-US" altLang="zh-CN" sz="2200" b="1" baseline="-25000" dirty="0">
                <a:solidFill>
                  <a:srgbClr val="FF0000"/>
                </a:solidFill>
              </a:rPr>
              <a:t>2</a:t>
            </a:r>
            <a:r>
              <a:rPr lang="en-US" altLang="zh-CN" sz="2200" b="1" dirty="0">
                <a:solidFill>
                  <a:srgbClr val="FF0000"/>
                </a:solidFill>
              </a:rPr>
              <a:t>(n)</a:t>
            </a:r>
            <a:r>
              <a:rPr lang="en-US" altLang="zh-CN" sz="2200" b="1" dirty="0"/>
              <a:t>)</a:t>
            </a:r>
            <a:endParaRPr lang="zh-CN" altLang="en-US" sz="2200" b="1" dirty="0"/>
          </a:p>
        </p:txBody>
      </p:sp>
      <p:sp>
        <p:nvSpPr>
          <p:cNvPr id="52" name="矩形 51"/>
          <p:cNvSpPr/>
          <p:nvPr/>
        </p:nvSpPr>
        <p:spPr>
          <a:xfrm>
            <a:off x="5653832" y="6195983"/>
            <a:ext cx="31242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200" b="1" dirty="0"/>
              <a:t>时间复杂度：</a:t>
            </a:r>
            <a:r>
              <a:rPr lang="en-US" altLang="zh-CN" sz="2200" b="1" dirty="0">
                <a:solidFill>
                  <a:srgbClr val="FF0000"/>
                </a:solidFill>
              </a:rPr>
              <a:t>O(n)</a:t>
            </a:r>
            <a:endParaRPr lang="zh-CN" altLang="en-US" sz="2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9939428"/>
      </p:ext>
    </p:extLst>
  </p:cSld>
  <p:clrMapOvr>
    <a:masterClrMapping/>
  </p:clrMapOvr>
  <p:transition spd="slow" advClick="0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3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4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51" grpId="0"/>
      <p:bldP spid="52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45</a:t>
            </a:fld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360176" y="937264"/>
            <a:ext cx="476604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32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二叉排序树的相关应用</a:t>
            </a:r>
          </a:p>
        </p:txBody>
      </p:sp>
      <p:sp>
        <p:nvSpPr>
          <p:cNvPr id="8" name="任意多边形 7"/>
          <p:cNvSpPr/>
          <p:nvPr/>
        </p:nvSpPr>
        <p:spPr>
          <a:xfrm>
            <a:off x="2365265" y="3173871"/>
            <a:ext cx="931783" cy="389238"/>
          </a:xfrm>
          <a:custGeom>
            <a:avLst/>
            <a:gdLst>
              <a:gd name="connsiteX0" fmla="*/ 50498 w 1930400"/>
              <a:gd name="connsiteY0" fmla="*/ 0 h 638521"/>
              <a:gd name="connsiteX1" fmla="*/ 1879902 w 1930400"/>
              <a:gd name="connsiteY1" fmla="*/ 0 h 638521"/>
              <a:gd name="connsiteX2" fmla="*/ 1930400 w 1930400"/>
              <a:gd name="connsiteY2" fmla="*/ 50498 h 638521"/>
              <a:gd name="connsiteX3" fmla="*/ 1930400 w 1930400"/>
              <a:gd name="connsiteY3" fmla="*/ 442988 h 638521"/>
              <a:gd name="connsiteX4" fmla="*/ 1879902 w 1930400"/>
              <a:gd name="connsiteY4" fmla="*/ 493486 h 638521"/>
              <a:gd name="connsiteX5" fmla="*/ 1124527 w 1930400"/>
              <a:gd name="connsiteY5" fmla="*/ 493486 h 638521"/>
              <a:gd name="connsiteX6" fmla="*/ 965200 w 1930400"/>
              <a:gd name="connsiteY6" fmla="*/ 638521 h 638521"/>
              <a:gd name="connsiteX7" fmla="*/ 805872 w 1930400"/>
              <a:gd name="connsiteY7" fmla="*/ 493486 h 638521"/>
              <a:gd name="connsiteX8" fmla="*/ 50498 w 1930400"/>
              <a:gd name="connsiteY8" fmla="*/ 493486 h 638521"/>
              <a:gd name="connsiteX9" fmla="*/ 0 w 1930400"/>
              <a:gd name="connsiteY9" fmla="*/ 442988 h 638521"/>
              <a:gd name="connsiteX10" fmla="*/ 0 w 1930400"/>
              <a:gd name="connsiteY10" fmla="*/ 50498 h 638521"/>
              <a:gd name="connsiteX11" fmla="*/ 50498 w 1930400"/>
              <a:gd name="connsiteY11" fmla="*/ 0 h 6385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0400" h="638521">
                <a:moveTo>
                  <a:pt x="50498" y="0"/>
                </a:moveTo>
                <a:lnTo>
                  <a:pt x="1879902" y="0"/>
                </a:lnTo>
                <a:cubicBezTo>
                  <a:pt x="1907791" y="0"/>
                  <a:pt x="1930400" y="22609"/>
                  <a:pt x="1930400" y="50498"/>
                </a:cubicBezTo>
                <a:lnTo>
                  <a:pt x="1930400" y="442988"/>
                </a:lnTo>
                <a:cubicBezTo>
                  <a:pt x="1930400" y="470877"/>
                  <a:pt x="1907791" y="493486"/>
                  <a:pt x="1879902" y="493486"/>
                </a:cubicBezTo>
                <a:lnTo>
                  <a:pt x="1124527" y="493486"/>
                </a:lnTo>
                <a:lnTo>
                  <a:pt x="965200" y="638521"/>
                </a:lnTo>
                <a:lnTo>
                  <a:pt x="805872" y="493486"/>
                </a:lnTo>
                <a:lnTo>
                  <a:pt x="50498" y="493486"/>
                </a:lnTo>
                <a:cubicBezTo>
                  <a:pt x="22609" y="493486"/>
                  <a:pt x="0" y="470877"/>
                  <a:pt x="0" y="442988"/>
                </a:cubicBezTo>
                <a:lnTo>
                  <a:pt x="0" y="50498"/>
                </a:lnTo>
                <a:cubicBezTo>
                  <a:pt x="0" y="22609"/>
                  <a:pt x="22609" y="0"/>
                  <a:pt x="50498" y="0"/>
                </a:cubicBezTo>
                <a:close/>
              </a:path>
            </a:pathLst>
          </a:custGeom>
          <a:gradFill>
            <a:gsLst>
              <a:gs pos="100000">
                <a:schemeClr val="bg1">
                  <a:lumMod val="98000"/>
                </a:schemeClr>
              </a:gs>
              <a:gs pos="0">
                <a:schemeClr val="bg1">
                  <a:lumMod val="88000"/>
                </a:schemeClr>
              </a:gs>
            </a:gsLst>
            <a:lin ang="2700000" scaled="1"/>
          </a:gradFill>
          <a:ln>
            <a:noFill/>
          </a:ln>
          <a:effectLst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prstClr val="white"/>
              </a:solidFill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869950" y="1795708"/>
            <a:ext cx="7796892" cy="1549383"/>
            <a:chOff x="869950" y="1795708"/>
            <a:chExt cx="7796892" cy="1549383"/>
          </a:xfrm>
        </p:grpSpPr>
        <p:grpSp>
          <p:nvGrpSpPr>
            <p:cNvPr id="10" name="组合 9"/>
            <p:cNvGrpSpPr/>
            <p:nvPr/>
          </p:nvGrpSpPr>
          <p:grpSpPr>
            <a:xfrm>
              <a:off x="3860800" y="1796161"/>
              <a:ext cx="2076449" cy="537464"/>
              <a:chOff x="3733800" y="1266389"/>
              <a:chExt cx="2076449" cy="537464"/>
            </a:xfrm>
          </p:grpSpPr>
          <p:sp>
            <p:nvSpPr>
              <p:cNvPr id="25" name="任意多边形 24"/>
              <p:cNvSpPr/>
              <p:nvPr/>
            </p:nvSpPr>
            <p:spPr>
              <a:xfrm>
                <a:off x="3733800" y="1311504"/>
                <a:ext cx="2076449" cy="492349"/>
              </a:xfrm>
              <a:custGeom>
                <a:avLst/>
                <a:gdLst>
                  <a:gd name="connsiteX0" fmla="*/ 50498 w 1930400"/>
                  <a:gd name="connsiteY0" fmla="*/ 0 h 638521"/>
                  <a:gd name="connsiteX1" fmla="*/ 1879902 w 1930400"/>
                  <a:gd name="connsiteY1" fmla="*/ 0 h 638521"/>
                  <a:gd name="connsiteX2" fmla="*/ 1930400 w 1930400"/>
                  <a:gd name="connsiteY2" fmla="*/ 50498 h 638521"/>
                  <a:gd name="connsiteX3" fmla="*/ 1930400 w 1930400"/>
                  <a:gd name="connsiteY3" fmla="*/ 442988 h 638521"/>
                  <a:gd name="connsiteX4" fmla="*/ 1879902 w 1930400"/>
                  <a:gd name="connsiteY4" fmla="*/ 493486 h 638521"/>
                  <a:gd name="connsiteX5" fmla="*/ 1124527 w 1930400"/>
                  <a:gd name="connsiteY5" fmla="*/ 493486 h 638521"/>
                  <a:gd name="connsiteX6" fmla="*/ 965200 w 1930400"/>
                  <a:gd name="connsiteY6" fmla="*/ 638521 h 638521"/>
                  <a:gd name="connsiteX7" fmla="*/ 805872 w 1930400"/>
                  <a:gd name="connsiteY7" fmla="*/ 493486 h 638521"/>
                  <a:gd name="connsiteX8" fmla="*/ 50498 w 1930400"/>
                  <a:gd name="connsiteY8" fmla="*/ 493486 h 638521"/>
                  <a:gd name="connsiteX9" fmla="*/ 0 w 1930400"/>
                  <a:gd name="connsiteY9" fmla="*/ 442988 h 638521"/>
                  <a:gd name="connsiteX10" fmla="*/ 0 w 1930400"/>
                  <a:gd name="connsiteY10" fmla="*/ 50498 h 638521"/>
                  <a:gd name="connsiteX11" fmla="*/ 50498 w 1930400"/>
                  <a:gd name="connsiteY11" fmla="*/ 0 h 6385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30400" h="638521">
                    <a:moveTo>
                      <a:pt x="50498" y="0"/>
                    </a:moveTo>
                    <a:lnTo>
                      <a:pt x="1879902" y="0"/>
                    </a:lnTo>
                    <a:cubicBezTo>
                      <a:pt x="1907791" y="0"/>
                      <a:pt x="1930400" y="22609"/>
                      <a:pt x="1930400" y="50498"/>
                    </a:cubicBezTo>
                    <a:lnTo>
                      <a:pt x="1930400" y="442988"/>
                    </a:lnTo>
                    <a:cubicBezTo>
                      <a:pt x="1930400" y="470877"/>
                      <a:pt x="1907791" y="493486"/>
                      <a:pt x="1879902" y="493486"/>
                    </a:cubicBezTo>
                    <a:lnTo>
                      <a:pt x="1124527" y="493486"/>
                    </a:lnTo>
                    <a:lnTo>
                      <a:pt x="965200" y="638521"/>
                    </a:lnTo>
                    <a:lnTo>
                      <a:pt x="805872" y="493486"/>
                    </a:lnTo>
                    <a:lnTo>
                      <a:pt x="50498" y="493486"/>
                    </a:lnTo>
                    <a:cubicBezTo>
                      <a:pt x="22609" y="493486"/>
                      <a:pt x="0" y="470877"/>
                      <a:pt x="0" y="442988"/>
                    </a:cubicBezTo>
                    <a:lnTo>
                      <a:pt x="0" y="50498"/>
                    </a:lnTo>
                    <a:cubicBezTo>
                      <a:pt x="0" y="22609"/>
                      <a:pt x="22609" y="0"/>
                      <a:pt x="5049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bg1"/>
                  </a:gs>
                  <a:gs pos="100000">
                    <a:schemeClr val="bg1">
                      <a:lumMod val="80000"/>
                    </a:schemeClr>
                  </a:gs>
                </a:gsLst>
                <a:lin ang="2700000" scaled="1"/>
              </a:gradFill>
              <a:ln>
                <a:noFill/>
              </a:ln>
              <a:effectLst>
                <a:outerShdw blurRad="101600" dist="508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13">
                  <a:solidFill>
                    <a:prstClr val="white"/>
                  </a:solidFill>
                </a:endParaRPr>
              </a:p>
            </p:txBody>
          </p:sp>
          <p:sp>
            <p:nvSpPr>
              <p:cNvPr id="26" name="文本框 146"/>
              <p:cNvSpPr txBox="1"/>
              <p:nvPr/>
            </p:nvSpPr>
            <p:spPr>
              <a:xfrm>
                <a:off x="3766883" y="1266389"/>
                <a:ext cx="182429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200" b="1" dirty="0">
                    <a:solidFill>
                      <a:srgbClr val="0000FF"/>
                    </a:solidFill>
                    <a:latin typeface="黑体" pitchFamily="49" charset="-122"/>
                    <a:ea typeface="黑体" pitchFamily="49" charset="-122"/>
                  </a:rPr>
                  <a:t>文献数据库</a:t>
                </a:r>
              </a:p>
            </p:txBody>
          </p:sp>
        </p:grpSp>
        <p:grpSp>
          <p:nvGrpSpPr>
            <p:cNvPr id="11" name="组合 10"/>
            <p:cNvGrpSpPr/>
            <p:nvPr/>
          </p:nvGrpSpPr>
          <p:grpSpPr>
            <a:xfrm>
              <a:off x="6642525" y="1800697"/>
              <a:ext cx="2024317" cy="504353"/>
              <a:chOff x="6471982" y="1285439"/>
              <a:chExt cx="2024317" cy="504353"/>
            </a:xfrm>
          </p:grpSpPr>
          <p:sp>
            <p:nvSpPr>
              <p:cNvPr id="23" name="任意多边形 22"/>
              <p:cNvSpPr/>
              <p:nvPr/>
            </p:nvSpPr>
            <p:spPr>
              <a:xfrm>
                <a:off x="6524625" y="1321029"/>
                <a:ext cx="1971674" cy="468763"/>
              </a:xfrm>
              <a:custGeom>
                <a:avLst/>
                <a:gdLst>
                  <a:gd name="connsiteX0" fmla="*/ 50498 w 1930400"/>
                  <a:gd name="connsiteY0" fmla="*/ 0 h 638521"/>
                  <a:gd name="connsiteX1" fmla="*/ 1879902 w 1930400"/>
                  <a:gd name="connsiteY1" fmla="*/ 0 h 638521"/>
                  <a:gd name="connsiteX2" fmla="*/ 1930400 w 1930400"/>
                  <a:gd name="connsiteY2" fmla="*/ 50498 h 638521"/>
                  <a:gd name="connsiteX3" fmla="*/ 1930400 w 1930400"/>
                  <a:gd name="connsiteY3" fmla="*/ 442988 h 638521"/>
                  <a:gd name="connsiteX4" fmla="*/ 1879902 w 1930400"/>
                  <a:gd name="connsiteY4" fmla="*/ 493486 h 638521"/>
                  <a:gd name="connsiteX5" fmla="*/ 1124527 w 1930400"/>
                  <a:gd name="connsiteY5" fmla="*/ 493486 h 638521"/>
                  <a:gd name="connsiteX6" fmla="*/ 965200 w 1930400"/>
                  <a:gd name="connsiteY6" fmla="*/ 638521 h 638521"/>
                  <a:gd name="connsiteX7" fmla="*/ 805872 w 1930400"/>
                  <a:gd name="connsiteY7" fmla="*/ 493486 h 638521"/>
                  <a:gd name="connsiteX8" fmla="*/ 50498 w 1930400"/>
                  <a:gd name="connsiteY8" fmla="*/ 493486 h 638521"/>
                  <a:gd name="connsiteX9" fmla="*/ 0 w 1930400"/>
                  <a:gd name="connsiteY9" fmla="*/ 442988 h 638521"/>
                  <a:gd name="connsiteX10" fmla="*/ 0 w 1930400"/>
                  <a:gd name="connsiteY10" fmla="*/ 50498 h 638521"/>
                  <a:gd name="connsiteX11" fmla="*/ 50498 w 1930400"/>
                  <a:gd name="connsiteY11" fmla="*/ 0 h 6385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30400" h="638521">
                    <a:moveTo>
                      <a:pt x="50498" y="0"/>
                    </a:moveTo>
                    <a:lnTo>
                      <a:pt x="1879902" y="0"/>
                    </a:lnTo>
                    <a:cubicBezTo>
                      <a:pt x="1907791" y="0"/>
                      <a:pt x="1930400" y="22609"/>
                      <a:pt x="1930400" y="50498"/>
                    </a:cubicBezTo>
                    <a:lnTo>
                      <a:pt x="1930400" y="442988"/>
                    </a:lnTo>
                    <a:cubicBezTo>
                      <a:pt x="1930400" y="470877"/>
                      <a:pt x="1907791" y="493486"/>
                      <a:pt x="1879902" y="493486"/>
                    </a:cubicBezTo>
                    <a:lnTo>
                      <a:pt x="1124527" y="493486"/>
                    </a:lnTo>
                    <a:lnTo>
                      <a:pt x="965200" y="638521"/>
                    </a:lnTo>
                    <a:lnTo>
                      <a:pt x="805872" y="493486"/>
                    </a:lnTo>
                    <a:lnTo>
                      <a:pt x="50498" y="493486"/>
                    </a:lnTo>
                    <a:cubicBezTo>
                      <a:pt x="22609" y="493486"/>
                      <a:pt x="0" y="470877"/>
                      <a:pt x="0" y="442988"/>
                    </a:cubicBezTo>
                    <a:lnTo>
                      <a:pt x="0" y="50498"/>
                    </a:lnTo>
                    <a:cubicBezTo>
                      <a:pt x="0" y="22609"/>
                      <a:pt x="22609" y="0"/>
                      <a:pt x="5049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bg1"/>
                  </a:gs>
                  <a:gs pos="100000">
                    <a:schemeClr val="bg1">
                      <a:lumMod val="80000"/>
                    </a:schemeClr>
                  </a:gs>
                </a:gsLst>
                <a:lin ang="2700000" scaled="1"/>
              </a:gradFill>
              <a:ln>
                <a:noFill/>
              </a:ln>
              <a:effectLst>
                <a:outerShdw blurRad="101600" dist="508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13">
                  <a:solidFill>
                    <a:prstClr val="white"/>
                  </a:solidFill>
                </a:endParaRPr>
              </a:p>
            </p:txBody>
          </p:sp>
          <p:sp>
            <p:nvSpPr>
              <p:cNvPr id="24" name="文本框 146"/>
              <p:cNvSpPr txBox="1"/>
              <p:nvPr/>
            </p:nvSpPr>
            <p:spPr>
              <a:xfrm>
                <a:off x="6471982" y="1285439"/>
                <a:ext cx="1939499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b="1" dirty="0">
                    <a:solidFill>
                      <a:srgbClr val="0000FF"/>
                    </a:solidFill>
                    <a:latin typeface="Times New Roman" pitchFamily="18" charset="0"/>
                    <a:ea typeface="黑体" pitchFamily="49" charset="-122"/>
                  </a:rPr>
                  <a:t>Web</a:t>
                </a:r>
                <a:r>
                  <a:rPr lang="zh-CN" altLang="en-US" sz="2200" b="1" dirty="0">
                    <a:solidFill>
                      <a:srgbClr val="0000FF"/>
                    </a:solidFill>
                    <a:latin typeface="Times New Roman" pitchFamily="18" charset="0"/>
                    <a:ea typeface="黑体" pitchFamily="49" charset="-122"/>
                  </a:rPr>
                  <a:t>数据库等</a:t>
                </a:r>
              </a:p>
            </p:txBody>
          </p:sp>
        </p:grpSp>
        <p:grpSp>
          <p:nvGrpSpPr>
            <p:cNvPr id="12" name="组合 11"/>
            <p:cNvGrpSpPr/>
            <p:nvPr/>
          </p:nvGrpSpPr>
          <p:grpSpPr>
            <a:xfrm>
              <a:off x="1016000" y="2316391"/>
              <a:ext cx="6832600" cy="1028700"/>
              <a:chOff x="1676400" y="3559175"/>
              <a:chExt cx="5519738" cy="1028700"/>
            </a:xfrm>
          </p:grpSpPr>
          <p:grpSp>
            <p:nvGrpSpPr>
              <p:cNvPr id="16" name="组合 90"/>
              <p:cNvGrpSpPr/>
              <p:nvPr/>
            </p:nvGrpSpPr>
            <p:grpSpPr>
              <a:xfrm>
                <a:off x="1676400" y="3559175"/>
                <a:ext cx="5519738" cy="1028700"/>
                <a:chOff x="1676400" y="3775075"/>
                <a:chExt cx="5519738" cy="1028700"/>
              </a:xfrm>
            </p:grpSpPr>
            <p:grpSp>
              <p:nvGrpSpPr>
                <p:cNvPr id="18" name="组合 72"/>
                <p:cNvGrpSpPr/>
                <p:nvPr/>
              </p:nvGrpSpPr>
              <p:grpSpPr>
                <a:xfrm>
                  <a:off x="1676400" y="4085217"/>
                  <a:ext cx="5519738" cy="718558"/>
                  <a:chOff x="1590675" y="3938294"/>
                  <a:chExt cx="5834063" cy="890706"/>
                </a:xfrm>
              </p:grpSpPr>
              <p:pic>
                <p:nvPicPr>
                  <p:cNvPr id="21" name="Picture 8"/>
                  <p:cNvPicPr>
                    <a:picLocks noChangeAspect="1" noChangeArrowheads="1"/>
                  </p:cNvPicPr>
                  <p:nvPr/>
                </p:nvPicPr>
                <p:blipFill>
                  <a:blip r:embed="rId2" cstate="print"/>
                  <a:srcRect/>
                  <a:stretch>
                    <a:fillRect/>
                  </a:stretch>
                </p:blipFill>
                <p:spPr bwMode="auto">
                  <a:xfrm>
                    <a:off x="1590675" y="3938294"/>
                    <a:ext cx="2781300" cy="890706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</p:pic>
              <p:pic>
                <p:nvPicPr>
                  <p:cNvPr id="22" name="Picture 7"/>
                  <p:cNvPicPr>
                    <a:picLocks noChangeAspect="1" noChangeArrowheads="1"/>
                  </p:cNvPicPr>
                  <p:nvPr/>
                </p:nvPicPr>
                <p:blipFill>
                  <a:blip r:embed="rId3" cstate="print"/>
                  <a:srcRect/>
                  <a:stretch>
                    <a:fillRect/>
                  </a:stretch>
                </p:blipFill>
                <p:spPr bwMode="auto">
                  <a:xfrm>
                    <a:off x="4343396" y="3947820"/>
                    <a:ext cx="3081342" cy="870253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</p:pic>
            </p:grpSp>
            <p:sp>
              <p:nvSpPr>
                <p:cNvPr id="19" name="下箭头 18"/>
                <p:cNvSpPr/>
                <p:nvPr/>
              </p:nvSpPr>
              <p:spPr>
                <a:xfrm>
                  <a:off x="4400972" y="3775075"/>
                  <a:ext cx="145628" cy="252509"/>
                </a:xfrm>
                <a:prstGeom prst="downArrow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" name="下箭头 19"/>
                <p:cNvSpPr/>
                <p:nvPr/>
              </p:nvSpPr>
              <p:spPr>
                <a:xfrm>
                  <a:off x="6623887" y="3775075"/>
                  <a:ext cx="145628" cy="252509"/>
                </a:xfrm>
                <a:prstGeom prst="downArrow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17" name="下箭头 16"/>
              <p:cNvSpPr/>
              <p:nvPr/>
            </p:nvSpPr>
            <p:spPr>
              <a:xfrm>
                <a:off x="2330872" y="3559175"/>
                <a:ext cx="145628" cy="252509"/>
              </a:xfrm>
              <a:prstGeom prst="downArrow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3" name="组合 12"/>
            <p:cNvGrpSpPr/>
            <p:nvPr/>
          </p:nvGrpSpPr>
          <p:grpSpPr>
            <a:xfrm>
              <a:off x="869950" y="1795708"/>
              <a:ext cx="1857375" cy="528392"/>
              <a:chOff x="742950" y="1294964"/>
              <a:chExt cx="1857375" cy="528392"/>
            </a:xfrm>
          </p:grpSpPr>
          <p:sp>
            <p:nvSpPr>
              <p:cNvPr id="14" name="任意多边形 13"/>
              <p:cNvSpPr/>
              <p:nvPr/>
            </p:nvSpPr>
            <p:spPr>
              <a:xfrm>
                <a:off x="742950" y="1340079"/>
                <a:ext cx="1835149" cy="483277"/>
              </a:xfrm>
              <a:custGeom>
                <a:avLst/>
                <a:gdLst>
                  <a:gd name="connsiteX0" fmla="*/ 50498 w 1930400"/>
                  <a:gd name="connsiteY0" fmla="*/ 0 h 638521"/>
                  <a:gd name="connsiteX1" fmla="*/ 1879902 w 1930400"/>
                  <a:gd name="connsiteY1" fmla="*/ 0 h 638521"/>
                  <a:gd name="connsiteX2" fmla="*/ 1930400 w 1930400"/>
                  <a:gd name="connsiteY2" fmla="*/ 50498 h 638521"/>
                  <a:gd name="connsiteX3" fmla="*/ 1930400 w 1930400"/>
                  <a:gd name="connsiteY3" fmla="*/ 442988 h 638521"/>
                  <a:gd name="connsiteX4" fmla="*/ 1879902 w 1930400"/>
                  <a:gd name="connsiteY4" fmla="*/ 493486 h 638521"/>
                  <a:gd name="connsiteX5" fmla="*/ 1124527 w 1930400"/>
                  <a:gd name="connsiteY5" fmla="*/ 493486 h 638521"/>
                  <a:gd name="connsiteX6" fmla="*/ 965200 w 1930400"/>
                  <a:gd name="connsiteY6" fmla="*/ 638521 h 638521"/>
                  <a:gd name="connsiteX7" fmla="*/ 805872 w 1930400"/>
                  <a:gd name="connsiteY7" fmla="*/ 493486 h 638521"/>
                  <a:gd name="connsiteX8" fmla="*/ 50498 w 1930400"/>
                  <a:gd name="connsiteY8" fmla="*/ 493486 h 638521"/>
                  <a:gd name="connsiteX9" fmla="*/ 0 w 1930400"/>
                  <a:gd name="connsiteY9" fmla="*/ 442988 h 638521"/>
                  <a:gd name="connsiteX10" fmla="*/ 0 w 1930400"/>
                  <a:gd name="connsiteY10" fmla="*/ 50498 h 638521"/>
                  <a:gd name="connsiteX11" fmla="*/ 50498 w 1930400"/>
                  <a:gd name="connsiteY11" fmla="*/ 0 h 6385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30400" h="638521">
                    <a:moveTo>
                      <a:pt x="50498" y="0"/>
                    </a:moveTo>
                    <a:lnTo>
                      <a:pt x="1879902" y="0"/>
                    </a:lnTo>
                    <a:cubicBezTo>
                      <a:pt x="1907791" y="0"/>
                      <a:pt x="1930400" y="22609"/>
                      <a:pt x="1930400" y="50498"/>
                    </a:cubicBezTo>
                    <a:lnTo>
                      <a:pt x="1930400" y="442988"/>
                    </a:lnTo>
                    <a:cubicBezTo>
                      <a:pt x="1930400" y="470877"/>
                      <a:pt x="1907791" y="493486"/>
                      <a:pt x="1879902" y="493486"/>
                    </a:cubicBezTo>
                    <a:lnTo>
                      <a:pt x="1124527" y="493486"/>
                    </a:lnTo>
                    <a:lnTo>
                      <a:pt x="965200" y="638521"/>
                    </a:lnTo>
                    <a:lnTo>
                      <a:pt x="805872" y="493486"/>
                    </a:lnTo>
                    <a:lnTo>
                      <a:pt x="50498" y="493486"/>
                    </a:lnTo>
                    <a:cubicBezTo>
                      <a:pt x="22609" y="493486"/>
                      <a:pt x="0" y="470877"/>
                      <a:pt x="0" y="442988"/>
                    </a:cubicBezTo>
                    <a:lnTo>
                      <a:pt x="0" y="50498"/>
                    </a:lnTo>
                    <a:cubicBezTo>
                      <a:pt x="0" y="22609"/>
                      <a:pt x="22609" y="0"/>
                      <a:pt x="5049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bg1"/>
                  </a:gs>
                  <a:gs pos="100000">
                    <a:schemeClr val="bg1">
                      <a:lumMod val="80000"/>
                    </a:schemeClr>
                  </a:gs>
                </a:gsLst>
                <a:lin ang="2700000" scaled="1"/>
              </a:gradFill>
              <a:ln>
                <a:noFill/>
              </a:ln>
              <a:effectLst>
                <a:outerShdw blurRad="101600" dist="508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13">
                  <a:solidFill>
                    <a:srgbClr val="FF0000"/>
                  </a:solidFill>
                </a:endParaRPr>
              </a:p>
            </p:txBody>
          </p:sp>
          <p:sp>
            <p:nvSpPr>
              <p:cNvPr id="15" name="文本框 146"/>
              <p:cNvSpPr txBox="1"/>
              <p:nvPr/>
            </p:nvSpPr>
            <p:spPr>
              <a:xfrm>
                <a:off x="776033" y="1294964"/>
                <a:ext cx="182429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200" b="1" dirty="0">
                    <a:solidFill>
                      <a:srgbClr val="0000FF"/>
                    </a:solidFill>
                    <a:latin typeface="黑体" pitchFamily="49" charset="-122"/>
                    <a:ea typeface="黑体" pitchFamily="49" charset="-122"/>
                  </a:rPr>
                  <a:t>购物数据库</a:t>
                </a:r>
              </a:p>
            </p:txBody>
          </p:sp>
        </p:grpSp>
      </p:grpSp>
      <p:pic>
        <p:nvPicPr>
          <p:cNvPr id="27" name="Picture 11"/>
          <p:cNvPicPr>
            <a:picLocks noChangeAspect="1" noChangeArrowheads="1"/>
          </p:cNvPicPr>
          <p:nvPr/>
        </p:nvPicPr>
        <p:blipFill>
          <a:blip r:embed="rId4" cstate="print">
            <a:duotone>
              <a:prstClr val="black"/>
              <a:schemeClr val="accent2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1771650" y="5819775"/>
            <a:ext cx="409575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8" name="组合 27"/>
          <p:cNvGrpSpPr/>
          <p:nvPr/>
        </p:nvGrpSpPr>
        <p:grpSpPr>
          <a:xfrm>
            <a:off x="237446" y="4000269"/>
            <a:ext cx="8563653" cy="1486131"/>
            <a:chOff x="237446" y="4000269"/>
            <a:chExt cx="8563653" cy="1486131"/>
          </a:xfrm>
        </p:grpSpPr>
        <p:grpSp>
          <p:nvGrpSpPr>
            <p:cNvPr id="29" name="组合 28"/>
            <p:cNvGrpSpPr/>
            <p:nvPr/>
          </p:nvGrpSpPr>
          <p:grpSpPr>
            <a:xfrm>
              <a:off x="723900" y="4000500"/>
              <a:ext cx="8077199" cy="1485900"/>
              <a:chOff x="723900" y="4000500"/>
              <a:chExt cx="8077199" cy="1485900"/>
            </a:xfrm>
          </p:grpSpPr>
          <p:pic>
            <p:nvPicPr>
              <p:cNvPr id="31" name="Picture 13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>
                <a:off x="4752975" y="4000500"/>
                <a:ext cx="4048124" cy="8511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32" name="Picture 14"/>
              <p:cNvPicPr>
                <a:picLocks noChangeAspect="1" noChangeArrowheads="1"/>
              </p:cNvPicPr>
              <p:nvPr/>
            </p:nvPicPr>
            <p:blipFill>
              <a:blip r:embed="rId6" cstate="print"/>
              <a:srcRect/>
              <a:stretch>
                <a:fillRect/>
              </a:stretch>
            </p:blipFill>
            <p:spPr bwMode="auto">
              <a:xfrm>
                <a:off x="2843214" y="4867275"/>
                <a:ext cx="3128962" cy="6191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33" name="Picture 15"/>
              <p:cNvPicPr>
                <a:picLocks noChangeAspect="1" noChangeArrowheads="1"/>
              </p:cNvPicPr>
              <p:nvPr/>
            </p:nvPicPr>
            <p:blipFill>
              <a:blip r:embed="rId7" cstate="print"/>
              <a:srcRect/>
              <a:stretch>
                <a:fillRect/>
              </a:stretch>
            </p:blipFill>
            <p:spPr bwMode="auto">
              <a:xfrm>
                <a:off x="723900" y="4010025"/>
                <a:ext cx="4038600" cy="838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pic>
          <p:nvPicPr>
            <p:cNvPr id="30" name="图片 1"/>
            <p:cNvPicPr>
              <a:picLocks noChangeAspect="1" noChangeArrowheads="1"/>
            </p:cNvPicPr>
            <p:nvPr/>
          </p:nvPicPr>
          <p:blipFill>
            <a:blip r:embed="rId8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237446" y="4000269"/>
              <a:ext cx="436562" cy="5540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34" name="Picture 19"/>
          <p:cNvPicPr>
            <a:picLocks noChangeAspect="1" noChangeArrowheads="1"/>
          </p:cNvPicPr>
          <p:nvPr/>
        </p:nvPicPr>
        <p:blipFill>
          <a:blip r:embed="rId9" cstate="print">
            <a:duotone>
              <a:prstClr val="black"/>
              <a:schemeClr val="accent5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481013" y="5505450"/>
            <a:ext cx="74580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5" name="Picture 20"/>
          <p:cNvPicPr>
            <a:picLocks noChangeAspect="1" noChangeArrowheads="1"/>
          </p:cNvPicPr>
          <p:nvPr/>
        </p:nvPicPr>
        <p:blipFill>
          <a:blip r:embed="rId10" cstate="print">
            <a:duotone>
              <a:prstClr val="black"/>
              <a:schemeClr val="accent6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2581275" y="6110288"/>
            <a:ext cx="268605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6" name="组合 114"/>
          <p:cNvGrpSpPr/>
          <p:nvPr/>
        </p:nvGrpSpPr>
        <p:grpSpPr>
          <a:xfrm>
            <a:off x="-396552" y="76388"/>
            <a:ext cx="6775654" cy="679510"/>
            <a:chOff x="-99459" y="3320919"/>
            <a:chExt cx="7301815" cy="722576"/>
          </a:xfrm>
        </p:grpSpPr>
        <p:grpSp>
          <p:nvGrpSpPr>
            <p:cNvPr id="37" name="组合 105"/>
            <p:cNvGrpSpPr/>
            <p:nvPr/>
          </p:nvGrpSpPr>
          <p:grpSpPr>
            <a:xfrm>
              <a:off x="-99459" y="3320919"/>
              <a:ext cx="7301815" cy="722576"/>
              <a:chOff x="-99459" y="3320919"/>
              <a:chExt cx="7301815" cy="722576"/>
            </a:xfrm>
          </p:grpSpPr>
          <p:sp>
            <p:nvSpPr>
              <p:cNvPr id="39" name="Freeform 5"/>
              <p:cNvSpPr>
                <a:spLocks/>
              </p:cNvSpPr>
              <p:nvPr/>
            </p:nvSpPr>
            <p:spPr bwMode="auto">
              <a:xfrm>
                <a:off x="933887" y="3380765"/>
                <a:ext cx="801702" cy="662730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EA6103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  <p:sp>
            <p:nvSpPr>
              <p:cNvPr id="40" name="TextBox 6"/>
              <p:cNvSpPr txBox="1">
                <a:spLocks noChangeArrowheads="1"/>
              </p:cNvSpPr>
              <p:nvPr/>
            </p:nvSpPr>
            <p:spPr bwMode="auto">
              <a:xfrm>
                <a:off x="-99459" y="3320919"/>
                <a:ext cx="7301815" cy="687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10.3 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树表的查找</a:t>
                </a:r>
              </a:p>
            </p:txBody>
          </p:sp>
        </p:grpSp>
        <p:pic>
          <p:nvPicPr>
            <p:cNvPr id="38" name="图片 37" descr="12.jpg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15929" y="3530600"/>
              <a:ext cx="446172" cy="4310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0064713"/>
      </p:ext>
    </p:extLst>
  </p:cSld>
  <p:clrMapOvr>
    <a:masterClrMapping/>
  </p:clrMapOvr>
  <p:transition spd="slow" advClick="0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图片 5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3" y="0"/>
            <a:ext cx="9135197" cy="7089775"/>
          </a:xfrm>
          <a:prstGeom prst="rect">
            <a:avLst/>
          </a:prstGeom>
        </p:spPr>
      </p:pic>
      <p:cxnSp>
        <p:nvCxnSpPr>
          <p:cNvPr id="5" name="直接连接符 4"/>
          <p:cNvCxnSpPr/>
          <p:nvPr/>
        </p:nvCxnSpPr>
        <p:spPr>
          <a:xfrm flipV="1">
            <a:off x="515259" y="822121"/>
            <a:ext cx="298473" cy="10033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 flipV="1">
            <a:off x="8629650" y="822122"/>
            <a:ext cx="195568" cy="6553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6"/>
          <p:cNvSpPr txBox="1">
            <a:spLocks noChangeArrowheads="1"/>
          </p:cNvSpPr>
          <p:nvPr/>
        </p:nvSpPr>
        <p:spPr bwMode="auto">
          <a:xfrm>
            <a:off x="1491608" y="469900"/>
            <a:ext cx="7279140" cy="615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7" tIns="45708" rIns="91417" bIns="45708">
            <a:sp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marL="0" lvl="1" algn="ctr"/>
            <a:r>
              <a:rPr lang="en-US" altLang="zh-CN" sz="3400" b="1" dirty="0">
                <a:latin typeface="Times New Roman" pitchFamily="18" charset="0"/>
                <a:ea typeface="黑体" pitchFamily="49" charset="-122"/>
              </a:rPr>
              <a:t>10.3.3 </a:t>
            </a:r>
            <a:r>
              <a:rPr lang="zh-CN" altLang="en-US" sz="3400" b="1" dirty="0">
                <a:latin typeface="Times New Roman" pitchFamily="18" charset="0"/>
                <a:ea typeface="黑体" pitchFamily="49" charset="-122"/>
              </a:rPr>
              <a:t>基于二叉排序树的查找算法</a:t>
            </a:r>
            <a:r>
              <a:rPr lang="en-US" altLang="zh-CN" sz="3400" b="1" dirty="0">
                <a:latin typeface="Times New Roman" pitchFamily="18" charset="0"/>
                <a:ea typeface="黑体" pitchFamily="49" charset="-122"/>
              </a:rPr>
              <a:t>(4)</a:t>
            </a:r>
            <a:endParaRPr lang="zh-CN" altLang="en-US" sz="3400" b="1" dirty="0">
              <a:latin typeface="Times New Roman" pitchFamily="18" charset="0"/>
              <a:ea typeface="黑体" pitchFamily="49" charset="-122"/>
            </a:endParaRPr>
          </a:p>
        </p:txBody>
      </p:sp>
      <p:sp>
        <p:nvSpPr>
          <p:cNvPr id="199" name="矩形 198"/>
          <p:cNvSpPr/>
          <p:nvPr/>
        </p:nvSpPr>
        <p:spPr>
          <a:xfrm>
            <a:off x="3316615" y="6428534"/>
            <a:ext cx="3555782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180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合肥工业大学 计算机与信息学院</a:t>
            </a:r>
            <a:endParaRPr lang="zh-CN" altLang="en-US" sz="1800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pic>
        <p:nvPicPr>
          <p:cNvPr id="201" name="Picture 11" descr="050907c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CF4"/>
              </a:clrFrom>
              <a:clrTo>
                <a:srgbClr val="FFFCF4">
                  <a:alpha val="0"/>
                </a:srgbClr>
              </a:clrTo>
            </a:clrChange>
          </a:blip>
          <a:srcRect b="12874"/>
          <a:stretch>
            <a:fillRect/>
          </a:stretch>
        </p:blipFill>
        <p:spPr bwMode="auto">
          <a:xfrm>
            <a:off x="2909888" y="6391275"/>
            <a:ext cx="423862" cy="4452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2" name="Picture 13" descr="新校徽100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356531" y="6327775"/>
            <a:ext cx="576262" cy="53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04" name="AutoShape 8" descr="data:image/jpeg;base64,/9j/4AAQSkZJRgABAQAAAQABAAD/2wBDAAgGBgcGBQgHBwcJCQgKDBQNDAsLDBkSEw8UHRofHh0aHBwgJC4nICIsIxwcKDcpLDAxNDQ0Hyc5PTgyPC4zNDL/2wBDAQkJCQwLDBgNDRgyIRwhMjIyMjIyMjIyMjIyMjIyMjIyMjIyMjIyMjIyMjIyMjIyMjIyMjIyMjIyMjIyMjIyMjL/wAARCAHCAT4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3+iiigAooppIAOTxQA6iqEmrafGxV763Vh1HmjP8AOiPVbCZgsd7bsx6KJBk/QZquSdr2Mvb0r25lf1L9FFYmsayungQxKJLhhkKeij1P9B1P60QhKb5YhWrQowc5uyNZ3WNC7kKoGSScYFUJdd0uLg3kbH/pmS/8ga464mmvH33MrTNnox+UfQdB+ApvAGB0rvhgV9p/ceJUzmbf7uNvU7BPEOlkgfbBn1ZGUfmQKv29zDcoWhmjlA7owYfpXAUijZJ5iMY5B0dCVP5jmnLAwfwsmGc1U/fin6af5npFFc5omsy3UptLsgzY3JJgDeB1BA4yOvHGPTFF94mSMtFYoJ2GQZWOEB9sct+GB71x/V6nPyWPVWYUPZKq3ZP7zo6K4OXVtRn+/fSKM8CMBQPbgZ/M02PUtSi5S/nz6OQw/UGt/qM7bo5P7ZpX+F2+X+Z31FcrZ+J3Vgl/GNvTzYgePcryfxBP0ro4pUnjWSN1dGGVZTkEevFc1SlOn8SO/D4uliF+7fy6k9FFFZnSFFFFABRRRQAUUUUAFFFFABRRRQAUUUUAFFFFABRRRQAUUUUAFFFFABRRVW8uVtbOa4YZESFiPXA6f0ppXdkKUlFOT2RnarrUenkwxqJbhhnaTgKPVj6e3U+w5rl7m6ub1i11O0gPRM4QfRRx+eT71GXkkdpZm3SyEs59Sf6DoPYCivYo0I0l59z5HFYypiG7u0e3+fcQAKMKAB6AYoZQwwwBHoRmlorc5LF/StUl0+dI2ctaMcMpJOz0K9wM9R09OetGSWS4nknl/wBZKxZuc49B9AMD8KSioUIqTkt2aSqzlBU29F/X9fMKKKKszCiiigAx9RkEcHHBGCPy4oAwMDiiigAooooAKv6PqR0652SH/RZCdw6hD/eA9+hA9c/WhRUzgpx5WaUqsqU1OG6N+bxQ5ci3syYx/FI+0n8ADj8T+FT2XiWKeVYrmE27sQFYNuUk9ATgEZ9xj3rmaRgGUqwBBGCD6Vg8JSatY645liVLmcr+VlY9CkdYkZnYKqjJJ4AHck1z0/in5yLW2MiZ/wBZI+3P0ABOPrj6VDeXUs/hC2d8ku6xysecgMRk/UgZ+tYtYYfDRd3PWzsdmNzGonFUtLpP7zpbLxLFNKsV1CYGYgK4bchJ6ZOARn3GPeuirzZgrIQwyCCD9K7rS5Hl0qzeQ5doULE9ScDk/XrWeKoRp2lE6MsxlSs3Cpq11L9FQ+Yvm+XuXdj7uRnHripq4z1k7hRRRQMKKKKACiiigAooooAKKKKACiiigAooooAKyPEIJ0O6CddoJ+gYE/oDVy6njtYGlldURBkkniuduvEYuEkgWxzBIpUl5NrEHjoAcfn+Vb0Kc5SUorY4cdiKUKbpzlZyTX3+hi0UgBCgE5wOtLXsnyYUUUUAFFFFABRRRQAUUUUAFFFFABRRRQAUUUUAFI2dp29cHH1paKAOusIbG/0JLaIs9sUMZDcMpHXPowPP15FYc/h/UYH2wotzGTwwYK2PcHA/I/lRoF4bTUxCx/c3PykZ4DgZB/EAj8vSu1rzJynh6jS1T11PoaNGjj6MXJWlHTT+tjjrPw7czuGvQsUAPzRq2WcehI4APcgk/TrW1rVxJa6LM8B2ONqhh/CCwGR9AeK16gmginheGVQ0bghlPQ5rGVdzmpT2R1wwUKNKUKWja36nngiTO7GHznfk7s+ueufeu10O4kutIt5Zm3SEMpY9WwxAJ+oANUv+EUtvMz9puPKx9zIz9N2M4/X3rbhiSCFYo0VEQAKo6ACtsVXhUilE5MtwVahUcp6K33+ZPRXM+LPGul+EbeL7V5tzf3DBLTT7Vd89wxOBtUds9SeOMDJIB4me38Y+LWL+INWl0CxYkrpGkOPPIywHmznODggEAEHHKqRXEeyehar4q8P6G7R6rrWn2coXd5U1wquR6hScn8BXMn41fD5SQfEAznnFncEfn5dQaL8ONB05B9g8O2EfIYS3UX2iTI9Gkzg/QAe1ddDpV0iBftjoAMAR4UAegAwBQBhWHxb8B6lN5MHiS2RsZzcI8C/99SKo/Wussr+z1K1W5sbqG6t3+7LBIJEb1wQSDWddeHLLUYvL1GKG9j/uXMCSj8mBxXK3/wAItE+0PfeH7m88PamQcXOmysinOOGjzgrkAlV2g4oA9ForzAeL/FHgWQReObQX+k7gq69p8XCAtgGeID5eo5UYzgAMSTXo9rdW97bR3NrPHPBKoaOWJwyuD0IIyCD6igCxRRRQAUUUUAFFFFAHHeI7wz3wtFwI4MMw9XIyPyBH4k+grJp88nm3dxKf+WkrMPoScfpimV7lKHJBRPi8RVdWrKb6/wBIKKKK0MQooooAKKKKACiiigAooooAKKKKACiiigAooooAKKKKAAO0Ukcin5kdWB9wQa9Hrz2ztzeX8FuBnc4Z/wDdBBP6DH1Ir0KvOxzV4o9/JYvlnLpoFFFFcB7YVyvjbxcvhXSYjbwi61e+f7Pp1ln5ppTwCQCDtGQSeOoGQSK6qvHtDuG8U+JNQ8bzktBvfT9EUjhIFJDzDgEFySATyAWGSAMAF/w34Zk0+5fUL+5/tLxLec3mosM7M9YouyoBxkAZx2GAO/0/SorZAzqGfHU9qg0WwEUYmcDceRntW1QAgAAwKWiigAooooAgmiiuIJIZo1kidSroy5VlPBBB6gjjBrzW+tn+E+oDVLEyf8IbdSqt/Z8v/Z0jEATRjk7CSAyjJBPGcgD1Gq91bQXtrNaXMSzW86NHLG4yrqwIIPqCDg/WgBYJormCOeGVJIpFDpIjblZTyCCOCDkEEdanrzr4dzT+H9W1bwFezvJ/ZhFxpkkpy0tm5+UZwMlGO0npk4AwK9FoAKKKKACiiigDzjGCQRggkH6g4NFWdUga11W5iYYDOZEJGAVYk8fQ5H4VWr3oy5kmfDzi4ScX0dgoooqiQooooAKKKKACiiigAooooAKKKKACiiigAooooAKDRRQB03hyG1Wy8+Hd5zHZKXxkEdhjgDnI9cjPNdDXIeGJCmpzxZAWSHefqpAB/Jq6+vHxUXGqz6vLZqWGjZWtp/XruFFFFc53nI/E3Vm0X4ba9eR7/M+zGBSjbSrSkRhgRyCC4P4VmaLpA0ix0zRUVf8AQbeOBto4LgAufxYsfxp/xf2v4DaGRh5Mt9apKCeGUzKSD7cA/hWnCN3iCUH/AJ7N/M0AdPEoSJVA4AqSm7gCFyMnpzTJoUmheGRQ0cilWU9wRg/pQBLUNzcw2lu89xKscSDLOxwAK818X+PLXwDqNpplzrd1cSz7SIRbrK8EZON7MSC2MHAwScdup7SHw+sk63GqXcuoSqcosgCxqeOQg4zx3zQBoWV2by3E4heONyTGJBhmX+8R1GeoB5xjOCcC5RRQAUVQN2Tra2Q6C3aVvqWAX+TfpV+gDz3xov8AY/xC8GeIVG1J7l9HuSnDSiZSYlPqquC31NehVwnxNVGi8JlvvL4msSvOOdzD+RNd3QAUUUUAFFFFAGLreljUYg8RUXMQOwngMD1Un0Pb0Nck6tFKYZkaOVeqOMEfT1HuMivR6rXNrb3KBZ4Y5VHZ0B/KuqhinTXLLVHl4zLVXlzwdpfgzgaKtapDBb6rNBbxLHHEFGASckjJPJ9CB+FVa9SMuaKl3PnKkHCbg+jsFFFFUQFFFFABRRRQAUUUUAFFFFABRRRQAUUUUAFFFKiSTSpBCheWQ4VR/MnsB1J7UN21Y7N6I2fC8DNe3Fzj5UQRZ9yQT+QA/OutrO06xTT7KOBDuIyXb+8x6n/D2wK0a8SvU9pUclsfXYGg6FBQe/UKKKKyOs4j4t2E+o/C7XYrfHmRwrcZJxhYnWRiD67VOKdpl/HqFzY6nCCIb6OO5TPo6hsfUZI+orrriCO5t5YJ41khlUo6uMhlIwQR6EEivJfBhl0WS/8AB127G80GYtbM2N09m7bkcc84LYIHA3KOxwAehanYutw9wE8xHwSQMlSBj64+nTmmafftFOkTOXikYKATkqT0wf5jtW7BIJYUcdGUGgRIHMgRQx745/Oo5Nbo29rePLJHzzoPgTXvFnxp1HW9bsbqDTrPUXnZ7hcCXY5EUSkjDrhVBIGNo6gkZ+i6KKsxCiiigDnNTlbS/EVtqTqxtZYTbSsFJ8shiwJ9ufyB9q3opEljWSN1dGGVZSCCPUEda8H1bxhr3i/442Ph7SLq4h0nTr4R3ECsUWZYmzM0mPvA7SoBJBAHALHPtFpoGn2M/nWySo2c4859vcfdzg9e4NAHJfEIjUPFPgXQoyFml1gahuPQJbIWYY9SGwPpXoVeJ6d4ta8+LkPiWaxaTQr6VtA0u8DYAZSGLhcHcHfIDAjAyDyCK9soAKKKKACiiigAooooA4rxBC0GsvIfuzqGB7ZACkfgAD+NZtdrqWnx6jatE5KvndHIByrdvqPUd6425t57KcwXKbH52kcq49VPcfqO4r1sLWU4KPVHy2Y4WVKq6n2ZO/zYyiiiuo84KKM84ooAKKKKACiiigAooooAKKKKACpVtLt4FmjtZZInBKvGNw64IIHIIIPUVESACSQAOSfSux0GJotDtVcYLAvj/eYsP51hiKrpRUkdmCwyxNRwbtZX/I5y20XUblgPIMCHq82Bj6KOSfy+tdLpukwaamUy8zDDyN1PsPQew/U81qUV51XEzqK2yPfw2XUaD5lq+7Ciiiuc7wooooAK4Xx74UvtRmsvEnh7yk8Q6UCY0kUbbyE53QOeOCCcZOASRxncO6rH8Ra/ZeGdBu9Yvywgtk3FV+87EgKqjuSSAO2TyQMmgDK8C+LdP8U6S7WoeC6tXMd3YT8TWsgJBVgcEjIOGwM4IIBBA6W5nFtbvMUd9o+4ilmY9AAO5PSvK9N8F3+pNJrs1zc2Hi+4c3U15aOv+jblAS2MbYWRFVUBVuSwPzY6+iaLPrEkMkWt2cEVxEQBNbSbopwe4U/MpGOVOQMjDNyQAU2sNd1M77m8GnxZysFudzD/AHmBGT9CR7Ug8LTLlk1m9V8feDH/ABz+tdLRmgDnoRr2mcyMmp2w67fkmA9QDwfoTk9jU0+sEpHJahTG2QXkUjaw4KkHBBGOQefatuue17xJ4c8LpLcazqdnZtKoZkdsySgHAIjGWbrjIB4HPA4TV1oVFpO7VzK8N6DoWga1eX1jpixX2pSlprjeWOWbcVUH7qknOB6DOcDGH448VNr+sxfD/wAP3aRz30v2bU9Q5KWqFWZolI4MrKjgAnjBHBJKi3/ifx2wj8O6fJ4Z0GQESatcxBbq4QqCPJj/AIQcnD55BBBBBB5bxClh4fs7ix8Nxyw6H4VtpzPdJh/tOqTJ5Eak8FpE8zcxGQudpCgKKEn1CTi37qOs0HTo/EGo+GW0fTHs/CWhBp7eSeLYbyQptjKKSGwNxcyMBuJ4B5J9PrM8P6a2jeHNL0tnDtZWkVuWAxuKIFJ/HFadMkKKKKACiiigAooooAKrT20VzEYp40kjPVWGRVmihOzuhSipKzOen8K2zEm3uJYfRTh1H58/rUUfhQDma+dl9I4wp/Mk101FbrE1rW5jieW4Vu/J+f5XscbrmmJYfZ5LePZBgo3OSGPIJJ9eR+A9qyq9AmgjuYmilRXRhhlPIIrlr/w7c25L2ebiLrsJAdfxPDD8j9a68NiU1yzep5WPy+UZOpSV49l0+XYyKKRm2OY5AY5B1VwVI/A80tdx5AUUjMqDLEAepOKvadpNzqTglXiturSkYJHooPUn16D36VM5KCvLYunTlUlyQV2U2R1hhmYYjmLBD6lTg/1x64PpSV3ElhayWa2kkSmAAAIc4GOmD1BH51ky+FYzzBeTIPR1D4/Hg/mTXLDGwfxaHo1sqrRt7P3v8/n0OdpGZUGWIA966OPwog/117K3siKv881pWmj2NkQ8UAMg/wCWj5ZvwJ6fhinLG0ltqKnlOIk/etH+vIwdL0OW6dZ7tDHbggiNhhnx0yOw+vJ+nXsKWivPq1pVXdnu4XCQw0eWO73YUUUVkdQUUUUAFFFYXifxTpPhDSJNT1e58uMAhI15kmbsqLkZJ/ADqSACaALuq6pZaJplxqWp3KW1nbrvllc8KOmABySSQAACSSAASQK83sf7W8e65aa/qVvJbaXA4l0XSpBzntdTjkbsHKryADkcZLwQaVrPjHUbfWfGMPloriXT/DwJMdv/AHXnBxukwfukDGTkAErW7aSXOu+OG0y2nkXTtFZJ9SnR2BurojKQggj5UGGYZOThSMdQDt7GzSytxGDuY8u56se5NW+lZMOuW1z4hudGgSWSa0hSW5kXBSIsflRjnO8jLAAEAYJIyM61AFK/tri7spYba+mspWAC3ESIzIc54Dgqc9OQeDxjrXlGoN8QZ9c1rT9D8YyXKaTFCJ/tFlbxGWV8sY1cRkLiPB3EYDEA4HI9avryDTtPub66cJb20TTSuRnaqgkn8ACa8u8GeBdP8UeELXxDqkV1Y6/qM1xffb7CZoJ4vNkJG1h1XaFwGDABjjGaAMmWAm4lPiTV/ibpwSJTLMhDWuCMkBrdWVhzjOB15was+H/EHwW0K7WXSNkuoFgY3eyuZ52k6DaXQlWJP8OMk106+EPHVpI4sfiJI0AOY4rvSopGI7BpAQSfU4yaG8OfEa6XbN49tLQDjNtpCMW+pY8fUUAUNX8T+INesXkEU3gzw7tIudU1UrFdkHjZFFn5GJBAYnPOV5ABp+E9Bg8SXGmfYNPlsfBGiSCfT0mysupXI5Fww4OwEkjOMk8jBKr0Vh8L9Ejvo7/WrjUPEV7Hny5NXnMyR5BDBY+FAJOcEHBAIwRXdUAFFFFABRRRQAUUUUAFFFFABRRRQAUUUUAFFFFAEE8EU6bZYkkX0dQR+RqlJoGmPybKMH/Yyo/TFalFVGco/C7GU6NOfxxT9UZ8Gk6fbkNHZwq394oCR+J5rQoopOTlq3cqFOEFaCt6BRRRSLCiiigAooooAKKKKACiiigDN1nVrPQtHu9V1CcQ2trH5kjE44HQDPUkkADqSQOpry/w/aX/AIn1WHxr4ghX7ZcAf2Pp33lsYCcrIcjmRuCDgYHIxlQt/wCIBHiTx3oHhGQbtOtkbV9SXjEiJlY0PsWyCP8AaB7V1OkE3GsiSXBYKW6d6ALEoh8PaRc6ldHc8cTyyE84VVLsB+Cmue8Ct/wjPwl/t7UF8yeeCbWbx4yN07ODIDycbim1fqBXQeOLaW88H6rbQLulmsrmJF9WaCQAfiSB+Nef67qAu/2XYp7F2O3TLWBivX5HjjkH0+VgfbNAHe+BdLm0vwpbNeL/AMTO+JvtQYoFZriX5nyBx8uQo9lFdNRRQBx3xTv/AOzfhh4gn/vWpg/7+ER/+zVt+G7NtN8L6TYsu1rayhhK88FUAxz9K5D40u0vw/bSokL3Or3tvZQAdDIZA4z+EZH416LQAUUUUAFFFFABRRRQAUUUUAFFFFABRRRQAUUUUAFFFFABRRRQAUUUUAFFFFABRRRQAUUUUAFFFcL4q+LHhLwlI8Fzfm7vUYq1pZYkdSCQQxyFUgg5BIPsaAO6qCe4itoHmnmSKJBlpJGCqo9STwBXzT4g/aE8Sahuj0S2ttKh4IcgTzZGc8sNuDxxtJHrXnV/e694jlW41K7vb5lB2SXUrMEBOSFLHAGew49quFOc3aCu/ITaWrPqnVvi94G0dmSXXoLmQLuCWYafd7BlBUH2JFcXqP7SGhwqP7M0O/um7/aJEgH4EFyfyFfPX2BwcMy/hzUi2KdSc/jXXHLq8t1b1IdWC6nuHgHxQPGvjzxRr72gtHksYI44fN8woodAfmwMglQegxkD3Ppml3AtdSjdjhWypPpmvmjwV4jPg3xNFqfktLZyIbe8ijxuaJiCSpPGQQpHIBKgEgEmvoe1urPU7GK/066ju7GYZinj6H1BB5Vh3U4IPWuevQlRnySKjJSV0dzdRmS2baAzAhlB6EgggfjjH415N4Oto4R4m+FmoyGKGWKabS5G53W0wOQoPG5GOcZJyW/uk13mm620AWG5JaMcBz1H1rF8f+HlvLBPEumXi2WraMHu7W5yduApZ43A5KMAcjsSeoLA4lF34aaxNqfgy2t75SmpaUx029jZizLLFheSepK7WJBIyTzxXZ15TfX9/p/h+1+KNlarb3NzZ276tpqZkS6tyww4IxiRUbIY5AGQcgc+pI6yorowZWAII5BB5BzQB5X4mnbxX8a/D3huFm+yaEv9qXmyTGJRgxgg8HBMfTJxK3TBr1ivD/GfwIuvEXiDUtasvEK+beSmUQXcJOzIHy+YpJ2joBt4AA5xk8fqcPxY+FkRmOp3M2moqp56SfarZBkYG2QExjJAyQuScAmgD6gor598P/tHOpCeI9FBGSTPp7cjjgeW55Oep3D6V694b8ceHPFkYOjarBcS4Ja3JKTKBjJMbYbAyBkDGe5oA6SiiigAooooAKKKKACiiigAooooAKKKKACiiigAooooAKKKKACiiigAooqlqWoWmlWE19f3MdtbRLl5JDgAZwPqSSAB1JIA5NAF2uI8Z/E3QvB4ktmZr7VFHy2VsQWUkZHmMeEByOuTgghSK818bfGO+1R5LHw40ljZBsG6BxNKMY4/55jJyMfNwDkZIrzq10uSUB5SY4zzgj5j9B2+p/WtKVKdWXLBXJlOMVdmz4q+Inizxk0ltJd/2fp0mVFjZEjcpyMO3V8g4I+6cA7RXO2vhiPIa4yoz0Jy35DAH4/lW7DFFbrthQLkYJ6k/U/06VLXrUcthHWo7v8AA5J4lvSOhTg0rT7Ygx2kW7++6hj9eeB+Aqy0Ub/eRT9QKfRXpRSguWOiOZtt3ZTk062c5MK/gMfyqu+iwNypZT7HI/WtSindjuzCk0Z0GVIce3B/KrGg6xrXhG9kudFmUCTieyuATDMB0yuRgjsQQRk4IBIOrUcsCTLh1yexHUUqkKdaPJVV/wBBxnOLvFne6R8VvDWpYh1PztDvD95J1MkJySBtkUZA6H5lAGepxmu6sru31SwlhtZ7XVLGRWjkW2nWZSpBBB2kkAgkHoea+dLux2rtdRJH2yAQPwPSs0WCQzJPbNJbzRncskLlWU9iD2/DFebUyeW9KV15/wBf5HTHFx2krHvtp4FlnsRoE3jXU28M42f2Y8EYl2AghDP97aCAMADjgYFVvix481vw5cWmk6TG+mQSR5OoSQAxv0wkROVBAzncAQMYAyCfPtE+KWvaMVh1tTrdiMDzHO25jA7iTktjrht2cdRXsui63o3i3w8CrQ6no13iOWKdATGwwdkinO1gQCOoOAQSMGvMlSnQqL2sfk9n9x0qSmvdZ4XH478YW75/4SC5k9VuYo51I64wy8A+or0Pwb8VU1i4Gja5Da2l1OpRAWJtLsHIMeGz5bEEAAkqTkcEgHhfHPhE+DPFH9nw7n0q8Qz6e7EkqAfmjJI5K9RyeCpJyTjlbi1WaMowyp546g+o969n6lh8XR9pRXK/17M4/bTpT5Z6nZ+OPhvpmhao1/GZodBvZPK3jl9OnOSFdT96M84IIIxgnIG7jtR8FavpU3n2Z+1pE25ZLbIkQg8Er94EdcjIGOteo+APFEfizT7nwV4pPnzyWxjSckbrqEDIzkHMseAytgkhTnlcnmEe/wDD2q3egaiw+26ZIItynHmRYBRx7FSOvIBGec1wYXDwqTdCqrSW3+Q8TUq00qtN3XVDvB/x28Q6C0VrrZOsWAIBaVsXCD1D/wAXU8NkngZAr6C8K+NdA8Z2YuNGvVkdQDLbv8ssRIBwynngnGRlSQcE4r5+v9L0nxArPcxCO6PS5hAD5x1YdG7defQiuOutJ1vwbqEOpWVxInlsTDfWzEbTjGD3UkEgg8EEjkZrPEYGrR13XcqhjKdX3Xo+x9rUV4v8Nfjbb67JBo3iVorTUSoWK84WK4bphh0Rz1/uk5A2kgH2iuI6wooooAKKKKACiiigAooooAKKKKACiiigAooooAKKK53xf4ssPB+iPfXhLytlbe3U/NM/oPQDqT2HqSAQCTxN4q0vwnpbXmpTYzkRwqcvKfRR/MngdzXzd4o8Xax431UvOzC3DE29ojfJEOgJ6ZOOrH1OMDAFbVdU1fxrrsl5eyeZM3AAyI4UzwqjnAGenJJ5OSSa6vRPDENvb75iUhHLMwwz/X0Ht29zzXXh8M6vvS0j+foc9auqenUwdI8NzzMDFEJZByZGGFX6Z6n3NWNQtEspxCLlZ5ACXKchT6A9zWtq2ugRmzsMRwjgkcE1zcsqRDc7cn8zXu0afKuWKsu3+ZwOcpvmkxxHpSEhBliAPUmqEt+7ZEYCj1PJqqzs5yzFj6k5rqjRb3Jc0arXcK9ZF/Dn+VN+2wH+P9D/AIVlYFLgVfsULnZsJcROcCRc+hODUtYVPjmkiPyOR7Z4/Kk6HZhzm1RVKG/BIWUAH+8On41dBBAIIIPQisZRcdy00xCAQQQCDwQazLu1MR3KCUP6VqUjAMpUgEEYINOE3Fg1cwHQEe9TaB4guvB2ux6paqXtnIS9tc4WeLPIx2I6g9jg+oL7mAwS45KnkGqF1F5kLL/eUj8xV4mhHEUnF/L1CjUdOR7X8W7eHVvhlZa9bNHN/ZtzDcRTkYZreUAAD03FoyR/s+1ePOAGIHIBOPpXq3hHPi39nrUNN2S3Vzb2s8CxqpZmkhbzYlUDknDRgAZ6AYPSvNdV0TVvD8mnW2rpaR3VzA0jW0cxae3CgAGUfdG7qMEn1wRivHyjEwg3Sk92rf19x14uk5WkuhnFJ4Z4Luzk8q8tpBLBIMZV1II68dQPbOK9U16Xwd46Oi+I7rxhZ6LerZiK7twFkcqfm2YYjaVYuMlTkYPavL6RlRm3NHGzf3jGCfzIzXo4vAe3mqkJcsl1/po5qWI5IuMldGxdXWnwaw8eiarc6ppqqf8ASbi1EOGBGApGCw5OcqMY4zWrZakHVkfayupV0cAqwPUEHgg+hrlNxOMknHT2qxBOUYEHFdNOg4U1GUnJ92ctZKcuZK3oJ4i8GoI2v9GRmjALS2oOWQf3k7lfUcke4zjtPhH8YDprw+HPE90TYkhbS/kbm3PQJIT/AMs+wY/d6H5cFc3T78gqQxBHQg4IrC8YeG0mik1nT4gGUbrqFBgY7yKB+oHTr0zjxMdl/LepT+aOnCYx39nV+T/zPr2ivBPgh8TRKkPhHWZz5qgJpsznhgB/qSexAHy54I+XIIUH3uvGPWCiiigAooooAKKKKACiiigAooooAKKKKAMvXtas/DuiXer6g5S2tULuQOTyAFAJGSSQAMjJIr5f1/X9V8d+I2vbhAjP8sNuGJS3jHIGcc46k4GSSQAMAbXxc8a/8JZ4rGjWMu7StJkIJXOJ7gZBb0IXlQcf3iCQwxJ4W0LygDIv7xgDKfQdQv4d/f6CujDUPay12W5jXrezj5s0vD+hQ2VqJHHyLySRgsfU/wBB2/PNXXdaadjbQHbGvBx3rQ8QakLeEWsJxxg4rjLicRRl2OSTwPU171Gnezt6HlrV8zI7m5EC4HLnoPT3NZjuzsWYkk9zSOzOxZiSSck0lelCCiiW7hSgEnABJPYVPbWjT/MSVT17n6VpRwpEMIoHqe5pTqqOg1FszFtJ3GQhA9zin/YJsfw/nWnRWXtpFciMh7SdBkoSPbmosEcEEEdjW5TJIklGHXPv3H41SrdxOHYxasW900J2nJQ9vT6UtxaNDllJZPXuPrVatfdmidUzcR1dQykEHoRS1k2tyYGwSShPI9PetUEEAgggjIIrmnBxZpF3I7iETRFeMjkH0NZGMNgjkHkGtys2/i2ShwOG6/Wrozs7Cmupf8NeMPEPhHSL3TNFewijuJ2nW5lQvLFuCghVPyk4VeoI4Prxi4JkklklknuJWLTXEzFpJWPJJJJJ5/8Ar5PNFFKjg6NGTnBasc605qzYUUUV1GQUoOD1pKKALttPsYc10un3Z4IPIrkI2wQc10fh17eXVIIbskQtlTg4OSOD+BrKa0uYVIXOR8V6O+g6rHf6eZIraZ/MhZCQYJAQdoI5GDyD1xjuDX038MPGy+OPCUN3KyjUbbEF6gIyXA4cAYwGHI4AB3AZxmvKNd0EXVpc6TPgiUZhkI+64+63tycH2JrlfhJ4nm8I/EG3trpmitL5vsV0jHAVicIxGQAVbAJOcAt618vj8Oqc+aOzPXwNd1Icst0fXFFFFcB2hRRRQAUUUUAFFFFABRRRQAVwPxZ8Y/8ACIeB7qW3l2ajeE2tqVOGVmB3OMEEbVBIIzhtoPWu+r5U+O/iNtb8enTIXLW2lRiBVBBBlbDORjoc7VI9UoAxPBOlGZhdMuQrZUEdW7fl1/KvVxs0rTCxwHIyfXNYfhLSFs7SCEqP3KDcfViOf8Pwo8R35kl8lTwPeveoUeSKp/N+p5FaftJ3RiXlw1zcO7EnJNYl5L5k5UH5V4H171oyvsid/QEisUkkknkmvVoR6kS0Vgqxa25nfJyEHX39qgVSzBQMknArZijEUYQdhyfU+taVJ8q0FFXHgAAAAADgAUUUyaVYULMfoO5rl1bNR9FZkl/Kc7AFH0yaqyX8y8+ac/hWnspdSeZM3CQKaXA71gHWniGZmUr6ngn6Y6/lUkesW86kwlnI6g8EVzVqsKPxuxtCm5bGyZB061m3kQjJlT7hPIHb/wCtURv27RqPqSaab5iCGiQgjBGTz+tYRzGjF6P8zR4ZtEQlB71o2F0D+5Y+6/1Fc1cXn2aco0J2noQ3UfQiprfUEZ1Mb4YEYDcH/A12xxdCt7sZa/d+Zk6E462OwyKiuoxLbuMZIGR9RUMNwJY1ccAjOPSrCuDSTsyXExqKdKuyV16YJx9KbXcnc5wooopgFFFFACjg1btZSjqwOCCCD71TqaFsMKTJkro9bgCa54TSdVH2m3GSQOSPevF/Hmn/AGbW1vI1xHeR7zxgeYOG/Pg/8Cr1r4d3Jfz7ViCrKeD3zXI/EjTR/ZFwQAGs5xID/ssdpH5lfyrw8XTvCcO2qKw0+SrGXfR/19x798P/ABAfE/gPSNWkYtNLAEnJxkyoSjnA6ZZSR7EV09eIfs4aqZ/Dus6SwP8Aotyk6tnqJVIwB2AMZP8AwKvb68A90KKKKACiiigAooooAKKKKAK17dwWFjcXtzJ5dvbxNLK56Kqgkk/QAmvirTZJtf8AGH228Ieae5a6nIGAWLFjx2BJx+NfVnxW1FtL+F3iC4VQxe2Nvj2lYRE/gHJ/CvlrwcgS7nnPVQiD8Wz/AOy11YKn7SvGPz+7UxxEuWk2exwEWGjGVj8zDOfWuLuJTPOzsc5NaV7qrT2awA4AGKyK9+nFq7Z5cF1K98cWpHqQKyq0tQ/49x/vD+RrNrto/CKe5ZsEDXG49FBP49K1KoaaOZD3wP61frKq/eLhsGQASeAOtY88xnlLEnA4A9BWldsVtXI6kY/M1kVdGPUmb6EUr7VJrKu7wRfKMNJ2B6D6/wCH+Tf1CTybRpe/RQe5PT+RP4Vp/DLwM/jvxIVuX2aXaES3sm7DMDnai45yxB54wATnIAPDmWNdBckPif4HVhaSkuZlHwp4E8R+Orlv7MtcwIxSS9nJSFCADgtg5PI+VQTyDjHNe3+HP2fdA0sxzave3epXAzlFPkQkemASxI553AH0FepaXZ2Om2UNjp1vFb20K4jhiXaqjrwPxyT3JJPJq/XzUpOTuz0DjovAfhjT0EMeg2DJjgzQiUn6lsnP40//AIRLw2QR/wAI/pXP/TnH/hXUXCB4j6jkVQpAcXqfwi8Ga3lJdNe1kYYWa0lZCp9lJK/mpryXxz8DNX8N28upaLM2rafHlnjCYniXJ5KjIcAAZIwcknaACR9HglWBHUHNaQIIBHQ80AfFWg3xkhaCQnKt8rHsD0H55rdRyDg10Pxa8GQ+GvGI1GwiWOw1ZGl8tekcykbwB2B3BgPUsAAABXLwuZYUcnJ6H6j/ACK9jA4iU04S3RzVYJaohvCBc5/vKD/T+lRg5FF82JY/dcfrTVORmvfpSvFHn1I2Y+iiitTMKKKKACnxnkUynJ1pCZ3/AMPXI1QgcZBqx43tlnj1aHAO+2kIHuFLD9QKr/DtCdRZuwFbHiBQ+sMpGQwKkexBB/nXnVFzV3HujGT5YX7M5b9nG5kTxxqdsHxFJpzSMvqyyIAfwDN+dfTVfJnwHuGh+KdlGGwJ7eaMj1AQtj81B/CvrOvlT6QKKKKACiiigAooooAKKKKAPO/jhKI/hLrCHrI0Cj6+ch/kDXy/o+rJp6+UbcyF5VYsJNuMcY6H1Nfa+o6bZ6vYTWGo2sVzaTqFkhlXcrDORkHuCAQeoIBHIrmH+E/gVjn/AIRu1B9VZx/I1rRrToy54OzJnCM1yyPnT+2UPW2Yf9tP/rU4axF3gcf8DH+Fe9v8MPBzMd2iqDntcSj+TUz/AIVb4N/6A3/k1N/8VXR/aGI/m/Bf5Gf1en2Pn3UNZgW13GGXAYdGHv7Vlf27aHrFN+h/rX0sfhT4JlASXRAyEjcPtU44z7PUv/Ckvh5jjw/+P224/wDjlaRzXExVk19yJeFps+ctN1u0MzrsnyVzyB2P1961P7Wtf7s3/fI/xr3M/BDwLGxkg0yeNwDjF3If5k1Tf4P+FWPCXiewn/xBpSzOu3d2+4FhoI8PvtWtBaMxE/GDwoPf61kjWrHjJnH1Qf4177P8FPC9wjIZ9TRWGDtmTP4ZU1Ev7Ofg9lDDUtcwR/z3i/8AjVXDNa8VZWE8JTZ88atfRXfkpAW2KCTkY5J/wAr6h+Fugx6B8PtMjUDzbqMXkxGeWkAIBB6ELtH4e9Y8f7O3hBHVmvtZcAglWniwwz0OIwefr+NeltBHb4hiULGgAVR0AA4A+lcVetKvN1Jbs3hBQjyoFYowZTgitJWDKGHQjNZlaMPEKZ9KxKJKyq0pDiNj6A1m0AFaMJzCp9qzq0YeIUHsKAPP/jPYpd/D2adjhrS4imXA6knyyD7Ycn8BXz5YnMUi+jAj8Qf8K+nfiHEs/gfWI2xgWkknPqo3D9RXzDYfdlH0/rXXgX+/Xz/Izq/CQagf38Y9Fz+tJEeKjvW3XhA/hAH9f61JEOK+qo/Cjzau5KOlLSDpS1uYBRRRQAU5OtNp8QJYADkmkJnpXw6gIEkxGBirOruH1kHPRx/OrvhG3FnoXmEYLDNYeo3ISWe4Y8Rq7n6AE/0rzYvmrykc9X4Eu5xPwNj8z4s6W39yOdv/ACEw/rX1zXyx+z5ai4+JLynrb2Esoz6lkX/2Y19T18sfTBRRRQAUUUUAFFFFABRRRQAUUUUAZ067JmHYnI/Go6uXceVDgcjg/SqdABWhA++IE9Rwaz6lgl8p8n7p4P8AjQBoVSuISrF16HqPQ1cByBjoaXGetAGVUkczx8Agg9j0qeS0BJKEDPY9KgaCReqE+45oAka7c9FAPr1qAsWYsx5PU0oRycBG/I1Klq7EbvlHv1oAZDGZHHHyjkmtHGBTERY1CrwP50+gCC6bbFju3FUamuJPMkwOi8VDQAoBJAHUnArTAwAB0AxVG2TfKCei8/j2qxczxWltJcTyJHFGpd3dtqqAMkkngAY6mgDhPi5qi2Hge+XftkuSltHgZyScsD6fKGr54szsilc8Djn6ZJrqPiN4y/4S7XVW0ZjptqSluCuDIxI3OR15wAAegA4BJFcpdkW9osAPzPy2P1/oK78upOdXm6IxrSSjYogmWVnPUkmriDAqtCnQ1bUYFfUxVjzKjHdqKKK0MwooooAK0dHtTd38cYBILDNZ4GTXeeBtILy/aXX5R0JFZVZqEGyJdjs5yLDRkiHB2gY/CuA8RXAg0HU5if8Al3ZQc45bCj/0Kuw166BbylPAGMZrzTx7eeRocdsrHdczAkeqoMn9Sv5V5jfs6EpvsTGPtK0YLudF+zdYNL4m1nUc/JBZrAR2zI4Yf+ijX0lXjf7OujGz8GX2qPEVkv7varH+KOMYBH/AmkH4V7JXzZ9EFFFFABRRRQAUUUUAFFFFABRRRQA0gMpB5BGDWfIhjcqe3Q+orSqKaISrgYDDoaAM+ilIKkgjBHUUlAE8Fx5fytkr29quKQwyCCD3FZlOSRozlWP07GgDToqot32dfxFSi5iP8X50ATUVH5sZ/jX86Y9zGvQ7j6CgCeqs9wACick8EjtUUlw8gIHyj0HeoaACjBJwOSagvL21060ku72eO3t4wC8sjBVAJAHJ7kkADuSAOteH+NvjrP5ktj4TXyQDtbUJkBckH/lmpyACB1YE4J4BANAHsHinx14f8DWQfV73Fw4DJZwYaaQEkAhcjA4I3EgZGM5wK+evE3xJ13x7cFZR9j0tTiKxhYlWOc7nPBcjgDgAYBAByTwbi81O5ku7ueSWWVtzzzOXZz6kk5J+tdPY2qWttHGi4O3knqSeTXbQwNSpaUtF/WxnOoo6BDAtupkcjeBknso/xrPkdricuc46Aegqzdzea3lIcoDyR3NRogA6V9FhsPGnFJI4KtS7FjTAqUUAUtdiOVu4UUUUwCjBJxRVuxspbydY41JJOOBSbsJuxPpGmyX92iKpIJGSBXrlrBFo2khQAG2/rWf4d0OHSrQTSgBsZJNQavqRuZCik7RxxXnVZutPlWyM3LlXMzPvJ2nmZuSSeB615V4rvX1jxH9ltVaVYSLeFUBJds84A6ksSBjqMV2fifWhpGltIjYuZsxwAdQccv8AQA8e5+tP+BHgx9c8U/2/dQ50/SmDRllOJLgj5QDjB2j5jg5B2cYNedmdZKKox9X+n+f3HXltF3dV+i/U+hvCWgx+GfCemaNGFzaQKkjJnDSHl2GexYsfxrcoorxj1wooooAKKKKACiiigAooooAKKKKACiiigCKaASjPRh0NUGRkbawIP861KayK4wwyKAMyirD2jA5TB9jwagZGT7ykfUUAJRRRQAUUUUAFYXinxXpvhLSzd377pHyIbdSN8rAcgegGRkngZHUkAzeKvENn4R8O3Gs6gQI4xtijLANNIc7UUHqTgnocAEngGvlHXvEWr+NNalvr+bc79EGQkSdlA7AZ4HcnJySSahCU5KMVdsTaSuzT8ZePNX8ZX5DyFYAf3dvGSI4wBjIz1PJyx55wMDAHPw2McfLgO/pj5R/j+NWobZYk2oMA9Sep+tWEiA7V9HhMuhSXNPWX4L+u5xVcRfREAQscnOa0PtUrwhMAEjBYdTUaxgU8LivS5E9zldR9BioBUoAFAGKWtLGbYUUUUxBRjNKASaniiBYZHGaQm7E2n6dLezqiggEgZxXpej6NZaLbiaYqZMZ565rntJktbaAPxvA6VPPezXj5ZiEHQZrkq803yrRGDnrdmtqOstckxxZCA9qwdQ1C306zku7uTZEn/fTtjhVHcnH0xknABNQ6pqlnotmJ7yTG7PlxLy8h9h2HqTwPc4B4WGLXPiH4jhsLC2MkjZ8uFSRHAmRlmPYdMseScAdhXFiMTDDR5Y6y/rc2w+GniJc0vh/rYbYafrPxF8XRWdjCWmmOAMny7eIHlmPZRnJPUk4AJIB+u/DHhyw8KeH7XRtOjIgt15Y/ekc8s7H1JyfQdBgAAZHw/wDAWn+A9EFtBia9mw13dFcGRh0A9FGTgfUnkmuxr56UnOTlLdnvRiopRjsgoooqRhRRRQAUUUUAFFFFABRRRQAUUUUAFFFFABRRRQAUhAIweaWigCMwxnqg/AYpv2aL+7+pqaigCEW8Q/gz9SakVFT7qgfQU6srxHqv9h+GdT1UKjGztZZ1V2wGZVJCk+5AH40AfM/xu8XyeIvGkulQSZsNJY26KBgNN0kYjAOQRt6kfJkdTnmLWwNtabRGTtwZXCkgMegJ7Y6D3z61l6VG95qvmuzOykysWJJZuxJ6k5IP516XrUS6P4PttOUATXTiWU9yRyM/Sveymiox9q927L06s87GVmpKCOOCAc4p2BTsUV7tjkbEAxS0UUxBRRRQAUYyaKcgyaQiWKPJHFaNvbkkcc1Bbx5I4qxeavY6LFm5PmTkZW3QjceONx6KOnJyT2BrKrUjTjzSdkZPmm+WKuzWtbY7d3AVQWYkgAAdSSeAPc1h6x41tLANBpYS6uB1mIPlIe+B1Y+/A6dRXPS6hrvjC/j02zgllMjfurK1UkH3I6nGMlmPAyeBXr3gj9n6OMR3vjCQSMQCNOt3IUZA4kkGCSCSCFOMgHcQSK8DFZm5e7S08zvoZcl71XXyPM/CngfxH8StXa4QuLXzAtzqEwJSPocKONzAEYUYAyMlQc19PeC/BGk+BtIax0uImSQhri5kwZJ2HAJI6AZ4UcDJ7kk79raW9jbR2tpBFb28S7Y4oUCqo7AAAAD2FWa8ltt3Z6iSWiCiiikAUUUUAFFFFABRRRQAUUUUAFFFFABRRRQAUUUUAFFFFABRRRQAUUUUAFecfHK9jtPhVqUbMVe5khhjx3PmKxH/AHyrV6PXj/7Rp/4t7p4/6isf/oqWgDxDwNafatSTdyHlVfwGSf5iun8a3Jm1zyR92FQoHpWT8OgsV5A7njzGb6cAf0qbX5RPrt3IpyC2Aa+swMOWnBdl+ep4dd82IkzNooor0BBRRRQAUUUUAFTQjJFQ96tWwDOAxAXqSewHJP5UiZbEeqauNIt1WHDXcgyuekY6bj6nrgdOMnsDe+H3wr1fx9MNSu5HtdH8w+bdvzJOQfmEYPU54LHgHPUgiue8PaTN448dWemhvLN9PhmBGUiUFmI7ZCKcDuRjvX2Vp2n2ul2Fvp9lCsFpboI4o1JwqgYAyeT9TknqTmvkcbiniKj/AJVt/XmevhqCpQ83uZvhfwjovg/TfsWjWSQbgolmIzJMRnBdupPJwOgyQABW/RRXEdAUUUUAFFFFABRRRQAUUUUAFFFFABRRRQAUUUUAFFFFABRRRQAUUUUAFFFFABRRRQAV4h+0nPt8OaJBz8927/8AfKY/9mr2+vCf2kxN/ZmgOIZDAJpg0oU7VYqu1SegJAYgd9p9DQB5R4duTaWVtKCejZ/76P8AhU88nmzvJk5Y5Oa5mHWLi3gSFEiKqCAWXJ5Oev41L/b11/zxt/8Avk/419LRzLDQpxi27pJbdkeZPCVHNyS3N2isH+3rjvDbn/gLf40o1+cdbeD8Aw/rW39q4Xv+BP1Wr2N2isP/AISCTPNtF+BYf1p3/CQN/wA+sf8A30af9p4X+b8H/kL6rV7G1RWN/wAJAc82i/hIRS/8JAve0/KU/wCFUsywv8/4P/IPq1Xt+Rsd80s8nlabduTjELAY9SNo/nWN/wAJAmf+PM/hL/8AWoudbSexltxbMpkAAbzc4wQemB6YqKuY4Zwlyz1s7aPe3oEcNV5ldaX8j039nHSzP4q1XUyAUtbQRDIzhpGyCD2OI2H4mvpWvBP2aYcWniSfd9+S3THptEh/9m/Sve6+UPWCiiigAooooAKKKKACiiigAooooAKKKKACiiigAooooAKKKKACiiigAooooAKKKKACiiigApMA9aWigCKWCKddssSSL6OoP86h/syw/wCfG2/78r/hVuigDMl8PaJO26bR7CRvV7ZCf1FVpfBvhe4wZvDekSY/v2MR/mtblFAHP/8ACCeEP+hU0P8A8F0X/wATR/wgnhD/AKFTQ/8AwXRf/E1pXGr6Zaki41C0hI4xJMqkfmaINX025x5GoWs2TgeXMrZPoMGgDKfwF4PZSp8K6Jj2sIgfzC5qv/wrTwV/0LGmf+A4rq6KAOPm+FvgeZcP4ZsAP9hCn6giq0vwe8Ayrtbw5AB/sTSqfzDA13NFAGJ4e8L6L4VsGstEsEtLdnMjAMzFm9SzEk+nJ4FbdFFABRRRQAUUUUAFFFFABRRRQAUUUUAFFFFABRRRQAUUUUAFFFFABRRRQAUUUUAFFFFABRRRQAUUVyXjrx5pfgPSPtd8xmu5ci1s0IDzMPfnaoyMsRxngEkAgHQajqVnpFnLe6hdxWtrHgvNM4VRk46nuSQAOpJAFeOeJv2h9MtPNt/DenvfyYIF1dExxA8YIX7zDrkHYeO+a8W8UeLdd8baoLrVrsy7c+TAg2xQg8kKvboASck4GScCrvhzwTLqytczusVpHy80hKoPYdyfyrqoYSpW1jou72MqtaFJXky5q/xe8ca9I6f2vJaRu25YbBfJ2+wYfPj2LGuauYtd1if7RfSXN1MeDJdzEsfxY5rvx/wiWjjy4Y7i/ccEx4jQn+tZWo3enXXzWentauTk/OSMemK9allFP7bb9LL87/kcMsfJv3Y/ecwnhi8flp7VPYuT/IGn/wDCKXg6XNmx9BIR/MCtcOR3pwlI6mur+ysN2f3kfWq3cxYNJ17TbgXNmJYpkPyyWs4Dj6bTmt3T/ih488PybDrV6+WDNFqC+dnHbMmWAPfBFAnIPJrS06C81mcWVtD9pZhnymwwb2APB/Kuark9K14ya9df8iljqi+JJ/18ztfDn7RkbukXibRxHnObmwJKjJGMxscgAZJIYnjgc17JoXiTR/E1h9t0bUILyHgMY2+ZM9Ny8FT3wQDXy5rHgkIzCW0lsJvVVJQnPdT0/AgD0Nc7BJrvg3VIr/T7qW0mBAS4t2+VxkHaexHHKsMHHIIryq+Bq0VzPVd0ddHFU6uidn2Pt2ivLvhh8WrXxtnS9TSKz1xAWVEJCXKgZJTPIYAElSScDIJAIX1GuM6QooooAKKKKACiiigAooooAKKKKACiiigAooooAKKKKACiiigAooooAKKKKACiiigAooooAzNc1m08P6JeavfuUtbSIyPgjLY6KMkAsTgAEjJIHevjLxL4i1Lxj4iuNV1KUvLKcKuflhjB+VFHYAH6kkk5JJP0L+0Ley2vw7gt4pdou9QjjlUfxIFd8fQMqn8BXzVbJiHdjliQD7D/AOuf0rpwtH2tSz2Jm7K5o6bbReanmZEWQWwMkj1+tdTqmty6hbw2cKC2sYVCrCpxuIHLH1JrAs1AjHvVuvraVOMYqy2PHrPmndhgAYAwKKKK2ICiiigAp8M0tvMs0MjRyIcq6kgg/WmUUhHpXhvxqNXC6brarIxGFlI5P196peJ/D6WLO0aLJay8NGwyCPcf16iuGtpWhuo5FJBVgRivXZyNR8No7cnYOT9K4qkVRmnHZ7ozmjwvVtNl0S9hv7CWWOPeGhkRiHhkByAGGCCCMgjnj1Br6f8AhV47HjnwqJbhv+JtZkRXoAA3Ej5ZABwAwB7DBDADABPhd7ZLeQXNiwGJVIUnsw5U/nj8CfWpfgJq82n/ABJhsVBMeo28sLruIAKqZA2OhI2EDPQMfWvCzLDKjUUo7SPWwVd1YWluj6tooorzjsCiiigAooooAKKKKACiiigAooooAKKKKACiiigAopjyLGpZ2CqO7HAqo+rWEfW6jPsp3fyzQBeorJfX7RThVmf3VMD9SKhfxEB9y0c/7zgfyzT5WK5uUVzj+Ibk/ctoV/3nLfyAqBtevz0Fup9QhP8AM0+Vhc6qiuQbWNSPS5C+yxr/AFBqNtW1JhzeuPoij+lHIwudnRXCtf3x631x+D4/lUZu7vGPtt1/3+b/ABp8gXOb/aLtmk8C2FwuT5WoqGx0AaN+T+IA/GvnGBwYV/2SQfoeR/WvqHXNP/4STQb7Rry7l8u8i2K8srMI5AQyMRk8BgCfUZFfMF5ZXej6lcWF9A8FzC5SaJuqkfTr65HBHQ4rowtT2NRN7MmS5kbdoQYhVms7T5gVA7EdR3rQByM19bTd4pnkVFaQtFFFaEBRRRQAUUU5EaSQIoyScCgB9tE01xGigkkjgV67En2bw4qNwQvGa5fw74bW3KXV4Qo6gE1qeINZhFuLeBgeMACuGtL2k1GJi5X1OTZ1F6ZGYKisWYk8ADkn8hWd8GC03xf0eULgZuHYAcKDDJ+QyR+dUPEmpi1tHs0b/SJ1AfHVE64PoT6emfUV2HwThGgG78S3NnJKZ1+y2oVwuVzmRsEc8qoGD2YV5WbVVOcaUfs7npZfTcYub6n0xRXIp4/00kCW0vo89SY1YD8mJ/Sr8PjLQJmC/wBoLGT/AM9o2jH5sAP1rx+V9j0Lo36Kq2t/Z3qlrS7guAOphkDfyJq1SGFFFFABRRRQAUUUUAFFFFABRRTHRXRkYfKwII9QaAMm51xFJS1jEhHHmMcL+Hc/oPes2bUbyfO64ZRnO2MbQPxHP61LPpNzbZ8tTNEBwV+8B7jv+H5CqJIDFWyrjqrDBH4HmtEkSNZQzbmBZj1LHJ/M0v0oNBpgIaaacaaelMQlNp1NoGNNNPSnHpTT0oENNNanHpTGoAQ1x3j3wJD4wtVurQxwa3AgVHYhVuUHRHPQMOiseOx4wV7E1GelDVwPl2aO90W+ls7yCS3nhbbJBIpVlP0PQ4/OtS0v4pwArgN/dbr+Hr+Fe8eIfDej+KbZYdXti8iLtiu4iFmiA6ANggryflYEcnGCc15Lrvwg1ywZpdHePWLYZIEXyTge8ZOT/wABLfhXZhsdVw/u7x7f5GdWjGpvuZuQaWsayi1NNZh0ubzbeZpBGUuIyCmT3U8ip5dXFrdTW89uGaJ2QtE5AJBIyAQfT1r2Kea4efxPl9f+AcUsJUW2ppUVnjWrInGJx9VBH6GnHWbEfxyH2Cf4mulYzDtX5195l7Gp/Ky8ASeKmh3pIrrkEHIrKOv2ScrBO59CQo/rUEviac5Fvbwxf7TAuw/Pj9KxqZlhoL4r+g1hqstLHavq15Lb5mm2RKMF2YKoHuTxXOal4ojizHYnzpjkGdh8qn/ZB6n3PHsaoWGjeJfFThrW1urxAceafliT6sSFX8xXf6B8L7HTylxrk6X06nItYSRCD/tNwW+gAGR1I4rzK+ZzmuWjHlXfr/wDengYRd56+RynhDwZdeJ7n+0dRMkWmByXnz887Z5VCep9W5A9zgH2EKiRxwwxLHDGojijQYVFAwAB6D8z1PJqRRuEcUaKqKAkccahVUdgAAAAOwHFOhYW94hkH+rcbgOcYPP8q81I7WxrWziQxbozMBkxBwXAxnpnPTnHWqxq8ZorXCtdoRjChZAdzkk79oy24kgknGACM81Q3Fyz7SoZmKgjGASSB+AxTTAjaCJmDGJSR0OBkfj1q7a6xqtgR9l1S6QAYCu/mKB6ANkD8MVVPWopJY48b3Vc9MkDNMDsLD4g3ULBNTs0mj7y22VYDHUoSQfwI9ga7ixv7fUrSO6tJllgkGVYZGccEEHkEHIIOCCMGvKdP8P6vqhBtbF0jP8Ay2uAY0A9QCMkfQH616T4f0WPQdLFmszSuXMkkhGNzHHIHYcAAZPTqTzWM1HoUrmzRRRWZQUUUUAFFFFABRRRQAVFLBFMu2WJJB6OoI/WpaKAM2TRLJ+RG0ZPeNiB+XT9Kqv4eU/6u7dfZ1DfyxW5RTuwsc2+g3eTslgce+VP8jUD6PqC8fZ1f3SQf1xXV0U+ZiscbJYXqE7rOb/gIDfyJqF4J0GXtp1HqYmH9K7iinzhY4BpFXhjtPoQR/OmGWMj/WL+Yr0KmNGjj50VvqAaOcLHn+9SOGU/QikJB7j867p7Czf71pA31jB/pTTpWnHrYWv/AH5X/CjnFY4Y1GeldydG009bC2P0jApn9gaWeTYw/kf8afOgscQaaqbpAucZOM13B8O6SetjH+Z/xpv/AAjekZz9iX/vpv8AGnzoLHHSyG/1OK2ntbeW2t5gFFxCJWJA6gtnaMnIxg8da5p/BvhZxd6nJ4ftnuhMVBEkgUlpCMlSSvGc8CvVJ9EhZy0EVvGzDBkKEuBjHBzycev61GfC+mLaJbQ2sSx70Z9wJLBSD1z1JHX3NTzILHj1v8MvDFt5l+La5lnklCLFJKhhQsc52lMgAdiT07VBffDXwlquqKITewqoCPLbPGiO+RnAKkYHPI/XGa9x/sPTUheOKwtgGxkNGCpx6ioI9DtRLHu03TFjUknbbjJ9MZHHP8qOaPYdmeS2/gbwj576Y+kK1srGISSSgSkjjduAB6+/+FTaboPhjR7O5urTQtMM0DKimYGYhi23OZCxGDzxivW20u3+2LKtpZAZ+ZjAN54wBn8ufbFEemLHZxwokCt5okkKpgHDbsD8fWjmS6BZnBS6mjtp6GKBxcA7gckKAQMKM4HXOB/9eqa20k188EVvcuiylMpCzcZ65Ax0r1Qwsb5Jty7FjKgY5ySD/QVHHFcxwyBGiEjyM3zAkAH8uelPnFynnP2TU7nUUjg0iSO2gn27xCQWAOCSxIGM8/h1qW40vX7n7X5Ok2ccO6RRNIVBABILE7s575xXotpb/ZrcRly7ElmcjG4k5Jx+NQ3NrNcqYvMRIHP7zap3MO4znHPrS52OxwreENUdLOEmzhlZnLsWLEgAYGQB+Wa1bfwojSTxyvAbeEhQEiw7MFBJLEnjnGMf4V1bxM93DJuARAwxjkk8UxIJVW5+dC8rll4OB8oAB/Kk5sLI5tPCelzR2kt5A0jSnBCSNGoBUkcKRnGMfjWhDZ6do07fZdPtbaKNAXkWIeY5OcKD1J46kn0960/s0gWzQMpWAgsT3wpHH51LMk2cw+UT38wH+lK7YWC3kleAPPGIm67d2cDtk+tO86LCnzEwxwDng8Z4/CopIpZbcwS7HDxFXYErkkYOBg4HXvx71F5NxgSCC3EysSqhyFGRjJO3k8eg447UhlozRLkGRAQN33hwPX6U8MpGcjGcVnLYSrGiBkIVYFyep2Nkn8at20ZhiYSEZMjtx6FiR/OgCxRRRQAUUUUAFFFFABRRRQAUUUUAFFFFABRRRQAUUUUAFFFFABRRRQAUUUUAFFFFABRRRQAUUUUAFFFFABRRRQAUUUUAFFFFABRRRQAUUUUAf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2" name="Freeform 5"/>
          <p:cNvSpPr>
            <a:spLocks/>
          </p:cNvSpPr>
          <p:nvPr/>
        </p:nvSpPr>
        <p:spPr bwMode="auto">
          <a:xfrm>
            <a:off x="864998" y="463226"/>
            <a:ext cx="824164" cy="717874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solidFill>
            <a:srgbClr val="408080"/>
          </a:solidFill>
          <a:ln w="9525" cap="flat">
            <a:noFill/>
            <a:prstDash val="solid"/>
            <a:miter lim="800000"/>
            <a:headEnd/>
            <a:tailEnd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vert="horz" wrap="square" lIns="68564" tIns="34282" rIns="68564" bIns="34282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ea typeface="微软雅黑" pitchFamily="34" charset="-122"/>
            </a:endParaRPr>
          </a:p>
        </p:txBody>
      </p:sp>
      <p:pic>
        <p:nvPicPr>
          <p:cNvPr id="33" name="图片 32" descr="2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068198" y="635000"/>
            <a:ext cx="419100" cy="41910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8216900" y="6519818"/>
            <a:ext cx="77470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+mn-ea"/>
              </a:rPr>
              <a:t>9/11</a:t>
            </a:r>
            <a:endParaRPr lang="zh-CN" altLang="en-US" b="1" dirty="0">
              <a:latin typeface="+mn-ea"/>
            </a:endParaRPr>
          </a:p>
        </p:txBody>
      </p:sp>
      <p:grpSp>
        <p:nvGrpSpPr>
          <p:cNvPr id="76" name="组合 75"/>
          <p:cNvGrpSpPr/>
          <p:nvPr/>
        </p:nvGrpSpPr>
        <p:grpSpPr>
          <a:xfrm>
            <a:off x="1003300" y="1243780"/>
            <a:ext cx="4875370" cy="610420"/>
            <a:chOff x="1028700" y="1281880"/>
            <a:chExt cx="4875370" cy="610420"/>
          </a:xfrm>
        </p:grpSpPr>
        <p:sp>
          <p:nvSpPr>
            <p:cNvPr id="182" name="矩形 181"/>
            <p:cNvSpPr/>
            <p:nvPr/>
          </p:nvSpPr>
          <p:spPr>
            <a:xfrm>
              <a:off x="1599687" y="1281880"/>
              <a:ext cx="4304383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buClr>
                  <a:srgbClr val="FF0000"/>
                </a:buClr>
              </a:pPr>
              <a:r>
                <a:rPr lang="zh-CN" altLang="en-US" sz="3200" b="1" dirty="0">
                  <a:solidFill>
                    <a:schemeClr val="tx2"/>
                  </a:solidFill>
                  <a:latin typeface="Verdana" pitchFamily="34" charset="0"/>
                  <a:ea typeface="黑体" pitchFamily="49" charset="-122"/>
                </a:rPr>
                <a:t>二叉排序树的相关应用</a:t>
              </a:r>
              <a:endParaRPr lang="zh-CN" altLang="en-US" sz="3200" b="1" dirty="0">
                <a:solidFill>
                  <a:srgbClr val="FF0000"/>
                </a:solidFill>
                <a:latin typeface="Verdana" pitchFamily="34" charset="0"/>
                <a:ea typeface="黑体" pitchFamily="49" charset="-122"/>
              </a:endParaRPr>
            </a:p>
          </p:txBody>
        </p:sp>
        <p:pic>
          <p:nvPicPr>
            <p:cNvPr id="38" name="图片 37" descr="u=968598996,1571171680&amp;fm=27&amp;gp=0.jp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28700" y="1282700"/>
              <a:ext cx="609600" cy="609600"/>
            </a:xfrm>
            <a:prstGeom prst="rect">
              <a:avLst/>
            </a:prstGeom>
          </p:spPr>
        </p:pic>
      </p:grpSp>
      <p:sp>
        <p:nvSpPr>
          <p:cNvPr id="41" name="任意多边形 40"/>
          <p:cNvSpPr/>
          <p:nvPr/>
        </p:nvSpPr>
        <p:spPr>
          <a:xfrm>
            <a:off x="2365265" y="3173871"/>
            <a:ext cx="931783" cy="389238"/>
          </a:xfrm>
          <a:custGeom>
            <a:avLst/>
            <a:gdLst>
              <a:gd name="connsiteX0" fmla="*/ 50498 w 1930400"/>
              <a:gd name="connsiteY0" fmla="*/ 0 h 638521"/>
              <a:gd name="connsiteX1" fmla="*/ 1879902 w 1930400"/>
              <a:gd name="connsiteY1" fmla="*/ 0 h 638521"/>
              <a:gd name="connsiteX2" fmla="*/ 1930400 w 1930400"/>
              <a:gd name="connsiteY2" fmla="*/ 50498 h 638521"/>
              <a:gd name="connsiteX3" fmla="*/ 1930400 w 1930400"/>
              <a:gd name="connsiteY3" fmla="*/ 442988 h 638521"/>
              <a:gd name="connsiteX4" fmla="*/ 1879902 w 1930400"/>
              <a:gd name="connsiteY4" fmla="*/ 493486 h 638521"/>
              <a:gd name="connsiteX5" fmla="*/ 1124527 w 1930400"/>
              <a:gd name="connsiteY5" fmla="*/ 493486 h 638521"/>
              <a:gd name="connsiteX6" fmla="*/ 965200 w 1930400"/>
              <a:gd name="connsiteY6" fmla="*/ 638521 h 638521"/>
              <a:gd name="connsiteX7" fmla="*/ 805872 w 1930400"/>
              <a:gd name="connsiteY7" fmla="*/ 493486 h 638521"/>
              <a:gd name="connsiteX8" fmla="*/ 50498 w 1930400"/>
              <a:gd name="connsiteY8" fmla="*/ 493486 h 638521"/>
              <a:gd name="connsiteX9" fmla="*/ 0 w 1930400"/>
              <a:gd name="connsiteY9" fmla="*/ 442988 h 638521"/>
              <a:gd name="connsiteX10" fmla="*/ 0 w 1930400"/>
              <a:gd name="connsiteY10" fmla="*/ 50498 h 638521"/>
              <a:gd name="connsiteX11" fmla="*/ 50498 w 1930400"/>
              <a:gd name="connsiteY11" fmla="*/ 0 h 6385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0400" h="638521">
                <a:moveTo>
                  <a:pt x="50498" y="0"/>
                </a:moveTo>
                <a:lnTo>
                  <a:pt x="1879902" y="0"/>
                </a:lnTo>
                <a:cubicBezTo>
                  <a:pt x="1907791" y="0"/>
                  <a:pt x="1930400" y="22609"/>
                  <a:pt x="1930400" y="50498"/>
                </a:cubicBezTo>
                <a:lnTo>
                  <a:pt x="1930400" y="442988"/>
                </a:lnTo>
                <a:cubicBezTo>
                  <a:pt x="1930400" y="470877"/>
                  <a:pt x="1907791" y="493486"/>
                  <a:pt x="1879902" y="493486"/>
                </a:cubicBezTo>
                <a:lnTo>
                  <a:pt x="1124527" y="493486"/>
                </a:lnTo>
                <a:lnTo>
                  <a:pt x="965200" y="638521"/>
                </a:lnTo>
                <a:lnTo>
                  <a:pt x="805872" y="493486"/>
                </a:lnTo>
                <a:lnTo>
                  <a:pt x="50498" y="493486"/>
                </a:lnTo>
                <a:cubicBezTo>
                  <a:pt x="22609" y="493486"/>
                  <a:pt x="0" y="470877"/>
                  <a:pt x="0" y="442988"/>
                </a:cubicBezTo>
                <a:lnTo>
                  <a:pt x="0" y="50498"/>
                </a:lnTo>
                <a:cubicBezTo>
                  <a:pt x="0" y="22609"/>
                  <a:pt x="22609" y="0"/>
                  <a:pt x="50498" y="0"/>
                </a:cubicBezTo>
                <a:close/>
              </a:path>
            </a:pathLst>
          </a:custGeom>
          <a:gradFill>
            <a:gsLst>
              <a:gs pos="100000">
                <a:schemeClr val="bg1">
                  <a:lumMod val="98000"/>
                </a:schemeClr>
              </a:gs>
              <a:gs pos="0">
                <a:schemeClr val="bg1">
                  <a:lumMod val="88000"/>
                </a:schemeClr>
              </a:gs>
            </a:gsLst>
            <a:lin ang="2700000" scaled="1"/>
          </a:gradFill>
          <a:ln>
            <a:noFill/>
          </a:ln>
          <a:effectLst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prstClr val="white"/>
              </a:solidFill>
            </a:endParaRPr>
          </a:p>
        </p:txBody>
      </p:sp>
      <p:grpSp>
        <p:nvGrpSpPr>
          <p:cNvPr id="77" name="组合 76"/>
          <p:cNvGrpSpPr/>
          <p:nvPr/>
        </p:nvGrpSpPr>
        <p:grpSpPr>
          <a:xfrm>
            <a:off x="869950" y="1795708"/>
            <a:ext cx="7796892" cy="1549383"/>
            <a:chOff x="869950" y="1795708"/>
            <a:chExt cx="7796892" cy="1549383"/>
          </a:xfrm>
        </p:grpSpPr>
        <p:grpSp>
          <p:nvGrpSpPr>
            <p:cNvPr id="42" name="组合 41"/>
            <p:cNvGrpSpPr/>
            <p:nvPr/>
          </p:nvGrpSpPr>
          <p:grpSpPr>
            <a:xfrm>
              <a:off x="3860800" y="1796161"/>
              <a:ext cx="2076449" cy="537464"/>
              <a:chOff x="3733800" y="1266389"/>
              <a:chExt cx="2076449" cy="537464"/>
            </a:xfrm>
          </p:grpSpPr>
          <p:sp>
            <p:nvSpPr>
              <p:cNvPr id="44" name="任意多边形 43"/>
              <p:cNvSpPr/>
              <p:nvPr/>
            </p:nvSpPr>
            <p:spPr>
              <a:xfrm>
                <a:off x="3733800" y="1311504"/>
                <a:ext cx="2076449" cy="492349"/>
              </a:xfrm>
              <a:custGeom>
                <a:avLst/>
                <a:gdLst>
                  <a:gd name="connsiteX0" fmla="*/ 50498 w 1930400"/>
                  <a:gd name="connsiteY0" fmla="*/ 0 h 638521"/>
                  <a:gd name="connsiteX1" fmla="*/ 1879902 w 1930400"/>
                  <a:gd name="connsiteY1" fmla="*/ 0 h 638521"/>
                  <a:gd name="connsiteX2" fmla="*/ 1930400 w 1930400"/>
                  <a:gd name="connsiteY2" fmla="*/ 50498 h 638521"/>
                  <a:gd name="connsiteX3" fmla="*/ 1930400 w 1930400"/>
                  <a:gd name="connsiteY3" fmla="*/ 442988 h 638521"/>
                  <a:gd name="connsiteX4" fmla="*/ 1879902 w 1930400"/>
                  <a:gd name="connsiteY4" fmla="*/ 493486 h 638521"/>
                  <a:gd name="connsiteX5" fmla="*/ 1124527 w 1930400"/>
                  <a:gd name="connsiteY5" fmla="*/ 493486 h 638521"/>
                  <a:gd name="connsiteX6" fmla="*/ 965200 w 1930400"/>
                  <a:gd name="connsiteY6" fmla="*/ 638521 h 638521"/>
                  <a:gd name="connsiteX7" fmla="*/ 805872 w 1930400"/>
                  <a:gd name="connsiteY7" fmla="*/ 493486 h 638521"/>
                  <a:gd name="connsiteX8" fmla="*/ 50498 w 1930400"/>
                  <a:gd name="connsiteY8" fmla="*/ 493486 h 638521"/>
                  <a:gd name="connsiteX9" fmla="*/ 0 w 1930400"/>
                  <a:gd name="connsiteY9" fmla="*/ 442988 h 638521"/>
                  <a:gd name="connsiteX10" fmla="*/ 0 w 1930400"/>
                  <a:gd name="connsiteY10" fmla="*/ 50498 h 638521"/>
                  <a:gd name="connsiteX11" fmla="*/ 50498 w 1930400"/>
                  <a:gd name="connsiteY11" fmla="*/ 0 h 6385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30400" h="638521">
                    <a:moveTo>
                      <a:pt x="50498" y="0"/>
                    </a:moveTo>
                    <a:lnTo>
                      <a:pt x="1879902" y="0"/>
                    </a:lnTo>
                    <a:cubicBezTo>
                      <a:pt x="1907791" y="0"/>
                      <a:pt x="1930400" y="22609"/>
                      <a:pt x="1930400" y="50498"/>
                    </a:cubicBezTo>
                    <a:lnTo>
                      <a:pt x="1930400" y="442988"/>
                    </a:lnTo>
                    <a:cubicBezTo>
                      <a:pt x="1930400" y="470877"/>
                      <a:pt x="1907791" y="493486"/>
                      <a:pt x="1879902" y="493486"/>
                    </a:cubicBezTo>
                    <a:lnTo>
                      <a:pt x="1124527" y="493486"/>
                    </a:lnTo>
                    <a:lnTo>
                      <a:pt x="965200" y="638521"/>
                    </a:lnTo>
                    <a:lnTo>
                      <a:pt x="805872" y="493486"/>
                    </a:lnTo>
                    <a:lnTo>
                      <a:pt x="50498" y="493486"/>
                    </a:lnTo>
                    <a:cubicBezTo>
                      <a:pt x="22609" y="493486"/>
                      <a:pt x="0" y="470877"/>
                      <a:pt x="0" y="442988"/>
                    </a:cubicBezTo>
                    <a:lnTo>
                      <a:pt x="0" y="50498"/>
                    </a:lnTo>
                    <a:cubicBezTo>
                      <a:pt x="0" y="22609"/>
                      <a:pt x="22609" y="0"/>
                      <a:pt x="5049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bg1"/>
                  </a:gs>
                  <a:gs pos="100000">
                    <a:schemeClr val="bg1">
                      <a:lumMod val="80000"/>
                    </a:schemeClr>
                  </a:gs>
                </a:gsLst>
                <a:lin ang="2700000" scaled="1"/>
              </a:gradFill>
              <a:ln>
                <a:noFill/>
              </a:ln>
              <a:effectLst>
                <a:outerShdw blurRad="101600" dist="508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13">
                  <a:solidFill>
                    <a:prstClr val="white"/>
                  </a:solidFill>
                </a:endParaRPr>
              </a:p>
            </p:txBody>
          </p:sp>
          <p:sp>
            <p:nvSpPr>
              <p:cNvPr id="49" name="文本框 146"/>
              <p:cNvSpPr txBox="1"/>
              <p:nvPr/>
            </p:nvSpPr>
            <p:spPr>
              <a:xfrm>
                <a:off x="3766883" y="1266389"/>
                <a:ext cx="182429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200" b="1" dirty="0">
                    <a:solidFill>
                      <a:srgbClr val="0000FF"/>
                    </a:solidFill>
                    <a:latin typeface="黑体" pitchFamily="49" charset="-122"/>
                    <a:ea typeface="黑体" pitchFamily="49" charset="-122"/>
                  </a:rPr>
                  <a:t>文献数据库</a:t>
                </a:r>
              </a:p>
            </p:txBody>
          </p:sp>
        </p:grpSp>
        <p:grpSp>
          <p:nvGrpSpPr>
            <p:cNvPr id="50" name="组合 49"/>
            <p:cNvGrpSpPr/>
            <p:nvPr/>
          </p:nvGrpSpPr>
          <p:grpSpPr>
            <a:xfrm>
              <a:off x="6642525" y="1800697"/>
              <a:ext cx="2024317" cy="504353"/>
              <a:chOff x="6471982" y="1285439"/>
              <a:chExt cx="2024317" cy="504353"/>
            </a:xfrm>
          </p:grpSpPr>
          <p:sp>
            <p:nvSpPr>
              <p:cNvPr id="51" name="任意多边形 50"/>
              <p:cNvSpPr/>
              <p:nvPr/>
            </p:nvSpPr>
            <p:spPr>
              <a:xfrm>
                <a:off x="6524625" y="1321029"/>
                <a:ext cx="1971674" cy="468763"/>
              </a:xfrm>
              <a:custGeom>
                <a:avLst/>
                <a:gdLst>
                  <a:gd name="connsiteX0" fmla="*/ 50498 w 1930400"/>
                  <a:gd name="connsiteY0" fmla="*/ 0 h 638521"/>
                  <a:gd name="connsiteX1" fmla="*/ 1879902 w 1930400"/>
                  <a:gd name="connsiteY1" fmla="*/ 0 h 638521"/>
                  <a:gd name="connsiteX2" fmla="*/ 1930400 w 1930400"/>
                  <a:gd name="connsiteY2" fmla="*/ 50498 h 638521"/>
                  <a:gd name="connsiteX3" fmla="*/ 1930400 w 1930400"/>
                  <a:gd name="connsiteY3" fmla="*/ 442988 h 638521"/>
                  <a:gd name="connsiteX4" fmla="*/ 1879902 w 1930400"/>
                  <a:gd name="connsiteY4" fmla="*/ 493486 h 638521"/>
                  <a:gd name="connsiteX5" fmla="*/ 1124527 w 1930400"/>
                  <a:gd name="connsiteY5" fmla="*/ 493486 h 638521"/>
                  <a:gd name="connsiteX6" fmla="*/ 965200 w 1930400"/>
                  <a:gd name="connsiteY6" fmla="*/ 638521 h 638521"/>
                  <a:gd name="connsiteX7" fmla="*/ 805872 w 1930400"/>
                  <a:gd name="connsiteY7" fmla="*/ 493486 h 638521"/>
                  <a:gd name="connsiteX8" fmla="*/ 50498 w 1930400"/>
                  <a:gd name="connsiteY8" fmla="*/ 493486 h 638521"/>
                  <a:gd name="connsiteX9" fmla="*/ 0 w 1930400"/>
                  <a:gd name="connsiteY9" fmla="*/ 442988 h 638521"/>
                  <a:gd name="connsiteX10" fmla="*/ 0 w 1930400"/>
                  <a:gd name="connsiteY10" fmla="*/ 50498 h 638521"/>
                  <a:gd name="connsiteX11" fmla="*/ 50498 w 1930400"/>
                  <a:gd name="connsiteY11" fmla="*/ 0 h 6385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30400" h="638521">
                    <a:moveTo>
                      <a:pt x="50498" y="0"/>
                    </a:moveTo>
                    <a:lnTo>
                      <a:pt x="1879902" y="0"/>
                    </a:lnTo>
                    <a:cubicBezTo>
                      <a:pt x="1907791" y="0"/>
                      <a:pt x="1930400" y="22609"/>
                      <a:pt x="1930400" y="50498"/>
                    </a:cubicBezTo>
                    <a:lnTo>
                      <a:pt x="1930400" y="442988"/>
                    </a:lnTo>
                    <a:cubicBezTo>
                      <a:pt x="1930400" y="470877"/>
                      <a:pt x="1907791" y="493486"/>
                      <a:pt x="1879902" y="493486"/>
                    </a:cubicBezTo>
                    <a:lnTo>
                      <a:pt x="1124527" y="493486"/>
                    </a:lnTo>
                    <a:lnTo>
                      <a:pt x="965200" y="638521"/>
                    </a:lnTo>
                    <a:lnTo>
                      <a:pt x="805872" y="493486"/>
                    </a:lnTo>
                    <a:lnTo>
                      <a:pt x="50498" y="493486"/>
                    </a:lnTo>
                    <a:cubicBezTo>
                      <a:pt x="22609" y="493486"/>
                      <a:pt x="0" y="470877"/>
                      <a:pt x="0" y="442988"/>
                    </a:cubicBezTo>
                    <a:lnTo>
                      <a:pt x="0" y="50498"/>
                    </a:lnTo>
                    <a:cubicBezTo>
                      <a:pt x="0" y="22609"/>
                      <a:pt x="22609" y="0"/>
                      <a:pt x="5049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bg1"/>
                  </a:gs>
                  <a:gs pos="100000">
                    <a:schemeClr val="bg1">
                      <a:lumMod val="80000"/>
                    </a:schemeClr>
                  </a:gs>
                </a:gsLst>
                <a:lin ang="2700000" scaled="1"/>
              </a:gradFill>
              <a:ln>
                <a:noFill/>
              </a:ln>
              <a:effectLst>
                <a:outerShdw blurRad="101600" dist="508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13">
                  <a:solidFill>
                    <a:prstClr val="white"/>
                  </a:solidFill>
                </a:endParaRPr>
              </a:p>
            </p:txBody>
          </p:sp>
          <p:sp>
            <p:nvSpPr>
              <p:cNvPr id="55" name="文本框 146"/>
              <p:cNvSpPr txBox="1"/>
              <p:nvPr/>
            </p:nvSpPr>
            <p:spPr>
              <a:xfrm>
                <a:off x="6471982" y="1285439"/>
                <a:ext cx="1939499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b="1" dirty="0">
                    <a:solidFill>
                      <a:srgbClr val="0000FF"/>
                    </a:solidFill>
                    <a:latin typeface="Times New Roman" pitchFamily="18" charset="0"/>
                    <a:ea typeface="黑体" pitchFamily="49" charset="-122"/>
                  </a:rPr>
                  <a:t>Web</a:t>
                </a:r>
                <a:r>
                  <a:rPr lang="zh-CN" altLang="en-US" sz="2200" b="1" dirty="0">
                    <a:solidFill>
                      <a:srgbClr val="0000FF"/>
                    </a:solidFill>
                    <a:latin typeface="Times New Roman" pitchFamily="18" charset="0"/>
                    <a:ea typeface="黑体" pitchFamily="49" charset="-122"/>
                  </a:rPr>
                  <a:t>数据库等</a:t>
                </a:r>
              </a:p>
            </p:txBody>
          </p:sp>
        </p:grpSp>
        <p:grpSp>
          <p:nvGrpSpPr>
            <p:cNvPr id="56" name="组合 55"/>
            <p:cNvGrpSpPr/>
            <p:nvPr/>
          </p:nvGrpSpPr>
          <p:grpSpPr>
            <a:xfrm>
              <a:off x="1016000" y="2316391"/>
              <a:ext cx="6832600" cy="1028700"/>
              <a:chOff x="1676400" y="3559175"/>
              <a:chExt cx="5519738" cy="1028700"/>
            </a:xfrm>
          </p:grpSpPr>
          <p:grpSp>
            <p:nvGrpSpPr>
              <p:cNvPr id="57" name="组合 90"/>
              <p:cNvGrpSpPr/>
              <p:nvPr/>
            </p:nvGrpSpPr>
            <p:grpSpPr>
              <a:xfrm>
                <a:off x="1676400" y="3559175"/>
                <a:ext cx="5519738" cy="1028700"/>
                <a:chOff x="1676400" y="3775075"/>
                <a:chExt cx="5519738" cy="1028700"/>
              </a:xfrm>
            </p:grpSpPr>
            <p:grpSp>
              <p:nvGrpSpPr>
                <p:cNvPr id="59" name="组合 72"/>
                <p:cNvGrpSpPr/>
                <p:nvPr/>
              </p:nvGrpSpPr>
              <p:grpSpPr>
                <a:xfrm>
                  <a:off x="1676400" y="4085217"/>
                  <a:ext cx="5519738" cy="718558"/>
                  <a:chOff x="1590675" y="3938294"/>
                  <a:chExt cx="5834063" cy="890706"/>
                </a:xfrm>
              </p:grpSpPr>
              <p:pic>
                <p:nvPicPr>
                  <p:cNvPr id="66" name="Picture 8"/>
                  <p:cNvPicPr>
                    <a:picLocks noChangeAspect="1" noChangeArrowheads="1"/>
                  </p:cNvPicPr>
                  <p:nvPr/>
                </p:nvPicPr>
                <p:blipFill>
                  <a:blip r:embed="rId7" cstate="print"/>
                  <a:srcRect/>
                  <a:stretch>
                    <a:fillRect/>
                  </a:stretch>
                </p:blipFill>
                <p:spPr bwMode="auto">
                  <a:xfrm>
                    <a:off x="1590675" y="3938294"/>
                    <a:ext cx="2781300" cy="890706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</p:pic>
              <p:pic>
                <p:nvPicPr>
                  <p:cNvPr id="67" name="Picture 7"/>
                  <p:cNvPicPr>
                    <a:picLocks noChangeAspect="1" noChangeArrowheads="1"/>
                  </p:cNvPicPr>
                  <p:nvPr/>
                </p:nvPicPr>
                <p:blipFill>
                  <a:blip r:embed="rId8" cstate="print"/>
                  <a:srcRect/>
                  <a:stretch>
                    <a:fillRect/>
                  </a:stretch>
                </p:blipFill>
                <p:spPr bwMode="auto">
                  <a:xfrm>
                    <a:off x="4343396" y="3947820"/>
                    <a:ext cx="3081342" cy="870253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</p:pic>
            </p:grpSp>
            <p:sp>
              <p:nvSpPr>
                <p:cNvPr id="60" name="下箭头 59"/>
                <p:cNvSpPr/>
                <p:nvPr/>
              </p:nvSpPr>
              <p:spPr>
                <a:xfrm>
                  <a:off x="4400972" y="3775075"/>
                  <a:ext cx="145628" cy="252509"/>
                </a:xfrm>
                <a:prstGeom prst="downArrow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5" name="下箭头 64"/>
                <p:cNvSpPr/>
                <p:nvPr/>
              </p:nvSpPr>
              <p:spPr>
                <a:xfrm>
                  <a:off x="6623887" y="3775075"/>
                  <a:ext cx="145628" cy="252509"/>
                </a:xfrm>
                <a:prstGeom prst="downArrow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58" name="下箭头 57"/>
              <p:cNvSpPr/>
              <p:nvPr/>
            </p:nvSpPr>
            <p:spPr>
              <a:xfrm>
                <a:off x="2330872" y="3559175"/>
                <a:ext cx="145628" cy="252509"/>
              </a:xfrm>
              <a:prstGeom prst="downArrow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9" name="组合 68"/>
            <p:cNvGrpSpPr/>
            <p:nvPr/>
          </p:nvGrpSpPr>
          <p:grpSpPr>
            <a:xfrm>
              <a:off x="869950" y="1795708"/>
              <a:ext cx="1857375" cy="528392"/>
              <a:chOff x="742950" y="1294964"/>
              <a:chExt cx="1857375" cy="528392"/>
            </a:xfrm>
          </p:grpSpPr>
          <p:sp>
            <p:nvSpPr>
              <p:cNvPr id="70" name="任意多边形 69"/>
              <p:cNvSpPr/>
              <p:nvPr/>
            </p:nvSpPr>
            <p:spPr>
              <a:xfrm>
                <a:off x="742950" y="1340079"/>
                <a:ext cx="1835149" cy="483277"/>
              </a:xfrm>
              <a:custGeom>
                <a:avLst/>
                <a:gdLst>
                  <a:gd name="connsiteX0" fmla="*/ 50498 w 1930400"/>
                  <a:gd name="connsiteY0" fmla="*/ 0 h 638521"/>
                  <a:gd name="connsiteX1" fmla="*/ 1879902 w 1930400"/>
                  <a:gd name="connsiteY1" fmla="*/ 0 h 638521"/>
                  <a:gd name="connsiteX2" fmla="*/ 1930400 w 1930400"/>
                  <a:gd name="connsiteY2" fmla="*/ 50498 h 638521"/>
                  <a:gd name="connsiteX3" fmla="*/ 1930400 w 1930400"/>
                  <a:gd name="connsiteY3" fmla="*/ 442988 h 638521"/>
                  <a:gd name="connsiteX4" fmla="*/ 1879902 w 1930400"/>
                  <a:gd name="connsiteY4" fmla="*/ 493486 h 638521"/>
                  <a:gd name="connsiteX5" fmla="*/ 1124527 w 1930400"/>
                  <a:gd name="connsiteY5" fmla="*/ 493486 h 638521"/>
                  <a:gd name="connsiteX6" fmla="*/ 965200 w 1930400"/>
                  <a:gd name="connsiteY6" fmla="*/ 638521 h 638521"/>
                  <a:gd name="connsiteX7" fmla="*/ 805872 w 1930400"/>
                  <a:gd name="connsiteY7" fmla="*/ 493486 h 638521"/>
                  <a:gd name="connsiteX8" fmla="*/ 50498 w 1930400"/>
                  <a:gd name="connsiteY8" fmla="*/ 493486 h 638521"/>
                  <a:gd name="connsiteX9" fmla="*/ 0 w 1930400"/>
                  <a:gd name="connsiteY9" fmla="*/ 442988 h 638521"/>
                  <a:gd name="connsiteX10" fmla="*/ 0 w 1930400"/>
                  <a:gd name="connsiteY10" fmla="*/ 50498 h 638521"/>
                  <a:gd name="connsiteX11" fmla="*/ 50498 w 1930400"/>
                  <a:gd name="connsiteY11" fmla="*/ 0 h 6385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30400" h="638521">
                    <a:moveTo>
                      <a:pt x="50498" y="0"/>
                    </a:moveTo>
                    <a:lnTo>
                      <a:pt x="1879902" y="0"/>
                    </a:lnTo>
                    <a:cubicBezTo>
                      <a:pt x="1907791" y="0"/>
                      <a:pt x="1930400" y="22609"/>
                      <a:pt x="1930400" y="50498"/>
                    </a:cubicBezTo>
                    <a:lnTo>
                      <a:pt x="1930400" y="442988"/>
                    </a:lnTo>
                    <a:cubicBezTo>
                      <a:pt x="1930400" y="470877"/>
                      <a:pt x="1907791" y="493486"/>
                      <a:pt x="1879902" y="493486"/>
                    </a:cubicBezTo>
                    <a:lnTo>
                      <a:pt x="1124527" y="493486"/>
                    </a:lnTo>
                    <a:lnTo>
                      <a:pt x="965200" y="638521"/>
                    </a:lnTo>
                    <a:lnTo>
                      <a:pt x="805872" y="493486"/>
                    </a:lnTo>
                    <a:lnTo>
                      <a:pt x="50498" y="493486"/>
                    </a:lnTo>
                    <a:cubicBezTo>
                      <a:pt x="22609" y="493486"/>
                      <a:pt x="0" y="470877"/>
                      <a:pt x="0" y="442988"/>
                    </a:cubicBezTo>
                    <a:lnTo>
                      <a:pt x="0" y="50498"/>
                    </a:lnTo>
                    <a:cubicBezTo>
                      <a:pt x="0" y="22609"/>
                      <a:pt x="22609" y="0"/>
                      <a:pt x="5049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bg1"/>
                  </a:gs>
                  <a:gs pos="100000">
                    <a:schemeClr val="bg1">
                      <a:lumMod val="80000"/>
                    </a:schemeClr>
                  </a:gs>
                </a:gsLst>
                <a:lin ang="2700000" scaled="1"/>
              </a:gradFill>
              <a:ln>
                <a:noFill/>
              </a:ln>
              <a:effectLst>
                <a:outerShdw blurRad="101600" dist="508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13">
                  <a:solidFill>
                    <a:srgbClr val="FF0000"/>
                  </a:solidFill>
                </a:endParaRPr>
              </a:p>
            </p:txBody>
          </p:sp>
          <p:sp>
            <p:nvSpPr>
              <p:cNvPr id="74" name="文本框 146"/>
              <p:cNvSpPr txBox="1"/>
              <p:nvPr/>
            </p:nvSpPr>
            <p:spPr>
              <a:xfrm>
                <a:off x="776033" y="1294964"/>
                <a:ext cx="182429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200" b="1" dirty="0">
                    <a:solidFill>
                      <a:srgbClr val="0000FF"/>
                    </a:solidFill>
                    <a:latin typeface="黑体" pitchFamily="49" charset="-122"/>
                    <a:ea typeface="黑体" pitchFamily="49" charset="-122"/>
                  </a:rPr>
                  <a:t>购物数据库</a:t>
                </a:r>
              </a:p>
            </p:txBody>
          </p:sp>
        </p:grpSp>
      </p:grpSp>
      <p:pic>
        <p:nvPicPr>
          <p:cNvPr id="52235" name="Picture 11"/>
          <p:cNvPicPr>
            <a:picLocks noChangeAspect="1" noChangeArrowheads="1"/>
          </p:cNvPicPr>
          <p:nvPr/>
        </p:nvPicPr>
        <p:blipFill>
          <a:blip r:embed="rId9" cstate="print">
            <a:duotone>
              <a:prstClr val="black"/>
              <a:schemeClr val="accent2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1771650" y="5819775"/>
            <a:ext cx="409575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88" name="组合 87"/>
          <p:cNvGrpSpPr/>
          <p:nvPr/>
        </p:nvGrpSpPr>
        <p:grpSpPr>
          <a:xfrm>
            <a:off x="237446" y="4000269"/>
            <a:ext cx="8563653" cy="1486131"/>
            <a:chOff x="237446" y="4000269"/>
            <a:chExt cx="8563653" cy="1486131"/>
          </a:xfrm>
        </p:grpSpPr>
        <p:grpSp>
          <p:nvGrpSpPr>
            <p:cNvPr id="85" name="组合 84"/>
            <p:cNvGrpSpPr/>
            <p:nvPr/>
          </p:nvGrpSpPr>
          <p:grpSpPr>
            <a:xfrm>
              <a:off x="723900" y="4000500"/>
              <a:ext cx="8077199" cy="1485900"/>
              <a:chOff x="723900" y="4000500"/>
              <a:chExt cx="8077199" cy="1485900"/>
            </a:xfrm>
          </p:grpSpPr>
          <p:pic>
            <p:nvPicPr>
              <p:cNvPr id="52237" name="Picture 13"/>
              <p:cNvPicPr>
                <a:picLocks noChangeAspect="1" noChangeArrowheads="1"/>
              </p:cNvPicPr>
              <p:nvPr/>
            </p:nvPicPr>
            <p:blipFill>
              <a:blip r:embed="rId10" cstate="print"/>
              <a:srcRect/>
              <a:stretch>
                <a:fillRect/>
              </a:stretch>
            </p:blipFill>
            <p:spPr bwMode="auto">
              <a:xfrm>
                <a:off x="4752975" y="4000500"/>
                <a:ext cx="4048124" cy="8511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52238" name="Picture 14"/>
              <p:cNvPicPr>
                <a:picLocks noChangeAspect="1" noChangeArrowheads="1"/>
              </p:cNvPicPr>
              <p:nvPr/>
            </p:nvPicPr>
            <p:blipFill>
              <a:blip r:embed="rId11" cstate="print"/>
              <a:srcRect/>
              <a:stretch>
                <a:fillRect/>
              </a:stretch>
            </p:blipFill>
            <p:spPr bwMode="auto">
              <a:xfrm>
                <a:off x="2843214" y="4867275"/>
                <a:ext cx="3128962" cy="6191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52239" name="Picture 15"/>
              <p:cNvPicPr>
                <a:picLocks noChangeAspect="1" noChangeArrowheads="1"/>
              </p:cNvPicPr>
              <p:nvPr/>
            </p:nvPicPr>
            <p:blipFill>
              <a:blip r:embed="rId12" cstate="print"/>
              <a:srcRect/>
              <a:stretch>
                <a:fillRect/>
              </a:stretch>
            </p:blipFill>
            <p:spPr bwMode="auto">
              <a:xfrm>
                <a:off x="723900" y="4010025"/>
                <a:ext cx="4038600" cy="838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pic>
          <p:nvPicPr>
            <p:cNvPr id="83" name="图片 1"/>
            <p:cNvPicPr>
              <a:picLocks noChangeAspect="1" noChangeArrowheads="1"/>
            </p:cNvPicPr>
            <p:nvPr/>
          </p:nvPicPr>
          <p:blipFill>
            <a:blip r:embed="rId1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237446" y="4000269"/>
              <a:ext cx="436562" cy="5540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52243" name="Picture 19"/>
          <p:cNvPicPr>
            <a:picLocks noChangeAspect="1" noChangeArrowheads="1"/>
          </p:cNvPicPr>
          <p:nvPr/>
        </p:nvPicPr>
        <p:blipFill>
          <a:blip r:embed="rId14" cstate="print">
            <a:duotone>
              <a:prstClr val="black"/>
              <a:schemeClr val="accent5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481013" y="5505450"/>
            <a:ext cx="74580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2244" name="Picture 20"/>
          <p:cNvPicPr>
            <a:picLocks noChangeAspect="1" noChangeArrowheads="1"/>
          </p:cNvPicPr>
          <p:nvPr/>
        </p:nvPicPr>
        <p:blipFill>
          <a:blip r:embed="rId15" cstate="print">
            <a:duotone>
              <a:prstClr val="black"/>
              <a:schemeClr val="accent6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2581275" y="6110288"/>
            <a:ext cx="268605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609954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52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52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52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0105" y="896803"/>
            <a:ext cx="8795320" cy="4678451"/>
          </a:xfrm>
        </p:spPr>
        <p:txBody>
          <a:bodyPr/>
          <a:lstStyle/>
          <a:p>
            <a:pPr eaLnBrk="1" hangingPunct="1"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800" b="1" dirty="0"/>
              <a:t>10.3.2 </a:t>
            </a:r>
            <a:r>
              <a:rPr lang="zh-CN" altLang="en-US" sz="2800" b="1" dirty="0"/>
              <a:t>平衡二叉树</a:t>
            </a:r>
            <a:r>
              <a:rPr lang="en-US" altLang="zh-CN" sz="2800" b="1" dirty="0"/>
              <a:t>(</a:t>
            </a:r>
            <a:r>
              <a:rPr lang="en-US" altLang="zh-CN" sz="2400" b="1" dirty="0">
                <a:solidFill>
                  <a:srgbClr val="0000FF"/>
                </a:solidFill>
              </a:rPr>
              <a:t>Self-Balancing Binary Search Tree</a:t>
            </a:r>
            <a:r>
              <a:rPr lang="en-US" altLang="zh-CN" sz="2800" b="1" dirty="0"/>
              <a:t>) (</a:t>
            </a:r>
            <a:r>
              <a:rPr lang="zh-CN" altLang="en-US" sz="2800" b="1" dirty="0"/>
              <a:t>也</a:t>
            </a:r>
            <a:endParaRPr lang="en-US" altLang="zh-CN" sz="2800" b="1" dirty="0"/>
          </a:p>
          <a:p>
            <a:pPr marL="0" indent="0" eaLnBrk="1" hangingPunct="1">
              <a:spcBef>
                <a:spcPct val="0"/>
              </a:spcBef>
              <a:buClr>
                <a:srgbClr val="FF0000"/>
              </a:buClr>
              <a:buNone/>
            </a:pPr>
            <a:r>
              <a:rPr lang="en-US" altLang="zh-CN" sz="2800" b="1" dirty="0"/>
              <a:t>                </a:t>
            </a:r>
            <a:r>
              <a:rPr lang="zh-CN" altLang="en-US" sz="2800" b="1" dirty="0"/>
              <a:t>称</a:t>
            </a:r>
            <a:r>
              <a:rPr lang="en-US" altLang="zh-CN" sz="2800" b="1" dirty="0"/>
              <a:t>: </a:t>
            </a:r>
            <a:r>
              <a:rPr lang="en-US" altLang="zh-CN" sz="2800" b="1" dirty="0">
                <a:solidFill>
                  <a:srgbClr val="FF0000"/>
                </a:solidFill>
              </a:rPr>
              <a:t>AVL</a:t>
            </a:r>
            <a:r>
              <a:rPr lang="zh-CN" altLang="en-US" sz="2800" b="1" dirty="0">
                <a:solidFill>
                  <a:srgbClr val="FF0000"/>
                </a:solidFill>
              </a:rPr>
              <a:t>树</a:t>
            </a:r>
            <a:r>
              <a:rPr lang="en-US" altLang="zh-CN" sz="2800" b="1" dirty="0"/>
              <a:t>)</a:t>
            </a:r>
          </a:p>
          <a:p>
            <a:pPr marL="0" indent="0" eaLnBrk="1" hangingPunct="1">
              <a:spcBef>
                <a:spcPct val="0"/>
              </a:spcBef>
              <a:buClr>
                <a:srgbClr val="FF0000"/>
              </a:buClr>
              <a:buNone/>
            </a:pPr>
            <a:endParaRPr lang="en-US" altLang="zh-CN" sz="2800" b="1" dirty="0"/>
          </a:p>
          <a:p>
            <a:pPr marL="0" indent="0" eaLnBrk="1" hangingPunct="1">
              <a:spcBef>
                <a:spcPct val="0"/>
              </a:spcBef>
              <a:buClr>
                <a:srgbClr val="FF0000"/>
              </a:buClr>
              <a:buNone/>
            </a:pPr>
            <a:endParaRPr lang="zh-CN" altLang="en-US" sz="2800" b="1" dirty="0"/>
          </a:p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/>
              <a:t>定义：</a:t>
            </a:r>
            <a:r>
              <a:rPr lang="zh-CN" altLang="en-US" sz="2400" dirty="0"/>
              <a:t>平衡二叉树是一棵二叉排序树，或者为空，</a:t>
            </a:r>
          </a:p>
          <a:p>
            <a:pPr marL="495300" indent="-495300"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                 或者满足以下条件：</a:t>
            </a:r>
          </a:p>
          <a:p>
            <a:pPr marL="495300" indent="-495300"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             </a:t>
            </a:r>
            <a:r>
              <a:rPr lang="en-US" altLang="zh-CN" sz="2400" dirty="0"/>
              <a:t>1) </a:t>
            </a:r>
            <a:r>
              <a:rPr lang="zh-CN" altLang="en-US" sz="2400" dirty="0"/>
              <a:t>左右子树高度差的绝对值不大于</a:t>
            </a:r>
            <a:r>
              <a:rPr lang="en-US" altLang="zh-CN" sz="2400" dirty="0"/>
              <a:t>1</a:t>
            </a:r>
            <a:r>
              <a:rPr lang="zh-CN" altLang="en-US" sz="2400" dirty="0"/>
              <a:t>；</a:t>
            </a:r>
          </a:p>
          <a:p>
            <a:pPr marL="495300" indent="-495300"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             </a:t>
            </a:r>
            <a:r>
              <a:rPr lang="en-US" altLang="zh-CN" sz="2400" dirty="0"/>
              <a:t>2) </a:t>
            </a:r>
            <a:r>
              <a:rPr lang="zh-CN" altLang="en-US" sz="2400" dirty="0"/>
              <a:t>左右子树都是平衡二叉树。</a:t>
            </a:r>
          </a:p>
          <a:p>
            <a:pPr eaLnBrk="1" hangingPunct="1">
              <a:spcBef>
                <a:spcPts val="1200"/>
              </a:spcBef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rgbClr val="FF0000"/>
                </a:solidFill>
              </a:rPr>
              <a:t>平衡因子：</a:t>
            </a:r>
          </a:p>
          <a:p>
            <a:pPr marL="495300" indent="-495300" eaLnBrk="1" hangingPunct="1"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zh-CN" altLang="en-US" sz="2400" dirty="0"/>
              <a:t>            左子树的高度减去右子树的高度，</a:t>
            </a:r>
          </a:p>
          <a:p>
            <a:pPr eaLnBrk="1" hangingPunct="1">
              <a:spcBef>
                <a:spcPts val="1200"/>
              </a:spcBef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/>
              <a:t>显然，在平衡二叉树中，</a:t>
            </a:r>
          </a:p>
          <a:p>
            <a:pPr marL="495300" indent="-495300" eaLnBrk="1" hangingPunct="1"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zh-CN" altLang="en-US" sz="2400" dirty="0"/>
              <a:t>    每个结点的平衡因子的值为</a:t>
            </a:r>
            <a:r>
              <a:rPr lang="en-US" altLang="zh-CN" sz="2400" dirty="0"/>
              <a:t>-1</a:t>
            </a:r>
            <a:r>
              <a:rPr lang="zh-CN" altLang="en-US" sz="2400" dirty="0"/>
              <a:t>，</a:t>
            </a:r>
            <a:r>
              <a:rPr lang="en-US" altLang="zh-CN" sz="2400" dirty="0"/>
              <a:t>0</a:t>
            </a:r>
            <a:r>
              <a:rPr lang="zh-CN" altLang="en-US" sz="2400" dirty="0"/>
              <a:t>或</a:t>
            </a:r>
            <a:r>
              <a:rPr lang="en-US" altLang="zh-CN" sz="2400" dirty="0"/>
              <a:t>1</a:t>
            </a:r>
            <a:r>
              <a:rPr lang="zh-CN" altLang="en-US" sz="2400" dirty="0"/>
              <a:t>。</a:t>
            </a:r>
          </a:p>
          <a:p>
            <a:pPr marL="495300" indent="-495300"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   </a:t>
            </a:r>
            <a:endParaRPr lang="zh-CN" altLang="en-US" sz="2400" b="1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47</a:t>
            </a:fld>
            <a:endParaRPr lang="zh-CN" altLang="en-US" dirty="0"/>
          </a:p>
        </p:txBody>
      </p:sp>
      <p:grpSp>
        <p:nvGrpSpPr>
          <p:cNvPr id="6" name="组合 114"/>
          <p:cNvGrpSpPr/>
          <p:nvPr/>
        </p:nvGrpSpPr>
        <p:grpSpPr>
          <a:xfrm>
            <a:off x="-396552" y="76388"/>
            <a:ext cx="6775654" cy="679510"/>
            <a:chOff x="-99459" y="3320919"/>
            <a:chExt cx="7301815" cy="722576"/>
          </a:xfrm>
        </p:grpSpPr>
        <p:grpSp>
          <p:nvGrpSpPr>
            <p:cNvPr id="7" name="组合 105"/>
            <p:cNvGrpSpPr/>
            <p:nvPr/>
          </p:nvGrpSpPr>
          <p:grpSpPr>
            <a:xfrm>
              <a:off x="-99459" y="3320919"/>
              <a:ext cx="7301815" cy="722576"/>
              <a:chOff x="-99459" y="3320919"/>
              <a:chExt cx="7301815" cy="722576"/>
            </a:xfrm>
          </p:grpSpPr>
          <p:sp>
            <p:nvSpPr>
              <p:cNvPr id="9" name="Freeform 5"/>
              <p:cNvSpPr>
                <a:spLocks/>
              </p:cNvSpPr>
              <p:nvPr/>
            </p:nvSpPr>
            <p:spPr bwMode="auto">
              <a:xfrm>
                <a:off x="933887" y="3380765"/>
                <a:ext cx="801702" cy="662730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EA6103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  <p:sp>
            <p:nvSpPr>
              <p:cNvPr id="10" name="TextBox 6"/>
              <p:cNvSpPr txBox="1">
                <a:spLocks noChangeArrowheads="1"/>
              </p:cNvSpPr>
              <p:nvPr/>
            </p:nvSpPr>
            <p:spPr bwMode="auto">
              <a:xfrm>
                <a:off x="-99459" y="3320919"/>
                <a:ext cx="7301815" cy="687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10.3 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树表的查找</a:t>
                </a:r>
              </a:p>
            </p:txBody>
          </p:sp>
        </p:grpSp>
        <p:pic>
          <p:nvPicPr>
            <p:cNvPr id="8" name="图片 7" descr="12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5929" y="3530600"/>
              <a:ext cx="446172" cy="431048"/>
            </a:xfrm>
            <a:prstGeom prst="rect">
              <a:avLst/>
            </a:prstGeom>
          </p:spPr>
        </p:pic>
      </p:grpSp>
      <p:grpSp>
        <p:nvGrpSpPr>
          <p:cNvPr id="4" name="组合 3"/>
          <p:cNvGrpSpPr/>
          <p:nvPr/>
        </p:nvGrpSpPr>
        <p:grpSpPr>
          <a:xfrm>
            <a:off x="4211960" y="1412777"/>
            <a:ext cx="4864001" cy="1091952"/>
            <a:chOff x="5405566" y="4404207"/>
            <a:chExt cx="4864001" cy="1634795"/>
          </a:xfrm>
        </p:grpSpPr>
        <p:sp>
          <p:nvSpPr>
            <p:cNvPr id="11" name="圆角矩形 10"/>
            <p:cNvSpPr/>
            <p:nvPr/>
          </p:nvSpPr>
          <p:spPr>
            <a:xfrm>
              <a:off x="5405566" y="4404207"/>
              <a:ext cx="4824536" cy="1617080"/>
            </a:xfrm>
            <a:prstGeom prst="roundRect">
              <a:avLst/>
            </a:prstGeom>
            <a:gradFill>
              <a:gsLst>
                <a:gs pos="100000">
                  <a:schemeClr val="bg1">
                    <a:lumMod val="96000"/>
                  </a:schemeClr>
                </a:gs>
                <a:gs pos="0">
                  <a:schemeClr val="bg1">
                    <a:lumMod val="88000"/>
                  </a:schemeClr>
                </a:gs>
              </a:gsLst>
              <a:lin ang="5400000" scaled="0"/>
            </a:gradFill>
            <a:ln w="22225"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5400000" scaled="0"/>
                <a:tileRect/>
              </a:gradFill>
            </a:ln>
            <a:effectLst>
              <a:outerShdw blurRad="127000" dist="50800" dir="27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>
                <a:solidFill>
                  <a:srgbClr val="FF0000"/>
                </a:solidFill>
              </a:endParaRPr>
            </a:p>
          </p:txBody>
        </p:sp>
        <p:sp>
          <p:nvSpPr>
            <p:cNvPr id="3" name="矩形 2"/>
            <p:cNvSpPr/>
            <p:nvPr/>
          </p:nvSpPr>
          <p:spPr>
            <a:xfrm>
              <a:off x="5463729" y="4426266"/>
              <a:ext cx="4805838" cy="161273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600" b="1" dirty="0">
                  <a:solidFill>
                    <a:srgbClr val="FF0000"/>
                  </a:solidFill>
                  <a:latin typeface="Verdana" panose="020B0604030504040204" pitchFamily="34" charset="0"/>
                </a:rPr>
                <a:t>AVL </a:t>
              </a:r>
              <a:r>
                <a:rPr lang="zh-CN" altLang="en-US" sz="1600" b="1" dirty="0">
                  <a:solidFill>
                    <a:srgbClr val="FF0000"/>
                  </a:solidFill>
                  <a:latin typeface="Verdana" panose="020B0604030504040204" pitchFamily="34" charset="0"/>
                </a:rPr>
                <a:t>树得名于它的发明者 </a:t>
              </a:r>
              <a:r>
                <a:rPr lang="en-US" altLang="zh-CN" sz="1600" b="1" u="sng" dirty="0">
                  <a:solidFill>
                    <a:srgbClr val="FF0000"/>
                  </a:solidFill>
                  <a:latin typeface="Verdana" panose="020B0604030504040204" pitchFamily="34" charset="0"/>
                  <a:hlinkClick r:id="rId3"/>
                </a:rPr>
                <a:t>G. M. Adelson-</a:t>
              </a:r>
              <a:r>
                <a:rPr lang="en-US" altLang="zh-CN" sz="1600" b="1" u="sng" dirty="0" err="1">
                  <a:solidFill>
                    <a:srgbClr val="FF0000"/>
                  </a:solidFill>
                  <a:latin typeface="Verdana" panose="020B0604030504040204" pitchFamily="34" charset="0"/>
                  <a:hlinkClick r:id="rId3"/>
                </a:rPr>
                <a:t>Velsky</a:t>
              </a:r>
              <a:r>
                <a:rPr lang="en-US" altLang="zh-CN" sz="1600" b="1" dirty="0">
                  <a:solidFill>
                    <a:srgbClr val="FF0000"/>
                  </a:solidFill>
                  <a:latin typeface="Verdana" panose="020B0604030504040204" pitchFamily="34" charset="0"/>
                </a:rPr>
                <a:t> </a:t>
              </a:r>
              <a:r>
                <a:rPr lang="zh-CN" altLang="en-US" sz="1600" b="1" dirty="0">
                  <a:solidFill>
                    <a:srgbClr val="FF0000"/>
                  </a:solidFill>
                  <a:latin typeface="Verdana" panose="020B0604030504040204" pitchFamily="34" charset="0"/>
                </a:rPr>
                <a:t>和 </a:t>
              </a:r>
              <a:r>
                <a:rPr lang="en-US" altLang="zh-CN" sz="1600" b="1" u="sng" dirty="0" err="1">
                  <a:solidFill>
                    <a:srgbClr val="FF0000"/>
                  </a:solidFill>
                  <a:latin typeface="Verdana" panose="020B0604030504040204" pitchFamily="34" charset="0"/>
                  <a:hlinkClick r:id="rId4"/>
                </a:rPr>
                <a:t>Evgenii</a:t>
              </a:r>
              <a:r>
                <a:rPr lang="en-US" altLang="zh-CN" sz="1600" b="1" u="sng" dirty="0">
                  <a:solidFill>
                    <a:srgbClr val="FF0000"/>
                  </a:solidFill>
                  <a:latin typeface="Verdana" panose="020B0604030504040204" pitchFamily="34" charset="0"/>
                  <a:hlinkClick r:id="rId4"/>
                </a:rPr>
                <a:t> Landis</a:t>
              </a:r>
              <a:r>
                <a:rPr lang="zh-CN" altLang="en-US" sz="1600" b="1" dirty="0">
                  <a:solidFill>
                    <a:srgbClr val="FF0000"/>
                  </a:solidFill>
                  <a:latin typeface="Verdana" panose="020B0604030504040204" pitchFamily="34" charset="0"/>
                </a:rPr>
                <a:t>，他们在</a:t>
              </a:r>
              <a:r>
                <a:rPr lang="en-US" altLang="zh-CN" sz="1600" b="1" dirty="0">
                  <a:solidFill>
                    <a:srgbClr val="FF0000"/>
                  </a:solidFill>
                  <a:latin typeface="Verdana" panose="020B0604030504040204" pitchFamily="34" charset="0"/>
                </a:rPr>
                <a:t>1962</a:t>
              </a:r>
              <a:r>
                <a:rPr lang="zh-CN" altLang="en-US" sz="1600" b="1" dirty="0">
                  <a:solidFill>
                    <a:srgbClr val="FF0000"/>
                  </a:solidFill>
                  <a:latin typeface="Verdana" panose="020B0604030504040204" pitchFamily="34" charset="0"/>
                </a:rPr>
                <a:t>年的论文</a:t>
              </a:r>
              <a:r>
                <a:rPr lang="en-US" altLang="zh-CN" sz="1600" b="1" dirty="0">
                  <a:solidFill>
                    <a:srgbClr val="FF0000"/>
                  </a:solidFill>
                  <a:latin typeface="Verdana" panose="020B0604030504040204" pitchFamily="34" charset="0"/>
                </a:rPr>
                <a:t>《An algorithm for the organization of information》</a:t>
              </a:r>
              <a:r>
                <a:rPr lang="zh-CN" altLang="en-US" sz="1600" b="1" dirty="0">
                  <a:solidFill>
                    <a:srgbClr val="FF0000"/>
                  </a:solidFill>
                  <a:latin typeface="Verdana" panose="020B0604030504040204" pitchFamily="34" charset="0"/>
                </a:rPr>
                <a:t>中公开了这一数据结构。</a:t>
              </a:r>
              <a:endParaRPr lang="zh-CN" altLang="en-US" sz="1600" b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01779201"/>
      </p:ext>
    </p:extLst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7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7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78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378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378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378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378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1" grpId="0" uiExpand="1" build="p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256" y="1700808"/>
            <a:ext cx="8229600" cy="4678451"/>
          </a:xfrm>
        </p:spPr>
        <p:txBody>
          <a:bodyPr/>
          <a:lstStyle/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/>
              <a:t>如何构造平衡二叉树（ＡＶＬ树）</a:t>
            </a:r>
          </a:p>
          <a:p>
            <a:pPr marL="495300" indent="-495300"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       在平衡的二叉排序树中插入一个结点，当出现不平衡时，  根据不平衡情况分四种调整方法</a:t>
            </a:r>
          </a:p>
          <a:p>
            <a:pPr marL="495300" indent="-495300"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              </a:t>
            </a:r>
            <a:r>
              <a:rPr lang="en-US" altLang="zh-CN" sz="2400" dirty="0"/>
              <a:t>——</a:t>
            </a:r>
            <a:r>
              <a:rPr lang="zh-CN" altLang="en-US" sz="2400" dirty="0"/>
              <a:t>假设</a:t>
            </a:r>
            <a:r>
              <a:rPr lang="zh-CN" altLang="en-US" sz="2400" dirty="0">
                <a:solidFill>
                  <a:srgbClr val="FF0000"/>
                </a:solidFill>
              </a:rPr>
              <a:t>最低不平衡结点</a:t>
            </a:r>
            <a:r>
              <a:rPr lang="zh-CN" altLang="en-US" sz="2400" dirty="0"/>
              <a:t>为</a:t>
            </a:r>
            <a:r>
              <a:rPr lang="en-US" altLang="zh-CN" sz="2400" dirty="0"/>
              <a:t>A</a:t>
            </a:r>
            <a:r>
              <a:rPr lang="zh-CN" altLang="en-US" sz="2400" dirty="0"/>
              <a:t>，根据新插入结点与</a:t>
            </a:r>
            <a:r>
              <a:rPr lang="en-US" altLang="zh-CN" sz="2400" dirty="0"/>
              <a:t>A  </a:t>
            </a:r>
            <a:r>
              <a:rPr lang="zh-CN" altLang="en-US" sz="2400" dirty="0"/>
              <a:t>的位置关系来命名调整方法：</a:t>
            </a:r>
          </a:p>
          <a:p>
            <a:pPr marL="495300" indent="-495300" eaLnBrk="1" hangingPunct="1"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FF0000"/>
                </a:solidFill>
              </a:rPr>
              <a:t>        </a:t>
            </a:r>
            <a:r>
              <a:rPr lang="en-US" altLang="zh-CN" sz="2400" b="1" dirty="0">
                <a:solidFill>
                  <a:srgbClr val="FF0000"/>
                </a:solidFill>
              </a:rPr>
              <a:t>LL</a:t>
            </a:r>
            <a:r>
              <a:rPr lang="zh-CN" altLang="en-US" sz="2400" b="1" dirty="0">
                <a:solidFill>
                  <a:srgbClr val="FF0000"/>
                </a:solidFill>
              </a:rPr>
              <a:t>型：</a:t>
            </a:r>
            <a:r>
              <a:rPr lang="zh-CN" altLang="en-US" sz="2400" dirty="0"/>
              <a:t>新插入结点在</a:t>
            </a:r>
            <a:r>
              <a:rPr lang="en-US" altLang="zh-CN" sz="2400" dirty="0"/>
              <a:t>A</a:t>
            </a:r>
            <a:r>
              <a:rPr lang="zh-CN" altLang="en-US" sz="2400" dirty="0"/>
              <a:t>的左孩子</a:t>
            </a:r>
            <a:r>
              <a:rPr lang="en-US" altLang="zh-CN" sz="2400" dirty="0"/>
              <a:t>(L)</a:t>
            </a:r>
            <a:r>
              <a:rPr lang="zh-CN" altLang="en-US" sz="2400" dirty="0"/>
              <a:t>的左子树</a:t>
            </a:r>
            <a:r>
              <a:rPr lang="en-US" altLang="zh-CN" sz="2400" dirty="0"/>
              <a:t>(L)</a:t>
            </a:r>
            <a:r>
              <a:rPr lang="zh-CN" altLang="en-US" sz="2400" dirty="0"/>
              <a:t>中；</a:t>
            </a:r>
          </a:p>
          <a:p>
            <a:pPr marL="495300" indent="-495300"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        </a:t>
            </a:r>
            <a:r>
              <a:rPr lang="en-US" altLang="zh-CN" sz="2400" b="1" dirty="0">
                <a:solidFill>
                  <a:srgbClr val="FF0000"/>
                </a:solidFill>
              </a:rPr>
              <a:t>LR</a:t>
            </a:r>
            <a:r>
              <a:rPr lang="zh-CN" altLang="en-US" sz="2400" b="1" dirty="0">
                <a:solidFill>
                  <a:srgbClr val="FF0000"/>
                </a:solidFill>
              </a:rPr>
              <a:t>型：</a:t>
            </a:r>
            <a:r>
              <a:rPr lang="zh-CN" altLang="en-US" sz="2400" dirty="0"/>
              <a:t>新插入结点在</a:t>
            </a:r>
            <a:r>
              <a:rPr lang="en-US" altLang="zh-CN" sz="2400" dirty="0"/>
              <a:t>A</a:t>
            </a:r>
            <a:r>
              <a:rPr lang="zh-CN" altLang="en-US" sz="2400" dirty="0"/>
              <a:t>的左孩子</a:t>
            </a:r>
            <a:r>
              <a:rPr lang="en-US" altLang="zh-CN" sz="2400" dirty="0"/>
              <a:t>(L)</a:t>
            </a:r>
            <a:r>
              <a:rPr lang="zh-CN" altLang="en-US" sz="2400" dirty="0"/>
              <a:t>的右子树</a:t>
            </a:r>
            <a:r>
              <a:rPr lang="en-US" altLang="zh-CN" sz="2400" dirty="0"/>
              <a:t>(R)</a:t>
            </a:r>
            <a:r>
              <a:rPr lang="zh-CN" altLang="en-US" sz="2400" dirty="0"/>
              <a:t>中；</a:t>
            </a:r>
          </a:p>
          <a:p>
            <a:pPr marL="495300" indent="-495300"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        </a:t>
            </a:r>
            <a:r>
              <a:rPr lang="en-US" altLang="zh-CN" sz="2400" b="1" dirty="0">
                <a:solidFill>
                  <a:srgbClr val="FF0000"/>
                </a:solidFill>
              </a:rPr>
              <a:t>RL</a:t>
            </a:r>
            <a:r>
              <a:rPr lang="zh-CN" altLang="en-US" sz="2400" b="1" dirty="0">
                <a:solidFill>
                  <a:srgbClr val="FF0000"/>
                </a:solidFill>
              </a:rPr>
              <a:t>型：</a:t>
            </a:r>
            <a:r>
              <a:rPr lang="zh-CN" altLang="en-US" sz="2400" dirty="0"/>
              <a:t>新插入结点在</a:t>
            </a:r>
            <a:r>
              <a:rPr lang="en-US" altLang="zh-CN" sz="2400" dirty="0"/>
              <a:t>A</a:t>
            </a:r>
            <a:r>
              <a:rPr lang="zh-CN" altLang="en-US" sz="2400" dirty="0"/>
              <a:t>的右孩子</a:t>
            </a:r>
            <a:r>
              <a:rPr lang="en-US" altLang="zh-CN" sz="2400" dirty="0"/>
              <a:t>(R)</a:t>
            </a:r>
            <a:r>
              <a:rPr lang="zh-CN" altLang="en-US" sz="2400" dirty="0"/>
              <a:t>的左子树</a:t>
            </a:r>
            <a:r>
              <a:rPr lang="en-US" altLang="zh-CN" sz="2400" dirty="0"/>
              <a:t>(L)</a:t>
            </a:r>
            <a:r>
              <a:rPr lang="zh-CN" altLang="en-US" sz="2400" dirty="0"/>
              <a:t>中；</a:t>
            </a:r>
          </a:p>
          <a:p>
            <a:pPr marL="495300" indent="-495300"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        </a:t>
            </a:r>
            <a:r>
              <a:rPr lang="en-US" altLang="zh-CN" sz="2400" b="1" dirty="0">
                <a:solidFill>
                  <a:srgbClr val="FF0000"/>
                </a:solidFill>
              </a:rPr>
              <a:t>RR</a:t>
            </a:r>
            <a:r>
              <a:rPr lang="zh-CN" altLang="en-US" sz="2400" b="1" dirty="0">
                <a:solidFill>
                  <a:srgbClr val="FF0000"/>
                </a:solidFill>
              </a:rPr>
              <a:t>型：</a:t>
            </a:r>
            <a:r>
              <a:rPr lang="zh-CN" altLang="en-US" sz="2400" dirty="0"/>
              <a:t>新插入结点在</a:t>
            </a:r>
            <a:r>
              <a:rPr lang="en-US" altLang="zh-CN" sz="2400" dirty="0"/>
              <a:t>A</a:t>
            </a:r>
            <a:r>
              <a:rPr lang="zh-CN" altLang="en-US" sz="2400" dirty="0"/>
              <a:t>的右孩子</a:t>
            </a:r>
            <a:r>
              <a:rPr lang="en-US" altLang="zh-CN" sz="2400" dirty="0"/>
              <a:t>(R)</a:t>
            </a:r>
            <a:r>
              <a:rPr lang="zh-CN" altLang="en-US" sz="2400" dirty="0"/>
              <a:t>的右子树</a:t>
            </a:r>
            <a:r>
              <a:rPr lang="en-US" altLang="zh-CN" sz="2400" dirty="0"/>
              <a:t>(R)</a:t>
            </a:r>
            <a:r>
              <a:rPr lang="zh-CN" altLang="en-US" sz="2400" b="1" dirty="0"/>
              <a:t>中。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48</a:t>
            </a:fld>
            <a:endParaRPr lang="zh-CN" altLang="en-US" dirty="0"/>
          </a:p>
        </p:txBody>
      </p:sp>
      <p:grpSp>
        <p:nvGrpSpPr>
          <p:cNvPr id="6" name="组合 114"/>
          <p:cNvGrpSpPr/>
          <p:nvPr/>
        </p:nvGrpSpPr>
        <p:grpSpPr>
          <a:xfrm>
            <a:off x="-396552" y="76388"/>
            <a:ext cx="6775654" cy="679510"/>
            <a:chOff x="-99459" y="3320919"/>
            <a:chExt cx="7301815" cy="722576"/>
          </a:xfrm>
        </p:grpSpPr>
        <p:grpSp>
          <p:nvGrpSpPr>
            <p:cNvPr id="7" name="组合 105"/>
            <p:cNvGrpSpPr/>
            <p:nvPr/>
          </p:nvGrpSpPr>
          <p:grpSpPr>
            <a:xfrm>
              <a:off x="-99459" y="3320919"/>
              <a:ext cx="7301815" cy="722576"/>
              <a:chOff x="-99459" y="3320919"/>
              <a:chExt cx="7301815" cy="722576"/>
            </a:xfrm>
          </p:grpSpPr>
          <p:sp>
            <p:nvSpPr>
              <p:cNvPr id="9" name="Freeform 5"/>
              <p:cNvSpPr>
                <a:spLocks/>
              </p:cNvSpPr>
              <p:nvPr/>
            </p:nvSpPr>
            <p:spPr bwMode="auto">
              <a:xfrm>
                <a:off x="933887" y="3380765"/>
                <a:ext cx="801702" cy="662730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EA6103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  <p:sp>
            <p:nvSpPr>
              <p:cNvPr id="10" name="TextBox 6"/>
              <p:cNvSpPr txBox="1">
                <a:spLocks noChangeArrowheads="1"/>
              </p:cNvSpPr>
              <p:nvPr/>
            </p:nvSpPr>
            <p:spPr bwMode="auto">
              <a:xfrm>
                <a:off x="-99459" y="3320919"/>
                <a:ext cx="7301815" cy="687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10.3 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树表的查找</a:t>
                </a:r>
              </a:p>
            </p:txBody>
          </p:sp>
        </p:grpSp>
        <p:pic>
          <p:nvPicPr>
            <p:cNvPr id="8" name="图片 7" descr="12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5929" y="3530600"/>
              <a:ext cx="446172" cy="431048"/>
            </a:xfrm>
            <a:prstGeom prst="rect">
              <a:avLst/>
            </a:prstGeom>
          </p:spPr>
        </p:pic>
      </p:grpSp>
      <p:sp>
        <p:nvSpPr>
          <p:cNvPr id="4" name="矩形 3"/>
          <p:cNvSpPr/>
          <p:nvPr/>
        </p:nvSpPr>
        <p:spPr>
          <a:xfrm>
            <a:off x="323528" y="1046488"/>
            <a:ext cx="34724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800" b="1" dirty="0"/>
              <a:t>10.3.2 </a:t>
            </a:r>
            <a:r>
              <a:rPr lang="zh-CN" altLang="en-US" sz="2800" b="1" dirty="0"/>
              <a:t>平衡二叉树 </a:t>
            </a:r>
          </a:p>
        </p:txBody>
      </p:sp>
    </p:spTree>
    <p:extLst>
      <p:ext uri="{BB962C8B-B14F-4D97-AF65-F5344CB8AC3E}">
        <p14:creationId xmlns:p14="http://schemas.microsoft.com/office/powerpoint/2010/main" val="4180967481"/>
      </p:ext>
    </p:extLst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1768" y="1919174"/>
            <a:ext cx="8229600" cy="4678451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LL</a:t>
            </a:r>
            <a:r>
              <a:rPr lang="zh-CN" altLang="en-US" sz="2000"/>
              <a:t>型（图示）：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118643" y="1701304"/>
            <a:ext cx="1008063" cy="1370013"/>
            <a:chOff x="0" y="0"/>
            <a:chExt cx="635" cy="863"/>
          </a:xfrm>
        </p:grpSpPr>
        <p:sp>
          <p:nvSpPr>
            <p:cNvPr id="38959" name="Oval 5"/>
            <p:cNvSpPr>
              <a:spLocks noChangeArrowheads="1"/>
            </p:cNvSpPr>
            <p:nvPr/>
          </p:nvSpPr>
          <p:spPr bwMode="auto">
            <a:xfrm>
              <a:off x="363" y="0"/>
              <a:ext cx="272" cy="273"/>
            </a:xfrm>
            <a:prstGeom prst="ellipse">
              <a:avLst/>
            </a:prstGeom>
            <a:noFill/>
            <a:ln w="38100">
              <a:solidFill>
                <a:srgbClr val="00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38960" name="Line 6"/>
            <p:cNvSpPr>
              <a:spLocks noChangeShapeType="1"/>
            </p:cNvSpPr>
            <p:nvPr/>
          </p:nvSpPr>
          <p:spPr bwMode="auto">
            <a:xfrm flipH="1">
              <a:off x="181" y="228"/>
              <a:ext cx="227" cy="362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61" name="Oval 7"/>
            <p:cNvSpPr>
              <a:spLocks noChangeArrowheads="1"/>
            </p:cNvSpPr>
            <p:nvPr/>
          </p:nvSpPr>
          <p:spPr bwMode="auto">
            <a:xfrm>
              <a:off x="0" y="590"/>
              <a:ext cx="272" cy="273"/>
            </a:xfrm>
            <a:prstGeom prst="ellipse">
              <a:avLst/>
            </a:prstGeom>
            <a:noFill/>
            <a:ln w="38100">
              <a:solidFill>
                <a:srgbClr val="00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B</a:t>
              </a:r>
            </a:p>
          </p:txBody>
        </p:sp>
      </p:grpSp>
      <p:sp>
        <p:nvSpPr>
          <p:cNvPr id="39944" name="Oval 8"/>
          <p:cNvSpPr>
            <a:spLocks noChangeArrowheads="1"/>
          </p:cNvSpPr>
          <p:nvPr/>
        </p:nvSpPr>
        <p:spPr bwMode="auto">
          <a:xfrm>
            <a:off x="1397918" y="3572967"/>
            <a:ext cx="431800" cy="433387"/>
          </a:xfrm>
          <a:prstGeom prst="ellips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C</a:t>
            </a:r>
          </a:p>
        </p:txBody>
      </p:sp>
      <p:sp>
        <p:nvSpPr>
          <p:cNvPr id="39945" name="Line 9"/>
          <p:cNvSpPr>
            <a:spLocks noChangeShapeType="1"/>
          </p:cNvSpPr>
          <p:nvPr/>
        </p:nvSpPr>
        <p:spPr bwMode="auto">
          <a:xfrm flipH="1">
            <a:off x="1758281" y="2996704"/>
            <a:ext cx="431800" cy="646113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46" name="AutoShape 10"/>
          <p:cNvSpPr>
            <a:spLocks noChangeArrowheads="1"/>
          </p:cNvSpPr>
          <p:nvPr/>
        </p:nvSpPr>
        <p:spPr bwMode="auto">
          <a:xfrm>
            <a:off x="4493543" y="2709367"/>
            <a:ext cx="936625" cy="577850"/>
          </a:xfrm>
          <a:prstGeom prst="rightArrow">
            <a:avLst>
              <a:gd name="adj1" fmla="val 50000"/>
              <a:gd name="adj2" fmla="val 40522"/>
            </a:avLst>
          </a:prstGeom>
          <a:noFill/>
          <a:ln w="28575">
            <a:solidFill>
              <a:srgbClr val="CC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LL</a:t>
            </a:r>
            <a:r>
              <a:rPr lang="zh-CN" altLang="en-US">
                <a:ea typeface="宋体" panose="02010600030101010101" pitchFamily="2" charset="-122"/>
              </a:rPr>
              <a:t>型</a:t>
            </a:r>
          </a:p>
        </p:txBody>
      </p:sp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6079456" y="1988642"/>
            <a:ext cx="1008062" cy="1370012"/>
            <a:chOff x="0" y="0"/>
            <a:chExt cx="635" cy="863"/>
          </a:xfrm>
        </p:grpSpPr>
        <p:sp>
          <p:nvSpPr>
            <p:cNvPr id="38956" name="Oval 12"/>
            <p:cNvSpPr>
              <a:spLocks noChangeArrowheads="1"/>
            </p:cNvSpPr>
            <p:nvPr/>
          </p:nvSpPr>
          <p:spPr bwMode="auto">
            <a:xfrm>
              <a:off x="363" y="0"/>
              <a:ext cx="272" cy="273"/>
            </a:xfrm>
            <a:prstGeom prst="ellipse">
              <a:avLst/>
            </a:prstGeom>
            <a:noFill/>
            <a:ln w="38100">
              <a:solidFill>
                <a:srgbClr val="00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38957" name="Line 13"/>
            <p:cNvSpPr>
              <a:spLocks noChangeShapeType="1"/>
            </p:cNvSpPr>
            <p:nvPr/>
          </p:nvSpPr>
          <p:spPr bwMode="auto">
            <a:xfrm flipH="1">
              <a:off x="181" y="228"/>
              <a:ext cx="227" cy="362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58" name="Oval 14"/>
            <p:cNvSpPr>
              <a:spLocks noChangeArrowheads="1"/>
            </p:cNvSpPr>
            <p:nvPr/>
          </p:nvSpPr>
          <p:spPr bwMode="auto">
            <a:xfrm>
              <a:off x="0" y="590"/>
              <a:ext cx="272" cy="273"/>
            </a:xfrm>
            <a:prstGeom prst="ellipse">
              <a:avLst/>
            </a:prstGeom>
            <a:noFill/>
            <a:ln w="38100">
              <a:solidFill>
                <a:srgbClr val="00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C</a:t>
              </a:r>
            </a:p>
          </p:txBody>
        </p:sp>
      </p:grpSp>
      <p:sp>
        <p:nvSpPr>
          <p:cNvPr id="39951" name="Oval 15"/>
          <p:cNvSpPr>
            <a:spLocks noChangeArrowheads="1"/>
          </p:cNvSpPr>
          <p:nvPr/>
        </p:nvSpPr>
        <p:spPr bwMode="auto">
          <a:xfrm>
            <a:off x="7303418" y="2925267"/>
            <a:ext cx="431800" cy="433387"/>
          </a:xfrm>
          <a:prstGeom prst="ellips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39952" name="Line 16"/>
          <p:cNvSpPr>
            <a:spLocks noChangeShapeType="1"/>
          </p:cNvSpPr>
          <p:nvPr/>
        </p:nvSpPr>
        <p:spPr bwMode="auto">
          <a:xfrm>
            <a:off x="7014493" y="2349004"/>
            <a:ext cx="431800" cy="576263"/>
          </a:xfrm>
          <a:prstGeom prst="line">
            <a:avLst/>
          </a:prstGeom>
          <a:noFill/>
          <a:ln w="38100">
            <a:solidFill>
              <a:srgbClr val="CC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53" name="AutoShape 17"/>
          <p:cNvSpPr>
            <a:spLocks noChangeArrowheads="1"/>
          </p:cNvSpPr>
          <p:nvPr/>
        </p:nvSpPr>
        <p:spPr bwMode="auto">
          <a:xfrm>
            <a:off x="2694906" y="2204542"/>
            <a:ext cx="1008062" cy="863600"/>
          </a:xfrm>
          <a:custGeom>
            <a:avLst/>
            <a:gdLst>
              <a:gd name="T0" fmla="*/ 28210056 w 21600"/>
              <a:gd name="T1" fmla="*/ 345280 h 21600"/>
              <a:gd name="T2" fmla="*/ 4286410 w 21600"/>
              <a:gd name="T3" fmla="*/ 11274339 h 21600"/>
              <a:gd name="T4" fmla="*/ 27160226 w 21600"/>
              <a:gd name="T5" fmla="*/ 4128967 h 21600"/>
              <a:gd name="T6" fmla="*/ 52926526 w 21600"/>
              <a:gd name="T7" fmla="*/ 17264002 h 21600"/>
              <a:gd name="T8" fmla="*/ 44416887 w 21600"/>
              <a:gd name="T9" fmla="*/ 23511032 h 21600"/>
              <a:gd name="T10" fmla="*/ 35905067 w 21600"/>
              <a:gd name="T11" fmla="*/ 17264002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9185" y="10800"/>
                </a:moveTo>
                <a:cubicBezTo>
                  <a:pt x="19185" y="6169"/>
                  <a:pt x="15430" y="2415"/>
                  <a:pt x="10800" y="2415"/>
                </a:cubicBezTo>
                <a:cubicBezTo>
                  <a:pt x="7434" y="2414"/>
                  <a:pt x="4395" y="4427"/>
                  <a:pt x="3080" y="7525"/>
                </a:cubicBezTo>
                <a:lnTo>
                  <a:pt x="857" y="6581"/>
                </a:lnTo>
                <a:cubicBezTo>
                  <a:pt x="2550" y="2591"/>
                  <a:pt x="6465" y="-1"/>
                  <a:pt x="10800" y="0"/>
                </a:cubicBezTo>
                <a:cubicBezTo>
                  <a:pt x="16764" y="0"/>
                  <a:pt x="21599" y="4835"/>
                  <a:pt x="21600" y="10799"/>
                </a:cubicBezTo>
                <a:lnTo>
                  <a:pt x="21600" y="10800"/>
                </a:lnTo>
                <a:lnTo>
                  <a:pt x="24300" y="10800"/>
                </a:lnTo>
                <a:lnTo>
                  <a:pt x="20393" y="14708"/>
                </a:lnTo>
                <a:lnTo>
                  <a:pt x="16485" y="10800"/>
                </a:lnTo>
                <a:lnTo>
                  <a:pt x="19185" y="10800"/>
                </a:lnTo>
                <a:close/>
              </a:path>
            </a:pathLst>
          </a:cu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" name="Group 18"/>
          <p:cNvGrpSpPr>
            <a:grpSpLocks/>
          </p:cNvGrpSpPr>
          <p:nvPr/>
        </p:nvGrpSpPr>
        <p:grpSpPr bwMode="auto">
          <a:xfrm>
            <a:off x="1901156" y="3572967"/>
            <a:ext cx="1008062" cy="1370012"/>
            <a:chOff x="0" y="0"/>
            <a:chExt cx="635" cy="863"/>
          </a:xfrm>
        </p:grpSpPr>
        <p:sp>
          <p:nvSpPr>
            <p:cNvPr id="38953" name="Oval 19"/>
            <p:cNvSpPr>
              <a:spLocks noChangeArrowheads="1"/>
            </p:cNvSpPr>
            <p:nvPr/>
          </p:nvSpPr>
          <p:spPr bwMode="auto">
            <a:xfrm>
              <a:off x="363" y="0"/>
              <a:ext cx="272" cy="273"/>
            </a:xfrm>
            <a:prstGeom prst="ellipse">
              <a:avLst/>
            </a:prstGeom>
            <a:noFill/>
            <a:ln w="38100">
              <a:solidFill>
                <a:srgbClr val="00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38954" name="Line 20"/>
            <p:cNvSpPr>
              <a:spLocks noChangeShapeType="1"/>
            </p:cNvSpPr>
            <p:nvPr/>
          </p:nvSpPr>
          <p:spPr bwMode="auto">
            <a:xfrm flipH="1">
              <a:off x="181" y="228"/>
              <a:ext cx="227" cy="362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55" name="Oval 21"/>
            <p:cNvSpPr>
              <a:spLocks noChangeArrowheads="1"/>
            </p:cNvSpPr>
            <p:nvPr/>
          </p:nvSpPr>
          <p:spPr bwMode="auto">
            <a:xfrm>
              <a:off x="0" y="590"/>
              <a:ext cx="272" cy="273"/>
            </a:xfrm>
            <a:prstGeom prst="ellipse">
              <a:avLst/>
            </a:prstGeom>
            <a:noFill/>
            <a:ln w="38100">
              <a:solidFill>
                <a:srgbClr val="00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B</a:t>
              </a:r>
            </a:p>
          </p:txBody>
        </p:sp>
      </p:grpSp>
      <p:sp>
        <p:nvSpPr>
          <p:cNvPr id="39958" name="Line 22"/>
          <p:cNvSpPr>
            <a:spLocks noChangeShapeType="1"/>
          </p:cNvSpPr>
          <p:nvPr/>
        </p:nvSpPr>
        <p:spPr bwMode="auto">
          <a:xfrm flipH="1">
            <a:off x="1758281" y="4869954"/>
            <a:ext cx="214312" cy="287338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59" name="Rectangle 23"/>
          <p:cNvSpPr>
            <a:spLocks noChangeArrowheads="1"/>
          </p:cNvSpPr>
          <p:nvPr/>
        </p:nvSpPr>
        <p:spPr bwMode="auto">
          <a:xfrm>
            <a:off x="1469356" y="5157292"/>
            <a:ext cx="431800" cy="1223962"/>
          </a:xfrm>
          <a:prstGeom prst="rect">
            <a:avLst/>
          </a:prstGeom>
          <a:noFill/>
          <a:ln w="38100">
            <a:solidFill>
              <a:srgbClr val="0000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B</a:t>
            </a:r>
            <a:r>
              <a:rPr lang="en-US" altLang="zh-CN" baseline="-25000">
                <a:ea typeface="宋体" panose="02010600030101010101" pitchFamily="2" charset="-122"/>
              </a:rPr>
              <a:t>L</a:t>
            </a:r>
          </a:p>
        </p:txBody>
      </p:sp>
      <p:sp>
        <p:nvSpPr>
          <p:cNvPr id="39960" name="Rectangle 24"/>
          <p:cNvSpPr>
            <a:spLocks noChangeArrowheads="1"/>
          </p:cNvSpPr>
          <p:nvPr/>
        </p:nvSpPr>
        <p:spPr bwMode="auto">
          <a:xfrm>
            <a:off x="1469356" y="6381254"/>
            <a:ext cx="431800" cy="144463"/>
          </a:xfrm>
          <a:prstGeom prst="rect">
            <a:avLst/>
          </a:prstGeom>
          <a:solidFill>
            <a:srgbClr val="008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endParaRPr lang="zh-CN" altLang="en-US"/>
          </a:p>
        </p:txBody>
      </p:sp>
      <p:sp>
        <p:nvSpPr>
          <p:cNvPr id="39961" name="Line 25"/>
          <p:cNvSpPr>
            <a:spLocks noChangeShapeType="1"/>
          </p:cNvSpPr>
          <p:nvPr/>
        </p:nvSpPr>
        <p:spPr bwMode="auto">
          <a:xfrm>
            <a:off x="2259931" y="4941392"/>
            <a:ext cx="146050" cy="21590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62" name="Rectangle 26"/>
          <p:cNvSpPr>
            <a:spLocks noChangeArrowheads="1"/>
          </p:cNvSpPr>
          <p:nvPr/>
        </p:nvSpPr>
        <p:spPr bwMode="auto">
          <a:xfrm>
            <a:off x="2261518" y="5157292"/>
            <a:ext cx="431800" cy="1223962"/>
          </a:xfrm>
          <a:prstGeom prst="rect">
            <a:avLst/>
          </a:prstGeom>
          <a:noFill/>
          <a:ln w="38100">
            <a:solidFill>
              <a:srgbClr val="0000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B</a:t>
            </a:r>
            <a:r>
              <a:rPr lang="en-US" altLang="zh-CN" baseline="-25000">
                <a:ea typeface="宋体" panose="02010600030101010101" pitchFamily="2" charset="-122"/>
              </a:rPr>
              <a:t>R</a:t>
            </a:r>
          </a:p>
        </p:txBody>
      </p:sp>
      <p:sp>
        <p:nvSpPr>
          <p:cNvPr id="39963" name="Line 27"/>
          <p:cNvSpPr>
            <a:spLocks noChangeShapeType="1"/>
          </p:cNvSpPr>
          <p:nvPr/>
        </p:nvSpPr>
        <p:spPr bwMode="auto">
          <a:xfrm>
            <a:off x="2907631" y="3933329"/>
            <a:ext cx="504825" cy="64770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64" name="Rectangle 28"/>
          <p:cNvSpPr>
            <a:spLocks noChangeArrowheads="1"/>
          </p:cNvSpPr>
          <p:nvPr/>
        </p:nvSpPr>
        <p:spPr bwMode="auto">
          <a:xfrm>
            <a:off x="3198143" y="4581029"/>
            <a:ext cx="431800" cy="1296988"/>
          </a:xfrm>
          <a:prstGeom prst="rect">
            <a:avLst/>
          </a:prstGeom>
          <a:noFill/>
          <a:ln w="38100">
            <a:solidFill>
              <a:srgbClr val="0000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A</a:t>
            </a:r>
            <a:r>
              <a:rPr lang="en-US" altLang="zh-CN" baseline="-25000">
                <a:ea typeface="宋体" panose="02010600030101010101" pitchFamily="2" charset="-122"/>
              </a:rPr>
              <a:t>R</a:t>
            </a:r>
          </a:p>
        </p:txBody>
      </p:sp>
      <p:sp>
        <p:nvSpPr>
          <p:cNvPr id="39965" name="Line 29"/>
          <p:cNvSpPr>
            <a:spLocks noChangeShapeType="1"/>
          </p:cNvSpPr>
          <p:nvPr/>
        </p:nvSpPr>
        <p:spPr bwMode="auto">
          <a:xfrm>
            <a:off x="245393" y="4509592"/>
            <a:ext cx="2016125" cy="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66" name="Line 30"/>
          <p:cNvSpPr>
            <a:spLocks noChangeShapeType="1"/>
          </p:cNvSpPr>
          <p:nvPr/>
        </p:nvSpPr>
        <p:spPr bwMode="auto">
          <a:xfrm>
            <a:off x="316831" y="6525717"/>
            <a:ext cx="2016125" cy="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67" name="Line 31"/>
          <p:cNvSpPr>
            <a:spLocks noChangeShapeType="1"/>
          </p:cNvSpPr>
          <p:nvPr/>
        </p:nvSpPr>
        <p:spPr bwMode="auto">
          <a:xfrm>
            <a:off x="748631" y="4509592"/>
            <a:ext cx="1587" cy="2016125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68" name="Text Box 32"/>
          <p:cNvSpPr txBox="1">
            <a:spLocks noChangeArrowheads="1"/>
          </p:cNvSpPr>
          <p:nvPr/>
        </p:nvSpPr>
        <p:spPr bwMode="auto">
          <a:xfrm>
            <a:off x="245393" y="5295404"/>
            <a:ext cx="7191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h+2</a:t>
            </a:r>
          </a:p>
        </p:txBody>
      </p:sp>
      <p:sp>
        <p:nvSpPr>
          <p:cNvPr id="39969" name="Line 33"/>
          <p:cNvSpPr>
            <a:spLocks noChangeShapeType="1"/>
          </p:cNvSpPr>
          <p:nvPr/>
        </p:nvSpPr>
        <p:spPr bwMode="auto">
          <a:xfrm>
            <a:off x="3053681" y="4581029"/>
            <a:ext cx="1150937" cy="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70" name="Line 34"/>
          <p:cNvSpPr>
            <a:spLocks noChangeShapeType="1"/>
          </p:cNvSpPr>
          <p:nvPr/>
        </p:nvSpPr>
        <p:spPr bwMode="auto">
          <a:xfrm>
            <a:off x="3125118" y="5878017"/>
            <a:ext cx="1079500" cy="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71" name="Line 35"/>
          <p:cNvSpPr>
            <a:spLocks noChangeShapeType="1"/>
          </p:cNvSpPr>
          <p:nvPr/>
        </p:nvSpPr>
        <p:spPr bwMode="auto">
          <a:xfrm>
            <a:off x="4061743" y="4581029"/>
            <a:ext cx="0" cy="1296988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72" name="Text Box 36"/>
          <p:cNvSpPr txBox="1">
            <a:spLocks noChangeArrowheads="1"/>
          </p:cNvSpPr>
          <p:nvPr/>
        </p:nvSpPr>
        <p:spPr bwMode="auto">
          <a:xfrm>
            <a:off x="3991893" y="5085854"/>
            <a:ext cx="2873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h</a:t>
            </a:r>
          </a:p>
        </p:txBody>
      </p:sp>
      <p:sp>
        <p:nvSpPr>
          <p:cNvPr id="39973" name="AutoShape 37"/>
          <p:cNvSpPr>
            <a:spLocks noChangeArrowheads="1"/>
          </p:cNvSpPr>
          <p:nvPr/>
        </p:nvSpPr>
        <p:spPr bwMode="auto">
          <a:xfrm>
            <a:off x="4566568" y="4941392"/>
            <a:ext cx="936625" cy="577850"/>
          </a:xfrm>
          <a:prstGeom prst="rightArrow">
            <a:avLst>
              <a:gd name="adj1" fmla="val 50000"/>
              <a:gd name="adj2" fmla="val 40522"/>
            </a:avLst>
          </a:prstGeom>
          <a:noFill/>
          <a:ln w="28575">
            <a:solidFill>
              <a:srgbClr val="CC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LL</a:t>
            </a:r>
            <a:r>
              <a:rPr lang="zh-CN" altLang="en-US">
                <a:ea typeface="宋体" panose="02010600030101010101" pitchFamily="2" charset="-122"/>
              </a:rPr>
              <a:t>型</a:t>
            </a:r>
          </a:p>
        </p:txBody>
      </p:sp>
      <p:sp>
        <p:nvSpPr>
          <p:cNvPr id="39974" name="Oval 38"/>
          <p:cNvSpPr>
            <a:spLocks noChangeArrowheads="1"/>
          </p:cNvSpPr>
          <p:nvPr/>
        </p:nvSpPr>
        <p:spPr bwMode="auto">
          <a:xfrm>
            <a:off x="7590756" y="4581029"/>
            <a:ext cx="431800" cy="433388"/>
          </a:xfrm>
          <a:prstGeom prst="ellips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39975" name="Line 39"/>
          <p:cNvSpPr>
            <a:spLocks noChangeShapeType="1"/>
          </p:cNvSpPr>
          <p:nvPr/>
        </p:nvSpPr>
        <p:spPr bwMode="auto">
          <a:xfrm flipH="1" flipV="1">
            <a:off x="7951118" y="4941392"/>
            <a:ext cx="287338" cy="360362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76" name="Oval 40"/>
          <p:cNvSpPr>
            <a:spLocks noChangeArrowheads="1"/>
          </p:cNvSpPr>
          <p:nvPr/>
        </p:nvSpPr>
        <p:spPr bwMode="auto">
          <a:xfrm>
            <a:off x="6871618" y="3574554"/>
            <a:ext cx="431800" cy="433388"/>
          </a:xfrm>
          <a:prstGeom prst="ellips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39977" name="Line 41"/>
          <p:cNvSpPr>
            <a:spLocks noChangeShapeType="1"/>
          </p:cNvSpPr>
          <p:nvPr/>
        </p:nvSpPr>
        <p:spPr bwMode="auto">
          <a:xfrm flipH="1">
            <a:off x="6366793" y="3933329"/>
            <a:ext cx="576263" cy="720725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78" name="Rectangle 42"/>
          <p:cNvSpPr>
            <a:spLocks noChangeArrowheads="1"/>
          </p:cNvSpPr>
          <p:nvPr/>
        </p:nvSpPr>
        <p:spPr bwMode="auto">
          <a:xfrm>
            <a:off x="6006431" y="4654054"/>
            <a:ext cx="431800" cy="1511300"/>
          </a:xfrm>
          <a:prstGeom prst="rect">
            <a:avLst/>
          </a:prstGeom>
          <a:noFill/>
          <a:ln w="38100">
            <a:solidFill>
              <a:srgbClr val="0000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B</a:t>
            </a:r>
            <a:r>
              <a:rPr lang="en-US" altLang="zh-CN" baseline="-25000">
                <a:ea typeface="宋体" panose="02010600030101010101" pitchFamily="2" charset="-122"/>
              </a:rPr>
              <a:t>L</a:t>
            </a:r>
          </a:p>
        </p:txBody>
      </p:sp>
      <p:sp>
        <p:nvSpPr>
          <p:cNvPr id="39979" name="Rectangle 43"/>
          <p:cNvSpPr>
            <a:spLocks noChangeArrowheads="1"/>
          </p:cNvSpPr>
          <p:nvPr/>
        </p:nvSpPr>
        <p:spPr bwMode="auto">
          <a:xfrm>
            <a:off x="6008018" y="6238379"/>
            <a:ext cx="431800" cy="142875"/>
          </a:xfrm>
          <a:prstGeom prst="rect">
            <a:avLst/>
          </a:prstGeom>
          <a:solidFill>
            <a:srgbClr val="008000"/>
          </a:solidFill>
          <a:ln w="9525">
            <a:solidFill>
              <a:srgbClr val="CC00CC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endParaRPr lang="zh-CN" altLang="en-US"/>
          </a:p>
        </p:txBody>
      </p:sp>
      <p:sp>
        <p:nvSpPr>
          <p:cNvPr id="39980" name="Line 44"/>
          <p:cNvSpPr>
            <a:spLocks noChangeShapeType="1"/>
          </p:cNvSpPr>
          <p:nvPr/>
        </p:nvSpPr>
        <p:spPr bwMode="auto">
          <a:xfrm flipH="1">
            <a:off x="7303418" y="4941392"/>
            <a:ext cx="285750" cy="360362"/>
          </a:xfrm>
          <a:prstGeom prst="line">
            <a:avLst/>
          </a:prstGeom>
          <a:noFill/>
          <a:ln w="38100">
            <a:solidFill>
              <a:srgbClr val="CC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81" name="Rectangle 45"/>
          <p:cNvSpPr>
            <a:spLocks noChangeArrowheads="1"/>
          </p:cNvSpPr>
          <p:nvPr/>
        </p:nvSpPr>
        <p:spPr bwMode="auto">
          <a:xfrm>
            <a:off x="7087518" y="5301754"/>
            <a:ext cx="431800" cy="1081088"/>
          </a:xfrm>
          <a:prstGeom prst="rect">
            <a:avLst/>
          </a:prstGeom>
          <a:noFill/>
          <a:ln w="38100">
            <a:solidFill>
              <a:srgbClr val="CC00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B</a:t>
            </a:r>
            <a:r>
              <a:rPr lang="en-US" altLang="zh-CN" baseline="-25000">
                <a:ea typeface="宋体" panose="02010600030101010101" pitchFamily="2" charset="-122"/>
              </a:rPr>
              <a:t>R</a:t>
            </a:r>
          </a:p>
        </p:txBody>
      </p:sp>
      <p:sp>
        <p:nvSpPr>
          <p:cNvPr id="39982" name="Line 46"/>
          <p:cNvSpPr>
            <a:spLocks noChangeShapeType="1"/>
          </p:cNvSpPr>
          <p:nvPr/>
        </p:nvSpPr>
        <p:spPr bwMode="auto">
          <a:xfrm>
            <a:off x="7300243" y="3931742"/>
            <a:ext cx="504825" cy="647700"/>
          </a:xfrm>
          <a:prstGeom prst="line">
            <a:avLst/>
          </a:prstGeom>
          <a:noFill/>
          <a:ln w="38100">
            <a:solidFill>
              <a:srgbClr val="CC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83" name="Rectangle 47"/>
          <p:cNvSpPr>
            <a:spLocks noChangeArrowheads="1"/>
          </p:cNvSpPr>
          <p:nvPr/>
        </p:nvSpPr>
        <p:spPr bwMode="auto">
          <a:xfrm>
            <a:off x="8022556" y="5301754"/>
            <a:ext cx="431800" cy="1081088"/>
          </a:xfrm>
          <a:prstGeom prst="rect">
            <a:avLst/>
          </a:prstGeom>
          <a:noFill/>
          <a:ln w="38100">
            <a:solidFill>
              <a:srgbClr val="0000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A</a:t>
            </a:r>
            <a:r>
              <a:rPr lang="en-US" altLang="zh-CN" baseline="-25000">
                <a:ea typeface="宋体" panose="02010600030101010101" pitchFamily="2" charset="-122"/>
              </a:rPr>
              <a:t>R</a:t>
            </a:r>
          </a:p>
        </p:txBody>
      </p:sp>
      <p:sp>
        <p:nvSpPr>
          <p:cNvPr id="39984" name="AutoShape 48"/>
          <p:cNvSpPr>
            <a:spLocks noChangeArrowheads="1"/>
          </p:cNvSpPr>
          <p:nvPr/>
        </p:nvSpPr>
        <p:spPr bwMode="auto">
          <a:xfrm>
            <a:off x="2621881" y="3861892"/>
            <a:ext cx="1008062" cy="863600"/>
          </a:xfrm>
          <a:custGeom>
            <a:avLst/>
            <a:gdLst>
              <a:gd name="T0" fmla="*/ 28210056 w 21600"/>
              <a:gd name="T1" fmla="*/ 345280 h 21600"/>
              <a:gd name="T2" fmla="*/ 4286410 w 21600"/>
              <a:gd name="T3" fmla="*/ 11274339 h 21600"/>
              <a:gd name="T4" fmla="*/ 27160226 w 21600"/>
              <a:gd name="T5" fmla="*/ 4128967 h 21600"/>
              <a:gd name="T6" fmla="*/ 52926526 w 21600"/>
              <a:gd name="T7" fmla="*/ 17264002 h 21600"/>
              <a:gd name="T8" fmla="*/ 44416887 w 21600"/>
              <a:gd name="T9" fmla="*/ 23511032 h 21600"/>
              <a:gd name="T10" fmla="*/ 35905067 w 21600"/>
              <a:gd name="T11" fmla="*/ 17264002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9185" y="10800"/>
                </a:moveTo>
                <a:cubicBezTo>
                  <a:pt x="19185" y="6169"/>
                  <a:pt x="15430" y="2415"/>
                  <a:pt x="10800" y="2415"/>
                </a:cubicBezTo>
                <a:cubicBezTo>
                  <a:pt x="7434" y="2414"/>
                  <a:pt x="4395" y="4427"/>
                  <a:pt x="3080" y="7525"/>
                </a:cubicBezTo>
                <a:lnTo>
                  <a:pt x="857" y="6581"/>
                </a:lnTo>
                <a:cubicBezTo>
                  <a:pt x="2550" y="2591"/>
                  <a:pt x="6465" y="-1"/>
                  <a:pt x="10800" y="0"/>
                </a:cubicBezTo>
                <a:cubicBezTo>
                  <a:pt x="16764" y="0"/>
                  <a:pt x="21599" y="4835"/>
                  <a:pt x="21600" y="10799"/>
                </a:cubicBezTo>
                <a:lnTo>
                  <a:pt x="21600" y="10800"/>
                </a:lnTo>
                <a:lnTo>
                  <a:pt x="24300" y="10800"/>
                </a:lnTo>
                <a:lnTo>
                  <a:pt x="20393" y="14708"/>
                </a:lnTo>
                <a:lnTo>
                  <a:pt x="16485" y="10800"/>
                </a:lnTo>
                <a:lnTo>
                  <a:pt x="19185" y="10800"/>
                </a:lnTo>
                <a:close/>
              </a:path>
            </a:pathLst>
          </a:cu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49</a:t>
            </a:fld>
            <a:endParaRPr lang="zh-CN" altLang="en-US" dirty="0"/>
          </a:p>
        </p:txBody>
      </p:sp>
      <p:grpSp>
        <p:nvGrpSpPr>
          <p:cNvPr id="51" name="组合 114"/>
          <p:cNvGrpSpPr/>
          <p:nvPr/>
        </p:nvGrpSpPr>
        <p:grpSpPr>
          <a:xfrm>
            <a:off x="-396552" y="76388"/>
            <a:ext cx="6775654" cy="679510"/>
            <a:chOff x="-99459" y="3320919"/>
            <a:chExt cx="7301815" cy="722576"/>
          </a:xfrm>
        </p:grpSpPr>
        <p:grpSp>
          <p:nvGrpSpPr>
            <p:cNvPr id="52" name="组合 105"/>
            <p:cNvGrpSpPr/>
            <p:nvPr/>
          </p:nvGrpSpPr>
          <p:grpSpPr>
            <a:xfrm>
              <a:off x="-99459" y="3320919"/>
              <a:ext cx="7301815" cy="722576"/>
              <a:chOff x="-99459" y="3320919"/>
              <a:chExt cx="7301815" cy="722576"/>
            </a:xfrm>
          </p:grpSpPr>
          <p:sp>
            <p:nvSpPr>
              <p:cNvPr id="54" name="Freeform 5"/>
              <p:cNvSpPr>
                <a:spLocks/>
              </p:cNvSpPr>
              <p:nvPr/>
            </p:nvSpPr>
            <p:spPr bwMode="auto">
              <a:xfrm>
                <a:off x="933887" y="3380765"/>
                <a:ext cx="801702" cy="662730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EA6103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  <p:sp>
            <p:nvSpPr>
              <p:cNvPr id="55" name="TextBox 6"/>
              <p:cNvSpPr txBox="1">
                <a:spLocks noChangeArrowheads="1"/>
              </p:cNvSpPr>
              <p:nvPr/>
            </p:nvSpPr>
            <p:spPr bwMode="auto">
              <a:xfrm>
                <a:off x="-99459" y="3320919"/>
                <a:ext cx="7301815" cy="687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10.3 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树表的查找</a:t>
                </a:r>
              </a:p>
            </p:txBody>
          </p:sp>
        </p:grpSp>
        <p:pic>
          <p:nvPicPr>
            <p:cNvPr id="53" name="图片 52" descr="12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5929" y="3530600"/>
              <a:ext cx="446172" cy="431048"/>
            </a:xfrm>
            <a:prstGeom prst="rect">
              <a:avLst/>
            </a:prstGeom>
          </p:spPr>
        </p:pic>
      </p:grpSp>
      <p:sp>
        <p:nvSpPr>
          <p:cNvPr id="7" name="矩形 6"/>
          <p:cNvSpPr/>
          <p:nvPr/>
        </p:nvSpPr>
        <p:spPr>
          <a:xfrm>
            <a:off x="394291" y="957296"/>
            <a:ext cx="35333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800" b="1" dirty="0"/>
              <a:t>10.3.2 </a:t>
            </a:r>
            <a:r>
              <a:rPr lang="zh-CN" altLang="en-US" sz="2800" b="1" dirty="0"/>
              <a:t>平衡二叉树 </a:t>
            </a:r>
          </a:p>
        </p:txBody>
      </p:sp>
    </p:spTree>
    <p:extLst>
      <p:ext uri="{BB962C8B-B14F-4D97-AF65-F5344CB8AC3E}">
        <p14:creationId xmlns:p14="http://schemas.microsoft.com/office/powerpoint/2010/main" val="3577030369"/>
      </p:ext>
    </p:extLst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4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4" grpId="0" animBg="1" autoUpdateAnimBg="0"/>
      <p:bldP spid="39946" grpId="0" animBg="1" autoUpdateAnimBg="0"/>
      <p:bldP spid="39951" grpId="0" animBg="1" autoUpdateAnimBg="0"/>
      <p:bldP spid="39959" grpId="0" animBg="1" autoUpdateAnimBg="0"/>
      <p:bldP spid="39960" grpId="0" animBg="1"/>
      <p:bldP spid="39962" grpId="0" animBg="1" autoUpdateAnimBg="0"/>
      <p:bldP spid="39964" grpId="0" animBg="1" autoUpdateAnimBg="0"/>
      <p:bldP spid="39968" grpId="0" autoUpdateAnimBg="0"/>
      <p:bldP spid="39972" grpId="0" autoUpdateAnimBg="0"/>
      <p:bldP spid="39973" grpId="0" animBg="1" autoUpdateAnimBg="0"/>
      <p:bldP spid="39974" grpId="0" animBg="1" autoUpdateAnimBg="0"/>
      <p:bldP spid="39976" grpId="0" animBg="1" autoUpdateAnimBg="0"/>
      <p:bldP spid="39978" grpId="0" bldLvl="0" animBg="1" autoUpdateAnimBg="0"/>
      <p:bldP spid="39979" grpId="0" animBg="1"/>
      <p:bldP spid="39981" grpId="0" bldLvl="0" animBg="1" autoUpdateAnimBg="0"/>
      <p:bldP spid="39983" grpId="0" bldLvl="0" animBg="1" autoUpdateAnimBg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28800"/>
            <a:ext cx="8229600" cy="4678451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LR</a:t>
            </a:r>
            <a:r>
              <a:rPr lang="zh-CN" altLang="en-US" sz="2000" dirty="0"/>
              <a:t>型（图示）：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268538" y="1410930"/>
            <a:ext cx="1008062" cy="1370013"/>
            <a:chOff x="0" y="0"/>
            <a:chExt cx="635" cy="863"/>
          </a:xfrm>
        </p:grpSpPr>
        <p:sp>
          <p:nvSpPr>
            <p:cNvPr id="39994" name="Oval 5"/>
            <p:cNvSpPr>
              <a:spLocks noChangeArrowheads="1"/>
            </p:cNvSpPr>
            <p:nvPr/>
          </p:nvSpPr>
          <p:spPr bwMode="auto">
            <a:xfrm>
              <a:off x="363" y="0"/>
              <a:ext cx="272" cy="273"/>
            </a:xfrm>
            <a:prstGeom prst="ellipse">
              <a:avLst/>
            </a:prstGeom>
            <a:noFill/>
            <a:ln w="38100">
              <a:solidFill>
                <a:srgbClr val="00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39995" name="Line 6"/>
            <p:cNvSpPr>
              <a:spLocks noChangeShapeType="1"/>
            </p:cNvSpPr>
            <p:nvPr/>
          </p:nvSpPr>
          <p:spPr bwMode="auto">
            <a:xfrm flipH="1">
              <a:off x="181" y="228"/>
              <a:ext cx="227" cy="362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96" name="Oval 7"/>
            <p:cNvSpPr>
              <a:spLocks noChangeArrowheads="1"/>
            </p:cNvSpPr>
            <p:nvPr/>
          </p:nvSpPr>
          <p:spPr bwMode="auto">
            <a:xfrm>
              <a:off x="0" y="590"/>
              <a:ext cx="272" cy="273"/>
            </a:xfrm>
            <a:prstGeom prst="ellipse">
              <a:avLst/>
            </a:prstGeom>
            <a:noFill/>
            <a:ln w="38100">
              <a:solidFill>
                <a:srgbClr val="00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B</a:t>
              </a:r>
            </a:p>
          </p:txBody>
        </p:sp>
      </p:grpSp>
      <p:sp>
        <p:nvSpPr>
          <p:cNvPr id="40968" name="Oval 8"/>
          <p:cNvSpPr>
            <a:spLocks noChangeArrowheads="1"/>
          </p:cNvSpPr>
          <p:nvPr/>
        </p:nvSpPr>
        <p:spPr bwMode="auto">
          <a:xfrm>
            <a:off x="2987675" y="3138130"/>
            <a:ext cx="431800" cy="433388"/>
          </a:xfrm>
          <a:prstGeom prst="ellips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C</a:t>
            </a:r>
          </a:p>
        </p:txBody>
      </p:sp>
      <p:sp>
        <p:nvSpPr>
          <p:cNvPr id="40969" name="Line 9"/>
          <p:cNvSpPr>
            <a:spLocks noChangeShapeType="1"/>
          </p:cNvSpPr>
          <p:nvPr/>
        </p:nvSpPr>
        <p:spPr bwMode="auto">
          <a:xfrm>
            <a:off x="2627313" y="2706330"/>
            <a:ext cx="431800" cy="504825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70" name="AutoShape 10"/>
          <p:cNvSpPr>
            <a:spLocks noChangeArrowheads="1"/>
          </p:cNvSpPr>
          <p:nvPr/>
        </p:nvSpPr>
        <p:spPr bwMode="auto">
          <a:xfrm>
            <a:off x="4498975" y="2418993"/>
            <a:ext cx="936625" cy="577850"/>
          </a:xfrm>
          <a:prstGeom prst="rightArrow">
            <a:avLst>
              <a:gd name="adj1" fmla="val 50000"/>
              <a:gd name="adj2" fmla="val 40522"/>
            </a:avLst>
          </a:prstGeom>
          <a:noFill/>
          <a:ln w="28575">
            <a:solidFill>
              <a:srgbClr val="CC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LR</a:t>
            </a:r>
            <a:r>
              <a:rPr lang="zh-CN" altLang="en-US">
                <a:ea typeface="宋体" panose="02010600030101010101" pitchFamily="2" charset="-122"/>
              </a:rPr>
              <a:t>型</a:t>
            </a:r>
          </a:p>
        </p:txBody>
      </p:sp>
      <p:sp>
        <p:nvSpPr>
          <p:cNvPr id="40971" name="Oval 11"/>
          <p:cNvSpPr>
            <a:spLocks noChangeArrowheads="1"/>
          </p:cNvSpPr>
          <p:nvPr/>
        </p:nvSpPr>
        <p:spPr bwMode="auto">
          <a:xfrm>
            <a:off x="7273925" y="2634893"/>
            <a:ext cx="431800" cy="433387"/>
          </a:xfrm>
          <a:prstGeom prst="ellips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 dirty="0">
                <a:ea typeface="宋体" panose="02010600030101010101" pitchFamily="2" charset="-122"/>
              </a:rPr>
              <a:t>C</a:t>
            </a:r>
          </a:p>
        </p:txBody>
      </p:sp>
      <p:sp>
        <p:nvSpPr>
          <p:cNvPr id="40972" name="Line 12"/>
          <p:cNvSpPr>
            <a:spLocks noChangeShapeType="1"/>
          </p:cNvSpPr>
          <p:nvPr/>
        </p:nvSpPr>
        <p:spPr bwMode="auto">
          <a:xfrm flipH="1">
            <a:off x="6372225" y="2060218"/>
            <a:ext cx="360363" cy="574675"/>
          </a:xfrm>
          <a:prstGeom prst="line">
            <a:avLst/>
          </a:prstGeom>
          <a:noFill/>
          <a:ln w="38100">
            <a:solidFill>
              <a:srgbClr val="CC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73" name="Oval 13"/>
          <p:cNvSpPr>
            <a:spLocks noChangeArrowheads="1"/>
          </p:cNvSpPr>
          <p:nvPr/>
        </p:nvSpPr>
        <p:spPr bwMode="auto">
          <a:xfrm>
            <a:off x="6084888" y="2634893"/>
            <a:ext cx="431800" cy="433387"/>
          </a:xfrm>
          <a:prstGeom prst="ellips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40974" name="Oval 14"/>
          <p:cNvSpPr>
            <a:spLocks noChangeArrowheads="1"/>
          </p:cNvSpPr>
          <p:nvPr/>
        </p:nvSpPr>
        <p:spPr bwMode="auto">
          <a:xfrm>
            <a:off x="6648450" y="1767926"/>
            <a:ext cx="431800" cy="433388"/>
          </a:xfrm>
          <a:prstGeom prst="ellips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40975" name="Line 15"/>
          <p:cNvSpPr>
            <a:spLocks noChangeShapeType="1"/>
          </p:cNvSpPr>
          <p:nvPr/>
        </p:nvSpPr>
        <p:spPr bwMode="auto">
          <a:xfrm>
            <a:off x="7019925" y="2058630"/>
            <a:ext cx="431800" cy="576263"/>
          </a:xfrm>
          <a:prstGeom prst="line">
            <a:avLst/>
          </a:prstGeom>
          <a:noFill/>
          <a:ln w="38100">
            <a:solidFill>
              <a:srgbClr val="CC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76" name="AutoShape 16"/>
          <p:cNvSpPr>
            <a:spLocks noChangeArrowheads="1"/>
          </p:cNvSpPr>
          <p:nvPr/>
        </p:nvSpPr>
        <p:spPr bwMode="auto">
          <a:xfrm>
            <a:off x="3132138" y="1626830"/>
            <a:ext cx="1008062" cy="863600"/>
          </a:xfrm>
          <a:custGeom>
            <a:avLst/>
            <a:gdLst>
              <a:gd name="T0" fmla="*/ 28210056 w 21600"/>
              <a:gd name="T1" fmla="*/ 345280 h 21600"/>
              <a:gd name="T2" fmla="*/ 4286410 w 21600"/>
              <a:gd name="T3" fmla="*/ 11274339 h 21600"/>
              <a:gd name="T4" fmla="*/ 27160226 w 21600"/>
              <a:gd name="T5" fmla="*/ 4128967 h 21600"/>
              <a:gd name="T6" fmla="*/ 52926526 w 21600"/>
              <a:gd name="T7" fmla="*/ 17264002 h 21600"/>
              <a:gd name="T8" fmla="*/ 44416887 w 21600"/>
              <a:gd name="T9" fmla="*/ 23511032 h 21600"/>
              <a:gd name="T10" fmla="*/ 35905067 w 21600"/>
              <a:gd name="T11" fmla="*/ 17264002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9185" y="10800"/>
                </a:moveTo>
                <a:cubicBezTo>
                  <a:pt x="19185" y="6169"/>
                  <a:pt x="15430" y="2415"/>
                  <a:pt x="10800" y="2415"/>
                </a:cubicBezTo>
                <a:cubicBezTo>
                  <a:pt x="7434" y="2414"/>
                  <a:pt x="4395" y="4427"/>
                  <a:pt x="3080" y="7525"/>
                </a:cubicBezTo>
                <a:lnTo>
                  <a:pt x="857" y="6581"/>
                </a:lnTo>
                <a:cubicBezTo>
                  <a:pt x="2550" y="2591"/>
                  <a:pt x="6465" y="-1"/>
                  <a:pt x="10800" y="0"/>
                </a:cubicBezTo>
                <a:cubicBezTo>
                  <a:pt x="16764" y="0"/>
                  <a:pt x="21599" y="4835"/>
                  <a:pt x="21600" y="10799"/>
                </a:cubicBezTo>
                <a:lnTo>
                  <a:pt x="21600" y="10800"/>
                </a:lnTo>
                <a:lnTo>
                  <a:pt x="24300" y="10800"/>
                </a:lnTo>
                <a:lnTo>
                  <a:pt x="20393" y="14708"/>
                </a:lnTo>
                <a:lnTo>
                  <a:pt x="16485" y="10800"/>
                </a:lnTo>
                <a:lnTo>
                  <a:pt x="19185" y="10800"/>
                </a:lnTo>
                <a:close/>
              </a:path>
            </a:pathLst>
          </a:cu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" name="Group 17"/>
          <p:cNvGrpSpPr>
            <a:grpSpLocks/>
          </p:cNvGrpSpPr>
          <p:nvPr/>
        </p:nvGrpSpPr>
        <p:grpSpPr bwMode="auto">
          <a:xfrm>
            <a:off x="1763713" y="3282593"/>
            <a:ext cx="1008062" cy="1370012"/>
            <a:chOff x="0" y="0"/>
            <a:chExt cx="635" cy="863"/>
          </a:xfrm>
        </p:grpSpPr>
        <p:sp>
          <p:nvSpPr>
            <p:cNvPr id="39991" name="Oval 18"/>
            <p:cNvSpPr>
              <a:spLocks noChangeArrowheads="1"/>
            </p:cNvSpPr>
            <p:nvPr/>
          </p:nvSpPr>
          <p:spPr bwMode="auto">
            <a:xfrm>
              <a:off x="363" y="0"/>
              <a:ext cx="272" cy="273"/>
            </a:xfrm>
            <a:prstGeom prst="ellipse">
              <a:avLst/>
            </a:prstGeom>
            <a:noFill/>
            <a:ln w="38100">
              <a:solidFill>
                <a:srgbClr val="00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39992" name="Line 19"/>
            <p:cNvSpPr>
              <a:spLocks noChangeShapeType="1"/>
            </p:cNvSpPr>
            <p:nvPr/>
          </p:nvSpPr>
          <p:spPr bwMode="auto">
            <a:xfrm flipH="1">
              <a:off x="181" y="228"/>
              <a:ext cx="227" cy="362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93" name="Oval 20"/>
            <p:cNvSpPr>
              <a:spLocks noChangeArrowheads="1"/>
            </p:cNvSpPr>
            <p:nvPr/>
          </p:nvSpPr>
          <p:spPr bwMode="auto">
            <a:xfrm>
              <a:off x="0" y="590"/>
              <a:ext cx="272" cy="273"/>
            </a:xfrm>
            <a:prstGeom prst="ellipse">
              <a:avLst/>
            </a:prstGeom>
            <a:noFill/>
            <a:ln w="38100">
              <a:solidFill>
                <a:srgbClr val="00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B</a:t>
              </a:r>
            </a:p>
          </p:txBody>
        </p:sp>
      </p:grpSp>
      <p:sp>
        <p:nvSpPr>
          <p:cNvPr id="40981" name="Line 21"/>
          <p:cNvSpPr>
            <a:spLocks noChangeShapeType="1"/>
          </p:cNvSpPr>
          <p:nvPr/>
        </p:nvSpPr>
        <p:spPr bwMode="auto">
          <a:xfrm flipH="1">
            <a:off x="1547813" y="4579580"/>
            <a:ext cx="287337" cy="43180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82" name="Rectangle 22"/>
          <p:cNvSpPr>
            <a:spLocks noChangeArrowheads="1"/>
          </p:cNvSpPr>
          <p:nvPr/>
        </p:nvSpPr>
        <p:spPr bwMode="auto">
          <a:xfrm>
            <a:off x="1331913" y="5011380"/>
            <a:ext cx="431800" cy="1223963"/>
          </a:xfrm>
          <a:prstGeom prst="rect">
            <a:avLst/>
          </a:prstGeom>
          <a:noFill/>
          <a:ln w="38100">
            <a:solidFill>
              <a:srgbClr val="0000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B</a:t>
            </a:r>
            <a:r>
              <a:rPr lang="en-US" altLang="zh-CN" baseline="-25000">
                <a:ea typeface="宋体" panose="02010600030101010101" pitchFamily="2" charset="-122"/>
              </a:rPr>
              <a:t>L</a:t>
            </a:r>
          </a:p>
        </p:txBody>
      </p:sp>
      <p:sp>
        <p:nvSpPr>
          <p:cNvPr id="40983" name="Rectangle 23"/>
          <p:cNvSpPr>
            <a:spLocks noChangeArrowheads="1"/>
          </p:cNvSpPr>
          <p:nvPr/>
        </p:nvSpPr>
        <p:spPr bwMode="auto">
          <a:xfrm>
            <a:off x="1979613" y="6235343"/>
            <a:ext cx="431800" cy="144462"/>
          </a:xfrm>
          <a:prstGeom prst="rect">
            <a:avLst/>
          </a:prstGeom>
          <a:solidFill>
            <a:srgbClr val="008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endParaRPr lang="zh-CN" altLang="en-US"/>
          </a:p>
        </p:txBody>
      </p:sp>
      <p:sp>
        <p:nvSpPr>
          <p:cNvPr id="40984" name="Line 24"/>
          <p:cNvSpPr>
            <a:spLocks noChangeShapeType="1"/>
          </p:cNvSpPr>
          <p:nvPr/>
        </p:nvSpPr>
        <p:spPr bwMode="auto">
          <a:xfrm>
            <a:off x="2122488" y="4579580"/>
            <a:ext cx="288925" cy="360363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85" name="Rectangle 25"/>
          <p:cNvSpPr>
            <a:spLocks noChangeArrowheads="1"/>
          </p:cNvSpPr>
          <p:nvPr/>
        </p:nvSpPr>
        <p:spPr bwMode="auto">
          <a:xfrm>
            <a:off x="1979613" y="5514618"/>
            <a:ext cx="431800" cy="720725"/>
          </a:xfrm>
          <a:prstGeom prst="rect">
            <a:avLst/>
          </a:prstGeom>
          <a:noFill/>
          <a:ln w="38100">
            <a:solidFill>
              <a:srgbClr val="0000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C</a:t>
            </a:r>
            <a:r>
              <a:rPr lang="en-US" altLang="zh-CN" baseline="-25000">
                <a:ea typeface="宋体" panose="02010600030101010101" pitchFamily="2" charset="-122"/>
              </a:rPr>
              <a:t>L</a:t>
            </a:r>
          </a:p>
        </p:txBody>
      </p:sp>
      <p:sp>
        <p:nvSpPr>
          <p:cNvPr id="40986" name="Line 26"/>
          <p:cNvSpPr>
            <a:spLocks noChangeShapeType="1"/>
          </p:cNvSpPr>
          <p:nvPr/>
        </p:nvSpPr>
        <p:spPr bwMode="auto">
          <a:xfrm>
            <a:off x="2771775" y="3571518"/>
            <a:ext cx="935038" cy="719137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87" name="Rectangle 27"/>
          <p:cNvSpPr>
            <a:spLocks noChangeArrowheads="1"/>
          </p:cNvSpPr>
          <p:nvPr/>
        </p:nvSpPr>
        <p:spPr bwMode="auto">
          <a:xfrm>
            <a:off x="3490913" y="4292243"/>
            <a:ext cx="431800" cy="1366837"/>
          </a:xfrm>
          <a:prstGeom prst="rect">
            <a:avLst/>
          </a:prstGeom>
          <a:noFill/>
          <a:ln w="38100">
            <a:solidFill>
              <a:srgbClr val="0000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A</a:t>
            </a:r>
            <a:r>
              <a:rPr lang="en-US" altLang="zh-CN" baseline="-25000">
                <a:ea typeface="宋体" panose="02010600030101010101" pitchFamily="2" charset="-122"/>
              </a:rPr>
              <a:t>R</a:t>
            </a:r>
          </a:p>
        </p:txBody>
      </p:sp>
      <p:sp>
        <p:nvSpPr>
          <p:cNvPr id="40988" name="Line 28"/>
          <p:cNvSpPr>
            <a:spLocks noChangeShapeType="1"/>
          </p:cNvSpPr>
          <p:nvPr/>
        </p:nvSpPr>
        <p:spPr bwMode="auto">
          <a:xfrm>
            <a:off x="107950" y="4219218"/>
            <a:ext cx="2016125" cy="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89" name="Line 29"/>
          <p:cNvSpPr>
            <a:spLocks noChangeShapeType="1"/>
          </p:cNvSpPr>
          <p:nvPr/>
        </p:nvSpPr>
        <p:spPr bwMode="auto">
          <a:xfrm>
            <a:off x="179388" y="6379805"/>
            <a:ext cx="2016125" cy="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90" name="Line 30"/>
          <p:cNvSpPr>
            <a:spLocks noChangeShapeType="1"/>
          </p:cNvSpPr>
          <p:nvPr/>
        </p:nvSpPr>
        <p:spPr bwMode="auto">
          <a:xfrm>
            <a:off x="611188" y="4219218"/>
            <a:ext cx="0" cy="2160587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91" name="Text Box 31"/>
          <p:cNvSpPr txBox="1">
            <a:spLocks noChangeArrowheads="1"/>
          </p:cNvSpPr>
          <p:nvPr/>
        </p:nvSpPr>
        <p:spPr bwMode="auto">
          <a:xfrm>
            <a:off x="611188" y="5011380"/>
            <a:ext cx="71913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h+2</a:t>
            </a:r>
          </a:p>
        </p:txBody>
      </p:sp>
      <p:sp>
        <p:nvSpPr>
          <p:cNvPr id="40992" name="Line 32"/>
          <p:cNvSpPr>
            <a:spLocks noChangeShapeType="1"/>
          </p:cNvSpPr>
          <p:nvPr/>
        </p:nvSpPr>
        <p:spPr bwMode="auto">
          <a:xfrm>
            <a:off x="3348038" y="4290655"/>
            <a:ext cx="1150937" cy="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93" name="Line 33"/>
          <p:cNvSpPr>
            <a:spLocks noChangeShapeType="1"/>
          </p:cNvSpPr>
          <p:nvPr/>
        </p:nvSpPr>
        <p:spPr bwMode="auto">
          <a:xfrm>
            <a:off x="3419475" y="5659080"/>
            <a:ext cx="1079500" cy="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94" name="Line 34"/>
          <p:cNvSpPr>
            <a:spLocks noChangeShapeType="1"/>
          </p:cNvSpPr>
          <p:nvPr/>
        </p:nvSpPr>
        <p:spPr bwMode="auto">
          <a:xfrm>
            <a:off x="4356100" y="4363680"/>
            <a:ext cx="0" cy="12954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95" name="Text Box 35"/>
          <p:cNvSpPr txBox="1">
            <a:spLocks noChangeArrowheads="1"/>
          </p:cNvSpPr>
          <p:nvPr/>
        </p:nvSpPr>
        <p:spPr bwMode="auto">
          <a:xfrm>
            <a:off x="4356100" y="5011380"/>
            <a:ext cx="2873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h</a:t>
            </a:r>
          </a:p>
        </p:txBody>
      </p:sp>
      <p:sp>
        <p:nvSpPr>
          <p:cNvPr id="40996" name="AutoShape 36"/>
          <p:cNvSpPr>
            <a:spLocks noChangeArrowheads="1"/>
          </p:cNvSpPr>
          <p:nvPr/>
        </p:nvSpPr>
        <p:spPr bwMode="auto">
          <a:xfrm>
            <a:off x="4572000" y="4651018"/>
            <a:ext cx="936625" cy="577850"/>
          </a:xfrm>
          <a:prstGeom prst="rightArrow">
            <a:avLst>
              <a:gd name="adj1" fmla="val 50000"/>
              <a:gd name="adj2" fmla="val 40522"/>
            </a:avLst>
          </a:prstGeom>
          <a:noFill/>
          <a:ln w="28575">
            <a:solidFill>
              <a:srgbClr val="CC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LR</a:t>
            </a:r>
            <a:r>
              <a:rPr lang="zh-CN" altLang="en-US">
                <a:ea typeface="宋体" panose="02010600030101010101" pitchFamily="2" charset="-122"/>
              </a:rPr>
              <a:t>型</a:t>
            </a:r>
          </a:p>
        </p:txBody>
      </p:sp>
      <p:sp>
        <p:nvSpPr>
          <p:cNvPr id="40997" name="Oval 37"/>
          <p:cNvSpPr>
            <a:spLocks noChangeArrowheads="1"/>
          </p:cNvSpPr>
          <p:nvPr/>
        </p:nvSpPr>
        <p:spPr bwMode="auto">
          <a:xfrm>
            <a:off x="7596188" y="4003318"/>
            <a:ext cx="431800" cy="433387"/>
          </a:xfrm>
          <a:prstGeom prst="ellips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40998" name="Line 38"/>
          <p:cNvSpPr>
            <a:spLocks noChangeShapeType="1"/>
          </p:cNvSpPr>
          <p:nvPr/>
        </p:nvSpPr>
        <p:spPr bwMode="auto">
          <a:xfrm flipH="1" flipV="1">
            <a:off x="8027988" y="4363680"/>
            <a:ext cx="361950" cy="43180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99" name="Oval 39"/>
          <p:cNvSpPr>
            <a:spLocks noChangeArrowheads="1"/>
          </p:cNvSpPr>
          <p:nvPr/>
        </p:nvSpPr>
        <p:spPr bwMode="auto">
          <a:xfrm>
            <a:off x="6877050" y="3284180"/>
            <a:ext cx="431800" cy="433388"/>
          </a:xfrm>
          <a:prstGeom prst="ellips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C</a:t>
            </a:r>
          </a:p>
        </p:txBody>
      </p:sp>
      <p:sp>
        <p:nvSpPr>
          <p:cNvPr id="41000" name="Line 40"/>
          <p:cNvSpPr>
            <a:spLocks noChangeShapeType="1"/>
          </p:cNvSpPr>
          <p:nvPr/>
        </p:nvSpPr>
        <p:spPr bwMode="auto">
          <a:xfrm flipH="1">
            <a:off x="6588125" y="3642955"/>
            <a:ext cx="360363" cy="431800"/>
          </a:xfrm>
          <a:prstGeom prst="line">
            <a:avLst/>
          </a:prstGeom>
          <a:noFill/>
          <a:ln w="38100">
            <a:solidFill>
              <a:srgbClr val="CC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001" name="Rectangle 41"/>
          <p:cNvSpPr>
            <a:spLocks noChangeArrowheads="1"/>
          </p:cNvSpPr>
          <p:nvPr/>
        </p:nvSpPr>
        <p:spPr bwMode="auto">
          <a:xfrm>
            <a:off x="6659563" y="6019443"/>
            <a:ext cx="431800" cy="144462"/>
          </a:xfrm>
          <a:prstGeom prst="rect">
            <a:avLst/>
          </a:prstGeom>
          <a:solidFill>
            <a:srgbClr val="008000"/>
          </a:solidFill>
          <a:ln w="9525">
            <a:solidFill>
              <a:srgbClr val="000099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endParaRPr lang="zh-CN" altLang="en-US"/>
          </a:p>
        </p:txBody>
      </p:sp>
      <p:sp>
        <p:nvSpPr>
          <p:cNvPr id="41002" name="Line 42"/>
          <p:cNvSpPr>
            <a:spLocks noChangeShapeType="1"/>
          </p:cNvSpPr>
          <p:nvPr/>
        </p:nvSpPr>
        <p:spPr bwMode="auto">
          <a:xfrm flipH="1">
            <a:off x="7454900" y="4435118"/>
            <a:ext cx="285750" cy="360362"/>
          </a:xfrm>
          <a:prstGeom prst="line">
            <a:avLst/>
          </a:prstGeom>
          <a:noFill/>
          <a:ln w="38100">
            <a:solidFill>
              <a:srgbClr val="CC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003" name="Rectangle 43"/>
          <p:cNvSpPr>
            <a:spLocks noChangeArrowheads="1"/>
          </p:cNvSpPr>
          <p:nvPr/>
        </p:nvSpPr>
        <p:spPr bwMode="auto">
          <a:xfrm>
            <a:off x="7239000" y="4795480"/>
            <a:ext cx="431800" cy="1223963"/>
          </a:xfrm>
          <a:prstGeom prst="rect">
            <a:avLst/>
          </a:prstGeom>
          <a:noFill/>
          <a:ln w="38100">
            <a:solidFill>
              <a:srgbClr val="0000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C</a:t>
            </a:r>
            <a:r>
              <a:rPr lang="en-US" altLang="zh-CN" baseline="-25000">
                <a:ea typeface="宋体" panose="02010600030101010101" pitchFamily="2" charset="-122"/>
              </a:rPr>
              <a:t>R</a:t>
            </a:r>
          </a:p>
        </p:txBody>
      </p:sp>
      <p:sp>
        <p:nvSpPr>
          <p:cNvPr id="41004" name="Line 44"/>
          <p:cNvSpPr>
            <a:spLocks noChangeShapeType="1"/>
          </p:cNvSpPr>
          <p:nvPr/>
        </p:nvSpPr>
        <p:spPr bwMode="auto">
          <a:xfrm>
            <a:off x="7305675" y="3641368"/>
            <a:ext cx="361950" cy="433387"/>
          </a:xfrm>
          <a:prstGeom prst="line">
            <a:avLst/>
          </a:prstGeom>
          <a:noFill/>
          <a:ln w="38100">
            <a:solidFill>
              <a:srgbClr val="CC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005" name="Rectangle 45"/>
          <p:cNvSpPr>
            <a:spLocks noChangeArrowheads="1"/>
          </p:cNvSpPr>
          <p:nvPr/>
        </p:nvSpPr>
        <p:spPr bwMode="auto">
          <a:xfrm>
            <a:off x="8174038" y="4795480"/>
            <a:ext cx="431800" cy="1366838"/>
          </a:xfrm>
          <a:prstGeom prst="rect">
            <a:avLst/>
          </a:prstGeom>
          <a:noFill/>
          <a:ln w="38100">
            <a:solidFill>
              <a:srgbClr val="0000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A</a:t>
            </a:r>
            <a:r>
              <a:rPr lang="en-US" altLang="zh-CN" baseline="-25000">
                <a:ea typeface="宋体" panose="02010600030101010101" pitchFamily="2" charset="-122"/>
              </a:rPr>
              <a:t>R</a:t>
            </a:r>
          </a:p>
        </p:txBody>
      </p:sp>
      <p:sp>
        <p:nvSpPr>
          <p:cNvPr id="41006" name="Line 46"/>
          <p:cNvSpPr>
            <a:spLocks noChangeShapeType="1"/>
          </p:cNvSpPr>
          <p:nvPr/>
        </p:nvSpPr>
        <p:spPr bwMode="auto">
          <a:xfrm flipH="1" flipV="1">
            <a:off x="3059113" y="1914168"/>
            <a:ext cx="144462" cy="1152525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007" name="Oval 47"/>
          <p:cNvSpPr>
            <a:spLocks noChangeArrowheads="1"/>
          </p:cNvSpPr>
          <p:nvPr/>
        </p:nvSpPr>
        <p:spPr bwMode="auto">
          <a:xfrm>
            <a:off x="2411413" y="4793893"/>
            <a:ext cx="431800" cy="433387"/>
          </a:xfrm>
          <a:prstGeom prst="ellips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C</a:t>
            </a:r>
          </a:p>
        </p:txBody>
      </p:sp>
      <p:sp>
        <p:nvSpPr>
          <p:cNvPr id="41008" name="Line 48"/>
          <p:cNvSpPr>
            <a:spLocks noChangeShapeType="1"/>
          </p:cNvSpPr>
          <p:nvPr/>
        </p:nvSpPr>
        <p:spPr bwMode="auto">
          <a:xfrm flipH="1" flipV="1">
            <a:off x="2771775" y="5154255"/>
            <a:ext cx="287338" cy="360363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009" name="Line 49"/>
          <p:cNvSpPr>
            <a:spLocks noChangeShapeType="1"/>
          </p:cNvSpPr>
          <p:nvPr/>
        </p:nvSpPr>
        <p:spPr bwMode="auto">
          <a:xfrm flipH="1">
            <a:off x="2124075" y="5154255"/>
            <a:ext cx="285750" cy="360363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010" name="Rectangle 50"/>
          <p:cNvSpPr>
            <a:spLocks noChangeArrowheads="1"/>
          </p:cNvSpPr>
          <p:nvPr/>
        </p:nvSpPr>
        <p:spPr bwMode="auto">
          <a:xfrm>
            <a:off x="2771775" y="5514618"/>
            <a:ext cx="431800" cy="720725"/>
          </a:xfrm>
          <a:prstGeom prst="rect">
            <a:avLst/>
          </a:prstGeom>
          <a:noFill/>
          <a:ln w="38100">
            <a:solidFill>
              <a:srgbClr val="0000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C</a:t>
            </a:r>
            <a:r>
              <a:rPr lang="en-US" altLang="zh-CN" baseline="-25000">
                <a:ea typeface="宋体" panose="02010600030101010101" pitchFamily="2" charset="-122"/>
              </a:rPr>
              <a:t>R</a:t>
            </a:r>
          </a:p>
        </p:txBody>
      </p:sp>
      <p:sp>
        <p:nvSpPr>
          <p:cNvPr id="41011" name="Rectangle 51"/>
          <p:cNvSpPr>
            <a:spLocks noChangeArrowheads="1"/>
          </p:cNvSpPr>
          <p:nvPr/>
        </p:nvSpPr>
        <p:spPr bwMode="auto">
          <a:xfrm>
            <a:off x="2771775" y="6235343"/>
            <a:ext cx="431800" cy="144462"/>
          </a:xfrm>
          <a:prstGeom prst="rect">
            <a:avLst/>
          </a:prstGeom>
          <a:solidFill>
            <a:srgbClr val="008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endParaRPr lang="zh-CN" altLang="en-US"/>
          </a:p>
        </p:txBody>
      </p:sp>
      <p:sp>
        <p:nvSpPr>
          <p:cNvPr id="41012" name="Oval 52"/>
          <p:cNvSpPr>
            <a:spLocks noChangeArrowheads="1"/>
          </p:cNvSpPr>
          <p:nvPr/>
        </p:nvSpPr>
        <p:spPr bwMode="auto">
          <a:xfrm>
            <a:off x="6227763" y="4003318"/>
            <a:ext cx="431800" cy="433387"/>
          </a:xfrm>
          <a:prstGeom prst="ellips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41013" name="Line 53"/>
          <p:cNvSpPr>
            <a:spLocks noChangeShapeType="1"/>
          </p:cNvSpPr>
          <p:nvPr/>
        </p:nvSpPr>
        <p:spPr bwMode="auto">
          <a:xfrm flipH="1" flipV="1">
            <a:off x="6588125" y="4435118"/>
            <a:ext cx="287338" cy="360362"/>
          </a:xfrm>
          <a:prstGeom prst="line">
            <a:avLst/>
          </a:prstGeom>
          <a:noFill/>
          <a:ln w="38100">
            <a:solidFill>
              <a:srgbClr val="CC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014" name="Line 54"/>
          <p:cNvSpPr>
            <a:spLocks noChangeShapeType="1"/>
          </p:cNvSpPr>
          <p:nvPr/>
        </p:nvSpPr>
        <p:spPr bwMode="auto">
          <a:xfrm flipH="1">
            <a:off x="5940425" y="4435118"/>
            <a:ext cx="285750" cy="360362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015" name="Rectangle 55"/>
          <p:cNvSpPr>
            <a:spLocks noChangeArrowheads="1"/>
          </p:cNvSpPr>
          <p:nvPr/>
        </p:nvSpPr>
        <p:spPr bwMode="auto">
          <a:xfrm>
            <a:off x="5724525" y="4795480"/>
            <a:ext cx="431800" cy="1366838"/>
          </a:xfrm>
          <a:prstGeom prst="rect">
            <a:avLst/>
          </a:prstGeom>
          <a:noFill/>
          <a:ln w="38100">
            <a:solidFill>
              <a:srgbClr val="0000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B</a:t>
            </a:r>
            <a:r>
              <a:rPr lang="zh-CN" altLang="en-US" baseline="-25000">
                <a:ea typeface="宋体" panose="02010600030101010101" pitchFamily="2" charset="-122"/>
              </a:rPr>
              <a:t>L</a:t>
            </a:r>
          </a:p>
        </p:txBody>
      </p:sp>
      <p:sp>
        <p:nvSpPr>
          <p:cNvPr id="41016" name="Rectangle 56"/>
          <p:cNvSpPr>
            <a:spLocks noChangeArrowheads="1"/>
          </p:cNvSpPr>
          <p:nvPr/>
        </p:nvSpPr>
        <p:spPr bwMode="auto">
          <a:xfrm>
            <a:off x="6659563" y="4795480"/>
            <a:ext cx="431800" cy="1223963"/>
          </a:xfrm>
          <a:prstGeom prst="rect">
            <a:avLst/>
          </a:prstGeom>
          <a:noFill/>
          <a:ln w="38100">
            <a:solidFill>
              <a:srgbClr val="0000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C</a:t>
            </a:r>
            <a:r>
              <a:rPr lang="en-US" altLang="zh-CN" baseline="-25000">
                <a:ea typeface="宋体" panose="02010600030101010101" pitchFamily="2" charset="-122"/>
              </a:rPr>
              <a:t>L</a:t>
            </a:r>
          </a:p>
        </p:txBody>
      </p:sp>
      <p:sp>
        <p:nvSpPr>
          <p:cNvPr id="41017" name="Rectangle 57"/>
          <p:cNvSpPr>
            <a:spLocks noChangeArrowheads="1"/>
          </p:cNvSpPr>
          <p:nvPr/>
        </p:nvSpPr>
        <p:spPr bwMode="auto">
          <a:xfrm>
            <a:off x="7235825" y="6019443"/>
            <a:ext cx="431800" cy="144462"/>
          </a:xfrm>
          <a:prstGeom prst="rect">
            <a:avLst/>
          </a:prstGeom>
          <a:solidFill>
            <a:srgbClr val="008000"/>
          </a:solidFill>
          <a:ln w="9525">
            <a:solidFill>
              <a:srgbClr val="000099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endParaRPr lang="zh-CN" altLang="en-US"/>
          </a:p>
        </p:txBody>
      </p:sp>
      <p:sp>
        <p:nvSpPr>
          <p:cNvPr id="41018" name="AutoShape 58"/>
          <p:cNvSpPr>
            <a:spLocks noChangeArrowheads="1"/>
          </p:cNvSpPr>
          <p:nvPr/>
        </p:nvSpPr>
        <p:spPr bwMode="auto">
          <a:xfrm>
            <a:off x="2771775" y="3571518"/>
            <a:ext cx="1008063" cy="863600"/>
          </a:xfrm>
          <a:custGeom>
            <a:avLst/>
            <a:gdLst>
              <a:gd name="T0" fmla="*/ 28210084 w 21600"/>
              <a:gd name="T1" fmla="*/ 345280 h 21600"/>
              <a:gd name="T2" fmla="*/ 4286414 w 21600"/>
              <a:gd name="T3" fmla="*/ 11274339 h 21600"/>
              <a:gd name="T4" fmla="*/ 27160299 w 21600"/>
              <a:gd name="T5" fmla="*/ 4128967 h 21600"/>
              <a:gd name="T6" fmla="*/ 52926625 w 21600"/>
              <a:gd name="T7" fmla="*/ 17264002 h 21600"/>
              <a:gd name="T8" fmla="*/ 44416978 w 21600"/>
              <a:gd name="T9" fmla="*/ 23511032 h 21600"/>
              <a:gd name="T10" fmla="*/ 35905149 w 21600"/>
              <a:gd name="T11" fmla="*/ 17264002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9185" y="10800"/>
                </a:moveTo>
                <a:cubicBezTo>
                  <a:pt x="19185" y="6169"/>
                  <a:pt x="15430" y="2415"/>
                  <a:pt x="10800" y="2415"/>
                </a:cubicBezTo>
                <a:cubicBezTo>
                  <a:pt x="7434" y="2414"/>
                  <a:pt x="4395" y="4427"/>
                  <a:pt x="3080" y="7525"/>
                </a:cubicBezTo>
                <a:lnTo>
                  <a:pt x="857" y="6581"/>
                </a:lnTo>
                <a:cubicBezTo>
                  <a:pt x="2550" y="2591"/>
                  <a:pt x="6465" y="-1"/>
                  <a:pt x="10800" y="0"/>
                </a:cubicBezTo>
                <a:cubicBezTo>
                  <a:pt x="16764" y="0"/>
                  <a:pt x="21599" y="4835"/>
                  <a:pt x="21600" y="10799"/>
                </a:cubicBezTo>
                <a:lnTo>
                  <a:pt x="21600" y="10800"/>
                </a:lnTo>
                <a:lnTo>
                  <a:pt x="24300" y="10800"/>
                </a:lnTo>
                <a:lnTo>
                  <a:pt x="20393" y="14708"/>
                </a:lnTo>
                <a:lnTo>
                  <a:pt x="16485" y="10800"/>
                </a:lnTo>
                <a:lnTo>
                  <a:pt x="19185" y="10800"/>
                </a:lnTo>
                <a:close/>
              </a:path>
            </a:pathLst>
          </a:cu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019" name="Line 59"/>
          <p:cNvSpPr>
            <a:spLocks noChangeShapeType="1"/>
          </p:cNvSpPr>
          <p:nvPr/>
        </p:nvSpPr>
        <p:spPr bwMode="auto">
          <a:xfrm flipH="1" flipV="1">
            <a:off x="2627313" y="3858855"/>
            <a:ext cx="1587" cy="865188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50</a:t>
            </a:fld>
            <a:endParaRPr lang="zh-CN" altLang="en-US" dirty="0"/>
          </a:p>
        </p:txBody>
      </p:sp>
      <p:grpSp>
        <p:nvGrpSpPr>
          <p:cNvPr id="62" name="组合 114"/>
          <p:cNvGrpSpPr/>
          <p:nvPr/>
        </p:nvGrpSpPr>
        <p:grpSpPr>
          <a:xfrm>
            <a:off x="-396552" y="76388"/>
            <a:ext cx="6775654" cy="679510"/>
            <a:chOff x="-99459" y="3320919"/>
            <a:chExt cx="7301815" cy="722576"/>
          </a:xfrm>
        </p:grpSpPr>
        <p:grpSp>
          <p:nvGrpSpPr>
            <p:cNvPr id="63" name="组合 105"/>
            <p:cNvGrpSpPr/>
            <p:nvPr/>
          </p:nvGrpSpPr>
          <p:grpSpPr>
            <a:xfrm>
              <a:off x="-99459" y="3320919"/>
              <a:ext cx="7301815" cy="722576"/>
              <a:chOff x="-99459" y="3320919"/>
              <a:chExt cx="7301815" cy="722576"/>
            </a:xfrm>
          </p:grpSpPr>
          <p:sp>
            <p:nvSpPr>
              <p:cNvPr id="65" name="Freeform 5"/>
              <p:cNvSpPr>
                <a:spLocks/>
              </p:cNvSpPr>
              <p:nvPr/>
            </p:nvSpPr>
            <p:spPr bwMode="auto">
              <a:xfrm>
                <a:off x="933887" y="3380765"/>
                <a:ext cx="801702" cy="662730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EA6103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  <p:sp>
            <p:nvSpPr>
              <p:cNvPr id="66" name="TextBox 6"/>
              <p:cNvSpPr txBox="1">
                <a:spLocks noChangeArrowheads="1"/>
              </p:cNvSpPr>
              <p:nvPr/>
            </p:nvSpPr>
            <p:spPr bwMode="auto">
              <a:xfrm>
                <a:off x="-99459" y="3320919"/>
                <a:ext cx="7301815" cy="687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10.3 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树表的查找</a:t>
                </a:r>
              </a:p>
            </p:txBody>
          </p:sp>
        </p:grpSp>
        <p:pic>
          <p:nvPicPr>
            <p:cNvPr id="64" name="图片 63" descr="12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5929" y="3530600"/>
              <a:ext cx="446172" cy="431048"/>
            </a:xfrm>
            <a:prstGeom prst="rect">
              <a:avLst/>
            </a:prstGeom>
          </p:spPr>
        </p:pic>
      </p:grpSp>
      <p:sp>
        <p:nvSpPr>
          <p:cNvPr id="67" name="矩形 66"/>
          <p:cNvSpPr/>
          <p:nvPr/>
        </p:nvSpPr>
        <p:spPr>
          <a:xfrm>
            <a:off x="394291" y="957296"/>
            <a:ext cx="35333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800" b="1" dirty="0"/>
              <a:t>10.3.2 </a:t>
            </a:r>
            <a:r>
              <a:rPr lang="zh-CN" altLang="en-US" sz="2800" b="1" dirty="0"/>
              <a:t>平衡二叉树 </a:t>
            </a:r>
          </a:p>
        </p:txBody>
      </p:sp>
    </p:spTree>
    <p:extLst>
      <p:ext uri="{BB962C8B-B14F-4D97-AF65-F5344CB8AC3E}">
        <p14:creationId xmlns:p14="http://schemas.microsoft.com/office/powerpoint/2010/main" val="3195778424"/>
      </p:ext>
    </p:extLst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40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0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40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906 0.00972 L -0.06719 -0.13657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40971"/>
                                        </p:tgtEl>
                                        <p:attrNameLst>
                                          <p:attrName>ppt_x,ppt_y</p:attrName>
                                        </p:attrNameLst>
                                      </p:cBhvr>
                                      <p:rCtr x="-5313" y="-731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40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858 -0.10185 L 0.06077 0.11829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40974"/>
                                        </p:tgtEl>
                                        <p:attrNameLst>
                                          <p:attrName>ppt_x,ppt_y</p:attrName>
                                        </p:attrNameLst>
                                      </p:cBhvr>
                                      <p:rCtr x="-399" y="1099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40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7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 nodeType="clickPar">
                      <p:stCondLst>
                        <p:cond delay="indefinite"/>
                      </p:stCondLst>
                      <p:childTnLst>
                        <p:par>
                          <p:cTn id="1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8" grpId="0" animBg="1" autoUpdateAnimBg="0"/>
      <p:bldP spid="40970" grpId="0" animBg="1" autoUpdateAnimBg="0"/>
      <p:bldP spid="40971" grpId="0" animBg="1" autoUpdateAnimBg="0"/>
      <p:bldP spid="40971" grpId="1" animBg="1" autoUpdateAnimBg="0"/>
      <p:bldP spid="40973" grpId="0" animBg="1" autoUpdateAnimBg="0"/>
      <p:bldP spid="40974" grpId="0" animBg="1" autoUpdateAnimBg="0"/>
      <p:bldP spid="40974" grpId="1" animBg="1" autoUpdateAnimBg="0"/>
      <p:bldP spid="40974" grpId="2" animBg="1" autoUpdateAnimBg="0"/>
      <p:bldP spid="40982" grpId="0" animBg="1" autoUpdateAnimBg="0"/>
      <p:bldP spid="40983" grpId="0" animBg="1"/>
      <p:bldP spid="40985" grpId="0" animBg="1" autoUpdateAnimBg="0"/>
      <p:bldP spid="40987" grpId="0" animBg="1" autoUpdateAnimBg="0"/>
      <p:bldP spid="40991" grpId="0" autoUpdateAnimBg="0"/>
      <p:bldP spid="40995" grpId="0" autoUpdateAnimBg="0"/>
      <p:bldP spid="40996" grpId="0" animBg="1" autoUpdateAnimBg="0"/>
      <p:bldP spid="40997" grpId="0" animBg="1" autoUpdateAnimBg="0"/>
      <p:bldP spid="40999" grpId="0" animBg="1" autoUpdateAnimBg="0"/>
      <p:bldP spid="41001" grpId="0" animBg="1"/>
      <p:bldP spid="41003" grpId="0" animBg="1" autoUpdateAnimBg="0"/>
      <p:bldP spid="41005" grpId="0" animBg="1" autoUpdateAnimBg="0"/>
      <p:bldP spid="41007" grpId="0" animBg="1" autoUpdateAnimBg="0"/>
      <p:bldP spid="41010" grpId="0" animBg="1" autoUpdateAnimBg="0"/>
      <p:bldP spid="41011" grpId="0" animBg="1"/>
      <p:bldP spid="41012" grpId="0" animBg="1" autoUpdateAnimBg="0"/>
      <p:bldP spid="41015" grpId="0" animBg="1" autoUpdateAnimBg="0"/>
      <p:bldP spid="41016" grpId="0" animBg="1" autoUpdateAnimBg="0"/>
      <p:bldP spid="41017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6835" y="1613967"/>
            <a:ext cx="8229600" cy="4678451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                        RL</a:t>
            </a:r>
            <a:r>
              <a:rPr lang="zh-CN" altLang="en-US" sz="2000" dirty="0"/>
              <a:t>型（图示）：</a:t>
            </a:r>
          </a:p>
        </p:txBody>
      </p:sp>
      <p:sp>
        <p:nvSpPr>
          <p:cNvPr id="41988" name="Oval 4"/>
          <p:cNvSpPr>
            <a:spLocks noChangeArrowheads="1"/>
          </p:cNvSpPr>
          <p:nvPr/>
        </p:nvSpPr>
        <p:spPr bwMode="auto">
          <a:xfrm>
            <a:off x="1258888" y="1914773"/>
            <a:ext cx="431800" cy="433388"/>
          </a:xfrm>
          <a:prstGeom prst="ellips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41989" name="Line 5"/>
          <p:cNvSpPr>
            <a:spLocks noChangeShapeType="1"/>
          </p:cNvSpPr>
          <p:nvPr/>
        </p:nvSpPr>
        <p:spPr bwMode="auto">
          <a:xfrm>
            <a:off x="1692275" y="2205286"/>
            <a:ext cx="576263" cy="503237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990" name="Oval 6"/>
          <p:cNvSpPr>
            <a:spLocks noChangeArrowheads="1"/>
          </p:cNvSpPr>
          <p:nvPr/>
        </p:nvSpPr>
        <p:spPr bwMode="auto">
          <a:xfrm>
            <a:off x="2195513" y="2635498"/>
            <a:ext cx="431800" cy="433388"/>
          </a:xfrm>
          <a:prstGeom prst="ellips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41991" name="Oval 7"/>
          <p:cNvSpPr>
            <a:spLocks noChangeArrowheads="1"/>
          </p:cNvSpPr>
          <p:nvPr/>
        </p:nvSpPr>
        <p:spPr bwMode="auto">
          <a:xfrm>
            <a:off x="1258888" y="3356223"/>
            <a:ext cx="431800" cy="433388"/>
          </a:xfrm>
          <a:prstGeom prst="ellips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C</a:t>
            </a:r>
          </a:p>
        </p:txBody>
      </p:sp>
      <p:sp>
        <p:nvSpPr>
          <p:cNvPr id="41992" name="Line 8"/>
          <p:cNvSpPr>
            <a:spLocks noChangeShapeType="1"/>
          </p:cNvSpPr>
          <p:nvPr/>
        </p:nvSpPr>
        <p:spPr bwMode="auto">
          <a:xfrm flipH="1">
            <a:off x="1692275" y="2997448"/>
            <a:ext cx="503238" cy="43180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993" name="AutoShape 9"/>
          <p:cNvSpPr>
            <a:spLocks noChangeArrowheads="1"/>
          </p:cNvSpPr>
          <p:nvPr/>
        </p:nvSpPr>
        <p:spPr bwMode="auto">
          <a:xfrm>
            <a:off x="4498975" y="2637086"/>
            <a:ext cx="936625" cy="577850"/>
          </a:xfrm>
          <a:prstGeom prst="rightArrow">
            <a:avLst>
              <a:gd name="adj1" fmla="val 50000"/>
              <a:gd name="adj2" fmla="val 40522"/>
            </a:avLst>
          </a:prstGeom>
          <a:noFill/>
          <a:ln w="28575">
            <a:solidFill>
              <a:srgbClr val="CC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RL</a:t>
            </a:r>
            <a:r>
              <a:rPr lang="zh-CN" altLang="en-US">
                <a:ea typeface="宋体" panose="02010600030101010101" pitchFamily="2" charset="-122"/>
              </a:rPr>
              <a:t>型</a:t>
            </a: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6084888" y="1916361"/>
            <a:ext cx="1008062" cy="1370012"/>
            <a:chOff x="0" y="0"/>
            <a:chExt cx="635" cy="863"/>
          </a:xfrm>
        </p:grpSpPr>
        <p:sp>
          <p:nvSpPr>
            <p:cNvPr id="41017" name="Oval 11"/>
            <p:cNvSpPr>
              <a:spLocks noChangeArrowheads="1"/>
            </p:cNvSpPr>
            <p:nvPr/>
          </p:nvSpPr>
          <p:spPr bwMode="auto">
            <a:xfrm>
              <a:off x="363" y="0"/>
              <a:ext cx="272" cy="273"/>
            </a:xfrm>
            <a:prstGeom prst="ellipse">
              <a:avLst/>
            </a:prstGeom>
            <a:noFill/>
            <a:ln w="38100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41018" name="Line 12"/>
            <p:cNvSpPr>
              <a:spLocks noChangeShapeType="1"/>
            </p:cNvSpPr>
            <p:nvPr/>
          </p:nvSpPr>
          <p:spPr bwMode="auto">
            <a:xfrm flipH="1">
              <a:off x="181" y="228"/>
              <a:ext cx="227" cy="362"/>
            </a:xfrm>
            <a:prstGeom prst="line">
              <a:avLst/>
            </a:prstGeom>
            <a:noFill/>
            <a:ln w="38100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19" name="Oval 13"/>
            <p:cNvSpPr>
              <a:spLocks noChangeArrowheads="1"/>
            </p:cNvSpPr>
            <p:nvPr/>
          </p:nvSpPr>
          <p:spPr bwMode="auto">
            <a:xfrm>
              <a:off x="0" y="590"/>
              <a:ext cx="272" cy="273"/>
            </a:xfrm>
            <a:prstGeom prst="ellipse">
              <a:avLst/>
            </a:prstGeom>
            <a:noFill/>
            <a:ln w="38100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A</a:t>
              </a:r>
            </a:p>
          </p:txBody>
        </p:sp>
      </p:grpSp>
      <p:sp>
        <p:nvSpPr>
          <p:cNvPr id="41998" name="Oval 14"/>
          <p:cNvSpPr>
            <a:spLocks noChangeArrowheads="1"/>
          </p:cNvSpPr>
          <p:nvPr/>
        </p:nvSpPr>
        <p:spPr bwMode="auto">
          <a:xfrm>
            <a:off x="7308850" y="2852986"/>
            <a:ext cx="431800" cy="433387"/>
          </a:xfrm>
          <a:prstGeom prst="ellipse">
            <a:avLst/>
          </a:prstGeom>
          <a:noFill/>
          <a:ln w="38100">
            <a:solidFill>
              <a:srgbClr val="CC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41999" name="Line 15"/>
          <p:cNvSpPr>
            <a:spLocks noChangeShapeType="1"/>
          </p:cNvSpPr>
          <p:nvPr/>
        </p:nvSpPr>
        <p:spPr bwMode="auto">
          <a:xfrm>
            <a:off x="7019925" y="2276723"/>
            <a:ext cx="431800" cy="576263"/>
          </a:xfrm>
          <a:prstGeom prst="line">
            <a:avLst/>
          </a:prstGeom>
          <a:noFill/>
          <a:ln w="38100">
            <a:solidFill>
              <a:srgbClr val="CC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00" name="AutoShape 16"/>
          <p:cNvSpPr>
            <a:spLocks noChangeArrowheads="1"/>
          </p:cNvSpPr>
          <p:nvPr/>
        </p:nvSpPr>
        <p:spPr bwMode="auto">
          <a:xfrm flipH="1">
            <a:off x="755650" y="2205286"/>
            <a:ext cx="720725" cy="863600"/>
          </a:xfrm>
          <a:custGeom>
            <a:avLst/>
            <a:gdLst>
              <a:gd name="T0" fmla="*/ 19532616 w 21600"/>
              <a:gd name="T1" fmla="*/ 3778890 h 21600"/>
              <a:gd name="T2" fmla="*/ 9672798 w 21600"/>
              <a:gd name="T3" fmla="*/ 2305052 h 21600"/>
              <a:gd name="T4" fmla="*/ 17853695 w 21600"/>
              <a:gd name="T5" fmla="*/ 6793693 h 21600"/>
              <a:gd name="T6" fmla="*/ 27054413 w 21600"/>
              <a:gd name="T7" fmla="*/ 17264002 h 21600"/>
              <a:gd name="T8" fmla="*/ 22704539 w 21600"/>
              <a:gd name="T9" fmla="*/ 23511032 h 21600"/>
              <a:gd name="T10" fmla="*/ 18353564 w 21600"/>
              <a:gd name="T11" fmla="*/ 17264002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9185" y="10800"/>
                </a:moveTo>
                <a:cubicBezTo>
                  <a:pt x="19185" y="6169"/>
                  <a:pt x="15430" y="2415"/>
                  <a:pt x="10800" y="2415"/>
                </a:cubicBezTo>
                <a:cubicBezTo>
                  <a:pt x="10179" y="2414"/>
                  <a:pt x="9560" y="2483"/>
                  <a:pt x="8954" y="2620"/>
                </a:cubicBezTo>
                <a:lnTo>
                  <a:pt x="8422" y="264"/>
                </a:lnTo>
                <a:cubicBezTo>
                  <a:pt x="9203" y="88"/>
                  <a:pt x="10000" y="-1"/>
                  <a:pt x="10800" y="0"/>
                </a:cubicBezTo>
                <a:cubicBezTo>
                  <a:pt x="16764" y="0"/>
                  <a:pt x="21599" y="4835"/>
                  <a:pt x="21600" y="10799"/>
                </a:cubicBezTo>
                <a:lnTo>
                  <a:pt x="21600" y="10800"/>
                </a:lnTo>
                <a:lnTo>
                  <a:pt x="24300" y="10800"/>
                </a:lnTo>
                <a:lnTo>
                  <a:pt x="20393" y="14708"/>
                </a:lnTo>
                <a:lnTo>
                  <a:pt x="16485" y="10800"/>
                </a:lnTo>
                <a:lnTo>
                  <a:pt x="19185" y="10800"/>
                </a:lnTo>
                <a:close/>
              </a:path>
            </a:pathLst>
          </a:cu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01" name="Oval 17"/>
          <p:cNvSpPr>
            <a:spLocks noChangeArrowheads="1"/>
          </p:cNvSpPr>
          <p:nvPr/>
        </p:nvSpPr>
        <p:spPr bwMode="auto">
          <a:xfrm>
            <a:off x="2051050" y="3500686"/>
            <a:ext cx="431800" cy="433387"/>
          </a:xfrm>
          <a:prstGeom prst="ellips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42002" name="Line 18"/>
          <p:cNvSpPr>
            <a:spLocks noChangeShapeType="1"/>
          </p:cNvSpPr>
          <p:nvPr/>
        </p:nvSpPr>
        <p:spPr bwMode="auto">
          <a:xfrm flipH="1">
            <a:off x="1330325" y="3789611"/>
            <a:ext cx="719138" cy="574675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03" name="Oval 19"/>
          <p:cNvSpPr>
            <a:spLocks noChangeArrowheads="1"/>
          </p:cNvSpPr>
          <p:nvPr/>
        </p:nvSpPr>
        <p:spPr bwMode="auto">
          <a:xfrm>
            <a:off x="3059113" y="4221411"/>
            <a:ext cx="431800" cy="433387"/>
          </a:xfrm>
          <a:prstGeom prst="ellips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42004" name="Line 20"/>
          <p:cNvSpPr>
            <a:spLocks noChangeShapeType="1"/>
          </p:cNvSpPr>
          <p:nvPr/>
        </p:nvSpPr>
        <p:spPr bwMode="auto">
          <a:xfrm flipH="1">
            <a:off x="2770188" y="4581773"/>
            <a:ext cx="360362" cy="358775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05" name="Rectangle 21"/>
          <p:cNvSpPr>
            <a:spLocks noChangeArrowheads="1"/>
          </p:cNvSpPr>
          <p:nvPr/>
        </p:nvSpPr>
        <p:spPr bwMode="auto">
          <a:xfrm>
            <a:off x="1042988" y="4437311"/>
            <a:ext cx="431800" cy="1223962"/>
          </a:xfrm>
          <a:prstGeom prst="rect">
            <a:avLst/>
          </a:prstGeom>
          <a:noFill/>
          <a:ln w="38100">
            <a:solidFill>
              <a:srgbClr val="0000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A</a:t>
            </a:r>
            <a:r>
              <a:rPr lang="en-US" altLang="zh-CN" baseline="-25000">
                <a:ea typeface="宋体" panose="02010600030101010101" pitchFamily="2" charset="-122"/>
              </a:rPr>
              <a:t>L</a:t>
            </a:r>
          </a:p>
        </p:txBody>
      </p:sp>
      <p:sp>
        <p:nvSpPr>
          <p:cNvPr id="42006" name="Rectangle 22"/>
          <p:cNvSpPr>
            <a:spLocks noChangeArrowheads="1"/>
          </p:cNvSpPr>
          <p:nvPr/>
        </p:nvSpPr>
        <p:spPr bwMode="auto">
          <a:xfrm>
            <a:off x="1979613" y="6310561"/>
            <a:ext cx="431800" cy="144462"/>
          </a:xfrm>
          <a:prstGeom prst="rect">
            <a:avLst/>
          </a:prstGeom>
          <a:solidFill>
            <a:srgbClr val="008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endParaRPr lang="zh-CN" altLang="en-US"/>
          </a:p>
        </p:txBody>
      </p:sp>
      <p:sp>
        <p:nvSpPr>
          <p:cNvPr id="42007" name="Line 23"/>
          <p:cNvSpPr>
            <a:spLocks noChangeShapeType="1"/>
          </p:cNvSpPr>
          <p:nvPr/>
        </p:nvSpPr>
        <p:spPr bwMode="auto">
          <a:xfrm>
            <a:off x="3419475" y="4581773"/>
            <a:ext cx="288925" cy="43180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08" name="Rectangle 24"/>
          <p:cNvSpPr>
            <a:spLocks noChangeArrowheads="1"/>
          </p:cNvSpPr>
          <p:nvPr/>
        </p:nvSpPr>
        <p:spPr bwMode="auto">
          <a:xfrm>
            <a:off x="1979613" y="5589836"/>
            <a:ext cx="431800" cy="720725"/>
          </a:xfrm>
          <a:prstGeom prst="rect">
            <a:avLst/>
          </a:prstGeom>
          <a:noFill/>
          <a:ln w="38100">
            <a:solidFill>
              <a:srgbClr val="0000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C</a:t>
            </a:r>
            <a:r>
              <a:rPr lang="en-US" altLang="zh-CN" baseline="-25000">
                <a:ea typeface="宋体" panose="02010600030101010101" pitchFamily="2" charset="-122"/>
              </a:rPr>
              <a:t>L</a:t>
            </a:r>
          </a:p>
        </p:txBody>
      </p:sp>
      <p:sp>
        <p:nvSpPr>
          <p:cNvPr id="42009" name="Line 25"/>
          <p:cNvSpPr>
            <a:spLocks noChangeShapeType="1"/>
          </p:cNvSpPr>
          <p:nvPr/>
        </p:nvSpPr>
        <p:spPr bwMode="auto">
          <a:xfrm>
            <a:off x="2482850" y="3789611"/>
            <a:ext cx="647700" cy="503237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10" name="Rectangle 26"/>
          <p:cNvSpPr>
            <a:spLocks noChangeArrowheads="1"/>
          </p:cNvSpPr>
          <p:nvPr/>
        </p:nvSpPr>
        <p:spPr bwMode="auto">
          <a:xfrm>
            <a:off x="3419475" y="5013573"/>
            <a:ext cx="431800" cy="1295400"/>
          </a:xfrm>
          <a:prstGeom prst="rect">
            <a:avLst/>
          </a:prstGeom>
          <a:noFill/>
          <a:ln w="38100">
            <a:solidFill>
              <a:srgbClr val="0000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B</a:t>
            </a:r>
            <a:r>
              <a:rPr lang="en-US" altLang="zh-CN" baseline="-25000">
                <a:ea typeface="宋体" panose="02010600030101010101" pitchFamily="2" charset="-122"/>
              </a:rPr>
              <a:t>R</a:t>
            </a:r>
          </a:p>
        </p:txBody>
      </p:sp>
      <p:sp>
        <p:nvSpPr>
          <p:cNvPr id="42011" name="Line 27"/>
          <p:cNvSpPr>
            <a:spLocks noChangeShapeType="1"/>
          </p:cNvSpPr>
          <p:nvPr/>
        </p:nvSpPr>
        <p:spPr bwMode="auto">
          <a:xfrm>
            <a:off x="611188" y="4437311"/>
            <a:ext cx="1223962" cy="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12" name="Line 28"/>
          <p:cNvSpPr>
            <a:spLocks noChangeShapeType="1"/>
          </p:cNvSpPr>
          <p:nvPr/>
        </p:nvSpPr>
        <p:spPr bwMode="auto">
          <a:xfrm>
            <a:off x="538163" y="5661273"/>
            <a:ext cx="1189037" cy="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13" name="Line 29"/>
          <p:cNvSpPr>
            <a:spLocks noChangeShapeType="1"/>
          </p:cNvSpPr>
          <p:nvPr/>
        </p:nvSpPr>
        <p:spPr bwMode="auto">
          <a:xfrm>
            <a:off x="754063" y="4437311"/>
            <a:ext cx="0" cy="1223962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14" name="Text Box 30"/>
          <p:cNvSpPr txBox="1">
            <a:spLocks noChangeArrowheads="1"/>
          </p:cNvSpPr>
          <p:nvPr/>
        </p:nvSpPr>
        <p:spPr bwMode="auto">
          <a:xfrm>
            <a:off x="395288" y="4869111"/>
            <a:ext cx="2873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h</a:t>
            </a:r>
          </a:p>
        </p:txBody>
      </p:sp>
      <p:sp>
        <p:nvSpPr>
          <p:cNvPr id="42015" name="Line 31"/>
          <p:cNvSpPr>
            <a:spLocks noChangeShapeType="1"/>
          </p:cNvSpPr>
          <p:nvPr/>
        </p:nvSpPr>
        <p:spPr bwMode="auto">
          <a:xfrm>
            <a:off x="2843213" y="4221411"/>
            <a:ext cx="1584325" cy="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16" name="Line 32"/>
          <p:cNvSpPr>
            <a:spLocks noChangeShapeType="1"/>
          </p:cNvSpPr>
          <p:nvPr/>
        </p:nvSpPr>
        <p:spPr bwMode="auto">
          <a:xfrm>
            <a:off x="1835150" y="6453436"/>
            <a:ext cx="2808288" cy="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17" name="Line 33"/>
          <p:cNvSpPr>
            <a:spLocks noChangeShapeType="1"/>
          </p:cNvSpPr>
          <p:nvPr/>
        </p:nvSpPr>
        <p:spPr bwMode="auto">
          <a:xfrm>
            <a:off x="4284663" y="4221411"/>
            <a:ext cx="0" cy="2232025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18" name="Text Box 34"/>
          <p:cNvSpPr txBox="1">
            <a:spLocks noChangeArrowheads="1"/>
          </p:cNvSpPr>
          <p:nvPr/>
        </p:nvSpPr>
        <p:spPr bwMode="auto">
          <a:xfrm>
            <a:off x="3924300" y="5085011"/>
            <a:ext cx="6477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h+2</a:t>
            </a:r>
          </a:p>
        </p:txBody>
      </p:sp>
      <p:sp>
        <p:nvSpPr>
          <p:cNvPr id="42019" name="AutoShape 35"/>
          <p:cNvSpPr>
            <a:spLocks noChangeArrowheads="1"/>
          </p:cNvSpPr>
          <p:nvPr/>
        </p:nvSpPr>
        <p:spPr bwMode="auto">
          <a:xfrm>
            <a:off x="4572000" y="4869111"/>
            <a:ext cx="936625" cy="577850"/>
          </a:xfrm>
          <a:prstGeom prst="rightArrow">
            <a:avLst>
              <a:gd name="adj1" fmla="val 50000"/>
              <a:gd name="adj2" fmla="val 40522"/>
            </a:avLst>
          </a:prstGeom>
          <a:noFill/>
          <a:ln w="28575">
            <a:solidFill>
              <a:srgbClr val="CC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RL</a:t>
            </a:r>
            <a:r>
              <a:rPr lang="zh-CN" altLang="en-US">
                <a:ea typeface="宋体" panose="02010600030101010101" pitchFamily="2" charset="-122"/>
              </a:rPr>
              <a:t>型</a:t>
            </a:r>
          </a:p>
        </p:txBody>
      </p:sp>
      <p:sp>
        <p:nvSpPr>
          <p:cNvPr id="42020" name="Oval 36"/>
          <p:cNvSpPr>
            <a:spLocks noChangeArrowheads="1"/>
          </p:cNvSpPr>
          <p:nvPr/>
        </p:nvSpPr>
        <p:spPr bwMode="auto">
          <a:xfrm>
            <a:off x="7596188" y="4221411"/>
            <a:ext cx="431800" cy="433387"/>
          </a:xfrm>
          <a:prstGeom prst="ellips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42021" name="Line 37"/>
          <p:cNvSpPr>
            <a:spLocks noChangeShapeType="1"/>
          </p:cNvSpPr>
          <p:nvPr/>
        </p:nvSpPr>
        <p:spPr bwMode="auto">
          <a:xfrm flipH="1" flipV="1">
            <a:off x="8027988" y="4581773"/>
            <a:ext cx="361950" cy="43180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22" name="Oval 38"/>
          <p:cNvSpPr>
            <a:spLocks noChangeArrowheads="1"/>
          </p:cNvSpPr>
          <p:nvPr/>
        </p:nvSpPr>
        <p:spPr bwMode="auto">
          <a:xfrm>
            <a:off x="6877050" y="3502273"/>
            <a:ext cx="431800" cy="433388"/>
          </a:xfrm>
          <a:prstGeom prst="ellips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C</a:t>
            </a:r>
          </a:p>
        </p:txBody>
      </p:sp>
      <p:sp>
        <p:nvSpPr>
          <p:cNvPr id="42023" name="Line 39"/>
          <p:cNvSpPr>
            <a:spLocks noChangeShapeType="1"/>
          </p:cNvSpPr>
          <p:nvPr/>
        </p:nvSpPr>
        <p:spPr bwMode="auto">
          <a:xfrm flipH="1">
            <a:off x="6588125" y="3861048"/>
            <a:ext cx="360363" cy="431800"/>
          </a:xfrm>
          <a:prstGeom prst="line">
            <a:avLst/>
          </a:prstGeom>
          <a:noFill/>
          <a:ln w="38100">
            <a:solidFill>
              <a:srgbClr val="CC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24" name="Rectangle 40"/>
          <p:cNvSpPr>
            <a:spLocks noChangeArrowheads="1"/>
          </p:cNvSpPr>
          <p:nvPr/>
        </p:nvSpPr>
        <p:spPr bwMode="auto">
          <a:xfrm>
            <a:off x="6659563" y="6237536"/>
            <a:ext cx="431800" cy="144462"/>
          </a:xfrm>
          <a:prstGeom prst="rect">
            <a:avLst/>
          </a:prstGeom>
          <a:solidFill>
            <a:srgbClr val="008000"/>
          </a:solidFill>
          <a:ln w="9525">
            <a:solidFill>
              <a:srgbClr val="CC00CC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endParaRPr lang="zh-CN" altLang="en-US"/>
          </a:p>
        </p:txBody>
      </p:sp>
      <p:sp>
        <p:nvSpPr>
          <p:cNvPr id="42025" name="Line 41"/>
          <p:cNvSpPr>
            <a:spLocks noChangeShapeType="1"/>
          </p:cNvSpPr>
          <p:nvPr/>
        </p:nvSpPr>
        <p:spPr bwMode="auto">
          <a:xfrm flipH="1">
            <a:off x="7454900" y="4653211"/>
            <a:ext cx="285750" cy="360362"/>
          </a:xfrm>
          <a:prstGeom prst="line">
            <a:avLst/>
          </a:prstGeom>
          <a:noFill/>
          <a:ln w="38100">
            <a:solidFill>
              <a:srgbClr val="CC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26" name="Rectangle 42"/>
          <p:cNvSpPr>
            <a:spLocks noChangeArrowheads="1"/>
          </p:cNvSpPr>
          <p:nvPr/>
        </p:nvSpPr>
        <p:spPr bwMode="auto">
          <a:xfrm>
            <a:off x="7239000" y="5013573"/>
            <a:ext cx="431800" cy="1223963"/>
          </a:xfrm>
          <a:prstGeom prst="rect">
            <a:avLst/>
          </a:prstGeom>
          <a:noFill/>
          <a:ln w="38100">
            <a:solidFill>
              <a:srgbClr val="0000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C</a:t>
            </a:r>
            <a:r>
              <a:rPr lang="en-US" altLang="zh-CN" baseline="-25000">
                <a:ea typeface="宋体" panose="02010600030101010101" pitchFamily="2" charset="-122"/>
              </a:rPr>
              <a:t>R</a:t>
            </a:r>
          </a:p>
        </p:txBody>
      </p:sp>
      <p:sp>
        <p:nvSpPr>
          <p:cNvPr id="42027" name="Line 43"/>
          <p:cNvSpPr>
            <a:spLocks noChangeShapeType="1"/>
          </p:cNvSpPr>
          <p:nvPr/>
        </p:nvSpPr>
        <p:spPr bwMode="auto">
          <a:xfrm>
            <a:off x="7305675" y="3859461"/>
            <a:ext cx="361950" cy="433387"/>
          </a:xfrm>
          <a:prstGeom prst="line">
            <a:avLst/>
          </a:prstGeom>
          <a:noFill/>
          <a:ln w="38100">
            <a:solidFill>
              <a:srgbClr val="CC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28" name="Rectangle 44"/>
          <p:cNvSpPr>
            <a:spLocks noChangeArrowheads="1"/>
          </p:cNvSpPr>
          <p:nvPr/>
        </p:nvSpPr>
        <p:spPr bwMode="auto">
          <a:xfrm>
            <a:off x="8174038" y="5013573"/>
            <a:ext cx="431800" cy="1366838"/>
          </a:xfrm>
          <a:prstGeom prst="rect">
            <a:avLst/>
          </a:prstGeom>
          <a:noFill/>
          <a:ln w="38100">
            <a:solidFill>
              <a:srgbClr val="0000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B</a:t>
            </a:r>
            <a:r>
              <a:rPr lang="en-US" altLang="zh-CN" baseline="-25000">
                <a:ea typeface="宋体" panose="02010600030101010101" pitchFamily="2" charset="-122"/>
              </a:rPr>
              <a:t>R</a:t>
            </a:r>
          </a:p>
        </p:txBody>
      </p:sp>
      <p:sp>
        <p:nvSpPr>
          <p:cNvPr id="42029" name="Line 45"/>
          <p:cNvSpPr>
            <a:spLocks noChangeShapeType="1"/>
          </p:cNvSpPr>
          <p:nvPr/>
        </p:nvSpPr>
        <p:spPr bwMode="auto">
          <a:xfrm flipV="1">
            <a:off x="1547813" y="2492623"/>
            <a:ext cx="0" cy="720725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30" name="Oval 46"/>
          <p:cNvSpPr>
            <a:spLocks noChangeArrowheads="1"/>
          </p:cNvSpPr>
          <p:nvPr/>
        </p:nvSpPr>
        <p:spPr bwMode="auto">
          <a:xfrm>
            <a:off x="2411413" y="4869111"/>
            <a:ext cx="431800" cy="433387"/>
          </a:xfrm>
          <a:prstGeom prst="ellips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C</a:t>
            </a:r>
          </a:p>
        </p:txBody>
      </p:sp>
      <p:sp>
        <p:nvSpPr>
          <p:cNvPr id="42031" name="Line 47"/>
          <p:cNvSpPr>
            <a:spLocks noChangeShapeType="1"/>
          </p:cNvSpPr>
          <p:nvPr/>
        </p:nvSpPr>
        <p:spPr bwMode="auto">
          <a:xfrm flipH="1" flipV="1">
            <a:off x="2771775" y="5229473"/>
            <a:ext cx="287338" cy="360363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32" name="Line 48"/>
          <p:cNvSpPr>
            <a:spLocks noChangeShapeType="1"/>
          </p:cNvSpPr>
          <p:nvPr/>
        </p:nvSpPr>
        <p:spPr bwMode="auto">
          <a:xfrm flipH="1">
            <a:off x="2124075" y="5229473"/>
            <a:ext cx="285750" cy="360363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33" name="Rectangle 49"/>
          <p:cNvSpPr>
            <a:spLocks noChangeArrowheads="1"/>
          </p:cNvSpPr>
          <p:nvPr/>
        </p:nvSpPr>
        <p:spPr bwMode="auto">
          <a:xfrm>
            <a:off x="2771775" y="5589836"/>
            <a:ext cx="431800" cy="720725"/>
          </a:xfrm>
          <a:prstGeom prst="rect">
            <a:avLst/>
          </a:prstGeom>
          <a:noFill/>
          <a:ln w="38100">
            <a:solidFill>
              <a:srgbClr val="0000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C</a:t>
            </a:r>
            <a:r>
              <a:rPr lang="en-US" altLang="zh-CN" baseline="-25000">
                <a:ea typeface="宋体" panose="02010600030101010101" pitchFamily="2" charset="-122"/>
              </a:rPr>
              <a:t>R</a:t>
            </a:r>
          </a:p>
        </p:txBody>
      </p:sp>
      <p:sp>
        <p:nvSpPr>
          <p:cNvPr id="42034" name="Rectangle 50"/>
          <p:cNvSpPr>
            <a:spLocks noChangeArrowheads="1"/>
          </p:cNvSpPr>
          <p:nvPr/>
        </p:nvSpPr>
        <p:spPr bwMode="auto">
          <a:xfrm>
            <a:off x="2771775" y="6310561"/>
            <a:ext cx="431800" cy="144462"/>
          </a:xfrm>
          <a:prstGeom prst="rect">
            <a:avLst/>
          </a:prstGeom>
          <a:solidFill>
            <a:srgbClr val="008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endParaRPr lang="zh-CN" altLang="en-US"/>
          </a:p>
        </p:txBody>
      </p:sp>
      <p:sp>
        <p:nvSpPr>
          <p:cNvPr id="42035" name="Oval 51"/>
          <p:cNvSpPr>
            <a:spLocks noChangeArrowheads="1"/>
          </p:cNvSpPr>
          <p:nvPr/>
        </p:nvSpPr>
        <p:spPr bwMode="auto">
          <a:xfrm>
            <a:off x="6227763" y="4221411"/>
            <a:ext cx="431800" cy="433387"/>
          </a:xfrm>
          <a:prstGeom prst="ellips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42036" name="Line 52"/>
          <p:cNvSpPr>
            <a:spLocks noChangeShapeType="1"/>
          </p:cNvSpPr>
          <p:nvPr/>
        </p:nvSpPr>
        <p:spPr bwMode="auto">
          <a:xfrm flipH="1" flipV="1">
            <a:off x="6588125" y="4653211"/>
            <a:ext cx="287338" cy="360362"/>
          </a:xfrm>
          <a:prstGeom prst="line">
            <a:avLst/>
          </a:prstGeom>
          <a:noFill/>
          <a:ln w="38100">
            <a:solidFill>
              <a:srgbClr val="CC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37" name="Line 53"/>
          <p:cNvSpPr>
            <a:spLocks noChangeShapeType="1"/>
          </p:cNvSpPr>
          <p:nvPr/>
        </p:nvSpPr>
        <p:spPr bwMode="auto">
          <a:xfrm flipH="1">
            <a:off x="6086475" y="4654798"/>
            <a:ext cx="285750" cy="360363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38" name="Rectangle 54"/>
          <p:cNvSpPr>
            <a:spLocks noChangeArrowheads="1"/>
          </p:cNvSpPr>
          <p:nvPr/>
        </p:nvSpPr>
        <p:spPr bwMode="auto">
          <a:xfrm>
            <a:off x="5870575" y="5015161"/>
            <a:ext cx="431800" cy="1366837"/>
          </a:xfrm>
          <a:prstGeom prst="rect">
            <a:avLst/>
          </a:prstGeom>
          <a:noFill/>
          <a:ln w="38100">
            <a:solidFill>
              <a:srgbClr val="0000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A</a:t>
            </a:r>
            <a:r>
              <a:rPr lang="zh-CN" altLang="en-US" baseline="-25000">
                <a:ea typeface="宋体" panose="02010600030101010101" pitchFamily="2" charset="-122"/>
              </a:rPr>
              <a:t>L</a:t>
            </a:r>
          </a:p>
        </p:txBody>
      </p:sp>
      <p:sp>
        <p:nvSpPr>
          <p:cNvPr id="42039" name="Rectangle 55"/>
          <p:cNvSpPr>
            <a:spLocks noChangeArrowheads="1"/>
          </p:cNvSpPr>
          <p:nvPr/>
        </p:nvSpPr>
        <p:spPr bwMode="auto">
          <a:xfrm>
            <a:off x="6659563" y="5013573"/>
            <a:ext cx="431800" cy="1223963"/>
          </a:xfrm>
          <a:prstGeom prst="rect">
            <a:avLst/>
          </a:prstGeom>
          <a:noFill/>
          <a:ln w="38100">
            <a:solidFill>
              <a:srgbClr val="0000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C</a:t>
            </a:r>
            <a:r>
              <a:rPr lang="en-US" altLang="zh-CN" baseline="-25000">
                <a:ea typeface="宋体" panose="02010600030101010101" pitchFamily="2" charset="-122"/>
              </a:rPr>
              <a:t>L</a:t>
            </a:r>
          </a:p>
        </p:txBody>
      </p:sp>
      <p:sp>
        <p:nvSpPr>
          <p:cNvPr id="42040" name="Rectangle 56"/>
          <p:cNvSpPr>
            <a:spLocks noChangeArrowheads="1"/>
          </p:cNvSpPr>
          <p:nvPr/>
        </p:nvSpPr>
        <p:spPr bwMode="auto">
          <a:xfrm>
            <a:off x="7235825" y="6237536"/>
            <a:ext cx="431800" cy="144462"/>
          </a:xfrm>
          <a:prstGeom prst="rect">
            <a:avLst/>
          </a:prstGeom>
          <a:solidFill>
            <a:srgbClr val="008000"/>
          </a:solidFill>
          <a:ln w="9525">
            <a:solidFill>
              <a:srgbClr val="CC00CC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endParaRPr lang="zh-CN" altLang="en-US"/>
          </a:p>
        </p:txBody>
      </p:sp>
      <p:sp>
        <p:nvSpPr>
          <p:cNvPr id="42041" name="AutoShape 57"/>
          <p:cNvSpPr>
            <a:spLocks noChangeArrowheads="1"/>
          </p:cNvSpPr>
          <p:nvPr/>
        </p:nvSpPr>
        <p:spPr bwMode="auto">
          <a:xfrm flipH="1">
            <a:off x="1692275" y="4005511"/>
            <a:ext cx="720725" cy="863600"/>
          </a:xfrm>
          <a:custGeom>
            <a:avLst/>
            <a:gdLst>
              <a:gd name="T0" fmla="*/ 19532616 w 21600"/>
              <a:gd name="T1" fmla="*/ 3778890 h 21600"/>
              <a:gd name="T2" fmla="*/ 9672798 w 21600"/>
              <a:gd name="T3" fmla="*/ 2305052 h 21600"/>
              <a:gd name="T4" fmla="*/ 17853695 w 21600"/>
              <a:gd name="T5" fmla="*/ 6793693 h 21600"/>
              <a:gd name="T6" fmla="*/ 27054413 w 21600"/>
              <a:gd name="T7" fmla="*/ 17264002 h 21600"/>
              <a:gd name="T8" fmla="*/ 22704539 w 21600"/>
              <a:gd name="T9" fmla="*/ 23511032 h 21600"/>
              <a:gd name="T10" fmla="*/ 18353564 w 21600"/>
              <a:gd name="T11" fmla="*/ 17264002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9185" y="10800"/>
                </a:moveTo>
                <a:cubicBezTo>
                  <a:pt x="19185" y="6169"/>
                  <a:pt x="15430" y="2415"/>
                  <a:pt x="10800" y="2415"/>
                </a:cubicBezTo>
                <a:cubicBezTo>
                  <a:pt x="10179" y="2414"/>
                  <a:pt x="9560" y="2483"/>
                  <a:pt x="8954" y="2620"/>
                </a:cubicBezTo>
                <a:lnTo>
                  <a:pt x="8422" y="264"/>
                </a:lnTo>
                <a:cubicBezTo>
                  <a:pt x="9203" y="88"/>
                  <a:pt x="10000" y="-1"/>
                  <a:pt x="10800" y="0"/>
                </a:cubicBezTo>
                <a:cubicBezTo>
                  <a:pt x="16764" y="0"/>
                  <a:pt x="21599" y="4835"/>
                  <a:pt x="21600" y="10799"/>
                </a:cubicBezTo>
                <a:lnTo>
                  <a:pt x="21600" y="10800"/>
                </a:lnTo>
                <a:lnTo>
                  <a:pt x="24300" y="10800"/>
                </a:lnTo>
                <a:lnTo>
                  <a:pt x="20393" y="14708"/>
                </a:lnTo>
                <a:lnTo>
                  <a:pt x="16485" y="10800"/>
                </a:lnTo>
                <a:lnTo>
                  <a:pt x="19185" y="10800"/>
                </a:lnTo>
                <a:close/>
              </a:path>
            </a:pathLst>
          </a:cu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42" name="Line 58"/>
          <p:cNvSpPr>
            <a:spLocks noChangeShapeType="1"/>
          </p:cNvSpPr>
          <p:nvPr/>
        </p:nvSpPr>
        <p:spPr bwMode="auto">
          <a:xfrm flipH="1" flipV="1">
            <a:off x="2411413" y="4005511"/>
            <a:ext cx="73025" cy="720725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51</a:t>
            </a:fld>
            <a:endParaRPr lang="zh-CN" altLang="en-US" dirty="0"/>
          </a:p>
        </p:txBody>
      </p:sp>
      <p:grpSp>
        <p:nvGrpSpPr>
          <p:cNvPr id="61" name="组合 114"/>
          <p:cNvGrpSpPr/>
          <p:nvPr/>
        </p:nvGrpSpPr>
        <p:grpSpPr>
          <a:xfrm>
            <a:off x="-396552" y="76388"/>
            <a:ext cx="6775654" cy="679510"/>
            <a:chOff x="-99459" y="3320919"/>
            <a:chExt cx="7301815" cy="722576"/>
          </a:xfrm>
        </p:grpSpPr>
        <p:grpSp>
          <p:nvGrpSpPr>
            <p:cNvPr id="62" name="组合 105"/>
            <p:cNvGrpSpPr/>
            <p:nvPr/>
          </p:nvGrpSpPr>
          <p:grpSpPr>
            <a:xfrm>
              <a:off x="-99459" y="3320919"/>
              <a:ext cx="7301815" cy="722576"/>
              <a:chOff x="-99459" y="3320919"/>
              <a:chExt cx="7301815" cy="722576"/>
            </a:xfrm>
          </p:grpSpPr>
          <p:sp>
            <p:nvSpPr>
              <p:cNvPr id="64" name="Freeform 5"/>
              <p:cNvSpPr>
                <a:spLocks/>
              </p:cNvSpPr>
              <p:nvPr/>
            </p:nvSpPr>
            <p:spPr bwMode="auto">
              <a:xfrm>
                <a:off x="933887" y="3380765"/>
                <a:ext cx="801702" cy="662730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EA6103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  <p:sp>
            <p:nvSpPr>
              <p:cNvPr id="65" name="TextBox 6"/>
              <p:cNvSpPr txBox="1">
                <a:spLocks noChangeArrowheads="1"/>
              </p:cNvSpPr>
              <p:nvPr/>
            </p:nvSpPr>
            <p:spPr bwMode="auto">
              <a:xfrm>
                <a:off x="-99459" y="3320919"/>
                <a:ext cx="7301815" cy="687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10.3 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树表的查找</a:t>
                </a:r>
              </a:p>
            </p:txBody>
          </p:sp>
        </p:grpSp>
        <p:pic>
          <p:nvPicPr>
            <p:cNvPr id="63" name="图片 62" descr="12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5929" y="3530600"/>
              <a:ext cx="446172" cy="431048"/>
            </a:xfrm>
            <a:prstGeom prst="rect">
              <a:avLst/>
            </a:prstGeom>
          </p:spPr>
        </p:pic>
      </p:grpSp>
      <p:sp>
        <p:nvSpPr>
          <p:cNvPr id="66" name="矩形 65"/>
          <p:cNvSpPr/>
          <p:nvPr/>
        </p:nvSpPr>
        <p:spPr>
          <a:xfrm>
            <a:off x="394291" y="957296"/>
            <a:ext cx="35333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800" b="1" dirty="0"/>
              <a:t>10.3.2 </a:t>
            </a:r>
            <a:r>
              <a:rPr lang="zh-CN" altLang="en-US" sz="2800" b="1" dirty="0"/>
              <a:t>平衡二叉树 </a:t>
            </a:r>
          </a:p>
        </p:txBody>
      </p:sp>
    </p:spTree>
    <p:extLst>
      <p:ext uri="{BB962C8B-B14F-4D97-AF65-F5344CB8AC3E}">
        <p14:creationId xmlns:p14="http://schemas.microsoft.com/office/powerpoint/2010/main" val="2561093066"/>
      </p:ext>
    </p:extLst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 nodeType="clickPar">
                      <p:stCondLst>
                        <p:cond delay="indefinite"/>
                      </p:stCondLst>
                      <p:childTnLst>
                        <p:par>
                          <p:cTn id="1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8" grpId="0" animBg="1" autoUpdateAnimBg="0"/>
      <p:bldP spid="41990" grpId="0" animBg="1" autoUpdateAnimBg="0"/>
      <p:bldP spid="41991" grpId="0" animBg="1" autoUpdateAnimBg="0"/>
      <p:bldP spid="41993" grpId="0" animBg="1" autoUpdateAnimBg="0"/>
      <p:bldP spid="41998" grpId="0" animBg="1" autoUpdateAnimBg="0"/>
      <p:bldP spid="42001" grpId="0" animBg="1" autoUpdateAnimBg="0"/>
      <p:bldP spid="42003" grpId="0" animBg="1" autoUpdateAnimBg="0"/>
      <p:bldP spid="42005" grpId="0" animBg="1" autoUpdateAnimBg="0"/>
      <p:bldP spid="42006" grpId="0" animBg="1"/>
      <p:bldP spid="42008" grpId="0" animBg="1" autoUpdateAnimBg="0"/>
      <p:bldP spid="42010" grpId="0" animBg="1" autoUpdateAnimBg="0"/>
      <p:bldP spid="42014" grpId="0" autoUpdateAnimBg="0"/>
      <p:bldP spid="42018" grpId="0" autoUpdateAnimBg="0"/>
      <p:bldP spid="42019" grpId="0" animBg="1" autoUpdateAnimBg="0"/>
      <p:bldP spid="42020" grpId="0" bldLvl="0" animBg="1" autoUpdateAnimBg="0"/>
      <p:bldP spid="42022" grpId="0" bldLvl="0" animBg="1" autoUpdateAnimBg="0"/>
      <p:bldP spid="42024" grpId="0" animBg="1"/>
      <p:bldP spid="42026" grpId="0" bldLvl="0" animBg="1" autoUpdateAnimBg="0"/>
      <p:bldP spid="42028" grpId="0" bldLvl="0" animBg="1" autoUpdateAnimBg="0"/>
      <p:bldP spid="42030" grpId="0" animBg="1" autoUpdateAnimBg="0"/>
      <p:bldP spid="42033" grpId="0" animBg="1" autoUpdateAnimBg="0"/>
      <p:bldP spid="42034" grpId="0" animBg="1"/>
      <p:bldP spid="42035" grpId="0" bldLvl="0" animBg="1" autoUpdateAnimBg="0"/>
      <p:bldP spid="42038" grpId="0" bldLvl="0" animBg="1" autoUpdateAnimBg="0"/>
      <p:bldP spid="42039" grpId="0" bldLvl="0" animBg="1" autoUpdateAnimBg="0"/>
      <p:bldP spid="42040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60897"/>
            <a:ext cx="8229600" cy="5018856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RR</a:t>
            </a:r>
            <a:r>
              <a:rPr lang="zh-CN" altLang="en-US" sz="2000" dirty="0"/>
              <a:t>型（图示）： </a:t>
            </a:r>
          </a:p>
        </p:txBody>
      </p:sp>
      <p:sp>
        <p:nvSpPr>
          <p:cNvPr id="43012" name="Oval 4"/>
          <p:cNvSpPr>
            <a:spLocks noChangeArrowheads="1"/>
          </p:cNvSpPr>
          <p:nvPr/>
        </p:nvSpPr>
        <p:spPr bwMode="auto">
          <a:xfrm>
            <a:off x="2124075" y="1700907"/>
            <a:ext cx="431800" cy="433388"/>
          </a:xfrm>
          <a:prstGeom prst="ellips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43013" name="Line 5"/>
          <p:cNvSpPr>
            <a:spLocks noChangeShapeType="1"/>
          </p:cNvSpPr>
          <p:nvPr/>
        </p:nvSpPr>
        <p:spPr bwMode="auto">
          <a:xfrm>
            <a:off x="2482850" y="2061270"/>
            <a:ext cx="504825" cy="504825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14" name="Oval 6"/>
          <p:cNvSpPr>
            <a:spLocks noChangeArrowheads="1"/>
          </p:cNvSpPr>
          <p:nvPr/>
        </p:nvSpPr>
        <p:spPr bwMode="auto">
          <a:xfrm>
            <a:off x="2916238" y="2493070"/>
            <a:ext cx="431800" cy="433387"/>
          </a:xfrm>
          <a:prstGeom prst="ellips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43015" name="Oval 7"/>
          <p:cNvSpPr>
            <a:spLocks noChangeArrowheads="1"/>
          </p:cNvSpPr>
          <p:nvPr/>
        </p:nvSpPr>
        <p:spPr bwMode="auto">
          <a:xfrm>
            <a:off x="3779838" y="3285232"/>
            <a:ext cx="431800" cy="433388"/>
          </a:xfrm>
          <a:prstGeom prst="ellips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C</a:t>
            </a:r>
          </a:p>
        </p:txBody>
      </p:sp>
      <p:sp>
        <p:nvSpPr>
          <p:cNvPr id="43016" name="Line 8"/>
          <p:cNvSpPr>
            <a:spLocks noChangeShapeType="1"/>
          </p:cNvSpPr>
          <p:nvPr/>
        </p:nvSpPr>
        <p:spPr bwMode="auto">
          <a:xfrm>
            <a:off x="3276600" y="2855020"/>
            <a:ext cx="576263" cy="50165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17" name="AutoShape 9"/>
          <p:cNvSpPr>
            <a:spLocks noChangeArrowheads="1"/>
          </p:cNvSpPr>
          <p:nvPr/>
        </p:nvSpPr>
        <p:spPr bwMode="auto">
          <a:xfrm>
            <a:off x="4498975" y="2493070"/>
            <a:ext cx="936625" cy="577850"/>
          </a:xfrm>
          <a:prstGeom prst="rightArrow">
            <a:avLst>
              <a:gd name="adj1" fmla="val 50000"/>
              <a:gd name="adj2" fmla="val 40522"/>
            </a:avLst>
          </a:prstGeom>
          <a:noFill/>
          <a:ln w="28575">
            <a:solidFill>
              <a:srgbClr val="CC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RR</a:t>
            </a:r>
            <a:r>
              <a:rPr lang="zh-CN" altLang="en-US">
                <a:ea typeface="宋体" panose="02010600030101010101" pitchFamily="2" charset="-122"/>
              </a:rPr>
              <a:t>型</a:t>
            </a: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6084888" y="1772345"/>
            <a:ext cx="1008062" cy="1370012"/>
            <a:chOff x="0" y="0"/>
            <a:chExt cx="635" cy="863"/>
          </a:xfrm>
        </p:grpSpPr>
        <p:sp>
          <p:nvSpPr>
            <p:cNvPr id="42029" name="Oval 11"/>
            <p:cNvSpPr>
              <a:spLocks noChangeArrowheads="1"/>
            </p:cNvSpPr>
            <p:nvPr/>
          </p:nvSpPr>
          <p:spPr bwMode="auto">
            <a:xfrm>
              <a:off x="363" y="0"/>
              <a:ext cx="272" cy="273"/>
            </a:xfrm>
            <a:prstGeom prst="ellipse">
              <a:avLst/>
            </a:prstGeom>
            <a:noFill/>
            <a:ln w="38100">
              <a:solidFill>
                <a:srgbClr val="00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42030" name="Line 12"/>
            <p:cNvSpPr>
              <a:spLocks noChangeShapeType="1"/>
            </p:cNvSpPr>
            <p:nvPr/>
          </p:nvSpPr>
          <p:spPr bwMode="auto">
            <a:xfrm flipH="1">
              <a:off x="181" y="228"/>
              <a:ext cx="227" cy="362"/>
            </a:xfrm>
            <a:prstGeom prst="line">
              <a:avLst/>
            </a:prstGeom>
            <a:noFill/>
            <a:ln w="38100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31" name="Oval 13"/>
            <p:cNvSpPr>
              <a:spLocks noChangeArrowheads="1"/>
            </p:cNvSpPr>
            <p:nvPr/>
          </p:nvSpPr>
          <p:spPr bwMode="auto">
            <a:xfrm>
              <a:off x="0" y="590"/>
              <a:ext cx="272" cy="273"/>
            </a:xfrm>
            <a:prstGeom prst="ellipse">
              <a:avLst/>
            </a:prstGeom>
            <a:noFill/>
            <a:ln w="38100">
              <a:solidFill>
                <a:srgbClr val="00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A</a:t>
              </a:r>
            </a:p>
          </p:txBody>
        </p:sp>
      </p:grpSp>
      <p:sp>
        <p:nvSpPr>
          <p:cNvPr id="43022" name="Oval 14"/>
          <p:cNvSpPr>
            <a:spLocks noChangeArrowheads="1"/>
          </p:cNvSpPr>
          <p:nvPr/>
        </p:nvSpPr>
        <p:spPr bwMode="auto">
          <a:xfrm>
            <a:off x="7308850" y="2708970"/>
            <a:ext cx="431800" cy="433387"/>
          </a:xfrm>
          <a:prstGeom prst="ellips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C</a:t>
            </a:r>
          </a:p>
        </p:txBody>
      </p:sp>
      <p:sp>
        <p:nvSpPr>
          <p:cNvPr id="43023" name="Line 15"/>
          <p:cNvSpPr>
            <a:spLocks noChangeShapeType="1"/>
          </p:cNvSpPr>
          <p:nvPr/>
        </p:nvSpPr>
        <p:spPr bwMode="auto">
          <a:xfrm>
            <a:off x="7019925" y="2132707"/>
            <a:ext cx="431800" cy="576263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24" name="AutoShape 16"/>
          <p:cNvSpPr>
            <a:spLocks noChangeArrowheads="1"/>
          </p:cNvSpPr>
          <p:nvPr/>
        </p:nvSpPr>
        <p:spPr bwMode="auto">
          <a:xfrm flipH="1">
            <a:off x="1620838" y="2061270"/>
            <a:ext cx="647700" cy="863600"/>
          </a:xfrm>
          <a:custGeom>
            <a:avLst/>
            <a:gdLst>
              <a:gd name="T0" fmla="*/ 18394261 w 21600"/>
              <a:gd name="T1" fmla="*/ 9533583 h 21600"/>
              <a:gd name="T2" fmla="*/ 6687112 w 21600"/>
              <a:gd name="T3" fmla="*/ 3340893 h 21600"/>
              <a:gd name="T4" fmla="*/ 16039333 w 21600"/>
              <a:gd name="T5" fmla="*/ 11629214 h 21600"/>
              <a:gd name="T6" fmla="*/ 16158917 w 21600"/>
              <a:gd name="T7" fmla="*/ 35546253 h 21600"/>
              <a:gd name="T8" fmla="*/ 10997706 w 21600"/>
              <a:gd name="T9" fmla="*/ 33442628 h 21600"/>
              <a:gd name="T10" fmla="*/ 12181017 w 21600"/>
              <a:gd name="T11" fmla="*/ 24267121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4981" y="17469"/>
                </a:moveTo>
                <a:cubicBezTo>
                  <a:pt x="17277" y="16029"/>
                  <a:pt x="18672" y="13510"/>
                  <a:pt x="18672" y="10800"/>
                </a:cubicBezTo>
                <a:cubicBezTo>
                  <a:pt x="18672" y="6452"/>
                  <a:pt x="15147" y="2928"/>
                  <a:pt x="10800" y="2928"/>
                </a:cubicBezTo>
                <a:cubicBezTo>
                  <a:pt x="9830" y="2927"/>
                  <a:pt x="8869" y="3107"/>
                  <a:pt x="7964" y="3456"/>
                </a:cubicBezTo>
                <a:lnTo>
                  <a:pt x="6910" y="724"/>
                </a:lnTo>
                <a:cubicBezTo>
                  <a:pt x="8151" y="245"/>
                  <a:pt x="9469" y="-1"/>
                  <a:pt x="10800" y="0"/>
                </a:cubicBezTo>
                <a:cubicBezTo>
                  <a:pt x="16764" y="0"/>
                  <a:pt x="21600" y="4835"/>
                  <a:pt x="21600" y="10800"/>
                </a:cubicBezTo>
                <a:cubicBezTo>
                  <a:pt x="21600" y="14518"/>
                  <a:pt x="19687" y="17975"/>
                  <a:pt x="16537" y="19950"/>
                </a:cubicBezTo>
                <a:lnTo>
                  <a:pt x="17971" y="22237"/>
                </a:lnTo>
                <a:lnTo>
                  <a:pt x="12231" y="20921"/>
                </a:lnTo>
                <a:lnTo>
                  <a:pt x="13547" y="15181"/>
                </a:lnTo>
                <a:lnTo>
                  <a:pt x="14981" y="17469"/>
                </a:lnTo>
                <a:close/>
              </a:path>
            </a:pathLst>
          </a:cu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025" name="Oval 17"/>
          <p:cNvSpPr>
            <a:spLocks noChangeArrowheads="1"/>
          </p:cNvSpPr>
          <p:nvPr/>
        </p:nvSpPr>
        <p:spPr bwMode="auto">
          <a:xfrm>
            <a:off x="1762125" y="3285232"/>
            <a:ext cx="431800" cy="433388"/>
          </a:xfrm>
          <a:prstGeom prst="ellips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43026" name="Line 18"/>
          <p:cNvSpPr>
            <a:spLocks noChangeShapeType="1"/>
          </p:cNvSpPr>
          <p:nvPr/>
        </p:nvSpPr>
        <p:spPr bwMode="auto">
          <a:xfrm flipH="1">
            <a:off x="1473200" y="3647182"/>
            <a:ext cx="360363" cy="574675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27" name="Oval 19"/>
          <p:cNvSpPr>
            <a:spLocks noChangeArrowheads="1"/>
          </p:cNvSpPr>
          <p:nvPr/>
        </p:nvSpPr>
        <p:spPr bwMode="auto">
          <a:xfrm>
            <a:off x="2482850" y="4291707"/>
            <a:ext cx="431800" cy="433388"/>
          </a:xfrm>
          <a:prstGeom prst="ellips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43028" name="Line 20"/>
          <p:cNvSpPr>
            <a:spLocks noChangeShapeType="1"/>
          </p:cNvSpPr>
          <p:nvPr/>
        </p:nvSpPr>
        <p:spPr bwMode="auto">
          <a:xfrm flipH="1">
            <a:off x="2339975" y="4582220"/>
            <a:ext cx="214313" cy="287337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29" name="Rectangle 21"/>
          <p:cNvSpPr>
            <a:spLocks noChangeArrowheads="1"/>
          </p:cNvSpPr>
          <p:nvPr/>
        </p:nvSpPr>
        <p:spPr bwMode="auto">
          <a:xfrm>
            <a:off x="2051050" y="4869557"/>
            <a:ext cx="431800" cy="1223963"/>
          </a:xfrm>
          <a:prstGeom prst="rect">
            <a:avLst/>
          </a:prstGeom>
          <a:noFill/>
          <a:ln w="38100">
            <a:solidFill>
              <a:srgbClr val="0000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B</a:t>
            </a:r>
            <a:r>
              <a:rPr lang="en-US" altLang="zh-CN" baseline="-25000">
                <a:ea typeface="宋体" panose="02010600030101010101" pitchFamily="2" charset="-122"/>
              </a:rPr>
              <a:t>L</a:t>
            </a:r>
          </a:p>
        </p:txBody>
      </p:sp>
      <p:sp>
        <p:nvSpPr>
          <p:cNvPr id="43030" name="Rectangle 22"/>
          <p:cNvSpPr>
            <a:spLocks noChangeArrowheads="1"/>
          </p:cNvSpPr>
          <p:nvPr/>
        </p:nvSpPr>
        <p:spPr bwMode="auto">
          <a:xfrm>
            <a:off x="2843213" y="6093520"/>
            <a:ext cx="431800" cy="144462"/>
          </a:xfrm>
          <a:prstGeom prst="rect">
            <a:avLst/>
          </a:prstGeom>
          <a:solidFill>
            <a:srgbClr val="008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endParaRPr lang="zh-CN" altLang="en-US"/>
          </a:p>
        </p:txBody>
      </p:sp>
      <p:sp>
        <p:nvSpPr>
          <p:cNvPr id="43031" name="Line 23"/>
          <p:cNvSpPr>
            <a:spLocks noChangeShapeType="1"/>
          </p:cNvSpPr>
          <p:nvPr/>
        </p:nvSpPr>
        <p:spPr bwMode="auto">
          <a:xfrm>
            <a:off x="2841625" y="4653657"/>
            <a:ext cx="146050" cy="21590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32" name="Rectangle 24"/>
          <p:cNvSpPr>
            <a:spLocks noChangeArrowheads="1"/>
          </p:cNvSpPr>
          <p:nvPr/>
        </p:nvSpPr>
        <p:spPr bwMode="auto">
          <a:xfrm>
            <a:off x="2843213" y="4869557"/>
            <a:ext cx="431800" cy="1223963"/>
          </a:xfrm>
          <a:prstGeom prst="rect">
            <a:avLst/>
          </a:prstGeom>
          <a:noFill/>
          <a:ln w="38100">
            <a:solidFill>
              <a:srgbClr val="0000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B</a:t>
            </a:r>
            <a:r>
              <a:rPr lang="en-US" altLang="zh-CN" baseline="-25000">
                <a:ea typeface="宋体" panose="02010600030101010101" pitchFamily="2" charset="-122"/>
              </a:rPr>
              <a:t>R</a:t>
            </a:r>
          </a:p>
        </p:txBody>
      </p:sp>
      <p:sp>
        <p:nvSpPr>
          <p:cNvPr id="43033" name="Line 25"/>
          <p:cNvSpPr>
            <a:spLocks noChangeShapeType="1"/>
          </p:cNvSpPr>
          <p:nvPr/>
        </p:nvSpPr>
        <p:spPr bwMode="auto">
          <a:xfrm>
            <a:off x="2192338" y="3645595"/>
            <a:ext cx="504825" cy="64770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34" name="Rectangle 26"/>
          <p:cNvSpPr>
            <a:spLocks noChangeArrowheads="1"/>
          </p:cNvSpPr>
          <p:nvPr/>
        </p:nvSpPr>
        <p:spPr bwMode="auto">
          <a:xfrm>
            <a:off x="1185863" y="4293295"/>
            <a:ext cx="431800" cy="1296987"/>
          </a:xfrm>
          <a:prstGeom prst="rect">
            <a:avLst/>
          </a:prstGeom>
          <a:noFill/>
          <a:ln w="38100">
            <a:solidFill>
              <a:srgbClr val="0000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A</a:t>
            </a:r>
            <a:r>
              <a:rPr lang="zh-CN" altLang="en-US" baseline="-25000">
                <a:ea typeface="宋体" panose="02010600030101010101" pitchFamily="2" charset="-122"/>
              </a:rPr>
              <a:t>L</a:t>
            </a:r>
          </a:p>
        </p:txBody>
      </p:sp>
      <p:sp>
        <p:nvSpPr>
          <p:cNvPr id="43035" name="Line 27"/>
          <p:cNvSpPr>
            <a:spLocks noChangeShapeType="1"/>
          </p:cNvSpPr>
          <p:nvPr/>
        </p:nvSpPr>
        <p:spPr bwMode="auto">
          <a:xfrm>
            <a:off x="2338388" y="4293295"/>
            <a:ext cx="2016125" cy="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36" name="Line 28"/>
          <p:cNvSpPr>
            <a:spLocks noChangeShapeType="1"/>
          </p:cNvSpPr>
          <p:nvPr/>
        </p:nvSpPr>
        <p:spPr bwMode="auto">
          <a:xfrm>
            <a:off x="2339975" y="6237982"/>
            <a:ext cx="2016125" cy="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37" name="Line 29"/>
          <p:cNvSpPr>
            <a:spLocks noChangeShapeType="1"/>
          </p:cNvSpPr>
          <p:nvPr/>
        </p:nvSpPr>
        <p:spPr bwMode="auto">
          <a:xfrm>
            <a:off x="3706813" y="4293295"/>
            <a:ext cx="1587" cy="2016125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38" name="Text Box 30"/>
          <p:cNvSpPr txBox="1">
            <a:spLocks noChangeArrowheads="1"/>
          </p:cNvSpPr>
          <p:nvPr/>
        </p:nvSpPr>
        <p:spPr bwMode="auto">
          <a:xfrm>
            <a:off x="3419475" y="5158482"/>
            <a:ext cx="7191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h+2</a:t>
            </a:r>
          </a:p>
        </p:txBody>
      </p:sp>
      <p:sp>
        <p:nvSpPr>
          <p:cNvPr id="43039" name="Line 31"/>
          <p:cNvSpPr>
            <a:spLocks noChangeShapeType="1"/>
          </p:cNvSpPr>
          <p:nvPr/>
        </p:nvSpPr>
        <p:spPr bwMode="auto">
          <a:xfrm>
            <a:off x="322263" y="4293295"/>
            <a:ext cx="1150937" cy="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40" name="Line 32"/>
          <p:cNvSpPr>
            <a:spLocks noChangeShapeType="1"/>
          </p:cNvSpPr>
          <p:nvPr/>
        </p:nvSpPr>
        <p:spPr bwMode="auto">
          <a:xfrm>
            <a:off x="395288" y="5590282"/>
            <a:ext cx="1079500" cy="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41" name="Line 33"/>
          <p:cNvSpPr>
            <a:spLocks noChangeShapeType="1"/>
          </p:cNvSpPr>
          <p:nvPr/>
        </p:nvSpPr>
        <p:spPr bwMode="auto">
          <a:xfrm>
            <a:off x="611188" y="4293295"/>
            <a:ext cx="0" cy="1296987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42" name="Text Box 34"/>
          <p:cNvSpPr txBox="1">
            <a:spLocks noChangeArrowheads="1"/>
          </p:cNvSpPr>
          <p:nvPr/>
        </p:nvSpPr>
        <p:spPr bwMode="auto">
          <a:xfrm>
            <a:off x="541338" y="4798120"/>
            <a:ext cx="2873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h</a:t>
            </a:r>
          </a:p>
        </p:txBody>
      </p:sp>
      <p:sp>
        <p:nvSpPr>
          <p:cNvPr id="43043" name="AutoShape 35"/>
          <p:cNvSpPr>
            <a:spLocks noChangeArrowheads="1"/>
          </p:cNvSpPr>
          <p:nvPr/>
        </p:nvSpPr>
        <p:spPr bwMode="auto">
          <a:xfrm>
            <a:off x="4427538" y="4725095"/>
            <a:ext cx="936625" cy="577850"/>
          </a:xfrm>
          <a:prstGeom prst="rightArrow">
            <a:avLst>
              <a:gd name="adj1" fmla="val 50000"/>
              <a:gd name="adj2" fmla="val 40522"/>
            </a:avLst>
          </a:prstGeom>
          <a:noFill/>
          <a:ln w="28575">
            <a:solidFill>
              <a:srgbClr val="CC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RR</a:t>
            </a:r>
            <a:r>
              <a:rPr lang="zh-CN" altLang="en-US">
                <a:ea typeface="宋体" panose="02010600030101010101" pitchFamily="2" charset="-122"/>
              </a:rPr>
              <a:t>型</a:t>
            </a:r>
          </a:p>
        </p:txBody>
      </p:sp>
      <p:sp>
        <p:nvSpPr>
          <p:cNvPr id="43044" name="Oval 36"/>
          <p:cNvSpPr>
            <a:spLocks noChangeArrowheads="1"/>
          </p:cNvSpPr>
          <p:nvPr/>
        </p:nvSpPr>
        <p:spPr bwMode="auto">
          <a:xfrm>
            <a:off x="6229350" y="4221857"/>
            <a:ext cx="431800" cy="433388"/>
          </a:xfrm>
          <a:prstGeom prst="ellips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43045" name="Line 37"/>
          <p:cNvSpPr>
            <a:spLocks noChangeShapeType="1"/>
          </p:cNvSpPr>
          <p:nvPr/>
        </p:nvSpPr>
        <p:spPr bwMode="auto">
          <a:xfrm flipH="1" flipV="1">
            <a:off x="6588125" y="4582220"/>
            <a:ext cx="287338" cy="360362"/>
          </a:xfrm>
          <a:prstGeom prst="line">
            <a:avLst/>
          </a:prstGeom>
          <a:noFill/>
          <a:ln w="38100">
            <a:solidFill>
              <a:srgbClr val="CC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46" name="Oval 38"/>
          <p:cNvSpPr>
            <a:spLocks noChangeArrowheads="1"/>
          </p:cNvSpPr>
          <p:nvPr/>
        </p:nvSpPr>
        <p:spPr bwMode="auto">
          <a:xfrm>
            <a:off x="6877050" y="3358257"/>
            <a:ext cx="431800" cy="433388"/>
          </a:xfrm>
          <a:prstGeom prst="ellips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43047" name="Line 39"/>
          <p:cNvSpPr>
            <a:spLocks noChangeShapeType="1"/>
          </p:cNvSpPr>
          <p:nvPr/>
        </p:nvSpPr>
        <p:spPr bwMode="auto">
          <a:xfrm flipH="1">
            <a:off x="6516688" y="3717032"/>
            <a:ext cx="431800" cy="504825"/>
          </a:xfrm>
          <a:prstGeom prst="line">
            <a:avLst/>
          </a:prstGeom>
          <a:noFill/>
          <a:ln w="38100">
            <a:solidFill>
              <a:srgbClr val="CC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48" name="Rectangle 40"/>
          <p:cNvSpPr>
            <a:spLocks noChangeArrowheads="1"/>
          </p:cNvSpPr>
          <p:nvPr/>
        </p:nvSpPr>
        <p:spPr bwMode="auto">
          <a:xfrm>
            <a:off x="6516688" y="4942582"/>
            <a:ext cx="431800" cy="1223963"/>
          </a:xfrm>
          <a:prstGeom prst="rect">
            <a:avLst/>
          </a:prstGeom>
          <a:noFill/>
          <a:ln w="38100">
            <a:solidFill>
              <a:srgbClr val="CC00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B</a:t>
            </a:r>
            <a:r>
              <a:rPr lang="en-US" altLang="zh-CN" baseline="-25000">
                <a:ea typeface="宋体" panose="02010600030101010101" pitchFamily="2" charset="-122"/>
              </a:rPr>
              <a:t>L</a:t>
            </a:r>
          </a:p>
        </p:txBody>
      </p:sp>
      <p:sp>
        <p:nvSpPr>
          <p:cNvPr id="43049" name="Rectangle 41"/>
          <p:cNvSpPr>
            <a:spLocks noChangeArrowheads="1"/>
          </p:cNvSpPr>
          <p:nvPr/>
        </p:nvSpPr>
        <p:spPr bwMode="auto">
          <a:xfrm>
            <a:off x="7524750" y="5990332"/>
            <a:ext cx="431800" cy="174625"/>
          </a:xfrm>
          <a:prstGeom prst="rect">
            <a:avLst/>
          </a:prstGeom>
          <a:solidFill>
            <a:srgbClr val="008000"/>
          </a:solidFill>
          <a:ln w="9525">
            <a:solidFill>
              <a:srgbClr val="CC00CC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endParaRPr lang="zh-CN" altLang="en-US"/>
          </a:p>
        </p:txBody>
      </p:sp>
      <p:sp>
        <p:nvSpPr>
          <p:cNvPr id="43050" name="Line 42"/>
          <p:cNvSpPr>
            <a:spLocks noChangeShapeType="1"/>
          </p:cNvSpPr>
          <p:nvPr/>
        </p:nvSpPr>
        <p:spPr bwMode="auto">
          <a:xfrm flipH="1">
            <a:off x="6011863" y="4582220"/>
            <a:ext cx="285750" cy="322262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51" name="Rectangle 43"/>
          <p:cNvSpPr>
            <a:spLocks noChangeArrowheads="1"/>
          </p:cNvSpPr>
          <p:nvPr/>
        </p:nvSpPr>
        <p:spPr bwMode="auto">
          <a:xfrm>
            <a:off x="5795963" y="4942582"/>
            <a:ext cx="431800" cy="1223963"/>
          </a:xfrm>
          <a:prstGeom prst="rect">
            <a:avLst/>
          </a:prstGeom>
          <a:noFill/>
          <a:ln w="38100">
            <a:solidFill>
              <a:srgbClr val="0000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A</a:t>
            </a:r>
            <a:r>
              <a:rPr lang="zh-CN" altLang="en-US" baseline="-25000">
                <a:ea typeface="宋体" panose="02010600030101010101" pitchFamily="2" charset="-122"/>
              </a:rPr>
              <a:t>L</a:t>
            </a:r>
          </a:p>
        </p:txBody>
      </p:sp>
      <p:sp>
        <p:nvSpPr>
          <p:cNvPr id="43052" name="Line 44"/>
          <p:cNvSpPr>
            <a:spLocks noChangeShapeType="1"/>
          </p:cNvSpPr>
          <p:nvPr/>
        </p:nvSpPr>
        <p:spPr bwMode="auto">
          <a:xfrm>
            <a:off x="7305675" y="3715445"/>
            <a:ext cx="506413" cy="865187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53" name="Rectangle 45"/>
          <p:cNvSpPr>
            <a:spLocks noChangeArrowheads="1"/>
          </p:cNvSpPr>
          <p:nvPr/>
        </p:nvSpPr>
        <p:spPr bwMode="auto">
          <a:xfrm>
            <a:off x="7524750" y="4653657"/>
            <a:ext cx="431800" cy="1366838"/>
          </a:xfrm>
          <a:prstGeom prst="rect">
            <a:avLst/>
          </a:prstGeom>
          <a:noFill/>
          <a:ln w="38100">
            <a:solidFill>
              <a:srgbClr val="0000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B</a:t>
            </a:r>
            <a:r>
              <a:rPr lang="en-US" altLang="zh-CN" baseline="-25000">
                <a:ea typeface="宋体" panose="02010600030101010101" pitchFamily="2" charset="-122"/>
              </a:rPr>
              <a:t>R</a:t>
            </a:r>
          </a:p>
        </p:txBody>
      </p:sp>
      <p:sp>
        <p:nvSpPr>
          <p:cNvPr id="43054" name="AutoShape 46"/>
          <p:cNvSpPr>
            <a:spLocks noChangeArrowheads="1"/>
          </p:cNvSpPr>
          <p:nvPr/>
        </p:nvSpPr>
        <p:spPr bwMode="auto">
          <a:xfrm flipH="1">
            <a:off x="1476375" y="3932932"/>
            <a:ext cx="1366838" cy="863600"/>
          </a:xfrm>
          <a:custGeom>
            <a:avLst/>
            <a:gdLst>
              <a:gd name="T0" fmla="*/ 78352157 w 21600"/>
              <a:gd name="T1" fmla="*/ 7182153 h 21600"/>
              <a:gd name="T2" fmla="*/ 19528952 w 21600"/>
              <a:gd name="T3" fmla="*/ 5725908 h 21600"/>
              <a:gd name="T4" fmla="*/ 68833905 w 21600"/>
              <a:gd name="T5" fmla="*/ 9915606 h 21600"/>
              <a:gd name="T6" fmla="*/ 71961305 w 21600"/>
              <a:gd name="T7" fmla="*/ 35546253 h 21600"/>
              <a:gd name="T8" fmla="*/ 48976588 w 21600"/>
              <a:gd name="T9" fmla="*/ 33442628 h 21600"/>
              <a:gd name="T10" fmla="*/ 54246253 w 21600"/>
              <a:gd name="T11" fmla="*/ 24267121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4981" y="17469"/>
                </a:moveTo>
                <a:cubicBezTo>
                  <a:pt x="17277" y="16029"/>
                  <a:pt x="18672" y="13510"/>
                  <a:pt x="18672" y="10800"/>
                </a:cubicBezTo>
                <a:cubicBezTo>
                  <a:pt x="18672" y="6452"/>
                  <a:pt x="15147" y="2928"/>
                  <a:pt x="10800" y="2928"/>
                </a:cubicBezTo>
                <a:cubicBezTo>
                  <a:pt x="8978" y="2927"/>
                  <a:pt x="7214" y="3559"/>
                  <a:pt x="5806" y="4714"/>
                </a:cubicBezTo>
                <a:lnTo>
                  <a:pt x="3948" y="2451"/>
                </a:lnTo>
                <a:cubicBezTo>
                  <a:pt x="5880" y="866"/>
                  <a:pt x="8301" y="-1"/>
                  <a:pt x="10800" y="0"/>
                </a:cubicBezTo>
                <a:cubicBezTo>
                  <a:pt x="16764" y="0"/>
                  <a:pt x="21600" y="4835"/>
                  <a:pt x="21600" y="10800"/>
                </a:cubicBezTo>
                <a:cubicBezTo>
                  <a:pt x="21600" y="14518"/>
                  <a:pt x="19687" y="17975"/>
                  <a:pt x="16537" y="19950"/>
                </a:cubicBezTo>
                <a:lnTo>
                  <a:pt x="17971" y="22237"/>
                </a:lnTo>
                <a:lnTo>
                  <a:pt x="12231" y="20921"/>
                </a:lnTo>
                <a:lnTo>
                  <a:pt x="13547" y="15181"/>
                </a:lnTo>
                <a:lnTo>
                  <a:pt x="14981" y="17469"/>
                </a:lnTo>
                <a:close/>
              </a:path>
            </a:pathLst>
          </a:cu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52</a:t>
            </a:fld>
            <a:endParaRPr lang="zh-CN" altLang="en-US" dirty="0"/>
          </a:p>
        </p:txBody>
      </p:sp>
      <p:grpSp>
        <p:nvGrpSpPr>
          <p:cNvPr id="49" name="组合 114"/>
          <p:cNvGrpSpPr/>
          <p:nvPr/>
        </p:nvGrpSpPr>
        <p:grpSpPr>
          <a:xfrm>
            <a:off x="-396552" y="76388"/>
            <a:ext cx="6775654" cy="679510"/>
            <a:chOff x="-99459" y="3320919"/>
            <a:chExt cx="7301815" cy="722576"/>
          </a:xfrm>
        </p:grpSpPr>
        <p:grpSp>
          <p:nvGrpSpPr>
            <p:cNvPr id="50" name="组合 105"/>
            <p:cNvGrpSpPr/>
            <p:nvPr/>
          </p:nvGrpSpPr>
          <p:grpSpPr>
            <a:xfrm>
              <a:off x="-99459" y="3320919"/>
              <a:ext cx="7301815" cy="722576"/>
              <a:chOff x="-99459" y="3320919"/>
              <a:chExt cx="7301815" cy="722576"/>
            </a:xfrm>
          </p:grpSpPr>
          <p:sp>
            <p:nvSpPr>
              <p:cNvPr id="52" name="Freeform 5"/>
              <p:cNvSpPr>
                <a:spLocks/>
              </p:cNvSpPr>
              <p:nvPr/>
            </p:nvSpPr>
            <p:spPr bwMode="auto">
              <a:xfrm>
                <a:off x="933887" y="3380765"/>
                <a:ext cx="801702" cy="662730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EA6103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  <p:sp>
            <p:nvSpPr>
              <p:cNvPr id="53" name="TextBox 6"/>
              <p:cNvSpPr txBox="1">
                <a:spLocks noChangeArrowheads="1"/>
              </p:cNvSpPr>
              <p:nvPr/>
            </p:nvSpPr>
            <p:spPr bwMode="auto">
              <a:xfrm>
                <a:off x="-99459" y="3320919"/>
                <a:ext cx="7301815" cy="687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10.3 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树表的查找</a:t>
                </a:r>
              </a:p>
            </p:txBody>
          </p:sp>
        </p:grpSp>
        <p:pic>
          <p:nvPicPr>
            <p:cNvPr id="51" name="图片 50" descr="12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5929" y="3530600"/>
              <a:ext cx="446172" cy="431048"/>
            </a:xfrm>
            <a:prstGeom prst="rect">
              <a:avLst/>
            </a:prstGeom>
          </p:spPr>
        </p:pic>
      </p:grpSp>
      <p:sp>
        <p:nvSpPr>
          <p:cNvPr id="54" name="矩形 53"/>
          <p:cNvSpPr/>
          <p:nvPr/>
        </p:nvSpPr>
        <p:spPr>
          <a:xfrm>
            <a:off x="394291" y="908720"/>
            <a:ext cx="35333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800" b="1" dirty="0"/>
              <a:t>10.3.2 </a:t>
            </a:r>
            <a:r>
              <a:rPr lang="zh-CN" altLang="en-US" sz="2800" b="1" dirty="0"/>
              <a:t>平衡二叉树 </a:t>
            </a:r>
          </a:p>
        </p:txBody>
      </p:sp>
    </p:spTree>
    <p:extLst>
      <p:ext uri="{BB962C8B-B14F-4D97-AF65-F5344CB8AC3E}">
        <p14:creationId xmlns:p14="http://schemas.microsoft.com/office/powerpoint/2010/main" val="189941926"/>
      </p:ext>
    </p:extLst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2" grpId="0" animBg="1" autoUpdateAnimBg="0"/>
      <p:bldP spid="43014" grpId="0" animBg="1" autoUpdateAnimBg="0"/>
      <p:bldP spid="43015" grpId="0" animBg="1" autoUpdateAnimBg="0"/>
      <p:bldP spid="43017" grpId="0" animBg="1" autoUpdateAnimBg="0"/>
      <p:bldP spid="43022" grpId="0" bldLvl="0" animBg="1" autoUpdateAnimBg="0"/>
      <p:bldP spid="43025" grpId="0" animBg="1" autoUpdateAnimBg="0"/>
      <p:bldP spid="43027" grpId="0" animBg="1" autoUpdateAnimBg="0"/>
      <p:bldP spid="43029" grpId="0" animBg="1" autoUpdateAnimBg="0"/>
      <p:bldP spid="43030" grpId="0" animBg="1"/>
      <p:bldP spid="43032" grpId="0" animBg="1" autoUpdateAnimBg="0"/>
      <p:bldP spid="43034" grpId="0" animBg="1" autoUpdateAnimBg="0"/>
      <p:bldP spid="43038" grpId="0" autoUpdateAnimBg="0"/>
      <p:bldP spid="43042" grpId="0" autoUpdateAnimBg="0"/>
      <p:bldP spid="43043" grpId="0" animBg="1" autoUpdateAnimBg="0"/>
      <p:bldP spid="43044" grpId="0" bldLvl="0" animBg="1" autoUpdateAnimBg="0"/>
      <p:bldP spid="43046" grpId="0" bldLvl="0" animBg="1" autoUpdateAnimBg="0"/>
      <p:bldP spid="43048" grpId="0" animBg="1" autoUpdateAnimBg="0"/>
      <p:bldP spid="43049" grpId="0" animBg="1"/>
      <p:bldP spid="43051" grpId="0" bldLvl="0" animBg="1" autoUpdateAnimBg="0"/>
      <p:bldP spid="43053" grpId="0" bldLvl="0" animBg="1" autoUpdateAnimBg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53</a:t>
            </a:fld>
            <a:endParaRPr lang="zh-CN" altLang="en-US" dirty="0"/>
          </a:p>
        </p:txBody>
      </p:sp>
      <p:sp>
        <p:nvSpPr>
          <p:cNvPr id="6" name="TextBox 5"/>
          <p:cNvSpPr txBox="1"/>
          <p:nvPr>
            <p:custDataLst>
              <p:tags r:id="rId2"/>
            </p:custDataLst>
          </p:nvPr>
        </p:nvSpPr>
        <p:spPr>
          <a:xfrm>
            <a:off x="395536" y="1196752"/>
            <a:ext cx="8352928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marL="660400" indent="-660400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00FF"/>
                </a:solidFill>
              </a:rPr>
              <a:t>练习：依次输入下列数据构造一棵平衡二叉树：</a:t>
            </a:r>
          </a:p>
          <a:p>
            <a:pPr marL="660400" indent="-660400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 </a:t>
            </a:r>
            <a:r>
              <a:rPr lang="en-US" altLang="zh-CN" sz="2400" dirty="0"/>
              <a:t>100</a:t>
            </a:r>
            <a:r>
              <a:rPr lang="zh-CN" altLang="en-US" sz="2400" dirty="0"/>
              <a:t>，</a:t>
            </a:r>
            <a:r>
              <a:rPr lang="en-US" altLang="zh-CN" sz="2400" dirty="0"/>
              <a:t>90</a:t>
            </a:r>
            <a:r>
              <a:rPr lang="zh-CN" altLang="en-US" sz="2400" dirty="0"/>
              <a:t>，</a:t>
            </a:r>
            <a:r>
              <a:rPr lang="en-US" altLang="zh-CN" sz="2400" dirty="0"/>
              <a:t>80</a:t>
            </a:r>
            <a:r>
              <a:rPr lang="zh-CN" altLang="en-US" sz="2400" dirty="0"/>
              <a:t>，</a:t>
            </a:r>
            <a:r>
              <a:rPr lang="en-US" altLang="zh-CN" sz="2400" dirty="0"/>
              <a:t>60</a:t>
            </a:r>
            <a:r>
              <a:rPr lang="zh-CN" altLang="en-US" sz="2400" dirty="0"/>
              <a:t>，</a:t>
            </a:r>
            <a:r>
              <a:rPr lang="en-US" altLang="zh-CN" sz="2400" dirty="0"/>
              <a:t>70</a:t>
            </a:r>
            <a:r>
              <a:rPr lang="zh-CN" altLang="en-US" sz="2400" dirty="0"/>
              <a:t>，</a:t>
            </a:r>
            <a:r>
              <a:rPr lang="en-US" altLang="zh-CN" sz="2400" dirty="0"/>
              <a:t>50</a:t>
            </a:r>
            <a:r>
              <a:rPr lang="zh-CN" altLang="en-US" sz="2400" dirty="0"/>
              <a:t>，</a:t>
            </a:r>
            <a:r>
              <a:rPr lang="en-US" altLang="zh-CN" sz="2400" dirty="0"/>
              <a:t>120</a:t>
            </a:r>
            <a:r>
              <a:rPr lang="zh-CN" altLang="en-US" sz="2400" dirty="0"/>
              <a:t>，</a:t>
            </a:r>
            <a:r>
              <a:rPr lang="en-US" altLang="zh-CN" sz="2400" dirty="0"/>
              <a:t>110</a:t>
            </a:r>
            <a:r>
              <a:rPr lang="zh-CN" altLang="en-US" sz="2400" dirty="0"/>
              <a:t>，</a:t>
            </a:r>
            <a:r>
              <a:rPr lang="en-US" altLang="zh-CN" sz="2400" dirty="0"/>
              <a:t>150</a:t>
            </a:r>
            <a:r>
              <a:rPr lang="zh-CN" altLang="en-US" sz="2400" dirty="0"/>
              <a:t>，</a:t>
            </a:r>
            <a:r>
              <a:rPr lang="en-US" altLang="zh-CN" sz="2400" dirty="0"/>
              <a:t>87</a:t>
            </a:r>
            <a:endParaRPr lang="zh-CN" altLang="en-US" sz="24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7" name="圆角矩形 6"/>
          <p:cNvSpPr/>
          <p:nvPr>
            <p:custDataLst>
              <p:tags r:id="rId3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作答</a:t>
            </a:r>
          </a:p>
        </p:txBody>
      </p:sp>
      <p:sp>
        <p:nvSpPr>
          <p:cNvPr id="13" name="矩形 12"/>
          <p:cNvSpPr/>
          <p:nvPr>
            <p:custDataLst>
              <p:tags r:id="rId4"/>
            </p:custDataLst>
          </p:nvPr>
        </p:nvSpPr>
        <p:spPr>
          <a:xfrm>
            <a:off x="0" y="5849303"/>
            <a:ext cx="9144000" cy="365760"/>
          </a:xfrm>
          <a:prstGeom prst="rect">
            <a:avLst/>
          </a:prstGeom>
          <a:solidFill>
            <a:srgbClr val="FBFAE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200">
                <a:solidFill>
                  <a:srgbClr val="F84F41"/>
                </a:solidFill>
                <a:latin typeface="Microsoft Yahei"/>
                <a:ea typeface="Microsoft Yahei"/>
                <a:sym typeface="Microsoft Yahei"/>
              </a:rPr>
              <a:t>正常使用主观题需</a:t>
            </a:r>
            <a:r>
              <a:rPr lang="en-US" altLang="zh-CN" sz="1200">
                <a:solidFill>
                  <a:srgbClr val="F84F41"/>
                </a:solidFill>
                <a:latin typeface="Microsoft Yahei"/>
                <a:ea typeface="Microsoft Yahei"/>
                <a:sym typeface="Microsoft Yahei"/>
              </a:rPr>
              <a:t>2.0</a:t>
            </a:r>
            <a:r>
              <a:rPr lang="zh-CN" altLang="en-US" sz="1200">
                <a:solidFill>
                  <a:srgbClr val="F84F41"/>
                </a:solidFill>
                <a:latin typeface="Microsoft Yahei"/>
                <a:ea typeface="Microsoft Yahei"/>
                <a:sym typeface="Microsoft Yahei"/>
              </a:rPr>
              <a:t>以上版本雨课堂</a:t>
            </a:r>
          </a:p>
        </p:txBody>
      </p:sp>
      <p:grpSp>
        <p:nvGrpSpPr>
          <p:cNvPr id="12" name="组合 11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8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主观题</a:t>
              </a:r>
            </a:p>
          </p:txBody>
        </p:sp>
        <p:sp>
          <p:nvSpPr>
            <p:cNvPr id="11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  <a:endParaRPr lang="zh-CN" altLang="en-US" sz="2000" dirty="0">
                <a:solidFill>
                  <a:srgbClr val="808080"/>
                </a:solidFill>
                <a:latin typeface="Microsoft Yahei"/>
                <a:ea typeface="Microsoft Yahei"/>
                <a:sym typeface="Microsoft Yahei"/>
              </a:endParaRPr>
            </a:p>
          </p:txBody>
        </p:sp>
      </p:grpSp>
      <p:pic>
        <p:nvPicPr>
          <p:cNvPr id="5" name="图片 4"/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8204838"/>
      </p:ext>
    </p:extLst>
  </p:cSld>
  <p:clrMapOvr>
    <a:masterClrMapping/>
  </p:clrMapOvr>
  <p:transition spd="slow" advClick="0">
    <p:pull dir="d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1442764"/>
            <a:ext cx="7993062" cy="935037"/>
          </a:xfrm>
        </p:spPr>
        <p:txBody>
          <a:bodyPr/>
          <a:lstStyle/>
          <a:p>
            <a:pPr marL="660400" indent="-660400" eaLnBrk="1" hangingPunct="1"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FF0000"/>
                </a:solidFill>
              </a:rPr>
              <a:t>[</a:t>
            </a:r>
            <a:r>
              <a:rPr lang="zh-CN" altLang="en-US" sz="2400" b="1" dirty="0">
                <a:solidFill>
                  <a:srgbClr val="FF0000"/>
                </a:solidFill>
              </a:rPr>
              <a:t>练习</a:t>
            </a:r>
            <a:r>
              <a:rPr lang="en-US" altLang="zh-CN" sz="2400" b="1" dirty="0">
                <a:solidFill>
                  <a:srgbClr val="FF0000"/>
                </a:solidFill>
              </a:rPr>
              <a:t>]</a:t>
            </a:r>
            <a:r>
              <a:rPr lang="zh-CN" altLang="en-US" sz="2400" dirty="0"/>
              <a:t>：依次输入下列数据构造一棵平衡二叉树：</a:t>
            </a:r>
          </a:p>
          <a:p>
            <a:pPr marL="660400" indent="-660400"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             </a:t>
            </a:r>
            <a:r>
              <a:rPr lang="en-US" altLang="zh-CN" sz="2400" dirty="0"/>
              <a:t>100</a:t>
            </a:r>
            <a:r>
              <a:rPr lang="zh-CN" altLang="en-US" sz="2400" dirty="0"/>
              <a:t>，</a:t>
            </a:r>
            <a:r>
              <a:rPr lang="en-US" altLang="zh-CN" sz="2400" dirty="0"/>
              <a:t>90</a:t>
            </a:r>
            <a:r>
              <a:rPr lang="zh-CN" altLang="en-US" sz="2400" dirty="0"/>
              <a:t>，</a:t>
            </a:r>
            <a:r>
              <a:rPr lang="en-US" altLang="zh-CN" sz="2400" dirty="0"/>
              <a:t>80</a:t>
            </a:r>
            <a:r>
              <a:rPr lang="zh-CN" altLang="en-US" sz="2400" dirty="0"/>
              <a:t>，</a:t>
            </a:r>
            <a:r>
              <a:rPr lang="en-US" altLang="zh-CN" sz="2400" dirty="0"/>
              <a:t>60</a:t>
            </a:r>
            <a:r>
              <a:rPr lang="zh-CN" altLang="en-US" sz="2400" dirty="0"/>
              <a:t>，</a:t>
            </a:r>
            <a:r>
              <a:rPr lang="en-US" altLang="zh-CN" sz="2400" dirty="0"/>
              <a:t>70</a:t>
            </a:r>
            <a:r>
              <a:rPr lang="zh-CN" altLang="en-US" sz="2400" dirty="0"/>
              <a:t>，</a:t>
            </a:r>
            <a:r>
              <a:rPr lang="en-US" altLang="zh-CN" sz="2400" dirty="0"/>
              <a:t>50</a:t>
            </a:r>
            <a:r>
              <a:rPr lang="zh-CN" altLang="en-US" sz="2400" dirty="0"/>
              <a:t>，</a:t>
            </a:r>
            <a:r>
              <a:rPr lang="en-US" altLang="zh-CN" sz="2400" dirty="0"/>
              <a:t>120</a:t>
            </a:r>
            <a:r>
              <a:rPr lang="zh-CN" altLang="en-US" sz="2400" dirty="0"/>
              <a:t>，</a:t>
            </a:r>
            <a:r>
              <a:rPr lang="en-US" altLang="zh-CN" sz="2400" dirty="0"/>
              <a:t>110</a:t>
            </a:r>
            <a:r>
              <a:rPr lang="zh-CN" altLang="en-US" sz="2400" dirty="0"/>
              <a:t>，</a:t>
            </a:r>
            <a:r>
              <a:rPr lang="en-US" altLang="zh-CN" sz="2400" dirty="0"/>
              <a:t>150</a:t>
            </a:r>
            <a:r>
              <a:rPr lang="zh-CN" altLang="en-US" sz="2400" dirty="0"/>
              <a:t>，</a:t>
            </a:r>
            <a:r>
              <a:rPr lang="en-US" altLang="zh-CN" sz="2400" dirty="0"/>
              <a:t>87</a:t>
            </a:r>
            <a:r>
              <a:rPr lang="zh-CN" altLang="en-US" sz="2400" dirty="0"/>
              <a:t>。</a:t>
            </a:r>
          </a:p>
        </p:txBody>
      </p:sp>
      <p:sp>
        <p:nvSpPr>
          <p:cNvPr id="44036" name="Oval 4"/>
          <p:cNvSpPr>
            <a:spLocks noChangeArrowheads="1"/>
          </p:cNvSpPr>
          <p:nvPr/>
        </p:nvSpPr>
        <p:spPr bwMode="auto">
          <a:xfrm>
            <a:off x="1547813" y="2848496"/>
            <a:ext cx="431800" cy="433387"/>
          </a:xfrm>
          <a:prstGeom prst="ellips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100</a:t>
            </a:r>
          </a:p>
        </p:txBody>
      </p:sp>
      <p:sp>
        <p:nvSpPr>
          <p:cNvPr id="44037" name="Line 5"/>
          <p:cNvSpPr>
            <a:spLocks noChangeShapeType="1"/>
          </p:cNvSpPr>
          <p:nvPr/>
        </p:nvSpPr>
        <p:spPr bwMode="auto">
          <a:xfrm flipV="1">
            <a:off x="1258888" y="3208858"/>
            <a:ext cx="361950" cy="43180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38" name="Oval 6"/>
          <p:cNvSpPr>
            <a:spLocks noChangeArrowheads="1"/>
          </p:cNvSpPr>
          <p:nvPr/>
        </p:nvSpPr>
        <p:spPr bwMode="auto">
          <a:xfrm>
            <a:off x="900113" y="3567633"/>
            <a:ext cx="431800" cy="433388"/>
          </a:xfrm>
          <a:prstGeom prst="ellips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90</a:t>
            </a:r>
          </a:p>
        </p:txBody>
      </p:sp>
      <p:sp>
        <p:nvSpPr>
          <p:cNvPr id="44039" name="Oval 7"/>
          <p:cNvSpPr>
            <a:spLocks noChangeArrowheads="1"/>
          </p:cNvSpPr>
          <p:nvPr/>
        </p:nvSpPr>
        <p:spPr bwMode="auto">
          <a:xfrm>
            <a:off x="323850" y="4362971"/>
            <a:ext cx="431800" cy="433387"/>
          </a:xfrm>
          <a:prstGeom prst="ellips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80</a:t>
            </a:r>
          </a:p>
        </p:txBody>
      </p:sp>
      <p:sp>
        <p:nvSpPr>
          <p:cNvPr id="44040" name="Line 8"/>
          <p:cNvSpPr>
            <a:spLocks noChangeShapeType="1"/>
          </p:cNvSpPr>
          <p:nvPr/>
        </p:nvSpPr>
        <p:spPr bwMode="auto">
          <a:xfrm flipH="1">
            <a:off x="611188" y="3931171"/>
            <a:ext cx="360362" cy="4318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41" name="AutoShape 9"/>
          <p:cNvSpPr>
            <a:spLocks noChangeArrowheads="1"/>
          </p:cNvSpPr>
          <p:nvPr/>
        </p:nvSpPr>
        <p:spPr bwMode="auto">
          <a:xfrm>
            <a:off x="1547813" y="3354908"/>
            <a:ext cx="936625" cy="361950"/>
          </a:xfrm>
          <a:prstGeom prst="rightArrow">
            <a:avLst>
              <a:gd name="adj1" fmla="val 50000"/>
              <a:gd name="adj2" fmla="val 64693"/>
            </a:avLst>
          </a:prstGeom>
          <a:noFill/>
          <a:ln w="28575">
            <a:solidFill>
              <a:srgbClr val="CC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LL</a:t>
            </a:r>
            <a:r>
              <a:rPr lang="zh-CN" altLang="en-US">
                <a:ea typeface="宋体" panose="02010600030101010101" pitchFamily="2" charset="-122"/>
              </a:rPr>
              <a:t>型</a:t>
            </a:r>
          </a:p>
        </p:txBody>
      </p:sp>
      <p:sp>
        <p:nvSpPr>
          <p:cNvPr id="44042" name="Oval 10"/>
          <p:cNvSpPr>
            <a:spLocks noChangeArrowheads="1"/>
          </p:cNvSpPr>
          <p:nvPr/>
        </p:nvSpPr>
        <p:spPr bwMode="auto">
          <a:xfrm>
            <a:off x="2989263" y="2923108"/>
            <a:ext cx="431800" cy="433388"/>
          </a:xfrm>
          <a:prstGeom prst="ellips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90</a:t>
            </a:r>
          </a:p>
        </p:txBody>
      </p:sp>
      <p:sp>
        <p:nvSpPr>
          <p:cNvPr id="44043" name="Line 11"/>
          <p:cNvSpPr>
            <a:spLocks noChangeShapeType="1"/>
          </p:cNvSpPr>
          <p:nvPr/>
        </p:nvSpPr>
        <p:spPr bwMode="auto">
          <a:xfrm flipV="1">
            <a:off x="2700338" y="3283471"/>
            <a:ext cx="361950" cy="43180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44" name="Oval 12"/>
          <p:cNvSpPr>
            <a:spLocks noChangeArrowheads="1"/>
          </p:cNvSpPr>
          <p:nvPr/>
        </p:nvSpPr>
        <p:spPr bwMode="auto">
          <a:xfrm>
            <a:off x="2341563" y="3642246"/>
            <a:ext cx="431800" cy="433387"/>
          </a:xfrm>
          <a:prstGeom prst="ellips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80</a:t>
            </a:r>
          </a:p>
        </p:txBody>
      </p:sp>
      <p:sp>
        <p:nvSpPr>
          <p:cNvPr id="44045" name="Line 13"/>
          <p:cNvSpPr>
            <a:spLocks noChangeShapeType="1"/>
          </p:cNvSpPr>
          <p:nvPr/>
        </p:nvSpPr>
        <p:spPr bwMode="auto">
          <a:xfrm flipH="1" flipV="1">
            <a:off x="3349625" y="3281883"/>
            <a:ext cx="287338" cy="431800"/>
          </a:xfrm>
          <a:prstGeom prst="line">
            <a:avLst/>
          </a:prstGeom>
          <a:noFill/>
          <a:ln w="38100">
            <a:solidFill>
              <a:srgbClr val="CC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46" name="Oval 14"/>
          <p:cNvSpPr>
            <a:spLocks noChangeArrowheads="1"/>
          </p:cNvSpPr>
          <p:nvPr/>
        </p:nvSpPr>
        <p:spPr bwMode="auto">
          <a:xfrm>
            <a:off x="3494088" y="3713683"/>
            <a:ext cx="431800" cy="433388"/>
          </a:xfrm>
          <a:prstGeom prst="ellips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100</a:t>
            </a:r>
          </a:p>
        </p:txBody>
      </p:sp>
      <p:sp>
        <p:nvSpPr>
          <p:cNvPr id="44047" name="Oval 15"/>
          <p:cNvSpPr>
            <a:spLocks noChangeArrowheads="1"/>
          </p:cNvSpPr>
          <p:nvPr/>
        </p:nvSpPr>
        <p:spPr bwMode="auto">
          <a:xfrm>
            <a:off x="1765300" y="4434408"/>
            <a:ext cx="431800" cy="433388"/>
          </a:xfrm>
          <a:prstGeom prst="ellips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60</a:t>
            </a:r>
          </a:p>
        </p:txBody>
      </p:sp>
      <p:sp>
        <p:nvSpPr>
          <p:cNvPr id="44048" name="Line 16"/>
          <p:cNvSpPr>
            <a:spLocks noChangeShapeType="1"/>
          </p:cNvSpPr>
          <p:nvPr/>
        </p:nvSpPr>
        <p:spPr bwMode="auto">
          <a:xfrm flipH="1">
            <a:off x="2052638" y="4002608"/>
            <a:ext cx="360362" cy="4318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49" name="Line 17"/>
          <p:cNvSpPr>
            <a:spLocks noChangeShapeType="1"/>
          </p:cNvSpPr>
          <p:nvPr/>
        </p:nvSpPr>
        <p:spPr bwMode="auto">
          <a:xfrm flipH="1" flipV="1">
            <a:off x="2197100" y="4794771"/>
            <a:ext cx="360363" cy="360362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50" name="Oval 18"/>
          <p:cNvSpPr>
            <a:spLocks noChangeArrowheads="1"/>
          </p:cNvSpPr>
          <p:nvPr/>
        </p:nvSpPr>
        <p:spPr bwMode="auto">
          <a:xfrm>
            <a:off x="2413000" y="5155133"/>
            <a:ext cx="431800" cy="433388"/>
          </a:xfrm>
          <a:prstGeom prst="ellips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70</a:t>
            </a:r>
          </a:p>
        </p:txBody>
      </p:sp>
      <p:sp>
        <p:nvSpPr>
          <p:cNvPr id="44051" name="AutoShape 19"/>
          <p:cNvSpPr>
            <a:spLocks noChangeArrowheads="1"/>
          </p:cNvSpPr>
          <p:nvPr/>
        </p:nvSpPr>
        <p:spPr bwMode="auto">
          <a:xfrm>
            <a:off x="3708400" y="3065983"/>
            <a:ext cx="936625" cy="360363"/>
          </a:xfrm>
          <a:prstGeom prst="rightArrow">
            <a:avLst>
              <a:gd name="adj1" fmla="val 50000"/>
              <a:gd name="adj2" fmla="val 64978"/>
            </a:avLst>
          </a:prstGeom>
          <a:noFill/>
          <a:ln w="28575">
            <a:solidFill>
              <a:srgbClr val="CC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LR</a:t>
            </a:r>
            <a:r>
              <a:rPr lang="zh-CN" altLang="en-US">
                <a:ea typeface="宋体" panose="02010600030101010101" pitchFamily="2" charset="-122"/>
              </a:rPr>
              <a:t>型</a:t>
            </a:r>
          </a:p>
        </p:txBody>
      </p:sp>
      <p:sp>
        <p:nvSpPr>
          <p:cNvPr id="44052" name="Oval 20"/>
          <p:cNvSpPr>
            <a:spLocks noChangeArrowheads="1"/>
          </p:cNvSpPr>
          <p:nvPr/>
        </p:nvSpPr>
        <p:spPr bwMode="auto">
          <a:xfrm>
            <a:off x="4932363" y="2851671"/>
            <a:ext cx="431800" cy="433387"/>
          </a:xfrm>
          <a:prstGeom prst="ellips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90</a:t>
            </a:r>
          </a:p>
        </p:txBody>
      </p:sp>
      <p:sp>
        <p:nvSpPr>
          <p:cNvPr id="44053" name="Line 21"/>
          <p:cNvSpPr>
            <a:spLocks noChangeShapeType="1"/>
          </p:cNvSpPr>
          <p:nvPr/>
        </p:nvSpPr>
        <p:spPr bwMode="auto">
          <a:xfrm flipV="1">
            <a:off x="4643438" y="3212033"/>
            <a:ext cx="361950" cy="43180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54" name="Oval 22"/>
          <p:cNvSpPr>
            <a:spLocks noChangeArrowheads="1"/>
          </p:cNvSpPr>
          <p:nvPr/>
        </p:nvSpPr>
        <p:spPr bwMode="auto">
          <a:xfrm>
            <a:off x="4284663" y="3570808"/>
            <a:ext cx="431800" cy="433388"/>
          </a:xfrm>
          <a:prstGeom prst="ellips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70</a:t>
            </a:r>
          </a:p>
        </p:txBody>
      </p:sp>
      <p:sp>
        <p:nvSpPr>
          <p:cNvPr id="44055" name="Line 23"/>
          <p:cNvSpPr>
            <a:spLocks noChangeShapeType="1"/>
          </p:cNvSpPr>
          <p:nvPr/>
        </p:nvSpPr>
        <p:spPr bwMode="auto">
          <a:xfrm flipH="1" flipV="1">
            <a:off x="5292725" y="3210446"/>
            <a:ext cx="287338" cy="43180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56" name="Oval 24"/>
          <p:cNvSpPr>
            <a:spLocks noChangeArrowheads="1"/>
          </p:cNvSpPr>
          <p:nvPr/>
        </p:nvSpPr>
        <p:spPr bwMode="auto">
          <a:xfrm>
            <a:off x="5437188" y="3642246"/>
            <a:ext cx="431800" cy="433387"/>
          </a:xfrm>
          <a:prstGeom prst="ellips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100</a:t>
            </a:r>
          </a:p>
        </p:txBody>
      </p:sp>
      <p:sp>
        <p:nvSpPr>
          <p:cNvPr id="44057" name="Oval 25"/>
          <p:cNvSpPr>
            <a:spLocks noChangeArrowheads="1"/>
          </p:cNvSpPr>
          <p:nvPr/>
        </p:nvSpPr>
        <p:spPr bwMode="auto">
          <a:xfrm>
            <a:off x="3708400" y="4362971"/>
            <a:ext cx="431800" cy="433387"/>
          </a:xfrm>
          <a:prstGeom prst="ellips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60</a:t>
            </a:r>
          </a:p>
        </p:txBody>
      </p:sp>
      <p:sp>
        <p:nvSpPr>
          <p:cNvPr id="44058" name="Line 26"/>
          <p:cNvSpPr>
            <a:spLocks noChangeShapeType="1"/>
          </p:cNvSpPr>
          <p:nvPr/>
        </p:nvSpPr>
        <p:spPr bwMode="auto">
          <a:xfrm flipH="1">
            <a:off x="3995738" y="3931171"/>
            <a:ext cx="360362" cy="431800"/>
          </a:xfrm>
          <a:prstGeom prst="line">
            <a:avLst/>
          </a:prstGeom>
          <a:noFill/>
          <a:ln w="38100">
            <a:solidFill>
              <a:srgbClr val="CC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59" name="Line 27"/>
          <p:cNvSpPr>
            <a:spLocks noChangeShapeType="1"/>
          </p:cNvSpPr>
          <p:nvPr/>
        </p:nvSpPr>
        <p:spPr bwMode="auto">
          <a:xfrm flipH="1" flipV="1">
            <a:off x="4645025" y="4001021"/>
            <a:ext cx="360363" cy="360362"/>
          </a:xfrm>
          <a:prstGeom prst="line">
            <a:avLst/>
          </a:prstGeom>
          <a:noFill/>
          <a:ln w="38100">
            <a:solidFill>
              <a:srgbClr val="CC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60" name="Oval 28"/>
          <p:cNvSpPr>
            <a:spLocks noChangeArrowheads="1"/>
          </p:cNvSpPr>
          <p:nvPr/>
        </p:nvSpPr>
        <p:spPr bwMode="auto">
          <a:xfrm>
            <a:off x="4860925" y="4361383"/>
            <a:ext cx="431800" cy="433388"/>
          </a:xfrm>
          <a:prstGeom prst="ellips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80</a:t>
            </a:r>
          </a:p>
        </p:txBody>
      </p:sp>
      <p:sp>
        <p:nvSpPr>
          <p:cNvPr id="44061" name="Oval 29"/>
          <p:cNvSpPr>
            <a:spLocks noChangeArrowheads="1"/>
          </p:cNvSpPr>
          <p:nvPr/>
        </p:nvSpPr>
        <p:spPr bwMode="auto">
          <a:xfrm>
            <a:off x="3133725" y="5155133"/>
            <a:ext cx="431800" cy="433388"/>
          </a:xfrm>
          <a:prstGeom prst="ellips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50</a:t>
            </a:r>
          </a:p>
        </p:txBody>
      </p:sp>
      <p:sp>
        <p:nvSpPr>
          <p:cNvPr id="44062" name="Line 30"/>
          <p:cNvSpPr>
            <a:spLocks noChangeShapeType="1"/>
          </p:cNvSpPr>
          <p:nvPr/>
        </p:nvSpPr>
        <p:spPr bwMode="auto">
          <a:xfrm flipH="1">
            <a:off x="3421063" y="4723333"/>
            <a:ext cx="360362" cy="4318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63" name="AutoShape 31"/>
          <p:cNvSpPr>
            <a:spLocks noChangeArrowheads="1"/>
          </p:cNvSpPr>
          <p:nvPr/>
        </p:nvSpPr>
        <p:spPr bwMode="auto">
          <a:xfrm>
            <a:off x="5581650" y="3065983"/>
            <a:ext cx="936625" cy="360363"/>
          </a:xfrm>
          <a:prstGeom prst="rightArrow">
            <a:avLst>
              <a:gd name="adj1" fmla="val 50000"/>
              <a:gd name="adj2" fmla="val 64978"/>
            </a:avLst>
          </a:prstGeom>
          <a:noFill/>
          <a:ln w="28575">
            <a:solidFill>
              <a:srgbClr val="CC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LL</a:t>
            </a:r>
            <a:r>
              <a:rPr lang="zh-CN" altLang="en-US">
                <a:ea typeface="宋体" panose="02010600030101010101" pitchFamily="2" charset="-122"/>
              </a:rPr>
              <a:t>型</a:t>
            </a:r>
          </a:p>
        </p:txBody>
      </p:sp>
      <p:sp>
        <p:nvSpPr>
          <p:cNvPr id="44064" name="Oval 32"/>
          <p:cNvSpPr>
            <a:spLocks noChangeArrowheads="1"/>
          </p:cNvSpPr>
          <p:nvPr/>
        </p:nvSpPr>
        <p:spPr bwMode="auto">
          <a:xfrm>
            <a:off x="7453313" y="3642246"/>
            <a:ext cx="431800" cy="433387"/>
          </a:xfrm>
          <a:prstGeom prst="ellips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90</a:t>
            </a:r>
          </a:p>
        </p:txBody>
      </p:sp>
      <p:sp>
        <p:nvSpPr>
          <p:cNvPr id="44065" name="Oval 33"/>
          <p:cNvSpPr>
            <a:spLocks noChangeArrowheads="1"/>
          </p:cNvSpPr>
          <p:nvPr/>
        </p:nvSpPr>
        <p:spPr bwMode="auto">
          <a:xfrm>
            <a:off x="6877050" y="2848496"/>
            <a:ext cx="431800" cy="433387"/>
          </a:xfrm>
          <a:prstGeom prst="ellips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70</a:t>
            </a:r>
          </a:p>
        </p:txBody>
      </p:sp>
      <p:sp>
        <p:nvSpPr>
          <p:cNvPr id="44066" name="Line 34"/>
          <p:cNvSpPr>
            <a:spLocks noChangeShapeType="1"/>
          </p:cNvSpPr>
          <p:nvPr/>
        </p:nvSpPr>
        <p:spPr bwMode="auto">
          <a:xfrm flipH="1" flipV="1">
            <a:off x="7813675" y="4004196"/>
            <a:ext cx="287338" cy="43180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67" name="Oval 35"/>
          <p:cNvSpPr>
            <a:spLocks noChangeArrowheads="1"/>
          </p:cNvSpPr>
          <p:nvPr/>
        </p:nvSpPr>
        <p:spPr bwMode="auto">
          <a:xfrm>
            <a:off x="7958138" y="4432821"/>
            <a:ext cx="431800" cy="433387"/>
          </a:xfrm>
          <a:prstGeom prst="ellips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100</a:t>
            </a:r>
          </a:p>
        </p:txBody>
      </p:sp>
      <p:sp>
        <p:nvSpPr>
          <p:cNvPr id="44068" name="Oval 36"/>
          <p:cNvSpPr>
            <a:spLocks noChangeArrowheads="1"/>
          </p:cNvSpPr>
          <p:nvPr/>
        </p:nvSpPr>
        <p:spPr bwMode="auto">
          <a:xfrm>
            <a:off x="6300788" y="3640658"/>
            <a:ext cx="431800" cy="433388"/>
          </a:xfrm>
          <a:prstGeom prst="ellips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60</a:t>
            </a:r>
          </a:p>
        </p:txBody>
      </p:sp>
      <p:sp>
        <p:nvSpPr>
          <p:cNvPr id="44069" name="Line 37"/>
          <p:cNvSpPr>
            <a:spLocks noChangeShapeType="1"/>
          </p:cNvSpPr>
          <p:nvPr/>
        </p:nvSpPr>
        <p:spPr bwMode="auto">
          <a:xfrm flipH="1">
            <a:off x="6588125" y="3208858"/>
            <a:ext cx="360363" cy="43180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70" name="Line 38"/>
          <p:cNvSpPr>
            <a:spLocks noChangeShapeType="1"/>
          </p:cNvSpPr>
          <p:nvPr/>
        </p:nvSpPr>
        <p:spPr bwMode="auto">
          <a:xfrm flipH="1" flipV="1">
            <a:off x="7237413" y="3278708"/>
            <a:ext cx="360362" cy="360363"/>
          </a:xfrm>
          <a:prstGeom prst="line">
            <a:avLst/>
          </a:prstGeom>
          <a:noFill/>
          <a:ln w="38100">
            <a:solidFill>
              <a:srgbClr val="CC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71" name="Oval 39"/>
          <p:cNvSpPr>
            <a:spLocks noChangeArrowheads="1"/>
          </p:cNvSpPr>
          <p:nvPr/>
        </p:nvSpPr>
        <p:spPr bwMode="auto">
          <a:xfrm>
            <a:off x="6950075" y="4434408"/>
            <a:ext cx="431800" cy="433388"/>
          </a:xfrm>
          <a:prstGeom prst="ellips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80</a:t>
            </a:r>
          </a:p>
        </p:txBody>
      </p:sp>
      <p:sp>
        <p:nvSpPr>
          <p:cNvPr id="44072" name="Oval 40"/>
          <p:cNvSpPr>
            <a:spLocks noChangeArrowheads="1"/>
          </p:cNvSpPr>
          <p:nvPr/>
        </p:nvSpPr>
        <p:spPr bwMode="auto">
          <a:xfrm>
            <a:off x="5726113" y="4432821"/>
            <a:ext cx="431800" cy="433387"/>
          </a:xfrm>
          <a:prstGeom prst="ellips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50</a:t>
            </a:r>
          </a:p>
        </p:txBody>
      </p:sp>
      <p:sp>
        <p:nvSpPr>
          <p:cNvPr id="44073" name="Line 41"/>
          <p:cNvSpPr>
            <a:spLocks noChangeShapeType="1"/>
          </p:cNvSpPr>
          <p:nvPr/>
        </p:nvSpPr>
        <p:spPr bwMode="auto">
          <a:xfrm flipH="1">
            <a:off x="6013450" y="4001021"/>
            <a:ext cx="360363" cy="43180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74" name="Line 42"/>
          <p:cNvSpPr>
            <a:spLocks noChangeShapeType="1"/>
          </p:cNvSpPr>
          <p:nvPr/>
        </p:nvSpPr>
        <p:spPr bwMode="auto">
          <a:xfrm flipV="1">
            <a:off x="7165975" y="4002608"/>
            <a:ext cx="361950" cy="431800"/>
          </a:xfrm>
          <a:prstGeom prst="line">
            <a:avLst/>
          </a:prstGeom>
          <a:noFill/>
          <a:ln w="38100">
            <a:solidFill>
              <a:srgbClr val="CC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75" name="Line 43"/>
          <p:cNvSpPr>
            <a:spLocks noChangeShapeType="1"/>
          </p:cNvSpPr>
          <p:nvPr/>
        </p:nvSpPr>
        <p:spPr bwMode="auto">
          <a:xfrm flipH="1" flipV="1">
            <a:off x="8245475" y="4867796"/>
            <a:ext cx="288925" cy="4318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76" name="Oval 44"/>
          <p:cNvSpPr>
            <a:spLocks noChangeArrowheads="1"/>
          </p:cNvSpPr>
          <p:nvPr/>
        </p:nvSpPr>
        <p:spPr bwMode="auto">
          <a:xfrm>
            <a:off x="8461375" y="5228158"/>
            <a:ext cx="431800" cy="433388"/>
          </a:xfrm>
          <a:prstGeom prst="ellips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120</a:t>
            </a:r>
          </a:p>
        </p:txBody>
      </p:sp>
      <p:sp>
        <p:nvSpPr>
          <p:cNvPr id="44077" name="Oval 45"/>
          <p:cNvSpPr>
            <a:spLocks noChangeArrowheads="1"/>
          </p:cNvSpPr>
          <p:nvPr/>
        </p:nvSpPr>
        <p:spPr bwMode="auto">
          <a:xfrm>
            <a:off x="8024813" y="6020321"/>
            <a:ext cx="431800" cy="433387"/>
          </a:xfrm>
          <a:prstGeom prst="ellips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110</a:t>
            </a:r>
          </a:p>
        </p:txBody>
      </p:sp>
      <p:sp>
        <p:nvSpPr>
          <p:cNvPr id="44078" name="Line 46"/>
          <p:cNvSpPr>
            <a:spLocks noChangeShapeType="1"/>
          </p:cNvSpPr>
          <p:nvPr/>
        </p:nvSpPr>
        <p:spPr bwMode="auto">
          <a:xfrm flipV="1">
            <a:off x="8170863" y="5588521"/>
            <a:ext cx="361950" cy="4318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79" name="AutoShape 47"/>
          <p:cNvSpPr>
            <a:spLocks noChangeArrowheads="1"/>
          </p:cNvSpPr>
          <p:nvPr/>
        </p:nvSpPr>
        <p:spPr bwMode="auto">
          <a:xfrm>
            <a:off x="1763713" y="3572396"/>
            <a:ext cx="1439862" cy="2160587"/>
          </a:xfrm>
          <a:prstGeom prst="flowChartConnector">
            <a:avLst/>
          </a:prstGeom>
          <a:noFill/>
          <a:ln w="28575">
            <a:solidFill>
              <a:schemeClr val="accent2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endParaRPr lang="zh-CN" altLang="en-US"/>
          </a:p>
        </p:txBody>
      </p:sp>
      <p:sp>
        <p:nvSpPr>
          <p:cNvPr id="44080" name="AutoShape 48"/>
          <p:cNvSpPr>
            <a:spLocks noChangeArrowheads="1"/>
          </p:cNvSpPr>
          <p:nvPr/>
        </p:nvSpPr>
        <p:spPr bwMode="auto">
          <a:xfrm>
            <a:off x="30163" y="2492896"/>
            <a:ext cx="2095500" cy="2471737"/>
          </a:xfrm>
          <a:prstGeom prst="flowChartConnector">
            <a:avLst/>
          </a:prstGeom>
          <a:noFill/>
          <a:ln w="28575">
            <a:solidFill>
              <a:schemeClr val="accent2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endParaRPr lang="zh-CN" altLang="en-US"/>
          </a:p>
        </p:txBody>
      </p:sp>
      <p:sp>
        <p:nvSpPr>
          <p:cNvPr id="44081" name="AutoShape 49"/>
          <p:cNvSpPr>
            <a:spLocks noChangeArrowheads="1"/>
          </p:cNvSpPr>
          <p:nvPr/>
        </p:nvSpPr>
        <p:spPr bwMode="auto">
          <a:xfrm>
            <a:off x="3203575" y="2732608"/>
            <a:ext cx="2593975" cy="3143250"/>
          </a:xfrm>
          <a:prstGeom prst="flowChartConnector">
            <a:avLst/>
          </a:prstGeom>
          <a:noFill/>
          <a:ln w="28575">
            <a:solidFill>
              <a:srgbClr val="CC66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endParaRPr lang="zh-CN" altLang="en-US"/>
          </a:p>
        </p:txBody>
      </p:sp>
      <p:sp>
        <p:nvSpPr>
          <p:cNvPr id="44082" name="AutoShape 50"/>
          <p:cNvSpPr>
            <a:spLocks noChangeArrowheads="1"/>
          </p:cNvSpPr>
          <p:nvPr/>
        </p:nvSpPr>
        <p:spPr bwMode="auto">
          <a:xfrm>
            <a:off x="7499350" y="4364558"/>
            <a:ext cx="1439863" cy="2160588"/>
          </a:xfrm>
          <a:prstGeom prst="flowChartConnector">
            <a:avLst/>
          </a:prstGeom>
          <a:noFill/>
          <a:ln w="28575">
            <a:solidFill>
              <a:schemeClr val="accent2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54</a:t>
            </a:fld>
            <a:endParaRPr lang="zh-CN" altLang="en-US" dirty="0"/>
          </a:p>
        </p:txBody>
      </p:sp>
      <p:grpSp>
        <p:nvGrpSpPr>
          <p:cNvPr id="53" name="组合 114"/>
          <p:cNvGrpSpPr/>
          <p:nvPr/>
        </p:nvGrpSpPr>
        <p:grpSpPr>
          <a:xfrm>
            <a:off x="-396552" y="76388"/>
            <a:ext cx="6775654" cy="679510"/>
            <a:chOff x="-99459" y="3320919"/>
            <a:chExt cx="7301815" cy="722576"/>
          </a:xfrm>
        </p:grpSpPr>
        <p:grpSp>
          <p:nvGrpSpPr>
            <p:cNvPr id="54" name="组合 105"/>
            <p:cNvGrpSpPr/>
            <p:nvPr/>
          </p:nvGrpSpPr>
          <p:grpSpPr>
            <a:xfrm>
              <a:off x="-99459" y="3320919"/>
              <a:ext cx="7301815" cy="722576"/>
              <a:chOff x="-99459" y="3320919"/>
              <a:chExt cx="7301815" cy="722576"/>
            </a:xfrm>
          </p:grpSpPr>
          <p:sp>
            <p:nvSpPr>
              <p:cNvPr id="56" name="Freeform 5"/>
              <p:cNvSpPr>
                <a:spLocks/>
              </p:cNvSpPr>
              <p:nvPr/>
            </p:nvSpPr>
            <p:spPr bwMode="auto">
              <a:xfrm>
                <a:off x="933887" y="3380765"/>
                <a:ext cx="801702" cy="662730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EA6103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  <p:sp>
            <p:nvSpPr>
              <p:cNvPr id="57" name="TextBox 6"/>
              <p:cNvSpPr txBox="1">
                <a:spLocks noChangeArrowheads="1"/>
              </p:cNvSpPr>
              <p:nvPr/>
            </p:nvSpPr>
            <p:spPr bwMode="auto">
              <a:xfrm>
                <a:off x="-99459" y="3320919"/>
                <a:ext cx="7301815" cy="687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10.3 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树表的查找</a:t>
                </a:r>
              </a:p>
            </p:txBody>
          </p:sp>
        </p:grpSp>
        <p:pic>
          <p:nvPicPr>
            <p:cNvPr id="55" name="图片 54" descr="12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5929" y="3530600"/>
              <a:ext cx="446172" cy="431048"/>
            </a:xfrm>
            <a:prstGeom prst="rect">
              <a:avLst/>
            </a:prstGeom>
          </p:spPr>
        </p:pic>
      </p:grpSp>
      <p:sp>
        <p:nvSpPr>
          <p:cNvPr id="58" name="矩形 57"/>
          <p:cNvSpPr/>
          <p:nvPr/>
        </p:nvSpPr>
        <p:spPr>
          <a:xfrm>
            <a:off x="394291" y="908720"/>
            <a:ext cx="351570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/>
              <a:t>平衡二叉树的构造 </a:t>
            </a:r>
          </a:p>
        </p:txBody>
      </p:sp>
    </p:spTree>
    <p:extLst>
      <p:ext uri="{BB962C8B-B14F-4D97-AF65-F5344CB8AC3E}">
        <p14:creationId xmlns:p14="http://schemas.microsoft.com/office/powerpoint/2010/main" val="4152442731"/>
      </p:ext>
    </p:extLst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8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2" dur="2000" fill="hold"/>
                                        <p:tgtEl>
                                          <p:spTgt spid="440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403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4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8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5" dur="2000" fill="hold"/>
                                        <p:tgtEl>
                                          <p:spTgt spid="440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404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44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8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12" dur="2000" fill="hold"/>
                                        <p:tgtEl>
                                          <p:spTgt spid="440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405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7" dur="500"/>
                                        <p:tgtEl>
                                          <p:spTgt spid="44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 nodeType="clickPar">
                      <p:stCondLst>
                        <p:cond delay="indefinite"/>
                      </p:stCondLst>
                      <p:childTnLst>
                        <p:par>
                          <p:cTn id="1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 nodeType="clickPar">
                      <p:stCondLst>
                        <p:cond delay="indefinite"/>
                      </p:stCondLst>
                      <p:childTnLst>
                        <p:par>
                          <p:cTn id="1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8" presetID="8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69" dur="2000" fill="hold"/>
                                        <p:tgtEl>
                                          <p:spTgt spid="4406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406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 nodeType="clickPar">
                      <p:stCondLst>
                        <p:cond delay="indefinite"/>
                      </p:stCondLst>
                      <p:childTnLst>
                        <p:par>
                          <p:cTn id="1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4" dur="500"/>
                                        <p:tgtEl>
                                          <p:spTgt spid="44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6" grpId="0" animBg="1" autoUpdateAnimBg="0"/>
      <p:bldP spid="44036" grpId="1" animBg="1" autoUpdateAnimBg="0"/>
      <p:bldP spid="44038" grpId="0" animBg="1" autoUpdateAnimBg="0"/>
      <p:bldP spid="44039" grpId="0" bldLvl="0" animBg="1" autoUpdateAnimBg="0"/>
      <p:bldP spid="44041" grpId="0" animBg="1" autoUpdateAnimBg="0"/>
      <p:bldP spid="44042" grpId="0" animBg="1" autoUpdateAnimBg="0"/>
      <p:bldP spid="44044" grpId="0" animBg="1" autoUpdateAnimBg="0"/>
      <p:bldP spid="44044" grpId="1" animBg="1" autoUpdateAnimBg="0"/>
      <p:bldP spid="44046" grpId="0" animBg="1" autoUpdateAnimBg="0"/>
      <p:bldP spid="44047" grpId="0" bldLvl="0" animBg="1" autoUpdateAnimBg="0"/>
      <p:bldP spid="44050" grpId="0" bldLvl="0" animBg="1" autoUpdateAnimBg="0"/>
      <p:bldP spid="44051" grpId="0" animBg="1" autoUpdateAnimBg="0"/>
      <p:bldP spid="44052" grpId="0" animBg="1" autoUpdateAnimBg="0"/>
      <p:bldP spid="44052" grpId="1" animBg="1" autoUpdateAnimBg="0"/>
      <p:bldP spid="44054" grpId="0" animBg="1" autoUpdateAnimBg="0"/>
      <p:bldP spid="44056" grpId="0" animBg="1" autoUpdateAnimBg="0"/>
      <p:bldP spid="44057" grpId="0" animBg="1" autoUpdateAnimBg="0"/>
      <p:bldP spid="44060" grpId="0" animBg="1" autoUpdateAnimBg="0"/>
      <p:bldP spid="44061" grpId="0" bldLvl="0" animBg="1" autoUpdateAnimBg="0"/>
      <p:bldP spid="44063" grpId="0" animBg="1" autoUpdateAnimBg="0"/>
      <p:bldP spid="44064" grpId="0" animBg="1" autoUpdateAnimBg="0"/>
      <p:bldP spid="44065" grpId="0" animBg="1" autoUpdateAnimBg="0"/>
      <p:bldP spid="44067" grpId="0" animBg="1" autoUpdateAnimBg="0"/>
      <p:bldP spid="44067" grpId="1" animBg="1" autoUpdateAnimBg="0"/>
      <p:bldP spid="44068" grpId="0" animBg="1" autoUpdateAnimBg="0"/>
      <p:bldP spid="44071" grpId="0" animBg="1" autoUpdateAnimBg="0"/>
      <p:bldP spid="44072" grpId="0" animBg="1" autoUpdateAnimBg="0"/>
      <p:bldP spid="44076" grpId="0" bldLvl="0" animBg="1" autoUpdateAnimBg="0"/>
      <p:bldP spid="44077" grpId="0" bldLvl="0" animBg="1" autoUpdateAnimBg="0"/>
      <p:bldP spid="44079" grpId="0" animBg="1"/>
      <p:bldP spid="44080" grpId="0" animBg="1"/>
      <p:bldP spid="44081" grpId="0" animBg="1"/>
      <p:bldP spid="44082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1484784"/>
            <a:ext cx="7993062" cy="863600"/>
          </a:xfrm>
        </p:spPr>
        <p:txBody>
          <a:bodyPr/>
          <a:lstStyle/>
          <a:p>
            <a:pPr marL="660400" indent="-6604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FF0000"/>
                </a:solidFill>
              </a:rPr>
              <a:t>[</a:t>
            </a:r>
            <a:r>
              <a:rPr lang="zh-CN" altLang="en-US" sz="2400" b="1" dirty="0">
                <a:solidFill>
                  <a:srgbClr val="FF0000"/>
                </a:solidFill>
              </a:rPr>
              <a:t>练习</a:t>
            </a:r>
            <a:r>
              <a:rPr lang="en-US" altLang="zh-CN" sz="2400" b="1" dirty="0">
                <a:solidFill>
                  <a:srgbClr val="FF0000"/>
                </a:solidFill>
              </a:rPr>
              <a:t>]</a:t>
            </a:r>
            <a:r>
              <a:rPr lang="zh-CN" altLang="en-US" sz="2400" dirty="0"/>
              <a:t>：依次输入下列数据构造一棵平衡二叉树：</a:t>
            </a:r>
          </a:p>
          <a:p>
            <a:pPr marL="660400" indent="-6604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             </a:t>
            </a:r>
            <a:r>
              <a:rPr lang="en-US" altLang="zh-CN" sz="2400" dirty="0"/>
              <a:t>100</a:t>
            </a:r>
            <a:r>
              <a:rPr lang="zh-CN" altLang="en-US" sz="2400" dirty="0"/>
              <a:t>，</a:t>
            </a:r>
            <a:r>
              <a:rPr lang="en-US" altLang="zh-CN" sz="2400" dirty="0"/>
              <a:t>90</a:t>
            </a:r>
            <a:r>
              <a:rPr lang="zh-CN" altLang="en-US" sz="2400" dirty="0"/>
              <a:t>，</a:t>
            </a:r>
            <a:r>
              <a:rPr lang="en-US" altLang="zh-CN" sz="2400" dirty="0"/>
              <a:t>80</a:t>
            </a:r>
            <a:r>
              <a:rPr lang="zh-CN" altLang="en-US" sz="2400" dirty="0"/>
              <a:t>，</a:t>
            </a:r>
            <a:r>
              <a:rPr lang="en-US" altLang="zh-CN" sz="2400" dirty="0"/>
              <a:t>60</a:t>
            </a:r>
            <a:r>
              <a:rPr lang="zh-CN" altLang="en-US" sz="2400" dirty="0"/>
              <a:t>，</a:t>
            </a:r>
            <a:r>
              <a:rPr lang="en-US" altLang="zh-CN" sz="2400" dirty="0"/>
              <a:t>70</a:t>
            </a:r>
            <a:r>
              <a:rPr lang="zh-CN" altLang="en-US" sz="2400" dirty="0"/>
              <a:t>，</a:t>
            </a:r>
            <a:r>
              <a:rPr lang="en-US" altLang="zh-CN" sz="2400" dirty="0"/>
              <a:t>50</a:t>
            </a:r>
            <a:r>
              <a:rPr lang="zh-CN" altLang="en-US" sz="2400" dirty="0"/>
              <a:t>，</a:t>
            </a:r>
            <a:r>
              <a:rPr lang="en-US" altLang="zh-CN" sz="2400" dirty="0"/>
              <a:t>120</a:t>
            </a:r>
            <a:r>
              <a:rPr lang="zh-CN" altLang="en-US" sz="2400" dirty="0"/>
              <a:t>，</a:t>
            </a:r>
            <a:r>
              <a:rPr lang="en-US" altLang="zh-CN" sz="2400" dirty="0"/>
              <a:t>110</a:t>
            </a:r>
            <a:r>
              <a:rPr lang="zh-CN" altLang="en-US" sz="2400" dirty="0"/>
              <a:t>，</a:t>
            </a:r>
            <a:r>
              <a:rPr lang="en-US" altLang="zh-CN" sz="2400" dirty="0"/>
              <a:t>150</a:t>
            </a:r>
            <a:r>
              <a:rPr lang="zh-CN" altLang="en-US" sz="2400" dirty="0"/>
              <a:t>，</a:t>
            </a:r>
            <a:r>
              <a:rPr lang="en-US" altLang="zh-CN" sz="2400" dirty="0"/>
              <a:t>87</a:t>
            </a:r>
            <a:r>
              <a:rPr lang="zh-CN" altLang="en-US" sz="2400" dirty="0"/>
              <a:t>。</a:t>
            </a:r>
          </a:p>
        </p:txBody>
      </p:sp>
      <p:sp>
        <p:nvSpPr>
          <p:cNvPr id="45060" name="Oval 4"/>
          <p:cNvSpPr>
            <a:spLocks noChangeArrowheads="1"/>
          </p:cNvSpPr>
          <p:nvPr/>
        </p:nvSpPr>
        <p:spPr bwMode="auto">
          <a:xfrm>
            <a:off x="1978025" y="3213571"/>
            <a:ext cx="431800" cy="433388"/>
          </a:xfrm>
          <a:prstGeom prst="ellips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90</a:t>
            </a:r>
          </a:p>
        </p:txBody>
      </p:sp>
      <p:sp>
        <p:nvSpPr>
          <p:cNvPr id="45061" name="Oval 5"/>
          <p:cNvSpPr>
            <a:spLocks noChangeArrowheads="1"/>
          </p:cNvSpPr>
          <p:nvPr/>
        </p:nvSpPr>
        <p:spPr bwMode="auto">
          <a:xfrm>
            <a:off x="1401763" y="2419821"/>
            <a:ext cx="431800" cy="433388"/>
          </a:xfrm>
          <a:prstGeom prst="ellips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70</a:t>
            </a:r>
          </a:p>
        </p:txBody>
      </p:sp>
      <p:sp>
        <p:nvSpPr>
          <p:cNvPr id="45062" name="Line 6"/>
          <p:cNvSpPr>
            <a:spLocks noChangeShapeType="1"/>
          </p:cNvSpPr>
          <p:nvPr/>
        </p:nvSpPr>
        <p:spPr bwMode="auto">
          <a:xfrm flipH="1" flipV="1">
            <a:off x="2338388" y="3572346"/>
            <a:ext cx="287337" cy="43180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63" name="Oval 7"/>
          <p:cNvSpPr>
            <a:spLocks noChangeArrowheads="1"/>
          </p:cNvSpPr>
          <p:nvPr/>
        </p:nvSpPr>
        <p:spPr bwMode="auto">
          <a:xfrm>
            <a:off x="2482850" y="4004146"/>
            <a:ext cx="431800" cy="433388"/>
          </a:xfrm>
          <a:prstGeom prst="ellips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100</a:t>
            </a:r>
          </a:p>
        </p:txBody>
      </p:sp>
      <p:sp>
        <p:nvSpPr>
          <p:cNvPr id="45064" name="Oval 8"/>
          <p:cNvSpPr>
            <a:spLocks noChangeArrowheads="1"/>
          </p:cNvSpPr>
          <p:nvPr/>
        </p:nvSpPr>
        <p:spPr bwMode="auto">
          <a:xfrm>
            <a:off x="825500" y="3211984"/>
            <a:ext cx="431800" cy="433387"/>
          </a:xfrm>
          <a:prstGeom prst="ellips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60</a:t>
            </a:r>
          </a:p>
        </p:txBody>
      </p:sp>
      <p:sp>
        <p:nvSpPr>
          <p:cNvPr id="45065" name="Line 9"/>
          <p:cNvSpPr>
            <a:spLocks noChangeShapeType="1"/>
          </p:cNvSpPr>
          <p:nvPr/>
        </p:nvSpPr>
        <p:spPr bwMode="auto">
          <a:xfrm flipH="1">
            <a:off x="1112838" y="2780184"/>
            <a:ext cx="360362" cy="43180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66" name="Line 10"/>
          <p:cNvSpPr>
            <a:spLocks noChangeShapeType="1"/>
          </p:cNvSpPr>
          <p:nvPr/>
        </p:nvSpPr>
        <p:spPr bwMode="auto">
          <a:xfrm flipH="1" flipV="1">
            <a:off x="1762125" y="2850034"/>
            <a:ext cx="360363" cy="360362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67" name="Oval 11"/>
          <p:cNvSpPr>
            <a:spLocks noChangeArrowheads="1"/>
          </p:cNvSpPr>
          <p:nvPr/>
        </p:nvSpPr>
        <p:spPr bwMode="auto">
          <a:xfrm>
            <a:off x="1474788" y="4005734"/>
            <a:ext cx="431800" cy="433387"/>
          </a:xfrm>
          <a:prstGeom prst="ellips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80</a:t>
            </a:r>
          </a:p>
        </p:txBody>
      </p:sp>
      <p:sp>
        <p:nvSpPr>
          <p:cNvPr id="45068" name="Oval 12"/>
          <p:cNvSpPr>
            <a:spLocks noChangeArrowheads="1"/>
          </p:cNvSpPr>
          <p:nvPr/>
        </p:nvSpPr>
        <p:spPr bwMode="auto">
          <a:xfrm>
            <a:off x="250825" y="4004146"/>
            <a:ext cx="431800" cy="433388"/>
          </a:xfrm>
          <a:prstGeom prst="ellips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50</a:t>
            </a:r>
          </a:p>
        </p:txBody>
      </p:sp>
      <p:sp>
        <p:nvSpPr>
          <p:cNvPr id="45069" name="Line 13"/>
          <p:cNvSpPr>
            <a:spLocks noChangeShapeType="1"/>
          </p:cNvSpPr>
          <p:nvPr/>
        </p:nvSpPr>
        <p:spPr bwMode="auto">
          <a:xfrm flipH="1">
            <a:off x="538163" y="3572346"/>
            <a:ext cx="360362" cy="43180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70" name="Line 14"/>
          <p:cNvSpPr>
            <a:spLocks noChangeShapeType="1"/>
          </p:cNvSpPr>
          <p:nvPr/>
        </p:nvSpPr>
        <p:spPr bwMode="auto">
          <a:xfrm flipV="1">
            <a:off x="1690688" y="3573934"/>
            <a:ext cx="361950" cy="43180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71" name="Line 15"/>
          <p:cNvSpPr>
            <a:spLocks noChangeShapeType="1"/>
          </p:cNvSpPr>
          <p:nvPr/>
        </p:nvSpPr>
        <p:spPr bwMode="auto">
          <a:xfrm flipH="1" flipV="1">
            <a:off x="2770188" y="4437534"/>
            <a:ext cx="287337" cy="43180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72" name="Oval 16"/>
          <p:cNvSpPr>
            <a:spLocks noChangeArrowheads="1"/>
          </p:cNvSpPr>
          <p:nvPr/>
        </p:nvSpPr>
        <p:spPr bwMode="auto">
          <a:xfrm>
            <a:off x="2984500" y="4797896"/>
            <a:ext cx="431800" cy="433388"/>
          </a:xfrm>
          <a:prstGeom prst="ellips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120</a:t>
            </a:r>
          </a:p>
        </p:txBody>
      </p:sp>
      <p:sp>
        <p:nvSpPr>
          <p:cNvPr id="45073" name="Oval 17"/>
          <p:cNvSpPr>
            <a:spLocks noChangeArrowheads="1"/>
          </p:cNvSpPr>
          <p:nvPr/>
        </p:nvSpPr>
        <p:spPr bwMode="auto">
          <a:xfrm>
            <a:off x="2549525" y="5591646"/>
            <a:ext cx="431800" cy="433388"/>
          </a:xfrm>
          <a:prstGeom prst="ellips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110</a:t>
            </a:r>
          </a:p>
        </p:txBody>
      </p:sp>
      <p:sp>
        <p:nvSpPr>
          <p:cNvPr id="45074" name="Line 18"/>
          <p:cNvSpPr>
            <a:spLocks noChangeShapeType="1"/>
          </p:cNvSpPr>
          <p:nvPr/>
        </p:nvSpPr>
        <p:spPr bwMode="auto">
          <a:xfrm flipV="1">
            <a:off x="2695575" y="5159846"/>
            <a:ext cx="361950" cy="43180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75" name="AutoShape 19"/>
          <p:cNvSpPr>
            <a:spLocks noChangeArrowheads="1"/>
          </p:cNvSpPr>
          <p:nvPr/>
        </p:nvSpPr>
        <p:spPr bwMode="auto">
          <a:xfrm>
            <a:off x="2700338" y="3356446"/>
            <a:ext cx="936625" cy="360363"/>
          </a:xfrm>
          <a:prstGeom prst="rightArrow">
            <a:avLst>
              <a:gd name="adj1" fmla="val 50000"/>
              <a:gd name="adj2" fmla="val 64978"/>
            </a:avLst>
          </a:prstGeom>
          <a:noFill/>
          <a:ln w="28575">
            <a:solidFill>
              <a:srgbClr val="CC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RL</a:t>
            </a:r>
            <a:r>
              <a:rPr lang="zh-CN" altLang="en-US">
                <a:ea typeface="宋体" panose="02010600030101010101" pitchFamily="2" charset="-122"/>
              </a:rPr>
              <a:t>型</a:t>
            </a:r>
          </a:p>
        </p:txBody>
      </p:sp>
      <p:sp>
        <p:nvSpPr>
          <p:cNvPr id="45076" name="Oval 20"/>
          <p:cNvSpPr>
            <a:spLocks noChangeArrowheads="1"/>
          </p:cNvSpPr>
          <p:nvPr/>
        </p:nvSpPr>
        <p:spPr bwMode="auto">
          <a:xfrm>
            <a:off x="4932363" y="3142134"/>
            <a:ext cx="431800" cy="433387"/>
          </a:xfrm>
          <a:prstGeom prst="ellips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90</a:t>
            </a:r>
          </a:p>
        </p:txBody>
      </p:sp>
      <p:sp>
        <p:nvSpPr>
          <p:cNvPr id="45077" name="Oval 21"/>
          <p:cNvSpPr>
            <a:spLocks noChangeArrowheads="1"/>
          </p:cNvSpPr>
          <p:nvPr/>
        </p:nvSpPr>
        <p:spPr bwMode="auto">
          <a:xfrm>
            <a:off x="4356100" y="2348384"/>
            <a:ext cx="431800" cy="433387"/>
          </a:xfrm>
          <a:prstGeom prst="ellips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70</a:t>
            </a:r>
          </a:p>
        </p:txBody>
      </p:sp>
      <p:sp>
        <p:nvSpPr>
          <p:cNvPr id="45078" name="Line 22"/>
          <p:cNvSpPr>
            <a:spLocks noChangeShapeType="1"/>
          </p:cNvSpPr>
          <p:nvPr/>
        </p:nvSpPr>
        <p:spPr bwMode="auto">
          <a:xfrm flipH="1" flipV="1">
            <a:off x="5292725" y="3500909"/>
            <a:ext cx="287338" cy="431800"/>
          </a:xfrm>
          <a:prstGeom prst="line">
            <a:avLst/>
          </a:prstGeom>
          <a:noFill/>
          <a:ln w="38100">
            <a:solidFill>
              <a:srgbClr val="CC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79" name="Oval 23"/>
          <p:cNvSpPr>
            <a:spLocks noChangeArrowheads="1"/>
          </p:cNvSpPr>
          <p:nvPr/>
        </p:nvSpPr>
        <p:spPr bwMode="auto">
          <a:xfrm>
            <a:off x="5435600" y="3932709"/>
            <a:ext cx="431800" cy="433387"/>
          </a:xfrm>
          <a:prstGeom prst="ellips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110</a:t>
            </a:r>
          </a:p>
        </p:txBody>
      </p:sp>
      <p:sp>
        <p:nvSpPr>
          <p:cNvPr id="45080" name="Oval 24"/>
          <p:cNvSpPr>
            <a:spLocks noChangeArrowheads="1"/>
          </p:cNvSpPr>
          <p:nvPr/>
        </p:nvSpPr>
        <p:spPr bwMode="auto">
          <a:xfrm>
            <a:off x="3779838" y="3140546"/>
            <a:ext cx="431800" cy="433388"/>
          </a:xfrm>
          <a:prstGeom prst="ellips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60</a:t>
            </a:r>
          </a:p>
        </p:txBody>
      </p:sp>
      <p:sp>
        <p:nvSpPr>
          <p:cNvPr id="45081" name="Line 25"/>
          <p:cNvSpPr>
            <a:spLocks noChangeShapeType="1"/>
          </p:cNvSpPr>
          <p:nvPr/>
        </p:nvSpPr>
        <p:spPr bwMode="auto">
          <a:xfrm flipH="1">
            <a:off x="4067175" y="2708746"/>
            <a:ext cx="360363" cy="43180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82" name="Line 26"/>
          <p:cNvSpPr>
            <a:spLocks noChangeShapeType="1"/>
          </p:cNvSpPr>
          <p:nvPr/>
        </p:nvSpPr>
        <p:spPr bwMode="auto">
          <a:xfrm flipH="1" flipV="1">
            <a:off x="4716463" y="2778596"/>
            <a:ext cx="360362" cy="360363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83" name="Oval 27"/>
          <p:cNvSpPr>
            <a:spLocks noChangeArrowheads="1"/>
          </p:cNvSpPr>
          <p:nvPr/>
        </p:nvSpPr>
        <p:spPr bwMode="auto">
          <a:xfrm>
            <a:off x="4429125" y="3934296"/>
            <a:ext cx="431800" cy="433388"/>
          </a:xfrm>
          <a:prstGeom prst="ellips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80</a:t>
            </a:r>
          </a:p>
        </p:txBody>
      </p:sp>
      <p:sp>
        <p:nvSpPr>
          <p:cNvPr id="45084" name="Oval 28"/>
          <p:cNvSpPr>
            <a:spLocks noChangeArrowheads="1"/>
          </p:cNvSpPr>
          <p:nvPr/>
        </p:nvSpPr>
        <p:spPr bwMode="auto">
          <a:xfrm>
            <a:off x="3205163" y="3932709"/>
            <a:ext cx="431800" cy="433387"/>
          </a:xfrm>
          <a:prstGeom prst="ellips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50</a:t>
            </a:r>
          </a:p>
        </p:txBody>
      </p:sp>
      <p:sp>
        <p:nvSpPr>
          <p:cNvPr id="45085" name="Line 29"/>
          <p:cNvSpPr>
            <a:spLocks noChangeShapeType="1"/>
          </p:cNvSpPr>
          <p:nvPr/>
        </p:nvSpPr>
        <p:spPr bwMode="auto">
          <a:xfrm flipH="1">
            <a:off x="3492500" y="3500909"/>
            <a:ext cx="360363" cy="43180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86" name="Line 30"/>
          <p:cNvSpPr>
            <a:spLocks noChangeShapeType="1"/>
          </p:cNvSpPr>
          <p:nvPr/>
        </p:nvSpPr>
        <p:spPr bwMode="auto">
          <a:xfrm flipV="1">
            <a:off x="4645025" y="3502496"/>
            <a:ext cx="361950" cy="43180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87" name="Line 31"/>
          <p:cNvSpPr>
            <a:spLocks noChangeShapeType="1"/>
          </p:cNvSpPr>
          <p:nvPr/>
        </p:nvSpPr>
        <p:spPr bwMode="auto">
          <a:xfrm flipH="1" flipV="1">
            <a:off x="5724525" y="4364509"/>
            <a:ext cx="214313" cy="287337"/>
          </a:xfrm>
          <a:prstGeom prst="line">
            <a:avLst/>
          </a:prstGeom>
          <a:noFill/>
          <a:ln w="38100">
            <a:solidFill>
              <a:srgbClr val="CC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88" name="Oval 32"/>
          <p:cNvSpPr>
            <a:spLocks noChangeArrowheads="1"/>
          </p:cNvSpPr>
          <p:nvPr/>
        </p:nvSpPr>
        <p:spPr bwMode="auto">
          <a:xfrm>
            <a:off x="5000625" y="4724871"/>
            <a:ext cx="431800" cy="433388"/>
          </a:xfrm>
          <a:prstGeom prst="ellips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100</a:t>
            </a:r>
          </a:p>
        </p:txBody>
      </p:sp>
      <p:sp>
        <p:nvSpPr>
          <p:cNvPr id="45089" name="Line 33"/>
          <p:cNvSpPr>
            <a:spLocks noChangeShapeType="1"/>
          </p:cNvSpPr>
          <p:nvPr/>
        </p:nvSpPr>
        <p:spPr bwMode="auto">
          <a:xfrm flipV="1">
            <a:off x="5146675" y="4293071"/>
            <a:ext cx="361950" cy="431800"/>
          </a:xfrm>
          <a:prstGeom prst="line">
            <a:avLst/>
          </a:prstGeom>
          <a:noFill/>
          <a:ln w="38100">
            <a:solidFill>
              <a:srgbClr val="CC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90" name="Oval 34"/>
          <p:cNvSpPr>
            <a:spLocks noChangeArrowheads="1"/>
          </p:cNvSpPr>
          <p:nvPr/>
        </p:nvSpPr>
        <p:spPr bwMode="auto">
          <a:xfrm>
            <a:off x="5795963" y="4651846"/>
            <a:ext cx="431800" cy="433388"/>
          </a:xfrm>
          <a:prstGeom prst="ellips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120</a:t>
            </a:r>
          </a:p>
        </p:txBody>
      </p:sp>
      <p:sp>
        <p:nvSpPr>
          <p:cNvPr id="45091" name="Line 35"/>
          <p:cNvSpPr>
            <a:spLocks noChangeShapeType="1"/>
          </p:cNvSpPr>
          <p:nvPr/>
        </p:nvSpPr>
        <p:spPr bwMode="auto">
          <a:xfrm flipH="1" flipV="1">
            <a:off x="6156325" y="5083646"/>
            <a:ext cx="215900" cy="287338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92" name="Oval 36"/>
          <p:cNvSpPr>
            <a:spLocks noChangeArrowheads="1"/>
          </p:cNvSpPr>
          <p:nvPr/>
        </p:nvSpPr>
        <p:spPr bwMode="auto">
          <a:xfrm>
            <a:off x="6156325" y="5369396"/>
            <a:ext cx="431800" cy="433388"/>
          </a:xfrm>
          <a:prstGeom prst="ellips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150</a:t>
            </a:r>
          </a:p>
        </p:txBody>
      </p:sp>
      <p:sp>
        <p:nvSpPr>
          <p:cNvPr id="45093" name="AutoShape 37"/>
          <p:cNvSpPr>
            <a:spLocks noChangeArrowheads="1"/>
          </p:cNvSpPr>
          <p:nvPr/>
        </p:nvSpPr>
        <p:spPr bwMode="auto">
          <a:xfrm>
            <a:off x="5580063" y="3356446"/>
            <a:ext cx="936625" cy="360363"/>
          </a:xfrm>
          <a:prstGeom prst="rightArrow">
            <a:avLst>
              <a:gd name="adj1" fmla="val 50000"/>
              <a:gd name="adj2" fmla="val 64978"/>
            </a:avLst>
          </a:prstGeom>
          <a:noFill/>
          <a:ln w="28575">
            <a:solidFill>
              <a:srgbClr val="CC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RR</a:t>
            </a:r>
            <a:r>
              <a:rPr lang="zh-CN" altLang="en-US">
                <a:ea typeface="宋体" panose="02010600030101010101" pitchFamily="2" charset="-122"/>
              </a:rPr>
              <a:t>型</a:t>
            </a:r>
          </a:p>
        </p:txBody>
      </p:sp>
      <p:sp>
        <p:nvSpPr>
          <p:cNvPr id="45094" name="Oval 38"/>
          <p:cNvSpPr>
            <a:spLocks noChangeArrowheads="1"/>
          </p:cNvSpPr>
          <p:nvPr/>
        </p:nvSpPr>
        <p:spPr bwMode="auto">
          <a:xfrm>
            <a:off x="7235825" y="2275359"/>
            <a:ext cx="431800" cy="433387"/>
          </a:xfrm>
          <a:prstGeom prst="ellips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70</a:t>
            </a:r>
          </a:p>
        </p:txBody>
      </p:sp>
      <p:sp>
        <p:nvSpPr>
          <p:cNvPr id="45095" name="Oval 39"/>
          <p:cNvSpPr>
            <a:spLocks noChangeArrowheads="1"/>
          </p:cNvSpPr>
          <p:nvPr/>
        </p:nvSpPr>
        <p:spPr bwMode="auto">
          <a:xfrm>
            <a:off x="6659563" y="3067521"/>
            <a:ext cx="431800" cy="433388"/>
          </a:xfrm>
          <a:prstGeom prst="ellips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60</a:t>
            </a:r>
          </a:p>
        </p:txBody>
      </p:sp>
      <p:sp>
        <p:nvSpPr>
          <p:cNvPr id="45096" name="Line 40"/>
          <p:cNvSpPr>
            <a:spLocks noChangeShapeType="1"/>
          </p:cNvSpPr>
          <p:nvPr/>
        </p:nvSpPr>
        <p:spPr bwMode="auto">
          <a:xfrm flipH="1">
            <a:off x="6946900" y="2635721"/>
            <a:ext cx="360363" cy="43180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97" name="Line 41"/>
          <p:cNvSpPr>
            <a:spLocks noChangeShapeType="1"/>
          </p:cNvSpPr>
          <p:nvPr/>
        </p:nvSpPr>
        <p:spPr bwMode="auto">
          <a:xfrm flipH="1" flipV="1">
            <a:off x="7596188" y="2705571"/>
            <a:ext cx="360362" cy="360363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98" name="Oval 42"/>
          <p:cNvSpPr>
            <a:spLocks noChangeArrowheads="1"/>
          </p:cNvSpPr>
          <p:nvPr/>
        </p:nvSpPr>
        <p:spPr bwMode="auto">
          <a:xfrm>
            <a:off x="6084888" y="3859684"/>
            <a:ext cx="431800" cy="433387"/>
          </a:xfrm>
          <a:prstGeom prst="ellips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50</a:t>
            </a:r>
          </a:p>
        </p:txBody>
      </p:sp>
      <p:sp>
        <p:nvSpPr>
          <p:cNvPr id="45099" name="Line 43"/>
          <p:cNvSpPr>
            <a:spLocks noChangeShapeType="1"/>
          </p:cNvSpPr>
          <p:nvPr/>
        </p:nvSpPr>
        <p:spPr bwMode="auto">
          <a:xfrm flipH="1">
            <a:off x="6372225" y="3427884"/>
            <a:ext cx="360363" cy="43180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100" name="Oval 44"/>
          <p:cNvSpPr>
            <a:spLocks noChangeArrowheads="1"/>
          </p:cNvSpPr>
          <p:nvPr/>
        </p:nvSpPr>
        <p:spPr bwMode="auto">
          <a:xfrm>
            <a:off x="7812088" y="3067521"/>
            <a:ext cx="431800" cy="433388"/>
          </a:xfrm>
          <a:prstGeom prst="ellips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110</a:t>
            </a:r>
          </a:p>
        </p:txBody>
      </p:sp>
      <p:sp>
        <p:nvSpPr>
          <p:cNvPr id="45101" name="Oval 45"/>
          <p:cNvSpPr>
            <a:spLocks noChangeArrowheads="1"/>
          </p:cNvSpPr>
          <p:nvPr/>
        </p:nvSpPr>
        <p:spPr bwMode="auto">
          <a:xfrm>
            <a:off x="7235825" y="3932709"/>
            <a:ext cx="431800" cy="433387"/>
          </a:xfrm>
          <a:prstGeom prst="ellips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90</a:t>
            </a:r>
          </a:p>
        </p:txBody>
      </p:sp>
      <p:sp>
        <p:nvSpPr>
          <p:cNvPr id="45102" name="Oval 46"/>
          <p:cNvSpPr>
            <a:spLocks noChangeArrowheads="1"/>
          </p:cNvSpPr>
          <p:nvPr/>
        </p:nvSpPr>
        <p:spPr bwMode="auto">
          <a:xfrm>
            <a:off x="6732588" y="4724871"/>
            <a:ext cx="431800" cy="433388"/>
          </a:xfrm>
          <a:prstGeom prst="ellips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80</a:t>
            </a:r>
          </a:p>
        </p:txBody>
      </p:sp>
      <p:sp>
        <p:nvSpPr>
          <p:cNvPr id="45103" name="Line 47"/>
          <p:cNvSpPr>
            <a:spLocks noChangeShapeType="1"/>
          </p:cNvSpPr>
          <p:nvPr/>
        </p:nvSpPr>
        <p:spPr bwMode="auto">
          <a:xfrm flipV="1">
            <a:off x="6948488" y="4293071"/>
            <a:ext cx="361950" cy="43180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104" name="Oval 48"/>
          <p:cNvSpPr>
            <a:spLocks noChangeArrowheads="1"/>
          </p:cNvSpPr>
          <p:nvPr/>
        </p:nvSpPr>
        <p:spPr bwMode="auto">
          <a:xfrm>
            <a:off x="7524750" y="4724871"/>
            <a:ext cx="431800" cy="433388"/>
          </a:xfrm>
          <a:prstGeom prst="ellips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100</a:t>
            </a:r>
          </a:p>
        </p:txBody>
      </p:sp>
      <p:sp>
        <p:nvSpPr>
          <p:cNvPr id="45105" name="Line 49"/>
          <p:cNvSpPr>
            <a:spLocks noChangeShapeType="1"/>
          </p:cNvSpPr>
          <p:nvPr/>
        </p:nvSpPr>
        <p:spPr bwMode="auto">
          <a:xfrm flipH="1" flipV="1">
            <a:off x="7524750" y="4364509"/>
            <a:ext cx="214313" cy="287337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106" name="Line 50"/>
          <p:cNvSpPr>
            <a:spLocks noChangeShapeType="1"/>
          </p:cNvSpPr>
          <p:nvPr/>
        </p:nvSpPr>
        <p:spPr bwMode="auto">
          <a:xfrm flipH="1">
            <a:off x="7524750" y="3500909"/>
            <a:ext cx="360363" cy="43180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107" name="Line 51"/>
          <p:cNvSpPr>
            <a:spLocks noChangeShapeType="1"/>
          </p:cNvSpPr>
          <p:nvPr/>
        </p:nvSpPr>
        <p:spPr bwMode="auto">
          <a:xfrm flipH="1" flipV="1">
            <a:off x="8174038" y="3427884"/>
            <a:ext cx="287337" cy="43180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108" name="Oval 52"/>
          <p:cNvSpPr>
            <a:spLocks noChangeArrowheads="1"/>
          </p:cNvSpPr>
          <p:nvPr/>
        </p:nvSpPr>
        <p:spPr bwMode="auto">
          <a:xfrm>
            <a:off x="8316913" y="3859684"/>
            <a:ext cx="431800" cy="433387"/>
          </a:xfrm>
          <a:prstGeom prst="ellips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120</a:t>
            </a:r>
          </a:p>
        </p:txBody>
      </p:sp>
      <p:sp>
        <p:nvSpPr>
          <p:cNvPr id="45109" name="Line 53"/>
          <p:cNvSpPr>
            <a:spLocks noChangeShapeType="1"/>
          </p:cNvSpPr>
          <p:nvPr/>
        </p:nvSpPr>
        <p:spPr bwMode="auto">
          <a:xfrm flipH="1" flipV="1">
            <a:off x="8605838" y="4291484"/>
            <a:ext cx="214312" cy="287337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110" name="Oval 54"/>
          <p:cNvSpPr>
            <a:spLocks noChangeArrowheads="1"/>
          </p:cNvSpPr>
          <p:nvPr/>
        </p:nvSpPr>
        <p:spPr bwMode="auto">
          <a:xfrm>
            <a:off x="8677275" y="4578821"/>
            <a:ext cx="431800" cy="433388"/>
          </a:xfrm>
          <a:prstGeom prst="ellips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150</a:t>
            </a:r>
          </a:p>
        </p:txBody>
      </p:sp>
      <p:sp>
        <p:nvSpPr>
          <p:cNvPr id="45111" name="AutoShape 55"/>
          <p:cNvSpPr>
            <a:spLocks noChangeArrowheads="1"/>
          </p:cNvSpPr>
          <p:nvPr/>
        </p:nvSpPr>
        <p:spPr bwMode="auto">
          <a:xfrm>
            <a:off x="4140200" y="3382094"/>
            <a:ext cx="2593975" cy="3143250"/>
          </a:xfrm>
          <a:prstGeom prst="flowChartConnector">
            <a:avLst/>
          </a:prstGeom>
          <a:noFill/>
          <a:ln w="28575">
            <a:solidFill>
              <a:srgbClr val="CC6600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endParaRPr lang="zh-CN" altLang="en-US"/>
          </a:p>
        </p:txBody>
      </p:sp>
      <p:sp>
        <p:nvSpPr>
          <p:cNvPr id="45112" name="AutoShape 56"/>
          <p:cNvSpPr>
            <a:spLocks noChangeArrowheads="1"/>
          </p:cNvSpPr>
          <p:nvPr/>
        </p:nvSpPr>
        <p:spPr bwMode="auto">
          <a:xfrm>
            <a:off x="1909763" y="3932709"/>
            <a:ext cx="1584325" cy="2305050"/>
          </a:xfrm>
          <a:prstGeom prst="flowChartConnector">
            <a:avLst/>
          </a:prstGeom>
          <a:noFill/>
          <a:ln w="28575">
            <a:solidFill>
              <a:srgbClr val="CC66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55</a:t>
            </a:fld>
            <a:endParaRPr lang="zh-CN" altLang="en-US" dirty="0"/>
          </a:p>
        </p:txBody>
      </p:sp>
      <p:grpSp>
        <p:nvGrpSpPr>
          <p:cNvPr id="59" name="组合 114"/>
          <p:cNvGrpSpPr/>
          <p:nvPr/>
        </p:nvGrpSpPr>
        <p:grpSpPr>
          <a:xfrm>
            <a:off x="-396552" y="76388"/>
            <a:ext cx="6775654" cy="679510"/>
            <a:chOff x="-99459" y="3320919"/>
            <a:chExt cx="7301815" cy="722576"/>
          </a:xfrm>
        </p:grpSpPr>
        <p:grpSp>
          <p:nvGrpSpPr>
            <p:cNvPr id="60" name="组合 105"/>
            <p:cNvGrpSpPr/>
            <p:nvPr/>
          </p:nvGrpSpPr>
          <p:grpSpPr>
            <a:xfrm>
              <a:off x="-99459" y="3320919"/>
              <a:ext cx="7301815" cy="722576"/>
              <a:chOff x="-99459" y="3320919"/>
              <a:chExt cx="7301815" cy="722576"/>
            </a:xfrm>
          </p:grpSpPr>
          <p:sp>
            <p:nvSpPr>
              <p:cNvPr id="62" name="Freeform 5"/>
              <p:cNvSpPr>
                <a:spLocks/>
              </p:cNvSpPr>
              <p:nvPr/>
            </p:nvSpPr>
            <p:spPr bwMode="auto">
              <a:xfrm>
                <a:off x="933887" y="3380765"/>
                <a:ext cx="801702" cy="662730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EA6103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  <p:sp>
            <p:nvSpPr>
              <p:cNvPr id="63" name="TextBox 6"/>
              <p:cNvSpPr txBox="1">
                <a:spLocks noChangeArrowheads="1"/>
              </p:cNvSpPr>
              <p:nvPr/>
            </p:nvSpPr>
            <p:spPr bwMode="auto">
              <a:xfrm>
                <a:off x="-99459" y="3320919"/>
                <a:ext cx="7301815" cy="687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10.3 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树表的查找</a:t>
                </a:r>
              </a:p>
            </p:txBody>
          </p:sp>
        </p:grpSp>
        <p:pic>
          <p:nvPicPr>
            <p:cNvPr id="61" name="图片 60" descr="12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5929" y="3530600"/>
              <a:ext cx="446172" cy="431048"/>
            </a:xfrm>
            <a:prstGeom prst="rect">
              <a:avLst/>
            </a:prstGeom>
          </p:spPr>
        </p:pic>
      </p:grpSp>
      <p:sp>
        <p:nvSpPr>
          <p:cNvPr id="64" name="矩形 63"/>
          <p:cNvSpPr/>
          <p:nvPr/>
        </p:nvSpPr>
        <p:spPr>
          <a:xfrm>
            <a:off x="394291" y="908720"/>
            <a:ext cx="351570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/>
              <a:t>平衡二叉树的构造 </a:t>
            </a:r>
          </a:p>
        </p:txBody>
      </p:sp>
    </p:spTree>
    <p:extLst>
      <p:ext uri="{BB962C8B-B14F-4D97-AF65-F5344CB8AC3E}">
        <p14:creationId xmlns:p14="http://schemas.microsoft.com/office/powerpoint/2010/main" val="2263416529"/>
      </p:ext>
    </p:extLst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8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8" dur="2000" fill="hold"/>
                                        <p:tgtEl>
                                          <p:spTgt spid="4506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506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45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8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93" dur="2000" fill="hold"/>
                                        <p:tgtEl>
                                          <p:spTgt spid="4507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507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8" dur="500"/>
                                        <p:tgtEl>
                                          <p:spTgt spid="45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0" grpId="0" animBg="1" autoUpdateAnimBg="0"/>
      <p:bldP spid="45061" grpId="0" animBg="1" autoUpdateAnimBg="0"/>
      <p:bldP spid="45063" grpId="0" animBg="1" autoUpdateAnimBg="0"/>
      <p:bldP spid="45063" grpId="1" animBg="1" autoUpdateAnimBg="0"/>
      <p:bldP spid="45064" grpId="0" animBg="1" autoUpdateAnimBg="0"/>
      <p:bldP spid="45067" grpId="0" animBg="1" autoUpdateAnimBg="0"/>
      <p:bldP spid="45068" grpId="0" animBg="1" autoUpdateAnimBg="0"/>
      <p:bldP spid="45072" grpId="0" animBg="1" autoUpdateAnimBg="0"/>
      <p:bldP spid="45073" grpId="0" animBg="1" autoUpdateAnimBg="0"/>
      <p:bldP spid="45075" grpId="0" animBg="1" autoUpdateAnimBg="0"/>
      <p:bldP spid="45076" grpId="0" animBg="1" autoUpdateAnimBg="0"/>
      <p:bldP spid="45076" grpId="1" animBg="1" autoUpdateAnimBg="0"/>
      <p:bldP spid="45077" grpId="0" animBg="1" autoUpdateAnimBg="0"/>
      <p:bldP spid="45079" grpId="0" animBg="1" autoUpdateAnimBg="0"/>
      <p:bldP spid="45080" grpId="0" animBg="1" autoUpdateAnimBg="0"/>
      <p:bldP spid="45083" grpId="0" animBg="1" autoUpdateAnimBg="0"/>
      <p:bldP spid="45084" grpId="0" animBg="1" autoUpdateAnimBg="0"/>
      <p:bldP spid="45088" grpId="0" animBg="1" autoUpdateAnimBg="0"/>
      <p:bldP spid="45090" grpId="0" animBg="1" autoUpdateAnimBg="0"/>
      <p:bldP spid="45092" grpId="0" bldLvl="0" animBg="1" autoUpdateAnimBg="0"/>
      <p:bldP spid="45093" grpId="0" animBg="1" autoUpdateAnimBg="0"/>
      <p:bldP spid="45094" grpId="0" animBg="1" autoUpdateAnimBg="0"/>
      <p:bldP spid="45095" grpId="0" animBg="1" autoUpdateAnimBg="0"/>
      <p:bldP spid="45098" grpId="0" animBg="1" autoUpdateAnimBg="0"/>
      <p:bldP spid="45100" grpId="0" animBg="1" autoUpdateAnimBg="0"/>
      <p:bldP spid="45101" grpId="0" animBg="1" autoUpdateAnimBg="0"/>
      <p:bldP spid="45102" grpId="0" animBg="1" autoUpdateAnimBg="0"/>
      <p:bldP spid="45104" grpId="0" animBg="1" autoUpdateAnimBg="0"/>
      <p:bldP spid="45108" grpId="0" animBg="1" autoUpdateAnimBg="0"/>
      <p:bldP spid="45110" grpId="0" bldLvl="0" animBg="1" autoUpdateAnimBg="0"/>
      <p:bldP spid="45111" grpId="0" animBg="1"/>
      <p:bldP spid="45112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1557040"/>
            <a:ext cx="7993062" cy="863600"/>
          </a:xfrm>
        </p:spPr>
        <p:txBody>
          <a:bodyPr/>
          <a:lstStyle/>
          <a:p>
            <a:pPr marL="660400" indent="-6604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FF0000"/>
                </a:solidFill>
              </a:rPr>
              <a:t>[</a:t>
            </a:r>
            <a:r>
              <a:rPr lang="zh-CN" altLang="en-US" sz="2400" b="1" dirty="0">
                <a:solidFill>
                  <a:srgbClr val="FF0000"/>
                </a:solidFill>
              </a:rPr>
              <a:t>练习</a:t>
            </a:r>
            <a:r>
              <a:rPr lang="en-US" altLang="zh-CN" sz="2400" b="1" dirty="0">
                <a:solidFill>
                  <a:srgbClr val="FF0000"/>
                </a:solidFill>
              </a:rPr>
              <a:t>]</a:t>
            </a:r>
            <a:r>
              <a:rPr lang="zh-CN" altLang="en-US" sz="2400" dirty="0"/>
              <a:t>：依次输入下列数据构造一棵平衡二叉树：</a:t>
            </a:r>
          </a:p>
          <a:p>
            <a:pPr marL="660400" indent="-6604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             </a:t>
            </a:r>
            <a:r>
              <a:rPr lang="en-US" altLang="zh-CN" sz="2400" dirty="0"/>
              <a:t>100</a:t>
            </a:r>
            <a:r>
              <a:rPr lang="zh-CN" altLang="en-US" sz="2400" dirty="0"/>
              <a:t>，</a:t>
            </a:r>
            <a:r>
              <a:rPr lang="en-US" altLang="zh-CN" sz="2400" dirty="0"/>
              <a:t>90</a:t>
            </a:r>
            <a:r>
              <a:rPr lang="zh-CN" altLang="en-US" sz="2400" dirty="0"/>
              <a:t>，</a:t>
            </a:r>
            <a:r>
              <a:rPr lang="en-US" altLang="zh-CN" sz="2400" dirty="0"/>
              <a:t>80</a:t>
            </a:r>
            <a:r>
              <a:rPr lang="zh-CN" altLang="en-US" sz="2400" dirty="0"/>
              <a:t>，</a:t>
            </a:r>
            <a:r>
              <a:rPr lang="en-US" altLang="zh-CN" sz="2400" dirty="0"/>
              <a:t>60</a:t>
            </a:r>
            <a:r>
              <a:rPr lang="zh-CN" altLang="en-US" sz="2400" dirty="0"/>
              <a:t>，</a:t>
            </a:r>
            <a:r>
              <a:rPr lang="en-US" altLang="zh-CN" sz="2400" dirty="0"/>
              <a:t>70</a:t>
            </a:r>
            <a:r>
              <a:rPr lang="zh-CN" altLang="en-US" sz="2400" dirty="0"/>
              <a:t>，</a:t>
            </a:r>
            <a:r>
              <a:rPr lang="en-US" altLang="zh-CN" sz="2400" dirty="0"/>
              <a:t>50</a:t>
            </a:r>
            <a:r>
              <a:rPr lang="zh-CN" altLang="en-US" sz="2400" dirty="0"/>
              <a:t>，</a:t>
            </a:r>
            <a:r>
              <a:rPr lang="en-US" altLang="zh-CN" sz="2400" dirty="0"/>
              <a:t>120</a:t>
            </a:r>
            <a:r>
              <a:rPr lang="zh-CN" altLang="en-US" sz="2400" dirty="0"/>
              <a:t>，</a:t>
            </a:r>
            <a:r>
              <a:rPr lang="en-US" altLang="zh-CN" sz="2400" dirty="0"/>
              <a:t>110</a:t>
            </a:r>
            <a:r>
              <a:rPr lang="zh-CN" altLang="en-US" sz="2400" dirty="0"/>
              <a:t>，</a:t>
            </a:r>
            <a:r>
              <a:rPr lang="en-US" altLang="zh-CN" sz="2400" dirty="0"/>
              <a:t>150</a:t>
            </a:r>
            <a:r>
              <a:rPr lang="zh-CN" altLang="en-US" sz="2400" dirty="0"/>
              <a:t>，</a:t>
            </a:r>
            <a:r>
              <a:rPr lang="en-US" altLang="zh-CN" sz="2400" dirty="0"/>
              <a:t>87</a:t>
            </a:r>
            <a:r>
              <a:rPr lang="zh-CN" altLang="en-US" sz="2400" dirty="0"/>
              <a:t>。</a:t>
            </a:r>
          </a:p>
        </p:txBody>
      </p:sp>
      <p:sp>
        <p:nvSpPr>
          <p:cNvPr id="46084" name="Oval 4"/>
          <p:cNvSpPr>
            <a:spLocks noChangeArrowheads="1"/>
          </p:cNvSpPr>
          <p:nvPr/>
        </p:nvSpPr>
        <p:spPr bwMode="auto">
          <a:xfrm>
            <a:off x="1546225" y="2633365"/>
            <a:ext cx="431800" cy="433387"/>
          </a:xfrm>
          <a:prstGeom prst="ellips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70</a:t>
            </a:r>
          </a:p>
        </p:txBody>
      </p:sp>
      <p:sp>
        <p:nvSpPr>
          <p:cNvPr id="46085" name="Oval 5"/>
          <p:cNvSpPr>
            <a:spLocks noChangeArrowheads="1"/>
          </p:cNvSpPr>
          <p:nvPr/>
        </p:nvSpPr>
        <p:spPr bwMode="auto">
          <a:xfrm>
            <a:off x="969963" y="3425527"/>
            <a:ext cx="431800" cy="433388"/>
          </a:xfrm>
          <a:prstGeom prst="ellips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60</a:t>
            </a:r>
          </a:p>
        </p:txBody>
      </p:sp>
      <p:sp>
        <p:nvSpPr>
          <p:cNvPr id="46086" name="Line 6"/>
          <p:cNvSpPr>
            <a:spLocks noChangeShapeType="1"/>
          </p:cNvSpPr>
          <p:nvPr/>
        </p:nvSpPr>
        <p:spPr bwMode="auto">
          <a:xfrm flipH="1">
            <a:off x="1257300" y="2993727"/>
            <a:ext cx="360363" cy="43180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087" name="Line 7"/>
          <p:cNvSpPr>
            <a:spLocks noChangeShapeType="1"/>
          </p:cNvSpPr>
          <p:nvPr/>
        </p:nvSpPr>
        <p:spPr bwMode="auto">
          <a:xfrm flipH="1" flipV="1">
            <a:off x="1903413" y="2990550"/>
            <a:ext cx="363537" cy="433389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088" name="Oval 8"/>
          <p:cNvSpPr>
            <a:spLocks noChangeArrowheads="1"/>
          </p:cNvSpPr>
          <p:nvPr/>
        </p:nvSpPr>
        <p:spPr bwMode="auto">
          <a:xfrm>
            <a:off x="395288" y="4217690"/>
            <a:ext cx="431800" cy="433387"/>
          </a:xfrm>
          <a:prstGeom prst="ellips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50</a:t>
            </a:r>
          </a:p>
        </p:txBody>
      </p:sp>
      <p:sp>
        <p:nvSpPr>
          <p:cNvPr id="46089" name="Line 9"/>
          <p:cNvSpPr>
            <a:spLocks noChangeShapeType="1"/>
          </p:cNvSpPr>
          <p:nvPr/>
        </p:nvSpPr>
        <p:spPr bwMode="auto">
          <a:xfrm flipH="1">
            <a:off x="682625" y="3785890"/>
            <a:ext cx="360363" cy="43180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090" name="Oval 10"/>
          <p:cNvSpPr>
            <a:spLocks noChangeArrowheads="1"/>
          </p:cNvSpPr>
          <p:nvPr/>
        </p:nvSpPr>
        <p:spPr bwMode="auto">
          <a:xfrm>
            <a:off x="2122488" y="3425527"/>
            <a:ext cx="431800" cy="433388"/>
          </a:xfrm>
          <a:prstGeom prst="ellips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110</a:t>
            </a:r>
          </a:p>
        </p:txBody>
      </p:sp>
      <p:sp>
        <p:nvSpPr>
          <p:cNvPr id="46091" name="Oval 11"/>
          <p:cNvSpPr>
            <a:spLocks noChangeArrowheads="1"/>
          </p:cNvSpPr>
          <p:nvPr/>
        </p:nvSpPr>
        <p:spPr bwMode="auto">
          <a:xfrm>
            <a:off x="1546225" y="4290715"/>
            <a:ext cx="431800" cy="433387"/>
          </a:xfrm>
          <a:prstGeom prst="ellips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90</a:t>
            </a:r>
          </a:p>
        </p:txBody>
      </p:sp>
      <p:sp>
        <p:nvSpPr>
          <p:cNvPr id="46092" name="Oval 12"/>
          <p:cNvSpPr>
            <a:spLocks noChangeArrowheads="1"/>
          </p:cNvSpPr>
          <p:nvPr/>
        </p:nvSpPr>
        <p:spPr bwMode="auto">
          <a:xfrm>
            <a:off x="1042988" y="5082877"/>
            <a:ext cx="431800" cy="433388"/>
          </a:xfrm>
          <a:prstGeom prst="ellips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80</a:t>
            </a:r>
          </a:p>
        </p:txBody>
      </p:sp>
      <p:sp>
        <p:nvSpPr>
          <p:cNvPr id="46093" name="Line 13"/>
          <p:cNvSpPr>
            <a:spLocks noChangeShapeType="1"/>
          </p:cNvSpPr>
          <p:nvPr/>
        </p:nvSpPr>
        <p:spPr bwMode="auto">
          <a:xfrm flipV="1">
            <a:off x="1258888" y="4651077"/>
            <a:ext cx="361950" cy="43180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094" name="Oval 14"/>
          <p:cNvSpPr>
            <a:spLocks noChangeArrowheads="1"/>
          </p:cNvSpPr>
          <p:nvPr/>
        </p:nvSpPr>
        <p:spPr bwMode="auto">
          <a:xfrm>
            <a:off x="1835150" y="5082877"/>
            <a:ext cx="431800" cy="433388"/>
          </a:xfrm>
          <a:prstGeom prst="ellips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100</a:t>
            </a:r>
          </a:p>
        </p:txBody>
      </p:sp>
      <p:sp>
        <p:nvSpPr>
          <p:cNvPr id="46095" name="Line 15"/>
          <p:cNvSpPr>
            <a:spLocks noChangeShapeType="1"/>
          </p:cNvSpPr>
          <p:nvPr/>
        </p:nvSpPr>
        <p:spPr bwMode="auto">
          <a:xfrm flipH="1" flipV="1">
            <a:off x="1835150" y="4722515"/>
            <a:ext cx="215900" cy="36195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096" name="Line 16"/>
          <p:cNvSpPr>
            <a:spLocks noChangeShapeType="1"/>
          </p:cNvSpPr>
          <p:nvPr/>
        </p:nvSpPr>
        <p:spPr bwMode="auto">
          <a:xfrm flipH="1">
            <a:off x="1835149" y="3782715"/>
            <a:ext cx="360586" cy="50800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097" name="Line 17"/>
          <p:cNvSpPr>
            <a:spLocks noChangeShapeType="1"/>
          </p:cNvSpPr>
          <p:nvPr/>
        </p:nvSpPr>
        <p:spPr bwMode="auto">
          <a:xfrm flipH="1" flipV="1">
            <a:off x="2484438" y="3785890"/>
            <a:ext cx="287337" cy="43180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098" name="Oval 18"/>
          <p:cNvSpPr>
            <a:spLocks noChangeArrowheads="1"/>
          </p:cNvSpPr>
          <p:nvPr/>
        </p:nvSpPr>
        <p:spPr bwMode="auto">
          <a:xfrm>
            <a:off x="2627313" y="4217690"/>
            <a:ext cx="431800" cy="433387"/>
          </a:xfrm>
          <a:prstGeom prst="ellips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120</a:t>
            </a:r>
          </a:p>
        </p:txBody>
      </p:sp>
      <p:sp>
        <p:nvSpPr>
          <p:cNvPr id="46099" name="Line 19"/>
          <p:cNvSpPr>
            <a:spLocks noChangeShapeType="1"/>
          </p:cNvSpPr>
          <p:nvPr/>
        </p:nvSpPr>
        <p:spPr bwMode="auto">
          <a:xfrm flipH="1" flipV="1">
            <a:off x="2916238" y="4649490"/>
            <a:ext cx="214312" cy="287337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100" name="Oval 20"/>
          <p:cNvSpPr>
            <a:spLocks noChangeArrowheads="1"/>
          </p:cNvSpPr>
          <p:nvPr/>
        </p:nvSpPr>
        <p:spPr bwMode="auto">
          <a:xfrm>
            <a:off x="2987675" y="4936827"/>
            <a:ext cx="431800" cy="433388"/>
          </a:xfrm>
          <a:prstGeom prst="ellips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150</a:t>
            </a:r>
          </a:p>
        </p:txBody>
      </p:sp>
      <p:sp>
        <p:nvSpPr>
          <p:cNvPr id="46101" name="Line 21"/>
          <p:cNvSpPr>
            <a:spLocks noChangeShapeType="1"/>
          </p:cNvSpPr>
          <p:nvPr/>
        </p:nvSpPr>
        <p:spPr bwMode="auto">
          <a:xfrm flipH="1" flipV="1">
            <a:off x="1331913" y="5516265"/>
            <a:ext cx="214312" cy="287337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102" name="Oval 22"/>
          <p:cNvSpPr>
            <a:spLocks noChangeArrowheads="1"/>
          </p:cNvSpPr>
          <p:nvPr/>
        </p:nvSpPr>
        <p:spPr bwMode="auto">
          <a:xfrm>
            <a:off x="1403350" y="5803602"/>
            <a:ext cx="431800" cy="433388"/>
          </a:xfrm>
          <a:prstGeom prst="ellips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87</a:t>
            </a:r>
          </a:p>
        </p:txBody>
      </p:sp>
      <p:sp>
        <p:nvSpPr>
          <p:cNvPr id="46103" name="AutoShape 23"/>
          <p:cNvSpPr>
            <a:spLocks noChangeArrowheads="1"/>
          </p:cNvSpPr>
          <p:nvPr/>
        </p:nvSpPr>
        <p:spPr bwMode="auto">
          <a:xfrm>
            <a:off x="3851920" y="3571577"/>
            <a:ext cx="936625" cy="360363"/>
          </a:xfrm>
          <a:prstGeom prst="rightArrow">
            <a:avLst>
              <a:gd name="adj1" fmla="val 50000"/>
              <a:gd name="adj2" fmla="val 64978"/>
            </a:avLst>
          </a:prstGeom>
          <a:noFill/>
          <a:ln w="28575">
            <a:solidFill>
              <a:srgbClr val="CC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RL</a:t>
            </a:r>
            <a:r>
              <a:rPr lang="zh-CN" altLang="en-US">
                <a:ea typeface="宋体" panose="02010600030101010101" pitchFamily="2" charset="-122"/>
              </a:rPr>
              <a:t>型</a:t>
            </a:r>
          </a:p>
        </p:txBody>
      </p:sp>
      <p:sp>
        <p:nvSpPr>
          <p:cNvPr id="46104" name="Oval 24"/>
          <p:cNvSpPr>
            <a:spLocks noChangeArrowheads="1"/>
          </p:cNvSpPr>
          <p:nvPr/>
        </p:nvSpPr>
        <p:spPr bwMode="auto">
          <a:xfrm>
            <a:off x="5291138" y="3427115"/>
            <a:ext cx="431800" cy="433387"/>
          </a:xfrm>
          <a:prstGeom prst="ellips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70</a:t>
            </a:r>
          </a:p>
        </p:txBody>
      </p:sp>
      <p:sp>
        <p:nvSpPr>
          <p:cNvPr id="46105" name="Oval 25"/>
          <p:cNvSpPr>
            <a:spLocks noChangeArrowheads="1"/>
          </p:cNvSpPr>
          <p:nvPr/>
        </p:nvSpPr>
        <p:spPr bwMode="auto">
          <a:xfrm>
            <a:off x="4714875" y="4219277"/>
            <a:ext cx="431800" cy="433388"/>
          </a:xfrm>
          <a:prstGeom prst="ellips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60</a:t>
            </a:r>
          </a:p>
        </p:txBody>
      </p:sp>
      <p:sp>
        <p:nvSpPr>
          <p:cNvPr id="46106" name="Line 26"/>
          <p:cNvSpPr>
            <a:spLocks noChangeShapeType="1"/>
          </p:cNvSpPr>
          <p:nvPr/>
        </p:nvSpPr>
        <p:spPr bwMode="auto">
          <a:xfrm flipH="1">
            <a:off x="5002213" y="3787477"/>
            <a:ext cx="360362" cy="43180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107" name="Line 27"/>
          <p:cNvSpPr>
            <a:spLocks noChangeShapeType="1"/>
          </p:cNvSpPr>
          <p:nvPr/>
        </p:nvSpPr>
        <p:spPr bwMode="auto">
          <a:xfrm flipH="1" flipV="1">
            <a:off x="6299200" y="3068340"/>
            <a:ext cx="576263" cy="504825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108" name="Oval 28"/>
          <p:cNvSpPr>
            <a:spLocks noChangeArrowheads="1"/>
          </p:cNvSpPr>
          <p:nvPr/>
        </p:nvSpPr>
        <p:spPr bwMode="auto">
          <a:xfrm>
            <a:off x="4140200" y="5011440"/>
            <a:ext cx="431800" cy="433387"/>
          </a:xfrm>
          <a:prstGeom prst="ellips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50</a:t>
            </a:r>
          </a:p>
        </p:txBody>
      </p:sp>
      <p:sp>
        <p:nvSpPr>
          <p:cNvPr id="46109" name="Line 29"/>
          <p:cNvSpPr>
            <a:spLocks noChangeShapeType="1"/>
          </p:cNvSpPr>
          <p:nvPr/>
        </p:nvSpPr>
        <p:spPr bwMode="auto">
          <a:xfrm flipH="1">
            <a:off x="4427538" y="4579640"/>
            <a:ext cx="360362" cy="43180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110" name="Oval 30"/>
          <p:cNvSpPr>
            <a:spLocks noChangeArrowheads="1"/>
          </p:cNvSpPr>
          <p:nvPr/>
        </p:nvSpPr>
        <p:spPr bwMode="auto">
          <a:xfrm>
            <a:off x="6873875" y="3428702"/>
            <a:ext cx="431800" cy="433388"/>
          </a:xfrm>
          <a:prstGeom prst="ellips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110</a:t>
            </a:r>
          </a:p>
        </p:txBody>
      </p:sp>
      <p:sp>
        <p:nvSpPr>
          <p:cNvPr id="46111" name="Oval 31"/>
          <p:cNvSpPr>
            <a:spLocks noChangeArrowheads="1"/>
          </p:cNvSpPr>
          <p:nvPr/>
        </p:nvSpPr>
        <p:spPr bwMode="auto">
          <a:xfrm>
            <a:off x="5938838" y="2707977"/>
            <a:ext cx="431800" cy="433388"/>
          </a:xfrm>
          <a:prstGeom prst="ellips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90</a:t>
            </a:r>
          </a:p>
        </p:txBody>
      </p:sp>
      <p:sp>
        <p:nvSpPr>
          <p:cNvPr id="46112" name="Oval 32"/>
          <p:cNvSpPr>
            <a:spLocks noChangeArrowheads="1"/>
          </p:cNvSpPr>
          <p:nvPr/>
        </p:nvSpPr>
        <p:spPr bwMode="auto">
          <a:xfrm>
            <a:off x="5651500" y="4220865"/>
            <a:ext cx="431800" cy="433387"/>
          </a:xfrm>
          <a:prstGeom prst="ellips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80</a:t>
            </a:r>
          </a:p>
        </p:txBody>
      </p:sp>
      <p:sp>
        <p:nvSpPr>
          <p:cNvPr id="46113" name="Line 33"/>
          <p:cNvSpPr>
            <a:spLocks noChangeShapeType="1"/>
          </p:cNvSpPr>
          <p:nvPr/>
        </p:nvSpPr>
        <p:spPr bwMode="auto">
          <a:xfrm flipV="1">
            <a:off x="5651500" y="3068340"/>
            <a:ext cx="361950" cy="43180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114" name="Oval 34"/>
          <p:cNvSpPr>
            <a:spLocks noChangeArrowheads="1"/>
          </p:cNvSpPr>
          <p:nvPr/>
        </p:nvSpPr>
        <p:spPr bwMode="auto">
          <a:xfrm>
            <a:off x="6299200" y="4220865"/>
            <a:ext cx="431800" cy="433387"/>
          </a:xfrm>
          <a:prstGeom prst="ellips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100</a:t>
            </a:r>
          </a:p>
        </p:txBody>
      </p:sp>
      <p:sp>
        <p:nvSpPr>
          <p:cNvPr id="46115" name="Line 35"/>
          <p:cNvSpPr>
            <a:spLocks noChangeShapeType="1"/>
          </p:cNvSpPr>
          <p:nvPr/>
        </p:nvSpPr>
        <p:spPr bwMode="auto">
          <a:xfrm flipH="1" flipV="1">
            <a:off x="5578475" y="3860502"/>
            <a:ext cx="215900" cy="36195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116" name="Line 36"/>
          <p:cNvSpPr>
            <a:spLocks noChangeShapeType="1"/>
          </p:cNvSpPr>
          <p:nvPr/>
        </p:nvSpPr>
        <p:spPr bwMode="auto">
          <a:xfrm flipH="1">
            <a:off x="6515099" y="3717032"/>
            <a:ext cx="358775" cy="503833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117" name="Line 37"/>
          <p:cNvSpPr>
            <a:spLocks noChangeShapeType="1"/>
          </p:cNvSpPr>
          <p:nvPr/>
        </p:nvSpPr>
        <p:spPr bwMode="auto">
          <a:xfrm flipH="1" flipV="1">
            <a:off x="7235825" y="3789065"/>
            <a:ext cx="287338" cy="43180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118" name="Oval 38"/>
          <p:cNvSpPr>
            <a:spLocks noChangeArrowheads="1"/>
          </p:cNvSpPr>
          <p:nvPr/>
        </p:nvSpPr>
        <p:spPr bwMode="auto">
          <a:xfrm>
            <a:off x="7378700" y="4220865"/>
            <a:ext cx="431800" cy="433387"/>
          </a:xfrm>
          <a:prstGeom prst="ellips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120</a:t>
            </a:r>
          </a:p>
        </p:txBody>
      </p:sp>
      <p:sp>
        <p:nvSpPr>
          <p:cNvPr id="46119" name="Line 39"/>
          <p:cNvSpPr>
            <a:spLocks noChangeShapeType="1"/>
          </p:cNvSpPr>
          <p:nvPr/>
        </p:nvSpPr>
        <p:spPr bwMode="auto">
          <a:xfrm flipH="1" flipV="1">
            <a:off x="7667625" y="4652665"/>
            <a:ext cx="214313" cy="287337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120" name="Oval 40"/>
          <p:cNvSpPr>
            <a:spLocks noChangeArrowheads="1"/>
          </p:cNvSpPr>
          <p:nvPr/>
        </p:nvSpPr>
        <p:spPr bwMode="auto">
          <a:xfrm>
            <a:off x="7739063" y="4940002"/>
            <a:ext cx="431800" cy="433388"/>
          </a:xfrm>
          <a:prstGeom prst="ellips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150</a:t>
            </a:r>
          </a:p>
        </p:txBody>
      </p:sp>
      <p:sp>
        <p:nvSpPr>
          <p:cNvPr id="46121" name="Line 41"/>
          <p:cNvSpPr>
            <a:spLocks noChangeShapeType="1"/>
          </p:cNvSpPr>
          <p:nvPr/>
        </p:nvSpPr>
        <p:spPr bwMode="auto">
          <a:xfrm flipH="1" flipV="1">
            <a:off x="5940425" y="4654252"/>
            <a:ext cx="214313" cy="287338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122" name="Oval 42"/>
          <p:cNvSpPr>
            <a:spLocks noChangeArrowheads="1"/>
          </p:cNvSpPr>
          <p:nvPr/>
        </p:nvSpPr>
        <p:spPr bwMode="auto">
          <a:xfrm>
            <a:off x="6011863" y="4941590"/>
            <a:ext cx="431800" cy="433387"/>
          </a:xfrm>
          <a:prstGeom prst="ellipse">
            <a:avLst/>
          </a:prstGeom>
          <a:noFill/>
          <a:ln w="381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87</a:t>
            </a:r>
          </a:p>
        </p:txBody>
      </p:sp>
      <p:sp>
        <p:nvSpPr>
          <p:cNvPr id="46123" name="AutoShape 43"/>
          <p:cNvSpPr>
            <a:spLocks noChangeArrowheads="1"/>
          </p:cNvSpPr>
          <p:nvPr/>
        </p:nvSpPr>
        <p:spPr bwMode="auto">
          <a:xfrm>
            <a:off x="396875" y="2565102"/>
            <a:ext cx="3238500" cy="3816226"/>
          </a:xfrm>
          <a:prstGeom prst="flowChartConnector">
            <a:avLst/>
          </a:prstGeom>
          <a:noFill/>
          <a:ln w="28575">
            <a:solidFill>
              <a:srgbClr val="CC6600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56</a:t>
            </a:fld>
            <a:endParaRPr lang="zh-CN" altLang="en-US" dirty="0"/>
          </a:p>
        </p:txBody>
      </p:sp>
      <p:grpSp>
        <p:nvGrpSpPr>
          <p:cNvPr id="46" name="组合 114"/>
          <p:cNvGrpSpPr/>
          <p:nvPr/>
        </p:nvGrpSpPr>
        <p:grpSpPr>
          <a:xfrm>
            <a:off x="-396552" y="76388"/>
            <a:ext cx="6775654" cy="679510"/>
            <a:chOff x="-99459" y="3320919"/>
            <a:chExt cx="7301815" cy="722576"/>
          </a:xfrm>
        </p:grpSpPr>
        <p:grpSp>
          <p:nvGrpSpPr>
            <p:cNvPr id="47" name="组合 105"/>
            <p:cNvGrpSpPr/>
            <p:nvPr/>
          </p:nvGrpSpPr>
          <p:grpSpPr>
            <a:xfrm>
              <a:off x="-99459" y="3320919"/>
              <a:ext cx="7301815" cy="722576"/>
              <a:chOff x="-99459" y="3320919"/>
              <a:chExt cx="7301815" cy="722576"/>
            </a:xfrm>
          </p:grpSpPr>
          <p:sp>
            <p:nvSpPr>
              <p:cNvPr id="49" name="Freeform 5"/>
              <p:cNvSpPr>
                <a:spLocks/>
              </p:cNvSpPr>
              <p:nvPr/>
            </p:nvSpPr>
            <p:spPr bwMode="auto">
              <a:xfrm>
                <a:off x="933887" y="3380765"/>
                <a:ext cx="801702" cy="662730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EA6103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  <p:sp>
            <p:nvSpPr>
              <p:cNvPr id="50" name="TextBox 6"/>
              <p:cNvSpPr txBox="1">
                <a:spLocks noChangeArrowheads="1"/>
              </p:cNvSpPr>
              <p:nvPr/>
            </p:nvSpPr>
            <p:spPr bwMode="auto">
              <a:xfrm>
                <a:off x="-99459" y="3320919"/>
                <a:ext cx="7301815" cy="687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10.3 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树表的查找</a:t>
                </a:r>
              </a:p>
            </p:txBody>
          </p:sp>
        </p:grpSp>
        <p:pic>
          <p:nvPicPr>
            <p:cNvPr id="48" name="图片 47" descr="12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5929" y="3530600"/>
              <a:ext cx="446172" cy="431048"/>
            </a:xfrm>
            <a:prstGeom prst="rect">
              <a:avLst/>
            </a:prstGeom>
          </p:spPr>
        </p:pic>
      </p:grpSp>
      <p:sp>
        <p:nvSpPr>
          <p:cNvPr id="51" name="矩形 50"/>
          <p:cNvSpPr/>
          <p:nvPr/>
        </p:nvSpPr>
        <p:spPr>
          <a:xfrm>
            <a:off x="394291" y="908720"/>
            <a:ext cx="351570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/>
              <a:t>平衡二叉树的构造 </a:t>
            </a:r>
          </a:p>
        </p:txBody>
      </p:sp>
    </p:spTree>
    <p:extLst>
      <p:ext uri="{BB962C8B-B14F-4D97-AF65-F5344CB8AC3E}">
        <p14:creationId xmlns:p14="http://schemas.microsoft.com/office/powerpoint/2010/main" val="1546750688"/>
      </p:ext>
    </p:extLst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8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52" dur="2000" fill="hold"/>
                                        <p:tgtEl>
                                          <p:spTgt spid="4608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46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 build="p" autoUpdateAnimBg="0"/>
      <p:bldP spid="46084" grpId="0" animBg="1" autoUpdateAnimBg="0"/>
      <p:bldP spid="46084" grpId="1" animBg="1" autoUpdateAnimBg="0"/>
      <p:bldP spid="46085" grpId="0" animBg="1" autoUpdateAnimBg="0"/>
      <p:bldP spid="46088" grpId="0" animBg="1" autoUpdateAnimBg="0"/>
      <p:bldP spid="46090" grpId="0" animBg="1" autoUpdateAnimBg="0"/>
      <p:bldP spid="46091" grpId="0" animBg="1" autoUpdateAnimBg="0"/>
      <p:bldP spid="46092" grpId="0" animBg="1" autoUpdateAnimBg="0"/>
      <p:bldP spid="46094" grpId="0" animBg="1" autoUpdateAnimBg="0"/>
      <p:bldP spid="46098" grpId="0" animBg="1" autoUpdateAnimBg="0"/>
      <p:bldP spid="46100" grpId="0" animBg="1" autoUpdateAnimBg="0"/>
      <p:bldP spid="46102" grpId="0" bldLvl="0" animBg="1" autoUpdateAnimBg="0"/>
      <p:bldP spid="46103" grpId="0" animBg="1" autoUpdateAnimBg="0"/>
      <p:bldP spid="46104" grpId="0" animBg="1" autoUpdateAnimBg="0"/>
      <p:bldP spid="46105" grpId="0" animBg="1" autoUpdateAnimBg="0"/>
      <p:bldP spid="46108" grpId="0" animBg="1" autoUpdateAnimBg="0"/>
      <p:bldP spid="46110" grpId="0" animBg="1" autoUpdateAnimBg="0"/>
      <p:bldP spid="46111" grpId="0" animBg="1" autoUpdateAnimBg="0"/>
      <p:bldP spid="46112" grpId="0" animBg="1" autoUpdateAnimBg="0"/>
      <p:bldP spid="46114" grpId="0" animBg="1" autoUpdateAnimBg="0"/>
      <p:bldP spid="46118" grpId="0" animBg="1" autoUpdateAnimBg="0"/>
      <p:bldP spid="46120" grpId="0" animBg="1" autoUpdateAnimBg="0"/>
      <p:bldP spid="46122" grpId="0" animBg="1" autoUpdateAnimBg="0"/>
      <p:bldP spid="46123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0988" y="1052736"/>
            <a:ext cx="8229600" cy="4678451"/>
          </a:xfrm>
        </p:spPr>
        <p:txBody>
          <a:bodyPr/>
          <a:lstStyle/>
          <a:p>
            <a:pPr marL="660400" indent="-660400" eaLnBrk="1" hangingPunct="1"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FF0000"/>
                </a:solidFill>
              </a:rPr>
              <a:t>[</a:t>
            </a:r>
            <a:r>
              <a:rPr lang="zh-CN" altLang="en-US" sz="2800" dirty="0">
                <a:solidFill>
                  <a:srgbClr val="FF0000"/>
                </a:solidFill>
              </a:rPr>
              <a:t>思考</a:t>
            </a:r>
            <a:r>
              <a:rPr lang="en-US" altLang="zh-CN" sz="2800" dirty="0">
                <a:solidFill>
                  <a:srgbClr val="FF0000"/>
                </a:solidFill>
              </a:rPr>
              <a:t>]</a:t>
            </a:r>
            <a:r>
              <a:rPr lang="zh-CN" altLang="en-US" sz="2800" dirty="0">
                <a:solidFill>
                  <a:srgbClr val="FF0000"/>
                </a:solidFill>
              </a:rPr>
              <a:t>：</a:t>
            </a:r>
          </a:p>
          <a:p>
            <a:pPr marL="660400" indent="-660400" eaLnBrk="1" hangingPunct="1"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zh-CN" altLang="en-US" sz="2400" b="1" dirty="0"/>
              <a:t>① 至少要用</a:t>
            </a:r>
            <a:r>
              <a:rPr lang="en-US" altLang="zh-CN" sz="2400" b="1" dirty="0"/>
              <a:t>7</a:t>
            </a:r>
            <a:r>
              <a:rPr lang="zh-CN" altLang="en-US" sz="2400" b="1" dirty="0"/>
              <a:t>个数作为输入序列，构造一棵平衡二叉树，</a:t>
            </a:r>
          </a:p>
          <a:p>
            <a:pPr marL="660400" indent="-660400" eaLnBrk="1" hangingPunct="1"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zh-CN" altLang="en-US" sz="2400" b="1" dirty="0"/>
              <a:t>     构造过程中同时包含</a:t>
            </a:r>
            <a:r>
              <a:rPr lang="en-US" altLang="zh-CN" sz="2400" b="1" dirty="0"/>
              <a:t>4</a:t>
            </a:r>
            <a:r>
              <a:rPr lang="zh-CN" altLang="en-US" sz="2400" b="1" dirty="0"/>
              <a:t>种调整方法。请给出这样的序列。</a:t>
            </a:r>
          </a:p>
          <a:p>
            <a:pPr marL="660400" indent="-660400" eaLnBrk="1" hangingPunct="1"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zh-CN" altLang="en-US" sz="2400" b="1" dirty="0"/>
              <a:t>② 在构造平衡二叉树的过程中，</a:t>
            </a:r>
          </a:p>
          <a:p>
            <a:pPr marL="660400" indent="-660400" eaLnBrk="1" hangingPunct="1"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zh-CN" altLang="en-US" sz="2400" b="1" dirty="0"/>
              <a:t>     若</a:t>
            </a:r>
            <a:r>
              <a:rPr lang="en-US" altLang="zh-CN" sz="2400" b="1" dirty="0"/>
              <a:t>A</a:t>
            </a:r>
            <a:r>
              <a:rPr lang="zh-CN" altLang="en-US" sz="2400" b="1" dirty="0"/>
              <a:t>的平衡因子变为</a:t>
            </a:r>
            <a:r>
              <a:rPr lang="en-US" altLang="zh-CN" sz="2400" b="1" dirty="0"/>
              <a:t>-2</a:t>
            </a:r>
            <a:r>
              <a:rPr lang="zh-CN" altLang="en-US" sz="2400" b="1" dirty="0"/>
              <a:t>，</a:t>
            </a:r>
            <a:r>
              <a:rPr lang="en-US" altLang="zh-CN" sz="2400" b="1" dirty="0"/>
              <a:t>A</a:t>
            </a:r>
            <a:r>
              <a:rPr lang="zh-CN" altLang="en-US" sz="2400" b="1" dirty="0"/>
              <a:t>的左孩子的平衡因子为</a:t>
            </a:r>
            <a:r>
              <a:rPr lang="en-US" altLang="zh-CN" sz="2400" b="1" dirty="0"/>
              <a:t>0</a:t>
            </a:r>
            <a:r>
              <a:rPr lang="zh-CN" altLang="en-US" sz="2400" b="1" dirty="0"/>
              <a:t>，</a:t>
            </a:r>
          </a:p>
          <a:p>
            <a:pPr marL="660400" indent="-660400" eaLnBrk="1" hangingPunct="1"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zh-CN" altLang="en-US" sz="2400" b="1" dirty="0"/>
              <a:t>     右孩子的平衡因子为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，则进行何种调整？ </a:t>
            </a:r>
          </a:p>
          <a:p>
            <a:pPr marL="660400" indent="-660400" eaLnBrk="1" hangingPunct="1"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zh-CN" altLang="en-US" sz="2400" b="1" dirty="0"/>
              <a:t>③ 求高度为</a:t>
            </a:r>
            <a:r>
              <a:rPr lang="en-US" altLang="zh-CN" sz="2400" b="1" dirty="0"/>
              <a:t>n</a:t>
            </a:r>
            <a:r>
              <a:rPr lang="zh-CN" altLang="en-US" sz="2400" b="1" dirty="0"/>
              <a:t>的平衡二叉树至少需要的结点个数。</a:t>
            </a:r>
          </a:p>
          <a:p>
            <a:pPr marL="660400" indent="-660400" eaLnBrk="1" hangingPunct="1"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zh-CN" altLang="en-US" sz="2400" b="1" dirty="0"/>
              <a:t>④ </a:t>
            </a:r>
            <a:r>
              <a:rPr lang="zh-CN" altLang="en-US" sz="2400" b="1" dirty="0">
                <a:solidFill>
                  <a:srgbClr val="FF0000"/>
                </a:solidFill>
              </a:rPr>
              <a:t>一棵平衡二叉树中的叶子结点高度之差能不能超过</a:t>
            </a:r>
            <a:r>
              <a:rPr lang="en-US" altLang="zh-CN" sz="2400" b="1" dirty="0">
                <a:solidFill>
                  <a:srgbClr val="FF0000"/>
                </a:solidFill>
              </a:rPr>
              <a:t>2</a:t>
            </a:r>
            <a:r>
              <a:rPr lang="zh-CN" altLang="en-US" sz="2400" b="1" dirty="0">
                <a:solidFill>
                  <a:srgbClr val="FF0000"/>
                </a:solidFill>
              </a:rPr>
              <a:t>？</a:t>
            </a:r>
          </a:p>
          <a:p>
            <a:pPr marL="660400" indent="-660400" eaLnBrk="1" hangingPunct="1">
              <a:buFont typeface="Wingdings" panose="05000000000000000000" pitchFamily="2" charset="2"/>
              <a:buNone/>
            </a:pPr>
            <a:endParaRPr lang="zh-CN" altLang="en-US" sz="24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57</a:t>
            </a:fld>
            <a:endParaRPr lang="zh-CN" altLang="en-US" dirty="0"/>
          </a:p>
        </p:txBody>
      </p:sp>
      <p:grpSp>
        <p:nvGrpSpPr>
          <p:cNvPr id="6" name="组合 114"/>
          <p:cNvGrpSpPr/>
          <p:nvPr/>
        </p:nvGrpSpPr>
        <p:grpSpPr>
          <a:xfrm>
            <a:off x="-396552" y="76388"/>
            <a:ext cx="6775654" cy="679510"/>
            <a:chOff x="-99459" y="3320919"/>
            <a:chExt cx="7301815" cy="722576"/>
          </a:xfrm>
        </p:grpSpPr>
        <p:grpSp>
          <p:nvGrpSpPr>
            <p:cNvPr id="7" name="组合 105"/>
            <p:cNvGrpSpPr/>
            <p:nvPr/>
          </p:nvGrpSpPr>
          <p:grpSpPr>
            <a:xfrm>
              <a:off x="-99459" y="3320919"/>
              <a:ext cx="7301815" cy="722576"/>
              <a:chOff x="-99459" y="3320919"/>
              <a:chExt cx="7301815" cy="722576"/>
            </a:xfrm>
          </p:grpSpPr>
          <p:sp>
            <p:nvSpPr>
              <p:cNvPr id="9" name="Freeform 5"/>
              <p:cNvSpPr>
                <a:spLocks/>
              </p:cNvSpPr>
              <p:nvPr/>
            </p:nvSpPr>
            <p:spPr bwMode="auto">
              <a:xfrm>
                <a:off x="933887" y="3380765"/>
                <a:ext cx="801702" cy="662730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EA6103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  <p:sp>
            <p:nvSpPr>
              <p:cNvPr id="10" name="TextBox 6"/>
              <p:cNvSpPr txBox="1">
                <a:spLocks noChangeArrowheads="1"/>
              </p:cNvSpPr>
              <p:nvPr/>
            </p:nvSpPr>
            <p:spPr bwMode="auto">
              <a:xfrm>
                <a:off x="-99459" y="3320919"/>
                <a:ext cx="7301815" cy="687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10.3 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树表的查找</a:t>
                </a:r>
              </a:p>
            </p:txBody>
          </p:sp>
        </p:grpSp>
        <p:pic>
          <p:nvPicPr>
            <p:cNvPr id="8" name="图片 7" descr="12.jp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5929" y="3530600"/>
              <a:ext cx="446172" cy="4310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83490784"/>
      </p:ext>
    </p:extLst>
  </p:cSld>
  <p:clrMapOvr>
    <a:masterClrMapping/>
  </p:clrMapOvr>
  <p:transition spd="slow">
    <p:pull dir="d"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58</a:t>
            </a:fld>
            <a:endParaRPr lang="zh-CN" altLang="en-US" dirty="0"/>
          </a:p>
        </p:txBody>
      </p:sp>
      <p:grpSp>
        <p:nvGrpSpPr>
          <p:cNvPr id="6" name="组合 114"/>
          <p:cNvGrpSpPr/>
          <p:nvPr/>
        </p:nvGrpSpPr>
        <p:grpSpPr>
          <a:xfrm>
            <a:off x="-396552" y="76388"/>
            <a:ext cx="6775654" cy="679510"/>
            <a:chOff x="-99459" y="3320919"/>
            <a:chExt cx="7301815" cy="722576"/>
          </a:xfrm>
        </p:grpSpPr>
        <p:grpSp>
          <p:nvGrpSpPr>
            <p:cNvPr id="7" name="组合 105"/>
            <p:cNvGrpSpPr/>
            <p:nvPr/>
          </p:nvGrpSpPr>
          <p:grpSpPr>
            <a:xfrm>
              <a:off x="-99459" y="3320919"/>
              <a:ext cx="7301815" cy="722576"/>
              <a:chOff x="-99459" y="3320919"/>
              <a:chExt cx="7301815" cy="722576"/>
            </a:xfrm>
          </p:grpSpPr>
          <p:sp>
            <p:nvSpPr>
              <p:cNvPr id="9" name="Freeform 5"/>
              <p:cNvSpPr>
                <a:spLocks/>
              </p:cNvSpPr>
              <p:nvPr/>
            </p:nvSpPr>
            <p:spPr bwMode="auto">
              <a:xfrm>
                <a:off x="933887" y="3380765"/>
                <a:ext cx="801702" cy="662730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EA6103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  <p:sp>
            <p:nvSpPr>
              <p:cNvPr id="10" name="TextBox 6"/>
              <p:cNvSpPr txBox="1">
                <a:spLocks noChangeArrowheads="1"/>
              </p:cNvSpPr>
              <p:nvPr/>
            </p:nvSpPr>
            <p:spPr bwMode="auto">
              <a:xfrm>
                <a:off x="-99459" y="3320919"/>
                <a:ext cx="7301815" cy="687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10.3 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树表的查找</a:t>
                </a:r>
              </a:p>
            </p:txBody>
          </p:sp>
        </p:grpSp>
        <p:pic>
          <p:nvPicPr>
            <p:cNvPr id="8" name="图片 7" descr="12.jp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5929" y="3530600"/>
              <a:ext cx="446172" cy="431048"/>
            </a:xfrm>
            <a:prstGeom prst="rect">
              <a:avLst/>
            </a:prstGeom>
          </p:spPr>
        </p:pic>
      </p:grpSp>
      <p:sp>
        <p:nvSpPr>
          <p:cNvPr id="5" name="矩形 4"/>
          <p:cNvSpPr/>
          <p:nvPr/>
        </p:nvSpPr>
        <p:spPr>
          <a:xfrm>
            <a:off x="1110609" y="3803511"/>
            <a:ext cx="7620471" cy="1092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latinLnBrk="1">
              <a:spcBef>
                <a:spcPts val="60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C++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的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STL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，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map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和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set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采用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RBT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实现；</a:t>
            </a:r>
          </a:p>
          <a:p>
            <a:pPr marL="285750" indent="-285750" latinLnBrk="1">
              <a:spcBef>
                <a:spcPts val="60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著名的</a:t>
            </a:r>
            <a:r>
              <a:rPr lang="en-US" altLang="zh-CN" sz="2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linux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进程调度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Completely Fair Scheduler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，用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RBT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管理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 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进程控制块。</a:t>
            </a:r>
          </a:p>
        </p:txBody>
      </p:sp>
      <p:sp>
        <p:nvSpPr>
          <p:cNvPr id="13" name="矩形 12"/>
          <p:cNvSpPr/>
          <p:nvPr/>
        </p:nvSpPr>
        <p:spPr>
          <a:xfrm>
            <a:off x="394291" y="908720"/>
            <a:ext cx="56191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红黑树</a:t>
            </a:r>
            <a:r>
              <a:rPr lang="en-US" altLang="zh-CN" sz="28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(</a:t>
            </a: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Red-Black Tree, R-B Tree</a:t>
            </a:r>
            <a:r>
              <a:rPr lang="en-US" altLang="zh-CN" sz="28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)</a:t>
            </a:r>
            <a:endParaRPr lang="zh-CN" altLang="en-US" sz="2800" b="1" dirty="0">
              <a:latin typeface="Times New Roman" panose="02020603050405020304" pitchFamily="18" charset="0"/>
              <a:ea typeface="仿宋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32784" y="1460683"/>
            <a:ext cx="8091335" cy="23237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每个结点上都有存储位表示结点的颜色，可以是红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(Red)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或黑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(Black)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；</a:t>
            </a:r>
            <a:endParaRPr lang="en-US" altLang="zh-CN" sz="2000" b="1" dirty="0">
              <a:solidFill>
                <a:srgbClr val="000000"/>
              </a:solidFill>
              <a:latin typeface="Times New Roman" panose="02020603050405020304" pitchFamily="18" charset="0"/>
              <a:ea typeface="仿宋" panose="02010609060101010101" pitchFamily="49" charset="-122"/>
            </a:endParaRPr>
          </a:p>
          <a:p>
            <a:pPr marL="285750" indent="-285750"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红黑树和平衡二叉树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(AVL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树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)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都是二叉查找树的变体</a:t>
            </a:r>
            <a:endParaRPr lang="en-US" altLang="zh-CN" sz="2000" b="1" dirty="0">
              <a:solidFill>
                <a:srgbClr val="000000"/>
              </a:solidFill>
              <a:latin typeface="Times New Roman" panose="02020603050405020304" pitchFamily="18" charset="0"/>
              <a:ea typeface="仿宋" panose="02010609060101010101" pitchFamily="49" charset="-122"/>
            </a:endParaRPr>
          </a:p>
          <a:p>
            <a:pPr marL="285750" indent="-285750"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红黑树的统计性能要好于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AVL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树</a:t>
            </a:r>
            <a:endParaRPr lang="en-US" altLang="zh-CN" sz="2000" b="1" dirty="0">
              <a:solidFill>
                <a:srgbClr val="000000"/>
              </a:solidFill>
              <a:latin typeface="Times New Roman" panose="02020603050405020304" pitchFamily="18" charset="0"/>
              <a:ea typeface="仿宋" panose="02010609060101010101" pitchFamily="49" charset="-122"/>
            </a:endParaRPr>
          </a:p>
          <a:p>
            <a:pPr marL="742950" lvl="1" indent="-285750">
              <a:spcBef>
                <a:spcPts val="60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AVL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树是严格维持平衡的，红黑树是黑平衡的</a:t>
            </a:r>
            <a:endParaRPr lang="en-US" altLang="zh-CN" sz="2000" b="1" dirty="0">
              <a:solidFill>
                <a:srgbClr val="000000"/>
              </a:solidFill>
              <a:latin typeface="Times New Roman" panose="02020603050405020304" pitchFamily="18" charset="0"/>
              <a:ea typeface="仿宋" panose="02010609060101010101" pitchFamily="49" charset="-122"/>
            </a:endParaRPr>
          </a:p>
          <a:p>
            <a:pPr marL="285750" indent="-285750"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红黑树的统计性能要好于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AVL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树</a:t>
            </a:r>
            <a:endParaRPr lang="en-US" altLang="zh-CN" sz="2000" b="1" dirty="0">
              <a:solidFill>
                <a:srgbClr val="000000"/>
              </a:solidFill>
              <a:latin typeface="Times New Roman" panose="02020603050405020304" pitchFamily="18" charset="0"/>
              <a:ea typeface="仿宋" panose="02010609060101010101" pitchFamily="49" charset="-122"/>
            </a:endParaRPr>
          </a:p>
          <a:p>
            <a:pPr marL="285750" indent="-285750"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红黑树的应用</a:t>
            </a:r>
            <a:endParaRPr lang="zh-CN" altLang="en-US" sz="2000" b="1" dirty="0">
              <a:latin typeface="Times New Roman" panose="02020603050405020304" pitchFamily="18" charset="0"/>
              <a:ea typeface="仿宋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51520" y="6317550"/>
            <a:ext cx="792088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0000FF"/>
                </a:solidFill>
              </a:rPr>
              <a:t>https://www.cnblogs.com/nananana/p/10434549.html</a:t>
            </a:r>
          </a:p>
        </p:txBody>
      </p:sp>
    </p:spTree>
    <p:extLst>
      <p:ext uri="{BB962C8B-B14F-4D97-AF65-F5344CB8AC3E}">
        <p14:creationId xmlns:p14="http://schemas.microsoft.com/office/powerpoint/2010/main" val="1020464302"/>
      </p:ext>
    </p:extLst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59</a:t>
            </a:fld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64" y="3140968"/>
            <a:ext cx="4300889" cy="2704683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7584" y="1407135"/>
            <a:ext cx="8679776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zh-CN" altLang="en-US" sz="1600" dirty="0">
                <a:solidFill>
                  <a:srgbClr val="000000"/>
                </a:solidFill>
                <a:latin typeface="Verdana" panose="020B0604030504040204" pitchFamily="34" charset="0"/>
              </a:rPr>
              <a:t> 每个结点是黑色或者红色。</a:t>
            </a:r>
          </a:p>
          <a:p>
            <a:pPr>
              <a:buFont typeface="+mj-lt"/>
              <a:buAutoNum type="arabicPeriod"/>
            </a:pPr>
            <a:r>
              <a:rPr lang="zh-CN" altLang="en-US" sz="1600" dirty="0">
                <a:solidFill>
                  <a:srgbClr val="000000"/>
                </a:solidFill>
                <a:latin typeface="Verdana" panose="020B0604030504040204" pitchFamily="34" charset="0"/>
              </a:rPr>
              <a:t> 根结点是黑色。</a:t>
            </a:r>
          </a:p>
          <a:p>
            <a:pPr>
              <a:buFont typeface="+mj-lt"/>
              <a:buAutoNum type="arabicPeriod"/>
            </a:pPr>
            <a:r>
              <a:rPr lang="zh-CN" altLang="en-US" sz="1600" dirty="0">
                <a:solidFill>
                  <a:srgbClr val="000000"/>
                </a:solidFill>
                <a:latin typeface="Verdana" panose="020B0604030504040204" pitchFamily="34" charset="0"/>
              </a:rPr>
              <a:t> 每个叶子结点是黑色</a:t>
            </a:r>
            <a:r>
              <a:rPr lang="en-US" altLang="zh-CN" sz="1600" dirty="0">
                <a:solidFill>
                  <a:srgbClr val="000000"/>
                </a:solidFill>
                <a:latin typeface="Verdana" panose="020B0604030504040204" pitchFamily="34" charset="0"/>
              </a:rPr>
              <a:t>(</a:t>
            </a:r>
            <a:r>
              <a:rPr lang="zh-CN" altLang="en-US" sz="1600" dirty="0">
                <a:solidFill>
                  <a:srgbClr val="0000FF"/>
                </a:solidFill>
              </a:rPr>
              <a:t>指为空</a:t>
            </a:r>
            <a:r>
              <a:rPr lang="en-US" altLang="zh-CN" sz="1600" dirty="0">
                <a:solidFill>
                  <a:srgbClr val="0000FF"/>
                </a:solidFill>
              </a:rPr>
              <a:t>(NIL</a:t>
            </a:r>
            <a:r>
              <a:rPr lang="zh-CN" altLang="en-US" sz="1600" dirty="0">
                <a:solidFill>
                  <a:srgbClr val="0000FF"/>
                </a:solidFill>
              </a:rPr>
              <a:t>或</a:t>
            </a:r>
            <a:r>
              <a:rPr lang="en-US" altLang="zh-CN" sz="1600" dirty="0">
                <a:solidFill>
                  <a:srgbClr val="0000FF"/>
                </a:solidFill>
              </a:rPr>
              <a:t>NULL)</a:t>
            </a:r>
            <a:r>
              <a:rPr lang="zh-CN" altLang="en-US" sz="1600" dirty="0">
                <a:solidFill>
                  <a:srgbClr val="0000FF"/>
                </a:solidFill>
              </a:rPr>
              <a:t>的叶子结点</a:t>
            </a:r>
            <a:r>
              <a:rPr lang="en-US" altLang="zh-CN" sz="1600" dirty="0">
                <a:solidFill>
                  <a:srgbClr val="000000"/>
                </a:solidFill>
                <a:latin typeface="Verdana" panose="020B0604030504040204" pitchFamily="34" charset="0"/>
              </a:rPr>
              <a:t>)</a:t>
            </a:r>
            <a:r>
              <a:rPr lang="zh-CN" altLang="en-US" sz="1600" dirty="0">
                <a:solidFill>
                  <a:srgbClr val="000000"/>
                </a:solidFill>
                <a:latin typeface="Verdana" panose="020B0604030504040204" pitchFamily="34" charset="0"/>
              </a:rPr>
              <a:t>。 </a:t>
            </a:r>
            <a:endParaRPr lang="en-US" altLang="zh-CN" sz="16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>
              <a:buFont typeface="+mj-lt"/>
              <a:buAutoNum type="arabicPeriod"/>
            </a:pPr>
            <a:r>
              <a:rPr lang="zh-CN" altLang="en-US" sz="1600" dirty="0">
                <a:solidFill>
                  <a:srgbClr val="000000"/>
                </a:solidFill>
                <a:latin typeface="Verdana" panose="020B0604030504040204" pitchFamily="34" charset="0"/>
              </a:rPr>
              <a:t> 如果一个结点是红色的，则它的子结点必须是黑色的。</a:t>
            </a:r>
          </a:p>
          <a:p>
            <a:pPr>
              <a:buFont typeface="+mj-lt"/>
              <a:buAutoNum type="arabicPeriod"/>
            </a:pPr>
            <a:r>
              <a:rPr lang="zh-CN" altLang="en-US" sz="1600" dirty="0">
                <a:solidFill>
                  <a:srgbClr val="000000"/>
                </a:solidFill>
                <a:latin typeface="Verdana" panose="020B0604030504040204" pitchFamily="34" charset="0"/>
              </a:rPr>
              <a:t> 每个结点到空叶子结点所经过的黑色结点的个数一样的。</a:t>
            </a:r>
            <a:endParaRPr lang="en-US" altLang="zh-CN" sz="16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Verdana" panose="020B0604030504040204" pitchFamily="34" charset="0"/>
              </a:rPr>
              <a:t>    [</a:t>
            </a:r>
            <a:r>
              <a:rPr lang="zh-CN" altLang="en-US" sz="1600" dirty="0">
                <a:solidFill>
                  <a:srgbClr val="000000"/>
                </a:solidFill>
                <a:latin typeface="Verdana" panose="020B0604030504040204" pitchFamily="34" charset="0"/>
              </a:rPr>
              <a:t>确保没有一条路径会比其他路径长出</a:t>
            </a:r>
            <a:r>
              <a:rPr lang="en-US" altLang="zh-CN" sz="1600" dirty="0">
                <a:solidFill>
                  <a:srgbClr val="000000"/>
                </a:solidFill>
                <a:latin typeface="Verdana" panose="020B0604030504040204" pitchFamily="34" charset="0"/>
              </a:rPr>
              <a:t>2</a:t>
            </a:r>
            <a:r>
              <a:rPr lang="zh-CN" altLang="en-US" sz="1600" dirty="0">
                <a:solidFill>
                  <a:srgbClr val="000000"/>
                </a:solidFill>
                <a:latin typeface="Verdana" panose="020B0604030504040204" pitchFamily="34" charset="0"/>
              </a:rPr>
              <a:t>倍，所以红黑树是相对接近平衡的二叉树的！</a:t>
            </a:r>
            <a:r>
              <a:rPr lang="en-US" altLang="zh-CN" sz="1600" dirty="0">
                <a:solidFill>
                  <a:srgbClr val="000000"/>
                </a:solidFill>
                <a:latin typeface="Verdana" panose="020B0604030504040204" pitchFamily="34" charset="0"/>
              </a:rPr>
              <a:t>]</a:t>
            </a:r>
            <a:endParaRPr lang="en-US" altLang="zh-CN" sz="16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57200" y="970029"/>
            <a:ext cx="231986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rgbClr val="000000"/>
                </a:solidFill>
                <a:latin typeface="Verdana" panose="020B0604030504040204" pitchFamily="34" charset="0"/>
              </a:rPr>
              <a:t>红黑树的特点</a:t>
            </a:r>
            <a:endParaRPr lang="zh-CN" altLang="en-US" sz="2400" b="1" dirty="0"/>
          </a:p>
        </p:txBody>
      </p:sp>
      <p:grpSp>
        <p:nvGrpSpPr>
          <p:cNvPr id="8" name="组合 114"/>
          <p:cNvGrpSpPr/>
          <p:nvPr/>
        </p:nvGrpSpPr>
        <p:grpSpPr>
          <a:xfrm>
            <a:off x="-396552" y="76388"/>
            <a:ext cx="6775654" cy="679510"/>
            <a:chOff x="-99459" y="3320919"/>
            <a:chExt cx="7301815" cy="722576"/>
          </a:xfrm>
        </p:grpSpPr>
        <p:grpSp>
          <p:nvGrpSpPr>
            <p:cNvPr id="9" name="组合 105"/>
            <p:cNvGrpSpPr/>
            <p:nvPr/>
          </p:nvGrpSpPr>
          <p:grpSpPr>
            <a:xfrm>
              <a:off x="-99459" y="3320919"/>
              <a:ext cx="7301815" cy="722576"/>
              <a:chOff x="-99459" y="3320919"/>
              <a:chExt cx="7301815" cy="722576"/>
            </a:xfrm>
          </p:grpSpPr>
          <p:sp>
            <p:nvSpPr>
              <p:cNvPr id="11" name="Freeform 5"/>
              <p:cNvSpPr>
                <a:spLocks/>
              </p:cNvSpPr>
              <p:nvPr/>
            </p:nvSpPr>
            <p:spPr bwMode="auto">
              <a:xfrm>
                <a:off x="933887" y="3380765"/>
                <a:ext cx="801702" cy="662730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EA6103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  <p:sp>
            <p:nvSpPr>
              <p:cNvPr id="12" name="TextBox 6"/>
              <p:cNvSpPr txBox="1">
                <a:spLocks noChangeArrowheads="1"/>
              </p:cNvSpPr>
              <p:nvPr/>
            </p:nvSpPr>
            <p:spPr bwMode="auto">
              <a:xfrm>
                <a:off x="-99459" y="3320919"/>
                <a:ext cx="7301815" cy="687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10.3 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树表的查找</a:t>
                </a:r>
              </a:p>
            </p:txBody>
          </p:sp>
        </p:grpSp>
        <p:pic>
          <p:nvPicPr>
            <p:cNvPr id="10" name="图片 9" descr="12.jp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5929" y="3530600"/>
              <a:ext cx="446172" cy="431048"/>
            </a:xfrm>
            <a:prstGeom prst="rect">
              <a:avLst/>
            </a:prstGeom>
          </p:spPr>
        </p:pic>
      </p:grpSp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4845" y="2921014"/>
            <a:ext cx="4524375" cy="2752725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4267200" y="5735272"/>
            <a:ext cx="4572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1600" b="1" dirty="0">
                <a:solidFill>
                  <a:srgbClr val="4D4D4D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最短路径就是全黑节点，最长路径就是一个红节点一个黑节点，最后黑色节点相同时，最长路径刚好是最短路径的两倍</a:t>
            </a:r>
            <a:endParaRPr lang="zh-CN" altLang="en-US" sz="1600" b="1" dirty="0">
              <a:latin typeface="Times New Roman" panose="02020603050405020304" pitchFamily="18" charset="0"/>
              <a:ea typeface="仿宋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29427" y="6332939"/>
            <a:ext cx="4572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1100" dirty="0">
                <a:solidFill>
                  <a:srgbClr val="0000FF"/>
                </a:solidFill>
              </a:rPr>
              <a:t>https://blog.csdn.net/tanrui519521/article/details/80980135</a:t>
            </a:r>
          </a:p>
        </p:txBody>
      </p:sp>
      <p:sp>
        <p:nvSpPr>
          <p:cNvPr id="17" name="矩形 16"/>
          <p:cNvSpPr/>
          <p:nvPr/>
        </p:nvSpPr>
        <p:spPr>
          <a:xfrm>
            <a:off x="129427" y="6150771"/>
            <a:ext cx="792088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0000FF"/>
                </a:solidFill>
              </a:rPr>
              <a:t>https://www.cnblogs.com/nananana/p/10434549.html</a:t>
            </a:r>
          </a:p>
        </p:txBody>
      </p:sp>
    </p:spTree>
    <p:extLst>
      <p:ext uri="{BB962C8B-B14F-4D97-AF65-F5344CB8AC3E}">
        <p14:creationId xmlns:p14="http://schemas.microsoft.com/office/powerpoint/2010/main" val="42311988"/>
      </p:ext>
    </p:extLst>
  </p:cSld>
  <p:clrMapOvr>
    <a:masterClrMapping/>
  </p:clrMapOvr>
  <p:transition spd="slow" advClick="0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5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11188" y="1052513"/>
            <a:ext cx="8208962" cy="5256212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800" b="1" dirty="0">
                <a:latin typeface="Arial" charset="0"/>
                <a:ea typeface="宋体" charset="-122"/>
              </a:rPr>
              <a:t>10.3.3  B-</a:t>
            </a:r>
            <a:r>
              <a:rPr lang="zh-CN" altLang="en-US" sz="2800" b="1" dirty="0">
                <a:latin typeface="Arial" charset="0"/>
                <a:ea typeface="宋体" charset="-122"/>
              </a:rPr>
              <a:t>树</a:t>
            </a:r>
          </a:p>
          <a:p>
            <a:pPr eaLnBrk="1" hangingPunct="1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/>
              <a:t>定义：</a:t>
            </a:r>
            <a:r>
              <a:rPr lang="en-US" altLang="zh-CN" sz="2400" dirty="0"/>
              <a:t>m</a:t>
            </a:r>
            <a:r>
              <a:rPr lang="zh-CN" altLang="en-US" sz="2400" dirty="0"/>
              <a:t>阶</a:t>
            </a:r>
            <a:r>
              <a:rPr lang="en-US" altLang="zh-CN" sz="2400" dirty="0"/>
              <a:t>B-</a:t>
            </a:r>
            <a:r>
              <a:rPr lang="zh-CN" altLang="en-US" sz="2400" dirty="0"/>
              <a:t>树</a:t>
            </a:r>
            <a:r>
              <a:rPr lang="en-US" altLang="zh-CN" sz="2400" dirty="0"/>
              <a:t>(m≥3)</a:t>
            </a:r>
            <a:r>
              <a:rPr lang="zh-CN" altLang="en-US" sz="2400" dirty="0"/>
              <a:t>满足如下条件：</a:t>
            </a:r>
          </a:p>
          <a:p>
            <a:pPr marL="495300" indent="-4953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b="1" dirty="0"/>
              <a:t>    </a:t>
            </a:r>
            <a:r>
              <a:rPr lang="en-US" altLang="zh-CN" sz="2000" b="1" dirty="0"/>
              <a:t>1) </a:t>
            </a:r>
            <a:r>
              <a:rPr lang="zh-CN" altLang="en-US" sz="2000" b="1" dirty="0"/>
              <a:t>每一个结点分支数≤</a:t>
            </a:r>
            <a:r>
              <a:rPr lang="en-US" altLang="zh-CN" sz="2000" b="1" dirty="0"/>
              <a:t>m;</a:t>
            </a:r>
          </a:p>
          <a:p>
            <a:pPr marL="495300" indent="-4953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b="1" dirty="0"/>
              <a:t>    2) </a:t>
            </a:r>
            <a:r>
              <a:rPr lang="zh-CN" altLang="en-US" sz="2000" b="1" dirty="0"/>
              <a:t>根结点分支数≥</a:t>
            </a:r>
            <a:r>
              <a:rPr lang="en-US" altLang="zh-CN" sz="2000" b="1" dirty="0"/>
              <a:t>2 (</a:t>
            </a:r>
            <a:r>
              <a:rPr lang="zh-CN" altLang="en-US" sz="2000" b="1" dirty="0"/>
              <a:t>要求此根结点不为叶子结点</a:t>
            </a:r>
            <a:r>
              <a:rPr lang="en-US" altLang="zh-CN" sz="2000" b="1" dirty="0"/>
              <a:t>)</a:t>
            </a:r>
            <a:r>
              <a:rPr lang="zh-CN" altLang="en-US" sz="2000" b="1" dirty="0"/>
              <a:t>；</a:t>
            </a:r>
          </a:p>
          <a:p>
            <a:pPr marL="495300" indent="-4953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b="1" dirty="0"/>
              <a:t>    </a:t>
            </a:r>
            <a:r>
              <a:rPr lang="en-US" altLang="zh-CN" sz="2000" b="1" dirty="0"/>
              <a:t>3) </a:t>
            </a:r>
            <a:r>
              <a:rPr lang="zh-CN" altLang="en-US" sz="2000" b="1" dirty="0"/>
              <a:t>其余分支结点的分支数≥  </a:t>
            </a:r>
            <a:r>
              <a:rPr lang="en-US" altLang="zh-CN" sz="2000" b="1" dirty="0"/>
              <a:t>m/2  </a:t>
            </a:r>
            <a:r>
              <a:rPr lang="zh-CN" altLang="en-US" sz="2000" b="1" dirty="0"/>
              <a:t>；</a:t>
            </a:r>
          </a:p>
          <a:p>
            <a:pPr marL="495300" indent="-4953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b="1" dirty="0"/>
              <a:t>    </a:t>
            </a:r>
            <a:r>
              <a:rPr lang="en-US" altLang="zh-CN" sz="2000" b="1" dirty="0"/>
              <a:t>4) </a:t>
            </a:r>
            <a:r>
              <a:rPr lang="zh-CN" altLang="en-US" sz="2000" b="1" dirty="0"/>
              <a:t>所有叶子结点在同一层；</a:t>
            </a:r>
          </a:p>
          <a:p>
            <a:pPr marL="495300" indent="-4953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dirty="0"/>
              <a:t>    </a:t>
            </a:r>
            <a:r>
              <a:rPr lang="en-US" altLang="zh-CN" sz="2000" dirty="0"/>
              <a:t>5) </a:t>
            </a:r>
            <a:r>
              <a:rPr lang="zh-CN" altLang="en-US" sz="2000" dirty="0"/>
              <a:t>每一个结点的结构如下</a:t>
            </a:r>
            <a:r>
              <a:rPr lang="zh-CN" altLang="en-US" dirty="0"/>
              <a:t>：</a:t>
            </a:r>
          </a:p>
          <a:p>
            <a:pPr marL="495300" indent="-4953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   </a:t>
            </a:r>
            <a:r>
              <a:rPr lang="zh-CN" altLang="en-US" sz="2000" dirty="0"/>
              <a:t>满足：</a:t>
            </a:r>
            <a:r>
              <a:rPr lang="zh-CN" altLang="en-US" dirty="0"/>
              <a:t> </a:t>
            </a:r>
          </a:p>
          <a:p>
            <a:pPr marL="495300" indent="-4953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         </a:t>
            </a:r>
            <a:r>
              <a:rPr lang="en-US" altLang="zh-CN" dirty="0"/>
              <a:t>&lt; k</a:t>
            </a:r>
            <a:r>
              <a:rPr lang="en-US" altLang="zh-CN" baseline="-25000" dirty="0"/>
              <a:t>1</a:t>
            </a:r>
            <a:r>
              <a:rPr lang="en-US" altLang="zh-CN" dirty="0"/>
              <a:t>&lt;       &lt;…&lt; </a:t>
            </a:r>
            <a:r>
              <a:rPr lang="en-US" altLang="zh-CN" dirty="0" err="1"/>
              <a:t>k</a:t>
            </a:r>
            <a:r>
              <a:rPr lang="en-US" altLang="zh-CN" baseline="-25000" dirty="0" err="1"/>
              <a:t>n</a:t>
            </a:r>
            <a:r>
              <a:rPr lang="en-US" altLang="zh-CN" dirty="0"/>
              <a:t>&lt;</a:t>
            </a:r>
            <a:endParaRPr lang="en-US" altLang="zh-CN" baseline="-25000" dirty="0"/>
          </a:p>
          <a:p>
            <a:pPr marL="495300" indent="-4953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       </a:t>
            </a:r>
          </a:p>
          <a:p>
            <a:pPr marL="495300" indent="-4953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b="1" dirty="0"/>
              <a:t>        </a:t>
            </a:r>
            <a:r>
              <a:rPr lang="zh-CN" altLang="en-US" sz="2000" b="1" dirty="0"/>
              <a:t>其中      表示</a:t>
            </a:r>
            <a:r>
              <a:rPr lang="en-US" altLang="zh-CN" sz="2000" b="1" dirty="0"/>
              <a:t>A</a:t>
            </a:r>
            <a:r>
              <a:rPr lang="en-US" altLang="zh-CN" sz="2000" b="1" baseline="-25000" dirty="0"/>
              <a:t>i</a:t>
            </a:r>
            <a:r>
              <a:rPr lang="zh-CN" altLang="en-US" sz="2000" b="1" dirty="0"/>
              <a:t>中的所有关键字，并且在结点中定义</a:t>
            </a:r>
          </a:p>
          <a:p>
            <a:pPr marL="495300" indent="-4953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b="1" dirty="0"/>
              <a:t>            </a:t>
            </a:r>
            <a:r>
              <a:rPr lang="en-US" altLang="zh-CN" sz="2000" b="1" dirty="0" err="1"/>
              <a:t>keynum</a:t>
            </a:r>
            <a:r>
              <a:rPr lang="zh-CN" altLang="en-US" sz="2000" b="1" dirty="0"/>
              <a:t>：记录结点中的关键字个数，</a:t>
            </a:r>
          </a:p>
          <a:p>
            <a:pPr marL="495300" indent="-4953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b="1" dirty="0"/>
              <a:t>            </a:t>
            </a:r>
            <a:r>
              <a:rPr lang="en-US" altLang="zh-CN" sz="2000" b="1" dirty="0"/>
              <a:t>keys[m]</a:t>
            </a:r>
            <a:r>
              <a:rPr lang="zh-CN" altLang="en-US" sz="2000" b="1" dirty="0"/>
              <a:t>：存储结点中的各关键字，</a:t>
            </a:r>
          </a:p>
          <a:p>
            <a:pPr marL="495300" indent="-4953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b="1" dirty="0"/>
              <a:t>            </a:t>
            </a:r>
            <a:r>
              <a:rPr lang="en-US" altLang="zh-CN" sz="2000" b="1" dirty="0" err="1"/>
              <a:t>ptrs</a:t>
            </a:r>
            <a:r>
              <a:rPr lang="en-US" altLang="zh-CN" sz="2000" b="1" dirty="0"/>
              <a:t>[m+1]</a:t>
            </a:r>
            <a:r>
              <a:rPr lang="zh-CN" altLang="en-US" sz="2000" b="1" dirty="0"/>
              <a:t>：存储结点中各指针。</a:t>
            </a:r>
          </a:p>
        </p:txBody>
      </p:sp>
      <p:sp>
        <p:nvSpPr>
          <p:cNvPr id="48132" name="Oval 4"/>
          <p:cNvSpPr>
            <a:spLocks noChangeArrowheads="1"/>
          </p:cNvSpPr>
          <p:nvPr/>
        </p:nvSpPr>
        <p:spPr bwMode="auto">
          <a:xfrm>
            <a:off x="1755305" y="5229200"/>
            <a:ext cx="287337" cy="28733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 dirty="0">
                <a:ea typeface="宋体" panose="02010600030101010101" pitchFamily="2" charset="-122"/>
              </a:rPr>
              <a:t>A</a:t>
            </a:r>
            <a:r>
              <a:rPr lang="en-US" altLang="zh-CN" baseline="-25000" dirty="0">
                <a:ea typeface="宋体" panose="02010600030101010101" pitchFamily="2" charset="-122"/>
              </a:rPr>
              <a:t>i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4427984" y="2565400"/>
            <a:ext cx="76200" cy="287338"/>
            <a:chOff x="0" y="0"/>
            <a:chExt cx="120" cy="255"/>
          </a:xfrm>
        </p:grpSpPr>
        <p:sp>
          <p:nvSpPr>
            <p:cNvPr id="47143" name="Line 6"/>
            <p:cNvSpPr>
              <a:spLocks noChangeShapeType="1"/>
            </p:cNvSpPr>
            <p:nvPr/>
          </p:nvSpPr>
          <p:spPr bwMode="auto">
            <a:xfrm>
              <a:off x="0" y="0"/>
              <a:ext cx="12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44" name="Line 7"/>
            <p:cNvSpPr>
              <a:spLocks noChangeShapeType="1"/>
            </p:cNvSpPr>
            <p:nvPr/>
          </p:nvSpPr>
          <p:spPr bwMode="auto">
            <a:xfrm>
              <a:off x="120" y="15"/>
              <a:ext cx="1" cy="2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8"/>
          <p:cNvGrpSpPr>
            <a:grpSpLocks/>
          </p:cNvGrpSpPr>
          <p:nvPr/>
        </p:nvGrpSpPr>
        <p:grpSpPr bwMode="auto">
          <a:xfrm flipH="1">
            <a:off x="3994919" y="2565400"/>
            <a:ext cx="73025" cy="287338"/>
            <a:chOff x="0" y="0"/>
            <a:chExt cx="120" cy="255"/>
          </a:xfrm>
        </p:grpSpPr>
        <p:sp>
          <p:nvSpPr>
            <p:cNvPr id="47141" name="Line 9"/>
            <p:cNvSpPr>
              <a:spLocks noChangeShapeType="1"/>
            </p:cNvSpPr>
            <p:nvPr/>
          </p:nvSpPr>
          <p:spPr bwMode="auto">
            <a:xfrm>
              <a:off x="0" y="0"/>
              <a:ext cx="12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42" name="Line 10"/>
            <p:cNvSpPr>
              <a:spLocks noChangeShapeType="1"/>
            </p:cNvSpPr>
            <p:nvPr/>
          </p:nvSpPr>
          <p:spPr bwMode="auto">
            <a:xfrm>
              <a:off x="120" y="15"/>
              <a:ext cx="1" cy="2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48139" name="Group 11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498654664"/>
              </p:ext>
            </p:extLst>
          </p:nvPr>
        </p:nvGraphicFramePr>
        <p:xfrm>
          <a:off x="4516735" y="2914842"/>
          <a:ext cx="4283075" cy="1003300"/>
        </p:xfrm>
        <a:graphic>
          <a:graphicData uri="http://schemas.openxmlformats.org/drawingml/2006/table">
            <a:tbl>
              <a:tblPr/>
              <a:tblGrid>
                <a:gridCol w="5349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6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49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49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46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49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49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1" charset="-122"/>
                        </a:rPr>
                        <a:t>   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楷体_GB2312" pitchFamily="1" charset="-122"/>
                        </a:rPr>
                        <a:t>k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楷体_GB2312" pitchFamily="1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楷体_GB2312" pitchFamily="1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楷体_GB2312" pitchFamily="1" charset="-122"/>
                        </a:rPr>
                        <a:t>k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楷体_GB2312" pitchFamily="1" charset="-122"/>
                        </a:rPr>
                        <a:t>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楷体_GB2312" pitchFamily="1" charset="-122"/>
                        </a:rPr>
                        <a:t>...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楷体_GB2312" pitchFamily="1" charset="-122"/>
                        </a:rPr>
                        <a:t>k</a:t>
                      </a:r>
                      <a:r>
                        <a:rPr kumimoji="0" lang="en-US" altLang="zh-CN" sz="2400" b="0" i="0" u="none" strike="noStrike" cap="none" normalizeH="0" baseline="-2500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楷体_GB2312" pitchFamily="1" charset="-122"/>
                        </a:rPr>
                        <a:t>n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楷体_GB2312" pitchFamily="1" charset="-122"/>
                        </a:rPr>
                        <a:t> 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楷体_GB2312" pitchFamily="1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1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1" charset="-122"/>
                        </a:rPr>
                        <a:t>A</a:t>
                      </a:r>
                      <a:r>
                        <a:rPr kumimoji="0" lang="en-US" altLang="zh-CN" sz="2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1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1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1" charset="-122"/>
                        </a:rPr>
                        <a:t>A</a:t>
                      </a:r>
                      <a:r>
                        <a:rPr kumimoji="0" lang="en-US" altLang="zh-CN" sz="2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1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1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1" charset="-122"/>
                        </a:rPr>
                        <a:t>A</a:t>
                      </a:r>
                      <a:r>
                        <a:rPr kumimoji="0" lang="en-US" altLang="zh-CN" sz="2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1" charset="-122"/>
                        </a:rPr>
                        <a:t>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1" charset="-122"/>
                        </a:rPr>
                        <a:t>…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1" charset="-122"/>
                        </a:rPr>
                        <a:t>A</a:t>
                      </a:r>
                      <a:r>
                        <a:rPr kumimoji="0" lang="en-US" altLang="zh-CN" sz="2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1" charset="-122"/>
                        </a:rPr>
                        <a:t>n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1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8161" name="Line 33"/>
          <p:cNvSpPr>
            <a:spLocks noChangeShapeType="1"/>
          </p:cNvSpPr>
          <p:nvPr/>
        </p:nvSpPr>
        <p:spPr bwMode="auto">
          <a:xfrm flipH="1">
            <a:off x="4496395" y="3740056"/>
            <a:ext cx="283420" cy="47470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162" name="Line 34"/>
          <p:cNvSpPr>
            <a:spLocks noChangeShapeType="1"/>
          </p:cNvSpPr>
          <p:nvPr/>
        </p:nvSpPr>
        <p:spPr bwMode="auto">
          <a:xfrm flipH="1">
            <a:off x="5652119" y="3743231"/>
            <a:ext cx="165273" cy="50473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163" name="Line 35"/>
          <p:cNvSpPr>
            <a:spLocks noChangeShapeType="1"/>
          </p:cNvSpPr>
          <p:nvPr/>
        </p:nvSpPr>
        <p:spPr bwMode="auto">
          <a:xfrm>
            <a:off x="6876256" y="3743231"/>
            <a:ext cx="43734" cy="50473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164" name="Line 36"/>
          <p:cNvSpPr>
            <a:spLocks noChangeShapeType="1"/>
          </p:cNvSpPr>
          <p:nvPr/>
        </p:nvSpPr>
        <p:spPr bwMode="auto">
          <a:xfrm>
            <a:off x="7956376" y="3717925"/>
            <a:ext cx="93295" cy="53003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165" name="Oval 37"/>
          <p:cNvSpPr>
            <a:spLocks noChangeArrowheads="1"/>
          </p:cNvSpPr>
          <p:nvPr/>
        </p:nvSpPr>
        <p:spPr bwMode="auto">
          <a:xfrm>
            <a:off x="1306264" y="4408106"/>
            <a:ext cx="431800" cy="4318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 dirty="0">
                <a:ea typeface="宋体" panose="02010600030101010101" pitchFamily="2" charset="-122"/>
              </a:rPr>
              <a:t>A</a:t>
            </a:r>
            <a:r>
              <a:rPr lang="en-US" altLang="zh-CN" baseline="-25000" dirty="0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48166" name="Oval 38"/>
          <p:cNvSpPr>
            <a:spLocks noChangeArrowheads="1"/>
          </p:cNvSpPr>
          <p:nvPr/>
        </p:nvSpPr>
        <p:spPr bwMode="auto">
          <a:xfrm>
            <a:off x="2853282" y="4398486"/>
            <a:ext cx="431800" cy="4318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 dirty="0">
                <a:ea typeface="宋体" panose="02010600030101010101" pitchFamily="2" charset="-122"/>
              </a:rPr>
              <a:t>A</a:t>
            </a:r>
            <a:r>
              <a:rPr lang="en-US" altLang="zh-CN" baseline="-25000" dirty="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48167" name="Oval 39"/>
          <p:cNvSpPr>
            <a:spLocks noChangeArrowheads="1"/>
          </p:cNvSpPr>
          <p:nvPr/>
        </p:nvSpPr>
        <p:spPr bwMode="auto">
          <a:xfrm>
            <a:off x="5055543" y="4392136"/>
            <a:ext cx="431800" cy="4318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 dirty="0">
                <a:ea typeface="宋体" panose="02010600030101010101" pitchFamily="2" charset="-122"/>
              </a:rPr>
              <a:t>A</a:t>
            </a:r>
            <a:r>
              <a:rPr lang="en-US" altLang="zh-CN" baseline="-25000" dirty="0">
                <a:ea typeface="宋体" panose="02010600030101010101" pitchFamily="2" charset="-122"/>
              </a:rPr>
              <a:t>n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7A331-AA47-4583-8ECA-873ADFBEB716}" type="slidenum">
              <a:rPr lang="zh-CN" altLang="en-US" smtClean="0"/>
              <a:pPr/>
              <a:t>60</a:t>
            </a:fld>
            <a:endParaRPr lang="en-US" altLang="zh-CN"/>
          </a:p>
        </p:txBody>
      </p:sp>
      <p:grpSp>
        <p:nvGrpSpPr>
          <p:cNvPr id="21" name="组合 114"/>
          <p:cNvGrpSpPr/>
          <p:nvPr/>
        </p:nvGrpSpPr>
        <p:grpSpPr>
          <a:xfrm>
            <a:off x="-396552" y="76388"/>
            <a:ext cx="6775654" cy="679510"/>
            <a:chOff x="-99459" y="3320919"/>
            <a:chExt cx="7301815" cy="722576"/>
          </a:xfrm>
        </p:grpSpPr>
        <p:grpSp>
          <p:nvGrpSpPr>
            <p:cNvPr id="22" name="组合 105"/>
            <p:cNvGrpSpPr/>
            <p:nvPr/>
          </p:nvGrpSpPr>
          <p:grpSpPr>
            <a:xfrm>
              <a:off x="-99459" y="3320919"/>
              <a:ext cx="7301815" cy="722576"/>
              <a:chOff x="-99459" y="3320919"/>
              <a:chExt cx="7301815" cy="722576"/>
            </a:xfrm>
          </p:grpSpPr>
          <p:sp>
            <p:nvSpPr>
              <p:cNvPr id="24" name="Freeform 5"/>
              <p:cNvSpPr>
                <a:spLocks/>
              </p:cNvSpPr>
              <p:nvPr/>
            </p:nvSpPr>
            <p:spPr bwMode="auto">
              <a:xfrm>
                <a:off x="933887" y="3380765"/>
                <a:ext cx="801702" cy="662730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EA6103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  <p:sp>
            <p:nvSpPr>
              <p:cNvPr id="25" name="TextBox 6"/>
              <p:cNvSpPr txBox="1">
                <a:spLocks noChangeArrowheads="1"/>
              </p:cNvSpPr>
              <p:nvPr/>
            </p:nvSpPr>
            <p:spPr bwMode="auto">
              <a:xfrm>
                <a:off x="-99459" y="3320919"/>
                <a:ext cx="7301815" cy="687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10.3 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树表的查找</a:t>
                </a:r>
              </a:p>
            </p:txBody>
          </p:sp>
        </p:grpSp>
        <p:pic>
          <p:nvPicPr>
            <p:cNvPr id="23" name="图片 22" descr="12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5929" y="3530600"/>
              <a:ext cx="446172" cy="431048"/>
            </a:xfrm>
            <a:prstGeom prst="rect">
              <a:avLst/>
            </a:prstGeom>
          </p:spPr>
        </p:pic>
      </p:grpSp>
      <p:sp>
        <p:nvSpPr>
          <p:cNvPr id="5" name="矩形 4"/>
          <p:cNvSpPr/>
          <p:nvPr/>
        </p:nvSpPr>
        <p:spPr>
          <a:xfrm>
            <a:off x="3670339" y="1080611"/>
            <a:ext cx="36340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多路搜索树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(</a:t>
            </a:r>
            <a:r>
              <a:rPr lang="en-US" altLang="zh-CN" b="1" dirty="0" err="1">
                <a:solidFill>
                  <a:srgbClr val="0000FF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muitl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-way search tree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)</a:t>
            </a:r>
            <a:endParaRPr lang="zh-CN" altLang="en-US" b="1" dirty="0">
              <a:solidFill>
                <a:srgbClr val="FF0000"/>
              </a:solidFill>
              <a:latin typeface="Times New Roman" panose="02020603050405020304" pitchFamily="18" charset="0"/>
              <a:ea typeface="仿宋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19415818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2" grpId="0" animBg="1" autoUpdateAnimBg="0"/>
      <p:bldP spid="48165" grpId="0" animBg="1" autoUpdateAnimBg="0"/>
      <p:bldP spid="48166" grpId="0" animBg="1" autoUpdateAnimBg="0"/>
      <p:bldP spid="48167" grpId="0" animBg="1" autoUpdateAnimBg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9837" y="947701"/>
            <a:ext cx="7993062" cy="863600"/>
          </a:xfrm>
        </p:spPr>
        <p:txBody>
          <a:bodyPr/>
          <a:lstStyle/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en-US" altLang="zh-CN" dirty="0"/>
              <a:t>3</a:t>
            </a:r>
            <a:r>
              <a:rPr lang="zh-CN" altLang="en-US" dirty="0"/>
              <a:t>阶</a:t>
            </a:r>
            <a:r>
              <a:rPr lang="en-US" altLang="zh-CN" dirty="0"/>
              <a:t>B-</a:t>
            </a:r>
            <a:r>
              <a:rPr lang="zh-CN" altLang="en-US" dirty="0"/>
              <a:t>树：</a:t>
            </a:r>
          </a:p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2000" b="1" dirty="0"/>
              <a:t>例如：</a:t>
            </a:r>
          </a:p>
        </p:txBody>
      </p:sp>
      <p:sp>
        <p:nvSpPr>
          <p:cNvPr id="49156" name="Oval 4"/>
          <p:cNvSpPr>
            <a:spLocks noChangeArrowheads="1"/>
          </p:cNvSpPr>
          <p:nvPr/>
        </p:nvSpPr>
        <p:spPr bwMode="auto">
          <a:xfrm>
            <a:off x="4068763" y="2205038"/>
            <a:ext cx="1008062" cy="360362"/>
          </a:xfrm>
          <a:prstGeom prst="ellipse">
            <a:avLst/>
          </a:prstGeom>
          <a:solidFill>
            <a:srgbClr val="92D05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100</a:t>
            </a:r>
          </a:p>
        </p:txBody>
      </p:sp>
      <p:sp>
        <p:nvSpPr>
          <p:cNvPr id="49157" name="Oval 5"/>
          <p:cNvSpPr>
            <a:spLocks noChangeArrowheads="1"/>
          </p:cNvSpPr>
          <p:nvPr/>
        </p:nvSpPr>
        <p:spPr bwMode="auto">
          <a:xfrm>
            <a:off x="2268538" y="2854325"/>
            <a:ext cx="1008062" cy="360363"/>
          </a:xfrm>
          <a:prstGeom prst="ellipse">
            <a:avLst/>
          </a:prstGeom>
          <a:solidFill>
            <a:srgbClr val="92D05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60</a:t>
            </a:r>
          </a:p>
        </p:txBody>
      </p:sp>
      <p:sp>
        <p:nvSpPr>
          <p:cNvPr id="49158" name="Oval 6"/>
          <p:cNvSpPr>
            <a:spLocks noChangeArrowheads="1"/>
          </p:cNvSpPr>
          <p:nvPr/>
        </p:nvSpPr>
        <p:spPr bwMode="auto">
          <a:xfrm>
            <a:off x="5797550" y="2854325"/>
            <a:ext cx="1366838" cy="360363"/>
          </a:xfrm>
          <a:prstGeom prst="ellipse">
            <a:avLst/>
          </a:prstGeom>
          <a:solidFill>
            <a:srgbClr val="92D05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150  200</a:t>
            </a:r>
          </a:p>
        </p:txBody>
      </p:sp>
      <p:sp>
        <p:nvSpPr>
          <p:cNvPr id="49159" name="Oval 7"/>
          <p:cNvSpPr>
            <a:spLocks noChangeArrowheads="1"/>
          </p:cNvSpPr>
          <p:nvPr/>
        </p:nvSpPr>
        <p:spPr bwMode="auto">
          <a:xfrm>
            <a:off x="900113" y="3862388"/>
            <a:ext cx="1008062" cy="360362"/>
          </a:xfrm>
          <a:prstGeom prst="ellipse">
            <a:avLst/>
          </a:prstGeom>
          <a:solidFill>
            <a:srgbClr val="92D05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20  40</a:t>
            </a:r>
          </a:p>
        </p:txBody>
      </p:sp>
      <p:sp>
        <p:nvSpPr>
          <p:cNvPr id="49160" name="Oval 8"/>
          <p:cNvSpPr>
            <a:spLocks noChangeArrowheads="1"/>
          </p:cNvSpPr>
          <p:nvPr/>
        </p:nvSpPr>
        <p:spPr bwMode="auto">
          <a:xfrm>
            <a:off x="2771775" y="3862388"/>
            <a:ext cx="1008063" cy="360362"/>
          </a:xfrm>
          <a:prstGeom prst="ellipse">
            <a:avLst/>
          </a:prstGeom>
          <a:solidFill>
            <a:srgbClr val="92D05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 dirty="0">
                <a:ea typeface="宋体" panose="02010600030101010101" pitchFamily="2" charset="-122"/>
              </a:rPr>
              <a:t>70  90</a:t>
            </a:r>
          </a:p>
        </p:txBody>
      </p:sp>
      <p:sp>
        <p:nvSpPr>
          <p:cNvPr id="49161" name="Oval 9"/>
          <p:cNvSpPr>
            <a:spLocks noChangeArrowheads="1"/>
          </p:cNvSpPr>
          <p:nvPr/>
        </p:nvSpPr>
        <p:spPr bwMode="auto">
          <a:xfrm>
            <a:off x="4284663" y="3790950"/>
            <a:ext cx="1295400" cy="358775"/>
          </a:xfrm>
          <a:prstGeom prst="ellipse">
            <a:avLst/>
          </a:prstGeom>
          <a:solidFill>
            <a:srgbClr val="92D05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120  140</a:t>
            </a:r>
          </a:p>
        </p:txBody>
      </p:sp>
      <p:sp>
        <p:nvSpPr>
          <p:cNvPr id="49162" name="Oval 10"/>
          <p:cNvSpPr>
            <a:spLocks noChangeArrowheads="1"/>
          </p:cNvSpPr>
          <p:nvPr/>
        </p:nvSpPr>
        <p:spPr bwMode="auto">
          <a:xfrm>
            <a:off x="5868988" y="3790950"/>
            <a:ext cx="1008062" cy="360363"/>
          </a:xfrm>
          <a:prstGeom prst="ellipse">
            <a:avLst/>
          </a:prstGeom>
          <a:solidFill>
            <a:srgbClr val="92D05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180</a:t>
            </a:r>
          </a:p>
        </p:txBody>
      </p:sp>
      <p:sp>
        <p:nvSpPr>
          <p:cNvPr id="49163" name="Oval 11"/>
          <p:cNvSpPr>
            <a:spLocks noChangeArrowheads="1"/>
          </p:cNvSpPr>
          <p:nvPr/>
        </p:nvSpPr>
        <p:spPr bwMode="auto">
          <a:xfrm>
            <a:off x="7308850" y="3790950"/>
            <a:ext cx="1296988" cy="358775"/>
          </a:xfrm>
          <a:prstGeom prst="ellipse">
            <a:avLst/>
          </a:prstGeom>
          <a:solidFill>
            <a:srgbClr val="92D05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210  260</a:t>
            </a:r>
          </a:p>
        </p:txBody>
      </p:sp>
      <p:sp>
        <p:nvSpPr>
          <p:cNvPr id="49164" name="Line 12"/>
          <p:cNvSpPr>
            <a:spLocks noChangeShapeType="1"/>
          </p:cNvSpPr>
          <p:nvPr/>
        </p:nvSpPr>
        <p:spPr bwMode="auto">
          <a:xfrm flipH="1">
            <a:off x="3276600" y="2422525"/>
            <a:ext cx="1079500" cy="5032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165" name="Line 13"/>
          <p:cNvSpPr>
            <a:spLocks noChangeShapeType="1"/>
          </p:cNvSpPr>
          <p:nvPr/>
        </p:nvSpPr>
        <p:spPr bwMode="auto">
          <a:xfrm flipH="1">
            <a:off x="1476375" y="3070225"/>
            <a:ext cx="1008063" cy="7191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166" name="Line 14"/>
          <p:cNvSpPr>
            <a:spLocks noChangeShapeType="1"/>
          </p:cNvSpPr>
          <p:nvPr/>
        </p:nvSpPr>
        <p:spPr bwMode="auto">
          <a:xfrm flipH="1">
            <a:off x="4932363" y="3070225"/>
            <a:ext cx="1081087" cy="6477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167" name="Line 15"/>
          <p:cNvSpPr>
            <a:spLocks noChangeShapeType="1"/>
          </p:cNvSpPr>
          <p:nvPr/>
        </p:nvSpPr>
        <p:spPr bwMode="auto">
          <a:xfrm>
            <a:off x="4859338" y="2422525"/>
            <a:ext cx="1081087" cy="431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168" name="Line 16"/>
          <p:cNvSpPr>
            <a:spLocks noChangeShapeType="1"/>
          </p:cNvSpPr>
          <p:nvPr/>
        </p:nvSpPr>
        <p:spPr bwMode="auto">
          <a:xfrm flipH="1">
            <a:off x="6445250" y="3070225"/>
            <a:ext cx="0" cy="6477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169" name="Line 17"/>
          <p:cNvSpPr>
            <a:spLocks noChangeShapeType="1"/>
          </p:cNvSpPr>
          <p:nvPr/>
        </p:nvSpPr>
        <p:spPr bwMode="auto">
          <a:xfrm>
            <a:off x="6948488" y="3070225"/>
            <a:ext cx="1008062" cy="6477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170" name="Line 18"/>
          <p:cNvSpPr>
            <a:spLocks noChangeShapeType="1"/>
          </p:cNvSpPr>
          <p:nvPr/>
        </p:nvSpPr>
        <p:spPr bwMode="auto">
          <a:xfrm>
            <a:off x="2989263" y="2997200"/>
            <a:ext cx="503237" cy="7921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" name="Group 19"/>
          <p:cNvGrpSpPr>
            <a:grpSpLocks/>
          </p:cNvGrpSpPr>
          <p:nvPr/>
        </p:nvGrpSpPr>
        <p:grpSpPr bwMode="auto">
          <a:xfrm>
            <a:off x="900113" y="4078288"/>
            <a:ext cx="288925" cy="503237"/>
            <a:chOff x="0" y="0"/>
            <a:chExt cx="182" cy="317"/>
          </a:xfrm>
          <a:solidFill>
            <a:srgbClr val="FFFF00"/>
          </a:solidFill>
        </p:grpSpPr>
        <p:sp>
          <p:nvSpPr>
            <p:cNvPr id="48189" name="Rectangle 20"/>
            <p:cNvSpPr>
              <a:spLocks noChangeArrowheads="1"/>
            </p:cNvSpPr>
            <p:nvPr/>
          </p:nvSpPr>
          <p:spPr bwMode="auto">
            <a:xfrm>
              <a:off x="0" y="226"/>
              <a:ext cx="182" cy="91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8190" name="Line 21"/>
            <p:cNvSpPr>
              <a:spLocks noChangeShapeType="1"/>
            </p:cNvSpPr>
            <p:nvPr/>
          </p:nvSpPr>
          <p:spPr bwMode="auto">
            <a:xfrm>
              <a:off x="91" y="0"/>
              <a:ext cx="0" cy="22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22"/>
          <p:cNvGrpSpPr>
            <a:grpSpLocks/>
          </p:cNvGrpSpPr>
          <p:nvPr/>
        </p:nvGrpSpPr>
        <p:grpSpPr bwMode="auto">
          <a:xfrm>
            <a:off x="1258888" y="4078288"/>
            <a:ext cx="288925" cy="503237"/>
            <a:chOff x="0" y="0"/>
            <a:chExt cx="182" cy="317"/>
          </a:xfrm>
          <a:solidFill>
            <a:srgbClr val="FFFF00"/>
          </a:solidFill>
        </p:grpSpPr>
        <p:sp>
          <p:nvSpPr>
            <p:cNvPr id="48187" name="Rectangle 23"/>
            <p:cNvSpPr>
              <a:spLocks noChangeArrowheads="1"/>
            </p:cNvSpPr>
            <p:nvPr/>
          </p:nvSpPr>
          <p:spPr bwMode="auto">
            <a:xfrm>
              <a:off x="0" y="226"/>
              <a:ext cx="182" cy="91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8188" name="Line 24"/>
            <p:cNvSpPr>
              <a:spLocks noChangeShapeType="1"/>
            </p:cNvSpPr>
            <p:nvPr/>
          </p:nvSpPr>
          <p:spPr bwMode="auto">
            <a:xfrm>
              <a:off x="91" y="0"/>
              <a:ext cx="0" cy="22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25"/>
          <p:cNvGrpSpPr>
            <a:grpSpLocks/>
          </p:cNvGrpSpPr>
          <p:nvPr/>
        </p:nvGrpSpPr>
        <p:grpSpPr bwMode="auto">
          <a:xfrm>
            <a:off x="1619250" y="4078288"/>
            <a:ext cx="288925" cy="503237"/>
            <a:chOff x="0" y="0"/>
            <a:chExt cx="182" cy="317"/>
          </a:xfrm>
          <a:solidFill>
            <a:srgbClr val="FFFF00"/>
          </a:solidFill>
        </p:grpSpPr>
        <p:sp>
          <p:nvSpPr>
            <p:cNvPr id="48185" name="Rectangle 26"/>
            <p:cNvSpPr>
              <a:spLocks noChangeArrowheads="1"/>
            </p:cNvSpPr>
            <p:nvPr/>
          </p:nvSpPr>
          <p:spPr bwMode="auto">
            <a:xfrm>
              <a:off x="0" y="226"/>
              <a:ext cx="182" cy="91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8186" name="Line 27"/>
            <p:cNvSpPr>
              <a:spLocks noChangeShapeType="1"/>
            </p:cNvSpPr>
            <p:nvPr/>
          </p:nvSpPr>
          <p:spPr bwMode="auto">
            <a:xfrm>
              <a:off x="91" y="0"/>
              <a:ext cx="0" cy="22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" name="Group 28"/>
          <p:cNvGrpSpPr>
            <a:grpSpLocks/>
          </p:cNvGrpSpPr>
          <p:nvPr/>
        </p:nvGrpSpPr>
        <p:grpSpPr bwMode="auto">
          <a:xfrm>
            <a:off x="2771775" y="4005263"/>
            <a:ext cx="288925" cy="503237"/>
            <a:chOff x="0" y="0"/>
            <a:chExt cx="182" cy="317"/>
          </a:xfrm>
          <a:solidFill>
            <a:srgbClr val="FFFF00"/>
          </a:solidFill>
        </p:grpSpPr>
        <p:sp>
          <p:nvSpPr>
            <p:cNvPr id="48183" name="Rectangle 29"/>
            <p:cNvSpPr>
              <a:spLocks noChangeArrowheads="1"/>
            </p:cNvSpPr>
            <p:nvPr/>
          </p:nvSpPr>
          <p:spPr bwMode="auto">
            <a:xfrm>
              <a:off x="0" y="226"/>
              <a:ext cx="182" cy="91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8184" name="Line 30"/>
            <p:cNvSpPr>
              <a:spLocks noChangeShapeType="1"/>
            </p:cNvSpPr>
            <p:nvPr/>
          </p:nvSpPr>
          <p:spPr bwMode="auto">
            <a:xfrm>
              <a:off x="91" y="0"/>
              <a:ext cx="0" cy="22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" name="Group 31"/>
          <p:cNvGrpSpPr>
            <a:grpSpLocks/>
          </p:cNvGrpSpPr>
          <p:nvPr/>
        </p:nvGrpSpPr>
        <p:grpSpPr bwMode="auto">
          <a:xfrm>
            <a:off x="3132138" y="4005263"/>
            <a:ext cx="288925" cy="503237"/>
            <a:chOff x="0" y="0"/>
            <a:chExt cx="182" cy="317"/>
          </a:xfrm>
          <a:solidFill>
            <a:srgbClr val="FFFF00"/>
          </a:solidFill>
        </p:grpSpPr>
        <p:sp>
          <p:nvSpPr>
            <p:cNvPr id="48181" name="Rectangle 32"/>
            <p:cNvSpPr>
              <a:spLocks noChangeArrowheads="1"/>
            </p:cNvSpPr>
            <p:nvPr/>
          </p:nvSpPr>
          <p:spPr bwMode="auto">
            <a:xfrm>
              <a:off x="0" y="226"/>
              <a:ext cx="182" cy="91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8182" name="Line 33"/>
            <p:cNvSpPr>
              <a:spLocks noChangeShapeType="1"/>
            </p:cNvSpPr>
            <p:nvPr/>
          </p:nvSpPr>
          <p:spPr bwMode="auto">
            <a:xfrm>
              <a:off x="91" y="0"/>
              <a:ext cx="0" cy="22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" name="Group 34"/>
          <p:cNvGrpSpPr>
            <a:grpSpLocks/>
          </p:cNvGrpSpPr>
          <p:nvPr/>
        </p:nvGrpSpPr>
        <p:grpSpPr bwMode="auto">
          <a:xfrm>
            <a:off x="3492500" y="4005263"/>
            <a:ext cx="288925" cy="503237"/>
            <a:chOff x="0" y="0"/>
            <a:chExt cx="182" cy="317"/>
          </a:xfrm>
          <a:solidFill>
            <a:srgbClr val="FFFF00"/>
          </a:solidFill>
        </p:grpSpPr>
        <p:sp>
          <p:nvSpPr>
            <p:cNvPr id="48179" name="Rectangle 35"/>
            <p:cNvSpPr>
              <a:spLocks noChangeArrowheads="1"/>
            </p:cNvSpPr>
            <p:nvPr/>
          </p:nvSpPr>
          <p:spPr bwMode="auto">
            <a:xfrm>
              <a:off x="0" y="226"/>
              <a:ext cx="182" cy="91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8180" name="Line 36"/>
            <p:cNvSpPr>
              <a:spLocks noChangeShapeType="1"/>
            </p:cNvSpPr>
            <p:nvPr/>
          </p:nvSpPr>
          <p:spPr bwMode="auto">
            <a:xfrm>
              <a:off x="91" y="0"/>
              <a:ext cx="0" cy="22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37"/>
          <p:cNvGrpSpPr>
            <a:grpSpLocks/>
          </p:cNvGrpSpPr>
          <p:nvPr/>
        </p:nvGrpSpPr>
        <p:grpSpPr bwMode="auto">
          <a:xfrm>
            <a:off x="7380288" y="4005263"/>
            <a:ext cx="288925" cy="503237"/>
            <a:chOff x="0" y="0"/>
            <a:chExt cx="182" cy="317"/>
          </a:xfrm>
          <a:solidFill>
            <a:srgbClr val="FFFF00"/>
          </a:solidFill>
        </p:grpSpPr>
        <p:sp>
          <p:nvSpPr>
            <p:cNvPr id="48177" name="Rectangle 38"/>
            <p:cNvSpPr>
              <a:spLocks noChangeArrowheads="1"/>
            </p:cNvSpPr>
            <p:nvPr/>
          </p:nvSpPr>
          <p:spPr bwMode="auto">
            <a:xfrm>
              <a:off x="0" y="226"/>
              <a:ext cx="182" cy="91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8178" name="Line 39"/>
            <p:cNvSpPr>
              <a:spLocks noChangeShapeType="1"/>
            </p:cNvSpPr>
            <p:nvPr/>
          </p:nvSpPr>
          <p:spPr bwMode="auto">
            <a:xfrm>
              <a:off x="91" y="0"/>
              <a:ext cx="0" cy="22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" name="Group 40"/>
          <p:cNvGrpSpPr>
            <a:grpSpLocks/>
          </p:cNvGrpSpPr>
          <p:nvPr/>
        </p:nvGrpSpPr>
        <p:grpSpPr bwMode="auto">
          <a:xfrm>
            <a:off x="7812088" y="4005263"/>
            <a:ext cx="288925" cy="503237"/>
            <a:chOff x="0" y="0"/>
            <a:chExt cx="182" cy="317"/>
          </a:xfrm>
          <a:solidFill>
            <a:srgbClr val="FFFF00"/>
          </a:solidFill>
        </p:grpSpPr>
        <p:sp>
          <p:nvSpPr>
            <p:cNvPr id="48175" name="Rectangle 41"/>
            <p:cNvSpPr>
              <a:spLocks noChangeArrowheads="1"/>
            </p:cNvSpPr>
            <p:nvPr/>
          </p:nvSpPr>
          <p:spPr bwMode="auto">
            <a:xfrm>
              <a:off x="0" y="226"/>
              <a:ext cx="182" cy="91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8176" name="Line 42"/>
            <p:cNvSpPr>
              <a:spLocks noChangeShapeType="1"/>
            </p:cNvSpPr>
            <p:nvPr/>
          </p:nvSpPr>
          <p:spPr bwMode="auto">
            <a:xfrm>
              <a:off x="91" y="0"/>
              <a:ext cx="0" cy="22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" name="Group 43"/>
          <p:cNvGrpSpPr>
            <a:grpSpLocks/>
          </p:cNvGrpSpPr>
          <p:nvPr/>
        </p:nvGrpSpPr>
        <p:grpSpPr bwMode="auto">
          <a:xfrm>
            <a:off x="8315325" y="4005263"/>
            <a:ext cx="288925" cy="503237"/>
            <a:chOff x="0" y="0"/>
            <a:chExt cx="182" cy="317"/>
          </a:xfrm>
          <a:solidFill>
            <a:srgbClr val="FFFF00"/>
          </a:solidFill>
        </p:grpSpPr>
        <p:sp>
          <p:nvSpPr>
            <p:cNvPr id="48173" name="Rectangle 44"/>
            <p:cNvSpPr>
              <a:spLocks noChangeArrowheads="1"/>
            </p:cNvSpPr>
            <p:nvPr/>
          </p:nvSpPr>
          <p:spPr bwMode="auto">
            <a:xfrm>
              <a:off x="0" y="226"/>
              <a:ext cx="182" cy="91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8174" name="Line 45"/>
            <p:cNvSpPr>
              <a:spLocks noChangeShapeType="1"/>
            </p:cNvSpPr>
            <p:nvPr/>
          </p:nvSpPr>
          <p:spPr bwMode="auto">
            <a:xfrm>
              <a:off x="91" y="0"/>
              <a:ext cx="0" cy="22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" name="Group 46"/>
          <p:cNvGrpSpPr>
            <a:grpSpLocks/>
          </p:cNvGrpSpPr>
          <p:nvPr/>
        </p:nvGrpSpPr>
        <p:grpSpPr bwMode="auto">
          <a:xfrm>
            <a:off x="4356100" y="4005263"/>
            <a:ext cx="288925" cy="503237"/>
            <a:chOff x="0" y="0"/>
            <a:chExt cx="182" cy="317"/>
          </a:xfrm>
          <a:solidFill>
            <a:srgbClr val="FFFF00"/>
          </a:solidFill>
        </p:grpSpPr>
        <p:sp>
          <p:nvSpPr>
            <p:cNvPr id="48171" name="Rectangle 47"/>
            <p:cNvSpPr>
              <a:spLocks noChangeArrowheads="1"/>
            </p:cNvSpPr>
            <p:nvPr/>
          </p:nvSpPr>
          <p:spPr bwMode="auto">
            <a:xfrm>
              <a:off x="0" y="226"/>
              <a:ext cx="182" cy="91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8172" name="Line 48"/>
            <p:cNvSpPr>
              <a:spLocks noChangeShapeType="1"/>
            </p:cNvSpPr>
            <p:nvPr/>
          </p:nvSpPr>
          <p:spPr bwMode="auto">
            <a:xfrm>
              <a:off x="91" y="0"/>
              <a:ext cx="0" cy="22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" name="Group 49"/>
          <p:cNvGrpSpPr>
            <a:grpSpLocks/>
          </p:cNvGrpSpPr>
          <p:nvPr/>
        </p:nvGrpSpPr>
        <p:grpSpPr bwMode="auto">
          <a:xfrm>
            <a:off x="4787900" y="4005263"/>
            <a:ext cx="288925" cy="503237"/>
            <a:chOff x="0" y="0"/>
            <a:chExt cx="182" cy="317"/>
          </a:xfrm>
          <a:solidFill>
            <a:srgbClr val="FFFF00"/>
          </a:solidFill>
        </p:grpSpPr>
        <p:sp>
          <p:nvSpPr>
            <p:cNvPr id="48169" name="Rectangle 50"/>
            <p:cNvSpPr>
              <a:spLocks noChangeArrowheads="1"/>
            </p:cNvSpPr>
            <p:nvPr/>
          </p:nvSpPr>
          <p:spPr bwMode="auto">
            <a:xfrm>
              <a:off x="0" y="226"/>
              <a:ext cx="182" cy="91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8170" name="Line 51"/>
            <p:cNvSpPr>
              <a:spLocks noChangeShapeType="1"/>
            </p:cNvSpPr>
            <p:nvPr/>
          </p:nvSpPr>
          <p:spPr bwMode="auto">
            <a:xfrm>
              <a:off x="91" y="0"/>
              <a:ext cx="0" cy="22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3" name="Group 52"/>
          <p:cNvGrpSpPr>
            <a:grpSpLocks/>
          </p:cNvGrpSpPr>
          <p:nvPr/>
        </p:nvGrpSpPr>
        <p:grpSpPr bwMode="auto">
          <a:xfrm>
            <a:off x="5291138" y="4005263"/>
            <a:ext cx="288925" cy="503237"/>
            <a:chOff x="0" y="0"/>
            <a:chExt cx="182" cy="317"/>
          </a:xfrm>
          <a:solidFill>
            <a:srgbClr val="FFFF00"/>
          </a:solidFill>
        </p:grpSpPr>
        <p:sp>
          <p:nvSpPr>
            <p:cNvPr id="48167" name="Rectangle 53"/>
            <p:cNvSpPr>
              <a:spLocks noChangeArrowheads="1"/>
            </p:cNvSpPr>
            <p:nvPr/>
          </p:nvSpPr>
          <p:spPr bwMode="auto">
            <a:xfrm>
              <a:off x="0" y="226"/>
              <a:ext cx="182" cy="91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8168" name="Line 54"/>
            <p:cNvSpPr>
              <a:spLocks noChangeShapeType="1"/>
            </p:cNvSpPr>
            <p:nvPr/>
          </p:nvSpPr>
          <p:spPr bwMode="auto">
            <a:xfrm>
              <a:off x="91" y="0"/>
              <a:ext cx="0" cy="22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" name="Group 55"/>
          <p:cNvGrpSpPr>
            <a:grpSpLocks/>
          </p:cNvGrpSpPr>
          <p:nvPr/>
        </p:nvGrpSpPr>
        <p:grpSpPr bwMode="auto">
          <a:xfrm>
            <a:off x="6013450" y="4005263"/>
            <a:ext cx="288925" cy="503237"/>
            <a:chOff x="0" y="0"/>
            <a:chExt cx="182" cy="317"/>
          </a:xfrm>
          <a:solidFill>
            <a:srgbClr val="FFFF00"/>
          </a:solidFill>
        </p:grpSpPr>
        <p:sp>
          <p:nvSpPr>
            <p:cNvPr id="48165" name="Rectangle 56"/>
            <p:cNvSpPr>
              <a:spLocks noChangeArrowheads="1"/>
            </p:cNvSpPr>
            <p:nvPr/>
          </p:nvSpPr>
          <p:spPr bwMode="auto">
            <a:xfrm>
              <a:off x="0" y="226"/>
              <a:ext cx="182" cy="91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8166" name="Line 57"/>
            <p:cNvSpPr>
              <a:spLocks noChangeShapeType="1"/>
            </p:cNvSpPr>
            <p:nvPr/>
          </p:nvSpPr>
          <p:spPr bwMode="auto">
            <a:xfrm>
              <a:off x="91" y="0"/>
              <a:ext cx="0" cy="22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" name="Group 58"/>
          <p:cNvGrpSpPr>
            <a:grpSpLocks/>
          </p:cNvGrpSpPr>
          <p:nvPr/>
        </p:nvGrpSpPr>
        <p:grpSpPr bwMode="auto">
          <a:xfrm>
            <a:off x="6516688" y="4005263"/>
            <a:ext cx="288925" cy="503237"/>
            <a:chOff x="0" y="0"/>
            <a:chExt cx="182" cy="317"/>
          </a:xfrm>
          <a:solidFill>
            <a:srgbClr val="FFFF00"/>
          </a:solidFill>
        </p:grpSpPr>
        <p:sp>
          <p:nvSpPr>
            <p:cNvPr id="48163" name="Rectangle 59"/>
            <p:cNvSpPr>
              <a:spLocks noChangeArrowheads="1"/>
            </p:cNvSpPr>
            <p:nvPr/>
          </p:nvSpPr>
          <p:spPr bwMode="auto">
            <a:xfrm>
              <a:off x="0" y="226"/>
              <a:ext cx="182" cy="91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8164" name="Line 60"/>
            <p:cNvSpPr>
              <a:spLocks noChangeShapeType="1"/>
            </p:cNvSpPr>
            <p:nvPr/>
          </p:nvSpPr>
          <p:spPr bwMode="auto">
            <a:xfrm>
              <a:off x="91" y="0"/>
              <a:ext cx="0" cy="226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9213" name="Text Box 61"/>
          <p:cNvSpPr txBox="1">
            <a:spLocks noChangeArrowheads="1"/>
          </p:cNvSpPr>
          <p:nvPr/>
        </p:nvSpPr>
        <p:spPr bwMode="auto">
          <a:xfrm>
            <a:off x="900113" y="4941888"/>
            <a:ext cx="7632700" cy="133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2400">
                <a:latin typeface="楷体_GB2312" pitchFamily="1" charset="-122"/>
              </a:rPr>
              <a:t>B-</a:t>
            </a:r>
            <a:r>
              <a:rPr lang="zh-CN" altLang="en-US" sz="2400">
                <a:latin typeface="楷体_GB2312" pitchFamily="1" charset="-122"/>
              </a:rPr>
              <a:t>树的查找：</a:t>
            </a:r>
          </a:p>
          <a:p>
            <a:pPr>
              <a:spcBef>
                <a:spcPct val="20000"/>
              </a:spcBef>
            </a:pPr>
            <a:r>
              <a:rPr lang="zh-CN" altLang="en-US" sz="2400">
                <a:latin typeface="楷体_GB2312" pitchFamily="1" charset="-122"/>
              </a:rPr>
              <a:t>以上图为例，分别查找</a:t>
            </a:r>
            <a:r>
              <a:rPr lang="en-US" altLang="zh-CN" sz="2400">
                <a:latin typeface="楷体_GB2312" pitchFamily="1" charset="-122"/>
              </a:rPr>
              <a:t>40</a:t>
            </a:r>
            <a:r>
              <a:rPr lang="zh-CN" altLang="en-US" sz="2400">
                <a:latin typeface="楷体_GB2312" pitchFamily="1" charset="-122"/>
              </a:rPr>
              <a:t>、</a:t>
            </a:r>
            <a:r>
              <a:rPr lang="en-US" altLang="zh-CN" sz="2400">
                <a:latin typeface="楷体_GB2312" pitchFamily="1" charset="-122"/>
              </a:rPr>
              <a:t>150</a:t>
            </a:r>
            <a:r>
              <a:rPr lang="zh-CN" altLang="en-US" sz="2400">
                <a:latin typeface="楷体_GB2312" pitchFamily="1" charset="-122"/>
              </a:rPr>
              <a:t>、</a:t>
            </a:r>
            <a:r>
              <a:rPr lang="en-US" altLang="zh-CN" sz="2400">
                <a:latin typeface="楷体_GB2312" pitchFamily="1" charset="-122"/>
              </a:rPr>
              <a:t>210</a:t>
            </a:r>
            <a:r>
              <a:rPr lang="zh-CN" altLang="en-US" sz="2400">
                <a:latin typeface="楷体_GB2312" pitchFamily="1" charset="-122"/>
              </a:rPr>
              <a:t>、</a:t>
            </a:r>
            <a:r>
              <a:rPr lang="en-US" altLang="zh-CN" sz="2400">
                <a:latin typeface="楷体_GB2312" pitchFamily="1" charset="-122"/>
              </a:rPr>
              <a:t>230</a:t>
            </a:r>
            <a:r>
              <a:rPr lang="zh-CN" altLang="en-US" sz="2400">
                <a:latin typeface="楷体_GB2312" pitchFamily="1" charset="-122"/>
              </a:rPr>
              <a:t>等，</a:t>
            </a:r>
          </a:p>
          <a:p>
            <a:pPr>
              <a:spcBef>
                <a:spcPct val="20000"/>
              </a:spcBef>
            </a:pPr>
            <a:r>
              <a:rPr lang="zh-CN" altLang="en-US" sz="2400">
                <a:latin typeface="楷体_GB2312" pitchFamily="1" charset="-122"/>
              </a:rPr>
              <a:t>由此，可得到查找算法</a:t>
            </a:r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61</a:t>
            </a:fld>
            <a:endParaRPr lang="zh-CN" altLang="en-US" dirty="0"/>
          </a:p>
        </p:txBody>
      </p:sp>
      <p:grpSp>
        <p:nvGrpSpPr>
          <p:cNvPr id="64" name="组合 114"/>
          <p:cNvGrpSpPr/>
          <p:nvPr/>
        </p:nvGrpSpPr>
        <p:grpSpPr>
          <a:xfrm>
            <a:off x="-396552" y="76388"/>
            <a:ext cx="6775654" cy="679510"/>
            <a:chOff x="-99459" y="3320919"/>
            <a:chExt cx="7301815" cy="722576"/>
          </a:xfrm>
        </p:grpSpPr>
        <p:grpSp>
          <p:nvGrpSpPr>
            <p:cNvPr id="65" name="组合 105"/>
            <p:cNvGrpSpPr/>
            <p:nvPr/>
          </p:nvGrpSpPr>
          <p:grpSpPr>
            <a:xfrm>
              <a:off x="-99459" y="3320919"/>
              <a:ext cx="7301815" cy="722576"/>
              <a:chOff x="-99459" y="3320919"/>
              <a:chExt cx="7301815" cy="722576"/>
            </a:xfrm>
          </p:grpSpPr>
          <p:sp>
            <p:nvSpPr>
              <p:cNvPr id="67" name="Freeform 5"/>
              <p:cNvSpPr>
                <a:spLocks/>
              </p:cNvSpPr>
              <p:nvPr/>
            </p:nvSpPr>
            <p:spPr bwMode="auto">
              <a:xfrm>
                <a:off x="933887" y="3380765"/>
                <a:ext cx="801702" cy="662730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EA6103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  <p:sp>
            <p:nvSpPr>
              <p:cNvPr id="68" name="TextBox 6"/>
              <p:cNvSpPr txBox="1">
                <a:spLocks noChangeArrowheads="1"/>
              </p:cNvSpPr>
              <p:nvPr/>
            </p:nvSpPr>
            <p:spPr bwMode="auto">
              <a:xfrm>
                <a:off x="-99459" y="3320919"/>
                <a:ext cx="7301815" cy="687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10.3 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树表的查找</a:t>
                </a:r>
              </a:p>
            </p:txBody>
          </p:sp>
        </p:grpSp>
        <p:pic>
          <p:nvPicPr>
            <p:cNvPr id="66" name="图片 65" descr="12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5929" y="3530600"/>
              <a:ext cx="446172" cy="4310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2161468"/>
      </p:ext>
    </p:extLst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9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9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9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9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49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9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49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49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49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49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9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49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49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49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49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492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9" dur="500"/>
                                        <p:tgtEl>
                                          <p:spTgt spid="492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4" dur="500"/>
                                        <p:tgtEl>
                                          <p:spTgt spid="492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5" grpId="0" build="p" autoUpdateAnimBg="0"/>
      <p:bldP spid="49156" grpId="0" animBg="1" autoUpdateAnimBg="0"/>
      <p:bldP spid="49157" grpId="0" animBg="1" autoUpdateAnimBg="0"/>
      <p:bldP spid="49158" grpId="0" animBg="1" autoUpdateAnimBg="0"/>
      <p:bldP spid="49159" grpId="0" animBg="1" autoUpdateAnimBg="0"/>
      <p:bldP spid="49160" grpId="0" animBg="1" autoUpdateAnimBg="0"/>
      <p:bldP spid="49161" grpId="0" animBg="1" autoUpdateAnimBg="0"/>
      <p:bldP spid="49162" grpId="0" animBg="1" autoUpdateAnimBg="0"/>
      <p:bldP spid="49163" grpId="0" animBg="1" autoUpdateAnimBg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62</a:t>
            </a:fld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242" y="955552"/>
            <a:ext cx="8547515" cy="332745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339751" y="948161"/>
            <a:ext cx="65060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0000FF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每个结点占用</a:t>
            </a:r>
            <a:r>
              <a:rPr lang="en-US" altLang="zh-CN" sz="1600" b="1" dirty="0">
                <a:solidFill>
                  <a:srgbClr val="0000FF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1</a:t>
            </a:r>
            <a:r>
              <a:rPr lang="zh-CN" altLang="en-US" sz="1600" b="1" dirty="0">
                <a:solidFill>
                  <a:srgbClr val="0000FF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个磁盘块的空间，</a:t>
            </a:r>
            <a:r>
              <a:rPr lang="en-US" altLang="zh-CN" sz="1600" b="1" dirty="0">
                <a:solidFill>
                  <a:srgbClr val="0000FF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1</a:t>
            </a:r>
            <a:r>
              <a:rPr lang="zh-CN" altLang="en-US" sz="1600" b="1" dirty="0">
                <a:solidFill>
                  <a:srgbClr val="0000FF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个结点上有</a:t>
            </a:r>
            <a:r>
              <a:rPr lang="en-US" altLang="zh-CN" sz="1600" b="1" dirty="0">
                <a:solidFill>
                  <a:srgbClr val="0000FF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2</a:t>
            </a:r>
            <a:r>
              <a:rPr lang="zh-CN" altLang="en-US" sz="1600" b="1" dirty="0">
                <a:solidFill>
                  <a:srgbClr val="0000FF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个升序排序的关键字和</a:t>
            </a:r>
            <a:r>
              <a:rPr lang="en-US" altLang="zh-CN" sz="1600" b="1" dirty="0">
                <a:solidFill>
                  <a:srgbClr val="0000FF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3</a:t>
            </a:r>
            <a:r>
              <a:rPr lang="zh-CN" altLang="en-US" sz="1600" b="1" dirty="0">
                <a:solidFill>
                  <a:srgbClr val="0000FF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个指向子树根结点的指针，指针存储的是子节点所在磁盘块的地址。</a:t>
            </a:r>
          </a:p>
        </p:txBody>
      </p:sp>
      <p:sp>
        <p:nvSpPr>
          <p:cNvPr id="7" name="矩形 6"/>
          <p:cNvSpPr/>
          <p:nvPr/>
        </p:nvSpPr>
        <p:spPr>
          <a:xfrm>
            <a:off x="298242" y="6310654"/>
            <a:ext cx="291413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dirty="0">
                <a:solidFill>
                  <a:srgbClr val="0000FF"/>
                </a:solidFill>
              </a:rPr>
              <a:t>https://www.yidianphp.com/archives/832</a:t>
            </a:r>
          </a:p>
        </p:txBody>
      </p:sp>
      <p:grpSp>
        <p:nvGrpSpPr>
          <p:cNvPr id="8" name="组合 114"/>
          <p:cNvGrpSpPr/>
          <p:nvPr/>
        </p:nvGrpSpPr>
        <p:grpSpPr>
          <a:xfrm>
            <a:off x="-396552" y="76388"/>
            <a:ext cx="6775654" cy="679510"/>
            <a:chOff x="-99459" y="3320919"/>
            <a:chExt cx="7301815" cy="722576"/>
          </a:xfrm>
        </p:grpSpPr>
        <p:grpSp>
          <p:nvGrpSpPr>
            <p:cNvPr id="9" name="组合 105"/>
            <p:cNvGrpSpPr/>
            <p:nvPr/>
          </p:nvGrpSpPr>
          <p:grpSpPr>
            <a:xfrm>
              <a:off x="-99459" y="3320919"/>
              <a:ext cx="7301815" cy="722576"/>
              <a:chOff x="-99459" y="3320919"/>
              <a:chExt cx="7301815" cy="722576"/>
            </a:xfrm>
          </p:grpSpPr>
          <p:sp>
            <p:nvSpPr>
              <p:cNvPr id="11" name="Freeform 5"/>
              <p:cNvSpPr>
                <a:spLocks/>
              </p:cNvSpPr>
              <p:nvPr/>
            </p:nvSpPr>
            <p:spPr bwMode="auto">
              <a:xfrm>
                <a:off x="933887" y="3380765"/>
                <a:ext cx="801702" cy="662730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EA6103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  <p:sp>
            <p:nvSpPr>
              <p:cNvPr id="12" name="TextBox 6"/>
              <p:cNvSpPr txBox="1">
                <a:spLocks noChangeArrowheads="1"/>
              </p:cNvSpPr>
              <p:nvPr/>
            </p:nvSpPr>
            <p:spPr bwMode="auto">
              <a:xfrm>
                <a:off x="-99459" y="3320919"/>
                <a:ext cx="7301815" cy="687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10.3 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树表的查找</a:t>
                </a:r>
              </a:p>
            </p:txBody>
          </p:sp>
        </p:grpSp>
        <p:pic>
          <p:nvPicPr>
            <p:cNvPr id="10" name="图片 9" descr="12.jp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5929" y="3530600"/>
              <a:ext cx="446172" cy="431048"/>
            </a:xfrm>
            <a:prstGeom prst="rect">
              <a:avLst/>
            </a:prstGeom>
          </p:spPr>
        </p:pic>
      </p:grpSp>
      <p:sp>
        <p:nvSpPr>
          <p:cNvPr id="13" name="文本框 12"/>
          <p:cNvSpPr txBox="1"/>
          <p:nvPr/>
        </p:nvSpPr>
        <p:spPr>
          <a:xfrm>
            <a:off x="298242" y="4303713"/>
            <a:ext cx="884575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查找关键字</a:t>
            </a: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28</a:t>
            </a:r>
            <a:r>
              <a:rPr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：</a:t>
            </a:r>
            <a:endParaRPr lang="en-US" altLang="zh-CN" sz="1600" b="1" dirty="0">
              <a:solidFill>
                <a:srgbClr val="FF0000"/>
              </a:solidFill>
              <a:latin typeface="Times New Roman" panose="02020603050405020304" pitchFamily="18" charset="0"/>
              <a:ea typeface="仿宋" panose="02010609060101010101" pitchFamily="49" charset="-122"/>
            </a:endParaRPr>
          </a:p>
          <a:p>
            <a:r>
              <a:rPr lang="en-US" altLang="zh-CN" sz="16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1</a:t>
            </a:r>
            <a:r>
              <a:rPr lang="zh-CN" altLang="en-US" sz="16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）根据根节点找到磁盘块</a:t>
            </a:r>
            <a:r>
              <a:rPr lang="en-US" altLang="zh-CN" sz="16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1</a:t>
            </a:r>
            <a:r>
              <a:rPr lang="zh-CN" altLang="en-US" sz="16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，读入内存（磁盘</a:t>
            </a:r>
            <a:r>
              <a:rPr lang="en-US" altLang="zh-CN" sz="16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I/O</a:t>
            </a:r>
            <a:r>
              <a:rPr lang="zh-CN" altLang="en-US" sz="16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操作第</a:t>
            </a:r>
            <a:r>
              <a:rPr lang="en-US" altLang="zh-CN" sz="16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1</a:t>
            </a:r>
            <a:r>
              <a:rPr lang="zh-CN" altLang="en-US" sz="16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次），比较关键字</a:t>
            </a:r>
            <a:r>
              <a:rPr lang="en-US" altLang="zh-CN" sz="16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28</a:t>
            </a:r>
            <a:r>
              <a:rPr lang="zh-CN" altLang="en-US" sz="16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在区间</a:t>
            </a:r>
            <a:r>
              <a:rPr lang="en-US" altLang="zh-CN" sz="16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(17,35)</a:t>
            </a:r>
            <a:r>
              <a:rPr lang="zh-CN" altLang="en-US" sz="16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，找到磁盘块</a:t>
            </a:r>
            <a:r>
              <a:rPr lang="en-US" altLang="zh-CN" sz="16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1</a:t>
            </a:r>
            <a:r>
              <a:rPr lang="zh-CN" altLang="en-US" sz="16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的指针</a:t>
            </a:r>
            <a:r>
              <a:rPr lang="en-US" altLang="zh-CN" sz="16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P2</a:t>
            </a:r>
            <a:r>
              <a:rPr lang="zh-CN" altLang="en-US" sz="16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。</a:t>
            </a:r>
            <a:endParaRPr lang="en-US" altLang="zh-CN" sz="1600" b="1" dirty="0">
              <a:latin typeface="Times New Roman" panose="02020603050405020304" pitchFamily="18" charset="0"/>
              <a:ea typeface="仿宋" panose="02010609060101010101" pitchFamily="49" charset="-122"/>
            </a:endParaRPr>
          </a:p>
          <a:p>
            <a:r>
              <a:rPr lang="en-US" altLang="zh-CN" sz="16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2</a:t>
            </a:r>
            <a:r>
              <a:rPr lang="zh-CN" altLang="en-US" sz="16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）根据</a:t>
            </a:r>
            <a:r>
              <a:rPr lang="en-US" altLang="zh-CN" sz="16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P2</a:t>
            </a:r>
            <a:r>
              <a:rPr lang="zh-CN" altLang="en-US" sz="16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指针找到磁盘块</a:t>
            </a:r>
            <a:r>
              <a:rPr lang="en-US" altLang="zh-CN" sz="16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3</a:t>
            </a:r>
            <a:r>
              <a:rPr lang="zh-CN" altLang="en-US" sz="16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，读入内存（磁盘</a:t>
            </a:r>
            <a:r>
              <a:rPr lang="en-US" altLang="zh-CN" sz="16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I/O</a:t>
            </a:r>
            <a:r>
              <a:rPr lang="zh-CN" altLang="en-US" sz="16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操作第</a:t>
            </a:r>
            <a:r>
              <a:rPr lang="en-US" altLang="zh-CN" sz="16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2</a:t>
            </a:r>
            <a:r>
              <a:rPr lang="zh-CN" altLang="en-US" sz="16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次），比较关键字</a:t>
            </a:r>
            <a:r>
              <a:rPr lang="en-US" altLang="zh-CN" sz="16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28</a:t>
            </a:r>
            <a:r>
              <a:rPr lang="zh-CN" altLang="en-US" sz="16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在区间</a:t>
            </a:r>
            <a:r>
              <a:rPr lang="en-US" altLang="zh-CN" sz="16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(26,30)</a:t>
            </a:r>
            <a:r>
              <a:rPr lang="zh-CN" altLang="en-US" sz="16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，找到磁盘块</a:t>
            </a:r>
            <a:r>
              <a:rPr lang="en-US" altLang="zh-CN" sz="16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3</a:t>
            </a:r>
            <a:r>
              <a:rPr lang="zh-CN" altLang="en-US" sz="16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的指针</a:t>
            </a:r>
            <a:r>
              <a:rPr lang="en-US" altLang="zh-CN" sz="16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P2</a:t>
            </a:r>
            <a:r>
              <a:rPr lang="zh-CN" altLang="en-US" sz="16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。</a:t>
            </a:r>
            <a:endParaRPr lang="en-US" altLang="zh-CN" sz="1600" b="1" dirty="0">
              <a:latin typeface="Times New Roman" panose="02020603050405020304" pitchFamily="18" charset="0"/>
              <a:ea typeface="仿宋" panose="02010609060101010101" pitchFamily="49" charset="-122"/>
            </a:endParaRPr>
          </a:p>
          <a:p>
            <a:r>
              <a:rPr lang="en-US" altLang="zh-CN" sz="16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3</a:t>
            </a:r>
            <a:r>
              <a:rPr lang="zh-CN" altLang="en-US" sz="16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）根据</a:t>
            </a:r>
            <a:r>
              <a:rPr lang="en-US" altLang="zh-CN" sz="16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P2</a:t>
            </a:r>
            <a:r>
              <a:rPr lang="zh-CN" altLang="en-US" sz="16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指针找到磁盘块</a:t>
            </a:r>
            <a:r>
              <a:rPr lang="en-US" altLang="zh-CN" sz="16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8</a:t>
            </a:r>
            <a:r>
              <a:rPr lang="zh-CN" altLang="en-US" sz="16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，读入内存（磁盘</a:t>
            </a:r>
            <a:r>
              <a:rPr lang="en-US" altLang="zh-CN" sz="16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I/O</a:t>
            </a:r>
            <a:r>
              <a:rPr lang="zh-CN" altLang="en-US" sz="16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操作第</a:t>
            </a:r>
            <a:r>
              <a:rPr lang="en-US" altLang="zh-CN" sz="16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3</a:t>
            </a:r>
            <a:r>
              <a:rPr lang="zh-CN" altLang="en-US" sz="16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次），比较关键字</a:t>
            </a:r>
            <a:r>
              <a:rPr lang="en-US" altLang="zh-CN" sz="16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28</a:t>
            </a:r>
            <a:r>
              <a:rPr lang="zh-CN" altLang="en-US" sz="16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在区间</a:t>
            </a:r>
            <a:r>
              <a:rPr lang="en-US" altLang="zh-CN" sz="16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(26,30)</a:t>
            </a:r>
            <a:r>
              <a:rPr lang="zh-CN" altLang="en-US" sz="16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，找到磁盘块</a:t>
            </a:r>
            <a:r>
              <a:rPr lang="en-US" altLang="zh-CN" sz="16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8</a:t>
            </a:r>
            <a:r>
              <a:rPr lang="zh-CN" altLang="en-US" sz="16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的指针</a:t>
            </a:r>
            <a:r>
              <a:rPr lang="en-US" altLang="zh-CN" sz="16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P1</a:t>
            </a:r>
            <a:r>
              <a:rPr lang="zh-CN" altLang="en-US" sz="16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。</a:t>
            </a:r>
            <a:endParaRPr lang="en-US" altLang="zh-CN" sz="1600" b="1" dirty="0">
              <a:latin typeface="Times New Roman" panose="02020603050405020304" pitchFamily="18" charset="0"/>
              <a:ea typeface="仿宋" panose="02010609060101010101" pitchFamily="49" charset="-122"/>
            </a:endParaRPr>
          </a:p>
          <a:p>
            <a:r>
              <a:rPr lang="en-US" altLang="zh-CN" sz="1600" b="1" dirty="0">
                <a:solidFill>
                  <a:srgbClr val="0000FF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3</a:t>
            </a:r>
            <a:r>
              <a:rPr lang="zh-CN" altLang="en-US" sz="1600" b="1" dirty="0">
                <a:solidFill>
                  <a:srgbClr val="0000FF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次磁盘</a:t>
            </a:r>
            <a:r>
              <a:rPr lang="en-US" altLang="zh-CN" sz="1600" b="1" dirty="0">
                <a:solidFill>
                  <a:srgbClr val="0000FF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I/O</a:t>
            </a:r>
            <a:r>
              <a:rPr lang="zh-CN" altLang="en-US" sz="1600" b="1" dirty="0">
                <a:solidFill>
                  <a:srgbClr val="0000FF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操作和</a:t>
            </a:r>
            <a:r>
              <a:rPr lang="en-US" altLang="zh-CN" sz="1600" b="1" dirty="0">
                <a:solidFill>
                  <a:srgbClr val="0000FF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3</a:t>
            </a:r>
            <a:r>
              <a:rPr lang="zh-CN" altLang="en-US" sz="1600" b="1" dirty="0">
                <a:solidFill>
                  <a:srgbClr val="0000FF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次内存查找操作。</a:t>
            </a:r>
            <a:endParaRPr lang="en-US" altLang="zh-CN" sz="1600" b="1" dirty="0">
              <a:solidFill>
                <a:srgbClr val="0000FF"/>
              </a:solidFill>
              <a:latin typeface="Times New Roman" panose="02020603050405020304" pitchFamily="18" charset="0"/>
              <a:ea typeface="仿宋" panose="02010609060101010101" pitchFamily="49" charset="-122"/>
            </a:endParaRPr>
          </a:p>
          <a:p>
            <a:endParaRPr lang="en-US" altLang="zh-CN" sz="1600" b="1" dirty="0">
              <a:solidFill>
                <a:srgbClr val="0000FF"/>
              </a:solidFill>
              <a:latin typeface="Times New Roman" panose="02020603050405020304" pitchFamily="18" charset="0"/>
              <a:ea typeface="仿宋" panose="02010609060101010101" pitchFamily="49" charset="-122"/>
            </a:endParaRPr>
          </a:p>
          <a:p>
            <a:endParaRPr lang="en-US" altLang="zh-CN" sz="1600" b="1" dirty="0">
              <a:solidFill>
                <a:srgbClr val="0000FF"/>
              </a:solidFill>
              <a:latin typeface="Times New Roman" panose="02020603050405020304" pitchFamily="18" charset="0"/>
              <a:ea typeface="仿宋" panose="02010609060101010101" pitchFamily="49" charset="-122"/>
            </a:endParaRPr>
          </a:p>
          <a:p>
            <a:endParaRPr lang="en-US" altLang="zh-CN" sz="1600" b="1" dirty="0">
              <a:solidFill>
                <a:srgbClr val="0000FF"/>
              </a:solidFill>
              <a:latin typeface="Times New Roman" panose="02020603050405020304" pitchFamily="18" charset="0"/>
              <a:ea typeface="仿宋" panose="02010609060101010101" pitchFamily="49" charset="-122"/>
            </a:endParaRPr>
          </a:p>
          <a:p>
            <a:endParaRPr lang="zh-CN" altLang="en-US" sz="1600" b="1" dirty="0">
              <a:solidFill>
                <a:srgbClr val="0000FF"/>
              </a:solidFill>
              <a:latin typeface="Times New Roman" panose="02020603050405020304" pitchFamily="18" charset="0"/>
              <a:ea typeface="仿宋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721121" y="5916014"/>
            <a:ext cx="364234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时间复杂度：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log</a:t>
            </a:r>
            <a:r>
              <a:rPr lang="en-US" altLang="zh-CN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B(n) </a:t>
            </a:r>
          </a:p>
          <a:p>
            <a:pPr algn="ctr"/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B(n)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表示一个数据块容纳的数据量</a:t>
            </a:r>
            <a:endParaRPr lang="zh-CN" altLang="en-US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8193155"/>
      </p:ext>
    </p:extLst>
  </p:cSld>
  <p:clrMapOvr>
    <a:masterClrMapping/>
  </p:clrMapOvr>
  <p:transition spd="slow" advClick="0">
    <p:pull dir="d"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47131" y="1500377"/>
            <a:ext cx="7993062" cy="2105819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/>
              <a:t>B-</a:t>
            </a:r>
            <a:r>
              <a:rPr lang="zh-CN" altLang="en-US" sz="2400" dirty="0"/>
              <a:t>树（插入）</a:t>
            </a:r>
            <a:r>
              <a:rPr lang="zh-CN" altLang="en-US" sz="2400" b="1" dirty="0"/>
              <a:t>插入关键字</a:t>
            </a:r>
          </a:p>
          <a:p>
            <a:pPr eaLnBrk="1" hangingPunct="1">
              <a:lnSpc>
                <a:spcPct val="8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/>
              <a:t>插入方法：</a:t>
            </a:r>
          </a:p>
          <a:p>
            <a:pPr marL="928688" lvl="1" indent="-457200" eaLnBrk="1" hangingPunct="1">
              <a:lnSpc>
                <a:spcPct val="80000"/>
              </a:lnSpc>
              <a:buClr>
                <a:srgbClr val="FF0000"/>
              </a:buClr>
            </a:pPr>
            <a:r>
              <a:rPr lang="zh-CN" altLang="en-US" sz="2400" b="1" dirty="0"/>
              <a:t>首先，</a:t>
            </a:r>
            <a:r>
              <a:rPr lang="zh-CN" altLang="en-US" sz="2400" dirty="0"/>
              <a:t>插入到</a:t>
            </a:r>
            <a:r>
              <a:rPr lang="zh-CN" altLang="en-US" sz="2400" dirty="0">
                <a:solidFill>
                  <a:srgbClr val="FF0000"/>
                </a:solidFill>
              </a:rPr>
              <a:t>叶子</a:t>
            </a:r>
            <a:r>
              <a:rPr lang="zh-CN" altLang="en-US" sz="2400" dirty="0"/>
              <a:t>结点中，</a:t>
            </a:r>
          </a:p>
          <a:p>
            <a:pPr marL="928688" lvl="1" indent="-457200" eaLnBrk="1" hangingPunct="1">
              <a:lnSpc>
                <a:spcPct val="80000"/>
              </a:lnSpc>
              <a:buClr>
                <a:srgbClr val="FF0000"/>
              </a:buClr>
            </a:pPr>
            <a:r>
              <a:rPr lang="zh-CN" altLang="en-US" sz="2400" dirty="0"/>
              <a:t>此时，若不溢出，则结束</a:t>
            </a:r>
          </a:p>
          <a:p>
            <a:pPr marL="928688" lvl="1" indent="-457200" eaLnBrk="1" hangingPunct="1">
              <a:lnSpc>
                <a:spcPct val="80000"/>
              </a:lnSpc>
              <a:buClr>
                <a:srgbClr val="FF0000"/>
              </a:buClr>
            </a:pPr>
            <a:r>
              <a:rPr lang="zh-CN" altLang="en-US" sz="2400" dirty="0"/>
              <a:t>否则，分解结点（一分为二）</a:t>
            </a:r>
          </a:p>
          <a:p>
            <a:pPr marL="928688" lvl="1" indent="-45720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000" dirty="0"/>
              <a:t>                     </a:t>
            </a:r>
            <a:r>
              <a:rPr lang="zh-CN" altLang="en-US" sz="2400" dirty="0"/>
              <a:t>并且可能要执行多次</a:t>
            </a:r>
          </a:p>
        </p:txBody>
      </p:sp>
      <p:sp>
        <p:nvSpPr>
          <p:cNvPr id="50180" name="Oval 4"/>
          <p:cNvSpPr>
            <a:spLocks noChangeArrowheads="1"/>
          </p:cNvSpPr>
          <p:nvPr/>
        </p:nvSpPr>
        <p:spPr bwMode="auto">
          <a:xfrm>
            <a:off x="3708400" y="3860800"/>
            <a:ext cx="1008063" cy="360363"/>
          </a:xfrm>
          <a:prstGeom prst="ellipse">
            <a:avLst/>
          </a:prstGeom>
          <a:solidFill>
            <a:srgbClr val="92D05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100</a:t>
            </a:r>
          </a:p>
        </p:txBody>
      </p:sp>
      <p:sp>
        <p:nvSpPr>
          <p:cNvPr id="50181" name="Oval 5"/>
          <p:cNvSpPr>
            <a:spLocks noChangeArrowheads="1"/>
          </p:cNvSpPr>
          <p:nvPr/>
        </p:nvSpPr>
        <p:spPr bwMode="auto">
          <a:xfrm>
            <a:off x="1908175" y="4510088"/>
            <a:ext cx="1008063" cy="360362"/>
          </a:xfrm>
          <a:prstGeom prst="ellipse">
            <a:avLst/>
          </a:prstGeom>
          <a:solidFill>
            <a:srgbClr val="92D05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60</a:t>
            </a:r>
          </a:p>
        </p:txBody>
      </p:sp>
      <p:sp>
        <p:nvSpPr>
          <p:cNvPr id="50182" name="Oval 6"/>
          <p:cNvSpPr>
            <a:spLocks noChangeArrowheads="1"/>
          </p:cNvSpPr>
          <p:nvPr/>
        </p:nvSpPr>
        <p:spPr bwMode="auto">
          <a:xfrm>
            <a:off x="5437188" y="4510088"/>
            <a:ext cx="1366837" cy="360362"/>
          </a:xfrm>
          <a:prstGeom prst="ellipse">
            <a:avLst/>
          </a:prstGeom>
          <a:solidFill>
            <a:srgbClr val="92D05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150  200</a:t>
            </a:r>
          </a:p>
        </p:txBody>
      </p:sp>
      <p:sp>
        <p:nvSpPr>
          <p:cNvPr id="50183" name="Oval 7"/>
          <p:cNvSpPr>
            <a:spLocks noChangeArrowheads="1"/>
          </p:cNvSpPr>
          <p:nvPr/>
        </p:nvSpPr>
        <p:spPr bwMode="auto">
          <a:xfrm>
            <a:off x="539750" y="5445125"/>
            <a:ext cx="1008063" cy="360363"/>
          </a:xfrm>
          <a:prstGeom prst="ellipse">
            <a:avLst/>
          </a:prstGeom>
          <a:solidFill>
            <a:srgbClr val="92D05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20  40</a:t>
            </a:r>
          </a:p>
        </p:txBody>
      </p:sp>
      <p:sp>
        <p:nvSpPr>
          <p:cNvPr id="50184" name="Oval 8"/>
          <p:cNvSpPr>
            <a:spLocks noChangeArrowheads="1"/>
          </p:cNvSpPr>
          <p:nvPr/>
        </p:nvSpPr>
        <p:spPr bwMode="auto">
          <a:xfrm>
            <a:off x="2411413" y="5445125"/>
            <a:ext cx="1008062" cy="360363"/>
          </a:xfrm>
          <a:prstGeom prst="ellipse">
            <a:avLst/>
          </a:prstGeom>
          <a:solidFill>
            <a:srgbClr val="92D05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70  90</a:t>
            </a:r>
          </a:p>
        </p:txBody>
      </p:sp>
      <p:sp>
        <p:nvSpPr>
          <p:cNvPr id="50185" name="Oval 9"/>
          <p:cNvSpPr>
            <a:spLocks noChangeArrowheads="1"/>
          </p:cNvSpPr>
          <p:nvPr/>
        </p:nvSpPr>
        <p:spPr bwMode="auto">
          <a:xfrm>
            <a:off x="3924300" y="5446713"/>
            <a:ext cx="1295400" cy="358775"/>
          </a:xfrm>
          <a:prstGeom prst="ellipse">
            <a:avLst/>
          </a:prstGeom>
          <a:solidFill>
            <a:srgbClr val="92D05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120  140</a:t>
            </a:r>
          </a:p>
        </p:txBody>
      </p:sp>
      <p:sp>
        <p:nvSpPr>
          <p:cNvPr id="50186" name="Oval 10"/>
          <p:cNvSpPr>
            <a:spLocks noChangeArrowheads="1"/>
          </p:cNvSpPr>
          <p:nvPr/>
        </p:nvSpPr>
        <p:spPr bwMode="auto">
          <a:xfrm>
            <a:off x="5508625" y="5446713"/>
            <a:ext cx="1366838" cy="360362"/>
          </a:xfrm>
          <a:prstGeom prst="ellipse">
            <a:avLst/>
          </a:prstGeom>
          <a:solidFill>
            <a:srgbClr val="92D05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180</a:t>
            </a:r>
          </a:p>
        </p:txBody>
      </p:sp>
      <p:sp>
        <p:nvSpPr>
          <p:cNvPr id="50187" name="Oval 11"/>
          <p:cNvSpPr>
            <a:spLocks noChangeArrowheads="1"/>
          </p:cNvSpPr>
          <p:nvPr/>
        </p:nvSpPr>
        <p:spPr bwMode="auto">
          <a:xfrm>
            <a:off x="6948488" y="5446713"/>
            <a:ext cx="1296987" cy="358775"/>
          </a:xfrm>
          <a:prstGeom prst="ellipse">
            <a:avLst/>
          </a:prstGeom>
          <a:solidFill>
            <a:srgbClr val="92D05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210  260</a:t>
            </a:r>
          </a:p>
        </p:txBody>
      </p:sp>
      <p:sp>
        <p:nvSpPr>
          <p:cNvPr id="50188" name="Line 12"/>
          <p:cNvSpPr>
            <a:spLocks noChangeShapeType="1"/>
          </p:cNvSpPr>
          <p:nvPr/>
        </p:nvSpPr>
        <p:spPr bwMode="auto">
          <a:xfrm flipH="1">
            <a:off x="2916238" y="4078288"/>
            <a:ext cx="1079500" cy="5032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189" name="Line 13"/>
          <p:cNvSpPr>
            <a:spLocks noChangeShapeType="1"/>
          </p:cNvSpPr>
          <p:nvPr/>
        </p:nvSpPr>
        <p:spPr bwMode="auto">
          <a:xfrm flipH="1">
            <a:off x="1117600" y="4725988"/>
            <a:ext cx="1006475" cy="6477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190" name="Line 14"/>
          <p:cNvSpPr>
            <a:spLocks noChangeShapeType="1"/>
          </p:cNvSpPr>
          <p:nvPr/>
        </p:nvSpPr>
        <p:spPr bwMode="auto">
          <a:xfrm flipH="1">
            <a:off x="4572000" y="4725988"/>
            <a:ext cx="1081088" cy="6477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191" name="Line 15"/>
          <p:cNvSpPr>
            <a:spLocks noChangeShapeType="1"/>
          </p:cNvSpPr>
          <p:nvPr/>
        </p:nvSpPr>
        <p:spPr bwMode="auto">
          <a:xfrm>
            <a:off x="4498975" y="4078288"/>
            <a:ext cx="1081088" cy="431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192" name="Line 16"/>
          <p:cNvSpPr>
            <a:spLocks noChangeShapeType="1"/>
          </p:cNvSpPr>
          <p:nvPr/>
        </p:nvSpPr>
        <p:spPr bwMode="auto">
          <a:xfrm flipH="1">
            <a:off x="6084888" y="4725988"/>
            <a:ext cx="0" cy="6477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193" name="Line 17"/>
          <p:cNvSpPr>
            <a:spLocks noChangeShapeType="1"/>
          </p:cNvSpPr>
          <p:nvPr/>
        </p:nvSpPr>
        <p:spPr bwMode="auto">
          <a:xfrm>
            <a:off x="6588125" y="4725988"/>
            <a:ext cx="1008063" cy="6477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194" name="Line 18"/>
          <p:cNvSpPr>
            <a:spLocks noChangeShapeType="1"/>
          </p:cNvSpPr>
          <p:nvPr/>
        </p:nvSpPr>
        <p:spPr bwMode="auto">
          <a:xfrm>
            <a:off x="2628900" y="4652963"/>
            <a:ext cx="504825" cy="7207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195" name="Oval 19"/>
          <p:cNvSpPr>
            <a:spLocks noChangeArrowheads="1"/>
          </p:cNvSpPr>
          <p:nvPr/>
        </p:nvSpPr>
        <p:spPr bwMode="auto">
          <a:xfrm>
            <a:off x="5435600" y="5446713"/>
            <a:ext cx="1441450" cy="360362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180  190</a:t>
            </a:r>
          </a:p>
        </p:txBody>
      </p:sp>
      <p:sp>
        <p:nvSpPr>
          <p:cNvPr id="50196" name="Text Box 20"/>
          <p:cNvSpPr txBox="1">
            <a:spLocks noChangeArrowheads="1"/>
          </p:cNvSpPr>
          <p:nvPr/>
        </p:nvSpPr>
        <p:spPr bwMode="auto">
          <a:xfrm>
            <a:off x="6011863" y="3717925"/>
            <a:ext cx="1079500" cy="3667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</a:rPr>
              <a:t>插入</a:t>
            </a: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190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63</a:t>
            </a:fld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511133" y="1016510"/>
            <a:ext cx="2409634" cy="4801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800" b="1" dirty="0"/>
              <a:t>10.3.3  B-</a:t>
            </a:r>
            <a:r>
              <a:rPr lang="zh-CN" altLang="en-US" sz="2800" b="1" dirty="0"/>
              <a:t>树</a:t>
            </a:r>
          </a:p>
        </p:txBody>
      </p:sp>
      <p:grpSp>
        <p:nvGrpSpPr>
          <p:cNvPr id="24" name="组合 114"/>
          <p:cNvGrpSpPr/>
          <p:nvPr/>
        </p:nvGrpSpPr>
        <p:grpSpPr>
          <a:xfrm>
            <a:off x="-396552" y="76388"/>
            <a:ext cx="6775654" cy="679510"/>
            <a:chOff x="-99459" y="3320919"/>
            <a:chExt cx="7301815" cy="722576"/>
          </a:xfrm>
        </p:grpSpPr>
        <p:grpSp>
          <p:nvGrpSpPr>
            <p:cNvPr id="25" name="组合 105"/>
            <p:cNvGrpSpPr/>
            <p:nvPr/>
          </p:nvGrpSpPr>
          <p:grpSpPr>
            <a:xfrm>
              <a:off x="-99459" y="3320919"/>
              <a:ext cx="7301815" cy="722576"/>
              <a:chOff x="-99459" y="3320919"/>
              <a:chExt cx="7301815" cy="722576"/>
            </a:xfrm>
          </p:grpSpPr>
          <p:sp>
            <p:nvSpPr>
              <p:cNvPr id="27" name="Freeform 5"/>
              <p:cNvSpPr>
                <a:spLocks/>
              </p:cNvSpPr>
              <p:nvPr/>
            </p:nvSpPr>
            <p:spPr bwMode="auto">
              <a:xfrm>
                <a:off x="933887" y="3380765"/>
                <a:ext cx="801702" cy="662730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EA6103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  <p:sp>
            <p:nvSpPr>
              <p:cNvPr id="28" name="TextBox 6"/>
              <p:cNvSpPr txBox="1">
                <a:spLocks noChangeArrowheads="1"/>
              </p:cNvSpPr>
              <p:nvPr/>
            </p:nvSpPr>
            <p:spPr bwMode="auto">
              <a:xfrm>
                <a:off x="-99459" y="3320919"/>
                <a:ext cx="7301815" cy="687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10.3 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树表的查找</a:t>
                </a:r>
              </a:p>
            </p:txBody>
          </p:sp>
        </p:grpSp>
        <p:pic>
          <p:nvPicPr>
            <p:cNvPr id="26" name="图片 25" descr="12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5929" y="3530600"/>
              <a:ext cx="446172" cy="4310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96344906"/>
      </p:ext>
    </p:extLst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0" grpId="0" animBg="1" autoUpdateAnimBg="0"/>
      <p:bldP spid="50181" grpId="0" animBg="1" autoUpdateAnimBg="0"/>
      <p:bldP spid="50182" grpId="0" animBg="1" autoUpdateAnimBg="0"/>
      <p:bldP spid="50183" grpId="0" animBg="1" autoUpdateAnimBg="0"/>
      <p:bldP spid="50184" grpId="0" animBg="1" autoUpdateAnimBg="0"/>
      <p:bldP spid="50185" grpId="0" animBg="1" autoUpdateAnimBg="0"/>
      <p:bldP spid="50186" grpId="0" animBg="1" autoUpdateAnimBg="0"/>
      <p:bldP spid="50187" grpId="0" animBg="1" autoUpdateAnimBg="0"/>
      <p:bldP spid="50195" grpId="0" animBg="1" autoUpdateAnimBg="0"/>
      <p:bldP spid="50196" grpId="0" animBg="1" autoUpdateAnimBg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4265" y="1606168"/>
            <a:ext cx="7993062" cy="431800"/>
          </a:xfrm>
        </p:spPr>
        <p:txBody>
          <a:bodyPr/>
          <a:lstStyle/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200" b="1" dirty="0"/>
              <a:t>插入关键字</a:t>
            </a:r>
            <a:endParaRPr lang="zh-CN" altLang="en-US" sz="2000" dirty="0"/>
          </a:p>
        </p:txBody>
      </p:sp>
      <p:sp>
        <p:nvSpPr>
          <p:cNvPr id="51204" name="Oval 4"/>
          <p:cNvSpPr>
            <a:spLocks noChangeArrowheads="1"/>
          </p:cNvSpPr>
          <p:nvPr/>
        </p:nvSpPr>
        <p:spPr bwMode="auto">
          <a:xfrm>
            <a:off x="3492500" y="1773238"/>
            <a:ext cx="1008063" cy="360362"/>
          </a:xfrm>
          <a:prstGeom prst="ellipse">
            <a:avLst/>
          </a:prstGeom>
          <a:solidFill>
            <a:srgbClr val="92D05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100</a:t>
            </a:r>
          </a:p>
        </p:txBody>
      </p:sp>
      <p:sp>
        <p:nvSpPr>
          <p:cNvPr id="51205" name="Oval 5"/>
          <p:cNvSpPr>
            <a:spLocks noChangeArrowheads="1"/>
          </p:cNvSpPr>
          <p:nvPr/>
        </p:nvSpPr>
        <p:spPr bwMode="auto">
          <a:xfrm>
            <a:off x="1692275" y="2422525"/>
            <a:ext cx="1008063" cy="360363"/>
          </a:xfrm>
          <a:prstGeom prst="ellipse">
            <a:avLst/>
          </a:prstGeom>
          <a:solidFill>
            <a:srgbClr val="92D05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60</a:t>
            </a:r>
          </a:p>
        </p:txBody>
      </p:sp>
      <p:sp>
        <p:nvSpPr>
          <p:cNvPr id="51206" name="Oval 6"/>
          <p:cNvSpPr>
            <a:spLocks noChangeArrowheads="1"/>
          </p:cNvSpPr>
          <p:nvPr/>
        </p:nvSpPr>
        <p:spPr bwMode="auto">
          <a:xfrm>
            <a:off x="5221288" y="2422525"/>
            <a:ext cx="1366837" cy="360363"/>
          </a:xfrm>
          <a:prstGeom prst="ellipse">
            <a:avLst/>
          </a:prstGeom>
          <a:solidFill>
            <a:srgbClr val="92D05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150  200</a:t>
            </a:r>
          </a:p>
        </p:txBody>
      </p:sp>
      <p:sp>
        <p:nvSpPr>
          <p:cNvPr id="51207" name="Oval 7"/>
          <p:cNvSpPr>
            <a:spLocks noChangeArrowheads="1"/>
          </p:cNvSpPr>
          <p:nvPr/>
        </p:nvSpPr>
        <p:spPr bwMode="auto">
          <a:xfrm>
            <a:off x="684213" y="3286125"/>
            <a:ext cx="1008062" cy="360363"/>
          </a:xfrm>
          <a:prstGeom prst="ellipse">
            <a:avLst/>
          </a:prstGeom>
          <a:solidFill>
            <a:srgbClr val="92D05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20  40</a:t>
            </a:r>
          </a:p>
        </p:txBody>
      </p:sp>
      <p:sp>
        <p:nvSpPr>
          <p:cNvPr id="51208" name="Oval 8"/>
          <p:cNvSpPr>
            <a:spLocks noChangeArrowheads="1"/>
          </p:cNvSpPr>
          <p:nvPr/>
        </p:nvSpPr>
        <p:spPr bwMode="auto">
          <a:xfrm>
            <a:off x="2339975" y="3357563"/>
            <a:ext cx="1008063" cy="360362"/>
          </a:xfrm>
          <a:prstGeom prst="ellipse">
            <a:avLst/>
          </a:prstGeom>
          <a:solidFill>
            <a:srgbClr val="92D05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70  90</a:t>
            </a:r>
          </a:p>
        </p:txBody>
      </p:sp>
      <p:sp>
        <p:nvSpPr>
          <p:cNvPr id="51209" name="Oval 9"/>
          <p:cNvSpPr>
            <a:spLocks noChangeArrowheads="1"/>
          </p:cNvSpPr>
          <p:nvPr/>
        </p:nvSpPr>
        <p:spPr bwMode="auto">
          <a:xfrm>
            <a:off x="3708400" y="3359150"/>
            <a:ext cx="1295400" cy="358775"/>
          </a:xfrm>
          <a:prstGeom prst="ellipse">
            <a:avLst/>
          </a:prstGeom>
          <a:solidFill>
            <a:srgbClr val="92D05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120  140</a:t>
            </a:r>
          </a:p>
        </p:txBody>
      </p:sp>
      <p:sp>
        <p:nvSpPr>
          <p:cNvPr id="51210" name="Oval 10"/>
          <p:cNvSpPr>
            <a:spLocks noChangeArrowheads="1"/>
          </p:cNvSpPr>
          <p:nvPr/>
        </p:nvSpPr>
        <p:spPr bwMode="auto">
          <a:xfrm>
            <a:off x="5292725" y="3359150"/>
            <a:ext cx="1366838" cy="360363"/>
          </a:xfrm>
          <a:prstGeom prst="ellipse">
            <a:avLst/>
          </a:prstGeom>
          <a:solidFill>
            <a:srgbClr val="92D05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180  190</a:t>
            </a:r>
          </a:p>
        </p:txBody>
      </p:sp>
      <p:sp>
        <p:nvSpPr>
          <p:cNvPr id="51211" name="Oval 11"/>
          <p:cNvSpPr>
            <a:spLocks noChangeArrowheads="1"/>
          </p:cNvSpPr>
          <p:nvPr/>
        </p:nvSpPr>
        <p:spPr bwMode="auto">
          <a:xfrm>
            <a:off x="7307263" y="3359150"/>
            <a:ext cx="1296987" cy="358775"/>
          </a:xfrm>
          <a:prstGeom prst="ellipse">
            <a:avLst/>
          </a:prstGeom>
          <a:solidFill>
            <a:srgbClr val="92D05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210  260</a:t>
            </a:r>
          </a:p>
        </p:txBody>
      </p:sp>
      <p:sp>
        <p:nvSpPr>
          <p:cNvPr id="51212" name="Line 12"/>
          <p:cNvSpPr>
            <a:spLocks noChangeShapeType="1"/>
          </p:cNvSpPr>
          <p:nvPr/>
        </p:nvSpPr>
        <p:spPr bwMode="auto">
          <a:xfrm flipH="1">
            <a:off x="2700338" y="1990725"/>
            <a:ext cx="1079500" cy="5032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13" name="Line 13"/>
          <p:cNvSpPr>
            <a:spLocks noChangeShapeType="1"/>
          </p:cNvSpPr>
          <p:nvPr/>
        </p:nvSpPr>
        <p:spPr bwMode="auto">
          <a:xfrm flipH="1">
            <a:off x="1331913" y="2638425"/>
            <a:ext cx="576262" cy="6477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14" name="Line 14"/>
          <p:cNvSpPr>
            <a:spLocks noChangeShapeType="1"/>
          </p:cNvSpPr>
          <p:nvPr/>
        </p:nvSpPr>
        <p:spPr bwMode="auto">
          <a:xfrm flipH="1">
            <a:off x="4356100" y="2638425"/>
            <a:ext cx="1081088" cy="6477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15" name="Line 15"/>
          <p:cNvSpPr>
            <a:spLocks noChangeShapeType="1"/>
          </p:cNvSpPr>
          <p:nvPr/>
        </p:nvSpPr>
        <p:spPr bwMode="auto">
          <a:xfrm>
            <a:off x="4283075" y="1990725"/>
            <a:ext cx="1081088" cy="431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16" name="Line 16"/>
          <p:cNvSpPr>
            <a:spLocks noChangeShapeType="1"/>
          </p:cNvSpPr>
          <p:nvPr/>
        </p:nvSpPr>
        <p:spPr bwMode="auto">
          <a:xfrm flipH="1">
            <a:off x="5868988" y="2638425"/>
            <a:ext cx="0" cy="6477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17" name="Line 17"/>
          <p:cNvSpPr>
            <a:spLocks noChangeShapeType="1"/>
          </p:cNvSpPr>
          <p:nvPr/>
        </p:nvSpPr>
        <p:spPr bwMode="auto">
          <a:xfrm>
            <a:off x="6372225" y="2638425"/>
            <a:ext cx="1584325" cy="6492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18" name="Line 18"/>
          <p:cNvSpPr>
            <a:spLocks noChangeShapeType="1"/>
          </p:cNvSpPr>
          <p:nvPr/>
        </p:nvSpPr>
        <p:spPr bwMode="auto">
          <a:xfrm>
            <a:off x="2413000" y="2565400"/>
            <a:ext cx="503238" cy="7921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19" name="Text Box 19"/>
          <p:cNvSpPr txBox="1">
            <a:spLocks noChangeArrowheads="1"/>
          </p:cNvSpPr>
          <p:nvPr/>
        </p:nvSpPr>
        <p:spPr bwMode="auto">
          <a:xfrm>
            <a:off x="4648096" y="1326738"/>
            <a:ext cx="1079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</a:rPr>
              <a:t>插入</a:t>
            </a: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160</a:t>
            </a:r>
          </a:p>
        </p:txBody>
      </p:sp>
      <p:sp>
        <p:nvSpPr>
          <p:cNvPr id="51220" name="Oval 20"/>
          <p:cNvSpPr>
            <a:spLocks noChangeArrowheads="1"/>
          </p:cNvSpPr>
          <p:nvPr/>
        </p:nvSpPr>
        <p:spPr bwMode="auto">
          <a:xfrm>
            <a:off x="5076825" y="3360738"/>
            <a:ext cx="1944688" cy="360362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160  180  190</a:t>
            </a:r>
          </a:p>
        </p:txBody>
      </p:sp>
      <p:sp>
        <p:nvSpPr>
          <p:cNvPr id="51221" name="Oval 21"/>
          <p:cNvSpPr>
            <a:spLocks noChangeArrowheads="1"/>
          </p:cNvSpPr>
          <p:nvPr/>
        </p:nvSpPr>
        <p:spPr bwMode="auto">
          <a:xfrm>
            <a:off x="5076825" y="5949975"/>
            <a:ext cx="647700" cy="287337"/>
          </a:xfrm>
          <a:prstGeom prst="ellipse">
            <a:avLst/>
          </a:prstGeom>
          <a:solidFill>
            <a:srgbClr val="FFC0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160</a:t>
            </a:r>
          </a:p>
        </p:txBody>
      </p:sp>
      <p:sp>
        <p:nvSpPr>
          <p:cNvPr id="51222" name="Oval 22"/>
          <p:cNvSpPr>
            <a:spLocks noChangeArrowheads="1"/>
          </p:cNvSpPr>
          <p:nvPr/>
        </p:nvSpPr>
        <p:spPr bwMode="auto">
          <a:xfrm>
            <a:off x="6229350" y="5949975"/>
            <a:ext cx="647700" cy="287337"/>
          </a:xfrm>
          <a:prstGeom prst="ellipse">
            <a:avLst/>
          </a:prstGeom>
          <a:solidFill>
            <a:srgbClr val="FFC0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190</a:t>
            </a:r>
          </a:p>
        </p:txBody>
      </p:sp>
      <p:sp>
        <p:nvSpPr>
          <p:cNvPr id="51223" name="Oval 23"/>
          <p:cNvSpPr>
            <a:spLocks noChangeArrowheads="1"/>
          </p:cNvSpPr>
          <p:nvPr/>
        </p:nvSpPr>
        <p:spPr bwMode="auto">
          <a:xfrm>
            <a:off x="4932363" y="4868887"/>
            <a:ext cx="1944687" cy="360363"/>
          </a:xfrm>
          <a:prstGeom prst="ellipse">
            <a:avLst/>
          </a:prstGeom>
          <a:solidFill>
            <a:srgbClr val="FFC0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150  180  200</a:t>
            </a:r>
          </a:p>
        </p:txBody>
      </p:sp>
      <p:sp>
        <p:nvSpPr>
          <p:cNvPr id="51224" name="Line 24"/>
          <p:cNvSpPr>
            <a:spLocks noChangeShapeType="1"/>
          </p:cNvSpPr>
          <p:nvPr/>
        </p:nvSpPr>
        <p:spPr bwMode="auto">
          <a:xfrm flipH="1">
            <a:off x="5437188" y="5084787"/>
            <a:ext cx="214312" cy="7921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25" name="Line 25"/>
          <p:cNvSpPr>
            <a:spLocks noChangeShapeType="1"/>
          </p:cNvSpPr>
          <p:nvPr/>
        </p:nvSpPr>
        <p:spPr bwMode="auto">
          <a:xfrm>
            <a:off x="6156325" y="5084787"/>
            <a:ext cx="360363" cy="7921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26" name="Oval 26"/>
          <p:cNvSpPr>
            <a:spLocks noChangeArrowheads="1"/>
          </p:cNvSpPr>
          <p:nvPr/>
        </p:nvSpPr>
        <p:spPr bwMode="auto">
          <a:xfrm>
            <a:off x="3492500" y="4289450"/>
            <a:ext cx="1008063" cy="360362"/>
          </a:xfrm>
          <a:prstGeom prst="ellipse">
            <a:avLst/>
          </a:prstGeom>
          <a:solidFill>
            <a:srgbClr val="92D05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100</a:t>
            </a:r>
          </a:p>
        </p:txBody>
      </p:sp>
      <p:sp>
        <p:nvSpPr>
          <p:cNvPr id="51227" name="Oval 27"/>
          <p:cNvSpPr>
            <a:spLocks noChangeArrowheads="1"/>
          </p:cNvSpPr>
          <p:nvPr/>
        </p:nvSpPr>
        <p:spPr bwMode="auto">
          <a:xfrm>
            <a:off x="1692275" y="4938737"/>
            <a:ext cx="1008063" cy="360363"/>
          </a:xfrm>
          <a:prstGeom prst="ellipse">
            <a:avLst/>
          </a:prstGeom>
          <a:solidFill>
            <a:srgbClr val="92D05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60</a:t>
            </a:r>
          </a:p>
        </p:txBody>
      </p:sp>
      <p:sp>
        <p:nvSpPr>
          <p:cNvPr id="51228" name="Oval 28"/>
          <p:cNvSpPr>
            <a:spLocks noChangeArrowheads="1"/>
          </p:cNvSpPr>
          <p:nvPr/>
        </p:nvSpPr>
        <p:spPr bwMode="auto">
          <a:xfrm>
            <a:off x="684213" y="5802337"/>
            <a:ext cx="1008062" cy="360363"/>
          </a:xfrm>
          <a:prstGeom prst="ellipse">
            <a:avLst/>
          </a:prstGeom>
          <a:solidFill>
            <a:srgbClr val="92D05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20  40</a:t>
            </a:r>
          </a:p>
        </p:txBody>
      </p:sp>
      <p:sp>
        <p:nvSpPr>
          <p:cNvPr id="51229" name="Oval 29"/>
          <p:cNvSpPr>
            <a:spLocks noChangeArrowheads="1"/>
          </p:cNvSpPr>
          <p:nvPr/>
        </p:nvSpPr>
        <p:spPr bwMode="auto">
          <a:xfrm>
            <a:off x="2339975" y="5873775"/>
            <a:ext cx="1008063" cy="360362"/>
          </a:xfrm>
          <a:prstGeom prst="ellipse">
            <a:avLst/>
          </a:prstGeom>
          <a:solidFill>
            <a:srgbClr val="92D05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70  90</a:t>
            </a:r>
          </a:p>
        </p:txBody>
      </p:sp>
      <p:sp>
        <p:nvSpPr>
          <p:cNvPr id="51230" name="Oval 30"/>
          <p:cNvSpPr>
            <a:spLocks noChangeArrowheads="1"/>
          </p:cNvSpPr>
          <p:nvPr/>
        </p:nvSpPr>
        <p:spPr bwMode="auto">
          <a:xfrm>
            <a:off x="3708400" y="5878537"/>
            <a:ext cx="1295400" cy="358775"/>
          </a:xfrm>
          <a:prstGeom prst="ellipse">
            <a:avLst/>
          </a:prstGeom>
          <a:solidFill>
            <a:srgbClr val="92D05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120  140</a:t>
            </a:r>
          </a:p>
        </p:txBody>
      </p:sp>
      <p:sp>
        <p:nvSpPr>
          <p:cNvPr id="51231" name="Oval 31"/>
          <p:cNvSpPr>
            <a:spLocks noChangeArrowheads="1"/>
          </p:cNvSpPr>
          <p:nvPr/>
        </p:nvSpPr>
        <p:spPr bwMode="auto">
          <a:xfrm>
            <a:off x="7307263" y="5875362"/>
            <a:ext cx="1296987" cy="358775"/>
          </a:xfrm>
          <a:prstGeom prst="ellipse">
            <a:avLst/>
          </a:prstGeom>
          <a:solidFill>
            <a:srgbClr val="92D05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210  260</a:t>
            </a:r>
          </a:p>
        </p:txBody>
      </p:sp>
      <p:sp>
        <p:nvSpPr>
          <p:cNvPr id="51232" name="Line 32"/>
          <p:cNvSpPr>
            <a:spLocks noChangeShapeType="1"/>
          </p:cNvSpPr>
          <p:nvPr/>
        </p:nvSpPr>
        <p:spPr bwMode="auto">
          <a:xfrm flipH="1">
            <a:off x="2700338" y="4506937"/>
            <a:ext cx="1079500" cy="5032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33" name="Line 33"/>
          <p:cNvSpPr>
            <a:spLocks noChangeShapeType="1"/>
          </p:cNvSpPr>
          <p:nvPr/>
        </p:nvSpPr>
        <p:spPr bwMode="auto">
          <a:xfrm flipH="1">
            <a:off x="1331913" y="5154637"/>
            <a:ext cx="576262" cy="6477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34" name="Line 34"/>
          <p:cNvSpPr>
            <a:spLocks noChangeShapeType="1"/>
          </p:cNvSpPr>
          <p:nvPr/>
        </p:nvSpPr>
        <p:spPr bwMode="auto">
          <a:xfrm flipH="1">
            <a:off x="4356100" y="5084787"/>
            <a:ext cx="792163" cy="7175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35" name="Line 35"/>
          <p:cNvSpPr>
            <a:spLocks noChangeShapeType="1"/>
          </p:cNvSpPr>
          <p:nvPr/>
        </p:nvSpPr>
        <p:spPr bwMode="auto">
          <a:xfrm>
            <a:off x="4283075" y="4506937"/>
            <a:ext cx="1081088" cy="431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36" name="Line 36"/>
          <p:cNvSpPr>
            <a:spLocks noChangeShapeType="1"/>
          </p:cNvSpPr>
          <p:nvPr/>
        </p:nvSpPr>
        <p:spPr bwMode="auto">
          <a:xfrm>
            <a:off x="6732588" y="5013350"/>
            <a:ext cx="1223962" cy="7905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37" name="Line 37"/>
          <p:cNvSpPr>
            <a:spLocks noChangeShapeType="1"/>
          </p:cNvSpPr>
          <p:nvPr/>
        </p:nvSpPr>
        <p:spPr bwMode="auto">
          <a:xfrm>
            <a:off x="2413000" y="5081612"/>
            <a:ext cx="503238" cy="7921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38" name="AutoShape 38"/>
          <p:cNvSpPr>
            <a:spLocks noChangeArrowheads="1"/>
          </p:cNvSpPr>
          <p:nvPr/>
        </p:nvSpPr>
        <p:spPr bwMode="auto">
          <a:xfrm>
            <a:off x="6659563" y="3860800"/>
            <a:ext cx="217487" cy="43180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0000FF"/>
          </a:solidFill>
          <a:ln w="28575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endParaRPr lang="zh-CN" altLang="en-US">
              <a:solidFill>
                <a:srgbClr val="0000FF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64</a:t>
            </a:fld>
            <a:endParaRPr lang="zh-CN" altLang="en-US" dirty="0"/>
          </a:p>
        </p:txBody>
      </p:sp>
      <p:sp>
        <p:nvSpPr>
          <p:cNvPr id="41" name="矩形 40"/>
          <p:cNvSpPr/>
          <p:nvPr/>
        </p:nvSpPr>
        <p:spPr>
          <a:xfrm>
            <a:off x="487458" y="1001888"/>
            <a:ext cx="2409634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800" b="1" dirty="0"/>
              <a:t>10.3.3  B-</a:t>
            </a:r>
            <a:r>
              <a:rPr lang="zh-CN" altLang="en-US" sz="2800" b="1" dirty="0"/>
              <a:t>树</a:t>
            </a:r>
          </a:p>
        </p:txBody>
      </p:sp>
      <p:grpSp>
        <p:nvGrpSpPr>
          <p:cNvPr id="42" name="组合 114"/>
          <p:cNvGrpSpPr/>
          <p:nvPr/>
        </p:nvGrpSpPr>
        <p:grpSpPr>
          <a:xfrm>
            <a:off x="-396552" y="76388"/>
            <a:ext cx="6775654" cy="679510"/>
            <a:chOff x="-99459" y="3320919"/>
            <a:chExt cx="7301815" cy="722576"/>
          </a:xfrm>
        </p:grpSpPr>
        <p:grpSp>
          <p:nvGrpSpPr>
            <p:cNvPr id="43" name="组合 105"/>
            <p:cNvGrpSpPr/>
            <p:nvPr/>
          </p:nvGrpSpPr>
          <p:grpSpPr>
            <a:xfrm>
              <a:off x="-99459" y="3320919"/>
              <a:ext cx="7301815" cy="722576"/>
              <a:chOff x="-99459" y="3320919"/>
              <a:chExt cx="7301815" cy="722576"/>
            </a:xfrm>
          </p:grpSpPr>
          <p:sp>
            <p:nvSpPr>
              <p:cNvPr id="45" name="Freeform 5"/>
              <p:cNvSpPr>
                <a:spLocks/>
              </p:cNvSpPr>
              <p:nvPr/>
            </p:nvSpPr>
            <p:spPr bwMode="auto">
              <a:xfrm>
                <a:off x="933887" y="3380765"/>
                <a:ext cx="801702" cy="662730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EA6103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  <p:sp>
            <p:nvSpPr>
              <p:cNvPr id="46" name="TextBox 6"/>
              <p:cNvSpPr txBox="1">
                <a:spLocks noChangeArrowheads="1"/>
              </p:cNvSpPr>
              <p:nvPr/>
            </p:nvSpPr>
            <p:spPr bwMode="auto">
              <a:xfrm>
                <a:off x="-99459" y="3320919"/>
                <a:ext cx="7301815" cy="687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10.3 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树表的查找</a:t>
                </a:r>
              </a:p>
            </p:txBody>
          </p:sp>
        </p:grpSp>
        <p:pic>
          <p:nvPicPr>
            <p:cNvPr id="44" name="图片 43" descr="12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5929" y="3530600"/>
              <a:ext cx="446172" cy="4310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23960943"/>
      </p:ext>
    </p:extLst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4" grpId="0" animBg="1" autoUpdateAnimBg="0"/>
      <p:bldP spid="51205" grpId="0" animBg="1" autoUpdateAnimBg="0"/>
      <p:bldP spid="51206" grpId="0" animBg="1" autoUpdateAnimBg="0"/>
      <p:bldP spid="51207" grpId="0" animBg="1" autoUpdateAnimBg="0"/>
      <p:bldP spid="51208" grpId="0" animBg="1" autoUpdateAnimBg="0"/>
      <p:bldP spid="51209" grpId="0" animBg="1" autoUpdateAnimBg="0"/>
      <p:bldP spid="51210" grpId="0" animBg="1" autoUpdateAnimBg="0"/>
      <p:bldP spid="51211" grpId="0" animBg="1" autoUpdateAnimBg="0"/>
      <p:bldP spid="51219" grpId="0" autoUpdateAnimBg="0"/>
      <p:bldP spid="51220" grpId="0" animBg="1" autoUpdateAnimBg="0"/>
      <p:bldP spid="51221" grpId="0" animBg="1" autoUpdateAnimBg="0"/>
      <p:bldP spid="51222" grpId="0" animBg="1" autoUpdateAnimBg="0"/>
      <p:bldP spid="51223" grpId="0" animBg="1" autoUpdateAnimBg="0"/>
      <p:bldP spid="51226" grpId="0" animBg="1" autoUpdateAnimBg="0"/>
      <p:bldP spid="51227" grpId="0" animBg="1" autoUpdateAnimBg="0"/>
      <p:bldP spid="51228" grpId="0" animBg="1" autoUpdateAnimBg="0"/>
      <p:bldP spid="51229" grpId="0" animBg="1" autoUpdateAnimBg="0"/>
      <p:bldP spid="51230" grpId="0" animBg="1" autoUpdateAnimBg="0"/>
      <p:bldP spid="51231" grpId="0" animBg="1" autoUpdateAnimBg="0"/>
      <p:bldP spid="51238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1007" y="1587500"/>
            <a:ext cx="7993062" cy="431800"/>
          </a:xfrm>
        </p:spPr>
        <p:txBody>
          <a:bodyPr/>
          <a:lstStyle/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/>
              <a:t>插入关键字</a:t>
            </a:r>
            <a:endParaRPr lang="zh-CN" altLang="en-US" sz="2400" dirty="0"/>
          </a:p>
        </p:txBody>
      </p:sp>
      <p:sp>
        <p:nvSpPr>
          <p:cNvPr id="52228" name="Text Box 4"/>
          <p:cNvSpPr txBox="1">
            <a:spLocks noChangeArrowheads="1"/>
          </p:cNvSpPr>
          <p:nvPr/>
        </p:nvSpPr>
        <p:spPr bwMode="auto">
          <a:xfrm>
            <a:off x="4229100" y="1006857"/>
            <a:ext cx="1079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b="1">
                <a:solidFill>
                  <a:srgbClr val="0000FF"/>
                </a:solidFill>
                <a:ea typeface="宋体" panose="02010600030101010101" pitchFamily="2" charset="-122"/>
              </a:rPr>
              <a:t>插入</a:t>
            </a:r>
            <a:r>
              <a:rPr lang="en-US" altLang="zh-CN" b="1">
                <a:solidFill>
                  <a:srgbClr val="0000FF"/>
                </a:solidFill>
                <a:ea typeface="宋体" panose="02010600030101010101" pitchFamily="2" charset="-122"/>
              </a:rPr>
              <a:t>160</a:t>
            </a:r>
          </a:p>
        </p:txBody>
      </p:sp>
      <p:sp>
        <p:nvSpPr>
          <p:cNvPr id="52229" name="Oval 5"/>
          <p:cNvSpPr>
            <a:spLocks noChangeArrowheads="1"/>
          </p:cNvSpPr>
          <p:nvPr/>
        </p:nvSpPr>
        <p:spPr bwMode="auto">
          <a:xfrm>
            <a:off x="5148263" y="3213100"/>
            <a:ext cx="647700" cy="287338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 b="1">
                <a:ea typeface="宋体" panose="02010600030101010101" pitchFamily="2" charset="-122"/>
              </a:rPr>
              <a:t>160</a:t>
            </a:r>
          </a:p>
        </p:txBody>
      </p:sp>
      <p:sp>
        <p:nvSpPr>
          <p:cNvPr id="52230" name="Oval 6"/>
          <p:cNvSpPr>
            <a:spLocks noChangeArrowheads="1"/>
          </p:cNvSpPr>
          <p:nvPr/>
        </p:nvSpPr>
        <p:spPr bwMode="auto">
          <a:xfrm>
            <a:off x="6300788" y="3213100"/>
            <a:ext cx="647700" cy="287338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 b="1">
                <a:ea typeface="宋体" panose="02010600030101010101" pitchFamily="2" charset="-122"/>
              </a:rPr>
              <a:t>190</a:t>
            </a:r>
          </a:p>
        </p:txBody>
      </p:sp>
      <p:sp>
        <p:nvSpPr>
          <p:cNvPr id="52231" name="Oval 7"/>
          <p:cNvSpPr>
            <a:spLocks noChangeArrowheads="1"/>
          </p:cNvSpPr>
          <p:nvPr/>
        </p:nvSpPr>
        <p:spPr bwMode="auto">
          <a:xfrm>
            <a:off x="5003800" y="2132013"/>
            <a:ext cx="1944688" cy="360362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 b="1">
                <a:ea typeface="宋体" panose="02010600030101010101" pitchFamily="2" charset="-122"/>
              </a:rPr>
              <a:t>150  180  200</a:t>
            </a:r>
          </a:p>
        </p:txBody>
      </p:sp>
      <p:sp>
        <p:nvSpPr>
          <p:cNvPr id="52232" name="Line 8"/>
          <p:cNvSpPr>
            <a:spLocks noChangeShapeType="1"/>
          </p:cNvSpPr>
          <p:nvPr/>
        </p:nvSpPr>
        <p:spPr bwMode="auto">
          <a:xfrm flipH="1">
            <a:off x="5508625" y="2347913"/>
            <a:ext cx="214313" cy="7921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33" name="Line 9"/>
          <p:cNvSpPr>
            <a:spLocks noChangeShapeType="1"/>
          </p:cNvSpPr>
          <p:nvPr/>
        </p:nvSpPr>
        <p:spPr bwMode="auto">
          <a:xfrm>
            <a:off x="6227763" y="2347913"/>
            <a:ext cx="360362" cy="7921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34" name="Oval 10"/>
          <p:cNvSpPr>
            <a:spLocks noChangeArrowheads="1"/>
          </p:cNvSpPr>
          <p:nvPr/>
        </p:nvSpPr>
        <p:spPr bwMode="auto">
          <a:xfrm>
            <a:off x="3563938" y="1552575"/>
            <a:ext cx="1008062" cy="360363"/>
          </a:xfrm>
          <a:prstGeom prst="ellipse">
            <a:avLst/>
          </a:prstGeom>
          <a:solidFill>
            <a:srgbClr val="92D05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 b="1">
                <a:ea typeface="宋体" panose="02010600030101010101" pitchFamily="2" charset="-122"/>
              </a:rPr>
              <a:t>100</a:t>
            </a:r>
          </a:p>
        </p:txBody>
      </p:sp>
      <p:sp>
        <p:nvSpPr>
          <p:cNvPr id="52235" name="Oval 11"/>
          <p:cNvSpPr>
            <a:spLocks noChangeArrowheads="1"/>
          </p:cNvSpPr>
          <p:nvPr/>
        </p:nvSpPr>
        <p:spPr bwMode="auto">
          <a:xfrm>
            <a:off x="1763713" y="2201863"/>
            <a:ext cx="1008062" cy="360362"/>
          </a:xfrm>
          <a:prstGeom prst="ellipse">
            <a:avLst/>
          </a:prstGeom>
          <a:solidFill>
            <a:srgbClr val="92D05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 b="1">
                <a:ea typeface="宋体" panose="02010600030101010101" pitchFamily="2" charset="-122"/>
              </a:rPr>
              <a:t>60</a:t>
            </a:r>
          </a:p>
        </p:txBody>
      </p:sp>
      <p:sp>
        <p:nvSpPr>
          <p:cNvPr id="52236" name="Oval 12"/>
          <p:cNvSpPr>
            <a:spLocks noChangeArrowheads="1"/>
          </p:cNvSpPr>
          <p:nvPr/>
        </p:nvSpPr>
        <p:spPr bwMode="auto">
          <a:xfrm>
            <a:off x="755650" y="3065463"/>
            <a:ext cx="1008063" cy="360362"/>
          </a:xfrm>
          <a:prstGeom prst="ellipse">
            <a:avLst/>
          </a:prstGeom>
          <a:solidFill>
            <a:srgbClr val="92D05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 b="1">
                <a:ea typeface="宋体" panose="02010600030101010101" pitchFamily="2" charset="-122"/>
              </a:rPr>
              <a:t>20  40</a:t>
            </a:r>
          </a:p>
        </p:txBody>
      </p:sp>
      <p:sp>
        <p:nvSpPr>
          <p:cNvPr id="52237" name="Oval 13"/>
          <p:cNvSpPr>
            <a:spLocks noChangeArrowheads="1"/>
          </p:cNvSpPr>
          <p:nvPr/>
        </p:nvSpPr>
        <p:spPr bwMode="auto">
          <a:xfrm>
            <a:off x="2411413" y="3136900"/>
            <a:ext cx="1008062" cy="360363"/>
          </a:xfrm>
          <a:prstGeom prst="ellipse">
            <a:avLst/>
          </a:prstGeom>
          <a:solidFill>
            <a:srgbClr val="92D05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 b="1">
                <a:ea typeface="宋体" panose="02010600030101010101" pitchFamily="2" charset="-122"/>
              </a:rPr>
              <a:t>70  90</a:t>
            </a:r>
          </a:p>
        </p:txBody>
      </p:sp>
      <p:sp>
        <p:nvSpPr>
          <p:cNvPr id="52238" name="Oval 14"/>
          <p:cNvSpPr>
            <a:spLocks noChangeArrowheads="1"/>
          </p:cNvSpPr>
          <p:nvPr/>
        </p:nvSpPr>
        <p:spPr bwMode="auto">
          <a:xfrm>
            <a:off x="3779838" y="3141663"/>
            <a:ext cx="1295400" cy="358775"/>
          </a:xfrm>
          <a:prstGeom prst="ellipse">
            <a:avLst/>
          </a:prstGeom>
          <a:solidFill>
            <a:srgbClr val="92D05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 b="1">
                <a:ea typeface="宋体" panose="02010600030101010101" pitchFamily="2" charset="-122"/>
              </a:rPr>
              <a:t>120  140</a:t>
            </a:r>
          </a:p>
        </p:txBody>
      </p:sp>
      <p:sp>
        <p:nvSpPr>
          <p:cNvPr id="52239" name="Oval 15"/>
          <p:cNvSpPr>
            <a:spLocks noChangeArrowheads="1"/>
          </p:cNvSpPr>
          <p:nvPr/>
        </p:nvSpPr>
        <p:spPr bwMode="auto">
          <a:xfrm>
            <a:off x="7378700" y="3138488"/>
            <a:ext cx="1296988" cy="358775"/>
          </a:xfrm>
          <a:prstGeom prst="ellipse">
            <a:avLst/>
          </a:prstGeom>
          <a:solidFill>
            <a:srgbClr val="92D05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 b="1">
                <a:ea typeface="宋体" panose="02010600030101010101" pitchFamily="2" charset="-122"/>
              </a:rPr>
              <a:t>210  260</a:t>
            </a:r>
          </a:p>
        </p:txBody>
      </p:sp>
      <p:sp>
        <p:nvSpPr>
          <p:cNvPr id="52240" name="Line 16"/>
          <p:cNvSpPr>
            <a:spLocks noChangeShapeType="1"/>
          </p:cNvSpPr>
          <p:nvPr/>
        </p:nvSpPr>
        <p:spPr bwMode="auto">
          <a:xfrm flipH="1">
            <a:off x="2771775" y="1770063"/>
            <a:ext cx="1079500" cy="5032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41" name="Line 17"/>
          <p:cNvSpPr>
            <a:spLocks noChangeShapeType="1"/>
          </p:cNvSpPr>
          <p:nvPr/>
        </p:nvSpPr>
        <p:spPr bwMode="auto">
          <a:xfrm flipH="1">
            <a:off x="1403350" y="2417763"/>
            <a:ext cx="576263" cy="6477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42" name="Line 18"/>
          <p:cNvSpPr>
            <a:spLocks noChangeShapeType="1"/>
          </p:cNvSpPr>
          <p:nvPr/>
        </p:nvSpPr>
        <p:spPr bwMode="auto">
          <a:xfrm flipH="1">
            <a:off x="4427538" y="2347913"/>
            <a:ext cx="792162" cy="7175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43" name="Line 19"/>
          <p:cNvSpPr>
            <a:spLocks noChangeShapeType="1"/>
          </p:cNvSpPr>
          <p:nvPr/>
        </p:nvSpPr>
        <p:spPr bwMode="auto">
          <a:xfrm>
            <a:off x="4354513" y="1770063"/>
            <a:ext cx="1081087" cy="431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44" name="Line 20"/>
          <p:cNvSpPr>
            <a:spLocks noChangeShapeType="1"/>
          </p:cNvSpPr>
          <p:nvPr/>
        </p:nvSpPr>
        <p:spPr bwMode="auto">
          <a:xfrm>
            <a:off x="6804025" y="2276475"/>
            <a:ext cx="1223963" cy="7905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45" name="Line 21"/>
          <p:cNvSpPr>
            <a:spLocks noChangeShapeType="1"/>
          </p:cNvSpPr>
          <p:nvPr/>
        </p:nvSpPr>
        <p:spPr bwMode="auto">
          <a:xfrm>
            <a:off x="2484438" y="2344738"/>
            <a:ext cx="503237" cy="7921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46" name="AutoShape 22"/>
          <p:cNvSpPr>
            <a:spLocks noChangeArrowheads="1"/>
          </p:cNvSpPr>
          <p:nvPr/>
        </p:nvSpPr>
        <p:spPr bwMode="auto">
          <a:xfrm>
            <a:off x="6934200" y="3820120"/>
            <a:ext cx="285750" cy="43180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0000FF"/>
          </a:solidFill>
          <a:ln w="28575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endParaRPr lang="zh-CN" altLang="en-US"/>
          </a:p>
        </p:txBody>
      </p:sp>
      <p:sp>
        <p:nvSpPr>
          <p:cNvPr id="52247" name="Oval 23"/>
          <p:cNvSpPr>
            <a:spLocks noChangeArrowheads="1"/>
          </p:cNvSpPr>
          <p:nvPr/>
        </p:nvSpPr>
        <p:spPr bwMode="auto">
          <a:xfrm>
            <a:off x="5003800" y="6021983"/>
            <a:ext cx="647700" cy="287337"/>
          </a:xfrm>
          <a:prstGeom prst="ellipse">
            <a:avLst/>
          </a:prstGeom>
          <a:solidFill>
            <a:srgbClr val="FFC0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 b="1" dirty="0">
                <a:ea typeface="宋体" panose="02010600030101010101" pitchFamily="2" charset="-122"/>
              </a:rPr>
              <a:t>160</a:t>
            </a:r>
          </a:p>
        </p:txBody>
      </p:sp>
      <p:sp>
        <p:nvSpPr>
          <p:cNvPr id="52248" name="Oval 24"/>
          <p:cNvSpPr>
            <a:spLocks noChangeArrowheads="1"/>
          </p:cNvSpPr>
          <p:nvPr/>
        </p:nvSpPr>
        <p:spPr bwMode="auto">
          <a:xfrm>
            <a:off x="5795963" y="6020395"/>
            <a:ext cx="647700" cy="288925"/>
          </a:xfrm>
          <a:prstGeom prst="ellipse">
            <a:avLst/>
          </a:prstGeom>
          <a:solidFill>
            <a:srgbClr val="FFC0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 b="1" dirty="0">
                <a:ea typeface="宋体" panose="02010600030101010101" pitchFamily="2" charset="-122"/>
              </a:rPr>
              <a:t>190</a:t>
            </a:r>
          </a:p>
        </p:txBody>
      </p:sp>
      <p:sp>
        <p:nvSpPr>
          <p:cNvPr id="52249" name="Oval 25"/>
          <p:cNvSpPr>
            <a:spLocks noChangeArrowheads="1"/>
          </p:cNvSpPr>
          <p:nvPr/>
        </p:nvSpPr>
        <p:spPr bwMode="auto">
          <a:xfrm>
            <a:off x="6227763" y="4940895"/>
            <a:ext cx="935037" cy="360363"/>
          </a:xfrm>
          <a:prstGeom prst="ellipse">
            <a:avLst/>
          </a:prstGeom>
          <a:solidFill>
            <a:srgbClr val="FFC0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 b="1">
                <a:ea typeface="宋体" panose="02010600030101010101" pitchFamily="2" charset="-122"/>
              </a:rPr>
              <a:t>200</a:t>
            </a:r>
          </a:p>
        </p:txBody>
      </p:sp>
      <p:sp>
        <p:nvSpPr>
          <p:cNvPr id="52250" name="Line 26"/>
          <p:cNvSpPr>
            <a:spLocks noChangeShapeType="1"/>
          </p:cNvSpPr>
          <p:nvPr/>
        </p:nvSpPr>
        <p:spPr bwMode="auto">
          <a:xfrm flipH="1">
            <a:off x="6084888" y="5083770"/>
            <a:ext cx="358775" cy="8651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51" name="Oval 27"/>
          <p:cNvSpPr>
            <a:spLocks noChangeArrowheads="1"/>
          </p:cNvSpPr>
          <p:nvPr/>
        </p:nvSpPr>
        <p:spPr bwMode="auto">
          <a:xfrm>
            <a:off x="3563938" y="4293195"/>
            <a:ext cx="1871662" cy="360363"/>
          </a:xfrm>
          <a:prstGeom prst="ellipse">
            <a:avLst/>
          </a:prstGeom>
          <a:solidFill>
            <a:srgbClr val="FFC0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 b="1" dirty="0">
                <a:ea typeface="宋体" panose="02010600030101010101" pitchFamily="2" charset="-122"/>
              </a:rPr>
              <a:t>100  180</a:t>
            </a:r>
          </a:p>
        </p:txBody>
      </p:sp>
      <p:sp>
        <p:nvSpPr>
          <p:cNvPr id="52252" name="Oval 28"/>
          <p:cNvSpPr>
            <a:spLocks noChangeArrowheads="1"/>
          </p:cNvSpPr>
          <p:nvPr/>
        </p:nvSpPr>
        <p:spPr bwMode="auto">
          <a:xfrm>
            <a:off x="1908175" y="5010745"/>
            <a:ext cx="1008063" cy="360363"/>
          </a:xfrm>
          <a:prstGeom prst="ellipse">
            <a:avLst/>
          </a:prstGeom>
          <a:solidFill>
            <a:srgbClr val="92D05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 b="1">
                <a:ea typeface="宋体" panose="02010600030101010101" pitchFamily="2" charset="-122"/>
              </a:rPr>
              <a:t>60</a:t>
            </a:r>
          </a:p>
        </p:txBody>
      </p:sp>
      <p:sp>
        <p:nvSpPr>
          <p:cNvPr id="52253" name="Oval 29"/>
          <p:cNvSpPr>
            <a:spLocks noChangeArrowheads="1"/>
          </p:cNvSpPr>
          <p:nvPr/>
        </p:nvSpPr>
        <p:spPr bwMode="auto">
          <a:xfrm>
            <a:off x="900113" y="5948958"/>
            <a:ext cx="1008062" cy="360362"/>
          </a:xfrm>
          <a:prstGeom prst="ellipse">
            <a:avLst/>
          </a:prstGeom>
          <a:solidFill>
            <a:srgbClr val="92D05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 b="1">
                <a:ea typeface="宋体" panose="02010600030101010101" pitchFamily="2" charset="-122"/>
              </a:rPr>
              <a:t>20  40</a:t>
            </a:r>
          </a:p>
        </p:txBody>
      </p:sp>
      <p:sp>
        <p:nvSpPr>
          <p:cNvPr id="52254" name="Oval 30"/>
          <p:cNvSpPr>
            <a:spLocks noChangeArrowheads="1"/>
          </p:cNvSpPr>
          <p:nvPr/>
        </p:nvSpPr>
        <p:spPr bwMode="auto">
          <a:xfrm>
            <a:off x="2268538" y="5948958"/>
            <a:ext cx="1008062" cy="360362"/>
          </a:xfrm>
          <a:prstGeom prst="ellipse">
            <a:avLst/>
          </a:prstGeom>
          <a:solidFill>
            <a:srgbClr val="92D05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 b="1">
                <a:ea typeface="宋体" panose="02010600030101010101" pitchFamily="2" charset="-122"/>
              </a:rPr>
              <a:t>70  90</a:t>
            </a:r>
          </a:p>
        </p:txBody>
      </p:sp>
      <p:sp>
        <p:nvSpPr>
          <p:cNvPr id="52255" name="Oval 31"/>
          <p:cNvSpPr>
            <a:spLocks noChangeArrowheads="1"/>
          </p:cNvSpPr>
          <p:nvPr/>
        </p:nvSpPr>
        <p:spPr bwMode="auto">
          <a:xfrm>
            <a:off x="3419475" y="5950545"/>
            <a:ext cx="1295400" cy="358775"/>
          </a:xfrm>
          <a:prstGeom prst="ellipse">
            <a:avLst/>
          </a:prstGeom>
          <a:solidFill>
            <a:srgbClr val="92D05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 b="1" dirty="0">
                <a:ea typeface="宋体" panose="02010600030101010101" pitchFamily="2" charset="-122"/>
              </a:rPr>
              <a:t>120  140</a:t>
            </a:r>
          </a:p>
        </p:txBody>
      </p:sp>
      <p:sp>
        <p:nvSpPr>
          <p:cNvPr id="52256" name="Oval 32"/>
          <p:cNvSpPr>
            <a:spLocks noChangeArrowheads="1"/>
          </p:cNvSpPr>
          <p:nvPr/>
        </p:nvSpPr>
        <p:spPr bwMode="auto">
          <a:xfrm>
            <a:off x="6877050" y="5948958"/>
            <a:ext cx="1296988" cy="358775"/>
          </a:xfrm>
          <a:prstGeom prst="ellipse">
            <a:avLst/>
          </a:prstGeom>
          <a:solidFill>
            <a:srgbClr val="92D05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 b="1">
                <a:ea typeface="宋体" panose="02010600030101010101" pitchFamily="2" charset="-122"/>
              </a:rPr>
              <a:t>210  260</a:t>
            </a:r>
          </a:p>
        </p:txBody>
      </p:sp>
      <p:sp>
        <p:nvSpPr>
          <p:cNvPr id="52257" name="Line 33"/>
          <p:cNvSpPr>
            <a:spLocks noChangeShapeType="1"/>
          </p:cNvSpPr>
          <p:nvPr/>
        </p:nvSpPr>
        <p:spPr bwMode="auto">
          <a:xfrm flipH="1">
            <a:off x="2700338" y="4436070"/>
            <a:ext cx="1223962" cy="5048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58" name="Line 34"/>
          <p:cNvSpPr>
            <a:spLocks noChangeShapeType="1"/>
          </p:cNvSpPr>
          <p:nvPr/>
        </p:nvSpPr>
        <p:spPr bwMode="auto">
          <a:xfrm flipH="1">
            <a:off x="1547813" y="5156795"/>
            <a:ext cx="576262" cy="7175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59" name="Line 35"/>
          <p:cNvSpPr>
            <a:spLocks noChangeShapeType="1"/>
          </p:cNvSpPr>
          <p:nvPr/>
        </p:nvSpPr>
        <p:spPr bwMode="auto">
          <a:xfrm>
            <a:off x="5076825" y="4509095"/>
            <a:ext cx="1150938" cy="431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60" name="Line 36"/>
          <p:cNvSpPr>
            <a:spLocks noChangeShapeType="1"/>
          </p:cNvSpPr>
          <p:nvPr/>
        </p:nvSpPr>
        <p:spPr bwMode="auto">
          <a:xfrm>
            <a:off x="6946900" y="5085358"/>
            <a:ext cx="504825" cy="863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61" name="Line 37"/>
          <p:cNvSpPr>
            <a:spLocks noChangeShapeType="1"/>
          </p:cNvSpPr>
          <p:nvPr/>
        </p:nvSpPr>
        <p:spPr bwMode="auto">
          <a:xfrm>
            <a:off x="2627313" y="5153620"/>
            <a:ext cx="287337" cy="7223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62" name="Oval 38"/>
          <p:cNvSpPr>
            <a:spLocks noChangeArrowheads="1"/>
          </p:cNvSpPr>
          <p:nvPr/>
        </p:nvSpPr>
        <p:spPr bwMode="auto">
          <a:xfrm>
            <a:off x="4067175" y="5012333"/>
            <a:ext cx="1008063" cy="287337"/>
          </a:xfrm>
          <a:prstGeom prst="ellipse">
            <a:avLst/>
          </a:prstGeom>
          <a:solidFill>
            <a:srgbClr val="FFC0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 b="1">
                <a:ea typeface="宋体" panose="02010600030101010101" pitchFamily="2" charset="-122"/>
              </a:rPr>
              <a:t>150</a:t>
            </a:r>
          </a:p>
        </p:txBody>
      </p:sp>
      <p:sp>
        <p:nvSpPr>
          <p:cNvPr id="52263" name="Line 39"/>
          <p:cNvSpPr>
            <a:spLocks noChangeShapeType="1"/>
          </p:cNvSpPr>
          <p:nvPr/>
        </p:nvSpPr>
        <p:spPr bwMode="auto">
          <a:xfrm flipH="1">
            <a:off x="3924300" y="5156795"/>
            <a:ext cx="431800" cy="7191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64" name="Line 40"/>
          <p:cNvSpPr>
            <a:spLocks noChangeShapeType="1"/>
          </p:cNvSpPr>
          <p:nvPr/>
        </p:nvSpPr>
        <p:spPr bwMode="auto">
          <a:xfrm>
            <a:off x="4857750" y="5156795"/>
            <a:ext cx="434975" cy="7921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65" name="Line 41"/>
          <p:cNvSpPr>
            <a:spLocks noChangeShapeType="1"/>
          </p:cNvSpPr>
          <p:nvPr/>
        </p:nvSpPr>
        <p:spPr bwMode="auto">
          <a:xfrm>
            <a:off x="4498975" y="4436070"/>
            <a:ext cx="1588" cy="5048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66" name="AutoShape 42"/>
          <p:cNvSpPr>
            <a:spLocks noChangeArrowheads="1"/>
          </p:cNvSpPr>
          <p:nvPr/>
        </p:nvSpPr>
        <p:spPr bwMode="auto">
          <a:xfrm>
            <a:off x="6913562" y="1444625"/>
            <a:ext cx="285750" cy="43180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0000FF"/>
          </a:solidFill>
          <a:ln w="28575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65</a:t>
            </a:fld>
            <a:endParaRPr lang="zh-CN" altLang="en-US" dirty="0"/>
          </a:p>
        </p:txBody>
      </p:sp>
      <p:grpSp>
        <p:nvGrpSpPr>
          <p:cNvPr id="45" name="组合 114"/>
          <p:cNvGrpSpPr/>
          <p:nvPr/>
        </p:nvGrpSpPr>
        <p:grpSpPr>
          <a:xfrm>
            <a:off x="-396552" y="76388"/>
            <a:ext cx="6775654" cy="679510"/>
            <a:chOff x="-99459" y="3320919"/>
            <a:chExt cx="7301815" cy="722576"/>
          </a:xfrm>
        </p:grpSpPr>
        <p:grpSp>
          <p:nvGrpSpPr>
            <p:cNvPr id="46" name="组合 105"/>
            <p:cNvGrpSpPr/>
            <p:nvPr/>
          </p:nvGrpSpPr>
          <p:grpSpPr>
            <a:xfrm>
              <a:off x="-99459" y="3320919"/>
              <a:ext cx="7301815" cy="722576"/>
              <a:chOff x="-99459" y="3320919"/>
              <a:chExt cx="7301815" cy="722576"/>
            </a:xfrm>
          </p:grpSpPr>
          <p:sp>
            <p:nvSpPr>
              <p:cNvPr id="48" name="Freeform 5"/>
              <p:cNvSpPr>
                <a:spLocks/>
              </p:cNvSpPr>
              <p:nvPr/>
            </p:nvSpPr>
            <p:spPr bwMode="auto">
              <a:xfrm>
                <a:off x="933887" y="3380765"/>
                <a:ext cx="801702" cy="662730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EA6103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  <p:sp>
            <p:nvSpPr>
              <p:cNvPr id="49" name="TextBox 6"/>
              <p:cNvSpPr txBox="1">
                <a:spLocks noChangeArrowheads="1"/>
              </p:cNvSpPr>
              <p:nvPr/>
            </p:nvSpPr>
            <p:spPr bwMode="auto">
              <a:xfrm>
                <a:off x="-99459" y="3320919"/>
                <a:ext cx="7301815" cy="687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10.3 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树表的查找</a:t>
                </a:r>
              </a:p>
            </p:txBody>
          </p:sp>
        </p:grpSp>
        <p:pic>
          <p:nvPicPr>
            <p:cNvPr id="47" name="图片 46" descr="12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5929" y="3530600"/>
              <a:ext cx="446172" cy="431048"/>
            </a:xfrm>
            <a:prstGeom prst="rect">
              <a:avLst/>
            </a:prstGeom>
          </p:spPr>
        </p:pic>
      </p:grpSp>
      <p:sp>
        <p:nvSpPr>
          <p:cNvPr id="50" name="矩形 49"/>
          <p:cNvSpPr/>
          <p:nvPr/>
        </p:nvSpPr>
        <p:spPr>
          <a:xfrm>
            <a:off x="487458" y="1001888"/>
            <a:ext cx="2409634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800" b="1" dirty="0"/>
              <a:t>10.3.3  B-</a:t>
            </a:r>
            <a:r>
              <a:rPr lang="zh-CN" altLang="en-US" sz="2800" b="1" dirty="0"/>
              <a:t>树</a:t>
            </a:r>
          </a:p>
        </p:txBody>
      </p:sp>
    </p:spTree>
    <p:extLst>
      <p:ext uri="{BB962C8B-B14F-4D97-AF65-F5344CB8AC3E}">
        <p14:creationId xmlns:p14="http://schemas.microsoft.com/office/powerpoint/2010/main" val="101630732"/>
      </p:ext>
    </p:extLst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8" grpId="0" autoUpdateAnimBg="0"/>
      <p:bldP spid="52229" grpId="0" animBg="1" autoUpdateAnimBg="0"/>
      <p:bldP spid="52230" grpId="0" animBg="1" autoUpdateAnimBg="0"/>
      <p:bldP spid="52231" grpId="0" animBg="1" autoUpdateAnimBg="0"/>
      <p:bldP spid="52234" grpId="0" animBg="1" autoUpdateAnimBg="0"/>
      <p:bldP spid="52235" grpId="0" animBg="1" autoUpdateAnimBg="0"/>
      <p:bldP spid="52236" grpId="0" animBg="1" autoUpdateAnimBg="0"/>
      <p:bldP spid="52237" grpId="0" animBg="1" autoUpdateAnimBg="0"/>
      <p:bldP spid="52238" grpId="0" animBg="1" autoUpdateAnimBg="0"/>
      <p:bldP spid="52239" grpId="0" animBg="1" autoUpdateAnimBg="0"/>
      <p:bldP spid="52246" grpId="0" animBg="1"/>
      <p:bldP spid="52247" grpId="0" animBg="1" autoUpdateAnimBg="0"/>
      <p:bldP spid="52248" grpId="0" animBg="1" autoUpdateAnimBg="0"/>
      <p:bldP spid="52249" grpId="0" animBg="1" autoUpdateAnimBg="0"/>
      <p:bldP spid="52251" grpId="0" animBg="1" autoUpdateAnimBg="0"/>
      <p:bldP spid="52252" grpId="0" animBg="1" autoUpdateAnimBg="0"/>
      <p:bldP spid="52253" grpId="0" animBg="1" autoUpdateAnimBg="0"/>
      <p:bldP spid="52254" grpId="0" animBg="1" autoUpdateAnimBg="0"/>
      <p:bldP spid="52255" grpId="0" animBg="1" autoUpdateAnimBg="0"/>
      <p:bldP spid="52256" grpId="0" animBg="1" autoUpdateAnimBg="0"/>
      <p:bldP spid="52262" grpId="0" animBg="1" autoUpdateAnimBg="0"/>
      <p:bldP spid="52266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8" y="1520825"/>
            <a:ext cx="8820471" cy="5111750"/>
          </a:xfrm>
        </p:spPr>
        <p:txBody>
          <a:bodyPr/>
          <a:lstStyle/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/>
              <a:t>删除关键字</a:t>
            </a:r>
          </a:p>
          <a:p>
            <a:pPr marL="928688" lvl="1" indent="-457200" eaLnBrk="1" hangingPunct="1">
              <a:buClr>
                <a:srgbClr val="FF0000"/>
              </a:buClr>
            </a:pPr>
            <a:r>
              <a:rPr lang="zh-CN" altLang="en-US" sz="2400" b="1" dirty="0"/>
              <a:t>若删除的关键字不在叶子结点中，用其前驱或后继来替换</a:t>
            </a:r>
          </a:p>
          <a:p>
            <a:pPr marL="928688" lvl="1" indent="-457200" eaLnBrk="1" hangingPunct="1">
              <a:buClr>
                <a:srgbClr val="FF0000"/>
              </a:buClr>
            </a:pPr>
            <a:r>
              <a:rPr lang="zh-CN" altLang="en-US" sz="2400" b="1" dirty="0"/>
              <a:t>删除叶子结点中的关键字</a:t>
            </a:r>
          </a:p>
          <a:p>
            <a:pPr marL="495300" indent="-495300" eaLnBrk="1" hangingPunct="1">
              <a:buFont typeface="Wingdings" panose="05000000000000000000" pitchFamily="2" charset="2"/>
              <a:buNone/>
            </a:pPr>
            <a:r>
              <a:rPr lang="zh-CN" altLang="en-US" sz="2000" b="1" dirty="0"/>
              <a:t>              删除关键字后依然能满足</a:t>
            </a:r>
            <a:r>
              <a:rPr lang="en-US" altLang="zh-CN" sz="2000" b="1" dirty="0"/>
              <a:t>B-</a:t>
            </a:r>
            <a:r>
              <a:rPr lang="zh-CN" altLang="en-US" sz="2000" b="1" dirty="0"/>
              <a:t>树的条件，则结束</a:t>
            </a:r>
          </a:p>
          <a:p>
            <a:pPr marL="495300" indent="-495300" eaLnBrk="1" hangingPunct="1">
              <a:buFont typeface="Wingdings" panose="05000000000000000000" pitchFamily="2" charset="2"/>
              <a:buNone/>
            </a:pPr>
            <a:r>
              <a:rPr lang="zh-CN" altLang="en-US" sz="2000" b="1" dirty="0"/>
              <a:t>              否则，若左右兄弟中有多余的关键字，则调整一下，否则合三为一。</a:t>
            </a:r>
          </a:p>
        </p:txBody>
      </p:sp>
      <p:sp>
        <p:nvSpPr>
          <p:cNvPr id="53252" name="Oval 4"/>
          <p:cNvSpPr>
            <a:spLocks noChangeArrowheads="1"/>
          </p:cNvSpPr>
          <p:nvPr/>
        </p:nvSpPr>
        <p:spPr bwMode="auto">
          <a:xfrm>
            <a:off x="3922713" y="4003005"/>
            <a:ext cx="1008062" cy="360362"/>
          </a:xfrm>
          <a:prstGeom prst="ellipse">
            <a:avLst/>
          </a:prstGeom>
          <a:solidFill>
            <a:srgbClr val="92D05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100</a:t>
            </a:r>
          </a:p>
        </p:txBody>
      </p:sp>
      <p:sp>
        <p:nvSpPr>
          <p:cNvPr id="53253" name="Oval 5"/>
          <p:cNvSpPr>
            <a:spLocks noChangeArrowheads="1"/>
          </p:cNvSpPr>
          <p:nvPr/>
        </p:nvSpPr>
        <p:spPr bwMode="auto">
          <a:xfrm>
            <a:off x="2122488" y="4652292"/>
            <a:ext cx="1008062" cy="360363"/>
          </a:xfrm>
          <a:prstGeom prst="ellipse">
            <a:avLst/>
          </a:prstGeom>
          <a:solidFill>
            <a:srgbClr val="92D05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60</a:t>
            </a:r>
          </a:p>
        </p:txBody>
      </p:sp>
      <p:sp>
        <p:nvSpPr>
          <p:cNvPr id="53254" name="Oval 6"/>
          <p:cNvSpPr>
            <a:spLocks noChangeArrowheads="1"/>
          </p:cNvSpPr>
          <p:nvPr/>
        </p:nvSpPr>
        <p:spPr bwMode="auto">
          <a:xfrm>
            <a:off x="5651500" y="4652292"/>
            <a:ext cx="1366838" cy="360363"/>
          </a:xfrm>
          <a:prstGeom prst="ellipse">
            <a:avLst/>
          </a:prstGeom>
          <a:solidFill>
            <a:srgbClr val="92D05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150  200</a:t>
            </a:r>
          </a:p>
        </p:txBody>
      </p:sp>
      <p:sp>
        <p:nvSpPr>
          <p:cNvPr id="53255" name="Oval 7"/>
          <p:cNvSpPr>
            <a:spLocks noChangeArrowheads="1"/>
          </p:cNvSpPr>
          <p:nvPr/>
        </p:nvSpPr>
        <p:spPr bwMode="auto">
          <a:xfrm>
            <a:off x="754063" y="5587330"/>
            <a:ext cx="1008062" cy="360362"/>
          </a:xfrm>
          <a:prstGeom prst="ellipse">
            <a:avLst/>
          </a:prstGeom>
          <a:solidFill>
            <a:srgbClr val="92D05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20  40</a:t>
            </a:r>
          </a:p>
        </p:txBody>
      </p:sp>
      <p:sp>
        <p:nvSpPr>
          <p:cNvPr id="53256" name="Oval 8"/>
          <p:cNvSpPr>
            <a:spLocks noChangeArrowheads="1"/>
          </p:cNvSpPr>
          <p:nvPr/>
        </p:nvSpPr>
        <p:spPr bwMode="auto">
          <a:xfrm>
            <a:off x="2625725" y="5587330"/>
            <a:ext cx="1008063" cy="360362"/>
          </a:xfrm>
          <a:prstGeom prst="ellipse">
            <a:avLst/>
          </a:prstGeom>
          <a:solidFill>
            <a:srgbClr val="92D05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70  90</a:t>
            </a:r>
          </a:p>
        </p:txBody>
      </p:sp>
      <p:sp>
        <p:nvSpPr>
          <p:cNvPr id="53257" name="Oval 9"/>
          <p:cNvSpPr>
            <a:spLocks noChangeArrowheads="1"/>
          </p:cNvSpPr>
          <p:nvPr/>
        </p:nvSpPr>
        <p:spPr bwMode="auto">
          <a:xfrm>
            <a:off x="4138613" y="5588917"/>
            <a:ext cx="1295400" cy="358775"/>
          </a:xfrm>
          <a:prstGeom prst="ellipse">
            <a:avLst/>
          </a:prstGeom>
          <a:solidFill>
            <a:srgbClr val="92D05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120  140</a:t>
            </a:r>
          </a:p>
        </p:txBody>
      </p:sp>
      <p:sp>
        <p:nvSpPr>
          <p:cNvPr id="53258" name="Oval 10"/>
          <p:cNvSpPr>
            <a:spLocks noChangeArrowheads="1"/>
          </p:cNvSpPr>
          <p:nvPr/>
        </p:nvSpPr>
        <p:spPr bwMode="auto">
          <a:xfrm>
            <a:off x="5867400" y="5588917"/>
            <a:ext cx="865188" cy="360363"/>
          </a:xfrm>
          <a:prstGeom prst="ellipse">
            <a:avLst/>
          </a:prstGeom>
          <a:solidFill>
            <a:srgbClr val="92D05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180</a:t>
            </a:r>
          </a:p>
        </p:txBody>
      </p:sp>
      <p:sp>
        <p:nvSpPr>
          <p:cNvPr id="53259" name="Oval 11"/>
          <p:cNvSpPr>
            <a:spLocks noChangeArrowheads="1"/>
          </p:cNvSpPr>
          <p:nvPr/>
        </p:nvSpPr>
        <p:spPr bwMode="auto">
          <a:xfrm>
            <a:off x="7162800" y="5588917"/>
            <a:ext cx="1296988" cy="358775"/>
          </a:xfrm>
          <a:prstGeom prst="ellipse">
            <a:avLst/>
          </a:prstGeom>
          <a:solidFill>
            <a:srgbClr val="92D05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210  260</a:t>
            </a:r>
          </a:p>
        </p:txBody>
      </p:sp>
      <p:sp>
        <p:nvSpPr>
          <p:cNvPr id="53260" name="Line 12"/>
          <p:cNvSpPr>
            <a:spLocks noChangeShapeType="1"/>
          </p:cNvSpPr>
          <p:nvPr/>
        </p:nvSpPr>
        <p:spPr bwMode="auto">
          <a:xfrm flipH="1">
            <a:off x="3130550" y="4220492"/>
            <a:ext cx="1079500" cy="5032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61" name="Line 13"/>
          <p:cNvSpPr>
            <a:spLocks noChangeShapeType="1"/>
          </p:cNvSpPr>
          <p:nvPr/>
        </p:nvSpPr>
        <p:spPr bwMode="auto">
          <a:xfrm flipH="1">
            <a:off x="1331913" y="4868192"/>
            <a:ext cx="1006475" cy="6477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62" name="Line 14"/>
          <p:cNvSpPr>
            <a:spLocks noChangeShapeType="1"/>
          </p:cNvSpPr>
          <p:nvPr/>
        </p:nvSpPr>
        <p:spPr bwMode="auto">
          <a:xfrm flipH="1">
            <a:off x="4786313" y="4868192"/>
            <a:ext cx="1081087" cy="6477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63" name="Line 15"/>
          <p:cNvSpPr>
            <a:spLocks noChangeShapeType="1"/>
          </p:cNvSpPr>
          <p:nvPr/>
        </p:nvSpPr>
        <p:spPr bwMode="auto">
          <a:xfrm>
            <a:off x="4713288" y="4220492"/>
            <a:ext cx="1081087" cy="431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64" name="Line 16"/>
          <p:cNvSpPr>
            <a:spLocks noChangeShapeType="1"/>
          </p:cNvSpPr>
          <p:nvPr/>
        </p:nvSpPr>
        <p:spPr bwMode="auto">
          <a:xfrm flipH="1">
            <a:off x="6299200" y="4868192"/>
            <a:ext cx="0" cy="6477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65" name="Line 17"/>
          <p:cNvSpPr>
            <a:spLocks noChangeShapeType="1"/>
          </p:cNvSpPr>
          <p:nvPr/>
        </p:nvSpPr>
        <p:spPr bwMode="auto">
          <a:xfrm>
            <a:off x="6802438" y="4868192"/>
            <a:ext cx="1008062" cy="6477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66" name="Line 18"/>
          <p:cNvSpPr>
            <a:spLocks noChangeShapeType="1"/>
          </p:cNvSpPr>
          <p:nvPr/>
        </p:nvSpPr>
        <p:spPr bwMode="auto">
          <a:xfrm>
            <a:off x="2843213" y="4795167"/>
            <a:ext cx="504825" cy="7207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67" name="Text Box 19"/>
          <p:cNvSpPr txBox="1">
            <a:spLocks noChangeArrowheads="1"/>
          </p:cNvSpPr>
          <p:nvPr/>
        </p:nvSpPr>
        <p:spPr bwMode="auto">
          <a:xfrm>
            <a:off x="6226175" y="3860130"/>
            <a:ext cx="10795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b="1">
                <a:solidFill>
                  <a:srgbClr val="0000FF"/>
                </a:solidFill>
                <a:ea typeface="宋体" panose="02010600030101010101" pitchFamily="2" charset="-122"/>
              </a:rPr>
              <a:t>删除</a:t>
            </a: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20</a:t>
            </a:r>
          </a:p>
        </p:txBody>
      </p:sp>
      <p:sp>
        <p:nvSpPr>
          <p:cNvPr id="53268" name="Oval 20"/>
          <p:cNvSpPr>
            <a:spLocks noChangeArrowheads="1"/>
          </p:cNvSpPr>
          <p:nvPr/>
        </p:nvSpPr>
        <p:spPr bwMode="auto">
          <a:xfrm>
            <a:off x="755650" y="5588917"/>
            <a:ext cx="1008063" cy="360363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40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66</a:t>
            </a:fld>
            <a:endParaRPr lang="zh-CN" altLang="en-US" dirty="0"/>
          </a:p>
        </p:txBody>
      </p:sp>
      <p:grpSp>
        <p:nvGrpSpPr>
          <p:cNvPr id="23" name="组合 114"/>
          <p:cNvGrpSpPr/>
          <p:nvPr/>
        </p:nvGrpSpPr>
        <p:grpSpPr>
          <a:xfrm>
            <a:off x="-396552" y="76388"/>
            <a:ext cx="6775654" cy="679510"/>
            <a:chOff x="-99459" y="3320919"/>
            <a:chExt cx="7301815" cy="722576"/>
          </a:xfrm>
        </p:grpSpPr>
        <p:grpSp>
          <p:nvGrpSpPr>
            <p:cNvPr id="24" name="组合 105"/>
            <p:cNvGrpSpPr/>
            <p:nvPr/>
          </p:nvGrpSpPr>
          <p:grpSpPr>
            <a:xfrm>
              <a:off x="-99459" y="3320919"/>
              <a:ext cx="7301815" cy="722576"/>
              <a:chOff x="-99459" y="3320919"/>
              <a:chExt cx="7301815" cy="722576"/>
            </a:xfrm>
          </p:grpSpPr>
          <p:sp>
            <p:nvSpPr>
              <p:cNvPr id="26" name="Freeform 5"/>
              <p:cNvSpPr>
                <a:spLocks/>
              </p:cNvSpPr>
              <p:nvPr/>
            </p:nvSpPr>
            <p:spPr bwMode="auto">
              <a:xfrm>
                <a:off x="933887" y="3380765"/>
                <a:ext cx="801702" cy="662730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EA6103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  <p:sp>
            <p:nvSpPr>
              <p:cNvPr id="27" name="TextBox 6"/>
              <p:cNvSpPr txBox="1">
                <a:spLocks noChangeArrowheads="1"/>
              </p:cNvSpPr>
              <p:nvPr/>
            </p:nvSpPr>
            <p:spPr bwMode="auto">
              <a:xfrm>
                <a:off x="-99459" y="3320919"/>
                <a:ext cx="7301815" cy="687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10.3 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树表的查找</a:t>
                </a:r>
              </a:p>
            </p:txBody>
          </p:sp>
        </p:grpSp>
        <p:pic>
          <p:nvPicPr>
            <p:cNvPr id="25" name="图片 24" descr="12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5929" y="3530600"/>
              <a:ext cx="446172" cy="431048"/>
            </a:xfrm>
            <a:prstGeom prst="rect">
              <a:avLst/>
            </a:prstGeom>
          </p:spPr>
        </p:pic>
      </p:grpSp>
      <p:sp>
        <p:nvSpPr>
          <p:cNvPr id="28" name="矩形 27"/>
          <p:cNvSpPr/>
          <p:nvPr/>
        </p:nvSpPr>
        <p:spPr>
          <a:xfrm>
            <a:off x="210747" y="1002935"/>
            <a:ext cx="2409634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800" b="1" dirty="0"/>
              <a:t>10.3.3  B-</a:t>
            </a:r>
            <a:r>
              <a:rPr lang="zh-CN" altLang="en-US" sz="2800" b="1" dirty="0"/>
              <a:t>树</a:t>
            </a:r>
          </a:p>
        </p:txBody>
      </p:sp>
    </p:spTree>
    <p:extLst>
      <p:ext uri="{BB962C8B-B14F-4D97-AF65-F5344CB8AC3E}">
        <p14:creationId xmlns:p14="http://schemas.microsoft.com/office/powerpoint/2010/main" val="4035096797"/>
      </p:ext>
    </p:extLst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2" grpId="0" animBg="1" autoUpdateAnimBg="0"/>
      <p:bldP spid="53253" grpId="0" animBg="1" autoUpdateAnimBg="0"/>
      <p:bldP spid="53254" grpId="0" animBg="1" autoUpdateAnimBg="0"/>
      <p:bldP spid="53255" grpId="0" animBg="1" autoUpdateAnimBg="0"/>
      <p:bldP spid="53256" grpId="0" animBg="1" autoUpdateAnimBg="0"/>
      <p:bldP spid="53257" grpId="0" animBg="1" autoUpdateAnimBg="0"/>
      <p:bldP spid="53258" grpId="0" animBg="1" autoUpdateAnimBg="0"/>
      <p:bldP spid="53259" grpId="0" animBg="1" autoUpdateAnimBg="0"/>
      <p:bldP spid="53267" grpId="0" autoUpdateAnimBg="0"/>
      <p:bldP spid="53268" grpId="0" animBg="1" autoUpdateAnimBg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Oval 3"/>
          <p:cNvSpPr>
            <a:spLocks noChangeArrowheads="1"/>
          </p:cNvSpPr>
          <p:nvPr/>
        </p:nvSpPr>
        <p:spPr bwMode="auto">
          <a:xfrm>
            <a:off x="3922713" y="1411288"/>
            <a:ext cx="1008062" cy="360362"/>
          </a:xfrm>
          <a:prstGeom prst="ellipse">
            <a:avLst/>
          </a:prstGeom>
          <a:solidFill>
            <a:srgbClr val="92D05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100</a:t>
            </a:r>
          </a:p>
        </p:txBody>
      </p:sp>
      <p:sp>
        <p:nvSpPr>
          <p:cNvPr id="54276" name="Oval 4"/>
          <p:cNvSpPr>
            <a:spLocks noChangeArrowheads="1"/>
          </p:cNvSpPr>
          <p:nvPr/>
        </p:nvSpPr>
        <p:spPr bwMode="auto">
          <a:xfrm>
            <a:off x="2122488" y="2060575"/>
            <a:ext cx="1008062" cy="360363"/>
          </a:xfrm>
          <a:prstGeom prst="ellipse">
            <a:avLst/>
          </a:prstGeom>
          <a:solidFill>
            <a:srgbClr val="92D05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60</a:t>
            </a:r>
          </a:p>
        </p:txBody>
      </p:sp>
      <p:sp>
        <p:nvSpPr>
          <p:cNvPr id="54277" name="Oval 5"/>
          <p:cNvSpPr>
            <a:spLocks noChangeArrowheads="1"/>
          </p:cNvSpPr>
          <p:nvPr/>
        </p:nvSpPr>
        <p:spPr bwMode="auto">
          <a:xfrm>
            <a:off x="5651500" y="2060575"/>
            <a:ext cx="1366838" cy="360363"/>
          </a:xfrm>
          <a:prstGeom prst="ellipse">
            <a:avLst/>
          </a:prstGeom>
          <a:solidFill>
            <a:srgbClr val="92D05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150  200</a:t>
            </a:r>
          </a:p>
        </p:txBody>
      </p:sp>
      <p:sp>
        <p:nvSpPr>
          <p:cNvPr id="54278" name="Oval 6"/>
          <p:cNvSpPr>
            <a:spLocks noChangeArrowheads="1"/>
          </p:cNvSpPr>
          <p:nvPr/>
        </p:nvSpPr>
        <p:spPr bwMode="auto">
          <a:xfrm>
            <a:off x="754063" y="2995613"/>
            <a:ext cx="1008062" cy="360362"/>
          </a:xfrm>
          <a:prstGeom prst="ellipse">
            <a:avLst/>
          </a:prstGeom>
          <a:solidFill>
            <a:srgbClr val="92D05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20  40</a:t>
            </a:r>
          </a:p>
        </p:txBody>
      </p:sp>
      <p:sp>
        <p:nvSpPr>
          <p:cNvPr id="54279" name="Oval 7"/>
          <p:cNvSpPr>
            <a:spLocks noChangeArrowheads="1"/>
          </p:cNvSpPr>
          <p:nvPr/>
        </p:nvSpPr>
        <p:spPr bwMode="auto">
          <a:xfrm>
            <a:off x="2625725" y="2995613"/>
            <a:ext cx="1008063" cy="360362"/>
          </a:xfrm>
          <a:prstGeom prst="ellipse">
            <a:avLst/>
          </a:prstGeom>
          <a:solidFill>
            <a:srgbClr val="92D05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70  90</a:t>
            </a:r>
          </a:p>
        </p:txBody>
      </p:sp>
      <p:sp>
        <p:nvSpPr>
          <p:cNvPr id="54280" name="Oval 8"/>
          <p:cNvSpPr>
            <a:spLocks noChangeArrowheads="1"/>
          </p:cNvSpPr>
          <p:nvPr/>
        </p:nvSpPr>
        <p:spPr bwMode="auto">
          <a:xfrm>
            <a:off x="4138613" y="2997200"/>
            <a:ext cx="1295400" cy="358775"/>
          </a:xfrm>
          <a:prstGeom prst="ellipse">
            <a:avLst/>
          </a:prstGeom>
          <a:solidFill>
            <a:srgbClr val="92D05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120  140</a:t>
            </a:r>
          </a:p>
        </p:txBody>
      </p:sp>
      <p:sp>
        <p:nvSpPr>
          <p:cNvPr id="54281" name="Oval 9"/>
          <p:cNvSpPr>
            <a:spLocks noChangeArrowheads="1"/>
          </p:cNvSpPr>
          <p:nvPr/>
        </p:nvSpPr>
        <p:spPr bwMode="auto">
          <a:xfrm>
            <a:off x="5867400" y="2997200"/>
            <a:ext cx="865188" cy="360363"/>
          </a:xfrm>
          <a:prstGeom prst="ellipse">
            <a:avLst/>
          </a:prstGeom>
          <a:solidFill>
            <a:srgbClr val="92D05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180</a:t>
            </a:r>
          </a:p>
        </p:txBody>
      </p:sp>
      <p:sp>
        <p:nvSpPr>
          <p:cNvPr id="54282" name="Oval 10"/>
          <p:cNvSpPr>
            <a:spLocks noChangeArrowheads="1"/>
          </p:cNvSpPr>
          <p:nvPr/>
        </p:nvSpPr>
        <p:spPr bwMode="auto">
          <a:xfrm>
            <a:off x="7162800" y="2997200"/>
            <a:ext cx="1296988" cy="358775"/>
          </a:xfrm>
          <a:prstGeom prst="ellipse">
            <a:avLst/>
          </a:prstGeom>
          <a:solidFill>
            <a:srgbClr val="92D05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210  260</a:t>
            </a:r>
          </a:p>
        </p:txBody>
      </p:sp>
      <p:sp>
        <p:nvSpPr>
          <p:cNvPr id="54283" name="Line 11"/>
          <p:cNvSpPr>
            <a:spLocks noChangeShapeType="1"/>
          </p:cNvSpPr>
          <p:nvPr/>
        </p:nvSpPr>
        <p:spPr bwMode="auto">
          <a:xfrm flipH="1">
            <a:off x="3130550" y="1628775"/>
            <a:ext cx="1079500" cy="5032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284" name="Line 12"/>
          <p:cNvSpPr>
            <a:spLocks noChangeShapeType="1"/>
          </p:cNvSpPr>
          <p:nvPr/>
        </p:nvSpPr>
        <p:spPr bwMode="auto">
          <a:xfrm flipH="1">
            <a:off x="1331913" y="2276475"/>
            <a:ext cx="1006475" cy="6477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285" name="Line 13"/>
          <p:cNvSpPr>
            <a:spLocks noChangeShapeType="1"/>
          </p:cNvSpPr>
          <p:nvPr/>
        </p:nvSpPr>
        <p:spPr bwMode="auto">
          <a:xfrm flipH="1">
            <a:off x="4786313" y="2276475"/>
            <a:ext cx="1081087" cy="6477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286" name="Line 14"/>
          <p:cNvSpPr>
            <a:spLocks noChangeShapeType="1"/>
          </p:cNvSpPr>
          <p:nvPr/>
        </p:nvSpPr>
        <p:spPr bwMode="auto">
          <a:xfrm>
            <a:off x="4713288" y="1628775"/>
            <a:ext cx="1081087" cy="431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287" name="Line 15"/>
          <p:cNvSpPr>
            <a:spLocks noChangeShapeType="1"/>
          </p:cNvSpPr>
          <p:nvPr/>
        </p:nvSpPr>
        <p:spPr bwMode="auto">
          <a:xfrm flipH="1">
            <a:off x="6299200" y="2276475"/>
            <a:ext cx="0" cy="6477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288" name="Line 16"/>
          <p:cNvSpPr>
            <a:spLocks noChangeShapeType="1"/>
          </p:cNvSpPr>
          <p:nvPr/>
        </p:nvSpPr>
        <p:spPr bwMode="auto">
          <a:xfrm>
            <a:off x="6802438" y="2276475"/>
            <a:ext cx="1008062" cy="6477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289" name="Line 17"/>
          <p:cNvSpPr>
            <a:spLocks noChangeShapeType="1"/>
          </p:cNvSpPr>
          <p:nvPr/>
        </p:nvSpPr>
        <p:spPr bwMode="auto">
          <a:xfrm>
            <a:off x="2843213" y="2203450"/>
            <a:ext cx="504825" cy="7207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290" name="Text Box 18"/>
          <p:cNvSpPr txBox="1">
            <a:spLocks noChangeArrowheads="1"/>
          </p:cNvSpPr>
          <p:nvPr/>
        </p:nvSpPr>
        <p:spPr bwMode="auto">
          <a:xfrm>
            <a:off x="6226175" y="1268413"/>
            <a:ext cx="1079500" cy="3667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</a:rPr>
              <a:t>删除</a:t>
            </a: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180</a:t>
            </a:r>
          </a:p>
        </p:txBody>
      </p:sp>
      <p:sp>
        <p:nvSpPr>
          <p:cNvPr id="54291" name="AutoShape 19"/>
          <p:cNvSpPr>
            <a:spLocks noChangeArrowheads="1"/>
          </p:cNvSpPr>
          <p:nvPr/>
        </p:nvSpPr>
        <p:spPr bwMode="auto">
          <a:xfrm>
            <a:off x="6660232" y="3502025"/>
            <a:ext cx="285750" cy="43180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0000FF"/>
          </a:solidFill>
          <a:ln w="28575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endParaRPr lang="zh-CN" altLang="en-US"/>
          </a:p>
        </p:txBody>
      </p:sp>
      <p:sp>
        <p:nvSpPr>
          <p:cNvPr id="54292" name="Oval 20"/>
          <p:cNvSpPr>
            <a:spLocks noChangeArrowheads="1"/>
          </p:cNvSpPr>
          <p:nvPr/>
        </p:nvSpPr>
        <p:spPr bwMode="auto">
          <a:xfrm>
            <a:off x="4138613" y="4147021"/>
            <a:ext cx="1008062" cy="360362"/>
          </a:xfrm>
          <a:prstGeom prst="ellipse">
            <a:avLst/>
          </a:prstGeom>
          <a:solidFill>
            <a:srgbClr val="92D05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100</a:t>
            </a:r>
          </a:p>
        </p:txBody>
      </p:sp>
      <p:sp>
        <p:nvSpPr>
          <p:cNvPr id="54293" name="Oval 21"/>
          <p:cNvSpPr>
            <a:spLocks noChangeArrowheads="1"/>
          </p:cNvSpPr>
          <p:nvPr/>
        </p:nvSpPr>
        <p:spPr bwMode="auto">
          <a:xfrm>
            <a:off x="2338388" y="4796308"/>
            <a:ext cx="1008062" cy="360363"/>
          </a:xfrm>
          <a:prstGeom prst="ellipse">
            <a:avLst/>
          </a:prstGeom>
          <a:solidFill>
            <a:srgbClr val="92D05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60</a:t>
            </a:r>
          </a:p>
        </p:txBody>
      </p:sp>
      <p:sp>
        <p:nvSpPr>
          <p:cNvPr id="54294" name="Oval 22"/>
          <p:cNvSpPr>
            <a:spLocks noChangeArrowheads="1"/>
          </p:cNvSpPr>
          <p:nvPr/>
        </p:nvSpPr>
        <p:spPr bwMode="auto">
          <a:xfrm>
            <a:off x="5867400" y="4796308"/>
            <a:ext cx="1366838" cy="360363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140  200</a:t>
            </a:r>
          </a:p>
        </p:txBody>
      </p:sp>
      <p:sp>
        <p:nvSpPr>
          <p:cNvPr id="54295" name="Oval 23"/>
          <p:cNvSpPr>
            <a:spLocks noChangeArrowheads="1"/>
          </p:cNvSpPr>
          <p:nvPr/>
        </p:nvSpPr>
        <p:spPr bwMode="auto">
          <a:xfrm>
            <a:off x="969963" y="5731346"/>
            <a:ext cx="1008062" cy="360362"/>
          </a:xfrm>
          <a:prstGeom prst="ellipse">
            <a:avLst/>
          </a:prstGeom>
          <a:solidFill>
            <a:srgbClr val="92D05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20  40</a:t>
            </a:r>
          </a:p>
        </p:txBody>
      </p:sp>
      <p:sp>
        <p:nvSpPr>
          <p:cNvPr id="54296" name="Oval 24"/>
          <p:cNvSpPr>
            <a:spLocks noChangeArrowheads="1"/>
          </p:cNvSpPr>
          <p:nvPr/>
        </p:nvSpPr>
        <p:spPr bwMode="auto">
          <a:xfrm>
            <a:off x="2841625" y="5731346"/>
            <a:ext cx="1008063" cy="360362"/>
          </a:xfrm>
          <a:prstGeom prst="ellipse">
            <a:avLst/>
          </a:prstGeom>
          <a:solidFill>
            <a:srgbClr val="92D05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70  90</a:t>
            </a:r>
          </a:p>
        </p:txBody>
      </p:sp>
      <p:sp>
        <p:nvSpPr>
          <p:cNvPr id="54297" name="Oval 25"/>
          <p:cNvSpPr>
            <a:spLocks noChangeArrowheads="1"/>
          </p:cNvSpPr>
          <p:nvPr/>
        </p:nvSpPr>
        <p:spPr bwMode="auto">
          <a:xfrm>
            <a:off x="4354513" y="5732933"/>
            <a:ext cx="1295400" cy="358775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120</a:t>
            </a:r>
          </a:p>
        </p:txBody>
      </p:sp>
      <p:sp>
        <p:nvSpPr>
          <p:cNvPr id="54298" name="Oval 26"/>
          <p:cNvSpPr>
            <a:spLocks noChangeArrowheads="1"/>
          </p:cNvSpPr>
          <p:nvPr/>
        </p:nvSpPr>
        <p:spPr bwMode="auto">
          <a:xfrm>
            <a:off x="6083300" y="5732933"/>
            <a:ext cx="865188" cy="360363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150</a:t>
            </a:r>
          </a:p>
        </p:txBody>
      </p:sp>
      <p:sp>
        <p:nvSpPr>
          <p:cNvPr id="54299" name="Oval 27"/>
          <p:cNvSpPr>
            <a:spLocks noChangeArrowheads="1"/>
          </p:cNvSpPr>
          <p:nvPr/>
        </p:nvSpPr>
        <p:spPr bwMode="auto">
          <a:xfrm>
            <a:off x="7378700" y="5732933"/>
            <a:ext cx="1296988" cy="358775"/>
          </a:xfrm>
          <a:prstGeom prst="ellipse">
            <a:avLst/>
          </a:prstGeom>
          <a:solidFill>
            <a:srgbClr val="92D05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210  260</a:t>
            </a:r>
          </a:p>
        </p:txBody>
      </p:sp>
      <p:sp>
        <p:nvSpPr>
          <p:cNvPr id="54300" name="Line 28"/>
          <p:cNvSpPr>
            <a:spLocks noChangeShapeType="1"/>
          </p:cNvSpPr>
          <p:nvPr/>
        </p:nvSpPr>
        <p:spPr bwMode="auto">
          <a:xfrm flipH="1">
            <a:off x="3346450" y="4364508"/>
            <a:ext cx="1079500" cy="5032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301" name="Line 29"/>
          <p:cNvSpPr>
            <a:spLocks noChangeShapeType="1"/>
          </p:cNvSpPr>
          <p:nvPr/>
        </p:nvSpPr>
        <p:spPr bwMode="auto">
          <a:xfrm flipH="1">
            <a:off x="1547813" y="5012208"/>
            <a:ext cx="1006475" cy="6477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302" name="Line 30"/>
          <p:cNvSpPr>
            <a:spLocks noChangeShapeType="1"/>
          </p:cNvSpPr>
          <p:nvPr/>
        </p:nvSpPr>
        <p:spPr bwMode="auto">
          <a:xfrm flipH="1">
            <a:off x="5002213" y="5012208"/>
            <a:ext cx="1081087" cy="6477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303" name="Line 31"/>
          <p:cNvSpPr>
            <a:spLocks noChangeShapeType="1"/>
          </p:cNvSpPr>
          <p:nvPr/>
        </p:nvSpPr>
        <p:spPr bwMode="auto">
          <a:xfrm>
            <a:off x="4929188" y="4364508"/>
            <a:ext cx="1081087" cy="431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304" name="Line 32"/>
          <p:cNvSpPr>
            <a:spLocks noChangeShapeType="1"/>
          </p:cNvSpPr>
          <p:nvPr/>
        </p:nvSpPr>
        <p:spPr bwMode="auto">
          <a:xfrm flipH="1">
            <a:off x="6515100" y="5012208"/>
            <a:ext cx="0" cy="6477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305" name="Line 33"/>
          <p:cNvSpPr>
            <a:spLocks noChangeShapeType="1"/>
          </p:cNvSpPr>
          <p:nvPr/>
        </p:nvSpPr>
        <p:spPr bwMode="auto">
          <a:xfrm>
            <a:off x="7018338" y="5012208"/>
            <a:ext cx="1008062" cy="6477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306" name="Line 34"/>
          <p:cNvSpPr>
            <a:spLocks noChangeShapeType="1"/>
          </p:cNvSpPr>
          <p:nvPr/>
        </p:nvSpPr>
        <p:spPr bwMode="auto">
          <a:xfrm>
            <a:off x="3059113" y="4939183"/>
            <a:ext cx="504825" cy="7207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67</a:t>
            </a:fld>
            <a:endParaRPr lang="zh-CN" altLang="en-US" dirty="0"/>
          </a:p>
        </p:txBody>
      </p:sp>
      <p:grpSp>
        <p:nvGrpSpPr>
          <p:cNvPr id="37" name="组合 114"/>
          <p:cNvGrpSpPr/>
          <p:nvPr/>
        </p:nvGrpSpPr>
        <p:grpSpPr>
          <a:xfrm>
            <a:off x="-396552" y="76388"/>
            <a:ext cx="6775654" cy="679510"/>
            <a:chOff x="-99459" y="3320919"/>
            <a:chExt cx="7301815" cy="722576"/>
          </a:xfrm>
        </p:grpSpPr>
        <p:grpSp>
          <p:nvGrpSpPr>
            <p:cNvPr id="38" name="组合 105"/>
            <p:cNvGrpSpPr/>
            <p:nvPr/>
          </p:nvGrpSpPr>
          <p:grpSpPr>
            <a:xfrm>
              <a:off x="-99459" y="3320919"/>
              <a:ext cx="7301815" cy="722576"/>
              <a:chOff x="-99459" y="3320919"/>
              <a:chExt cx="7301815" cy="722576"/>
            </a:xfrm>
          </p:grpSpPr>
          <p:sp>
            <p:nvSpPr>
              <p:cNvPr id="40" name="Freeform 5"/>
              <p:cNvSpPr>
                <a:spLocks/>
              </p:cNvSpPr>
              <p:nvPr/>
            </p:nvSpPr>
            <p:spPr bwMode="auto">
              <a:xfrm>
                <a:off x="933887" y="3380765"/>
                <a:ext cx="801702" cy="662730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EA6103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  <p:sp>
            <p:nvSpPr>
              <p:cNvPr id="41" name="TextBox 6"/>
              <p:cNvSpPr txBox="1">
                <a:spLocks noChangeArrowheads="1"/>
              </p:cNvSpPr>
              <p:nvPr/>
            </p:nvSpPr>
            <p:spPr bwMode="auto">
              <a:xfrm>
                <a:off x="-99459" y="3320919"/>
                <a:ext cx="7301815" cy="687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10.3 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树表的查找</a:t>
                </a:r>
              </a:p>
            </p:txBody>
          </p:sp>
        </p:grpSp>
        <p:pic>
          <p:nvPicPr>
            <p:cNvPr id="39" name="图片 38" descr="12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5929" y="3530600"/>
              <a:ext cx="446172" cy="431048"/>
            </a:xfrm>
            <a:prstGeom prst="rect">
              <a:avLst/>
            </a:prstGeom>
          </p:spPr>
        </p:pic>
      </p:grpSp>
      <p:sp>
        <p:nvSpPr>
          <p:cNvPr id="42" name="矩形 41"/>
          <p:cNvSpPr/>
          <p:nvPr/>
        </p:nvSpPr>
        <p:spPr>
          <a:xfrm>
            <a:off x="210747" y="1002935"/>
            <a:ext cx="2409634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800" b="1" dirty="0"/>
              <a:t>10.3.3  B-</a:t>
            </a:r>
            <a:r>
              <a:rPr lang="zh-CN" altLang="en-US" sz="2800" b="1" dirty="0"/>
              <a:t>树</a:t>
            </a:r>
          </a:p>
        </p:txBody>
      </p:sp>
    </p:spTree>
    <p:extLst>
      <p:ext uri="{BB962C8B-B14F-4D97-AF65-F5344CB8AC3E}">
        <p14:creationId xmlns:p14="http://schemas.microsoft.com/office/powerpoint/2010/main" val="1043722500"/>
      </p:ext>
    </p:extLst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5" grpId="0" animBg="1" autoUpdateAnimBg="0"/>
      <p:bldP spid="54276" grpId="0" animBg="1" autoUpdateAnimBg="0"/>
      <p:bldP spid="54277" grpId="0" animBg="1" autoUpdateAnimBg="0"/>
      <p:bldP spid="54278" grpId="0" animBg="1" autoUpdateAnimBg="0"/>
      <p:bldP spid="54279" grpId="0" animBg="1" autoUpdateAnimBg="0"/>
      <p:bldP spid="54280" grpId="0" animBg="1" autoUpdateAnimBg="0"/>
      <p:bldP spid="54281" grpId="0" animBg="1" autoUpdateAnimBg="0"/>
      <p:bldP spid="54282" grpId="0" animBg="1" autoUpdateAnimBg="0"/>
      <p:bldP spid="54290" grpId="0" animBg="1" autoUpdateAnimBg="0"/>
      <p:bldP spid="54291" grpId="0" animBg="1"/>
      <p:bldP spid="54292" grpId="0" animBg="1" autoUpdateAnimBg="0"/>
      <p:bldP spid="54293" grpId="0" animBg="1" autoUpdateAnimBg="0"/>
      <p:bldP spid="54294" grpId="0" animBg="1" autoUpdateAnimBg="0"/>
      <p:bldP spid="54295" grpId="0" animBg="1" autoUpdateAnimBg="0"/>
      <p:bldP spid="54296" grpId="0" animBg="1" autoUpdateAnimBg="0"/>
      <p:bldP spid="54297" grpId="0" animBg="1" autoUpdateAnimBg="0"/>
      <p:bldP spid="54298" grpId="0" animBg="1" autoUpdateAnimBg="0"/>
      <p:bldP spid="54299" grpId="0" animBg="1" autoUpdateAnimBg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Oval 3"/>
          <p:cNvSpPr>
            <a:spLocks noChangeArrowheads="1"/>
          </p:cNvSpPr>
          <p:nvPr/>
        </p:nvSpPr>
        <p:spPr bwMode="auto">
          <a:xfrm>
            <a:off x="3922713" y="1411288"/>
            <a:ext cx="1008062" cy="360362"/>
          </a:xfrm>
          <a:prstGeom prst="ellipse">
            <a:avLst/>
          </a:prstGeom>
          <a:solidFill>
            <a:srgbClr val="92D05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100</a:t>
            </a:r>
          </a:p>
        </p:txBody>
      </p:sp>
      <p:sp>
        <p:nvSpPr>
          <p:cNvPr id="55300" name="Oval 4"/>
          <p:cNvSpPr>
            <a:spLocks noChangeArrowheads="1"/>
          </p:cNvSpPr>
          <p:nvPr/>
        </p:nvSpPr>
        <p:spPr bwMode="auto">
          <a:xfrm>
            <a:off x="2122488" y="2060575"/>
            <a:ext cx="1008062" cy="360363"/>
          </a:xfrm>
          <a:prstGeom prst="ellipse">
            <a:avLst/>
          </a:prstGeom>
          <a:solidFill>
            <a:srgbClr val="92D05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60</a:t>
            </a:r>
          </a:p>
        </p:txBody>
      </p:sp>
      <p:sp>
        <p:nvSpPr>
          <p:cNvPr id="55301" name="Oval 5"/>
          <p:cNvSpPr>
            <a:spLocks noChangeArrowheads="1"/>
          </p:cNvSpPr>
          <p:nvPr/>
        </p:nvSpPr>
        <p:spPr bwMode="auto">
          <a:xfrm>
            <a:off x="5651500" y="2060575"/>
            <a:ext cx="1366838" cy="360363"/>
          </a:xfrm>
          <a:prstGeom prst="ellipse">
            <a:avLst/>
          </a:prstGeom>
          <a:solidFill>
            <a:srgbClr val="92D05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150  200</a:t>
            </a:r>
          </a:p>
        </p:txBody>
      </p:sp>
      <p:sp>
        <p:nvSpPr>
          <p:cNvPr id="55302" name="Oval 6"/>
          <p:cNvSpPr>
            <a:spLocks noChangeArrowheads="1"/>
          </p:cNvSpPr>
          <p:nvPr/>
        </p:nvSpPr>
        <p:spPr bwMode="auto">
          <a:xfrm>
            <a:off x="754063" y="2995613"/>
            <a:ext cx="1008062" cy="360362"/>
          </a:xfrm>
          <a:prstGeom prst="ellipse">
            <a:avLst/>
          </a:prstGeom>
          <a:solidFill>
            <a:srgbClr val="92D05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20  40</a:t>
            </a:r>
          </a:p>
        </p:txBody>
      </p:sp>
      <p:sp>
        <p:nvSpPr>
          <p:cNvPr id="55303" name="Oval 7"/>
          <p:cNvSpPr>
            <a:spLocks noChangeArrowheads="1"/>
          </p:cNvSpPr>
          <p:nvPr/>
        </p:nvSpPr>
        <p:spPr bwMode="auto">
          <a:xfrm>
            <a:off x="2625725" y="2995613"/>
            <a:ext cx="1008063" cy="360362"/>
          </a:xfrm>
          <a:prstGeom prst="ellipse">
            <a:avLst/>
          </a:prstGeom>
          <a:solidFill>
            <a:srgbClr val="92D05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70  90</a:t>
            </a:r>
          </a:p>
        </p:txBody>
      </p:sp>
      <p:sp>
        <p:nvSpPr>
          <p:cNvPr id="55304" name="Oval 8"/>
          <p:cNvSpPr>
            <a:spLocks noChangeArrowheads="1"/>
          </p:cNvSpPr>
          <p:nvPr/>
        </p:nvSpPr>
        <p:spPr bwMode="auto">
          <a:xfrm>
            <a:off x="4138613" y="2997200"/>
            <a:ext cx="1295400" cy="358775"/>
          </a:xfrm>
          <a:prstGeom prst="ellipse">
            <a:avLst/>
          </a:prstGeom>
          <a:solidFill>
            <a:srgbClr val="92D05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120</a:t>
            </a:r>
          </a:p>
        </p:txBody>
      </p:sp>
      <p:sp>
        <p:nvSpPr>
          <p:cNvPr id="55305" name="Oval 9"/>
          <p:cNvSpPr>
            <a:spLocks noChangeArrowheads="1"/>
          </p:cNvSpPr>
          <p:nvPr/>
        </p:nvSpPr>
        <p:spPr bwMode="auto">
          <a:xfrm>
            <a:off x="5867400" y="2997200"/>
            <a:ext cx="865188" cy="360363"/>
          </a:xfrm>
          <a:prstGeom prst="ellipse">
            <a:avLst/>
          </a:prstGeom>
          <a:solidFill>
            <a:srgbClr val="92D05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180</a:t>
            </a:r>
          </a:p>
        </p:txBody>
      </p:sp>
      <p:sp>
        <p:nvSpPr>
          <p:cNvPr id="55306" name="Oval 10"/>
          <p:cNvSpPr>
            <a:spLocks noChangeArrowheads="1"/>
          </p:cNvSpPr>
          <p:nvPr/>
        </p:nvSpPr>
        <p:spPr bwMode="auto">
          <a:xfrm>
            <a:off x="7162800" y="2997200"/>
            <a:ext cx="1296988" cy="358775"/>
          </a:xfrm>
          <a:prstGeom prst="ellipse">
            <a:avLst/>
          </a:prstGeom>
          <a:solidFill>
            <a:srgbClr val="92D05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210  260</a:t>
            </a:r>
          </a:p>
        </p:txBody>
      </p:sp>
      <p:sp>
        <p:nvSpPr>
          <p:cNvPr id="55307" name="Line 11"/>
          <p:cNvSpPr>
            <a:spLocks noChangeShapeType="1"/>
          </p:cNvSpPr>
          <p:nvPr/>
        </p:nvSpPr>
        <p:spPr bwMode="auto">
          <a:xfrm flipH="1">
            <a:off x="3130550" y="1628775"/>
            <a:ext cx="1079500" cy="5032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308" name="Line 12"/>
          <p:cNvSpPr>
            <a:spLocks noChangeShapeType="1"/>
          </p:cNvSpPr>
          <p:nvPr/>
        </p:nvSpPr>
        <p:spPr bwMode="auto">
          <a:xfrm flipH="1">
            <a:off x="1331913" y="2276475"/>
            <a:ext cx="1006475" cy="6477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309" name="Line 13"/>
          <p:cNvSpPr>
            <a:spLocks noChangeShapeType="1"/>
          </p:cNvSpPr>
          <p:nvPr/>
        </p:nvSpPr>
        <p:spPr bwMode="auto">
          <a:xfrm flipH="1">
            <a:off x="4786313" y="2276475"/>
            <a:ext cx="1081087" cy="6477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310" name="Line 14"/>
          <p:cNvSpPr>
            <a:spLocks noChangeShapeType="1"/>
          </p:cNvSpPr>
          <p:nvPr/>
        </p:nvSpPr>
        <p:spPr bwMode="auto">
          <a:xfrm>
            <a:off x="4713288" y="1628775"/>
            <a:ext cx="1081087" cy="431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311" name="Line 15"/>
          <p:cNvSpPr>
            <a:spLocks noChangeShapeType="1"/>
          </p:cNvSpPr>
          <p:nvPr/>
        </p:nvSpPr>
        <p:spPr bwMode="auto">
          <a:xfrm flipH="1">
            <a:off x="6299200" y="2276475"/>
            <a:ext cx="0" cy="6477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312" name="Line 16"/>
          <p:cNvSpPr>
            <a:spLocks noChangeShapeType="1"/>
          </p:cNvSpPr>
          <p:nvPr/>
        </p:nvSpPr>
        <p:spPr bwMode="auto">
          <a:xfrm>
            <a:off x="6802438" y="2276475"/>
            <a:ext cx="1008062" cy="6477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313" name="Line 17"/>
          <p:cNvSpPr>
            <a:spLocks noChangeShapeType="1"/>
          </p:cNvSpPr>
          <p:nvPr/>
        </p:nvSpPr>
        <p:spPr bwMode="auto">
          <a:xfrm>
            <a:off x="2843213" y="2203450"/>
            <a:ext cx="504825" cy="7207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314" name="Text Box 18"/>
          <p:cNvSpPr txBox="1">
            <a:spLocks noChangeArrowheads="1"/>
          </p:cNvSpPr>
          <p:nvPr/>
        </p:nvSpPr>
        <p:spPr bwMode="auto">
          <a:xfrm>
            <a:off x="6226175" y="1268413"/>
            <a:ext cx="10795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</a:rPr>
              <a:t>删除</a:t>
            </a: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150</a:t>
            </a:r>
          </a:p>
        </p:txBody>
      </p:sp>
      <p:sp>
        <p:nvSpPr>
          <p:cNvPr id="55315" name="AutoShape 19"/>
          <p:cNvSpPr>
            <a:spLocks noChangeArrowheads="1"/>
          </p:cNvSpPr>
          <p:nvPr/>
        </p:nvSpPr>
        <p:spPr bwMode="auto">
          <a:xfrm>
            <a:off x="6659563" y="3508375"/>
            <a:ext cx="285750" cy="43180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0000FF"/>
          </a:solidFill>
          <a:ln w="28575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endParaRPr lang="zh-CN" altLang="en-US"/>
          </a:p>
        </p:txBody>
      </p:sp>
      <p:sp>
        <p:nvSpPr>
          <p:cNvPr id="55316" name="Oval 20"/>
          <p:cNvSpPr>
            <a:spLocks noChangeArrowheads="1"/>
          </p:cNvSpPr>
          <p:nvPr/>
        </p:nvSpPr>
        <p:spPr bwMode="auto">
          <a:xfrm>
            <a:off x="4138613" y="3789363"/>
            <a:ext cx="1008062" cy="360362"/>
          </a:xfrm>
          <a:prstGeom prst="ellipse">
            <a:avLst/>
          </a:prstGeom>
          <a:solidFill>
            <a:srgbClr val="92D05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100</a:t>
            </a:r>
          </a:p>
        </p:txBody>
      </p:sp>
      <p:sp>
        <p:nvSpPr>
          <p:cNvPr id="55317" name="Oval 21"/>
          <p:cNvSpPr>
            <a:spLocks noChangeArrowheads="1"/>
          </p:cNvSpPr>
          <p:nvPr/>
        </p:nvSpPr>
        <p:spPr bwMode="auto">
          <a:xfrm>
            <a:off x="2338388" y="4438650"/>
            <a:ext cx="1008062" cy="360363"/>
          </a:xfrm>
          <a:prstGeom prst="ellipse">
            <a:avLst/>
          </a:prstGeom>
          <a:solidFill>
            <a:srgbClr val="92D05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60</a:t>
            </a:r>
          </a:p>
        </p:txBody>
      </p:sp>
      <p:sp>
        <p:nvSpPr>
          <p:cNvPr id="55318" name="Oval 22"/>
          <p:cNvSpPr>
            <a:spLocks noChangeArrowheads="1"/>
          </p:cNvSpPr>
          <p:nvPr/>
        </p:nvSpPr>
        <p:spPr bwMode="auto">
          <a:xfrm>
            <a:off x="5867400" y="4438650"/>
            <a:ext cx="1366838" cy="360363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200</a:t>
            </a:r>
          </a:p>
        </p:txBody>
      </p:sp>
      <p:sp>
        <p:nvSpPr>
          <p:cNvPr id="55319" name="Oval 23"/>
          <p:cNvSpPr>
            <a:spLocks noChangeArrowheads="1"/>
          </p:cNvSpPr>
          <p:nvPr/>
        </p:nvSpPr>
        <p:spPr bwMode="auto">
          <a:xfrm>
            <a:off x="969963" y="5373688"/>
            <a:ext cx="1008062" cy="360362"/>
          </a:xfrm>
          <a:prstGeom prst="ellipse">
            <a:avLst/>
          </a:prstGeom>
          <a:solidFill>
            <a:srgbClr val="92D05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20  40</a:t>
            </a:r>
          </a:p>
        </p:txBody>
      </p:sp>
      <p:sp>
        <p:nvSpPr>
          <p:cNvPr id="55320" name="Oval 24"/>
          <p:cNvSpPr>
            <a:spLocks noChangeArrowheads="1"/>
          </p:cNvSpPr>
          <p:nvPr/>
        </p:nvSpPr>
        <p:spPr bwMode="auto">
          <a:xfrm>
            <a:off x="2841625" y="5373688"/>
            <a:ext cx="1008063" cy="360362"/>
          </a:xfrm>
          <a:prstGeom prst="ellipse">
            <a:avLst/>
          </a:prstGeom>
          <a:solidFill>
            <a:srgbClr val="92D05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70  90</a:t>
            </a:r>
          </a:p>
        </p:txBody>
      </p:sp>
      <p:sp>
        <p:nvSpPr>
          <p:cNvPr id="55321" name="Oval 25"/>
          <p:cNvSpPr>
            <a:spLocks noChangeArrowheads="1"/>
          </p:cNvSpPr>
          <p:nvPr/>
        </p:nvSpPr>
        <p:spPr bwMode="auto">
          <a:xfrm>
            <a:off x="4354513" y="5375275"/>
            <a:ext cx="1873250" cy="358775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120  180</a:t>
            </a:r>
          </a:p>
        </p:txBody>
      </p:sp>
      <p:sp>
        <p:nvSpPr>
          <p:cNvPr id="55322" name="Oval 26"/>
          <p:cNvSpPr>
            <a:spLocks noChangeArrowheads="1"/>
          </p:cNvSpPr>
          <p:nvPr/>
        </p:nvSpPr>
        <p:spPr bwMode="auto">
          <a:xfrm>
            <a:off x="7378700" y="5375275"/>
            <a:ext cx="1296988" cy="358775"/>
          </a:xfrm>
          <a:prstGeom prst="ellipse">
            <a:avLst/>
          </a:prstGeom>
          <a:solidFill>
            <a:srgbClr val="92D05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210  260</a:t>
            </a:r>
          </a:p>
        </p:txBody>
      </p:sp>
      <p:sp>
        <p:nvSpPr>
          <p:cNvPr id="55323" name="Line 27"/>
          <p:cNvSpPr>
            <a:spLocks noChangeShapeType="1"/>
          </p:cNvSpPr>
          <p:nvPr/>
        </p:nvSpPr>
        <p:spPr bwMode="auto">
          <a:xfrm flipH="1">
            <a:off x="3346450" y="4006850"/>
            <a:ext cx="1079500" cy="5032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324" name="Line 28"/>
          <p:cNvSpPr>
            <a:spLocks noChangeShapeType="1"/>
          </p:cNvSpPr>
          <p:nvPr/>
        </p:nvSpPr>
        <p:spPr bwMode="auto">
          <a:xfrm flipH="1">
            <a:off x="1547813" y="4654550"/>
            <a:ext cx="1006475" cy="6477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325" name="Line 29"/>
          <p:cNvSpPr>
            <a:spLocks noChangeShapeType="1"/>
          </p:cNvSpPr>
          <p:nvPr/>
        </p:nvSpPr>
        <p:spPr bwMode="auto">
          <a:xfrm flipH="1">
            <a:off x="5002213" y="4654550"/>
            <a:ext cx="1081087" cy="6477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326" name="Line 30"/>
          <p:cNvSpPr>
            <a:spLocks noChangeShapeType="1"/>
          </p:cNvSpPr>
          <p:nvPr/>
        </p:nvSpPr>
        <p:spPr bwMode="auto">
          <a:xfrm>
            <a:off x="4929188" y="4006850"/>
            <a:ext cx="1081087" cy="431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327" name="Line 31"/>
          <p:cNvSpPr>
            <a:spLocks noChangeShapeType="1"/>
          </p:cNvSpPr>
          <p:nvPr/>
        </p:nvSpPr>
        <p:spPr bwMode="auto">
          <a:xfrm>
            <a:off x="7018338" y="4654550"/>
            <a:ext cx="1008062" cy="6477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328" name="Line 32"/>
          <p:cNvSpPr>
            <a:spLocks noChangeShapeType="1"/>
          </p:cNvSpPr>
          <p:nvPr/>
        </p:nvSpPr>
        <p:spPr bwMode="auto">
          <a:xfrm>
            <a:off x="3059113" y="4581525"/>
            <a:ext cx="504825" cy="7207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68</a:t>
            </a:fld>
            <a:endParaRPr lang="zh-CN" altLang="en-US" dirty="0"/>
          </a:p>
        </p:txBody>
      </p:sp>
      <p:grpSp>
        <p:nvGrpSpPr>
          <p:cNvPr id="35" name="组合 114"/>
          <p:cNvGrpSpPr/>
          <p:nvPr/>
        </p:nvGrpSpPr>
        <p:grpSpPr>
          <a:xfrm>
            <a:off x="-396552" y="76388"/>
            <a:ext cx="6775654" cy="679510"/>
            <a:chOff x="-99459" y="3320919"/>
            <a:chExt cx="7301815" cy="722576"/>
          </a:xfrm>
        </p:grpSpPr>
        <p:grpSp>
          <p:nvGrpSpPr>
            <p:cNvPr id="36" name="组合 105"/>
            <p:cNvGrpSpPr/>
            <p:nvPr/>
          </p:nvGrpSpPr>
          <p:grpSpPr>
            <a:xfrm>
              <a:off x="-99459" y="3320919"/>
              <a:ext cx="7301815" cy="722576"/>
              <a:chOff x="-99459" y="3320919"/>
              <a:chExt cx="7301815" cy="722576"/>
            </a:xfrm>
          </p:grpSpPr>
          <p:sp>
            <p:nvSpPr>
              <p:cNvPr id="38" name="Freeform 5"/>
              <p:cNvSpPr>
                <a:spLocks/>
              </p:cNvSpPr>
              <p:nvPr/>
            </p:nvSpPr>
            <p:spPr bwMode="auto">
              <a:xfrm>
                <a:off x="933887" y="3380765"/>
                <a:ext cx="801702" cy="662730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EA6103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  <p:sp>
            <p:nvSpPr>
              <p:cNvPr id="39" name="TextBox 6"/>
              <p:cNvSpPr txBox="1">
                <a:spLocks noChangeArrowheads="1"/>
              </p:cNvSpPr>
              <p:nvPr/>
            </p:nvSpPr>
            <p:spPr bwMode="auto">
              <a:xfrm>
                <a:off x="-99459" y="3320919"/>
                <a:ext cx="7301815" cy="687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10.3 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树表的查找</a:t>
                </a:r>
              </a:p>
            </p:txBody>
          </p:sp>
        </p:grpSp>
        <p:pic>
          <p:nvPicPr>
            <p:cNvPr id="37" name="图片 36" descr="12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5929" y="3530600"/>
              <a:ext cx="446172" cy="431048"/>
            </a:xfrm>
            <a:prstGeom prst="rect">
              <a:avLst/>
            </a:prstGeom>
          </p:spPr>
        </p:pic>
      </p:grpSp>
      <p:sp>
        <p:nvSpPr>
          <p:cNvPr id="40" name="矩形 39"/>
          <p:cNvSpPr/>
          <p:nvPr/>
        </p:nvSpPr>
        <p:spPr>
          <a:xfrm>
            <a:off x="210747" y="1002935"/>
            <a:ext cx="2409634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800" b="1" dirty="0"/>
              <a:t>10.3.3  B-</a:t>
            </a:r>
            <a:r>
              <a:rPr lang="zh-CN" altLang="en-US" sz="2800" b="1" dirty="0"/>
              <a:t>树</a:t>
            </a:r>
          </a:p>
        </p:txBody>
      </p:sp>
    </p:spTree>
    <p:extLst>
      <p:ext uri="{BB962C8B-B14F-4D97-AF65-F5344CB8AC3E}">
        <p14:creationId xmlns:p14="http://schemas.microsoft.com/office/powerpoint/2010/main" val="2273519005"/>
      </p:ext>
    </p:extLst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9" grpId="0" animBg="1" autoUpdateAnimBg="0"/>
      <p:bldP spid="55300" grpId="0" animBg="1" autoUpdateAnimBg="0"/>
      <p:bldP spid="55301" grpId="0" animBg="1" autoUpdateAnimBg="0"/>
      <p:bldP spid="55302" grpId="0" animBg="1" autoUpdateAnimBg="0"/>
      <p:bldP spid="55303" grpId="0" animBg="1" autoUpdateAnimBg="0"/>
      <p:bldP spid="55304" grpId="0" animBg="1" autoUpdateAnimBg="0"/>
      <p:bldP spid="55305" grpId="0" animBg="1" autoUpdateAnimBg="0"/>
      <p:bldP spid="55306" grpId="0" animBg="1" autoUpdateAnimBg="0"/>
      <p:bldP spid="55314" grpId="0" autoUpdateAnimBg="0"/>
      <p:bldP spid="55315" grpId="0" animBg="1"/>
      <p:bldP spid="55316" grpId="0" animBg="1" autoUpdateAnimBg="0"/>
      <p:bldP spid="55317" grpId="0" animBg="1" autoUpdateAnimBg="0"/>
      <p:bldP spid="55318" grpId="0" animBg="1" autoUpdateAnimBg="0"/>
      <p:bldP spid="55319" grpId="0" animBg="1" autoUpdateAnimBg="0"/>
      <p:bldP spid="55320" grpId="0" animBg="1" autoUpdateAnimBg="0"/>
      <p:bldP spid="55321" grpId="0" animBg="1" autoUpdateAnimBg="0"/>
      <p:bldP spid="55322" grpId="0" animBg="1" autoUpdateAnimBg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69</a:t>
            </a:fld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337876"/>
            <a:ext cx="8660854" cy="433387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92671" y="5682739"/>
            <a:ext cx="90730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B+</a:t>
            </a:r>
            <a:r>
              <a:rPr lang="zh-CN" altLang="en-US" b="1" dirty="0">
                <a:solidFill>
                  <a:srgbClr val="FF0000"/>
                </a:solidFill>
              </a:rPr>
              <a:t>树</a:t>
            </a:r>
            <a:r>
              <a:rPr lang="zh-CN" altLang="en-US" b="1" dirty="0"/>
              <a:t>在每个非叶子结点仅存放指针与关键字信息：最大化增加每个磁盘块存放的索引信息，更有效地获取相应地址信息，从而降低了树结构的深度，且叶子顶部结点允许互链减少了重新</a:t>
            </a:r>
            <a:r>
              <a:rPr lang="en-US" altLang="zh-CN" b="1" dirty="0"/>
              <a:t>IO</a:t>
            </a:r>
            <a:r>
              <a:rPr lang="zh-CN" altLang="en-US" b="1" dirty="0"/>
              <a:t>的次数。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074155" y="970969"/>
            <a:ext cx="43924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CN" sz="2000" b="1" dirty="0">
                <a:solidFill>
                  <a:srgbClr val="FF0000"/>
                </a:solidFill>
              </a:rPr>
              <a:t>MySQL</a:t>
            </a:r>
            <a:r>
              <a:rPr lang="zh-CN" altLang="en-US" sz="2000" b="1" dirty="0">
                <a:solidFill>
                  <a:srgbClr val="FF0000"/>
                </a:solidFill>
              </a:rPr>
              <a:t>引擎</a:t>
            </a:r>
            <a:r>
              <a:rPr lang="en-US" altLang="zh-CN" sz="2000" b="1" dirty="0" err="1">
                <a:solidFill>
                  <a:srgbClr val="FF0000"/>
                </a:solidFill>
              </a:rPr>
              <a:t>innodb</a:t>
            </a:r>
            <a:r>
              <a:rPr lang="zh-CN" altLang="en-US" sz="2000" b="1" dirty="0">
                <a:solidFill>
                  <a:srgbClr val="FF0000"/>
                </a:solidFill>
              </a:rPr>
              <a:t>采用此存放数据 </a:t>
            </a:r>
          </a:p>
        </p:txBody>
      </p:sp>
      <p:sp>
        <p:nvSpPr>
          <p:cNvPr id="8" name="矩形 7"/>
          <p:cNvSpPr/>
          <p:nvPr/>
        </p:nvSpPr>
        <p:spPr>
          <a:xfrm>
            <a:off x="5770277" y="946795"/>
            <a:ext cx="3373723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非叶子节点指针和节点中关键字的个数相等。</a:t>
            </a:r>
          </a:p>
          <a:p>
            <a:pPr>
              <a:buFont typeface="+mj-lt"/>
              <a:buAutoNum type="arabicPeriod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非叶子节点的指针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p[</a:t>
            </a:r>
            <a:r>
              <a:rPr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i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]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指向关键字在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_keys[</a:t>
            </a:r>
            <a:r>
              <a:rPr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i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]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_keys[i+1]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之间的子树（前开后闭区间）。</a:t>
            </a:r>
          </a:p>
          <a:p>
            <a:pPr>
              <a:buFont typeface="+mj-lt"/>
              <a:buAutoNum type="arabicPeriod"/>
            </a:pPr>
            <a:r>
              <a:rPr lang="zh-CN" altLang="en-US" dirty="0">
                <a:solidFill>
                  <a:srgbClr val="4D4D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为所非叶子节点增加一个链指针，方便遍历</a:t>
            </a:r>
            <a:endParaRPr lang="zh-CN" altLang="en-US" b="0" i="0" dirty="0">
              <a:solidFill>
                <a:srgbClr val="4D4D4D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9" name="组合 114"/>
          <p:cNvGrpSpPr/>
          <p:nvPr/>
        </p:nvGrpSpPr>
        <p:grpSpPr>
          <a:xfrm>
            <a:off x="-396552" y="76388"/>
            <a:ext cx="6775654" cy="679510"/>
            <a:chOff x="-99459" y="3320919"/>
            <a:chExt cx="7301815" cy="722576"/>
          </a:xfrm>
        </p:grpSpPr>
        <p:grpSp>
          <p:nvGrpSpPr>
            <p:cNvPr id="10" name="组合 105"/>
            <p:cNvGrpSpPr/>
            <p:nvPr/>
          </p:nvGrpSpPr>
          <p:grpSpPr>
            <a:xfrm>
              <a:off x="-99459" y="3320919"/>
              <a:ext cx="7301815" cy="722576"/>
              <a:chOff x="-99459" y="3320919"/>
              <a:chExt cx="7301815" cy="722576"/>
            </a:xfrm>
          </p:grpSpPr>
          <p:sp>
            <p:nvSpPr>
              <p:cNvPr id="12" name="Freeform 5"/>
              <p:cNvSpPr>
                <a:spLocks/>
              </p:cNvSpPr>
              <p:nvPr/>
            </p:nvSpPr>
            <p:spPr bwMode="auto">
              <a:xfrm>
                <a:off x="933887" y="3380765"/>
                <a:ext cx="801702" cy="662730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EA6103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  <p:sp>
            <p:nvSpPr>
              <p:cNvPr id="13" name="TextBox 6"/>
              <p:cNvSpPr txBox="1">
                <a:spLocks noChangeArrowheads="1"/>
              </p:cNvSpPr>
              <p:nvPr/>
            </p:nvSpPr>
            <p:spPr bwMode="auto">
              <a:xfrm>
                <a:off x="-99459" y="3320919"/>
                <a:ext cx="7301815" cy="687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10.3 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树表的查找</a:t>
                </a:r>
              </a:p>
            </p:txBody>
          </p:sp>
        </p:grpSp>
        <p:pic>
          <p:nvPicPr>
            <p:cNvPr id="11" name="图片 10" descr="12.jp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5929" y="3530600"/>
              <a:ext cx="446172" cy="4310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09785753"/>
      </p:ext>
    </p:extLst>
  </p:cSld>
  <p:clrMapOvr>
    <a:masterClrMapping/>
  </p:clrMapOvr>
  <p:transition spd="slow" advClick="0">
    <p:pull dir="d"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87312" y="955645"/>
            <a:ext cx="8497887" cy="5111750"/>
          </a:xfrm>
        </p:spPr>
        <p:txBody>
          <a:bodyPr/>
          <a:lstStyle/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/>
              <a:t>实例：某班的成绩表如下表</a:t>
            </a:r>
          </a:p>
          <a:p>
            <a:pPr eaLnBrk="1" hangingPunct="1"/>
            <a:endParaRPr lang="zh-CN" altLang="en-US" sz="2400" dirty="0"/>
          </a:p>
          <a:p>
            <a:pPr eaLnBrk="1" hangingPunct="1"/>
            <a:endParaRPr lang="zh-CN" altLang="en-US" sz="1900" dirty="0"/>
          </a:p>
          <a:p>
            <a:pPr eaLnBrk="1" hangingPunct="1"/>
            <a:endParaRPr lang="zh-CN" altLang="en-US" sz="1900" dirty="0"/>
          </a:p>
          <a:p>
            <a:pPr eaLnBrk="1" hangingPunct="1"/>
            <a:endParaRPr lang="zh-CN" altLang="en-US" sz="1900" dirty="0"/>
          </a:p>
          <a:p>
            <a:pPr eaLnBrk="1" hangingPunct="1"/>
            <a:endParaRPr lang="zh-CN" altLang="en-US" sz="1900" dirty="0"/>
          </a:p>
          <a:p>
            <a:pPr eaLnBrk="1" hangingPunct="1"/>
            <a:endParaRPr lang="zh-CN" altLang="en-US" sz="1900" dirty="0"/>
          </a:p>
          <a:p>
            <a:pPr eaLnBrk="1" hangingPunct="1"/>
            <a:endParaRPr lang="zh-CN" altLang="en-US" sz="1900" dirty="0"/>
          </a:p>
          <a:p>
            <a:pPr eaLnBrk="1" hangingPunct="1"/>
            <a:endParaRPr lang="zh-CN" altLang="en-US" sz="1900" dirty="0"/>
          </a:p>
        </p:txBody>
      </p:sp>
      <p:pic>
        <p:nvPicPr>
          <p:cNvPr id="5632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2038350"/>
            <a:ext cx="7272337" cy="203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325" name="Text Box 5"/>
          <p:cNvSpPr txBox="1">
            <a:spLocks noChangeArrowheads="1"/>
          </p:cNvSpPr>
          <p:nvPr/>
        </p:nvSpPr>
        <p:spPr bwMode="auto">
          <a:xfrm>
            <a:off x="1305025" y="4508501"/>
            <a:ext cx="6553200" cy="1004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latin typeface="楷体_GB2312" pitchFamily="1" charset="-122"/>
              </a:rPr>
              <a:t>为了能一次查找成功，在存储表的过程中，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latin typeface="楷体_GB2312" pitchFamily="1" charset="-122"/>
              </a:rPr>
              <a:t>建立</a:t>
            </a:r>
            <a:r>
              <a:rPr lang="en-US" altLang="zh-CN" sz="2400" dirty="0">
                <a:latin typeface="楷体_GB2312" pitchFamily="1" charset="-122"/>
              </a:rPr>
              <a:t>key</a:t>
            </a:r>
            <a:r>
              <a:rPr lang="zh-CN" altLang="en-US" sz="2400" dirty="0">
                <a:latin typeface="楷体_GB2312" pitchFamily="1" charset="-122"/>
              </a:rPr>
              <a:t>与存储地址之间的一一对应关系</a:t>
            </a:r>
          </a:p>
        </p:txBody>
      </p:sp>
      <p:sp>
        <p:nvSpPr>
          <p:cNvPr id="56326" name="Oval 6"/>
          <p:cNvSpPr>
            <a:spLocks noChangeArrowheads="1"/>
          </p:cNvSpPr>
          <p:nvPr/>
        </p:nvSpPr>
        <p:spPr bwMode="auto">
          <a:xfrm>
            <a:off x="3276600" y="2349500"/>
            <a:ext cx="360363" cy="358775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endParaRPr lang="zh-CN" altLang="en-US"/>
          </a:p>
        </p:txBody>
      </p:sp>
      <p:sp>
        <p:nvSpPr>
          <p:cNvPr id="56327" name="Oval 7"/>
          <p:cNvSpPr>
            <a:spLocks noChangeArrowheads="1"/>
          </p:cNvSpPr>
          <p:nvPr/>
        </p:nvSpPr>
        <p:spPr bwMode="auto">
          <a:xfrm>
            <a:off x="3348038" y="3357563"/>
            <a:ext cx="287337" cy="287337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endParaRPr lang="zh-CN" altLang="en-US"/>
          </a:p>
        </p:txBody>
      </p:sp>
      <p:sp>
        <p:nvSpPr>
          <p:cNvPr id="56328" name="Oval 8"/>
          <p:cNvSpPr>
            <a:spLocks noChangeArrowheads="1"/>
          </p:cNvSpPr>
          <p:nvPr/>
        </p:nvSpPr>
        <p:spPr bwMode="auto">
          <a:xfrm>
            <a:off x="1331913" y="2349500"/>
            <a:ext cx="360362" cy="358775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endParaRPr lang="zh-CN" altLang="en-US"/>
          </a:p>
        </p:txBody>
      </p:sp>
      <p:sp>
        <p:nvSpPr>
          <p:cNvPr id="56329" name="Oval 9"/>
          <p:cNvSpPr>
            <a:spLocks noChangeArrowheads="1"/>
          </p:cNvSpPr>
          <p:nvPr/>
        </p:nvSpPr>
        <p:spPr bwMode="auto">
          <a:xfrm>
            <a:off x="1403350" y="3357563"/>
            <a:ext cx="287338" cy="287337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endParaRPr lang="zh-CN" altLang="en-US"/>
          </a:p>
        </p:txBody>
      </p:sp>
      <p:sp>
        <p:nvSpPr>
          <p:cNvPr id="56330" name="Oval 10"/>
          <p:cNvSpPr>
            <a:spLocks noChangeArrowheads="1"/>
          </p:cNvSpPr>
          <p:nvPr/>
        </p:nvSpPr>
        <p:spPr bwMode="auto">
          <a:xfrm>
            <a:off x="1331913" y="2708275"/>
            <a:ext cx="287337" cy="287338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endParaRPr lang="zh-CN" altLang="en-US"/>
          </a:p>
        </p:txBody>
      </p:sp>
      <p:sp>
        <p:nvSpPr>
          <p:cNvPr id="56331" name="Oval 11"/>
          <p:cNvSpPr>
            <a:spLocks noChangeArrowheads="1"/>
          </p:cNvSpPr>
          <p:nvPr/>
        </p:nvSpPr>
        <p:spPr bwMode="auto">
          <a:xfrm>
            <a:off x="3348038" y="2708275"/>
            <a:ext cx="287337" cy="287338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endParaRPr lang="zh-CN" altLang="en-US"/>
          </a:p>
        </p:txBody>
      </p:sp>
      <p:sp>
        <p:nvSpPr>
          <p:cNvPr id="56332" name="Line 12"/>
          <p:cNvSpPr>
            <a:spLocks noChangeShapeType="1"/>
          </p:cNvSpPr>
          <p:nvPr/>
        </p:nvSpPr>
        <p:spPr bwMode="auto">
          <a:xfrm>
            <a:off x="1692275" y="2492375"/>
            <a:ext cx="158432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333" name="Line 13"/>
          <p:cNvSpPr>
            <a:spLocks noChangeShapeType="1"/>
          </p:cNvSpPr>
          <p:nvPr/>
        </p:nvSpPr>
        <p:spPr bwMode="auto">
          <a:xfrm>
            <a:off x="1619250" y="2852738"/>
            <a:ext cx="158432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334" name="Line 14"/>
          <p:cNvSpPr>
            <a:spLocks noChangeShapeType="1"/>
          </p:cNvSpPr>
          <p:nvPr/>
        </p:nvSpPr>
        <p:spPr bwMode="auto">
          <a:xfrm>
            <a:off x="1692275" y="3500438"/>
            <a:ext cx="158432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70</a:t>
            </a:fld>
            <a:endParaRPr lang="zh-CN" altLang="en-US" dirty="0"/>
          </a:p>
        </p:txBody>
      </p:sp>
      <p:grpSp>
        <p:nvGrpSpPr>
          <p:cNvPr id="17" name="组合 67"/>
          <p:cNvGrpSpPr/>
          <p:nvPr/>
        </p:nvGrpSpPr>
        <p:grpSpPr>
          <a:xfrm>
            <a:off x="-149454" y="114580"/>
            <a:ext cx="6789967" cy="656947"/>
            <a:chOff x="142646" y="4179148"/>
            <a:chExt cx="7317240" cy="698583"/>
          </a:xfrm>
        </p:grpSpPr>
        <p:grpSp>
          <p:nvGrpSpPr>
            <p:cNvPr id="18" name="组合 106"/>
            <p:cNvGrpSpPr/>
            <p:nvPr/>
          </p:nvGrpSpPr>
          <p:grpSpPr>
            <a:xfrm>
              <a:off x="142646" y="4179148"/>
              <a:ext cx="7317240" cy="698583"/>
              <a:chOff x="133121" y="4179148"/>
              <a:chExt cx="7317240" cy="698583"/>
            </a:xfrm>
          </p:grpSpPr>
          <p:sp>
            <p:nvSpPr>
              <p:cNvPr id="20" name="Freeform 5"/>
              <p:cNvSpPr>
                <a:spLocks/>
              </p:cNvSpPr>
              <p:nvPr/>
            </p:nvSpPr>
            <p:spPr bwMode="auto">
              <a:xfrm>
                <a:off x="927100" y="4202884"/>
                <a:ext cx="824164" cy="674847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408080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4000" b="1" dirty="0">
                  <a:ea typeface="微软雅黑" pitchFamily="34" charset="-122"/>
                </a:endParaRPr>
              </a:p>
            </p:txBody>
          </p:sp>
          <p:sp>
            <p:nvSpPr>
              <p:cNvPr id="21" name="TextBox 6"/>
              <p:cNvSpPr txBox="1">
                <a:spLocks noChangeArrowheads="1"/>
              </p:cNvSpPr>
              <p:nvPr/>
            </p:nvSpPr>
            <p:spPr bwMode="auto">
              <a:xfrm>
                <a:off x="133121" y="4179148"/>
                <a:ext cx="7317240" cy="6872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10.4 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散列表的查找</a:t>
                </a:r>
              </a:p>
            </p:txBody>
          </p:sp>
        </p:grpSp>
        <p:pic>
          <p:nvPicPr>
            <p:cNvPr id="19" name="图片 18" descr="无标题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7949" y="4364064"/>
              <a:ext cx="433676" cy="3309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83420094"/>
      </p:ext>
    </p:extLst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6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56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56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56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6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56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56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56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56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6" grpId="0" animBg="1"/>
      <p:bldP spid="56327" grpId="0" animBg="1"/>
      <p:bldP spid="56328" grpId="0" animBg="1"/>
      <p:bldP spid="56329" grpId="0" animBg="1"/>
      <p:bldP spid="56330" grpId="0" animBg="1"/>
      <p:bldP spid="56331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8" y="923101"/>
            <a:ext cx="8497887" cy="5111750"/>
          </a:xfrm>
        </p:spPr>
        <p:txBody>
          <a:bodyPr/>
          <a:lstStyle/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/>
              <a:t>更一般情况：</a:t>
            </a:r>
          </a:p>
          <a:p>
            <a:pPr marL="495300" indent="-495300" eaLnBrk="1" hangingPunct="1">
              <a:buClr>
                <a:srgbClr val="FF0000"/>
              </a:buClr>
            </a:pPr>
            <a:r>
              <a:rPr lang="zh-CN" altLang="en-US" sz="2400" dirty="0"/>
              <a:t>对给定的关键字</a:t>
            </a:r>
            <a:r>
              <a:rPr lang="en-US" altLang="zh-CN" sz="2400" dirty="0"/>
              <a:t>key</a:t>
            </a:r>
            <a:r>
              <a:rPr lang="zh-CN" altLang="en-US" sz="2400" dirty="0"/>
              <a:t>，</a:t>
            </a:r>
          </a:p>
          <a:p>
            <a:pPr marL="495300" indent="-495300" eaLnBrk="1" hangingPunct="1">
              <a:buClr>
                <a:srgbClr val="FF0000"/>
              </a:buClr>
            </a:pPr>
            <a:r>
              <a:rPr lang="zh-CN" altLang="en-US" sz="2400" dirty="0"/>
              <a:t>用一个函数</a:t>
            </a:r>
            <a:r>
              <a:rPr lang="en-US" altLang="zh-CN" sz="2400" dirty="0"/>
              <a:t>H(key)</a:t>
            </a:r>
            <a:r>
              <a:rPr lang="zh-CN" altLang="en-US" sz="2400" dirty="0"/>
              <a:t>计算出元素地址，</a:t>
            </a:r>
          </a:p>
          <a:p>
            <a:pPr marL="495300" indent="-495300" eaLnBrk="1" hangingPunct="1">
              <a:buClr>
                <a:srgbClr val="FF0000"/>
              </a:buClr>
            </a:pPr>
            <a:r>
              <a:rPr lang="zh-CN" altLang="en-US" sz="2400" dirty="0"/>
              <a:t>由此而得</a:t>
            </a:r>
            <a:r>
              <a:rPr lang="zh-CN" altLang="en-US" sz="2400" b="1" dirty="0">
                <a:solidFill>
                  <a:schemeClr val="accent2"/>
                </a:solidFill>
              </a:rPr>
              <a:t>散列表</a:t>
            </a:r>
            <a:r>
              <a:rPr lang="zh-CN" altLang="en-US" sz="2400" dirty="0"/>
              <a:t>（</a:t>
            </a:r>
            <a:r>
              <a:rPr lang="en-US" altLang="zh-CN" sz="2400" dirty="0"/>
              <a:t>Hash</a:t>
            </a:r>
            <a:r>
              <a:rPr lang="zh-CN" altLang="en-US" sz="2400" dirty="0"/>
              <a:t>表，哈希表），</a:t>
            </a:r>
          </a:p>
          <a:p>
            <a:pPr marL="928688" lvl="1" indent="-457200" eaLnBrk="1" hangingPunct="1">
              <a:buClr>
                <a:srgbClr val="FF0000"/>
              </a:buClr>
            </a:pPr>
            <a:r>
              <a:rPr lang="zh-CN" altLang="en-US" sz="2400" dirty="0"/>
              <a:t>其中函数</a:t>
            </a:r>
            <a:r>
              <a:rPr lang="en-US" altLang="zh-CN" sz="2400" dirty="0"/>
              <a:t>H(key)</a:t>
            </a:r>
            <a:r>
              <a:rPr lang="zh-CN" altLang="en-US" sz="2400" dirty="0"/>
              <a:t>称为</a:t>
            </a:r>
            <a:r>
              <a:rPr lang="zh-CN" altLang="en-US" sz="2400" b="1" dirty="0">
                <a:solidFill>
                  <a:schemeClr val="accent2"/>
                </a:solidFill>
              </a:rPr>
              <a:t>散列函数 </a:t>
            </a:r>
            <a:r>
              <a:rPr lang="en-US" altLang="zh-CN" sz="2400" b="1" dirty="0">
                <a:solidFill>
                  <a:schemeClr val="accent2"/>
                </a:solidFill>
              </a:rPr>
              <a:t>(</a:t>
            </a:r>
            <a:r>
              <a:rPr lang="en-US" altLang="zh-CN" sz="2400" b="1" dirty="0">
                <a:solidFill>
                  <a:srgbClr val="0000FF"/>
                </a:solidFill>
              </a:rPr>
              <a:t>Hash Function</a:t>
            </a:r>
            <a:r>
              <a:rPr lang="en-US" altLang="zh-CN" sz="2400" b="1" dirty="0">
                <a:solidFill>
                  <a:schemeClr val="accent2"/>
                </a:solidFill>
              </a:rPr>
              <a:t>)</a:t>
            </a:r>
            <a:endParaRPr lang="zh-CN" altLang="en-US" sz="2400" dirty="0"/>
          </a:p>
          <a:p>
            <a:pPr marL="928688" lvl="1" indent="-457200" eaLnBrk="1" hangingPunct="1">
              <a:buClr>
                <a:srgbClr val="FF0000"/>
              </a:buClr>
            </a:pPr>
            <a:r>
              <a:rPr lang="zh-CN" altLang="en-US" sz="2400" dirty="0"/>
              <a:t>此函数值称为</a:t>
            </a:r>
            <a:r>
              <a:rPr lang="zh-CN" altLang="en-US" sz="2400" b="1" dirty="0">
                <a:solidFill>
                  <a:schemeClr val="accent2"/>
                </a:solidFill>
              </a:rPr>
              <a:t>散列地址 </a:t>
            </a:r>
            <a:r>
              <a:rPr lang="en-US" altLang="zh-CN" sz="2400" b="1" dirty="0">
                <a:solidFill>
                  <a:schemeClr val="accent2"/>
                </a:solidFill>
              </a:rPr>
              <a:t>(</a:t>
            </a:r>
            <a:r>
              <a:rPr lang="en-US" altLang="zh-CN" sz="2400" b="1" dirty="0">
                <a:solidFill>
                  <a:srgbClr val="0000FF"/>
                </a:solidFill>
              </a:rPr>
              <a:t>Hash Address</a:t>
            </a:r>
            <a:r>
              <a:rPr lang="en-US" altLang="zh-CN" sz="2400" b="1" dirty="0">
                <a:solidFill>
                  <a:schemeClr val="accent2"/>
                </a:solidFill>
              </a:rPr>
              <a:t>)</a:t>
            </a:r>
            <a:r>
              <a:rPr lang="zh-CN" altLang="en-US" sz="2400" dirty="0"/>
              <a:t>。</a:t>
            </a:r>
          </a:p>
          <a:p>
            <a:pPr marL="495300" indent="-495300" eaLnBrk="1" hangingPunct="1">
              <a:buClr>
                <a:srgbClr val="FF0000"/>
              </a:buClr>
            </a:pPr>
            <a:r>
              <a:rPr lang="zh-CN" altLang="en-US" sz="2400" dirty="0"/>
              <a:t>然而，在实际应用中，会出现这样的情况：</a:t>
            </a:r>
          </a:p>
          <a:p>
            <a:pPr marL="495300" indent="-495300"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        </a:t>
            </a:r>
            <a:r>
              <a:rPr lang="en-US" altLang="zh-CN" sz="2400" dirty="0"/>
              <a:t>k</a:t>
            </a:r>
            <a:r>
              <a:rPr lang="en-US" altLang="zh-CN" sz="2400" baseline="-25000" dirty="0"/>
              <a:t>1 </a:t>
            </a:r>
            <a:r>
              <a:rPr lang="en-US" altLang="zh-CN" sz="2400" dirty="0"/>
              <a:t>≠ k</a:t>
            </a:r>
            <a:r>
              <a:rPr lang="en-US" altLang="zh-CN" sz="2400" baseline="-25000" dirty="0"/>
              <a:t>2</a:t>
            </a:r>
            <a:r>
              <a:rPr lang="zh-CN" altLang="en-US" sz="2400" dirty="0"/>
              <a:t>，但</a:t>
            </a:r>
            <a:r>
              <a:rPr lang="en-US" altLang="zh-CN" sz="2400" dirty="0"/>
              <a:t>H(k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) = H(k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) </a:t>
            </a:r>
            <a:r>
              <a:rPr lang="zh-CN" altLang="en-US" sz="2400" dirty="0"/>
              <a:t>，</a:t>
            </a:r>
          </a:p>
          <a:p>
            <a:pPr marL="495300" indent="-495300"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       称这种现象为</a:t>
            </a:r>
            <a:r>
              <a:rPr lang="zh-CN" altLang="en-US" sz="2400" b="1" dirty="0">
                <a:solidFill>
                  <a:srgbClr val="FF0000"/>
                </a:solidFill>
              </a:rPr>
              <a:t>冲突</a:t>
            </a:r>
            <a:r>
              <a:rPr lang="en-US" altLang="zh-CN" sz="2400" b="1" dirty="0">
                <a:solidFill>
                  <a:srgbClr val="FF0000"/>
                </a:solidFill>
              </a:rPr>
              <a:t>(</a:t>
            </a:r>
            <a:r>
              <a:rPr lang="en-US" altLang="zh-CN" sz="2400" b="1" dirty="0">
                <a:solidFill>
                  <a:srgbClr val="0000FF"/>
                </a:solidFill>
              </a:rPr>
              <a:t>Conflict</a:t>
            </a:r>
            <a:r>
              <a:rPr lang="en-US" altLang="zh-CN" sz="2400" b="1" dirty="0">
                <a:solidFill>
                  <a:srgbClr val="FF0000"/>
                </a:solidFill>
              </a:rPr>
              <a:t>)</a:t>
            </a:r>
            <a:r>
              <a:rPr lang="zh-CN" altLang="en-US" sz="2400" dirty="0"/>
              <a:t>现象，</a:t>
            </a:r>
            <a:r>
              <a:rPr lang="en-US" altLang="zh-CN" sz="2400" dirty="0"/>
              <a:t>k</a:t>
            </a:r>
            <a:r>
              <a:rPr lang="en-US" altLang="zh-CN" sz="2400" baseline="-25000" dirty="0"/>
              <a:t>1</a:t>
            </a:r>
            <a:r>
              <a:rPr lang="zh-CN" altLang="en-US" sz="2400" dirty="0"/>
              <a:t>、</a:t>
            </a:r>
            <a:r>
              <a:rPr lang="en-US" altLang="zh-CN" sz="2400" dirty="0"/>
              <a:t>k</a:t>
            </a:r>
            <a:r>
              <a:rPr lang="en-US" altLang="zh-CN" sz="2400" baseline="-25000" dirty="0"/>
              <a:t>2</a:t>
            </a:r>
            <a:r>
              <a:rPr lang="zh-CN" altLang="en-US" sz="2400" dirty="0"/>
              <a:t>为</a:t>
            </a:r>
            <a:r>
              <a:rPr lang="zh-CN" altLang="en-US" sz="2400" dirty="0">
                <a:solidFill>
                  <a:srgbClr val="FF0000"/>
                </a:solidFill>
              </a:rPr>
              <a:t>同义词</a:t>
            </a:r>
            <a:r>
              <a:rPr lang="zh-CN" altLang="en-US" sz="2400" dirty="0"/>
              <a:t>。</a:t>
            </a:r>
          </a:p>
          <a:p>
            <a:pPr marL="495300" indent="-495300" eaLnBrk="1" hangingPunct="1">
              <a:buClr>
                <a:srgbClr val="FF0000"/>
              </a:buClr>
            </a:pPr>
            <a:r>
              <a:rPr lang="zh-CN" altLang="en-US" sz="2400" dirty="0"/>
              <a:t>针对冲突</a:t>
            </a:r>
            <a:r>
              <a:rPr lang="en-US" altLang="zh-CN" sz="2400" dirty="0"/>
              <a:t>——</a:t>
            </a:r>
            <a:r>
              <a:rPr lang="zh-CN" altLang="en-US" sz="2400" dirty="0"/>
              <a:t>如何解决冲突呢？</a:t>
            </a:r>
          </a:p>
          <a:p>
            <a:pPr marL="1328738" lvl="2" indent="-419100" eaLnBrk="1" hangingPunct="1">
              <a:buClr>
                <a:srgbClr val="FF0000"/>
              </a:buClr>
              <a:buFont typeface="Wingdings" panose="05000000000000000000" pitchFamily="2" charset="2"/>
              <a:buChar char="u"/>
            </a:pPr>
            <a:r>
              <a:rPr lang="zh-CN" altLang="en-US" sz="2000" dirty="0"/>
              <a:t>构造好的散列函数，以免冲突</a:t>
            </a:r>
          </a:p>
          <a:p>
            <a:pPr marL="1328738" lvl="2" indent="-419100" eaLnBrk="1" hangingPunct="1">
              <a:buFont typeface="Wingdings" panose="05000000000000000000" pitchFamily="2" charset="2"/>
              <a:buNone/>
            </a:pPr>
            <a:r>
              <a:rPr lang="zh-CN" altLang="en-US" sz="2000" dirty="0"/>
              <a:t>      由于冲突不可避免，因此，确切地说是减少冲突</a:t>
            </a:r>
          </a:p>
          <a:p>
            <a:pPr marL="1328738" lvl="2" indent="-419100" eaLnBrk="1" hangingPunct="1">
              <a:buClr>
                <a:srgbClr val="FF0000"/>
              </a:buClr>
              <a:buFont typeface="Wingdings" panose="05000000000000000000" pitchFamily="2" charset="2"/>
              <a:buChar char="u"/>
            </a:pPr>
            <a:r>
              <a:rPr lang="zh-CN" altLang="en-US" sz="2000" dirty="0"/>
              <a:t>妥善处理冲突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71</a:t>
            </a:fld>
            <a:endParaRPr lang="zh-CN" altLang="en-US" dirty="0"/>
          </a:p>
        </p:txBody>
      </p:sp>
      <p:grpSp>
        <p:nvGrpSpPr>
          <p:cNvPr id="6" name="组合 67"/>
          <p:cNvGrpSpPr/>
          <p:nvPr/>
        </p:nvGrpSpPr>
        <p:grpSpPr>
          <a:xfrm>
            <a:off x="-149454" y="114580"/>
            <a:ext cx="6789967" cy="656947"/>
            <a:chOff x="142646" y="4179148"/>
            <a:chExt cx="7317240" cy="698583"/>
          </a:xfrm>
        </p:grpSpPr>
        <p:grpSp>
          <p:nvGrpSpPr>
            <p:cNvPr id="7" name="组合 106"/>
            <p:cNvGrpSpPr/>
            <p:nvPr/>
          </p:nvGrpSpPr>
          <p:grpSpPr>
            <a:xfrm>
              <a:off x="142646" y="4179148"/>
              <a:ext cx="7317240" cy="698583"/>
              <a:chOff x="133121" y="4179148"/>
              <a:chExt cx="7317240" cy="698583"/>
            </a:xfrm>
          </p:grpSpPr>
          <p:sp>
            <p:nvSpPr>
              <p:cNvPr id="9" name="Freeform 5"/>
              <p:cNvSpPr>
                <a:spLocks/>
              </p:cNvSpPr>
              <p:nvPr/>
            </p:nvSpPr>
            <p:spPr bwMode="auto">
              <a:xfrm>
                <a:off x="927100" y="4202884"/>
                <a:ext cx="824164" cy="674847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408080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4000" b="1" dirty="0">
                  <a:ea typeface="微软雅黑" pitchFamily="34" charset="-122"/>
                </a:endParaRPr>
              </a:p>
            </p:txBody>
          </p:sp>
          <p:sp>
            <p:nvSpPr>
              <p:cNvPr id="10" name="TextBox 6"/>
              <p:cNvSpPr txBox="1">
                <a:spLocks noChangeArrowheads="1"/>
              </p:cNvSpPr>
              <p:nvPr/>
            </p:nvSpPr>
            <p:spPr bwMode="auto">
              <a:xfrm>
                <a:off x="133121" y="4179148"/>
                <a:ext cx="7317240" cy="6872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10.4 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散列表的查找</a:t>
                </a:r>
              </a:p>
            </p:txBody>
          </p:sp>
        </p:grpSp>
        <p:pic>
          <p:nvPicPr>
            <p:cNvPr id="8" name="图片 7" descr="无标题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7949" y="4364064"/>
              <a:ext cx="433676" cy="3309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24588483"/>
      </p:ext>
    </p:extLst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6136" y="4639394"/>
            <a:ext cx="2714625" cy="1885950"/>
          </a:xfrm>
          <a:prstGeom prst="rect">
            <a:avLst/>
          </a:prstGeom>
        </p:spPr>
      </p:pic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981075"/>
            <a:ext cx="7993062" cy="574675"/>
          </a:xfrm>
        </p:spPr>
        <p:txBody>
          <a:bodyPr/>
          <a:lstStyle/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3200" b="1" dirty="0"/>
              <a:t>构造散列函数的基本方法</a:t>
            </a:r>
          </a:p>
        </p:txBody>
      </p:sp>
      <p:pic>
        <p:nvPicPr>
          <p:cNvPr id="5837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5998" y="2789511"/>
            <a:ext cx="2047875" cy="188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373" name="Rectangle 5"/>
          <p:cNvSpPr>
            <a:spLocks noChangeArrowheads="1"/>
          </p:cNvSpPr>
          <p:nvPr/>
        </p:nvSpPr>
        <p:spPr bwMode="auto">
          <a:xfrm>
            <a:off x="755649" y="2204864"/>
            <a:ext cx="7920038" cy="892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sz="2400" b="1" dirty="0">
                <a:latin typeface="Times New Roman" panose="02020603050405020304" pitchFamily="18" charset="0"/>
              </a:rPr>
              <a:t>除留余数法</a:t>
            </a:r>
            <a:r>
              <a:rPr lang="en-US" altLang="zh-CN" sz="3200" b="1" dirty="0">
                <a:latin typeface="Times New Roman" panose="02020603050405020304" pitchFamily="18" charset="0"/>
              </a:rPr>
              <a:t>(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Division Method</a:t>
            </a:r>
            <a:r>
              <a:rPr lang="en-US" altLang="zh-CN" sz="3200" b="1" dirty="0">
                <a:latin typeface="Times New Roman" panose="02020603050405020304" pitchFamily="18" charset="0"/>
              </a:rPr>
              <a:t>) </a:t>
            </a:r>
            <a:r>
              <a:rPr lang="zh-CN" altLang="en-US" sz="2400" dirty="0">
                <a:latin typeface="Times New Roman" panose="02020603050405020304" pitchFamily="18" charset="0"/>
              </a:rPr>
              <a:t>：</a:t>
            </a:r>
            <a:r>
              <a:rPr lang="en-US" altLang="zh-CN" sz="2000" dirty="0">
                <a:latin typeface="Times New Roman" panose="02020603050405020304" pitchFamily="18" charset="0"/>
              </a:rPr>
              <a:t>H(k)= k % p </a:t>
            </a:r>
          </a:p>
          <a:p>
            <a:pPr>
              <a:buClr>
                <a:srgbClr val="FF0000"/>
              </a:buClr>
            </a:pPr>
            <a:r>
              <a:rPr lang="en-US" altLang="zh-CN" sz="2000" dirty="0">
                <a:latin typeface="Times New Roman" panose="02020603050405020304" pitchFamily="18" charset="0"/>
              </a:rPr>
              <a:t>     </a:t>
            </a:r>
            <a:r>
              <a:rPr lang="zh-CN" altLang="en-US" sz="2000" dirty="0">
                <a:latin typeface="Times New Roman" panose="02020603050405020304" pitchFamily="18" charset="0"/>
              </a:rPr>
              <a:t>其中</a:t>
            </a:r>
            <a:r>
              <a:rPr lang="en-US" altLang="zh-CN" sz="2000" dirty="0" err="1">
                <a:latin typeface="Times New Roman" panose="02020603050405020304" pitchFamily="18" charset="0"/>
              </a:rPr>
              <a:t>p≤m,m</a:t>
            </a:r>
            <a:r>
              <a:rPr lang="zh-CN" altLang="en-US" sz="2000" dirty="0">
                <a:latin typeface="Times New Roman" panose="02020603050405020304" pitchFamily="18" charset="0"/>
              </a:rPr>
              <a:t>为数组规模的最大质数。</a:t>
            </a:r>
          </a:p>
        </p:txBody>
      </p:sp>
      <p:sp>
        <p:nvSpPr>
          <p:cNvPr id="58374" name="Rectangle 6"/>
          <p:cNvSpPr>
            <a:spLocks noChangeArrowheads="1"/>
          </p:cNvSpPr>
          <p:nvPr/>
        </p:nvSpPr>
        <p:spPr bwMode="auto">
          <a:xfrm>
            <a:off x="755649" y="3006973"/>
            <a:ext cx="5280025" cy="15388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sz="2400" b="1" dirty="0">
                <a:latin typeface="Times New Roman" panose="02020603050405020304" pitchFamily="18" charset="0"/>
              </a:rPr>
              <a:t>平方取中法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Mid-square Method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zh-CN" altLang="en-US" sz="2400" b="1" dirty="0">
                <a:latin typeface="Times New Roman" panose="02020603050405020304" pitchFamily="18" charset="0"/>
              </a:rPr>
              <a:t>：</a:t>
            </a:r>
          </a:p>
          <a:p>
            <a:pPr marL="342900" indent="-342900"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2000" dirty="0">
                <a:latin typeface="Times New Roman" panose="02020603050405020304" pitchFamily="18" charset="0"/>
              </a:rPr>
              <a:t>例：</a:t>
            </a:r>
            <a:r>
              <a:rPr lang="en-US" altLang="zh-CN" sz="2000" dirty="0">
                <a:latin typeface="Times New Roman" panose="02020603050405020304" pitchFamily="18" charset="0"/>
              </a:rPr>
              <a:t>325</a:t>
            </a:r>
            <a:r>
              <a:rPr lang="zh-CN" altLang="en-US" sz="2000" dirty="0">
                <a:latin typeface="Times New Roman" panose="02020603050405020304" pitchFamily="18" charset="0"/>
              </a:rPr>
              <a:t>在平方后取</a:t>
            </a:r>
            <a:r>
              <a:rPr lang="en-US" altLang="zh-CN" sz="2000" dirty="0">
                <a:latin typeface="Times New Roman" panose="02020603050405020304" pitchFamily="18" charset="0"/>
              </a:rPr>
              <a:t>105625</a:t>
            </a:r>
            <a:r>
              <a:rPr lang="zh-CN" altLang="en-US" sz="2000" dirty="0">
                <a:latin typeface="Times New Roman" panose="02020603050405020304" pitchFamily="18" charset="0"/>
              </a:rPr>
              <a:t>中间两位，   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>
              <a:spcBef>
                <a:spcPts val="600"/>
              </a:spcBef>
              <a:buClr>
                <a:srgbClr val="FF0000"/>
              </a:buClr>
            </a:pPr>
            <a:r>
              <a:rPr lang="en-US" altLang="zh-CN" sz="2000" dirty="0">
                <a:latin typeface="Times New Roman" panose="02020603050405020304" pitchFamily="18" charset="0"/>
              </a:rPr>
              <a:t>       </a:t>
            </a:r>
            <a:r>
              <a:rPr lang="zh-CN" altLang="en-US" sz="2000" dirty="0">
                <a:latin typeface="Times New Roman" panose="02020603050405020304" pitchFamily="18" charset="0"/>
              </a:rPr>
              <a:t>即</a:t>
            </a:r>
            <a:r>
              <a:rPr lang="en-US" altLang="zh-CN" sz="2000" dirty="0">
                <a:latin typeface="Times New Roman" panose="02020603050405020304" pitchFamily="18" charset="0"/>
              </a:rPr>
              <a:t>56</a:t>
            </a:r>
            <a:r>
              <a:rPr lang="zh-CN" altLang="en-US" sz="2000" dirty="0">
                <a:latin typeface="Times New Roman" panose="02020603050405020304" pitchFamily="18" charset="0"/>
              </a:rPr>
              <a:t>作为它的散列地址。</a:t>
            </a:r>
          </a:p>
          <a:p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58376" name="Rectangle 8"/>
          <p:cNvSpPr>
            <a:spLocks noChangeArrowheads="1"/>
          </p:cNvSpPr>
          <p:nvPr/>
        </p:nvSpPr>
        <p:spPr bwMode="auto">
          <a:xfrm>
            <a:off x="828674" y="4365873"/>
            <a:ext cx="5207001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sz="2400" b="1" dirty="0">
                <a:latin typeface="Times New Roman" panose="02020603050405020304" pitchFamily="18" charset="0"/>
              </a:rPr>
              <a:t>折叠法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Folding Method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zh-CN" altLang="en-US" sz="2400" b="1" dirty="0">
                <a:latin typeface="Times New Roman" panose="02020603050405020304" pitchFamily="18" charset="0"/>
              </a:rPr>
              <a:t>：</a:t>
            </a:r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2000" dirty="0">
                <a:latin typeface="Times New Roman" panose="02020603050405020304" pitchFamily="18" charset="0"/>
                <a:ea typeface="仿宋" panose="02010609060101010101" pitchFamily="49" charset="-122"/>
              </a:rPr>
              <a:t>如 身份证号码：</a:t>
            </a:r>
            <a:r>
              <a:rPr lang="en-US" altLang="zh-CN" sz="2000" dirty="0">
                <a:latin typeface="Times New Roman" panose="02020603050405020304" pitchFamily="18" charset="0"/>
                <a:ea typeface="仿宋" panose="02010609060101010101" pitchFamily="49" charset="-122"/>
              </a:rPr>
              <a:t>40104198805061532</a:t>
            </a:r>
          </a:p>
          <a:p>
            <a:pPr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仿宋" panose="02010609060101010101" pitchFamily="49" charset="-122"/>
              </a:rPr>
              <a:t>    先进行分组：</a:t>
            </a:r>
            <a:r>
              <a:rPr lang="en-US" altLang="zh-CN" sz="2000" u="sng" dirty="0">
                <a:latin typeface="Times New Roman" panose="02020603050405020304" pitchFamily="18" charset="0"/>
                <a:ea typeface="仿宋" panose="02010609060101010101" pitchFamily="49" charset="-122"/>
              </a:rPr>
              <a:t>340</a:t>
            </a:r>
            <a:r>
              <a:rPr lang="en-US" altLang="zh-CN" sz="2000" dirty="0">
                <a:latin typeface="Times New Roman" panose="02020603050405020304" pitchFamily="18" charset="0"/>
                <a:ea typeface="仿宋" panose="02010609060101010101" pitchFamily="49" charset="-122"/>
              </a:rPr>
              <a:t> </a:t>
            </a:r>
            <a:r>
              <a:rPr lang="en-US" altLang="zh-CN" sz="2000" u="sng" dirty="0">
                <a:latin typeface="Times New Roman" panose="02020603050405020304" pitchFamily="18" charset="0"/>
                <a:ea typeface="仿宋" panose="02010609060101010101" pitchFamily="49" charset="-122"/>
              </a:rPr>
              <a:t>104</a:t>
            </a:r>
            <a:r>
              <a:rPr lang="en-US" altLang="zh-CN" sz="2000" dirty="0">
                <a:latin typeface="Times New Roman" panose="02020603050405020304" pitchFamily="18" charset="0"/>
                <a:ea typeface="仿宋" panose="02010609060101010101" pitchFamily="49" charset="-122"/>
              </a:rPr>
              <a:t> </a:t>
            </a:r>
            <a:r>
              <a:rPr lang="en-US" altLang="zh-CN" sz="2000" u="sng" dirty="0">
                <a:latin typeface="Times New Roman" panose="02020603050405020304" pitchFamily="18" charset="0"/>
                <a:ea typeface="仿宋" panose="02010609060101010101" pitchFamily="49" charset="-122"/>
              </a:rPr>
              <a:t>198</a:t>
            </a:r>
            <a:r>
              <a:rPr lang="en-US" altLang="zh-CN" sz="2000" dirty="0">
                <a:latin typeface="Times New Roman" panose="02020603050405020304" pitchFamily="18" charset="0"/>
                <a:ea typeface="仿宋" panose="02010609060101010101" pitchFamily="49" charset="-122"/>
              </a:rPr>
              <a:t> </a:t>
            </a:r>
            <a:r>
              <a:rPr lang="en-US" altLang="zh-CN" sz="2000" u="sng" dirty="0">
                <a:latin typeface="Times New Roman" panose="02020603050405020304" pitchFamily="18" charset="0"/>
                <a:ea typeface="仿宋" panose="02010609060101010101" pitchFamily="49" charset="-122"/>
              </a:rPr>
              <a:t>805</a:t>
            </a:r>
            <a:r>
              <a:rPr lang="en-US" altLang="zh-CN" sz="2000" dirty="0">
                <a:latin typeface="Times New Roman" panose="02020603050405020304" pitchFamily="18" charset="0"/>
                <a:ea typeface="仿宋" panose="02010609060101010101" pitchFamily="49" charset="-122"/>
              </a:rPr>
              <a:t> </a:t>
            </a:r>
            <a:r>
              <a:rPr lang="en-US" altLang="zh-CN" sz="2000" u="sng" dirty="0">
                <a:latin typeface="Times New Roman" panose="02020603050405020304" pitchFamily="18" charset="0"/>
                <a:ea typeface="仿宋" panose="02010609060101010101" pitchFamily="49" charset="-122"/>
              </a:rPr>
              <a:t>061</a:t>
            </a:r>
            <a:r>
              <a:rPr lang="en-US" altLang="zh-CN" sz="2000" dirty="0">
                <a:latin typeface="Times New Roman" panose="02020603050405020304" pitchFamily="18" charset="0"/>
                <a:ea typeface="仿宋" panose="02010609060101010101" pitchFamily="49" charset="-122"/>
              </a:rPr>
              <a:t> </a:t>
            </a:r>
            <a:r>
              <a:rPr lang="en-US" altLang="zh-CN" sz="2000" u="sng" dirty="0">
                <a:latin typeface="Times New Roman" panose="02020603050405020304" pitchFamily="18" charset="0"/>
                <a:ea typeface="仿宋" panose="02010609060101010101" pitchFamily="49" charset="-122"/>
              </a:rPr>
              <a:t>532</a:t>
            </a:r>
            <a:endParaRPr lang="zh-CN" altLang="en-US" sz="2000" u="sng" dirty="0">
              <a:latin typeface="Times New Roman" panose="02020603050405020304" pitchFamily="18" charset="0"/>
              <a:ea typeface="仿宋" panose="02010609060101010101" pitchFamily="49" charset="-122"/>
            </a:endParaRPr>
          </a:p>
        </p:txBody>
      </p:sp>
      <p:sp>
        <p:nvSpPr>
          <p:cNvPr id="58377" name="Rectangle 9"/>
          <p:cNvSpPr>
            <a:spLocks noChangeArrowheads="1"/>
          </p:cNvSpPr>
          <p:nvPr/>
        </p:nvSpPr>
        <p:spPr bwMode="auto">
          <a:xfrm>
            <a:off x="827088" y="5877173"/>
            <a:ext cx="539891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sz="2400" b="1" dirty="0">
                <a:latin typeface="Times New Roman" panose="02020603050405020304" pitchFamily="18" charset="0"/>
              </a:rPr>
              <a:t>数值分析法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Digit Analysis Method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endParaRPr lang="zh-CN" altLang="en-US" sz="2400" u="sng" dirty="0">
              <a:latin typeface="Times New Roman" panose="02020603050405020304" pitchFamily="18" charset="0"/>
            </a:endParaRPr>
          </a:p>
        </p:txBody>
      </p:sp>
      <p:sp>
        <p:nvSpPr>
          <p:cNvPr id="58378" name="Rectangle 10"/>
          <p:cNvSpPr>
            <a:spLocks noChangeArrowheads="1"/>
          </p:cNvSpPr>
          <p:nvPr/>
        </p:nvSpPr>
        <p:spPr bwMode="auto">
          <a:xfrm>
            <a:off x="755650" y="1531938"/>
            <a:ext cx="8208838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2400" b="1" dirty="0">
                <a:latin typeface="Times New Roman" panose="02020603050405020304" pitchFamily="18" charset="0"/>
              </a:rPr>
              <a:t>直接定址法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Immediately Allocate Method</a:t>
            </a:r>
            <a:r>
              <a:rPr lang="en-US" altLang="zh-CN" sz="2400" b="1" dirty="0">
                <a:latin typeface="Times New Roman" panose="02020603050405020304" pitchFamily="18" charset="0"/>
              </a:rPr>
              <a:t>) </a:t>
            </a:r>
            <a:r>
              <a:rPr lang="zh-CN" altLang="en-US" sz="2400" dirty="0">
                <a:latin typeface="Times New Roman" panose="02020603050405020304" pitchFamily="18" charset="0"/>
              </a:rPr>
              <a:t>：</a:t>
            </a:r>
            <a:r>
              <a:rPr lang="en-US" altLang="zh-CN" sz="2000" dirty="0">
                <a:latin typeface="Times New Roman" panose="02020603050405020304" pitchFamily="18" charset="0"/>
              </a:rPr>
              <a:t>H(k)= k </a:t>
            </a:r>
            <a:r>
              <a:rPr lang="zh-CN" altLang="en-US" sz="2000" dirty="0">
                <a:latin typeface="Times New Roman" panose="02020603050405020304" pitchFamily="18" charset="0"/>
              </a:rPr>
              <a:t>或者 </a:t>
            </a:r>
            <a:r>
              <a:rPr lang="en-US" altLang="zh-CN" sz="2000" dirty="0">
                <a:latin typeface="Times New Roman" panose="02020603050405020304" pitchFamily="18" charset="0"/>
              </a:rPr>
              <a:t>H(k)= </a:t>
            </a:r>
            <a:r>
              <a:rPr lang="en-US" altLang="zh-CN" sz="2000" dirty="0" err="1">
                <a:latin typeface="Times New Roman" panose="02020603050405020304" pitchFamily="18" charset="0"/>
              </a:rPr>
              <a:t>ak+b</a:t>
            </a:r>
            <a:r>
              <a:rPr lang="en-US" altLang="zh-CN" sz="2000" dirty="0">
                <a:latin typeface="Times New Roman" panose="02020603050405020304" pitchFamily="18" charset="0"/>
              </a:rPr>
              <a:t> </a:t>
            </a:r>
          </a:p>
          <a:p>
            <a:pPr>
              <a:buClr>
                <a:srgbClr val="FF0000"/>
              </a:buClr>
              <a:defRPr/>
            </a:pPr>
            <a:r>
              <a:rPr lang="en-US" altLang="zh-CN" sz="2000" dirty="0">
                <a:latin typeface="Times New Roman" panose="02020603050405020304" pitchFamily="18" charset="0"/>
              </a:rPr>
              <a:t>    </a:t>
            </a:r>
            <a:r>
              <a:rPr lang="zh-CN" altLang="en-US" sz="2000" dirty="0">
                <a:latin typeface="Times New Roman" panose="02020603050405020304" pitchFamily="18" charset="0"/>
              </a:rPr>
              <a:t>（</a:t>
            </a:r>
            <a:r>
              <a:rPr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a</a:t>
            </a:r>
            <a:r>
              <a:rPr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，</a:t>
            </a:r>
            <a:r>
              <a:rPr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b</a:t>
            </a:r>
            <a:r>
              <a:rPr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为任意正整数）</a:t>
            </a:r>
          </a:p>
        </p:txBody>
      </p:sp>
      <p:sp>
        <p:nvSpPr>
          <p:cNvPr id="58379" name="Oval 11"/>
          <p:cNvSpPr>
            <a:spLocks noChangeArrowheads="1"/>
          </p:cNvSpPr>
          <p:nvPr/>
        </p:nvSpPr>
        <p:spPr bwMode="auto">
          <a:xfrm>
            <a:off x="6372225" y="4221411"/>
            <a:ext cx="576263" cy="360362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58380" name="Line 12"/>
          <p:cNvSpPr>
            <a:spLocks noChangeShapeType="1"/>
          </p:cNvSpPr>
          <p:nvPr/>
        </p:nvSpPr>
        <p:spPr bwMode="auto">
          <a:xfrm>
            <a:off x="2195736" y="4149974"/>
            <a:ext cx="4176489" cy="201611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58381" name="Line 13"/>
          <p:cNvSpPr>
            <a:spLocks noChangeShapeType="1"/>
          </p:cNvSpPr>
          <p:nvPr/>
        </p:nvSpPr>
        <p:spPr bwMode="auto">
          <a:xfrm>
            <a:off x="6298232" y="4928252"/>
            <a:ext cx="6477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58382" name="Freeform 14"/>
          <p:cNvSpPr>
            <a:spLocks/>
          </p:cNvSpPr>
          <p:nvPr/>
        </p:nvSpPr>
        <p:spPr bwMode="auto">
          <a:xfrm>
            <a:off x="7632479" y="4961873"/>
            <a:ext cx="768350" cy="1219200"/>
          </a:xfrm>
          <a:custGeom>
            <a:avLst/>
            <a:gdLst>
              <a:gd name="T0" fmla="*/ 14288 w 484"/>
              <a:gd name="T1" fmla="*/ 0 h 768"/>
              <a:gd name="T2" fmla="*/ 696913 w 484"/>
              <a:gd name="T3" fmla="*/ 0 h 768"/>
              <a:gd name="T4" fmla="*/ 682625 w 484"/>
              <a:gd name="T5" fmla="*/ 203200 h 768"/>
              <a:gd name="T6" fmla="*/ 0 w 484"/>
              <a:gd name="T7" fmla="*/ 246063 h 768"/>
              <a:gd name="T8" fmla="*/ 0 w 484"/>
              <a:gd name="T9" fmla="*/ 508000 h 768"/>
              <a:gd name="T10" fmla="*/ 725488 w 484"/>
              <a:gd name="T11" fmla="*/ 522288 h 768"/>
              <a:gd name="T12" fmla="*/ 711200 w 484"/>
              <a:gd name="T13" fmla="*/ 812800 h 768"/>
              <a:gd name="T14" fmla="*/ 14288 w 484"/>
              <a:gd name="T15" fmla="*/ 768350 h 768"/>
              <a:gd name="T16" fmla="*/ 14288 w 484"/>
              <a:gd name="T17" fmla="*/ 1044575 h 768"/>
              <a:gd name="T18" fmla="*/ 768350 w 484"/>
              <a:gd name="T19" fmla="*/ 1016000 h 768"/>
              <a:gd name="T20" fmla="*/ 711200 w 484"/>
              <a:gd name="T21" fmla="*/ 1219200 h 768"/>
              <a:gd name="T22" fmla="*/ 42863 w 484"/>
              <a:gd name="T23" fmla="*/ 1219200 h 768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484"/>
              <a:gd name="T37" fmla="*/ 0 h 768"/>
              <a:gd name="T38" fmla="*/ 484 w 484"/>
              <a:gd name="T39" fmla="*/ 768 h 768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484" h="768">
                <a:moveTo>
                  <a:pt x="9" y="0"/>
                </a:moveTo>
                <a:lnTo>
                  <a:pt x="439" y="0"/>
                </a:lnTo>
                <a:lnTo>
                  <a:pt x="430" y="128"/>
                </a:lnTo>
                <a:lnTo>
                  <a:pt x="0" y="155"/>
                </a:lnTo>
                <a:lnTo>
                  <a:pt x="0" y="320"/>
                </a:lnTo>
                <a:lnTo>
                  <a:pt x="457" y="329"/>
                </a:lnTo>
                <a:lnTo>
                  <a:pt x="448" y="512"/>
                </a:lnTo>
                <a:lnTo>
                  <a:pt x="9" y="484"/>
                </a:lnTo>
                <a:lnTo>
                  <a:pt x="9" y="658"/>
                </a:lnTo>
                <a:lnTo>
                  <a:pt x="484" y="640"/>
                </a:lnTo>
                <a:lnTo>
                  <a:pt x="448" y="768"/>
                </a:lnTo>
                <a:lnTo>
                  <a:pt x="27" y="768"/>
                </a:lnTo>
              </a:path>
            </a:pathLst>
          </a:custGeom>
          <a:noFill/>
          <a:ln w="28575" cap="flat" cmpd="sng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58383" name="Line 15"/>
          <p:cNvSpPr>
            <a:spLocks noChangeShapeType="1"/>
          </p:cNvSpPr>
          <p:nvPr/>
        </p:nvSpPr>
        <p:spPr bwMode="auto">
          <a:xfrm>
            <a:off x="6298232" y="5217177"/>
            <a:ext cx="6477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58384" name="Line 16"/>
          <p:cNvSpPr>
            <a:spLocks noChangeShapeType="1"/>
          </p:cNvSpPr>
          <p:nvPr/>
        </p:nvSpPr>
        <p:spPr bwMode="auto">
          <a:xfrm>
            <a:off x="6298232" y="5504515"/>
            <a:ext cx="6477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58385" name="Line 17"/>
          <p:cNvSpPr>
            <a:spLocks noChangeShapeType="1"/>
          </p:cNvSpPr>
          <p:nvPr/>
        </p:nvSpPr>
        <p:spPr bwMode="auto">
          <a:xfrm>
            <a:off x="6298232" y="5720415"/>
            <a:ext cx="6477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58386" name="Line 18"/>
          <p:cNvSpPr>
            <a:spLocks noChangeShapeType="1"/>
          </p:cNvSpPr>
          <p:nvPr/>
        </p:nvSpPr>
        <p:spPr bwMode="auto">
          <a:xfrm>
            <a:off x="6298232" y="6009340"/>
            <a:ext cx="6477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58387" name="Line 19"/>
          <p:cNvSpPr>
            <a:spLocks noChangeShapeType="1"/>
          </p:cNvSpPr>
          <p:nvPr/>
        </p:nvSpPr>
        <p:spPr bwMode="auto">
          <a:xfrm>
            <a:off x="6298232" y="6225240"/>
            <a:ext cx="6477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58388" name="Oval 20"/>
          <p:cNvSpPr>
            <a:spLocks noChangeArrowheads="1"/>
          </p:cNvSpPr>
          <p:nvPr/>
        </p:nvSpPr>
        <p:spPr bwMode="auto">
          <a:xfrm>
            <a:off x="1969911" y="3839880"/>
            <a:ext cx="288925" cy="360362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>
                <a:latin typeface="Times New Roman" panose="02020603050405020304" pitchFamily="18" charset="0"/>
              </a:rPr>
              <a:pPr>
                <a:defRPr/>
              </a:pPr>
              <a:t>72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23" name="组合 67"/>
          <p:cNvGrpSpPr/>
          <p:nvPr/>
        </p:nvGrpSpPr>
        <p:grpSpPr>
          <a:xfrm>
            <a:off x="-149454" y="114580"/>
            <a:ext cx="6789967" cy="656947"/>
            <a:chOff x="142646" y="4179148"/>
            <a:chExt cx="7317240" cy="698583"/>
          </a:xfrm>
        </p:grpSpPr>
        <p:grpSp>
          <p:nvGrpSpPr>
            <p:cNvPr id="24" name="组合 106"/>
            <p:cNvGrpSpPr/>
            <p:nvPr/>
          </p:nvGrpSpPr>
          <p:grpSpPr>
            <a:xfrm>
              <a:off x="142646" y="4179148"/>
              <a:ext cx="7317240" cy="698583"/>
              <a:chOff x="133121" y="4179148"/>
              <a:chExt cx="7317240" cy="698583"/>
            </a:xfrm>
          </p:grpSpPr>
          <p:sp>
            <p:nvSpPr>
              <p:cNvPr id="26" name="Freeform 5"/>
              <p:cNvSpPr>
                <a:spLocks/>
              </p:cNvSpPr>
              <p:nvPr/>
            </p:nvSpPr>
            <p:spPr bwMode="auto">
              <a:xfrm>
                <a:off x="927100" y="4202884"/>
                <a:ext cx="824164" cy="674847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408080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4000" b="1" dirty="0">
                  <a:ea typeface="微软雅黑" pitchFamily="34" charset="-122"/>
                </a:endParaRPr>
              </a:p>
            </p:txBody>
          </p:sp>
          <p:sp>
            <p:nvSpPr>
              <p:cNvPr id="27" name="TextBox 6"/>
              <p:cNvSpPr txBox="1">
                <a:spLocks noChangeArrowheads="1"/>
              </p:cNvSpPr>
              <p:nvPr/>
            </p:nvSpPr>
            <p:spPr bwMode="auto">
              <a:xfrm>
                <a:off x="133121" y="4179148"/>
                <a:ext cx="7317240" cy="6872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10.4 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散列表的查找</a:t>
                </a:r>
              </a:p>
            </p:txBody>
          </p:sp>
        </p:grpSp>
        <p:pic>
          <p:nvPicPr>
            <p:cNvPr id="25" name="图片 24" descr="无标题.pn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37949" y="4364064"/>
              <a:ext cx="433676" cy="3309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40447592"/>
      </p:ext>
    </p:extLst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58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58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58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58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58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58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58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58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58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58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1" grpId="0" build="p" autoUpdateAnimBg="0"/>
      <p:bldP spid="58373" grpId="0" autoUpdateAnimBg="0"/>
      <p:bldP spid="58376" grpId="0" autoUpdateAnimBg="0"/>
      <p:bldP spid="58377" grpId="0" autoUpdateAnimBg="0"/>
      <p:bldP spid="58378" grpId="0" autoUpdateAnimBg="0"/>
      <p:bldP spid="58379" grpId="0" animBg="1"/>
      <p:bldP spid="58388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504" y="923101"/>
            <a:ext cx="8892480" cy="5314211"/>
          </a:xfrm>
        </p:spPr>
        <p:txBody>
          <a:bodyPr/>
          <a:lstStyle/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b="1" dirty="0"/>
              <a:t>处理冲突</a:t>
            </a:r>
            <a:r>
              <a:rPr lang="zh-CN" altLang="en-US" dirty="0"/>
              <a:t>：</a:t>
            </a:r>
          </a:p>
          <a:p>
            <a:pPr marL="928688" lvl="1" indent="-457200" eaLnBrk="1" hangingPunct="1"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b="1" dirty="0"/>
              <a:t>开放地址法</a:t>
            </a:r>
            <a:r>
              <a:rPr lang="en-US" altLang="zh-CN" b="1" dirty="0"/>
              <a:t>(</a:t>
            </a:r>
            <a:r>
              <a:rPr lang="en-US" altLang="zh-CN" sz="2400" b="1" dirty="0">
                <a:solidFill>
                  <a:srgbClr val="0000FF"/>
                </a:solidFill>
              </a:rPr>
              <a:t>Open Addressing</a:t>
            </a:r>
            <a:r>
              <a:rPr lang="en-US" altLang="zh-CN" b="1" dirty="0"/>
              <a:t>)</a:t>
            </a:r>
            <a:r>
              <a:rPr lang="zh-CN" altLang="en-US" b="1" dirty="0"/>
              <a:t>   </a:t>
            </a:r>
            <a:endParaRPr lang="en-US" altLang="zh-CN" b="1" dirty="0"/>
          </a:p>
          <a:p>
            <a:pPr marL="471488" lvl="1" indent="0" eaLnBrk="1" hangingPunct="1">
              <a:buClr>
                <a:srgbClr val="FF0000"/>
              </a:buClr>
              <a:buNone/>
            </a:pPr>
            <a:r>
              <a:rPr lang="en-US" altLang="zh-CN" dirty="0"/>
              <a:t>      H</a:t>
            </a:r>
            <a:r>
              <a:rPr lang="en-US" altLang="zh-CN" baseline="-25000" dirty="0"/>
              <a:t>i</a:t>
            </a:r>
            <a:r>
              <a:rPr lang="en-US" altLang="zh-CN" dirty="0"/>
              <a:t>(k)=(H(k) + d</a:t>
            </a:r>
            <a:r>
              <a:rPr lang="en-US" altLang="zh-CN" b="1" baseline="-25000" dirty="0"/>
              <a:t>i </a:t>
            </a:r>
            <a:r>
              <a:rPr lang="en-US" altLang="zh-CN" dirty="0"/>
              <a:t>) % m</a:t>
            </a:r>
            <a:r>
              <a:rPr lang="zh-CN" altLang="en-US" dirty="0"/>
              <a:t>，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=1,2,…,q, q&lt;=m</a:t>
            </a:r>
          </a:p>
          <a:p>
            <a:pPr marL="471488" lvl="1" indent="0" eaLnBrk="1" hangingPunct="1">
              <a:lnSpc>
                <a:spcPts val="1200"/>
              </a:lnSpc>
              <a:spcBef>
                <a:spcPts val="0"/>
              </a:spcBef>
              <a:buClr>
                <a:srgbClr val="FF0000"/>
              </a:buClr>
              <a:buNone/>
            </a:pPr>
            <a:endParaRPr lang="en-US" altLang="zh-CN" dirty="0"/>
          </a:p>
          <a:p>
            <a:pPr marL="1328738" lvl="2" indent="-419100" eaLnBrk="1" hangingPunct="1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b="1" dirty="0"/>
              <a:t>线性探测法</a:t>
            </a:r>
            <a:r>
              <a:rPr lang="en-US" altLang="zh-CN" b="1" dirty="0"/>
              <a:t>(</a:t>
            </a:r>
            <a:r>
              <a:rPr lang="en-US" altLang="zh-CN" b="1" dirty="0">
                <a:solidFill>
                  <a:srgbClr val="0000FF"/>
                </a:solidFill>
              </a:rPr>
              <a:t>Linear Probing</a:t>
            </a:r>
            <a:r>
              <a:rPr lang="en-US" altLang="zh-CN" b="1" dirty="0"/>
              <a:t>)</a:t>
            </a:r>
            <a:r>
              <a:rPr lang="zh-CN" altLang="en-US" dirty="0"/>
              <a:t>：</a:t>
            </a:r>
            <a:endParaRPr lang="en-US" altLang="zh-CN" dirty="0"/>
          </a:p>
          <a:p>
            <a:pPr marL="909638" lvl="2" indent="0" eaLnBrk="1" hangingPunct="1">
              <a:buClr>
                <a:srgbClr val="FF0000"/>
              </a:buClr>
              <a:buNone/>
            </a:pPr>
            <a:r>
              <a:rPr lang="en-US" altLang="zh-CN" dirty="0"/>
              <a:t>        H</a:t>
            </a:r>
            <a:r>
              <a:rPr lang="en-US" altLang="zh-CN" baseline="-25000" dirty="0"/>
              <a:t>i</a:t>
            </a:r>
            <a:r>
              <a:rPr lang="en-US" altLang="zh-CN" dirty="0"/>
              <a:t>(k)=(H(k)+</a:t>
            </a:r>
            <a:r>
              <a:rPr lang="en-US" altLang="zh-CN" dirty="0" err="1"/>
              <a:t>i</a:t>
            </a:r>
            <a:r>
              <a:rPr lang="en-US" altLang="zh-CN" dirty="0"/>
              <a:t>)%m</a:t>
            </a:r>
            <a:r>
              <a:rPr lang="zh-CN" altLang="en-US" dirty="0"/>
              <a:t>，</a:t>
            </a:r>
            <a:r>
              <a:rPr lang="en-US" altLang="zh-CN" dirty="0"/>
              <a:t> m</a:t>
            </a:r>
            <a:r>
              <a:rPr lang="zh-CN" altLang="en-US" dirty="0"/>
              <a:t>为表的规模最大质数</a:t>
            </a:r>
            <a:endParaRPr lang="en-US" altLang="zh-CN" dirty="0"/>
          </a:p>
          <a:p>
            <a:pPr marL="909638" lvl="2" indent="0" eaLnBrk="1" hangingPunct="1">
              <a:lnSpc>
                <a:spcPts val="1200"/>
              </a:lnSpc>
              <a:spcBef>
                <a:spcPts val="0"/>
              </a:spcBef>
              <a:buClr>
                <a:srgbClr val="FF0000"/>
              </a:buClr>
              <a:buNone/>
            </a:pPr>
            <a:endParaRPr lang="zh-CN" altLang="en-US" sz="2800" dirty="0"/>
          </a:p>
          <a:p>
            <a:pPr marL="1328738" lvl="2" indent="-419100" eaLnBrk="1" hangingPunct="1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b="1" dirty="0"/>
              <a:t>二次探测法</a:t>
            </a:r>
            <a:r>
              <a:rPr lang="en-US" altLang="zh-CN" b="1" dirty="0"/>
              <a:t>(</a:t>
            </a:r>
            <a:r>
              <a:rPr lang="en-US" altLang="zh-CN" b="1" dirty="0">
                <a:solidFill>
                  <a:srgbClr val="0000FF"/>
                </a:solidFill>
              </a:rPr>
              <a:t>Quadratic Probing</a:t>
            </a:r>
            <a:r>
              <a:rPr lang="en-US" altLang="zh-CN" b="1" dirty="0"/>
              <a:t>) </a:t>
            </a:r>
            <a:r>
              <a:rPr lang="en-US" altLang="zh-CN" dirty="0"/>
              <a:t>Hi(k) = ( H(k) + i</a:t>
            </a:r>
            <a:r>
              <a:rPr lang="en-US" altLang="zh-CN" b="1" baseline="30000" dirty="0"/>
              <a:t>2 </a:t>
            </a:r>
            <a:r>
              <a:rPr lang="en-US" altLang="zh-CN" dirty="0"/>
              <a:t>) % m</a:t>
            </a:r>
          </a:p>
          <a:p>
            <a:pPr marL="1328738" lvl="2" indent="-419100" eaLnBrk="1" hangingPunct="1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b="1" dirty="0"/>
              <a:t>伪随机数</a:t>
            </a:r>
          </a:p>
          <a:p>
            <a:pPr marL="1328738" lvl="2" indent="-419100" eaLnBrk="1" hangingPunct="1">
              <a:lnSpc>
                <a:spcPts val="12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endParaRPr lang="zh-CN" altLang="en-US" dirty="0"/>
          </a:p>
          <a:p>
            <a:pPr marL="928688" lvl="1" indent="-457200" eaLnBrk="1" hangingPunct="1"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b="1" dirty="0"/>
              <a:t>拉链法</a:t>
            </a:r>
            <a:r>
              <a:rPr lang="en-US" altLang="zh-CN" b="1" dirty="0"/>
              <a:t>(</a:t>
            </a:r>
            <a:r>
              <a:rPr lang="en-US" altLang="zh-CN" sz="2400" b="1" dirty="0">
                <a:solidFill>
                  <a:srgbClr val="0000FF"/>
                </a:solidFill>
              </a:rPr>
              <a:t>Open Hashing</a:t>
            </a:r>
            <a:r>
              <a:rPr lang="en-US" altLang="zh-CN" b="1" dirty="0"/>
              <a:t>)</a:t>
            </a:r>
            <a:r>
              <a:rPr lang="zh-CN" altLang="en-US" b="1" dirty="0"/>
              <a:t> </a:t>
            </a:r>
          </a:p>
          <a:p>
            <a:pPr marL="928688" lvl="1" indent="-457200" eaLnBrk="1" hangingPunct="1"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b="1" dirty="0"/>
              <a:t>再散列法</a:t>
            </a:r>
            <a:r>
              <a:rPr lang="en-US" altLang="zh-CN" b="1" dirty="0"/>
              <a:t>(</a:t>
            </a:r>
            <a:r>
              <a:rPr lang="en-US" altLang="zh-CN" sz="2400" b="1" dirty="0">
                <a:solidFill>
                  <a:srgbClr val="0000FF"/>
                </a:solidFill>
              </a:rPr>
              <a:t>Double Hashing</a:t>
            </a:r>
            <a:r>
              <a:rPr lang="en-US" altLang="zh-CN" b="1" dirty="0"/>
              <a:t>)</a:t>
            </a:r>
            <a:r>
              <a:rPr lang="zh-CN" altLang="en-US" b="1" dirty="0"/>
              <a:t> </a:t>
            </a:r>
            <a:r>
              <a:rPr lang="zh-CN" altLang="en-US" dirty="0"/>
              <a:t>→</a:t>
            </a:r>
            <a:r>
              <a:rPr lang="en-US" altLang="zh-CN" dirty="0"/>
              <a:t>H(k)→H</a:t>
            </a:r>
            <a:r>
              <a:rPr lang="en-US" altLang="zh-CN" baseline="-25000" dirty="0"/>
              <a:t>1</a:t>
            </a:r>
            <a:r>
              <a:rPr lang="en-US" altLang="zh-CN" dirty="0"/>
              <a:t>(k)→H</a:t>
            </a:r>
            <a:r>
              <a:rPr lang="en-US" altLang="zh-CN" baseline="-25000" dirty="0"/>
              <a:t>2</a:t>
            </a:r>
            <a:r>
              <a:rPr lang="en-US" altLang="zh-CN" dirty="0"/>
              <a:t>(k)→ …… →H</a:t>
            </a:r>
            <a:r>
              <a:rPr lang="en-US" altLang="zh-CN" baseline="-25000" dirty="0"/>
              <a:t>i</a:t>
            </a:r>
            <a:r>
              <a:rPr lang="en-US" altLang="zh-CN" dirty="0"/>
              <a:t>(k)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73</a:t>
            </a:fld>
            <a:endParaRPr lang="zh-CN" altLang="en-US" dirty="0"/>
          </a:p>
        </p:txBody>
      </p:sp>
      <p:grpSp>
        <p:nvGrpSpPr>
          <p:cNvPr id="6" name="组合 67"/>
          <p:cNvGrpSpPr/>
          <p:nvPr/>
        </p:nvGrpSpPr>
        <p:grpSpPr>
          <a:xfrm>
            <a:off x="-149454" y="114580"/>
            <a:ext cx="6789967" cy="656947"/>
            <a:chOff x="142646" y="4179148"/>
            <a:chExt cx="7317240" cy="698583"/>
          </a:xfrm>
        </p:grpSpPr>
        <p:grpSp>
          <p:nvGrpSpPr>
            <p:cNvPr id="7" name="组合 106"/>
            <p:cNvGrpSpPr/>
            <p:nvPr/>
          </p:nvGrpSpPr>
          <p:grpSpPr>
            <a:xfrm>
              <a:off x="142646" y="4179148"/>
              <a:ext cx="7317240" cy="698583"/>
              <a:chOff x="133121" y="4179148"/>
              <a:chExt cx="7317240" cy="698583"/>
            </a:xfrm>
          </p:grpSpPr>
          <p:sp>
            <p:nvSpPr>
              <p:cNvPr id="9" name="Freeform 5"/>
              <p:cNvSpPr>
                <a:spLocks/>
              </p:cNvSpPr>
              <p:nvPr/>
            </p:nvSpPr>
            <p:spPr bwMode="auto">
              <a:xfrm>
                <a:off x="927100" y="4202884"/>
                <a:ext cx="824164" cy="674847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408080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4000" b="1" dirty="0">
                  <a:ea typeface="微软雅黑" pitchFamily="34" charset="-122"/>
                </a:endParaRPr>
              </a:p>
            </p:txBody>
          </p:sp>
          <p:sp>
            <p:nvSpPr>
              <p:cNvPr id="10" name="TextBox 6"/>
              <p:cNvSpPr txBox="1">
                <a:spLocks noChangeArrowheads="1"/>
              </p:cNvSpPr>
              <p:nvPr/>
            </p:nvSpPr>
            <p:spPr bwMode="auto">
              <a:xfrm>
                <a:off x="133121" y="4179148"/>
                <a:ext cx="7317240" cy="6872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10.4 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散列表的查找</a:t>
                </a:r>
              </a:p>
            </p:txBody>
          </p:sp>
        </p:grpSp>
        <p:pic>
          <p:nvPicPr>
            <p:cNvPr id="8" name="图片 7" descr="无标题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7949" y="4364064"/>
              <a:ext cx="433676" cy="3309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76093561"/>
      </p:ext>
    </p:extLst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9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9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9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93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93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93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93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5" grpId="0" build="p" autoUpdateAnimBg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1006" y="1042193"/>
            <a:ext cx="8424863" cy="5040313"/>
          </a:xfrm>
          <a:noFill/>
        </p:spPr>
        <p:txBody>
          <a:bodyPr lIns="0"/>
          <a:lstStyle/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solidFill>
                  <a:srgbClr val="FF0000"/>
                </a:solidFill>
              </a:rPr>
              <a:t>例</a:t>
            </a:r>
            <a:r>
              <a:rPr lang="zh-CN" altLang="en-US" sz="2400" b="1" dirty="0"/>
              <a:t>：设散列表地址范围为</a:t>
            </a:r>
            <a:r>
              <a:rPr lang="en-US" altLang="zh-CN" sz="2400" b="1" dirty="0"/>
              <a:t>0—9</a:t>
            </a:r>
            <a:r>
              <a:rPr lang="zh-CN" altLang="en-US" sz="2400" b="1" dirty="0"/>
              <a:t>，散列函数</a:t>
            </a:r>
            <a:r>
              <a:rPr lang="en-US" altLang="zh-CN" sz="2400" b="1" dirty="0"/>
              <a:t>H(K)=K%7</a:t>
            </a:r>
            <a:r>
              <a:rPr lang="zh-CN" altLang="en-US" sz="2400" b="1" dirty="0"/>
              <a:t>，采用</a:t>
            </a:r>
            <a:endParaRPr lang="en-US" altLang="zh-CN" sz="2400" b="1" dirty="0"/>
          </a:p>
          <a:p>
            <a:pPr marL="0" indent="0" eaLnBrk="1" hangingPunct="1">
              <a:buClr>
                <a:srgbClr val="FF0000"/>
              </a:buClr>
              <a:buNone/>
            </a:pPr>
            <a:r>
              <a:rPr lang="en-US" altLang="zh-CN" sz="2400" b="1" dirty="0"/>
              <a:t>             </a:t>
            </a:r>
            <a:r>
              <a:rPr lang="zh-CN" altLang="en-US" sz="2400" b="1" dirty="0"/>
              <a:t>线性探测法处理冲突，将下列数据依次插入下表中：</a:t>
            </a:r>
          </a:p>
          <a:p>
            <a:pPr marL="495300" indent="-495300"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                                    </a:t>
            </a:r>
            <a:r>
              <a:rPr lang="en-US" altLang="zh-CN" sz="2400" dirty="0"/>
              <a:t>23, 34, 56, 12, 8, 14, 35, 25 </a:t>
            </a:r>
          </a:p>
          <a:p>
            <a:pPr marL="495300" indent="-495300" eaLnBrk="1" hangingPunct="1">
              <a:buFont typeface="Wingdings" panose="05000000000000000000" pitchFamily="2" charset="2"/>
              <a:buNone/>
            </a:pPr>
            <a:endParaRPr lang="en-US" altLang="zh-CN" sz="2400" dirty="0"/>
          </a:p>
          <a:p>
            <a:pPr marL="495300" indent="-495300" eaLnBrk="1" hangingPunct="1">
              <a:buFont typeface="Wingdings" panose="05000000000000000000" pitchFamily="2" charset="2"/>
              <a:buNone/>
            </a:pPr>
            <a:endParaRPr lang="en-US" altLang="zh-CN" sz="2200" dirty="0"/>
          </a:p>
          <a:p>
            <a:pPr marL="495300" indent="-495300" eaLnBrk="1" hangingPunct="1">
              <a:buFont typeface="Wingdings" panose="05000000000000000000" pitchFamily="2" charset="2"/>
              <a:buNone/>
            </a:pPr>
            <a:endParaRPr lang="en-US" altLang="zh-CN" sz="2200" dirty="0"/>
          </a:p>
          <a:p>
            <a:pPr marL="495300" indent="-495300" eaLnBrk="1" hangingPunct="1">
              <a:buFont typeface="Wingdings" panose="05000000000000000000" pitchFamily="2" charset="2"/>
              <a:buNone/>
            </a:pPr>
            <a:endParaRPr lang="en-US" altLang="zh-CN" sz="2200" dirty="0"/>
          </a:p>
          <a:p>
            <a:pPr marL="495300" indent="-495300" eaLnBrk="1" hangingPunct="1">
              <a:buFont typeface="Wingdings" panose="05000000000000000000" pitchFamily="2" charset="2"/>
              <a:buNone/>
            </a:pPr>
            <a:r>
              <a:rPr lang="en-US" altLang="zh-CN" sz="2200" dirty="0"/>
              <a:t> </a:t>
            </a:r>
          </a:p>
          <a:p>
            <a:pPr marL="495300" indent="-495300" eaLnBrk="1" hangingPunct="1">
              <a:buFont typeface="Wingdings" panose="05000000000000000000" pitchFamily="2" charset="2"/>
              <a:buNone/>
            </a:pPr>
            <a:endParaRPr lang="en-US" altLang="zh-CN" sz="2200" dirty="0"/>
          </a:p>
          <a:p>
            <a:pPr marL="495300" indent="-495300" eaLnBrk="1" hangingPunct="1">
              <a:buFont typeface="Wingdings" panose="05000000000000000000" pitchFamily="2" charset="2"/>
              <a:buNone/>
            </a:pPr>
            <a:r>
              <a:rPr lang="en-US" altLang="zh-CN" sz="2200" dirty="0"/>
              <a:t> </a:t>
            </a:r>
          </a:p>
          <a:p>
            <a:pPr marL="495300" indent="-495300" eaLnBrk="1" hangingPunct="1">
              <a:buFont typeface="Wingdings" panose="05000000000000000000" pitchFamily="2" charset="2"/>
              <a:buNone/>
            </a:pPr>
            <a:r>
              <a:rPr lang="en-US" altLang="zh-CN" sz="2200" dirty="0"/>
              <a:t>     </a:t>
            </a:r>
            <a:r>
              <a:rPr lang="zh-CN" altLang="en-US" sz="2200" dirty="0"/>
              <a:t>装填因子</a:t>
            </a:r>
            <a:r>
              <a:rPr lang="en-US" altLang="zh-CN" sz="2200" dirty="0"/>
              <a:t>(</a:t>
            </a:r>
            <a:r>
              <a:rPr lang="en-US" altLang="zh-CN" sz="2000" dirty="0">
                <a:solidFill>
                  <a:srgbClr val="0000FF"/>
                </a:solidFill>
              </a:rPr>
              <a:t>Load Factor</a:t>
            </a:r>
            <a:r>
              <a:rPr lang="en-US" altLang="zh-CN" sz="2200" dirty="0"/>
              <a:t>)——</a:t>
            </a:r>
            <a:r>
              <a:rPr lang="zh-CN" altLang="en-US" sz="2200" dirty="0"/>
              <a:t>元素占空间的比例，一般建议在</a:t>
            </a:r>
            <a:r>
              <a:rPr lang="en-US" altLang="zh-CN" sz="2200" dirty="0"/>
              <a:t>0.7-0.85</a:t>
            </a:r>
          </a:p>
          <a:p>
            <a:pPr marL="495300" indent="-495300" eaLnBrk="1" hangingPunct="1">
              <a:buFont typeface="Wingdings" panose="05000000000000000000" pitchFamily="2" charset="2"/>
              <a:buNone/>
            </a:pPr>
            <a:r>
              <a:rPr lang="en-US" altLang="zh-CN" sz="2200" dirty="0"/>
              <a:t>                                                 </a:t>
            </a:r>
            <a:r>
              <a:rPr lang="zh-CN" altLang="en-US" sz="2200" dirty="0"/>
              <a:t>之间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900113" y="2563813"/>
            <a:ext cx="6264275" cy="1079500"/>
            <a:chOff x="0" y="0"/>
            <a:chExt cx="3674" cy="589"/>
          </a:xfrm>
          <a:solidFill>
            <a:srgbClr val="FFFF00"/>
          </a:solidFill>
        </p:grpSpPr>
        <p:sp>
          <p:nvSpPr>
            <p:cNvPr id="59416" name="Rectangle 5"/>
            <p:cNvSpPr>
              <a:spLocks noChangeArrowheads="1"/>
            </p:cNvSpPr>
            <p:nvPr/>
          </p:nvSpPr>
          <p:spPr bwMode="auto">
            <a:xfrm>
              <a:off x="0" y="226"/>
              <a:ext cx="3674" cy="363"/>
            </a:xfrm>
            <a:prstGeom prst="rect">
              <a:avLst/>
            </a:prstGeom>
            <a:grp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algn="ctr" eaLnBrk="1" hangingPunct="1"/>
              <a:endParaRPr lang="zh-CN" altLang="en-US" b="1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9417" name="Line 6"/>
            <p:cNvSpPr>
              <a:spLocks noChangeShapeType="1"/>
            </p:cNvSpPr>
            <p:nvPr/>
          </p:nvSpPr>
          <p:spPr bwMode="auto">
            <a:xfrm>
              <a:off x="363" y="226"/>
              <a:ext cx="0" cy="363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8" name="Line 7"/>
            <p:cNvSpPr>
              <a:spLocks noChangeShapeType="1"/>
            </p:cNvSpPr>
            <p:nvPr/>
          </p:nvSpPr>
          <p:spPr bwMode="auto">
            <a:xfrm>
              <a:off x="726" y="226"/>
              <a:ext cx="0" cy="363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9" name="Line 8"/>
            <p:cNvSpPr>
              <a:spLocks noChangeShapeType="1"/>
            </p:cNvSpPr>
            <p:nvPr/>
          </p:nvSpPr>
          <p:spPr bwMode="auto">
            <a:xfrm>
              <a:off x="1089" y="226"/>
              <a:ext cx="0" cy="363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20" name="Line 9"/>
            <p:cNvSpPr>
              <a:spLocks noChangeShapeType="1"/>
            </p:cNvSpPr>
            <p:nvPr/>
          </p:nvSpPr>
          <p:spPr bwMode="auto">
            <a:xfrm>
              <a:off x="1452" y="226"/>
              <a:ext cx="0" cy="363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21" name="Line 10"/>
            <p:cNvSpPr>
              <a:spLocks noChangeShapeType="1"/>
            </p:cNvSpPr>
            <p:nvPr/>
          </p:nvSpPr>
          <p:spPr bwMode="auto">
            <a:xfrm>
              <a:off x="1815" y="226"/>
              <a:ext cx="0" cy="363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22" name="Line 11"/>
            <p:cNvSpPr>
              <a:spLocks noChangeShapeType="1"/>
            </p:cNvSpPr>
            <p:nvPr/>
          </p:nvSpPr>
          <p:spPr bwMode="auto">
            <a:xfrm>
              <a:off x="2178" y="226"/>
              <a:ext cx="0" cy="363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23" name="Line 12"/>
            <p:cNvSpPr>
              <a:spLocks noChangeShapeType="1"/>
            </p:cNvSpPr>
            <p:nvPr/>
          </p:nvSpPr>
          <p:spPr bwMode="auto">
            <a:xfrm>
              <a:off x="2541" y="226"/>
              <a:ext cx="0" cy="363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24" name="Line 13"/>
            <p:cNvSpPr>
              <a:spLocks noChangeShapeType="1"/>
            </p:cNvSpPr>
            <p:nvPr/>
          </p:nvSpPr>
          <p:spPr bwMode="auto">
            <a:xfrm>
              <a:off x="2903" y="226"/>
              <a:ext cx="0" cy="363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25" name="Line 14"/>
            <p:cNvSpPr>
              <a:spLocks noChangeShapeType="1"/>
            </p:cNvSpPr>
            <p:nvPr/>
          </p:nvSpPr>
          <p:spPr bwMode="auto">
            <a:xfrm>
              <a:off x="3312" y="226"/>
              <a:ext cx="0" cy="363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26" name="Text Box 15"/>
            <p:cNvSpPr txBox="1">
              <a:spLocks noChangeArrowheads="1"/>
            </p:cNvSpPr>
            <p:nvPr/>
          </p:nvSpPr>
          <p:spPr bwMode="auto">
            <a:xfrm>
              <a:off x="91" y="0"/>
              <a:ext cx="194" cy="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0000FF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59427" name="Text Box 16"/>
            <p:cNvSpPr txBox="1">
              <a:spLocks noChangeArrowheads="1"/>
            </p:cNvSpPr>
            <p:nvPr/>
          </p:nvSpPr>
          <p:spPr bwMode="auto">
            <a:xfrm>
              <a:off x="427" y="0"/>
              <a:ext cx="194" cy="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0000FF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59428" name="Text Box 17"/>
            <p:cNvSpPr txBox="1">
              <a:spLocks noChangeArrowheads="1"/>
            </p:cNvSpPr>
            <p:nvPr/>
          </p:nvSpPr>
          <p:spPr bwMode="auto">
            <a:xfrm>
              <a:off x="816" y="0"/>
              <a:ext cx="193" cy="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0000FF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59429" name="Text Box 18"/>
            <p:cNvSpPr txBox="1">
              <a:spLocks noChangeArrowheads="1"/>
            </p:cNvSpPr>
            <p:nvPr/>
          </p:nvSpPr>
          <p:spPr bwMode="auto">
            <a:xfrm>
              <a:off x="1179" y="0"/>
              <a:ext cx="193" cy="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0000FF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59430" name="Text Box 19"/>
            <p:cNvSpPr txBox="1">
              <a:spLocks noChangeArrowheads="1"/>
            </p:cNvSpPr>
            <p:nvPr/>
          </p:nvSpPr>
          <p:spPr bwMode="auto">
            <a:xfrm>
              <a:off x="1542" y="0"/>
              <a:ext cx="194" cy="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0000FF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59431" name="Text Box 20"/>
            <p:cNvSpPr txBox="1">
              <a:spLocks noChangeArrowheads="1"/>
            </p:cNvSpPr>
            <p:nvPr/>
          </p:nvSpPr>
          <p:spPr bwMode="auto">
            <a:xfrm>
              <a:off x="2631" y="0"/>
              <a:ext cx="208" cy="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0000FF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7</a:t>
              </a:r>
            </a:p>
          </p:txBody>
        </p:sp>
        <p:sp>
          <p:nvSpPr>
            <p:cNvPr id="59432" name="Text Box 21"/>
            <p:cNvSpPr txBox="1">
              <a:spLocks noChangeArrowheads="1"/>
            </p:cNvSpPr>
            <p:nvPr/>
          </p:nvSpPr>
          <p:spPr bwMode="auto">
            <a:xfrm>
              <a:off x="1905" y="0"/>
              <a:ext cx="194" cy="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0000FF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59433" name="Text Box 22"/>
            <p:cNvSpPr txBox="1">
              <a:spLocks noChangeArrowheads="1"/>
            </p:cNvSpPr>
            <p:nvPr/>
          </p:nvSpPr>
          <p:spPr bwMode="auto">
            <a:xfrm>
              <a:off x="2994" y="0"/>
              <a:ext cx="194" cy="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0000FF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8</a:t>
              </a:r>
            </a:p>
          </p:txBody>
        </p:sp>
        <p:sp>
          <p:nvSpPr>
            <p:cNvPr id="59434" name="Text Box 23"/>
            <p:cNvSpPr txBox="1">
              <a:spLocks noChangeArrowheads="1"/>
            </p:cNvSpPr>
            <p:nvPr/>
          </p:nvSpPr>
          <p:spPr bwMode="auto">
            <a:xfrm>
              <a:off x="2268" y="0"/>
              <a:ext cx="194" cy="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0000FF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6</a:t>
              </a:r>
            </a:p>
          </p:txBody>
        </p:sp>
        <p:sp>
          <p:nvSpPr>
            <p:cNvPr id="59435" name="Text Box 24"/>
            <p:cNvSpPr txBox="1">
              <a:spLocks noChangeArrowheads="1"/>
            </p:cNvSpPr>
            <p:nvPr/>
          </p:nvSpPr>
          <p:spPr bwMode="auto">
            <a:xfrm>
              <a:off x="3402" y="0"/>
              <a:ext cx="194" cy="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0000FF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9</a:t>
              </a:r>
            </a:p>
          </p:txBody>
        </p:sp>
      </p:grpSp>
      <p:sp>
        <p:nvSpPr>
          <p:cNvPr id="60441" name="Text Box 25"/>
          <p:cNvSpPr txBox="1">
            <a:spLocks noChangeArrowheads="1"/>
          </p:cNvSpPr>
          <p:nvPr/>
        </p:nvSpPr>
        <p:spPr bwMode="auto">
          <a:xfrm>
            <a:off x="2195513" y="3114675"/>
            <a:ext cx="47961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eaLnBrk="1" hangingPunct="1"/>
            <a:r>
              <a:rPr lang="en-US" altLang="zh-CN" b="1" dirty="0">
                <a:latin typeface="Tahoma" panose="020B0604030504040204" pitchFamily="34" charset="0"/>
                <a:ea typeface="宋体" panose="02010600030101010101" pitchFamily="2" charset="-122"/>
              </a:rPr>
              <a:t>23</a:t>
            </a:r>
            <a:endParaRPr lang="en-US" altLang="zh-CN" b="1" baseline="-250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0442" name="Text Box 26"/>
          <p:cNvSpPr txBox="1">
            <a:spLocks noChangeArrowheads="1"/>
          </p:cNvSpPr>
          <p:nvPr/>
        </p:nvSpPr>
        <p:spPr bwMode="auto">
          <a:xfrm>
            <a:off x="2339975" y="3719513"/>
            <a:ext cx="330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eaLnBrk="1" hangingPunct="1"/>
            <a:r>
              <a:rPr lang="en-US" altLang="zh-CN" b="1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endParaRPr lang="en-US" altLang="zh-CN" b="1" baseline="-250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0443" name="Text Box 27"/>
          <p:cNvSpPr txBox="1">
            <a:spLocks noChangeArrowheads="1"/>
          </p:cNvSpPr>
          <p:nvPr/>
        </p:nvSpPr>
        <p:spPr bwMode="auto">
          <a:xfrm>
            <a:off x="4668838" y="3119438"/>
            <a:ext cx="47961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eaLnBrk="1" hangingPunct="1"/>
            <a:r>
              <a:rPr lang="en-US" altLang="zh-CN" b="1" dirty="0">
                <a:latin typeface="Tahoma" panose="020B0604030504040204" pitchFamily="34" charset="0"/>
                <a:ea typeface="宋体" panose="02010600030101010101" pitchFamily="2" charset="-122"/>
              </a:rPr>
              <a:t>34</a:t>
            </a:r>
            <a:endParaRPr lang="en-US" altLang="zh-CN" b="1" baseline="-250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0444" name="Text Box 28"/>
          <p:cNvSpPr txBox="1">
            <a:spLocks noChangeArrowheads="1"/>
          </p:cNvSpPr>
          <p:nvPr/>
        </p:nvSpPr>
        <p:spPr bwMode="auto">
          <a:xfrm>
            <a:off x="4787900" y="3673475"/>
            <a:ext cx="330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eaLnBrk="1" hangingPunct="1"/>
            <a:r>
              <a:rPr lang="en-US" altLang="zh-CN" b="1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endParaRPr lang="en-US" altLang="zh-CN" b="1" baseline="-250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0445" name="Text Box 29"/>
          <p:cNvSpPr txBox="1">
            <a:spLocks noChangeArrowheads="1"/>
          </p:cNvSpPr>
          <p:nvPr/>
        </p:nvSpPr>
        <p:spPr bwMode="auto">
          <a:xfrm>
            <a:off x="900113" y="3105150"/>
            <a:ext cx="47961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eaLnBrk="1" hangingPunct="1"/>
            <a:r>
              <a:rPr lang="en-US" altLang="zh-CN" b="1">
                <a:latin typeface="Tahoma" panose="020B0604030504040204" pitchFamily="34" charset="0"/>
                <a:ea typeface="宋体" panose="02010600030101010101" pitchFamily="2" charset="-122"/>
              </a:rPr>
              <a:t>56</a:t>
            </a:r>
            <a:endParaRPr lang="en-US" altLang="zh-CN" b="1" baseline="-250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0446" name="Text Box 30"/>
          <p:cNvSpPr txBox="1">
            <a:spLocks noChangeArrowheads="1"/>
          </p:cNvSpPr>
          <p:nvPr/>
        </p:nvSpPr>
        <p:spPr bwMode="auto">
          <a:xfrm>
            <a:off x="1044575" y="3709988"/>
            <a:ext cx="330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eaLnBrk="1" hangingPunct="1"/>
            <a:r>
              <a:rPr lang="en-US" altLang="zh-CN" b="1" dirty="0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endParaRPr lang="en-US" altLang="zh-CN" b="1" baseline="-250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0447" name="Text Box 31"/>
          <p:cNvSpPr txBox="1">
            <a:spLocks noChangeArrowheads="1"/>
          </p:cNvSpPr>
          <p:nvPr/>
        </p:nvSpPr>
        <p:spPr bwMode="auto">
          <a:xfrm>
            <a:off x="4033838" y="3132138"/>
            <a:ext cx="47961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eaLnBrk="1" hangingPunct="1"/>
            <a:r>
              <a:rPr lang="en-US" altLang="zh-CN" b="1" dirty="0">
                <a:latin typeface="Tahoma" panose="020B0604030504040204" pitchFamily="34" charset="0"/>
                <a:ea typeface="宋体" panose="02010600030101010101" pitchFamily="2" charset="-122"/>
              </a:rPr>
              <a:t>12</a:t>
            </a:r>
            <a:endParaRPr lang="en-US" altLang="zh-CN" b="1" baseline="-250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0448" name="Text Box 32"/>
          <p:cNvSpPr txBox="1">
            <a:spLocks noChangeArrowheads="1"/>
          </p:cNvSpPr>
          <p:nvPr/>
        </p:nvSpPr>
        <p:spPr bwMode="auto">
          <a:xfrm>
            <a:off x="4140200" y="3673475"/>
            <a:ext cx="330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eaLnBrk="1" hangingPunct="1"/>
            <a:r>
              <a:rPr lang="en-US" altLang="zh-CN" b="1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endParaRPr lang="en-US" altLang="zh-CN" b="1" baseline="-250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0449" name="Text Box 33"/>
          <p:cNvSpPr txBox="1">
            <a:spLocks noChangeArrowheads="1"/>
          </p:cNvSpPr>
          <p:nvPr/>
        </p:nvSpPr>
        <p:spPr bwMode="auto">
          <a:xfrm>
            <a:off x="1673225" y="3105150"/>
            <a:ext cx="33214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eaLnBrk="1" hangingPunct="1"/>
            <a:r>
              <a:rPr lang="en-US" altLang="zh-CN" b="1">
                <a:latin typeface="Tahoma" panose="020B0604030504040204" pitchFamily="34" charset="0"/>
                <a:ea typeface="宋体" panose="02010600030101010101" pitchFamily="2" charset="-122"/>
              </a:rPr>
              <a:t>8</a:t>
            </a:r>
            <a:endParaRPr lang="en-US" altLang="zh-CN" b="1" baseline="-250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0450" name="Text Box 34"/>
          <p:cNvSpPr txBox="1">
            <a:spLocks noChangeArrowheads="1"/>
          </p:cNvSpPr>
          <p:nvPr/>
        </p:nvSpPr>
        <p:spPr bwMode="auto">
          <a:xfrm>
            <a:off x="1692275" y="3709988"/>
            <a:ext cx="330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eaLnBrk="1" hangingPunct="1"/>
            <a:r>
              <a:rPr lang="en-US" altLang="zh-CN" b="1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endParaRPr lang="en-US" altLang="zh-CN" b="1" baseline="-250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0451" name="Text Box 35"/>
          <p:cNvSpPr txBox="1">
            <a:spLocks noChangeArrowheads="1"/>
          </p:cNvSpPr>
          <p:nvPr/>
        </p:nvSpPr>
        <p:spPr bwMode="auto">
          <a:xfrm>
            <a:off x="2784475" y="3130550"/>
            <a:ext cx="47961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eaLnBrk="1" hangingPunct="1"/>
            <a:r>
              <a:rPr lang="en-US" altLang="zh-CN" b="1" dirty="0">
                <a:solidFill>
                  <a:schemeClr val="accent2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14</a:t>
            </a:r>
            <a:endParaRPr lang="en-US" altLang="zh-CN" b="1" baseline="-25000" dirty="0">
              <a:solidFill>
                <a:schemeClr val="accent2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0452" name="Text Box 36"/>
          <p:cNvSpPr txBox="1">
            <a:spLocks noChangeArrowheads="1"/>
          </p:cNvSpPr>
          <p:nvPr/>
        </p:nvSpPr>
        <p:spPr bwMode="auto">
          <a:xfrm>
            <a:off x="2935288" y="3709988"/>
            <a:ext cx="330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eaLnBrk="1" hangingPunct="1"/>
            <a:r>
              <a:rPr lang="en-US" altLang="zh-CN" b="1">
                <a:latin typeface="Tahoma" panose="020B0604030504040204" pitchFamily="34" charset="0"/>
                <a:ea typeface="宋体" panose="02010600030101010101" pitchFamily="2" charset="-122"/>
              </a:rPr>
              <a:t>4</a:t>
            </a:r>
            <a:endParaRPr lang="en-US" altLang="zh-CN" b="1" baseline="-250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0453" name="Text Box 37"/>
          <p:cNvSpPr txBox="1">
            <a:spLocks noChangeArrowheads="1"/>
          </p:cNvSpPr>
          <p:nvPr/>
        </p:nvSpPr>
        <p:spPr bwMode="auto">
          <a:xfrm>
            <a:off x="3432175" y="3131676"/>
            <a:ext cx="47961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eaLnBrk="1" hangingPunct="1"/>
            <a:r>
              <a:rPr lang="en-US" altLang="zh-CN" b="1" dirty="0">
                <a:solidFill>
                  <a:schemeClr val="accent2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35</a:t>
            </a:r>
            <a:endParaRPr lang="en-US" altLang="zh-CN" b="1" baseline="-25000" dirty="0">
              <a:solidFill>
                <a:schemeClr val="accent2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0454" name="Text Box 38"/>
          <p:cNvSpPr txBox="1">
            <a:spLocks noChangeArrowheads="1"/>
          </p:cNvSpPr>
          <p:nvPr/>
        </p:nvSpPr>
        <p:spPr bwMode="auto">
          <a:xfrm>
            <a:off x="3582988" y="3673475"/>
            <a:ext cx="330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eaLnBrk="1" hangingPunct="1"/>
            <a:r>
              <a:rPr lang="en-US" altLang="zh-CN" b="1">
                <a:latin typeface="Tahoma" panose="020B0604030504040204" pitchFamily="34" charset="0"/>
                <a:ea typeface="宋体" panose="02010600030101010101" pitchFamily="2" charset="-122"/>
              </a:rPr>
              <a:t>5</a:t>
            </a:r>
            <a:endParaRPr lang="en-US" altLang="zh-CN" b="1" baseline="-250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0455" name="Text Box 39"/>
          <p:cNvSpPr txBox="1">
            <a:spLocks noChangeArrowheads="1"/>
          </p:cNvSpPr>
          <p:nvPr/>
        </p:nvSpPr>
        <p:spPr bwMode="auto">
          <a:xfrm>
            <a:off x="5292725" y="3119438"/>
            <a:ext cx="47961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chemeClr val="accent2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25</a:t>
            </a:r>
            <a:endParaRPr lang="en-US" altLang="zh-CN" b="1" baseline="-25000">
              <a:solidFill>
                <a:schemeClr val="accent2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0456" name="Text Box 40"/>
          <p:cNvSpPr txBox="1">
            <a:spLocks noChangeArrowheads="1"/>
          </p:cNvSpPr>
          <p:nvPr/>
        </p:nvSpPr>
        <p:spPr bwMode="auto">
          <a:xfrm>
            <a:off x="5456238" y="3673475"/>
            <a:ext cx="330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eaLnBrk="1" hangingPunct="1"/>
            <a:r>
              <a:rPr lang="en-US" altLang="zh-CN" b="1">
                <a:latin typeface="Tahoma" panose="020B0604030504040204" pitchFamily="34" charset="0"/>
                <a:ea typeface="宋体" panose="02010600030101010101" pitchFamily="2" charset="-122"/>
              </a:rPr>
              <a:t>4</a:t>
            </a:r>
            <a:endParaRPr lang="en-US" altLang="zh-CN" b="1" baseline="-250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0457" name="Rectangle 41"/>
          <p:cNvSpPr>
            <a:spLocks noChangeArrowheads="1"/>
          </p:cNvSpPr>
          <p:nvPr/>
        </p:nvSpPr>
        <p:spPr bwMode="auto">
          <a:xfrm>
            <a:off x="2455951" y="4079052"/>
            <a:ext cx="434715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eaLnBrk="1" hangingPunct="1"/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ASL=(1+1+1+4+5+1+1+4)/8=18/8</a:t>
            </a:r>
          </a:p>
        </p:txBody>
      </p:sp>
      <p:sp>
        <p:nvSpPr>
          <p:cNvPr id="60458" name="Rectangle 42"/>
          <p:cNvSpPr>
            <a:spLocks noRot="1" noChangeArrowheads="1"/>
          </p:cNvSpPr>
          <p:nvPr/>
        </p:nvSpPr>
        <p:spPr bwMode="auto">
          <a:xfrm>
            <a:off x="1220659" y="4611290"/>
            <a:ext cx="6192837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69900" indent="-4699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用此法来构造散列表可能会造成数据</a:t>
            </a:r>
            <a:r>
              <a:rPr lang="zh-CN" altLang="en-US" sz="24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堆积</a:t>
            </a:r>
            <a:r>
              <a:rPr lang="zh-CN" altLang="en-US" sz="2400" b="1" dirty="0">
                <a:latin typeface="Times New Roman" panose="02020603050405020304" pitchFamily="18" charset="0"/>
              </a:rPr>
              <a:t>。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74</a:t>
            </a:fld>
            <a:endParaRPr lang="zh-CN" altLang="en-US" dirty="0"/>
          </a:p>
        </p:txBody>
      </p:sp>
      <p:grpSp>
        <p:nvGrpSpPr>
          <p:cNvPr id="45" name="组合 67"/>
          <p:cNvGrpSpPr/>
          <p:nvPr/>
        </p:nvGrpSpPr>
        <p:grpSpPr>
          <a:xfrm>
            <a:off x="-149454" y="114580"/>
            <a:ext cx="6789967" cy="656947"/>
            <a:chOff x="142646" y="4179148"/>
            <a:chExt cx="7317240" cy="698583"/>
          </a:xfrm>
        </p:grpSpPr>
        <p:grpSp>
          <p:nvGrpSpPr>
            <p:cNvPr id="46" name="组合 106"/>
            <p:cNvGrpSpPr/>
            <p:nvPr/>
          </p:nvGrpSpPr>
          <p:grpSpPr>
            <a:xfrm>
              <a:off x="142646" y="4179148"/>
              <a:ext cx="7317240" cy="698583"/>
              <a:chOff x="133121" y="4179148"/>
              <a:chExt cx="7317240" cy="698583"/>
            </a:xfrm>
          </p:grpSpPr>
          <p:sp>
            <p:nvSpPr>
              <p:cNvPr id="48" name="Freeform 5"/>
              <p:cNvSpPr>
                <a:spLocks/>
              </p:cNvSpPr>
              <p:nvPr/>
            </p:nvSpPr>
            <p:spPr bwMode="auto">
              <a:xfrm>
                <a:off x="927100" y="4202884"/>
                <a:ext cx="824164" cy="674847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408080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4000" b="1" dirty="0">
                  <a:ea typeface="微软雅黑" pitchFamily="34" charset="-122"/>
                </a:endParaRPr>
              </a:p>
            </p:txBody>
          </p:sp>
          <p:sp>
            <p:nvSpPr>
              <p:cNvPr id="49" name="TextBox 6"/>
              <p:cNvSpPr txBox="1">
                <a:spLocks noChangeArrowheads="1"/>
              </p:cNvSpPr>
              <p:nvPr/>
            </p:nvSpPr>
            <p:spPr bwMode="auto">
              <a:xfrm>
                <a:off x="133121" y="4179148"/>
                <a:ext cx="7317240" cy="6872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10.4 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散列表的查找</a:t>
                </a:r>
              </a:p>
            </p:txBody>
          </p:sp>
        </p:grpSp>
        <p:pic>
          <p:nvPicPr>
            <p:cNvPr id="47" name="图片 46" descr="无标题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7949" y="4364064"/>
              <a:ext cx="433676" cy="3309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92568947"/>
      </p:ext>
    </p:extLst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60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60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60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60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60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60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60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500"/>
                                        <p:tgtEl>
                                          <p:spTgt spid="60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" dur="500"/>
                                        <p:tgtEl>
                                          <p:spTgt spid="60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7" dur="500"/>
                                        <p:tgtEl>
                                          <p:spTgt spid="60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2" dur="500"/>
                                        <p:tgtEl>
                                          <p:spTgt spid="60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7" dur="500"/>
                                        <p:tgtEl>
                                          <p:spTgt spid="60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2" dur="500"/>
                                        <p:tgtEl>
                                          <p:spTgt spid="60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7" dur="500"/>
                                        <p:tgtEl>
                                          <p:spTgt spid="60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2" dur="500"/>
                                        <p:tgtEl>
                                          <p:spTgt spid="60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7" dur="500"/>
                                        <p:tgtEl>
                                          <p:spTgt spid="60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604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604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60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41" grpId="0" autoUpdateAnimBg="0"/>
      <p:bldP spid="60442" grpId="0" autoUpdateAnimBg="0"/>
      <p:bldP spid="60443" grpId="0" autoUpdateAnimBg="0"/>
      <p:bldP spid="60444" grpId="0" autoUpdateAnimBg="0"/>
      <p:bldP spid="60445" grpId="0" autoUpdateAnimBg="0"/>
      <p:bldP spid="60446" grpId="0" autoUpdateAnimBg="0"/>
      <p:bldP spid="60447" grpId="0" autoUpdateAnimBg="0"/>
      <p:bldP spid="60448" grpId="0" autoUpdateAnimBg="0"/>
      <p:bldP spid="60449" grpId="0" autoUpdateAnimBg="0"/>
      <p:bldP spid="60450" grpId="0" autoUpdateAnimBg="0"/>
      <p:bldP spid="60451" grpId="0" autoUpdateAnimBg="0"/>
      <p:bldP spid="60452" grpId="0" autoUpdateAnimBg="0"/>
      <p:bldP spid="60453" grpId="0" autoUpdateAnimBg="0"/>
      <p:bldP spid="60454" grpId="0" autoUpdateAnimBg="0"/>
      <p:bldP spid="60455" grpId="0" autoUpdateAnimBg="0"/>
      <p:bldP spid="60456" grpId="0" autoUpdateAnimBg="0"/>
      <p:bldP spid="60457" grpId="0" autoUpdateAnimBg="0"/>
      <p:bldP spid="60458" grpId="0" autoUpdateAnimBg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6655" y="922340"/>
            <a:ext cx="8532813" cy="503237"/>
          </a:xfrm>
        </p:spPr>
        <p:txBody>
          <a:bodyPr/>
          <a:lstStyle/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/>
              <a:t>拉链法</a:t>
            </a:r>
            <a:r>
              <a:rPr lang="en-US" altLang="zh-CN" sz="2800" b="1" dirty="0"/>
              <a:t>(</a:t>
            </a:r>
            <a:r>
              <a:rPr lang="zh-CN" altLang="en-US" sz="2800" b="1" dirty="0"/>
              <a:t>链表法</a:t>
            </a:r>
            <a:r>
              <a:rPr lang="en-US" altLang="zh-CN" sz="2800" b="1" dirty="0"/>
              <a:t>)</a:t>
            </a:r>
            <a:r>
              <a:rPr lang="en-US" altLang="zh-CN" sz="2400" b="1" dirty="0"/>
              <a:t>(</a:t>
            </a:r>
            <a:r>
              <a:rPr lang="en-US" altLang="zh-CN" sz="2400" b="1" dirty="0">
                <a:solidFill>
                  <a:srgbClr val="0000FF"/>
                </a:solidFill>
              </a:rPr>
              <a:t>Chaining Method</a:t>
            </a:r>
            <a:r>
              <a:rPr lang="en-US" altLang="zh-CN" sz="2400" b="1" dirty="0"/>
              <a:t>)</a:t>
            </a:r>
          </a:p>
          <a:p>
            <a:pPr lvl="1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400" b="1" dirty="0"/>
              <a:t>将同义词构成一个链表</a:t>
            </a:r>
          </a:p>
        </p:txBody>
      </p:sp>
      <p:sp>
        <p:nvSpPr>
          <p:cNvPr id="61444" name="Rectangle 4"/>
          <p:cNvSpPr>
            <a:spLocks noRot="1" noChangeArrowheads="1"/>
          </p:cNvSpPr>
          <p:nvPr/>
        </p:nvSpPr>
        <p:spPr bwMode="auto">
          <a:xfrm>
            <a:off x="603250" y="1904132"/>
            <a:ext cx="8540750" cy="86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69900" indent="-4699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例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</a:rPr>
              <a:t>：散列函数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</a:rPr>
              <a:t>H(K)=K%7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</a:rPr>
              <a:t>，采用拉链法将下列数据依次</a:t>
            </a:r>
            <a:endParaRPr lang="en-US" altLang="zh-CN" sz="2400" dirty="0">
              <a:latin typeface="Times New Roman" panose="02020603050405020304" pitchFamily="18" charset="0"/>
              <a:ea typeface="仿宋" panose="02010609060101010101" pitchFamily="49" charset="-122"/>
            </a:endParaRPr>
          </a:p>
          <a:p>
            <a:pPr marL="0" indent="0" eaLnBrk="1" hangingPunct="1">
              <a:spcBef>
                <a:spcPct val="20000"/>
              </a:spcBef>
              <a:buClr>
                <a:srgbClr val="FF0000"/>
              </a:buClr>
            </a:pP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</a:rPr>
              <a:t>             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</a:rPr>
              <a:t>插入下表中    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</a:rPr>
              <a:t>23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</a:rPr>
              <a:t>34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</a:rPr>
              <a:t>56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</a:rPr>
              <a:t>12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</a:rPr>
              <a:t>8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</a:rPr>
              <a:t>14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</a:rPr>
              <a:t>35</a:t>
            </a:r>
            <a:r>
              <a:rPr lang="zh-CN" altLang="en-US" sz="2400" dirty="0">
                <a:latin typeface="Times New Roman" panose="02020603050405020304" pitchFamily="18" charset="0"/>
                <a:ea typeface="仿宋" panose="02010609060101010101" pitchFamily="49" charset="-122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ea typeface="仿宋" panose="02010609060101010101" pitchFamily="49" charset="-122"/>
              </a:rPr>
              <a:t>25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1189038" y="2918544"/>
            <a:ext cx="1152525" cy="3600450"/>
            <a:chOff x="0" y="0"/>
            <a:chExt cx="726" cy="1905"/>
          </a:xfrm>
        </p:grpSpPr>
        <p:sp>
          <p:nvSpPr>
            <p:cNvPr id="60471" name="Rectangle 6"/>
            <p:cNvSpPr>
              <a:spLocks noChangeArrowheads="1"/>
            </p:cNvSpPr>
            <p:nvPr/>
          </p:nvSpPr>
          <p:spPr bwMode="auto">
            <a:xfrm>
              <a:off x="0" y="0"/>
              <a:ext cx="726" cy="1905"/>
            </a:xfrm>
            <a:prstGeom prst="rect">
              <a:avLst/>
            </a:prstGeom>
            <a:solidFill>
              <a:srgbClr val="92D050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0472" name="Line 7"/>
            <p:cNvSpPr>
              <a:spLocks noChangeShapeType="1"/>
            </p:cNvSpPr>
            <p:nvPr/>
          </p:nvSpPr>
          <p:spPr bwMode="auto">
            <a:xfrm>
              <a:off x="363" y="0"/>
              <a:ext cx="0" cy="190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73" name="Line 8"/>
            <p:cNvSpPr>
              <a:spLocks noChangeShapeType="1"/>
            </p:cNvSpPr>
            <p:nvPr/>
          </p:nvSpPr>
          <p:spPr bwMode="auto">
            <a:xfrm>
              <a:off x="0" y="272"/>
              <a:ext cx="72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74" name="Line 9"/>
            <p:cNvSpPr>
              <a:spLocks noChangeShapeType="1"/>
            </p:cNvSpPr>
            <p:nvPr/>
          </p:nvSpPr>
          <p:spPr bwMode="auto">
            <a:xfrm>
              <a:off x="0" y="544"/>
              <a:ext cx="72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75" name="Line 10"/>
            <p:cNvSpPr>
              <a:spLocks noChangeShapeType="1"/>
            </p:cNvSpPr>
            <p:nvPr/>
          </p:nvSpPr>
          <p:spPr bwMode="auto">
            <a:xfrm>
              <a:off x="0" y="816"/>
              <a:ext cx="72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76" name="Line 11"/>
            <p:cNvSpPr>
              <a:spLocks noChangeShapeType="1"/>
            </p:cNvSpPr>
            <p:nvPr/>
          </p:nvSpPr>
          <p:spPr bwMode="auto">
            <a:xfrm>
              <a:off x="0" y="1088"/>
              <a:ext cx="72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77" name="Line 12"/>
            <p:cNvSpPr>
              <a:spLocks noChangeShapeType="1"/>
            </p:cNvSpPr>
            <p:nvPr/>
          </p:nvSpPr>
          <p:spPr bwMode="auto">
            <a:xfrm>
              <a:off x="0" y="1360"/>
              <a:ext cx="72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78" name="Line 13"/>
            <p:cNvSpPr>
              <a:spLocks noChangeShapeType="1"/>
            </p:cNvSpPr>
            <p:nvPr/>
          </p:nvSpPr>
          <p:spPr bwMode="auto">
            <a:xfrm>
              <a:off x="0" y="1633"/>
              <a:ext cx="72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79" name="Text Box 14"/>
            <p:cNvSpPr txBox="1">
              <a:spLocks noChangeArrowheads="1"/>
            </p:cNvSpPr>
            <p:nvPr/>
          </p:nvSpPr>
          <p:spPr bwMode="auto">
            <a:xfrm>
              <a:off x="91" y="41"/>
              <a:ext cx="208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b="1" dirty="0">
                  <a:latin typeface="Tahoma" panose="020B0604030504040204" pitchFamily="34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60480" name="Text Box 15"/>
            <p:cNvSpPr txBox="1">
              <a:spLocks noChangeArrowheads="1"/>
            </p:cNvSpPr>
            <p:nvPr/>
          </p:nvSpPr>
          <p:spPr bwMode="auto">
            <a:xfrm>
              <a:off x="91" y="317"/>
              <a:ext cx="208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b="1"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60481" name="Text Box 16"/>
            <p:cNvSpPr txBox="1">
              <a:spLocks noChangeArrowheads="1"/>
            </p:cNvSpPr>
            <p:nvPr/>
          </p:nvSpPr>
          <p:spPr bwMode="auto">
            <a:xfrm>
              <a:off x="91" y="589"/>
              <a:ext cx="208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b="1">
                  <a:latin typeface="Tahoma" panose="020B0604030504040204" pitchFamily="34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60482" name="Text Box 17"/>
            <p:cNvSpPr txBox="1">
              <a:spLocks noChangeArrowheads="1"/>
            </p:cNvSpPr>
            <p:nvPr/>
          </p:nvSpPr>
          <p:spPr bwMode="auto">
            <a:xfrm>
              <a:off x="91" y="862"/>
              <a:ext cx="208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b="1" dirty="0">
                  <a:latin typeface="Tahoma" panose="020B0604030504040204" pitchFamily="34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60483" name="Text Box 18"/>
            <p:cNvSpPr txBox="1">
              <a:spLocks noChangeArrowheads="1"/>
            </p:cNvSpPr>
            <p:nvPr/>
          </p:nvSpPr>
          <p:spPr bwMode="auto">
            <a:xfrm>
              <a:off x="91" y="1134"/>
              <a:ext cx="208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b="1">
                  <a:latin typeface="Tahoma" panose="020B0604030504040204" pitchFamily="34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60484" name="Text Box 19"/>
            <p:cNvSpPr txBox="1">
              <a:spLocks noChangeArrowheads="1"/>
            </p:cNvSpPr>
            <p:nvPr/>
          </p:nvSpPr>
          <p:spPr bwMode="auto">
            <a:xfrm>
              <a:off x="91" y="1406"/>
              <a:ext cx="208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b="1">
                  <a:latin typeface="Tahoma" panose="020B0604030504040204" pitchFamily="34" charset="0"/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60485" name="Text Box 20"/>
            <p:cNvSpPr txBox="1">
              <a:spLocks noChangeArrowheads="1"/>
            </p:cNvSpPr>
            <p:nvPr/>
          </p:nvSpPr>
          <p:spPr bwMode="auto">
            <a:xfrm>
              <a:off x="91" y="1678"/>
              <a:ext cx="208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1" charset="-122"/>
                </a:defRPr>
              </a:lvl9pPr>
            </a:lstStyle>
            <a:p>
              <a:pPr eaLnBrk="1" hangingPunct="1"/>
              <a:r>
                <a:rPr lang="en-US" altLang="zh-CN" b="1">
                  <a:latin typeface="Tahoma" panose="020B0604030504040204" pitchFamily="34" charset="0"/>
                  <a:ea typeface="宋体" panose="02010600030101010101" pitchFamily="2" charset="-122"/>
                </a:rPr>
                <a:t>6</a:t>
              </a:r>
            </a:p>
          </p:txBody>
        </p:sp>
      </p:grpSp>
      <p:grpSp>
        <p:nvGrpSpPr>
          <p:cNvPr id="3" name="Group 21"/>
          <p:cNvGrpSpPr>
            <a:grpSpLocks/>
          </p:cNvGrpSpPr>
          <p:nvPr/>
        </p:nvGrpSpPr>
        <p:grpSpPr bwMode="auto">
          <a:xfrm>
            <a:off x="1981200" y="2918544"/>
            <a:ext cx="1873250" cy="431800"/>
            <a:chOff x="0" y="0"/>
            <a:chExt cx="1180" cy="272"/>
          </a:xfrm>
          <a:solidFill>
            <a:srgbClr val="FFFF00"/>
          </a:solidFill>
        </p:grpSpPr>
        <p:grpSp>
          <p:nvGrpSpPr>
            <p:cNvPr id="60467" name="Group 22"/>
            <p:cNvGrpSpPr>
              <a:grpSpLocks/>
            </p:cNvGrpSpPr>
            <p:nvPr/>
          </p:nvGrpSpPr>
          <p:grpSpPr bwMode="auto">
            <a:xfrm>
              <a:off x="545" y="0"/>
              <a:ext cx="635" cy="272"/>
              <a:chOff x="0" y="0"/>
              <a:chExt cx="635" cy="272"/>
            </a:xfrm>
            <a:grpFill/>
          </p:grpSpPr>
          <p:sp>
            <p:nvSpPr>
              <p:cNvPr id="60469" name="Rectangle 23"/>
              <p:cNvSpPr>
                <a:spLocks noChangeArrowheads="1"/>
              </p:cNvSpPr>
              <p:nvPr/>
            </p:nvSpPr>
            <p:spPr bwMode="auto">
              <a:xfrm>
                <a:off x="0" y="0"/>
                <a:ext cx="635" cy="272"/>
              </a:xfrm>
              <a:prstGeom prst="rect">
                <a:avLst/>
              </a:prstGeom>
              <a:grp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eaLnBrk="1" hangingPunct="1"/>
                <a:r>
                  <a:rPr lang="zh-CN" altLang="en-US" b="1">
                    <a:latin typeface="Tahoma" panose="020B0604030504040204" pitchFamily="34" charset="0"/>
                    <a:ea typeface="宋体" panose="02010600030101010101" pitchFamily="2" charset="-122"/>
                  </a:rPr>
                  <a:t>  </a:t>
                </a:r>
                <a:r>
                  <a:rPr lang="en-US" altLang="zh-CN" b="1">
                    <a:latin typeface="Tahoma" panose="020B0604030504040204" pitchFamily="34" charset="0"/>
                    <a:ea typeface="宋体" panose="02010600030101010101" pitchFamily="2" charset="-122"/>
                  </a:rPr>
                  <a:t>56  </a:t>
                </a:r>
              </a:p>
            </p:txBody>
          </p:sp>
          <p:sp>
            <p:nvSpPr>
              <p:cNvPr id="60470" name="Line 24"/>
              <p:cNvSpPr>
                <a:spLocks noChangeShapeType="1"/>
              </p:cNvSpPr>
              <p:nvPr/>
            </p:nvSpPr>
            <p:spPr bwMode="auto">
              <a:xfrm>
                <a:off x="453" y="0"/>
                <a:ext cx="0" cy="272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0468" name="Line 25"/>
            <p:cNvSpPr>
              <a:spLocks noChangeShapeType="1"/>
            </p:cNvSpPr>
            <p:nvPr/>
          </p:nvSpPr>
          <p:spPr bwMode="auto">
            <a:xfrm>
              <a:off x="0" y="136"/>
              <a:ext cx="545" cy="0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" name="Group 26"/>
          <p:cNvGrpSpPr>
            <a:grpSpLocks/>
          </p:cNvGrpSpPr>
          <p:nvPr/>
        </p:nvGrpSpPr>
        <p:grpSpPr bwMode="auto">
          <a:xfrm>
            <a:off x="3709988" y="2918544"/>
            <a:ext cx="1655762" cy="431800"/>
            <a:chOff x="0" y="0"/>
            <a:chExt cx="1043" cy="272"/>
          </a:xfrm>
          <a:solidFill>
            <a:srgbClr val="FFFF00"/>
          </a:solidFill>
        </p:grpSpPr>
        <p:grpSp>
          <p:nvGrpSpPr>
            <p:cNvPr id="60463" name="Group 27"/>
            <p:cNvGrpSpPr>
              <a:grpSpLocks/>
            </p:cNvGrpSpPr>
            <p:nvPr/>
          </p:nvGrpSpPr>
          <p:grpSpPr bwMode="auto">
            <a:xfrm>
              <a:off x="408" y="0"/>
              <a:ext cx="635" cy="272"/>
              <a:chOff x="0" y="0"/>
              <a:chExt cx="635" cy="272"/>
            </a:xfrm>
            <a:grpFill/>
          </p:grpSpPr>
          <p:sp>
            <p:nvSpPr>
              <p:cNvPr id="60465" name="Rectangle 28"/>
              <p:cNvSpPr>
                <a:spLocks noChangeArrowheads="1"/>
              </p:cNvSpPr>
              <p:nvPr/>
            </p:nvSpPr>
            <p:spPr bwMode="auto">
              <a:xfrm>
                <a:off x="0" y="0"/>
                <a:ext cx="635" cy="272"/>
              </a:xfrm>
              <a:prstGeom prst="rect">
                <a:avLst/>
              </a:prstGeom>
              <a:grp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eaLnBrk="1" hangingPunct="1"/>
                <a:r>
                  <a:rPr lang="zh-CN" altLang="en-US" b="1">
                    <a:latin typeface="Tahoma" panose="020B0604030504040204" pitchFamily="34" charset="0"/>
                    <a:ea typeface="宋体" panose="02010600030101010101" pitchFamily="2" charset="-122"/>
                  </a:rPr>
                  <a:t>  </a:t>
                </a:r>
                <a:r>
                  <a:rPr lang="en-US" altLang="zh-CN" b="1">
                    <a:latin typeface="Tahoma" panose="020B0604030504040204" pitchFamily="34" charset="0"/>
                    <a:ea typeface="宋体" panose="02010600030101010101" pitchFamily="2" charset="-122"/>
                  </a:rPr>
                  <a:t>14  </a:t>
                </a:r>
              </a:p>
            </p:txBody>
          </p:sp>
          <p:sp>
            <p:nvSpPr>
              <p:cNvPr id="60466" name="Line 29"/>
              <p:cNvSpPr>
                <a:spLocks noChangeShapeType="1"/>
              </p:cNvSpPr>
              <p:nvPr/>
            </p:nvSpPr>
            <p:spPr bwMode="auto">
              <a:xfrm>
                <a:off x="453" y="0"/>
                <a:ext cx="0" cy="272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0464" name="Line 30"/>
            <p:cNvSpPr>
              <a:spLocks noChangeShapeType="1"/>
            </p:cNvSpPr>
            <p:nvPr/>
          </p:nvSpPr>
          <p:spPr bwMode="auto">
            <a:xfrm>
              <a:off x="0" y="136"/>
              <a:ext cx="408" cy="0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" name="Group 31"/>
          <p:cNvGrpSpPr>
            <a:grpSpLocks/>
          </p:cNvGrpSpPr>
          <p:nvPr/>
        </p:nvGrpSpPr>
        <p:grpSpPr bwMode="auto">
          <a:xfrm>
            <a:off x="5222875" y="2918544"/>
            <a:ext cx="1655763" cy="431800"/>
            <a:chOff x="0" y="0"/>
            <a:chExt cx="1043" cy="272"/>
          </a:xfrm>
          <a:solidFill>
            <a:srgbClr val="FFFF00"/>
          </a:solidFill>
        </p:grpSpPr>
        <p:grpSp>
          <p:nvGrpSpPr>
            <p:cNvPr id="60459" name="Group 32"/>
            <p:cNvGrpSpPr>
              <a:grpSpLocks/>
            </p:cNvGrpSpPr>
            <p:nvPr/>
          </p:nvGrpSpPr>
          <p:grpSpPr bwMode="auto">
            <a:xfrm>
              <a:off x="408" y="0"/>
              <a:ext cx="635" cy="272"/>
              <a:chOff x="0" y="0"/>
              <a:chExt cx="635" cy="272"/>
            </a:xfrm>
            <a:grpFill/>
          </p:grpSpPr>
          <p:sp>
            <p:nvSpPr>
              <p:cNvPr id="60461" name="Rectangle 33"/>
              <p:cNvSpPr>
                <a:spLocks noChangeArrowheads="1"/>
              </p:cNvSpPr>
              <p:nvPr/>
            </p:nvSpPr>
            <p:spPr bwMode="auto">
              <a:xfrm>
                <a:off x="0" y="0"/>
                <a:ext cx="635" cy="272"/>
              </a:xfrm>
              <a:prstGeom prst="rect">
                <a:avLst/>
              </a:prstGeom>
              <a:grp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eaLnBrk="1" hangingPunct="1"/>
                <a:r>
                  <a:rPr lang="zh-CN" altLang="en-US" b="1">
                    <a:latin typeface="Tahoma" panose="020B0604030504040204" pitchFamily="34" charset="0"/>
                    <a:ea typeface="宋体" panose="02010600030101010101" pitchFamily="2" charset="-122"/>
                  </a:rPr>
                  <a:t>  </a:t>
                </a:r>
                <a:r>
                  <a:rPr lang="en-US" altLang="zh-CN" b="1">
                    <a:latin typeface="Tahoma" panose="020B0604030504040204" pitchFamily="34" charset="0"/>
                    <a:ea typeface="宋体" panose="02010600030101010101" pitchFamily="2" charset="-122"/>
                  </a:rPr>
                  <a:t>35    </a:t>
                </a:r>
              </a:p>
            </p:txBody>
          </p:sp>
          <p:sp>
            <p:nvSpPr>
              <p:cNvPr id="60462" name="Line 34"/>
              <p:cNvSpPr>
                <a:spLocks noChangeShapeType="1"/>
              </p:cNvSpPr>
              <p:nvPr/>
            </p:nvSpPr>
            <p:spPr bwMode="auto">
              <a:xfrm>
                <a:off x="453" y="0"/>
                <a:ext cx="0" cy="272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0460" name="Line 35"/>
            <p:cNvSpPr>
              <a:spLocks noChangeShapeType="1"/>
            </p:cNvSpPr>
            <p:nvPr/>
          </p:nvSpPr>
          <p:spPr bwMode="auto">
            <a:xfrm>
              <a:off x="0" y="136"/>
              <a:ext cx="408" cy="0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1476" name="Rectangle 36"/>
          <p:cNvSpPr>
            <a:spLocks noChangeArrowheads="1"/>
          </p:cNvSpPr>
          <p:nvPr/>
        </p:nvSpPr>
        <p:spPr bwMode="auto">
          <a:xfrm>
            <a:off x="1909763" y="4574307"/>
            <a:ext cx="3714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eaLnBrk="1" hangingPunct="1"/>
            <a:r>
              <a:rPr lang="en-US" altLang="zh-CN" b="1">
                <a:latin typeface="Tahoma" panose="020B0604030504040204" pitchFamily="34" charset="0"/>
                <a:ea typeface="宋体" panose="02010600030101010101" pitchFamily="2" charset="-122"/>
              </a:rPr>
              <a:t>^</a:t>
            </a:r>
          </a:p>
        </p:txBody>
      </p:sp>
      <p:grpSp>
        <p:nvGrpSpPr>
          <p:cNvPr id="9" name="Group 37"/>
          <p:cNvGrpSpPr>
            <a:grpSpLocks/>
          </p:cNvGrpSpPr>
          <p:nvPr/>
        </p:nvGrpSpPr>
        <p:grpSpPr bwMode="auto">
          <a:xfrm>
            <a:off x="1981200" y="4064719"/>
            <a:ext cx="1873250" cy="431800"/>
            <a:chOff x="0" y="0"/>
            <a:chExt cx="1180" cy="272"/>
          </a:xfrm>
          <a:solidFill>
            <a:srgbClr val="FFFF00"/>
          </a:solidFill>
        </p:grpSpPr>
        <p:grpSp>
          <p:nvGrpSpPr>
            <p:cNvPr id="60455" name="Group 38"/>
            <p:cNvGrpSpPr>
              <a:grpSpLocks/>
            </p:cNvGrpSpPr>
            <p:nvPr/>
          </p:nvGrpSpPr>
          <p:grpSpPr bwMode="auto">
            <a:xfrm>
              <a:off x="545" y="0"/>
              <a:ext cx="635" cy="272"/>
              <a:chOff x="0" y="0"/>
              <a:chExt cx="635" cy="272"/>
            </a:xfrm>
            <a:grpFill/>
          </p:grpSpPr>
          <p:sp>
            <p:nvSpPr>
              <p:cNvPr id="60457" name="Rectangle 39"/>
              <p:cNvSpPr>
                <a:spLocks noChangeArrowheads="1"/>
              </p:cNvSpPr>
              <p:nvPr/>
            </p:nvSpPr>
            <p:spPr bwMode="auto">
              <a:xfrm>
                <a:off x="0" y="0"/>
                <a:ext cx="635" cy="272"/>
              </a:xfrm>
              <a:prstGeom prst="rect">
                <a:avLst/>
              </a:prstGeom>
              <a:grp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eaLnBrk="1" hangingPunct="1"/>
                <a:r>
                  <a:rPr lang="zh-CN" altLang="en-US" b="1" dirty="0">
                    <a:latin typeface="Tahoma" panose="020B0604030504040204" pitchFamily="34" charset="0"/>
                    <a:ea typeface="宋体" panose="02010600030101010101" pitchFamily="2" charset="-122"/>
                  </a:rPr>
                  <a:t>  </a:t>
                </a:r>
                <a:r>
                  <a:rPr lang="en-US" altLang="zh-CN" b="1" dirty="0">
                    <a:latin typeface="Tahoma" panose="020B0604030504040204" pitchFamily="34" charset="0"/>
                    <a:ea typeface="宋体" panose="02010600030101010101" pitchFamily="2" charset="-122"/>
                  </a:rPr>
                  <a:t>23   </a:t>
                </a:r>
              </a:p>
            </p:txBody>
          </p:sp>
          <p:sp>
            <p:nvSpPr>
              <p:cNvPr id="60458" name="Line 40"/>
              <p:cNvSpPr>
                <a:spLocks noChangeShapeType="1"/>
              </p:cNvSpPr>
              <p:nvPr/>
            </p:nvSpPr>
            <p:spPr bwMode="auto">
              <a:xfrm>
                <a:off x="453" y="0"/>
                <a:ext cx="0" cy="272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0456" name="Line 41"/>
            <p:cNvSpPr>
              <a:spLocks noChangeShapeType="1"/>
            </p:cNvSpPr>
            <p:nvPr/>
          </p:nvSpPr>
          <p:spPr bwMode="auto">
            <a:xfrm>
              <a:off x="0" y="136"/>
              <a:ext cx="545" cy="0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" name="Group 42"/>
          <p:cNvGrpSpPr>
            <a:grpSpLocks/>
          </p:cNvGrpSpPr>
          <p:nvPr/>
        </p:nvGrpSpPr>
        <p:grpSpPr bwMode="auto">
          <a:xfrm>
            <a:off x="1981200" y="4934669"/>
            <a:ext cx="1873250" cy="431800"/>
            <a:chOff x="0" y="0"/>
            <a:chExt cx="1180" cy="272"/>
          </a:xfrm>
        </p:grpSpPr>
        <p:grpSp>
          <p:nvGrpSpPr>
            <p:cNvPr id="60451" name="Group 43"/>
            <p:cNvGrpSpPr>
              <a:grpSpLocks/>
            </p:cNvGrpSpPr>
            <p:nvPr/>
          </p:nvGrpSpPr>
          <p:grpSpPr bwMode="auto">
            <a:xfrm>
              <a:off x="545" y="0"/>
              <a:ext cx="635" cy="272"/>
              <a:chOff x="0" y="0"/>
              <a:chExt cx="635" cy="272"/>
            </a:xfrm>
          </p:grpSpPr>
          <p:sp>
            <p:nvSpPr>
              <p:cNvPr id="60453" name="Rectangle 44"/>
              <p:cNvSpPr>
                <a:spLocks noChangeArrowheads="1"/>
              </p:cNvSpPr>
              <p:nvPr/>
            </p:nvSpPr>
            <p:spPr bwMode="auto">
              <a:xfrm>
                <a:off x="0" y="0"/>
                <a:ext cx="635" cy="272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eaLnBrk="1" hangingPunct="1"/>
                <a:r>
                  <a:rPr lang="zh-CN" altLang="en-US" b="1" dirty="0">
                    <a:latin typeface="Tahoma" panose="020B0604030504040204" pitchFamily="34" charset="0"/>
                    <a:ea typeface="宋体" panose="02010600030101010101" pitchFamily="2" charset="-122"/>
                  </a:rPr>
                  <a:t>  </a:t>
                </a:r>
                <a:r>
                  <a:rPr lang="en-US" altLang="zh-CN" b="1" dirty="0">
                    <a:latin typeface="Tahoma" panose="020B0604030504040204" pitchFamily="34" charset="0"/>
                    <a:ea typeface="宋体" panose="02010600030101010101" pitchFamily="2" charset="-122"/>
                  </a:rPr>
                  <a:t>25  </a:t>
                </a:r>
              </a:p>
            </p:txBody>
          </p:sp>
          <p:sp>
            <p:nvSpPr>
              <p:cNvPr id="60454" name="Line 45"/>
              <p:cNvSpPr>
                <a:spLocks noChangeShapeType="1"/>
              </p:cNvSpPr>
              <p:nvPr/>
            </p:nvSpPr>
            <p:spPr bwMode="auto">
              <a:xfrm>
                <a:off x="453" y="0"/>
                <a:ext cx="0" cy="27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0452" name="Line 46"/>
            <p:cNvSpPr>
              <a:spLocks noChangeShapeType="1"/>
            </p:cNvSpPr>
            <p:nvPr/>
          </p:nvSpPr>
          <p:spPr bwMode="auto">
            <a:xfrm>
              <a:off x="0" y="136"/>
              <a:ext cx="54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3" name="Group 47"/>
          <p:cNvGrpSpPr>
            <a:grpSpLocks/>
          </p:cNvGrpSpPr>
          <p:nvPr/>
        </p:nvGrpSpPr>
        <p:grpSpPr bwMode="auto">
          <a:xfrm>
            <a:off x="1981200" y="5510932"/>
            <a:ext cx="1873250" cy="431800"/>
            <a:chOff x="0" y="0"/>
            <a:chExt cx="1180" cy="272"/>
          </a:xfrm>
          <a:solidFill>
            <a:srgbClr val="FFFF00"/>
          </a:solidFill>
        </p:grpSpPr>
        <p:grpSp>
          <p:nvGrpSpPr>
            <p:cNvPr id="60447" name="Group 48"/>
            <p:cNvGrpSpPr>
              <a:grpSpLocks/>
            </p:cNvGrpSpPr>
            <p:nvPr/>
          </p:nvGrpSpPr>
          <p:grpSpPr bwMode="auto">
            <a:xfrm>
              <a:off x="545" y="0"/>
              <a:ext cx="635" cy="272"/>
              <a:chOff x="0" y="0"/>
              <a:chExt cx="635" cy="272"/>
            </a:xfrm>
            <a:grpFill/>
          </p:grpSpPr>
          <p:sp>
            <p:nvSpPr>
              <p:cNvPr id="60449" name="Rectangle 49"/>
              <p:cNvSpPr>
                <a:spLocks noChangeArrowheads="1"/>
              </p:cNvSpPr>
              <p:nvPr/>
            </p:nvSpPr>
            <p:spPr bwMode="auto">
              <a:xfrm>
                <a:off x="0" y="0"/>
                <a:ext cx="635" cy="272"/>
              </a:xfrm>
              <a:prstGeom prst="rect">
                <a:avLst/>
              </a:prstGeom>
              <a:grp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eaLnBrk="1" hangingPunct="1"/>
                <a:r>
                  <a:rPr lang="zh-CN" altLang="en-US" b="1" dirty="0">
                    <a:latin typeface="Tahoma" panose="020B0604030504040204" pitchFamily="34" charset="0"/>
                    <a:ea typeface="宋体" panose="02010600030101010101" pitchFamily="2" charset="-122"/>
                  </a:rPr>
                  <a:t>  </a:t>
                </a:r>
                <a:r>
                  <a:rPr lang="en-US" altLang="zh-CN" b="1" dirty="0">
                    <a:latin typeface="Tahoma" panose="020B0604030504040204" pitchFamily="34" charset="0"/>
                    <a:ea typeface="宋体" panose="02010600030101010101" pitchFamily="2" charset="-122"/>
                  </a:rPr>
                  <a:t>12  </a:t>
                </a:r>
              </a:p>
            </p:txBody>
          </p:sp>
          <p:sp>
            <p:nvSpPr>
              <p:cNvPr id="60450" name="Line 50"/>
              <p:cNvSpPr>
                <a:spLocks noChangeShapeType="1"/>
              </p:cNvSpPr>
              <p:nvPr/>
            </p:nvSpPr>
            <p:spPr bwMode="auto">
              <a:xfrm>
                <a:off x="453" y="0"/>
                <a:ext cx="0" cy="272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0448" name="Line 51"/>
            <p:cNvSpPr>
              <a:spLocks noChangeShapeType="1"/>
            </p:cNvSpPr>
            <p:nvPr/>
          </p:nvSpPr>
          <p:spPr bwMode="auto">
            <a:xfrm>
              <a:off x="0" y="136"/>
              <a:ext cx="545" cy="0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" name="Group 52"/>
          <p:cNvGrpSpPr>
            <a:grpSpLocks/>
          </p:cNvGrpSpPr>
          <p:nvPr/>
        </p:nvGrpSpPr>
        <p:grpSpPr bwMode="auto">
          <a:xfrm>
            <a:off x="1981200" y="6087194"/>
            <a:ext cx="1873250" cy="431800"/>
            <a:chOff x="0" y="0"/>
            <a:chExt cx="1180" cy="272"/>
          </a:xfrm>
          <a:solidFill>
            <a:srgbClr val="FFFF00"/>
          </a:solidFill>
        </p:grpSpPr>
        <p:grpSp>
          <p:nvGrpSpPr>
            <p:cNvPr id="60443" name="Group 53"/>
            <p:cNvGrpSpPr>
              <a:grpSpLocks/>
            </p:cNvGrpSpPr>
            <p:nvPr/>
          </p:nvGrpSpPr>
          <p:grpSpPr bwMode="auto">
            <a:xfrm>
              <a:off x="545" y="0"/>
              <a:ext cx="635" cy="272"/>
              <a:chOff x="0" y="0"/>
              <a:chExt cx="635" cy="272"/>
            </a:xfrm>
            <a:grpFill/>
          </p:grpSpPr>
          <p:sp>
            <p:nvSpPr>
              <p:cNvPr id="60445" name="Rectangle 54"/>
              <p:cNvSpPr>
                <a:spLocks noChangeArrowheads="1"/>
              </p:cNvSpPr>
              <p:nvPr/>
            </p:nvSpPr>
            <p:spPr bwMode="auto">
              <a:xfrm>
                <a:off x="0" y="0"/>
                <a:ext cx="635" cy="272"/>
              </a:xfrm>
              <a:prstGeom prst="rect">
                <a:avLst/>
              </a:prstGeom>
              <a:grp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eaLnBrk="1" hangingPunct="1"/>
                <a:r>
                  <a:rPr lang="zh-CN" altLang="en-US" b="1">
                    <a:latin typeface="Tahoma" panose="020B0604030504040204" pitchFamily="34" charset="0"/>
                    <a:ea typeface="宋体" panose="02010600030101010101" pitchFamily="2" charset="-122"/>
                  </a:rPr>
                  <a:t>  </a:t>
                </a:r>
                <a:r>
                  <a:rPr lang="en-US" altLang="zh-CN" b="1">
                    <a:latin typeface="Tahoma" panose="020B0604030504040204" pitchFamily="34" charset="0"/>
                    <a:ea typeface="宋体" panose="02010600030101010101" pitchFamily="2" charset="-122"/>
                  </a:rPr>
                  <a:t>34 </a:t>
                </a:r>
              </a:p>
            </p:txBody>
          </p:sp>
          <p:sp>
            <p:nvSpPr>
              <p:cNvPr id="60446" name="Line 55"/>
              <p:cNvSpPr>
                <a:spLocks noChangeShapeType="1"/>
              </p:cNvSpPr>
              <p:nvPr/>
            </p:nvSpPr>
            <p:spPr bwMode="auto">
              <a:xfrm>
                <a:off x="453" y="0"/>
                <a:ext cx="0" cy="272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0444" name="Line 56"/>
            <p:cNvSpPr>
              <a:spLocks noChangeShapeType="1"/>
            </p:cNvSpPr>
            <p:nvPr/>
          </p:nvSpPr>
          <p:spPr bwMode="auto">
            <a:xfrm>
              <a:off x="0" y="136"/>
              <a:ext cx="545" cy="0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" name="Group 57"/>
          <p:cNvGrpSpPr>
            <a:grpSpLocks/>
          </p:cNvGrpSpPr>
          <p:nvPr/>
        </p:nvGrpSpPr>
        <p:grpSpPr bwMode="auto">
          <a:xfrm>
            <a:off x="2198688" y="3494807"/>
            <a:ext cx="1655762" cy="431800"/>
            <a:chOff x="0" y="0"/>
            <a:chExt cx="1043" cy="272"/>
          </a:xfrm>
          <a:solidFill>
            <a:srgbClr val="FFFF00"/>
          </a:solidFill>
        </p:grpSpPr>
        <p:grpSp>
          <p:nvGrpSpPr>
            <p:cNvPr id="60439" name="Group 58"/>
            <p:cNvGrpSpPr>
              <a:grpSpLocks/>
            </p:cNvGrpSpPr>
            <p:nvPr/>
          </p:nvGrpSpPr>
          <p:grpSpPr bwMode="auto">
            <a:xfrm>
              <a:off x="408" y="0"/>
              <a:ext cx="635" cy="272"/>
              <a:chOff x="0" y="0"/>
              <a:chExt cx="635" cy="272"/>
            </a:xfrm>
            <a:grpFill/>
          </p:grpSpPr>
          <p:sp>
            <p:nvSpPr>
              <p:cNvPr id="60441" name="Rectangle 59"/>
              <p:cNvSpPr>
                <a:spLocks noChangeArrowheads="1"/>
              </p:cNvSpPr>
              <p:nvPr/>
            </p:nvSpPr>
            <p:spPr bwMode="auto">
              <a:xfrm>
                <a:off x="0" y="0"/>
                <a:ext cx="635" cy="272"/>
              </a:xfrm>
              <a:prstGeom prst="rect">
                <a:avLst/>
              </a:prstGeom>
              <a:grp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1" charset="-122"/>
                  </a:defRPr>
                </a:lvl9pPr>
              </a:lstStyle>
              <a:p>
                <a:pPr eaLnBrk="1" hangingPunct="1"/>
                <a:r>
                  <a:rPr lang="zh-CN" altLang="en-US" b="1">
                    <a:latin typeface="Tahoma" panose="020B0604030504040204" pitchFamily="34" charset="0"/>
                    <a:ea typeface="宋体" panose="02010600030101010101" pitchFamily="2" charset="-122"/>
                  </a:rPr>
                  <a:t>  </a:t>
                </a:r>
                <a:r>
                  <a:rPr lang="en-US" altLang="zh-CN" b="1">
                    <a:latin typeface="Tahoma" panose="020B0604030504040204" pitchFamily="34" charset="0"/>
                    <a:ea typeface="宋体" panose="02010600030101010101" pitchFamily="2" charset="-122"/>
                  </a:rPr>
                  <a:t>8     </a:t>
                </a:r>
              </a:p>
            </p:txBody>
          </p:sp>
          <p:sp>
            <p:nvSpPr>
              <p:cNvPr id="60442" name="Line 60"/>
              <p:cNvSpPr>
                <a:spLocks noChangeShapeType="1"/>
              </p:cNvSpPr>
              <p:nvPr/>
            </p:nvSpPr>
            <p:spPr bwMode="auto">
              <a:xfrm>
                <a:off x="453" y="0"/>
                <a:ext cx="0" cy="272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0440" name="Line 61"/>
            <p:cNvSpPr>
              <a:spLocks noChangeShapeType="1"/>
            </p:cNvSpPr>
            <p:nvPr/>
          </p:nvSpPr>
          <p:spPr bwMode="auto">
            <a:xfrm>
              <a:off x="0" y="136"/>
              <a:ext cx="408" cy="0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1502" name="Rectangle 62"/>
          <p:cNvSpPr>
            <a:spLocks noChangeArrowheads="1"/>
          </p:cNvSpPr>
          <p:nvPr/>
        </p:nvSpPr>
        <p:spPr bwMode="auto">
          <a:xfrm>
            <a:off x="3494088" y="6158632"/>
            <a:ext cx="3714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eaLnBrk="1" hangingPunct="1"/>
            <a:r>
              <a:rPr lang="en-US" altLang="zh-CN" b="1">
                <a:latin typeface="Tahoma" panose="020B0604030504040204" pitchFamily="34" charset="0"/>
                <a:ea typeface="宋体" panose="02010600030101010101" pitchFamily="2" charset="-122"/>
              </a:rPr>
              <a:t>^</a:t>
            </a:r>
          </a:p>
        </p:txBody>
      </p:sp>
      <p:sp>
        <p:nvSpPr>
          <p:cNvPr id="61503" name="Rectangle 63"/>
          <p:cNvSpPr>
            <a:spLocks noChangeArrowheads="1"/>
          </p:cNvSpPr>
          <p:nvPr/>
        </p:nvSpPr>
        <p:spPr bwMode="auto">
          <a:xfrm>
            <a:off x="3494088" y="3559894"/>
            <a:ext cx="3714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eaLnBrk="1" hangingPunct="1"/>
            <a:r>
              <a:rPr lang="en-US" altLang="zh-CN" b="1">
                <a:latin typeface="Tahoma" panose="020B0604030504040204" pitchFamily="34" charset="0"/>
                <a:ea typeface="宋体" panose="02010600030101010101" pitchFamily="2" charset="-122"/>
              </a:rPr>
              <a:t>^</a:t>
            </a:r>
          </a:p>
        </p:txBody>
      </p:sp>
      <p:sp>
        <p:nvSpPr>
          <p:cNvPr id="61504" name="Rectangle 64"/>
          <p:cNvSpPr>
            <a:spLocks noChangeArrowheads="1"/>
          </p:cNvSpPr>
          <p:nvPr/>
        </p:nvSpPr>
        <p:spPr bwMode="auto">
          <a:xfrm>
            <a:off x="6518275" y="2983632"/>
            <a:ext cx="3714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eaLnBrk="1" hangingPunct="1"/>
            <a:r>
              <a:rPr lang="en-US" altLang="zh-CN" b="1">
                <a:latin typeface="Tahoma" panose="020B0604030504040204" pitchFamily="34" charset="0"/>
                <a:ea typeface="宋体" panose="02010600030101010101" pitchFamily="2" charset="-122"/>
              </a:rPr>
              <a:t>^</a:t>
            </a:r>
          </a:p>
        </p:txBody>
      </p:sp>
      <p:sp>
        <p:nvSpPr>
          <p:cNvPr id="61505" name="Rectangle 65"/>
          <p:cNvSpPr>
            <a:spLocks noChangeArrowheads="1"/>
          </p:cNvSpPr>
          <p:nvPr/>
        </p:nvSpPr>
        <p:spPr bwMode="auto">
          <a:xfrm>
            <a:off x="3494088" y="4136157"/>
            <a:ext cx="3714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eaLnBrk="1" hangingPunct="1"/>
            <a:r>
              <a:rPr lang="en-US" altLang="zh-CN" b="1" dirty="0">
                <a:latin typeface="Tahoma" panose="020B0604030504040204" pitchFamily="34" charset="0"/>
                <a:ea typeface="宋体" panose="02010600030101010101" pitchFamily="2" charset="-122"/>
              </a:rPr>
              <a:t>^</a:t>
            </a:r>
          </a:p>
        </p:txBody>
      </p:sp>
      <p:sp>
        <p:nvSpPr>
          <p:cNvPr id="61506" name="Rectangle 66"/>
          <p:cNvSpPr>
            <a:spLocks noChangeArrowheads="1"/>
          </p:cNvSpPr>
          <p:nvPr/>
        </p:nvSpPr>
        <p:spPr bwMode="auto">
          <a:xfrm>
            <a:off x="3494088" y="4999757"/>
            <a:ext cx="3714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eaLnBrk="1" hangingPunct="1"/>
            <a:r>
              <a:rPr lang="en-US" altLang="zh-CN" b="1">
                <a:latin typeface="Tahoma" panose="020B0604030504040204" pitchFamily="34" charset="0"/>
                <a:ea typeface="宋体" panose="02010600030101010101" pitchFamily="2" charset="-122"/>
              </a:rPr>
              <a:t>^</a:t>
            </a:r>
          </a:p>
        </p:txBody>
      </p:sp>
      <p:sp>
        <p:nvSpPr>
          <p:cNvPr id="61507" name="Rectangle 67"/>
          <p:cNvSpPr>
            <a:spLocks noChangeArrowheads="1"/>
          </p:cNvSpPr>
          <p:nvPr/>
        </p:nvSpPr>
        <p:spPr bwMode="auto">
          <a:xfrm>
            <a:off x="4211638" y="5489133"/>
            <a:ext cx="447516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eaLnBrk="1" hangingPunct="1"/>
            <a:r>
              <a:rPr lang="en-US" altLang="zh-CN" sz="2400" dirty="0">
                <a:latin typeface="Tahoma" panose="020B0604030504040204" pitchFamily="34" charset="0"/>
                <a:ea typeface="宋体" panose="02010600030101010101" pitchFamily="2" charset="-122"/>
              </a:rPr>
              <a:t>ASL = (1*6+2*1+3*1)/8        </a:t>
            </a:r>
          </a:p>
          <a:p>
            <a:pPr eaLnBrk="1" hangingPunct="1"/>
            <a:r>
              <a:rPr lang="en-US" altLang="zh-CN" sz="2400" dirty="0">
                <a:latin typeface="Tahoma" panose="020B0604030504040204" pitchFamily="34" charset="0"/>
                <a:ea typeface="宋体" panose="02010600030101010101" pitchFamily="2" charset="-122"/>
              </a:rPr>
              <a:t>      = 11/8</a:t>
            </a:r>
          </a:p>
        </p:txBody>
      </p:sp>
      <p:sp>
        <p:nvSpPr>
          <p:cNvPr id="61508" name="Rectangle 68"/>
          <p:cNvSpPr>
            <a:spLocks noChangeArrowheads="1"/>
          </p:cNvSpPr>
          <p:nvPr/>
        </p:nvSpPr>
        <p:spPr bwMode="auto">
          <a:xfrm>
            <a:off x="3494088" y="5576019"/>
            <a:ext cx="3714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eaLnBrk="1" hangingPunct="1"/>
            <a:r>
              <a:rPr lang="en-US" altLang="zh-CN" b="1">
                <a:latin typeface="Tahoma" panose="020B0604030504040204" pitchFamily="34" charset="0"/>
                <a:ea typeface="宋体" panose="02010600030101010101" pitchFamily="2" charset="-122"/>
              </a:rPr>
              <a:t>^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75</a:t>
            </a:fld>
            <a:endParaRPr lang="zh-CN" altLang="en-US" dirty="0"/>
          </a:p>
        </p:txBody>
      </p:sp>
      <p:grpSp>
        <p:nvGrpSpPr>
          <p:cNvPr id="71" name="组合 67"/>
          <p:cNvGrpSpPr/>
          <p:nvPr/>
        </p:nvGrpSpPr>
        <p:grpSpPr>
          <a:xfrm>
            <a:off x="467544" y="114580"/>
            <a:ext cx="8933091" cy="656947"/>
            <a:chOff x="807558" y="4179148"/>
            <a:chExt cx="9626789" cy="698583"/>
          </a:xfrm>
        </p:grpSpPr>
        <p:grpSp>
          <p:nvGrpSpPr>
            <p:cNvPr id="72" name="组合 106"/>
            <p:cNvGrpSpPr/>
            <p:nvPr/>
          </p:nvGrpSpPr>
          <p:grpSpPr>
            <a:xfrm>
              <a:off x="807558" y="4179148"/>
              <a:ext cx="9626789" cy="698583"/>
              <a:chOff x="798033" y="4179148"/>
              <a:chExt cx="9626789" cy="698583"/>
            </a:xfrm>
          </p:grpSpPr>
          <p:sp>
            <p:nvSpPr>
              <p:cNvPr id="74" name="Freeform 5"/>
              <p:cNvSpPr>
                <a:spLocks/>
              </p:cNvSpPr>
              <p:nvPr/>
            </p:nvSpPr>
            <p:spPr bwMode="auto">
              <a:xfrm>
                <a:off x="927100" y="4202884"/>
                <a:ext cx="824164" cy="674847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408080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4000" b="1" dirty="0">
                  <a:ea typeface="微软雅黑" pitchFamily="34" charset="-122"/>
                </a:endParaRPr>
              </a:p>
            </p:txBody>
          </p:sp>
          <p:sp>
            <p:nvSpPr>
              <p:cNvPr id="75" name="TextBox 6"/>
              <p:cNvSpPr txBox="1">
                <a:spLocks noChangeArrowheads="1"/>
              </p:cNvSpPr>
              <p:nvPr/>
            </p:nvSpPr>
            <p:spPr bwMode="auto">
              <a:xfrm>
                <a:off x="798033" y="4179148"/>
                <a:ext cx="9626789" cy="687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10.4 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散列表的查找</a:t>
                </a:r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-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处理冲突的方法</a:t>
                </a:r>
              </a:p>
            </p:txBody>
          </p:sp>
        </p:grpSp>
        <p:pic>
          <p:nvPicPr>
            <p:cNvPr id="73" name="图片 72" descr="无标题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7949" y="4364064"/>
              <a:ext cx="433676" cy="3309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28552326"/>
      </p:ext>
    </p:extLst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614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614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6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61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61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61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61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61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61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615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615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6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4" grpId="0" build="p" autoUpdateAnimBg="0"/>
      <p:bldP spid="61476" grpId="0" autoUpdateAnimBg="0"/>
      <p:bldP spid="61502" grpId="0" autoUpdateAnimBg="0"/>
      <p:bldP spid="61503" grpId="0" autoUpdateAnimBg="0"/>
      <p:bldP spid="61504" grpId="0" autoUpdateAnimBg="0"/>
      <p:bldP spid="61505" grpId="0" autoUpdateAnimBg="0"/>
      <p:bldP spid="61506" grpId="0" autoUpdateAnimBg="0"/>
      <p:bldP spid="61507" grpId="0" autoUpdateAnimBg="0"/>
      <p:bldP spid="61508" grpId="0" autoUpdateAnimBg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536" y="980728"/>
            <a:ext cx="8568952" cy="4535488"/>
          </a:xfrm>
        </p:spPr>
        <p:txBody>
          <a:bodyPr/>
          <a:lstStyle/>
          <a:p>
            <a:pPr eaLnBrk="1" hangingPunct="1">
              <a:spcBef>
                <a:spcPts val="1200"/>
              </a:spcBef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>
                <a:latin typeface="宋体" panose="02010600030101010101" pitchFamily="2" charset="-122"/>
              </a:rPr>
              <a:t>在散列表中查找元素的过程和构造的过程基本一致：</a:t>
            </a:r>
          </a:p>
          <a:p>
            <a:pPr eaLnBrk="1" hangingPunct="1"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    对给定关键字</a:t>
            </a:r>
            <a:r>
              <a:rPr lang="en-US" altLang="zh-CN" sz="2400" b="1" dirty="0">
                <a:latin typeface="宋体" panose="02010600030101010101" pitchFamily="2" charset="-122"/>
              </a:rPr>
              <a:t>k</a:t>
            </a:r>
            <a:r>
              <a:rPr lang="zh-CN" altLang="en-US" sz="2400" b="1" dirty="0">
                <a:latin typeface="宋体" panose="02010600030101010101" pitchFamily="2" charset="-122"/>
              </a:rPr>
              <a:t>，由散列函数</a:t>
            </a:r>
            <a:r>
              <a:rPr lang="en-US" altLang="zh-CN" sz="2400" b="1" dirty="0">
                <a:latin typeface="宋体" panose="02010600030101010101" pitchFamily="2" charset="-122"/>
              </a:rPr>
              <a:t>H</a:t>
            </a:r>
            <a:r>
              <a:rPr lang="zh-CN" altLang="en-US" sz="2400" b="1" dirty="0">
                <a:latin typeface="宋体" panose="02010600030101010101" pitchFamily="2" charset="-122"/>
              </a:rPr>
              <a:t>计算出该元素的地址</a:t>
            </a:r>
            <a:r>
              <a:rPr lang="en-US" altLang="zh-CN" sz="2400" b="1" dirty="0">
                <a:latin typeface="宋体" panose="02010600030101010101" pitchFamily="2" charset="-122"/>
              </a:rPr>
              <a:t>H(k)</a:t>
            </a:r>
            <a:r>
              <a:rPr lang="zh-CN" altLang="en-US" sz="2400" b="1" dirty="0">
                <a:latin typeface="宋体" panose="02010600030101010101" pitchFamily="2" charset="-122"/>
              </a:rPr>
              <a:t>。</a:t>
            </a:r>
          </a:p>
          <a:p>
            <a:pPr eaLnBrk="1" hangingPunct="1"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       若表中该位置为空，则查找失败。</a:t>
            </a:r>
          </a:p>
          <a:p>
            <a:pPr eaLnBrk="1" hangingPunct="1"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       否则，比较关键字，若相等，查找成功，否则根据构</a:t>
            </a:r>
            <a:endParaRPr lang="en-US" altLang="zh-CN" sz="2400" b="1" dirty="0">
              <a:latin typeface="宋体" panose="02010600030101010101" pitchFamily="2" charset="-122"/>
            </a:endParaRPr>
          </a:p>
          <a:p>
            <a:pPr eaLnBrk="1" hangingPunct="1"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  </a:t>
            </a:r>
            <a:r>
              <a:rPr lang="zh-CN" altLang="en-US" sz="2400" b="1" dirty="0">
                <a:latin typeface="宋体" panose="02010600030101010101" pitchFamily="2" charset="-122"/>
              </a:rPr>
              <a:t>造表时所采用的处理方法找下一个地址，直至找到关键字等于</a:t>
            </a:r>
            <a:r>
              <a:rPr lang="en-US" altLang="zh-CN" sz="2400" b="1" dirty="0">
                <a:latin typeface="宋体" panose="02010600030101010101" pitchFamily="2" charset="-122"/>
              </a:rPr>
              <a:t>k</a:t>
            </a:r>
            <a:r>
              <a:rPr lang="zh-CN" altLang="en-US" sz="2400" b="1" dirty="0">
                <a:latin typeface="宋体" panose="02010600030101010101" pitchFamily="2" charset="-122"/>
              </a:rPr>
              <a:t>的元素（成功）或者找到空位置（失败）为止。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400" b="1" dirty="0">
              <a:latin typeface="宋体" panose="02010600030101010101" pitchFamily="2" charset="-122"/>
            </a:endParaRPr>
          </a:p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>
                <a:latin typeface="楷体_GB2312" pitchFamily="1" charset="-122"/>
              </a:rPr>
              <a:t>一般在用链地址法构造的表中进行查找，比在用</a:t>
            </a:r>
            <a:r>
              <a:rPr lang="zh-CN" altLang="en-US" sz="2400" b="1" dirty="0">
                <a:latin typeface="宋体" panose="02010600030101010101" pitchFamily="2" charset="-122"/>
              </a:rPr>
              <a:t>线性探测法</a:t>
            </a:r>
            <a:r>
              <a:rPr lang="zh-CN" altLang="en-US" sz="2400" b="1" dirty="0">
                <a:latin typeface="楷体_GB2312" pitchFamily="1" charset="-122"/>
              </a:rPr>
              <a:t>构造的表中进行查找，查找长度要小。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76</a:t>
            </a:fld>
            <a:endParaRPr lang="zh-CN" altLang="en-US" dirty="0"/>
          </a:p>
        </p:txBody>
      </p:sp>
      <p:grpSp>
        <p:nvGrpSpPr>
          <p:cNvPr id="6" name="组合 67"/>
          <p:cNvGrpSpPr/>
          <p:nvPr/>
        </p:nvGrpSpPr>
        <p:grpSpPr>
          <a:xfrm>
            <a:off x="-149454" y="114580"/>
            <a:ext cx="6789967" cy="656947"/>
            <a:chOff x="142646" y="4179148"/>
            <a:chExt cx="7317240" cy="698583"/>
          </a:xfrm>
        </p:grpSpPr>
        <p:grpSp>
          <p:nvGrpSpPr>
            <p:cNvPr id="7" name="组合 106"/>
            <p:cNvGrpSpPr/>
            <p:nvPr/>
          </p:nvGrpSpPr>
          <p:grpSpPr>
            <a:xfrm>
              <a:off x="142646" y="4179148"/>
              <a:ext cx="7317240" cy="698583"/>
              <a:chOff x="133121" y="4179148"/>
              <a:chExt cx="7317240" cy="698583"/>
            </a:xfrm>
          </p:grpSpPr>
          <p:sp>
            <p:nvSpPr>
              <p:cNvPr id="9" name="Freeform 5"/>
              <p:cNvSpPr>
                <a:spLocks/>
              </p:cNvSpPr>
              <p:nvPr/>
            </p:nvSpPr>
            <p:spPr bwMode="auto">
              <a:xfrm>
                <a:off x="927100" y="4202884"/>
                <a:ext cx="824164" cy="674847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408080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4000" b="1" dirty="0">
                  <a:ea typeface="微软雅黑" pitchFamily="34" charset="-122"/>
                </a:endParaRPr>
              </a:p>
            </p:txBody>
          </p:sp>
          <p:sp>
            <p:nvSpPr>
              <p:cNvPr id="10" name="TextBox 6"/>
              <p:cNvSpPr txBox="1">
                <a:spLocks noChangeArrowheads="1"/>
              </p:cNvSpPr>
              <p:nvPr/>
            </p:nvSpPr>
            <p:spPr bwMode="auto">
              <a:xfrm>
                <a:off x="133121" y="4179148"/>
                <a:ext cx="7317240" cy="6872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>
                    <a:latin typeface="Times New Roman" pitchFamily="18" charset="0"/>
                    <a:ea typeface="黑体" pitchFamily="49" charset="-122"/>
                  </a:rPr>
                  <a:t>10.4 </a:t>
                </a:r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散列表的查找</a:t>
                </a:r>
              </a:p>
            </p:txBody>
          </p:sp>
        </p:grpSp>
        <p:pic>
          <p:nvPicPr>
            <p:cNvPr id="8" name="图片 7" descr="无标题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7949" y="4364064"/>
              <a:ext cx="433676" cy="3309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01018375"/>
      </p:ext>
    </p:extLst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4678451"/>
          </a:xfrm>
        </p:spPr>
        <p:txBody>
          <a:bodyPr/>
          <a:lstStyle/>
          <a:p>
            <a:pPr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/>
              <a:t>根据输入序列</a:t>
            </a:r>
            <a:r>
              <a:rPr lang="en-US" altLang="zh-CN" sz="2800" b="1" dirty="0"/>
              <a:t>10</a:t>
            </a:r>
            <a:r>
              <a:rPr lang="zh-CN" altLang="en-US" sz="2800" b="1" dirty="0"/>
              <a:t>，</a:t>
            </a:r>
            <a:r>
              <a:rPr lang="en-US" altLang="zh-CN" sz="2800" b="1" dirty="0"/>
              <a:t>6</a:t>
            </a:r>
            <a:r>
              <a:rPr lang="zh-CN" altLang="en-US" sz="2800" b="1" dirty="0"/>
              <a:t>，</a:t>
            </a:r>
            <a:r>
              <a:rPr lang="en-US" altLang="zh-CN" sz="2800" b="1" dirty="0"/>
              <a:t>1</a:t>
            </a:r>
            <a:r>
              <a:rPr lang="zh-CN" altLang="en-US" sz="2800" b="1" dirty="0"/>
              <a:t>，</a:t>
            </a:r>
            <a:r>
              <a:rPr lang="en-US" altLang="zh-CN" sz="2800" b="1" dirty="0"/>
              <a:t>4</a:t>
            </a:r>
            <a:r>
              <a:rPr lang="zh-CN" altLang="en-US" sz="2800" b="1" dirty="0"/>
              <a:t>，</a:t>
            </a:r>
            <a:r>
              <a:rPr lang="en-US" altLang="zh-CN" sz="2800" b="1" dirty="0"/>
              <a:t>5</a:t>
            </a:r>
            <a:r>
              <a:rPr lang="zh-CN" altLang="en-US" sz="2800" b="1" dirty="0"/>
              <a:t>，</a:t>
            </a:r>
            <a:r>
              <a:rPr lang="en-US" altLang="zh-CN" sz="2800" b="1" dirty="0"/>
              <a:t>11</a:t>
            </a:r>
            <a:r>
              <a:rPr lang="zh-CN" altLang="en-US" sz="2800" b="1" dirty="0"/>
              <a:t>，</a:t>
            </a:r>
            <a:r>
              <a:rPr lang="en-US" altLang="zh-CN" sz="2800" b="1" dirty="0"/>
              <a:t>12</a:t>
            </a:r>
            <a:r>
              <a:rPr lang="zh-CN" altLang="en-US" sz="2800" b="1" dirty="0"/>
              <a:t>，</a:t>
            </a:r>
            <a:r>
              <a:rPr lang="en-US" altLang="zh-CN" sz="2800" b="1" dirty="0"/>
              <a:t>13</a:t>
            </a:r>
            <a:r>
              <a:rPr lang="zh-CN" altLang="en-US" sz="2800" b="1" dirty="0"/>
              <a:t>， </a:t>
            </a:r>
            <a:r>
              <a:rPr lang="en-US" altLang="zh-CN" sz="2800" b="1" dirty="0"/>
              <a:t>8</a:t>
            </a:r>
            <a:r>
              <a:rPr lang="zh-CN" altLang="en-US" sz="2800" b="1" dirty="0"/>
              <a:t>， </a:t>
            </a:r>
            <a:r>
              <a:rPr lang="en-US" altLang="zh-CN" sz="2800" b="1" dirty="0"/>
              <a:t>9</a:t>
            </a:r>
            <a:r>
              <a:rPr lang="zh-CN" altLang="en-US" sz="2800" b="1" dirty="0"/>
              <a:t>，构造一棵平衡二叉树，要求写出构建过程。</a:t>
            </a:r>
          </a:p>
          <a:p>
            <a:endParaRPr lang="en-US" altLang="zh-CN" dirty="0"/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/>
              <a:t>3</a:t>
            </a:r>
            <a:r>
              <a:rPr lang="zh-CN" altLang="en-US" sz="2400" dirty="0"/>
              <a:t>阶</a:t>
            </a:r>
            <a:r>
              <a:rPr lang="en-US" altLang="zh-CN" sz="2400" dirty="0"/>
              <a:t>B-</a:t>
            </a:r>
            <a:r>
              <a:rPr lang="zh-CN" altLang="en-US" sz="2400" dirty="0"/>
              <a:t>树的插入与删除操作，插入数据：</a:t>
            </a:r>
            <a:r>
              <a:rPr lang="en-US" altLang="zh-CN" sz="2400" dirty="0"/>
              <a:t>80</a:t>
            </a:r>
            <a:r>
              <a:rPr lang="zh-CN" altLang="en-US" sz="2400" dirty="0"/>
              <a:t>，</a:t>
            </a:r>
            <a:r>
              <a:rPr lang="en-US" altLang="zh-CN" sz="2400" dirty="0"/>
              <a:t>195</a:t>
            </a:r>
            <a:r>
              <a:rPr lang="zh-CN" altLang="en-US" sz="2400" dirty="0"/>
              <a:t>，删除数据：</a:t>
            </a:r>
            <a:r>
              <a:rPr lang="en-US" altLang="zh-CN" sz="2400" dirty="0"/>
              <a:t>260</a:t>
            </a:r>
            <a:r>
              <a:rPr lang="zh-CN" altLang="en-US" sz="2400" dirty="0"/>
              <a:t>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77</a:t>
            </a:fld>
            <a:endParaRPr lang="zh-CN" altLang="en-US" dirty="0"/>
          </a:p>
        </p:txBody>
      </p:sp>
      <p:grpSp>
        <p:nvGrpSpPr>
          <p:cNvPr id="5" name="组合 4"/>
          <p:cNvGrpSpPr/>
          <p:nvPr/>
        </p:nvGrpSpPr>
        <p:grpSpPr>
          <a:xfrm>
            <a:off x="539552" y="66293"/>
            <a:ext cx="1971209" cy="696929"/>
            <a:chOff x="973123" y="4906917"/>
            <a:chExt cx="1971209" cy="696929"/>
          </a:xfrm>
        </p:grpSpPr>
        <p:sp>
          <p:nvSpPr>
            <p:cNvPr id="6" name="矩形 5"/>
            <p:cNvSpPr/>
            <p:nvPr/>
          </p:nvSpPr>
          <p:spPr>
            <a:xfrm>
              <a:off x="1523750" y="4964472"/>
              <a:ext cx="1420582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buClr>
                  <a:srgbClr val="FF0000"/>
                </a:buClr>
              </a:pPr>
              <a:r>
                <a:rPr lang="zh-CN" altLang="en-US" sz="3200" b="1" dirty="0">
                  <a:latin typeface="Verdana" pitchFamily="34" charset="0"/>
                  <a:ea typeface="黑体" pitchFamily="49" charset="-122"/>
                </a:rPr>
                <a:t>作业：</a:t>
              </a:r>
            </a:p>
          </p:txBody>
        </p:sp>
        <p:pic>
          <p:nvPicPr>
            <p:cNvPr id="7" name="图片 6"/>
            <p:cNvPicPr/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973123" y="4906917"/>
              <a:ext cx="654342" cy="6969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8" name="Oval 23"/>
          <p:cNvSpPr>
            <a:spLocks noChangeArrowheads="1"/>
          </p:cNvSpPr>
          <p:nvPr/>
        </p:nvSpPr>
        <p:spPr bwMode="auto">
          <a:xfrm>
            <a:off x="4566714" y="5157788"/>
            <a:ext cx="647700" cy="287337"/>
          </a:xfrm>
          <a:prstGeom prst="ellipse">
            <a:avLst/>
          </a:prstGeom>
          <a:solidFill>
            <a:srgbClr val="92D05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 b="1" dirty="0">
                <a:ea typeface="宋体" panose="02010600030101010101" pitchFamily="2" charset="-122"/>
              </a:rPr>
              <a:t>160</a:t>
            </a:r>
          </a:p>
        </p:txBody>
      </p:sp>
      <p:sp>
        <p:nvSpPr>
          <p:cNvPr id="9" name="Oval 24"/>
          <p:cNvSpPr>
            <a:spLocks noChangeArrowheads="1"/>
          </p:cNvSpPr>
          <p:nvPr/>
        </p:nvSpPr>
        <p:spPr bwMode="auto">
          <a:xfrm>
            <a:off x="5358877" y="5156200"/>
            <a:ext cx="647700" cy="288925"/>
          </a:xfrm>
          <a:prstGeom prst="ellipse">
            <a:avLst/>
          </a:prstGeom>
          <a:solidFill>
            <a:srgbClr val="92D05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 b="1" dirty="0">
                <a:ea typeface="宋体" panose="02010600030101010101" pitchFamily="2" charset="-122"/>
              </a:rPr>
              <a:t>190</a:t>
            </a:r>
          </a:p>
        </p:txBody>
      </p:sp>
      <p:sp>
        <p:nvSpPr>
          <p:cNvPr id="10" name="Oval 25"/>
          <p:cNvSpPr>
            <a:spLocks noChangeArrowheads="1"/>
          </p:cNvSpPr>
          <p:nvPr/>
        </p:nvSpPr>
        <p:spPr bwMode="auto">
          <a:xfrm>
            <a:off x="5790677" y="4076700"/>
            <a:ext cx="935037" cy="360363"/>
          </a:xfrm>
          <a:prstGeom prst="ellipse">
            <a:avLst/>
          </a:prstGeom>
          <a:solidFill>
            <a:srgbClr val="92D05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 b="1">
                <a:ea typeface="宋体" panose="02010600030101010101" pitchFamily="2" charset="-122"/>
              </a:rPr>
              <a:t>200</a:t>
            </a:r>
          </a:p>
        </p:txBody>
      </p:sp>
      <p:sp>
        <p:nvSpPr>
          <p:cNvPr id="11" name="Line 26"/>
          <p:cNvSpPr>
            <a:spLocks noChangeShapeType="1"/>
          </p:cNvSpPr>
          <p:nvPr/>
        </p:nvSpPr>
        <p:spPr bwMode="auto">
          <a:xfrm flipH="1">
            <a:off x="5647802" y="4219575"/>
            <a:ext cx="358775" cy="8651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Oval 27"/>
          <p:cNvSpPr>
            <a:spLocks noChangeArrowheads="1"/>
          </p:cNvSpPr>
          <p:nvPr/>
        </p:nvSpPr>
        <p:spPr bwMode="auto">
          <a:xfrm>
            <a:off x="3126852" y="3429000"/>
            <a:ext cx="1871662" cy="360363"/>
          </a:xfrm>
          <a:prstGeom prst="ellipse">
            <a:avLst/>
          </a:prstGeom>
          <a:solidFill>
            <a:srgbClr val="92D05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 b="1" dirty="0">
                <a:ea typeface="宋体" panose="02010600030101010101" pitchFamily="2" charset="-122"/>
              </a:rPr>
              <a:t>100  180</a:t>
            </a:r>
          </a:p>
        </p:txBody>
      </p:sp>
      <p:sp>
        <p:nvSpPr>
          <p:cNvPr id="13" name="Oval 28"/>
          <p:cNvSpPr>
            <a:spLocks noChangeArrowheads="1"/>
          </p:cNvSpPr>
          <p:nvPr/>
        </p:nvSpPr>
        <p:spPr bwMode="auto">
          <a:xfrm>
            <a:off x="1471089" y="4146550"/>
            <a:ext cx="1008063" cy="360363"/>
          </a:xfrm>
          <a:prstGeom prst="ellipse">
            <a:avLst/>
          </a:prstGeom>
          <a:solidFill>
            <a:srgbClr val="92D05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 b="1">
                <a:ea typeface="宋体" panose="02010600030101010101" pitchFamily="2" charset="-122"/>
              </a:rPr>
              <a:t>60</a:t>
            </a:r>
          </a:p>
        </p:txBody>
      </p:sp>
      <p:sp>
        <p:nvSpPr>
          <p:cNvPr id="14" name="Oval 29"/>
          <p:cNvSpPr>
            <a:spLocks noChangeArrowheads="1"/>
          </p:cNvSpPr>
          <p:nvPr/>
        </p:nvSpPr>
        <p:spPr bwMode="auto">
          <a:xfrm>
            <a:off x="463027" y="5084763"/>
            <a:ext cx="1008062" cy="360362"/>
          </a:xfrm>
          <a:prstGeom prst="ellipse">
            <a:avLst/>
          </a:prstGeom>
          <a:solidFill>
            <a:srgbClr val="92D05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 b="1">
                <a:ea typeface="宋体" panose="02010600030101010101" pitchFamily="2" charset="-122"/>
              </a:rPr>
              <a:t>20  40</a:t>
            </a:r>
          </a:p>
        </p:txBody>
      </p:sp>
      <p:sp>
        <p:nvSpPr>
          <p:cNvPr id="15" name="Oval 30"/>
          <p:cNvSpPr>
            <a:spLocks noChangeArrowheads="1"/>
          </p:cNvSpPr>
          <p:nvPr/>
        </p:nvSpPr>
        <p:spPr bwMode="auto">
          <a:xfrm>
            <a:off x="1831452" y="5084763"/>
            <a:ext cx="1008062" cy="360362"/>
          </a:xfrm>
          <a:prstGeom prst="ellipse">
            <a:avLst/>
          </a:prstGeom>
          <a:solidFill>
            <a:srgbClr val="92D05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 b="1">
                <a:ea typeface="宋体" panose="02010600030101010101" pitchFamily="2" charset="-122"/>
              </a:rPr>
              <a:t>70  90</a:t>
            </a:r>
          </a:p>
        </p:txBody>
      </p:sp>
      <p:sp>
        <p:nvSpPr>
          <p:cNvPr id="16" name="Oval 31"/>
          <p:cNvSpPr>
            <a:spLocks noChangeArrowheads="1"/>
          </p:cNvSpPr>
          <p:nvPr/>
        </p:nvSpPr>
        <p:spPr bwMode="auto">
          <a:xfrm>
            <a:off x="2982389" y="5086350"/>
            <a:ext cx="1295400" cy="358775"/>
          </a:xfrm>
          <a:prstGeom prst="ellipse">
            <a:avLst/>
          </a:prstGeom>
          <a:solidFill>
            <a:srgbClr val="92D05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 b="1" dirty="0">
                <a:ea typeface="宋体" panose="02010600030101010101" pitchFamily="2" charset="-122"/>
              </a:rPr>
              <a:t>120  140</a:t>
            </a:r>
          </a:p>
        </p:txBody>
      </p:sp>
      <p:sp>
        <p:nvSpPr>
          <p:cNvPr id="17" name="Oval 32"/>
          <p:cNvSpPr>
            <a:spLocks noChangeArrowheads="1"/>
          </p:cNvSpPr>
          <p:nvPr/>
        </p:nvSpPr>
        <p:spPr bwMode="auto">
          <a:xfrm>
            <a:off x="6439964" y="5084763"/>
            <a:ext cx="1296988" cy="358775"/>
          </a:xfrm>
          <a:prstGeom prst="ellipse">
            <a:avLst/>
          </a:prstGeom>
          <a:solidFill>
            <a:srgbClr val="92D05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 b="1">
                <a:ea typeface="宋体" panose="02010600030101010101" pitchFamily="2" charset="-122"/>
              </a:rPr>
              <a:t>210  260</a:t>
            </a:r>
          </a:p>
        </p:txBody>
      </p:sp>
      <p:sp>
        <p:nvSpPr>
          <p:cNvPr id="18" name="Line 33"/>
          <p:cNvSpPr>
            <a:spLocks noChangeShapeType="1"/>
          </p:cNvSpPr>
          <p:nvPr/>
        </p:nvSpPr>
        <p:spPr bwMode="auto">
          <a:xfrm flipH="1">
            <a:off x="2263252" y="3571875"/>
            <a:ext cx="1223962" cy="5048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Line 34"/>
          <p:cNvSpPr>
            <a:spLocks noChangeShapeType="1"/>
          </p:cNvSpPr>
          <p:nvPr/>
        </p:nvSpPr>
        <p:spPr bwMode="auto">
          <a:xfrm flipH="1">
            <a:off x="1110727" y="4292600"/>
            <a:ext cx="576262" cy="7175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Line 35"/>
          <p:cNvSpPr>
            <a:spLocks noChangeShapeType="1"/>
          </p:cNvSpPr>
          <p:nvPr/>
        </p:nvSpPr>
        <p:spPr bwMode="auto">
          <a:xfrm>
            <a:off x="4639739" y="3644900"/>
            <a:ext cx="1150938" cy="431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Line 36"/>
          <p:cNvSpPr>
            <a:spLocks noChangeShapeType="1"/>
          </p:cNvSpPr>
          <p:nvPr/>
        </p:nvSpPr>
        <p:spPr bwMode="auto">
          <a:xfrm>
            <a:off x="6509814" y="4221163"/>
            <a:ext cx="504825" cy="863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Line 37"/>
          <p:cNvSpPr>
            <a:spLocks noChangeShapeType="1"/>
          </p:cNvSpPr>
          <p:nvPr/>
        </p:nvSpPr>
        <p:spPr bwMode="auto">
          <a:xfrm>
            <a:off x="2190227" y="4289425"/>
            <a:ext cx="287337" cy="7223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Oval 38"/>
          <p:cNvSpPr>
            <a:spLocks noChangeArrowheads="1"/>
          </p:cNvSpPr>
          <p:nvPr/>
        </p:nvSpPr>
        <p:spPr bwMode="auto">
          <a:xfrm>
            <a:off x="3630089" y="4148138"/>
            <a:ext cx="1008063" cy="287337"/>
          </a:xfrm>
          <a:prstGeom prst="ellipse">
            <a:avLst/>
          </a:prstGeom>
          <a:solidFill>
            <a:srgbClr val="92D05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1" charset="-122"/>
              </a:defRPr>
            </a:lvl9pPr>
          </a:lstStyle>
          <a:p>
            <a:pPr algn="ctr"/>
            <a:r>
              <a:rPr lang="en-US" altLang="zh-CN" b="1">
                <a:ea typeface="宋体" panose="02010600030101010101" pitchFamily="2" charset="-122"/>
              </a:rPr>
              <a:t>150</a:t>
            </a:r>
          </a:p>
        </p:txBody>
      </p:sp>
      <p:sp>
        <p:nvSpPr>
          <p:cNvPr id="24" name="Line 39"/>
          <p:cNvSpPr>
            <a:spLocks noChangeShapeType="1"/>
          </p:cNvSpPr>
          <p:nvPr/>
        </p:nvSpPr>
        <p:spPr bwMode="auto">
          <a:xfrm flipH="1">
            <a:off x="3487214" y="4292600"/>
            <a:ext cx="431800" cy="7191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Line 40"/>
          <p:cNvSpPr>
            <a:spLocks noChangeShapeType="1"/>
          </p:cNvSpPr>
          <p:nvPr/>
        </p:nvSpPr>
        <p:spPr bwMode="auto">
          <a:xfrm>
            <a:off x="4420664" y="4292600"/>
            <a:ext cx="434975" cy="7921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Line 41"/>
          <p:cNvSpPr>
            <a:spLocks noChangeShapeType="1"/>
          </p:cNvSpPr>
          <p:nvPr/>
        </p:nvSpPr>
        <p:spPr bwMode="auto">
          <a:xfrm>
            <a:off x="4061889" y="3571875"/>
            <a:ext cx="1588" cy="5048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54766"/>
      </p:ext>
    </p:extLst>
  </p:cSld>
  <p:clrMapOvr>
    <a:masterClrMapping/>
  </p:clrMapOvr>
  <p:transition spd="slow" advClick="0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 autoUpdateAnimBg="0"/>
      <p:bldP spid="9" grpId="0" animBg="1" autoUpdateAnimBg="0"/>
      <p:bldP spid="10" grpId="0" animBg="1" autoUpdateAnimBg="0"/>
      <p:bldP spid="12" grpId="0" animBg="1" autoUpdateAnimBg="0"/>
      <p:bldP spid="13" grpId="0" animBg="1" autoUpdateAnimBg="0"/>
      <p:bldP spid="14" grpId="0" animBg="1" autoUpdateAnimBg="0"/>
      <p:bldP spid="15" grpId="0" animBg="1" autoUpdateAnimBg="0"/>
      <p:bldP spid="16" grpId="0" animBg="1" autoUpdateAnimBg="0"/>
      <p:bldP spid="17" grpId="0" animBg="1" autoUpdateAnimBg="0"/>
      <p:bldP spid="23" grpId="0" animBg="1" autoUpdateAnimBg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107"/>
          <p:cNvGrpSpPr/>
          <p:nvPr/>
        </p:nvGrpSpPr>
        <p:grpSpPr>
          <a:xfrm>
            <a:off x="543012" y="93590"/>
            <a:ext cx="4087592" cy="684275"/>
            <a:chOff x="939802" y="5062184"/>
            <a:chExt cx="4087592" cy="684275"/>
          </a:xfrm>
        </p:grpSpPr>
        <p:grpSp>
          <p:nvGrpSpPr>
            <p:cNvPr id="5" name="组合 33"/>
            <p:cNvGrpSpPr/>
            <p:nvPr/>
          </p:nvGrpSpPr>
          <p:grpSpPr>
            <a:xfrm>
              <a:off x="939802" y="5098728"/>
              <a:ext cx="813499" cy="647731"/>
              <a:chOff x="6068613" y="2138334"/>
              <a:chExt cx="412166" cy="348468"/>
            </a:xfrm>
          </p:grpSpPr>
          <p:sp>
            <p:nvSpPr>
              <p:cNvPr id="7" name="Freeform 5"/>
              <p:cNvSpPr>
                <a:spLocks/>
              </p:cNvSpPr>
              <p:nvPr/>
            </p:nvSpPr>
            <p:spPr bwMode="auto">
              <a:xfrm>
                <a:off x="6068613" y="2138334"/>
                <a:ext cx="412166" cy="34846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F69F1E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dirty="0">
                  <a:ea typeface="微软雅黑" pitchFamily="34" charset="-122"/>
                </a:endParaRPr>
              </a:p>
            </p:txBody>
          </p:sp>
          <p:sp>
            <p:nvSpPr>
              <p:cNvPr id="8" name="KSO_Shape"/>
              <p:cNvSpPr>
                <a:spLocks/>
              </p:cNvSpPr>
              <p:nvPr/>
            </p:nvSpPr>
            <p:spPr bwMode="auto">
              <a:xfrm>
                <a:off x="6173883" y="2206208"/>
                <a:ext cx="232088" cy="197274"/>
              </a:xfrm>
              <a:custGeom>
                <a:avLst/>
                <a:gdLst>
                  <a:gd name="T0" fmla="*/ 1221908 w 2276475"/>
                  <a:gd name="T1" fmla="*/ 1328927 h 1936751"/>
                  <a:gd name="T2" fmla="*/ 1196654 w 2276475"/>
                  <a:gd name="T3" fmla="*/ 1388292 h 1936751"/>
                  <a:gd name="T4" fmla="*/ 691864 w 2276475"/>
                  <a:gd name="T5" fmla="*/ 1376845 h 1936751"/>
                  <a:gd name="T6" fmla="*/ 695585 w 2276475"/>
                  <a:gd name="T7" fmla="*/ 1314285 h 1936751"/>
                  <a:gd name="T8" fmla="*/ 1104489 w 2276475"/>
                  <a:gd name="T9" fmla="*/ 1115137 h 1936751"/>
                  <a:gd name="T10" fmla="*/ 1117497 w 2276475"/>
                  <a:gd name="T11" fmla="*/ 1168850 h 1936751"/>
                  <a:gd name="T12" fmla="*/ 811396 w 2276475"/>
                  <a:gd name="T13" fmla="*/ 1188695 h 1936751"/>
                  <a:gd name="T14" fmla="*/ 783254 w 2276475"/>
                  <a:gd name="T15" fmla="*/ 1141068 h 1936751"/>
                  <a:gd name="T16" fmla="*/ 309026 w 2276475"/>
                  <a:gd name="T17" fmla="*/ 898551 h 1936751"/>
                  <a:gd name="T18" fmla="*/ 798665 w 2276475"/>
                  <a:gd name="T19" fmla="*/ 935449 h 1936751"/>
                  <a:gd name="T20" fmla="*/ 759855 w 2276475"/>
                  <a:gd name="T21" fmla="*/ 989335 h 1936751"/>
                  <a:gd name="T22" fmla="*/ 259317 w 2276475"/>
                  <a:gd name="T23" fmla="*/ 967303 h 1936751"/>
                  <a:gd name="T24" fmla="*/ 277393 w 2276475"/>
                  <a:gd name="T25" fmla="*/ 906514 h 1936751"/>
                  <a:gd name="T26" fmla="*/ 1086287 w 2276475"/>
                  <a:gd name="T27" fmla="*/ 817903 h 1936751"/>
                  <a:gd name="T28" fmla="*/ 1028372 w 2276475"/>
                  <a:gd name="T29" fmla="*/ 919230 h 1936751"/>
                  <a:gd name="T30" fmla="*/ 999280 w 2276475"/>
                  <a:gd name="T31" fmla="*/ 917630 h 1936751"/>
                  <a:gd name="T32" fmla="*/ 289574 w 2276475"/>
                  <a:gd name="T33" fmla="*/ 706099 h 1936751"/>
                  <a:gd name="T34" fmla="*/ 590631 w 2276475"/>
                  <a:gd name="T35" fmla="*/ 735033 h 1936751"/>
                  <a:gd name="T36" fmla="*/ 567535 w 2276475"/>
                  <a:gd name="T37" fmla="*/ 784938 h 1936751"/>
                  <a:gd name="T38" fmla="*/ 259309 w 2276475"/>
                  <a:gd name="T39" fmla="*/ 770073 h 1936751"/>
                  <a:gd name="T40" fmla="*/ 267273 w 2276475"/>
                  <a:gd name="T41" fmla="*/ 715124 h 1936751"/>
                  <a:gd name="T42" fmla="*/ 836933 w 2276475"/>
                  <a:gd name="T43" fmla="*/ 505684 h 1936751"/>
                  <a:gd name="T44" fmla="*/ 846494 w 2276475"/>
                  <a:gd name="T45" fmla="*/ 574170 h 1936751"/>
                  <a:gd name="T46" fmla="*/ 268069 w 2276475"/>
                  <a:gd name="T47" fmla="*/ 592752 h 1936751"/>
                  <a:gd name="T48" fmla="*/ 238855 w 2276475"/>
                  <a:gd name="T49" fmla="*/ 530105 h 1936751"/>
                  <a:gd name="T50" fmla="*/ 1467818 w 2276475"/>
                  <a:gd name="T51" fmla="*/ 344025 h 1936751"/>
                  <a:gd name="T52" fmla="*/ 1566759 w 2276475"/>
                  <a:gd name="T53" fmla="*/ 428438 h 1936751"/>
                  <a:gd name="T54" fmla="*/ 1578461 w 2276475"/>
                  <a:gd name="T55" fmla="*/ 479936 h 1936751"/>
                  <a:gd name="T56" fmla="*/ 1197862 w 2276475"/>
                  <a:gd name="T57" fmla="*/ 846789 h 1936751"/>
                  <a:gd name="T58" fmla="*/ 1138817 w 2276475"/>
                  <a:gd name="T59" fmla="*/ 842806 h 1936751"/>
                  <a:gd name="T60" fmla="*/ 1093869 w 2276475"/>
                  <a:gd name="T61" fmla="*/ 799538 h 1936751"/>
                  <a:gd name="T62" fmla="*/ 1075782 w 2276475"/>
                  <a:gd name="T63" fmla="*/ 737423 h 1936751"/>
                  <a:gd name="T64" fmla="*/ 1456382 w 2276475"/>
                  <a:gd name="T65" fmla="*/ 344821 h 1936751"/>
                  <a:gd name="T66" fmla="*/ 199469 w 2276475"/>
                  <a:gd name="T67" fmla="*/ 367345 h 1936751"/>
                  <a:gd name="T68" fmla="*/ 114475 w 2276475"/>
                  <a:gd name="T69" fmla="*/ 448541 h 1936751"/>
                  <a:gd name="T70" fmla="*/ 103321 w 2276475"/>
                  <a:gd name="T71" fmla="*/ 1407238 h 1936751"/>
                  <a:gd name="T72" fmla="*/ 171315 w 2276475"/>
                  <a:gd name="T73" fmla="*/ 1503559 h 1936751"/>
                  <a:gd name="T74" fmla="*/ 1382734 w 2276475"/>
                  <a:gd name="T75" fmla="*/ 1530890 h 1936751"/>
                  <a:gd name="T76" fmla="*/ 1488975 w 2276475"/>
                  <a:gd name="T77" fmla="*/ 1477289 h 1936751"/>
                  <a:gd name="T78" fmla="*/ 1531737 w 2276475"/>
                  <a:gd name="T79" fmla="*/ 1365845 h 1936751"/>
                  <a:gd name="T80" fmla="*/ 1605841 w 2276475"/>
                  <a:gd name="T81" fmla="*/ 1539381 h 1936751"/>
                  <a:gd name="T82" fmla="*/ 1513146 w 2276475"/>
                  <a:gd name="T83" fmla="*/ 1611821 h 1936751"/>
                  <a:gd name="T84" fmla="*/ 101461 w 2276475"/>
                  <a:gd name="T85" fmla="*/ 1605982 h 1936751"/>
                  <a:gd name="T86" fmla="*/ 16468 w 2276475"/>
                  <a:gd name="T87" fmla="*/ 1525317 h 1936751"/>
                  <a:gd name="T88" fmla="*/ 5312 w 2276475"/>
                  <a:gd name="T89" fmla="*/ 391226 h 1936751"/>
                  <a:gd name="T90" fmla="*/ 73307 w 2276475"/>
                  <a:gd name="T91" fmla="*/ 295170 h 1936751"/>
                  <a:gd name="T92" fmla="*/ 1746529 w 2276475"/>
                  <a:gd name="T93" fmla="*/ 88926 h 1936751"/>
                  <a:gd name="T94" fmla="*/ 1805153 w 2276475"/>
                  <a:gd name="T95" fmla="*/ 114614 h 1936751"/>
                  <a:gd name="T96" fmla="*/ 1838312 w 2276475"/>
                  <a:gd name="T97" fmla="*/ 176846 h 1936751"/>
                  <a:gd name="T98" fmla="*/ 1821600 w 2276475"/>
                  <a:gd name="T99" fmla="*/ 237490 h 1936751"/>
                  <a:gd name="T100" fmla="*/ 1620792 w 2276475"/>
                  <a:gd name="T101" fmla="*/ 421806 h 1936751"/>
                  <a:gd name="T102" fmla="*/ 1543068 w 2276475"/>
                  <a:gd name="T103" fmla="*/ 339447 h 1936751"/>
                  <a:gd name="T104" fmla="*/ 1506460 w 2276475"/>
                  <a:gd name="T105" fmla="*/ 289925 h 1936751"/>
                  <a:gd name="T106" fmla="*/ 1716818 w 2276475"/>
                  <a:gd name="T107" fmla="*/ 92634 h 1936751"/>
                  <a:gd name="T108" fmla="*/ 1893521 w 2276475"/>
                  <a:gd name="T109" fmla="*/ 35131 h 1936751"/>
                  <a:gd name="T110" fmla="*/ 1889783 w 2276475"/>
                  <a:gd name="T111" fmla="*/ 106078 h 1936751"/>
                  <a:gd name="T112" fmla="*/ 1844400 w 2276475"/>
                  <a:gd name="T113" fmla="*/ 105545 h 1936751"/>
                  <a:gd name="T114" fmla="*/ 1793944 w 2276475"/>
                  <a:gd name="T115" fmla="*/ 59669 h 1936751"/>
                  <a:gd name="T116" fmla="*/ 1847069 w 2276475"/>
                  <a:gd name="T117" fmla="*/ 16194 h 1936751"/>
                  <a:gd name="T118" fmla="*/ 1697756 w 2276475"/>
                  <a:gd name="T119" fmla="*/ 22017 h 1936751"/>
                  <a:gd name="T120" fmla="*/ 1364698 w 2276475"/>
                  <a:gd name="T121" fmla="*/ 383050 h 1936751"/>
                  <a:gd name="T122" fmla="*/ 1317840 w 2276475"/>
                  <a:gd name="T123" fmla="*/ 375887 h 1936751"/>
                  <a:gd name="T124" fmla="*/ 1320237 w 2276475"/>
                  <a:gd name="T125" fmla="*/ 329200 h 1936751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0" t="0" r="r" b="b"/>
                <a:pathLst>
                  <a:path w="2276475" h="1936751">
                    <a:moveTo>
                      <a:pt x="872202" y="1555750"/>
                    </a:moveTo>
                    <a:lnTo>
                      <a:pt x="879190" y="1555750"/>
                    </a:lnTo>
                    <a:lnTo>
                      <a:pt x="1397284" y="1555750"/>
                    </a:lnTo>
                    <a:lnTo>
                      <a:pt x="1404272" y="1555750"/>
                    </a:lnTo>
                    <a:lnTo>
                      <a:pt x="1410943" y="1557024"/>
                    </a:lnTo>
                    <a:lnTo>
                      <a:pt x="1417614" y="1557979"/>
                    </a:lnTo>
                    <a:lnTo>
                      <a:pt x="1423649" y="1560208"/>
                    </a:lnTo>
                    <a:lnTo>
                      <a:pt x="1430002" y="1562437"/>
                    </a:lnTo>
                    <a:lnTo>
                      <a:pt x="1435403" y="1565303"/>
                    </a:lnTo>
                    <a:lnTo>
                      <a:pt x="1440485" y="1568168"/>
                    </a:lnTo>
                    <a:lnTo>
                      <a:pt x="1445567" y="1571989"/>
                    </a:lnTo>
                    <a:lnTo>
                      <a:pt x="1450015" y="1576128"/>
                    </a:lnTo>
                    <a:lnTo>
                      <a:pt x="1453509" y="1580268"/>
                    </a:lnTo>
                    <a:lnTo>
                      <a:pt x="1457321" y="1584726"/>
                    </a:lnTo>
                    <a:lnTo>
                      <a:pt x="1460180" y="1589502"/>
                    </a:lnTo>
                    <a:lnTo>
                      <a:pt x="1462403" y="1594915"/>
                    </a:lnTo>
                    <a:lnTo>
                      <a:pt x="1463674" y="1600009"/>
                    </a:lnTo>
                    <a:lnTo>
                      <a:pt x="1464944" y="1605741"/>
                    </a:lnTo>
                    <a:lnTo>
                      <a:pt x="1465262" y="1611472"/>
                    </a:lnTo>
                    <a:lnTo>
                      <a:pt x="1464944" y="1617203"/>
                    </a:lnTo>
                    <a:lnTo>
                      <a:pt x="1463674" y="1622935"/>
                    </a:lnTo>
                    <a:lnTo>
                      <a:pt x="1462403" y="1628029"/>
                    </a:lnTo>
                    <a:lnTo>
                      <a:pt x="1460180" y="1633124"/>
                    </a:lnTo>
                    <a:lnTo>
                      <a:pt x="1457321" y="1638218"/>
                    </a:lnTo>
                    <a:lnTo>
                      <a:pt x="1453509" y="1642358"/>
                    </a:lnTo>
                    <a:lnTo>
                      <a:pt x="1450015" y="1646815"/>
                    </a:lnTo>
                    <a:lnTo>
                      <a:pt x="1445567" y="1650955"/>
                    </a:lnTo>
                    <a:lnTo>
                      <a:pt x="1440485" y="1654457"/>
                    </a:lnTo>
                    <a:lnTo>
                      <a:pt x="1435403" y="1657641"/>
                    </a:lnTo>
                    <a:lnTo>
                      <a:pt x="1430002" y="1660507"/>
                    </a:lnTo>
                    <a:lnTo>
                      <a:pt x="1423649" y="1662736"/>
                    </a:lnTo>
                    <a:lnTo>
                      <a:pt x="1417614" y="1664328"/>
                    </a:lnTo>
                    <a:lnTo>
                      <a:pt x="1410943" y="1665920"/>
                    </a:lnTo>
                    <a:lnTo>
                      <a:pt x="1404272" y="1666875"/>
                    </a:lnTo>
                    <a:lnTo>
                      <a:pt x="1397284" y="1666875"/>
                    </a:lnTo>
                    <a:lnTo>
                      <a:pt x="879190" y="1666875"/>
                    </a:lnTo>
                    <a:lnTo>
                      <a:pt x="872202" y="1666875"/>
                    </a:lnTo>
                    <a:lnTo>
                      <a:pt x="865531" y="1665920"/>
                    </a:lnTo>
                    <a:lnTo>
                      <a:pt x="858860" y="1664328"/>
                    </a:lnTo>
                    <a:lnTo>
                      <a:pt x="852507" y="1662736"/>
                    </a:lnTo>
                    <a:lnTo>
                      <a:pt x="846790" y="1660507"/>
                    </a:lnTo>
                    <a:lnTo>
                      <a:pt x="841389" y="1657641"/>
                    </a:lnTo>
                    <a:lnTo>
                      <a:pt x="835989" y="1654139"/>
                    </a:lnTo>
                    <a:lnTo>
                      <a:pt x="831224" y="1650955"/>
                    </a:lnTo>
                    <a:lnTo>
                      <a:pt x="826777" y="1646815"/>
                    </a:lnTo>
                    <a:lnTo>
                      <a:pt x="822648" y="1642358"/>
                    </a:lnTo>
                    <a:lnTo>
                      <a:pt x="819471" y="1637900"/>
                    </a:lnTo>
                    <a:lnTo>
                      <a:pt x="816612" y="1633124"/>
                    </a:lnTo>
                    <a:lnTo>
                      <a:pt x="814389" y="1628029"/>
                    </a:lnTo>
                    <a:lnTo>
                      <a:pt x="812483" y="1622935"/>
                    </a:lnTo>
                    <a:lnTo>
                      <a:pt x="811530" y="1617203"/>
                    </a:lnTo>
                    <a:lnTo>
                      <a:pt x="811212" y="1611472"/>
                    </a:lnTo>
                    <a:lnTo>
                      <a:pt x="811530" y="1605741"/>
                    </a:lnTo>
                    <a:lnTo>
                      <a:pt x="812483" y="1600009"/>
                    </a:lnTo>
                    <a:lnTo>
                      <a:pt x="814389" y="1594915"/>
                    </a:lnTo>
                    <a:lnTo>
                      <a:pt x="816612" y="1589820"/>
                    </a:lnTo>
                    <a:lnTo>
                      <a:pt x="819471" y="1584726"/>
                    </a:lnTo>
                    <a:lnTo>
                      <a:pt x="822648" y="1580268"/>
                    </a:lnTo>
                    <a:lnTo>
                      <a:pt x="826777" y="1576128"/>
                    </a:lnTo>
                    <a:lnTo>
                      <a:pt x="831224" y="1571989"/>
                    </a:lnTo>
                    <a:lnTo>
                      <a:pt x="835989" y="1568168"/>
                    </a:lnTo>
                    <a:lnTo>
                      <a:pt x="841389" y="1565303"/>
                    </a:lnTo>
                    <a:lnTo>
                      <a:pt x="846790" y="1562437"/>
                    </a:lnTo>
                    <a:lnTo>
                      <a:pt x="852507" y="1560208"/>
                    </a:lnTo>
                    <a:lnTo>
                      <a:pt x="858860" y="1558298"/>
                    </a:lnTo>
                    <a:lnTo>
                      <a:pt x="865531" y="1557024"/>
                    </a:lnTo>
                    <a:lnTo>
                      <a:pt x="872202" y="1555750"/>
                    </a:lnTo>
                    <a:close/>
                    <a:moveTo>
                      <a:pt x="984211" y="1325563"/>
                    </a:moveTo>
                    <a:lnTo>
                      <a:pt x="1292263" y="1325563"/>
                    </a:lnTo>
                    <a:lnTo>
                      <a:pt x="1297339" y="1325880"/>
                    </a:lnTo>
                    <a:lnTo>
                      <a:pt x="1302415" y="1326513"/>
                    </a:lnTo>
                    <a:lnTo>
                      <a:pt x="1307174" y="1327779"/>
                    </a:lnTo>
                    <a:lnTo>
                      <a:pt x="1311615" y="1329361"/>
                    </a:lnTo>
                    <a:lnTo>
                      <a:pt x="1315740" y="1331260"/>
                    </a:lnTo>
                    <a:lnTo>
                      <a:pt x="1319864" y="1333792"/>
                    </a:lnTo>
                    <a:lnTo>
                      <a:pt x="1323671" y="1336640"/>
                    </a:lnTo>
                    <a:lnTo>
                      <a:pt x="1327161" y="1340121"/>
                    </a:lnTo>
                    <a:lnTo>
                      <a:pt x="1330333" y="1343286"/>
                    </a:lnTo>
                    <a:lnTo>
                      <a:pt x="1332871" y="1347400"/>
                    </a:lnTo>
                    <a:lnTo>
                      <a:pt x="1335409" y="1351198"/>
                    </a:lnTo>
                    <a:lnTo>
                      <a:pt x="1337630" y="1355629"/>
                    </a:lnTo>
                    <a:lnTo>
                      <a:pt x="1339216" y="1360059"/>
                    </a:lnTo>
                    <a:lnTo>
                      <a:pt x="1340485" y="1364807"/>
                    </a:lnTo>
                    <a:lnTo>
                      <a:pt x="1341437" y="1369870"/>
                    </a:lnTo>
                    <a:lnTo>
                      <a:pt x="1341437" y="1374934"/>
                    </a:lnTo>
                    <a:lnTo>
                      <a:pt x="1341437" y="1379681"/>
                    </a:lnTo>
                    <a:lnTo>
                      <a:pt x="1340485" y="1384745"/>
                    </a:lnTo>
                    <a:lnTo>
                      <a:pt x="1339216" y="1389492"/>
                    </a:lnTo>
                    <a:lnTo>
                      <a:pt x="1337630" y="1393923"/>
                    </a:lnTo>
                    <a:lnTo>
                      <a:pt x="1335409" y="1398037"/>
                    </a:lnTo>
                    <a:lnTo>
                      <a:pt x="1332871" y="1402151"/>
                    </a:lnTo>
                    <a:lnTo>
                      <a:pt x="1330016" y="1405632"/>
                    </a:lnTo>
                    <a:lnTo>
                      <a:pt x="1327161" y="1409430"/>
                    </a:lnTo>
                    <a:lnTo>
                      <a:pt x="1323671" y="1412595"/>
                    </a:lnTo>
                    <a:lnTo>
                      <a:pt x="1319864" y="1415443"/>
                    </a:lnTo>
                    <a:lnTo>
                      <a:pt x="1315740" y="1417659"/>
                    </a:lnTo>
                    <a:lnTo>
                      <a:pt x="1311615" y="1419874"/>
                    </a:lnTo>
                    <a:lnTo>
                      <a:pt x="1306857" y="1421773"/>
                    </a:lnTo>
                    <a:lnTo>
                      <a:pt x="1302415" y="1422722"/>
                    </a:lnTo>
                    <a:lnTo>
                      <a:pt x="1297339" y="1423672"/>
                    </a:lnTo>
                    <a:lnTo>
                      <a:pt x="1292263" y="1423988"/>
                    </a:lnTo>
                    <a:lnTo>
                      <a:pt x="984211" y="1423988"/>
                    </a:lnTo>
                    <a:lnTo>
                      <a:pt x="979453" y="1423672"/>
                    </a:lnTo>
                    <a:lnTo>
                      <a:pt x="974377" y="1422722"/>
                    </a:lnTo>
                    <a:lnTo>
                      <a:pt x="969618" y="1421773"/>
                    </a:lnTo>
                    <a:lnTo>
                      <a:pt x="965176" y="1419874"/>
                    </a:lnTo>
                    <a:lnTo>
                      <a:pt x="960735" y="1417659"/>
                    </a:lnTo>
                    <a:lnTo>
                      <a:pt x="956928" y="1415443"/>
                    </a:lnTo>
                    <a:lnTo>
                      <a:pt x="952803" y="1412595"/>
                    </a:lnTo>
                    <a:lnTo>
                      <a:pt x="949631" y="1409430"/>
                    </a:lnTo>
                    <a:lnTo>
                      <a:pt x="946141" y="1405632"/>
                    </a:lnTo>
                    <a:lnTo>
                      <a:pt x="943286" y="1402151"/>
                    </a:lnTo>
                    <a:lnTo>
                      <a:pt x="941065" y="1398037"/>
                    </a:lnTo>
                    <a:lnTo>
                      <a:pt x="938844" y="1393923"/>
                    </a:lnTo>
                    <a:lnTo>
                      <a:pt x="937258" y="1389492"/>
                    </a:lnTo>
                    <a:lnTo>
                      <a:pt x="935989" y="1384745"/>
                    </a:lnTo>
                    <a:lnTo>
                      <a:pt x="935355" y="1379681"/>
                    </a:lnTo>
                    <a:lnTo>
                      <a:pt x="935037" y="1374934"/>
                    </a:lnTo>
                    <a:lnTo>
                      <a:pt x="935355" y="1369870"/>
                    </a:lnTo>
                    <a:lnTo>
                      <a:pt x="935989" y="1364807"/>
                    </a:lnTo>
                    <a:lnTo>
                      <a:pt x="937258" y="1360059"/>
                    </a:lnTo>
                    <a:lnTo>
                      <a:pt x="938844" y="1355629"/>
                    </a:lnTo>
                    <a:lnTo>
                      <a:pt x="940748" y="1351198"/>
                    </a:lnTo>
                    <a:lnTo>
                      <a:pt x="943286" y="1347400"/>
                    </a:lnTo>
                    <a:lnTo>
                      <a:pt x="946141" y="1343286"/>
                    </a:lnTo>
                    <a:lnTo>
                      <a:pt x="949631" y="1340121"/>
                    </a:lnTo>
                    <a:lnTo>
                      <a:pt x="952803" y="1336640"/>
                    </a:lnTo>
                    <a:lnTo>
                      <a:pt x="956928" y="1333792"/>
                    </a:lnTo>
                    <a:lnTo>
                      <a:pt x="960735" y="1331260"/>
                    </a:lnTo>
                    <a:lnTo>
                      <a:pt x="965176" y="1329361"/>
                    </a:lnTo>
                    <a:lnTo>
                      <a:pt x="969618" y="1327779"/>
                    </a:lnTo>
                    <a:lnTo>
                      <a:pt x="974377" y="1326513"/>
                    </a:lnTo>
                    <a:lnTo>
                      <a:pt x="979453" y="1325880"/>
                    </a:lnTo>
                    <a:lnTo>
                      <a:pt x="984211" y="1325563"/>
                    </a:lnTo>
                    <a:close/>
                    <a:moveTo>
                      <a:pt x="369286" y="1074738"/>
                    </a:moveTo>
                    <a:lnTo>
                      <a:pt x="887697" y="1074738"/>
                    </a:lnTo>
                    <a:lnTo>
                      <a:pt x="894368" y="1075056"/>
                    </a:lnTo>
                    <a:lnTo>
                      <a:pt x="901356" y="1076008"/>
                    </a:lnTo>
                    <a:lnTo>
                      <a:pt x="908027" y="1077278"/>
                    </a:lnTo>
                    <a:lnTo>
                      <a:pt x="914063" y="1079183"/>
                    </a:lnTo>
                    <a:lnTo>
                      <a:pt x="920098" y="1081406"/>
                    </a:lnTo>
                    <a:lnTo>
                      <a:pt x="925816" y="1084263"/>
                    </a:lnTo>
                    <a:lnTo>
                      <a:pt x="930898" y="1087438"/>
                    </a:lnTo>
                    <a:lnTo>
                      <a:pt x="935663" y="1090931"/>
                    </a:lnTo>
                    <a:lnTo>
                      <a:pt x="940110" y="1094741"/>
                    </a:lnTo>
                    <a:lnTo>
                      <a:pt x="944240" y="1099186"/>
                    </a:lnTo>
                    <a:lnTo>
                      <a:pt x="947416" y="1103948"/>
                    </a:lnTo>
                    <a:lnTo>
                      <a:pt x="950275" y="1108711"/>
                    </a:lnTo>
                    <a:lnTo>
                      <a:pt x="952499" y="1113791"/>
                    </a:lnTo>
                    <a:lnTo>
                      <a:pt x="954405" y="1118871"/>
                    </a:lnTo>
                    <a:lnTo>
                      <a:pt x="955358" y="1124903"/>
                    </a:lnTo>
                    <a:lnTo>
                      <a:pt x="955675" y="1130301"/>
                    </a:lnTo>
                    <a:lnTo>
                      <a:pt x="955358" y="1136016"/>
                    </a:lnTo>
                    <a:lnTo>
                      <a:pt x="954405" y="1141413"/>
                    </a:lnTo>
                    <a:lnTo>
                      <a:pt x="952499" y="1147128"/>
                    </a:lnTo>
                    <a:lnTo>
                      <a:pt x="950275" y="1152208"/>
                    </a:lnTo>
                    <a:lnTo>
                      <a:pt x="947416" y="1156971"/>
                    </a:lnTo>
                    <a:lnTo>
                      <a:pt x="944240" y="1161098"/>
                    </a:lnTo>
                    <a:lnTo>
                      <a:pt x="940110" y="1165543"/>
                    </a:lnTo>
                    <a:lnTo>
                      <a:pt x="935663" y="1169671"/>
                    </a:lnTo>
                    <a:lnTo>
                      <a:pt x="930898" y="1173163"/>
                    </a:lnTo>
                    <a:lnTo>
                      <a:pt x="925816" y="1176656"/>
                    </a:lnTo>
                    <a:lnTo>
                      <a:pt x="920098" y="1179196"/>
                    </a:lnTo>
                    <a:lnTo>
                      <a:pt x="914063" y="1181736"/>
                    </a:lnTo>
                    <a:lnTo>
                      <a:pt x="908027" y="1183323"/>
                    </a:lnTo>
                    <a:lnTo>
                      <a:pt x="901356" y="1184593"/>
                    </a:lnTo>
                    <a:lnTo>
                      <a:pt x="894368" y="1185546"/>
                    </a:lnTo>
                    <a:lnTo>
                      <a:pt x="887697" y="1185863"/>
                    </a:lnTo>
                    <a:lnTo>
                      <a:pt x="369286" y="1185863"/>
                    </a:lnTo>
                    <a:lnTo>
                      <a:pt x="362615" y="1185546"/>
                    </a:lnTo>
                    <a:lnTo>
                      <a:pt x="355944" y="1184593"/>
                    </a:lnTo>
                    <a:lnTo>
                      <a:pt x="349273" y="1183323"/>
                    </a:lnTo>
                    <a:lnTo>
                      <a:pt x="343238" y="1181736"/>
                    </a:lnTo>
                    <a:lnTo>
                      <a:pt x="337203" y="1179196"/>
                    </a:lnTo>
                    <a:lnTo>
                      <a:pt x="331485" y="1176656"/>
                    </a:lnTo>
                    <a:lnTo>
                      <a:pt x="326402" y="1173163"/>
                    </a:lnTo>
                    <a:lnTo>
                      <a:pt x="321637" y="1169671"/>
                    </a:lnTo>
                    <a:lnTo>
                      <a:pt x="317190" y="1165543"/>
                    </a:lnTo>
                    <a:lnTo>
                      <a:pt x="313378" y="1161098"/>
                    </a:lnTo>
                    <a:lnTo>
                      <a:pt x="309884" y="1156971"/>
                    </a:lnTo>
                    <a:lnTo>
                      <a:pt x="307025" y="1152208"/>
                    </a:lnTo>
                    <a:lnTo>
                      <a:pt x="304802" y="1147128"/>
                    </a:lnTo>
                    <a:lnTo>
                      <a:pt x="302896" y="1141413"/>
                    </a:lnTo>
                    <a:lnTo>
                      <a:pt x="301943" y="1136016"/>
                    </a:lnTo>
                    <a:lnTo>
                      <a:pt x="301625" y="1130301"/>
                    </a:lnTo>
                    <a:lnTo>
                      <a:pt x="301943" y="1124903"/>
                    </a:lnTo>
                    <a:lnTo>
                      <a:pt x="302896" y="1119188"/>
                    </a:lnTo>
                    <a:lnTo>
                      <a:pt x="304802" y="1113791"/>
                    </a:lnTo>
                    <a:lnTo>
                      <a:pt x="307025" y="1108711"/>
                    </a:lnTo>
                    <a:lnTo>
                      <a:pt x="309884" y="1103948"/>
                    </a:lnTo>
                    <a:lnTo>
                      <a:pt x="313378" y="1099186"/>
                    </a:lnTo>
                    <a:lnTo>
                      <a:pt x="317190" y="1094741"/>
                    </a:lnTo>
                    <a:lnTo>
                      <a:pt x="321637" y="1091248"/>
                    </a:lnTo>
                    <a:lnTo>
                      <a:pt x="326402" y="1087438"/>
                    </a:lnTo>
                    <a:lnTo>
                      <a:pt x="331485" y="1084263"/>
                    </a:lnTo>
                    <a:lnTo>
                      <a:pt x="337203" y="1081406"/>
                    </a:lnTo>
                    <a:lnTo>
                      <a:pt x="343238" y="1079183"/>
                    </a:lnTo>
                    <a:lnTo>
                      <a:pt x="349273" y="1077278"/>
                    </a:lnTo>
                    <a:lnTo>
                      <a:pt x="355944" y="1076008"/>
                    </a:lnTo>
                    <a:lnTo>
                      <a:pt x="362615" y="1075056"/>
                    </a:lnTo>
                    <a:lnTo>
                      <a:pt x="369286" y="1074738"/>
                    </a:lnTo>
                    <a:close/>
                    <a:moveTo>
                      <a:pt x="1261435" y="965200"/>
                    </a:moveTo>
                    <a:lnTo>
                      <a:pt x="1264624" y="965200"/>
                    </a:lnTo>
                    <a:lnTo>
                      <a:pt x="1267814" y="965200"/>
                    </a:lnTo>
                    <a:lnTo>
                      <a:pt x="1271322" y="965838"/>
                    </a:lnTo>
                    <a:lnTo>
                      <a:pt x="1275149" y="967114"/>
                    </a:lnTo>
                    <a:lnTo>
                      <a:pt x="1278977" y="968390"/>
                    </a:lnTo>
                    <a:lnTo>
                      <a:pt x="1282804" y="969984"/>
                    </a:lnTo>
                    <a:lnTo>
                      <a:pt x="1290777" y="973811"/>
                    </a:lnTo>
                    <a:lnTo>
                      <a:pt x="1298113" y="978277"/>
                    </a:lnTo>
                    <a:lnTo>
                      <a:pt x="1304491" y="982742"/>
                    </a:lnTo>
                    <a:lnTo>
                      <a:pt x="1308637" y="986250"/>
                    </a:lnTo>
                    <a:lnTo>
                      <a:pt x="1312784" y="990715"/>
                    </a:lnTo>
                    <a:lnTo>
                      <a:pt x="1317249" y="997094"/>
                    </a:lnTo>
                    <a:lnTo>
                      <a:pt x="1321395" y="1004429"/>
                    </a:lnTo>
                    <a:lnTo>
                      <a:pt x="1325222" y="1012403"/>
                    </a:lnTo>
                    <a:lnTo>
                      <a:pt x="1326817" y="1016549"/>
                    </a:lnTo>
                    <a:lnTo>
                      <a:pt x="1328092" y="1020057"/>
                    </a:lnTo>
                    <a:lnTo>
                      <a:pt x="1329368" y="1024203"/>
                    </a:lnTo>
                    <a:lnTo>
                      <a:pt x="1330006" y="1027711"/>
                    </a:lnTo>
                    <a:lnTo>
                      <a:pt x="1330325" y="1030901"/>
                    </a:lnTo>
                    <a:lnTo>
                      <a:pt x="1330006" y="1034090"/>
                    </a:lnTo>
                    <a:lnTo>
                      <a:pt x="1329368" y="1036004"/>
                    </a:lnTo>
                    <a:lnTo>
                      <a:pt x="1327774" y="1038236"/>
                    </a:lnTo>
                    <a:lnTo>
                      <a:pt x="1228904" y="1099472"/>
                    </a:lnTo>
                    <a:lnTo>
                      <a:pt x="1226990" y="1101066"/>
                    </a:lnTo>
                    <a:lnTo>
                      <a:pt x="1225396" y="1102342"/>
                    </a:lnTo>
                    <a:lnTo>
                      <a:pt x="1223163" y="1103618"/>
                    </a:lnTo>
                    <a:lnTo>
                      <a:pt x="1220930" y="1104575"/>
                    </a:lnTo>
                    <a:lnTo>
                      <a:pt x="1219017" y="1105213"/>
                    </a:lnTo>
                    <a:lnTo>
                      <a:pt x="1216784" y="1105850"/>
                    </a:lnTo>
                    <a:lnTo>
                      <a:pt x="1212000" y="1106488"/>
                    </a:lnTo>
                    <a:lnTo>
                      <a:pt x="1207854" y="1105850"/>
                    </a:lnTo>
                    <a:lnTo>
                      <a:pt x="1205622" y="1105213"/>
                    </a:lnTo>
                    <a:lnTo>
                      <a:pt x="1203389" y="1104575"/>
                    </a:lnTo>
                    <a:lnTo>
                      <a:pt x="1201475" y="1103618"/>
                    </a:lnTo>
                    <a:lnTo>
                      <a:pt x="1199243" y="1102342"/>
                    </a:lnTo>
                    <a:lnTo>
                      <a:pt x="1197329" y="1101066"/>
                    </a:lnTo>
                    <a:lnTo>
                      <a:pt x="1195735" y="1099472"/>
                    </a:lnTo>
                    <a:lnTo>
                      <a:pt x="1194140" y="1097558"/>
                    </a:lnTo>
                    <a:lnTo>
                      <a:pt x="1192864" y="1095963"/>
                    </a:lnTo>
                    <a:lnTo>
                      <a:pt x="1191588" y="1093731"/>
                    </a:lnTo>
                    <a:lnTo>
                      <a:pt x="1190632" y="1091817"/>
                    </a:lnTo>
                    <a:lnTo>
                      <a:pt x="1189356" y="1087352"/>
                    </a:lnTo>
                    <a:lnTo>
                      <a:pt x="1189037" y="1082887"/>
                    </a:lnTo>
                    <a:lnTo>
                      <a:pt x="1189356" y="1078741"/>
                    </a:lnTo>
                    <a:lnTo>
                      <a:pt x="1190632" y="1074276"/>
                    </a:lnTo>
                    <a:lnTo>
                      <a:pt x="1191588" y="1072043"/>
                    </a:lnTo>
                    <a:lnTo>
                      <a:pt x="1192864" y="1070130"/>
                    </a:lnTo>
                    <a:lnTo>
                      <a:pt x="1194140" y="1068535"/>
                    </a:lnTo>
                    <a:lnTo>
                      <a:pt x="1195735" y="1066621"/>
                    </a:lnTo>
                    <a:lnTo>
                      <a:pt x="1257289" y="967433"/>
                    </a:lnTo>
                    <a:lnTo>
                      <a:pt x="1258884" y="965838"/>
                    </a:lnTo>
                    <a:lnTo>
                      <a:pt x="1261435" y="965200"/>
                    </a:lnTo>
                    <a:close/>
                    <a:moveTo>
                      <a:pt x="346041" y="844550"/>
                    </a:moveTo>
                    <a:lnTo>
                      <a:pt x="350799" y="844550"/>
                    </a:lnTo>
                    <a:lnTo>
                      <a:pt x="658851" y="844550"/>
                    </a:lnTo>
                    <a:lnTo>
                      <a:pt x="663927" y="844550"/>
                    </a:lnTo>
                    <a:lnTo>
                      <a:pt x="669003" y="845185"/>
                    </a:lnTo>
                    <a:lnTo>
                      <a:pt x="673762" y="846773"/>
                    </a:lnTo>
                    <a:lnTo>
                      <a:pt x="678204" y="848043"/>
                    </a:lnTo>
                    <a:lnTo>
                      <a:pt x="682645" y="850265"/>
                    </a:lnTo>
                    <a:lnTo>
                      <a:pt x="686452" y="852805"/>
                    </a:lnTo>
                    <a:lnTo>
                      <a:pt x="690259" y="855345"/>
                    </a:lnTo>
                    <a:lnTo>
                      <a:pt x="693749" y="858838"/>
                    </a:lnTo>
                    <a:lnTo>
                      <a:pt x="697239" y="862330"/>
                    </a:lnTo>
                    <a:lnTo>
                      <a:pt x="699777" y="865823"/>
                    </a:lnTo>
                    <a:lnTo>
                      <a:pt x="702315" y="869950"/>
                    </a:lnTo>
                    <a:lnTo>
                      <a:pt x="704218" y="874395"/>
                    </a:lnTo>
                    <a:lnTo>
                      <a:pt x="705804" y="879158"/>
                    </a:lnTo>
                    <a:lnTo>
                      <a:pt x="707391" y="883920"/>
                    </a:lnTo>
                    <a:lnTo>
                      <a:pt x="708025" y="888683"/>
                    </a:lnTo>
                    <a:lnTo>
                      <a:pt x="708025" y="893763"/>
                    </a:lnTo>
                    <a:lnTo>
                      <a:pt x="708025" y="898843"/>
                    </a:lnTo>
                    <a:lnTo>
                      <a:pt x="707391" y="903605"/>
                    </a:lnTo>
                    <a:lnTo>
                      <a:pt x="705804" y="908368"/>
                    </a:lnTo>
                    <a:lnTo>
                      <a:pt x="704218" y="912495"/>
                    </a:lnTo>
                    <a:lnTo>
                      <a:pt x="702315" y="916940"/>
                    </a:lnTo>
                    <a:lnTo>
                      <a:pt x="699777" y="921068"/>
                    </a:lnTo>
                    <a:lnTo>
                      <a:pt x="697239" y="924878"/>
                    </a:lnTo>
                    <a:lnTo>
                      <a:pt x="693749" y="928370"/>
                    </a:lnTo>
                    <a:lnTo>
                      <a:pt x="690259" y="931545"/>
                    </a:lnTo>
                    <a:lnTo>
                      <a:pt x="686452" y="934403"/>
                    </a:lnTo>
                    <a:lnTo>
                      <a:pt x="682645" y="936943"/>
                    </a:lnTo>
                    <a:lnTo>
                      <a:pt x="678204" y="938848"/>
                    </a:lnTo>
                    <a:lnTo>
                      <a:pt x="673762" y="940753"/>
                    </a:lnTo>
                    <a:lnTo>
                      <a:pt x="669003" y="941705"/>
                    </a:lnTo>
                    <a:lnTo>
                      <a:pt x="663927" y="942658"/>
                    </a:lnTo>
                    <a:lnTo>
                      <a:pt x="658851" y="942975"/>
                    </a:lnTo>
                    <a:lnTo>
                      <a:pt x="350799" y="942975"/>
                    </a:lnTo>
                    <a:lnTo>
                      <a:pt x="346041" y="942658"/>
                    </a:lnTo>
                    <a:lnTo>
                      <a:pt x="340965" y="941705"/>
                    </a:lnTo>
                    <a:lnTo>
                      <a:pt x="336206" y="940753"/>
                    </a:lnTo>
                    <a:lnTo>
                      <a:pt x="331764" y="938848"/>
                    </a:lnTo>
                    <a:lnTo>
                      <a:pt x="327323" y="936943"/>
                    </a:lnTo>
                    <a:lnTo>
                      <a:pt x="323516" y="934403"/>
                    </a:lnTo>
                    <a:lnTo>
                      <a:pt x="319391" y="931545"/>
                    </a:lnTo>
                    <a:lnTo>
                      <a:pt x="316219" y="928370"/>
                    </a:lnTo>
                    <a:lnTo>
                      <a:pt x="312729" y="924878"/>
                    </a:lnTo>
                    <a:lnTo>
                      <a:pt x="309874" y="921068"/>
                    </a:lnTo>
                    <a:lnTo>
                      <a:pt x="307653" y="916940"/>
                    </a:lnTo>
                    <a:lnTo>
                      <a:pt x="305432" y="912495"/>
                    </a:lnTo>
                    <a:lnTo>
                      <a:pt x="303846" y="908368"/>
                    </a:lnTo>
                    <a:lnTo>
                      <a:pt x="302577" y="903605"/>
                    </a:lnTo>
                    <a:lnTo>
                      <a:pt x="301943" y="898843"/>
                    </a:lnTo>
                    <a:lnTo>
                      <a:pt x="301625" y="893763"/>
                    </a:lnTo>
                    <a:lnTo>
                      <a:pt x="301943" y="888683"/>
                    </a:lnTo>
                    <a:lnTo>
                      <a:pt x="302577" y="883920"/>
                    </a:lnTo>
                    <a:lnTo>
                      <a:pt x="303846" y="879158"/>
                    </a:lnTo>
                    <a:lnTo>
                      <a:pt x="305432" y="874395"/>
                    </a:lnTo>
                    <a:lnTo>
                      <a:pt x="307336" y="869950"/>
                    </a:lnTo>
                    <a:lnTo>
                      <a:pt x="309874" y="865823"/>
                    </a:lnTo>
                    <a:lnTo>
                      <a:pt x="312729" y="862330"/>
                    </a:lnTo>
                    <a:lnTo>
                      <a:pt x="316219" y="858838"/>
                    </a:lnTo>
                    <a:lnTo>
                      <a:pt x="319391" y="855345"/>
                    </a:lnTo>
                    <a:lnTo>
                      <a:pt x="323516" y="852805"/>
                    </a:lnTo>
                    <a:lnTo>
                      <a:pt x="327323" y="850265"/>
                    </a:lnTo>
                    <a:lnTo>
                      <a:pt x="331764" y="848043"/>
                    </a:lnTo>
                    <a:lnTo>
                      <a:pt x="336206" y="846773"/>
                    </a:lnTo>
                    <a:lnTo>
                      <a:pt x="340965" y="845185"/>
                    </a:lnTo>
                    <a:lnTo>
                      <a:pt x="346041" y="844550"/>
                    </a:lnTo>
                    <a:close/>
                    <a:moveTo>
                      <a:pt x="344144" y="590550"/>
                    </a:moveTo>
                    <a:lnTo>
                      <a:pt x="960782" y="590550"/>
                    </a:lnTo>
                    <a:lnTo>
                      <a:pt x="966812" y="591185"/>
                    </a:lnTo>
                    <a:lnTo>
                      <a:pt x="973159" y="592138"/>
                    </a:lnTo>
                    <a:lnTo>
                      <a:pt x="978871" y="593725"/>
                    </a:lnTo>
                    <a:lnTo>
                      <a:pt x="984584" y="595630"/>
                    </a:lnTo>
                    <a:lnTo>
                      <a:pt x="990296" y="598488"/>
                    </a:lnTo>
                    <a:lnTo>
                      <a:pt x="995374" y="601345"/>
                    </a:lnTo>
                    <a:lnTo>
                      <a:pt x="1000135" y="604838"/>
                    </a:lnTo>
                    <a:lnTo>
                      <a:pt x="1004260" y="608965"/>
                    </a:lnTo>
                    <a:lnTo>
                      <a:pt x="1008386" y="613410"/>
                    </a:lnTo>
                    <a:lnTo>
                      <a:pt x="1011560" y="617855"/>
                    </a:lnTo>
                    <a:lnTo>
                      <a:pt x="1015051" y="623253"/>
                    </a:lnTo>
                    <a:lnTo>
                      <a:pt x="1017590" y="628650"/>
                    </a:lnTo>
                    <a:lnTo>
                      <a:pt x="1019811" y="634048"/>
                    </a:lnTo>
                    <a:lnTo>
                      <a:pt x="1021081" y="639763"/>
                    </a:lnTo>
                    <a:lnTo>
                      <a:pt x="1021715" y="646113"/>
                    </a:lnTo>
                    <a:lnTo>
                      <a:pt x="1022350" y="652145"/>
                    </a:lnTo>
                    <a:lnTo>
                      <a:pt x="1021715" y="658813"/>
                    </a:lnTo>
                    <a:lnTo>
                      <a:pt x="1021081" y="664528"/>
                    </a:lnTo>
                    <a:lnTo>
                      <a:pt x="1019811" y="670878"/>
                    </a:lnTo>
                    <a:lnTo>
                      <a:pt x="1017590" y="676275"/>
                    </a:lnTo>
                    <a:lnTo>
                      <a:pt x="1015051" y="681673"/>
                    </a:lnTo>
                    <a:lnTo>
                      <a:pt x="1011560" y="686753"/>
                    </a:lnTo>
                    <a:lnTo>
                      <a:pt x="1008386" y="691515"/>
                    </a:lnTo>
                    <a:lnTo>
                      <a:pt x="1004260" y="695960"/>
                    </a:lnTo>
                    <a:lnTo>
                      <a:pt x="1000135" y="700088"/>
                    </a:lnTo>
                    <a:lnTo>
                      <a:pt x="995374" y="703580"/>
                    </a:lnTo>
                    <a:lnTo>
                      <a:pt x="990296" y="706438"/>
                    </a:lnTo>
                    <a:lnTo>
                      <a:pt x="984584" y="708978"/>
                    </a:lnTo>
                    <a:lnTo>
                      <a:pt x="978871" y="711200"/>
                    </a:lnTo>
                    <a:lnTo>
                      <a:pt x="973159" y="712788"/>
                    </a:lnTo>
                    <a:lnTo>
                      <a:pt x="966812" y="713740"/>
                    </a:lnTo>
                    <a:lnTo>
                      <a:pt x="960782" y="714375"/>
                    </a:lnTo>
                    <a:lnTo>
                      <a:pt x="344144" y="714375"/>
                    </a:lnTo>
                    <a:lnTo>
                      <a:pt x="338114" y="713740"/>
                    </a:lnTo>
                    <a:lnTo>
                      <a:pt x="331767" y="712788"/>
                    </a:lnTo>
                    <a:lnTo>
                      <a:pt x="326054" y="711200"/>
                    </a:lnTo>
                    <a:lnTo>
                      <a:pt x="320342" y="708978"/>
                    </a:lnTo>
                    <a:lnTo>
                      <a:pt x="314946" y="706438"/>
                    </a:lnTo>
                    <a:lnTo>
                      <a:pt x="309869" y="703580"/>
                    </a:lnTo>
                    <a:lnTo>
                      <a:pt x="305108" y="700088"/>
                    </a:lnTo>
                    <a:lnTo>
                      <a:pt x="300982" y="695960"/>
                    </a:lnTo>
                    <a:lnTo>
                      <a:pt x="296857" y="691515"/>
                    </a:lnTo>
                    <a:lnTo>
                      <a:pt x="293366" y="686753"/>
                    </a:lnTo>
                    <a:lnTo>
                      <a:pt x="290192" y="681673"/>
                    </a:lnTo>
                    <a:lnTo>
                      <a:pt x="287653" y="676275"/>
                    </a:lnTo>
                    <a:lnTo>
                      <a:pt x="285432" y="670878"/>
                    </a:lnTo>
                    <a:lnTo>
                      <a:pt x="284162" y="664528"/>
                    </a:lnTo>
                    <a:lnTo>
                      <a:pt x="282893" y="658813"/>
                    </a:lnTo>
                    <a:lnTo>
                      <a:pt x="282575" y="652145"/>
                    </a:lnTo>
                    <a:lnTo>
                      <a:pt x="282893" y="646113"/>
                    </a:lnTo>
                    <a:lnTo>
                      <a:pt x="284162" y="639763"/>
                    </a:lnTo>
                    <a:lnTo>
                      <a:pt x="285432" y="634048"/>
                    </a:lnTo>
                    <a:lnTo>
                      <a:pt x="287653" y="628650"/>
                    </a:lnTo>
                    <a:lnTo>
                      <a:pt x="290192" y="623253"/>
                    </a:lnTo>
                    <a:lnTo>
                      <a:pt x="293366" y="617855"/>
                    </a:lnTo>
                    <a:lnTo>
                      <a:pt x="296857" y="613410"/>
                    </a:lnTo>
                    <a:lnTo>
                      <a:pt x="300982" y="608965"/>
                    </a:lnTo>
                    <a:lnTo>
                      <a:pt x="305108" y="604838"/>
                    </a:lnTo>
                    <a:lnTo>
                      <a:pt x="309869" y="601345"/>
                    </a:lnTo>
                    <a:lnTo>
                      <a:pt x="314946" y="598488"/>
                    </a:lnTo>
                    <a:lnTo>
                      <a:pt x="320342" y="595630"/>
                    </a:lnTo>
                    <a:lnTo>
                      <a:pt x="326054" y="593725"/>
                    </a:lnTo>
                    <a:lnTo>
                      <a:pt x="331767" y="592138"/>
                    </a:lnTo>
                    <a:lnTo>
                      <a:pt x="338114" y="591185"/>
                    </a:lnTo>
                    <a:lnTo>
                      <a:pt x="344144" y="590550"/>
                    </a:lnTo>
                    <a:close/>
                    <a:moveTo>
                      <a:pt x="1750865" y="411163"/>
                    </a:moveTo>
                    <a:lnTo>
                      <a:pt x="1754043" y="411481"/>
                    </a:lnTo>
                    <a:lnTo>
                      <a:pt x="1757540" y="411798"/>
                    </a:lnTo>
                    <a:lnTo>
                      <a:pt x="1760718" y="413068"/>
                    </a:lnTo>
                    <a:lnTo>
                      <a:pt x="1764214" y="414021"/>
                    </a:lnTo>
                    <a:lnTo>
                      <a:pt x="1767710" y="414973"/>
                    </a:lnTo>
                    <a:lnTo>
                      <a:pt x="1770889" y="416878"/>
                    </a:lnTo>
                    <a:lnTo>
                      <a:pt x="1777563" y="421006"/>
                    </a:lnTo>
                    <a:lnTo>
                      <a:pt x="1784555" y="425768"/>
                    </a:lnTo>
                    <a:lnTo>
                      <a:pt x="1790912" y="431166"/>
                    </a:lnTo>
                    <a:lnTo>
                      <a:pt x="1797904" y="437198"/>
                    </a:lnTo>
                    <a:lnTo>
                      <a:pt x="1812207" y="451486"/>
                    </a:lnTo>
                    <a:lnTo>
                      <a:pt x="1827145" y="466408"/>
                    </a:lnTo>
                    <a:lnTo>
                      <a:pt x="1836680" y="476251"/>
                    </a:lnTo>
                    <a:lnTo>
                      <a:pt x="1851935" y="491173"/>
                    </a:lnTo>
                    <a:lnTo>
                      <a:pt x="1865920" y="505461"/>
                    </a:lnTo>
                    <a:lnTo>
                      <a:pt x="1872277" y="512446"/>
                    </a:lnTo>
                    <a:lnTo>
                      <a:pt x="1877680" y="519431"/>
                    </a:lnTo>
                    <a:lnTo>
                      <a:pt x="1882447" y="525781"/>
                    </a:lnTo>
                    <a:lnTo>
                      <a:pt x="1886579" y="532766"/>
                    </a:lnTo>
                    <a:lnTo>
                      <a:pt x="1888486" y="536258"/>
                    </a:lnTo>
                    <a:lnTo>
                      <a:pt x="1889439" y="539433"/>
                    </a:lnTo>
                    <a:lnTo>
                      <a:pt x="1891029" y="542608"/>
                    </a:lnTo>
                    <a:lnTo>
                      <a:pt x="1891664" y="546101"/>
                    </a:lnTo>
                    <a:lnTo>
                      <a:pt x="1891982" y="549593"/>
                    </a:lnTo>
                    <a:lnTo>
                      <a:pt x="1892300" y="552768"/>
                    </a:lnTo>
                    <a:lnTo>
                      <a:pt x="1892300" y="556261"/>
                    </a:lnTo>
                    <a:lnTo>
                      <a:pt x="1891664" y="559753"/>
                    </a:lnTo>
                    <a:lnTo>
                      <a:pt x="1891029" y="562928"/>
                    </a:lnTo>
                    <a:lnTo>
                      <a:pt x="1889757" y="566738"/>
                    </a:lnTo>
                    <a:lnTo>
                      <a:pt x="1888486" y="570231"/>
                    </a:lnTo>
                    <a:lnTo>
                      <a:pt x="1886261" y="574041"/>
                    </a:lnTo>
                    <a:lnTo>
                      <a:pt x="1884036" y="577533"/>
                    </a:lnTo>
                    <a:lnTo>
                      <a:pt x="1881176" y="581343"/>
                    </a:lnTo>
                    <a:lnTo>
                      <a:pt x="1877680" y="585153"/>
                    </a:lnTo>
                    <a:lnTo>
                      <a:pt x="1874184" y="588963"/>
                    </a:lnTo>
                    <a:lnTo>
                      <a:pt x="1476895" y="985838"/>
                    </a:lnTo>
                    <a:lnTo>
                      <a:pt x="1472763" y="989966"/>
                    </a:lnTo>
                    <a:lnTo>
                      <a:pt x="1468313" y="993458"/>
                    </a:lnTo>
                    <a:lnTo>
                      <a:pt x="1464182" y="996633"/>
                    </a:lnTo>
                    <a:lnTo>
                      <a:pt x="1459732" y="999808"/>
                    </a:lnTo>
                    <a:lnTo>
                      <a:pt x="1455282" y="1002348"/>
                    </a:lnTo>
                    <a:lnTo>
                      <a:pt x="1450515" y="1004888"/>
                    </a:lnTo>
                    <a:lnTo>
                      <a:pt x="1446065" y="1007111"/>
                    </a:lnTo>
                    <a:lnTo>
                      <a:pt x="1440980" y="1009016"/>
                    </a:lnTo>
                    <a:lnTo>
                      <a:pt x="1436212" y="1010921"/>
                    </a:lnTo>
                    <a:lnTo>
                      <a:pt x="1431445" y="1012826"/>
                    </a:lnTo>
                    <a:lnTo>
                      <a:pt x="1426360" y="1013778"/>
                    </a:lnTo>
                    <a:lnTo>
                      <a:pt x="1421274" y="1015366"/>
                    </a:lnTo>
                    <a:lnTo>
                      <a:pt x="1416507" y="1016001"/>
                    </a:lnTo>
                    <a:lnTo>
                      <a:pt x="1411422" y="1016953"/>
                    </a:lnTo>
                    <a:lnTo>
                      <a:pt x="1406336" y="1017271"/>
                    </a:lnTo>
                    <a:lnTo>
                      <a:pt x="1401569" y="1017588"/>
                    </a:lnTo>
                    <a:lnTo>
                      <a:pt x="1396484" y="1017588"/>
                    </a:lnTo>
                    <a:lnTo>
                      <a:pt x="1391716" y="1017271"/>
                    </a:lnTo>
                    <a:lnTo>
                      <a:pt x="1386949" y="1016953"/>
                    </a:lnTo>
                    <a:lnTo>
                      <a:pt x="1382499" y="1015683"/>
                    </a:lnTo>
                    <a:lnTo>
                      <a:pt x="1377731" y="1015048"/>
                    </a:lnTo>
                    <a:lnTo>
                      <a:pt x="1373282" y="1013461"/>
                    </a:lnTo>
                    <a:lnTo>
                      <a:pt x="1368832" y="1012191"/>
                    </a:lnTo>
                    <a:lnTo>
                      <a:pt x="1364700" y="1010286"/>
                    </a:lnTo>
                    <a:lnTo>
                      <a:pt x="1360886" y="1008063"/>
                    </a:lnTo>
                    <a:lnTo>
                      <a:pt x="1357072" y="1005523"/>
                    </a:lnTo>
                    <a:lnTo>
                      <a:pt x="1353576" y="1002983"/>
                    </a:lnTo>
                    <a:lnTo>
                      <a:pt x="1350080" y="1000126"/>
                    </a:lnTo>
                    <a:lnTo>
                      <a:pt x="1347220" y="996633"/>
                    </a:lnTo>
                    <a:lnTo>
                      <a:pt x="1344359" y="993458"/>
                    </a:lnTo>
                    <a:lnTo>
                      <a:pt x="1341817" y="989331"/>
                    </a:lnTo>
                    <a:lnTo>
                      <a:pt x="1339274" y="985521"/>
                    </a:lnTo>
                    <a:lnTo>
                      <a:pt x="1337367" y="981076"/>
                    </a:lnTo>
                    <a:lnTo>
                      <a:pt x="1335778" y="976313"/>
                    </a:lnTo>
                    <a:lnTo>
                      <a:pt x="1326561" y="967106"/>
                    </a:lnTo>
                    <a:lnTo>
                      <a:pt x="1322111" y="965518"/>
                    </a:lnTo>
                    <a:lnTo>
                      <a:pt x="1317979" y="963296"/>
                    </a:lnTo>
                    <a:lnTo>
                      <a:pt x="1314165" y="961073"/>
                    </a:lnTo>
                    <a:lnTo>
                      <a:pt x="1310351" y="958851"/>
                    </a:lnTo>
                    <a:lnTo>
                      <a:pt x="1307173" y="956311"/>
                    </a:lnTo>
                    <a:lnTo>
                      <a:pt x="1303995" y="953453"/>
                    </a:lnTo>
                    <a:lnTo>
                      <a:pt x="1301134" y="950913"/>
                    </a:lnTo>
                    <a:lnTo>
                      <a:pt x="1298274" y="948056"/>
                    </a:lnTo>
                    <a:lnTo>
                      <a:pt x="1295731" y="944563"/>
                    </a:lnTo>
                    <a:lnTo>
                      <a:pt x="1293824" y="941706"/>
                    </a:lnTo>
                    <a:lnTo>
                      <a:pt x="1291599" y="938531"/>
                    </a:lnTo>
                    <a:lnTo>
                      <a:pt x="1289692" y="935038"/>
                    </a:lnTo>
                    <a:lnTo>
                      <a:pt x="1288103" y="931546"/>
                    </a:lnTo>
                    <a:lnTo>
                      <a:pt x="1286832" y="928371"/>
                    </a:lnTo>
                    <a:lnTo>
                      <a:pt x="1284607" y="921068"/>
                    </a:lnTo>
                    <a:lnTo>
                      <a:pt x="1283336" y="913448"/>
                    </a:lnTo>
                    <a:lnTo>
                      <a:pt x="1282700" y="905511"/>
                    </a:lnTo>
                    <a:lnTo>
                      <a:pt x="1283018" y="897573"/>
                    </a:lnTo>
                    <a:lnTo>
                      <a:pt x="1283971" y="889953"/>
                    </a:lnTo>
                    <a:lnTo>
                      <a:pt x="1285560" y="882016"/>
                    </a:lnTo>
                    <a:lnTo>
                      <a:pt x="1287785" y="874078"/>
                    </a:lnTo>
                    <a:lnTo>
                      <a:pt x="1290646" y="866141"/>
                    </a:lnTo>
                    <a:lnTo>
                      <a:pt x="1294142" y="858521"/>
                    </a:lnTo>
                    <a:lnTo>
                      <a:pt x="1298909" y="849948"/>
                    </a:lnTo>
                    <a:lnTo>
                      <a:pt x="1304313" y="841376"/>
                    </a:lnTo>
                    <a:lnTo>
                      <a:pt x="1310351" y="833756"/>
                    </a:lnTo>
                    <a:lnTo>
                      <a:pt x="1317026" y="826136"/>
                    </a:lnTo>
                    <a:lnTo>
                      <a:pt x="1714315" y="429261"/>
                    </a:lnTo>
                    <a:lnTo>
                      <a:pt x="1718446" y="425768"/>
                    </a:lnTo>
                    <a:lnTo>
                      <a:pt x="1721943" y="422276"/>
                    </a:lnTo>
                    <a:lnTo>
                      <a:pt x="1726074" y="419736"/>
                    </a:lnTo>
                    <a:lnTo>
                      <a:pt x="1729571" y="417196"/>
                    </a:lnTo>
                    <a:lnTo>
                      <a:pt x="1733384" y="415608"/>
                    </a:lnTo>
                    <a:lnTo>
                      <a:pt x="1736881" y="414021"/>
                    </a:lnTo>
                    <a:lnTo>
                      <a:pt x="1740377" y="412433"/>
                    </a:lnTo>
                    <a:lnTo>
                      <a:pt x="1743873" y="411798"/>
                    </a:lnTo>
                    <a:lnTo>
                      <a:pt x="1747051" y="411481"/>
                    </a:lnTo>
                    <a:lnTo>
                      <a:pt x="1750865" y="411163"/>
                    </a:lnTo>
                    <a:close/>
                    <a:moveTo>
                      <a:pt x="198373" y="319088"/>
                    </a:moveTo>
                    <a:lnTo>
                      <a:pt x="1557783" y="319088"/>
                    </a:lnTo>
                    <a:lnTo>
                      <a:pt x="1453042" y="423822"/>
                    </a:lnTo>
                    <a:lnTo>
                      <a:pt x="315492" y="423822"/>
                    </a:lnTo>
                    <a:lnTo>
                      <a:pt x="305336" y="424140"/>
                    </a:lnTo>
                    <a:lnTo>
                      <a:pt x="295179" y="424774"/>
                    </a:lnTo>
                    <a:lnTo>
                      <a:pt x="285340" y="426361"/>
                    </a:lnTo>
                    <a:lnTo>
                      <a:pt x="275500" y="427631"/>
                    </a:lnTo>
                    <a:lnTo>
                      <a:pt x="265979" y="429852"/>
                    </a:lnTo>
                    <a:lnTo>
                      <a:pt x="256457" y="433026"/>
                    </a:lnTo>
                    <a:lnTo>
                      <a:pt x="247570" y="435882"/>
                    </a:lnTo>
                    <a:lnTo>
                      <a:pt x="238365" y="439374"/>
                    </a:lnTo>
                    <a:lnTo>
                      <a:pt x="229478" y="443499"/>
                    </a:lnTo>
                    <a:lnTo>
                      <a:pt x="221226" y="447943"/>
                    </a:lnTo>
                    <a:lnTo>
                      <a:pt x="212973" y="452703"/>
                    </a:lnTo>
                    <a:lnTo>
                      <a:pt x="204721" y="457781"/>
                    </a:lnTo>
                    <a:lnTo>
                      <a:pt x="196786" y="463494"/>
                    </a:lnTo>
                    <a:lnTo>
                      <a:pt x="189486" y="469207"/>
                    </a:lnTo>
                    <a:lnTo>
                      <a:pt x="182186" y="475554"/>
                    </a:lnTo>
                    <a:lnTo>
                      <a:pt x="175203" y="481902"/>
                    </a:lnTo>
                    <a:lnTo>
                      <a:pt x="168855" y="488884"/>
                    </a:lnTo>
                    <a:lnTo>
                      <a:pt x="162507" y="496184"/>
                    </a:lnTo>
                    <a:lnTo>
                      <a:pt x="156794" y="503483"/>
                    </a:lnTo>
                    <a:lnTo>
                      <a:pt x="151398" y="511100"/>
                    </a:lnTo>
                    <a:lnTo>
                      <a:pt x="145685" y="519670"/>
                    </a:lnTo>
                    <a:lnTo>
                      <a:pt x="140924" y="527604"/>
                    </a:lnTo>
                    <a:lnTo>
                      <a:pt x="136798" y="536490"/>
                    </a:lnTo>
                    <a:lnTo>
                      <a:pt x="132672" y="545060"/>
                    </a:lnTo>
                    <a:lnTo>
                      <a:pt x="129498" y="554263"/>
                    </a:lnTo>
                    <a:lnTo>
                      <a:pt x="126007" y="563150"/>
                    </a:lnTo>
                    <a:lnTo>
                      <a:pt x="123468" y="572671"/>
                    </a:lnTo>
                    <a:lnTo>
                      <a:pt x="121246" y="582193"/>
                    </a:lnTo>
                    <a:lnTo>
                      <a:pt x="119659" y="592031"/>
                    </a:lnTo>
                    <a:lnTo>
                      <a:pt x="118072" y="601870"/>
                    </a:lnTo>
                    <a:lnTo>
                      <a:pt x="117437" y="612026"/>
                    </a:lnTo>
                    <a:lnTo>
                      <a:pt x="117437" y="622182"/>
                    </a:lnTo>
                    <a:lnTo>
                      <a:pt x="117437" y="1633658"/>
                    </a:lnTo>
                    <a:lnTo>
                      <a:pt x="117437" y="1643814"/>
                    </a:lnTo>
                    <a:lnTo>
                      <a:pt x="118072" y="1653970"/>
                    </a:lnTo>
                    <a:lnTo>
                      <a:pt x="119659" y="1663808"/>
                    </a:lnTo>
                    <a:lnTo>
                      <a:pt x="121246" y="1673647"/>
                    </a:lnTo>
                    <a:lnTo>
                      <a:pt x="123468" y="1683168"/>
                    </a:lnTo>
                    <a:lnTo>
                      <a:pt x="126007" y="1692689"/>
                    </a:lnTo>
                    <a:lnTo>
                      <a:pt x="129498" y="1701576"/>
                    </a:lnTo>
                    <a:lnTo>
                      <a:pt x="132672" y="1710780"/>
                    </a:lnTo>
                    <a:lnTo>
                      <a:pt x="136798" y="1719666"/>
                    </a:lnTo>
                    <a:lnTo>
                      <a:pt x="140924" y="1728235"/>
                    </a:lnTo>
                    <a:lnTo>
                      <a:pt x="145685" y="1736170"/>
                    </a:lnTo>
                    <a:lnTo>
                      <a:pt x="151398" y="1744739"/>
                    </a:lnTo>
                    <a:lnTo>
                      <a:pt x="156794" y="1752356"/>
                    </a:lnTo>
                    <a:lnTo>
                      <a:pt x="162507" y="1759656"/>
                    </a:lnTo>
                    <a:lnTo>
                      <a:pt x="168855" y="1766955"/>
                    </a:lnTo>
                    <a:lnTo>
                      <a:pt x="175203" y="1773938"/>
                    </a:lnTo>
                    <a:lnTo>
                      <a:pt x="182186" y="1780285"/>
                    </a:lnTo>
                    <a:lnTo>
                      <a:pt x="189486" y="1786633"/>
                    </a:lnTo>
                    <a:lnTo>
                      <a:pt x="196786" y="1792345"/>
                    </a:lnTo>
                    <a:lnTo>
                      <a:pt x="204721" y="1798375"/>
                    </a:lnTo>
                    <a:lnTo>
                      <a:pt x="212973" y="1803453"/>
                    </a:lnTo>
                    <a:lnTo>
                      <a:pt x="221226" y="1808214"/>
                    </a:lnTo>
                    <a:lnTo>
                      <a:pt x="229478" y="1812340"/>
                    </a:lnTo>
                    <a:lnTo>
                      <a:pt x="238365" y="1816466"/>
                    </a:lnTo>
                    <a:lnTo>
                      <a:pt x="247570" y="1819640"/>
                    </a:lnTo>
                    <a:lnTo>
                      <a:pt x="256457" y="1823131"/>
                    </a:lnTo>
                    <a:lnTo>
                      <a:pt x="265979" y="1825670"/>
                    </a:lnTo>
                    <a:lnTo>
                      <a:pt x="275500" y="1827891"/>
                    </a:lnTo>
                    <a:lnTo>
                      <a:pt x="285340" y="1829478"/>
                    </a:lnTo>
                    <a:lnTo>
                      <a:pt x="295179" y="1831065"/>
                    </a:lnTo>
                    <a:lnTo>
                      <a:pt x="305336" y="1831700"/>
                    </a:lnTo>
                    <a:lnTo>
                      <a:pt x="315492" y="1831700"/>
                    </a:lnTo>
                    <a:lnTo>
                      <a:pt x="1632371" y="1831700"/>
                    </a:lnTo>
                    <a:lnTo>
                      <a:pt x="1642527" y="1831700"/>
                    </a:lnTo>
                    <a:lnTo>
                      <a:pt x="1652367" y="1831065"/>
                    </a:lnTo>
                    <a:lnTo>
                      <a:pt x="1662523" y="1829478"/>
                    </a:lnTo>
                    <a:lnTo>
                      <a:pt x="1672045" y="1827891"/>
                    </a:lnTo>
                    <a:lnTo>
                      <a:pt x="1681885" y="1825670"/>
                    </a:lnTo>
                    <a:lnTo>
                      <a:pt x="1691089" y="1823131"/>
                    </a:lnTo>
                    <a:lnTo>
                      <a:pt x="1700611" y="1819640"/>
                    </a:lnTo>
                    <a:lnTo>
                      <a:pt x="1709181" y="1816466"/>
                    </a:lnTo>
                    <a:lnTo>
                      <a:pt x="1718385" y="1812340"/>
                    </a:lnTo>
                    <a:lnTo>
                      <a:pt x="1726637" y="1808214"/>
                    </a:lnTo>
                    <a:lnTo>
                      <a:pt x="1735207" y="1803453"/>
                    </a:lnTo>
                    <a:lnTo>
                      <a:pt x="1743142" y="1798375"/>
                    </a:lnTo>
                    <a:lnTo>
                      <a:pt x="1750760" y="1792345"/>
                    </a:lnTo>
                    <a:lnTo>
                      <a:pt x="1758377" y="1786633"/>
                    </a:lnTo>
                    <a:lnTo>
                      <a:pt x="1765677" y="1780285"/>
                    </a:lnTo>
                    <a:lnTo>
                      <a:pt x="1772660" y="1773938"/>
                    </a:lnTo>
                    <a:lnTo>
                      <a:pt x="1779325" y="1766955"/>
                    </a:lnTo>
                    <a:lnTo>
                      <a:pt x="1785356" y="1759973"/>
                    </a:lnTo>
                    <a:lnTo>
                      <a:pt x="1791069" y="1752356"/>
                    </a:lnTo>
                    <a:lnTo>
                      <a:pt x="1796782" y="1744739"/>
                    </a:lnTo>
                    <a:lnTo>
                      <a:pt x="1801861" y="1736805"/>
                    </a:lnTo>
                    <a:lnTo>
                      <a:pt x="1806621" y="1728235"/>
                    </a:lnTo>
                    <a:lnTo>
                      <a:pt x="1810748" y="1719666"/>
                    </a:lnTo>
                    <a:lnTo>
                      <a:pt x="1814874" y="1710780"/>
                    </a:lnTo>
                    <a:lnTo>
                      <a:pt x="1818683" y="1702211"/>
                    </a:lnTo>
                    <a:lnTo>
                      <a:pt x="1821857" y="1692689"/>
                    </a:lnTo>
                    <a:lnTo>
                      <a:pt x="1824396" y="1683168"/>
                    </a:lnTo>
                    <a:lnTo>
                      <a:pt x="1826617" y="1673647"/>
                    </a:lnTo>
                    <a:lnTo>
                      <a:pt x="1828522" y="1663808"/>
                    </a:lnTo>
                    <a:lnTo>
                      <a:pt x="1829474" y="1653970"/>
                    </a:lnTo>
                    <a:lnTo>
                      <a:pt x="1830109" y="1643814"/>
                    </a:lnTo>
                    <a:lnTo>
                      <a:pt x="1830426" y="1633658"/>
                    </a:lnTo>
                    <a:lnTo>
                      <a:pt x="1830426" y="1113162"/>
                    </a:lnTo>
                    <a:lnTo>
                      <a:pt x="1830426" y="773570"/>
                    </a:lnTo>
                    <a:lnTo>
                      <a:pt x="1947863" y="656458"/>
                    </a:lnTo>
                    <a:lnTo>
                      <a:pt x="1947863" y="1738391"/>
                    </a:lnTo>
                    <a:lnTo>
                      <a:pt x="1947546" y="1748865"/>
                    </a:lnTo>
                    <a:lnTo>
                      <a:pt x="1946911" y="1758704"/>
                    </a:lnTo>
                    <a:lnTo>
                      <a:pt x="1945324" y="1768860"/>
                    </a:lnTo>
                    <a:lnTo>
                      <a:pt x="1943419" y="1778063"/>
                    </a:lnTo>
                    <a:lnTo>
                      <a:pt x="1941198" y="1787902"/>
                    </a:lnTo>
                    <a:lnTo>
                      <a:pt x="1938659" y="1797423"/>
                    </a:lnTo>
                    <a:lnTo>
                      <a:pt x="1935802" y="1806627"/>
                    </a:lnTo>
                    <a:lnTo>
                      <a:pt x="1932311" y="1815831"/>
                    </a:lnTo>
                    <a:lnTo>
                      <a:pt x="1928184" y="1824400"/>
                    </a:lnTo>
                    <a:lnTo>
                      <a:pt x="1923741" y="1832969"/>
                    </a:lnTo>
                    <a:lnTo>
                      <a:pt x="1918980" y="1841221"/>
                    </a:lnTo>
                    <a:lnTo>
                      <a:pt x="1913902" y="1849156"/>
                    </a:lnTo>
                    <a:lnTo>
                      <a:pt x="1908188" y="1856773"/>
                    </a:lnTo>
                    <a:lnTo>
                      <a:pt x="1902475" y="1864707"/>
                    </a:lnTo>
                    <a:lnTo>
                      <a:pt x="1896127" y="1871689"/>
                    </a:lnTo>
                    <a:lnTo>
                      <a:pt x="1889462" y="1878671"/>
                    </a:lnTo>
                    <a:lnTo>
                      <a:pt x="1882797" y="1885336"/>
                    </a:lnTo>
                    <a:lnTo>
                      <a:pt x="1875497" y="1891366"/>
                    </a:lnTo>
                    <a:lnTo>
                      <a:pt x="1868197" y="1897397"/>
                    </a:lnTo>
                    <a:lnTo>
                      <a:pt x="1860579" y="1902792"/>
                    </a:lnTo>
                    <a:lnTo>
                      <a:pt x="1852327" y="1907870"/>
                    </a:lnTo>
                    <a:lnTo>
                      <a:pt x="1844074" y="1912631"/>
                    </a:lnTo>
                    <a:lnTo>
                      <a:pt x="1835187" y="1917074"/>
                    </a:lnTo>
                    <a:lnTo>
                      <a:pt x="1826617" y="1920882"/>
                    </a:lnTo>
                    <a:lnTo>
                      <a:pt x="1817413" y="1924691"/>
                    </a:lnTo>
                    <a:lnTo>
                      <a:pt x="1808209" y="1927865"/>
                    </a:lnTo>
                    <a:lnTo>
                      <a:pt x="1799004" y="1930404"/>
                    </a:lnTo>
                    <a:lnTo>
                      <a:pt x="1789482" y="1932625"/>
                    </a:lnTo>
                    <a:lnTo>
                      <a:pt x="1779643" y="1934530"/>
                    </a:lnTo>
                    <a:lnTo>
                      <a:pt x="1769803" y="1935482"/>
                    </a:lnTo>
                    <a:lnTo>
                      <a:pt x="1759647" y="1936434"/>
                    </a:lnTo>
                    <a:lnTo>
                      <a:pt x="1749173" y="1936751"/>
                    </a:lnTo>
                    <a:lnTo>
                      <a:pt x="198373" y="1936751"/>
                    </a:lnTo>
                    <a:lnTo>
                      <a:pt x="188216" y="1936434"/>
                    </a:lnTo>
                    <a:lnTo>
                      <a:pt x="178377" y="1935482"/>
                    </a:lnTo>
                    <a:lnTo>
                      <a:pt x="168538" y="1934530"/>
                    </a:lnTo>
                    <a:lnTo>
                      <a:pt x="158699" y="1932625"/>
                    </a:lnTo>
                    <a:lnTo>
                      <a:pt x="148859" y="1930404"/>
                    </a:lnTo>
                    <a:lnTo>
                      <a:pt x="139655" y="1927865"/>
                    </a:lnTo>
                    <a:lnTo>
                      <a:pt x="130133" y="1924691"/>
                    </a:lnTo>
                    <a:lnTo>
                      <a:pt x="121246" y="1920882"/>
                    </a:lnTo>
                    <a:lnTo>
                      <a:pt x="112359" y="1917074"/>
                    </a:lnTo>
                    <a:lnTo>
                      <a:pt x="103789" y="1912631"/>
                    </a:lnTo>
                    <a:lnTo>
                      <a:pt x="95537" y="1907870"/>
                    </a:lnTo>
                    <a:lnTo>
                      <a:pt x="87602" y="1902792"/>
                    </a:lnTo>
                    <a:lnTo>
                      <a:pt x="79984" y="1897397"/>
                    </a:lnTo>
                    <a:lnTo>
                      <a:pt x="72049" y="1891366"/>
                    </a:lnTo>
                    <a:lnTo>
                      <a:pt x="65067" y="1885336"/>
                    </a:lnTo>
                    <a:lnTo>
                      <a:pt x="58084" y="1878671"/>
                    </a:lnTo>
                    <a:lnTo>
                      <a:pt x="51418" y="1871689"/>
                    </a:lnTo>
                    <a:lnTo>
                      <a:pt x="45388" y="1864707"/>
                    </a:lnTo>
                    <a:lnTo>
                      <a:pt x="39357" y="1856773"/>
                    </a:lnTo>
                    <a:lnTo>
                      <a:pt x="33962" y="1849156"/>
                    </a:lnTo>
                    <a:lnTo>
                      <a:pt x="28883" y="1841221"/>
                    </a:lnTo>
                    <a:lnTo>
                      <a:pt x="24122" y="1832969"/>
                    </a:lnTo>
                    <a:lnTo>
                      <a:pt x="19679" y="1824400"/>
                    </a:lnTo>
                    <a:lnTo>
                      <a:pt x="15870" y="1815831"/>
                    </a:lnTo>
                    <a:lnTo>
                      <a:pt x="12061" y="1806627"/>
                    </a:lnTo>
                    <a:lnTo>
                      <a:pt x="8887" y="1797423"/>
                    </a:lnTo>
                    <a:lnTo>
                      <a:pt x="6348" y="1787902"/>
                    </a:lnTo>
                    <a:lnTo>
                      <a:pt x="4126" y="1778063"/>
                    </a:lnTo>
                    <a:lnTo>
                      <a:pt x="2222" y="1768860"/>
                    </a:lnTo>
                    <a:lnTo>
                      <a:pt x="1270" y="1758704"/>
                    </a:lnTo>
                    <a:lnTo>
                      <a:pt x="318" y="1748865"/>
                    </a:lnTo>
                    <a:lnTo>
                      <a:pt x="0" y="1738391"/>
                    </a:lnTo>
                    <a:lnTo>
                      <a:pt x="0" y="517448"/>
                    </a:lnTo>
                    <a:lnTo>
                      <a:pt x="318" y="507292"/>
                    </a:lnTo>
                    <a:lnTo>
                      <a:pt x="1270" y="497453"/>
                    </a:lnTo>
                    <a:lnTo>
                      <a:pt x="2222" y="487297"/>
                    </a:lnTo>
                    <a:lnTo>
                      <a:pt x="4126" y="477776"/>
                    </a:lnTo>
                    <a:lnTo>
                      <a:pt x="6348" y="467937"/>
                    </a:lnTo>
                    <a:lnTo>
                      <a:pt x="8887" y="458416"/>
                    </a:lnTo>
                    <a:lnTo>
                      <a:pt x="12061" y="449212"/>
                    </a:lnTo>
                    <a:lnTo>
                      <a:pt x="15870" y="440008"/>
                    </a:lnTo>
                    <a:lnTo>
                      <a:pt x="19679" y="431439"/>
                    </a:lnTo>
                    <a:lnTo>
                      <a:pt x="24122" y="423187"/>
                    </a:lnTo>
                    <a:lnTo>
                      <a:pt x="28883" y="414618"/>
                    </a:lnTo>
                    <a:lnTo>
                      <a:pt x="33962" y="406684"/>
                    </a:lnTo>
                    <a:lnTo>
                      <a:pt x="39357" y="399067"/>
                    </a:lnTo>
                    <a:lnTo>
                      <a:pt x="45388" y="391450"/>
                    </a:lnTo>
                    <a:lnTo>
                      <a:pt x="51418" y="384150"/>
                    </a:lnTo>
                    <a:lnTo>
                      <a:pt x="58084" y="377168"/>
                    </a:lnTo>
                    <a:lnTo>
                      <a:pt x="65067" y="370503"/>
                    </a:lnTo>
                    <a:lnTo>
                      <a:pt x="72049" y="364473"/>
                    </a:lnTo>
                    <a:lnTo>
                      <a:pt x="79984" y="358443"/>
                    </a:lnTo>
                    <a:lnTo>
                      <a:pt x="87602" y="353047"/>
                    </a:lnTo>
                    <a:lnTo>
                      <a:pt x="95537" y="347969"/>
                    </a:lnTo>
                    <a:lnTo>
                      <a:pt x="103789" y="343209"/>
                    </a:lnTo>
                    <a:lnTo>
                      <a:pt x="112359" y="338766"/>
                    </a:lnTo>
                    <a:lnTo>
                      <a:pt x="121246" y="334957"/>
                    </a:lnTo>
                    <a:lnTo>
                      <a:pt x="130133" y="331149"/>
                    </a:lnTo>
                    <a:lnTo>
                      <a:pt x="139655" y="328292"/>
                    </a:lnTo>
                    <a:lnTo>
                      <a:pt x="148859" y="325436"/>
                    </a:lnTo>
                    <a:lnTo>
                      <a:pt x="158699" y="323214"/>
                    </a:lnTo>
                    <a:lnTo>
                      <a:pt x="168538" y="321310"/>
                    </a:lnTo>
                    <a:lnTo>
                      <a:pt x="178377" y="320358"/>
                    </a:lnTo>
                    <a:lnTo>
                      <a:pt x="188216" y="319723"/>
                    </a:lnTo>
                    <a:lnTo>
                      <a:pt x="198373" y="319088"/>
                    </a:lnTo>
                    <a:close/>
                    <a:moveTo>
                      <a:pt x="2076641" y="106363"/>
                    </a:moveTo>
                    <a:lnTo>
                      <a:pt x="2082030" y="106363"/>
                    </a:lnTo>
                    <a:lnTo>
                      <a:pt x="2087102" y="106363"/>
                    </a:lnTo>
                    <a:lnTo>
                      <a:pt x="2092174" y="106679"/>
                    </a:lnTo>
                    <a:lnTo>
                      <a:pt x="2097246" y="107313"/>
                    </a:lnTo>
                    <a:lnTo>
                      <a:pt x="2102318" y="108263"/>
                    </a:lnTo>
                    <a:lnTo>
                      <a:pt x="2107390" y="109213"/>
                    </a:lnTo>
                    <a:lnTo>
                      <a:pt x="2112145" y="110797"/>
                    </a:lnTo>
                    <a:lnTo>
                      <a:pt x="2117217" y="112064"/>
                    </a:lnTo>
                    <a:lnTo>
                      <a:pt x="2121972" y="113965"/>
                    </a:lnTo>
                    <a:lnTo>
                      <a:pt x="2126727" y="116182"/>
                    </a:lnTo>
                    <a:lnTo>
                      <a:pt x="2131482" y="118399"/>
                    </a:lnTo>
                    <a:lnTo>
                      <a:pt x="2136237" y="120933"/>
                    </a:lnTo>
                    <a:lnTo>
                      <a:pt x="2140358" y="123784"/>
                    </a:lnTo>
                    <a:lnTo>
                      <a:pt x="2144796" y="126634"/>
                    </a:lnTo>
                    <a:lnTo>
                      <a:pt x="2148916" y="130119"/>
                    </a:lnTo>
                    <a:lnTo>
                      <a:pt x="2153354" y="133603"/>
                    </a:lnTo>
                    <a:lnTo>
                      <a:pt x="2157158" y="137087"/>
                    </a:lnTo>
                    <a:lnTo>
                      <a:pt x="2166351" y="146589"/>
                    </a:lnTo>
                    <a:lnTo>
                      <a:pt x="2169838" y="150707"/>
                    </a:lnTo>
                    <a:lnTo>
                      <a:pt x="2173642" y="154825"/>
                    </a:lnTo>
                    <a:lnTo>
                      <a:pt x="2176812" y="158626"/>
                    </a:lnTo>
                    <a:lnTo>
                      <a:pt x="2179665" y="163060"/>
                    </a:lnTo>
                    <a:lnTo>
                      <a:pt x="2182835" y="167811"/>
                    </a:lnTo>
                    <a:lnTo>
                      <a:pt x="2185371" y="172246"/>
                    </a:lnTo>
                    <a:lnTo>
                      <a:pt x="2187273" y="176997"/>
                    </a:lnTo>
                    <a:lnTo>
                      <a:pt x="2189492" y="181748"/>
                    </a:lnTo>
                    <a:lnTo>
                      <a:pt x="2191394" y="186183"/>
                    </a:lnTo>
                    <a:lnTo>
                      <a:pt x="2192979" y="191567"/>
                    </a:lnTo>
                    <a:lnTo>
                      <a:pt x="2194247" y="196002"/>
                    </a:lnTo>
                    <a:lnTo>
                      <a:pt x="2195515" y="201387"/>
                    </a:lnTo>
                    <a:lnTo>
                      <a:pt x="2196149" y="206454"/>
                    </a:lnTo>
                    <a:lnTo>
                      <a:pt x="2196783" y="211522"/>
                    </a:lnTo>
                    <a:lnTo>
                      <a:pt x="2197100" y="216590"/>
                    </a:lnTo>
                    <a:lnTo>
                      <a:pt x="2197100" y="221658"/>
                    </a:lnTo>
                    <a:lnTo>
                      <a:pt x="2197100" y="226726"/>
                    </a:lnTo>
                    <a:lnTo>
                      <a:pt x="2196783" y="231794"/>
                    </a:lnTo>
                    <a:lnTo>
                      <a:pt x="2196149" y="236862"/>
                    </a:lnTo>
                    <a:lnTo>
                      <a:pt x="2195515" y="241613"/>
                    </a:lnTo>
                    <a:lnTo>
                      <a:pt x="2194247" y="246681"/>
                    </a:lnTo>
                    <a:lnTo>
                      <a:pt x="2192979" y="251749"/>
                    </a:lnTo>
                    <a:lnTo>
                      <a:pt x="2191394" y="256500"/>
                    </a:lnTo>
                    <a:lnTo>
                      <a:pt x="2189492" y="261251"/>
                    </a:lnTo>
                    <a:lnTo>
                      <a:pt x="2187273" y="266319"/>
                    </a:lnTo>
                    <a:lnTo>
                      <a:pt x="2185371" y="270754"/>
                    </a:lnTo>
                    <a:lnTo>
                      <a:pt x="2182835" y="275505"/>
                    </a:lnTo>
                    <a:lnTo>
                      <a:pt x="2179665" y="279623"/>
                    </a:lnTo>
                    <a:lnTo>
                      <a:pt x="2176812" y="284057"/>
                    </a:lnTo>
                    <a:lnTo>
                      <a:pt x="2173642" y="288492"/>
                    </a:lnTo>
                    <a:lnTo>
                      <a:pt x="2169838" y="292609"/>
                    </a:lnTo>
                    <a:lnTo>
                      <a:pt x="2166351" y="296410"/>
                    </a:lnTo>
                    <a:lnTo>
                      <a:pt x="1970764" y="491843"/>
                    </a:lnTo>
                    <a:lnTo>
                      <a:pt x="1967277" y="495010"/>
                    </a:lnTo>
                    <a:lnTo>
                      <a:pt x="1963473" y="498178"/>
                    </a:lnTo>
                    <a:lnTo>
                      <a:pt x="1959986" y="500712"/>
                    </a:lnTo>
                    <a:lnTo>
                      <a:pt x="1956816" y="502612"/>
                    </a:lnTo>
                    <a:lnTo>
                      <a:pt x="1953329" y="504513"/>
                    </a:lnTo>
                    <a:lnTo>
                      <a:pt x="1950476" y="505463"/>
                    </a:lnTo>
                    <a:lnTo>
                      <a:pt x="1947623" y="505780"/>
                    </a:lnTo>
                    <a:lnTo>
                      <a:pt x="1944771" y="506413"/>
                    </a:lnTo>
                    <a:lnTo>
                      <a:pt x="1941918" y="505780"/>
                    </a:lnTo>
                    <a:lnTo>
                      <a:pt x="1939382" y="505463"/>
                    </a:lnTo>
                    <a:lnTo>
                      <a:pt x="1936846" y="504513"/>
                    </a:lnTo>
                    <a:lnTo>
                      <a:pt x="1933993" y="502929"/>
                    </a:lnTo>
                    <a:lnTo>
                      <a:pt x="1931457" y="501662"/>
                    </a:lnTo>
                    <a:lnTo>
                      <a:pt x="1928921" y="499445"/>
                    </a:lnTo>
                    <a:lnTo>
                      <a:pt x="1924166" y="494694"/>
                    </a:lnTo>
                    <a:lnTo>
                      <a:pt x="1919094" y="489309"/>
                    </a:lnTo>
                    <a:lnTo>
                      <a:pt x="1914022" y="482657"/>
                    </a:lnTo>
                    <a:lnTo>
                      <a:pt x="1903561" y="467770"/>
                    </a:lnTo>
                    <a:lnTo>
                      <a:pt x="1897855" y="459852"/>
                    </a:lnTo>
                    <a:lnTo>
                      <a:pt x="1891515" y="451616"/>
                    </a:lnTo>
                    <a:lnTo>
                      <a:pt x="1884541" y="443698"/>
                    </a:lnTo>
                    <a:lnTo>
                      <a:pt x="1877250" y="435779"/>
                    </a:lnTo>
                    <a:lnTo>
                      <a:pt x="1868057" y="426277"/>
                    </a:lnTo>
                    <a:lnTo>
                      <a:pt x="1859815" y="418991"/>
                    </a:lnTo>
                    <a:lnTo>
                      <a:pt x="1851890" y="412023"/>
                    </a:lnTo>
                    <a:lnTo>
                      <a:pt x="1843966" y="406005"/>
                    </a:lnTo>
                    <a:lnTo>
                      <a:pt x="1836041" y="399987"/>
                    </a:lnTo>
                    <a:lnTo>
                      <a:pt x="1820825" y="389217"/>
                    </a:lnTo>
                    <a:lnTo>
                      <a:pt x="1814485" y="384466"/>
                    </a:lnTo>
                    <a:lnTo>
                      <a:pt x="1808462" y="379398"/>
                    </a:lnTo>
                    <a:lnTo>
                      <a:pt x="1804024" y="374647"/>
                    </a:lnTo>
                    <a:lnTo>
                      <a:pt x="1802122" y="372113"/>
                    </a:lnTo>
                    <a:lnTo>
                      <a:pt x="1800220" y="369579"/>
                    </a:lnTo>
                    <a:lnTo>
                      <a:pt x="1798635" y="367045"/>
                    </a:lnTo>
                    <a:lnTo>
                      <a:pt x="1798001" y="364511"/>
                    </a:lnTo>
                    <a:lnTo>
                      <a:pt x="1797367" y="361660"/>
                    </a:lnTo>
                    <a:lnTo>
                      <a:pt x="1797050" y="359126"/>
                    </a:lnTo>
                    <a:lnTo>
                      <a:pt x="1797367" y="355959"/>
                    </a:lnTo>
                    <a:lnTo>
                      <a:pt x="1797684" y="353108"/>
                    </a:lnTo>
                    <a:lnTo>
                      <a:pt x="1798635" y="349941"/>
                    </a:lnTo>
                    <a:lnTo>
                      <a:pt x="1800220" y="346773"/>
                    </a:lnTo>
                    <a:lnTo>
                      <a:pt x="1802439" y="343289"/>
                    </a:lnTo>
                    <a:lnTo>
                      <a:pt x="1804975" y="340122"/>
                    </a:lnTo>
                    <a:lnTo>
                      <a:pt x="1807828" y="336637"/>
                    </a:lnTo>
                    <a:lnTo>
                      <a:pt x="1811632" y="332520"/>
                    </a:lnTo>
                    <a:lnTo>
                      <a:pt x="2006902" y="137087"/>
                    </a:lnTo>
                    <a:lnTo>
                      <a:pt x="2011023" y="133603"/>
                    </a:lnTo>
                    <a:lnTo>
                      <a:pt x="2014827" y="130119"/>
                    </a:lnTo>
                    <a:lnTo>
                      <a:pt x="2019265" y="126634"/>
                    </a:lnTo>
                    <a:lnTo>
                      <a:pt x="2023703" y="123784"/>
                    </a:lnTo>
                    <a:lnTo>
                      <a:pt x="2028141" y="120933"/>
                    </a:lnTo>
                    <a:lnTo>
                      <a:pt x="2032896" y="118399"/>
                    </a:lnTo>
                    <a:lnTo>
                      <a:pt x="2037017" y="116182"/>
                    </a:lnTo>
                    <a:lnTo>
                      <a:pt x="2041772" y="113965"/>
                    </a:lnTo>
                    <a:lnTo>
                      <a:pt x="2046843" y="112064"/>
                    </a:lnTo>
                    <a:lnTo>
                      <a:pt x="2051598" y="110797"/>
                    </a:lnTo>
                    <a:lnTo>
                      <a:pt x="2056670" y="109213"/>
                    </a:lnTo>
                    <a:lnTo>
                      <a:pt x="2061425" y="108263"/>
                    </a:lnTo>
                    <a:lnTo>
                      <a:pt x="2066497" y="107313"/>
                    </a:lnTo>
                    <a:lnTo>
                      <a:pt x="2071569" y="106679"/>
                    </a:lnTo>
                    <a:lnTo>
                      <a:pt x="2076641" y="106363"/>
                    </a:lnTo>
                    <a:close/>
                    <a:moveTo>
                      <a:pt x="2213628" y="19050"/>
                    </a:moveTo>
                    <a:lnTo>
                      <a:pt x="2219371" y="19369"/>
                    </a:lnTo>
                    <a:lnTo>
                      <a:pt x="2225751" y="20007"/>
                    </a:lnTo>
                    <a:lnTo>
                      <a:pt x="2231493" y="21602"/>
                    </a:lnTo>
                    <a:lnTo>
                      <a:pt x="2237236" y="23516"/>
                    </a:lnTo>
                    <a:lnTo>
                      <a:pt x="2242978" y="26387"/>
                    </a:lnTo>
                    <a:lnTo>
                      <a:pt x="2248401" y="29258"/>
                    </a:lnTo>
                    <a:lnTo>
                      <a:pt x="2253506" y="33087"/>
                    </a:lnTo>
                    <a:lnTo>
                      <a:pt x="2258291" y="37234"/>
                    </a:lnTo>
                    <a:lnTo>
                      <a:pt x="2262757" y="42019"/>
                    </a:lnTo>
                    <a:lnTo>
                      <a:pt x="2266266" y="47123"/>
                    </a:lnTo>
                    <a:lnTo>
                      <a:pt x="2269457" y="52547"/>
                    </a:lnTo>
                    <a:lnTo>
                      <a:pt x="2272009" y="58608"/>
                    </a:lnTo>
                    <a:lnTo>
                      <a:pt x="2273923" y="64350"/>
                    </a:lnTo>
                    <a:lnTo>
                      <a:pt x="2275518" y="70412"/>
                    </a:lnTo>
                    <a:lnTo>
                      <a:pt x="2276475" y="76154"/>
                    </a:lnTo>
                    <a:lnTo>
                      <a:pt x="2276475" y="82216"/>
                    </a:lnTo>
                    <a:lnTo>
                      <a:pt x="2276475" y="88277"/>
                    </a:lnTo>
                    <a:lnTo>
                      <a:pt x="2275518" y="94338"/>
                    </a:lnTo>
                    <a:lnTo>
                      <a:pt x="2273923" y="100400"/>
                    </a:lnTo>
                    <a:lnTo>
                      <a:pt x="2272009" y="106142"/>
                    </a:lnTo>
                    <a:lnTo>
                      <a:pt x="2269457" y="111565"/>
                    </a:lnTo>
                    <a:lnTo>
                      <a:pt x="2266266" y="117308"/>
                    </a:lnTo>
                    <a:lnTo>
                      <a:pt x="2262757" y="122412"/>
                    </a:lnTo>
                    <a:lnTo>
                      <a:pt x="2258291" y="126878"/>
                    </a:lnTo>
                    <a:lnTo>
                      <a:pt x="2241064" y="144105"/>
                    </a:lnTo>
                    <a:lnTo>
                      <a:pt x="2236598" y="148253"/>
                    </a:lnTo>
                    <a:lnTo>
                      <a:pt x="2232769" y="150805"/>
                    </a:lnTo>
                    <a:lnTo>
                      <a:pt x="2230855" y="151443"/>
                    </a:lnTo>
                    <a:lnTo>
                      <a:pt x="2228941" y="152400"/>
                    </a:lnTo>
                    <a:lnTo>
                      <a:pt x="2227346" y="152400"/>
                    </a:lnTo>
                    <a:lnTo>
                      <a:pt x="2225751" y="152400"/>
                    </a:lnTo>
                    <a:lnTo>
                      <a:pt x="2224156" y="152081"/>
                    </a:lnTo>
                    <a:lnTo>
                      <a:pt x="2222880" y="151443"/>
                    </a:lnTo>
                    <a:lnTo>
                      <a:pt x="2220009" y="149848"/>
                    </a:lnTo>
                    <a:lnTo>
                      <a:pt x="2217456" y="147295"/>
                    </a:lnTo>
                    <a:lnTo>
                      <a:pt x="2214904" y="143786"/>
                    </a:lnTo>
                    <a:lnTo>
                      <a:pt x="2212352" y="140277"/>
                    </a:lnTo>
                    <a:lnTo>
                      <a:pt x="2209800" y="135811"/>
                    </a:lnTo>
                    <a:lnTo>
                      <a:pt x="2204058" y="126240"/>
                    </a:lnTo>
                    <a:lnTo>
                      <a:pt x="2201186" y="121455"/>
                    </a:lnTo>
                    <a:lnTo>
                      <a:pt x="2197358" y="116351"/>
                    </a:lnTo>
                    <a:lnTo>
                      <a:pt x="2193530" y="111246"/>
                    </a:lnTo>
                    <a:lnTo>
                      <a:pt x="2189064" y="106461"/>
                    </a:lnTo>
                    <a:lnTo>
                      <a:pt x="2184278" y="101995"/>
                    </a:lnTo>
                    <a:lnTo>
                      <a:pt x="2179493" y="98167"/>
                    </a:lnTo>
                    <a:lnTo>
                      <a:pt x="2174389" y="94657"/>
                    </a:lnTo>
                    <a:lnTo>
                      <a:pt x="2169285" y="91467"/>
                    </a:lnTo>
                    <a:lnTo>
                      <a:pt x="2159714" y="85725"/>
                    </a:lnTo>
                    <a:lnTo>
                      <a:pt x="2155248" y="83173"/>
                    </a:lnTo>
                    <a:lnTo>
                      <a:pt x="2151739" y="80620"/>
                    </a:lnTo>
                    <a:lnTo>
                      <a:pt x="2148229" y="78068"/>
                    </a:lnTo>
                    <a:lnTo>
                      <a:pt x="2145677" y="75516"/>
                    </a:lnTo>
                    <a:lnTo>
                      <a:pt x="2144082" y="72964"/>
                    </a:lnTo>
                    <a:lnTo>
                      <a:pt x="2143763" y="71369"/>
                    </a:lnTo>
                    <a:lnTo>
                      <a:pt x="2143125" y="69774"/>
                    </a:lnTo>
                    <a:lnTo>
                      <a:pt x="2143125" y="68179"/>
                    </a:lnTo>
                    <a:lnTo>
                      <a:pt x="2143763" y="66584"/>
                    </a:lnTo>
                    <a:lnTo>
                      <a:pt x="2144082" y="64669"/>
                    </a:lnTo>
                    <a:lnTo>
                      <a:pt x="2144720" y="63074"/>
                    </a:lnTo>
                    <a:lnTo>
                      <a:pt x="2147591" y="59246"/>
                    </a:lnTo>
                    <a:lnTo>
                      <a:pt x="2151419" y="54780"/>
                    </a:lnTo>
                    <a:lnTo>
                      <a:pt x="2168647" y="37234"/>
                    </a:lnTo>
                    <a:lnTo>
                      <a:pt x="2173751" y="33087"/>
                    </a:lnTo>
                    <a:lnTo>
                      <a:pt x="2178855" y="29258"/>
                    </a:lnTo>
                    <a:lnTo>
                      <a:pt x="2183959" y="26387"/>
                    </a:lnTo>
                    <a:lnTo>
                      <a:pt x="2189702" y="23516"/>
                    </a:lnTo>
                    <a:lnTo>
                      <a:pt x="2195125" y="21602"/>
                    </a:lnTo>
                    <a:lnTo>
                      <a:pt x="2201506" y="20007"/>
                    </a:lnTo>
                    <a:lnTo>
                      <a:pt x="2207248" y="19369"/>
                    </a:lnTo>
                    <a:lnTo>
                      <a:pt x="2213628" y="19050"/>
                    </a:lnTo>
                    <a:close/>
                    <a:moveTo>
                      <a:pt x="1985550" y="0"/>
                    </a:moveTo>
                    <a:lnTo>
                      <a:pt x="1989686" y="0"/>
                    </a:lnTo>
                    <a:lnTo>
                      <a:pt x="1993822" y="0"/>
                    </a:lnTo>
                    <a:lnTo>
                      <a:pt x="1997640" y="634"/>
                    </a:lnTo>
                    <a:lnTo>
                      <a:pt x="2001776" y="1903"/>
                    </a:lnTo>
                    <a:lnTo>
                      <a:pt x="2005594" y="2855"/>
                    </a:lnTo>
                    <a:lnTo>
                      <a:pt x="2009411" y="4759"/>
                    </a:lnTo>
                    <a:lnTo>
                      <a:pt x="2012911" y="6980"/>
                    </a:lnTo>
                    <a:lnTo>
                      <a:pt x="2016411" y="9518"/>
                    </a:lnTo>
                    <a:lnTo>
                      <a:pt x="2019592" y="12374"/>
                    </a:lnTo>
                    <a:lnTo>
                      <a:pt x="2022456" y="15229"/>
                    </a:lnTo>
                    <a:lnTo>
                      <a:pt x="2025001" y="19037"/>
                    </a:lnTo>
                    <a:lnTo>
                      <a:pt x="2026910" y="22210"/>
                    </a:lnTo>
                    <a:lnTo>
                      <a:pt x="2028819" y="26334"/>
                    </a:lnTo>
                    <a:lnTo>
                      <a:pt x="2030091" y="29824"/>
                    </a:lnTo>
                    <a:lnTo>
                      <a:pt x="2031364" y="33949"/>
                    </a:lnTo>
                    <a:lnTo>
                      <a:pt x="2031682" y="37757"/>
                    </a:lnTo>
                    <a:lnTo>
                      <a:pt x="2032000" y="41881"/>
                    </a:lnTo>
                    <a:lnTo>
                      <a:pt x="2031682" y="46006"/>
                    </a:lnTo>
                    <a:lnTo>
                      <a:pt x="2031046" y="49813"/>
                    </a:lnTo>
                    <a:lnTo>
                      <a:pt x="2030091" y="53938"/>
                    </a:lnTo>
                    <a:lnTo>
                      <a:pt x="2028819" y="57745"/>
                    </a:lnTo>
                    <a:lnTo>
                      <a:pt x="2026910" y="61553"/>
                    </a:lnTo>
                    <a:lnTo>
                      <a:pt x="2025001" y="65043"/>
                    </a:lnTo>
                    <a:lnTo>
                      <a:pt x="2022456" y="68533"/>
                    </a:lnTo>
                    <a:lnTo>
                      <a:pt x="2019592" y="71706"/>
                    </a:lnTo>
                    <a:lnTo>
                      <a:pt x="1637177" y="453081"/>
                    </a:lnTo>
                    <a:lnTo>
                      <a:pt x="1633995" y="455937"/>
                    </a:lnTo>
                    <a:lnTo>
                      <a:pt x="1630814" y="458158"/>
                    </a:lnTo>
                    <a:lnTo>
                      <a:pt x="1626996" y="460379"/>
                    </a:lnTo>
                    <a:lnTo>
                      <a:pt x="1623496" y="462283"/>
                    </a:lnTo>
                    <a:lnTo>
                      <a:pt x="1619360" y="463552"/>
                    </a:lnTo>
                    <a:lnTo>
                      <a:pt x="1615224" y="464186"/>
                    </a:lnTo>
                    <a:lnTo>
                      <a:pt x="1611407" y="465138"/>
                    </a:lnTo>
                    <a:lnTo>
                      <a:pt x="1607271" y="465138"/>
                    </a:lnTo>
                    <a:lnTo>
                      <a:pt x="1603135" y="465138"/>
                    </a:lnTo>
                    <a:lnTo>
                      <a:pt x="1599317" y="464186"/>
                    </a:lnTo>
                    <a:lnTo>
                      <a:pt x="1595181" y="463552"/>
                    </a:lnTo>
                    <a:lnTo>
                      <a:pt x="1591681" y="462283"/>
                    </a:lnTo>
                    <a:lnTo>
                      <a:pt x="1587864" y="460379"/>
                    </a:lnTo>
                    <a:lnTo>
                      <a:pt x="1584364" y="458158"/>
                    </a:lnTo>
                    <a:lnTo>
                      <a:pt x="1580864" y="455937"/>
                    </a:lnTo>
                    <a:lnTo>
                      <a:pt x="1577683" y="453081"/>
                    </a:lnTo>
                    <a:lnTo>
                      <a:pt x="1574819" y="449591"/>
                    </a:lnTo>
                    <a:lnTo>
                      <a:pt x="1572274" y="446418"/>
                    </a:lnTo>
                    <a:lnTo>
                      <a:pt x="1570047" y="442928"/>
                    </a:lnTo>
                    <a:lnTo>
                      <a:pt x="1568138" y="439121"/>
                    </a:lnTo>
                    <a:lnTo>
                      <a:pt x="1567184" y="435314"/>
                    </a:lnTo>
                    <a:lnTo>
                      <a:pt x="1565911" y="431189"/>
                    </a:lnTo>
                    <a:lnTo>
                      <a:pt x="1565275" y="427381"/>
                    </a:lnTo>
                    <a:lnTo>
                      <a:pt x="1565275" y="423257"/>
                    </a:lnTo>
                    <a:lnTo>
                      <a:pt x="1565275" y="419132"/>
                    </a:lnTo>
                    <a:lnTo>
                      <a:pt x="1565911" y="415007"/>
                    </a:lnTo>
                    <a:lnTo>
                      <a:pt x="1567184" y="411517"/>
                    </a:lnTo>
                    <a:lnTo>
                      <a:pt x="1568138" y="407393"/>
                    </a:lnTo>
                    <a:lnTo>
                      <a:pt x="1570047" y="403902"/>
                    </a:lnTo>
                    <a:lnTo>
                      <a:pt x="1572274" y="400095"/>
                    </a:lnTo>
                    <a:lnTo>
                      <a:pt x="1574819" y="396922"/>
                    </a:lnTo>
                    <a:lnTo>
                      <a:pt x="1577683" y="393749"/>
                    </a:lnTo>
                    <a:lnTo>
                      <a:pt x="1960098" y="12374"/>
                    </a:lnTo>
                    <a:lnTo>
                      <a:pt x="1962962" y="9518"/>
                    </a:lnTo>
                    <a:lnTo>
                      <a:pt x="1966779" y="6980"/>
                    </a:lnTo>
                    <a:lnTo>
                      <a:pt x="1970279" y="4759"/>
                    </a:lnTo>
                    <a:lnTo>
                      <a:pt x="1974097" y="2855"/>
                    </a:lnTo>
                    <a:lnTo>
                      <a:pt x="1977596" y="1903"/>
                    </a:lnTo>
                    <a:lnTo>
                      <a:pt x="1981732" y="634"/>
                    </a:lnTo>
                    <a:lnTo>
                      <a:pt x="198555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>
                <a:scene3d>
                  <a:camera prst="orthographicFront"/>
                  <a:lightRig rig="threePt" dir="t"/>
                </a:scene3d>
                <a:sp3d contourW="12700">
                  <a:contourClr>
                    <a:srgbClr val="FFFFFF"/>
                  </a:contourClr>
                </a:sp3d>
              </a:bodyPr>
              <a:lstStyle/>
              <a:p>
                <a:pPr algn="ctr">
                  <a:defRPr/>
                </a:pPr>
                <a:endParaRPr lang="zh-CN" altLang="en-US" sz="3600" dirty="0">
                  <a:solidFill>
                    <a:srgbClr val="FFFFFF"/>
                  </a:solidFill>
                  <a:ea typeface="微软雅黑" pitchFamily="34" charset="-122"/>
                </a:endParaRPr>
              </a:p>
            </p:txBody>
          </p:sp>
        </p:grpSp>
        <p:sp>
          <p:nvSpPr>
            <p:cNvPr id="6" name="TextBox 6"/>
            <p:cNvSpPr txBox="1">
              <a:spLocks noChangeArrowheads="1"/>
            </p:cNvSpPr>
            <p:nvPr/>
          </p:nvSpPr>
          <p:spPr bwMode="auto">
            <a:xfrm>
              <a:off x="1520154" y="5062184"/>
              <a:ext cx="3507240" cy="646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17" tIns="45708" rIns="91417" bIns="45708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marL="0" lvl="1" algn="ctr"/>
              <a:r>
                <a:rPr lang="en-US" altLang="zh-CN" sz="3600" b="1" dirty="0">
                  <a:latin typeface="Times New Roman" pitchFamily="18" charset="0"/>
                  <a:ea typeface="黑体" pitchFamily="49" charset="-122"/>
                </a:rPr>
                <a:t>10.5  </a:t>
              </a:r>
              <a:r>
                <a:rPr lang="zh-CN" altLang="en-US" sz="3600" b="1" dirty="0">
                  <a:latin typeface="Times New Roman" pitchFamily="18" charset="0"/>
                  <a:ea typeface="黑体" pitchFamily="49" charset="-122"/>
                </a:rPr>
                <a:t>本章小结</a:t>
              </a: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927100" y="1114100"/>
            <a:ext cx="2378140" cy="668910"/>
            <a:chOff x="927100" y="1197990"/>
            <a:chExt cx="2378140" cy="668910"/>
          </a:xfrm>
        </p:grpSpPr>
        <p:sp>
          <p:nvSpPr>
            <p:cNvPr id="10" name="矩形 9"/>
            <p:cNvSpPr/>
            <p:nvPr/>
          </p:nvSpPr>
          <p:spPr>
            <a:xfrm>
              <a:off x="1472687" y="1197990"/>
              <a:ext cx="1832553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buClr>
                  <a:srgbClr val="FF0000"/>
                </a:buClr>
              </a:pPr>
              <a:r>
                <a:rPr lang="zh-CN" altLang="en-US" sz="3200" b="1" dirty="0">
                  <a:latin typeface="Verdana" pitchFamily="34" charset="0"/>
                  <a:ea typeface="黑体" pitchFamily="49" charset="-122"/>
                </a:rPr>
                <a:t>内容回顾</a:t>
              </a:r>
            </a:p>
          </p:txBody>
        </p:sp>
        <p:grpSp>
          <p:nvGrpSpPr>
            <p:cNvPr id="11" name="组合 99"/>
            <p:cNvGrpSpPr/>
            <p:nvPr/>
          </p:nvGrpSpPr>
          <p:grpSpPr>
            <a:xfrm>
              <a:off x="927100" y="1214339"/>
              <a:ext cx="643729" cy="652561"/>
              <a:chOff x="5547069" y="765931"/>
              <a:chExt cx="1482696" cy="1322356"/>
            </a:xfrm>
          </p:grpSpPr>
          <p:grpSp>
            <p:nvGrpSpPr>
              <p:cNvPr id="12" name="组合 38"/>
              <p:cNvGrpSpPr/>
              <p:nvPr/>
            </p:nvGrpSpPr>
            <p:grpSpPr>
              <a:xfrm>
                <a:off x="5547069" y="765931"/>
                <a:ext cx="1482696" cy="1322356"/>
                <a:chOff x="3337529" y="1161598"/>
                <a:chExt cx="2138277" cy="1907040"/>
              </a:xfrm>
            </p:grpSpPr>
            <p:sp>
              <p:nvSpPr>
                <p:cNvPr id="16" name="任意多边形 15"/>
                <p:cNvSpPr>
                  <a:spLocks/>
                </p:cNvSpPr>
                <p:nvPr/>
              </p:nvSpPr>
              <p:spPr bwMode="auto">
                <a:xfrm rot="10800000">
                  <a:off x="3342359" y="1161598"/>
                  <a:ext cx="2123116" cy="1895135"/>
                </a:xfrm>
                <a:custGeom>
                  <a:avLst/>
                  <a:gdLst>
                    <a:gd name="connsiteX0" fmla="*/ 1795626 w 2791387"/>
                    <a:gd name="connsiteY0" fmla="*/ 2117139 h 2491648"/>
                    <a:gd name="connsiteX1" fmla="*/ 1950063 w 2791387"/>
                    <a:gd name="connsiteY1" fmla="*/ 2028434 h 2491648"/>
                    <a:gd name="connsiteX2" fmla="*/ 2350454 w 2791387"/>
                    <a:gd name="connsiteY2" fmla="*/ 1334530 h 2491648"/>
                    <a:gd name="connsiteX3" fmla="*/ 2350454 w 2791387"/>
                    <a:gd name="connsiteY3" fmla="*/ 1157119 h 2491648"/>
                    <a:gd name="connsiteX4" fmla="*/ 1950063 w 2791387"/>
                    <a:gd name="connsiteY4" fmla="*/ 463215 h 2491648"/>
                    <a:gd name="connsiteX5" fmla="*/ 1795626 w 2791387"/>
                    <a:gd name="connsiteY5" fmla="*/ 374509 h 2491648"/>
                    <a:gd name="connsiteX6" fmla="*/ 994844 w 2791387"/>
                    <a:gd name="connsiteY6" fmla="*/ 374509 h 2491648"/>
                    <a:gd name="connsiteX7" fmla="*/ 840408 w 2791387"/>
                    <a:gd name="connsiteY7" fmla="*/ 463215 h 2491648"/>
                    <a:gd name="connsiteX8" fmla="*/ 440017 w 2791387"/>
                    <a:gd name="connsiteY8" fmla="*/ 1157119 h 2491648"/>
                    <a:gd name="connsiteX9" fmla="*/ 440017 w 2791387"/>
                    <a:gd name="connsiteY9" fmla="*/ 1334530 h 2491648"/>
                    <a:gd name="connsiteX10" fmla="*/ 840408 w 2791387"/>
                    <a:gd name="connsiteY10" fmla="*/ 2028434 h 2491648"/>
                    <a:gd name="connsiteX11" fmla="*/ 994844 w 2791387"/>
                    <a:gd name="connsiteY11" fmla="*/ 2117139 h 2491648"/>
                    <a:gd name="connsiteX12" fmla="*/ 1967414 w 2791387"/>
                    <a:gd name="connsiteY12" fmla="*/ 2491648 h 2491648"/>
                    <a:gd name="connsiteX13" fmla="*/ 822440 w 2791387"/>
                    <a:gd name="connsiteY13" fmla="*/ 2491648 h 2491648"/>
                    <a:gd name="connsiteX14" fmla="*/ 601623 w 2791387"/>
                    <a:gd name="connsiteY14" fmla="*/ 2364815 h 2491648"/>
                    <a:gd name="connsiteX15" fmla="*/ 29136 w 2791387"/>
                    <a:gd name="connsiteY15" fmla="*/ 1372657 h 2491648"/>
                    <a:gd name="connsiteX16" fmla="*/ 29136 w 2791387"/>
                    <a:gd name="connsiteY16" fmla="*/ 1118992 h 2491648"/>
                    <a:gd name="connsiteX17" fmla="*/ 601623 w 2791387"/>
                    <a:gd name="connsiteY17" fmla="*/ 126833 h 2491648"/>
                    <a:gd name="connsiteX18" fmla="*/ 822440 w 2791387"/>
                    <a:gd name="connsiteY18" fmla="*/ 0 h 2491648"/>
                    <a:gd name="connsiteX19" fmla="*/ 1967414 w 2791387"/>
                    <a:gd name="connsiteY19" fmla="*/ 0 h 2491648"/>
                    <a:gd name="connsiteX20" fmla="*/ 2188231 w 2791387"/>
                    <a:gd name="connsiteY20" fmla="*/ 126833 h 2491648"/>
                    <a:gd name="connsiteX21" fmla="*/ 2760718 w 2791387"/>
                    <a:gd name="connsiteY21" fmla="*/ 1118992 h 2491648"/>
                    <a:gd name="connsiteX22" fmla="*/ 2760718 w 2791387"/>
                    <a:gd name="connsiteY22" fmla="*/ 1372657 h 2491648"/>
                    <a:gd name="connsiteX23" fmla="*/ 2188231 w 2791387"/>
                    <a:gd name="connsiteY23" fmla="*/ 2364815 h 2491648"/>
                    <a:gd name="connsiteX24" fmla="*/ 1967414 w 2791387"/>
                    <a:gd name="connsiteY24" fmla="*/ 2491648 h 2491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2791387" h="2491648">
                      <a:moveTo>
                        <a:pt x="1795626" y="2117139"/>
                      </a:moveTo>
                      <a:cubicBezTo>
                        <a:pt x="1852825" y="2117139"/>
                        <a:pt x="1921463" y="2077079"/>
                        <a:pt x="1950063" y="2028434"/>
                      </a:cubicBezTo>
                      <a:cubicBezTo>
                        <a:pt x="1950063" y="2028434"/>
                        <a:pt x="1950063" y="2028434"/>
                        <a:pt x="2350454" y="1334530"/>
                      </a:cubicBezTo>
                      <a:cubicBezTo>
                        <a:pt x="2379053" y="1285885"/>
                        <a:pt x="2379053" y="1205764"/>
                        <a:pt x="2350454" y="1157119"/>
                      </a:cubicBezTo>
                      <a:cubicBezTo>
                        <a:pt x="2350454" y="1157119"/>
                        <a:pt x="2350454" y="1157119"/>
                        <a:pt x="1950063" y="463215"/>
                      </a:cubicBezTo>
                      <a:cubicBezTo>
                        <a:pt x="1921463" y="414570"/>
                        <a:pt x="1852825" y="374509"/>
                        <a:pt x="1795626" y="374509"/>
                      </a:cubicBezTo>
                      <a:cubicBezTo>
                        <a:pt x="1795626" y="374509"/>
                        <a:pt x="1795626" y="374509"/>
                        <a:pt x="994844" y="374509"/>
                      </a:cubicBezTo>
                      <a:cubicBezTo>
                        <a:pt x="939075" y="374509"/>
                        <a:pt x="869007" y="414570"/>
                        <a:pt x="840408" y="463215"/>
                      </a:cubicBezTo>
                      <a:cubicBezTo>
                        <a:pt x="840408" y="463215"/>
                        <a:pt x="840408" y="463215"/>
                        <a:pt x="440017" y="1157119"/>
                      </a:cubicBezTo>
                      <a:cubicBezTo>
                        <a:pt x="412847" y="1205764"/>
                        <a:pt x="412847" y="1285885"/>
                        <a:pt x="440017" y="1334530"/>
                      </a:cubicBezTo>
                      <a:cubicBezTo>
                        <a:pt x="440017" y="1334530"/>
                        <a:pt x="440017" y="1334530"/>
                        <a:pt x="840408" y="2028434"/>
                      </a:cubicBezTo>
                      <a:cubicBezTo>
                        <a:pt x="869007" y="2077079"/>
                        <a:pt x="939075" y="2117139"/>
                        <a:pt x="994844" y="2117139"/>
                      </a:cubicBezTo>
                      <a:close/>
                      <a:moveTo>
                        <a:pt x="1967414" y="2491648"/>
                      </a:moveTo>
                      <a:lnTo>
                        <a:pt x="822440" y="2491648"/>
                      </a:lnTo>
                      <a:cubicBezTo>
                        <a:pt x="742700" y="2491648"/>
                        <a:pt x="642515" y="2434369"/>
                        <a:pt x="601623" y="2364815"/>
                      </a:cubicBezTo>
                      <a:cubicBezTo>
                        <a:pt x="29136" y="1372657"/>
                        <a:pt x="29136" y="1372657"/>
                        <a:pt x="29136" y="1372657"/>
                      </a:cubicBezTo>
                      <a:cubicBezTo>
                        <a:pt x="-9712" y="1303103"/>
                        <a:pt x="-9712" y="1188545"/>
                        <a:pt x="29136" y="1118992"/>
                      </a:cubicBezTo>
                      <a:cubicBezTo>
                        <a:pt x="601623" y="126833"/>
                        <a:pt x="601623" y="126833"/>
                        <a:pt x="601623" y="126833"/>
                      </a:cubicBezTo>
                      <a:cubicBezTo>
                        <a:pt x="642515" y="57280"/>
                        <a:pt x="742700" y="0"/>
                        <a:pt x="822440" y="0"/>
                      </a:cubicBezTo>
                      <a:cubicBezTo>
                        <a:pt x="1967414" y="0"/>
                        <a:pt x="1967414" y="0"/>
                        <a:pt x="1967414" y="0"/>
                      </a:cubicBezTo>
                      <a:cubicBezTo>
                        <a:pt x="2049198" y="0"/>
                        <a:pt x="2147339" y="57280"/>
                        <a:pt x="2188231" y="126833"/>
                      </a:cubicBezTo>
                      <a:cubicBezTo>
                        <a:pt x="2760718" y="1118992"/>
                        <a:pt x="2760718" y="1118992"/>
                        <a:pt x="2760718" y="1118992"/>
                      </a:cubicBezTo>
                      <a:cubicBezTo>
                        <a:pt x="2801610" y="1188545"/>
                        <a:pt x="2801610" y="1303103"/>
                        <a:pt x="2760718" y="1372657"/>
                      </a:cubicBezTo>
                      <a:cubicBezTo>
                        <a:pt x="2188231" y="2364815"/>
                        <a:pt x="2188231" y="2364815"/>
                        <a:pt x="2188231" y="2364815"/>
                      </a:cubicBezTo>
                      <a:cubicBezTo>
                        <a:pt x="2147339" y="2434369"/>
                        <a:pt x="2049198" y="2491648"/>
                        <a:pt x="1967414" y="2491648"/>
                      </a:cubicBezTo>
                      <a:close/>
                    </a:path>
                  </a:pathLst>
                </a:custGeom>
                <a:solidFill>
                  <a:srgbClr val="00AF92"/>
                </a:solidFill>
                <a:ln w="19050">
                  <a:noFill/>
                </a:ln>
                <a:effectLst>
                  <a:innerShdw blurRad="63500" dist="63500" dir="2700000">
                    <a:prstClr val="black">
                      <a:alpha val="50000"/>
                    </a:prstClr>
                  </a:innerShdw>
                </a:effec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 sz="1013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7" name="Freeform 5"/>
                <p:cNvSpPr>
                  <a:spLocks/>
                </p:cNvSpPr>
                <p:nvPr/>
              </p:nvSpPr>
              <p:spPr bwMode="auto">
                <a:xfrm rot="10800000">
                  <a:off x="3337529" y="1173504"/>
                  <a:ext cx="2138277" cy="1895134"/>
                </a:xfrm>
                <a:custGeom>
                  <a:avLst/>
                  <a:gdLst>
                    <a:gd name="T0" fmla="*/ 407 w 1375"/>
                    <a:gd name="T1" fmla="*/ 1218 h 1218"/>
                    <a:gd name="T2" fmla="*/ 299 w 1375"/>
                    <a:gd name="T3" fmla="*/ 1156 h 1218"/>
                    <a:gd name="T4" fmla="*/ 19 w 1375"/>
                    <a:gd name="T5" fmla="*/ 671 h 1218"/>
                    <a:gd name="T6" fmla="*/ 19 w 1375"/>
                    <a:gd name="T7" fmla="*/ 547 h 1218"/>
                    <a:gd name="T8" fmla="*/ 299 w 1375"/>
                    <a:gd name="T9" fmla="*/ 62 h 1218"/>
                    <a:gd name="T10" fmla="*/ 407 w 1375"/>
                    <a:gd name="T11" fmla="*/ 0 h 1218"/>
                    <a:gd name="T12" fmla="*/ 967 w 1375"/>
                    <a:gd name="T13" fmla="*/ 0 h 1218"/>
                    <a:gd name="T14" fmla="*/ 1075 w 1375"/>
                    <a:gd name="T15" fmla="*/ 62 h 1218"/>
                    <a:gd name="T16" fmla="*/ 1355 w 1375"/>
                    <a:gd name="T17" fmla="*/ 547 h 1218"/>
                    <a:gd name="T18" fmla="*/ 1355 w 1375"/>
                    <a:gd name="T19" fmla="*/ 671 h 1218"/>
                    <a:gd name="T20" fmla="*/ 1075 w 1375"/>
                    <a:gd name="T21" fmla="*/ 1156 h 1218"/>
                    <a:gd name="T22" fmla="*/ 967 w 1375"/>
                    <a:gd name="T23" fmla="*/ 1218 h 1218"/>
                    <a:gd name="T24" fmla="*/ 407 w 1375"/>
                    <a:gd name="T25" fmla="*/ 1218 h 12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375" h="1218">
                      <a:moveTo>
                        <a:pt x="407" y="1218"/>
                      </a:moveTo>
                      <a:cubicBezTo>
                        <a:pt x="368" y="1218"/>
                        <a:pt x="319" y="1190"/>
                        <a:pt x="299" y="1156"/>
                      </a:cubicBezTo>
                      <a:cubicBezTo>
                        <a:pt x="19" y="671"/>
                        <a:pt x="19" y="671"/>
                        <a:pt x="19" y="671"/>
                      </a:cubicBezTo>
                      <a:cubicBezTo>
                        <a:pt x="0" y="637"/>
                        <a:pt x="0" y="581"/>
                        <a:pt x="19" y="547"/>
                      </a:cubicBezTo>
                      <a:cubicBezTo>
                        <a:pt x="299" y="62"/>
                        <a:pt x="299" y="62"/>
                        <a:pt x="299" y="62"/>
                      </a:cubicBezTo>
                      <a:cubicBezTo>
                        <a:pt x="319" y="28"/>
                        <a:pt x="368" y="0"/>
                        <a:pt x="407" y="0"/>
                      </a:cubicBezTo>
                      <a:cubicBezTo>
                        <a:pt x="967" y="0"/>
                        <a:pt x="967" y="0"/>
                        <a:pt x="967" y="0"/>
                      </a:cubicBezTo>
                      <a:cubicBezTo>
                        <a:pt x="1007" y="0"/>
                        <a:pt x="1055" y="28"/>
                        <a:pt x="1075" y="62"/>
                      </a:cubicBezTo>
                      <a:cubicBezTo>
                        <a:pt x="1355" y="547"/>
                        <a:pt x="1355" y="547"/>
                        <a:pt x="1355" y="547"/>
                      </a:cubicBezTo>
                      <a:cubicBezTo>
                        <a:pt x="1375" y="581"/>
                        <a:pt x="1375" y="637"/>
                        <a:pt x="1355" y="671"/>
                      </a:cubicBezTo>
                      <a:cubicBezTo>
                        <a:pt x="1075" y="1156"/>
                        <a:pt x="1075" y="1156"/>
                        <a:pt x="1075" y="1156"/>
                      </a:cubicBezTo>
                      <a:cubicBezTo>
                        <a:pt x="1055" y="1190"/>
                        <a:pt x="1007" y="1218"/>
                        <a:pt x="967" y="1218"/>
                      </a:cubicBezTo>
                      <a:lnTo>
                        <a:pt x="407" y="1218"/>
                      </a:lnTo>
                      <a:close/>
                    </a:path>
                  </a:pathLst>
                </a:custGeom>
                <a:solidFill>
                  <a:schemeClr val="bg1">
                    <a:alpha val="0"/>
                  </a:schemeClr>
                </a:solidFill>
                <a:ln w="38100">
                  <a:gradFill flip="none" rotWithShape="1">
                    <a:gsLst>
                      <a:gs pos="0">
                        <a:schemeClr val="bg1"/>
                      </a:gs>
                      <a:gs pos="100000">
                        <a:srgbClr val="B4B4B4"/>
                      </a:gs>
                    </a:gsLst>
                    <a:lin ang="2700000" scaled="1"/>
                    <a:tileRect/>
                  </a:gradFill>
                </a:ln>
                <a:effectLst/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013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8" name="Freeform 5"/>
                <p:cNvSpPr>
                  <a:spLocks/>
                </p:cNvSpPr>
                <p:nvPr/>
              </p:nvSpPr>
              <p:spPr bwMode="auto">
                <a:xfrm rot="10800000">
                  <a:off x="3656172" y="1456206"/>
                  <a:ext cx="1495486" cy="1325435"/>
                </a:xfrm>
                <a:custGeom>
                  <a:avLst/>
                  <a:gdLst>
                    <a:gd name="T0" fmla="*/ 407 w 1375"/>
                    <a:gd name="T1" fmla="*/ 1218 h 1218"/>
                    <a:gd name="T2" fmla="*/ 299 w 1375"/>
                    <a:gd name="T3" fmla="*/ 1156 h 1218"/>
                    <a:gd name="T4" fmla="*/ 19 w 1375"/>
                    <a:gd name="T5" fmla="*/ 671 h 1218"/>
                    <a:gd name="T6" fmla="*/ 19 w 1375"/>
                    <a:gd name="T7" fmla="*/ 547 h 1218"/>
                    <a:gd name="T8" fmla="*/ 299 w 1375"/>
                    <a:gd name="T9" fmla="*/ 62 h 1218"/>
                    <a:gd name="T10" fmla="*/ 407 w 1375"/>
                    <a:gd name="T11" fmla="*/ 0 h 1218"/>
                    <a:gd name="T12" fmla="*/ 967 w 1375"/>
                    <a:gd name="T13" fmla="*/ 0 h 1218"/>
                    <a:gd name="T14" fmla="*/ 1075 w 1375"/>
                    <a:gd name="T15" fmla="*/ 62 h 1218"/>
                    <a:gd name="T16" fmla="*/ 1355 w 1375"/>
                    <a:gd name="T17" fmla="*/ 547 h 1218"/>
                    <a:gd name="T18" fmla="*/ 1355 w 1375"/>
                    <a:gd name="T19" fmla="*/ 671 h 1218"/>
                    <a:gd name="T20" fmla="*/ 1075 w 1375"/>
                    <a:gd name="T21" fmla="*/ 1156 h 1218"/>
                    <a:gd name="T22" fmla="*/ 967 w 1375"/>
                    <a:gd name="T23" fmla="*/ 1218 h 1218"/>
                    <a:gd name="T24" fmla="*/ 407 w 1375"/>
                    <a:gd name="T25" fmla="*/ 1218 h 12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375" h="1218">
                      <a:moveTo>
                        <a:pt x="407" y="1218"/>
                      </a:moveTo>
                      <a:cubicBezTo>
                        <a:pt x="368" y="1218"/>
                        <a:pt x="319" y="1190"/>
                        <a:pt x="299" y="1156"/>
                      </a:cubicBezTo>
                      <a:cubicBezTo>
                        <a:pt x="19" y="671"/>
                        <a:pt x="19" y="671"/>
                        <a:pt x="19" y="671"/>
                      </a:cubicBezTo>
                      <a:cubicBezTo>
                        <a:pt x="0" y="637"/>
                        <a:pt x="0" y="581"/>
                        <a:pt x="19" y="547"/>
                      </a:cubicBezTo>
                      <a:cubicBezTo>
                        <a:pt x="299" y="62"/>
                        <a:pt x="299" y="62"/>
                        <a:pt x="299" y="62"/>
                      </a:cubicBezTo>
                      <a:cubicBezTo>
                        <a:pt x="319" y="28"/>
                        <a:pt x="368" y="0"/>
                        <a:pt x="407" y="0"/>
                      </a:cubicBezTo>
                      <a:cubicBezTo>
                        <a:pt x="967" y="0"/>
                        <a:pt x="967" y="0"/>
                        <a:pt x="967" y="0"/>
                      </a:cubicBezTo>
                      <a:cubicBezTo>
                        <a:pt x="1007" y="0"/>
                        <a:pt x="1055" y="28"/>
                        <a:pt x="1075" y="62"/>
                      </a:cubicBezTo>
                      <a:cubicBezTo>
                        <a:pt x="1355" y="547"/>
                        <a:pt x="1355" y="547"/>
                        <a:pt x="1355" y="547"/>
                      </a:cubicBezTo>
                      <a:cubicBezTo>
                        <a:pt x="1375" y="581"/>
                        <a:pt x="1375" y="637"/>
                        <a:pt x="1355" y="671"/>
                      </a:cubicBezTo>
                      <a:cubicBezTo>
                        <a:pt x="1075" y="1156"/>
                        <a:pt x="1075" y="1156"/>
                        <a:pt x="1075" y="1156"/>
                      </a:cubicBezTo>
                      <a:cubicBezTo>
                        <a:pt x="1055" y="1190"/>
                        <a:pt x="1007" y="1218"/>
                        <a:pt x="967" y="1218"/>
                      </a:cubicBezTo>
                      <a:lnTo>
                        <a:pt x="407" y="1218"/>
                      </a:lnTo>
                      <a:close/>
                    </a:path>
                  </a:pathLst>
                </a:custGeom>
                <a:solidFill>
                  <a:schemeClr val="bg1">
                    <a:alpha val="0"/>
                  </a:schemeClr>
                </a:solidFill>
                <a:ln w="38100">
                  <a:gradFill flip="none" rotWithShape="1">
                    <a:gsLst>
                      <a:gs pos="100000">
                        <a:schemeClr val="bg1"/>
                      </a:gs>
                      <a:gs pos="0">
                        <a:schemeClr val="bg1">
                          <a:lumMod val="75000"/>
                        </a:schemeClr>
                      </a:gs>
                    </a:gsLst>
                    <a:lin ang="2700000" scaled="1"/>
                    <a:tileRect/>
                  </a:gradFill>
                </a:ln>
                <a:effectLst/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013">
                    <a:solidFill>
                      <a:prstClr val="black"/>
                    </a:solidFill>
                  </a:endParaRPr>
                </a:p>
              </p:txBody>
            </p:sp>
          </p:grpSp>
          <p:grpSp>
            <p:nvGrpSpPr>
              <p:cNvPr id="13" name="Group 17"/>
              <p:cNvGrpSpPr>
                <a:grpSpLocks noChangeAspect="1"/>
              </p:cNvGrpSpPr>
              <p:nvPr/>
            </p:nvGrpSpPr>
            <p:grpSpPr bwMode="auto">
              <a:xfrm>
                <a:off x="6087464" y="1170184"/>
                <a:ext cx="457188" cy="490764"/>
                <a:chOff x="231" y="1205"/>
                <a:chExt cx="640" cy="687"/>
              </a:xfrm>
              <a:solidFill>
                <a:srgbClr val="00AF92"/>
              </a:solidFill>
            </p:grpSpPr>
            <p:sp>
              <p:nvSpPr>
                <p:cNvPr id="14" name="Freeform 18"/>
                <p:cNvSpPr>
                  <a:spLocks/>
                </p:cNvSpPr>
                <p:nvPr/>
              </p:nvSpPr>
              <p:spPr bwMode="auto">
                <a:xfrm>
                  <a:off x="231" y="1205"/>
                  <a:ext cx="499" cy="687"/>
                </a:xfrm>
                <a:custGeom>
                  <a:avLst/>
                  <a:gdLst>
                    <a:gd name="T0" fmla="*/ 442 w 499"/>
                    <a:gd name="T1" fmla="*/ 629 h 687"/>
                    <a:gd name="T2" fmla="*/ 57 w 499"/>
                    <a:gd name="T3" fmla="*/ 629 h 687"/>
                    <a:gd name="T4" fmla="*/ 57 w 499"/>
                    <a:gd name="T5" fmla="*/ 200 h 687"/>
                    <a:gd name="T6" fmla="*/ 200 w 499"/>
                    <a:gd name="T7" fmla="*/ 200 h 687"/>
                    <a:gd name="T8" fmla="*/ 200 w 499"/>
                    <a:gd name="T9" fmla="*/ 57 h 687"/>
                    <a:gd name="T10" fmla="*/ 442 w 499"/>
                    <a:gd name="T11" fmla="*/ 57 h 687"/>
                    <a:gd name="T12" fmla="*/ 442 w 499"/>
                    <a:gd name="T13" fmla="*/ 116 h 687"/>
                    <a:gd name="T14" fmla="*/ 494 w 499"/>
                    <a:gd name="T15" fmla="*/ 64 h 687"/>
                    <a:gd name="T16" fmla="*/ 499 w 499"/>
                    <a:gd name="T17" fmla="*/ 59 h 687"/>
                    <a:gd name="T18" fmla="*/ 499 w 499"/>
                    <a:gd name="T19" fmla="*/ 0 h 687"/>
                    <a:gd name="T20" fmla="*/ 143 w 499"/>
                    <a:gd name="T21" fmla="*/ 0 h 687"/>
                    <a:gd name="T22" fmla="*/ 143 w 499"/>
                    <a:gd name="T23" fmla="*/ 0 h 687"/>
                    <a:gd name="T24" fmla="*/ 0 w 499"/>
                    <a:gd name="T25" fmla="*/ 143 h 687"/>
                    <a:gd name="T26" fmla="*/ 0 w 499"/>
                    <a:gd name="T27" fmla="*/ 687 h 687"/>
                    <a:gd name="T28" fmla="*/ 499 w 499"/>
                    <a:gd name="T29" fmla="*/ 687 h 687"/>
                    <a:gd name="T30" fmla="*/ 499 w 499"/>
                    <a:gd name="T31" fmla="*/ 429 h 687"/>
                    <a:gd name="T32" fmla="*/ 442 w 499"/>
                    <a:gd name="T33" fmla="*/ 486 h 687"/>
                    <a:gd name="T34" fmla="*/ 442 w 499"/>
                    <a:gd name="T35" fmla="*/ 629 h 6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499" h="687">
                      <a:moveTo>
                        <a:pt x="442" y="629"/>
                      </a:moveTo>
                      <a:lnTo>
                        <a:pt x="57" y="629"/>
                      </a:lnTo>
                      <a:lnTo>
                        <a:pt x="57" y="200"/>
                      </a:lnTo>
                      <a:lnTo>
                        <a:pt x="200" y="200"/>
                      </a:lnTo>
                      <a:lnTo>
                        <a:pt x="200" y="57"/>
                      </a:lnTo>
                      <a:lnTo>
                        <a:pt x="442" y="57"/>
                      </a:lnTo>
                      <a:lnTo>
                        <a:pt x="442" y="116"/>
                      </a:lnTo>
                      <a:lnTo>
                        <a:pt x="494" y="64"/>
                      </a:lnTo>
                      <a:lnTo>
                        <a:pt x="499" y="59"/>
                      </a:lnTo>
                      <a:lnTo>
                        <a:pt x="499" y="0"/>
                      </a:lnTo>
                      <a:lnTo>
                        <a:pt x="143" y="0"/>
                      </a:lnTo>
                      <a:lnTo>
                        <a:pt x="143" y="0"/>
                      </a:lnTo>
                      <a:lnTo>
                        <a:pt x="0" y="143"/>
                      </a:lnTo>
                      <a:lnTo>
                        <a:pt x="0" y="687"/>
                      </a:lnTo>
                      <a:lnTo>
                        <a:pt x="499" y="687"/>
                      </a:lnTo>
                      <a:lnTo>
                        <a:pt x="499" y="429"/>
                      </a:lnTo>
                      <a:lnTo>
                        <a:pt x="442" y="486"/>
                      </a:lnTo>
                      <a:lnTo>
                        <a:pt x="442" y="629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013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5" name="Freeform 19"/>
                <p:cNvSpPr>
                  <a:spLocks noEditPoints="1"/>
                </p:cNvSpPr>
                <p:nvPr/>
              </p:nvSpPr>
              <p:spPr bwMode="auto">
                <a:xfrm>
                  <a:off x="436" y="1310"/>
                  <a:ext cx="435" cy="431"/>
                </a:xfrm>
                <a:custGeom>
                  <a:avLst/>
                  <a:gdLst>
                    <a:gd name="T0" fmla="*/ 50 w 435"/>
                    <a:gd name="T1" fmla="*/ 279 h 431"/>
                    <a:gd name="T2" fmla="*/ 50 w 435"/>
                    <a:gd name="T3" fmla="*/ 279 h 431"/>
                    <a:gd name="T4" fmla="*/ 50 w 435"/>
                    <a:gd name="T5" fmla="*/ 279 h 431"/>
                    <a:gd name="T6" fmla="*/ 50 w 435"/>
                    <a:gd name="T7" fmla="*/ 279 h 431"/>
                    <a:gd name="T8" fmla="*/ 0 w 435"/>
                    <a:gd name="T9" fmla="*/ 431 h 431"/>
                    <a:gd name="T10" fmla="*/ 155 w 435"/>
                    <a:gd name="T11" fmla="*/ 381 h 431"/>
                    <a:gd name="T12" fmla="*/ 155 w 435"/>
                    <a:gd name="T13" fmla="*/ 381 h 431"/>
                    <a:gd name="T14" fmla="*/ 155 w 435"/>
                    <a:gd name="T15" fmla="*/ 381 h 431"/>
                    <a:gd name="T16" fmla="*/ 155 w 435"/>
                    <a:gd name="T17" fmla="*/ 381 h 431"/>
                    <a:gd name="T18" fmla="*/ 435 w 435"/>
                    <a:gd name="T19" fmla="*/ 102 h 431"/>
                    <a:gd name="T20" fmla="*/ 330 w 435"/>
                    <a:gd name="T21" fmla="*/ 0 h 431"/>
                    <a:gd name="T22" fmla="*/ 50 w 435"/>
                    <a:gd name="T23" fmla="*/ 279 h 431"/>
                    <a:gd name="T24" fmla="*/ 50 w 435"/>
                    <a:gd name="T25" fmla="*/ 279 h 431"/>
                    <a:gd name="T26" fmla="*/ 141 w 435"/>
                    <a:gd name="T27" fmla="*/ 360 h 431"/>
                    <a:gd name="T28" fmla="*/ 38 w 435"/>
                    <a:gd name="T29" fmla="*/ 396 h 431"/>
                    <a:gd name="T30" fmla="*/ 72 w 435"/>
                    <a:gd name="T31" fmla="*/ 291 h 431"/>
                    <a:gd name="T32" fmla="*/ 141 w 435"/>
                    <a:gd name="T33" fmla="*/ 360 h 4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435" h="431">
                      <a:moveTo>
                        <a:pt x="50" y="279"/>
                      </a:moveTo>
                      <a:lnTo>
                        <a:pt x="50" y="279"/>
                      </a:lnTo>
                      <a:lnTo>
                        <a:pt x="50" y="279"/>
                      </a:lnTo>
                      <a:lnTo>
                        <a:pt x="50" y="279"/>
                      </a:lnTo>
                      <a:lnTo>
                        <a:pt x="0" y="431"/>
                      </a:lnTo>
                      <a:lnTo>
                        <a:pt x="155" y="381"/>
                      </a:lnTo>
                      <a:lnTo>
                        <a:pt x="155" y="381"/>
                      </a:lnTo>
                      <a:lnTo>
                        <a:pt x="155" y="381"/>
                      </a:lnTo>
                      <a:lnTo>
                        <a:pt x="155" y="381"/>
                      </a:lnTo>
                      <a:lnTo>
                        <a:pt x="435" y="102"/>
                      </a:lnTo>
                      <a:lnTo>
                        <a:pt x="330" y="0"/>
                      </a:lnTo>
                      <a:lnTo>
                        <a:pt x="50" y="279"/>
                      </a:lnTo>
                      <a:lnTo>
                        <a:pt x="50" y="279"/>
                      </a:lnTo>
                      <a:close/>
                      <a:moveTo>
                        <a:pt x="141" y="360"/>
                      </a:moveTo>
                      <a:lnTo>
                        <a:pt x="38" y="396"/>
                      </a:lnTo>
                      <a:lnTo>
                        <a:pt x="72" y="291"/>
                      </a:lnTo>
                      <a:lnTo>
                        <a:pt x="141" y="36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013">
                    <a:solidFill>
                      <a:prstClr val="black"/>
                    </a:solidFill>
                  </a:endParaRPr>
                </a:p>
              </p:txBody>
            </p:sp>
          </p:grpSp>
        </p:grpSp>
      </p:grpSp>
      <p:grpSp>
        <p:nvGrpSpPr>
          <p:cNvPr id="29" name="组合 28"/>
          <p:cNvGrpSpPr/>
          <p:nvPr/>
        </p:nvGrpSpPr>
        <p:grpSpPr>
          <a:xfrm>
            <a:off x="1047914" y="4189105"/>
            <a:ext cx="1433167" cy="607216"/>
            <a:chOff x="1064237" y="3704725"/>
            <a:chExt cx="1433167" cy="607216"/>
          </a:xfrm>
        </p:grpSpPr>
        <p:sp>
          <p:nvSpPr>
            <p:cNvPr id="30" name="矩形 29"/>
            <p:cNvSpPr/>
            <p:nvPr/>
          </p:nvSpPr>
          <p:spPr>
            <a:xfrm>
              <a:off x="1488795" y="3704725"/>
              <a:ext cx="1008609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buClr>
                  <a:srgbClr val="FF0000"/>
                </a:buClr>
              </a:pPr>
              <a:r>
                <a:rPr lang="zh-CN" altLang="en-US" sz="3200" b="1" dirty="0">
                  <a:latin typeface="Verdana" pitchFamily="34" charset="0"/>
                  <a:ea typeface="黑体" pitchFamily="49" charset="-122"/>
                </a:rPr>
                <a:t>思考</a:t>
              </a:r>
            </a:p>
          </p:txBody>
        </p:sp>
        <p:pic>
          <p:nvPicPr>
            <p:cNvPr id="31" name="图片 1"/>
            <p:cNvPicPr>
              <a:picLocks noChangeAspect="1" noChangeArrowheads="1"/>
            </p:cNvPicPr>
            <p:nvPr/>
          </p:nvPicPr>
          <p:blipFill>
            <a:blip r:embed="rId2" cstate="print">
              <a:clrChange>
                <a:clrFrom>
                  <a:srgbClr val="FDFDFD"/>
                </a:clrFrom>
                <a:clrTo>
                  <a:srgbClr val="FDFDFD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064237" y="3715332"/>
              <a:ext cx="513022" cy="5966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38" name="矩形 37"/>
          <p:cNvSpPr/>
          <p:nvPr/>
        </p:nvSpPr>
        <p:spPr>
          <a:xfrm>
            <a:off x="1547922" y="4887339"/>
            <a:ext cx="681037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基于三种数据结构的查找方法的优缺点？</a:t>
            </a:r>
            <a:endParaRPr lang="en-US" altLang="zh-CN" sz="2200" dirty="0">
              <a:solidFill>
                <a:srgbClr val="FF0000"/>
              </a:solidFill>
              <a:latin typeface="Times New Roman" pitchFamily="18" charset="0"/>
              <a:ea typeface="黑体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472472" y="1719298"/>
            <a:ext cx="6035533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eaLnBrk="1" hangingPunct="1"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/>
              <a:t>查找的意义</a:t>
            </a:r>
            <a:endParaRPr lang="en-US" altLang="zh-CN" sz="2400" b="1" dirty="0"/>
          </a:p>
          <a:p>
            <a:pPr marL="285750" indent="-285750" eaLnBrk="1" hangingPunct="1"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/>
              <a:t>基于顺序表的查找</a:t>
            </a:r>
            <a:endParaRPr lang="en-US" altLang="zh-CN" sz="2400" b="1" dirty="0"/>
          </a:p>
          <a:p>
            <a:pPr marL="285750" indent="-285750" eaLnBrk="1" hangingPunct="1"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/>
              <a:t>基于树表的查找</a:t>
            </a:r>
            <a:endParaRPr lang="en-US" altLang="zh-CN" sz="2400" b="1" dirty="0"/>
          </a:p>
          <a:p>
            <a:pPr marL="285750" indent="-285750" eaLnBrk="1" hangingPunct="1"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/>
              <a:t>基于散列表的查找</a:t>
            </a:r>
            <a:endParaRPr lang="en-US" altLang="zh-CN" sz="2400" b="1" dirty="0"/>
          </a:p>
          <a:p>
            <a:pPr marL="285750" indent="-285750" eaLnBrk="1" hangingPunct="1"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endParaRPr lang="en-US" altLang="zh-CN" sz="2200" dirty="0"/>
          </a:p>
        </p:txBody>
      </p:sp>
      <p:sp>
        <p:nvSpPr>
          <p:cNvPr id="19" name="灯片编号占位符 1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78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69340998"/>
      </p:ext>
    </p:extLst>
  </p:cSld>
  <p:clrMapOvr>
    <a:masterClrMapping/>
  </p:clrMapOvr>
  <p:transition spd="slow" advClick="0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微信图片_2019101918225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660232" y="3140968"/>
            <a:ext cx="2116102" cy="2116102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1475656" y="3672894"/>
            <a:ext cx="6388100" cy="2708434"/>
            <a:chOff x="1520825" y="4834037"/>
            <a:chExt cx="6388100" cy="2708434"/>
          </a:xfrm>
        </p:grpSpPr>
        <p:sp>
          <p:nvSpPr>
            <p:cNvPr id="6" name="矩形 5"/>
            <p:cNvSpPr/>
            <p:nvPr/>
          </p:nvSpPr>
          <p:spPr>
            <a:xfrm>
              <a:off x="1520825" y="4834037"/>
              <a:ext cx="6388100" cy="270843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hangingPunct="0">
                <a:lnSpc>
                  <a:spcPct val="125000"/>
                </a:lnSpc>
              </a:pPr>
              <a:r>
                <a:rPr lang="zh-CN" altLang="en-US" sz="2000" b="1" dirty="0">
                  <a:latin typeface="Times New Roman" pitchFamily="18" charset="0"/>
                  <a:ea typeface="黑体" pitchFamily="49" charset="-122"/>
                </a:rPr>
                <a:t>李培培</a:t>
              </a:r>
              <a:endParaRPr lang="en-US" altLang="zh-CN" sz="2000" b="1" dirty="0">
                <a:latin typeface="Times New Roman" pitchFamily="18" charset="0"/>
                <a:ea typeface="黑体" pitchFamily="49" charset="-122"/>
              </a:endParaRPr>
            </a:p>
            <a:p>
              <a:pPr algn="ctr" eaLnBrk="0" hangingPunct="0">
                <a:lnSpc>
                  <a:spcPct val="125000"/>
                </a:lnSpc>
              </a:pPr>
              <a:r>
                <a:rPr lang="en-US" altLang="zh-CN" sz="2000" b="1" dirty="0">
                  <a:solidFill>
                    <a:srgbClr val="FF0000"/>
                  </a:solidFill>
                  <a:latin typeface="Times New Roman" pitchFamily="18" charset="0"/>
                  <a:ea typeface="黑体" pitchFamily="49" charset="-122"/>
                </a:rPr>
                <a:t>QQ</a:t>
              </a:r>
              <a:r>
                <a:rPr lang="zh-CN" altLang="en-US" sz="2000" b="1" dirty="0">
                  <a:latin typeface="Times New Roman" pitchFamily="18" charset="0"/>
                  <a:ea typeface="黑体" pitchFamily="49" charset="-122"/>
                </a:rPr>
                <a:t>：</a:t>
              </a:r>
              <a:r>
                <a:rPr lang="en-US" altLang="zh-CN" sz="2000" b="1" dirty="0">
                  <a:solidFill>
                    <a:srgbClr val="0000FF"/>
                  </a:solidFill>
                  <a:latin typeface="Times New Roman" pitchFamily="18" charset="0"/>
                  <a:ea typeface="黑体" pitchFamily="49" charset="-122"/>
                </a:rPr>
                <a:t>123452644</a:t>
              </a:r>
              <a:r>
                <a:rPr lang="zh-CN" altLang="en-US" sz="2000" b="1" dirty="0">
                  <a:latin typeface="Times New Roman" pitchFamily="18" charset="0"/>
                  <a:ea typeface="黑体" pitchFamily="49" charset="-122"/>
                </a:rPr>
                <a:t>，</a:t>
              </a:r>
              <a:r>
                <a:rPr lang="zh-CN" altLang="en-US" sz="2000" b="1" dirty="0">
                  <a:solidFill>
                    <a:srgbClr val="FF0000"/>
                  </a:solidFill>
                  <a:latin typeface="Times New Roman" pitchFamily="18" charset="0"/>
                  <a:ea typeface="黑体" pitchFamily="49" charset="-122"/>
                </a:rPr>
                <a:t> 微信：</a:t>
              </a:r>
              <a:r>
                <a:rPr lang="en-US" altLang="zh-CN" sz="2000" b="1" dirty="0">
                  <a:solidFill>
                    <a:srgbClr val="FF0000"/>
                  </a:solidFill>
                  <a:latin typeface="Times New Roman" pitchFamily="18" charset="0"/>
                  <a:ea typeface="黑体" pitchFamily="49" charset="-122"/>
                </a:rPr>
                <a:t>li123452644</a:t>
              </a:r>
            </a:p>
            <a:p>
              <a:pPr algn="ctr" eaLnBrk="0" hangingPunct="0">
                <a:lnSpc>
                  <a:spcPct val="125000"/>
                </a:lnSpc>
              </a:pPr>
              <a:r>
                <a:rPr lang="en-US" altLang="zh-CN" sz="2000" b="1" dirty="0">
                  <a:solidFill>
                    <a:srgbClr val="FF0000"/>
                  </a:solidFill>
                  <a:latin typeface="Times New Roman" pitchFamily="18" charset="0"/>
                  <a:ea typeface="黑体" pitchFamily="49" charset="-122"/>
                </a:rPr>
                <a:t>Email</a:t>
              </a:r>
              <a:r>
                <a:rPr lang="en-US" altLang="zh-CN" sz="2000" b="1" dirty="0">
                  <a:latin typeface="Times New Roman" pitchFamily="18" charset="0"/>
                  <a:ea typeface="黑体" pitchFamily="49" charset="-122"/>
                </a:rPr>
                <a:t>: </a:t>
              </a:r>
              <a:r>
                <a:rPr lang="en-US" altLang="zh-CN" sz="2000" b="1" dirty="0">
                  <a:solidFill>
                    <a:srgbClr val="0000FF"/>
                  </a:solidFill>
                  <a:latin typeface="Times New Roman" pitchFamily="18" charset="0"/>
                  <a:ea typeface="黑体" pitchFamily="49" charset="-122"/>
                </a:rPr>
                <a:t>peipeili@hfut.edu.cn</a:t>
              </a:r>
            </a:p>
            <a:p>
              <a:pPr algn="ctr" eaLnBrk="0" hangingPunct="0">
                <a:lnSpc>
                  <a:spcPct val="125000"/>
                </a:lnSpc>
              </a:pPr>
              <a:r>
                <a:rPr lang="zh-CN" altLang="en-US" sz="2000" b="1" dirty="0">
                  <a:solidFill>
                    <a:srgbClr val="FF0000"/>
                  </a:solidFill>
                  <a:latin typeface="Times New Roman" pitchFamily="18" charset="0"/>
                  <a:ea typeface="黑体" pitchFamily="49" charset="-122"/>
                </a:rPr>
                <a:t>手机号</a:t>
              </a:r>
              <a:r>
                <a:rPr lang="zh-CN" altLang="en-US" sz="2000" b="1" dirty="0">
                  <a:latin typeface="Times New Roman" pitchFamily="18" charset="0"/>
                  <a:ea typeface="黑体" pitchFamily="49" charset="-122"/>
                </a:rPr>
                <a:t>：</a:t>
              </a:r>
              <a:r>
                <a:rPr lang="en-US" altLang="zh-CN" sz="2000" b="1" dirty="0">
                  <a:solidFill>
                    <a:srgbClr val="0000FF"/>
                  </a:solidFill>
                  <a:latin typeface="Times New Roman" pitchFamily="18" charset="0"/>
                  <a:ea typeface="黑体" pitchFamily="49" charset="-122"/>
                </a:rPr>
                <a:t>13956043016</a:t>
              </a:r>
            </a:p>
            <a:p>
              <a:pPr marL="0" lvl="1" algn="ctr" eaLnBrk="0" hangingPunct="0">
                <a:lnSpc>
                  <a:spcPct val="125000"/>
                </a:lnSpc>
              </a:pPr>
              <a:r>
                <a:rPr lang="zh-CN" altLang="en-US" sz="2000" b="1" dirty="0">
                  <a:latin typeface="Times New Roman" pitchFamily="18" charset="0"/>
                  <a:ea typeface="黑体" pitchFamily="49" charset="-122"/>
                </a:rPr>
                <a:t>         合肥工业大学智能计算与数据挖掘千人团队 </a:t>
              </a:r>
              <a:r>
                <a:rPr lang="en-US" altLang="zh-CN" sz="2000" u="sng" dirty="0">
                  <a:solidFill>
                    <a:srgbClr val="0000FF"/>
                  </a:solidFill>
                </a:rPr>
                <a:t>http://dmic.bigke.org/</a:t>
              </a:r>
              <a:endParaRPr lang="en-US" altLang="zh-CN" sz="2000" b="1" u="sng" dirty="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</a:endParaRPr>
            </a:p>
            <a:p>
              <a:pPr algn="ctr" eaLnBrk="0" hangingPunct="0"/>
              <a:r>
                <a:rPr lang="zh-CN" altLang="en-US" sz="2000" b="1" dirty="0">
                  <a:latin typeface="Times New Roman" pitchFamily="18" charset="0"/>
                  <a:ea typeface="黑体" pitchFamily="49" charset="-122"/>
                </a:rPr>
                <a:t> </a:t>
              </a:r>
            </a:p>
          </p:txBody>
        </p:sp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80865" y="6418213"/>
              <a:ext cx="666651" cy="286658"/>
            </a:xfrm>
            <a:prstGeom prst="rect">
              <a:avLst/>
            </a:prstGeom>
          </p:spPr>
        </p:pic>
      </p:grpSp>
      <p:grpSp>
        <p:nvGrpSpPr>
          <p:cNvPr id="8" name="组合 7"/>
          <p:cNvGrpSpPr/>
          <p:nvPr/>
        </p:nvGrpSpPr>
        <p:grpSpPr>
          <a:xfrm>
            <a:off x="323528" y="3356992"/>
            <a:ext cx="2143084" cy="551837"/>
            <a:chOff x="728936" y="4175538"/>
            <a:chExt cx="2204016" cy="584775"/>
          </a:xfrm>
        </p:grpSpPr>
        <p:sp>
          <p:nvSpPr>
            <p:cNvPr id="9" name="矩形 8"/>
            <p:cNvSpPr/>
            <p:nvPr/>
          </p:nvSpPr>
          <p:spPr>
            <a:xfrm>
              <a:off x="1100399" y="4175538"/>
              <a:ext cx="1832553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buClr>
                  <a:srgbClr val="FF0000"/>
                </a:buClr>
              </a:pPr>
              <a:r>
                <a:rPr lang="zh-CN" altLang="en-US" sz="3000" b="1" dirty="0">
                  <a:latin typeface="Verdana" pitchFamily="34" charset="0"/>
                  <a:ea typeface="黑体" pitchFamily="49" charset="-122"/>
                </a:rPr>
                <a:t>联系方式</a:t>
              </a:r>
            </a:p>
          </p:txBody>
        </p:sp>
        <p:pic>
          <p:nvPicPr>
            <p:cNvPr id="10" name="图片 1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28936" y="4235450"/>
              <a:ext cx="401364" cy="4340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2" name="矩形 11"/>
          <p:cNvSpPr/>
          <p:nvPr/>
        </p:nvSpPr>
        <p:spPr>
          <a:xfrm>
            <a:off x="3707904" y="1916832"/>
            <a:ext cx="157447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14350" indent="-514350">
              <a:buClr>
                <a:srgbClr val="FF0000"/>
              </a:buClr>
            </a:pPr>
            <a:r>
              <a:rPr lang="zh-CN" altLang="en-US" sz="3600" b="1" dirty="0"/>
              <a:t>谢谢！</a:t>
            </a:r>
            <a:endParaRPr lang="zh-CN" altLang="zh-CN" sz="3600" b="1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79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53724736"/>
      </p:ext>
    </p:extLst>
  </p:cSld>
  <p:clrMapOvr>
    <a:masterClrMapping/>
  </p:clrMapOvr>
  <p:transition spd="slow" advClick="0" advTm="1622">
    <p:pull dir="d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2.0"/>
  <p:tag name="PROBLEMVOICEALLOWED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2.0"/>
  <p:tag name="PROBLEMVOICEALLOWED" val="Fals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19637</TotalTime>
  <Words>7752</Words>
  <Application>Microsoft Office PowerPoint</Application>
  <PresentationFormat>全屏显示(4:3)</PresentationFormat>
  <Paragraphs>1662</Paragraphs>
  <Slides>79</Slides>
  <Notes>3</Notes>
  <HiddenSlides>0</HiddenSlides>
  <MMClips>0</MMClips>
  <ScaleCrop>false</ScaleCrop>
  <HeadingPairs>
    <vt:vector size="10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链接</vt:lpstr>
      </vt:variant>
      <vt:variant>
        <vt:i4>6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79</vt:i4>
      </vt:variant>
    </vt:vector>
  </HeadingPairs>
  <TitlesOfParts>
    <vt:vector size="103" baseType="lpstr">
      <vt:lpstr>仿宋</vt:lpstr>
      <vt:lpstr>黑体</vt:lpstr>
      <vt:lpstr>楷体_GB2312</vt:lpstr>
      <vt:lpstr>宋体</vt:lpstr>
      <vt:lpstr>Microsoft Yahei</vt:lpstr>
      <vt:lpstr>Microsoft Yahei</vt:lpstr>
      <vt:lpstr>Microsoft Yahei</vt:lpstr>
      <vt:lpstr>Arial</vt:lpstr>
      <vt:lpstr>Calibri</vt:lpstr>
      <vt:lpstr>Cambria Math</vt:lpstr>
      <vt:lpstr>Comic Sans MS</vt:lpstr>
      <vt:lpstr>Garamond</vt:lpstr>
      <vt:lpstr>Tahoma</vt:lpstr>
      <vt:lpstr>Times New Roman</vt:lpstr>
      <vt:lpstr>Verdana</vt:lpstr>
      <vt:lpstr>Wingdings</vt:lpstr>
      <vt:lpstr>Office 主题</vt:lpstr>
      <vt:lpstr>file:///C:\Users\Administrator\Desktop\绘图1.vsd\Drawing\~页-1\圆形.33</vt:lpstr>
      <vt:lpstr>file:///C:\Users\Administrator\Desktop\绘图1.vsd\Drawing\~页-1\圆形.31</vt:lpstr>
      <vt:lpstr>file:///C:\Users\Administrator\Desktop\绘图1.vsd\Drawing\~页-1\圆形.65</vt:lpstr>
      <vt:lpstr>file:///C:\Users\Administrator\Desktop\绘图1.vsd\Drawing\~页-1\圆形.68</vt:lpstr>
      <vt:lpstr>file:///C:\Users\Administrator\Desktop\绘图1.vsd\Drawing\~页-1\圆形.69</vt:lpstr>
      <vt:lpstr>file:///C:\Users\Administrator\Desktop\绘图1.vsd\Drawing\~页-1\圆形.70</vt:lpstr>
      <vt:lpstr>Visio</vt:lpstr>
      <vt:lpstr>PowerPoint 演示文稿</vt:lpstr>
      <vt:lpstr>第10章 查找(Searching)</vt:lpstr>
      <vt:lpstr>上文回顾</vt:lpstr>
      <vt:lpstr>上文回顾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10.2.1简单顺序表的查找</vt:lpstr>
      <vt:lpstr>10.2.1简单顺序表的查找</vt:lpstr>
      <vt:lpstr>10.2.1简单顺序表的查找</vt:lpstr>
      <vt:lpstr>10.2.1简单顺序表的查找</vt:lpstr>
      <vt:lpstr>10.2.2 有序表的查找——二分查找</vt:lpstr>
      <vt:lpstr>10.2.2 有序表的查找——二分查找</vt:lpstr>
      <vt:lpstr>PowerPoint 演示文稿</vt:lpstr>
      <vt:lpstr>10.2.2 有序表的查找——二分查找</vt:lpstr>
      <vt:lpstr>10.2.2 有序表的查找——二分查找</vt:lpstr>
      <vt:lpstr>10.2.2 有序表的查找——二分查找</vt:lpstr>
      <vt:lpstr>PowerPoint 演示文稿</vt:lpstr>
      <vt:lpstr>10.2.2 有序表的查找——二分查找</vt:lpstr>
      <vt:lpstr>有序表的查找——二分查找的改进</vt:lpstr>
      <vt:lpstr>有序表的查找——二分查找的改进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研 究方向：多源海量动态信息处理 团队带头人：吴信东 所 在  学 校：合肥工业大学</dc:title>
  <dc:creator>Peipei Li</dc:creator>
  <cp:lastModifiedBy>DMIC</cp:lastModifiedBy>
  <cp:revision>3610</cp:revision>
  <cp:lastPrinted>2012-11-20T01:52:54Z</cp:lastPrinted>
  <dcterms:created xsi:type="dcterms:W3CDTF">2012-10-13T08:41:11Z</dcterms:created>
  <dcterms:modified xsi:type="dcterms:W3CDTF">2024-05-14T07:09:17Z</dcterms:modified>
</cp:coreProperties>
</file>