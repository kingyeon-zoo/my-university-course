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9" showSpecialPlsOnTitleSld="0">
  <p:sldMasterIdLst>
    <p:sldMasterId id="2147483648" r:id="rId1"/>
  </p:sldMasterIdLst>
  <p:notesMasterIdLst>
    <p:notesMasterId r:id="rId8"/>
  </p:notesMasterIdLst>
  <p:handoutMasterIdLst>
    <p:handoutMasterId r:id="rId38"/>
  </p:handoutMasterIdLst>
  <p:sldIdLst>
    <p:sldId id="256" r:id="rId3"/>
    <p:sldId id="481" r:id="rId4"/>
    <p:sldId id="482" r:id="rId5"/>
    <p:sldId id="483" r:id="rId6"/>
    <p:sldId id="484" r:id="rId7"/>
    <p:sldId id="485" r:id="rId9"/>
    <p:sldId id="486" r:id="rId10"/>
    <p:sldId id="487" r:id="rId11"/>
    <p:sldId id="488" r:id="rId12"/>
    <p:sldId id="489" r:id="rId13"/>
    <p:sldId id="490" r:id="rId14"/>
    <p:sldId id="491" r:id="rId15"/>
    <p:sldId id="492" r:id="rId16"/>
    <p:sldId id="493" r:id="rId17"/>
    <p:sldId id="494" r:id="rId18"/>
    <p:sldId id="495" r:id="rId19"/>
    <p:sldId id="496" r:id="rId20"/>
    <p:sldId id="497" r:id="rId21"/>
    <p:sldId id="498" r:id="rId22"/>
    <p:sldId id="499" r:id="rId23"/>
    <p:sldId id="500" r:id="rId24"/>
    <p:sldId id="501" r:id="rId25"/>
    <p:sldId id="502" r:id="rId26"/>
    <p:sldId id="503" r:id="rId27"/>
    <p:sldId id="504" r:id="rId28"/>
    <p:sldId id="513" r:id="rId29"/>
    <p:sldId id="506" r:id="rId30"/>
    <p:sldId id="507" r:id="rId31"/>
    <p:sldId id="508" r:id="rId32"/>
    <p:sldId id="514" r:id="rId33"/>
    <p:sldId id="515" r:id="rId34"/>
    <p:sldId id="516" r:id="rId35"/>
    <p:sldId id="517" r:id="rId36"/>
    <p:sldId id="448" r:id="rId37"/>
  </p:sldIdLst>
  <p:sldSz cx="9144000" cy="6858000" type="screen4x3"/>
  <p:notesSz cx="6797675" cy="9928225"/>
  <p:custDataLst>
    <p:tags r:id="rId4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00"/>
    <a:srgbClr val="000000"/>
    <a:srgbClr val="FFFFFF"/>
    <a:srgbClr val="5E8892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257" autoAdjust="0"/>
    <p:restoredTop sz="87665" autoAdjust="0"/>
  </p:normalViewPr>
  <p:slideViewPr>
    <p:cSldViewPr showGuides="1">
      <p:cViewPr varScale="1">
        <p:scale>
          <a:sx n="99" d="100"/>
          <a:sy n="99" d="100"/>
        </p:scale>
        <p:origin x="-117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3307" y="-77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85CBAE4-F8D9-4129-B51F-0DB4BEA986F1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9392E7D-0E06-464C-8541-AA44AE9E79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77E5B7F-BBE2-45B0-AC4C-D9CC9AA6B88A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383" y="4716585"/>
            <a:ext cx="5436909" cy="44673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3790652-C02E-4B6F-A52E-6A0D29B3CC7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270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525ACB8-F9C3-4613-A635-4964825C42C7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 bIns="46800" anchor="b">
            <a:normAutofit/>
          </a:bodyPr>
          <a:lstStyle>
            <a:lvl1pPr algn="l">
              <a:defRPr sz="3600" b="1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4845"/>
            <a:ext cx="8229600" cy="4678451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67FE7B-1FF7-4449-9068-096408193C5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61732"/>
            <a:ext cx="2133600" cy="296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6726D3F-432A-486B-B9AB-8F3520768197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E69BCEF-079F-463B-9C29-B91628F5F00A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57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aseline="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7DA41C8-69AA-4E17-9239-7E6FE63EF94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915816" y="6525344"/>
            <a:ext cx="3456384" cy="328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60232" y="6525344"/>
            <a:ext cx="2133600" cy="299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87EDDE1-5750-4237-98BF-3E5AB9EBD74D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467544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12716B-EFE1-4FE7-ACA6-5298EE0DA41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88224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395536" y="6525344"/>
            <a:ext cx="2133600" cy="31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12683D8-6BF5-4234-842F-F7DFF13A99D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525344"/>
            <a:ext cx="3456384" cy="300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smtClean="0"/>
              <a:t>特征选择研究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60232" y="6525344"/>
            <a:ext cx="2133600" cy="3326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10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99530-658A-4D37-A74F-81863D0D418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103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smtClean="0"/>
              <a:t>特征选择研究</a:t>
            </a:r>
            <a:endParaRPr lang="zh-CN" altLang="en-US"/>
          </a:p>
        </p:txBody>
      </p:sp>
      <p:sp>
        <p:nvSpPr>
          <p:cNvPr id="7" name="灯片编号占位符 10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2CBB5-64B9-4960-ADED-BBBD11F3E13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3.jpeg"/><Relationship Id="rId10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350"/>
            <a:ext cx="9144000" cy="93503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 smtClean="0"/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6580188"/>
            <a:ext cx="914400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 userDrawn="1"/>
        </p:nvSpPr>
        <p:spPr>
          <a:xfrm>
            <a:off x="468313" y="0"/>
            <a:ext cx="8675687" cy="828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46050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zh-CN" altLang="en-US" dirty="0" smtClean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131146"/>
            <a:ext cx="1590708" cy="684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730774" y="15114"/>
            <a:ext cx="2398712" cy="789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3FC250-09CA-4982-A01A-4FAB28559F78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626009"/>
            <a:ext cx="3456384" cy="1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 dirty="0" smtClean="0"/>
              <a:t>特征选择研究</a:t>
            </a:r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594549"/>
            <a:ext cx="2133600" cy="2267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Click="0">
    <p:pull dir="d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baseline="0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Times New Roman" panose="02020603050405020304" pitchFamily="18" charset="0"/>
          <a:ea typeface="仿宋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wmf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emf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279" y="43542"/>
            <a:ext cx="1423266" cy="612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71600" y="1052736"/>
            <a:ext cx="7560840" cy="5272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Comic Sans MS" panose="030F0702030302020204" pitchFamily="66" charset="0"/>
              </a:rPr>
              <a:t>数 据 结 构</a:t>
            </a:r>
            <a:endParaRPr lang="zh-CN" altLang="en-US" sz="3600" b="1" dirty="0"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1400" b="1" dirty="0">
                <a:latin typeface="Comic Sans MS" panose="030F0702030302020204" pitchFamily="66" charset="0"/>
              </a:rPr>
              <a:t>（</a:t>
            </a:r>
            <a:r>
              <a:rPr lang="zh-CN" altLang="en-US" sz="1400" b="1" dirty="0">
                <a:solidFill>
                  <a:schemeClr val="accent2"/>
                </a:solidFill>
                <a:latin typeface="Comic Sans MS" panose="030F0702030302020204" pitchFamily="66" charset="0"/>
              </a:rPr>
              <a:t>课程概述</a:t>
            </a:r>
            <a:r>
              <a:rPr lang="zh-CN" altLang="en-US" sz="1400" b="1" dirty="0">
                <a:latin typeface="Comic Sans MS" panose="030F0702030302020204" pitchFamily="66" charset="0"/>
              </a:rPr>
              <a:t>）</a:t>
            </a:r>
            <a:endParaRPr lang="zh-CN" altLang="en-US" sz="1400" b="1" dirty="0"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sz="4000" dirty="0" smtClean="0">
                <a:latin typeface="Comic Sans MS" panose="030F0702030302020204" pitchFamily="66" charset="0"/>
                <a:ea typeface="MS PMincho" panose="02020600040205080304" pitchFamily="18" charset="-128"/>
              </a:rPr>
              <a:t> </a:t>
            </a:r>
            <a:r>
              <a:rPr lang="en-US" altLang="zh-CN" sz="4000" b="1" dirty="0">
                <a:solidFill>
                  <a:schemeClr val="tx2"/>
                </a:solidFill>
                <a:latin typeface="Garamond" panose="02020404030301010803" pitchFamily="18" charset="0"/>
                <a:ea typeface="方正舒体" panose="02010601030101010101" pitchFamily="2" charset="-122"/>
              </a:rPr>
              <a:t>Data </a:t>
            </a:r>
            <a:r>
              <a:rPr lang="en-US" altLang="zh-CN" sz="4000" b="1" dirty="0" smtClean="0">
                <a:solidFill>
                  <a:schemeClr val="tx2"/>
                </a:solidFill>
                <a:latin typeface="Garamond" panose="02020404030301010803" pitchFamily="18" charset="0"/>
                <a:ea typeface="方正舒体" panose="02010601030101010101" pitchFamily="2" charset="-122"/>
              </a:rPr>
              <a:t>Structures</a:t>
            </a:r>
            <a:endParaRPr lang="en-US" altLang="zh-CN" sz="4000" b="1" dirty="0" smtClean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 smtClean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第</a:t>
            </a:r>
            <a:r>
              <a:rPr lang="en-US" altLang="zh-CN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1</a:t>
            </a:r>
            <a:r>
              <a:rPr lang="zh-CN" alt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章 </a:t>
            </a:r>
            <a:r>
              <a:rPr lang="zh-CN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概述</a:t>
            </a:r>
            <a:endParaRPr lang="en-US" altLang="zh-CN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sz="4000" b="1" dirty="0">
              <a:solidFill>
                <a:schemeClr val="tx2"/>
              </a:solidFill>
              <a:latin typeface="Garamond" panose="02020404030301010803" pitchFamily="18" charset="0"/>
              <a:ea typeface="方正舒体" panose="02010601030101010101" pitchFamily="2" charset="-122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数据结构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课程</a:t>
            </a:r>
            <a:r>
              <a:rPr lang="zh-CN" altLang="en-US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组</a:t>
            </a:r>
            <a:endParaRPr lang="en-US" altLang="zh-CN" sz="2600" b="1" dirty="0" smtClean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 smtClean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胡学钢  </a:t>
            </a: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张 晶  张玉红 </a:t>
            </a:r>
            <a:r>
              <a:rPr lang="zh-CN" altLang="en-US" sz="2600" b="1" dirty="0">
                <a:solidFill>
                  <a:srgbClr val="0000FF"/>
                </a:solidFill>
                <a:latin typeface="宋体" panose="02010600030101010101" pitchFamily="2" charset="-122"/>
              </a:rPr>
              <a:t>李</a:t>
            </a:r>
            <a:r>
              <a:rPr lang="zh-CN" altLang="en-US" sz="2600" b="1" dirty="0" smtClean="0">
                <a:solidFill>
                  <a:srgbClr val="0000FF"/>
                </a:solidFill>
                <a:latin typeface="宋体" panose="02010600030101010101" pitchFamily="2" charset="-122"/>
              </a:rPr>
              <a:t>培培</a:t>
            </a:r>
            <a:endParaRPr lang="en-US" altLang="zh-CN" sz="2600" b="1" dirty="0" smtClean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zh-CN" altLang="en-US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>
              <a:lnSpc>
                <a:spcPts val="2000"/>
              </a:lnSpc>
            </a:pPr>
            <a:r>
              <a:rPr lang="zh-CN" altLang="en-US" sz="2600" b="1" dirty="0">
                <a:solidFill>
                  <a:schemeClr val="tx2"/>
                </a:solidFill>
                <a:latin typeface="宋体" panose="02010600030101010101" pitchFamily="2" charset="-122"/>
              </a:rPr>
              <a:t>合肥工业大学 计算机与信息学院 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endParaRPr lang="en-US" altLang="zh-CN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algn="ctr" eaLnBrk="1" hangingPunct="1"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2024</a:t>
            </a:r>
            <a:r>
              <a:rPr lang="zh-CN" altLang="en-US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年</a:t>
            </a:r>
            <a:r>
              <a:rPr lang="en-US" altLang="zh-CN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月</a:t>
            </a:r>
            <a:r>
              <a:rPr lang="en-US" altLang="zh-CN" sz="26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endParaRPr lang="zh-CN" altLang="en-US" sz="26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pic>
        <p:nvPicPr>
          <p:cNvPr id="10" name="图片 30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3501008"/>
            <a:ext cx="2049462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Click="0" advTm="515"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409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第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章  概 述</a:t>
            </a:r>
            <a:endParaRPr lang="zh-CN" altLang="en-US" b="1" dirty="0" smtClean="0"/>
          </a:p>
        </p:txBody>
      </p:sp>
      <p:sp>
        <p:nvSpPr>
          <p:cNvPr id="410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6DC911D-46DE-485C-8777-064FD0BC3DF5}" type="slidenum">
              <a:rPr lang="zh-CN" altLang="en-US" sz="1200" dirty="0" smtClean="0"/>
            </a:fld>
            <a:endParaRPr lang="zh-CN" altLang="en-US" sz="1200" dirty="0"/>
          </a:p>
        </p:txBody>
      </p:sp>
      <p:grpSp>
        <p:nvGrpSpPr>
          <p:cNvPr id="5" name="组合 107"/>
          <p:cNvGrpSpPr/>
          <p:nvPr/>
        </p:nvGrpSpPr>
        <p:grpSpPr>
          <a:xfrm>
            <a:off x="971600" y="4581128"/>
            <a:ext cx="4032448" cy="684275"/>
            <a:chOff x="939802" y="5062184"/>
            <a:chExt cx="4032448" cy="684275"/>
          </a:xfrm>
        </p:grpSpPr>
        <p:grpSp>
          <p:nvGrpSpPr>
            <p:cNvPr id="6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8" name="Freeform 5"/>
              <p:cNvSpPr/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KSO_Shape"/>
              <p:cNvSpPr/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b="1" dirty="0">
                  <a:solidFill>
                    <a:srgbClr val="FFFFFF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465010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1.5  </a:t>
              </a:r>
              <a:r>
                <a:rPr lang="zh-CN" altLang="en-US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本章小结</a:t>
              </a:r>
              <a:endParaRPr lang="zh-CN" altLang="en-US" sz="36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58665" y="1326432"/>
            <a:ext cx="4405423" cy="684042"/>
            <a:chOff x="958665" y="1326432"/>
            <a:chExt cx="4405423" cy="684042"/>
          </a:xfrm>
        </p:grpSpPr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2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3" name="图片 12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grpSp>
        <p:nvGrpSpPr>
          <p:cNvPr id="14" name="组合 114"/>
          <p:cNvGrpSpPr/>
          <p:nvPr/>
        </p:nvGrpSpPr>
        <p:grpSpPr>
          <a:xfrm>
            <a:off x="147160" y="2186374"/>
            <a:ext cx="6225040" cy="679778"/>
            <a:chOff x="93137" y="3363717"/>
            <a:chExt cx="6225040" cy="679778"/>
          </a:xfrm>
        </p:grpSpPr>
        <p:grpSp>
          <p:nvGrpSpPr>
            <p:cNvPr id="15" name="组合 105"/>
            <p:cNvGrpSpPr/>
            <p:nvPr/>
          </p:nvGrpSpPr>
          <p:grpSpPr>
            <a:xfrm>
              <a:off x="93137" y="3363717"/>
              <a:ext cx="6225040" cy="679778"/>
              <a:chOff x="93137" y="3363717"/>
              <a:chExt cx="6225040" cy="679778"/>
            </a:xfrm>
          </p:grpSpPr>
          <p:sp>
            <p:nvSpPr>
              <p:cNvPr id="17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1.2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基本术语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6" name="图片 15" descr="1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19" name="组合 67"/>
          <p:cNvGrpSpPr/>
          <p:nvPr/>
        </p:nvGrpSpPr>
        <p:grpSpPr>
          <a:xfrm>
            <a:off x="63072" y="3001805"/>
            <a:ext cx="7317240" cy="698583"/>
            <a:chOff x="56674" y="4179148"/>
            <a:chExt cx="7317240" cy="698583"/>
          </a:xfrm>
        </p:grpSpPr>
        <p:grpSp>
          <p:nvGrpSpPr>
            <p:cNvPr id="20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22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21" name="图片 20" descr="无标题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grpSp>
        <p:nvGrpSpPr>
          <p:cNvPr id="24" name="组合 109"/>
          <p:cNvGrpSpPr/>
          <p:nvPr/>
        </p:nvGrpSpPr>
        <p:grpSpPr>
          <a:xfrm>
            <a:off x="-26470" y="3824893"/>
            <a:ext cx="6542686" cy="651944"/>
            <a:chOff x="-32868" y="4599564"/>
            <a:chExt cx="6542686" cy="651944"/>
          </a:xfrm>
        </p:grpSpPr>
        <p:sp>
          <p:nvSpPr>
            <p:cNvPr id="25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 descr="u=714968970,2342735455&amp;fm=27&amp;gp=0.jpg"/>
            <p:cNvPicPr/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7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1.4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算法分析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内容占位符 5122"/>
          <p:cNvSpPr>
            <a:spLocks noGrp="1" noChangeArrowheads="1"/>
          </p:cNvSpPr>
          <p:nvPr>
            <p:ph idx="1"/>
          </p:nvPr>
        </p:nvSpPr>
        <p:spPr>
          <a:xfrm>
            <a:off x="547589" y="980728"/>
            <a:ext cx="7993062" cy="49672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数据结构课程的研究内容：</a:t>
            </a:r>
            <a:endParaRPr lang="zh-CN" altLang="en-US" sz="2800" b="1" dirty="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600" b="1" dirty="0" smtClean="0">
                <a:solidFill>
                  <a:srgbClr val="FF0000"/>
                </a:solidFill>
              </a:rPr>
              <a:t>软件设计中常用的基本技术</a:t>
            </a:r>
            <a:endParaRPr lang="zh-CN" altLang="en-US" sz="2600" b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600" b="1" dirty="0" smtClean="0"/>
          </a:p>
        </p:txBody>
      </p:sp>
      <p:sp>
        <p:nvSpPr>
          <p:cNvPr id="5124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6EC9F5D-B57F-45F6-90E7-E026F6F0BB59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11" name="组合 10"/>
          <p:cNvGrpSpPr/>
          <p:nvPr/>
        </p:nvGrpSpPr>
        <p:grpSpPr>
          <a:xfrm>
            <a:off x="526617" y="116632"/>
            <a:ext cx="4405423" cy="684042"/>
            <a:chOff x="958665" y="1326432"/>
            <a:chExt cx="4405423" cy="684042"/>
          </a:xfrm>
        </p:grpSpPr>
        <p:sp>
          <p:nvSpPr>
            <p:cNvPr id="12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14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5" name="图片 14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  <p:sp>
        <p:nvSpPr>
          <p:cNvPr id="3" name="矩形 2"/>
          <p:cNvSpPr/>
          <p:nvPr/>
        </p:nvSpPr>
        <p:spPr>
          <a:xfrm>
            <a:off x="552204" y="2443349"/>
            <a:ext cx="8139210" cy="4090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从采用计算机来解决实际问题的过程</a:t>
            </a:r>
            <a:r>
              <a:rPr lang="zh-CN" altLang="en-US" sz="2400" b="1" dirty="0" smtClean="0"/>
              <a:t>中，</a:t>
            </a:r>
            <a:endParaRPr lang="en-US" altLang="zh-CN" sz="2400" b="1" dirty="0" smtClean="0"/>
          </a:p>
          <a:p>
            <a:pPr eaLnBrk="1" hangingPunct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b="1" dirty="0" smtClean="0"/>
              <a:t>  所</a:t>
            </a:r>
            <a:r>
              <a:rPr lang="zh-CN" altLang="en-US" sz="2400" b="1" dirty="0"/>
              <a:t>涉及到的各</a:t>
            </a:r>
            <a:r>
              <a:rPr lang="zh-CN" altLang="en-US" sz="2400" b="1" dirty="0" smtClean="0"/>
              <a:t>步骤</a:t>
            </a:r>
            <a:r>
              <a:rPr lang="zh-CN" altLang="en-US" sz="2400" b="1" dirty="0"/>
              <a:t>中的相关技术来对此作分析：</a:t>
            </a:r>
            <a:endParaRPr lang="zh-CN" altLang="en-US" sz="2400" b="1" dirty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 smtClean="0"/>
              <a:t>用计算机解决实际问题时的一般步骤：</a:t>
            </a:r>
            <a:endParaRPr lang="zh-CN" altLang="en-US" sz="2400" b="1" dirty="0" smtClean="0"/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首先，对</a:t>
            </a:r>
            <a:r>
              <a:rPr lang="zh-CN" altLang="en-US" sz="2200" b="1" dirty="0"/>
              <a:t>具体问题</a:t>
            </a:r>
            <a:r>
              <a:rPr lang="zh-CN" altLang="en-US" sz="2200" b="1" dirty="0">
                <a:solidFill>
                  <a:srgbClr val="FF0000"/>
                </a:solidFill>
              </a:rPr>
              <a:t>抽象出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数学模型</a:t>
            </a:r>
            <a:r>
              <a:rPr lang="zh-CN" altLang="en-US" sz="2200" b="1" dirty="0" smtClean="0"/>
              <a:t>；</a:t>
            </a:r>
            <a:endParaRPr lang="zh-CN" altLang="en-US" sz="2200" b="1" dirty="0"/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其次，针对</a:t>
            </a:r>
            <a:r>
              <a:rPr lang="zh-CN" altLang="en-US" sz="2200" b="1" dirty="0"/>
              <a:t>数学模型</a:t>
            </a:r>
            <a:r>
              <a:rPr lang="zh-CN" altLang="en-US" sz="2200" b="1" dirty="0">
                <a:solidFill>
                  <a:srgbClr val="FF0000"/>
                </a:solidFill>
              </a:rPr>
              <a:t>设计出求解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算法</a:t>
            </a:r>
            <a:r>
              <a:rPr lang="zh-CN" altLang="en-US" sz="2200" b="1" dirty="0" smtClean="0"/>
              <a:t>；</a:t>
            </a:r>
            <a:endParaRPr lang="zh-CN" altLang="en-US" sz="2200" b="1" dirty="0"/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再者，选择</a:t>
            </a:r>
            <a:r>
              <a:rPr lang="zh-CN" altLang="en-US" sz="2200" b="1" dirty="0"/>
              <a:t>或设计合适的</a:t>
            </a:r>
            <a:r>
              <a:rPr lang="zh-CN" altLang="en-US" sz="2200" b="1" dirty="0">
                <a:solidFill>
                  <a:srgbClr val="FF0000"/>
                </a:solidFill>
              </a:rPr>
              <a:t>数据结构</a:t>
            </a:r>
            <a:r>
              <a:rPr lang="zh-CN" altLang="en-US" sz="2200" b="1" dirty="0"/>
              <a:t>存储相关</a:t>
            </a:r>
            <a:r>
              <a:rPr lang="zh-CN" altLang="en-US" sz="2200" b="1" dirty="0" smtClean="0"/>
              <a:t>数据；</a:t>
            </a:r>
            <a:endParaRPr lang="zh-CN" altLang="en-US" sz="2200" b="1" dirty="0"/>
          </a:p>
          <a:p>
            <a:pPr marL="1257300" lvl="2" indent="-34290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最后，</a:t>
            </a:r>
            <a:r>
              <a:rPr lang="zh-CN" altLang="en-US" sz="2200" b="1" dirty="0">
                <a:solidFill>
                  <a:srgbClr val="FF0000"/>
                </a:solidFill>
              </a:rPr>
              <a:t>编出程序</a:t>
            </a:r>
            <a:r>
              <a:rPr lang="zh-CN" altLang="en-US" sz="2200" b="1" dirty="0"/>
              <a:t>上机调试，直至得到最终的解答。</a:t>
            </a:r>
            <a:endParaRPr lang="zh-CN" altLang="en-US" sz="2200" b="1" dirty="0"/>
          </a:p>
          <a:p>
            <a:pPr marL="342900" indent="-342900" eaLnBrk="1" hangingPunct="1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zh-CN" altLang="en-US" sz="22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713827" y="1958286"/>
            <a:ext cx="4036682" cy="452432"/>
            <a:chOff x="882540" y="1855122"/>
            <a:chExt cx="4036682" cy="452432"/>
          </a:xfrm>
        </p:grpSpPr>
        <p:sp>
          <p:nvSpPr>
            <p:cNvPr id="4" name="矩形 3"/>
            <p:cNvSpPr/>
            <p:nvPr/>
          </p:nvSpPr>
          <p:spPr>
            <a:xfrm>
              <a:off x="882540" y="1855122"/>
              <a:ext cx="4036682" cy="4524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  <a:buClr>
                  <a:srgbClr val="FF0000"/>
                </a:buClr>
              </a:pPr>
              <a:r>
                <a:rPr lang="zh-CN" altLang="en-US" sz="2600" b="1" dirty="0" smtClean="0"/>
                <a:t>        </a:t>
              </a:r>
              <a:r>
                <a:rPr lang="zh-CN" altLang="en-US" sz="2600" b="1" dirty="0" smtClean="0">
                  <a:solidFill>
                    <a:srgbClr val="0000FF"/>
                  </a:solidFill>
                </a:rPr>
                <a:t>包括</a:t>
              </a:r>
              <a:r>
                <a:rPr lang="zh-CN" altLang="en-US" sz="2600" b="1" dirty="0">
                  <a:solidFill>
                    <a:srgbClr val="0000FF"/>
                  </a:solidFill>
                </a:rPr>
                <a:t>哪些基本技术</a:t>
              </a:r>
              <a:r>
                <a:rPr lang="zh-CN" altLang="en-US" sz="2600" b="1" dirty="0"/>
                <a:t>？</a:t>
              </a:r>
              <a:endParaRPr lang="zh-CN" altLang="en-US" sz="2600" b="1" dirty="0"/>
            </a:p>
          </p:txBody>
        </p:sp>
        <p:pic>
          <p:nvPicPr>
            <p:cNvPr id="19" name="图片 18" descr="1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59632" y="1887753"/>
              <a:ext cx="377680" cy="419801"/>
            </a:xfrm>
            <a:prstGeom prst="rect">
              <a:avLst/>
            </a:prstGeom>
            <a:solidFill>
              <a:srgbClr val="0000FF"/>
            </a:solidFill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内容占位符 6146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7993062" cy="496785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问题求解之一：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问题建模</a:t>
            </a:r>
            <a:endParaRPr lang="zh-CN" altLang="en-US" sz="2800" b="1" dirty="0" smtClean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/>
              <a:t>实际应用问题可能会各式各样</a:t>
            </a:r>
            <a:endParaRPr lang="zh-CN" altLang="en-US" sz="2400" b="1" dirty="0" smtClean="0"/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 smtClean="0"/>
              <a:t>例如：学生</a:t>
            </a:r>
            <a:r>
              <a:rPr lang="zh-CN" altLang="en-US" sz="2200" b="1" dirty="0"/>
              <a:t>成绩管理</a:t>
            </a:r>
            <a:r>
              <a:rPr lang="zh-CN" altLang="en-US" sz="2200" b="1" dirty="0" smtClean="0"/>
              <a:t>问题、工资表的处理问题、电话号码查询、数据加密、压缩问题等。</a:t>
            </a:r>
            <a:endParaRPr lang="zh-CN" altLang="en-US" sz="2200" b="1" dirty="0" smtClean="0"/>
          </a:p>
          <a:p>
            <a:pPr lvl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/>
              <a:t>实际问题涉及了</a:t>
            </a:r>
            <a:r>
              <a:rPr lang="zh-CN" altLang="en-US" sz="2400" b="1" dirty="0">
                <a:solidFill>
                  <a:srgbClr val="FF0000"/>
                </a:solidFill>
              </a:rPr>
              <a:t>数据</a:t>
            </a:r>
            <a:r>
              <a:rPr lang="zh-CN" altLang="en-US" sz="2400" b="1" dirty="0" smtClean="0"/>
              <a:t>与</a:t>
            </a:r>
            <a:r>
              <a:rPr lang="zh-CN" altLang="en-US" sz="2400" b="1" dirty="0" smtClean="0">
                <a:solidFill>
                  <a:schemeClr val="accent2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操作</a:t>
            </a:r>
            <a:r>
              <a:rPr lang="zh-CN" altLang="en-US" sz="2400" b="1" dirty="0" smtClean="0"/>
              <a:t>要求</a:t>
            </a:r>
            <a:endParaRPr lang="zh-CN" altLang="en-US" sz="2400" b="1" dirty="0" smtClean="0"/>
          </a:p>
          <a:p>
            <a:pPr lvl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/>
              <a:t>尽管</a:t>
            </a:r>
            <a:r>
              <a:rPr lang="zh-CN" altLang="en-US" sz="2400" b="1" dirty="0">
                <a:solidFill>
                  <a:srgbClr val="FF0000"/>
                </a:solidFill>
              </a:rPr>
              <a:t>数据</a:t>
            </a:r>
            <a:r>
              <a:rPr lang="zh-CN" altLang="en-US" sz="2400" b="1" dirty="0"/>
              <a:t>与</a:t>
            </a:r>
            <a:r>
              <a:rPr lang="zh-CN" altLang="en-US" sz="2400" b="1" dirty="0">
                <a:solidFill>
                  <a:schemeClr val="accent2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操作</a:t>
            </a:r>
            <a:r>
              <a:rPr lang="zh-CN" altLang="en-US" sz="2400" b="1" dirty="0" smtClean="0"/>
              <a:t>要求存在差异，然而问题间仍具有一定</a:t>
            </a:r>
            <a:r>
              <a:rPr lang="zh-CN" altLang="en-US" sz="2400" b="1" dirty="0">
                <a:solidFill>
                  <a:srgbClr val="FF0000"/>
                </a:solidFill>
              </a:rPr>
              <a:t>相似之处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/>
              <a:t>例如：学生成绩管理</a:t>
            </a:r>
            <a:r>
              <a:rPr lang="zh-CN" altLang="en-US" sz="2200" b="1" dirty="0" smtClean="0"/>
              <a:t>问题与工资表</a:t>
            </a:r>
            <a:r>
              <a:rPr lang="zh-CN" altLang="en-US" sz="2200" b="1" dirty="0"/>
              <a:t>的处理问题</a:t>
            </a:r>
            <a:endParaRPr lang="zh-CN" altLang="en-US" sz="2200" b="1" dirty="0" smtClean="0"/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FF"/>
                </a:solidFill>
              </a:rPr>
              <a:t>数据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方面 ：</a:t>
            </a:r>
            <a:endParaRPr lang="en-US" altLang="zh-CN" sz="2000" b="1" dirty="0" smtClean="0">
              <a:solidFill>
                <a:srgbClr val="0000FF"/>
              </a:solidFill>
            </a:endParaRPr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/>
              <a:t>工资表和学生成绩表的具体信息（栏目）不同，但如果将两个表中的每个人的</a:t>
            </a:r>
            <a:r>
              <a:rPr lang="zh-CN" altLang="en-US" sz="2000" b="1" dirty="0">
                <a:solidFill>
                  <a:srgbClr val="FF0000"/>
                </a:solidFill>
              </a:rPr>
              <a:t>工资信息</a:t>
            </a:r>
            <a:r>
              <a:rPr lang="zh-CN" altLang="en-US" sz="2000" b="1" dirty="0" smtClean="0"/>
              <a:t>和</a:t>
            </a:r>
            <a:r>
              <a:rPr lang="zh-CN" altLang="en-US" sz="2000" b="1" dirty="0">
                <a:solidFill>
                  <a:srgbClr val="FF0000"/>
                </a:solidFill>
              </a:rPr>
              <a:t>成绩信息</a:t>
            </a:r>
            <a:r>
              <a:rPr lang="zh-CN" altLang="en-US" sz="2000" b="1" dirty="0" smtClean="0"/>
              <a:t>分别看作一个整体</a:t>
            </a:r>
            <a:r>
              <a:rPr lang="en-US" altLang="zh-CN" sz="2000" b="1" dirty="0">
                <a:sym typeface="Wingdings" panose="05000000000000000000" pitchFamily="2" charset="2"/>
              </a:rPr>
              <a:t> </a:t>
            </a:r>
            <a:r>
              <a:rPr lang="zh-CN" altLang="en-US" sz="2000" b="1" dirty="0" smtClean="0"/>
              <a:t>两个</a:t>
            </a:r>
            <a:r>
              <a:rPr lang="zh-CN" altLang="en-US" sz="2000" b="1" dirty="0">
                <a:solidFill>
                  <a:srgbClr val="FF0000"/>
                </a:solidFill>
              </a:rPr>
              <a:t>表结构之间</a:t>
            </a:r>
            <a:r>
              <a:rPr lang="zh-CN" altLang="en-US" sz="2000" b="1" dirty="0" smtClean="0"/>
              <a:t>就有了某些共性。</a:t>
            </a:r>
            <a:endParaRPr lang="zh-CN" altLang="en-US" sz="2000" b="1" dirty="0" smtClean="0"/>
          </a:p>
          <a:p>
            <a:pPr lvl="2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 smtClean="0">
                <a:solidFill>
                  <a:srgbClr val="0000FF"/>
                </a:solidFill>
              </a:rPr>
              <a:t>操作方面：</a:t>
            </a:r>
            <a:r>
              <a:rPr lang="zh-CN" altLang="en-US" sz="2000" b="1" dirty="0">
                <a:solidFill>
                  <a:srgbClr val="0000FF"/>
                </a:solidFill>
              </a:rPr>
              <a:t>对两表的操作存在差异，但也有相似的基本操作。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pPr lvl="4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 smtClean="0"/>
              <a:t>查询一个人的工资信息和成绩信息；</a:t>
            </a:r>
            <a:endParaRPr lang="en-US" altLang="zh-CN" b="1" dirty="0" smtClean="0"/>
          </a:p>
          <a:p>
            <a:pPr lvl="4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 smtClean="0"/>
              <a:t>修改有关信息等。</a:t>
            </a:r>
            <a:endParaRPr lang="zh-CN" altLang="en-US" b="1" dirty="0" smtClean="0"/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600" b="1" dirty="0" smtClean="0"/>
          </a:p>
        </p:txBody>
      </p:sp>
      <p:sp>
        <p:nvSpPr>
          <p:cNvPr id="6148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5D19A86-CBBC-40C2-980A-0A040E099D35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5"/>
          <p:cNvGrpSpPr/>
          <p:nvPr/>
        </p:nvGrpSpPr>
        <p:grpSpPr>
          <a:xfrm>
            <a:off x="539552" y="116632"/>
            <a:ext cx="4405423" cy="684042"/>
            <a:chOff x="958665" y="1326432"/>
            <a:chExt cx="4405423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1.1 </a:t>
            </a:r>
            <a:r>
              <a:rPr lang="zh-CN" altLang="en-US" smtClean="0"/>
              <a:t>研究内容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536104" y="1411282"/>
            <a:ext cx="8579296" cy="5040312"/>
          </a:xfrm>
        </p:spPr>
        <p:txBody>
          <a:bodyPr/>
          <a:lstStyle/>
          <a:p>
            <a:pPr marL="57150" indent="-457200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zh-CN" sz="3000" b="1" noProof="1" smtClean="0"/>
              <a:t>1</a:t>
            </a:r>
            <a:r>
              <a:rPr lang="zh-CN" altLang="en-US" sz="3000" b="1" noProof="1" smtClean="0"/>
              <a:t>）一元二次方程问题求解：</a:t>
            </a:r>
            <a:r>
              <a:rPr lang="en-US" altLang="zh-CN" sz="3000" b="1" noProof="1" smtClean="0"/>
              <a:t>a</a:t>
            </a:r>
            <a:r>
              <a:rPr lang="en-US" altLang="zh-CN" sz="3000" b="1" i="1" noProof="1" smtClean="0"/>
              <a:t>x</a:t>
            </a:r>
            <a:r>
              <a:rPr lang="en-US" altLang="zh-CN" sz="3000" b="1" baseline="30000" noProof="1" smtClean="0"/>
              <a:t>2</a:t>
            </a:r>
            <a:r>
              <a:rPr lang="en-US" altLang="zh-CN" sz="3000" b="1" noProof="1" smtClean="0"/>
              <a:t>+b</a:t>
            </a:r>
            <a:r>
              <a:rPr lang="en-US" altLang="zh-CN" sz="3000" b="1" i="1" noProof="1" smtClean="0"/>
              <a:t>x</a:t>
            </a:r>
            <a:r>
              <a:rPr lang="en-US" altLang="zh-CN" sz="3000" b="1" noProof="1" smtClean="0"/>
              <a:t>+c=0  </a:t>
            </a:r>
            <a:r>
              <a:rPr lang="en-US" altLang="zh-CN" sz="3000" b="1" noProof="1" smtClean="0">
                <a:solidFill>
                  <a:srgbClr val="0000FF"/>
                </a:solidFill>
              </a:rPr>
              <a:t> </a:t>
            </a:r>
            <a:r>
              <a:rPr lang="en-US" altLang="zh-CN" sz="3000" b="1" i="1" noProof="1">
                <a:solidFill>
                  <a:srgbClr val="0000FF"/>
                </a:solidFill>
              </a:rPr>
              <a:t>x</a:t>
            </a:r>
            <a:r>
              <a:rPr lang="en-US" altLang="zh-CN" sz="3000" b="1" noProof="1">
                <a:solidFill>
                  <a:srgbClr val="0000FF"/>
                </a:solidFill>
              </a:rPr>
              <a:t> = ? </a:t>
            </a:r>
            <a:r>
              <a:rPr lang="en-US" altLang="zh-CN" sz="3000" b="1" noProof="1" smtClean="0"/>
              <a:t>     </a:t>
            </a:r>
            <a:endParaRPr lang="en-US" altLang="zh-CN" sz="3000" b="1" noProof="1" smtClean="0"/>
          </a:p>
          <a:p>
            <a:pPr marL="457200" lvl="1" indent="-457200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2600" b="1" noProof="1" smtClean="0"/>
              <a:t>2</a:t>
            </a:r>
            <a:r>
              <a:rPr lang="en-US" altLang="en-US" sz="2600" b="1" noProof="1" smtClean="0"/>
              <a:t>）</a:t>
            </a:r>
            <a:r>
              <a:rPr lang="zh-CN" altLang="en-US" sz="2600" b="1" noProof="1" smtClean="0">
                <a:solidFill>
                  <a:srgbClr val="FF0000"/>
                </a:solidFill>
              </a:rPr>
              <a:t>走楼梯问题</a:t>
            </a:r>
            <a:r>
              <a:rPr lang="zh-CN" altLang="en-US" sz="2600" b="1" noProof="1" smtClean="0"/>
              <a:t>： </a:t>
            </a:r>
            <a:endParaRPr lang="zh-CN" altLang="en-US" sz="2600" b="1" noProof="1" smtClean="0"/>
          </a:p>
          <a:p>
            <a:pPr marL="0" lvl="1" indent="0" eaLnBrk="1" hangingPunct="1">
              <a:buFont typeface="Wingdings" panose="05000000000000000000" pitchFamily="2" charset="2"/>
              <a:buNone/>
            </a:pPr>
            <a:r>
              <a:rPr lang="zh-CN" altLang="en-US" b="1" noProof="1" smtClean="0"/>
              <a:t>                </a:t>
            </a:r>
            <a:r>
              <a:rPr lang="zh-CN" altLang="en-US" sz="2400" b="1" noProof="1" smtClean="0"/>
              <a:t>已知一楼梯共有</a:t>
            </a:r>
            <a:r>
              <a:rPr lang="en-US" altLang="zh-CN" sz="2400" b="1" i="1" noProof="1" smtClean="0"/>
              <a:t>n</a:t>
            </a:r>
            <a:r>
              <a:rPr lang="zh-CN" altLang="en-US" sz="2400" b="1" noProof="1" smtClean="0"/>
              <a:t>级台阶，某人走上该楼梯时，</a:t>
            </a:r>
            <a:r>
              <a:rPr lang="zh-CN" altLang="en-US" sz="2400" b="1" noProof="1" smtClean="0">
                <a:solidFill>
                  <a:srgbClr val="0000FF"/>
                </a:solidFill>
              </a:rPr>
              <a:t>一步                 </a:t>
            </a:r>
            <a:endParaRPr lang="en-US" altLang="zh-CN" sz="2400" b="1" noProof="1" smtClean="0">
              <a:solidFill>
                <a:srgbClr val="0000FF"/>
              </a:solidFill>
            </a:endParaRPr>
          </a:p>
          <a:p>
            <a:pPr marL="0" lvl="1" indent="0" eaLnBrk="1" hangingPunct="1">
              <a:buFont typeface="Wingdings" panose="05000000000000000000" pitchFamily="2" charset="2"/>
              <a:buNone/>
            </a:pPr>
            <a:r>
              <a:rPr lang="en-US" altLang="zh-CN" sz="2400" b="1" noProof="1">
                <a:solidFill>
                  <a:srgbClr val="0000FF"/>
                </a:solidFill>
              </a:rPr>
              <a:t> </a:t>
            </a:r>
            <a:r>
              <a:rPr lang="en-US" altLang="zh-CN" sz="2400" b="1" noProof="1" smtClean="0">
                <a:solidFill>
                  <a:srgbClr val="0000FF"/>
                </a:solidFill>
              </a:rPr>
              <a:t>                 </a:t>
            </a:r>
            <a:r>
              <a:rPr lang="zh-CN" altLang="en-US" sz="2400" b="1" noProof="1" smtClean="0">
                <a:solidFill>
                  <a:srgbClr val="0000FF"/>
                </a:solidFill>
              </a:rPr>
              <a:t>可能跨一级台阶，也可能跨</a:t>
            </a:r>
            <a:r>
              <a:rPr lang="zh-CN" altLang="en-US" sz="2400" b="1" noProof="1" smtClean="0"/>
              <a:t>两级台阶。问：</a:t>
            </a:r>
            <a:r>
              <a:rPr lang="zh-CN" altLang="en-US" sz="2400" b="1" noProof="1" smtClean="0">
                <a:solidFill>
                  <a:srgbClr val="FF0000"/>
                </a:solidFill>
              </a:rPr>
              <a:t>共有多   </a:t>
            </a:r>
            <a:endParaRPr lang="en-US" altLang="zh-CN" sz="2400" b="1" noProof="1" smtClean="0">
              <a:solidFill>
                <a:srgbClr val="FF0000"/>
              </a:solidFill>
            </a:endParaRPr>
          </a:p>
          <a:p>
            <a:pPr marL="0" lvl="1" indent="0" eaLnBrk="1" hangingPunct="1">
              <a:buFont typeface="Wingdings" panose="05000000000000000000" pitchFamily="2" charset="2"/>
              <a:buNone/>
            </a:pPr>
            <a:r>
              <a:rPr lang="en-US" altLang="zh-CN" sz="2400" b="1" noProof="1">
                <a:solidFill>
                  <a:srgbClr val="FF0000"/>
                </a:solidFill>
              </a:rPr>
              <a:t> </a:t>
            </a:r>
            <a:r>
              <a:rPr lang="en-US" altLang="zh-CN" sz="2400" b="1" noProof="1" smtClean="0">
                <a:solidFill>
                  <a:srgbClr val="FF0000"/>
                </a:solidFill>
              </a:rPr>
              <a:t>                 </a:t>
            </a:r>
            <a:r>
              <a:rPr lang="zh-CN" altLang="en-US" sz="2400" b="1" noProof="1" smtClean="0">
                <a:solidFill>
                  <a:srgbClr val="FF0000"/>
                </a:solidFill>
              </a:rPr>
              <a:t>少种</a:t>
            </a:r>
            <a:r>
              <a:rPr lang="zh-CN" altLang="en-US" sz="2400" b="1" noProof="1" smtClean="0"/>
              <a:t>可能的行走序列？</a:t>
            </a:r>
            <a:endParaRPr lang="zh-CN" altLang="en-US" sz="2400" b="1" noProof="1" smtClean="0"/>
          </a:p>
          <a:p>
            <a:pPr marL="457200" lvl="1" indent="-457200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zh-CN" sz="2600" b="1" noProof="1" smtClean="0"/>
              <a:t>3</a:t>
            </a:r>
            <a:r>
              <a:rPr lang="zh-CN" altLang="en-US" sz="2600" b="1" noProof="1" smtClean="0"/>
              <a:t>）</a:t>
            </a:r>
            <a:r>
              <a:rPr lang="zh-CN" altLang="en-US" sz="2600" b="1" noProof="1" smtClean="0">
                <a:solidFill>
                  <a:srgbClr val="FF0000"/>
                </a:solidFill>
              </a:rPr>
              <a:t>兔子繁殖问题</a:t>
            </a:r>
            <a:r>
              <a:rPr lang="zh-CN" altLang="en-US" sz="2600" b="1" noProof="1" smtClean="0"/>
              <a:t>：</a:t>
            </a:r>
            <a:endParaRPr lang="zh-CN" altLang="en-US" sz="2600" b="1" noProof="1" smtClean="0"/>
          </a:p>
          <a:p>
            <a:pPr marL="0" lvl="1" indent="0" eaLnBrk="1" hangingPunct="1">
              <a:buFont typeface="Wingdings" panose="05000000000000000000" pitchFamily="2" charset="2"/>
              <a:buNone/>
            </a:pPr>
            <a:r>
              <a:rPr lang="zh-CN" altLang="en-US" b="1" noProof="1" smtClean="0"/>
              <a:t>                          </a:t>
            </a:r>
            <a:r>
              <a:rPr lang="zh-CN" altLang="en-US" sz="2600" b="1" noProof="1" smtClean="0"/>
              <a:t>某人新买一对小兔子，假设一对兔子从第      </a:t>
            </a:r>
            <a:endParaRPr lang="en-US" altLang="zh-CN" sz="2600" b="1" noProof="1" smtClean="0"/>
          </a:p>
          <a:p>
            <a:pPr marL="0" lvl="1" indent="0" eaLnBrk="1" hangingPunct="1">
              <a:buFont typeface="Wingdings" panose="05000000000000000000" pitchFamily="2" charset="2"/>
              <a:buNone/>
            </a:pPr>
            <a:r>
              <a:rPr lang="en-US" altLang="zh-CN" sz="2600" b="1" noProof="1"/>
              <a:t> </a:t>
            </a:r>
            <a:r>
              <a:rPr lang="en-US" altLang="zh-CN" sz="2600" b="1" noProof="1" smtClean="0"/>
              <a:t>                           3</a:t>
            </a:r>
            <a:r>
              <a:rPr lang="zh-CN" altLang="en-US" sz="2600" b="1" noProof="1" smtClean="0"/>
              <a:t>个月开始，每月可生一对兔子。</a:t>
            </a:r>
            <a:r>
              <a:rPr lang="zh-CN" altLang="en-US" sz="2600" b="1" noProof="1" smtClean="0">
                <a:solidFill>
                  <a:srgbClr val="0000FF"/>
                </a:solidFill>
              </a:rPr>
              <a:t>假设新     </a:t>
            </a:r>
            <a:endParaRPr lang="en-US" altLang="zh-CN" sz="2600" b="1" noProof="1" smtClean="0">
              <a:solidFill>
                <a:srgbClr val="0000FF"/>
              </a:solidFill>
            </a:endParaRPr>
          </a:p>
          <a:p>
            <a:pPr marL="0" lvl="1" indent="0" eaLnBrk="1" hangingPunct="1">
              <a:buFont typeface="Wingdings" panose="05000000000000000000" pitchFamily="2" charset="2"/>
              <a:buNone/>
            </a:pPr>
            <a:r>
              <a:rPr lang="en-US" altLang="zh-CN" sz="2600" b="1" noProof="1">
                <a:solidFill>
                  <a:srgbClr val="0000FF"/>
                </a:solidFill>
              </a:rPr>
              <a:t> </a:t>
            </a:r>
            <a:r>
              <a:rPr lang="en-US" altLang="zh-CN" sz="2600" b="1" noProof="1" smtClean="0">
                <a:solidFill>
                  <a:srgbClr val="0000FF"/>
                </a:solidFill>
              </a:rPr>
              <a:t>                          </a:t>
            </a:r>
            <a:r>
              <a:rPr lang="zh-CN" altLang="en-US" sz="2600" b="1" noProof="1" smtClean="0">
                <a:solidFill>
                  <a:srgbClr val="0000FF"/>
                </a:solidFill>
              </a:rPr>
              <a:t>生兔子生产规律类似</a:t>
            </a:r>
            <a:r>
              <a:rPr lang="zh-CN" altLang="en-US" sz="2600" b="1" noProof="1" smtClean="0"/>
              <a:t>，问：到第</a:t>
            </a:r>
            <a:r>
              <a:rPr lang="en-US" altLang="zh-CN" sz="2600" b="1" i="1" noProof="1" smtClean="0"/>
              <a:t>n</a:t>
            </a:r>
            <a:r>
              <a:rPr lang="zh-CN" altLang="en-US" sz="2600" b="1" noProof="1" smtClean="0"/>
              <a:t>个月时，</a:t>
            </a:r>
            <a:endParaRPr lang="en-US" altLang="zh-CN" sz="2600" b="1" noProof="1" smtClean="0"/>
          </a:p>
          <a:p>
            <a:pPr marL="0" lvl="1" indent="0" eaLnBrk="1" hangingPunct="1">
              <a:buFont typeface="Wingdings" panose="05000000000000000000" pitchFamily="2" charset="2"/>
              <a:buNone/>
            </a:pPr>
            <a:r>
              <a:rPr lang="en-US" altLang="zh-CN" sz="2600" b="1" noProof="1"/>
              <a:t> </a:t>
            </a:r>
            <a:r>
              <a:rPr lang="en-US" altLang="zh-CN" sz="2600" b="1" noProof="1" smtClean="0"/>
              <a:t>                          </a:t>
            </a:r>
            <a:r>
              <a:rPr lang="zh-CN" altLang="en-US" sz="2600" b="1" noProof="1" smtClean="0"/>
              <a:t>共有多少对兔子？</a:t>
            </a:r>
            <a:endParaRPr lang="zh-CN" altLang="en-US" sz="2600" b="1" noProof="1" smtClean="0"/>
          </a:p>
          <a:p>
            <a:pPr eaLnBrk="1" hangingPunct="1"/>
            <a:endParaRPr lang="zh-CN" altLang="en-US" noProof="1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497114" y="1796070"/>
            <a:ext cx="1675011" cy="15785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125" y="1774394"/>
            <a:ext cx="1981200" cy="1600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3446" y="2420888"/>
            <a:ext cx="1297442" cy="133808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79520" y="6348328"/>
            <a:ext cx="14173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1000" b="1" dirty="0" smtClean="0"/>
              <a:t>注</a:t>
            </a:r>
            <a:r>
              <a:rPr lang="en-US" altLang="zh-CN" sz="1000" b="1" dirty="0" smtClean="0"/>
              <a:t>: </a:t>
            </a:r>
            <a:r>
              <a:rPr lang="zh-CN" altLang="en-US" sz="1000" b="1" dirty="0" smtClean="0"/>
              <a:t>图片来自百度图片</a:t>
            </a:r>
            <a:endParaRPr lang="zh-CN" altLang="en-US" sz="1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04" y="4318443"/>
            <a:ext cx="2293464" cy="18002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23528" y="942974"/>
            <a:ext cx="2637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更多实际问题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5676112" y="5755047"/>
                <a:ext cx="1132361" cy="6274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zh-CN" alt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zh-CN" altLang="en-US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112" y="5755047"/>
                <a:ext cx="1132361" cy="627416"/>
              </a:xfrm>
              <a:prstGeom prst="rect">
                <a:avLst/>
              </a:prstGeom>
              <a:blipFill rotWithShape="1">
                <a:blip r:embed="rId5"/>
                <a:stretch>
                  <a:fillRect l="-43" t="-7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7053819" y="5749311"/>
                <a:ext cx="11323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819" y="5749311"/>
                <a:ext cx="113236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21" t="-6" r="35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7033163" y="6093296"/>
                <a:ext cx="11315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zh-CN" alt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63" y="6093296"/>
                <a:ext cx="1131592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48" t="-128" r="49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/>
              <p:cNvSpPr/>
              <p:nvPr/>
            </p:nvSpPr>
            <p:spPr>
              <a:xfrm>
                <a:off x="7021049" y="6102074"/>
                <a:ext cx="11315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zh-CN" altLang="en-US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049" y="6102074"/>
                <a:ext cx="1131592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43" t="-97" r="45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5172125" y="3402028"/>
                <a:ext cx="2382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)→</m:t>
                          </m:r>
                          <m:r>
                            <a:rPr lang="zh-CN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zh-CN" alt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zh-CN" alt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←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125" y="3402028"/>
                <a:ext cx="2382960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2" t="-90" r="2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3" grpId="0" animBg="1"/>
      <p:bldP spid="16" grpId="0" animBg="1"/>
      <p:bldP spid="16" grpId="1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7170"/>
          <p:cNvSpPr>
            <a:spLocks noGrp="1" noChangeArrowheads="1"/>
          </p:cNvSpPr>
          <p:nvPr>
            <p:ph idx="1"/>
          </p:nvPr>
        </p:nvSpPr>
        <p:spPr>
          <a:xfrm>
            <a:off x="539552" y="1052736"/>
            <a:ext cx="7993062" cy="47529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srgbClr val="0000FF"/>
                </a:solidFill>
              </a:rPr>
              <a:t>问题建模</a:t>
            </a:r>
            <a:r>
              <a:rPr lang="zh-CN" altLang="en-US" sz="2400" b="1" dirty="0" smtClean="0"/>
              <a:t>：将一个具体问题用这些共性的形式描述出来</a:t>
            </a:r>
            <a:endParaRPr lang="zh-CN" altLang="en-US" sz="2400" b="1" dirty="0" smtClean="0"/>
          </a:p>
          <a:p>
            <a:pPr eaLnBrk="1" hangingPunct="1">
              <a:lnSpc>
                <a:spcPct val="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/>
              <a:t>问题建模包含：</a:t>
            </a:r>
            <a:endParaRPr lang="zh-CN" altLang="en-US" sz="2400" b="1" dirty="0" smtClean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所描述问题中的数据对象的集合；</a:t>
            </a:r>
            <a:endParaRPr lang="zh-CN" altLang="en-US" sz="2000" b="1" dirty="0" smtClean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对象间关系及其描述；</a:t>
            </a:r>
            <a:endParaRPr lang="zh-CN" altLang="en-US" sz="2000" b="1" dirty="0" smtClean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问题求解的要求及方法等。</a:t>
            </a:r>
            <a:endParaRPr lang="en-US" altLang="zh-CN" sz="2000" b="1" dirty="0" smtClean="0"/>
          </a:p>
          <a:p>
            <a:pPr lvl="1">
              <a:lnSpc>
                <a:spcPct val="3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zh-CN" altLang="en-US" sz="1600" b="1" dirty="0" smtClean="0"/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/>
              <a:t>建立问题模型的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好处</a:t>
            </a:r>
            <a:r>
              <a:rPr lang="zh-CN" altLang="en-US" sz="2400" b="1" dirty="0" smtClean="0"/>
              <a:t>：</a:t>
            </a:r>
            <a:endParaRPr lang="zh-CN" altLang="en-US" sz="2400" b="1" dirty="0" smtClean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b="1" dirty="0" smtClean="0"/>
              <a:t>通过建立模型，可将一个具体的问题转换为所熟悉的模型，借助此模型来实现；</a:t>
            </a:r>
            <a:endParaRPr lang="zh-CN" altLang="en-US" sz="2000" b="1" dirty="0" smtClean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b="1" dirty="0" smtClean="0"/>
              <a:t>涉及数据结构、离散数学及许多数学课程中的许多模型，例如：</a:t>
            </a:r>
            <a:endParaRPr lang="zh-CN" altLang="en-US" sz="2000" b="1" dirty="0" smtClean="0"/>
          </a:p>
          <a:p>
            <a:pPr lvl="2" eaLnBrk="1" hangingPunct="1">
              <a:buClr>
                <a:srgbClr val="FF0000"/>
              </a:buClr>
            </a:pPr>
            <a:r>
              <a:rPr lang="zh-CN" altLang="en-US" sz="2000" b="1" dirty="0" smtClean="0"/>
              <a:t>描述一个群体中个体之间的关系：可采用“数据结构</a:t>
            </a:r>
            <a:r>
              <a:rPr lang="en-US" altLang="zh-CN" sz="2000" b="1" dirty="0" smtClean="0"/>
              <a:t>”</a:t>
            </a:r>
            <a:r>
              <a:rPr lang="zh-CN" altLang="en-US" sz="2000" b="1" dirty="0" smtClean="0"/>
              <a:t>和“离散数学</a:t>
            </a:r>
            <a:r>
              <a:rPr lang="en-US" altLang="zh-CN" sz="2000" b="1" dirty="0" smtClean="0"/>
              <a:t>”</a:t>
            </a:r>
            <a:r>
              <a:rPr lang="zh-CN" altLang="en-US" sz="2000" b="1" dirty="0" smtClean="0"/>
              <a:t>中所介绍的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图结构</a:t>
            </a:r>
            <a:r>
              <a:rPr lang="zh-CN" altLang="en-US" sz="2000" b="1" dirty="0" smtClean="0"/>
              <a:t>；</a:t>
            </a:r>
            <a:endParaRPr lang="zh-CN" altLang="en-US" sz="2000" b="1" dirty="0" smtClean="0"/>
          </a:p>
          <a:p>
            <a:pPr lvl="2" eaLnBrk="1" hangingPunct="1">
              <a:buClr>
                <a:srgbClr val="FF0000"/>
              </a:buClr>
            </a:pPr>
            <a:r>
              <a:rPr lang="zh-CN" altLang="en-US" sz="2000" b="1" dirty="0" smtClean="0"/>
              <a:t>描述一个工程内的关系或进展情况：可</a:t>
            </a:r>
            <a:r>
              <a:rPr lang="zh-CN" altLang="en-US" sz="2000" b="1" dirty="0"/>
              <a:t>采用“数据结构</a:t>
            </a:r>
            <a:r>
              <a:rPr lang="en-US" altLang="zh-CN" sz="2000" b="1" dirty="0" smtClean="0"/>
              <a:t>”</a:t>
            </a:r>
            <a:r>
              <a:rPr lang="zh-CN" altLang="en-US" sz="2000" b="1" dirty="0" smtClean="0"/>
              <a:t>中所介绍的</a:t>
            </a:r>
            <a:r>
              <a:rPr lang="en-US" altLang="zh-CN" sz="2000" b="1" dirty="0">
                <a:solidFill>
                  <a:srgbClr val="FF0000"/>
                </a:solidFill>
              </a:rPr>
              <a:t>AOV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Activity on </a:t>
            </a:r>
            <a:r>
              <a:rPr lang="en-US" altLang="zh-CN" sz="2000" b="1" dirty="0" err="1">
                <a:solidFill>
                  <a:srgbClr val="0000FF"/>
                </a:solidFill>
              </a:rPr>
              <a:t>Vextex</a:t>
            </a:r>
            <a:r>
              <a:rPr lang="en-US" altLang="zh-CN" sz="2000" b="1" dirty="0"/>
              <a:t>)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网或</a:t>
            </a:r>
            <a:r>
              <a:rPr lang="en-US" altLang="zh-CN" sz="2000" b="1" dirty="0">
                <a:solidFill>
                  <a:srgbClr val="FF0000"/>
                </a:solidFill>
              </a:rPr>
              <a:t>AOE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Activity On Edge</a:t>
            </a:r>
            <a:r>
              <a:rPr lang="en-US" altLang="zh-CN" sz="2000" b="1" dirty="0"/>
              <a:t>)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网</a:t>
            </a:r>
            <a:r>
              <a:rPr lang="zh-CN" altLang="en-US" sz="2000" b="1" dirty="0" smtClean="0"/>
              <a:t>等；</a:t>
            </a:r>
            <a:endParaRPr lang="zh-CN" altLang="en-US" sz="2000" b="1" dirty="0" smtClean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000" b="1" dirty="0" smtClean="0"/>
              <a:t>即使所建立的模型无现成的求解方法，借助于已有的模型的适当组合也较易于构造求解方法。</a:t>
            </a:r>
            <a:endParaRPr lang="zh-CN" altLang="en-US" sz="2000" b="1" dirty="0" smtClean="0"/>
          </a:p>
        </p:txBody>
      </p:sp>
      <p:sp>
        <p:nvSpPr>
          <p:cNvPr id="8196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295FC57-8229-459F-ADB9-EB74B1655080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5"/>
          <p:cNvGrpSpPr/>
          <p:nvPr/>
        </p:nvGrpSpPr>
        <p:grpSpPr>
          <a:xfrm>
            <a:off x="539552" y="116632"/>
            <a:ext cx="4405423" cy="684042"/>
            <a:chOff x="958665" y="1326432"/>
            <a:chExt cx="4405423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内容占位符 8194"/>
          <p:cNvSpPr>
            <a:spLocks noGrp="1" noChangeArrowheads="1"/>
          </p:cNvSpPr>
          <p:nvPr>
            <p:ph idx="1"/>
          </p:nvPr>
        </p:nvSpPr>
        <p:spPr>
          <a:xfrm>
            <a:off x="457200" y="1124745"/>
            <a:ext cx="8229600" cy="496855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问题求解之二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：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构造求解算法 </a:t>
            </a:r>
            <a:endParaRPr lang="zh-CN" altLang="en-US" sz="2800" b="1" dirty="0" smtClean="0">
              <a:solidFill>
                <a:srgbClr val="0000FF"/>
              </a:solidFill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/>
              <a:t>通过问题建模，将一个具体的问题转换成一个用模型所描述的抽象的问题；</a:t>
            </a:r>
            <a:endParaRPr lang="zh-CN" altLang="en-US" sz="2600" b="1" dirty="0" smtClean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/>
              <a:t>借助这一模型</a:t>
            </a:r>
            <a:r>
              <a:rPr lang="zh-CN" altLang="en-US" sz="2600" b="1" dirty="0"/>
              <a:t>与</a:t>
            </a:r>
            <a:r>
              <a:rPr lang="zh-CN" altLang="en-US" sz="2600" b="1" dirty="0" smtClean="0"/>
              <a:t>已有知识</a:t>
            </a:r>
            <a:r>
              <a:rPr lang="en-US" altLang="zh-CN" sz="2600" b="1" dirty="0" smtClean="0"/>
              <a:t>(</a:t>
            </a:r>
            <a:r>
              <a:rPr lang="zh-CN" altLang="en-US" sz="2600" b="1" dirty="0" smtClean="0"/>
              <a:t>如</a:t>
            </a:r>
            <a:r>
              <a:rPr lang="en-US" altLang="zh-CN" sz="2600" b="1" dirty="0" smtClean="0"/>
              <a:t>: </a:t>
            </a:r>
            <a:r>
              <a:rPr lang="zh-CN" altLang="en-US" sz="2600" b="1" dirty="0" smtClean="0"/>
              <a:t>图结构的基本知识），</a:t>
            </a:r>
            <a:endParaRPr lang="zh-CN" altLang="en-US" sz="26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600" b="1" dirty="0" smtClean="0"/>
              <a:t>         可以相对容易地描述出原问题的求解方法，即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算法</a:t>
            </a:r>
            <a:r>
              <a:rPr lang="zh-CN" altLang="en-US" sz="2600" b="1" dirty="0" smtClean="0"/>
              <a:t>。</a:t>
            </a:r>
            <a:endParaRPr lang="zh-CN" altLang="en-US" sz="2600" b="1" dirty="0" smtClean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/>
              <a:t>算法设计过程中可能会涉及到多种技术</a:t>
            </a:r>
            <a:endParaRPr lang="zh-CN" altLang="en-US" sz="2600" b="1" dirty="0" smtClean="0"/>
          </a:p>
          <a:p>
            <a:pPr lvl="2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 smtClean="0"/>
              <a:t>例如：</a:t>
            </a:r>
            <a:r>
              <a:rPr lang="zh-CN" altLang="en-US" b="1" dirty="0" smtClean="0">
                <a:solidFill>
                  <a:srgbClr val="0000FF"/>
                </a:solidFill>
              </a:rPr>
              <a:t>递归、分治法、贪心法</a:t>
            </a:r>
            <a:r>
              <a:rPr lang="zh-CN" altLang="en-US" b="1" dirty="0" smtClean="0"/>
              <a:t>等</a:t>
            </a:r>
            <a:endParaRPr lang="zh-CN" altLang="en-US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 smtClean="0">
                <a:solidFill>
                  <a:srgbClr val="0000FF"/>
                </a:solidFill>
              </a:rPr>
              <a:t>算法分析与设计能力</a:t>
            </a:r>
            <a:r>
              <a:rPr lang="zh-CN" altLang="en-US" sz="2600" b="1" dirty="0" smtClean="0"/>
              <a:t>是计算机类专业的</a:t>
            </a:r>
            <a:r>
              <a:rPr lang="zh-CN" altLang="en-US" sz="2600" b="1" dirty="0" smtClean="0">
                <a:solidFill>
                  <a:srgbClr val="FF0000"/>
                </a:solidFill>
              </a:rPr>
              <a:t>核心能力之一</a:t>
            </a:r>
            <a:r>
              <a:rPr lang="zh-CN" altLang="en-US" sz="2600" b="1" dirty="0" smtClean="0"/>
              <a:t>，</a:t>
            </a:r>
            <a:endParaRPr lang="zh-CN" altLang="en-US" sz="26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</a:t>
            </a:r>
            <a:r>
              <a:rPr lang="zh-CN" altLang="en-US" sz="2600" b="1" dirty="0" smtClean="0"/>
              <a:t>是区别于其他专业的最核心能力之一</a:t>
            </a:r>
            <a:endParaRPr lang="zh-CN" altLang="en-US" sz="2600" b="1" dirty="0" smtClean="0"/>
          </a:p>
          <a:p>
            <a:pPr lvl="1">
              <a:lnSpc>
                <a:spcPct val="80000"/>
              </a:lnSpc>
            </a:pPr>
            <a:r>
              <a:rPr lang="zh-CN" altLang="en-US" sz="2400" b="1" dirty="0" smtClean="0"/>
              <a:t>从某种意义上说，该算法不仅能实现原问题的求解；</a:t>
            </a:r>
            <a:endParaRPr lang="en-US" altLang="zh-CN" sz="2400" b="1" dirty="0" smtClean="0"/>
          </a:p>
          <a:p>
            <a:pPr lvl="1">
              <a:lnSpc>
                <a:spcPct val="80000"/>
              </a:lnSpc>
            </a:pPr>
            <a:r>
              <a:rPr lang="zh-CN" altLang="en-US" sz="2400" b="1" dirty="0" smtClean="0"/>
              <a:t>且还可能实现许多类似的具体问题的求解；</a:t>
            </a:r>
            <a:endParaRPr lang="en-US" altLang="zh-CN" sz="2400" b="1" dirty="0" smtClean="0"/>
          </a:p>
          <a:p>
            <a:pPr lvl="1">
              <a:lnSpc>
                <a:spcPct val="80000"/>
              </a:lnSpc>
            </a:pPr>
            <a:r>
              <a:rPr lang="zh-CN" altLang="en-US" sz="2400" b="1" dirty="0" smtClean="0"/>
              <a:t>尽管这些具体问题的背景及其描述形式可能存在较大的差异。</a:t>
            </a:r>
            <a:endParaRPr lang="zh-CN" altLang="en-US" sz="2400" b="1" dirty="0" smtClean="0"/>
          </a:p>
        </p:txBody>
      </p:sp>
      <p:sp>
        <p:nvSpPr>
          <p:cNvPr id="922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BBE1938-A4E7-4BA8-9784-65D6ADBA9C20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5"/>
          <p:cNvGrpSpPr/>
          <p:nvPr/>
        </p:nvGrpSpPr>
        <p:grpSpPr>
          <a:xfrm>
            <a:off x="539552" y="116632"/>
            <a:ext cx="4405423" cy="684042"/>
            <a:chOff x="958665" y="1326432"/>
            <a:chExt cx="4405423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内容占位符 9218"/>
          <p:cNvSpPr>
            <a:spLocks noGrp="1" noChangeArrowheads="1"/>
          </p:cNvSpPr>
          <p:nvPr>
            <p:ph idx="1"/>
          </p:nvPr>
        </p:nvSpPr>
        <p:spPr>
          <a:xfrm>
            <a:off x="527001" y="1052736"/>
            <a:ext cx="7993062" cy="4535487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问题求解之三：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选择或设计存储结构 </a:t>
            </a:r>
            <a:endParaRPr lang="zh-CN" altLang="en-US" sz="2800" b="1" dirty="0" smtClean="0">
              <a:solidFill>
                <a:srgbClr val="0000FF"/>
              </a:solidFill>
            </a:endParaRP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/>
              <a:t>构造求解算法后，需考虑其计算机上的实现求解</a:t>
            </a:r>
            <a:endParaRPr lang="en-US" altLang="zh-CN" sz="2600" b="1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/>
              <a:t>包括两方面的工作：</a:t>
            </a:r>
            <a:endParaRPr lang="zh-CN" altLang="en-US" sz="2600" b="1" dirty="0" smtClean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</a:rPr>
              <a:t>选择或设计合适的存储结构</a:t>
            </a:r>
            <a:endParaRPr lang="zh-CN" altLang="en-US" b="1" dirty="0" smtClean="0">
              <a:solidFill>
                <a:srgbClr val="0000FF"/>
              </a:solidFill>
            </a:endParaRPr>
          </a:p>
          <a:p>
            <a:pPr lvl="3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以便将问题所涉及到的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数据存储</a:t>
            </a:r>
            <a:r>
              <a:rPr lang="zh-CN" altLang="en-US" sz="2200" b="1" dirty="0" smtClean="0"/>
              <a:t>到计算机中</a:t>
            </a:r>
            <a:endParaRPr lang="en-US" altLang="zh-CN" sz="2200" b="1" dirty="0" smtClean="0"/>
          </a:p>
          <a:p>
            <a:pPr lvl="4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 smtClean="0"/>
              <a:t>包括：数据中的基本对象及对象之间的关系</a:t>
            </a:r>
            <a:endParaRPr lang="zh-CN" altLang="en-US" b="1" dirty="0" smtClean="0"/>
          </a:p>
          <a:p>
            <a:pPr lvl="3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不同的存储形式对问题的求解实现有较大的影响   </a:t>
            </a:r>
            <a:endParaRPr lang="zh-CN" altLang="en-US" sz="2200" b="1" dirty="0" smtClean="0"/>
          </a:p>
          <a:p>
            <a:pPr lvl="3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所占用的存储空间也可能有较大的差异</a:t>
            </a:r>
            <a:endParaRPr lang="zh-CN" altLang="en-US" sz="2200" b="1" dirty="0" smtClean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 smtClean="0">
                <a:solidFill>
                  <a:srgbClr val="0000FF"/>
                </a:solidFill>
              </a:rPr>
              <a:t>设计程序，实现问题求解</a:t>
            </a:r>
            <a:endParaRPr lang="zh-CN" altLang="en-US" sz="1600" b="1" dirty="0" smtClean="0"/>
          </a:p>
          <a:p>
            <a:pPr lvl="3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>
                <a:solidFill>
                  <a:srgbClr val="FF0000"/>
                </a:solidFill>
              </a:rPr>
              <a:t>存储形式和问题要求</a:t>
            </a:r>
            <a:r>
              <a:rPr lang="zh-CN" altLang="en-US" sz="2200" b="1" dirty="0" smtClean="0"/>
              <a:t>决定了程序设计的方法</a:t>
            </a:r>
            <a:endParaRPr lang="zh-CN" altLang="en-US" sz="2200" b="1" dirty="0" smtClean="0"/>
          </a:p>
          <a:p>
            <a:pPr lvl="3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200" b="1" dirty="0" smtClean="0"/>
              <a:t>另外，</a:t>
            </a:r>
            <a:r>
              <a:rPr lang="zh-CN" altLang="en-US" sz="2200" b="1" dirty="0" smtClean="0">
                <a:solidFill>
                  <a:srgbClr val="0000FF"/>
                </a:solidFill>
              </a:rPr>
              <a:t>程序设计环境（如</a:t>
            </a:r>
            <a:r>
              <a:rPr lang="en-US" altLang="zh-CN" sz="2200" b="1" dirty="0" smtClean="0">
                <a:solidFill>
                  <a:srgbClr val="0000FF"/>
                </a:solidFill>
              </a:rPr>
              <a:t>VC</a:t>
            </a:r>
            <a:r>
              <a:rPr lang="zh-CN" altLang="en-US" sz="2200" b="1" dirty="0" smtClean="0">
                <a:solidFill>
                  <a:srgbClr val="0000FF"/>
                </a:solidFill>
              </a:rPr>
              <a:t>）的熟练掌握</a:t>
            </a:r>
            <a:r>
              <a:rPr lang="zh-CN" altLang="en-US" sz="2200" b="1" dirty="0" smtClean="0"/>
              <a:t>也是本课程的学习过程中需要 注意的教学目标之一</a:t>
            </a:r>
            <a:endParaRPr lang="zh-CN" altLang="en-US" sz="2200" b="1" dirty="0" smtClean="0"/>
          </a:p>
        </p:txBody>
      </p:sp>
      <p:sp>
        <p:nvSpPr>
          <p:cNvPr id="10244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C7E2A16-74B3-4EE5-B909-F0201233AEF8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5"/>
          <p:cNvGrpSpPr/>
          <p:nvPr/>
        </p:nvGrpSpPr>
        <p:grpSpPr>
          <a:xfrm>
            <a:off x="539552" y="116632"/>
            <a:ext cx="4405423" cy="684042"/>
            <a:chOff x="958665" y="1326432"/>
            <a:chExt cx="4405423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10242"/>
          <p:cNvSpPr>
            <a:spLocks noGrp="1" noChangeArrowheads="1"/>
          </p:cNvSpPr>
          <p:nvPr>
            <p:ph idx="1"/>
          </p:nvPr>
        </p:nvSpPr>
        <p:spPr>
          <a:xfrm>
            <a:off x="323528" y="1052736"/>
            <a:ext cx="8568952" cy="496865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问题求解之四：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测试</a:t>
            </a:r>
            <a:endParaRPr lang="zh-CN" altLang="en-US" sz="28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b="1" dirty="0" smtClean="0"/>
              <a:t>     </a:t>
            </a:r>
            <a:r>
              <a:rPr lang="zh-CN" altLang="en-US" sz="2400" b="1" dirty="0" smtClean="0"/>
              <a:t>如何认定所设计的算法及程序能正确实现预定的功能和目标</a:t>
            </a:r>
            <a:r>
              <a:rPr lang="zh-CN" altLang="en-US" sz="2200" b="1" dirty="0" smtClean="0"/>
              <a:t>？</a:t>
            </a:r>
            <a:endParaRPr lang="zh-CN" altLang="en-US" sz="2200" b="1" dirty="0" smtClean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>
                <a:solidFill>
                  <a:srgbClr val="0000FF"/>
                </a:solidFill>
              </a:rPr>
              <a:t>理论证明</a:t>
            </a:r>
            <a:endParaRPr lang="zh-CN" altLang="en-US" sz="2600" b="1" dirty="0" smtClean="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 smtClean="0"/>
              <a:t>这是计算机科学领域曾经开展过的工作</a:t>
            </a:r>
            <a:endParaRPr lang="zh-CN" altLang="en-US" sz="2200" b="1" dirty="0" smtClean="0"/>
          </a:p>
          <a:p>
            <a:pPr lvl="2">
              <a:lnSpc>
                <a:spcPct val="80000"/>
              </a:lnSpc>
              <a:buClr>
                <a:srgbClr val="FF0000"/>
              </a:buClr>
            </a:pPr>
            <a:r>
              <a:rPr lang="zh-CN" altLang="en-US" sz="2200" b="1" dirty="0" smtClean="0"/>
              <a:t>由于算法和程序的复杂性急剧增长，因而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难以实用</a:t>
            </a:r>
            <a:endParaRPr lang="zh-CN" altLang="en-US" sz="2200" b="1" dirty="0" smtClean="0"/>
          </a:p>
          <a:p>
            <a:pPr lvl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>
                <a:solidFill>
                  <a:srgbClr val="0000FF"/>
                </a:solidFill>
              </a:rPr>
              <a:t>测试</a:t>
            </a:r>
            <a:endParaRPr lang="en-US" altLang="zh-CN" sz="2600" b="1" dirty="0" smtClean="0">
              <a:solidFill>
                <a:srgbClr val="0000FF"/>
              </a:solidFill>
            </a:endParaRPr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 smtClean="0"/>
              <a:t>通过对所开发的系统或模块，运行给定的测试数据，以发现存在的错误，而不是证明其正确。</a:t>
            </a:r>
            <a:endParaRPr lang="zh-CN" altLang="en-US" sz="2200" b="1" dirty="0" smtClean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 smtClean="0"/>
              <a:t>这是当前软件开发领域普遍采用方法，通常要占系统开发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40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％以上的工作量</a:t>
            </a:r>
            <a:r>
              <a:rPr lang="en-US" altLang="zh-CN" sz="2200" b="1" dirty="0" smtClean="0"/>
              <a:t>(</a:t>
            </a:r>
            <a:r>
              <a:rPr lang="zh-CN" altLang="en-US" sz="2200" b="1" dirty="0" smtClean="0"/>
              <a:t>详</a:t>
            </a:r>
            <a:r>
              <a:rPr lang="zh-CN" altLang="en-US" sz="2200" b="1" dirty="0"/>
              <a:t>见</a:t>
            </a:r>
            <a:r>
              <a:rPr lang="zh-CN" altLang="en-US" sz="2200" b="1" dirty="0" smtClean="0"/>
              <a:t>“软件工程”相关的描述</a:t>
            </a:r>
            <a:r>
              <a:rPr lang="en-US" altLang="zh-CN" sz="2200" b="1" dirty="0" smtClean="0"/>
              <a:t>)</a:t>
            </a:r>
            <a:endParaRPr lang="zh-CN" altLang="en-US" sz="2200" b="1" dirty="0" smtClean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 smtClean="0"/>
              <a:t>对程序的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测试态度</a:t>
            </a:r>
            <a:r>
              <a:rPr lang="zh-CN" altLang="en-US" sz="2200" b="1" dirty="0" smtClean="0"/>
              <a:t>反映出学生的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治学态度</a:t>
            </a:r>
            <a:r>
              <a:rPr lang="zh-CN" altLang="en-US" sz="2200" b="1" dirty="0" smtClean="0"/>
              <a:t>：</a:t>
            </a:r>
            <a:endParaRPr lang="zh-CN" altLang="en-US" sz="2200" b="1" dirty="0" smtClean="0"/>
          </a:p>
          <a:p>
            <a:pPr lvl="3">
              <a:buClr>
                <a:srgbClr val="FF0000"/>
              </a:buClr>
            </a:pPr>
            <a:r>
              <a:rPr lang="zh-CN" altLang="en-US" b="1" dirty="0" smtClean="0"/>
              <a:t>认真、负责的态度</a:t>
            </a:r>
            <a:r>
              <a:rPr lang="en-US" altLang="zh-CN" b="1" dirty="0" smtClean="0"/>
              <a:t>: </a:t>
            </a:r>
            <a:r>
              <a:rPr lang="zh-CN" altLang="en-US" b="1" dirty="0" smtClean="0">
                <a:solidFill>
                  <a:srgbClr val="0000FF"/>
                </a:solidFill>
              </a:rPr>
              <a:t>任何设计都难免有疏漏</a:t>
            </a:r>
            <a:r>
              <a:rPr lang="zh-CN" altLang="en-US" b="1" dirty="0" smtClean="0"/>
              <a:t>，或者</a:t>
            </a:r>
            <a:r>
              <a:rPr lang="zh-CN" altLang="en-US" b="1" dirty="0" smtClean="0">
                <a:solidFill>
                  <a:srgbClr val="0000FF"/>
                </a:solidFill>
              </a:rPr>
              <a:t>受环境</a:t>
            </a:r>
            <a:r>
              <a:rPr lang="zh-CN" altLang="en-US" b="1" dirty="0" smtClean="0"/>
              <a:t>的影响而存在不确定性</a:t>
            </a:r>
            <a:r>
              <a:rPr lang="zh-CN" altLang="en-US" b="1" dirty="0" smtClean="0"/>
              <a:t>或问题，因而需高度重视。</a:t>
            </a:r>
            <a:endParaRPr lang="zh-CN" altLang="en-US" b="1" dirty="0" smtClean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 smtClean="0"/>
              <a:t>对程序的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测试的设计也</a:t>
            </a:r>
            <a:r>
              <a:rPr lang="zh-CN" altLang="en-US" sz="2200" b="1" dirty="0" smtClean="0"/>
              <a:t>反映出学生的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治学能力</a:t>
            </a:r>
            <a:r>
              <a:rPr lang="zh-CN" altLang="en-US" sz="2200" b="1" dirty="0" smtClean="0"/>
              <a:t>：</a:t>
            </a:r>
            <a:endParaRPr lang="zh-CN" altLang="en-US" sz="2200" b="1" dirty="0" smtClean="0"/>
          </a:p>
          <a:p>
            <a:pPr lvl="3">
              <a:buClr>
                <a:srgbClr val="FF0000"/>
              </a:buClr>
            </a:pPr>
            <a:r>
              <a:rPr lang="zh-CN" altLang="en-US" b="1" dirty="0" smtClean="0"/>
              <a:t>如何设计测试用例？需要依据多种方法、策略和实践。</a:t>
            </a:r>
            <a:endParaRPr lang="zh-CN" altLang="en-US" dirty="0" smtClean="0"/>
          </a:p>
        </p:txBody>
      </p:sp>
      <p:sp>
        <p:nvSpPr>
          <p:cNvPr id="11268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A6C625D-C77A-4B01-BE85-B5C239641918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5"/>
          <p:cNvGrpSpPr/>
          <p:nvPr/>
        </p:nvGrpSpPr>
        <p:grpSpPr>
          <a:xfrm>
            <a:off x="539552" y="116632"/>
            <a:ext cx="4405423" cy="684042"/>
            <a:chOff x="958665" y="1326432"/>
            <a:chExt cx="4405423" cy="684042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10" name="图片 9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2" name="组合 11281"/>
          <p:cNvGrpSpPr/>
          <p:nvPr/>
        </p:nvGrpSpPr>
        <p:grpSpPr bwMode="auto">
          <a:xfrm>
            <a:off x="1121717" y="2582627"/>
            <a:ext cx="7416800" cy="3024188"/>
            <a:chOff x="0" y="0"/>
            <a:chExt cx="4672" cy="1905"/>
          </a:xfrm>
        </p:grpSpPr>
        <p:sp>
          <p:nvSpPr>
            <p:cNvPr id="26649" name="矩形 11282"/>
            <p:cNvSpPr>
              <a:spLocks noChangeArrowheads="1"/>
            </p:cNvSpPr>
            <p:nvPr/>
          </p:nvSpPr>
          <p:spPr bwMode="auto">
            <a:xfrm>
              <a:off x="0" y="0"/>
              <a:ext cx="4672" cy="1633"/>
            </a:xfrm>
            <a:prstGeom prst="rect">
              <a:avLst/>
            </a:prstGeom>
            <a:noFill/>
            <a:ln w="38100" cmpd="dbl">
              <a:solidFill>
                <a:schemeClr val="accent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26650" name="下箭头 11283"/>
            <p:cNvSpPr>
              <a:spLocks noChangeArrowheads="1"/>
            </p:cNvSpPr>
            <p:nvPr/>
          </p:nvSpPr>
          <p:spPr bwMode="auto">
            <a:xfrm>
              <a:off x="1996" y="1633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38100" cmpd="dbl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11267" name="内容占位符 11266"/>
          <p:cNvSpPr>
            <a:spLocks noGrp="1" noChangeArrowheads="1"/>
          </p:cNvSpPr>
          <p:nvPr>
            <p:ph idx="1"/>
          </p:nvPr>
        </p:nvSpPr>
        <p:spPr>
          <a:xfrm>
            <a:off x="539751" y="974385"/>
            <a:ext cx="7993062" cy="4483100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问题求解的过程框架</a:t>
            </a:r>
            <a:endParaRPr lang="zh-CN" altLang="en-US" sz="28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000" dirty="0" smtClean="0"/>
          </a:p>
        </p:txBody>
      </p:sp>
      <p:sp>
        <p:nvSpPr>
          <p:cNvPr id="11268" name="矩形 11267"/>
          <p:cNvSpPr>
            <a:spLocks noChangeArrowheads="1"/>
          </p:cNvSpPr>
          <p:nvPr/>
        </p:nvSpPr>
        <p:spPr bwMode="auto">
          <a:xfrm>
            <a:off x="1337617" y="1934927"/>
            <a:ext cx="13684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>
                <a:latin typeface="Arial" panose="020B0604020202020204" pitchFamily="34" charset="0"/>
              </a:rPr>
              <a:t>实际问题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11269" name="矩形 11268"/>
          <p:cNvSpPr>
            <a:spLocks noChangeArrowheads="1"/>
          </p:cNvSpPr>
          <p:nvPr/>
        </p:nvSpPr>
        <p:spPr bwMode="auto">
          <a:xfrm>
            <a:off x="1337617" y="4455877"/>
            <a:ext cx="13684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>
                <a:latin typeface="Arial" panose="020B0604020202020204" pitchFamily="34" charset="0"/>
              </a:rPr>
              <a:t>求解算法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11270" name="矩形 11269"/>
          <p:cNvSpPr>
            <a:spLocks noChangeArrowheads="1"/>
          </p:cNvSpPr>
          <p:nvPr/>
        </p:nvSpPr>
        <p:spPr bwMode="auto">
          <a:xfrm>
            <a:off x="7530454" y="4455877"/>
            <a:ext cx="792163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Arial" panose="020B0604020202020204" pitchFamily="34" charset="0"/>
              </a:rPr>
              <a:t>测试 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1271" name="矩形 11270"/>
          <p:cNvSpPr>
            <a:spLocks noChangeArrowheads="1"/>
          </p:cNvSpPr>
          <p:nvPr/>
        </p:nvSpPr>
        <p:spPr bwMode="auto">
          <a:xfrm>
            <a:off x="5225404" y="4455877"/>
            <a:ext cx="13684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Arial" panose="020B0604020202020204" pitchFamily="34" charset="0"/>
              </a:rPr>
              <a:t>程序设计 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1272" name="矩形 11271"/>
          <p:cNvSpPr>
            <a:spLocks noChangeArrowheads="1"/>
          </p:cNvSpPr>
          <p:nvPr/>
        </p:nvSpPr>
        <p:spPr bwMode="auto">
          <a:xfrm>
            <a:off x="5298429" y="2871552"/>
            <a:ext cx="1655763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>
                <a:latin typeface="Arial" panose="020B0604020202020204" pitchFamily="34" charset="0"/>
              </a:rPr>
              <a:t>数据结构组织 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1273" name="矩形 11272"/>
          <p:cNvSpPr>
            <a:spLocks noChangeArrowheads="1"/>
          </p:cNvSpPr>
          <p:nvPr/>
        </p:nvSpPr>
        <p:spPr bwMode="auto">
          <a:xfrm>
            <a:off x="2920354" y="5606815"/>
            <a:ext cx="2952750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C000"/>
                </a:solidFill>
                <a:latin typeface="Arial" panose="020B0604020202020204" pitchFamily="34" charset="0"/>
              </a:rPr>
              <a:t>数据结构课程中的内容</a:t>
            </a:r>
            <a:endParaRPr lang="zh-CN" altLang="en-US" sz="2000" b="1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11274" name="矩形 11273"/>
          <p:cNvSpPr>
            <a:spLocks noChangeArrowheads="1"/>
          </p:cNvSpPr>
          <p:nvPr/>
        </p:nvSpPr>
        <p:spPr bwMode="auto">
          <a:xfrm>
            <a:off x="1337617" y="2942990"/>
            <a:ext cx="13684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>
                <a:latin typeface="Arial" panose="020B0604020202020204" pitchFamily="34" charset="0"/>
              </a:rPr>
              <a:t>数学模型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grpSp>
        <p:nvGrpSpPr>
          <p:cNvPr id="11275" name="组合 11274"/>
          <p:cNvGrpSpPr/>
          <p:nvPr/>
        </p:nvGrpSpPr>
        <p:grpSpPr bwMode="auto">
          <a:xfrm>
            <a:off x="1985317" y="2439752"/>
            <a:ext cx="612775" cy="503238"/>
            <a:chOff x="0" y="0"/>
            <a:chExt cx="386" cy="317"/>
          </a:xfrm>
        </p:grpSpPr>
        <p:sp>
          <p:nvSpPr>
            <p:cNvPr id="26653" name="矩形 11275"/>
            <p:cNvSpPr>
              <a:spLocks noChangeArrowheads="1"/>
            </p:cNvSpPr>
            <p:nvPr/>
          </p:nvSpPr>
          <p:spPr bwMode="auto">
            <a:xfrm>
              <a:off x="23" y="85"/>
              <a:ext cx="363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rgbClr val="FF0000"/>
                  </a:solidFill>
                  <a:latin typeface="Arial" panose="020B0604020202020204" pitchFamily="34" charset="0"/>
                </a:rPr>
                <a:t>抽象</a:t>
              </a:r>
              <a:r>
                <a:rPr lang="zh-CN" altLang="en-US" sz="1800" dirty="0">
                  <a:solidFill>
                    <a:schemeClr val="accent2"/>
                  </a:solidFill>
                  <a:latin typeface="Arial" panose="020B0604020202020204" pitchFamily="34" charset="0"/>
                </a:rPr>
                <a:t> </a:t>
              </a:r>
              <a:endParaRPr lang="zh-CN" altLang="en-US" sz="18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54" name="直接连接符 11276"/>
            <p:cNvSpPr>
              <a:spLocks noChangeShapeType="1"/>
            </p:cNvSpPr>
            <p:nvPr/>
          </p:nvSpPr>
          <p:spPr bwMode="auto">
            <a:xfrm>
              <a:off x="0" y="0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78" name="组合 11277"/>
          <p:cNvGrpSpPr/>
          <p:nvPr/>
        </p:nvGrpSpPr>
        <p:grpSpPr bwMode="auto">
          <a:xfrm>
            <a:off x="1277293" y="3447815"/>
            <a:ext cx="1541463" cy="1008062"/>
            <a:chOff x="-174" y="0"/>
            <a:chExt cx="971" cy="635"/>
          </a:xfrm>
        </p:grpSpPr>
        <p:sp>
          <p:nvSpPr>
            <p:cNvPr id="26651" name="矩形 11278"/>
            <p:cNvSpPr>
              <a:spLocks noChangeArrowheads="1"/>
            </p:cNvSpPr>
            <p:nvPr/>
          </p:nvSpPr>
          <p:spPr bwMode="auto">
            <a:xfrm>
              <a:off x="-174" y="68"/>
              <a:ext cx="971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dirty="0" smtClean="0">
                  <a:solidFill>
                    <a:srgbClr val="FF0000"/>
                  </a:solidFill>
                  <a:latin typeface="Arial" panose="020B0604020202020204" pitchFamily="34" charset="0"/>
                </a:rPr>
                <a:t>构造求 解算法</a:t>
              </a:r>
              <a:r>
                <a:rPr lang="zh-CN" altLang="en-US" sz="1800" dirty="0" smtClean="0">
                  <a:latin typeface="Arial" panose="020B0604020202020204" pitchFamily="34" charset="0"/>
                </a:rPr>
                <a:t> 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26652" name="直接连接符 11279"/>
            <p:cNvSpPr>
              <a:spLocks noChangeShapeType="1"/>
            </p:cNvSpPr>
            <p:nvPr/>
          </p:nvSpPr>
          <p:spPr bwMode="auto">
            <a:xfrm>
              <a:off x="272" y="0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81" name="直接连接符 11280"/>
          <p:cNvSpPr>
            <a:spLocks noChangeShapeType="1"/>
          </p:cNvSpPr>
          <p:nvPr/>
        </p:nvSpPr>
        <p:spPr bwMode="auto">
          <a:xfrm>
            <a:off x="6593829" y="4671777"/>
            <a:ext cx="936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285" name="组合 11284"/>
          <p:cNvGrpSpPr/>
          <p:nvPr/>
        </p:nvGrpSpPr>
        <p:grpSpPr bwMode="auto">
          <a:xfrm>
            <a:off x="2706043" y="3374790"/>
            <a:ext cx="2586682" cy="1296987"/>
            <a:chOff x="0" y="0"/>
            <a:chExt cx="2086" cy="817"/>
          </a:xfrm>
        </p:grpSpPr>
        <p:sp>
          <p:nvSpPr>
            <p:cNvPr id="26647" name="直接连接符 11285"/>
            <p:cNvSpPr>
              <a:spLocks noChangeShapeType="1"/>
            </p:cNvSpPr>
            <p:nvPr/>
          </p:nvSpPr>
          <p:spPr bwMode="auto">
            <a:xfrm flipV="1">
              <a:off x="0" y="0"/>
              <a:ext cx="208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矩形 11286"/>
            <p:cNvSpPr>
              <a:spLocks noChangeArrowheads="1"/>
            </p:cNvSpPr>
            <p:nvPr/>
          </p:nvSpPr>
          <p:spPr bwMode="auto">
            <a:xfrm>
              <a:off x="501" y="83"/>
              <a:ext cx="86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数据结构设计</a:t>
              </a:r>
              <a:r>
                <a:rPr lang="zh-CN" altLang="en-US" sz="1800" dirty="0">
                  <a:latin typeface="Arial" panose="020B0604020202020204" pitchFamily="34" charset="0"/>
                </a:rPr>
                <a:t> 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288" name="组合 11287"/>
          <p:cNvGrpSpPr/>
          <p:nvPr/>
        </p:nvGrpSpPr>
        <p:grpSpPr bwMode="auto">
          <a:xfrm>
            <a:off x="2706042" y="3374790"/>
            <a:ext cx="3317875" cy="1296987"/>
            <a:chOff x="0" y="0"/>
            <a:chExt cx="2090" cy="817"/>
          </a:xfrm>
        </p:grpSpPr>
        <p:sp>
          <p:nvSpPr>
            <p:cNvPr id="26644" name="直接连接符 11288"/>
            <p:cNvSpPr>
              <a:spLocks noChangeShapeType="1"/>
            </p:cNvSpPr>
            <p:nvPr/>
          </p:nvSpPr>
          <p:spPr bwMode="auto">
            <a:xfrm>
              <a:off x="2086" y="0"/>
              <a:ext cx="4" cy="6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直接连接符 11289"/>
            <p:cNvSpPr>
              <a:spLocks noChangeShapeType="1"/>
            </p:cNvSpPr>
            <p:nvPr/>
          </p:nvSpPr>
          <p:spPr bwMode="auto">
            <a:xfrm>
              <a:off x="0" y="817"/>
              <a:ext cx="15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矩形 11290"/>
            <p:cNvSpPr>
              <a:spLocks noChangeArrowheads="1"/>
            </p:cNvSpPr>
            <p:nvPr/>
          </p:nvSpPr>
          <p:spPr bwMode="auto">
            <a:xfrm>
              <a:off x="1088" y="454"/>
              <a:ext cx="862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程序实现</a:t>
              </a:r>
              <a:r>
                <a:rPr lang="zh-CN" altLang="en-US" sz="1800" dirty="0">
                  <a:latin typeface="Arial" panose="020B0604020202020204" pitchFamily="34" charset="0"/>
                </a:rPr>
                <a:t> 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11292" name="矩形 11291"/>
          <p:cNvSpPr>
            <a:spLocks noChangeArrowheads="1"/>
          </p:cNvSpPr>
          <p:nvPr/>
        </p:nvSpPr>
        <p:spPr bwMode="auto">
          <a:xfrm>
            <a:off x="3635896" y="1560449"/>
            <a:ext cx="5050904" cy="63382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solidFill>
                  <a:srgbClr val="FFFF00"/>
                </a:solidFill>
                <a:latin typeface="Arial" panose="020B0604020202020204" pitchFamily="34" charset="0"/>
              </a:rPr>
              <a:t>数据结构：计算机类</a:t>
            </a:r>
            <a:r>
              <a:rPr lang="zh-CN" altLang="en-US" sz="2000" b="1" dirty="0" smtClean="0">
                <a:solidFill>
                  <a:srgbClr val="FFFF00"/>
                </a:solidFill>
                <a:latin typeface="Arial" panose="020B0604020202020204" pitchFamily="34" charset="0"/>
              </a:rPr>
              <a:t>专业基础核心</a:t>
            </a:r>
            <a:r>
              <a:rPr lang="zh-CN" altLang="en-US" sz="2000" b="1" dirty="0">
                <a:solidFill>
                  <a:srgbClr val="FFFF00"/>
                </a:solidFill>
                <a:latin typeface="Arial" panose="020B0604020202020204" pitchFamily="34" charset="0"/>
              </a:rPr>
              <a:t>课程之一</a:t>
            </a:r>
            <a:endParaRPr lang="zh-CN" altLang="en-US" sz="2000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2317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2C92509-E950-42E1-9763-ECE5D775CE3B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31" name="组合 30"/>
          <p:cNvGrpSpPr/>
          <p:nvPr/>
        </p:nvGrpSpPr>
        <p:grpSpPr>
          <a:xfrm>
            <a:off x="539552" y="116632"/>
            <a:ext cx="4405423" cy="684042"/>
            <a:chOff x="958665" y="1326432"/>
            <a:chExt cx="4405423" cy="684042"/>
          </a:xfrm>
        </p:grpSpPr>
        <p:sp>
          <p:nvSpPr>
            <p:cNvPr id="32" name="TextBox 6"/>
            <p:cNvSpPr txBox="1">
              <a:spLocks noChangeArrowheads="1"/>
            </p:cNvSpPr>
            <p:nvPr/>
          </p:nvSpPr>
          <p:spPr bwMode="auto">
            <a:xfrm>
              <a:off x="1132940" y="1326432"/>
              <a:ext cx="4231148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1.1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研究内容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958665" y="1327471"/>
              <a:ext cx="842977" cy="683003"/>
              <a:chOff x="958665" y="1327471"/>
              <a:chExt cx="842977" cy="683003"/>
            </a:xfrm>
          </p:grpSpPr>
          <p:sp>
            <p:nvSpPr>
              <p:cNvPr id="34" name="Freeform 5"/>
              <p:cNvSpPr/>
              <p:nvPr/>
            </p:nvSpPr>
            <p:spPr bwMode="auto">
              <a:xfrm>
                <a:off x="958665" y="1327471"/>
                <a:ext cx="842977" cy="68300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F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pic>
            <p:nvPicPr>
              <p:cNvPr id="35" name="图片 34" descr="1.jp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189071" y="1467621"/>
                <a:ext cx="377680" cy="4198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  <p:bldP spid="11269" grpId="0" animBg="1"/>
      <p:bldP spid="11270" grpId="0" animBg="1"/>
      <p:bldP spid="11271" grpId="0" animBg="1"/>
      <p:bldP spid="11272" grpId="0" animBg="1"/>
      <p:bldP spid="11273" grpId="0" animBg="1"/>
      <p:bldP spid="11274" grpId="0" animBg="1"/>
      <p:bldP spid="1129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文本占位符 12290"/>
          <p:cNvSpPr>
            <a:spLocks noGrp="1" noChangeArrowheads="1"/>
          </p:cNvSpPr>
          <p:nvPr>
            <p:ph type="body" sz="half" idx="1"/>
          </p:nvPr>
        </p:nvSpPr>
        <p:spPr>
          <a:xfrm>
            <a:off x="483110" y="1081808"/>
            <a:ext cx="7993063" cy="1871662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/>
              <a:t>一些</a:t>
            </a:r>
            <a:r>
              <a:rPr lang="zh-CN" altLang="en-US" sz="2800" b="1" dirty="0" smtClean="0"/>
              <a:t>术语</a:t>
            </a:r>
            <a:endParaRPr lang="zh-CN" altLang="en-US" sz="2800" b="1" dirty="0" smtClean="0"/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数据</a:t>
            </a:r>
            <a:r>
              <a:rPr lang="en-US" altLang="zh-CN" sz="2400" b="1" dirty="0" smtClean="0"/>
              <a:t>(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data</a:t>
            </a:r>
            <a:r>
              <a:rPr lang="en-US" altLang="zh-CN" sz="2400" b="1" dirty="0" smtClean="0"/>
              <a:t>) —</a:t>
            </a:r>
            <a:r>
              <a:rPr lang="zh-CN" altLang="en-US" sz="2400" b="1" dirty="0" smtClean="0"/>
              <a:t>能够输入到计算机中，并能被计算机处理的符号的集合</a:t>
            </a:r>
            <a:endParaRPr lang="zh-CN" altLang="en-US" sz="2400" b="1" dirty="0" smtClean="0"/>
          </a:p>
          <a:p>
            <a:pPr lvl="2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b="1" dirty="0" smtClean="0"/>
              <a:t>例如</a:t>
            </a:r>
            <a:r>
              <a:rPr lang="en-US" altLang="zh-CN" b="1" dirty="0" smtClean="0"/>
              <a:t>: </a:t>
            </a:r>
            <a:r>
              <a:rPr lang="zh-CN" altLang="en-US" b="1" dirty="0" smtClean="0"/>
              <a:t>工资表</a:t>
            </a:r>
            <a:r>
              <a:rPr lang="zh-CN" altLang="en-US" b="1" dirty="0"/>
              <a:t>、</a:t>
            </a:r>
            <a:r>
              <a:rPr lang="zh-CN" altLang="en-US" b="1" dirty="0" smtClean="0"/>
              <a:t>学生成绩、电话号码簿、电子字典</a:t>
            </a:r>
            <a:endParaRPr lang="zh-CN" altLang="en-US" b="1" dirty="0" smtClean="0"/>
          </a:p>
        </p:txBody>
      </p:sp>
      <p:graphicFrame>
        <p:nvGraphicFramePr>
          <p:cNvPr id="12292" name="内容占位符 12291"/>
          <p:cNvGraphicFramePr>
            <a:graphicFrameLocks noGrp="1"/>
          </p:cNvGraphicFramePr>
          <p:nvPr>
            <p:ph sz="half" idx="4294967295"/>
          </p:nvPr>
        </p:nvGraphicFramePr>
        <p:xfrm>
          <a:off x="971550" y="3500438"/>
          <a:ext cx="4459288" cy="1860232"/>
        </p:xfrm>
        <a:graphic>
          <a:graphicData uri="http://schemas.openxmlformats.org/drawingml/2006/table">
            <a:tbl>
              <a:tblPr/>
              <a:tblGrid>
                <a:gridCol w="720725"/>
                <a:gridCol w="692150"/>
                <a:gridCol w="747713"/>
                <a:gridCol w="720725"/>
                <a:gridCol w="792162"/>
                <a:gridCol w="785813"/>
              </a:tblGrid>
              <a:tr h="576634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编号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defTabSz="0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  <a:tabLst>
                          <a:tab pos="292100" algn="l"/>
                        </a:tabLst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基本</a:t>
                      </a:r>
                      <a:endParaRPr lang="zh-CN" altLang="en-US" sz="16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工资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奖金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x-none" sz="1600" b="1" dirty="0">
                          <a:ea typeface="宋体" panose="02010600030101010101" pitchFamily="2" charset="-122"/>
                        </a:rPr>
                        <a:t>…</a:t>
                      </a:r>
                      <a:endParaRPr lang="en-US" altLang="x-none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en-US" altLang="x-none" sz="1600" b="1" dirty="0">
                          <a:ea typeface="宋体" panose="02010600030101010101" pitchFamily="2" charset="-122"/>
                        </a:rPr>
                        <a:t>…</a:t>
                      </a:r>
                      <a:endParaRPr lang="en-US" altLang="x-none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29" name="文本框 12328"/>
          <p:cNvSpPr txBox="1">
            <a:spLocks noChangeArrowheads="1"/>
          </p:cNvSpPr>
          <p:nvPr/>
        </p:nvSpPr>
        <p:spPr bwMode="auto">
          <a:xfrm>
            <a:off x="1762447" y="5517232"/>
            <a:ext cx="24495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ea typeface="楷体_GB2312" pitchFamily="1" charset="-122"/>
              </a:rPr>
              <a:t>工资表示例</a:t>
            </a:r>
            <a:endParaRPr lang="zh-CN" altLang="en-US" sz="2000" b="1" dirty="0">
              <a:ea typeface="楷体_GB2312" pitchFamily="1" charset="-122"/>
            </a:endParaRPr>
          </a:p>
        </p:txBody>
      </p:sp>
      <p:graphicFrame>
        <p:nvGraphicFramePr>
          <p:cNvPr id="12330" name="表格 12329"/>
          <p:cNvGraphicFramePr/>
          <p:nvPr/>
        </p:nvGraphicFramePr>
        <p:xfrm>
          <a:off x="5867400" y="3512984"/>
          <a:ext cx="2881313" cy="1860232"/>
        </p:xfrm>
        <a:graphic>
          <a:graphicData uri="http://schemas.openxmlformats.org/drawingml/2006/table">
            <a:tbl>
              <a:tblPr/>
              <a:tblGrid>
                <a:gridCol w="720725"/>
                <a:gridCol w="692150"/>
                <a:gridCol w="747713"/>
                <a:gridCol w="720725"/>
              </a:tblGrid>
              <a:tr h="57561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defTabSz="0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  <a:tabLst>
                          <a:tab pos="292100" algn="l"/>
                        </a:tabLst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考试成绩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600" b="1" dirty="0">
                          <a:ea typeface="宋体" panose="02010600030101010101" pitchFamily="2" charset="-122"/>
                        </a:rPr>
                        <a:t>备注 </a:t>
                      </a:r>
                      <a:endParaRPr lang="zh-CN" altLang="en-US" sz="16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1600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57" name="文本框 12356"/>
          <p:cNvSpPr txBox="1">
            <a:spLocks noChangeArrowheads="1"/>
          </p:cNvSpPr>
          <p:nvPr/>
        </p:nvSpPr>
        <p:spPr bwMode="auto">
          <a:xfrm>
            <a:off x="6026660" y="5517232"/>
            <a:ext cx="24495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ea typeface="楷体_GB2312" pitchFamily="1" charset="-122"/>
              </a:rPr>
              <a:t>学生成绩表示例</a:t>
            </a:r>
            <a:endParaRPr lang="zh-CN" altLang="en-US" sz="2000" b="1" dirty="0">
              <a:ea typeface="楷体_GB2312" pitchFamily="1" charset="-122"/>
            </a:endParaRPr>
          </a:p>
        </p:txBody>
      </p:sp>
      <p:sp>
        <p:nvSpPr>
          <p:cNvPr id="12358" name="文本框 12357"/>
          <p:cNvSpPr txBox="1">
            <a:spLocks noChangeArrowheads="1"/>
          </p:cNvSpPr>
          <p:nvPr/>
        </p:nvSpPr>
        <p:spPr bwMode="auto">
          <a:xfrm>
            <a:off x="1906464" y="3100898"/>
            <a:ext cx="24495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****工资表</a:t>
            </a:r>
            <a:endParaRPr lang="zh-CN" altLang="en-US" sz="20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2359" name="文本框 12358"/>
          <p:cNvSpPr txBox="1">
            <a:spLocks noChangeArrowheads="1"/>
          </p:cNvSpPr>
          <p:nvPr/>
        </p:nvSpPr>
        <p:spPr bwMode="auto">
          <a:xfrm>
            <a:off x="5508625" y="3068960"/>
            <a:ext cx="3635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**</a:t>
            </a:r>
            <a:r>
              <a:rPr lang="zh-CN" altLang="en-US" sz="2000" b="1" dirty="0" smtClean="0">
                <a:solidFill>
                  <a:srgbClr val="FF0000"/>
                </a:solidFill>
                <a:ea typeface="楷体_GB2312" pitchFamily="1" charset="-122"/>
              </a:rPr>
              <a:t>班级**课程成绩</a:t>
            </a:r>
            <a:r>
              <a:rPr lang="zh-CN" altLang="en-US" sz="2000" b="1" dirty="0">
                <a:solidFill>
                  <a:srgbClr val="FF0000"/>
                </a:solidFill>
                <a:ea typeface="楷体_GB2312" pitchFamily="1" charset="-122"/>
              </a:rPr>
              <a:t>表</a:t>
            </a:r>
            <a:endParaRPr lang="zh-CN" altLang="en-US" sz="20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13384" name="灯片编号占位符 2"/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B1AC22A-D452-47CA-A441-96561A6C2986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12" name="组合 114"/>
          <p:cNvGrpSpPr/>
          <p:nvPr/>
        </p:nvGrpSpPr>
        <p:grpSpPr>
          <a:xfrm>
            <a:off x="-357640" y="116632"/>
            <a:ext cx="6225040" cy="679778"/>
            <a:chOff x="93137" y="3363717"/>
            <a:chExt cx="6225040" cy="679778"/>
          </a:xfrm>
        </p:grpSpPr>
        <p:grpSp>
          <p:nvGrpSpPr>
            <p:cNvPr id="13" name="组合 105"/>
            <p:cNvGrpSpPr/>
            <p:nvPr/>
          </p:nvGrpSpPr>
          <p:grpSpPr>
            <a:xfrm>
              <a:off x="93137" y="3363717"/>
              <a:ext cx="6225040" cy="679778"/>
              <a:chOff x="93137" y="3363717"/>
              <a:chExt cx="6225040" cy="679778"/>
            </a:xfrm>
          </p:grpSpPr>
          <p:sp>
            <p:nvSpPr>
              <p:cNvPr id="15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1.2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基本术语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4" name="图片 13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  <p:bldP spid="12329" grpId="0"/>
      <p:bldP spid="12357" grpId="0"/>
      <p:bldP spid="12358" grpId="0"/>
      <p:bldP spid="123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文本占位符 13314"/>
          <p:cNvSpPr>
            <a:spLocks noGrp="1" noChangeArrowheads="1"/>
          </p:cNvSpPr>
          <p:nvPr>
            <p:ph idx="1"/>
          </p:nvPr>
        </p:nvSpPr>
        <p:spPr>
          <a:xfrm>
            <a:off x="611188" y="1125538"/>
            <a:ext cx="7993062" cy="49672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</a:t>
            </a:r>
            <a:endParaRPr lang="en-US" altLang="zh-CN" sz="2000" dirty="0" smtClean="0"/>
          </a:p>
        </p:txBody>
      </p:sp>
      <p:sp>
        <p:nvSpPr>
          <p:cNvPr id="13365" name="矩形 13364"/>
          <p:cNvSpPr>
            <a:spLocks noChangeArrowheads="1"/>
          </p:cNvSpPr>
          <p:nvPr/>
        </p:nvSpPr>
        <p:spPr bwMode="auto">
          <a:xfrm>
            <a:off x="-252536" y="908720"/>
            <a:ext cx="4283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ea typeface="楷体_GB2312" pitchFamily="1" charset="-122"/>
              </a:rPr>
              <a:t>一个</a:t>
            </a:r>
            <a:r>
              <a:rPr lang="zh-CN" altLang="en-US" b="1" dirty="0">
                <a:solidFill>
                  <a:srgbClr val="0000FF"/>
                </a:solidFill>
                <a:ea typeface="楷体_GB2312" pitchFamily="1" charset="-122"/>
              </a:rPr>
              <a:t>家族关系</a:t>
            </a:r>
            <a:r>
              <a:rPr lang="zh-CN" altLang="en-US" b="1" dirty="0">
                <a:ea typeface="楷体_GB2312" pitchFamily="1" charset="-122"/>
              </a:rPr>
              <a:t>的表示</a:t>
            </a:r>
            <a:r>
              <a:rPr lang="zh-CN" altLang="en-US" b="1" dirty="0" smtClean="0">
                <a:ea typeface="楷体_GB2312" pitchFamily="1" charset="-122"/>
              </a:rPr>
              <a:t>形式</a:t>
            </a:r>
            <a:endParaRPr lang="en-US" altLang="zh-CN" b="1" dirty="0" smtClean="0">
              <a:ea typeface="楷体_GB2312" pitchFamily="1" charset="-122"/>
            </a:endParaRPr>
          </a:p>
        </p:txBody>
      </p:sp>
      <p:sp>
        <p:nvSpPr>
          <p:cNvPr id="1439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891B234-B38E-4E1E-A05E-F85F0586C44E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56" name="组合 114"/>
          <p:cNvGrpSpPr/>
          <p:nvPr/>
        </p:nvGrpSpPr>
        <p:grpSpPr>
          <a:xfrm>
            <a:off x="-357640" y="116632"/>
            <a:ext cx="6225040" cy="679778"/>
            <a:chOff x="93137" y="3363717"/>
            <a:chExt cx="6225040" cy="679778"/>
          </a:xfrm>
        </p:grpSpPr>
        <p:grpSp>
          <p:nvGrpSpPr>
            <p:cNvPr id="57" name="组合 105"/>
            <p:cNvGrpSpPr/>
            <p:nvPr/>
          </p:nvGrpSpPr>
          <p:grpSpPr>
            <a:xfrm>
              <a:off x="93137" y="3363717"/>
              <a:ext cx="6225040" cy="679778"/>
              <a:chOff x="93137" y="3363717"/>
              <a:chExt cx="6225040" cy="679778"/>
            </a:xfrm>
          </p:grpSpPr>
          <p:sp>
            <p:nvSpPr>
              <p:cNvPr id="59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1.2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基本</a:t>
                </a:r>
                <a:r>
                  <a:rPr lang="zh-CN" altLang="en-US" sz="3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术语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58" name="图片 57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4746225" y="3873500"/>
            <a:ext cx="4053337" cy="2723852"/>
            <a:chOff x="4746225" y="3873500"/>
            <a:chExt cx="4053337" cy="2723852"/>
          </a:xfrm>
        </p:grpSpPr>
        <p:sp>
          <p:nvSpPr>
            <p:cNvPr id="13339" name="矩形 13338"/>
            <p:cNvSpPr>
              <a:spLocks noChangeArrowheads="1"/>
            </p:cNvSpPr>
            <p:nvPr/>
          </p:nvSpPr>
          <p:spPr bwMode="auto">
            <a:xfrm>
              <a:off x="5292725" y="6092527"/>
              <a:ext cx="2879725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 dirty="0">
                  <a:latin typeface="Arial" panose="020B0604020202020204" pitchFamily="34" charset="0"/>
                  <a:ea typeface="楷体_GB2312" pitchFamily="1" charset="-122"/>
                </a:rPr>
                <a:t>群体之间的认识关系图</a:t>
              </a:r>
              <a:endParaRPr lang="zh-CN" altLang="en-US" sz="2000" b="1" dirty="0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46225" y="3873500"/>
              <a:ext cx="4053337" cy="2291804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343560" y="3873500"/>
            <a:ext cx="4097071" cy="2688382"/>
            <a:chOff x="343560" y="3873500"/>
            <a:chExt cx="4097071" cy="2688382"/>
          </a:xfrm>
        </p:grpSpPr>
        <p:sp>
          <p:nvSpPr>
            <p:cNvPr id="13364" name="文本框 13363"/>
            <p:cNvSpPr txBox="1">
              <a:spLocks noChangeArrowheads="1"/>
            </p:cNvSpPr>
            <p:nvPr/>
          </p:nvSpPr>
          <p:spPr bwMode="auto">
            <a:xfrm>
              <a:off x="1187525" y="6165007"/>
              <a:ext cx="259238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908050" indent="-43688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ea typeface="楷体_GB2312" pitchFamily="1" charset="-122"/>
                </a:rPr>
                <a:t>家族关系示例</a:t>
              </a:r>
              <a:endParaRPr lang="zh-CN" altLang="en-US" sz="2000" b="1" dirty="0">
                <a:ea typeface="楷体_GB2312" pitchFamily="1" charset="-122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3560" y="3873500"/>
              <a:ext cx="4097071" cy="2314934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/>
        </p:nvSpPr>
        <p:spPr>
          <a:xfrm>
            <a:off x="3491880" y="908720"/>
            <a:ext cx="54726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ea typeface="楷体_GB2312" pitchFamily="1" charset="-122"/>
              </a:rPr>
              <a:t>一</a:t>
            </a:r>
            <a:r>
              <a:rPr lang="zh-CN" altLang="en-US" sz="2400" b="1" dirty="0">
                <a:ea typeface="楷体_GB2312" pitchFamily="1" charset="-122"/>
              </a:rPr>
              <a:t>个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1" charset="-122"/>
              </a:rPr>
              <a:t>群体中</a:t>
            </a:r>
            <a:r>
              <a:rPr lang="zh-CN" altLang="en-US" sz="2400" b="1" dirty="0" smtClean="0">
                <a:solidFill>
                  <a:srgbClr val="0000FF"/>
                </a:solidFill>
                <a:ea typeface="楷体_GB2312" pitchFamily="1" charset="-122"/>
              </a:rPr>
              <a:t>个体间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1" charset="-122"/>
              </a:rPr>
              <a:t>关系</a:t>
            </a:r>
            <a:r>
              <a:rPr lang="zh-CN" altLang="en-US" sz="2400" b="1" dirty="0">
                <a:ea typeface="楷体_GB2312" pitchFamily="1" charset="-122"/>
              </a:rPr>
              <a:t>的图形</a:t>
            </a:r>
            <a:r>
              <a:rPr lang="zh-CN" altLang="en-US" sz="2400" b="1" dirty="0" smtClean="0">
                <a:ea typeface="楷体_GB2312" pitchFamily="1" charset="-122"/>
              </a:rPr>
              <a:t>描述</a:t>
            </a:r>
            <a:endParaRPr lang="zh-CN" altLang="en-US" sz="2400" b="1" dirty="0">
              <a:ea typeface="楷体_GB2312" pitchFamily="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0" y="1340768"/>
            <a:ext cx="3619762" cy="244100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549" y="1511978"/>
            <a:ext cx="2967055" cy="2076938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14338"/>
          <p:cNvSpPr>
            <a:spLocks noGrp="1" noChangeArrowheads="1"/>
          </p:cNvSpPr>
          <p:nvPr>
            <p:ph idx="1"/>
          </p:nvPr>
        </p:nvSpPr>
        <p:spPr>
          <a:xfrm>
            <a:off x="611560" y="1482083"/>
            <a:ext cx="8080502" cy="5079352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 smtClean="0"/>
              <a:t>由若干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具有独立意义</a:t>
            </a:r>
            <a:r>
              <a:rPr lang="zh-CN" altLang="en-US" sz="2200" b="1" dirty="0" smtClean="0"/>
              <a:t>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个体</a:t>
            </a:r>
            <a:r>
              <a:rPr lang="zh-CN" altLang="en-US" sz="2200" b="1" dirty="0" smtClean="0"/>
              <a:t>所组成，个体间存在着某些关系</a:t>
            </a:r>
            <a:endParaRPr lang="zh-CN" altLang="en-US" sz="22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 smtClean="0"/>
              <a:t>对这些数据的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运算</a:t>
            </a:r>
            <a:r>
              <a:rPr lang="zh-CN" altLang="en-US" sz="2200" b="1" dirty="0" smtClean="0"/>
              <a:t>也有某些相似之处</a:t>
            </a:r>
            <a:endParaRPr lang="zh-CN" altLang="en-US" sz="22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 smtClean="0"/>
              <a:t>例如：家族关系数据</a:t>
            </a:r>
            <a:endParaRPr lang="zh-CN" altLang="en-US" sz="2200" b="1" dirty="0" smtClean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 smtClean="0"/>
              <a:t>组成数据的基本个体是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个人信息</a:t>
            </a:r>
            <a:endParaRPr lang="zh-CN" altLang="en-US" sz="2200" b="1" dirty="0" smtClean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 smtClean="0"/>
              <a:t>其中各人之间存在着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多种关系</a:t>
            </a:r>
            <a:endParaRPr lang="zh-CN" altLang="en-US" sz="2200" b="1" dirty="0" smtClean="0"/>
          </a:p>
          <a:p>
            <a:pPr lvl="2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/>
              <a:t>父子关系</a:t>
            </a:r>
            <a:endParaRPr lang="en-US" altLang="zh-CN" sz="2000" b="1" dirty="0" smtClean="0"/>
          </a:p>
          <a:p>
            <a:pPr lvl="2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/>
              <a:t>兄弟关系</a:t>
            </a:r>
            <a:endParaRPr lang="en-US" altLang="zh-CN" sz="2000" b="1" dirty="0" smtClean="0"/>
          </a:p>
          <a:p>
            <a:pPr lvl="2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/>
              <a:t>祖先与后代关系等</a:t>
            </a:r>
            <a:endParaRPr lang="zh-CN" altLang="en-US" sz="2000" b="1" dirty="0" smtClean="0"/>
          </a:p>
          <a:p>
            <a:pPr lvl="1" eaLnBrk="1" hangingPunct="1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其中有些关系是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直接表示</a:t>
            </a:r>
            <a:r>
              <a:rPr lang="zh-CN" altLang="en-US" sz="2000" b="1" dirty="0" smtClean="0"/>
              <a:t>出来的，</a:t>
            </a:r>
            <a:endParaRPr lang="zh-CN" altLang="en-US" sz="2000" b="1" dirty="0" smtClean="0"/>
          </a:p>
          <a:p>
            <a:pPr lvl="1" eaLnBrk="1" hangingPunct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还有一些关系则是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隐含</a:t>
            </a:r>
            <a:r>
              <a:rPr lang="zh-CN" altLang="en-US" sz="2000" b="1" dirty="0" smtClean="0"/>
              <a:t>的。</a:t>
            </a:r>
            <a:endParaRPr lang="zh-CN" altLang="en-US" sz="2000" b="1" dirty="0" smtClean="0"/>
          </a:p>
          <a:p>
            <a:pPr lvl="1" eaLnBrk="1" hangingPunct="1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对家族关系数据，通常要涉及到查询特定个体间的关系、插入和删除个体等。</a:t>
            </a:r>
            <a:endParaRPr lang="zh-CN" altLang="en-US" sz="2000" b="1" dirty="0" smtClean="0"/>
          </a:p>
        </p:txBody>
      </p:sp>
      <p:sp>
        <p:nvSpPr>
          <p:cNvPr id="15364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F3C8DB5-ECC9-4EA9-BC74-04ECB2403BA7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114"/>
          <p:cNvGrpSpPr/>
          <p:nvPr/>
        </p:nvGrpSpPr>
        <p:grpSpPr>
          <a:xfrm>
            <a:off x="-357640" y="116632"/>
            <a:ext cx="6225040" cy="679778"/>
            <a:chOff x="93137" y="3363717"/>
            <a:chExt cx="6225040" cy="679778"/>
          </a:xfrm>
        </p:grpSpPr>
        <p:grpSp>
          <p:nvGrpSpPr>
            <p:cNvPr id="7" name="组合 105"/>
            <p:cNvGrpSpPr/>
            <p:nvPr/>
          </p:nvGrpSpPr>
          <p:grpSpPr>
            <a:xfrm>
              <a:off x="93137" y="3363717"/>
              <a:ext cx="6225040" cy="679778"/>
              <a:chOff x="93137" y="3363717"/>
              <a:chExt cx="6225040" cy="679778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1.2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基本术语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400798" y="1001952"/>
            <a:ext cx="8352928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数据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形式及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运算</a:t>
            </a:r>
            <a:r>
              <a:rPr lang="zh-CN" altLang="en-US" sz="2800" b="1" dirty="0" smtClean="0"/>
              <a:t>虽存在</a:t>
            </a:r>
            <a:r>
              <a:rPr lang="zh-CN" altLang="en-US" sz="2800" b="1" dirty="0"/>
              <a:t>较大的差异，</a:t>
            </a:r>
            <a:r>
              <a:rPr lang="zh-CN" altLang="en-US" sz="2800" b="1" dirty="0" smtClean="0"/>
              <a:t>但具有共性</a:t>
            </a:r>
            <a:endParaRPr lang="zh-CN" altLang="en-US" sz="28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093622"/>
            <a:ext cx="3338457" cy="2451100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15362"/>
          <p:cNvSpPr>
            <a:spLocks noGrp="1" noChangeArrowheads="1"/>
          </p:cNvSpPr>
          <p:nvPr>
            <p:ph idx="1"/>
          </p:nvPr>
        </p:nvSpPr>
        <p:spPr>
          <a:xfrm>
            <a:off x="517812" y="1033463"/>
            <a:ext cx="7993062" cy="5183187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数据可以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分解</a:t>
            </a:r>
            <a:r>
              <a:rPr lang="zh-CN" altLang="en-US" sz="2800" b="1" dirty="0" smtClean="0"/>
              <a:t>为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元素</a:t>
            </a:r>
            <a:r>
              <a:rPr lang="zh-CN" altLang="en-US" sz="2800" b="1" dirty="0" smtClean="0"/>
              <a:t>的集合</a:t>
            </a:r>
            <a:endParaRPr lang="en-US" altLang="zh-CN" sz="28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数据元素</a:t>
            </a:r>
            <a:r>
              <a:rPr lang="en-US" altLang="zh-CN" sz="2400" b="1" dirty="0" smtClean="0"/>
              <a:t>(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data element</a:t>
            </a:r>
            <a:r>
              <a:rPr lang="en-US" altLang="zh-CN" sz="2400" b="1" dirty="0" smtClean="0"/>
              <a:t>)</a:t>
            </a:r>
            <a:endParaRPr lang="zh-CN" altLang="en-US" sz="24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　</a:t>
            </a:r>
            <a:r>
              <a:rPr lang="en-US" altLang="zh-CN" sz="2000" b="1" dirty="0" smtClean="0"/>
              <a:t>—— </a:t>
            </a:r>
            <a:r>
              <a:rPr lang="zh-CN" altLang="en-US" sz="2200" b="1" dirty="0" smtClean="0"/>
              <a:t>构成数据的基本单位（具有完整的独立意义） </a:t>
            </a:r>
            <a:endParaRPr lang="zh-CN" altLang="en-US" sz="2200" b="1" dirty="0" smtClean="0"/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 smtClean="0"/>
              <a:t>例如</a:t>
            </a:r>
            <a:r>
              <a:rPr lang="zh-CN" altLang="en-US" sz="2200" b="1" dirty="0"/>
              <a:t>：</a:t>
            </a:r>
            <a:r>
              <a:rPr lang="zh-CN" altLang="en-US" sz="2200" b="1" dirty="0" smtClean="0"/>
              <a:t>成绩表中的学生成绩信息、家族关系中的个人等</a:t>
            </a:r>
            <a:endParaRPr lang="zh-CN" altLang="en-US" sz="2200" b="1" dirty="0" smtClean="0"/>
          </a:p>
          <a:p>
            <a:pPr lvl="1" eaLnBrk="1" hangingPunct="1">
              <a:buClr>
                <a:srgbClr val="FF0000"/>
              </a:buClr>
            </a:pPr>
            <a:r>
              <a:rPr lang="zh-CN" altLang="en-US" sz="2200" b="1" dirty="0" smtClean="0"/>
              <a:t>在有些场合下，也称之为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元素、记录、结点、顶点</a:t>
            </a:r>
            <a:r>
              <a:rPr lang="zh-CN" altLang="en-US" sz="2200" b="1" dirty="0" smtClean="0"/>
              <a:t>等</a:t>
            </a:r>
            <a:endParaRPr lang="zh-CN" altLang="en-US" sz="22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数据项</a:t>
            </a:r>
            <a:r>
              <a:rPr lang="en-US" altLang="zh-CN" sz="2400" b="1" dirty="0"/>
              <a:t>(</a:t>
            </a:r>
            <a:r>
              <a:rPr lang="zh-CN" altLang="en-US" sz="2400" b="1" dirty="0" smtClean="0"/>
              <a:t>字段</a:t>
            </a:r>
            <a:r>
              <a:rPr lang="en-US" altLang="zh-CN" sz="2400" b="1" dirty="0" smtClean="0"/>
              <a:t>)(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item</a:t>
            </a:r>
            <a:r>
              <a:rPr lang="en-US" altLang="zh-CN" sz="2400" b="1" dirty="0" smtClean="0"/>
              <a:t>) —— </a:t>
            </a:r>
            <a:r>
              <a:rPr lang="zh-CN" altLang="en-US" sz="2400" b="1" dirty="0" smtClean="0"/>
              <a:t>元素的具体描述信息。</a:t>
            </a:r>
            <a:endParaRPr lang="zh-CN" altLang="en-US" sz="2400" b="1" dirty="0" smtClean="0"/>
          </a:p>
        </p:txBody>
      </p:sp>
      <p:graphicFrame>
        <p:nvGraphicFramePr>
          <p:cNvPr id="15364" name="表格 15363"/>
          <p:cNvGraphicFramePr/>
          <p:nvPr/>
        </p:nvGraphicFramePr>
        <p:xfrm>
          <a:off x="3131840" y="3959845"/>
          <a:ext cx="2881313" cy="2066925"/>
        </p:xfrm>
        <a:graphic>
          <a:graphicData uri="http://schemas.openxmlformats.org/drawingml/2006/table">
            <a:tbl>
              <a:tblPr/>
              <a:tblGrid>
                <a:gridCol w="720725"/>
                <a:gridCol w="692150"/>
                <a:gridCol w="747713"/>
                <a:gridCol w="720725"/>
              </a:tblGrid>
              <a:tr h="785813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800" b="1" dirty="0">
                          <a:ea typeface="宋体" panose="02010600030101010101" pitchFamily="2" charset="-122"/>
                        </a:rPr>
                        <a:t>学号</a:t>
                      </a:r>
                      <a:endParaRPr lang="zh-CN" altLang="en-US" sz="18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defTabSz="0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  <a:tabLst>
                          <a:tab pos="292100" algn="l"/>
                        </a:tabLst>
                      </a:pPr>
                      <a:r>
                        <a:rPr lang="zh-CN" altLang="en-US" sz="1800" b="1" dirty="0">
                          <a:ea typeface="宋体" panose="02010600030101010101" pitchFamily="2" charset="-122"/>
                        </a:rPr>
                        <a:t>姓名</a:t>
                      </a:r>
                      <a:endParaRPr lang="zh-CN" altLang="en-US" sz="18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800" b="1" dirty="0">
                          <a:ea typeface="宋体" panose="02010600030101010101" pitchFamily="2" charset="-122"/>
                        </a:rPr>
                        <a:t>考试成绩</a:t>
                      </a:r>
                      <a:endParaRPr lang="zh-CN" altLang="en-US" sz="18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Clr>
                          <a:srgbClr val="000000"/>
                        </a:buClr>
                        <a:buNone/>
                      </a:pPr>
                      <a:r>
                        <a:rPr lang="zh-CN" altLang="en-US" sz="1800" b="1" dirty="0">
                          <a:ea typeface="宋体" panose="02010600030101010101" pitchFamily="2" charset="-122"/>
                        </a:rPr>
                        <a:t>备注 </a:t>
                      </a:r>
                      <a:endParaRPr lang="zh-CN" altLang="en-US" sz="18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391" name="矩形 15390"/>
          <p:cNvSpPr>
            <a:spLocks noChangeArrowheads="1"/>
          </p:cNvSpPr>
          <p:nvPr/>
        </p:nvSpPr>
        <p:spPr bwMode="auto">
          <a:xfrm>
            <a:off x="4500265" y="3886820"/>
            <a:ext cx="863600" cy="230505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5392" name="矩形 15391"/>
          <p:cNvSpPr>
            <a:spLocks noChangeArrowheads="1"/>
          </p:cNvSpPr>
          <p:nvPr/>
        </p:nvSpPr>
        <p:spPr bwMode="auto">
          <a:xfrm>
            <a:off x="2987377" y="4678983"/>
            <a:ext cx="3241675" cy="576262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5393" name="矩形 15392"/>
          <p:cNvSpPr>
            <a:spLocks noChangeArrowheads="1"/>
          </p:cNvSpPr>
          <p:nvPr/>
        </p:nvSpPr>
        <p:spPr bwMode="auto">
          <a:xfrm>
            <a:off x="755352" y="4535264"/>
            <a:ext cx="1727200" cy="648071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楷体_GB2312" pitchFamily="1" charset="-122"/>
              </a:rPr>
              <a:t>表中一行对应</a:t>
            </a:r>
            <a:endParaRPr lang="zh-CN" altLang="en-US" sz="2000" b="1" dirty="0">
              <a:latin typeface="Arial" panose="020B0604020202020204" pitchFamily="34" charset="0"/>
              <a:ea typeface="楷体_GB2312" pitchFamily="1" charset="-122"/>
            </a:endParaRPr>
          </a:p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楷体_GB2312" pitchFamily="1" charset="-122"/>
              </a:rPr>
              <a:t>一个元素</a:t>
            </a:r>
            <a:endParaRPr lang="zh-CN" altLang="en-US" sz="2000" b="1" dirty="0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15394" name="直接连接符 15393"/>
          <p:cNvSpPr>
            <a:spLocks noChangeShapeType="1"/>
          </p:cNvSpPr>
          <p:nvPr/>
        </p:nvSpPr>
        <p:spPr bwMode="auto">
          <a:xfrm>
            <a:off x="2484140" y="4823445"/>
            <a:ext cx="50323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5" name="矩形 15394"/>
          <p:cNvSpPr>
            <a:spLocks noChangeArrowheads="1"/>
          </p:cNvSpPr>
          <p:nvPr/>
        </p:nvSpPr>
        <p:spPr bwMode="auto">
          <a:xfrm>
            <a:off x="6552902" y="3815184"/>
            <a:ext cx="1906588" cy="649288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楷体_GB2312" pitchFamily="1" charset="-122"/>
              </a:rPr>
              <a:t>表中一列对应</a:t>
            </a:r>
            <a:endParaRPr lang="zh-CN" altLang="en-US" sz="2000" b="1" dirty="0">
              <a:latin typeface="Arial" panose="020B0604020202020204" pitchFamily="34" charset="0"/>
              <a:ea typeface="楷体_GB2312" pitchFamily="1" charset="-122"/>
            </a:endParaRPr>
          </a:p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楷体_GB2312" pitchFamily="1" charset="-122"/>
              </a:rPr>
              <a:t>一个字段</a:t>
            </a:r>
            <a:endParaRPr lang="zh-CN" altLang="en-US" sz="2000" b="1" dirty="0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15396" name="直接连接符 15395"/>
          <p:cNvSpPr>
            <a:spLocks noChangeShapeType="1"/>
          </p:cNvSpPr>
          <p:nvPr/>
        </p:nvSpPr>
        <p:spPr bwMode="auto">
          <a:xfrm>
            <a:off x="5363865" y="3886820"/>
            <a:ext cx="118903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1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C3A5E28-F411-4C59-B50B-BE167D0E314F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13" name="组合 114"/>
          <p:cNvGrpSpPr/>
          <p:nvPr/>
        </p:nvGrpSpPr>
        <p:grpSpPr>
          <a:xfrm>
            <a:off x="-357640" y="116632"/>
            <a:ext cx="6225040" cy="679778"/>
            <a:chOff x="93137" y="3363717"/>
            <a:chExt cx="6225040" cy="679778"/>
          </a:xfrm>
        </p:grpSpPr>
        <p:grpSp>
          <p:nvGrpSpPr>
            <p:cNvPr id="14" name="组合 105"/>
            <p:cNvGrpSpPr/>
            <p:nvPr/>
          </p:nvGrpSpPr>
          <p:grpSpPr>
            <a:xfrm>
              <a:off x="93137" y="3363717"/>
              <a:ext cx="6225040" cy="679778"/>
              <a:chOff x="93137" y="3363717"/>
              <a:chExt cx="6225040" cy="679778"/>
            </a:xfrm>
          </p:grpSpPr>
          <p:sp>
            <p:nvSpPr>
              <p:cNvPr id="16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1.2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基本术语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5" name="图片 14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15393" grpId="0" animBg="1" uiExpand="1"/>
      <p:bldP spid="1539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16386"/>
          <p:cNvSpPr>
            <a:spLocks noGrp="1" noChangeArrowheads="1"/>
          </p:cNvSpPr>
          <p:nvPr>
            <p:ph idx="1"/>
          </p:nvPr>
        </p:nvSpPr>
        <p:spPr>
          <a:xfrm>
            <a:off x="323528" y="946245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数据结构</a:t>
            </a:r>
            <a:r>
              <a:rPr lang="zh-CN" altLang="en-US" sz="2800" b="1" dirty="0" smtClean="0"/>
              <a:t>（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data structure</a:t>
            </a:r>
            <a:r>
              <a:rPr lang="zh-CN" altLang="en-US" sz="2800" b="1" dirty="0" smtClean="0"/>
              <a:t>）</a:t>
            </a:r>
            <a:endParaRPr lang="zh-CN" altLang="en-US" sz="28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/>
              <a:t>　　</a:t>
            </a:r>
            <a:r>
              <a:rPr lang="en-US" altLang="zh-CN" sz="2400" b="1" dirty="0" smtClean="0"/>
              <a:t>——</a:t>
            </a:r>
            <a:r>
              <a:rPr lang="zh-CN" altLang="en-US" sz="2400" b="1" dirty="0" smtClean="0"/>
              <a:t>构成数据的元素之间的结构关系</a:t>
            </a:r>
            <a:endParaRPr lang="zh-CN" altLang="en-US" sz="2400" b="1" dirty="0" smtClean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600" b="1" dirty="0" smtClean="0"/>
              <a:t>数据元素</a:t>
            </a:r>
            <a:r>
              <a:rPr lang="en-US" altLang="zh-CN" sz="2600" b="1" dirty="0" smtClean="0"/>
              <a:t>(</a:t>
            </a:r>
            <a:r>
              <a:rPr lang="en-US" altLang="zh-CN" sz="2600" b="1" dirty="0" smtClean="0">
                <a:solidFill>
                  <a:srgbClr val="0000FF"/>
                </a:solidFill>
              </a:rPr>
              <a:t>data element</a:t>
            </a:r>
            <a:r>
              <a:rPr lang="en-US" altLang="zh-CN" sz="2600" b="1" dirty="0" smtClean="0"/>
              <a:t>)</a:t>
            </a:r>
            <a:r>
              <a:rPr lang="zh-CN" altLang="en-US" sz="2600" b="1" dirty="0" smtClean="0"/>
              <a:t>之间存在以下几类内在的关系</a:t>
            </a:r>
            <a:endParaRPr lang="zh-CN" altLang="en-US" sz="2600" b="1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 smtClean="0"/>
              <a:t>     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线性结构</a:t>
            </a:r>
            <a:r>
              <a:rPr lang="en-US" altLang="zh-CN" sz="2400" b="1" dirty="0" smtClean="0"/>
              <a:t>(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Linear Structure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：元素之间具有次序关系</a:t>
            </a:r>
            <a:r>
              <a:rPr lang="en-US" altLang="zh-CN" sz="2400" b="1" dirty="0" smtClean="0"/>
              <a:t>;</a:t>
            </a:r>
            <a:endParaRPr lang="zh-CN" altLang="en-US" sz="2400" b="1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</a:rPr>
              <a:t>           树形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(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型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)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结构</a:t>
            </a:r>
            <a:r>
              <a:rPr lang="en-US" altLang="zh-CN" sz="2400" b="1" dirty="0" smtClean="0"/>
              <a:t>(</a:t>
            </a:r>
            <a:r>
              <a:rPr lang="en-US" altLang="zh-CN" sz="2000" b="1" dirty="0">
                <a:solidFill>
                  <a:srgbClr val="0000FF"/>
                </a:solidFill>
              </a:rPr>
              <a:t>Tree Structure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：元素之间的关系类似于自</a:t>
            </a:r>
            <a:endParaRPr lang="en-US" altLang="zh-CN" sz="2400" b="1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dirty="0"/>
              <a:t> </a:t>
            </a:r>
            <a:r>
              <a:rPr lang="en-US" altLang="zh-CN" sz="2400" b="1" dirty="0" smtClean="0"/>
              <a:t>                                                            </a:t>
            </a:r>
            <a:r>
              <a:rPr lang="zh-CN" altLang="en-US" sz="2400" b="1" dirty="0" smtClean="0"/>
              <a:t>然界中的树</a:t>
            </a:r>
            <a:r>
              <a:rPr lang="en-US" altLang="zh-CN" sz="2400" b="1" dirty="0" smtClean="0"/>
              <a:t>;</a:t>
            </a:r>
            <a:endParaRPr lang="zh-CN" altLang="en-US" sz="2400" b="1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/>
              <a:t>        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图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网状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结构 </a:t>
            </a:r>
            <a:r>
              <a:rPr lang="en-US" altLang="zh-CN" sz="2400" b="1" dirty="0" smtClean="0"/>
              <a:t>(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Graph Structure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：元素间的关系较复杂</a:t>
            </a:r>
            <a:r>
              <a:rPr lang="en-US" altLang="zh-CN" sz="2400" b="1" dirty="0" smtClean="0"/>
              <a:t>;</a:t>
            </a:r>
            <a:endParaRPr lang="zh-CN" altLang="en-US" sz="2400" b="1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chemeClr val="accent2"/>
                </a:solidFill>
              </a:rPr>
              <a:t>        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集合</a:t>
            </a:r>
            <a:r>
              <a:rPr lang="zh-CN" altLang="en-US" sz="2400" b="1" dirty="0" smtClean="0"/>
              <a:t> </a:t>
            </a:r>
            <a:r>
              <a:rPr lang="en-US" altLang="zh-CN" sz="2400" b="1" dirty="0" smtClean="0"/>
              <a:t>(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Set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：元素之间无序、没有关系；</a:t>
            </a:r>
            <a:endParaRPr lang="zh-CN" altLang="en-US" sz="2400" b="1" dirty="0" smtClean="0"/>
          </a:p>
          <a:p>
            <a:pPr eaLnBrk="1" hangingPunct="1"/>
            <a:endParaRPr lang="zh-CN" altLang="en-US" b="1" dirty="0" smtClean="0"/>
          </a:p>
        </p:txBody>
      </p:sp>
      <p:sp>
        <p:nvSpPr>
          <p:cNvPr id="16388" name="矩形 16387"/>
          <p:cNvSpPr>
            <a:spLocks noChangeArrowheads="1"/>
          </p:cNvSpPr>
          <p:nvPr/>
        </p:nvSpPr>
        <p:spPr bwMode="auto">
          <a:xfrm>
            <a:off x="1111324" y="2492896"/>
            <a:ext cx="7441803" cy="2637200"/>
          </a:xfrm>
          <a:prstGeom prst="rect">
            <a:avLst/>
          </a:prstGeom>
          <a:noFill/>
          <a:ln w="38100" cmpd="dbl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7415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1719E5A-71B7-4A47-8011-9FAD101929BA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10" name="组合 114"/>
          <p:cNvGrpSpPr/>
          <p:nvPr/>
        </p:nvGrpSpPr>
        <p:grpSpPr>
          <a:xfrm>
            <a:off x="-357640" y="116632"/>
            <a:ext cx="6225040" cy="679778"/>
            <a:chOff x="93137" y="3363717"/>
            <a:chExt cx="6225040" cy="679778"/>
          </a:xfrm>
        </p:grpSpPr>
        <p:grpSp>
          <p:nvGrpSpPr>
            <p:cNvPr id="11" name="组合 105"/>
            <p:cNvGrpSpPr/>
            <p:nvPr/>
          </p:nvGrpSpPr>
          <p:grpSpPr>
            <a:xfrm>
              <a:off x="93137" y="3363717"/>
              <a:ext cx="6225040" cy="679778"/>
              <a:chOff x="93137" y="3363717"/>
              <a:chExt cx="6225040" cy="679778"/>
            </a:xfrm>
          </p:grpSpPr>
          <p:sp>
            <p:nvSpPr>
              <p:cNvPr id="13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1.2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基本术语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2" name="图片 11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grpSp>
        <p:nvGrpSpPr>
          <p:cNvPr id="4" name="组合 3"/>
          <p:cNvGrpSpPr/>
          <p:nvPr/>
        </p:nvGrpSpPr>
        <p:grpSpPr>
          <a:xfrm>
            <a:off x="3491880" y="5157192"/>
            <a:ext cx="2061758" cy="987043"/>
            <a:chOff x="3563888" y="5013176"/>
            <a:chExt cx="2061758" cy="987043"/>
          </a:xfrm>
        </p:grpSpPr>
        <p:sp>
          <p:nvSpPr>
            <p:cNvPr id="16389" name="直接连接符 16388"/>
            <p:cNvSpPr>
              <a:spLocks noChangeShapeType="1"/>
            </p:cNvSpPr>
            <p:nvPr/>
          </p:nvSpPr>
          <p:spPr bwMode="auto">
            <a:xfrm>
              <a:off x="4571727" y="5013176"/>
              <a:ext cx="0" cy="504825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3563888" y="5507776"/>
              <a:ext cx="2061758" cy="492443"/>
            </a:xfrm>
            <a:prstGeom prst="rect">
              <a:avLst/>
            </a:prstGeom>
            <a:ln>
              <a:solidFill>
                <a:srgbClr val="FF6600"/>
              </a:solidFill>
            </a:ln>
          </p:spPr>
          <p:txBody>
            <a:bodyPr wrap="square">
              <a:spAutoFit/>
            </a:bodyPr>
            <a:lstStyle/>
            <a:p>
              <a:pPr indent="0" algn="ctr" eaLnBrk="1" hangingPunct="1"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sz="2600" b="1" dirty="0">
                  <a:solidFill>
                    <a:srgbClr val="FF0000"/>
                  </a:solidFill>
                  <a:ea typeface="楷体_GB2312" pitchFamily="1" charset="-122"/>
                </a:rPr>
                <a:t>逻辑结构  </a:t>
              </a:r>
              <a:endParaRPr lang="zh-CN" altLang="en-US" sz="2600" b="1" dirty="0">
                <a:solidFill>
                  <a:srgbClr val="FF0000"/>
                </a:solidFill>
                <a:ea typeface="楷体_GB2312" pitchFamily="1" charset="-122"/>
              </a:endParaRPr>
            </a:p>
          </p:txBody>
        </p: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17410"/>
          <p:cNvSpPr>
            <a:spLocks noGrp="1" noChangeArrowheads="1"/>
          </p:cNvSpPr>
          <p:nvPr>
            <p:ph idx="1"/>
          </p:nvPr>
        </p:nvSpPr>
        <p:spPr>
          <a:xfrm>
            <a:off x="483110" y="1412776"/>
            <a:ext cx="8660890" cy="4411663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逻辑结构</a:t>
            </a:r>
            <a:r>
              <a:rPr lang="en-US" altLang="zh-CN" sz="2400" b="1" dirty="0" smtClean="0"/>
              <a:t>(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logic structure</a:t>
            </a:r>
            <a:r>
              <a:rPr lang="en-US" altLang="zh-CN" sz="2400" b="1" dirty="0" smtClean="0"/>
              <a:t>) — </a:t>
            </a:r>
            <a:r>
              <a:rPr lang="zh-CN" altLang="en-US" sz="2400" b="1" dirty="0" smtClean="0"/>
              <a:t>元素之间的内在结构关系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逻辑关系</a:t>
            </a:r>
            <a:r>
              <a:rPr lang="en-US" altLang="zh-CN" sz="2400" b="1" dirty="0" smtClean="0"/>
              <a:t>)</a:t>
            </a:r>
            <a:endParaRPr lang="zh-CN" altLang="en-US" sz="2400" b="1" dirty="0" smtClean="0"/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 smtClean="0"/>
              <a:t>线性、树形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树型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、图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网状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、集合</a:t>
            </a:r>
            <a:endParaRPr lang="zh-CN" altLang="en-US" sz="24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存储结构</a:t>
            </a:r>
            <a:r>
              <a:rPr lang="en-US" altLang="zh-CN" sz="2400" b="1" dirty="0" smtClean="0"/>
              <a:t>(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storage structure</a:t>
            </a:r>
            <a:r>
              <a:rPr lang="en-US" altLang="zh-CN" sz="2400" b="1" dirty="0" smtClean="0"/>
              <a:t>) — </a:t>
            </a:r>
            <a:r>
              <a:rPr lang="zh-CN" altLang="en-US" sz="2400" b="1" dirty="0" smtClean="0"/>
              <a:t>数据结构在内存中的实现形式   </a:t>
            </a:r>
            <a:endParaRPr lang="zh-CN" altLang="en-US" sz="24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运算</a:t>
            </a:r>
            <a:r>
              <a:rPr lang="en-US" altLang="zh-CN" sz="2400" b="1" dirty="0" smtClean="0"/>
              <a:t>(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Operation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400" b="1" dirty="0" smtClean="0"/>
              <a:t>—</a:t>
            </a:r>
            <a:r>
              <a:rPr lang="zh-CN" altLang="en-US" sz="2400" b="1" dirty="0" smtClean="0"/>
              <a:t>对数据所施加的运算</a:t>
            </a:r>
            <a:endParaRPr lang="zh-CN" altLang="en-US" sz="24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000" b="1" dirty="0" smtClean="0"/>
          </a:p>
        </p:txBody>
      </p:sp>
      <p:sp>
        <p:nvSpPr>
          <p:cNvPr id="1846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77997" y="6597352"/>
            <a:ext cx="2133600" cy="22671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65BBB39-C990-40E1-B620-30C98E7D6F6E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31" name="组合 114"/>
          <p:cNvGrpSpPr/>
          <p:nvPr/>
        </p:nvGrpSpPr>
        <p:grpSpPr>
          <a:xfrm>
            <a:off x="-357640" y="116632"/>
            <a:ext cx="6225040" cy="679778"/>
            <a:chOff x="93137" y="3363717"/>
            <a:chExt cx="6225040" cy="679778"/>
          </a:xfrm>
        </p:grpSpPr>
        <p:grpSp>
          <p:nvGrpSpPr>
            <p:cNvPr id="32" name="组合 105"/>
            <p:cNvGrpSpPr/>
            <p:nvPr/>
          </p:nvGrpSpPr>
          <p:grpSpPr>
            <a:xfrm>
              <a:off x="93137" y="3363717"/>
              <a:ext cx="6225040" cy="679778"/>
              <a:chOff x="93137" y="3363717"/>
              <a:chExt cx="6225040" cy="679778"/>
            </a:xfrm>
          </p:grpSpPr>
          <p:sp>
            <p:nvSpPr>
              <p:cNvPr id="34" name="Freeform 5"/>
              <p:cNvSpPr/>
              <p:nvPr/>
            </p:nvSpPr>
            <p:spPr bwMode="auto">
              <a:xfrm>
                <a:off x="933887" y="3380765"/>
                <a:ext cx="801702" cy="662730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EA6103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TextBox 6"/>
              <p:cNvSpPr txBox="1">
                <a:spLocks noChangeArrowheads="1"/>
              </p:cNvSpPr>
              <p:nvPr/>
            </p:nvSpPr>
            <p:spPr bwMode="auto">
              <a:xfrm>
                <a:off x="93137" y="3363717"/>
                <a:ext cx="62250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1.2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基本术语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33" name="图片 32" descr="12.jp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15929" y="3530600"/>
              <a:ext cx="446172" cy="431048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483110" y="889556"/>
            <a:ext cx="38066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数据结构的</a:t>
            </a:r>
            <a:r>
              <a:rPr lang="zh-CN" altLang="en-US" sz="2800" b="1" dirty="0"/>
              <a:t>几</a:t>
            </a:r>
            <a:r>
              <a:rPr lang="zh-CN" altLang="en-US" sz="2800" b="1" dirty="0" smtClean="0"/>
              <a:t>个方面</a:t>
            </a:r>
            <a:endParaRPr lang="zh-CN" altLang="en-US" sz="2800" b="1" dirty="0"/>
          </a:p>
        </p:txBody>
      </p:sp>
      <p:sp>
        <p:nvSpPr>
          <p:cNvPr id="4" name="矩形 3"/>
          <p:cNvSpPr/>
          <p:nvPr/>
        </p:nvSpPr>
        <p:spPr>
          <a:xfrm>
            <a:off x="493692" y="3582526"/>
            <a:ext cx="466666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 smtClean="0"/>
              <a:t>数据结构</a:t>
            </a:r>
            <a:r>
              <a:rPr lang="zh-CN" altLang="en-US" sz="2600" b="1" dirty="0"/>
              <a:t>几个方面的联系图</a:t>
            </a:r>
            <a:endParaRPr lang="zh-CN" altLang="en-US" sz="2600" dirty="0"/>
          </a:p>
        </p:txBody>
      </p:sp>
      <p:sp>
        <p:nvSpPr>
          <p:cNvPr id="17413" name="矩形 17412"/>
          <p:cNvSpPr>
            <a:spLocks noChangeArrowheads="1"/>
          </p:cNvSpPr>
          <p:nvPr/>
        </p:nvSpPr>
        <p:spPr bwMode="auto">
          <a:xfrm>
            <a:off x="6372100" y="5066009"/>
            <a:ext cx="1657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b="1" dirty="0">
                <a:latin typeface="Arial" panose="020B0604020202020204" pitchFamily="34" charset="0"/>
                <a:ea typeface="楷体_GB2312" pitchFamily="1" charset="-122"/>
              </a:rPr>
              <a:t>分析</a:t>
            </a:r>
            <a:endParaRPr lang="zh-CN" altLang="en-US" sz="1800" b="1" dirty="0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17415" name="矩形 17414"/>
          <p:cNvSpPr>
            <a:spLocks noChangeArrowheads="1"/>
          </p:cNvSpPr>
          <p:nvPr/>
        </p:nvSpPr>
        <p:spPr bwMode="auto">
          <a:xfrm>
            <a:off x="4212083" y="4346822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b="1">
                <a:latin typeface="Arial" panose="020B0604020202020204" pitchFamily="34" charset="0"/>
                <a:ea typeface="楷体_GB2312" pitchFamily="1" charset="-122"/>
              </a:rPr>
              <a:t>运算定义</a:t>
            </a:r>
            <a:r>
              <a:rPr lang="zh-CN" altLang="en-US" sz="1800">
                <a:latin typeface="Arial" panose="020B0604020202020204" pitchFamily="34" charset="0"/>
              </a:rPr>
              <a:t> 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2796" name="矩形 17416"/>
          <p:cNvSpPr>
            <a:spLocks noChangeArrowheads="1"/>
          </p:cNvSpPr>
          <p:nvPr/>
        </p:nvSpPr>
        <p:spPr bwMode="auto">
          <a:xfrm>
            <a:off x="1907033" y="5066009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b="1">
                <a:latin typeface="Arial" panose="020B0604020202020204" pitchFamily="34" charset="0"/>
                <a:ea typeface="楷体_GB2312" pitchFamily="1" charset="-122"/>
              </a:rPr>
              <a:t>存储结构</a:t>
            </a:r>
            <a:endParaRPr lang="zh-CN" altLang="en-US" sz="1800" b="1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32797" name="直接连接符 17417"/>
          <p:cNvSpPr>
            <a:spLocks noChangeShapeType="1"/>
          </p:cNvSpPr>
          <p:nvPr/>
        </p:nvSpPr>
        <p:spPr bwMode="auto">
          <a:xfrm>
            <a:off x="2483296" y="4724777"/>
            <a:ext cx="0" cy="414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直接连接符 17418"/>
          <p:cNvSpPr>
            <a:spLocks noChangeShapeType="1"/>
          </p:cNvSpPr>
          <p:nvPr/>
        </p:nvSpPr>
        <p:spPr bwMode="auto">
          <a:xfrm>
            <a:off x="3130996" y="4562722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3203178" y="4724777"/>
            <a:ext cx="2520205" cy="773032"/>
            <a:chOff x="3203178" y="4724777"/>
            <a:chExt cx="2520205" cy="773032"/>
          </a:xfrm>
        </p:grpSpPr>
        <p:sp>
          <p:nvSpPr>
            <p:cNvPr id="17414" name="矩形 17413"/>
            <p:cNvSpPr>
              <a:spLocks noChangeArrowheads="1"/>
            </p:cNvSpPr>
            <p:nvPr/>
          </p:nvSpPr>
          <p:spPr bwMode="auto">
            <a:xfrm>
              <a:off x="3923158" y="5066009"/>
              <a:ext cx="180022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dirty="0">
                  <a:latin typeface="Arial" panose="020B0604020202020204" pitchFamily="34" charset="0"/>
                </a:rPr>
                <a:t>  </a:t>
              </a:r>
              <a:r>
                <a:rPr lang="zh-CN" altLang="en-US" sz="1800" b="1" dirty="0">
                  <a:latin typeface="Arial" panose="020B0604020202020204" pitchFamily="34" charset="0"/>
                  <a:ea typeface="楷体_GB2312" pitchFamily="1" charset="-122"/>
                </a:rPr>
                <a:t>运算</a:t>
              </a:r>
              <a:r>
                <a:rPr lang="zh-CN" altLang="en-US" sz="1800" b="1" dirty="0" smtClean="0">
                  <a:latin typeface="Arial" panose="020B0604020202020204" pitchFamily="34" charset="0"/>
                  <a:ea typeface="楷体_GB2312" pitchFamily="1" charset="-122"/>
                </a:rPr>
                <a:t>实现</a:t>
              </a:r>
              <a:r>
                <a:rPr lang="en-US" altLang="zh-CN" sz="1800" b="1" dirty="0" smtClean="0">
                  <a:latin typeface="Arial" panose="020B0604020202020204" pitchFamily="34" charset="0"/>
                  <a:ea typeface="楷体_GB2312" pitchFamily="1" charset="-122"/>
                </a:rPr>
                <a:t>(</a:t>
              </a:r>
              <a:r>
                <a:rPr lang="zh-CN" altLang="en-US" sz="1800" b="1" dirty="0" smtClean="0">
                  <a:latin typeface="Arial" panose="020B0604020202020204" pitchFamily="34" charset="0"/>
                  <a:ea typeface="楷体_GB2312" pitchFamily="1" charset="-122"/>
                </a:rPr>
                <a:t>算法</a:t>
              </a:r>
              <a:r>
                <a:rPr lang="en-US" altLang="zh-CN" sz="1800" b="1" dirty="0" smtClean="0">
                  <a:latin typeface="Arial" panose="020B0604020202020204" pitchFamily="34" charset="0"/>
                  <a:ea typeface="楷体_GB2312" pitchFamily="1" charset="-122"/>
                </a:rPr>
                <a:t>)</a:t>
              </a:r>
              <a:r>
                <a:rPr lang="zh-CN" altLang="en-US" sz="1800" dirty="0" smtClean="0">
                  <a:latin typeface="Arial" panose="020B0604020202020204" pitchFamily="34" charset="0"/>
                </a:rPr>
                <a:t>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grpSp>
          <p:nvGrpSpPr>
            <p:cNvPr id="17420" name="组合 17419"/>
            <p:cNvGrpSpPr/>
            <p:nvPr/>
          </p:nvGrpSpPr>
          <p:grpSpPr bwMode="auto">
            <a:xfrm>
              <a:off x="3203178" y="4724777"/>
              <a:ext cx="1512888" cy="556313"/>
              <a:chOff x="45" y="0"/>
              <a:chExt cx="953" cy="635"/>
            </a:xfrm>
          </p:grpSpPr>
          <p:sp>
            <p:nvSpPr>
              <p:cNvPr id="32794" name="直接连接符 17420"/>
              <p:cNvSpPr>
                <a:spLocks noChangeShapeType="1"/>
              </p:cNvSpPr>
              <p:nvPr/>
            </p:nvSpPr>
            <p:spPr bwMode="auto">
              <a:xfrm>
                <a:off x="45" y="635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直接连接符 17421"/>
              <p:cNvSpPr>
                <a:spLocks noChangeShapeType="1"/>
              </p:cNvSpPr>
              <p:nvPr/>
            </p:nvSpPr>
            <p:spPr bwMode="auto">
              <a:xfrm>
                <a:off x="998" y="0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423" name="直接连接符 17422"/>
          <p:cNvSpPr>
            <a:spLocks noChangeShapeType="1"/>
          </p:cNvSpPr>
          <p:nvPr/>
        </p:nvSpPr>
        <p:spPr bwMode="auto">
          <a:xfrm>
            <a:off x="5723383" y="5281909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80058" y="3571563"/>
            <a:ext cx="6802780" cy="1207059"/>
            <a:chOff x="1980058" y="3571563"/>
            <a:chExt cx="6802780" cy="1207059"/>
          </a:xfrm>
        </p:grpSpPr>
        <p:sp>
          <p:nvSpPr>
            <p:cNvPr id="32791" name="矩形 17426"/>
            <p:cNvSpPr>
              <a:spLocks noChangeArrowheads="1"/>
            </p:cNvSpPr>
            <p:nvPr/>
          </p:nvSpPr>
          <p:spPr bwMode="auto">
            <a:xfrm>
              <a:off x="5723136" y="3571563"/>
              <a:ext cx="3059702" cy="60419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b="1" dirty="0" smtClean="0">
                  <a:latin typeface="Arial" panose="020B0604020202020204" pitchFamily="34" charset="0"/>
                </a:rPr>
                <a:t>抽象数据类型</a:t>
              </a:r>
              <a:endParaRPr lang="en-US" altLang="zh-CN" sz="1800" b="1" dirty="0" smtClean="0">
                <a:latin typeface="Arial" panose="020B0604020202020204" pitchFamily="34" charset="0"/>
              </a:endParaRPr>
            </a:p>
            <a:p>
              <a:pPr algn="ctr"/>
              <a:r>
                <a:rPr lang="en-US" altLang="zh-CN" sz="1800" b="1" dirty="0" smtClean="0">
                  <a:latin typeface="Arial" panose="020B0604020202020204" pitchFamily="34" charset="0"/>
                </a:rPr>
                <a:t>(</a:t>
              </a:r>
              <a:r>
                <a:rPr lang="en-US" altLang="zh-CN" sz="1800" b="1" dirty="0" smtClean="0">
                  <a:solidFill>
                    <a:srgbClr val="0000FF"/>
                  </a:solidFill>
                  <a:latin typeface="Arial" panose="020B0604020202020204" pitchFamily="34" charset="0"/>
                </a:rPr>
                <a:t>Abstract Data Type: ADT</a:t>
              </a:r>
              <a:r>
                <a:rPr lang="en-US" altLang="zh-CN" sz="1800" b="1" dirty="0" smtClean="0">
                  <a:latin typeface="Arial" panose="020B0604020202020204" pitchFamily="34" charset="0"/>
                </a:rPr>
                <a:t>)</a:t>
              </a:r>
              <a:r>
                <a:rPr lang="zh-CN" altLang="en-US" sz="1800" dirty="0" smtClean="0">
                  <a:latin typeface="Arial" panose="020B0604020202020204" pitchFamily="34" charset="0"/>
                </a:rPr>
                <a:t>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32792" name="矩形 17427"/>
            <p:cNvSpPr>
              <a:spLocks noChangeArrowheads="1"/>
            </p:cNvSpPr>
            <p:nvPr/>
          </p:nvSpPr>
          <p:spPr bwMode="auto">
            <a:xfrm>
              <a:off x="1980058" y="4400667"/>
              <a:ext cx="3327585" cy="37795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32793" name="直接连接符 17428"/>
            <p:cNvSpPr>
              <a:spLocks noChangeShapeType="1"/>
            </p:cNvSpPr>
            <p:nvPr/>
          </p:nvSpPr>
          <p:spPr bwMode="auto">
            <a:xfrm flipH="1">
              <a:off x="5289420" y="4163780"/>
              <a:ext cx="431894" cy="236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32" name="矩形 17431"/>
          <p:cNvSpPr>
            <a:spLocks noChangeArrowheads="1"/>
          </p:cNvSpPr>
          <p:nvPr/>
        </p:nvSpPr>
        <p:spPr bwMode="auto">
          <a:xfrm>
            <a:off x="539452" y="4365104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b="1" dirty="0">
                <a:latin typeface="Arial" panose="020B0604020202020204" pitchFamily="34" charset="0"/>
                <a:ea typeface="楷体_GB2312" pitchFamily="1" charset="-122"/>
              </a:rPr>
              <a:t>背景</a:t>
            </a:r>
            <a:endParaRPr lang="zh-CN" altLang="en-US" sz="1800" b="1" dirty="0">
              <a:latin typeface="Arial" panose="020B0604020202020204" pitchFamily="34" charset="0"/>
              <a:ea typeface="楷体_GB2312" pitchFamily="1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548258" y="4346822"/>
            <a:ext cx="1582738" cy="431800"/>
            <a:chOff x="1548258" y="4346822"/>
            <a:chExt cx="1582738" cy="431800"/>
          </a:xfrm>
        </p:grpSpPr>
        <p:sp>
          <p:nvSpPr>
            <p:cNvPr id="17412" name="矩形 17411"/>
            <p:cNvSpPr>
              <a:spLocks noChangeArrowheads="1"/>
            </p:cNvSpPr>
            <p:nvPr/>
          </p:nvSpPr>
          <p:spPr bwMode="auto">
            <a:xfrm>
              <a:off x="1835596" y="4346822"/>
              <a:ext cx="12954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b="1">
                  <a:latin typeface="Arial" panose="020B0604020202020204" pitchFamily="34" charset="0"/>
                  <a:ea typeface="楷体_GB2312" pitchFamily="1" charset="-122"/>
                </a:rPr>
                <a:t>逻辑结构</a:t>
              </a:r>
              <a:endParaRPr lang="zh-CN" altLang="en-US" sz="1800" b="1">
                <a:latin typeface="Arial" panose="020B0604020202020204" pitchFamily="34" charset="0"/>
                <a:ea typeface="楷体_GB2312" pitchFamily="1" charset="-122"/>
              </a:endParaRPr>
            </a:p>
          </p:txBody>
        </p:sp>
        <p:sp>
          <p:nvSpPr>
            <p:cNvPr id="17433" name="直接连接符 17432"/>
            <p:cNvSpPr>
              <a:spLocks noChangeShapeType="1"/>
            </p:cNvSpPr>
            <p:nvPr/>
          </p:nvSpPr>
          <p:spPr bwMode="auto">
            <a:xfrm>
              <a:off x="1548258" y="4634159"/>
              <a:ext cx="287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483296" y="5425975"/>
            <a:ext cx="4680892" cy="360214"/>
            <a:chOff x="2483296" y="5425975"/>
            <a:chExt cx="4680892" cy="360214"/>
          </a:xfrm>
        </p:grpSpPr>
        <p:cxnSp>
          <p:nvCxnSpPr>
            <p:cNvPr id="14" name="直接连接符 13"/>
            <p:cNvCxnSpPr/>
            <p:nvPr/>
          </p:nvCxnSpPr>
          <p:spPr>
            <a:xfrm flipH="1">
              <a:off x="2483297" y="5786189"/>
              <a:ext cx="468089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2483296" y="5425975"/>
              <a:ext cx="0" cy="3602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4716065" y="5388867"/>
            <a:ext cx="2448123" cy="397322"/>
            <a:chOff x="4716065" y="5388867"/>
            <a:chExt cx="2448123" cy="397322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7164188" y="5425975"/>
              <a:ext cx="0" cy="3602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>
              <a:off x="4716065" y="5641999"/>
              <a:ext cx="244812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V="1">
              <a:off x="4716065" y="5388867"/>
              <a:ext cx="0" cy="25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1835597" y="4309148"/>
            <a:ext cx="6840859" cy="1640132"/>
            <a:chOff x="1835597" y="4309148"/>
            <a:chExt cx="6840859" cy="1640132"/>
          </a:xfrm>
        </p:grpSpPr>
        <p:grpSp>
          <p:nvGrpSpPr>
            <p:cNvPr id="43" name="组合 42"/>
            <p:cNvGrpSpPr/>
            <p:nvPr/>
          </p:nvGrpSpPr>
          <p:grpSpPr>
            <a:xfrm>
              <a:off x="7596336" y="4562722"/>
              <a:ext cx="1080120" cy="431800"/>
              <a:chOff x="7596336" y="4562722"/>
              <a:chExt cx="1080120" cy="431800"/>
            </a:xfrm>
          </p:grpSpPr>
          <p:sp>
            <p:nvSpPr>
              <p:cNvPr id="17434" name="矩形 17433"/>
              <p:cNvSpPr>
                <a:spLocks noChangeArrowheads="1"/>
              </p:cNvSpPr>
              <p:nvPr/>
            </p:nvSpPr>
            <p:spPr bwMode="auto">
              <a:xfrm>
                <a:off x="7739831" y="4562722"/>
                <a:ext cx="936625" cy="431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800" b="1" dirty="0">
                    <a:latin typeface="Arial" panose="020B0604020202020204" pitchFamily="34" charset="0"/>
                    <a:ea typeface="楷体_GB2312" pitchFamily="1" charset="-122"/>
                  </a:rPr>
                  <a:t>应用</a:t>
                </a:r>
                <a:endParaRPr lang="zh-CN" altLang="en-US" sz="1800" b="1" dirty="0">
                  <a:latin typeface="Arial" panose="020B0604020202020204" pitchFamily="34" charset="0"/>
                  <a:ea typeface="楷体_GB2312" pitchFamily="1" charset="-122"/>
                </a:endParaRPr>
              </a:p>
            </p:txBody>
          </p:sp>
          <p:sp>
            <p:nvSpPr>
              <p:cNvPr id="17435" name="直接连接符 17434"/>
              <p:cNvSpPr>
                <a:spLocks noChangeShapeType="1"/>
              </p:cNvSpPr>
              <p:nvPr/>
            </p:nvSpPr>
            <p:spPr bwMode="auto">
              <a:xfrm>
                <a:off x="7596336" y="4778622"/>
                <a:ext cx="2873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25" name="矩形 17424"/>
            <p:cNvSpPr>
              <a:spLocks noChangeArrowheads="1"/>
            </p:cNvSpPr>
            <p:nvPr/>
          </p:nvSpPr>
          <p:spPr bwMode="auto">
            <a:xfrm>
              <a:off x="1835597" y="4309148"/>
              <a:ext cx="5760740" cy="164013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059832" y="5949280"/>
            <a:ext cx="3384550" cy="576064"/>
            <a:chOff x="3059832" y="5949280"/>
            <a:chExt cx="3384550" cy="576064"/>
          </a:xfrm>
        </p:grpSpPr>
        <p:sp>
          <p:nvSpPr>
            <p:cNvPr id="17431" name="文本框 17430"/>
            <p:cNvSpPr txBox="1">
              <a:spLocks noChangeArrowheads="1"/>
            </p:cNvSpPr>
            <p:nvPr/>
          </p:nvSpPr>
          <p:spPr bwMode="auto">
            <a:xfrm>
              <a:off x="3059832" y="6058619"/>
              <a:ext cx="338455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908050" indent="-43688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r>
                <a:rPr lang="zh-CN" altLang="en-US" b="1" dirty="0">
                  <a:solidFill>
                    <a:schemeClr val="accent2"/>
                  </a:solidFill>
                  <a:ea typeface="楷体_GB2312" pitchFamily="1" charset="-122"/>
                </a:rPr>
                <a:t>数据结构的组成</a:t>
              </a:r>
              <a:endParaRPr lang="zh-CN" altLang="en-US" b="1" dirty="0">
                <a:solidFill>
                  <a:schemeClr val="accent2"/>
                </a:solidFill>
                <a:ea typeface="楷体_GB2312" pitchFamily="1" charset="-122"/>
              </a:endParaRPr>
            </a:p>
          </p:txBody>
        </p:sp>
        <p:cxnSp>
          <p:nvCxnSpPr>
            <p:cNvPr id="7" name="直接连接符 6"/>
            <p:cNvCxnSpPr>
              <a:stCxn id="17425" idx="2"/>
            </p:cNvCxnSpPr>
            <p:nvPr/>
          </p:nvCxnSpPr>
          <p:spPr>
            <a:xfrm>
              <a:off x="4715967" y="5949280"/>
              <a:ext cx="98" cy="1093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/>
      <p:bldP spid="4" grpId="0"/>
      <p:bldP spid="17413" grpId="0"/>
      <p:bldP spid="17415" grpId="0"/>
      <p:bldP spid="32796" grpId="0"/>
      <p:bldP spid="32797" grpId="0" animBg="1"/>
      <p:bldP spid="17419" grpId="0" animBg="1"/>
      <p:bldP spid="17423" grpId="0" animBg="1"/>
      <p:bldP spid="174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18434"/>
          <p:cNvSpPr>
            <a:spLocks noGrp="1" noChangeArrowheads="1"/>
          </p:cNvSpPr>
          <p:nvPr>
            <p:ph idx="1"/>
          </p:nvPr>
        </p:nvSpPr>
        <p:spPr>
          <a:xfrm>
            <a:off x="467544" y="1566933"/>
            <a:ext cx="7993062" cy="489721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/>
              <a:t>算法的相关概念</a:t>
            </a:r>
            <a:endParaRPr lang="zh-CN" altLang="en-US" sz="2400" b="1" dirty="0" smtClean="0"/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solidFill>
                  <a:srgbClr val="FF0000"/>
                </a:solidFill>
              </a:rPr>
              <a:t>算法</a:t>
            </a:r>
            <a:r>
              <a:rPr lang="zh-CN" altLang="en-US" sz="2400" b="1" dirty="0" smtClean="0"/>
              <a:t> </a:t>
            </a:r>
            <a:r>
              <a:rPr lang="en-US" altLang="zh-CN" sz="2400" b="1" dirty="0" smtClean="0"/>
              <a:t>—— </a:t>
            </a:r>
            <a:r>
              <a:rPr lang="zh-CN" altLang="en-US" sz="2400" b="1" dirty="0" smtClean="0"/>
              <a:t>特定问题的求解方法</a:t>
            </a:r>
            <a:r>
              <a:rPr lang="en-US" altLang="zh-CN" sz="2400" b="1" dirty="0" smtClean="0"/>
              <a:t>;</a:t>
            </a:r>
            <a:endParaRPr lang="zh-CN" altLang="en-US" sz="2400" b="1" dirty="0" smtClean="0"/>
          </a:p>
          <a:p>
            <a:pPr lvl="1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/>
              <a:t>这种说法较为粗略，不够严格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/>
              <a:t>  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另一种定义</a:t>
            </a:r>
            <a:r>
              <a:rPr lang="zh-CN" altLang="en-US" sz="2400" b="1" dirty="0" smtClean="0"/>
              <a:t>：指令的有限序列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满足：</a:t>
            </a:r>
            <a:endParaRPr lang="zh-CN" altLang="en-US" sz="24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 smtClean="0"/>
              <a:t>     </a:t>
            </a:r>
            <a:r>
              <a:rPr lang="en-US" altLang="zh-CN" sz="2000" b="1" dirty="0" smtClean="0"/>
              <a:t>(1)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输入</a:t>
            </a:r>
            <a:r>
              <a:rPr lang="zh-CN" altLang="en-US" sz="2000" b="1" dirty="0" smtClean="0">
                <a:solidFill>
                  <a:schemeClr val="accent2"/>
                </a:solidFill>
              </a:rPr>
              <a:t>：</a:t>
            </a:r>
            <a:r>
              <a:rPr lang="en-US" altLang="zh-CN" sz="2000" b="1" dirty="0" smtClean="0"/>
              <a:t>0</a:t>
            </a:r>
            <a:r>
              <a:rPr lang="zh-CN" altLang="en-US" sz="2000" b="1" dirty="0" smtClean="0"/>
              <a:t>～</a:t>
            </a:r>
            <a:r>
              <a:rPr lang="en-US" altLang="zh-CN" sz="2000" b="1" i="1" dirty="0" smtClean="0"/>
              <a:t>n</a:t>
            </a:r>
            <a:r>
              <a:rPr lang="zh-CN" altLang="en-US" sz="2000" b="1" dirty="0" smtClean="0"/>
              <a:t>个</a:t>
            </a:r>
            <a:r>
              <a:rPr lang="en-US" altLang="zh-CN" sz="2000" b="1" dirty="0" smtClean="0"/>
              <a:t>;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(2)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输出：</a:t>
            </a:r>
            <a:r>
              <a:rPr lang="en-US" altLang="zh-CN" sz="2000" b="1" dirty="0" smtClean="0"/>
              <a:t>1</a:t>
            </a:r>
            <a:r>
              <a:rPr lang="zh-CN" altLang="en-US" sz="2000" b="1" dirty="0" smtClean="0"/>
              <a:t>～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个</a:t>
            </a:r>
            <a:r>
              <a:rPr lang="en-US" altLang="zh-CN" sz="2000" b="1" dirty="0" smtClean="0"/>
              <a:t>;</a:t>
            </a:r>
            <a:r>
              <a:rPr lang="zh-CN" altLang="en-US" sz="2000" b="1" dirty="0" smtClean="0"/>
              <a:t>  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(3)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确定性</a:t>
            </a:r>
            <a:r>
              <a:rPr lang="en-US" altLang="zh-CN" sz="2000" b="1" dirty="0" smtClean="0"/>
              <a:t>(</a:t>
            </a:r>
            <a:r>
              <a:rPr lang="zh-CN" altLang="en-US" sz="2000" b="1" dirty="0" smtClean="0"/>
              <a:t>无二义性</a:t>
            </a:r>
            <a:r>
              <a:rPr lang="en-US" altLang="zh-CN" sz="2000" b="1" dirty="0" smtClean="0"/>
              <a:t>)</a:t>
            </a:r>
            <a:r>
              <a:rPr lang="zh-CN" altLang="en-US" sz="2000" b="1" dirty="0" smtClean="0"/>
              <a:t>：指令的描述是确定的，使得对相同的输入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                                         </a:t>
            </a:r>
            <a:r>
              <a:rPr lang="zh-CN" altLang="en-US" sz="2000" b="1" dirty="0" smtClean="0"/>
              <a:t>能产生相同的输出结果</a:t>
            </a:r>
            <a:r>
              <a:rPr lang="en-US" altLang="zh-CN" sz="2000" b="1" dirty="0" smtClean="0"/>
              <a:t>;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(4)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有限性</a:t>
            </a:r>
            <a:r>
              <a:rPr lang="zh-CN" altLang="en-US" sz="2000" b="1" dirty="0" smtClean="0"/>
              <a:t>：指令的执行次数有限</a:t>
            </a:r>
            <a:r>
              <a:rPr lang="en-US" altLang="zh-CN" sz="2000" b="1" dirty="0" smtClean="0"/>
              <a:t>;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(5)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可行性</a:t>
            </a:r>
            <a:r>
              <a:rPr lang="zh-CN" altLang="en-US" sz="2000" b="1" dirty="0" smtClean="0"/>
              <a:t>：算法中每条指令可用计算机指令的有限次执行来实现。</a:t>
            </a:r>
            <a:endParaRPr lang="zh-CN" altLang="en-US" sz="2000" b="1" dirty="0" smtClean="0"/>
          </a:p>
        </p:txBody>
      </p:sp>
      <p:sp>
        <p:nvSpPr>
          <p:cNvPr id="1946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5DA3DB-AFD4-452F-BA47-4DCBACDF8F0D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467544" y="1022436"/>
            <a:ext cx="6838732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FF0000"/>
                </a:solidFill>
              </a:rPr>
              <a:t>算法以及算法设计</a:t>
            </a:r>
            <a:r>
              <a:rPr lang="zh-CN" altLang="en-US" sz="2600" b="1" dirty="0"/>
              <a:t>是计算机专业的</a:t>
            </a:r>
            <a:r>
              <a:rPr lang="zh-CN" altLang="en-US" sz="2600" b="1" dirty="0">
                <a:solidFill>
                  <a:srgbClr val="FF0000"/>
                </a:solidFill>
              </a:rPr>
              <a:t>核心能力</a:t>
            </a:r>
            <a:endParaRPr lang="zh-CN" altLang="en-US" sz="2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内容占位符 19458"/>
          <p:cNvSpPr>
            <a:spLocks noGrp="1" noChangeArrowheads="1"/>
          </p:cNvSpPr>
          <p:nvPr>
            <p:ph idx="1"/>
          </p:nvPr>
        </p:nvSpPr>
        <p:spPr>
          <a:xfrm>
            <a:off x="395536" y="925884"/>
            <a:ext cx="8640960" cy="502247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算法描述语言</a:t>
            </a:r>
            <a:endParaRPr lang="zh-CN" altLang="en-US" sz="28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600" dirty="0" smtClean="0"/>
              <a:t>          </a:t>
            </a:r>
            <a:r>
              <a:rPr lang="zh-CN" altLang="en-US" sz="2000" dirty="0" smtClean="0"/>
              <a:t>                 </a:t>
            </a:r>
            <a:r>
              <a:rPr lang="zh-CN" altLang="en-US" sz="2000" b="1" dirty="0" smtClean="0"/>
              <a:t>易懂，灵活</a:t>
            </a:r>
            <a:r>
              <a:rPr lang="zh-CN" altLang="en-US" sz="2000" dirty="0" smtClean="0"/>
              <a:t> </a:t>
            </a:r>
            <a:endParaRPr lang="zh-CN" altLang="en-US" sz="2000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      </a:t>
            </a:r>
            <a:r>
              <a:rPr lang="zh-CN" altLang="en-US" sz="2000" b="1" dirty="0" smtClean="0"/>
              <a:t>自然语言   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                    不准确 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                        准确，严格 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 计算机语言  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                        死板</a:t>
            </a:r>
            <a:endParaRPr lang="zh-CN" altLang="en-US" sz="2000" b="1" dirty="0" smtClean="0"/>
          </a:p>
          <a:p>
            <a:pPr marL="457200" lvl="1" indent="0">
              <a:lnSpc>
                <a:spcPct val="90000"/>
              </a:lnSpc>
              <a:buClr>
                <a:srgbClr val="FF0000"/>
              </a:buClr>
              <a:buNone/>
            </a:pPr>
            <a:r>
              <a:rPr lang="zh-CN" altLang="en-US" sz="2000" b="1" dirty="0" smtClean="0"/>
              <a:t>伪语言</a:t>
            </a:r>
            <a:r>
              <a:rPr lang="en-US" altLang="zh-CN" sz="2000" b="1" dirty="0" smtClean="0"/>
              <a:t>(</a:t>
            </a:r>
            <a:r>
              <a:rPr lang="zh-CN" altLang="en-US" sz="2000" b="1" dirty="0" smtClean="0"/>
              <a:t>类语言</a:t>
            </a:r>
            <a:r>
              <a:rPr lang="en-US" altLang="zh-CN" sz="2000" b="1" dirty="0" smtClean="0"/>
              <a:t>)</a:t>
            </a:r>
            <a:r>
              <a:rPr lang="zh-CN" altLang="en-US" sz="2000" b="1" dirty="0" smtClean="0"/>
              <a:t>：</a:t>
            </a:r>
            <a:r>
              <a:rPr lang="zh-CN" altLang="en-US" sz="2000" b="1" dirty="0"/>
              <a:t>类</a:t>
            </a:r>
            <a:r>
              <a:rPr lang="en-US" altLang="zh-CN" sz="2000" b="1" dirty="0" smtClean="0"/>
              <a:t>Pascal</a:t>
            </a:r>
            <a:r>
              <a:rPr lang="zh-CN" altLang="en-US" sz="2000" b="1" dirty="0" smtClean="0"/>
              <a:t>、类</a:t>
            </a:r>
            <a:r>
              <a:rPr lang="en-US" altLang="zh-CN" sz="2000" b="1" dirty="0" smtClean="0"/>
              <a:t>C</a:t>
            </a:r>
            <a:r>
              <a:rPr lang="zh-CN" altLang="en-US" sz="2000" b="1" dirty="0" smtClean="0"/>
              <a:t>、类</a:t>
            </a:r>
            <a:r>
              <a:rPr lang="en-US" altLang="zh-CN" sz="2000" b="1" dirty="0" smtClean="0"/>
              <a:t>C++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/>
              <a:t>Java</a:t>
            </a:r>
            <a:r>
              <a:rPr lang="zh-CN" altLang="en-US" sz="2000" b="1" dirty="0" smtClean="0"/>
              <a:t>、</a:t>
            </a:r>
            <a:r>
              <a:rPr lang="en-US" altLang="zh-CN" sz="2000" b="1" dirty="0" smtClean="0"/>
              <a:t>Python </a:t>
            </a:r>
            <a:endParaRPr lang="en-US" altLang="zh-CN" sz="2000" b="1" dirty="0" smtClean="0"/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FF0000"/>
                </a:solidFill>
              </a:rPr>
              <a:t>本课程中将采用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C++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的函数形式来描述。</a:t>
            </a:r>
            <a:endParaRPr lang="zh-CN" altLang="en-US" sz="2000" b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1800" b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 算法举例：</a:t>
            </a:r>
            <a:endParaRPr lang="zh-CN" altLang="en-US" sz="28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 dirty="0" smtClean="0"/>
              <a:t>       (</a:t>
            </a:r>
            <a:r>
              <a:rPr lang="en-US" altLang="zh-CN" sz="2000" b="1" dirty="0" smtClean="0"/>
              <a:t>1) </a:t>
            </a:r>
            <a:r>
              <a:rPr lang="zh-CN" altLang="en-US" sz="2000" b="1" dirty="0" smtClean="0"/>
              <a:t>一元二次方程的求解</a:t>
            </a:r>
            <a:r>
              <a:rPr lang="en-US" altLang="zh-CN" sz="2000" b="1" dirty="0" smtClean="0"/>
              <a:t> </a:t>
            </a:r>
            <a:endParaRPr lang="en-US" altLang="zh-CN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(2) </a:t>
            </a:r>
            <a:r>
              <a:rPr lang="zh-CN" altLang="en-US" sz="2000" b="1" dirty="0" smtClean="0"/>
              <a:t>求最大公因子（辗转相除法）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(3) </a:t>
            </a:r>
            <a:r>
              <a:rPr lang="zh-CN" altLang="en-US" sz="2000" b="1" dirty="0" smtClean="0"/>
              <a:t>韩信点兵问题</a:t>
            </a:r>
            <a:endParaRPr lang="zh-CN" altLang="en-US" sz="20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  (4) </a:t>
            </a:r>
            <a:r>
              <a:rPr lang="zh-CN" altLang="en-US" sz="2000" b="1" dirty="0" smtClean="0"/>
              <a:t>幻方问题（纵横图）</a:t>
            </a:r>
            <a:endParaRPr lang="en-US" altLang="zh-CN" sz="1800" b="1" dirty="0" smtClean="0"/>
          </a:p>
        </p:txBody>
      </p:sp>
      <p:sp>
        <p:nvSpPr>
          <p:cNvPr id="19460" name="左大括号 19459"/>
          <p:cNvSpPr/>
          <p:nvPr/>
        </p:nvSpPr>
        <p:spPr bwMode="auto">
          <a:xfrm>
            <a:off x="1973908" y="1632317"/>
            <a:ext cx="71437" cy="649287"/>
          </a:xfrm>
          <a:prstGeom prst="leftBrace">
            <a:avLst>
              <a:gd name="adj1" fmla="val 7557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9461" name="左大括号 19460"/>
          <p:cNvSpPr/>
          <p:nvPr/>
        </p:nvSpPr>
        <p:spPr bwMode="auto">
          <a:xfrm>
            <a:off x="2195736" y="2564904"/>
            <a:ext cx="73025" cy="720725"/>
          </a:xfrm>
          <a:prstGeom prst="leftBrace">
            <a:avLst>
              <a:gd name="adj1" fmla="val 82064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0486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BD472EE-A3B9-405D-87EE-E40955CCC517}" type="slidenum">
              <a:rPr lang="zh-CN" altLang="en-US" sz="1200" dirty="0" smtClean="0"/>
            </a:fld>
            <a:endParaRPr lang="zh-CN" altLang="en-US" sz="1200" dirty="0"/>
          </a:p>
        </p:txBody>
      </p:sp>
      <p:grpSp>
        <p:nvGrpSpPr>
          <p:cNvPr id="8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9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11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0" name="图片 9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4068961" y="270892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u="sng" dirty="0" smtClean="0">
                <a:solidFill>
                  <a:srgbClr val="FF0000"/>
                </a:solidFill>
                <a:latin typeface="Arial" panose="020B0604020202020204" pitchFamily="34" charset="0"/>
              </a:rPr>
              <a:t>机器语言、汇编语言、高级语言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4678451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 smtClean="0"/>
              <a:t>例</a:t>
            </a:r>
            <a:r>
              <a:rPr lang="en-US" altLang="zh-CN" sz="2800" b="1" dirty="0" smtClean="0"/>
              <a:t>(1)</a:t>
            </a:r>
            <a:r>
              <a:rPr lang="zh-CN" altLang="en-US" sz="2800" b="1" dirty="0" smtClean="0"/>
              <a:t>：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一元二次方程的求解</a:t>
            </a:r>
            <a:r>
              <a:rPr lang="en-US" altLang="zh-CN" sz="2800" b="1" dirty="0" smtClean="0"/>
              <a:t> </a:t>
            </a:r>
            <a:endParaRPr lang="en-US" altLang="zh-CN" sz="2800" b="1" dirty="0" smtClean="0"/>
          </a:p>
          <a:p>
            <a:pPr marL="857250" lvl="2" indent="-457200"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sz="2200" b="1" dirty="0" smtClean="0"/>
              <a:t>已知一元二次方程：</a:t>
            </a:r>
            <a:r>
              <a:rPr lang="en-US" altLang="zh-CN" sz="2200" b="1" dirty="0" smtClean="0"/>
              <a:t>a</a:t>
            </a:r>
            <a:r>
              <a:rPr lang="en-US" altLang="zh-CN" sz="2200" b="1" i="1" dirty="0" smtClean="0"/>
              <a:t>x</a:t>
            </a:r>
            <a:r>
              <a:rPr lang="en-US" altLang="zh-CN" sz="2200" b="1" baseline="30000" dirty="0" smtClean="0"/>
              <a:t>2</a:t>
            </a:r>
            <a:r>
              <a:rPr lang="en-US" altLang="zh-CN" sz="2200" b="1" dirty="0" smtClean="0"/>
              <a:t>+b</a:t>
            </a:r>
            <a:r>
              <a:rPr lang="en-US" altLang="zh-CN" sz="2200" b="1" i="1" dirty="0" smtClean="0"/>
              <a:t>x</a:t>
            </a:r>
            <a:r>
              <a:rPr lang="en-US" altLang="zh-CN" sz="2200" b="1" dirty="0" smtClean="0"/>
              <a:t>+c=0  </a:t>
            </a:r>
            <a:r>
              <a:rPr lang="zh-CN" altLang="en-US" sz="2200" b="1" dirty="0" smtClean="0">
                <a:sym typeface="宋体" panose="02010600030101010101" pitchFamily="2" charset="-122"/>
              </a:rPr>
              <a:t>求解</a:t>
            </a:r>
            <a:r>
              <a:rPr lang="en-US" altLang="zh-CN" sz="2200" b="1" i="1" dirty="0" smtClean="0"/>
              <a:t>x</a:t>
            </a:r>
            <a:r>
              <a:rPr lang="en-US" altLang="zh-CN" sz="2200" b="1" dirty="0" smtClean="0"/>
              <a:t>=?</a:t>
            </a:r>
            <a:endParaRPr lang="en-US" altLang="zh-CN" sz="2200" b="1" dirty="0" smtClean="0"/>
          </a:p>
          <a:p>
            <a:pPr marL="821055" lvl="3" indent="-342900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 smtClean="0"/>
              <a:t>中学数学课程知识</a:t>
            </a:r>
            <a:r>
              <a:rPr lang="en-US" altLang="zh-CN" sz="2200" b="1" dirty="0" smtClean="0"/>
              <a:t>: </a:t>
            </a:r>
            <a:endParaRPr lang="zh-CN" altLang="en-US" sz="2200" b="1" dirty="0" smtClean="0"/>
          </a:p>
          <a:p>
            <a:pPr marL="478155" lvl="3" indent="0">
              <a:buFont typeface="Wingdings" panose="05000000000000000000" pitchFamily="2" charset="2"/>
              <a:buNone/>
            </a:pPr>
            <a:endParaRPr lang="zh-CN" altLang="en-US" sz="2200" b="1" dirty="0" smtClean="0"/>
          </a:p>
          <a:p>
            <a:pPr marL="478155" lvl="3" indent="0">
              <a:buClr>
                <a:srgbClr val="FF0000"/>
              </a:buClr>
              <a:buNone/>
            </a:pPr>
            <a:r>
              <a:rPr lang="zh-CN" altLang="en-US" sz="2200" b="1" dirty="0" smtClean="0"/>
              <a:t>如果是一个没有类似的标准求解的问题，如何求解？</a:t>
            </a:r>
            <a:endParaRPr lang="zh-CN" altLang="en-US" sz="2200" b="1" dirty="0" smtClean="0"/>
          </a:p>
          <a:p>
            <a:pPr marL="478155" lvl="3" indent="0">
              <a:buFont typeface="Wingdings" panose="05000000000000000000" pitchFamily="2" charset="2"/>
              <a:buNone/>
            </a:pPr>
            <a:endParaRPr lang="en-US" altLang="zh-CN" sz="2200" b="1" dirty="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6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3995936" y="2060848"/>
                <a:ext cx="2296077" cy="6851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2060848"/>
                <a:ext cx="2296077" cy="685124"/>
              </a:xfrm>
              <a:prstGeom prst="rect">
                <a:avLst/>
              </a:prstGeom>
              <a:blipFill rotWithShape="1">
                <a:blip r:embed="rId2"/>
                <a:stretch>
                  <a:fillRect l="-22" t="-40" r="19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9809" y="2750586"/>
            <a:ext cx="377680" cy="419801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0482"/>
          <p:cNvSpPr>
            <a:spLocks noGrp="1" noChangeArrowheads="1"/>
          </p:cNvSpPr>
          <p:nvPr>
            <p:ph idx="1"/>
          </p:nvPr>
        </p:nvSpPr>
        <p:spPr>
          <a:xfrm>
            <a:off x="611188" y="1052513"/>
            <a:ext cx="7993062" cy="4897437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/>
              <a:t>例</a:t>
            </a:r>
            <a:r>
              <a:rPr lang="en-US" altLang="zh-CN" sz="2800" b="1" dirty="0" smtClean="0"/>
              <a:t>(2)</a:t>
            </a:r>
            <a:r>
              <a:rPr lang="zh-CN" altLang="en-US" sz="2800" b="1" dirty="0" smtClean="0"/>
              <a:t>：求最大公因子</a:t>
            </a:r>
            <a:r>
              <a:rPr lang="en-US" altLang="zh-CN" sz="2800" b="1" dirty="0" smtClean="0"/>
              <a:t>(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辗转相除法</a:t>
            </a:r>
            <a:r>
              <a:rPr lang="en-US" altLang="zh-CN" sz="2800" b="1" dirty="0"/>
              <a:t>)</a:t>
            </a:r>
            <a:endParaRPr lang="zh-CN" altLang="en-US" sz="2800" b="1" dirty="0" smtClean="0"/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求任意两个整数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, </a:t>
            </a:r>
            <a:r>
              <a:rPr lang="en-US" altLang="zh-CN" sz="2000" b="1" i="1" dirty="0" smtClean="0"/>
              <a:t>N</a:t>
            </a:r>
            <a:r>
              <a:rPr lang="zh-CN" altLang="en-US" sz="2000" b="1" dirty="0" smtClean="0"/>
              <a:t>最大公因子</a:t>
            </a:r>
            <a:r>
              <a:rPr lang="en-US" altLang="zh-CN" sz="2000" b="1" dirty="0" smtClean="0"/>
              <a:t>(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,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)</a:t>
            </a:r>
            <a:r>
              <a:rPr lang="zh-CN" altLang="en-US" sz="2000" b="1" dirty="0" smtClean="0"/>
              <a:t>的方法：</a:t>
            </a:r>
            <a:endParaRPr lang="zh-CN" altLang="en-US" sz="2000" b="1" dirty="0" smtClean="0"/>
          </a:p>
          <a:p>
            <a:pPr>
              <a:lnSpc>
                <a:spcPct val="110000"/>
              </a:lnSpc>
              <a:buNone/>
            </a:pPr>
            <a:r>
              <a:rPr lang="zh-CN" altLang="en-US" sz="2000" b="1" dirty="0" smtClean="0"/>
              <a:t>      若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=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*</a:t>
            </a:r>
            <a:r>
              <a:rPr lang="en-US" altLang="zh-CN" sz="2000" b="1" i="1" dirty="0" smtClean="0"/>
              <a:t>Q</a:t>
            </a:r>
            <a:r>
              <a:rPr lang="en-US" altLang="zh-CN" sz="2000" b="1" dirty="0" smtClean="0"/>
              <a:t>+</a:t>
            </a:r>
            <a:r>
              <a:rPr lang="en-US" altLang="zh-CN" sz="2000" b="1" i="1" dirty="0" smtClean="0"/>
              <a:t>R</a:t>
            </a:r>
            <a:r>
              <a:rPr lang="zh-CN" altLang="en-US" sz="2000" b="1" i="1" dirty="0" smtClean="0"/>
              <a:t>，</a:t>
            </a:r>
            <a:r>
              <a:rPr lang="zh-CN" altLang="en-US" sz="2000" b="1" dirty="0" smtClean="0"/>
              <a:t>其中</a:t>
            </a:r>
            <a:r>
              <a:rPr lang="en-US" altLang="zh-CN" sz="2000" b="1" dirty="0"/>
              <a:t>: </a:t>
            </a:r>
            <a:r>
              <a:rPr lang="en-US" altLang="zh-CN" sz="2000" b="1" i="1" dirty="0"/>
              <a:t>R</a:t>
            </a:r>
            <a:r>
              <a:rPr lang="zh-CN" altLang="en-US" sz="2000" b="1" dirty="0"/>
              <a:t>为</a:t>
            </a:r>
            <a:r>
              <a:rPr lang="zh-CN" altLang="en-US" sz="2000" b="1" dirty="0">
                <a:solidFill>
                  <a:srgbClr val="FF0000"/>
                </a:solidFill>
              </a:rPr>
              <a:t>余数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　满足 </a:t>
            </a:r>
            <a:r>
              <a:rPr lang="en-US" altLang="zh-CN" sz="2000" b="1" i="1" dirty="0"/>
              <a:t>0</a:t>
            </a:r>
            <a:r>
              <a:rPr lang="en-US" altLang="zh-CN" sz="2000" b="1" dirty="0"/>
              <a:t>≤</a:t>
            </a:r>
            <a:r>
              <a:rPr lang="en-US" altLang="zh-CN" sz="2000" b="1" i="1" dirty="0"/>
              <a:t>R</a:t>
            </a:r>
            <a:r>
              <a:rPr lang="en-US" altLang="zh-CN" sz="2000" b="1" dirty="0"/>
              <a:t>≤</a:t>
            </a:r>
            <a:r>
              <a:rPr lang="en-US" altLang="zh-CN" sz="2000" b="1" i="1" dirty="0"/>
              <a:t>N</a:t>
            </a:r>
            <a:r>
              <a:rPr lang="en-US" altLang="zh-CN" sz="2000" b="1" dirty="0"/>
              <a:t>-1</a:t>
            </a:r>
            <a:r>
              <a:rPr lang="zh-CN" altLang="en-US" sz="2000" b="1" dirty="0"/>
              <a:t>，</a:t>
            </a:r>
            <a:r>
              <a:rPr lang="en-US" altLang="zh-CN" sz="2000" b="1" i="1" dirty="0"/>
              <a:t>Q</a:t>
            </a:r>
            <a:r>
              <a:rPr lang="zh-CN" altLang="en-US" sz="2000" b="1" dirty="0"/>
              <a:t>为整数</a:t>
            </a:r>
            <a:r>
              <a:rPr lang="en-US" altLang="zh-CN" sz="2000" b="1" dirty="0"/>
              <a:t>        </a:t>
            </a:r>
            <a:endParaRPr lang="en-US" altLang="zh-CN" sz="2000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</a:t>
            </a:r>
            <a:r>
              <a:rPr lang="zh-CN" altLang="en-US" sz="2000" b="1" dirty="0" smtClean="0"/>
              <a:t> 则</a:t>
            </a:r>
            <a:r>
              <a:rPr lang="en-US" altLang="zh-CN" sz="2000" b="1" dirty="0" smtClean="0"/>
              <a:t>(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,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)=(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, </a:t>
            </a:r>
            <a:r>
              <a:rPr lang="en-US" altLang="zh-CN" sz="2000" b="1" i="1" dirty="0" smtClean="0"/>
              <a:t>R</a:t>
            </a:r>
            <a:r>
              <a:rPr lang="en-US" altLang="zh-CN" sz="2000" b="1" dirty="0" smtClean="0"/>
              <a:t>)   </a:t>
            </a:r>
            <a:endParaRPr lang="en-US" altLang="zh-CN" sz="2000" b="1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  且当</a:t>
            </a:r>
            <a:r>
              <a:rPr lang="en-US" altLang="zh-CN" sz="2000" b="1" i="1" dirty="0" smtClean="0"/>
              <a:t>R</a:t>
            </a:r>
            <a:r>
              <a:rPr lang="en-US" altLang="zh-CN" sz="2000" b="1" dirty="0" smtClean="0"/>
              <a:t>=0</a:t>
            </a:r>
            <a:r>
              <a:rPr lang="zh-CN" altLang="en-US" sz="2000" b="1" dirty="0" smtClean="0"/>
              <a:t>时，  </a:t>
            </a:r>
            <a:r>
              <a:rPr lang="en-US" altLang="zh-CN" sz="2000" b="1" dirty="0" smtClean="0"/>
              <a:t>(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,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)=</a:t>
            </a:r>
            <a:r>
              <a:rPr lang="en-US" altLang="zh-CN" sz="2000" b="1" i="1" dirty="0" smtClean="0"/>
              <a:t>N</a:t>
            </a:r>
            <a:endParaRPr lang="en-US" altLang="zh-CN" sz="2000" b="1" i="1" dirty="0" smtClean="0"/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按照</a:t>
            </a:r>
            <a:r>
              <a:rPr lang="zh-CN" altLang="en-US" sz="2000" b="1" dirty="0"/>
              <a:t>此</a:t>
            </a:r>
            <a:r>
              <a:rPr lang="zh-CN" altLang="en-US" sz="2000" b="1" dirty="0" smtClean="0"/>
              <a:t>方法，可以快速而方便地求出任意两个整数的最大公因子  </a:t>
            </a:r>
            <a:endParaRPr lang="en-US" altLang="zh-CN" sz="2000" b="1" dirty="0" smtClean="0"/>
          </a:p>
          <a:p>
            <a:pPr marL="0" indent="0" eaLnBrk="1" hangingPunct="1">
              <a:lnSpc>
                <a:spcPct val="110000"/>
              </a:lnSpc>
              <a:buClr>
                <a:srgbClr val="FF0000"/>
              </a:buClr>
              <a:buNone/>
            </a:pPr>
            <a:r>
              <a:rPr lang="zh-CN" altLang="en-US" sz="2000" b="1" dirty="0" smtClean="0"/>
              <a:t> </a:t>
            </a:r>
            <a:endParaRPr lang="zh-CN" altLang="en-US" sz="2000" b="1" dirty="0" smtClean="0"/>
          </a:p>
          <a:p>
            <a:pPr eaLnBrk="1" hangingPunct="1">
              <a:lnSpc>
                <a:spcPct val="11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 smtClean="0"/>
              <a:t>例如</a:t>
            </a:r>
            <a:r>
              <a:rPr lang="en-US" altLang="zh-CN" sz="2000" b="1" dirty="0" smtClean="0"/>
              <a:t>: </a:t>
            </a:r>
            <a:r>
              <a:rPr lang="zh-CN" altLang="en-US" sz="2000" b="1" dirty="0" smtClean="0"/>
              <a:t>求解</a:t>
            </a:r>
            <a:r>
              <a:rPr lang="en-US" altLang="zh-CN" sz="2000" b="1" dirty="0" smtClean="0"/>
              <a:t>(</a:t>
            </a:r>
            <a:r>
              <a:rPr lang="en-US" altLang="zh-CN" sz="2200" b="1" dirty="0" smtClean="0"/>
              <a:t>1500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550)</a:t>
            </a:r>
            <a:r>
              <a:rPr lang="zh-CN" altLang="en-US" sz="2000" b="1" dirty="0" smtClean="0"/>
              <a:t>的最大公因子　</a:t>
            </a:r>
            <a:endParaRPr lang="zh-CN" altLang="en-US" sz="2000" b="1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</a:t>
            </a:r>
            <a:r>
              <a:rPr lang="zh-CN" altLang="en-US" sz="2200" b="1" dirty="0" smtClean="0"/>
              <a:t>（</a:t>
            </a:r>
            <a:r>
              <a:rPr lang="en-US" altLang="zh-CN" sz="2200" b="1" dirty="0" smtClean="0"/>
              <a:t>1500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550</a:t>
            </a:r>
            <a:r>
              <a:rPr lang="zh-CN" altLang="en-US" sz="2200" b="1" dirty="0" smtClean="0"/>
              <a:t>）</a:t>
            </a:r>
            <a:r>
              <a:rPr lang="en-US" altLang="zh-CN" sz="2200" b="1" dirty="0" smtClean="0"/>
              <a:t>=</a:t>
            </a:r>
            <a:r>
              <a:rPr lang="zh-CN" altLang="en-US" sz="2200" b="1" dirty="0" smtClean="0"/>
              <a:t>（</a:t>
            </a:r>
            <a:r>
              <a:rPr lang="en-US" altLang="zh-CN" sz="2200" b="1" dirty="0" smtClean="0"/>
              <a:t>550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400</a:t>
            </a:r>
            <a:r>
              <a:rPr lang="zh-CN" altLang="en-US" sz="2200" b="1" dirty="0" smtClean="0"/>
              <a:t>）</a:t>
            </a:r>
            <a:endParaRPr lang="zh-CN" altLang="en-US" sz="2200" b="1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 smtClean="0"/>
              <a:t>=</a:t>
            </a:r>
            <a:r>
              <a:rPr lang="zh-CN" altLang="en-US" sz="2200" b="1" dirty="0" smtClean="0"/>
              <a:t>（</a:t>
            </a:r>
            <a:r>
              <a:rPr lang="en-US" altLang="zh-CN" sz="2200" b="1" dirty="0" smtClean="0"/>
              <a:t>400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150</a:t>
            </a:r>
            <a:r>
              <a:rPr lang="zh-CN" altLang="en-US" sz="2200" b="1" dirty="0" smtClean="0"/>
              <a:t>）</a:t>
            </a:r>
            <a:r>
              <a:rPr lang="en-US" altLang="zh-CN" sz="2200" b="1" dirty="0" smtClean="0"/>
              <a:t>=</a:t>
            </a:r>
            <a:r>
              <a:rPr lang="zh-CN" altLang="en-US" sz="2200" b="1" dirty="0" smtClean="0"/>
              <a:t>（</a:t>
            </a:r>
            <a:r>
              <a:rPr lang="en-US" altLang="zh-CN" sz="2200" b="1" dirty="0" smtClean="0"/>
              <a:t>150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100</a:t>
            </a:r>
            <a:r>
              <a:rPr lang="zh-CN" altLang="en-US" sz="2200" b="1" dirty="0" smtClean="0"/>
              <a:t>）</a:t>
            </a:r>
            <a:endParaRPr lang="zh-CN" altLang="en-US" sz="2200" b="1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 smtClean="0"/>
              <a:t>=</a:t>
            </a:r>
            <a:r>
              <a:rPr lang="zh-CN" altLang="en-US" sz="2200" b="1" dirty="0" smtClean="0"/>
              <a:t>（</a:t>
            </a:r>
            <a:r>
              <a:rPr lang="en-US" altLang="zh-CN" sz="2200" b="1" dirty="0" smtClean="0"/>
              <a:t>100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50</a:t>
            </a:r>
            <a:r>
              <a:rPr lang="zh-CN" altLang="en-US" sz="2200" b="1" dirty="0" smtClean="0"/>
              <a:t>）</a:t>
            </a:r>
            <a:r>
              <a:rPr lang="en-US" altLang="zh-CN" sz="2200" b="1" dirty="0" smtClean="0"/>
              <a:t>=</a:t>
            </a:r>
            <a:r>
              <a:rPr lang="zh-CN" altLang="en-US" sz="2200" b="1" dirty="0" smtClean="0"/>
              <a:t>（</a:t>
            </a:r>
            <a:r>
              <a:rPr lang="en-US" altLang="zh-CN" sz="2200" b="1" dirty="0" smtClean="0"/>
              <a:t>50</a:t>
            </a:r>
            <a:r>
              <a:rPr lang="zh-CN" altLang="en-US" sz="2200" b="1" dirty="0" smtClean="0"/>
              <a:t>，</a:t>
            </a:r>
            <a:r>
              <a:rPr lang="en-US" altLang="zh-CN" sz="2200" b="1" dirty="0" smtClean="0"/>
              <a:t>0</a:t>
            </a:r>
            <a:r>
              <a:rPr lang="zh-CN" altLang="en-US" sz="2200" b="1" dirty="0" smtClean="0"/>
              <a:t>）</a:t>
            </a:r>
            <a:r>
              <a:rPr lang="en-US" altLang="zh-CN" sz="2200" b="1" dirty="0" smtClean="0"/>
              <a:t>= 50</a:t>
            </a:r>
            <a:r>
              <a:rPr lang="en-US" altLang="zh-CN" sz="2200" dirty="0" smtClean="0"/>
              <a:t> </a:t>
            </a:r>
            <a:r>
              <a:rPr lang="zh-CN" altLang="en-US" sz="2000" b="1" dirty="0" smtClean="0"/>
              <a:t>　</a:t>
            </a:r>
            <a:endParaRPr lang="zh-CN" altLang="en-US" sz="2000" b="1" dirty="0" smtClean="0"/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最终求得</a:t>
            </a:r>
            <a:r>
              <a:rPr lang="en-US" altLang="zh-CN" sz="2200" b="1" dirty="0" smtClean="0">
                <a:solidFill>
                  <a:srgbClr val="0000FF"/>
                </a:solidFill>
              </a:rPr>
              <a:t>1500</a:t>
            </a:r>
            <a:r>
              <a:rPr lang="zh-CN" altLang="en-US" sz="2200" b="1" dirty="0" smtClean="0">
                <a:solidFill>
                  <a:srgbClr val="0000FF"/>
                </a:solidFill>
              </a:rPr>
              <a:t>和</a:t>
            </a:r>
            <a:r>
              <a:rPr lang="en-US" altLang="zh-CN" sz="2200" b="1" dirty="0" smtClean="0">
                <a:solidFill>
                  <a:srgbClr val="0000FF"/>
                </a:solidFill>
              </a:rPr>
              <a:t>550</a:t>
            </a:r>
            <a:r>
              <a:rPr lang="zh-CN" altLang="en-US" sz="2000" b="1" dirty="0" smtClean="0">
                <a:solidFill>
                  <a:srgbClr val="0000FF"/>
                </a:solidFill>
              </a:rPr>
              <a:t>的最大公因子为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50</a:t>
            </a:r>
            <a:r>
              <a:rPr lang="zh-CN" altLang="en-US" sz="2000" b="1" dirty="0" smtClean="0"/>
              <a:t>。</a:t>
            </a:r>
            <a:endParaRPr lang="zh-CN" altLang="en-US" sz="2000" b="1" dirty="0" smtClean="0"/>
          </a:p>
        </p:txBody>
      </p:sp>
      <p:sp>
        <p:nvSpPr>
          <p:cNvPr id="20484" name="任意多边形 20483"/>
          <p:cNvSpPr>
            <a:spLocks noChangeArrowheads="1"/>
          </p:cNvSpPr>
          <p:nvPr/>
        </p:nvSpPr>
        <p:spPr bwMode="auto">
          <a:xfrm>
            <a:off x="2181551" y="4149080"/>
            <a:ext cx="1152525" cy="115316"/>
          </a:xfrm>
          <a:custGeom>
            <a:avLst/>
            <a:gdLst>
              <a:gd name="T0" fmla="*/ 0 w 952"/>
              <a:gd name="T1" fmla="*/ 214086 h 119"/>
              <a:gd name="T2" fmla="*/ 371665 w 952"/>
              <a:gd name="T3" fmla="*/ 0 h 119"/>
              <a:gd name="T4" fmla="*/ 730013 w 952"/>
              <a:gd name="T5" fmla="*/ 0 h 119"/>
              <a:gd name="T6" fmla="*/ 1001196 w 952"/>
              <a:gd name="T7" fmla="*/ 101600 h 119"/>
              <a:gd name="T8" fmla="*/ 1152525 w 952"/>
              <a:gd name="T9" fmla="*/ 215900 h 1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52" h="119">
                <a:moveTo>
                  <a:pt x="0" y="118"/>
                </a:moveTo>
                <a:lnTo>
                  <a:pt x="307" y="0"/>
                </a:lnTo>
                <a:lnTo>
                  <a:pt x="603" y="0"/>
                </a:lnTo>
                <a:lnTo>
                  <a:pt x="827" y="56"/>
                </a:lnTo>
                <a:lnTo>
                  <a:pt x="952" y="119"/>
                </a:lnTo>
              </a:path>
            </a:pathLst>
          </a:custGeom>
          <a:noFill/>
          <a:ln w="38100" cmpd="dbl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文本框 20484"/>
          <p:cNvSpPr txBox="1">
            <a:spLocks noChangeArrowheads="1"/>
          </p:cNvSpPr>
          <p:nvPr/>
        </p:nvSpPr>
        <p:spPr bwMode="auto">
          <a:xfrm>
            <a:off x="5076056" y="4104481"/>
            <a:ext cx="2808287" cy="3762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 dirty="0">
                <a:ea typeface="楷体_GB2312" pitchFamily="1" charset="-122"/>
              </a:rPr>
              <a:t>1500 % 550  </a:t>
            </a:r>
            <a:r>
              <a:rPr lang="en-US" altLang="zh-CN" sz="1800" b="1" dirty="0" smtClean="0">
                <a:ea typeface="楷体_GB2312" pitchFamily="1" charset="-122"/>
                <a:sym typeface="Wingdings" panose="05000000000000000000" pitchFamily="2" charset="2"/>
              </a:rPr>
              <a:t> </a:t>
            </a:r>
            <a:r>
              <a:rPr lang="en-US" altLang="zh-CN" sz="1800" b="1" dirty="0" smtClean="0">
                <a:solidFill>
                  <a:srgbClr val="FF0000"/>
                </a:solidFill>
                <a:ea typeface="楷体_GB2312" pitchFamily="1" charset="-122"/>
              </a:rPr>
              <a:t>400</a:t>
            </a:r>
            <a:endParaRPr lang="en-US" altLang="zh-CN" sz="18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20486" name="直接连接符 20485"/>
          <p:cNvSpPr>
            <a:spLocks noChangeShapeType="1"/>
          </p:cNvSpPr>
          <p:nvPr/>
        </p:nvSpPr>
        <p:spPr bwMode="auto">
          <a:xfrm flipH="1">
            <a:off x="4211959" y="4264395"/>
            <a:ext cx="864095" cy="1"/>
          </a:xfrm>
          <a:prstGeom prst="line">
            <a:avLst/>
          </a:prstGeom>
          <a:noFill/>
          <a:ln w="38100" cmpd="dbl">
            <a:solidFill>
              <a:schemeClr val="accent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5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6514DDB-09AF-458C-9CF2-1E599CF6408C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9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10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12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11" name="图片 10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0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  <p:bldP spid="2048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内容占位符 21506"/>
          <p:cNvSpPr>
            <a:spLocks noGrp="1" noChangeArrowheads="1"/>
          </p:cNvSpPr>
          <p:nvPr>
            <p:ph idx="1"/>
          </p:nvPr>
        </p:nvSpPr>
        <p:spPr>
          <a:xfrm>
            <a:off x="525319" y="1412777"/>
            <a:ext cx="7993062" cy="5241844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Hcf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, 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)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{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    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r = 0;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　　</a:t>
            </a:r>
            <a:r>
              <a:rPr lang="en-US" altLang="zh-CN" sz="2000" b="1" dirty="0" smtClean="0"/>
              <a:t>while (</a:t>
            </a:r>
            <a:r>
              <a:rPr lang="en-US" altLang="zh-CN" sz="2000" b="1" i="1" dirty="0" smtClean="0"/>
              <a:t>n </a:t>
            </a:r>
            <a:r>
              <a:rPr lang="en-US" altLang="zh-CN" sz="2000" b="1" dirty="0" smtClean="0"/>
              <a:t>!= 0) 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     </a:t>
            </a:r>
            <a:r>
              <a:rPr lang="en-US" altLang="zh-CN" sz="2000" b="1" dirty="0" smtClean="0"/>
              <a:t>{</a:t>
            </a:r>
            <a:r>
              <a:rPr lang="zh-CN" altLang="en-US" sz="2000" b="1" dirty="0" smtClean="0"/>
              <a:t>　 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             r = 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 %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　      　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 =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; 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            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 = </a:t>
            </a:r>
            <a:r>
              <a:rPr lang="en-US" altLang="zh-CN" sz="2000" b="1" i="1" dirty="0" smtClean="0"/>
              <a:t>r</a:t>
            </a:r>
            <a:r>
              <a:rPr lang="en-US" altLang="zh-CN" sz="2000" b="1" dirty="0" smtClean="0"/>
              <a:t>; 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　   </a:t>
            </a:r>
            <a:r>
              <a:rPr lang="en-US" altLang="zh-CN" sz="2000" b="1" dirty="0" smtClean="0"/>
              <a:t>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　  </a:t>
            </a:r>
            <a:r>
              <a:rPr lang="en-US" altLang="zh-CN" sz="2000" b="1" dirty="0" smtClean="0"/>
              <a:t>return 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}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其对应的</a:t>
            </a:r>
            <a:r>
              <a:rPr lang="zh-CN" altLang="en-US" sz="2000" b="1" dirty="0" smtClean="0">
                <a:solidFill>
                  <a:schemeClr val="accent2"/>
                </a:solidFill>
              </a:rPr>
              <a:t>递归函数</a:t>
            </a:r>
            <a:r>
              <a:rPr lang="zh-CN" altLang="en-US" sz="2000" b="1" dirty="0" smtClean="0"/>
              <a:t>：</a:t>
            </a: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en-US" altLang="zh-CN" sz="2000" b="1" dirty="0" err="1" smtClean="0"/>
              <a:t>Hcf</a:t>
            </a:r>
            <a:r>
              <a:rPr lang="en-US" altLang="zh-CN" sz="2000" b="1" dirty="0" smtClean="0"/>
              <a:t>(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, 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)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{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  </a:t>
            </a:r>
            <a:r>
              <a:rPr lang="en-US" altLang="zh-CN" sz="2000" b="1" dirty="0" smtClean="0"/>
              <a:t>if (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==0) 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        return 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</a:t>
            </a:r>
            <a:r>
              <a:rPr lang="zh-CN" altLang="en-US" sz="2000" b="1" dirty="0" smtClean="0"/>
              <a:t>　</a:t>
            </a:r>
            <a:r>
              <a:rPr lang="en-US" altLang="zh-CN" sz="2000" b="1" dirty="0" smtClean="0"/>
              <a:t>else 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</a:t>
            </a:r>
            <a:r>
              <a:rPr lang="en-US" altLang="zh-CN" sz="2000" b="1" dirty="0" smtClean="0"/>
              <a:t>            return </a:t>
            </a:r>
            <a:r>
              <a:rPr lang="en-US" altLang="zh-CN" sz="2000" b="1" dirty="0" err="1" smtClean="0"/>
              <a:t>Hcf</a:t>
            </a:r>
            <a:r>
              <a:rPr lang="en-US" altLang="zh-CN" sz="2000" b="1" dirty="0" smtClean="0"/>
              <a:t>(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, </a:t>
            </a:r>
            <a:r>
              <a:rPr lang="en-US" altLang="zh-CN" sz="2000" b="1" i="1" dirty="0" smtClean="0"/>
              <a:t>m</a:t>
            </a:r>
            <a:r>
              <a:rPr lang="en-US" altLang="zh-CN" sz="2000" b="1" dirty="0" smtClean="0"/>
              <a:t> % </a:t>
            </a:r>
            <a:r>
              <a:rPr lang="en-US" altLang="zh-CN" sz="2000" b="1" i="1" dirty="0" smtClean="0"/>
              <a:t>n</a:t>
            </a:r>
            <a:r>
              <a:rPr lang="en-US" altLang="zh-CN" sz="2000" b="1" dirty="0" smtClean="0"/>
              <a:t>);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}</a:t>
            </a:r>
            <a:endParaRPr lang="zh-CN" altLang="en-US" sz="2000" dirty="0" smtClean="0"/>
          </a:p>
        </p:txBody>
      </p:sp>
      <p:sp>
        <p:nvSpPr>
          <p:cNvPr id="23556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2C33589-3BB5-4ADC-BF30-B0A806EBC1F5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7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8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10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9" name="图片 8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sp>
        <p:nvSpPr>
          <p:cNvPr id="3" name="矩形 2"/>
          <p:cNvSpPr/>
          <p:nvPr/>
        </p:nvSpPr>
        <p:spPr>
          <a:xfrm>
            <a:off x="323528" y="1068669"/>
            <a:ext cx="8568952" cy="41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600" b="1" dirty="0"/>
              <a:t>求任意两个整数</a:t>
            </a:r>
            <a:r>
              <a:rPr lang="en-US" altLang="zh-CN" sz="2600" b="1" i="1" dirty="0"/>
              <a:t>M</a:t>
            </a:r>
            <a:r>
              <a:rPr lang="zh-CN" altLang="en-US" sz="2600" b="1" dirty="0"/>
              <a:t>和</a:t>
            </a:r>
            <a:r>
              <a:rPr lang="en-US" altLang="zh-CN" sz="2600" b="1" i="1" dirty="0"/>
              <a:t>N</a:t>
            </a:r>
            <a:r>
              <a:rPr lang="zh-CN" altLang="en-US" sz="2600" b="1" dirty="0"/>
              <a:t>最大公因子的</a:t>
            </a:r>
            <a:r>
              <a:rPr lang="zh-CN" altLang="en-US" sz="2600" b="1" dirty="0" smtClean="0"/>
              <a:t>算法Ｃ</a:t>
            </a:r>
            <a:r>
              <a:rPr lang="en-US" altLang="zh-CN" sz="2600" b="1" dirty="0"/>
              <a:t>++</a:t>
            </a:r>
            <a:r>
              <a:rPr lang="zh-CN" altLang="en-US" sz="2600" b="1" dirty="0"/>
              <a:t>语言</a:t>
            </a:r>
            <a:r>
              <a:rPr lang="zh-CN" altLang="en-US" sz="2600" b="1" dirty="0" smtClean="0"/>
              <a:t>函数</a:t>
            </a:r>
            <a:endParaRPr lang="zh-CN" altLang="en-US" sz="2600" b="1" dirty="0"/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15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15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2530"/>
          <p:cNvSpPr>
            <a:spLocks noGrp="1" noChangeArrowheads="1"/>
          </p:cNvSpPr>
          <p:nvPr>
            <p:ph idx="1"/>
          </p:nvPr>
        </p:nvSpPr>
        <p:spPr>
          <a:xfrm>
            <a:off x="395536" y="980728"/>
            <a:ext cx="8208714" cy="511209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 smtClean="0"/>
              <a:t>例</a:t>
            </a:r>
            <a:r>
              <a:rPr lang="en-US" altLang="zh-CN" sz="2800" b="1" dirty="0" smtClean="0"/>
              <a:t>(3): </a:t>
            </a:r>
            <a:r>
              <a:rPr lang="zh-CN" altLang="en-US" sz="2800" b="1" dirty="0" smtClean="0">
                <a:solidFill>
                  <a:srgbClr val="0000FF"/>
                </a:solidFill>
              </a:rPr>
              <a:t>“韩信点兵”</a:t>
            </a:r>
            <a:r>
              <a:rPr lang="zh-CN" altLang="en-US" sz="2800" b="1" dirty="0" smtClean="0"/>
              <a:t>问题的求解方法</a:t>
            </a:r>
            <a:endParaRPr lang="zh-CN" altLang="en-US" sz="28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0000FF"/>
                </a:solidFill>
              </a:rPr>
              <a:t>问题描述：</a:t>
            </a:r>
            <a:r>
              <a:rPr lang="zh-CN" altLang="en-US" sz="2000" b="1" dirty="0" smtClean="0"/>
              <a:t>有一队士兵，确切人数不知，但若每３人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一组，则余２人；每５人一组，余３人；每７人一组，</a:t>
            </a:r>
            <a:endParaRPr lang="en-US" altLang="zh-CN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余５人；每１１人一组，余４人。</a:t>
            </a: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请解答下列问题：</a:t>
            </a: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　⑴至少有多少人？　　</a:t>
            </a: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　　⑵若已知人数在</a:t>
            </a:r>
            <a:r>
              <a:rPr lang="en-US" altLang="zh-CN" sz="2000" b="1" dirty="0" smtClean="0"/>
              <a:t>5000</a:t>
            </a:r>
            <a:r>
              <a:rPr lang="zh-CN" altLang="en-US" sz="2000" b="1" dirty="0" smtClean="0"/>
              <a:t>～</a:t>
            </a:r>
            <a:r>
              <a:rPr lang="en-US" altLang="zh-CN" sz="2000" b="1" dirty="0" smtClean="0"/>
              <a:t>10000</a:t>
            </a:r>
            <a:r>
              <a:rPr lang="zh-CN" altLang="en-US" sz="2000" b="1" dirty="0" smtClean="0"/>
              <a:t>之间，有几个答案？</a:t>
            </a: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FF0000"/>
                </a:solidFill>
              </a:rPr>
              <a:t>解</a:t>
            </a:r>
            <a:r>
              <a:rPr lang="zh-CN" altLang="en-US" sz="2000" b="1" dirty="0" smtClean="0"/>
              <a:t>：初学者容易想到用逐个试探的方法来求解，</a:t>
            </a:r>
            <a:endParaRPr lang="zh-CN" altLang="en-US" sz="20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   这样显然耗时，难以求解值非常大的情况</a:t>
            </a:r>
            <a:endParaRPr lang="zh-CN" altLang="en-US" sz="20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FF0000"/>
                </a:solidFill>
              </a:rPr>
              <a:t>求解方法</a:t>
            </a:r>
            <a:r>
              <a:rPr lang="zh-CN" altLang="en-US" sz="2000" b="1" dirty="0" smtClean="0"/>
              <a:t>：逐个满足条件，在寻找满足下一个条件的解时</a:t>
            </a:r>
            <a:endParaRPr lang="en-US" altLang="zh-CN" sz="20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               保证前面条件继续成立。</a:t>
            </a:r>
            <a:endParaRPr lang="zh-CN" altLang="en-US" sz="20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b="1" dirty="0" smtClean="0"/>
              <a:t>如何做到这一点？</a:t>
            </a:r>
            <a:endParaRPr lang="zh-CN" altLang="en-US" sz="20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 探索满足下一个条件的</a:t>
            </a:r>
            <a:r>
              <a:rPr lang="zh-CN" altLang="en-US" sz="2000" b="1" i="1" dirty="0" smtClean="0">
                <a:cs typeface="Times New Roman" panose="02020603050405020304" pitchFamily="18" charset="0"/>
              </a:rPr>
              <a:t>ｎ</a:t>
            </a:r>
            <a:r>
              <a:rPr lang="zh-CN" altLang="en-US" sz="2000" b="1" dirty="0" smtClean="0"/>
              <a:t>的值时，以累加前面各数的最小公倍数来试探，由此得到求解的程序段。</a:t>
            </a:r>
            <a:endParaRPr lang="zh-CN" altLang="en-US" sz="2000" b="1" dirty="0" smtClean="0"/>
          </a:p>
        </p:txBody>
      </p:sp>
      <p:sp>
        <p:nvSpPr>
          <p:cNvPr id="2458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7D1883F-37F1-4246-9A6B-CB826426E99C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7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8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10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9" name="图片 8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356" y="940656"/>
            <a:ext cx="2548408" cy="2860588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3554"/>
          <p:cNvSpPr>
            <a:spLocks noGrp="1" noChangeArrowheads="1"/>
          </p:cNvSpPr>
          <p:nvPr>
            <p:ph idx="1"/>
          </p:nvPr>
        </p:nvSpPr>
        <p:spPr>
          <a:xfrm>
            <a:off x="611560" y="980728"/>
            <a:ext cx="7993062" cy="518410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800" b="1" dirty="0" smtClean="0"/>
              <a:t>问题</a:t>
            </a:r>
            <a:r>
              <a:rPr lang="en-US" altLang="zh-CN" sz="1800" b="1" dirty="0" smtClean="0"/>
              <a:t>(</a:t>
            </a:r>
            <a:r>
              <a:rPr lang="zh-CN" altLang="en-US" sz="1800" b="1" dirty="0" smtClean="0"/>
              <a:t>１</a:t>
            </a:r>
            <a:r>
              <a:rPr lang="en-US" altLang="zh-CN" sz="1800" b="1" dirty="0" smtClean="0"/>
              <a:t>)</a:t>
            </a:r>
            <a:r>
              <a:rPr lang="zh-CN" altLang="en-US" sz="1800" b="1" dirty="0" smtClean="0"/>
              <a:t>的Ｃ</a:t>
            </a:r>
            <a:r>
              <a:rPr lang="en-US" altLang="zh-CN" sz="1800" b="1" dirty="0" smtClean="0"/>
              <a:t>++</a:t>
            </a:r>
            <a:r>
              <a:rPr lang="zh-CN" altLang="en-US" sz="1800" b="1" dirty="0" smtClean="0"/>
              <a:t>语言</a:t>
            </a:r>
            <a:r>
              <a:rPr lang="zh-CN" altLang="en-US" sz="1800" b="1" dirty="0"/>
              <a:t>函数</a:t>
            </a:r>
            <a:r>
              <a:rPr lang="zh-CN" altLang="en-US" sz="1800" b="1" dirty="0" smtClean="0"/>
              <a:t>：</a:t>
            </a:r>
            <a:endParaRPr lang="en-US" altLang="zh-CN" sz="1800" b="1" dirty="0" smtClean="0"/>
          </a:p>
          <a:p>
            <a:pPr marL="0" indent="0" eaLnBrk="1" hangingPunct="1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sz="1600" b="1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1600" b="1" dirty="0" smtClean="0"/>
              <a:t> </a:t>
            </a:r>
            <a:r>
              <a:rPr lang="en-US" altLang="zh-CN" sz="1600" b="1" dirty="0" err="1" smtClean="0"/>
              <a:t>HanXinDianBingMinPeople</a:t>
            </a:r>
            <a:r>
              <a:rPr lang="en-US" altLang="zh-CN" sz="1600" b="1" dirty="0" smtClean="0"/>
              <a:t>( )</a:t>
            </a:r>
            <a:endParaRPr lang="zh-CN" altLang="en-US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600" b="1" dirty="0" smtClean="0"/>
              <a:t> </a:t>
            </a:r>
            <a:r>
              <a:rPr lang="en-US" altLang="zh-CN" sz="1600" b="1" dirty="0" smtClean="0"/>
              <a:t>{</a:t>
            </a:r>
            <a:r>
              <a:rPr lang="zh-CN" altLang="en-US" sz="1600" b="1" dirty="0" smtClean="0"/>
              <a:t>　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 smtClean="0"/>
              <a:t>         </a:t>
            </a:r>
            <a:r>
              <a:rPr lang="en-US" altLang="zh-CN" sz="1600" b="1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1600" b="1" dirty="0" smtClean="0"/>
              <a:t> 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=2;    </a:t>
            </a:r>
            <a:r>
              <a:rPr lang="zh-CN" altLang="en-US" sz="1600" b="1" dirty="0" smtClean="0"/>
              <a:t>　　　　　</a:t>
            </a:r>
            <a:r>
              <a:rPr lang="en-US" altLang="zh-CN" sz="1600" b="1" dirty="0" smtClean="0"/>
              <a:t>// </a:t>
            </a:r>
            <a:r>
              <a:rPr lang="zh-CN" altLang="en-US" sz="1600" b="1" dirty="0" smtClean="0"/>
              <a:t>满足 </a:t>
            </a:r>
            <a:r>
              <a:rPr lang="en-US" altLang="zh-CN" sz="1600" b="1" dirty="0" smtClean="0"/>
              <a:t>3</a:t>
            </a:r>
            <a:r>
              <a:rPr lang="zh-CN" altLang="en-US" sz="1600" b="1" dirty="0" smtClean="0"/>
              <a:t>人一组余</a:t>
            </a:r>
            <a:r>
              <a:rPr lang="en-US" altLang="zh-CN" sz="1600" b="1" dirty="0" smtClean="0"/>
              <a:t>2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 smtClean="0"/>
              <a:t>        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while</a:t>
            </a:r>
            <a:r>
              <a:rPr lang="en-US" altLang="zh-CN" sz="1600" b="1" dirty="0" smtClean="0"/>
              <a:t> (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 % 5 != 3)</a:t>
            </a:r>
            <a:r>
              <a:rPr lang="zh-CN" altLang="en-US" sz="1600" b="1" dirty="0" smtClean="0"/>
              <a:t>  </a:t>
            </a:r>
            <a:endParaRPr lang="en-US" altLang="zh-CN" sz="1600" b="1" dirty="0" smtClean="0"/>
          </a:p>
          <a:p>
            <a:pPr>
              <a:spcBef>
                <a:spcPts val="0"/>
              </a:spcBef>
              <a:buNone/>
            </a:pPr>
            <a:r>
              <a:rPr lang="en-US" altLang="zh-CN" sz="1600" b="1" dirty="0" smtClean="0"/>
              <a:t>               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=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+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3</a:t>
            </a:r>
            <a:r>
              <a:rPr lang="en-US" altLang="zh-CN" sz="1600" b="1" dirty="0" smtClean="0"/>
              <a:t>; </a:t>
            </a:r>
            <a:r>
              <a:rPr lang="zh-CN" altLang="en-US" sz="1600" b="1" dirty="0" smtClean="0"/>
              <a:t>　</a:t>
            </a:r>
            <a:r>
              <a:rPr lang="en-US" altLang="zh-CN" sz="1600" b="1" dirty="0" smtClean="0"/>
              <a:t>// </a:t>
            </a:r>
            <a:r>
              <a:rPr lang="zh-CN" altLang="en-US" sz="1600" b="1" dirty="0" smtClean="0"/>
              <a:t>在保证 </a:t>
            </a:r>
            <a:r>
              <a:rPr lang="en-US" altLang="zh-CN" sz="1600" b="1" dirty="0" smtClean="0"/>
              <a:t>3</a:t>
            </a:r>
            <a:r>
              <a:rPr lang="zh-CN" altLang="en-US" sz="1600" b="1" dirty="0" smtClean="0"/>
              <a:t>人一组余</a:t>
            </a:r>
            <a:r>
              <a:rPr lang="en-US" altLang="zh-CN" sz="1600" b="1" dirty="0" smtClean="0"/>
              <a:t>2</a:t>
            </a:r>
            <a:r>
              <a:rPr lang="zh-CN" altLang="en-US" sz="1600" b="1" dirty="0" smtClean="0"/>
              <a:t>的前提下寻找满足</a:t>
            </a:r>
            <a:r>
              <a:rPr lang="en-US" altLang="zh-CN" sz="1600" b="1" dirty="0" smtClean="0"/>
              <a:t>5</a:t>
            </a:r>
            <a:r>
              <a:rPr lang="zh-CN" altLang="en-US" sz="1600" b="1" dirty="0" smtClean="0"/>
              <a:t>人一组余</a:t>
            </a:r>
            <a:r>
              <a:rPr lang="en-US" altLang="zh-CN" sz="1600" b="1" dirty="0" smtClean="0"/>
              <a:t>3</a:t>
            </a:r>
            <a:r>
              <a:rPr lang="zh-CN" altLang="en-US" sz="1600" b="1" dirty="0" smtClean="0"/>
              <a:t>的</a:t>
            </a:r>
            <a:r>
              <a:rPr lang="en-US" altLang="zh-CN" sz="1600" b="1" i="1" dirty="0" smtClean="0"/>
              <a:t>n</a:t>
            </a:r>
            <a:r>
              <a:rPr lang="zh-CN" altLang="en-US" sz="1600" b="1" dirty="0" smtClean="0"/>
              <a:t>值</a:t>
            </a:r>
            <a:endParaRPr lang="zh-CN" altLang="en-US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600" b="1" dirty="0" smtClean="0"/>
              <a:t>        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while</a:t>
            </a:r>
            <a:r>
              <a:rPr lang="en-US" altLang="zh-CN" sz="1600" b="1" dirty="0" smtClean="0"/>
              <a:t> (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 % 7 != 5)</a:t>
            </a:r>
            <a:r>
              <a:rPr lang="zh-CN" altLang="en-US" sz="1600" b="1" dirty="0" smtClean="0"/>
              <a:t>  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i="1" dirty="0" smtClean="0"/>
              <a:t>               n</a:t>
            </a:r>
            <a:r>
              <a:rPr lang="en-US" altLang="zh-CN" sz="1600" b="1" dirty="0" smtClean="0"/>
              <a:t>=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+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15</a:t>
            </a:r>
            <a:r>
              <a:rPr lang="en-US" altLang="zh-CN" sz="1600" b="1" dirty="0" smtClean="0"/>
              <a:t>;   //</a:t>
            </a:r>
            <a:r>
              <a:rPr lang="zh-CN" altLang="en-US" sz="1600" b="1" dirty="0" smtClean="0"/>
              <a:t>在满足前两个条件的前提下寻找满足</a:t>
            </a:r>
            <a:r>
              <a:rPr lang="en-US" altLang="zh-CN" sz="1600" b="1" dirty="0" smtClean="0"/>
              <a:t>7</a:t>
            </a:r>
            <a:r>
              <a:rPr lang="zh-CN" altLang="en-US" sz="1600" b="1" dirty="0" smtClean="0"/>
              <a:t>人一组余</a:t>
            </a:r>
            <a:r>
              <a:rPr lang="en-US" altLang="zh-CN" sz="1600" b="1" dirty="0" smtClean="0"/>
              <a:t>5</a:t>
            </a:r>
            <a:r>
              <a:rPr lang="zh-CN" altLang="en-US" sz="1600" b="1" dirty="0" smtClean="0"/>
              <a:t>的</a:t>
            </a:r>
            <a:r>
              <a:rPr lang="en-US" altLang="zh-CN" sz="1600" b="1" i="1" dirty="0" smtClean="0"/>
              <a:t>n</a:t>
            </a:r>
            <a:r>
              <a:rPr lang="zh-CN" altLang="en-US" sz="1600" b="1" dirty="0" smtClean="0"/>
              <a:t>值</a:t>
            </a:r>
            <a:endParaRPr lang="zh-CN" altLang="en-US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600" b="1" dirty="0" smtClean="0"/>
              <a:t>        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while</a:t>
            </a:r>
            <a:r>
              <a:rPr lang="en-US" altLang="zh-CN" sz="1600" b="1" dirty="0" smtClean="0"/>
              <a:t> (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 % 11 != 4)</a:t>
            </a:r>
            <a:r>
              <a:rPr lang="zh-CN" altLang="en-US" sz="1600" b="1" dirty="0" smtClean="0"/>
              <a:t> 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i="1" dirty="0" smtClean="0"/>
              <a:t>               n</a:t>
            </a:r>
            <a:r>
              <a:rPr lang="en-US" altLang="zh-CN" sz="1600" b="1" dirty="0" smtClean="0"/>
              <a:t>=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+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105</a:t>
            </a:r>
            <a:r>
              <a:rPr lang="en-US" altLang="zh-CN" sz="1600" b="1" dirty="0" smtClean="0"/>
              <a:t>;  //</a:t>
            </a:r>
            <a:r>
              <a:rPr lang="zh-CN" altLang="en-US" sz="1600" b="1" dirty="0" smtClean="0"/>
              <a:t>在满足前三个条件的前提下寻找满足</a:t>
            </a:r>
            <a:r>
              <a:rPr lang="en-US" altLang="zh-CN" sz="1600" b="1" dirty="0" smtClean="0"/>
              <a:t>11</a:t>
            </a:r>
            <a:r>
              <a:rPr lang="zh-CN" altLang="en-US" sz="1600" b="1" dirty="0" smtClean="0"/>
              <a:t>人一组余</a:t>
            </a:r>
            <a:r>
              <a:rPr lang="en-US" altLang="zh-CN" sz="1600" b="1" dirty="0" smtClean="0"/>
              <a:t>4</a:t>
            </a:r>
            <a:r>
              <a:rPr lang="zh-CN" altLang="en-US" sz="1600" b="1" dirty="0" smtClean="0"/>
              <a:t>的</a:t>
            </a:r>
            <a:r>
              <a:rPr lang="en-US" altLang="zh-CN" sz="1600" b="1" i="1" dirty="0" smtClean="0"/>
              <a:t>n</a:t>
            </a:r>
            <a:r>
              <a:rPr lang="zh-CN" altLang="en-US" sz="1600" b="1" dirty="0" smtClean="0"/>
              <a:t>值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return</a:t>
            </a:r>
            <a:r>
              <a:rPr lang="en-US" altLang="zh-CN" sz="1600" b="1" dirty="0" smtClean="0"/>
              <a:t> 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;</a:t>
            </a:r>
            <a:endParaRPr lang="zh-CN" altLang="en-US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 smtClean="0"/>
              <a:t>}</a:t>
            </a:r>
            <a:endParaRPr lang="zh-CN" altLang="en-US" sz="1600" b="1" dirty="0" smtClean="0"/>
          </a:p>
          <a:p>
            <a:pPr eaLnBrk="1" hangingPunct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1800" b="1" dirty="0" smtClean="0"/>
              <a:t>其中每次所加上的是前面数的最小公倍数－－－</a:t>
            </a:r>
            <a:r>
              <a:rPr lang="en-US" altLang="zh-CN" sz="1800" b="1" dirty="0" smtClean="0"/>
              <a:t>3</a:t>
            </a:r>
            <a:r>
              <a:rPr lang="zh-CN" altLang="en-US" sz="1800" b="1" dirty="0" smtClean="0"/>
              <a:t>，</a:t>
            </a:r>
            <a:r>
              <a:rPr lang="en-US" altLang="zh-CN" sz="1800" b="1" dirty="0" smtClean="0"/>
              <a:t>15</a:t>
            </a:r>
            <a:r>
              <a:rPr lang="zh-CN" altLang="en-US" sz="1800" b="1" dirty="0" smtClean="0"/>
              <a:t>，</a:t>
            </a:r>
            <a:r>
              <a:rPr lang="en-US" altLang="zh-CN" sz="1800" b="1" dirty="0" smtClean="0"/>
              <a:t>105 </a:t>
            </a:r>
            <a:endParaRPr lang="en-US" altLang="zh-CN" sz="1800" b="1" dirty="0" smtClean="0"/>
          </a:p>
          <a:p>
            <a:pPr eaLnBrk="1" hangingPunct="1"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1800" b="1" dirty="0" smtClean="0"/>
              <a:t>问题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１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的Ｃ</a:t>
            </a:r>
            <a:r>
              <a:rPr lang="en-US" altLang="zh-CN" sz="1800" b="1" dirty="0"/>
              <a:t>++</a:t>
            </a:r>
            <a:r>
              <a:rPr lang="zh-CN" altLang="en-US" sz="1800" b="1" dirty="0"/>
              <a:t>语言函数：</a:t>
            </a:r>
            <a:endParaRPr lang="en-US" altLang="zh-CN" sz="1800" b="1" dirty="0"/>
          </a:p>
          <a:p>
            <a:pPr marL="0" indent="0" eaLnBrk="1" hangingPunct="1"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sz="1800" b="1" dirty="0" smtClean="0"/>
              <a:t> 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void</a:t>
            </a:r>
            <a:r>
              <a:rPr lang="en-US" altLang="zh-CN" sz="1600" b="1" dirty="0" smtClean="0"/>
              <a:t> </a:t>
            </a:r>
            <a:r>
              <a:rPr lang="en-US" altLang="zh-CN" sz="1600" b="1" dirty="0" err="1" smtClean="0"/>
              <a:t>HanXinDianBingPeople</a:t>
            </a:r>
            <a:r>
              <a:rPr lang="en-US" altLang="zh-CN" sz="1600" b="1" dirty="0" smtClean="0"/>
              <a:t>(</a:t>
            </a:r>
            <a:r>
              <a:rPr lang="en-US" altLang="zh-CN" sz="1600" b="1" dirty="0" err="1" smtClean="0"/>
              <a:t>int</a:t>
            </a:r>
            <a:r>
              <a:rPr lang="en-US" altLang="zh-CN" sz="1600" b="1" dirty="0" smtClean="0"/>
              <a:t> </a:t>
            </a:r>
            <a:r>
              <a:rPr lang="en-US" altLang="zh-CN" sz="1600" b="1" i="1" dirty="0"/>
              <a:t>n</a:t>
            </a:r>
            <a:r>
              <a:rPr lang="en-US" altLang="zh-CN" sz="1600" b="1" dirty="0"/>
              <a:t>)</a:t>
            </a:r>
            <a:endParaRPr lang="zh-CN" altLang="en-US" sz="16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 smtClean="0"/>
              <a:t>{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</a:t>
            </a:r>
            <a:r>
              <a:rPr lang="zh-CN" altLang="en-US" sz="1600" b="1" dirty="0" smtClean="0"/>
              <a:t>　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while</a:t>
            </a:r>
            <a:r>
              <a:rPr lang="en-US" altLang="zh-CN" sz="1600" b="1" dirty="0" smtClean="0"/>
              <a:t> (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&lt;5000)</a:t>
            </a:r>
            <a:endParaRPr lang="zh-CN" altLang="en-US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600" b="1" dirty="0" smtClean="0"/>
              <a:t>               </a:t>
            </a:r>
            <a:r>
              <a:rPr lang="en-US" altLang="zh-CN" sz="1600" b="1" i="1" dirty="0" smtClean="0"/>
              <a:t>n </a:t>
            </a:r>
            <a:r>
              <a:rPr lang="en-US" altLang="zh-CN" sz="1600" b="1" dirty="0" smtClean="0"/>
              <a:t>= 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+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1155</a:t>
            </a:r>
            <a:r>
              <a:rPr lang="en-US" altLang="zh-CN" sz="1600" b="1" dirty="0" smtClean="0"/>
              <a:t>;</a:t>
            </a:r>
            <a:r>
              <a:rPr lang="zh-CN" altLang="en-US" sz="1600" b="1" dirty="0" smtClean="0"/>
              <a:t>　 　</a:t>
            </a:r>
            <a:endParaRPr lang="zh-CN" altLang="en-US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600" b="1" dirty="0" smtClean="0"/>
              <a:t>　　</a:t>
            </a:r>
            <a:r>
              <a:rPr lang="en-US" altLang="zh-CN" sz="1600" b="1" dirty="0" smtClean="0">
                <a:solidFill>
                  <a:srgbClr val="0000FF"/>
                </a:solidFill>
              </a:rPr>
              <a:t>while</a:t>
            </a:r>
            <a:r>
              <a:rPr lang="en-US" altLang="zh-CN" sz="1600" b="1" dirty="0" smtClean="0"/>
              <a:t> (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&lt;=10000)</a:t>
            </a:r>
            <a:r>
              <a:rPr lang="zh-CN" altLang="en-US" sz="1600" b="1" dirty="0" smtClean="0"/>
              <a:t> 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{</a:t>
            </a:r>
            <a:endParaRPr lang="en-US" altLang="zh-CN" sz="1600" b="1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1600" b="1" dirty="0"/>
              <a:t> </a:t>
            </a:r>
            <a:r>
              <a:rPr lang="en-US" altLang="zh-CN" sz="1600" b="1" dirty="0" smtClean="0"/>
              <a:t>              </a:t>
            </a:r>
            <a:r>
              <a:rPr lang="en-US" altLang="zh-CN" sz="1600" b="1" dirty="0" err="1" smtClean="0">
                <a:solidFill>
                  <a:srgbClr val="0000FF"/>
                </a:solidFill>
              </a:rPr>
              <a:t>cout</a:t>
            </a:r>
            <a:r>
              <a:rPr lang="en-US" altLang="zh-CN" sz="1600" b="1" dirty="0" smtClean="0"/>
              <a:t>&lt;&lt;</a:t>
            </a:r>
            <a:r>
              <a:rPr lang="en-US" altLang="zh-CN" sz="1600" b="1" i="1" dirty="0" smtClean="0"/>
              <a:t>n&lt;&lt;</a:t>
            </a:r>
            <a:r>
              <a:rPr lang="en-US" altLang="zh-CN" sz="1600" b="1" dirty="0" err="1" smtClean="0">
                <a:solidFill>
                  <a:srgbClr val="0000FF"/>
                </a:solidFill>
              </a:rPr>
              <a:t>endl</a:t>
            </a:r>
            <a:r>
              <a:rPr lang="en-US" altLang="zh-CN" sz="1600" b="1" dirty="0" smtClean="0"/>
              <a:t>;</a:t>
            </a:r>
            <a:r>
              <a:rPr lang="zh-CN" altLang="en-US" sz="1600" b="1" dirty="0" smtClean="0"/>
              <a:t>　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=</a:t>
            </a:r>
            <a:r>
              <a:rPr lang="en-US" altLang="zh-CN" sz="1600" b="1" i="1" dirty="0" smtClean="0"/>
              <a:t>n</a:t>
            </a:r>
            <a:r>
              <a:rPr lang="en-US" altLang="zh-CN" sz="1600" b="1" dirty="0" smtClean="0"/>
              <a:t>+1155;</a:t>
            </a:r>
            <a:r>
              <a:rPr lang="zh-CN" altLang="en-US" sz="1600" b="1" dirty="0" smtClean="0"/>
              <a:t> 　　　</a:t>
            </a:r>
            <a:r>
              <a:rPr lang="en-US" altLang="zh-CN" sz="1600" b="1" dirty="0" smtClean="0"/>
              <a:t>//</a:t>
            </a:r>
            <a:r>
              <a:rPr lang="zh-CN" altLang="en-US" sz="1600" b="1" dirty="0" smtClean="0"/>
              <a:t>输出满足条件的各解</a:t>
            </a:r>
            <a:endParaRPr lang="en-US" altLang="zh-CN" sz="1600" b="1" dirty="0" smtClean="0"/>
          </a:p>
          <a:p>
            <a:pPr eaLnBrk="1" hangingPunct="1">
              <a:lnSpc>
                <a:spcPts val="15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600" b="1" dirty="0" smtClean="0"/>
              <a:t>       ｝</a:t>
            </a:r>
            <a:endParaRPr lang="en-US" altLang="zh-CN" sz="1600" b="1" dirty="0" smtClean="0"/>
          </a:p>
          <a:p>
            <a:pPr eaLnBrk="1" hangingPunct="1">
              <a:lnSpc>
                <a:spcPts val="15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1600" b="1" dirty="0" smtClean="0"/>
              <a:t>｝</a:t>
            </a:r>
            <a:endParaRPr lang="zh-CN" altLang="en-US" sz="1600" b="1" dirty="0" smtClean="0"/>
          </a:p>
        </p:txBody>
      </p:sp>
      <p:sp>
        <p:nvSpPr>
          <p:cNvPr id="25604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84C5B8D-3953-4733-85D4-6D37BE44C2F8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3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355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355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355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文本占位符 24578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124744"/>
            <a:ext cx="7993062" cy="165655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 smtClean="0"/>
              <a:t>例</a:t>
            </a:r>
            <a:r>
              <a:rPr lang="en-US" altLang="zh-CN" sz="2400" b="1" dirty="0" smtClean="0"/>
              <a:t>(4): 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幻方问题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(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纵横图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)</a:t>
            </a:r>
            <a:endParaRPr lang="en-US" altLang="zh-CN" sz="24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 b="1" dirty="0" smtClean="0">
                <a:solidFill>
                  <a:srgbClr val="0000FF"/>
                </a:solidFill>
              </a:rPr>
              <a:t>问题描述</a:t>
            </a:r>
            <a:r>
              <a:rPr lang="zh-CN" altLang="en-US" sz="2200" b="1" dirty="0"/>
              <a:t>：</a:t>
            </a:r>
            <a:r>
              <a:rPr lang="zh-CN" altLang="en-US" sz="2200" b="1" dirty="0" smtClean="0"/>
              <a:t>将</a:t>
            </a:r>
            <a:r>
              <a:rPr lang="en-US" altLang="zh-CN" sz="2200" b="1" dirty="0" smtClean="0"/>
              <a:t>1</a:t>
            </a:r>
            <a:r>
              <a:rPr lang="zh-CN" altLang="en-US" sz="2200" b="1" dirty="0" smtClean="0"/>
              <a:t>～</a:t>
            </a:r>
            <a:r>
              <a:rPr lang="en-US" altLang="zh-CN" sz="2200" b="1" i="1" dirty="0" smtClean="0"/>
              <a:t>n</a:t>
            </a:r>
            <a:r>
              <a:rPr lang="en-US" altLang="zh-CN" sz="2200" b="1" baseline="30000" dirty="0" smtClean="0"/>
              <a:t>2</a:t>
            </a:r>
            <a:r>
              <a:rPr lang="zh-CN" altLang="en-US" sz="2200" b="1" dirty="0" smtClean="0"/>
              <a:t>放在</a:t>
            </a:r>
            <a:r>
              <a:rPr lang="en-US" altLang="zh-CN" sz="2200" b="1" i="1" dirty="0" smtClean="0"/>
              <a:t>n</a:t>
            </a:r>
            <a:r>
              <a:rPr lang="zh-CN" altLang="en-US" sz="2200" b="1" dirty="0" smtClean="0"/>
              <a:t>*</a:t>
            </a:r>
            <a:r>
              <a:rPr lang="en-US" altLang="zh-CN" sz="2200" b="1" i="1" dirty="0" smtClean="0"/>
              <a:t>n </a:t>
            </a:r>
            <a:r>
              <a:rPr lang="en-US" altLang="zh-CN" sz="2200" b="1" dirty="0" smtClean="0"/>
              <a:t>(</a:t>
            </a:r>
            <a:r>
              <a:rPr lang="en-US" altLang="zh-CN" sz="2200" b="1" i="1" dirty="0" smtClean="0"/>
              <a:t>n</a:t>
            </a:r>
            <a:r>
              <a:rPr lang="zh-CN" altLang="en-US" sz="2200" b="1" dirty="0" smtClean="0"/>
              <a:t>为奇数</a:t>
            </a:r>
            <a:r>
              <a:rPr lang="en-US" altLang="zh-CN" sz="2200" b="1" dirty="0" smtClean="0"/>
              <a:t>)</a:t>
            </a:r>
            <a:r>
              <a:rPr lang="zh-CN" altLang="en-US" sz="2200" b="1" dirty="0" smtClean="0"/>
              <a:t> 的方阵中，使得任意一行  </a:t>
            </a:r>
            <a:endParaRPr lang="en-US" altLang="zh-CN" sz="22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 smtClean="0"/>
              <a:t>                   </a:t>
            </a:r>
            <a:r>
              <a:rPr lang="zh-CN" altLang="en-US" sz="2200" b="1" dirty="0" smtClean="0"/>
              <a:t>任意一列以及两条对角线上的所有元素之和均相等。 </a:t>
            </a:r>
            <a:endParaRPr lang="en-US" altLang="zh-CN" sz="2200" b="1" dirty="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</a:t>
            </a:r>
            <a:r>
              <a:rPr lang="en-US" altLang="zh-CN" sz="2200" b="1" dirty="0" smtClean="0"/>
              <a:t>                   </a:t>
            </a:r>
            <a:r>
              <a:rPr lang="zh-CN" altLang="en-US" sz="2200" b="1" dirty="0" smtClean="0"/>
              <a:t>如</a:t>
            </a:r>
            <a:r>
              <a:rPr lang="en-US" altLang="zh-CN" sz="2200" b="1" i="1" dirty="0" smtClean="0"/>
              <a:t>n</a:t>
            </a:r>
            <a:r>
              <a:rPr lang="en-US" altLang="zh-CN" sz="2200" b="1" dirty="0" smtClean="0"/>
              <a:t>=5</a:t>
            </a:r>
            <a:r>
              <a:rPr lang="zh-CN" altLang="en-US" sz="2200" b="1" dirty="0" smtClean="0"/>
              <a:t>时的方阵如下图所示</a:t>
            </a:r>
            <a:r>
              <a:rPr lang="en-US" altLang="zh-CN" sz="2200" b="1" dirty="0" smtClean="0"/>
              <a:t>: </a:t>
            </a:r>
            <a:endParaRPr lang="zh-CN" altLang="en-US" sz="2200" b="1" dirty="0" smtClean="0"/>
          </a:p>
        </p:txBody>
      </p:sp>
      <p:graphicFrame>
        <p:nvGraphicFramePr>
          <p:cNvPr id="24580" name="内容占位符 24579"/>
          <p:cNvGraphicFramePr>
            <a:graphicFrameLocks noGrp="1"/>
          </p:cNvGraphicFramePr>
          <p:nvPr>
            <p:ph sz="half" idx="4294967295"/>
          </p:nvPr>
        </p:nvGraphicFramePr>
        <p:xfrm>
          <a:off x="2916238" y="3068638"/>
          <a:ext cx="3240088" cy="2578100"/>
        </p:xfrm>
        <a:graphic>
          <a:graphicData uri="http://schemas.openxmlformats.org/drawingml/2006/table">
            <a:tbl>
              <a:tblPr/>
              <a:tblGrid>
                <a:gridCol w="647700"/>
                <a:gridCol w="649288"/>
                <a:gridCol w="646112"/>
                <a:gridCol w="649288"/>
                <a:gridCol w="647700"/>
              </a:tblGrid>
              <a:tr h="50482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15</a:t>
                      </a:r>
                      <a:endParaRPr lang="en-US" altLang="x-none" sz="18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/>
                        <a:t>８</a:t>
                      </a:r>
                      <a:endParaRPr lang="zh-CN" altLang="en-US" sz="18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/>
                        <a:t>１</a:t>
                      </a:r>
                      <a:endParaRPr lang="zh-CN" altLang="en-US" sz="18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24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17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16</a:t>
                      </a:r>
                      <a:endParaRPr lang="en-US" altLang="x-none" sz="18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14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7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/>
                        <a:t>５</a:t>
                      </a:r>
                      <a:endParaRPr lang="zh-CN" altLang="en-US" sz="1800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23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22</a:t>
                      </a:r>
                      <a:endParaRPr lang="en-US" altLang="x-none" sz="18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20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13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6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4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3</a:t>
                      </a:r>
                      <a:endParaRPr lang="en-US" altLang="x-none" sz="18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21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19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12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10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2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9</a:t>
                      </a:r>
                      <a:endParaRPr lang="en-US" altLang="x-none" sz="18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2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25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18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x-none" sz="1800" b="1" dirty="0"/>
                        <a:t>11</a:t>
                      </a:r>
                      <a:endParaRPr lang="en-US" altLang="x-none" sz="1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66" name="灯片编号占位符 2"/>
          <p:cNvSpPr>
            <a:spLocks noGrp="1" noChangeArrowheads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8003806-0FEA-4E8F-A9B0-42ECA490EC99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7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8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10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9" name="图片 8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内容占位符 25602"/>
          <p:cNvSpPr>
            <a:spLocks noGrp="1" noChangeArrowheads="1"/>
          </p:cNvSpPr>
          <p:nvPr>
            <p:ph idx="1"/>
          </p:nvPr>
        </p:nvSpPr>
        <p:spPr>
          <a:xfrm>
            <a:off x="395536" y="1052736"/>
            <a:ext cx="8229600" cy="4678451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 smtClean="0">
                <a:solidFill>
                  <a:srgbClr val="0000FF"/>
                </a:solidFill>
              </a:rPr>
              <a:t>试探法</a:t>
            </a:r>
            <a:r>
              <a:rPr lang="en-US" altLang="zh-CN" sz="2800" b="1" dirty="0" smtClean="0"/>
              <a:t>: </a:t>
            </a:r>
            <a:r>
              <a:rPr lang="zh-CN" altLang="en-US" sz="2800" b="1" dirty="0" smtClean="0"/>
              <a:t>不适于</a:t>
            </a:r>
            <a:r>
              <a:rPr lang="en-US" altLang="zh-CN" sz="2800" b="1" i="1" dirty="0"/>
              <a:t>n</a:t>
            </a:r>
            <a:r>
              <a:rPr lang="zh-CN" altLang="en-US" sz="2800" b="1" dirty="0" smtClean="0"/>
              <a:t>值较大时的问题求解，因为可</a:t>
            </a:r>
            <a:endParaRPr lang="en-US" altLang="zh-CN" sz="2800" b="1" dirty="0" smtClean="0"/>
          </a:p>
          <a:p>
            <a:pPr marL="0" indent="0" eaLnBrk="1" hangingPunct="1">
              <a:lnSpc>
                <a:spcPct val="90000"/>
              </a:lnSpc>
              <a:buClr>
                <a:srgbClr val="FF0000"/>
              </a:buClr>
              <a:buNone/>
            </a:pPr>
            <a:r>
              <a:rPr lang="en-US" altLang="zh-CN" sz="2800" b="1" dirty="0"/>
              <a:t> </a:t>
            </a:r>
            <a:r>
              <a:rPr lang="en-US" altLang="zh-CN" sz="2800" b="1" dirty="0" smtClean="0"/>
              <a:t>                 </a:t>
            </a:r>
            <a:r>
              <a:rPr lang="zh-CN" altLang="en-US" sz="2800" b="1" dirty="0" smtClean="0"/>
              <a:t>能的状态数是</a:t>
            </a:r>
            <a:r>
              <a:rPr lang="en-US" altLang="zh-CN" sz="2800" b="1" i="1" dirty="0" smtClean="0"/>
              <a:t>n</a:t>
            </a:r>
            <a:r>
              <a:rPr lang="zh-CN" altLang="en-US" sz="2800" b="1" dirty="0" smtClean="0"/>
              <a:t>！个。</a:t>
            </a:r>
            <a:endParaRPr lang="zh-CN" altLang="en-US" sz="2800" b="1" dirty="0" smtClean="0"/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 smtClean="0"/>
              <a:t>经典的</a:t>
            </a:r>
            <a:r>
              <a:rPr lang="zh-CN" altLang="en-US" sz="2800" b="1" u="sng" dirty="0" smtClean="0">
                <a:solidFill>
                  <a:srgbClr val="FF0000"/>
                </a:solidFill>
              </a:rPr>
              <a:t>构造方法</a:t>
            </a:r>
            <a:r>
              <a:rPr lang="zh-CN" altLang="en-US" sz="2800" b="1" dirty="0" smtClean="0"/>
              <a:t>如下：</a:t>
            </a:r>
            <a:endParaRPr lang="zh-CN" altLang="en-US" sz="2800" b="1" dirty="0" smtClean="0"/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600" b="1" dirty="0" smtClean="0"/>
              <a:t>将数</a:t>
            </a:r>
            <a:r>
              <a:rPr lang="en-US" altLang="zh-CN" sz="2600" b="1" dirty="0" smtClean="0"/>
              <a:t>1</a:t>
            </a:r>
            <a:r>
              <a:rPr lang="zh-CN" altLang="en-US" sz="2600" b="1" dirty="0" smtClean="0"/>
              <a:t>放在第一行的中间元素， 然后往左上的位置上放入下一个数</a:t>
            </a:r>
            <a:r>
              <a:rPr lang="en-US" altLang="zh-CN" sz="2600" b="1" dirty="0" smtClean="0"/>
              <a:t>;</a:t>
            </a:r>
            <a:endParaRPr lang="zh-CN" altLang="en-US" sz="2600" b="1" dirty="0" smtClean="0"/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600" b="1" dirty="0" smtClean="0"/>
              <a:t>若左上的位置已有数，则将其放入该数的下一行中的同一列的位置上</a:t>
            </a:r>
            <a:r>
              <a:rPr lang="en-US" altLang="zh-CN" sz="2600" b="1" dirty="0" smtClean="0"/>
              <a:t>;</a:t>
            </a:r>
            <a:endParaRPr lang="zh-CN" altLang="en-US" sz="2600" b="1" dirty="0" smtClean="0"/>
          </a:p>
          <a:p>
            <a:pPr lvl="1" eaLnBrk="1" hangingPunct="1">
              <a:lnSpc>
                <a:spcPct val="90000"/>
              </a:lnSpc>
              <a:buClr>
                <a:srgbClr val="FF0000"/>
              </a:buClr>
            </a:pPr>
            <a:r>
              <a:rPr lang="zh-CN" altLang="en-US" sz="2600" b="1" dirty="0" smtClean="0"/>
              <a:t>若已是最左或最上面位置上的元素，则其下一个位置的寻找方法是：将方阵卷成一个纸筒， 然后依此再按同样的方向再找下一个位置，直到</a:t>
            </a:r>
            <a:r>
              <a:rPr lang="en-US" altLang="zh-CN" sz="2600" b="1" i="1" dirty="0" smtClean="0"/>
              <a:t>n</a:t>
            </a:r>
            <a:r>
              <a:rPr lang="en-US" altLang="zh-CN" sz="2600" b="1" dirty="0" smtClean="0"/>
              <a:t>*</a:t>
            </a:r>
            <a:r>
              <a:rPr lang="en-US" altLang="zh-CN" sz="2600" b="1" i="1" dirty="0" smtClean="0"/>
              <a:t>n</a:t>
            </a:r>
            <a:r>
              <a:rPr lang="zh-CN" altLang="en-US" sz="2600" b="1" dirty="0" smtClean="0"/>
              <a:t>个元素全部放入为止。</a:t>
            </a:r>
            <a:endParaRPr lang="zh-CN" altLang="en-US" sz="2600" b="1" dirty="0" smtClean="0"/>
          </a:p>
        </p:txBody>
      </p:sp>
      <p:sp>
        <p:nvSpPr>
          <p:cNvPr id="27652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5AE2E33-E864-4704-A64D-3D13192B6EE0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7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8" name="图片 7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26626"/>
          <p:cNvSpPr>
            <a:spLocks noChangeArrowheads="1"/>
          </p:cNvSpPr>
          <p:nvPr/>
        </p:nvSpPr>
        <p:spPr bwMode="auto">
          <a:xfrm>
            <a:off x="611188" y="913592"/>
            <a:ext cx="7993062" cy="4695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altLang="zh-CN" sz="2800" b="1" i="1" dirty="0"/>
              <a:t>n</a:t>
            </a:r>
            <a:r>
              <a:rPr lang="zh-CN" altLang="en-US" sz="2800" dirty="0" smtClean="0">
                <a:ea typeface="楷体_GB2312" pitchFamily="1" charset="-122"/>
              </a:rPr>
              <a:t>＝</a:t>
            </a:r>
            <a:r>
              <a:rPr lang="zh-CN" altLang="en-US" sz="2800" dirty="0">
                <a:ea typeface="楷体_GB2312" pitchFamily="1" charset="-122"/>
              </a:rPr>
              <a:t>５时的求解</a:t>
            </a:r>
            <a:r>
              <a:rPr lang="zh-CN" altLang="en-US" sz="2800" dirty="0" smtClean="0">
                <a:ea typeface="楷体_GB2312" pitchFamily="1" charset="-122"/>
              </a:rPr>
              <a:t>过程：</a:t>
            </a:r>
            <a:endParaRPr lang="zh-CN" altLang="en-US" sz="2800" dirty="0">
              <a:ea typeface="楷体_GB2312" pitchFamily="1" charset="-122"/>
            </a:endParaRPr>
          </a:p>
        </p:txBody>
      </p:sp>
      <p:graphicFrame>
        <p:nvGraphicFramePr>
          <p:cNvPr id="7" name="内容占位符 26627"/>
          <p:cNvGraphicFramePr/>
          <p:nvPr/>
        </p:nvGraphicFramePr>
        <p:xfrm>
          <a:off x="2268538" y="1989138"/>
          <a:ext cx="5113338" cy="4100513"/>
        </p:xfrm>
        <a:graphic>
          <a:graphicData uri="http://schemas.openxmlformats.org/drawingml/2006/table">
            <a:tbl>
              <a:tblPr/>
              <a:tblGrid>
                <a:gridCol w="1022350"/>
                <a:gridCol w="1022350"/>
                <a:gridCol w="1023938"/>
                <a:gridCol w="1020762"/>
                <a:gridCol w="1023938"/>
              </a:tblGrid>
              <a:tr h="831850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597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9150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5975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7563"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1" charset="-122"/>
                        </a:defRPr>
                      </a:lvl1pPr>
                      <a:lvl2pPr marL="908050" lvl="1" indent="-436245">
                        <a:defRPr sz="2000" kern="1200"/>
                      </a:lvl2pPr>
                      <a:lvl3pPr marL="1304925" lvl="2" indent="-394970">
                        <a:defRPr sz="22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sz="22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643438" y="2276475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 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3492500" y="5445125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2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2555875" y="4652963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3</a:t>
            </a:r>
            <a:r>
              <a:rPr lang="en-US" altLang="zh-CN" sz="1800">
                <a:latin typeface="Arial" panose="020B0604020202020204" pitchFamily="34" charset="0"/>
              </a:rPr>
              <a:t> 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6588125" y="3933825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4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5580063" y="3141663"/>
            <a:ext cx="503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 5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5580063" y="3860800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 6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4572000" y="306863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 7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/>
        </p:nvSpPr>
        <p:spPr bwMode="auto">
          <a:xfrm>
            <a:off x="3563938" y="2276475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8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2555875" y="5445125"/>
            <a:ext cx="50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9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6516688" y="4724400"/>
            <a:ext cx="719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10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6443663" y="5516563"/>
            <a:ext cx="719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11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5435600" y="4724400"/>
            <a:ext cx="719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12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/>
          <p:cNvSpPr txBox="1">
            <a:spLocks noChangeArrowheads="1"/>
          </p:cNvSpPr>
          <p:nvPr/>
        </p:nvSpPr>
        <p:spPr bwMode="auto">
          <a:xfrm>
            <a:off x="4427538" y="4005263"/>
            <a:ext cx="719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13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419475" y="3068638"/>
            <a:ext cx="719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  14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2411413" y="2276475"/>
            <a:ext cx="719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chemeClr val="accent2"/>
                </a:solidFill>
              </a:rPr>
              <a:t>15</a:t>
            </a:r>
            <a:endParaRPr lang="zh-CN" altLang="en-US" sz="1800" b="1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2339975" y="2997200"/>
            <a:ext cx="719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  16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6516688" y="2349500"/>
            <a:ext cx="719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17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5508625" y="5516563"/>
            <a:ext cx="719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18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4427538" y="4724400"/>
            <a:ext cx="719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19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3419475" y="3860800"/>
            <a:ext cx="719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20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/>
          <p:cNvSpPr txBox="1">
            <a:spLocks noChangeArrowheads="1"/>
          </p:cNvSpPr>
          <p:nvPr/>
        </p:nvSpPr>
        <p:spPr bwMode="auto">
          <a:xfrm>
            <a:off x="3419475" y="4652963"/>
            <a:ext cx="719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21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2411413" y="3933825"/>
            <a:ext cx="719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22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6516688" y="3141663"/>
            <a:ext cx="719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23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5508625" y="2276475"/>
            <a:ext cx="719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24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4500563" y="5445125"/>
            <a:ext cx="719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accent2"/>
                </a:solidFill>
                <a:latin typeface="Arial" panose="020B0604020202020204" pitchFamily="34" charset="0"/>
              </a:rPr>
              <a:t>25</a:t>
            </a:r>
            <a:endParaRPr lang="en-US" altLang="zh-CN" sz="1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pSp>
        <p:nvGrpSpPr>
          <p:cNvPr id="33" name="组合 67"/>
          <p:cNvGrpSpPr/>
          <p:nvPr/>
        </p:nvGrpSpPr>
        <p:grpSpPr>
          <a:xfrm>
            <a:off x="-324544" y="66121"/>
            <a:ext cx="7317240" cy="698583"/>
            <a:chOff x="56674" y="4179148"/>
            <a:chExt cx="7317240" cy="698583"/>
          </a:xfrm>
        </p:grpSpPr>
        <p:grpSp>
          <p:nvGrpSpPr>
            <p:cNvPr id="34" name="组合 106"/>
            <p:cNvGrpSpPr/>
            <p:nvPr/>
          </p:nvGrpSpPr>
          <p:grpSpPr>
            <a:xfrm>
              <a:off x="56674" y="4179148"/>
              <a:ext cx="7317240" cy="698583"/>
              <a:chOff x="47149" y="4179148"/>
              <a:chExt cx="7317240" cy="698583"/>
            </a:xfrm>
          </p:grpSpPr>
          <p:sp>
            <p:nvSpPr>
              <p:cNvPr id="36" name="Freeform 5"/>
              <p:cNvSpPr/>
              <p:nvPr/>
            </p:nvSpPr>
            <p:spPr bwMode="auto">
              <a:xfrm>
                <a:off x="927100" y="4202884"/>
                <a:ext cx="824164" cy="67484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408080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b="1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TextBox 6"/>
              <p:cNvSpPr txBox="1">
                <a:spLocks noChangeArrowheads="1"/>
              </p:cNvSpPr>
              <p:nvPr/>
            </p:nvSpPr>
            <p:spPr bwMode="auto">
              <a:xfrm>
                <a:off x="47149" y="4179148"/>
                <a:ext cx="7317240" cy="646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17" tIns="45708" rIns="91417" bIns="45708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lvl="1" algn="ctr"/>
                <a:r>
                  <a:rPr lang="en-US" altLang="zh-CN" sz="36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1.3</a:t>
                </a:r>
                <a:r>
                  <a:rPr lang="en-US" altLang="zh-CN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zh-CN" altLang="en-US" sz="36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算法及其描述</a:t>
                </a:r>
                <a:endPara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pic>
          <p:nvPicPr>
            <p:cNvPr id="35" name="图片 34" descr="无标题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37949" y="4364064"/>
              <a:ext cx="433676" cy="33098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7650"/>
          <p:cNvSpPr>
            <a:spLocks noGrp="1" noChangeArrowheads="1"/>
          </p:cNvSpPr>
          <p:nvPr>
            <p:ph idx="1"/>
          </p:nvPr>
        </p:nvSpPr>
        <p:spPr>
          <a:xfrm>
            <a:off x="395536" y="980728"/>
            <a:ext cx="7993062" cy="504698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latin typeface="楷体_GB2312" pitchFamily="1" charset="-122"/>
              </a:rPr>
              <a:t>不同的算法花费时间是有差异的，某些方法就难以实际应用</a:t>
            </a:r>
            <a:endParaRPr lang="zh-CN" altLang="en-US" sz="2800" b="1" dirty="0" smtClean="0">
              <a:latin typeface="楷体_GB2312" pitchFamily="1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b="1" dirty="0" smtClean="0">
                <a:latin typeface="楷体_GB2312" pitchFamily="1" charset="-122"/>
              </a:rPr>
              <a:t>   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_GB2312" pitchFamily="1" charset="-122"/>
              </a:rPr>
              <a:t>除了时间方面外，还有哪些需要考虑的性能</a:t>
            </a:r>
            <a:r>
              <a:rPr lang="zh-CN" altLang="en-US" sz="2400" b="1" dirty="0" smtClean="0">
                <a:latin typeface="楷体_GB2312" pitchFamily="1" charset="-122"/>
              </a:rPr>
              <a:t>？</a:t>
            </a:r>
            <a:endParaRPr lang="zh-CN" altLang="en-US" sz="24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0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latin typeface="楷体_GB2312" pitchFamily="1" charset="-122"/>
              </a:rPr>
              <a:t>算法的衡量指标：在正确性的前提下，重点关注的指标</a:t>
            </a:r>
            <a:r>
              <a:rPr lang="en-US" altLang="zh-CN" sz="2400" b="1" dirty="0" smtClean="0">
                <a:latin typeface="楷体_GB2312" pitchFamily="1" charset="-122"/>
              </a:rPr>
              <a:t>: </a:t>
            </a:r>
            <a:endParaRPr lang="en-US" altLang="zh-CN" sz="24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（</a:t>
            </a:r>
            <a:r>
              <a:rPr lang="en-US" altLang="zh-CN" sz="2000" b="1" dirty="0" smtClean="0">
                <a:latin typeface="楷体_GB2312" pitchFamily="1" charset="-122"/>
              </a:rPr>
              <a:t>1</a:t>
            </a:r>
            <a:r>
              <a:rPr lang="zh-CN" altLang="en-US" sz="2000" b="1" dirty="0" smtClean="0">
                <a:latin typeface="楷体_GB2312" pitchFamily="1" charset="-122"/>
              </a:rPr>
              <a:t>）时间性能</a:t>
            </a:r>
            <a:r>
              <a:rPr lang="en-US" altLang="zh-CN" sz="2000" b="1" dirty="0" smtClean="0">
                <a:latin typeface="楷体_GB2312" pitchFamily="1" charset="-122"/>
              </a:rPr>
              <a:t>——</a:t>
            </a:r>
            <a:r>
              <a:rPr lang="zh-CN" altLang="en-US" sz="2000" b="1" dirty="0" smtClean="0">
                <a:latin typeface="楷体_GB2312" pitchFamily="1" charset="-122"/>
              </a:rPr>
              <a:t>运行算法所需的时间开销。</a:t>
            </a:r>
            <a:endParaRPr lang="zh-CN" altLang="en-US" sz="20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（</a:t>
            </a:r>
            <a:r>
              <a:rPr lang="en-US" altLang="zh-CN" sz="2000" b="1" dirty="0" smtClean="0">
                <a:latin typeface="楷体_GB2312" pitchFamily="1" charset="-122"/>
              </a:rPr>
              <a:t>2</a:t>
            </a:r>
            <a:r>
              <a:rPr lang="zh-CN" altLang="en-US" sz="2000" b="1" dirty="0" smtClean="0">
                <a:latin typeface="楷体_GB2312" pitchFamily="1" charset="-122"/>
              </a:rPr>
              <a:t>）空间性能</a:t>
            </a:r>
            <a:r>
              <a:rPr lang="en-US" altLang="zh-CN" sz="2000" b="1" dirty="0" smtClean="0">
                <a:latin typeface="楷体_GB2312" pitchFamily="1" charset="-122"/>
              </a:rPr>
              <a:t>——</a:t>
            </a:r>
            <a:r>
              <a:rPr lang="zh-CN" altLang="en-US" sz="2000" b="1" dirty="0" smtClean="0">
                <a:latin typeface="楷体_GB2312" pitchFamily="1" charset="-122"/>
              </a:rPr>
              <a:t>运行算法所需的辅助空间的规模。</a:t>
            </a:r>
            <a:endParaRPr lang="zh-CN" altLang="en-US" sz="20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（</a:t>
            </a:r>
            <a:r>
              <a:rPr lang="en-US" altLang="zh-CN" sz="2000" b="1" dirty="0" smtClean="0">
                <a:latin typeface="楷体_GB2312" pitchFamily="1" charset="-122"/>
              </a:rPr>
              <a:t>3</a:t>
            </a:r>
            <a:r>
              <a:rPr lang="zh-CN" altLang="en-US" sz="2000" b="1" dirty="0" smtClean="0">
                <a:latin typeface="楷体_GB2312" pitchFamily="1" charset="-122"/>
              </a:rPr>
              <a:t>）其它性能</a:t>
            </a:r>
            <a:r>
              <a:rPr lang="en-US" altLang="zh-CN" sz="2000" b="1" dirty="0" smtClean="0">
                <a:latin typeface="楷体_GB2312" pitchFamily="1" charset="-122"/>
              </a:rPr>
              <a:t>——</a:t>
            </a:r>
            <a:r>
              <a:rPr lang="zh-CN" altLang="en-US" sz="2000" b="1" dirty="0" smtClean="0">
                <a:latin typeface="楷体_GB2312" pitchFamily="1" charset="-122"/>
              </a:rPr>
              <a:t>如可读性</a:t>
            </a:r>
            <a:r>
              <a:rPr lang="en-US" altLang="zh-CN" sz="2000" b="1" dirty="0" smtClean="0">
                <a:latin typeface="楷体_GB2312" pitchFamily="1" charset="-122"/>
              </a:rPr>
              <a:t>/</a:t>
            </a:r>
            <a:r>
              <a:rPr lang="zh-CN" altLang="en-US" sz="2000" b="1" dirty="0" smtClean="0">
                <a:latin typeface="楷体_GB2312" pitchFamily="1" charset="-122"/>
              </a:rPr>
              <a:t>可移植性等。</a:t>
            </a:r>
            <a:endParaRPr lang="zh-CN" altLang="en-US" sz="20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latin typeface="楷体_GB2312" pitchFamily="1" charset="-122"/>
              </a:rPr>
              <a:t>时间性能（时间复杂度）的描述方法讨论：</a:t>
            </a:r>
            <a:endParaRPr lang="zh-CN" altLang="en-US" sz="24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 方式</a:t>
            </a:r>
            <a:r>
              <a:rPr lang="en-US" altLang="zh-CN" sz="2000" b="1" dirty="0" smtClean="0">
                <a:latin typeface="楷体_GB2312" pitchFamily="1" charset="-122"/>
              </a:rPr>
              <a:t>(1)</a:t>
            </a:r>
            <a:r>
              <a:rPr lang="zh-CN" altLang="en-US" sz="2000" b="1" dirty="0" smtClean="0">
                <a:latin typeface="楷体_GB2312" pitchFamily="1" charset="-122"/>
              </a:rPr>
              <a:t>： 以运行算法的</a:t>
            </a:r>
            <a:r>
              <a:rPr lang="zh-CN" altLang="en-US" sz="2000" b="1" dirty="0" smtClean="0">
                <a:solidFill>
                  <a:srgbClr val="FF0000"/>
                </a:solidFill>
                <a:latin typeface="楷体_GB2312" pitchFamily="1" charset="-122"/>
              </a:rPr>
              <a:t>机器</a:t>
            </a:r>
            <a:r>
              <a:rPr lang="zh-CN" altLang="en-US" sz="2000" b="1" u="sng" dirty="0" smtClean="0">
                <a:solidFill>
                  <a:srgbClr val="FF5050"/>
                </a:solidFill>
                <a:latin typeface="楷体_GB2312" pitchFamily="1" charset="-122"/>
              </a:rPr>
              <a:t>时间开销</a:t>
            </a:r>
            <a:r>
              <a:rPr lang="zh-CN" altLang="en-US" sz="2000" b="1" dirty="0" smtClean="0">
                <a:latin typeface="楷体_GB2312" pitchFamily="1" charset="-122"/>
              </a:rPr>
              <a:t>来度量</a:t>
            </a:r>
            <a:endParaRPr lang="zh-CN" altLang="en-US" sz="20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    问题：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_GB2312" pitchFamily="1" charset="-122"/>
              </a:rPr>
              <a:t>与具体机器相关，难以比较 </a:t>
            </a:r>
            <a:endParaRPr lang="zh-CN" altLang="en-US" sz="2000" b="1" dirty="0" smtClean="0">
              <a:solidFill>
                <a:srgbClr val="0000FF"/>
              </a:solidFill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 方式（</a:t>
            </a:r>
            <a:r>
              <a:rPr lang="en-US" altLang="zh-CN" sz="2000" b="1" dirty="0" smtClean="0">
                <a:latin typeface="楷体_GB2312" pitchFamily="1" charset="-122"/>
              </a:rPr>
              <a:t>2</a:t>
            </a:r>
            <a:r>
              <a:rPr lang="zh-CN" altLang="en-US" sz="2000" b="1" dirty="0" smtClean="0">
                <a:latin typeface="楷体_GB2312" pitchFamily="1" charset="-122"/>
              </a:rPr>
              <a:t>）：以算法中语句的</a:t>
            </a:r>
            <a:r>
              <a:rPr lang="zh-CN" altLang="en-US" sz="2000" b="1" u="sng" dirty="0" smtClean="0">
                <a:solidFill>
                  <a:srgbClr val="FF5050"/>
                </a:solidFill>
                <a:latin typeface="楷体_GB2312" pitchFamily="1" charset="-122"/>
              </a:rPr>
              <a:t>执行次数</a:t>
            </a:r>
            <a:r>
              <a:rPr lang="zh-CN" altLang="en-US" sz="2000" b="1" dirty="0" smtClean="0">
                <a:latin typeface="楷体_GB2312" pitchFamily="1" charset="-122"/>
              </a:rPr>
              <a:t>来衡量</a:t>
            </a:r>
            <a:endParaRPr lang="zh-CN" altLang="en-US" sz="2000" b="1" dirty="0" smtClean="0"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    问题：</a:t>
            </a:r>
            <a:r>
              <a:rPr lang="zh-CN" altLang="en-US" sz="2000" b="1" dirty="0" smtClean="0">
                <a:solidFill>
                  <a:srgbClr val="0000FF"/>
                </a:solidFill>
                <a:latin typeface="楷体_GB2312" pitchFamily="1" charset="-122"/>
              </a:rPr>
              <a:t>计算麻烦，可以简化为</a:t>
            </a:r>
            <a:endParaRPr lang="zh-CN" altLang="en-US" sz="2000" b="1" dirty="0" smtClean="0">
              <a:solidFill>
                <a:srgbClr val="0000FF"/>
              </a:solidFill>
              <a:latin typeface="楷体_GB2312" pitchFamily="1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latin typeface="楷体_GB2312" pitchFamily="1" charset="-122"/>
              </a:rPr>
              <a:t>     方式（</a:t>
            </a:r>
            <a:r>
              <a:rPr lang="en-US" altLang="zh-CN" sz="2000" b="1" dirty="0" smtClean="0">
                <a:latin typeface="楷体_GB2312" pitchFamily="1" charset="-122"/>
              </a:rPr>
              <a:t>3</a:t>
            </a:r>
            <a:r>
              <a:rPr lang="zh-CN" altLang="en-US" sz="2000" b="1" dirty="0" smtClean="0">
                <a:latin typeface="楷体_GB2312" pitchFamily="1" charset="-122"/>
              </a:rPr>
              <a:t>）：以算法中语句的执行次数的</a:t>
            </a:r>
            <a:r>
              <a:rPr lang="zh-CN" altLang="en-US" sz="2000" b="1" u="sng" dirty="0" smtClean="0">
                <a:solidFill>
                  <a:srgbClr val="FF5050"/>
                </a:solidFill>
                <a:latin typeface="楷体_GB2312" pitchFamily="1" charset="-122"/>
              </a:rPr>
              <a:t>数量级</a:t>
            </a:r>
            <a:r>
              <a:rPr lang="zh-CN" altLang="en-US" sz="2000" b="1" dirty="0" smtClean="0">
                <a:latin typeface="楷体_GB2312" pitchFamily="1" charset="-122"/>
              </a:rPr>
              <a:t>来替代。</a:t>
            </a:r>
            <a:r>
              <a:rPr lang="zh-CN" altLang="en-US" sz="1800" b="1" dirty="0" smtClean="0"/>
              <a:t>      </a:t>
            </a:r>
            <a:endParaRPr lang="zh-CN" altLang="en-US" sz="1800" b="1" dirty="0" smtClean="0"/>
          </a:p>
        </p:txBody>
      </p:sp>
      <p:sp>
        <p:nvSpPr>
          <p:cNvPr id="44036" name="矩形 27651"/>
          <p:cNvSpPr>
            <a:spLocks noChangeArrowheads="1"/>
          </p:cNvSpPr>
          <p:nvPr/>
        </p:nvSpPr>
        <p:spPr bwMode="auto">
          <a:xfrm>
            <a:off x="1237615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9702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EFE956B-ACE4-46F6-BF33-6C006761804A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8" name="组合 109"/>
          <p:cNvGrpSpPr/>
          <p:nvPr/>
        </p:nvGrpSpPr>
        <p:grpSpPr>
          <a:xfrm>
            <a:off x="521234" y="21382"/>
            <a:ext cx="7322002" cy="747194"/>
            <a:chOff x="956926" y="4504314"/>
            <a:chExt cx="7322002" cy="747194"/>
          </a:xfrm>
        </p:grpSpPr>
        <p:sp>
          <p:nvSpPr>
            <p:cNvPr id="9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10" name="图片 9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11" name="TextBox 6"/>
            <p:cNvSpPr txBox="1">
              <a:spLocks noChangeArrowheads="1"/>
            </p:cNvSpPr>
            <p:nvPr/>
          </p:nvSpPr>
          <p:spPr bwMode="auto">
            <a:xfrm>
              <a:off x="1736242" y="450431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1.4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算法分析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2" name="图片 11" descr="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1234" y="1844824"/>
            <a:ext cx="377680" cy="419801"/>
          </a:xfrm>
          <a:prstGeom prst="rect">
            <a:avLst/>
          </a:prstGeom>
        </p:spPr>
      </p:pic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8674"/>
          <p:cNvSpPr>
            <a:spLocks noGrp="1" noChangeArrowheads="1"/>
          </p:cNvSpPr>
          <p:nvPr>
            <p:ph idx="1"/>
          </p:nvPr>
        </p:nvSpPr>
        <p:spPr>
          <a:xfrm>
            <a:off x="358775" y="1051395"/>
            <a:ext cx="8137525" cy="2879725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数量级：如果变量</a:t>
            </a:r>
            <a:r>
              <a:rPr lang="en-US" altLang="zh-CN" sz="2800" b="1" i="1" dirty="0" smtClean="0"/>
              <a:t>n</a:t>
            </a:r>
            <a:r>
              <a:rPr lang="zh-CN" altLang="en-US" sz="2800" b="1" dirty="0" smtClean="0"/>
              <a:t>的函数</a:t>
            </a:r>
            <a:r>
              <a:rPr lang="en-US" altLang="zh-CN" sz="2800" b="1" dirty="0" smtClean="0"/>
              <a:t>f(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g(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</a:t>
            </a:r>
            <a:r>
              <a:rPr lang="zh-CN" altLang="en-US" sz="2800" b="1" dirty="0" smtClean="0"/>
              <a:t>满足：</a:t>
            </a:r>
            <a:endParaRPr lang="zh-CN" altLang="en-US" sz="28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smtClean="0"/>
              <a:t>             </a:t>
            </a:r>
            <a:r>
              <a:rPr lang="en-US" altLang="zh-CN" sz="2800" b="1" dirty="0" err="1" smtClean="0"/>
              <a:t>lim</a:t>
            </a:r>
            <a:r>
              <a:rPr lang="en-US" altLang="zh-CN" sz="2800" b="1" dirty="0" smtClean="0"/>
              <a:t> f(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)/g(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)=</a:t>
            </a:r>
            <a:r>
              <a:rPr lang="en-US" altLang="zh-CN" sz="2800" b="1" i="1" dirty="0" smtClean="0"/>
              <a:t>k</a:t>
            </a:r>
            <a:r>
              <a:rPr lang="en-US" altLang="zh-CN" sz="2800" b="1" dirty="0" smtClean="0"/>
              <a:t> (</a:t>
            </a:r>
            <a:r>
              <a:rPr lang="en-US" altLang="zh-CN" sz="2800" b="1" i="1" dirty="0" smtClean="0"/>
              <a:t>k</a:t>
            </a:r>
            <a:r>
              <a:rPr lang="en-US" altLang="zh-CN" sz="2800" b="1" dirty="0" smtClean="0"/>
              <a:t>≠∞,0</a:t>
            </a:r>
            <a:r>
              <a:rPr lang="zh-CN" altLang="en-US" sz="2800" b="1" dirty="0" smtClean="0"/>
              <a:t>，</a:t>
            </a:r>
            <a:r>
              <a:rPr lang="en-US" altLang="zh-CN" sz="2800" b="1" i="1" dirty="0"/>
              <a:t> </a:t>
            </a:r>
            <a:r>
              <a:rPr lang="en-US" altLang="zh-CN" sz="2800" b="1" i="1" dirty="0" smtClean="0">
                <a:solidFill>
                  <a:srgbClr val="FF0000"/>
                </a:solidFill>
              </a:rPr>
              <a:t>k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是常数</a:t>
            </a:r>
            <a:r>
              <a:rPr lang="en-US" altLang="zh-CN" sz="2800" b="1" dirty="0" smtClean="0"/>
              <a:t>)</a:t>
            </a:r>
            <a:r>
              <a:rPr lang="zh-CN" altLang="en-US" sz="2800" b="1" dirty="0" smtClean="0"/>
              <a:t>，</a:t>
            </a:r>
            <a:endParaRPr lang="zh-CN" altLang="en-US" sz="28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 smtClean="0"/>
              <a:t>             则称</a:t>
            </a:r>
            <a:r>
              <a:rPr lang="en-US" altLang="zh-CN" sz="2800" b="1" dirty="0" smtClean="0"/>
              <a:t>f(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g(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</a:t>
            </a:r>
            <a:r>
              <a:rPr lang="zh-CN" altLang="en-US" sz="2800" b="1" dirty="0" smtClean="0"/>
              <a:t> 是同一数量级的，</a:t>
            </a:r>
            <a:endParaRPr lang="zh-CN" altLang="en-US" sz="28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 smtClean="0"/>
              <a:t>             并用</a:t>
            </a:r>
            <a:r>
              <a:rPr lang="en-US" altLang="zh-CN" sz="2800" b="1" dirty="0" smtClean="0"/>
              <a:t>f(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)=O(g(</a:t>
            </a:r>
            <a:r>
              <a:rPr lang="en-US" altLang="zh-CN" sz="2800" b="1" i="1" dirty="0" smtClean="0"/>
              <a:t>n</a:t>
            </a:r>
            <a:r>
              <a:rPr lang="en-US" altLang="zh-CN" sz="2800" b="1" dirty="0" smtClean="0"/>
              <a:t>))</a:t>
            </a:r>
            <a:r>
              <a:rPr lang="zh-CN" altLang="en-US" sz="2800" b="1" dirty="0" smtClean="0"/>
              <a:t>的形式来表示。</a:t>
            </a:r>
            <a:endParaRPr lang="zh-CN" altLang="en-US" sz="28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altLang="zh-CN" sz="2800" b="1" dirty="0" smtClean="0"/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常见的算法的时间复杂度从小到大依次如下：</a:t>
            </a:r>
            <a:endParaRPr lang="zh-CN" altLang="en-US" b="1" dirty="0" smtClean="0"/>
          </a:p>
        </p:txBody>
      </p:sp>
      <p:sp>
        <p:nvSpPr>
          <p:cNvPr id="28676" name="文本框 28675"/>
          <p:cNvSpPr txBox="1">
            <a:spLocks noChangeArrowheads="1"/>
          </p:cNvSpPr>
          <p:nvPr/>
        </p:nvSpPr>
        <p:spPr bwMode="auto">
          <a:xfrm>
            <a:off x="971550" y="4292600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>
                <a:ea typeface="楷体_GB2312" pitchFamily="1" charset="-122"/>
              </a:rPr>
              <a:t>O(1)</a:t>
            </a:r>
            <a:endParaRPr lang="zh-CN" altLang="en-US" sz="2800" b="1">
              <a:ea typeface="楷体_GB2312" pitchFamily="1" charset="-122"/>
            </a:endParaRPr>
          </a:p>
        </p:txBody>
      </p:sp>
      <p:sp>
        <p:nvSpPr>
          <p:cNvPr id="28677" name="文本框 28676"/>
          <p:cNvSpPr txBox="1">
            <a:spLocks noChangeArrowheads="1"/>
          </p:cNvSpPr>
          <p:nvPr/>
        </p:nvSpPr>
        <p:spPr bwMode="auto">
          <a:xfrm>
            <a:off x="2268538" y="4365625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b="1" dirty="0">
                <a:ea typeface="楷体_GB2312" pitchFamily="1" charset="-122"/>
              </a:rPr>
              <a:t>O(log</a:t>
            </a:r>
            <a:r>
              <a:rPr lang="it-IT" altLang="en-US" b="1" baseline="-25000" dirty="0">
                <a:ea typeface="楷体_GB2312" pitchFamily="1" charset="-122"/>
              </a:rPr>
              <a:t>2</a:t>
            </a:r>
            <a:r>
              <a:rPr lang="it-IT" altLang="en-US" b="1" i="1" dirty="0">
                <a:ea typeface="楷体_GB2312" pitchFamily="1" charset="-122"/>
              </a:rPr>
              <a:t>n</a:t>
            </a:r>
            <a:r>
              <a:rPr lang="it-IT" altLang="en-US" b="1" dirty="0">
                <a:ea typeface="楷体_GB2312" pitchFamily="1" charset="-122"/>
              </a:rPr>
              <a:t>)</a:t>
            </a:r>
            <a:endParaRPr lang="zh-CN" altLang="en-US" b="1" dirty="0">
              <a:ea typeface="楷体_GB2312" pitchFamily="1" charset="-122"/>
            </a:endParaRPr>
          </a:p>
        </p:txBody>
      </p:sp>
      <p:sp>
        <p:nvSpPr>
          <p:cNvPr id="28678" name="文本框 28677"/>
          <p:cNvSpPr txBox="1">
            <a:spLocks noChangeArrowheads="1"/>
          </p:cNvSpPr>
          <p:nvPr/>
        </p:nvSpPr>
        <p:spPr bwMode="auto">
          <a:xfrm>
            <a:off x="4211638" y="4365625"/>
            <a:ext cx="143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 dirty="0">
                <a:ea typeface="楷体_GB2312" pitchFamily="1" charset="-122"/>
              </a:rPr>
              <a:t>O(</a:t>
            </a:r>
            <a:r>
              <a:rPr lang="it-IT" altLang="en-US" sz="2800" b="1" i="1" dirty="0">
                <a:ea typeface="楷体_GB2312" pitchFamily="1" charset="-122"/>
              </a:rPr>
              <a:t>n</a:t>
            </a:r>
            <a:r>
              <a:rPr lang="it-IT" altLang="en-US" sz="2800" b="1" dirty="0">
                <a:ea typeface="楷体_GB2312" pitchFamily="1" charset="-122"/>
              </a:rPr>
              <a:t>)</a:t>
            </a:r>
            <a:endParaRPr lang="zh-CN" altLang="en-US" sz="2800" b="1" dirty="0">
              <a:ea typeface="楷体_GB2312" pitchFamily="1" charset="-122"/>
            </a:endParaRPr>
          </a:p>
        </p:txBody>
      </p:sp>
      <p:sp>
        <p:nvSpPr>
          <p:cNvPr id="28679" name="文本框 28678"/>
          <p:cNvSpPr txBox="1">
            <a:spLocks noChangeArrowheads="1"/>
          </p:cNvSpPr>
          <p:nvPr/>
        </p:nvSpPr>
        <p:spPr bwMode="auto">
          <a:xfrm>
            <a:off x="5940425" y="4365625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b="1" dirty="0">
                <a:ea typeface="楷体_GB2312" pitchFamily="1" charset="-122"/>
              </a:rPr>
              <a:t>O(</a:t>
            </a:r>
            <a:r>
              <a:rPr lang="it-IT" altLang="en-US" b="1" i="1" dirty="0">
                <a:ea typeface="楷体_GB2312" pitchFamily="1" charset="-122"/>
              </a:rPr>
              <a:t>n</a:t>
            </a:r>
            <a:r>
              <a:rPr lang="it-IT" altLang="en-US" b="1" dirty="0">
                <a:ea typeface="楷体_GB2312" pitchFamily="1" charset="-122"/>
              </a:rPr>
              <a:t>log</a:t>
            </a:r>
            <a:r>
              <a:rPr lang="it-IT" altLang="en-US" b="1" baseline="-25000" dirty="0">
                <a:ea typeface="楷体_GB2312" pitchFamily="1" charset="-122"/>
              </a:rPr>
              <a:t>2</a:t>
            </a:r>
            <a:r>
              <a:rPr lang="it-IT" altLang="en-US" b="1" i="1" dirty="0">
                <a:ea typeface="楷体_GB2312" pitchFamily="1" charset="-122"/>
              </a:rPr>
              <a:t>n</a:t>
            </a:r>
            <a:r>
              <a:rPr lang="it-IT" altLang="en-US" b="1" dirty="0">
                <a:ea typeface="楷体_GB2312" pitchFamily="1" charset="-122"/>
              </a:rPr>
              <a:t>)</a:t>
            </a:r>
            <a:endParaRPr lang="zh-CN" altLang="en-US" b="1" dirty="0">
              <a:ea typeface="楷体_GB2312" pitchFamily="1" charset="-122"/>
            </a:endParaRPr>
          </a:p>
        </p:txBody>
      </p:sp>
      <p:sp>
        <p:nvSpPr>
          <p:cNvPr id="28680" name="文本框 28679"/>
          <p:cNvSpPr txBox="1">
            <a:spLocks noChangeArrowheads="1"/>
          </p:cNvSpPr>
          <p:nvPr/>
        </p:nvSpPr>
        <p:spPr bwMode="auto">
          <a:xfrm>
            <a:off x="1403598" y="5084763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b="1" dirty="0">
                <a:ea typeface="楷体_GB2312" pitchFamily="1" charset="-122"/>
              </a:rPr>
              <a:t>O(</a:t>
            </a:r>
            <a:r>
              <a:rPr lang="it-IT" altLang="en-US" b="1" i="1" dirty="0">
                <a:ea typeface="楷体_GB2312" pitchFamily="1" charset="-122"/>
              </a:rPr>
              <a:t>n</a:t>
            </a:r>
            <a:r>
              <a:rPr lang="it-IT" altLang="en-US" b="1" baseline="30000" dirty="0">
                <a:ea typeface="楷体_GB2312" pitchFamily="1" charset="-122"/>
              </a:rPr>
              <a:t>2</a:t>
            </a:r>
            <a:r>
              <a:rPr lang="it-IT" altLang="en-US" b="1" dirty="0">
                <a:ea typeface="楷体_GB2312" pitchFamily="1" charset="-122"/>
              </a:rPr>
              <a:t>)</a:t>
            </a:r>
            <a:endParaRPr lang="zh-CN" altLang="en-US" b="1" dirty="0">
              <a:ea typeface="楷体_GB2312" pitchFamily="1" charset="-122"/>
            </a:endParaRPr>
          </a:p>
        </p:txBody>
      </p:sp>
      <p:sp>
        <p:nvSpPr>
          <p:cNvPr id="28681" name="文本框 28680"/>
          <p:cNvSpPr txBox="1">
            <a:spLocks noChangeArrowheads="1"/>
          </p:cNvSpPr>
          <p:nvPr/>
        </p:nvSpPr>
        <p:spPr bwMode="auto">
          <a:xfrm>
            <a:off x="2772023" y="5084763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b="1" dirty="0">
                <a:ea typeface="楷体_GB2312" pitchFamily="1" charset="-122"/>
              </a:rPr>
              <a:t>O(</a:t>
            </a:r>
            <a:r>
              <a:rPr lang="it-IT" altLang="en-US" b="1" i="1" dirty="0">
                <a:ea typeface="楷体_GB2312" pitchFamily="1" charset="-122"/>
              </a:rPr>
              <a:t>n</a:t>
            </a:r>
            <a:r>
              <a:rPr lang="it-IT" altLang="en-US" b="1" baseline="30000" dirty="0">
                <a:ea typeface="楷体_GB2312" pitchFamily="1" charset="-122"/>
              </a:rPr>
              <a:t>3</a:t>
            </a:r>
            <a:r>
              <a:rPr lang="it-IT" altLang="en-US" b="1" dirty="0">
                <a:ea typeface="楷体_GB2312" pitchFamily="1" charset="-122"/>
              </a:rPr>
              <a:t>)</a:t>
            </a:r>
            <a:endParaRPr lang="zh-CN" altLang="en-US" b="1" dirty="0">
              <a:ea typeface="楷体_GB2312" pitchFamily="1" charset="-122"/>
            </a:endParaRPr>
          </a:p>
        </p:txBody>
      </p:sp>
      <p:sp>
        <p:nvSpPr>
          <p:cNvPr id="28682" name="文本框 28681"/>
          <p:cNvSpPr txBox="1">
            <a:spLocks noChangeArrowheads="1"/>
          </p:cNvSpPr>
          <p:nvPr/>
        </p:nvSpPr>
        <p:spPr bwMode="auto">
          <a:xfrm>
            <a:off x="4643686" y="5084763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b="1">
                <a:ea typeface="楷体_GB2312" pitchFamily="1" charset="-122"/>
              </a:rPr>
              <a:t>O(2</a:t>
            </a:r>
            <a:r>
              <a:rPr lang="it-IT" altLang="en-US" b="1" baseline="30000">
                <a:ea typeface="楷体_GB2312" pitchFamily="1" charset="-122"/>
              </a:rPr>
              <a:t>n</a:t>
            </a:r>
            <a:r>
              <a:rPr lang="it-IT" altLang="en-US" b="1">
                <a:ea typeface="楷体_GB2312" pitchFamily="1" charset="-122"/>
              </a:rPr>
              <a:t>)</a:t>
            </a:r>
            <a:endParaRPr lang="zh-CN" altLang="en-US" b="1">
              <a:ea typeface="楷体_GB2312" pitchFamily="1" charset="-122"/>
            </a:endParaRPr>
          </a:p>
        </p:txBody>
      </p:sp>
      <p:sp>
        <p:nvSpPr>
          <p:cNvPr id="28683" name="文本框 28682"/>
          <p:cNvSpPr txBox="1">
            <a:spLocks noChangeArrowheads="1"/>
          </p:cNvSpPr>
          <p:nvPr/>
        </p:nvSpPr>
        <p:spPr bwMode="auto">
          <a:xfrm>
            <a:off x="6228011" y="5084763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b="1">
                <a:ea typeface="楷体_GB2312" pitchFamily="1" charset="-122"/>
              </a:rPr>
              <a:t>O(n!)</a:t>
            </a:r>
            <a:endParaRPr lang="zh-CN" altLang="en-US" b="1">
              <a:ea typeface="楷体_GB2312" pitchFamily="1" charset="-122"/>
            </a:endParaRPr>
          </a:p>
        </p:txBody>
      </p:sp>
      <p:sp>
        <p:nvSpPr>
          <p:cNvPr id="28684" name="矩形 28683"/>
          <p:cNvSpPr>
            <a:spLocks noChangeArrowheads="1"/>
          </p:cNvSpPr>
          <p:nvPr/>
        </p:nvSpPr>
        <p:spPr bwMode="auto">
          <a:xfrm>
            <a:off x="5291386" y="5749925"/>
            <a:ext cx="25955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1" charset="-122"/>
              </a:rPr>
              <a:t>难以实际应用</a:t>
            </a:r>
            <a:r>
              <a:rPr lang="it-IT" altLang="en-US" b="1" dirty="0">
                <a:solidFill>
                  <a:srgbClr val="FF0000"/>
                </a:solidFill>
                <a:ea typeface="楷体_GB2312" pitchFamily="1" charset="-122"/>
              </a:rPr>
              <a:t>!</a:t>
            </a:r>
            <a:endParaRPr lang="en-US" altLang="zh-CN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28685" name="矩形 28684"/>
          <p:cNvSpPr>
            <a:spLocks noChangeArrowheads="1"/>
          </p:cNvSpPr>
          <p:nvPr/>
        </p:nvSpPr>
        <p:spPr bwMode="auto">
          <a:xfrm>
            <a:off x="5004048" y="5084763"/>
            <a:ext cx="2663825" cy="64928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8686" name="文本框 28685"/>
          <p:cNvSpPr txBox="1">
            <a:spLocks noChangeArrowheads="1"/>
          </p:cNvSpPr>
          <p:nvPr/>
        </p:nvSpPr>
        <p:spPr bwMode="auto">
          <a:xfrm>
            <a:off x="1835150" y="4292600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>
                <a:solidFill>
                  <a:schemeClr val="accent2"/>
                </a:solidFill>
                <a:ea typeface="楷体_GB2312" pitchFamily="1" charset="-122"/>
              </a:rPr>
              <a:t>&lt;</a:t>
            </a:r>
            <a:endParaRPr lang="zh-CN" altLang="en-US" sz="2800" b="1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28687" name="文本框 28686"/>
          <p:cNvSpPr txBox="1">
            <a:spLocks noChangeArrowheads="1"/>
          </p:cNvSpPr>
          <p:nvPr/>
        </p:nvSpPr>
        <p:spPr bwMode="auto">
          <a:xfrm>
            <a:off x="3779837" y="4381500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>
                <a:solidFill>
                  <a:schemeClr val="accent2"/>
                </a:solidFill>
                <a:ea typeface="楷体_GB2312" pitchFamily="1" charset="-122"/>
              </a:rPr>
              <a:t>&lt;</a:t>
            </a:r>
            <a:endParaRPr lang="zh-CN" altLang="en-US" sz="2800" b="1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28688" name="文本框 28687"/>
          <p:cNvSpPr txBox="1">
            <a:spLocks noChangeArrowheads="1"/>
          </p:cNvSpPr>
          <p:nvPr/>
        </p:nvSpPr>
        <p:spPr bwMode="auto">
          <a:xfrm>
            <a:off x="5364163" y="4365625"/>
            <a:ext cx="143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>
                <a:solidFill>
                  <a:schemeClr val="accent2"/>
                </a:solidFill>
                <a:ea typeface="楷体_GB2312" pitchFamily="1" charset="-122"/>
              </a:rPr>
              <a:t>&lt;</a:t>
            </a:r>
            <a:endParaRPr lang="zh-CN" altLang="en-US" sz="2800" b="1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28689" name="文本框 28688"/>
          <p:cNvSpPr txBox="1">
            <a:spLocks noChangeArrowheads="1"/>
          </p:cNvSpPr>
          <p:nvPr/>
        </p:nvSpPr>
        <p:spPr bwMode="auto">
          <a:xfrm>
            <a:off x="1043608" y="5070128"/>
            <a:ext cx="93615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 dirty="0">
                <a:solidFill>
                  <a:schemeClr val="accent2"/>
                </a:solidFill>
                <a:ea typeface="楷体_GB2312" pitchFamily="1" charset="-122"/>
              </a:rPr>
              <a:t>&lt;</a:t>
            </a:r>
            <a:endParaRPr lang="zh-CN" altLang="en-US" sz="2800" b="1" dirty="0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28690" name="文本框 28689"/>
          <p:cNvSpPr txBox="1">
            <a:spLocks noChangeArrowheads="1"/>
          </p:cNvSpPr>
          <p:nvPr/>
        </p:nvSpPr>
        <p:spPr bwMode="auto">
          <a:xfrm>
            <a:off x="2339752" y="5053807"/>
            <a:ext cx="43179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 dirty="0">
                <a:solidFill>
                  <a:schemeClr val="accent2"/>
                </a:solidFill>
                <a:ea typeface="楷体_GB2312" pitchFamily="1" charset="-122"/>
              </a:rPr>
              <a:t>&lt;</a:t>
            </a:r>
            <a:endParaRPr lang="zh-CN" altLang="en-US" sz="2800" b="1" dirty="0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28691" name="文本框 28690"/>
          <p:cNvSpPr txBox="1">
            <a:spLocks noChangeArrowheads="1"/>
          </p:cNvSpPr>
          <p:nvPr/>
        </p:nvSpPr>
        <p:spPr bwMode="auto">
          <a:xfrm>
            <a:off x="3779912" y="5084763"/>
            <a:ext cx="865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 dirty="0">
                <a:solidFill>
                  <a:schemeClr val="accent2"/>
                </a:solidFill>
                <a:ea typeface="楷体_GB2312" pitchFamily="1" charset="-122"/>
              </a:rPr>
              <a:t>&lt;</a:t>
            </a:r>
            <a:endParaRPr lang="zh-CN" altLang="en-US" sz="2800" b="1" dirty="0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28692" name="文本框 28691"/>
          <p:cNvSpPr txBox="1">
            <a:spLocks noChangeArrowheads="1"/>
          </p:cNvSpPr>
          <p:nvPr/>
        </p:nvSpPr>
        <p:spPr bwMode="auto">
          <a:xfrm>
            <a:off x="5651748" y="5084763"/>
            <a:ext cx="1439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it-IT" altLang="en-US" sz="2800" b="1">
                <a:solidFill>
                  <a:schemeClr val="accent2"/>
                </a:solidFill>
                <a:ea typeface="楷体_GB2312" pitchFamily="1" charset="-122"/>
              </a:rPr>
              <a:t>&lt;</a:t>
            </a:r>
            <a:endParaRPr lang="zh-CN" altLang="en-US" sz="2800" b="1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30741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8E1440D-8F60-46C5-B716-E292FF9F3E3E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23" name="组合 109"/>
          <p:cNvGrpSpPr/>
          <p:nvPr/>
        </p:nvGrpSpPr>
        <p:grpSpPr>
          <a:xfrm>
            <a:off x="-468560" y="116632"/>
            <a:ext cx="6542686" cy="651944"/>
            <a:chOff x="-32868" y="4599564"/>
            <a:chExt cx="6542686" cy="651944"/>
          </a:xfrm>
        </p:grpSpPr>
        <p:sp>
          <p:nvSpPr>
            <p:cNvPr id="24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25" name="图片 24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26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1.4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算法分析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  <p:bldP spid="28676" grpId="0"/>
      <p:bldP spid="28677" grpId="0"/>
      <p:bldP spid="28680" grpId="0"/>
      <p:bldP spid="28681" grpId="0"/>
      <p:bldP spid="28682" grpId="0"/>
      <p:bldP spid="28683" grpId="0"/>
      <p:bldP spid="28684" grpId="0"/>
      <p:bldP spid="28684" grpId="1"/>
      <p:bldP spid="28686" grpId="0"/>
      <p:bldP spid="28688" grpId="0"/>
      <p:bldP spid="28689" grpId="0"/>
      <p:bldP spid="28690" grpId="0"/>
      <p:bldP spid="28691" grpId="0"/>
      <p:bldP spid="2869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内容占位符 29698"/>
          <p:cNvSpPr>
            <a:spLocks noGrp="1" noChangeArrowheads="1"/>
          </p:cNvSpPr>
          <p:nvPr>
            <p:ph idx="1"/>
          </p:nvPr>
        </p:nvSpPr>
        <p:spPr>
          <a:xfrm>
            <a:off x="539750" y="1052736"/>
            <a:ext cx="7993063" cy="5255989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800" b="1" dirty="0" smtClean="0"/>
              <a:t>例：求解以下程序段的时间复杂度：</a:t>
            </a:r>
            <a:endParaRPr lang="zh-CN" altLang="en-US" sz="28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sz="2200" b="1" dirty="0" smtClean="0"/>
              <a:t>        for</a:t>
            </a:r>
            <a:r>
              <a:rPr lang="zh-CN" altLang="en-US" sz="2200" b="1" dirty="0" smtClean="0"/>
              <a:t>（</a:t>
            </a:r>
            <a:r>
              <a:rPr lang="it-IT" altLang="en-US" sz="2200" b="1" i="1" dirty="0" smtClean="0"/>
              <a:t>i</a:t>
            </a:r>
            <a:r>
              <a:rPr lang="it-IT" altLang="en-US" sz="2200" b="1" dirty="0" smtClean="0"/>
              <a:t>=1; </a:t>
            </a:r>
            <a:r>
              <a:rPr lang="it-IT" altLang="en-US" sz="2200" b="1" i="1" dirty="0" smtClean="0"/>
              <a:t>i</a:t>
            </a:r>
            <a:r>
              <a:rPr lang="it-IT" altLang="en-US" sz="2200" b="1" dirty="0" smtClean="0"/>
              <a:t>&lt;=</a:t>
            </a:r>
            <a:r>
              <a:rPr lang="it-IT" altLang="en-US" sz="2200" b="1" i="1" dirty="0" smtClean="0"/>
              <a:t>n</a:t>
            </a:r>
            <a:r>
              <a:rPr lang="it-IT" altLang="en-US" sz="2200" b="1" dirty="0" smtClean="0"/>
              <a:t>; </a:t>
            </a:r>
            <a:r>
              <a:rPr lang="it-IT" altLang="en-US" sz="2200" b="1" i="1" dirty="0" smtClean="0"/>
              <a:t>i</a:t>
            </a:r>
            <a:r>
              <a:rPr lang="it-IT" altLang="en-US" sz="2200" b="1" dirty="0" smtClean="0"/>
              <a:t>++</a:t>
            </a:r>
            <a:r>
              <a:rPr lang="zh-CN" altLang="en-US" sz="2200" b="1" dirty="0" smtClean="0"/>
              <a:t>）</a:t>
            </a:r>
            <a:r>
              <a:rPr lang="it-IT" altLang="en-US" sz="2200" b="1" i="1" dirty="0" smtClean="0"/>
              <a:t>x</a:t>
            </a:r>
            <a:r>
              <a:rPr lang="it-IT" altLang="en-US" sz="2200" b="1" dirty="0" smtClean="0"/>
              <a:t>=</a:t>
            </a:r>
            <a:r>
              <a:rPr lang="it-IT" altLang="en-US" sz="2200" b="1" i="1" dirty="0" smtClean="0"/>
              <a:t>x</a:t>
            </a:r>
            <a:r>
              <a:rPr lang="it-IT" altLang="en-US" sz="2200" b="1" dirty="0" smtClean="0"/>
              <a:t>+1; </a:t>
            </a:r>
            <a:endParaRPr lang="it-IT" altLang="en-US" sz="22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sz="2200" b="1" dirty="0" smtClean="0"/>
              <a:t>        </a:t>
            </a:r>
            <a:r>
              <a:rPr lang="zh-CN" altLang="en-US" sz="2200" b="1" dirty="0" smtClean="0"/>
              <a:t>该语句的流程图如下</a:t>
            </a:r>
            <a:r>
              <a:rPr lang="it-IT" altLang="en-US" sz="2200" b="1" dirty="0" smtClean="0"/>
              <a:t>:</a:t>
            </a:r>
            <a:endParaRPr lang="it-IT" altLang="en-US" sz="22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sz="2200" dirty="0" smtClean="0"/>
              <a:t>                                                                               </a:t>
            </a:r>
            <a:endParaRPr lang="it-IT" altLang="en-US" sz="22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en-US" sz="22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en-US" sz="22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en-US" sz="22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en-US" sz="22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/>
              <a:t>          </a:t>
            </a:r>
            <a:r>
              <a:rPr lang="zh-CN" altLang="en-US" sz="1800" b="1" dirty="0" smtClean="0"/>
              <a:t>由此可知，数量级为：</a:t>
            </a:r>
            <a:r>
              <a:rPr lang="en-US" altLang="zh-CN" sz="1800" b="1" dirty="0" err="1" smtClean="0"/>
              <a:t>lim</a:t>
            </a:r>
            <a:r>
              <a:rPr lang="en-US" altLang="zh-CN" sz="1800" b="1" dirty="0" smtClean="0"/>
              <a:t> f(</a:t>
            </a:r>
            <a:r>
              <a:rPr lang="en-US" altLang="zh-CN" sz="1800" b="1" i="1" dirty="0" smtClean="0"/>
              <a:t>n</a:t>
            </a:r>
            <a:r>
              <a:rPr lang="en-US" altLang="zh-CN" sz="1800" b="1" dirty="0" smtClean="0"/>
              <a:t>)/g(</a:t>
            </a:r>
            <a:r>
              <a:rPr lang="en-US" altLang="zh-CN" sz="1800" b="1" i="1" dirty="0" smtClean="0"/>
              <a:t>n</a:t>
            </a:r>
            <a:r>
              <a:rPr lang="en-US" altLang="zh-CN" sz="1800" b="1" dirty="0" smtClean="0"/>
              <a:t>)= </a:t>
            </a:r>
            <a:r>
              <a:rPr lang="en-US" altLang="zh-CN" sz="1800" b="1" dirty="0" err="1" smtClean="0"/>
              <a:t>lim</a:t>
            </a:r>
            <a:r>
              <a:rPr lang="en-US" altLang="zh-CN" sz="1800" b="1" dirty="0" smtClean="0"/>
              <a:t> (3</a:t>
            </a:r>
            <a:r>
              <a:rPr lang="en-US" altLang="zh-CN" sz="1800" b="1" i="1" dirty="0" smtClean="0"/>
              <a:t>n</a:t>
            </a:r>
            <a:r>
              <a:rPr lang="en-US" altLang="zh-CN" sz="1800" b="1" dirty="0" smtClean="0"/>
              <a:t>+2)/</a:t>
            </a:r>
            <a:r>
              <a:rPr lang="en-US" altLang="zh-CN" sz="1800" b="1" i="1" dirty="0" smtClean="0"/>
              <a:t>n</a:t>
            </a:r>
            <a:r>
              <a:rPr lang="en-US" altLang="zh-CN" sz="1800" b="1" dirty="0" smtClean="0"/>
              <a:t> = 3</a:t>
            </a:r>
            <a:r>
              <a:rPr lang="zh-CN" altLang="en-US" sz="1800" b="1" dirty="0" smtClean="0"/>
              <a:t>，</a:t>
            </a:r>
            <a:endParaRPr lang="zh-CN" altLang="en-US" sz="18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b="1" dirty="0" smtClean="0"/>
              <a:t>         相应的时间复杂度为为</a:t>
            </a:r>
            <a:r>
              <a:rPr lang="en-US" altLang="zh-CN" sz="1800" b="1" dirty="0" smtClean="0"/>
              <a:t>O (</a:t>
            </a:r>
            <a:r>
              <a:rPr lang="en-US" altLang="zh-CN" sz="1800" b="1" i="1" dirty="0" smtClean="0"/>
              <a:t>n</a:t>
            </a:r>
            <a:r>
              <a:rPr lang="en-US" altLang="zh-CN" sz="1800" b="1" dirty="0" smtClean="0"/>
              <a:t>)</a:t>
            </a:r>
            <a:endParaRPr lang="zh-CN" altLang="en-US" sz="2200" b="1" dirty="0" smtClean="0"/>
          </a:p>
        </p:txBody>
      </p:sp>
      <p:sp>
        <p:nvSpPr>
          <p:cNvPr id="29700" name="矩形 29699"/>
          <p:cNvSpPr>
            <a:spLocks noChangeArrowheads="1"/>
          </p:cNvSpPr>
          <p:nvPr/>
        </p:nvSpPr>
        <p:spPr bwMode="auto">
          <a:xfrm>
            <a:off x="5580063" y="2276475"/>
            <a:ext cx="16573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b="1">
                <a:latin typeface="Arial" panose="020B0604020202020204" pitchFamily="34" charset="0"/>
              </a:rPr>
              <a:t>语句执行次数</a:t>
            </a:r>
            <a:r>
              <a:rPr lang="zh-CN" altLang="en-US" sz="1800">
                <a:latin typeface="Arial" panose="020B0604020202020204" pitchFamily="34" charset="0"/>
              </a:rPr>
              <a:t> 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6085" name="矩形 29700"/>
          <p:cNvSpPr>
            <a:spLocks noChangeAspect="1" noChangeArrowheads="1"/>
          </p:cNvSpPr>
          <p:nvPr/>
        </p:nvSpPr>
        <p:spPr bwMode="auto">
          <a:xfrm>
            <a:off x="1116013" y="2492375"/>
            <a:ext cx="3529012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9702" name="流程图: 决策 29701"/>
          <p:cNvSpPr>
            <a:spLocks noChangeArrowheads="1"/>
          </p:cNvSpPr>
          <p:nvPr/>
        </p:nvSpPr>
        <p:spPr bwMode="auto">
          <a:xfrm>
            <a:off x="1704975" y="3525838"/>
            <a:ext cx="1960563" cy="44132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800" b="1" dirty="0"/>
              <a:t>    </a:t>
            </a:r>
            <a:r>
              <a:rPr lang="en-US" altLang="zh-CN" sz="1800" b="1" i="1" dirty="0"/>
              <a:t> </a:t>
            </a:r>
            <a:r>
              <a:rPr lang="en-US" altLang="zh-CN" sz="1800" b="1" i="1" dirty="0" err="1"/>
              <a:t>i</a:t>
            </a:r>
            <a:r>
              <a:rPr lang="en-US" altLang="zh-CN" sz="1800" b="1" dirty="0"/>
              <a:t> &lt;= n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29703" name="直接连接符 29702"/>
          <p:cNvSpPr>
            <a:spLocks noChangeShapeType="1"/>
          </p:cNvSpPr>
          <p:nvPr/>
        </p:nvSpPr>
        <p:spPr bwMode="auto">
          <a:xfrm>
            <a:off x="2684463" y="3082925"/>
            <a:ext cx="1587" cy="441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直接连接符 29703"/>
          <p:cNvSpPr>
            <a:spLocks noChangeShapeType="1"/>
          </p:cNvSpPr>
          <p:nvPr/>
        </p:nvSpPr>
        <p:spPr bwMode="auto">
          <a:xfrm>
            <a:off x="2684463" y="3967163"/>
            <a:ext cx="1587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5" name="直接连接符 29704"/>
          <p:cNvSpPr>
            <a:spLocks noChangeShapeType="1"/>
          </p:cNvSpPr>
          <p:nvPr/>
        </p:nvSpPr>
        <p:spPr bwMode="auto">
          <a:xfrm>
            <a:off x="2684463" y="5146675"/>
            <a:ext cx="1587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6" name="直接连接符 29705"/>
          <p:cNvSpPr>
            <a:spLocks noChangeShapeType="1"/>
          </p:cNvSpPr>
          <p:nvPr/>
        </p:nvSpPr>
        <p:spPr bwMode="auto">
          <a:xfrm flipH="1">
            <a:off x="1508125" y="5441950"/>
            <a:ext cx="1176338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7" name="直接连接符 29706"/>
          <p:cNvSpPr>
            <a:spLocks noChangeShapeType="1"/>
          </p:cNvSpPr>
          <p:nvPr/>
        </p:nvSpPr>
        <p:spPr bwMode="auto">
          <a:xfrm>
            <a:off x="1508125" y="3230563"/>
            <a:ext cx="1588" cy="22113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8" name="直接连接符 29707"/>
          <p:cNvSpPr>
            <a:spLocks noChangeShapeType="1"/>
          </p:cNvSpPr>
          <p:nvPr/>
        </p:nvSpPr>
        <p:spPr bwMode="auto">
          <a:xfrm>
            <a:off x="1508125" y="3230563"/>
            <a:ext cx="1176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9" name="直接连接符 29708"/>
          <p:cNvSpPr>
            <a:spLocks noChangeShapeType="1"/>
          </p:cNvSpPr>
          <p:nvPr/>
        </p:nvSpPr>
        <p:spPr bwMode="auto">
          <a:xfrm>
            <a:off x="3563938" y="3716338"/>
            <a:ext cx="5873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0" name="矩形 29709"/>
          <p:cNvSpPr>
            <a:spLocks noChangeArrowheads="1"/>
          </p:cNvSpPr>
          <p:nvPr/>
        </p:nvSpPr>
        <p:spPr bwMode="auto">
          <a:xfrm>
            <a:off x="3665538" y="3376613"/>
            <a:ext cx="195262" cy="274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800" i="1" dirty="0"/>
              <a:t>N</a:t>
            </a:r>
            <a:endParaRPr lang="en-US" altLang="zh-CN" sz="1800" i="1" dirty="0">
              <a:latin typeface="Arial" panose="020B0604020202020204" pitchFamily="34" charset="0"/>
            </a:endParaRPr>
          </a:p>
        </p:txBody>
      </p:sp>
      <p:sp>
        <p:nvSpPr>
          <p:cNvPr id="29711" name="矩形 29710"/>
          <p:cNvSpPr>
            <a:spLocks noChangeArrowheads="1"/>
          </p:cNvSpPr>
          <p:nvPr/>
        </p:nvSpPr>
        <p:spPr bwMode="auto">
          <a:xfrm>
            <a:off x="2881313" y="3967163"/>
            <a:ext cx="392112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800" b="1"/>
              <a:t>Y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29712" name="流程图: 过程 29711"/>
          <p:cNvSpPr>
            <a:spLocks noChangeArrowheads="1"/>
          </p:cNvSpPr>
          <p:nvPr/>
        </p:nvSpPr>
        <p:spPr bwMode="auto">
          <a:xfrm>
            <a:off x="1900238" y="2787650"/>
            <a:ext cx="1568450" cy="29527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 b="1" i="1" dirty="0" err="1"/>
              <a:t>i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；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29713" name="直接连接符 29712"/>
          <p:cNvSpPr>
            <a:spLocks noChangeShapeType="1"/>
          </p:cNvSpPr>
          <p:nvPr/>
        </p:nvSpPr>
        <p:spPr bwMode="auto">
          <a:xfrm>
            <a:off x="2684463" y="2492375"/>
            <a:ext cx="1587" cy="295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4" name="直接连接符 29713"/>
          <p:cNvSpPr>
            <a:spLocks noChangeShapeType="1"/>
          </p:cNvSpPr>
          <p:nvPr/>
        </p:nvSpPr>
        <p:spPr bwMode="auto">
          <a:xfrm>
            <a:off x="2684463" y="4557713"/>
            <a:ext cx="1587" cy="293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15" name="流程图: 过程 29714"/>
          <p:cNvSpPr>
            <a:spLocks noChangeArrowheads="1"/>
          </p:cNvSpPr>
          <p:nvPr/>
        </p:nvSpPr>
        <p:spPr bwMode="auto">
          <a:xfrm>
            <a:off x="1900238" y="4262438"/>
            <a:ext cx="1568450" cy="29527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 b="1" i="1" dirty="0"/>
              <a:t>x</a:t>
            </a:r>
            <a:r>
              <a:rPr lang="en-US" altLang="zh-CN" sz="1800" b="1" dirty="0"/>
              <a:t>=</a:t>
            </a:r>
            <a:r>
              <a:rPr lang="en-US" altLang="zh-CN" sz="1800" b="1" i="1" dirty="0"/>
              <a:t>x</a:t>
            </a:r>
            <a:r>
              <a:rPr lang="en-US" altLang="zh-CN" sz="1800" b="1" dirty="0"/>
              <a:t>+1</a:t>
            </a:r>
            <a:r>
              <a:rPr lang="zh-CN" altLang="en-US" sz="1800" b="1" dirty="0"/>
              <a:t>；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29716" name="流程图: 过程 29715"/>
          <p:cNvSpPr>
            <a:spLocks noChangeArrowheads="1"/>
          </p:cNvSpPr>
          <p:nvPr/>
        </p:nvSpPr>
        <p:spPr bwMode="auto">
          <a:xfrm>
            <a:off x="1900238" y="4851400"/>
            <a:ext cx="1568450" cy="29527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0" tIns="0" rIns="0" bIns="0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 b="1" i="1" dirty="0" err="1"/>
              <a:t>i</a:t>
            </a:r>
            <a:r>
              <a:rPr lang="en-US" altLang="zh-CN" sz="1800" b="1" dirty="0"/>
              <a:t>++</a:t>
            </a:r>
            <a:r>
              <a:rPr lang="zh-CN" altLang="en-US" sz="1800" b="1" dirty="0"/>
              <a:t>；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grpSp>
        <p:nvGrpSpPr>
          <p:cNvPr id="29717" name="组合 29716"/>
          <p:cNvGrpSpPr/>
          <p:nvPr/>
        </p:nvGrpSpPr>
        <p:grpSpPr bwMode="auto">
          <a:xfrm>
            <a:off x="4500563" y="2852738"/>
            <a:ext cx="2159000" cy="288925"/>
            <a:chOff x="0" y="0"/>
            <a:chExt cx="1360" cy="182"/>
          </a:xfrm>
        </p:grpSpPr>
        <p:sp>
          <p:nvSpPr>
            <p:cNvPr id="46116" name="直接连接符 29717"/>
            <p:cNvSpPr>
              <a:spLocks noChangeShapeType="1"/>
            </p:cNvSpPr>
            <p:nvPr/>
          </p:nvSpPr>
          <p:spPr bwMode="auto">
            <a:xfrm>
              <a:off x="0" y="91"/>
              <a:ext cx="68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矩形 29718"/>
            <p:cNvSpPr>
              <a:spLocks noChangeArrowheads="1"/>
            </p:cNvSpPr>
            <p:nvPr/>
          </p:nvSpPr>
          <p:spPr bwMode="auto">
            <a:xfrm>
              <a:off x="861" y="0"/>
              <a:ext cx="49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>
                  <a:latin typeface="Arial" panose="020B0604020202020204" pitchFamily="34" charset="0"/>
                </a:rPr>
                <a:t> </a:t>
              </a:r>
              <a:r>
                <a:rPr lang="en-US" altLang="zh-CN" sz="1600">
                  <a:latin typeface="Arial" panose="020B0604020202020204" pitchFamily="34" charset="0"/>
                </a:rPr>
                <a:t>1</a:t>
              </a:r>
              <a:r>
                <a:rPr lang="zh-CN" altLang="en-US" sz="1600">
                  <a:latin typeface="Arial" panose="020B0604020202020204" pitchFamily="34" charset="0"/>
                </a:rPr>
                <a:t>次 </a:t>
              </a:r>
              <a:endParaRPr lang="zh-CN" altLang="en-US" sz="1600">
                <a:latin typeface="Arial" panose="020B0604020202020204" pitchFamily="34" charset="0"/>
              </a:endParaRPr>
            </a:p>
          </p:txBody>
        </p:sp>
      </p:grpSp>
      <p:grpSp>
        <p:nvGrpSpPr>
          <p:cNvPr id="29720" name="组合 29719"/>
          <p:cNvGrpSpPr/>
          <p:nvPr/>
        </p:nvGrpSpPr>
        <p:grpSpPr bwMode="auto">
          <a:xfrm>
            <a:off x="4500563" y="3571875"/>
            <a:ext cx="2232025" cy="288925"/>
            <a:chOff x="0" y="0"/>
            <a:chExt cx="1406" cy="182"/>
          </a:xfrm>
        </p:grpSpPr>
        <p:sp>
          <p:nvSpPr>
            <p:cNvPr id="46114" name="直接连接符 29720"/>
            <p:cNvSpPr>
              <a:spLocks noChangeShapeType="1"/>
            </p:cNvSpPr>
            <p:nvPr/>
          </p:nvSpPr>
          <p:spPr bwMode="auto">
            <a:xfrm>
              <a:off x="0" y="91"/>
              <a:ext cx="68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矩形 29721"/>
            <p:cNvSpPr>
              <a:spLocks noChangeArrowheads="1"/>
            </p:cNvSpPr>
            <p:nvPr/>
          </p:nvSpPr>
          <p:spPr bwMode="auto">
            <a:xfrm>
              <a:off x="907" y="0"/>
              <a:ext cx="49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dirty="0">
                  <a:latin typeface="Arial" panose="020B0604020202020204" pitchFamily="34" charset="0"/>
                </a:rPr>
                <a:t> </a:t>
              </a:r>
              <a:r>
                <a:rPr lang="en-US" altLang="zh-CN" sz="1600" i="1" dirty="0">
                  <a:cs typeface="Times New Roman" panose="02020603050405020304" pitchFamily="18" charset="0"/>
                </a:rPr>
                <a:t>n</a:t>
              </a:r>
              <a:r>
                <a:rPr lang="en-US" altLang="zh-CN" sz="1600" dirty="0">
                  <a:latin typeface="Arial" panose="020B0604020202020204" pitchFamily="34" charset="0"/>
                </a:rPr>
                <a:t>+1</a:t>
              </a:r>
              <a:r>
                <a:rPr lang="zh-CN" altLang="en-US" sz="1600" dirty="0">
                  <a:latin typeface="Arial" panose="020B0604020202020204" pitchFamily="34" charset="0"/>
                </a:rPr>
                <a:t>次 </a:t>
              </a:r>
              <a:endParaRPr lang="zh-CN" altLang="en-US" sz="16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9723" name="组合 29722"/>
          <p:cNvGrpSpPr/>
          <p:nvPr/>
        </p:nvGrpSpPr>
        <p:grpSpPr bwMode="auto">
          <a:xfrm>
            <a:off x="4500563" y="4364038"/>
            <a:ext cx="2232025" cy="288925"/>
            <a:chOff x="0" y="0"/>
            <a:chExt cx="1406" cy="182"/>
          </a:xfrm>
        </p:grpSpPr>
        <p:sp>
          <p:nvSpPr>
            <p:cNvPr id="46112" name="直接连接符 29723"/>
            <p:cNvSpPr>
              <a:spLocks noChangeShapeType="1"/>
            </p:cNvSpPr>
            <p:nvPr/>
          </p:nvSpPr>
          <p:spPr bwMode="auto">
            <a:xfrm>
              <a:off x="0" y="91"/>
              <a:ext cx="68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3" name="矩形 29724"/>
            <p:cNvSpPr>
              <a:spLocks noChangeArrowheads="1"/>
            </p:cNvSpPr>
            <p:nvPr/>
          </p:nvSpPr>
          <p:spPr bwMode="auto">
            <a:xfrm>
              <a:off x="907" y="0"/>
              <a:ext cx="49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dirty="0">
                  <a:latin typeface="Arial" panose="020B0604020202020204" pitchFamily="34" charset="0"/>
                </a:rPr>
                <a:t> </a:t>
              </a:r>
              <a:r>
                <a:rPr lang="en-US" altLang="zh-CN" sz="1600" i="1" dirty="0">
                  <a:cs typeface="Times New Roman" panose="02020603050405020304" pitchFamily="18" charset="0"/>
                </a:rPr>
                <a:t>n</a:t>
              </a:r>
              <a:r>
                <a:rPr lang="zh-CN" altLang="en-US" sz="1600" dirty="0" smtClean="0">
                  <a:latin typeface="Arial" panose="020B0604020202020204" pitchFamily="34" charset="0"/>
                </a:rPr>
                <a:t>次 </a:t>
              </a:r>
              <a:endParaRPr lang="zh-CN" altLang="en-US" sz="16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9726" name="组合 29725"/>
          <p:cNvGrpSpPr/>
          <p:nvPr/>
        </p:nvGrpSpPr>
        <p:grpSpPr bwMode="auto">
          <a:xfrm>
            <a:off x="4500563" y="5013325"/>
            <a:ext cx="2232025" cy="288925"/>
            <a:chOff x="0" y="0"/>
            <a:chExt cx="1406" cy="182"/>
          </a:xfrm>
        </p:grpSpPr>
        <p:sp>
          <p:nvSpPr>
            <p:cNvPr id="46110" name="直接连接符 29726"/>
            <p:cNvSpPr>
              <a:spLocks noChangeShapeType="1"/>
            </p:cNvSpPr>
            <p:nvPr/>
          </p:nvSpPr>
          <p:spPr bwMode="auto">
            <a:xfrm>
              <a:off x="0" y="45"/>
              <a:ext cx="68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1" name="矩形 29727"/>
            <p:cNvSpPr>
              <a:spLocks noChangeArrowheads="1"/>
            </p:cNvSpPr>
            <p:nvPr/>
          </p:nvSpPr>
          <p:spPr bwMode="auto">
            <a:xfrm>
              <a:off x="907" y="0"/>
              <a:ext cx="49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dirty="0">
                  <a:latin typeface="Arial" panose="020B0604020202020204" pitchFamily="34" charset="0"/>
                </a:rPr>
                <a:t> </a:t>
              </a:r>
              <a:r>
                <a:rPr lang="en-US" altLang="zh-CN" sz="1800" i="1" dirty="0">
                  <a:cs typeface="Times New Roman" panose="02020603050405020304" pitchFamily="18" charset="0"/>
                </a:rPr>
                <a:t>n</a:t>
              </a:r>
              <a:r>
                <a:rPr lang="zh-CN" altLang="en-US" sz="1800" dirty="0" smtClean="0">
                  <a:latin typeface="Arial" panose="020B0604020202020204" pitchFamily="34" charset="0"/>
                </a:rPr>
                <a:t>次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29729" name="矩形 29728"/>
          <p:cNvSpPr>
            <a:spLocks noChangeArrowheads="1"/>
          </p:cNvSpPr>
          <p:nvPr/>
        </p:nvSpPr>
        <p:spPr bwMode="auto">
          <a:xfrm>
            <a:off x="7092950" y="5227638"/>
            <a:ext cx="1223963" cy="2889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600" dirty="0">
                <a:latin typeface="Arial" panose="020B0604020202020204" pitchFamily="34" charset="0"/>
              </a:rPr>
              <a:t>共：</a:t>
            </a:r>
            <a:r>
              <a:rPr lang="en-US" altLang="zh-CN" sz="1600" dirty="0">
                <a:latin typeface="Arial" panose="020B0604020202020204" pitchFamily="34" charset="0"/>
              </a:rPr>
              <a:t>3</a:t>
            </a:r>
            <a:r>
              <a:rPr lang="en-US" altLang="zh-CN" sz="1600" i="1" dirty="0">
                <a:latin typeface="Arial" panose="020B0604020202020204" pitchFamily="34" charset="0"/>
              </a:rPr>
              <a:t>n</a:t>
            </a:r>
            <a:r>
              <a:rPr lang="en-US" altLang="zh-CN" sz="1600" dirty="0">
                <a:latin typeface="Arial" panose="020B0604020202020204" pitchFamily="34" charset="0"/>
              </a:rPr>
              <a:t>+2</a:t>
            </a:r>
            <a:r>
              <a:rPr lang="zh-CN" altLang="en-US" sz="1600" dirty="0">
                <a:latin typeface="Arial" panose="020B0604020202020204" pitchFamily="34" charset="0"/>
              </a:rPr>
              <a:t>次</a:t>
            </a:r>
            <a:endParaRPr lang="zh-CN" altLang="en-US" sz="1600" dirty="0">
              <a:latin typeface="Arial" panose="020B0604020202020204" pitchFamily="34" charset="0"/>
            </a:endParaRPr>
          </a:p>
        </p:txBody>
      </p:sp>
      <p:sp>
        <p:nvSpPr>
          <p:cNvPr id="29730" name="椭圆 29729"/>
          <p:cNvSpPr>
            <a:spLocks noChangeArrowheads="1"/>
          </p:cNvSpPr>
          <p:nvPr/>
        </p:nvSpPr>
        <p:spPr bwMode="auto">
          <a:xfrm>
            <a:off x="2484438" y="2276475"/>
            <a:ext cx="358775" cy="21590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29731" name="椭圆 29730"/>
          <p:cNvSpPr>
            <a:spLocks noChangeArrowheads="1"/>
          </p:cNvSpPr>
          <p:nvPr/>
        </p:nvSpPr>
        <p:spPr bwMode="auto">
          <a:xfrm>
            <a:off x="4140200" y="3644900"/>
            <a:ext cx="358775" cy="21590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31780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513DA06-59E3-4385-9EB2-58E21D89F45E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38" name="组合 109"/>
          <p:cNvGrpSpPr/>
          <p:nvPr/>
        </p:nvGrpSpPr>
        <p:grpSpPr>
          <a:xfrm>
            <a:off x="-468560" y="116632"/>
            <a:ext cx="6542686" cy="651944"/>
            <a:chOff x="-32868" y="4599564"/>
            <a:chExt cx="6542686" cy="651944"/>
          </a:xfrm>
        </p:grpSpPr>
        <p:sp>
          <p:nvSpPr>
            <p:cNvPr id="39" name="Freeform 5"/>
            <p:cNvSpPr/>
            <p:nvPr/>
          </p:nvSpPr>
          <p:spPr bwMode="auto">
            <a:xfrm>
              <a:off x="956926" y="4600871"/>
              <a:ext cx="804761" cy="650637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rgbClr val="0070C0"/>
            </a:solidFill>
            <a:ln w="9525" cap="flat">
              <a:noFill/>
              <a:prstDash val="solid"/>
              <a:miter lim="800000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68564" tIns="34282" rIns="68564" bIns="34282" numCol="1" anchor="t" anchorCtr="0" compatLnSpc="1"/>
            <a:lstStyle/>
            <a:p>
              <a:endParaRPr lang="zh-CN" altLang="en-US" b="1" dirty="0">
                <a:ea typeface="微软雅黑" panose="020B0503020204020204" pitchFamily="34" charset="-122"/>
              </a:endParaRPr>
            </a:p>
          </p:txBody>
        </p:sp>
        <p:pic>
          <p:nvPicPr>
            <p:cNvPr id="40" name="图片 39" descr="u=714968970,2342735455&amp;fm=27&amp;gp=0.jpg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57681" y="4740897"/>
              <a:ext cx="436227" cy="409944"/>
            </a:xfrm>
            <a:prstGeom prst="rect">
              <a:avLst/>
            </a:prstGeom>
          </p:spPr>
        </p:pic>
        <p:sp>
          <p:nvSpPr>
            <p:cNvPr id="41" name="TextBox 6"/>
            <p:cNvSpPr txBox="1">
              <a:spLocks noChangeArrowheads="1"/>
            </p:cNvSpPr>
            <p:nvPr/>
          </p:nvSpPr>
          <p:spPr bwMode="auto">
            <a:xfrm>
              <a:off x="-32868" y="4599564"/>
              <a:ext cx="6542686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1.4</a:t>
              </a:r>
              <a:r>
                <a:rPr lang="en-US" altLang="zh-CN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36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算法分析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96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96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/>
      <p:bldP spid="29700" grpId="0" uiExpand="1"/>
      <p:bldP spid="29702" grpId="0" animBg="1"/>
      <p:bldP spid="29710" grpId="0" animBg="1"/>
      <p:bldP spid="29711" grpId="0" animBg="1"/>
      <p:bldP spid="29712" grpId="0" animBg="1"/>
      <p:bldP spid="29715" grpId="0" animBg="1"/>
      <p:bldP spid="29716" grpId="0" animBg="1"/>
      <p:bldP spid="297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107"/>
          <p:cNvGrpSpPr/>
          <p:nvPr/>
        </p:nvGrpSpPr>
        <p:grpSpPr>
          <a:xfrm>
            <a:off x="543012" y="93590"/>
            <a:ext cx="4087592" cy="684275"/>
            <a:chOff x="939802" y="5062184"/>
            <a:chExt cx="4087592" cy="684275"/>
          </a:xfrm>
        </p:grpSpPr>
        <p:grpSp>
          <p:nvGrpSpPr>
            <p:cNvPr id="5" name="组合 33"/>
            <p:cNvGrpSpPr/>
            <p:nvPr/>
          </p:nvGrpSpPr>
          <p:grpSpPr>
            <a:xfrm>
              <a:off x="939802" y="5098728"/>
              <a:ext cx="813499" cy="647731"/>
              <a:chOff x="6068613" y="2138334"/>
              <a:chExt cx="412166" cy="348468"/>
            </a:xfrm>
          </p:grpSpPr>
          <p:sp>
            <p:nvSpPr>
              <p:cNvPr id="7" name="Freeform 5"/>
              <p:cNvSpPr/>
              <p:nvPr/>
            </p:nvSpPr>
            <p:spPr bwMode="auto">
              <a:xfrm>
                <a:off x="6068613" y="2138334"/>
                <a:ext cx="412166" cy="348468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solidFill>
                <a:srgbClr val="F69F1E"/>
              </a:solidFill>
              <a:ln w="9525" cap="flat">
                <a:noFill/>
                <a:prstDash val="solid"/>
                <a:miter lim="800000"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68564" tIns="34282" rIns="68564" bIns="34282" numCol="1" anchor="t" anchorCtr="0" compatLnSpc="1"/>
              <a:lstStyle/>
              <a:p>
                <a:endParaRPr lang="zh-CN" altLang="en-US" sz="360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KSO_Shape"/>
              <p:cNvSpPr/>
              <p:nvPr/>
            </p:nvSpPr>
            <p:spPr bwMode="auto">
              <a:xfrm>
                <a:off x="6173883" y="2206208"/>
                <a:ext cx="232088" cy="197274"/>
              </a:xfrm>
              <a:custGeom>
                <a:avLst/>
                <a:gdLst>
                  <a:gd name="T0" fmla="*/ 1221908 w 2276475"/>
                  <a:gd name="T1" fmla="*/ 1328927 h 1936751"/>
                  <a:gd name="T2" fmla="*/ 1196654 w 2276475"/>
                  <a:gd name="T3" fmla="*/ 1388292 h 1936751"/>
                  <a:gd name="T4" fmla="*/ 691864 w 2276475"/>
                  <a:gd name="T5" fmla="*/ 1376845 h 1936751"/>
                  <a:gd name="T6" fmla="*/ 695585 w 2276475"/>
                  <a:gd name="T7" fmla="*/ 1314285 h 1936751"/>
                  <a:gd name="T8" fmla="*/ 1104489 w 2276475"/>
                  <a:gd name="T9" fmla="*/ 1115137 h 1936751"/>
                  <a:gd name="T10" fmla="*/ 1117497 w 2276475"/>
                  <a:gd name="T11" fmla="*/ 1168850 h 1936751"/>
                  <a:gd name="T12" fmla="*/ 811396 w 2276475"/>
                  <a:gd name="T13" fmla="*/ 1188695 h 1936751"/>
                  <a:gd name="T14" fmla="*/ 783254 w 2276475"/>
                  <a:gd name="T15" fmla="*/ 1141068 h 1936751"/>
                  <a:gd name="T16" fmla="*/ 309026 w 2276475"/>
                  <a:gd name="T17" fmla="*/ 898551 h 1936751"/>
                  <a:gd name="T18" fmla="*/ 798665 w 2276475"/>
                  <a:gd name="T19" fmla="*/ 935449 h 1936751"/>
                  <a:gd name="T20" fmla="*/ 759855 w 2276475"/>
                  <a:gd name="T21" fmla="*/ 989335 h 1936751"/>
                  <a:gd name="T22" fmla="*/ 259317 w 2276475"/>
                  <a:gd name="T23" fmla="*/ 967303 h 1936751"/>
                  <a:gd name="T24" fmla="*/ 277393 w 2276475"/>
                  <a:gd name="T25" fmla="*/ 906514 h 1936751"/>
                  <a:gd name="T26" fmla="*/ 1086287 w 2276475"/>
                  <a:gd name="T27" fmla="*/ 817903 h 1936751"/>
                  <a:gd name="T28" fmla="*/ 1028372 w 2276475"/>
                  <a:gd name="T29" fmla="*/ 919230 h 1936751"/>
                  <a:gd name="T30" fmla="*/ 999280 w 2276475"/>
                  <a:gd name="T31" fmla="*/ 917630 h 1936751"/>
                  <a:gd name="T32" fmla="*/ 289574 w 2276475"/>
                  <a:gd name="T33" fmla="*/ 706099 h 1936751"/>
                  <a:gd name="T34" fmla="*/ 590631 w 2276475"/>
                  <a:gd name="T35" fmla="*/ 735033 h 1936751"/>
                  <a:gd name="T36" fmla="*/ 567535 w 2276475"/>
                  <a:gd name="T37" fmla="*/ 784938 h 1936751"/>
                  <a:gd name="T38" fmla="*/ 259309 w 2276475"/>
                  <a:gd name="T39" fmla="*/ 770073 h 1936751"/>
                  <a:gd name="T40" fmla="*/ 267273 w 2276475"/>
                  <a:gd name="T41" fmla="*/ 715124 h 1936751"/>
                  <a:gd name="T42" fmla="*/ 836933 w 2276475"/>
                  <a:gd name="T43" fmla="*/ 505684 h 1936751"/>
                  <a:gd name="T44" fmla="*/ 846494 w 2276475"/>
                  <a:gd name="T45" fmla="*/ 574170 h 1936751"/>
                  <a:gd name="T46" fmla="*/ 268069 w 2276475"/>
                  <a:gd name="T47" fmla="*/ 592752 h 1936751"/>
                  <a:gd name="T48" fmla="*/ 238855 w 2276475"/>
                  <a:gd name="T49" fmla="*/ 530105 h 1936751"/>
                  <a:gd name="T50" fmla="*/ 1467818 w 2276475"/>
                  <a:gd name="T51" fmla="*/ 344025 h 1936751"/>
                  <a:gd name="T52" fmla="*/ 1566759 w 2276475"/>
                  <a:gd name="T53" fmla="*/ 428438 h 1936751"/>
                  <a:gd name="T54" fmla="*/ 1578461 w 2276475"/>
                  <a:gd name="T55" fmla="*/ 479936 h 1936751"/>
                  <a:gd name="T56" fmla="*/ 1197862 w 2276475"/>
                  <a:gd name="T57" fmla="*/ 846789 h 1936751"/>
                  <a:gd name="T58" fmla="*/ 1138817 w 2276475"/>
                  <a:gd name="T59" fmla="*/ 842806 h 1936751"/>
                  <a:gd name="T60" fmla="*/ 1093869 w 2276475"/>
                  <a:gd name="T61" fmla="*/ 799538 h 1936751"/>
                  <a:gd name="T62" fmla="*/ 1075782 w 2276475"/>
                  <a:gd name="T63" fmla="*/ 737423 h 1936751"/>
                  <a:gd name="T64" fmla="*/ 1456382 w 2276475"/>
                  <a:gd name="T65" fmla="*/ 344821 h 1936751"/>
                  <a:gd name="T66" fmla="*/ 199469 w 2276475"/>
                  <a:gd name="T67" fmla="*/ 367345 h 1936751"/>
                  <a:gd name="T68" fmla="*/ 114475 w 2276475"/>
                  <a:gd name="T69" fmla="*/ 448541 h 1936751"/>
                  <a:gd name="T70" fmla="*/ 103321 w 2276475"/>
                  <a:gd name="T71" fmla="*/ 1407238 h 1936751"/>
                  <a:gd name="T72" fmla="*/ 171315 w 2276475"/>
                  <a:gd name="T73" fmla="*/ 1503559 h 1936751"/>
                  <a:gd name="T74" fmla="*/ 1382734 w 2276475"/>
                  <a:gd name="T75" fmla="*/ 1530890 h 1936751"/>
                  <a:gd name="T76" fmla="*/ 1488975 w 2276475"/>
                  <a:gd name="T77" fmla="*/ 1477289 h 1936751"/>
                  <a:gd name="T78" fmla="*/ 1531737 w 2276475"/>
                  <a:gd name="T79" fmla="*/ 1365845 h 1936751"/>
                  <a:gd name="T80" fmla="*/ 1605841 w 2276475"/>
                  <a:gd name="T81" fmla="*/ 1539381 h 1936751"/>
                  <a:gd name="T82" fmla="*/ 1513146 w 2276475"/>
                  <a:gd name="T83" fmla="*/ 1611821 h 1936751"/>
                  <a:gd name="T84" fmla="*/ 101461 w 2276475"/>
                  <a:gd name="T85" fmla="*/ 1605982 h 1936751"/>
                  <a:gd name="T86" fmla="*/ 16468 w 2276475"/>
                  <a:gd name="T87" fmla="*/ 1525317 h 1936751"/>
                  <a:gd name="T88" fmla="*/ 5312 w 2276475"/>
                  <a:gd name="T89" fmla="*/ 391226 h 1936751"/>
                  <a:gd name="T90" fmla="*/ 73307 w 2276475"/>
                  <a:gd name="T91" fmla="*/ 295170 h 1936751"/>
                  <a:gd name="T92" fmla="*/ 1746529 w 2276475"/>
                  <a:gd name="T93" fmla="*/ 88926 h 1936751"/>
                  <a:gd name="T94" fmla="*/ 1805153 w 2276475"/>
                  <a:gd name="T95" fmla="*/ 114614 h 1936751"/>
                  <a:gd name="T96" fmla="*/ 1838312 w 2276475"/>
                  <a:gd name="T97" fmla="*/ 176846 h 1936751"/>
                  <a:gd name="T98" fmla="*/ 1821600 w 2276475"/>
                  <a:gd name="T99" fmla="*/ 237490 h 1936751"/>
                  <a:gd name="T100" fmla="*/ 1620792 w 2276475"/>
                  <a:gd name="T101" fmla="*/ 421806 h 1936751"/>
                  <a:gd name="T102" fmla="*/ 1543068 w 2276475"/>
                  <a:gd name="T103" fmla="*/ 339447 h 1936751"/>
                  <a:gd name="T104" fmla="*/ 1506460 w 2276475"/>
                  <a:gd name="T105" fmla="*/ 289925 h 1936751"/>
                  <a:gd name="T106" fmla="*/ 1716818 w 2276475"/>
                  <a:gd name="T107" fmla="*/ 92634 h 1936751"/>
                  <a:gd name="T108" fmla="*/ 1893521 w 2276475"/>
                  <a:gd name="T109" fmla="*/ 35131 h 1936751"/>
                  <a:gd name="T110" fmla="*/ 1889783 w 2276475"/>
                  <a:gd name="T111" fmla="*/ 106078 h 1936751"/>
                  <a:gd name="T112" fmla="*/ 1844400 w 2276475"/>
                  <a:gd name="T113" fmla="*/ 105545 h 1936751"/>
                  <a:gd name="T114" fmla="*/ 1793944 w 2276475"/>
                  <a:gd name="T115" fmla="*/ 59669 h 1936751"/>
                  <a:gd name="T116" fmla="*/ 1847069 w 2276475"/>
                  <a:gd name="T117" fmla="*/ 16194 h 1936751"/>
                  <a:gd name="T118" fmla="*/ 1697756 w 2276475"/>
                  <a:gd name="T119" fmla="*/ 22017 h 1936751"/>
                  <a:gd name="T120" fmla="*/ 1364698 w 2276475"/>
                  <a:gd name="T121" fmla="*/ 383050 h 1936751"/>
                  <a:gd name="T122" fmla="*/ 1317840 w 2276475"/>
                  <a:gd name="T123" fmla="*/ 375887 h 1936751"/>
                  <a:gd name="T124" fmla="*/ 1320237 w 2276475"/>
                  <a:gd name="T125" fmla="*/ 329200 h 19367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276475" h="1936751">
                    <a:moveTo>
                      <a:pt x="872202" y="1555750"/>
                    </a:moveTo>
                    <a:lnTo>
                      <a:pt x="879190" y="1555750"/>
                    </a:lnTo>
                    <a:lnTo>
                      <a:pt x="1397284" y="1555750"/>
                    </a:lnTo>
                    <a:lnTo>
                      <a:pt x="1404272" y="1555750"/>
                    </a:lnTo>
                    <a:lnTo>
                      <a:pt x="1410943" y="1557024"/>
                    </a:lnTo>
                    <a:lnTo>
                      <a:pt x="1417614" y="1557979"/>
                    </a:lnTo>
                    <a:lnTo>
                      <a:pt x="1423649" y="1560208"/>
                    </a:lnTo>
                    <a:lnTo>
                      <a:pt x="1430002" y="1562437"/>
                    </a:lnTo>
                    <a:lnTo>
                      <a:pt x="1435403" y="1565303"/>
                    </a:lnTo>
                    <a:lnTo>
                      <a:pt x="1440485" y="1568168"/>
                    </a:lnTo>
                    <a:lnTo>
                      <a:pt x="1445567" y="1571989"/>
                    </a:lnTo>
                    <a:lnTo>
                      <a:pt x="1450015" y="1576128"/>
                    </a:lnTo>
                    <a:lnTo>
                      <a:pt x="1453509" y="1580268"/>
                    </a:lnTo>
                    <a:lnTo>
                      <a:pt x="1457321" y="1584726"/>
                    </a:lnTo>
                    <a:lnTo>
                      <a:pt x="1460180" y="1589502"/>
                    </a:lnTo>
                    <a:lnTo>
                      <a:pt x="1462403" y="1594915"/>
                    </a:lnTo>
                    <a:lnTo>
                      <a:pt x="1463674" y="1600009"/>
                    </a:lnTo>
                    <a:lnTo>
                      <a:pt x="1464944" y="1605741"/>
                    </a:lnTo>
                    <a:lnTo>
                      <a:pt x="1465262" y="1611472"/>
                    </a:lnTo>
                    <a:lnTo>
                      <a:pt x="1464944" y="1617203"/>
                    </a:lnTo>
                    <a:lnTo>
                      <a:pt x="1463674" y="1622935"/>
                    </a:lnTo>
                    <a:lnTo>
                      <a:pt x="1462403" y="1628029"/>
                    </a:lnTo>
                    <a:lnTo>
                      <a:pt x="1460180" y="1633124"/>
                    </a:lnTo>
                    <a:lnTo>
                      <a:pt x="1457321" y="1638218"/>
                    </a:lnTo>
                    <a:lnTo>
                      <a:pt x="1453509" y="1642358"/>
                    </a:lnTo>
                    <a:lnTo>
                      <a:pt x="1450015" y="1646815"/>
                    </a:lnTo>
                    <a:lnTo>
                      <a:pt x="1445567" y="1650955"/>
                    </a:lnTo>
                    <a:lnTo>
                      <a:pt x="1440485" y="1654457"/>
                    </a:lnTo>
                    <a:lnTo>
                      <a:pt x="1435403" y="1657641"/>
                    </a:lnTo>
                    <a:lnTo>
                      <a:pt x="1430002" y="1660507"/>
                    </a:lnTo>
                    <a:lnTo>
                      <a:pt x="1423649" y="1662736"/>
                    </a:lnTo>
                    <a:lnTo>
                      <a:pt x="1417614" y="1664328"/>
                    </a:lnTo>
                    <a:lnTo>
                      <a:pt x="1410943" y="1665920"/>
                    </a:lnTo>
                    <a:lnTo>
                      <a:pt x="1404272" y="1666875"/>
                    </a:lnTo>
                    <a:lnTo>
                      <a:pt x="1397284" y="1666875"/>
                    </a:lnTo>
                    <a:lnTo>
                      <a:pt x="879190" y="1666875"/>
                    </a:lnTo>
                    <a:lnTo>
                      <a:pt x="872202" y="1666875"/>
                    </a:lnTo>
                    <a:lnTo>
                      <a:pt x="865531" y="1665920"/>
                    </a:lnTo>
                    <a:lnTo>
                      <a:pt x="858860" y="1664328"/>
                    </a:lnTo>
                    <a:lnTo>
                      <a:pt x="852507" y="1662736"/>
                    </a:lnTo>
                    <a:lnTo>
                      <a:pt x="846790" y="1660507"/>
                    </a:lnTo>
                    <a:lnTo>
                      <a:pt x="841389" y="1657641"/>
                    </a:lnTo>
                    <a:lnTo>
                      <a:pt x="835989" y="1654139"/>
                    </a:lnTo>
                    <a:lnTo>
                      <a:pt x="831224" y="1650955"/>
                    </a:lnTo>
                    <a:lnTo>
                      <a:pt x="826777" y="1646815"/>
                    </a:lnTo>
                    <a:lnTo>
                      <a:pt x="822648" y="1642358"/>
                    </a:lnTo>
                    <a:lnTo>
                      <a:pt x="819471" y="1637900"/>
                    </a:lnTo>
                    <a:lnTo>
                      <a:pt x="816612" y="1633124"/>
                    </a:lnTo>
                    <a:lnTo>
                      <a:pt x="814389" y="1628029"/>
                    </a:lnTo>
                    <a:lnTo>
                      <a:pt x="812483" y="1622935"/>
                    </a:lnTo>
                    <a:lnTo>
                      <a:pt x="811530" y="1617203"/>
                    </a:lnTo>
                    <a:lnTo>
                      <a:pt x="811212" y="1611472"/>
                    </a:lnTo>
                    <a:lnTo>
                      <a:pt x="811530" y="1605741"/>
                    </a:lnTo>
                    <a:lnTo>
                      <a:pt x="812483" y="1600009"/>
                    </a:lnTo>
                    <a:lnTo>
                      <a:pt x="814389" y="1594915"/>
                    </a:lnTo>
                    <a:lnTo>
                      <a:pt x="816612" y="1589820"/>
                    </a:lnTo>
                    <a:lnTo>
                      <a:pt x="819471" y="1584726"/>
                    </a:lnTo>
                    <a:lnTo>
                      <a:pt x="822648" y="1580268"/>
                    </a:lnTo>
                    <a:lnTo>
                      <a:pt x="826777" y="1576128"/>
                    </a:lnTo>
                    <a:lnTo>
                      <a:pt x="831224" y="1571989"/>
                    </a:lnTo>
                    <a:lnTo>
                      <a:pt x="835989" y="1568168"/>
                    </a:lnTo>
                    <a:lnTo>
                      <a:pt x="841389" y="1565303"/>
                    </a:lnTo>
                    <a:lnTo>
                      <a:pt x="846790" y="1562437"/>
                    </a:lnTo>
                    <a:lnTo>
                      <a:pt x="852507" y="1560208"/>
                    </a:lnTo>
                    <a:lnTo>
                      <a:pt x="858860" y="1558298"/>
                    </a:lnTo>
                    <a:lnTo>
                      <a:pt x="865531" y="1557024"/>
                    </a:lnTo>
                    <a:lnTo>
                      <a:pt x="872202" y="1555750"/>
                    </a:lnTo>
                    <a:close/>
                    <a:moveTo>
                      <a:pt x="984211" y="1325563"/>
                    </a:moveTo>
                    <a:lnTo>
                      <a:pt x="1292263" y="1325563"/>
                    </a:lnTo>
                    <a:lnTo>
                      <a:pt x="1297339" y="1325880"/>
                    </a:lnTo>
                    <a:lnTo>
                      <a:pt x="1302415" y="1326513"/>
                    </a:lnTo>
                    <a:lnTo>
                      <a:pt x="1307174" y="1327779"/>
                    </a:lnTo>
                    <a:lnTo>
                      <a:pt x="1311615" y="1329361"/>
                    </a:lnTo>
                    <a:lnTo>
                      <a:pt x="1315740" y="1331260"/>
                    </a:lnTo>
                    <a:lnTo>
                      <a:pt x="1319864" y="1333792"/>
                    </a:lnTo>
                    <a:lnTo>
                      <a:pt x="1323671" y="1336640"/>
                    </a:lnTo>
                    <a:lnTo>
                      <a:pt x="1327161" y="1340121"/>
                    </a:lnTo>
                    <a:lnTo>
                      <a:pt x="1330333" y="1343286"/>
                    </a:lnTo>
                    <a:lnTo>
                      <a:pt x="1332871" y="1347400"/>
                    </a:lnTo>
                    <a:lnTo>
                      <a:pt x="1335409" y="1351198"/>
                    </a:lnTo>
                    <a:lnTo>
                      <a:pt x="1337630" y="1355629"/>
                    </a:lnTo>
                    <a:lnTo>
                      <a:pt x="1339216" y="1360059"/>
                    </a:lnTo>
                    <a:lnTo>
                      <a:pt x="1340485" y="1364807"/>
                    </a:lnTo>
                    <a:lnTo>
                      <a:pt x="1341437" y="1369870"/>
                    </a:lnTo>
                    <a:lnTo>
                      <a:pt x="1341437" y="1374934"/>
                    </a:lnTo>
                    <a:lnTo>
                      <a:pt x="1341437" y="1379681"/>
                    </a:lnTo>
                    <a:lnTo>
                      <a:pt x="1340485" y="1384745"/>
                    </a:lnTo>
                    <a:lnTo>
                      <a:pt x="1339216" y="1389492"/>
                    </a:lnTo>
                    <a:lnTo>
                      <a:pt x="1337630" y="1393923"/>
                    </a:lnTo>
                    <a:lnTo>
                      <a:pt x="1335409" y="1398037"/>
                    </a:lnTo>
                    <a:lnTo>
                      <a:pt x="1332871" y="1402151"/>
                    </a:lnTo>
                    <a:lnTo>
                      <a:pt x="1330016" y="1405632"/>
                    </a:lnTo>
                    <a:lnTo>
                      <a:pt x="1327161" y="1409430"/>
                    </a:lnTo>
                    <a:lnTo>
                      <a:pt x="1323671" y="1412595"/>
                    </a:lnTo>
                    <a:lnTo>
                      <a:pt x="1319864" y="1415443"/>
                    </a:lnTo>
                    <a:lnTo>
                      <a:pt x="1315740" y="1417659"/>
                    </a:lnTo>
                    <a:lnTo>
                      <a:pt x="1311615" y="1419874"/>
                    </a:lnTo>
                    <a:lnTo>
                      <a:pt x="1306857" y="1421773"/>
                    </a:lnTo>
                    <a:lnTo>
                      <a:pt x="1302415" y="1422722"/>
                    </a:lnTo>
                    <a:lnTo>
                      <a:pt x="1297339" y="1423672"/>
                    </a:lnTo>
                    <a:lnTo>
                      <a:pt x="1292263" y="1423988"/>
                    </a:lnTo>
                    <a:lnTo>
                      <a:pt x="984211" y="1423988"/>
                    </a:lnTo>
                    <a:lnTo>
                      <a:pt x="979453" y="1423672"/>
                    </a:lnTo>
                    <a:lnTo>
                      <a:pt x="974377" y="1422722"/>
                    </a:lnTo>
                    <a:lnTo>
                      <a:pt x="969618" y="1421773"/>
                    </a:lnTo>
                    <a:lnTo>
                      <a:pt x="965176" y="1419874"/>
                    </a:lnTo>
                    <a:lnTo>
                      <a:pt x="960735" y="1417659"/>
                    </a:lnTo>
                    <a:lnTo>
                      <a:pt x="956928" y="1415443"/>
                    </a:lnTo>
                    <a:lnTo>
                      <a:pt x="952803" y="1412595"/>
                    </a:lnTo>
                    <a:lnTo>
                      <a:pt x="949631" y="1409430"/>
                    </a:lnTo>
                    <a:lnTo>
                      <a:pt x="946141" y="1405632"/>
                    </a:lnTo>
                    <a:lnTo>
                      <a:pt x="943286" y="1402151"/>
                    </a:lnTo>
                    <a:lnTo>
                      <a:pt x="941065" y="1398037"/>
                    </a:lnTo>
                    <a:lnTo>
                      <a:pt x="938844" y="1393923"/>
                    </a:lnTo>
                    <a:lnTo>
                      <a:pt x="937258" y="1389492"/>
                    </a:lnTo>
                    <a:lnTo>
                      <a:pt x="935989" y="1384745"/>
                    </a:lnTo>
                    <a:lnTo>
                      <a:pt x="935355" y="1379681"/>
                    </a:lnTo>
                    <a:lnTo>
                      <a:pt x="935037" y="1374934"/>
                    </a:lnTo>
                    <a:lnTo>
                      <a:pt x="935355" y="1369870"/>
                    </a:lnTo>
                    <a:lnTo>
                      <a:pt x="935989" y="1364807"/>
                    </a:lnTo>
                    <a:lnTo>
                      <a:pt x="937258" y="1360059"/>
                    </a:lnTo>
                    <a:lnTo>
                      <a:pt x="938844" y="1355629"/>
                    </a:lnTo>
                    <a:lnTo>
                      <a:pt x="940748" y="1351198"/>
                    </a:lnTo>
                    <a:lnTo>
                      <a:pt x="943286" y="1347400"/>
                    </a:lnTo>
                    <a:lnTo>
                      <a:pt x="946141" y="1343286"/>
                    </a:lnTo>
                    <a:lnTo>
                      <a:pt x="949631" y="1340121"/>
                    </a:lnTo>
                    <a:lnTo>
                      <a:pt x="952803" y="1336640"/>
                    </a:lnTo>
                    <a:lnTo>
                      <a:pt x="956928" y="1333792"/>
                    </a:lnTo>
                    <a:lnTo>
                      <a:pt x="960735" y="1331260"/>
                    </a:lnTo>
                    <a:lnTo>
                      <a:pt x="965176" y="1329361"/>
                    </a:lnTo>
                    <a:lnTo>
                      <a:pt x="969618" y="1327779"/>
                    </a:lnTo>
                    <a:lnTo>
                      <a:pt x="974377" y="1326513"/>
                    </a:lnTo>
                    <a:lnTo>
                      <a:pt x="979453" y="1325880"/>
                    </a:lnTo>
                    <a:lnTo>
                      <a:pt x="984211" y="1325563"/>
                    </a:lnTo>
                    <a:close/>
                    <a:moveTo>
                      <a:pt x="369286" y="1074738"/>
                    </a:moveTo>
                    <a:lnTo>
                      <a:pt x="887697" y="1074738"/>
                    </a:lnTo>
                    <a:lnTo>
                      <a:pt x="894368" y="1075056"/>
                    </a:lnTo>
                    <a:lnTo>
                      <a:pt x="901356" y="1076008"/>
                    </a:lnTo>
                    <a:lnTo>
                      <a:pt x="908027" y="1077278"/>
                    </a:lnTo>
                    <a:lnTo>
                      <a:pt x="914063" y="1079183"/>
                    </a:lnTo>
                    <a:lnTo>
                      <a:pt x="920098" y="1081406"/>
                    </a:lnTo>
                    <a:lnTo>
                      <a:pt x="925816" y="1084263"/>
                    </a:lnTo>
                    <a:lnTo>
                      <a:pt x="930898" y="1087438"/>
                    </a:lnTo>
                    <a:lnTo>
                      <a:pt x="935663" y="1090931"/>
                    </a:lnTo>
                    <a:lnTo>
                      <a:pt x="940110" y="1094741"/>
                    </a:lnTo>
                    <a:lnTo>
                      <a:pt x="944240" y="1099186"/>
                    </a:lnTo>
                    <a:lnTo>
                      <a:pt x="947416" y="1103948"/>
                    </a:lnTo>
                    <a:lnTo>
                      <a:pt x="950275" y="1108711"/>
                    </a:lnTo>
                    <a:lnTo>
                      <a:pt x="952499" y="1113791"/>
                    </a:lnTo>
                    <a:lnTo>
                      <a:pt x="954405" y="1118871"/>
                    </a:lnTo>
                    <a:lnTo>
                      <a:pt x="955358" y="1124903"/>
                    </a:lnTo>
                    <a:lnTo>
                      <a:pt x="955675" y="1130301"/>
                    </a:lnTo>
                    <a:lnTo>
                      <a:pt x="955358" y="1136016"/>
                    </a:lnTo>
                    <a:lnTo>
                      <a:pt x="954405" y="1141413"/>
                    </a:lnTo>
                    <a:lnTo>
                      <a:pt x="952499" y="1147128"/>
                    </a:lnTo>
                    <a:lnTo>
                      <a:pt x="950275" y="1152208"/>
                    </a:lnTo>
                    <a:lnTo>
                      <a:pt x="947416" y="1156971"/>
                    </a:lnTo>
                    <a:lnTo>
                      <a:pt x="944240" y="1161098"/>
                    </a:lnTo>
                    <a:lnTo>
                      <a:pt x="940110" y="1165543"/>
                    </a:lnTo>
                    <a:lnTo>
                      <a:pt x="935663" y="1169671"/>
                    </a:lnTo>
                    <a:lnTo>
                      <a:pt x="930898" y="1173163"/>
                    </a:lnTo>
                    <a:lnTo>
                      <a:pt x="925816" y="1176656"/>
                    </a:lnTo>
                    <a:lnTo>
                      <a:pt x="920098" y="1179196"/>
                    </a:lnTo>
                    <a:lnTo>
                      <a:pt x="914063" y="1181736"/>
                    </a:lnTo>
                    <a:lnTo>
                      <a:pt x="908027" y="1183323"/>
                    </a:lnTo>
                    <a:lnTo>
                      <a:pt x="901356" y="1184593"/>
                    </a:lnTo>
                    <a:lnTo>
                      <a:pt x="894368" y="1185546"/>
                    </a:lnTo>
                    <a:lnTo>
                      <a:pt x="887697" y="1185863"/>
                    </a:lnTo>
                    <a:lnTo>
                      <a:pt x="369286" y="1185863"/>
                    </a:lnTo>
                    <a:lnTo>
                      <a:pt x="362615" y="1185546"/>
                    </a:lnTo>
                    <a:lnTo>
                      <a:pt x="355944" y="1184593"/>
                    </a:lnTo>
                    <a:lnTo>
                      <a:pt x="349273" y="1183323"/>
                    </a:lnTo>
                    <a:lnTo>
                      <a:pt x="343238" y="1181736"/>
                    </a:lnTo>
                    <a:lnTo>
                      <a:pt x="337203" y="1179196"/>
                    </a:lnTo>
                    <a:lnTo>
                      <a:pt x="331485" y="1176656"/>
                    </a:lnTo>
                    <a:lnTo>
                      <a:pt x="326402" y="1173163"/>
                    </a:lnTo>
                    <a:lnTo>
                      <a:pt x="321637" y="1169671"/>
                    </a:lnTo>
                    <a:lnTo>
                      <a:pt x="317190" y="1165543"/>
                    </a:lnTo>
                    <a:lnTo>
                      <a:pt x="313378" y="1161098"/>
                    </a:lnTo>
                    <a:lnTo>
                      <a:pt x="309884" y="1156971"/>
                    </a:lnTo>
                    <a:lnTo>
                      <a:pt x="307025" y="1152208"/>
                    </a:lnTo>
                    <a:lnTo>
                      <a:pt x="304802" y="1147128"/>
                    </a:lnTo>
                    <a:lnTo>
                      <a:pt x="302896" y="1141413"/>
                    </a:lnTo>
                    <a:lnTo>
                      <a:pt x="301943" y="1136016"/>
                    </a:lnTo>
                    <a:lnTo>
                      <a:pt x="301625" y="1130301"/>
                    </a:lnTo>
                    <a:lnTo>
                      <a:pt x="301943" y="1124903"/>
                    </a:lnTo>
                    <a:lnTo>
                      <a:pt x="302896" y="1119188"/>
                    </a:lnTo>
                    <a:lnTo>
                      <a:pt x="304802" y="1113791"/>
                    </a:lnTo>
                    <a:lnTo>
                      <a:pt x="307025" y="1108711"/>
                    </a:lnTo>
                    <a:lnTo>
                      <a:pt x="309884" y="1103948"/>
                    </a:lnTo>
                    <a:lnTo>
                      <a:pt x="313378" y="1099186"/>
                    </a:lnTo>
                    <a:lnTo>
                      <a:pt x="317190" y="1094741"/>
                    </a:lnTo>
                    <a:lnTo>
                      <a:pt x="321637" y="1091248"/>
                    </a:lnTo>
                    <a:lnTo>
                      <a:pt x="326402" y="1087438"/>
                    </a:lnTo>
                    <a:lnTo>
                      <a:pt x="331485" y="1084263"/>
                    </a:lnTo>
                    <a:lnTo>
                      <a:pt x="337203" y="1081406"/>
                    </a:lnTo>
                    <a:lnTo>
                      <a:pt x="343238" y="1079183"/>
                    </a:lnTo>
                    <a:lnTo>
                      <a:pt x="349273" y="1077278"/>
                    </a:lnTo>
                    <a:lnTo>
                      <a:pt x="355944" y="1076008"/>
                    </a:lnTo>
                    <a:lnTo>
                      <a:pt x="362615" y="1075056"/>
                    </a:lnTo>
                    <a:lnTo>
                      <a:pt x="369286" y="1074738"/>
                    </a:lnTo>
                    <a:close/>
                    <a:moveTo>
                      <a:pt x="1261435" y="965200"/>
                    </a:moveTo>
                    <a:lnTo>
                      <a:pt x="1264624" y="965200"/>
                    </a:lnTo>
                    <a:lnTo>
                      <a:pt x="1267814" y="965200"/>
                    </a:lnTo>
                    <a:lnTo>
                      <a:pt x="1271322" y="965838"/>
                    </a:lnTo>
                    <a:lnTo>
                      <a:pt x="1275149" y="967114"/>
                    </a:lnTo>
                    <a:lnTo>
                      <a:pt x="1278977" y="968390"/>
                    </a:lnTo>
                    <a:lnTo>
                      <a:pt x="1282804" y="969984"/>
                    </a:lnTo>
                    <a:lnTo>
                      <a:pt x="1290777" y="973811"/>
                    </a:lnTo>
                    <a:lnTo>
                      <a:pt x="1298113" y="978277"/>
                    </a:lnTo>
                    <a:lnTo>
                      <a:pt x="1304491" y="982742"/>
                    </a:lnTo>
                    <a:lnTo>
                      <a:pt x="1308637" y="986250"/>
                    </a:lnTo>
                    <a:lnTo>
                      <a:pt x="1312784" y="990715"/>
                    </a:lnTo>
                    <a:lnTo>
                      <a:pt x="1317249" y="997094"/>
                    </a:lnTo>
                    <a:lnTo>
                      <a:pt x="1321395" y="1004429"/>
                    </a:lnTo>
                    <a:lnTo>
                      <a:pt x="1325222" y="1012403"/>
                    </a:lnTo>
                    <a:lnTo>
                      <a:pt x="1326817" y="1016549"/>
                    </a:lnTo>
                    <a:lnTo>
                      <a:pt x="1328092" y="1020057"/>
                    </a:lnTo>
                    <a:lnTo>
                      <a:pt x="1329368" y="1024203"/>
                    </a:lnTo>
                    <a:lnTo>
                      <a:pt x="1330006" y="1027711"/>
                    </a:lnTo>
                    <a:lnTo>
                      <a:pt x="1330325" y="1030901"/>
                    </a:lnTo>
                    <a:lnTo>
                      <a:pt x="1330006" y="1034090"/>
                    </a:lnTo>
                    <a:lnTo>
                      <a:pt x="1329368" y="1036004"/>
                    </a:lnTo>
                    <a:lnTo>
                      <a:pt x="1327774" y="1038236"/>
                    </a:lnTo>
                    <a:lnTo>
                      <a:pt x="1228904" y="1099472"/>
                    </a:lnTo>
                    <a:lnTo>
                      <a:pt x="1226990" y="1101066"/>
                    </a:lnTo>
                    <a:lnTo>
                      <a:pt x="1225396" y="1102342"/>
                    </a:lnTo>
                    <a:lnTo>
                      <a:pt x="1223163" y="1103618"/>
                    </a:lnTo>
                    <a:lnTo>
                      <a:pt x="1220930" y="1104575"/>
                    </a:lnTo>
                    <a:lnTo>
                      <a:pt x="1219017" y="1105213"/>
                    </a:lnTo>
                    <a:lnTo>
                      <a:pt x="1216784" y="1105850"/>
                    </a:lnTo>
                    <a:lnTo>
                      <a:pt x="1212000" y="1106488"/>
                    </a:lnTo>
                    <a:lnTo>
                      <a:pt x="1207854" y="1105850"/>
                    </a:lnTo>
                    <a:lnTo>
                      <a:pt x="1205622" y="1105213"/>
                    </a:lnTo>
                    <a:lnTo>
                      <a:pt x="1203389" y="1104575"/>
                    </a:lnTo>
                    <a:lnTo>
                      <a:pt x="1201475" y="1103618"/>
                    </a:lnTo>
                    <a:lnTo>
                      <a:pt x="1199243" y="1102342"/>
                    </a:lnTo>
                    <a:lnTo>
                      <a:pt x="1197329" y="1101066"/>
                    </a:lnTo>
                    <a:lnTo>
                      <a:pt x="1195735" y="1099472"/>
                    </a:lnTo>
                    <a:lnTo>
                      <a:pt x="1194140" y="1097558"/>
                    </a:lnTo>
                    <a:lnTo>
                      <a:pt x="1192864" y="1095963"/>
                    </a:lnTo>
                    <a:lnTo>
                      <a:pt x="1191588" y="1093731"/>
                    </a:lnTo>
                    <a:lnTo>
                      <a:pt x="1190632" y="1091817"/>
                    </a:lnTo>
                    <a:lnTo>
                      <a:pt x="1189356" y="1087352"/>
                    </a:lnTo>
                    <a:lnTo>
                      <a:pt x="1189037" y="1082887"/>
                    </a:lnTo>
                    <a:lnTo>
                      <a:pt x="1189356" y="1078741"/>
                    </a:lnTo>
                    <a:lnTo>
                      <a:pt x="1190632" y="1074276"/>
                    </a:lnTo>
                    <a:lnTo>
                      <a:pt x="1191588" y="1072043"/>
                    </a:lnTo>
                    <a:lnTo>
                      <a:pt x="1192864" y="1070130"/>
                    </a:lnTo>
                    <a:lnTo>
                      <a:pt x="1194140" y="1068535"/>
                    </a:lnTo>
                    <a:lnTo>
                      <a:pt x="1195735" y="1066621"/>
                    </a:lnTo>
                    <a:lnTo>
                      <a:pt x="1257289" y="967433"/>
                    </a:lnTo>
                    <a:lnTo>
                      <a:pt x="1258884" y="965838"/>
                    </a:lnTo>
                    <a:lnTo>
                      <a:pt x="1261435" y="965200"/>
                    </a:lnTo>
                    <a:close/>
                    <a:moveTo>
                      <a:pt x="346041" y="844550"/>
                    </a:moveTo>
                    <a:lnTo>
                      <a:pt x="350799" y="844550"/>
                    </a:lnTo>
                    <a:lnTo>
                      <a:pt x="658851" y="844550"/>
                    </a:lnTo>
                    <a:lnTo>
                      <a:pt x="663927" y="844550"/>
                    </a:lnTo>
                    <a:lnTo>
                      <a:pt x="669003" y="845185"/>
                    </a:lnTo>
                    <a:lnTo>
                      <a:pt x="673762" y="846773"/>
                    </a:lnTo>
                    <a:lnTo>
                      <a:pt x="678204" y="848043"/>
                    </a:lnTo>
                    <a:lnTo>
                      <a:pt x="682645" y="850265"/>
                    </a:lnTo>
                    <a:lnTo>
                      <a:pt x="686452" y="852805"/>
                    </a:lnTo>
                    <a:lnTo>
                      <a:pt x="690259" y="855345"/>
                    </a:lnTo>
                    <a:lnTo>
                      <a:pt x="693749" y="858838"/>
                    </a:lnTo>
                    <a:lnTo>
                      <a:pt x="697239" y="862330"/>
                    </a:lnTo>
                    <a:lnTo>
                      <a:pt x="699777" y="865823"/>
                    </a:lnTo>
                    <a:lnTo>
                      <a:pt x="702315" y="869950"/>
                    </a:lnTo>
                    <a:lnTo>
                      <a:pt x="704218" y="874395"/>
                    </a:lnTo>
                    <a:lnTo>
                      <a:pt x="705804" y="879158"/>
                    </a:lnTo>
                    <a:lnTo>
                      <a:pt x="707391" y="883920"/>
                    </a:lnTo>
                    <a:lnTo>
                      <a:pt x="708025" y="888683"/>
                    </a:lnTo>
                    <a:lnTo>
                      <a:pt x="708025" y="893763"/>
                    </a:lnTo>
                    <a:lnTo>
                      <a:pt x="708025" y="898843"/>
                    </a:lnTo>
                    <a:lnTo>
                      <a:pt x="707391" y="903605"/>
                    </a:lnTo>
                    <a:lnTo>
                      <a:pt x="705804" y="908368"/>
                    </a:lnTo>
                    <a:lnTo>
                      <a:pt x="704218" y="912495"/>
                    </a:lnTo>
                    <a:lnTo>
                      <a:pt x="702315" y="916940"/>
                    </a:lnTo>
                    <a:lnTo>
                      <a:pt x="699777" y="921068"/>
                    </a:lnTo>
                    <a:lnTo>
                      <a:pt x="697239" y="924878"/>
                    </a:lnTo>
                    <a:lnTo>
                      <a:pt x="693749" y="928370"/>
                    </a:lnTo>
                    <a:lnTo>
                      <a:pt x="690259" y="931545"/>
                    </a:lnTo>
                    <a:lnTo>
                      <a:pt x="686452" y="934403"/>
                    </a:lnTo>
                    <a:lnTo>
                      <a:pt x="682645" y="936943"/>
                    </a:lnTo>
                    <a:lnTo>
                      <a:pt x="678204" y="938848"/>
                    </a:lnTo>
                    <a:lnTo>
                      <a:pt x="673762" y="940753"/>
                    </a:lnTo>
                    <a:lnTo>
                      <a:pt x="669003" y="941705"/>
                    </a:lnTo>
                    <a:lnTo>
                      <a:pt x="663927" y="942658"/>
                    </a:lnTo>
                    <a:lnTo>
                      <a:pt x="658851" y="942975"/>
                    </a:lnTo>
                    <a:lnTo>
                      <a:pt x="350799" y="942975"/>
                    </a:lnTo>
                    <a:lnTo>
                      <a:pt x="346041" y="942658"/>
                    </a:lnTo>
                    <a:lnTo>
                      <a:pt x="340965" y="941705"/>
                    </a:lnTo>
                    <a:lnTo>
                      <a:pt x="336206" y="940753"/>
                    </a:lnTo>
                    <a:lnTo>
                      <a:pt x="331764" y="938848"/>
                    </a:lnTo>
                    <a:lnTo>
                      <a:pt x="327323" y="936943"/>
                    </a:lnTo>
                    <a:lnTo>
                      <a:pt x="323516" y="934403"/>
                    </a:lnTo>
                    <a:lnTo>
                      <a:pt x="319391" y="931545"/>
                    </a:lnTo>
                    <a:lnTo>
                      <a:pt x="316219" y="928370"/>
                    </a:lnTo>
                    <a:lnTo>
                      <a:pt x="312729" y="924878"/>
                    </a:lnTo>
                    <a:lnTo>
                      <a:pt x="309874" y="921068"/>
                    </a:lnTo>
                    <a:lnTo>
                      <a:pt x="307653" y="916940"/>
                    </a:lnTo>
                    <a:lnTo>
                      <a:pt x="305432" y="912495"/>
                    </a:lnTo>
                    <a:lnTo>
                      <a:pt x="303846" y="908368"/>
                    </a:lnTo>
                    <a:lnTo>
                      <a:pt x="302577" y="903605"/>
                    </a:lnTo>
                    <a:lnTo>
                      <a:pt x="301943" y="898843"/>
                    </a:lnTo>
                    <a:lnTo>
                      <a:pt x="301625" y="893763"/>
                    </a:lnTo>
                    <a:lnTo>
                      <a:pt x="301943" y="888683"/>
                    </a:lnTo>
                    <a:lnTo>
                      <a:pt x="302577" y="883920"/>
                    </a:lnTo>
                    <a:lnTo>
                      <a:pt x="303846" y="879158"/>
                    </a:lnTo>
                    <a:lnTo>
                      <a:pt x="305432" y="874395"/>
                    </a:lnTo>
                    <a:lnTo>
                      <a:pt x="307336" y="869950"/>
                    </a:lnTo>
                    <a:lnTo>
                      <a:pt x="309874" y="865823"/>
                    </a:lnTo>
                    <a:lnTo>
                      <a:pt x="312729" y="862330"/>
                    </a:lnTo>
                    <a:lnTo>
                      <a:pt x="316219" y="858838"/>
                    </a:lnTo>
                    <a:lnTo>
                      <a:pt x="319391" y="855345"/>
                    </a:lnTo>
                    <a:lnTo>
                      <a:pt x="323516" y="852805"/>
                    </a:lnTo>
                    <a:lnTo>
                      <a:pt x="327323" y="850265"/>
                    </a:lnTo>
                    <a:lnTo>
                      <a:pt x="331764" y="848043"/>
                    </a:lnTo>
                    <a:lnTo>
                      <a:pt x="336206" y="846773"/>
                    </a:lnTo>
                    <a:lnTo>
                      <a:pt x="340965" y="845185"/>
                    </a:lnTo>
                    <a:lnTo>
                      <a:pt x="346041" y="844550"/>
                    </a:lnTo>
                    <a:close/>
                    <a:moveTo>
                      <a:pt x="344144" y="590550"/>
                    </a:moveTo>
                    <a:lnTo>
                      <a:pt x="960782" y="590550"/>
                    </a:lnTo>
                    <a:lnTo>
                      <a:pt x="966812" y="591185"/>
                    </a:lnTo>
                    <a:lnTo>
                      <a:pt x="973159" y="592138"/>
                    </a:lnTo>
                    <a:lnTo>
                      <a:pt x="978871" y="593725"/>
                    </a:lnTo>
                    <a:lnTo>
                      <a:pt x="984584" y="595630"/>
                    </a:lnTo>
                    <a:lnTo>
                      <a:pt x="990296" y="598488"/>
                    </a:lnTo>
                    <a:lnTo>
                      <a:pt x="995374" y="601345"/>
                    </a:lnTo>
                    <a:lnTo>
                      <a:pt x="1000135" y="604838"/>
                    </a:lnTo>
                    <a:lnTo>
                      <a:pt x="1004260" y="608965"/>
                    </a:lnTo>
                    <a:lnTo>
                      <a:pt x="1008386" y="613410"/>
                    </a:lnTo>
                    <a:lnTo>
                      <a:pt x="1011560" y="617855"/>
                    </a:lnTo>
                    <a:lnTo>
                      <a:pt x="1015051" y="623253"/>
                    </a:lnTo>
                    <a:lnTo>
                      <a:pt x="1017590" y="628650"/>
                    </a:lnTo>
                    <a:lnTo>
                      <a:pt x="1019811" y="634048"/>
                    </a:lnTo>
                    <a:lnTo>
                      <a:pt x="1021081" y="639763"/>
                    </a:lnTo>
                    <a:lnTo>
                      <a:pt x="1021715" y="646113"/>
                    </a:lnTo>
                    <a:lnTo>
                      <a:pt x="1022350" y="652145"/>
                    </a:lnTo>
                    <a:lnTo>
                      <a:pt x="1021715" y="658813"/>
                    </a:lnTo>
                    <a:lnTo>
                      <a:pt x="1021081" y="664528"/>
                    </a:lnTo>
                    <a:lnTo>
                      <a:pt x="1019811" y="670878"/>
                    </a:lnTo>
                    <a:lnTo>
                      <a:pt x="1017590" y="676275"/>
                    </a:lnTo>
                    <a:lnTo>
                      <a:pt x="1015051" y="681673"/>
                    </a:lnTo>
                    <a:lnTo>
                      <a:pt x="1011560" y="686753"/>
                    </a:lnTo>
                    <a:lnTo>
                      <a:pt x="1008386" y="691515"/>
                    </a:lnTo>
                    <a:lnTo>
                      <a:pt x="1004260" y="695960"/>
                    </a:lnTo>
                    <a:lnTo>
                      <a:pt x="1000135" y="700088"/>
                    </a:lnTo>
                    <a:lnTo>
                      <a:pt x="995374" y="703580"/>
                    </a:lnTo>
                    <a:lnTo>
                      <a:pt x="990296" y="706438"/>
                    </a:lnTo>
                    <a:lnTo>
                      <a:pt x="984584" y="708978"/>
                    </a:lnTo>
                    <a:lnTo>
                      <a:pt x="978871" y="711200"/>
                    </a:lnTo>
                    <a:lnTo>
                      <a:pt x="973159" y="712788"/>
                    </a:lnTo>
                    <a:lnTo>
                      <a:pt x="966812" y="713740"/>
                    </a:lnTo>
                    <a:lnTo>
                      <a:pt x="960782" y="714375"/>
                    </a:lnTo>
                    <a:lnTo>
                      <a:pt x="344144" y="714375"/>
                    </a:lnTo>
                    <a:lnTo>
                      <a:pt x="338114" y="713740"/>
                    </a:lnTo>
                    <a:lnTo>
                      <a:pt x="331767" y="712788"/>
                    </a:lnTo>
                    <a:lnTo>
                      <a:pt x="326054" y="711200"/>
                    </a:lnTo>
                    <a:lnTo>
                      <a:pt x="320342" y="708978"/>
                    </a:lnTo>
                    <a:lnTo>
                      <a:pt x="314946" y="706438"/>
                    </a:lnTo>
                    <a:lnTo>
                      <a:pt x="309869" y="703580"/>
                    </a:lnTo>
                    <a:lnTo>
                      <a:pt x="305108" y="700088"/>
                    </a:lnTo>
                    <a:lnTo>
                      <a:pt x="300982" y="695960"/>
                    </a:lnTo>
                    <a:lnTo>
                      <a:pt x="296857" y="691515"/>
                    </a:lnTo>
                    <a:lnTo>
                      <a:pt x="293366" y="686753"/>
                    </a:lnTo>
                    <a:lnTo>
                      <a:pt x="290192" y="681673"/>
                    </a:lnTo>
                    <a:lnTo>
                      <a:pt x="287653" y="676275"/>
                    </a:lnTo>
                    <a:lnTo>
                      <a:pt x="285432" y="670878"/>
                    </a:lnTo>
                    <a:lnTo>
                      <a:pt x="284162" y="664528"/>
                    </a:lnTo>
                    <a:lnTo>
                      <a:pt x="282893" y="658813"/>
                    </a:lnTo>
                    <a:lnTo>
                      <a:pt x="282575" y="652145"/>
                    </a:lnTo>
                    <a:lnTo>
                      <a:pt x="282893" y="646113"/>
                    </a:lnTo>
                    <a:lnTo>
                      <a:pt x="284162" y="639763"/>
                    </a:lnTo>
                    <a:lnTo>
                      <a:pt x="285432" y="634048"/>
                    </a:lnTo>
                    <a:lnTo>
                      <a:pt x="287653" y="628650"/>
                    </a:lnTo>
                    <a:lnTo>
                      <a:pt x="290192" y="623253"/>
                    </a:lnTo>
                    <a:lnTo>
                      <a:pt x="293366" y="617855"/>
                    </a:lnTo>
                    <a:lnTo>
                      <a:pt x="296857" y="613410"/>
                    </a:lnTo>
                    <a:lnTo>
                      <a:pt x="300982" y="608965"/>
                    </a:lnTo>
                    <a:lnTo>
                      <a:pt x="305108" y="604838"/>
                    </a:lnTo>
                    <a:lnTo>
                      <a:pt x="309869" y="601345"/>
                    </a:lnTo>
                    <a:lnTo>
                      <a:pt x="314946" y="598488"/>
                    </a:lnTo>
                    <a:lnTo>
                      <a:pt x="320342" y="595630"/>
                    </a:lnTo>
                    <a:lnTo>
                      <a:pt x="326054" y="593725"/>
                    </a:lnTo>
                    <a:lnTo>
                      <a:pt x="331767" y="592138"/>
                    </a:lnTo>
                    <a:lnTo>
                      <a:pt x="338114" y="591185"/>
                    </a:lnTo>
                    <a:lnTo>
                      <a:pt x="344144" y="590550"/>
                    </a:lnTo>
                    <a:close/>
                    <a:moveTo>
                      <a:pt x="1750865" y="411163"/>
                    </a:moveTo>
                    <a:lnTo>
                      <a:pt x="1754043" y="411481"/>
                    </a:lnTo>
                    <a:lnTo>
                      <a:pt x="1757540" y="411798"/>
                    </a:lnTo>
                    <a:lnTo>
                      <a:pt x="1760718" y="413068"/>
                    </a:lnTo>
                    <a:lnTo>
                      <a:pt x="1764214" y="414021"/>
                    </a:lnTo>
                    <a:lnTo>
                      <a:pt x="1767710" y="414973"/>
                    </a:lnTo>
                    <a:lnTo>
                      <a:pt x="1770889" y="416878"/>
                    </a:lnTo>
                    <a:lnTo>
                      <a:pt x="1777563" y="421006"/>
                    </a:lnTo>
                    <a:lnTo>
                      <a:pt x="1784555" y="425768"/>
                    </a:lnTo>
                    <a:lnTo>
                      <a:pt x="1790912" y="431166"/>
                    </a:lnTo>
                    <a:lnTo>
                      <a:pt x="1797904" y="437198"/>
                    </a:lnTo>
                    <a:lnTo>
                      <a:pt x="1812207" y="451486"/>
                    </a:lnTo>
                    <a:lnTo>
                      <a:pt x="1827145" y="466408"/>
                    </a:lnTo>
                    <a:lnTo>
                      <a:pt x="1836680" y="476251"/>
                    </a:lnTo>
                    <a:lnTo>
                      <a:pt x="1851935" y="491173"/>
                    </a:lnTo>
                    <a:lnTo>
                      <a:pt x="1865920" y="505461"/>
                    </a:lnTo>
                    <a:lnTo>
                      <a:pt x="1872277" y="512446"/>
                    </a:lnTo>
                    <a:lnTo>
                      <a:pt x="1877680" y="519431"/>
                    </a:lnTo>
                    <a:lnTo>
                      <a:pt x="1882447" y="525781"/>
                    </a:lnTo>
                    <a:lnTo>
                      <a:pt x="1886579" y="532766"/>
                    </a:lnTo>
                    <a:lnTo>
                      <a:pt x="1888486" y="536258"/>
                    </a:lnTo>
                    <a:lnTo>
                      <a:pt x="1889439" y="539433"/>
                    </a:lnTo>
                    <a:lnTo>
                      <a:pt x="1891029" y="542608"/>
                    </a:lnTo>
                    <a:lnTo>
                      <a:pt x="1891664" y="546101"/>
                    </a:lnTo>
                    <a:lnTo>
                      <a:pt x="1891982" y="549593"/>
                    </a:lnTo>
                    <a:lnTo>
                      <a:pt x="1892300" y="552768"/>
                    </a:lnTo>
                    <a:lnTo>
                      <a:pt x="1892300" y="556261"/>
                    </a:lnTo>
                    <a:lnTo>
                      <a:pt x="1891664" y="559753"/>
                    </a:lnTo>
                    <a:lnTo>
                      <a:pt x="1891029" y="562928"/>
                    </a:lnTo>
                    <a:lnTo>
                      <a:pt x="1889757" y="566738"/>
                    </a:lnTo>
                    <a:lnTo>
                      <a:pt x="1888486" y="570231"/>
                    </a:lnTo>
                    <a:lnTo>
                      <a:pt x="1886261" y="574041"/>
                    </a:lnTo>
                    <a:lnTo>
                      <a:pt x="1884036" y="577533"/>
                    </a:lnTo>
                    <a:lnTo>
                      <a:pt x="1881176" y="581343"/>
                    </a:lnTo>
                    <a:lnTo>
                      <a:pt x="1877680" y="585153"/>
                    </a:lnTo>
                    <a:lnTo>
                      <a:pt x="1874184" y="588963"/>
                    </a:lnTo>
                    <a:lnTo>
                      <a:pt x="1476895" y="985838"/>
                    </a:lnTo>
                    <a:lnTo>
                      <a:pt x="1472763" y="989966"/>
                    </a:lnTo>
                    <a:lnTo>
                      <a:pt x="1468313" y="993458"/>
                    </a:lnTo>
                    <a:lnTo>
                      <a:pt x="1464182" y="996633"/>
                    </a:lnTo>
                    <a:lnTo>
                      <a:pt x="1459732" y="999808"/>
                    </a:lnTo>
                    <a:lnTo>
                      <a:pt x="1455282" y="1002348"/>
                    </a:lnTo>
                    <a:lnTo>
                      <a:pt x="1450515" y="1004888"/>
                    </a:lnTo>
                    <a:lnTo>
                      <a:pt x="1446065" y="1007111"/>
                    </a:lnTo>
                    <a:lnTo>
                      <a:pt x="1440980" y="1009016"/>
                    </a:lnTo>
                    <a:lnTo>
                      <a:pt x="1436212" y="1010921"/>
                    </a:lnTo>
                    <a:lnTo>
                      <a:pt x="1431445" y="1012826"/>
                    </a:lnTo>
                    <a:lnTo>
                      <a:pt x="1426360" y="1013778"/>
                    </a:lnTo>
                    <a:lnTo>
                      <a:pt x="1421274" y="1015366"/>
                    </a:lnTo>
                    <a:lnTo>
                      <a:pt x="1416507" y="1016001"/>
                    </a:lnTo>
                    <a:lnTo>
                      <a:pt x="1411422" y="1016953"/>
                    </a:lnTo>
                    <a:lnTo>
                      <a:pt x="1406336" y="1017271"/>
                    </a:lnTo>
                    <a:lnTo>
                      <a:pt x="1401569" y="1017588"/>
                    </a:lnTo>
                    <a:lnTo>
                      <a:pt x="1396484" y="1017588"/>
                    </a:lnTo>
                    <a:lnTo>
                      <a:pt x="1391716" y="1017271"/>
                    </a:lnTo>
                    <a:lnTo>
                      <a:pt x="1386949" y="1016953"/>
                    </a:lnTo>
                    <a:lnTo>
                      <a:pt x="1382499" y="1015683"/>
                    </a:lnTo>
                    <a:lnTo>
                      <a:pt x="1377731" y="1015048"/>
                    </a:lnTo>
                    <a:lnTo>
                      <a:pt x="1373282" y="1013461"/>
                    </a:lnTo>
                    <a:lnTo>
                      <a:pt x="1368832" y="1012191"/>
                    </a:lnTo>
                    <a:lnTo>
                      <a:pt x="1364700" y="1010286"/>
                    </a:lnTo>
                    <a:lnTo>
                      <a:pt x="1360886" y="1008063"/>
                    </a:lnTo>
                    <a:lnTo>
                      <a:pt x="1357072" y="1005523"/>
                    </a:lnTo>
                    <a:lnTo>
                      <a:pt x="1353576" y="1002983"/>
                    </a:lnTo>
                    <a:lnTo>
                      <a:pt x="1350080" y="1000126"/>
                    </a:lnTo>
                    <a:lnTo>
                      <a:pt x="1347220" y="996633"/>
                    </a:lnTo>
                    <a:lnTo>
                      <a:pt x="1344359" y="993458"/>
                    </a:lnTo>
                    <a:lnTo>
                      <a:pt x="1341817" y="989331"/>
                    </a:lnTo>
                    <a:lnTo>
                      <a:pt x="1339274" y="985521"/>
                    </a:lnTo>
                    <a:lnTo>
                      <a:pt x="1337367" y="981076"/>
                    </a:lnTo>
                    <a:lnTo>
                      <a:pt x="1335778" y="976313"/>
                    </a:lnTo>
                    <a:lnTo>
                      <a:pt x="1326561" y="967106"/>
                    </a:lnTo>
                    <a:lnTo>
                      <a:pt x="1322111" y="965518"/>
                    </a:lnTo>
                    <a:lnTo>
                      <a:pt x="1317979" y="963296"/>
                    </a:lnTo>
                    <a:lnTo>
                      <a:pt x="1314165" y="961073"/>
                    </a:lnTo>
                    <a:lnTo>
                      <a:pt x="1310351" y="958851"/>
                    </a:lnTo>
                    <a:lnTo>
                      <a:pt x="1307173" y="956311"/>
                    </a:lnTo>
                    <a:lnTo>
                      <a:pt x="1303995" y="953453"/>
                    </a:lnTo>
                    <a:lnTo>
                      <a:pt x="1301134" y="950913"/>
                    </a:lnTo>
                    <a:lnTo>
                      <a:pt x="1298274" y="948056"/>
                    </a:lnTo>
                    <a:lnTo>
                      <a:pt x="1295731" y="944563"/>
                    </a:lnTo>
                    <a:lnTo>
                      <a:pt x="1293824" y="941706"/>
                    </a:lnTo>
                    <a:lnTo>
                      <a:pt x="1291599" y="938531"/>
                    </a:lnTo>
                    <a:lnTo>
                      <a:pt x="1289692" y="935038"/>
                    </a:lnTo>
                    <a:lnTo>
                      <a:pt x="1288103" y="931546"/>
                    </a:lnTo>
                    <a:lnTo>
                      <a:pt x="1286832" y="928371"/>
                    </a:lnTo>
                    <a:lnTo>
                      <a:pt x="1284607" y="921068"/>
                    </a:lnTo>
                    <a:lnTo>
                      <a:pt x="1283336" y="913448"/>
                    </a:lnTo>
                    <a:lnTo>
                      <a:pt x="1282700" y="905511"/>
                    </a:lnTo>
                    <a:lnTo>
                      <a:pt x="1283018" y="897573"/>
                    </a:lnTo>
                    <a:lnTo>
                      <a:pt x="1283971" y="889953"/>
                    </a:lnTo>
                    <a:lnTo>
                      <a:pt x="1285560" y="882016"/>
                    </a:lnTo>
                    <a:lnTo>
                      <a:pt x="1287785" y="874078"/>
                    </a:lnTo>
                    <a:lnTo>
                      <a:pt x="1290646" y="866141"/>
                    </a:lnTo>
                    <a:lnTo>
                      <a:pt x="1294142" y="858521"/>
                    </a:lnTo>
                    <a:lnTo>
                      <a:pt x="1298909" y="849948"/>
                    </a:lnTo>
                    <a:lnTo>
                      <a:pt x="1304313" y="841376"/>
                    </a:lnTo>
                    <a:lnTo>
                      <a:pt x="1310351" y="833756"/>
                    </a:lnTo>
                    <a:lnTo>
                      <a:pt x="1317026" y="826136"/>
                    </a:lnTo>
                    <a:lnTo>
                      <a:pt x="1714315" y="429261"/>
                    </a:lnTo>
                    <a:lnTo>
                      <a:pt x="1718446" y="425768"/>
                    </a:lnTo>
                    <a:lnTo>
                      <a:pt x="1721943" y="422276"/>
                    </a:lnTo>
                    <a:lnTo>
                      <a:pt x="1726074" y="419736"/>
                    </a:lnTo>
                    <a:lnTo>
                      <a:pt x="1729571" y="417196"/>
                    </a:lnTo>
                    <a:lnTo>
                      <a:pt x="1733384" y="415608"/>
                    </a:lnTo>
                    <a:lnTo>
                      <a:pt x="1736881" y="414021"/>
                    </a:lnTo>
                    <a:lnTo>
                      <a:pt x="1740377" y="412433"/>
                    </a:lnTo>
                    <a:lnTo>
                      <a:pt x="1743873" y="411798"/>
                    </a:lnTo>
                    <a:lnTo>
                      <a:pt x="1747051" y="411481"/>
                    </a:lnTo>
                    <a:lnTo>
                      <a:pt x="1750865" y="411163"/>
                    </a:lnTo>
                    <a:close/>
                    <a:moveTo>
                      <a:pt x="198373" y="319088"/>
                    </a:moveTo>
                    <a:lnTo>
                      <a:pt x="1557783" y="319088"/>
                    </a:lnTo>
                    <a:lnTo>
                      <a:pt x="1453042" y="423822"/>
                    </a:lnTo>
                    <a:lnTo>
                      <a:pt x="315492" y="423822"/>
                    </a:lnTo>
                    <a:lnTo>
                      <a:pt x="305336" y="424140"/>
                    </a:lnTo>
                    <a:lnTo>
                      <a:pt x="295179" y="424774"/>
                    </a:lnTo>
                    <a:lnTo>
                      <a:pt x="285340" y="426361"/>
                    </a:lnTo>
                    <a:lnTo>
                      <a:pt x="275500" y="427631"/>
                    </a:lnTo>
                    <a:lnTo>
                      <a:pt x="265979" y="429852"/>
                    </a:lnTo>
                    <a:lnTo>
                      <a:pt x="256457" y="433026"/>
                    </a:lnTo>
                    <a:lnTo>
                      <a:pt x="247570" y="435882"/>
                    </a:lnTo>
                    <a:lnTo>
                      <a:pt x="238365" y="439374"/>
                    </a:lnTo>
                    <a:lnTo>
                      <a:pt x="229478" y="443499"/>
                    </a:lnTo>
                    <a:lnTo>
                      <a:pt x="221226" y="447943"/>
                    </a:lnTo>
                    <a:lnTo>
                      <a:pt x="212973" y="452703"/>
                    </a:lnTo>
                    <a:lnTo>
                      <a:pt x="204721" y="457781"/>
                    </a:lnTo>
                    <a:lnTo>
                      <a:pt x="196786" y="463494"/>
                    </a:lnTo>
                    <a:lnTo>
                      <a:pt x="189486" y="469207"/>
                    </a:lnTo>
                    <a:lnTo>
                      <a:pt x="182186" y="475554"/>
                    </a:lnTo>
                    <a:lnTo>
                      <a:pt x="175203" y="481902"/>
                    </a:lnTo>
                    <a:lnTo>
                      <a:pt x="168855" y="488884"/>
                    </a:lnTo>
                    <a:lnTo>
                      <a:pt x="162507" y="496184"/>
                    </a:lnTo>
                    <a:lnTo>
                      <a:pt x="156794" y="503483"/>
                    </a:lnTo>
                    <a:lnTo>
                      <a:pt x="151398" y="511100"/>
                    </a:lnTo>
                    <a:lnTo>
                      <a:pt x="145685" y="519670"/>
                    </a:lnTo>
                    <a:lnTo>
                      <a:pt x="140924" y="527604"/>
                    </a:lnTo>
                    <a:lnTo>
                      <a:pt x="136798" y="536490"/>
                    </a:lnTo>
                    <a:lnTo>
                      <a:pt x="132672" y="545060"/>
                    </a:lnTo>
                    <a:lnTo>
                      <a:pt x="129498" y="554263"/>
                    </a:lnTo>
                    <a:lnTo>
                      <a:pt x="126007" y="563150"/>
                    </a:lnTo>
                    <a:lnTo>
                      <a:pt x="123468" y="572671"/>
                    </a:lnTo>
                    <a:lnTo>
                      <a:pt x="121246" y="582193"/>
                    </a:lnTo>
                    <a:lnTo>
                      <a:pt x="119659" y="592031"/>
                    </a:lnTo>
                    <a:lnTo>
                      <a:pt x="118072" y="601870"/>
                    </a:lnTo>
                    <a:lnTo>
                      <a:pt x="117437" y="612026"/>
                    </a:lnTo>
                    <a:lnTo>
                      <a:pt x="117437" y="622182"/>
                    </a:lnTo>
                    <a:lnTo>
                      <a:pt x="117437" y="1633658"/>
                    </a:lnTo>
                    <a:lnTo>
                      <a:pt x="117437" y="1643814"/>
                    </a:lnTo>
                    <a:lnTo>
                      <a:pt x="118072" y="1653970"/>
                    </a:lnTo>
                    <a:lnTo>
                      <a:pt x="119659" y="1663808"/>
                    </a:lnTo>
                    <a:lnTo>
                      <a:pt x="121246" y="1673647"/>
                    </a:lnTo>
                    <a:lnTo>
                      <a:pt x="123468" y="1683168"/>
                    </a:lnTo>
                    <a:lnTo>
                      <a:pt x="126007" y="1692689"/>
                    </a:lnTo>
                    <a:lnTo>
                      <a:pt x="129498" y="1701576"/>
                    </a:lnTo>
                    <a:lnTo>
                      <a:pt x="132672" y="1710780"/>
                    </a:lnTo>
                    <a:lnTo>
                      <a:pt x="136798" y="1719666"/>
                    </a:lnTo>
                    <a:lnTo>
                      <a:pt x="140924" y="1728235"/>
                    </a:lnTo>
                    <a:lnTo>
                      <a:pt x="145685" y="1736170"/>
                    </a:lnTo>
                    <a:lnTo>
                      <a:pt x="151398" y="1744739"/>
                    </a:lnTo>
                    <a:lnTo>
                      <a:pt x="156794" y="1752356"/>
                    </a:lnTo>
                    <a:lnTo>
                      <a:pt x="162507" y="1759656"/>
                    </a:lnTo>
                    <a:lnTo>
                      <a:pt x="168855" y="1766955"/>
                    </a:lnTo>
                    <a:lnTo>
                      <a:pt x="175203" y="1773938"/>
                    </a:lnTo>
                    <a:lnTo>
                      <a:pt x="182186" y="1780285"/>
                    </a:lnTo>
                    <a:lnTo>
                      <a:pt x="189486" y="1786633"/>
                    </a:lnTo>
                    <a:lnTo>
                      <a:pt x="196786" y="1792345"/>
                    </a:lnTo>
                    <a:lnTo>
                      <a:pt x="204721" y="1798375"/>
                    </a:lnTo>
                    <a:lnTo>
                      <a:pt x="212973" y="1803453"/>
                    </a:lnTo>
                    <a:lnTo>
                      <a:pt x="221226" y="1808214"/>
                    </a:lnTo>
                    <a:lnTo>
                      <a:pt x="229478" y="1812340"/>
                    </a:lnTo>
                    <a:lnTo>
                      <a:pt x="238365" y="1816466"/>
                    </a:lnTo>
                    <a:lnTo>
                      <a:pt x="247570" y="1819640"/>
                    </a:lnTo>
                    <a:lnTo>
                      <a:pt x="256457" y="1823131"/>
                    </a:lnTo>
                    <a:lnTo>
                      <a:pt x="265979" y="1825670"/>
                    </a:lnTo>
                    <a:lnTo>
                      <a:pt x="275500" y="1827891"/>
                    </a:lnTo>
                    <a:lnTo>
                      <a:pt x="285340" y="1829478"/>
                    </a:lnTo>
                    <a:lnTo>
                      <a:pt x="295179" y="1831065"/>
                    </a:lnTo>
                    <a:lnTo>
                      <a:pt x="305336" y="1831700"/>
                    </a:lnTo>
                    <a:lnTo>
                      <a:pt x="315492" y="1831700"/>
                    </a:lnTo>
                    <a:lnTo>
                      <a:pt x="1632371" y="1831700"/>
                    </a:lnTo>
                    <a:lnTo>
                      <a:pt x="1642527" y="1831700"/>
                    </a:lnTo>
                    <a:lnTo>
                      <a:pt x="1652367" y="1831065"/>
                    </a:lnTo>
                    <a:lnTo>
                      <a:pt x="1662523" y="1829478"/>
                    </a:lnTo>
                    <a:lnTo>
                      <a:pt x="1672045" y="1827891"/>
                    </a:lnTo>
                    <a:lnTo>
                      <a:pt x="1681885" y="1825670"/>
                    </a:lnTo>
                    <a:lnTo>
                      <a:pt x="1691089" y="1823131"/>
                    </a:lnTo>
                    <a:lnTo>
                      <a:pt x="1700611" y="1819640"/>
                    </a:lnTo>
                    <a:lnTo>
                      <a:pt x="1709181" y="1816466"/>
                    </a:lnTo>
                    <a:lnTo>
                      <a:pt x="1718385" y="1812340"/>
                    </a:lnTo>
                    <a:lnTo>
                      <a:pt x="1726637" y="1808214"/>
                    </a:lnTo>
                    <a:lnTo>
                      <a:pt x="1735207" y="1803453"/>
                    </a:lnTo>
                    <a:lnTo>
                      <a:pt x="1743142" y="1798375"/>
                    </a:lnTo>
                    <a:lnTo>
                      <a:pt x="1750760" y="1792345"/>
                    </a:lnTo>
                    <a:lnTo>
                      <a:pt x="1758377" y="1786633"/>
                    </a:lnTo>
                    <a:lnTo>
                      <a:pt x="1765677" y="1780285"/>
                    </a:lnTo>
                    <a:lnTo>
                      <a:pt x="1772660" y="1773938"/>
                    </a:lnTo>
                    <a:lnTo>
                      <a:pt x="1779325" y="1766955"/>
                    </a:lnTo>
                    <a:lnTo>
                      <a:pt x="1785356" y="1759973"/>
                    </a:lnTo>
                    <a:lnTo>
                      <a:pt x="1791069" y="1752356"/>
                    </a:lnTo>
                    <a:lnTo>
                      <a:pt x="1796782" y="1744739"/>
                    </a:lnTo>
                    <a:lnTo>
                      <a:pt x="1801861" y="1736805"/>
                    </a:lnTo>
                    <a:lnTo>
                      <a:pt x="1806621" y="1728235"/>
                    </a:lnTo>
                    <a:lnTo>
                      <a:pt x="1810748" y="1719666"/>
                    </a:lnTo>
                    <a:lnTo>
                      <a:pt x="1814874" y="1710780"/>
                    </a:lnTo>
                    <a:lnTo>
                      <a:pt x="1818683" y="1702211"/>
                    </a:lnTo>
                    <a:lnTo>
                      <a:pt x="1821857" y="1692689"/>
                    </a:lnTo>
                    <a:lnTo>
                      <a:pt x="1824396" y="1683168"/>
                    </a:lnTo>
                    <a:lnTo>
                      <a:pt x="1826617" y="1673647"/>
                    </a:lnTo>
                    <a:lnTo>
                      <a:pt x="1828522" y="1663808"/>
                    </a:lnTo>
                    <a:lnTo>
                      <a:pt x="1829474" y="1653970"/>
                    </a:lnTo>
                    <a:lnTo>
                      <a:pt x="1830109" y="1643814"/>
                    </a:lnTo>
                    <a:lnTo>
                      <a:pt x="1830426" y="1633658"/>
                    </a:lnTo>
                    <a:lnTo>
                      <a:pt x="1830426" y="1113162"/>
                    </a:lnTo>
                    <a:lnTo>
                      <a:pt x="1830426" y="773570"/>
                    </a:lnTo>
                    <a:lnTo>
                      <a:pt x="1947863" y="656458"/>
                    </a:lnTo>
                    <a:lnTo>
                      <a:pt x="1947863" y="1738391"/>
                    </a:lnTo>
                    <a:lnTo>
                      <a:pt x="1947546" y="1748865"/>
                    </a:lnTo>
                    <a:lnTo>
                      <a:pt x="1946911" y="1758704"/>
                    </a:lnTo>
                    <a:lnTo>
                      <a:pt x="1945324" y="1768860"/>
                    </a:lnTo>
                    <a:lnTo>
                      <a:pt x="1943419" y="1778063"/>
                    </a:lnTo>
                    <a:lnTo>
                      <a:pt x="1941198" y="1787902"/>
                    </a:lnTo>
                    <a:lnTo>
                      <a:pt x="1938659" y="1797423"/>
                    </a:lnTo>
                    <a:lnTo>
                      <a:pt x="1935802" y="1806627"/>
                    </a:lnTo>
                    <a:lnTo>
                      <a:pt x="1932311" y="1815831"/>
                    </a:lnTo>
                    <a:lnTo>
                      <a:pt x="1928184" y="1824400"/>
                    </a:lnTo>
                    <a:lnTo>
                      <a:pt x="1923741" y="1832969"/>
                    </a:lnTo>
                    <a:lnTo>
                      <a:pt x="1918980" y="1841221"/>
                    </a:lnTo>
                    <a:lnTo>
                      <a:pt x="1913902" y="1849156"/>
                    </a:lnTo>
                    <a:lnTo>
                      <a:pt x="1908188" y="1856773"/>
                    </a:lnTo>
                    <a:lnTo>
                      <a:pt x="1902475" y="1864707"/>
                    </a:lnTo>
                    <a:lnTo>
                      <a:pt x="1896127" y="1871689"/>
                    </a:lnTo>
                    <a:lnTo>
                      <a:pt x="1889462" y="1878671"/>
                    </a:lnTo>
                    <a:lnTo>
                      <a:pt x="1882797" y="1885336"/>
                    </a:lnTo>
                    <a:lnTo>
                      <a:pt x="1875497" y="1891366"/>
                    </a:lnTo>
                    <a:lnTo>
                      <a:pt x="1868197" y="1897397"/>
                    </a:lnTo>
                    <a:lnTo>
                      <a:pt x="1860579" y="1902792"/>
                    </a:lnTo>
                    <a:lnTo>
                      <a:pt x="1852327" y="1907870"/>
                    </a:lnTo>
                    <a:lnTo>
                      <a:pt x="1844074" y="1912631"/>
                    </a:lnTo>
                    <a:lnTo>
                      <a:pt x="1835187" y="1917074"/>
                    </a:lnTo>
                    <a:lnTo>
                      <a:pt x="1826617" y="1920882"/>
                    </a:lnTo>
                    <a:lnTo>
                      <a:pt x="1817413" y="1924691"/>
                    </a:lnTo>
                    <a:lnTo>
                      <a:pt x="1808209" y="1927865"/>
                    </a:lnTo>
                    <a:lnTo>
                      <a:pt x="1799004" y="1930404"/>
                    </a:lnTo>
                    <a:lnTo>
                      <a:pt x="1789482" y="1932625"/>
                    </a:lnTo>
                    <a:lnTo>
                      <a:pt x="1779643" y="1934530"/>
                    </a:lnTo>
                    <a:lnTo>
                      <a:pt x="1769803" y="1935482"/>
                    </a:lnTo>
                    <a:lnTo>
                      <a:pt x="1759647" y="1936434"/>
                    </a:lnTo>
                    <a:lnTo>
                      <a:pt x="1749173" y="1936751"/>
                    </a:lnTo>
                    <a:lnTo>
                      <a:pt x="198373" y="1936751"/>
                    </a:lnTo>
                    <a:lnTo>
                      <a:pt x="188216" y="1936434"/>
                    </a:lnTo>
                    <a:lnTo>
                      <a:pt x="178377" y="1935482"/>
                    </a:lnTo>
                    <a:lnTo>
                      <a:pt x="168538" y="1934530"/>
                    </a:lnTo>
                    <a:lnTo>
                      <a:pt x="158699" y="1932625"/>
                    </a:lnTo>
                    <a:lnTo>
                      <a:pt x="148859" y="1930404"/>
                    </a:lnTo>
                    <a:lnTo>
                      <a:pt x="139655" y="1927865"/>
                    </a:lnTo>
                    <a:lnTo>
                      <a:pt x="130133" y="1924691"/>
                    </a:lnTo>
                    <a:lnTo>
                      <a:pt x="121246" y="1920882"/>
                    </a:lnTo>
                    <a:lnTo>
                      <a:pt x="112359" y="1917074"/>
                    </a:lnTo>
                    <a:lnTo>
                      <a:pt x="103789" y="1912631"/>
                    </a:lnTo>
                    <a:lnTo>
                      <a:pt x="95537" y="1907870"/>
                    </a:lnTo>
                    <a:lnTo>
                      <a:pt x="87602" y="1902792"/>
                    </a:lnTo>
                    <a:lnTo>
                      <a:pt x="79984" y="1897397"/>
                    </a:lnTo>
                    <a:lnTo>
                      <a:pt x="72049" y="1891366"/>
                    </a:lnTo>
                    <a:lnTo>
                      <a:pt x="65067" y="1885336"/>
                    </a:lnTo>
                    <a:lnTo>
                      <a:pt x="58084" y="1878671"/>
                    </a:lnTo>
                    <a:lnTo>
                      <a:pt x="51418" y="1871689"/>
                    </a:lnTo>
                    <a:lnTo>
                      <a:pt x="45388" y="1864707"/>
                    </a:lnTo>
                    <a:lnTo>
                      <a:pt x="39357" y="1856773"/>
                    </a:lnTo>
                    <a:lnTo>
                      <a:pt x="33962" y="1849156"/>
                    </a:lnTo>
                    <a:lnTo>
                      <a:pt x="28883" y="1841221"/>
                    </a:lnTo>
                    <a:lnTo>
                      <a:pt x="24122" y="1832969"/>
                    </a:lnTo>
                    <a:lnTo>
                      <a:pt x="19679" y="1824400"/>
                    </a:lnTo>
                    <a:lnTo>
                      <a:pt x="15870" y="1815831"/>
                    </a:lnTo>
                    <a:lnTo>
                      <a:pt x="12061" y="1806627"/>
                    </a:lnTo>
                    <a:lnTo>
                      <a:pt x="8887" y="1797423"/>
                    </a:lnTo>
                    <a:lnTo>
                      <a:pt x="6348" y="1787902"/>
                    </a:lnTo>
                    <a:lnTo>
                      <a:pt x="4126" y="1778063"/>
                    </a:lnTo>
                    <a:lnTo>
                      <a:pt x="2222" y="1768860"/>
                    </a:lnTo>
                    <a:lnTo>
                      <a:pt x="1270" y="1758704"/>
                    </a:lnTo>
                    <a:lnTo>
                      <a:pt x="318" y="1748865"/>
                    </a:lnTo>
                    <a:lnTo>
                      <a:pt x="0" y="1738391"/>
                    </a:lnTo>
                    <a:lnTo>
                      <a:pt x="0" y="517448"/>
                    </a:lnTo>
                    <a:lnTo>
                      <a:pt x="318" y="507292"/>
                    </a:lnTo>
                    <a:lnTo>
                      <a:pt x="1270" y="497453"/>
                    </a:lnTo>
                    <a:lnTo>
                      <a:pt x="2222" y="487297"/>
                    </a:lnTo>
                    <a:lnTo>
                      <a:pt x="4126" y="477776"/>
                    </a:lnTo>
                    <a:lnTo>
                      <a:pt x="6348" y="467937"/>
                    </a:lnTo>
                    <a:lnTo>
                      <a:pt x="8887" y="458416"/>
                    </a:lnTo>
                    <a:lnTo>
                      <a:pt x="12061" y="449212"/>
                    </a:lnTo>
                    <a:lnTo>
                      <a:pt x="15870" y="440008"/>
                    </a:lnTo>
                    <a:lnTo>
                      <a:pt x="19679" y="431439"/>
                    </a:lnTo>
                    <a:lnTo>
                      <a:pt x="24122" y="423187"/>
                    </a:lnTo>
                    <a:lnTo>
                      <a:pt x="28883" y="414618"/>
                    </a:lnTo>
                    <a:lnTo>
                      <a:pt x="33962" y="406684"/>
                    </a:lnTo>
                    <a:lnTo>
                      <a:pt x="39357" y="399067"/>
                    </a:lnTo>
                    <a:lnTo>
                      <a:pt x="45388" y="391450"/>
                    </a:lnTo>
                    <a:lnTo>
                      <a:pt x="51418" y="384150"/>
                    </a:lnTo>
                    <a:lnTo>
                      <a:pt x="58084" y="377168"/>
                    </a:lnTo>
                    <a:lnTo>
                      <a:pt x="65067" y="370503"/>
                    </a:lnTo>
                    <a:lnTo>
                      <a:pt x="72049" y="364473"/>
                    </a:lnTo>
                    <a:lnTo>
                      <a:pt x="79984" y="358443"/>
                    </a:lnTo>
                    <a:lnTo>
                      <a:pt x="87602" y="353047"/>
                    </a:lnTo>
                    <a:lnTo>
                      <a:pt x="95537" y="347969"/>
                    </a:lnTo>
                    <a:lnTo>
                      <a:pt x="103789" y="343209"/>
                    </a:lnTo>
                    <a:lnTo>
                      <a:pt x="112359" y="338766"/>
                    </a:lnTo>
                    <a:lnTo>
                      <a:pt x="121246" y="334957"/>
                    </a:lnTo>
                    <a:lnTo>
                      <a:pt x="130133" y="331149"/>
                    </a:lnTo>
                    <a:lnTo>
                      <a:pt x="139655" y="328292"/>
                    </a:lnTo>
                    <a:lnTo>
                      <a:pt x="148859" y="325436"/>
                    </a:lnTo>
                    <a:lnTo>
                      <a:pt x="158699" y="323214"/>
                    </a:lnTo>
                    <a:lnTo>
                      <a:pt x="168538" y="321310"/>
                    </a:lnTo>
                    <a:lnTo>
                      <a:pt x="178377" y="320358"/>
                    </a:lnTo>
                    <a:lnTo>
                      <a:pt x="188216" y="319723"/>
                    </a:lnTo>
                    <a:lnTo>
                      <a:pt x="198373" y="319088"/>
                    </a:lnTo>
                    <a:close/>
                    <a:moveTo>
                      <a:pt x="2076641" y="106363"/>
                    </a:moveTo>
                    <a:lnTo>
                      <a:pt x="2082030" y="106363"/>
                    </a:lnTo>
                    <a:lnTo>
                      <a:pt x="2087102" y="106363"/>
                    </a:lnTo>
                    <a:lnTo>
                      <a:pt x="2092174" y="106679"/>
                    </a:lnTo>
                    <a:lnTo>
                      <a:pt x="2097246" y="107313"/>
                    </a:lnTo>
                    <a:lnTo>
                      <a:pt x="2102318" y="108263"/>
                    </a:lnTo>
                    <a:lnTo>
                      <a:pt x="2107390" y="109213"/>
                    </a:lnTo>
                    <a:lnTo>
                      <a:pt x="2112145" y="110797"/>
                    </a:lnTo>
                    <a:lnTo>
                      <a:pt x="2117217" y="112064"/>
                    </a:lnTo>
                    <a:lnTo>
                      <a:pt x="2121972" y="113965"/>
                    </a:lnTo>
                    <a:lnTo>
                      <a:pt x="2126727" y="116182"/>
                    </a:lnTo>
                    <a:lnTo>
                      <a:pt x="2131482" y="118399"/>
                    </a:lnTo>
                    <a:lnTo>
                      <a:pt x="2136237" y="120933"/>
                    </a:lnTo>
                    <a:lnTo>
                      <a:pt x="2140358" y="123784"/>
                    </a:lnTo>
                    <a:lnTo>
                      <a:pt x="2144796" y="126634"/>
                    </a:lnTo>
                    <a:lnTo>
                      <a:pt x="2148916" y="130119"/>
                    </a:lnTo>
                    <a:lnTo>
                      <a:pt x="2153354" y="133603"/>
                    </a:lnTo>
                    <a:lnTo>
                      <a:pt x="2157158" y="137087"/>
                    </a:lnTo>
                    <a:lnTo>
                      <a:pt x="2166351" y="146589"/>
                    </a:lnTo>
                    <a:lnTo>
                      <a:pt x="2169838" y="150707"/>
                    </a:lnTo>
                    <a:lnTo>
                      <a:pt x="2173642" y="154825"/>
                    </a:lnTo>
                    <a:lnTo>
                      <a:pt x="2176812" y="158626"/>
                    </a:lnTo>
                    <a:lnTo>
                      <a:pt x="2179665" y="163060"/>
                    </a:lnTo>
                    <a:lnTo>
                      <a:pt x="2182835" y="167811"/>
                    </a:lnTo>
                    <a:lnTo>
                      <a:pt x="2185371" y="172246"/>
                    </a:lnTo>
                    <a:lnTo>
                      <a:pt x="2187273" y="176997"/>
                    </a:lnTo>
                    <a:lnTo>
                      <a:pt x="2189492" y="181748"/>
                    </a:lnTo>
                    <a:lnTo>
                      <a:pt x="2191394" y="186183"/>
                    </a:lnTo>
                    <a:lnTo>
                      <a:pt x="2192979" y="191567"/>
                    </a:lnTo>
                    <a:lnTo>
                      <a:pt x="2194247" y="196002"/>
                    </a:lnTo>
                    <a:lnTo>
                      <a:pt x="2195515" y="201387"/>
                    </a:lnTo>
                    <a:lnTo>
                      <a:pt x="2196149" y="206454"/>
                    </a:lnTo>
                    <a:lnTo>
                      <a:pt x="2196783" y="211522"/>
                    </a:lnTo>
                    <a:lnTo>
                      <a:pt x="2197100" y="216590"/>
                    </a:lnTo>
                    <a:lnTo>
                      <a:pt x="2197100" y="221658"/>
                    </a:lnTo>
                    <a:lnTo>
                      <a:pt x="2197100" y="226726"/>
                    </a:lnTo>
                    <a:lnTo>
                      <a:pt x="2196783" y="231794"/>
                    </a:lnTo>
                    <a:lnTo>
                      <a:pt x="2196149" y="236862"/>
                    </a:lnTo>
                    <a:lnTo>
                      <a:pt x="2195515" y="241613"/>
                    </a:lnTo>
                    <a:lnTo>
                      <a:pt x="2194247" y="246681"/>
                    </a:lnTo>
                    <a:lnTo>
                      <a:pt x="2192979" y="251749"/>
                    </a:lnTo>
                    <a:lnTo>
                      <a:pt x="2191394" y="256500"/>
                    </a:lnTo>
                    <a:lnTo>
                      <a:pt x="2189492" y="261251"/>
                    </a:lnTo>
                    <a:lnTo>
                      <a:pt x="2187273" y="266319"/>
                    </a:lnTo>
                    <a:lnTo>
                      <a:pt x="2185371" y="270754"/>
                    </a:lnTo>
                    <a:lnTo>
                      <a:pt x="2182835" y="275505"/>
                    </a:lnTo>
                    <a:lnTo>
                      <a:pt x="2179665" y="279623"/>
                    </a:lnTo>
                    <a:lnTo>
                      <a:pt x="2176812" y="284057"/>
                    </a:lnTo>
                    <a:lnTo>
                      <a:pt x="2173642" y="288492"/>
                    </a:lnTo>
                    <a:lnTo>
                      <a:pt x="2169838" y="292609"/>
                    </a:lnTo>
                    <a:lnTo>
                      <a:pt x="2166351" y="296410"/>
                    </a:lnTo>
                    <a:lnTo>
                      <a:pt x="1970764" y="491843"/>
                    </a:lnTo>
                    <a:lnTo>
                      <a:pt x="1967277" y="495010"/>
                    </a:lnTo>
                    <a:lnTo>
                      <a:pt x="1963473" y="498178"/>
                    </a:lnTo>
                    <a:lnTo>
                      <a:pt x="1959986" y="500712"/>
                    </a:lnTo>
                    <a:lnTo>
                      <a:pt x="1956816" y="502612"/>
                    </a:lnTo>
                    <a:lnTo>
                      <a:pt x="1953329" y="504513"/>
                    </a:lnTo>
                    <a:lnTo>
                      <a:pt x="1950476" y="505463"/>
                    </a:lnTo>
                    <a:lnTo>
                      <a:pt x="1947623" y="505780"/>
                    </a:lnTo>
                    <a:lnTo>
                      <a:pt x="1944771" y="506413"/>
                    </a:lnTo>
                    <a:lnTo>
                      <a:pt x="1941918" y="505780"/>
                    </a:lnTo>
                    <a:lnTo>
                      <a:pt x="1939382" y="505463"/>
                    </a:lnTo>
                    <a:lnTo>
                      <a:pt x="1936846" y="504513"/>
                    </a:lnTo>
                    <a:lnTo>
                      <a:pt x="1933993" y="502929"/>
                    </a:lnTo>
                    <a:lnTo>
                      <a:pt x="1931457" y="501662"/>
                    </a:lnTo>
                    <a:lnTo>
                      <a:pt x="1928921" y="499445"/>
                    </a:lnTo>
                    <a:lnTo>
                      <a:pt x="1924166" y="494694"/>
                    </a:lnTo>
                    <a:lnTo>
                      <a:pt x="1919094" y="489309"/>
                    </a:lnTo>
                    <a:lnTo>
                      <a:pt x="1914022" y="482657"/>
                    </a:lnTo>
                    <a:lnTo>
                      <a:pt x="1903561" y="467770"/>
                    </a:lnTo>
                    <a:lnTo>
                      <a:pt x="1897855" y="459852"/>
                    </a:lnTo>
                    <a:lnTo>
                      <a:pt x="1891515" y="451616"/>
                    </a:lnTo>
                    <a:lnTo>
                      <a:pt x="1884541" y="443698"/>
                    </a:lnTo>
                    <a:lnTo>
                      <a:pt x="1877250" y="435779"/>
                    </a:lnTo>
                    <a:lnTo>
                      <a:pt x="1868057" y="426277"/>
                    </a:lnTo>
                    <a:lnTo>
                      <a:pt x="1859815" y="418991"/>
                    </a:lnTo>
                    <a:lnTo>
                      <a:pt x="1851890" y="412023"/>
                    </a:lnTo>
                    <a:lnTo>
                      <a:pt x="1843966" y="406005"/>
                    </a:lnTo>
                    <a:lnTo>
                      <a:pt x="1836041" y="399987"/>
                    </a:lnTo>
                    <a:lnTo>
                      <a:pt x="1820825" y="389217"/>
                    </a:lnTo>
                    <a:lnTo>
                      <a:pt x="1814485" y="384466"/>
                    </a:lnTo>
                    <a:lnTo>
                      <a:pt x="1808462" y="379398"/>
                    </a:lnTo>
                    <a:lnTo>
                      <a:pt x="1804024" y="374647"/>
                    </a:lnTo>
                    <a:lnTo>
                      <a:pt x="1802122" y="372113"/>
                    </a:lnTo>
                    <a:lnTo>
                      <a:pt x="1800220" y="369579"/>
                    </a:lnTo>
                    <a:lnTo>
                      <a:pt x="1798635" y="367045"/>
                    </a:lnTo>
                    <a:lnTo>
                      <a:pt x="1798001" y="364511"/>
                    </a:lnTo>
                    <a:lnTo>
                      <a:pt x="1797367" y="361660"/>
                    </a:lnTo>
                    <a:lnTo>
                      <a:pt x="1797050" y="359126"/>
                    </a:lnTo>
                    <a:lnTo>
                      <a:pt x="1797367" y="355959"/>
                    </a:lnTo>
                    <a:lnTo>
                      <a:pt x="1797684" y="353108"/>
                    </a:lnTo>
                    <a:lnTo>
                      <a:pt x="1798635" y="349941"/>
                    </a:lnTo>
                    <a:lnTo>
                      <a:pt x="1800220" y="346773"/>
                    </a:lnTo>
                    <a:lnTo>
                      <a:pt x="1802439" y="343289"/>
                    </a:lnTo>
                    <a:lnTo>
                      <a:pt x="1804975" y="340122"/>
                    </a:lnTo>
                    <a:lnTo>
                      <a:pt x="1807828" y="336637"/>
                    </a:lnTo>
                    <a:lnTo>
                      <a:pt x="1811632" y="332520"/>
                    </a:lnTo>
                    <a:lnTo>
                      <a:pt x="2006902" y="137087"/>
                    </a:lnTo>
                    <a:lnTo>
                      <a:pt x="2011023" y="133603"/>
                    </a:lnTo>
                    <a:lnTo>
                      <a:pt x="2014827" y="130119"/>
                    </a:lnTo>
                    <a:lnTo>
                      <a:pt x="2019265" y="126634"/>
                    </a:lnTo>
                    <a:lnTo>
                      <a:pt x="2023703" y="123784"/>
                    </a:lnTo>
                    <a:lnTo>
                      <a:pt x="2028141" y="120933"/>
                    </a:lnTo>
                    <a:lnTo>
                      <a:pt x="2032896" y="118399"/>
                    </a:lnTo>
                    <a:lnTo>
                      <a:pt x="2037017" y="116182"/>
                    </a:lnTo>
                    <a:lnTo>
                      <a:pt x="2041772" y="113965"/>
                    </a:lnTo>
                    <a:lnTo>
                      <a:pt x="2046843" y="112064"/>
                    </a:lnTo>
                    <a:lnTo>
                      <a:pt x="2051598" y="110797"/>
                    </a:lnTo>
                    <a:lnTo>
                      <a:pt x="2056670" y="109213"/>
                    </a:lnTo>
                    <a:lnTo>
                      <a:pt x="2061425" y="108263"/>
                    </a:lnTo>
                    <a:lnTo>
                      <a:pt x="2066497" y="107313"/>
                    </a:lnTo>
                    <a:lnTo>
                      <a:pt x="2071569" y="106679"/>
                    </a:lnTo>
                    <a:lnTo>
                      <a:pt x="2076641" y="106363"/>
                    </a:lnTo>
                    <a:close/>
                    <a:moveTo>
                      <a:pt x="2213628" y="19050"/>
                    </a:moveTo>
                    <a:lnTo>
                      <a:pt x="2219371" y="19369"/>
                    </a:lnTo>
                    <a:lnTo>
                      <a:pt x="2225751" y="20007"/>
                    </a:lnTo>
                    <a:lnTo>
                      <a:pt x="2231493" y="21602"/>
                    </a:lnTo>
                    <a:lnTo>
                      <a:pt x="2237236" y="23516"/>
                    </a:lnTo>
                    <a:lnTo>
                      <a:pt x="2242978" y="26387"/>
                    </a:lnTo>
                    <a:lnTo>
                      <a:pt x="2248401" y="29258"/>
                    </a:lnTo>
                    <a:lnTo>
                      <a:pt x="2253506" y="33087"/>
                    </a:lnTo>
                    <a:lnTo>
                      <a:pt x="2258291" y="37234"/>
                    </a:lnTo>
                    <a:lnTo>
                      <a:pt x="2262757" y="42019"/>
                    </a:lnTo>
                    <a:lnTo>
                      <a:pt x="2266266" y="47123"/>
                    </a:lnTo>
                    <a:lnTo>
                      <a:pt x="2269457" y="52547"/>
                    </a:lnTo>
                    <a:lnTo>
                      <a:pt x="2272009" y="58608"/>
                    </a:lnTo>
                    <a:lnTo>
                      <a:pt x="2273923" y="64350"/>
                    </a:lnTo>
                    <a:lnTo>
                      <a:pt x="2275518" y="70412"/>
                    </a:lnTo>
                    <a:lnTo>
                      <a:pt x="2276475" y="76154"/>
                    </a:lnTo>
                    <a:lnTo>
                      <a:pt x="2276475" y="82216"/>
                    </a:lnTo>
                    <a:lnTo>
                      <a:pt x="2276475" y="88277"/>
                    </a:lnTo>
                    <a:lnTo>
                      <a:pt x="2275518" y="94338"/>
                    </a:lnTo>
                    <a:lnTo>
                      <a:pt x="2273923" y="100400"/>
                    </a:lnTo>
                    <a:lnTo>
                      <a:pt x="2272009" y="106142"/>
                    </a:lnTo>
                    <a:lnTo>
                      <a:pt x="2269457" y="111565"/>
                    </a:lnTo>
                    <a:lnTo>
                      <a:pt x="2266266" y="117308"/>
                    </a:lnTo>
                    <a:lnTo>
                      <a:pt x="2262757" y="122412"/>
                    </a:lnTo>
                    <a:lnTo>
                      <a:pt x="2258291" y="126878"/>
                    </a:lnTo>
                    <a:lnTo>
                      <a:pt x="2241064" y="144105"/>
                    </a:lnTo>
                    <a:lnTo>
                      <a:pt x="2236598" y="148253"/>
                    </a:lnTo>
                    <a:lnTo>
                      <a:pt x="2232769" y="150805"/>
                    </a:lnTo>
                    <a:lnTo>
                      <a:pt x="2230855" y="151443"/>
                    </a:lnTo>
                    <a:lnTo>
                      <a:pt x="2228941" y="152400"/>
                    </a:lnTo>
                    <a:lnTo>
                      <a:pt x="2227346" y="152400"/>
                    </a:lnTo>
                    <a:lnTo>
                      <a:pt x="2225751" y="152400"/>
                    </a:lnTo>
                    <a:lnTo>
                      <a:pt x="2224156" y="152081"/>
                    </a:lnTo>
                    <a:lnTo>
                      <a:pt x="2222880" y="151443"/>
                    </a:lnTo>
                    <a:lnTo>
                      <a:pt x="2220009" y="149848"/>
                    </a:lnTo>
                    <a:lnTo>
                      <a:pt x="2217456" y="147295"/>
                    </a:lnTo>
                    <a:lnTo>
                      <a:pt x="2214904" y="143786"/>
                    </a:lnTo>
                    <a:lnTo>
                      <a:pt x="2212352" y="140277"/>
                    </a:lnTo>
                    <a:lnTo>
                      <a:pt x="2209800" y="135811"/>
                    </a:lnTo>
                    <a:lnTo>
                      <a:pt x="2204058" y="126240"/>
                    </a:lnTo>
                    <a:lnTo>
                      <a:pt x="2201186" y="121455"/>
                    </a:lnTo>
                    <a:lnTo>
                      <a:pt x="2197358" y="116351"/>
                    </a:lnTo>
                    <a:lnTo>
                      <a:pt x="2193530" y="111246"/>
                    </a:lnTo>
                    <a:lnTo>
                      <a:pt x="2189064" y="106461"/>
                    </a:lnTo>
                    <a:lnTo>
                      <a:pt x="2184278" y="101995"/>
                    </a:lnTo>
                    <a:lnTo>
                      <a:pt x="2179493" y="98167"/>
                    </a:lnTo>
                    <a:lnTo>
                      <a:pt x="2174389" y="94657"/>
                    </a:lnTo>
                    <a:lnTo>
                      <a:pt x="2169285" y="91467"/>
                    </a:lnTo>
                    <a:lnTo>
                      <a:pt x="2159714" y="85725"/>
                    </a:lnTo>
                    <a:lnTo>
                      <a:pt x="2155248" y="83173"/>
                    </a:lnTo>
                    <a:lnTo>
                      <a:pt x="2151739" y="80620"/>
                    </a:lnTo>
                    <a:lnTo>
                      <a:pt x="2148229" y="78068"/>
                    </a:lnTo>
                    <a:lnTo>
                      <a:pt x="2145677" y="75516"/>
                    </a:lnTo>
                    <a:lnTo>
                      <a:pt x="2144082" y="72964"/>
                    </a:lnTo>
                    <a:lnTo>
                      <a:pt x="2143763" y="71369"/>
                    </a:lnTo>
                    <a:lnTo>
                      <a:pt x="2143125" y="69774"/>
                    </a:lnTo>
                    <a:lnTo>
                      <a:pt x="2143125" y="68179"/>
                    </a:lnTo>
                    <a:lnTo>
                      <a:pt x="2143763" y="66584"/>
                    </a:lnTo>
                    <a:lnTo>
                      <a:pt x="2144082" y="64669"/>
                    </a:lnTo>
                    <a:lnTo>
                      <a:pt x="2144720" y="63074"/>
                    </a:lnTo>
                    <a:lnTo>
                      <a:pt x="2147591" y="59246"/>
                    </a:lnTo>
                    <a:lnTo>
                      <a:pt x="2151419" y="54780"/>
                    </a:lnTo>
                    <a:lnTo>
                      <a:pt x="2168647" y="37234"/>
                    </a:lnTo>
                    <a:lnTo>
                      <a:pt x="2173751" y="33087"/>
                    </a:lnTo>
                    <a:lnTo>
                      <a:pt x="2178855" y="29258"/>
                    </a:lnTo>
                    <a:lnTo>
                      <a:pt x="2183959" y="26387"/>
                    </a:lnTo>
                    <a:lnTo>
                      <a:pt x="2189702" y="23516"/>
                    </a:lnTo>
                    <a:lnTo>
                      <a:pt x="2195125" y="21602"/>
                    </a:lnTo>
                    <a:lnTo>
                      <a:pt x="2201506" y="20007"/>
                    </a:lnTo>
                    <a:lnTo>
                      <a:pt x="2207248" y="19369"/>
                    </a:lnTo>
                    <a:lnTo>
                      <a:pt x="2213628" y="19050"/>
                    </a:lnTo>
                    <a:close/>
                    <a:moveTo>
                      <a:pt x="1985550" y="0"/>
                    </a:moveTo>
                    <a:lnTo>
                      <a:pt x="1989686" y="0"/>
                    </a:lnTo>
                    <a:lnTo>
                      <a:pt x="1993822" y="0"/>
                    </a:lnTo>
                    <a:lnTo>
                      <a:pt x="1997640" y="634"/>
                    </a:lnTo>
                    <a:lnTo>
                      <a:pt x="2001776" y="1903"/>
                    </a:lnTo>
                    <a:lnTo>
                      <a:pt x="2005594" y="2855"/>
                    </a:lnTo>
                    <a:lnTo>
                      <a:pt x="2009411" y="4759"/>
                    </a:lnTo>
                    <a:lnTo>
                      <a:pt x="2012911" y="6980"/>
                    </a:lnTo>
                    <a:lnTo>
                      <a:pt x="2016411" y="9518"/>
                    </a:lnTo>
                    <a:lnTo>
                      <a:pt x="2019592" y="12374"/>
                    </a:lnTo>
                    <a:lnTo>
                      <a:pt x="2022456" y="15229"/>
                    </a:lnTo>
                    <a:lnTo>
                      <a:pt x="2025001" y="19037"/>
                    </a:lnTo>
                    <a:lnTo>
                      <a:pt x="2026910" y="22210"/>
                    </a:lnTo>
                    <a:lnTo>
                      <a:pt x="2028819" y="26334"/>
                    </a:lnTo>
                    <a:lnTo>
                      <a:pt x="2030091" y="29824"/>
                    </a:lnTo>
                    <a:lnTo>
                      <a:pt x="2031364" y="33949"/>
                    </a:lnTo>
                    <a:lnTo>
                      <a:pt x="2031682" y="37757"/>
                    </a:lnTo>
                    <a:lnTo>
                      <a:pt x="2032000" y="41881"/>
                    </a:lnTo>
                    <a:lnTo>
                      <a:pt x="2031682" y="46006"/>
                    </a:lnTo>
                    <a:lnTo>
                      <a:pt x="2031046" y="49813"/>
                    </a:lnTo>
                    <a:lnTo>
                      <a:pt x="2030091" y="53938"/>
                    </a:lnTo>
                    <a:lnTo>
                      <a:pt x="2028819" y="57745"/>
                    </a:lnTo>
                    <a:lnTo>
                      <a:pt x="2026910" y="61553"/>
                    </a:lnTo>
                    <a:lnTo>
                      <a:pt x="2025001" y="65043"/>
                    </a:lnTo>
                    <a:lnTo>
                      <a:pt x="2022456" y="68533"/>
                    </a:lnTo>
                    <a:lnTo>
                      <a:pt x="2019592" y="71706"/>
                    </a:lnTo>
                    <a:lnTo>
                      <a:pt x="1637177" y="453081"/>
                    </a:lnTo>
                    <a:lnTo>
                      <a:pt x="1633995" y="455937"/>
                    </a:lnTo>
                    <a:lnTo>
                      <a:pt x="1630814" y="458158"/>
                    </a:lnTo>
                    <a:lnTo>
                      <a:pt x="1626996" y="460379"/>
                    </a:lnTo>
                    <a:lnTo>
                      <a:pt x="1623496" y="462283"/>
                    </a:lnTo>
                    <a:lnTo>
                      <a:pt x="1619360" y="463552"/>
                    </a:lnTo>
                    <a:lnTo>
                      <a:pt x="1615224" y="464186"/>
                    </a:lnTo>
                    <a:lnTo>
                      <a:pt x="1611407" y="465138"/>
                    </a:lnTo>
                    <a:lnTo>
                      <a:pt x="1607271" y="465138"/>
                    </a:lnTo>
                    <a:lnTo>
                      <a:pt x="1603135" y="465138"/>
                    </a:lnTo>
                    <a:lnTo>
                      <a:pt x="1599317" y="464186"/>
                    </a:lnTo>
                    <a:lnTo>
                      <a:pt x="1595181" y="463552"/>
                    </a:lnTo>
                    <a:lnTo>
                      <a:pt x="1591681" y="462283"/>
                    </a:lnTo>
                    <a:lnTo>
                      <a:pt x="1587864" y="460379"/>
                    </a:lnTo>
                    <a:lnTo>
                      <a:pt x="1584364" y="458158"/>
                    </a:lnTo>
                    <a:lnTo>
                      <a:pt x="1580864" y="455937"/>
                    </a:lnTo>
                    <a:lnTo>
                      <a:pt x="1577683" y="453081"/>
                    </a:lnTo>
                    <a:lnTo>
                      <a:pt x="1574819" y="449591"/>
                    </a:lnTo>
                    <a:lnTo>
                      <a:pt x="1572274" y="446418"/>
                    </a:lnTo>
                    <a:lnTo>
                      <a:pt x="1570047" y="442928"/>
                    </a:lnTo>
                    <a:lnTo>
                      <a:pt x="1568138" y="439121"/>
                    </a:lnTo>
                    <a:lnTo>
                      <a:pt x="1567184" y="435314"/>
                    </a:lnTo>
                    <a:lnTo>
                      <a:pt x="1565911" y="431189"/>
                    </a:lnTo>
                    <a:lnTo>
                      <a:pt x="1565275" y="427381"/>
                    </a:lnTo>
                    <a:lnTo>
                      <a:pt x="1565275" y="423257"/>
                    </a:lnTo>
                    <a:lnTo>
                      <a:pt x="1565275" y="419132"/>
                    </a:lnTo>
                    <a:lnTo>
                      <a:pt x="1565911" y="415007"/>
                    </a:lnTo>
                    <a:lnTo>
                      <a:pt x="1567184" y="411517"/>
                    </a:lnTo>
                    <a:lnTo>
                      <a:pt x="1568138" y="407393"/>
                    </a:lnTo>
                    <a:lnTo>
                      <a:pt x="1570047" y="403902"/>
                    </a:lnTo>
                    <a:lnTo>
                      <a:pt x="1572274" y="400095"/>
                    </a:lnTo>
                    <a:lnTo>
                      <a:pt x="1574819" y="396922"/>
                    </a:lnTo>
                    <a:lnTo>
                      <a:pt x="1577683" y="393749"/>
                    </a:lnTo>
                    <a:lnTo>
                      <a:pt x="1960098" y="12374"/>
                    </a:lnTo>
                    <a:lnTo>
                      <a:pt x="1962962" y="9518"/>
                    </a:lnTo>
                    <a:lnTo>
                      <a:pt x="1966779" y="6980"/>
                    </a:lnTo>
                    <a:lnTo>
                      <a:pt x="1970279" y="4759"/>
                    </a:lnTo>
                    <a:lnTo>
                      <a:pt x="1974097" y="2855"/>
                    </a:lnTo>
                    <a:lnTo>
                      <a:pt x="1977596" y="1903"/>
                    </a:lnTo>
                    <a:lnTo>
                      <a:pt x="1981732" y="634"/>
                    </a:lnTo>
                    <a:lnTo>
                      <a:pt x="198555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 contourW="12700">
                  <a:contourClr>
                    <a:srgbClr val="FFFFFF"/>
                  </a:contourClr>
                </a:sp3d>
              </a:bodyPr>
              <a:lstStyle/>
              <a:p>
                <a:pPr algn="ctr">
                  <a:defRPr/>
                </a:pPr>
                <a:endParaRPr lang="zh-CN" altLang="en-US" sz="3600" dirty="0">
                  <a:solidFill>
                    <a:srgbClr val="FFFFFF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1520154" y="5062184"/>
              <a:ext cx="3507240" cy="646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17" tIns="45708" rIns="91417" bIns="45708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marL="0" lvl="1" algn="ctr"/>
              <a:r>
                <a:rPr lang="en-US" altLang="zh-CN" sz="3600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1.5  </a:t>
              </a:r>
              <a:r>
                <a:rPr lang="zh-CN" altLang="en-US" sz="3600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本</a:t>
              </a:r>
              <a:r>
                <a:rPr lang="zh-CN" altLang="en-US" sz="36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章</a:t>
              </a:r>
              <a:r>
                <a:rPr lang="zh-CN" altLang="en-US" sz="3600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小结</a:t>
              </a:r>
              <a:endPara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27100" y="1114100"/>
            <a:ext cx="2378140" cy="668910"/>
            <a:chOff x="927100" y="1197990"/>
            <a:chExt cx="2378140" cy="668910"/>
          </a:xfrm>
        </p:grpSpPr>
        <p:sp>
          <p:nvSpPr>
            <p:cNvPr id="10" name="矩形 9"/>
            <p:cNvSpPr/>
            <p:nvPr/>
          </p:nvSpPr>
          <p:spPr>
            <a:xfrm>
              <a:off x="1472687" y="1197990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内容回顾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11" name="组合 99"/>
            <p:cNvGrpSpPr/>
            <p:nvPr/>
          </p:nvGrpSpPr>
          <p:grpSpPr>
            <a:xfrm>
              <a:off x="927100" y="1214339"/>
              <a:ext cx="643729" cy="652561"/>
              <a:chOff x="5547069" y="765931"/>
              <a:chExt cx="1482696" cy="1322356"/>
            </a:xfrm>
          </p:grpSpPr>
          <p:grpSp>
            <p:nvGrpSpPr>
              <p:cNvPr id="12" name="组合 38"/>
              <p:cNvGrpSpPr/>
              <p:nvPr/>
            </p:nvGrpSpPr>
            <p:grpSpPr>
              <a:xfrm>
                <a:off x="5547069" y="765931"/>
                <a:ext cx="1482696" cy="1322356"/>
                <a:chOff x="3337529" y="1161598"/>
                <a:chExt cx="2138277" cy="1907040"/>
              </a:xfrm>
            </p:grpSpPr>
            <p:sp>
              <p:nvSpPr>
                <p:cNvPr id="16" name="任意多边形 15"/>
                <p:cNvSpPr/>
                <p:nvPr/>
              </p:nvSpPr>
              <p:spPr bwMode="auto">
                <a:xfrm rot="10800000">
                  <a:off x="3342359" y="1161598"/>
                  <a:ext cx="2123116" cy="1895135"/>
                </a:xfrm>
                <a:custGeom>
                  <a:avLst/>
                  <a:gdLst>
                    <a:gd name="connsiteX0" fmla="*/ 1795626 w 2791387"/>
                    <a:gd name="connsiteY0" fmla="*/ 2117139 h 2491648"/>
                    <a:gd name="connsiteX1" fmla="*/ 1950063 w 2791387"/>
                    <a:gd name="connsiteY1" fmla="*/ 2028434 h 2491648"/>
                    <a:gd name="connsiteX2" fmla="*/ 2350454 w 2791387"/>
                    <a:gd name="connsiteY2" fmla="*/ 1334530 h 2491648"/>
                    <a:gd name="connsiteX3" fmla="*/ 2350454 w 2791387"/>
                    <a:gd name="connsiteY3" fmla="*/ 1157119 h 2491648"/>
                    <a:gd name="connsiteX4" fmla="*/ 1950063 w 2791387"/>
                    <a:gd name="connsiteY4" fmla="*/ 463215 h 2491648"/>
                    <a:gd name="connsiteX5" fmla="*/ 1795626 w 2791387"/>
                    <a:gd name="connsiteY5" fmla="*/ 374509 h 2491648"/>
                    <a:gd name="connsiteX6" fmla="*/ 994844 w 2791387"/>
                    <a:gd name="connsiteY6" fmla="*/ 374509 h 2491648"/>
                    <a:gd name="connsiteX7" fmla="*/ 840408 w 2791387"/>
                    <a:gd name="connsiteY7" fmla="*/ 463215 h 2491648"/>
                    <a:gd name="connsiteX8" fmla="*/ 440017 w 2791387"/>
                    <a:gd name="connsiteY8" fmla="*/ 1157119 h 2491648"/>
                    <a:gd name="connsiteX9" fmla="*/ 440017 w 2791387"/>
                    <a:gd name="connsiteY9" fmla="*/ 1334530 h 2491648"/>
                    <a:gd name="connsiteX10" fmla="*/ 840408 w 2791387"/>
                    <a:gd name="connsiteY10" fmla="*/ 2028434 h 2491648"/>
                    <a:gd name="connsiteX11" fmla="*/ 994844 w 2791387"/>
                    <a:gd name="connsiteY11" fmla="*/ 2117139 h 2491648"/>
                    <a:gd name="connsiteX12" fmla="*/ 1967414 w 2791387"/>
                    <a:gd name="connsiteY12" fmla="*/ 2491648 h 2491648"/>
                    <a:gd name="connsiteX13" fmla="*/ 822440 w 2791387"/>
                    <a:gd name="connsiteY13" fmla="*/ 2491648 h 2491648"/>
                    <a:gd name="connsiteX14" fmla="*/ 601623 w 2791387"/>
                    <a:gd name="connsiteY14" fmla="*/ 2364815 h 2491648"/>
                    <a:gd name="connsiteX15" fmla="*/ 29136 w 2791387"/>
                    <a:gd name="connsiteY15" fmla="*/ 1372657 h 2491648"/>
                    <a:gd name="connsiteX16" fmla="*/ 29136 w 2791387"/>
                    <a:gd name="connsiteY16" fmla="*/ 1118992 h 2491648"/>
                    <a:gd name="connsiteX17" fmla="*/ 601623 w 2791387"/>
                    <a:gd name="connsiteY17" fmla="*/ 126833 h 2491648"/>
                    <a:gd name="connsiteX18" fmla="*/ 822440 w 2791387"/>
                    <a:gd name="connsiteY18" fmla="*/ 0 h 2491648"/>
                    <a:gd name="connsiteX19" fmla="*/ 1967414 w 2791387"/>
                    <a:gd name="connsiteY19" fmla="*/ 0 h 2491648"/>
                    <a:gd name="connsiteX20" fmla="*/ 2188231 w 2791387"/>
                    <a:gd name="connsiteY20" fmla="*/ 126833 h 2491648"/>
                    <a:gd name="connsiteX21" fmla="*/ 2760718 w 2791387"/>
                    <a:gd name="connsiteY21" fmla="*/ 1118992 h 2491648"/>
                    <a:gd name="connsiteX22" fmla="*/ 2760718 w 2791387"/>
                    <a:gd name="connsiteY22" fmla="*/ 1372657 h 2491648"/>
                    <a:gd name="connsiteX23" fmla="*/ 2188231 w 2791387"/>
                    <a:gd name="connsiteY23" fmla="*/ 2364815 h 2491648"/>
                    <a:gd name="connsiteX24" fmla="*/ 1967414 w 2791387"/>
                    <a:gd name="connsiteY24" fmla="*/ 2491648 h 2491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91387" h="2491648">
                      <a:moveTo>
                        <a:pt x="1795626" y="2117139"/>
                      </a:moveTo>
                      <a:cubicBezTo>
                        <a:pt x="1852825" y="2117139"/>
                        <a:pt x="1921463" y="2077079"/>
                        <a:pt x="1950063" y="2028434"/>
                      </a:cubicBezTo>
                      <a:cubicBezTo>
                        <a:pt x="1950063" y="2028434"/>
                        <a:pt x="1950063" y="2028434"/>
                        <a:pt x="2350454" y="1334530"/>
                      </a:cubicBezTo>
                      <a:cubicBezTo>
                        <a:pt x="2379053" y="1285885"/>
                        <a:pt x="2379053" y="1205764"/>
                        <a:pt x="2350454" y="1157119"/>
                      </a:cubicBezTo>
                      <a:cubicBezTo>
                        <a:pt x="2350454" y="1157119"/>
                        <a:pt x="2350454" y="1157119"/>
                        <a:pt x="1950063" y="463215"/>
                      </a:cubicBezTo>
                      <a:cubicBezTo>
                        <a:pt x="1921463" y="414570"/>
                        <a:pt x="1852825" y="374509"/>
                        <a:pt x="1795626" y="374509"/>
                      </a:cubicBezTo>
                      <a:cubicBezTo>
                        <a:pt x="1795626" y="374509"/>
                        <a:pt x="1795626" y="374509"/>
                        <a:pt x="994844" y="374509"/>
                      </a:cubicBezTo>
                      <a:cubicBezTo>
                        <a:pt x="939075" y="374509"/>
                        <a:pt x="869007" y="414570"/>
                        <a:pt x="840408" y="463215"/>
                      </a:cubicBezTo>
                      <a:cubicBezTo>
                        <a:pt x="840408" y="463215"/>
                        <a:pt x="840408" y="463215"/>
                        <a:pt x="440017" y="1157119"/>
                      </a:cubicBezTo>
                      <a:cubicBezTo>
                        <a:pt x="412847" y="1205764"/>
                        <a:pt x="412847" y="1285885"/>
                        <a:pt x="440017" y="1334530"/>
                      </a:cubicBezTo>
                      <a:cubicBezTo>
                        <a:pt x="440017" y="1334530"/>
                        <a:pt x="440017" y="1334530"/>
                        <a:pt x="840408" y="2028434"/>
                      </a:cubicBezTo>
                      <a:cubicBezTo>
                        <a:pt x="869007" y="2077079"/>
                        <a:pt x="939075" y="2117139"/>
                        <a:pt x="994844" y="2117139"/>
                      </a:cubicBezTo>
                      <a:close/>
                      <a:moveTo>
                        <a:pt x="1967414" y="2491648"/>
                      </a:moveTo>
                      <a:lnTo>
                        <a:pt x="822440" y="2491648"/>
                      </a:lnTo>
                      <a:cubicBezTo>
                        <a:pt x="742700" y="2491648"/>
                        <a:pt x="642515" y="2434369"/>
                        <a:pt x="601623" y="2364815"/>
                      </a:cubicBezTo>
                      <a:cubicBezTo>
                        <a:pt x="29136" y="1372657"/>
                        <a:pt x="29136" y="1372657"/>
                        <a:pt x="29136" y="1372657"/>
                      </a:cubicBezTo>
                      <a:cubicBezTo>
                        <a:pt x="-9712" y="1303103"/>
                        <a:pt x="-9712" y="1188545"/>
                        <a:pt x="29136" y="1118992"/>
                      </a:cubicBezTo>
                      <a:cubicBezTo>
                        <a:pt x="601623" y="126833"/>
                        <a:pt x="601623" y="126833"/>
                        <a:pt x="601623" y="126833"/>
                      </a:cubicBezTo>
                      <a:cubicBezTo>
                        <a:pt x="642515" y="57280"/>
                        <a:pt x="742700" y="0"/>
                        <a:pt x="822440" y="0"/>
                      </a:cubicBezTo>
                      <a:cubicBezTo>
                        <a:pt x="1967414" y="0"/>
                        <a:pt x="1967414" y="0"/>
                        <a:pt x="1967414" y="0"/>
                      </a:cubicBezTo>
                      <a:cubicBezTo>
                        <a:pt x="2049198" y="0"/>
                        <a:pt x="2147339" y="57280"/>
                        <a:pt x="2188231" y="126833"/>
                      </a:cubicBezTo>
                      <a:cubicBezTo>
                        <a:pt x="2760718" y="1118992"/>
                        <a:pt x="2760718" y="1118992"/>
                        <a:pt x="2760718" y="1118992"/>
                      </a:cubicBezTo>
                      <a:cubicBezTo>
                        <a:pt x="2801610" y="1188545"/>
                        <a:pt x="2801610" y="1303103"/>
                        <a:pt x="2760718" y="1372657"/>
                      </a:cubicBezTo>
                      <a:cubicBezTo>
                        <a:pt x="2188231" y="2364815"/>
                        <a:pt x="2188231" y="2364815"/>
                        <a:pt x="2188231" y="2364815"/>
                      </a:cubicBezTo>
                      <a:cubicBezTo>
                        <a:pt x="2147339" y="2434369"/>
                        <a:pt x="2049198" y="2491648"/>
                        <a:pt x="1967414" y="2491648"/>
                      </a:cubicBezTo>
                      <a:close/>
                    </a:path>
                  </a:pathLst>
                </a:custGeom>
                <a:solidFill>
                  <a:srgbClr val="00AF92"/>
                </a:solidFill>
                <a:ln w="19050">
                  <a:noFill/>
                </a:ln>
                <a:effectLst>
                  <a:innerShdw blurRad="63500" dist="63500" dir="27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68580" tIns="34290" rIns="68580" bIns="34290" numCol="1" anchor="t" anchorCtr="0" compatLnSpc="1">
                  <a:noAutofit/>
                </a:bodyPr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 5"/>
                <p:cNvSpPr/>
                <p:nvPr/>
              </p:nvSpPr>
              <p:spPr bwMode="auto">
                <a:xfrm rot="10800000">
                  <a:off x="3337529" y="1173504"/>
                  <a:ext cx="2138277" cy="1895134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rgbClr val="B4B4B4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 5"/>
                <p:cNvSpPr/>
                <p:nvPr/>
              </p:nvSpPr>
              <p:spPr bwMode="auto">
                <a:xfrm rot="10800000">
                  <a:off x="3656172" y="1456206"/>
                  <a:ext cx="1495486" cy="1325435"/>
                </a:xfrm>
                <a:custGeom>
                  <a:avLst/>
                  <a:gdLst>
                    <a:gd name="T0" fmla="*/ 407 w 1375"/>
                    <a:gd name="T1" fmla="*/ 1218 h 1218"/>
                    <a:gd name="T2" fmla="*/ 299 w 1375"/>
                    <a:gd name="T3" fmla="*/ 1156 h 1218"/>
                    <a:gd name="T4" fmla="*/ 19 w 1375"/>
                    <a:gd name="T5" fmla="*/ 671 h 1218"/>
                    <a:gd name="T6" fmla="*/ 19 w 1375"/>
                    <a:gd name="T7" fmla="*/ 547 h 1218"/>
                    <a:gd name="T8" fmla="*/ 299 w 1375"/>
                    <a:gd name="T9" fmla="*/ 62 h 1218"/>
                    <a:gd name="T10" fmla="*/ 407 w 1375"/>
                    <a:gd name="T11" fmla="*/ 0 h 1218"/>
                    <a:gd name="T12" fmla="*/ 967 w 1375"/>
                    <a:gd name="T13" fmla="*/ 0 h 1218"/>
                    <a:gd name="T14" fmla="*/ 1075 w 1375"/>
                    <a:gd name="T15" fmla="*/ 62 h 1218"/>
                    <a:gd name="T16" fmla="*/ 1355 w 1375"/>
                    <a:gd name="T17" fmla="*/ 547 h 1218"/>
                    <a:gd name="T18" fmla="*/ 1355 w 1375"/>
                    <a:gd name="T19" fmla="*/ 671 h 1218"/>
                    <a:gd name="T20" fmla="*/ 1075 w 1375"/>
                    <a:gd name="T21" fmla="*/ 1156 h 1218"/>
                    <a:gd name="T22" fmla="*/ 967 w 1375"/>
                    <a:gd name="T23" fmla="*/ 1218 h 1218"/>
                    <a:gd name="T24" fmla="*/ 407 w 1375"/>
                    <a:gd name="T25" fmla="*/ 1218 h 1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bg1">
                    <a:alpha val="0"/>
                  </a:schemeClr>
                </a:solidFill>
                <a:ln w="38100">
                  <a:gradFill flip="none" rotWithShape="1">
                    <a:gsLst>
                      <a:gs pos="100000">
                        <a:schemeClr val="bg1"/>
                      </a:gs>
                      <a:gs pos="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/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3" name="Group 17"/>
              <p:cNvGrpSpPr>
                <a:grpSpLocks noChangeAspect="1"/>
              </p:cNvGrpSpPr>
              <p:nvPr/>
            </p:nvGrpSpPr>
            <p:grpSpPr bwMode="auto">
              <a:xfrm>
                <a:off x="6087464" y="1170184"/>
                <a:ext cx="457188" cy="490764"/>
                <a:chOff x="231" y="1205"/>
                <a:chExt cx="640" cy="687"/>
              </a:xfrm>
              <a:solidFill>
                <a:srgbClr val="00AF92"/>
              </a:solidFill>
            </p:grpSpPr>
            <p:sp>
              <p:nvSpPr>
                <p:cNvPr id="14" name="Freeform 18"/>
                <p:cNvSpPr/>
                <p:nvPr/>
              </p:nvSpPr>
              <p:spPr bwMode="auto">
                <a:xfrm>
                  <a:off x="231" y="1205"/>
                  <a:ext cx="499" cy="687"/>
                </a:xfrm>
                <a:custGeom>
                  <a:avLst/>
                  <a:gdLst>
                    <a:gd name="T0" fmla="*/ 442 w 499"/>
                    <a:gd name="T1" fmla="*/ 629 h 687"/>
                    <a:gd name="T2" fmla="*/ 57 w 499"/>
                    <a:gd name="T3" fmla="*/ 629 h 687"/>
                    <a:gd name="T4" fmla="*/ 57 w 499"/>
                    <a:gd name="T5" fmla="*/ 200 h 687"/>
                    <a:gd name="T6" fmla="*/ 200 w 499"/>
                    <a:gd name="T7" fmla="*/ 200 h 687"/>
                    <a:gd name="T8" fmla="*/ 200 w 499"/>
                    <a:gd name="T9" fmla="*/ 57 h 687"/>
                    <a:gd name="T10" fmla="*/ 442 w 499"/>
                    <a:gd name="T11" fmla="*/ 57 h 687"/>
                    <a:gd name="T12" fmla="*/ 442 w 499"/>
                    <a:gd name="T13" fmla="*/ 116 h 687"/>
                    <a:gd name="T14" fmla="*/ 494 w 499"/>
                    <a:gd name="T15" fmla="*/ 64 h 687"/>
                    <a:gd name="T16" fmla="*/ 499 w 499"/>
                    <a:gd name="T17" fmla="*/ 59 h 687"/>
                    <a:gd name="T18" fmla="*/ 499 w 499"/>
                    <a:gd name="T19" fmla="*/ 0 h 687"/>
                    <a:gd name="T20" fmla="*/ 143 w 499"/>
                    <a:gd name="T21" fmla="*/ 0 h 687"/>
                    <a:gd name="T22" fmla="*/ 143 w 499"/>
                    <a:gd name="T23" fmla="*/ 0 h 687"/>
                    <a:gd name="T24" fmla="*/ 0 w 499"/>
                    <a:gd name="T25" fmla="*/ 143 h 687"/>
                    <a:gd name="T26" fmla="*/ 0 w 499"/>
                    <a:gd name="T27" fmla="*/ 687 h 687"/>
                    <a:gd name="T28" fmla="*/ 499 w 499"/>
                    <a:gd name="T29" fmla="*/ 687 h 687"/>
                    <a:gd name="T30" fmla="*/ 499 w 499"/>
                    <a:gd name="T31" fmla="*/ 429 h 687"/>
                    <a:gd name="T32" fmla="*/ 442 w 499"/>
                    <a:gd name="T33" fmla="*/ 486 h 687"/>
                    <a:gd name="T34" fmla="*/ 442 w 499"/>
                    <a:gd name="T35" fmla="*/ 629 h 6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9" h="687">
                      <a:moveTo>
                        <a:pt x="442" y="629"/>
                      </a:moveTo>
                      <a:lnTo>
                        <a:pt x="57" y="629"/>
                      </a:lnTo>
                      <a:lnTo>
                        <a:pt x="57" y="200"/>
                      </a:lnTo>
                      <a:lnTo>
                        <a:pt x="200" y="200"/>
                      </a:lnTo>
                      <a:lnTo>
                        <a:pt x="200" y="57"/>
                      </a:lnTo>
                      <a:lnTo>
                        <a:pt x="442" y="57"/>
                      </a:lnTo>
                      <a:lnTo>
                        <a:pt x="442" y="116"/>
                      </a:lnTo>
                      <a:lnTo>
                        <a:pt x="494" y="64"/>
                      </a:lnTo>
                      <a:lnTo>
                        <a:pt x="499" y="59"/>
                      </a:lnTo>
                      <a:lnTo>
                        <a:pt x="499" y="0"/>
                      </a:lnTo>
                      <a:lnTo>
                        <a:pt x="143" y="0"/>
                      </a:lnTo>
                      <a:lnTo>
                        <a:pt x="143" y="0"/>
                      </a:lnTo>
                      <a:lnTo>
                        <a:pt x="0" y="143"/>
                      </a:lnTo>
                      <a:lnTo>
                        <a:pt x="0" y="687"/>
                      </a:lnTo>
                      <a:lnTo>
                        <a:pt x="499" y="687"/>
                      </a:lnTo>
                      <a:lnTo>
                        <a:pt x="499" y="429"/>
                      </a:lnTo>
                      <a:lnTo>
                        <a:pt x="442" y="486"/>
                      </a:lnTo>
                      <a:lnTo>
                        <a:pt x="442" y="62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5" name="Freeform 19"/>
                <p:cNvSpPr>
                  <a:spLocks noEditPoints="1"/>
                </p:cNvSpPr>
                <p:nvPr/>
              </p:nvSpPr>
              <p:spPr bwMode="auto">
                <a:xfrm>
                  <a:off x="436" y="1310"/>
                  <a:ext cx="435" cy="431"/>
                </a:xfrm>
                <a:custGeom>
                  <a:avLst/>
                  <a:gdLst>
                    <a:gd name="T0" fmla="*/ 50 w 435"/>
                    <a:gd name="T1" fmla="*/ 279 h 431"/>
                    <a:gd name="T2" fmla="*/ 50 w 435"/>
                    <a:gd name="T3" fmla="*/ 279 h 431"/>
                    <a:gd name="T4" fmla="*/ 50 w 435"/>
                    <a:gd name="T5" fmla="*/ 279 h 431"/>
                    <a:gd name="T6" fmla="*/ 50 w 435"/>
                    <a:gd name="T7" fmla="*/ 279 h 431"/>
                    <a:gd name="T8" fmla="*/ 0 w 435"/>
                    <a:gd name="T9" fmla="*/ 431 h 431"/>
                    <a:gd name="T10" fmla="*/ 155 w 435"/>
                    <a:gd name="T11" fmla="*/ 381 h 431"/>
                    <a:gd name="T12" fmla="*/ 155 w 435"/>
                    <a:gd name="T13" fmla="*/ 381 h 431"/>
                    <a:gd name="T14" fmla="*/ 155 w 435"/>
                    <a:gd name="T15" fmla="*/ 381 h 431"/>
                    <a:gd name="T16" fmla="*/ 155 w 435"/>
                    <a:gd name="T17" fmla="*/ 381 h 431"/>
                    <a:gd name="T18" fmla="*/ 435 w 435"/>
                    <a:gd name="T19" fmla="*/ 102 h 431"/>
                    <a:gd name="T20" fmla="*/ 330 w 435"/>
                    <a:gd name="T21" fmla="*/ 0 h 431"/>
                    <a:gd name="T22" fmla="*/ 50 w 435"/>
                    <a:gd name="T23" fmla="*/ 279 h 431"/>
                    <a:gd name="T24" fmla="*/ 50 w 435"/>
                    <a:gd name="T25" fmla="*/ 279 h 431"/>
                    <a:gd name="T26" fmla="*/ 141 w 435"/>
                    <a:gd name="T27" fmla="*/ 360 h 431"/>
                    <a:gd name="T28" fmla="*/ 38 w 435"/>
                    <a:gd name="T29" fmla="*/ 396 h 431"/>
                    <a:gd name="T30" fmla="*/ 72 w 435"/>
                    <a:gd name="T31" fmla="*/ 291 h 431"/>
                    <a:gd name="T32" fmla="*/ 141 w 435"/>
                    <a:gd name="T33" fmla="*/ 360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5" h="431">
                      <a:moveTo>
                        <a:pt x="50" y="279"/>
                      </a:move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lnTo>
                        <a:pt x="0" y="43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155" y="381"/>
                      </a:lnTo>
                      <a:lnTo>
                        <a:pt x="435" y="102"/>
                      </a:lnTo>
                      <a:lnTo>
                        <a:pt x="330" y="0"/>
                      </a:lnTo>
                      <a:lnTo>
                        <a:pt x="50" y="279"/>
                      </a:lnTo>
                      <a:lnTo>
                        <a:pt x="50" y="279"/>
                      </a:lnTo>
                      <a:close/>
                      <a:moveTo>
                        <a:pt x="141" y="360"/>
                      </a:moveTo>
                      <a:lnTo>
                        <a:pt x="38" y="396"/>
                      </a:lnTo>
                      <a:lnTo>
                        <a:pt x="72" y="291"/>
                      </a:lnTo>
                      <a:lnTo>
                        <a:pt x="141" y="36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/>
                <a:lstStyle/>
                <a:p>
                  <a:endParaRPr lang="zh-CN" altLang="en-US" sz="1015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sp>
        <p:nvSpPr>
          <p:cNvPr id="21" name="矩形 20"/>
          <p:cNvSpPr/>
          <p:nvPr/>
        </p:nvSpPr>
        <p:spPr>
          <a:xfrm>
            <a:off x="1468378" y="1821980"/>
            <a:ext cx="39180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/>
              <a:t> 数据结构</a:t>
            </a:r>
            <a:r>
              <a:rPr lang="zh-CN" altLang="en-US" sz="2400" b="1" dirty="0"/>
              <a:t>课程的研究</a:t>
            </a:r>
            <a:r>
              <a:rPr lang="zh-CN" altLang="en-US" sz="2400" b="1" dirty="0" smtClean="0"/>
              <a:t>内容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468378" y="2444280"/>
            <a:ext cx="7547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基本术语：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数据、数据结构、逻辑</a:t>
            </a:r>
            <a:r>
              <a:rPr lang="en-US" altLang="zh-CN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存储结构、运算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468378" y="3041179"/>
            <a:ext cx="3679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算法与描述：几个案例</a:t>
            </a:r>
            <a:endParaRPr lang="zh-CN" altLang="en-US" sz="2400" b="1" dirty="0"/>
          </a:p>
        </p:txBody>
      </p:sp>
      <p:grpSp>
        <p:nvGrpSpPr>
          <p:cNvPr id="29" name="组合 28"/>
          <p:cNvGrpSpPr/>
          <p:nvPr/>
        </p:nvGrpSpPr>
        <p:grpSpPr>
          <a:xfrm>
            <a:off x="1064237" y="3679325"/>
            <a:ext cx="1433167" cy="607216"/>
            <a:chOff x="1064237" y="3704725"/>
            <a:chExt cx="1433167" cy="607216"/>
          </a:xfrm>
        </p:grpSpPr>
        <p:sp>
          <p:nvSpPr>
            <p:cNvPr id="30" name="矩形 29"/>
            <p:cNvSpPr/>
            <p:nvPr/>
          </p:nvSpPr>
          <p:spPr>
            <a:xfrm>
              <a:off x="1488795" y="3704725"/>
              <a:ext cx="100860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思考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31" name="图片 1"/>
            <p:cNvPicPr>
              <a:picLocks noChangeAspect="1" noChangeArrowheads="1"/>
            </p:cNvPicPr>
            <p:nvPr/>
          </p:nvPicPr>
          <p:blipFill>
            <a:blip r:embed="rId1" cstate="print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64237" y="3715332"/>
              <a:ext cx="513022" cy="5966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8" name="矩形 37"/>
          <p:cNvSpPr/>
          <p:nvPr/>
        </p:nvSpPr>
        <p:spPr>
          <a:xfrm>
            <a:off x="1468378" y="4312232"/>
            <a:ext cx="68103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逻辑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存储</a:t>
            </a:r>
            <a:r>
              <a:rPr lang="zh-CN" altLang="en-US" sz="2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结构的关系</a:t>
            </a:r>
            <a:r>
              <a:rPr lang="en-US" altLang="zh-CN" sz="2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? </a:t>
            </a:r>
            <a:endParaRPr lang="en-US" altLang="zh-CN" sz="22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数据结构</a:t>
            </a: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r>
              <a:rPr lang="zh-CN" altLang="en-US" sz="2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lang="zh-CN" altLang="en-US" sz="2200" b="1" dirty="0" smtClean="0"/>
              <a:t>问题求解过程</a:t>
            </a:r>
            <a:r>
              <a:rPr lang="en-US" altLang="zh-CN" sz="22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?</a:t>
            </a:r>
            <a:endParaRPr lang="en-US" altLang="zh-CN" sz="2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 advClick="0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30722"/>
          <p:cNvSpPr>
            <a:spLocks noGrp="1" noChangeArrowheads="1"/>
          </p:cNvSpPr>
          <p:nvPr>
            <p:ph idx="1"/>
          </p:nvPr>
        </p:nvSpPr>
        <p:spPr>
          <a:xfrm>
            <a:off x="434380" y="980728"/>
            <a:ext cx="8229600" cy="4678451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en-US" sz="2800" b="1" dirty="0" smtClean="0">
                <a:solidFill>
                  <a:srgbClr val="FF0000"/>
                </a:solidFill>
              </a:rPr>
              <a:t>1. </a:t>
            </a:r>
            <a:r>
              <a:rPr lang="zh-CN" altLang="en-US" sz="2800" b="1" dirty="0" smtClean="0"/>
              <a:t>求下列语句段的时间复杂度：</a:t>
            </a:r>
            <a:endParaRPr lang="zh-CN" altLang="en-US" sz="2800" b="1" dirty="0" smtClean="0"/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(1) for ( </a:t>
            </a:r>
            <a:r>
              <a:rPr lang="en-US" altLang="zh-CN" sz="2000" i="1" dirty="0" err="1" smtClean="0"/>
              <a:t>i</a:t>
            </a:r>
            <a:r>
              <a:rPr lang="en-US" altLang="zh-CN" sz="2000" dirty="0" smtClean="0"/>
              <a:t>=1; </a:t>
            </a:r>
            <a:r>
              <a:rPr lang="en-US" altLang="zh-CN" sz="2000" i="1" dirty="0" err="1" smtClean="0"/>
              <a:t>i</a:t>
            </a:r>
            <a:r>
              <a:rPr lang="en-US" altLang="zh-CN" sz="2000" dirty="0" smtClean="0"/>
              <a:t>&lt;</a:t>
            </a:r>
            <a:r>
              <a:rPr lang="en-US" altLang="zh-CN" sz="2000" i="1" dirty="0" smtClean="0"/>
              <a:t>n</a:t>
            </a:r>
            <a:r>
              <a:rPr lang="en-US" altLang="zh-CN" sz="2000" dirty="0" smtClean="0"/>
              <a:t>; </a:t>
            </a:r>
            <a:r>
              <a:rPr lang="en-US" altLang="zh-CN" sz="2000" i="1" dirty="0" err="1" smtClean="0"/>
              <a:t>i</a:t>
            </a:r>
            <a:r>
              <a:rPr lang="en-US" altLang="zh-CN" sz="2000" dirty="0" smtClean="0"/>
              <a:t>++ ) </a:t>
            </a:r>
            <a:endParaRPr lang="en-US" altLang="zh-CN" sz="20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          for ( </a:t>
            </a:r>
            <a:r>
              <a:rPr lang="en-US" altLang="zh-CN" sz="2000" i="1" dirty="0" smtClean="0"/>
              <a:t>j</a:t>
            </a:r>
            <a:r>
              <a:rPr lang="en-US" altLang="zh-CN" sz="2000" dirty="0" smtClean="0"/>
              <a:t>=1; </a:t>
            </a:r>
            <a:r>
              <a:rPr lang="en-US" altLang="zh-CN" sz="2000" i="1" dirty="0" smtClean="0"/>
              <a:t>j</a:t>
            </a:r>
            <a:r>
              <a:rPr lang="en-US" altLang="zh-CN" sz="2000" dirty="0" smtClean="0"/>
              <a:t>&lt;= </a:t>
            </a:r>
            <a:r>
              <a:rPr lang="en-US" altLang="zh-CN" sz="2000" i="1" dirty="0" err="1" smtClean="0"/>
              <a:t>i</a:t>
            </a:r>
            <a:r>
              <a:rPr lang="en-US" altLang="zh-CN" sz="2000" dirty="0" smtClean="0"/>
              <a:t>; </a:t>
            </a:r>
            <a:r>
              <a:rPr lang="en-US" altLang="zh-CN" sz="2000" i="1" dirty="0" err="1" smtClean="0"/>
              <a:t>j</a:t>
            </a:r>
            <a:r>
              <a:rPr lang="en-US" altLang="zh-CN" sz="2000" dirty="0" err="1" smtClean="0"/>
              <a:t>++</a:t>
            </a:r>
            <a:r>
              <a:rPr lang="en-US" altLang="zh-CN" sz="2000" dirty="0" smtClean="0"/>
              <a:t> )  </a:t>
            </a:r>
            <a:endParaRPr lang="en-US" altLang="zh-CN" sz="20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i="1" dirty="0"/>
              <a:t> </a:t>
            </a:r>
            <a:r>
              <a:rPr lang="en-US" altLang="zh-CN" sz="2000" i="1" dirty="0" smtClean="0"/>
              <a:t>                       x</a:t>
            </a:r>
            <a:r>
              <a:rPr lang="en-US" altLang="zh-CN" sz="2000" dirty="0" smtClean="0"/>
              <a:t>++; </a:t>
            </a:r>
            <a:endParaRPr lang="en-US" altLang="zh-CN" sz="2000" dirty="0" smtClean="0"/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(2)  </a:t>
            </a:r>
            <a:r>
              <a:rPr lang="en-US" altLang="zh-CN" sz="2000" i="1" dirty="0" err="1" smtClean="0"/>
              <a:t>i</a:t>
            </a:r>
            <a:r>
              <a:rPr lang="en-US" altLang="zh-CN" sz="2000" dirty="0" smtClean="0"/>
              <a:t> = 1; </a:t>
            </a:r>
            <a:endParaRPr lang="en-US" altLang="zh-CN" sz="20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   while (</a:t>
            </a:r>
            <a:r>
              <a:rPr lang="en-US" altLang="zh-CN" sz="2000" i="1" dirty="0" err="1" smtClean="0"/>
              <a:t>i</a:t>
            </a:r>
            <a:r>
              <a:rPr lang="en-US" altLang="zh-CN" sz="2000" i="1" dirty="0" smtClean="0"/>
              <a:t> </a:t>
            </a:r>
            <a:r>
              <a:rPr lang="en-US" altLang="zh-CN" sz="2000" dirty="0" smtClean="0"/>
              <a:t>&lt; </a:t>
            </a:r>
            <a:r>
              <a:rPr lang="en-US" altLang="zh-CN" sz="2000" i="1" dirty="0" smtClean="0"/>
              <a:t>n</a:t>
            </a:r>
            <a:r>
              <a:rPr lang="en-US" altLang="zh-CN" sz="2000" dirty="0" smtClean="0"/>
              <a:t>)  </a:t>
            </a:r>
            <a:endParaRPr lang="en-US" altLang="zh-CN" sz="20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i="1" dirty="0"/>
              <a:t> </a:t>
            </a:r>
            <a:r>
              <a:rPr lang="en-US" altLang="zh-CN" sz="2000" i="1" dirty="0" smtClean="0"/>
              <a:t>                   </a:t>
            </a:r>
            <a:r>
              <a:rPr lang="en-US" altLang="zh-CN" sz="2000" i="1" dirty="0" err="1" smtClean="0"/>
              <a:t>i</a:t>
            </a:r>
            <a:r>
              <a:rPr lang="en-US" altLang="zh-CN" sz="2000" dirty="0" smtClean="0"/>
              <a:t> = </a:t>
            </a:r>
            <a:r>
              <a:rPr lang="en-US" altLang="zh-CN" sz="2000" i="1" dirty="0" err="1" smtClean="0"/>
              <a:t>i</a:t>
            </a:r>
            <a:r>
              <a:rPr lang="en-US" altLang="zh-CN" sz="2000" dirty="0" smtClean="0"/>
              <a:t>*2;</a:t>
            </a:r>
            <a:endParaRPr lang="en-US" altLang="zh-CN" sz="2000" dirty="0" smtClean="0"/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  (3) </a:t>
            </a:r>
            <a:r>
              <a:rPr lang="en-US" altLang="zh-CN" sz="2200" dirty="0" smtClean="0"/>
              <a:t>for (</a:t>
            </a:r>
            <a:r>
              <a:rPr lang="en-US" altLang="zh-CN" sz="2200" i="1" dirty="0" err="1" smtClean="0"/>
              <a:t>i</a:t>
            </a:r>
            <a:r>
              <a:rPr lang="en-US" altLang="zh-CN" sz="2200" dirty="0" smtClean="0"/>
              <a:t>=1; </a:t>
            </a:r>
            <a:r>
              <a:rPr lang="en-US" altLang="zh-CN" sz="2200" i="1" dirty="0" err="1" smtClean="0"/>
              <a:t>i</a:t>
            </a:r>
            <a:r>
              <a:rPr lang="en-US" altLang="zh-CN" sz="2200" dirty="0" smtClean="0"/>
              <a:t>&lt;=</a:t>
            </a:r>
            <a:r>
              <a:rPr lang="en-US" altLang="zh-CN" sz="2200" i="1" dirty="0" smtClean="0"/>
              <a:t>n</a:t>
            </a:r>
            <a:r>
              <a:rPr lang="en-US" altLang="zh-CN" sz="2200" dirty="0" smtClean="0"/>
              <a:t>; </a:t>
            </a:r>
            <a:r>
              <a:rPr lang="en-US" altLang="zh-CN" sz="2200" i="1" dirty="0" err="1" smtClean="0"/>
              <a:t>i</a:t>
            </a:r>
            <a:r>
              <a:rPr lang="en-US" altLang="zh-CN" sz="2200" dirty="0" smtClean="0"/>
              <a:t>++)</a:t>
            </a:r>
            <a:endParaRPr lang="en-US" altLang="zh-CN" sz="2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     for (</a:t>
            </a:r>
            <a:r>
              <a:rPr lang="en-US" altLang="zh-CN" sz="2200" i="1" dirty="0" smtClean="0"/>
              <a:t>j</a:t>
            </a:r>
            <a:r>
              <a:rPr lang="en-US" altLang="zh-CN" sz="2200" dirty="0" smtClean="0"/>
              <a:t>=1; </a:t>
            </a:r>
            <a:r>
              <a:rPr lang="en-US" altLang="zh-CN" sz="2200" i="1" dirty="0" smtClean="0"/>
              <a:t>j</a:t>
            </a:r>
            <a:r>
              <a:rPr lang="en-US" altLang="zh-CN" sz="2200" dirty="0" smtClean="0"/>
              <a:t>&lt;=</a:t>
            </a:r>
            <a:r>
              <a:rPr lang="en-US" altLang="zh-CN" sz="2200" i="1" dirty="0" smtClean="0"/>
              <a:t>n</a:t>
            </a:r>
            <a:r>
              <a:rPr lang="en-US" altLang="zh-CN" sz="2200" dirty="0" smtClean="0"/>
              <a:t>; </a:t>
            </a:r>
            <a:r>
              <a:rPr lang="en-US" altLang="zh-CN" sz="2200" i="1" dirty="0" err="1" smtClean="0"/>
              <a:t>j</a:t>
            </a:r>
            <a:r>
              <a:rPr lang="en-US" altLang="zh-CN" sz="2200" dirty="0" err="1" smtClean="0"/>
              <a:t>++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         for (</a:t>
            </a:r>
            <a:r>
              <a:rPr lang="en-US" altLang="zh-CN" sz="2200" i="1" dirty="0" smtClean="0"/>
              <a:t>k</a:t>
            </a:r>
            <a:r>
              <a:rPr lang="en-US" altLang="zh-CN" sz="2200" dirty="0" smtClean="0"/>
              <a:t>=1; </a:t>
            </a:r>
            <a:r>
              <a:rPr lang="en-US" altLang="zh-CN" sz="2200" i="1" dirty="0" smtClean="0"/>
              <a:t>k</a:t>
            </a:r>
            <a:r>
              <a:rPr lang="en-US" altLang="zh-CN" sz="2200" dirty="0" smtClean="0"/>
              <a:t>&lt;=</a:t>
            </a:r>
            <a:r>
              <a:rPr lang="en-US" altLang="zh-CN" sz="2200" i="1" dirty="0" smtClean="0"/>
              <a:t>n</a:t>
            </a:r>
            <a:r>
              <a:rPr lang="en-US" altLang="zh-CN" sz="2200" dirty="0" smtClean="0"/>
              <a:t>; </a:t>
            </a:r>
            <a:r>
              <a:rPr lang="en-US" altLang="zh-CN" sz="2200" i="1" dirty="0" smtClean="0"/>
              <a:t>k</a:t>
            </a:r>
            <a:r>
              <a:rPr lang="en-US" altLang="zh-CN" sz="2200" dirty="0" smtClean="0"/>
              <a:t>++) </a:t>
            </a:r>
            <a:endParaRPr lang="en-US" altLang="zh-CN" sz="2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             </a:t>
            </a:r>
            <a:r>
              <a:rPr lang="en-US" altLang="zh-CN" sz="2200" i="1" dirty="0" smtClean="0"/>
              <a:t>x</a:t>
            </a:r>
            <a:r>
              <a:rPr lang="en-US" altLang="zh-CN" sz="2200" dirty="0" smtClean="0"/>
              <a:t>++;</a:t>
            </a:r>
            <a:endParaRPr lang="en-US" altLang="zh-CN" sz="2200" dirty="0" smtClean="0"/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</a:t>
            </a:r>
            <a:r>
              <a:rPr lang="en-US" altLang="zh-CN" sz="2200" dirty="0" smtClean="0"/>
              <a:t>(4) for (</a:t>
            </a:r>
            <a:r>
              <a:rPr lang="en-US" altLang="zh-CN" sz="2200" i="1" dirty="0" err="1" smtClean="0"/>
              <a:t>i</a:t>
            </a:r>
            <a:r>
              <a:rPr lang="en-US" altLang="zh-CN" sz="2200" dirty="0" smtClean="0"/>
              <a:t>=1; </a:t>
            </a:r>
            <a:r>
              <a:rPr lang="en-US" altLang="zh-CN" sz="2200" i="1" dirty="0" err="1" smtClean="0"/>
              <a:t>i</a:t>
            </a:r>
            <a:r>
              <a:rPr lang="en-US" altLang="zh-CN" sz="2200" dirty="0" smtClean="0"/>
              <a:t>&lt;</a:t>
            </a:r>
            <a:r>
              <a:rPr lang="en-US" altLang="zh-CN" sz="2200" i="1" dirty="0" smtClean="0"/>
              <a:t>n</a:t>
            </a:r>
            <a:r>
              <a:rPr lang="en-US" altLang="zh-CN" sz="2200" dirty="0" smtClean="0"/>
              <a:t>; </a:t>
            </a:r>
            <a:r>
              <a:rPr lang="en-US" altLang="zh-CN" sz="2200" i="1" dirty="0" err="1" smtClean="0"/>
              <a:t>i</a:t>
            </a:r>
            <a:r>
              <a:rPr lang="en-US" altLang="zh-CN" sz="2200" dirty="0" smtClean="0"/>
              <a:t>++)</a:t>
            </a:r>
            <a:endParaRPr lang="en-US" altLang="zh-CN" sz="2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       for (</a:t>
            </a:r>
            <a:r>
              <a:rPr lang="en-US" altLang="zh-CN" sz="2200" i="1" dirty="0" smtClean="0"/>
              <a:t>j</a:t>
            </a:r>
            <a:r>
              <a:rPr lang="en-US" altLang="zh-CN" sz="2200" dirty="0" smtClean="0"/>
              <a:t>=1; </a:t>
            </a:r>
            <a:r>
              <a:rPr lang="en-US" altLang="zh-CN" sz="2200" i="1" dirty="0" smtClean="0"/>
              <a:t>j</a:t>
            </a:r>
            <a:r>
              <a:rPr lang="en-US" altLang="zh-CN" sz="2200" dirty="0" smtClean="0"/>
              <a:t>&lt;</a:t>
            </a:r>
            <a:r>
              <a:rPr lang="en-US" altLang="zh-CN" sz="2200" i="1" dirty="0" smtClean="0"/>
              <a:t>n</a:t>
            </a:r>
            <a:r>
              <a:rPr lang="en-US" altLang="zh-CN" sz="2200" dirty="0" smtClean="0"/>
              <a:t>; </a:t>
            </a:r>
            <a:r>
              <a:rPr lang="en-US" altLang="zh-CN" sz="2200" i="1" dirty="0" err="1" smtClean="0"/>
              <a:t>j</a:t>
            </a:r>
            <a:r>
              <a:rPr lang="en-US" altLang="zh-CN" sz="2200" dirty="0" err="1" smtClean="0"/>
              <a:t>++</a:t>
            </a:r>
            <a:r>
              <a:rPr lang="en-US" altLang="zh-CN" sz="2200" dirty="0" smtClean="0"/>
              <a:t>) </a:t>
            </a:r>
            <a:endParaRPr lang="en-US" altLang="zh-CN" sz="2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i="1" dirty="0"/>
              <a:t> </a:t>
            </a:r>
            <a:r>
              <a:rPr lang="en-US" altLang="zh-CN" sz="2200" i="1" dirty="0" smtClean="0"/>
              <a:t>                      x</a:t>
            </a:r>
            <a:r>
              <a:rPr lang="en-US" altLang="zh-CN" sz="2200" dirty="0" smtClean="0"/>
              <a:t>++;</a:t>
            </a:r>
            <a:endParaRPr lang="en-US" altLang="zh-CN" sz="2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   for (</a:t>
            </a:r>
            <a:r>
              <a:rPr lang="en-US" altLang="zh-CN" sz="2200" i="1" dirty="0" smtClean="0"/>
              <a:t>k</a:t>
            </a:r>
            <a:r>
              <a:rPr lang="en-US" altLang="zh-CN" sz="2200" dirty="0" smtClean="0"/>
              <a:t>=1; </a:t>
            </a:r>
            <a:r>
              <a:rPr lang="en-US" altLang="zh-CN" sz="2200" i="1" dirty="0" smtClean="0"/>
              <a:t>k</a:t>
            </a:r>
            <a:r>
              <a:rPr lang="en-US" altLang="zh-CN" sz="2200" dirty="0" smtClean="0"/>
              <a:t>&lt;</a:t>
            </a:r>
            <a:r>
              <a:rPr lang="en-US" altLang="zh-CN" sz="2200" i="1" dirty="0" smtClean="0"/>
              <a:t>n</a:t>
            </a:r>
            <a:r>
              <a:rPr lang="en-US" altLang="zh-CN" sz="2200" dirty="0" smtClean="0"/>
              <a:t>; </a:t>
            </a:r>
            <a:r>
              <a:rPr lang="en-US" altLang="zh-CN" sz="2200" i="1" dirty="0" smtClean="0"/>
              <a:t>k</a:t>
            </a:r>
            <a:r>
              <a:rPr lang="en-US" altLang="zh-CN" sz="2200" dirty="0" smtClean="0"/>
              <a:t>++) </a:t>
            </a:r>
            <a:endParaRPr lang="en-US" altLang="zh-CN" sz="2200" dirty="0" smtClean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i="1" dirty="0"/>
              <a:t> </a:t>
            </a:r>
            <a:r>
              <a:rPr lang="en-US" altLang="zh-CN" sz="2200" i="1" dirty="0" smtClean="0"/>
              <a:t>                 x</a:t>
            </a:r>
            <a:r>
              <a:rPr lang="en-US" altLang="zh-CN" sz="2200" dirty="0" smtClean="0"/>
              <a:t>++;</a:t>
            </a:r>
            <a:endParaRPr lang="en-US" altLang="zh-CN" sz="2200" dirty="0" smtClean="0"/>
          </a:p>
        </p:txBody>
      </p:sp>
      <p:sp>
        <p:nvSpPr>
          <p:cNvPr id="32772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07C611B-DFBF-47B6-8997-C1D122137534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6" name="组合 5"/>
          <p:cNvGrpSpPr/>
          <p:nvPr/>
        </p:nvGrpSpPr>
        <p:grpSpPr>
          <a:xfrm>
            <a:off x="539552" y="66293"/>
            <a:ext cx="1971209" cy="696929"/>
            <a:chOff x="973123" y="4906917"/>
            <a:chExt cx="1971209" cy="696929"/>
          </a:xfrm>
        </p:grpSpPr>
        <p:sp>
          <p:nvSpPr>
            <p:cNvPr id="7" name="矩形 6"/>
            <p:cNvSpPr/>
            <p:nvPr/>
          </p:nvSpPr>
          <p:spPr>
            <a:xfrm>
              <a:off x="1523750" y="4964472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 smtClean="0">
                  <a:latin typeface="Verdana" panose="020B0604030504040204" pitchFamily="34" charset="0"/>
                  <a:ea typeface="黑体" panose="02010609060101010101" pitchFamily="49" charset="-122"/>
                </a:rPr>
                <a:t>作业：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8" name="图片 7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73123" y="4906917"/>
              <a:ext cx="654342" cy="696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072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文本占位符 31746"/>
          <p:cNvSpPr>
            <a:spLocks noGrp="1" noChangeArrowheads="1"/>
          </p:cNvSpPr>
          <p:nvPr>
            <p:ph idx="1"/>
          </p:nvPr>
        </p:nvSpPr>
        <p:spPr>
          <a:xfrm>
            <a:off x="457200" y="1124745"/>
            <a:ext cx="8435280" cy="4968552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1800" b="1" dirty="0" smtClean="0">
                <a:solidFill>
                  <a:srgbClr val="FF0000"/>
                </a:solidFill>
              </a:rPr>
              <a:t>2</a:t>
            </a:r>
            <a:r>
              <a:rPr lang="en-US" altLang="zh-CN" sz="1800" dirty="0" smtClean="0">
                <a:solidFill>
                  <a:srgbClr val="FF0000"/>
                </a:solidFill>
              </a:rPr>
              <a:t>.   </a:t>
            </a:r>
            <a:r>
              <a:rPr lang="zh-CN" altLang="en-US" sz="1800" b="1" dirty="0" smtClean="0"/>
              <a:t>编写算法以计算在给定各系数和变量</a:t>
            </a:r>
            <a:r>
              <a:rPr lang="en-US" altLang="zh-CN" sz="1800" b="1" i="1" dirty="0" smtClean="0"/>
              <a:t>x</a:t>
            </a:r>
            <a:r>
              <a:rPr lang="zh-CN" altLang="en-US" sz="1800" b="1" dirty="0" smtClean="0"/>
              <a:t>的值时的多项式</a:t>
            </a:r>
            <a:r>
              <a:rPr lang="en-US" altLang="zh-CN" sz="1800" b="1" dirty="0" err="1" smtClean="0"/>
              <a:t>f</a:t>
            </a:r>
            <a:r>
              <a:rPr lang="en-US" altLang="zh-CN" sz="1800" b="1" i="1" baseline="-25000" dirty="0" err="1" smtClean="0"/>
              <a:t>n</a:t>
            </a:r>
            <a:r>
              <a:rPr lang="en-US" altLang="zh-CN" sz="1800" b="1" dirty="0" smtClean="0"/>
              <a:t>(</a:t>
            </a:r>
            <a:r>
              <a:rPr lang="en-US" altLang="zh-CN" sz="1800" b="1" i="1" dirty="0" smtClean="0"/>
              <a:t>x</a:t>
            </a:r>
            <a:r>
              <a:rPr lang="en-US" altLang="zh-CN" sz="1800" b="1" dirty="0" smtClean="0"/>
              <a:t>)</a:t>
            </a:r>
            <a:r>
              <a:rPr lang="zh-CN" altLang="en-US" sz="1800" b="1" dirty="0" smtClean="0"/>
              <a:t>的值，要求时间尽可能少</a:t>
            </a:r>
            <a:r>
              <a:rPr lang="zh-CN" altLang="en-US" sz="1800" dirty="0" smtClean="0"/>
              <a:t>。</a:t>
            </a:r>
            <a:endParaRPr lang="zh-CN" altLang="en-US" sz="1800" dirty="0" smtClean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1800" dirty="0" smtClean="0"/>
              <a:t>    （提示：可将各系数存储在数组</a:t>
            </a:r>
            <a:r>
              <a:rPr lang="en-US" altLang="zh-CN" sz="1800" dirty="0" smtClean="0"/>
              <a:t>A</a:t>
            </a:r>
            <a:r>
              <a:rPr lang="zh-CN" altLang="en-US" sz="1800" dirty="0" smtClean="0"/>
              <a:t>中；</a:t>
            </a:r>
            <a:endParaRPr lang="zh-CN" altLang="en-US" sz="1800" dirty="0" smtClean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1800" dirty="0" smtClean="0"/>
              <a:t>        另外，乘法运算的时间是加法运算时间的数倍）</a:t>
            </a:r>
            <a:endParaRPr lang="zh-CN" altLang="en-US" sz="1800" dirty="0" smtClean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1800" dirty="0" smtClean="0"/>
              <a:t>         </a:t>
            </a:r>
            <a:r>
              <a:rPr lang="en-US" altLang="zh-CN" sz="1800" dirty="0" err="1" smtClean="0"/>
              <a:t>f</a:t>
            </a:r>
            <a:r>
              <a:rPr lang="en-US" altLang="zh-CN" sz="1800" i="1" baseline="-25000" dirty="0" err="1" smtClean="0"/>
              <a:t>n</a:t>
            </a:r>
            <a:r>
              <a:rPr lang="en-US" altLang="zh-CN" sz="1800" dirty="0" smtClean="0"/>
              <a:t>(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)= </a:t>
            </a:r>
            <a:r>
              <a:rPr lang="en-US" altLang="zh-CN" sz="1800" i="1" dirty="0" err="1" smtClean="0"/>
              <a:t>a</a:t>
            </a:r>
            <a:r>
              <a:rPr lang="en-US" altLang="zh-CN" sz="1800" i="1" baseline="-25000" dirty="0" err="1" smtClean="0"/>
              <a:t>n</a:t>
            </a:r>
            <a:r>
              <a:rPr lang="en-US" altLang="zh-CN" sz="1800" i="1" dirty="0" err="1" smtClean="0"/>
              <a:t>x</a:t>
            </a:r>
            <a:r>
              <a:rPr lang="en-US" altLang="zh-CN" sz="1800" i="1" baseline="30000" dirty="0" err="1" smtClean="0"/>
              <a:t>n</a:t>
            </a:r>
            <a:r>
              <a:rPr lang="en-US" altLang="zh-CN" sz="1800" dirty="0" smtClean="0"/>
              <a:t> +</a:t>
            </a:r>
            <a:r>
              <a:rPr lang="en-US" altLang="zh-CN" sz="1800" i="1" dirty="0" smtClean="0"/>
              <a:t>a</a:t>
            </a:r>
            <a:r>
              <a:rPr lang="en-US" altLang="zh-CN" sz="1800" i="1" baseline="-25000" dirty="0" smtClean="0"/>
              <a:t>n</a:t>
            </a:r>
            <a:r>
              <a:rPr lang="en-US" altLang="zh-CN" sz="1800" baseline="-25000" dirty="0" smtClean="0"/>
              <a:t>-1</a:t>
            </a:r>
            <a:r>
              <a:rPr lang="en-US" altLang="zh-CN" sz="1800" i="1" dirty="0" smtClean="0"/>
              <a:t>x</a:t>
            </a:r>
            <a:r>
              <a:rPr lang="en-US" altLang="zh-CN" sz="1800" i="1" baseline="30000" dirty="0" smtClean="0"/>
              <a:t>n</a:t>
            </a:r>
            <a:r>
              <a:rPr lang="en-US" altLang="zh-CN" sz="1800" baseline="30000" dirty="0" smtClean="0"/>
              <a:t>-1</a:t>
            </a:r>
            <a:r>
              <a:rPr lang="en-US" altLang="zh-CN" sz="1800" dirty="0" smtClean="0"/>
              <a:t>+</a:t>
            </a:r>
            <a:r>
              <a:rPr lang="en-US" altLang="zh-CN" sz="1800" i="1" dirty="0" smtClean="0"/>
              <a:t>a</a:t>
            </a:r>
            <a:r>
              <a:rPr lang="en-US" altLang="zh-CN" sz="1800" i="1" baseline="-25000" dirty="0" smtClean="0"/>
              <a:t>n</a:t>
            </a:r>
            <a:r>
              <a:rPr lang="en-US" altLang="zh-CN" sz="1800" baseline="-25000" dirty="0" smtClean="0"/>
              <a:t>-2</a:t>
            </a:r>
            <a:r>
              <a:rPr lang="en-US" altLang="zh-CN" sz="1800" i="1" dirty="0" smtClean="0"/>
              <a:t>x</a:t>
            </a:r>
            <a:r>
              <a:rPr lang="en-US" altLang="zh-CN" sz="1800" i="1" baseline="30000" dirty="0" smtClean="0"/>
              <a:t>n</a:t>
            </a:r>
            <a:r>
              <a:rPr lang="en-US" altLang="zh-CN" sz="1800" baseline="30000" dirty="0" smtClean="0"/>
              <a:t>-2</a:t>
            </a:r>
            <a:r>
              <a:rPr lang="en-US" altLang="zh-CN" sz="1800" dirty="0" smtClean="0"/>
              <a:t>+….. </a:t>
            </a:r>
            <a:r>
              <a:rPr lang="en-US" altLang="zh-CN" sz="1800" i="1" dirty="0" smtClean="0"/>
              <a:t>a</a:t>
            </a:r>
            <a:r>
              <a:rPr lang="en-US" altLang="zh-CN" sz="1800" baseline="-25000" dirty="0" smtClean="0"/>
              <a:t>2</a:t>
            </a:r>
            <a:r>
              <a:rPr lang="en-US" altLang="zh-CN" sz="1800" i="1" dirty="0" smtClean="0"/>
              <a:t>x</a:t>
            </a:r>
            <a:r>
              <a:rPr lang="en-US" altLang="zh-CN" sz="1800" baseline="30000" dirty="0" smtClean="0"/>
              <a:t>2</a:t>
            </a:r>
            <a:r>
              <a:rPr lang="en-US" altLang="zh-CN" sz="1800" dirty="0" smtClean="0"/>
              <a:t>+</a:t>
            </a:r>
            <a:r>
              <a:rPr lang="en-US" altLang="zh-CN" sz="1800" i="1" dirty="0" smtClean="0"/>
              <a:t>a</a:t>
            </a:r>
            <a:r>
              <a:rPr lang="en-US" altLang="zh-CN" sz="1800" baseline="-25000" dirty="0" smtClean="0"/>
              <a:t>1</a:t>
            </a:r>
            <a:r>
              <a:rPr lang="en-US" altLang="zh-CN" sz="1800" i="1" dirty="0" smtClean="0"/>
              <a:t>x</a:t>
            </a:r>
            <a:r>
              <a:rPr lang="en-US" altLang="zh-CN" sz="1800" dirty="0" smtClean="0"/>
              <a:t>+</a:t>
            </a:r>
            <a:r>
              <a:rPr lang="en-US" altLang="zh-CN" sz="1800" i="1" dirty="0" smtClean="0"/>
              <a:t>a</a:t>
            </a:r>
            <a:r>
              <a:rPr lang="en-US" altLang="zh-CN" sz="1800" baseline="-25000" dirty="0" smtClean="0"/>
              <a:t>0</a:t>
            </a:r>
            <a:endParaRPr lang="en-US" altLang="zh-CN" sz="1800" baseline="30000" dirty="0" smtClean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1800" baseline="30000" dirty="0" smtClean="0"/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AutoNum type="arabicPeriod" startAt="3"/>
            </a:pPr>
            <a:r>
              <a:rPr lang="zh-CN" altLang="en-US" sz="1800" b="1" dirty="0" smtClean="0"/>
              <a:t>设计算法求集合｛</a:t>
            </a:r>
            <a:r>
              <a:rPr lang="en-US" altLang="zh-CN" sz="1800" b="1" dirty="0" smtClean="0"/>
              <a:t>1, 2, ..., </a:t>
            </a:r>
            <a:r>
              <a:rPr lang="en-US" altLang="zh-CN" sz="1800" b="1" i="1" dirty="0" smtClean="0"/>
              <a:t>n</a:t>
            </a:r>
            <a:r>
              <a:rPr lang="zh-CN" altLang="en-US" sz="1800" b="1" dirty="0" smtClean="0"/>
              <a:t>｝的幂集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AutoNum type="arabicPeriod" startAt="3"/>
            </a:pPr>
            <a:endParaRPr lang="zh-CN" altLang="en-US" sz="1800" dirty="0" smtClean="0"/>
          </a:p>
          <a:p>
            <a:pPr eaLnBrk="1" hangingPunct="1"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AutoNum type="arabicPeriod" startAt="4"/>
            </a:pPr>
            <a:r>
              <a:rPr lang="zh-CN" altLang="en-US" sz="1800" b="1" dirty="0" smtClean="0"/>
              <a:t>设计算法将整型数组</a:t>
            </a:r>
            <a:r>
              <a:rPr lang="zh-CN" altLang="en-US" sz="1800" b="1" i="1" dirty="0" smtClean="0"/>
              <a:t>A</a:t>
            </a:r>
            <a:r>
              <a:rPr lang="zh-CN" altLang="en-US" sz="1800" b="1" dirty="0" smtClean="0"/>
              <a:t>[</a:t>
            </a:r>
            <a:r>
              <a:rPr lang="zh-CN" altLang="en-US" sz="1800" b="1" i="1" dirty="0" smtClean="0"/>
              <a:t>n</a:t>
            </a:r>
            <a:r>
              <a:rPr lang="zh-CN" altLang="en-US" sz="1800" b="1" dirty="0" smtClean="0"/>
              <a:t>]中的元素调整为左右两部分，其中左边所有元素为奇数，右边所有元素为偶数。并要求算法的时间复杂度为O(</a:t>
            </a:r>
            <a:r>
              <a:rPr lang="zh-CN" altLang="en-US" sz="1800" b="1" i="1" dirty="0" smtClean="0"/>
              <a:t>n</a:t>
            </a:r>
            <a:r>
              <a:rPr lang="zh-CN" altLang="en-US" sz="1800" b="1" dirty="0" smtClean="0"/>
              <a:t>)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0" indent="0" eaLnBrk="1" hangingPunct="1">
              <a:spcBef>
                <a:spcPts val="600"/>
              </a:spcBef>
              <a:buNone/>
            </a:pPr>
            <a:endParaRPr lang="zh-CN" altLang="en-US" sz="1800" dirty="0" smtClean="0"/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1800" b="1" dirty="0" smtClean="0">
                <a:solidFill>
                  <a:srgbClr val="FF0000"/>
                </a:solidFill>
              </a:rPr>
              <a:t>5</a:t>
            </a:r>
            <a:r>
              <a:rPr lang="zh-CN" altLang="en-US" sz="1800" dirty="0" smtClean="0">
                <a:solidFill>
                  <a:srgbClr val="FF0000"/>
                </a:solidFill>
              </a:rPr>
              <a:t>.  </a:t>
            </a:r>
            <a:r>
              <a:rPr lang="zh-CN" altLang="en-US" sz="1800" b="1" dirty="0" smtClean="0"/>
              <a:t>已知输入序列中各元素的值至少有两个元素。设计算法求出该序列中元素的所有最大升、降子序列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</a:t>
            </a:r>
            <a:r>
              <a:rPr lang="zh-CN" altLang="en-US" sz="1800" dirty="0" smtClean="0"/>
              <a:t>例如</a:t>
            </a:r>
            <a:r>
              <a:rPr lang="zh-CN" altLang="en-US" sz="1800" dirty="0"/>
              <a:t>：</a:t>
            </a:r>
            <a:r>
              <a:rPr lang="zh-CN" altLang="en-US" sz="1800" dirty="0" smtClean="0"/>
              <a:t>若元素依次为（1，20，30，12，3，5，7，4，6，100，11，8），</a:t>
            </a:r>
            <a:endParaRPr lang="en-US" altLang="zh-CN" sz="18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</a:t>
            </a:r>
            <a:r>
              <a:rPr lang="zh-CN" altLang="en-US" sz="1800" dirty="0" smtClean="0"/>
              <a:t>则输出结果为（1，20，30），（30，12，3），（3，5，7），（7，4），（4，6，100），（100，11，8）。</a:t>
            </a:r>
            <a:endParaRPr lang="zh-CN" altLang="en-US" sz="1800" dirty="0" smtClean="0"/>
          </a:p>
        </p:txBody>
      </p:sp>
      <p:sp>
        <p:nvSpPr>
          <p:cNvPr id="33796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377172B-1220-4011-B529-EF55B23418EC}" type="slidenum">
              <a:rPr lang="zh-CN" altLang="en-US" sz="1200" dirty="0" smtClean="0"/>
            </a:fld>
            <a:endParaRPr lang="zh-CN" altLang="en-US" sz="1200" dirty="0"/>
          </a:p>
        </p:txBody>
      </p:sp>
      <p:grpSp>
        <p:nvGrpSpPr>
          <p:cNvPr id="6" name="组合 5"/>
          <p:cNvGrpSpPr/>
          <p:nvPr/>
        </p:nvGrpSpPr>
        <p:grpSpPr>
          <a:xfrm>
            <a:off x="539552" y="66293"/>
            <a:ext cx="1971209" cy="696929"/>
            <a:chOff x="973123" y="4906917"/>
            <a:chExt cx="1971209" cy="696929"/>
          </a:xfrm>
        </p:grpSpPr>
        <p:sp>
          <p:nvSpPr>
            <p:cNvPr id="7" name="矩形 6"/>
            <p:cNvSpPr/>
            <p:nvPr/>
          </p:nvSpPr>
          <p:spPr>
            <a:xfrm>
              <a:off x="1523750" y="4964472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 smtClean="0">
                  <a:latin typeface="Verdana" panose="020B0604030504040204" pitchFamily="34" charset="0"/>
                  <a:ea typeface="黑体" panose="02010609060101010101" pitchFamily="49" charset="-122"/>
                </a:rPr>
                <a:t>作业：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8" name="图片 7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73123" y="4906917"/>
              <a:ext cx="654342" cy="696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文本占位符 32770"/>
          <p:cNvSpPr>
            <a:spLocks noGrp="1" noChangeArrowheads="1"/>
          </p:cNvSpPr>
          <p:nvPr>
            <p:ph idx="1"/>
          </p:nvPr>
        </p:nvSpPr>
        <p:spPr>
          <a:xfrm>
            <a:off x="539552" y="1052736"/>
            <a:ext cx="7993062" cy="496865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FF0000"/>
                </a:solidFill>
              </a:rPr>
              <a:t>6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.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背包问题</a:t>
            </a:r>
            <a:r>
              <a:rPr lang="zh-CN" altLang="en-US" sz="2000" b="1" dirty="0" smtClean="0"/>
              <a:t>：设有</a:t>
            </a:r>
            <a:r>
              <a:rPr lang="en-US" altLang="zh-CN" sz="2000" b="1" i="1" dirty="0"/>
              <a:t>n</a:t>
            </a:r>
            <a:r>
              <a:rPr lang="zh-CN" altLang="en-US" sz="2000" b="1" dirty="0" smtClean="0"/>
              <a:t>个物品，其重量分别为</a:t>
            </a:r>
            <a:r>
              <a:rPr lang="en-US" altLang="zh-CN" sz="2000" b="1" i="1" dirty="0" smtClean="0"/>
              <a:t>w</a:t>
            </a:r>
            <a:r>
              <a:rPr lang="en-US" altLang="zh-CN" sz="2000" b="1" baseline="-25000" dirty="0" smtClean="0"/>
              <a:t>1</a:t>
            </a:r>
            <a:r>
              <a:rPr lang="zh-CN" altLang="en-US" sz="2000" b="1" dirty="0" smtClean="0"/>
              <a:t>，</a:t>
            </a:r>
            <a:r>
              <a:rPr lang="en-US" altLang="zh-CN" sz="2000" b="1" i="1" dirty="0" smtClean="0"/>
              <a:t>w</a:t>
            </a:r>
            <a:r>
              <a:rPr lang="en-US" altLang="zh-CN" sz="2000" b="1" baseline="-25000" dirty="0" smtClean="0"/>
              <a:t>2</a:t>
            </a:r>
            <a:r>
              <a:rPr lang="zh-CN" altLang="en-US" sz="2000" b="1" dirty="0" smtClean="0"/>
              <a:t>，</a:t>
            </a:r>
            <a:r>
              <a:rPr lang="en-US" altLang="zh-CN" sz="2000" b="1" i="1" dirty="0" smtClean="0"/>
              <a:t>w</a:t>
            </a:r>
            <a:r>
              <a:rPr lang="en-US" altLang="zh-CN" sz="2000" b="1" baseline="-25000" dirty="0" smtClean="0"/>
              <a:t>3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…</a:t>
            </a:r>
            <a:r>
              <a:rPr lang="zh-CN" altLang="en-US" sz="2000" b="1" dirty="0" smtClean="0"/>
              <a:t>，</a:t>
            </a:r>
            <a:r>
              <a:rPr lang="en-US" altLang="zh-CN" sz="2000" b="1" i="1" dirty="0" err="1" smtClean="0"/>
              <a:t>w</a:t>
            </a:r>
            <a:r>
              <a:rPr lang="en-US" altLang="zh-CN" sz="2000" b="1" i="1" baseline="-25000" dirty="0" err="1" smtClean="0"/>
              <a:t>n</a:t>
            </a:r>
            <a:r>
              <a:rPr lang="zh-CN" altLang="en-US" sz="2000" b="1" dirty="0" smtClean="0"/>
              <a:t>，所有物品的重量之和≥背包所能放置的重量</a:t>
            </a:r>
            <a:r>
              <a:rPr lang="en-US" altLang="zh-CN" sz="2000" b="1" i="1" dirty="0"/>
              <a:t>S</a:t>
            </a:r>
            <a:r>
              <a:rPr lang="zh-CN" altLang="en-US" sz="2000" b="1" dirty="0" smtClean="0"/>
              <a:t>。设计算法从中找出若干物品放入背包中，使得其重量之和正好为</a:t>
            </a:r>
            <a:r>
              <a:rPr lang="en-US" altLang="zh-CN" sz="2000" b="1" i="1" dirty="0"/>
              <a:t>S </a:t>
            </a:r>
            <a:r>
              <a:rPr lang="zh-CN" altLang="en-US" sz="2000" b="1" dirty="0" smtClean="0"/>
              <a:t>。 </a:t>
            </a:r>
            <a:endParaRPr lang="zh-CN" altLang="en-US" sz="20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dirty="0" smtClean="0"/>
              <a:t>     例如，</a:t>
            </a:r>
            <a:r>
              <a:rPr lang="en-US" altLang="zh-CN" sz="2000" b="1" i="1" dirty="0" smtClean="0"/>
              <a:t>S </a:t>
            </a:r>
            <a:r>
              <a:rPr lang="en-US" altLang="zh-CN" sz="2000" b="1" dirty="0" smtClean="0"/>
              <a:t>= 50, </a:t>
            </a:r>
            <a:r>
              <a:rPr lang="en-US" altLang="zh-CN" sz="2000" b="1" i="1" dirty="0" smtClean="0"/>
              <a:t>n </a:t>
            </a:r>
            <a:r>
              <a:rPr lang="en-US" altLang="zh-CN" sz="2000" b="1" dirty="0" smtClean="0"/>
              <a:t>= 10,  </a:t>
            </a:r>
            <a:r>
              <a:rPr lang="en-US" altLang="zh-CN" sz="2000" b="1" i="1" dirty="0" smtClean="0"/>
              <a:t>w </a:t>
            </a:r>
            <a:r>
              <a:rPr lang="en-US" altLang="zh-CN" sz="2000" b="1" dirty="0" smtClean="0"/>
              <a:t>= ( 29  26  18  16  13  10  8  5  3  1)</a:t>
            </a:r>
            <a:endParaRPr lang="en-US" altLang="zh-CN" sz="2000" b="1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 smtClean="0"/>
              <a:t>      (</a:t>
            </a:r>
            <a:r>
              <a:rPr lang="zh-CN" altLang="en-US" sz="2000" b="1" dirty="0" smtClean="0"/>
              <a:t>其中每一行为一个解。每一对数中，第一个为该元素在</a:t>
            </a:r>
            <a:r>
              <a:rPr lang="en-US" altLang="zh-CN" sz="2000" b="1" i="1" dirty="0"/>
              <a:t>w</a:t>
            </a:r>
            <a:r>
              <a:rPr lang="zh-CN" altLang="en-US" sz="2000" b="1" dirty="0" smtClean="0"/>
              <a:t>中的序号，  第二个为元素的值）：</a:t>
            </a:r>
            <a:endParaRPr lang="zh-CN" altLang="en-US" sz="2000" b="1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(1,29)  (3,18)  (9,3)     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(1,29)  (4,16)  (8,5)                 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(1,29)  (5,13)  (7,8)                      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(1,29)  (5,13)  (8,5)   (9,3)  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(1,29)  (6,10)  (7,8)   (9,3)             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(2,26)  (3,18)  (8,5)   (10,1)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(2,26)  (4,16)  (7,8)                 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(2,26)  (4,16)  (8,5)   (9,3)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(2,26)  (5,13)  (6,10)  (10,1)   </a:t>
            </a:r>
            <a:endParaRPr lang="en-US" altLang="zh-CN" sz="2000" dirty="0" smtClean="0"/>
          </a:p>
        </p:txBody>
      </p:sp>
      <p:sp>
        <p:nvSpPr>
          <p:cNvPr id="49156" name="文本框 32771"/>
          <p:cNvSpPr txBox="1">
            <a:spLocks noChangeArrowheads="1"/>
          </p:cNvSpPr>
          <p:nvPr/>
        </p:nvSpPr>
        <p:spPr bwMode="auto">
          <a:xfrm>
            <a:off x="3979397" y="3331411"/>
            <a:ext cx="4716462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08050" indent="-43688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(2,26)  (5,13)  (7,8)   (9,3)  </a:t>
            </a:r>
            <a:endParaRPr lang="en-US" altLang="zh-CN" sz="1800" dirty="0"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(2,26)  (6,10)  (7,8)   (8,5)   (10,1)  </a:t>
            </a:r>
            <a:endParaRPr lang="en-US" altLang="zh-CN" sz="1800" dirty="0"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(3,18)  (4,16)  (5,13)  (9,3)  </a:t>
            </a:r>
            <a:endParaRPr lang="en-US" altLang="zh-CN" sz="1800" dirty="0"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(3,18)  (4,16)  (6,10)  (8,5)   (10,1)  </a:t>
            </a:r>
            <a:endParaRPr lang="en-US" altLang="zh-CN" sz="1800" dirty="0"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(3,18)  (4,16)  (7,8)   (8,5)   (9,3)  </a:t>
            </a:r>
            <a:endParaRPr lang="en-US" altLang="zh-CN" sz="1800" dirty="0"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(3,18)  (5,13)  (6,10)  (7,8)   (10,1)  </a:t>
            </a:r>
            <a:endParaRPr lang="en-US" altLang="zh-CN" sz="1800" dirty="0"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(3,18)  (5,13)  (6,10)  (8,5)   (9,3)    (10,1)  </a:t>
            </a:r>
            <a:endParaRPr lang="en-US" altLang="zh-CN" sz="1800" dirty="0">
              <a:ea typeface="楷体_GB2312" pitchFamily="1" charset="-122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ea typeface="楷体_GB2312" pitchFamily="1" charset="-122"/>
              </a:rPr>
              <a:t> (4,16)  (5,13)  (6,10)  (7,8)   (9,3)</a:t>
            </a:r>
            <a:endParaRPr lang="zh-CN" altLang="en-US" dirty="0">
              <a:ea typeface="楷体_GB2312" pitchFamily="1" charset="-122"/>
            </a:endParaRPr>
          </a:p>
        </p:txBody>
      </p:sp>
      <p:sp>
        <p:nvSpPr>
          <p:cNvPr id="34821" name="灯片编号占位符 2"/>
          <p:cNvSpPr>
            <a:spLocks noGrp="1" noChangeArrowheads="1"/>
          </p:cNvSpPr>
          <p:nvPr>
            <p:ph type="sldNum" sz="quarter" idx="429496729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B17E102-B09A-4069-AE45-3150BA288469}" type="slidenum">
              <a:rPr lang="zh-CN" altLang="en-US" sz="1200" dirty="0" smtClean="0"/>
            </a:fld>
            <a:endParaRPr lang="zh-CN" altLang="en-US" sz="1200"/>
          </a:p>
        </p:txBody>
      </p:sp>
      <p:grpSp>
        <p:nvGrpSpPr>
          <p:cNvPr id="7" name="组合 6"/>
          <p:cNvGrpSpPr/>
          <p:nvPr/>
        </p:nvGrpSpPr>
        <p:grpSpPr>
          <a:xfrm>
            <a:off x="539552" y="66293"/>
            <a:ext cx="1971209" cy="696929"/>
            <a:chOff x="973123" y="4906917"/>
            <a:chExt cx="1971209" cy="696929"/>
          </a:xfrm>
        </p:grpSpPr>
        <p:sp>
          <p:nvSpPr>
            <p:cNvPr id="8" name="矩形 7"/>
            <p:cNvSpPr/>
            <p:nvPr/>
          </p:nvSpPr>
          <p:spPr>
            <a:xfrm>
              <a:off x="1523750" y="4964472"/>
              <a:ext cx="142058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200" b="1" dirty="0" smtClean="0">
                  <a:latin typeface="Verdana" panose="020B0604030504040204" pitchFamily="34" charset="0"/>
                  <a:ea typeface="黑体" panose="02010609060101010101" pitchFamily="49" charset="-122"/>
                </a:rPr>
                <a:t>作业：</a:t>
              </a:r>
              <a:endParaRPr lang="zh-CN" altLang="en-US" sz="32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9" name="图片 8"/>
            <p:cNvPicPr/>
            <p:nvPr/>
          </p:nvPicPr>
          <p:blipFill>
            <a:blip r:embed="rId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973123" y="4906917"/>
              <a:ext cx="654342" cy="6969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微信图片_20191019182251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60232" y="3140968"/>
            <a:ext cx="2116102" cy="211610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6EA7BA5E-4115-4796-A8C9-4698036AB88B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475656" y="3672894"/>
            <a:ext cx="6388100" cy="2708434"/>
            <a:chOff x="1520825" y="4834037"/>
            <a:chExt cx="6388100" cy="2708434"/>
          </a:xfrm>
        </p:grpSpPr>
        <p:sp>
          <p:nvSpPr>
            <p:cNvPr id="6" name="矩形 5"/>
            <p:cNvSpPr/>
            <p:nvPr/>
          </p:nvSpPr>
          <p:spPr>
            <a:xfrm>
              <a:off x="1520825" y="4834037"/>
              <a:ext cx="6388100" cy="2708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李</a:t>
              </a:r>
              <a:r>
                <a:rPr lang="zh-CN" altLang="en-US" sz="2000" b="1" dirty="0" smtClean="0">
                  <a:latin typeface="Times New Roman" panose="02020603050405020304" pitchFamily="18" charset="0"/>
                  <a:ea typeface="黑体" panose="02010609060101010101" pitchFamily="49" charset="-122"/>
                </a:rPr>
                <a:t>培培</a:t>
              </a:r>
              <a:endPara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QQ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123452644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，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微信：</a:t>
              </a:r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li123452644</a:t>
              </a:r>
              <a:endPara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en-US" altLang="zh-CN" sz="2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Email</a:t>
              </a:r>
              <a:r>
                <a:rPr lang="en-US" altLang="zh-CN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: 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peipeili@hfut.edu.cn</a:t>
              </a:r>
              <a:endPara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手机号</a:t>
              </a: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13956043016</a:t>
              </a:r>
              <a:endPara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marL="0" lvl="1" algn="ctr" eaLnBrk="0" hangingPunct="0">
                <a:lnSpc>
                  <a:spcPct val="125000"/>
                </a:lnSpc>
              </a:pPr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 合肥工业大学智能计算与数据挖掘千人团队 </a:t>
              </a:r>
              <a:r>
                <a:rPr lang="en-US" altLang="zh-CN" sz="2000" u="sng" dirty="0" smtClean="0">
                  <a:solidFill>
                    <a:srgbClr val="0000FF"/>
                  </a:solidFill>
                </a:rPr>
                <a:t>http://dmic.bigke.org/</a:t>
              </a:r>
              <a:endParaRPr lang="en-US" altLang="zh-CN" sz="2000" b="1" u="sng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 eaLnBrk="0" hangingPunct="0"/>
              <a:r>
                <a:rPr lang="zh-CN" altLang="en-US" sz="2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endParaRPr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865" y="6418213"/>
              <a:ext cx="666651" cy="286658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323528" y="3356992"/>
            <a:ext cx="2143084" cy="551837"/>
            <a:chOff x="728936" y="4175538"/>
            <a:chExt cx="2204016" cy="584775"/>
          </a:xfrm>
        </p:grpSpPr>
        <p:sp>
          <p:nvSpPr>
            <p:cNvPr id="9" name="矩形 8"/>
            <p:cNvSpPr/>
            <p:nvPr/>
          </p:nvSpPr>
          <p:spPr>
            <a:xfrm>
              <a:off x="1100399" y="4175538"/>
              <a:ext cx="183255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</a:pPr>
              <a:r>
                <a:rPr lang="zh-CN" altLang="en-US" sz="3000" b="1" dirty="0">
                  <a:latin typeface="Verdana" panose="020B0604030504040204" pitchFamily="34" charset="0"/>
                  <a:ea typeface="黑体" panose="02010609060101010101" pitchFamily="49" charset="-122"/>
                </a:rPr>
                <a:t>联系方式</a:t>
              </a:r>
              <a:endParaRPr lang="zh-CN" altLang="en-US" sz="3000" b="1" dirty="0">
                <a:latin typeface="Verdana" panose="020B060403050404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10" name="图片 1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28936" y="4235450"/>
              <a:ext cx="401364" cy="4340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矩形 11"/>
          <p:cNvSpPr/>
          <p:nvPr/>
        </p:nvSpPr>
        <p:spPr>
          <a:xfrm>
            <a:off x="3707904" y="1916832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Clr>
                <a:srgbClr val="FF0000"/>
              </a:buClr>
            </a:pPr>
            <a:r>
              <a:rPr lang="zh-CN" altLang="en-US" sz="3600" b="1" dirty="0" smtClean="0"/>
              <a:t>谢谢！</a:t>
            </a:r>
            <a:endParaRPr lang="zh-CN" altLang="zh-CN" sz="3600" b="1" dirty="0" smtClean="0"/>
          </a:p>
        </p:txBody>
      </p:sp>
    </p:spTree>
  </p:cSld>
  <p:clrMapOvr>
    <a:masterClrMapping/>
  </p:clrMapOvr>
  <p:transition spd="slow" advClick="0" advTm="1622">
    <p:pull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b868aaf0-fdfb-48cd-bfc5-f6e654f2b9d1"/>
  <p:tag name="COMMONDATA" val="eyJoZGlkIjoiODFlMTQyZGVlMGZmNGM1YWNmZjFlZDAxM2FlYjFjMTMifQ=="/>
  <p:tag name="commondata" val="eyJoZGlkIjoiYTlkZjEzYWRmNzlkM2U5MWU1NzI4ZWFmYTllMGY0NG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8807</Words>
  <Application>WPS 演示</Application>
  <PresentationFormat>全屏显示(4:3)</PresentationFormat>
  <Paragraphs>807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黑体</vt:lpstr>
      <vt:lpstr>Calibri</vt:lpstr>
      <vt:lpstr>仿宋</vt:lpstr>
      <vt:lpstr>Comic Sans MS</vt:lpstr>
      <vt:lpstr>MS PMincho</vt:lpstr>
      <vt:lpstr>Yu Gothic UI</vt:lpstr>
      <vt:lpstr>Garamond</vt:lpstr>
      <vt:lpstr>方正舒体</vt:lpstr>
      <vt:lpstr>微软雅黑</vt:lpstr>
      <vt:lpstr>Cambria Math</vt:lpstr>
      <vt:lpstr>Arial Unicode MS</vt:lpstr>
      <vt:lpstr>楷体_GB2312</vt:lpstr>
      <vt:lpstr>新宋体</vt:lpstr>
      <vt:lpstr>Verdana</vt:lpstr>
      <vt:lpstr>Office 主题</vt:lpstr>
      <vt:lpstr>PowerPoint 演示文稿</vt:lpstr>
      <vt:lpstr>第1章  概 述</vt:lpstr>
      <vt:lpstr>PowerPoint 演示文稿</vt:lpstr>
      <vt:lpstr>PowerPoint 演示文稿</vt:lpstr>
      <vt:lpstr>1.1 研究内容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 究方向：多源海量动态信息处理 团队带头人：吴信东 所 在  学 校：合肥工业大学</dc:title>
  <dc:creator>Peipei Li</dc:creator>
  <cp:lastModifiedBy>合肥工大-胡学钢</cp:lastModifiedBy>
  <cp:revision>1336</cp:revision>
  <cp:lastPrinted>2012-11-20T01:52:00Z</cp:lastPrinted>
  <dcterms:created xsi:type="dcterms:W3CDTF">2012-10-13T08:41:00Z</dcterms:created>
  <dcterms:modified xsi:type="dcterms:W3CDTF">2024-02-26T12:14:00Z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DDC56D72FA824A6ABC0F5F4C201F68E6</vt:lpwstr>
  </property>
</Properties>
</file>