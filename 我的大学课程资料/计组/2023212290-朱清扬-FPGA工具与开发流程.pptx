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Raleway" pitchFamily="2" charset="0"/>
      <p:regular r:id="rId11"/>
    </p:embeddedFont>
    <p:embeddedFont>
      <p:font typeface="Roboto" panose="02000000000000000000" pitchFamily="2" charset="0"/>
      <p:regular r:id="rId12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45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820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92536"/>
            <a:ext cx="65786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FPGA设计</a:t>
            </a:r>
            <a:r>
              <a:rPr lang="zh-CN" alt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工具</a:t>
            </a: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与</a:t>
            </a:r>
            <a:r>
              <a:rPr lang="zh-CN" alt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开发</a:t>
            </a:r>
            <a:r>
              <a:rPr lang="en-US" sz="44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流程分析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41477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本次演示将深入探讨FPGA设计仿真的核心工具——Xilinx Vivado内置仿真器和Mentor Graphics ModelSim。将从FPGA在现代电子设计中的关键作用出发，逐步剖析仿真的必要性，对比两大仿真工具的优劣，并最终阐述它们在工业级FPGA及ASIC/SoC开发流程中的应用。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48238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主要揭示为何在Vivado体系下，ModelSim依然是不可或缺的专业仿真平台，并详细介绍企业级芯片制造（ASIC/SoC）中Verilog/HDL设计阶段的关键考量。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2704"/>
            <a:ext cx="88465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FPGA与仿真：现代电子设计的基石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084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FPGA的魅力与挑战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89603"/>
            <a:ext cx="3978116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PGA以其高度灵活性和并行处理能力，在通信、人工智能、数据中心等领域扮演着重要角色。设计师通过硬件描述语言（HDL）定义逻辑功能并快速迭代。然而，现代FPGA的复杂性日益增加，包含数百万逻辑单元、存储器和高速收发器，使得设计验证成为开发流程中最具挑战性的一环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2908459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仿真的必要性：在硅片之前洞见未来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3843933"/>
            <a:ext cx="397811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早发现，早修复”是工程设计的基本原则。仿真是在设计实际下载到物理芯片之前，通过软件工具模拟硬件行为，以验证功能、时序和系统稳定性的核心手段。它使工程师能在早期发现逻辑错误或时序问题，远比在物理硬件上调试更高效和经济。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2908459"/>
            <a:ext cx="3978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仿真工具的多样性：为何需要选择？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3843933"/>
            <a:ext cx="397811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业界存在多种仿真工具，如Xilinx Vivado Simulator和Mentor Graphics ModelSim。这些工具在性能、功能、语言支持、调试能力和成本上各有侧重。理解它们的区别，并根据项目需求、团队经验和预算做出合理选择，对保证FPGA设计质量和研发效率至关重要。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4609" y="538163"/>
            <a:ext cx="7774781" cy="1222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Vivado </a:t>
            </a:r>
            <a:r>
              <a:rPr lang="en-US" sz="38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Simulator：Xilinx生态的集成仿真利器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84609" y="2054304"/>
            <a:ext cx="440055" cy="440055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952" y="2090976"/>
            <a:ext cx="293370" cy="3667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0284" y="2121456"/>
            <a:ext cx="2445187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紧密集成与易用性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1320284" y="2544366"/>
            <a:ext cx="7139107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Vivado Simulator与Vivado设计套件无缝集成，可直接启动仿真，无需复杂配置，尤其适合初学者和Xilinx器件项目。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84609" y="3561398"/>
            <a:ext cx="440055" cy="440055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52" y="3598069"/>
            <a:ext cx="293370" cy="3667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0284" y="3628549"/>
            <a:ext cx="2445187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Xilinx IP支持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1320284" y="4051459"/>
            <a:ext cx="7139107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对Xilinx IP核的支持最为直接和完善，预编译好的IP仿真模型省去了手动编译的麻烦。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684609" y="5068491"/>
            <a:ext cx="440055" cy="440055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952" y="5105162"/>
            <a:ext cx="293370" cy="3667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0284" y="5135642"/>
            <a:ext cx="2445187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成本效益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1320284" y="5558552"/>
            <a:ext cx="7139107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通常免费包含在Vivado套件中，无需额外许可费用，对预算有限的团队或个人开发者很有吸引力。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84609" y="6575584"/>
            <a:ext cx="440055" cy="440055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952" y="6612255"/>
            <a:ext cx="293370" cy="36671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0284" y="6642735"/>
            <a:ext cx="2445187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性能瓶颈与局限性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1320284" y="7065645"/>
            <a:ext cx="7139107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对于大规模、高复杂度的设计，尤其在门级仿真或长时间仿真时，其性能可能不如专业的第三方仿真器。对高级验证功能（如UVM）的支持也相对有限。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818" y="679966"/>
            <a:ext cx="7662029" cy="57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ModelSim：业界标杆的专业仿真平台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642818" y="1529477"/>
            <a:ext cx="7858363" cy="1367314"/>
          </a:xfrm>
          <a:prstGeom prst="roundRect">
            <a:avLst>
              <a:gd name="adj" fmla="val 564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4033" y="1720691"/>
            <a:ext cx="229612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卓越的性能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34033" y="2117884"/>
            <a:ext cx="7475934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ModelSim以其高效的仿真内核著称，在处理大型设计、复杂测试环境以及长时间运行的仿真时（特别是门级带时序的仿真），通常比集成仿真器快得多。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2818" y="3080385"/>
            <a:ext cx="7858363" cy="1367314"/>
          </a:xfrm>
          <a:prstGeom prst="roundRect">
            <a:avLst>
              <a:gd name="adj" fmla="val 564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34033" y="3271599"/>
            <a:ext cx="275463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强大的语言支持与验证能力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34033" y="3668792"/>
            <a:ext cx="7475934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对SystemVerilog支持全面，是实施高级验证方法学（如UVM/OVM）的理想平台。支持约束随机激励生成、功能覆盖率收集、断言等高级验证技术。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2818" y="4631293"/>
            <a:ext cx="7858363" cy="1367314"/>
          </a:xfrm>
          <a:prstGeom prst="roundRect">
            <a:avLst>
              <a:gd name="adj" fmla="val 564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4033" y="4822508"/>
            <a:ext cx="229612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高级调试与分析功能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34033" y="5219700"/>
            <a:ext cx="7475934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提供成熟强大的调试环境，包括高级波形查看器、源码级调试、数据流追溯、代码覆盖率分析和性能分析。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2818" y="6182201"/>
            <a:ext cx="7858363" cy="1367314"/>
          </a:xfrm>
          <a:prstGeom prst="roundRect">
            <a:avLst>
              <a:gd name="adj" fmla="val 564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4033" y="6373416"/>
            <a:ext cx="2296120" cy="287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行业标准与签核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34033" y="6770608"/>
            <a:ext cx="7475934" cy="587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在许多公司被认为是仿真的“黄金标准”，其仿真结果常被用作设计签核的依据之一。ModelSim在稳定性和处理各种复杂设计场景方面的能力得到业界普遍认可。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11597" y="560427"/>
            <a:ext cx="7893606" cy="1116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原理对比：为何在Vivado体系下仍需ModelSim？</a:t>
            </a:r>
            <a:endParaRPr lang="en-US" sz="35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1597" y="1944648"/>
            <a:ext cx="446603" cy="44660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11597" y="2569845"/>
            <a:ext cx="2233017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仿真引擎优化目标差异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111597" y="2956203"/>
            <a:ext cx="24823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Vivado Simulator侧重集成与易用性，而ModelSim/QuestaSim则追求极致的仿真速度和对大规模设计的处理能力。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7173" y="1944648"/>
            <a:ext cx="446603" cy="44660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17173" y="2569845"/>
            <a:ext cx="2233017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语言标准支持深度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8817173" y="2956203"/>
            <a:ext cx="24823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ModelSim作为专业工具，紧跟IEEE HDL标准，提供全面、可靠的最新语言特性支持，对高级验证至关重要。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2750" y="1944648"/>
            <a:ext cx="446603" cy="44660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22750" y="2569845"/>
            <a:ext cx="2233017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验证方法学支撑能力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11522750" y="2956203"/>
            <a:ext cx="2482453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ModelSim/QuestaSim对UVM等高级验证方法学有原生支持，能够高效运行和调试复杂的测试平台。</a:t>
            </a:r>
            <a:endParaRPr lang="en-US" sz="14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1597" y="4456390"/>
            <a:ext cx="446603" cy="44660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11597" y="5081588"/>
            <a:ext cx="2233017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调试与分析能力</a:t>
            </a:r>
            <a:endParaRPr lang="en-US" sz="1750" dirty="0"/>
          </a:p>
        </p:txBody>
      </p:sp>
      <p:sp>
        <p:nvSpPr>
          <p:cNvPr id="15" name="Text 8"/>
          <p:cNvSpPr/>
          <p:nvPr/>
        </p:nvSpPr>
        <p:spPr>
          <a:xfrm>
            <a:off x="6111597" y="5467945"/>
            <a:ext cx="24823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ModelSim提供更精细、强大的调试工具集，包括灵活的波形分析、代码覆盖率报告和仿真性能瓶颈分析。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6111597" y="6811923"/>
            <a:ext cx="7893606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总结而言，Vivado Simulator适合初学者和简单项目，而ModelSim/QuestaSim则是大型复杂设计、高级验证、性能要求高、以及需要行业签核时的更佳甚至必需的选择。因此，即使在Vivado流程中，当验证需求超出Vivado Simulator能力时，工程师仍会转向ModelSim等专业工具。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525" y="459343"/>
            <a:ext cx="4835247" cy="52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FPGA开发流程详解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25" y="1313736"/>
            <a:ext cx="833676" cy="10003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7232" y="1480423"/>
            <a:ext cx="208430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需求与架构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1667232" y="1840944"/>
            <a:ext cx="123796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明确功能目标、性能指标、接口标准，并进行模块分解、时钟域规划和资源估算。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525" y="2314099"/>
            <a:ext cx="833676" cy="10003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7232" y="2480786"/>
            <a:ext cx="208430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编码与仿真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667232" y="2841308"/>
            <a:ext cx="123796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编写RTL代码，集成IP核，并通过单元级、子系统级和顶层行为级仿真进行迭代验证。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525" y="3314462"/>
            <a:ext cx="833676" cy="10003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67232" y="3481149"/>
            <a:ext cx="208430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综合与约束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667232" y="3841671"/>
            <a:ext cx="123796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将RTL代码转换为门级网表，详细定义并优化时序和物理约束。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525" y="4314825"/>
            <a:ext cx="833676" cy="100036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67232" y="4481513"/>
            <a:ext cx="208430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实现与后仿真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1667232" y="4842034"/>
            <a:ext cx="123796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进行布局布线，生成门级网表，并通过后实现仿真验证时序正确性。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3525" y="5315188"/>
            <a:ext cx="833676" cy="10003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67232" y="5481876"/>
            <a:ext cx="208430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STA与比特流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1667232" y="5842397"/>
            <a:ext cx="123796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静态时序分析确保时序收敛，最终生成用于配置FPGA的二进制比特流文件。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525" y="6315551"/>
            <a:ext cx="833676" cy="100036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667232" y="6482239"/>
            <a:ext cx="2084308" cy="260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硬件验证与集成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1667232" y="6842760"/>
            <a:ext cx="12379643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下载比特流到硬件，进行功能验证、调试、系统集成和压力测试。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583525" y="7503438"/>
            <a:ext cx="13463349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工业界的FPGA开发流程是一个规范化、系统化的过程，旨在确保设计质量、按时交付并控制成本。仿真验证贯穿始终，是发现和修复设计缺陷的关键环节。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9483" y="494705"/>
            <a:ext cx="9869210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 err="1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芯片制造：ASIC</a:t>
            </a: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/SoC设计中的Verilog考量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29483" y="1416487"/>
            <a:ext cx="1337072" cy="1036201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71575" y="1776532"/>
            <a:ext cx="252889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146340" y="1596271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可综合性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2146340" y="1985129"/>
            <a:ext cx="4314825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避免不可综合语句，确保代码能准确转换为门级电路。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56448" y="2443163"/>
            <a:ext cx="11854577" cy="11430"/>
          </a:xfrm>
          <a:prstGeom prst="roundRect">
            <a:avLst>
              <a:gd name="adj" fmla="val 660916"/>
            </a:avLst>
          </a:prstGeom>
          <a:solidFill>
            <a:srgbClr val="C7C7D0"/>
          </a:solidFill>
          <a:ln/>
        </p:spPr>
      </p:sp>
      <p:sp>
        <p:nvSpPr>
          <p:cNvPr id="8" name="Shape 6"/>
          <p:cNvSpPr/>
          <p:nvPr/>
        </p:nvSpPr>
        <p:spPr>
          <a:xfrm>
            <a:off x="629483" y="2542580"/>
            <a:ext cx="2674263" cy="1036201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0111" y="2902625"/>
            <a:ext cx="252889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3483531" y="2722364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时序性能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483531" y="3111222"/>
            <a:ext cx="4674394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通过流水线、短组合逻辑路径、合理时钟策略实现高频率。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93638" y="3569256"/>
            <a:ext cx="10517386" cy="11430"/>
          </a:xfrm>
          <a:prstGeom prst="roundRect">
            <a:avLst>
              <a:gd name="adj" fmla="val 660916"/>
            </a:avLst>
          </a:prstGeom>
          <a:solidFill>
            <a:srgbClr val="C7C7D0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483" y="3668673"/>
            <a:ext cx="4011335" cy="1036201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08647" y="4028718"/>
            <a:ext cx="252889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820603" y="3848457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功耗优化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4820603" y="4237315"/>
            <a:ext cx="4494609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采用时钟门控、操作数隔离和最小化开关活动降低功耗。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30710" y="4695349"/>
            <a:ext cx="9180314" cy="11430"/>
          </a:xfrm>
          <a:prstGeom prst="roundRect">
            <a:avLst>
              <a:gd name="adj" fmla="val 660916"/>
            </a:avLst>
          </a:prstGeom>
          <a:solidFill>
            <a:srgbClr val="C7C7D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9483" y="4794766"/>
            <a:ext cx="5348526" cy="1036201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77302" y="5154811"/>
            <a:ext cx="252889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157793" y="4974550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面积优化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157793" y="5363408"/>
            <a:ext cx="5016579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通过资源共享、逻辑简化和有效利用硬核IP实现最小芯片面积。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67901" y="5821442"/>
            <a:ext cx="7843123" cy="11430"/>
          </a:xfrm>
          <a:prstGeom prst="roundRect">
            <a:avLst>
              <a:gd name="adj" fmla="val 660916"/>
            </a:avLst>
          </a:prstGeom>
          <a:solidFill>
            <a:srgbClr val="C7C7D0"/>
          </a:solidFill>
          <a:ln/>
        </p:spPr>
      </p:sp>
      <p:sp>
        <p:nvSpPr>
          <p:cNvPr id="23" name="Shape 21"/>
          <p:cNvSpPr/>
          <p:nvPr/>
        </p:nvSpPr>
        <p:spPr>
          <a:xfrm>
            <a:off x="629483" y="5920859"/>
            <a:ext cx="6685717" cy="1036201"/>
          </a:xfrm>
          <a:prstGeom prst="roundRect">
            <a:avLst>
              <a:gd name="adj" fmla="val 729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5838" y="6280904"/>
            <a:ext cx="252889" cy="316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1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494984" y="6100643"/>
            <a:ext cx="224825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可测试性设计 (DFT)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7494984" y="6489502"/>
            <a:ext cx="4150400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集成扫描链、BIST等测试电路，确保芯片易于测试。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9483" y="7159347"/>
            <a:ext cx="13371433" cy="575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IC/SoC制造是一个复杂、昂贵且周期漫长的过程，Verilog/HDL代码是连接设计意图与物理芯片的桥梁。编写高质量、可综合且满足PPA（性能、功耗、面积）目标的HDL代码至关重要，因为后续物理制造的错误代价极高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89009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企业级芯片制造（ASIC/SoC）流程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2197418" y="19622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设计与验证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452688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大规模RTL编码和高级验证，确保逻辑功能和初步时序的绝对正确。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7845" y="298811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9597628" y="19622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综合与DFT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597628" y="2452688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将RTL转换为门级网表，并插入扫描链等测试电路。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43230" y="2988112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500" dirty="0"/>
          </a:p>
        </p:txBody>
      </p:sp>
      <p:sp>
        <p:nvSpPr>
          <p:cNvPr id="11" name="Text 7"/>
          <p:cNvSpPr/>
          <p:nvPr/>
        </p:nvSpPr>
        <p:spPr>
          <a:xfrm>
            <a:off x="10051256" y="35972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物理设计与验证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10051256" y="4087654"/>
            <a:ext cx="378535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进行布局规划、时钟树综合、布线，生成GDSII文件并进行DRC/LVS检查。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1041" y="400609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9597628" y="5232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掩模与晶圆制造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9597628" y="5722739"/>
            <a:ext cx="423898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根据GDSII制作昂贵的掩模，然后在硅晶圆上通过数百道工序制造芯片。</a:t>
            </a:r>
            <a:endParaRPr lang="en-US" sz="17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43230" y="502408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500" dirty="0"/>
          </a:p>
        </p:txBody>
      </p:sp>
      <p:sp>
        <p:nvSpPr>
          <p:cNvPr id="19" name="Text 13"/>
          <p:cNvSpPr/>
          <p:nvPr/>
        </p:nvSpPr>
        <p:spPr>
          <a:xfrm>
            <a:off x="2197418" y="52323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测试与封装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793790" y="5722739"/>
            <a:ext cx="42388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对晶圆进行针测，然后切割、封装，并进行最终的功能和可靠性测试。</a:t>
            </a:r>
            <a:endParaRPr lang="en-US" sz="175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67845" y="502408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500" dirty="0"/>
          </a:p>
        </p:txBody>
      </p:sp>
      <p:sp>
        <p:nvSpPr>
          <p:cNvPr id="23" name="Text 16"/>
          <p:cNvSpPr/>
          <p:nvPr/>
        </p:nvSpPr>
        <p:spPr>
          <a:xfrm>
            <a:off x="1743789" y="35972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产品出货</a:t>
            </a:r>
            <a:endParaRPr lang="en-US" sz="2200" dirty="0"/>
          </a:p>
        </p:txBody>
      </p:sp>
      <p:sp>
        <p:nvSpPr>
          <p:cNvPr id="24" name="Text 17"/>
          <p:cNvSpPr/>
          <p:nvPr/>
        </p:nvSpPr>
        <p:spPr>
          <a:xfrm>
            <a:off x="793790" y="4087654"/>
            <a:ext cx="3785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合格芯片包装、贴标后交付客户，完成整个高风险、高投入的制造过程。</a:t>
            </a:r>
            <a:endParaRPr lang="en-US" sz="17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32712" y="1922978"/>
            <a:ext cx="4564975" cy="456497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980033" y="400609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2500" dirty="0"/>
          </a:p>
        </p:txBody>
      </p:sp>
      <p:sp>
        <p:nvSpPr>
          <p:cNvPr id="27" name="Text 1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ASIC/SoC设计和制造是一个高风险、高投入，但一旦成功，可以实现最高性能和最低单颗成本（在大批量下）的方案。这个过程通常需要几个月到一年甚至更长时间，成本从数百万到数亿美元不等。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582</Words>
  <Application>Microsoft Office PowerPoint</Application>
  <PresentationFormat>自定义</PresentationFormat>
  <Paragraphs>97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Roboto</vt:lpstr>
      <vt:lpstr>Raleway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QY Z</cp:lastModifiedBy>
  <cp:revision>4</cp:revision>
  <dcterms:created xsi:type="dcterms:W3CDTF">2025-06-05T06:35:17Z</dcterms:created>
  <dcterms:modified xsi:type="dcterms:W3CDTF">2025-06-05T07:43:28Z</dcterms:modified>
</cp:coreProperties>
</file>