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1" r:id="rId22"/>
    <p:sldId id="282" r:id="rId23"/>
    <p:sldId id="283" r:id="rId24"/>
    <p:sldId id="284" r:id="rId25"/>
    <p:sldId id="285" r:id="rId26"/>
    <p:sldId id="286" r:id="rId27"/>
    <p:sldId id="287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75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173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4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jpe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.jpe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0.png"/><Relationship Id="rId4" Type="http://schemas.openxmlformats.org/officeDocument/2006/relationships/image" Target="../media/image48.png"/><Relationship Id="rId9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085850"/>
            <a:ext cx="6886575" cy="2971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Verilog Testbench 编写指南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2243138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571500" y="2976563"/>
            <a:ext cx="604838" cy="1143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524250" y="67389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3990975" y="74533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引言：Testbench 的江湖地位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90975" y="99298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524250" y="130254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3990975" y="137398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基石：Verilog 核心概念回顾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90975" y="162163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524250" y="193119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3990975" y="200263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宏观结构：Testbench 架构概览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990975" y="225028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524250" y="255984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3990975" y="263128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核心组件详解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990975" y="287893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24250" y="318849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3990975" y="325993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altLang="zh-CN" sz="12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进阶技术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990975" y="350758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3990975" y="413623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引言：Testbench 的江湖地位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9112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459" r="459"/>
          <a:stretch/>
        </p:blipFill>
        <p:spPr>
          <a:xfrm>
            <a:off x="0" y="0"/>
            <a:ext cx="9144000" cy="519112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t="11374" b="11374"/>
          <a:stretch/>
        </p:blipFill>
        <p:spPr>
          <a:xfrm>
            <a:off x="5286375" y="0"/>
            <a:ext cx="3857625" cy="51911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Testbench 的定义与重要性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40386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71500" y="1143000"/>
            <a:ext cx="1881187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1471613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Testbench 定义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71500" y="1719263"/>
            <a:ext cx="1881187" cy="1257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Testbench是Verilog HDL中用于测试和验证DUT（待测设计）功能正确性的模块，不包含可综合硬件逻辑，旨在提供实验室环境，模拟DUT在真实世界的输入激励并观察输出响应。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833688" y="1143000"/>
            <a:ext cx="1881187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833688" y="1471613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核心作用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833688" y="1719263"/>
            <a:ext cx="1881187" cy="1257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Testbench在IC设计中扮演试金石角色，确保设计的正确性和健壮性，通过早期发现错误、提高设计质量、加速开发周期、实现回归测试和文档作用，成为验证环节不可或缺的一部分。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71500" y="3167063"/>
            <a:ext cx="1881187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71500" y="3495675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重要性体现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71500" y="3743325"/>
            <a:ext cx="1881187" cy="1257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没有严格测试，复杂设计的流片风险巨大。Testbench通过仿真捕捉逻辑错误，确保设计在各种条件下按预期工作，自动化测试流程比手动调试高效，且便于修改后的回归测试。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833688" y="3167063"/>
            <a:ext cx="1881187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833688" y="3495675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与DUT关系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833688" y="3743325"/>
            <a:ext cx="1881187" cy="1257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Testbench与DUT是寄生与宿主关系，包裹DUT并通过探针向其施加电压，读取示波器读数，二者通过模块实例化连接，DUT为核心硬件，Testbench为软件代码，共同验证设计。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t="11728" b="11728"/>
          <a:stretch/>
        </p:blipFill>
        <p:spPr>
          <a:xfrm>
            <a:off x="5286375" y="0"/>
            <a:ext cx="3857625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核心目标与DUT关系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40386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71500" y="1333500"/>
            <a:ext cx="1881187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1662112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可控性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71500" y="1909762"/>
            <a:ext cx="1881187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Testbench需精准控制输入信号，涵盖合法、非法、边界及随机组合，确保DUT在各种条件下表现稳定。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833688" y="1333500"/>
            <a:ext cx="1881187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833688" y="1662112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可观测性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833688" y="1909762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Testbench应全面捕捉DUT输出，记录关键状态，确保设计行为透明，便于验证和调试。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71500" y="2938463"/>
            <a:ext cx="1881187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71500" y="3267075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71500" y="3514725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测试流程自动化，从激励生成到响应比较，提升效率，减少人为错误，加速验证周期。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833688" y="2938463"/>
            <a:ext cx="1881187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833688" y="3267075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与DUT的共生关系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833688" y="3514725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Testbench包裹DUT，通过信号连接施加激励并读取响应，二者紧密相连，共同完成验证任务。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基石：Verilog 核心概念回顾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模块与端口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39875" y="200025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59080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模块定义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838450"/>
            <a:ext cx="24130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模块是Verilog的基本设计单元，封装特定功能并通过端口与外界交互。模块定义以module关键字开始，以endmodule结束，中间包含端口列表和模块体。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33875" y="200025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65500" y="259080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端口类型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365500" y="2838450"/>
            <a:ext cx="2413000" cy="1047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端口分为input、output和inout三种，分别用于接收外部信号、向外部发送信号和双向通信。端口定义需明确方向和数据类型，如input reg clk; output wire data_out;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127875" y="2000250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59500" y="259080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模块实例化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159500" y="2838450"/>
            <a:ext cx="2413000" cy="1257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模块实例化是将一个模块嵌入到另一个模块中，实现层次化设计。实例化时，需使用实例名，并通过端口关联将信号连接至模块的相应端口，如module_name instance_name (.port_name(signal_name), ...);</a:t>
            </a:r>
            <a:endParaRPr lang="en-US" sz="105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3EBE663-77AF-840B-3009-68A6DD382D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5728" y="4095750"/>
            <a:ext cx="2693772" cy="9811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数据类型详解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0050" y="1447800"/>
            <a:ext cx="4171950" cy="1409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1654969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Reg与Wire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00075" y="1945481"/>
            <a:ext cx="257175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Reg用于存储数值，可主动控制，适合作为激励源。Wire代表物理连线，值由驱动源决定，用于观察DUT输出。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72000" y="1447800"/>
            <a:ext cx="4171950" cy="14097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72175" y="1654969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Integer与Real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72175" y="1945481"/>
            <a:ext cx="257175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Integer用于循环控制、文件操作，是32位有符号数。Real用于高精度计算或与$realtime配合使用。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0050" y="2857500"/>
            <a:ext cx="4171950" cy="14097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0075" y="3064669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Time类型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00075" y="3355181"/>
            <a:ext cx="257175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Time类型存储64位无符号仿真时间值，常与系统任务$time配合使用，记录关键仿真时刻。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72000" y="2857500"/>
            <a:ext cx="4171950" cy="14097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972175" y="3064669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辅助变量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5972175" y="3355181"/>
            <a:ext cx="257175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Integer、Real和Time作为辅助变量，增强Testbench灵活性，用于循环、计算和时间记录。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参数与timescale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20395" b="20395"/>
          <a:stretch/>
        </p:blipFill>
        <p:spPr>
          <a:xfrm>
            <a:off x="571500" y="1428750"/>
            <a:ext cx="2413000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6750" y="3048000"/>
            <a:ext cx="222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参数定义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66750" y="3295650"/>
            <a:ext cx="2222500" cy="1047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参数使得Testbench更加灵活，通过</a:t>
            </a:r>
            <a:r>
              <a:rPr lang="en-US" sz="1050" dirty="0">
                <a:solidFill>
                  <a:srgbClr val="666666"/>
                </a:solidFill>
                <a:highlight>
                  <a:srgbClr val="FFFF00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parameter定义常量</a:t>
            </a: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，可在实例化时被外部重新赋值，适应不同配置的DUT。localparam定义局部常量，增强代码可读性和维护性。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t="20395" b="20395"/>
          <a:stretch/>
        </p:blipFill>
        <p:spPr>
          <a:xfrm>
            <a:off x="3365500" y="1428750"/>
            <a:ext cx="2413000" cy="1428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60750" y="3048000"/>
            <a:ext cx="222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timescale作用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460750" y="3295650"/>
            <a:ext cx="22225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timescale指令定义仿真时间和延迟值的单位与精度，确保Testbench和DUT使用一致的时间标尺，避免时序问题。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20395" b="20395"/>
          <a:stretch/>
        </p:blipFill>
        <p:spPr>
          <a:xfrm>
            <a:off x="6159500" y="1428750"/>
            <a:ext cx="2413000" cy="1428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54750" y="3048000"/>
            <a:ext cx="222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时间单位与精度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254750" y="3295650"/>
            <a:ext cx="22225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`timescale time_unit/time_precision定义时间单位和精度，如</a:t>
            </a:r>
            <a:r>
              <a:rPr lang="en-US" sz="1050" dirty="0">
                <a:solidFill>
                  <a:srgbClr val="666666"/>
                </a:solidFill>
                <a:highlight>
                  <a:srgbClr val="FFFF00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`timescale 1ns/1ps，时间单位为1纳秒，精度为1皮秒</a:t>
            </a: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，确保仿真精度。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运算符回顾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8333" b="8333"/>
          <a:stretch/>
        </p:blipFill>
        <p:spPr>
          <a:xfrm>
            <a:off x="571500" y="1428750"/>
            <a:ext cx="1714500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6750" y="3048000"/>
            <a:ext cx="1524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算术运算符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66750" y="3295650"/>
            <a:ext cx="15240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包括+（加）、-（减）、*（乘）、/（除）、%（取模）。用于数学计算和信号处理。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2762250" y="3048000"/>
            <a:ext cx="1524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逻辑运算符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762250" y="3295650"/>
            <a:ext cx="15240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&amp;&amp;（逻辑与）、||（逻辑或）、!（逻辑非）。用于条件判断和逻辑表达式。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rcRect t="8333" b="8333"/>
          <a:stretch/>
        </p:blipFill>
        <p:spPr>
          <a:xfrm>
            <a:off x="4762500" y="1428750"/>
            <a:ext cx="1714500" cy="1428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57750" y="3048000"/>
            <a:ext cx="1524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位运算符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857750" y="3295650"/>
            <a:ext cx="15240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&amp;（按位与）、|（按位或）、^（按位异或）、~（按位取反）。用于位级操作和数据掩码。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rcRect t="8333" b="8333"/>
          <a:stretch/>
        </p:blipFill>
        <p:spPr>
          <a:xfrm>
            <a:off x="6858000" y="1428750"/>
            <a:ext cx="1714500" cy="14287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53250" y="3048000"/>
            <a:ext cx="1524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关系运算符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953250" y="3295650"/>
            <a:ext cx="1524000" cy="1047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&gt;（大于）、&lt;（小于）、&gt;=（大于等于）、&lt;=（小于等于）、==（等于）、!=（不等于）。用于比较信号值。</a:t>
            </a:r>
            <a:endParaRPr lang="en-US" sz="1050" dirty="0"/>
          </a:p>
        </p:txBody>
      </p:sp>
      <p:pic>
        <p:nvPicPr>
          <p:cNvPr id="18" name="Image 3" descr="preencoded.png">
            <a:extLst>
              <a:ext uri="{FF2B5EF4-FFF2-40B4-BE49-F238E27FC236}">
                <a16:creationId xmlns:a16="http://schemas.microsoft.com/office/drawing/2014/main" id="{6F378565-4BDB-099A-7F45-7B55A2BA531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0395" b="20395"/>
          <a:stretch/>
        </p:blipFill>
        <p:spPr>
          <a:xfrm>
            <a:off x="2477312" y="1585782"/>
            <a:ext cx="2093876" cy="12397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宏观结构：Testbench 架构概览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951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t="11728" b="11728"/>
          <a:stretch/>
        </p:blipFill>
        <p:spPr>
          <a:xfrm>
            <a:off x="0" y="0"/>
            <a:ext cx="3857625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29125" y="285750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模块定义与信号声明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429125" y="742950"/>
            <a:ext cx="40386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429125" y="133350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模块定义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429125" y="1581150"/>
            <a:ext cx="1881187" cy="1257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Testbench 作为一个Verilog模块，</a:t>
            </a:r>
            <a:r>
              <a:rPr lang="en-US" sz="1050" dirty="0">
                <a:solidFill>
                  <a:srgbClr val="666666"/>
                </a:solidFill>
                <a:highlight>
                  <a:srgbClr val="FFFF00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通常以tb_或test_开头，后跟DUT名称</a:t>
            </a: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。模块定义中不包含端口列表，因为它是仿真的顶层，所有信号都在内部产生或连接。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691313" y="133350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信号声明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691313" y="1581150"/>
            <a:ext cx="1881187" cy="1257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在模块主体内部，首先声明各种信号和变量，包括</a:t>
            </a:r>
            <a:r>
              <a:rPr lang="en-US" sz="1050" dirty="0">
                <a:solidFill>
                  <a:srgbClr val="666666"/>
                </a:solidFill>
                <a:highlight>
                  <a:srgbClr val="FFFF00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reg类型的输入驱动信号，wire类型的输出观察信号</a:t>
            </a: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，以及辅助变量如integer和time，用于循环控制、文件操作和时间记录。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429125" y="302895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参数定义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429125" y="3276600"/>
            <a:ext cx="1881187" cy="1047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使用parameter和localparam定义常量，如时钟周期、数据位宽，以增强Testbench的灵活性和可读性，使代码更易于维护和配置。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691313" y="302895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信号连接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691313" y="3276600"/>
            <a:ext cx="1881187" cy="1257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通过实例化DUT，将Testbench中声明的信号连接到DUT的相应端口上，使用‘按名称关联’(.DUT_port_name(Testbench_signal))的方式，提高代码的清晰度和鲁棒性。</a:t>
            </a:r>
            <a:endParaRPr lang="en-US" sz="105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D4C7BB9-28D6-7820-AC4C-7C43B44B62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391" y="3102939"/>
            <a:ext cx="3978876" cy="110423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12500" r="12500"/>
          <a:stretch/>
        </p:blipFill>
        <p:spPr>
          <a:xfrm>
            <a:off x="0" y="0"/>
            <a:ext cx="3857625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29125" y="285750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DUT 实例化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429125" y="742950"/>
            <a:ext cx="40386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31594" y="1333500"/>
            <a:ext cx="476250" cy="4762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29125" y="192405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DUT实例化关键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4429125" y="2171700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在Testbench中，DUT实例化是核心环节，通过实例化DUT并连接信号，实现对DUT的测试。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93781" y="1333500"/>
            <a:ext cx="476250" cy="4762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91313" y="192405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使用名称关联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691313" y="2171700"/>
            <a:ext cx="1881187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推荐使用</a:t>
            </a:r>
            <a:r>
              <a:rPr lang="en-US" sz="1050" dirty="0">
                <a:solidFill>
                  <a:srgbClr val="666666"/>
                </a:solidFill>
                <a:highlight>
                  <a:srgbClr val="FFFF00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名称关联法</a:t>
            </a: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(.DUT_port_name(Testbench_signal))，提高代码可读性和鲁棒性。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131594" y="3200400"/>
            <a:ext cx="476250" cy="4762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429125" y="379095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参数化实例化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4429125" y="4038600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通过传递参数给DUT，使Testbench能适应不同配置的DUT，增强灵活性。</a:t>
            </a:r>
            <a:endParaRPr lang="en-US" sz="105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98391E77-D403-6A98-BF35-B056EC9AD2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1763" y="551845"/>
            <a:ext cx="3046068" cy="7816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激励产生与响应监控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24130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328863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激励产生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2576513"/>
            <a:ext cx="24130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在initial块中，通过顺序执行语句生成输入信号，控制DUT的行为。使用#delay控制时序，确保信号按预期变化。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365500" y="2000250"/>
            <a:ext cx="24130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65500" y="2328863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响应监控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365500" y="2576513"/>
            <a:ext cx="24130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利用always块监控DUT输出，通常在时钟边沿触发，检查输出是否符合预期。使用$display或$monitor显示信号值，便于调试。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159500" y="2000250"/>
            <a:ext cx="24130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59500" y="2328863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系统任务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59500" y="2576513"/>
            <a:ext cx="24130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通过$finish控制仿真结束，$stop暂停仿真，$time获取当前仿真时间，辅助精确控制和记录仿真流程。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仿真控制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0050" y="2019300"/>
            <a:ext cx="2781151" cy="2266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974181"/>
            <a:ext cx="2076301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仿真启动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3264694"/>
            <a:ext cx="20763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仿真从</a:t>
            </a:r>
            <a:r>
              <a:rPr lang="en-US" sz="1050" dirty="0">
                <a:solidFill>
                  <a:srgbClr val="666666"/>
                </a:solidFill>
                <a:highlight>
                  <a:srgbClr val="FFFF00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initial块开始</a:t>
            </a: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，执行预定义的激励序列。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181201" y="2019300"/>
            <a:ext cx="2781151" cy="2266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869406"/>
            <a:ext cx="2076301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仿真结束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3159919"/>
            <a:ext cx="2076301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</a:t>
            </a:r>
            <a:r>
              <a:rPr lang="en-US" sz="1050" dirty="0">
                <a:solidFill>
                  <a:srgbClr val="666666"/>
                </a:solidFill>
                <a:highlight>
                  <a:srgbClr val="FFFF00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finish终止仿真</a:t>
            </a: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，常用于initial块末尾，基于错误计数或测试完成情况。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62352" y="2019300"/>
            <a:ext cx="2781151" cy="2266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869406"/>
            <a:ext cx="2076301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超时机制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3159919"/>
            <a:ext cx="2076301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设置最大仿真时间，使用额外initial块，超时后强制调用$finish，</a:t>
            </a:r>
            <a:r>
              <a:rPr lang="en-US" sz="1050" dirty="0">
                <a:solidFill>
                  <a:srgbClr val="666666"/>
                </a:solidFill>
                <a:highlight>
                  <a:srgbClr val="FFFF00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确保仿真不会无限期运行。</a:t>
            </a:r>
            <a:endParaRPr lang="en-US" sz="1050" dirty="0">
              <a:highlight>
                <a:srgbClr val="FFFF00"/>
              </a:highlight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FB817C0-FBC4-B8A3-5E64-86D791D9B3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2259" y="1084621"/>
            <a:ext cx="3599936" cy="91562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核心组件详解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t="11728" b="11728"/>
          <a:stretch/>
        </p:blipFill>
        <p:spPr>
          <a:xfrm>
            <a:off x="0" y="0"/>
            <a:ext cx="3857625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29125" y="285750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信号声明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429125" y="742950"/>
            <a:ext cx="40386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429125" y="1333500"/>
            <a:ext cx="1881187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429125" y="1662112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DUT输入声明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399005" y="1909762"/>
            <a:ext cx="2001923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使用reg类型变量</a:t>
            </a:r>
            <a:r>
              <a:rPr lang="en-US" sz="1050" dirty="0">
                <a:solidFill>
                  <a:srgbClr val="666666"/>
                </a:solidFill>
                <a:highlight>
                  <a:srgbClr val="FFFF00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驱动DUT输入</a:t>
            </a: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，确保信号可控，如时钟、复位、数据输入。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691313" y="1333500"/>
            <a:ext cx="1881187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691313" y="1662112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DUT输出声明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691313" y="1909762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采用wire类型连接DUT输出，</a:t>
            </a:r>
            <a:r>
              <a:rPr lang="en-US" sz="1050" dirty="0">
                <a:solidFill>
                  <a:srgbClr val="666666"/>
                </a:solidFill>
                <a:highlight>
                  <a:srgbClr val="FFFF00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用于观察和记录DUT的响应</a:t>
            </a: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，如计算结果、状态标志。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429125" y="2728913"/>
            <a:ext cx="1881187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429125" y="3057525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内部信号与变量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429125" y="3305175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引入辅助信号和变量，如计数器、错误计数、时间记录，增强Testbench功能性和灵活性。</a:t>
            </a:r>
            <a:endParaRPr lang="en-US" sz="105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9F44646-9E22-2BEE-D74E-568CC71B24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98" y="2988533"/>
            <a:ext cx="3098714" cy="8227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571500" y="285750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DUT 实例化技巧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40386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0050" y="706693"/>
            <a:ext cx="1722888" cy="213862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70096" y="1361174"/>
            <a:ext cx="1347788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位置关联法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24756" y="1685582"/>
            <a:ext cx="1347788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简单直接，按端口顺序连接，适合小型设计。但</a:t>
            </a:r>
            <a:r>
              <a:rPr lang="en-US" sz="1050" dirty="0">
                <a:solidFill>
                  <a:srgbClr val="666666"/>
                </a:solidFill>
                <a:highlight>
                  <a:srgbClr val="FFFF00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易受DUT端口变动影响</a:t>
            </a: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，维护性差。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9810" y="672698"/>
            <a:ext cx="1631973" cy="20257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68729" y="1234967"/>
            <a:ext cx="1347788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名称关联法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316955" y="1485900"/>
            <a:ext cx="1347788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推荐使用，明确指定端口名称，提高代码可读性和鲁棒性，</a:t>
            </a:r>
            <a:r>
              <a:rPr lang="en-US" sz="1050" dirty="0">
                <a:solidFill>
                  <a:srgbClr val="666666"/>
                </a:solidFill>
                <a:highlight>
                  <a:srgbClr val="FFFF00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即使DUT端口顺序改变也不影响连接。</a:t>
            </a:r>
            <a:endParaRPr lang="en-US" sz="1050" dirty="0">
              <a:highlight>
                <a:srgbClr val="FFFF00"/>
              </a:highlight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00050" y="2815560"/>
            <a:ext cx="1722888" cy="196273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23422" y="3388153"/>
            <a:ext cx="1347788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参数化实例化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70096" y="3722454"/>
            <a:ext cx="1068088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利用参数传递，使Testbench适应不同配置的DUT，增强灵活性和可重用性。</a:t>
            </a:r>
            <a:endParaRPr lang="en-US" sz="105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70FC8319-6851-7828-1A95-33E6D4047C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1210" y="841509"/>
            <a:ext cx="3248479" cy="141466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114194CF-CFF2-A736-40D1-212256527A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5247" y="2822683"/>
            <a:ext cx="2719758" cy="119630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046A7636-26AF-328C-F9DB-BEB15FC921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2938" y="3167600"/>
            <a:ext cx="3675051" cy="125865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initial与always块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20395" b="20395"/>
          <a:stretch/>
        </p:blipFill>
        <p:spPr>
          <a:xfrm>
            <a:off x="571500" y="1428750"/>
            <a:ext cx="2413000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304800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initial块：一次性行为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3295650"/>
            <a:ext cx="24130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initial块用于执行一次性操作，如初始化变量、施加复位序列或生成特定测试向量。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t="20395" b="20395"/>
          <a:stretch/>
        </p:blipFill>
        <p:spPr>
          <a:xfrm>
            <a:off x="3365500" y="1428750"/>
            <a:ext cx="2413000" cy="1428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65500" y="304800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always块：周期性行为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365500" y="3295650"/>
            <a:ext cx="24130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always块根据敏感列表反复执行，常用于生成时钟信号或基于时钟的激励。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20395" b="20395"/>
          <a:stretch/>
        </p:blipFill>
        <p:spPr>
          <a:xfrm>
            <a:off x="6159500" y="1428750"/>
            <a:ext cx="2413000" cy="1428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59500" y="304800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并行initial块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159500" y="3295650"/>
            <a:ext cx="24130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多个initial块并行执行，可用于独立的初始化任务或监控超时。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时间控制与系统任务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时间控制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247900"/>
            <a:ext cx="17145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#delay_value 控制时序，如 #10ns 延迟10纳秒。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667000" y="200025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系统任务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667000" y="2247900"/>
            <a:ext cx="17145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$finish 结束仿真，$stop 暂停仿真，$time 获取当前时间。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62500" y="200025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时间精度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62500" y="2247900"/>
            <a:ext cx="17145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timescale 定义时间单位与精度，如 `timescale 1ns/1ps。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58000" y="200025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仿真控制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0" y="2247900"/>
            <a:ext cx="17145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合理使用系统任务，如 $finish(0) 正常结束，$finish(1) 注意事项，$finish(2) 错误结束。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3" y="-28832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进阶技术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557341" y="192432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任务与函数运用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429125" y="742950"/>
            <a:ext cx="40386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4942" y="654136"/>
            <a:ext cx="2052637" cy="25479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1783" y="1422120"/>
            <a:ext cx="1347788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代码模块化</a:t>
            </a: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（函数封装）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771783" y="1895378"/>
            <a:ext cx="1347788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任务(task)和函数(function)提升代码复用性，简化复杂Testbench，增强可读性和可维护性。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09718" y="654136"/>
            <a:ext cx="2052637" cy="254793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678129" y="1283170"/>
            <a:ext cx="1347788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时序控制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3504589" y="1819278"/>
            <a:ext cx="1347788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任务支持#delay和@events，适合生成激励；函数不支持时序控制，用于快速计算。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806388" y="592482"/>
            <a:ext cx="2052637" cy="254793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511237" y="1286325"/>
            <a:ext cx="1347788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参数传递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276654" y="1794695"/>
            <a:ext cx="1347788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利用input、output、inout参数，实现数据输入、结果输出和双向通信，增强任务/函数灵活性。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文件I/O操作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90625" y="200025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59080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激励向量读取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838450"/>
            <a:ext cx="17145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利用$readmemh从文件加载十六进制数据，简化大型测试向量管理。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286125" y="200025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667000" y="259080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仿真结果记录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667000" y="2838450"/>
            <a:ext cx="17145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$fdisplay写入文件，便于详细日志记录与结果对比。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381625" y="2000250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62500" y="259080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文件描述符使用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762500" y="2838450"/>
            <a:ext cx="17145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通过integer变量管理文件，确保正确打开与关闭。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77125" y="2000250"/>
            <a:ext cx="476250" cy="4762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58000" y="259080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错误处理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858000" y="2838450"/>
            <a:ext cx="17145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检查文件操作状态，及时报告错误，避免仿真异常终止。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循环与条件语句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66750" y="3048000"/>
            <a:ext cx="222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循环控制结构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66750" y="3295650"/>
            <a:ext cx="22225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利用for、while、repeat和forever循环，精确控制激励序列和监控逻辑，实现复杂测试场景的自动化执行。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rcRect t="20395" b="20395"/>
          <a:stretch/>
        </p:blipFill>
        <p:spPr>
          <a:xfrm>
            <a:off x="3365500" y="1428750"/>
            <a:ext cx="2413000" cy="1428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60750" y="3048000"/>
            <a:ext cx="222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条件判断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460750" y="3295650"/>
            <a:ext cx="22225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通过if-else if-else、case、casex和casez选择结构，根据测试条件动态调整激励和响应，确保测试覆盖全面。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rcRect t="20395" b="20395"/>
          <a:stretch/>
        </p:blipFill>
        <p:spPr>
          <a:xfrm>
            <a:off x="6159500" y="1428750"/>
            <a:ext cx="2413000" cy="1428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54750" y="3048000"/>
            <a:ext cx="222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逻辑分支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254750" y="3295650"/>
            <a:ext cx="22225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合理运用条件语句，根据DUT状态或测试需求，执行不同的测试路径，提高测试效率和针对性。</a:t>
            </a:r>
            <a:endParaRPr lang="en-US" sz="1050" dirty="0"/>
          </a:p>
        </p:txBody>
      </p:sp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60AB0783-6A6D-3B9E-0C71-749843FBF23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333" b="8333"/>
          <a:stretch/>
        </p:blipFill>
        <p:spPr>
          <a:xfrm>
            <a:off x="920750" y="1535842"/>
            <a:ext cx="1714500" cy="142875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1D7051D-AD9F-769E-AA98-F5399D4168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038" y="4067675"/>
            <a:ext cx="2413000" cy="404893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37FDD43-357A-D0E6-6AD6-D92AF65496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599" y="4560673"/>
            <a:ext cx="2345878" cy="459502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9CE7A308-04E0-2FD0-A1B8-1045032106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41303" y="4038650"/>
            <a:ext cx="2913447" cy="55799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伪随机激励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0050" y="1447800"/>
            <a:ext cx="4171950" cy="1409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1759744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利用$random生成随机数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00075" y="2050256"/>
            <a:ext cx="2571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$random返回32位有符号随机整数，可初始化种子以重复随机序列，便于调试。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72000" y="1447800"/>
            <a:ext cx="4171950" cy="14097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72175" y="1759744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构造特定范围随机数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72175" y="2050256"/>
            <a:ext cx="2571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结合位拼接与截取，构造特定位宽无符号随机数，确保随机数均匀分布在所需范围内。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0050" y="2857500"/>
            <a:ext cx="4171950" cy="14097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0075" y="3064669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随机数分布函数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00075" y="3355181"/>
            <a:ext cx="257175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SystemVerilog扩展如$dist_uniform提供更精细的随机数分布控制，但在纯Verilog中不可用。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72000" y="2857500"/>
            <a:ext cx="4171950" cy="14097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972175" y="3169444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避免随机数陷阱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5972175" y="3459956"/>
            <a:ext cx="2571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$random%N分布不均，尤其是N非2的幂。正确生成0至N-1随机数需额外处理。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自检测Testbench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17145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328863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自动化验证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2576513"/>
            <a:ext cx="17145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自检测Testbench自动比较DUT输出与预期，提升验证效率与准确性。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67000" y="2000250"/>
            <a:ext cx="17145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667000" y="2328863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 err="1">
                <a:solidFill>
                  <a:srgbClr val="000000"/>
                </a:solidFill>
                <a:highlight>
                  <a:srgbClr val="FFFF00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错误检测</a:t>
            </a:r>
            <a:r>
              <a:rPr lang="zh-CN" alt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（异常处理）</a:t>
            </a:r>
            <a:endParaRPr lang="en-US" sz="1200" dirty="0">
              <a:highlight>
                <a:srgbClr val="FFFF00"/>
              </a:highlight>
            </a:endParaRPr>
          </a:p>
        </p:txBody>
      </p:sp>
      <p:sp>
        <p:nvSpPr>
          <p:cNvPr id="11" name="Text 8"/>
          <p:cNvSpPr/>
          <p:nvPr/>
        </p:nvSpPr>
        <p:spPr>
          <a:xfrm>
            <a:off x="2667000" y="2576513"/>
            <a:ext cx="17145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通过if语句对比实际与期望输出，记录并报告错误，维护错误计数器。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62500" y="2000250"/>
            <a:ext cx="17145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62500" y="2328863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黄金模型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62500" y="2576513"/>
            <a:ext cx="17145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实现参考模型，与DUT接收相同输入，其输出作为期望值，确保复杂设计验证无误。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858000" y="2000250"/>
            <a:ext cx="17145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0" y="2328863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提升可维护性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0" y="2576513"/>
            <a:ext cx="17145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自检测逻辑分离，易于调试与维护，促进回归测试，加快设计迭代。</a:t>
            </a:r>
            <a:endParaRPr lang="en-US" sz="105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1E40B1D8-A2F1-F3C8-E6FE-BD8EF98615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8303" y="3452813"/>
            <a:ext cx="3530214" cy="95044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085850"/>
            <a:ext cx="5486400" cy="2971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</a:t>
            </a:r>
            <a:endParaRPr lang="en-US" sz="3750" dirty="0"/>
          </a:p>
        </p:txBody>
      </p:sp>
      <p:sp>
        <p:nvSpPr>
          <p:cNvPr id="5" name="Shape 2"/>
          <p:cNvSpPr/>
          <p:nvPr/>
        </p:nvSpPr>
        <p:spPr>
          <a:xfrm>
            <a:off x="571500" y="3014663"/>
            <a:ext cx="604838" cy="1143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1101</Words>
  <Application>Microsoft Office PowerPoint</Application>
  <PresentationFormat>全屏显示(16:9)</PresentationFormat>
  <Paragraphs>220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0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QY Z</cp:lastModifiedBy>
  <cp:revision>12</cp:revision>
  <dcterms:created xsi:type="dcterms:W3CDTF">2025-05-14T06:37:03Z</dcterms:created>
  <dcterms:modified xsi:type="dcterms:W3CDTF">2025-05-14T07:21:16Z</dcterms:modified>
</cp:coreProperties>
</file>