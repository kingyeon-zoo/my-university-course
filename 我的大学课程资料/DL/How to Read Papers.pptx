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9" autoAdjust="0"/>
    <p:restoredTop sz="94660"/>
  </p:normalViewPr>
  <p:slideViewPr>
    <p:cSldViewPr snapToGrid="0">
      <p:cViewPr varScale="1">
        <p:scale>
          <a:sx n="83" d="100"/>
          <a:sy n="83" d="100"/>
        </p:scale>
        <p:origin x="45"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zh-CN" altLang="en-US"/>
              <a:t>单击此处编辑母版标题样式</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2A54C80-263E-416B-A8E0-580EDEADCBDC}" type="datetimeFigureOut">
              <a:rPr lang="en-US" dirty="0"/>
              <a:t>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31FC3D-4953-76A3-E582-88186DCD9C23}"/>
              </a:ext>
            </a:extLst>
          </p:cNvPr>
          <p:cNvSpPr>
            <a:spLocks noGrp="1"/>
          </p:cNvSpPr>
          <p:nvPr>
            <p:ph type="ctrTitle"/>
          </p:nvPr>
        </p:nvSpPr>
        <p:spPr>
          <a:xfrm>
            <a:off x="1204724" y="1556500"/>
            <a:ext cx="8389101" cy="2580421"/>
          </a:xfrm>
        </p:spPr>
        <p:txBody>
          <a:bodyPr/>
          <a:lstStyle/>
          <a:p>
            <a:r>
              <a:rPr lang="en-US" altLang="zh-CN" sz="7200" b="0" i="0" dirty="0">
                <a:solidFill>
                  <a:srgbClr val="2A2F45"/>
                </a:solidFill>
                <a:effectLst/>
                <a:latin typeface="PingFang SC"/>
              </a:rPr>
              <a:t>How to Read Papers</a:t>
            </a:r>
            <a:endParaRPr lang="zh-CN" altLang="en-US" sz="7200" dirty="0"/>
          </a:p>
        </p:txBody>
      </p:sp>
    </p:spTree>
    <p:extLst>
      <p:ext uri="{BB962C8B-B14F-4D97-AF65-F5344CB8AC3E}">
        <p14:creationId xmlns:p14="http://schemas.microsoft.com/office/powerpoint/2010/main" val="1086672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0C3EEB-F01F-6400-20E8-3AA5D84254F6}"/>
              </a:ext>
            </a:extLst>
          </p:cNvPr>
          <p:cNvSpPr>
            <a:spLocks noGrp="1"/>
          </p:cNvSpPr>
          <p:nvPr>
            <p:ph type="title"/>
          </p:nvPr>
        </p:nvSpPr>
        <p:spPr>
          <a:xfrm>
            <a:off x="582638" y="497557"/>
            <a:ext cx="8596668" cy="1320800"/>
          </a:xfrm>
        </p:spPr>
        <p:txBody>
          <a:bodyPr/>
          <a:lstStyle/>
          <a:p>
            <a:r>
              <a:rPr lang="en-US" altLang="zh-CN" b="0" i="0" dirty="0">
                <a:solidFill>
                  <a:srgbClr val="2A2F45"/>
                </a:solidFill>
                <a:effectLst/>
                <a:latin typeface="PingFang SC"/>
              </a:rPr>
              <a:t>The structure of papers</a:t>
            </a:r>
            <a:endParaRPr lang="zh-CN" altLang="en-US" dirty="0"/>
          </a:p>
        </p:txBody>
      </p:sp>
      <p:pic>
        <p:nvPicPr>
          <p:cNvPr id="7" name="内容占位符 6">
            <a:extLst>
              <a:ext uri="{FF2B5EF4-FFF2-40B4-BE49-F238E27FC236}">
                <a16:creationId xmlns:a16="http://schemas.microsoft.com/office/drawing/2014/main" id="{C6E75DA5-A6DF-E553-EB6D-BC18F52795D9}"/>
              </a:ext>
            </a:extLst>
          </p:cNvPr>
          <p:cNvPicPr>
            <a:picLocks noGrp="1" noChangeAspect="1"/>
          </p:cNvPicPr>
          <p:nvPr>
            <p:ph idx="1"/>
          </p:nvPr>
        </p:nvPicPr>
        <p:blipFill>
          <a:blip r:embed="rId2"/>
          <a:stretch>
            <a:fillRect/>
          </a:stretch>
        </p:blipFill>
        <p:spPr>
          <a:xfrm>
            <a:off x="433474" y="1943865"/>
            <a:ext cx="3673958" cy="4321328"/>
          </a:xfrm>
        </p:spPr>
      </p:pic>
      <p:sp>
        <p:nvSpPr>
          <p:cNvPr id="15" name="文本框 14">
            <a:extLst>
              <a:ext uri="{FF2B5EF4-FFF2-40B4-BE49-F238E27FC236}">
                <a16:creationId xmlns:a16="http://schemas.microsoft.com/office/drawing/2014/main" id="{C29905BD-F3B3-5E61-3294-5F942ABC2556}"/>
              </a:ext>
            </a:extLst>
          </p:cNvPr>
          <p:cNvSpPr txBox="1"/>
          <p:nvPr/>
        </p:nvSpPr>
        <p:spPr>
          <a:xfrm>
            <a:off x="4107432" y="1943911"/>
            <a:ext cx="7200182" cy="5078313"/>
          </a:xfrm>
          <a:prstGeom prst="rect">
            <a:avLst/>
          </a:prstGeom>
          <a:noFill/>
        </p:spPr>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zh-CN" sz="1800" b="0" i="0" u="none" strike="noStrike" cap="none" normalizeH="0" baseline="0" dirty="0">
                <a:ln>
                  <a:noFill/>
                </a:ln>
                <a:solidFill>
                  <a:schemeClr val="tx1"/>
                </a:solidFill>
                <a:effectLst/>
                <a:latin typeface="Arial" panose="020B0604020202020204" pitchFamily="34" charset="0"/>
              </a:rPr>
              <a:t>Concise and attention-grabbing.</a:t>
            </a:r>
            <a:endParaRPr kumimoji="0" lang="en-US" altLang="zh-CN"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zh-CN" sz="1800" b="0" i="0" u="none" strike="noStrike" cap="none" normalizeH="0" baseline="0" dirty="0">
                <a:ln>
                  <a:noFill/>
                </a:ln>
                <a:solidFill>
                  <a:schemeClr val="tx1"/>
                </a:solidFill>
                <a:effectLst/>
                <a:latin typeface="Arial" panose="020B0604020202020204" pitchFamily="34" charset="0"/>
              </a:rPr>
              <a:t>A summary of your work and contributions, including the research background, objectives, main findings, and significant conclusions.</a:t>
            </a:r>
            <a:endParaRPr kumimoji="0" lang="en-US" altLang="zh-CN"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zh-CN" sz="1800" b="0" i="0" u="none" strike="noStrike" cap="none" normalizeH="0" baseline="0" dirty="0">
                <a:ln>
                  <a:noFill/>
                </a:ln>
                <a:solidFill>
                  <a:schemeClr val="tx1"/>
                </a:solidFill>
                <a:effectLst/>
                <a:latin typeface="Arial" panose="020B0604020202020204" pitchFamily="34" charset="0"/>
              </a:rPr>
              <a:t>An extended version of the Abstract, with more concrete details.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zh-CN" sz="1800" b="0" i="0" u="none" strike="noStrike" cap="none" normalizeH="0" baseline="0" dirty="0">
                <a:ln>
                  <a:noFill/>
                </a:ln>
                <a:solidFill>
                  <a:schemeClr val="tx1"/>
                </a:solidFill>
                <a:effectLst/>
                <a:latin typeface="Arial" panose="020B0604020202020204" pitchFamily="34" charset="0"/>
              </a:rPr>
              <a:t>A comparison between your work and previous studies.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zh-CN" sz="1800" b="0" i="0" u="none" strike="noStrike" cap="none" normalizeH="0" baseline="0" dirty="0">
                <a:ln>
                  <a:noFill/>
                </a:ln>
                <a:solidFill>
                  <a:schemeClr val="tx1"/>
                </a:solidFill>
                <a:effectLst/>
                <a:latin typeface="Arial" panose="020B0604020202020204" pitchFamily="34" charset="0"/>
              </a:rPr>
              <a:t>Focusing on the innovation points and the logical framework of the model.</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zh-CN" sz="1800" b="0" i="0" u="none" strike="noStrike" cap="none" normalizeH="0" baseline="0" dirty="0">
                <a:ln>
                  <a:noFill/>
                </a:ln>
                <a:solidFill>
                  <a:schemeClr val="tx1"/>
                </a:solidFill>
                <a:effectLst/>
                <a:latin typeface="Arial" panose="020B0604020202020204" pitchFamily="34" charset="0"/>
              </a:rPr>
              <a:t>Highlighting the results and significance of this study.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zh-CN" sz="1800" b="0" i="0" u="none" strike="noStrike" cap="none" normalizeH="0" baseline="0" dirty="0">
                <a:ln>
                  <a:noFill/>
                </a:ln>
                <a:solidFill>
                  <a:schemeClr val="tx1"/>
                </a:solidFill>
                <a:effectLst/>
                <a:latin typeface="Arial" panose="020B0604020202020204" pitchFamily="34" charset="0"/>
              </a:rPr>
              <a:t>Similar to the Abstract but not repetitive, with a stronger emphasis on experimental results and conclusions.</a:t>
            </a:r>
          </a:p>
          <a:p>
            <a:endParaRPr lang="zh-CN" altLang="en-US" sz="1800" dirty="0">
              <a:latin typeface="微软雅黑"/>
              <a:cs typeface="微软雅黑"/>
            </a:endParaRPr>
          </a:p>
          <a:p>
            <a:endParaRPr lang="zh-CN" altLang="en-US" dirty="0"/>
          </a:p>
        </p:txBody>
      </p:sp>
    </p:spTree>
    <p:extLst>
      <p:ext uri="{BB962C8B-B14F-4D97-AF65-F5344CB8AC3E}">
        <p14:creationId xmlns:p14="http://schemas.microsoft.com/office/powerpoint/2010/main" val="2242010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48CDD6-871F-9C15-D85C-19155BD6C860}"/>
              </a:ext>
            </a:extLst>
          </p:cNvPr>
          <p:cNvSpPr>
            <a:spLocks noGrp="1"/>
          </p:cNvSpPr>
          <p:nvPr>
            <p:ph type="title"/>
          </p:nvPr>
        </p:nvSpPr>
        <p:spPr/>
        <p:txBody>
          <a:bodyPr>
            <a:normAutofit/>
          </a:bodyPr>
          <a:lstStyle/>
          <a:p>
            <a:r>
              <a:rPr lang="en-US" altLang="zh-CN" sz="4400" dirty="0">
                <a:solidFill>
                  <a:schemeClr val="tx1"/>
                </a:solidFill>
                <a:effectLst/>
                <a:latin typeface="等线" panose="02010600030101010101" pitchFamily="2" charset="-122"/>
                <a:cs typeface="Times New Roman" panose="02020603050405020304" pitchFamily="18" charset="0"/>
              </a:rPr>
              <a:t>Read a paper in three passes</a:t>
            </a:r>
            <a:endParaRPr lang="zh-CN" altLang="en-US" sz="4400" dirty="0">
              <a:solidFill>
                <a:schemeClr val="tx1"/>
              </a:solidFill>
            </a:endParaRPr>
          </a:p>
        </p:txBody>
      </p:sp>
      <p:sp>
        <p:nvSpPr>
          <p:cNvPr id="3" name="内容占位符 2">
            <a:extLst>
              <a:ext uri="{FF2B5EF4-FFF2-40B4-BE49-F238E27FC236}">
                <a16:creationId xmlns:a16="http://schemas.microsoft.com/office/drawing/2014/main" id="{2B8C2988-182E-ABF6-9B00-BC28A9F0FE44}"/>
              </a:ext>
            </a:extLst>
          </p:cNvPr>
          <p:cNvSpPr>
            <a:spLocks noGrp="1"/>
          </p:cNvSpPr>
          <p:nvPr>
            <p:ph idx="1"/>
          </p:nvPr>
        </p:nvSpPr>
        <p:spPr>
          <a:xfrm>
            <a:off x="839566" y="2219582"/>
            <a:ext cx="8596668" cy="3880773"/>
          </a:xfrm>
        </p:spPr>
        <p:txBody>
          <a:bodyPr>
            <a:normAutofit/>
          </a:bodyPr>
          <a:lstStyle/>
          <a:p>
            <a:r>
              <a:rPr lang="en-US" altLang="zh-CN" sz="3200" b="1" dirty="0">
                <a:effectLst/>
                <a:latin typeface="等线" panose="02010600030101010101" pitchFamily="2" charset="-122"/>
                <a:cs typeface="Times New Roman" panose="02020603050405020304" pitchFamily="18" charset="0"/>
              </a:rPr>
              <a:t>First pass (least time-consuming, for initial filtering)</a:t>
            </a:r>
          </a:p>
          <a:p>
            <a:r>
              <a:rPr lang="en-US" altLang="zh-CN" sz="3200" b="1" dirty="0">
                <a:effectLst/>
                <a:latin typeface="等线" panose="02010600030101010101" pitchFamily="2" charset="-122"/>
                <a:cs typeface="Times New Roman" panose="02020603050405020304" pitchFamily="18" charset="0"/>
              </a:rPr>
              <a:t>Second pass (for further selection of relevant papers)</a:t>
            </a:r>
          </a:p>
          <a:p>
            <a:r>
              <a:rPr lang="en-US" altLang="zh-CN" sz="3200" b="1" dirty="0">
                <a:effectLst/>
                <a:latin typeface="等线" panose="02010600030101010101" pitchFamily="2" charset="-122"/>
                <a:cs typeface="Times New Roman" panose="02020603050405020304" pitchFamily="18" charset="0"/>
              </a:rPr>
              <a:t>Third pass (in-depth reading)</a:t>
            </a:r>
            <a:endParaRPr lang="zh-CN" altLang="en-US" sz="3200" dirty="0"/>
          </a:p>
        </p:txBody>
      </p:sp>
    </p:spTree>
    <p:extLst>
      <p:ext uri="{BB962C8B-B14F-4D97-AF65-F5344CB8AC3E}">
        <p14:creationId xmlns:p14="http://schemas.microsoft.com/office/powerpoint/2010/main" val="2452286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7AD1D1-AA18-3450-FE18-1A26EF471AC4}"/>
              </a:ext>
            </a:extLst>
          </p:cNvPr>
          <p:cNvSpPr>
            <a:spLocks noGrp="1"/>
          </p:cNvSpPr>
          <p:nvPr>
            <p:ph type="title"/>
          </p:nvPr>
        </p:nvSpPr>
        <p:spPr>
          <a:xfrm>
            <a:off x="677334" y="1302774"/>
            <a:ext cx="8596668" cy="1320800"/>
          </a:xfrm>
        </p:spPr>
        <p:txBody>
          <a:bodyPr/>
          <a:lstStyle/>
          <a:p>
            <a:r>
              <a:rPr lang="en-US" altLang="zh-CN" dirty="0"/>
              <a:t>First Step</a:t>
            </a:r>
            <a:endParaRPr lang="zh-CN" altLang="en-US" dirty="0"/>
          </a:p>
        </p:txBody>
      </p:sp>
      <p:sp>
        <p:nvSpPr>
          <p:cNvPr id="3" name="内容占位符 2">
            <a:extLst>
              <a:ext uri="{FF2B5EF4-FFF2-40B4-BE49-F238E27FC236}">
                <a16:creationId xmlns:a16="http://schemas.microsoft.com/office/drawing/2014/main" id="{A03E0428-3B50-B964-6BA6-7BB1C238BB7D}"/>
              </a:ext>
            </a:extLst>
          </p:cNvPr>
          <p:cNvSpPr>
            <a:spLocks noGrp="1"/>
          </p:cNvSpPr>
          <p:nvPr>
            <p:ph idx="1"/>
          </p:nvPr>
        </p:nvSpPr>
        <p:spPr/>
        <p:txBody>
          <a:bodyPr/>
          <a:lstStyle/>
          <a:p>
            <a:r>
              <a:rPr lang="en-US" altLang="zh-CN" sz="2800" dirty="0">
                <a:effectLst/>
                <a:latin typeface="宋体" panose="02010600030101010101" pitchFamily="2" charset="-122"/>
                <a:ea typeface="等线" panose="02010600030101010101" pitchFamily="2" charset="-122"/>
                <a:cs typeface="宋体" panose="02010600030101010101" pitchFamily="2" charset="-122"/>
              </a:rPr>
              <a:t>In the first pass, focus on the title and abstract.</a:t>
            </a:r>
            <a:endParaRPr lang="zh-CN" altLang="zh-CN" sz="2800" dirty="0">
              <a:effectLst/>
              <a:latin typeface="宋体" panose="02010600030101010101" pitchFamily="2" charset="-122"/>
              <a:ea typeface="宋体" panose="02010600030101010101" pitchFamily="2" charset="-122"/>
              <a:cs typeface="宋体" panose="02010600030101010101" pitchFamily="2" charset="-122"/>
            </a:endParaRPr>
          </a:p>
          <a:p>
            <a:r>
              <a:rPr lang="en-US" altLang="zh-CN" sz="2800" dirty="0">
                <a:effectLst/>
                <a:latin typeface="宋体" panose="02010600030101010101" pitchFamily="2" charset="-122"/>
                <a:ea typeface="等线" panose="02010600030101010101" pitchFamily="2" charset="-122"/>
                <a:cs typeface="宋体" panose="02010600030101010101" pitchFamily="2" charset="-122"/>
              </a:rPr>
              <a:t>After reading the abstract, skip directly to the conclusion section.</a:t>
            </a:r>
            <a:endParaRPr lang="zh-CN" altLang="zh-CN" sz="2800" dirty="0">
              <a:effectLst/>
              <a:latin typeface="宋体" panose="02010600030101010101" pitchFamily="2" charset="-122"/>
              <a:ea typeface="宋体" panose="02010600030101010101" pitchFamily="2" charset="-122"/>
              <a:cs typeface="宋体" panose="02010600030101010101" pitchFamily="2" charset="-122"/>
            </a:endParaRPr>
          </a:p>
          <a:p>
            <a:r>
              <a:rPr lang="en-US" altLang="zh-CN" sz="2800" dirty="0">
                <a:effectLst/>
                <a:latin typeface="宋体" panose="02010600030101010101" pitchFamily="2" charset="-122"/>
                <a:ea typeface="等线" panose="02010600030101010101" pitchFamily="2" charset="-122"/>
                <a:cs typeface="宋体" panose="02010600030101010101" pitchFamily="2" charset="-122"/>
              </a:rPr>
              <a:t>By reading these three sections, you can roughly understand the main topic of the paper.</a:t>
            </a:r>
            <a:endParaRPr lang="zh-CN" altLang="zh-CN" sz="2800" dirty="0">
              <a:effectLst/>
              <a:latin typeface="宋体" panose="02010600030101010101" pitchFamily="2" charset="-122"/>
              <a:ea typeface="宋体" panose="02010600030101010101" pitchFamily="2" charset="-122"/>
              <a:cs typeface="宋体" panose="02010600030101010101" pitchFamily="2" charset="-122"/>
            </a:endParaRPr>
          </a:p>
          <a:p>
            <a:endParaRPr lang="zh-CN" altLang="en-US" dirty="0"/>
          </a:p>
        </p:txBody>
      </p:sp>
    </p:spTree>
    <p:extLst>
      <p:ext uri="{BB962C8B-B14F-4D97-AF65-F5344CB8AC3E}">
        <p14:creationId xmlns:p14="http://schemas.microsoft.com/office/powerpoint/2010/main" val="4195910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A544E1-1EBB-4666-0F3A-A579A641BB3D}"/>
              </a:ext>
            </a:extLst>
          </p:cNvPr>
          <p:cNvSpPr>
            <a:spLocks noGrp="1"/>
          </p:cNvSpPr>
          <p:nvPr>
            <p:ph type="title"/>
          </p:nvPr>
        </p:nvSpPr>
        <p:spPr>
          <a:xfrm>
            <a:off x="677334" y="1177413"/>
            <a:ext cx="8596668" cy="1320800"/>
          </a:xfrm>
        </p:spPr>
        <p:txBody>
          <a:bodyPr/>
          <a:lstStyle/>
          <a:p>
            <a:r>
              <a:rPr lang="en-US" altLang="zh-CN" dirty="0"/>
              <a:t>Second Step</a:t>
            </a:r>
            <a:endParaRPr lang="zh-CN" altLang="en-US" dirty="0"/>
          </a:p>
        </p:txBody>
      </p:sp>
      <p:sp>
        <p:nvSpPr>
          <p:cNvPr id="3" name="内容占位符 2">
            <a:extLst>
              <a:ext uri="{FF2B5EF4-FFF2-40B4-BE49-F238E27FC236}">
                <a16:creationId xmlns:a16="http://schemas.microsoft.com/office/drawing/2014/main" id="{5E0697DA-98AB-7431-9F35-8B20B1F693ED}"/>
              </a:ext>
            </a:extLst>
          </p:cNvPr>
          <p:cNvSpPr>
            <a:spLocks noGrp="1"/>
          </p:cNvSpPr>
          <p:nvPr>
            <p:ph idx="1"/>
          </p:nvPr>
        </p:nvSpPr>
        <p:spPr/>
        <p:txBody>
          <a:bodyPr/>
          <a:lstStyle/>
          <a:p>
            <a:r>
              <a:rPr lang="en-US" altLang="zh-CN" sz="2800" dirty="0"/>
              <a:t>In the second pass, go through the entire paper to understand the purpose of each section.</a:t>
            </a:r>
          </a:p>
          <a:p>
            <a:r>
              <a:rPr lang="en-US" altLang="zh-CN" sz="2800" dirty="0"/>
              <a:t>You can read from the title through to the end, but there is no need to focus too much on details or proofs of formulas at this stage.</a:t>
            </a:r>
          </a:p>
          <a:p>
            <a:endParaRPr lang="zh-CN" altLang="en-US" dirty="0"/>
          </a:p>
        </p:txBody>
      </p:sp>
    </p:spTree>
    <p:extLst>
      <p:ext uri="{BB962C8B-B14F-4D97-AF65-F5344CB8AC3E}">
        <p14:creationId xmlns:p14="http://schemas.microsoft.com/office/powerpoint/2010/main" val="374582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50014FF-0EF0-8927-4FD4-1397985FEEB6}"/>
              </a:ext>
            </a:extLst>
          </p:cNvPr>
          <p:cNvSpPr>
            <a:spLocks noGrp="1"/>
          </p:cNvSpPr>
          <p:nvPr>
            <p:ph idx="1"/>
          </p:nvPr>
        </p:nvSpPr>
        <p:spPr>
          <a:xfrm>
            <a:off x="367618" y="405532"/>
            <a:ext cx="4742699" cy="3880773"/>
          </a:xfrm>
        </p:spPr>
        <p:txBody>
          <a:bodyPr/>
          <a:lstStyle/>
          <a:p>
            <a:pPr marL="0" indent="0">
              <a:buNone/>
            </a:pPr>
            <a:r>
              <a:rPr lang="en-US" altLang="zh-CN" sz="2400" dirty="0"/>
              <a:t>Points of focus</a:t>
            </a:r>
          </a:p>
          <a:p>
            <a:r>
              <a:rPr lang="en-US" altLang="zh-CN" dirty="0"/>
              <a:t>During the second pass, it is crucial to understand the key figures and tables and the purpose of every detail in them.</a:t>
            </a:r>
          </a:p>
          <a:p>
            <a:r>
              <a:rPr lang="en-US" altLang="zh-CN" dirty="0"/>
              <a:t>How does the author's proposed method compare to others, and what are the differences?</a:t>
            </a:r>
          </a:p>
          <a:p>
            <a:r>
              <a:rPr lang="en-US" altLang="zh-CN" dirty="0"/>
              <a:t>You may not fully understand everything at this point, but that’s fine. You can mark the unclear parts and revisit them in the third pass.</a:t>
            </a:r>
          </a:p>
          <a:p>
            <a:endParaRPr lang="zh-CN" altLang="en-US" dirty="0"/>
          </a:p>
        </p:txBody>
      </p:sp>
      <p:sp>
        <p:nvSpPr>
          <p:cNvPr id="4" name="内容占位符 2">
            <a:extLst>
              <a:ext uri="{FF2B5EF4-FFF2-40B4-BE49-F238E27FC236}">
                <a16:creationId xmlns:a16="http://schemas.microsoft.com/office/drawing/2014/main" id="{7A311AB5-8280-1F6B-6AD0-63AE88FE67D8}"/>
              </a:ext>
            </a:extLst>
          </p:cNvPr>
          <p:cNvSpPr txBox="1">
            <a:spLocks/>
          </p:cNvSpPr>
          <p:nvPr/>
        </p:nvSpPr>
        <p:spPr>
          <a:xfrm>
            <a:off x="5681953" y="405531"/>
            <a:ext cx="4742699" cy="3880773"/>
          </a:xfrm>
          <a:prstGeom prst="rect">
            <a:avLst/>
          </a:prstGeom>
        </p:spPr>
        <p:txBody>
          <a:bodyPr vert="horz" lIns="91440" tIns="45720" rIns="91440" bIns="45720" rtlCol="0">
            <a:normAutofit fontScale="70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altLang="zh-CN" sz="3400" b="1" dirty="0"/>
              <a:t>Outcome</a:t>
            </a:r>
          </a:p>
          <a:p>
            <a:r>
              <a:rPr lang="en-US" altLang="zh-CN" sz="2400" dirty="0"/>
              <a:t>After completing the second pass, you should have a general understanding of each part of the paper.</a:t>
            </a:r>
          </a:p>
          <a:p>
            <a:r>
              <a:rPr lang="en-US" altLang="zh-CN" sz="2400" dirty="0"/>
              <a:t>You can highlight the references cited by the author, such as improvements made on a particular method.</a:t>
            </a:r>
          </a:p>
          <a:p>
            <a:r>
              <a:rPr lang="en-US" altLang="zh-CN" sz="2400" dirty="0"/>
              <a:t>Note that if the author cites important references you haven’t read, you should list them as part of your reading queue.</a:t>
            </a:r>
          </a:p>
          <a:p>
            <a:r>
              <a:rPr lang="en-US" altLang="zh-CN" sz="2400" b="1" dirty="0"/>
              <a:t>Implications for further reading</a:t>
            </a:r>
            <a:br>
              <a:rPr lang="en-US" altLang="zh-CN" sz="2400" dirty="0"/>
            </a:br>
            <a:r>
              <a:rPr lang="en-US" altLang="zh-CN" sz="2400" dirty="0"/>
              <a:t>After this pass, evaluate the quality of the paper and its relevance to your research direction to decide whether to proceed with a detailed third pass.</a:t>
            </a:r>
          </a:p>
          <a:p>
            <a:endParaRPr lang="zh-CN" altLang="en-US" dirty="0"/>
          </a:p>
        </p:txBody>
      </p:sp>
      <p:sp>
        <p:nvSpPr>
          <p:cNvPr id="5" name="内容占位符 2">
            <a:extLst>
              <a:ext uri="{FF2B5EF4-FFF2-40B4-BE49-F238E27FC236}">
                <a16:creationId xmlns:a16="http://schemas.microsoft.com/office/drawing/2014/main" id="{186DEBF7-5B10-7CC2-F959-6F30B601A301}"/>
              </a:ext>
            </a:extLst>
          </p:cNvPr>
          <p:cNvSpPr txBox="1">
            <a:spLocks/>
          </p:cNvSpPr>
          <p:nvPr/>
        </p:nvSpPr>
        <p:spPr>
          <a:xfrm>
            <a:off x="2738967" y="4647641"/>
            <a:ext cx="4742699"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altLang="zh-CN" sz="2400" b="1" dirty="0"/>
              <a:t>Implications for further reading</a:t>
            </a:r>
          </a:p>
          <a:p>
            <a:r>
              <a:rPr lang="en-US" altLang="zh-CN" dirty="0"/>
              <a:t>After this pass, evaluate the quality of the paper and its relevance to your research direction to decide whether to proceed with a detailed third pass.</a:t>
            </a:r>
          </a:p>
          <a:p>
            <a:endParaRPr lang="zh-CN" altLang="en-US" dirty="0"/>
          </a:p>
        </p:txBody>
      </p:sp>
    </p:spTree>
    <p:extLst>
      <p:ext uri="{BB962C8B-B14F-4D97-AF65-F5344CB8AC3E}">
        <p14:creationId xmlns:p14="http://schemas.microsoft.com/office/powerpoint/2010/main" val="3645632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18FB7A-3AD3-B1A1-376A-8BABCEF3B145}"/>
              </a:ext>
            </a:extLst>
          </p:cNvPr>
          <p:cNvSpPr>
            <a:spLocks noGrp="1"/>
          </p:cNvSpPr>
          <p:nvPr>
            <p:ph type="title"/>
          </p:nvPr>
        </p:nvSpPr>
        <p:spPr/>
        <p:txBody>
          <a:bodyPr/>
          <a:lstStyle/>
          <a:p>
            <a:r>
              <a:rPr lang="en-US" altLang="zh-CN" dirty="0"/>
              <a:t>Third Step</a:t>
            </a:r>
            <a:endParaRPr lang="zh-CN" altLang="en-US" dirty="0"/>
          </a:p>
        </p:txBody>
      </p:sp>
      <p:sp>
        <p:nvSpPr>
          <p:cNvPr id="3" name="内容占位符 2">
            <a:extLst>
              <a:ext uri="{FF2B5EF4-FFF2-40B4-BE49-F238E27FC236}">
                <a16:creationId xmlns:a16="http://schemas.microsoft.com/office/drawing/2014/main" id="{AE558C8C-1E23-06ED-6A64-8AA9F2F01B80}"/>
              </a:ext>
            </a:extLst>
          </p:cNvPr>
          <p:cNvSpPr>
            <a:spLocks noGrp="1"/>
          </p:cNvSpPr>
          <p:nvPr>
            <p:ph idx="1"/>
          </p:nvPr>
        </p:nvSpPr>
        <p:spPr>
          <a:xfrm>
            <a:off x="677334" y="1732885"/>
            <a:ext cx="8596668" cy="3880773"/>
          </a:xfrm>
        </p:spPr>
        <p:txBody>
          <a:bodyPr/>
          <a:lstStyle/>
          <a:p>
            <a:r>
              <a:rPr lang="en-US" altLang="zh-CN" dirty="0"/>
              <a:t>The third pass is the final and most detailed one, where you need to understand every sentence and paragraph.</a:t>
            </a:r>
          </a:p>
          <a:p>
            <a:r>
              <a:rPr lang="en-US" altLang="zh-CN" dirty="0"/>
              <a:t>As you read, consider questions such as:</a:t>
            </a:r>
          </a:p>
          <a:p>
            <a:pPr marL="0" indent="0">
              <a:buNone/>
            </a:pPr>
            <a:r>
              <a:rPr lang="en-US" altLang="zh-CN" dirty="0"/>
              <a:t>	For instance, if I were to write this paper, how would I organize its structure?</a:t>
            </a:r>
          </a:p>
          <a:p>
            <a:pPr marL="0" indent="0">
              <a:buNone/>
            </a:pPr>
            <a:r>
              <a:rPr lang="en-US" altLang="zh-CN" dirty="0"/>
              <a:t>	When reading the experimental section, think about how the author described their experiments and whether you could have done it better.</a:t>
            </a:r>
          </a:p>
          <a:p>
            <a:pPr marL="0" indent="0">
              <a:buNone/>
            </a:pPr>
            <a:r>
              <a:rPr lang="en-US" altLang="zh-CN" dirty="0"/>
              <a:t>	During this pass, ensure you understand every word and sentence, and try to mentally visualize the entire process as if you were conducting the experiments and writing the paper yourself.</a:t>
            </a:r>
          </a:p>
          <a:p>
            <a:pPr marL="0" indent="0">
              <a:buNone/>
            </a:pPr>
            <a:r>
              <a:rPr lang="en-US" altLang="zh-CN" dirty="0"/>
              <a:t>	If you encounter difficulties, use tools like mind maps or flowcharts to visualize the entire process, which can help you better understand the paper.</a:t>
            </a:r>
          </a:p>
          <a:p>
            <a:endParaRPr lang="zh-CN" altLang="en-US" dirty="0"/>
          </a:p>
        </p:txBody>
      </p:sp>
    </p:spTree>
    <p:extLst>
      <p:ext uri="{BB962C8B-B14F-4D97-AF65-F5344CB8AC3E}">
        <p14:creationId xmlns:p14="http://schemas.microsoft.com/office/powerpoint/2010/main" val="546977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9C2B0B8-BA2F-2A7C-BDCE-870415386DBB}"/>
              </a:ext>
            </a:extLst>
          </p:cNvPr>
          <p:cNvSpPr>
            <a:spLocks noGrp="1"/>
          </p:cNvSpPr>
          <p:nvPr>
            <p:ph idx="1"/>
          </p:nvPr>
        </p:nvSpPr>
        <p:spPr>
          <a:xfrm>
            <a:off x="815356" y="1027653"/>
            <a:ext cx="8596668" cy="3880773"/>
          </a:xfrm>
        </p:spPr>
        <p:txBody>
          <a:bodyPr/>
          <a:lstStyle/>
          <a:p>
            <a:pPr marL="0" indent="0">
              <a:buNone/>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Let’s explore the reading approach of the classic paper </a:t>
            </a:r>
            <a:r>
              <a:rPr lang="en-US" altLang="zh-CN" sz="1800" i="1" kern="100" dirty="0" err="1">
                <a:effectLst/>
                <a:latin typeface="等线" panose="02010600030101010101" pitchFamily="2" charset="-122"/>
                <a:ea typeface="等线" panose="02010600030101010101" pitchFamily="2" charset="-122"/>
                <a:cs typeface="Times New Roman" panose="02020603050405020304" pitchFamily="18" charset="0"/>
              </a:rPr>
              <a:t>AlexNet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Reading classic works is a crucial first step for every scholar. Even though we may have already learned the related content and gained deep understanding, revisiting classic works is always enlightening.</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内容占位符 2">
            <a:extLst>
              <a:ext uri="{FF2B5EF4-FFF2-40B4-BE49-F238E27FC236}">
                <a16:creationId xmlns:a16="http://schemas.microsoft.com/office/drawing/2014/main" id="{F41BD53C-E63D-E25A-FCF7-0E84BDC291FD}"/>
              </a:ext>
            </a:extLst>
          </p:cNvPr>
          <p:cNvSpPr txBox="1">
            <a:spLocks/>
          </p:cNvSpPr>
          <p:nvPr/>
        </p:nvSpPr>
        <p:spPr>
          <a:xfrm>
            <a:off x="743469" y="2876581"/>
            <a:ext cx="8596668"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l">
              <a:buNone/>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When reading classic literature, we can approach it from three main perspectives: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l"/>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Perspective One: Imagine we are in the year the paper was published; how should we read it?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l"/>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Perspective Two: Imagine we have not learned subsequent knowledge. After reading this paper, can we come up with innovative ideas on our own, and how do they align with the current knowledge?</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l"/>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Perspective Three: Is this paper outdated today, and can we extract the core ideas from it?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lgn="l">
              <a:buNone/>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1163085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734DCE-AC42-184D-DF54-FAB174E4B1A0}"/>
              </a:ext>
            </a:extLst>
          </p:cNvPr>
          <p:cNvSpPr>
            <a:spLocks noGrp="1"/>
          </p:cNvSpPr>
          <p:nvPr>
            <p:ph type="title"/>
          </p:nvPr>
        </p:nvSpPr>
        <p:spPr/>
        <p:txBody>
          <a:bodyPr/>
          <a:lstStyle/>
          <a:p>
            <a:r>
              <a:rPr lang="en-US" altLang="zh-CN" dirty="0"/>
              <a:t>First Step</a:t>
            </a:r>
            <a:endParaRPr lang="zh-CN" altLang="en-US" dirty="0"/>
          </a:p>
        </p:txBody>
      </p:sp>
      <p:pic>
        <p:nvPicPr>
          <p:cNvPr id="7" name="图片 6">
            <a:extLst>
              <a:ext uri="{FF2B5EF4-FFF2-40B4-BE49-F238E27FC236}">
                <a16:creationId xmlns:a16="http://schemas.microsoft.com/office/drawing/2014/main" id="{BA1AFBCC-C2F2-4B28-9976-EC89FCF74E7E}"/>
              </a:ext>
            </a:extLst>
          </p:cNvPr>
          <p:cNvPicPr>
            <a:picLocks noChangeAspect="1"/>
          </p:cNvPicPr>
          <p:nvPr/>
        </p:nvPicPr>
        <p:blipFill>
          <a:blip r:embed="rId2"/>
          <a:stretch>
            <a:fillRect/>
          </a:stretch>
        </p:blipFill>
        <p:spPr>
          <a:xfrm>
            <a:off x="746335" y="1593013"/>
            <a:ext cx="5734980" cy="4461654"/>
          </a:xfrm>
          <a:prstGeom prst="rect">
            <a:avLst/>
          </a:prstGeom>
        </p:spPr>
      </p:pic>
      <p:sp>
        <p:nvSpPr>
          <p:cNvPr id="9" name="内容占位符 8">
            <a:extLst>
              <a:ext uri="{FF2B5EF4-FFF2-40B4-BE49-F238E27FC236}">
                <a16:creationId xmlns:a16="http://schemas.microsoft.com/office/drawing/2014/main" id="{21A00FAC-53C5-0836-02BF-38AE225B0D07}"/>
              </a:ext>
            </a:extLst>
          </p:cNvPr>
          <p:cNvSpPr>
            <a:spLocks noGrp="1"/>
          </p:cNvSpPr>
          <p:nvPr>
            <p:ph idx="1"/>
          </p:nvPr>
        </p:nvSpPr>
        <p:spPr>
          <a:xfrm>
            <a:off x="3084775" y="327961"/>
            <a:ext cx="4646289" cy="1989670"/>
          </a:xfrm>
        </p:spPr>
        <p:txBody>
          <a:bodyPr>
            <a:normAutofit/>
          </a:bodyPr>
          <a:lstStyle/>
          <a:p>
            <a:pPr marL="0" indent="0">
              <a:buNone/>
            </a:pPr>
            <a:r>
              <a:rPr lang="en-US" altLang="zh-CN" sz="3600" dirty="0">
                <a:effectLst/>
                <a:latin typeface="宋体" panose="02010600030101010101" pitchFamily="2" charset="-122"/>
                <a:ea typeface="等线" panose="02010600030101010101" pitchFamily="2" charset="-122"/>
                <a:cs typeface="宋体" panose="02010600030101010101" pitchFamily="2" charset="-122"/>
              </a:rPr>
              <a:t>focus on the title and abstract.</a:t>
            </a:r>
            <a:endParaRPr lang="zh-CN" altLang="en-US" sz="3600" dirty="0"/>
          </a:p>
        </p:txBody>
      </p:sp>
      <p:sp>
        <p:nvSpPr>
          <p:cNvPr id="10" name="文本框 9">
            <a:extLst>
              <a:ext uri="{FF2B5EF4-FFF2-40B4-BE49-F238E27FC236}">
                <a16:creationId xmlns:a16="http://schemas.microsoft.com/office/drawing/2014/main" id="{26DD7895-0496-3507-081E-6A9332CD7A4B}"/>
              </a:ext>
            </a:extLst>
          </p:cNvPr>
          <p:cNvSpPr txBox="1"/>
          <p:nvPr/>
        </p:nvSpPr>
        <p:spPr>
          <a:xfrm>
            <a:off x="6481315" y="2012832"/>
            <a:ext cx="3697857" cy="3416320"/>
          </a:xfrm>
          <a:prstGeom prst="rect">
            <a:avLst/>
          </a:prstGeom>
          <a:noFill/>
        </p:spPr>
        <p:txBody>
          <a:bodyPr wrap="square" rtlCol="0">
            <a:spAutoFit/>
          </a:bodyPr>
          <a:lstStyle/>
          <a:p>
            <a:r>
              <a:rPr lang="en-US" altLang="zh-CN" sz="1800" dirty="0">
                <a:effectLst/>
                <a:latin typeface="等线" panose="02010600030101010101" pitchFamily="2" charset="-122"/>
                <a:cs typeface="Times New Roman" panose="02020603050405020304" pitchFamily="18" charset="0"/>
              </a:rPr>
              <a:t>I will only take the first step as an example, because the second and third steps are based on the assumption that you want to continue reading the paper. However, this paper might not be of interest to you, or it might not be in your research direction. The first step, however, I believe is universal and helps you directly extract the core content of the paper.</a:t>
            </a:r>
            <a:endParaRPr lang="zh-CN" altLang="en-US" dirty="0"/>
          </a:p>
        </p:txBody>
      </p:sp>
    </p:spTree>
    <p:extLst>
      <p:ext uri="{BB962C8B-B14F-4D97-AF65-F5344CB8AC3E}">
        <p14:creationId xmlns:p14="http://schemas.microsoft.com/office/powerpoint/2010/main" val="452672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477DA108-3AE5-E033-0014-F06BF8992E59}"/>
              </a:ext>
            </a:extLst>
          </p:cNvPr>
          <p:cNvPicPr>
            <a:picLocks noGrp="1" noChangeAspect="1"/>
          </p:cNvPicPr>
          <p:nvPr>
            <p:ph idx="1"/>
          </p:nvPr>
        </p:nvPicPr>
        <p:blipFill>
          <a:blip r:embed="rId2"/>
          <a:stretch>
            <a:fillRect/>
          </a:stretch>
        </p:blipFill>
        <p:spPr>
          <a:xfrm>
            <a:off x="136131" y="1489954"/>
            <a:ext cx="4341747" cy="3377758"/>
          </a:xfrm>
          <a:prstGeom prst="rect">
            <a:avLst/>
          </a:prstGeom>
        </p:spPr>
      </p:pic>
      <p:sp>
        <p:nvSpPr>
          <p:cNvPr id="5" name="文本框 4">
            <a:extLst>
              <a:ext uri="{FF2B5EF4-FFF2-40B4-BE49-F238E27FC236}">
                <a16:creationId xmlns:a16="http://schemas.microsoft.com/office/drawing/2014/main" id="{3ECADAA3-1154-BE3E-30E2-18A776D4E455}"/>
              </a:ext>
            </a:extLst>
          </p:cNvPr>
          <p:cNvSpPr txBox="1"/>
          <p:nvPr/>
        </p:nvSpPr>
        <p:spPr>
          <a:xfrm>
            <a:off x="4272099" y="463168"/>
            <a:ext cx="6275948" cy="590931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zh-CN" altLang="zh-CN" sz="1800" b="1" i="0" u="none" strike="noStrike" cap="none" normalizeH="0" baseline="0" dirty="0">
                <a:ln>
                  <a:noFill/>
                </a:ln>
                <a:solidFill>
                  <a:schemeClr val="tx1"/>
                </a:solidFill>
                <a:effectLst/>
                <a:latin typeface="Arial" panose="020B0604020202020204" pitchFamily="34" charset="0"/>
              </a:rPr>
              <a:t>What: What was done?</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A large-scale, deep convolutional neural network </a:t>
            </a:r>
            <a:r>
              <a:rPr kumimoji="0" lang="en-US" altLang="zh-CN" sz="1800" b="0" i="0" u="none" strike="noStrike" cap="none" normalizeH="0" baseline="0" dirty="0">
                <a:ln>
                  <a:noFill/>
                </a:ln>
                <a:solidFill>
                  <a:schemeClr val="tx1"/>
                </a:solidFill>
                <a:effectLst/>
                <a:latin typeface="Arial" panose="020B0604020202020204" pitchFamily="34" charset="0"/>
              </a:rPr>
              <a:t>,which </a:t>
            </a:r>
            <a:r>
              <a:rPr kumimoji="0" lang="zh-CN" altLang="zh-CN" sz="1800" b="0" i="0" u="none" strike="noStrike" cap="none" normalizeH="0" baseline="0" dirty="0">
                <a:ln>
                  <a:noFill/>
                </a:ln>
                <a:solidFill>
                  <a:schemeClr val="tx1"/>
                </a:solidFill>
                <a:effectLst/>
                <a:latin typeface="Arial" panose="020B0604020202020204" pitchFamily="34" charset="0"/>
              </a:rPr>
              <a:t>was trained to classify 1.2 million images across 1000 categories.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zh-CN" altLang="zh-CN" sz="1800" b="1" i="0" u="none" strike="noStrike" cap="none" normalizeH="0" baseline="0" dirty="0">
                <a:ln>
                  <a:noFill/>
                </a:ln>
                <a:solidFill>
                  <a:schemeClr val="tx1"/>
                </a:solidFill>
                <a:effectLst/>
                <a:latin typeface="Arial" panose="020B0604020202020204" pitchFamily="34" charset="0"/>
              </a:rPr>
              <a:t>Outcome: How effective was it?</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The results outperformed previous work:</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dirty="0">
                <a:ln>
                  <a:noFill/>
                </a:ln>
                <a:solidFill>
                  <a:schemeClr val="tx1"/>
                </a:solidFill>
                <a:effectLst/>
                <a:latin typeface="Arial" panose="020B0604020202020204" pitchFamily="34" charset="0"/>
              </a:rPr>
              <a:t>Top-1 error rate: 37.5%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dirty="0">
                <a:ln>
                  <a:noFill/>
                </a:ln>
                <a:solidFill>
                  <a:schemeClr val="tx1"/>
                </a:solidFill>
                <a:effectLst/>
                <a:latin typeface="Arial" panose="020B0604020202020204" pitchFamily="34" charset="0"/>
              </a:rPr>
              <a:t>Top-5 error rate: 17%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zh-CN" altLang="zh-CN" sz="1800" b="1" i="0" u="none" strike="noStrike" cap="none" normalizeH="0" baseline="0" dirty="0">
                <a:ln>
                  <a:noFill/>
                </a:ln>
                <a:solidFill>
                  <a:schemeClr val="tx1"/>
                </a:solidFill>
                <a:effectLst/>
                <a:latin typeface="Arial" panose="020B0604020202020204" pitchFamily="34" charset="0"/>
              </a:rPr>
              <a:t>What does the network look like?</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The network contains 6 million parameters and 650,000 neurons: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dirty="0">
                <a:ln>
                  <a:noFill/>
                </a:ln>
                <a:solidFill>
                  <a:schemeClr val="tx1"/>
                </a:solidFill>
                <a:effectLst/>
                <a:latin typeface="Arial" panose="020B0604020202020204" pitchFamily="34" charset="0"/>
              </a:rPr>
              <a:t>5 convolutional layers (fewer than 5 max-pooling layers) + 3 fully connected layers (1000-way softmax)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zh-CN" altLang="zh-CN" sz="1800" b="1" i="0" u="none" strike="noStrike" cap="none" normalizeH="0" baseline="0" dirty="0">
                <a:ln>
                  <a:noFill/>
                </a:ln>
                <a:solidFill>
                  <a:schemeClr val="tx1"/>
                </a:solidFill>
                <a:effectLst/>
                <a:latin typeface="Arial" panose="020B0604020202020204" pitchFamily="34" charset="0"/>
              </a:rPr>
              <a:t>How to train faster with so many parameters?</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Non-saturating neurons were used, and GPU acceleration was leveraged for convolution operations.</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zh-CN" altLang="zh-CN" sz="1800" b="1" i="0" u="none" strike="noStrike" cap="none" normalizeH="0" baseline="0" dirty="0">
                <a:ln>
                  <a:noFill/>
                </a:ln>
                <a:solidFill>
                  <a:schemeClr val="tx1"/>
                </a:solidFill>
                <a:effectLst/>
                <a:latin typeface="Arial" panose="020B0604020202020204" pitchFamily="34" charset="0"/>
              </a:rPr>
              <a:t>With so many parameters, how to prevent overfitting?</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To prevent overfitting in the fully connected network (FCN), dropout regularization was employed, yielding effective results.</a:t>
            </a:r>
          </a:p>
          <a:p>
            <a:endParaRPr lang="zh-CN" altLang="en-US" dirty="0"/>
          </a:p>
        </p:txBody>
      </p:sp>
      <p:sp>
        <p:nvSpPr>
          <p:cNvPr id="7" name="文本框 6">
            <a:extLst>
              <a:ext uri="{FF2B5EF4-FFF2-40B4-BE49-F238E27FC236}">
                <a16:creationId xmlns:a16="http://schemas.microsoft.com/office/drawing/2014/main" id="{2E8A4761-66DC-E164-389A-159D2805A2D7}"/>
              </a:ext>
            </a:extLst>
          </p:cNvPr>
          <p:cNvSpPr txBox="1"/>
          <p:nvPr/>
        </p:nvSpPr>
        <p:spPr>
          <a:xfrm>
            <a:off x="661357" y="5443397"/>
            <a:ext cx="3163019" cy="923330"/>
          </a:xfrm>
          <a:prstGeom prst="rect">
            <a:avLst/>
          </a:prstGeom>
          <a:noFill/>
        </p:spPr>
        <p:txBody>
          <a:bodyPr wrap="square" rtlCol="0">
            <a:spAutoFit/>
          </a:bodyPr>
          <a:lstStyle/>
          <a:p>
            <a:pPr algn="l"/>
            <a:r>
              <a:rPr lang="en-US" altLang="zh-CN" sz="1800" b="1" kern="100">
                <a:effectLst/>
                <a:latin typeface="等线" panose="02010600030101010101" pitchFamily="2" charset="-122"/>
                <a:ea typeface="等线" panose="02010600030101010101" pitchFamily="2" charset="-122"/>
                <a:cs typeface="Times New Roman" panose="02020603050405020304" pitchFamily="18" charset="0"/>
              </a:rPr>
              <a:t>If you are interested, you can continue reading in the second and third steps.</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26724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B02380-F110-73B3-4BF1-E73BB5768407}"/>
              </a:ext>
            </a:extLst>
          </p:cNvPr>
          <p:cNvSpPr>
            <a:spLocks noGrp="1"/>
          </p:cNvSpPr>
          <p:nvPr>
            <p:ph type="title"/>
          </p:nvPr>
        </p:nvSpPr>
        <p:spPr>
          <a:xfrm>
            <a:off x="1522723" y="2768600"/>
            <a:ext cx="8596668" cy="1320800"/>
          </a:xfrm>
        </p:spPr>
        <p:txBody>
          <a:bodyPr>
            <a:normAutofit fontScale="90000"/>
          </a:bodyPr>
          <a:lstStyle/>
          <a:p>
            <a:r>
              <a:rPr lang="en-US" altLang="zh-CN" sz="4800" dirty="0"/>
              <a:t>Thank you for listening </a:t>
            </a:r>
            <a:br>
              <a:rPr lang="zh-CN" altLang="en-US" dirty="0"/>
            </a:br>
            <a:endParaRPr lang="zh-CN" altLang="en-US" dirty="0"/>
          </a:p>
        </p:txBody>
      </p:sp>
    </p:spTree>
    <p:extLst>
      <p:ext uri="{BB962C8B-B14F-4D97-AF65-F5344CB8AC3E}">
        <p14:creationId xmlns:p14="http://schemas.microsoft.com/office/powerpoint/2010/main" val="1126601840"/>
      </p:ext>
    </p:extLst>
  </p:cSld>
  <p:clrMapOvr>
    <a:masterClrMapping/>
  </p:clrMapOvr>
</p:sld>
</file>

<file path=ppt/theme/theme1.xml><?xml version="1.0" encoding="utf-8"?>
<a:theme xmlns:a="http://schemas.openxmlformats.org/drawingml/2006/main" name="平面">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109</TotalTime>
  <Words>956</Words>
  <Application>Microsoft Office PowerPoint</Application>
  <PresentationFormat>宽屏</PresentationFormat>
  <Paragraphs>68</Paragraphs>
  <Slides>11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PingFang SC</vt:lpstr>
      <vt:lpstr>等线</vt:lpstr>
      <vt:lpstr>宋体</vt:lpstr>
      <vt:lpstr>微软雅黑</vt:lpstr>
      <vt:lpstr>Arial</vt:lpstr>
      <vt:lpstr>Trebuchet MS</vt:lpstr>
      <vt:lpstr>Wingdings 3</vt:lpstr>
      <vt:lpstr>平面</vt:lpstr>
      <vt:lpstr>How to Read Papers</vt:lpstr>
      <vt:lpstr>The structure of papers</vt:lpstr>
      <vt:lpstr>Read a paper in three passes</vt:lpstr>
      <vt:lpstr>First Step</vt:lpstr>
      <vt:lpstr>Second Step</vt:lpstr>
      <vt:lpstr>PowerPoint 演示文稿</vt:lpstr>
      <vt:lpstr>Third Step</vt:lpstr>
      <vt:lpstr>PowerPoint 演示文稿</vt:lpstr>
      <vt:lpstr>First Step</vt:lpstr>
      <vt:lpstr>PowerPoint 演示文稿</vt:lpstr>
      <vt:lpstr>Thank you for listening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QY Z</dc:creator>
  <cp:lastModifiedBy>QY Z</cp:lastModifiedBy>
  <cp:revision>2</cp:revision>
  <dcterms:created xsi:type="dcterms:W3CDTF">2025-01-02T10:31:28Z</dcterms:created>
  <dcterms:modified xsi:type="dcterms:W3CDTF">2025-01-02T12:21:45Z</dcterms:modified>
</cp:coreProperties>
</file>