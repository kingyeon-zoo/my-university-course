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61" r:id="rId5"/>
    <p:sldId id="276" r:id="rId6"/>
    <p:sldId id="262" r:id="rId7"/>
    <p:sldId id="279" r:id="rId8"/>
    <p:sldId id="281" r:id="rId9"/>
    <p:sldId id="280" r:id="rId10"/>
    <p:sldId id="282" r:id="rId11"/>
    <p:sldId id="283" r:id="rId12"/>
    <p:sldId id="291" r:id="rId13"/>
    <p:sldId id="294" r:id="rId14"/>
    <p:sldId id="299" r:id="rId15"/>
    <p:sldId id="303" r:id="rId16"/>
    <p:sldId id="298" r:id="rId17"/>
    <p:sldId id="290" r:id="rId18"/>
    <p:sldId id="277" r:id="rId19"/>
    <p:sldId id="286" r:id="rId20"/>
    <p:sldId id="287" r:id="rId21"/>
    <p:sldId id="278" r:id="rId22"/>
    <p:sldId id="273" r:id="rId23"/>
    <p:sldId id="288" r:id="rId24"/>
  </p:sldIdLst>
  <p:sldSz cx="12192000" cy="6858000"/>
  <p:notesSz cx="6646863" cy="9777413"/>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617" autoAdjust="0"/>
  </p:normalViewPr>
  <p:slideViewPr>
    <p:cSldViewPr snapToGrid="0">
      <p:cViewPr varScale="1">
        <p:scale>
          <a:sx n="60" d="100"/>
          <a:sy n="60" d="100"/>
        </p:scale>
        <p:origin x="560" y="4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8440DCEF-B349-9615-F60B-BF89DD26226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7963" y="174625"/>
            <a:ext cx="2905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1524000" y="1122363"/>
            <a:ext cx="9144000" cy="2387600"/>
          </a:xfrm>
        </p:spPr>
        <p:txBody>
          <a:bodyPr anchor="b"/>
          <a:lstStyle>
            <a:lvl1pPr algn="ctr">
              <a:defRPr sz="6000">
                <a:latin typeface="黑体" panose="02010609060101010101" pitchFamily="49" charset="-122"/>
                <a:ea typeface="黑体" panose="02010609060101010101" pitchFamily="49" charset="-122"/>
              </a:defRPr>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5" name="日期占位符 3">
            <a:extLst>
              <a:ext uri="{FF2B5EF4-FFF2-40B4-BE49-F238E27FC236}">
                <a16:creationId xmlns:a16="http://schemas.microsoft.com/office/drawing/2014/main" id="{2E9A93F6-A54D-BB3D-EE17-EFE38B581671}"/>
              </a:ext>
            </a:extLst>
          </p:cNvPr>
          <p:cNvSpPr>
            <a:spLocks noGrp="1"/>
          </p:cNvSpPr>
          <p:nvPr>
            <p:ph type="dt" sz="half" idx="10"/>
          </p:nvPr>
        </p:nvSpPr>
        <p:spPr/>
        <p:txBody>
          <a:bodyPr/>
          <a:lstStyle>
            <a:lvl1pPr>
              <a:defRPr/>
            </a:lvl1pPr>
          </a:lstStyle>
          <a:p>
            <a:pPr>
              <a:defRPr/>
            </a:pPr>
            <a:fld id="{0BFD8B81-9EC7-4BBE-A6E3-816E7DC13A67}"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FC104B80-DBF1-F228-5E78-EDE82E6C02E8}"/>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709D990-A08D-60A3-8C58-E065ACEB8C0A}"/>
              </a:ext>
            </a:extLst>
          </p:cNvPr>
          <p:cNvSpPr>
            <a:spLocks noGrp="1"/>
          </p:cNvSpPr>
          <p:nvPr>
            <p:ph type="sldNum" sz="quarter" idx="12"/>
          </p:nvPr>
        </p:nvSpPr>
        <p:spPr/>
        <p:txBody>
          <a:bodyPr/>
          <a:lstStyle>
            <a:lvl1pPr>
              <a:defRPr/>
            </a:lvl1pPr>
          </a:lstStyle>
          <a:p>
            <a:pPr>
              <a:defRPr/>
            </a:pPr>
            <a:fld id="{EF803ACA-04A6-404F-9689-8080ABA2379D}" type="slidenum">
              <a:rPr lang="zh-CN" altLang="en-US"/>
              <a:pPr>
                <a:defRPr/>
              </a:pPr>
              <a:t>‹#›</a:t>
            </a:fld>
            <a:endParaRPr lang="zh-CN" altLang="en-US"/>
          </a:p>
        </p:txBody>
      </p:sp>
    </p:spTree>
    <p:extLst>
      <p:ext uri="{BB962C8B-B14F-4D97-AF65-F5344CB8AC3E}">
        <p14:creationId xmlns:p14="http://schemas.microsoft.com/office/powerpoint/2010/main" val="4109692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0596450-F654-5485-57E2-61C2273E18C8}"/>
              </a:ext>
            </a:extLst>
          </p:cNvPr>
          <p:cNvSpPr/>
          <p:nvPr/>
        </p:nvSpPr>
        <p:spPr>
          <a:xfrm>
            <a:off x="0" y="1389063"/>
            <a:ext cx="12192000" cy="46037"/>
          </a:xfrm>
          <a:prstGeom prst="rect">
            <a:avLst/>
          </a:prstGeom>
          <a:solidFill>
            <a:srgbClr val="C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标题 1"/>
          <p:cNvSpPr>
            <a:spLocks noGrp="1"/>
          </p:cNvSpPr>
          <p:nvPr>
            <p:ph type="title"/>
          </p:nvPr>
        </p:nvSpPr>
        <p:spPr>
          <a:xfrm>
            <a:off x="838200" y="365126"/>
            <a:ext cx="10515600" cy="982908"/>
          </a:xfrm>
        </p:spPr>
        <p:txBody>
          <a:bodyPr>
            <a:normAutofit/>
          </a:bodyPr>
          <a:lstStyle>
            <a:lvl1pPr>
              <a:defRPr sz="3600">
                <a:latin typeface="黑体" panose="02010609060101010101" pitchFamily="49" charset="-122"/>
                <a:ea typeface="黑体" panose="02010609060101010101" pitchFamily="49" charset="-122"/>
              </a:defRPr>
            </a:lvl1pPr>
          </a:lstStyle>
          <a:p>
            <a:r>
              <a:rPr lang="zh-CN" altLang="en-US" noProof="1"/>
              <a:t>单击此处编辑母版标题样式</a:t>
            </a:r>
          </a:p>
        </p:txBody>
      </p:sp>
      <p:sp>
        <p:nvSpPr>
          <p:cNvPr id="3" name="内容占位符 2"/>
          <p:cNvSpPr>
            <a:spLocks noGrp="1"/>
          </p:cNvSpPr>
          <p:nvPr>
            <p:ph idx="1"/>
          </p:nvPr>
        </p:nvSpPr>
        <p:spPr>
          <a:xfrm>
            <a:off x="838200" y="1681315"/>
            <a:ext cx="10515600" cy="4495647"/>
          </a:xfrm>
        </p:spPr>
        <p:txBody>
          <a:bodyPr/>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21D14F1A-3E00-CF21-BB05-ECAA183A427E}"/>
              </a:ext>
            </a:extLst>
          </p:cNvPr>
          <p:cNvSpPr>
            <a:spLocks noGrp="1"/>
          </p:cNvSpPr>
          <p:nvPr>
            <p:ph type="dt" sz="half" idx="10"/>
          </p:nvPr>
        </p:nvSpPr>
        <p:spPr/>
        <p:txBody>
          <a:bodyPr/>
          <a:lstStyle>
            <a:lvl1pPr>
              <a:defRPr/>
            </a:lvl1pPr>
          </a:lstStyle>
          <a:p>
            <a:pPr>
              <a:defRPr/>
            </a:pPr>
            <a:fld id="{8D5E7256-C91B-4372-997A-001E045FC83A}"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353B86AA-AE38-275E-365E-FF2BCCE1E923}"/>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0577245-EDB6-6905-8D52-2651FA98D498}"/>
              </a:ext>
            </a:extLst>
          </p:cNvPr>
          <p:cNvSpPr>
            <a:spLocks noGrp="1"/>
          </p:cNvSpPr>
          <p:nvPr>
            <p:ph type="sldNum" sz="quarter" idx="12"/>
          </p:nvPr>
        </p:nvSpPr>
        <p:spPr/>
        <p:txBody>
          <a:bodyPr/>
          <a:lstStyle>
            <a:lvl1pPr>
              <a:defRPr/>
            </a:lvl1pPr>
          </a:lstStyle>
          <a:p>
            <a:pPr>
              <a:defRPr/>
            </a:pPr>
            <a:fld id="{A52DA2E5-49CA-47B0-A82B-E7262CB64DBC}" type="slidenum">
              <a:rPr lang="zh-CN" altLang="en-US"/>
              <a:pPr>
                <a:defRPr/>
              </a:pPr>
              <a:t>‹#›</a:t>
            </a:fld>
            <a:endParaRPr lang="zh-CN" altLang="en-US"/>
          </a:p>
        </p:txBody>
      </p:sp>
    </p:spTree>
    <p:extLst>
      <p:ext uri="{BB962C8B-B14F-4D97-AF65-F5344CB8AC3E}">
        <p14:creationId xmlns:p14="http://schemas.microsoft.com/office/powerpoint/2010/main" val="1432753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50E027AD-37E3-C99D-67B0-F854DA9016C5}"/>
              </a:ext>
            </a:extLst>
          </p:cNvPr>
          <p:cNvSpPr>
            <a:spLocks noGrp="1"/>
          </p:cNvSpPr>
          <p:nvPr>
            <p:ph type="dt" sz="half" idx="10"/>
          </p:nvPr>
        </p:nvSpPr>
        <p:spPr/>
        <p:txBody>
          <a:bodyPr/>
          <a:lstStyle>
            <a:lvl1pPr>
              <a:defRPr/>
            </a:lvl1pPr>
          </a:lstStyle>
          <a:p>
            <a:pPr>
              <a:defRPr/>
            </a:pPr>
            <a:fld id="{7E36613D-09E6-4721-98F7-952AC9CA1B60}"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11521B29-AB70-C007-78F0-7F770A65D90A}"/>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21BD8CB2-036C-1C3E-5225-B9B4C17CD44B}"/>
              </a:ext>
            </a:extLst>
          </p:cNvPr>
          <p:cNvSpPr>
            <a:spLocks noGrp="1"/>
          </p:cNvSpPr>
          <p:nvPr>
            <p:ph type="sldNum" sz="quarter" idx="12"/>
          </p:nvPr>
        </p:nvSpPr>
        <p:spPr/>
        <p:txBody>
          <a:bodyPr/>
          <a:lstStyle>
            <a:lvl1pPr>
              <a:defRPr/>
            </a:lvl1pPr>
          </a:lstStyle>
          <a:p>
            <a:pPr>
              <a:defRPr/>
            </a:pPr>
            <a:fld id="{36A17953-E3AE-4843-9965-6EFD230E131A}" type="slidenum">
              <a:rPr lang="zh-CN" altLang="en-US"/>
              <a:pPr>
                <a:defRPr/>
              </a:pPr>
              <a:t>‹#›</a:t>
            </a:fld>
            <a:endParaRPr lang="zh-CN" altLang="en-US"/>
          </a:p>
        </p:txBody>
      </p:sp>
    </p:spTree>
    <p:extLst>
      <p:ext uri="{BB962C8B-B14F-4D97-AF65-F5344CB8AC3E}">
        <p14:creationId xmlns:p14="http://schemas.microsoft.com/office/powerpoint/2010/main" val="38537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70AA80E6-3C0B-5277-56E1-632742C40288}"/>
              </a:ext>
            </a:extLst>
          </p:cNvPr>
          <p:cNvSpPr>
            <a:spLocks noGrp="1"/>
          </p:cNvSpPr>
          <p:nvPr>
            <p:ph type="dt" sz="half" idx="10"/>
          </p:nvPr>
        </p:nvSpPr>
        <p:spPr/>
        <p:txBody>
          <a:bodyPr/>
          <a:lstStyle>
            <a:lvl1pPr>
              <a:defRPr/>
            </a:lvl1pPr>
          </a:lstStyle>
          <a:p>
            <a:pPr>
              <a:defRPr/>
            </a:pPr>
            <a:fld id="{2AA322EC-6DCF-40B6-9CD7-BAE3AA70B2BA}"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F83E9878-EFA6-CCF0-9A13-EBC6C281C9C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0A8339E-A0DA-6663-F0D6-22618755CCF8}"/>
              </a:ext>
            </a:extLst>
          </p:cNvPr>
          <p:cNvSpPr>
            <a:spLocks noGrp="1"/>
          </p:cNvSpPr>
          <p:nvPr>
            <p:ph type="sldNum" sz="quarter" idx="12"/>
          </p:nvPr>
        </p:nvSpPr>
        <p:spPr/>
        <p:txBody>
          <a:bodyPr/>
          <a:lstStyle>
            <a:lvl1pPr>
              <a:defRPr/>
            </a:lvl1pPr>
          </a:lstStyle>
          <a:p>
            <a:pPr>
              <a:defRPr/>
            </a:pPr>
            <a:fld id="{A6DDF090-73B4-450B-8905-2F577BAF9BC0}" type="slidenum">
              <a:rPr lang="zh-CN" altLang="en-US"/>
              <a:pPr>
                <a:defRPr/>
              </a:pPr>
              <a:t>‹#›</a:t>
            </a:fld>
            <a:endParaRPr lang="zh-CN" altLang="en-US"/>
          </a:p>
        </p:txBody>
      </p:sp>
    </p:spTree>
    <p:extLst>
      <p:ext uri="{BB962C8B-B14F-4D97-AF65-F5344CB8AC3E}">
        <p14:creationId xmlns:p14="http://schemas.microsoft.com/office/powerpoint/2010/main" val="117249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E197A7EC-BE93-9FBB-97D5-9A154F27E2FE}"/>
              </a:ext>
            </a:extLst>
          </p:cNvPr>
          <p:cNvSpPr>
            <a:spLocks noGrp="1"/>
          </p:cNvSpPr>
          <p:nvPr>
            <p:ph type="dt" sz="half" idx="10"/>
          </p:nvPr>
        </p:nvSpPr>
        <p:spPr/>
        <p:txBody>
          <a:bodyPr/>
          <a:lstStyle>
            <a:lvl1pPr>
              <a:defRPr/>
            </a:lvl1pPr>
          </a:lstStyle>
          <a:p>
            <a:pPr>
              <a:defRPr/>
            </a:pPr>
            <a:fld id="{693E5601-F409-4EAA-B6C9-EE9395F9FDA4}" type="datetimeFigureOut">
              <a:rPr lang="zh-CN" altLang="en-US"/>
              <a:pPr>
                <a:defRPr/>
              </a:pPr>
              <a:t>2025/4/15</a:t>
            </a:fld>
            <a:endParaRPr lang="zh-CN" altLang="en-US"/>
          </a:p>
        </p:txBody>
      </p:sp>
      <p:sp>
        <p:nvSpPr>
          <p:cNvPr id="8" name="页脚占位符 4">
            <a:extLst>
              <a:ext uri="{FF2B5EF4-FFF2-40B4-BE49-F238E27FC236}">
                <a16:creationId xmlns:a16="http://schemas.microsoft.com/office/drawing/2014/main" id="{D8727751-03D0-4F96-8839-774C37372F0B}"/>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3C276CA6-655B-5BCE-1F93-508441E1DF39}"/>
              </a:ext>
            </a:extLst>
          </p:cNvPr>
          <p:cNvSpPr>
            <a:spLocks noGrp="1"/>
          </p:cNvSpPr>
          <p:nvPr>
            <p:ph type="sldNum" sz="quarter" idx="12"/>
          </p:nvPr>
        </p:nvSpPr>
        <p:spPr/>
        <p:txBody>
          <a:bodyPr/>
          <a:lstStyle>
            <a:lvl1pPr>
              <a:defRPr/>
            </a:lvl1pPr>
          </a:lstStyle>
          <a:p>
            <a:pPr>
              <a:defRPr/>
            </a:pPr>
            <a:fld id="{B9AA6F23-2896-4B35-8BD2-9913B40DA7AB}" type="slidenum">
              <a:rPr lang="zh-CN" altLang="en-US"/>
              <a:pPr>
                <a:defRPr/>
              </a:pPr>
              <a:t>‹#›</a:t>
            </a:fld>
            <a:endParaRPr lang="zh-CN" altLang="en-US"/>
          </a:p>
        </p:txBody>
      </p:sp>
    </p:spTree>
    <p:extLst>
      <p:ext uri="{BB962C8B-B14F-4D97-AF65-F5344CB8AC3E}">
        <p14:creationId xmlns:p14="http://schemas.microsoft.com/office/powerpoint/2010/main" val="153162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C9B7278C-DD2F-E0A1-20EC-6C0D3973D09A}"/>
              </a:ext>
            </a:extLst>
          </p:cNvPr>
          <p:cNvSpPr>
            <a:spLocks noGrp="1"/>
          </p:cNvSpPr>
          <p:nvPr>
            <p:ph type="dt" sz="half" idx="10"/>
          </p:nvPr>
        </p:nvSpPr>
        <p:spPr/>
        <p:txBody>
          <a:bodyPr/>
          <a:lstStyle>
            <a:lvl1pPr>
              <a:defRPr/>
            </a:lvl1pPr>
          </a:lstStyle>
          <a:p>
            <a:pPr>
              <a:defRPr/>
            </a:pPr>
            <a:fld id="{C9358ED1-77CC-419A-8986-5F3318A94E24}" type="datetimeFigureOut">
              <a:rPr lang="zh-CN" altLang="en-US"/>
              <a:pPr>
                <a:defRPr/>
              </a:pPr>
              <a:t>2025/4/15</a:t>
            </a:fld>
            <a:endParaRPr lang="zh-CN" altLang="en-US"/>
          </a:p>
        </p:txBody>
      </p:sp>
      <p:sp>
        <p:nvSpPr>
          <p:cNvPr id="4" name="页脚占位符 4">
            <a:extLst>
              <a:ext uri="{FF2B5EF4-FFF2-40B4-BE49-F238E27FC236}">
                <a16:creationId xmlns:a16="http://schemas.microsoft.com/office/drawing/2014/main" id="{14E0D224-95F9-88E3-B94C-E3A8796EEC0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F9D30D7A-0156-41EE-951A-D51CD22BE8EA}"/>
              </a:ext>
            </a:extLst>
          </p:cNvPr>
          <p:cNvSpPr>
            <a:spLocks noGrp="1"/>
          </p:cNvSpPr>
          <p:nvPr>
            <p:ph type="sldNum" sz="quarter" idx="12"/>
          </p:nvPr>
        </p:nvSpPr>
        <p:spPr/>
        <p:txBody>
          <a:bodyPr/>
          <a:lstStyle>
            <a:lvl1pPr>
              <a:defRPr/>
            </a:lvl1pPr>
          </a:lstStyle>
          <a:p>
            <a:pPr>
              <a:defRPr/>
            </a:pPr>
            <a:fld id="{0C5AC8DB-5291-4C04-846E-A21E7DFF7BB1}" type="slidenum">
              <a:rPr lang="zh-CN" altLang="en-US"/>
              <a:pPr>
                <a:defRPr/>
              </a:pPr>
              <a:t>‹#›</a:t>
            </a:fld>
            <a:endParaRPr lang="zh-CN" altLang="en-US"/>
          </a:p>
        </p:txBody>
      </p:sp>
    </p:spTree>
    <p:extLst>
      <p:ext uri="{BB962C8B-B14F-4D97-AF65-F5344CB8AC3E}">
        <p14:creationId xmlns:p14="http://schemas.microsoft.com/office/powerpoint/2010/main" val="1398794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DA12FDC-A209-1B9A-AC46-9992223F4F1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7963" y="174625"/>
            <a:ext cx="2905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1">
            <a:extLst>
              <a:ext uri="{FF2B5EF4-FFF2-40B4-BE49-F238E27FC236}">
                <a16:creationId xmlns:a16="http://schemas.microsoft.com/office/drawing/2014/main" id="{1075AB2C-C48B-71B4-6164-FC1DF448B887}"/>
              </a:ext>
            </a:extLst>
          </p:cNvPr>
          <p:cNvSpPr>
            <a:spLocks noGrp="1"/>
          </p:cNvSpPr>
          <p:nvPr>
            <p:ph type="dt" sz="half" idx="10"/>
          </p:nvPr>
        </p:nvSpPr>
        <p:spPr/>
        <p:txBody>
          <a:bodyPr/>
          <a:lstStyle>
            <a:lvl1pPr>
              <a:defRPr/>
            </a:lvl1pPr>
          </a:lstStyle>
          <a:p>
            <a:pPr>
              <a:defRPr/>
            </a:pPr>
            <a:fld id="{3EC0D8AC-A5CE-4C1F-90BE-A72AEF7714F7}" type="datetimeFigureOut">
              <a:rPr lang="zh-CN" altLang="en-US"/>
              <a:pPr>
                <a:defRPr/>
              </a:pPr>
              <a:t>2025/4/15</a:t>
            </a:fld>
            <a:endParaRPr lang="zh-CN" altLang="en-US"/>
          </a:p>
        </p:txBody>
      </p:sp>
      <p:sp>
        <p:nvSpPr>
          <p:cNvPr id="4" name="页脚占位符 2">
            <a:extLst>
              <a:ext uri="{FF2B5EF4-FFF2-40B4-BE49-F238E27FC236}">
                <a16:creationId xmlns:a16="http://schemas.microsoft.com/office/drawing/2014/main" id="{B98DE66D-8816-0E7B-68C8-8E73D9183A79}"/>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3">
            <a:extLst>
              <a:ext uri="{FF2B5EF4-FFF2-40B4-BE49-F238E27FC236}">
                <a16:creationId xmlns:a16="http://schemas.microsoft.com/office/drawing/2014/main" id="{A437CA6A-F3B5-49B5-20F9-A2E44D03A2F5}"/>
              </a:ext>
            </a:extLst>
          </p:cNvPr>
          <p:cNvSpPr>
            <a:spLocks noGrp="1"/>
          </p:cNvSpPr>
          <p:nvPr>
            <p:ph type="sldNum" sz="quarter" idx="12"/>
          </p:nvPr>
        </p:nvSpPr>
        <p:spPr/>
        <p:txBody>
          <a:bodyPr/>
          <a:lstStyle>
            <a:lvl1pPr>
              <a:defRPr/>
            </a:lvl1pPr>
          </a:lstStyle>
          <a:p>
            <a:pPr>
              <a:defRPr/>
            </a:pPr>
            <a:fld id="{85570E80-9B19-498D-BCE5-D33414078DEC}" type="slidenum">
              <a:rPr lang="zh-CN" altLang="en-US"/>
              <a:pPr>
                <a:defRPr/>
              </a:pPr>
              <a:t>‹#›</a:t>
            </a:fld>
            <a:endParaRPr lang="zh-CN" altLang="en-US"/>
          </a:p>
        </p:txBody>
      </p:sp>
    </p:spTree>
    <p:extLst>
      <p:ext uri="{BB962C8B-B14F-4D97-AF65-F5344CB8AC3E}">
        <p14:creationId xmlns:p14="http://schemas.microsoft.com/office/powerpoint/2010/main" val="265447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3345DB05-D4C5-ADBD-74B5-65F5BF2D0A61}"/>
              </a:ext>
            </a:extLst>
          </p:cNvPr>
          <p:cNvSpPr>
            <a:spLocks noGrp="1"/>
          </p:cNvSpPr>
          <p:nvPr>
            <p:ph type="dt" sz="half" idx="10"/>
          </p:nvPr>
        </p:nvSpPr>
        <p:spPr/>
        <p:txBody>
          <a:bodyPr/>
          <a:lstStyle>
            <a:lvl1pPr>
              <a:defRPr/>
            </a:lvl1pPr>
          </a:lstStyle>
          <a:p>
            <a:pPr>
              <a:defRPr/>
            </a:pPr>
            <a:fld id="{7DA03583-6D22-42CC-B7EA-77356BBAA891}"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ACDE1875-BC67-76D8-4577-373088395DB2}"/>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844AFB6E-CE15-EC4D-AD6B-1C12567FE363}"/>
              </a:ext>
            </a:extLst>
          </p:cNvPr>
          <p:cNvSpPr>
            <a:spLocks noGrp="1"/>
          </p:cNvSpPr>
          <p:nvPr>
            <p:ph type="sldNum" sz="quarter" idx="12"/>
          </p:nvPr>
        </p:nvSpPr>
        <p:spPr/>
        <p:txBody>
          <a:bodyPr/>
          <a:lstStyle>
            <a:lvl1pPr>
              <a:defRPr/>
            </a:lvl1pPr>
          </a:lstStyle>
          <a:p>
            <a:pPr>
              <a:defRPr/>
            </a:pPr>
            <a:fld id="{A5DE09DD-00C0-468F-8B42-4F2FD8D771A7}" type="slidenum">
              <a:rPr lang="zh-CN" altLang="en-US"/>
              <a:pPr>
                <a:defRPr/>
              </a:pPr>
              <a:t>‹#›</a:t>
            </a:fld>
            <a:endParaRPr lang="zh-CN" altLang="en-US"/>
          </a:p>
        </p:txBody>
      </p:sp>
    </p:spTree>
    <p:extLst>
      <p:ext uri="{BB962C8B-B14F-4D97-AF65-F5344CB8AC3E}">
        <p14:creationId xmlns:p14="http://schemas.microsoft.com/office/powerpoint/2010/main" val="3280527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A2E50FA1-17E4-E9EB-FD51-28537966B585}"/>
              </a:ext>
            </a:extLst>
          </p:cNvPr>
          <p:cNvSpPr>
            <a:spLocks noGrp="1"/>
          </p:cNvSpPr>
          <p:nvPr>
            <p:ph type="dt" sz="half" idx="10"/>
          </p:nvPr>
        </p:nvSpPr>
        <p:spPr/>
        <p:txBody>
          <a:bodyPr/>
          <a:lstStyle>
            <a:lvl1pPr>
              <a:defRPr/>
            </a:lvl1pPr>
          </a:lstStyle>
          <a:p>
            <a:pPr>
              <a:defRPr/>
            </a:pPr>
            <a:fld id="{6EB5024E-9E70-4EC2-AF5F-B812D43C7970}"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09E202A8-B505-92E5-2A20-A40A7DC9D62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B93FCD1-5947-C6C9-0ED6-54DF37A6BF25}"/>
              </a:ext>
            </a:extLst>
          </p:cNvPr>
          <p:cNvSpPr>
            <a:spLocks noGrp="1"/>
          </p:cNvSpPr>
          <p:nvPr>
            <p:ph type="sldNum" sz="quarter" idx="12"/>
          </p:nvPr>
        </p:nvSpPr>
        <p:spPr/>
        <p:txBody>
          <a:bodyPr/>
          <a:lstStyle>
            <a:lvl1pPr>
              <a:defRPr/>
            </a:lvl1pPr>
          </a:lstStyle>
          <a:p>
            <a:pPr>
              <a:defRPr/>
            </a:pPr>
            <a:fld id="{49D9DCBF-A2C4-466D-AC01-6C049F6A0C92}" type="slidenum">
              <a:rPr lang="zh-CN" altLang="en-US"/>
              <a:pPr>
                <a:defRPr/>
              </a:pPr>
              <a:t>‹#›</a:t>
            </a:fld>
            <a:endParaRPr lang="zh-CN" altLang="en-US"/>
          </a:p>
        </p:txBody>
      </p:sp>
    </p:spTree>
    <p:extLst>
      <p:ext uri="{BB962C8B-B14F-4D97-AF65-F5344CB8AC3E}">
        <p14:creationId xmlns:p14="http://schemas.microsoft.com/office/powerpoint/2010/main" val="1482585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62B7952A-151A-3616-ECFD-3C545ECAD3CA}"/>
              </a:ext>
            </a:extLst>
          </p:cNvPr>
          <p:cNvSpPr>
            <a:spLocks noGrp="1"/>
          </p:cNvSpPr>
          <p:nvPr>
            <p:ph type="dt" sz="half" idx="10"/>
          </p:nvPr>
        </p:nvSpPr>
        <p:spPr/>
        <p:txBody>
          <a:bodyPr/>
          <a:lstStyle>
            <a:lvl1pPr>
              <a:defRPr/>
            </a:lvl1pPr>
          </a:lstStyle>
          <a:p>
            <a:pPr>
              <a:defRPr/>
            </a:pPr>
            <a:fld id="{68E9A9F5-ACE2-4097-9C94-BD4363CABE55}"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D12615CE-52D6-2A2F-9382-C677FE626A42}"/>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F6078A4D-E0B9-4F1E-CDB3-69EF3E7A3FF7}"/>
              </a:ext>
            </a:extLst>
          </p:cNvPr>
          <p:cNvSpPr>
            <a:spLocks noGrp="1"/>
          </p:cNvSpPr>
          <p:nvPr>
            <p:ph type="sldNum" sz="quarter" idx="12"/>
          </p:nvPr>
        </p:nvSpPr>
        <p:spPr/>
        <p:txBody>
          <a:bodyPr/>
          <a:lstStyle>
            <a:lvl1pPr>
              <a:defRPr/>
            </a:lvl1pPr>
          </a:lstStyle>
          <a:p>
            <a:pPr>
              <a:defRPr/>
            </a:pPr>
            <a:fld id="{C16CD739-C5A9-4044-B364-7349EF47E499}" type="slidenum">
              <a:rPr lang="zh-CN" altLang="en-US"/>
              <a:pPr>
                <a:defRPr/>
              </a:pPr>
              <a:t>‹#›</a:t>
            </a:fld>
            <a:endParaRPr lang="zh-CN" altLang="en-US"/>
          </a:p>
        </p:txBody>
      </p:sp>
    </p:spTree>
    <p:extLst>
      <p:ext uri="{BB962C8B-B14F-4D97-AF65-F5344CB8AC3E}">
        <p14:creationId xmlns:p14="http://schemas.microsoft.com/office/powerpoint/2010/main" val="197914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CFE36170-D6BB-9535-90CC-0A5FE94C8A8E}"/>
              </a:ext>
            </a:extLst>
          </p:cNvPr>
          <p:cNvSpPr>
            <a:spLocks noGrp="1"/>
          </p:cNvSpPr>
          <p:nvPr>
            <p:ph type="dt" sz="half" idx="10"/>
          </p:nvPr>
        </p:nvSpPr>
        <p:spPr/>
        <p:txBody>
          <a:bodyPr/>
          <a:lstStyle>
            <a:lvl1pPr>
              <a:defRPr/>
            </a:lvl1pPr>
          </a:lstStyle>
          <a:p>
            <a:pPr>
              <a:defRPr/>
            </a:pPr>
            <a:fld id="{206772D1-FDAC-4962-9A96-72BE2CC32234}"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B972D7A0-0D35-EEB9-7D66-8C8CDEEAB661}"/>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22A446C-2806-2EB7-E127-D503D89705E4}"/>
              </a:ext>
            </a:extLst>
          </p:cNvPr>
          <p:cNvSpPr>
            <a:spLocks noGrp="1"/>
          </p:cNvSpPr>
          <p:nvPr>
            <p:ph type="sldNum" sz="quarter" idx="12"/>
          </p:nvPr>
        </p:nvSpPr>
        <p:spPr/>
        <p:txBody>
          <a:bodyPr/>
          <a:lstStyle>
            <a:lvl1pPr>
              <a:defRPr/>
            </a:lvl1pPr>
          </a:lstStyle>
          <a:p>
            <a:pPr>
              <a:defRPr/>
            </a:pPr>
            <a:fld id="{C34475C9-E000-4449-9E02-43B875D16EAA}" type="slidenum">
              <a:rPr lang="zh-CN" altLang="en-US"/>
              <a:pPr>
                <a:defRPr/>
              </a:pPr>
              <a:t>‹#›</a:t>
            </a:fld>
            <a:endParaRPr lang="zh-CN" altLang="en-US"/>
          </a:p>
        </p:txBody>
      </p:sp>
    </p:spTree>
    <p:extLst>
      <p:ext uri="{BB962C8B-B14F-4D97-AF65-F5344CB8AC3E}">
        <p14:creationId xmlns:p14="http://schemas.microsoft.com/office/powerpoint/2010/main" val="2024749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0">
            <a:extLst>
              <a:ext uri="{FF2B5EF4-FFF2-40B4-BE49-F238E27FC236}">
                <a16:creationId xmlns:a16="http://schemas.microsoft.com/office/drawing/2014/main" id="{BD1678D6-98F6-7C15-8673-5AC90EBA16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7963" y="174625"/>
            <a:ext cx="2905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1524000" y="1122363"/>
            <a:ext cx="9144000" cy="2387600"/>
          </a:xfrm>
        </p:spPr>
        <p:txBody>
          <a:bodyPr anchor="b"/>
          <a:lstStyle>
            <a:lvl1pPr algn="ctr">
              <a:defRPr sz="6000">
                <a:latin typeface="黑体" panose="02010609060101010101" pitchFamily="49" charset="-122"/>
                <a:ea typeface="黑体" panose="02010609060101010101" pitchFamily="49" charset="-122"/>
              </a:defRPr>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黑体" panose="02010609060101010101" pitchFamily="49" charset="-122"/>
                <a:ea typeface="黑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5" name="日期占位符 3">
            <a:extLst>
              <a:ext uri="{FF2B5EF4-FFF2-40B4-BE49-F238E27FC236}">
                <a16:creationId xmlns:a16="http://schemas.microsoft.com/office/drawing/2014/main" id="{3BB3DC0F-38D2-F823-AFAE-491000A1467E}"/>
              </a:ext>
            </a:extLst>
          </p:cNvPr>
          <p:cNvSpPr>
            <a:spLocks noGrp="1"/>
          </p:cNvSpPr>
          <p:nvPr>
            <p:ph type="dt" sz="half" idx="10"/>
          </p:nvPr>
        </p:nvSpPr>
        <p:spPr/>
        <p:txBody>
          <a:bodyPr/>
          <a:lstStyle>
            <a:lvl1pPr>
              <a:defRPr/>
            </a:lvl1pPr>
          </a:lstStyle>
          <a:p>
            <a:pPr>
              <a:defRPr/>
            </a:pPr>
            <a:fld id="{DECF07C7-8915-4D04-81E1-DEE565059EA1}"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F6141B89-268A-A8EC-BB15-E47E781BA57E}"/>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5966E5B2-46C3-14C0-34C8-528598429AD7}"/>
              </a:ext>
            </a:extLst>
          </p:cNvPr>
          <p:cNvSpPr>
            <a:spLocks noGrp="1"/>
          </p:cNvSpPr>
          <p:nvPr>
            <p:ph type="sldNum" sz="quarter" idx="12"/>
          </p:nvPr>
        </p:nvSpPr>
        <p:spPr/>
        <p:txBody>
          <a:bodyPr/>
          <a:lstStyle>
            <a:lvl1pPr>
              <a:defRPr/>
            </a:lvl1pPr>
          </a:lstStyle>
          <a:p>
            <a:pPr>
              <a:defRPr/>
            </a:pPr>
            <a:fld id="{43612209-0A5E-42A9-AF33-61509646A382}" type="slidenum">
              <a:rPr lang="zh-CN" altLang="en-US"/>
              <a:pPr>
                <a:defRPr/>
              </a:pPr>
              <a:t>‹#›</a:t>
            </a:fld>
            <a:endParaRPr lang="zh-CN" altLang="en-US"/>
          </a:p>
        </p:txBody>
      </p:sp>
    </p:spTree>
    <p:extLst>
      <p:ext uri="{BB962C8B-B14F-4D97-AF65-F5344CB8AC3E}">
        <p14:creationId xmlns:p14="http://schemas.microsoft.com/office/powerpoint/2010/main" val="42439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A38F3D6-6A9E-24E4-EB45-D88A387B8150}"/>
              </a:ext>
            </a:extLst>
          </p:cNvPr>
          <p:cNvSpPr/>
          <p:nvPr/>
        </p:nvSpPr>
        <p:spPr>
          <a:xfrm>
            <a:off x="0" y="1389063"/>
            <a:ext cx="12192000" cy="46037"/>
          </a:xfrm>
          <a:prstGeom prst="rect">
            <a:avLst/>
          </a:prstGeom>
          <a:solidFill>
            <a:srgbClr val="C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 name="标题 1"/>
          <p:cNvSpPr>
            <a:spLocks noGrp="1"/>
          </p:cNvSpPr>
          <p:nvPr>
            <p:ph type="title"/>
          </p:nvPr>
        </p:nvSpPr>
        <p:spPr>
          <a:xfrm>
            <a:off x="838200" y="365126"/>
            <a:ext cx="10515600" cy="982908"/>
          </a:xfrm>
        </p:spPr>
        <p:txBody>
          <a:bodyPr>
            <a:normAutofit/>
          </a:bodyPr>
          <a:lstStyle>
            <a:lvl1pPr>
              <a:defRPr sz="3600">
                <a:latin typeface="黑体" panose="02010609060101010101" pitchFamily="49" charset="-122"/>
                <a:ea typeface="黑体" panose="02010609060101010101" pitchFamily="49" charset="-122"/>
              </a:defRPr>
            </a:lvl1pPr>
          </a:lstStyle>
          <a:p>
            <a:r>
              <a:rPr lang="zh-CN" altLang="en-US" noProof="1"/>
              <a:t>单击此处编辑母版标题样式</a:t>
            </a:r>
          </a:p>
        </p:txBody>
      </p:sp>
      <p:sp>
        <p:nvSpPr>
          <p:cNvPr id="3" name="内容占位符 2"/>
          <p:cNvSpPr>
            <a:spLocks noGrp="1"/>
          </p:cNvSpPr>
          <p:nvPr>
            <p:ph idx="1"/>
          </p:nvPr>
        </p:nvSpPr>
        <p:spPr>
          <a:xfrm>
            <a:off x="838200" y="1681315"/>
            <a:ext cx="10515600" cy="4495647"/>
          </a:xfrm>
        </p:spPr>
        <p:txBody>
          <a:bodyPr/>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01D9F977-2757-89A0-24E3-FC4E8CCA403F}"/>
              </a:ext>
            </a:extLst>
          </p:cNvPr>
          <p:cNvSpPr>
            <a:spLocks noGrp="1"/>
          </p:cNvSpPr>
          <p:nvPr>
            <p:ph type="dt" sz="half" idx="10"/>
          </p:nvPr>
        </p:nvSpPr>
        <p:spPr/>
        <p:txBody>
          <a:bodyPr/>
          <a:lstStyle>
            <a:lvl1pPr>
              <a:defRPr/>
            </a:lvl1pPr>
          </a:lstStyle>
          <a:p>
            <a:pPr>
              <a:defRPr/>
            </a:pPr>
            <a:fld id="{54890946-E42A-4C44-ABEA-A5B124CC4AF3}"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E44E7493-598E-28DC-61EA-CEB7A635ACA5}"/>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0790DB6-791E-FDD8-4D5E-ACE07186B96B}"/>
              </a:ext>
            </a:extLst>
          </p:cNvPr>
          <p:cNvSpPr>
            <a:spLocks noGrp="1"/>
          </p:cNvSpPr>
          <p:nvPr>
            <p:ph type="sldNum" sz="quarter" idx="12"/>
          </p:nvPr>
        </p:nvSpPr>
        <p:spPr/>
        <p:txBody>
          <a:bodyPr/>
          <a:lstStyle>
            <a:lvl1pPr>
              <a:defRPr/>
            </a:lvl1pPr>
          </a:lstStyle>
          <a:p>
            <a:pPr>
              <a:defRPr/>
            </a:pPr>
            <a:fld id="{066854B5-71E3-4A64-A1D3-CF5F2375ED4B}" type="slidenum">
              <a:rPr lang="zh-CN" altLang="en-US"/>
              <a:pPr>
                <a:defRPr/>
              </a:pPr>
              <a:t>‹#›</a:t>
            </a:fld>
            <a:endParaRPr lang="zh-CN" altLang="en-US"/>
          </a:p>
        </p:txBody>
      </p:sp>
    </p:spTree>
    <p:extLst>
      <p:ext uri="{BB962C8B-B14F-4D97-AF65-F5344CB8AC3E}">
        <p14:creationId xmlns:p14="http://schemas.microsoft.com/office/powerpoint/2010/main" val="402096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9002C536-CB15-5AD9-42BA-87F2FCB04DD1}"/>
              </a:ext>
            </a:extLst>
          </p:cNvPr>
          <p:cNvSpPr>
            <a:spLocks noGrp="1"/>
          </p:cNvSpPr>
          <p:nvPr>
            <p:ph type="dt" sz="half" idx="10"/>
          </p:nvPr>
        </p:nvSpPr>
        <p:spPr/>
        <p:txBody>
          <a:bodyPr/>
          <a:lstStyle>
            <a:lvl1pPr>
              <a:defRPr/>
            </a:lvl1pPr>
          </a:lstStyle>
          <a:p>
            <a:pPr>
              <a:defRPr/>
            </a:pPr>
            <a:fld id="{52FB3438-0042-47B7-949F-0EB44B096244}"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2DB39050-4209-233C-4DDB-5475EAAD1C8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C785505-6759-8D75-A615-02FD9946880A}"/>
              </a:ext>
            </a:extLst>
          </p:cNvPr>
          <p:cNvSpPr>
            <a:spLocks noGrp="1"/>
          </p:cNvSpPr>
          <p:nvPr>
            <p:ph type="sldNum" sz="quarter" idx="12"/>
          </p:nvPr>
        </p:nvSpPr>
        <p:spPr/>
        <p:txBody>
          <a:bodyPr/>
          <a:lstStyle>
            <a:lvl1pPr>
              <a:defRPr/>
            </a:lvl1pPr>
          </a:lstStyle>
          <a:p>
            <a:pPr>
              <a:defRPr/>
            </a:pPr>
            <a:fld id="{DA4529C9-E296-44C1-9AC9-7036286E1506}" type="slidenum">
              <a:rPr lang="zh-CN" altLang="en-US"/>
              <a:pPr>
                <a:defRPr/>
              </a:pPr>
              <a:t>‹#›</a:t>
            </a:fld>
            <a:endParaRPr lang="zh-CN" altLang="en-US"/>
          </a:p>
        </p:txBody>
      </p:sp>
    </p:spTree>
    <p:extLst>
      <p:ext uri="{BB962C8B-B14F-4D97-AF65-F5344CB8AC3E}">
        <p14:creationId xmlns:p14="http://schemas.microsoft.com/office/powerpoint/2010/main" val="4153972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43311BD3-87C6-01E1-8268-6EA762AE4935}"/>
              </a:ext>
            </a:extLst>
          </p:cNvPr>
          <p:cNvSpPr>
            <a:spLocks noGrp="1"/>
          </p:cNvSpPr>
          <p:nvPr>
            <p:ph type="dt" sz="half" idx="10"/>
          </p:nvPr>
        </p:nvSpPr>
        <p:spPr/>
        <p:txBody>
          <a:bodyPr/>
          <a:lstStyle>
            <a:lvl1pPr>
              <a:defRPr/>
            </a:lvl1pPr>
          </a:lstStyle>
          <a:p>
            <a:pPr>
              <a:defRPr/>
            </a:pPr>
            <a:fld id="{4FDCC171-BE81-4D55-BDAD-C4F3F31DDF3E}"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C38E6AFF-FCE8-CA0F-D62C-ABEEA18448A9}"/>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5703A22-DE8F-5CB6-319B-55C9EEA38A5E}"/>
              </a:ext>
            </a:extLst>
          </p:cNvPr>
          <p:cNvSpPr>
            <a:spLocks noGrp="1"/>
          </p:cNvSpPr>
          <p:nvPr>
            <p:ph type="sldNum" sz="quarter" idx="12"/>
          </p:nvPr>
        </p:nvSpPr>
        <p:spPr/>
        <p:txBody>
          <a:bodyPr/>
          <a:lstStyle>
            <a:lvl1pPr>
              <a:defRPr/>
            </a:lvl1pPr>
          </a:lstStyle>
          <a:p>
            <a:pPr>
              <a:defRPr/>
            </a:pPr>
            <a:fld id="{2437CAEB-DD31-45C3-AD0E-256ECE678737}" type="slidenum">
              <a:rPr lang="zh-CN" altLang="en-US"/>
              <a:pPr>
                <a:defRPr/>
              </a:pPr>
              <a:t>‹#›</a:t>
            </a:fld>
            <a:endParaRPr lang="zh-CN" altLang="en-US"/>
          </a:p>
        </p:txBody>
      </p:sp>
    </p:spTree>
    <p:extLst>
      <p:ext uri="{BB962C8B-B14F-4D97-AF65-F5344CB8AC3E}">
        <p14:creationId xmlns:p14="http://schemas.microsoft.com/office/powerpoint/2010/main" val="1707354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5AFFB234-C394-97DB-934B-6F52BDB02577}"/>
              </a:ext>
            </a:extLst>
          </p:cNvPr>
          <p:cNvSpPr>
            <a:spLocks noGrp="1"/>
          </p:cNvSpPr>
          <p:nvPr>
            <p:ph type="dt" sz="half" idx="10"/>
          </p:nvPr>
        </p:nvSpPr>
        <p:spPr/>
        <p:txBody>
          <a:bodyPr/>
          <a:lstStyle>
            <a:lvl1pPr>
              <a:defRPr/>
            </a:lvl1pPr>
          </a:lstStyle>
          <a:p>
            <a:pPr>
              <a:defRPr/>
            </a:pPr>
            <a:fld id="{A4674C1E-337B-40F9-B91A-C3326ECD17EC}" type="datetimeFigureOut">
              <a:rPr lang="zh-CN" altLang="en-US"/>
              <a:pPr>
                <a:defRPr/>
              </a:pPr>
              <a:t>2025/4/15</a:t>
            </a:fld>
            <a:endParaRPr lang="zh-CN" altLang="en-US"/>
          </a:p>
        </p:txBody>
      </p:sp>
      <p:sp>
        <p:nvSpPr>
          <p:cNvPr id="8" name="页脚占位符 4">
            <a:extLst>
              <a:ext uri="{FF2B5EF4-FFF2-40B4-BE49-F238E27FC236}">
                <a16:creationId xmlns:a16="http://schemas.microsoft.com/office/drawing/2014/main" id="{F2542F0D-58AC-AD2A-A912-F09727721C7B}"/>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168D256F-7570-7CFA-606D-AD7759410FC0}"/>
              </a:ext>
            </a:extLst>
          </p:cNvPr>
          <p:cNvSpPr>
            <a:spLocks noGrp="1"/>
          </p:cNvSpPr>
          <p:nvPr>
            <p:ph type="sldNum" sz="quarter" idx="12"/>
          </p:nvPr>
        </p:nvSpPr>
        <p:spPr/>
        <p:txBody>
          <a:bodyPr/>
          <a:lstStyle>
            <a:lvl1pPr>
              <a:defRPr/>
            </a:lvl1pPr>
          </a:lstStyle>
          <a:p>
            <a:pPr>
              <a:defRPr/>
            </a:pPr>
            <a:fld id="{D283255D-740D-4517-98C1-E86CA79BE0B8}" type="slidenum">
              <a:rPr lang="zh-CN" altLang="en-US"/>
              <a:pPr>
                <a:defRPr/>
              </a:pPr>
              <a:t>‹#›</a:t>
            </a:fld>
            <a:endParaRPr lang="zh-CN" altLang="en-US"/>
          </a:p>
        </p:txBody>
      </p:sp>
    </p:spTree>
    <p:extLst>
      <p:ext uri="{BB962C8B-B14F-4D97-AF65-F5344CB8AC3E}">
        <p14:creationId xmlns:p14="http://schemas.microsoft.com/office/powerpoint/2010/main" val="356920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5957EAA2-AA13-6F3B-02E4-3451E5D882CB}"/>
              </a:ext>
            </a:extLst>
          </p:cNvPr>
          <p:cNvSpPr>
            <a:spLocks noGrp="1"/>
          </p:cNvSpPr>
          <p:nvPr>
            <p:ph type="dt" sz="half" idx="10"/>
          </p:nvPr>
        </p:nvSpPr>
        <p:spPr/>
        <p:txBody>
          <a:bodyPr/>
          <a:lstStyle>
            <a:lvl1pPr>
              <a:defRPr/>
            </a:lvl1pPr>
          </a:lstStyle>
          <a:p>
            <a:pPr>
              <a:defRPr/>
            </a:pPr>
            <a:fld id="{379E8785-FC14-4137-BFFF-17D58024F145}" type="datetimeFigureOut">
              <a:rPr lang="zh-CN" altLang="en-US"/>
              <a:pPr>
                <a:defRPr/>
              </a:pPr>
              <a:t>2025/4/15</a:t>
            </a:fld>
            <a:endParaRPr lang="zh-CN" altLang="en-US"/>
          </a:p>
        </p:txBody>
      </p:sp>
      <p:sp>
        <p:nvSpPr>
          <p:cNvPr id="4" name="页脚占位符 4">
            <a:extLst>
              <a:ext uri="{FF2B5EF4-FFF2-40B4-BE49-F238E27FC236}">
                <a16:creationId xmlns:a16="http://schemas.microsoft.com/office/drawing/2014/main" id="{83E98759-C799-2701-6F36-BB2AEF187EF1}"/>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1842954F-A515-9F98-0C13-2ACD0C5BB91D}"/>
              </a:ext>
            </a:extLst>
          </p:cNvPr>
          <p:cNvSpPr>
            <a:spLocks noGrp="1"/>
          </p:cNvSpPr>
          <p:nvPr>
            <p:ph type="sldNum" sz="quarter" idx="12"/>
          </p:nvPr>
        </p:nvSpPr>
        <p:spPr/>
        <p:txBody>
          <a:bodyPr/>
          <a:lstStyle>
            <a:lvl1pPr>
              <a:defRPr/>
            </a:lvl1pPr>
          </a:lstStyle>
          <a:p>
            <a:pPr>
              <a:defRPr/>
            </a:pPr>
            <a:fld id="{7BFE6127-23AC-40A2-B390-52E8C0D9E0BC}" type="slidenum">
              <a:rPr lang="zh-CN" altLang="en-US"/>
              <a:pPr>
                <a:defRPr/>
              </a:pPr>
              <a:t>‹#›</a:t>
            </a:fld>
            <a:endParaRPr lang="zh-CN" altLang="en-US"/>
          </a:p>
        </p:txBody>
      </p:sp>
    </p:spTree>
    <p:extLst>
      <p:ext uri="{BB962C8B-B14F-4D97-AF65-F5344CB8AC3E}">
        <p14:creationId xmlns:p14="http://schemas.microsoft.com/office/powerpoint/2010/main" val="40892641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4C2CAF1A-FEFD-1FEC-195E-FDA328D946B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7963" y="174625"/>
            <a:ext cx="29051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1">
            <a:extLst>
              <a:ext uri="{FF2B5EF4-FFF2-40B4-BE49-F238E27FC236}">
                <a16:creationId xmlns:a16="http://schemas.microsoft.com/office/drawing/2014/main" id="{FA0FC46C-7837-5837-B97F-9B86A667273E}"/>
              </a:ext>
            </a:extLst>
          </p:cNvPr>
          <p:cNvSpPr>
            <a:spLocks noGrp="1"/>
          </p:cNvSpPr>
          <p:nvPr>
            <p:ph type="dt" sz="half" idx="10"/>
          </p:nvPr>
        </p:nvSpPr>
        <p:spPr/>
        <p:txBody>
          <a:bodyPr/>
          <a:lstStyle>
            <a:lvl1pPr>
              <a:defRPr/>
            </a:lvl1pPr>
          </a:lstStyle>
          <a:p>
            <a:pPr>
              <a:defRPr/>
            </a:pPr>
            <a:fld id="{69F3F13D-C966-4308-9F48-CA8CF30F22AA}" type="datetimeFigureOut">
              <a:rPr lang="zh-CN" altLang="en-US"/>
              <a:pPr>
                <a:defRPr/>
              </a:pPr>
              <a:t>2025/4/15</a:t>
            </a:fld>
            <a:endParaRPr lang="zh-CN" altLang="en-US"/>
          </a:p>
        </p:txBody>
      </p:sp>
      <p:sp>
        <p:nvSpPr>
          <p:cNvPr id="4" name="页脚占位符 2">
            <a:extLst>
              <a:ext uri="{FF2B5EF4-FFF2-40B4-BE49-F238E27FC236}">
                <a16:creationId xmlns:a16="http://schemas.microsoft.com/office/drawing/2014/main" id="{A8157CB7-AD08-0E68-1EFB-1101467A846C}"/>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3">
            <a:extLst>
              <a:ext uri="{FF2B5EF4-FFF2-40B4-BE49-F238E27FC236}">
                <a16:creationId xmlns:a16="http://schemas.microsoft.com/office/drawing/2014/main" id="{0B881688-A359-FD8B-5AA7-7829CC1AA6AD}"/>
              </a:ext>
            </a:extLst>
          </p:cNvPr>
          <p:cNvSpPr>
            <a:spLocks noGrp="1"/>
          </p:cNvSpPr>
          <p:nvPr>
            <p:ph type="sldNum" sz="quarter" idx="12"/>
          </p:nvPr>
        </p:nvSpPr>
        <p:spPr/>
        <p:txBody>
          <a:bodyPr/>
          <a:lstStyle>
            <a:lvl1pPr>
              <a:defRPr/>
            </a:lvl1pPr>
          </a:lstStyle>
          <a:p>
            <a:pPr>
              <a:defRPr/>
            </a:pPr>
            <a:fld id="{1C9098AC-F969-4835-B423-E615678C9375}" type="slidenum">
              <a:rPr lang="zh-CN" altLang="en-US"/>
              <a:pPr>
                <a:defRPr/>
              </a:pPr>
              <a:t>‹#›</a:t>
            </a:fld>
            <a:endParaRPr lang="zh-CN" altLang="en-US"/>
          </a:p>
        </p:txBody>
      </p:sp>
    </p:spTree>
    <p:extLst>
      <p:ext uri="{BB962C8B-B14F-4D97-AF65-F5344CB8AC3E}">
        <p14:creationId xmlns:p14="http://schemas.microsoft.com/office/powerpoint/2010/main" val="2702996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500BA8A5-7DB9-4304-29E5-434315072F27}"/>
              </a:ext>
            </a:extLst>
          </p:cNvPr>
          <p:cNvSpPr>
            <a:spLocks noGrp="1"/>
          </p:cNvSpPr>
          <p:nvPr>
            <p:ph type="dt" sz="half" idx="10"/>
          </p:nvPr>
        </p:nvSpPr>
        <p:spPr/>
        <p:txBody>
          <a:bodyPr/>
          <a:lstStyle>
            <a:lvl1pPr>
              <a:defRPr/>
            </a:lvl1pPr>
          </a:lstStyle>
          <a:p>
            <a:pPr>
              <a:defRPr/>
            </a:pPr>
            <a:fld id="{315AED90-3265-4CE1-83D7-6C6BDDF1E19D}"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3664D1CB-18FB-11E6-716F-36DF362E51BC}"/>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778B7BF-084D-BDF2-7B60-C456ECC1268F}"/>
              </a:ext>
            </a:extLst>
          </p:cNvPr>
          <p:cNvSpPr>
            <a:spLocks noGrp="1"/>
          </p:cNvSpPr>
          <p:nvPr>
            <p:ph type="sldNum" sz="quarter" idx="12"/>
          </p:nvPr>
        </p:nvSpPr>
        <p:spPr/>
        <p:txBody>
          <a:bodyPr/>
          <a:lstStyle>
            <a:lvl1pPr>
              <a:defRPr/>
            </a:lvl1pPr>
          </a:lstStyle>
          <a:p>
            <a:pPr>
              <a:defRPr/>
            </a:pPr>
            <a:fld id="{FD9E775F-72BE-4807-928D-6CBF600658D4}" type="slidenum">
              <a:rPr lang="zh-CN" altLang="en-US"/>
              <a:pPr>
                <a:defRPr/>
              </a:pPr>
              <a:t>‹#›</a:t>
            </a:fld>
            <a:endParaRPr lang="zh-CN" altLang="en-US"/>
          </a:p>
        </p:txBody>
      </p:sp>
    </p:spTree>
    <p:extLst>
      <p:ext uri="{BB962C8B-B14F-4D97-AF65-F5344CB8AC3E}">
        <p14:creationId xmlns:p14="http://schemas.microsoft.com/office/powerpoint/2010/main" val="734110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BBD86B5C-8490-F572-7191-46C0AF0D35C9}"/>
              </a:ext>
            </a:extLst>
          </p:cNvPr>
          <p:cNvSpPr>
            <a:spLocks noGrp="1"/>
          </p:cNvSpPr>
          <p:nvPr>
            <p:ph type="dt" sz="half" idx="10"/>
          </p:nvPr>
        </p:nvSpPr>
        <p:spPr/>
        <p:txBody>
          <a:bodyPr/>
          <a:lstStyle>
            <a:lvl1pPr>
              <a:defRPr/>
            </a:lvl1pPr>
          </a:lstStyle>
          <a:p>
            <a:pPr>
              <a:defRPr/>
            </a:pPr>
            <a:fld id="{8C738155-36D5-4FE4-A176-3B57E28A5647}" type="datetimeFigureOut">
              <a:rPr lang="zh-CN" altLang="en-US"/>
              <a:pPr>
                <a:defRPr/>
              </a:pPr>
              <a:t>2025/4/15</a:t>
            </a:fld>
            <a:endParaRPr lang="zh-CN" altLang="en-US"/>
          </a:p>
        </p:txBody>
      </p:sp>
      <p:sp>
        <p:nvSpPr>
          <p:cNvPr id="6" name="页脚占位符 4">
            <a:extLst>
              <a:ext uri="{FF2B5EF4-FFF2-40B4-BE49-F238E27FC236}">
                <a16:creationId xmlns:a16="http://schemas.microsoft.com/office/drawing/2014/main" id="{1DDBD9A2-0D19-8DAB-5A5F-011207A3878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2BB4F19B-7AB3-54A0-4173-101BF595EE56}"/>
              </a:ext>
            </a:extLst>
          </p:cNvPr>
          <p:cNvSpPr>
            <a:spLocks noGrp="1"/>
          </p:cNvSpPr>
          <p:nvPr>
            <p:ph type="sldNum" sz="quarter" idx="12"/>
          </p:nvPr>
        </p:nvSpPr>
        <p:spPr/>
        <p:txBody>
          <a:bodyPr/>
          <a:lstStyle>
            <a:lvl1pPr>
              <a:defRPr/>
            </a:lvl1pPr>
          </a:lstStyle>
          <a:p>
            <a:pPr>
              <a:defRPr/>
            </a:pPr>
            <a:fld id="{6B1B29AC-FE57-4E54-BB20-A1C45FCE3C05}" type="slidenum">
              <a:rPr lang="zh-CN" altLang="en-US"/>
              <a:pPr>
                <a:defRPr/>
              </a:pPr>
              <a:t>‹#›</a:t>
            </a:fld>
            <a:endParaRPr lang="zh-CN" altLang="en-US"/>
          </a:p>
        </p:txBody>
      </p:sp>
    </p:spTree>
    <p:extLst>
      <p:ext uri="{BB962C8B-B14F-4D97-AF65-F5344CB8AC3E}">
        <p14:creationId xmlns:p14="http://schemas.microsoft.com/office/powerpoint/2010/main" val="15799859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7837DDD9-E6EF-B070-BA5C-CA82B839BF39}"/>
              </a:ext>
            </a:extLst>
          </p:cNvPr>
          <p:cNvSpPr>
            <a:spLocks noGrp="1"/>
          </p:cNvSpPr>
          <p:nvPr>
            <p:ph type="dt" sz="half" idx="10"/>
          </p:nvPr>
        </p:nvSpPr>
        <p:spPr/>
        <p:txBody>
          <a:bodyPr/>
          <a:lstStyle>
            <a:lvl1pPr>
              <a:defRPr/>
            </a:lvl1pPr>
          </a:lstStyle>
          <a:p>
            <a:pPr>
              <a:defRPr/>
            </a:pPr>
            <a:fld id="{1CBDA20B-4AE1-4445-9611-2687F2B43D97}"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6C2CC3DC-1C14-CCB4-0465-8C5093FC530C}"/>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83F18E6-FE7B-18A2-7376-7E80CBE5DD8F}"/>
              </a:ext>
            </a:extLst>
          </p:cNvPr>
          <p:cNvSpPr>
            <a:spLocks noGrp="1"/>
          </p:cNvSpPr>
          <p:nvPr>
            <p:ph type="sldNum" sz="quarter" idx="12"/>
          </p:nvPr>
        </p:nvSpPr>
        <p:spPr/>
        <p:txBody>
          <a:bodyPr/>
          <a:lstStyle>
            <a:lvl1pPr>
              <a:defRPr/>
            </a:lvl1pPr>
          </a:lstStyle>
          <a:p>
            <a:pPr>
              <a:defRPr/>
            </a:pPr>
            <a:fld id="{E65FD1AA-7A74-40C6-89EA-297010782687}" type="slidenum">
              <a:rPr lang="zh-CN" altLang="en-US"/>
              <a:pPr>
                <a:defRPr/>
              </a:pPr>
              <a:t>‹#›</a:t>
            </a:fld>
            <a:endParaRPr lang="zh-CN" altLang="en-US"/>
          </a:p>
        </p:txBody>
      </p:sp>
    </p:spTree>
    <p:extLst>
      <p:ext uri="{BB962C8B-B14F-4D97-AF65-F5344CB8AC3E}">
        <p14:creationId xmlns:p14="http://schemas.microsoft.com/office/powerpoint/2010/main" val="3820273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F519767D-13DB-E5EE-F328-A7ABC9D20C84}"/>
              </a:ext>
            </a:extLst>
          </p:cNvPr>
          <p:cNvSpPr>
            <a:spLocks noGrp="1"/>
          </p:cNvSpPr>
          <p:nvPr>
            <p:ph type="dt" sz="half" idx="10"/>
          </p:nvPr>
        </p:nvSpPr>
        <p:spPr/>
        <p:txBody>
          <a:bodyPr/>
          <a:lstStyle>
            <a:lvl1pPr>
              <a:defRPr/>
            </a:lvl1pPr>
          </a:lstStyle>
          <a:p>
            <a:pPr>
              <a:defRPr/>
            </a:pPr>
            <a:fld id="{E3814095-6F91-4F55-9A2B-C514D44A3EF7}"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D8D6218B-886A-5432-FE79-365402A5F20E}"/>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1BC12DF-7BB6-3791-1CA2-0F26CA3A827A}"/>
              </a:ext>
            </a:extLst>
          </p:cNvPr>
          <p:cNvSpPr>
            <a:spLocks noGrp="1"/>
          </p:cNvSpPr>
          <p:nvPr>
            <p:ph type="sldNum" sz="quarter" idx="12"/>
          </p:nvPr>
        </p:nvSpPr>
        <p:spPr/>
        <p:txBody>
          <a:bodyPr/>
          <a:lstStyle>
            <a:lvl1pPr>
              <a:defRPr/>
            </a:lvl1pPr>
          </a:lstStyle>
          <a:p>
            <a:pPr>
              <a:defRPr/>
            </a:pPr>
            <a:fld id="{F4897505-6FE9-4F4C-8D80-577B359497B0}" type="slidenum">
              <a:rPr lang="zh-CN" altLang="en-US"/>
              <a:pPr>
                <a:defRPr/>
              </a:pPr>
              <a:t>‹#›</a:t>
            </a:fld>
            <a:endParaRPr lang="zh-CN" altLang="en-US"/>
          </a:p>
        </p:txBody>
      </p:sp>
    </p:spTree>
    <p:extLst>
      <p:ext uri="{BB962C8B-B14F-4D97-AF65-F5344CB8AC3E}">
        <p14:creationId xmlns:p14="http://schemas.microsoft.com/office/powerpoint/2010/main" val="526575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284E294B-939F-0928-7EFE-28E8DCA78477}"/>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4F011A8A-8DDA-ABB4-903D-DF78E26DA5BA}"/>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51ED500-BEA7-7BD0-748D-C5C2A858C3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FD854A51-D3CA-481F-9A7D-B9D3AAC30151}"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B61C7636-8E31-7378-874A-6A53EF9FC4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3B65BE53-B0A8-D51C-4B5E-2BDA9A337460}"/>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911FAFD4-4F53-492F-8B08-1D266BDF669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088" r:id="rId3"/>
    <p:sldLayoutId id="2147484089" r:id="rId4"/>
    <p:sldLayoutId id="2147484090" r:id="rId5"/>
    <p:sldLayoutId id="2147484091" r:id="rId6"/>
    <p:sldLayoutId id="2147484106" r:id="rId7"/>
    <p:sldLayoutId id="2147484092" r:id="rId8"/>
    <p:sldLayoutId id="2147484093" r:id="rId9"/>
    <p:sldLayoutId id="2147484094" r:id="rId10"/>
    <p:sldLayoutId id="2147484095"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AFED8573-CAA4-2225-21A0-3C11E34A93A5}"/>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文本占位符 2">
            <a:extLst>
              <a:ext uri="{FF2B5EF4-FFF2-40B4-BE49-F238E27FC236}">
                <a16:creationId xmlns:a16="http://schemas.microsoft.com/office/drawing/2014/main" id="{49ABFF69-836B-4A0B-9619-CE19684E0BD7}"/>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41CCAFC-BCD5-A9C4-0134-BFD0278363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CFF8C1DF-F0D2-43C9-8316-AB7EA10D3BB9}" type="datetimeFigureOut">
              <a:rPr lang="zh-CN" altLang="en-US"/>
              <a:pPr>
                <a:defRPr/>
              </a:pPr>
              <a:t>2025/4/15</a:t>
            </a:fld>
            <a:endParaRPr lang="zh-CN" altLang="en-US"/>
          </a:p>
        </p:txBody>
      </p:sp>
      <p:sp>
        <p:nvSpPr>
          <p:cNvPr id="5" name="页脚占位符 4">
            <a:extLst>
              <a:ext uri="{FF2B5EF4-FFF2-40B4-BE49-F238E27FC236}">
                <a16:creationId xmlns:a16="http://schemas.microsoft.com/office/drawing/2014/main" id="{C62B2E3B-DA31-813E-4A5A-EC61395798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98608CAD-C078-4337-E8A6-937142F58574}"/>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0CBDD8DD-1BD5-4462-B3FC-54F0580F7DA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107" r:id="rId1"/>
    <p:sldLayoutId id="2147484108" r:id="rId2"/>
    <p:sldLayoutId id="2147484096" r:id="rId3"/>
    <p:sldLayoutId id="2147484097" r:id="rId4"/>
    <p:sldLayoutId id="2147484098" r:id="rId5"/>
    <p:sldLayoutId id="2147484099" r:id="rId6"/>
    <p:sldLayoutId id="2147484109" r:id="rId7"/>
    <p:sldLayoutId id="2147484100" r:id="rId8"/>
    <p:sldLayoutId id="2147484101" r:id="rId9"/>
    <p:sldLayoutId id="2147484102" r:id="rId10"/>
    <p:sldLayoutId id="214748410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oleObject" Target="../embeddings/oleObject2.bin"/><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3.bin"/><Relationship Id="rId1" Type="http://schemas.openxmlformats.org/officeDocument/2006/relationships/slideLayout" Target="../slideLayouts/slideLayout13.xml"/><Relationship Id="rId6" Type="http://schemas.openxmlformats.org/officeDocument/2006/relationships/oleObject" Target="../embeddings/oleObject5.bin"/><Relationship Id="rId11" Type="http://schemas.openxmlformats.org/officeDocument/2006/relationships/image" Target="../media/image16.png"/><Relationship Id="rId5" Type="http://schemas.openxmlformats.org/officeDocument/2006/relationships/image" Target="../media/image12.wmf"/><Relationship Id="rId10" Type="http://schemas.openxmlformats.org/officeDocument/2006/relationships/image" Target="../media/image15.png"/><Relationship Id="rId4" Type="http://schemas.openxmlformats.org/officeDocument/2006/relationships/oleObject" Target="../embeddings/oleObject4.bin"/><Relationship Id="rId9" Type="http://schemas.openxmlformats.org/officeDocument/2006/relationships/image" Target="../media/image14.wmf"/></Relationships>
</file>

<file path=ppt/slides/_rels/slide8.xml.rels><?xml version="1.0" encoding="UTF-8" standalone="yes"?>
<Relationships xmlns="http://schemas.openxmlformats.org/package/2006/relationships"><Relationship Id="rId8" Type="http://schemas.openxmlformats.org/officeDocument/2006/relationships/image" Target="../media/image20.gif"/><Relationship Id="rId3" Type="http://schemas.openxmlformats.org/officeDocument/2006/relationships/image" Target="../media/image17.emf"/><Relationship Id="rId7" Type="http://schemas.openxmlformats.org/officeDocument/2006/relationships/image" Target="../media/image19.wmf"/><Relationship Id="rId2" Type="http://schemas.openxmlformats.org/officeDocument/2006/relationships/oleObject" Target="../embeddings/oleObject7.bin"/><Relationship Id="rId1" Type="http://schemas.openxmlformats.org/officeDocument/2006/relationships/slideLayout" Target="../slideLayouts/slideLayout13.xml"/><Relationship Id="rId6" Type="http://schemas.openxmlformats.org/officeDocument/2006/relationships/oleObject" Target="../embeddings/oleObject9.bin"/><Relationship Id="rId5" Type="http://schemas.openxmlformats.org/officeDocument/2006/relationships/image" Target="../media/image18.emf"/><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0.bin"/><Relationship Id="rId1" Type="http://schemas.openxmlformats.org/officeDocument/2006/relationships/slideLayout" Target="../slideLayouts/slideLayout13.xml"/><Relationship Id="rId6" Type="http://schemas.openxmlformats.org/officeDocument/2006/relationships/oleObject" Target="../embeddings/oleObject12.bin"/><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oleObject" Target="../embeddings/oleObject14.bin"/><Relationship Id="rId18" Type="http://schemas.openxmlformats.org/officeDocument/2006/relationships/image" Target="../media/image36.wmf"/><Relationship Id="rId3" Type="http://schemas.openxmlformats.org/officeDocument/2006/relationships/image" Target="../media/image24.wmf"/><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oleObject" Target="../embeddings/oleObject16.bin"/><Relationship Id="rId2" Type="http://schemas.openxmlformats.org/officeDocument/2006/relationships/oleObject" Target="../embeddings/oleObject13.bin"/><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slideLayout" Target="../slideLayouts/slideLayout13.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oleObject" Target="../embeddings/oleObject15.bin"/><Relationship Id="rId10" Type="http://schemas.openxmlformats.org/officeDocument/2006/relationships/image" Target="../media/image31.png"/><Relationship Id="rId19" Type="http://schemas.openxmlformats.org/officeDocument/2006/relationships/oleObject" Target="../embeddings/oleObject17.bin"/><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4.wmf"/></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8.bin"/><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19.bin"/><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52.wmf"/><Relationship Id="rId18" Type="http://schemas.openxmlformats.org/officeDocument/2006/relationships/oleObject" Target="../embeddings/oleObject28.bin"/><Relationship Id="rId3" Type="http://schemas.openxmlformats.org/officeDocument/2006/relationships/image" Target="../media/image47.wmf"/><Relationship Id="rId21" Type="http://schemas.openxmlformats.org/officeDocument/2006/relationships/image" Target="../media/image56.wmf"/><Relationship Id="rId7" Type="http://schemas.openxmlformats.org/officeDocument/2006/relationships/image" Target="../media/image49.wmf"/><Relationship Id="rId12" Type="http://schemas.openxmlformats.org/officeDocument/2006/relationships/oleObject" Target="../embeddings/oleObject25.bin"/><Relationship Id="rId17" Type="http://schemas.openxmlformats.org/officeDocument/2006/relationships/image" Target="../media/image54.wmf"/><Relationship Id="rId2" Type="http://schemas.openxmlformats.org/officeDocument/2006/relationships/oleObject" Target="../embeddings/oleObject20.bin"/><Relationship Id="rId16" Type="http://schemas.openxmlformats.org/officeDocument/2006/relationships/oleObject" Target="../embeddings/oleObject27.bin"/><Relationship Id="rId20"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oleObject" Target="../embeddings/oleObject22.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image" Target="../media/image53.wmf"/><Relationship Id="rId23" Type="http://schemas.openxmlformats.org/officeDocument/2006/relationships/image" Target="../media/image57.wmf"/><Relationship Id="rId10" Type="http://schemas.openxmlformats.org/officeDocument/2006/relationships/oleObject" Target="../embeddings/oleObject24.bin"/><Relationship Id="rId19" Type="http://schemas.openxmlformats.org/officeDocument/2006/relationships/image" Target="../media/image55.wmf"/><Relationship Id="rId4" Type="http://schemas.openxmlformats.org/officeDocument/2006/relationships/oleObject" Target="../embeddings/oleObject21.bin"/><Relationship Id="rId9" Type="http://schemas.openxmlformats.org/officeDocument/2006/relationships/image" Target="../media/image50.wmf"/><Relationship Id="rId14" Type="http://schemas.openxmlformats.org/officeDocument/2006/relationships/oleObject" Target="../embeddings/oleObject26.bin"/><Relationship Id="rId22" Type="http://schemas.openxmlformats.org/officeDocument/2006/relationships/oleObject" Target="../embeddings/oleObject30.bin"/></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文本框 69">
            <a:extLst>
              <a:ext uri="{FF2B5EF4-FFF2-40B4-BE49-F238E27FC236}">
                <a16:creationId xmlns:a16="http://schemas.microsoft.com/office/drawing/2014/main" id="{D273DAE9-3BDE-9283-DDC2-F4E408A63722}"/>
              </a:ext>
            </a:extLst>
          </p:cNvPr>
          <p:cNvSpPr txBox="1">
            <a:spLocks noChangeArrowheads="1"/>
          </p:cNvSpPr>
          <p:nvPr/>
        </p:nvSpPr>
        <p:spPr bwMode="auto">
          <a:xfrm>
            <a:off x="3924300" y="2409825"/>
            <a:ext cx="32623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0"/>
              </a:spcBef>
              <a:buFontTx/>
              <a:buNone/>
            </a:pPr>
            <a:r>
              <a:rPr lang="zh-CN" altLang="en-US" sz="4800">
                <a:latin typeface="黑体" panose="02010609060101010101" pitchFamily="49" charset="-122"/>
                <a:ea typeface="黑体" panose="02010609060101010101" pitchFamily="49" charset="-122"/>
              </a:rPr>
              <a:t>声速的测定</a:t>
            </a:r>
          </a:p>
        </p:txBody>
      </p:sp>
      <p:graphicFrame>
        <p:nvGraphicFramePr>
          <p:cNvPr id="9219" name="Object 6">
            <a:extLst>
              <a:ext uri="{FF2B5EF4-FFF2-40B4-BE49-F238E27FC236}">
                <a16:creationId xmlns:a16="http://schemas.microsoft.com/office/drawing/2014/main" id="{1FA1D610-C08A-1BDF-80F2-C9E49DC5E6D8}"/>
              </a:ext>
            </a:extLst>
          </p:cNvPr>
          <p:cNvGraphicFramePr>
            <a:graphicFrameLocks noChangeAspect="1"/>
          </p:cNvGraphicFramePr>
          <p:nvPr/>
        </p:nvGraphicFramePr>
        <p:xfrm>
          <a:off x="8162925" y="260350"/>
          <a:ext cx="1905000" cy="635000"/>
        </p:xfrm>
        <a:graphic>
          <a:graphicData uri="http://schemas.openxmlformats.org/presentationml/2006/ole">
            <mc:AlternateContent xmlns:mc="http://schemas.openxmlformats.org/markup-compatibility/2006">
              <mc:Choice xmlns:v="urn:schemas-microsoft-com:vml" Requires="v">
                <p:oleObj r:id="rId3" imgW="1904762" imgH="634697" progId="Photoshop.Image.12">
                  <p:embed/>
                </p:oleObj>
              </mc:Choice>
              <mc:Fallback>
                <p:oleObj r:id="rId3" imgW="1904762" imgH="634697" progId="Photoshop.Image.1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925" y="26035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20" name="Object 8">
            <a:extLst>
              <a:ext uri="{FF2B5EF4-FFF2-40B4-BE49-F238E27FC236}">
                <a16:creationId xmlns:a16="http://schemas.microsoft.com/office/drawing/2014/main" id="{A8685443-1E2B-FAD7-10F1-38B2C570C6D7}"/>
              </a:ext>
            </a:extLst>
          </p:cNvPr>
          <p:cNvGraphicFramePr>
            <a:graphicFrameLocks noChangeAspect="1"/>
          </p:cNvGraphicFramePr>
          <p:nvPr/>
        </p:nvGraphicFramePr>
        <p:xfrm>
          <a:off x="6230938" y="260350"/>
          <a:ext cx="1905000" cy="635000"/>
        </p:xfrm>
        <a:graphic>
          <a:graphicData uri="http://schemas.openxmlformats.org/presentationml/2006/ole">
            <mc:AlternateContent xmlns:mc="http://schemas.openxmlformats.org/markup-compatibility/2006">
              <mc:Choice xmlns:v="urn:schemas-microsoft-com:vml" Requires="v">
                <p:oleObj r:id="rId5" imgW="1904762" imgH="634697" progId="Photoshop.Image.12">
                  <p:embed/>
                </p:oleObj>
              </mc:Choice>
              <mc:Fallback>
                <p:oleObj r:id="rId5" imgW="1904762" imgH="634697" progId="Photoshop.Image.12">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0938" y="26035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221" name="Picture 287">
            <a:extLst>
              <a:ext uri="{FF2B5EF4-FFF2-40B4-BE49-F238E27FC236}">
                <a16:creationId xmlns:a16="http://schemas.microsoft.com/office/drawing/2014/main" id="{2E087239-3376-27D6-D455-FA067A032D2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91738" y="258763"/>
            <a:ext cx="1684337"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3">
            <a:extLst>
              <a:ext uri="{FF2B5EF4-FFF2-40B4-BE49-F238E27FC236}">
                <a16:creationId xmlns:a16="http://schemas.microsoft.com/office/drawing/2014/main" id="{65E08FE7-7E87-D1D0-C85B-F48561C2F405}"/>
              </a:ext>
            </a:extLst>
          </p:cNvPr>
          <p:cNvSpPr txBox="1">
            <a:spLocks noChangeArrowheads="1"/>
          </p:cNvSpPr>
          <p:nvPr/>
        </p:nvSpPr>
        <p:spPr bwMode="auto">
          <a:xfrm>
            <a:off x="1603375" y="3814763"/>
            <a:ext cx="7904163"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40000"/>
              </a:lnSpc>
              <a:spcBef>
                <a:spcPct val="0"/>
              </a:spcBef>
              <a:buFont typeface="Arial" panose="020B0604020202020204" pitchFamily="34" charset="0"/>
              <a:buNone/>
            </a:pPr>
            <a:r>
              <a:rPr lang="zh-CN" altLang="zh-CN" sz="2400" dirty="0">
                <a:latin typeface="黑体" panose="02010609060101010101" pitchFamily="49" charset="-122"/>
                <a:ea typeface="黑体" panose="02010609060101010101" pitchFamily="49" charset="-122"/>
              </a:rPr>
              <a:t>物理学院</a:t>
            </a:r>
            <a:endParaRPr lang="en-US" altLang="zh-CN" sz="2400" dirty="0">
              <a:latin typeface="黑体" panose="02010609060101010101" pitchFamily="49" charset="-122"/>
              <a:ea typeface="黑体" panose="02010609060101010101" pitchFamily="49" charset="-122"/>
            </a:endParaRPr>
          </a:p>
          <a:p>
            <a:pPr algn="ctr" eaLnBrk="1" hangingPunct="1">
              <a:lnSpc>
                <a:spcPct val="140000"/>
              </a:lnSpc>
              <a:spcBef>
                <a:spcPct val="0"/>
              </a:spcBef>
              <a:buFont typeface="Arial" panose="020B0604020202020204" pitchFamily="34" charset="0"/>
              <a:buNone/>
            </a:pPr>
            <a:r>
              <a:rPr lang="zh-CN" altLang="zh-CN" sz="2400" dirty="0">
                <a:latin typeface="黑体" panose="02010609060101010101" pitchFamily="49" charset="-122"/>
                <a:ea typeface="黑体" panose="02010609060101010101" pitchFamily="49" charset="-122"/>
              </a:rPr>
              <a:t>实验物理</a:t>
            </a:r>
            <a:r>
              <a:rPr lang="zh-CN" altLang="en-US" sz="2400" dirty="0">
                <a:latin typeface="黑体" panose="02010609060101010101" pitchFamily="49" charset="-122"/>
                <a:ea typeface="黑体" panose="02010609060101010101" pitchFamily="49" charset="-122"/>
              </a:rPr>
              <a:t>教学部</a:t>
            </a:r>
            <a:endParaRPr lang="en-US" altLang="zh-CN" sz="2400" dirty="0">
              <a:latin typeface="黑体" panose="02010609060101010101" pitchFamily="49" charset="-122"/>
              <a:ea typeface="黑体" panose="02010609060101010101" pitchFamily="49" charset="-122"/>
            </a:endParaRPr>
          </a:p>
          <a:p>
            <a:pPr algn="ctr" eaLnBrk="1" hangingPunct="1">
              <a:lnSpc>
                <a:spcPct val="140000"/>
              </a:lnSpc>
              <a:spcBef>
                <a:spcPct val="0"/>
              </a:spcBef>
              <a:buFont typeface="Arial" panose="020B0604020202020204" pitchFamily="34" charset="0"/>
              <a:buNone/>
            </a:pPr>
            <a:endParaRPr lang="en-US" altLang="zh-CN" sz="2400" dirty="0">
              <a:latin typeface="黑体" panose="02010609060101010101" pitchFamily="49" charset="-122"/>
              <a:ea typeface="黑体" panose="02010609060101010101" pitchFamily="49" charset="-122"/>
            </a:endParaRPr>
          </a:p>
          <a:p>
            <a:pPr algn="ctr" eaLnBrk="1" hangingPunct="1">
              <a:lnSpc>
                <a:spcPct val="140000"/>
              </a:lnSpc>
              <a:spcBef>
                <a:spcPct val="0"/>
              </a:spcBef>
              <a:buFont typeface="Arial" panose="020B0604020202020204" pitchFamily="34" charset="0"/>
              <a:buNone/>
            </a:pPr>
            <a:r>
              <a:rPr lang="en-US" altLang="zh-CN" sz="2400" dirty="0">
                <a:latin typeface="黑体" panose="02010609060101010101" pitchFamily="49" charset="-122"/>
                <a:ea typeface="黑体" panose="02010609060101010101" pitchFamily="49" charset="-122"/>
              </a:rPr>
              <a:t>(2025</a:t>
            </a:r>
            <a:r>
              <a:rPr lang="zh-CN" altLang="en-US" sz="2400" dirty="0">
                <a:latin typeface="黑体" panose="02010609060101010101" pitchFamily="49" charset="-122"/>
                <a:ea typeface="黑体" panose="02010609060101010101" pitchFamily="49" charset="-122"/>
              </a:rPr>
              <a:t>年</a:t>
            </a:r>
            <a:r>
              <a:rPr lang="en-US" altLang="zh-CN" sz="2400" dirty="0">
                <a:latin typeface="黑体" panose="02010609060101010101" pitchFamily="49" charset="-122"/>
                <a:ea typeface="黑体" panose="02010609060101010101" pitchFamily="49" charset="-122"/>
              </a:rPr>
              <a:t>4</a:t>
            </a:r>
            <a:r>
              <a:rPr lang="zh-CN" altLang="en-US" sz="2400" dirty="0">
                <a:latin typeface="黑体" panose="02010609060101010101" pitchFamily="49" charset="-122"/>
                <a:ea typeface="黑体" panose="02010609060101010101" pitchFamily="49" charset="-122"/>
              </a:rPr>
              <a:t>月</a:t>
            </a:r>
            <a:r>
              <a:rPr lang="en-US" altLang="zh-CN" sz="2400" dirty="0">
                <a:latin typeface="黑体" panose="02010609060101010101" pitchFamily="49" charset="-122"/>
                <a:ea typeface="黑体" panose="02010609060101010101" pitchFamily="49" charset="-122"/>
              </a:rPr>
              <a:t>15</a:t>
            </a:r>
            <a:r>
              <a:rPr lang="zh-CN" altLang="en-US" sz="2400" dirty="0">
                <a:latin typeface="黑体" panose="02010609060101010101" pitchFamily="49" charset="-122"/>
                <a:ea typeface="黑体" panose="02010609060101010101" pitchFamily="49" charset="-122"/>
              </a:rPr>
              <a:t>日）</a:t>
            </a:r>
            <a:endParaRPr lang="zh-CN" altLang="zh-CN" sz="2400" dirty="0">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3CC85FE9-F0B8-F052-CE68-8EFD379787FA}"/>
              </a:ext>
            </a:extLst>
          </p:cNvPr>
          <p:cNvSpPr>
            <a:spLocks noGrp="1" noChangeArrowheads="1"/>
          </p:cNvSpPr>
          <p:nvPr>
            <p:ph type="title"/>
          </p:nvPr>
        </p:nvSpPr>
        <p:spPr>
          <a:xfrm>
            <a:off x="838200" y="192880"/>
            <a:ext cx="10515600" cy="982663"/>
          </a:xfrm>
        </p:spPr>
        <p:txBody>
          <a:bodyPr/>
          <a:lstStyle/>
          <a:p>
            <a:pPr eaLnBrk="1" hangingPunct="1"/>
            <a:r>
              <a:rPr lang="zh-CN" altLang="en-US" dirty="0"/>
              <a:t>一、实验导入 </a:t>
            </a:r>
          </a:p>
        </p:txBody>
      </p:sp>
      <p:sp>
        <p:nvSpPr>
          <p:cNvPr id="10243" name="Rectangle 5">
            <a:extLst>
              <a:ext uri="{FF2B5EF4-FFF2-40B4-BE49-F238E27FC236}">
                <a16:creationId xmlns:a16="http://schemas.microsoft.com/office/drawing/2014/main" id="{CD8CEA8C-CDD7-D8D2-9D06-01886493B50D}"/>
              </a:ext>
            </a:extLst>
          </p:cNvPr>
          <p:cNvSpPr txBox="1">
            <a:spLocks noChangeArrowheads="1"/>
          </p:cNvSpPr>
          <p:nvPr/>
        </p:nvSpPr>
        <p:spPr bwMode="auto">
          <a:xfrm>
            <a:off x="417365" y="1417527"/>
            <a:ext cx="10907712"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pPr>
            <a:r>
              <a:rPr lang="zh-CN" altLang="zh-CN" sz="2400" b="1" dirty="0">
                <a:latin typeface="黑体" panose="02010609060101010101" pitchFamily="49" charset="-122"/>
                <a:ea typeface="黑体" panose="02010609060101010101" pitchFamily="49" charset="-122"/>
              </a:rPr>
              <a:t>声波是一种在弹性媒质中传播的机械波，频率低于</a:t>
            </a:r>
            <a:r>
              <a:rPr lang="en-US" altLang="zh-CN" sz="2400" b="1" dirty="0">
                <a:latin typeface="黑体" panose="02010609060101010101" pitchFamily="49" charset="-122"/>
                <a:ea typeface="黑体" panose="02010609060101010101" pitchFamily="49" charset="-122"/>
              </a:rPr>
              <a:t>20Hz</a:t>
            </a:r>
            <a:r>
              <a:rPr lang="zh-CN" altLang="zh-CN" sz="2400" b="1" dirty="0">
                <a:latin typeface="黑体" panose="02010609060101010101" pitchFamily="49" charset="-122"/>
                <a:ea typeface="黑体" panose="02010609060101010101" pitchFamily="49" charset="-122"/>
              </a:rPr>
              <a:t>的声波称为次声波；频率在</a:t>
            </a:r>
            <a:r>
              <a:rPr lang="en-US" altLang="zh-CN" sz="2400" b="1" dirty="0">
                <a:latin typeface="黑体" panose="02010609060101010101" pitchFamily="49" charset="-122"/>
                <a:ea typeface="黑体" panose="02010609060101010101" pitchFamily="49" charset="-122"/>
              </a:rPr>
              <a:t> 20Hz</a:t>
            </a:r>
            <a:r>
              <a:rPr lang="en-US" altLang="zh-CN" sz="2400" b="1" i="1" dirty="0">
                <a:latin typeface="黑体" panose="02010609060101010101" pitchFamily="49" charset="-122"/>
                <a:ea typeface="黑体" panose="02010609060101010101" pitchFamily="49" charset="-122"/>
              </a:rPr>
              <a:t>- </a:t>
            </a:r>
            <a:r>
              <a:rPr lang="en-US" altLang="zh-CN" sz="2400" b="1" dirty="0">
                <a:latin typeface="黑体" panose="02010609060101010101" pitchFamily="49" charset="-122"/>
                <a:ea typeface="黑体" panose="02010609060101010101" pitchFamily="49" charset="-122"/>
              </a:rPr>
              <a:t>20kHz</a:t>
            </a:r>
            <a:r>
              <a:rPr lang="zh-CN" altLang="zh-CN" sz="2400" b="1" dirty="0">
                <a:latin typeface="黑体" panose="02010609060101010101" pitchFamily="49" charset="-122"/>
                <a:ea typeface="黑体" panose="02010609060101010101" pitchFamily="49" charset="-122"/>
              </a:rPr>
              <a:t>的声波可以被人听到，称为可闻声波；频率在</a:t>
            </a:r>
            <a:r>
              <a:rPr lang="en-US" altLang="zh-CN" sz="2400" b="1" dirty="0">
                <a:latin typeface="黑体" panose="02010609060101010101" pitchFamily="49" charset="-122"/>
                <a:ea typeface="黑体" panose="02010609060101010101" pitchFamily="49" charset="-122"/>
              </a:rPr>
              <a:t>20kHz</a:t>
            </a:r>
            <a:r>
              <a:rPr lang="zh-CN" altLang="zh-CN" sz="2400" b="1" dirty="0">
                <a:latin typeface="黑体" panose="02010609060101010101" pitchFamily="49" charset="-122"/>
                <a:ea typeface="黑体" panose="02010609060101010101" pitchFamily="49" charset="-122"/>
              </a:rPr>
              <a:t>以上的声波称为超声波</a:t>
            </a:r>
            <a:r>
              <a:rPr lang="zh-CN" altLang="en-US" sz="2400" b="1" dirty="0">
                <a:latin typeface="黑体" panose="02010609060101010101" pitchFamily="49" charset="-122"/>
                <a:ea typeface="黑体" panose="02010609060101010101" pitchFamily="49" charset="-122"/>
              </a:rPr>
              <a:t>；</a:t>
            </a:r>
            <a:endParaRPr lang="en-US" altLang="zh-CN" sz="2400" b="1" dirty="0">
              <a:latin typeface="黑体" panose="02010609060101010101" pitchFamily="49" charset="-122"/>
              <a:ea typeface="黑体" panose="02010609060101010101" pitchFamily="49" charset="-122"/>
            </a:endParaRPr>
          </a:p>
          <a:p>
            <a:pPr eaLnBrk="1" hangingPunct="1"/>
            <a:r>
              <a:rPr lang="zh-CN" altLang="en-US" sz="2400" b="1" dirty="0">
                <a:latin typeface="黑体" panose="02010609060101010101" pitchFamily="49" charset="-122"/>
                <a:ea typeface="黑体" panose="02010609060101010101" pitchFamily="49" charset="-122"/>
              </a:rPr>
              <a:t>超声波</a:t>
            </a:r>
            <a:r>
              <a:rPr lang="zh-CN" altLang="en-US" sz="2400" b="1" dirty="0">
                <a:latin typeface="Times New Roman" panose="02020603050405020304" pitchFamily="18" charset="0"/>
                <a:ea typeface="黑体" panose="02010609060101010101" pitchFamily="49" charset="-122"/>
              </a:rPr>
              <a:t>在介质</a:t>
            </a:r>
            <a:r>
              <a:rPr lang="zh-CN" altLang="en-US" sz="2400" b="1" dirty="0">
                <a:latin typeface="黑体" panose="02010609060101010101" pitchFamily="49" charset="-122"/>
                <a:ea typeface="黑体" panose="02010609060101010101" pitchFamily="49" charset="-122"/>
              </a:rPr>
              <a:t>中的传播速度是一个基本物理量，已做实验：多普勒效应（频移法），超声光栅（声光效应）；</a:t>
            </a:r>
          </a:p>
          <a:p>
            <a:pPr eaLnBrk="1" hangingPunct="1">
              <a:lnSpc>
                <a:spcPct val="125000"/>
              </a:lnSpc>
            </a:pPr>
            <a:r>
              <a:rPr lang="zh-CN" altLang="en-US" sz="2400" b="1" dirty="0">
                <a:latin typeface="黑体" panose="02010609060101010101" pitchFamily="49" charset="-122"/>
                <a:ea typeface="黑体" panose="02010609060101010101" pitchFamily="49" charset="-122"/>
              </a:rPr>
              <a:t>超声技术应用日趋广泛：超声测距、超声清洗、超声探伤、超声检查等。</a:t>
            </a:r>
            <a:endParaRPr lang="en-US" altLang="zh-CN" sz="2400" b="1" dirty="0">
              <a:latin typeface="黑体" panose="02010609060101010101" pitchFamily="49" charset="-122"/>
              <a:ea typeface="黑体" panose="02010609060101010101" pitchFamily="49" charset="-122"/>
            </a:endParaRPr>
          </a:p>
          <a:p>
            <a:pPr eaLnBrk="1" hangingPunct="1">
              <a:lnSpc>
                <a:spcPct val="125000"/>
              </a:lnSpc>
            </a:pPr>
            <a:endParaRPr lang="en-US" altLang="zh-CN" sz="2400" b="1" dirty="0">
              <a:latin typeface="黑体" panose="02010609060101010101" pitchFamily="49" charset="-122"/>
              <a:ea typeface="黑体" panose="02010609060101010101" pitchFamily="49" charset="-122"/>
            </a:endParaRPr>
          </a:p>
          <a:p>
            <a:pPr eaLnBrk="1" hangingPunct="1">
              <a:lnSpc>
                <a:spcPct val="125000"/>
              </a:lnSpc>
            </a:pPr>
            <a:endParaRPr lang="en-US" altLang="zh-CN" sz="2400" b="1" dirty="0">
              <a:latin typeface="黑体" panose="02010609060101010101" pitchFamily="49" charset="-122"/>
              <a:ea typeface="黑体" panose="02010609060101010101" pitchFamily="49" charset="-122"/>
            </a:endParaRPr>
          </a:p>
          <a:p>
            <a:pPr eaLnBrk="1" hangingPunct="1">
              <a:lnSpc>
                <a:spcPct val="125000"/>
              </a:lnSpc>
            </a:pPr>
            <a:endParaRPr lang="zh-CN" altLang="zh-CN" sz="2400" dirty="0">
              <a:latin typeface="黑体" panose="02010609060101010101" pitchFamily="49" charset="-122"/>
              <a:ea typeface="黑体" panose="02010609060101010101" pitchFamily="49" charset="-122"/>
            </a:endParaRPr>
          </a:p>
          <a:p>
            <a:pPr eaLnBrk="1" hangingPunct="1">
              <a:lnSpc>
                <a:spcPct val="125000"/>
              </a:lnSpc>
            </a:pPr>
            <a:endParaRPr lang="zh-CN" altLang="en-US" sz="2400" b="1" dirty="0">
              <a:latin typeface="黑体" panose="02010609060101010101" pitchFamily="49" charset="-122"/>
              <a:ea typeface="黑体" panose="02010609060101010101" pitchFamily="49" charset="-122"/>
            </a:endParaRPr>
          </a:p>
        </p:txBody>
      </p:sp>
      <p:pic>
        <p:nvPicPr>
          <p:cNvPr id="10244" name="Picture 6" descr="PD01">
            <a:extLst>
              <a:ext uri="{FF2B5EF4-FFF2-40B4-BE49-F238E27FC236}">
                <a16:creationId xmlns:a16="http://schemas.microsoft.com/office/drawing/2014/main" id="{2B7DD269-E66F-8246-08C6-FE9AC158F6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5" y="4381390"/>
            <a:ext cx="2185988"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7" descr="pianfu">
            <a:extLst>
              <a:ext uri="{FF2B5EF4-FFF2-40B4-BE49-F238E27FC236}">
                <a16:creationId xmlns:a16="http://schemas.microsoft.com/office/drawing/2014/main" id="{2A5E1EF2-3E9E-8822-438C-399A65FB2F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397265"/>
            <a:ext cx="28511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8" descr="汽车1">
            <a:extLst>
              <a:ext uri="{FF2B5EF4-FFF2-40B4-BE49-F238E27FC236}">
                <a16:creationId xmlns:a16="http://schemas.microsoft.com/office/drawing/2014/main" id="{C3D8055D-82EE-ABBF-F1C3-AB5905DDBA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7537" y="4464160"/>
            <a:ext cx="3167062"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9" descr="DSCF0019">
            <a:extLst>
              <a:ext uri="{FF2B5EF4-FFF2-40B4-BE49-F238E27FC236}">
                <a16:creationId xmlns:a16="http://schemas.microsoft.com/office/drawing/2014/main" id="{FB184971-9600-8986-4F0E-8E7D62D29D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3986" y="4464160"/>
            <a:ext cx="2895600"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0AEC2A25-C455-3FB3-E985-A3D7B59F0300}"/>
              </a:ext>
            </a:extLst>
          </p:cNvPr>
          <p:cNvSpPr>
            <a:spLocks noGrp="1" noChangeArrowheads="1"/>
          </p:cNvSpPr>
          <p:nvPr>
            <p:ph type="title"/>
          </p:nvPr>
        </p:nvSpPr>
        <p:spPr>
          <a:xfrm>
            <a:off x="838200" y="365125"/>
            <a:ext cx="10515600" cy="982663"/>
          </a:xfrm>
        </p:spPr>
        <p:txBody>
          <a:bodyPr/>
          <a:lstStyle/>
          <a:p>
            <a:pPr eaLnBrk="1" hangingPunct="1"/>
            <a:r>
              <a:rPr lang="zh-CN" altLang="en-US"/>
              <a:t>二、实验目的</a:t>
            </a:r>
          </a:p>
        </p:txBody>
      </p:sp>
      <p:sp>
        <p:nvSpPr>
          <p:cNvPr id="11267" name="Rectangle 5">
            <a:extLst>
              <a:ext uri="{FF2B5EF4-FFF2-40B4-BE49-F238E27FC236}">
                <a16:creationId xmlns:a16="http://schemas.microsoft.com/office/drawing/2014/main" id="{29BFCE0C-3A6F-CF0D-96D6-C3A85559B0FD}"/>
              </a:ext>
            </a:extLst>
          </p:cNvPr>
          <p:cNvSpPr>
            <a:spLocks noGrp="1" noChangeArrowheads="1"/>
          </p:cNvSpPr>
          <p:nvPr>
            <p:ph sz="half" idx="1"/>
          </p:nvPr>
        </p:nvSpPr>
        <p:spPr>
          <a:xfrm>
            <a:off x="885825" y="1785938"/>
            <a:ext cx="8137525" cy="3186112"/>
          </a:xfrm>
        </p:spPr>
        <p:txBody>
          <a:bodyPr/>
          <a:lstStyle/>
          <a:p>
            <a:pPr marL="457200" indent="-457200" eaLnBrk="1" hangingPunct="1">
              <a:lnSpc>
                <a:spcPct val="200000"/>
              </a:lnSpc>
              <a:buAutoNum type="arabicPeriod"/>
            </a:pPr>
            <a:r>
              <a:rPr lang="zh-CN" altLang="en-US" sz="2400" b="1" dirty="0">
                <a:latin typeface="Times New Roman" panose="02020603050405020304" pitchFamily="18" charset="0"/>
              </a:rPr>
              <a:t>了解超声波技术的应用（超声悬浮等）。</a:t>
            </a:r>
            <a:endParaRPr lang="en-US" altLang="zh-CN" sz="2400" b="1" dirty="0">
              <a:latin typeface="Times New Roman" panose="02020603050405020304" pitchFamily="18" charset="0"/>
            </a:endParaRPr>
          </a:p>
          <a:p>
            <a:pPr marL="457200" indent="-457200" eaLnBrk="1" hangingPunct="1">
              <a:lnSpc>
                <a:spcPct val="200000"/>
              </a:lnSpc>
              <a:buAutoNum type="arabicPeriod"/>
            </a:pPr>
            <a:r>
              <a:rPr lang="zh-CN" altLang="en-US" sz="2400" b="1" dirty="0">
                <a:latin typeface="Times New Roman" panose="02020603050405020304" pitchFamily="18" charset="0"/>
              </a:rPr>
              <a:t>物理观念：加深对共振、驻波等理论知识的理解。</a:t>
            </a:r>
            <a:endParaRPr lang="en-US" altLang="zh-CN" sz="2400" b="1" dirty="0">
              <a:latin typeface="Times New Roman" panose="02020603050405020304" pitchFamily="18" charset="0"/>
            </a:endParaRPr>
          </a:p>
          <a:p>
            <a:pPr marL="0" indent="0" eaLnBrk="1" hangingPunct="1">
              <a:lnSpc>
                <a:spcPct val="200000"/>
              </a:lnSpc>
              <a:buNone/>
            </a:pPr>
            <a:r>
              <a:rPr lang="en-US" altLang="zh-CN" sz="2400" b="1" dirty="0"/>
              <a:t>3.</a:t>
            </a:r>
            <a:r>
              <a:rPr lang="zh-CN" altLang="en-US" sz="2400" b="1" dirty="0">
                <a:latin typeface="Times New Roman" panose="02020603050405020304" pitchFamily="18" charset="0"/>
              </a:rPr>
              <a:t>科学思维：</a:t>
            </a:r>
            <a:r>
              <a:rPr lang="zh-CN" altLang="en-US" sz="2400" b="1" dirty="0"/>
              <a:t>学会用共振干涉</a:t>
            </a:r>
            <a:r>
              <a:rPr lang="zh-CN" altLang="en-US" sz="2400" b="1" dirty="0">
                <a:latin typeface="Times New Roman" panose="02020603050405020304" pitchFamily="18" charset="0"/>
              </a:rPr>
              <a:t>法、相位比较法测量声速。</a:t>
            </a:r>
          </a:p>
          <a:p>
            <a:pPr marL="0" indent="0" eaLnBrk="1" hangingPunct="1">
              <a:lnSpc>
                <a:spcPct val="200000"/>
              </a:lnSpc>
              <a:buNone/>
            </a:pPr>
            <a:r>
              <a:rPr lang="en-US" altLang="zh-CN" sz="2400" b="1" dirty="0">
                <a:latin typeface="Times New Roman" panose="02020603050405020304" pitchFamily="18" charset="0"/>
              </a:rPr>
              <a:t>4.</a:t>
            </a:r>
            <a:r>
              <a:rPr lang="zh-CN" altLang="en-US" sz="2400" b="1" dirty="0">
                <a:latin typeface="Times New Roman" panose="02020603050405020304" pitchFamily="18" charset="0"/>
              </a:rPr>
              <a:t>科学探究：设计实验方案，完成实验的测量任务。</a:t>
            </a:r>
            <a:endParaRPr lang="en-US" altLang="zh-CN" sz="2400" b="1" dirty="0">
              <a:latin typeface="Times New Roman" panose="02020603050405020304" pitchFamily="18" charset="0"/>
            </a:endParaRPr>
          </a:p>
          <a:p>
            <a:pPr marL="0" indent="0" eaLnBrk="1" hangingPunct="1">
              <a:lnSpc>
                <a:spcPct val="200000"/>
              </a:lnSpc>
              <a:buFont typeface="Arial" panose="020B0604020202020204" pitchFamily="34" charset="0"/>
              <a:buNone/>
            </a:pPr>
            <a:r>
              <a:rPr lang="zh-CN" altLang="en-US" sz="2400" b="1" dirty="0">
                <a:latin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C872F40-BDA5-F892-DE63-202713E1D93E}"/>
              </a:ext>
            </a:extLst>
          </p:cNvPr>
          <p:cNvSpPr>
            <a:spLocks noGrp="1" noChangeArrowheads="1"/>
          </p:cNvSpPr>
          <p:nvPr>
            <p:ph idx="1"/>
          </p:nvPr>
        </p:nvSpPr>
        <p:spPr>
          <a:xfrm>
            <a:off x="590550" y="1476375"/>
            <a:ext cx="5430838" cy="4267200"/>
          </a:xfrm>
        </p:spPr>
        <p:txBody>
          <a:bodyPr/>
          <a:lstStyle/>
          <a:p>
            <a:pPr marL="0" indent="0" eaLnBrk="1" hangingPunct="1">
              <a:lnSpc>
                <a:spcPct val="150000"/>
              </a:lnSpc>
              <a:spcBef>
                <a:spcPts val="0"/>
              </a:spcBef>
              <a:buFont typeface="Arial" panose="020B0604020202020204" pitchFamily="34" charset="0"/>
              <a:buNone/>
              <a:defRPr/>
            </a:pPr>
            <a:r>
              <a:rPr lang="en-US" altLang="zh-CN" b="1" dirty="0">
                <a:solidFill>
                  <a:srgbClr val="C00000"/>
                </a:solidFill>
              </a:rPr>
              <a:t>1.</a:t>
            </a:r>
            <a:r>
              <a:rPr lang="zh-CN" altLang="en-US" b="1" dirty="0">
                <a:solidFill>
                  <a:srgbClr val="C00000"/>
                </a:solidFill>
              </a:rPr>
              <a:t>超声波的产生和接收</a:t>
            </a:r>
            <a:endParaRPr lang="en-US" altLang="zh-CN" b="1" dirty="0">
              <a:solidFill>
                <a:srgbClr val="C00000"/>
              </a:solidFill>
              <a:latin typeface="宋体" charset="-122"/>
            </a:endParaRPr>
          </a:p>
          <a:p>
            <a:pPr eaLnBrk="1" hangingPunct="1">
              <a:lnSpc>
                <a:spcPct val="150000"/>
              </a:lnSpc>
              <a:spcBef>
                <a:spcPts val="0"/>
              </a:spcBef>
              <a:defRPr/>
            </a:pPr>
            <a:r>
              <a:rPr lang="zh-CN" altLang="en-US" sz="1800" b="1" dirty="0">
                <a:latin typeface="宋体" charset="-122"/>
              </a:rPr>
              <a:t>发射和接收超声波的器件：压电陶瓷换能器</a:t>
            </a:r>
          </a:p>
          <a:p>
            <a:pPr eaLnBrk="1" hangingPunct="1">
              <a:lnSpc>
                <a:spcPct val="150000"/>
              </a:lnSpc>
              <a:spcBef>
                <a:spcPts val="0"/>
              </a:spcBef>
              <a:defRPr/>
            </a:pPr>
            <a:r>
              <a:rPr lang="zh-CN" altLang="en-US" sz="1800" b="1" dirty="0">
                <a:latin typeface="宋体" charset="-122"/>
              </a:rPr>
              <a:t>压电陶瓷换能器具有</a:t>
            </a:r>
            <a:r>
              <a:rPr lang="zh-CN" altLang="en-US" sz="1800" b="1" dirty="0">
                <a:solidFill>
                  <a:srgbClr val="FF0000"/>
                </a:solidFill>
                <a:latin typeface="宋体" charset="-122"/>
              </a:rPr>
              <a:t>正压电效应</a:t>
            </a:r>
            <a:r>
              <a:rPr lang="zh-CN" altLang="en-US" sz="1800" b="1" dirty="0">
                <a:latin typeface="宋体" charset="-122"/>
              </a:rPr>
              <a:t>和</a:t>
            </a:r>
            <a:r>
              <a:rPr lang="zh-CN" altLang="en-US" sz="1800" b="1" dirty="0">
                <a:solidFill>
                  <a:srgbClr val="FF0000"/>
                </a:solidFill>
                <a:latin typeface="宋体" charset="-122"/>
              </a:rPr>
              <a:t>逆压电效应</a:t>
            </a:r>
            <a:r>
              <a:rPr lang="zh-CN" altLang="en-US" sz="1800" b="1" dirty="0">
                <a:latin typeface="宋体" charset="-122"/>
              </a:rPr>
              <a:t>。</a:t>
            </a:r>
          </a:p>
          <a:p>
            <a:pPr algn="just" eaLnBrk="1" hangingPunct="1">
              <a:lnSpc>
                <a:spcPct val="150000"/>
              </a:lnSpc>
              <a:spcBef>
                <a:spcPts val="0"/>
              </a:spcBef>
              <a:defRPr/>
            </a:pPr>
            <a:r>
              <a:rPr lang="zh-CN" altLang="en-US" sz="1800" b="1" dirty="0"/>
              <a:t>在发射压电陶瓷换能器上加交变电压，则产生纵向机械振动，产生超声波（</a:t>
            </a:r>
            <a:r>
              <a:rPr lang="zh-CN" altLang="en-US" sz="1800" b="1" dirty="0">
                <a:latin typeface="宋体" charset="-122"/>
              </a:rPr>
              <a:t>逆压电效应）</a:t>
            </a:r>
            <a:r>
              <a:rPr lang="en-US" altLang="zh-CN" sz="1800" b="1" dirty="0">
                <a:latin typeface="宋体" charset="-122"/>
              </a:rPr>
              <a:t>.</a:t>
            </a:r>
          </a:p>
          <a:p>
            <a:pPr algn="just" eaLnBrk="1" hangingPunct="1">
              <a:lnSpc>
                <a:spcPct val="150000"/>
              </a:lnSpc>
              <a:spcBef>
                <a:spcPts val="0"/>
              </a:spcBef>
              <a:defRPr/>
            </a:pPr>
            <a:endParaRPr lang="en-US" altLang="zh-CN" sz="1800" b="1" dirty="0"/>
          </a:p>
          <a:p>
            <a:pPr algn="just" eaLnBrk="1" hangingPunct="1">
              <a:lnSpc>
                <a:spcPct val="150000"/>
              </a:lnSpc>
              <a:spcBef>
                <a:spcPts val="0"/>
              </a:spcBef>
              <a:defRPr/>
            </a:pPr>
            <a:r>
              <a:rPr lang="zh-CN" altLang="en-US" sz="1800" b="1" dirty="0"/>
              <a:t>接收压电陶瓷换能器接收到超声波后，产生电信号。（正</a:t>
            </a:r>
            <a:r>
              <a:rPr lang="zh-CN" altLang="en-US" sz="1800" b="1" dirty="0">
                <a:latin typeface="宋体" charset="-122"/>
              </a:rPr>
              <a:t>压电效应）</a:t>
            </a:r>
            <a:r>
              <a:rPr lang="en-US" altLang="zh-CN" sz="1800" b="1" dirty="0">
                <a:latin typeface="宋体" charset="-122"/>
              </a:rPr>
              <a:t>.</a:t>
            </a:r>
          </a:p>
          <a:p>
            <a:pPr eaLnBrk="1" hangingPunct="1">
              <a:defRPr/>
            </a:pPr>
            <a:endParaRPr lang="en-US" altLang="zh-CN" sz="1800" b="1" dirty="0"/>
          </a:p>
        </p:txBody>
      </p:sp>
      <p:grpSp>
        <p:nvGrpSpPr>
          <p:cNvPr id="12291" name="Group 4">
            <a:extLst>
              <a:ext uri="{FF2B5EF4-FFF2-40B4-BE49-F238E27FC236}">
                <a16:creationId xmlns:a16="http://schemas.microsoft.com/office/drawing/2014/main" id="{F9F16ECC-0251-C48E-80BB-A1302AB459F7}"/>
              </a:ext>
            </a:extLst>
          </p:cNvPr>
          <p:cNvGrpSpPr>
            <a:grpSpLocks/>
          </p:cNvGrpSpPr>
          <p:nvPr/>
        </p:nvGrpSpPr>
        <p:grpSpPr bwMode="auto">
          <a:xfrm>
            <a:off x="6932613" y="1609725"/>
            <a:ext cx="4494212" cy="3754438"/>
            <a:chOff x="3128" y="4376"/>
            <a:chExt cx="3548" cy="2073"/>
          </a:xfrm>
        </p:grpSpPr>
        <p:sp>
          <p:nvSpPr>
            <p:cNvPr id="12300" name="Rectangle 5">
              <a:extLst>
                <a:ext uri="{FF2B5EF4-FFF2-40B4-BE49-F238E27FC236}">
                  <a16:creationId xmlns:a16="http://schemas.microsoft.com/office/drawing/2014/main" id="{E7C71B87-879E-7279-BC39-E95F9B74C14A}"/>
                </a:ext>
              </a:extLst>
            </p:cNvPr>
            <p:cNvSpPr>
              <a:spLocks noChangeArrowheads="1"/>
            </p:cNvSpPr>
            <p:nvPr/>
          </p:nvSpPr>
          <p:spPr bwMode="auto">
            <a:xfrm>
              <a:off x="3204" y="5267"/>
              <a:ext cx="2579" cy="750"/>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1" name="AutoShape 6">
              <a:extLst>
                <a:ext uri="{FF2B5EF4-FFF2-40B4-BE49-F238E27FC236}">
                  <a16:creationId xmlns:a16="http://schemas.microsoft.com/office/drawing/2014/main" id="{AE6506F2-11D6-AD5C-7F20-6E9F90401F49}"/>
                </a:ext>
              </a:extLst>
            </p:cNvPr>
            <p:cNvSpPr>
              <a:spLocks noChangeArrowheads="1"/>
            </p:cNvSpPr>
            <p:nvPr/>
          </p:nvSpPr>
          <p:spPr bwMode="auto">
            <a:xfrm flipV="1">
              <a:off x="3749" y="5755"/>
              <a:ext cx="1593" cy="25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173 w 21600"/>
                <a:gd name="T13" fmla="*/ 3169 h 21600"/>
                <a:gd name="T14" fmla="*/ 18427 w 21600"/>
                <a:gd name="T15" fmla="*/ 18431 h 21600"/>
              </a:gdLst>
              <a:ahLst/>
              <a:cxnLst>
                <a:cxn ang="T8">
                  <a:pos x="T0" y="T1"/>
                </a:cxn>
                <a:cxn ang="T9">
                  <a:pos x="T2" y="T3"/>
                </a:cxn>
                <a:cxn ang="T10">
                  <a:pos x="T4" y="T5"/>
                </a:cxn>
                <a:cxn ang="T11">
                  <a:pos x="T6" y="T7"/>
                </a:cxn>
              </a:cxnLst>
              <a:rect l="T12" t="T13" r="T14" b="T15"/>
              <a:pathLst>
                <a:path w="21600" h="21600">
                  <a:moveTo>
                    <a:pt x="0" y="0"/>
                  </a:moveTo>
                  <a:lnTo>
                    <a:pt x="2753" y="21600"/>
                  </a:lnTo>
                  <a:lnTo>
                    <a:pt x="18847" y="21600"/>
                  </a:lnTo>
                  <a:lnTo>
                    <a:pt x="21600" y="0"/>
                  </a:lnTo>
                  <a:lnTo>
                    <a:pt x="0" y="0"/>
                  </a:lnTo>
                  <a:close/>
                </a:path>
              </a:pathLst>
            </a:custGeom>
            <a:solidFill>
              <a:srgbClr val="FFFFFF"/>
            </a:solidFill>
            <a:ln w="9525">
              <a:solidFill>
                <a:srgbClr val="000000"/>
              </a:solidFill>
              <a:miter lim="800000"/>
              <a:headEnd/>
              <a:tailEnd/>
            </a:ln>
          </p:spPr>
          <p:txBody>
            <a:bodyPr/>
            <a:lstStyle/>
            <a:p>
              <a:endParaRPr lang="zh-CN" altLang="en-US"/>
            </a:p>
          </p:txBody>
        </p:sp>
        <p:sp>
          <p:nvSpPr>
            <p:cNvPr id="12302" name="Rectangle 7">
              <a:extLst>
                <a:ext uri="{FF2B5EF4-FFF2-40B4-BE49-F238E27FC236}">
                  <a16:creationId xmlns:a16="http://schemas.microsoft.com/office/drawing/2014/main" id="{AF8960CB-A280-BA45-BAAF-91EB8D82CF49}"/>
                </a:ext>
              </a:extLst>
            </p:cNvPr>
            <p:cNvSpPr>
              <a:spLocks noChangeArrowheads="1"/>
            </p:cNvSpPr>
            <p:nvPr/>
          </p:nvSpPr>
          <p:spPr bwMode="auto">
            <a:xfrm>
              <a:off x="3772" y="6011"/>
              <a:ext cx="1528" cy="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3" name="Rectangle 8">
              <a:extLst>
                <a:ext uri="{FF2B5EF4-FFF2-40B4-BE49-F238E27FC236}">
                  <a16:creationId xmlns:a16="http://schemas.microsoft.com/office/drawing/2014/main" id="{249B1766-B2B5-6E22-6583-1CDAD0DC6E30}"/>
                </a:ext>
              </a:extLst>
            </p:cNvPr>
            <p:cNvSpPr>
              <a:spLocks noChangeArrowheads="1"/>
            </p:cNvSpPr>
            <p:nvPr/>
          </p:nvSpPr>
          <p:spPr bwMode="auto">
            <a:xfrm>
              <a:off x="3204" y="5267"/>
              <a:ext cx="2579" cy="107"/>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4" name="Rectangle 9">
              <a:extLst>
                <a:ext uri="{FF2B5EF4-FFF2-40B4-BE49-F238E27FC236}">
                  <a16:creationId xmlns:a16="http://schemas.microsoft.com/office/drawing/2014/main" id="{0FD0094A-AB96-BAC5-AF59-44DE20E9BF1A}"/>
                </a:ext>
              </a:extLst>
            </p:cNvPr>
            <p:cNvSpPr>
              <a:spLocks noChangeArrowheads="1"/>
            </p:cNvSpPr>
            <p:nvPr/>
          </p:nvSpPr>
          <p:spPr bwMode="auto">
            <a:xfrm>
              <a:off x="3128" y="5374"/>
              <a:ext cx="76" cy="214"/>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5" name="Rectangle 10">
              <a:extLst>
                <a:ext uri="{FF2B5EF4-FFF2-40B4-BE49-F238E27FC236}">
                  <a16:creationId xmlns:a16="http://schemas.microsoft.com/office/drawing/2014/main" id="{7C3A98FB-8042-4F9F-3D4E-BCA8F3AF2D71}"/>
                </a:ext>
              </a:extLst>
            </p:cNvPr>
            <p:cNvSpPr>
              <a:spLocks noChangeArrowheads="1"/>
            </p:cNvSpPr>
            <p:nvPr/>
          </p:nvSpPr>
          <p:spPr bwMode="auto">
            <a:xfrm>
              <a:off x="5792" y="5374"/>
              <a:ext cx="76" cy="175"/>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6" name="AutoShape 11">
              <a:extLst>
                <a:ext uri="{FF2B5EF4-FFF2-40B4-BE49-F238E27FC236}">
                  <a16:creationId xmlns:a16="http://schemas.microsoft.com/office/drawing/2014/main" id="{E1537B77-8F74-995D-4644-07ABC113A7E4}"/>
                </a:ext>
              </a:extLst>
            </p:cNvPr>
            <p:cNvSpPr>
              <a:spLocks noChangeArrowheads="1"/>
            </p:cNvSpPr>
            <p:nvPr/>
          </p:nvSpPr>
          <p:spPr bwMode="auto">
            <a:xfrm rot="5400000">
              <a:off x="5751" y="5426"/>
              <a:ext cx="289" cy="7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737 w 21600"/>
                <a:gd name="T13" fmla="*/ 3795 h 21600"/>
                <a:gd name="T14" fmla="*/ 17863 w 21600"/>
                <a:gd name="T15" fmla="*/ 17805 h 21600"/>
              </a:gdLst>
              <a:ahLst/>
              <a:cxnLst>
                <a:cxn ang="T8">
                  <a:pos x="T0" y="T1"/>
                </a:cxn>
                <a:cxn ang="T9">
                  <a:pos x="T2" y="T3"/>
                </a:cxn>
                <a:cxn ang="T10">
                  <a:pos x="T4" y="T5"/>
                </a:cxn>
                <a:cxn ang="T11">
                  <a:pos x="T6" y="T7"/>
                </a:cxn>
              </a:cxnLst>
              <a:rect l="T12" t="T13" r="T14" b="T15"/>
              <a:pathLst>
                <a:path w="21600" h="21600">
                  <a:moveTo>
                    <a:pt x="0" y="0"/>
                  </a:moveTo>
                  <a:lnTo>
                    <a:pt x="3857" y="21600"/>
                  </a:lnTo>
                  <a:lnTo>
                    <a:pt x="17743" y="21600"/>
                  </a:lnTo>
                  <a:lnTo>
                    <a:pt x="21600" y="0"/>
                  </a:lnTo>
                  <a:lnTo>
                    <a:pt x="0" y="0"/>
                  </a:lnTo>
                  <a:close/>
                </a:path>
              </a:pathLst>
            </a:custGeom>
            <a:solidFill>
              <a:srgbClr val="FFFFFF"/>
            </a:solidFill>
            <a:ln w="9525">
              <a:solidFill>
                <a:srgbClr val="000000"/>
              </a:solidFill>
              <a:miter lim="800000"/>
              <a:headEnd/>
              <a:tailEnd/>
            </a:ln>
          </p:spPr>
          <p:txBody>
            <a:bodyPr/>
            <a:lstStyle/>
            <a:p>
              <a:endParaRPr lang="zh-CN" altLang="en-US"/>
            </a:p>
          </p:txBody>
        </p:sp>
        <p:sp>
          <p:nvSpPr>
            <p:cNvPr id="12307" name="Rectangle 12">
              <a:extLst>
                <a:ext uri="{FF2B5EF4-FFF2-40B4-BE49-F238E27FC236}">
                  <a16:creationId xmlns:a16="http://schemas.microsoft.com/office/drawing/2014/main" id="{79730C0B-A565-40CE-EBF9-A7C1C9C8B9F3}"/>
                </a:ext>
              </a:extLst>
            </p:cNvPr>
            <p:cNvSpPr>
              <a:spLocks noChangeArrowheads="1"/>
            </p:cNvSpPr>
            <p:nvPr/>
          </p:nvSpPr>
          <p:spPr bwMode="auto">
            <a:xfrm>
              <a:off x="5924" y="5306"/>
              <a:ext cx="76" cy="315"/>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08" name="Line 13">
              <a:extLst>
                <a:ext uri="{FF2B5EF4-FFF2-40B4-BE49-F238E27FC236}">
                  <a16:creationId xmlns:a16="http://schemas.microsoft.com/office/drawing/2014/main" id="{53121456-AD98-4079-C10A-E568D2BAD6DD}"/>
                </a:ext>
              </a:extLst>
            </p:cNvPr>
            <p:cNvSpPr>
              <a:spLocks noChangeShapeType="1"/>
            </p:cNvSpPr>
            <p:nvPr/>
          </p:nvSpPr>
          <p:spPr bwMode="auto">
            <a:xfrm>
              <a:off x="5935" y="5491"/>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09" name="Line 14">
              <a:extLst>
                <a:ext uri="{FF2B5EF4-FFF2-40B4-BE49-F238E27FC236}">
                  <a16:creationId xmlns:a16="http://schemas.microsoft.com/office/drawing/2014/main" id="{CB2EAB40-3CFD-8454-2D0D-5F5BE46EED4C}"/>
                </a:ext>
              </a:extLst>
            </p:cNvPr>
            <p:cNvSpPr>
              <a:spLocks noChangeShapeType="1"/>
            </p:cNvSpPr>
            <p:nvPr/>
          </p:nvSpPr>
          <p:spPr bwMode="auto">
            <a:xfrm>
              <a:off x="5935" y="5588"/>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0" name="Line 15">
              <a:extLst>
                <a:ext uri="{FF2B5EF4-FFF2-40B4-BE49-F238E27FC236}">
                  <a16:creationId xmlns:a16="http://schemas.microsoft.com/office/drawing/2014/main" id="{37E84F7B-A334-715E-6C29-AC4A7FB6FC6E}"/>
                </a:ext>
              </a:extLst>
            </p:cNvPr>
            <p:cNvSpPr>
              <a:spLocks noChangeShapeType="1"/>
            </p:cNvSpPr>
            <p:nvPr/>
          </p:nvSpPr>
          <p:spPr bwMode="auto">
            <a:xfrm>
              <a:off x="5935" y="5522"/>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1" name="Line 16">
              <a:extLst>
                <a:ext uri="{FF2B5EF4-FFF2-40B4-BE49-F238E27FC236}">
                  <a16:creationId xmlns:a16="http://schemas.microsoft.com/office/drawing/2014/main" id="{25BEF630-4DD5-20C5-EB64-F3B0DD9F2EC1}"/>
                </a:ext>
              </a:extLst>
            </p:cNvPr>
            <p:cNvSpPr>
              <a:spLocks noChangeShapeType="1"/>
            </p:cNvSpPr>
            <p:nvPr/>
          </p:nvSpPr>
          <p:spPr bwMode="auto">
            <a:xfrm>
              <a:off x="5935" y="5557"/>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2" name="Line 17">
              <a:extLst>
                <a:ext uri="{FF2B5EF4-FFF2-40B4-BE49-F238E27FC236}">
                  <a16:creationId xmlns:a16="http://schemas.microsoft.com/office/drawing/2014/main" id="{32D2C991-F128-0A5F-0537-C54637592988}"/>
                </a:ext>
              </a:extLst>
            </p:cNvPr>
            <p:cNvSpPr>
              <a:spLocks noChangeShapeType="1"/>
            </p:cNvSpPr>
            <p:nvPr/>
          </p:nvSpPr>
          <p:spPr bwMode="auto">
            <a:xfrm>
              <a:off x="5935" y="5467"/>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3" name="Line 18">
              <a:extLst>
                <a:ext uri="{FF2B5EF4-FFF2-40B4-BE49-F238E27FC236}">
                  <a16:creationId xmlns:a16="http://schemas.microsoft.com/office/drawing/2014/main" id="{BDF3CE22-5C0F-BF12-876C-5F08A63053BF}"/>
                </a:ext>
              </a:extLst>
            </p:cNvPr>
            <p:cNvSpPr>
              <a:spLocks noChangeShapeType="1"/>
            </p:cNvSpPr>
            <p:nvPr/>
          </p:nvSpPr>
          <p:spPr bwMode="auto">
            <a:xfrm>
              <a:off x="5935" y="5436"/>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4" name="Line 19">
              <a:extLst>
                <a:ext uri="{FF2B5EF4-FFF2-40B4-BE49-F238E27FC236}">
                  <a16:creationId xmlns:a16="http://schemas.microsoft.com/office/drawing/2014/main" id="{4001DBA2-5E08-4089-921C-1B98BD46035E}"/>
                </a:ext>
              </a:extLst>
            </p:cNvPr>
            <p:cNvSpPr>
              <a:spLocks noChangeShapeType="1"/>
            </p:cNvSpPr>
            <p:nvPr/>
          </p:nvSpPr>
          <p:spPr bwMode="auto">
            <a:xfrm>
              <a:off x="5935" y="5405"/>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5" name="Line 20">
              <a:extLst>
                <a:ext uri="{FF2B5EF4-FFF2-40B4-BE49-F238E27FC236}">
                  <a16:creationId xmlns:a16="http://schemas.microsoft.com/office/drawing/2014/main" id="{0530FB08-26C0-50CF-9DE7-CA6A0233CFCF}"/>
                </a:ext>
              </a:extLst>
            </p:cNvPr>
            <p:cNvSpPr>
              <a:spLocks noChangeShapeType="1"/>
            </p:cNvSpPr>
            <p:nvPr/>
          </p:nvSpPr>
          <p:spPr bwMode="auto">
            <a:xfrm>
              <a:off x="5935" y="5374"/>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6" name="Line 21">
              <a:extLst>
                <a:ext uri="{FF2B5EF4-FFF2-40B4-BE49-F238E27FC236}">
                  <a16:creationId xmlns:a16="http://schemas.microsoft.com/office/drawing/2014/main" id="{48F3AD81-EA58-FC40-C49E-5153441525AC}"/>
                </a:ext>
              </a:extLst>
            </p:cNvPr>
            <p:cNvSpPr>
              <a:spLocks noChangeShapeType="1"/>
            </p:cNvSpPr>
            <p:nvPr/>
          </p:nvSpPr>
          <p:spPr bwMode="auto">
            <a:xfrm>
              <a:off x="5935" y="5339"/>
              <a:ext cx="7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7" name="Rectangle 22">
              <a:extLst>
                <a:ext uri="{FF2B5EF4-FFF2-40B4-BE49-F238E27FC236}">
                  <a16:creationId xmlns:a16="http://schemas.microsoft.com/office/drawing/2014/main" id="{D801A244-1074-177B-F451-7D5FDD86FD60}"/>
                </a:ext>
              </a:extLst>
            </p:cNvPr>
            <p:cNvSpPr>
              <a:spLocks noChangeArrowheads="1"/>
            </p:cNvSpPr>
            <p:nvPr/>
          </p:nvSpPr>
          <p:spPr bwMode="auto">
            <a:xfrm>
              <a:off x="6011" y="5353"/>
              <a:ext cx="76" cy="40"/>
            </a:xfrm>
            <a:prstGeom prst="rect">
              <a:avLst/>
            </a:prstGeom>
            <a:solidFill>
              <a:srgbClr val="000000"/>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18" name="Rectangle 23">
              <a:extLst>
                <a:ext uri="{FF2B5EF4-FFF2-40B4-BE49-F238E27FC236}">
                  <a16:creationId xmlns:a16="http://schemas.microsoft.com/office/drawing/2014/main" id="{61F5C138-767F-1EDB-628E-82E009A28587}"/>
                </a:ext>
              </a:extLst>
            </p:cNvPr>
            <p:cNvSpPr>
              <a:spLocks noChangeArrowheads="1"/>
            </p:cNvSpPr>
            <p:nvPr/>
          </p:nvSpPr>
          <p:spPr bwMode="auto">
            <a:xfrm>
              <a:off x="5480" y="5154"/>
              <a:ext cx="303" cy="107"/>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19" name="Rectangle 24">
              <a:extLst>
                <a:ext uri="{FF2B5EF4-FFF2-40B4-BE49-F238E27FC236}">
                  <a16:creationId xmlns:a16="http://schemas.microsoft.com/office/drawing/2014/main" id="{02B27192-17DC-E62B-C812-25D68269AFCD}"/>
                </a:ext>
              </a:extLst>
            </p:cNvPr>
            <p:cNvSpPr>
              <a:spLocks noChangeArrowheads="1"/>
            </p:cNvSpPr>
            <p:nvPr/>
          </p:nvSpPr>
          <p:spPr bwMode="auto">
            <a:xfrm>
              <a:off x="4192" y="5154"/>
              <a:ext cx="344" cy="107"/>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nvGrpSpPr>
            <p:cNvPr id="12320" name="Group 25">
              <a:extLst>
                <a:ext uri="{FF2B5EF4-FFF2-40B4-BE49-F238E27FC236}">
                  <a16:creationId xmlns:a16="http://schemas.microsoft.com/office/drawing/2014/main" id="{34451ACC-A58D-4DE7-D53E-25908D070825}"/>
                </a:ext>
              </a:extLst>
            </p:cNvPr>
            <p:cNvGrpSpPr>
              <a:grpSpLocks/>
            </p:cNvGrpSpPr>
            <p:nvPr/>
          </p:nvGrpSpPr>
          <p:grpSpPr bwMode="auto">
            <a:xfrm>
              <a:off x="5382" y="4832"/>
              <a:ext cx="358" cy="322"/>
              <a:chOff x="6023" y="4427"/>
              <a:chExt cx="495" cy="468"/>
            </a:xfrm>
          </p:grpSpPr>
          <p:sp>
            <p:nvSpPr>
              <p:cNvPr id="12338" name="Rectangle 26">
                <a:extLst>
                  <a:ext uri="{FF2B5EF4-FFF2-40B4-BE49-F238E27FC236}">
                    <a16:creationId xmlns:a16="http://schemas.microsoft.com/office/drawing/2014/main" id="{94765292-8EE7-6438-F953-22DB62045858}"/>
                  </a:ext>
                </a:extLst>
              </p:cNvPr>
              <p:cNvSpPr>
                <a:spLocks noChangeArrowheads="1"/>
              </p:cNvSpPr>
              <p:nvPr/>
            </p:nvSpPr>
            <p:spPr bwMode="auto">
              <a:xfrm flipH="1">
                <a:off x="6203" y="4511"/>
                <a:ext cx="315" cy="215"/>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39" name="AutoShape 27">
                <a:extLst>
                  <a:ext uri="{FF2B5EF4-FFF2-40B4-BE49-F238E27FC236}">
                    <a16:creationId xmlns:a16="http://schemas.microsoft.com/office/drawing/2014/main" id="{FF3802E3-4695-9CC9-056B-C871B8360245}"/>
                  </a:ext>
                </a:extLst>
              </p:cNvPr>
              <p:cNvSpPr>
                <a:spLocks noChangeArrowheads="1"/>
              </p:cNvSpPr>
              <p:nvPr/>
            </p:nvSpPr>
            <p:spPr bwMode="auto">
              <a:xfrm rot="16200000" flipH="1">
                <a:off x="5954" y="4520"/>
                <a:ext cx="318" cy="1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60 h 21600"/>
                  <a:gd name="T14" fmla="*/ 17117 w 21600"/>
                  <a:gd name="T15" fmla="*/ 1716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9525">
                <a:solidFill>
                  <a:srgbClr val="000000"/>
                </a:solidFill>
                <a:miter lim="800000"/>
                <a:headEnd/>
                <a:tailEnd/>
              </a:ln>
            </p:spPr>
            <p:txBody>
              <a:bodyPr/>
              <a:lstStyle/>
              <a:p>
                <a:endParaRPr lang="zh-CN" altLang="en-US"/>
              </a:p>
            </p:txBody>
          </p:sp>
          <p:sp>
            <p:nvSpPr>
              <p:cNvPr id="12340" name="Rectangle 28">
                <a:extLst>
                  <a:ext uri="{FF2B5EF4-FFF2-40B4-BE49-F238E27FC236}">
                    <a16:creationId xmlns:a16="http://schemas.microsoft.com/office/drawing/2014/main" id="{C9AA38AE-CFA5-66DA-48E7-EE2592C3ED42}"/>
                  </a:ext>
                </a:extLst>
              </p:cNvPr>
              <p:cNvSpPr>
                <a:spLocks noChangeArrowheads="1"/>
              </p:cNvSpPr>
              <p:nvPr/>
            </p:nvSpPr>
            <p:spPr bwMode="auto">
              <a:xfrm>
                <a:off x="6308" y="4427"/>
                <a:ext cx="105" cy="468"/>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sp>
          <p:nvSpPr>
            <p:cNvPr id="12321" name="Text Box 29">
              <a:extLst>
                <a:ext uri="{FF2B5EF4-FFF2-40B4-BE49-F238E27FC236}">
                  <a16:creationId xmlns:a16="http://schemas.microsoft.com/office/drawing/2014/main" id="{9732CF6E-89BC-DF50-9E06-BB1D6A6FB57C}"/>
                </a:ext>
              </a:extLst>
            </p:cNvPr>
            <p:cNvSpPr txBox="1">
              <a:spLocks noChangeArrowheads="1"/>
            </p:cNvSpPr>
            <p:nvPr/>
          </p:nvSpPr>
          <p:spPr bwMode="auto">
            <a:xfrm>
              <a:off x="5165" y="4387"/>
              <a:ext cx="145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1400" dirty="0">
                  <a:solidFill>
                    <a:srgbClr val="FF0000"/>
                  </a:solidFill>
                  <a:latin typeface="Times New Roman" panose="02020603050405020304" pitchFamily="18" charset="0"/>
                  <a:ea typeface="宋体" panose="02010600030101010101" pitchFamily="2" charset="-122"/>
                </a:rPr>
                <a:t>固定</a:t>
              </a:r>
            </a:p>
            <a:p>
              <a:pPr algn="ctr">
                <a:lnSpc>
                  <a:spcPct val="100000"/>
                </a:lnSpc>
                <a:spcBef>
                  <a:spcPct val="0"/>
                </a:spcBef>
                <a:buFontTx/>
                <a:buNone/>
              </a:pPr>
              <a:r>
                <a:rPr lang="zh-CN" altLang="en-US" sz="1400" dirty="0">
                  <a:latin typeface="Times New Roman" panose="02020603050405020304" pitchFamily="18" charset="0"/>
                  <a:ea typeface="宋体" panose="02010600030101010101" pitchFamily="2" charset="-122"/>
                </a:rPr>
                <a:t>超声波发射头</a:t>
              </a:r>
            </a:p>
          </p:txBody>
        </p:sp>
        <p:sp>
          <p:nvSpPr>
            <p:cNvPr id="12322" name="Text Box 30">
              <a:extLst>
                <a:ext uri="{FF2B5EF4-FFF2-40B4-BE49-F238E27FC236}">
                  <a16:creationId xmlns:a16="http://schemas.microsoft.com/office/drawing/2014/main" id="{39A2552C-F8C2-42C6-8F5B-42D7C3C05CA6}"/>
                </a:ext>
              </a:extLst>
            </p:cNvPr>
            <p:cNvSpPr txBox="1">
              <a:spLocks noChangeArrowheads="1"/>
            </p:cNvSpPr>
            <p:nvPr/>
          </p:nvSpPr>
          <p:spPr bwMode="auto">
            <a:xfrm>
              <a:off x="3230" y="4376"/>
              <a:ext cx="1706"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1400" dirty="0">
                  <a:solidFill>
                    <a:srgbClr val="FF0000"/>
                  </a:solidFill>
                  <a:latin typeface="Times New Roman" panose="02020603050405020304" pitchFamily="18" charset="0"/>
                  <a:ea typeface="宋体" panose="02010600030101010101" pitchFamily="2" charset="-122"/>
                </a:rPr>
                <a:t>可移动</a:t>
              </a:r>
            </a:p>
            <a:p>
              <a:pPr algn="ctr">
                <a:lnSpc>
                  <a:spcPct val="100000"/>
                </a:lnSpc>
                <a:spcBef>
                  <a:spcPct val="0"/>
                </a:spcBef>
                <a:buFontTx/>
                <a:buNone/>
              </a:pPr>
              <a:r>
                <a:rPr lang="zh-CN" altLang="en-US" sz="1400" dirty="0">
                  <a:latin typeface="Times New Roman" panose="02020603050405020304" pitchFamily="18" charset="0"/>
                  <a:ea typeface="宋体" panose="02010600030101010101" pitchFamily="2" charset="-122"/>
                </a:rPr>
                <a:t>超声波接收头</a:t>
              </a:r>
            </a:p>
          </p:txBody>
        </p:sp>
        <p:sp>
          <p:nvSpPr>
            <p:cNvPr id="12323" name="Text Box 31">
              <a:extLst>
                <a:ext uri="{FF2B5EF4-FFF2-40B4-BE49-F238E27FC236}">
                  <a16:creationId xmlns:a16="http://schemas.microsoft.com/office/drawing/2014/main" id="{F791835F-BFF2-933C-548F-54184BB54FEC}"/>
                </a:ext>
              </a:extLst>
            </p:cNvPr>
            <p:cNvSpPr txBox="1">
              <a:spLocks noChangeArrowheads="1"/>
            </p:cNvSpPr>
            <p:nvPr/>
          </p:nvSpPr>
          <p:spPr bwMode="auto">
            <a:xfrm>
              <a:off x="3323" y="5726"/>
              <a:ext cx="531"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a:lnSpc>
                  <a:spcPct val="100000"/>
                </a:lnSpc>
                <a:spcBef>
                  <a:spcPct val="0"/>
                </a:spcBef>
                <a:buFontTx/>
                <a:buNone/>
              </a:pPr>
              <a:r>
                <a:rPr lang="zh-CN" altLang="en-US" sz="1600">
                  <a:latin typeface="Times New Roman" panose="02020603050405020304" pitchFamily="18" charset="0"/>
                  <a:ea typeface="宋体" panose="02010600030101010101" pitchFamily="2" charset="-122"/>
                </a:rPr>
                <a:t>底座</a:t>
              </a:r>
            </a:p>
          </p:txBody>
        </p:sp>
        <p:sp>
          <p:nvSpPr>
            <p:cNvPr id="12324" name="Text Box 32">
              <a:extLst>
                <a:ext uri="{FF2B5EF4-FFF2-40B4-BE49-F238E27FC236}">
                  <a16:creationId xmlns:a16="http://schemas.microsoft.com/office/drawing/2014/main" id="{B4BF2827-4918-DE65-59BC-D5D037DCAEFA}"/>
                </a:ext>
              </a:extLst>
            </p:cNvPr>
            <p:cNvSpPr txBox="1">
              <a:spLocks noChangeArrowheads="1"/>
            </p:cNvSpPr>
            <p:nvPr/>
          </p:nvSpPr>
          <p:spPr bwMode="auto">
            <a:xfrm>
              <a:off x="3507" y="4874"/>
              <a:ext cx="47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1800">
                  <a:latin typeface="Times New Roman" panose="02020603050405020304" pitchFamily="18" charset="0"/>
                  <a:ea typeface="宋体" panose="02010600030101010101" pitchFamily="2" charset="-122"/>
                </a:rPr>
                <a:t>标尺</a:t>
              </a:r>
            </a:p>
          </p:txBody>
        </p:sp>
        <p:sp>
          <p:nvSpPr>
            <p:cNvPr id="12325" name="Text Box 33">
              <a:extLst>
                <a:ext uri="{FF2B5EF4-FFF2-40B4-BE49-F238E27FC236}">
                  <a16:creationId xmlns:a16="http://schemas.microsoft.com/office/drawing/2014/main" id="{F43BDF24-9B17-A04E-A9EA-A5194B0D6AEC}"/>
                </a:ext>
              </a:extLst>
            </p:cNvPr>
            <p:cNvSpPr txBox="1">
              <a:spLocks noChangeArrowheads="1"/>
            </p:cNvSpPr>
            <p:nvPr/>
          </p:nvSpPr>
          <p:spPr bwMode="auto">
            <a:xfrm>
              <a:off x="5860" y="5782"/>
              <a:ext cx="816"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a:lnSpc>
                  <a:spcPct val="100000"/>
                </a:lnSpc>
                <a:spcBef>
                  <a:spcPct val="0"/>
                </a:spcBef>
                <a:buFontTx/>
                <a:buNone/>
              </a:pPr>
              <a:r>
                <a:rPr lang="en-US" altLang="zh-CN" sz="1400">
                  <a:latin typeface="Times New Roman" panose="02020603050405020304" pitchFamily="18" charset="0"/>
                  <a:ea typeface="宋体" panose="02010600030101010101" pitchFamily="2" charset="-122"/>
                </a:rPr>
                <a:t>  </a:t>
              </a:r>
              <a:r>
                <a:rPr lang="zh-CN" altLang="en-US" sz="1400">
                  <a:latin typeface="Times New Roman" panose="02020603050405020304" pitchFamily="18" charset="0"/>
                  <a:ea typeface="宋体" panose="02010600030101010101" pitchFamily="2" charset="-122"/>
                </a:rPr>
                <a:t>刻度</a:t>
              </a:r>
            </a:p>
            <a:p>
              <a:pPr algn="just">
                <a:lnSpc>
                  <a:spcPct val="100000"/>
                </a:lnSpc>
                <a:spcBef>
                  <a:spcPct val="0"/>
                </a:spcBef>
                <a:buFontTx/>
                <a:buNone/>
              </a:pPr>
              <a:r>
                <a:rPr lang="zh-CN" altLang="en-US" sz="1400">
                  <a:latin typeface="Times New Roman" panose="02020603050405020304" pitchFamily="18" charset="0"/>
                  <a:ea typeface="宋体" panose="02010600030101010101" pitchFamily="2" charset="-122"/>
                </a:rPr>
                <a:t>  鼓轮</a:t>
              </a:r>
            </a:p>
          </p:txBody>
        </p:sp>
        <p:sp>
          <p:nvSpPr>
            <p:cNvPr id="12326" name="Line 34">
              <a:extLst>
                <a:ext uri="{FF2B5EF4-FFF2-40B4-BE49-F238E27FC236}">
                  <a16:creationId xmlns:a16="http://schemas.microsoft.com/office/drawing/2014/main" id="{DBE3DA6C-11B1-769F-93EA-A9CCA7FAB48F}"/>
                </a:ext>
              </a:extLst>
            </p:cNvPr>
            <p:cNvSpPr>
              <a:spLocks noChangeShapeType="1"/>
            </p:cNvSpPr>
            <p:nvPr/>
          </p:nvSpPr>
          <p:spPr bwMode="auto">
            <a:xfrm>
              <a:off x="3811" y="5112"/>
              <a:ext cx="152" cy="2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7" name="Line 35">
              <a:extLst>
                <a:ext uri="{FF2B5EF4-FFF2-40B4-BE49-F238E27FC236}">
                  <a16:creationId xmlns:a16="http://schemas.microsoft.com/office/drawing/2014/main" id="{39691134-AD40-9082-C1AC-21D362DF0FB2}"/>
                </a:ext>
              </a:extLst>
            </p:cNvPr>
            <p:cNvSpPr>
              <a:spLocks noChangeShapeType="1"/>
            </p:cNvSpPr>
            <p:nvPr/>
          </p:nvSpPr>
          <p:spPr bwMode="auto">
            <a:xfrm>
              <a:off x="4418" y="4629"/>
              <a:ext cx="76" cy="2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8" name="Line 36">
              <a:extLst>
                <a:ext uri="{FF2B5EF4-FFF2-40B4-BE49-F238E27FC236}">
                  <a16:creationId xmlns:a16="http://schemas.microsoft.com/office/drawing/2014/main" id="{9AD2B1F4-1A4A-D9D3-CB3D-5E2E2E5BF8EE}"/>
                </a:ext>
              </a:extLst>
            </p:cNvPr>
            <p:cNvSpPr>
              <a:spLocks noChangeShapeType="1"/>
            </p:cNvSpPr>
            <p:nvPr/>
          </p:nvSpPr>
          <p:spPr bwMode="auto">
            <a:xfrm flipV="1">
              <a:off x="5480" y="4635"/>
              <a:ext cx="76" cy="2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9" name="Line 37">
              <a:extLst>
                <a:ext uri="{FF2B5EF4-FFF2-40B4-BE49-F238E27FC236}">
                  <a16:creationId xmlns:a16="http://schemas.microsoft.com/office/drawing/2014/main" id="{EA9962E8-9F4D-D696-98CE-BA28420DD887}"/>
                </a:ext>
              </a:extLst>
            </p:cNvPr>
            <p:cNvSpPr>
              <a:spLocks noChangeShapeType="1"/>
            </p:cNvSpPr>
            <p:nvPr/>
          </p:nvSpPr>
          <p:spPr bwMode="auto">
            <a:xfrm>
              <a:off x="5881" y="5582"/>
              <a:ext cx="76" cy="2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0" name="Text Box 38">
              <a:extLst>
                <a:ext uri="{FF2B5EF4-FFF2-40B4-BE49-F238E27FC236}">
                  <a16:creationId xmlns:a16="http://schemas.microsoft.com/office/drawing/2014/main" id="{5D6F8E69-A51B-4EDE-B0F6-2AA1E98BD0B6}"/>
                </a:ext>
              </a:extLst>
            </p:cNvPr>
            <p:cNvSpPr txBox="1">
              <a:spLocks noChangeArrowheads="1"/>
            </p:cNvSpPr>
            <p:nvPr/>
          </p:nvSpPr>
          <p:spPr bwMode="auto">
            <a:xfrm>
              <a:off x="3916" y="6188"/>
              <a:ext cx="2035"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a:lnSpc>
                  <a:spcPct val="100000"/>
                </a:lnSpc>
                <a:spcBef>
                  <a:spcPct val="0"/>
                </a:spcBef>
                <a:buFontTx/>
                <a:buNone/>
              </a:pPr>
              <a:r>
                <a:rPr lang="en-US" altLang="zh-CN" sz="900" dirty="0">
                  <a:latin typeface="Times New Roman" panose="02020603050405020304" pitchFamily="18" charset="0"/>
                  <a:ea typeface="宋体" panose="02010600030101010101" pitchFamily="2" charset="-122"/>
                </a:rPr>
                <a:t>      </a:t>
              </a:r>
              <a:r>
                <a:rPr lang="zh-CN" altLang="en-US" sz="1600" dirty="0">
                  <a:latin typeface="Times New Roman" panose="02020603050405020304" pitchFamily="18" charset="0"/>
                  <a:ea typeface="宋体" panose="02010600030101010101" pitchFamily="2" charset="-122"/>
                </a:rPr>
                <a:t>声速测量仪示意图</a:t>
              </a:r>
            </a:p>
          </p:txBody>
        </p:sp>
        <p:grpSp>
          <p:nvGrpSpPr>
            <p:cNvPr id="12331" name="Group 39">
              <a:extLst>
                <a:ext uri="{FF2B5EF4-FFF2-40B4-BE49-F238E27FC236}">
                  <a16:creationId xmlns:a16="http://schemas.microsoft.com/office/drawing/2014/main" id="{E8DC0295-B3F3-A263-C5C3-A822838F4BEE}"/>
                </a:ext>
              </a:extLst>
            </p:cNvPr>
            <p:cNvGrpSpPr>
              <a:grpSpLocks/>
            </p:cNvGrpSpPr>
            <p:nvPr/>
          </p:nvGrpSpPr>
          <p:grpSpPr bwMode="auto">
            <a:xfrm flipH="1">
              <a:off x="4244" y="4832"/>
              <a:ext cx="358" cy="322"/>
              <a:chOff x="6023" y="4427"/>
              <a:chExt cx="495" cy="468"/>
            </a:xfrm>
          </p:grpSpPr>
          <p:sp>
            <p:nvSpPr>
              <p:cNvPr id="12335" name="Rectangle 40">
                <a:extLst>
                  <a:ext uri="{FF2B5EF4-FFF2-40B4-BE49-F238E27FC236}">
                    <a16:creationId xmlns:a16="http://schemas.microsoft.com/office/drawing/2014/main" id="{72F3A71C-7CBC-8A9C-B5C6-249BDC7A7151}"/>
                  </a:ext>
                </a:extLst>
              </p:cNvPr>
              <p:cNvSpPr>
                <a:spLocks noChangeArrowheads="1"/>
              </p:cNvSpPr>
              <p:nvPr/>
            </p:nvSpPr>
            <p:spPr bwMode="auto">
              <a:xfrm flipH="1">
                <a:off x="6203" y="4511"/>
                <a:ext cx="315" cy="215"/>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36" name="AutoShape 41">
                <a:extLst>
                  <a:ext uri="{FF2B5EF4-FFF2-40B4-BE49-F238E27FC236}">
                    <a16:creationId xmlns:a16="http://schemas.microsoft.com/office/drawing/2014/main" id="{D3397B75-08BC-34CB-9244-BD8F05F818DB}"/>
                  </a:ext>
                </a:extLst>
              </p:cNvPr>
              <p:cNvSpPr>
                <a:spLocks noChangeArrowheads="1"/>
              </p:cNvSpPr>
              <p:nvPr/>
            </p:nvSpPr>
            <p:spPr bwMode="auto">
              <a:xfrm rot="16200000" flipH="1">
                <a:off x="5954" y="4520"/>
                <a:ext cx="318" cy="18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60 h 21600"/>
                  <a:gd name="T14" fmla="*/ 17117 w 21600"/>
                  <a:gd name="T15" fmla="*/ 1716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9525">
                <a:solidFill>
                  <a:srgbClr val="000000"/>
                </a:solidFill>
                <a:miter lim="800000"/>
                <a:headEnd/>
                <a:tailEnd/>
              </a:ln>
            </p:spPr>
            <p:txBody>
              <a:bodyPr/>
              <a:lstStyle/>
              <a:p>
                <a:endParaRPr lang="zh-CN" altLang="en-US"/>
              </a:p>
            </p:txBody>
          </p:sp>
          <p:sp>
            <p:nvSpPr>
              <p:cNvPr id="12337" name="Rectangle 42">
                <a:extLst>
                  <a:ext uri="{FF2B5EF4-FFF2-40B4-BE49-F238E27FC236}">
                    <a16:creationId xmlns:a16="http://schemas.microsoft.com/office/drawing/2014/main" id="{0A46ED80-0A8B-ED09-9D88-22E112C5B69A}"/>
                  </a:ext>
                </a:extLst>
              </p:cNvPr>
              <p:cNvSpPr>
                <a:spLocks noChangeArrowheads="1"/>
              </p:cNvSpPr>
              <p:nvPr/>
            </p:nvSpPr>
            <p:spPr bwMode="auto">
              <a:xfrm>
                <a:off x="6308" y="4427"/>
                <a:ext cx="105" cy="468"/>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sp>
          <p:nvSpPr>
            <p:cNvPr id="12332" name="Rectangle 43">
              <a:extLst>
                <a:ext uri="{FF2B5EF4-FFF2-40B4-BE49-F238E27FC236}">
                  <a16:creationId xmlns:a16="http://schemas.microsoft.com/office/drawing/2014/main" id="{FAF76E35-93A1-EDCE-552E-0D964B4E41E4}"/>
                </a:ext>
              </a:extLst>
            </p:cNvPr>
            <p:cNvSpPr>
              <a:spLocks noChangeArrowheads="1"/>
            </p:cNvSpPr>
            <p:nvPr/>
          </p:nvSpPr>
          <p:spPr bwMode="auto">
            <a:xfrm>
              <a:off x="5740" y="4929"/>
              <a:ext cx="62" cy="59"/>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33" name="Rectangle 44">
              <a:extLst>
                <a:ext uri="{FF2B5EF4-FFF2-40B4-BE49-F238E27FC236}">
                  <a16:creationId xmlns:a16="http://schemas.microsoft.com/office/drawing/2014/main" id="{2E0BA111-F01D-D353-A53C-069EC0D2CB29}"/>
                </a:ext>
              </a:extLst>
            </p:cNvPr>
            <p:cNvSpPr>
              <a:spLocks noChangeArrowheads="1"/>
            </p:cNvSpPr>
            <p:nvPr/>
          </p:nvSpPr>
          <p:spPr bwMode="auto">
            <a:xfrm>
              <a:off x="4184" y="4929"/>
              <a:ext cx="62" cy="59"/>
            </a:xfrm>
            <a:prstGeom prst="rect">
              <a:avLst/>
            </a:prstGeom>
            <a:solidFill>
              <a:srgbClr val="FFFFFF"/>
            </a:solidFill>
            <a:ln w="9525">
              <a:solidFill>
                <a:srgbClr val="000000"/>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2334" name="Rectangle 45">
              <a:extLst>
                <a:ext uri="{FF2B5EF4-FFF2-40B4-BE49-F238E27FC236}">
                  <a16:creationId xmlns:a16="http://schemas.microsoft.com/office/drawing/2014/main" id="{2D3AE8F9-4C0E-17E2-90D2-989397197DA4}"/>
                </a:ext>
              </a:extLst>
            </p:cNvPr>
            <p:cNvSpPr>
              <a:spLocks noChangeArrowheads="1"/>
            </p:cNvSpPr>
            <p:nvPr/>
          </p:nvSpPr>
          <p:spPr bwMode="auto">
            <a:xfrm flipV="1">
              <a:off x="5143" y="6011"/>
              <a:ext cx="174" cy="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sp>
        <p:nvSpPr>
          <p:cNvPr id="12292" name="Text Box 46">
            <a:extLst>
              <a:ext uri="{FF2B5EF4-FFF2-40B4-BE49-F238E27FC236}">
                <a16:creationId xmlns:a16="http://schemas.microsoft.com/office/drawing/2014/main" id="{AE8277CB-57BB-5500-B8BB-33A3C67B23BF}"/>
              </a:ext>
            </a:extLst>
          </p:cNvPr>
          <p:cNvSpPr txBox="1">
            <a:spLocks noChangeArrowheads="1"/>
          </p:cNvSpPr>
          <p:nvPr/>
        </p:nvSpPr>
        <p:spPr bwMode="auto">
          <a:xfrm>
            <a:off x="1674813" y="3868738"/>
            <a:ext cx="12287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2000" b="1" dirty="0">
                <a:solidFill>
                  <a:srgbClr val="0000FF"/>
                </a:solidFill>
                <a:latin typeface="Verdana" panose="020B0604030504040204" pitchFamily="34" charset="0"/>
                <a:ea typeface="宋体" panose="02010600030101010101" pitchFamily="2" charset="-122"/>
              </a:rPr>
              <a:t>电      声</a:t>
            </a:r>
          </a:p>
        </p:txBody>
      </p:sp>
      <p:sp>
        <p:nvSpPr>
          <p:cNvPr id="12293" name="Line 47">
            <a:extLst>
              <a:ext uri="{FF2B5EF4-FFF2-40B4-BE49-F238E27FC236}">
                <a16:creationId xmlns:a16="http://schemas.microsoft.com/office/drawing/2014/main" id="{419D5AFB-1E87-0524-A60B-BFE2EE6E8FA0}"/>
              </a:ext>
            </a:extLst>
          </p:cNvPr>
          <p:cNvSpPr>
            <a:spLocks noChangeShapeType="1"/>
          </p:cNvSpPr>
          <p:nvPr/>
        </p:nvSpPr>
        <p:spPr bwMode="auto">
          <a:xfrm>
            <a:off x="2036763" y="4057650"/>
            <a:ext cx="4318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4" name="Line 48">
            <a:extLst>
              <a:ext uri="{FF2B5EF4-FFF2-40B4-BE49-F238E27FC236}">
                <a16:creationId xmlns:a16="http://schemas.microsoft.com/office/drawing/2014/main" id="{F9A279B4-088C-A9E7-7111-6263FDA6D1C4}"/>
              </a:ext>
            </a:extLst>
          </p:cNvPr>
          <p:cNvSpPr>
            <a:spLocks noChangeShapeType="1"/>
          </p:cNvSpPr>
          <p:nvPr/>
        </p:nvSpPr>
        <p:spPr bwMode="auto">
          <a:xfrm>
            <a:off x="2052638" y="5364163"/>
            <a:ext cx="4333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95" name="Text Box 49">
            <a:extLst>
              <a:ext uri="{FF2B5EF4-FFF2-40B4-BE49-F238E27FC236}">
                <a16:creationId xmlns:a16="http://schemas.microsoft.com/office/drawing/2014/main" id="{E7E7ED3D-772F-A3D9-864E-0929C1D3C136}"/>
              </a:ext>
            </a:extLst>
          </p:cNvPr>
          <p:cNvSpPr txBox="1">
            <a:spLocks noChangeArrowheads="1"/>
          </p:cNvSpPr>
          <p:nvPr/>
        </p:nvSpPr>
        <p:spPr bwMode="auto">
          <a:xfrm>
            <a:off x="1690688" y="5170488"/>
            <a:ext cx="1741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000" b="1">
                <a:solidFill>
                  <a:srgbClr val="0000FF"/>
                </a:solidFill>
                <a:latin typeface="Verdana" panose="020B0604030504040204" pitchFamily="34" charset="0"/>
                <a:ea typeface="宋体" panose="02010600030101010101" pitchFamily="2" charset="-122"/>
              </a:rPr>
              <a:t>声      电</a:t>
            </a:r>
          </a:p>
        </p:txBody>
      </p:sp>
      <p:sp>
        <p:nvSpPr>
          <p:cNvPr id="12296" name="矩形 1">
            <a:extLst>
              <a:ext uri="{FF2B5EF4-FFF2-40B4-BE49-F238E27FC236}">
                <a16:creationId xmlns:a16="http://schemas.microsoft.com/office/drawing/2014/main" id="{2FE465DD-EC11-CC48-C02C-3D3BD51D4E0E}"/>
              </a:ext>
            </a:extLst>
          </p:cNvPr>
          <p:cNvSpPr>
            <a:spLocks noChangeArrowheads="1"/>
          </p:cNvSpPr>
          <p:nvPr/>
        </p:nvSpPr>
        <p:spPr bwMode="auto">
          <a:xfrm>
            <a:off x="446088" y="5578475"/>
            <a:ext cx="847407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spcBef>
                <a:spcPct val="0"/>
              </a:spcBef>
              <a:buFont typeface="Wingdings" panose="05000000000000000000" pitchFamily="2" charset="2"/>
              <a:buChar char="l"/>
            </a:pPr>
            <a:r>
              <a:rPr lang="zh-CN" altLang="en-US" sz="1800" b="1" dirty="0">
                <a:latin typeface="宋体" panose="02010600030101010101" pitchFamily="2" charset="-122"/>
              </a:rPr>
              <a:t>压电陶瓷换能器有一个</a:t>
            </a:r>
            <a:r>
              <a:rPr lang="zh-CN" altLang="en-US" sz="1800" b="1" dirty="0">
                <a:solidFill>
                  <a:srgbClr val="0000FF"/>
                </a:solidFill>
                <a:latin typeface="宋体" panose="02010600030101010101" pitchFamily="2" charset="-122"/>
              </a:rPr>
              <a:t>固有频率</a:t>
            </a:r>
            <a:r>
              <a:rPr lang="en-US" altLang="zh-CN" sz="1800" b="1" i="1" dirty="0">
                <a:solidFill>
                  <a:srgbClr val="0000FF"/>
                </a:solidFill>
                <a:latin typeface="Times New Roman" panose="02020603050405020304" pitchFamily="18" charset="0"/>
              </a:rPr>
              <a:t>f</a:t>
            </a:r>
            <a:r>
              <a:rPr lang="en-US" altLang="zh-CN" sz="1800" b="1" i="1" baseline="-30000" dirty="0">
                <a:solidFill>
                  <a:srgbClr val="0000FF"/>
                </a:solidFill>
                <a:latin typeface="Times New Roman" panose="02020603050405020304" pitchFamily="18" charset="0"/>
              </a:rPr>
              <a:t>0</a:t>
            </a:r>
            <a:r>
              <a:rPr lang="zh-CN" altLang="en-US" sz="1800" b="1" dirty="0">
                <a:latin typeface="宋体" panose="02010600030101010101" pitchFamily="2" charset="-122"/>
              </a:rPr>
              <a:t>（如</a:t>
            </a:r>
            <a:r>
              <a:rPr lang="en-US" altLang="zh-CN" sz="1800" b="1" dirty="0">
                <a:latin typeface="宋体" panose="02010600030101010101" pitchFamily="2" charset="-122"/>
              </a:rPr>
              <a:t>37kHz</a:t>
            </a:r>
            <a:r>
              <a:rPr lang="zh-CN" altLang="en-US" sz="1800" b="1" dirty="0">
                <a:latin typeface="宋体" panose="02010600030101010101" pitchFamily="2" charset="-122"/>
              </a:rPr>
              <a:t>），当输入电信号的频率等于固有频率 </a:t>
            </a:r>
            <a:r>
              <a:rPr lang="en-US" altLang="zh-CN" sz="1800" b="1" i="1" dirty="0">
                <a:latin typeface="Times New Roman" panose="02020603050405020304" pitchFamily="18" charset="0"/>
              </a:rPr>
              <a:t>f</a:t>
            </a:r>
            <a:r>
              <a:rPr lang="en-US" altLang="zh-CN" sz="1800" b="1" i="1" baseline="-30000" dirty="0">
                <a:latin typeface="Times New Roman" panose="02020603050405020304" pitchFamily="18" charset="0"/>
              </a:rPr>
              <a:t>0 </a:t>
            </a:r>
            <a:r>
              <a:rPr lang="zh-CN" altLang="en-US" sz="1800" b="1" dirty="0">
                <a:latin typeface="宋体" panose="02010600030101010101" pitchFamily="2" charset="-122"/>
              </a:rPr>
              <a:t>时，压电陶瓷换能器产生共振，</a:t>
            </a:r>
            <a:r>
              <a:rPr lang="zh-CN" altLang="en-US" sz="1800" b="1" dirty="0">
                <a:solidFill>
                  <a:srgbClr val="0000CC"/>
                </a:solidFill>
                <a:latin typeface="宋体" panose="02010600030101010101" pitchFamily="2" charset="-122"/>
              </a:rPr>
              <a:t>信号最大</a:t>
            </a:r>
            <a:r>
              <a:rPr lang="zh-CN" altLang="en-US" sz="1800" b="1" dirty="0">
                <a:latin typeface="宋体" panose="02010600030101010101" pitchFamily="2" charset="-122"/>
              </a:rPr>
              <a:t>，此时的频率称为</a:t>
            </a:r>
            <a:r>
              <a:rPr lang="zh-CN" altLang="en-US" sz="1800" b="1" dirty="0">
                <a:solidFill>
                  <a:srgbClr val="0000CC"/>
                </a:solidFill>
                <a:latin typeface="宋体" panose="02010600030101010101" pitchFamily="2" charset="-122"/>
              </a:rPr>
              <a:t>谐振频率</a:t>
            </a:r>
            <a:r>
              <a:rPr lang="zh-CN" altLang="en-US" sz="1800" b="1" dirty="0"/>
              <a:t>。</a:t>
            </a:r>
          </a:p>
        </p:txBody>
      </p:sp>
      <p:sp>
        <p:nvSpPr>
          <p:cNvPr id="12297" name="Text Box 49">
            <a:extLst>
              <a:ext uri="{FF2B5EF4-FFF2-40B4-BE49-F238E27FC236}">
                <a16:creationId xmlns:a16="http://schemas.microsoft.com/office/drawing/2014/main" id="{B3B9F744-5D72-40DD-E533-C8C20EFCF253}"/>
              </a:ext>
            </a:extLst>
          </p:cNvPr>
          <p:cNvSpPr txBox="1">
            <a:spLocks noChangeArrowheads="1"/>
          </p:cNvSpPr>
          <p:nvPr/>
        </p:nvSpPr>
        <p:spPr bwMode="auto">
          <a:xfrm>
            <a:off x="9250363" y="2152650"/>
            <a:ext cx="620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sz="1800" b="1">
                <a:solidFill>
                  <a:srgbClr val="0000FF"/>
                </a:solidFill>
                <a:latin typeface="Verdana" panose="020B0604030504040204" pitchFamily="34" charset="0"/>
                <a:ea typeface="宋体" panose="02010600030101010101" pitchFamily="2" charset="-122"/>
              </a:rPr>
              <a:t>S</a:t>
            </a:r>
            <a:r>
              <a:rPr lang="en-US" altLang="zh-CN" sz="1800" b="1" baseline="-25000">
                <a:solidFill>
                  <a:srgbClr val="0000FF"/>
                </a:solidFill>
                <a:latin typeface="Verdana" panose="020B0604030504040204" pitchFamily="34" charset="0"/>
                <a:ea typeface="宋体" panose="02010600030101010101" pitchFamily="2" charset="-122"/>
              </a:rPr>
              <a:t>1</a:t>
            </a:r>
            <a:endParaRPr lang="zh-CN" altLang="en-US" sz="1800" b="1">
              <a:solidFill>
                <a:srgbClr val="0000FF"/>
              </a:solidFill>
              <a:latin typeface="Verdana" panose="020B0604030504040204" pitchFamily="34" charset="0"/>
              <a:ea typeface="宋体" panose="02010600030101010101" pitchFamily="2" charset="-122"/>
            </a:endParaRPr>
          </a:p>
        </p:txBody>
      </p:sp>
      <p:sp>
        <p:nvSpPr>
          <p:cNvPr id="12298" name="Text Box 49">
            <a:extLst>
              <a:ext uri="{FF2B5EF4-FFF2-40B4-BE49-F238E27FC236}">
                <a16:creationId xmlns:a16="http://schemas.microsoft.com/office/drawing/2014/main" id="{6A40EC3A-4D54-E50B-272B-C4BCBD1C4363}"/>
              </a:ext>
            </a:extLst>
          </p:cNvPr>
          <p:cNvSpPr txBox="1">
            <a:spLocks noChangeArrowheads="1"/>
          </p:cNvSpPr>
          <p:nvPr/>
        </p:nvSpPr>
        <p:spPr bwMode="auto">
          <a:xfrm>
            <a:off x="8223250" y="2195513"/>
            <a:ext cx="620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en-US" altLang="zh-CN" sz="1800" b="1">
                <a:solidFill>
                  <a:srgbClr val="0000FF"/>
                </a:solidFill>
                <a:latin typeface="Verdana" panose="020B0604030504040204" pitchFamily="34" charset="0"/>
                <a:ea typeface="宋体" panose="02010600030101010101" pitchFamily="2" charset="-122"/>
              </a:rPr>
              <a:t>S</a:t>
            </a:r>
            <a:r>
              <a:rPr lang="en-US" altLang="zh-CN" sz="1800" b="1" baseline="-25000">
                <a:solidFill>
                  <a:srgbClr val="0000FF"/>
                </a:solidFill>
                <a:latin typeface="Verdana" panose="020B0604030504040204" pitchFamily="34" charset="0"/>
                <a:ea typeface="宋体" panose="02010600030101010101" pitchFamily="2" charset="-122"/>
              </a:rPr>
              <a:t>2</a:t>
            </a:r>
            <a:endParaRPr lang="zh-CN" altLang="en-US" sz="1800" b="1">
              <a:solidFill>
                <a:srgbClr val="0000FF"/>
              </a:solidFill>
              <a:latin typeface="Verdana" panose="020B0604030504040204" pitchFamily="34" charset="0"/>
              <a:ea typeface="宋体" panose="02010600030101010101" pitchFamily="2" charset="-122"/>
            </a:endParaRPr>
          </a:p>
        </p:txBody>
      </p:sp>
      <p:sp>
        <p:nvSpPr>
          <p:cNvPr id="12299" name="标题 1">
            <a:extLst>
              <a:ext uri="{FF2B5EF4-FFF2-40B4-BE49-F238E27FC236}">
                <a16:creationId xmlns:a16="http://schemas.microsoft.com/office/drawing/2014/main" id="{5B712E31-EEE5-9B4A-B4CE-685709B00D9C}"/>
              </a:ext>
            </a:extLst>
          </p:cNvPr>
          <p:cNvSpPr txBox="1">
            <a:spLocks noChangeArrowheads="1"/>
          </p:cNvSpPr>
          <p:nvPr/>
        </p:nvSpPr>
        <p:spPr bwMode="auto">
          <a:xfrm>
            <a:off x="658813" y="358775"/>
            <a:ext cx="10515600"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0"/>
              </a:spcBef>
              <a:buFontTx/>
              <a:buNone/>
            </a:pPr>
            <a:r>
              <a:rPr lang="zh-CN" altLang="en-US" sz="3600">
                <a:latin typeface="黑体" panose="02010609060101010101" pitchFamily="49" charset="-122"/>
                <a:ea typeface="黑体" panose="02010609060101010101" pitchFamily="49" charset="-122"/>
              </a:rPr>
              <a:t>三、实验原理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DC236F83-5E3F-866C-3A6A-CD25BA9B6AC8}"/>
              </a:ext>
            </a:extLst>
          </p:cNvPr>
          <p:cNvSpPr>
            <a:spLocks noGrp="1" noChangeArrowheads="1"/>
          </p:cNvSpPr>
          <p:nvPr>
            <p:ph type="title"/>
          </p:nvPr>
        </p:nvSpPr>
        <p:spPr>
          <a:xfrm>
            <a:off x="838200" y="365125"/>
            <a:ext cx="10515600" cy="982663"/>
          </a:xfrm>
        </p:spPr>
        <p:txBody>
          <a:bodyPr/>
          <a:lstStyle/>
          <a:p>
            <a:pPr eaLnBrk="1" hangingPunct="1"/>
            <a:r>
              <a:rPr lang="zh-CN" altLang="en-US"/>
              <a:t>三、实验原理</a:t>
            </a:r>
          </a:p>
        </p:txBody>
      </p:sp>
      <p:sp>
        <p:nvSpPr>
          <p:cNvPr id="4" name="Rectangle 3">
            <a:extLst>
              <a:ext uri="{FF2B5EF4-FFF2-40B4-BE49-F238E27FC236}">
                <a16:creationId xmlns:a16="http://schemas.microsoft.com/office/drawing/2014/main" id="{99829258-AB45-7F4B-5363-8EE7000D7CE1}"/>
              </a:ext>
            </a:extLst>
          </p:cNvPr>
          <p:cNvSpPr>
            <a:spLocks noGrp="1" noChangeArrowheads="1"/>
          </p:cNvSpPr>
          <p:nvPr>
            <p:ph idx="1"/>
          </p:nvPr>
        </p:nvSpPr>
        <p:spPr>
          <a:xfrm>
            <a:off x="565150" y="3230563"/>
            <a:ext cx="9532938" cy="3562350"/>
          </a:xfrm>
        </p:spPr>
        <p:txBody>
          <a:bodyPr/>
          <a:lstStyle/>
          <a:p>
            <a:pPr marL="0" indent="0" eaLnBrk="1" hangingPunct="1">
              <a:lnSpc>
                <a:spcPct val="125000"/>
              </a:lnSpc>
              <a:buFont typeface="Arial" panose="020B0604020202020204" pitchFamily="34" charset="0"/>
              <a:buNone/>
              <a:defRPr/>
            </a:pPr>
            <a:r>
              <a:rPr lang="zh-CN" altLang="en-US" sz="2400" b="1" dirty="0">
                <a:solidFill>
                  <a:srgbClr val="000000"/>
                </a:solidFill>
                <a:latin typeface="Times New Roman" pitchFamily="18" charset="0"/>
              </a:rPr>
              <a:t>               </a:t>
            </a:r>
            <a:endParaRPr lang="zh-CN" altLang="en-US" sz="2400" b="1" dirty="0">
              <a:latin typeface="Times New Roman" pitchFamily="18" charset="0"/>
            </a:endParaRPr>
          </a:p>
          <a:p>
            <a:pPr marL="342900" indent="-342900" algn="just" eaLnBrk="1" hangingPunct="1">
              <a:lnSpc>
                <a:spcPct val="125000"/>
              </a:lnSpc>
              <a:spcBef>
                <a:spcPct val="20000"/>
              </a:spcBef>
              <a:buFontTx/>
              <a:buChar char="•"/>
              <a:defRPr/>
            </a:pPr>
            <a:r>
              <a:rPr lang="zh-CN" altLang="en-US" sz="2400" b="1" kern="0" dirty="0">
                <a:solidFill>
                  <a:srgbClr val="000000"/>
                </a:solidFill>
              </a:rPr>
              <a:t>声波频率 </a:t>
            </a:r>
            <a:r>
              <a:rPr lang="en-US" altLang="zh-CN" sz="2400" b="1" i="1" kern="0" dirty="0">
                <a:solidFill>
                  <a:srgbClr val="000000"/>
                </a:solidFill>
                <a:latin typeface="Times New Roman" pitchFamily="18" charset="0"/>
                <a:cs typeface="Times New Roman" pitchFamily="18" charset="0"/>
              </a:rPr>
              <a:t>f</a:t>
            </a:r>
            <a:r>
              <a:rPr lang="en-US" altLang="zh-CN" sz="2400" b="1" i="1" kern="0" dirty="0">
                <a:solidFill>
                  <a:srgbClr val="000000"/>
                </a:solidFill>
              </a:rPr>
              <a:t> </a:t>
            </a:r>
            <a:r>
              <a:rPr lang="zh-CN" altLang="en-US" sz="2400" b="1" kern="0" dirty="0">
                <a:solidFill>
                  <a:srgbClr val="000000"/>
                </a:solidFill>
              </a:rPr>
              <a:t>测量方法：利用共振使信号发生器的输出频率等于压电陶瓷环能器本身的固有频率，然后直接由信号发生器读出。</a:t>
            </a:r>
            <a:endParaRPr lang="en-US" altLang="zh-CN" sz="2400" b="1" kern="0" dirty="0">
              <a:solidFill>
                <a:srgbClr val="000000"/>
              </a:solidFill>
            </a:endParaRPr>
          </a:p>
          <a:p>
            <a:pPr marL="342900" indent="-342900" algn="just" eaLnBrk="1" hangingPunct="1">
              <a:lnSpc>
                <a:spcPct val="125000"/>
              </a:lnSpc>
              <a:spcBef>
                <a:spcPct val="20000"/>
              </a:spcBef>
              <a:buFontTx/>
              <a:buChar char="•"/>
              <a:defRPr/>
            </a:pPr>
            <a:endParaRPr lang="en-US" altLang="zh-CN" sz="2400" b="1" kern="0" dirty="0">
              <a:solidFill>
                <a:srgbClr val="000000"/>
              </a:solidFill>
            </a:endParaRPr>
          </a:p>
          <a:p>
            <a:pPr marL="342900" indent="-342900" algn="just" eaLnBrk="1" hangingPunct="1">
              <a:lnSpc>
                <a:spcPct val="125000"/>
              </a:lnSpc>
              <a:spcBef>
                <a:spcPct val="20000"/>
              </a:spcBef>
              <a:buFontTx/>
              <a:buChar char="•"/>
              <a:defRPr/>
            </a:pPr>
            <a:r>
              <a:rPr lang="zh-CN" altLang="en-US" sz="2400" b="1" kern="0" dirty="0">
                <a:solidFill>
                  <a:srgbClr val="000000"/>
                </a:solidFill>
              </a:rPr>
              <a:t>声波波长</a:t>
            </a:r>
            <a:r>
              <a:rPr lang="en-US" altLang="zh-CN" sz="2400" b="1" i="1" kern="0" dirty="0">
                <a:solidFill>
                  <a:srgbClr val="000000"/>
                </a:solidFill>
                <a:latin typeface="Times New Roman" pitchFamily="18" charset="0"/>
                <a:cs typeface="Times New Roman" pitchFamily="18" charset="0"/>
              </a:rPr>
              <a:t>λ</a:t>
            </a:r>
            <a:r>
              <a:rPr lang="zh-CN" altLang="en-US" sz="2400" b="1" kern="0" dirty="0">
                <a:solidFill>
                  <a:srgbClr val="000000"/>
                </a:solidFill>
              </a:rPr>
              <a:t>测量方法：利用</a:t>
            </a:r>
            <a:r>
              <a:rPr lang="zh-CN" altLang="en-US" sz="2400" b="1" kern="0" dirty="0">
                <a:solidFill>
                  <a:srgbClr val="FF0000"/>
                </a:solidFill>
              </a:rPr>
              <a:t>共振干涉法</a:t>
            </a:r>
            <a:r>
              <a:rPr lang="zh-CN" altLang="en-US" sz="2400" b="1" kern="0" dirty="0">
                <a:solidFill>
                  <a:srgbClr val="000000"/>
                </a:solidFill>
              </a:rPr>
              <a:t>和</a:t>
            </a:r>
            <a:r>
              <a:rPr lang="zh-CN" altLang="en-US" sz="2400" b="1" kern="0" dirty="0">
                <a:solidFill>
                  <a:srgbClr val="FF0000"/>
                </a:solidFill>
              </a:rPr>
              <a:t>相位比较法</a:t>
            </a:r>
            <a:r>
              <a:rPr lang="zh-CN" altLang="en-US" sz="2400" b="1" kern="0" dirty="0">
                <a:solidFill>
                  <a:srgbClr val="000000"/>
                </a:solidFill>
              </a:rPr>
              <a:t>来测量超声波的波长。</a:t>
            </a:r>
            <a:r>
              <a:rPr lang="en-US" altLang="zh-CN" sz="2400" b="1" kern="0" dirty="0">
                <a:solidFill>
                  <a:srgbClr val="000000"/>
                </a:solidFill>
              </a:rPr>
              <a:t> </a:t>
            </a:r>
            <a:endParaRPr lang="en-US" altLang="zh-CN" sz="2400" b="1" dirty="0"/>
          </a:p>
        </p:txBody>
      </p:sp>
      <p:sp>
        <p:nvSpPr>
          <p:cNvPr id="13316" name="Rectangle 7">
            <a:extLst>
              <a:ext uri="{FF2B5EF4-FFF2-40B4-BE49-F238E27FC236}">
                <a16:creationId xmlns:a16="http://schemas.microsoft.com/office/drawing/2014/main" id="{9DCCA507-E98D-4493-5589-3004BAB9ABD2}"/>
              </a:ext>
            </a:extLst>
          </p:cNvPr>
          <p:cNvSpPr>
            <a:spLocks noChangeArrowheads="1"/>
          </p:cNvSpPr>
          <p:nvPr/>
        </p:nvSpPr>
        <p:spPr bwMode="auto">
          <a:xfrm>
            <a:off x="-530225" y="465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3317" name="矩形 1">
            <a:extLst>
              <a:ext uri="{FF2B5EF4-FFF2-40B4-BE49-F238E27FC236}">
                <a16:creationId xmlns:a16="http://schemas.microsoft.com/office/drawing/2014/main" id="{CF78046E-59C8-403B-BC73-A9BD70601A4A}"/>
              </a:ext>
            </a:extLst>
          </p:cNvPr>
          <p:cNvSpPr>
            <a:spLocks noChangeArrowheads="1"/>
          </p:cNvSpPr>
          <p:nvPr/>
        </p:nvSpPr>
        <p:spPr bwMode="auto">
          <a:xfrm>
            <a:off x="658813" y="1566863"/>
            <a:ext cx="8628062" cy="122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 typeface="Wingdings" panose="05000000000000000000" pitchFamily="2" charset="2"/>
              <a:buNone/>
            </a:pPr>
            <a:r>
              <a:rPr lang="en-US" altLang="zh-CN" b="1" dirty="0">
                <a:solidFill>
                  <a:srgbClr val="C00000"/>
                </a:solidFill>
                <a:latin typeface="黑体" panose="02010609060101010101" pitchFamily="49" charset="-122"/>
                <a:ea typeface="黑体" panose="02010609060101010101" pitchFamily="49" charset="-122"/>
              </a:rPr>
              <a:t>2.</a:t>
            </a:r>
            <a:r>
              <a:rPr lang="zh-CN" altLang="en-US" b="1" dirty="0">
                <a:solidFill>
                  <a:srgbClr val="C00000"/>
                </a:solidFill>
                <a:latin typeface="黑体" panose="02010609060101010101" pitchFamily="49" charset="-122"/>
                <a:ea typeface="黑体" panose="02010609060101010101" pitchFamily="49" charset="-122"/>
              </a:rPr>
              <a:t>声速测量方法</a:t>
            </a:r>
            <a:endParaRPr lang="en-US" altLang="zh-CN" b="1" dirty="0">
              <a:solidFill>
                <a:srgbClr val="C00000"/>
              </a:solidFill>
              <a:latin typeface="黑体" panose="02010609060101010101" pitchFamily="49" charset="-122"/>
              <a:ea typeface="黑体" panose="02010609060101010101" pitchFamily="49" charset="-122"/>
            </a:endParaRPr>
          </a:p>
          <a:p>
            <a:pPr eaLnBrk="1" hangingPunct="1">
              <a:lnSpc>
                <a:spcPct val="150000"/>
              </a:lnSpc>
              <a:spcBef>
                <a:spcPct val="0"/>
              </a:spcBef>
              <a:buFont typeface="Wingdings" panose="05000000000000000000" pitchFamily="2" charset="2"/>
              <a:buNone/>
            </a:pPr>
            <a:r>
              <a:rPr lang="zh-CN" altLang="en-US" sz="2400" b="1" i="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利用公式 </a:t>
            </a:r>
            <a:r>
              <a:rPr lang="en-US" altLang="zh-CN" sz="2400" b="1" i="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v</a:t>
            </a:r>
            <a:r>
              <a:rPr lang="en-US" altLang="zh-CN" sz="2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f λ </a:t>
            </a:r>
            <a:r>
              <a:rPr lang="zh-CN" altLang="en-US" sz="2400" b="1" dirty="0">
                <a:solidFill>
                  <a:srgbClr val="0000FF"/>
                </a:solidFill>
                <a:latin typeface="黑体" panose="02010609060101010101" pitchFamily="49" charset="-122"/>
                <a:ea typeface="黑体" panose="02010609060101010101" pitchFamily="49" charset="-122"/>
              </a:rPr>
              <a:t>来测量超声波在空气中的传播速度</a:t>
            </a:r>
            <a:endParaRPr lang="en-US" altLang="zh-CN" sz="2400" b="1" dirty="0">
              <a:solidFill>
                <a:srgbClr val="0000FF"/>
              </a:solidFill>
              <a:latin typeface="黑体" panose="02010609060101010101" pitchFamily="49" charset="-122"/>
              <a:ea typeface="黑体" panose="02010609060101010101" pitchFamily="49" charset="-122"/>
            </a:endParaRPr>
          </a:p>
        </p:txBody>
      </p:sp>
      <p:sp>
        <p:nvSpPr>
          <p:cNvPr id="13318" name="矩形 2">
            <a:extLst>
              <a:ext uri="{FF2B5EF4-FFF2-40B4-BE49-F238E27FC236}">
                <a16:creationId xmlns:a16="http://schemas.microsoft.com/office/drawing/2014/main" id="{EE1E2EF5-4E9B-CB38-D730-4CFD3F1C42B2}"/>
              </a:ext>
            </a:extLst>
          </p:cNvPr>
          <p:cNvSpPr>
            <a:spLocks noChangeArrowheads="1"/>
          </p:cNvSpPr>
          <p:nvPr/>
        </p:nvSpPr>
        <p:spPr bwMode="auto">
          <a:xfrm>
            <a:off x="1435100" y="3006725"/>
            <a:ext cx="6069290" cy="506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buFontTx/>
              <a:buNone/>
            </a:pPr>
            <a:r>
              <a:rPr lang="zh-CN" altLang="en-US" sz="2400" b="1" dirty="0">
                <a:solidFill>
                  <a:srgbClr val="000000"/>
                </a:solidFill>
                <a:latin typeface="Times New Roman" panose="02020603050405020304" pitchFamily="18" charset="0"/>
                <a:ea typeface="黑体" panose="02010609060101010101" pitchFamily="49" charset="-122"/>
              </a:rPr>
              <a:t>其中</a:t>
            </a:r>
            <a:r>
              <a:rPr lang="en-GB" altLang="zh-CN" sz="2400" b="1" i="1" dirty="0">
                <a:solidFill>
                  <a:srgbClr val="000000"/>
                </a:solidFill>
                <a:latin typeface="Times New Roman" panose="02020603050405020304" pitchFamily="18" charset="0"/>
                <a:ea typeface="黑体" panose="02010609060101010101" pitchFamily="49" charset="-122"/>
              </a:rPr>
              <a:t>f </a:t>
            </a:r>
            <a:r>
              <a:rPr lang="zh-CN" altLang="en-US" sz="2400" b="1" dirty="0">
                <a:solidFill>
                  <a:srgbClr val="000000"/>
                </a:solidFill>
                <a:latin typeface="Times New Roman" panose="02020603050405020304" pitchFamily="18" charset="0"/>
                <a:ea typeface="黑体" panose="02010609060101010101" pitchFamily="49" charset="-122"/>
              </a:rPr>
              <a:t>为声波在媒质中传播的频率，</a:t>
            </a:r>
            <a:r>
              <a:rPr lang="el-GR" altLang="zh-CN" sz="2400" b="1" i="1" dirty="0">
                <a:solidFill>
                  <a:srgbClr val="000000"/>
                </a:solidFill>
                <a:latin typeface="Times New Roman" panose="02020603050405020304" pitchFamily="18" charset="0"/>
                <a:ea typeface="黑体" panose="02010609060101010101" pitchFamily="49" charset="-122"/>
              </a:rPr>
              <a:t>λ</a:t>
            </a:r>
            <a:r>
              <a:rPr lang="zh-CN" altLang="en-US" sz="2400" b="1" dirty="0">
                <a:solidFill>
                  <a:srgbClr val="000000"/>
                </a:solidFill>
                <a:latin typeface="Times New Roman" panose="02020603050405020304" pitchFamily="18" charset="0"/>
                <a:ea typeface="黑体" panose="02010609060101010101" pitchFamily="49" charset="-122"/>
              </a:rPr>
              <a:t>为波长</a:t>
            </a:r>
            <a:endParaRPr lang="en-US" altLang="zh-CN" sz="2400" b="1" dirty="0">
              <a:solidFill>
                <a:srgbClr val="000000"/>
              </a:solidFill>
              <a:latin typeface="Times New Roman" panose="02020603050405020304" pitchFamily="18" charset="0"/>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961D53DE-03F9-6186-3FE0-B06030B40D69}"/>
              </a:ext>
            </a:extLst>
          </p:cNvPr>
          <p:cNvSpPr>
            <a:spLocks noGrp="1" noChangeArrowheads="1"/>
          </p:cNvSpPr>
          <p:nvPr>
            <p:ph type="title"/>
          </p:nvPr>
        </p:nvSpPr>
        <p:spPr>
          <a:xfrm>
            <a:off x="838200" y="365125"/>
            <a:ext cx="10515600" cy="982663"/>
          </a:xfrm>
        </p:spPr>
        <p:txBody>
          <a:bodyPr/>
          <a:lstStyle/>
          <a:p>
            <a:pPr eaLnBrk="1" hangingPunct="1"/>
            <a:r>
              <a:rPr lang="zh-CN" altLang="en-US"/>
              <a:t>三、实验原理</a:t>
            </a:r>
          </a:p>
        </p:txBody>
      </p:sp>
      <p:sp>
        <p:nvSpPr>
          <p:cNvPr id="14339" name="Rectangle 2">
            <a:extLst>
              <a:ext uri="{FF2B5EF4-FFF2-40B4-BE49-F238E27FC236}">
                <a16:creationId xmlns:a16="http://schemas.microsoft.com/office/drawing/2014/main" id="{8B284027-8BA2-B8D7-1539-F2C44F83B9E2}"/>
              </a:ext>
            </a:extLst>
          </p:cNvPr>
          <p:cNvSpPr txBox="1">
            <a:spLocks noChangeArrowheads="1"/>
          </p:cNvSpPr>
          <p:nvPr/>
        </p:nvSpPr>
        <p:spPr bwMode="auto">
          <a:xfrm>
            <a:off x="457200" y="1966913"/>
            <a:ext cx="52324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0"/>
              </a:spcBef>
              <a:buFontTx/>
              <a:buNone/>
            </a:pPr>
            <a:r>
              <a:rPr lang="zh-CN" altLang="en-US" sz="2600" b="1" dirty="0">
                <a:solidFill>
                  <a:srgbClr val="0000CC"/>
                </a:solidFill>
                <a:latin typeface="Times New Roman" panose="02020603050405020304" pitchFamily="18" charset="0"/>
                <a:ea typeface="黑体" panose="02010609060101010101" pitchFamily="49" charset="-122"/>
              </a:rPr>
              <a:t>（</a:t>
            </a:r>
            <a:r>
              <a:rPr lang="en-US" altLang="zh-CN" sz="2600" b="1" dirty="0">
                <a:solidFill>
                  <a:srgbClr val="0000CC"/>
                </a:solidFill>
                <a:latin typeface="黑体" panose="02010609060101010101" pitchFamily="49" charset="-122"/>
                <a:ea typeface="黑体" panose="02010609060101010101" pitchFamily="49" charset="-122"/>
              </a:rPr>
              <a:t>1</a:t>
            </a:r>
            <a:r>
              <a:rPr lang="zh-CN" altLang="en-US" sz="2600" b="1" dirty="0">
                <a:solidFill>
                  <a:srgbClr val="0000CC"/>
                </a:solidFill>
                <a:latin typeface="黑体" panose="02010609060101010101" pitchFamily="49" charset="-122"/>
                <a:ea typeface="黑体" panose="02010609060101010101" pitchFamily="49" charset="-122"/>
              </a:rPr>
              <a:t>）共振干涉（驻波）法</a:t>
            </a:r>
          </a:p>
        </p:txBody>
      </p:sp>
      <p:sp>
        <p:nvSpPr>
          <p:cNvPr id="14340" name="Rectangle 3">
            <a:extLst>
              <a:ext uri="{FF2B5EF4-FFF2-40B4-BE49-F238E27FC236}">
                <a16:creationId xmlns:a16="http://schemas.microsoft.com/office/drawing/2014/main" id="{D2B846E8-1392-EC48-828F-747ABE1AC297}"/>
              </a:ext>
            </a:extLst>
          </p:cNvPr>
          <p:cNvSpPr>
            <a:spLocks noGrp="1" noChangeArrowheads="1"/>
          </p:cNvSpPr>
          <p:nvPr>
            <p:ph idx="1"/>
          </p:nvPr>
        </p:nvSpPr>
        <p:spPr>
          <a:xfrm>
            <a:off x="506413" y="2693988"/>
            <a:ext cx="5862637" cy="1655762"/>
          </a:xfrm>
        </p:spPr>
        <p:txBody>
          <a:bodyPr/>
          <a:lstStyle/>
          <a:p>
            <a:pPr marL="571500" indent="-571500" eaLnBrk="1" hangingPunct="1">
              <a:lnSpc>
                <a:spcPct val="80000"/>
              </a:lnSpc>
              <a:buFont typeface="Wingdings" panose="05000000000000000000" pitchFamily="2" charset="2"/>
              <a:buNone/>
              <a:defRPr/>
            </a:pPr>
            <a:r>
              <a:rPr lang="zh-CN" altLang="en-US" sz="1800" b="1" dirty="0">
                <a:latin typeface="Times New Roman" panose="02020603050405020304" pitchFamily="18" charset="0"/>
              </a:rPr>
              <a:t> </a:t>
            </a:r>
          </a:p>
          <a:p>
            <a:pPr eaLnBrk="1" hangingPunct="1">
              <a:lnSpc>
                <a:spcPct val="150000"/>
              </a:lnSpc>
              <a:spcBef>
                <a:spcPct val="0"/>
              </a:spcBef>
              <a:defRPr/>
            </a:pPr>
            <a:r>
              <a:rPr lang="en-US" altLang="zh-CN" sz="2000" b="1" dirty="0">
                <a:latin typeface="Times New Roman" panose="02020603050405020304" pitchFamily="18" charset="0"/>
              </a:rPr>
              <a:t>S1</a:t>
            </a:r>
            <a:r>
              <a:rPr lang="zh-CN" altLang="en-US" sz="2000" b="1" dirty="0">
                <a:latin typeface="Times New Roman" panose="02020603050405020304" pitchFamily="18" charset="0"/>
              </a:rPr>
              <a:t>作为超声源（发射头），低频信号发生器输出的正弦交变电压信号接到换能器</a:t>
            </a:r>
            <a:r>
              <a:rPr lang="en-US" altLang="zh-CN" sz="2000" b="1" dirty="0">
                <a:latin typeface="Times New Roman" panose="02020603050405020304" pitchFamily="18" charset="0"/>
              </a:rPr>
              <a:t>S1</a:t>
            </a:r>
            <a:r>
              <a:rPr lang="zh-CN" altLang="en-US" sz="2000" b="1" dirty="0">
                <a:latin typeface="Times New Roman" panose="02020603050405020304" pitchFamily="18" charset="0"/>
              </a:rPr>
              <a:t>上，使</a:t>
            </a:r>
            <a:r>
              <a:rPr lang="en-US" altLang="zh-CN" sz="2000" b="1" dirty="0">
                <a:latin typeface="Times New Roman" panose="02020603050405020304" pitchFamily="18" charset="0"/>
              </a:rPr>
              <a:t>S1</a:t>
            </a:r>
            <a:r>
              <a:rPr lang="zh-CN" altLang="en-US" sz="2000" b="1" dirty="0">
                <a:latin typeface="Times New Roman" panose="02020603050405020304" pitchFamily="18" charset="0"/>
              </a:rPr>
              <a:t>发出一列平面波。</a:t>
            </a:r>
          </a:p>
        </p:txBody>
      </p:sp>
      <p:sp>
        <p:nvSpPr>
          <p:cNvPr id="14341" name="Rectangle 2">
            <a:extLst>
              <a:ext uri="{FF2B5EF4-FFF2-40B4-BE49-F238E27FC236}">
                <a16:creationId xmlns:a16="http://schemas.microsoft.com/office/drawing/2014/main" id="{7D359CA9-36BC-8F3B-5D10-0505A09B7814}"/>
              </a:ext>
            </a:extLst>
          </p:cNvPr>
          <p:cNvSpPr txBox="1">
            <a:spLocks noChangeArrowheads="1"/>
          </p:cNvSpPr>
          <p:nvPr/>
        </p:nvSpPr>
        <p:spPr bwMode="auto">
          <a:xfrm>
            <a:off x="846138" y="1511300"/>
            <a:ext cx="3962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波长</a:t>
            </a:r>
            <a:r>
              <a:rPr lang="en-US" altLang="zh-CN" b="1" i="1">
                <a:solidFill>
                  <a:srgbClr val="C00000"/>
                </a:solidFill>
                <a:latin typeface="黑体" panose="02010609060101010101" pitchFamily="49" charset="-122"/>
                <a:ea typeface="黑体" panose="02010609060101010101" pitchFamily="49" charset="-122"/>
                <a:cs typeface="Times New Roman" panose="02020603050405020304" pitchFamily="18" charset="0"/>
                <a:sym typeface="Symbol" panose="05050102010706020507" pitchFamily="18" charset="2"/>
              </a:rPr>
              <a:t> </a:t>
            </a:r>
            <a:r>
              <a:rPr lang="zh-CN" altLang="en-US" b="1">
                <a:solidFill>
                  <a:srgbClr val="C00000"/>
                </a:solidFill>
                <a:latin typeface="黑体" panose="02010609060101010101" pitchFamily="49" charset="-122"/>
                <a:ea typeface="黑体" panose="02010609060101010101" pitchFamily="49" charset="-122"/>
              </a:rPr>
              <a:t>的测量方法</a:t>
            </a:r>
            <a:endParaRPr lang="zh-CN" altLang="zh-CN" b="1">
              <a:solidFill>
                <a:srgbClr val="C00000"/>
              </a:solidFill>
              <a:latin typeface="黑体" panose="02010609060101010101" pitchFamily="49" charset="-122"/>
              <a:ea typeface="黑体" panose="02010609060101010101" pitchFamily="49" charset="-122"/>
            </a:endParaRPr>
          </a:p>
        </p:txBody>
      </p:sp>
      <p:sp>
        <p:nvSpPr>
          <p:cNvPr id="81" name="矩形 80">
            <a:extLst>
              <a:ext uri="{FF2B5EF4-FFF2-40B4-BE49-F238E27FC236}">
                <a16:creationId xmlns:a16="http://schemas.microsoft.com/office/drawing/2014/main" id="{7B549ABD-F9B3-DE5A-3078-7752AA55D0A3}"/>
              </a:ext>
            </a:extLst>
          </p:cNvPr>
          <p:cNvSpPr/>
          <p:nvPr/>
        </p:nvSpPr>
        <p:spPr>
          <a:xfrm>
            <a:off x="405606" y="4349750"/>
            <a:ext cx="6245225" cy="2808288"/>
          </a:xfrm>
          <a:prstGeom prst="rect">
            <a:avLst/>
          </a:prstGeom>
        </p:spPr>
        <p:txBody>
          <a:bodyPr>
            <a:spAutoFit/>
          </a:bodyPr>
          <a:lstStyle/>
          <a:p>
            <a:pPr marL="342900" indent="-342900" eaLnBrk="1" hangingPunct="1">
              <a:lnSpc>
                <a:spcPct val="150000"/>
              </a:lnSpc>
              <a:spcBef>
                <a:spcPts val="0"/>
              </a:spcBef>
              <a:buFont typeface="Arial" panose="020B0604020202020204" pitchFamily="34" charset="0"/>
              <a:buChar char="•"/>
              <a:defRPr/>
            </a:pPr>
            <a:r>
              <a:rPr lang="en-US" altLang="zh-CN" sz="2000" b="1" kern="0" dirty="0">
                <a:solidFill>
                  <a:srgbClr val="000000"/>
                </a:solidFill>
                <a:latin typeface="Times New Roman" pitchFamily="18" charset="0"/>
                <a:ea typeface="黑体" pitchFamily="49" charset="-122"/>
                <a:cs typeface="Times New Roman" pitchFamily="18" charset="0"/>
              </a:rPr>
              <a:t>S</a:t>
            </a:r>
            <a:r>
              <a:rPr lang="en-US" altLang="zh-CN" sz="2000" b="1" kern="0" baseline="-25000" dirty="0">
                <a:solidFill>
                  <a:srgbClr val="000000"/>
                </a:solidFill>
                <a:latin typeface="Times New Roman" pitchFamily="18" charset="0"/>
                <a:ea typeface="黑体" pitchFamily="49" charset="-122"/>
                <a:cs typeface="Times New Roman" pitchFamily="18" charset="0"/>
              </a:rPr>
              <a:t>2</a:t>
            </a:r>
            <a:r>
              <a:rPr lang="zh-CN" altLang="en-US" sz="2000" b="1" kern="0" dirty="0">
                <a:solidFill>
                  <a:srgbClr val="000000"/>
                </a:solidFill>
                <a:latin typeface="Times New Roman" pitchFamily="18" charset="0"/>
                <a:ea typeface="黑体" pitchFamily="49" charset="-122"/>
                <a:cs typeface="Times New Roman" pitchFamily="18" charset="0"/>
              </a:rPr>
              <a:t>作为超声波接收器，把接收到的声压转换成交变的正弦电压信号后，从示波器</a:t>
            </a:r>
            <a:r>
              <a:rPr lang="en-US" altLang="zh-CN" sz="2000" b="1" kern="0" dirty="0">
                <a:solidFill>
                  <a:srgbClr val="000000"/>
                </a:solidFill>
                <a:latin typeface="Times New Roman" pitchFamily="18" charset="0"/>
                <a:ea typeface="黑体" pitchFamily="49" charset="-122"/>
                <a:cs typeface="Times New Roman" pitchFamily="18" charset="0"/>
              </a:rPr>
              <a:t>CH2</a:t>
            </a:r>
            <a:r>
              <a:rPr lang="zh-CN" altLang="en-US" sz="2000" b="1" kern="0" dirty="0">
                <a:solidFill>
                  <a:srgbClr val="000000"/>
                </a:solidFill>
                <a:latin typeface="Times New Roman" pitchFamily="18" charset="0"/>
                <a:ea typeface="黑体" pitchFamily="49" charset="-122"/>
                <a:cs typeface="Times New Roman" pitchFamily="18" charset="0"/>
              </a:rPr>
              <a:t>接口输入观察。</a:t>
            </a:r>
            <a:endParaRPr lang="en-US" altLang="zh-CN" sz="2000" b="1" kern="0" dirty="0">
              <a:solidFill>
                <a:srgbClr val="000000"/>
              </a:solidFill>
              <a:latin typeface="Times New Roman" pitchFamily="18" charset="0"/>
              <a:ea typeface="黑体" pitchFamily="49" charset="-122"/>
              <a:cs typeface="Times New Roman" pitchFamily="18" charset="0"/>
            </a:endParaRPr>
          </a:p>
          <a:p>
            <a:pPr marL="571500" indent="-571500" eaLnBrk="1" hangingPunct="1">
              <a:lnSpc>
                <a:spcPct val="150000"/>
              </a:lnSpc>
              <a:spcBef>
                <a:spcPts val="0"/>
              </a:spcBef>
              <a:buFontTx/>
              <a:buChar char="•"/>
              <a:defRPr/>
            </a:pPr>
            <a:endParaRPr lang="en-US" altLang="zh-CN" sz="2000" b="1" kern="0" dirty="0">
              <a:solidFill>
                <a:srgbClr val="000000"/>
              </a:solidFill>
              <a:latin typeface="Times New Roman" pitchFamily="18" charset="0"/>
              <a:ea typeface="黑体" pitchFamily="49" charset="-122"/>
              <a:cs typeface="Times New Roman" pitchFamily="18" charset="0"/>
            </a:endParaRPr>
          </a:p>
          <a:p>
            <a:pPr marL="571500" indent="-571500" eaLnBrk="1" hangingPunct="1">
              <a:lnSpc>
                <a:spcPct val="150000"/>
              </a:lnSpc>
              <a:spcBef>
                <a:spcPts val="0"/>
              </a:spcBef>
              <a:buFontTx/>
              <a:buChar char="•"/>
              <a:defRPr/>
            </a:pPr>
            <a:endParaRPr lang="en-US" altLang="zh-CN" sz="2000" b="1" kern="0" dirty="0">
              <a:solidFill>
                <a:srgbClr val="000000"/>
              </a:solidFill>
              <a:latin typeface="Times New Roman" pitchFamily="18" charset="0"/>
              <a:ea typeface="黑体" pitchFamily="49" charset="-122"/>
              <a:cs typeface="Times New Roman" pitchFamily="18" charset="0"/>
            </a:endParaRPr>
          </a:p>
          <a:p>
            <a:pPr marL="571500" indent="-571500" eaLnBrk="1" hangingPunct="1">
              <a:lnSpc>
                <a:spcPct val="150000"/>
              </a:lnSpc>
              <a:spcBef>
                <a:spcPts val="0"/>
              </a:spcBef>
              <a:buFontTx/>
              <a:buChar char="•"/>
              <a:defRPr/>
            </a:pPr>
            <a:endParaRPr lang="en-US" altLang="zh-CN" sz="2000" b="1" kern="0" dirty="0">
              <a:solidFill>
                <a:srgbClr val="000000"/>
              </a:solidFill>
              <a:latin typeface="Times New Roman" pitchFamily="18" charset="0"/>
              <a:ea typeface="黑体" pitchFamily="49" charset="-122"/>
              <a:cs typeface="Times New Roman" pitchFamily="18" charset="0"/>
            </a:endParaRPr>
          </a:p>
          <a:p>
            <a:pPr marL="571500" indent="-571500" eaLnBrk="1" hangingPunct="1">
              <a:lnSpc>
                <a:spcPct val="150000"/>
              </a:lnSpc>
              <a:spcBef>
                <a:spcPts val="0"/>
              </a:spcBef>
              <a:buFontTx/>
              <a:buChar char="•"/>
              <a:defRPr/>
            </a:pPr>
            <a:endParaRPr lang="zh-CN" altLang="en-US" sz="2000" b="1" kern="0" dirty="0">
              <a:solidFill>
                <a:srgbClr val="000000"/>
              </a:solidFill>
              <a:latin typeface="Times New Roman" pitchFamily="18" charset="0"/>
              <a:ea typeface="黑体" pitchFamily="49" charset="-122"/>
              <a:cs typeface="Times New Roman" pitchFamily="18" charset="0"/>
            </a:endParaRPr>
          </a:p>
        </p:txBody>
      </p:sp>
      <p:sp>
        <p:nvSpPr>
          <p:cNvPr id="14343" name="文本框 2">
            <a:extLst>
              <a:ext uri="{FF2B5EF4-FFF2-40B4-BE49-F238E27FC236}">
                <a16:creationId xmlns:a16="http://schemas.microsoft.com/office/drawing/2014/main" id="{B3E8A331-8E56-B00C-3BEE-5E4CEF980EAE}"/>
              </a:ext>
            </a:extLst>
          </p:cNvPr>
          <p:cNvSpPr txBox="1">
            <a:spLocks noChangeArrowheads="1"/>
          </p:cNvSpPr>
          <p:nvPr/>
        </p:nvSpPr>
        <p:spPr bwMode="auto">
          <a:xfrm>
            <a:off x="457200" y="5401468"/>
            <a:ext cx="6129338"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spcBef>
                <a:spcPct val="0"/>
              </a:spcBef>
            </a:pPr>
            <a:r>
              <a:rPr lang="en-US" altLang="zh-CN" sz="2000" b="1" dirty="0">
                <a:latin typeface="Times New Roman" panose="02020603050405020304" pitchFamily="18" charset="0"/>
                <a:ea typeface="黑体" panose="02010609060101010101" pitchFamily="49" charset="-122"/>
              </a:rPr>
              <a:t>S</a:t>
            </a:r>
            <a:r>
              <a:rPr lang="en-US" altLang="zh-CN" sz="2000" b="1" baseline="-30000" dirty="0">
                <a:latin typeface="Times New Roman" panose="02020603050405020304" pitchFamily="18" charset="0"/>
                <a:ea typeface="黑体" panose="02010609060101010101" pitchFamily="49" charset="-122"/>
              </a:rPr>
              <a:t>2</a:t>
            </a:r>
            <a:r>
              <a:rPr lang="zh-CN" altLang="en-US" sz="2000" b="1" dirty="0">
                <a:latin typeface="Times New Roman" panose="02020603050405020304" pitchFamily="18" charset="0"/>
                <a:ea typeface="黑体" panose="02010609060101010101" pitchFamily="49" charset="-122"/>
              </a:rPr>
              <a:t>在接收超声波的同时还反射一部分超声波。由</a:t>
            </a:r>
            <a:r>
              <a:rPr lang="en-US" altLang="zh-CN" sz="2000" b="1" dirty="0">
                <a:latin typeface="Times New Roman" panose="02020603050405020304" pitchFamily="18" charset="0"/>
                <a:ea typeface="黑体" panose="02010609060101010101" pitchFamily="49" charset="-122"/>
              </a:rPr>
              <a:t>S</a:t>
            </a:r>
            <a:r>
              <a:rPr lang="en-US" altLang="zh-CN" sz="2000" b="1" baseline="-25000" dirty="0">
                <a:latin typeface="Times New Roman" panose="02020603050405020304" pitchFamily="18" charset="0"/>
                <a:ea typeface="黑体" panose="02010609060101010101" pitchFamily="49" charset="-122"/>
              </a:rPr>
              <a:t>1</a:t>
            </a:r>
            <a:r>
              <a:rPr lang="zh-CN" altLang="en-US" sz="2000" b="1" dirty="0">
                <a:latin typeface="Times New Roman" panose="02020603050405020304" pitchFamily="18" charset="0"/>
                <a:ea typeface="黑体" panose="02010609060101010101" pitchFamily="49" charset="-122"/>
              </a:rPr>
              <a:t>发出的超声波和由</a:t>
            </a:r>
            <a:r>
              <a:rPr lang="en-US" altLang="zh-CN" sz="2000" b="1" dirty="0">
                <a:latin typeface="Times New Roman" panose="02020603050405020304" pitchFamily="18" charset="0"/>
                <a:ea typeface="黑体" panose="02010609060101010101" pitchFamily="49" charset="-122"/>
              </a:rPr>
              <a:t>S</a:t>
            </a:r>
            <a:r>
              <a:rPr lang="en-US" altLang="zh-CN" sz="2000" b="1" baseline="-30000" dirty="0">
                <a:latin typeface="Times New Roman" panose="02020603050405020304" pitchFamily="18" charset="0"/>
                <a:ea typeface="黑体" panose="02010609060101010101" pitchFamily="49" charset="-122"/>
              </a:rPr>
              <a:t>2</a:t>
            </a:r>
            <a:r>
              <a:rPr lang="zh-CN" altLang="en-US" sz="2000" b="1" dirty="0">
                <a:latin typeface="Times New Roman" panose="02020603050405020304" pitchFamily="18" charset="0"/>
                <a:ea typeface="黑体" panose="02010609060101010101" pitchFamily="49" charset="-122"/>
              </a:rPr>
              <a:t>反射的超声波在</a:t>
            </a:r>
            <a:r>
              <a:rPr lang="en-US" altLang="zh-CN" sz="2000" b="1" dirty="0">
                <a:latin typeface="Times New Roman" panose="02020603050405020304" pitchFamily="18" charset="0"/>
                <a:ea typeface="黑体" panose="02010609060101010101" pitchFamily="49" charset="-122"/>
              </a:rPr>
              <a:t>S</a:t>
            </a:r>
            <a:r>
              <a:rPr lang="en-US" altLang="zh-CN" sz="2000" b="1" baseline="-25000" dirty="0">
                <a:latin typeface="Times New Roman" panose="02020603050405020304" pitchFamily="18" charset="0"/>
                <a:ea typeface="黑体" panose="02010609060101010101" pitchFamily="49" charset="-122"/>
              </a:rPr>
              <a:t>1</a:t>
            </a:r>
            <a:r>
              <a:rPr lang="zh-CN" altLang="en-US" sz="2000" b="1" dirty="0">
                <a:latin typeface="Times New Roman" panose="02020603050405020304" pitchFamily="18" charset="0"/>
                <a:ea typeface="黑体" panose="02010609060101010101" pitchFamily="49" charset="-122"/>
              </a:rPr>
              <a:t>和</a:t>
            </a:r>
            <a:r>
              <a:rPr lang="en-US" altLang="zh-CN" sz="2000" b="1" dirty="0">
                <a:latin typeface="Times New Roman" panose="02020603050405020304" pitchFamily="18" charset="0"/>
                <a:ea typeface="黑体" panose="02010609060101010101" pitchFamily="49" charset="-122"/>
              </a:rPr>
              <a:t>S</a:t>
            </a:r>
            <a:r>
              <a:rPr lang="en-US" altLang="zh-CN" sz="2000" b="1" baseline="-30000" dirty="0">
                <a:latin typeface="Times New Roman" panose="02020603050405020304" pitchFamily="18" charset="0"/>
                <a:ea typeface="黑体" panose="02010609060101010101" pitchFamily="49" charset="-122"/>
              </a:rPr>
              <a:t>2</a:t>
            </a:r>
            <a:r>
              <a:rPr lang="zh-CN" altLang="en-US" sz="2000" b="1" dirty="0">
                <a:latin typeface="Times New Roman" panose="02020603050405020304" pitchFamily="18" charset="0"/>
                <a:ea typeface="黑体" panose="02010609060101010101" pitchFamily="49" charset="-122"/>
              </a:rPr>
              <a:t>之间产生定域干涉，从而形成驻波。</a:t>
            </a:r>
          </a:p>
        </p:txBody>
      </p:sp>
      <p:pic>
        <p:nvPicPr>
          <p:cNvPr id="14344" name="Picture 19" descr="声">
            <a:extLst>
              <a:ext uri="{FF2B5EF4-FFF2-40B4-BE49-F238E27FC236}">
                <a16:creationId xmlns:a16="http://schemas.microsoft.com/office/drawing/2014/main" id="{06E9E4FF-5419-4CEE-604B-2CDC744F7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1638" y="1797050"/>
            <a:ext cx="5045075" cy="323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371EDB35-141E-D9E1-6301-AFF37A83250E}"/>
              </a:ext>
            </a:extLst>
          </p:cNvPr>
          <p:cNvSpPr/>
          <p:nvPr/>
        </p:nvSpPr>
        <p:spPr>
          <a:xfrm>
            <a:off x="7188200" y="5000625"/>
            <a:ext cx="4283075" cy="523875"/>
          </a:xfrm>
          <a:prstGeom prst="rect">
            <a:avLst/>
          </a:prstGeom>
        </p:spPr>
        <p:txBody>
          <a:bodyPr wrap="none">
            <a:spAutoFit/>
          </a:bodyPr>
          <a:lstStyle/>
          <a:p>
            <a:pPr eaLnBrk="1" hangingPunct="1">
              <a:defRPr/>
            </a:pPr>
            <a:r>
              <a:rPr lang="en-US" altLang="zh-CN" sz="2400" b="1" dirty="0">
                <a:solidFill>
                  <a:srgbClr val="333399"/>
                </a:solidFill>
                <a:latin typeface="+mn-ea"/>
                <a:ea typeface="+mn-ea"/>
              </a:rPr>
              <a:t>  </a:t>
            </a:r>
            <a:r>
              <a:rPr lang="zh-CN" altLang="en-US" sz="2800" b="1" dirty="0">
                <a:solidFill>
                  <a:srgbClr val="333399"/>
                </a:solidFill>
                <a:latin typeface="+mn-ea"/>
                <a:ea typeface="+mn-ea"/>
              </a:rPr>
              <a:t>驻波法、相位法连线图</a:t>
            </a:r>
            <a:r>
              <a:rPr lang="zh-CN" altLang="en-US" sz="2800" b="1" dirty="0">
                <a:latin typeface="+mn-ea"/>
                <a:ea typeface="+mn-ea"/>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D81261AE-4591-F2F6-2BF0-69892E40A774}"/>
              </a:ext>
            </a:extLst>
          </p:cNvPr>
          <p:cNvSpPr>
            <a:spLocks noGrp="1" noChangeArrowheads="1"/>
          </p:cNvSpPr>
          <p:nvPr>
            <p:ph type="title"/>
          </p:nvPr>
        </p:nvSpPr>
        <p:spPr>
          <a:xfrm>
            <a:off x="838200" y="338138"/>
            <a:ext cx="10515600" cy="982662"/>
          </a:xfrm>
        </p:spPr>
        <p:txBody>
          <a:bodyPr/>
          <a:lstStyle/>
          <a:p>
            <a:pPr eaLnBrk="1" hangingPunct="1"/>
            <a:r>
              <a:rPr lang="zh-CN" altLang="en-US"/>
              <a:t>三、实验原理</a:t>
            </a:r>
          </a:p>
        </p:txBody>
      </p:sp>
      <p:sp>
        <p:nvSpPr>
          <p:cNvPr id="15363" name="Rectangle 3">
            <a:extLst>
              <a:ext uri="{FF2B5EF4-FFF2-40B4-BE49-F238E27FC236}">
                <a16:creationId xmlns:a16="http://schemas.microsoft.com/office/drawing/2014/main" id="{23A15730-08F7-E6F9-F132-14ECC6BC1BA4}"/>
              </a:ext>
            </a:extLst>
          </p:cNvPr>
          <p:cNvSpPr txBox="1">
            <a:spLocks noChangeArrowheads="1"/>
          </p:cNvSpPr>
          <p:nvPr/>
        </p:nvSpPr>
        <p:spPr bwMode="auto">
          <a:xfrm>
            <a:off x="566738" y="1752600"/>
            <a:ext cx="4694237"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pPr>
            <a:endParaRPr lang="en-US" altLang="zh-CN" sz="2000" b="1">
              <a:latin typeface="Times New Roman" panose="02020603050405020304" pitchFamily="18" charset="0"/>
              <a:ea typeface="黑体" panose="02010609060101010101" pitchFamily="49" charset="-122"/>
            </a:endParaRPr>
          </a:p>
        </p:txBody>
      </p:sp>
      <p:sp>
        <p:nvSpPr>
          <p:cNvPr id="15364" name="Rectangle 33">
            <a:extLst>
              <a:ext uri="{FF2B5EF4-FFF2-40B4-BE49-F238E27FC236}">
                <a16:creationId xmlns:a16="http://schemas.microsoft.com/office/drawing/2014/main" id="{DA155134-A538-9117-1CE0-C242EF09C6EA}"/>
              </a:ext>
            </a:extLst>
          </p:cNvPr>
          <p:cNvSpPr>
            <a:spLocks noChangeArrowheads="1"/>
          </p:cNvSpPr>
          <p:nvPr/>
        </p:nvSpPr>
        <p:spPr bwMode="auto">
          <a:xfrm>
            <a:off x="0" y="3248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5365" name="Object 32">
            <a:extLst>
              <a:ext uri="{FF2B5EF4-FFF2-40B4-BE49-F238E27FC236}">
                <a16:creationId xmlns:a16="http://schemas.microsoft.com/office/drawing/2014/main" id="{1D471ECC-F367-D23F-1273-774A0F8325EF}"/>
              </a:ext>
            </a:extLst>
          </p:cNvPr>
          <p:cNvGraphicFramePr>
            <a:graphicFrameLocks noChangeAspect="1"/>
          </p:cNvGraphicFramePr>
          <p:nvPr/>
        </p:nvGraphicFramePr>
        <p:xfrm>
          <a:off x="836613" y="4560888"/>
          <a:ext cx="4154487" cy="727075"/>
        </p:xfrm>
        <a:graphic>
          <a:graphicData uri="http://schemas.openxmlformats.org/presentationml/2006/ole">
            <mc:AlternateContent xmlns:mc="http://schemas.openxmlformats.org/markup-compatibility/2006">
              <mc:Choice xmlns:v="urn:schemas-microsoft-com:vml" Requires="v">
                <p:oleObj name="公式" r:id="rId2" imgW="1765300" imgH="330200" progId="Equation.3">
                  <p:embed/>
                </p:oleObj>
              </mc:Choice>
              <mc:Fallback>
                <p:oleObj name="公式" r:id="rId2" imgW="1765300" imgH="330200" progId="Equation.3">
                  <p:embed/>
                  <p:pic>
                    <p:nvPicPr>
                      <p:cNvPr id="0" name="Object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4560888"/>
                        <a:ext cx="415448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6" name="Rectangle 35">
            <a:extLst>
              <a:ext uri="{FF2B5EF4-FFF2-40B4-BE49-F238E27FC236}">
                <a16:creationId xmlns:a16="http://schemas.microsoft.com/office/drawing/2014/main" id="{AA902419-60F8-A179-59B9-651E36EE4F44}"/>
              </a:ext>
            </a:extLst>
          </p:cNvPr>
          <p:cNvSpPr>
            <a:spLocks noChangeArrowheads="1"/>
          </p:cNvSpPr>
          <p:nvPr/>
        </p:nvSpPr>
        <p:spPr bwMode="auto">
          <a:xfrm>
            <a:off x="0" y="3257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5367" name="Object 34">
            <a:extLst>
              <a:ext uri="{FF2B5EF4-FFF2-40B4-BE49-F238E27FC236}">
                <a16:creationId xmlns:a16="http://schemas.microsoft.com/office/drawing/2014/main" id="{3D085A89-6A15-F83A-A055-17EFD97EE7C6}"/>
              </a:ext>
            </a:extLst>
          </p:cNvPr>
          <p:cNvGraphicFramePr>
            <a:graphicFrameLocks noChangeAspect="1"/>
          </p:cNvGraphicFramePr>
          <p:nvPr/>
        </p:nvGraphicFramePr>
        <p:xfrm>
          <a:off x="1258888" y="5413375"/>
          <a:ext cx="1944687" cy="700088"/>
        </p:xfrm>
        <a:graphic>
          <a:graphicData uri="http://schemas.openxmlformats.org/presentationml/2006/ole">
            <mc:AlternateContent xmlns:mc="http://schemas.openxmlformats.org/markup-compatibility/2006">
              <mc:Choice xmlns:v="urn:schemas-microsoft-com:vml" Requires="v">
                <p:oleObj name="公式" r:id="rId4" imgW="875920" imgH="393529" progId="Equation.3">
                  <p:embed/>
                </p:oleObj>
              </mc:Choice>
              <mc:Fallback>
                <p:oleObj name="公式" r:id="rId4" imgW="875920" imgH="393529" progId="Equation.3">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5413375"/>
                        <a:ext cx="1944687"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8" name="Rectangle 37">
            <a:extLst>
              <a:ext uri="{FF2B5EF4-FFF2-40B4-BE49-F238E27FC236}">
                <a16:creationId xmlns:a16="http://schemas.microsoft.com/office/drawing/2014/main" id="{BE2D7180-5252-736A-DF4B-C7ACD3D99622}"/>
              </a:ext>
            </a:extLst>
          </p:cNvPr>
          <p:cNvSpPr>
            <a:spLocks noChangeArrowheads="1"/>
          </p:cNvSpPr>
          <p:nvPr/>
        </p:nvSpPr>
        <p:spPr bwMode="auto">
          <a:xfrm>
            <a:off x="0" y="3228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5369" name="Object 36">
            <a:extLst>
              <a:ext uri="{FF2B5EF4-FFF2-40B4-BE49-F238E27FC236}">
                <a16:creationId xmlns:a16="http://schemas.microsoft.com/office/drawing/2014/main" id="{D7B877B4-2D76-CE89-8555-22B2806056E6}"/>
              </a:ext>
            </a:extLst>
          </p:cNvPr>
          <p:cNvGraphicFramePr>
            <a:graphicFrameLocks noChangeAspect="1"/>
          </p:cNvGraphicFramePr>
          <p:nvPr/>
        </p:nvGraphicFramePr>
        <p:xfrm>
          <a:off x="1258888" y="6062663"/>
          <a:ext cx="1009650" cy="673100"/>
        </p:xfrm>
        <a:graphic>
          <a:graphicData uri="http://schemas.openxmlformats.org/presentationml/2006/ole">
            <mc:AlternateContent xmlns:mc="http://schemas.openxmlformats.org/markup-compatibility/2006">
              <mc:Choice xmlns:v="urn:schemas-microsoft-com:vml" Requires="v">
                <p:oleObj name="公式" r:id="rId6" imgW="507780" imgH="393529" progId="Equation.3">
                  <p:embed/>
                </p:oleObj>
              </mc:Choice>
              <mc:Fallback>
                <p:oleObj name="公式" r:id="rId6" imgW="507780" imgH="393529" progId="Equation.3">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6062663"/>
                        <a:ext cx="100965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0" name="Text Box 38">
            <a:extLst>
              <a:ext uri="{FF2B5EF4-FFF2-40B4-BE49-F238E27FC236}">
                <a16:creationId xmlns:a16="http://schemas.microsoft.com/office/drawing/2014/main" id="{3A302EC2-281F-3A43-E461-A6FC1FA2925D}"/>
              </a:ext>
            </a:extLst>
          </p:cNvPr>
          <p:cNvSpPr txBox="1">
            <a:spLocks noChangeArrowheads="1"/>
          </p:cNvSpPr>
          <p:nvPr/>
        </p:nvSpPr>
        <p:spPr bwMode="auto">
          <a:xfrm>
            <a:off x="3419475" y="5557838"/>
            <a:ext cx="1311275"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1">
                <a:solidFill>
                  <a:srgbClr val="C00000"/>
                </a:solidFill>
                <a:latin typeface="黑体" panose="02010609060101010101" pitchFamily="49" charset="-122"/>
                <a:ea typeface="黑体" panose="02010609060101010101" pitchFamily="49" charset="-122"/>
              </a:rPr>
              <a:t>波节</a:t>
            </a:r>
          </a:p>
        </p:txBody>
      </p:sp>
      <p:sp>
        <p:nvSpPr>
          <p:cNvPr id="15371" name="Text Box 39">
            <a:extLst>
              <a:ext uri="{FF2B5EF4-FFF2-40B4-BE49-F238E27FC236}">
                <a16:creationId xmlns:a16="http://schemas.microsoft.com/office/drawing/2014/main" id="{274ECD87-9E9C-EEE2-145F-CACB9F11A1E7}"/>
              </a:ext>
            </a:extLst>
          </p:cNvPr>
          <p:cNvSpPr txBox="1">
            <a:spLocks noChangeArrowheads="1"/>
          </p:cNvSpPr>
          <p:nvPr/>
        </p:nvSpPr>
        <p:spPr bwMode="auto">
          <a:xfrm>
            <a:off x="3419475" y="6205538"/>
            <a:ext cx="1060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1">
                <a:solidFill>
                  <a:srgbClr val="C00000"/>
                </a:solidFill>
                <a:latin typeface="黑体" panose="02010609060101010101" pitchFamily="49" charset="-122"/>
                <a:ea typeface="黑体" panose="02010609060101010101" pitchFamily="49" charset="-122"/>
              </a:rPr>
              <a:t>波腹 </a:t>
            </a:r>
          </a:p>
        </p:txBody>
      </p:sp>
      <p:sp>
        <p:nvSpPr>
          <p:cNvPr id="15372" name="Rectangle 41">
            <a:extLst>
              <a:ext uri="{FF2B5EF4-FFF2-40B4-BE49-F238E27FC236}">
                <a16:creationId xmlns:a16="http://schemas.microsoft.com/office/drawing/2014/main" id="{8F3916C5-335F-06A5-2232-DA29B6721157}"/>
              </a:ext>
            </a:extLst>
          </p:cNvPr>
          <p:cNvSpPr>
            <a:spLocks noChangeArrowheads="1"/>
          </p:cNvSpPr>
          <p:nvPr/>
        </p:nvSpPr>
        <p:spPr bwMode="auto">
          <a:xfrm>
            <a:off x="0"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5373" name="Object 40">
            <a:extLst>
              <a:ext uri="{FF2B5EF4-FFF2-40B4-BE49-F238E27FC236}">
                <a16:creationId xmlns:a16="http://schemas.microsoft.com/office/drawing/2014/main" id="{6809A258-A906-0304-A5F0-4B680F5DBCF2}"/>
              </a:ext>
            </a:extLst>
          </p:cNvPr>
          <p:cNvGraphicFramePr>
            <a:graphicFrameLocks noChangeAspect="1"/>
          </p:cNvGraphicFramePr>
          <p:nvPr/>
        </p:nvGraphicFramePr>
        <p:xfrm>
          <a:off x="3232150" y="3400425"/>
          <a:ext cx="1606550" cy="706438"/>
        </p:xfrm>
        <a:graphic>
          <a:graphicData uri="http://schemas.openxmlformats.org/presentationml/2006/ole">
            <mc:AlternateContent xmlns:mc="http://schemas.openxmlformats.org/markup-compatibility/2006">
              <mc:Choice xmlns:v="urn:schemas-microsoft-com:vml" Requires="v">
                <p:oleObj name="公式" r:id="rId8" imgW="520474" imgH="393529" progId="Equation.3">
                  <p:embed/>
                </p:oleObj>
              </mc:Choice>
              <mc:Fallback>
                <p:oleObj name="公式" r:id="rId8" imgW="520474" imgH="393529" progId="Equation.3">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2150" y="3400425"/>
                        <a:ext cx="16065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74" name="Text Box 42">
            <a:extLst>
              <a:ext uri="{FF2B5EF4-FFF2-40B4-BE49-F238E27FC236}">
                <a16:creationId xmlns:a16="http://schemas.microsoft.com/office/drawing/2014/main" id="{8E43FA06-ECEF-28F2-F703-7672245ACE7F}"/>
              </a:ext>
            </a:extLst>
          </p:cNvPr>
          <p:cNvSpPr txBox="1">
            <a:spLocks noChangeArrowheads="1"/>
          </p:cNvSpPr>
          <p:nvPr/>
        </p:nvSpPr>
        <p:spPr bwMode="auto">
          <a:xfrm>
            <a:off x="671513" y="3522663"/>
            <a:ext cx="2589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1">
                <a:solidFill>
                  <a:srgbClr val="C00000"/>
                </a:solidFill>
                <a:latin typeface="黑体" panose="02010609060101010101" pitchFamily="49" charset="-122"/>
                <a:ea typeface="黑体" panose="02010609060101010101" pitchFamily="49" charset="-122"/>
              </a:rPr>
              <a:t>产生驻波的条件</a:t>
            </a:r>
            <a:r>
              <a:rPr lang="en-US" altLang="zh-CN" sz="2400" b="1">
                <a:solidFill>
                  <a:srgbClr val="C00000"/>
                </a:solidFill>
                <a:latin typeface="黑体" panose="02010609060101010101" pitchFamily="49" charset="-122"/>
                <a:ea typeface="黑体" panose="02010609060101010101" pitchFamily="49" charset="-122"/>
              </a:rPr>
              <a:t>:</a:t>
            </a:r>
            <a:endParaRPr lang="zh-CN" altLang="en-US" sz="2400" b="1">
              <a:solidFill>
                <a:srgbClr val="C00000"/>
              </a:solidFill>
              <a:latin typeface="黑体" panose="02010609060101010101" pitchFamily="49" charset="-122"/>
              <a:ea typeface="黑体" panose="02010609060101010101" pitchFamily="49" charset="-122"/>
            </a:endParaRPr>
          </a:p>
        </p:txBody>
      </p:sp>
      <p:pic>
        <p:nvPicPr>
          <p:cNvPr id="15375" name="Picture 6" descr="QQ截图未命名">
            <a:extLst>
              <a:ext uri="{FF2B5EF4-FFF2-40B4-BE49-F238E27FC236}">
                <a16:creationId xmlns:a16="http://schemas.microsoft.com/office/drawing/2014/main" id="{E46F720E-8FC0-5994-9EDF-4D7FEB986A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53138" y="1536700"/>
            <a:ext cx="4005262"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6" name="Picture 7" descr="QQ截图未命名1">
            <a:extLst>
              <a:ext uri="{FF2B5EF4-FFF2-40B4-BE49-F238E27FC236}">
                <a16:creationId xmlns:a16="http://schemas.microsoft.com/office/drawing/2014/main" id="{1D8D3F5D-8CB1-1416-D64A-88FC029480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53138" y="3479800"/>
            <a:ext cx="400526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7" name="Text Box 42">
            <a:extLst>
              <a:ext uri="{FF2B5EF4-FFF2-40B4-BE49-F238E27FC236}">
                <a16:creationId xmlns:a16="http://schemas.microsoft.com/office/drawing/2014/main" id="{FB68197B-C506-CA10-B486-AA2BE7690F5F}"/>
              </a:ext>
            </a:extLst>
          </p:cNvPr>
          <p:cNvSpPr txBox="1">
            <a:spLocks noChangeArrowheads="1"/>
          </p:cNvSpPr>
          <p:nvPr/>
        </p:nvSpPr>
        <p:spPr bwMode="auto">
          <a:xfrm>
            <a:off x="727075" y="4098925"/>
            <a:ext cx="1963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50000"/>
              </a:spcBef>
              <a:buFontTx/>
              <a:buNone/>
            </a:pPr>
            <a:r>
              <a:rPr lang="zh-CN" altLang="en-US" sz="2400" b="1">
                <a:solidFill>
                  <a:srgbClr val="C00000"/>
                </a:solidFill>
                <a:latin typeface="黑体" panose="02010609060101010101" pitchFamily="49" charset="-122"/>
                <a:ea typeface="黑体" panose="02010609060101010101" pitchFamily="49" charset="-122"/>
              </a:rPr>
              <a:t>驻波方程：</a:t>
            </a:r>
          </a:p>
        </p:txBody>
      </p:sp>
      <p:sp>
        <p:nvSpPr>
          <p:cNvPr id="2" name="文本框 1">
            <a:extLst>
              <a:ext uri="{FF2B5EF4-FFF2-40B4-BE49-F238E27FC236}">
                <a16:creationId xmlns:a16="http://schemas.microsoft.com/office/drawing/2014/main" id="{758E9A01-D9C8-6DC1-D211-FE41F2D0828C}"/>
              </a:ext>
            </a:extLst>
          </p:cNvPr>
          <p:cNvSpPr txBox="1"/>
          <p:nvPr/>
        </p:nvSpPr>
        <p:spPr>
          <a:xfrm>
            <a:off x="368300" y="1925638"/>
            <a:ext cx="5287963" cy="1138237"/>
          </a:xfrm>
          <a:prstGeom prst="rect">
            <a:avLst/>
          </a:prstGeom>
          <a:noFill/>
        </p:spPr>
        <p:txBody>
          <a:bodyPr>
            <a:spAutoFit/>
          </a:bodyPr>
          <a:lstStyle/>
          <a:p>
            <a:pPr eaLnBrk="1" hangingPunct="1">
              <a:lnSpc>
                <a:spcPct val="150000"/>
              </a:lnSpc>
              <a:spcBef>
                <a:spcPts val="0"/>
              </a:spcBef>
              <a:defRPr/>
            </a:pPr>
            <a:r>
              <a:rPr lang="zh-CN" altLang="en-US" sz="2400" b="1" kern="0" dirty="0">
                <a:solidFill>
                  <a:srgbClr val="000000"/>
                </a:solidFill>
                <a:latin typeface="Times New Roman" pitchFamily="18" charset="0"/>
                <a:ea typeface="黑体" pitchFamily="49" charset="-122"/>
                <a:cs typeface="Times New Roman" pitchFamily="18" charset="0"/>
              </a:rPr>
              <a:t>当</a:t>
            </a:r>
            <a:r>
              <a:rPr lang="en-US" altLang="zh-CN" sz="2400" b="1" kern="0" dirty="0">
                <a:solidFill>
                  <a:srgbClr val="000000"/>
                </a:solidFill>
                <a:latin typeface="Times New Roman" pitchFamily="18" charset="0"/>
                <a:ea typeface="黑体" pitchFamily="49" charset="-122"/>
                <a:cs typeface="Times New Roman" pitchFamily="18" charset="0"/>
              </a:rPr>
              <a:t>S</a:t>
            </a:r>
            <a:r>
              <a:rPr lang="en-US" altLang="zh-CN" sz="2400" b="1" kern="0" baseline="-30000" dirty="0">
                <a:solidFill>
                  <a:srgbClr val="000000"/>
                </a:solidFill>
                <a:latin typeface="Times New Roman" pitchFamily="18" charset="0"/>
                <a:ea typeface="黑体" pitchFamily="49" charset="-122"/>
                <a:cs typeface="Times New Roman" pitchFamily="18" charset="0"/>
              </a:rPr>
              <a:t>1</a:t>
            </a:r>
            <a:r>
              <a:rPr lang="zh-CN" altLang="en-US" sz="2400" b="1" kern="0" dirty="0">
                <a:solidFill>
                  <a:srgbClr val="000000"/>
                </a:solidFill>
                <a:latin typeface="Times New Roman" pitchFamily="18" charset="0"/>
                <a:ea typeface="黑体" pitchFamily="49" charset="-122"/>
                <a:cs typeface="Times New Roman" pitchFamily="18" charset="0"/>
              </a:rPr>
              <a:t>和</a:t>
            </a:r>
            <a:r>
              <a:rPr lang="en-US" altLang="zh-CN" sz="2400" b="1" kern="0" dirty="0">
                <a:solidFill>
                  <a:srgbClr val="000000"/>
                </a:solidFill>
                <a:latin typeface="Times New Roman" pitchFamily="18" charset="0"/>
                <a:ea typeface="黑体" pitchFamily="49" charset="-122"/>
                <a:cs typeface="Times New Roman" pitchFamily="18" charset="0"/>
              </a:rPr>
              <a:t>S</a:t>
            </a:r>
            <a:r>
              <a:rPr lang="en-US" altLang="zh-CN" sz="2400" b="1" kern="0" baseline="-30000" dirty="0">
                <a:solidFill>
                  <a:srgbClr val="000000"/>
                </a:solidFill>
                <a:latin typeface="Times New Roman" pitchFamily="18" charset="0"/>
                <a:ea typeface="黑体" pitchFamily="49" charset="-122"/>
                <a:cs typeface="Times New Roman" pitchFamily="18" charset="0"/>
              </a:rPr>
              <a:t>2</a:t>
            </a:r>
            <a:r>
              <a:rPr lang="zh-CN" altLang="en-US" sz="2400" b="1" kern="0" dirty="0">
                <a:solidFill>
                  <a:srgbClr val="000000"/>
                </a:solidFill>
                <a:latin typeface="Times New Roman" pitchFamily="18" charset="0"/>
                <a:ea typeface="黑体" pitchFamily="49" charset="-122"/>
                <a:cs typeface="Times New Roman" pitchFamily="18" charset="0"/>
              </a:rPr>
              <a:t>之间的距离 </a:t>
            </a:r>
            <a:r>
              <a:rPr lang="en-US" altLang="zh-CN" sz="2400" b="1" kern="0" dirty="0">
                <a:solidFill>
                  <a:srgbClr val="000000"/>
                </a:solidFill>
                <a:latin typeface="Times New Roman" pitchFamily="18" charset="0"/>
                <a:ea typeface="黑体" pitchFamily="49" charset="-122"/>
                <a:cs typeface="Times New Roman" pitchFamily="18" charset="0"/>
              </a:rPr>
              <a:t>L </a:t>
            </a:r>
            <a:r>
              <a:rPr lang="zh-CN" altLang="en-US" sz="2400" b="1" kern="0" dirty="0">
                <a:solidFill>
                  <a:srgbClr val="000000"/>
                </a:solidFill>
                <a:latin typeface="Times New Roman" pitchFamily="18" charset="0"/>
                <a:ea typeface="黑体" pitchFamily="49" charset="-122"/>
                <a:cs typeface="Times New Roman" pitchFamily="18" charset="0"/>
              </a:rPr>
              <a:t>满足下式：</a:t>
            </a:r>
            <a:endParaRPr lang="en-US" altLang="zh-CN" sz="2400" b="1" kern="0" dirty="0">
              <a:solidFill>
                <a:srgbClr val="000000"/>
              </a:solidFill>
              <a:latin typeface="Times New Roman" pitchFamily="18" charset="0"/>
              <a:ea typeface="黑体" pitchFamily="49" charset="-122"/>
              <a:cs typeface="Times New Roman" pitchFamily="18" charset="0"/>
            </a:endParaRPr>
          </a:p>
          <a:p>
            <a:pPr eaLnBrk="1" hangingPunct="1">
              <a:lnSpc>
                <a:spcPct val="150000"/>
              </a:lnSpc>
              <a:spcBef>
                <a:spcPts val="0"/>
              </a:spcBef>
              <a:defRPr/>
            </a:pPr>
            <a:r>
              <a:rPr lang="en-US" altLang="zh-CN" sz="2400" b="1" i="1" kern="0" dirty="0">
                <a:solidFill>
                  <a:srgbClr val="000000"/>
                </a:solidFill>
                <a:latin typeface="Times New Roman" pitchFamily="18" charset="0"/>
                <a:ea typeface="黑体" pitchFamily="49" charset="-122"/>
                <a:cs typeface="Times New Roman" pitchFamily="18" charset="0"/>
              </a:rPr>
              <a:t>  </a:t>
            </a:r>
            <a:r>
              <a:rPr lang="en-US" altLang="zh-CN" sz="2400" b="1" i="1" kern="0" dirty="0">
                <a:solidFill>
                  <a:srgbClr val="0000FF"/>
                </a:solidFill>
                <a:latin typeface="Times New Roman" pitchFamily="18" charset="0"/>
                <a:ea typeface="黑体" pitchFamily="49" charset="-122"/>
                <a:cs typeface="Times New Roman" pitchFamily="18" charset="0"/>
              </a:rPr>
              <a:t>L=  </a:t>
            </a:r>
            <a:r>
              <a:rPr lang="en-US" altLang="zh-CN" sz="2400" b="1" kern="0" dirty="0">
                <a:solidFill>
                  <a:srgbClr val="0000FF"/>
                </a:solidFill>
                <a:latin typeface="Times New Roman" pitchFamily="18" charset="0"/>
                <a:ea typeface="黑体" pitchFamily="49" charset="-122"/>
                <a:cs typeface="Times New Roman" pitchFamily="18" charset="0"/>
              </a:rPr>
              <a:t>k</a:t>
            </a:r>
            <a:r>
              <a:rPr lang="en-US" altLang="zh-CN" sz="2400" b="1" i="1" kern="0" dirty="0">
                <a:solidFill>
                  <a:srgbClr val="0000FF"/>
                </a:solidFill>
                <a:latin typeface="Times New Roman" pitchFamily="18" charset="0"/>
                <a:ea typeface="黑体" pitchFamily="49" charset="-122"/>
                <a:cs typeface="Times New Roman" pitchFamily="18" charset="0"/>
              </a:rPr>
              <a:t> </a:t>
            </a:r>
            <a:r>
              <a:rPr lang="en-US" altLang="zh-CN" sz="2400" b="1" i="1" kern="0" dirty="0">
                <a:solidFill>
                  <a:srgbClr val="0000FF"/>
                </a:solidFill>
                <a:latin typeface="Times New Roman" pitchFamily="18" charset="0"/>
                <a:ea typeface="黑体" pitchFamily="49" charset="-122"/>
                <a:cs typeface="Times New Roman" pitchFamily="18" charset="0"/>
                <a:sym typeface="Symbol" pitchFamily="18" charset="2"/>
              </a:rPr>
              <a:t> </a:t>
            </a:r>
            <a:r>
              <a:rPr lang="en-US" altLang="zh-CN" sz="2400" b="1" kern="0" dirty="0">
                <a:solidFill>
                  <a:srgbClr val="0000FF"/>
                </a:solidFill>
                <a:latin typeface="Times New Roman" pitchFamily="18" charset="0"/>
                <a:ea typeface="黑体" pitchFamily="49" charset="-122"/>
                <a:cs typeface="Times New Roman" pitchFamily="18" charset="0"/>
                <a:sym typeface="Symbol" pitchFamily="18" charset="2"/>
              </a:rPr>
              <a:t>/2</a:t>
            </a:r>
            <a:r>
              <a:rPr lang="en-US" altLang="zh-CN" sz="2400" b="1" kern="0" dirty="0">
                <a:solidFill>
                  <a:srgbClr val="000000"/>
                </a:solidFill>
                <a:latin typeface="Times New Roman" pitchFamily="18" charset="0"/>
                <a:ea typeface="黑体" pitchFamily="49" charset="-122"/>
                <a:cs typeface="Times New Roman" pitchFamily="18" charset="0"/>
              </a:rPr>
              <a:t> </a:t>
            </a:r>
            <a:r>
              <a:rPr lang="zh-CN" altLang="en-US" sz="2400" b="1" kern="0" dirty="0">
                <a:solidFill>
                  <a:srgbClr val="000000"/>
                </a:solidFill>
                <a:latin typeface="Times New Roman" pitchFamily="18" charset="0"/>
                <a:ea typeface="黑体" pitchFamily="49" charset="-122"/>
                <a:cs typeface="Times New Roman" pitchFamily="18" charset="0"/>
              </a:rPr>
              <a:t>（</a:t>
            </a:r>
            <a:r>
              <a:rPr lang="en-US" altLang="zh-CN" sz="2400" b="1" i="1" kern="0" dirty="0">
                <a:solidFill>
                  <a:srgbClr val="000000"/>
                </a:solidFill>
                <a:latin typeface="Times New Roman" pitchFamily="18" charset="0"/>
                <a:ea typeface="黑体" pitchFamily="49" charset="-122"/>
                <a:cs typeface="Times New Roman" pitchFamily="18" charset="0"/>
              </a:rPr>
              <a:t>k</a:t>
            </a:r>
            <a:r>
              <a:rPr lang="en-US" altLang="zh-CN" sz="2400" b="1" kern="0" dirty="0">
                <a:solidFill>
                  <a:srgbClr val="000000"/>
                </a:solidFill>
                <a:latin typeface="Times New Roman" pitchFamily="18" charset="0"/>
                <a:ea typeface="黑体" pitchFamily="49" charset="-122"/>
                <a:cs typeface="Times New Roman" pitchFamily="18" charset="0"/>
              </a:rPr>
              <a:t>=1</a:t>
            </a:r>
            <a:r>
              <a:rPr lang="zh-CN" altLang="en-US" sz="2400" b="1" kern="0" dirty="0">
                <a:solidFill>
                  <a:srgbClr val="000000"/>
                </a:solidFill>
                <a:latin typeface="Times New Roman" pitchFamily="18" charset="0"/>
                <a:ea typeface="黑体" pitchFamily="49" charset="-122"/>
                <a:cs typeface="Times New Roman" pitchFamily="18" charset="0"/>
              </a:rPr>
              <a:t>、</a:t>
            </a:r>
            <a:r>
              <a:rPr lang="en-US" altLang="zh-CN" sz="2400" b="1" kern="0" dirty="0">
                <a:solidFill>
                  <a:srgbClr val="000000"/>
                </a:solidFill>
                <a:latin typeface="Times New Roman" pitchFamily="18" charset="0"/>
                <a:ea typeface="黑体" pitchFamily="49" charset="-122"/>
                <a:cs typeface="Times New Roman" pitchFamily="18" charset="0"/>
              </a:rPr>
              <a:t>2..</a:t>
            </a:r>
            <a:r>
              <a:rPr lang="zh-CN" altLang="en-US" sz="2400" b="1" kern="0" dirty="0">
                <a:solidFill>
                  <a:srgbClr val="000000"/>
                </a:solidFill>
                <a:latin typeface="Times New Roman" pitchFamily="18" charset="0"/>
                <a:ea typeface="黑体" pitchFamily="49" charset="-122"/>
                <a:cs typeface="Times New Roman" pitchFamily="18" charset="0"/>
              </a:rPr>
              <a:t>）时，</a:t>
            </a:r>
            <a:r>
              <a:rPr lang="zh-CN" altLang="en-US" sz="2400" b="1" kern="0" dirty="0">
                <a:solidFill>
                  <a:srgbClr val="0000FF"/>
                </a:solidFill>
                <a:latin typeface="Times New Roman" pitchFamily="18" charset="0"/>
                <a:ea typeface="黑体" pitchFamily="49" charset="-122"/>
                <a:cs typeface="Times New Roman" pitchFamily="18" charset="0"/>
              </a:rPr>
              <a:t>形成驻波</a:t>
            </a:r>
            <a:endParaRPr lang="zh-CN"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FC46D354-8652-04D1-C39C-3244C16FCD4C}"/>
              </a:ext>
            </a:extLst>
          </p:cNvPr>
          <p:cNvSpPr>
            <a:spLocks noGrp="1" noChangeArrowheads="1"/>
          </p:cNvSpPr>
          <p:nvPr>
            <p:ph type="title"/>
          </p:nvPr>
        </p:nvSpPr>
        <p:spPr>
          <a:xfrm>
            <a:off x="838200" y="365125"/>
            <a:ext cx="10515600" cy="982663"/>
          </a:xfrm>
        </p:spPr>
        <p:txBody>
          <a:bodyPr/>
          <a:lstStyle/>
          <a:p>
            <a:pPr eaLnBrk="1" hangingPunct="1"/>
            <a:r>
              <a:rPr lang="zh-CN" altLang="en-US"/>
              <a:t>三、实验原理</a:t>
            </a:r>
          </a:p>
        </p:txBody>
      </p:sp>
      <p:graphicFrame>
        <p:nvGraphicFramePr>
          <p:cNvPr id="16387" name="Object 2">
            <a:extLst>
              <a:ext uri="{FF2B5EF4-FFF2-40B4-BE49-F238E27FC236}">
                <a16:creationId xmlns:a16="http://schemas.microsoft.com/office/drawing/2014/main" id="{3B726654-A322-CC92-CEE0-499337DBA43D}"/>
              </a:ext>
            </a:extLst>
          </p:cNvPr>
          <p:cNvGraphicFramePr>
            <a:graphicFrameLocks noChangeAspect="1"/>
          </p:cNvGraphicFramePr>
          <p:nvPr/>
        </p:nvGraphicFramePr>
        <p:xfrm>
          <a:off x="495300" y="1550988"/>
          <a:ext cx="3759200" cy="3579812"/>
        </p:xfrm>
        <a:graphic>
          <a:graphicData uri="http://schemas.openxmlformats.org/presentationml/2006/ole">
            <mc:AlternateContent xmlns:mc="http://schemas.openxmlformats.org/markup-compatibility/2006">
              <mc:Choice xmlns:v="urn:schemas-microsoft-com:vml" Requires="v">
                <p:oleObj name="Chart" r:id="rId2" imgW="3505010" imgH="2743411" progId="MSGraph.Chart.8">
                  <p:embed followColorScheme="full"/>
                </p:oleObj>
              </mc:Choice>
              <mc:Fallback>
                <p:oleObj name="Chart" r:id="rId2" imgW="3505010" imgH="2743411" progId="MSGraph.Chart.8">
                  <p:embed followColorScheme="full"/>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550988"/>
                        <a:ext cx="3759200" cy="3579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5">
            <a:extLst>
              <a:ext uri="{FF2B5EF4-FFF2-40B4-BE49-F238E27FC236}">
                <a16:creationId xmlns:a16="http://schemas.microsoft.com/office/drawing/2014/main" id="{EF6E568D-5271-03D3-F546-358007E916F0}"/>
              </a:ext>
            </a:extLst>
          </p:cNvPr>
          <p:cNvGraphicFramePr>
            <a:graphicFrameLocks noChangeAspect="1"/>
          </p:cNvGraphicFramePr>
          <p:nvPr/>
        </p:nvGraphicFramePr>
        <p:xfrm>
          <a:off x="4229100" y="1485900"/>
          <a:ext cx="3733800" cy="3665538"/>
        </p:xfrm>
        <a:graphic>
          <a:graphicData uri="http://schemas.openxmlformats.org/presentationml/2006/ole">
            <mc:AlternateContent xmlns:mc="http://schemas.openxmlformats.org/markup-compatibility/2006">
              <mc:Choice xmlns:v="urn:schemas-microsoft-com:vml" Requires="v">
                <p:oleObj name="Chart" r:id="rId4" imgW="3495747" imgH="2447844" progId="MSGraph.Chart.8">
                  <p:embed followColorScheme="full"/>
                </p:oleObj>
              </mc:Choice>
              <mc:Fallback>
                <p:oleObj name="Chart" r:id="rId4" imgW="3495747" imgH="2447844" progId="MSGraph.Chart.8">
                  <p:embed followColorScheme="full"/>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9100" y="1485900"/>
                        <a:ext cx="3733800" cy="3665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Text Box 6">
            <a:extLst>
              <a:ext uri="{FF2B5EF4-FFF2-40B4-BE49-F238E27FC236}">
                <a16:creationId xmlns:a16="http://schemas.microsoft.com/office/drawing/2014/main" id="{8A7F2BFF-2ECD-6665-E240-8AB51E58FE26}"/>
              </a:ext>
            </a:extLst>
          </p:cNvPr>
          <p:cNvSpPr txBox="1">
            <a:spLocks noChangeArrowheads="1"/>
          </p:cNvSpPr>
          <p:nvPr/>
        </p:nvSpPr>
        <p:spPr bwMode="auto">
          <a:xfrm>
            <a:off x="1204913" y="5751513"/>
            <a:ext cx="609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50000"/>
              </a:spcBef>
              <a:buFontTx/>
              <a:buNone/>
            </a:pPr>
            <a:r>
              <a:rPr kumimoji="1" lang="zh-CN" altLang="en-US" sz="2400">
                <a:solidFill>
                  <a:srgbClr val="000000"/>
                </a:solidFill>
                <a:latin typeface="黑体" panose="02010609060101010101" pitchFamily="49" charset="-122"/>
                <a:ea typeface="黑体" panose="02010609060101010101" pitchFamily="49" charset="-122"/>
              </a:rPr>
              <a:t>结论：每两个相邻波腹（波节）间的距离为</a:t>
            </a:r>
          </a:p>
        </p:txBody>
      </p:sp>
      <p:graphicFrame>
        <p:nvGraphicFramePr>
          <p:cNvPr id="16390" name="Object 7">
            <a:extLst>
              <a:ext uri="{FF2B5EF4-FFF2-40B4-BE49-F238E27FC236}">
                <a16:creationId xmlns:a16="http://schemas.microsoft.com/office/drawing/2014/main" id="{DE44358D-ADAD-614E-A45C-A1257AF113A8}"/>
              </a:ext>
            </a:extLst>
          </p:cNvPr>
          <p:cNvGraphicFramePr>
            <a:graphicFrameLocks noChangeAspect="1"/>
          </p:cNvGraphicFramePr>
          <p:nvPr/>
        </p:nvGraphicFramePr>
        <p:xfrm>
          <a:off x="7150100" y="5673725"/>
          <a:ext cx="463550" cy="628650"/>
        </p:xfrm>
        <a:graphic>
          <a:graphicData uri="http://schemas.openxmlformats.org/presentationml/2006/ole">
            <mc:AlternateContent xmlns:mc="http://schemas.openxmlformats.org/markup-compatibility/2006">
              <mc:Choice xmlns:v="urn:schemas-microsoft-com:vml" Requires="v">
                <p:oleObj name="Equation" r:id="rId6" imgW="241195" imgH="304668" progId="Equation.3">
                  <p:embed/>
                </p:oleObj>
              </mc:Choice>
              <mc:Fallback>
                <p:oleObj name="Equation" r:id="rId6" imgW="241195" imgH="304668"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50100" y="5673725"/>
                        <a:ext cx="4635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6391" name="Picture 8">
            <a:extLst>
              <a:ext uri="{FF2B5EF4-FFF2-40B4-BE49-F238E27FC236}">
                <a16:creationId xmlns:a16="http://schemas.microsoft.com/office/drawing/2014/main" id="{FEC8D86C-EDC0-ADC2-1F3F-CA39F7ED45C1}"/>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8113713" y="2085975"/>
            <a:ext cx="3582987"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A764F47A-27DA-89EC-6E25-DCA5922F6204}"/>
              </a:ext>
            </a:extLst>
          </p:cNvPr>
          <p:cNvSpPr txBox="1"/>
          <p:nvPr/>
        </p:nvSpPr>
        <p:spPr>
          <a:xfrm>
            <a:off x="3049588" y="2971800"/>
            <a:ext cx="6097587" cy="455613"/>
          </a:xfrm>
          <a:prstGeom prst="rect">
            <a:avLst/>
          </a:prstGeom>
          <a:noFill/>
        </p:spPr>
        <p:txBody>
          <a:bodyPr>
            <a:spAutoFit/>
          </a:bodyPr>
          <a:lstStyle/>
          <a:p>
            <a:pPr marL="571500" indent="-571500" eaLnBrk="1" hangingPunct="1">
              <a:lnSpc>
                <a:spcPct val="150000"/>
              </a:lnSpc>
              <a:spcBef>
                <a:spcPts val="0"/>
              </a:spcBef>
              <a:buFontTx/>
              <a:buChar char="•"/>
              <a:defRPr/>
            </a:pPr>
            <a:r>
              <a:rPr lang="zh-CN" altLang="en-US" b="1" kern="0" dirty="0">
                <a:solidFill>
                  <a:srgbClr val="0000FF"/>
                </a:solidFill>
                <a:latin typeface="Times New Roman" pitchFamily="18" charset="0"/>
                <a:ea typeface="黑体" pitchFamily="49" charset="-122"/>
                <a:cs typeface="Times New Roman" pitchFamily="18"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281143F9-706B-3BB8-9E26-C021FFC56965}"/>
              </a:ext>
            </a:extLst>
          </p:cNvPr>
          <p:cNvSpPr>
            <a:spLocks noGrp="1" noChangeArrowheads="1"/>
          </p:cNvSpPr>
          <p:nvPr>
            <p:ph type="title"/>
          </p:nvPr>
        </p:nvSpPr>
        <p:spPr>
          <a:xfrm>
            <a:off x="838200" y="365125"/>
            <a:ext cx="10515600" cy="982663"/>
          </a:xfrm>
        </p:spPr>
        <p:txBody>
          <a:bodyPr/>
          <a:lstStyle/>
          <a:p>
            <a:pPr eaLnBrk="1" hangingPunct="1"/>
            <a:r>
              <a:rPr lang="zh-CN" altLang="en-US"/>
              <a:t>三、实验原理</a:t>
            </a:r>
          </a:p>
        </p:txBody>
      </p:sp>
      <p:sp>
        <p:nvSpPr>
          <p:cNvPr id="17411" name="Rectangle 3">
            <a:extLst>
              <a:ext uri="{FF2B5EF4-FFF2-40B4-BE49-F238E27FC236}">
                <a16:creationId xmlns:a16="http://schemas.microsoft.com/office/drawing/2014/main" id="{335E65D6-EB50-5FDB-13F5-1921E7894521}"/>
              </a:ext>
            </a:extLst>
          </p:cNvPr>
          <p:cNvSpPr>
            <a:spLocks noGrp="1" noChangeArrowheads="1"/>
          </p:cNvSpPr>
          <p:nvPr>
            <p:ph idx="1"/>
          </p:nvPr>
        </p:nvSpPr>
        <p:spPr>
          <a:xfrm>
            <a:off x="623888" y="1689100"/>
            <a:ext cx="10355262" cy="3797300"/>
          </a:xfrm>
        </p:spPr>
        <p:txBody>
          <a:bodyPr/>
          <a:lstStyle/>
          <a:p>
            <a:pPr eaLnBrk="1" hangingPunct="1">
              <a:lnSpc>
                <a:spcPct val="125000"/>
              </a:lnSpc>
              <a:defRPr/>
            </a:pPr>
            <a:r>
              <a:rPr lang="zh-CN" altLang="en-US" sz="2400" b="1" dirty="0">
                <a:latin typeface="Times New Roman" panose="02020603050405020304" pitchFamily="18" charset="0"/>
              </a:rPr>
              <a:t>对某一特定波长，将相继出现一系列共振态，任意两个相邻的共振态之间，</a:t>
            </a:r>
            <a:r>
              <a:rPr lang="en-US" altLang="zh-CN" sz="2400" b="1" dirty="0">
                <a:latin typeface="Times New Roman" panose="02020603050405020304" pitchFamily="18" charset="0"/>
              </a:rPr>
              <a:t>S</a:t>
            </a:r>
            <a:r>
              <a:rPr lang="en-US" altLang="zh-CN" sz="2400" b="1" baseline="-25000" dirty="0">
                <a:latin typeface="Times New Roman" panose="02020603050405020304" pitchFamily="18" charset="0"/>
              </a:rPr>
              <a:t>2</a:t>
            </a:r>
            <a:r>
              <a:rPr lang="zh-CN" altLang="en-US" sz="2400" b="1" dirty="0">
                <a:latin typeface="Times New Roman" panose="02020603050405020304" pitchFamily="18" charset="0"/>
              </a:rPr>
              <a:t>的移动位移为：</a:t>
            </a:r>
          </a:p>
          <a:p>
            <a:pPr marL="0" indent="0" eaLnBrk="1" hangingPunct="1">
              <a:lnSpc>
                <a:spcPct val="125000"/>
              </a:lnSpc>
              <a:buFont typeface="Arial" panose="020B0604020202020204" pitchFamily="34" charset="0"/>
              <a:buNone/>
              <a:defRPr/>
            </a:pPr>
            <a:endParaRPr lang="zh-CN" altLang="en-US" sz="2400" b="1" dirty="0">
              <a:latin typeface="Times New Roman" panose="02020603050405020304" pitchFamily="18" charset="0"/>
            </a:endParaRPr>
          </a:p>
          <a:p>
            <a:pPr eaLnBrk="1" hangingPunct="1">
              <a:lnSpc>
                <a:spcPts val="3900"/>
              </a:lnSpc>
              <a:spcAft>
                <a:spcPts val="600"/>
              </a:spcAft>
              <a:defRPr/>
            </a:pPr>
            <a:r>
              <a:rPr lang="zh-CN" altLang="en-US" sz="2200" b="1" dirty="0">
                <a:latin typeface="Times New Roman" panose="02020603050405020304" pitchFamily="18" charset="0"/>
              </a:rPr>
              <a:t>所以当</a:t>
            </a:r>
            <a:r>
              <a:rPr lang="en-US" altLang="zh-CN" sz="2200" b="1" dirty="0">
                <a:latin typeface="Times New Roman" panose="02020603050405020304" pitchFamily="18" charset="0"/>
              </a:rPr>
              <a:t>S</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S</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之间的距离 </a:t>
            </a:r>
            <a:r>
              <a:rPr lang="en-US" altLang="zh-CN" sz="2200" b="1" i="1" dirty="0">
                <a:latin typeface="Times New Roman" panose="02020603050405020304" pitchFamily="18" charset="0"/>
              </a:rPr>
              <a:t>L </a:t>
            </a:r>
            <a:r>
              <a:rPr lang="zh-CN" altLang="en-US" sz="2200" b="1" dirty="0">
                <a:latin typeface="Times New Roman" panose="02020603050405020304" pitchFamily="18" charset="0"/>
              </a:rPr>
              <a:t>连续改变时，示波器上的信号幅度每一次周期性变化，相当于</a:t>
            </a:r>
            <a:r>
              <a:rPr lang="en-US" altLang="zh-CN" sz="2200" b="1" dirty="0">
                <a:latin typeface="Times New Roman" panose="02020603050405020304" pitchFamily="18" charset="0"/>
              </a:rPr>
              <a:t>S</a:t>
            </a:r>
            <a:r>
              <a:rPr lang="en-US" altLang="zh-CN" sz="2200" b="1" baseline="-25000" dirty="0">
                <a:latin typeface="Times New Roman" panose="02020603050405020304" pitchFamily="18" charset="0"/>
              </a:rPr>
              <a:t>1</a:t>
            </a:r>
            <a:r>
              <a:rPr lang="zh-CN" altLang="en-US" sz="2200" b="1" dirty="0">
                <a:latin typeface="Times New Roman" panose="02020603050405020304" pitchFamily="18" charset="0"/>
              </a:rPr>
              <a:t>和</a:t>
            </a:r>
            <a:r>
              <a:rPr lang="en-US" altLang="zh-CN" sz="2200" b="1" dirty="0">
                <a:latin typeface="Times New Roman" panose="02020603050405020304" pitchFamily="18" charset="0"/>
              </a:rPr>
              <a:t>S</a:t>
            </a:r>
            <a:r>
              <a:rPr lang="en-US" altLang="zh-CN" sz="2200" b="1" baseline="-25000" dirty="0">
                <a:latin typeface="Times New Roman" panose="02020603050405020304" pitchFamily="18" charset="0"/>
              </a:rPr>
              <a:t>2</a:t>
            </a:r>
            <a:r>
              <a:rPr lang="zh-CN" altLang="en-US" sz="2200" b="1" dirty="0">
                <a:latin typeface="Times New Roman" panose="02020603050405020304" pitchFamily="18" charset="0"/>
              </a:rPr>
              <a:t>之间的距离改变了     ，此距离可由游标卡尺测得；</a:t>
            </a:r>
            <a:r>
              <a:rPr lang="zh-CN" altLang="en-US" sz="2200" b="1" dirty="0">
                <a:latin typeface="Arial" panose="020B0604020202020204" pitchFamily="34" charset="0"/>
              </a:rPr>
              <a:t>调节信号源</a:t>
            </a:r>
            <a:r>
              <a:rPr lang="zh-CN" altLang="en-US" sz="2200" b="1" dirty="0"/>
              <a:t>的“频率调节” 旋钮使</a:t>
            </a:r>
            <a:r>
              <a:rPr lang="zh-CN" altLang="en-US" sz="2200" b="1" dirty="0">
                <a:solidFill>
                  <a:srgbClr val="0000CC"/>
                </a:solidFill>
              </a:rPr>
              <a:t>激励频率</a:t>
            </a:r>
            <a:r>
              <a:rPr lang="zh-CN" altLang="en-US" sz="2200" b="1" dirty="0">
                <a:latin typeface="Arial" panose="020B0604020202020204" pitchFamily="34" charset="0"/>
              </a:rPr>
              <a:t>等于驻波系统的</a:t>
            </a:r>
            <a:r>
              <a:rPr lang="zh-CN" altLang="en-US" sz="2200" b="1" dirty="0">
                <a:solidFill>
                  <a:srgbClr val="0000CC"/>
                </a:solidFill>
                <a:latin typeface="Arial" panose="020B0604020202020204" pitchFamily="34" charset="0"/>
              </a:rPr>
              <a:t>固有频率</a:t>
            </a:r>
            <a:r>
              <a:rPr lang="zh-CN" altLang="en-US" sz="2200" b="1" dirty="0">
                <a:latin typeface="Arial" panose="020B0604020202020204" pitchFamily="34" charset="0"/>
              </a:rPr>
              <a:t>时，产生驻波</a:t>
            </a:r>
            <a:r>
              <a:rPr lang="zh-CN" altLang="en-US" sz="2200" b="1" dirty="0">
                <a:solidFill>
                  <a:srgbClr val="0000CC"/>
                </a:solidFill>
                <a:latin typeface="Arial" panose="020B0604020202020204" pitchFamily="34" charset="0"/>
              </a:rPr>
              <a:t>共振</a:t>
            </a:r>
            <a:r>
              <a:rPr lang="zh-CN" altLang="en-US" sz="2200" b="1" dirty="0">
                <a:latin typeface="Arial" panose="020B0604020202020204" pitchFamily="34" charset="0"/>
              </a:rPr>
              <a:t>，波腹处的振幅达到相对最大值，此时可从信号源直接读取声波的频率</a:t>
            </a:r>
            <a:r>
              <a:rPr lang="en-US" altLang="zh-CN" sz="2200" b="1" dirty="0">
                <a:latin typeface="Arial" panose="020B0604020202020204" pitchFamily="34" charset="0"/>
              </a:rPr>
              <a:t>f</a:t>
            </a:r>
            <a:r>
              <a:rPr lang="zh-CN" altLang="en-US" sz="2200" b="1" dirty="0">
                <a:latin typeface="Arial" panose="020B0604020202020204" pitchFamily="34" charset="0"/>
              </a:rPr>
              <a:t> 值。</a:t>
            </a:r>
            <a:endParaRPr lang="zh-CN" altLang="en-US" sz="2200" b="1" dirty="0">
              <a:latin typeface="Times New Roman" panose="02020603050405020304" pitchFamily="18" charset="0"/>
            </a:endParaRPr>
          </a:p>
        </p:txBody>
      </p:sp>
      <p:graphicFrame>
        <p:nvGraphicFramePr>
          <p:cNvPr id="17412" name="Object 4">
            <a:extLst>
              <a:ext uri="{FF2B5EF4-FFF2-40B4-BE49-F238E27FC236}">
                <a16:creationId xmlns:a16="http://schemas.microsoft.com/office/drawing/2014/main" id="{EE6B1541-60DC-713B-30BD-8E08F767D90A}"/>
              </a:ext>
            </a:extLst>
          </p:cNvPr>
          <p:cNvGraphicFramePr>
            <a:graphicFrameLocks noChangeAspect="1"/>
          </p:cNvGraphicFramePr>
          <p:nvPr/>
        </p:nvGraphicFramePr>
        <p:xfrm>
          <a:off x="3538538" y="2254250"/>
          <a:ext cx="5216525" cy="1071563"/>
        </p:xfrm>
        <a:graphic>
          <a:graphicData uri="http://schemas.openxmlformats.org/presentationml/2006/ole">
            <mc:AlternateContent xmlns:mc="http://schemas.openxmlformats.org/markup-compatibility/2006">
              <mc:Choice xmlns:v="urn:schemas-microsoft-com:vml" Requires="v">
                <p:oleObj name="公式" r:id="rId2" imgW="2730500" imgH="406400" progId="Equation.3">
                  <p:embed/>
                </p:oleObj>
              </mc:Choice>
              <mc:Fallback>
                <p:oleObj name="公式" r:id="rId2" imgW="2730500" imgH="4064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8538" y="2254250"/>
                        <a:ext cx="5216525"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3" name="Rectangle 7">
            <a:extLst>
              <a:ext uri="{FF2B5EF4-FFF2-40B4-BE49-F238E27FC236}">
                <a16:creationId xmlns:a16="http://schemas.microsoft.com/office/drawing/2014/main" id="{3A466883-D995-0623-4E09-6CC42F056ED1}"/>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7414" name="Object 6">
            <a:extLst>
              <a:ext uri="{FF2B5EF4-FFF2-40B4-BE49-F238E27FC236}">
                <a16:creationId xmlns:a16="http://schemas.microsoft.com/office/drawing/2014/main" id="{EE75385C-FA77-3852-1590-5E138E3A4A7F}"/>
              </a:ext>
            </a:extLst>
          </p:cNvPr>
          <p:cNvGraphicFramePr>
            <a:graphicFrameLocks noChangeAspect="1"/>
          </p:cNvGraphicFramePr>
          <p:nvPr>
            <p:extLst>
              <p:ext uri="{D42A27DB-BD31-4B8C-83A1-F6EECF244321}">
                <p14:modId xmlns:p14="http://schemas.microsoft.com/office/powerpoint/2010/main" val="905670064"/>
              </p:ext>
            </p:extLst>
          </p:nvPr>
        </p:nvGraphicFramePr>
        <p:xfrm>
          <a:off x="4833938" y="3714897"/>
          <a:ext cx="311150" cy="750888"/>
        </p:xfrm>
        <a:graphic>
          <a:graphicData uri="http://schemas.openxmlformats.org/presentationml/2006/ole">
            <mc:AlternateContent xmlns:mc="http://schemas.openxmlformats.org/markup-compatibility/2006">
              <mc:Choice xmlns:v="urn:schemas-microsoft-com:vml" Requires="v">
                <p:oleObj name="公式" r:id="rId4" imgW="164957" imgH="393359" progId="Equation.3">
                  <p:embed/>
                </p:oleObj>
              </mc:Choice>
              <mc:Fallback>
                <p:oleObj name="公式" r:id="rId4" imgW="164957" imgH="39335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3938" y="3714897"/>
                        <a:ext cx="31115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5" name="Rectangle 9">
            <a:extLst>
              <a:ext uri="{FF2B5EF4-FFF2-40B4-BE49-F238E27FC236}">
                <a16:creationId xmlns:a16="http://schemas.microsoft.com/office/drawing/2014/main" id="{CDB6EE7C-16A6-5EC5-E992-428036ED1F5F}"/>
              </a:ext>
            </a:extLst>
          </p:cNvPr>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sp>
        <p:nvSpPr>
          <p:cNvPr id="17416" name="Rectangle 11">
            <a:extLst>
              <a:ext uri="{FF2B5EF4-FFF2-40B4-BE49-F238E27FC236}">
                <a16:creationId xmlns:a16="http://schemas.microsoft.com/office/drawing/2014/main" id="{56F3C5EA-6CCA-82DF-DD75-03AD4AF0E44A}"/>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7417" name="Object 10">
            <a:extLst>
              <a:ext uri="{FF2B5EF4-FFF2-40B4-BE49-F238E27FC236}">
                <a16:creationId xmlns:a16="http://schemas.microsoft.com/office/drawing/2014/main" id="{0A429434-091B-427C-4E5F-7099CC79CFC2}"/>
              </a:ext>
            </a:extLst>
          </p:cNvPr>
          <p:cNvGraphicFramePr>
            <a:graphicFrameLocks noChangeAspect="1"/>
          </p:cNvGraphicFramePr>
          <p:nvPr/>
        </p:nvGraphicFramePr>
        <p:xfrm>
          <a:off x="3405188" y="5835650"/>
          <a:ext cx="1584325" cy="538163"/>
        </p:xfrm>
        <a:graphic>
          <a:graphicData uri="http://schemas.openxmlformats.org/presentationml/2006/ole">
            <mc:AlternateContent xmlns:mc="http://schemas.openxmlformats.org/markup-compatibility/2006">
              <mc:Choice xmlns:v="urn:schemas-microsoft-com:vml" Requires="v">
                <p:oleObj name="公式" r:id="rId6" imgW="469696" imgH="190417" progId="Equation.3">
                  <p:embed/>
                </p:oleObj>
              </mc:Choice>
              <mc:Fallback>
                <p:oleObj name="公式" r:id="rId6" imgW="469696" imgH="190417"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5188" y="5835650"/>
                        <a:ext cx="1584325"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8" name="矩形 15">
            <a:extLst>
              <a:ext uri="{FF2B5EF4-FFF2-40B4-BE49-F238E27FC236}">
                <a16:creationId xmlns:a16="http://schemas.microsoft.com/office/drawing/2014/main" id="{282B4DE7-D3BF-2B72-A6BE-58E127D4940F}"/>
              </a:ext>
            </a:extLst>
          </p:cNvPr>
          <p:cNvSpPr>
            <a:spLocks noChangeArrowheads="1"/>
          </p:cNvSpPr>
          <p:nvPr/>
        </p:nvSpPr>
        <p:spPr bwMode="auto">
          <a:xfrm>
            <a:off x="920750" y="5873750"/>
            <a:ext cx="8137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2400" b="1" dirty="0">
                <a:latin typeface="Times New Roman" panose="02020603050405020304" pitchFamily="18" charset="0"/>
              </a:rPr>
              <a:t>根据波速公式 ：</a:t>
            </a:r>
            <a:r>
              <a:rPr lang="zh-CN" altLang="en-US" sz="2400" b="1" dirty="0"/>
              <a:t>        </a:t>
            </a:r>
            <a:r>
              <a:rPr lang="en-US" altLang="zh-CN" sz="2400" b="1" dirty="0"/>
              <a:t>                </a:t>
            </a:r>
            <a:r>
              <a:rPr lang="zh-CN" altLang="en-US" sz="2400" b="1" dirty="0"/>
              <a:t>，</a:t>
            </a:r>
            <a:r>
              <a:rPr lang="en-US" altLang="zh-CN" sz="2400" b="1" dirty="0"/>
              <a:t>   </a:t>
            </a:r>
            <a:r>
              <a:rPr lang="zh-CN" altLang="en-US" sz="2400" b="1" dirty="0"/>
              <a:t> 可以求得声速  </a:t>
            </a:r>
            <a:endParaRPr lang="zh-CN" altLang="en-US" sz="2400"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E449DF08-6591-78DD-8513-7DF202D2238D}"/>
              </a:ext>
            </a:extLst>
          </p:cNvPr>
          <p:cNvSpPr>
            <a:spLocks noGrp="1" noChangeArrowheads="1"/>
          </p:cNvSpPr>
          <p:nvPr>
            <p:ph type="title"/>
          </p:nvPr>
        </p:nvSpPr>
        <p:spPr>
          <a:xfrm>
            <a:off x="838200" y="365125"/>
            <a:ext cx="3702050" cy="982663"/>
          </a:xfrm>
        </p:spPr>
        <p:txBody>
          <a:bodyPr/>
          <a:lstStyle/>
          <a:p>
            <a:pPr eaLnBrk="1" hangingPunct="1"/>
            <a:r>
              <a:rPr lang="zh-CN" altLang="en-US"/>
              <a:t>三、实验原理</a:t>
            </a:r>
          </a:p>
        </p:txBody>
      </p:sp>
      <p:sp>
        <p:nvSpPr>
          <p:cNvPr id="18435" name="Rectangle 2">
            <a:extLst>
              <a:ext uri="{FF2B5EF4-FFF2-40B4-BE49-F238E27FC236}">
                <a16:creationId xmlns:a16="http://schemas.microsoft.com/office/drawing/2014/main" id="{359C1806-02E4-064F-7B3E-9870A6FA278B}"/>
              </a:ext>
            </a:extLst>
          </p:cNvPr>
          <p:cNvSpPr txBox="1">
            <a:spLocks noChangeArrowheads="1"/>
          </p:cNvSpPr>
          <p:nvPr/>
        </p:nvSpPr>
        <p:spPr bwMode="auto">
          <a:xfrm>
            <a:off x="398463" y="1493838"/>
            <a:ext cx="31527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0"/>
              </a:spcBef>
              <a:buFontTx/>
              <a:buNone/>
            </a:pPr>
            <a:r>
              <a:rPr lang="en-US" altLang="zh-CN" sz="2600" b="1">
                <a:solidFill>
                  <a:srgbClr val="FF0000"/>
                </a:solidFill>
                <a:latin typeface="Times New Roman" panose="02020603050405020304" pitchFamily="18" charset="0"/>
                <a:ea typeface="黑体" panose="02010609060101010101" pitchFamily="49" charset="-122"/>
              </a:rPr>
              <a:t>2.</a:t>
            </a:r>
            <a:r>
              <a:rPr lang="zh-CN" altLang="en-US" sz="2600" b="1">
                <a:solidFill>
                  <a:srgbClr val="FF0000"/>
                </a:solidFill>
                <a:latin typeface="Times New Roman" panose="02020603050405020304" pitchFamily="18" charset="0"/>
                <a:ea typeface="黑体" panose="02010609060101010101" pitchFamily="49" charset="-122"/>
              </a:rPr>
              <a:t>相位比较法</a:t>
            </a:r>
            <a:endParaRPr lang="en-US" altLang="zh-CN" sz="2600" b="1">
              <a:solidFill>
                <a:srgbClr val="FF0000"/>
              </a:solidFill>
              <a:latin typeface="Times New Roman" panose="02020603050405020304" pitchFamily="18" charset="0"/>
              <a:ea typeface="黑体" panose="02010609060101010101" pitchFamily="49" charset="-122"/>
            </a:endParaRPr>
          </a:p>
        </p:txBody>
      </p:sp>
      <p:sp>
        <p:nvSpPr>
          <p:cNvPr id="18436" name="Rectangle 3">
            <a:extLst>
              <a:ext uri="{FF2B5EF4-FFF2-40B4-BE49-F238E27FC236}">
                <a16:creationId xmlns:a16="http://schemas.microsoft.com/office/drawing/2014/main" id="{2C71CA17-1E36-8E22-0377-EBC84E53F03C}"/>
              </a:ext>
            </a:extLst>
          </p:cNvPr>
          <p:cNvSpPr>
            <a:spLocks noGrp="1" noChangeArrowheads="1"/>
          </p:cNvSpPr>
          <p:nvPr>
            <p:ph idx="1"/>
          </p:nvPr>
        </p:nvSpPr>
        <p:spPr>
          <a:xfrm>
            <a:off x="225425" y="2063750"/>
            <a:ext cx="5395913" cy="3754438"/>
          </a:xfrm>
        </p:spPr>
        <p:txBody>
          <a:bodyPr/>
          <a:lstStyle/>
          <a:p>
            <a:pPr eaLnBrk="1" hangingPunct="1">
              <a:lnSpc>
                <a:spcPct val="125000"/>
              </a:lnSpc>
            </a:pPr>
            <a:r>
              <a:rPr lang="zh-CN" altLang="en-US" sz="2000" b="1" dirty="0">
                <a:latin typeface="Times New Roman" panose="02020603050405020304" pitchFamily="18" charset="0"/>
              </a:rPr>
              <a:t>当</a:t>
            </a:r>
            <a:r>
              <a:rPr lang="en-US" altLang="zh-CN" sz="2000" b="1" dirty="0">
                <a:latin typeface="Times New Roman" panose="02020603050405020304" pitchFamily="18" charset="0"/>
              </a:rPr>
              <a:t>S</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发出的平面超声波通过媒质到达接收器</a:t>
            </a:r>
            <a:r>
              <a:rPr lang="en-US" altLang="zh-CN" sz="2000" b="1" dirty="0">
                <a:latin typeface="Times New Roman" panose="02020603050405020304" pitchFamily="18" charset="0"/>
              </a:rPr>
              <a:t>S</a:t>
            </a:r>
            <a:r>
              <a:rPr lang="en-US" altLang="zh-CN" sz="2000" b="1" baseline="-25000" dirty="0">
                <a:latin typeface="Times New Roman" panose="02020603050405020304" pitchFamily="18" charset="0"/>
              </a:rPr>
              <a:t>2</a:t>
            </a:r>
            <a:r>
              <a:rPr lang="zh-CN" altLang="en-US" sz="2000" b="1" dirty="0">
                <a:latin typeface="Times New Roman" panose="02020603050405020304" pitchFamily="18" charset="0"/>
              </a:rPr>
              <a:t>时，在发射波和接收波之间产生位相差：</a:t>
            </a:r>
            <a:endParaRPr lang="en-US" altLang="zh-CN" sz="2000" b="1" dirty="0">
              <a:latin typeface="Times New Roman" panose="02020603050405020304" pitchFamily="18" charset="0"/>
            </a:endParaRPr>
          </a:p>
          <a:p>
            <a:pPr eaLnBrk="1" hangingPunct="1">
              <a:lnSpc>
                <a:spcPct val="125000"/>
              </a:lnSpc>
            </a:pPr>
            <a:endParaRPr lang="en-US" altLang="zh-CN" sz="2000" b="1" dirty="0">
              <a:latin typeface="Times New Roman" panose="02020603050405020304" pitchFamily="18" charset="0"/>
            </a:endParaRPr>
          </a:p>
          <a:p>
            <a:pPr eaLnBrk="1" hangingPunct="1">
              <a:lnSpc>
                <a:spcPct val="125000"/>
              </a:lnSpc>
            </a:pPr>
            <a:endParaRPr lang="en-US" altLang="zh-CN" sz="2000" b="1" dirty="0">
              <a:latin typeface="Times New Roman" panose="02020603050405020304" pitchFamily="18" charset="0"/>
            </a:endParaRPr>
          </a:p>
          <a:p>
            <a:pPr eaLnBrk="1" hangingPunct="1">
              <a:lnSpc>
                <a:spcPct val="125000"/>
              </a:lnSpc>
            </a:pPr>
            <a:r>
              <a:rPr lang="zh-CN" altLang="en-US" sz="2000" b="1" dirty="0">
                <a:latin typeface="Times New Roman" panose="02020603050405020304" pitchFamily="18" charset="0"/>
              </a:rPr>
              <a:t>      的测定可用相互垂直振动合成的李莎如图形来进行。</a:t>
            </a:r>
            <a:endParaRPr lang="en-US" altLang="zh-CN" sz="2000" b="1" dirty="0">
              <a:latin typeface="Times New Roman" panose="02020603050405020304" pitchFamily="18" charset="0"/>
            </a:endParaRPr>
          </a:p>
          <a:p>
            <a:pPr eaLnBrk="1" hangingPunct="1">
              <a:lnSpc>
                <a:spcPct val="125000"/>
              </a:lnSpc>
            </a:pPr>
            <a:r>
              <a:rPr lang="zh-CN" altLang="en-US" sz="2000" b="1" dirty="0">
                <a:latin typeface="Times New Roman" panose="02020603050405020304" pitchFamily="18" charset="0"/>
              </a:rPr>
              <a:t>改变</a:t>
            </a:r>
            <a:r>
              <a:rPr lang="en-US" altLang="zh-CN" sz="2000" b="1" dirty="0">
                <a:latin typeface="Times New Roman" panose="02020603050405020304" pitchFamily="18" charset="0"/>
              </a:rPr>
              <a:t>S</a:t>
            </a:r>
            <a:r>
              <a:rPr lang="en-US" altLang="zh-CN" sz="2000" b="1" baseline="-25000" dirty="0">
                <a:latin typeface="Times New Roman" panose="02020603050405020304" pitchFamily="18" charset="0"/>
              </a:rPr>
              <a:t>1</a:t>
            </a:r>
            <a:r>
              <a:rPr lang="zh-CN" altLang="en-US" sz="2000" b="1" dirty="0">
                <a:latin typeface="Times New Roman" panose="02020603050405020304" pitchFamily="18" charset="0"/>
              </a:rPr>
              <a:t>和</a:t>
            </a:r>
            <a:r>
              <a:rPr lang="en-US" altLang="zh-CN" sz="2000" b="1" dirty="0">
                <a:latin typeface="Times New Roman" panose="02020603050405020304" pitchFamily="18" charset="0"/>
              </a:rPr>
              <a:t>S</a:t>
            </a:r>
            <a:r>
              <a:rPr lang="en-US" altLang="zh-CN" sz="2000" b="1" baseline="-25000" dirty="0">
                <a:latin typeface="Times New Roman" panose="02020603050405020304" pitchFamily="18" charset="0"/>
              </a:rPr>
              <a:t>2</a:t>
            </a:r>
            <a:r>
              <a:rPr lang="zh-CN" altLang="en-US" sz="2000" b="1" dirty="0">
                <a:latin typeface="Times New Roman" panose="02020603050405020304" pitchFamily="18" charset="0"/>
              </a:rPr>
              <a:t>之间的距离</a:t>
            </a:r>
            <a:r>
              <a:rPr lang="en-US" altLang="zh-CN" sz="2000" b="1" dirty="0">
                <a:latin typeface="Times New Roman" panose="02020603050405020304" pitchFamily="18" charset="0"/>
              </a:rPr>
              <a:t>L</a:t>
            </a:r>
            <a:r>
              <a:rPr lang="zh-CN" altLang="en-US" sz="2000" b="1" dirty="0">
                <a:latin typeface="Times New Roman" panose="02020603050405020304" pitchFamily="18" charset="0"/>
              </a:rPr>
              <a:t>，相当于改变了</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，示波器上的图形也随之不断变化。当李萨如图形由斜率为正的直线变为斜率为负的直线时：               </a:t>
            </a:r>
          </a:p>
          <a:p>
            <a:pPr eaLnBrk="1" hangingPunct="1">
              <a:lnSpc>
                <a:spcPct val="125000"/>
              </a:lnSpc>
            </a:pPr>
            <a:endParaRPr lang="en-US" altLang="zh-CN" sz="2000" b="1" dirty="0">
              <a:latin typeface="Times New Roman" panose="02020603050405020304" pitchFamily="18" charset="0"/>
            </a:endParaRPr>
          </a:p>
        </p:txBody>
      </p:sp>
      <p:sp>
        <p:nvSpPr>
          <p:cNvPr id="18437" name="Rectangle 6">
            <a:extLst>
              <a:ext uri="{FF2B5EF4-FFF2-40B4-BE49-F238E27FC236}">
                <a16:creationId xmlns:a16="http://schemas.microsoft.com/office/drawing/2014/main" id="{F30FE7D7-9E95-1792-BE33-0337BD20AD74}"/>
              </a:ext>
            </a:extLst>
          </p:cNvPr>
          <p:cNvSpPr>
            <a:spLocks noChangeArrowheads="1"/>
          </p:cNvSpPr>
          <p:nvPr/>
        </p:nvSpPr>
        <p:spPr bwMode="auto">
          <a:xfrm>
            <a:off x="66675" y="3781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aphicFrame>
        <p:nvGraphicFramePr>
          <p:cNvPr id="18438" name="Object 5">
            <a:extLst>
              <a:ext uri="{FF2B5EF4-FFF2-40B4-BE49-F238E27FC236}">
                <a16:creationId xmlns:a16="http://schemas.microsoft.com/office/drawing/2014/main" id="{2BFE184F-7DE4-2AD3-C9C3-FB2E757E921A}"/>
              </a:ext>
            </a:extLst>
          </p:cNvPr>
          <p:cNvGraphicFramePr>
            <a:graphicFrameLocks noChangeAspect="1"/>
          </p:cNvGraphicFramePr>
          <p:nvPr>
            <p:extLst>
              <p:ext uri="{D42A27DB-BD31-4B8C-83A1-F6EECF244321}">
                <p14:modId xmlns:p14="http://schemas.microsoft.com/office/powerpoint/2010/main" val="4059196682"/>
              </p:ext>
            </p:extLst>
          </p:nvPr>
        </p:nvGraphicFramePr>
        <p:xfrm>
          <a:off x="1023938" y="3294063"/>
          <a:ext cx="2825750" cy="795337"/>
        </p:xfrm>
        <a:graphic>
          <a:graphicData uri="http://schemas.openxmlformats.org/presentationml/2006/ole">
            <mc:AlternateContent xmlns:mc="http://schemas.openxmlformats.org/markup-compatibility/2006">
              <mc:Choice xmlns:v="urn:schemas-microsoft-com:vml" Requires="v">
                <p:oleObj name="Equation" r:id="rId2" imgW="1218671" imgH="393529" progId="Equation.DSMT4">
                  <p:embed/>
                </p:oleObj>
              </mc:Choice>
              <mc:Fallback>
                <p:oleObj name="Equation" r:id="rId2" imgW="1218671" imgH="393529" progId="Equation.DSMT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938" y="3294063"/>
                        <a:ext cx="2825750"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8439" name="Group 82">
            <a:extLst>
              <a:ext uri="{FF2B5EF4-FFF2-40B4-BE49-F238E27FC236}">
                <a16:creationId xmlns:a16="http://schemas.microsoft.com/office/drawing/2014/main" id="{71BBD6D3-106A-9CFE-8FC1-0FC448D176F7}"/>
              </a:ext>
            </a:extLst>
          </p:cNvPr>
          <p:cNvGrpSpPr>
            <a:grpSpLocks/>
          </p:cNvGrpSpPr>
          <p:nvPr/>
        </p:nvGrpSpPr>
        <p:grpSpPr bwMode="auto">
          <a:xfrm>
            <a:off x="5613400" y="1600200"/>
            <a:ext cx="6146800" cy="2270125"/>
            <a:chOff x="1568" y="8723"/>
            <a:chExt cx="7596" cy="1664"/>
          </a:xfrm>
        </p:grpSpPr>
        <p:sp>
          <p:nvSpPr>
            <p:cNvPr id="18453" name="Text Box 83">
              <a:extLst>
                <a:ext uri="{FF2B5EF4-FFF2-40B4-BE49-F238E27FC236}">
                  <a16:creationId xmlns:a16="http://schemas.microsoft.com/office/drawing/2014/main" id="{7EDE4F69-F5E3-DC1D-6827-34E577628A4D}"/>
                </a:ext>
              </a:extLst>
            </p:cNvPr>
            <p:cNvSpPr txBox="1">
              <a:spLocks noChangeArrowheads="1"/>
            </p:cNvSpPr>
            <p:nvPr/>
          </p:nvSpPr>
          <p:spPr bwMode="auto">
            <a:xfrm>
              <a:off x="5536" y="9547"/>
              <a:ext cx="2285" cy="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a:lnSpc>
                  <a:spcPct val="100000"/>
                </a:lnSpc>
                <a:spcBef>
                  <a:spcPct val="0"/>
                </a:spcBef>
                <a:buFontTx/>
                <a:buNone/>
              </a:pPr>
              <a:endParaRPr lang="zh-CN" altLang="zh-CN" sz="1000">
                <a:latin typeface="Times New Roman" panose="02020603050405020304" pitchFamily="18" charset="0"/>
                <a:ea typeface="宋体" panose="02010600030101010101" pitchFamily="2" charset="-122"/>
              </a:endParaRPr>
            </a:p>
          </p:txBody>
        </p:sp>
        <p:sp>
          <p:nvSpPr>
            <p:cNvPr id="18454" name="Text Box 84">
              <a:extLst>
                <a:ext uri="{FF2B5EF4-FFF2-40B4-BE49-F238E27FC236}">
                  <a16:creationId xmlns:a16="http://schemas.microsoft.com/office/drawing/2014/main" id="{2FB63E90-6BB5-113F-3CC3-40EDD63C0722}"/>
                </a:ext>
              </a:extLst>
            </p:cNvPr>
            <p:cNvSpPr txBox="1">
              <a:spLocks noChangeArrowheads="1"/>
            </p:cNvSpPr>
            <p:nvPr/>
          </p:nvSpPr>
          <p:spPr bwMode="auto">
            <a:xfrm>
              <a:off x="4140" y="10109"/>
              <a:ext cx="343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4605">
                  <a:solidFill>
                    <a:srgbClr val="000000"/>
                  </a:solidFill>
                  <a:miter lim="800000"/>
                  <a:headEnd/>
                  <a:tailEnd/>
                </a14:hiddenLine>
              </a:ext>
            </a:extLst>
          </p:spPr>
          <p:txBody>
            <a:bodyPr lIns="0" tIns="0" rIns="0" bIns="0"/>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0"/>
                </a:spcBef>
                <a:buFontTx/>
                <a:buNone/>
              </a:pPr>
              <a:r>
                <a:rPr lang="zh-CN" altLang="en-US" sz="1800" b="1">
                  <a:latin typeface="Times New Roman" panose="02020603050405020304" pitchFamily="18" charset="0"/>
                  <a:ea typeface="宋体" panose="02010600030101010101" pitchFamily="2" charset="-122"/>
                </a:rPr>
                <a:t>相位差与李萨如图形</a:t>
              </a:r>
            </a:p>
          </p:txBody>
        </p:sp>
        <p:sp>
          <p:nvSpPr>
            <p:cNvPr id="21" name="Text Box 87">
              <a:extLst>
                <a:ext uri="{FF2B5EF4-FFF2-40B4-BE49-F238E27FC236}">
                  <a16:creationId xmlns:a16="http://schemas.microsoft.com/office/drawing/2014/main" id="{4495433A-6C63-E0A3-AE94-D76B33BC4918}"/>
                </a:ext>
              </a:extLst>
            </p:cNvPr>
            <p:cNvSpPr txBox="1">
              <a:spLocks noRot="1" noChangeAspect="1" noMove="1" noResize="1" noEditPoints="1" noAdjustHandles="1" noChangeArrowheads="1" noChangeShapeType="1" noTextEdit="1"/>
            </p:cNvSpPr>
            <p:nvPr/>
          </p:nvSpPr>
          <p:spPr bwMode="auto">
            <a:xfrm>
              <a:off x="6520" y="9614"/>
              <a:ext cx="1311" cy="491"/>
            </a:xfrm>
            <a:prstGeom prst="rect">
              <a:avLst/>
            </a:prstGeom>
            <a:blipFill rotWithShape="1">
              <a:blip r:embed="rId4" cstate="print"/>
              <a:stretch>
                <a:fillRect/>
              </a:stretch>
            </a:blipFill>
            <a:ln>
              <a:noFill/>
            </a:ln>
          </p:spPr>
          <p:txBody>
            <a:bodyPr/>
            <a:lstStyle/>
            <a:p>
              <a:pPr eaLnBrk="1" hangingPunct="1">
                <a:defRPr/>
              </a:pPr>
              <a:r>
                <a:rPr lang="zh-CN" altLang="en-US">
                  <a:noFill/>
                </a:rPr>
                <a:t> </a:t>
              </a:r>
            </a:p>
          </p:txBody>
        </p:sp>
        <p:grpSp>
          <p:nvGrpSpPr>
            <p:cNvPr id="18456" name="Group 94">
              <a:extLst>
                <a:ext uri="{FF2B5EF4-FFF2-40B4-BE49-F238E27FC236}">
                  <a16:creationId xmlns:a16="http://schemas.microsoft.com/office/drawing/2014/main" id="{3CFF340D-71CE-58B3-ED0F-5DA5ED19EE73}"/>
                </a:ext>
              </a:extLst>
            </p:cNvPr>
            <p:cNvGrpSpPr>
              <a:grpSpLocks/>
            </p:cNvGrpSpPr>
            <p:nvPr/>
          </p:nvGrpSpPr>
          <p:grpSpPr bwMode="auto">
            <a:xfrm>
              <a:off x="1568" y="8723"/>
              <a:ext cx="7596" cy="963"/>
              <a:chOff x="1797" y="11622"/>
              <a:chExt cx="9150" cy="819"/>
            </a:xfrm>
          </p:grpSpPr>
          <p:grpSp>
            <p:nvGrpSpPr>
              <p:cNvPr id="18457" name="Group 95">
                <a:extLst>
                  <a:ext uri="{FF2B5EF4-FFF2-40B4-BE49-F238E27FC236}">
                    <a16:creationId xmlns:a16="http://schemas.microsoft.com/office/drawing/2014/main" id="{C4C92100-C558-32AB-4349-562FC9A85613}"/>
                  </a:ext>
                </a:extLst>
              </p:cNvPr>
              <p:cNvGrpSpPr>
                <a:grpSpLocks/>
              </p:cNvGrpSpPr>
              <p:nvPr/>
            </p:nvGrpSpPr>
            <p:grpSpPr bwMode="auto">
              <a:xfrm>
                <a:off x="10065" y="11622"/>
                <a:ext cx="882" cy="819"/>
                <a:chOff x="1800" y="8616"/>
                <a:chExt cx="1260" cy="1260"/>
              </a:xfrm>
            </p:grpSpPr>
            <p:sp>
              <p:nvSpPr>
                <p:cNvPr id="18490" name="Line 96">
                  <a:extLst>
                    <a:ext uri="{FF2B5EF4-FFF2-40B4-BE49-F238E27FC236}">
                      <a16:creationId xmlns:a16="http://schemas.microsoft.com/office/drawing/2014/main" id="{8A71ACA3-5B49-B702-2081-2DE8D348F603}"/>
                    </a:ext>
                  </a:extLst>
                </p:cNvPr>
                <p:cNvSpPr>
                  <a:spLocks noChangeShapeType="1"/>
                </p:cNvSpPr>
                <p:nvPr/>
              </p:nvSpPr>
              <p:spPr bwMode="auto">
                <a:xfrm flipV="1">
                  <a:off x="1958" y="8793"/>
                  <a:ext cx="900" cy="936"/>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91" name="Line 97">
                  <a:extLst>
                    <a:ext uri="{FF2B5EF4-FFF2-40B4-BE49-F238E27FC236}">
                      <a16:creationId xmlns:a16="http://schemas.microsoft.com/office/drawing/2014/main" id="{097AA669-D7CB-961E-7A69-CF8E914474CE}"/>
                    </a:ext>
                  </a:extLst>
                </p:cNvPr>
                <p:cNvSpPr>
                  <a:spLocks noChangeShapeType="1"/>
                </p:cNvSpPr>
                <p:nvPr/>
              </p:nvSpPr>
              <p:spPr bwMode="auto">
                <a:xfrm>
                  <a:off x="180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92" name="Line 98">
                  <a:extLst>
                    <a:ext uri="{FF2B5EF4-FFF2-40B4-BE49-F238E27FC236}">
                      <a16:creationId xmlns:a16="http://schemas.microsoft.com/office/drawing/2014/main" id="{2BB494D7-504C-9754-33B0-21FFA348F875}"/>
                    </a:ext>
                  </a:extLst>
                </p:cNvPr>
                <p:cNvSpPr>
                  <a:spLocks noChangeShapeType="1"/>
                </p:cNvSpPr>
                <p:nvPr/>
              </p:nvSpPr>
              <p:spPr bwMode="auto">
                <a:xfrm rot="-5400000" flipH="1" flipV="1">
                  <a:off x="180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58" name="Group 99">
                <a:extLst>
                  <a:ext uri="{FF2B5EF4-FFF2-40B4-BE49-F238E27FC236}">
                    <a16:creationId xmlns:a16="http://schemas.microsoft.com/office/drawing/2014/main" id="{87553481-E2DD-CB10-11CA-7755C47281CC}"/>
                  </a:ext>
                </a:extLst>
              </p:cNvPr>
              <p:cNvGrpSpPr>
                <a:grpSpLocks/>
              </p:cNvGrpSpPr>
              <p:nvPr/>
            </p:nvGrpSpPr>
            <p:grpSpPr bwMode="auto">
              <a:xfrm>
                <a:off x="8025" y="11622"/>
                <a:ext cx="882" cy="819"/>
                <a:chOff x="5040" y="8616"/>
                <a:chExt cx="1260" cy="1260"/>
              </a:xfrm>
            </p:grpSpPr>
            <p:sp>
              <p:nvSpPr>
                <p:cNvPr id="18487" name="Line 100">
                  <a:extLst>
                    <a:ext uri="{FF2B5EF4-FFF2-40B4-BE49-F238E27FC236}">
                      <a16:creationId xmlns:a16="http://schemas.microsoft.com/office/drawing/2014/main" id="{E5D84F86-8992-F807-6265-1B9302B0EF08}"/>
                    </a:ext>
                  </a:extLst>
                </p:cNvPr>
                <p:cNvSpPr>
                  <a:spLocks noChangeShapeType="1"/>
                </p:cNvSpPr>
                <p:nvPr/>
              </p:nvSpPr>
              <p:spPr bwMode="auto">
                <a:xfrm>
                  <a:off x="504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8" name="Line 101">
                  <a:extLst>
                    <a:ext uri="{FF2B5EF4-FFF2-40B4-BE49-F238E27FC236}">
                      <a16:creationId xmlns:a16="http://schemas.microsoft.com/office/drawing/2014/main" id="{D107086B-6A4D-3504-9BF5-F0A10D5D93CA}"/>
                    </a:ext>
                  </a:extLst>
                </p:cNvPr>
                <p:cNvSpPr>
                  <a:spLocks noChangeShapeType="1"/>
                </p:cNvSpPr>
                <p:nvPr/>
              </p:nvSpPr>
              <p:spPr bwMode="auto">
                <a:xfrm rot="-5400000" flipH="1" flipV="1">
                  <a:off x="504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9" name="Oval 102">
                  <a:extLst>
                    <a:ext uri="{FF2B5EF4-FFF2-40B4-BE49-F238E27FC236}">
                      <a16:creationId xmlns:a16="http://schemas.microsoft.com/office/drawing/2014/main" id="{019C0035-6F7A-6289-3494-ABDB2EF2B884}"/>
                    </a:ext>
                  </a:extLst>
                </p:cNvPr>
                <p:cNvSpPr>
                  <a:spLocks noChangeArrowheads="1"/>
                </p:cNvSpPr>
                <p:nvPr/>
              </p:nvSpPr>
              <p:spPr bwMode="auto">
                <a:xfrm>
                  <a:off x="5400" y="8772"/>
                  <a:ext cx="54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nvGrpSpPr>
              <p:cNvPr id="18459" name="Group 103">
                <a:extLst>
                  <a:ext uri="{FF2B5EF4-FFF2-40B4-BE49-F238E27FC236}">
                    <a16:creationId xmlns:a16="http://schemas.microsoft.com/office/drawing/2014/main" id="{5F35E474-6C3B-9BDB-C3A7-E0023F900211}"/>
                  </a:ext>
                </a:extLst>
              </p:cNvPr>
              <p:cNvGrpSpPr>
                <a:grpSpLocks/>
              </p:cNvGrpSpPr>
              <p:nvPr/>
            </p:nvGrpSpPr>
            <p:grpSpPr bwMode="auto">
              <a:xfrm>
                <a:off x="6993" y="11622"/>
                <a:ext cx="882" cy="819"/>
                <a:chOff x="6840" y="8616"/>
                <a:chExt cx="1260" cy="1260"/>
              </a:xfrm>
            </p:grpSpPr>
            <p:sp>
              <p:nvSpPr>
                <p:cNvPr id="18484" name="Line 104">
                  <a:extLst>
                    <a:ext uri="{FF2B5EF4-FFF2-40B4-BE49-F238E27FC236}">
                      <a16:creationId xmlns:a16="http://schemas.microsoft.com/office/drawing/2014/main" id="{C9A387C9-1435-D27C-C670-9E369EFADCAF}"/>
                    </a:ext>
                  </a:extLst>
                </p:cNvPr>
                <p:cNvSpPr>
                  <a:spLocks noChangeShapeType="1"/>
                </p:cNvSpPr>
                <p:nvPr/>
              </p:nvSpPr>
              <p:spPr bwMode="auto">
                <a:xfrm>
                  <a:off x="684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5" name="Line 105">
                  <a:extLst>
                    <a:ext uri="{FF2B5EF4-FFF2-40B4-BE49-F238E27FC236}">
                      <a16:creationId xmlns:a16="http://schemas.microsoft.com/office/drawing/2014/main" id="{4DC3BA49-4557-DADA-2309-7EE088B4FB03}"/>
                    </a:ext>
                  </a:extLst>
                </p:cNvPr>
                <p:cNvSpPr>
                  <a:spLocks noChangeShapeType="1"/>
                </p:cNvSpPr>
                <p:nvPr/>
              </p:nvSpPr>
              <p:spPr bwMode="auto">
                <a:xfrm rot="-5400000" flipH="1" flipV="1">
                  <a:off x="684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6" name="Oval 106">
                  <a:extLst>
                    <a:ext uri="{FF2B5EF4-FFF2-40B4-BE49-F238E27FC236}">
                      <a16:creationId xmlns:a16="http://schemas.microsoft.com/office/drawing/2014/main" id="{9547E112-7479-69E5-10EE-A56D73E6F54E}"/>
                    </a:ext>
                  </a:extLst>
                </p:cNvPr>
                <p:cNvSpPr>
                  <a:spLocks noChangeArrowheads="1"/>
                </p:cNvSpPr>
                <p:nvPr/>
              </p:nvSpPr>
              <p:spPr bwMode="auto">
                <a:xfrm rot="-2282503">
                  <a:off x="7290" y="8781"/>
                  <a:ext cx="36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nvGrpSpPr>
              <p:cNvPr id="18460" name="Group 107">
                <a:extLst>
                  <a:ext uri="{FF2B5EF4-FFF2-40B4-BE49-F238E27FC236}">
                    <a16:creationId xmlns:a16="http://schemas.microsoft.com/office/drawing/2014/main" id="{A55DDEB5-CA57-31AA-C7FC-20261BC9E6FB}"/>
                  </a:ext>
                </a:extLst>
              </p:cNvPr>
              <p:cNvGrpSpPr>
                <a:grpSpLocks/>
              </p:cNvGrpSpPr>
              <p:nvPr/>
            </p:nvGrpSpPr>
            <p:grpSpPr bwMode="auto">
              <a:xfrm>
                <a:off x="9030" y="11622"/>
                <a:ext cx="882" cy="819"/>
                <a:chOff x="3420" y="8616"/>
                <a:chExt cx="1260" cy="1260"/>
              </a:xfrm>
            </p:grpSpPr>
            <p:sp>
              <p:nvSpPr>
                <p:cNvPr id="18481" name="Line 108">
                  <a:extLst>
                    <a:ext uri="{FF2B5EF4-FFF2-40B4-BE49-F238E27FC236}">
                      <a16:creationId xmlns:a16="http://schemas.microsoft.com/office/drawing/2014/main" id="{706BADA8-CC25-AA22-5767-D77C5E7925FA}"/>
                    </a:ext>
                  </a:extLst>
                </p:cNvPr>
                <p:cNvSpPr>
                  <a:spLocks noChangeShapeType="1"/>
                </p:cNvSpPr>
                <p:nvPr/>
              </p:nvSpPr>
              <p:spPr bwMode="auto">
                <a:xfrm>
                  <a:off x="342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2" name="Line 109">
                  <a:extLst>
                    <a:ext uri="{FF2B5EF4-FFF2-40B4-BE49-F238E27FC236}">
                      <a16:creationId xmlns:a16="http://schemas.microsoft.com/office/drawing/2014/main" id="{0823D42D-1E98-4FE1-C22B-60CCE130C9C2}"/>
                    </a:ext>
                  </a:extLst>
                </p:cNvPr>
                <p:cNvSpPr>
                  <a:spLocks noChangeShapeType="1"/>
                </p:cNvSpPr>
                <p:nvPr/>
              </p:nvSpPr>
              <p:spPr bwMode="auto">
                <a:xfrm rot="-5400000" flipH="1" flipV="1">
                  <a:off x="342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3" name="Oval 110">
                  <a:extLst>
                    <a:ext uri="{FF2B5EF4-FFF2-40B4-BE49-F238E27FC236}">
                      <a16:creationId xmlns:a16="http://schemas.microsoft.com/office/drawing/2014/main" id="{980A8D9B-5E8D-C2D3-A8C8-4D753C5282FB}"/>
                    </a:ext>
                  </a:extLst>
                </p:cNvPr>
                <p:cNvSpPr>
                  <a:spLocks noChangeArrowheads="1"/>
                </p:cNvSpPr>
                <p:nvPr/>
              </p:nvSpPr>
              <p:spPr bwMode="auto">
                <a:xfrm rot="2061264">
                  <a:off x="3870" y="8781"/>
                  <a:ext cx="36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nvGrpSpPr>
              <p:cNvPr id="18461" name="Group 111">
                <a:extLst>
                  <a:ext uri="{FF2B5EF4-FFF2-40B4-BE49-F238E27FC236}">
                    <a16:creationId xmlns:a16="http://schemas.microsoft.com/office/drawing/2014/main" id="{009EEFC4-A9F2-4A66-C520-06F1A6B0961F}"/>
                  </a:ext>
                </a:extLst>
              </p:cNvPr>
              <p:cNvGrpSpPr>
                <a:grpSpLocks/>
              </p:cNvGrpSpPr>
              <p:nvPr/>
            </p:nvGrpSpPr>
            <p:grpSpPr bwMode="auto">
              <a:xfrm>
                <a:off x="5970" y="11622"/>
                <a:ext cx="882" cy="818"/>
                <a:chOff x="8460" y="8616"/>
                <a:chExt cx="1260" cy="1260"/>
              </a:xfrm>
            </p:grpSpPr>
            <p:sp>
              <p:nvSpPr>
                <p:cNvPr id="50" name="Line 112">
                  <a:extLst>
                    <a:ext uri="{FF2B5EF4-FFF2-40B4-BE49-F238E27FC236}">
                      <a16:creationId xmlns:a16="http://schemas.microsoft.com/office/drawing/2014/main" id="{754902F2-0E4B-2281-D68D-66693BD1548B}"/>
                    </a:ext>
                  </a:extLst>
                </p:cNvPr>
                <p:cNvSpPr>
                  <a:spLocks noChangeShapeType="1"/>
                </p:cNvSpPr>
                <p:nvPr/>
              </p:nvSpPr>
              <p:spPr bwMode="auto">
                <a:xfrm rot="5400000" flipV="1">
                  <a:off x="8650" y="8786"/>
                  <a:ext cx="899" cy="935"/>
                </a:xfrm>
                <a:prstGeom prst="line">
                  <a:avLst/>
                </a:prstGeom>
                <a:noFill/>
                <a:ln w="14605">
                  <a:solidFill>
                    <a:srgbClr val="FF0000"/>
                  </a:solidFill>
                  <a:round/>
                  <a:headEnd/>
                  <a:tailEnd/>
                </a:ln>
              </p:spPr>
              <p:txBody>
                <a:bodyPr/>
                <a:lstStyle/>
                <a:p>
                  <a:pPr eaLnBrk="1" hangingPunct="1">
                    <a:defRPr/>
                  </a:pPr>
                  <a:endParaRPr lang="zh-CN" altLang="en-US">
                    <a:ln>
                      <a:solidFill>
                        <a:srgbClr val="FF0000"/>
                      </a:solidFill>
                    </a:ln>
                  </a:endParaRPr>
                </a:p>
              </p:txBody>
            </p:sp>
            <p:sp>
              <p:nvSpPr>
                <p:cNvPr id="18479" name="Line 113">
                  <a:extLst>
                    <a:ext uri="{FF2B5EF4-FFF2-40B4-BE49-F238E27FC236}">
                      <a16:creationId xmlns:a16="http://schemas.microsoft.com/office/drawing/2014/main" id="{98B1E616-3F45-DB8E-4E7E-1BAFEEE401CB}"/>
                    </a:ext>
                  </a:extLst>
                </p:cNvPr>
                <p:cNvSpPr>
                  <a:spLocks noChangeShapeType="1"/>
                </p:cNvSpPr>
                <p:nvPr/>
              </p:nvSpPr>
              <p:spPr bwMode="auto">
                <a:xfrm>
                  <a:off x="846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0" name="Line 114">
                  <a:extLst>
                    <a:ext uri="{FF2B5EF4-FFF2-40B4-BE49-F238E27FC236}">
                      <a16:creationId xmlns:a16="http://schemas.microsoft.com/office/drawing/2014/main" id="{0017F50C-687D-9468-A36D-54911C0F0DD9}"/>
                    </a:ext>
                  </a:extLst>
                </p:cNvPr>
                <p:cNvSpPr>
                  <a:spLocks noChangeShapeType="1"/>
                </p:cNvSpPr>
                <p:nvPr/>
              </p:nvSpPr>
              <p:spPr bwMode="auto">
                <a:xfrm rot="-5400000" flipH="1" flipV="1">
                  <a:off x="846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62" name="Group 115">
                <a:extLst>
                  <a:ext uri="{FF2B5EF4-FFF2-40B4-BE49-F238E27FC236}">
                    <a16:creationId xmlns:a16="http://schemas.microsoft.com/office/drawing/2014/main" id="{B472002A-A080-5AB2-E7B4-B6ECF8BC4D90}"/>
                  </a:ext>
                </a:extLst>
              </p:cNvPr>
              <p:cNvGrpSpPr>
                <a:grpSpLocks/>
              </p:cNvGrpSpPr>
              <p:nvPr/>
            </p:nvGrpSpPr>
            <p:grpSpPr bwMode="auto">
              <a:xfrm>
                <a:off x="1797" y="11622"/>
                <a:ext cx="882" cy="818"/>
                <a:chOff x="1800" y="8616"/>
                <a:chExt cx="1260" cy="1260"/>
              </a:xfrm>
            </p:grpSpPr>
            <p:sp>
              <p:nvSpPr>
                <p:cNvPr id="18475" name="Line 116">
                  <a:extLst>
                    <a:ext uri="{FF2B5EF4-FFF2-40B4-BE49-F238E27FC236}">
                      <a16:creationId xmlns:a16="http://schemas.microsoft.com/office/drawing/2014/main" id="{0CDC255C-9C28-7F42-A0A7-D7FAA70FBA41}"/>
                    </a:ext>
                  </a:extLst>
                </p:cNvPr>
                <p:cNvSpPr>
                  <a:spLocks noChangeShapeType="1"/>
                </p:cNvSpPr>
                <p:nvPr/>
              </p:nvSpPr>
              <p:spPr bwMode="auto">
                <a:xfrm flipV="1">
                  <a:off x="1958" y="8793"/>
                  <a:ext cx="900" cy="936"/>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6" name="Line 117">
                  <a:extLst>
                    <a:ext uri="{FF2B5EF4-FFF2-40B4-BE49-F238E27FC236}">
                      <a16:creationId xmlns:a16="http://schemas.microsoft.com/office/drawing/2014/main" id="{E1D8F246-3FAE-D0E2-2C04-D6D8B0FA5730}"/>
                    </a:ext>
                  </a:extLst>
                </p:cNvPr>
                <p:cNvSpPr>
                  <a:spLocks noChangeShapeType="1"/>
                </p:cNvSpPr>
                <p:nvPr/>
              </p:nvSpPr>
              <p:spPr bwMode="auto">
                <a:xfrm>
                  <a:off x="180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7" name="Line 118">
                  <a:extLst>
                    <a:ext uri="{FF2B5EF4-FFF2-40B4-BE49-F238E27FC236}">
                      <a16:creationId xmlns:a16="http://schemas.microsoft.com/office/drawing/2014/main" id="{60E016E0-3360-114A-54DD-8099DE9A843C}"/>
                    </a:ext>
                  </a:extLst>
                </p:cNvPr>
                <p:cNvSpPr>
                  <a:spLocks noChangeShapeType="1"/>
                </p:cNvSpPr>
                <p:nvPr/>
              </p:nvSpPr>
              <p:spPr bwMode="auto">
                <a:xfrm rot="-5400000" flipH="1" flipV="1">
                  <a:off x="180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8463" name="Group 119">
                <a:extLst>
                  <a:ext uri="{FF2B5EF4-FFF2-40B4-BE49-F238E27FC236}">
                    <a16:creationId xmlns:a16="http://schemas.microsoft.com/office/drawing/2014/main" id="{E951A685-B29C-11CD-855D-480F3A19F51A}"/>
                  </a:ext>
                </a:extLst>
              </p:cNvPr>
              <p:cNvGrpSpPr>
                <a:grpSpLocks/>
              </p:cNvGrpSpPr>
              <p:nvPr/>
            </p:nvGrpSpPr>
            <p:grpSpPr bwMode="auto">
              <a:xfrm>
                <a:off x="3945" y="11622"/>
                <a:ext cx="882" cy="818"/>
                <a:chOff x="5040" y="8616"/>
                <a:chExt cx="1260" cy="1260"/>
              </a:xfrm>
            </p:grpSpPr>
            <p:sp>
              <p:nvSpPr>
                <p:cNvPr id="18472" name="Line 120">
                  <a:extLst>
                    <a:ext uri="{FF2B5EF4-FFF2-40B4-BE49-F238E27FC236}">
                      <a16:creationId xmlns:a16="http://schemas.microsoft.com/office/drawing/2014/main" id="{9B2554FF-EC9F-9E50-33AE-FEE9F16E22BB}"/>
                    </a:ext>
                  </a:extLst>
                </p:cNvPr>
                <p:cNvSpPr>
                  <a:spLocks noChangeShapeType="1"/>
                </p:cNvSpPr>
                <p:nvPr/>
              </p:nvSpPr>
              <p:spPr bwMode="auto">
                <a:xfrm>
                  <a:off x="504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3" name="Line 121">
                  <a:extLst>
                    <a:ext uri="{FF2B5EF4-FFF2-40B4-BE49-F238E27FC236}">
                      <a16:creationId xmlns:a16="http://schemas.microsoft.com/office/drawing/2014/main" id="{20ED0649-C4F0-4C72-A20A-F7504B8B5545}"/>
                    </a:ext>
                  </a:extLst>
                </p:cNvPr>
                <p:cNvSpPr>
                  <a:spLocks noChangeShapeType="1"/>
                </p:cNvSpPr>
                <p:nvPr/>
              </p:nvSpPr>
              <p:spPr bwMode="auto">
                <a:xfrm rot="-5400000" flipH="1" flipV="1">
                  <a:off x="504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4" name="Oval 122">
                  <a:extLst>
                    <a:ext uri="{FF2B5EF4-FFF2-40B4-BE49-F238E27FC236}">
                      <a16:creationId xmlns:a16="http://schemas.microsoft.com/office/drawing/2014/main" id="{7820529A-F288-3C22-C9CF-71459237EE8A}"/>
                    </a:ext>
                  </a:extLst>
                </p:cNvPr>
                <p:cNvSpPr>
                  <a:spLocks noChangeArrowheads="1"/>
                </p:cNvSpPr>
                <p:nvPr/>
              </p:nvSpPr>
              <p:spPr bwMode="auto">
                <a:xfrm>
                  <a:off x="5400" y="8772"/>
                  <a:ext cx="54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nvGrpSpPr>
              <p:cNvPr id="18464" name="Group 123">
                <a:extLst>
                  <a:ext uri="{FF2B5EF4-FFF2-40B4-BE49-F238E27FC236}">
                    <a16:creationId xmlns:a16="http://schemas.microsoft.com/office/drawing/2014/main" id="{776B5EE2-C632-4070-F3F2-A0ADF8EF9850}"/>
                  </a:ext>
                </a:extLst>
              </p:cNvPr>
              <p:cNvGrpSpPr>
                <a:grpSpLocks/>
              </p:cNvGrpSpPr>
              <p:nvPr/>
            </p:nvGrpSpPr>
            <p:grpSpPr bwMode="auto">
              <a:xfrm>
                <a:off x="4954" y="11622"/>
                <a:ext cx="882" cy="818"/>
                <a:chOff x="6840" y="8616"/>
                <a:chExt cx="1260" cy="1260"/>
              </a:xfrm>
            </p:grpSpPr>
            <p:sp>
              <p:nvSpPr>
                <p:cNvPr id="18469" name="Line 124">
                  <a:extLst>
                    <a:ext uri="{FF2B5EF4-FFF2-40B4-BE49-F238E27FC236}">
                      <a16:creationId xmlns:a16="http://schemas.microsoft.com/office/drawing/2014/main" id="{232ACAB4-4208-67E2-A324-210417C83488}"/>
                    </a:ext>
                  </a:extLst>
                </p:cNvPr>
                <p:cNvSpPr>
                  <a:spLocks noChangeShapeType="1"/>
                </p:cNvSpPr>
                <p:nvPr/>
              </p:nvSpPr>
              <p:spPr bwMode="auto">
                <a:xfrm>
                  <a:off x="684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0" name="Line 125">
                  <a:extLst>
                    <a:ext uri="{FF2B5EF4-FFF2-40B4-BE49-F238E27FC236}">
                      <a16:creationId xmlns:a16="http://schemas.microsoft.com/office/drawing/2014/main" id="{C6C20B4E-966D-0C86-30FC-A85626B705F2}"/>
                    </a:ext>
                  </a:extLst>
                </p:cNvPr>
                <p:cNvSpPr>
                  <a:spLocks noChangeShapeType="1"/>
                </p:cNvSpPr>
                <p:nvPr/>
              </p:nvSpPr>
              <p:spPr bwMode="auto">
                <a:xfrm rot="-5400000" flipH="1" flipV="1">
                  <a:off x="684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1" name="Oval 126">
                  <a:extLst>
                    <a:ext uri="{FF2B5EF4-FFF2-40B4-BE49-F238E27FC236}">
                      <a16:creationId xmlns:a16="http://schemas.microsoft.com/office/drawing/2014/main" id="{E3F7235A-4B09-5704-F230-C0AA1ACB8487}"/>
                    </a:ext>
                  </a:extLst>
                </p:cNvPr>
                <p:cNvSpPr>
                  <a:spLocks noChangeArrowheads="1"/>
                </p:cNvSpPr>
                <p:nvPr/>
              </p:nvSpPr>
              <p:spPr bwMode="auto">
                <a:xfrm rot="-2282503">
                  <a:off x="7290" y="8781"/>
                  <a:ext cx="36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nvGrpSpPr>
              <p:cNvPr id="18465" name="Group 127">
                <a:extLst>
                  <a:ext uri="{FF2B5EF4-FFF2-40B4-BE49-F238E27FC236}">
                    <a16:creationId xmlns:a16="http://schemas.microsoft.com/office/drawing/2014/main" id="{38DB7EB0-686A-22D2-5592-18C14B7BE054}"/>
                  </a:ext>
                </a:extLst>
              </p:cNvPr>
              <p:cNvGrpSpPr>
                <a:grpSpLocks/>
              </p:cNvGrpSpPr>
              <p:nvPr/>
            </p:nvGrpSpPr>
            <p:grpSpPr bwMode="auto">
              <a:xfrm>
                <a:off x="2871" y="11622"/>
                <a:ext cx="882" cy="818"/>
                <a:chOff x="3420" y="8616"/>
                <a:chExt cx="1260" cy="1260"/>
              </a:xfrm>
            </p:grpSpPr>
            <p:sp>
              <p:nvSpPr>
                <p:cNvPr id="18466" name="Line 128">
                  <a:extLst>
                    <a:ext uri="{FF2B5EF4-FFF2-40B4-BE49-F238E27FC236}">
                      <a16:creationId xmlns:a16="http://schemas.microsoft.com/office/drawing/2014/main" id="{EA320108-9548-DE1D-D5F6-69B7A4966685}"/>
                    </a:ext>
                  </a:extLst>
                </p:cNvPr>
                <p:cNvSpPr>
                  <a:spLocks noChangeShapeType="1"/>
                </p:cNvSpPr>
                <p:nvPr/>
              </p:nvSpPr>
              <p:spPr bwMode="auto">
                <a:xfrm>
                  <a:off x="3420" y="9240"/>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7" name="Line 129">
                  <a:extLst>
                    <a:ext uri="{FF2B5EF4-FFF2-40B4-BE49-F238E27FC236}">
                      <a16:creationId xmlns:a16="http://schemas.microsoft.com/office/drawing/2014/main" id="{381BED60-52B0-6913-11B7-37622F09A97D}"/>
                    </a:ext>
                  </a:extLst>
                </p:cNvPr>
                <p:cNvSpPr>
                  <a:spLocks noChangeShapeType="1"/>
                </p:cNvSpPr>
                <p:nvPr/>
              </p:nvSpPr>
              <p:spPr bwMode="auto">
                <a:xfrm rot="-5400000" flipH="1" flipV="1">
                  <a:off x="3420" y="9246"/>
                  <a:ext cx="1260" cy="0"/>
                </a:xfrm>
                <a:prstGeom prst="line">
                  <a:avLst/>
                </a:prstGeom>
                <a:noFill/>
                <a:ln w="1460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8" name="Oval 130">
                  <a:extLst>
                    <a:ext uri="{FF2B5EF4-FFF2-40B4-BE49-F238E27FC236}">
                      <a16:creationId xmlns:a16="http://schemas.microsoft.com/office/drawing/2014/main" id="{9A5B0218-D72D-EA58-10BE-020A5696BAB2}"/>
                    </a:ext>
                  </a:extLst>
                </p:cNvPr>
                <p:cNvSpPr>
                  <a:spLocks noChangeArrowheads="1"/>
                </p:cNvSpPr>
                <p:nvPr/>
              </p:nvSpPr>
              <p:spPr bwMode="auto">
                <a:xfrm rot="2061264">
                  <a:off x="3870" y="8781"/>
                  <a:ext cx="360" cy="936"/>
                </a:xfrm>
                <a:prstGeom prst="ellipse">
                  <a:avLst/>
                </a:prstGeom>
                <a:noFill/>
                <a:ln w="1460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endParaRPr lang="zh-CN" altLang="en-US" sz="1800"/>
                </a:p>
              </p:txBody>
            </p:sp>
          </p:grpSp>
        </p:grpSp>
      </p:grpSp>
      <p:sp>
        <p:nvSpPr>
          <p:cNvPr id="2" name="矩形 1">
            <a:extLst>
              <a:ext uri="{FF2B5EF4-FFF2-40B4-BE49-F238E27FC236}">
                <a16:creationId xmlns:a16="http://schemas.microsoft.com/office/drawing/2014/main" id="{AB508064-6D50-8AA5-324E-40C2E73B97F4}"/>
              </a:ext>
            </a:extLst>
          </p:cNvPr>
          <p:cNvSpPr>
            <a:spLocks noRot="1" noChangeAspect="1" noMove="1" noResize="1" noEditPoints="1" noAdjustHandles="1" noChangeArrowheads="1" noChangeShapeType="1" noTextEdit="1"/>
          </p:cNvSpPr>
          <p:nvPr/>
        </p:nvSpPr>
        <p:spPr>
          <a:xfrm>
            <a:off x="6151681" y="2900769"/>
            <a:ext cx="768544" cy="461537"/>
          </a:xfrm>
          <a:prstGeom prst="rect">
            <a:avLst/>
          </a:prstGeom>
          <a:blipFill rotWithShape="1">
            <a:blip r:embed="rId5" cstate="print"/>
            <a:stretch>
              <a:fillRect/>
            </a:stretch>
          </a:blipFill>
        </p:spPr>
        <p:txBody>
          <a:bodyPr/>
          <a:lstStyle/>
          <a:p>
            <a:pPr eaLnBrk="1" hangingPunct="1">
              <a:defRPr/>
            </a:pPr>
            <a:r>
              <a:rPr lang="zh-CN" altLang="en-US">
                <a:noFill/>
              </a:rPr>
              <a:t> </a:t>
            </a:r>
          </a:p>
        </p:txBody>
      </p:sp>
      <p:sp>
        <p:nvSpPr>
          <p:cNvPr id="65" name="矩形 64">
            <a:extLst>
              <a:ext uri="{FF2B5EF4-FFF2-40B4-BE49-F238E27FC236}">
                <a16:creationId xmlns:a16="http://schemas.microsoft.com/office/drawing/2014/main" id="{09C4D5EB-073A-40BB-1FDB-15B581A3F96B}"/>
              </a:ext>
            </a:extLst>
          </p:cNvPr>
          <p:cNvSpPr>
            <a:spLocks noRot="1" noChangeAspect="1" noMove="1" noResize="1" noEditPoints="1" noAdjustHandles="1" noChangeArrowheads="1" noChangeShapeType="1" noTextEdit="1"/>
          </p:cNvSpPr>
          <p:nvPr/>
        </p:nvSpPr>
        <p:spPr>
          <a:xfrm>
            <a:off x="6922758" y="2912417"/>
            <a:ext cx="768544" cy="461537"/>
          </a:xfrm>
          <a:prstGeom prst="rect">
            <a:avLst/>
          </a:prstGeom>
          <a:blipFill rotWithShape="1">
            <a:blip r:embed="rId6" cstate="print"/>
            <a:stretch>
              <a:fillRect b="-1333"/>
            </a:stretch>
          </a:blipFill>
        </p:spPr>
        <p:txBody>
          <a:bodyPr/>
          <a:lstStyle/>
          <a:p>
            <a:pPr eaLnBrk="1" hangingPunct="1">
              <a:defRPr/>
            </a:pPr>
            <a:r>
              <a:rPr lang="zh-CN" altLang="en-US">
                <a:noFill/>
              </a:rPr>
              <a:t> </a:t>
            </a:r>
          </a:p>
        </p:txBody>
      </p:sp>
      <p:sp>
        <p:nvSpPr>
          <p:cNvPr id="66" name="Text Box 87">
            <a:extLst>
              <a:ext uri="{FF2B5EF4-FFF2-40B4-BE49-F238E27FC236}">
                <a16:creationId xmlns:a16="http://schemas.microsoft.com/office/drawing/2014/main" id="{A7E5009D-365D-4AC7-65AE-56887C12F9B3}"/>
              </a:ext>
            </a:extLst>
          </p:cNvPr>
          <p:cNvSpPr txBox="1">
            <a:spLocks noRot="1" noChangeAspect="1" noMove="1" noResize="1" noEditPoints="1" noAdjustHandles="1" noChangeArrowheads="1" noChangeShapeType="1" noTextEdit="1"/>
          </p:cNvSpPr>
          <p:nvPr/>
        </p:nvSpPr>
        <p:spPr bwMode="auto">
          <a:xfrm>
            <a:off x="7556716" y="2873944"/>
            <a:ext cx="915332" cy="670239"/>
          </a:xfrm>
          <a:prstGeom prst="rect">
            <a:avLst/>
          </a:prstGeom>
          <a:blipFill rotWithShape="1">
            <a:blip r:embed="rId7" cstate="print"/>
            <a:stretch>
              <a:fillRect/>
            </a:stretch>
          </a:blipFill>
          <a:ln>
            <a:noFill/>
          </a:ln>
        </p:spPr>
        <p:txBody>
          <a:bodyPr/>
          <a:lstStyle/>
          <a:p>
            <a:pPr eaLnBrk="1" hangingPunct="1">
              <a:defRPr/>
            </a:pPr>
            <a:r>
              <a:rPr lang="zh-CN" altLang="en-US">
                <a:noFill/>
              </a:rPr>
              <a:t> </a:t>
            </a:r>
          </a:p>
        </p:txBody>
      </p:sp>
      <p:sp>
        <p:nvSpPr>
          <p:cNvPr id="67" name="Text Box 87">
            <a:extLst>
              <a:ext uri="{FF2B5EF4-FFF2-40B4-BE49-F238E27FC236}">
                <a16:creationId xmlns:a16="http://schemas.microsoft.com/office/drawing/2014/main" id="{47564163-DB4F-3372-F602-F3E03F00577E}"/>
              </a:ext>
            </a:extLst>
          </p:cNvPr>
          <p:cNvSpPr txBox="1">
            <a:spLocks noRot="1" noChangeAspect="1" noMove="1" noResize="1" noEditPoints="1" noAdjustHandles="1" noChangeArrowheads="1" noChangeShapeType="1" noTextEdit="1"/>
          </p:cNvSpPr>
          <p:nvPr/>
        </p:nvSpPr>
        <p:spPr bwMode="auto">
          <a:xfrm>
            <a:off x="8853376" y="2836612"/>
            <a:ext cx="1060727" cy="670239"/>
          </a:xfrm>
          <a:prstGeom prst="rect">
            <a:avLst/>
          </a:prstGeom>
          <a:blipFill rotWithShape="1">
            <a:blip r:embed="rId8" cstate="print"/>
            <a:stretch>
              <a:fillRect/>
            </a:stretch>
          </a:blipFill>
          <a:ln>
            <a:noFill/>
          </a:ln>
        </p:spPr>
        <p:txBody>
          <a:bodyPr/>
          <a:lstStyle/>
          <a:p>
            <a:pPr eaLnBrk="1" hangingPunct="1">
              <a:defRPr/>
            </a:pPr>
            <a:r>
              <a:rPr lang="zh-CN" altLang="en-US">
                <a:noFill/>
              </a:rPr>
              <a:t> </a:t>
            </a:r>
          </a:p>
        </p:txBody>
      </p:sp>
      <p:sp>
        <p:nvSpPr>
          <p:cNvPr id="69" name="Text Box 87">
            <a:extLst>
              <a:ext uri="{FF2B5EF4-FFF2-40B4-BE49-F238E27FC236}">
                <a16:creationId xmlns:a16="http://schemas.microsoft.com/office/drawing/2014/main" id="{C253763C-EE69-4ACD-20A4-3B8EA558DAC8}"/>
              </a:ext>
            </a:extLst>
          </p:cNvPr>
          <p:cNvSpPr txBox="1">
            <a:spLocks noRot="1" noChangeAspect="1" noMove="1" noResize="1" noEditPoints="1" noAdjustHandles="1" noChangeArrowheads="1" noChangeShapeType="1" noTextEdit="1"/>
          </p:cNvSpPr>
          <p:nvPr/>
        </p:nvSpPr>
        <p:spPr bwMode="auto">
          <a:xfrm>
            <a:off x="10268744" y="2836611"/>
            <a:ext cx="1060727" cy="670239"/>
          </a:xfrm>
          <a:prstGeom prst="rect">
            <a:avLst/>
          </a:prstGeom>
          <a:blipFill rotWithShape="1">
            <a:blip r:embed="rId9" cstate="print"/>
            <a:stretch>
              <a:fillRect/>
            </a:stretch>
          </a:blipFill>
          <a:ln>
            <a:noFill/>
          </a:ln>
        </p:spPr>
        <p:txBody>
          <a:bodyPr/>
          <a:lstStyle/>
          <a:p>
            <a:pPr eaLnBrk="1" hangingPunct="1">
              <a:defRPr/>
            </a:pPr>
            <a:r>
              <a:rPr lang="zh-CN" altLang="en-US">
                <a:noFill/>
              </a:rPr>
              <a:t> </a:t>
            </a:r>
          </a:p>
        </p:txBody>
      </p:sp>
      <p:sp>
        <p:nvSpPr>
          <p:cNvPr id="70" name="矩形 69">
            <a:extLst>
              <a:ext uri="{FF2B5EF4-FFF2-40B4-BE49-F238E27FC236}">
                <a16:creationId xmlns:a16="http://schemas.microsoft.com/office/drawing/2014/main" id="{96AE06DB-A1A9-DB73-2A3F-BA58C0B0DD10}"/>
              </a:ext>
            </a:extLst>
          </p:cNvPr>
          <p:cNvSpPr>
            <a:spLocks noRot="1" noChangeAspect="1" noMove="1" noResize="1" noEditPoints="1" noAdjustHandles="1" noChangeArrowheads="1" noChangeShapeType="1" noTextEdit="1"/>
          </p:cNvSpPr>
          <p:nvPr/>
        </p:nvSpPr>
        <p:spPr>
          <a:xfrm>
            <a:off x="5480276" y="2989176"/>
            <a:ext cx="752514" cy="307777"/>
          </a:xfrm>
          <a:prstGeom prst="rect">
            <a:avLst/>
          </a:prstGeom>
          <a:blipFill rotWithShape="1">
            <a:blip r:embed="rId10" cstate="print"/>
            <a:stretch>
              <a:fillRect b="-3922"/>
            </a:stretch>
          </a:blipFill>
        </p:spPr>
        <p:txBody>
          <a:bodyPr/>
          <a:lstStyle/>
          <a:p>
            <a:pPr eaLnBrk="1" hangingPunct="1">
              <a:defRPr/>
            </a:pPr>
            <a:r>
              <a:rPr lang="zh-CN" altLang="en-US">
                <a:noFill/>
              </a:rPr>
              <a:t> </a:t>
            </a:r>
          </a:p>
        </p:txBody>
      </p:sp>
      <p:sp>
        <p:nvSpPr>
          <p:cNvPr id="71" name="矩形 70">
            <a:extLst>
              <a:ext uri="{FF2B5EF4-FFF2-40B4-BE49-F238E27FC236}">
                <a16:creationId xmlns:a16="http://schemas.microsoft.com/office/drawing/2014/main" id="{71CFF9F7-1BD4-468A-AF82-DF35C45C7177}"/>
              </a:ext>
            </a:extLst>
          </p:cNvPr>
          <p:cNvSpPr>
            <a:spLocks noRot="1" noChangeAspect="1" noMove="1" noResize="1" noEditPoints="1" noAdjustHandles="1" noChangeArrowheads="1" noChangeShapeType="1" noTextEdit="1"/>
          </p:cNvSpPr>
          <p:nvPr/>
        </p:nvSpPr>
        <p:spPr>
          <a:xfrm>
            <a:off x="8323432" y="2951144"/>
            <a:ext cx="768544" cy="307777"/>
          </a:xfrm>
          <a:prstGeom prst="rect">
            <a:avLst/>
          </a:prstGeom>
          <a:blipFill rotWithShape="1">
            <a:blip r:embed="rId11" cstate="print"/>
            <a:stretch>
              <a:fillRect b="-3922"/>
            </a:stretch>
          </a:blipFill>
        </p:spPr>
        <p:txBody>
          <a:bodyPr/>
          <a:lstStyle/>
          <a:p>
            <a:pPr eaLnBrk="1" hangingPunct="1">
              <a:defRPr/>
            </a:pPr>
            <a:r>
              <a:rPr lang="zh-CN" altLang="en-US">
                <a:noFill/>
              </a:rPr>
              <a:t> </a:t>
            </a:r>
          </a:p>
        </p:txBody>
      </p:sp>
      <p:sp>
        <p:nvSpPr>
          <p:cNvPr id="72" name="矩形 71">
            <a:extLst>
              <a:ext uri="{FF2B5EF4-FFF2-40B4-BE49-F238E27FC236}">
                <a16:creationId xmlns:a16="http://schemas.microsoft.com/office/drawing/2014/main" id="{B46EE1C5-16FC-11C8-199F-2BBB9F952922}"/>
              </a:ext>
            </a:extLst>
          </p:cNvPr>
          <p:cNvSpPr>
            <a:spLocks noRot="1" noChangeAspect="1" noMove="1" noResize="1" noEditPoints="1" noAdjustHandles="1" noChangeArrowheads="1" noChangeShapeType="1" noTextEdit="1"/>
          </p:cNvSpPr>
          <p:nvPr/>
        </p:nvSpPr>
        <p:spPr>
          <a:xfrm>
            <a:off x="11058536" y="2936403"/>
            <a:ext cx="875945" cy="307777"/>
          </a:xfrm>
          <a:prstGeom prst="rect">
            <a:avLst/>
          </a:prstGeom>
          <a:blipFill rotWithShape="1">
            <a:blip r:embed="rId12" cstate="print"/>
            <a:stretch>
              <a:fillRect b="-6000"/>
            </a:stretch>
          </a:blipFill>
        </p:spPr>
        <p:txBody>
          <a:bodyPr/>
          <a:lstStyle/>
          <a:p>
            <a:pPr eaLnBrk="1" hangingPunct="1">
              <a:defRPr/>
            </a:pPr>
            <a:r>
              <a:rPr lang="zh-CN" altLang="en-US">
                <a:noFill/>
              </a:rPr>
              <a:t> </a:t>
            </a:r>
          </a:p>
        </p:txBody>
      </p:sp>
      <p:graphicFrame>
        <p:nvGraphicFramePr>
          <p:cNvPr id="18448" name="对象 3">
            <a:extLst>
              <a:ext uri="{FF2B5EF4-FFF2-40B4-BE49-F238E27FC236}">
                <a16:creationId xmlns:a16="http://schemas.microsoft.com/office/drawing/2014/main" id="{479E6E23-C8C4-4AE9-C8E2-56968B70F61B}"/>
              </a:ext>
            </a:extLst>
          </p:cNvPr>
          <p:cNvGraphicFramePr>
            <a:graphicFrameLocks noChangeAspect="1"/>
          </p:cNvGraphicFramePr>
          <p:nvPr>
            <p:extLst>
              <p:ext uri="{D42A27DB-BD31-4B8C-83A1-F6EECF244321}">
                <p14:modId xmlns:p14="http://schemas.microsoft.com/office/powerpoint/2010/main" val="152560471"/>
              </p:ext>
            </p:extLst>
          </p:nvPr>
        </p:nvGraphicFramePr>
        <p:xfrm>
          <a:off x="6008688" y="3859213"/>
          <a:ext cx="5656262" cy="2663825"/>
        </p:xfrm>
        <a:graphic>
          <a:graphicData uri="http://schemas.openxmlformats.org/presentationml/2006/ole">
            <mc:AlternateContent xmlns:mc="http://schemas.openxmlformats.org/markup-compatibility/2006">
              <mc:Choice xmlns:v="urn:schemas-microsoft-com:vml" Requires="v">
                <p:oleObj name="Equation" r:id="rId13" imgW="2882900" imgH="2057400" progId="Equation.DSMT4">
                  <p:embed/>
                </p:oleObj>
              </mc:Choice>
              <mc:Fallback>
                <p:oleObj name="Equation" r:id="rId13" imgW="2882900" imgH="2057400" progId="Equation.DSMT4">
                  <p:embed/>
                  <p:pic>
                    <p:nvPicPr>
                      <p:cNvPr id="0" name="对象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08688" y="3859213"/>
                        <a:ext cx="5656262" cy="2663825"/>
                      </a:xfrm>
                      <a:prstGeom prst="rect">
                        <a:avLst/>
                      </a:prstGeom>
                      <a:solidFill>
                        <a:srgbClr val="F8CBAD">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49" name="对象 4">
            <a:extLst>
              <a:ext uri="{FF2B5EF4-FFF2-40B4-BE49-F238E27FC236}">
                <a16:creationId xmlns:a16="http://schemas.microsoft.com/office/drawing/2014/main" id="{F5903118-2FEA-9178-D187-76CD00AE1FB2}"/>
              </a:ext>
            </a:extLst>
          </p:cNvPr>
          <p:cNvGraphicFramePr>
            <a:graphicFrameLocks noChangeAspect="1"/>
          </p:cNvGraphicFramePr>
          <p:nvPr>
            <p:extLst>
              <p:ext uri="{D42A27DB-BD31-4B8C-83A1-F6EECF244321}">
                <p14:modId xmlns:p14="http://schemas.microsoft.com/office/powerpoint/2010/main" val="1182370744"/>
              </p:ext>
            </p:extLst>
          </p:nvPr>
        </p:nvGraphicFramePr>
        <p:xfrm>
          <a:off x="1159059" y="6101520"/>
          <a:ext cx="1601788" cy="538162"/>
        </p:xfrm>
        <a:graphic>
          <a:graphicData uri="http://schemas.openxmlformats.org/presentationml/2006/ole">
            <mc:AlternateContent xmlns:mc="http://schemas.openxmlformats.org/markup-compatibility/2006">
              <mc:Choice xmlns:v="urn:schemas-microsoft-com:vml" Requires="v">
                <p:oleObj name="公式" r:id="rId15" imgW="596641" imgH="203112" progId="Equation.3">
                  <p:embed/>
                </p:oleObj>
              </mc:Choice>
              <mc:Fallback>
                <p:oleObj name="公式" r:id="rId15" imgW="596641" imgH="203112" progId="Equation.3">
                  <p:embed/>
                  <p:pic>
                    <p:nvPicPr>
                      <p:cNvPr id="0" name="对象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59059" y="6101520"/>
                        <a:ext cx="1601788"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0" name="对象 5">
            <a:extLst>
              <a:ext uri="{FF2B5EF4-FFF2-40B4-BE49-F238E27FC236}">
                <a16:creationId xmlns:a16="http://schemas.microsoft.com/office/drawing/2014/main" id="{1979537F-5679-8E72-98ED-CE76FCF4EC1D}"/>
              </a:ext>
            </a:extLst>
          </p:cNvPr>
          <p:cNvGraphicFramePr>
            <a:graphicFrameLocks noChangeAspect="1"/>
          </p:cNvGraphicFramePr>
          <p:nvPr>
            <p:extLst>
              <p:ext uri="{D42A27DB-BD31-4B8C-83A1-F6EECF244321}">
                <p14:modId xmlns:p14="http://schemas.microsoft.com/office/powerpoint/2010/main" val="4188934526"/>
              </p:ext>
            </p:extLst>
          </p:nvPr>
        </p:nvGraphicFramePr>
        <p:xfrm>
          <a:off x="489017" y="4018668"/>
          <a:ext cx="434975" cy="381000"/>
        </p:xfrm>
        <a:graphic>
          <a:graphicData uri="http://schemas.openxmlformats.org/presentationml/2006/ole">
            <mc:AlternateContent xmlns:mc="http://schemas.openxmlformats.org/markup-compatibility/2006">
              <mc:Choice xmlns:v="urn:schemas-microsoft-com:vml" Requires="v">
                <p:oleObj name="公式" r:id="rId17" imgW="228501" imgH="203112" progId="Equation.3">
                  <p:embed/>
                </p:oleObj>
              </mc:Choice>
              <mc:Fallback>
                <p:oleObj name="公式" r:id="rId17" imgW="228501" imgH="203112" progId="Equation.3">
                  <p:embed/>
                  <p:pic>
                    <p:nvPicPr>
                      <p:cNvPr id="0" name="对象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9017" y="4018668"/>
                        <a:ext cx="434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51" name="对象 72">
            <a:extLst>
              <a:ext uri="{FF2B5EF4-FFF2-40B4-BE49-F238E27FC236}">
                <a16:creationId xmlns:a16="http://schemas.microsoft.com/office/drawing/2014/main" id="{2718A921-4A7E-A282-3D17-F5176F3E39B1}"/>
              </a:ext>
            </a:extLst>
          </p:cNvPr>
          <p:cNvGraphicFramePr>
            <a:graphicFrameLocks noChangeAspect="1"/>
          </p:cNvGraphicFramePr>
          <p:nvPr>
            <p:extLst>
              <p:ext uri="{D42A27DB-BD31-4B8C-83A1-F6EECF244321}">
                <p14:modId xmlns:p14="http://schemas.microsoft.com/office/powerpoint/2010/main" val="2238535490"/>
              </p:ext>
            </p:extLst>
          </p:nvPr>
        </p:nvGraphicFramePr>
        <p:xfrm>
          <a:off x="3551238" y="6101520"/>
          <a:ext cx="1601787" cy="447675"/>
        </p:xfrm>
        <a:graphic>
          <a:graphicData uri="http://schemas.openxmlformats.org/presentationml/2006/ole">
            <mc:AlternateContent xmlns:mc="http://schemas.openxmlformats.org/markup-compatibility/2006">
              <mc:Choice xmlns:v="urn:schemas-microsoft-com:vml" Requires="v">
                <p:oleObj name="公式" r:id="rId19" imgW="647419" imgH="177723" progId="Equation.3">
                  <p:embed/>
                </p:oleObj>
              </mc:Choice>
              <mc:Fallback>
                <p:oleObj name="公式" r:id="rId19" imgW="647419" imgH="177723" progId="Equation.3">
                  <p:embed/>
                  <p:pic>
                    <p:nvPicPr>
                      <p:cNvPr id="0" name="对象 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51238" y="6101520"/>
                        <a:ext cx="160178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52" name="文本框 3">
            <a:extLst>
              <a:ext uri="{FF2B5EF4-FFF2-40B4-BE49-F238E27FC236}">
                <a16:creationId xmlns:a16="http://schemas.microsoft.com/office/drawing/2014/main" id="{BA7506B2-94F0-A40A-9A6F-F7DDC2878997}"/>
              </a:ext>
            </a:extLst>
          </p:cNvPr>
          <p:cNvSpPr txBox="1">
            <a:spLocks noChangeArrowheads="1"/>
          </p:cNvSpPr>
          <p:nvPr/>
        </p:nvSpPr>
        <p:spPr bwMode="auto">
          <a:xfrm>
            <a:off x="7226300" y="792163"/>
            <a:ext cx="2671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FontTx/>
              <a:buNone/>
            </a:pPr>
            <a:r>
              <a:rPr lang="zh-CN" altLang="en-US" sz="1800" b="1">
                <a:latin typeface="Times New Roman" panose="02020603050405020304" pitchFamily="18" charset="0"/>
              </a:rPr>
              <a:t>示波器置于</a:t>
            </a:r>
            <a:r>
              <a:rPr lang="en-US" altLang="zh-CN" sz="1800" b="1">
                <a:latin typeface="Times New Roman" panose="02020603050405020304" pitchFamily="18" charset="0"/>
              </a:rPr>
              <a:t>X</a:t>
            </a:r>
            <a:r>
              <a:rPr lang="zh-CN" altLang="en-US" sz="1800" b="1">
                <a:latin typeface="Times New Roman" panose="02020603050405020304" pitchFamily="18" charset="0"/>
              </a:rPr>
              <a:t>－</a:t>
            </a:r>
            <a:r>
              <a:rPr lang="en-US" altLang="zh-CN" sz="1800" b="1">
                <a:latin typeface="Times New Roman" panose="02020603050405020304" pitchFamily="18" charset="0"/>
              </a:rPr>
              <a:t>Y</a:t>
            </a:r>
            <a:r>
              <a:rPr lang="zh-CN" altLang="en-US" sz="1800" b="1">
                <a:latin typeface="Times New Roman" panose="02020603050405020304" pitchFamily="18" charset="0"/>
              </a:rPr>
              <a:t>方式</a:t>
            </a:r>
            <a:endParaRPr lang="zh-CN" altLang="en-US" sz="1800"/>
          </a:p>
        </p:txBody>
      </p:sp>
      <p:graphicFrame>
        <p:nvGraphicFramePr>
          <p:cNvPr id="3" name="对象 5">
            <a:extLst>
              <a:ext uri="{FF2B5EF4-FFF2-40B4-BE49-F238E27FC236}">
                <a16:creationId xmlns:a16="http://schemas.microsoft.com/office/drawing/2014/main" id="{DBD79F99-7172-0965-4BF9-DB490A9D3EF8}"/>
              </a:ext>
            </a:extLst>
          </p:cNvPr>
          <p:cNvGraphicFramePr>
            <a:graphicFrameLocks noChangeAspect="1"/>
          </p:cNvGraphicFramePr>
          <p:nvPr>
            <p:extLst>
              <p:ext uri="{D42A27DB-BD31-4B8C-83A1-F6EECF244321}">
                <p14:modId xmlns:p14="http://schemas.microsoft.com/office/powerpoint/2010/main" val="335412666"/>
              </p:ext>
            </p:extLst>
          </p:nvPr>
        </p:nvGraphicFramePr>
        <p:xfrm>
          <a:off x="5002056" y="4863133"/>
          <a:ext cx="434975" cy="381000"/>
        </p:xfrm>
        <a:graphic>
          <a:graphicData uri="http://schemas.openxmlformats.org/presentationml/2006/ole">
            <mc:AlternateContent xmlns:mc="http://schemas.openxmlformats.org/markup-compatibility/2006">
              <mc:Choice xmlns:v="urn:schemas-microsoft-com:vml" Requires="v">
                <p:oleObj name="公式" r:id="rId17" imgW="228501" imgH="203112" progId="Equation.3">
                  <p:embed/>
                </p:oleObj>
              </mc:Choice>
              <mc:Fallback>
                <p:oleObj name="公式" r:id="rId17" imgW="228501" imgH="203112" progId="Equation.3">
                  <p:embed/>
                  <p:pic>
                    <p:nvPicPr>
                      <p:cNvPr id="18450" name="对象 5">
                        <a:extLst>
                          <a:ext uri="{FF2B5EF4-FFF2-40B4-BE49-F238E27FC236}">
                            <a16:creationId xmlns:a16="http://schemas.microsoft.com/office/drawing/2014/main" id="{1979537F-5679-8E72-98ED-CE76FCF4EC1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02056" y="4863133"/>
                        <a:ext cx="4349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a:extLst>
              <a:ext uri="{FF2B5EF4-FFF2-40B4-BE49-F238E27FC236}">
                <a16:creationId xmlns:a16="http://schemas.microsoft.com/office/drawing/2014/main" id="{34FE37BC-47D4-76A3-701F-FF56916011FF}"/>
              </a:ext>
            </a:extLst>
          </p:cNvPr>
          <p:cNvSpPr>
            <a:spLocks noGrp="1"/>
          </p:cNvSpPr>
          <p:nvPr>
            <p:ph type="title"/>
          </p:nvPr>
        </p:nvSpPr>
        <p:spPr>
          <a:xfrm>
            <a:off x="4835525" y="760413"/>
            <a:ext cx="4152900" cy="815975"/>
          </a:xfrm>
        </p:spPr>
        <p:txBody>
          <a:bodyPr lIns="94165" tIns="47082" rIns="94165" bIns="47082"/>
          <a:lstStyle/>
          <a:p>
            <a:pPr eaLnBrk="1" hangingPunct="1">
              <a:defRPr/>
            </a:pPr>
            <a:r>
              <a:rPr lang="zh-CN" altLang="en-US" sz="2472" b="1" dirty="0">
                <a:solidFill>
                  <a:srgbClr val="FF0000"/>
                </a:solidFill>
                <a:latin typeface="宋体" panose="02010600030101010101" pitchFamily="2" charset="-122"/>
              </a:rPr>
              <a:t>示波器置于“</a:t>
            </a:r>
            <a:r>
              <a:rPr lang="en-US" altLang="zh-CN" sz="2472" b="1" dirty="0">
                <a:solidFill>
                  <a:srgbClr val="FF0000"/>
                </a:solidFill>
                <a:latin typeface="宋体" panose="02010600030101010101" pitchFamily="2" charset="-122"/>
              </a:rPr>
              <a:t>X-Y”</a:t>
            </a:r>
            <a:r>
              <a:rPr lang="zh-CN" altLang="en-US" sz="2472" b="1" dirty="0">
                <a:solidFill>
                  <a:srgbClr val="FF0000"/>
                </a:solidFill>
                <a:latin typeface="宋体" panose="02010600030101010101" pitchFamily="2" charset="-122"/>
              </a:rPr>
              <a:t>方式</a:t>
            </a:r>
            <a:r>
              <a:rPr lang="zh-CN" altLang="en-US" sz="2883" dirty="0">
                <a:solidFill>
                  <a:srgbClr val="FF0000"/>
                </a:solidFill>
                <a:latin typeface="宋体" panose="02010600030101010101" pitchFamily="2" charset="-122"/>
              </a:rPr>
              <a:t> </a:t>
            </a:r>
          </a:p>
        </p:txBody>
      </p:sp>
      <p:sp>
        <p:nvSpPr>
          <p:cNvPr id="17411" name="Text Box 7">
            <a:extLst>
              <a:ext uri="{FF2B5EF4-FFF2-40B4-BE49-F238E27FC236}">
                <a16:creationId xmlns:a16="http://schemas.microsoft.com/office/drawing/2014/main" id="{F224C7D9-FAC5-41D5-002D-39F47EEDEAB4}"/>
              </a:ext>
            </a:extLst>
          </p:cNvPr>
          <p:cNvSpPr txBox="1"/>
          <p:nvPr/>
        </p:nvSpPr>
        <p:spPr>
          <a:xfrm>
            <a:off x="1793875" y="1798638"/>
            <a:ext cx="819150" cy="2520950"/>
          </a:xfrm>
          <a:prstGeom prst="rect">
            <a:avLst/>
          </a:prstGeom>
          <a:solidFill>
            <a:srgbClr val="FFFF99"/>
          </a:solidFill>
          <a:ln w="9525">
            <a:noFill/>
          </a:ln>
        </p:spPr>
        <p:txBody>
          <a:bodyPr vert="eaVert">
            <a:spAutoFit/>
          </a:bodyPr>
          <a:lstStyle/>
          <a:p>
            <a:pPr>
              <a:spcBef>
                <a:spcPct val="50000"/>
              </a:spcBef>
              <a:defRPr/>
            </a:pPr>
            <a:r>
              <a:rPr lang="en-US" altLang="zh-CN" sz="4119" dirty="0">
                <a:solidFill>
                  <a:srgbClr val="660066"/>
                </a:solidFill>
                <a:latin typeface="Arial" panose="020B0604020202020204" pitchFamily="34" charset="0"/>
              </a:rPr>
              <a:t> </a:t>
            </a:r>
            <a:r>
              <a:rPr lang="zh-CN" altLang="en-US" sz="3295" dirty="0">
                <a:solidFill>
                  <a:srgbClr val="660066"/>
                </a:solidFill>
                <a:latin typeface="Arial" panose="020B0604020202020204" pitchFamily="34" charset="0"/>
              </a:rPr>
              <a:t>相位比较法</a:t>
            </a:r>
          </a:p>
        </p:txBody>
      </p:sp>
      <p:sp>
        <p:nvSpPr>
          <p:cNvPr id="17412" name="Rectangle 11">
            <a:extLst>
              <a:ext uri="{FF2B5EF4-FFF2-40B4-BE49-F238E27FC236}">
                <a16:creationId xmlns:a16="http://schemas.microsoft.com/office/drawing/2014/main" id="{D44EFD29-423E-D899-D71D-63F26119246F}"/>
              </a:ext>
            </a:extLst>
          </p:cNvPr>
          <p:cNvSpPr/>
          <p:nvPr/>
        </p:nvSpPr>
        <p:spPr>
          <a:xfrm>
            <a:off x="4540250" y="5359400"/>
            <a:ext cx="4967288" cy="420688"/>
          </a:xfrm>
          <a:prstGeom prst="rect">
            <a:avLst/>
          </a:prstGeom>
          <a:noFill/>
          <a:ln w="9525">
            <a:noFill/>
          </a:ln>
        </p:spPr>
        <p:txBody>
          <a:bodyPr anchor="ctr">
            <a:spAutoFit/>
          </a:bodyPr>
          <a:lstStyle/>
          <a:p>
            <a:pPr>
              <a:defRPr/>
            </a:pPr>
            <a:r>
              <a:rPr lang="zh-CN" altLang="en-US" sz="2060" b="1" dirty="0">
                <a:solidFill>
                  <a:srgbClr val="CC0000"/>
                </a:solidFill>
                <a:latin typeface="Arial" panose="020B0604020202020204" pitchFamily="34" charset="0"/>
              </a:rPr>
              <a:t>观察波形为一定角度的斜线</a:t>
            </a:r>
            <a:r>
              <a:rPr lang="zh-CN" altLang="en-US" sz="2060" dirty="0">
                <a:solidFill>
                  <a:srgbClr val="CC0000"/>
                </a:solidFill>
                <a:latin typeface="Arial" panose="020B0604020202020204" pitchFamily="34" charset="0"/>
              </a:rPr>
              <a:t> </a:t>
            </a:r>
          </a:p>
        </p:txBody>
      </p:sp>
      <p:pic>
        <p:nvPicPr>
          <p:cNvPr id="19461" name="Picture 18" descr="线">
            <a:extLst>
              <a:ext uri="{FF2B5EF4-FFF2-40B4-BE49-F238E27FC236}">
                <a16:creationId xmlns:a16="http://schemas.microsoft.com/office/drawing/2014/main" id="{F8CD6E46-4E20-EBD8-5311-1F05D58471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688" y="1427163"/>
            <a:ext cx="7340600" cy="400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矩形 5">
            <a:extLst>
              <a:ext uri="{FF2B5EF4-FFF2-40B4-BE49-F238E27FC236}">
                <a16:creationId xmlns:a16="http://schemas.microsoft.com/office/drawing/2014/main" id="{D37DE039-3C20-F555-B073-6BC539C4BCF3}"/>
              </a:ext>
            </a:extLst>
          </p:cNvPr>
          <p:cNvSpPr/>
          <p:nvPr/>
        </p:nvSpPr>
        <p:spPr>
          <a:xfrm>
            <a:off x="3716338" y="5802313"/>
            <a:ext cx="5049837" cy="979487"/>
          </a:xfrm>
          <a:prstGeom prst="rect">
            <a:avLst/>
          </a:prstGeom>
          <a:noFill/>
          <a:ln w="9525">
            <a:noFill/>
          </a:ln>
        </p:spPr>
        <p:txBody>
          <a:bodyPr>
            <a:spAutoFit/>
          </a:bodyPr>
          <a:lstStyle/>
          <a:p>
            <a:pPr>
              <a:defRPr/>
            </a:pPr>
            <a:r>
              <a:rPr lang="en-US" altLang="zh-CN" sz="2472" b="1" dirty="0">
                <a:solidFill>
                  <a:srgbClr val="0070C0"/>
                </a:solidFill>
                <a:latin typeface="Arial" panose="020B0604020202020204" pitchFamily="34" charset="0"/>
              </a:rPr>
              <a:t>    </a:t>
            </a:r>
            <a:r>
              <a:rPr lang="zh-CN" altLang="en-US" sz="2883" b="1" dirty="0">
                <a:solidFill>
                  <a:srgbClr val="0070C0"/>
                </a:solidFill>
                <a:latin typeface="Arial" panose="020B0604020202020204" pitchFamily="34" charset="0"/>
              </a:rPr>
              <a:t>用李萨如图形观察相位变化</a:t>
            </a:r>
            <a:br>
              <a:rPr lang="zh-CN" altLang="en-US" sz="2883" b="1" dirty="0">
                <a:solidFill>
                  <a:srgbClr val="0070C0"/>
                </a:solidFill>
                <a:latin typeface="Arial" panose="020B0604020202020204" pitchFamily="34" charset="0"/>
              </a:rPr>
            </a:br>
            <a:endParaRPr lang="zh-CN" altLang="en-US" sz="2883" dirty="0">
              <a:latin typeface="Arial" panose="020B0604020202020204" pitchFamily="34" charset="0"/>
            </a:endParaRPr>
          </a:p>
        </p:txBody>
      </p:sp>
      <p:sp>
        <p:nvSpPr>
          <p:cNvPr id="19463" name="标题 1">
            <a:extLst>
              <a:ext uri="{FF2B5EF4-FFF2-40B4-BE49-F238E27FC236}">
                <a16:creationId xmlns:a16="http://schemas.microsoft.com/office/drawing/2014/main" id="{5E8715AF-C9AC-DFEC-1F12-A6B353286DFA}"/>
              </a:ext>
            </a:extLst>
          </p:cNvPr>
          <p:cNvSpPr txBox="1">
            <a:spLocks noChangeArrowheads="1"/>
          </p:cNvSpPr>
          <p:nvPr/>
        </p:nvSpPr>
        <p:spPr bwMode="auto">
          <a:xfrm>
            <a:off x="550863" y="312738"/>
            <a:ext cx="3702050"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0"/>
              </a:spcBef>
              <a:buFontTx/>
              <a:buNone/>
            </a:pPr>
            <a:r>
              <a:rPr lang="zh-CN" altLang="en-US" sz="3600">
                <a:latin typeface="黑体" panose="02010609060101010101" pitchFamily="49" charset="-122"/>
                <a:ea typeface="黑体" panose="02010609060101010101" pitchFamily="49" charset="-122"/>
              </a:rPr>
              <a:t>三、实验原理</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a:extLst>
              <a:ext uri="{FF2B5EF4-FFF2-40B4-BE49-F238E27FC236}">
                <a16:creationId xmlns:a16="http://schemas.microsoft.com/office/drawing/2014/main" id="{20C2D453-D49A-6CB4-8403-7BC1925733F1}"/>
              </a:ext>
            </a:extLst>
          </p:cNvPr>
          <p:cNvSpPr>
            <a:spLocks noGrp="1"/>
          </p:cNvSpPr>
          <p:nvPr>
            <p:ph idx="1"/>
          </p:nvPr>
        </p:nvSpPr>
        <p:spPr>
          <a:xfrm>
            <a:off x="260350" y="1468438"/>
            <a:ext cx="9083675" cy="4527550"/>
          </a:xfrm>
        </p:spPr>
        <p:txBody>
          <a:bodyPr lIns="94165" tIns="47082" rIns="94165" bIns="47082"/>
          <a:lstStyle/>
          <a:p>
            <a:pPr marL="837021" indent="-837021" eaLnBrk="1" hangingPunct="1">
              <a:lnSpc>
                <a:spcPct val="150000"/>
              </a:lnSpc>
              <a:buFont typeface="Arial" panose="020B0604020202020204" pitchFamily="34" charset="0"/>
              <a:buNone/>
              <a:defRPr/>
            </a:pPr>
            <a:r>
              <a:rPr lang="zh-CN" altLang="en-US" sz="2472" dirty="0"/>
              <a:t>声速测定仪、信号发生器、数字示波器</a:t>
            </a:r>
            <a:endParaRPr lang="en-US" altLang="zh-CN" sz="2472" b="1" dirty="0"/>
          </a:p>
          <a:p>
            <a:pPr marL="837021" indent="-837021" eaLnBrk="1" hangingPunct="1">
              <a:defRPr/>
            </a:pPr>
            <a:endParaRPr lang="en-US" altLang="zh-CN" b="1" dirty="0"/>
          </a:p>
          <a:p>
            <a:pPr marL="0" indent="0" eaLnBrk="1" hangingPunct="1">
              <a:spcBef>
                <a:spcPct val="0"/>
              </a:spcBef>
              <a:buFont typeface="Arial" panose="020B0604020202020204" pitchFamily="34" charset="0"/>
              <a:buNone/>
              <a:defRPr/>
            </a:pPr>
            <a:endParaRPr lang="zh-CN" altLang="en-US" b="1" dirty="0">
              <a:latin typeface="Arial" panose="020B0604020202020204" pitchFamily="34" charset="0"/>
              <a:ea typeface="宋体" panose="02010600030101010101" pitchFamily="2" charset="-122"/>
            </a:endParaRPr>
          </a:p>
        </p:txBody>
      </p:sp>
      <p:pic>
        <p:nvPicPr>
          <p:cNvPr id="20483" name="图片 4">
            <a:extLst>
              <a:ext uri="{FF2B5EF4-FFF2-40B4-BE49-F238E27FC236}">
                <a16:creationId xmlns:a16="http://schemas.microsoft.com/office/drawing/2014/main" id="{0E352DAA-9B4E-B0CA-189F-28B229887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7938" y="2405063"/>
            <a:ext cx="7385050"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CE99E096-3641-D22B-4533-5B2021C83EF6}"/>
              </a:ext>
            </a:extLst>
          </p:cNvPr>
          <p:cNvSpPr txBox="1"/>
          <p:nvPr/>
        </p:nvSpPr>
        <p:spPr>
          <a:xfrm>
            <a:off x="4064000" y="6370638"/>
            <a:ext cx="4597400" cy="487362"/>
          </a:xfrm>
          <a:prstGeom prst="rect">
            <a:avLst/>
          </a:prstGeom>
          <a:noFill/>
        </p:spPr>
        <p:txBody>
          <a:bodyPr>
            <a:spAutoFit/>
          </a:bodyPr>
          <a:lstStyle/>
          <a:p>
            <a:pPr>
              <a:defRPr/>
            </a:pPr>
            <a:r>
              <a:rPr lang="zh-CN" altLang="en-US" sz="2472" dirty="0"/>
              <a:t>图</a:t>
            </a:r>
            <a:r>
              <a:rPr lang="en-US" altLang="zh-CN" sz="2472" dirty="0"/>
              <a:t>1</a:t>
            </a:r>
            <a:r>
              <a:rPr lang="zh-CN" altLang="en-US" sz="2472" dirty="0"/>
              <a:t>、声速测定仪器实物图</a:t>
            </a:r>
          </a:p>
        </p:txBody>
      </p:sp>
      <p:sp>
        <p:nvSpPr>
          <p:cNvPr id="2" name="AutoShape 11">
            <a:extLst>
              <a:ext uri="{FF2B5EF4-FFF2-40B4-BE49-F238E27FC236}">
                <a16:creationId xmlns:a16="http://schemas.microsoft.com/office/drawing/2014/main" id="{52FA4F59-58CD-B468-AE4D-9367DCAF30BB}"/>
              </a:ext>
            </a:extLst>
          </p:cNvPr>
          <p:cNvSpPr>
            <a:spLocks noChangeArrowheads="1"/>
          </p:cNvSpPr>
          <p:nvPr/>
        </p:nvSpPr>
        <p:spPr bwMode="auto">
          <a:xfrm>
            <a:off x="6096000" y="1827213"/>
            <a:ext cx="2305050" cy="549275"/>
          </a:xfrm>
          <a:prstGeom prst="wedgeEllipseCallout">
            <a:avLst>
              <a:gd name="adj1" fmla="val 54160"/>
              <a:gd name="adj2" fmla="val 199484"/>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fontAlgn="auto" hangingPunct="1">
              <a:spcBef>
                <a:spcPct val="0"/>
              </a:spcBef>
              <a:spcAft>
                <a:spcPts val="0"/>
              </a:spcAft>
              <a:buClrTx/>
              <a:buSzTx/>
              <a:buFont typeface="Wingdings" panose="05000000000000000000" pitchFamily="2" charset="2"/>
              <a:buNone/>
              <a:defRPr/>
            </a:pPr>
            <a:r>
              <a:rPr lang="zh-CN" altLang="en-US" sz="2060" b="1" kern="0" dirty="0">
                <a:solidFill>
                  <a:srgbClr val="007A77"/>
                </a:solidFill>
                <a:latin typeface="Times New Roman" panose="02020603050405020304" pitchFamily="18" charset="0"/>
                <a:cs typeface="Times New Roman" panose="02020603050405020304" pitchFamily="18" charset="0"/>
              </a:rPr>
              <a:t>数字示波器</a:t>
            </a:r>
          </a:p>
        </p:txBody>
      </p:sp>
      <p:sp>
        <p:nvSpPr>
          <p:cNvPr id="4" name="AutoShape 11">
            <a:extLst>
              <a:ext uri="{FF2B5EF4-FFF2-40B4-BE49-F238E27FC236}">
                <a16:creationId xmlns:a16="http://schemas.microsoft.com/office/drawing/2014/main" id="{F86BC539-FE4D-457F-51CC-38A24DAD25CE}"/>
              </a:ext>
            </a:extLst>
          </p:cNvPr>
          <p:cNvSpPr>
            <a:spLocks noChangeArrowheads="1"/>
          </p:cNvSpPr>
          <p:nvPr/>
        </p:nvSpPr>
        <p:spPr bwMode="auto">
          <a:xfrm>
            <a:off x="1060450" y="5873750"/>
            <a:ext cx="3046413" cy="549275"/>
          </a:xfrm>
          <a:prstGeom prst="wedgeEllipseCallout">
            <a:avLst>
              <a:gd name="adj1" fmla="val 23023"/>
              <a:gd name="adj2" fmla="val -310440"/>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fontAlgn="auto" hangingPunct="1">
              <a:spcBef>
                <a:spcPct val="0"/>
              </a:spcBef>
              <a:spcAft>
                <a:spcPts val="0"/>
              </a:spcAft>
              <a:buClrTx/>
              <a:buSzTx/>
              <a:buFont typeface="Wingdings" panose="05000000000000000000" pitchFamily="2" charset="2"/>
              <a:buNone/>
              <a:defRPr/>
            </a:pPr>
            <a:r>
              <a:rPr lang="zh-CN" altLang="en-US" sz="2060" b="1" kern="0" dirty="0">
                <a:solidFill>
                  <a:srgbClr val="007A77"/>
                </a:solidFill>
                <a:latin typeface="Times New Roman" panose="02020603050405020304" pitchFamily="18" charset="0"/>
                <a:cs typeface="Times New Roman" panose="02020603050405020304" pitchFamily="18" charset="0"/>
              </a:rPr>
              <a:t>声速测定仪</a:t>
            </a:r>
          </a:p>
        </p:txBody>
      </p:sp>
      <p:sp>
        <p:nvSpPr>
          <p:cNvPr id="20487" name="标题 1">
            <a:extLst>
              <a:ext uri="{FF2B5EF4-FFF2-40B4-BE49-F238E27FC236}">
                <a16:creationId xmlns:a16="http://schemas.microsoft.com/office/drawing/2014/main" id="{D90F5228-F356-4B81-DB02-A337729CC1DF}"/>
              </a:ext>
            </a:extLst>
          </p:cNvPr>
          <p:cNvSpPr>
            <a:spLocks noGrp="1" noChangeArrowheads="1"/>
          </p:cNvSpPr>
          <p:nvPr>
            <p:ph type="title"/>
          </p:nvPr>
        </p:nvSpPr>
        <p:spPr>
          <a:xfrm>
            <a:off x="444500" y="342900"/>
            <a:ext cx="3425825" cy="982663"/>
          </a:xfrm>
        </p:spPr>
        <p:txBody>
          <a:bodyPr/>
          <a:lstStyle/>
          <a:p>
            <a:pPr eaLnBrk="1" hangingPunct="1"/>
            <a:r>
              <a:rPr lang="zh-CN" altLang="en-US"/>
              <a:t>四、实验仪器</a:t>
            </a:r>
          </a:p>
        </p:txBody>
      </p:sp>
      <p:sp>
        <p:nvSpPr>
          <p:cNvPr id="8" name="AutoShape 11">
            <a:extLst>
              <a:ext uri="{FF2B5EF4-FFF2-40B4-BE49-F238E27FC236}">
                <a16:creationId xmlns:a16="http://schemas.microsoft.com/office/drawing/2014/main" id="{4944FE09-4350-5979-6B01-87D38F37C006}"/>
              </a:ext>
            </a:extLst>
          </p:cNvPr>
          <p:cNvSpPr>
            <a:spLocks noChangeArrowheads="1"/>
          </p:cNvSpPr>
          <p:nvPr/>
        </p:nvSpPr>
        <p:spPr bwMode="auto">
          <a:xfrm>
            <a:off x="6799263" y="5873750"/>
            <a:ext cx="2041525" cy="436563"/>
          </a:xfrm>
          <a:prstGeom prst="wedgeEllipseCallout">
            <a:avLst>
              <a:gd name="adj1" fmla="val 23023"/>
              <a:gd name="adj2" fmla="val -310440"/>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fontAlgn="auto" hangingPunct="1">
              <a:spcBef>
                <a:spcPct val="0"/>
              </a:spcBef>
              <a:spcAft>
                <a:spcPts val="0"/>
              </a:spcAft>
              <a:buClrTx/>
              <a:buSzTx/>
              <a:buFont typeface="Wingdings" panose="05000000000000000000" pitchFamily="2" charset="2"/>
              <a:buNone/>
              <a:defRPr/>
            </a:pPr>
            <a:r>
              <a:rPr lang="zh-CN" altLang="en-US" sz="2060" b="1" kern="0" dirty="0">
                <a:solidFill>
                  <a:srgbClr val="007A77"/>
                </a:solidFill>
                <a:latin typeface="Times New Roman" panose="02020603050405020304" pitchFamily="18" charset="0"/>
                <a:cs typeface="Times New Roman" panose="02020603050405020304" pitchFamily="18" charset="0"/>
              </a:rPr>
              <a:t>信号源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4">
            <a:extLst>
              <a:ext uri="{FF2B5EF4-FFF2-40B4-BE49-F238E27FC236}">
                <a16:creationId xmlns:a16="http://schemas.microsoft.com/office/drawing/2014/main" id="{E506FF74-4B76-5557-7128-8E2592597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5" t="19653" r="4019" b="22813"/>
          <a:stretch>
            <a:fillRect/>
          </a:stretch>
        </p:blipFill>
        <p:spPr bwMode="auto">
          <a:xfrm>
            <a:off x="2193925" y="2486025"/>
            <a:ext cx="68516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Rectangle 5">
            <a:extLst>
              <a:ext uri="{FF2B5EF4-FFF2-40B4-BE49-F238E27FC236}">
                <a16:creationId xmlns:a16="http://schemas.microsoft.com/office/drawing/2014/main" id="{B2597E7A-E62D-9F6D-DA9A-2A6073E13E17}"/>
              </a:ext>
            </a:extLst>
          </p:cNvPr>
          <p:cNvSpPr txBox="1">
            <a:spLocks noChangeArrowheads="1"/>
          </p:cNvSpPr>
          <p:nvPr/>
        </p:nvSpPr>
        <p:spPr bwMode="auto">
          <a:xfrm>
            <a:off x="527050" y="1622425"/>
            <a:ext cx="5429250" cy="501650"/>
          </a:xfrm>
          <a:prstGeom prst="rect">
            <a:avLst/>
          </a:prstGeom>
          <a:noFill/>
          <a:ln>
            <a:noFill/>
          </a:ln>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25000"/>
              </a:lnSpc>
              <a:defRPr/>
            </a:pPr>
            <a:r>
              <a:rPr lang="zh-CN" altLang="en-US" sz="2472" b="1" dirty="0">
                <a:latin typeface="黑体" panose="02010609060101010101" pitchFamily="49" charset="-122"/>
                <a:ea typeface="黑体" panose="02010609060101010101" pitchFamily="49" charset="-122"/>
              </a:rPr>
              <a:t>数字示波器</a:t>
            </a:r>
          </a:p>
        </p:txBody>
      </p:sp>
      <p:sp>
        <p:nvSpPr>
          <p:cNvPr id="18" name="AutoShape 11">
            <a:extLst>
              <a:ext uri="{FF2B5EF4-FFF2-40B4-BE49-F238E27FC236}">
                <a16:creationId xmlns:a16="http://schemas.microsoft.com/office/drawing/2014/main" id="{C241D77E-B2F1-7919-3D1C-EFD5090F1558}"/>
              </a:ext>
            </a:extLst>
          </p:cNvPr>
          <p:cNvSpPr>
            <a:spLocks noChangeArrowheads="1"/>
          </p:cNvSpPr>
          <p:nvPr/>
        </p:nvSpPr>
        <p:spPr bwMode="auto">
          <a:xfrm>
            <a:off x="3759200" y="5621338"/>
            <a:ext cx="2336800" cy="411162"/>
          </a:xfrm>
          <a:prstGeom prst="wedgeEllipseCallout">
            <a:avLst>
              <a:gd name="adj1" fmla="val 83677"/>
              <a:gd name="adj2" fmla="val -178605"/>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82" name="矩形 19">
            <a:extLst>
              <a:ext uri="{FF2B5EF4-FFF2-40B4-BE49-F238E27FC236}">
                <a16:creationId xmlns:a16="http://schemas.microsoft.com/office/drawing/2014/main" id="{059051B0-C1EE-8200-2EF5-4AF6F124BC33}"/>
              </a:ext>
            </a:extLst>
          </p:cNvPr>
          <p:cNvSpPr>
            <a:spLocks noChangeArrowheads="1"/>
          </p:cNvSpPr>
          <p:nvPr/>
        </p:nvSpPr>
        <p:spPr bwMode="auto">
          <a:xfrm>
            <a:off x="3941763" y="5672138"/>
            <a:ext cx="2176462" cy="34131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a:t>
            </a:r>
            <a:r>
              <a:rPr lang="en-US" altLang="zh-CN" sz="1545" b="1">
                <a:latin typeface="Times New Roman" panose="02020603050405020304" pitchFamily="18" charset="0"/>
              </a:rPr>
              <a:t>1</a:t>
            </a:r>
            <a:r>
              <a:rPr lang="zh-CN" altLang="en-US" sz="1545" b="1">
                <a:latin typeface="Times New Roman" panose="02020603050405020304" pitchFamily="18" charset="0"/>
              </a:rPr>
              <a:t>”通道连接发射波形</a:t>
            </a:r>
          </a:p>
        </p:txBody>
      </p:sp>
      <p:sp>
        <p:nvSpPr>
          <p:cNvPr id="34" name="AutoShape 11">
            <a:extLst>
              <a:ext uri="{FF2B5EF4-FFF2-40B4-BE49-F238E27FC236}">
                <a16:creationId xmlns:a16="http://schemas.microsoft.com/office/drawing/2014/main" id="{FA75B048-85C9-D189-9393-0914B9E27A5B}"/>
              </a:ext>
            </a:extLst>
          </p:cNvPr>
          <p:cNvSpPr>
            <a:spLocks noChangeArrowheads="1"/>
          </p:cNvSpPr>
          <p:nvPr/>
        </p:nvSpPr>
        <p:spPr bwMode="auto">
          <a:xfrm>
            <a:off x="7072313" y="5584825"/>
            <a:ext cx="2335212" cy="411163"/>
          </a:xfrm>
          <a:prstGeom prst="wedgeEllipseCallout">
            <a:avLst>
              <a:gd name="adj1" fmla="val -25391"/>
              <a:gd name="adj2" fmla="val -166168"/>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84" name="矩形 44">
            <a:extLst>
              <a:ext uri="{FF2B5EF4-FFF2-40B4-BE49-F238E27FC236}">
                <a16:creationId xmlns:a16="http://schemas.microsoft.com/office/drawing/2014/main" id="{7CC04F17-D726-6676-8ACA-5CE728177E9E}"/>
              </a:ext>
            </a:extLst>
          </p:cNvPr>
          <p:cNvSpPr>
            <a:spLocks noChangeArrowheads="1"/>
          </p:cNvSpPr>
          <p:nvPr/>
        </p:nvSpPr>
        <p:spPr bwMode="auto">
          <a:xfrm>
            <a:off x="7564438" y="5653088"/>
            <a:ext cx="1779587" cy="339725"/>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a:t>
            </a:r>
            <a:r>
              <a:rPr lang="en-US" altLang="zh-CN" sz="1545" b="1">
                <a:latin typeface="Times New Roman" panose="02020603050405020304" pitchFamily="18" charset="0"/>
              </a:rPr>
              <a:t>2</a:t>
            </a:r>
            <a:r>
              <a:rPr lang="zh-CN" altLang="en-US" sz="1545" b="1">
                <a:latin typeface="Times New Roman" panose="02020603050405020304" pitchFamily="18" charset="0"/>
              </a:rPr>
              <a:t>”通道连接</a:t>
            </a:r>
            <a:r>
              <a:rPr lang="en-US" altLang="zh-CN" sz="1545" b="1">
                <a:latin typeface="Times New Roman" panose="02020603050405020304" pitchFamily="18" charset="0"/>
              </a:rPr>
              <a:t>S</a:t>
            </a:r>
            <a:r>
              <a:rPr lang="en-US" altLang="zh-CN" sz="1545" b="1" baseline="-25000">
                <a:latin typeface="Times New Roman" panose="02020603050405020304" pitchFamily="18" charset="0"/>
              </a:rPr>
              <a:t>2</a:t>
            </a:r>
            <a:endParaRPr lang="zh-CN" altLang="en-US" sz="1545" b="1">
              <a:latin typeface="Times New Roman" panose="02020603050405020304" pitchFamily="18" charset="0"/>
            </a:endParaRPr>
          </a:p>
        </p:txBody>
      </p:sp>
      <p:sp>
        <p:nvSpPr>
          <p:cNvPr id="9" name="AutoShape 11">
            <a:extLst>
              <a:ext uri="{FF2B5EF4-FFF2-40B4-BE49-F238E27FC236}">
                <a16:creationId xmlns:a16="http://schemas.microsoft.com/office/drawing/2014/main" id="{ACF3EEAE-1442-5286-D96A-EB6B03911A75}"/>
              </a:ext>
            </a:extLst>
          </p:cNvPr>
          <p:cNvSpPr>
            <a:spLocks noChangeArrowheads="1"/>
          </p:cNvSpPr>
          <p:nvPr/>
        </p:nvSpPr>
        <p:spPr bwMode="auto">
          <a:xfrm>
            <a:off x="7307263" y="1862138"/>
            <a:ext cx="1050925" cy="758825"/>
          </a:xfrm>
          <a:prstGeom prst="wedgeEllipseCallout">
            <a:avLst>
              <a:gd name="adj1" fmla="val 3121"/>
              <a:gd name="adj2" fmla="val 237274"/>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86" name="矩形 44">
            <a:extLst>
              <a:ext uri="{FF2B5EF4-FFF2-40B4-BE49-F238E27FC236}">
                <a16:creationId xmlns:a16="http://schemas.microsoft.com/office/drawing/2014/main" id="{6F1B381F-6D11-CEE2-5992-3624CF115B25}"/>
              </a:ext>
            </a:extLst>
          </p:cNvPr>
          <p:cNvSpPr>
            <a:spLocks noChangeArrowheads="1"/>
          </p:cNvSpPr>
          <p:nvPr/>
        </p:nvSpPr>
        <p:spPr bwMode="auto">
          <a:xfrm>
            <a:off x="7429500" y="1935163"/>
            <a:ext cx="1169988" cy="585787"/>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en-US" altLang="zh-CN" sz="1545" b="1" dirty="0">
                <a:latin typeface="Times New Roman" panose="02020603050405020304" pitchFamily="18" charset="0"/>
              </a:rPr>
              <a:t>HORI</a:t>
            </a:r>
          </a:p>
          <a:p>
            <a:pPr eaLnBrk="1" hangingPunct="1">
              <a:lnSpc>
                <a:spcPct val="100000"/>
              </a:lnSpc>
              <a:spcBef>
                <a:spcPct val="0"/>
              </a:spcBef>
              <a:buFontTx/>
              <a:buNone/>
              <a:defRPr/>
            </a:pPr>
            <a:r>
              <a:rPr lang="en-US" altLang="zh-CN" sz="1545" b="1" dirty="0">
                <a:latin typeface="Times New Roman" panose="02020603050405020304" pitchFamily="18" charset="0"/>
              </a:rPr>
              <a:t>MENU</a:t>
            </a:r>
            <a:endParaRPr lang="zh-CN" altLang="en-US" sz="1545" b="1" dirty="0">
              <a:latin typeface="Times New Roman" panose="02020603050405020304" pitchFamily="18" charset="0"/>
            </a:endParaRPr>
          </a:p>
        </p:txBody>
      </p:sp>
      <p:sp>
        <p:nvSpPr>
          <p:cNvPr id="11" name="AutoShape 11">
            <a:extLst>
              <a:ext uri="{FF2B5EF4-FFF2-40B4-BE49-F238E27FC236}">
                <a16:creationId xmlns:a16="http://schemas.microsoft.com/office/drawing/2014/main" id="{1BBC4211-F21F-FAD8-CB9F-5AC30ED00987}"/>
              </a:ext>
            </a:extLst>
          </p:cNvPr>
          <p:cNvSpPr>
            <a:spLocks noChangeArrowheads="1"/>
          </p:cNvSpPr>
          <p:nvPr/>
        </p:nvSpPr>
        <p:spPr bwMode="auto">
          <a:xfrm>
            <a:off x="8478838" y="1470025"/>
            <a:ext cx="2482850" cy="1409700"/>
          </a:xfrm>
          <a:prstGeom prst="wedgeEllipseCallout">
            <a:avLst>
              <a:gd name="adj1" fmla="val -96608"/>
              <a:gd name="adj2" fmla="val 133494"/>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88" name="矩形 44">
            <a:extLst>
              <a:ext uri="{FF2B5EF4-FFF2-40B4-BE49-F238E27FC236}">
                <a16:creationId xmlns:a16="http://schemas.microsoft.com/office/drawing/2014/main" id="{34BF007E-FD98-888C-67A1-F9CF5F376AF7}"/>
              </a:ext>
            </a:extLst>
          </p:cNvPr>
          <p:cNvSpPr>
            <a:spLocks noChangeArrowheads="1"/>
          </p:cNvSpPr>
          <p:nvPr/>
        </p:nvSpPr>
        <p:spPr bwMode="auto">
          <a:xfrm>
            <a:off x="8599488" y="1822450"/>
            <a:ext cx="2243137" cy="339725"/>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a:t>
            </a:r>
            <a:r>
              <a:rPr lang="en-US" altLang="zh-CN" sz="1545" b="1">
                <a:latin typeface="Times New Roman" panose="02020603050405020304" pitchFamily="18" charset="0"/>
              </a:rPr>
              <a:t>2</a:t>
            </a:r>
            <a:r>
              <a:rPr lang="zh-CN" altLang="en-US" sz="1545" b="1">
                <a:latin typeface="Times New Roman" panose="02020603050405020304" pitchFamily="18" charset="0"/>
              </a:rPr>
              <a:t>”键按亮（驻波法）</a:t>
            </a:r>
          </a:p>
        </p:txBody>
      </p:sp>
      <p:sp>
        <p:nvSpPr>
          <p:cNvPr id="14" name="AutoShape 11">
            <a:extLst>
              <a:ext uri="{FF2B5EF4-FFF2-40B4-BE49-F238E27FC236}">
                <a16:creationId xmlns:a16="http://schemas.microsoft.com/office/drawing/2014/main" id="{093F8FD7-4FFB-AEC5-41C7-1E7CDF45B985}"/>
              </a:ext>
            </a:extLst>
          </p:cNvPr>
          <p:cNvSpPr>
            <a:spLocks noChangeArrowheads="1"/>
          </p:cNvSpPr>
          <p:nvPr/>
        </p:nvSpPr>
        <p:spPr bwMode="auto">
          <a:xfrm>
            <a:off x="8882063" y="4137025"/>
            <a:ext cx="1343025" cy="733425"/>
          </a:xfrm>
          <a:prstGeom prst="wedgeEllipseCallout">
            <a:avLst>
              <a:gd name="adj1" fmla="val -127511"/>
              <a:gd name="adj2" fmla="val -2291"/>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90" name="矩形 44">
            <a:extLst>
              <a:ext uri="{FF2B5EF4-FFF2-40B4-BE49-F238E27FC236}">
                <a16:creationId xmlns:a16="http://schemas.microsoft.com/office/drawing/2014/main" id="{6BE4E25D-BA9B-36D2-35AF-BBDB33C8F81A}"/>
              </a:ext>
            </a:extLst>
          </p:cNvPr>
          <p:cNvSpPr>
            <a:spLocks noChangeArrowheads="1"/>
          </p:cNvSpPr>
          <p:nvPr/>
        </p:nvSpPr>
        <p:spPr bwMode="auto">
          <a:xfrm>
            <a:off x="8990013" y="4240213"/>
            <a:ext cx="1235075" cy="584200"/>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调节时间轴（</a:t>
            </a:r>
            <a:r>
              <a:rPr lang="en-US" altLang="zh-CN" sz="1545" b="1">
                <a:latin typeface="Times New Roman" panose="02020603050405020304" pitchFamily="18" charset="0"/>
              </a:rPr>
              <a:t>10μs</a:t>
            </a:r>
            <a:r>
              <a:rPr lang="zh-CN" altLang="en-US" sz="1545" b="1">
                <a:latin typeface="Times New Roman" panose="02020603050405020304" pitchFamily="18" charset="0"/>
              </a:rPr>
              <a:t>左右）</a:t>
            </a:r>
          </a:p>
        </p:txBody>
      </p:sp>
      <p:sp>
        <p:nvSpPr>
          <p:cNvPr id="7" name="AutoShape 11">
            <a:extLst>
              <a:ext uri="{FF2B5EF4-FFF2-40B4-BE49-F238E27FC236}">
                <a16:creationId xmlns:a16="http://schemas.microsoft.com/office/drawing/2014/main" id="{A8448A48-AF0C-8D1E-7F80-D21D7539B670}"/>
              </a:ext>
            </a:extLst>
          </p:cNvPr>
          <p:cNvSpPr>
            <a:spLocks noChangeArrowheads="1"/>
          </p:cNvSpPr>
          <p:nvPr/>
        </p:nvSpPr>
        <p:spPr bwMode="auto">
          <a:xfrm>
            <a:off x="5199063" y="1714500"/>
            <a:ext cx="1344612" cy="733425"/>
          </a:xfrm>
          <a:prstGeom prst="wedgeEllipseCallout">
            <a:avLst>
              <a:gd name="adj1" fmla="val 82708"/>
              <a:gd name="adj2" fmla="val 318033"/>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4592" name="矩形 44">
            <a:extLst>
              <a:ext uri="{FF2B5EF4-FFF2-40B4-BE49-F238E27FC236}">
                <a16:creationId xmlns:a16="http://schemas.microsoft.com/office/drawing/2014/main" id="{3A943917-17C2-148C-F421-75A66D4F1A35}"/>
              </a:ext>
            </a:extLst>
          </p:cNvPr>
          <p:cNvSpPr>
            <a:spLocks noChangeArrowheads="1"/>
          </p:cNvSpPr>
          <p:nvPr/>
        </p:nvSpPr>
        <p:spPr bwMode="auto">
          <a:xfrm>
            <a:off x="5210175" y="1830388"/>
            <a:ext cx="1492250" cy="584200"/>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调节信号幅值（</a:t>
            </a:r>
            <a:r>
              <a:rPr lang="en-US" altLang="zh-CN" sz="1545" b="1">
                <a:latin typeface="Times New Roman" panose="02020603050405020304" pitchFamily="18" charset="0"/>
              </a:rPr>
              <a:t>50mv</a:t>
            </a:r>
            <a:r>
              <a:rPr lang="zh-CN" altLang="en-US" sz="1545" b="1">
                <a:latin typeface="Times New Roman" panose="02020603050405020304" pitchFamily="18" charset="0"/>
              </a:rPr>
              <a:t>左右）</a:t>
            </a:r>
          </a:p>
        </p:txBody>
      </p:sp>
      <p:sp>
        <p:nvSpPr>
          <p:cNvPr id="24593" name="矩形 44">
            <a:extLst>
              <a:ext uri="{FF2B5EF4-FFF2-40B4-BE49-F238E27FC236}">
                <a16:creationId xmlns:a16="http://schemas.microsoft.com/office/drawing/2014/main" id="{8129A64A-3DE0-570F-7EF3-2D1458C78D8F}"/>
              </a:ext>
            </a:extLst>
          </p:cNvPr>
          <p:cNvSpPr>
            <a:spLocks noChangeArrowheads="1"/>
          </p:cNvSpPr>
          <p:nvPr/>
        </p:nvSpPr>
        <p:spPr bwMode="auto">
          <a:xfrm>
            <a:off x="8599488" y="2144713"/>
            <a:ext cx="2933700" cy="339725"/>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a:t>
            </a:r>
            <a:r>
              <a:rPr lang="en-US" altLang="zh-CN" sz="1545" b="1">
                <a:latin typeface="Times New Roman" panose="02020603050405020304" pitchFamily="18" charset="0"/>
              </a:rPr>
              <a:t>1</a:t>
            </a:r>
            <a:r>
              <a:rPr lang="zh-CN" altLang="en-US" sz="1545" b="1">
                <a:latin typeface="Times New Roman" panose="02020603050405020304" pitchFamily="18" charset="0"/>
              </a:rPr>
              <a:t>”键、“</a:t>
            </a:r>
            <a:r>
              <a:rPr lang="en-US" altLang="zh-CN" sz="1545" b="1">
                <a:latin typeface="Times New Roman" panose="02020603050405020304" pitchFamily="18" charset="0"/>
              </a:rPr>
              <a:t>2</a:t>
            </a:r>
            <a:r>
              <a:rPr lang="zh-CN" altLang="en-US" sz="1545" b="1">
                <a:latin typeface="Times New Roman" panose="02020603050405020304" pitchFamily="18" charset="0"/>
              </a:rPr>
              <a:t>”键按亮（相位法）</a:t>
            </a:r>
          </a:p>
        </p:txBody>
      </p:sp>
      <p:sp>
        <p:nvSpPr>
          <p:cNvPr id="21521" name="标题 1">
            <a:extLst>
              <a:ext uri="{FF2B5EF4-FFF2-40B4-BE49-F238E27FC236}">
                <a16:creationId xmlns:a16="http://schemas.microsoft.com/office/drawing/2014/main" id="{217754CC-8BDB-9E08-822C-E1CFA5EE6452}"/>
              </a:ext>
            </a:extLst>
          </p:cNvPr>
          <p:cNvSpPr>
            <a:spLocks noGrp="1" noChangeArrowheads="1"/>
          </p:cNvSpPr>
          <p:nvPr>
            <p:ph type="title"/>
          </p:nvPr>
        </p:nvSpPr>
        <p:spPr>
          <a:xfrm>
            <a:off x="515938" y="317500"/>
            <a:ext cx="3425825" cy="982663"/>
          </a:xfrm>
        </p:spPr>
        <p:txBody>
          <a:bodyPr/>
          <a:lstStyle/>
          <a:p>
            <a:pPr eaLnBrk="1" hangingPunct="1"/>
            <a:r>
              <a:rPr lang="zh-CN" altLang="en-US"/>
              <a:t>四、实验仪器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3">
            <a:extLst>
              <a:ext uri="{FF2B5EF4-FFF2-40B4-BE49-F238E27FC236}">
                <a16:creationId xmlns:a16="http://schemas.microsoft.com/office/drawing/2014/main" id="{17307ADF-B6AD-7C65-8DE3-A555BC7AD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3185" b="23032"/>
          <a:stretch>
            <a:fillRect/>
          </a:stretch>
        </p:blipFill>
        <p:spPr bwMode="auto">
          <a:xfrm>
            <a:off x="2784475" y="2511425"/>
            <a:ext cx="5924550" cy="283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Rectangle 5">
            <a:extLst>
              <a:ext uri="{FF2B5EF4-FFF2-40B4-BE49-F238E27FC236}">
                <a16:creationId xmlns:a16="http://schemas.microsoft.com/office/drawing/2014/main" id="{05BB29AA-3D65-BCAE-72E0-6EDC31B25201}"/>
              </a:ext>
            </a:extLst>
          </p:cNvPr>
          <p:cNvSpPr txBox="1">
            <a:spLocks noChangeArrowheads="1"/>
          </p:cNvSpPr>
          <p:nvPr/>
        </p:nvSpPr>
        <p:spPr bwMode="auto">
          <a:xfrm>
            <a:off x="652463" y="1754188"/>
            <a:ext cx="2373312" cy="498475"/>
          </a:xfrm>
          <a:prstGeom prst="rect">
            <a:avLst/>
          </a:prstGeom>
          <a:noFill/>
          <a:ln>
            <a:noFill/>
          </a:ln>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25000"/>
              </a:lnSpc>
              <a:defRPr/>
            </a:pPr>
            <a:r>
              <a:rPr lang="zh-CN" altLang="en-US" sz="2472" b="1" dirty="0">
                <a:latin typeface="黑体" panose="02010609060101010101" pitchFamily="49" charset="-122"/>
                <a:ea typeface="黑体" panose="02010609060101010101" pitchFamily="49" charset="-122"/>
              </a:rPr>
              <a:t>信号源</a:t>
            </a:r>
          </a:p>
        </p:txBody>
      </p:sp>
      <p:sp>
        <p:nvSpPr>
          <p:cNvPr id="32" name="AutoShape 11">
            <a:extLst>
              <a:ext uri="{FF2B5EF4-FFF2-40B4-BE49-F238E27FC236}">
                <a16:creationId xmlns:a16="http://schemas.microsoft.com/office/drawing/2014/main" id="{2AB17274-E946-3178-76DA-50EF0C898E28}"/>
              </a:ext>
            </a:extLst>
          </p:cNvPr>
          <p:cNvSpPr>
            <a:spLocks noChangeArrowheads="1"/>
          </p:cNvSpPr>
          <p:nvPr/>
        </p:nvSpPr>
        <p:spPr bwMode="auto">
          <a:xfrm>
            <a:off x="3332163" y="5575300"/>
            <a:ext cx="2540000" cy="411163"/>
          </a:xfrm>
          <a:prstGeom prst="wedgeEllipseCallout">
            <a:avLst>
              <a:gd name="adj1" fmla="val 46843"/>
              <a:gd name="adj2" fmla="val -314651"/>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23558" name="矩形 34">
            <a:extLst>
              <a:ext uri="{FF2B5EF4-FFF2-40B4-BE49-F238E27FC236}">
                <a16:creationId xmlns:a16="http://schemas.microsoft.com/office/drawing/2014/main" id="{41B257EB-1045-E2E5-6796-79037D824791}"/>
              </a:ext>
            </a:extLst>
          </p:cNvPr>
          <p:cNvSpPr>
            <a:spLocks noChangeArrowheads="1"/>
          </p:cNvSpPr>
          <p:nvPr/>
        </p:nvSpPr>
        <p:spPr bwMode="auto">
          <a:xfrm>
            <a:off x="3732213" y="5649913"/>
            <a:ext cx="2060575" cy="34131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接</a:t>
            </a:r>
            <a:r>
              <a:rPr lang="en-US" altLang="zh-CN" sz="1545" b="1">
                <a:latin typeface="Times New Roman" panose="02020603050405020304" pitchFamily="18" charset="0"/>
              </a:rPr>
              <a:t>S1</a:t>
            </a:r>
            <a:r>
              <a:rPr lang="zh-CN" altLang="en-US" sz="1545" b="1">
                <a:latin typeface="Times New Roman" panose="02020603050405020304" pitchFamily="18" charset="0"/>
              </a:rPr>
              <a:t>，输出正弦信号</a:t>
            </a:r>
          </a:p>
        </p:txBody>
      </p:sp>
      <p:sp>
        <p:nvSpPr>
          <p:cNvPr id="38" name="AutoShape 11">
            <a:extLst>
              <a:ext uri="{FF2B5EF4-FFF2-40B4-BE49-F238E27FC236}">
                <a16:creationId xmlns:a16="http://schemas.microsoft.com/office/drawing/2014/main" id="{512A2F04-C71A-62F8-F477-0616498D27E4}"/>
              </a:ext>
            </a:extLst>
          </p:cNvPr>
          <p:cNvSpPr>
            <a:spLocks noChangeArrowheads="1"/>
          </p:cNvSpPr>
          <p:nvPr/>
        </p:nvSpPr>
        <p:spPr bwMode="auto">
          <a:xfrm>
            <a:off x="6275388" y="5599113"/>
            <a:ext cx="2974975" cy="412750"/>
          </a:xfrm>
          <a:prstGeom prst="wedgeEllipseCallout">
            <a:avLst>
              <a:gd name="adj1" fmla="val -31214"/>
              <a:gd name="adj2" fmla="val -291347"/>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545" b="1" kern="0" dirty="0">
              <a:solidFill>
                <a:srgbClr val="007A77"/>
              </a:solidFill>
              <a:latin typeface="Times New Roman" panose="02020603050405020304" pitchFamily="18" charset="0"/>
              <a:cs typeface="Times New Roman" panose="02020603050405020304" pitchFamily="18" charset="0"/>
            </a:endParaRPr>
          </a:p>
        </p:txBody>
      </p:sp>
      <p:sp>
        <p:nvSpPr>
          <p:cNvPr id="43" name="AutoShape 11">
            <a:extLst>
              <a:ext uri="{FF2B5EF4-FFF2-40B4-BE49-F238E27FC236}">
                <a16:creationId xmlns:a16="http://schemas.microsoft.com/office/drawing/2014/main" id="{3DE275C5-8E38-BD76-90A2-9CD17ED75E40}"/>
              </a:ext>
            </a:extLst>
          </p:cNvPr>
          <p:cNvSpPr>
            <a:spLocks noChangeArrowheads="1"/>
          </p:cNvSpPr>
          <p:nvPr/>
        </p:nvSpPr>
        <p:spPr bwMode="auto">
          <a:xfrm>
            <a:off x="8920163" y="3340100"/>
            <a:ext cx="1941512" cy="1012825"/>
          </a:xfrm>
          <a:prstGeom prst="wedgeEllipseCallout">
            <a:avLst>
              <a:gd name="adj1" fmla="val -94473"/>
              <a:gd name="adj2" fmla="val 66503"/>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390" b="1" kern="0" dirty="0">
              <a:solidFill>
                <a:srgbClr val="007A77"/>
              </a:solidFill>
              <a:latin typeface="Times New Roman" panose="02020603050405020304" pitchFamily="18" charset="0"/>
              <a:cs typeface="Times New Roman" panose="02020603050405020304" pitchFamily="18" charset="0"/>
            </a:endParaRPr>
          </a:p>
        </p:txBody>
      </p:sp>
      <p:sp>
        <p:nvSpPr>
          <p:cNvPr id="23561" name="矩形 41">
            <a:extLst>
              <a:ext uri="{FF2B5EF4-FFF2-40B4-BE49-F238E27FC236}">
                <a16:creationId xmlns:a16="http://schemas.microsoft.com/office/drawing/2014/main" id="{7D4C1DD8-5322-D49B-48F1-62EB9E202B5A}"/>
              </a:ext>
            </a:extLst>
          </p:cNvPr>
          <p:cNvSpPr>
            <a:spLocks noChangeArrowheads="1"/>
          </p:cNvSpPr>
          <p:nvPr/>
        </p:nvSpPr>
        <p:spPr bwMode="auto">
          <a:xfrm>
            <a:off x="8936038" y="3524250"/>
            <a:ext cx="2032000" cy="585788"/>
          </a:xfrm>
          <a:prstGeom prst="rect">
            <a:avLst/>
          </a:prstGeom>
          <a:noFill/>
          <a:ln>
            <a:noFill/>
          </a:ln>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调节频率</a:t>
            </a:r>
            <a:endParaRPr lang="en-US" altLang="zh-CN" sz="1545" b="1">
              <a:latin typeface="Times New Roman" panose="02020603050405020304" pitchFamily="18" charset="0"/>
            </a:endParaRPr>
          </a:p>
          <a:p>
            <a:pPr eaLnBrk="1" hangingPunct="1">
              <a:lnSpc>
                <a:spcPct val="100000"/>
              </a:lnSpc>
              <a:spcBef>
                <a:spcPct val="0"/>
              </a:spcBef>
              <a:buFontTx/>
              <a:buNone/>
              <a:defRPr/>
            </a:pPr>
            <a:r>
              <a:rPr lang="zh-CN" altLang="en-US" sz="1545" b="1">
                <a:latin typeface="Times New Roman" panose="02020603050405020304" pitchFamily="18" charset="0"/>
              </a:rPr>
              <a:t>按下可移动光标位置</a:t>
            </a:r>
          </a:p>
        </p:txBody>
      </p:sp>
      <p:sp>
        <p:nvSpPr>
          <p:cNvPr id="7" name="AutoShape 11">
            <a:extLst>
              <a:ext uri="{FF2B5EF4-FFF2-40B4-BE49-F238E27FC236}">
                <a16:creationId xmlns:a16="http://schemas.microsoft.com/office/drawing/2014/main" id="{CAD32432-0622-2A7D-CADC-B00E957CF115}"/>
              </a:ext>
            </a:extLst>
          </p:cNvPr>
          <p:cNvSpPr>
            <a:spLocks noChangeArrowheads="1"/>
          </p:cNvSpPr>
          <p:nvPr/>
        </p:nvSpPr>
        <p:spPr bwMode="auto">
          <a:xfrm>
            <a:off x="9029700" y="1905000"/>
            <a:ext cx="1716088" cy="581025"/>
          </a:xfrm>
          <a:prstGeom prst="wedgeEllipseCallout">
            <a:avLst>
              <a:gd name="adj1" fmla="val -110227"/>
              <a:gd name="adj2" fmla="val 283811"/>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390" b="1" kern="0" dirty="0">
              <a:solidFill>
                <a:srgbClr val="007A77"/>
              </a:solidFill>
              <a:latin typeface="Times New Roman" panose="02020603050405020304" pitchFamily="18" charset="0"/>
              <a:cs typeface="Times New Roman" panose="02020603050405020304" pitchFamily="18" charset="0"/>
            </a:endParaRPr>
          </a:p>
        </p:txBody>
      </p:sp>
      <p:sp>
        <p:nvSpPr>
          <p:cNvPr id="23563" name="文本框 8">
            <a:extLst>
              <a:ext uri="{FF2B5EF4-FFF2-40B4-BE49-F238E27FC236}">
                <a16:creationId xmlns:a16="http://schemas.microsoft.com/office/drawing/2014/main" id="{6E05285B-EBDE-745D-5258-958F2F40070C}"/>
              </a:ext>
            </a:extLst>
          </p:cNvPr>
          <p:cNvSpPr txBox="1">
            <a:spLocks noChangeArrowheads="1"/>
          </p:cNvSpPr>
          <p:nvPr/>
        </p:nvSpPr>
        <p:spPr bwMode="auto">
          <a:xfrm>
            <a:off x="9144000" y="2024063"/>
            <a:ext cx="1808163" cy="31591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390" b="1">
                <a:latin typeface="Times New Roman" panose="02020603050405020304" pitchFamily="18" charset="0"/>
              </a:rPr>
              <a:t>调节输出信号幅值</a:t>
            </a:r>
          </a:p>
        </p:txBody>
      </p:sp>
      <p:sp>
        <p:nvSpPr>
          <p:cNvPr id="10" name="AutoShape 11">
            <a:extLst>
              <a:ext uri="{FF2B5EF4-FFF2-40B4-BE49-F238E27FC236}">
                <a16:creationId xmlns:a16="http://schemas.microsoft.com/office/drawing/2014/main" id="{062F3BD4-C818-EF5B-4BDC-2375A2698D7F}"/>
              </a:ext>
            </a:extLst>
          </p:cNvPr>
          <p:cNvSpPr>
            <a:spLocks noChangeArrowheads="1"/>
          </p:cNvSpPr>
          <p:nvPr/>
        </p:nvSpPr>
        <p:spPr bwMode="auto">
          <a:xfrm>
            <a:off x="6153150" y="1873250"/>
            <a:ext cx="2136775" cy="581025"/>
          </a:xfrm>
          <a:prstGeom prst="wedgeEllipseCallout">
            <a:avLst>
              <a:gd name="adj1" fmla="val 6260"/>
              <a:gd name="adj2" fmla="val 277060"/>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fontAlgn="auto">
              <a:spcBef>
                <a:spcPct val="0"/>
              </a:spcBef>
              <a:spcAft>
                <a:spcPts val="0"/>
              </a:spcAft>
              <a:buClrTx/>
              <a:buSzTx/>
              <a:buFont typeface="Wingdings" panose="05000000000000000000" pitchFamily="2" charset="2"/>
              <a:buNone/>
              <a:defRPr/>
            </a:pPr>
            <a:endParaRPr lang="zh-CN" altLang="en-US" sz="1390" b="1" kern="0" dirty="0">
              <a:solidFill>
                <a:srgbClr val="007A77"/>
              </a:solidFill>
              <a:latin typeface="Times New Roman" panose="02020603050405020304" pitchFamily="18" charset="0"/>
              <a:cs typeface="Times New Roman" panose="02020603050405020304" pitchFamily="18" charset="0"/>
            </a:endParaRPr>
          </a:p>
        </p:txBody>
      </p:sp>
      <p:sp>
        <p:nvSpPr>
          <p:cNvPr id="23565" name="文本框 10">
            <a:extLst>
              <a:ext uri="{FF2B5EF4-FFF2-40B4-BE49-F238E27FC236}">
                <a16:creationId xmlns:a16="http://schemas.microsoft.com/office/drawing/2014/main" id="{D31F0BA6-24FC-B107-6E9F-5ABCA31FF859}"/>
              </a:ext>
            </a:extLst>
          </p:cNvPr>
          <p:cNvSpPr txBox="1">
            <a:spLocks noChangeArrowheads="1"/>
          </p:cNvSpPr>
          <p:nvPr/>
        </p:nvSpPr>
        <p:spPr bwMode="auto">
          <a:xfrm>
            <a:off x="6275388" y="2003425"/>
            <a:ext cx="2014537" cy="314325"/>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390" b="1">
                <a:latin typeface="Times New Roman" panose="02020603050405020304" pitchFamily="18" charset="0"/>
              </a:rPr>
              <a:t>调节接收信号的放大量</a:t>
            </a:r>
          </a:p>
        </p:txBody>
      </p:sp>
      <p:sp>
        <p:nvSpPr>
          <p:cNvPr id="23566" name="矩形 34">
            <a:extLst>
              <a:ext uri="{FF2B5EF4-FFF2-40B4-BE49-F238E27FC236}">
                <a16:creationId xmlns:a16="http://schemas.microsoft.com/office/drawing/2014/main" id="{07166D46-7DC4-67AE-7D53-27490BF9C6E0}"/>
              </a:ext>
            </a:extLst>
          </p:cNvPr>
          <p:cNvSpPr>
            <a:spLocks noChangeArrowheads="1"/>
          </p:cNvSpPr>
          <p:nvPr/>
        </p:nvSpPr>
        <p:spPr bwMode="auto">
          <a:xfrm>
            <a:off x="6648450" y="5649913"/>
            <a:ext cx="2779713" cy="341312"/>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defRPr/>
            </a:pPr>
            <a:r>
              <a:rPr lang="zh-CN" altLang="en-US" sz="1545" b="1">
                <a:latin typeface="Times New Roman" panose="02020603050405020304" pitchFamily="18" charset="0"/>
              </a:rPr>
              <a:t>接</a:t>
            </a:r>
            <a:r>
              <a:rPr lang="en-US" altLang="zh-CN" sz="1545" b="1">
                <a:latin typeface="Times New Roman" panose="02020603050405020304" pitchFamily="18" charset="0"/>
              </a:rPr>
              <a:t>CH1</a:t>
            </a:r>
            <a:r>
              <a:rPr lang="zh-CN" altLang="en-US" sz="1545" b="1">
                <a:latin typeface="Times New Roman" panose="02020603050405020304" pitchFamily="18" charset="0"/>
              </a:rPr>
              <a:t>，输出发射波形</a:t>
            </a:r>
          </a:p>
        </p:txBody>
      </p:sp>
      <p:sp>
        <p:nvSpPr>
          <p:cNvPr id="22542" name="标题 1">
            <a:extLst>
              <a:ext uri="{FF2B5EF4-FFF2-40B4-BE49-F238E27FC236}">
                <a16:creationId xmlns:a16="http://schemas.microsoft.com/office/drawing/2014/main" id="{46CE4AE4-AA5C-A7FC-920D-3013397EE67A}"/>
              </a:ext>
            </a:extLst>
          </p:cNvPr>
          <p:cNvSpPr>
            <a:spLocks noGrp="1" noChangeArrowheads="1"/>
          </p:cNvSpPr>
          <p:nvPr>
            <p:ph type="title"/>
          </p:nvPr>
        </p:nvSpPr>
        <p:spPr>
          <a:xfrm>
            <a:off x="444500" y="342900"/>
            <a:ext cx="3425825" cy="982663"/>
          </a:xfrm>
        </p:spPr>
        <p:txBody>
          <a:bodyPr/>
          <a:lstStyle/>
          <a:p>
            <a:pPr eaLnBrk="1" hangingPunct="1"/>
            <a:r>
              <a:rPr lang="zh-CN" altLang="en-US"/>
              <a:t>四、实验仪器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919084F0-5AB4-C0C2-19BC-35442EE3BC84}"/>
              </a:ext>
            </a:extLst>
          </p:cNvPr>
          <p:cNvSpPr>
            <a:spLocks noGrp="1"/>
          </p:cNvSpPr>
          <p:nvPr>
            <p:ph type="title"/>
          </p:nvPr>
        </p:nvSpPr>
        <p:spPr>
          <a:xfrm>
            <a:off x="2797175" y="5530850"/>
            <a:ext cx="5191125" cy="520700"/>
          </a:xfrm>
        </p:spPr>
        <p:txBody>
          <a:bodyPr lIns="94165" tIns="47082" rIns="94165" bIns="47082"/>
          <a:lstStyle/>
          <a:p>
            <a:pPr>
              <a:defRPr/>
            </a:pPr>
            <a:r>
              <a:rPr lang="zh-CN" altLang="en-US" sz="2400" b="1" dirty="0"/>
              <a:t>声速</a:t>
            </a:r>
            <a:r>
              <a:rPr lang="zh-CN" altLang="en-US" sz="2472" b="1" dirty="0"/>
              <a:t>测定仪</a:t>
            </a:r>
          </a:p>
        </p:txBody>
      </p:sp>
      <p:pic>
        <p:nvPicPr>
          <p:cNvPr id="23555" name="图片 7">
            <a:extLst>
              <a:ext uri="{FF2B5EF4-FFF2-40B4-BE49-F238E27FC236}">
                <a16:creationId xmlns:a16="http://schemas.microsoft.com/office/drawing/2014/main" id="{0A7FBEA0-3E93-E88D-2274-AC2C3E5CC0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713" y="1870075"/>
            <a:ext cx="5362575" cy="274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图片 13">
            <a:extLst>
              <a:ext uri="{FF2B5EF4-FFF2-40B4-BE49-F238E27FC236}">
                <a16:creationId xmlns:a16="http://schemas.microsoft.com/office/drawing/2014/main" id="{D16AE7EA-9FB5-B635-F580-2674165B6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4225" y="1893888"/>
            <a:ext cx="4570413"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4">
            <a:extLst>
              <a:ext uri="{FF2B5EF4-FFF2-40B4-BE49-F238E27FC236}">
                <a16:creationId xmlns:a16="http://schemas.microsoft.com/office/drawing/2014/main" id="{6215D40F-764E-9992-CC64-8A9972DE45AE}"/>
              </a:ext>
            </a:extLst>
          </p:cNvPr>
          <p:cNvSpPr txBox="1">
            <a:spLocks/>
          </p:cNvSpPr>
          <p:nvPr/>
        </p:nvSpPr>
        <p:spPr>
          <a:xfrm>
            <a:off x="7277100" y="5529263"/>
            <a:ext cx="3781425" cy="520700"/>
          </a:xfrm>
          <a:prstGeom prst="rect">
            <a:avLst/>
          </a:prstGeom>
          <a:noFill/>
          <a:ln w="9525">
            <a:noFill/>
          </a:ln>
        </p:spPr>
        <p:txBody>
          <a:bodyPr lIns="94165" tIns="47082" rIns="94165" bIns="47082"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defRPr/>
            </a:pPr>
            <a:r>
              <a:rPr lang="zh-CN" altLang="en-US" sz="2400" b="1" kern="0" dirty="0">
                <a:solidFill>
                  <a:schemeClr val="tx1"/>
                </a:solidFill>
                <a:latin typeface="黑体" panose="02010609060101010101" pitchFamily="49" charset="-122"/>
                <a:ea typeface="黑体" panose="02010609060101010101" pitchFamily="49" charset="-122"/>
              </a:rPr>
              <a:t>数显表头</a:t>
            </a:r>
          </a:p>
        </p:txBody>
      </p:sp>
      <p:sp>
        <p:nvSpPr>
          <p:cNvPr id="23558" name="标题 1">
            <a:extLst>
              <a:ext uri="{FF2B5EF4-FFF2-40B4-BE49-F238E27FC236}">
                <a16:creationId xmlns:a16="http://schemas.microsoft.com/office/drawing/2014/main" id="{C39A1BC0-D95A-00A7-3452-F3F0D90E40F9}"/>
              </a:ext>
            </a:extLst>
          </p:cNvPr>
          <p:cNvSpPr txBox="1">
            <a:spLocks noChangeArrowheads="1"/>
          </p:cNvSpPr>
          <p:nvPr/>
        </p:nvSpPr>
        <p:spPr bwMode="auto">
          <a:xfrm>
            <a:off x="444500" y="342900"/>
            <a:ext cx="3425825"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spcBef>
                <a:spcPct val="0"/>
              </a:spcBef>
              <a:buFontTx/>
              <a:buNone/>
            </a:pPr>
            <a:r>
              <a:rPr lang="zh-CN" altLang="en-US" sz="3600">
                <a:latin typeface="黑体" panose="02010609060101010101" pitchFamily="49" charset="-122"/>
                <a:ea typeface="黑体" panose="02010609060101010101" pitchFamily="49" charset="-122"/>
              </a:rPr>
              <a:t>四、实验仪器</a:t>
            </a:r>
          </a:p>
        </p:txBody>
      </p:sp>
      <p:sp>
        <p:nvSpPr>
          <p:cNvPr id="3" name="AutoShape 11">
            <a:extLst>
              <a:ext uri="{FF2B5EF4-FFF2-40B4-BE49-F238E27FC236}">
                <a16:creationId xmlns:a16="http://schemas.microsoft.com/office/drawing/2014/main" id="{852F2BB2-DDB9-B45D-0AF3-BD3C08944BCC}"/>
              </a:ext>
            </a:extLst>
          </p:cNvPr>
          <p:cNvSpPr>
            <a:spLocks noChangeArrowheads="1"/>
          </p:cNvSpPr>
          <p:nvPr/>
        </p:nvSpPr>
        <p:spPr bwMode="auto">
          <a:xfrm>
            <a:off x="2347913" y="4683125"/>
            <a:ext cx="3044825" cy="549275"/>
          </a:xfrm>
          <a:prstGeom prst="wedgeEllipseCallout">
            <a:avLst>
              <a:gd name="adj1" fmla="val 23023"/>
              <a:gd name="adj2" fmla="val -310440"/>
            </a:avLst>
          </a:prstGeom>
          <a:solidFill>
            <a:srgbClr val="EBF7FF"/>
          </a:solidFill>
          <a:ln w="9525">
            <a:solidFill>
              <a:srgbClr val="007A77"/>
            </a:solidFill>
            <a:miter lim="800000"/>
          </a:ln>
          <a:effectLst/>
        </p:spPr>
        <p:txBody>
          <a:bodyPr/>
          <a:lstStyle>
            <a:lvl1pPr>
              <a:spcBef>
                <a:spcPct val="20000"/>
              </a:spcBef>
              <a:buClr>
                <a:schemeClr val="hlink"/>
              </a:buClr>
              <a:buSzPct val="75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5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algn="ctr" eaLnBrk="1" fontAlgn="auto" hangingPunct="1">
              <a:spcBef>
                <a:spcPct val="0"/>
              </a:spcBef>
              <a:spcAft>
                <a:spcPts val="0"/>
              </a:spcAft>
              <a:buClrTx/>
              <a:buSzTx/>
              <a:buFont typeface="Wingdings" panose="05000000000000000000" pitchFamily="2" charset="2"/>
              <a:buNone/>
              <a:defRPr/>
            </a:pPr>
            <a:r>
              <a:rPr lang="zh-CN" altLang="en-US" sz="2060" b="1" kern="0" dirty="0">
                <a:solidFill>
                  <a:srgbClr val="007A77"/>
                </a:solidFill>
                <a:latin typeface="Times New Roman" panose="02020603050405020304" pitchFamily="18" charset="0"/>
                <a:cs typeface="Times New Roman" panose="02020603050405020304" pitchFamily="18" charset="0"/>
              </a:rPr>
              <a:t>数显表头</a:t>
            </a:r>
          </a:p>
        </p:txBody>
      </p:sp>
      <p:sp>
        <p:nvSpPr>
          <p:cNvPr id="2" name="文本框 1">
            <a:extLst>
              <a:ext uri="{FF2B5EF4-FFF2-40B4-BE49-F238E27FC236}">
                <a16:creationId xmlns:a16="http://schemas.microsoft.com/office/drawing/2014/main" id="{44548CB7-CBDE-72BF-6AEB-F55B9421AFD5}"/>
              </a:ext>
            </a:extLst>
          </p:cNvPr>
          <p:cNvSpPr txBox="1"/>
          <p:nvPr/>
        </p:nvSpPr>
        <p:spPr>
          <a:xfrm>
            <a:off x="9502663" y="1486969"/>
            <a:ext cx="2105247" cy="523220"/>
          </a:xfrm>
          <a:prstGeom prst="rect">
            <a:avLst/>
          </a:prstGeom>
          <a:noFill/>
        </p:spPr>
        <p:txBody>
          <a:bodyPr wrap="square" rtlCol="0">
            <a:spAutoFit/>
          </a:bodyPr>
          <a:lstStyle/>
          <a:p>
            <a:r>
              <a:rPr lang="en-US" altLang="zh-CN" sz="2800" dirty="0">
                <a:highlight>
                  <a:srgbClr val="FFFF00"/>
                </a:highlight>
              </a:rPr>
              <a:t>58.44mm</a:t>
            </a:r>
            <a:endParaRPr lang="zh-CN" altLang="en-US" sz="2800" dirty="0">
              <a:highlight>
                <a:srgbClr val="FFFF00"/>
              </a:highlight>
            </a:endParaRPr>
          </a:p>
        </p:txBody>
      </p:sp>
      <p:sp>
        <p:nvSpPr>
          <p:cNvPr id="11" name="箭头: 下 10">
            <a:extLst>
              <a:ext uri="{FF2B5EF4-FFF2-40B4-BE49-F238E27FC236}">
                <a16:creationId xmlns:a16="http://schemas.microsoft.com/office/drawing/2014/main" id="{11E5B62C-1108-E2D3-9596-79F12D1E310D}"/>
              </a:ext>
            </a:extLst>
          </p:cNvPr>
          <p:cNvSpPr/>
          <p:nvPr/>
        </p:nvSpPr>
        <p:spPr>
          <a:xfrm rot="10800000" flipH="1">
            <a:off x="10068983" y="2011777"/>
            <a:ext cx="233966" cy="82808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D9936B00-4886-68D1-B056-0B5DC46B1B83}"/>
              </a:ext>
            </a:extLst>
          </p:cNvPr>
          <p:cNvSpPr txBox="1"/>
          <p:nvPr/>
        </p:nvSpPr>
        <p:spPr>
          <a:xfrm>
            <a:off x="5392737" y="1403498"/>
            <a:ext cx="3761895" cy="461665"/>
          </a:xfrm>
          <a:prstGeom prst="rect">
            <a:avLst/>
          </a:prstGeom>
          <a:noFill/>
        </p:spPr>
        <p:txBody>
          <a:bodyPr wrap="square" rtlCol="0">
            <a:spAutoFit/>
          </a:bodyPr>
          <a:lstStyle/>
          <a:p>
            <a:r>
              <a:rPr lang="zh-CN" altLang="en-US" sz="2400" dirty="0">
                <a:highlight>
                  <a:srgbClr val="FFFF00"/>
                </a:highlight>
              </a:rPr>
              <a:t>最小分度</a:t>
            </a:r>
            <a:r>
              <a:rPr lang="en-US" altLang="zh-CN" sz="2400" dirty="0">
                <a:highlight>
                  <a:srgbClr val="FFFF00"/>
                </a:highlight>
              </a:rPr>
              <a:t>0.02</a:t>
            </a:r>
            <a:r>
              <a:rPr lang="zh-CN" altLang="en-US" sz="2400" dirty="0">
                <a:highlight>
                  <a:srgbClr val="FFFF00"/>
                </a:highlight>
              </a:rPr>
              <a:t>的游标读出</a:t>
            </a:r>
          </a:p>
        </p:txBody>
      </p:sp>
      <p:sp>
        <p:nvSpPr>
          <p:cNvPr id="5" name="箭头: 下 4">
            <a:extLst>
              <a:ext uri="{FF2B5EF4-FFF2-40B4-BE49-F238E27FC236}">
                <a16:creationId xmlns:a16="http://schemas.microsoft.com/office/drawing/2014/main" id="{DF63EEEA-5BBB-38D4-F4A2-0F708430F9E3}"/>
              </a:ext>
            </a:extLst>
          </p:cNvPr>
          <p:cNvSpPr/>
          <p:nvPr/>
        </p:nvSpPr>
        <p:spPr>
          <a:xfrm rot="21334052" flipH="1">
            <a:off x="7597821" y="1893791"/>
            <a:ext cx="180797" cy="120574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213AD54D-014E-E5E8-D36B-C6336AEB64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863" y="1779588"/>
            <a:ext cx="8705850" cy="408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标题 1">
            <a:extLst>
              <a:ext uri="{FF2B5EF4-FFF2-40B4-BE49-F238E27FC236}">
                <a16:creationId xmlns:a16="http://schemas.microsoft.com/office/drawing/2014/main" id="{AAD866B8-6970-7FEB-A6C9-D073BB50C114}"/>
              </a:ext>
            </a:extLst>
          </p:cNvPr>
          <p:cNvSpPr>
            <a:spLocks noGrp="1" noChangeArrowheads="1"/>
          </p:cNvSpPr>
          <p:nvPr>
            <p:ph type="title"/>
          </p:nvPr>
        </p:nvSpPr>
        <p:spPr>
          <a:xfrm>
            <a:off x="779463" y="325438"/>
            <a:ext cx="10515600" cy="982662"/>
          </a:xfrm>
        </p:spPr>
        <p:txBody>
          <a:bodyPr/>
          <a:lstStyle/>
          <a:p>
            <a:pPr eaLnBrk="1" hangingPunct="1"/>
            <a:r>
              <a:rPr lang="zh-CN" altLang="en-US"/>
              <a:t>五、实验内容与操作</a:t>
            </a:r>
          </a:p>
        </p:txBody>
      </p:sp>
      <p:sp>
        <p:nvSpPr>
          <p:cNvPr id="24580" name="矩形 6">
            <a:extLst>
              <a:ext uri="{FF2B5EF4-FFF2-40B4-BE49-F238E27FC236}">
                <a16:creationId xmlns:a16="http://schemas.microsoft.com/office/drawing/2014/main" id="{F8A19D4E-74E1-817F-86E7-8E362C66B43D}"/>
              </a:ext>
            </a:extLst>
          </p:cNvPr>
          <p:cNvSpPr>
            <a:spLocks noChangeArrowheads="1"/>
          </p:cNvSpPr>
          <p:nvPr/>
        </p:nvSpPr>
        <p:spPr bwMode="auto">
          <a:xfrm>
            <a:off x="482600" y="1779588"/>
            <a:ext cx="2170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latin typeface="黑体" panose="02010609060101010101" pitchFamily="49" charset="-122"/>
                <a:ea typeface="黑体" panose="02010609060101010101" pitchFamily="49" charset="-122"/>
              </a:rPr>
              <a:t>1. </a:t>
            </a:r>
            <a:r>
              <a:rPr lang="zh-CN" altLang="en-US" b="1">
                <a:latin typeface="黑体" panose="02010609060101010101" pitchFamily="49" charset="-122"/>
                <a:ea typeface="黑体" panose="02010609060101010101" pitchFamily="49" charset="-122"/>
              </a:rPr>
              <a:t>正确连线</a:t>
            </a:r>
          </a:p>
        </p:txBody>
      </p:sp>
      <p:sp>
        <p:nvSpPr>
          <p:cNvPr id="2" name="文本框 1">
            <a:extLst>
              <a:ext uri="{FF2B5EF4-FFF2-40B4-BE49-F238E27FC236}">
                <a16:creationId xmlns:a16="http://schemas.microsoft.com/office/drawing/2014/main" id="{D262641A-B683-FB98-E9EB-080030A64E86}"/>
              </a:ext>
            </a:extLst>
          </p:cNvPr>
          <p:cNvSpPr txBox="1"/>
          <p:nvPr/>
        </p:nvSpPr>
        <p:spPr>
          <a:xfrm>
            <a:off x="3382963" y="6070600"/>
            <a:ext cx="5426075" cy="461963"/>
          </a:xfrm>
          <a:prstGeom prst="rect">
            <a:avLst/>
          </a:prstGeom>
          <a:noFill/>
        </p:spPr>
        <p:txBody>
          <a:bodyPr>
            <a:spAutoFit/>
          </a:bodyPr>
          <a:lstStyle/>
          <a:p>
            <a:pPr>
              <a:defRPr/>
            </a:pPr>
            <a:r>
              <a:rPr lang="zh-CN" altLang="zh-CN" sz="2400" kern="100" dirty="0">
                <a:latin typeface="楷体" panose="02010609060101010101" pitchFamily="49" charset="-122"/>
                <a:ea typeface="楷体" panose="02010609060101010101" pitchFamily="49" charset="-122"/>
                <a:cs typeface="Times New Roman" panose="02020603050405020304" pitchFamily="18" charset="0"/>
              </a:rPr>
              <a:t>共振法、相位法测量声速线路连接</a:t>
            </a:r>
            <a:endParaRPr lang="zh-CN" altLang="en-US" sz="2400" dirty="0">
              <a:latin typeface="楷体" panose="02010609060101010101" pitchFamily="49" charset="-122"/>
              <a:ea typeface="楷体" panose="02010609060101010101" pitchFamily="49" charset="-122"/>
            </a:endParaRPr>
          </a:p>
        </p:txBody>
      </p:sp>
      <p:sp>
        <p:nvSpPr>
          <p:cNvPr id="3" name="Rectangle 5">
            <a:extLst>
              <a:ext uri="{FF2B5EF4-FFF2-40B4-BE49-F238E27FC236}">
                <a16:creationId xmlns:a16="http://schemas.microsoft.com/office/drawing/2014/main" id="{46D0F513-A9EE-917E-DF89-0C90E6F06080}"/>
              </a:ext>
            </a:extLst>
          </p:cNvPr>
          <p:cNvSpPr txBox="1">
            <a:spLocks/>
          </p:cNvSpPr>
          <p:nvPr/>
        </p:nvSpPr>
        <p:spPr bwMode="auto">
          <a:xfrm>
            <a:off x="7473950" y="2041525"/>
            <a:ext cx="2670175" cy="815975"/>
          </a:xfrm>
          <a:prstGeom prst="rect">
            <a:avLst/>
          </a:prstGeom>
          <a:noFill/>
          <a:ln>
            <a:noFill/>
          </a:ln>
        </p:spPr>
        <p:txBody>
          <a:bodyPr lIns="94165" tIns="47082" rIns="94165" bIns="47082" anchor="ctr">
            <a:normAutofit lnSpcReduction="10000"/>
          </a:bodyPr>
          <a:lstStyle>
            <a:lvl1pPr algn="l" rtl="0" eaLnBrk="0" fontAlgn="base" hangingPunct="0">
              <a:lnSpc>
                <a:spcPct val="90000"/>
              </a:lnSpc>
              <a:spcBef>
                <a:spcPct val="0"/>
              </a:spcBef>
              <a:spcAft>
                <a:spcPct val="0"/>
              </a:spcAft>
              <a:defRPr sz="3600"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a:lstStyle>
          <a:p>
            <a:pPr eaLnBrk="1" hangingPunct="1">
              <a:defRPr/>
            </a:pPr>
            <a:r>
              <a:rPr lang="zh-CN" altLang="en-US" sz="2472" b="1" dirty="0">
                <a:solidFill>
                  <a:srgbClr val="FF0000"/>
                </a:solidFill>
                <a:latin typeface="宋体" panose="02010600030101010101" pitchFamily="2" charset="-122"/>
              </a:rPr>
              <a:t>相位法示波器</a:t>
            </a:r>
            <a:endParaRPr lang="en-US" altLang="zh-CN" sz="2472" b="1" dirty="0">
              <a:solidFill>
                <a:srgbClr val="FF0000"/>
              </a:solidFill>
              <a:latin typeface="宋体" panose="02010600030101010101" pitchFamily="2" charset="-122"/>
            </a:endParaRPr>
          </a:p>
          <a:p>
            <a:pPr eaLnBrk="1" hangingPunct="1">
              <a:defRPr/>
            </a:pPr>
            <a:r>
              <a:rPr lang="zh-CN" altLang="en-US" sz="2472" b="1" dirty="0">
                <a:solidFill>
                  <a:srgbClr val="FF0000"/>
                </a:solidFill>
                <a:latin typeface="宋体" panose="02010600030101010101" pitchFamily="2" charset="-122"/>
              </a:rPr>
              <a:t>置于“</a:t>
            </a:r>
            <a:r>
              <a:rPr lang="en-US" altLang="zh-CN" sz="2472" b="1" dirty="0">
                <a:solidFill>
                  <a:srgbClr val="FF0000"/>
                </a:solidFill>
                <a:latin typeface="宋体" panose="02010600030101010101" pitchFamily="2" charset="-122"/>
              </a:rPr>
              <a:t>X-Y”</a:t>
            </a:r>
            <a:r>
              <a:rPr lang="zh-CN" altLang="en-US" sz="2472" b="1" dirty="0">
                <a:solidFill>
                  <a:srgbClr val="FF0000"/>
                </a:solidFill>
                <a:latin typeface="宋体" panose="02010600030101010101" pitchFamily="2" charset="-122"/>
              </a:rPr>
              <a:t>方式</a:t>
            </a:r>
            <a:r>
              <a:rPr lang="zh-CN" altLang="en-US" sz="2883" dirty="0">
                <a:solidFill>
                  <a:srgbClr val="FF0000"/>
                </a:solidFill>
                <a:latin typeface="宋体" panose="02010600030101010101" pitchFamily="2" charset="-122"/>
              </a:rPr>
              <a:t> </a:t>
            </a:r>
          </a:p>
        </p:txBody>
      </p:sp>
      <p:cxnSp>
        <p:nvCxnSpPr>
          <p:cNvPr id="5" name="直接连接符 4">
            <a:extLst>
              <a:ext uri="{FF2B5EF4-FFF2-40B4-BE49-F238E27FC236}">
                <a16:creationId xmlns:a16="http://schemas.microsoft.com/office/drawing/2014/main" id="{2994462E-2EED-9CB6-E360-D6621D0F9DC9}"/>
              </a:ext>
            </a:extLst>
          </p:cNvPr>
          <p:cNvCxnSpPr>
            <a:cxnSpLocks/>
          </p:cNvCxnSpPr>
          <p:nvPr/>
        </p:nvCxnSpPr>
        <p:spPr>
          <a:xfrm>
            <a:off x="3589338" y="5761038"/>
            <a:ext cx="2193925" cy="0"/>
          </a:xfrm>
          <a:prstGeom prst="line">
            <a:avLst/>
          </a:prstGeom>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92E8F749-950E-78AB-55DE-ABA7D970664C}"/>
              </a:ext>
            </a:extLst>
          </p:cNvPr>
          <p:cNvSpPr>
            <a:spLocks noGrp="1" noChangeArrowheads="1"/>
          </p:cNvSpPr>
          <p:nvPr>
            <p:ph type="title"/>
          </p:nvPr>
        </p:nvSpPr>
        <p:spPr>
          <a:xfrm>
            <a:off x="779463" y="325438"/>
            <a:ext cx="10515600" cy="982662"/>
          </a:xfrm>
        </p:spPr>
        <p:txBody>
          <a:bodyPr/>
          <a:lstStyle/>
          <a:p>
            <a:pPr eaLnBrk="1" hangingPunct="1"/>
            <a:r>
              <a:rPr lang="zh-CN" altLang="en-US"/>
              <a:t>五、实验内容与操作</a:t>
            </a:r>
          </a:p>
        </p:txBody>
      </p:sp>
      <p:sp>
        <p:nvSpPr>
          <p:cNvPr id="25603" name="矩形 6">
            <a:extLst>
              <a:ext uri="{FF2B5EF4-FFF2-40B4-BE49-F238E27FC236}">
                <a16:creationId xmlns:a16="http://schemas.microsoft.com/office/drawing/2014/main" id="{B3B0181E-CF02-D83B-90B2-FE376FC4F819}"/>
              </a:ext>
            </a:extLst>
          </p:cNvPr>
          <p:cNvSpPr>
            <a:spLocks noChangeArrowheads="1"/>
          </p:cNvSpPr>
          <p:nvPr/>
        </p:nvSpPr>
        <p:spPr bwMode="auto">
          <a:xfrm>
            <a:off x="482600" y="1779588"/>
            <a:ext cx="2170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latin typeface="黑体" panose="02010609060101010101" pitchFamily="49" charset="-122"/>
                <a:ea typeface="黑体" panose="02010609060101010101" pitchFamily="49" charset="-122"/>
              </a:rPr>
              <a:t>1. </a:t>
            </a:r>
            <a:r>
              <a:rPr lang="zh-CN" altLang="en-US" b="1">
                <a:latin typeface="黑体" panose="02010609060101010101" pitchFamily="49" charset="-122"/>
                <a:ea typeface="黑体" panose="02010609060101010101" pitchFamily="49" charset="-122"/>
              </a:rPr>
              <a:t>正确连线</a:t>
            </a:r>
          </a:p>
        </p:txBody>
      </p:sp>
      <p:sp>
        <p:nvSpPr>
          <p:cNvPr id="25604" name="矩形 7">
            <a:extLst>
              <a:ext uri="{FF2B5EF4-FFF2-40B4-BE49-F238E27FC236}">
                <a16:creationId xmlns:a16="http://schemas.microsoft.com/office/drawing/2014/main" id="{75A743D4-D7A3-D592-3D23-DBFFD8BB6450}"/>
              </a:ext>
            </a:extLst>
          </p:cNvPr>
          <p:cNvSpPr>
            <a:spLocks noChangeArrowheads="1"/>
          </p:cNvSpPr>
          <p:nvPr/>
        </p:nvSpPr>
        <p:spPr bwMode="auto">
          <a:xfrm>
            <a:off x="390525" y="2768600"/>
            <a:ext cx="3592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400" b="1">
                <a:latin typeface="黑体" panose="02010609060101010101" pitchFamily="49" charset="-122"/>
                <a:ea typeface="黑体" panose="02010609060101010101" pitchFamily="49" charset="-122"/>
              </a:rPr>
              <a:t>(1) </a:t>
            </a:r>
            <a:r>
              <a:rPr lang="zh-CN" altLang="en-US" sz="2400" b="1">
                <a:latin typeface="黑体" panose="02010609060101010101" pitchFamily="49" charset="-122"/>
                <a:ea typeface="黑体" panose="02010609060101010101" pitchFamily="49" charset="-122"/>
              </a:rPr>
              <a:t>共振干涉（驻波）法</a:t>
            </a:r>
          </a:p>
        </p:txBody>
      </p:sp>
      <p:sp>
        <p:nvSpPr>
          <p:cNvPr id="25605" name="矩形 8">
            <a:extLst>
              <a:ext uri="{FF2B5EF4-FFF2-40B4-BE49-F238E27FC236}">
                <a16:creationId xmlns:a16="http://schemas.microsoft.com/office/drawing/2014/main" id="{A0040848-B610-372A-96F2-AC47FC9DA520}"/>
              </a:ext>
            </a:extLst>
          </p:cNvPr>
          <p:cNvSpPr>
            <a:spLocks noChangeArrowheads="1"/>
          </p:cNvSpPr>
          <p:nvPr/>
        </p:nvSpPr>
        <p:spPr bwMode="auto">
          <a:xfrm>
            <a:off x="639763" y="3381375"/>
            <a:ext cx="10312400"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Tx/>
              <a:buNone/>
            </a:pPr>
            <a:r>
              <a:rPr lang="en-US" altLang="zh-CN" sz="2000" b="1">
                <a:latin typeface="Times New Roman" panose="02020603050405020304" pitchFamily="18" charset="0"/>
              </a:rPr>
              <a:t>a</a:t>
            </a:r>
            <a:r>
              <a:rPr lang="en-US" altLang="zh-CN" sz="2000" b="1">
                <a:latin typeface="黑体" panose="02010609060101010101" pitchFamily="49" charset="-122"/>
                <a:ea typeface="黑体" panose="02010609060101010101" pitchFamily="49" charset="-122"/>
              </a:rPr>
              <a:t>. </a:t>
            </a:r>
            <a:r>
              <a:rPr lang="zh-CN" altLang="en-US" sz="2000" b="1">
                <a:latin typeface="黑体" panose="02010609060101010101" pitchFamily="49" charset="-122"/>
                <a:ea typeface="黑体" panose="02010609060101010101" pitchFamily="49" charset="-122"/>
              </a:rPr>
              <a:t>声速测定仪</a:t>
            </a:r>
            <a:r>
              <a:rPr lang="en-US" altLang="zh-CN" sz="2000" b="1">
                <a:latin typeface="黑体" panose="02010609060101010101" pitchFamily="49" charset="-122"/>
                <a:ea typeface="黑体" panose="02010609060101010101" pitchFamily="49" charset="-122"/>
              </a:rPr>
              <a:t>S</a:t>
            </a:r>
            <a:r>
              <a:rPr lang="en-US" altLang="zh-CN" sz="2000" b="1" baseline="-25000">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与换能器接口“发射（</a:t>
            </a:r>
            <a:r>
              <a:rPr lang="en-US" altLang="zh-CN" sz="2000" b="1">
                <a:latin typeface="黑体" panose="02010609060101010101" pitchFamily="49" charset="-122"/>
                <a:ea typeface="黑体" panose="02010609060101010101" pitchFamily="49" charset="-122"/>
              </a:rPr>
              <a:t>S1</a:t>
            </a:r>
            <a:r>
              <a:rPr lang="zh-CN" altLang="en-US" sz="2000" b="1">
                <a:latin typeface="黑体" panose="02010609060101010101" pitchFamily="49" charset="-122"/>
                <a:ea typeface="黑体" panose="02010609060101010101" pitchFamily="49" charset="-122"/>
              </a:rPr>
              <a:t>）”连接，</a:t>
            </a:r>
            <a:r>
              <a:rPr lang="en-US" altLang="zh-CN" sz="2000" b="1">
                <a:solidFill>
                  <a:srgbClr val="000000"/>
                </a:solidFill>
                <a:latin typeface="黑体" panose="02010609060101010101" pitchFamily="49" charset="-122"/>
                <a:ea typeface="黑体" panose="02010609060101010101" pitchFamily="49" charset="-122"/>
              </a:rPr>
              <a:t>S</a:t>
            </a:r>
            <a:r>
              <a:rPr lang="en-US" altLang="zh-CN" sz="2000" b="1" baseline="-25000">
                <a:solidFill>
                  <a:srgbClr val="000000"/>
                </a:solidFill>
                <a:latin typeface="黑体" panose="02010609060101010101" pitchFamily="49" charset="-122"/>
                <a:ea typeface="黑体" panose="02010609060101010101" pitchFamily="49" charset="-122"/>
              </a:rPr>
              <a:t>2</a:t>
            </a:r>
            <a:r>
              <a:rPr lang="zh-CN" altLang="en-US" sz="2000" b="1">
                <a:solidFill>
                  <a:srgbClr val="000000"/>
                </a:solidFill>
                <a:latin typeface="黑体" panose="02010609060101010101" pitchFamily="49" charset="-122"/>
                <a:ea typeface="黑体" panose="02010609060101010101" pitchFamily="49" charset="-122"/>
              </a:rPr>
              <a:t>与示波器通道“</a:t>
            </a:r>
            <a:r>
              <a:rPr lang="en-US" altLang="zh-CN" sz="2000" b="1">
                <a:solidFill>
                  <a:srgbClr val="000000"/>
                </a:solidFill>
                <a:latin typeface="黑体" panose="02010609060101010101" pitchFamily="49" charset="-122"/>
                <a:ea typeface="黑体" panose="02010609060101010101" pitchFamily="49" charset="-122"/>
              </a:rPr>
              <a:t>2</a:t>
            </a:r>
            <a:r>
              <a:rPr lang="zh-CN" altLang="en-US" sz="2000" b="1">
                <a:solidFill>
                  <a:srgbClr val="000000"/>
                </a:solidFill>
                <a:latin typeface="黑体" panose="02010609060101010101" pitchFamily="49" charset="-122"/>
                <a:ea typeface="黑体" panose="02010609060101010101" pitchFamily="49" charset="-122"/>
              </a:rPr>
              <a:t>”（</a:t>
            </a:r>
            <a:r>
              <a:rPr lang="en-US" altLang="zh-CN" sz="2000" b="1">
                <a:solidFill>
                  <a:srgbClr val="000000"/>
                </a:solidFill>
                <a:latin typeface="黑体" panose="02010609060101010101" pitchFamily="49" charset="-122"/>
                <a:ea typeface="黑体" panose="02010609060101010101" pitchFamily="49" charset="-122"/>
              </a:rPr>
              <a:t>CH2</a:t>
            </a:r>
            <a:r>
              <a:rPr lang="zh-CN" altLang="en-US" sz="2000" b="1">
                <a:solidFill>
                  <a:srgbClr val="000000"/>
                </a:solidFill>
                <a:latin typeface="黑体" panose="02010609060101010101" pitchFamily="49" charset="-122"/>
                <a:ea typeface="黑体" panose="02010609060101010101" pitchFamily="49" charset="-122"/>
              </a:rPr>
              <a:t>）连接，</a:t>
            </a:r>
            <a:r>
              <a:rPr lang="zh-CN" altLang="en-US" sz="2000" b="1">
                <a:solidFill>
                  <a:srgbClr val="FF0000"/>
                </a:solidFill>
                <a:latin typeface="黑体" panose="02010609060101010101" pitchFamily="49" charset="-122"/>
                <a:ea typeface="黑体" panose="02010609060101010101" pitchFamily="49" charset="-122"/>
              </a:rPr>
              <a:t>通道“</a:t>
            </a:r>
            <a:r>
              <a:rPr lang="en-US" altLang="zh-CN" sz="2000" b="1">
                <a:solidFill>
                  <a:srgbClr val="FF0000"/>
                </a:solidFill>
                <a:latin typeface="黑体" panose="02010609060101010101" pitchFamily="49" charset="-122"/>
                <a:ea typeface="黑体" panose="02010609060101010101" pitchFamily="49" charset="-122"/>
              </a:rPr>
              <a:t>2</a:t>
            </a:r>
            <a:r>
              <a:rPr lang="zh-CN" altLang="en-US" sz="2000" b="1">
                <a:solidFill>
                  <a:srgbClr val="FF0000"/>
                </a:solidFill>
                <a:latin typeface="黑体" panose="02010609060101010101" pitchFamily="49" charset="-122"/>
                <a:ea typeface="黑体" panose="02010609060101010101" pitchFamily="49" charset="-122"/>
              </a:rPr>
              <a:t>”打开， 通道“</a:t>
            </a:r>
            <a:r>
              <a:rPr lang="en-US" altLang="zh-CN" sz="2000" b="1">
                <a:solidFill>
                  <a:srgbClr val="FF0000"/>
                </a:solidFill>
                <a:latin typeface="黑体" panose="02010609060101010101" pitchFamily="49" charset="-122"/>
                <a:ea typeface="黑体" panose="02010609060101010101" pitchFamily="49" charset="-122"/>
              </a:rPr>
              <a:t>1</a:t>
            </a:r>
            <a:r>
              <a:rPr lang="zh-CN" altLang="en-US" sz="2000" b="1">
                <a:solidFill>
                  <a:srgbClr val="FF0000"/>
                </a:solidFill>
                <a:latin typeface="黑体" panose="02010609060101010101" pitchFamily="49" charset="-122"/>
                <a:ea typeface="黑体" panose="02010609060101010101" pitchFamily="49" charset="-122"/>
              </a:rPr>
              <a:t>”关闭；</a:t>
            </a:r>
            <a:endParaRPr lang="en-US" altLang="zh-CN" sz="2000" b="1">
              <a:solidFill>
                <a:srgbClr val="FF0000"/>
              </a:solidFill>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en-US" altLang="zh-CN" sz="2000" b="1">
                <a:solidFill>
                  <a:srgbClr val="000000"/>
                </a:solidFill>
                <a:latin typeface="黑体" panose="02010609060101010101" pitchFamily="49" charset="-122"/>
                <a:ea typeface="黑体" panose="02010609060101010101" pitchFamily="49" charset="-122"/>
              </a:rPr>
              <a:t>b. </a:t>
            </a:r>
            <a:r>
              <a:rPr lang="zh-CN" altLang="en-US" sz="2000" b="1">
                <a:solidFill>
                  <a:srgbClr val="000000"/>
                </a:solidFill>
                <a:latin typeface="黑体" panose="02010609060101010101" pitchFamily="49" charset="-122"/>
                <a:ea typeface="黑体" panose="02010609060101010101" pitchFamily="49" charset="-122"/>
              </a:rPr>
              <a:t>示波器关闭</a:t>
            </a:r>
            <a:r>
              <a:rPr lang="zh-CN" altLang="en-US" sz="2000" b="1">
                <a:solidFill>
                  <a:srgbClr val="C00000"/>
                </a:solidFill>
                <a:latin typeface="黑体" panose="02010609060101010101" pitchFamily="49" charset="-122"/>
                <a:ea typeface="黑体" panose="02010609060101010101" pitchFamily="49" charset="-122"/>
              </a:rPr>
              <a:t>“</a:t>
            </a:r>
            <a:r>
              <a:rPr lang="en-US" altLang="zh-CN" sz="2000" b="1">
                <a:solidFill>
                  <a:srgbClr val="C00000"/>
                </a:solidFill>
                <a:latin typeface="黑体" panose="02010609060101010101" pitchFamily="49" charset="-122"/>
                <a:ea typeface="黑体" panose="02010609060101010101" pitchFamily="49" charset="-122"/>
              </a:rPr>
              <a:t>XY</a:t>
            </a:r>
            <a:r>
              <a:rPr lang="zh-CN" altLang="en-US" sz="2000" b="1">
                <a:solidFill>
                  <a:srgbClr val="C00000"/>
                </a:solidFill>
                <a:latin typeface="黑体" panose="02010609060101010101" pitchFamily="49" charset="-122"/>
                <a:ea typeface="黑体" panose="02010609060101010101" pitchFamily="49" charset="-122"/>
              </a:rPr>
              <a:t>”模式</a:t>
            </a:r>
            <a:r>
              <a:rPr lang="zh-CN" altLang="en-US" sz="2000" b="1">
                <a:solidFill>
                  <a:srgbClr val="000000"/>
                </a:solidFill>
                <a:latin typeface="黑体" panose="02010609060101010101" pitchFamily="49" charset="-122"/>
                <a:ea typeface="黑体" panose="02010609060101010101" pitchFamily="49" charset="-122"/>
              </a:rPr>
              <a:t>。</a:t>
            </a:r>
          </a:p>
        </p:txBody>
      </p:sp>
      <p:sp>
        <p:nvSpPr>
          <p:cNvPr id="25606" name="矩形 9">
            <a:extLst>
              <a:ext uri="{FF2B5EF4-FFF2-40B4-BE49-F238E27FC236}">
                <a16:creationId xmlns:a16="http://schemas.microsoft.com/office/drawing/2014/main" id="{E4D920BF-EF00-9FF2-0827-2A95B2254D93}"/>
              </a:ext>
            </a:extLst>
          </p:cNvPr>
          <p:cNvSpPr>
            <a:spLocks noChangeArrowheads="1"/>
          </p:cNvSpPr>
          <p:nvPr/>
        </p:nvSpPr>
        <p:spPr bwMode="auto">
          <a:xfrm>
            <a:off x="349250" y="4778375"/>
            <a:ext cx="2354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400" b="1">
                <a:latin typeface="黑体" panose="02010609060101010101" pitchFamily="49" charset="-122"/>
                <a:ea typeface="黑体" panose="02010609060101010101" pitchFamily="49" charset="-122"/>
              </a:rPr>
              <a:t>(2) </a:t>
            </a:r>
            <a:r>
              <a:rPr lang="zh-CN" altLang="en-US" sz="2400" b="1">
                <a:latin typeface="黑体" panose="02010609060101010101" pitchFamily="49" charset="-122"/>
                <a:ea typeface="黑体" panose="02010609060101010101" pitchFamily="49" charset="-122"/>
              </a:rPr>
              <a:t>相位比较法</a:t>
            </a:r>
          </a:p>
        </p:txBody>
      </p:sp>
      <p:sp>
        <p:nvSpPr>
          <p:cNvPr id="25607" name="矩形 10">
            <a:extLst>
              <a:ext uri="{FF2B5EF4-FFF2-40B4-BE49-F238E27FC236}">
                <a16:creationId xmlns:a16="http://schemas.microsoft.com/office/drawing/2014/main" id="{1A2A6E8E-22CC-0834-E721-0E2D00E00C8A}"/>
              </a:ext>
            </a:extLst>
          </p:cNvPr>
          <p:cNvSpPr>
            <a:spLocks noChangeArrowheads="1"/>
          </p:cNvSpPr>
          <p:nvPr/>
        </p:nvSpPr>
        <p:spPr bwMode="auto">
          <a:xfrm>
            <a:off x="633413" y="5240338"/>
            <a:ext cx="11558587"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 typeface="Arial" panose="020B0604020202020204" pitchFamily="34" charset="0"/>
              <a:buNone/>
            </a:pPr>
            <a:r>
              <a:rPr lang="en-US" altLang="zh-CN" sz="2000" b="1">
                <a:latin typeface="黑体" panose="02010609060101010101" pitchFamily="49" charset="-122"/>
                <a:ea typeface="黑体" panose="02010609060101010101" pitchFamily="49" charset="-122"/>
              </a:rPr>
              <a:t>a. </a:t>
            </a:r>
            <a:r>
              <a:rPr lang="zh-CN" altLang="en-US" sz="2000" b="1">
                <a:latin typeface="黑体" panose="02010609060101010101" pitchFamily="49" charset="-122"/>
                <a:ea typeface="黑体" panose="02010609060101010101" pitchFamily="49" charset="-122"/>
              </a:rPr>
              <a:t>声速测定仪</a:t>
            </a:r>
            <a:r>
              <a:rPr lang="en-US" altLang="zh-CN" sz="2000" b="1">
                <a:latin typeface="黑体" panose="02010609060101010101" pitchFamily="49" charset="-122"/>
                <a:ea typeface="黑体" panose="02010609060101010101" pitchFamily="49" charset="-122"/>
              </a:rPr>
              <a:t>S</a:t>
            </a:r>
            <a:r>
              <a:rPr lang="en-US" altLang="zh-CN" sz="2000" b="1" baseline="-25000">
                <a:latin typeface="黑体" panose="02010609060101010101" pitchFamily="49" charset="-122"/>
                <a:ea typeface="黑体" panose="02010609060101010101" pitchFamily="49" charset="-122"/>
              </a:rPr>
              <a:t>1</a:t>
            </a:r>
            <a:r>
              <a:rPr lang="zh-CN" altLang="en-US" sz="2000" b="1">
                <a:latin typeface="黑体" panose="02010609060101010101" pitchFamily="49" charset="-122"/>
                <a:ea typeface="黑体" panose="02010609060101010101" pitchFamily="49" charset="-122"/>
              </a:rPr>
              <a:t>与换能器接口“发射（</a:t>
            </a:r>
            <a:r>
              <a:rPr lang="en-US" altLang="zh-CN" sz="2000" b="1">
                <a:latin typeface="黑体" panose="02010609060101010101" pitchFamily="49" charset="-122"/>
                <a:ea typeface="黑体" panose="02010609060101010101" pitchFamily="49" charset="-122"/>
              </a:rPr>
              <a:t>S1</a:t>
            </a:r>
            <a:r>
              <a:rPr lang="zh-CN" altLang="en-US" sz="2000" b="1">
                <a:latin typeface="黑体" panose="02010609060101010101" pitchFamily="49" charset="-122"/>
                <a:ea typeface="黑体" panose="02010609060101010101" pitchFamily="49" charset="-122"/>
              </a:rPr>
              <a:t>）”连接，“波形接口（发射）”</a:t>
            </a:r>
            <a:r>
              <a:rPr lang="zh-CN" altLang="en-US" sz="2000" b="1">
                <a:solidFill>
                  <a:srgbClr val="000000"/>
                </a:solidFill>
                <a:latin typeface="黑体" panose="02010609060101010101" pitchFamily="49" charset="-122"/>
                <a:ea typeface="黑体" panose="02010609060101010101" pitchFamily="49" charset="-122"/>
              </a:rPr>
              <a:t>与示波器通道“</a:t>
            </a:r>
            <a:r>
              <a:rPr lang="en-US" altLang="zh-CN" sz="2000" b="1">
                <a:solidFill>
                  <a:srgbClr val="000000"/>
                </a:solidFill>
                <a:latin typeface="黑体" panose="02010609060101010101" pitchFamily="49" charset="-122"/>
                <a:ea typeface="黑体" panose="02010609060101010101" pitchFamily="49" charset="-122"/>
              </a:rPr>
              <a:t>1</a:t>
            </a:r>
            <a:r>
              <a:rPr lang="zh-CN" altLang="en-US" sz="2000" b="1">
                <a:solidFill>
                  <a:srgbClr val="000000"/>
                </a:solidFill>
                <a:latin typeface="黑体" panose="02010609060101010101" pitchFamily="49" charset="-122"/>
                <a:ea typeface="黑体" panose="02010609060101010101" pitchFamily="49" charset="-122"/>
              </a:rPr>
              <a:t>” （</a:t>
            </a:r>
            <a:r>
              <a:rPr lang="en-US" altLang="zh-CN" sz="2000" b="1">
                <a:solidFill>
                  <a:srgbClr val="000000"/>
                </a:solidFill>
                <a:latin typeface="黑体" panose="02010609060101010101" pitchFamily="49" charset="-122"/>
                <a:ea typeface="黑体" panose="02010609060101010101" pitchFamily="49" charset="-122"/>
              </a:rPr>
              <a:t>CH1</a:t>
            </a:r>
            <a:r>
              <a:rPr lang="zh-CN" altLang="en-US" sz="2000" b="1">
                <a:solidFill>
                  <a:srgbClr val="000000"/>
                </a:solidFill>
                <a:latin typeface="黑体" panose="02010609060101010101" pitchFamily="49" charset="-122"/>
                <a:ea typeface="黑体" panose="02010609060101010101" pitchFamily="49" charset="-122"/>
              </a:rPr>
              <a:t>）连接，</a:t>
            </a:r>
            <a:r>
              <a:rPr lang="en-US" altLang="zh-CN" sz="2000" b="1">
                <a:solidFill>
                  <a:srgbClr val="000000"/>
                </a:solidFill>
                <a:latin typeface="黑体" panose="02010609060101010101" pitchFamily="49" charset="-122"/>
                <a:ea typeface="黑体" panose="02010609060101010101" pitchFamily="49" charset="-122"/>
              </a:rPr>
              <a:t>S</a:t>
            </a:r>
            <a:r>
              <a:rPr lang="en-US" altLang="zh-CN" sz="2000" b="1" baseline="-25000">
                <a:solidFill>
                  <a:srgbClr val="000000"/>
                </a:solidFill>
                <a:latin typeface="黑体" panose="02010609060101010101" pitchFamily="49" charset="-122"/>
                <a:ea typeface="黑体" panose="02010609060101010101" pitchFamily="49" charset="-122"/>
              </a:rPr>
              <a:t>2</a:t>
            </a:r>
            <a:r>
              <a:rPr lang="zh-CN" altLang="en-US" sz="2000" b="1">
                <a:solidFill>
                  <a:srgbClr val="000000"/>
                </a:solidFill>
                <a:latin typeface="黑体" panose="02010609060101010101" pitchFamily="49" charset="-122"/>
                <a:ea typeface="黑体" panose="02010609060101010101" pitchFamily="49" charset="-122"/>
              </a:rPr>
              <a:t>与示波器通道“</a:t>
            </a:r>
            <a:r>
              <a:rPr lang="en-US" altLang="zh-CN" sz="2000" b="1">
                <a:solidFill>
                  <a:srgbClr val="000000"/>
                </a:solidFill>
                <a:latin typeface="黑体" panose="02010609060101010101" pitchFamily="49" charset="-122"/>
                <a:ea typeface="黑体" panose="02010609060101010101" pitchFamily="49" charset="-122"/>
              </a:rPr>
              <a:t>2</a:t>
            </a:r>
            <a:r>
              <a:rPr lang="zh-CN" altLang="en-US" sz="2000" b="1">
                <a:solidFill>
                  <a:srgbClr val="000000"/>
                </a:solidFill>
                <a:latin typeface="黑体" panose="02010609060101010101" pitchFamily="49" charset="-122"/>
                <a:ea typeface="黑体" panose="02010609060101010101" pitchFamily="49" charset="-122"/>
              </a:rPr>
              <a:t>”（</a:t>
            </a:r>
            <a:r>
              <a:rPr lang="en-US" altLang="zh-CN" sz="2000" b="1">
                <a:solidFill>
                  <a:srgbClr val="000000"/>
                </a:solidFill>
                <a:latin typeface="黑体" panose="02010609060101010101" pitchFamily="49" charset="-122"/>
                <a:ea typeface="黑体" panose="02010609060101010101" pitchFamily="49" charset="-122"/>
              </a:rPr>
              <a:t>CH2</a:t>
            </a:r>
            <a:r>
              <a:rPr lang="zh-CN" altLang="en-US" sz="2000" b="1">
                <a:solidFill>
                  <a:srgbClr val="000000"/>
                </a:solidFill>
                <a:latin typeface="黑体" panose="02010609060101010101" pitchFamily="49" charset="-122"/>
                <a:ea typeface="黑体" panose="02010609060101010101" pitchFamily="49" charset="-122"/>
              </a:rPr>
              <a:t>）连接，</a:t>
            </a:r>
            <a:r>
              <a:rPr lang="zh-CN" altLang="en-US" sz="2000" b="1">
                <a:solidFill>
                  <a:srgbClr val="FF0000"/>
                </a:solidFill>
                <a:latin typeface="黑体" panose="02010609060101010101" pitchFamily="49" charset="-122"/>
                <a:ea typeface="黑体" panose="02010609060101010101" pitchFamily="49" charset="-122"/>
              </a:rPr>
              <a:t>通道“</a:t>
            </a:r>
            <a:r>
              <a:rPr lang="en-US" altLang="zh-CN" sz="2000" b="1">
                <a:solidFill>
                  <a:srgbClr val="FF0000"/>
                </a:solidFill>
                <a:latin typeface="黑体" panose="02010609060101010101" pitchFamily="49" charset="-122"/>
                <a:ea typeface="黑体" panose="02010609060101010101" pitchFamily="49" charset="-122"/>
              </a:rPr>
              <a:t>1</a:t>
            </a:r>
            <a:r>
              <a:rPr lang="zh-CN" altLang="en-US" sz="2000" b="1">
                <a:solidFill>
                  <a:srgbClr val="FF0000"/>
                </a:solidFill>
                <a:latin typeface="黑体" panose="02010609060101010101" pitchFamily="49" charset="-122"/>
                <a:ea typeface="黑体" panose="02010609060101010101" pitchFamily="49" charset="-122"/>
              </a:rPr>
              <a:t>”和“</a:t>
            </a:r>
            <a:r>
              <a:rPr lang="en-US" altLang="zh-CN" sz="2000" b="1">
                <a:solidFill>
                  <a:srgbClr val="FF0000"/>
                </a:solidFill>
                <a:latin typeface="黑体" panose="02010609060101010101" pitchFamily="49" charset="-122"/>
                <a:ea typeface="黑体" panose="02010609060101010101" pitchFamily="49" charset="-122"/>
              </a:rPr>
              <a:t>2</a:t>
            </a:r>
            <a:r>
              <a:rPr lang="zh-CN" altLang="en-US" sz="2000" b="1">
                <a:solidFill>
                  <a:srgbClr val="FF0000"/>
                </a:solidFill>
                <a:latin typeface="黑体" panose="02010609060101010101" pitchFamily="49" charset="-122"/>
                <a:ea typeface="黑体" panose="02010609060101010101" pitchFamily="49" charset="-122"/>
              </a:rPr>
              <a:t>”都打开</a:t>
            </a:r>
            <a:r>
              <a:rPr lang="zh-CN" altLang="en-US" sz="2000" b="1">
                <a:solidFill>
                  <a:srgbClr val="000000"/>
                </a:solidFill>
                <a:latin typeface="黑体" panose="02010609060101010101" pitchFamily="49" charset="-122"/>
                <a:ea typeface="黑体" panose="02010609060101010101" pitchFamily="49" charset="-122"/>
              </a:rPr>
              <a:t>；   </a:t>
            </a:r>
            <a:endParaRPr lang="en-US" altLang="zh-CN" sz="2000" b="1">
              <a:solidFill>
                <a:srgbClr val="000000"/>
              </a:solidFill>
              <a:latin typeface="黑体" panose="02010609060101010101" pitchFamily="49" charset="-122"/>
              <a:ea typeface="黑体" panose="02010609060101010101" pitchFamily="49" charset="-122"/>
            </a:endParaRPr>
          </a:p>
          <a:p>
            <a:pPr eaLnBrk="1" hangingPunct="1">
              <a:lnSpc>
                <a:spcPct val="150000"/>
              </a:lnSpc>
              <a:spcBef>
                <a:spcPct val="0"/>
              </a:spcBef>
              <a:buFontTx/>
              <a:buNone/>
            </a:pPr>
            <a:r>
              <a:rPr lang="en-US" altLang="zh-CN" sz="2000" b="1">
                <a:solidFill>
                  <a:srgbClr val="000000"/>
                </a:solidFill>
                <a:latin typeface="黑体" panose="02010609060101010101" pitchFamily="49" charset="-122"/>
                <a:ea typeface="黑体" panose="02010609060101010101" pitchFamily="49" charset="-122"/>
              </a:rPr>
              <a:t>b. </a:t>
            </a:r>
            <a:r>
              <a:rPr lang="zh-CN" altLang="en-US" sz="2000" b="1">
                <a:solidFill>
                  <a:srgbClr val="000000"/>
                </a:solidFill>
                <a:latin typeface="黑体" panose="02010609060101010101" pitchFamily="49" charset="-122"/>
                <a:ea typeface="黑体" panose="02010609060101010101" pitchFamily="49" charset="-122"/>
              </a:rPr>
              <a:t>示波器打开</a:t>
            </a:r>
            <a:r>
              <a:rPr lang="zh-CN" altLang="en-US" sz="2000" b="1">
                <a:solidFill>
                  <a:srgbClr val="C00000"/>
                </a:solidFill>
                <a:latin typeface="黑体" panose="02010609060101010101" pitchFamily="49" charset="-122"/>
                <a:ea typeface="黑体" panose="02010609060101010101" pitchFamily="49" charset="-122"/>
              </a:rPr>
              <a:t>“</a:t>
            </a:r>
            <a:r>
              <a:rPr lang="en-US" altLang="zh-CN" sz="2000" b="1">
                <a:solidFill>
                  <a:srgbClr val="C00000"/>
                </a:solidFill>
                <a:latin typeface="黑体" panose="02010609060101010101" pitchFamily="49" charset="-122"/>
                <a:ea typeface="黑体" panose="02010609060101010101" pitchFamily="49" charset="-122"/>
              </a:rPr>
              <a:t>XY</a:t>
            </a:r>
            <a:r>
              <a:rPr lang="zh-CN" altLang="en-US" sz="2000" b="1">
                <a:solidFill>
                  <a:srgbClr val="C00000"/>
                </a:solidFill>
                <a:latin typeface="黑体" panose="02010609060101010101" pitchFamily="49" charset="-122"/>
                <a:ea typeface="黑体" panose="02010609060101010101" pitchFamily="49" charset="-122"/>
              </a:rPr>
              <a:t>”模式</a:t>
            </a:r>
            <a:r>
              <a:rPr lang="zh-CN" altLang="en-US" sz="2000" b="1">
                <a:solidFill>
                  <a:srgbClr val="000000"/>
                </a:solidFill>
                <a:latin typeface="黑体" panose="02010609060101010101" pitchFamily="49" charset="-122"/>
                <a:ea typeface="黑体" panose="02010609060101010101" pitchFamily="49" charset="-122"/>
              </a:rPr>
              <a:t>。</a:t>
            </a:r>
            <a:endParaRPr lang="en-US" altLang="zh-CN" sz="2000" b="1">
              <a:solidFill>
                <a:srgbClr val="000000"/>
              </a:solidFill>
              <a:latin typeface="黑体" panose="02010609060101010101" pitchFamily="49" charset="-122"/>
              <a:ea typeface="黑体" panose="02010609060101010101" pitchFamily="49" charset="-122"/>
            </a:endParaRPr>
          </a:p>
        </p:txBody>
      </p:sp>
      <p:sp>
        <p:nvSpPr>
          <p:cNvPr id="20" name="圆角矩形 19">
            <a:extLst>
              <a:ext uri="{FF2B5EF4-FFF2-40B4-BE49-F238E27FC236}">
                <a16:creationId xmlns:a16="http://schemas.microsoft.com/office/drawing/2014/main" id="{31F5DAC0-9CB5-E440-D93B-1F568F5194E4}"/>
              </a:ext>
            </a:extLst>
          </p:cNvPr>
          <p:cNvSpPr/>
          <p:nvPr/>
        </p:nvSpPr>
        <p:spPr>
          <a:xfrm>
            <a:off x="4691063" y="1617663"/>
            <a:ext cx="7065962" cy="1454150"/>
          </a:xfrm>
          <a:prstGeom prst="roundRect">
            <a:avLst/>
          </a:prstGeom>
        </p:spPr>
        <p:style>
          <a:lnRef idx="2">
            <a:schemeClr val="accent5"/>
          </a:lnRef>
          <a:fillRef idx="1">
            <a:schemeClr val="lt1"/>
          </a:fillRef>
          <a:effectRef idx="0">
            <a:schemeClr val="accent5"/>
          </a:effectRef>
          <a:fontRef idx="minor">
            <a:schemeClr val="dk1"/>
          </a:fontRef>
        </p:style>
        <p:txBody>
          <a:bodyPr anchor="ctr"/>
          <a:lstStyle/>
          <a:p>
            <a:pPr algn="ctr" eaLnBrk="1" hangingPunct="1">
              <a:defRPr/>
            </a:pPr>
            <a:endParaRPr lang="zh-CN" altLang="en-US" dirty="0"/>
          </a:p>
        </p:txBody>
      </p:sp>
      <p:sp>
        <p:nvSpPr>
          <p:cNvPr id="25609" name="矩形 22">
            <a:extLst>
              <a:ext uri="{FF2B5EF4-FFF2-40B4-BE49-F238E27FC236}">
                <a16:creationId xmlns:a16="http://schemas.microsoft.com/office/drawing/2014/main" id="{F385B07D-E69E-A834-BCC2-0E884DB9CDEB}"/>
              </a:ext>
            </a:extLst>
          </p:cNvPr>
          <p:cNvSpPr>
            <a:spLocks noChangeArrowheads="1"/>
          </p:cNvSpPr>
          <p:nvPr/>
        </p:nvSpPr>
        <p:spPr bwMode="auto">
          <a:xfrm>
            <a:off x="4887913" y="1662113"/>
            <a:ext cx="26606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2400" b="1">
                <a:solidFill>
                  <a:srgbClr val="C00000"/>
                </a:solidFill>
                <a:latin typeface="黑体" panose="02010609060101010101" pitchFamily="49" charset="-122"/>
                <a:ea typeface="黑体" panose="02010609060101010101" pitchFamily="49" charset="-122"/>
              </a:rPr>
              <a:t>示波器模式切换：</a:t>
            </a:r>
          </a:p>
        </p:txBody>
      </p:sp>
      <p:sp>
        <p:nvSpPr>
          <p:cNvPr id="24" name="圆角矩形 23">
            <a:extLst>
              <a:ext uri="{FF2B5EF4-FFF2-40B4-BE49-F238E27FC236}">
                <a16:creationId xmlns:a16="http://schemas.microsoft.com/office/drawing/2014/main" id="{C18841F9-E387-7EB3-0FFC-BFA2211D9DFB}"/>
              </a:ext>
            </a:extLst>
          </p:cNvPr>
          <p:cNvSpPr/>
          <p:nvPr/>
        </p:nvSpPr>
        <p:spPr>
          <a:xfrm>
            <a:off x="4965700" y="2279650"/>
            <a:ext cx="966788" cy="720725"/>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endParaRPr lang="zh-CN" altLang="en-US"/>
          </a:p>
        </p:txBody>
      </p:sp>
      <p:sp>
        <p:nvSpPr>
          <p:cNvPr id="25611" name="矩形 24">
            <a:extLst>
              <a:ext uri="{FF2B5EF4-FFF2-40B4-BE49-F238E27FC236}">
                <a16:creationId xmlns:a16="http://schemas.microsoft.com/office/drawing/2014/main" id="{1182E0DC-670C-7CF1-B2DC-4D5CEA4DCCB9}"/>
              </a:ext>
            </a:extLst>
          </p:cNvPr>
          <p:cNvSpPr>
            <a:spLocks noChangeArrowheads="1"/>
          </p:cNvSpPr>
          <p:nvPr/>
        </p:nvSpPr>
        <p:spPr bwMode="auto">
          <a:xfrm>
            <a:off x="4965700" y="2308225"/>
            <a:ext cx="9699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000" b="1">
                <a:latin typeface="Times New Roman" panose="02020603050405020304" pitchFamily="18" charset="0"/>
              </a:rPr>
              <a:t>HORI</a:t>
            </a:r>
          </a:p>
          <a:p>
            <a:pPr eaLnBrk="1" hangingPunct="1">
              <a:lnSpc>
                <a:spcPct val="100000"/>
              </a:lnSpc>
              <a:spcBef>
                <a:spcPct val="0"/>
              </a:spcBef>
              <a:buFontTx/>
              <a:buNone/>
            </a:pPr>
            <a:r>
              <a:rPr lang="en-US" altLang="zh-CN" sz="2000" b="1">
                <a:latin typeface="Times New Roman" panose="02020603050405020304" pitchFamily="18" charset="0"/>
              </a:rPr>
              <a:t>MENU</a:t>
            </a:r>
            <a:endParaRPr lang="zh-CN" altLang="en-US" sz="2000" b="1">
              <a:latin typeface="Times New Roman" panose="02020603050405020304" pitchFamily="18" charset="0"/>
            </a:endParaRPr>
          </a:p>
        </p:txBody>
      </p:sp>
      <p:sp>
        <p:nvSpPr>
          <p:cNvPr id="26" name="右箭头 25">
            <a:extLst>
              <a:ext uri="{FF2B5EF4-FFF2-40B4-BE49-F238E27FC236}">
                <a16:creationId xmlns:a16="http://schemas.microsoft.com/office/drawing/2014/main" id="{04466430-FD63-C6B9-F222-E1DAB277C375}"/>
              </a:ext>
            </a:extLst>
          </p:cNvPr>
          <p:cNvSpPr/>
          <p:nvPr/>
        </p:nvSpPr>
        <p:spPr>
          <a:xfrm>
            <a:off x="6037263" y="2454275"/>
            <a:ext cx="433387" cy="1682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7" name="圆角矩形 26">
            <a:extLst>
              <a:ext uri="{FF2B5EF4-FFF2-40B4-BE49-F238E27FC236}">
                <a16:creationId xmlns:a16="http://schemas.microsoft.com/office/drawing/2014/main" id="{54CAF2DE-3808-DFAC-5CE1-C0B707F0E979}"/>
              </a:ext>
            </a:extLst>
          </p:cNvPr>
          <p:cNvSpPr/>
          <p:nvPr/>
        </p:nvSpPr>
        <p:spPr>
          <a:xfrm>
            <a:off x="6604000" y="2311400"/>
            <a:ext cx="696913" cy="515938"/>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endParaRPr lang="zh-CN" altLang="en-US"/>
          </a:p>
        </p:txBody>
      </p:sp>
      <p:sp>
        <p:nvSpPr>
          <p:cNvPr id="25614" name="矩形 27">
            <a:extLst>
              <a:ext uri="{FF2B5EF4-FFF2-40B4-BE49-F238E27FC236}">
                <a16:creationId xmlns:a16="http://schemas.microsoft.com/office/drawing/2014/main" id="{797DF2DF-791A-5B7B-A7DA-7BB99E30E0B1}"/>
              </a:ext>
            </a:extLst>
          </p:cNvPr>
          <p:cNvSpPr>
            <a:spLocks noChangeArrowheads="1"/>
          </p:cNvSpPr>
          <p:nvPr/>
        </p:nvSpPr>
        <p:spPr bwMode="auto">
          <a:xfrm>
            <a:off x="6738938" y="2344738"/>
            <a:ext cx="427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000" b="1">
                <a:latin typeface="Times New Roman" panose="02020603050405020304" pitchFamily="18" charset="0"/>
              </a:rPr>
              <a:t>F</a:t>
            </a:r>
            <a:r>
              <a:rPr lang="en-US" altLang="zh-CN" sz="2000" b="1" baseline="-25000">
                <a:latin typeface="Times New Roman" panose="02020603050405020304" pitchFamily="18" charset="0"/>
              </a:rPr>
              <a:t>3</a:t>
            </a:r>
            <a:endParaRPr lang="zh-CN" altLang="en-US" sz="2000" b="1">
              <a:latin typeface="Times New Roman" panose="02020603050405020304" pitchFamily="18" charset="0"/>
            </a:endParaRPr>
          </a:p>
        </p:txBody>
      </p:sp>
      <p:sp>
        <p:nvSpPr>
          <p:cNvPr id="29" name="右箭头 28">
            <a:extLst>
              <a:ext uri="{FF2B5EF4-FFF2-40B4-BE49-F238E27FC236}">
                <a16:creationId xmlns:a16="http://schemas.microsoft.com/office/drawing/2014/main" id="{C776F3D5-82F1-7C60-F187-C1786DC46C2D}"/>
              </a:ext>
            </a:extLst>
          </p:cNvPr>
          <p:cNvSpPr/>
          <p:nvPr/>
        </p:nvSpPr>
        <p:spPr>
          <a:xfrm>
            <a:off x="7443788" y="2484438"/>
            <a:ext cx="431800" cy="1698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0" name="左大括号 29">
            <a:extLst>
              <a:ext uri="{FF2B5EF4-FFF2-40B4-BE49-F238E27FC236}">
                <a16:creationId xmlns:a16="http://schemas.microsoft.com/office/drawing/2014/main" id="{EE3CAAC8-C94E-7F0B-C04C-303FC79BC640}"/>
              </a:ext>
            </a:extLst>
          </p:cNvPr>
          <p:cNvSpPr/>
          <p:nvPr/>
        </p:nvSpPr>
        <p:spPr>
          <a:xfrm>
            <a:off x="8056563" y="2198688"/>
            <a:ext cx="92075" cy="731837"/>
          </a:xfrm>
          <a:prstGeom prst="leftBrace">
            <a:avLst/>
          </a:prstGeom>
          <a:ln w="2222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5617" name="矩形 33">
            <a:extLst>
              <a:ext uri="{FF2B5EF4-FFF2-40B4-BE49-F238E27FC236}">
                <a16:creationId xmlns:a16="http://schemas.microsoft.com/office/drawing/2014/main" id="{3381618F-07EB-F1AD-C675-6318F9C9A92A}"/>
              </a:ext>
            </a:extLst>
          </p:cNvPr>
          <p:cNvSpPr>
            <a:spLocks noChangeArrowheads="1"/>
          </p:cNvSpPr>
          <p:nvPr/>
        </p:nvSpPr>
        <p:spPr bwMode="auto">
          <a:xfrm>
            <a:off x="8218488" y="2630488"/>
            <a:ext cx="3324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800" b="1">
                <a:latin typeface="黑体" panose="02010609060101010101" pitchFamily="49" charset="-122"/>
                <a:ea typeface="黑体" panose="02010609060101010101" pitchFamily="49" charset="-122"/>
              </a:rPr>
              <a:t>相位比较法： 打开“</a:t>
            </a:r>
            <a:r>
              <a:rPr lang="en-US" altLang="zh-CN" sz="1800" b="1">
                <a:latin typeface="黑体" panose="02010609060101010101" pitchFamily="49" charset="-122"/>
                <a:ea typeface="黑体" panose="02010609060101010101" pitchFamily="49" charset="-122"/>
              </a:rPr>
              <a:t>XY</a:t>
            </a:r>
            <a:r>
              <a:rPr lang="zh-CN" altLang="en-US" sz="1800" b="1">
                <a:latin typeface="黑体" panose="02010609060101010101" pitchFamily="49" charset="-122"/>
                <a:ea typeface="黑体" panose="02010609060101010101" pitchFamily="49" charset="-122"/>
              </a:rPr>
              <a:t>”模式</a:t>
            </a:r>
          </a:p>
        </p:txBody>
      </p:sp>
      <p:sp>
        <p:nvSpPr>
          <p:cNvPr id="25618" name="矩形 21">
            <a:extLst>
              <a:ext uri="{FF2B5EF4-FFF2-40B4-BE49-F238E27FC236}">
                <a16:creationId xmlns:a16="http://schemas.microsoft.com/office/drawing/2014/main" id="{37DA953E-B9A7-20A7-27D9-650054DC43D9}"/>
              </a:ext>
            </a:extLst>
          </p:cNvPr>
          <p:cNvSpPr>
            <a:spLocks noChangeArrowheads="1"/>
          </p:cNvSpPr>
          <p:nvPr/>
        </p:nvSpPr>
        <p:spPr bwMode="auto">
          <a:xfrm>
            <a:off x="8185150" y="2144713"/>
            <a:ext cx="3324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800" b="1">
                <a:latin typeface="黑体" panose="02010609060101010101" pitchFamily="49" charset="-122"/>
                <a:ea typeface="黑体" panose="02010609060101010101" pitchFamily="49" charset="-122"/>
              </a:rPr>
              <a:t>共振干涉法： 关闭“</a:t>
            </a:r>
            <a:r>
              <a:rPr lang="en-US" altLang="zh-CN" sz="1800" b="1">
                <a:latin typeface="黑体" panose="02010609060101010101" pitchFamily="49" charset="-122"/>
                <a:ea typeface="黑体" panose="02010609060101010101" pitchFamily="49" charset="-122"/>
              </a:rPr>
              <a:t>XY</a:t>
            </a:r>
            <a:r>
              <a:rPr lang="zh-CN" altLang="en-US" sz="1800" b="1">
                <a:latin typeface="黑体" panose="02010609060101010101" pitchFamily="49" charset="-122"/>
                <a:ea typeface="黑体" panose="02010609060101010101" pitchFamily="49" charset="-122"/>
              </a:rPr>
              <a:t>”模式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8">
            <a:extLst>
              <a:ext uri="{FF2B5EF4-FFF2-40B4-BE49-F238E27FC236}">
                <a16:creationId xmlns:a16="http://schemas.microsoft.com/office/drawing/2014/main" id="{4A912419-66C9-715B-C227-EA931235139E}"/>
              </a:ext>
            </a:extLst>
          </p:cNvPr>
          <p:cNvSpPr>
            <a:spLocks noChangeArrowheads="1"/>
          </p:cNvSpPr>
          <p:nvPr/>
        </p:nvSpPr>
        <p:spPr bwMode="auto">
          <a:xfrm>
            <a:off x="482600" y="1620838"/>
            <a:ext cx="288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latin typeface="Times New Roman" panose="02020603050405020304" pitchFamily="18" charset="0"/>
              </a:rPr>
              <a:t>2</a:t>
            </a:r>
            <a:r>
              <a:rPr lang="en-US" altLang="zh-CN" b="1">
                <a:latin typeface="黑体" panose="02010609060101010101" pitchFamily="49" charset="-122"/>
                <a:ea typeface="黑体" panose="02010609060101010101" pitchFamily="49" charset="-122"/>
              </a:rPr>
              <a:t>. </a:t>
            </a:r>
            <a:r>
              <a:rPr lang="zh-CN" altLang="en-US" b="1">
                <a:latin typeface="黑体" panose="02010609060101010101" pitchFamily="49" charset="-122"/>
                <a:ea typeface="黑体" panose="02010609060101010101" pitchFamily="49" charset="-122"/>
              </a:rPr>
              <a:t>调出共振频率</a:t>
            </a:r>
          </a:p>
        </p:txBody>
      </p:sp>
      <p:sp>
        <p:nvSpPr>
          <p:cNvPr id="26627" name="矩形 9">
            <a:extLst>
              <a:ext uri="{FF2B5EF4-FFF2-40B4-BE49-F238E27FC236}">
                <a16:creationId xmlns:a16="http://schemas.microsoft.com/office/drawing/2014/main" id="{0B2B1E35-1503-2C40-157F-10FC13D94B78}"/>
              </a:ext>
            </a:extLst>
          </p:cNvPr>
          <p:cNvSpPr>
            <a:spLocks noChangeArrowheads="1"/>
          </p:cNvSpPr>
          <p:nvPr/>
        </p:nvSpPr>
        <p:spPr bwMode="auto">
          <a:xfrm>
            <a:off x="482600" y="2103438"/>
            <a:ext cx="999966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Tx/>
              <a:buNone/>
            </a:pP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驻波振幅要达到最大，需满足：</a:t>
            </a:r>
            <a:endPar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之间的距离                             （驻波态）</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）给驻波系统所加的频率与驻波的固有频率相等    （共振态）</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调节方法：</a:t>
            </a:r>
            <a:endParaRPr lang="en-US" altLang="zh-CN"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）在共振频率 </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0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37kHz</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）附近调节声速仪鼓轮改变</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之间的距离</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，使得正弦波振幅最大；</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）在此基础上再细微调节信号发生器上的输出频率，使得正弦波振幅最大，此时的频率即</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共振频率 </a:t>
            </a:r>
            <a:r>
              <a:rPr lang="en-US" altLang="zh-CN" sz="24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sz="24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p>
        </p:txBody>
      </p:sp>
      <p:graphicFrame>
        <p:nvGraphicFramePr>
          <p:cNvPr id="26628" name="对象 1">
            <a:extLst>
              <a:ext uri="{FF2B5EF4-FFF2-40B4-BE49-F238E27FC236}">
                <a16:creationId xmlns:a16="http://schemas.microsoft.com/office/drawing/2014/main" id="{7035F9E0-D437-9D82-7C86-89966965E0FD}"/>
              </a:ext>
            </a:extLst>
          </p:cNvPr>
          <p:cNvGraphicFramePr>
            <a:graphicFrameLocks noChangeAspect="1"/>
          </p:cNvGraphicFramePr>
          <p:nvPr/>
        </p:nvGraphicFramePr>
        <p:xfrm>
          <a:off x="3875088" y="2619375"/>
          <a:ext cx="1606550" cy="706438"/>
        </p:xfrm>
        <a:graphic>
          <a:graphicData uri="http://schemas.openxmlformats.org/presentationml/2006/ole">
            <mc:AlternateContent xmlns:mc="http://schemas.openxmlformats.org/markup-compatibility/2006">
              <mc:Choice xmlns:v="urn:schemas-microsoft-com:vml" Requires="v">
                <p:oleObj name="公式" r:id="rId2" imgW="520474" imgH="393529" progId="Equation.3">
                  <p:embed/>
                </p:oleObj>
              </mc:Choice>
              <mc:Fallback>
                <p:oleObj name="公式" r:id="rId2" imgW="520474" imgH="393529" progId="Equation.3">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5088" y="2619375"/>
                        <a:ext cx="16065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9" name="标题 1">
            <a:extLst>
              <a:ext uri="{FF2B5EF4-FFF2-40B4-BE49-F238E27FC236}">
                <a16:creationId xmlns:a16="http://schemas.microsoft.com/office/drawing/2014/main" id="{B452A5BB-56A5-0DC0-7325-588EAD13F2A3}"/>
              </a:ext>
            </a:extLst>
          </p:cNvPr>
          <p:cNvSpPr>
            <a:spLocks noGrp="1" noChangeArrowheads="1"/>
          </p:cNvSpPr>
          <p:nvPr>
            <p:ph type="title"/>
          </p:nvPr>
        </p:nvSpPr>
        <p:spPr>
          <a:xfrm>
            <a:off x="390525" y="401638"/>
            <a:ext cx="10515600" cy="982662"/>
          </a:xfrm>
        </p:spPr>
        <p:txBody>
          <a:bodyPr/>
          <a:lstStyle/>
          <a:p>
            <a:pPr eaLnBrk="1" hangingPunct="1"/>
            <a:r>
              <a:rPr lang="zh-CN" altLang="en-US"/>
              <a:t>五、实验内容与操作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8">
            <a:extLst>
              <a:ext uri="{FF2B5EF4-FFF2-40B4-BE49-F238E27FC236}">
                <a16:creationId xmlns:a16="http://schemas.microsoft.com/office/drawing/2014/main" id="{BEEF7687-72CE-1A3B-369D-1AB96CFE7FD3}"/>
              </a:ext>
            </a:extLst>
          </p:cNvPr>
          <p:cNvSpPr>
            <a:spLocks noChangeArrowheads="1"/>
          </p:cNvSpPr>
          <p:nvPr/>
        </p:nvSpPr>
        <p:spPr bwMode="auto">
          <a:xfrm>
            <a:off x="482600" y="1395413"/>
            <a:ext cx="3613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latin typeface="黑体" panose="02010609060101010101" pitchFamily="49" charset="-122"/>
                <a:ea typeface="黑体" panose="02010609060101010101" pitchFamily="49" charset="-122"/>
              </a:rPr>
              <a:t>3. </a:t>
            </a:r>
            <a:r>
              <a:rPr lang="zh-CN" altLang="en-US" b="1">
                <a:latin typeface="黑体" panose="02010609060101010101" pitchFamily="49" charset="-122"/>
                <a:ea typeface="黑体" panose="02010609060101010101" pitchFamily="49" charset="-122"/>
              </a:rPr>
              <a:t>共振干涉法测声速</a:t>
            </a:r>
          </a:p>
        </p:txBody>
      </p:sp>
      <p:sp>
        <p:nvSpPr>
          <p:cNvPr id="27651" name="矩形 9">
            <a:extLst>
              <a:ext uri="{FF2B5EF4-FFF2-40B4-BE49-F238E27FC236}">
                <a16:creationId xmlns:a16="http://schemas.microsoft.com/office/drawing/2014/main" id="{61B407F6-87DF-67DD-6F8B-2B88CE53DF02}"/>
              </a:ext>
            </a:extLst>
          </p:cNvPr>
          <p:cNvSpPr>
            <a:spLocks noChangeArrowheads="1"/>
          </p:cNvSpPr>
          <p:nvPr/>
        </p:nvSpPr>
        <p:spPr bwMode="auto">
          <a:xfrm>
            <a:off x="568325" y="1928813"/>
            <a:ext cx="10291763"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Tx/>
              <a:buNone/>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示波器关闭“</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XY</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”模式</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50000"/>
              </a:lnSpc>
              <a:spcBef>
                <a:spcPct val="0"/>
              </a:spcBef>
              <a:buFontTx/>
              <a:buNone/>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b.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在</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共振频率条件下，调节声速仪距离即调节鼓轮改变</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之间的距离</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L</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，当</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示波器上的正弦波振幅最大时</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记录</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的位置，连续记录</a:t>
            </a:r>
            <a:r>
              <a:rPr lang="en-US" altLang="zh-CN"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组数据。</a:t>
            </a:r>
            <a:endParaRPr lang="zh-CN" altLang="en-US" sz="24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52" name="矩形 5">
            <a:extLst>
              <a:ext uri="{FF2B5EF4-FFF2-40B4-BE49-F238E27FC236}">
                <a16:creationId xmlns:a16="http://schemas.microsoft.com/office/drawing/2014/main" id="{8E7D8467-A1F7-1E78-CA1B-B2C898FFD99E}"/>
              </a:ext>
            </a:extLst>
          </p:cNvPr>
          <p:cNvSpPr>
            <a:spLocks noChangeArrowheads="1"/>
          </p:cNvSpPr>
          <p:nvPr/>
        </p:nvSpPr>
        <p:spPr bwMode="auto">
          <a:xfrm>
            <a:off x="482600" y="3683000"/>
            <a:ext cx="36131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latin typeface="黑体" panose="02010609060101010101" pitchFamily="49" charset="-122"/>
                <a:ea typeface="黑体" panose="02010609060101010101" pitchFamily="49" charset="-122"/>
              </a:rPr>
              <a:t>4. </a:t>
            </a:r>
            <a:r>
              <a:rPr lang="zh-CN" altLang="en-US" b="1">
                <a:latin typeface="黑体" panose="02010609060101010101" pitchFamily="49" charset="-122"/>
                <a:ea typeface="黑体" panose="02010609060101010101" pitchFamily="49" charset="-122"/>
              </a:rPr>
              <a:t>相位比较法测声速</a:t>
            </a:r>
          </a:p>
        </p:txBody>
      </p:sp>
      <p:sp>
        <p:nvSpPr>
          <p:cNvPr id="27653" name="矩形 6">
            <a:extLst>
              <a:ext uri="{FF2B5EF4-FFF2-40B4-BE49-F238E27FC236}">
                <a16:creationId xmlns:a16="http://schemas.microsoft.com/office/drawing/2014/main" id="{5F9D115D-F528-B186-BCC5-000CAEA4185B}"/>
              </a:ext>
            </a:extLst>
          </p:cNvPr>
          <p:cNvSpPr>
            <a:spLocks noChangeArrowheads="1"/>
          </p:cNvSpPr>
          <p:nvPr/>
        </p:nvSpPr>
        <p:spPr bwMode="auto">
          <a:xfrm>
            <a:off x="568325" y="4217988"/>
            <a:ext cx="10291763"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50000"/>
              </a:lnSpc>
              <a:spcBef>
                <a:spcPct val="0"/>
              </a:spcBef>
              <a:buFontTx/>
              <a:buNone/>
            </a:pPr>
            <a:r>
              <a:rPr lang="en-US" altLang="zh-CN" sz="2400" b="1">
                <a:latin typeface="Times New Roman" panose="02020603050405020304" pitchFamily="18" charset="0"/>
                <a:ea typeface="黑体" panose="02010609060101010101" pitchFamily="49" charset="-122"/>
                <a:cs typeface="Times New Roman" panose="02020603050405020304" pitchFamily="18" charset="0"/>
              </a:rPr>
              <a:t>a.</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示波器打开“</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XY</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”模式</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a:t>
            </a:r>
          </a:p>
          <a:p>
            <a:pPr eaLnBrk="1" hangingPunct="1">
              <a:lnSpc>
                <a:spcPct val="150000"/>
              </a:lnSpc>
              <a:spcBef>
                <a:spcPct val="0"/>
              </a:spcBef>
              <a:buFontTx/>
              <a:buNone/>
            </a:pPr>
            <a:r>
              <a:rPr lang="en-US" altLang="zh-CN" sz="2400" b="1">
                <a:latin typeface="Times New Roman" panose="02020603050405020304" pitchFamily="18" charset="0"/>
                <a:ea typeface="黑体" panose="02010609060101010101" pitchFamily="49" charset="-122"/>
                <a:cs typeface="Times New Roman" panose="02020603050405020304" pitchFamily="18" charset="0"/>
              </a:rPr>
              <a:t>b. </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在</a:t>
            </a:r>
            <a:r>
              <a:rPr lang="zh-CN" altLang="en-US" sz="24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共振频率条件下，调节声速仪距离调节鼓轮改变</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之间的距离</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L</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，当</a:t>
            </a:r>
            <a:r>
              <a:rPr lang="zh-CN" altLang="en-US" sz="24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示波器上出现</a:t>
            </a:r>
            <a:r>
              <a:rPr lang="en-US" altLang="zh-CN" sz="24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45°</a:t>
            </a:r>
            <a:r>
              <a:rPr lang="zh-CN" altLang="en-US" sz="24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24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135°</a:t>
            </a:r>
            <a:r>
              <a:rPr lang="zh-CN" altLang="en-US" sz="2400" b="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斜线时</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记录</a:t>
            </a:r>
            <a:r>
              <a:rPr lang="en-US" altLang="zh-CN" sz="24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S</a:t>
            </a:r>
            <a:r>
              <a:rPr lang="en-US" altLang="zh-CN" sz="2400" b="1" baseline="-250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的位置，连续记录</a:t>
            </a:r>
            <a:r>
              <a:rPr lang="en-US" altLang="zh-CN" sz="24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en-US" sz="2400" b="1">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组数据。</a:t>
            </a:r>
            <a:endParaRPr lang="zh-CN" altLang="en-US" sz="24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54" name="矩形 5">
            <a:extLst>
              <a:ext uri="{FF2B5EF4-FFF2-40B4-BE49-F238E27FC236}">
                <a16:creationId xmlns:a16="http://schemas.microsoft.com/office/drawing/2014/main" id="{4AA17C61-8D8D-3440-4441-ECAA6DA0834E}"/>
              </a:ext>
            </a:extLst>
          </p:cNvPr>
          <p:cNvSpPr>
            <a:spLocks noChangeArrowheads="1"/>
          </p:cNvSpPr>
          <p:nvPr/>
        </p:nvSpPr>
        <p:spPr bwMode="auto">
          <a:xfrm>
            <a:off x="4749800" y="935038"/>
            <a:ext cx="7127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12800" indent="-8128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50000"/>
              </a:spcBef>
              <a:buFontTx/>
              <a:buNone/>
            </a:pPr>
            <a:r>
              <a:rPr lang="zh-CN" altLang="en-US" sz="2000" b="1">
                <a:solidFill>
                  <a:srgbClr val="FF0000"/>
                </a:solidFill>
                <a:latin typeface="Arial" panose="020B0604020202020204" pitchFamily="34" charset="0"/>
                <a:ea typeface="黑体" panose="02010609060101010101" pitchFamily="49" charset="-122"/>
              </a:rPr>
              <a:t>注意：测微鼓轮须一个方向转动，避免空程误差！</a:t>
            </a:r>
          </a:p>
        </p:txBody>
      </p:sp>
      <p:sp>
        <p:nvSpPr>
          <p:cNvPr id="27655" name="标题 1">
            <a:extLst>
              <a:ext uri="{FF2B5EF4-FFF2-40B4-BE49-F238E27FC236}">
                <a16:creationId xmlns:a16="http://schemas.microsoft.com/office/drawing/2014/main" id="{2E142F8A-9983-C2C9-897B-780EDBE06A38}"/>
              </a:ext>
            </a:extLst>
          </p:cNvPr>
          <p:cNvSpPr>
            <a:spLocks noGrp="1" noChangeArrowheads="1"/>
          </p:cNvSpPr>
          <p:nvPr>
            <p:ph type="title"/>
          </p:nvPr>
        </p:nvSpPr>
        <p:spPr>
          <a:xfrm>
            <a:off x="314325" y="300038"/>
            <a:ext cx="10515600" cy="981075"/>
          </a:xfrm>
        </p:spPr>
        <p:txBody>
          <a:bodyPr/>
          <a:lstStyle/>
          <a:p>
            <a:pPr eaLnBrk="1" hangingPunct="1"/>
            <a:r>
              <a:rPr lang="zh-CN" altLang="en-US"/>
              <a:t>五、实验内容与操作</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E06C01D3-3963-D285-FE3C-DB22E54E7628}"/>
              </a:ext>
            </a:extLst>
          </p:cNvPr>
          <p:cNvSpPr>
            <a:spLocks noGrp="1" noChangeArrowheads="1"/>
          </p:cNvSpPr>
          <p:nvPr>
            <p:ph type="title"/>
          </p:nvPr>
        </p:nvSpPr>
        <p:spPr>
          <a:xfrm>
            <a:off x="838200" y="365125"/>
            <a:ext cx="10515600" cy="982663"/>
          </a:xfrm>
        </p:spPr>
        <p:txBody>
          <a:bodyPr/>
          <a:lstStyle/>
          <a:p>
            <a:pPr eaLnBrk="1" hangingPunct="1"/>
            <a:r>
              <a:rPr lang="zh-CN" altLang="en-US"/>
              <a:t>六、实验数据</a:t>
            </a:r>
          </a:p>
        </p:txBody>
      </p:sp>
      <p:sp>
        <p:nvSpPr>
          <p:cNvPr id="28675" name="矩形 2">
            <a:extLst>
              <a:ext uri="{FF2B5EF4-FFF2-40B4-BE49-F238E27FC236}">
                <a16:creationId xmlns:a16="http://schemas.microsoft.com/office/drawing/2014/main" id="{47D370C2-4DCA-D663-4190-1B54C9D682E8}"/>
              </a:ext>
            </a:extLst>
          </p:cNvPr>
          <p:cNvSpPr>
            <a:spLocks noChangeArrowheads="1"/>
          </p:cNvSpPr>
          <p:nvPr/>
        </p:nvSpPr>
        <p:spPr bwMode="auto">
          <a:xfrm>
            <a:off x="585788" y="1428750"/>
            <a:ext cx="37925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solidFill>
                  <a:srgbClr val="C00000"/>
                </a:solidFill>
                <a:latin typeface="黑体" panose="02010609060101010101" pitchFamily="49" charset="-122"/>
                <a:ea typeface="黑体" panose="02010609060101010101" pitchFamily="49" charset="-122"/>
              </a:rPr>
              <a:t>1.</a:t>
            </a:r>
            <a:r>
              <a:rPr lang="zh-CN" altLang="en-US" b="1">
                <a:solidFill>
                  <a:srgbClr val="C00000"/>
                </a:solidFill>
                <a:latin typeface="黑体" panose="02010609060101010101" pitchFamily="49" charset="-122"/>
                <a:ea typeface="黑体" panose="02010609060101010101" pitchFamily="49" charset="-122"/>
              </a:rPr>
              <a:t>共振干涉（驻波）法</a:t>
            </a:r>
          </a:p>
        </p:txBody>
      </p:sp>
      <p:graphicFrame>
        <p:nvGraphicFramePr>
          <p:cNvPr id="54" name="表格 53">
            <a:extLst>
              <a:ext uri="{FF2B5EF4-FFF2-40B4-BE49-F238E27FC236}">
                <a16:creationId xmlns:a16="http://schemas.microsoft.com/office/drawing/2014/main" id="{676F90B9-BBD7-2B35-AFA4-F24AC2D6D34A}"/>
              </a:ext>
            </a:extLst>
          </p:cNvPr>
          <p:cNvGraphicFramePr>
            <a:graphicFrameLocks noGrp="1"/>
          </p:cNvGraphicFramePr>
          <p:nvPr/>
        </p:nvGraphicFramePr>
        <p:xfrm>
          <a:off x="715963" y="2212975"/>
          <a:ext cx="9329740" cy="1149350"/>
        </p:xfrm>
        <a:graphic>
          <a:graphicData uri="http://schemas.openxmlformats.org/drawingml/2006/table">
            <a:tbl>
              <a:tblPr firstRow="1" bandRow="1">
                <a:tableStyleId>{5940675A-B579-460E-94D1-54222C63F5DA}</a:tableStyleId>
              </a:tblPr>
              <a:tblGrid>
                <a:gridCol w="1276164">
                  <a:extLst>
                    <a:ext uri="{9D8B030D-6E8A-4147-A177-3AD203B41FA5}">
                      <a16:colId xmlns:a16="http://schemas.microsoft.com/office/drawing/2014/main" val="20000"/>
                    </a:ext>
                  </a:extLst>
                </a:gridCol>
                <a:gridCol w="1006697">
                  <a:extLst>
                    <a:ext uri="{9D8B030D-6E8A-4147-A177-3AD203B41FA5}">
                      <a16:colId xmlns:a16="http://schemas.microsoft.com/office/drawing/2014/main" val="20001"/>
                    </a:ext>
                  </a:extLst>
                </a:gridCol>
                <a:gridCol w="1006697">
                  <a:extLst>
                    <a:ext uri="{9D8B030D-6E8A-4147-A177-3AD203B41FA5}">
                      <a16:colId xmlns:a16="http://schemas.microsoft.com/office/drawing/2014/main" val="20002"/>
                    </a:ext>
                  </a:extLst>
                </a:gridCol>
                <a:gridCol w="1006697">
                  <a:extLst>
                    <a:ext uri="{9D8B030D-6E8A-4147-A177-3AD203B41FA5}">
                      <a16:colId xmlns:a16="http://schemas.microsoft.com/office/drawing/2014/main" val="20003"/>
                    </a:ext>
                  </a:extLst>
                </a:gridCol>
                <a:gridCol w="1006697">
                  <a:extLst>
                    <a:ext uri="{9D8B030D-6E8A-4147-A177-3AD203B41FA5}">
                      <a16:colId xmlns:a16="http://schemas.microsoft.com/office/drawing/2014/main" val="20004"/>
                    </a:ext>
                  </a:extLst>
                </a:gridCol>
                <a:gridCol w="1006697">
                  <a:extLst>
                    <a:ext uri="{9D8B030D-6E8A-4147-A177-3AD203B41FA5}">
                      <a16:colId xmlns:a16="http://schemas.microsoft.com/office/drawing/2014/main" val="20005"/>
                    </a:ext>
                  </a:extLst>
                </a:gridCol>
                <a:gridCol w="1006697">
                  <a:extLst>
                    <a:ext uri="{9D8B030D-6E8A-4147-A177-3AD203B41FA5}">
                      <a16:colId xmlns:a16="http://schemas.microsoft.com/office/drawing/2014/main" val="20006"/>
                    </a:ext>
                  </a:extLst>
                </a:gridCol>
                <a:gridCol w="1006697">
                  <a:extLst>
                    <a:ext uri="{9D8B030D-6E8A-4147-A177-3AD203B41FA5}">
                      <a16:colId xmlns:a16="http://schemas.microsoft.com/office/drawing/2014/main" val="20007"/>
                    </a:ext>
                  </a:extLst>
                </a:gridCol>
                <a:gridCol w="1006697">
                  <a:extLst>
                    <a:ext uri="{9D8B030D-6E8A-4147-A177-3AD203B41FA5}">
                      <a16:colId xmlns:a16="http://schemas.microsoft.com/office/drawing/2014/main" val="20008"/>
                    </a:ext>
                  </a:extLst>
                </a:gridCol>
              </a:tblGrid>
              <a:tr h="574675">
                <a:tc>
                  <a:txBody>
                    <a:bodyPr/>
                    <a:lstStyle/>
                    <a:p>
                      <a:pPr algn="ctr"/>
                      <a:r>
                        <a:rPr lang="en-US" altLang="zh-CN" sz="2400" b="1" dirty="0">
                          <a:latin typeface="Times New Roman" pitchFamily="18" charset="0"/>
                          <a:cs typeface="Times New Roman" pitchFamily="18" charset="0"/>
                        </a:rPr>
                        <a:t>n</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0</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1</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2</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3</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4</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5</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6</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7</a:t>
                      </a:r>
                      <a:endParaRPr lang="zh-CN" altLang="en-US" sz="2400" b="1" dirty="0">
                        <a:latin typeface="Times New Roman" pitchFamily="18" charset="0"/>
                        <a:cs typeface="Times New Roman" pitchFamily="18" charset="0"/>
                      </a:endParaRPr>
                    </a:p>
                  </a:txBody>
                  <a:tcPr marL="91442" marR="91442" marT="45721" marB="45721"/>
                </a:tc>
                <a:extLst>
                  <a:ext uri="{0D108BD9-81ED-4DB2-BD59-A6C34878D82A}">
                    <a16:rowId xmlns:a16="http://schemas.microsoft.com/office/drawing/2014/main" val="10000"/>
                  </a:ext>
                </a:extLst>
              </a:tr>
              <a:tr h="574675">
                <a:tc>
                  <a:txBody>
                    <a:bodyPr/>
                    <a:lstStyle/>
                    <a:p>
                      <a:pPr algn="ctr"/>
                      <a:r>
                        <a:rPr lang="en-US" altLang="zh-CN" sz="2400" b="1" dirty="0">
                          <a:latin typeface="Times New Roman" pitchFamily="18" charset="0"/>
                          <a:cs typeface="Times New Roman" pitchFamily="18" charset="0"/>
                        </a:rPr>
                        <a:t>X</a:t>
                      </a:r>
                      <a:r>
                        <a:rPr lang="en-US" altLang="zh-CN" sz="2400" b="1" baseline="-25000" dirty="0">
                          <a:latin typeface="Times New Roman" pitchFamily="18" charset="0"/>
                          <a:cs typeface="Times New Roman" pitchFamily="18" charset="0"/>
                        </a:rPr>
                        <a:t>i</a:t>
                      </a:r>
                      <a:r>
                        <a:rPr lang="en-US" altLang="zh-CN" sz="2400" b="1" baseline="0" dirty="0">
                          <a:latin typeface="Times New Roman" pitchFamily="18" charset="0"/>
                          <a:cs typeface="Times New Roman" pitchFamily="18" charset="0"/>
                        </a:rPr>
                        <a:t>(mm)</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extLst>
                  <a:ext uri="{0D108BD9-81ED-4DB2-BD59-A6C34878D82A}">
                    <a16:rowId xmlns:a16="http://schemas.microsoft.com/office/drawing/2014/main" val="10001"/>
                  </a:ext>
                </a:extLst>
              </a:tr>
            </a:tbl>
          </a:graphicData>
        </a:graphic>
      </p:graphicFrame>
      <p:sp>
        <p:nvSpPr>
          <p:cNvPr id="28708" name="矩形 54">
            <a:extLst>
              <a:ext uri="{FF2B5EF4-FFF2-40B4-BE49-F238E27FC236}">
                <a16:creationId xmlns:a16="http://schemas.microsoft.com/office/drawing/2014/main" id="{0BA322F6-6406-6A71-444C-4B7CB199B853}"/>
              </a:ext>
            </a:extLst>
          </p:cNvPr>
          <p:cNvSpPr>
            <a:spLocks noChangeArrowheads="1"/>
          </p:cNvSpPr>
          <p:nvPr/>
        </p:nvSpPr>
        <p:spPr bwMode="auto">
          <a:xfrm>
            <a:off x="5907088" y="1552575"/>
            <a:ext cx="2368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400" b="1" i="1">
                <a:solidFill>
                  <a:srgbClr val="000000"/>
                </a:solidFill>
                <a:latin typeface="Times New Roman" panose="02020603050405020304" pitchFamily="18" charset="0"/>
              </a:rPr>
              <a:t>f</a:t>
            </a:r>
            <a:r>
              <a:rPr lang="en-US" altLang="zh-CN" sz="2400" b="1" i="1" baseline="-30000">
                <a:solidFill>
                  <a:srgbClr val="000000"/>
                </a:solidFill>
                <a:latin typeface="Times New Roman" panose="02020603050405020304" pitchFamily="18" charset="0"/>
              </a:rPr>
              <a:t>0 </a:t>
            </a:r>
            <a:r>
              <a:rPr lang="en-US" altLang="zh-CN" sz="2400" b="1" i="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(kHz)</a:t>
            </a:r>
            <a:endParaRPr lang="zh-CN" altLang="en-US" sz="2400"/>
          </a:p>
        </p:txBody>
      </p:sp>
      <p:sp>
        <p:nvSpPr>
          <p:cNvPr id="28709" name="矩形 56">
            <a:extLst>
              <a:ext uri="{FF2B5EF4-FFF2-40B4-BE49-F238E27FC236}">
                <a16:creationId xmlns:a16="http://schemas.microsoft.com/office/drawing/2014/main" id="{4AB04CEA-DBFC-8DE3-87CA-BB2A65C44925}"/>
              </a:ext>
            </a:extLst>
          </p:cNvPr>
          <p:cNvSpPr>
            <a:spLocks noChangeArrowheads="1"/>
          </p:cNvSpPr>
          <p:nvPr/>
        </p:nvSpPr>
        <p:spPr bwMode="auto">
          <a:xfrm>
            <a:off x="585788" y="3552825"/>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相位比较法</a:t>
            </a:r>
          </a:p>
        </p:txBody>
      </p:sp>
      <p:graphicFrame>
        <p:nvGraphicFramePr>
          <p:cNvPr id="58" name="表格 57">
            <a:extLst>
              <a:ext uri="{FF2B5EF4-FFF2-40B4-BE49-F238E27FC236}">
                <a16:creationId xmlns:a16="http://schemas.microsoft.com/office/drawing/2014/main" id="{BF2DF383-E62E-F27E-2897-A48571A451AA}"/>
              </a:ext>
            </a:extLst>
          </p:cNvPr>
          <p:cNvGraphicFramePr>
            <a:graphicFrameLocks noGrp="1"/>
          </p:cNvGraphicFramePr>
          <p:nvPr/>
        </p:nvGraphicFramePr>
        <p:xfrm>
          <a:off x="585788" y="4308475"/>
          <a:ext cx="9329740" cy="1489075"/>
        </p:xfrm>
        <a:graphic>
          <a:graphicData uri="http://schemas.openxmlformats.org/drawingml/2006/table">
            <a:tbl>
              <a:tblPr firstRow="1" bandRow="1">
                <a:tableStyleId>{5940675A-B579-460E-94D1-54222C63F5DA}</a:tableStyleId>
              </a:tblPr>
              <a:tblGrid>
                <a:gridCol w="1276164">
                  <a:extLst>
                    <a:ext uri="{9D8B030D-6E8A-4147-A177-3AD203B41FA5}">
                      <a16:colId xmlns:a16="http://schemas.microsoft.com/office/drawing/2014/main" val="20000"/>
                    </a:ext>
                  </a:extLst>
                </a:gridCol>
                <a:gridCol w="1006697">
                  <a:extLst>
                    <a:ext uri="{9D8B030D-6E8A-4147-A177-3AD203B41FA5}">
                      <a16:colId xmlns:a16="http://schemas.microsoft.com/office/drawing/2014/main" val="20001"/>
                    </a:ext>
                  </a:extLst>
                </a:gridCol>
                <a:gridCol w="1006697">
                  <a:extLst>
                    <a:ext uri="{9D8B030D-6E8A-4147-A177-3AD203B41FA5}">
                      <a16:colId xmlns:a16="http://schemas.microsoft.com/office/drawing/2014/main" val="20002"/>
                    </a:ext>
                  </a:extLst>
                </a:gridCol>
                <a:gridCol w="1006697">
                  <a:extLst>
                    <a:ext uri="{9D8B030D-6E8A-4147-A177-3AD203B41FA5}">
                      <a16:colId xmlns:a16="http://schemas.microsoft.com/office/drawing/2014/main" val="20003"/>
                    </a:ext>
                  </a:extLst>
                </a:gridCol>
                <a:gridCol w="1006697">
                  <a:extLst>
                    <a:ext uri="{9D8B030D-6E8A-4147-A177-3AD203B41FA5}">
                      <a16:colId xmlns:a16="http://schemas.microsoft.com/office/drawing/2014/main" val="20004"/>
                    </a:ext>
                  </a:extLst>
                </a:gridCol>
                <a:gridCol w="1006697">
                  <a:extLst>
                    <a:ext uri="{9D8B030D-6E8A-4147-A177-3AD203B41FA5}">
                      <a16:colId xmlns:a16="http://schemas.microsoft.com/office/drawing/2014/main" val="20005"/>
                    </a:ext>
                  </a:extLst>
                </a:gridCol>
                <a:gridCol w="1006697">
                  <a:extLst>
                    <a:ext uri="{9D8B030D-6E8A-4147-A177-3AD203B41FA5}">
                      <a16:colId xmlns:a16="http://schemas.microsoft.com/office/drawing/2014/main" val="20006"/>
                    </a:ext>
                  </a:extLst>
                </a:gridCol>
                <a:gridCol w="1006697">
                  <a:extLst>
                    <a:ext uri="{9D8B030D-6E8A-4147-A177-3AD203B41FA5}">
                      <a16:colId xmlns:a16="http://schemas.microsoft.com/office/drawing/2014/main" val="20007"/>
                    </a:ext>
                  </a:extLst>
                </a:gridCol>
                <a:gridCol w="1006697">
                  <a:extLst>
                    <a:ext uri="{9D8B030D-6E8A-4147-A177-3AD203B41FA5}">
                      <a16:colId xmlns:a16="http://schemas.microsoft.com/office/drawing/2014/main" val="20008"/>
                    </a:ext>
                  </a:extLst>
                </a:gridCol>
              </a:tblGrid>
              <a:tr h="574665">
                <a:tc>
                  <a:txBody>
                    <a:bodyPr/>
                    <a:lstStyle/>
                    <a:p>
                      <a:pPr algn="ctr"/>
                      <a:r>
                        <a:rPr lang="en-US" altLang="zh-CN" sz="2400" b="1" dirty="0">
                          <a:latin typeface="Times New Roman" pitchFamily="18" charset="0"/>
                          <a:cs typeface="Times New Roman" pitchFamily="18" charset="0"/>
                        </a:rPr>
                        <a:t>n</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0</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1</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2</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3</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4</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5</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6</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r>
                        <a:rPr lang="en-US" altLang="zh-CN" sz="2400" b="1" dirty="0">
                          <a:latin typeface="Times New Roman" pitchFamily="18" charset="0"/>
                          <a:cs typeface="Times New Roman" pitchFamily="18" charset="0"/>
                        </a:rPr>
                        <a:t>7</a:t>
                      </a:r>
                      <a:endParaRPr lang="zh-CN" altLang="en-US" sz="2400" b="1" dirty="0">
                        <a:latin typeface="Times New Roman" pitchFamily="18" charset="0"/>
                        <a:cs typeface="Times New Roman" pitchFamily="18" charset="0"/>
                      </a:endParaRPr>
                    </a:p>
                  </a:txBody>
                  <a:tcPr marL="91442" marR="91442" marT="45721" marB="45721"/>
                </a:tc>
                <a:extLst>
                  <a:ext uri="{0D108BD9-81ED-4DB2-BD59-A6C34878D82A}">
                    <a16:rowId xmlns:a16="http://schemas.microsoft.com/office/drawing/2014/main" val="10000"/>
                  </a:ext>
                </a:extLst>
              </a:tr>
              <a:tr h="457205">
                <a:tc>
                  <a:txBody>
                    <a:bodyPr/>
                    <a:lstStyle/>
                    <a:p>
                      <a:pPr algn="ctr"/>
                      <a:r>
                        <a:rPr lang="en-US" altLang="zh-CN" sz="2400" b="1" dirty="0">
                          <a:latin typeface="Times New Roman" pitchFamily="18" charset="0"/>
                          <a:cs typeface="Times New Roman" pitchFamily="18" charset="0"/>
                        </a:rPr>
                        <a:t>X</a:t>
                      </a:r>
                      <a:r>
                        <a:rPr lang="en-US" altLang="zh-CN" sz="2400" b="1" baseline="-25000" dirty="0">
                          <a:latin typeface="Times New Roman" pitchFamily="18" charset="0"/>
                          <a:cs typeface="Times New Roman" pitchFamily="18" charset="0"/>
                        </a:rPr>
                        <a:t>i</a:t>
                      </a:r>
                      <a:r>
                        <a:rPr lang="en-US" altLang="zh-CN" sz="2400" b="1" baseline="0" dirty="0">
                          <a:latin typeface="Times New Roman" pitchFamily="18" charset="0"/>
                          <a:cs typeface="Times New Roman" pitchFamily="18" charset="0"/>
                        </a:rPr>
                        <a:t>(mm)</a:t>
                      </a: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en-US" altLang="zh-CN" sz="2400" b="1" dirty="0">
                        <a:latin typeface="Times New Roman" pitchFamily="18" charset="0"/>
                        <a:cs typeface="Times New Roman" pitchFamily="18" charset="0"/>
                      </a:endParaRPr>
                    </a:p>
                  </a:txBody>
                  <a:tcPr marL="91442" marR="91442" marT="45721" marB="45721"/>
                </a:tc>
                <a:extLst>
                  <a:ext uri="{0D108BD9-81ED-4DB2-BD59-A6C34878D82A}">
                    <a16:rowId xmlns:a16="http://schemas.microsoft.com/office/drawing/2014/main" val="10001"/>
                  </a:ext>
                </a:extLst>
              </a:tr>
              <a:tr h="457205">
                <a:tc>
                  <a:txBody>
                    <a:bodyPr/>
                    <a:lstStyle/>
                    <a:p>
                      <a:pPr algn="ctr"/>
                      <a:r>
                        <a:rPr lang="zh-CN" altLang="en-US" sz="2400" b="1" dirty="0">
                          <a:latin typeface="Times New Roman" pitchFamily="18" charset="0"/>
                          <a:cs typeface="Times New Roman" pitchFamily="18" charset="0"/>
                        </a:rPr>
                        <a:t>相位图</a:t>
                      </a: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zh-CN" altLang="en-US" sz="2400" b="1" dirty="0">
                        <a:latin typeface="Times New Roman" pitchFamily="18" charset="0"/>
                        <a:cs typeface="Times New Roman" pitchFamily="18" charset="0"/>
                      </a:endParaRPr>
                    </a:p>
                  </a:txBody>
                  <a:tcPr marL="91442" marR="91442" marT="45721" marB="45721"/>
                </a:tc>
                <a:tc>
                  <a:txBody>
                    <a:bodyPr/>
                    <a:lstStyle/>
                    <a:p>
                      <a:pPr algn="ctr"/>
                      <a:endParaRPr lang="en-US" altLang="zh-CN" sz="2400" b="1" dirty="0">
                        <a:latin typeface="Times New Roman" pitchFamily="18" charset="0"/>
                        <a:cs typeface="Times New Roman" pitchFamily="18" charset="0"/>
                      </a:endParaRPr>
                    </a:p>
                  </a:txBody>
                  <a:tcPr marL="91442" marR="91442" marT="45721" marB="45721"/>
                </a:tc>
                <a:extLst>
                  <a:ext uri="{0D108BD9-81ED-4DB2-BD59-A6C34878D82A}">
                    <a16:rowId xmlns:a16="http://schemas.microsoft.com/office/drawing/2014/main" val="10002"/>
                  </a:ext>
                </a:extLst>
              </a:tr>
            </a:tbl>
          </a:graphicData>
        </a:graphic>
      </p:graphicFrame>
      <p:sp>
        <p:nvSpPr>
          <p:cNvPr id="28752" name="矩形 58">
            <a:extLst>
              <a:ext uri="{FF2B5EF4-FFF2-40B4-BE49-F238E27FC236}">
                <a16:creationId xmlns:a16="http://schemas.microsoft.com/office/drawing/2014/main" id="{5A22B019-75F9-E877-8958-49B776CE9E60}"/>
              </a:ext>
            </a:extLst>
          </p:cNvPr>
          <p:cNvSpPr>
            <a:spLocks noChangeArrowheads="1"/>
          </p:cNvSpPr>
          <p:nvPr/>
        </p:nvSpPr>
        <p:spPr bwMode="auto">
          <a:xfrm>
            <a:off x="5907088" y="3678238"/>
            <a:ext cx="23685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en-US" altLang="zh-CN" sz="2400" b="1" i="1">
                <a:solidFill>
                  <a:srgbClr val="000000"/>
                </a:solidFill>
                <a:latin typeface="Times New Roman" panose="02020603050405020304" pitchFamily="18" charset="0"/>
              </a:rPr>
              <a:t>f</a:t>
            </a:r>
            <a:r>
              <a:rPr lang="en-US" altLang="zh-CN" sz="2400" b="1" i="1" baseline="-30000">
                <a:solidFill>
                  <a:srgbClr val="000000"/>
                </a:solidFill>
                <a:latin typeface="Times New Roman" panose="02020603050405020304" pitchFamily="18" charset="0"/>
              </a:rPr>
              <a:t>0 </a:t>
            </a:r>
            <a:r>
              <a:rPr lang="en-US" altLang="zh-CN" sz="2400" b="1" i="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rPr>
              <a:t>(kHz)</a:t>
            </a:r>
            <a:endParaRPr lang="zh-CN" altLang="en-US" sz="2400"/>
          </a:p>
        </p:txBody>
      </p:sp>
      <p:sp>
        <p:nvSpPr>
          <p:cNvPr id="28753" name="Line 116">
            <a:extLst>
              <a:ext uri="{FF2B5EF4-FFF2-40B4-BE49-F238E27FC236}">
                <a16:creationId xmlns:a16="http://schemas.microsoft.com/office/drawing/2014/main" id="{80398A5F-5E58-FC7E-158D-4D9D78AD29EE}"/>
              </a:ext>
            </a:extLst>
          </p:cNvPr>
          <p:cNvSpPr>
            <a:spLocks noChangeShapeType="1"/>
          </p:cNvSpPr>
          <p:nvPr/>
        </p:nvSpPr>
        <p:spPr bwMode="auto">
          <a:xfrm flipV="1">
            <a:off x="2106613" y="5389563"/>
            <a:ext cx="385762" cy="374650"/>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4" name="Line 116">
            <a:extLst>
              <a:ext uri="{FF2B5EF4-FFF2-40B4-BE49-F238E27FC236}">
                <a16:creationId xmlns:a16="http://schemas.microsoft.com/office/drawing/2014/main" id="{AFF7CA97-09BA-F78E-D17F-3140D687A2FE}"/>
              </a:ext>
            </a:extLst>
          </p:cNvPr>
          <p:cNvSpPr>
            <a:spLocks noChangeShapeType="1"/>
          </p:cNvSpPr>
          <p:nvPr/>
        </p:nvSpPr>
        <p:spPr bwMode="auto">
          <a:xfrm flipV="1">
            <a:off x="4183063" y="5362575"/>
            <a:ext cx="384175" cy="366713"/>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5" name="Line 116">
            <a:extLst>
              <a:ext uri="{FF2B5EF4-FFF2-40B4-BE49-F238E27FC236}">
                <a16:creationId xmlns:a16="http://schemas.microsoft.com/office/drawing/2014/main" id="{7E1F06B1-A8B8-26E2-68CB-C48737E712A4}"/>
              </a:ext>
            </a:extLst>
          </p:cNvPr>
          <p:cNvSpPr>
            <a:spLocks noChangeShapeType="1"/>
          </p:cNvSpPr>
          <p:nvPr/>
        </p:nvSpPr>
        <p:spPr bwMode="auto">
          <a:xfrm flipV="1">
            <a:off x="6162675" y="5362575"/>
            <a:ext cx="384175" cy="373063"/>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6" name="Line 116">
            <a:extLst>
              <a:ext uri="{FF2B5EF4-FFF2-40B4-BE49-F238E27FC236}">
                <a16:creationId xmlns:a16="http://schemas.microsoft.com/office/drawing/2014/main" id="{908DE662-02F2-7BEF-4C31-530F19F0132C}"/>
              </a:ext>
            </a:extLst>
          </p:cNvPr>
          <p:cNvSpPr>
            <a:spLocks noChangeShapeType="1"/>
          </p:cNvSpPr>
          <p:nvPr/>
        </p:nvSpPr>
        <p:spPr bwMode="auto">
          <a:xfrm flipV="1">
            <a:off x="8177213" y="5389563"/>
            <a:ext cx="384175" cy="374650"/>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7" name="Line 116">
            <a:extLst>
              <a:ext uri="{FF2B5EF4-FFF2-40B4-BE49-F238E27FC236}">
                <a16:creationId xmlns:a16="http://schemas.microsoft.com/office/drawing/2014/main" id="{F8668A01-BB14-5ABD-AA2E-13BFE497DE7C}"/>
              </a:ext>
            </a:extLst>
          </p:cNvPr>
          <p:cNvSpPr>
            <a:spLocks noChangeShapeType="1"/>
          </p:cNvSpPr>
          <p:nvPr/>
        </p:nvSpPr>
        <p:spPr bwMode="auto">
          <a:xfrm>
            <a:off x="3173413" y="5362575"/>
            <a:ext cx="385762" cy="365125"/>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8" name="Line 116">
            <a:extLst>
              <a:ext uri="{FF2B5EF4-FFF2-40B4-BE49-F238E27FC236}">
                <a16:creationId xmlns:a16="http://schemas.microsoft.com/office/drawing/2014/main" id="{8E542D0B-AAAF-D3B4-7BD3-ADD187A6BCBB}"/>
              </a:ext>
            </a:extLst>
          </p:cNvPr>
          <p:cNvSpPr>
            <a:spLocks noChangeShapeType="1"/>
          </p:cNvSpPr>
          <p:nvPr/>
        </p:nvSpPr>
        <p:spPr bwMode="auto">
          <a:xfrm>
            <a:off x="5194300" y="5362575"/>
            <a:ext cx="385763" cy="373063"/>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59" name="Line 116">
            <a:extLst>
              <a:ext uri="{FF2B5EF4-FFF2-40B4-BE49-F238E27FC236}">
                <a16:creationId xmlns:a16="http://schemas.microsoft.com/office/drawing/2014/main" id="{B1E6CB55-B896-C041-4D55-C7D1577DB1C4}"/>
              </a:ext>
            </a:extLst>
          </p:cNvPr>
          <p:cNvSpPr>
            <a:spLocks noChangeShapeType="1"/>
          </p:cNvSpPr>
          <p:nvPr/>
        </p:nvSpPr>
        <p:spPr bwMode="auto">
          <a:xfrm>
            <a:off x="7208838" y="5362575"/>
            <a:ext cx="384175" cy="361950"/>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60" name="Line 116">
            <a:extLst>
              <a:ext uri="{FF2B5EF4-FFF2-40B4-BE49-F238E27FC236}">
                <a16:creationId xmlns:a16="http://schemas.microsoft.com/office/drawing/2014/main" id="{32D17725-C3B6-BB64-A1B5-8DF7EF09BD20}"/>
              </a:ext>
            </a:extLst>
          </p:cNvPr>
          <p:cNvSpPr>
            <a:spLocks noChangeShapeType="1"/>
          </p:cNvSpPr>
          <p:nvPr/>
        </p:nvSpPr>
        <p:spPr bwMode="auto">
          <a:xfrm>
            <a:off x="9196388" y="5362575"/>
            <a:ext cx="385762" cy="361950"/>
          </a:xfrm>
          <a:prstGeom prst="line">
            <a:avLst/>
          </a:prstGeom>
          <a:noFill/>
          <a:ln w="1460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61" name="矩形 5">
            <a:extLst>
              <a:ext uri="{FF2B5EF4-FFF2-40B4-BE49-F238E27FC236}">
                <a16:creationId xmlns:a16="http://schemas.microsoft.com/office/drawing/2014/main" id="{52256FC6-3D55-6419-FEA9-B2D211EBED00}"/>
              </a:ext>
            </a:extLst>
          </p:cNvPr>
          <p:cNvSpPr>
            <a:spLocks noChangeArrowheads="1"/>
          </p:cNvSpPr>
          <p:nvPr/>
        </p:nvSpPr>
        <p:spPr bwMode="auto">
          <a:xfrm>
            <a:off x="1011238" y="6091238"/>
            <a:ext cx="8818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812800" indent="-8128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eaLnBrk="1" hangingPunct="1">
              <a:lnSpc>
                <a:spcPct val="100000"/>
              </a:lnSpc>
              <a:spcBef>
                <a:spcPct val="50000"/>
              </a:spcBef>
              <a:buFontTx/>
              <a:buNone/>
            </a:pPr>
            <a:r>
              <a:rPr lang="zh-CN" altLang="en-US" b="1">
                <a:solidFill>
                  <a:srgbClr val="FF0000"/>
                </a:solidFill>
                <a:latin typeface="黑体" panose="02010609060101010101" pitchFamily="49" charset="-122"/>
                <a:ea typeface="黑体" panose="02010609060101010101" pitchFamily="49" charset="-122"/>
              </a:rPr>
              <a:t>注意：测微鼓轮须一个方向转动，避免空程误差！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88AA139B-ECE5-038B-3855-B6008C51D920}"/>
              </a:ext>
            </a:extLst>
          </p:cNvPr>
          <p:cNvSpPr>
            <a:spLocks noGrp="1" noChangeArrowheads="1"/>
          </p:cNvSpPr>
          <p:nvPr>
            <p:ph type="title"/>
          </p:nvPr>
        </p:nvSpPr>
        <p:spPr>
          <a:xfrm>
            <a:off x="838200" y="365125"/>
            <a:ext cx="10515600" cy="982663"/>
          </a:xfrm>
        </p:spPr>
        <p:txBody>
          <a:bodyPr/>
          <a:lstStyle/>
          <a:p>
            <a:pPr eaLnBrk="1" hangingPunct="1"/>
            <a:r>
              <a:rPr lang="zh-CN" altLang="en-US"/>
              <a:t>七、数据处理要求</a:t>
            </a:r>
          </a:p>
        </p:txBody>
      </p:sp>
      <p:sp>
        <p:nvSpPr>
          <p:cNvPr id="29699" name="矩形 3">
            <a:extLst>
              <a:ext uri="{FF2B5EF4-FFF2-40B4-BE49-F238E27FC236}">
                <a16:creationId xmlns:a16="http://schemas.microsoft.com/office/drawing/2014/main" id="{D053A983-FC39-C79D-B3B3-A74A3833A5A9}"/>
              </a:ext>
            </a:extLst>
          </p:cNvPr>
          <p:cNvSpPr>
            <a:spLocks noChangeArrowheads="1"/>
          </p:cNvSpPr>
          <p:nvPr/>
        </p:nvSpPr>
        <p:spPr bwMode="auto">
          <a:xfrm>
            <a:off x="0" y="1700213"/>
            <a:ext cx="8931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b="1">
                <a:latin typeface="Times New Roman" panose="02020603050405020304" pitchFamily="18" charset="0"/>
                <a:cs typeface="Times New Roman" panose="02020603050405020304" pitchFamily="18" charset="0"/>
              </a:rPr>
              <a:t>       </a:t>
            </a:r>
            <a:r>
              <a:rPr lang="en-US" altLang="zh-CN" b="1">
                <a:latin typeface="黑体" panose="02010609060101010101" pitchFamily="49" charset="-122"/>
                <a:ea typeface="黑体" panose="02010609060101010101" pitchFamily="49" charset="-122"/>
                <a:cs typeface="Times New Roman" panose="02020603050405020304" pitchFamily="18" charset="0"/>
              </a:rPr>
              <a:t>1.</a:t>
            </a:r>
            <a:r>
              <a:rPr lang="zh-CN" altLang="en-US" b="1">
                <a:latin typeface="黑体" panose="02010609060101010101" pitchFamily="49" charset="-122"/>
                <a:ea typeface="黑体" panose="02010609060101010101" pitchFamily="49" charset="-122"/>
                <a:cs typeface="Times New Roman" panose="02020603050405020304" pitchFamily="18" charset="0"/>
              </a:rPr>
              <a:t>共振干涉法和相位比较法都要用</a:t>
            </a:r>
            <a:r>
              <a:rPr lang="zh-CN" altLang="en-US" b="1">
                <a:solidFill>
                  <a:srgbClr val="C00000"/>
                </a:solidFill>
                <a:latin typeface="黑体" panose="02010609060101010101" pitchFamily="49" charset="-122"/>
                <a:ea typeface="黑体" panose="02010609060101010101" pitchFamily="49" charset="-122"/>
                <a:cs typeface="Times New Roman" panose="02020603050405020304" pitchFamily="18" charset="0"/>
              </a:rPr>
              <a:t>逐差法</a:t>
            </a:r>
            <a:r>
              <a:rPr lang="zh-CN" altLang="en-US" b="1">
                <a:latin typeface="黑体" panose="02010609060101010101" pitchFamily="49" charset="-122"/>
                <a:ea typeface="黑体" panose="02010609060101010101" pitchFamily="49" charset="-122"/>
                <a:cs typeface="Times New Roman" panose="02020603050405020304" pitchFamily="18" charset="0"/>
              </a:rPr>
              <a:t>计算</a:t>
            </a:r>
            <a:r>
              <a:rPr lang="el-GR" altLang="zh-CN" b="1">
                <a:latin typeface="黑体" panose="02010609060101010101" pitchFamily="49" charset="-122"/>
                <a:ea typeface="黑体" panose="02010609060101010101" pitchFamily="49" charset="-122"/>
                <a:cs typeface="Times New Roman" panose="02020603050405020304" pitchFamily="18" charset="0"/>
              </a:rPr>
              <a:t>Δ</a:t>
            </a:r>
            <a:r>
              <a:rPr lang="en-US" altLang="zh-CN" b="1" i="1">
                <a:latin typeface="黑体" panose="02010609060101010101" pitchFamily="49" charset="-122"/>
                <a:ea typeface="黑体" panose="02010609060101010101" pitchFamily="49" charset="-122"/>
                <a:cs typeface="Times New Roman" panose="02020603050405020304" pitchFamily="18" charset="0"/>
              </a:rPr>
              <a:t>L</a:t>
            </a:r>
            <a:r>
              <a:rPr lang="zh-CN" altLang="en-US" b="1">
                <a:latin typeface="黑体" panose="02010609060101010101" pitchFamily="49" charset="-122"/>
                <a:ea typeface="黑体" panose="02010609060101010101" pitchFamily="49" charset="-122"/>
                <a:cs typeface="Times New Roman" panose="02020603050405020304" pitchFamily="18" charset="0"/>
              </a:rPr>
              <a:t>，</a:t>
            </a:r>
            <a:endParaRPr lang="en-US" altLang="zh-CN" b="1">
              <a:latin typeface="黑体" panose="02010609060101010101" pitchFamily="49" charset="-122"/>
              <a:ea typeface="黑体" panose="02010609060101010101" pitchFamily="49" charset="-122"/>
              <a:cs typeface="Times New Roman" panose="02020603050405020304" pitchFamily="18" charset="0"/>
            </a:endParaRPr>
          </a:p>
        </p:txBody>
      </p:sp>
      <p:sp>
        <p:nvSpPr>
          <p:cNvPr id="29700" name="矩形 1">
            <a:extLst>
              <a:ext uri="{FF2B5EF4-FFF2-40B4-BE49-F238E27FC236}">
                <a16:creationId xmlns:a16="http://schemas.microsoft.com/office/drawing/2014/main" id="{FA0F9098-FA45-174D-BE6B-0FD57CDFCD14}"/>
              </a:ext>
            </a:extLst>
          </p:cNvPr>
          <p:cNvSpPr>
            <a:spLocks noChangeArrowheads="1"/>
          </p:cNvSpPr>
          <p:nvPr/>
        </p:nvSpPr>
        <p:spPr bwMode="auto">
          <a:xfrm>
            <a:off x="1552575" y="2332038"/>
            <a:ext cx="571823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求出波长 </a:t>
            </a:r>
            <a:r>
              <a:rPr lang="el-GR"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λ</a:t>
            </a:r>
            <a:r>
              <a:rPr lang="en-US" altLang="zh-CN" sz="36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lang="el-GR" altLang="zh-CN" sz="36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Δ</a:t>
            </a:r>
            <a:r>
              <a:rPr lang="en-US"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L</a:t>
            </a:r>
            <a:r>
              <a:rPr lang="zh-CN" altLang="en-US"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和声速 </a:t>
            </a:r>
            <a:r>
              <a:rPr lang="en-US"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v </a:t>
            </a:r>
            <a:r>
              <a:rPr lang="en-US" altLang="zh-CN" sz="36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l-GR"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λ</a:t>
            </a:r>
            <a:r>
              <a:rPr lang="en-US"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r>
              <a:rPr lang="el-GR"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36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f</a:t>
            </a:r>
            <a:r>
              <a:rPr lang="en-US" altLang="zh-CN" sz="3600" b="1" baseline="-25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36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701" name="矩形 5">
            <a:extLst>
              <a:ext uri="{FF2B5EF4-FFF2-40B4-BE49-F238E27FC236}">
                <a16:creationId xmlns:a16="http://schemas.microsoft.com/office/drawing/2014/main" id="{4DD53992-4ED1-7B8F-B2EB-CD477FE7FEC1}"/>
              </a:ext>
            </a:extLst>
          </p:cNvPr>
          <p:cNvSpPr>
            <a:spLocks noChangeArrowheads="1"/>
          </p:cNvSpPr>
          <p:nvPr/>
        </p:nvSpPr>
        <p:spPr bwMode="auto">
          <a:xfrm>
            <a:off x="0" y="3230563"/>
            <a:ext cx="89306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b="1" dirty="0">
                <a:latin typeface="Times New Roman" panose="02020603050405020304" pitchFamily="18" charset="0"/>
                <a:cs typeface="Times New Roman" panose="02020603050405020304" pitchFamily="18" charset="0"/>
              </a:rPr>
              <a:t>       </a:t>
            </a:r>
            <a:r>
              <a:rPr lang="en-US" altLang="zh-CN" b="1" dirty="0">
                <a:latin typeface="黑体" panose="02010609060101010101" pitchFamily="49" charset="-122"/>
                <a:ea typeface="黑体" panose="02010609060101010101" pitchFamily="49" charset="-122"/>
                <a:cs typeface="Times New Roman" panose="02020603050405020304" pitchFamily="18" charset="0"/>
              </a:rPr>
              <a:t>2.</a:t>
            </a:r>
            <a:r>
              <a:rPr lang="zh-CN" altLang="en-US" b="1" dirty="0">
                <a:latin typeface="黑体" panose="02010609060101010101" pitchFamily="49" charset="-122"/>
                <a:ea typeface="黑体" panose="02010609060101010101" pitchFamily="49" charset="-122"/>
                <a:cs typeface="Times New Roman" panose="02020603050405020304" pitchFamily="18" charset="0"/>
              </a:rPr>
              <a:t>声速测量值与理论值比较，求出相对不确定度</a:t>
            </a:r>
            <a:r>
              <a:rPr lang="en-US" altLang="zh-CN" b="1" dirty="0">
                <a:latin typeface="黑体" panose="02010609060101010101" pitchFamily="49" charset="-122"/>
                <a:ea typeface="黑体" panose="02010609060101010101" pitchFamily="49" charset="-122"/>
                <a:cs typeface="Times New Roman" panose="02020603050405020304" pitchFamily="18" charset="0"/>
              </a:rPr>
              <a:t>A</a:t>
            </a:r>
            <a:r>
              <a:rPr lang="zh-CN" altLang="en-US" b="1" dirty="0">
                <a:latin typeface="黑体" panose="02010609060101010101" pitchFamily="49" charset="-122"/>
                <a:ea typeface="黑体" panose="02010609060101010101" pitchFamily="49" charset="-122"/>
                <a:cs typeface="Times New Roman" panose="02020603050405020304" pitchFamily="18" charset="0"/>
              </a:rPr>
              <a:t>。</a:t>
            </a:r>
            <a:endParaRPr lang="en-US" altLang="zh-CN" b="1" dirty="0">
              <a:latin typeface="黑体" panose="02010609060101010101" pitchFamily="49" charset="-122"/>
              <a:ea typeface="黑体" panose="02010609060101010101" pitchFamily="49" charset="-122"/>
              <a:cs typeface="Times New Roman" panose="02020603050405020304" pitchFamily="18" charset="0"/>
            </a:endParaRPr>
          </a:p>
        </p:txBody>
      </p:sp>
      <p:sp>
        <p:nvSpPr>
          <p:cNvPr id="29702" name="Rectangle 3">
            <a:extLst>
              <a:ext uri="{FF2B5EF4-FFF2-40B4-BE49-F238E27FC236}">
                <a16:creationId xmlns:a16="http://schemas.microsoft.com/office/drawing/2014/main" id="{26ABBF44-6F94-F0F6-FFE6-BDAD345104F3}"/>
              </a:ext>
            </a:extLst>
          </p:cNvPr>
          <p:cNvSpPr txBox="1">
            <a:spLocks noChangeArrowheads="1"/>
          </p:cNvSpPr>
          <p:nvPr/>
        </p:nvSpPr>
        <p:spPr bwMode="auto">
          <a:xfrm>
            <a:off x="790575" y="3903663"/>
            <a:ext cx="8108950" cy="272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just" eaLnBrk="1" hangingPunct="1">
              <a:lnSpc>
                <a:spcPct val="125000"/>
              </a:lnSpc>
            </a:pPr>
            <a:r>
              <a:rPr lang="zh-CN" altLang="en-US" sz="2000" b="1">
                <a:latin typeface="黑体" panose="02010609060101010101" pitchFamily="49" charset="-122"/>
                <a:ea typeface="黑体" panose="02010609060101010101" pitchFamily="49" charset="-122"/>
              </a:rPr>
              <a:t>声波在理想气体中的传播过程，可以认为是绝热过程</a:t>
            </a:r>
            <a:r>
              <a:rPr lang="en-US" altLang="zh-CN" sz="2000" b="1">
                <a:latin typeface="黑体" panose="02010609060101010101" pitchFamily="49" charset="-122"/>
                <a:ea typeface="黑体" panose="02010609060101010101" pitchFamily="49" charset="-122"/>
              </a:rPr>
              <a:t>.</a:t>
            </a:r>
          </a:p>
          <a:p>
            <a:pPr algn="just" eaLnBrk="1" hangingPunct="1">
              <a:lnSpc>
                <a:spcPct val="125000"/>
              </a:lnSpc>
            </a:pPr>
            <a:r>
              <a:rPr lang="zh-CN" altLang="en-US" sz="2000" b="1">
                <a:latin typeface="黑体" panose="02010609060101010101" pitchFamily="49" charset="-122"/>
                <a:ea typeface="黑体" panose="02010609060101010101" pitchFamily="49" charset="-122"/>
              </a:rPr>
              <a:t>若同时考虑空气中温度的影响，声速可表示为：</a:t>
            </a:r>
          </a:p>
          <a:p>
            <a:pPr algn="just" eaLnBrk="1" hangingPunct="1">
              <a:lnSpc>
                <a:spcPct val="125000"/>
              </a:lnSpc>
            </a:pPr>
            <a:endParaRPr lang="zh-CN" altLang="en-US" sz="2000">
              <a:latin typeface="黑体" panose="02010609060101010101" pitchFamily="49" charset="-122"/>
              <a:ea typeface="黑体" panose="02010609060101010101" pitchFamily="49" charset="-122"/>
            </a:endParaRPr>
          </a:p>
          <a:p>
            <a:pPr algn="just" eaLnBrk="1" hangingPunct="1">
              <a:lnSpc>
                <a:spcPct val="125000"/>
              </a:lnSpc>
              <a:buFont typeface="Wingdings" panose="05000000000000000000" pitchFamily="2" charset="2"/>
              <a:buNone/>
            </a:pPr>
            <a:r>
              <a:rPr lang="zh-CN" altLang="en-US" sz="2000">
                <a:latin typeface="黑体" panose="02010609060101010101" pitchFamily="49" charset="-122"/>
                <a:ea typeface="黑体" panose="02010609060101010101" pitchFamily="49" charset="-122"/>
              </a:rPr>
              <a:t> </a:t>
            </a:r>
            <a:endParaRPr lang="en-US" altLang="zh-CN" sz="2000">
              <a:latin typeface="黑体" panose="02010609060101010101" pitchFamily="49" charset="-122"/>
              <a:ea typeface="黑体" panose="02010609060101010101" pitchFamily="49" charset="-122"/>
            </a:endParaRPr>
          </a:p>
          <a:p>
            <a:pPr algn="just" eaLnBrk="1" hangingPunct="1">
              <a:lnSpc>
                <a:spcPct val="125000"/>
              </a:lnSpc>
              <a:buFont typeface="Wingdings" panose="05000000000000000000" pitchFamily="2" charset="2"/>
              <a:buNone/>
            </a:pPr>
            <a:r>
              <a:rPr lang="zh-CN" altLang="en-US" sz="2000">
                <a:solidFill>
                  <a:srgbClr val="000000"/>
                </a:solidFill>
                <a:latin typeface="黑体" panose="02010609060101010101" pitchFamily="49" charset="-122"/>
                <a:ea typeface="黑体" panose="02010609060101010101" pitchFamily="49" charset="-122"/>
              </a:rPr>
              <a:t>其中</a:t>
            </a:r>
            <a:r>
              <a:rPr lang="en-US" altLang="zh-CN" sz="2000">
                <a:solidFill>
                  <a:srgbClr val="000000"/>
                </a:solidFill>
                <a:latin typeface="黑体" panose="02010609060101010101" pitchFamily="49" charset="-122"/>
                <a:ea typeface="黑体" panose="02010609060101010101" pitchFamily="49" charset="-122"/>
              </a:rPr>
              <a:t>t</a:t>
            </a:r>
            <a:r>
              <a:rPr lang="zh-CN" altLang="en-US" sz="2000">
                <a:solidFill>
                  <a:srgbClr val="000000"/>
                </a:solidFill>
                <a:latin typeface="黑体" panose="02010609060101010101" pitchFamily="49" charset="-122"/>
                <a:ea typeface="黑体" panose="02010609060101010101" pitchFamily="49" charset="-122"/>
              </a:rPr>
              <a:t>为室温，单位为   ，计算实验环境条件下声速的理论值。</a:t>
            </a:r>
          </a:p>
        </p:txBody>
      </p:sp>
      <p:graphicFrame>
        <p:nvGraphicFramePr>
          <p:cNvPr id="29703" name="对象 2">
            <a:extLst>
              <a:ext uri="{FF2B5EF4-FFF2-40B4-BE49-F238E27FC236}">
                <a16:creationId xmlns:a16="http://schemas.microsoft.com/office/drawing/2014/main" id="{8680A8DC-9A37-F553-5074-8F6A8FC14004}"/>
              </a:ext>
            </a:extLst>
          </p:cNvPr>
          <p:cNvGraphicFramePr>
            <a:graphicFrameLocks noChangeAspect="1"/>
          </p:cNvGraphicFramePr>
          <p:nvPr/>
        </p:nvGraphicFramePr>
        <p:xfrm>
          <a:off x="2081213" y="4999038"/>
          <a:ext cx="3513137" cy="758825"/>
        </p:xfrm>
        <a:graphic>
          <a:graphicData uri="http://schemas.openxmlformats.org/presentationml/2006/ole">
            <mc:AlternateContent xmlns:mc="http://schemas.openxmlformats.org/markup-compatibility/2006">
              <mc:Choice xmlns:v="urn:schemas-microsoft-com:vml" Requires="v">
                <p:oleObj name="公式" r:id="rId2" imgW="2070100" imgH="444500" progId="Equation.3">
                  <p:embed/>
                </p:oleObj>
              </mc:Choice>
              <mc:Fallback>
                <p:oleObj name="公式" r:id="rId2" imgW="2070100" imgH="444500" progId="Equation.3">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4999038"/>
                        <a:ext cx="3513137"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704" name="Picture 4">
            <a:extLst>
              <a:ext uri="{FF2B5EF4-FFF2-40B4-BE49-F238E27FC236}">
                <a16:creationId xmlns:a16="http://schemas.microsoft.com/office/drawing/2014/main" id="{C400B5F2-9A29-4661-05C2-2E728DF00F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306763" y="6049963"/>
            <a:ext cx="3683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524F5796-BB02-C16F-D9A1-E376721F8040}"/>
              </a:ext>
            </a:extLst>
          </p:cNvPr>
          <p:cNvSpPr>
            <a:spLocks noGrp="1" noChangeArrowheads="1"/>
          </p:cNvSpPr>
          <p:nvPr>
            <p:ph type="title" idx="4294967295"/>
          </p:nvPr>
        </p:nvSpPr>
        <p:spPr>
          <a:xfrm>
            <a:off x="838200" y="365125"/>
            <a:ext cx="10515600" cy="982663"/>
          </a:xfrm>
        </p:spPr>
        <p:txBody>
          <a:bodyPr/>
          <a:lstStyle/>
          <a:p>
            <a:pPr eaLnBrk="1" hangingPunct="1"/>
            <a:r>
              <a:rPr lang="zh-CN" altLang="en-US" sz="3600">
                <a:latin typeface="黑体" panose="02010609060101010101" pitchFamily="49" charset="-122"/>
                <a:ea typeface="黑体" panose="02010609060101010101" pitchFamily="49" charset="-122"/>
              </a:rPr>
              <a:t>七、数据处理要求</a:t>
            </a:r>
          </a:p>
        </p:txBody>
      </p:sp>
      <p:graphicFrame>
        <p:nvGraphicFramePr>
          <p:cNvPr id="30723" name="Object 7">
            <a:extLst>
              <a:ext uri="{FF2B5EF4-FFF2-40B4-BE49-F238E27FC236}">
                <a16:creationId xmlns:a16="http://schemas.microsoft.com/office/drawing/2014/main" id="{2B161DEE-86D8-EF6E-FB99-636DB24B2C42}"/>
              </a:ext>
            </a:extLst>
          </p:cNvPr>
          <p:cNvGraphicFramePr>
            <a:graphicFrameLocks noChangeAspect="1"/>
          </p:cNvGraphicFramePr>
          <p:nvPr/>
        </p:nvGraphicFramePr>
        <p:xfrm>
          <a:off x="1108075" y="3200400"/>
          <a:ext cx="2628900" cy="863600"/>
        </p:xfrm>
        <a:graphic>
          <a:graphicData uri="http://schemas.openxmlformats.org/presentationml/2006/ole">
            <mc:AlternateContent xmlns:mc="http://schemas.openxmlformats.org/markup-compatibility/2006">
              <mc:Choice xmlns:v="urn:schemas-microsoft-com:vml" Requires="v">
                <p:oleObj name="Equation" r:id="rId2" imgW="1397000" imgH="431800" progId="Equation.DSMT4">
                  <p:embed/>
                </p:oleObj>
              </mc:Choice>
              <mc:Fallback>
                <p:oleObj name="Equation" r:id="rId2" imgW="1397000" imgH="4318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5" y="3200400"/>
                        <a:ext cx="26289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4" name="Object 8">
            <a:extLst>
              <a:ext uri="{FF2B5EF4-FFF2-40B4-BE49-F238E27FC236}">
                <a16:creationId xmlns:a16="http://schemas.microsoft.com/office/drawing/2014/main" id="{93DC6333-AF51-B039-0334-4B61FF734A84}"/>
              </a:ext>
            </a:extLst>
          </p:cNvPr>
          <p:cNvGraphicFramePr>
            <a:graphicFrameLocks noChangeAspect="1"/>
          </p:cNvGraphicFramePr>
          <p:nvPr/>
        </p:nvGraphicFramePr>
        <p:xfrm>
          <a:off x="2911475" y="1544638"/>
          <a:ext cx="6261100" cy="754062"/>
        </p:xfrm>
        <a:graphic>
          <a:graphicData uri="http://schemas.openxmlformats.org/presentationml/2006/ole">
            <mc:AlternateContent xmlns:mc="http://schemas.openxmlformats.org/markup-compatibility/2006">
              <mc:Choice xmlns:v="urn:schemas-microsoft-com:vml" Requires="v">
                <p:oleObj name="Equation" r:id="rId4" imgW="3352800" imgH="393700" progId="Equation.DSMT4">
                  <p:embed/>
                </p:oleObj>
              </mc:Choice>
              <mc:Fallback>
                <p:oleObj name="Equation" r:id="rId4" imgW="3352800" imgH="3937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1475" y="1544638"/>
                        <a:ext cx="6261100" cy="754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5" name="Object 10">
            <a:extLst>
              <a:ext uri="{FF2B5EF4-FFF2-40B4-BE49-F238E27FC236}">
                <a16:creationId xmlns:a16="http://schemas.microsoft.com/office/drawing/2014/main" id="{7EDF4F28-2D9F-A3C3-3489-CC6C894003BB}"/>
              </a:ext>
            </a:extLst>
          </p:cNvPr>
          <p:cNvGraphicFramePr>
            <a:graphicFrameLocks noChangeAspect="1"/>
          </p:cNvGraphicFramePr>
          <p:nvPr/>
        </p:nvGraphicFramePr>
        <p:xfrm>
          <a:off x="1539875" y="2336800"/>
          <a:ext cx="8181975" cy="792163"/>
        </p:xfrm>
        <a:graphic>
          <a:graphicData uri="http://schemas.openxmlformats.org/presentationml/2006/ole">
            <mc:AlternateContent xmlns:mc="http://schemas.openxmlformats.org/markup-compatibility/2006">
              <mc:Choice xmlns:v="urn:schemas-microsoft-com:vml" Requires="v">
                <p:oleObj name="Equation" r:id="rId6" imgW="5994400" imgH="469900" progId="Equation.DSMT4">
                  <p:embed/>
                </p:oleObj>
              </mc:Choice>
              <mc:Fallback>
                <p:oleObj name="Equation" r:id="rId6" imgW="5994400" imgH="4699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9875" y="2336800"/>
                        <a:ext cx="8181975"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6" name="Object 11">
            <a:extLst>
              <a:ext uri="{FF2B5EF4-FFF2-40B4-BE49-F238E27FC236}">
                <a16:creationId xmlns:a16="http://schemas.microsoft.com/office/drawing/2014/main" id="{70031F43-CCF5-6E69-B0C8-ACB414CC1D80}"/>
              </a:ext>
            </a:extLst>
          </p:cNvPr>
          <p:cNvGraphicFramePr>
            <a:graphicFrameLocks noChangeAspect="1"/>
          </p:cNvGraphicFramePr>
          <p:nvPr/>
        </p:nvGraphicFramePr>
        <p:xfrm>
          <a:off x="4059238" y="3344863"/>
          <a:ext cx="2511425" cy="576262"/>
        </p:xfrm>
        <a:graphic>
          <a:graphicData uri="http://schemas.openxmlformats.org/presentationml/2006/ole">
            <mc:AlternateContent xmlns:mc="http://schemas.openxmlformats.org/markup-compatibility/2006">
              <mc:Choice xmlns:v="urn:schemas-microsoft-com:vml" Requires="v">
                <p:oleObj name="Equation" r:id="rId8" imgW="1180588" imgH="304668" progId="Equation.DSMT4">
                  <p:embed/>
                </p:oleObj>
              </mc:Choice>
              <mc:Fallback>
                <p:oleObj name="Equation" r:id="rId8" imgW="1180588" imgH="304668"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9238" y="3344863"/>
                        <a:ext cx="2511425"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7" name="Object 12">
            <a:extLst>
              <a:ext uri="{FF2B5EF4-FFF2-40B4-BE49-F238E27FC236}">
                <a16:creationId xmlns:a16="http://schemas.microsoft.com/office/drawing/2014/main" id="{EBC72C87-CB88-24FE-AE80-E9718D78A27D}"/>
              </a:ext>
            </a:extLst>
          </p:cNvPr>
          <p:cNvGraphicFramePr>
            <a:graphicFrameLocks noChangeAspect="1"/>
          </p:cNvGraphicFramePr>
          <p:nvPr/>
        </p:nvGraphicFramePr>
        <p:xfrm>
          <a:off x="747713" y="2408238"/>
          <a:ext cx="833437" cy="520700"/>
        </p:xfrm>
        <a:graphic>
          <a:graphicData uri="http://schemas.openxmlformats.org/presentationml/2006/ole">
            <mc:AlternateContent xmlns:mc="http://schemas.openxmlformats.org/markup-compatibility/2006">
              <mc:Choice xmlns:v="urn:schemas-microsoft-com:vml" Requires="v">
                <p:oleObj name="Equation" r:id="rId10" imgW="380835" imgH="241195" progId="Equation.DSMT4">
                  <p:embed/>
                </p:oleObj>
              </mc:Choice>
              <mc:Fallback>
                <p:oleObj name="Equation" r:id="rId10" imgW="380835" imgH="241195"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713" y="2408238"/>
                        <a:ext cx="83343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8" name="Object 15">
            <a:extLst>
              <a:ext uri="{FF2B5EF4-FFF2-40B4-BE49-F238E27FC236}">
                <a16:creationId xmlns:a16="http://schemas.microsoft.com/office/drawing/2014/main" id="{05AE2565-C8E5-0989-2338-30898D17A443}"/>
              </a:ext>
            </a:extLst>
          </p:cNvPr>
          <p:cNvGraphicFramePr>
            <a:graphicFrameLocks noChangeAspect="1"/>
          </p:cNvGraphicFramePr>
          <p:nvPr/>
        </p:nvGraphicFramePr>
        <p:xfrm>
          <a:off x="4203700" y="4137025"/>
          <a:ext cx="5400675" cy="935038"/>
        </p:xfrm>
        <a:graphic>
          <a:graphicData uri="http://schemas.openxmlformats.org/presentationml/2006/ole">
            <mc:AlternateContent xmlns:mc="http://schemas.openxmlformats.org/markup-compatibility/2006">
              <mc:Choice xmlns:v="urn:schemas-microsoft-com:vml" Requires="v">
                <p:oleObj name="Equation" r:id="rId12" imgW="2324100" imgH="469900" progId="Equation.DSMT4">
                  <p:embed/>
                </p:oleObj>
              </mc:Choice>
              <mc:Fallback>
                <p:oleObj name="Equation" r:id="rId12" imgW="2324100" imgH="469900" progId="Equation.DSMT4">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3700" y="4137025"/>
                        <a:ext cx="5400675" cy="93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29" name="Object 16">
            <a:extLst>
              <a:ext uri="{FF2B5EF4-FFF2-40B4-BE49-F238E27FC236}">
                <a16:creationId xmlns:a16="http://schemas.microsoft.com/office/drawing/2014/main" id="{F21E7ACC-B1CB-1685-E084-97D10697CF3C}"/>
              </a:ext>
            </a:extLst>
          </p:cNvPr>
          <p:cNvGraphicFramePr>
            <a:graphicFrameLocks noChangeAspect="1"/>
          </p:cNvGraphicFramePr>
          <p:nvPr/>
        </p:nvGraphicFramePr>
        <p:xfrm>
          <a:off x="6854825" y="3173413"/>
          <a:ext cx="2605088" cy="819150"/>
        </p:xfrm>
        <a:graphic>
          <a:graphicData uri="http://schemas.openxmlformats.org/presentationml/2006/ole">
            <mc:AlternateContent xmlns:mc="http://schemas.openxmlformats.org/markup-compatibility/2006">
              <mc:Choice xmlns:v="urn:schemas-microsoft-com:vml" Requires="v">
                <p:oleObj name="Equation" r:id="rId14" imgW="1498600" imgH="419100" progId="Equation.DSMT4">
                  <p:embed/>
                </p:oleObj>
              </mc:Choice>
              <mc:Fallback>
                <p:oleObj name="Equation" r:id="rId14" imgW="1498600" imgH="419100" progId="Equation.DSMT4">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854825" y="3173413"/>
                        <a:ext cx="2605088"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0" name="Object 17">
            <a:extLst>
              <a:ext uri="{FF2B5EF4-FFF2-40B4-BE49-F238E27FC236}">
                <a16:creationId xmlns:a16="http://schemas.microsoft.com/office/drawing/2014/main" id="{5612096A-5B37-371A-C38B-2DCC836D1A20}"/>
              </a:ext>
            </a:extLst>
          </p:cNvPr>
          <p:cNvGraphicFramePr>
            <a:graphicFrameLocks noChangeAspect="1"/>
          </p:cNvGraphicFramePr>
          <p:nvPr/>
        </p:nvGraphicFramePr>
        <p:xfrm>
          <a:off x="1898650" y="5432425"/>
          <a:ext cx="1368425" cy="577850"/>
        </p:xfrm>
        <a:graphic>
          <a:graphicData uri="http://schemas.openxmlformats.org/presentationml/2006/ole">
            <mc:AlternateContent xmlns:mc="http://schemas.openxmlformats.org/markup-compatibility/2006">
              <mc:Choice xmlns:v="urn:schemas-microsoft-com:vml" Requires="v">
                <p:oleObj name="Equation" r:id="rId16" imgW="571252" imgH="241195" progId="Equation.DSMT4">
                  <p:embed/>
                </p:oleObj>
              </mc:Choice>
              <mc:Fallback>
                <p:oleObj name="Equation" r:id="rId16" imgW="571252" imgH="241195"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98650" y="5432425"/>
                        <a:ext cx="1368425"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1" name="Object 18">
            <a:extLst>
              <a:ext uri="{FF2B5EF4-FFF2-40B4-BE49-F238E27FC236}">
                <a16:creationId xmlns:a16="http://schemas.microsoft.com/office/drawing/2014/main" id="{9C49351A-3D21-6057-093A-78EA3292FE4A}"/>
              </a:ext>
            </a:extLst>
          </p:cNvPr>
          <p:cNvGraphicFramePr>
            <a:graphicFrameLocks noChangeAspect="1"/>
          </p:cNvGraphicFramePr>
          <p:nvPr/>
        </p:nvGraphicFramePr>
        <p:xfrm>
          <a:off x="2484438" y="4270375"/>
          <a:ext cx="1711325" cy="874713"/>
        </p:xfrm>
        <a:graphic>
          <a:graphicData uri="http://schemas.openxmlformats.org/presentationml/2006/ole">
            <mc:AlternateContent xmlns:mc="http://schemas.openxmlformats.org/markup-compatibility/2006">
              <mc:Choice xmlns:v="urn:schemas-microsoft-com:vml" Requires="v">
                <p:oleObj name="Equation" r:id="rId18" imgW="685800" imgH="419100" progId="Equation.DSMT4">
                  <p:embed/>
                </p:oleObj>
              </mc:Choice>
              <mc:Fallback>
                <p:oleObj name="Equation" r:id="rId18" imgW="685800" imgH="419100" progId="Equation.DSMT4">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84438" y="4270375"/>
                        <a:ext cx="1711325"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2" name="Object 19">
            <a:extLst>
              <a:ext uri="{FF2B5EF4-FFF2-40B4-BE49-F238E27FC236}">
                <a16:creationId xmlns:a16="http://schemas.microsoft.com/office/drawing/2014/main" id="{771AA624-EF38-D795-BEB1-7EBA73075833}"/>
              </a:ext>
            </a:extLst>
          </p:cNvPr>
          <p:cNvGraphicFramePr>
            <a:graphicFrameLocks noChangeAspect="1"/>
          </p:cNvGraphicFramePr>
          <p:nvPr/>
        </p:nvGraphicFramePr>
        <p:xfrm>
          <a:off x="3843338" y="5145088"/>
          <a:ext cx="4176712" cy="1327150"/>
        </p:xfrm>
        <a:graphic>
          <a:graphicData uri="http://schemas.openxmlformats.org/presentationml/2006/ole">
            <mc:AlternateContent xmlns:mc="http://schemas.openxmlformats.org/markup-compatibility/2006">
              <mc:Choice xmlns:v="urn:schemas-microsoft-com:vml" Requires="v">
                <p:oleObj name="Equation" r:id="rId20" imgW="1765300" imgH="685800" progId="Equation.DSMT4">
                  <p:embed/>
                </p:oleObj>
              </mc:Choice>
              <mc:Fallback>
                <p:oleObj name="Equation" r:id="rId20" imgW="1765300" imgH="685800" progId="Equation.DSMT4">
                  <p:embed/>
                  <p:pic>
                    <p:nvPicPr>
                      <p:cNvPr id="0" name="Object 1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43338" y="5145088"/>
                        <a:ext cx="4176712" cy="132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33" name="Object 13">
            <a:extLst>
              <a:ext uri="{FF2B5EF4-FFF2-40B4-BE49-F238E27FC236}">
                <a16:creationId xmlns:a16="http://schemas.microsoft.com/office/drawing/2014/main" id="{EBA1F5E3-3F17-92B2-EB72-42F1EE978722}"/>
              </a:ext>
            </a:extLst>
          </p:cNvPr>
          <p:cNvGraphicFramePr>
            <a:graphicFrameLocks noChangeAspect="1"/>
          </p:cNvGraphicFramePr>
          <p:nvPr>
            <p:extLst>
              <p:ext uri="{D42A27DB-BD31-4B8C-83A1-F6EECF244321}">
                <p14:modId xmlns:p14="http://schemas.microsoft.com/office/powerpoint/2010/main" val="1115100408"/>
              </p:ext>
            </p:extLst>
          </p:nvPr>
        </p:nvGraphicFramePr>
        <p:xfrm>
          <a:off x="965200" y="4497388"/>
          <a:ext cx="1230313" cy="433387"/>
        </p:xfrm>
        <a:graphic>
          <a:graphicData uri="http://schemas.openxmlformats.org/presentationml/2006/ole">
            <mc:AlternateContent xmlns:mc="http://schemas.openxmlformats.org/markup-compatibility/2006">
              <mc:Choice xmlns:v="urn:schemas-microsoft-com:vml" Requires="v">
                <p:oleObj name="Equation" r:id="rId22" imgW="723600" imgH="215640" progId="Equation.DSMT4">
                  <p:embed/>
                </p:oleObj>
              </mc:Choice>
              <mc:Fallback>
                <p:oleObj name="Equation" r:id="rId22" imgW="723600" imgH="215640" progId="Equation.DSMT4">
                  <p:embed/>
                  <p:pic>
                    <p:nvPicPr>
                      <p:cNvPr id="0" name="Object 13"/>
                      <p:cNvPicPr>
                        <a:picLocks noChangeAspect="1" noChangeArrowheads="1"/>
                      </p:cNvPicPr>
                      <p:nvPr/>
                    </p:nvPicPr>
                    <p:blipFill>
                      <a:blip r:embed="rId23"/>
                      <a:srcRect/>
                      <a:stretch>
                        <a:fillRect/>
                      </a:stretch>
                    </p:blipFill>
                    <p:spPr bwMode="auto">
                      <a:xfrm>
                        <a:off x="965200" y="4497388"/>
                        <a:ext cx="1230313"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2225">
          <a:solidFill>
            <a:schemeClr val="tx1">
              <a:lumMod val="85000"/>
              <a:lumOff val="1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2225">
          <a:solidFill>
            <a:schemeClr val="tx1">
              <a:lumMod val="85000"/>
              <a:lumOff val="15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1854</TotalTime>
  <Words>1582</Words>
  <Application>Microsoft Office PowerPoint</Application>
  <PresentationFormat>宽屏</PresentationFormat>
  <Paragraphs>196</Paragraphs>
  <Slides>22</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4</vt:i4>
      </vt:variant>
      <vt:variant>
        <vt:lpstr>幻灯片标题</vt:lpstr>
      </vt:variant>
      <vt:variant>
        <vt:i4>22</vt:i4>
      </vt:variant>
    </vt:vector>
  </HeadingPairs>
  <TitlesOfParts>
    <vt:vector size="37" baseType="lpstr">
      <vt:lpstr>等线</vt:lpstr>
      <vt:lpstr>等线 Light</vt:lpstr>
      <vt:lpstr>黑体</vt:lpstr>
      <vt:lpstr>楷体</vt:lpstr>
      <vt:lpstr>宋体</vt:lpstr>
      <vt:lpstr>Arial</vt:lpstr>
      <vt:lpstr>Times New Roman</vt:lpstr>
      <vt:lpstr>Verdana</vt:lpstr>
      <vt:lpstr>Wingdings</vt:lpstr>
      <vt:lpstr>Office 主题​​</vt:lpstr>
      <vt:lpstr>1_Office 主题​​</vt:lpstr>
      <vt:lpstr>Photoshop.Image.12</vt:lpstr>
      <vt:lpstr>公式</vt:lpstr>
      <vt:lpstr>Chart</vt:lpstr>
      <vt:lpstr>Equation</vt:lpstr>
      <vt:lpstr>PowerPoint 演示文稿</vt:lpstr>
      <vt:lpstr>一、实验导入 </vt:lpstr>
      <vt:lpstr>二、实验目的</vt:lpstr>
      <vt:lpstr>PowerPoint 演示文稿</vt:lpstr>
      <vt:lpstr>三、实验原理</vt:lpstr>
      <vt:lpstr>三、实验原理</vt:lpstr>
      <vt:lpstr>三、实验原理</vt:lpstr>
      <vt:lpstr>三、实验原理</vt:lpstr>
      <vt:lpstr>三、实验原理</vt:lpstr>
      <vt:lpstr>三、实验原理</vt:lpstr>
      <vt:lpstr>示波器置于“X-Y”方式 </vt:lpstr>
      <vt:lpstr>四、实验仪器</vt:lpstr>
      <vt:lpstr>四、实验仪器</vt:lpstr>
      <vt:lpstr>四、实验仪器</vt:lpstr>
      <vt:lpstr>声速测定仪</vt:lpstr>
      <vt:lpstr>五、实验内容与操作</vt:lpstr>
      <vt:lpstr>五、实验内容与操作</vt:lpstr>
      <vt:lpstr>五、实验内容与操作</vt:lpstr>
      <vt:lpstr>五、实验内容与操作</vt:lpstr>
      <vt:lpstr>六、实验数据</vt:lpstr>
      <vt:lpstr>七、数据处理要求</vt:lpstr>
      <vt:lpstr>七、数据处理要求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meixia chen</cp:lastModifiedBy>
  <cp:revision>255</cp:revision>
  <cp:lastPrinted>2020-04-08T04:31:45Z</cp:lastPrinted>
  <dcterms:created xsi:type="dcterms:W3CDTF">2020-04-07T10:08:10Z</dcterms:created>
  <dcterms:modified xsi:type="dcterms:W3CDTF">2025-04-15T09:52:17Z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